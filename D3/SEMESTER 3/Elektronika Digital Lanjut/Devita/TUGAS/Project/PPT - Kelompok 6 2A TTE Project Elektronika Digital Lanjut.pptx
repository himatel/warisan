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40"/>
    <p:sldId id="257" r:id="rId41"/>
    <p:sldId id="258" r:id="rId42"/>
    <p:sldId id="259" r:id="rId43"/>
    <p:sldId id="260" r:id="rId44"/>
    <p:sldId id="261" r:id="rId45"/>
    <p:sldId id="262" r:id="rId46"/>
    <p:sldId id="263" r:id="rId47"/>
    <p:sldId id="264" r:id="rId48"/>
    <p:sldId id="265" r:id="rId49"/>
    <p:sldId id="266" r:id="rId50"/>
    <p:sldId id="267" r:id="rId51"/>
    <p:sldId id="268" r:id="rId52"/>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Poppins" charset="1" panose="00000500000000000000"/>
      <p:regular r:id="rId10"/>
    </p:embeddedFont>
    <p:embeddedFont>
      <p:font typeface="Poppins Bold" charset="1" panose="00000800000000000000"/>
      <p:regular r:id="rId11"/>
    </p:embeddedFont>
    <p:embeddedFont>
      <p:font typeface="Poppins Italics" charset="1" panose="00000500000000000000"/>
      <p:regular r:id="rId12"/>
    </p:embeddedFont>
    <p:embeddedFont>
      <p:font typeface="Poppins Bold Italics" charset="1" panose="00000800000000000000"/>
      <p:regular r:id="rId13"/>
    </p:embeddedFont>
    <p:embeddedFont>
      <p:font typeface="Poppins Thin" charset="1" panose="00000300000000000000"/>
      <p:regular r:id="rId14"/>
    </p:embeddedFont>
    <p:embeddedFont>
      <p:font typeface="Poppins Thin Italics" charset="1" panose="00000300000000000000"/>
      <p:regular r:id="rId15"/>
    </p:embeddedFont>
    <p:embeddedFont>
      <p:font typeface="Poppins Extra-Light" charset="1" panose="00000300000000000000"/>
      <p:regular r:id="rId16"/>
    </p:embeddedFont>
    <p:embeddedFont>
      <p:font typeface="Poppins Extra-Light Italics" charset="1" panose="00000300000000000000"/>
      <p:regular r:id="rId17"/>
    </p:embeddedFont>
    <p:embeddedFont>
      <p:font typeface="Poppins Light" charset="1" panose="00000400000000000000"/>
      <p:regular r:id="rId18"/>
    </p:embeddedFont>
    <p:embeddedFont>
      <p:font typeface="Poppins Light Italics" charset="1" panose="00000400000000000000"/>
      <p:regular r:id="rId19"/>
    </p:embeddedFont>
    <p:embeddedFont>
      <p:font typeface="Poppins Medium" charset="1" panose="00000600000000000000"/>
      <p:regular r:id="rId20"/>
    </p:embeddedFont>
    <p:embeddedFont>
      <p:font typeface="Poppins Medium Italics" charset="1" panose="00000600000000000000"/>
      <p:regular r:id="rId21"/>
    </p:embeddedFont>
    <p:embeddedFont>
      <p:font typeface="Poppins Semi-Bold" charset="1" panose="00000700000000000000"/>
      <p:regular r:id="rId22"/>
    </p:embeddedFont>
    <p:embeddedFont>
      <p:font typeface="Poppins Semi-Bold Italics" charset="1" panose="00000700000000000000"/>
      <p:regular r:id="rId23"/>
    </p:embeddedFont>
    <p:embeddedFont>
      <p:font typeface="Poppins Ultra-Bold" charset="1" panose="00000900000000000000"/>
      <p:regular r:id="rId24"/>
    </p:embeddedFont>
    <p:embeddedFont>
      <p:font typeface="Poppins Ultra-Bold Italics" charset="1" panose="00000900000000000000"/>
      <p:regular r:id="rId25"/>
    </p:embeddedFont>
    <p:embeddedFont>
      <p:font typeface="Poppins Heavy" charset="1" panose="00000A00000000000000"/>
      <p:regular r:id="rId26"/>
    </p:embeddedFont>
    <p:embeddedFont>
      <p:font typeface="Poppins Heavy Italics" charset="1" panose="00000A00000000000000"/>
      <p:regular r:id="rId27"/>
    </p:embeddedFont>
    <p:embeddedFont>
      <p:font typeface="Object Sans" charset="1" panose="00000300000000000000"/>
      <p:regular r:id="rId28"/>
    </p:embeddedFont>
    <p:embeddedFont>
      <p:font typeface="Object Sans Bold" charset="1" panose="00000300000000000000"/>
      <p:regular r:id="rId29"/>
    </p:embeddedFont>
    <p:embeddedFont>
      <p:font typeface="Object Sans Italics" charset="1" panose="00000300000000000000"/>
      <p:regular r:id="rId30"/>
    </p:embeddedFont>
    <p:embeddedFont>
      <p:font typeface="Object Sans Bold Italics" charset="1" panose="00000300000000000000"/>
      <p:regular r:id="rId31"/>
    </p:embeddedFont>
    <p:embeddedFont>
      <p:font typeface="Object Sans Thin" charset="1" panose="00000300000000000000"/>
      <p:regular r:id="rId32"/>
    </p:embeddedFont>
    <p:embeddedFont>
      <p:font typeface="Object Sans Thin Italics" charset="1" panose="00000300000000000000"/>
      <p:regular r:id="rId33"/>
    </p:embeddedFont>
    <p:embeddedFont>
      <p:font typeface="Object Sans Medium" charset="1" panose="00000300000000000000"/>
      <p:regular r:id="rId34"/>
    </p:embeddedFont>
    <p:embeddedFont>
      <p:font typeface="Object Sans Medium Italics" charset="1" panose="00000300000000000000"/>
      <p:regular r:id="rId35"/>
    </p:embeddedFont>
    <p:embeddedFont>
      <p:font typeface="Object Sans Ultra-Bold" charset="1" panose="00000300000000000000"/>
      <p:regular r:id="rId36"/>
    </p:embeddedFont>
    <p:embeddedFont>
      <p:font typeface="Object Sans Ultra-Bold Italics" charset="1" panose="00000300000000000000"/>
      <p:regular r:id="rId37"/>
    </p:embeddedFont>
    <p:embeddedFont>
      <p:font typeface="Object Sans Heavy" charset="1" panose="00000300000000000000"/>
      <p:regular r:id="rId38"/>
    </p:embeddedFont>
    <p:embeddedFont>
      <p:font typeface="Object Sans Heavy Italics" charset="1" panose="000003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slides/slide1.xml" Type="http://schemas.openxmlformats.org/officeDocument/2006/relationships/slide"/><Relationship Id="rId41" Target="slides/slide2.xml" Type="http://schemas.openxmlformats.org/officeDocument/2006/relationships/slide"/><Relationship Id="rId42" Target="slides/slide3.xml" Type="http://schemas.openxmlformats.org/officeDocument/2006/relationships/slide"/><Relationship Id="rId43" Target="slides/slide4.xml" Type="http://schemas.openxmlformats.org/officeDocument/2006/relationships/slide"/><Relationship Id="rId44" Target="slides/slide5.xml" Type="http://schemas.openxmlformats.org/officeDocument/2006/relationships/slide"/><Relationship Id="rId45" Target="slides/slide6.xml" Type="http://schemas.openxmlformats.org/officeDocument/2006/relationships/slide"/><Relationship Id="rId46" Target="slides/slide7.xml" Type="http://schemas.openxmlformats.org/officeDocument/2006/relationships/slide"/><Relationship Id="rId47" Target="slides/slide8.xml" Type="http://schemas.openxmlformats.org/officeDocument/2006/relationships/slide"/><Relationship Id="rId48" Target="slides/slide9.xml" Type="http://schemas.openxmlformats.org/officeDocument/2006/relationships/slide"/><Relationship Id="rId49" Target="slides/slide10.xml" Type="http://schemas.openxmlformats.org/officeDocument/2006/relationships/slide"/><Relationship Id="rId5" Target="tableStyles.xml" Type="http://schemas.openxmlformats.org/officeDocument/2006/relationships/tableStyles"/><Relationship Id="rId50" Target="slides/slide11.xml" Type="http://schemas.openxmlformats.org/officeDocument/2006/relationships/slide"/><Relationship Id="rId51" Target="slides/slide12.xml" Type="http://schemas.openxmlformats.org/officeDocument/2006/relationships/slide"/><Relationship Id="rId52" Target="slides/slide13.xml" Type="http://schemas.openxmlformats.org/officeDocument/2006/relationships/slide"/><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4.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s>
</file>

<file path=ppt/slides/_rels/slide5.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4.png" Type="http://schemas.openxmlformats.org/officeDocument/2006/relationships/image"/></Relationships>
</file>

<file path=ppt/slides/_rels/slide6.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7.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jpeg" Type="http://schemas.openxmlformats.org/officeDocument/2006/relationships/image"/></Relationships>
</file>

<file path=ppt/slides/_rels/slide8.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8.png" Type="http://schemas.openxmlformats.org/officeDocument/2006/relationships/image"/></Relationships>
</file>

<file path=ppt/slides/_rels/slide9.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9.png" Type="http://schemas.openxmlformats.org/officeDocument/2006/relationships/image"/></Relationships>
</file>

<file path=ppt/slides/_rels/slide10.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20.jpeg" Type="http://schemas.openxmlformats.org/officeDocument/2006/relationships/image"/><Relationship Id="rId5" Target="../media/VAF06SQeTAo.mp4" Type="http://schemas.openxmlformats.org/officeDocument/2006/relationships/video"/><Relationship Id="rId6" Target="../media/VAF06SQeTAo.mp4" Type="http://schemas.microsoft.com/office/2007/relationships/media"/></Relationships>
</file>

<file path=ppt/slides/_rels/slide1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media/VAF1jrHRars.mp4" Type="http://schemas.openxmlformats.org/officeDocument/2006/relationships/video"/><Relationship Id="rId4" Target="../media/VAF1jrHRars.mp4" Type="http://schemas.microsoft.com/office/2007/relationships/media"/><Relationship Id="rId5" Target="../media/image22.jpeg" Type="http://schemas.openxmlformats.org/officeDocument/2006/relationships/image"/><Relationship Id="rId6" Target="../media/image23.jpe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12.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3.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3160" t="0" r="0" b="0"/>
            </a:stretch>
          </a:blipFill>
        </p:spPr>
      </p:sp>
      <p:sp>
        <p:nvSpPr>
          <p:cNvPr name="TextBox 3" id="3"/>
          <p:cNvSpPr txBox="true"/>
          <p:nvPr/>
        </p:nvSpPr>
        <p:spPr>
          <a:xfrm rot="0">
            <a:off x="1028700" y="3958139"/>
            <a:ext cx="11184860" cy="4919161"/>
          </a:xfrm>
          <a:prstGeom prst="rect">
            <a:avLst/>
          </a:prstGeom>
        </p:spPr>
        <p:txBody>
          <a:bodyPr anchor="t" rtlCol="false" tIns="0" lIns="0" bIns="0" rIns="0">
            <a:spAutoFit/>
          </a:bodyPr>
          <a:lstStyle/>
          <a:p>
            <a:pPr algn="just">
              <a:lnSpc>
                <a:spcPts val="12846"/>
              </a:lnSpc>
            </a:pPr>
            <a:r>
              <a:rPr lang="en-US" sz="11171">
                <a:solidFill>
                  <a:srgbClr val="000000"/>
                </a:solidFill>
                <a:latin typeface="Object Sans Ultra-Bold"/>
              </a:rPr>
              <a:t>ELEKTRONIKA DIGITAL LANJUT</a:t>
            </a:r>
          </a:p>
        </p:txBody>
      </p:sp>
      <p:sp>
        <p:nvSpPr>
          <p:cNvPr name="TextBox 4" id="4"/>
          <p:cNvSpPr txBox="true"/>
          <p:nvPr/>
        </p:nvSpPr>
        <p:spPr>
          <a:xfrm rot="0">
            <a:off x="1028700" y="2468033"/>
            <a:ext cx="10077579" cy="1673171"/>
          </a:xfrm>
          <a:prstGeom prst="rect">
            <a:avLst/>
          </a:prstGeom>
        </p:spPr>
        <p:txBody>
          <a:bodyPr anchor="t" rtlCol="false" tIns="0" lIns="0" bIns="0" rIns="0">
            <a:spAutoFit/>
          </a:bodyPr>
          <a:lstStyle/>
          <a:p>
            <a:pPr>
              <a:lnSpc>
                <a:spcPts val="11717"/>
              </a:lnSpc>
            </a:pPr>
            <a:r>
              <a:rPr lang="en-US" sz="14646">
                <a:solidFill>
                  <a:srgbClr val="C57849"/>
                </a:solidFill>
                <a:latin typeface="Object Sans Ultra-Bold"/>
              </a:rPr>
              <a:t>PROJECT</a:t>
            </a:r>
          </a:p>
        </p:txBody>
      </p:sp>
      <p:sp>
        <p:nvSpPr>
          <p:cNvPr name="Freeform 5" id="5"/>
          <p:cNvSpPr/>
          <p:nvPr/>
        </p:nvSpPr>
        <p:spPr>
          <a:xfrm flipH="false" flipV="false" rot="0">
            <a:off x="1028700" y="849630"/>
            <a:ext cx="454603" cy="393800"/>
          </a:xfrm>
          <a:custGeom>
            <a:avLst/>
            <a:gdLst/>
            <a:ahLst/>
            <a:cxnLst/>
            <a:rect r="r" b="b" t="t" l="l"/>
            <a:pathLst>
              <a:path h="393800" w="454603">
                <a:moveTo>
                  <a:pt x="0" y="0"/>
                </a:moveTo>
                <a:lnTo>
                  <a:pt x="454603" y="0"/>
                </a:lnTo>
                <a:lnTo>
                  <a:pt x="454603" y="393800"/>
                </a:lnTo>
                <a:lnTo>
                  <a:pt x="0" y="393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a:off x="1028398" y="8810625"/>
            <a:ext cx="7521846" cy="0"/>
          </a:xfrm>
          <a:prstGeom prst="line">
            <a:avLst/>
          </a:prstGeom>
          <a:ln cap="flat" w="57150">
            <a:solidFill>
              <a:srgbClr val="C57849"/>
            </a:solidFill>
            <a:prstDash val="solid"/>
            <a:headEnd type="none" len="sm" w="sm"/>
            <a:tailEnd type="none" len="sm" w="sm"/>
          </a:ln>
        </p:spPr>
      </p:sp>
      <p:sp>
        <p:nvSpPr>
          <p:cNvPr name="TextBox 7" id="7"/>
          <p:cNvSpPr txBox="true"/>
          <p:nvPr/>
        </p:nvSpPr>
        <p:spPr>
          <a:xfrm rot="0">
            <a:off x="1720621" y="792480"/>
            <a:ext cx="7879639" cy="391795"/>
          </a:xfrm>
          <a:prstGeom prst="rect">
            <a:avLst/>
          </a:prstGeom>
        </p:spPr>
        <p:txBody>
          <a:bodyPr anchor="t" rtlCol="false" tIns="0" lIns="0" bIns="0" rIns="0">
            <a:spAutoFit/>
          </a:bodyPr>
          <a:lstStyle/>
          <a:p>
            <a:pPr algn="just">
              <a:lnSpc>
                <a:spcPts val="3080"/>
              </a:lnSpc>
            </a:pPr>
            <a:r>
              <a:rPr lang="en-US" sz="2200">
                <a:solidFill>
                  <a:srgbClr val="000000"/>
                </a:solidFill>
                <a:latin typeface="Poppins"/>
              </a:rPr>
              <a:t>Devita Syifa Azzahraa(221331009) || Junaedi(221331015)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89000"/>
            </a:blip>
            <a:stretch>
              <a:fillRect l="0" t="-14835" r="0" b="-8794"/>
            </a:stretch>
          </a:blipFill>
        </p:spPr>
      </p:sp>
      <p:sp>
        <p:nvSpPr>
          <p:cNvPr name="TextBox 3" id="3"/>
          <p:cNvSpPr txBox="true"/>
          <p:nvPr/>
        </p:nvSpPr>
        <p:spPr>
          <a:xfrm rot="0">
            <a:off x="1028398" y="1960032"/>
            <a:ext cx="11184860" cy="879475"/>
          </a:xfrm>
          <a:prstGeom prst="rect">
            <a:avLst/>
          </a:prstGeom>
        </p:spPr>
        <p:txBody>
          <a:bodyPr anchor="t" rtlCol="false" tIns="0" lIns="0" bIns="0" rIns="0">
            <a:spAutoFit/>
          </a:bodyPr>
          <a:lstStyle/>
          <a:p>
            <a:pPr algn="just">
              <a:lnSpc>
                <a:spcPts val="6500"/>
              </a:lnSpc>
            </a:pPr>
            <a:r>
              <a:rPr lang="en-US" sz="6500">
                <a:solidFill>
                  <a:srgbClr val="B66C3F"/>
                </a:solidFill>
                <a:latin typeface="Object Sans Ultra-Bold"/>
              </a:rPr>
              <a:t>PENERAPAN</a:t>
            </a:r>
          </a:p>
        </p:txBody>
      </p:sp>
      <p:sp>
        <p:nvSpPr>
          <p:cNvPr name="TextBox 4" id="4"/>
          <p:cNvSpPr txBox="true"/>
          <p:nvPr/>
        </p:nvSpPr>
        <p:spPr>
          <a:xfrm rot="0">
            <a:off x="1028700" y="3249083"/>
            <a:ext cx="10077579" cy="1940557"/>
          </a:xfrm>
          <a:prstGeom prst="rect">
            <a:avLst/>
          </a:prstGeom>
        </p:spPr>
        <p:txBody>
          <a:bodyPr anchor="t" rtlCol="false" tIns="0" lIns="0" bIns="0" rIns="0">
            <a:spAutoFit/>
          </a:bodyPr>
          <a:lstStyle/>
          <a:p>
            <a:pPr>
              <a:lnSpc>
                <a:spcPts val="6399"/>
              </a:lnSpc>
            </a:pPr>
            <a:r>
              <a:rPr lang="en-US" sz="7999">
                <a:solidFill>
                  <a:srgbClr val="C57849"/>
                </a:solidFill>
                <a:latin typeface="Object Sans Ultra-Bold"/>
              </a:rPr>
              <a:t>COUNTER UP</a:t>
            </a:r>
          </a:p>
          <a:p>
            <a:pPr>
              <a:lnSpc>
                <a:spcPts val="9839"/>
              </a:lnSpc>
            </a:pPr>
            <a:r>
              <a:rPr lang="en-US" sz="7999">
                <a:solidFill>
                  <a:srgbClr val="C57849"/>
                </a:solidFill>
                <a:latin typeface="Object Sans Ultra-Bold"/>
              </a:rPr>
              <a:t>MODULO 60</a:t>
            </a:r>
          </a:p>
        </p:txBody>
      </p:sp>
      <p:sp>
        <p:nvSpPr>
          <p:cNvPr name="Freeform 5" id="5"/>
          <p:cNvSpPr/>
          <p:nvPr/>
        </p:nvSpPr>
        <p:spPr>
          <a:xfrm flipH="false" flipV="false" rot="0">
            <a:off x="11106279" y="9642949"/>
            <a:ext cx="454603" cy="393800"/>
          </a:xfrm>
          <a:custGeom>
            <a:avLst/>
            <a:gdLst/>
            <a:ahLst/>
            <a:cxnLst/>
            <a:rect r="r" b="b" t="t" l="l"/>
            <a:pathLst>
              <a:path h="393800" w="454603">
                <a:moveTo>
                  <a:pt x="0" y="0"/>
                </a:moveTo>
                <a:lnTo>
                  <a:pt x="454603" y="0"/>
                </a:lnTo>
                <a:lnTo>
                  <a:pt x="454603" y="393800"/>
                </a:lnTo>
                <a:lnTo>
                  <a:pt x="0" y="393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a:off x="1028398" y="8420100"/>
            <a:ext cx="7521846" cy="0"/>
          </a:xfrm>
          <a:prstGeom prst="line">
            <a:avLst/>
          </a:prstGeom>
          <a:ln cap="flat" w="57150">
            <a:solidFill>
              <a:srgbClr val="C57849"/>
            </a:solidFill>
            <a:prstDash val="solid"/>
            <a:headEnd type="none" len="sm" w="sm"/>
            <a:tailEnd type="none" len="sm" w="sm"/>
          </a:ln>
        </p:spPr>
      </p:sp>
      <p:sp>
        <p:nvSpPr>
          <p:cNvPr name="TextBox 7" id="7"/>
          <p:cNvSpPr txBox="true"/>
          <p:nvPr/>
        </p:nvSpPr>
        <p:spPr>
          <a:xfrm rot="0">
            <a:off x="1028398" y="5153025"/>
            <a:ext cx="11184860" cy="2961005"/>
          </a:xfrm>
          <a:prstGeom prst="rect">
            <a:avLst/>
          </a:prstGeom>
        </p:spPr>
        <p:txBody>
          <a:bodyPr anchor="t" rtlCol="false" tIns="0" lIns="0" bIns="0" rIns="0">
            <a:spAutoFit/>
          </a:bodyPr>
          <a:lstStyle/>
          <a:p>
            <a:pPr>
              <a:lnSpc>
                <a:spcPts val="7735"/>
              </a:lnSpc>
            </a:pPr>
            <a:r>
              <a:rPr lang="en-US" sz="6500">
                <a:solidFill>
                  <a:srgbClr val="B66C3F"/>
                </a:solidFill>
                <a:latin typeface="Object Sans Ultra-Bold"/>
              </a:rPr>
              <a:t>DECADE COUNTER </a:t>
            </a:r>
          </a:p>
          <a:p>
            <a:pPr>
              <a:lnSpc>
                <a:spcPts val="7735"/>
              </a:lnSpc>
            </a:pPr>
            <a:r>
              <a:rPr lang="en-US" sz="6500">
                <a:solidFill>
                  <a:srgbClr val="B66C3F"/>
                </a:solidFill>
                <a:latin typeface="Object Sans Ultra-Bold"/>
              </a:rPr>
              <a:t>UNTUK PENGGUNAAN STOPWATCH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84573" y="9138539"/>
            <a:ext cx="7954710" cy="2296923"/>
          </a:xfrm>
          <a:custGeom>
            <a:avLst/>
            <a:gdLst/>
            <a:ahLst/>
            <a:cxnLst/>
            <a:rect r="r" b="b" t="t" l="l"/>
            <a:pathLst>
              <a:path h="2296923" w="7954710">
                <a:moveTo>
                  <a:pt x="0" y="0"/>
                </a:moveTo>
                <a:lnTo>
                  <a:pt x="7954710" y="0"/>
                </a:lnTo>
                <a:lnTo>
                  <a:pt x="7954710" y="2296922"/>
                </a:lnTo>
                <a:lnTo>
                  <a:pt x="0" y="2296922"/>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59725" y="1316477"/>
            <a:ext cx="7830226" cy="7654046"/>
          </a:xfrm>
          <a:custGeom>
            <a:avLst/>
            <a:gdLst/>
            <a:ahLst/>
            <a:cxnLst/>
            <a:rect r="r" b="b" t="t" l="l"/>
            <a:pathLst>
              <a:path h="7654046" w="7830226">
                <a:moveTo>
                  <a:pt x="0" y="0"/>
                </a:moveTo>
                <a:lnTo>
                  <a:pt x="7830226" y="0"/>
                </a:lnTo>
                <a:lnTo>
                  <a:pt x="7830226" y="7654046"/>
                </a:lnTo>
                <a:lnTo>
                  <a:pt x="0" y="76540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810357" y="2251452"/>
            <a:ext cx="8448943" cy="1306076"/>
          </a:xfrm>
          <a:prstGeom prst="rect">
            <a:avLst/>
          </a:prstGeom>
        </p:spPr>
        <p:txBody>
          <a:bodyPr anchor="t" rtlCol="false" tIns="0" lIns="0" bIns="0" rIns="0">
            <a:spAutoFit/>
          </a:bodyPr>
          <a:lstStyle/>
          <a:p>
            <a:pPr>
              <a:lnSpc>
                <a:spcPts val="9813"/>
              </a:lnSpc>
            </a:pPr>
            <a:r>
              <a:rPr lang="en-US" sz="9620">
                <a:solidFill>
                  <a:srgbClr val="B66C3F"/>
                </a:solidFill>
                <a:latin typeface="Object Sans Ultra-Bold"/>
              </a:rPr>
              <a:t>Pendahuluan</a:t>
            </a:r>
          </a:p>
        </p:txBody>
      </p:sp>
      <p:sp>
        <p:nvSpPr>
          <p:cNvPr name="TextBox 5" id="5"/>
          <p:cNvSpPr txBox="true"/>
          <p:nvPr/>
        </p:nvSpPr>
        <p:spPr>
          <a:xfrm rot="0">
            <a:off x="8810357" y="3500378"/>
            <a:ext cx="7879639" cy="4687570"/>
          </a:xfrm>
          <a:prstGeom prst="rect">
            <a:avLst/>
          </a:prstGeom>
        </p:spPr>
        <p:txBody>
          <a:bodyPr anchor="t" rtlCol="false" tIns="0" lIns="0" bIns="0" rIns="0">
            <a:spAutoFit/>
          </a:bodyPr>
          <a:lstStyle/>
          <a:p>
            <a:pPr algn="just">
              <a:lnSpc>
                <a:spcPts val="3080"/>
              </a:lnSpc>
            </a:pPr>
            <a:r>
              <a:rPr lang="en-US" sz="2200">
                <a:solidFill>
                  <a:srgbClr val="000000"/>
                </a:solidFill>
                <a:latin typeface="Poppins"/>
              </a:rPr>
              <a:t>    Di era ini, manajemen waktu sangat penting dalam berbagai aspek kehidupan. Stopwatch, dengan keakuratan dan keandalannya, membuktikan efektivitasnya dalam mengukur kinerja olahraga, produktivitas, eksperimen ilmiah, dan kegiatan sehari-hari seperti memasak. Kemampuan stopwatch memberikan presisi tinggi dalam pengukuran waktu, memungkinkan pemantauan langsung dan pengambilan tindakan yang tepat. Sebagai alat sederhana namun berharga, stopwatch menjadi solusi efektif untuk kebutuhan waktu dalam berbagai konteks kehidupan.</a:t>
            </a:r>
          </a:p>
        </p:txBody>
      </p:sp>
      <p:sp>
        <p:nvSpPr>
          <p:cNvPr name="Freeform 6" id="6"/>
          <p:cNvSpPr/>
          <p:nvPr/>
        </p:nvSpPr>
        <p:spPr>
          <a:xfrm flipH="false" flipV="false" rot="0">
            <a:off x="11484573" y="-1268223"/>
            <a:ext cx="7954710" cy="2296923"/>
          </a:xfrm>
          <a:custGeom>
            <a:avLst/>
            <a:gdLst/>
            <a:ahLst/>
            <a:cxnLst/>
            <a:rect r="r" b="b" t="t" l="l"/>
            <a:pathLst>
              <a:path h="2296923" w="7954710">
                <a:moveTo>
                  <a:pt x="0" y="0"/>
                </a:moveTo>
                <a:lnTo>
                  <a:pt x="7954710" y="0"/>
                </a:lnTo>
                <a:lnTo>
                  <a:pt x="7954710" y="2296923"/>
                </a:lnTo>
                <a:lnTo>
                  <a:pt x="0" y="2296923"/>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843809"/>
        </a:solidFill>
      </p:bgPr>
    </p:bg>
    <p:spTree>
      <p:nvGrpSpPr>
        <p:cNvPr id="1" name=""/>
        <p:cNvGrpSpPr/>
        <p:nvPr/>
      </p:nvGrpSpPr>
      <p:grpSpPr>
        <a:xfrm>
          <a:off x="0" y="0"/>
          <a:ext cx="0" cy="0"/>
          <a:chOff x="0" y="0"/>
          <a:chExt cx="0" cy="0"/>
        </a:xfrm>
      </p:grpSpPr>
      <p:sp>
        <p:nvSpPr>
          <p:cNvPr name="Freeform 2" id="2"/>
          <p:cNvSpPr/>
          <p:nvPr/>
        </p:nvSpPr>
        <p:spPr>
          <a:xfrm flipH="false" flipV="false" rot="0">
            <a:off x="10545824" y="-878190"/>
            <a:ext cx="7954710" cy="2296923"/>
          </a:xfrm>
          <a:custGeom>
            <a:avLst/>
            <a:gdLst/>
            <a:ahLst/>
            <a:cxnLst/>
            <a:rect r="r" b="b" t="t" l="l"/>
            <a:pathLst>
              <a:path h="2296923" w="7954710">
                <a:moveTo>
                  <a:pt x="0" y="0"/>
                </a:moveTo>
                <a:lnTo>
                  <a:pt x="7954711" y="0"/>
                </a:lnTo>
                <a:lnTo>
                  <a:pt x="7954711" y="2296923"/>
                </a:lnTo>
                <a:lnTo>
                  <a:pt x="0" y="2296923"/>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10534" y="1028700"/>
            <a:ext cx="8325871" cy="8399366"/>
          </a:xfrm>
          <a:custGeom>
            <a:avLst/>
            <a:gdLst/>
            <a:ahLst/>
            <a:cxnLst/>
            <a:rect r="r" b="b" t="t" l="l"/>
            <a:pathLst>
              <a:path h="8399366" w="8325871">
                <a:moveTo>
                  <a:pt x="0" y="0"/>
                </a:moveTo>
                <a:lnTo>
                  <a:pt x="8325872" y="0"/>
                </a:lnTo>
                <a:lnTo>
                  <a:pt x="8325872" y="8399366"/>
                </a:lnTo>
                <a:lnTo>
                  <a:pt x="0" y="8399366"/>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1876435" y="2522958"/>
            <a:ext cx="6138923" cy="613892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EFE8"/>
            </a:solidFill>
          </p:spPr>
        </p:sp>
        <p:sp>
          <p:nvSpPr>
            <p:cNvPr name="TextBox 6" id="6"/>
            <p:cNvSpPr txBox="true"/>
            <p:nvPr/>
          </p:nvSpPr>
          <p:spPr>
            <a:xfrm>
              <a:off x="76200" y="9525"/>
              <a:ext cx="660400" cy="727075"/>
            </a:xfrm>
            <a:prstGeom prst="rect">
              <a:avLst/>
            </a:prstGeom>
          </p:spPr>
          <p:txBody>
            <a:bodyPr anchor="ctr" rtlCol="false" tIns="50800" lIns="50800" bIns="50800" rIns="50800"/>
            <a:lstStyle/>
            <a:p>
              <a:pPr algn="ctr">
                <a:lnSpc>
                  <a:spcPts val="3360"/>
                </a:lnSpc>
              </a:pPr>
            </a:p>
          </p:txBody>
        </p:sp>
      </p:grpSp>
      <p:sp>
        <p:nvSpPr>
          <p:cNvPr name="Freeform 7" id="7"/>
          <p:cNvSpPr/>
          <p:nvPr/>
        </p:nvSpPr>
        <p:spPr>
          <a:xfrm flipH="false" flipV="false" rot="0">
            <a:off x="12294619" y="3981513"/>
            <a:ext cx="5499539" cy="3221814"/>
          </a:xfrm>
          <a:custGeom>
            <a:avLst/>
            <a:gdLst/>
            <a:ahLst/>
            <a:cxnLst/>
            <a:rect r="r" b="b" t="t" l="l"/>
            <a:pathLst>
              <a:path h="3221814" w="5499539">
                <a:moveTo>
                  <a:pt x="0" y="0"/>
                </a:moveTo>
                <a:lnTo>
                  <a:pt x="5499539" y="0"/>
                </a:lnTo>
                <a:lnTo>
                  <a:pt x="5499539" y="3221813"/>
                </a:lnTo>
                <a:lnTo>
                  <a:pt x="0" y="3221813"/>
                </a:lnTo>
                <a:lnTo>
                  <a:pt x="0" y="0"/>
                </a:lnTo>
                <a:close/>
              </a:path>
            </a:pathLst>
          </a:custGeom>
          <a:blipFill>
            <a:blip r:embed="rId6"/>
            <a:stretch>
              <a:fillRect l="0" t="0" r="0" b="0"/>
            </a:stretch>
          </a:blipFill>
        </p:spPr>
      </p:sp>
      <p:sp>
        <p:nvSpPr>
          <p:cNvPr name="TextBox 8" id="8"/>
          <p:cNvSpPr txBox="true"/>
          <p:nvPr/>
        </p:nvSpPr>
        <p:spPr>
          <a:xfrm rot="0">
            <a:off x="1028700" y="5076825"/>
            <a:ext cx="10076634" cy="3970654"/>
          </a:xfrm>
          <a:prstGeom prst="rect">
            <a:avLst/>
          </a:prstGeom>
        </p:spPr>
        <p:txBody>
          <a:bodyPr anchor="t" rtlCol="false" tIns="0" lIns="0" bIns="0" rIns="0">
            <a:spAutoFit/>
          </a:bodyPr>
          <a:lstStyle/>
          <a:p>
            <a:pPr algn="just" marL="518170" indent="-259085" lvl="1">
              <a:lnSpc>
                <a:spcPts val="3360"/>
              </a:lnSpc>
              <a:buFont typeface="Arial"/>
              <a:buChar char="•"/>
            </a:pPr>
            <a:r>
              <a:rPr lang="en-US" sz="2400">
                <a:solidFill>
                  <a:srgbClr val="FFFFFF"/>
                </a:solidFill>
                <a:latin typeface="Poppins Bold"/>
              </a:rPr>
              <a:t>Modulo 6 (Puluhan)</a:t>
            </a:r>
          </a:p>
          <a:p>
            <a:pPr algn="just">
              <a:lnSpc>
                <a:spcPts val="3080"/>
              </a:lnSpc>
              <a:spcBef>
                <a:spcPct val="0"/>
              </a:spcBef>
            </a:pPr>
            <a:r>
              <a:rPr lang="en-US" sz="2200">
                <a:solidFill>
                  <a:srgbClr val="FFFFFF"/>
                </a:solidFill>
                <a:latin typeface="Poppins"/>
              </a:rPr>
              <a:t>Modulo 6 ini akan menghitung 0, 1, 2, 3, 4, 5 dan ketika 6 akan mereset ke 0. Karena digunakan decade counter yang mana akan mengeluarkan nilai biner 4 bit (10), maka digunakan IC NOT dan AND agar dapat berhenti di 6 dan mereset ke 0.</a:t>
            </a:r>
          </a:p>
          <a:p>
            <a:pPr algn="just">
              <a:lnSpc>
                <a:spcPts val="3080"/>
              </a:lnSpc>
              <a:spcBef>
                <a:spcPct val="0"/>
              </a:spcBef>
            </a:pPr>
          </a:p>
          <a:p>
            <a:pPr algn="just" marL="518170" indent="-259085" lvl="1">
              <a:lnSpc>
                <a:spcPts val="3360"/>
              </a:lnSpc>
              <a:buFont typeface="Arial"/>
              <a:buChar char="•"/>
            </a:pPr>
            <a:r>
              <a:rPr lang="en-US" sz="2400">
                <a:solidFill>
                  <a:srgbClr val="FFFFFF"/>
                </a:solidFill>
                <a:latin typeface="Poppins Bold"/>
              </a:rPr>
              <a:t>Modulo 10 (Satuan)</a:t>
            </a:r>
          </a:p>
          <a:p>
            <a:pPr algn="just">
              <a:lnSpc>
                <a:spcPts val="3080"/>
              </a:lnSpc>
              <a:spcBef>
                <a:spcPct val="0"/>
              </a:spcBef>
            </a:pPr>
            <a:r>
              <a:rPr lang="en-US" sz="2200">
                <a:solidFill>
                  <a:srgbClr val="FFFFFF"/>
                </a:solidFill>
                <a:latin typeface="Poppins"/>
              </a:rPr>
              <a:t>Modulo 10 akan menghitung 0, 1, 2, 3, 4, 5, 6, 7, 8, 9, dan ketika 10 akan mereset ke 0. IC ini termasuk decade counter yang mana akan mengeluarkan nilai biner 4 bit (10)</a:t>
            </a:r>
          </a:p>
        </p:txBody>
      </p:sp>
      <p:sp>
        <p:nvSpPr>
          <p:cNvPr name="TextBox 9" id="9"/>
          <p:cNvSpPr txBox="true"/>
          <p:nvPr/>
        </p:nvSpPr>
        <p:spPr>
          <a:xfrm rot="0">
            <a:off x="1028700" y="1190625"/>
            <a:ext cx="10478264" cy="1295781"/>
          </a:xfrm>
          <a:prstGeom prst="rect">
            <a:avLst/>
          </a:prstGeom>
        </p:spPr>
        <p:txBody>
          <a:bodyPr anchor="t" rtlCol="false" tIns="0" lIns="0" bIns="0" rIns="0">
            <a:spAutoFit/>
          </a:bodyPr>
          <a:lstStyle/>
          <a:p>
            <a:pPr>
              <a:lnSpc>
                <a:spcPts val="9792"/>
              </a:lnSpc>
            </a:pPr>
            <a:r>
              <a:rPr lang="en-US" sz="9600">
                <a:solidFill>
                  <a:srgbClr val="FFFFFF"/>
                </a:solidFill>
                <a:latin typeface="Object Sans Ultra-Bold"/>
              </a:rPr>
              <a:t>Decade Counter</a:t>
            </a:r>
          </a:p>
        </p:txBody>
      </p:sp>
      <p:sp>
        <p:nvSpPr>
          <p:cNvPr name="TextBox 10" id="10"/>
          <p:cNvSpPr txBox="true"/>
          <p:nvPr/>
        </p:nvSpPr>
        <p:spPr>
          <a:xfrm rot="0">
            <a:off x="1028700" y="2465808"/>
            <a:ext cx="10076634" cy="2344420"/>
          </a:xfrm>
          <a:prstGeom prst="rect">
            <a:avLst/>
          </a:prstGeom>
        </p:spPr>
        <p:txBody>
          <a:bodyPr anchor="t" rtlCol="false" tIns="0" lIns="0" bIns="0" rIns="0">
            <a:spAutoFit/>
          </a:bodyPr>
          <a:lstStyle/>
          <a:p>
            <a:pPr algn="just">
              <a:lnSpc>
                <a:spcPts val="3080"/>
              </a:lnSpc>
            </a:pPr>
            <a:r>
              <a:rPr lang="en-US" sz="2200">
                <a:solidFill>
                  <a:srgbClr val="FFFFFF"/>
                </a:solidFill>
                <a:latin typeface="Poppins"/>
              </a:rPr>
              <a:t>    Decade counter merupakan nilai maksimal yang dapat dicacah oleh suatu counter yang dapat mencacah sampai 10 hitungan saja. Jika counter modulo 10 telah mencacah dari 0 sampai 9, maka pencacah akan mengeluarkan pulsa reset atau clear untuk mengulang cacahan dari 0. Jadi setelah mencapai hitungan “1001”, counter mendaur ulang kembali ke “0000”.</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84573" y="9138539"/>
            <a:ext cx="7954710" cy="2296923"/>
          </a:xfrm>
          <a:custGeom>
            <a:avLst/>
            <a:gdLst/>
            <a:ahLst/>
            <a:cxnLst/>
            <a:rect r="r" b="b" t="t" l="l"/>
            <a:pathLst>
              <a:path h="2296923" w="7954710">
                <a:moveTo>
                  <a:pt x="0" y="0"/>
                </a:moveTo>
                <a:lnTo>
                  <a:pt x="7954710" y="0"/>
                </a:lnTo>
                <a:lnTo>
                  <a:pt x="7954710" y="2296922"/>
                </a:lnTo>
                <a:lnTo>
                  <a:pt x="0" y="2296922"/>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484573" y="-1268223"/>
            <a:ext cx="7954710" cy="2296923"/>
          </a:xfrm>
          <a:custGeom>
            <a:avLst/>
            <a:gdLst/>
            <a:ahLst/>
            <a:cxnLst/>
            <a:rect r="r" b="b" t="t" l="l"/>
            <a:pathLst>
              <a:path h="2296923" w="7954710">
                <a:moveTo>
                  <a:pt x="0" y="0"/>
                </a:moveTo>
                <a:lnTo>
                  <a:pt x="7954710" y="0"/>
                </a:lnTo>
                <a:lnTo>
                  <a:pt x="7954710" y="2296923"/>
                </a:lnTo>
                <a:lnTo>
                  <a:pt x="0" y="2296923"/>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1934" y="3010600"/>
            <a:ext cx="9876009" cy="5724277"/>
          </a:xfrm>
          <a:custGeom>
            <a:avLst/>
            <a:gdLst/>
            <a:ahLst/>
            <a:cxnLst/>
            <a:rect r="r" b="b" t="t" l="l"/>
            <a:pathLst>
              <a:path h="5724277" w="9876009">
                <a:moveTo>
                  <a:pt x="0" y="0"/>
                </a:moveTo>
                <a:lnTo>
                  <a:pt x="9876009" y="0"/>
                </a:lnTo>
                <a:lnTo>
                  <a:pt x="9876009" y="5724277"/>
                </a:lnTo>
                <a:lnTo>
                  <a:pt x="0" y="5724277"/>
                </a:lnTo>
                <a:lnTo>
                  <a:pt x="0" y="0"/>
                </a:lnTo>
                <a:close/>
              </a:path>
            </a:pathLst>
          </a:custGeom>
          <a:blipFill>
            <a:blip r:embed="rId4"/>
            <a:stretch>
              <a:fillRect l="0" t="-25322" r="0" b="0"/>
            </a:stretch>
          </a:blipFill>
        </p:spPr>
      </p:sp>
      <p:sp>
        <p:nvSpPr>
          <p:cNvPr name="TextBox 5" id="5"/>
          <p:cNvSpPr txBox="true"/>
          <p:nvPr/>
        </p:nvSpPr>
        <p:spPr>
          <a:xfrm rot="0">
            <a:off x="4919529" y="1181100"/>
            <a:ext cx="8448943" cy="1305779"/>
          </a:xfrm>
          <a:prstGeom prst="rect">
            <a:avLst/>
          </a:prstGeom>
        </p:spPr>
        <p:txBody>
          <a:bodyPr anchor="t" rtlCol="false" tIns="0" lIns="0" bIns="0" rIns="0">
            <a:spAutoFit/>
          </a:bodyPr>
          <a:lstStyle/>
          <a:p>
            <a:pPr algn="ctr">
              <a:lnSpc>
                <a:spcPts val="9813"/>
              </a:lnSpc>
            </a:pPr>
            <a:r>
              <a:rPr lang="en-US" sz="9620">
                <a:solidFill>
                  <a:srgbClr val="B66C3F"/>
                </a:solidFill>
                <a:latin typeface="Object Sans Ultra-Bold"/>
              </a:rPr>
              <a:t>IC 74LS192</a:t>
            </a:r>
          </a:p>
        </p:txBody>
      </p:sp>
      <p:sp>
        <p:nvSpPr>
          <p:cNvPr name="TextBox 6" id="6"/>
          <p:cNvSpPr txBox="true"/>
          <p:nvPr/>
        </p:nvSpPr>
        <p:spPr>
          <a:xfrm rot="0">
            <a:off x="9144000" y="2943925"/>
            <a:ext cx="8268624" cy="5034914"/>
          </a:xfrm>
          <a:prstGeom prst="rect">
            <a:avLst/>
          </a:prstGeom>
        </p:spPr>
        <p:txBody>
          <a:bodyPr anchor="t" rtlCol="false" tIns="0" lIns="0" bIns="0" rIns="0">
            <a:spAutoFit/>
          </a:bodyPr>
          <a:lstStyle/>
          <a:p>
            <a:pPr algn="just">
              <a:lnSpc>
                <a:spcPts val="3360"/>
              </a:lnSpc>
              <a:spcBef>
                <a:spcPct val="0"/>
              </a:spcBef>
            </a:pPr>
            <a:r>
              <a:rPr lang="en-US" sz="2400">
                <a:solidFill>
                  <a:srgbClr val="000000"/>
                </a:solidFill>
                <a:latin typeface="Poppins"/>
              </a:rPr>
              <a:t>   </a:t>
            </a:r>
            <a:r>
              <a:rPr lang="en-US" sz="2400">
                <a:solidFill>
                  <a:srgbClr val="000000"/>
                </a:solidFill>
                <a:latin typeface="Poppins"/>
              </a:rPr>
              <a:t>IC 74192 adalah integrated circuit (IC) yang termasuk dalam keluarga counter atau perekam data digital. IC ini merupakan Decade Up/Down Counter dengan 4-bit binary output, yang berarti dapat menghitung dalam rentang 0 hingga 9. IC 74192 dapat diatur untuk menghitung naik (up count) atau turun (down count) dan memiliki fitur modulo, yang berarti dapat diatur untuk mengulang dari nilai tertentu. IC ini biasanya digunakan dalam aplikasi yang memerlukan penghitungan atau pencacahan digital, seperti dalam pembuat counter, timer, atau perangkat pengukur waktu lainnya.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84573" y="9138539"/>
            <a:ext cx="7954710" cy="2296923"/>
          </a:xfrm>
          <a:custGeom>
            <a:avLst/>
            <a:gdLst/>
            <a:ahLst/>
            <a:cxnLst/>
            <a:rect r="r" b="b" t="t" l="l"/>
            <a:pathLst>
              <a:path h="2296923" w="7954710">
                <a:moveTo>
                  <a:pt x="0" y="0"/>
                </a:moveTo>
                <a:lnTo>
                  <a:pt x="7954710" y="0"/>
                </a:lnTo>
                <a:lnTo>
                  <a:pt x="7954710" y="2296922"/>
                </a:lnTo>
                <a:lnTo>
                  <a:pt x="0" y="2296922"/>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484573" y="-1268223"/>
            <a:ext cx="7954710" cy="2296923"/>
          </a:xfrm>
          <a:custGeom>
            <a:avLst/>
            <a:gdLst/>
            <a:ahLst/>
            <a:cxnLst/>
            <a:rect r="r" b="b" t="t" l="l"/>
            <a:pathLst>
              <a:path h="2296923" w="7954710">
                <a:moveTo>
                  <a:pt x="0" y="0"/>
                </a:moveTo>
                <a:lnTo>
                  <a:pt x="7954710" y="0"/>
                </a:lnTo>
                <a:lnTo>
                  <a:pt x="7954710" y="2296923"/>
                </a:lnTo>
                <a:lnTo>
                  <a:pt x="0" y="2296923"/>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846310" y="2486879"/>
            <a:ext cx="6523786" cy="6581373"/>
          </a:xfrm>
          <a:custGeom>
            <a:avLst/>
            <a:gdLst/>
            <a:ahLst/>
            <a:cxnLst/>
            <a:rect r="r" b="b" t="t" l="l"/>
            <a:pathLst>
              <a:path h="6581373" w="6523786">
                <a:moveTo>
                  <a:pt x="0" y="0"/>
                </a:moveTo>
                <a:lnTo>
                  <a:pt x="6523786" y="0"/>
                </a:lnTo>
                <a:lnTo>
                  <a:pt x="6523786" y="6581374"/>
                </a:lnTo>
                <a:lnTo>
                  <a:pt x="0" y="6581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17206" y="1181100"/>
            <a:ext cx="17570794" cy="1305779"/>
          </a:xfrm>
          <a:prstGeom prst="rect">
            <a:avLst/>
          </a:prstGeom>
        </p:spPr>
        <p:txBody>
          <a:bodyPr anchor="t" rtlCol="false" tIns="0" lIns="0" bIns="0" rIns="0">
            <a:spAutoFit/>
          </a:bodyPr>
          <a:lstStyle/>
          <a:p>
            <a:pPr>
              <a:lnSpc>
                <a:spcPts val="9813"/>
              </a:lnSpc>
            </a:pPr>
            <a:r>
              <a:rPr lang="en-US" sz="9620">
                <a:solidFill>
                  <a:srgbClr val="B66C3F"/>
                </a:solidFill>
                <a:latin typeface="Object Sans Ultra-Bold"/>
              </a:rPr>
              <a:t>PRINSIP KERJA</a:t>
            </a:r>
          </a:p>
        </p:txBody>
      </p:sp>
      <p:sp>
        <p:nvSpPr>
          <p:cNvPr name="TextBox 6" id="6"/>
          <p:cNvSpPr txBox="true"/>
          <p:nvPr/>
        </p:nvSpPr>
        <p:spPr>
          <a:xfrm rot="0">
            <a:off x="9144000" y="2842815"/>
            <a:ext cx="8550865" cy="5873114"/>
          </a:xfrm>
          <a:prstGeom prst="rect">
            <a:avLst/>
          </a:prstGeom>
        </p:spPr>
        <p:txBody>
          <a:bodyPr anchor="t" rtlCol="false" tIns="0" lIns="0" bIns="0" rIns="0">
            <a:spAutoFit/>
          </a:bodyPr>
          <a:lstStyle/>
          <a:p>
            <a:pPr algn="just">
              <a:lnSpc>
                <a:spcPts val="3360"/>
              </a:lnSpc>
              <a:spcBef>
                <a:spcPct val="0"/>
              </a:spcBef>
            </a:pPr>
            <a:r>
              <a:rPr lang="en-US" sz="2400">
                <a:solidFill>
                  <a:srgbClr val="000000"/>
                </a:solidFill>
                <a:latin typeface="Poppins"/>
              </a:rPr>
              <a:t>     Prinsip kerja dari modulo 60 ini ketika detik satuan melakukan pencacahan dari 0 hingga 9 dan kembali ke 0, IC satuan akan mengeluarkan logika high yang akan memicu IC puluhan untuk melakukan pencacahan dengan bantuan Terminal Count Up (TCU) yang disambungkan ke UP pada kaki 5 IC Puluhan, dan seterusnya hingga membentuk angka 59. ketika IC satuan memberikan logika high ke dalam IC puluhan yang telah mencapai angka 5, maka IC puluhan akan mereset dirinya melalui rangkaian gerbang logika yang dimasukkan dari keluaran IC tersebut karena data yang dikeluarkan adalah angka 6 atau 0110 dalam biner dan kembali pada 0000 dengan bantuan Master Reset (MR).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57849"/>
        </a:solidFill>
      </p:bgPr>
    </p:bg>
    <p:spTree>
      <p:nvGrpSpPr>
        <p:cNvPr id="1" name=""/>
        <p:cNvGrpSpPr/>
        <p:nvPr/>
      </p:nvGrpSpPr>
      <p:grpSpPr>
        <a:xfrm>
          <a:off x="0" y="0"/>
          <a:ext cx="0" cy="0"/>
          <a:chOff x="0" y="0"/>
          <a:chExt cx="0" cy="0"/>
        </a:xfrm>
      </p:grpSpPr>
      <p:sp>
        <p:nvSpPr>
          <p:cNvPr name="Freeform 2" id="2"/>
          <p:cNvSpPr/>
          <p:nvPr/>
        </p:nvSpPr>
        <p:spPr>
          <a:xfrm flipH="false" flipV="false" rot="0">
            <a:off x="14517419" y="-147975"/>
            <a:ext cx="4793782" cy="3811057"/>
          </a:xfrm>
          <a:custGeom>
            <a:avLst/>
            <a:gdLst/>
            <a:ahLst/>
            <a:cxnLst/>
            <a:rect r="r" b="b" t="t" l="l"/>
            <a:pathLst>
              <a:path h="3811057" w="4793782">
                <a:moveTo>
                  <a:pt x="0" y="0"/>
                </a:moveTo>
                <a:lnTo>
                  <a:pt x="4793782" y="0"/>
                </a:lnTo>
                <a:lnTo>
                  <a:pt x="4793782" y="3811056"/>
                </a:lnTo>
                <a:lnTo>
                  <a:pt x="0" y="3811056"/>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643443" y="0"/>
            <a:ext cx="9644557" cy="10287000"/>
            <a:chOff x="0" y="0"/>
            <a:chExt cx="5955574" cy="6352286"/>
          </a:xfrm>
        </p:grpSpPr>
        <p:sp>
          <p:nvSpPr>
            <p:cNvPr name="Freeform 4" id="4"/>
            <p:cNvSpPr/>
            <p:nvPr/>
          </p:nvSpPr>
          <p:spPr>
            <a:xfrm flipH="false" flipV="false" rot="0">
              <a:off x="-130429" y="-589915"/>
              <a:ext cx="6296188" cy="7025767"/>
            </a:xfrm>
            <a:custGeom>
              <a:avLst/>
              <a:gdLst/>
              <a:ahLst/>
              <a:cxnLst/>
              <a:rect r="r" b="b" t="t" l="l"/>
              <a:pathLst>
                <a:path h="7025767" w="6296188">
                  <a:moveTo>
                    <a:pt x="6067136" y="6923913"/>
                  </a:moveTo>
                  <a:cubicBezTo>
                    <a:pt x="4557848" y="6946011"/>
                    <a:pt x="2951805" y="6924929"/>
                    <a:pt x="1450547" y="6933946"/>
                  </a:cubicBezTo>
                  <a:cubicBezTo>
                    <a:pt x="1136324" y="6926707"/>
                    <a:pt x="796607" y="6947408"/>
                    <a:pt x="468999" y="6934708"/>
                  </a:cubicBezTo>
                  <a:cubicBezTo>
                    <a:pt x="395319" y="6926961"/>
                    <a:pt x="0" y="7025767"/>
                    <a:pt x="253441" y="6679565"/>
                  </a:cubicBezTo>
                  <a:cubicBezTo>
                    <a:pt x="344585" y="6624066"/>
                    <a:pt x="240694" y="6527927"/>
                    <a:pt x="271670" y="6440297"/>
                  </a:cubicBezTo>
                  <a:cubicBezTo>
                    <a:pt x="386014" y="6325997"/>
                    <a:pt x="253824" y="6154420"/>
                    <a:pt x="180271" y="5980684"/>
                  </a:cubicBezTo>
                  <a:cubicBezTo>
                    <a:pt x="174152" y="5836285"/>
                    <a:pt x="293850" y="5720080"/>
                    <a:pt x="220043" y="5566283"/>
                  </a:cubicBezTo>
                  <a:cubicBezTo>
                    <a:pt x="226799" y="5493258"/>
                    <a:pt x="222847" y="5364861"/>
                    <a:pt x="154904" y="5303520"/>
                  </a:cubicBezTo>
                  <a:cubicBezTo>
                    <a:pt x="60960" y="5252847"/>
                    <a:pt x="270523" y="5097907"/>
                    <a:pt x="241968" y="4958969"/>
                  </a:cubicBezTo>
                  <a:cubicBezTo>
                    <a:pt x="250382" y="4830953"/>
                    <a:pt x="240184" y="4682617"/>
                    <a:pt x="214562" y="4531233"/>
                  </a:cubicBezTo>
                  <a:cubicBezTo>
                    <a:pt x="221063" y="4479290"/>
                    <a:pt x="249744" y="4431538"/>
                    <a:pt x="238399" y="4381627"/>
                  </a:cubicBezTo>
                  <a:cubicBezTo>
                    <a:pt x="242223" y="4308856"/>
                    <a:pt x="334897" y="4236085"/>
                    <a:pt x="266571" y="4175125"/>
                  </a:cubicBezTo>
                  <a:cubicBezTo>
                    <a:pt x="254716" y="4164838"/>
                    <a:pt x="268483" y="4147439"/>
                    <a:pt x="283397" y="4128770"/>
                  </a:cubicBezTo>
                  <a:cubicBezTo>
                    <a:pt x="272817" y="4119118"/>
                    <a:pt x="186008" y="3975735"/>
                    <a:pt x="224250" y="3916807"/>
                  </a:cubicBezTo>
                  <a:cubicBezTo>
                    <a:pt x="222083" y="3853180"/>
                    <a:pt x="298567" y="3860546"/>
                    <a:pt x="224505" y="3721735"/>
                  </a:cubicBezTo>
                  <a:cubicBezTo>
                    <a:pt x="175300" y="3708019"/>
                    <a:pt x="332220" y="3537712"/>
                    <a:pt x="399399" y="3410585"/>
                  </a:cubicBezTo>
                  <a:cubicBezTo>
                    <a:pt x="379768" y="3338195"/>
                    <a:pt x="429610" y="3276092"/>
                    <a:pt x="450643" y="3202940"/>
                  </a:cubicBezTo>
                  <a:cubicBezTo>
                    <a:pt x="473078" y="3096514"/>
                    <a:pt x="450388" y="3031236"/>
                    <a:pt x="566772" y="2936113"/>
                  </a:cubicBezTo>
                  <a:cubicBezTo>
                    <a:pt x="600935" y="2862453"/>
                    <a:pt x="514380" y="2778633"/>
                    <a:pt x="557721" y="2666238"/>
                  </a:cubicBezTo>
                  <a:cubicBezTo>
                    <a:pt x="538855" y="2651125"/>
                    <a:pt x="592011" y="2634107"/>
                    <a:pt x="557848" y="2608453"/>
                  </a:cubicBezTo>
                  <a:cubicBezTo>
                    <a:pt x="542679" y="2588133"/>
                    <a:pt x="512213" y="2592324"/>
                    <a:pt x="541787" y="2549906"/>
                  </a:cubicBezTo>
                  <a:cubicBezTo>
                    <a:pt x="531206" y="2532888"/>
                    <a:pt x="575950" y="2410587"/>
                    <a:pt x="552240" y="2322068"/>
                  </a:cubicBezTo>
                  <a:cubicBezTo>
                    <a:pt x="548160" y="2311400"/>
                    <a:pt x="615212" y="2273427"/>
                    <a:pt x="588570" y="2247265"/>
                  </a:cubicBezTo>
                  <a:cubicBezTo>
                    <a:pt x="618653" y="2186432"/>
                    <a:pt x="520244" y="2149983"/>
                    <a:pt x="603612" y="2010791"/>
                  </a:cubicBezTo>
                  <a:cubicBezTo>
                    <a:pt x="555426" y="1976120"/>
                    <a:pt x="573145" y="1934718"/>
                    <a:pt x="568939" y="1894078"/>
                  </a:cubicBezTo>
                  <a:cubicBezTo>
                    <a:pt x="625155" y="1828038"/>
                    <a:pt x="647463" y="1689481"/>
                    <a:pt x="772769" y="1441196"/>
                  </a:cubicBezTo>
                  <a:cubicBezTo>
                    <a:pt x="839056" y="1354836"/>
                    <a:pt x="830897" y="1225042"/>
                    <a:pt x="915667" y="1005078"/>
                  </a:cubicBezTo>
                  <a:cubicBezTo>
                    <a:pt x="889535" y="977011"/>
                    <a:pt x="1025805" y="986790"/>
                    <a:pt x="1117968" y="806831"/>
                  </a:cubicBezTo>
                  <a:cubicBezTo>
                    <a:pt x="1102416" y="738886"/>
                    <a:pt x="1205288" y="676021"/>
                    <a:pt x="1161819" y="599567"/>
                  </a:cubicBezTo>
                  <a:cubicBezTo>
                    <a:pt x="1575599" y="609219"/>
                    <a:pt x="2078355" y="598805"/>
                    <a:pt x="2581877" y="601599"/>
                  </a:cubicBezTo>
                  <a:cubicBezTo>
                    <a:pt x="3599882" y="605282"/>
                    <a:pt x="4544590" y="602742"/>
                    <a:pt x="5548956" y="601853"/>
                  </a:cubicBezTo>
                  <a:cubicBezTo>
                    <a:pt x="6296188" y="693420"/>
                    <a:pt x="6022648" y="0"/>
                    <a:pt x="6086002" y="2884424"/>
                  </a:cubicBezTo>
                  <a:cubicBezTo>
                    <a:pt x="6051839" y="4200398"/>
                    <a:pt x="6105688" y="5679694"/>
                    <a:pt x="6067136" y="6923913"/>
                  </a:cubicBezTo>
                  <a:close/>
                </a:path>
              </a:pathLst>
            </a:custGeom>
            <a:blipFill>
              <a:blip r:embed="rId4"/>
              <a:stretch>
                <a:fillRect l="-60389" t="-186" r="0" b="-186"/>
              </a:stretch>
            </a:blipFill>
          </p:spPr>
        </p:sp>
      </p:grpSp>
      <p:sp>
        <p:nvSpPr>
          <p:cNvPr name="TextBox 5" id="5"/>
          <p:cNvSpPr txBox="true"/>
          <p:nvPr/>
        </p:nvSpPr>
        <p:spPr>
          <a:xfrm rot="0">
            <a:off x="770094" y="1392682"/>
            <a:ext cx="11971420" cy="1295781"/>
          </a:xfrm>
          <a:prstGeom prst="rect">
            <a:avLst/>
          </a:prstGeom>
        </p:spPr>
        <p:txBody>
          <a:bodyPr anchor="t" rtlCol="false" tIns="0" lIns="0" bIns="0" rIns="0">
            <a:spAutoFit/>
          </a:bodyPr>
          <a:lstStyle/>
          <a:p>
            <a:pPr>
              <a:lnSpc>
                <a:spcPts val="9792"/>
              </a:lnSpc>
            </a:pPr>
            <a:r>
              <a:rPr lang="en-US" sz="9600">
                <a:solidFill>
                  <a:srgbClr val="FFFFFF"/>
                </a:solidFill>
                <a:latin typeface="Object Sans Ultra-Bold"/>
              </a:rPr>
              <a:t>Alat dan Bahan</a:t>
            </a:r>
          </a:p>
        </p:txBody>
      </p:sp>
      <p:sp>
        <p:nvSpPr>
          <p:cNvPr name="TextBox 6" id="6"/>
          <p:cNvSpPr txBox="true"/>
          <p:nvPr/>
        </p:nvSpPr>
        <p:spPr>
          <a:xfrm rot="0">
            <a:off x="1067705" y="2602738"/>
            <a:ext cx="11376198" cy="6453505"/>
          </a:xfrm>
          <a:prstGeom prst="rect">
            <a:avLst/>
          </a:prstGeom>
        </p:spPr>
        <p:txBody>
          <a:bodyPr anchor="t" rtlCol="false" tIns="0" lIns="0" bIns="0" rIns="0">
            <a:spAutoFit/>
          </a:bodyPr>
          <a:lstStyle/>
          <a:p>
            <a:pPr>
              <a:lnSpc>
                <a:spcPts val="3919"/>
              </a:lnSpc>
            </a:pPr>
            <a:r>
              <a:rPr lang="en-US" sz="2799">
                <a:solidFill>
                  <a:srgbClr val="FFFFFF"/>
                </a:solidFill>
                <a:latin typeface="Poppins"/>
              </a:rPr>
              <a:t>-Power Supply 5 V                    1 buah</a:t>
            </a:r>
          </a:p>
          <a:p>
            <a:pPr>
              <a:lnSpc>
                <a:spcPts val="3919"/>
              </a:lnSpc>
            </a:pPr>
            <a:r>
              <a:rPr lang="en-US" sz="2799">
                <a:solidFill>
                  <a:srgbClr val="FFFFFF"/>
                </a:solidFill>
                <a:latin typeface="Poppins"/>
              </a:rPr>
              <a:t>-IC 555 (Clock)                         1 buah</a:t>
            </a:r>
          </a:p>
          <a:p>
            <a:pPr>
              <a:lnSpc>
                <a:spcPts val="3919"/>
              </a:lnSpc>
            </a:pPr>
            <a:r>
              <a:rPr lang="en-US" sz="2799">
                <a:solidFill>
                  <a:srgbClr val="FFFFFF"/>
                </a:solidFill>
                <a:latin typeface="Poppins"/>
              </a:rPr>
              <a:t>-IC 74LS192                                 2 buah</a:t>
            </a:r>
          </a:p>
          <a:p>
            <a:pPr>
              <a:lnSpc>
                <a:spcPts val="3919"/>
              </a:lnSpc>
            </a:pPr>
            <a:r>
              <a:rPr lang="en-US" sz="2799">
                <a:solidFill>
                  <a:srgbClr val="FFFFFF"/>
                </a:solidFill>
                <a:latin typeface="Poppins"/>
              </a:rPr>
              <a:t>-IC 74LS04                                  1 buah</a:t>
            </a:r>
          </a:p>
          <a:p>
            <a:pPr>
              <a:lnSpc>
                <a:spcPts val="3919"/>
              </a:lnSpc>
            </a:pPr>
            <a:r>
              <a:rPr lang="en-US" sz="2799">
                <a:solidFill>
                  <a:srgbClr val="FFFFFF"/>
                </a:solidFill>
                <a:latin typeface="Poppins"/>
              </a:rPr>
              <a:t>-IC 74LS08                                  1 buah</a:t>
            </a:r>
          </a:p>
          <a:p>
            <a:pPr>
              <a:lnSpc>
                <a:spcPts val="3919"/>
              </a:lnSpc>
            </a:pPr>
            <a:r>
              <a:rPr lang="en-US" sz="2799">
                <a:solidFill>
                  <a:srgbClr val="FFFFFF"/>
                </a:solidFill>
                <a:latin typeface="Poppins"/>
              </a:rPr>
              <a:t>-IC 74LS48                                  2 buah</a:t>
            </a:r>
          </a:p>
          <a:p>
            <a:pPr>
              <a:lnSpc>
                <a:spcPts val="3919"/>
              </a:lnSpc>
            </a:pPr>
            <a:r>
              <a:rPr lang="en-US" sz="2799">
                <a:solidFill>
                  <a:srgbClr val="FFFFFF"/>
                </a:solidFill>
                <a:latin typeface="Poppins"/>
              </a:rPr>
              <a:t>-Seven Segment Katoda        2 buah</a:t>
            </a:r>
          </a:p>
          <a:p>
            <a:pPr>
              <a:lnSpc>
                <a:spcPts val="3919"/>
              </a:lnSpc>
            </a:pPr>
            <a:r>
              <a:rPr lang="en-US" sz="2799">
                <a:solidFill>
                  <a:srgbClr val="FFFFFF"/>
                </a:solidFill>
                <a:latin typeface="Poppins"/>
              </a:rPr>
              <a:t>-Resistor 330 Ω                         15 buah</a:t>
            </a:r>
          </a:p>
          <a:p>
            <a:pPr>
              <a:lnSpc>
                <a:spcPts val="3919"/>
              </a:lnSpc>
            </a:pPr>
            <a:r>
              <a:rPr lang="en-US" sz="2799">
                <a:solidFill>
                  <a:srgbClr val="FFFFFF"/>
                </a:solidFill>
                <a:latin typeface="Poppins"/>
              </a:rPr>
              <a:t>-Jumper                                     Secukupnya</a:t>
            </a:r>
          </a:p>
          <a:p>
            <a:pPr>
              <a:lnSpc>
                <a:spcPts val="3919"/>
              </a:lnSpc>
            </a:pPr>
            <a:r>
              <a:rPr lang="en-US" sz="2799">
                <a:solidFill>
                  <a:srgbClr val="FFFFFF"/>
                </a:solidFill>
                <a:latin typeface="Poppins"/>
              </a:rPr>
              <a:t>-PCB                                            Secukupnya</a:t>
            </a:r>
          </a:p>
          <a:p>
            <a:pPr>
              <a:lnSpc>
                <a:spcPts val="3919"/>
              </a:lnSpc>
            </a:pPr>
            <a:r>
              <a:rPr lang="en-US" sz="2799">
                <a:solidFill>
                  <a:srgbClr val="FFFFFF"/>
                </a:solidFill>
                <a:latin typeface="Poppins"/>
              </a:rPr>
              <a:t>-Casing                                      Secukupnya</a:t>
            </a:r>
          </a:p>
          <a:p>
            <a:pPr>
              <a:lnSpc>
                <a:spcPts val="3919"/>
              </a:lnSpc>
            </a:pPr>
            <a:r>
              <a:rPr lang="en-US" sz="2799">
                <a:solidFill>
                  <a:srgbClr val="FFFFFF"/>
                </a:solidFill>
                <a:latin typeface="Poppins"/>
              </a:rPr>
              <a:t>-Timah                                       Secukupnya</a:t>
            </a:r>
          </a:p>
          <a:p>
            <a:pPr>
              <a:lnSpc>
                <a:spcPts val="391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5400000">
            <a:off x="-3977355" y="3266388"/>
            <a:ext cx="7954710" cy="2296923"/>
          </a:xfrm>
          <a:custGeom>
            <a:avLst/>
            <a:gdLst/>
            <a:ahLst/>
            <a:cxnLst/>
            <a:rect r="r" b="b" t="t" l="l"/>
            <a:pathLst>
              <a:path h="2296923" w="7954710">
                <a:moveTo>
                  <a:pt x="7954710" y="2296922"/>
                </a:moveTo>
                <a:lnTo>
                  <a:pt x="0" y="2296922"/>
                </a:lnTo>
                <a:lnTo>
                  <a:pt x="0" y="0"/>
                </a:lnTo>
                <a:lnTo>
                  <a:pt x="7954710" y="0"/>
                </a:lnTo>
                <a:lnTo>
                  <a:pt x="7954710" y="2296922"/>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5400000">
            <a:off x="14310645" y="3266388"/>
            <a:ext cx="7954710" cy="2296923"/>
          </a:xfrm>
          <a:custGeom>
            <a:avLst/>
            <a:gdLst/>
            <a:ahLst/>
            <a:cxnLst/>
            <a:rect r="r" b="b" t="t" l="l"/>
            <a:pathLst>
              <a:path h="2296923" w="7954710">
                <a:moveTo>
                  <a:pt x="7954710" y="0"/>
                </a:moveTo>
                <a:lnTo>
                  <a:pt x="0" y="0"/>
                </a:lnTo>
                <a:lnTo>
                  <a:pt x="0" y="2296922"/>
                </a:lnTo>
                <a:lnTo>
                  <a:pt x="7954710" y="2296922"/>
                </a:lnTo>
                <a:lnTo>
                  <a:pt x="795471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3344187"/>
            <a:ext cx="15955384" cy="4583674"/>
          </a:xfrm>
          <a:custGeom>
            <a:avLst/>
            <a:gdLst/>
            <a:ahLst/>
            <a:cxnLst/>
            <a:rect r="r" b="b" t="t" l="l"/>
            <a:pathLst>
              <a:path h="4583674" w="15955384">
                <a:moveTo>
                  <a:pt x="0" y="0"/>
                </a:moveTo>
                <a:lnTo>
                  <a:pt x="15955384" y="0"/>
                </a:lnTo>
                <a:lnTo>
                  <a:pt x="15955384" y="4583674"/>
                </a:lnTo>
                <a:lnTo>
                  <a:pt x="0" y="4583674"/>
                </a:lnTo>
                <a:lnTo>
                  <a:pt x="0" y="0"/>
                </a:lnTo>
                <a:close/>
              </a:path>
            </a:pathLst>
          </a:custGeom>
          <a:blipFill>
            <a:blip r:embed="rId4"/>
            <a:stretch>
              <a:fillRect l="0" t="0" r="0" b="0"/>
            </a:stretch>
          </a:blipFill>
        </p:spPr>
      </p:sp>
      <p:sp>
        <p:nvSpPr>
          <p:cNvPr name="TextBox 5" id="5"/>
          <p:cNvSpPr txBox="true"/>
          <p:nvPr/>
        </p:nvSpPr>
        <p:spPr>
          <a:xfrm rot="0">
            <a:off x="4573419" y="1144641"/>
            <a:ext cx="9141161" cy="1305779"/>
          </a:xfrm>
          <a:prstGeom prst="rect">
            <a:avLst/>
          </a:prstGeom>
        </p:spPr>
        <p:txBody>
          <a:bodyPr anchor="t" rtlCol="false" tIns="0" lIns="0" bIns="0" rIns="0">
            <a:spAutoFit/>
          </a:bodyPr>
          <a:lstStyle/>
          <a:p>
            <a:pPr algn="ctr">
              <a:lnSpc>
                <a:spcPts val="9813"/>
              </a:lnSpc>
            </a:pPr>
            <a:r>
              <a:rPr lang="en-US" sz="9620">
                <a:solidFill>
                  <a:srgbClr val="B66C3F"/>
                </a:solidFill>
                <a:latin typeface="Object Sans Ultra-Bold"/>
              </a:rPr>
              <a:t>Diagram Blok</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5400000">
            <a:off x="-3977355" y="3266388"/>
            <a:ext cx="7954710" cy="2296923"/>
          </a:xfrm>
          <a:custGeom>
            <a:avLst/>
            <a:gdLst/>
            <a:ahLst/>
            <a:cxnLst/>
            <a:rect r="r" b="b" t="t" l="l"/>
            <a:pathLst>
              <a:path h="2296923" w="7954710">
                <a:moveTo>
                  <a:pt x="7954710" y="2296922"/>
                </a:moveTo>
                <a:lnTo>
                  <a:pt x="0" y="2296922"/>
                </a:lnTo>
                <a:lnTo>
                  <a:pt x="0" y="0"/>
                </a:lnTo>
                <a:lnTo>
                  <a:pt x="7954710" y="0"/>
                </a:lnTo>
                <a:lnTo>
                  <a:pt x="7954710" y="2296922"/>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5400000">
            <a:off x="14310645" y="3266388"/>
            <a:ext cx="7954710" cy="2296923"/>
          </a:xfrm>
          <a:custGeom>
            <a:avLst/>
            <a:gdLst/>
            <a:ahLst/>
            <a:cxnLst/>
            <a:rect r="r" b="b" t="t" l="l"/>
            <a:pathLst>
              <a:path h="2296923" w="7954710">
                <a:moveTo>
                  <a:pt x="7954710" y="0"/>
                </a:moveTo>
                <a:lnTo>
                  <a:pt x="0" y="0"/>
                </a:lnTo>
                <a:lnTo>
                  <a:pt x="0" y="2296922"/>
                </a:lnTo>
                <a:lnTo>
                  <a:pt x="7954710" y="2296922"/>
                </a:lnTo>
                <a:lnTo>
                  <a:pt x="795471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58990" y="2450420"/>
            <a:ext cx="14770019" cy="7302588"/>
          </a:xfrm>
          <a:custGeom>
            <a:avLst/>
            <a:gdLst/>
            <a:ahLst/>
            <a:cxnLst/>
            <a:rect r="r" b="b" t="t" l="l"/>
            <a:pathLst>
              <a:path h="7302588" w="14770019">
                <a:moveTo>
                  <a:pt x="0" y="0"/>
                </a:moveTo>
                <a:lnTo>
                  <a:pt x="14770020" y="0"/>
                </a:lnTo>
                <a:lnTo>
                  <a:pt x="14770020" y="7302588"/>
                </a:lnTo>
                <a:lnTo>
                  <a:pt x="0" y="7302588"/>
                </a:lnTo>
                <a:lnTo>
                  <a:pt x="0" y="0"/>
                </a:lnTo>
                <a:close/>
              </a:path>
            </a:pathLst>
          </a:custGeom>
          <a:blipFill>
            <a:blip r:embed="rId4"/>
            <a:stretch>
              <a:fillRect l="0" t="0" r="0" b="0"/>
            </a:stretch>
          </a:blipFill>
        </p:spPr>
      </p:sp>
      <p:sp>
        <p:nvSpPr>
          <p:cNvPr name="TextBox 5" id="5"/>
          <p:cNvSpPr txBox="true"/>
          <p:nvPr/>
        </p:nvSpPr>
        <p:spPr>
          <a:xfrm rot="0">
            <a:off x="0" y="1144641"/>
            <a:ext cx="18288000" cy="1305779"/>
          </a:xfrm>
          <a:prstGeom prst="rect">
            <a:avLst/>
          </a:prstGeom>
        </p:spPr>
        <p:txBody>
          <a:bodyPr anchor="t" rtlCol="false" tIns="0" lIns="0" bIns="0" rIns="0">
            <a:spAutoFit/>
          </a:bodyPr>
          <a:lstStyle/>
          <a:p>
            <a:pPr algn="ctr">
              <a:lnSpc>
                <a:spcPts val="9813"/>
              </a:lnSpc>
            </a:pPr>
            <a:r>
              <a:rPr lang="en-US" sz="9620">
                <a:solidFill>
                  <a:srgbClr val="B66C3F"/>
                </a:solidFill>
                <a:latin typeface="Object Sans Ultra-Bold"/>
              </a:rPr>
              <a:t>Diagram Rangkaian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5784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165998" y="3200782"/>
            <a:ext cx="7954710" cy="2296923"/>
          </a:xfrm>
          <a:custGeom>
            <a:avLst/>
            <a:gdLst/>
            <a:ahLst/>
            <a:cxnLst/>
            <a:rect r="r" b="b" t="t" l="l"/>
            <a:pathLst>
              <a:path h="2296923" w="7954710">
                <a:moveTo>
                  <a:pt x="0" y="0"/>
                </a:moveTo>
                <a:lnTo>
                  <a:pt x="7954710" y="0"/>
                </a:lnTo>
                <a:lnTo>
                  <a:pt x="7954710" y="2296923"/>
                </a:lnTo>
                <a:lnTo>
                  <a:pt x="0" y="2296923"/>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pic>
        <p:nvPicPr>
          <p:cNvPr name="Picture 3" id="3">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1427994" y="1358872"/>
            <a:ext cx="15432012" cy="8680507"/>
          </a:xfrm>
          <a:prstGeom prst="rect">
            <a:avLst/>
          </a:prstGeom>
        </p:spPr>
      </p:pic>
      <p:sp>
        <p:nvSpPr>
          <p:cNvPr name="TextBox 4" id="4"/>
          <p:cNvSpPr txBox="true"/>
          <p:nvPr/>
        </p:nvSpPr>
        <p:spPr>
          <a:xfrm rot="0">
            <a:off x="0" y="457613"/>
            <a:ext cx="18288000" cy="823155"/>
          </a:xfrm>
          <a:prstGeom prst="rect">
            <a:avLst/>
          </a:prstGeom>
        </p:spPr>
        <p:txBody>
          <a:bodyPr anchor="t" rtlCol="false" tIns="0" lIns="0" bIns="0" rIns="0">
            <a:spAutoFit/>
          </a:bodyPr>
          <a:lstStyle/>
          <a:p>
            <a:pPr algn="ctr">
              <a:lnSpc>
                <a:spcPts val="6128"/>
              </a:lnSpc>
            </a:pPr>
            <a:r>
              <a:rPr lang="en-US" sz="6008" spc="648">
                <a:solidFill>
                  <a:srgbClr val="FFFFFF"/>
                </a:solidFill>
                <a:latin typeface="Object Sans Ultra-Bold"/>
              </a:rPr>
              <a:t>IMPLEMENTASI</a:t>
            </a:r>
          </a:p>
        </p:txBody>
      </p:sp>
    </p:spTree>
  </p:cSld>
  <p:clrMapOvr>
    <a:masterClrMapping/>
  </p:clrMapOvr>
  <p:timing>
    <p:tnLst>
      <p:par>
        <p:cTn dur="indefinite" restart="never" nodeType="tmRoot">
          <p:childTnLst>
            <p:video>
              <p:cMediaNode vol="100000">
                <p:cTn fill="hold" display="false">
                  <p:stCondLst>
                    <p:cond delay="indefinite"/>
                  </p:stCondLst>
                </p:cTn>
                <p:tgtEl>
                  <p:spTgt spid="3"/>
                </p:tgtEl>
              </p:cMediaNode>
            </p:video>
          </p:childTnLst>
        </p:cTn>
      </p:par>
    </p:tnLst>
  </p:timing>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57849"/>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657" r="0" b="657"/>
          <a:stretch>
            <a:fillRect/>
          </a:stretch>
        </p:blipFill>
        <p:spPr>
          <a:xfrm flipH="false" flipV="false" rot="-5400000">
            <a:off x="3220051" y="-408976"/>
            <a:ext cx="7463683" cy="13094181"/>
          </a:xfrm>
          <a:prstGeom prst="rect">
            <a:avLst/>
          </a:prstGeom>
        </p:spPr>
      </p:pic>
      <p:sp>
        <p:nvSpPr>
          <p:cNvPr name="Freeform 3" id="3"/>
          <p:cNvSpPr/>
          <p:nvPr/>
        </p:nvSpPr>
        <p:spPr>
          <a:xfrm flipH="false" flipV="false" rot="0">
            <a:off x="13792852" y="4200890"/>
            <a:ext cx="3873609" cy="2338692"/>
          </a:xfrm>
          <a:custGeom>
            <a:avLst/>
            <a:gdLst/>
            <a:ahLst/>
            <a:cxnLst/>
            <a:rect r="r" b="b" t="t" l="l"/>
            <a:pathLst>
              <a:path h="2338692" w="3873609">
                <a:moveTo>
                  <a:pt x="0" y="0"/>
                </a:moveTo>
                <a:lnTo>
                  <a:pt x="3873609" y="0"/>
                </a:lnTo>
                <a:lnTo>
                  <a:pt x="3873609" y="2338692"/>
                </a:lnTo>
                <a:lnTo>
                  <a:pt x="0" y="2338692"/>
                </a:lnTo>
                <a:lnTo>
                  <a:pt x="0" y="0"/>
                </a:lnTo>
                <a:close/>
              </a:path>
            </a:pathLst>
          </a:custGeom>
          <a:blipFill>
            <a:blip r:embed="rId5"/>
            <a:stretch>
              <a:fillRect l="0" t="0" r="0" b="0"/>
            </a:stretch>
          </a:blipFill>
        </p:spPr>
      </p:sp>
      <p:sp>
        <p:nvSpPr>
          <p:cNvPr name="Freeform 4" id="4"/>
          <p:cNvSpPr/>
          <p:nvPr/>
        </p:nvSpPr>
        <p:spPr>
          <a:xfrm flipH="false" flipV="false" rot="5400000">
            <a:off x="14640204" y="5908010"/>
            <a:ext cx="2178905" cy="3873609"/>
          </a:xfrm>
          <a:custGeom>
            <a:avLst/>
            <a:gdLst/>
            <a:ahLst/>
            <a:cxnLst/>
            <a:rect r="r" b="b" t="t" l="l"/>
            <a:pathLst>
              <a:path h="3873609" w="2178905">
                <a:moveTo>
                  <a:pt x="0" y="0"/>
                </a:moveTo>
                <a:lnTo>
                  <a:pt x="2178905" y="0"/>
                </a:lnTo>
                <a:lnTo>
                  <a:pt x="2178905" y="3873610"/>
                </a:lnTo>
                <a:lnTo>
                  <a:pt x="0" y="3873610"/>
                </a:lnTo>
                <a:lnTo>
                  <a:pt x="0" y="0"/>
                </a:lnTo>
                <a:close/>
              </a:path>
            </a:pathLst>
          </a:custGeom>
          <a:blipFill>
            <a:blip r:embed="rId6"/>
            <a:stretch>
              <a:fillRect l="0" t="0" r="0" b="0"/>
            </a:stretch>
          </a:blipFill>
        </p:spPr>
      </p:sp>
      <p:sp>
        <p:nvSpPr>
          <p:cNvPr name="TextBox 5" id="5"/>
          <p:cNvSpPr txBox="true"/>
          <p:nvPr/>
        </p:nvSpPr>
        <p:spPr>
          <a:xfrm rot="0">
            <a:off x="13792852" y="2606298"/>
            <a:ext cx="5923192" cy="1594592"/>
          </a:xfrm>
          <a:prstGeom prst="rect">
            <a:avLst/>
          </a:prstGeom>
        </p:spPr>
        <p:txBody>
          <a:bodyPr anchor="t" rtlCol="false" tIns="0" lIns="0" bIns="0" rIns="0">
            <a:spAutoFit/>
          </a:bodyPr>
          <a:lstStyle/>
          <a:p>
            <a:pPr>
              <a:lnSpc>
                <a:spcPts val="12074"/>
              </a:lnSpc>
            </a:pPr>
            <a:r>
              <a:rPr lang="en-US" sz="11838">
                <a:solidFill>
                  <a:srgbClr val="FFFFFF"/>
                </a:solidFill>
                <a:latin typeface="Object Sans Ultra-Bold"/>
              </a:rPr>
              <a:t>Hasil</a:t>
            </a:r>
          </a:p>
        </p:txBody>
      </p:sp>
      <p:sp>
        <p:nvSpPr>
          <p:cNvPr name="Freeform 6" id="6"/>
          <p:cNvSpPr/>
          <p:nvPr/>
        </p:nvSpPr>
        <p:spPr>
          <a:xfrm flipH="false" flipV="false" rot="-10800000">
            <a:off x="0" y="-617961"/>
            <a:ext cx="7954710" cy="2296923"/>
          </a:xfrm>
          <a:custGeom>
            <a:avLst/>
            <a:gdLst/>
            <a:ahLst/>
            <a:cxnLst/>
            <a:rect r="r" b="b" t="t" l="l"/>
            <a:pathLst>
              <a:path h="2296923" w="7954710">
                <a:moveTo>
                  <a:pt x="0" y="0"/>
                </a:moveTo>
                <a:lnTo>
                  <a:pt x="7954710" y="0"/>
                </a:lnTo>
                <a:lnTo>
                  <a:pt x="7954710" y="2296922"/>
                </a:lnTo>
                <a:lnTo>
                  <a:pt x="0" y="2296922"/>
                </a:lnTo>
                <a:lnTo>
                  <a:pt x="0" y="0"/>
                </a:lnTo>
                <a:close/>
              </a:path>
            </a:pathLst>
          </a:custGeom>
          <a:blipFill>
            <a:blip r:embed="rId7">
              <a:alphaModFix amt="15000"/>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10800000">
            <a:off x="8458512" y="-617961"/>
            <a:ext cx="7954710" cy="2296923"/>
          </a:xfrm>
          <a:custGeom>
            <a:avLst/>
            <a:gdLst/>
            <a:ahLst/>
            <a:cxnLst/>
            <a:rect r="r" b="b" t="t" l="l"/>
            <a:pathLst>
              <a:path h="2296923" w="7954710">
                <a:moveTo>
                  <a:pt x="0" y="0"/>
                </a:moveTo>
                <a:lnTo>
                  <a:pt x="7954711" y="0"/>
                </a:lnTo>
                <a:lnTo>
                  <a:pt x="7954711" y="2296922"/>
                </a:lnTo>
                <a:lnTo>
                  <a:pt x="0" y="2296922"/>
                </a:lnTo>
                <a:lnTo>
                  <a:pt x="0" y="0"/>
                </a:lnTo>
                <a:close/>
              </a:path>
            </a:pathLst>
          </a:custGeom>
          <a:blipFill>
            <a:blip r:embed="rId7">
              <a:alphaModFix amt="15000"/>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0800000">
            <a:off x="16918048" y="-617961"/>
            <a:ext cx="7954710" cy="2296923"/>
          </a:xfrm>
          <a:custGeom>
            <a:avLst/>
            <a:gdLst/>
            <a:ahLst/>
            <a:cxnLst/>
            <a:rect r="r" b="b" t="t" l="l"/>
            <a:pathLst>
              <a:path h="2296923" w="7954710">
                <a:moveTo>
                  <a:pt x="0" y="0"/>
                </a:moveTo>
                <a:lnTo>
                  <a:pt x="7954710" y="0"/>
                </a:lnTo>
                <a:lnTo>
                  <a:pt x="7954710" y="2296922"/>
                </a:lnTo>
                <a:lnTo>
                  <a:pt x="0" y="2296922"/>
                </a:lnTo>
                <a:lnTo>
                  <a:pt x="0" y="0"/>
                </a:lnTo>
                <a:close/>
              </a:path>
            </a:pathLst>
          </a:custGeom>
          <a:blipFill>
            <a:blip r:embed="rId7">
              <a:alphaModFix amt="15000"/>
              <a:extLst>
                <a:ext uri="{96DAC541-7B7A-43D3-8B79-37D633B846F1}">
                  <asvg:svgBlip xmlns:asvg="http://schemas.microsoft.com/office/drawing/2016/SVG/main" r:embed="rId8"/>
                </a:ext>
              </a:extLst>
            </a:blip>
            <a:stretch>
              <a:fillRect l="0" t="0" r="0" b="0"/>
            </a:stretch>
          </a:blipFill>
        </p:spPr>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5400000">
            <a:off x="-3977355" y="3266388"/>
            <a:ext cx="7954710" cy="2296923"/>
          </a:xfrm>
          <a:custGeom>
            <a:avLst/>
            <a:gdLst/>
            <a:ahLst/>
            <a:cxnLst/>
            <a:rect r="r" b="b" t="t" l="l"/>
            <a:pathLst>
              <a:path h="2296923" w="7954710">
                <a:moveTo>
                  <a:pt x="7954710" y="2296922"/>
                </a:moveTo>
                <a:lnTo>
                  <a:pt x="0" y="2296922"/>
                </a:lnTo>
                <a:lnTo>
                  <a:pt x="0" y="0"/>
                </a:lnTo>
                <a:lnTo>
                  <a:pt x="7954710" y="0"/>
                </a:lnTo>
                <a:lnTo>
                  <a:pt x="7954710" y="2296922"/>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5400000">
            <a:off x="14310645" y="3266388"/>
            <a:ext cx="7954710" cy="2296923"/>
          </a:xfrm>
          <a:custGeom>
            <a:avLst/>
            <a:gdLst/>
            <a:ahLst/>
            <a:cxnLst/>
            <a:rect r="r" b="b" t="t" l="l"/>
            <a:pathLst>
              <a:path h="2296923" w="7954710">
                <a:moveTo>
                  <a:pt x="7954710" y="0"/>
                </a:moveTo>
                <a:lnTo>
                  <a:pt x="0" y="0"/>
                </a:lnTo>
                <a:lnTo>
                  <a:pt x="0" y="2296922"/>
                </a:lnTo>
                <a:lnTo>
                  <a:pt x="7954710" y="2296922"/>
                </a:lnTo>
                <a:lnTo>
                  <a:pt x="795471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595421" y="2802240"/>
            <a:ext cx="11097157" cy="1305779"/>
          </a:xfrm>
          <a:prstGeom prst="rect">
            <a:avLst/>
          </a:prstGeom>
        </p:spPr>
        <p:txBody>
          <a:bodyPr anchor="t" rtlCol="false" tIns="0" lIns="0" bIns="0" rIns="0">
            <a:spAutoFit/>
          </a:bodyPr>
          <a:lstStyle/>
          <a:p>
            <a:pPr algn="ctr">
              <a:lnSpc>
                <a:spcPts val="9813"/>
              </a:lnSpc>
            </a:pPr>
            <a:r>
              <a:rPr lang="en-US" sz="9620">
                <a:solidFill>
                  <a:srgbClr val="B66C3F"/>
                </a:solidFill>
                <a:latin typeface="Object Sans Ultra-Bold"/>
              </a:rPr>
              <a:t>KESIMPULAN</a:t>
            </a:r>
          </a:p>
        </p:txBody>
      </p:sp>
      <p:sp>
        <p:nvSpPr>
          <p:cNvPr name="TextBox 5" id="5"/>
          <p:cNvSpPr txBox="true"/>
          <p:nvPr/>
        </p:nvSpPr>
        <p:spPr>
          <a:xfrm rot="0">
            <a:off x="2290066" y="4250645"/>
            <a:ext cx="13895173" cy="2743835"/>
          </a:xfrm>
          <a:prstGeom prst="rect">
            <a:avLst/>
          </a:prstGeom>
        </p:spPr>
        <p:txBody>
          <a:bodyPr anchor="t" rtlCol="false" tIns="0" lIns="0" bIns="0" rIns="0">
            <a:spAutoFit/>
          </a:bodyPr>
          <a:lstStyle/>
          <a:p>
            <a:pPr algn="just">
              <a:lnSpc>
                <a:spcPts val="3640"/>
              </a:lnSpc>
            </a:pPr>
            <a:r>
              <a:rPr lang="en-US" sz="2600">
                <a:solidFill>
                  <a:srgbClr val="000000"/>
                </a:solidFill>
                <a:latin typeface="Poppins"/>
              </a:rPr>
              <a:t>     Dari hasil pembuatan projek yang sudah dilakukan dapat disimpulkan bahwa untuk menggabungkan rangkaian up counter mod 6 dan mod 10 bisa menggunakan rangkaian decade counter. Rangkaian ini dapat bermanfaat sebagai alat yang dapat menghitung detik dari 0 sampai 60. Untuk projek selanjutnya diharapkan didapatkan sebuah rangkaian yang semakin sederhana, sehingga alat yang dibuat akan lebih praktis dari segi rangkaian dan kemasan nya. </a:t>
            </a:r>
          </a:p>
        </p:txBody>
      </p:sp>
      <p:grpSp>
        <p:nvGrpSpPr>
          <p:cNvPr name="Group 6" id="6"/>
          <p:cNvGrpSpPr/>
          <p:nvPr/>
        </p:nvGrpSpPr>
        <p:grpSpPr>
          <a:xfrm rot="0">
            <a:off x="-512135" y="9258300"/>
            <a:ext cx="19038697" cy="563720"/>
            <a:chOff x="0" y="0"/>
            <a:chExt cx="4949384" cy="146547"/>
          </a:xfrm>
        </p:grpSpPr>
        <p:sp>
          <p:nvSpPr>
            <p:cNvPr name="Freeform 7" id="7"/>
            <p:cNvSpPr/>
            <p:nvPr/>
          </p:nvSpPr>
          <p:spPr>
            <a:xfrm flipH="false" flipV="false" rot="0">
              <a:off x="0" y="0"/>
              <a:ext cx="4949384" cy="146547"/>
            </a:xfrm>
            <a:custGeom>
              <a:avLst/>
              <a:gdLst/>
              <a:ahLst/>
              <a:cxnLst/>
              <a:rect r="r" b="b" t="t" l="l"/>
              <a:pathLst>
                <a:path h="146547" w="4949384">
                  <a:moveTo>
                    <a:pt x="40664" y="0"/>
                  </a:moveTo>
                  <a:lnTo>
                    <a:pt x="4908720" y="0"/>
                  </a:lnTo>
                  <a:cubicBezTo>
                    <a:pt x="4931178" y="0"/>
                    <a:pt x="4949384" y="18206"/>
                    <a:pt x="4949384" y="40664"/>
                  </a:cubicBezTo>
                  <a:lnTo>
                    <a:pt x="4949384" y="105883"/>
                  </a:lnTo>
                  <a:cubicBezTo>
                    <a:pt x="4949384" y="128341"/>
                    <a:pt x="4931178" y="146547"/>
                    <a:pt x="4908720" y="146547"/>
                  </a:cubicBezTo>
                  <a:lnTo>
                    <a:pt x="40664" y="146547"/>
                  </a:lnTo>
                  <a:cubicBezTo>
                    <a:pt x="29879" y="146547"/>
                    <a:pt x="19536" y="142263"/>
                    <a:pt x="11910" y="134637"/>
                  </a:cubicBezTo>
                  <a:cubicBezTo>
                    <a:pt x="4284" y="127011"/>
                    <a:pt x="0" y="116668"/>
                    <a:pt x="0" y="105883"/>
                  </a:cubicBezTo>
                  <a:lnTo>
                    <a:pt x="0" y="40664"/>
                  </a:lnTo>
                  <a:cubicBezTo>
                    <a:pt x="0" y="29879"/>
                    <a:pt x="4284" y="19536"/>
                    <a:pt x="11910" y="11910"/>
                  </a:cubicBezTo>
                  <a:cubicBezTo>
                    <a:pt x="19536" y="4284"/>
                    <a:pt x="29879" y="0"/>
                    <a:pt x="40664" y="0"/>
                  </a:cubicBezTo>
                  <a:close/>
                </a:path>
              </a:pathLst>
            </a:custGeom>
            <a:solidFill>
              <a:srgbClr val="C57849"/>
            </a:solidFill>
            <a:ln cap="rnd">
              <a:noFill/>
              <a:prstDash val="solid"/>
              <a:round/>
            </a:ln>
          </p:spPr>
        </p:sp>
        <p:sp>
          <p:nvSpPr>
            <p:cNvPr name="TextBox 8" id="8"/>
            <p:cNvSpPr txBox="true"/>
            <p:nvPr/>
          </p:nvSpPr>
          <p:spPr>
            <a:xfrm>
              <a:off x="0" y="-57150"/>
              <a:ext cx="4949384" cy="203697"/>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rot="0">
            <a:off x="6698212" y="7644909"/>
            <a:ext cx="4891576" cy="0"/>
          </a:xfrm>
          <a:prstGeom prst="line">
            <a:avLst/>
          </a:prstGeom>
          <a:ln cap="flat" w="57150">
            <a:solidFill>
              <a:srgbClr val="000000"/>
            </a:solidFill>
            <a:prstDash val="solid"/>
            <a:headEnd type="none" len="sm" w="sm"/>
            <a:tailEnd type="none" len="sm" w="sm"/>
          </a:ln>
        </p:spPr>
      </p:sp>
      <p:grpSp>
        <p:nvGrpSpPr>
          <p:cNvPr name="Group 10" id="10"/>
          <p:cNvGrpSpPr/>
          <p:nvPr/>
        </p:nvGrpSpPr>
        <p:grpSpPr>
          <a:xfrm rot="0">
            <a:off x="-512135" y="8825252"/>
            <a:ext cx="19038697" cy="281860"/>
            <a:chOff x="0" y="0"/>
            <a:chExt cx="4949384" cy="73274"/>
          </a:xfrm>
        </p:grpSpPr>
        <p:sp>
          <p:nvSpPr>
            <p:cNvPr name="Freeform 11" id="11"/>
            <p:cNvSpPr/>
            <p:nvPr/>
          </p:nvSpPr>
          <p:spPr>
            <a:xfrm flipH="false" flipV="false" rot="0">
              <a:off x="0" y="0"/>
              <a:ext cx="4949384" cy="73274"/>
            </a:xfrm>
            <a:custGeom>
              <a:avLst/>
              <a:gdLst/>
              <a:ahLst/>
              <a:cxnLst/>
              <a:rect r="r" b="b" t="t" l="l"/>
              <a:pathLst>
                <a:path h="73274" w="4949384">
                  <a:moveTo>
                    <a:pt x="36637" y="0"/>
                  </a:moveTo>
                  <a:lnTo>
                    <a:pt x="4912747" y="0"/>
                  </a:lnTo>
                  <a:cubicBezTo>
                    <a:pt x="4922464" y="0"/>
                    <a:pt x="4931783" y="3860"/>
                    <a:pt x="4938654" y="10731"/>
                  </a:cubicBezTo>
                  <a:cubicBezTo>
                    <a:pt x="4945524" y="17601"/>
                    <a:pt x="4949384" y="26920"/>
                    <a:pt x="4949384" y="36637"/>
                  </a:cubicBezTo>
                  <a:lnTo>
                    <a:pt x="4949384" y="36637"/>
                  </a:lnTo>
                  <a:cubicBezTo>
                    <a:pt x="4949384" y="46353"/>
                    <a:pt x="4945524" y="55672"/>
                    <a:pt x="4938654" y="62543"/>
                  </a:cubicBezTo>
                  <a:cubicBezTo>
                    <a:pt x="4931783" y="69414"/>
                    <a:pt x="4922464" y="73274"/>
                    <a:pt x="4912747" y="73274"/>
                  </a:cubicBezTo>
                  <a:lnTo>
                    <a:pt x="36637" y="73274"/>
                  </a:lnTo>
                  <a:cubicBezTo>
                    <a:pt x="26920" y="73274"/>
                    <a:pt x="17601" y="69414"/>
                    <a:pt x="10731" y="62543"/>
                  </a:cubicBezTo>
                  <a:cubicBezTo>
                    <a:pt x="3860" y="55672"/>
                    <a:pt x="0" y="46353"/>
                    <a:pt x="0" y="36637"/>
                  </a:cubicBezTo>
                  <a:lnTo>
                    <a:pt x="0" y="36637"/>
                  </a:lnTo>
                  <a:cubicBezTo>
                    <a:pt x="0" y="26920"/>
                    <a:pt x="3860" y="17601"/>
                    <a:pt x="10731" y="10731"/>
                  </a:cubicBezTo>
                  <a:cubicBezTo>
                    <a:pt x="17601" y="3860"/>
                    <a:pt x="26920" y="0"/>
                    <a:pt x="36637" y="0"/>
                  </a:cubicBezTo>
                  <a:close/>
                </a:path>
              </a:pathLst>
            </a:custGeom>
            <a:solidFill>
              <a:srgbClr val="C57849"/>
            </a:solidFill>
            <a:ln cap="rnd">
              <a:noFill/>
              <a:prstDash val="solid"/>
              <a:round/>
            </a:ln>
          </p:spPr>
        </p:sp>
        <p:sp>
          <p:nvSpPr>
            <p:cNvPr name="TextBox 12" id="12"/>
            <p:cNvSpPr txBox="true"/>
            <p:nvPr/>
          </p:nvSpPr>
          <p:spPr>
            <a:xfrm>
              <a:off x="0" y="-57150"/>
              <a:ext cx="4949384" cy="130424"/>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75348" y="962170"/>
            <a:ext cx="19038697" cy="563720"/>
            <a:chOff x="0" y="0"/>
            <a:chExt cx="4949384" cy="146547"/>
          </a:xfrm>
        </p:grpSpPr>
        <p:sp>
          <p:nvSpPr>
            <p:cNvPr name="Freeform 14" id="14"/>
            <p:cNvSpPr/>
            <p:nvPr/>
          </p:nvSpPr>
          <p:spPr>
            <a:xfrm flipH="false" flipV="false" rot="0">
              <a:off x="0" y="0"/>
              <a:ext cx="4949384" cy="146547"/>
            </a:xfrm>
            <a:custGeom>
              <a:avLst/>
              <a:gdLst/>
              <a:ahLst/>
              <a:cxnLst/>
              <a:rect r="r" b="b" t="t" l="l"/>
              <a:pathLst>
                <a:path h="146547" w="4949384">
                  <a:moveTo>
                    <a:pt x="40664" y="0"/>
                  </a:moveTo>
                  <a:lnTo>
                    <a:pt x="4908720" y="0"/>
                  </a:lnTo>
                  <a:cubicBezTo>
                    <a:pt x="4931178" y="0"/>
                    <a:pt x="4949384" y="18206"/>
                    <a:pt x="4949384" y="40664"/>
                  </a:cubicBezTo>
                  <a:lnTo>
                    <a:pt x="4949384" y="105883"/>
                  </a:lnTo>
                  <a:cubicBezTo>
                    <a:pt x="4949384" y="128341"/>
                    <a:pt x="4931178" y="146547"/>
                    <a:pt x="4908720" y="146547"/>
                  </a:cubicBezTo>
                  <a:lnTo>
                    <a:pt x="40664" y="146547"/>
                  </a:lnTo>
                  <a:cubicBezTo>
                    <a:pt x="29879" y="146547"/>
                    <a:pt x="19536" y="142263"/>
                    <a:pt x="11910" y="134637"/>
                  </a:cubicBezTo>
                  <a:cubicBezTo>
                    <a:pt x="4284" y="127011"/>
                    <a:pt x="0" y="116668"/>
                    <a:pt x="0" y="105883"/>
                  </a:cubicBezTo>
                  <a:lnTo>
                    <a:pt x="0" y="40664"/>
                  </a:lnTo>
                  <a:cubicBezTo>
                    <a:pt x="0" y="29879"/>
                    <a:pt x="4284" y="19536"/>
                    <a:pt x="11910" y="11910"/>
                  </a:cubicBezTo>
                  <a:cubicBezTo>
                    <a:pt x="19536" y="4284"/>
                    <a:pt x="29879" y="0"/>
                    <a:pt x="40664" y="0"/>
                  </a:cubicBezTo>
                  <a:close/>
                </a:path>
              </a:pathLst>
            </a:custGeom>
            <a:solidFill>
              <a:srgbClr val="C57849"/>
            </a:solidFill>
            <a:ln cap="rnd">
              <a:noFill/>
              <a:prstDash val="solid"/>
              <a:round/>
            </a:ln>
          </p:spPr>
        </p:sp>
        <p:sp>
          <p:nvSpPr>
            <p:cNvPr name="TextBox 15" id="15"/>
            <p:cNvSpPr txBox="true"/>
            <p:nvPr/>
          </p:nvSpPr>
          <p:spPr>
            <a:xfrm>
              <a:off x="0" y="-57150"/>
              <a:ext cx="4949384" cy="203697"/>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375348" y="529122"/>
            <a:ext cx="19038697" cy="281860"/>
            <a:chOff x="0" y="0"/>
            <a:chExt cx="4949384" cy="73274"/>
          </a:xfrm>
        </p:grpSpPr>
        <p:sp>
          <p:nvSpPr>
            <p:cNvPr name="Freeform 17" id="17"/>
            <p:cNvSpPr/>
            <p:nvPr/>
          </p:nvSpPr>
          <p:spPr>
            <a:xfrm flipH="false" flipV="false" rot="0">
              <a:off x="0" y="0"/>
              <a:ext cx="4949384" cy="73274"/>
            </a:xfrm>
            <a:custGeom>
              <a:avLst/>
              <a:gdLst/>
              <a:ahLst/>
              <a:cxnLst/>
              <a:rect r="r" b="b" t="t" l="l"/>
              <a:pathLst>
                <a:path h="73274" w="4949384">
                  <a:moveTo>
                    <a:pt x="36637" y="0"/>
                  </a:moveTo>
                  <a:lnTo>
                    <a:pt x="4912747" y="0"/>
                  </a:lnTo>
                  <a:cubicBezTo>
                    <a:pt x="4922464" y="0"/>
                    <a:pt x="4931783" y="3860"/>
                    <a:pt x="4938654" y="10731"/>
                  </a:cubicBezTo>
                  <a:cubicBezTo>
                    <a:pt x="4945524" y="17601"/>
                    <a:pt x="4949384" y="26920"/>
                    <a:pt x="4949384" y="36637"/>
                  </a:cubicBezTo>
                  <a:lnTo>
                    <a:pt x="4949384" y="36637"/>
                  </a:lnTo>
                  <a:cubicBezTo>
                    <a:pt x="4949384" y="46353"/>
                    <a:pt x="4945524" y="55672"/>
                    <a:pt x="4938654" y="62543"/>
                  </a:cubicBezTo>
                  <a:cubicBezTo>
                    <a:pt x="4931783" y="69414"/>
                    <a:pt x="4922464" y="73274"/>
                    <a:pt x="4912747" y="73274"/>
                  </a:cubicBezTo>
                  <a:lnTo>
                    <a:pt x="36637" y="73274"/>
                  </a:lnTo>
                  <a:cubicBezTo>
                    <a:pt x="26920" y="73274"/>
                    <a:pt x="17601" y="69414"/>
                    <a:pt x="10731" y="62543"/>
                  </a:cubicBezTo>
                  <a:cubicBezTo>
                    <a:pt x="3860" y="55672"/>
                    <a:pt x="0" y="46353"/>
                    <a:pt x="0" y="36637"/>
                  </a:cubicBezTo>
                  <a:lnTo>
                    <a:pt x="0" y="36637"/>
                  </a:lnTo>
                  <a:cubicBezTo>
                    <a:pt x="0" y="26920"/>
                    <a:pt x="3860" y="17601"/>
                    <a:pt x="10731" y="10731"/>
                  </a:cubicBezTo>
                  <a:cubicBezTo>
                    <a:pt x="17601" y="3860"/>
                    <a:pt x="26920" y="0"/>
                    <a:pt x="36637" y="0"/>
                  </a:cubicBezTo>
                  <a:close/>
                </a:path>
              </a:pathLst>
            </a:custGeom>
            <a:solidFill>
              <a:srgbClr val="C57849"/>
            </a:solidFill>
            <a:ln cap="rnd">
              <a:noFill/>
              <a:prstDash val="solid"/>
              <a:round/>
            </a:ln>
          </p:spPr>
        </p:sp>
        <p:sp>
          <p:nvSpPr>
            <p:cNvPr name="TextBox 18" id="18"/>
            <p:cNvSpPr txBox="true"/>
            <p:nvPr/>
          </p:nvSpPr>
          <p:spPr>
            <a:xfrm>
              <a:off x="0" y="-57150"/>
              <a:ext cx="4949384" cy="130424"/>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5469569"/>
            <a:ext cx="7908019" cy="1631033"/>
          </a:xfrm>
          <a:prstGeom prst="rect">
            <a:avLst/>
          </a:prstGeom>
        </p:spPr>
        <p:txBody>
          <a:bodyPr anchor="t" rtlCol="false" tIns="0" lIns="0" bIns="0" rIns="0">
            <a:spAutoFit/>
          </a:bodyPr>
          <a:lstStyle/>
          <a:p>
            <a:pPr>
              <a:lnSpc>
                <a:spcPts val="11496"/>
              </a:lnSpc>
            </a:pPr>
            <a:r>
              <a:rPr lang="en-US" sz="14370">
                <a:solidFill>
                  <a:srgbClr val="000000"/>
                </a:solidFill>
                <a:latin typeface="Object Sans Ultra-Bold"/>
              </a:rPr>
              <a:t>KASIH</a:t>
            </a:r>
          </a:p>
        </p:txBody>
      </p:sp>
      <p:sp>
        <p:nvSpPr>
          <p:cNvPr name="AutoShape 3" id="3"/>
          <p:cNvSpPr/>
          <p:nvPr/>
        </p:nvSpPr>
        <p:spPr>
          <a:xfrm>
            <a:off x="1028700" y="7072027"/>
            <a:ext cx="4891576" cy="0"/>
          </a:xfrm>
          <a:prstGeom prst="line">
            <a:avLst/>
          </a:prstGeom>
          <a:ln cap="flat" w="57150">
            <a:solidFill>
              <a:srgbClr val="C57849"/>
            </a:solidFill>
            <a:prstDash val="solid"/>
            <a:headEnd type="none" len="sm" w="sm"/>
            <a:tailEnd type="none" len="sm" w="sm"/>
          </a:ln>
        </p:spPr>
      </p:sp>
      <p:sp>
        <p:nvSpPr>
          <p:cNvPr name="Freeform 4" id="4"/>
          <p:cNvSpPr/>
          <p:nvPr/>
        </p:nvSpPr>
        <p:spPr>
          <a:xfrm flipH="true" flipV="false" rot="-5400000">
            <a:off x="10608407" y="3843054"/>
            <a:ext cx="9007415" cy="2600891"/>
          </a:xfrm>
          <a:custGeom>
            <a:avLst/>
            <a:gdLst/>
            <a:ahLst/>
            <a:cxnLst/>
            <a:rect r="r" b="b" t="t" l="l"/>
            <a:pathLst>
              <a:path h="2600891" w="9007415">
                <a:moveTo>
                  <a:pt x="9007415" y="0"/>
                </a:moveTo>
                <a:lnTo>
                  <a:pt x="0" y="0"/>
                </a:lnTo>
                <a:lnTo>
                  <a:pt x="0" y="2600892"/>
                </a:lnTo>
                <a:lnTo>
                  <a:pt x="9007415" y="2600892"/>
                </a:lnTo>
                <a:lnTo>
                  <a:pt x="9007415"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5400000">
            <a:off x="13668741" y="3843054"/>
            <a:ext cx="9007415" cy="2600891"/>
          </a:xfrm>
          <a:custGeom>
            <a:avLst/>
            <a:gdLst/>
            <a:ahLst/>
            <a:cxnLst/>
            <a:rect r="r" b="b" t="t" l="l"/>
            <a:pathLst>
              <a:path h="2600891" w="9007415">
                <a:moveTo>
                  <a:pt x="9007415" y="0"/>
                </a:moveTo>
                <a:lnTo>
                  <a:pt x="0" y="0"/>
                </a:lnTo>
                <a:lnTo>
                  <a:pt x="0" y="2600892"/>
                </a:lnTo>
                <a:lnTo>
                  <a:pt x="9007415" y="2600892"/>
                </a:lnTo>
                <a:lnTo>
                  <a:pt x="9007415" y="0"/>
                </a:lnTo>
                <a:close/>
              </a:path>
            </a:pathLst>
          </a:custGeom>
          <a:blipFill>
            <a:blip r:embed="rId4">
              <a:alphaModFix amt="25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9144000" y="0"/>
            <a:ext cx="9316291" cy="10287000"/>
          </a:xfrm>
          <a:custGeom>
            <a:avLst/>
            <a:gdLst/>
            <a:ahLst/>
            <a:cxnLst/>
            <a:rect r="r" b="b" t="t" l="l"/>
            <a:pathLst>
              <a:path h="10287000" w="9316291">
                <a:moveTo>
                  <a:pt x="0" y="0"/>
                </a:moveTo>
                <a:lnTo>
                  <a:pt x="9316291" y="0"/>
                </a:lnTo>
                <a:lnTo>
                  <a:pt x="9316291" y="10287000"/>
                </a:lnTo>
                <a:lnTo>
                  <a:pt x="0" y="10287000"/>
                </a:lnTo>
                <a:lnTo>
                  <a:pt x="0" y="0"/>
                </a:lnTo>
                <a:close/>
              </a:path>
            </a:pathLst>
          </a:custGeom>
          <a:blipFill>
            <a:blip r:embed="rId6"/>
            <a:stretch>
              <a:fillRect l="-22594" t="0" r="-43034" b="0"/>
            </a:stretch>
          </a:blipFill>
        </p:spPr>
      </p:sp>
      <p:sp>
        <p:nvSpPr>
          <p:cNvPr name="TextBox 7" id="7"/>
          <p:cNvSpPr txBox="true"/>
          <p:nvPr/>
        </p:nvSpPr>
        <p:spPr>
          <a:xfrm rot="0">
            <a:off x="1028700" y="3738848"/>
            <a:ext cx="9098961" cy="1631181"/>
          </a:xfrm>
          <a:prstGeom prst="rect">
            <a:avLst/>
          </a:prstGeom>
        </p:spPr>
        <p:txBody>
          <a:bodyPr anchor="t" rtlCol="false" tIns="0" lIns="0" bIns="0" rIns="0">
            <a:spAutoFit/>
          </a:bodyPr>
          <a:lstStyle/>
          <a:p>
            <a:pPr>
              <a:lnSpc>
                <a:spcPts val="11496"/>
              </a:lnSpc>
            </a:pPr>
            <a:r>
              <a:rPr lang="en-US" sz="14370">
                <a:solidFill>
                  <a:srgbClr val="C57849"/>
                </a:solidFill>
                <a:latin typeface="Object Sans Ultra-Bold"/>
              </a:rPr>
              <a:t>TERIMA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DAF0MCSmGSM</dc:identifier>
  <dcterms:modified xsi:type="dcterms:W3CDTF">2011-08-01T06:04:30Z</dcterms:modified>
  <cp:revision>1</cp:revision>
  <dc:title>Eldig </dc:title>
</cp:coreProperties>
</file>