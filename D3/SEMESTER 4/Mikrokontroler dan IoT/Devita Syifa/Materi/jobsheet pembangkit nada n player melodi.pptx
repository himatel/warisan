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8" r:id="rId4"/>
    <p:sldId id="257" r:id="rId5"/>
    <p:sldId id="263" r:id="rId6"/>
    <p:sldId id="264" r:id="rId7"/>
    <p:sldId id="273" r:id="rId8"/>
    <p:sldId id="275" r:id="rId9"/>
    <p:sldId id="274" r:id="rId10"/>
    <p:sldId id="265" r:id="rId11"/>
    <p:sldId id="268" r:id="rId12"/>
    <p:sldId id="272" r:id="rId13"/>
    <p:sldId id="271" r:id="rId14"/>
    <p:sldId id="270" r:id="rId15"/>
    <p:sldId id="258" r:id="rId16"/>
    <p:sldId id="262" r:id="rId17"/>
    <p:sldId id="259" r:id="rId18"/>
    <p:sldId id="279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512" y="-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2C66-F507-4D9C-88B1-48363CD2DC0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1A6BB-F435-4902-97DB-060766080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17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2C66-F507-4D9C-88B1-48363CD2DC0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1A6BB-F435-4902-97DB-060766080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0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2C66-F507-4D9C-88B1-48363CD2DC0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1A6BB-F435-4902-97DB-060766080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7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2C66-F507-4D9C-88B1-48363CD2DC0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1A6BB-F435-4902-97DB-060766080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82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2C66-F507-4D9C-88B1-48363CD2DC0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1A6BB-F435-4902-97DB-060766080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6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2C66-F507-4D9C-88B1-48363CD2DC0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1A6BB-F435-4902-97DB-060766080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7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2C66-F507-4D9C-88B1-48363CD2DC0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1A6BB-F435-4902-97DB-060766080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6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2C66-F507-4D9C-88B1-48363CD2DC0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1A6BB-F435-4902-97DB-060766080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8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2C66-F507-4D9C-88B1-48363CD2DC0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1A6BB-F435-4902-97DB-060766080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3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2C66-F507-4D9C-88B1-48363CD2DC0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1A6BB-F435-4902-97DB-060766080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6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2C66-F507-4D9C-88B1-48363CD2DC0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1A6BB-F435-4902-97DB-060766080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6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E2C66-F507-4D9C-88B1-48363CD2DC0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1A6BB-F435-4902-97DB-060766080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18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Jobsheet</a:t>
            </a:r>
            <a:br>
              <a:rPr lang="en-US" smtClean="0"/>
            </a:br>
            <a:r>
              <a:rPr lang="en-US" smtClean="0"/>
              <a:t>Pembangkit Nada dan Player Melodi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0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Pendahuluan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Penglihatan manusia: &lt; </a:t>
            </a:r>
            <a:r>
              <a:rPr lang="en-US" smtClean="0"/>
              <a:t>50 </a:t>
            </a:r>
            <a:r>
              <a:rPr lang="en-US" smtClean="0"/>
              <a:t>kedipan/detik </a:t>
            </a:r>
          </a:p>
          <a:p>
            <a:r>
              <a:rPr lang="en-US" smtClean="0"/>
              <a:t>Pendengaran manusia: 20Hz – 20Khz</a:t>
            </a:r>
          </a:p>
          <a:p>
            <a:r>
              <a:rPr lang="en-US" smtClean="0"/>
              <a:t>Segala sesuatu yang berkedip ataupun bergetar akan membangkitkan frekuensi.</a:t>
            </a:r>
          </a:p>
          <a:p>
            <a:r>
              <a:rPr lang="en-US" smtClean="0"/>
              <a:t>Bila kedipan dan/atau getaran tsb dalam bentuk tegangan maka </a:t>
            </a:r>
            <a:r>
              <a:rPr lang="en-US"/>
              <a:t>dengan menggunakan </a:t>
            </a:r>
            <a:r>
              <a:rPr lang="en-US" smtClean="0"/>
              <a:t>lampu/LED maka kedipan dapat dilihat </a:t>
            </a:r>
            <a:r>
              <a:rPr lang="en-US" smtClean="0"/>
              <a:t>(seperti pada pertemuan sebelumnya dan </a:t>
            </a:r>
            <a:r>
              <a:rPr lang="en-US" smtClean="0"/>
              <a:t>dengan speaker maka getaran dapat didengar oleh telinga manusia asal rentangnya masih dalam batas-batas kemampuan mata dan telinga manusia</a:t>
            </a:r>
            <a:r>
              <a:rPr lang="en-US" smtClean="0"/>
              <a:t>.</a:t>
            </a:r>
          </a:p>
          <a:p>
            <a:r>
              <a:rPr lang="en-US" smtClean="0"/>
              <a:t>Berikut ini kita akan mencoba membuat sebuah aplikasi pembangkit nada dan player melodi yang dapat diterapkan sebagai Jingle lagu.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1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Jingle Lagu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Jingle</a:t>
            </a:r>
            <a:r>
              <a:rPr lang="en-US"/>
              <a:t> adalah </a:t>
            </a:r>
            <a:r>
              <a:rPr lang="en-US" b="1"/>
              <a:t>lagu</a:t>
            </a:r>
            <a:r>
              <a:rPr lang="en-US"/>
              <a:t> yang menarik perhatian konsumen, yang memuat pesan iklan sederhana mengenai suatu barang atau jasa atau dengan kata lain </a:t>
            </a:r>
            <a:r>
              <a:rPr lang="en-US" b="1"/>
              <a:t>jingle</a:t>
            </a:r>
            <a:r>
              <a:rPr lang="en-US"/>
              <a:t> adalah </a:t>
            </a:r>
            <a:r>
              <a:rPr lang="en-US" b="1"/>
              <a:t>lagu</a:t>
            </a:r>
            <a:r>
              <a:rPr lang="en-US"/>
              <a:t> yang diciptakan khusus untu iklan suatu produk/jasa(Morissan, </a:t>
            </a:r>
            <a:r>
              <a:rPr lang="en-US"/>
              <a:t>2010:366</a:t>
            </a:r>
            <a:r>
              <a:rPr lang="en-US" smtClean="0"/>
              <a:t>)</a:t>
            </a:r>
          </a:p>
          <a:p>
            <a:endParaRPr lang="en-US" smtClean="0"/>
          </a:p>
          <a:p>
            <a:r>
              <a:rPr lang="en-US" smtClean="0"/>
              <a:t>Contoh sebuah Jingle yang sudah tidak asing lagi di telinga kita.</a:t>
            </a:r>
          </a:p>
          <a:p>
            <a:pPr lvl="1"/>
            <a:r>
              <a:rPr lang="en-US"/>
              <a:t>https://www.youtube.com/watch?v=ey_QWMhb9co</a:t>
            </a:r>
          </a:p>
          <a:p>
            <a:endParaRPr lang="en-US" smtClean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21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Pembangkit Nada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Pembangkit frekuensi: 1KHz, 2KHz, 3Khz, .... , nKhz</a:t>
            </a:r>
          </a:p>
          <a:p>
            <a:r>
              <a:rPr lang="en-US" smtClean="0"/>
              <a:t>Pembangkit nada: 261,6Hz, 277,2Hz, ... 523,3Hz</a:t>
            </a:r>
          </a:p>
          <a:p>
            <a:endParaRPr lang="en-US"/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r>
              <a:rPr lang="en-US" smtClean="0"/>
              <a:t>440Hz adalah nada dasar garpu tala</a:t>
            </a:r>
          </a:p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582" y="2520454"/>
            <a:ext cx="2630755" cy="33811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3873" y="2908806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20Hz</a:t>
            </a:r>
            <a:endParaRPr lang="en-US"/>
          </a:p>
        </p:txBody>
      </p:sp>
      <p:cxnSp>
        <p:nvCxnSpPr>
          <p:cNvPr id="10" name="Straight Arrow Connector 9"/>
          <p:cNvCxnSpPr>
            <a:stCxn id="8" idx="3"/>
          </p:cNvCxnSpPr>
          <p:nvPr/>
        </p:nvCxnSpPr>
        <p:spPr>
          <a:xfrm>
            <a:off x="1158219" y="3093472"/>
            <a:ext cx="54804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54233" y="515863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20KHz</a:t>
            </a:r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7133674" y="5343296"/>
            <a:ext cx="42782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997" y="2949456"/>
            <a:ext cx="5442677" cy="257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004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Soal 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mtClean="0"/>
              <a:t>Bila diketahui sebuah nada C = 261,6 Hz:</a:t>
            </a:r>
          </a:p>
          <a:p>
            <a:pPr marL="0" indent="0">
              <a:buNone/>
            </a:pPr>
            <a:r>
              <a:rPr lang="en-US" smtClean="0"/>
              <a:t>1. Berapakah periodanya dalam detik (7 angka dibelakang koma), ms (4 angka dibelakang koma)  dan uS (1 angka dibelakang koma)?.</a:t>
            </a:r>
          </a:p>
          <a:p>
            <a:pPr marL="0" indent="0">
              <a:buNone/>
            </a:pPr>
            <a:r>
              <a:rPr lang="en-US" smtClean="0"/>
              <a:t>2. Berapakah delay pulsa High dan Low yang diperlukan untuk Arduino</a:t>
            </a:r>
            <a:r>
              <a:rPr lang="en-US"/>
              <a:t> dalam detik (7 angka dibelakang koma), ms (4 angka dibelakang koma)  dan uS (1 angka dibelakang koma)?.</a:t>
            </a:r>
            <a:endParaRPr lang="en-US" smtClean="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mtClean="0"/>
              <a:t>Jawab:</a:t>
            </a:r>
          </a:p>
          <a:p>
            <a:pPr marL="0" indent="0">
              <a:buNone/>
            </a:pPr>
            <a:r>
              <a:rPr lang="en-US" smtClean="0"/>
              <a:t>Perioda 		= 1/f </a:t>
            </a:r>
          </a:p>
          <a:p>
            <a:pPr marL="0" indent="0">
              <a:buNone/>
            </a:pPr>
            <a:r>
              <a:rPr lang="en-US" smtClean="0"/>
              <a:t>		= 1/261,6 </a:t>
            </a:r>
          </a:p>
          <a:p>
            <a:pPr marL="0" indent="0">
              <a:buNone/>
            </a:pPr>
            <a:r>
              <a:rPr lang="en-US" smtClean="0"/>
              <a:t>Perioda 		= 0,0038285 detik = 3,8285 ms = 3828,5 uS</a:t>
            </a:r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en-US" smtClean="0"/>
              <a:t>Delay 		= (1/f)/2 </a:t>
            </a:r>
          </a:p>
          <a:p>
            <a:pPr marL="0" indent="0">
              <a:buNone/>
            </a:pPr>
            <a:r>
              <a:rPr lang="en-US" smtClean="0"/>
              <a:t>		= (1/261,6)/2 </a:t>
            </a:r>
          </a:p>
          <a:p>
            <a:pPr marL="0" indent="0">
              <a:buNone/>
            </a:pPr>
            <a:r>
              <a:rPr lang="en-US" smtClean="0"/>
              <a:t>Delay 		= 0,0019142 detik = 1,9142 ms = 1914,2 uS </a:t>
            </a:r>
            <a:r>
              <a:rPr lang="en-US" smtClean="0">
                <a:sym typeface="Wingdings" panose="05000000000000000000" pitchFamily="2" charset="2"/>
              </a:rPr>
              <a:t> 1914 </a:t>
            </a:r>
            <a:r>
              <a:rPr lang="en-US">
                <a:sym typeface="Wingdings" panose="05000000000000000000" pitchFamily="2" charset="2"/>
              </a:rPr>
              <a:t>uS (di Arduino)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5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Soal 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35705"/>
            <a:ext cx="10515600" cy="324125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int 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outPin</a:t>
            </a: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void setup()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  outPin 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= 12;</a:t>
            </a: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 pinMode(outPin, 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void loop()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digitalWrite(outPin, LOW);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delayMicroseconds(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1914</a:t>
            </a: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);                       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digitalWrite(outPin, HIGH);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  delayMicroseconds(1914);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1502888"/>
            <a:ext cx="10515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/>
              <a:t>Buatlah program Arduino untuk membunyikan nada </a:t>
            </a:r>
            <a:r>
              <a:rPr lang="en-US" sz="2000" smtClean="0"/>
              <a:t>tsb. Pin yang digunakan sebagai output pin 12.</a:t>
            </a:r>
          </a:p>
          <a:p>
            <a:endParaRPr lang="en-US" sz="2000" smtClean="0"/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Jawab</a:t>
            </a:r>
            <a:r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35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Soal 3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6412"/>
            <a:ext cx="10515600" cy="159779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/>
              <a:t>Buatlah </a:t>
            </a:r>
            <a:r>
              <a:rPr lang="en-US" smtClean="0"/>
              <a:t>skema rangkaian Arduino untuk soal no.2 di Proteus.</a:t>
            </a:r>
          </a:p>
          <a:p>
            <a:pPr marL="0" indent="0">
              <a:buNone/>
            </a:pPr>
            <a:r>
              <a:rPr lang="en-US" smtClean="0"/>
              <a:t>Dengan komponen sebagai berikut:</a:t>
            </a:r>
            <a:endParaRPr lang="en-US"/>
          </a:p>
          <a:p>
            <a:r>
              <a:rPr lang="en-US" smtClean="0"/>
              <a:t>Speaker, </a:t>
            </a:r>
          </a:p>
          <a:p>
            <a:r>
              <a:rPr lang="en-US" smtClean="0"/>
              <a:t>Kapasitor elektrolit 10uF (kopling kapasitor)</a:t>
            </a:r>
          </a:p>
          <a:p>
            <a:r>
              <a:rPr lang="en-US"/>
              <a:t>O</a:t>
            </a:r>
            <a:r>
              <a:rPr lang="en-US" smtClean="0"/>
              <a:t>siloskop</a:t>
            </a:r>
          </a:p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163232"/>
            <a:ext cx="915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Jawab: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517" y="3239853"/>
            <a:ext cx="73247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4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Soal 4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Compile program no.2</a:t>
            </a:r>
          </a:p>
          <a:p>
            <a:r>
              <a:rPr lang="en-US"/>
              <a:t>U</a:t>
            </a:r>
            <a:r>
              <a:rPr lang="en-US" smtClean="0"/>
              <a:t>ploadlah </a:t>
            </a:r>
            <a:r>
              <a:rPr lang="en-US"/>
              <a:t>file Hex hasil </a:t>
            </a:r>
            <a:r>
              <a:rPr lang="en-US" smtClean="0"/>
              <a:t>kompilasi ke Arduino di Proteus.</a:t>
            </a:r>
          </a:p>
          <a:p>
            <a:r>
              <a:rPr lang="en-US" smtClean="0"/>
              <a:t>Running simulasi Proteus.</a:t>
            </a:r>
          </a:p>
          <a:p>
            <a:r>
              <a:rPr lang="en-US" smtClean="0"/>
              <a:t>Dengarkan nada yang muncul</a:t>
            </a:r>
          </a:p>
          <a:p>
            <a:r>
              <a:rPr lang="en-US" smtClean="0"/>
              <a:t>Lihat sinyal di osiloskop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24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Catatan </a:t>
            </a:r>
            <a:r>
              <a:rPr lang="en-US"/>
              <a:t>1: Mengapa diperlukan kopling </a:t>
            </a:r>
            <a:r>
              <a:rPr lang="en-US"/>
              <a:t>kapasitor</a:t>
            </a:r>
            <a:r>
              <a:rPr lang="en-US" smtClean="0"/>
              <a:t>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Bila </a:t>
            </a:r>
            <a:r>
              <a:rPr lang="en-US" smtClean="0"/>
              <a:t>kita menggunakan speaker maka kita harus memasang sebuah kopling kapasitor karena speaker mengandung induktor di dalamnya.</a:t>
            </a:r>
          </a:p>
          <a:p>
            <a:r>
              <a:rPr lang="en-US" smtClean="0"/>
              <a:t>Speaker bila terkena tegangan DC </a:t>
            </a:r>
            <a:r>
              <a:rPr lang="en-US"/>
              <a:t>(tegangan offset) </a:t>
            </a:r>
            <a:r>
              <a:rPr lang="en-US" smtClean="0"/>
              <a:t>yang terkandung di dalam sinyal AC maka speaker akan rusak</a:t>
            </a:r>
            <a:endParaRPr lang="en-US"/>
          </a:p>
          <a:p>
            <a:r>
              <a:rPr lang="en-US" smtClean="0"/>
              <a:t>Tetapi bila kita menggunakan pembangkit suara berbasis Piezo (Sounder di Proteus), dikarenakan Piezo ini bersifat kapasitor maka kita tidak perlu memasang kopling kapasitor.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7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Catatan 2: Penulisan Kode Program Harus Secara Terstruktur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/>
              <a:t>void loop() {</a:t>
            </a:r>
          </a:p>
          <a:p>
            <a:pPr marL="0" indent="0">
              <a:buNone/>
            </a:pPr>
            <a:r>
              <a:rPr lang="en-US"/>
              <a:t>  digitalWrite(outPin, LOW);   </a:t>
            </a:r>
          </a:p>
          <a:p>
            <a:pPr marL="0" indent="0">
              <a:buNone/>
            </a:pPr>
            <a:r>
              <a:rPr lang="en-US"/>
              <a:t>  delayMicroseconds(100);                       </a:t>
            </a:r>
          </a:p>
          <a:p>
            <a:pPr marL="0" indent="0">
              <a:buNone/>
            </a:pPr>
            <a:r>
              <a:rPr lang="en-US"/>
              <a:t>  digitalWrite(outPin, HIGH);    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</a:t>
            </a:r>
            <a:r>
              <a:rPr lang="en-US" smtClean="0"/>
              <a:t>delayMicroseconds(100);</a:t>
            </a:r>
          </a:p>
          <a:p>
            <a:pPr marL="0" indent="0">
              <a:buNone/>
            </a:pPr>
            <a:r>
              <a:rPr lang="en-US" smtClean="0"/>
              <a:t>  for</a:t>
            </a:r>
            <a:r>
              <a:rPr lang="en-US" smtClean="0"/>
              <a:t> </a:t>
            </a:r>
            <a:r>
              <a:rPr lang="en-US" smtClean="0"/>
              <a:t>(....) {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  ... ;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  ... ;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}                      </a:t>
            </a:r>
            <a:endParaRPr lang="en-US"/>
          </a:p>
          <a:p>
            <a:pPr marL="0" indent="0">
              <a:buNone/>
            </a:pPr>
            <a:r>
              <a:rPr lang="en-US" smtClean="0"/>
              <a:t>}</a:t>
            </a:r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en-US" smtClean="0"/>
              <a:t>Kurung kurawal selalu segaris lurus dengan huruf pertama nama fungsi</a:t>
            </a:r>
            <a:endParaRPr lang="en-US"/>
          </a:p>
          <a:p>
            <a:pPr marL="0" indent="0">
              <a:buNone/>
            </a:pPr>
            <a:r>
              <a:rPr lang="en-US" smtClean="0"/>
              <a:t>Ada jarak 2 spasi kosong setiap menulis instruksi di dalam fungsi.</a:t>
            </a:r>
          </a:p>
          <a:p>
            <a:pPr marL="0" indent="0">
              <a:buNone/>
            </a:pPr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952901" y="2021305"/>
            <a:ext cx="0" cy="261807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1067603" y="3638349"/>
            <a:ext cx="801" cy="70264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731520" y="2282024"/>
            <a:ext cx="336083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731519" y="2608671"/>
            <a:ext cx="336083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731518" y="2935317"/>
            <a:ext cx="336083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731517" y="3261962"/>
            <a:ext cx="336083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189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Soal 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mtClean="0"/>
              <a:t>Bila diketahui sebuah nada D = 293,7 Hz:</a:t>
            </a:r>
          </a:p>
          <a:p>
            <a:pPr marL="0" indent="0">
              <a:buNone/>
            </a:pPr>
            <a:r>
              <a:rPr lang="en-US" smtClean="0"/>
              <a:t>1. Berapakah periodanya dalam detik (7 angka dibelakang koma), ms (4 angka dibelakang koma)  dan uS (1 angka dibelakang koma)?.</a:t>
            </a:r>
          </a:p>
          <a:p>
            <a:pPr marL="0" indent="0">
              <a:buNone/>
            </a:pPr>
            <a:r>
              <a:rPr lang="en-US" smtClean="0"/>
              <a:t>2. Berapakah delay pulsa High dan Low yang diperlukan untuk Arduino</a:t>
            </a:r>
            <a:r>
              <a:rPr lang="en-US"/>
              <a:t> dalam detik (7 angka dibelakang koma), ms (4 angka dibelakang koma)  dan uS (1 angka dibelakang koma)?.</a:t>
            </a:r>
            <a:endParaRPr lang="en-US" smtClean="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mtClean="0"/>
              <a:t>Jawab:</a:t>
            </a:r>
          </a:p>
          <a:p>
            <a:pPr marL="0" indent="0">
              <a:buNone/>
            </a:pPr>
            <a:r>
              <a:rPr lang="en-US" smtClean="0"/>
              <a:t>Perioda 		= 1/f </a:t>
            </a:r>
          </a:p>
          <a:p>
            <a:pPr marL="0" indent="0">
              <a:buNone/>
            </a:pPr>
            <a:r>
              <a:rPr lang="en-US" smtClean="0"/>
              <a:t>		= 1/293,7 </a:t>
            </a:r>
          </a:p>
          <a:p>
            <a:pPr marL="0" indent="0">
              <a:buNone/>
            </a:pPr>
            <a:r>
              <a:rPr lang="en-US" smtClean="0"/>
              <a:t>Perioda 		= 0,0034048 detik = 3,4048 ms = 3404,8 uS</a:t>
            </a:r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en-US" smtClean="0"/>
              <a:t>Delay 		= (1/f)/2 </a:t>
            </a:r>
          </a:p>
          <a:p>
            <a:pPr marL="0" indent="0">
              <a:buNone/>
            </a:pPr>
            <a:r>
              <a:rPr lang="en-US" smtClean="0"/>
              <a:t>		= (1/293,7)/2 </a:t>
            </a:r>
          </a:p>
          <a:p>
            <a:pPr marL="0" indent="0">
              <a:buNone/>
            </a:pPr>
            <a:r>
              <a:rPr lang="en-US" smtClean="0"/>
              <a:t>Delay 		= 0,0017024 detik = 1,7024 ms = 1702,4 uS </a:t>
            </a:r>
            <a:r>
              <a:rPr lang="en-US">
                <a:sym typeface="Wingdings" panose="05000000000000000000" pitchFamily="2" charset="2"/>
              </a:rPr>
              <a:t> </a:t>
            </a:r>
            <a:r>
              <a:rPr lang="en-US" smtClean="0">
                <a:sym typeface="Wingdings" panose="05000000000000000000" pitchFamily="2" charset="2"/>
              </a:rPr>
              <a:t>1702 </a:t>
            </a:r>
            <a:r>
              <a:rPr lang="en-US">
                <a:sym typeface="Wingdings" panose="05000000000000000000" pitchFamily="2" charset="2"/>
              </a:rPr>
              <a:t>uS (di Arduino)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09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Instruksi FOR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 (initialization; condition; increment) {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  //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statement(s);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0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Contoh: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for (int i=0; i&lt;100; i++){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digitalWrite(outPin, LOW);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delayMicroseconds(1914);                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digitalWrite(outPin, HIGH);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delayMicroseconds(1914);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} </a:t>
            </a:r>
            <a:endParaRPr lang="en-US" sz="20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379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Soal 6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95074"/>
            <a:ext cx="4936958" cy="3578141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int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outPin;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void setup()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outPin = 12;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pinMode(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outPin </a:t>
            </a:r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OUTPUT);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void loop()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for (int i=0; i&lt;100; i++){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  digitalWrite(outPin, LOW);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  delayMicroseconds(1914);                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  digitalWrite(outPin, HIGH);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  delayMicroseconds(1914);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}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delay(1000);                     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255619" y="2695074"/>
            <a:ext cx="4936958" cy="3039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t>for (int i=0; i&lt;100; i++){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t>    digitalWrite(outPin, LOW);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t>    delayMicroseconds(1702);      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t>    digitalWrite(outPin, HIGH);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t>    delayMicroseconds(1702);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t>  }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t>  delay(1000);     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1341235"/>
            <a:ext cx="10515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/>
              <a:t>Buatlah program Arduino untuk membunyikan nada C dan nada D yang didapat dari Soal no </a:t>
            </a:r>
            <a:r>
              <a:rPr lang="en-US" sz="1600" smtClean="0"/>
              <a:t>1 </a:t>
            </a:r>
            <a:r>
              <a:rPr lang="en-US" sz="1600"/>
              <a:t>dan </a:t>
            </a:r>
            <a:r>
              <a:rPr lang="en-US" sz="1600" smtClean="0"/>
              <a:t>5 </a:t>
            </a:r>
            <a:r>
              <a:rPr lang="en-US" sz="1600"/>
              <a:t>dengan interval 1 detik antar nada dan dengan panjang nada 100xT. Gunakan pin 12 dan </a:t>
            </a:r>
            <a:r>
              <a:rPr lang="en-US" sz="1600" smtClean="0"/>
              <a:t>instruksi for.</a:t>
            </a:r>
          </a:p>
          <a:p>
            <a:endParaRPr lang="en-US" sz="1600"/>
          </a:p>
          <a:p>
            <a:r>
              <a:rPr lang="en-US" sz="1600" smtClean="0"/>
              <a:t>Jawab: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481558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Soal 7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5904"/>
            <a:ext cx="10515600" cy="7316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smtClean="0"/>
              <a:t>Buatlah program no. 2 menggunakan fungsi</a:t>
            </a:r>
          </a:p>
          <a:p>
            <a:pPr marL="0" indent="0">
              <a:buNone/>
            </a:pPr>
            <a:endParaRPr lang="en-US" sz="2000" smtClean="0"/>
          </a:p>
          <a:p>
            <a:pPr marL="0" indent="0">
              <a:buNone/>
            </a:pPr>
            <a:r>
              <a:rPr lang="en-US" sz="2000" smtClean="0"/>
              <a:t>Jawab:</a:t>
            </a:r>
            <a:endParaRPr lang="en-US" sz="200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78832" y="2829826"/>
            <a:ext cx="2598019" cy="37513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int outPin;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void setup(){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outPin = 12;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pinMode(outPin, 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OUTPUT);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void loop(){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C();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delay(1000);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D();    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delay(1000);     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46733" y="2829825"/>
            <a:ext cx="2829828" cy="375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C(){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for (int i=0; i&lt;100; i++){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  digitalWrite(outPin, LOW);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  delayMicroseconds(1914);      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  digitalWrite(outPin, HIGH);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  delayMicroseconds(1914);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}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246444" y="2829825"/>
            <a:ext cx="3107356" cy="375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void D(){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for (int i=0; i&lt;100; i++){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  digitalWrite(outPin, LOW);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  delayMicroseconds(1702);      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  digitalWrite(outPin, HIGH);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  delayMicroseconds(1702);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 }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5315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Instruksi Yang Dipelajari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Void setup()</a:t>
            </a:r>
          </a:p>
          <a:p>
            <a:r>
              <a:rPr lang="en-US"/>
              <a:t>pinMode(PIN, OUTPUT)</a:t>
            </a:r>
          </a:p>
          <a:p>
            <a:r>
              <a:rPr lang="en-US" smtClean="0"/>
              <a:t>Void loop()</a:t>
            </a:r>
          </a:p>
          <a:p>
            <a:r>
              <a:rPr lang="en-US" smtClean="0"/>
              <a:t>digitalWrite()</a:t>
            </a:r>
          </a:p>
          <a:p>
            <a:r>
              <a:rPr lang="en-US" smtClean="0"/>
              <a:t>Delay()</a:t>
            </a:r>
          </a:p>
          <a:p>
            <a:endParaRPr lang="en-US" smtClean="0"/>
          </a:p>
          <a:p>
            <a:r>
              <a:rPr lang="en-US" smtClean="0"/>
              <a:t>DelayMicroseconds()</a:t>
            </a:r>
          </a:p>
          <a:p>
            <a:r>
              <a:rPr lang="en-US" smtClean="0"/>
              <a:t>int </a:t>
            </a:r>
            <a:r>
              <a:rPr lang="en-US"/>
              <a:t>outPin </a:t>
            </a:r>
            <a:r>
              <a:rPr lang="en-US" smtClean="0">
                <a:sym typeface="Wingdings" panose="05000000000000000000" pitchFamily="2" charset="2"/>
              </a:rPr>
              <a:t> </a:t>
            </a:r>
            <a:r>
              <a:rPr lang="en-US" smtClean="0"/>
              <a:t>Deklarasi variabel tipe Integer nama </a:t>
            </a:r>
            <a:r>
              <a:rPr lang="en-US" smtClean="0"/>
              <a:t>outPin, pelajari tipe-tipe yang lainnya !</a:t>
            </a:r>
            <a:endParaRPr lang="en-US" smtClean="0"/>
          </a:p>
          <a:p>
            <a:r>
              <a:rPr lang="en-US" smtClean="0"/>
              <a:t>for</a:t>
            </a:r>
            <a:endParaRPr lang="en-US" smtClean="0"/>
          </a:p>
          <a:p>
            <a:r>
              <a:rPr lang="en-US" smtClean="0"/>
              <a:t>fungsi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18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Alat dan Bahan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Arduino Uno</a:t>
            </a:r>
          </a:p>
          <a:p>
            <a:r>
              <a:rPr lang="en-US" smtClean="0"/>
              <a:t>Kapasitor elektrolit 10uF</a:t>
            </a:r>
          </a:p>
          <a:p>
            <a:r>
              <a:rPr lang="en-US" smtClean="0"/>
              <a:t>Speaker</a:t>
            </a:r>
          </a:p>
          <a:p>
            <a:r>
              <a:rPr lang="en-US" smtClean="0"/>
              <a:t>Breadboard</a:t>
            </a:r>
          </a:p>
          <a:p>
            <a:r>
              <a:rPr lang="en-US" smtClean="0"/>
              <a:t>Kabel jumper</a:t>
            </a:r>
          </a:p>
          <a:p>
            <a:r>
              <a:rPr lang="en-US" smtClean="0"/>
              <a:t>Power supply 5v</a:t>
            </a:r>
          </a:p>
          <a:p>
            <a:r>
              <a:rPr lang="en-US" smtClean="0"/>
              <a:t>Osiloskop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82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Langkah Kerja: Player Melodi “Ibu Kita Kartini”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7131518" cy="4351338"/>
          </a:xfrm>
        </p:spPr>
        <p:txBody>
          <a:bodyPr>
            <a:normAutofit fontScale="62500" lnSpcReduction="20000"/>
          </a:bodyPr>
          <a:lstStyle/>
          <a:p>
            <a:r>
              <a:rPr lang="en-US" smtClean="0"/>
              <a:t>Buatlah Tabel Excel dan salinlah tabel berikut.</a:t>
            </a:r>
          </a:p>
          <a:p>
            <a:r>
              <a:rPr lang="en-US" smtClean="0"/>
              <a:t>Tambahkan </a:t>
            </a:r>
            <a:r>
              <a:rPr lang="en-US"/>
              <a:t>kolom </a:t>
            </a:r>
            <a:r>
              <a:rPr lang="en-US" smtClean="0"/>
              <a:t>Perioda, kolom Delay dalam detik, </a:t>
            </a:r>
            <a:r>
              <a:rPr lang="en-US"/>
              <a:t>kolom </a:t>
            </a:r>
            <a:r>
              <a:rPr lang="en-US" smtClean="0"/>
              <a:t>Delay dalam ms dan </a:t>
            </a:r>
            <a:r>
              <a:rPr lang="en-US"/>
              <a:t>kolom </a:t>
            </a:r>
            <a:r>
              <a:rPr lang="en-US" smtClean="0"/>
              <a:t>Delay dalam uS </a:t>
            </a:r>
            <a:r>
              <a:rPr lang="en-US"/>
              <a:t>pada tabel </a:t>
            </a:r>
            <a:r>
              <a:rPr lang="en-US" smtClean="0"/>
              <a:t>tersebut dan </a:t>
            </a:r>
            <a:r>
              <a:rPr lang="en-US"/>
              <a:t>isilah dengan nilai yang </a:t>
            </a:r>
            <a:r>
              <a:rPr lang="en-US" smtClean="0"/>
              <a:t>benar dengan pembulatan sesuai contoh yang telah diberikan.</a:t>
            </a:r>
            <a:endParaRPr lang="en-US"/>
          </a:p>
          <a:p>
            <a:r>
              <a:rPr lang="en-US" smtClean="0"/>
              <a:t>Buatlah urutan nada dari sebuah lagu “Ibu Kita Kartini” sebagai berikut: </a:t>
            </a:r>
          </a:p>
          <a:p>
            <a:pPr lvl="1"/>
            <a:r>
              <a:rPr lang="en-US" smtClean="0"/>
              <a:t>C – D – E – F – G – E – C</a:t>
            </a:r>
          </a:p>
          <a:p>
            <a:pPr lvl="1"/>
            <a:r>
              <a:rPr lang="en-US" smtClean="0"/>
              <a:t>A – C – B – A – G</a:t>
            </a:r>
          </a:p>
          <a:p>
            <a:pPr lvl="1"/>
            <a:r>
              <a:rPr lang="en-US" smtClean="0"/>
              <a:t>F – A – G – F – E – C</a:t>
            </a:r>
          </a:p>
          <a:p>
            <a:pPr lvl="1"/>
            <a:r>
              <a:rPr lang="en-US" smtClean="0"/>
              <a:t>D – F – E – D – C</a:t>
            </a:r>
          </a:p>
          <a:p>
            <a:r>
              <a:rPr lang="en-US" smtClean="0"/>
              <a:t>Buatlah programnya di Arduino sesuai dengan contoh soal no.3 yang telah diberikan.</a:t>
            </a:r>
          </a:p>
          <a:p>
            <a:r>
              <a:rPr lang="en-US" smtClean="0"/>
              <a:t>Siapkan skema rangkaian Arduino untuk Player Melodi tsb di Proteus dan lakukan simulasi skematik.</a:t>
            </a:r>
          </a:p>
          <a:p>
            <a:r>
              <a:rPr lang="en-US" smtClean="0"/>
              <a:t>Realisasikan skema yang telah dihasilkan tsb di atas Breadboard menggunakanTinkercad dan lakukanlah simulasi hardware.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709" y="1825625"/>
            <a:ext cx="3207838" cy="412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09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Tugas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Buatlah Jingle lagu, judul dan panjangnya bebas.</a:t>
            </a:r>
          </a:p>
          <a:p>
            <a:r>
              <a:rPr lang="en-US" smtClean="0"/>
              <a:t>Tidak boleh ada yang sama.</a:t>
            </a:r>
          </a:p>
          <a:p>
            <a:r>
              <a:rPr lang="en-US" smtClean="0"/>
              <a:t>Bila sama nilainya dibagi 2.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20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Pengumpulan </a:t>
            </a:r>
            <a:r>
              <a:rPr lang="en-US" smtClean="0"/>
              <a:t>Tugas/Jurnal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Buat folder Proyek dengan nama sesuai dgn nama noAbsen_namaDepan_Proyek_player_melodi.rar</a:t>
            </a:r>
          </a:p>
          <a:p>
            <a:r>
              <a:rPr lang="en-US" smtClean="0"/>
              <a:t>File Rar berisi: </a:t>
            </a:r>
          </a:p>
          <a:p>
            <a:pPr lvl="1"/>
            <a:r>
              <a:rPr lang="en-US" smtClean="0"/>
              <a:t>1. folder proyek, </a:t>
            </a:r>
          </a:p>
          <a:p>
            <a:pPr lvl="1"/>
            <a:r>
              <a:rPr lang="en-US" smtClean="0"/>
              <a:t>2. tabel excel,</a:t>
            </a:r>
          </a:p>
          <a:p>
            <a:pPr lvl="1"/>
            <a:r>
              <a:rPr lang="en-US" smtClean="0"/>
              <a:t>3. file word perhitungan-perhitungan</a:t>
            </a:r>
            <a:r>
              <a:rPr lang="en-US" smtClean="0"/>
              <a:t>.</a:t>
            </a:r>
          </a:p>
          <a:p>
            <a:r>
              <a:rPr lang="en-US" smtClean="0"/>
              <a:t>Kirim </a:t>
            </a:r>
            <a:r>
              <a:rPr lang="en-US" smtClean="0"/>
              <a:t>ke </a:t>
            </a:r>
            <a:r>
              <a:rPr lang="en-US"/>
              <a:t>gform (Link akan diberikan menyusul)</a:t>
            </a:r>
          </a:p>
          <a:p>
            <a:r>
              <a:rPr lang="en-US" smtClean="0"/>
              <a:t>Deadline</a:t>
            </a:r>
            <a:r>
              <a:rPr lang="en-US"/>
              <a:t>: </a:t>
            </a:r>
            <a:r>
              <a:rPr lang="en-US" smtClean="0"/>
              <a:t>pertemuan berikutnya.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96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1029</Words>
  <Application>Microsoft Office PowerPoint</Application>
  <PresentationFormat>Widescreen</PresentationFormat>
  <Paragraphs>214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Office Theme</vt:lpstr>
      <vt:lpstr>Jobsheet Pembangkit Nada dan Player Melodi</vt:lpstr>
      <vt:lpstr>Pendahuluan</vt:lpstr>
      <vt:lpstr>Jingle Lagu</vt:lpstr>
      <vt:lpstr>Pembangkit Nada</vt:lpstr>
      <vt:lpstr>Soal 1</vt:lpstr>
      <vt:lpstr>Soal 2</vt:lpstr>
      <vt:lpstr>Soal 3</vt:lpstr>
      <vt:lpstr>Soal 4</vt:lpstr>
      <vt:lpstr>Catatan 1: Mengapa diperlukan kopling kapasitor?</vt:lpstr>
      <vt:lpstr>Catatan 2: Penulisan Kode Program Harus Secara Terstruktur</vt:lpstr>
      <vt:lpstr>Soal 5</vt:lpstr>
      <vt:lpstr>Instruksi FOR</vt:lpstr>
      <vt:lpstr>Soal 6</vt:lpstr>
      <vt:lpstr>Soal 7</vt:lpstr>
      <vt:lpstr>Instruksi Yang Dipelajari</vt:lpstr>
      <vt:lpstr>Alat dan Bahan</vt:lpstr>
      <vt:lpstr>Langkah Kerja: Player Melodi “Ibu Kita Kartini”</vt:lpstr>
      <vt:lpstr>Tugas</vt:lpstr>
      <vt:lpstr>Pengumpulan Tugas/Jurnal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56</cp:revision>
  <dcterms:created xsi:type="dcterms:W3CDTF">2021-09-14T08:54:01Z</dcterms:created>
  <dcterms:modified xsi:type="dcterms:W3CDTF">2021-09-14T14:02:37Z</dcterms:modified>
</cp:coreProperties>
</file>