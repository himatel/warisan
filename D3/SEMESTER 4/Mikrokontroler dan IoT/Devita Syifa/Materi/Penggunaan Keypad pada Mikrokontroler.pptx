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90" r:id="rId3"/>
    <p:sldId id="291" r:id="rId4"/>
    <p:sldId id="292" r:id="rId5"/>
    <p:sldId id="297" r:id="rId6"/>
    <p:sldId id="296" r:id="rId7"/>
    <p:sldId id="293" r:id="rId8"/>
    <p:sldId id="298" r:id="rId9"/>
    <p:sldId id="299" r:id="rId10"/>
    <p:sldId id="301" r:id="rId11"/>
    <p:sldId id="300" r:id="rId12"/>
    <p:sldId id="302" r:id="rId13"/>
    <p:sldId id="307" r:id="rId14"/>
    <p:sldId id="304" r:id="rId15"/>
    <p:sldId id="311" r:id="rId16"/>
    <p:sldId id="308" r:id="rId17"/>
    <p:sldId id="309" r:id="rId18"/>
    <p:sldId id="310" r:id="rId19"/>
    <p:sldId id="312" r:id="rId20"/>
    <p:sldId id="305" r:id="rId21"/>
    <p:sldId id="313" r:id="rId22"/>
    <p:sldId id="314" r:id="rId23"/>
    <p:sldId id="315" r:id="rId24"/>
    <p:sldId id="316" r:id="rId25"/>
    <p:sldId id="317" r:id="rId26"/>
    <p:sldId id="318" r:id="rId27"/>
    <p:sldId id="320" r:id="rId28"/>
    <p:sldId id="303" r:id="rId29"/>
    <p:sldId id="321" r:id="rId30"/>
    <p:sldId id="322" r:id="rId31"/>
    <p:sldId id="261" r:id="rId32"/>
    <p:sldId id="323" r:id="rId33"/>
    <p:sldId id="324" r:id="rId34"/>
    <p:sldId id="325" r:id="rId35"/>
    <p:sldId id="326" r:id="rId36"/>
    <p:sldId id="327" r:id="rId37"/>
    <p:sldId id="328" r:id="rId38"/>
    <p:sldId id="329" r:id="rId39"/>
    <p:sldId id="330" r:id="rId40"/>
    <p:sldId id="331" r:id="rId41"/>
    <p:sldId id="332" r:id="rId42"/>
    <p:sldId id="285" r:id="rId43"/>
    <p:sldId id="287" r:id="rId44"/>
    <p:sldId id="288" r:id="rId45"/>
    <p:sldId id="333" r:id="rId46"/>
    <p:sldId id="334" r:id="rId47"/>
    <p:sldId id="335" r:id="rId48"/>
    <p:sldId id="341" r:id="rId49"/>
    <p:sldId id="336" r:id="rId50"/>
    <p:sldId id="337" r:id="rId51"/>
    <p:sldId id="338" r:id="rId52"/>
    <p:sldId id="339" r:id="rId53"/>
    <p:sldId id="34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455E"/>
    <a:srgbClr val="27184F"/>
    <a:srgbClr val="28184F"/>
    <a:srgbClr val="A446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3402" y="-29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slide" Target="slides/slide53.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viewProps" Target="viewProp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D3E24-3221-42A6-8A29-DD8DBBBCD8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F1C2E0-EB0B-496C-8D8A-06FBDCE791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6E8212-1936-4A93-B8A2-26F3A10E90B6}"/>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5" name="Footer Placeholder 4">
            <a:extLst>
              <a:ext uri="{FF2B5EF4-FFF2-40B4-BE49-F238E27FC236}">
                <a16:creationId xmlns:a16="http://schemas.microsoft.com/office/drawing/2014/main" id="{AE540E88-2D81-413E-886E-E1227BC29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376283-F069-426A-B469-CA6090440E77}"/>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2478258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44AA3-5AB8-42E1-B1A5-844CA8D781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371C8-A4A2-431D-AD9C-183DD593005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DF666-AF7D-418F-947D-3F0A134BA321}"/>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5" name="Footer Placeholder 4">
            <a:extLst>
              <a:ext uri="{FF2B5EF4-FFF2-40B4-BE49-F238E27FC236}">
                <a16:creationId xmlns:a16="http://schemas.microsoft.com/office/drawing/2014/main" id="{9452B0EC-B0F1-4B20-AFC2-304FB04B5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D14AD-70C7-4B14-924D-1D7361E2D73F}"/>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1949683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2386-DE93-4732-AF6E-25AE932A3E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A9BC64-3FD9-4B9C-8AB3-6B1C7D995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D0EE61F-98C3-46C7-A169-AF80E7140F7B}"/>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5" name="Footer Placeholder 4">
            <a:extLst>
              <a:ext uri="{FF2B5EF4-FFF2-40B4-BE49-F238E27FC236}">
                <a16:creationId xmlns:a16="http://schemas.microsoft.com/office/drawing/2014/main" id="{735094D0-E770-47AC-8755-F516B7D05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2E7905-3630-430C-845A-0E1690358F5F}"/>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1007102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C7720-7B11-4F85-B187-4D8228D766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53EEF6-74A6-4E1C-9BE8-0FB97A4220F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BE07A5-F584-4DFF-A16E-6B4A6716CC0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D449D6-B83E-44D5-84C3-5D33F7377ECE}"/>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6" name="Footer Placeholder 5">
            <a:extLst>
              <a:ext uri="{FF2B5EF4-FFF2-40B4-BE49-F238E27FC236}">
                <a16:creationId xmlns:a16="http://schemas.microsoft.com/office/drawing/2014/main" id="{4603F4CC-B9BB-4B59-BD96-EAB689ABC3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D289C-0B24-4C4D-97B5-632EE8A63D9A}"/>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3688118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A889E-0E0F-4BE3-B113-C5C4AC53C7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D04618-D852-4FA6-AF5B-858220D438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314EA82-D910-408A-AD99-661F7F91FC3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A1E180-DC1C-48F5-A03D-4B1722ED32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C1CA500-78E6-4B60-B770-CC8DF6D0749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D7056B-0A28-47F8-BB8A-98054973C1B0}"/>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8" name="Footer Placeholder 7">
            <a:extLst>
              <a:ext uri="{FF2B5EF4-FFF2-40B4-BE49-F238E27FC236}">
                <a16:creationId xmlns:a16="http://schemas.microsoft.com/office/drawing/2014/main" id="{DE25196F-BD75-483D-BDCF-1BF4AEE5A0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7D0AA5-4A5C-4CAA-952B-48B2336B4334}"/>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1125031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4E7EA-A0A8-445E-9660-73613BC9A2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36926D-D665-4546-87E0-2ABBD216024B}"/>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4" name="Footer Placeholder 3">
            <a:extLst>
              <a:ext uri="{FF2B5EF4-FFF2-40B4-BE49-F238E27FC236}">
                <a16:creationId xmlns:a16="http://schemas.microsoft.com/office/drawing/2014/main" id="{24436AC2-A631-4C8A-9DD5-56EBD6B933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24C158-E816-4C97-9D66-84FB2920E219}"/>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106279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2EFA07-6E86-49EA-BC16-E6EF50DAF93B}"/>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3" name="Footer Placeholder 2">
            <a:extLst>
              <a:ext uri="{FF2B5EF4-FFF2-40B4-BE49-F238E27FC236}">
                <a16:creationId xmlns:a16="http://schemas.microsoft.com/office/drawing/2014/main" id="{44028954-52A5-4F3B-8035-3294F22A48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0BB1A9-A165-43A7-AB9A-908968EF3BC5}"/>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174547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7C60-A74A-4138-A673-8DE59920BE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0A7D33-24AD-40B2-A460-AEF74F20BE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FE0434-E8F9-43C1-86D1-6EF5929A58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58C2A9-1A4E-4893-A999-54CE0273C78A}"/>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6" name="Footer Placeholder 5">
            <a:extLst>
              <a:ext uri="{FF2B5EF4-FFF2-40B4-BE49-F238E27FC236}">
                <a16:creationId xmlns:a16="http://schemas.microsoft.com/office/drawing/2014/main" id="{B74F6A0C-309C-4ADB-9277-24ED408238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6E1E1-50F6-4709-8AF0-860D685AF18F}"/>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98889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A14FA-0F49-4316-87C3-3DAF06207F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691D66-50EE-4EE7-A4D0-B550467117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44A863-D5B7-4277-B12E-9C2DA5861D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98A4C20-40CB-4145-85F0-AB6580B3F78F}"/>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6" name="Footer Placeholder 5">
            <a:extLst>
              <a:ext uri="{FF2B5EF4-FFF2-40B4-BE49-F238E27FC236}">
                <a16:creationId xmlns:a16="http://schemas.microsoft.com/office/drawing/2014/main" id="{8C37A164-9E59-42B2-8353-075C58256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30679C-B83A-4BF3-9482-BC580028DD44}"/>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2707194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BFDD-755D-4BDB-9B0F-05D4EF5B4F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378310-5A52-4BEB-8981-D46E93DD858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3A108-0D17-4433-815A-9C34429EBDCA}"/>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5" name="Footer Placeholder 4">
            <a:extLst>
              <a:ext uri="{FF2B5EF4-FFF2-40B4-BE49-F238E27FC236}">
                <a16:creationId xmlns:a16="http://schemas.microsoft.com/office/drawing/2014/main" id="{7140588D-EB30-4EB4-BB32-B76C94CDE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BC4D10-4CEC-4144-9FE1-4BBCA371BB26}"/>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3289715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CC2292-94B3-413A-9180-7167AD429D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ACC0B6-85B0-41CF-A26F-655E696B844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8215E1-A2B4-4973-A435-47BF822C95DC}"/>
              </a:ext>
            </a:extLst>
          </p:cNvPr>
          <p:cNvSpPr>
            <a:spLocks noGrp="1"/>
          </p:cNvSpPr>
          <p:nvPr>
            <p:ph type="dt" sz="half" idx="10"/>
          </p:nvPr>
        </p:nvSpPr>
        <p:spPr/>
        <p:txBody>
          <a:bodyPr/>
          <a:lstStyle/>
          <a:p>
            <a:fld id="{52581484-B4D4-4958-96C7-C600F85E7DDE}" type="datetimeFigureOut">
              <a:rPr lang="en-US" smtClean="0"/>
              <a:t>3/14/2024</a:t>
            </a:fld>
            <a:endParaRPr lang="en-US"/>
          </a:p>
        </p:txBody>
      </p:sp>
      <p:sp>
        <p:nvSpPr>
          <p:cNvPr id="5" name="Footer Placeholder 4">
            <a:extLst>
              <a:ext uri="{FF2B5EF4-FFF2-40B4-BE49-F238E27FC236}">
                <a16:creationId xmlns:a16="http://schemas.microsoft.com/office/drawing/2014/main" id="{0F0207EC-BB5E-4AA1-8156-427B0001C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E6ED76-85EA-49DA-B535-7B92C2706290}"/>
              </a:ext>
            </a:extLst>
          </p:cNvPr>
          <p:cNvSpPr>
            <a:spLocks noGrp="1"/>
          </p:cNvSpPr>
          <p:nvPr>
            <p:ph type="sldNum" sz="quarter" idx="12"/>
          </p:nvPr>
        </p:nvSpPr>
        <p:spPr/>
        <p:txBody>
          <a:bodyPr/>
          <a:lstStyle/>
          <a:p>
            <a:fld id="{DB50AF77-8A9B-494B-9DD0-542521302A00}" type="slidenum">
              <a:rPr lang="en-US" smtClean="0"/>
              <a:t>‹#›</a:t>
            </a:fld>
            <a:endParaRPr lang="en-US"/>
          </a:p>
        </p:txBody>
      </p:sp>
    </p:spTree>
    <p:extLst>
      <p:ext uri="{BB962C8B-B14F-4D97-AF65-F5344CB8AC3E}">
        <p14:creationId xmlns:p14="http://schemas.microsoft.com/office/powerpoint/2010/main" val="790910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184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CCB163-3AAD-4E95-B9DC-98A4979AC5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E310E9-8985-498E-9291-CF648D684F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0196B3-7EA5-441A-BCE2-E81D1B41E3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81484-B4D4-4958-96C7-C600F85E7DDE}" type="datetimeFigureOut">
              <a:rPr lang="en-US" smtClean="0"/>
              <a:t>3/14/2024</a:t>
            </a:fld>
            <a:endParaRPr lang="en-US"/>
          </a:p>
        </p:txBody>
      </p:sp>
      <p:sp>
        <p:nvSpPr>
          <p:cNvPr id="5" name="Footer Placeholder 4">
            <a:extLst>
              <a:ext uri="{FF2B5EF4-FFF2-40B4-BE49-F238E27FC236}">
                <a16:creationId xmlns:a16="http://schemas.microsoft.com/office/drawing/2014/main" id="{F9F0E62B-ED30-4817-8F97-11B5A82F30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0B2D2B-0662-4DA0-BB0A-ADA5658B29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50AF77-8A9B-494B-9DD0-542521302A00}" type="slidenum">
              <a:rPr lang="en-US" smtClean="0"/>
              <a:t>‹#›</a:t>
            </a:fld>
            <a:endParaRPr lang="en-US"/>
          </a:p>
        </p:txBody>
      </p:sp>
    </p:spTree>
    <p:extLst>
      <p:ext uri="{BB962C8B-B14F-4D97-AF65-F5344CB8AC3E}">
        <p14:creationId xmlns:p14="http://schemas.microsoft.com/office/powerpoint/2010/main" val="605584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2.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3.png" /><Relationship Id="rId4" Type="http://schemas.openxmlformats.org/officeDocument/2006/relationships/image" Target="../media/image5.png" /></Relationships>
</file>

<file path=ppt/slides/_rels/slide8.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3.png" /><Relationship Id="rId4" Type="http://schemas.openxmlformats.org/officeDocument/2006/relationships/image" Target="../media/image5.png" /></Relationships>
</file>

<file path=ppt/slides/_rels/slide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3.png" /><Relationship Id="rId4" Type="http://schemas.openxmlformats.org/officeDocument/2006/relationships/image" Target="../media/image7.jpeg" /></Relationships>
</file>

<file path=ppt/slides/_rels/slide10.xml.rels><?xml version="1.0" encoding="UTF-8" standalone="yes"?>
<Relationships xmlns="http://schemas.openxmlformats.org/package/2006/relationships"><Relationship Id="rId3" Type="http://schemas.openxmlformats.org/officeDocument/2006/relationships/image" Target="../media/image5.png" /><Relationship Id="rId7" Type="http://schemas.openxmlformats.org/officeDocument/2006/relationships/image" Target="../media/image9.gif"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8.png" /><Relationship Id="rId5" Type="http://schemas.openxmlformats.org/officeDocument/2006/relationships/image" Target="../media/image3.png" /><Relationship Id="rId4" Type="http://schemas.openxmlformats.org/officeDocument/2006/relationships/image" Target="../media/image7.jpeg" /></Relationships>
</file>

<file path=ppt/slides/_rels/slide1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0.png" /><Relationship Id="rId4" Type="http://schemas.openxmlformats.org/officeDocument/2006/relationships/image" Target="../media/image3.png" /></Relationships>
</file>

<file path=ppt/slides/_rels/slide12.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14.png" /><Relationship Id="rId5" Type="http://schemas.openxmlformats.org/officeDocument/2006/relationships/image" Target="../media/image10.png" /><Relationship Id="rId4" Type="http://schemas.openxmlformats.org/officeDocument/2006/relationships/image" Target="../media/image3.png" /></Relationships>
</file>

<file path=ppt/slides/_rels/slide27.xml.rels><?xml version="1.0" encoding="UTF-8" standalone="yes"?>
<Relationships xmlns="http://schemas.openxmlformats.org/package/2006/relationships"><Relationship Id="rId3" Type="http://schemas.openxmlformats.org/officeDocument/2006/relationships/image" Target="../media/image5.png" /><Relationship Id="rId7" Type="http://schemas.openxmlformats.org/officeDocument/2006/relationships/image" Target="../media/image10.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15.png" /><Relationship Id="rId5" Type="http://schemas.openxmlformats.org/officeDocument/2006/relationships/image" Target="../media/image14.png" /><Relationship Id="rId4" Type="http://schemas.openxmlformats.org/officeDocument/2006/relationships/image" Target="../media/image3.png" /></Relationships>
</file>

<file path=ppt/slides/_rels/slide2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5.png" /><Relationship Id="rId4" Type="http://schemas.openxmlformats.org/officeDocument/2006/relationships/image" Target="../media/image14.png" /></Relationships>
</file>

<file path=ppt/slides/_rels/slide2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5.png" /><Relationship Id="rId4" Type="http://schemas.openxmlformats.org/officeDocument/2006/relationships/image" Target="../media/image14.png" /></Relationships>
</file>

<file path=ppt/slides/_rels/slide3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6.png" /><Relationship Id="rId4" Type="http://schemas.openxmlformats.org/officeDocument/2006/relationships/image" Target="../media/image15.png" /></Relationships>
</file>

<file path=ppt/slides/_rels/slide31.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17.jpeg" /><Relationship Id="rId5" Type="http://schemas.openxmlformats.org/officeDocument/2006/relationships/image" Target="../media/image15.png" /><Relationship Id="rId4" Type="http://schemas.openxmlformats.org/officeDocument/2006/relationships/image" Target="../media/image3.png" /></Relationships>
</file>

<file path=ppt/slides/_rels/slide3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7.jpeg" /><Relationship Id="rId4" Type="http://schemas.openxmlformats.org/officeDocument/2006/relationships/image" Target="../media/image16.png" /></Relationships>
</file>

<file path=ppt/slides/_rels/slide3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8.jpeg" /><Relationship Id="rId4" Type="http://schemas.openxmlformats.org/officeDocument/2006/relationships/image" Target="../media/image16.png" /></Relationships>
</file>

<file path=ppt/slides/_rels/slide3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19.png" /><Relationship Id="rId4" Type="http://schemas.openxmlformats.org/officeDocument/2006/relationships/image" Target="../media/image16.png" /></Relationships>
</file>

<file path=ppt/slides/_rels/slide3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20.png" /><Relationship Id="rId4" Type="http://schemas.openxmlformats.org/officeDocument/2006/relationships/image" Target="../media/image16.png" /></Relationships>
</file>

<file path=ppt/slides/_rels/slide3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21.png" /><Relationship Id="rId4" Type="http://schemas.openxmlformats.org/officeDocument/2006/relationships/image" Target="../media/image16.png" /></Relationships>
</file>

<file path=ppt/slides/_rels/slide37.xml.rels><?xml version="1.0" encoding="UTF-8" standalone="yes"?>
<Relationships xmlns="http://schemas.openxmlformats.org/package/2006/relationships"><Relationship Id="rId8" Type="http://schemas.openxmlformats.org/officeDocument/2006/relationships/image" Target="../media/image9.gif" /><Relationship Id="rId3" Type="http://schemas.openxmlformats.org/officeDocument/2006/relationships/image" Target="../media/image3.png" /><Relationship Id="rId7" Type="http://schemas.openxmlformats.org/officeDocument/2006/relationships/image" Target="../media/image8.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22.png" /><Relationship Id="rId5" Type="http://schemas.openxmlformats.org/officeDocument/2006/relationships/image" Target="../media/image21.png" /><Relationship Id="rId4" Type="http://schemas.openxmlformats.org/officeDocument/2006/relationships/image" Target="../media/image16.png" /></Relationships>
</file>

<file path=ppt/slides/_rels/slide3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23.png" /><Relationship Id="rId4" Type="http://schemas.openxmlformats.org/officeDocument/2006/relationships/image" Target="../media/image16.png" /></Relationships>
</file>

<file path=ppt/slides/_rels/slide3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24.png" /><Relationship Id="rId5" Type="http://schemas.openxmlformats.org/officeDocument/2006/relationships/image" Target="../media/image23.png" /><Relationship Id="rId4" Type="http://schemas.openxmlformats.org/officeDocument/2006/relationships/image" Target="../media/image16.png" /></Relationships>
</file>

<file path=ppt/slides/_rels/slide4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25.png" /><Relationship Id="rId4" Type="http://schemas.openxmlformats.org/officeDocument/2006/relationships/image" Target="../media/image16.png" /></Relationships>
</file>

<file path=ppt/slides/_rels/slide4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26.png" /><Relationship Id="rId4" Type="http://schemas.openxmlformats.org/officeDocument/2006/relationships/image" Target="../media/image16.png" /></Relationships>
</file>

<file path=ppt/slides/_rels/slide42.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1.xml" /></Relationships>
</file>

<file path=ppt/slides/_rels/slide43.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1.xml" /></Relationships>
</file>

<file path=ppt/slides/_rels/slide44.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1.xml" /></Relationships>
</file>

<file path=ppt/slides/_rels/slide4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27.png" /><Relationship Id="rId5" Type="http://schemas.openxmlformats.org/officeDocument/2006/relationships/image" Target="../media/image26.png" /><Relationship Id="rId4" Type="http://schemas.openxmlformats.org/officeDocument/2006/relationships/image" Target="../media/image16.png" /></Relationships>
</file>

<file path=ppt/slides/_rels/slide46.xml.rels><?xml version="1.0" encoding="UTF-8" standalone="yes"?>
<Relationships xmlns="http://schemas.openxmlformats.org/package/2006/relationships"><Relationship Id="rId8" Type="http://schemas.openxmlformats.org/officeDocument/2006/relationships/image" Target="../media/image29.png" /><Relationship Id="rId3" Type="http://schemas.openxmlformats.org/officeDocument/2006/relationships/image" Target="../media/image3.png" /><Relationship Id="rId7" Type="http://schemas.openxmlformats.org/officeDocument/2006/relationships/image" Target="../media/image28.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27.png" /><Relationship Id="rId5" Type="http://schemas.openxmlformats.org/officeDocument/2006/relationships/image" Target="../media/image26.png" /><Relationship Id="rId4" Type="http://schemas.openxmlformats.org/officeDocument/2006/relationships/image" Target="../media/image16.png" /></Relationships>
</file>

<file path=ppt/slides/_rels/slide47.xml.rels><?xml version="1.0" encoding="UTF-8" standalone="yes"?>
<Relationships xmlns="http://schemas.openxmlformats.org/package/2006/relationships"><Relationship Id="rId8" Type="http://schemas.openxmlformats.org/officeDocument/2006/relationships/image" Target="../media/image9.gif" /><Relationship Id="rId3" Type="http://schemas.openxmlformats.org/officeDocument/2006/relationships/image" Target="../media/image3.png" /><Relationship Id="rId7" Type="http://schemas.openxmlformats.org/officeDocument/2006/relationships/image" Target="../media/image8.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29.png" /><Relationship Id="rId5" Type="http://schemas.openxmlformats.org/officeDocument/2006/relationships/image" Target="../media/image28.png" /><Relationship Id="rId4" Type="http://schemas.openxmlformats.org/officeDocument/2006/relationships/image" Target="../media/image27.png" /><Relationship Id="rId9" Type="http://schemas.openxmlformats.org/officeDocument/2006/relationships/hyperlink" Target="https://www.includehelp.com/embedded-system/pin-diagram-and-registers-of-16x2-lcd.aspx#:~:text=RS%20(Register%20Select)&amp;text=The%20RS%20pin%20is%20used,the%20data%20register%20is%20selected." TargetMode="External" /></Relationships>
</file>

<file path=ppt/slides/_rels/slide4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30.png" /><Relationship Id="rId4" Type="http://schemas.openxmlformats.org/officeDocument/2006/relationships/image" Target="../media/image27.png" /></Relationships>
</file>

<file path=ppt/slides/_rels/slide4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31.png" /><Relationship Id="rId4" Type="http://schemas.openxmlformats.org/officeDocument/2006/relationships/image" Target="../media/image27.png" /></Relationships>
</file>

<file path=ppt/slides/_rels/slide5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image" Target="../media/image29.png" /><Relationship Id="rId5" Type="http://schemas.openxmlformats.org/officeDocument/2006/relationships/image" Target="../media/image32.png" /><Relationship Id="rId4" Type="http://schemas.openxmlformats.org/officeDocument/2006/relationships/image" Target="../media/image27.png" /></Relationships>
</file>

<file path=ppt/slides/_rels/slide51.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hyperlink" Target="https://www.amazon.com/gp/product/B00JR6HZLK/ref=as_li_qf_sp_asin_il_tl?ie=UTF8&amp;tag=circbasi-20&amp;camp=1789&amp;creative=9325&amp;linkCode=as2&amp;creativeASIN=B00JR6HZLK&amp;linkId=34d44e4d2eca98d339b7df07b14fd35e" TargetMode="External" /><Relationship Id="rId5" Type="http://schemas.openxmlformats.org/officeDocument/2006/relationships/image" Target="../media/image32.png" /><Relationship Id="rId4" Type="http://schemas.openxmlformats.org/officeDocument/2006/relationships/image" Target="../media/image2.png" /></Relationships>
</file>

<file path=ppt/slides/_rels/slide52.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3.png" /><Relationship Id="rId1" Type="http://schemas.openxmlformats.org/officeDocument/2006/relationships/slideLayout" Target="../slideLayouts/slideLayout1.xml" /><Relationship Id="rId5" Type="http://schemas.openxmlformats.org/officeDocument/2006/relationships/image" Target="../media/image32.png" /><Relationship Id="rId4" Type="http://schemas.openxmlformats.org/officeDocument/2006/relationships/image" Target="../media/image2.png" /></Relationships>
</file>

<file path=ppt/slides/_rels/slide53.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3.png" /><Relationship Id="rId1" Type="http://schemas.openxmlformats.org/officeDocument/2006/relationships/slideLayout" Target="../slideLayouts/slideLayout1.xml" /><Relationship Id="rId5" Type="http://schemas.openxmlformats.org/officeDocument/2006/relationships/image" Target="../media/image32.png"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8" name="Rectangle 3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text, electronics&#10;&#10;Description automatically generated">
            <a:extLst>
              <a:ext uri="{FF2B5EF4-FFF2-40B4-BE49-F238E27FC236}">
                <a16:creationId xmlns:a16="http://schemas.microsoft.com/office/drawing/2014/main" id="{2B5D9ED4-2E39-AA95-F989-1E56DC02F980}"/>
              </a:ext>
            </a:extLst>
          </p:cNvPr>
          <p:cNvPicPr>
            <a:picLocks noChangeAspect="1"/>
          </p:cNvPicPr>
          <p:nvPr/>
        </p:nvPicPr>
        <p:blipFill rotWithShape="1">
          <a:blip r:embed="rId2">
            <a:extLst>
              <a:ext uri="{28A0092B-C50C-407E-A947-70E740481C1C}">
                <a14:useLocalDpi xmlns:a14="http://schemas.microsoft.com/office/drawing/2010/main" val="0"/>
              </a:ext>
            </a:extLst>
          </a:blip>
          <a:srcRect b="15414"/>
          <a:stretch/>
        </p:blipFill>
        <p:spPr>
          <a:xfrm>
            <a:off x="-3047" y="10"/>
            <a:ext cx="12191999" cy="6857990"/>
          </a:xfrm>
          <a:prstGeom prst="rect">
            <a:avLst/>
          </a:prstGeom>
        </p:spPr>
      </p:pic>
      <p:sp>
        <p:nvSpPr>
          <p:cNvPr id="59" name="Rectangle 33">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0C99A09-FBBA-413D-A19A-40A491D7698D}"/>
              </a:ext>
            </a:extLst>
          </p:cNvPr>
          <p:cNvSpPr>
            <a:spLocks noGrp="1"/>
          </p:cNvSpPr>
          <p:nvPr>
            <p:ph type="ctrTitle"/>
          </p:nvPr>
        </p:nvSpPr>
        <p:spPr>
          <a:xfrm>
            <a:off x="1097280" y="2207602"/>
            <a:ext cx="10058400" cy="1692726"/>
          </a:xfrm>
          <a:effectLst/>
        </p:spPr>
        <p:txBody>
          <a:bodyPr>
            <a:normAutofit/>
          </a:bodyPr>
          <a:lstStyle/>
          <a:p>
            <a:r>
              <a:rPr lang="en-US" sz="5200" b="1">
                <a:solidFill>
                  <a:srgbClr val="FFFFFF"/>
                </a:solidFill>
                <a:latin typeface="Montserrat" panose="00000500000000000000" pitchFamily="2" charset="0"/>
              </a:rPr>
              <a:t>KEYPAD ON MICROCONTROLLER</a:t>
            </a:r>
          </a:p>
        </p:txBody>
      </p:sp>
      <p:pic>
        <p:nvPicPr>
          <p:cNvPr id="18" name="Picture 17" descr="A picture containing text, circuit, electronics&#10;&#10;Description automatically generated">
            <a:extLst>
              <a:ext uri="{FF2B5EF4-FFF2-40B4-BE49-F238E27FC236}">
                <a16:creationId xmlns:a16="http://schemas.microsoft.com/office/drawing/2014/main" id="{6FBE6908-A7DF-5D0D-0B21-C8D757D6F039}"/>
              </a:ext>
            </a:extLst>
          </p:cNvPr>
          <p:cNvPicPr>
            <a:picLocks noChangeAspect="1"/>
          </p:cNvPicPr>
          <p:nvPr/>
        </p:nvPicPr>
        <p:blipFill rotWithShape="1">
          <a:blip r:embed="rId3">
            <a:extLst>
              <a:ext uri="{28A0092B-C50C-407E-A947-70E740481C1C}">
                <a14:useLocalDpi xmlns:a14="http://schemas.microsoft.com/office/drawing/2010/main" val="0"/>
              </a:ext>
            </a:extLst>
          </a:blip>
          <a:srcRect t="10242" b="10242"/>
          <a:stretch/>
        </p:blipFill>
        <p:spPr>
          <a:xfrm>
            <a:off x="-1" y="6857990"/>
            <a:ext cx="12192002" cy="6858000"/>
          </a:xfrm>
          <a:prstGeom prst="rect">
            <a:avLst/>
          </a:prstGeom>
        </p:spPr>
      </p:pic>
      <p:sp>
        <p:nvSpPr>
          <p:cNvPr id="20" name="Title 1">
            <a:extLst>
              <a:ext uri="{FF2B5EF4-FFF2-40B4-BE49-F238E27FC236}">
                <a16:creationId xmlns:a16="http://schemas.microsoft.com/office/drawing/2014/main" id="{6D6B3246-79E8-9AD8-1AA2-1FFC2196BC11}"/>
              </a:ext>
            </a:extLst>
          </p:cNvPr>
          <p:cNvSpPr txBox="1">
            <a:spLocks/>
          </p:cNvSpPr>
          <p:nvPr/>
        </p:nvSpPr>
        <p:spPr>
          <a:xfrm>
            <a:off x="0" y="8346242"/>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5200" b="1">
              <a:solidFill>
                <a:srgbClr val="FFFFFF"/>
              </a:solidFill>
              <a:latin typeface="Montserrat" panose="00000500000000000000" pitchFamily="2" charset="0"/>
            </a:endParaRPr>
          </a:p>
        </p:txBody>
      </p:sp>
      <p:sp>
        <p:nvSpPr>
          <p:cNvPr id="22" name="Title 1">
            <a:extLst>
              <a:ext uri="{FF2B5EF4-FFF2-40B4-BE49-F238E27FC236}">
                <a16:creationId xmlns:a16="http://schemas.microsoft.com/office/drawing/2014/main" id="{C1AB8FC3-3CFE-EFE8-207C-BADDAAF67124}"/>
              </a:ext>
            </a:extLst>
          </p:cNvPr>
          <p:cNvSpPr txBox="1">
            <a:spLocks/>
          </p:cNvSpPr>
          <p:nvPr/>
        </p:nvSpPr>
        <p:spPr>
          <a:xfrm>
            <a:off x="1097280" y="7499879"/>
            <a:ext cx="10058400" cy="169272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latin typeface="Montserrat" panose="00000500000000000000" pitchFamily="2" charset="0"/>
              </a:rPr>
              <a:t>PHYSICAL APPEARANCE</a:t>
            </a:r>
          </a:p>
        </p:txBody>
      </p:sp>
      <p:sp>
        <p:nvSpPr>
          <p:cNvPr id="25" name="Rectangle: Rounded Corners 24">
            <a:extLst>
              <a:ext uri="{FF2B5EF4-FFF2-40B4-BE49-F238E27FC236}">
                <a16:creationId xmlns:a16="http://schemas.microsoft.com/office/drawing/2014/main" id="{0282EF56-FC29-B463-98DD-CAE93AC0EDB3}"/>
              </a:ext>
            </a:extLst>
          </p:cNvPr>
          <p:cNvSpPr/>
          <p:nvPr/>
        </p:nvSpPr>
        <p:spPr>
          <a:xfrm>
            <a:off x="948313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2672D9A-6E07-78D9-CB92-159FF8F6DCD8}"/>
              </a:ext>
            </a:extLst>
          </p:cNvPr>
          <p:cNvSpPr/>
          <p:nvPr/>
        </p:nvSpPr>
        <p:spPr>
          <a:xfrm>
            <a:off x="945393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4" name="Rectangle 3">
            <a:extLst>
              <a:ext uri="{FF2B5EF4-FFF2-40B4-BE49-F238E27FC236}">
                <a16:creationId xmlns:a16="http://schemas.microsoft.com/office/drawing/2014/main" id="{DACC7A2B-6390-7C86-407D-5F368E49584F}"/>
              </a:ext>
            </a:extLst>
          </p:cNvPr>
          <p:cNvSpPr/>
          <p:nvPr/>
        </p:nvSpPr>
        <p:spPr>
          <a:xfrm>
            <a:off x="960003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412372336"/>
      </p:ext>
    </p:extLst>
  </p:cSld>
  <p:clrMapOvr>
    <a:masterClrMapping/>
  </p:clrMapOvr>
  <mc:AlternateContent xmlns:mc="http://schemas.openxmlformats.org/markup-compatibility/2006" xmlns:p14="http://schemas.microsoft.com/office/powerpoint/2010/main">
    <mc:Choice Requires="p14">
      <p:transition spd="slow" p14:dur="3400">
        <p14:reveal thruBlk="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icture containing text, circuit, electronics&#10;&#10;Description automatically generated">
            <a:extLst>
              <a:ext uri="{FF2B5EF4-FFF2-40B4-BE49-F238E27FC236}">
                <a16:creationId xmlns:a16="http://schemas.microsoft.com/office/drawing/2014/main" id="{00CA4EA1-8CC0-CC10-A894-A9602987C953}"/>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6355080" y="0"/>
            <a:ext cx="12192002" cy="6858000"/>
          </a:xfrm>
          <a:prstGeom prst="rect">
            <a:avLst/>
          </a:prstGeom>
          <a:effectLst>
            <a:outerShdw blurRad="50800" dist="50800" dir="5400000" algn="ctr" rotWithShape="0">
              <a:srgbClr val="000000">
                <a:alpha val="75000"/>
              </a:srgbClr>
            </a:outerShdw>
          </a:effectLst>
        </p:spPr>
      </p:pic>
      <p:pic>
        <p:nvPicPr>
          <p:cNvPr id="4" name="Picture 3" descr="A picture containing text, electronics&#10;&#10;Description automatically generated">
            <a:extLst>
              <a:ext uri="{FF2B5EF4-FFF2-40B4-BE49-F238E27FC236}">
                <a16:creationId xmlns:a16="http://schemas.microsoft.com/office/drawing/2014/main" id="{F1CB6F17-81EF-0361-650B-D44A6CDA2DF5}"/>
              </a:ext>
            </a:extLst>
          </p:cNvPr>
          <p:cNvPicPr>
            <a:picLocks noChangeAspect="1"/>
          </p:cNvPicPr>
          <p:nvPr/>
        </p:nvPicPr>
        <p:blipFill rotWithShape="1">
          <a:blip r:embed="rId3">
            <a:extLst>
              <a:ext uri="{28A0092B-C50C-407E-A947-70E740481C1C}">
                <a14:useLocalDpi xmlns:a14="http://schemas.microsoft.com/office/drawing/2010/main" val="0"/>
              </a:ext>
            </a:extLst>
          </a:blip>
          <a:srcRect b="15414"/>
          <a:stretch/>
        </p:blipFill>
        <p:spPr>
          <a:xfrm>
            <a:off x="-3047" y="-3428997"/>
            <a:ext cx="12191999" cy="6857990"/>
          </a:xfrm>
          <a:prstGeom prst="rect">
            <a:avLst/>
          </a:prstGeom>
        </p:spPr>
      </p:pic>
      <p:pic>
        <p:nvPicPr>
          <p:cNvPr id="3" name="Picture 2" descr="A picture containing text, circuit, electronics&#10;&#10;Description automatically generated">
            <a:extLst>
              <a:ext uri="{FF2B5EF4-FFF2-40B4-BE49-F238E27FC236}">
                <a16:creationId xmlns:a16="http://schemas.microsoft.com/office/drawing/2014/main" id="{8C401143-2266-F80D-3382-1BC2A92BC835}"/>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10242"/>
          <a:stretch/>
        </p:blipFill>
        <p:spPr>
          <a:xfrm>
            <a:off x="-1" y="1"/>
            <a:ext cx="12192002" cy="6858000"/>
          </a:xfrm>
          <a:prstGeom prst="rect">
            <a:avLst/>
          </a:prstGeom>
        </p:spPr>
      </p:pic>
      <p:sp>
        <p:nvSpPr>
          <p:cNvPr id="10" name="Title 1">
            <a:extLst>
              <a:ext uri="{FF2B5EF4-FFF2-40B4-BE49-F238E27FC236}">
                <a16:creationId xmlns:a16="http://schemas.microsoft.com/office/drawing/2014/main" id="{1227F1AD-B2F3-879C-3CAB-E3C1321E51AD}"/>
              </a:ext>
            </a:extLst>
          </p:cNvPr>
          <p:cNvSpPr>
            <a:spLocks noGrp="1"/>
          </p:cNvSpPr>
          <p:nvPr>
            <p:ph type="ctrTitle"/>
          </p:nvPr>
        </p:nvSpPr>
        <p:spPr>
          <a:xfrm>
            <a:off x="1097280" y="-2285078"/>
            <a:ext cx="10058400" cy="1692726"/>
          </a:xfrm>
          <a:effectLst/>
        </p:spPr>
        <p:txBody>
          <a:bodyPr>
            <a:normAutofit/>
          </a:bodyPr>
          <a:lstStyle/>
          <a:p>
            <a:r>
              <a:rPr lang="en-US" sz="5200" b="1">
                <a:solidFill>
                  <a:srgbClr val="FFFFFF"/>
                </a:solidFill>
                <a:latin typeface="Montserrat" panose="00000500000000000000" pitchFamily="2" charset="0"/>
              </a:rPr>
              <a:t>KEYPAD ON MICROCONTROLLER</a:t>
            </a:r>
          </a:p>
        </p:txBody>
      </p:sp>
      <p:sp>
        <p:nvSpPr>
          <p:cNvPr id="11" name="Title 1">
            <a:extLst>
              <a:ext uri="{FF2B5EF4-FFF2-40B4-BE49-F238E27FC236}">
                <a16:creationId xmlns:a16="http://schemas.microsoft.com/office/drawing/2014/main" id="{632ACA35-87A7-C70A-2A2E-082E067B38CC}"/>
              </a:ext>
            </a:extLst>
          </p:cNvPr>
          <p:cNvSpPr txBox="1">
            <a:spLocks/>
          </p:cNvSpPr>
          <p:nvPr/>
        </p:nvSpPr>
        <p:spPr>
          <a:xfrm>
            <a:off x="1097280" y="1863280"/>
            <a:ext cx="10058400" cy="169272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latin typeface="Montserrat" panose="00000500000000000000" pitchFamily="2" charset="0"/>
              </a:rPr>
              <a:t>PHYSICAL APPEARANCE</a:t>
            </a:r>
          </a:p>
        </p:txBody>
      </p:sp>
      <p:pic>
        <p:nvPicPr>
          <p:cNvPr id="13" name="Picture 12">
            <a:extLst>
              <a:ext uri="{FF2B5EF4-FFF2-40B4-BE49-F238E27FC236}">
                <a16:creationId xmlns:a16="http://schemas.microsoft.com/office/drawing/2014/main" id="{761D57EB-AF49-3DF9-7535-9E5827694E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931277" y="3176587"/>
            <a:ext cx="9020175" cy="504825"/>
          </a:xfrm>
          <a:prstGeom prst="rect">
            <a:avLst/>
          </a:prstGeom>
        </p:spPr>
      </p:pic>
      <p:sp>
        <p:nvSpPr>
          <p:cNvPr id="7" name="Rectangle: Rounded Corners 6">
            <a:extLst>
              <a:ext uri="{FF2B5EF4-FFF2-40B4-BE49-F238E27FC236}">
                <a16:creationId xmlns:a16="http://schemas.microsoft.com/office/drawing/2014/main" id="{4D2F48A8-8EFA-3285-2C57-B2D9AA7CBBBB}"/>
              </a:ext>
            </a:extLst>
          </p:cNvPr>
          <p:cNvSpPr/>
          <p:nvPr/>
        </p:nvSpPr>
        <p:spPr>
          <a:xfrm>
            <a:off x="948313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6B2B583-88C8-2908-0E7A-08073AC6CD43}"/>
              </a:ext>
            </a:extLst>
          </p:cNvPr>
          <p:cNvSpPr/>
          <p:nvPr/>
        </p:nvSpPr>
        <p:spPr>
          <a:xfrm>
            <a:off x="945393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E97D95DC-5171-29AF-7952-30D0CE9D0951}"/>
              </a:ext>
            </a:extLst>
          </p:cNvPr>
          <p:cNvSpPr/>
          <p:nvPr/>
        </p:nvSpPr>
        <p:spPr>
          <a:xfrm>
            <a:off x="960003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1423232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circuit, electronics&#10;&#10;Description automatically generated">
            <a:extLst>
              <a:ext uri="{FF2B5EF4-FFF2-40B4-BE49-F238E27FC236}">
                <a16:creationId xmlns:a16="http://schemas.microsoft.com/office/drawing/2014/main" id="{088C7CEA-C337-BC72-2385-0FBF21D9A6E8}"/>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15" y="0"/>
            <a:ext cx="12192002" cy="6858000"/>
          </a:xfrm>
          <a:prstGeom prst="rect">
            <a:avLst/>
          </a:prstGeom>
          <a:effectLst>
            <a:outerShdw blurRad="50800" dist="50800" dir="5400000" algn="ctr" rotWithShape="0">
              <a:srgbClr val="000000">
                <a:alpha val="75000"/>
              </a:srgbClr>
            </a:outerShdw>
          </a:effectLst>
        </p:spPr>
      </p:pic>
      <p:pic>
        <p:nvPicPr>
          <p:cNvPr id="3" name="Picture 2" descr="A picture containing text, circuit, electronics&#10;&#10;Description automatically generated">
            <a:extLst>
              <a:ext uri="{FF2B5EF4-FFF2-40B4-BE49-F238E27FC236}">
                <a16:creationId xmlns:a16="http://schemas.microsoft.com/office/drawing/2014/main" id="{8C401143-2266-F80D-3382-1BC2A92BC835}"/>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10242"/>
          <a:stretch/>
        </p:blipFill>
        <p:spPr>
          <a:xfrm>
            <a:off x="-8964387" y="0"/>
            <a:ext cx="12192002" cy="6858000"/>
          </a:xfrm>
          <a:prstGeom prst="rect">
            <a:avLst/>
          </a:prstGeom>
        </p:spPr>
      </p:pic>
      <p:sp>
        <p:nvSpPr>
          <p:cNvPr id="2" name="Title 1">
            <a:extLst>
              <a:ext uri="{FF2B5EF4-FFF2-40B4-BE49-F238E27FC236}">
                <a16:creationId xmlns:a16="http://schemas.microsoft.com/office/drawing/2014/main" id="{5490F2E0-844C-2E38-C66D-8723C4043D89}"/>
              </a:ext>
            </a:extLst>
          </p:cNvPr>
          <p:cNvSpPr>
            <a:spLocks noGrp="1"/>
          </p:cNvSpPr>
          <p:nvPr>
            <p:ph type="ctrTitle"/>
          </p:nvPr>
        </p:nvSpPr>
        <p:spPr>
          <a:xfrm>
            <a:off x="3369129" y="259308"/>
            <a:ext cx="8822871" cy="663614"/>
          </a:xfrm>
          <a:effectLst/>
        </p:spPr>
        <p:txBody>
          <a:bodyPr>
            <a:normAutofit/>
          </a:bodyPr>
          <a:lstStyle/>
          <a:p>
            <a:r>
              <a:rPr lang="en-US" sz="3600" b="1">
                <a:solidFill>
                  <a:srgbClr val="FFFFFF"/>
                </a:solidFill>
                <a:latin typeface="Montserrat" panose="00000500000000000000" pitchFamily="2" charset="0"/>
              </a:rPr>
              <a:t>PHYSICAL APPEARANCE</a:t>
            </a:r>
          </a:p>
        </p:txBody>
      </p:sp>
      <p:pic>
        <p:nvPicPr>
          <p:cNvPr id="5" name="Picture 2" descr="How to Set Up a Keypad on an Arduino">
            <a:extLst>
              <a:ext uri="{FF2B5EF4-FFF2-40B4-BE49-F238E27FC236}">
                <a16:creationId xmlns:a16="http://schemas.microsoft.com/office/drawing/2014/main" id="{150DACD0-27AB-A650-F499-25570FB23F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054" y="7287904"/>
            <a:ext cx="7261019" cy="41354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340AD7C-9B4A-0847-0731-A9B4D47AF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sp>
        <p:nvSpPr>
          <p:cNvPr id="13" name="Rectangle: Rounded Corners 12">
            <a:extLst>
              <a:ext uri="{FF2B5EF4-FFF2-40B4-BE49-F238E27FC236}">
                <a16:creationId xmlns:a16="http://schemas.microsoft.com/office/drawing/2014/main" id="{3A0B0A98-B911-01F2-0631-E92E1813CA97}"/>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079865-F882-B629-EA55-7FFEF25877D3}"/>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5" name="Rectangle 14">
            <a:extLst>
              <a:ext uri="{FF2B5EF4-FFF2-40B4-BE49-F238E27FC236}">
                <a16:creationId xmlns:a16="http://schemas.microsoft.com/office/drawing/2014/main" id="{4B6D7DC8-6C93-5EDB-6A33-9F890E263E03}"/>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269044005"/>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circuit, electronics&#10;&#10;Description automatically generated">
            <a:extLst>
              <a:ext uri="{FF2B5EF4-FFF2-40B4-BE49-F238E27FC236}">
                <a16:creationId xmlns:a16="http://schemas.microsoft.com/office/drawing/2014/main" id="{BC5221B6-0733-B767-BC97-9E6044C327C6}"/>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15" y="0"/>
            <a:ext cx="12192002" cy="6858000"/>
          </a:xfrm>
          <a:prstGeom prst="rect">
            <a:avLst/>
          </a:prstGeom>
          <a:effectLst>
            <a:outerShdw blurRad="50800" dist="50800" dir="5400000" algn="ctr" rotWithShape="0">
              <a:srgbClr val="000000">
                <a:alpha val="75000"/>
              </a:srgbClr>
            </a:outerShdw>
          </a:effectLst>
        </p:spPr>
      </p:pic>
      <p:pic>
        <p:nvPicPr>
          <p:cNvPr id="4" name="Picture 2" descr="How to Set Up a Keypad on an Arduino">
            <a:extLst>
              <a:ext uri="{FF2B5EF4-FFF2-40B4-BE49-F238E27FC236}">
                <a16:creationId xmlns:a16="http://schemas.microsoft.com/office/drawing/2014/main" id="{E998CCED-7C70-579B-C73A-2481B0A98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054" y="1760561"/>
            <a:ext cx="7261019" cy="41354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cture containing text, circuit, electronics&#10;&#10;Description automatically generated">
            <a:extLst>
              <a:ext uri="{FF2B5EF4-FFF2-40B4-BE49-F238E27FC236}">
                <a16:creationId xmlns:a16="http://schemas.microsoft.com/office/drawing/2014/main" id="{8C401143-2266-F80D-3382-1BC2A92BC835}"/>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10242"/>
          <a:stretch/>
        </p:blipFill>
        <p:spPr>
          <a:xfrm>
            <a:off x="-8964387" y="0"/>
            <a:ext cx="12192002" cy="6858000"/>
          </a:xfrm>
          <a:prstGeom prst="rect">
            <a:avLst/>
          </a:prstGeom>
        </p:spPr>
      </p:pic>
      <p:sp>
        <p:nvSpPr>
          <p:cNvPr id="2" name="Title 1">
            <a:extLst>
              <a:ext uri="{FF2B5EF4-FFF2-40B4-BE49-F238E27FC236}">
                <a16:creationId xmlns:a16="http://schemas.microsoft.com/office/drawing/2014/main" id="{5490F2E0-844C-2E38-C66D-8723C4043D89}"/>
              </a:ext>
            </a:extLst>
          </p:cNvPr>
          <p:cNvSpPr>
            <a:spLocks noGrp="1"/>
          </p:cNvSpPr>
          <p:nvPr>
            <p:ph type="ctrTitle"/>
          </p:nvPr>
        </p:nvSpPr>
        <p:spPr>
          <a:xfrm>
            <a:off x="3369129" y="259308"/>
            <a:ext cx="8822871" cy="663614"/>
          </a:xfrm>
          <a:effectLst/>
        </p:spPr>
        <p:txBody>
          <a:bodyPr>
            <a:normAutofit/>
          </a:bodyPr>
          <a:lstStyle/>
          <a:p>
            <a:r>
              <a:rPr lang="en-US" sz="3600" b="1">
                <a:solidFill>
                  <a:srgbClr val="FFFFFF"/>
                </a:solidFill>
                <a:latin typeface="Montserrat" panose="00000500000000000000" pitchFamily="2" charset="0"/>
              </a:rPr>
              <a:t>PHYSICAL APPEARANCE</a:t>
            </a:r>
          </a:p>
        </p:txBody>
      </p:sp>
      <p:pic>
        <p:nvPicPr>
          <p:cNvPr id="6" name="Picture 5">
            <a:extLst>
              <a:ext uri="{FF2B5EF4-FFF2-40B4-BE49-F238E27FC236}">
                <a16:creationId xmlns:a16="http://schemas.microsoft.com/office/drawing/2014/main" id="{79BDE281-931A-9BB4-A5BE-8D95406BFD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sp>
        <p:nvSpPr>
          <p:cNvPr id="10" name="Rectangle: Rounded Corners 9">
            <a:extLst>
              <a:ext uri="{FF2B5EF4-FFF2-40B4-BE49-F238E27FC236}">
                <a16:creationId xmlns:a16="http://schemas.microsoft.com/office/drawing/2014/main" id="{EECD22CF-1AC8-5F15-0CD3-754629C5344F}"/>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C66791-D524-E496-8803-0B93C8EB523F}"/>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2" name="Rectangle 11">
            <a:extLst>
              <a:ext uri="{FF2B5EF4-FFF2-40B4-BE49-F238E27FC236}">
                <a16:creationId xmlns:a16="http://schemas.microsoft.com/office/drawing/2014/main" id="{0E66B7BE-615B-9868-283B-E94FA6F28B99}"/>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487773486"/>
      </p:ext>
    </p:extLst>
  </p:cSld>
  <p:clrMapOvr>
    <a:masterClrMapping/>
  </p:clrMapOvr>
  <mc:AlternateContent xmlns:mc="http://schemas.openxmlformats.org/markup-compatibility/2006" xmlns:p159="http://schemas.microsoft.com/office/powerpoint/2015/09/main">
    <mc:Choice Requires="p159">
      <p:transition spd="slow">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circuit, electronics&#10;&#10;Description automatically generated">
            <a:extLst>
              <a:ext uri="{FF2B5EF4-FFF2-40B4-BE49-F238E27FC236}">
                <a16:creationId xmlns:a16="http://schemas.microsoft.com/office/drawing/2014/main" id="{53CEE55F-E48D-58CC-E108-D24097469487}"/>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5498591" y="0"/>
            <a:ext cx="12192002" cy="6858000"/>
          </a:xfrm>
          <a:prstGeom prst="rect">
            <a:avLst/>
          </a:prstGeom>
          <a:effectLst>
            <a:outerShdw blurRad="50800" dist="50800" dir="5400000" algn="ctr" rotWithShape="0">
              <a:srgbClr val="000000">
                <a:alpha val="75000"/>
              </a:srgbClr>
            </a:outerShdw>
          </a:effectLst>
        </p:spPr>
      </p:pic>
      <p:pic>
        <p:nvPicPr>
          <p:cNvPr id="6" name="Picture 2" descr="How to Set Up a Keypad on an Arduino">
            <a:extLst>
              <a:ext uri="{FF2B5EF4-FFF2-40B4-BE49-F238E27FC236}">
                <a16:creationId xmlns:a16="http://schemas.microsoft.com/office/drawing/2014/main" id="{DDC8B567-809C-A8E9-4A07-1A06DBD1E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5174" y="1760561"/>
            <a:ext cx="7261019" cy="413547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cture containing text, circuit, electronics&#10;&#10;Description automatically generated">
            <a:extLst>
              <a:ext uri="{FF2B5EF4-FFF2-40B4-BE49-F238E27FC236}">
                <a16:creationId xmlns:a16="http://schemas.microsoft.com/office/drawing/2014/main" id="{8C401143-2266-F80D-3382-1BC2A92BC835}"/>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10242"/>
          <a:stretch/>
        </p:blipFill>
        <p:spPr>
          <a:xfrm>
            <a:off x="-1" y="1"/>
            <a:ext cx="12192002" cy="6858000"/>
          </a:xfrm>
          <a:prstGeom prst="rect">
            <a:avLst/>
          </a:prstGeom>
        </p:spPr>
      </p:pic>
      <p:sp>
        <p:nvSpPr>
          <p:cNvPr id="2" name="Title 1">
            <a:extLst>
              <a:ext uri="{FF2B5EF4-FFF2-40B4-BE49-F238E27FC236}">
                <a16:creationId xmlns:a16="http://schemas.microsoft.com/office/drawing/2014/main" id="{5490F2E0-844C-2E38-C66D-8723C4043D89}"/>
              </a:ext>
            </a:extLst>
          </p:cNvPr>
          <p:cNvSpPr>
            <a:spLocks noGrp="1"/>
          </p:cNvSpPr>
          <p:nvPr>
            <p:ph type="ctrTitle"/>
          </p:nvPr>
        </p:nvSpPr>
        <p:spPr>
          <a:xfrm>
            <a:off x="0" y="2940243"/>
            <a:ext cx="12191999" cy="977513"/>
          </a:xfrm>
          <a:effectLst/>
        </p:spPr>
        <p:txBody>
          <a:bodyPr>
            <a:normAutofit/>
          </a:bodyPr>
          <a:lstStyle/>
          <a:p>
            <a:r>
              <a:rPr lang="en-US" sz="5200" b="1">
                <a:solidFill>
                  <a:srgbClr val="FFFFFF"/>
                </a:solidFill>
                <a:latin typeface="Montserrat" panose="00000500000000000000" pitchFamily="2" charset="0"/>
              </a:rPr>
              <a:t>PHYSICAL APPEARANCE</a:t>
            </a:r>
          </a:p>
        </p:txBody>
      </p:sp>
      <p:pic>
        <p:nvPicPr>
          <p:cNvPr id="7" name="Picture 6">
            <a:extLst>
              <a:ext uri="{FF2B5EF4-FFF2-40B4-BE49-F238E27FC236}">
                <a16:creationId xmlns:a16="http://schemas.microsoft.com/office/drawing/2014/main" id="{CA2AA70A-CF5A-1FC8-5D58-47CCD0DA40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879712" y="3176587"/>
            <a:ext cx="9020175" cy="504825"/>
          </a:xfrm>
          <a:prstGeom prst="rect">
            <a:avLst/>
          </a:prstGeom>
        </p:spPr>
      </p:pic>
      <p:sp>
        <p:nvSpPr>
          <p:cNvPr id="10" name="Rectangle: Rounded Corners 9">
            <a:extLst>
              <a:ext uri="{FF2B5EF4-FFF2-40B4-BE49-F238E27FC236}">
                <a16:creationId xmlns:a16="http://schemas.microsoft.com/office/drawing/2014/main" id="{EC49143E-9AC5-53B5-BEB5-AEB9DB5DC688}"/>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9BFC5B-228C-897A-8091-4F5B3FCF1D0B}"/>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2" name="Rectangle 11">
            <a:extLst>
              <a:ext uri="{FF2B5EF4-FFF2-40B4-BE49-F238E27FC236}">
                <a16:creationId xmlns:a16="http://schemas.microsoft.com/office/drawing/2014/main" id="{4045158A-BE7A-039A-601A-12F3A1DCF345}"/>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756956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 circuit, electronics&#10;&#10;Description automatically generated">
            <a:extLst>
              <a:ext uri="{FF2B5EF4-FFF2-40B4-BE49-F238E27FC236}">
                <a16:creationId xmlns:a16="http://schemas.microsoft.com/office/drawing/2014/main" id="{8C401143-2266-F80D-3382-1BC2A92BC835}"/>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10242"/>
          <a:stretch/>
        </p:blipFill>
        <p:spPr>
          <a:xfrm>
            <a:off x="-1" y="1"/>
            <a:ext cx="12192002" cy="6858000"/>
          </a:xfrm>
          <a:prstGeom prst="rect">
            <a:avLst/>
          </a:prstGeom>
        </p:spPr>
      </p:pic>
      <p:sp>
        <p:nvSpPr>
          <p:cNvPr id="2" name="Title 1">
            <a:extLst>
              <a:ext uri="{FF2B5EF4-FFF2-40B4-BE49-F238E27FC236}">
                <a16:creationId xmlns:a16="http://schemas.microsoft.com/office/drawing/2014/main" id="{5490F2E0-844C-2E38-C66D-8723C4043D89}"/>
              </a:ext>
            </a:extLst>
          </p:cNvPr>
          <p:cNvSpPr>
            <a:spLocks noGrp="1"/>
          </p:cNvSpPr>
          <p:nvPr>
            <p:ph type="ctrTitle"/>
          </p:nvPr>
        </p:nvSpPr>
        <p:spPr>
          <a:xfrm>
            <a:off x="0" y="2940243"/>
            <a:ext cx="12191999" cy="977513"/>
          </a:xfrm>
          <a:effectLst/>
        </p:spPr>
        <p:txBody>
          <a:bodyPr>
            <a:normAutofit/>
          </a:bodyPr>
          <a:lstStyle/>
          <a:p>
            <a:r>
              <a:rPr lang="en-US" sz="5200" b="1">
                <a:solidFill>
                  <a:srgbClr val="FFFFFF"/>
                </a:solidFill>
                <a:latin typeface="Montserrat" panose="00000500000000000000" pitchFamily="2" charset="0"/>
              </a:rPr>
              <a:t>PHYSICAL APPEARANCE</a:t>
            </a:r>
          </a:p>
        </p:txBody>
      </p:sp>
      <p:pic>
        <p:nvPicPr>
          <p:cNvPr id="6" name="Picture 5" descr="A picture containing text, electronics, circuit&#10;&#10;Description automatically generated">
            <a:extLst>
              <a:ext uri="{FF2B5EF4-FFF2-40B4-BE49-F238E27FC236}">
                <a16:creationId xmlns:a16="http://schemas.microsoft.com/office/drawing/2014/main" id="{1F1FD079-2DB1-5A41-3E69-FF981D0223D5}"/>
              </a:ext>
            </a:extLst>
          </p:cNvPr>
          <p:cNvPicPr>
            <a:picLocks noChangeAspect="1"/>
          </p:cNvPicPr>
          <p:nvPr/>
        </p:nvPicPr>
        <p:blipFill rotWithShape="1">
          <a:blip r:embed="rId3">
            <a:extLst>
              <a:ext uri="{28A0092B-C50C-407E-A947-70E740481C1C}">
                <a14:useLocalDpi xmlns:a14="http://schemas.microsoft.com/office/drawing/2010/main" val="0"/>
              </a:ext>
            </a:extLst>
          </a:blip>
          <a:srcRect t="12500" b="12500"/>
          <a:stretch/>
        </p:blipFill>
        <p:spPr>
          <a:xfrm>
            <a:off x="1" y="6858000"/>
            <a:ext cx="12191998" cy="6858001"/>
          </a:xfrm>
          <a:prstGeom prst="rect">
            <a:avLst/>
          </a:prstGeom>
          <a:effectLst>
            <a:outerShdw blurRad="177800" dist="190500" dir="5460000" algn="t" rotWithShape="0">
              <a:prstClr val="black">
                <a:alpha val="40000"/>
              </a:prstClr>
            </a:outerShdw>
          </a:effectLst>
        </p:spPr>
      </p:pic>
      <p:sp>
        <p:nvSpPr>
          <p:cNvPr id="7" name="Title 1">
            <a:extLst>
              <a:ext uri="{FF2B5EF4-FFF2-40B4-BE49-F238E27FC236}">
                <a16:creationId xmlns:a16="http://schemas.microsoft.com/office/drawing/2014/main" id="{787CCA43-9E1F-5B40-7F74-C4D55CC0EB85}"/>
              </a:ext>
            </a:extLst>
          </p:cNvPr>
          <p:cNvSpPr txBox="1">
            <a:spLocks/>
          </p:cNvSpPr>
          <p:nvPr/>
        </p:nvSpPr>
        <p:spPr>
          <a:xfrm>
            <a:off x="152400" y="8820730"/>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latin typeface="Montserrat" panose="00000500000000000000" pitchFamily="2" charset="0"/>
              </a:rPr>
              <a:t>INSIDE THE KEYPAD</a:t>
            </a:r>
          </a:p>
        </p:txBody>
      </p:sp>
      <p:sp>
        <p:nvSpPr>
          <p:cNvPr id="9" name="Rectangle: Rounded Corners 8">
            <a:extLst>
              <a:ext uri="{FF2B5EF4-FFF2-40B4-BE49-F238E27FC236}">
                <a16:creationId xmlns:a16="http://schemas.microsoft.com/office/drawing/2014/main" id="{7093899B-F4D8-D0D3-AB62-D2A3B49AAD44}"/>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E9875A-5B0A-1FC2-F74E-85987F1EC7D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1" name="Rectangle 10">
            <a:extLst>
              <a:ext uri="{FF2B5EF4-FFF2-40B4-BE49-F238E27FC236}">
                <a16:creationId xmlns:a16="http://schemas.microsoft.com/office/drawing/2014/main" id="{F76756D5-1291-4F85-5E1A-99CADBB4D22C}"/>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1294704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icture containing text, circuit, electronics&#10;&#10;Description automatically generated">
            <a:extLst>
              <a:ext uri="{FF2B5EF4-FFF2-40B4-BE49-F238E27FC236}">
                <a16:creationId xmlns:a16="http://schemas.microsoft.com/office/drawing/2014/main" id="{86DE4619-5003-4432-605D-7069C45F7D2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6355080" y="0"/>
            <a:ext cx="12192002" cy="6858000"/>
          </a:xfrm>
          <a:prstGeom prst="rect">
            <a:avLst/>
          </a:prstGeom>
          <a:effectLst>
            <a:outerShdw blurRad="50800" dist="50800" dir="5400000" algn="ctr" rotWithShape="0">
              <a:srgbClr val="000000">
                <a:alpha val="75000"/>
              </a:srgbClr>
            </a:outerShdw>
          </a:effectLst>
        </p:spPr>
      </p:pic>
      <p:pic>
        <p:nvPicPr>
          <p:cNvPr id="13" name="Picture 6" descr="Arduino Keypad Tutorial - 3X4 and 4X4 Keypads">
            <a:extLst>
              <a:ext uri="{FF2B5EF4-FFF2-40B4-BE49-F238E27FC236}">
                <a16:creationId xmlns:a16="http://schemas.microsoft.com/office/drawing/2014/main" id="{B64C3996-22D4-7EBD-5FE9-6A4548406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7479" y="1456943"/>
            <a:ext cx="4144242" cy="477926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cture containing text, circuit, electronics&#10;&#10;Description automatically generated">
            <a:extLst>
              <a:ext uri="{FF2B5EF4-FFF2-40B4-BE49-F238E27FC236}">
                <a16:creationId xmlns:a16="http://schemas.microsoft.com/office/drawing/2014/main" id="{5345DF5B-4DA8-5C2B-A961-880B2D8D9B43}"/>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10242"/>
          <a:stretch/>
        </p:blipFill>
        <p:spPr>
          <a:xfrm>
            <a:off x="-1" y="-3765357"/>
            <a:ext cx="12192002" cy="6858000"/>
          </a:xfrm>
          <a:prstGeom prst="rect">
            <a:avLst/>
          </a:prstGeom>
        </p:spPr>
      </p:pic>
      <p:sp>
        <p:nvSpPr>
          <p:cNvPr id="11" name="Title 1">
            <a:extLst>
              <a:ext uri="{FF2B5EF4-FFF2-40B4-BE49-F238E27FC236}">
                <a16:creationId xmlns:a16="http://schemas.microsoft.com/office/drawing/2014/main" id="{F6EB47B3-22B7-C9BA-C3A6-7EA43B36D0A6}"/>
              </a:ext>
            </a:extLst>
          </p:cNvPr>
          <p:cNvSpPr>
            <a:spLocks noGrp="1"/>
          </p:cNvSpPr>
          <p:nvPr>
            <p:ph type="ctrTitle"/>
          </p:nvPr>
        </p:nvSpPr>
        <p:spPr>
          <a:xfrm>
            <a:off x="0" y="-3348948"/>
            <a:ext cx="12191999" cy="977513"/>
          </a:xfrm>
          <a:effectLst/>
        </p:spPr>
        <p:txBody>
          <a:bodyPr>
            <a:normAutofit/>
          </a:bodyPr>
          <a:lstStyle/>
          <a:p>
            <a:r>
              <a:rPr lang="en-US" sz="5200" b="1">
                <a:solidFill>
                  <a:srgbClr val="FFFFFF"/>
                </a:solidFill>
                <a:latin typeface="Montserrat" panose="00000500000000000000" pitchFamily="2" charset="0"/>
              </a:rPr>
              <a:t>PHYSICAL APPEARANCE</a:t>
            </a:r>
          </a:p>
        </p:txBody>
      </p:sp>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4">
            <a:extLst>
              <a:ext uri="{28A0092B-C50C-407E-A947-70E740481C1C}">
                <a14:useLocalDpi xmlns:a14="http://schemas.microsoft.com/office/drawing/2010/main" val="0"/>
              </a:ext>
            </a:extLst>
          </a:blip>
          <a:srcRect t="12500" b="12500"/>
          <a:stretch/>
        </p:blipFill>
        <p:spPr>
          <a:xfrm>
            <a:off x="1" y="-1"/>
            <a:ext cx="12191998" cy="6858001"/>
          </a:xfrm>
          <a:prstGeom prst="rect">
            <a:avLst/>
          </a:prstGeom>
          <a:effectLst>
            <a:outerShdw blurRad="177800" dist="190500" dir="5460000" algn="t" rotWithShape="0">
              <a:prstClr val="black">
                <a:alpha val="40000"/>
              </a:prstClr>
            </a:outerShdw>
          </a:effectLst>
        </p:spPr>
      </p:pic>
      <p:sp>
        <p:nvSpPr>
          <p:cNvPr id="8" name="Title 1">
            <a:extLst>
              <a:ext uri="{FF2B5EF4-FFF2-40B4-BE49-F238E27FC236}">
                <a16:creationId xmlns:a16="http://schemas.microsoft.com/office/drawing/2014/main" id="{AA5421D3-48E7-1D71-70D5-EE8E7672104E}"/>
              </a:ext>
            </a:extLst>
          </p:cNvPr>
          <p:cNvSpPr txBox="1">
            <a:spLocks/>
          </p:cNvSpPr>
          <p:nvPr/>
        </p:nvSpPr>
        <p:spPr>
          <a:xfrm>
            <a:off x="152400" y="3092643"/>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latin typeface="Montserrat" panose="00000500000000000000" pitchFamily="2" charset="0"/>
              </a:rPr>
              <a:t>INSIDE THE KEYPAD</a:t>
            </a:r>
          </a:p>
        </p:txBody>
      </p:sp>
      <p:pic>
        <p:nvPicPr>
          <p:cNvPr id="14" name="Picture 13">
            <a:extLst>
              <a:ext uri="{FF2B5EF4-FFF2-40B4-BE49-F238E27FC236}">
                <a16:creationId xmlns:a16="http://schemas.microsoft.com/office/drawing/2014/main" id="{2D9C8091-63E9-01B0-115B-AD1BE7D687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7934324" y="3176587"/>
            <a:ext cx="9020175" cy="504825"/>
          </a:xfrm>
          <a:prstGeom prst="rect">
            <a:avLst/>
          </a:prstGeom>
        </p:spPr>
      </p:pic>
      <p:sp>
        <p:nvSpPr>
          <p:cNvPr id="5" name="Rectangle: Rounded Corners 4">
            <a:extLst>
              <a:ext uri="{FF2B5EF4-FFF2-40B4-BE49-F238E27FC236}">
                <a16:creationId xmlns:a16="http://schemas.microsoft.com/office/drawing/2014/main" id="{7E469553-DE5B-05DF-0446-8CAB1AAD6958}"/>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F5BBCA6-B396-F21D-FA38-60F5D5F40386}"/>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BC0FBE2D-E9B2-0907-1774-8A2D5C4604F0}"/>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768393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11" y="0"/>
            <a:ext cx="12192002" cy="6858000"/>
          </a:xfrm>
          <a:prstGeom prst="rect">
            <a:avLst/>
          </a:prstGeom>
          <a:effectLst>
            <a:outerShdw blurRad="50800" dist="50800" dir="5400000" algn="ctr" rotWithShape="0">
              <a:srgbClr val="000000">
                <a:alpha val="75000"/>
              </a:srgbClr>
            </a:outerShdw>
          </a:effectLst>
        </p:spPr>
      </p:pic>
      <p:pic>
        <p:nvPicPr>
          <p:cNvPr id="2" name="Picture 6" descr="Arduino Keypad Tutorial - 3X4 and 4X4 Keypads">
            <a:extLst>
              <a:ext uri="{FF2B5EF4-FFF2-40B4-BE49-F238E27FC236}">
                <a16:creationId xmlns:a16="http://schemas.microsoft.com/office/drawing/2014/main" id="{C4169414-5261-4689-BD14-92EC1A2D0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1030" y="1456943"/>
            <a:ext cx="4144242" cy="47792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4">
            <a:extLst>
              <a:ext uri="{28A0092B-C50C-407E-A947-70E740481C1C}">
                <a14:useLocalDpi xmlns:a14="http://schemas.microsoft.com/office/drawing/2010/main" val="0"/>
              </a:ext>
            </a:extLst>
          </a:blip>
          <a:srcRect t="12500" b="12500"/>
          <a:stretch/>
        </p:blipFill>
        <p:spPr>
          <a:xfrm>
            <a:off x="-8964387" y="-1"/>
            <a:ext cx="12191998" cy="6858001"/>
          </a:xfrm>
          <a:prstGeom prst="rect">
            <a:avLst/>
          </a:prstGeom>
        </p:spPr>
      </p:pic>
      <p:sp>
        <p:nvSpPr>
          <p:cNvPr id="9" name="Title 1">
            <a:extLst>
              <a:ext uri="{FF2B5EF4-FFF2-40B4-BE49-F238E27FC236}">
                <a16:creationId xmlns:a16="http://schemas.microsoft.com/office/drawing/2014/main" id="{577B4A6C-3748-FFAA-B6D0-B88EC8E6C118}"/>
              </a:ext>
            </a:extLst>
          </p:cNvPr>
          <p:cNvSpPr txBox="1">
            <a:spLocks/>
          </p:cNvSpPr>
          <p:nvPr/>
        </p:nvSpPr>
        <p:spPr>
          <a:xfrm>
            <a:off x="1597152" y="239715"/>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latin typeface="Montserrat" panose="00000500000000000000" pitchFamily="2" charset="0"/>
              </a:rPr>
              <a:t>INSIDE THE KEYPAD</a:t>
            </a:r>
          </a:p>
        </p:txBody>
      </p:sp>
      <p:pic>
        <p:nvPicPr>
          <p:cNvPr id="3" name="Picture 2">
            <a:extLst>
              <a:ext uri="{FF2B5EF4-FFF2-40B4-BE49-F238E27FC236}">
                <a16:creationId xmlns:a16="http://schemas.microsoft.com/office/drawing/2014/main" id="{7217D3B2-5E70-B981-5148-B6FC744B1F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sp>
        <p:nvSpPr>
          <p:cNvPr id="10" name="Rectangle: Rounded Corners 9">
            <a:extLst>
              <a:ext uri="{FF2B5EF4-FFF2-40B4-BE49-F238E27FC236}">
                <a16:creationId xmlns:a16="http://schemas.microsoft.com/office/drawing/2014/main" id="{381FD353-9C6B-C001-DD1A-CE630AC50CAF}"/>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EC55AB-46A2-2303-F5B0-ADBAEA6CD65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2" name="Rectangle 11">
            <a:extLst>
              <a:ext uri="{FF2B5EF4-FFF2-40B4-BE49-F238E27FC236}">
                <a16:creationId xmlns:a16="http://schemas.microsoft.com/office/drawing/2014/main" id="{6C5007E9-E6F2-23ED-768F-1A651A4BF3F2}"/>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30385451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11" y="0"/>
            <a:ext cx="12192002" cy="6858000"/>
          </a:xfrm>
          <a:prstGeom prst="rect">
            <a:avLst/>
          </a:prstGeom>
          <a:effectLst>
            <a:outerShdw blurRad="50800" dist="50800" dir="5400000" algn="ctr" rotWithShape="0">
              <a:srgbClr val="000000">
                <a:alpha val="75000"/>
              </a:srgbClr>
            </a:outerShdw>
          </a:effectLst>
        </p:spPr>
      </p:pic>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3">
            <a:extLst>
              <a:ext uri="{28A0092B-C50C-407E-A947-70E740481C1C}">
                <a14:useLocalDpi xmlns:a14="http://schemas.microsoft.com/office/drawing/2010/main" val="0"/>
              </a:ext>
            </a:extLst>
          </a:blip>
          <a:srcRect t="12500" b="12500"/>
          <a:stretch/>
        </p:blipFill>
        <p:spPr>
          <a:xfrm>
            <a:off x="-8964387" y="-1"/>
            <a:ext cx="12191998" cy="6858001"/>
          </a:xfrm>
          <a:prstGeom prst="rect">
            <a:avLst/>
          </a:prstGeom>
        </p:spPr>
      </p:pic>
      <p:sp>
        <p:nvSpPr>
          <p:cNvPr id="9" name="Title 1">
            <a:extLst>
              <a:ext uri="{FF2B5EF4-FFF2-40B4-BE49-F238E27FC236}">
                <a16:creationId xmlns:a16="http://schemas.microsoft.com/office/drawing/2014/main" id="{577B4A6C-3748-FFAA-B6D0-B88EC8E6C118}"/>
              </a:ext>
            </a:extLst>
          </p:cNvPr>
          <p:cNvSpPr txBox="1">
            <a:spLocks/>
          </p:cNvSpPr>
          <p:nvPr/>
        </p:nvSpPr>
        <p:spPr>
          <a:xfrm>
            <a:off x="1597152" y="239715"/>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latin typeface="Montserrat" panose="00000500000000000000" pitchFamily="2" charset="0"/>
              </a:rPr>
              <a:t>INSIDE THE KEYPAD</a:t>
            </a:r>
          </a:p>
        </p:txBody>
      </p:sp>
      <p:pic>
        <p:nvPicPr>
          <p:cNvPr id="3" name="Picture 4" descr="How to Set Up a Keypad on an Arduino - Back Side of Keypad">
            <a:extLst>
              <a:ext uri="{FF2B5EF4-FFF2-40B4-BE49-F238E27FC236}">
                <a16:creationId xmlns:a16="http://schemas.microsoft.com/office/drawing/2014/main" id="{CEABA26C-0AAE-BAE7-0CFB-734AB0BDE3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0286" y="1456943"/>
            <a:ext cx="4045729" cy="47609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sp>
        <p:nvSpPr>
          <p:cNvPr id="2" name="Rectangle: Rounded Corners 1">
            <a:extLst>
              <a:ext uri="{FF2B5EF4-FFF2-40B4-BE49-F238E27FC236}">
                <a16:creationId xmlns:a16="http://schemas.microsoft.com/office/drawing/2014/main" id="{098C6A05-C1A8-B9B9-BADC-571FDD971AA1}"/>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64638E4-7DA6-D9C2-7049-2887829817AD}"/>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6" name="Rectangle 5">
            <a:extLst>
              <a:ext uri="{FF2B5EF4-FFF2-40B4-BE49-F238E27FC236}">
                <a16:creationId xmlns:a16="http://schemas.microsoft.com/office/drawing/2014/main" id="{0D9E8B15-21D8-6D44-EB50-A366498425DB}"/>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43316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3">
            <a:extLst>
              <a:ext uri="{28A0092B-C50C-407E-A947-70E740481C1C}">
                <a14:useLocalDpi xmlns:a14="http://schemas.microsoft.com/office/drawing/2010/main" val="0"/>
              </a:ext>
            </a:extLst>
          </a:blip>
          <a:srcRect t="12500" b="12500"/>
          <a:stretch/>
        </p:blipFill>
        <p:spPr>
          <a:xfrm>
            <a:off x="-8964387" y="-1"/>
            <a:ext cx="12191998" cy="6858001"/>
          </a:xfrm>
          <a:prstGeom prst="rect">
            <a:avLst/>
          </a:prstGeom>
        </p:spPr>
      </p:pic>
      <p:sp>
        <p:nvSpPr>
          <p:cNvPr id="9" name="Title 1">
            <a:extLst>
              <a:ext uri="{FF2B5EF4-FFF2-40B4-BE49-F238E27FC236}">
                <a16:creationId xmlns:a16="http://schemas.microsoft.com/office/drawing/2014/main" id="{577B4A6C-3748-FFAA-B6D0-B88EC8E6C118}"/>
              </a:ext>
            </a:extLst>
          </p:cNvPr>
          <p:cNvSpPr txBox="1">
            <a:spLocks/>
          </p:cNvSpPr>
          <p:nvPr/>
        </p:nvSpPr>
        <p:spPr>
          <a:xfrm>
            <a:off x="1597152" y="239715"/>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latin typeface="Montserrat" panose="00000500000000000000" pitchFamily="2" charset="0"/>
              </a:rPr>
              <a:t>INSIDE THE KEYPAD</a:t>
            </a:r>
          </a:p>
        </p:txBody>
      </p:sp>
      <p:pic>
        <p:nvPicPr>
          <p:cNvPr id="3" name="Picture 4" descr="How to Set Up a Keypad on an Arduino - Back Side of Keypad">
            <a:extLst>
              <a:ext uri="{FF2B5EF4-FFF2-40B4-BE49-F238E27FC236}">
                <a16:creationId xmlns:a16="http://schemas.microsoft.com/office/drawing/2014/main" id="{CEABA26C-0AAE-BAE7-0CFB-734AB0BDE3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9361" y="2066373"/>
            <a:ext cx="2652338" cy="31212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sp>
        <p:nvSpPr>
          <p:cNvPr id="2" name="Rectangle 1">
            <a:extLst>
              <a:ext uri="{FF2B5EF4-FFF2-40B4-BE49-F238E27FC236}">
                <a16:creationId xmlns:a16="http://schemas.microsoft.com/office/drawing/2014/main" id="{4E460F46-3A13-861B-4BD5-36ECB3080FA9}"/>
              </a:ext>
            </a:extLst>
          </p:cNvPr>
          <p:cNvSpPr/>
          <p:nvPr/>
        </p:nvSpPr>
        <p:spPr>
          <a:xfrm>
            <a:off x="6454473" y="1549504"/>
            <a:ext cx="5451015" cy="4893647"/>
          </a:xfrm>
          <a:prstGeom prst="rect">
            <a:avLst/>
          </a:prstGeom>
        </p:spPr>
        <p:txBody>
          <a:bodyPr wrap="square">
            <a:spAutoFit/>
          </a:bodyPr>
          <a:lstStyle/>
          <a:p>
            <a:pPr marL="342900" indent="-342900" fontAlgn="base">
              <a:buFont typeface="Arial" panose="020B0604020202020204" pitchFamily="34" charset="0"/>
              <a:buChar char="•"/>
            </a:pPr>
            <a:r>
              <a:rPr lang="en-US" sz="2400">
                <a:solidFill>
                  <a:schemeClr val="bg1"/>
                </a:solidFill>
              </a:rPr>
              <a:t>Beneath each key is a membrane switch. </a:t>
            </a:r>
          </a:p>
          <a:p>
            <a:pPr marL="342900" indent="-342900" fontAlgn="base">
              <a:buFont typeface="Arial" panose="020B0604020202020204" pitchFamily="34" charset="0"/>
              <a:buChar char="•"/>
            </a:pPr>
            <a:r>
              <a:rPr lang="en-US" sz="2400">
                <a:solidFill>
                  <a:schemeClr val="bg1"/>
                </a:solidFill>
              </a:rPr>
              <a:t>Each switch in a row is connected to the other switches in the row by a conductive trace underneath the pad. </a:t>
            </a:r>
          </a:p>
          <a:p>
            <a:pPr marL="342900" indent="-342900" fontAlgn="base">
              <a:buFont typeface="Arial" panose="020B0604020202020204" pitchFamily="34" charset="0"/>
              <a:buChar char="•"/>
            </a:pPr>
            <a:r>
              <a:rPr lang="en-US" sz="2400">
                <a:solidFill>
                  <a:schemeClr val="bg1"/>
                </a:solidFill>
              </a:rPr>
              <a:t>Each switch in a column is connected the same way – one side of the switch is connected to all of the other switches in that column by a conductive trace. </a:t>
            </a:r>
          </a:p>
          <a:p>
            <a:pPr marL="342900" indent="-342900" fontAlgn="base">
              <a:buFont typeface="Arial" panose="020B0604020202020204" pitchFamily="34" charset="0"/>
              <a:buChar char="•"/>
            </a:pPr>
            <a:r>
              <a:rPr lang="en-US" sz="2400">
                <a:solidFill>
                  <a:schemeClr val="bg1"/>
                </a:solidFill>
              </a:rPr>
              <a:t>Each row and column is brought out to a single pin, for a total of 8 pins on a 4X4 keypad.</a:t>
            </a:r>
          </a:p>
        </p:txBody>
      </p:sp>
      <p:sp>
        <p:nvSpPr>
          <p:cNvPr id="12" name="Rectangle 11">
            <a:extLst>
              <a:ext uri="{FF2B5EF4-FFF2-40B4-BE49-F238E27FC236}">
                <a16:creationId xmlns:a16="http://schemas.microsoft.com/office/drawing/2014/main" id="{D31C6B6D-34BA-873D-AB9D-2C8E873E4A4F}"/>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3" name="Rectangle 12">
            <a:extLst>
              <a:ext uri="{FF2B5EF4-FFF2-40B4-BE49-F238E27FC236}">
                <a16:creationId xmlns:a16="http://schemas.microsoft.com/office/drawing/2014/main" id="{5ABFD7EF-C037-37BB-BF35-17C7CEFC3D66}"/>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
        <p:nvSpPr>
          <p:cNvPr id="15" name="Rectangle: Rounded Corners 14">
            <a:extLst>
              <a:ext uri="{FF2B5EF4-FFF2-40B4-BE49-F238E27FC236}">
                <a16:creationId xmlns:a16="http://schemas.microsoft.com/office/drawing/2014/main" id="{21266EFC-8A58-2E0F-D23A-DE1C363B0650}"/>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3233E09-5711-83BB-BCA0-2D80E9254CC2}"/>
              </a:ext>
            </a:extLst>
          </p:cNvPr>
          <p:cNvSpPr/>
          <p:nvPr/>
        </p:nvSpPr>
        <p:spPr>
          <a:xfrm>
            <a:off x="845345" y="6208503"/>
            <a:ext cx="1107034" cy="276999"/>
          </a:xfrm>
          <a:prstGeom prst="rect">
            <a:avLst/>
          </a:prstGeom>
          <a:noFill/>
        </p:spPr>
        <p:txBody>
          <a:bodyPr wrap="none" lIns="91440" tIns="45720" rIns="91440" bIns="45720">
            <a:spAutoFit/>
          </a:bodyPr>
          <a:lstStyle/>
          <a:p>
            <a:pPr algn="ctr"/>
            <a:r>
              <a:rPr lang="en-US" sz="1200" err="1">
                <a:ln w="0"/>
                <a:effectLst>
                  <a:outerShdw blurRad="38100" dist="19050" dir="2700000" algn="tl" rotWithShape="0">
                    <a:schemeClr val="dk1">
                      <a:alpha val="40000"/>
                    </a:schemeClr>
                  </a:outerShdw>
                </a:effectLst>
              </a:rPr>
              <a:t>myusuffadhlan</a:t>
            </a:r>
            <a:endParaRPr lang="en-US" sz="1200" b="0" cap="none" spc="0">
              <a:ln w="0"/>
              <a:solidFill>
                <a:schemeClr val="tx1"/>
              </a:solidFill>
              <a:effectLst>
                <a:outerShdw blurRad="38100" dist="19050" dir="2700000" algn="tl" rotWithShape="0">
                  <a:schemeClr val="dk1">
                    <a:alpha val="40000"/>
                  </a:schemeClr>
                </a:outerShdw>
              </a:effectLst>
            </a:endParaRPr>
          </a:p>
        </p:txBody>
      </p:sp>
      <p:pic>
        <p:nvPicPr>
          <p:cNvPr id="1026" name="Picture 2">
            <a:extLst>
              <a:ext uri="{FF2B5EF4-FFF2-40B4-BE49-F238E27FC236}">
                <a16:creationId xmlns:a16="http://schemas.microsoft.com/office/drawing/2014/main" id="{F7E85B3B-311F-859D-A791-98DA6313F6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236" y="6278693"/>
            <a:ext cx="164458" cy="16445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an I see how many people viewed my Instagram profile in the last week? -  Quora">
            <a:extLst>
              <a:ext uri="{FF2B5EF4-FFF2-40B4-BE49-F238E27FC236}">
                <a16:creationId xmlns:a16="http://schemas.microsoft.com/office/drawing/2014/main" id="{6681BE13-91F7-5E56-00C6-9F0CEB90EE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8847" y="5552830"/>
            <a:ext cx="2169809" cy="162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0379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par>
                          <p:cTn id="8" fill="hold">
                            <p:stCondLst>
                              <p:cond delay="500"/>
                            </p:stCondLst>
                            <p:childTnLst>
                              <p:par>
                                <p:cTn id="9" presetID="1" presetClass="entr" presetSubtype="0" fill="hold" grpId="0" nodeType="afterEffect">
                                  <p:stCondLst>
                                    <p:cond delay="0"/>
                                  </p:stCondLst>
                                  <p:iterate type="lt">
                                    <p:tmAbs val="100"/>
                                  </p:iterate>
                                  <p:childTnLst>
                                    <p:set>
                                      <p:cBhvr>
                                        <p:cTn id="10" dur="1" fill="hold">
                                          <p:stCondLst>
                                            <p:cond delay="0"/>
                                          </p:stCondLst>
                                        </p:cTn>
                                        <p:tgtEl>
                                          <p:spTgt spid="18"/>
                                        </p:tgtEl>
                                        <p:attrNameLst>
                                          <p:attrName>style.visibility</p:attrName>
                                        </p:attrNameLst>
                                      </p:cBhvr>
                                      <p:to>
                                        <p:strVal val="visible"/>
                                      </p:to>
                                    </p:set>
                                  </p:childTnLst>
                                </p:cTn>
                              </p:par>
                              <p:par>
                                <p:cTn id="11" presetID="37" presetClass="exit" presetSubtype="0" fill="hold" nodeType="withEffect">
                                  <p:stCondLst>
                                    <p:cond delay="5000"/>
                                  </p:stCondLst>
                                  <p:childTnLst>
                                    <p:animEffect transition="out" filter="fade">
                                      <p:cBhvr>
                                        <p:cTn id="12" dur="1000"/>
                                        <p:tgtEl>
                                          <p:spTgt spid="19"/>
                                        </p:tgtEl>
                                      </p:cBhvr>
                                    </p:animEffect>
                                    <p:anim calcmode="lin" valueType="num">
                                      <p:cBhvr>
                                        <p:cTn id="13" dur="1000"/>
                                        <p:tgtEl>
                                          <p:spTgt spid="19"/>
                                        </p:tgtEl>
                                        <p:attrNameLst>
                                          <p:attrName>ppt_x</p:attrName>
                                        </p:attrNameLst>
                                      </p:cBhvr>
                                      <p:tavLst>
                                        <p:tav tm="0">
                                          <p:val>
                                            <p:strVal val="ppt_x"/>
                                          </p:val>
                                        </p:tav>
                                        <p:tav tm="100000">
                                          <p:val>
                                            <p:strVal val="ppt_x"/>
                                          </p:val>
                                        </p:tav>
                                      </p:tavLst>
                                    </p:anim>
                                    <p:anim calcmode="lin" valueType="num">
                                      <p:cBhvr>
                                        <p:cTn id="14" dur="100" decel="100000"/>
                                        <p:tgtEl>
                                          <p:spTgt spid="19"/>
                                        </p:tgtEl>
                                        <p:attrNameLst>
                                          <p:attrName>ppt_y</p:attrName>
                                        </p:attrNameLst>
                                      </p:cBhvr>
                                      <p:tavLst>
                                        <p:tav tm="0">
                                          <p:val>
                                            <p:strVal val="ppt_y"/>
                                          </p:val>
                                        </p:tav>
                                        <p:tav tm="100000">
                                          <p:val>
                                            <p:strVal val="ppt_y-.03"/>
                                          </p:val>
                                        </p:tav>
                                      </p:tavLst>
                                    </p:anim>
                                    <p:anim calcmode="lin" valueType="num">
                                      <p:cBhvr>
                                        <p:cTn id="15" dur="900" accel="100000">
                                          <p:stCondLst>
                                            <p:cond delay="100"/>
                                          </p:stCondLst>
                                        </p:cTn>
                                        <p:tgtEl>
                                          <p:spTgt spid="19"/>
                                        </p:tgtEl>
                                        <p:attrNameLst>
                                          <p:attrName>ppt_y</p:attrName>
                                        </p:attrNameLst>
                                      </p:cBhvr>
                                      <p:tavLst>
                                        <p:tav tm="0">
                                          <p:val>
                                            <p:strVal val="ppt_y"/>
                                          </p:val>
                                        </p:tav>
                                        <p:tav tm="100000">
                                          <p:val>
                                            <p:strVal val="ppt_y+1"/>
                                          </p:val>
                                        </p:tav>
                                      </p:tavLst>
                                    </p:anim>
                                    <p:set>
                                      <p:cBhvr>
                                        <p:cTn id="16" dur="1" fill="hold">
                                          <p:stCondLst>
                                            <p:cond delay="999"/>
                                          </p:stCondLst>
                                        </p:cTn>
                                        <p:tgtEl>
                                          <p:spTgt spid="19"/>
                                        </p:tgtEl>
                                        <p:attrNameLst>
                                          <p:attrName>style.visibility</p:attrName>
                                        </p:attrNameLst>
                                      </p:cBhvr>
                                      <p:to>
                                        <p:strVal val="hidden"/>
                                      </p:to>
                                    </p:set>
                                  </p:childTnLst>
                                </p:cTn>
                              </p:par>
                              <p:par>
                                <p:cTn id="17" presetID="1" presetClass="exit" presetSubtype="0" fill="hold" grpId="1" nodeType="withEffect">
                                  <p:stCondLst>
                                    <p:cond delay="5000"/>
                                  </p:stCondLst>
                                  <p:iterate type="lt">
                                    <p:tmAbs val="100"/>
                                  </p:iterate>
                                  <p:childTnLst>
                                    <p:set>
                                      <p:cBhvr>
                                        <p:cTn id="18" dur="1" fill="hold">
                                          <p:stCondLst>
                                            <p:cond delay="0"/>
                                          </p:stCondLst>
                                        </p:cTn>
                                        <p:tgtEl>
                                          <p:spTgt spid="18"/>
                                        </p:tgtEl>
                                        <p:attrNameLst>
                                          <p:attrName>style.visibility</p:attrName>
                                        </p:attrNameLst>
                                      </p:cBhvr>
                                      <p:to>
                                        <p:strVal val="hidden"/>
                                      </p:to>
                                    </p:set>
                                  </p:childTnLst>
                                </p:cTn>
                              </p:par>
                              <p:par>
                                <p:cTn id="19" presetID="45" presetClass="exit" presetSubtype="0" fill="hold" nodeType="withEffect">
                                  <p:stCondLst>
                                    <p:cond delay="5000"/>
                                  </p:stCondLst>
                                  <p:childTnLst>
                                    <p:animEffect transition="out" filter="fade">
                                      <p:cBhvr>
                                        <p:cTn id="20" dur="2000"/>
                                        <p:tgtEl>
                                          <p:spTgt spid="1026"/>
                                        </p:tgtEl>
                                      </p:cBhvr>
                                    </p:animEffect>
                                    <p:anim calcmode="lin" valueType="num">
                                      <p:cBhvr>
                                        <p:cTn id="21" dur="2000"/>
                                        <p:tgtEl>
                                          <p:spTgt spid="1026"/>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2000"/>
                                        <p:tgtEl>
                                          <p:spTgt spid="1026"/>
                                        </p:tgtEl>
                                        <p:attrNameLst>
                                          <p:attrName>ppt_h</p:attrName>
                                        </p:attrNameLst>
                                      </p:cBhvr>
                                      <p:tavLst>
                                        <p:tav tm="0">
                                          <p:val>
                                            <p:strVal val="ppt_h"/>
                                          </p:val>
                                        </p:tav>
                                        <p:tav tm="100000">
                                          <p:val>
                                            <p:strVal val="ppt_h"/>
                                          </p:val>
                                        </p:tav>
                                      </p:tavLst>
                                    </p:anim>
                                    <p:set>
                                      <p:cBhvr>
                                        <p:cTn id="23" dur="1" fill="hold">
                                          <p:stCondLst>
                                            <p:cond delay="19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11" y="0"/>
            <a:ext cx="12192002" cy="6858000"/>
          </a:xfrm>
          <a:prstGeom prst="rect">
            <a:avLst/>
          </a:prstGeom>
          <a:effectLst>
            <a:outerShdw blurRad="50800" dist="50800" dir="5400000" algn="ctr" rotWithShape="0">
              <a:srgbClr val="000000">
                <a:alpha val="75000"/>
              </a:srgbClr>
            </a:outerShdw>
          </a:effectLst>
        </p:spPr>
      </p:pic>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3">
            <a:extLst>
              <a:ext uri="{28A0092B-C50C-407E-A947-70E740481C1C}">
                <a14:useLocalDpi xmlns:a14="http://schemas.microsoft.com/office/drawing/2010/main" val="0"/>
              </a:ext>
            </a:extLst>
          </a:blip>
          <a:srcRect t="12500" b="12500"/>
          <a:stretch/>
        </p:blipFill>
        <p:spPr>
          <a:xfrm>
            <a:off x="-8964387" y="-1"/>
            <a:ext cx="12191998" cy="6858001"/>
          </a:xfrm>
          <a:prstGeom prst="rect">
            <a:avLst/>
          </a:prstGeom>
        </p:spPr>
      </p:pic>
      <p:sp>
        <p:nvSpPr>
          <p:cNvPr id="9" name="Title 1">
            <a:extLst>
              <a:ext uri="{FF2B5EF4-FFF2-40B4-BE49-F238E27FC236}">
                <a16:creationId xmlns:a16="http://schemas.microsoft.com/office/drawing/2014/main" id="{577B4A6C-3748-FFAA-B6D0-B88EC8E6C118}"/>
              </a:ext>
            </a:extLst>
          </p:cNvPr>
          <p:cNvSpPr txBox="1">
            <a:spLocks/>
          </p:cNvSpPr>
          <p:nvPr/>
        </p:nvSpPr>
        <p:spPr>
          <a:xfrm>
            <a:off x="1597152" y="239715"/>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latin typeface="Montserrat" panose="00000500000000000000" pitchFamily="2" charset="0"/>
              </a:rPr>
              <a:t>INSIDE THE KEYPAD</a:t>
            </a:r>
          </a:p>
        </p:txBody>
      </p:sp>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2" descr="Arduino Keypad Tutorial - 4X4 Keypad Schematic">
            <a:extLst>
              <a:ext uri="{FF2B5EF4-FFF2-40B4-BE49-F238E27FC236}">
                <a16:creationId xmlns:a16="http://schemas.microsoft.com/office/drawing/2014/main" id="{431F2E9D-197F-8638-5078-074CDAB4AC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2882" y="1684557"/>
            <a:ext cx="5811627" cy="470611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Rounded Corners 9">
            <a:extLst>
              <a:ext uri="{FF2B5EF4-FFF2-40B4-BE49-F238E27FC236}">
                <a16:creationId xmlns:a16="http://schemas.microsoft.com/office/drawing/2014/main" id="{3F4948F6-235A-ADFF-C6CB-9210768B091D}"/>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23ADD6D-8A74-EBCD-D3E4-F9A2D3A27E2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2" name="Rectangle 11">
            <a:extLst>
              <a:ext uri="{FF2B5EF4-FFF2-40B4-BE49-F238E27FC236}">
                <a16:creationId xmlns:a16="http://schemas.microsoft.com/office/drawing/2014/main" id="{6A559A8F-CAEA-B00E-F48D-20F20D3D58D4}"/>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17017056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Calendar&#10;&#10;Description automatically generated">
            <a:extLst>
              <a:ext uri="{FF2B5EF4-FFF2-40B4-BE49-F238E27FC236}">
                <a16:creationId xmlns:a16="http://schemas.microsoft.com/office/drawing/2014/main" id="{5726C9FA-C4D1-5C7D-8D64-4082750DCD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spTree>
    <p:extLst>
      <p:ext uri="{BB962C8B-B14F-4D97-AF65-F5344CB8AC3E}">
        <p14:creationId xmlns:p14="http://schemas.microsoft.com/office/powerpoint/2010/main" val="9909752"/>
      </p:ext>
    </p:extLst>
  </p:cSld>
  <p:clrMapOvr>
    <a:masterClrMapping/>
  </p:clrMapOvr>
  <mc:AlternateContent xmlns:mc="http://schemas.openxmlformats.org/markup-compatibility/2006" xmlns:p14="http://schemas.microsoft.com/office/powerpoint/2010/main">
    <mc:Choice Requires="p14">
      <p:transition spd="slow" p14:dur="2000">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spTree>
    <p:extLst>
      <p:ext uri="{BB962C8B-B14F-4D97-AF65-F5344CB8AC3E}">
        <p14:creationId xmlns:p14="http://schemas.microsoft.com/office/powerpoint/2010/main" val="33603425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spTree>
    <p:extLst>
      <p:ext uri="{BB962C8B-B14F-4D97-AF65-F5344CB8AC3E}">
        <p14:creationId xmlns:p14="http://schemas.microsoft.com/office/powerpoint/2010/main" val="38465365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cxnSp>
        <p:nvCxnSpPr>
          <p:cNvPr id="8" name="Straight Connector 7">
            <a:extLst>
              <a:ext uri="{FF2B5EF4-FFF2-40B4-BE49-F238E27FC236}">
                <a16:creationId xmlns:a16="http://schemas.microsoft.com/office/drawing/2014/main" id="{092F60F4-F0FB-3BED-BC2E-E5609AB6DFE5}"/>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B23A80-3F9C-CF72-7D68-258CF9E865DD}"/>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69D462-421F-582E-55AE-85CF62800921}"/>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45C15A9-BF8E-5FAC-4431-21CBE30EA38E}"/>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7514868-9C0F-8667-2243-7A0193A3B52B}"/>
              </a:ext>
            </a:extLst>
          </p:cNvPr>
          <p:cNvSpPr txBox="1">
            <a:spLocks/>
          </p:cNvSpPr>
          <p:nvPr/>
        </p:nvSpPr>
        <p:spPr>
          <a:xfrm>
            <a:off x="403972" y="2978771"/>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R1</a:t>
            </a:r>
          </a:p>
        </p:txBody>
      </p:sp>
    </p:spTree>
    <p:extLst>
      <p:ext uri="{BB962C8B-B14F-4D97-AF65-F5344CB8AC3E}">
        <p14:creationId xmlns:p14="http://schemas.microsoft.com/office/powerpoint/2010/main" val="11608925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200"/>
                                        <p:tgtEl>
                                          <p:spTgt spid="8"/>
                                        </p:tgtEl>
                                      </p:cBhvr>
                                    </p:animEffect>
                                  </p:childTnLst>
                                </p:cTn>
                              </p:par>
                            </p:childTnLst>
                          </p:cTn>
                        </p:par>
                        <p:par>
                          <p:cTn id="8" fill="hold">
                            <p:stCondLst>
                              <p:cond delay="2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200"/>
                                        <p:tgtEl>
                                          <p:spTgt spid="9"/>
                                        </p:tgtEl>
                                      </p:cBhvr>
                                    </p:animEffect>
                                  </p:childTnLst>
                                </p:cTn>
                              </p:par>
                            </p:childTnLst>
                          </p:cTn>
                        </p:par>
                        <p:par>
                          <p:cTn id="12" fill="hold">
                            <p:stCondLst>
                              <p:cond delay="400"/>
                            </p:stCondLst>
                            <p:childTnLst>
                              <p:par>
                                <p:cTn id="13" presetID="2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200"/>
                                        <p:tgtEl>
                                          <p:spTgt spid="13"/>
                                        </p:tgtEl>
                                      </p:cBhvr>
                                    </p:animEffect>
                                  </p:childTnLst>
                                </p:cTn>
                              </p:par>
                            </p:childTnLst>
                          </p:cTn>
                        </p:par>
                        <p:par>
                          <p:cTn id="16" fill="hold">
                            <p:stCondLst>
                              <p:cond delay="6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cxnSp>
        <p:nvCxnSpPr>
          <p:cNvPr id="8" name="Straight Connector 7">
            <a:extLst>
              <a:ext uri="{FF2B5EF4-FFF2-40B4-BE49-F238E27FC236}">
                <a16:creationId xmlns:a16="http://schemas.microsoft.com/office/drawing/2014/main" id="{092F60F4-F0FB-3BED-BC2E-E5609AB6DFE5}"/>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B23A80-3F9C-CF72-7D68-258CF9E865DD}"/>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69D462-421F-582E-55AE-85CF62800921}"/>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45C15A9-BF8E-5FAC-4431-21CBE30EA38E}"/>
              </a:ext>
            </a:extLst>
          </p:cNvPr>
          <p:cNvCxnSpPr>
            <a:cxnSpLocks/>
          </p:cNvCxnSpPr>
          <p:nvPr/>
        </p:nvCxnSpPr>
        <p:spPr>
          <a:xfrm>
            <a:off x="2458479" y="2386258"/>
            <a:ext cx="618381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54E9F179-E1B4-EF86-058C-EA8680BCD347}"/>
              </a:ext>
            </a:extLst>
          </p:cNvPr>
          <p:cNvSpPr txBox="1">
            <a:spLocks/>
          </p:cNvSpPr>
          <p:nvPr/>
        </p:nvSpPr>
        <p:spPr>
          <a:xfrm>
            <a:off x="403972" y="2978771"/>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R2</a:t>
            </a:r>
          </a:p>
        </p:txBody>
      </p:sp>
    </p:spTree>
    <p:extLst>
      <p:ext uri="{BB962C8B-B14F-4D97-AF65-F5344CB8AC3E}">
        <p14:creationId xmlns:p14="http://schemas.microsoft.com/office/powerpoint/2010/main" val="4735045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200"/>
                                        <p:tgtEl>
                                          <p:spTgt spid="8"/>
                                        </p:tgtEl>
                                      </p:cBhvr>
                                    </p:animEffect>
                                  </p:childTnLst>
                                </p:cTn>
                              </p:par>
                            </p:childTnLst>
                          </p:cTn>
                        </p:par>
                        <p:par>
                          <p:cTn id="8" fill="hold">
                            <p:stCondLst>
                              <p:cond delay="2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200"/>
                                        <p:tgtEl>
                                          <p:spTgt spid="9"/>
                                        </p:tgtEl>
                                      </p:cBhvr>
                                    </p:animEffect>
                                  </p:childTnLst>
                                </p:cTn>
                              </p:par>
                            </p:childTnLst>
                          </p:cTn>
                        </p:par>
                        <p:par>
                          <p:cTn id="12" fill="hold">
                            <p:stCondLst>
                              <p:cond delay="400"/>
                            </p:stCondLst>
                            <p:childTnLst>
                              <p:par>
                                <p:cTn id="13" presetID="2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200"/>
                                        <p:tgtEl>
                                          <p:spTgt spid="13"/>
                                        </p:tgtEl>
                                      </p:cBhvr>
                                    </p:animEffect>
                                  </p:childTnLst>
                                </p:cTn>
                              </p:par>
                            </p:childTnLst>
                          </p:cTn>
                        </p:par>
                        <p:par>
                          <p:cTn id="16" fill="hold">
                            <p:stCondLst>
                              <p:cond delay="6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cxnSp>
        <p:nvCxnSpPr>
          <p:cNvPr id="8" name="Straight Connector 7">
            <a:extLst>
              <a:ext uri="{FF2B5EF4-FFF2-40B4-BE49-F238E27FC236}">
                <a16:creationId xmlns:a16="http://schemas.microsoft.com/office/drawing/2014/main" id="{092F60F4-F0FB-3BED-BC2E-E5609AB6DFE5}"/>
              </a:ext>
            </a:extLst>
          </p:cNvPr>
          <p:cNvCxnSpPr>
            <a:cxnSpLocks/>
          </p:cNvCxnSpPr>
          <p:nvPr/>
        </p:nvCxnSpPr>
        <p:spPr>
          <a:xfrm flipV="1">
            <a:off x="5628238"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B23A80-3F9C-CF72-7D68-258CF9E865DD}"/>
              </a:ext>
            </a:extLst>
          </p:cNvPr>
          <p:cNvCxnSpPr>
            <a:cxnSpLocks/>
          </p:cNvCxnSpPr>
          <p:nvPr/>
        </p:nvCxnSpPr>
        <p:spPr>
          <a:xfrm>
            <a:off x="2644596" y="5324559"/>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69D462-421F-582E-55AE-85CF62800921}"/>
              </a:ext>
            </a:extLst>
          </p:cNvPr>
          <p:cNvCxnSpPr>
            <a:cxnSpLocks/>
          </p:cNvCxnSpPr>
          <p:nvPr/>
        </p:nvCxnSpPr>
        <p:spPr>
          <a:xfrm flipV="1">
            <a:off x="2644596" y="3437092"/>
            <a:ext cx="0" cy="1887467"/>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45C15A9-BF8E-5FAC-4431-21CBE30EA38E}"/>
              </a:ext>
            </a:extLst>
          </p:cNvPr>
          <p:cNvCxnSpPr>
            <a:cxnSpLocks/>
          </p:cNvCxnSpPr>
          <p:nvPr/>
        </p:nvCxnSpPr>
        <p:spPr>
          <a:xfrm>
            <a:off x="2644596" y="3429000"/>
            <a:ext cx="5997698"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1EBCEA5-0736-8C7B-77D1-B62E3BAEEF36}"/>
              </a:ext>
            </a:extLst>
          </p:cNvPr>
          <p:cNvSpPr txBox="1">
            <a:spLocks/>
          </p:cNvSpPr>
          <p:nvPr/>
        </p:nvSpPr>
        <p:spPr>
          <a:xfrm>
            <a:off x="403972" y="2978771"/>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R3</a:t>
            </a:r>
          </a:p>
        </p:txBody>
      </p:sp>
    </p:spTree>
    <p:extLst>
      <p:ext uri="{BB962C8B-B14F-4D97-AF65-F5344CB8AC3E}">
        <p14:creationId xmlns:p14="http://schemas.microsoft.com/office/powerpoint/2010/main" val="16968233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200"/>
                                        <p:tgtEl>
                                          <p:spTgt spid="8"/>
                                        </p:tgtEl>
                                      </p:cBhvr>
                                    </p:animEffect>
                                  </p:childTnLst>
                                </p:cTn>
                              </p:par>
                            </p:childTnLst>
                          </p:cTn>
                        </p:par>
                        <p:par>
                          <p:cTn id="8" fill="hold">
                            <p:stCondLst>
                              <p:cond delay="2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200"/>
                                        <p:tgtEl>
                                          <p:spTgt spid="9"/>
                                        </p:tgtEl>
                                      </p:cBhvr>
                                    </p:animEffect>
                                  </p:childTnLst>
                                </p:cTn>
                              </p:par>
                            </p:childTnLst>
                          </p:cTn>
                        </p:par>
                        <p:par>
                          <p:cTn id="12" fill="hold">
                            <p:stCondLst>
                              <p:cond delay="400"/>
                            </p:stCondLst>
                            <p:childTnLst>
                              <p:par>
                                <p:cTn id="13" presetID="2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200"/>
                                        <p:tgtEl>
                                          <p:spTgt spid="13"/>
                                        </p:tgtEl>
                                      </p:cBhvr>
                                    </p:animEffect>
                                  </p:childTnLst>
                                </p:cTn>
                              </p:par>
                            </p:childTnLst>
                          </p:cTn>
                        </p:par>
                        <p:par>
                          <p:cTn id="16" fill="hold">
                            <p:stCondLst>
                              <p:cond delay="6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cxnSp>
        <p:nvCxnSpPr>
          <p:cNvPr id="8" name="Straight Connector 7">
            <a:extLst>
              <a:ext uri="{FF2B5EF4-FFF2-40B4-BE49-F238E27FC236}">
                <a16:creationId xmlns:a16="http://schemas.microsoft.com/office/drawing/2014/main" id="{092F60F4-F0FB-3BED-BC2E-E5609AB6DFE5}"/>
              </a:ext>
            </a:extLst>
          </p:cNvPr>
          <p:cNvCxnSpPr>
            <a:cxnSpLocks/>
          </p:cNvCxnSpPr>
          <p:nvPr/>
        </p:nvCxnSpPr>
        <p:spPr>
          <a:xfrm flipV="1">
            <a:off x="5822447" y="5178903"/>
            <a:ext cx="0" cy="83147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B23A80-3F9C-CF72-7D68-258CF9E865DD}"/>
              </a:ext>
            </a:extLst>
          </p:cNvPr>
          <p:cNvCxnSpPr>
            <a:cxnSpLocks/>
          </p:cNvCxnSpPr>
          <p:nvPr/>
        </p:nvCxnSpPr>
        <p:spPr>
          <a:xfrm>
            <a:off x="2838805" y="5154627"/>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69D462-421F-582E-55AE-85CF62800921}"/>
              </a:ext>
            </a:extLst>
          </p:cNvPr>
          <p:cNvCxnSpPr>
            <a:cxnSpLocks/>
          </p:cNvCxnSpPr>
          <p:nvPr/>
        </p:nvCxnSpPr>
        <p:spPr>
          <a:xfrm flipV="1">
            <a:off x="2838805" y="4594432"/>
            <a:ext cx="0" cy="5601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45C15A9-BF8E-5FAC-4431-21CBE30EA38E}"/>
              </a:ext>
            </a:extLst>
          </p:cNvPr>
          <p:cNvCxnSpPr>
            <a:cxnSpLocks/>
          </p:cNvCxnSpPr>
          <p:nvPr/>
        </p:nvCxnSpPr>
        <p:spPr>
          <a:xfrm>
            <a:off x="2838805" y="4586340"/>
            <a:ext cx="5787305"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772302AA-4355-56D1-94D6-5919B31DB804}"/>
              </a:ext>
            </a:extLst>
          </p:cNvPr>
          <p:cNvSpPr txBox="1">
            <a:spLocks/>
          </p:cNvSpPr>
          <p:nvPr/>
        </p:nvSpPr>
        <p:spPr>
          <a:xfrm>
            <a:off x="403972" y="2978771"/>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R4</a:t>
            </a:r>
          </a:p>
        </p:txBody>
      </p:sp>
    </p:spTree>
    <p:extLst>
      <p:ext uri="{BB962C8B-B14F-4D97-AF65-F5344CB8AC3E}">
        <p14:creationId xmlns:p14="http://schemas.microsoft.com/office/powerpoint/2010/main" val="42277523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200"/>
                                        <p:tgtEl>
                                          <p:spTgt spid="8"/>
                                        </p:tgtEl>
                                      </p:cBhvr>
                                    </p:animEffect>
                                  </p:childTnLst>
                                </p:cTn>
                              </p:par>
                            </p:childTnLst>
                          </p:cTn>
                        </p:par>
                        <p:par>
                          <p:cTn id="8" fill="hold">
                            <p:stCondLst>
                              <p:cond delay="200"/>
                            </p:stCondLst>
                            <p:childTnLst>
                              <p:par>
                                <p:cTn id="9" presetID="22" presetClass="entr" presetSubtype="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200"/>
                                        <p:tgtEl>
                                          <p:spTgt spid="9"/>
                                        </p:tgtEl>
                                      </p:cBhvr>
                                    </p:animEffect>
                                  </p:childTnLst>
                                </p:cTn>
                              </p:par>
                            </p:childTnLst>
                          </p:cTn>
                        </p:par>
                        <p:par>
                          <p:cTn id="12" fill="hold">
                            <p:stCondLst>
                              <p:cond delay="400"/>
                            </p:stCondLst>
                            <p:childTnLst>
                              <p:par>
                                <p:cTn id="13" presetID="2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200"/>
                                        <p:tgtEl>
                                          <p:spTgt spid="13"/>
                                        </p:tgtEl>
                                      </p:cBhvr>
                                    </p:animEffect>
                                  </p:childTnLst>
                                </p:cTn>
                              </p:par>
                            </p:childTnLst>
                          </p:cTn>
                        </p:par>
                        <p:par>
                          <p:cTn id="16" fill="hold">
                            <p:stCondLst>
                              <p:cond delay="600"/>
                            </p:stCondLst>
                            <p:childTnLst>
                              <p:par>
                                <p:cTn id="17" presetID="2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grpSp>
        <p:nvGrpSpPr>
          <p:cNvPr id="7" name="Group 6">
            <a:extLst>
              <a:ext uri="{FF2B5EF4-FFF2-40B4-BE49-F238E27FC236}">
                <a16:creationId xmlns:a16="http://schemas.microsoft.com/office/drawing/2014/main" id="{8BC5356C-C1D2-4F52-9FCB-C7BDE654C7BF}"/>
              </a:ext>
            </a:extLst>
          </p:cNvPr>
          <p:cNvGrpSpPr/>
          <p:nvPr/>
        </p:nvGrpSpPr>
        <p:grpSpPr>
          <a:xfrm>
            <a:off x="2838805" y="4586340"/>
            <a:ext cx="5787305" cy="1424042"/>
            <a:chOff x="2838805" y="4586340"/>
            <a:chExt cx="5787305" cy="1424042"/>
          </a:xfrm>
        </p:grpSpPr>
        <p:cxnSp>
          <p:nvCxnSpPr>
            <p:cNvPr id="8" name="Straight Connector 7">
              <a:extLst>
                <a:ext uri="{FF2B5EF4-FFF2-40B4-BE49-F238E27FC236}">
                  <a16:creationId xmlns:a16="http://schemas.microsoft.com/office/drawing/2014/main" id="{092F60F4-F0FB-3BED-BC2E-E5609AB6DFE5}"/>
                </a:ext>
              </a:extLst>
            </p:cNvPr>
            <p:cNvCxnSpPr>
              <a:cxnSpLocks/>
            </p:cNvCxnSpPr>
            <p:nvPr/>
          </p:nvCxnSpPr>
          <p:spPr>
            <a:xfrm flipV="1">
              <a:off x="5822447" y="5178903"/>
              <a:ext cx="0" cy="83147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B23A80-3F9C-CF72-7D68-258CF9E865DD}"/>
                </a:ext>
              </a:extLst>
            </p:cNvPr>
            <p:cNvCxnSpPr>
              <a:cxnSpLocks/>
            </p:cNvCxnSpPr>
            <p:nvPr/>
          </p:nvCxnSpPr>
          <p:spPr>
            <a:xfrm>
              <a:off x="2838805" y="5154627"/>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69D462-421F-582E-55AE-85CF62800921}"/>
                </a:ext>
              </a:extLst>
            </p:cNvPr>
            <p:cNvCxnSpPr>
              <a:cxnSpLocks/>
            </p:cNvCxnSpPr>
            <p:nvPr/>
          </p:nvCxnSpPr>
          <p:spPr>
            <a:xfrm flipV="1">
              <a:off x="2838805" y="4594432"/>
              <a:ext cx="0" cy="5601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45C15A9-BF8E-5FAC-4431-21CBE30EA38E}"/>
                </a:ext>
              </a:extLst>
            </p:cNvPr>
            <p:cNvCxnSpPr>
              <a:cxnSpLocks/>
            </p:cNvCxnSpPr>
            <p:nvPr/>
          </p:nvCxnSpPr>
          <p:spPr>
            <a:xfrm>
              <a:off x="2838805" y="4586340"/>
              <a:ext cx="5787305"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F3E65326-744F-A3C8-55E8-9402475770E4}"/>
              </a:ext>
            </a:extLst>
          </p:cNvPr>
          <p:cNvGrpSpPr/>
          <p:nvPr/>
        </p:nvGrpSpPr>
        <p:grpSpPr>
          <a:xfrm>
            <a:off x="2644596" y="3429000"/>
            <a:ext cx="5997698" cy="2581382"/>
            <a:chOff x="2644596" y="3429000"/>
            <a:chExt cx="5997698" cy="2581382"/>
          </a:xfrm>
        </p:grpSpPr>
        <p:cxnSp>
          <p:nvCxnSpPr>
            <p:cNvPr id="10" name="Straight Connector 9">
              <a:extLst>
                <a:ext uri="{FF2B5EF4-FFF2-40B4-BE49-F238E27FC236}">
                  <a16:creationId xmlns:a16="http://schemas.microsoft.com/office/drawing/2014/main" id="{C6CD53CE-A4F5-0501-873A-AF6E317CF9F9}"/>
                </a:ext>
              </a:extLst>
            </p:cNvPr>
            <p:cNvCxnSpPr>
              <a:cxnSpLocks/>
            </p:cNvCxnSpPr>
            <p:nvPr/>
          </p:nvCxnSpPr>
          <p:spPr>
            <a:xfrm flipV="1">
              <a:off x="5628238"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4BC258D-7BB9-3A6C-7206-11B443774D28}"/>
                </a:ext>
              </a:extLst>
            </p:cNvPr>
            <p:cNvCxnSpPr>
              <a:cxnSpLocks/>
            </p:cNvCxnSpPr>
            <p:nvPr/>
          </p:nvCxnSpPr>
          <p:spPr>
            <a:xfrm>
              <a:off x="2644596" y="5324559"/>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A270FA-C5DD-1C1D-4461-69009E944321}"/>
                </a:ext>
              </a:extLst>
            </p:cNvPr>
            <p:cNvCxnSpPr>
              <a:cxnSpLocks/>
            </p:cNvCxnSpPr>
            <p:nvPr/>
          </p:nvCxnSpPr>
          <p:spPr>
            <a:xfrm flipV="1">
              <a:off x="2644596" y="3437092"/>
              <a:ext cx="0" cy="1887467"/>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0C3603-5BD7-120D-9808-BD6603DC0762}"/>
                </a:ext>
              </a:extLst>
            </p:cNvPr>
            <p:cNvCxnSpPr>
              <a:cxnSpLocks/>
            </p:cNvCxnSpPr>
            <p:nvPr/>
          </p:nvCxnSpPr>
          <p:spPr>
            <a:xfrm>
              <a:off x="2644596" y="3429000"/>
              <a:ext cx="5997698"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A3EFC1C4-C576-262D-A89E-ECB37710C285}"/>
              </a:ext>
            </a:extLst>
          </p:cNvPr>
          <p:cNvGrpSpPr/>
          <p:nvPr/>
        </p:nvGrpSpPr>
        <p:grpSpPr>
          <a:xfrm>
            <a:off x="2434953" y="2386258"/>
            <a:ext cx="6207341" cy="3624124"/>
            <a:chOff x="2434953" y="2386258"/>
            <a:chExt cx="6207341" cy="3624124"/>
          </a:xfrm>
        </p:grpSpPr>
        <p:cxnSp>
          <p:nvCxnSpPr>
            <p:cNvPr id="21" name="Straight Connector 20">
              <a:extLst>
                <a:ext uri="{FF2B5EF4-FFF2-40B4-BE49-F238E27FC236}">
                  <a16:creationId xmlns:a16="http://schemas.microsoft.com/office/drawing/2014/main" id="{F76311FD-3C2C-5C1E-38B7-BBAD03655CA1}"/>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E34F0B4-A5B6-D885-037C-29F6D8D1E4A1}"/>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3A7BB26-00D8-F53A-D91A-B275630D605D}"/>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A27F182-6279-953F-ACAF-BED175CF6ED6}"/>
                </a:ext>
              </a:extLst>
            </p:cNvPr>
            <p:cNvCxnSpPr>
              <a:cxnSpLocks/>
            </p:cNvCxnSpPr>
            <p:nvPr/>
          </p:nvCxnSpPr>
          <p:spPr>
            <a:xfrm>
              <a:off x="2458479" y="2386258"/>
              <a:ext cx="618381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ED765D04-EA03-39B9-F8FC-E454CA05DDE4}"/>
              </a:ext>
            </a:extLst>
          </p:cNvPr>
          <p:cNvGrpSpPr/>
          <p:nvPr/>
        </p:nvGrpSpPr>
        <p:grpSpPr>
          <a:xfrm>
            <a:off x="2232652" y="1204821"/>
            <a:ext cx="6409642" cy="4805561"/>
            <a:chOff x="2232652" y="1204821"/>
            <a:chExt cx="6409642" cy="4805561"/>
          </a:xfrm>
        </p:grpSpPr>
        <p:cxnSp>
          <p:nvCxnSpPr>
            <p:cNvPr id="30" name="Straight Connector 29">
              <a:extLst>
                <a:ext uri="{FF2B5EF4-FFF2-40B4-BE49-F238E27FC236}">
                  <a16:creationId xmlns:a16="http://schemas.microsoft.com/office/drawing/2014/main" id="{30E42242-56BB-9C45-E147-16105A1F3F1F}"/>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FFC90A4-407A-2A04-E097-65FAF6EACCCA}"/>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8689CC5-821A-42D7-EB71-B00139D86D31}"/>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C6E6644A-32A3-926A-4A03-F2BA5C2EC08E}"/>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B8A7AA69-4FB0-A7E4-7737-99DA9B6CD14F}"/>
              </a:ext>
            </a:extLst>
          </p:cNvPr>
          <p:cNvGrpSpPr/>
          <p:nvPr/>
        </p:nvGrpSpPr>
        <p:grpSpPr>
          <a:xfrm>
            <a:off x="2838805" y="4586340"/>
            <a:ext cx="5787305" cy="1424042"/>
            <a:chOff x="2838805" y="4586340"/>
            <a:chExt cx="5787305" cy="1424042"/>
          </a:xfrm>
        </p:grpSpPr>
        <p:cxnSp>
          <p:nvCxnSpPr>
            <p:cNvPr id="36" name="Straight Connector 35">
              <a:extLst>
                <a:ext uri="{FF2B5EF4-FFF2-40B4-BE49-F238E27FC236}">
                  <a16:creationId xmlns:a16="http://schemas.microsoft.com/office/drawing/2014/main" id="{E42F292E-0C4D-ACD4-C3A2-DC25991B30C7}"/>
                </a:ext>
              </a:extLst>
            </p:cNvPr>
            <p:cNvCxnSpPr>
              <a:cxnSpLocks/>
            </p:cNvCxnSpPr>
            <p:nvPr/>
          </p:nvCxnSpPr>
          <p:spPr>
            <a:xfrm flipV="1">
              <a:off x="5822447" y="5178903"/>
              <a:ext cx="0" cy="83147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A6FFFA2-98AA-5CA8-E35F-DCFE11FAB5CC}"/>
                </a:ext>
              </a:extLst>
            </p:cNvPr>
            <p:cNvCxnSpPr>
              <a:cxnSpLocks/>
            </p:cNvCxnSpPr>
            <p:nvPr/>
          </p:nvCxnSpPr>
          <p:spPr>
            <a:xfrm>
              <a:off x="2838805" y="5154627"/>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2F403A6-859D-2369-C603-2E02898B7A83}"/>
                </a:ext>
              </a:extLst>
            </p:cNvPr>
            <p:cNvCxnSpPr>
              <a:cxnSpLocks/>
            </p:cNvCxnSpPr>
            <p:nvPr/>
          </p:nvCxnSpPr>
          <p:spPr>
            <a:xfrm flipV="1">
              <a:off x="2838805" y="4594432"/>
              <a:ext cx="0" cy="5601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292A80-0A83-BF8A-C0A3-D0BF23725DDC}"/>
                </a:ext>
              </a:extLst>
            </p:cNvPr>
            <p:cNvCxnSpPr>
              <a:cxnSpLocks/>
            </p:cNvCxnSpPr>
            <p:nvPr/>
          </p:nvCxnSpPr>
          <p:spPr>
            <a:xfrm>
              <a:off x="2838805" y="4586340"/>
              <a:ext cx="5787305"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0B442234-9433-3681-1CE5-C9F9E72AA771}"/>
              </a:ext>
            </a:extLst>
          </p:cNvPr>
          <p:cNvGrpSpPr/>
          <p:nvPr/>
        </p:nvGrpSpPr>
        <p:grpSpPr>
          <a:xfrm>
            <a:off x="2644596" y="3429000"/>
            <a:ext cx="5997698" cy="2581382"/>
            <a:chOff x="2644596" y="3429000"/>
            <a:chExt cx="5997698" cy="2581382"/>
          </a:xfrm>
        </p:grpSpPr>
        <p:cxnSp>
          <p:nvCxnSpPr>
            <p:cNvPr id="41" name="Straight Connector 40">
              <a:extLst>
                <a:ext uri="{FF2B5EF4-FFF2-40B4-BE49-F238E27FC236}">
                  <a16:creationId xmlns:a16="http://schemas.microsoft.com/office/drawing/2014/main" id="{4494C31D-7953-FD7D-B799-C5A12907D176}"/>
                </a:ext>
              </a:extLst>
            </p:cNvPr>
            <p:cNvCxnSpPr>
              <a:cxnSpLocks/>
            </p:cNvCxnSpPr>
            <p:nvPr/>
          </p:nvCxnSpPr>
          <p:spPr>
            <a:xfrm flipV="1">
              <a:off x="5628238"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66A655B-0F2E-08F1-4C51-26F7FCCD661E}"/>
                </a:ext>
              </a:extLst>
            </p:cNvPr>
            <p:cNvCxnSpPr>
              <a:cxnSpLocks/>
            </p:cNvCxnSpPr>
            <p:nvPr/>
          </p:nvCxnSpPr>
          <p:spPr>
            <a:xfrm>
              <a:off x="2644596" y="5324559"/>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CD72ED-2E67-9660-5ADC-A36841D0C0A0}"/>
                </a:ext>
              </a:extLst>
            </p:cNvPr>
            <p:cNvCxnSpPr>
              <a:cxnSpLocks/>
            </p:cNvCxnSpPr>
            <p:nvPr/>
          </p:nvCxnSpPr>
          <p:spPr>
            <a:xfrm flipV="1">
              <a:off x="2644596" y="3437092"/>
              <a:ext cx="0" cy="1887467"/>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F416B9-ACA0-90FF-B3C8-93119B2DE23E}"/>
                </a:ext>
              </a:extLst>
            </p:cNvPr>
            <p:cNvCxnSpPr>
              <a:cxnSpLocks/>
            </p:cNvCxnSpPr>
            <p:nvPr/>
          </p:nvCxnSpPr>
          <p:spPr>
            <a:xfrm>
              <a:off x="2644596" y="3429000"/>
              <a:ext cx="5997698"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D60BE805-1436-2D76-683D-2C5C77468394}"/>
              </a:ext>
            </a:extLst>
          </p:cNvPr>
          <p:cNvGrpSpPr/>
          <p:nvPr/>
        </p:nvGrpSpPr>
        <p:grpSpPr>
          <a:xfrm>
            <a:off x="2434953" y="2386258"/>
            <a:ext cx="6207341" cy="3624124"/>
            <a:chOff x="2434953" y="2386258"/>
            <a:chExt cx="6207341" cy="3624124"/>
          </a:xfrm>
        </p:grpSpPr>
        <p:cxnSp>
          <p:nvCxnSpPr>
            <p:cNvPr id="46" name="Straight Connector 45">
              <a:extLst>
                <a:ext uri="{FF2B5EF4-FFF2-40B4-BE49-F238E27FC236}">
                  <a16:creationId xmlns:a16="http://schemas.microsoft.com/office/drawing/2014/main" id="{6A7C5C1C-7E9C-0096-F48F-7AACB78C1CAF}"/>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32828E4-BDCE-7E94-3D5B-4E9AAA30668C}"/>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0F2D827-B764-F033-C25E-5A3E0E781ECD}"/>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E15C8CC-3376-39A3-73E4-8B455B314840}"/>
                </a:ext>
              </a:extLst>
            </p:cNvPr>
            <p:cNvCxnSpPr>
              <a:cxnSpLocks/>
            </p:cNvCxnSpPr>
            <p:nvPr/>
          </p:nvCxnSpPr>
          <p:spPr>
            <a:xfrm>
              <a:off x="2458479" y="2386258"/>
              <a:ext cx="618381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A2214B2F-3BE5-5DEE-641B-980696B19BED}"/>
              </a:ext>
            </a:extLst>
          </p:cNvPr>
          <p:cNvGrpSpPr/>
          <p:nvPr/>
        </p:nvGrpSpPr>
        <p:grpSpPr>
          <a:xfrm>
            <a:off x="2232652" y="1204821"/>
            <a:ext cx="6409642" cy="4805561"/>
            <a:chOff x="2232652" y="1204821"/>
            <a:chExt cx="6409642" cy="4805561"/>
          </a:xfrm>
        </p:grpSpPr>
        <p:cxnSp>
          <p:nvCxnSpPr>
            <p:cNvPr id="51" name="Straight Connector 50">
              <a:extLst>
                <a:ext uri="{FF2B5EF4-FFF2-40B4-BE49-F238E27FC236}">
                  <a16:creationId xmlns:a16="http://schemas.microsoft.com/office/drawing/2014/main" id="{FA16E526-1412-B74E-8D64-E31AD1767BE0}"/>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58F1F2C-603B-29C9-EF13-979EED168AB7}"/>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DC91FA2-64D6-4E7E-0769-1FF36C7683F7}"/>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B5DF0F1-44E4-8EEB-304A-BB91F624E16B}"/>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6ED9D8D8-9FBE-CAE0-4F6B-D4C2E161E1D1}"/>
              </a:ext>
            </a:extLst>
          </p:cNvPr>
          <p:cNvGrpSpPr/>
          <p:nvPr/>
        </p:nvGrpSpPr>
        <p:grpSpPr>
          <a:xfrm>
            <a:off x="2838805" y="4585544"/>
            <a:ext cx="5787305" cy="1424042"/>
            <a:chOff x="2838805" y="4586340"/>
            <a:chExt cx="5787305" cy="1424042"/>
          </a:xfrm>
        </p:grpSpPr>
        <p:cxnSp>
          <p:nvCxnSpPr>
            <p:cNvPr id="56" name="Straight Connector 55">
              <a:extLst>
                <a:ext uri="{FF2B5EF4-FFF2-40B4-BE49-F238E27FC236}">
                  <a16:creationId xmlns:a16="http://schemas.microsoft.com/office/drawing/2014/main" id="{DEADE1BC-9D7E-77AE-2A64-D7C25C919CBA}"/>
                </a:ext>
              </a:extLst>
            </p:cNvPr>
            <p:cNvCxnSpPr>
              <a:cxnSpLocks/>
            </p:cNvCxnSpPr>
            <p:nvPr/>
          </p:nvCxnSpPr>
          <p:spPr>
            <a:xfrm flipV="1">
              <a:off x="5822447" y="5178903"/>
              <a:ext cx="0" cy="83147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D4BC794-549F-3D63-ECB2-C58F432FEBB8}"/>
                </a:ext>
              </a:extLst>
            </p:cNvPr>
            <p:cNvCxnSpPr>
              <a:cxnSpLocks/>
            </p:cNvCxnSpPr>
            <p:nvPr/>
          </p:nvCxnSpPr>
          <p:spPr>
            <a:xfrm>
              <a:off x="2838805" y="5154627"/>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61DD79-26A0-33A2-206D-4A710BB9A15B}"/>
                </a:ext>
              </a:extLst>
            </p:cNvPr>
            <p:cNvCxnSpPr>
              <a:cxnSpLocks/>
            </p:cNvCxnSpPr>
            <p:nvPr/>
          </p:nvCxnSpPr>
          <p:spPr>
            <a:xfrm flipV="1">
              <a:off x="2838805" y="4594432"/>
              <a:ext cx="0" cy="5601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D1731EF-148C-8ABA-112D-380B51B7DBDA}"/>
                </a:ext>
              </a:extLst>
            </p:cNvPr>
            <p:cNvCxnSpPr>
              <a:cxnSpLocks/>
            </p:cNvCxnSpPr>
            <p:nvPr/>
          </p:nvCxnSpPr>
          <p:spPr>
            <a:xfrm>
              <a:off x="2838805" y="4586340"/>
              <a:ext cx="5787305"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4047ED3C-3C25-E72E-C161-98EC2E48B40B}"/>
              </a:ext>
            </a:extLst>
          </p:cNvPr>
          <p:cNvGrpSpPr/>
          <p:nvPr/>
        </p:nvGrpSpPr>
        <p:grpSpPr>
          <a:xfrm>
            <a:off x="2644596" y="3428204"/>
            <a:ext cx="5997698" cy="2581382"/>
            <a:chOff x="2644596" y="3429000"/>
            <a:chExt cx="5997698" cy="2581382"/>
          </a:xfrm>
        </p:grpSpPr>
        <p:cxnSp>
          <p:nvCxnSpPr>
            <p:cNvPr id="61" name="Straight Connector 60">
              <a:extLst>
                <a:ext uri="{FF2B5EF4-FFF2-40B4-BE49-F238E27FC236}">
                  <a16:creationId xmlns:a16="http://schemas.microsoft.com/office/drawing/2014/main" id="{CB87D535-2BA7-E08E-0ACF-ACA0F696A73B}"/>
                </a:ext>
              </a:extLst>
            </p:cNvPr>
            <p:cNvCxnSpPr>
              <a:cxnSpLocks/>
            </p:cNvCxnSpPr>
            <p:nvPr/>
          </p:nvCxnSpPr>
          <p:spPr>
            <a:xfrm flipV="1">
              <a:off x="5628238"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3DC91A8-D0E7-89BC-3FE9-CB5F6575936E}"/>
                </a:ext>
              </a:extLst>
            </p:cNvPr>
            <p:cNvCxnSpPr>
              <a:cxnSpLocks/>
            </p:cNvCxnSpPr>
            <p:nvPr/>
          </p:nvCxnSpPr>
          <p:spPr>
            <a:xfrm>
              <a:off x="2644596" y="5324559"/>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E66730D-8088-C17F-E1F8-4B562DD4D1F8}"/>
                </a:ext>
              </a:extLst>
            </p:cNvPr>
            <p:cNvCxnSpPr>
              <a:cxnSpLocks/>
            </p:cNvCxnSpPr>
            <p:nvPr/>
          </p:nvCxnSpPr>
          <p:spPr>
            <a:xfrm flipV="1">
              <a:off x="2644596" y="3437092"/>
              <a:ext cx="0" cy="1887467"/>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7FA8B52-5E83-B660-6677-267F9D8F5B94}"/>
                </a:ext>
              </a:extLst>
            </p:cNvPr>
            <p:cNvCxnSpPr>
              <a:cxnSpLocks/>
            </p:cNvCxnSpPr>
            <p:nvPr/>
          </p:nvCxnSpPr>
          <p:spPr>
            <a:xfrm>
              <a:off x="2644596" y="3429000"/>
              <a:ext cx="5997698"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9D61A461-533A-B62C-8D1B-93034A426866}"/>
              </a:ext>
            </a:extLst>
          </p:cNvPr>
          <p:cNvGrpSpPr/>
          <p:nvPr/>
        </p:nvGrpSpPr>
        <p:grpSpPr>
          <a:xfrm>
            <a:off x="2434953" y="2385462"/>
            <a:ext cx="6207341" cy="3624124"/>
            <a:chOff x="2434953" y="2386258"/>
            <a:chExt cx="6207341" cy="3624124"/>
          </a:xfrm>
        </p:grpSpPr>
        <p:cxnSp>
          <p:nvCxnSpPr>
            <p:cNvPr id="66" name="Straight Connector 65">
              <a:extLst>
                <a:ext uri="{FF2B5EF4-FFF2-40B4-BE49-F238E27FC236}">
                  <a16:creationId xmlns:a16="http://schemas.microsoft.com/office/drawing/2014/main" id="{E5BA96A5-F78B-3BD3-43AE-9B20FB665F23}"/>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0BF2699-134C-2D22-9B25-9DD058C2CDBA}"/>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485839E-7225-0351-FFDB-4FF1F20A361D}"/>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1C92376-8E3A-470C-5930-10C247EEE85F}"/>
                </a:ext>
              </a:extLst>
            </p:cNvPr>
            <p:cNvCxnSpPr>
              <a:cxnSpLocks/>
            </p:cNvCxnSpPr>
            <p:nvPr/>
          </p:nvCxnSpPr>
          <p:spPr>
            <a:xfrm>
              <a:off x="2458479" y="2386258"/>
              <a:ext cx="618381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9043ED0B-F51C-9E1B-128E-E530383D5AAD}"/>
              </a:ext>
            </a:extLst>
          </p:cNvPr>
          <p:cNvGrpSpPr/>
          <p:nvPr/>
        </p:nvGrpSpPr>
        <p:grpSpPr>
          <a:xfrm>
            <a:off x="2232652" y="1204025"/>
            <a:ext cx="6409642" cy="4805561"/>
            <a:chOff x="2232652" y="1204821"/>
            <a:chExt cx="6409642" cy="4805561"/>
          </a:xfrm>
        </p:grpSpPr>
        <p:cxnSp>
          <p:nvCxnSpPr>
            <p:cNvPr id="71" name="Straight Connector 70">
              <a:extLst>
                <a:ext uri="{FF2B5EF4-FFF2-40B4-BE49-F238E27FC236}">
                  <a16:creationId xmlns:a16="http://schemas.microsoft.com/office/drawing/2014/main" id="{068B81D8-D3E6-58E1-6E3E-6C2DCFFB988D}"/>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9941788-0F68-E8C5-9AEC-D112D0F00016}"/>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0EFCD0C-2D0B-676A-8AB5-1F347025E471}"/>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51CCE8F-87E3-502C-B9E8-4F25B9491787}"/>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0F764CD7-E7DE-FB2C-1C6C-3FCFFD9CF1AB}"/>
              </a:ext>
            </a:extLst>
          </p:cNvPr>
          <p:cNvGrpSpPr/>
          <p:nvPr/>
        </p:nvGrpSpPr>
        <p:grpSpPr>
          <a:xfrm>
            <a:off x="2838805" y="4585544"/>
            <a:ext cx="5787305" cy="1424042"/>
            <a:chOff x="2838805" y="4586340"/>
            <a:chExt cx="5787305" cy="1424042"/>
          </a:xfrm>
        </p:grpSpPr>
        <p:cxnSp>
          <p:nvCxnSpPr>
            <p:cNvPr id="76" name="Straight Connector 75">
              <a:extLst>
                <a:ext uri="{FF2B5EF4-FFF2-40B4-BE49-F238E27FC236}">
                  <a16:creationId xmlns:a16="http://schemas.microsoft.com/office/drawing/2014/main" id="{8655C395-A984-55CE-B8BE-BA265B7C7B09}"/>
                </a:ext>
              </a:extLst>
            </p:cNvPr>
            <p:cNvCxnSpPr>
              <a:cxnSpLocks/>
            </p:cNvCxnSpPr>
            <p:nvPr/>
          </p:nvCxnSpPr>
          <p:spPr>
            <a:xfrm flipV="1">
              <a:off x="5822447" y="5178903"/>
              <a:ext cx="0" cy="831479"/>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7109842-6F00-288F-596F-59987D876059}"/>
                </a:ext>
              </a:extLst>
            </p:cNvPr>
            <p:cNvCxnSpPr>
              <a:cxnSpLocks/>
            </p:cNvCxnSpPr>
            <p:nvPr/>
          </p:nvCxnSpPr>
          <p:spPr>
            <a:xfrm>
              <a:off x="2838805" y="5154627"/>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89B746-E9C3-A95A-AEA8-E29703DA4F73}"/>
                </a:ext>
              </a:extLst>
            </p:cNvPr>
            <p:cNvCxnSpPr>
              <a:cxnSpLocks/>
            </p:cNvCxnSpPr>
            <p:nvPr/>
          </p:nvCxnSpPr>
          <p:spPr>
            <a:xfrm flipV="1">
              <a:off x="2838805" y="4594432"/>
              <a:ext cx="0" cy="56019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D32400B-23BF-1921-3A81-03873A56D79A}"/>
                </a:ext>
              </a:extLst>
            </p:cNvPr>
            <p:cNvCxnSpPr>
              <a:cxnSpLocks/>
            </p:cNvCxnSpPr>
            <p:nvPr/>
          </p:nvCxnSpPr>
          <p:spPr>
            <a:xfrm>
              <a:off x="2838805" y="4586340"/>
              <a:ext cx="5787305"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D121FE58-469C-F448-7961-F85942E057FA}"/>
              </a:ext>
            </a:extLst>
          </p:cNvPr>
          <p:cNvGrpSpPr/>
          <p:nvPr/>
        </p:nvGrpSpPr>
        <p:grpSpPr>
          <a:xfrm>
            <a:off x="2644596" y="3428204"/>
            <a:ext cx="5997698" cy="2581382"/>
            <a:chOff x="2644596" y="3429000"/>
            <a:chExt cx="5997698" cy="2581382"/>
          </a:xfrm>
        </p:grpSpPr>
        <p:cxnSp>
          <p:nvCxnSpPr>
            <p:cNvPr id="81" name="Straight Connector 80">
              <a:extLst>
                <a:ext uri="{FF2B5EF4-FFF2-40B4-BE49-F238E27FC236}">
                  <a16:creationId xmlns:a16="http://schemas.microsoft.com/office/drawing/2014/main" id="{44F2E4F2-6A7A-A678-1418-347D6EAF8511}"/>
                </a:ext>
              </a:extLst>
            </p:cNvPr>
            <p:cNvCxnSpPr>
              <a:cxnSpLocks/>
            </p:cNvCxnSpPr>
            <p:nvPr/>
          </p:nvCxnSpPr>
          <p:spPr>
            <a:xfrm flipV="1">
              <a:off x="5628238"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22F6770D-5FD2-638C-1C28-9859EDD70BEA}"/>
                </a:ext>
              </a:extLst>
            </p:cNvPr>
            <p:cNvCxnSpPr>
              <a:cxnSpLocks/>
            </p:cNvCxnSpPr>
            <p:nvPr/>
          </p:nvCxnSpPr>
          <p:spPr>
            <a:xfrm>
              <a:off x="2644596" y="5324559"/>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14EB877-5A30-A559-EE7B-CD17A8269555}"/>
                </a:ext>
              </a:extLst>
            </p:cNvPr>
            <p:cNvCxnSpPr>
              <a:cxnSpLocks/>
            </p:cNvCxnSpPr>
            <p:nvPr/>
          </p:nvCxnSpPr>
          <p:spPr>
            <a:xfrm flipV="1">
              <a:off x="2644596" y="3437092"/>
              <a:ext cx="0" cy="1887467"/>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D6553FC-1FDB-DA3C-2E7B-D60C01309913}"/>
                </a:ext>
              </a:extLst>
            </p:cNvPr>
            <p:cNvCxnSpPr>
              <a:cxnSpLocks/>
            </p:cNvCxnSpPr>
            <p:nvPr/>
          </p:nvCxnSpPr>
          <p:spPr>
            <a:xfrm>
              <a:off x="2644596" y="3429000"/>
              <a:ext cx="5997698"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61B3D73D-1B11-EC91-5DC0-1F2EE307B6AF}"/>
              </a:ext>
            </a:extLst>
          </p:cNvPr>
          <p:cNvGrpSpPr/>
          <p:nvPr/>
        </p:nvGrpSpPr>
        <p:grpSpPr>
          <a:xfrm>
            <a:off x="2434953" y="2385462"/>
            <a:ext cx="6207341" cy="3624124"/>
            <a:chOff x="2434953" y="2386258"/>
            <a:chExt cx="6207341" cy="3624124"/>
          </a:xfrm>
        </p:grpSpPr>
        <p:cxnSp>
          <p:nvCxnSpPr>
            <p:cNvPr id="86" name="Straight Connector 85">
              <a:extLst>
                <a:ext uri="{FF2B5EF4-FFF2-40B4-BE49-F238E27FC236}">
                  <a16:creationId xmlns:a16="http://schemas.microsoft.com/office/drawing/2014/main" id="{ABCD2501-F808-C265-DFF0-EA630ABFD758}"/>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F31C7C4-9649-3137-B3FC-716831D5BF89}"/>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CCD66DB-88D0-588C-6B90-8DA05A8B4189}"/>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83DA960-A842-B531-C0AE-357B25517479}"/>
                </a:ext>
              </a:extLst>
            </p:cNvPr>
            <p:cNvCxnSpPr>
              <a:cxnSpLocks/>
            </p:cNvCxnSpPr>
            <p:nvPr/>
          </p:nvCxnSpPr>
          <p:spPr>
            <a:xfrm>
              <a:off x="2458479" y="2386258"/>
              <a:ext cx="618381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95C312A0-C270-0868-2992-CF7963774C6E}"/>
              </a:ext>
            </a:extLst>
          </p:cNvPr>
          <p:cNvGrpSpPr/>
          <p:nvPr/>
        </p:nvGrpSpPr>
        <p:grpSpPr>
          <a:xfrm>
            <a:off x="2232652" y="1204025"/>
            <a:ext cx="6409642" cy="4805561"/>
            <a:chOff x="2232652" y="1204821"/>
            <a:chExt cx="6409642" cy="4805561"/>
          </a:xfrm>
        </p:grpSpPr>
        <p:cxnSp>
          <p:nvCxnSpPr>
            <p:cNvPr id="91" name="Straight Connector 90">
              <a:extLst>
                <a:ext uri="{FF2B5EF4-FFF2-40B4-BE49-F238E27FC236}">
                  <a16:creationId xmlns:a16="http://schemas.microsoft.com/office/drawing/2014/main" id="{38AE90D7-03B5-C8FC-330E-06FE2361449F}"/>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08AF634-6CF7-D619-6614-97D695E16325}"/>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A96F0D27-0666-33B0-6E1A-A4B11CEB8186}"/>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6368CBA-7B75-E083-E931-9CF3572B6414}"/>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89863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remove"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childTnLst>
                          </p:cTn>
                        </p:par>
                        <p:par>
                          <p:cTn id="8" fill="hold">
                            <p:stCondLst>
                              <p:cond delay="1000"/>
                            </p:stCondLst>
                            <p:childTnLst>
                              <p:par>
                                <p:cTn id="9" presetID="10" presetClass="exit" presetSubtype="0" fill="remove" nodeType="afterEffect">
                                  <p:stCondLst>
                                    <p:cond delay="0"/>
                                  </p:stCondLst>
                                  <p:childTnLst>
                                    <p:animEffect transition="out" filter="fade">
                                      <p:cBhvr>
                                        <p:cTn id="10" dur="1000"/>
                                        <p:tgtEl>
                                          <p:spTgt spid="34"/>
                                        </p:tgtEl>
                                      </p:cBhvr>
                                    </p:animEffect>
                                    <p:set>
                                      <p:cBhvr>
                                        <p:cTn id="11" dur="1" fill="hold">
                                          <p:stCondLst>
                                            <p:cond delay="999"/>
                                          </p:stCondLst>
                                        </p:cTn>
                                        <p:tgtEl>
                                          <p:spTgt spid="34"/>
                                        </p:tgtEl>
                                        <p:attrNameLst>
                                          <p:attrName>style.visibility</p:attrName>
                                        </p:attrNameLst>
                                      </p:cBhvr>
                                      <p:to>
                                        <p:strVal val="hidden"/>
                                      </p:to>
                                    </p:set>
                                  </p:childTnLst>
                                </p:cTn>
                              </p:par>
                            </p:childTnLst>
                          </p:cTn>
                        </p:par>
                        <p:par>
                          <p:cTn id="12" fill="hold">
                            <p:stCondLst>
                              <p:cond delay="2000"/>
                            </p:stCondLst>
                            <p:childTnLst>
                              <p:par>
                                <p:cTn id="13" presetID="10" presetClass="entr" presetSubtype="0" fill="remove"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1000"/>
                                        <p:tgtEl>
                                          <p:spTgt spid="25"/>
                                        </p:tgtEl>
                                      </p:cBhvr>
                                    </p:animEffect>
                                  </p:childTnLst>
                                </p:cTn>
                              </p:par>
                            </p:childTnLst>
                          </p:cTn>
                        </p:par>
                        <p:par>
                          <p:cTn id="16" fill="hold">
                            <p:stCondLst>
                              <p:cond delay="3000"/>
                            </p:stCondLst>
                            <p:childTnLst>
                              <p:par>
                                <p:cTn id="17" presetID="10" presetClass="exit" presetSubtype="0" fill="remove" nodeType="afterEffect">
                                  <p:stCondLst>
                                    <p:cond delay="0"/>
                                  </p:stCondLst>
                                  <p:childTnLst>
                                    <p:animEffect transition="out" filter="fade">
                                      <p:cBhvr>
                                        <p:cTn id="18" dur="1000"/>
                                        <p:tgtEl>
                                          <p:spTgt spid="25"/>
                                        </p:tgtEl>
                                      </p:cBhvr>
                                    </p:animEffect>
                                    <p:set>
                                      <p:cBhvr>
                                        <p:cTn id="19" dur="1" fill="hold">
                                          <p:stCondLst>
                                            <p:cond delay="999"/>
                                          </p:stCondLst>
                                        </p:cTn>
                                        <p:tgtEl>
                                          <p:spTgt spid="25"/>
                                        </p:tgtEl>
                                        <p:attrNameLst>
                                          <p:attrName>style.visibility</p:attrName>
                                        </p:attrNameLst>
                                      </p:cBhvr>
                                      <p:to>
                                        <p:strVal val="hidden"/>
                                      </p:to>
                                    </p:set>
                                  </p:childTnLst>
                                </p:cTn>
                              </p:par>
                            </p:childTnLst>
                          </p:cTn>
                        </p:par>
                        <p:par>
                          <p:cTn id="20" fill="hold">
                            <p:stCondLst>
                              <p:cond delay="4000"/>
                            </p:stCondLst>
                            <p:childTnLst>
                              <p:par>
                                <p:cTn id="21" presetID="10" presetClass="entr" presetSubtype="0" fill="remove"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childTnLst>
                                </p:cTn>
                              </p:par>
                            </p:childTnLst>
                          </p:cTn>
                        </p:par>
                        <p:par>
                          <p:cTn id="24" fill="hold">
                            <p:stCondLst>
                              <p:cond delay="5000"/>
                            </p:stCondLst>
                            <p:childTnLst>
                              <p:par>
                                <p:cTn id="25" presetID="10" presetClass="exit" presetSubtype="0" fill="remove" nodeType="afterEffect">
                                  <p:stCondLst>
                                    <p:cond delay="0"/>
                                  </p:stCondLst>
                                  <p:childTnLst>
                                    <p:animEffect transition="out" filter="fade">
                                      <p:cBhvr>
                                        <p:cTn id="26" dur="1000"/>
                                        <p:tgtEl>
                                          <p:spTgt spid="15"/>
                                        </p:tgtEl>
                                      </p:cBhvr>
                                    </p:animEffect>
                                    <p:set>
                                      <p:cBhvr>
                                        <p:cTn id="27" dur="1" fill="hold">
                                          <p:stCondLst>
                                            <p:cond delay="999"/>
                                          </p:stCondLst>
                                        </p:cTn>
                                        <p:tgtEl>
                                          <p:spTgt spid="15"/>
                                        </p:tgtEl>
                                        <p:attrNameLst>
                                          <p:attrName>style.visibility</p:attrName>
                                        </p:attrNameLst>
                                      </p:cBhvr>
                                      <p:to>
                                        <p:strVal val="hidden"/>
                                      </p:to>
                                    </p:set>
                                  </p:childTnLst>
                                </p:cTn>
                              </p:par>
                            </p:childTnLst>
                          </p:cTn>
                        </p:par>
                        <p:par>
                          <p:cTn id="28" fill="hold">
                            <p:stCondLst>
                              <p:cond delay="6000"/>
                            </p:stCondLst>
                            <p:childTnLst>
                              <p:par>
                                <p:cTn id="29" presetID="10" presetClass="entr" presetSubtype="0" fill="remove"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childTnLst>
                                </p:cTn>
                              </p:par>
                            </p:childTnLst>
                          </p:cTn>
                        </p:par>
                        <p:par>
                          <p:cTn id="32" fill="hold">
                            <p:stCondLst>
                              <p:cond delay="7000"/>
                            </p:stCondLst>
                            <p:childTnLst>
                              <p:par>
                                <p:cTn id="33" presetID="10" presetClass="exit" presetSubtype="0" fill="remove" nodeType="afterEffect">
                                  <p:stCondLst>
                                    <p:cond delay="0"/>
                                  </p:stCondLst>
                                  <p:childTnLst>
                                    <p:animEffect transition="out" filter="fade">
                                      <p:cBhvr>
                                        <p:cTn id="34" dur="1000"/>
                                        <p:tgtEl>
                                          <p:spTgt spid="7"/>
                                        </p:tgtEl>
                                      </p:cBhvr>
                                    </p:animEffect>
                                    <p:set>
                                      <p:cBhvr>
                                        <p:cTn id="35" dur="1" fill="hold">
                                          <p:stCondLst>
                                            <p:cond delay="999"/>
                                          </p:stCondLst>
                                        </p:cTn>
                                        <p:tgtEl>
                                          <p:spTgt spid="7"/>
                                        </p:tgtEl>
                                        <p:attrNameLst>
                                          <p:attrName>style.visibility</p:attrName>
                                        </p:attrNameLst>
                                      </p:cBhvr>
                                      <p:to>
                                        <p:strVal val="hidden"/>
                                      </p:to>
                                    </p:set>
                                  </p:childTnLst>
                                </p:cTn>
                              </p:par>
                            </p:childTnLst>
                          </p:cTn>
                        </p:par>
                        <p:par>
                          <p:cTn id="36" fill="hold">
                            <p:stCondLst>
                              <p:cond delay="8000"/>
                            </p:stCondLst>
                            <p:childTnLst>
                              <p:par>
                                <p:cTn id="37" presetID="10" presetClass="entr" presetSubtype="0" fill="remove" nodeType="after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1000"/>
                                        <p:tgtEl>
                                          <p:spTgt spid="50"/>
                                        </p:tgtEl>
                                      </p:cBhvr>
                                    </p:animEffect>
                                  </p:childTnLst>
                                </p:cTn>
                              </p:par>
                            </p:childTnLst>
                          </p:cTn>
                        </p:par>
                        <p:par>
                          <p:cTn id="40" fill="hold">
                            <p:stCondLst>
                              <p:cond delay="9000"/>
                            </p:stCondLst>
                            <p:childTnLst>
                              <p:par>
                                <p:cTn id="41" presetID="10" presetClass="exit" presetSubtype="0" fill="remove" nodeType="afterEffect">
                                  <p:stCondLst>
                                    <p:cond delay="0"/>
                                  </p:stCondLst>
                                  <p:childTnLst>
                                    <p:animEffect transition="out" filter="fade">
                                      <p:cBhvr>
                                        <p:cTn id="42" dur="1000"/>
                                        <p:tgtEl>
                                          <p:spTgt spid="50"/>
                                        </p:tgtEl>
                                      </p:cBhvr>
                                    </p:animEffect>
                                    <p:set>
                                      <p:cBhvr>
                                        <p:cTn id="43" dur="1" fill="hold">
                                          <p:stCondLst>
                                            <p:cond delay="999"/>
                                          </p:stCondLst>
                                        </p:cTn>
                                        <p:tgtEl>
                                          <p:spTgt spid="50"/>
                                        </p:tgtEl>
                                        <p:attrNameLst>
                                          <p:attrName>style.visibility</p:attrName>
                                        </p:attrNameLst>
                                      </p:cBhvr>
                                      <p:to>
                                        <p:strVal val="hidden"/>
                                      </p:to>
                                    </p:set>
                                  </p:childTnLst>
                                </p:cTn>
                              </p:par>
                            </p:childTnLst>
                          </p:cTn>
                        </p:par>
                        <p:par>
                          <p:cTn id="44" fill="hold">
                            <p:stCondLst>
                              <p:cond delay="10000"/>
                            </p:stCondLst>
                            <p:childTnLst>
                              <p:par>
                                <p:cTn id="45" presetID="10" presetClass="entr" presetSubtype="0" fill="remove"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1000"/>
                                        <p:tgtEl>
                                          <p:spTgt spid="45"/>
                                        </p:tgtEl>
                                      </p:cBhvr>
                                    </p:animEffect>
                                  </p:childTnLst>
                                </p:cTn>
                              </p:par>
                            </p:childTnLst>
                          </p:cTn>
                        </p:par>
                        <p:par>
                          <p:cTn id="48" fill="hold">
                            <p:stCondLst>
                              <p:cond delay="11000"/>
                            </p:stCondLst>
                            <p:childTnLst>
                              <p:par>
                                <p:cTn id="49" presetID="10" presetClass="exit" presetSubtype="0" fill="remove" nodeType="afterEffect">
                                  <p:stCondLst>
                                    <p:cond delay="0"/>
                                  </p:stCondLst>
                                  <p:childTnLst>
                                    <p:animEffect transition="out" filter="fade">
                                      <p:cBhvr>
                                        <p:cTn id="50" dur="1000"/>
                                        <p:tgtEl>
                                          <p:spTgt spid="45"/>
                                        </p:tgtEl>
                                      </p:cBhvr>
                                    </p:animEffect>
                                    <p:set>
                                      <p:cBhvr>
                                        <p:cTn id="51" dur="1" fill="hold">
                                          <p:stCondLst>
                                            <p:cond delay="999"/>
                                          </p:stCondLst>
                                        </p:cTn>
                                        <p:tgtEl>
                                          <p:spTgt spid="45"/>
                                        </p:tgtEl>
                                        <p:attrNameLst>
                                          <p:attrName>style.visibility</p:attrName>
                                        </p:attrNameLst>
                                      </p:cBhvr>
                                      <p:to>
                                        <p:strVal val="hidden"/>
                                      </p:to>
                                    </p:set>
                                  </p:childTnLst>
                                </p:cTn>
                              </p:par>
                            </p:childTnLst>
                          </p:cTn>
                        </p:par>
                        <p:par>
                          <p:cTn id="52" fill="hold">
                            <p:stCondLst>
                              <p:cond delay="12000"/>
                            </p:stCondLst>
                            <p:childTnLst>
                              <p:par>
                                <p:cTn id="53" presetID="10" presetClass="entr" presetSubtype="0" fill="remove" nodeType="after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1000"/>
                                        <p:tgtEl>
                                          <p:spTgt spid="40"/>
                                        </p:tgtEl>
                                      </p:cBhvr>
                                    </p:animEffect>
                                  </p:childTnLst>
                                </p:cTn>
                              </p:par>
                            </p:childTnLst>
                          </p:cTn>
                        </p:par>
                        <p:par>
                          <p:cTn id="56" fill="hold">
                            <p:stCondLst>
                              <p:cond delay="13000"/>
                            </p:stCondLst>
                            <p:childTnLst>
                              <p:par>
                                <p:cTn id="57" presetID="10" presetClass="exit" presetSubtype="0" fill="remove" nodeType="afterEffect">
                                  <p:stCondLst>
                                    <p:cond delay="0"/>
                                  </p:stCondLst>
                                  <p:childTnLst>
                                    <p:animEffect transition="out" filter="fade">
                                      <p:cBhvr>
                                        <p:cTn id="58" dur="1000"/>
                                        <p:tgtEl>
                                          <p:spTgt spid="40"/>
                                        </p:tgtEl>
                                      </p:cBhvr>
                                    </p:animEffect>
                                    <p:set>
                                      <p:cBhvr>
                                        <p:cTn id="59" dur="1" fill="hold">
                                          <p:stCondLst>
                                            <p:cond delay="999"/>
                                          </p:stCondLst>
                                        </p:cTn>
                                        <p:tgtEl>
                                          <p:spTgt spid="40"/>
                                        </p:tgtEl>
                                        <p:attrNameLst>
                                          <p:attrName>style.visibility</p:attrName>
                                        </p:attrNameLst>
                                      </p:cBhvr>
                                      <p:to>
                                        <p:strVal val="hidden"/>
                                      </p:to>
                                    </p:set>
                                  </p:childTnLst>
                                </p:cTn>
                              </p:par>
                            </p:childTnLst>
                          </p:cTn>
                        </p:par>
                        <p:par>
                          <p:cTn id="60" fill="hold">
                            <p:stCondLst>
                              <p:cond delay="14000"/>
                            </p:stCondLst>
                            <p:childTnLst>
                              <p:par>
                                <p:cTn id="61" presetID="10" presetClass="entr" presetSubtype="0" fill="remove" nodeType="after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1000"/>
                                        <p:tgtEl>
                                          <p:spTgt spid="35"/>
                                        </p:tgtEl>
                                      </p:cBhvr>
                                    </p:animEffect>
                                  </p:childTnLst>
                                </p:cTn>
                              </p:par>
                            </p:childTnLst>
                          </p:cTn>
                        </p:par>
                        <p:par>
                          <p:cTn id="64" fill="hold">
                            <p:stCondLst>
                              <p:cond delay="15000"/>
                            </p:stCondLst>
                            <p:childTnLst>
                              <p:par>
                                <p:cTn id="65" presetID="10" presetClass="exit" presetSubtype="0" fill="remove" nodeType="afterEffect">
                                  <p:stCondLst>
                                    <p:cond delay="0"/>
                                  </p:stCondLst>
                                  <p:childTnLst>
                                    <p:animEffect transition="out" filter="fade">
                                      <p:cBhvr>
                                        <p:cTn id="66" dur="1000"/>
                                        <p:tgtEl>
                                          <p:spTgt spid="35"/>
                                        </p:tgtEl>
                                      </p:cBhvr>
                                    </p:animEffect>
                                    <p:set>
                                      <p:cBhvr>
                                        <p:cTn id="67" dur="1" fill="hold">
                                          <p:stCondLst>
                                            <p:cond delay="999"/>
                                          </p:stCondLst>
                                        </p:cTn>
                                        <p:tgtEl>
                                          <p:spTgt spid="35"/>
                                        </p:tgtEl>
                                        <p:attrNameLst>
                                          <p:attrName>style.visibility</p:attrName>
                                        </p:attrNameLst>
                                      </p:cBhvr>
                                      <p:to>
                                        <p:strVal val="hidden"/>
                                      </p:to>
                                    </p:set>
                                  </p:childTnLst>
                                </p:cTn>
                              </p:par>
                            </p:childTnLst>
                          </p:cTn>
                        </p:par>
                        <p:par>
                          <p:cTn id="68" fill="hold">
                            <p:stCondLst>
                              <p:cond delay="16000"/>
                            </p:stCondLst>
                            <p:childTnLst>
                              <p:par>
                                <p:cTn id="69" presetID="10" presetClass="entr" presetSubtype="0" fill="remove" nodeType="afterEffect">
                                  <p:stCondLst>
                                    <p:cond delay="0"/>
                                  </p:stCondLst>
                                  <p:childTnLst>
                                    <p:set>
                                      <p:cBhvr>
                                        <p:cTn id="70" dur="1" fill="hold">
                                          <p:stCondLst>
                                            <p:cond delay="0"/>
                                          </p:stCondLst>
                                        </p:cTn>
                                        <p:tgtEl>
                                          <p:spTgt spid="70"/>
                                        </p:tgtEl>
                                        <p:attrNameLst>
                                          <p:attrName>style.visibility</p:attrName>
                                        </p:attrNameLst>
                                      </p:cBhvr>
                                      <p:to>
                                        <p:strVal val="visible"/>
                                      </p:to>
                                    </p:set>
                                    <p:animEffect transition="in" filter="fade">
                                      <p:cBhvr>
                                        <p:cTn id="71" dur="1000"/>
                                        <p:tgtEl>
                                          <p:spTgt spid="70"/>
                                        </p:tgtEl>
                                      </p:cBhvr>
                                    </p:animEffect>
                                  </p:childTnLst>
                                </p:cTn>
                              </p:par>
                            </p:childTnLst>
                          </p:cTn>
                        </p:par>
                        <p:par>
                          <p:cTn id="72" fill="hold">
                            <p:stCondLst>
                              <p:cond delay="17000"/>
                            </p:stCondLst>
                            <p:childTnLst>
                              <p:par>
                                <p:cTn id="73" presetID="10" presetClass="exit" presetSubtype="0" fill="remove" nodeType="afterEffect">
                                  <p:stCondLst>
                                    <p:cond delay="0"/>
                                  </p:stCondLst>
                                  <p:childTnLst>
                                    <p:animEffect transition="out" filter="fade">
                                      <p:cBhvr>
                                        <p:cTn id="74" dur="1000"/>
                                        <p:tgtEl>
                                          <p:spTgt spid="70"/>
                                        </p:tgtEl>
                                      </p:cBhvr>
                                    </p:animEffect>
                                    <p:set>
                                      <p:cBhvr>
                                        <p:cTn id="75" dur="1" fill="hold">
                                          <p:stCondLst>
                                            <p:cond delay="999"/>
                                          </p:stCondLst>
                                        </p:cTn>
                                        <p:tgtEl>
                                          <p:spTgt spid="70"/>
                                        </p:tgtEl>
                                        <p:attrNameLst>
                                          <p:attrName>style.visibility</p:attrName>
                                        </p:attrNameLst>
                                      </p:cBhvr>
                                      <p:to>
                                        <p:strVal val="hidden"/>
                                      </p:to>
                                    </p:set>
                                  </p:childTnLst>
                                </p:cTn>
                              </p:par>
                            </p:childTnLst>
                          </p:cTn>
                        </p:par>
                        <p:par>
                          <p:cTn id="76" fill="hold">
                            <p:stCondLst>
                              <p:cond delay="18000"/>
                            </p:stCondLst>
                            <p:childTnLst>
                              <p:par>
                                <p:cTn id="77" presetID="10" presetClass="entr" presetSubtype="0" fill="remove" nodeType="after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1000"/>
                                        <p:tgtEl>
                                          <p:spTgt spid="65"/>
                                        </p:tgtEl>
                                      </p:cBhvr>
                                    </p:animEffect>
                                  </p:childTnLst>
                                </p:cTn>
                              </p:par>
                            </p:childTnLst>
                          </p:cTn>
                        </p:par>
                        <p:par>
                          <p:cTn id="80" fill="hold">
                            <p:stCondLst>
                              <p:cond delay="19000"/>
                            </p:stCondLst>
                            <p:childTnLst>
                              <p:par>
                                <p:cTn id="81" presetID="10" presetClass="exit" presetSubtype="0" fill="remove" nodeType="afterEffect">
                                  <p:stCondLst>
                                    <p:cond delay="0"/>
                                  </p:stCondLst>
                                  <p:childTnLst>
                                    <p:animEffect transition="out" filter="fade">
                                      <p:cBhvr>
                                        <p:cTn id="82" dur="1000"/>
                                        <p:tgtEl>
                                          <p:spTgt spid="65"/>
                                        </p:tgtEl>
                                      </p:cBhvr>
                                    </p:animEffect>
                                    <p:set>
                                      <p:cBhvr>
                                        <p:cTn id="83" dur="1" fill="hold">
                                          <p:stCondLst>
                                            <p:cond delay="999"/>
                                          </p:stCondLst>
                                        </p:cTn>
                                        <p:tgtEl>
                                          <p:spTgt spid="65"/>
                                        </p:tgtEl>
                                        <p:attrNameLst>
                                          <p:attrName>style.visibility</p:attrName>
                                        </p:attrNameLst>
                                      </p:cBhvr>
                                      <p:to>
                                        <p:strVal val="hidden"/>
                                      </p:to>
                                    </p:set>
                                  </p:childTnLst>
                                </p:cTn>
                              </p:par>
                            </p:childTnLst>
                          </p:cTn>
                        </p:par>
                        <p:par>
                          <p:cTn id="84" fill="hold">
                            <p:stCondLst>
                              <p:cond delay="20000"/>
                            </p:stCondLst>
                            <p:childTnLst>
                              <p:par>
                                <p:cTn id="85" presetID="10" presetClass="entr" presetSubtype="0" fill="remove" nodeType="after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1000"/>
                                        <p:tgtEl>
                                          <p:spTgt spid="60"/>
                                        </p:tgtEl>
                                      </p:cBhvr>
                                    </p:animEffect>
                                  </p:childTnLst>
                                </p:cTn>
                              </p:par>
                            </p:childTnLst>
                          </p:cTn>
                        </p:par>
                        <p:par>
                          <p:cTn id="88" fill="hold">
                            <p:stCondLst>
                              <p:cond delay="21000"/>
                            </p:stCondLst>
                            <p:childTnLst>
                              <p:par>
                                <p:cTn id="89" presetID="10" presetClass="exit" presetSubtype="0" fill="remove" nodeType="afterEffect">
                                  <p:stCondLst>
                                    <p:cond delay="0"/>
                                  </p:stCondLst>
                                  <p:childTnLst>
                                    <p:animEffect transition="out" filter="fade">
                                      <p:cBhvr>
                                        <p:cTn id="90" dur="1000"/>
                                        <p:tgtEl>
                                          <p:spTgt spid="60"/>
                                        </p:tgtEl>
                                      </p:cBhvr>
                                    </p:animEffect>
                                    <p:set>
                                      <p:cBhvr>
                                        <p:cTn id="91" dur="1" fill="hold">
                                          <p:stCondLst>
                                            <p:cond delay="999"/>
                                          </p:stCondLst>
                                        </p:cTn>
                                        <p:tgtEl>
                                          <p:spTgt spid="60"/>
                                        </p:tgtEl>
                                        <p:attrNameLst>
                                          <p:attrName>style.visibility</p:attrName>
                                        </p:attrNameLst>
                                      </p:cBhvr>
                                      <p:to>
                                        <p:strVal val="hidden"/>
                                      </p:to>
                                    </p:set>
                                  </p:childTnLst>
                                </p:cTn>
                              </p:par>
                            </p:childTnLst>
                          </p:cTn>
                        </p:par>
                        <p:par>
                          <p:cTn id="92" fill="hold">
                            <p:stCondLst>
                              <p:cond delay="22000"/>
                            </p:stCondLst>
                            <p:childTnLst>
                              <p:par>
                                <p:cTn id="93" presetID="10" presetClass="entr" presetSubtype="0" fill="remove" nodeType="after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fade">
                                      <p:cBhvr>
                                        <p:cTn id="95" dur="1000"/>
                                        <p:tgtEl>
                                          <p:spTgt spid="55"/>
                                        </p:tgtEl>
                                      </p:cBhvr>
                                    </p:animEffect>
                                  </p:childTnLst>
                                </p:cTn>
                              </p:par>
                            </p:childTnLst>
                          </p:cTn>
                        </p:par>
                        <p:par>
                          <p:cTn id="96" fill="hold">
                            <p:stCondLst>
                              <p:cond delay="23000"/>
                            </p:stCondLst>
                            <p:childTnLst>
                              <p:par>
                                <p:cTn id="97" presetID="10" presetClass="exit" presetSubtype="0" fill="remove" nodeType="afterEffect">
                                  <p:stCondLst>
                                    <p:cond delay="0"/>
                                  </p:stCondLst>
                                  <p:childTnLst>
                                    <p:animEffect transition="out" filter="fade">
                                      <p:cBhvr>
                                        <p:cTn id="98" dur="1000"/>
                                        <p:tgtEl>
                                          <p:spTgt spid="55"/>
                                        </p:tgtEl>
                                      </p:cBhvr>
                                    </p:animEffect>
                                    <p:set>
                                      <p:cBhvr>
                                        <p:cTn id="99" dur="1" fill="hold">
                                          <p:stCondLst>
                                            <p:cond delay="999"/>
                                          </p:stCondLst>
                                        </p:cTn>
                                        <p:tgtEl>
                                          <p:spTgt spid="55"/>
                                        </p:tgtEl>
                                        <p:attrNameLst>
                                          <p:attrName>style.visibility</p:attrName>
                                        </p:attrNameLst>
                                      </p:cBhvr>
                                      <p:to>
                                        <p:strVal val="hidden"/>
                                      </p:to>
                                    </p:set>
                                  </p:childTnLst>
                                </p:cTn>
                              </p:par>
                            </p:childTnLst>
                          </p:cTn>
                        </p:par>
                        <p:par>
                          <p:cTn id="100" fill="hold">
                            <p:stCondLst>
                              <p:cond delay="24000"/>
                            </p:stCondLst>
                            <p:childTnLst>
                              <p:par>
                                <p:cTn id="101" presetID="10" presetClass="entr" presetSubtype="0" fill="remove" nodeType="afterEffect">
                                  <p:stCondLst>
                                    <p:cond delay="0"/>
                                  </p:stCondLst>
                                  <p:childTnLst>
                                    <p:set>
                                      <p:cBhvr>
                                        <p:cTn id="102" dur="1" fill="hold">
                                          <p:stCondLst>
                                            <p:cond delay="0"/>
                                          </p:stCondLst>
                                        </p:cTn>
                                        <p:tgtEl>
                                          <p:spTgt spid="90"/>
                                        </p:tgtEl>
                                        <p:attrNameLst>
                                          <p:attrName>style.visibility</p:attrName>
                                        </p:attrNameLst>
                                      </p:cBhvr>
                                      <p:to>
                                        <p:strVal val="visible"/>
                                      </p:to>
                                    </p:set>
                                    <p:animEffect transition="in" filter="fade">
                                      <p:cBhvr>
                                        <p:cTn id="103" dur="1000"/>
                                        <p:tgtEl>
                                          <p:spTgt spid="90"/>
                                        </p:tgtEl>
                                      </p:cBhvr>
                                    </p:animEffect>
                                  </p:childTnLst>
                                </p:cTn>
                              </p:par>
                            </p:childTnLst>
                          </p:cTn>
                        </p:par>
                        <p:par>
                          <p:cTn id="104" fill="hold">
                            <p:stCondLst>
                              <p:cond delay="25000"/>
                            </p:stCondLst>
                            <p:childTnLst>
                              <p:par>
                                <p:cTn id="105" presetID="10" presetClass="exit" presetSubtype="0" fill="remove" nodeType="afterEffect">
                                  <p:stCondLst>
                                    <p:cond delay="0"/>
                                  </p:stCondLst>
                                  <p:childTnLst>
                                    <p:animEffect transition="out" filter="fade">
                                      <p:cBhvr>
                                        <p:cTn id="106" dur="1000"/>
                                        <p:tgtEl>
                                          <p:spTgt spid="90"/>
                                        </p:tgtEl>
                                      </p:cBhvr>
                                    </p:animEffect>
                                    <p:set>
                                      <p:cBhvr>
                                        <p:cTn id="107" dur="1" fill="hold">
                                          <p:stCondLst>
                                            <p:cond delay="999"/>
                                          </p:stCondLst>
                                        </p:cTn>
                                        <p:tgtEl>
                                          <p:spTgt spid="90"/>
                                        </p:tgtEl>
                                        <p:attrNameLst>
                                          <p:attrName>style.visibility</p:attrName>
                                        </p:attrNameLst>
                                      </p:cBhvr>
                                      <p:to>
                                        <p:strVal val="hidden"/>
                                      </p:to>
                                    </p:set>
                                  </p:childTnLst>
                                </p:cTn>
                              </p:par>
                            </p:childTnLst>
                          </p:cTn>
                        </p:par>
                        <p:par>
                          <p:cTn id="108" fill="hold">
                            <p:stCondLst>
                              <p:cond delay="26000"/>
                            </p:stCondLst>
                            <p:childTnLst>
                              <p:par>
                                <p:cTn id="109" presetID="10" presetClass="entr" presetSubtype="0" fill="remove" nodeType="afterEffect">
                                  <p:stCondLst>
                                    <p:cond delay="0"/>
                                  </p:stCondLst>
                                  <p:childTnLst>
                                    <p:set>
                                      <p:cBhvr>
                                        <p:cTn id="110" dur="1" fill="hold">
                                          <p:stCondLst>
                                            <p:cond delay="0"/>
                                          </p:stCondLst>
                                        </p:cTn>
                                        <p:tgtEl>
                                          <p:spTgt spid="85"/>
                                        </p:tgtEl>
                                        <p:attrNameLst>
                                          <p:attrName>style.visibility</p:attrName>
                                        </p:attrNameLst>
                                      </p:cBhvr>
                                      <p:to>
                                        <p:strVal val="visible"/>
                                      </p:to>
                                    </p:set>
                                    <p:animEffect transition="in" filter="fade">
                                      <p:cBhvr>
                                        <p:cTn id="111" dur="1000"/>
                                        <p:tgtEl>
                                          <p:spTgt spid="85"/>
                                        </p:tgtEl>
                                      </p:cBhvr>
                                    </p:animEffect>
                                  </p:childTnLst>
                                </p:cTn>
                              </p:par>
                            </p:childTnLst>
                          </p:cTn>
                        </p:par>
                        <p:par>
                          <p:cTn id="112" fill="hold">
                            <p:stCondLst>
                              <p:cond delay="27000"/>
                            </p:stCondLst>
                            <p:childTnLst>
                              <p:par>
                                <p:cTn id="113" presetID="10" presetClass="exit" presetSubtype="0" fill="remove" nodeType="afterEffect">
                                  <p:stCondLst>
                                    <p:cond delay="0"/>
                                  </p:stCondLst>
                                  <p:childTnLst>
                                    <p:animEffect transition="out" filter="fade">
                                      <p:cBhvr>
                                        <p:cTn id="114" dur="1000"/>
                                        <p:tgtEl>
                                          <p:spTgt spid="85"/>
                                        </p:tgtEl>
                                      </p:cBhvr>
                                    </p:animEffect>
                                    <p:set>
                                      <p:cBhvr>
                                        <p:cTn id="115" dur="1" fill="hold">
                                          <p:stCondLst>
                                            <p:cond delay="999"/>
                                          </p:stCondLst>
                                        </p:cTn>
                                        <p:tgtEl>
                                          <p:spTgt spid="85"/>
                                        </p:tgtEl>
                                        <p:attrNameLst>
                                          <p:attrName>style.visibility</p:attrName>
                                        </p:attrNameLst>
                                      </p:cBhvr>
                                      <p:to>
                                        <p:strVal val="hidden"/>
                                      </p:to>
                                    </p:set>
                                  </p:childTnLst>
                                </p:cTn>
                              </p:par>
                            </p:childTnLst>
                          </p:cTn>
                        </p:par>
                        <p:par>
                          <p:cTn id="116" fill="hold">
                            <p:stCondLst>
                              <p:cond delay="28000"/>
                            </p:stCondLst>
                            <p:childTnLst>
                              <p:par>
                                <p:cTn id="117" presetID="10" presetClass="entr" presetSubtype="0" fill="remove" nodeType="afterEffect">
                                  <p:stCondLst>
                                    <p:cond delay="0"/>
                                  </p:stCondLst>
                                  <p:childTnLst>
                                    <p:set>
                                      <p:cBhvr>
                                        <p:cTn id="118" dur="1" fill="hold">
                                          <p:stCondLst>
                                            <p:cond delay="0"/>
                                          </p:stCondLst>
                                        </p:cTn>
                                        <p:tgtEl>
                                          <p:spTgt spid="80"/>
                                        </p:tgtEl>
                                        <p:attrNameLst>
                                          <p:attrName>style.visibility</p:attrName>
                                        </p:attrNameLst>
                                      </p:cBhvr>
                                      <p:to>
                                        <p:strVal val="visible"/>
                                      </p:to>
                                    </p:set>
                                    <p:animEffect transition="in" filter="fade">
                                      <p:cBhvr>
                                        <p:cTn id="119" dur="1000"/>
                                        <p:tgtEl>
                                          <p:spTgt spid="80"/>
                                        </p:tgtEl>
                                      </p:cBhvr>
                                    </p:animEffect>
                                  </p:childTnLst>
                                </p:cTn>
                              </p:par>
                            </p:childTnLst>
                          </p:cTn>
                        </p:par>
                        <p:par>
                          <p:cTn id="120" fill="hold">
                            <p:stCondLst>
                              <p:cond delay="29000"/>
                            </p:stCondLst>
                            <p:childTnLst>
                              <p:par>
                                <p:cTn id="121" presetID="10" presetClass="exit" presetSubtype="0" fill="remove" nodeType="afterEffect">
                                  <p:stCondLst>
                                    <p:cond delay="0"/>
                                  </p:stCondLst>
                                  <p:childTnLst>
                                    <p:animEffect transition="out" filter="fade">
                                      <p:cBhvr>
                                        <p:cTn id="122" dur="1000"/>
                                        <p:tgtEl>
                                          <p:spTgt spid="80"/>
                                        </p:tgtEl>
                                      </p:cBhvr>
                                    </p:animEffect>
                                    <p:set>
                                      <p:cBhvr>
                                        <p:cTn id="123" dur="1" fill="hold">
                                          <p:stCondLst>
                                            <p:cond delay="999"/>
                                          </p:stCondLst>
                                        </p:cTn>
                                        <p:tgtEl>
                                          <p:spTgt spid="80"/>
                                        </p:tgtEl>
                                        <p:attrNameLst>
                                          <p:attrName>style.visibility</p:attrName>
                                        </p:attrNameLst>
                                      </p:cBhvr>
                                      <p:to>
                                        <p:strVal val="hidden"/>
                                      </p:to>
                                    </p:set>
                                  </p:childTnLst>
                                </p:cTn>
                              </p:par>
                            </p:childTnLst>
                          </p:cTn>
                        </p:par>
                        <p:par>
                          <p:cTn id="124" fill="hold">
                            <p:stCondLst>
                              <p:cond delay="30000"/>
                            </p:stCondLst>
                            <p:childTnLst>
                              <p:par>
                                <p:cTn id="125" presetID="10" presetClass="entr" presetSubtype="0" fill="remove" nodeType="afterEffect">
                                  <p:stCondLst>
                                    <p:cond delay="0"/>
                                  </p:stCondLst>
                                  <p:childTnLst>
                                    <p:set>
                                      <p:cBhvr>
                                        <p:cTn id="126" dur="1" fill="hold">
                                          <p:stCondLst>
                                            <p:cond delay="0"/>
                                          </p:stCondLst>
                                        </p:cTn>
                                        <p:tgtEl>
                                          <p:spTgt spid="75"/>
                                        </p:tgtEl>
                                        <p:attrNameLst>
                                          <p:attrName>style.visibility</p:attrName>
                                        </p:attrNameLst>
                                      </p:cBhvr>
                                      <p:to>
                                        <p:strVal val="visible"/>
                                      </p:to>
                                    </p:set>
                                    <p:animEffect transition="in" filter="fade">
                                      <p:cBhvr>
                                        <p:cTn id="127" dur="1000"/>
                                        <p:tgtEl>
                                          <p:spTgt spid="75"/>
                                        </p:tgtEl>
                                      </p:cBhvr>
                                    </p:animEffect>
                                  </p:childTnLst>
                                </p:cTn>
                              </p:par>
                            </p:childTnLst>
                          </p:cTn>
                        </p:par>
                        <p:par>
                          <p:cTn id="128" fill="hold">
                            <p:stCondLst>
                              <p:cond delay="31000"/>
                            </p:stCondLst>
                            <p:childTnLst>
                              <p:par>
                                <p:cTn id="129" presetID="10" presetClass="exit" presetSubtype="0" fill="remove" nodeType="afterEffect">
                                  <p:stCondLst>
                                    <p:cond delay="0"/>
                                  </p:stCondLst>
                                  <p:childTnLst>
                                    <p:animEffect transition="out" filter="fade">
                                      <p:cBhvr>
                                        <p:cTn id="130" dur="1000"/>
                                        <p:tgtEl>
                                          <p:spTgt spid="75"/>
                                        </p:tgtEl>
                                      </p:cBhvr>
                                    </p:animEffect>
                                    <p:set>
                                      <p:cBhvr>
                                        <p:cTn id="131" dur="1" fill="hold">
                                          <p:stCondLst>
                                            <p:cond delay="999"/>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pic>
        <p:nvPicPr>
          <p:cNvPr id="6" name="Picture 5">
            <a:extLst>
              <a:ext uri="{FF2B5EF4-FFF2-40B4-BE49-F238E27FC236}">
                <a16:creationId xmlns:a16="http://schemas.microsoft.com/office/drawing/2014/main" id="{FDFCD2EC-81DB-10BD-DCA0-F2C0BB5AE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7267" y="2784013"/>
            <a:ext cx="630937" cy="134112"/>
          </a:xfrm>
          <a:prstGeom prst="rect">
            <a:avLst/>
          </a:prstGeom>
        </p:spPr>
      </p:pic>
    </p:spTree>
    <p:extLst>
      <p:ext uri="{BB962C8B-B14F-4D97-AF65-F5344CB8AC3E}">
        <p14:creationId xmlns:p14="http://schemas.microsoft.com/office/powerpoint/2010/main" val="16884745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pic>
        <p:nvPicPr>
          <p:cNvPr id="6" name="Picture 5">
            <a:extLst>
              <a:ext uri="{FF2B5EF4-FFF2-40B4-BE49-F238E27FC236}">
                <a16:creationId xmlns:a16="http://schemas.microsoft.com/office/drawing/2014/main" id="{FDFCD2EC-81DB-10BD-DCA0-F2C0BB5AE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7267" y="2921799"/>
            <a:ext cx="630937" cy="134112"/>
          </a:xfrm>
          <a:prstGeom prst="rect">
            <a:avLst/>
          </a:prstGeom>
        </p:spPr>
      </p:pic>
      <p:cxnSp>
        <p:nvCxnSpPr>
          <p:cNvPr id="24" name="Straight Connector 23">
            <a:extLst>
              <a:ext uri="{FF2B5EF4-FFF2-40B4-BE49-F238E27FC236}">
                <a16:creationId xmlns:a16="http://schemas.microsoft.com/office/drawing/2014/main" id="{5E151C01-94AD-FEF9-B1D9-E7DEBFC102D2}"/>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6387B4F-2D17-9F64-78B1-5BE3C2F1E5B7}"/>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F6BBE48-2638-D27B-B87E-85506623DBA8}"/>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4813D65-5033-B62E-0B44-51CF58A0CFAE}"/>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E93A86-58F6-B849-B5D3-EF605C76D4B6}"/>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FF999C2-A924-94D7-6E81-E80CC7759355}"/>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B6A698E-2AC2-0F06-DB38-0C68F7FC0A41}"/>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C6BBA6F-9D55-2F46-369A-90424B3257B5}"/>
              </a:ext>
            </a:extLst>
          </p:cNvPr>
          <p:cNvCxnSpPr>
            <a:cxnSpLocks/>
          </p:cNvCxnSpPr>
          <p:nvPr/>
        </p:nvCxnSpPr>
        <p:spPr>
          <a:xfrm>
            <a:off x="2458479" y="2386258"/>
            <a:ext cx="618381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12E9962-09A8-17FE-A7FD-CEC81AFD3CF7}"/>
              </a:ext>
            </a:extLst>
          </p:cNvPr>
          <p:cNvCxnSpPr>
            <a:cxnSpLocks/>
          </p:cNvCxnSpPr>
          <p:nvPr/>
        </p:nvCxnSpPr>
        <p:spPr>
          <a:xfrm flipV="1">
            <a:off x="5628238"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ABD285A-6A92-6E18-029F-6BD4B5359378}"/>
              </a:ext>
            </a:extLst>
          </p:cNvPr>
          <p:cNvCxnSpPr>
            <a:cxnSpLocks/>
          </p:cNvCxnSpPr>
          <p:nvPr/>
        </p:nvCxnSpPr>
        <p:spPr>
          <a:xfrm>
            <a:off x="2644596" y="5324559"/>
            <a:ext cx="2983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F33726A-5411-A5E5-E883-4247BE26E95A}"/>
              </a:ext>
            </a:extLst>
          </p:cNvPr>
          <p:cNvCxnSpPr>
            <a:cxnSpLocks/>
          </p:cNvCxnSpPr>
          <p:nvPr/>
        </p:nvCxnSpPr>
        <p:spPr>
          <a:xfrm flipV="1">
            <a:off x="2644596" y="3437092"/>
            <a:ext cx="0" cy="1887467"/>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1F5E101-E29D-7EB9-61C8-92C053CC24F0}"/>
              </a:ext>
            </a:extLst>
          </p:cNvPr>
          <p:cNvCxnSpPr>
            <a:cxnSpLocks/>
          </p:cNvCxnSpPr>
          <p:nvPr/>
        </p:nvCxnSpPr>
        <p:spPr>
          <a:xfrm>
            <a:off x="2644596" y="3429000"/>
            <a:ext cx="4106933"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4AEB489-99E4-2A8D-4C2F-2ACB2A55D8DB}"/>
              </a:ext>
            </a:extLst>
          </p:cNvPr>
          <p:cNvCxnSpPr>
            <a:cxnSpLocks/>
          </p:cNvCxnSpPr>
          <p:nvPr/>
        </p:nvCxnSpPr>
        <p:spPr>
          <a:xfrm flipV="1">
            <a:off x="6751529" y="3055911"/>
            <a:ext cx="0" cy="381181"/>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09F9269-3734-EA84-BE1E-F0351119C3DC}"/>
              </a:ext>
            </a:extLst>
          </p:cNvPr>
          <p:cNvCxnSpPr>
            <a:cxnSpLocks/>
          </p:cNvCxnSpPr>
          <p:nvPr/>
        </p:nvCxnSpPr>
        <p:spPr>
          <a:xfrm>
            <a:off x="6751529" y="3082036"/>
            <a:ext cx="1327221"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7C55F12-6D50-14BC-5F84-B4648D51E548}"/>
              </a:ext>
            </a:extLst>
          </p:cNvPr>
          <p:cNvCxnSpPr>
            <a:cxnSpLocks/>
          </p:cNvCxnSpPr>
          <p:nvPr/>
        </p:nvCxnSpPr>
        <p:spPr>
          <a:xfrm flipV="1">
            <a:off x="8065639" y="3082036"/>
            <a:ext cx="0" cy="22425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131397F-A785-7449-4510-A01F30A814C3}"/>
              </a:ext>
            </a:extLst>
          </p:cNvPr>
          <p:cNvCxnSpPr>
            <a:cxnSpLocks/>
          </p:cNvCxnSpPr>
          <p:nvPr/>
        </p:nvCxnSpPr>
        <p:spPr>
          <a:xfrm>
            <a:off x="6367346" y="5324559"/>
            <a:ext cx="1711404"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0DF9741-0B01-8546-9E50-11A303A66390}"/>
              </a:ext>
            </a:extLst>
          </p:cNvPr>
          <p:cNvCxnSpPr>
            <a:cxnSpLocks/>
          </p:cNvCxnSpPr>
          <p:nvPr/>
        </p:nvCxnSpPr>
        <p:spPr>
          <a:xfrm flipV="1">
            <a:off x="6367346" y="5324559"/>
            <a:ext cx="0" cy="6858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2900A862-7F9C-DF31-0BDF-A58865E28D97}"/>
              </a:ext>
            </a:extLst>
          </p:cNvPr>
          <p:cNvSpPr txBox="1">
            <a:spLocks/>
          </p:cNvSpPr>
          <p:nvPr/>
        </p:nvSpPr>
        <p:spPr>
          <a:xfrm>
            <a:off x="403972" y="5667470"/>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R3</a:t>
            </a:r>
          </a:p>
        </p:txBody>
      </p:sp>
      <p:sp>
        <p:nvSpPr>
          <p:cNvPr id="16" name="Title 1">
            <a:extLst>
              <a:ext uri="{FF2B5EF4-FFF2-40B4-BE49-F238E27FC236}">
                <a16:creationId xmlns:a16="http://schemas.microsoft.com/office/drawing/2014/main" id="{08BE2D54-4EEC-0E05-49CC-4BFC4936088F}"/>
              </a:ext>
            </a:extLst>
          </p:cNvPr>
          <p:cNvSpPr txBox="1">
            <a:spLocks/>
          </p:cNvSpPr>
          <p:nvPr/>
        </p:nvSpPr>
        <p:spPr>
          <a:xfrm>
            <a:off x="10363973" y="5667470"/>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chemeClr val="accent6"/>
                </a:solidFill>
                <a:latin typeface="Montserrat" panose="00000500000000000000" pitchFamily="2" charset="0"/>
              </a:rPr>
              <a:t>C3</a:t>
            </a:r>
          </a:p>
        </p:txBody>
      </p:sp>
    </p:spTree>
    <p:extLst>
      <p:ext uri="{BB962C8B-B14F-4D97-AF65-F5344CB8AC3E}">
        <p14:creationId xmlns:p14="http://schemas.microsoft.com/office/powerpoint/2010/main" val="38547124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right)">
                                      <p:cBhvr>
                                        <p:cTn id="11" dur="500"/>
                                        <p:tgtEl>
                                          <p:spTgt spid="25"/>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par>
                          <p:cTn id="20" fill="hold">
                            <p:stCondLst>
                              <p:cond delay="2000"/>
                            </p:stCondLst>
                            <p:childTnLst>
                              <p:par>
                                <p:cTn id="21" presetID="10" presetClass="exit" presetSubtype="0" fill="hold" nodeType="afterEffect">
                                  <p:stCondLst>
                                    <p:cond delay="0"/>
                                  </p:stCondLst>
                                  <p:childTnLst>
                                    <p:animEffect transition="out" filter="fade">
                                      <p:cBhvr>
                                        <p:cTn id="22" dur="500"/>
                                        <p:tgtEl>
                                          <p:spTgt spid="24"/>
                                        </p:tgtEl>
                                      </p:cBhvr>
                                    </p:animEffect>
                                    <p:set>
                                      <p:cBhvr>
                                        <p:cTn id="23" dur="1" fill="hold">
                                          <p:stCondLst>
                                            <p:cond delay="499"/>
                                          </p:stCondLst>
                                        </p:cTn>
                                        <p:tgtEl>
                                          <p:spTgt spid="24"/>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25"/>
                                        </p:tgtEl>
                                      </p:cBhvr>
                                    </p:animEffect>
                                    <p:set>
                                      <p:cBhvr>
                                        <p:cTn id="26" dur="1" fill="hold">
                                          <p:stCondLst>
                                            <p:cond delay="499"/>
                                          </p:stCondLst>
                                        </p:cTn>
                                        <p:tgtEl>
                                          <p:spTgt spid="25"/>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7"/>
                                        </p:tgtEl>
                                      </p:cBhvr>
                                    </p:animEffect>
                                    <p:set>
                                      <p:cBhvr>
                                        <p:cTn id="32" dur="1" fill="hold">
                                          <p:stCondLst>
                                            <p:cond delay="499"/>
                                          </p:stCondLst>
                                        </p:cTn>
                                        <p:tgtEl>
                                          <p:spTgt spid="27"/>
                                        </p:tgtEl>
                                        <p:attrNameLst>
                                          <p:attrName>style.visibility</p:attrName>
                                        </p:attrNameLst>
                                      </p:cBhvr>
                                      <p:to>
                                        <p:strVal val="hidden"/>
                                      </p:to>
                                    </p:set>
                                  </p:childTnLst>
                                </p:cTn>
                              </p:par>
                            </p:childTnLst>
                          </p:cTn>
                        </p:par>
                        <p:par>
                          <p:cTn id="33" fill="hold">
                            <p:stCondLst>
                              <p:cond delay="2500"/>
                            </p:stCondLst>
                            <p:childTnLst>
                              <p:par>
                                <p:cTn id="34" presetID="22" presetClass="entr" presetSubtype="4" fill="hold" nodeType="after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down)">
                                      <p:cBhvr>
                                        <p:cTn id="36" dur="500"/>
                                        <p:tgtEl>
                                          <p:spTgt spid="28"/>
                                        </p:tgtEl>
                                      </p:cBhvr>
                                    </p:animEffect>
                                  </p:childTnLst>
                                </p:cTn>
                              </p:par>
                            </p:childTnLst>
                          </p:cTn>
                        </p:par>
                        <p:par>
                          <p:cTn id="37" fill="hold">
                            <p:stCondLst>
                              <p:cond delay="3000"/>
                            </p:stCondLst>
                            <p:childTnLst>
                              <p:par>
                                <p:cTn id="38" presetID="22" presetClass="entr" presetSubtype="2"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right)">
                                      <p:cBhvr>
                                        <p:cTn id="40" dur="500"/>
                                        <p:tgtEl>
                                          <p:spTgt spid="29"/>
                                        </p:tgtEl>
                                      </p:cBhvr>
                                    </p:animEffect>
                                  </p:childTnLst>
                                </p:cTn>
                              </p:par>
                            </p:childTnLst>
                          </p:cTn>
                        </p:par>
                        <p:par>
                          <p:cTn id="41" fill="hold">
                            <p:stCondLst>
                              <p:cond delay="3500"/>
                            </p:stCondLst>
                            <p:childTnLst>
                              <p:par>
                                <p:cTn id="42" presetID="22" presetClass="entr" presetSubtype="4" fill="hold" nodeType="after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down)">
                                      <p:cBhvr>
                                        <p:cTn id="44" dur="500"/>
                                        <p:tgtEl>
                                          <p:spTgt spid="30"/>
                                        </p:tgtEl>
                                      </p:cBhvr>
                                    </p:animEffect>
                                  </p:childTnLst>
                                </p:cTn>
                              </p:par>
                            </p:childTnLst>
                          </p:cTn>
                        </p:par>
                        <p:par>
                          <p:cTn id="45" fill="hold">
                            <p:stCondLst>
                              <p:cond delay="4000"/>
                            </p:stCondLst>
                            <p:childTnLst>
                              <p:par>
                                <p:cTn id="46" presetID="22" presetClass="entr" presetSubtype="8" fill="hold" nodeType="after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left)">
                                      <p:cBhvr>
                                        <p:cTn id="48" dur="500"/>
                                        <p:tgtEl>
                                          <p:spTgt spid="31"/>
                                        </p:tgtEl>
                                      </p:cBhvr>
                                    </p:animEffect>
                                  </p:childTnLst>
                                </p:cTn>
                              </p:par>
                            </p:childTnLst>
                          </p:cTn>
                        </p:par>
                        <p:par>
                          <p:cTn id="49" fill="hold">
                            <p:stCondLst>
                              <p:cond delay="4500"/>
                            </p:stCondLst>
                            <p:childTnLst>
                              <p:par>
                                <p:cTn id="50" presetID="10" presetClass="exit" presetSubtype="0" fill="hold" nodeType="afterEffect">
                                  <p:stCondLst>
                                    <p:cond delay="0"/>
                                  </p:stCondLst>
                                  <p:childTnLst>
                                    <p:animEffect transition="out" filter="fade">
                                      <p:cBhvr>
                                        <p:cTn id="51" dur="500"/>
                                        <p:tgtEl>
                                          <p:spTgt spid="28"/>
                                        </p:tgtEl>
                                      </p:cBhvr>
                                    </p:animEffect>
                                    <p:set>
                                      <p:cBhvr>
                                        <p:cTn id="52" dur="1" fill="hold">
                                          <p:stCondLst>
                                            <p:cond delay="499"/>
                                          </p:stCondLst>
                                        </p:cTn>
                                        <p:tgtEl>
                                          <p:spTgt spid="28"/>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29"/>
                                        </p:tgtEl>
                                      </p:cBhvr>
                                    </p:animEffect>
                                    <p:set>
                                      <p:cBhvr>
                                        <p:cTn id="55" dur="1" fill="hold">
                                          <p:stCondLst>
                                            <p:cond delay="499"/>
                                          </p:stCondLst>
                                        </p:cTn>
                                        <p:tgtEl>
                                          <p:spTgt spid="29"/>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30"/>
                                        </p:tgtEl>
                                      </p:cBhvr>
                                    </p:animEffect>
                                    <p:set>
                                      <p:cBhvr>
                                        <p:cTn id="58" dur="1" fill="hold">
                                          <p:stCondLst>
                                            <p:cond delay="499"/>
                                          </p:stCondLst>
                                        </p:cTn>
                                        <p:tgtEl>
                                          <p:spTgt spid="30"/>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31"/>
                                        </p:tgtEl>
                                      </p:cBhvr>
                                    </p:animEffect>
                                    <p:set>
                                      <p:cBhvr>
                                        <p:cTn id="61" dur="1" fill="hold">
                                          <p:stCondLst>
                                            <p:cond delay="499"/>
                                          </p:stCondLst>
                                        </p:cTn>
                                        <p:tgtEl>
                                          <p:spTgt spid="31"/>
                                        </p:tgtEl>
                                        <p:attrNameLst>
                                          <p:attrName>style.visibility</p:attrName>
                                        </p:attrNameLst>
                                      </p:cBhvr>
                                      <p:to>
                                        <p:strVal val="hidden"/>
                                      </p:to>
                                    </p:set>
                                  </p:childTnLst>
                                </p:cTn>
                              </p:par>
                            </p:childTnLst>
                          </p:cTn>
                        </p:par>
                        <p:par>
                          <p:cTn id="62" fill="hold">
                            <p:stCondLst>
                              <p:cond delay="5000"/>
                            </p:stCondLst>
                            <p:childTnLst>
                              <p:par>
                                <p:cTn id="63" presetID="22" presetClass="entr" presetSubtype="4" fill="hold"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down)">
                                      <p:cBhvr>
                                        <p:cTn id="65" dur="500"/>
                                        <p:tgtEl>
                                          <p:spTgt spid="32"/>
                                        </p:tgtEl>
                                      </p:cBhvr>
                                    </p:animEffect>
                                  </p:childTnLst>
                                </p:cTn>
                              </p:par>
                            </p:childTnLst>
                          </p:cTn>
                        </p:par>
                        <p:par>
                          <p:cTn id="66" fill="hold">
                            <p:stCondLst>
                              <p:cond delay="5500"/>
                            </p:stCondLst>
                            <p:childTnLst>
                              <p:par>
                                <p:cTn id="67" presetID="22" presetClass="entr" presetSubtype="2" fill="hold"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right)">
                                      <p:cBhvr>
                                        <p:cTn id="69" dur="500"/>
                                        <p:tgtEl>
                                          <p:spTgt spid="33"/>
                                        </p:tgtEl>
                                      </p:cBhvr>
                                    </p:animEffect>
                                  </p:childTnLst>
                                </p:cTn>
                              </p:par>
                            </p:childTnLst>
                          </p:cTn>
                        </p:par>
                        <p:par>
                          <p:cTn id="70" fill="hold">
                            <p:stCondLst>
                              <p:cond delay="6000"/>
                            </p:stCondLst>
                            <p:childTnLst>
                              <p:par>
                                <p:cTn id="71" presetID="22" presetClass="entr" presetSubtype="4" fill="hold" nodeType="after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wipe(down)">
                                      <p:cBhvr>
                                        <p:cTn id="73" dur="500"/>
                                        <p:tgtEl>
                                          <p:spTgt spid="34"/>
                                        </p:tgtEl>
                                      </p:cBhvr>
                                    </p:animEffect>
                                  </p:childTnLst>
                                </p:cTn>
                              </p:par>
                            </p:childTnLst>
                          </p:cTn>
                        </p:par>
                        <p:par>
                          <p:cTn id="74" fill="hold">
                            <p:stCondLst>
                              <p:cond delay="6500"/>
                            </p:stCondLst>
                            <p:childTnLst>
                              <p:par>
                                <p:cTn id="75" presetID="22" presetClass="entr" presetSubtype="8" fill="hold"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wipe(left)">
                                      <p:cBhvr>
                                        <p:cTn id="77" dur="500"/>
                                        <p:tgtEl>
                                          <p:spTgt spid="35"/>
                                        </p:tgtEl>
                                      </p:cBhvr>
                                    </p:animEffect>
                                  </p:childTnLst>
                                </p:cTn>
                              </p:par>
                            </p:childTnLst>
                          </p:cTn>
                        </p:par>
                        <p:par>
                          <p:cTn id="78" fill="hold">
                            <p:stCondLst>
                              <p:cond delay="7000"/>
                            </p:stCondLst>
                            <p:childTnLst>
                              <p:par>
                                <p:cTn id="79" presetID="22" presetClass="entr" presetSubtype="4" fill="hold" nodeType="after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wipe(down)">
                                      <p:cBhvr>
                                        <p:cTn id="81" dur="500"/>
                                        <p:tgtEl>
                                          <p:spTgt spid="37"/>
                                        </p:tgtEl>
                                      </p:cBhvr>
                                    </p:animEffect>
                                  </p:childTnLst>
                                </p:cTn>
                              </p:par>
                            </p:childTnLst>
                          </p:cTn>
                        </p:par>
                        <p:par>
                          <p:cTn id="82" fill="hold">
                            <p:stCondLst>
                              <p:cond delay="7500"/>
                            </p:stCondLst>
                            <p:childTnLst>
                              <p:par>
                                <p:cTn id="83" presetID="22" presetClass="entr" presetSubtype="8" fill="hold" nodeType="after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wipe(left)">
                                      <p:cBhvr>
                                        <p:cTn id="85" dur="500"/>
                                        <p:tgtEl>
                                          <p:spTgt spid="3"/>
                                        </p:tgtEl>
                                      </p:cBhvr>
                                    </p:animEffect>
                                  </p:childTnLst>
                                </p:cTn>
                              </p:par>
                            </p:childTnLst>
                          </p:cTn>
                        </p:par>
                        <p:par>
                          <p:cTn id="86" fill="hold">
                            <p:stCondLst>
                              <p:cond delay="8000"/>
                            </p:stCondLst>
                            <p:childTnLst>
                              <p:par>
                                <p:cTn id="87" presetID="22" presetClass="entr" presetSubtype="1" fill="hold" nodeType="afterEffect">
                                  <p:stCondLst>
                                    <p:cond delay="0"/>
                                  </p:stCondLst>
                                  <p:childTnLst>
                                    <p:set>
                                      <p:cBhvr>
                                        <p:cTn id="88" dur="1" fill="hold">
                                          <p:stCondLst>
                                            <p:cond delay="0"/>
                                          </p:stCondLst>
                                        </p:cTn>
                                        <p:tgtEl>
                                          <p:spTgt spid="7"/>
                                        </p:tgtEl>
                                        <p:attrNameLst>
                                          <p:attrName>style.visibility</p:attrName>
                                        </p:attrNameLst>
                                      </p:cBhvr>
                                      <p:to>
                                        <p:strVal val="visible"/>
                                      </p:to>
                                    </p:set>
                                    <p:animEffect transition="in" filter="wipe(up)">
                                      <p:cBhvr>
                                        <p:cTn id="89" dur="500"/>
                                        <p:tgtEl>
                                          <p:spTgt spid="7"/>
                                        </p:tgtEl>
                                      </p:cBhvr>
                                    </p:animEffect>
                                  </p:childTnLst>
                                </p:cTn>
                              </p:par>
                            </p:childTnLst>
                          </p:cTn>
                        </p:par>
                        <p:par>
                          <p:cTn id="90" fill="hold">
                            <p:stCondLst>
                              <p:cond delay="8500"/>
                            </p:stCondLst>
                            <p:childTnLst>
                              <p:par>
                                <p:cTn id="91" presetID="22" presetClass="entr" presetSubtype="2" fill="hold" nodeType="afterEffect">
                                  <p:stCondLst>
                                    <p:cond delay="0"/>
                                  </p:stCondLst>
                                  <p:childTnLst>
                                    <p:set>
                                      <p:cBhvr>
                                        <p:cTn id="92" dur="1" fill="hold">
                                          <p:stCondLst>
                                            <p:cond delay="0"/>
                                          </p:stCondLst>
                                        </p:cTn>
                                        <p:tgtEl>
                                          <p:spTgt spid="9"/>
                                        </p:tgtEl>
                                        <p:attrNameLst>
                                          <p:attrName>style.visibility</p:attrName>
                                        </p:attrNameLst>
                                      </p:cBhvr>
                                      <p:to>
                                        <p:strVal val="visible"/>
                                      </p:to>
                                    </p:set>
                                    <p:animEffect transition="in" filter="wipe(right)">
                                      <p:cBhvr>
                                        <p:cTn id="93" dur="500"/>
                                        <p:tgtEl>
                                          <p:spTgt spid="9"/>
                                        </p:tgtEl>
                                      </p:cBhvr>
                                    </p:animEffect>
                                  </p:childTnLst>
                                </p:cTn>
                              </p:par>
                            </p:childTnLst>
                          </p:cTn>
                        </p:par>
                        <p:par>
                          <p:cTn id="94" fill="hold">
                            <p:stCondLst>
                              <p:cond delay="9000"/>
                            </p:stCondLst>
                            <p:childTnLst>
                              <p:par>
                                <p:cTn id="95" presetID="22" presetClass="entr" presetSubtype="1" fill="hold" nodeType="afterEffect">
                                  <p:stCondLst>
                                    <p:cond delay="0"/>
                                  </p:stCondLst>
                                  <p:childTnLst>
                                    <p:set>
                                      <p:cBhvr>
                                        <p:cTn id="96" dur="1" fill="hold">
                                          <p:stCondLst>
                                            <p:cond delay="0"/>
                                          </p:stCondLst>
                                        </p:cTn>
                                        <p:tgtEl>
                                          <p:spTgt spid="12"/>
                                        </p:tgtEl>
                                        <p:attrNameLst>
                                          <p:attrName>style.visibility</p:attrName>
                                        </p:attrNameLst>
                                      </p:cBhvr>
                                      <p:to>
                                        <p:strVal val="visible"/>
                                      </p:to>
                                    </p:set>
                                    <p:animEffect transition="in" filter="wipe(up)">
                                      <p:cBhvr>
                                        <p:cTn id="97" dur="500"/>
                                        <p:tgtEl>
                                          <p:spTgt spid="12"/>
                                        </p:tgtEl>
                                      </p:cBhvr>
                                    </p:animEffect>
                                  </p:childTnLst>
                                </p:cTn>
                              </p:par>
                            </p:childTnLst>
                          </p:cTn>
                        </p:par>
                        <p:par>
                          <p:cTn id="98" fill="hold">
                            <p:stCondLst>
                              <p:cond delay="9500"/>
                            </p:stCondLst>
                            <p:childTnLst>
                              <p:par>
                                <p:cTn id="99" presetID="10" presetClass="entr" presetSubtype="0" fill="hold" grpId="0" nodeType="afterEffect">
                                  <p:stCondLst>
                                    <p:cond delay="0"/>
                                  </p:stCondLst>
                                  <p:childTnLst>
                                    <p:set>
                                      <p:cBhvr>
                                        <p:cTn id="100" dur="1" fill="hold">
                                          <p:stCondLst>
                                            <p:cond delay="0"/>
                                          </p:stCondLst>
                                        </p:cTn>
                                        <p:tgtEl>
                                          <p:spTgt spid="15"/>
                                        </p:tgtEl>
                                        <p:attrNameLst>
                                          <p:attrName>style.visibility</p:attrName>
                                        </p:attrNameLst>
                                      </p:cBhvr>
                                      <p:to>
                                        <p:strVal val="visible"/>
                                      </p:to>
                                    </p:set>
                                    <p:animEffect transition="in" filter="fade">
                                      <p:cBhvr>
                                        <p:cTn id="101" dur="500"/>
                                        <p:tgtEl>
                                          <p:spTgt spid="15"/>
                                        </p:tgtEl>
                                      </p:cBhvr>
                                    </p:animEffect>
                                  </p:childTnLst>
                                </p:cTn>
                              </p:par>
                            </p:childTnLst>
                          </p:cTn>
                        </p:par>
                        <p:par>
                          <p:cTn id="102" fill="hold">
                            <p:stCondLst>
                              <p:cond delay="10000"/>
                            </p:stCondLst>
                            <p:childTnLst>
                              <p:par>
                                <p:cTn id="103" presetID="10" presetClass="entr" presetSubtype="0" fill="hold" grpId="0" nodeType="after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fade">
                                      <p:cBhvr>
                                        <p:cTn id="10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900A862-7F9C-DF31-0BDF-A58865E28D97}"/>
              </a:ext>
            </a:extLst>
          </p:cNvPr>
          <p:cNvSpPr txBox="1">
            <a:spLocks/>
          </p:cNvSpPr>
          <p:nvPr/>
        </p:nvSpPr>
        <p:spPr>
          <a:xfrm>
            <a:off x="403972" y="218807"/>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R3</a:t>
            </a:r>
          </a:p>
        </p:txBody>
      </p:sp>
      <p:sp>
        <p:nvSpPr>
          <p:cNvPr id="16" name="Title 1">
            <a:extLst>
              <a:ext uri="{FF2B5EF4-FFF2-40B4-BE49-F238E27FC236}">
                <a16:creationId xmlns:a16="http://schemas.microsoft.com/office/drawing/2014/main" id="{08BE2D54-4EEC-0E05-49CC-4BFC4936088F}"/>
              </a:ext>
            </a:extLst>
          </p:cNvPr>
          <p:cNvSpPr txBox="1">
            <a:spLocks/>
          </p:cNvSpPr>
          <p:nvPr/>
        </p:nvSpPr>
        <p:spPr>
          <a:xfrm>
            <a:off x="1431846" y="234838"/>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chemeClr val="accent6"/>
                </a:solidFill>
                <a:latin typeface="Montserrat" panose="00000500000000000000" pitchFamily="2" charset="0"/>
              </a:rPr>
              <a:t>C3</a:t>
            </a:r>
          </a:p>
        </p:txBody>
      </p:sp>
      <p:sp>
        <p:nvSpPr>
          <p:cNvPr id="2" name="Title 1">
            <a:extLst>
              <a:ext uri="{FF2B5EF4-FFF2-40B4-BE49-F238E27FC236}">
                <a16:creationId xmlns:a16="http://schemas.microsoft.com/office/drawing/2014/main" id="{60DAD9D3-E39C-10D4-D99F-B19ABA2C6988}"/>
              </a:ext>
            </a:extLst>
          </p:cNvPr>
          <p:cNvSpPr txBox="1">
            <a:spLocks/>
          </p:cNvSpPr>
          <p:nvPr/>
        </p:nvSpPr>
        <p:spPr>
          <a:xfrm>
            <a:off x="2346246" y="234838"/>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latin typeface="Montserrat" panose="00000500000000000000" pitchFamily="2" charset="0"/>
              </a:rPr>
              <a:t>=</a:t>
            </a:r>
          </a:p>
        </p:txBody>
      </p:sp>
      <p:sp>
        <p:nvSpPr>
          <p:cNvPr id="5" name="Title 1">
            <a:extLst>
              <a:ext uri="{FF2B5EF4-FFF2-40B4-BE49-F238E27FC236}">
                <a16:creationId xmlns:a16="http://schemas.microsoft.com/office/drawing/2014/main" id="{99AF1A72-FEEF-07E5-2A04-26C5496962D2}"/>
              </a:ext>
            </a:extLst>
          </p:cNvPr>
          <p:cNvSpPr txBox="1">
            <a:spLocks/>
          </p:cNvSpPr>
          <p:nvPr/>
        </p:nvSpPr>
        <p:spPr>
          <a:xfrm>
            <a:off x="3260647" y="234838"/>
            <a:ext cx="1027874"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latin typeface="Montserrat" panose="00000500000000000000" pitchFamily="2" charset="0"/>
              </a:rPr>
              <a:t>9</a:t>
            </a:r>
          </a:p>
        </p:txBody>
      </p:sp>
    </p:spTree>
    <p:extLst>
      <p:ext uri="{BB962C8B-B14F-4D97-AF65-F5344CB8AC3E}">
        <p14:creationId xmlns:p14="http://schemas.microsoft.com/office/powerpoint/2010/main" val="21276464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pic>
        <p:nvPicPr>
          <p:cNvPr id="6" name="Picture 5">
            <a:extLst>
              <a:ext uri="{FF2B5EF4-FFF2-40B4-BE49-F238E27FC236}">
                <a16:creationId xmlns:a16="http://schemas.microsoft.com/office/drawing/2014/main" id="{FDFCD2EC-81DB-10BD-DCA0-F2C0BB5AE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6165" y="1713495"/>
            <a:ext cx="630937" cy="134112"/>
          </a:xfrm>
          <a:prstGeom prst="rect">
            <a:avLst/>
          </a:prstGeom>
        </p:spPr>
      </p:pic>
    </p:spTree>
    <p:extLst>
      <p:ext uri="{BB962C8B-B14F-4D97-AF65-F5344CB8AC3E}">
        <p14:creationId xmlns:p14="http://schemas.microsoft.com/office/powerpoint/2010/main" val="3780018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alendar&#10;&#10;Description automatically generated">
            <a:extLst>
              <a:ext uri="{FF2B5EF4-FFF2-40B4-BE49-F238E27FC236}">
                <a16:creationId xmlns:a16="http://schemas.microsoft.com/office/drawing/2014/main" id="{02F95F21-9999-2600-0ACD-8D3B7F1C02CF}"/>
              </a:ext>
            </a:extLst>
          </p:cNvPr>
          <p:cNvPicPr>
            <a:picLocks noChangeAspect="1"/>
          </p:cNvPicPr>
          <p:nvPr/>
        </p:nvPicPr>
        <p:blipFill>
          <a:blip r:embed="rId2">
            <a:alphaModFix amt="30000"/>
            <a:extLst>
              <a:ext uri="{28A0092B-C50C-407E-A947-70E740481C1C}">
                <a14:useLocalDpi xmlns:a14="http://schemas.microsoft.com/office/drawing/2010/main" val="0"/>
              </a:ext>
            </a:extLst>
          </a:blip>
          <a:stretch>
            <a:fillRect/>
          </a:stretch>
        </p:blipFill>
        <p:spPr>
          <a:xfrm>
            <a:off x="2232652" y="265169"/>
            <a:ext cx="7726696" cy="6327661"/>
          </a:xfrm>
          <a:prstGeom prst="rect">
            <a:avLst/>
          </a:prstGeom>
        </p:spPr>
      </p:pic>
      <p:cxnSp>
        <p:nvCxnSpPr>
          <p:cNvPr id="24" name="Straight Connector 23">
            <a:extLst>
              <a:ext uri="{FF2B5EF4-FFF2-40B4-BE49-F238E27FC236}">
                <a16:creationId xmlns:a16="http://schemas.microsoft.com/office/drawing/2014/main" id="{5E151C01-94AD-FEF9-B1D9-E7DEBFC102D2}"/>
              </a:ext>
            </a:extLst>
          </p:cNvPr>
          <p:cNvCxnSpPr>
            <a:cxnSpLocks/>
          </p:cNvCxnSpPr>
          <p:nvPr/>
        </p:nvCxnSpPr>
        <p:spPr>
          <a:xfrm flipV="1">
            <a:off x="5256004" y="5706522"/>
            <a:ext cx="0" cy="30386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6387B4F-2D17-9F64-78B1-5BE3C2F1E5B7}"/>
              </a:ext>
            </a:extLst>
          </p:cNvPr>
          <p:cNvCxnSpPr>
            <a:cxnSpLocks/>
          </p:cNvCxnSpPr>
          <p:nvPr/>
        </p:nvCxnSpPr>
        <p:spPr>
          <a:xfrm>
            <a:off x="2232652" y="5706522"/>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F6BBE48-2638-D27B-B87E-85506623DBA8}"/>
              </a:ext>
            </a:extLst>
          </p:cNvPr>
          <p:cNvCxnSpPr>
            <a:cxnSpLocks/>
          </p:cNvCxnSpPr>
          <p:nvPr/>
        </p:nvCxnSpPr>
        <p:spPr>
          <a:xfrm flipV="1">
            <a:off x="2248836" y="1212351"/>
            <a:ext cx="0" cy="451035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4813D65-5033-B62E-0B44-51CF58A0CFAE}"/>
              </a:ext>
            </a:extLst>
          </p:cNvPr>
          <p:cNvCxnSpPr>
            <a:cxnSpLocks/>
          </p:cNvCxnSpPr>
          <p:nvPr/>
        </p:nvCxnSpPr>
        <p:spPr>
          <a:xfrm>
            <a:off x="2232652" y="1204821"/>
            <a:ext cx="6409642"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3E93A86-58F6-B849-B5D3-EF605C76D4B6}"/>
              </a:ext>
            </a:extLst>
          </p:cNvPr>
          <p:cNvCxnSpPr>
            <a:cxnSpLocks/>
          </p:cNvCxnSpPr>
          <p:nvPr/>
        </p:nvCxnSpPr>
        <p:spPr>
          <a:xfrm flipV="1">
            <a:off x="5442121" y="5518768"/>
            <a:ext cx="0" cy="491614"/>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FF999C2-A924-94D7-6E81-E80CC7759355}"/>
              </a:ext>
            </a:extLst>
          </p:cNvPr>
          <p:cNvCxnSpPr>
            <a:cxnSpLocks/>
          </p:cNvCxnSpPr>
          <p:nvPr/>
        </p:nvCxnSpPr>
        <p:spPr>
          <a:xfrm>
            <a:off x="2434953" y="5518768"/>
            <a:ext cx="300716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B6A698E-2AC2-0F06-DB38-0C68F7FC0A41}"/>
              </a:ext>
            </a:extLst>
          </p:cNvPr>
          <p:cNvCxnSpPr>
            <a:cxnSpLocks/>
          </p:cNvCxnSpPr>
          <p:nvPr/>
        </p:nvCxnSpPr>
        <p:spPr>
          <a:xfrm flipV="1">
            <a:off x="2458479" y="2386258"/>
            <a:ext cx="0" cy="313251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C6BBA6F-9D55-2F46-369A-90424B3257B5}"/>
              </a:ext>
            </a:extLst>
          </p:cNvPr>
          <p:cNvCxnSpPr>
            <a:cxnSpLocks/>
          </p:cNvCxnSpPr>
          <p:nvPr/>
        </p:nvCxnSpPr>
        <p:spPr>
          <a:xfrm>
            <a:off x="2458479" y="2386258"/>
            <a:ext cx="2441948"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4AEB489-99E4-2A8D-4C2F-2ACB2A55D8DB}"/>
              </a:ext>
            </a:extLst>
          </p:cNvPr>
          <p:cNvCxnSpPr>
            <a:cxnSpLocks/>
          </p:cNvCxnSpPr>
          <p:nvPr/>
        </p:nvCxnSpPr>
        <p:spPr>
          <a:xfrm flipV="1">
            <a:off x="4900427" y="2005077"/>
            <a:ext cx="0" cy="381181"/>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09F9269-3734-EA84-BE1E-F0351119C3DC}"/>
              </a:ext>
            </a:extLst>
          </p:cNvPr>
          <p:cNvCxnSpPr>
            <a:cxnSpLocks/>
          </p:cNvCxnSpPr>
          <p:nvPr/>
        </p:nvCxnSpPr>
        <p:spPr>
          <a:xfrm>
            <a:off x="4886775" y="2005076"/>
            <a:ext cx="1327221" cy="8092"/>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7C55F12-6D50-14BC-5F84-B4648D51E548}"/>
              </a:ext>
            </a:extLst>
          </p:cNvPr>
          <p:cNvCxnSpPr>
            <a:cxnSpLocks/>
          </p:cNvCxnSpPr>
          <p:nvPr/>
        </p:nvCxnSpPr>
        <p:spPr>
          <a:xfrm flipH="1" flipV="1">
            <a:off x="6192234" y="2005077"/>
            <a:ext cx="21762" cy="4005305"/>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2900A862-7F9C-DF31-0BDF-A58865E28D97}"/>
              </a:ext>
            </a:extLst>
          </p:cNvPr>
          <p:cNvSpPr txBox="1">
            <a:spLocks/>
          </p:cNvSpPr>
          <p:nvPr/>
        </p:nvSpPr>
        <p:spPr>
          <a:xfrm>
            <a:off x="403972" y="5667470"/>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R2</a:t>
            </a:r>
          </a:p>
        </p:txBody>
      </p:sp>
      <p:sp>
        <p:nvSpPr>
          <p:cNvPr id="16" name="Title 1">
            <a:extLst>
              <a:ext uri="{FF2B5EF4-FFF2-40B4-BE49-F238E27FC236}">
                <a16:creationId xmlns:a16="http://schemas.microsoft.com/office/drawing/2014/main" id="{08BE2D54-4EEC-0E05-49CC-4BFC4936088F}"/>
              </a:ext>
            </a:extLst>
          </p:cNvPr>
          <p:cNvSpPr txBox="1">
            <a:spLocks/>
          </p:cNvSpPr>
          <p:nvPr/>
        </p:nvSpPr>
        <p:spPr>
          <a:xfrm>
            <a:off x="10363973" y="5667470"/>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chemeClr val="accent6"/>
                </a:solidFill>
                <a:latin typeface="Montserrat" panose="00000500000000000000" pitchFamily="2" charset="0"/>
              </a:rPr>
              <a:t>C2</a:t>
            </a:r>
          </a:p>
        </p:txBody>
      </p:sp>
      <p:pic>
        <p:nvPicPr>
          <p:cNvPr id="2" name="Picture 1">
            <a:extLst>
              <a:ext uri="{FF2B5EF4-FFF2-40B4-BE49-F238E27FC236}">
                <a16:creationId xmlns:a16="http://schemas.microsoft.com/office/drawing/2014/main" id="{EAC17D48-2898-8BB3-EDD3-F842A8C88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6165" y="1850718"/>
            <a:ext cx="630937" cy="134112"/>
          </a:xfrm>
          <a:prstGeom prst="rect">
            <a:avLst/>
          </a:prstGeom>
        </p:spPr>
      </p:pic>
    </p:spTree>
    <p:extLst>
      <p:ext uri="{BB962C8B-B14F-4D97-AF65-F5344CB8AC3E}">
        <p14:creationId xmlns:p14="http://schemas.microsoft.com/office/powerpoint/2010/main" val="24527215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right)">
                                      <p:cBhvr>
                                        <p:cTn id="11" dur="500"/>
                                        <p:tgtEl>
                                          <p:spTgt spid="25"/>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down)">
                                      <p:cBhvr>
                                        <p:cTn id="15" dur="500"/>
                                        <p:tgtEl>
                                          <p:spTgt spid="2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par>
                          <p:cTn id="20" fill="hold">
                            <p:stCondLst>
                              <p:cond delay="2000"/>
                            </p:stCondLst>
                            <p:childTnLst>
                              <p:par>
                                <p:cTn id="21" presetID="10" presetClass="exit" presetSubtype="0" fill="hold" nodeType="afterEffect">
                                  <p:stCondLst>
                                    <p:cond delay="0"/>
                                  </p:stCondLst>
                                  <p:childTnLst>
                                    <p:animEffect transition="out" filter="fade">
                                      <p:cBhvr>
                                        <p:cTn id="22" dur="500"/>
                                        <p:tgtEl>
                                          <p:spTgt spid="24"/>
                                        </p:tgtEl>
                                      </p:cBhvr>
                                    </p:animEffect>
                                    <p:set>
                                      <p:cBhvr>
                                        <p:cTn id="23" dur="1" fill="hold">
                                          <p:stCondLst>
                                            <p:cond delay="499"/>
                                          </p:stCondLst>
                                        </p:cTn>
                                        <p:tgtEl>
                                          <p:spTgt spid="24"/>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25"/>
                                        </p:tgtEl>
                                      </p:cBhvr>
                                    </p:animEffect>
                                    <p:set>
                                      <p:cBhvr>
                                        <p:cTn id="26" dur="1" fill="hold">
                                          <p:stCondLst>
                                            <p:cond delay="499"/>
                                          </p:stCondLst>
                                        </p:cTn>
                                        <p:tgtEl>
                                          <p:spTgt spid="25"/>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7"/>
                                        </p:tgtEl>
                                      </p:cBhvr>
                                    </p:animEffect>
                                    <p:set>
                                      <p:cBhvr>
                                        <p:cTn id="32" dur="1" fill="hold">
                                          <p:stCondLst>
                                            <p:cond delay="499"/>
                                          </p:stCondLst>
                                        </p:cTn>
                                        <p:tgtEl>
                                          <p:spTgt spid="27"/>
                                        </p:tgtEl>
                                        <p:attrNameLst>
                                          <p:attrName>style.visibility</p:attrName>
                                        </p:attrNameLst>
                                      </p:cBhvr>
                                      <p:to>
                                        <p:strVal val="hidden"/>
                                      </p:to>
                                    </p:set>
                                  </p:childTnLst>
                                </p:cTn>
                              </p:par>
                            </p:childTnLst>
                          </p:cTn>
                        </p:par>
                        <p:par>
                          <p:cTn id="33" fill="hold">
                            <p:stCondLst>
                              <p:cond delay="2500"/>
                            </p:stCondLst>
                            <p:childTnLst>
                              <p:par>
                                <p:cTn id="34" presetID="22" presetClass="entr" presetSubtype="4" fill="hold" nodeType="after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wipe(down)">
                                      <p:cBhvr>
                                        <p:cTn id="36" dur="500"/>
                                        <p:tgtEl>
                                          <p:spTgt spid="28"/>
                                        </p:tgtEl>
                                      </p:cBhvr>
                                    </p:animEffect>
                                  </p:childTnLst>
                                </p:cTn>
                              </p:par>
                            </p:childTnLst>
                          </p:cTn>
                        </p:par>
                        <p:par>
                          <p:cTn id="37" fill="hold">
                            <p:stCondLst>
                              <p:cond delay="3000"/>
                            </p:stCondLst>
                            <p:childTnLst>
                              <p:par>
                                <p:cTn id="38" presetID="22" presetClass="entr" presetSubtype="2" fill="hold"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right)">
                                      <p:cBhvr>
                                        <p:cTn id="40" dur="500"/>
                                        <p:tgtEl>
                                          <p:spTgt spid="29"/>
                                        </p:tgtEl>
                                      </p:cBhvr>
                                    </p:animEffect>
                                  </p:childTnLst>
                                </p:cTn>
                              </p:par>
                            </p:childTnLst>
                          </p:cTn>
                        </p:par>
                        <p:par>
                          <p:cTn id="41" fill="hold">
                            <p:stCondLst>
                              <p:cond delay="3500"/>
                            </p:stCondLst>
                            <p:childTnLst>
                              <p:par>
                                <p:cTn id="42" presetID="22" presetClass="entr" presetSubtype="4" fill="hold" nodeType="after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down)">
                                      <p:cBhvr>
                                        <p:cTn id="44" dur="500"/>
                                        <p:tgtEl>
                                          <p:spTgt spid="30"/>
                                        </p:tgtEl>
                                      </p:cBhvr>
                                    </p:animEffect>
                                  </p:childTnLst>
                                </p:cTn>
                              </p:par>
                            </p:childTnLst>
                          </p:cTn>
                        </p:par>
                        <p:par>
                          <p:cTn id="45" fill="hold">
                            <p:stCondLst>
                              <p:cond delay="4000"/>
                            </p:stCondLst>
                            <p:childTnLst>
                              <p:par>
                                <p:cTn id="46" presetID="22" presetClass="entr" presetSubtype="8" fill="hold" nodeType="after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left)">
                                      <p:cBhvr>
                                        <p:cTn id="48" dur="500"/>
                                        <p:tgtEl>
                                          <p:spTgt spid="31"/>
                                        </p:tgtEl>
                                      </p:cBhvr>
                                    </p:animEffect>
                                  </p:childTnLst>
                                </p:cTn>
                              </p:par>
                            </p:childTnLst>
                          </p:cTn>
                        </p:par>
                        <p:par>
                          <p:cTn id="49" fill="hold">
                            <p:stCondLst>
                              <p:cond delay="4500"/>
                            </p:stCondLst>
                            <p:childTnLst>
                              <p:par>
                                <p:cTn id="50" presetID="22" presetClass="entr" presetSubtype="4" fill="hold" nodeType="after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down)">
                                      <p:cBhvr>
                                        <p:cTn id="52" dur="500"/>
                                        <p:tgtEl>
                                          <p:spTgt spid="37"/>
                                        </p:tgtEl>
                                      </p:cBhvr>
                                    </p:animEffect>
                                  </p:childTnLst>
                                </p:cTn>
                              </p:par>
                            </p:childTnLst>
                          </p:cTn>
                        </p:par>
                        <p:par>
                          <p:cTn id="53" fill="hold">
                            <p:stCondLst>
                              <p:cond delay="5000"/>
                            </p:stCondLst>
                            <p:childTnLst>
                              <p:par>
                                <p:cTn id="54" presetID="22" presetClass="entr" presetSubtype="8" fill="hold" nodeType="after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left)">
                                      <p:cBhvr>
                                        <p:cTn id="56" dur="500"/>
                                        <p:tgtEl>
                                          <p:spTgt spid="3"/>
                                        </p:tgtEl>
                                      </p:cBhvr>
                                    </p:animEffect>
                                  </p:childTnLst>
                                </p:cTn>
                              </p:par>
                            </p:childTnLst>
                          </p:cTn>
                        </p:par>
                        <p:par>
                          <p:cTn id="57" fill="hold">
                            <p:stCondLst>
                              <p:cond delay="5500"/>
                            </p:stCondLst>
                            <p:childTnLst>
                              <p:par>
                                <p:cTn id="58" presetID="22" presetClass="entr" presetSubtype="1" fill="hold"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up)">
                                      <p:cBhvr>
                                        <p:cTn id="60" dur="500"/>
                                        <p:tgtEl>
                                          <p:spTgt spid="7"/>
                                        </p:tgtEl>
                                      </p:cBhvr>
                                    </p:animEffect>
                                  </p:childTnLst>
                                </p:cTn>
                              </p:par>
                            </p:childTnLst>
                          </p:cTn>
                        </p:par>
                        <p:par>
                          <p:cTn id="61" fill="hold">
                            <p:stCondLst>
                              <p:cond delay="60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6500"/>
                            </p:stCondLst>
                            <p:childTnLst>
                              <p:par>
                                <p:cTn id="66" presetID="10" presetClass="entr" presetSubtype="0"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900A862-7F9C-DF31-0BDF-A58865E28D97}"/>
              </a:ext>
            </a:extLst>
          </p:cNvPr>
          <p:cNvSpPr txBox="1">
            <a:spLocks/>
          </p:cNvSpPr>
          <p:nvPr/>
        </p:nvSpPr>
        <p:spPr>
          <a:xfrm>
            <a:off x="403972" y="218807"/>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R3</a:t>
            </a:r>
          </a:p>
        </p:txBody>
      </p:sp>
      <p:sp>
        <p:nvSpPr>
          <p:cNvPr id="16" name="Title 1">
            <a:extLst>
              <a:ext uri="{FF2B5EF4-FFF2-40B4-BE49-F238E27FC236}">
                <a16:creationId xmlns:a16="http://schemas.microsoft.com/office/drawing/2014/main" id="{08BE2D54-4EEC-0E05-49CC-4BFC4936088F}"/>
              </a:ext>
            </a:extLst>
          </p:cNvPr>
          <p:cNvSpPr txBox="1">
            <a:spLocks/>
          </p:cNvSpPr>
          <p:nvPr/>
        </p:nvSpPr>
        <p:spPr>
          <a:xfrm>
            <a:off x="1431846" y="234838"/>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chemeClr val="accent6"/>
                </a:solidFill>
                <a:latin typeface="Montserrat" panose="00000500000000000000" pitchFamily="2" charset="0"/>
              </a:rPr>
              <a:t>C3</a:t>
            </a:r>
          </a:p>
        </p:txBody>
      </p:sp>
      <p:sp>
        <p:nvSpPr>
          <p:cNvPr id="2" name="Title 1">
            <a:extLst>
              <a:ext uri="{FF2B5EF4-FFF2-40B4-BE49-F238E27FC236}">
                <a16:creationId xmlns:a16="http://schemas.microsoft.com/office/drawing/2014/main" id="{60DAD9D3-E39C-10D4-D99F-B19ABA2C6988}"/>
              </a:ext>
            </a:extLst>
          </p:cNvPr>
          <p:cNvSpPr txBox="1">
            <a:spLocks/>
          </p:cNvSpPr>
          <p:nvPr/>
        </p:nvSpPr>
        <p:spPr>
          <a:xfrm>
            <a:off x="2346246" y="234838"/>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latin typeface="Montserrat" panose="00000500000000000000" pitchFamily="2" charset="0"/>
              </a:rPr>
              <a:t>=</a:t>
            </a:r>
          </a:p>
        </p:txBody>
      </p:sp>
      <p:sp>
        <p:nvSpPr>
          <p:cNvPr id="5" name="Title 1">
            <a:extLst>
              <a:ext uri="{FF2B5EF4-FFF2-40B4-BE49-F238E27FC236}">
                <a16:creationId xmlns:a16="http://schemas.microsoft.com/office/drawing/2014/main" id="{99AF1A72-FEEF-07E5-2A04-26C5496962D2}"/>
              </a:ext>
            </a:extLst>
          </p:cNvPr>
          <p:cNvSpPr txBox="1">
            <a:spLocks/>
          </p:cNvSpPr>
          <p:nvPr/>
        </p:nvSpPr>
        <p:spPr>
          <a:xfrm>
            <a:off x="3260647" y="234838"/>
            <a:ext cx="1027874"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latin typeface="Montserrat" panose="00000500000000000000" pitchFamily="2" charset="0"/>
              </a:rPr>
              <a:t>9</a:t>
            </a:r>
          </a:p>
        </p:txBody>
      </p:sp>
      <p:sp>
        <p:nvSpPr>
          <p:cNvPr id="3" name="Title 1">
            <a:extLst>
              <a:ext uri="{FF2B5EF4-FFF2-40B4-BE49-F238E27FC236}">
                <a16:creationId xmlns:a16="http://schemas.microsoft.com/office/drawing/2014/main" id="{8993998C-AAD7-6483-4177-A2814CFEF8D8}"/>
              </a:ext>
            </a:extLst>
          </p:cNvPr>
          <p:cNvSpPr txBox="1">
            <a:spLocks/>
          </p:cNvSpPr>
          <p:nvPr/>
        </p:nvSpPr>
        <p:spPr>
          <a:xfrm>
            <a:off x="403971" y="1196320"/>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rgbClr val="C00000"/>
                </a:solidFill>
                <a:latin typeface="Montserrat" panose="00000500000000000000" pitchFamily="2" charset="0"/>
              </a:rPr>
              <a:t>R2</a:t>
            </a:r>
          </a:p>
        </p:txBody>
      </p:sp>
      <p:sp>
        <p:nvSpPr>
          <p:cNvPr id="4" name="Title 1">
            <a:extLst>
              <a:ext uri="{FF2B5EF4-FFF2-40B4-BE49-F238E27FC236}">
                <a16:creationId xmlns:a16="http://schemas.microsoft.com/office/drawing/2014/main" id="{9901A323-892A-9F49-3C9E-0CBEECB4A563}"/>
              </a:ext>
            </a:extLst>
          </p:cNvPr>
          <p:cNvSpPr txBox="1">
            <a:spLocks/>
          </p:cNvSpPr>
          <p:nvPr/>
        </p:nvSpPr>
        <p:spPr>
          <a:xfrm>
            <a:off x="1431845" y="1228382"/>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solidFill>
                  <a:schemeClr val="accent6"/>
                </a:solidFill>
                <a:latin typeface="Montserrat" panose="00000500000000000000" pitchFamily="2" charset="0"/>
              </a:rPr>
              <a:t>C2</a:t>
            </a:r>
          </a:p>
        </p:txBody>
      </p:sp>
      <p:sp>
        <p:nvSpPr>
          <p:cNvPr id="6" name="Title 1">
            <a:extLst>
              <a:ext uri="{FF2B5EF4-FFF2-40B4-BE49-F238E27FC236}">
                <a16:creationId xmlns:a16="http://schemas.microsoft.com/office/drawing/2014/main" id="{5E15B7FB-DF3C-2222-B98A-0DF3D4FEADD3}"/>
              </a:ext>
            </a:extLst>
          </p:cNvPr>
          <p:cNvSpPr txBox="1">
            <a:spLocks/>
          </p:cNvSpPr>
          <p:nvPr/>
        </p:nvSpPr>
        <p:spPr>
          <a:xfrm>
            <a:off x="2346246" y="1202948"/>
            <a:ext cx="1391375"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latin typeface="Montserrat" panose="00000500000000000000" pitchFamily="2" charset="0"/>
              </a:rPr>
              <a:t>=</a:t>
            </a:r>
          </a:p>
        </p:txBody>
      </p:sp>
      <p:sp>
        <p:nvSpPr>
          <p:cNvPr id="7" name="Title 1">
            <a:extLst>
              <a:ext uri="{FF2B5EF4-FFF2-40B4-BE49-F238E27FC236}">
                <a16:creationId xmlns:a16="http://schemas.microsoft.com/office/drawing/2014/main" id="{CF5D2BF6-A696-18BA-7A06-BB91433A3496}"/>
              </a:ext>
            </a:extLst>
          </p:cNvPr>
          <p:cNvSpPr txBox="1">
            <a:spLocks/>
          </p:cNvSpPr>
          <p:nvPr/>
        </p:nvSpPr>
        <p:spPr>
          <a:xfrm>
            <a:off x="3260647" y="1202948"/>
            <a:ext cx="1027874"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b="1">
                <a:latin typeface="Montserrat" panose="00000500000000000000" pitchFamily="2" charset="0"/>
              </a:rPr>
              <a:t>5</a:t>
            </a:r>
          </a:p>
        </p:txBody>
      </p:sp>
    </p:spTree>
    <p:extLst>
      <p:ext uri="{BB962C8B-B14F-4D97-AF65-F5344CB8AC3E}">
        <p14:creationId xmlns:p14="http://schemas.microsoft.com/office/powerpoint/2010/main" val="34122342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11" y="0"/>
            <a:ext cx="12192002" cy="6858000"/>
          </a:xfrm>
          <a:prstGeom prst="rect">
            <a:avLst/>
          </a:prstGeom>
          <a:effectLst>
            <a:outerShdw blurRad="50800" dist="50800" dir="5400000" algn="ctr" rotWithShape="0">
              <a:srgbClr val="000000">
                <a:alpha val="75000"/>
              </a:srgbClr>
            </a:outerShdw>
          </a:effectLst>
        </p:spPr>
      </p:pic>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3">
            <a:extLst>
              <a:ext uri="{28A0092B-C50C-407E-A947-70E740481C1C}">
                <a14:useLocalDpi xmlns:a14="http://schemas.microsoft.com/office/drawing/2010/main" val="0"/>
              </a:ext>
            </a:extLst>
          </a:blip>
          <a:srcRect t="12500" b="12500"/>
          <a:stretch/>
        </p:blipFill>
        <p:spPr>
          <a:xfrm>
            <a:off x="-8964387" y="-1"/>
            <a:ext cx="12191998" cy="6858001"/>
          </a:xfrm>
          <a:prstGeom prst="rect">
            <a:avLst/>
          </a:prstGeom>
        </p:spPr>
      </p:pic>
      <p:sp>
        <p:nvSpPr>
          <p:cNvPr id="9" name="Title 1">
            <a:extLst>
              <a:ext uri="{FF2B5EF4-FFF2-40B4-BE49-F238E27FC236}">
                <a16:creationId xmlns:a16="http://schemas.microsoft.com/office/drawing/2014/main" id="{577B4A6C-3748-FFAA-B6D0-B88EC8E6C118}"/>
              </a:ext>
            </a:extLst>
          </p:cNvPr>
          <p:cNvSpPr txBox="1">
            <a:spLocks/>
          </p:cNvSpPr>
          <p:nvPr/>
        </p:nvSpPr>
        <p:spPr>
          <a:xfrm>
            <a:off x="1597152" y="239715"/>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latin typeface="Montserrat" panose="00000500000000000000" pitchFamily="2" charset="0"/>
              </a:rPr>
              <a:t>INSIDE THE KEYPAD</a:t>
            </a:r>
          </a:p>
        </p:txBody>
      </p:sp>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881216" y="3176587"/>
            <a:ext cx="9020175" cy="504825"/>
          </a:xfrm>
          <a:prstGeom prst="rect">
            <a:avLst/>
          </a:prstGeom>
        </p:spPr>
      </p:pic>
      <p:pic>
        <p:nvPicPr>
          <p:cNvPr id="2" name="Picture 2" descr="Arduino Keypad Tutorial - 4X4 Keypad Schematic">
            <a:extLst>
              <a:ext uri="{FF2B5EF4-FFF2-40B4-BE49-F238E27FC236}">
                <a16:creationId xmlns:a16="http://schemas.microsoft.com/office/drawing/2014/main" id="{431F2E9D-197F-8638-5078-074CDAB4AC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2882" y="1684557"/>
            <a:ext cx="5811627" cy="470611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picture containing text&#10;&#10;Description automatically generated">
            <a:extLst>
              <a:ext uri="{FF2B5EF4-FFF2-40B4-BE49-F238E27FC236}">
                <a16:creationId xmlns:a16="http://schemas.microsoft.com/office/drawing/2014/main" id="{0C9B059B-0C75-7F24-E643-2E0EB31CD1D7}"/>
              </a:ext>
            </a:extLst>
          </p:cNvPr>
          <p:cNvPicPr>
            <a:picLocks noChangeAspect="1"/>
          </p:cNvPicPr>
          <p:nvPr/>
        </p:nvPicPr>
        <p:blipFill rotWithShape="1">
          <a:blip r:embed="rId6">
            <a:extLst>
              <a:ext uri="{28A0092B-C50C-407E-A947-70E740481C1C}">
                <a14:useLocalDpi xmlns:a14="http://schemas.microsoft.com/office/drawing/2010/main" val="0"/>
              </a:ext>
            </a:extLst>
          </a:blip>
          <a:srcRect l="1388" b="16795"/>
          <a:stretch/>
        </p:blipFill>
        <p:spPr>
          <a:xfrm>
            <a:off x="-13789494" y="-1"/>
            <a:ext cx="12192000" cy="6858000"/>
          </a:xfrm>
          <a:prstGeom prst="rect">
            <a:avLst/>
          </a:prstGeom>
        </p:spPr>
      </p:pic>
      <p:sp>
        <p:nvSpPr>
          <p:cNvPr id="10" name="Title 1">
            <a:extLst>
              <a:ext uri="{FF2B5EF4-FFF2-40B4-BE49-F238E27FC236}">
                <a16:creationId xmlns:a16="http://schemas.microsoft.com/office/drawing/2014/main" id="{610B23F0-1AE3-AAB5-6508-0E74944BF833}"/>
              </a:ext>
            </a:extLst>
          </p:cNvPr>
          <p:cNvSpPr txBox="1">
            <a:spLocks/>
          </p:cNvSpPr>
          <p:nvPr/>
        </p:nvSpPr>
        <p:spPr>
          <a:xfrm>
            <a:off x="-6462045" y="3092643"/>
            <a:ext cx="7277102"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effectLst>
                  <a:outerShdw blurRad="38100" dist="38100" dir="2700000" algn="tl">
                    <a:srgbClr val="000000">
                      <a:alpha val="43137"/>
                    </a:srgbClr>
                  </a:outerShdw>
                </a:effectLst>
                <a:latin typeface="Montserrat" panose="00000500000000000000" pitchFamily="2" charset="0"/>
              </a:rPr>
              <a:t>EXERCISES</a:t>
            </a:r>
          </a:p>
        </p:txBody>
      </p:sp>
      <p:sp>
        <p:nvSpPr>
          <p:cNvPr id="4" name="Rectangle: Rounded Corners 3">
            <a:extLst>
              <a:ext uri="{FF2B5EF4-FFF2-40B4-BE49-F238E27FC236}">
                <a16:creationId xmlns:a16="http://schemas.microsoft.com/office/drawing/2014/main" id="{300EB6A0-C46E-DC7F-21D6-9475D7A7F6DA}"/>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36A37B3-EFEE-C2E8-6237-58D986FD5538}"/>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1" name="Rectangle 10">
            <a:extLst>
              <a:ext uri="{FF2B5EF4-FFF2-40B4-BE49-F238E27FC236}">
                <a16:creationId xmlns:a16="http://schemas.microsoft.com/office/drawing/2014/main" id="{66622D56-06A6-6E09-D122-B7A21B476307}"/>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442910168"/>
      </p:ext>
    </p:extLst>
  </p:cSld>
  <p:clrMapOvr>
    <a:masterClrMapping/>
  </p:clrMapOvr>
  <mc:AlternateContent xmlns:mc="http://schemas.openxmlformats.org/markup-compatibility/2006" xmlns:p14="http://schemas.microsoft.com/office/powerpoint/2010/main">
    <mc:Choice Requires="p14">
      <p:transition spd="slow" p14:dur="2000">
        <p14:fla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7693150" y="0"/>
            <a:ext cx="12192002" cy="6858000"/>
          </a:xfrm>
          <a:prstGeom prst="rect">
            <a:avLst/>
          </a:prstGeom>
          <a:effectLst>
            <a:outerShdw blurRad="50800" dist="50800" dir="5400000" algn="ctr" rotWithShape="0">
              <a:srgbClr val="000000">
                <a:alpha val="75000"/>
              </a:srgbClr>
            </a:outerShdw>
          </a:effectLst>
        </p:spPr>
      </p:pic>
      <p:pic>
        <p:nvPicPr>
          <p:cNvPr id="7" name="Picture 6" descr="A picture containing text, electronics, circuit&#10;&#10;Description automatically generated">
            <a:extLst>
              <a:ext uri="{FF2B5EF4-FFF2-40B4-BE49-F238E27FC236}">
                <a16:creationId xmlns:a16="http://schemas.microsoft.com/office/drawing/2014/main" id="{6D468504-A318-A852-0A02-750651311857}"/>
              </a:ext>
            </a:extLst>
          </p:cNvPr>
          <p:cNvPicPr>
            <a:picLocks noChangeAspect="1"/>
          </p:cNvPicPr>
          <p:nvPr/>
        </p:nvPicPr>
        <p:blipFill rotWithShape="1">
          <a:blip r:embed="rId3">
            <a:extLst>
              <a:ext uri="{28A0092B-C50C-407E-A947-70E740481C1C}">
                <a14:useLocalDpi xmlns:a14="http://schemas.microsoft.com/office/drawing/2010/main" val="0"/>
              </a:ext>
            </a:extLst>
          </a:blip>
          <a:srcRect t="12500" b="12500"/>
          <a:stretch/>
        </p:blipFill>
        <p:spPr>
          <a:xfrm>
            <a:off x="12192000" y="-1"/>
            <a:ext cx="12191998" cy="6858001"/>
          </a:xfrm>
          <a:prstGeom prst="rect">
            <a:avLst/>
          </a:prstGeom>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874126" y="3176587"/>
            <a:ext cx="9020175" cy="504825"/>
          </a:xfrm>
          <a:prstGeom prst="rect">
            <a:avLst/>
          </a:prstGeom>
        </p:spPr>
      </p:pic>
      <p:pic>
        <p:nvPicPr>
          <p:cNvPr id="4" name="Picture 3" descr="A picture containing text&#10;&#10;Description automatically generated">
            <a:extLst>
              <a:ext uri="{FF2B5EF4-FFF2-40B4-BE49-F238E27FC236}">
                <a16:creationId xmlns:a16="http://schemas.microsoft.com/office/drawing/2014/main" id="{8C426A1F-8A5E-5C0F-33A1-EE30BDD31AAD}"/>
              </a:ext>
            </a:extLst>
          </p:cNvPr>
          <p:cNvPicPr>
            <a:picLocks noChangeAspect="1"/>
          </p:cNvPicPr>
          <p:nvPr/>
        </p:nvPicPr>
        <p:blipFill rotWithShape="1">
          <a:blip r:embed="rId5">
            <a:extLst>
              <a:ext uri="{28A0092B-C50C-407E-A947-70E740481C1C}">
                <a14:useLocalDpi xmlns:a14="http://schemas.microsoft.com/office/drawing/2010/main" val="0"/>
              </a:ext>
            </a:extLst>
          </a:blip>
          <a:srcRect l="1388" b="16795"/>
          <a:stretch/>
        </p:blipFill>
        <p:spPr>
          <a:xfrm>
            <a:off x="0" y="-1"/>
            <a:ext cx="12192000" cy="6858000"/>
          </a:xfrm>
          <a:prstGeom prst="rect">
            <a:avLst/>
          </a:prstGeom>
        </p:spPr>
      </p:pic>
      <p:sp>
        <p:nvSpPr>
          <p:cNvPr id="11" name="Title 1">
            <a:extLst>
              <a:ext uri="{FF2B5EF4-FFF2-40B4-BE49-F238E27FC236}">
                <a16:creationId xmlns:a16="http://schemas.microsoft.com/office/drawing/2014/main" id="{C556CF45-6B88-ECC3-2A1C-B2B3DA07F196}"/>
              </a:ext>
            </a:extLst>
          </p:cNvPr>
          <p:cNvSpPr txBox="1">
            <a:spLocks/>
          </p:cNvSpPr>
          <p:nvPr/>
        </p:nvSpPr>
        <p:spPr>
          <a:xfrm>
            <a:off x="1597152" y="-5067901"/>
            <a:ext cx="12191999"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latin typeface="Montserrat" panose="00000500000000000000" pitchFamily="2" charset="0"/>
              </a:rPr>
              <a:t>INSIDE THE KEYPAD</a:t>
            </a:r>
          </a:p>
        </p:txBody>
      </p:sp>
      <p:sp>
        <p:nvSpPr>
          <p:cNvPr id="12" name="Title 1">
            <a:extLst>
              <a:ext uri="{FF2B5EF4-FFF2-40B4-BE49-F238E27FC236}">
                <a16:creationId xmlns:a16="http://schemas.microsoft.com/office/drawing/2014/main" id="{79E5A030-01D1-4FE4-5375-180D0B9BB330}"/>
              </a:ext>
            </a:extLst>
          </p:cNvPr>
          <p:cNvSpPr txBox="1">
            <a:spLocks/>
          </p:cNvSpPr>
          <p:nvPr/>
        </p:nvSpPr>
        <p:spPr>
          <a:xfrm>
            <a:off x="2609849" y="3092643"/>
            <a:ext cx="7277102"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effectLst>
                  <a:outerShdw blurRad="38100" dist="38100" dir="2700000" algn="tl">
                    <a:srgbClr val="000000">
                      <a:alpha val="43137"/>
                    </a:srgbClr>
                  </a:outerShdw>
                </a:effectLst>
                <a:latin typeface="Montserrat" panose="00000500000000000000" pitchFamily="2" charset="0"/>
              </a:rPr>
              <a:t>EXERCISES</a:t>
            </a:r>
          </a:p>
        </p:txBody>
      </p:sp>
      <p:pic>
        <p:nvPicPr>
          <p:cNvPr id="14" name="Picture 13">
            <a:extLst>
              <a:ext uri="{FF2B5EF4-FFF2-40B4-BE49-F238E27FC236}">
                <a16:creationId xmlns:a16="http://schemas.microsoft.com/office/drawing/2014/main" id="{78F1BD21-8FBE-9680-17BB-F1BC71A1A91C}"/>
              </a:ext>
            </a:extLst>
          </p:cNvPr>
          <p:cNvPicPr>
            <a:picLocks noChangeAspect="1"/>
          </p:cNvPicPr>
          <p:nvPr/>
        </p:nvPicPr>
        <p:blipFill>
          <a:blip r:embed="rId6"/>
          <a:stretch>
            <a:fillRect/>
          </a:stretch>
        </p:blipFill>
        <p:spPr>
          <a:xfrm>
            <a:off x="12214444" y="1600018"/>
            <a:ext cx="4453957" cy="4875192"/>
          </a:xfrm>
          <a:prstGeom prst="rect">
            <a:avLst/>
          </a:prstGeom>
        </p:spPr>
      </p:pic>
      <p:pic>
        <p:nvPicPr>
          <p:cNvPr id="15" name="Picture 2" descr="Arduino Keypad Tutorial - 4X4 Keypad Schematic">
            <a:extLst>
              <a:ext uri="{FF2B5EF4-FFF2-40B4-BE49-F238E27FC236}">
                <a16:creationId xmlns:a16="http://schemas.microsoft.com/office/drawing/2014/main" id="{63AB5F43-421E-2728-7733-512CAF48D3D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97787" y="1684557"/>
            <a:ext cx="5811627" cy="470611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72483084-7C03-8F1E-F787-802FDE901E6B}"/>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AE5B72-FCF5-8012-DA50-9AA62FE8596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6" name="Rectangle 5">
            <a:extLst>
              <a:ext uri="{FF2B5EF4-FFF2-40B4-BE49-F238E27FC236}">
                <a16:creationId xmlns:a16="http://schemas.microsoft.com/office/drawing/2014/main" id="{13B583B7-52E4-4E9C-B92A-80A32C5F09A2}"/>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434415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EA15716B-5281-064C-CC4B-3C125F51DDC5}"/>
              </a:ext>
            </a:extLst>
          </p:cNvPr>
          <p:cNvPicPr>
            <a:picLocks noChangeAspect="1"/>
          </p:cNvPicPr>
          <p:nvPr/>
        </p:nvPicPr>
        <p:blipFill rotWithShape="1">
          <a:blip r:embed="rId4">
            <a:extLst>
              <a:ext uri="{28A0092B-C50C-407E-A947-70E740481C1C}">
                <a14:useLocalDpi xmlns:a14="http://schemas.microsoft.com/office/drawing/2010/main" val="0"/>
              </a:ext>
            </a:extLst>
          </a:blip>
          <a:srcRect l="1388" r="31018" b="16795"/>
          <a:stretch/>
        </p:blipFill>
        <p:spPr>
          <a:xfrm>
            <a:off x="-5129390" y="-1"/>
            <a:ext cx="8356998" cy="6858000"/>
          </a:xfrm>
          <a:prstGeom prst="rect">
            <a:avLst/>
          </a:prstGeom>
        </p:spPr>
      </p:pic>
      <p:sp>
        <p:nvSpPr>
          <p:cNvPr id="4" name="Title 1">
            <a:extLst>
              <a:ext uri="{FF2B5EF4-FFF2-40B4-BE49-F238E27FC236}">
                <a16:creationId xmlns:a16="http://schemas.microsoft.com/office/drawing/2014/main" id="{A4078C78-965C-7F21-B1B5-B88ADBD81C9A}"/>
              </a:ext>
            </a:extLst>
          </p:cNvPr>
          <p:cNvSpPr txBox="1">
            <a:spLocks/>
          </p:cNvSpPr>
          <p:nvPr/>
        </p:nvSpPr>
        <p:spPr>
          <a:xfrm>
            <a:off x="3227607" y="382790"/>
            <a:ext cx="8964393" cy="617535"/>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EXERCISES</a:t>
            </a:r>
          </a:p>
        </p:txBody>
      </p:sp>
      <p:pic>
        <p:nvPicPr>
          <p:cNvPr id="6" name="Picture 5">
            <a:extLst>
              <a:ext uri="{FF2B5EF4-FFF2-40B4-BE49-F238E27FC236}">
                <a16:creationId xmlns:a16="http://schemas.microsoft.com/office/drawing/2014/main" id="{C4965AF5-6AC5-AC15-64BD-BD15C9E62B1F}"/>
              </a:ext>
            </a:extLst>
          </p:cNvPr>
          <p:cNvPicPr>
            <a:picLocks noChangeAspect="1"/>
          </p:cNvPicPr>
          <p:nvPr/>
        </p:nvPicPr>
        <p:blipFill>
          <a:blip r:embed="rId5"/>
          <a:stretch>
            <a:fillRect/>
          </a:stretch>
        </p:blipFill>
        <p:spPr>
          <a:xfrm>
            <a:off x="5466172" y="1600018"/>
            <a:ext cx="4453957" cy="4875192"/>
          </a:xfrm>
          <a:prstGeom prst="rect">
            <a:avLst/>
          </a:prstGeom>
        </p:spPr>
      </p:pic>
      <p:sp>
        <p:nvSpPr>
          <p:cNvPr id="2" name="Rectangle: Rounded Corners 1">
            <a:extLst>
              <a:ext uri="{FF2B5EF4-FFF2-40B4-BE49-F238E27FC236}">
                <a16:creationId xmlns:a16="http://schemas.microsoft.com/office/drawing/2014/main" id="{12EE15E5-8061-220A-56C3-3D1BFF59B8B8}"/>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F77491-A9E6-0F80-9DB3-8571D00DDF02}"/>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BD383DDF-3CC1-DC7C-E686-2830302A3C8A}"/>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1234064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4"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257676" y="3176587"/>
            <a:ext cx="9020175" cy="504825"/>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EA15716B-5281-064C-CC4B-3C125F51DDC5}"/>
              </a:ext>
            </a:extLst>
          </p:cNvPr>
          <p:cNvPicPr>
            <a:picLocks noChangeAspect="1"/>
          </p:cNvPicPr>
          <p:nvPr/>
        </p:nvPicPr>
        <p:blipFill rotWithShape="1">
          <a:blip r:embed="rId4">
            <a:extLst>
              <a:ext uri="{28A0092B-C50C-407E-A947-70E740481C1C}">
                <a14:useLocalDpi xmlns:a14="http://schemas.microsoft.com/office/drawing/2010/main" val="0"/>
              </a:ext>
            </a:extLst>
          </a:blip>
          <a:srcRect l="1388" r="31018" b="16795"/>
          <a:stretch/>
        </p:blipFill>
        <p:spPr>
          <a:xfrm>
            <a:off x="-8357002" y="-1"/>
            <a:ext cx="8356998" cy="6858000"/>
          </a:xfrm>
          <a:prstGeom prst="rect">
            <a:avLst/>
          </a:prstGeom>
        </p:spPr>
      </p:pic>
      <p:sp>
        <p:nvSpPr>
          <p:cNvPr id="4" name="Title 1">
            <a:extLst>
              <a:ext uri="{FF2B5EF4-FFF2-40B4-BE49-F238E27FC236}">
                <a16:creationId xmlns:a16="http://schemas.microsoft.com/office/drawing/2014/main" id="{A4078C78-965C-7F21-B1B5-B88ADBD81C9A}"/>
              </a:ext>
            </a:extLst>
          </p:cNvPr>
          <p:cNvSpPr txBox="1">
            <a:spLocks/>
          </p:cNvSpPr>
          <p:nvPr/>
        </p:nvSpPr>
        <p:spPr>
          <a:xfrm>
            <a:off x="252411" y="382790"/>
            <a:ext cx="4453958" cy="617535"/>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EXERCISES</a:t>
            </a:r>
          </a:p>
        </p:txBody>
      </p:sp>
      <p:pic>
        <p:nvPicPr>
          <p:cNvPr id="2" name="Picture 1">
            <a:extLst>
              <a:ext uri="{FF2B5EF4-FFF2-40B4-BE49-F238E27FC236}">
                <a16:creationId xmlns:a16="http://schemas.microsoft.com/office/drawing/2014/main" id="{49EABE9C-4C15-D2E3-BF65-ED7521372043}"/>
              </a:ext>
            </a:extLst>
          </p:cNvPr>
          <p:cNvPicPr>
            <a:picLocks noChangeAspect="1"/>
          </p:cNvPicPr>
          <p:nvPr/>
        </p:nvPicPr>
        <p:blipFill>
          <a:blip r:embed="rId5"/>
          <a:stretch>
            <a:fillRect/>
          </a:stretch>
        </p:blipFill>
        <p:spPr>
          <a:xfrm>
            <a:off x="252411" y="1600018"/>
            <a:ext cx="4453957" cy="4875192"/>
          </a:xfrm>
          <a:prstGeom prst="rect">
            <a:avLst/>
          </a:prstGeom>
        </p:spPr>
      </p:pic>
      <p:sp>
        <p:nvSpPr>
          <p:cNvPr id="7" name="Rectangle 6">
            <a:extLst>
              <a:ext uri="{FF2B5EF4-FFF2-40B4-BE49-F238E27FC236}">
                <a16:creationId xmlns:a16="http://schemas.microsoft.com/office/drawing/2014/main" id="{65365402-9901-C871-897B-279EEC8837F7}"/>
              </a:ext>
            </a:extLst>
          </p:cNvPr>
          <p:cNvSpPr/>
          <p:nvPr/>
        </p:nvSpPr>
        <p:spPr>
          <a:xfrm>
            <a:off x="5148770" y="1516146"/>
            <a:ext cx="6096000" cy="11449288"/>
          </a:xfrm>
          <a:prstGeom prst="rect">
            <a:avLst/>
          </a:prstGeom>
        </p:spPr>
        <p:txBody>
          <a:bodyPr>
            <a:spAutoFit/>
          </a:bodyPr>
          <a:lstStyle/>
          <a:p>
            <a:r>
              <a:rPr lang="en-US" dirty="0">
                <a:solidFill>
                  <a:schemeClr val="bg1"/>
                </a:solidFill>
              </a:rPr>
              <a:t>#include&lt;Keypad.h&gt;  // keypad library </a:t>
            </a:r>
          </a:p>
          <a:p>
            <a:r>
              <a:rPr lang="en-US" dirty="0">
                <a:solidFill>
                  <a:schemeClr val="bg1"/>
                </a:solidFill>
              </a:rPr>
              <a:t>const int </a:t>
            </a:r>
            <a:r>
              <a:rPr lang="en-US" dirty="0" err="1">
                <a:solidFill>
                  <a:schemeClr val="bg1"/>
                </a:solidFill>
              </a:rPr>
              <a:t>numRows</a:t>
            </a:r>
            <a:r>
              <a:rPr lang="en-US" dirty="0">
                <a:solidFill>
                  <a:schemeClr val="bg1"/>
                </a:solidFill>
              </a:rPr>
              <a:t> = 4; // </a:t>
            </a:r>
            <a:r>
              <a:rPr lang="en-US" dirty="0" err="1">
                <a:solidFill>
                  <a:schemeClr val="bg1"/>
                </a:solidFill>
              </a:rPr>
              <a:t>jumlah</a:t>
            </a:r>
            <a:r>
              <a:rPr lang="en-US" dirty="0">
                <a:solidFill>
                  <a:schemeClr val="bg1"/>
                </a:solidFill>
              </a:rPr>
              <a:t> row</a:t>
            </a:r>
          </a:p>
          <a:p>
            <a:r>
              <a:rPr lang="en-US" dirty="0">
                <a:solidFill>
                  <a:schemeClr val="bg1"/>
                </a:solidFill>
              </a:rPr>
              <a:t>const int </a:t>
            </a:r>
            <a:r>
              <a:rPr lang="en-US" dirty="0" err="1">
                <a:solidFill>
                  <a:schemeClr val="bg1"/>
                </a:solidFill>
              </a:rPr>
              <a:t>numCols</a:t>
            </a:r>
            <a:r>
              <a:rPr lang="en-US" dirty="0">
                <a:solidFill>
                  <a:schemeClr val="bg1"/>
                </a:solidFill>
              </a:rPr>
              <a:t> = 4; // </a:t>
            </a:r>
            <a:r>
              <a:rPr lang="en-US" dirty="0" err="1">
                <a:solidFill>
                  <a:schemeClr val="bg1"/>
                </a:solidFill>
              </a:rPr>
              <a:t>jumlah</a:t>
            </a:r>
            <a:r>
              <a:rPr lang="en-US" dirty="0">
                <a:solidFill>
                  <a:schemeClr val="bg1"/>
                </a:solidFill>
              </a:rPr>
              <a:t> </a:t>
            </a:r>
            <a:r>
              <a:rPr lang="en-US" dirty="0" err="1">
                <a:solidFill>
                  <a:schemeClr val="bg1"/>
                </a:solidFill>
              </a:rPr>
              <a:t>coloum</a:t>
            </a:r>
            <a:endParaRPr lang="en-US" dirty="0">
              <a:solidFill>
                <a:schemeClr val="bg1"/>
              </a:solidFill>
            </a:endParaRPr>
          </a:p>
          <a:p>
            <a:endParaRPr lang="en-US" dirty="0">
              <a:solidFill>
                <a:schemeClr val="bg1"/>
              </a:solidFill>
            </a:endParaRPr>
          </a:p>
          <a:p>
            <a:r>
              <a:rPr lang="en-US" dirty="0">
                <a:solidFill>
                  <a:schemeClr val="bg1"/>
                </a:solidFill>
              </a:rPr>
              <a:t>char keymap [</a:t>
            </a:r>
            <a:r>
              <a:rPr lang="en-US" dirty="0" err="1">
                <a:solidFill>
                  <a:schemeClr val="bg1"/>
                </a:solidFill>
              </a:rPr>
              <a:t>numRows</a:t>
            </a:r>
            <a:r>
              <a:rPr lang="en-US" dirty="0">
                <a:solidFill>
                  <a:schemeClr val="bg1"/>
                </a:solidFill>
              </a:rPr>
              <a:t>][</a:t>
            </a:r>
            <a:r>
              <a:rPr lang="en-US" dirty="0" err="1">
                <a:solidFill>
                  <a:schemeClr val="bg1"/>
                </a:solidFill>
              </a:rPr>
              <a:t>numCols</a:t>
            </a:r>
            <a:r>
              <a:rPr lang="en-US" dirty="0">
                <a:solidFill>
                  <a:schemeClr val="bg1"/>
                </a:solidFill>
              </a:rPr>
              <a:t>]=</a:t>
            </a:r>
          </a:p>
          <a:p>
            <a:r>
              <a:rPr lang="en-US" dirty="0">
                <a:solidFill>
                  <a:schemeClr val="bg1"/>
                </a:solidFill>
              </a:rPr>
              <a:t>{</a:t>
            </a:r>
          </a:p>
          <a:p>
            <a:r>
              <a:rPr lang="en-US" dirty="0">
                <a:solidFill>
                  <a:schemeClr val="bg1"/>
                </a:solidFill>
              </a:rPr>
              <a:t>  {'1','2',</a:t>
            </a:r>
            <a:r>
              <a:rPr lang="en-US">
                <a:solidFill>
                  <a:schemeClr val="bg1"/>
                </a:solidFill>
              </a:rPr>
              <a:t>'3',’*'},</a:t>
            </a:r>
            <a:endParaRPr lang="en-US" dirty="0">
              <a:solidFill>
                <a:schemeClr val="bg1"/>
              </a:solidFill>
            </a:endParaRPr>
          </a:p>
          <a:p>
            <a:r>
              <a:rPr lang="en-US" dirty="0">
                <a:solidFill>
                  <a:schemeClr val="bg1"/>
                </a:solidFill>
              </a:rPr>
              <a:t>  {'4','5','6','B'},</a:t>
            </a:r>
          </a:p>
          <a:p>
            <a:r>
              <a:rPr lang="en-US" dirty="0">
                <a:solidFill>
                  <a:schemeClr val="bg1"/>
                </a:solidFill>
              </a:rPr>
              <a:t>  {'7','8','9','C'},</a:t>
            </a:r>
          </a:p>
          <a:p>
            <a:r>
              <a:rPr lang="en-US" dirty="0">
                <a:solidFill>
                  <a:schemeClr val="bg1"/>
                </a:solidFill>
              </a:rPr>
              <a:t>  {'*','0','#','D'}</a:t>
            </a:r>
          </a:p>
          <a:p>
            <a:r>
              <a:rPr lang="en-US" dirty="0">
                <a:solidFill>
                  <a:schemeClr val="bg1"/>
                </a:solidFill>
              </a:rPr>
              <a:t>};</a:t>
            </a:r>
          </a:p>
          <a:p>
            <a:endParaRPr lang="en-US" dirty="0">
              <a:solidFill>
                <a:schemeClr val="bg1"/>
              </a:solidFill>
            </a:endParaRPr>
          </a:p>
          <a:p>
            <a:r>
              <a:rPr lang="en-US" dirty="0">
                <a:solidFill>
                  <a:schemeClr val="bg1"/>
                </a:solidFill>
              </a:rPr>
              <a:t>byte </a:t>
            </a:r>
            <a:r>
              <a:rPr lang="en-US" dirty="0" err="1">
                <a:solidFill>
                  <a:schemeClr val="bg1"/>
                </a:solidFill>
              </a:rPr>
              <a:t>rowPins</a:t>
            </a:r>
            <a:r>
              <a:rPr lang="en-US" dirty="0">
                <a:solidFill>
                  <a:schemeClr val="bg1"/>
                </a:solidFill>
              </a:rPr>
              <a:t>[</a:t>
            </a:r>
            <a:r>
              <a:rPr lang="en-US" dirty="0" err="1">
                <a:solidFill>
                  <a:schemeClr val="bg1"/>
                </a:solidFill>
              </a:rPr>
              <a:t>numRows</a:t>
            </a:r>
            <a:r>
              <a:rPr lang="en-US" dirty="0">
                <a:solidFill>
                  <a:schemeClr val="bg1"/>
                </a:solidFill>
              </a:rPr>
              <a:t>] = {9,8,7,6}; // pin pada row</a:t>
            </a:r>
          </a:p>
          <a:p>
            <a:r>
              <a:rPr lang="en-US" dirty="0">
                <a:solidFill>
                  <a:schemeClr val="bg1"/>
                </a:solidFill>
              </a:rPr>
              <a:t>byte </a:t>
            </a:r>
            <a:r>
              <a:rPr lang="en-US" dirty="0" err="1">
                <a:solidFill>
                  <a:schemeClr val="bg1"/>
                </a:solidFill>
              </a:rPr>
              <a:t>colPins</a:t>
            </a:r>
            <a:r>
              <a:rPr lang="en-US" dirty="0">
                <a:solidFill>
                  <a:schemeClr val="bg1"/>
                </a:solidFill>
              </a:rPr>
              <a:t>[</a:t>
            </a:r>
            <a:r>
              <a:rPr lang="en-US" dirty="0" err="1">
                <a:solidFill>
                  <a:schemeClr val="bg1"/>
                </a:solidFill>
              </a:rPr>
              <a:t>numCols</a:t>
            </a:r>
            <a:r>
              <a:rPr lang="en-US" dirty="0">
                <a:solidFill>
                  <a:schemeClr val="bg1"/>
                </a:solidFill>
              </a:rPr>
              <a:t>] = {5,4,3,2}; // pin pada </a:t>
            </a:r>
            <a:r>
              <a:rPr lang="en-US" dirty="0" err="1">
                <a:solidFill>
                  <a:schemeClr val="bg1"/>
                </a:solidFill>
              </a:rPr>
              <a:t>coloum</a:t>
            </a:r>
            <a:endParaRPr lang="en-US" dirty="0">
              <a:solidFill>
                <a:schemeClr val="bg1"/>
              </a:solidFill>
            </a:endParaRPr>
          </a:p>
          <a:p>
            <a:endParaRPr lang="en-US" dirty="0">
              <a:solidFill>
                <a:schemeClr val="bg1"/>
              </a:solidFill>
            </a:endParaRPr>
          </a:p>
          <a:p>
            <a:r>
              <a:rPr lang="en-US" dirty="0">
                <a:solidFill>
                  <a:schemeClr val="bg1"/>
                </a:solidFill>
              </a:rPr>
              <a:t>Keypad </a:t>
            </a:r>
            <a:r>
              <a:rPr lang="en-US" dirty="0" err="1">
                <a:solidFill>
                  <a:schemeClr val="bg1"/>
                </a:solidFill>
              </a:rPr>
              <a:t>myKeypad</a:t>
            </a:r>
            <a:r>
              <a:rPr lang="en-US" dirty="0">
                <a:solidFill>
                  <a:schemeClr val="bg1"/>
                </a:solidFill>
              </a:rPr>
              <a:t> = Keypad(</a:t>
            </a:r>
            <a:r>
              <a:rPr lang="en-US" dirty="0" err="1">
                <a:solidFill>
                  <a:schemeClr val="bg1"/>
                </a:solidFill>
              </a:rPr>
              <a:t>makeKeymap</a:t>
            </a:r>
            <a:r>
              <a:rPr lang="en-US" dirty="0">
                <a:solidFill>
                  <a:schemeClr val="bg1"/>
                </a:solidFill>
              </a:rPr>
              <a:t>(keymap),</a:t>
            </a:r>
            <a:r>
              <a:rPr lang="en-US" dirty="0" err="1">
                <a:solidFill>
                  <a:schemeClr val="bg1"/>
                </a:solidFill>
              </a:rPr>
              <a:t>rowPins,colPins,numRows,numCols</a:t>
            </a:r>
            <a:r>
              <a:rPr lang="en-US" dirty="0">
                <a:solidFill>
                  <a:schemeClr val="bg1"/>
                </a:solidFill>
              </a:rPr>
              <a:t>);</a:t>
            </a:r>
          </a:p>
          <a:p>
            <a:r>
              <a:rPr lang="en-US" dirty="0">
                <a:solidFill>
                  <a:schemeClr val="bg1"/>
                </a:solidFill>
              </a:rPr>
              <a:t>//class  object</a:t>
            </a:r>
          </a:p>
          <a:p>
            <a:endParaRPr lang="en-US" dirty="0">
              <a:solidFill>
                <a:schemeClr val="bg1"/>
              </a:solidFill>
            </a:endParaRPr>
          </a:p>
          <a:p>
            <a:r>
              <a:rPr lang="en-US" dirty="0">
                <a:solidFill>
                  <a:schemeClr val="bg1"/>
                </a:solidFill>
              </a:rPr>
              <a:t>void setup()</a:t>
            </a:r>
          </a:p>
          <a:p>
            <a:r>
              <a:rPr lang="en-US" dirty="0">
                <a:solidFill>
                  <a:schemeClr val="bg1"/>
                </a:solidFill>
              </a:rPr>
              <a:t>{</a:t>
            </a:r>
          </a:p>
          <a:p>
            <a:r>
              <a:rPr lang="en-US" dirty="0">
                <a:solidFill>
                  <a:schemeClr val="bg1"/>
                </a:solidFill>
              </a:rPr>
              <a:t> </a:t>
            </a:r>
            <a:r>
              <a:rPr lang="en-US" dirty="0" err="1">
                <a:solidFill>
                  <a:schemeClr val="bg1"/>
                </a:solidFill>
              </a:rPr>
              <a:t>pinMode</a:t>
            </a:r>
            <a:r>
              <a:rPr lang="en-US" dirty="0">
                <a:solidFill>
                  <a:schemeClr val="bg1"/>
                </a:solidFill>
              </a:rPr>
              <a:t>(13,OUTPUT);</a:t>
            </a:r>
          </a:p>
          <a:p>
            <a:r>
              <a:rPr lang="en-US" dirty="0">
                <a:solidFill>
                  <a:schemeClr val="bg1"/>
                </a:solidFill>
              </a:rPr>
              <a:t> </a:t>
            </a:r>
            <a:r>
              <a:rPr lang="en-US" dirty="0" err="1">
                <a:solidFill>
                  <a:schemeClr val="bg1"/>
                </a:solidFill>
              </a:rPr>
              <a:t>digitalWrite</a:t>
            </a:r>
            <a:r>
              <a:rPr lang="en-US" dirty="0">
                <a:solidFill>
                  <a:schemeClr val="bg1"/>
                </a:solidFill>
              </a:rPr>
              <a:t>(13, HIGH);</a:t>
            </a:r>
          </a:p>
          <a:p>
            <a:r>
              <a:rPr lang="en-US" dirty="0">
                <a:solidFill>
                  <a:schemeClr val="bg1"/>
                </a:solidFill>
              </a:rPr>
              <a:t>}</a:t>
            </a:r>
          </a:p>
          <a:p>
            <a:endParaRPr lang="en-US" dirty="0">
              <a:solidFill>
                <a:schemeClr val="bg1"/>
              </a:solidFill>
            </a:endParaRPr>
          </a:p>
          <a:p>
            <a:r>
              <a:rPr lang="en-US" dirty="0">
                <a:solidFill>
                  <a:schemeClr val="bg1"/>
                </a:solidFill>
              </a:rPr>
              <a:t>void loop()</a:t>
            </a:r>
          </a:p>
          <a:p>
            <a:r>
              <a:rPr lang="en-US" dirty="0">
                <a:solidFill>
                  <a:schemeClr val="bg1"/>
                </a:solidFill>
              </a:rPr>
              <a:t>{</a:t>
            </a:r>
          </a:p>
          <a:p>
            <a:r>
              <a:rPr lang="en-US" dirty="0">
                <a:solidFill>
                  <a:schemeClr val="bg1"/>
                </a:solidFill>
              </a:rPr>
              <a:t> char </a:t>
            </a:r>
            <a:r>
              <a:rPr lang="en-US" dirty="0" err="1">
                <a:solidFill>
                  <a:schemeClr val="bg1"/>
                </a:solidFill>
              </a:rPr>
              <a:t>keypressed</a:t>
            </a:r>
            <a:r>
              <a:rPr lang="en-US" dirty="0">
                <a:solidFill>
                  <a:schemeClr val="bg1"/>
                </a:solidFill>
              </a:rPr>
              <a:t> =</a:t>
            </a:r>
            <a:r>
              <a:rPr lang="en-US" dirty="0" err="1">
                <a:solidFill>
                  <a:schemeClr val="bg1"/>
                </a:solidFill>
              </a:rPr>
              <a:t>myKeypad.getKey</a:t>
            </a:r>
            <a:r>
              <a:rPr lang="en-US" dirty="0">
                <a:solidFill>
                  <a:schemeClr val="bg1"/>
                </a:solidFill>
              </a:rPr>
              <a:t>();</a:t>
            </a:r>
          </a:p>
          <a:p>
            <a:r>
              <a:rPr lang="en-US" dirty="0">
                <a:solidFill>
                  <a:schemeClr val="bg1"/>
                </a:solidFill>
              </a:rPr>
              <a:t>  //keypad </a:t>
            </a:r>
            <a:r>
              <a:rPr lang="en-US" dirty="0" err="1">
                <a:solidFill>
                  <a:schemeClr val="bg1"/>
                </a:solidFill>
              </a:rPr>
              <a:t>adalah</a:t>
            </a:r>
            <a:r>
              <a:rPr lang="en-US" dirty="0">
                <a:solidFill>
                  <a:schemeClr val="bg1"/>
                </a:solidFill>
              </a:rPr>
              <a:t> object dan .</a:t>
            </a:r>
            <a:r>
              <a:rPr lang="en-US" dirty="0" err="1">
                <a:solidFill>
                  <a:schemeClr val="bg1"/>
                </a:solidFill>
              </a:rPr>
              <a:t>getKey</a:t>
            </a:r>
            <a:r>
              <a:rPr lang="en-US" dirty="0">
                <a:solidFill>
                  <a:schemeClr val="bg1"/>
                </a:solidFill>
              </a:rPr>
              <a:t>() </a:t>
            </a:r>
            <a:r>
              <a:rPr lang="en-US" dirty="0" err="1">
                <a:solidFill>
                  <a:schemeClr val="bg1"/>
                </a:solidFill>
              </a:rPr>
              <a:t>adalah</a:t>
            </a:r>
            <a:r>
              <a:rPr lang="en-US" dirty="0">
                <a:solidFill>
                  <a:schemeClr val="bg1"/>
                </a:solidFill>
              </a:rPr>
              <a:t> method</a:t>
            </a:r>
          </a:p>
          <a:p>
            <a:r>
              <a:rPr lang="en-US" dirty="0">
                <a:solidFill>
                  <a:schemeClr val="bg1"/>
                </a:solidFill>
              </a:rPr>
              <a:t>  </a:t>
            </a:r>
          </a:p>
          <a:p>
            <a:r>
              <a:rPr lang="en-US" dirty="0">
                <a:solidFill>
                  <a:schemeClr val="bg1"/>
                </a:solidFill>
              </a:rPr>
              <a:t>  if(</a:t>
            </a:r>
            <a:r>
              <a:rPr lang="en-US" dirty="0" err="1">
                <a:solidFill>
                  <a:schemeClr val="bg1"/>
                </a:solidFill>
              </a:rPr>
              <a:t>keypressed</a:t>
            </a:r>
            <a:r>
              <a:rPr lang="en-US" dirty="0">
                <a:solidFill>
                  <a:schemeClr val="bg1"/>
                </a:solidFill>
              </a:rPr>
              <a:t>=='1')</a:t>
            </a:r>
          </a:p>
          <a:p>
            <a:r>
              <a:rPr lang="en-US" dirty="0">
                <a:solidFill>
                  <a:schemeClr val="bg1"/>
                </a:solidFill>
              </a:rPr>
              <a:t>  {</a:t>
            </a:r>
          </a:p>
          <a:p>
            <a:r>
              <a:rPr lang="en-US" dirty="0">
                <a:solidFill>
                  <a:schemeClr val="bg1"/>
                </a:solidFill>
              </a:rPr>
              <a:t>   </a:t>
            </a:r>
            <a:r>
              <a:rPr lang="en-US" dirty="0" err="1">
                <a:solidFill>
                  <a:schemeClr val="bg1"/>
                </a:solidFill>
              </a:rPr>
              <a:t>digitalWrite</a:t>
            </a:r>
            <a:r>
              <a:rPr lang="en-US" dirty="0">
                <a:solidFill>
                  <a:schemeClr val="bg1"/>
                </a:solidFill>
              </a:rPr>
              <a:t>(13, LOW);</a:t>
            </a:r>
          </a:p>
          <a:p>
            <a:r>
              <a:rPr lang="en-US" dirty="0">
                <a:solidFill>
                  <a:schemeClr val="bg1"/>
                </a:solidFill>
              </a:rPr>
              <a:t>  }</a:t>
            </a:r>
          </a:p>
          <a:p>
            <a:r>
              <a:rPr lang="en-US" dirty="0">
                <a:solidFill>
                  <a:schemeClr val="bg1"/>
                </a:solidFill>
              </a:rPr>
              <a:t>    if(</a:t>
            </a:r>
            <a:r>
              <a:rPr lang="en-US" dirty="0" err="1">
                <a:solidFill>
                  <a:schemeClr val="bg1"/>
                </a:solidFill>
              </a:rPr>
              <a:t>keypressed</a:t>
            </a:r>
            <a:r>
              <a:rPr lang="en-US" dirty="0">
                <a:solidFill>
                  <a:schemeClr val="bg1"/>
                </a:solidFill>
              </a:rPr>
              <a:t>=='2')</a:t>
            </a:r>
          </a:p>
          <a:p>
            <a:r>
              <a:rPr lang="en-US" dirty="0">
                <a:solidFill>
                  <a:schemeClr val="bg1"/>
                </a:solidFill>
              </a:rPr>
              <a:t>  {</a:t>
            </a:r>
          </a:p>
          <a:p>
            <a:r>
              <a:rPr lang="en-US" dirty="0">
                <a:solidFill>
                  <a:schemeClr val="bg1"/>
                </a:solidFill>
              </a:rPr>
              <a:t>   </a:t>
            </a:r>
            <a:r>
              <a:rPr lang="en-US" dirty="0" err="1">
                <a:solidFill>
                  <a:schemeClr val="bg1"/>
                </a:solidFill>
              </a:rPr>
              <a:t>digitalWrite</a:t>
            </a:r>
            <a:r>
              <a:rPr lang="en-US" dirty="0">
                <a:solidFill>
                  <a:schemeClr val="bg1"/>
                </a:solidFill>
              </a:rPr>
              <a:t>(13, HIGH);</a:t>
            </a:r>
          </a:p>
          <a:p>
            <a:r>
              <a:rPr lang="en-US" dirty="0">
                <a:solidFill>
                  <a:schemeClr val="bg1"/>
                </a:solidFill>
              </a:rPr>
              <a:t>  }</a:t>
            </a:r>
          </a:p>
          <a:p>
            <a:r>
              <a:rPr lang="en-US" dirty="0">
                <a:solidFill>
                  <a:schemeClr val="bg1"/>
                </a:solidFill>
              </a:rPr>
              <a:t>  </a:t>
            </a:r>
          </a:p>
          <a:p>
            <a:r>
              <a:rPr lang="en-US" dirty="0">
                <a:solidFill>
                  <a:schemeClr val="bg1"/>
                </a:solidFill>
              </a:rPr>
              <a:t>}</a:t>
            </a:r>
          </a:p>
        </p:txBody>
      </p:sp>
    </p:spTree>
    <p:extLst>
      <p:ext uri="{BB962C8B-B14F-4D97-AF65-F5344CB8AC3E}">
        <p14:creationId xmlns:p14="http://schemas.microsoft.com/office/powerpoint/2010/main" val="20266943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4"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257676" y="3176587"/>
            <a:ext cx="9020175" cy="504825"/>
          </a:xfrm>
          <a:prstGeom prst="rect">
            <a:avLst/>
          </a:prstGeom>
        </p:spPr>
      </p:pic>
      <p:sp>
        <p:nvSpPr>
          <p:cNvPr id="4" name="Title 1">
            <a:extLst>
              <a:ext uri="{FF2B5EF4-FFF2-40B4-BE49-F238E27FC236}">
                <a16:creationId xmlns:a16="http://schemas.microsoft.com/office/drawing/2014/main" id="{A4078C78-965C-7F21-B1B5-B88ADBD81C9A}"/>
              </a:ext>
            </a:extLst>
          </p:cNvPr>
          <p:cNvSpPr txBox="1">
            <a:spLocks/>
          </p:cNvSpPr>
          <p:nvPr/>
        </p:nvSpPr>
        <p:spPr>
          <a:xfrm>
            <a:off x="252412" y="382790"/>
            <a:ext cx="4453956" cy="617535"/>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EXERCISES</a:t>
            </a:r>
          </a:p>
        </p:txBody>
      </p:sp>
      <p:pic>
        <p:nvPicPr>
          <p:cNvPr id="2" name="Picture 1">
            <a:extLst>
              <a:ext uri="{FF2B5EF4-FFF2-40B4-BE49-F238E27FC236}">
                <a16:creationId xmlns:a16="http://schemas.microsoft.com/office/drawing/2014/main" id="{49EABE9C-4C15-D2E3-BF65-ED7521372043}"/>
              </a:ext>
            </a:extLst>
          </p:cNvPr>
          <p:cNvPicPr>
            <a:picLocks noChangeAspect="1"/>
          </p:cNvPicPr>
          <p:nvPr/>
        </p:nvPicPr>
        <p:blipFill>
          <a:blip r:embed="rId4"/>
          <a:stretch>
            <a:fillRect/>
          </a:stretch>
        </p:blipFill>
        <p:spPr>
          <a:xfrm>
            <a:off x="252411" y="1600018"/>
            <a:ext cx="4453957" cy="4875192"/>
          </a:xfrm>
          <a:prstGeom prst="rect">
            <a:avLst/>
          </a:prstGeom>
        </p:spPr>
      </p:pic>
      <p:sp>
        <p:nvSpPr>
          <p:cNvPr id="7" name="Rectangle 6">
            <a:extLst>
              <a:ext uri="{FF2B5EF4-FFF2-40B4-BE49-F238E27FC236}">
                <a16:creationId xmlns:a16="http://schemas.microsoft.com/office/drawing/2014/main" id="{65365402-9901-C871-897B-279EEC8837F7}"/>
              </a:ext>
            </a:extLst>
          </p:cNvPr>
          <p:cNvSpPr/>
          <p:nvPr/>
        </p:nvSpPr>
        <p:spPr>
          <a:xfrm>
            <a:off x="5148770" y="-4724319"/>
            <a:ext cx="6096000" cy="11449288"/>
          </a:xfrm>
          <a:prstGeom prst="rect">
            <a:avLst/>
          </a:prstGeom>
        </p:spPr>
        <p:txBody>
          <a:bodyPr>
            <a:spAutoFit/>
          </a:bodyPr>
          <a:lstStyle/>
          <a:p>
            <a:r>
              <a:rPr lang="en-US">
                <a:solidFill>
                  <a:schemeClr val="bg1"/>
                </a:solidFill>
              </a:rPr>
              <a:t>#include&lt;</a:t>
            </a:r>
            <a:r>
              <a:rPr lang="en-US" err="1">
                <a:solidFill>
                  <a:schemeClr val="bg1"/>
                </a:solidFill>
              </a:rPr>
              <a:t>Keypad.h</a:t>
            </a:r>
            <a:r>
              <a:rPr lang="en-US">
                <a:solidFill>
                  <a:schemeClr val="bg1"/>
                </a:solidFill>
              </a:rPr>
              <a:t>&gt;  // keypad library </a:t>
            </a:r>
          </a:p>
          <a:p>
            <a:r>
              <a:rPr lang="en-US">
                <a:solidFill>
                  <a:schemeClr val="bg1"/>
                </a:solidFill>
              </a:rPr>
              <a:t>const int </a:t>
            </a:r>
            <a:r>
              <a:rPr lang="en-US" err="1">
                <a:solidFill>
                  <a:schemeClr val="bg1"/>
                </a:solidFill>
              </a:rPr>
              <a:t>numRows</a:t>
            </a:r>
            <a:r>
              <a:rPr lang="en-US">
                <a:solidFill>
                  <a:schemeClr val="bg1"/>
                </a:solidFill>
              </a:rPr>
              <a:t> = 4; // </a:t>
            </a:r>
            <a:r>
              <a:rPr lang="en-US" err="1">
                <a:solidFill>
                  <a:schemeClr val="bg1"/>
                </a:solidFill>
              </a:rPr>
              <a:t>jumlah</a:t>
            </a:r>
            <a:r>
              <a:rPr lang="en-US">
                <a:solidFill>
                  <a:schemeClr val="bg1"/>
                </a:solidFill>
              </a:rPr>
              <a:t> row</a:t>
            </a:r>
          </a:p>
          <a:p>
            <a:r>
              <a:rPr lang="en-US">
                <a:solidFill>
                  <a:schemeClr val="bg1"/>
                </a:solidFill>
              </a:rPr>
              <a:t>const int </a:t>
            </a:r>
            <a:r>
              <a:rPr lang="en-US" err="1">
                <a:solidFill>
                  <a:schemeClr val="bg1"/>
                </a:solidFill>
              </a:rPr>
              <a:t>numCols</a:t>
            </a:r>
            <a:r>
              <a:rPr lang="en-US">
                <a:solidFill>
                  <a:schemeClr val="bg1"/>
                </a:solidFill>
              </a:rPr>
              <a:t> = 4; // </a:t>
            </a:r>
            <a:r>
              <a:rPr lang="en-US" err="1">
                <a:solidFill>
                  <a:schemeClr val="bg1"/>
                </a:solidFill>
              </a:rPr>
              <a:t>jumlah</a:t>
            </a:r>
            <a:r>
              <a:rPr lang="en-US">
                <a:solidFill>
                  <a:schemeClr val="bg1"/>
                </a:solidFill>
              </a:rPr>
              <a:t> </a:t>
            </a:r>
            <a:r>
              <a:rPr lang="en-US" err="1">
                <a:solidFill>
                  <a:schemeClr val="bg1"/>
                </a:solidFill>
              </a:rPr>
              <a:t>coloum</a:t>
            </a:r>
            <a:endParaRPr lang="en-US">
              <a:solidFill>
                <a:schemeClr val="bg1"/>
              </a:solidFill>
            </a:endParaRPr>
          </a:p>
          <a:p>
            <a:endParaRPr lang="en-US">
              <a:solidFill>
                <a:schemeClr val="bg1"/>
              </a:solidFill>
            </a:endParaRPr>
          </a:p>
          <a:p>
            <a:r>
              <a:rPr lang="en-US">
                <a:solidFill>
                  <a:schemeClr val="bg1"/>
                </a:solidFill>
              </a:rPr>
              <a:t>char keymap [</a:t>
            </a:r>
            <a:r>
              <a:rPr lang="en-US" err="1">
                <a:solidFill>
                  <a:schemeClr val="bg1"/>
                </a:solidFill>
              </a:rPr>
              <a:t>numRows</a:t>
            </a:r>
            <a:r>
              <a:rPr lang="en-US">
                <a:solidFill>
                  <a:schemeClr val="bg1"/>
                </a:solidFill>
              </a:rPr>
              <a:t>][</a:t>
            </a:r>
            <a:r>
              <a:rPr lang="en-US" err="1">
                <a:solidFill>
                  <a:schemeClr val="bg1"/>
                </a:solidFill>
              </a:rPr>
              <a:t>numCols</a:t>
            </a:r>
            <a:r>
              <a:rPr lang="en-US">
                <a:solidFill>
                  <a:schemeClr val="bg1"/>
                </a:solidFill>
              </a:rPr>
              <a:t>]=</a:t>
            </a:r>
          </a:p>
          <a:p>
            <a:r>
              <a:rPr lang="en-US">
                <a:solidFill>
                  <a:schemeClr val="bg1"/>
                </a:solidFill>
              </a:rPr>
              <a:t>{</a:t>
            </a:r>
          </a:p>
          <a:p>
            <a:r>
              <a:rPr lang="en-US">
                <a:solidFill>
                  <a:schemeClr val="bg1"/>
                </a:solidFill>
              </a:rPr>
              <a:t>  {'1','2','3',’*'},</a:t>
            </a:r>
          </a:p>
          <a:p>
            <a:r>
              <a:rPr lang="en-US">
                <a:solidFill>
                  <a:schemeClr val="bg1"/>
                </a:solidFill>
              </a:rPr>
              <a:t>  {'4','5','6','B'},</a:t>
            </a:r>
          </a:p>
          <a:p>
            <a:r>
              <a:rPr lang="en-US">
                <a:solidFill>
                  <a:schemeClr val="bg1"/>
                </a:solidFill>
              </a:rPr>
              <a:t>  {'7','8','9','C'},</a:t>
            </a:r>
          </a:p>
          <a:p>
            <a:r>
              <a:rPr lang="en-US">
                <a:solidFill>
                  <a:schemeClr val="bg1"/>
                </a:solidFill>
              </a:rPr>
              <a:t>  {'*','0','#','D'}</a:t>
            </a:r>
          </a:p>
          <a:p>
            <a:r>
              <a:rPr lang="en-US">
                <a:solidFill>
                  <a:schemeClr val="bg1"/>
                </a:solidFill>
              </a:rPr>
              <a:t>};</a:t>
            </a:r>
          </a:p>
          <a:p>
            <a:endParaRPr lang="en-US">
              <a:solidFill>
                <a:schemeClr val="bg1"/>
              </a:solidFill>
            </a:endParaRPr>
          </a:p>
          <a:p>
            <a:r>
              <a:rPr lang="en-US">
                <a:solidFill>
                  <a:schemeClr val="bg1"/>
                </a:solidFill>
              </a:rPr>
              <a:t>byte </a:t>
            </a:r>
            <a:r>
              <a:rPr lang="en-US" err="1">
                <a:solidFill>
                  <a:schemeClr val="bg1"/>
                </a:solidFill>
              </a:rPr>
              <a:t>rowPins</a:t>
            </a:r>
            <a:r>
              <a:rPr lang="en-US">
                <a:solidFill>
                  <a:schemeClr val="bg1"/>
                </a:solidFill>
              </a:rPr>
              <a:t>[</a:t>
            </a:r>
            <a:r>
              <a:rPr lang="en-US" err="1">
                <a:solidFill>
                  <a:schemeClr val="bg1"/>
                </a:solidFill>
              </a:rPr>
              <a:t>numRows</a:t>
            </a:r>
            <a:r>
              <a:rPr lang="en-US">
                <a:solidFill>
                  <a:schemeClr val="bg1"/>
                </a:solidFill>
              </a:rPr>
              <a:t>] = {9,8,7,6}; // pin pada row</a:t>
            </a:r>
          </a:p>
          <a:p>
            <a:r>
              <a:rPr lang="en-US">
                <a:solidFill>
                  <a:schemeClr val="bg1"/>
                </a:solidFill>
              </a:rPr>
              <a:t>byte </a:t>
            </a:r>
            <a:r>
              <a:rPr lang="en-US" err="1">
                <a:solidFill>
                  <a:schemeClr val="bg1"/>
                </a:solidFill>
              </a:rPr>
              <a:t>colPins</a:t>
            </a:r>
            <a:r>
              <a:rPr lang="en-US">
                <a:solidFill>
                  <a:schemeClr val="bg1"/>
                </a:solidFill>
              </a:rPr>
              <a:t>[</a:t>
            </a:r>
            <a:r>
              <a:rPr lang="en-US" err="1">
                <a:solidFill>
                  <a:schemeClr val="bg1"/>
                </a:solidFill>
              </a:rPr>
              <a:t>numCols</a:t>
            </a:r>
            <a:r>
              <a:rPr lang="en-US">
                <a:solidFill>
                  <a:schemeClr val="bg1"/>
                </a:solidFill>
              </a:rPr>
              <a:t>] = {5,4,3,2}; // pin pada </a:t>
            </a:r>
            <a:r>
              <a:rPr lang="en-US" err="1">
                <a:solidFill>
                  <a:schemeClr val="bg1"/>
                </a:solidFill>
              </a:rPr>
              <a:t>coloum</a:t>
            </a:r>
            <a:endParaRPr lang="en-US">
              <a:solidFill>
                <a:schemeClr val="bg1"/>
              </a:solidFill>
            </a:endParaRPr>
          </a:p>
          <a:p>
            <a:endParaRPr lang="en-US">
              <a:solidFill>
                <a:schemeClr val="bg1"/>
              </a:solidFill>
            </a:endParaRPr>
          </a:p>
          <a:p>
            <a:r>
              <a:rPr lang="en-US">
                <a:solidFill>
                  <a:schemeClr val="bg1"/>
                </a:solidFill>
              </a:rPr>
              <a:t>Keypad </a:t>
            </a:r>
            <a:r>
              <a:rPr lang="en-US" err="1">
                <a:solidFill>
                  <a:schemeClr val="bg1"/>
                </a:solidFill>
              </a:rPr>
              <a:t>myKeypad</a:t>
            </a:r>
            <a:r>
              <a:rPr lang="en-US">
                <a:solidFill>
                  <a:schemeClr val="bg1"/>
                </a:solidFill>
              </a:rPr>
              <a:t> = Keypad(</a:t>
            </a:r>
            <a:r>
              <a:rPr lang="en-US" err="1">
                <a:solidFill>
                  <a:schemeClr val="bg1"/>
                </a:solidFill>
              </a:rPr>
              <a:t>makeKeymap</a:t>
            </a:r>
            <a:r>
              <a:rPr lang="en-US">
                <a:solidFill>
                  <a:schemeClr val="bg1"/>
                </a:solidFill>
              </a:rPr>
              <a:t>(keymap),</a:t>
            </a:r>
            <a:r>
              <a:rPr lang="en-US" err="1">
                <a:solidFill>
                  <a:schemeClr val="bg1"/>
                </a:solidFill>
              </a:rPr>
              <a:t>rowPins,colPins,numRows,numCols</a:t>
            </a:r>
            <a:r>
              <a:rPr lang="en-US">
                <a:solidFill>
                  <a:schemeClr val="bg1"/>
                </a:solidFill>
              </a:rPr>
              <a:t>);</a:t>
            </a:r>
          </a:p>
          <a:p>
            <a:r>
              <a:rPr lang="en-US">
                <a:solidFill>
                  <a:schemeClr val="bg1"/>
                </a:solidFill>
              </a:rPr>
              <a:t>//class  object</a:t>
            </a:r>
          </a:p>
          <a:p>
            <a:endParaRPr lang="en-US">
              <a:solidFill>
                <a:schemeClr val="bg1"/>
              </a:solidFill>
            </a:endParaRPr>
          </a:p>
          <a:p>
            <a:r>
              <a:rPr lang="en-US">
                <a:solidFill>
                  <a:schemeClr val="bg1"/>
                </a:solidFill>
              </a:rPr>
              <a:t>void setup()</a:t>
            </a:r>
          </a:p>
          <a:p>
            <a:r>
              <a:rPr lang="en-US">
                <a:solidFill>
                  <a:schemeClr val="bg1"/>
                </a:solidFill>
              </a:rPr>
              <a:t>{</a:t>
            </a:r>
          </a:p>
          <a:p>
            <a:r>
              <a:rPr lang="en-US">
                <a:solidFill>
                  <a:schemeClr val="bg1"/>
                </a:solidFill>
              </a:rPr>
              <a:t> </a:t>
            </a:r>
            <a:r>
              <a:rPr lang="en-US" err="1">
                <a:solidFill>
                  <a:schemeClr val="bg1"/>
                </a:solidFill>
              </a:rPr>
              <a:t>pinMode</a:t>
            </a:r>
            <a:r>
              <a:rPr lang="en-US">
                <a:solidFill>
                  <a:schemeClr val="bg1"/>
                </a:solidFill>
              </a:rPr>
              <a:t>(13,OUTPUT);</a:t>
            </a:r>
          </a:p>
          <a:p>
            <a:r>
              <a:rPr lang="en-US">
                <a:solidFill>
                  <a:schemeClr val="bg1"/>
                </a:solidFill>
              </a:rPr>
              <a:t> </a:t>
            </a:r>
            <a:r>
              <a:rPr lang="en-US" err="1">
                <a:solidFill>
                  <a:schemeClr val="bg1"/>
                </a:solidFill>
              </a:rPr>
              <a:t>digitalWrite</a:t>
            </a:r>
            <a:r>
              <a:rPr lang="en-US">
                <a:solidFill>
                  <a:schemeClr val="bg1"/>
                </a:solidFill>
              </a:rPr>
              <a:t>(13, HIGH);</a:t>
            </a:r>
          </a:p>
          <a:p>
            <a:r>
              <a:rPr lang="en-US">
                <a:solidFill>
                  <a:schemeClr val="bg1"/>
                </a:solidFill>
              </a:rPr>
              <a:t>}</a:t>
            </a:r>
          </a:p>
          <a:p>
            <a:endParaRPr lang="en-US">
              <a:solidFill>
                <a:schemeClr val="bg1"/>
              </a:solidFill>
            </a:endParaRPr>
          </a:p>
          <a:p>
            <a:r>
              <a:rPr lang="en-US">
                <a:solidFill>
                  <a:schemeClr val="bg1"/>
                </a:solidFill>
              </a:rPr>
              <a:t>void loop()</a:t>
            </a:r>
          </a:p>
          <a:p>
            <a:r>
              <a:rPr lang="en-US">
                <a:solidFill>
                  <a:schemeClr val="bg1"/>
                </a:solidFill>
              </a:rPr>
              <a:t>{</a:t>
            </a:r>
          </a:p>
          <a:p>
            <a:r>
              <a:rPr lang="en-US">
                <a:solidFill>
                  <a:schemeClr val="bg1"/>
                </a:solidFill>
              </a:rPr>
              <a:t> char </a:t>
            </a:r>
            <a:r>
              <a:rPr lang="en-US" err="1">
                <a:solidFill>
                  <a:schemeClr val="bg1"/>
                </a:solidFill>
              </a:rPr>
              <a:t>keypressed</a:t>
            </a:r>
            <a:r>
              <a:rPr lang="en-US">
                <a:solidFill>
                  <a:schemeClr val="bg1"/>
                </a:solidFill>
              </a:rPr>
              <a:t> =</a:t>
            </a:r>
            <a:r>
              <a:rPr lang="en-US" err="1">
                <a:solidFill>
                  <a:schemeClr val="bg1"/>
                </a:solidFill>
              </a:rPr>
              <a:t>myKeypad.getKey</a:t>
            </a:r>
            <a:r>
              <a:rPr lang="en-US">
                <a:solidFill>
                  <a:schemeClr val="bg1"/>
                </a:solidFill>
              </a:rPr>
              <a:t>();</a:t>
            </a:r>
          </a:p>
          <a:p>
            <a:r>
              <a:rPr lang="en-US">
                <a:solidFill>
                  <a:schemeClr val="bg1"/>
                </a:solidFill>
              </a:rPr>
              <a:t>  //keypad </a:t>
            </a:r>
            <a:r>
              <a:rPr lang="en-US" err="1">
                <a:solidFill>
                  <a:schemeClr val="bg1"/>
                </a:solidFill>
              </a:rPr>
              <a:t>adalah</a:t>
            </a:r>
            <a:r>
              <a:rPr lang="en-US">
                <a:solidFill>
                  <a:schemeClr val="bg1"/>
                </a:solidFill>
              </a:rPr>
              <a:t> object dan .</a:t>
            </a:r>
            <a:r>
              <a:rPr lang="en-US" err="1">
                <a:solidFill>
                  <a:schemeClr val="bg1"/>
                </a:solidFill>
              </a:rPr>
              <a:t>getKey</a:t>
            </a:r>
            <a:r>
              <a:rPr lang="en-US">
                <a:solidFill>
                  <a:schemeClr val="bg1"/>
                </a:solidFill>
              </a:rPr>
              <a:t>() </a:t>
            </a:r>
            <a:r>
              <a:rPr lang="en-US" err="1">
                <a:solidFill>
                  <a:schemeClr val="bg1"/>
                </a:solidFill>
              </a:rPr>
              <a:t>adalah</a:t>
            </a:r>
            <a:r>
              <a:rPr lang="en-US">
                <a:solidFill>
                  <a:schemeClr val="bg1"/>
                </a:solidFill>
              </a:rPr>
              <a:t> method</a:t>
            </a:r>
          </a:p>
          <a:p>
            <a:r>
              <a:rPr lang="en-US">
                <a:solidFill>
                  <a:schemeClr val="bg1"/>
                </a:solidFill>
              </a:rPr>
              <a:t>  </a:t>
            </a:r>
          </a:p>
          <a:p>
            <a:r>
              <a:rPr lang="en-US">
                <a:solidFill>
                  <a:schemeClr val="bg1"/>
                </a:solidFill>
              </a:rPr>
              <a:t>  if(</a:t>
            </a:r>
            <a:r>
              <a:rPr lang="en-US" err="1">
                <a:solidFill>
                  <a:schemeClr val="bg1"/>
                </a:solidFill>
              </a:rPr>
              <a:t>keypressed</a:t>
            </a:r>
            <a:r>
              <a:rPr lang="en-US">
                <a:solidFill>
                  <a:schemeClr val="bg1"/>
                </a:solidFill>
              </a:rPr>
              <a:t>=='1')</a:t>
            </a:r>
          </a:p>
          <a:p>
            <a:r>
              <a:rPr lang="en-US">
                <a:solidFill>
                  <a:schemeClr val="bg1"/>
                </a:solidFill>
              </a:rPr>
              <a:t>  {</a:t>
            </a:r>
          </a:p>
          <a:p>
            <a:r>
              <a:rPr lang="en-US">
                <a:solidFill>
                  <a:schemeClr val="bg1"/>
                </a:solidFill>
              </a:rPr>
              <a:t>   </a:t>
            </a:r>
            <a:r>
              <a:rPr lang="en-US" err="1">
                <a:solidFill>
                  <a:schemeClr val="bg1"/>
                </a:solidFill>
              </a:rPr>
              <a:t>digitalWrite</a:t>
            </a:r>
            <a:r>
              <a:rPr lang="en-US">
                <a:solidFill>
                  <a:schemeClr val="bg1"/>
                </a:solidFill>
              </a:rPr>
              <a:t>(13, LOW);</a:t>
            </a:r>
          </a:p>
          <a:p>
            <a:r>
              <a:rPr lang="en-US">
                <a:solidFill>
                  <a:schemeClr val="bg1"/>
                </a:solidFill>
              </a:rPr>
              <a:t>  }</a:t>
            </a:r>
          </a:p>
          <a:p>
            <a:r>
              <a:rPr lang="en-US">
                <a:solidFill>
                  <a:schemeClr val="bg1"/>
                </a:solidFill>
              </a:rPr>
              <a:t>    if(</a:t>
            </a:r>
            <a:r>
              <a:rPr lang="en-US" err="1">
                <a:solidFill>
                  <a:schemeClr val="bg1"/>
                </a:solidFill>
              </a:rPr>
              <a:t>keypressed</a:t>
            </a:r>
            <a:r>
              <a:rPr lang="en-US">
                <a:solidFill>
                  <a:schemeClr val="bg1"/>
                </a:solidFill>
              </a:rPr>
              <a:t>=='2')</a:t>
            </a:r>
          </a:p>
          <a:p>
            <a:r>
              <a:rPr lang="en-US">
                <a:solidFill>
                  <a:schemeClr val="bg1"/>
                </a:solidFill>
              </a:rPr>
              <a:t>  {</a:t>
            </a:r>
          </a:p>
          <a:p>
            <a:r>
              <a:rPr lang="en-US">
                <a:solidFill>
                  <a:schemeClr val="bg1"/>
                </a:solidFill>
              </a:rPr>
              <a:t>   </a:t>
            </a:r>
            <a:r>
              <a:rPr lang="en-US" err="1">
                <a:solidFill>
                  <a:schemeClr val="bg1"/>
                </a:solidFill>
              </a:rPr>
              <a:t>digitalWrite</a:t>
            </a:r>
            <a:r>
              <a:rPr lang="en-US">
                <a:solidFill>
                  <a:schemeClr val="bg1"/>
                </a:solidFill>
              </a:rPr>
              <a:t>(13, HIGH);</a:t>
            </a:r>
          </a:p>
          <a:p>
            <a:r>
              <a:rPr lang="en-US">
                <a:solidFill>
                  <a:schemeClr val="bg1"/>
                </a:solidFill>
              </a:rPr>
              <a:t>  }</a:t>
            </a:r>
          </a:p>
          <a:p>
            <a:r>
              <a:rPr lang="en-US">
                <a:solidFill>
                  <a:schemeClr val="bg1"/>
                </a:solidFill>
              </a:rPr>
              <a:t>  </a:t>
            </a:r>
          </a:p>
          <a:p>
            <a:r>
              <a:rPr lang="en-US">
                <a:solidFill>
                  <a:schemeClr val="bg1"/>
                </a:solidFill>
              </a:rPr>
              <a:t>}</a:t>
            </a:r>
          </a:p>
        </p:txBody>
      </p:sp>
      <p:pic>
        <p:nvPicPr>
          <p:cNvPr id="6" name="Picture 5" descr="A picture containing text, indoor, wall, lamp&#10;&#10;Description automatically generated">
            <a:extLst>
              <a:ext uri="{FF2B5EF4-FFF2-40B4-BE49-F238E27FC236}">
                <a16:creationId xmlns:a16="http://schemas.microsoft.com/office/drawing/2014/main" id="{1366D5EC-9D08-D0EC-3AB2-2DB503660A9F}"/>
              </a:ext>
            </a:extLst>
          </p:cNvPr>
          <p:cNvPicPr>
            <a:picLocks noChangeAspect="1"/>
          </p:cNvPicPr>
          <p:nvPr/>
        </p:nvPicPr>
        <p:blipFill rotWithShape="1">
          <a:blip r:embed="rId5">
            <a:extLst>
              <a:ext uri="{28A0092B-C50C-407E-A947-70E740481C1C}">
                <a14:useLocalDpi xmlns:a14="http://schemas.microsoft.com/office/drawing/2010/main" val="0"/>
              </a:ext>
            </a:extLst>
          </a:blip>
          <a:srcRect t="7871" b="7871"/>
          <a:stretch/>
        </p:blipFill>
        <p:spPr>
          <a:xfrm>
            <a:off x="-12192005" y="-1"/>
            <a:ext cx="12192000" cy="6858001"/>
          </a:xfrm>
          <a:prstGeom prst="rect">
            <a:avLst/>
          </a:prstGeom>
        </p:spPr>
      </p:pic>
      <p:sp>
        <p:nvSpPr>
          <p:cNvPr id="9" name="Title 1">
            <a:extLst>
              <a:ext uri="{FF2B5EF4-FFF2-40B4-BE49-F238E27FC236}">
                <a16:creationId xmlns:a16="http://schemas.microsoft.com/office/drawing/2014/main" id="{02062DBA-47A1-4E05-5745-EE3C5A605C86}"/>
              </a:ext>
            </a:extLst>
          </p:cNvPr>
          <p:cNvSpPr txBox="1">
            <a:spLocks/>
          </p:cNvSpPr>
          <p:nvPr/>
        </p:nvSpPr>
        <p:spPr>
          <a:xfrm>
            <a:off x="-13139233" y="3092643"/>
            <a:ext cx="7277102"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spTree>
    <p:extLst>
      <p:ext uri="{BB962C8B-B14F-4D97-AF65-F5344CB8AC3E}">
        <p14:creationId xmlns:p14="http://schemas.microsoft.com/office/powerpoint/2010/main" val="18708595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text, circuit, electronics&#10;&#10;Description automatically generated">
            <a:extLst>
              <a:ext uri="{FF2B5EF4-FFF2-40B4-BE49-F238E27FC236}">
                <a16:creationId xmlns:a16="http://schemas.microsoft.com/office/drawing/2014/main" id="{36D418D7-EE6E-3B58-24D0-5499DA8922E5}"/>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6600827" y="0"/>
            <a:ext cx="12192002" cy="6858000"/>
          </a:xfrm>
          <a:prstGeom prst="rect">
            <a:avLst/>
          </a:prstGeom>
          <a:effectLst>
            <a:outerShdw blurRad="50800" dist="50800" dir="5400000" algn="ctr" rotWithShape="0">
              <a:srgbClr val="000000">
                <a:alpha val="75000"/>
              </a:srgbClr>
            </a:outerShdw>
          </a:effectLst>
        </p:spPr>
      </p:pic>
      <p:pic>
        <p:nvPicPr>
          <p:cNvPr id="5" name="Picture 4" descr="A picture containing text, indoor, wall, lamp&#10;&#10;Description automatically generated">
            <a:extLst>
              <a:ext uri="{FF2B5EF4-FFF2-40B4-BE49-F238E27FC236}">
                <a16:creationId xmlns:a16="http://schemas.microsoft.com/office/drawing/2014/main" id="{69C40B76-28BE-D2FE-F1BC-D38DE22C1CD4}"/>
              </a:ext>
            </a:extLst>
          </p:cNvPr>
          <p:cNvPicPr>
            <a:picLocks noChangeAspect="1"/>
          </p:cNvPicPr>
          <p:nvPr/>
        </p:nvPicPr>
        <p:blipFill rotWithShape="1">
          <a:blip r:embed="rId3">
            <a:extLst>
              <a:ext uri="{28A0092B-C50C-407E-A947-70E740481C1C}">
                <a14:useLocalDpi xmlns:a14="http://schemas.microsoft.com/office/drawing/2010/main" val="0"/>
              </a:ext>
            </a:extLst>
          </a:blip>
          <a:srcRect t="7871" b="7871"/>
          <a:stretch/>
        </p:blipFill>
        <p:spPr>
          <a:xfrm>
            <a:off x="0" y="-1"/>
            <a:ext cx="12192000" cy="6858001"/>
          </a:xfrm>
          <a:prstGeom prst="rect">
            <a:avLst/>
          </a:prstGeom>
        </p:spPr>
      </p:pic>
      <p:sp>
        <p:nvSpPr>
          <p:cNvPr id="8" name="Title 1">
            <a:extLst>
              <a:ext uri="{FF2B5EF4-FFF2-40B4-BE49-F238E27FC236}">
                <a16:creationId xmlns:a16="http://schemas.microsoft.com/office/drawing/2014/main" id="{E69B4F29-6D3D-65BF-4536-A1200A80B2BD}"/>
              </a:ext>
            </a:extLst>
          </p:cNvPr>
          <p:cNvSpPr txBox="1">
            <a:spLocks/>
          </p:cNvSpPr>
          <p:nvPr/>
        </p:nvSpPr>
        <p:spPr>
          <a:xfrm>
            <a:off x="2609849" y="3092643"/>
            <a:ext cx="7277102"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10" name="Picture 9">
            <a:extLst>
              <a:ext uri="{FF2B5EF4-FFF2-40B4-BE49-F238E27FC236}">
                <a16:creationId xmlns:a16="http://schemas.microsoft.com/office/drawing/2014/main" id="{64AF312D-9913-BA7B-55A3-CC5E55BFF9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934328" y="3176587"/>
            <a:ext cx="9020175" cy="504825"/>
          </a:xfrm>
          <a:prstGeom prst="rect">
            <a:avLst/>
          </a:prstGeom>
        </p:spPr>
      </p:pic>
      <p:sp>
        <p:nvSpPr>
          <p:cNvPr id="11" name="Title 1">
            <a:extLst>
              <a:ext uri="{FF2B5EF4-FFF2-40B4-BE49-F238E27FC236}">
                <a16:creationId xmlns:a16="http://schemas.microsoft.com/office/drawing/2014/main" id="{497A0C99-E91E-B815-FAB7-4A2F8E090708}"/>
              </a:ext>
            </a:extLst>
          </p:cNvPr>
          <p:cNvSpPr txBox="1">
            <a:spLocks/>
          </p:cNvSpPr>
          <p:nvPr/>
        </p:nvSpPr>
        <p:spPr>
          <a:xfrm>
            <a:off x="16182978" y="382790"/>
            <a:ext cx="4453956" cy="617535"/>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EXERCISES</a:t>
            </a:r>
          </a:p>
        </p:txBody>
      </p:sp>
      <p:pic>
        <p:nvPicPr>
          <p:cNvPr id="12" name="Picture 11">
            <a:extLst>
              <a:ext uri="{FF2B5EF4-FFF2-40B4-BE49-F238E27FC236}">
                <a16:creationId xmlns:a16="http://schemas.microsoft.com/office/drawing/2014/main" id="{A708061B-33DD-C625-44F4-E8FFAF84502F}"/>
              </a:ext>
            </a:extLst>
          </p:cNvPr>
          <p:cNvPicPr>
            <a:picLocks noChangeAspect="1"/>
          </p:cNvPicPr>
          <p:nvPr/>
        </p:nvPicPr>
        <p:blipFill>
          <a:blip r:embed="rId5"/>
          <a:stretch>
            <a:fillRect/>
          </a:stretch>
        </p:blipFill>
        <p:spPr>
          <a:xfrm>
            <a:off x="13517850" y="1491566"/>
            <a:ext cx="4453957" cy="4875192"/>
          </a:xfrm>
          <a:prstGeom prst="rect">
            <a:avLst/>
          </a:prstGeom>
        </p:spPr>
      </p:pic>
      <p:sp>
        <p:nvSpPr>
          <p:cNvPr id="13" name="Rectangle 12">
            <a:extLst>
              <a:ext uri="{FF2B5EF4-FFF2-40B4-BE49-F238E27FC236}">
                <a16:creationId xmlns:a16="http://schemas.microsoft.com/office/drawing/2014/main" id="{A2EF1399-38C5-3D58-508B-E56857D6E498}"/>
              </a:ext>
            </a:extLst>
          </p:cNvPr>
          <p:cNvSpPr/>
          <p:nvPr/>
        </p:nvSpPr>
        <p:spPr>
          <a:xfrm>
            <a:off x="19470969" y="-4591288"/>
            <a:ext cx="6096000" cy="11449288"/>
          </a:xfrm>
          <a:prstGeom prst="rect">
            <a:avLst/>
          </a:prstGeom>
        </p:spPr>
        <p:txBody>
          <a:bodyPr>
            <a:spAutoFit/>
          </a:bodyPr>
          <a:lstStyle/>
          <a:p>
            <a:r>
              <a:rPr lang="en-US">
                <a:solidFill>
                  <a:schemeClr val="bg1"/>
                </a:solidFill>
              </a:rPr>
              <a:t>#include&lt;</a:t>
            </a:r>
            <a:r>
              <a:rPr lang="en-US" err="1">
                <a:solidFill>
                  <a:schemeClr val="bg1"/>
                </a:solidFill>
              </a:rPr>
              <a:t>Keypad.h</a:t>
            </a:r>
            <a:r>
              <a:rPr lang="en-US">
                <a:solidFill>
                  <a:schemeClr val="bg1"/>
                </a:solidFill>
              </a:rPr>
              <a:t>&gt;  // keypad library </a:t>
            </a:r>
          </a:p>
          <a:p>
            <a:r>
              <a:rPr lang="en-US">
                <a:solidFill>
                  <a:schemeClr val="bg1"/>
                </a:solidFill>
              </a:rPr>
              <a:t>const int </a:t>
            </a:r>
            <a:r>
              <a:rPr lang="en-US" err="1">
                <a:solidFill>
                  <a:schemeClr val="bg1"/>
                </a:solidFill>
              </a:rPr>
              <a:t>numRows</a:t>
            </a:r>
            <a:r>
              <a:rPr lang="en-US">
                <a:solidFill>
                  <a:schemeClr val="bg1"/>
                </a:solidFill>
              </a:rPr>
              <a:t> = 4; // </a:t>
            </a:r>
            <a:r>
              <a:rPr lang="en-US" err="1">
                <a:solidFill>
                  <a:schemeClr val="bg1"/>
                </a:solidFill>
              </a:rPr>
              <a:t>jumlah</a:t>
            </a:r>
            <a:r>
              <a:rPr lang="en-US">
                <a:solidFill>
                  <a:schemeClr val="bg1"/>
                </a:solidFill>
              </a:rPr>
              <a:t> row</a:t>
            </a:r>
          </a:p>
          <a:p>
            <a:r>
              <a:rPr lang="en-US">
                <a:solidFill>
                  <a:schemeClr val="bg1"/>
                </a:solidFill>
              </a:rPr>
              <a:t>const int </a:t>
            </a:r>
            <a:r>
              <a:rPr lang="en-US" err="1">
                <a:solidFill>
                  <a:schemeClr val="bg1"/>
                </a:solidFill>
              </a:rPr>
              <a:t>numCols</a:t>
            </a:r>
            <a:r>
              <a:rPr lang="en-US">
                <a:solidFill>
                  <a:schemeClr val="bg1"/>
                </a:solidFill>
              </a:rPr>
              <a:t> = 4; // </a:t>
            </a:r>
            <a:r>
              <a:rPr lang="en-US" err="1">
                <a:solidFill>
                  <a:schemeClr val="bg1"/>
                </a:solidFill>
              </a:rPr>
              <a:t>jumlah</a:t>
            </a:r>
            <a:r>
              <a:rPr lang="en-US">
                <a:solidFill>
                  <a:schemeClr val="bg1"/>
                </a:solidFill>
              </a:rPr>
              <a:t> </a:t>
            </a:r>
            <a:r>
              <a:rPr lang="en-US" err="1">
                <a:solidFill>
                  <a:schemeClr val="bg1"/>
                </a:solidFill>
              </a:rPr>
              <a:t>coloum</a:t>
            </a:r>
            <a:endParaRPr lang="en-US">
              <a:solidFill>
                <a:schemeClr val="bg1"/>
              </a:solidFill>
            </a:endParaRPr>
          </a:p>
          <a:p>
            <a:endParaRPr lang="en-US">
              <a:solidFill>
                <a:schemeClr val="bg1"/>
              </a:solidFill>
            </a:endParaRPr>
          </a:p>
          <a:p>
            <a:r>
              <a:rPr lang="en-US">
                <a:solidFill>
                  <a:schemeClr val="bg1"/>
                </a:solidFill>
              </a:rPr>
              <a:t>char keymap [</a:t>
            </a:r>
            <a:r>
              <a:rPr lang="en-US" err="1">
                <a:solidFill>
                  <a:schemeClr val="bg1"/>
                </a:solidFill>
              </a:rPr>
              <a:t>numRows</a:t>
            </a:r>
            <a:r>
              <a:rPr lang="en-US">
                <a:solidFill>
                  <a:schemeClr val="bg1"/>
                </a:solidFill>
              </a:rPr>
              <a:t>][</a:t>
            </a:r>
            <a:r>
              <a:rPr lang="en-US" err="1">
                <a:solidFill>
                  <a:schemeClr val="bg1"/>
                </a:solidFill>
              </a:rPr>
              <a:t>numCols</a:t>
            </a:r>
            <a:r>
              <a:rPr lang="en-US">
                <a:solidFill>
                  <a:schemeClr val="bg1"/>
                </a:solidFill>
              </a:rPr>
              <a:t>]=</a:t>
            </a:r>
          </a:p>
          <a:p>
            <a:r>
              <a:rPr lang="en-US">
                <a:solidFill>
                  <a:schemeClr val="bg1"/>
                </a:solidFill>
              </a:rPr>
              <a:t>{</a:t>
            </a:r>
          </a:p>
          <a:p>
            <a:r>
              <a:rPr lang="en-US">
                <a:solidFill>
                  <a:schemeClr val="bg1"/>
                </a:solidFill>
              </a:rPr>
              <a:t>  {'1','2','3',’*'},</a:t>
            </a:r>
          </a:p>
          <a:p>
            <a:r>
              <a:rPr lang="en-US">
                <a:solidFill>
                  <a:schemeClr val="bg1"/>
                </a:solidFill>
              </a:rPr>
              <a:t>  {'4','5','6','B'},</a:t>
            </a:r>
          </a:p>
          <a:p>
            <a:r>
              <a:rPr lang="en-US">
                <a:solidFill>
                  <a:schemeClr val="bg1"/>
                </a:solidFill>
              </a:rPr>
              <a:t>  {'7','8','9','C'},</a:t>
            </a:r>
          </a:p>
          <a:p>
            <a:r>
              <a:rPr lang="en-US">
                <a:solidFill>
                  <a:schemeClr val="bg1"/>
                </a:solidFill>
              </a:rPr>
              <a:t>  {'*','0','#','D'}</a:t>
            </a:r>
          </a:p>
          <a:p>
            <a:r>
              <a:rPr lang="en-US">
                <a:solidFill>
                  <a:schemeClr val="bg1"/>
                </a:solidFill>
              </a:rPr>
              <a:t>};</a:t>
            </a:r>
          </a:p>
          <a:p>
            <a:endParaRPr lang="en-US">
              <a:solidFill>
                <a:schemeClr val="bg1"/>
              </a:solidFill>
            </a:endParaRPr>
          </a:p>
          <a:p>
            <a:r>
              <a:rPr lang="en-US">
                <a:solidFill>
                  <a:schemeClr val="bg1"/>
                </a:solidFill>
              </a:rPr>
              <a:t>byte </a:t>
            </a:r>
            <a:r>
              <a:rPr lang="en-US" err="1">
                <a:solidFill>
                  <a:schemeClr val="bg1"/>
                </a:solidFill>
              </a:rPr>
              <a:t>rowPins</a:t>
            </a:r>
            <a:r>
              <a:rPr lang="en-US">
                <a:solidFill>
                  <a:schemeClr val="bg1"/>
                </a:solidFill>
              </a:rPr>
              <a:t>[</a:t>
            </a:r>
            <a:r>
              <a:rPr lang="en-US" err="1">
                <a:solidFill>
                  <a:schemeClr val="bg1"/>
                </a:solidFill>
              </a:rPr>
              <a:t>numRows</a:t>
            </a:r>
            <a:r>
              <a:rPr lang="en-US">
                <a:solidFill>
                  <a:schemeClr val="bg1"/>
                </a:solidFill>
              </a:rPr>
              <a:t>] = {9,8,7,6}; // pin pada row</a:t>
            </a:r>
          </a:p>
          <a:p>
            <a:r>
              <a:rPr lang="en-US">
                <a:solidFill>
                  <a:schemeClr val="bg1"/>
                </a:solidFill>
              </a:rPr>
              <a:t>byte </a:t>
            </a:r>
            <a:r>
              <a:rPr lang="en-US" err="1">
                <a:solidFill>
                  <a:schemeClr val="bg1"/>
                </a:solidFill>
              </a:rPr>
              <a:t>colPins</a:t>
            </a:r>
            <a:r>
              <a:rPr lang="en-US">
                <a:solidFill>
                  <a:schemeClr val="bg1"/>
                </a:solidFill>
              </a:rPr>
              <a:t>[</a:t>
            </a:r>
            <a:r>
              <a:rPr lang="en-US" err="1">
                <a:solidFill>
                  <a:schemeClr val="bg1"/>
                </a:solidFill>
              </a:rPr>
              <a:t>numCols</a:t>
            </a:r>
            <a:r>
              <a:rPr lang="en-US">
                <a:solidFill>
                  <a:schemeClr val="bg1"/>
                </a:solidFill>
              </a:rPr>
              <a:t>] = {5,4,3,2}; // pin pada </a:t>
            </a:r>
            <a:r>
              <a:rPr lang="en-US" err="1">
                <a:solidFill>
                  <a:schemeClr val="bg1"/>
                </a:solidFill>
              </a:rPr>
              <a:t>coloum</a:t>
            </a:r>
            <a:endParaRPr lang="en-US">
              <a:solidFill>
                <a:schemeClr val="bg1"/>
              </a:solidFill>
            </a:endParaRPr>
          </a:p>
          <a:p>
            <a:endParaRPr lang="en-US">
              <a:solidFill>
                <a:schemeClr val="bg1"/>
              </a:solidFill>
            </a:endParaRPr>
          </a:p>
          <a:p>
            <a:r>
              <a:rPr lang="en-US">
                <a:solidFill>
                  <a:schemeClr val="bg1"/>
                </a:solidFill>
              </a:rPr>
              <a:t>Keypad </a:t>
            </a:r>
            <a:r>
              <a:rPr lang="en-US" err="1">
                <a:solidFill>
                  <a:schemeClr val="bg1"/>
                </a:solidFill>
              </a:rPr>
              <a:t>myKeypad</a:t>
            </a:r>
            <a:r>
              <a:rPr lang="en-US">
                <a:solidFill>
                  <a:schemeClr val="bg1"/>
                </a:solidFill>
              </a:rPr>
              <a:t> = Keypad(</a:t>
            </a:r>
            <a:r>
              <a:rPr lang="en-US" err="1">
                <a:solidFill>
                  <a:schemeClr val="bg1"/>
                </a:solidFill>
              </a:rPr>
              <a:t>makeKeymap</a:t>
            </a:r>
            <a:r>
              <a:rPr lang="en-US">
                <a:solidFill>
                  <a:schemeClr val="bg1"/>
                </a:solidFill>
              </a:rPr>
              <a:t>(keymap),</a:t>
            </a:r>
            <a:r>
              <a:rPr lang="en-US" err="1">
                <a:solidFill>
                  <a:schemeClr val="bg1"/>
                </a:solidFill>
              </a:rPr>
              <a:t>rowPins,colPins,numRows,numCols</a:t>
            </a:r>
            <a:r>
              <a:rPr lang="en-US">
                <a:solidFill>
                  <a:schemeClr val="bg1"/>
                </a:solidFill>
              </a:rPr>
              <a:t>);</a:t>
            </a:r>
          </a:p>
          <a:p>
            <a:r>
              <a:rPr lang="en-US">
                <a:solidFill>
                  <a:schemeClr val="bg1"/>
                </a:solidFill>
              </a:rPr>
              <a:t>//class  object</a:t>
            </a:r>
          </a:p>
          <a:p>
            <a:endParaRPr lang="en-US">
              <a:solidFill>
                <a:schemeClr val="bg1"/>
              </a:solidFill>
            </a:endParaRPr>
          </a:p>
          <a:p>
            <a:r>
              <a:rPr lang="en-US">
                <a:solidFill>
                  <a:schemeClr val="bg1"/>
                </a:solidFill>
              </a:rPr>
              <a:t>void setup()</a:t>
            </a:r>
          </a:p>
          <a:p>
            <a:r>
              <a:rPr lang="en-US">
                <a:solidFill>
                  <a:schemeClr val="bg1"/>
                </a:solidFill>
              </a:rPr>
              <a:t>{</a:t>
            </a:r>
          </a:p>
          <a:p>
            <a:r>
              <a:rPr lang="en-US">
                <a:solidFill>
                  <a:schemeClr val="bg1"/>
                </a:solidFill>
              </a:rPr>
              <a:t> </a:t>
            </a:r>
            <a:r>
              <a:rPr lang="en-US" err="1">
                <a:solidFill>
                  <a:schemeClr val="bg1"/>
                </a:solidFill>
              </a:rPr>
              <a:t>pinMode</a:t>
            </a:r>
            <a:r>
              <a:rPr lang="en-US">
                <a:solidFill>
                  <a:schemeClr val="bg1"/>
                </a:solidFill>
              </a:rPr>
              <a:t>(13,OUTPUT);</a:t>
            </a:r>
          </a:p>
          <a:p>
            <a:r>
              <a:rPr lang="en-US">
                <a:solidFill>
                  <a:schemeClr val="bg1"/>
                </a:solidFill>
              </a:rPr>
              <a:t> </a:t>
            </a:r>
            <a:r>
              <a:rPr lang="en-US" err="1">
                <a:solidFill>
                  <a:schemeClr val="bg1"/>
                </a:solidFill>
              </a:rPr>
              <a:t>digitalWrite</a:t>
            </a:r>
            <a:r>
              <a:rPr lang="en-US">
                <a:solidFill>
                  <a:schemeClr val="bg1"/>
                </a:solidFill>
              </a:rPr>
              <a:t>(13, HIGH);</a:t>
            </a:r>
          </a:p>
          <a:p>
            <a:r>
              <a:rPr lang="en-US">
                <a:solidFill>
                  <a:schemeClr val="bg1"/>
                </a:solidFill>
              </a:rPr>
              <a:t>}</a:t>
            </a:r>
          </a:p>
          <a:p>
            <a:endParaRPr lang="en-US">
              <a:solidFill>
                <a:schemeClr val="bg1"/>
              </a:solidFill>
            </a:endParaRPr>
          </a:p>
          <a:p>
            <a:r>
              <a:rPr lang="en-US">
                <a:solidFill>
                  <a:schemeClr val="bg1"/>
                </a:solidFill>
              </a:rPr>
              <a:t>void loop()</a:t>
            </a:r>
          </a:p>
          <a:p>
            <a:r>
              <a:rPr lang="en-US">
                <a:solidFill>
                  <a:schemeClr val="bg1"/>
                </a:solidFill>
              </a:rPr>
              <a:t>{</a:t>
            </a:r>
          </a:p>
          <a:p>
            <a:r>
              <a:rPr lang="en-US">
                <a:solidFill>
                  <a:schemeClr val="bg1"/>
                </a:solidFill>
              </a:rPr>
              <a:t> char </a:t>
            </a:r>
            <a:r>
              <a:rPr lang="en-US" err="1">
                <a:solidFill>
                  <a:schemeClr val="bg1"/>
                </a:solidFill>
              </a:rPr>
              <a:t>keypressed</a:t>
            </a:r>
            <a:r>
              <a:rPr lang="en-US">
                <a:solidFill>
                  <a:schemeClr val="bg1"/>
                </a:solidFill>
              </a:rPr>
              <a:t> =</a:t>
            </a:r>
            <a:r>
              <a:rPr lang="en-US" err="1">
                <a:solidFill>
                  <a:schemeClr val="bg1"/>
                </a:solidFill>
              </a:rPr>
              <a:t>myKeypad.getKey</a:t>
            </a:r>
            <a:r>
              <a:rPr lang="en-US">
                <a:solidFill>
                  <a:schemeClr val="bg1"/>
                </a:solidFill>
              </a:rPr>
              <a:t>();</a:t>
            </a:r>
          </a:p>
          <a:p>
            <a:r>
              <a:rPr lang="en-US">
                <a:solidFill>
                  <a:schemeClr val="bg1"/>
                </a:solidFill>
              </a:rPr>
              <a:t>  //keypad </a:t>
            </a:r>
            <a:r>
              <a:rPr lang="en-US" err="1">
                <a:solidFill>
                  <a:schemeClr val="bg1"/>
                </a:solidFill>
              </a:rPr>
              <a:t>adalah</a:t>
            </a:r>
            <a:r>
              <a:rPr lang="en-US">
                <a:solidFill>
                  <a:schemeClr val="bg1"/>
                </a:solidFill>
              </a:rPr>
              <a:t> object dan .</a:t>
            </a:r>
            <a:r>
              <a:rPr lang="en-US" err="1">
                <a:solidFill>
                  <a:schemeClr val="bg1"/>
                </a:solidFill>
              </a:rPr>
              <a:t>getKey</a:t>
            </a:r>
            <a:r>
              <a:rPr lang="en-US">
                <a:solidFill>
                  <a:schemeClr val="bg1"/>
                </a:solidFill>
              </a:rPr>
              <a:t>() </a:t>
            </a:r>
            <a:r>
              <a:rPr lang="en-US" err="1">
                <a:solidFill>
                  <a:schemeClr val="bg1"/>
                </a:solidFill>
              </a:rPr>
              <a:t>adalah</a:t>
            </a:r>
            <a:r>
              <a:rPr lang="en-US">
                <a:solidFill>
                  <a:schemeClr val="bg1"/>
                </a:solidFill>
              </a:rPr>
              <a:t> method</a:t>
            </a:r>
          </a:p>
          <a:p>
            <a:r>
              <a:rPr lang="en-US">
                <a:solidFill>
                  <a:schemeClr val="bg1"/>
                </a:solidFill>
              </a:rPr>
              <a:t>  </a:t>
            </a:r>
          </a:p>
          <a:p>
            <a:r>
              <a:rPr lang="en-US">
                <a:solidFill>
                  <a:schemeClr val="bg1"/>
                </a:solidFill>
              </a:rPr>
              <a:t>  if(</a:t>
            </a:r>
            <a:r>
              <a:rPr lang="en-US" err="1">
                <a:solidFill>
                  <a:schemeClr val="bg1"/>
                </a:solidFill>
              </a:rPr>
              <a:t>keypressed</a:t>
            </a:r>
            <a:r>
              <a:rPr lang="en-US">
                <a:solidFill>
                  <a:schemeClr val="bg1"/>
                </a:solidFill>
              </a:rPr>
              <a:t>=='1')</a:t>
            </a:r>
          </a:p>
          <a:p>
            <a:r>
              <a:rPr lang="en-US">
                <a:solidFill>
                  <a:schemeClr val="bg1"/>
                </a:solidFill>
              </a:rPr>
              <a:t>  {</a:t>
            </a:r>
          </a:p>
          <a:p>
            <a:r>
              <a:rPr lang="en-US">
                <a:solidFill>
                  <a:schemeClr val="bg1"/>
                </a:solidFill>
              </a:rPr>
              <a:t>   </a:t>
            </a:r>
            <a:r>
              <a:rPr lang="en-US" err="1">
                <a:solidFill>
                  <a:schemeClr val="bg1"/>
                </a:solidFill>
              </a:rPr>
              <a:t>digitalWrite</a:t>
            </a:r>
            <a:r>
              <a:rPr lang="en-US">
                <a:solidFill>
                  <a:schemeClr val="bg1"/>
                </a:solidFill>
              </a:rPr>
              <a:t>(13, LOW);</a:t>
            </a:r>
          </a:p>
          <a:p>
            <a:r>
              <a:rPr lang="en-US">
                <a:solidFill>
                  <a:schemeClr val="bg1"/>
                </a:solidFill>
              </a:rPr>
              <a:t>  }</a:t>
            </a:r>
          </a:p>
          <a:p>
            <a:r>
              <a:rPr lang="en-US">
                <a:solidFill>
                  <a:schemeClr val="bg1"/>
                </a:solidFill>
              </a:rPr>
              <a:t>    if(</a:t>
            </a:r>
            <a:r>
              <a:rPr lang="en-US" err="1">
                <a:solidFill>
                  <a:schemeClr val="bg1"/>
                </a:solidFill>
              </a:rPr>
              <a:t>keypressed</a:t>
            </a:r>
            <a:r>
              <a:rPr lang="en-US">
                <a:solidFill>
                  <a:schemeClr val="bg1"/>
                </a:solidFill>
              </a:rPr>
              <a:t>=='2')</a:t>
            </a:r>
          </a:p>
          <a:p>
            <a:r>
              <a:rPr lang="en-US">
                <a:solidFill>
                  <a:schemeClr val="bg1"/>
                </a:solidFill>
              </a:rPr>
              <a:t>  {</a:t>
            </a:r>
          </a:p>
          <a:p>
            <a:r>
              <a:rPr lang="en-US">
                <a:solidFill>
                  <a:schemeClr val="bg1"/>
                </a:solidFill>
              </a:rPr>
              <a:t>   </a:t>
            </a:r>
            <a:r>
              <a:rPr lang="en-US" err="1">
                <a:solidFill>
                  <a:schemeClr val="bg1"/>
                </a:solidFill>
              </a:rPr>
              <a:t>digitalWrite</a:t>
            </a:r>
            <a:r>
              <a:rPr lang="en-US">
                <a:solidFill>
                  <a:schemeClr val="bg1"/>
                </a:solidFill>
              </a:rPr>
              <a:t>(13, HIGH);</a:t>
            </a:r>
          </a:p>
          <a:p>
            <a:r>
              <a:rPr lang="en-US">
                <a:solidFill>
                  <a:schemeClr val="bg1"/>
                </a:solidFill>
              </a:rPr>
              <a:t>  }</a:t>
            </a:r>
          </a:p>
          <a:p>
            <a:r>
              <a:rPr lang="en-US">
                <a:solidFill>
                  <a:schemeClr val="bg1"/>
                </a:solidFill>
              </a:rPr>
              <a:t>  </a:t>
            </a:r>
          </a:p>
          <a:p>
            <a:r>
              <a:rPr lang="en-US">
                <a:solidFill>
                  <a:schemeClr val="bg1"/>
                </a:solidFill>
              </a:rPr>
              <a:t>}</a:t>
            </a:r>
          </a:p>
        </p:txBody>
      </p:sp>
      <p:pic>
        <p:nvPicPr>
          <p:cNvPr id="14" name="Picture 2" descr="How to Set up Seven Segment Displays on the Arduino">
            <a:extLst>
              <a:ext uri="{FF2B5EF4-FFF2-40B4-BE49-F238E27FC236}">
                <a16:creationId xmlns:a16="http://schemas.microsoft.com/office/drawing/2014/main" id="{3DD0B9C9-01CF-5536-E303-9D3BE3BDFE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09956" y="1130493"/>
            <a:ext cx="5815983" cy="52387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0E14E389-454E-DA59-759F-8DBDDF04784B}"/>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B51AC3B-ED8C-0FCE-B5EC-629B682E11F3}"/>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4" name="Rectangle 3">
            <a:extLst>
              <a:ext uri="{FF2B5EF4-FFF2-40B4-BE49-F238E27FC236}">
                <a16:creationId xmlns:a16="http://schemas.microsoft.com/office/drawing/2014/main" id="{FDA6177A-8924-81C6-0A16-FA99B1E884AC}"/>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123684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9" name="Picture 2" descr="How to Set up Seven Segment Displays on the Arduino">
            <a:extLst>
              <a:ext uri="{FF2B5EF4-FFF2-40B4-BE49-F238E27FC236}">
                <a16:creationId xmlns:a16="http://schemas.microsoft.com/office/drawing/2014/main" id="{0C9009F1-CA7E-0741-FDBF-CF91506BBB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9658" y="1130493"/>
            <a:ext cx="5815983" cy="5238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65396D6F-2DF6-CEF7-195B-751B1A50770F}"/>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C91015-2D25-DF1D-0369-2408C58B484D}"/>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6" name="Rectangle 5">
            <a:extLst>
              <a:ext uri="{FF2B5EF4-FFF2-40B4-BE49-F238E27FC236}">
                <a16:creationId xmlns:a16="http://schemas.microsoft.com/office/drawing/2014/main" id="{8CAD09C0-ABAD-A223-CA92-3D78449EC2B3}"/>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36809885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3" name="Picture 2" descr="Arduino 7 Segment Display - Single Digit and 4 Digit Displays">
            <a:extLst>
              <a:ext uri="{FF2B5EF4-FFF2-40B4-BE49-F238E27FC236}">
                <a16:creationId xmlns:a16="http://schemas.microsoft.com/office/drawing/2014/main" id="{B15A4F1C-1D1D-17E8-E990-74B9AE85E0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0134" y="1466850"/>
            <a:ext cx="7406067" cy="43624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F26CB685-0485-7928-3D1E-68E7CDAD8E8D}"/>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8DC026-1C99-45B8-73C0-F72049DD7324}"/>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41F12AC7-817C-5B29-C27F-2AFA8189C4A2}"/>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17089039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4" name="Picture 2" descr="Arduino 7 Segment Display Tutorial - LED Anode and Cathode">
            <a:extLst>
              <a:ext uri="{FF2B5EF4-FFF2-40B4-BE49-F238E27FC236}">
                <a16:creationId xmlns:a16="http://schemas.microsoft.com/office/drawing/2014/main" id="{4FB7732E-8D4C-9B85-7BBB-41244699A4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2437" y="1543049"/>
            <a:ext cx="3214846" cy="37719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465195-3619-F995-CD4C-3CC05705A084}"/>
              </a:ext>
            </a:extLst>
          </p:cNvPr>
          <p:cNvSpPr/>
          <p:nvPr/>
        </p:nvSpPr>
        <p:spPr>
          <a:xfrm>
            <a:off x="7200901" y="1543049"/>
            <a:ext cx="4552950" cy="1477328"/>
          </a:xfrm>
          <a:prstGeom prst="rect">
            <a:avLst/>
          </a:prstGeom>
        </p:spPr>
        <p:txBody>
          <a:bodyPr wrap="square">
            <a:spAutoFit/>
          </a:bodyPr>
          <a:lstStyle/>
          <a:p>
            <a:r>
              <a:rPr lang="en-US">
                <a:solidFill>
                  <a:schemeClr val="bg1"/>
                </a:solidFill>
                <a:latin typeface="Montserrat" panose="00000500000000000000" pitchFamily="2" charset="0"/>
              </a:rPr>
              <a:t>A single LED consists of two terminals, an anode and a cathode. The anode is the positive terminal and the cathode is the negative terminal:</a:t>
            </a:r>
            <a:endParaRPr lang="en-US">
              <a:solidFill>
                <a:schemeClr val="bg1"/>
              </a:solidFill>
            </a:endParaRPr>
          </a:p>
        </p:txBody>
      </p:sp>
      <p:sp>
        <p:nvSpPr>
          <p:cNvPr id="9" name="Rectangle 8">
            <a:extLst>
              <a:ext uri="{FF2B5EF4-FFF2-40B4-BE49-F238E27FC236}">
                <a16:creationId xmlns:a16="http://schemas.microsoft.com/office/drawing/2014/main" id="{B7693108-418F-7245-B847-FCC24A07DB91}"/>
              </a:ext>
            </a:extLst>
          </p:cNvPr>
          <p:cNvSpPr/>
          <p:nvPr/>
        </p:nvSpPr>
        <p:spPr>
          <a:xfrm>
            <a:off x="7201264" y="3362802"/>
            <a:ext cx="4477389" cy="1477328"/>
          </a:xfrm>
          <a:prstGeom prst="rect">
            <a:avLst/>
          </a:prstGeom>
        </p:spPr>
        <p:txBody>
          <a:bodyPr wrap="square">
            <a:spAutoFit/>
          </a:bodyPr>
          <a:lstStyle/>
          <a:p>
            <a:r>
              <a:rPr lang="en-US">
                <a:solidFill>
                  <a:schemeClr val="bg1"/>
                </a:solidFill>
                <a:latin typeface="Montserrat" panose="00000500000000000000" pitchFamily="2" charset="0"/>
              </a:rPr>
              <a:t>To power the LED, you connect the cathode to ground and the anode to the voltage supply. The LED can be turned on or off by switching power at the anode or the cathode.</a:t>
            </a:r>
            <a:endParaRPr lang="en-US">
              <a:solidFill>
                <a:schemeClr val="bg1"/>
              </a:solidFill>
            </a:endParaRPr>
          </a:p>
        </p:txBody>
      </p:sp>
      <p:sp>
        <p:nvSpPr>
          <p:cNvPr id="3" name="Rectangle: Rounded Corners 2">
            <a:extLst>
              <a:ext uri="{FF2B5EF4-FFF2-40B4-BE49-F238E27FC236}">
                <a16:creationId xmlns:a16="http://schemas.microsoft.com/office/drawing/2014/main" id="{FDD39DAA-34B7-489C-5931-91E0050A6494}"/>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EF2756F-7A7F-5A16-6FB9-E754FC5AFC13}"/>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1" name="Rectangle 10">
            <a:extLst>
              <a:ext uri="{FF2B5EF4-FFF2-40B4-BE49-F238E27FC236}">
                <a16:creationId xmlns:a16="http://schemas.microsoft.com/office/drawing/2014/main" id="{09B35056-3AE1-3430-0785-D0378EB2B46E}"/>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8046129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3" name="Picture 2" descr="Arduino 7 Segment Display Tutorial - Anode to GPIO">
            <a:extLst>
              <a:ext uri="{FF2B5EF4-FFF2-40B4-BE49-F238E27FC236}">
                <a16:creationId xmlns:a16="http://schemas.microsoft.com/office/drawing/2014/main" id="{6C3C99E7-9C28-D65F-AB76-776E4A8BBE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818" y="1560133"/>
            <a:ext cx="3464370" cy="373773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D1529151-D2AD-7A85-288F-EF618EB48F7D}"/>
              </a:ext>
            </a:extLst>
          </p:cNvPr>
          <p:cNvSpPr/>
          <p:nvPr/>
        </p:nvSpPr>
        <p:spPr>
          <a:xfrm>
            <a:off x="7378396" y="1560133"/>
            <a:ext cx="4489754" cy="923330"/>
          </a:xfrm>
          <a:prstGeom prst="rect">
            <a:avLst/>
          </a:prstGeom>
        </p:spPr>
        <p:txBody>
          <a:bodyPr wrap="square">
            <a:spAutoFit/>
          </a:bodyPr>
          <a:lstStyle/>
          <a:p>
            <a:r>
              <a:rPr lang="en-US">
                <a:solidFill>
                  <a:schemeClr val="bg1"/>
                </a:solidFill>
                <a:latin typeface="Montserrat" panose="00000500000000000000" pitchFamily="2" charset="0"/>
              </a:rPr>
              <a:t>With the LED’s anode connected to a digital pin, the cathode is connected to ground:</a:t>
            </a:r>
            <a:endParaRPr lang="en-US">
              <a:solidFill>
                <a:schemeClr val="bg1"/>
              </a:solidFill>
            </a:endParaRPr>
          </a:p>
        </p:txBody>
      </p:sp>
      <p:sp>
        <p:nvSpPr>
          <p:cNvPr id="4" name="Rectangle: Rounded Corners 3">
            <a:extLst>
              <a:ext uri="{FF2B5EF4-FFF2-40B4-BE49-F238E27FC236}">
                <a16:creationId xmlns:a16="http://schemas.microsoft.com/office/drawing/2014/main" id="{5AB07B56-6293-4378-BD00-590F5C1F8424}"/>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B5B36AD-ADA9-99E4-4C4D-405A0C04FE3C}"/>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CC9B60F3-4C47-FD22-81C5-05CE0573FB6C}"/>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39736884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6" name="Picture 2" descr="Arduino 7-Segment Display Tutorial - Cathode to GPIO">
            <a:extLst>
              <a:ext uri="{FF2B5EF4-FFF2-40B4-BE49-F238E27FC236}">
                <a16:creationId xmlns:a16="http://schemas.microsoft.com/office/drawing/2014/main" id="{4D9F0A43-F46E-D6C3-E3D2-A7E8AEA3E4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814" y="1560133"/>
            <a:ext cx="3464370" cy="272670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6C77226-A23D-C620-C914-9FEB0DFF1B40}"/>
              </a:ext>
            </a:extLst>
          </p:cNvPr>
          <p:cNvSpPr txBox="1"/>
          <p:nvPr/>
        </p:nvSpPr>
        <p:spPr>
          <a:xfrm>
            <a:off x="7378387" y="1560133"/>
            <a:ext cx="4489753" cy="1477328"/>
          </a:xfrm>
          <a:prstGeom prst="rect">
            <a:avLst/>
          </a:prstGeom>
          <a:noFill/>
        </p:spPr>
        <p:txBody>
          <a:bodyPr wrap="square">
            <a:spAutoFit/>
          </a:bodyPr>
          <a:lstStyle/>
          <a:p>
            <a:r>
              <a:rPr lang="en-US">
                <a:solidFill>
                  <a:schemeClr val="bg1"/>
                </a:solidFill>
                <a:latin typeface="Montserrat" panose="00000500000000000000" pitchFamily="2" charset="0"/>
              </a:rPr>
              <a:t>With an LED’s cathode connected to a digital pin, the anode is connected to </a:t>
            </a:r>
            <a:r>
              <a:rPr lang="en-US" err="1">
                <a:solidFill>
                  <a:schemeClr val="bg1"/>
                </a:solidFill>
                <a:latin typeface="Montserrat" panose="00000500000000000000" pitchFamily="2" charset="0"/>
              </a:rPr>
              <a:t>Vcc</a:t>
            </a:r>
            <a:r>
              <a:rPr lang="en-US">
                <a:solidFill>
                  <a:schemeClr val="bg1"/>
                </a:solidFill>
                <a:latin typeface="Montserrat" panose="00000500000000000000" pitchFamily="2" charset="0"/>
              </a:rPr>
              <a:t>. To turn on the LED, the digital pin is switched LOW, which completes the circuit to ground:</a:t>
            </a:r>
            <a:endParaRPr lang="en-US">
              <a:solidFill>
                <a:schemeClr val="bg1"/>
              </a:solidFill>
            </a:endParaRPr>
          </a:p>
        </p:txBody>
      </p:sp>
      <p:sp>
        <p:nvSpPr>
          <p:cNvPr id="3" name="Rectangle: Rounded Corners 2">
            <a:extLst>
              <a:ext uri="{FF2B5EF4-FFF2-40B4-BE49-F238E27FC236}">
                <a16:creationId xmlns:a16="http://schemas.microsoft.com/office/drawing/2014/main" id="{89128C5B-BAE5-B572-2001-ED0CF4D9C640}"/>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81EA1C8-F608-7846-7121-3DAE86CBED0C}"/>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EB19D270-3703-D8F1-5899-50B51AE79590}"/>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14887352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6" name="Picture 2" descr="Arduino 7-Segment Display Tutorial - Cathode to GPIO">
            <a:extLst>
              <a:ext uri="{FF2B5EF4-FFF2-40B4-BE49-F238E27FC236}">
                <a16:creationId xmlns:a16="http://schemas.microsoft.com/office/drawing/2014/main" id="{4D9F0A43-F46E-D6C3-E3D2-A7E8AEA3E4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814" y="1560133"/>
            <a:ext cx="3464370" cy="27267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899013-CB0C-CBD2-DDEC-2D8C3D4EF5F3}"/>
              </a:ext>
            </a:extLst>
          </p:cNvPr>
          <p:cNvSpPr/>
          <p:nvPr/>
        </p:nvSpPr>
        <p:spPr>
          <a:xfrm>
            <a:off x="7378388" y="1503575"/>
            <a:ext cx="4470712" cy="2308324"/>
          </a:xfrm>
          <a:prstGeom prst="rect">
            <a:avLst/>
          </a:prstGeom>
        </p:spPr>
        <p:txBody>
          <a:bodyPr wrap="square">
            <a:spAutoFit/>
          </a:bodyPr>
          <a:lstStyle/>
          <a:p>
            <a:r>
              <a:rPr lang="en-US">
                <a:solidFill>
                  <a:schemeClr val="bg1"/>
                </a:solidFill>
                <a:latin typeface="Montserrat" panose="00000500000000000000" pitchFamily="2" charset="0"/>
              </a:rPr>
              <a:t>Seven segment displays consist of 7 LEDs, called segments, arranged in the shape of an “8”. Most 7-segment displays actually have 8 segments, with a dot on the right side of the digit that serves as a decimal point. Each segment is named with a letter A to G, and DP for the decimal point:</a:t>
            </a:r>
            <a:endParaRPr lang="en-US">
              <a:solidFill>
                <a:schemeClr val="bg1"/>
              </a:solidFill>
            </a:endParaRPr>
          </a:p>
        </p:txBody>
      </p:sp>
      <p:sp>
        <p:nvSpPr>
          <p:cNvPr id="4" name="Rectangle 3">
            <a:extLst>
              <a:ext uri="{FF2B5EF4-FFF2-40B4-BE49-F238E27FC236}">
                <a16:creationId xmlns:a16="http://schemas.microsoft.com/office/drawing/2014/main" id="{0D6DD29C-E644-AF43-203C-9BFF8A7DBB90}"/>
              </a:ext>
            </a:extLst>
          </p:cNvPr>
          <p:cNvSpPr/>
          <p:nvPr/>
        </p:nvSpPr>
        <p:spPr>
          <a:xfrm>
            <a:off x="7378388" y="4164567"/>
            <a:ext cx="4470712" cy="2031325"/>
          </a:xfrm>
          <a:prstGeom prst="rect">
            <a:avLst/>
          </a:prstGeom>
        </p:spPr>
        <p:txBody>
          <a:bodyPr wrap="square">
            <a:spAutoFit/>
          </a:bodyPr>
          <a:lstStyle/>
          <a:p>
            <a:pPr fontAlgn="base"/>
            <a:r>
              <a:rPr lang="en-US">
                <a:solidFill>
                  <a:schemeClr val="bg1"/>
                </a:solidFill>
                <a:latin typeface="Montserrat" panose="00000500000000000000" pitchFamily="2" charset="0"/>
              </a:rPr>
              <a:t>Each segment on the display can be controlled individually, just like a regular LED.</a:t>
            </a:r>
            <a:br>
              <a:rPr lang="en-US">
                <a:solidFill>
                  <a:schemeClr val="bg1"/>
                </a:solidFill>
                <a:latin typeface="Montserrat" panose="00000500000000000000" pitchFamily="2" charset="0"/>
              </a:rPr>
            </a:br>
            <a:endParaRPr lang="en-US">
              <a:solidFill>
                <a:schemeClr val="bg1"/>
              </a:solidFill>
              <a:latin typeface="Montserrat" panose="00000500000000000000" pitchFamily="2" charset="0"/>
            </a:endParaRPr>
          </a:p>
          <a:p>
            <a:pPr fontAlgn="base"/>
            <a:r>
              <a:rPr lang="en-US">
                <a:solidFill>
                  <a:schemeClr val="bg1"/>
                </a:solidFill>
                <a:latin typeface="Montserrat" panose="00000500000000000000" pitchFamily="2" charset="0"/>
              </a:rPr>
              <a:t>There are two types of 7-segment displays – </a:t>
            </a:r>
            <a:r>
              <a:rPr lang="en-US" i="1">
                <a:solidFill>
                  <a:schemeClr val="bg1"/>
                </a:solidFill>
                <a:latin typeface="inherit"/>
              </a:rPr>
              <a:t>common cathode</a:t>
            </a:r>
            <a:r>
              <a:rPr lang="en-US">
                <a:solidFill>
                  <a:schemeClr val="bg1"/>
                </a:solidFill>
                <a:latin typeface="Montserrat" panose="00000500000000000000" pitchFamily="2" charset="0"/>
              </a:rPr>
              <a:t> and </a:t>
            </a:r>
            <a:r>
              <a:rPr lang="en-US" i="1">
                <a:solidFill>
                  <a:schemeClr val="bg1"/>
                </a:solidFill>
                <a:latin typeface="inherit"/>
              </a:rPr>
              <a:t>common anode</a:t>
            </a:r>
            <a:r>
              <a:rPr lang="en-US">
                <a:solidFill>
                  <a:schemeClr val="bg1"/>
                </a:solidFill>
                <a:latin typeface="Montserrat" panose="00000500000000000000" pitchFamily="2" charset="0"/>
              </a:rPr>
              <a:t>.</a:t>
            </a:r>
            <a:endParaRPr lang="en-US" b="0" i="0">
              <a:solidFill>
                <a:schemeClr val="bg1"/>
              </a:solidFill>
              <a:effectLst/>
              <a:latin typeface="Montserrat" panose="00000500000000000000" pitchFamily="2" charset="0"/>
            </a:endParaRPr>
          </a:p>
        </p:txBody>
      </p:sp>
      <p:pic>
        <p:nvPicPr>
          <p:cNvPr id="9" name="Picture 2" descr="Arduino 7-Segment Display Tutorial - Segment Layout Diagram">
            <a:extLst>
              <a:ext uri="{FF2B5EF4-FFF2-40B4-BE49-F238E27FC236}">
                <a16:creationId xmlns:a16="http://schemas.microsoft.com/office/drawing/2014/main" id="{29A8B5D3-5940-7BA9-8C74-1EC6FD0CDA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0397" y="1560133"/>
            <a:ext cx="3484787" cy="441112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7924B55-C4FA-C22C-E78A-C2C362271493}"/>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4" name="Rectangle 13">
            <a:extLst>
              <a:ext uri="{FF2B5EF4-FFF2-40B4-BE49-F238E27FC236}">
                <a16:creationId xmlns:a16="http://schemas.microsoft.com/office/drawing/2014/main" id="{E2D84661-7849-675A-C397-1A65F0114591}"/>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
        <p:nvSpPr>
          <p:cNvPr id="15" name="Rectangle: Rounded Corners 14">
            <a:extLst>
              <a:ext uri="{FF2B5EF4-FFF2-40B4-BE49-F238E27FC236}">
                <a16:creationId xmlns:a16="http://schemas.microsoft.com/office/drawing/2014/main" id="{5963D5C8-22FD-4989-4A8E-90C6287DB95C}"/>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AB787C4-F799-B36C-8FA9-64FC3FE96666}"/>
              </a:ext>
            </a:extLst>
          </p:cNvPr>
          <p:cNvSpPr/>
          <p:nvPr/>
        </p:nvSpPr>
        <p:spPr>
          <a:xfrm>
            <a:off x="845345" y="6208503"/>
            <a:ext cx="1107034" cy="276999"/>
          </a:xfrm>
          <a:prstGeom prst="rect">
            <a:avLst/>
          </a:prstGeom>
          <a:noFill/>
        </p:spPr>
        <p:txBody>
          <a:bodyPr wrap="none" lIns="91440" tIns="45720" rIns="91440" bIns="45720">
            <a:spAutoFit/>
          </a:bodyPr>
          <a:lstStyle/>
          <a:p>
            <a:pPr algn="ctr"/>
            <a:r>
              <a:rPr lang="en-US" sz="1200" err="1">
                <a:ln w="0"/>
                <a:effectLst>
                  <a:outerShdw blurRad="38100" dist="19050" dir="2700000" algn="tl" rotWithShape="0">
                    <a:schemeClr val="dk1">
                      <a:alpha val="40000"/>
                    </a:schemeClr>
                  </a:outerShdw>
                </a:effectLst>
              </a:rPr>
              <a:t>myusuffadhlan</a:t>
            </a:r>
            <a:endParaRPr lang="en-US" sz="1200" b="0" cap="none" spc="0">
              <a:ln w="0"/>
              <a:solidFill>
                <a:schemeClr val="tx1"/>
              </a:solidFill>
              <a:effectLst>
                <a:outerShdw blurRad="38100" dist="19050" dir="2700000" algn="tl" rotWithShape="0">
                  <a:schemeClr val="dk1">
                    <a:alpha val="40000"/>
                  </a:schemeClr>
                </a:outerShdw>
              </a:effectLst>
            </a:endParaRPr>
          </a:p>
        </p:txBody>
      </p:sp>
      <p:pic>
        <p:nvPicPr>
          <p:cNvPr id="17" name="Picture 2">
            <a:extLst>
              <a:ext uri="{FF2B5EF4-FFF2-40B4-BE49-F238E27FC236}">
                <a16:creationId xmlns:a16="http://schemas.microsoft.com/office/drawing/2014/main" id="{02B255C0-4F35-DF9D-A085-BBCD3E8E50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8236" y="6278693"/>
            <a:ext cx="164458" cy="16445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an I see how many people viewed my Instagram profile in the last week? -  Quora">
            <a:extLst>
              <a:ext uri="{FF2B5EF4-FFF2-40B4-BE49-F238E27FC236}">
                <a16:creationId xmlns:a16="http://schemas.microsoft.com/office/drawing/2014/main" id="{B051BC0E-FE13-0D5C-25DA-191B8CC5ED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8847" y="5552830"/>
            <a:ext cx="2169809" cy="162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0049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 presetClass="entr" presetSubtype="0" fill="hold" grpId="0" nodeType="afterEffect">
                                  <p:stCondLst>
                                    <p:cond delay="0"/>
                                  </p:stCondLst>
                                  <p:iterate type="lt">
                                    <p:tmAbs val="100"/>
                                  </p:iterate>
                                  <p:childTnLst>
                                    <p:set>
                                      <p:cBhvr>
                                        <p:cTn id="10" dur="1" fill="hold">
                                          <p:stCondLst>
                                            <p:cond delay="0"/>
                                          </p:stCondLst>
                                        </p:cTn>
                                        <p:tgtEl>
                                          <p:spTgt spid="16"/>
                                        </p:tgtEl>
                                        <p:attrNameLst>
                                          <p:attrName>style.visibility</p:attrName>
                                        </p:attrNameLst>
                                      </p:cBhvr>
                                      <p:to>
                                        <p:strVal val="visible"/>
                                      </p:to>
                                    </p:set>
                                  </p:childTnLst>
                                </p:cTn>
                              </p:par>
                              <p:par>
                                <p:cTn id="11" presetID="37" presetClass="exit" presetSubtype="0" fill="hold" nodeType="withEffect">
                                  <p:stCondLst>
                                    <p:cond delay="5000"/>
                                  </p:stCondLst>
                                  <p:childTnLst>
                                    <p:animEffect transition="out" filter="fade">
                                      <p:cBhvr>
                                        <p:cTn id="12" dur="1000"/>
                                        <p:tgtEl>
                                          <p:spTgt spid="18"/>
                                        </p:tgtEl>
                                      </p:cBhvr>
                                    </p:animEffect>
                                    <p:anim calcmode="lin" valueType="num">
                                      <p:cBhvr>
                                        <p:cTn id="13" dur="1000"/>
                                        <p:tgtEl>
                                          <p:spTgt spid="18"/>
                                        </p:tgtEl>
                                        <p:attrNameLst>
                                          <p:attrName>ppt_x</p:attrName>
                                        </p:attrNameLst>
                                      </p:cBhvr>
                                      <p:tavLst>
                                        <p:tav tm="0">
                                          <p:val>
                                            <p:strVal val="ppt_x"/>
                                          </p:val>
                                        </p:tav>
                                        <p:tav tm="100000">
                                          <p:val>
                                            <p:strVal val="ppt_x"/>
                                          </p:val>
                                        </p:tav>
                                      </p:tavLst>
                                    </p:anim>
                                    <p:anim calcmode="lin" valueType="num">
                                      <p:cBhvr>
                                        <p:cTn id="14" dur="100" decel="100000"/>
                                        <p:tgtEl>
                                          <p:spTgt spid="18"/>
                                        </p:tgtEl>
                                        <p:attrNameLst>
                                          <p:attrName>ppt_y</p:attrName>
                                        </p:attrNameLst>
                                      </p:cBhvr>
                                      <p:tavLst>
                                        <p:tav tm="0">
                                          <p:val>
                                            <p:strVal val="ppt_y"/>
                                          </p:val>
                                        </p:tav>
                                        <p:tav tm="100000">
                                          <p:val>
                                            <p:strVal val="ppt_y-.03"/>
                                          </p:val>
                                        </p:tav>
                                      </p:tavLst>
                                    </p:anim>
                                    <p:anim calcmode="lin" valueType="num">
                                      <p:cBhvr>
                                        <p:cTn id="15" dur="900" accel="100000">
                                          <p:stCondLst>
                                            <p:cond delay="100"/>
                                          </p:stCondLst>
                                        </p:cTn>
                                        <p:tgtEl>
                                          <p:spTgt spid="18"/>
                                        </p:tgtEl>
                                        <p:attrNameLst>
                                          <p:attrName>ppt_y</p:attrName>
                                        </p:attrNameLst>
                                      </p:cBhvr>
                                      <p:tavLst>
                                        <p:tav tm="0">
                                          <p:val>
                                            <p:strVal val="ppt_y"/>
                                          </p:val>
                                        </p:tav>
                                        <p:tav tm="100000">
                                          <p:val>
                                            <p:strVal val="ppt_y+1"/>
                                          </p:val>
                                        </p:tav>
                                      </p:tavLst>
                                    </p:anim>
                                    <p:set>
                                      <p:cBhvr>
                                        <p:cTn id="16" dur="1" fill="hold">
                                          <p:stCondLst>
                                            <p:cond delay="999"/>
                                          </p:stCondLst>
                                        </p:cTn>
                                        <p:tgtEl>
                                          <p:spTgt spid="18"/>
                                        </p:tgtEl>
                                        <p:attrNameLst>
                                          <p:attrName>style.visibility</p:attrName>
                                        </p:attrNameLst>
                                      </p:cBhvr>
                                      <p:to>
                                        <p:strVal val="hidden"/>
                                      </p:to>
                                    </p:set>
                                  </p:childTnLst>
                                </p:cTn>
                              </p:par>
                              <p:par>
                                <p:cTn id="17" presetID="1" presetClass="exit" presetSubtype="0" fill="hold" grpId="1" nodeType="withEffect">
                                  <p:stCondLst>
                                    <p:cond delay="5000"/>
                                  </p:stCondLst>
                                  <p:iterate type="lt">
                                    <p:tmAbs val="100"/>
                                  </p:iterate>
                                  <p:childTnLst>
                                    <p:set>
                                      <p:cBhvr>
                                        <p:cTn id="18" dur="1" fill="hold">
                                          <p:stCondLst>
                                            <p:cond delay="0"/>
                                          </p:stCondLst>
                                        </p:cTn>
                                        <p:tgtEl>
                                          <p:spTgt spid="16"/>
                                        </p:tgtEl>
                                        <p:attrNameLst>
                                          <p:attrName>style.visibility</p:attrName>
                                        </p:attrNameLst>
                                      </p:cBhvr>
                                      <p:to>
                                        <p:strVal val="hidden"/>
                                      </p:to>
                                    </p:set>
                                  </p:childTnLst>
                                </p:cTn>
                              </p:par>
                              <p:par>
                                <p:cTn id="19" presetID="45" presetClass="exit" presetSubtype="0" fill="hold" nodeType="withEffect">
                                  <p:stCondLst>
                                    <p:cond delay="5000"/>
                                  </p:stCondLst>
                                  <p:childTnLst>
                                    <p:animEffect transition="out" filter="fade">
                                      <p:cBhvr>
                                        <p:cTn id="20" dur="2000"/>
                                        <p:tgtEl>
                                          <p:spTgt spid="17"/>
                                        </p:tgtEl>
                                      </p:cBhvr>
                                    </p:animEffect>
                                    <p:anim calcmode="lin" valueType="num">
                                      <p:cBhvr>
                                        <p:cTn id="21" dur="2000"/>
                                        <p:tgtEl>
                                          <p:spTgt spid="1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2000"/>
                                        <p:tgtEl>
                                          <p:spTgt spid="17"/>
                                        </p:tgtEl>
                                        <p:attrNameLst>
                                          <p:attrName>ppt_h</p:attrName>
                                        </p:attrNameLst>
                                      </p:cBhvr>
                                      <p:tavLst>
                                        <p:tav tm="0">
                                          <p:val>
                                            <p:strVal val="ppt_h"/>
                                          </p:val>
                                        </p:tav>
                                        <p:tav tm="100000">
                                          <p:val>
                                            <p:strVal val="ppt_h"/>
                                          </p:val>
                                        </p:tav>
                                      </p:tavLst>
                                    </p:anim>
                                    <p:set>
                                      <p:cBhvr>
                                        <p:cTn id="23" dur="1" fill="hold">
                                          <p:stCondLst>
                                            <p:cond delay="19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10" name="Picture 2" descr="Arduino 7-Segment Tutorial - Common Cathode Schematic">
            <a:extLst>
              <a:ext uri="{FF2B5EF4-FFF2-40B4-BE49-F238E27FC236}">
                <a16:creationId xmlns:a16="http://schemas.microsoft.com/office/drawing/2014/main" id="{3C91B955-F101-9840-4AD3-323DB591F2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2437" y="1342252"/>
            <a:ext cx="7999249" cy="50204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5AB37E9E-8EA1-8ADD-402C-747E5D89C654}"/>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17A4D7F-90E0-0C9F-EEA6-609D6912FCB3}"/>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6" name="Rectangle 5">
            <a:extLst>
              <a:ext uri="{FF2B5EF4-FFF2-40B4-BE49-F238E27FC236}">
                <a16:creationId xmlns:a16="http://schemas.microsoft.com/office/drawing/2014/main" id="{0EF8AD73-6A4B-6B46-3077-8CE2DD0C1B0B}"/>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4499138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10" name="Picture 2" descr="Arduino 7-Segment Tutorial - Common Cathode Schematic">
            <a:extLst>
              <a:ext uri="{FF2B5EF4-FFF2-40B4-BE49-F238E27FC236}">
                <a16:creationId xmlns:a16="http://schemas.microsoft.com/office/drawing/2014/main" id="{3C91B955-F101-9840-4AD3-323DB591F2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2437" y="1342252"/>
            <a:ext cx="7999249" cy="502044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rduino 7-Segment Tutorial - Common Anode Schematic">
            <a:extLst>
              <a:ext uri="{FF2B5EF4-FFF2-40B4-BE49-F238E27FC236}">
                <a16:creationId xmlns:a16="http://schemas.microsoft.com/office/drawing/2014/main" id="{0A0D43B3-032A-0E67-7632-DAFF4AABDB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2433" y="1342251"/>
            <a:ext cx="7999248" cy="512772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66FC4219-122F-15F6-3E87-291F4FC858CB}"/>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F35E019-F972-1768-EAD5-18555F13ABF2}"/>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C4DA9109-448F-7E1B-1429-E0EA12D3AF93}"/>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0428264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4" name="Picture 2" descr="Arduino 7-Segment Display Tutorial - Pin Diagram">
            <a:extLst>
              <a:ext uri="{FF2B5EF4-FFF2-40B4-BE49-F238E27FC236}">
                <a16:creationId xmlns:a16="http://schemas.microsoft.com/office/drawing/2014/main" id="{6AD9B698-D956-AE78-1ADC-4CCC11C65A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4193" y="1130493"/>
            <a:ext cx="2647000" cy="541431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2D6A02C0-D3B5-74F0-0A78-BBB96EE67B6B}"/>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B4F093-48AA-3256-A3FA-363F75F461C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1C883161-7AE8-7FD4-0DF3-FBD379A14C33}"/>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2595818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3" name="Picture 2">
            <a:extLst>
              <a:ext uri="{FF2B5EF4-FFF2-40B4-BE49-F238E27FC236}">
                <a16:creationId xmlns:a16="http://schemas.microsoft.com/office/drawing/2014/main" id="{C1B202CC-A411-8F35-455F-9F3DBBBC0329}"/>
              </a:ext>
            </a:extLst>
          </p:cNvPr>
          <p:cNvPicPr>
            <a:picLocks noChangeAspect="1"/>
          </p:cNvPicPr>
          <p:nvPr/>
        </p:nvPicPr>
        <p:blipFill rotWithShape="1">
          <a:blip r:embed="rId5"/>
          <a:srcRect l="23741"/>
          <a:stretch/>
        </p:blipFill>
        <p:spPr>
          <a:xfrm>
            <a:off x="3818233" y="1282892"/>
            <a:ext cx="7950606" cy="5078960"/>
          </a:xfrm>
          <a:prstGeom prst="rect">
            <a:avLst/>
          </a:prstGeom>
        </p:spPr>
      </p:pic>
      <p:sp>
        <p:nvSpPr>
          <p:cNvPr id="4" name="Rectangle: Rounded Corners 3">
            <a:extLst>
              <a:ext uri="{FF2B5EF4-FFF2-40B4-BE49-F238E27FC236}">
                <a16:creationId xmlns:a16="http://schemas.microsoft.com/office/drawing/2014/main" id="{54DBFFF3-9536-BB83-D921-46B2D4F09A48}"/>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CDFF22A-1FF6-BBEE-C8EE-85BC885D6E89}"/>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EC3474AB-C56E-7549-149B-D305720BE057}"/>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35622814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C94602-DCBF-4459-9D51-B77C8842D5F3}"/>
              </a:ext>
            </a:extLst>
          </p:cNvPr>
          <p:cNvSpPr>
            <a:spLocks noGrp="1"/>
          </p:cNvSpPr>
          <p:nvPr>
            <p:ph type="ctrTitle"/>
          </p:nvPr>
        </p:nvSpPr>
        <p:spPr>
          <a:xfrm>
            <a:off x="6858000" y="142361"/>
            <a:ext cx="5334000" cy="1068737"/>
          </a:xfrm>
        </p:spPr>
        <p:txBody>
          <a:bodyPr>
            <a:normAutofit/>
          </a:bodyPr>
          <a:lstStyle/>
          <a:p>
            <a:r>
              <a:rPr lang="en-US" err="1">
                <a:solidFill>
                  <a:schemeClr val="bg1"/>
                </a:solidFill>
              </a:rPr>
              <a:t>Soal</a:t>
            </a:r>
            <a:r>
              <a:rPr lang="en-US">
                <a:solidFill>
                  <a:schemeClr val="bg1"/>
                </a:solidFill>
              </a:rPr>
              <a:t> 2</a:t>
            </a:r>
          </a:p>
        </p:txBody>
      </p:sp>
      <p:sp>
        <p:nvSpPr>
          <p:cNvPr id="5" name="Title 1">
            <a:extLst>
              <a:ext uri="{FF2B5EF4-FFF2-40B4-BE49-F238E27FC236}">
                <a16:creationId xmlns:a16="http://schemas.microsoft.com/office/drawing/2014/main" id="{71EF0954-ED65-450B-9283-41DA08048594}"/>
              </a:ext>
            </a:extLst>
          </p:cNvPr>
          <p:cNvSpPr txBox="1">
            <a:spLocks/>
          </p:cNvSpPr>
          <p:nvPr/>
        </p:nvSpPr>
        <p:spPr>
          <a:xfrm>
            <a:off x="6858000" y="1292205"/>
            <a:ext cx="5334000" cy="1068737"/>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err="1">
                <a:solidFill>
                  <a:schemeClr val="bg1"/>
                </a:solidFill>
              </a:rPr>
              <a:t>Menggunakan</a:t>
            </a:r>
            <a:r>
              <a:rPr lang="en-US">
                <a:solidFill>
                  <a:schemeClr val="bg1"/>
                </a:solidFill>
              </a:rPr>
              <a:t> Seven Segments </a:t>
            </a:r>
            <a:r>
              <a:rPr lang="en-US" err="1">
                <a:solidFill>
                  <a:schemeClr val="bg1"/>
                </a:solidFill>
              </a:rPr>
              <a:t>sebagai</a:t>
            </a:r>
            <a:r>
              <a:rPr lang="en-US">
                <a:solidFill>
                  <a:schemeClr val="bg1"/>
                </a:solidFill>
              </a:rPr>
              <a:t> output</a:t>
            </a:r>
          </a:p>
        </p:txBody>
      </p:sp>
      <p:pic>
        <p:nvPicPr>
          <p:cNvPr id="3" name="Picture 2">
            <a:extLst>
              <a:ext uri="{FF2B5EF4-FFF2-40B4-BE49-F238E27FC236}">
                <a16:creationId xmlns:a16="http://schemas.microsoft.com/office/drawing/2014/main" id="{33384405-C214-41C6-9E3C-ED79A9E6648E}"/>
              </a:ext>
            </a:extLst>
          </p:cNvPr>
          <p:cNvPicPr>
            <a:picLocks noChangeAspect="1"/>
          </p:cNvPicPr>
          <p:nvPr/>
        </p:nvPicPr>
        <p:blipFill>
          <a:blip r:embed="rId2"/>
          <a:stretch>
            <a:fillRect/>
          </a:stretch>
        </p:blipFill>
        <p:spPr>
          <a:xfrm>
            <a:off x="7103463" y="3601564"/>
            <a:ext cx="4330656" cy="2109708"/>
          </a:xfrm>
          <a:prstGeom prst="rect">
            <a:avLst/>
          </a:prstGeom>
        </p:spPr>
      </p:pic>
      <p:sp>
        <p:nvSpPr>
          <p:cNvPr id="7" name="Rectangle 6">
            <a:extLst>
              <a:ext uri="{FF2B5EF4-FFF2-40B4-BE49-F238E27FC236}">
                <a16:creationId xmlns:a16="http://schemas.microsoft.com/office/drawing/2014/main" id="{6E67C559-5949-4D9F-9FC7-04213B1451FD}"/>
              </a:ext>
            </a:extLst>
          </p:cNvPr>
          <p:cNvSpPr/>
          <p:nvPr/>
        </p:nvSpPr>
        <p:spPr>
          <a:xfrm>
            <a:off x="477796" y="288885"/>
            <a:ext cx="6096000" cy="33916977"/>
          </a:xfrm>
          <a:prstGeom prst="rect">
            <a:avLst/>
          </a:prstGeom>
        </p:spPr>
        <p:txBody>
          <a:bodyPr>
            <a:spAutoFit/>
          </a:bodyPr>
          <a:lstStyle/>
          <a:p>
            <a:r>
              <a:rPr lang="en-US" sz="1400">
                <a:solidFill>
                  <a:schemeClr val="bg1"/>
                </a:solidFill>
              </a:rPr>
              <a:t>int A = 13;</a:t>
            </a:r>
          </a:p>
          <a:p>
            <a:r>
              <a:rPr lang="en-US" sz="1400">
                <a:solidFill>
                  <a:schemeClr val="bg1"/>
                </a:solidFill>
              </a:rPr>
              <a:t>int B = 12;</a:t>
            </a:r>
          </a:p>
          <a:p>
            <a:r>
              <a:rPr lang="en-US" sz="1400">
                <a:solidFill>
                  <a:schemeClr val="bg1"/>
                </a:solidFill>
              </a:rPr>
              <a:t>int C = 11;</a:t>
            </a:r>
          </a:p>
          <a:p>
            <a:r>
              <a:rPr lang="en-US" sz="1400">
                <a:solidFill>
                  <a:schemeClr val="bg1"/>
                </a:solidFill>
              </a:rPr>
              <a:t>int D = 10;</a:t>
            </a:r>
          </a:p>
          <a:p>
            <a:r>
              <a:rPr lang="en-US" sz="1400">
                <a:solidFill>
                  <a:schemeClr val="bg1"/>
                </a:solidFill>
              </a:rPr>
              <a:t>int E = 9;</a:t>
            </a:r>
          </a:p>
          <a:p>
            <a:r>
              <a:rPr lang="en-US" sz="1400">
                <a:solidFill>
                  <a:schemeClr val="bg1"/>
                </a:solidFill>
              </a:rPr>
              <a:t>int F = 8;</a:t>
            </a:r>
          </a:p>
          <a:p>
            <a:r>
              <a:rPr lang="en-US" sz="1400">
                <a:solidFill>
                  <a:schemeClr val="bg1"/>
                </a:solidFill>
              </a:rPr>
              <a:t>int G = 7;</a:t>
            </a:r>
          </a:p>
          <a:p>
            <a:r>
              <a:rPr lang="en-US" sz="1400">
                <a:solidFill>
                  <a:schemeClr val="bg1"/>
                </a:solidFill>
              </a:rPr>
              <a:t>int H = 6;</a:t>
            </a:r>
          </a:p>
          <a:p>
            <a:endParaRPr lang="en-US" sz="1400">
              <a:solidFill>
                <a:schemeClr val="bg1"/>
              </a:solidFill>
            </a:endParaRPr>
          </a:p>
          <a:p>
            <a:endParaRPr lang="en-US" sz="1400">
              <a:solidFill>
                <a:schemeClr val="bg1"/>
              </a:solidFill>
            </a:endParaRPr>
          </a:p>
          <a:p>
            <a:r>
              <a:rPr lang="en-US" sz="1400">
                <a:solidFill>
                  <a:schemeClr val="bg1"/>
                </a:solidFill>
              </a:rPr>
              <a:t>void setup(void)</a:t>
            </a:r>
          </a:p>
          <a:p>
            <a:r>
              <a:rPr lang="en-US" sz="1400">
                <a:solidFill>
                  <a:schemeClr val="bg1"/>
                </a:solidFill>
              </a:rPr>
              <a:t>{</a:t>
            </a:r>
          </a:p>
          <a:p>
            <a:r>
              <a:rPr lang="en-US" sz="1400">
                <a:solidFill>
                  <a:schemeClr val="bg1"/>
                </a:solidFill>
              </a:rPr>
              <a:t>  </a:t>
            </a:r>
            <a:r>
              <a:rPr lang="en-US" sz="1400" err="1">
                <a:solidFill>
                  <a:schemeClr val="bg1"/>
                </a:solidFill>
              </a:rPr>
              <a:t>pinMode</a:t>
            </a:r>
            <a:r>
              <a:rPr lang="en-US" sz="1400">
                <a:solidFill>
                  <a:schemeClr val="bg1"/>
                </a:solidFill>
              </a:rPr>
              <a:t>(A, OUTPUT);</a:t>
            </a:r>
          </a:p>
          <a:p>
            <a:r>
              <a:rPr lang="en-US" sz="1400">
                <a:solidFill>
                  <a:schemeClr val="bg1"/>
                </a:solidFill>
              </a:rPr>
              <a:t>  </a:t>
            </a:r>
            <a:r>
              <a:rPr lang="en-US" sz="1400" err="1">
                <a:solidFill>
                  <a:schemeClr val="bg1"/>
                </a:solidFill>
              </a:rPr>
              <a:t>pinMode</a:t>
            </a:r>
            <a:r>
              <a:rPr lang="en-US" sz="1400">
                <a:solidFill>
                  <a:schemeClr val="bg1"/>
                </a:solidFill>
              </a:rPr>
              <a:t>(B, OUTPUT);</a:t>
            </a:r>
          </a:p>
          <a:p>
            <a:r>
              <a:rPr lang="en-US" sz="1400">
                <a:solidFill>
                  <a:schemeClr val="bg1"/>
                </a:solidFill>
              </a:rPr>
              <a:t>  </a:t>
            </a:r>
            <a:r>
              <a:rPr lang="en-US" sz="1400" err="1">
                <a:solidFill>
                  <a:schemeClr val="bg1"/>
                </a:solidFill>
              </a:rPr>
              <a:t>pinMode</a:t>
            </a:r>
            <a:r>
              <a:rPr lang="en-US" sz="1400">
                <a:solidFill>
                  <a:schemeClr val="bg1"/>
                </a:solidFill>
              </a:rPr>
              <a:t>(C, OUTPUT);</a:t>
            </a:r>
          </a:p>
          <a:p>
            <a:r>
              <a:rPr lang="en-US" sz="1400">
                <a:solidFill>
                  <a:schemeClr val="bg1"/>
                </a:solidFill>
              </a:rPr>
              <a:t>  </a:t>
            </a:r>
            <a:r>
              <a:rPr lang="en-US" sz="1400" err="1">
                <a:solidFill>
                  <a:schemeClr val="bg1"/>
                </a:solidFill>
              </a:rPr>
              <a:t>pinMode</a:t>
            </a:r>
            <a:r>
              <a:rPr lang="en-US" sz="1400">
                <a:solidFill>
                  <a:schemeClr val="bg1"/>
                </a:solidFill>
              </a:rPr>
              <a:t>(D, OUTPUT);</a:t>
            </a:r>
          </a:p>
          <a:p>
            <a:r>
              <a:rPr lang="en-US" sz="1400">
                <a:solidFill>
                  <a:schemeClr val="bg1"/>
                </a:solidFill>
              </a:rPr>
              <a:t>  </a:t>
            </a:r>
            <a:r>
              <a:rPr lang="en-US" sz="1400" err="1">
                <a:solidFill>
                  <a:schemeClr val="bg1"/>
                </a:solidFill>
              </a:rPr>
              <a:t>pinMode</a:t>
            </a:r>
            <a:r>
              <a:rPr lang="en-US" sz="1400">
                <a:solidFill>
                  <a:schemeClr val="bg1"/>
                </a:solidFill>
              </a:rPr>
              <a:t>(E, OUTPUT);</a:t>
            </a:r>
          </a:p>
          <a:p>
            <a:r>
              <a:rPr lang="en-US" sz="1400">
                <a:solidFill>
                  <a:schemeClr val="bg1"/>
                </a:solidFill>
              </a:rPr>
              <a:t>  </a:t>
            </a:r>
            <a:r>
              <a:rPr lang="en-US" sz="1400" err="1">
                <a:solidFill>
                  <a:schemeClr val="bg1"/>
                </a:solidFill>
              </a:rPr>
              <a:t>pinMode</a:t>
            </a:r>
            <a:r>
              <a:rPr lang="en-US" sz="1400">
                <a:solidFill>
                  <a:schemeClr val="bg1"/>
                </a:solidFill>
              </a:rPr>
              <a:t>(F, OUTPUT);</a:t>
            </a:r>
          </a:p>
          <a:p>
            <a:r>
              <a:rPr lang="en-US" sz="1400">
                <a:solidFill>
                  <a:schemeClr val="bg1"/>
                </a:solidFill>
              </a:rPr>
              <a:t>  </a:t>
            </a:r>
            <a:r>
              <a:rPr lang="en-US" sz="1400" err="1">
                <a:solidFill>
                  <a:schemeClr val="bg1"/>
                </a:solidFill>
              </a:rPr>
              <a:t>pinMode</a:t>
            </a:r>
            <a:r>
              <a:rPr lang="en-US" sz="1400">
                <a:solidFill>
                  <a:schemeClr val="bg1"/>
                </a:solidFill>
              </a:rPr>
              <a:t>(G, OUTPUT);</a:t>
            </a:r>
          </a:p>
          <a:p>
            <a:r>
              <a:rPr lang="en-US" sz="1400">
                <a:solidFill>
                  <a:schemeClr val="bg1"/>
                </a:solidFill>
              </a:rPr>
              <a:t>  </a:t>
            </a:r>
            <a:r>
              <a:rPr lang="en-US" sz="1400" err="1">
                <a:solidFill>
                  <a:schemeClr val="bg1"/>
                </a:solidFill>
              </a:rPr>
              <a:t>pinMode</a:t>
            </a:r>
            <a:r>
              <a:rPr lang="en-US" sz="1400">
                <a:solidFill>
                  <a:schemeClr val="bg1"/>
                </a:solidFill>
              </a:rPr>
              <a:t>(H, OUTPUT);</a:t>
            </a:r>
          </a:p>
          <a:p>
            <a:r>
              <a:rPr lang="en-US" sz="1400">
                <a:solidFill>
                  <a:schemeClr val="bg1"/>
                </a:solidFill>
              </a:rPr>
              <a:t>}</a:t>
            </a:r>
          </a:p>
          <a:p>
            <a:endParaRPr lang="en-US" sz="1400">
              <a:solidFill>
                <a:schemeClr val="bg1"/>
              </a:solidFill>
            </a:endParaRPr>
          </a:p>
          <a:p>
            <a:r>
              <a:rPr lang="en-US" sz="1400">
                <a:solidFill>
                  <a:schemeClr val="bg1"/>
                </a:solidFill>
              </a:rPr>
              <a:t>void zero(void)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one(void)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LOW);</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two(void)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LOW);</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three(void)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four(void)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LOW);</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five(void)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LOW);</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six(void)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LOW);</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seven(void)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eight(void)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nine(void)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endParaRPr lang="en-US" sz="1400">
              <a:solidFill>
                <a:schemeClr val="bg1"/>
              </a:solidFill>
            </a:endParaRPr>
          </a:p>
          <a:p>
            <a:r>
              <a:rPr lang="en-US" sz="1400">
                <a:solidFill>
                  <a:schemeClr val="bg1"/>
                </a:solidFill>
              </a:rPr>
              <a:t>void loop(void)</a:t>
            </a:r>
          </a:p>
          <a:p>
            <a:r>
              <a:rPr lang="en-US" sz="1400">
                <a:solidFill>
                  <a:schemeClr val="bg1"/>
                </a:solidFill>
              </a:rPr>
              <a:t>{</a:t>
            </a:r>
          </a:p>
          <a:p>
            <a:r>
              <a:rPr lang="en-US" sz="1400">
                <a:solidFill>
                  <a:schemeClr val="bg1"/>
                </a:solidFill>
              </a:rPr>
              <a:t>  zero();</a:t>
            </a:r>
          </a:p>
          <a:p>
            <a:r>
              <a:rPr lang="en-US" sz="1400">
                <a:solidFill>
                  <a:schemeClr val="bg1"/>
                </a:solidFill>
              </a:rPr>
              <a:t>  </a:t>
            </a:r>
          </a:p>
          <a:p>
            <a:r>
              <a:rPr lang="en-US" sz="1400">
                <a:solidFill>
                  <a:schemeClr val="bg1"/>
                </a:solidFill>
              </a:rPr>
              <a:t>}</a:t>
            </a: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p:txBody>
      </p:sp>
    </p:spTree>
    <p:extLst>
      <p:ext uri="{BB962C8B-B14F-4D97-AF65-F5344CB8AC3E}">
        <p14:creationId xmlns:p14="http://schemas.microsoft.com/office/powerpoint/2010/main" val="37662499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C94602-DCBF-4459-9D51-B77C8842D5F3}"/>
              </a:ext>
            </a:extLst>
          </p:cNvPr>
          <p:cNvSpPr>
            <a:spLocks noGrp="1"/>
          </p:cNvSpPr>
          <p:nvPr>
            <p:ph type="ctrTitle"/>
          </p:nvPr>
        </p:nvSpPr>
        <p:spPr>
          <a:xfrm>
            <a:off x="6858000" y="142361"/>
            <a:ext cx="5334000" cy="1068737"/>
          </a:xfrm>
        </p:spPr>
        <p:txBody>
          <a:bodyPr>
            <a:normAutofit/>
          </a:bodyPr>
          <a:lstStyle/>
          <a:p>
            <a:r>
              <a:rPr lang="en-US" err="1">
                <a:solidFill>
                  <a:schemeClr val="bg1"/>
                </a:solidFill>
              </a:rPr>
              <a:t>Soal</a:t>
            </a:r>
            <a:r>
              <a:rPr lang="en-US">
                <a:solidFill>
                  <a:schemeClr val="bg1"/>
                </a:solidFill>
              </a:rPr>
              <a:t> 2</a:t>
            </a:r>
          </a:p>
        </p:txBody>
      </p:sp>
      <p:sp>
        <p:nvSpPr>
          <p:cNvPr id="5" name="Title 1">
            <a:extLst>
              <a:ext uri="{FF2B5EF4-FFF2-40B4-BE49-F238E27FC236}">
                <a16:creationId xmlns:a16="http://schemas.microsoft.com/office/drawing/2014/main" id="{71EF0954-ED65-450B-9283-41DA08048594}"/>
              </a:ext>
            </a:extLst>
          </p:cNvPr>
          <p:cNvSpPr txBox="1">
            <a:spLocks/>
          </p:cNvSpPr>
          <p:nvPr/>
        </p:nvSpPr>
        <p:spPr>
          <a:xfrm>
            <a:off x="6858000" y="1292205"/>
            <a:ext cx="5334000" cy="1068737"/>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err="1">
                <a:solidFill>
                  <a:schemeClr val="bg1"/>
                </a:solidFill>
              </a:rPr>
              <a:t>Menggunakan</a:t>
            </a:r>
            <a:r>
              <a:rPr lang="en-US">
                <a:solidFill>
                  <a:schemeClr val="bg1"/>
                </a:solidFill>
              </a:rPr>
              <a:t> Seven Segments </a:t>
            </a:r>
            <a:r>
              <a:rPr lang="en-US" err="1">
                <a:solidFill>
                  <a:schemeClr val="bg1"/>
                </a:solidFill>
              </a:rPr>
              <a:t>sebagai</a:t>
            </a:r>
            <a:r>
              <a:rPr lang="en-US">
                <a:solidFill>
                  <a:schemeClr val="bg1"/>
                </a:solidFill>
              </a:rPr>
              <a:t> output</a:t>
            </a:r>
          </a:p>
        </p:txBody>
      </p:sp>
      <p:pic>
        <p:nvPicPr>
          <p:cNvPr id="3" name="Picture 2">
            <a:extLst>
              <a:ext uri="{FF2B5EF4-FFF2-40B4-BE49-F238E27FC236}">
                <a16:creationId xmlns:a16="http://schemas.microsoft.com/office/drawing/2014/main" id="{33384405-C214-41C6-9E3C-ED79A9E6648E}"/>
              </a:ext>
            </a:extLst>
          </p:cNvPr>
          <p:cNvPicPr>
            <a:picLocks noChangeAspect="1"/>
          </p:cNvPicPr>
          <p:nvPr/>
        </p:nvPicPr>
        <p:blipFill>
          <a:blip r:embed="rId2"/>
          <a:stretch>
            <a:fillRect/>
          </a:stretch>
        </p:blipFill>
        <p:spPr>
          <a:xfrm>
            <a:off x="7103463" y="3601564"/>
            <a:ext cx="4330656" cy="2109708"/>
          </a:xfrm>
          <a:prstGeom prst="rect">
            <a:avLst/>
          </a:prstGeom>
        </p:spPr>
      </p:pic>
      <p:sp>
        <p:nvSpPr>
          <p:cNvPr id="7" name="Rectangle 6">
            <a:extLst>
              <a:ext uri="{FF2B5EF4-FFF2-40B4-BE49-F238E27FC236}">
                <a16:creationId xmlns:a16="http://schemas.microsoft.com/office/drawing/2014/main" id="{6E67C559-5949-4D9F-9FC7-04213B1451FD}"/>
              </a:ext>
            </a:extLst>
          </p:cNvPr>
          <p:cNvSpPr/>
          <p:nvPr/>
        </p:nvSpPr>
        <p:spPr>
          <a:xfrm>
            <a:off x="477796" y="-1836477"/>
            <a:ext cx="6096000" cy="33916977"/>
          </a:xfrm>
          <a:prstGeom prst="rect">
            <a:avLst/>
          </a:prstGeom>
        </p:spPr>
        <p:txBody>
          <a:bodyPr>
            <a:spAutoFit/>
          </a:bodyPr>
          <a:lstStyle/>
          <a:p>
            <a:r>
              <a:rPr lang="en-US" sz="1400">
                <a:solidFill>
                  <a:schemeClr val="bg1"/>
                </a:solidFill>
              </a:rPr>
              <a:t>int A = 13;</a:t>
            </a:r>
          </a:p>
          <a:p>
            <a:r>
              <a:rPr lang="en-US" sz="1400">
                <a:solidFill>
                  <a:schemeClr val="bg1"/>
                </a:solidFill>
              </a:rPr>
              <a:t>int B = 12;</a:t>
            </a:r>
          </a:p>
          <a:p>
            <a:r>
              <a:rPr lang="en-US" sz="1400">
                <a:solidFill>
                  <a:schemeClr val="bg1"/>
                </a:solidFill>
              </a:rPr>
              <a:t>int C = 11;</a:t>
            </a:r>
          </a:p>
          <a:p>
            <a:r>
              <a:rPr lang="en-US" sz="1400">
                <a:solidFill>
                  <a:schemeClr val="bg1"/>
                </a:solidFill>
              </a:rPr>
              <a:t>int D = 10;</a:t>
            </a:r>
          </a:p>
          <a:p>
            <a:r>
              <a:rPr lang="en-US" sz="1400">
                <a:solidFill>
                  <a:schemeClr val="bg1"/>
                </a:solidFill>
              </a:rPr>
              <a:t>int E = 9;</a:t>
            </a:r>
          </a:p>
          <a:p>
            <a:r>
              <a:rPr lang="en-US" sz="1400">
                <a:solidFill>
                  <a:schemeClr val="bg1"/>
                </a:solidFill>
              </a:rPr>
              <a:t>int F = 8;</a:t>
            </a:r>
          </a:p>
          <a:p>
            <a:r>
              <a:rPr lang="en-US" sz="1400">
                <a:solidFill>
                  <a:schemeClr val="bg1"/>
                </a:solidFill>
              </a:rPr>
              <a:t>int G = 7;</a:t>
            </a:r>
          </a:p>
          <a:p>
            <a:r>
              <a:rPr lang="en-US" sz="1400">
                <a:solidFill>
                  <a:schemeClr val="bg1"/>
                </a:solidFill>
              </a:rPr>
              <a:t>int H = 6;</a:t>
            </a:r>
          </a:p>
          <a:p>
            <a:endParaRPr lang="en-US" sz="1400">
              <a:solidFill>
                <a:schemeClr val="bg1"/>
              </a:solidFill>
            </a:endParaRPr>
          </a:p>
          <a:p>
            <a:endParaRPr lang="en-US" sz="1400">
              <a:solidFill>
                <a:schemeClr val="bg1"/>
              </a:solidFill>
            </a:endParaRPr>
          </a:p>
          <a:p>
            <a:r>
              <a:rPr lang="en-US" sz="1400">
                <a:solidFill>
                  <a:schemeClr val="bg1"/>
                </a:solidFill>
              </a:rPr>
              <a:t>void setup(void)</a:t>
            </a:r>
          </a:p>
          <a:p>
            <a:r>
              <a:rPr lang="en-US" sz="1400">
                <a:solidFill>
                  <a:schemeClr val="bg1"/>
                </a:solidFill>
              </a:rPr>
              <a:t>{</a:t>
            </a:r>
          </a:p>
          <a:p>
            <a:r>
              <a:rPr lang="en-US" sz="1400">
                <a:solidFill>
                  <a:schemeClr val="bg1"/>
                </a:solidFill>
              </a:rPr>
              <a:t>  </a:t>
            </a:r>
            <a:r>
              <a:rPr lang="en-US" sz="1400" err="1">
                <a:solidFill>
                  <a:schemeClr val="bg1"/>
                </a:solidFill>
              </a:rPr>
              <a:t>pinMode</a:t>
            </a:r>
            <a:r>
              <a:rPr lang="en-US" sz="1400">
                <a:solidFill>
                  <a:schemeClr val="bg1"/>
                </a:solidFill>
              </a:rPr>
              <a:t>(A, OUTPUT);</a:t>
            </a:r>
          </a:p>
          <a:p>
            <a:r>
              <a:rPr lang="en-US" sz="1400">
                <a:solidFill>
                  <a:schemeClr val="bg1"/>
                </a:solidFill>
              </a:rPr>
              <a:t>  </a:t>
            </a:r>
            <a:r>
              <a:rPr lang="en-US" sz="1400" err="1">
                <a:solidFill>
                  <a:schemeClr val="bg1"/>
                </a:solidFill>
              </a:rPr>
              <a:t>pinMode</a:t>
            </a:r>
            <a:r>
              <a:rPr lang="en-US" sz="1400">
                <a:solidFill>
                  <a:schemeClr val="bg1"/>
                </a:solidFill>
              </a:rPr>
              <a:t>(B, OUTPUT);</a:t>
            </a:r>
          </a:p>
          <a:p>
            <a:r>
              <a:rPr lang="en-US" sz="1400">
                <a:solidFill>
                  <a:schemeClr val="bg1"/>
                </a:solidFill>
              </a:rPr>
              <a:t>  </a:t>
            </a:r>
            <a:r>
              <a:rPr lang="en-US" sz="1400" err="1">
                <a:solidFill>
                  <a:schemeClr val="bg1"/>
                </a:solidFill>
              </a:rPr>
              <a:t>pinMode</a:t>
            </a:r>
            <a:r>
              <a:rPr lang="en-US" sz="1400">
                <a:solidFill>
                  <a:schemeClr val="bg1"/>
                </a:solidFill>
              </a:rPr>
              <a:t>(C, OUTPUT);</a:t>
            </a:r>
          </a:p>
          <a:p>
            <a:r>
              <a:rPr lang="en-US" sz="1400">
                <a:solidFill>
                  <a:schemeClr val="bg1"/>
                </a:solidFill>
              </a:rPr>
              <a:t>  </a:t>
            </a:r>
            <a:r>
              <a:rPr lang="en-US" sz="1400" err="1">
                <a:solidFill>
                  <a:schemeClr val="bg1"/>
                </a:solidFill>
              </a:rPr>
              <a:t>pinMode</a:t>
            </a:r>
            <a:r>
              <a:rPr lang="en-US" sz="1400">
                <a:solidFill>
                  <a:schemeClr val="bg1"/>
                </a:solidFill>
              </a:rPr>
              <a:t>(D, OUTPUT);</a:t>
            </a:r>
          </a:p>
          <a:p>
            <a:r>
              <a:rPr lang="en-US" sz="1400">
                <a:solidFill>
                  <a:schemeClr val="bg1"/>
                </a:solidFill>
              </a:rPr>
              <a:t>  </a:t>
            </a:r>
            <a:r>
              <a:rPr lang="en-US" sz="1400" err="1">
                <a:solidFill>
                  <a:schemeClr val="bg1"/>
                </a:solidFill>
              </a:rPr>
              <a:t>pinMode</a:t>
            </a:r>
            <a:r>
              <a:rPr lang="en-US" sz="1400">
                <a:solidFill>
                  <a:schemeClr val="bg1"/>
                </a:solidFill>
              </a:rPr>
              <a:t>(E, OUTPUT);</a:t>
            </a:r>
          </a:p>
          <a:p>
            <a:r>
              <a:rPr lang="en-US" sz="1400">
                <a:solidFill>
                  <a:schemeClr val="bg1"/>
                </a:solidFill>
              </a:rPr>
              <a:t>  </a:t>
            </a:r>
            <a:r>
              <a:rPr lang="en-US" sz="1400" err="1">
                <a:solidFill>
                  <a:schemeClr val="bg1"/>
                </a:solidFill>
              </a:rPr>
              <a:t>pinMode</a:t>
            </a:r>
            <a:r>
              <a:rPr lang="en-US" sz="1400">
                <a:solidFill>
                  <a:schemeClr val="bg1"/>
                </a:solidFill>
              </a:rPr>
              <a:t>(F, OUTPUT);</a:t>
            </a:r>
          </a:p>
          <a:p>
            <a:r>
              <a:rPr lang="en-US" sz="1400">
                <a:solidFill>
                  <a:schemeClr val="bg1"/>
                </a:solidFill>
              </a:rPr>
              <a:t>  </a:t>
            </a:r>
            <a:r>
              <a:rPr lang="en-US" sz="1400" err="1">
                <a:solidFill>
                  <a:schemeClr val="bg1"/>
                </a:solidFill>
              </a:rPr>
              <a:t>pinMode</a:t>
            </a:r>
            <a:r>
              <a:rPr lang="en-US" sz="1400">
                <a:solidFill>
                  <a:schemeClr val="bg1"/>
                </a:solidFill>
              </a:rPr>
              <a:t>(G, OUTPUT);</a:t>
            </a:r>
          </a:p>
          <a:p>
            <a:r>
              <a:rPr lang="en-US" sz="1400">
                <a:solidFill>
                  <a:schemeClr val="bg1"/>
                </a:solidFill>
              </a:rPr>
              <a:t>  </a:t>
            </a:r>
            <a:r>
              <a:rPr lang="en-US" sz="1400" err="1">
                <a:solidFill>
                  <a:schemeClr val="bg1"/>
                </a:solidFill>
              </a:rPr>
              <a:t>pinMode</a:t>
            </a:r>
            <a:r>
              <a:rPr lang="en-US" sz="1400">
                <a:solidFill>
                  <a:schemeClr val="bg1"/>
                </a:solidFill>
              </a:rPr>
              <a:t>(H, OUTPUT);</a:t>
            </a:r>
          </a:p>
          <a:p>
            <a:r>
              <a:rPr lang="en-US" sz="1400">
                <a:solidFill>
                  <a:schemeClr val="bg1"/>
                </a:solidFill>
              </a:rPr>
              <a:t>}</a:t>
            </a:r>
          </a:p>
          <a:p>
            <a:endParaRPr lang="en-US" sz="1400">
              <a:solidFill>
                <a:schemeClr val="bg1"/>
              </a:solidFill>
            </a:endParaRPr>
          </a:p>
          <a:p>
            <a:r>
              <a:rPr lang="en-US" sz="1400">
                <a:solidFill>
                  <a:schemeClr val="bg1"/>
                </a:solidFill>
              </a:rPr>
              <a:t>void zero(void)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one(void)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LOW);</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two(void)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LOW);</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three(void)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four(void)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LOW);</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five(void)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LOW);</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six(void)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LOW);</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seven(void)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eight(void)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nine(void)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endParaRPr lang="en-US" sz="1400">
              <a:solidFill>
                <a:schemeClr val="bg1"/>
              </a:solidFill>
            </a:endParaRPr>
          </a:p>
          <a:p>
            <a:r>
              <a:rPr lang="en-US" sz="1400">
                <a:solidFill>
                  <a:schemeClr val="bg1"/>
                </a:solidFill>
              </a:rPr>
              <a:t>void loop(void)</a:t>
            </a:r>
          </a:p>
          <a:p>
            <a:r>
              <a:rPr lang="en-US" sz="1400">
                <a:solidFill>
                  <a:schemeClr val="bg1"/>
                </a:solidFill>
              </a:rPr>
              <a:t>{</a:t>
            </a:r>
          </a:p>
          <a:p>
            <a:r>
              <a:rPr lang="en-US" sz="1400">
                <a:solidFill>
                  <a:schemeClr val="bg1"/>
                </a:solidFill>
              </a:rPr>
              <a:t>  zero();</a:t>
            </a:r>
          </a:p>
          <a:p>
            <a:r>
              <a:rPr lang="en-US" sz="1400">
                <a:solidFill>
                  <a:schemeClr val="bg1"/>
                </a:solidFill>
              </a:rPr>
              <a:t>  </a:t>
            </a:r>
          </a:p>
          <a:p>
            <a:r>
              <a:rPr lang="en-US" sz="1400">
                <a:solidFill>
                  <a:schemeClr val="bg1"/>
                </a:solidFill>
              </a:rPr>
              <a:t>}</a:t>
            </a: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a:p>
            <a:endParaRPr lang="en-US" sz="1400">
              <a:solidFill>
                <a:schemeClr val="bg1"/>
              </a:solidFill>
            </a:endParaRPr>
          </a:p>
        </p:txBody>
      </p:sp>
    </p:spTree>
    <p:extLst>
      <p:ext uri="{BB962C8B-B14F-4D97-AF65-F5344CB8AC3E}">
        <p14:creationId xmlns:p14="http://schemas.microsoft.com/office/powerpoint/2010/main" val="28368540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C94602-DCBF-4459-9D51-B77C8842D5F3}"/>
              </a:ext>
            </a:extLst>
          </p:cNvPr>
          <p:cNvSpPr>
            <a:spLocks noGrp="1"/>
          </p:cNvSpPr>
          <p:nvPr>
            <p:ph type="ctrTitle"/>
          </p:nvPr>
        </p:nvSpPr>
        <p:spPr>
          <a:xfrm>
            <a:off x="6858000" y="142361"/>
            <a:ext cx="5334000" cy="1068737"/>
          </a:xfrm>
        </p:spPr>
        <p:txBody>
          <a:bodyPr>
            <a:normAutofit/>
          </a:bodyPr>
          <a:lstStyle/>
          <a:p>
            <a:r>
              <a:rPr lang="en-US" err="1">
                <a:solidFill>
                  <a:schemeClr val="bg1"/>
                </a:solidFill>
              </a:rPr>
              <a:t>Soal</a:t>
            </a:r>
            <a:r>
              <a:rPr lang="en-US">
                <a:solidFill>
                  <a:schemeClr val="bg1"/>
                </a:solidFill>
              </a:rPr>
              <a:t> 2</a:t>
            </a:r>
          </a:p>
        </p:txBody>
      </p:sp>
      <p:sp>
        <p:nvSpPr>
          <p:cNvPr id="5" name="Title 1">
            <a:extLst>
              <a:ext uri="{FF2B5EF4-FFF2-40B4-BE49-F238E27FC236}">
                <a16:creationId xmlns:a16="http://schemas.microsoft.com/office/drawing/2014/main" id="{71EF0954-ED65-450B-9283-41DA08048594}"/>
              </a:ext>
            </a:extLst>
          </p:cNvPr>
          <p:cNvSpPr txBox="1">
            <a:spLocks/>
          </p:cNvSpPr>
          <p:nvPr/>
        </p:nvSpPr>
        <p:spPr>
          <a:xfrm>
            <a:off x="6858000" y="1292205"/>
            <a:ext cx="5334000" cy="1068737"/>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err="1">
                <a:solidFill>
                  <a:schemeClr val="bg1"/>
                </a:solidFill>
              </a:rPr>
              <a:t>Menggunakan</a:t>
            </a:r>
            <a:r>
              <a:rPr lang="en-US">
                <a:solidFill>
                  <a:schemeClr val="bg1"/>
                </a:solidFill>
              </a:rPr>
              <a:t> Seven Segments </a:t>
            </a:r>
            <a:r>
              <a:rPr lang="en-US" err="1">
                <a:solidFill>
                  <a:schemeClr val="bg1"/>
                </a:solidFill>
              </a:rPr>
              <a:t>sebagai</a:t>
            </a:r>
            <a:r>
              <a:rPr lang="en-US">
                <a:solidFill>
                  <a:schemeClr val="bg1"/>
                </a:solidFill>
              </a:rPr>
              <a:t> output</a:t>
            </a:r>
          </a:p>
        </p:txBody>
      </p:sp>
      <p:pic>
        <p:nvPicPr>
          <p:cNvPr id="3" name="Picture 2">
            <a:extLst>
              <a:ext uri="{FF2B5EF4-FFF2-40B4-BE49-F238E27FC236}">
                <a16:creationId xmlns:a16="http://schemas.microsoft.com/office/drawing/2014/main" id="{33384405-C214-41C6-9E3C-ED79A9E6648E}"/>
              </a:ext>
            </a:extLst>
          </p:cNvPr>
          <p:cNvPicPr>
            <a:picLocks noChangeAspect="1"/>
          </p:cNvPicPr>
          <p:nvPr/>
        </p:nvPicPr>
        <p:blipFill>
          <a:blip r:embed="rId2"/>
          <a:stretch>
            <a:fillRect/>
          </a:stretch>
        </p:blipFill>
        <p:spPr>
          <a:xfrm>
            <a:off x="7103463" y="3601564"/>
            <a:ext cx="4330656" cy="2109708"/>
          </a:xfrm>
          <a:prstGeom prst="rect">
            <a:avLst/>
          </a:prstGeom>
        </p:spPr>
      </p:pic>
      <p:sp>
        <p:nvSpPr>
          <p:cNvPr id="7" name="Rectangle 6">
            <a:extLst>
              <a:ext uri="{FF2B5EF4-FFF2-40B4-BE49-F238E27FC236}">
                <a16:creationId xmlns:a16="http://schemas.microsoft.com/office/drawing/2014/main" id="{6E67C559-5949-4D9F-9FC7-04213B1451FD}"/>
              </a:ext>
            </a:extLst>
          </p:cNvPr>
          <p:cNvSpPr/>
          <p:nvPr/>
        </p:nvSpPr>
        <p:spPr>
          <a:xfrm>
            <a:off x="477796" y="-23213668"/>
            <a:ext cx="6096000" cy="29823549"/>
          </a:xfrm>
          <a:prstGeom prst="rect">
            <a:avLst/>
          </a:prstGeom>
        </p:spPr>
        <p:txBody>
          <a:bodyPr>
            <a:spAutoFit/>
          </a:bodyPr>
          <a:lstStyle/>
          <a:p>
            <a:r>
              <a:rPr lang="en-US" sz="1400">
                <a:solidFill>
                  <a:schemeClr val="bg1"/>
                </a:solidFill>
              </a:rPr>
              <a:t>int A = 13;</a:t>
            </a:r>
          </a:p>
          <a:p>
            <a:r>
              <a:rPr lang="en-US" sz="1400">
                <a:solidFill>
                  <a:schemeClr val="bg1"/>
                </a:solidFill>
              </a:rPr>
              <a:t>int B = 12;</a:t>
            </a:r>
          </a:p>
          <a:p>
            <a:r>
              <a:rPr lang="en-US" sz="1400">
                <a:solidFill>
                  <a:schemeClr val="bg1"/>
                </a:solidFill>
              </a:rPr>
              <a:t>int C = 11;</a:t>
            </a:r>
          </a:p>
          <a:p>
            <a:r>
              <a:rPr lang="en-US" sz="1400">
                <a:solidFill>
                  <a:schemeClr val="bg1"/>
                </a:solidFill>
              </a:rPr>
              <a:t>int D = 10;</a:t>
            </a:r>
          </a:p>
          <a:p>
            <a:r>
              <a:rPr lang="en-US" sz="1400">
                <a:solidFill>
                  <a:schemeClr val="bg1"/>
                </a:solidFill>
              </a:rPr>
              <a:t>int E = 9;</a:t>
            </a:r>
          </a:p>
          <a:p>
            <a:r>
              <a:rPr lang="en-US" sz="1400">
                <a:solidFill>
                  <a:schemeClr val="bg1"/>
                </a:solidFill>
              </a:rPr>
              <a:t>int F = 8;</a:t>
            </a:r>
          </a:p>
          <a:p>
            <a:r>
              <a:rPr lang="en-US" sz="1400">
                <a:solidFill>
                  <a:schemeClr val="bg1"/>
                </a:solidFill>
              </a:rPr>
              <a:t>int G = 7;</a:t>
            </a:r>
          </a:p>
          <a:p>
            <a:r>
              <a:rPr lang="en-US" sz="1400">
                <a:solidFill>
                  <a:schemeClr val="bg1"/>
                </a:solidFill>
              </a:rPr>
              <a:t>int H = 6;</a:t>
            </a:r>
          </a:p>
          <a:p>
            <a:endParaRPr lang="en-US" sz="1400">
              <a:solidFill>
                <a:schemeClr val="bg1"/>
              </a:solidFill>
            </a:endParaRPr>
          </a:p>
          <a:p>
            <a:endParaRPr lang="en-US" sz="1400">
              <a:solidFill>
                <a:schemeClr val="bg1"/>
              </a:solidFill>
            </a:endParaRPr>
          </a:p>
          <a:p>
            <a:r>
              <a:rPr lang="en-US" sz="1400">
                <a:solidFill>
                  <a:schemeClr val="bg1"/>
                </a:solidFill>
              </a:rPr>
              <a:t>void setup(void)</a:t>
            </a:r>
          </a:p>
          <a:p>
            <a:r>
              <a:rPr lang="en-US" sz="1400">
                <a:solidFill>
                  <a:schemeClr val="bg1"/>
                </a:solidFill>
              </a:rPr>
              <a:t>{</a:t>
            </a:r>
          </a:p>
          <a:p>
            <a:r>
              <a:rPr lang="en-US" sz="1400">
                <a:solidFill>
                  <a:schemeClr val="bg1"/>
                </a:solidFill>
              </a:rPr>
              <a:t>  </a:t>
            </a:r>
            <a:r>
              <a:rPr lang="en-US" sz="1400" err="1">
                <a:solidFill>
                  <a:schemeClr val="bg1"/>
                </a:solidFill>
              </a:rPr>
              <a:t>pinMode</a:t>
            </a:r>
            <a:r>
              <a:rPr lang="en-US" sz="1400">
                <a:solidFill>
                  <a:schemeClr val="bg1"/>
                </a:solidFill>
              </a:rPr>
              <a:t>(A, OUTPUT);</a:t>
            </a:r>
          </a:p>
          <a:p>
            <a:r>
              <a:rPr lang="en-US" sz="1400">
                <a:solidFill>
                  <a:schemeClr val="bg1"/>
                </a:solidFill>
              </a:rPr>
              <a:t>  </a:t>
            </a:r>
            <a:r>
              <a:rPr lang="en-US" sz="1400" err="1">
                <a:solidFill>
                  <a:schemeClr val="bg1"/>
                </a:solidFill>
              </a:rPr>
              <a:t>pinMode</a:t>
            </a:r>
            <a:r>
              <a:rPr lang="en-US" sz="1400">
                <a:solidFill>
                  <a:schemeClr val="bg1"/>
                </a:solidFill>
              </a:rPr>
              <a:t>(B, OUTPUT);</a:t>
            </a:r>
          </a:p>
          <a:p>
            <a:r>
              <a:rPr lang="en-US" sz="1400">
                <a:solidFill>
                  <a:schemeClr val="bg1"/>
                </a:solidFill>
              </a:rPr>
              <a:t>  </a:t>
            </a:r>
            <a:r>
              <a:rPr lang="en-US" sz="1400" err="1">
                <a:solidFill>
                  <a:schemeClr val="bg1"/>
                </a:solidFill>
              </a:rPr>
              <a:t>pinMode</a:t>
            </a:r>
            <a:r>
              <a:rPr lang="en-US" sz="1400">
                <a:solidFill>
                  <a:schemeClr val="bg1"/>
                </a:solidFill>
              </a:rPr>
              <a:t>(C, OUTPUT);</a:t>
            </a:r>
          </a:p>
          <a:p>
            <a:r>
              <a:rPr lang="en-US" sz="1400">
                <a:solidFill>
                  <a:schemeClr val="bg1"/>
                </a:solidFill>
              </a:rPr>
              <a:t>  </a:t>
            </a:r>
            <a:r>
              <a:rPr lang="en-US" sz="1400" err="1">
                <a:solidFill>
                  <a:schemeClr val="bg1"/>
                </a:solidFill>
              </a:rPr>
              <a:t>pinMode</a:t>
            </a:r>
            <a:r>
              <a:rPr lang="en-US" sz="1400">
                <a:solidFill>
                  <a:schemeClr val="bg1"/>
                </a:solidFill>
              </a:rPr>
              <a:t>(D, OUTPUT);</a:t>
            </a:r>
          </a:p>
          <a:p>
            <a:r>
              <a:rPr lang="en-US" sz="1400">
                <a:solidFill>
                  <a:schemeClr val="bg1"/>
                </a:solidFill>
              </a:rPr>
              <a:t>  </a:t>
            </a:r>
            <a:r>
              <a:rPr lang="en-US" sz="1400" err="1">
                <a:solidFill>
                  <a:schemeClr val="bg1"/>
                </a:solidFill>
              </a:rPr>
              <a:t>pinMode</a:t>
            </a:r>
            <a:r>
              <a:rPr lang="en-US" sz="1400">
                <a:solidFill>
                  <a:schemeClr val="bg1"/>
                </a:solidFill>
              </a:rPr>
              <a:t>(E, OUTPUT);</a:t>
            </a:r>
          </a:p>
          <a:p>
            <a:r>
              <a:rPr lang="en-US" sz="1400">
                <a:solidFill>
                  <a:schemeClr val="bg1"/>
                </a:solidFill>
              </a:rPr>
              <a:t>  </a:t>
            </a:r>
            <a:r>
              <a:rPr lang="en-US" sz="1400" err="1">
                <a:solidFill>
                  <a:schemeClr val="bg1"/>
                </a:solidFill>
              </a:rPr>
              <a:t>pinMode</a:t>
            </a:r>
            <a:r>
              <a:rPr lang="en-US" sz="1400">
                <a:solidFill>
                  <a:schemeClr val="bg1"/>
                </a:solidFill>
              </a:rPr>
              <a:t>(F, OUTPUT);</a:t>
            </a:r>
          </a:p>
          <a:p>
            <a:r>
              <a:rPr lang="en-US" sz="1400">
                <a:solidFill>
                  <a:schemeClr val="bg1"/>
                </a:solidFill>
              </a:rPr>
              <a:t>  </a:t>
            </a:r>
            <a:r>
              <a:rPr lang="en-US" sz="1400" err="1">
                <a:solidFill>
                  <a:schemeClr val="bg1"/>
                </a:solidFill>
              </a:rPr>
              <a:t>pinMode</a:t>
            </a:r>
            <a:r>
              <a:rPr lang="en-US" sz="1400">
                <a:solidFill>
                  <a:schemeClr val="bg1"/>
                </a:solidFill>
              </a:rPr>
              <a:t>(G, OUTPUT);</a:t>
            </a:r>
          </a:p>
          <a:p>
            <a:r>
              <a:rPr lang="en-US" sz="1400">
                <a:solidFill>
                  <a:schemeClr val="bg1"/>
                </a:solidFill>
              </a:rPr>
              <a:t>  </a:t>
            </a:r>
            <a:r>
              <a:rPr lang="en-US" sz="1400" err="1">
                <a:solidFill>
                  <a:schemeClr val="bg1"/>
                </a:solidFill>
              </a:rPr>
              <a:t>pinMode</a:t>
            </a:r>
            <a:r>
              <a:rPr lang="en-US" sz="1400">
                <a:solidFill>
                  <a:schemeClr val="bg1"/>
                </a:solidFill>
              </a:rPr>
              <a:t>(H, OUTPUT);</a:t>
            </a:r>
          </a:p>
          <a:p>
            <a:r>
              <a:rPr lang="en-US" sz="1400">
                <a:solidFill>
                  <a:schemeClr val="bg1"/>
                </a:solidFill>
              </a:rPr>
              <a:t>}</a:t>
            </a:r>
          </a:p>
          <a:p>
            <a:endParaRPr lang="en-US" sz="1400">
              <a:solidFill>
                <a:schemeClr val="bg1"/>
              </a:solidFill>
            </a:endParaRPr>
          </a:p>
          <a:p>
            <a:r>
              <a:rPr lang="en-US" sz="1400">
                <a:solidFill>
                  <a:schemeClr val="bg1"/>
                </a:solidFill>
              </a:rPr>
              <a:t>void zero(void)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one(void)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LOW);</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two(void)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LOW);</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three(void)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four(void)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LOW);</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five(void)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LOW);</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six(void)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LOW);</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seven(void) {</a:t>
            </a:r>
          </a:p>
          <a:p>
            <a:r>
              <a:rPr lang="en-US" sz="1400">
                <a:solidFill>
                  <a:schemeClr val="bg1"/>
                </a:solidFill>
              </a:rPr>
              <a:t>  </a:t>
            </a:r>
            <a:r>
              <a:rPr lang="en-US" sz="1400" err="1">
                <a:solidFill>
                  <a:schemeClr val="bg1"/>
                </a:solidFill>
              </a:rPr>
              <a:t>digitalWrite</a:t>
            </a:r>
            <a:r>
              <a:rPr lang="en-US" sz="1400">
                <a:solidFill>
                  <a:schemeClr val="bg1"/>
                </a:solidFill>
              </a:rPr>
              <a:t>(A, LOW);</a:t>
            </a:r>
          </a:p>
          <a:p>
            <a:r>
              <a:rPr lang="en-US" sz="1400">
                <a:solidFill>
                  <a:schemeClr val="bg1"/>
                </a:solidFill>
              </a:rPr>
              <a:t>  </a:t>
            </a:r>
            <a:r>
              <a:rPr lang="en-US" sz="1400" err="1">
                <a:solidFill>
                  <a:schemeClr val="bg1"/>
                </a:solidFill>
              </a:rPr>
              <a:t>digitalWrite</a:t>
            </a:r>
            <a:r>
              <a:rPr lang="en-US" sz="1400">
                <a:solidFill>
                  <a:schemeClr val="bg1"/>
                </a:solidFill>
              </a:rPr>
              <a:t>(B, LOW);</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LOW);</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eight(void)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HIGH);</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r>
              <a:rPr lang="en-US" sz="1400">
                <a:solidFill>
                  <a:schemeClr val="bg1"/>
                </a:solidFill>
              </a:rPr>
              <a:t>void nine(void) {</a:t>
            </a:r>
          </a:p>
          <a:p>
            <a:r>
              <a:rPr lang="en-US" sz="1400">
                <a:solidFill>
                  <a:schemeClr val="bg1"/>
                </a:solidFill>
              </a:rPr>
              <a:t>  </a:t>
            </a:r>
            <a:r>
              <a:rPr lang="en-US" sz="1400" err="1">
                <a:solidFill>
                  <a:schemeClr val="bg1"/>
                </a:solidFill>
              </a:rPr>
              <a:t>digitalWrite</a:t>
            </a:r>
            <a:r>
              <a:rPr lang="en-US" sz="1400">
                <a:solidFill>
                  <a:schemeClr val="bg1"/>
                </a:solidFill>
              </a:rPr>
              <a:t>(A, HIGH);</a:t>
            </a:r>
          </a:p>
          <a:p>
            <a:r>
              <a:rPr lang="en-US" sz="1400">
                <a:solidFill>
                  <a:schemeClr val="bg1"/>
                </a:solidFill>
              </a:rPr>
              <a:t>  </a:t>
            </a:r>
            <a:r>
              <a:rPr lang="en-US" sz="1400" err="1">
                <a:solidFill>
                  <a:schemeClr val="bg1"/>
                </a:solidFill>
              </a:rPr>
              <a:t>digitalWrite</a:t>
            </a:r>
            <a:r>
              <a:rPr lang="en-US" sz="1400">
                <a:solidFill>
                  <a:schemeClr val="bg1"/>
                </a:solidFill>
              </a:rPr>
              <a:t>(B, HIGH);</a:t>
            </a:r>
          </a:p>
          <a:p>
            <a:r>
              <a:rPr lang="en-US" sz="1400">
                <a:solidFill>
                  <a:schemeClr val="bg1"/>
                </a:solidFill>
              </a:rPr>
              <a:t>  </a:t>
            </a:r>
            <a:r>
              <a:rPr lang="en-US" sz="1400" err="1">
                <a:solidFill>
                  <a:schemeClr val="bg1"/>
                </a:solidFill>
              </a:rPr>
              <a:t>digitalWrite</a:t>
            </a:r>
            <a:r>
              <a:rPr lang="en-US" sz="1400">
                <a:solidFill>
                  <a:schemeClr val="bg1"/>
                </a:solidFill>
              </a:rPr>
              <a:t>(C, HIGH);</a:t>
            </a:r>
          </a:p>
          <a:p>
            <a:r>
              <a:rPr lang="en-US" sz="1400">
                <a:solidFill>
                  <a:schemeClr val="bg1"/>
                </a:solidFill>
              </a:rPr>
              <a:t>  </a:t>
            </a:r>
            <a:r>
              <a:rPr lang="en-US" sz="1400" err="1">
                <a:solidFill>
                  <a:schemeClr val="bg1"/>
                </a:solidFill>
              </a:rPr>
              <a:t>digitalWrite</a:t>
            </a:r>
            <a:r>
              <a:rPr lang="en-US" sz="1400">
                <a:solidFill>
                  <a:schemeClr val="bg1"/>
                </a:solidFill>
              </a:rPr>
              <a:t>(D, HIGH);</a:t>
            </a:r>
          </a:p>
          <a:p>
            <a:r>
              <a:rPr lang="en-US" sz="1400">
                <a:solidFill>
                  <a:schemeClr val="bg1"/>
                </a:solidFill>
              </a:rPr>
              <a:t>  </a:t>
            </a:r>
            <a:r>
              <a:rPr lang="en-US" sz="1400" err="1">
                <a:solidFill>
                  <a:schemeClr val="bg1"/>
                </a:solidFill>
              </a:rPr>
              <a:t>digitalWrite</a:t>
            </a:r>
            <a:r>
              <a:rPr lang="en-US" sz="1400">
                <a:solidFill>
                  <a:schemeClr val="bg1"/>
                </a:solidFill>
              </a:rPr>
              <a:t>(E, LOW);</a:t>
            </a:r>
          </a:p>
          <a:p>
            <a:r>
              <a:rPr lang="en-US" sz="1400">
                <a:solidFill>
                  <a:schemeClr val="bg1"/>
                </a:solidFill>
              </a:rPr>
              <a:t>  </a:t>
            </a:r>
            <a:r>
              <a:rPr lang="en-US" sz="1400" err="1">
                <a:solidFill>
                  <a:schemeClr val="bg1"/>
                </a:solidFill>
              </a:rPr>
              <a:t>digitalWrite</a:t>
            </a:r>
            <a:r>
              <a:rPr lang="en-US" sz="1400">
                <a:solidFill>
                  <a:schemeClr val="bg1"/>
                </a:solidFill>
              </a:rPr>
              <a:t>(F, HIGH);</a:t>
            </a:r>
          </a:p>
          <a:p>
            <a:r>
              <a:rPr lang="en-US" sz="1400">
                <a:solidFill>
                  <a:schemeClr val="bg1"/>
                </a:solidFill>
              </a:rPr>
              <a:t>  </a:t>
            </a:r>
            <a:r>
              <a:rPr lang="en-US" sz="1400" err="1">
                <a:solidFill>
                  <a:schemeClr val="bg1"/>
                </a:solidFill>
              </a:rPr>
              <a:t>digitalWrite</a:t>
            </a:r>
            <a:r>
              <a:rPr lang="en-US" sz="1400">
                <a:solidFill>
                  <a:schemeClr val="bg1"/>
                </a:solidFill>
              </a:rPr>
              <a:t>(G, HIGH);</a:t>
            </a:r>
          </a:p>
          <a:p>
            <a:r>
              <a:rPr lang="en-US" sz="1400">
                <a:solidFill>
                  <a:schemeClr val="bg1"/>
                </a:solidFill>
              </a:rPr>
              <a:t>  </a:t>
            </a:r>
            <a:r>
              <a:rPr lang="en-US" sz="1400" err="1">
                <a:solidFill>
                  <a:schemeClr val="bg1"/>
                </a:solidFill>
              </a:rPr>
              <a:t>digitalWrite</a:t>
            </a:r>
            <a:r>
              <a:rPr lang="en-US" sz="1400">
                <a:solidFill>
                  <a:schemeClr val="bg1"/>
                </a:solidFill>
              </a:rPr>
              <a:t>(H, LOW);</a:t>
            </a:r>
          </a:p>
          <a:p>
            <a:r>
              <a:rPr lang="en-US" sz="1400">
                <a:solidFill>
                  <a:schemeClr val="bg1"/>
                </a:solidFill>
              </a:rPr>
              <a:t>}</a:t>
            </a:r>
          </a:p>
          <a:p>
            <a:endParaRPr lang="en-US" sz="1400">
              <a:solidFill>
                <a:schemeClr val="bg1"/>
              </a:solidFill>
            </a:endParaRPr>
          </a:p>
          <a:p>
            <a:endParaRPr lang="en-US" sz="1400">
              <a:solidFill>
                <a:schemeClr val="bg1"/>
              </a:solidFill>
            </a:endParaRPr>
          </a:p>
          <a:p>
            <a:r>
              <a:rPr lang="en-US" sz="1400">
                <a:solidFill>
                  <a:schemeClr val="bg1"/>
                </a:solidFill>
              </a:rPr>
              <a:t>void loop(void)</a:t>
            </a:r>
          </a:p>
          <a:p>
            <a:r>
              <a:rPr lang="en-US" sz="1400">
                <a:solidFill>
                  <a:schemeClr val="bg1"/>
                </a:solidFill>
              </a:rPr>
              <a:t>{</a:t>
            </a:r>
          </a:p>
          <a:p>
            <a:r>
              <a:rPr lang="en-US" sz="1400">
                <a:solidFill>
                  <a:schemeClr val="bg1"/>
                </a:solidFill>
              </a:rPr>
              <a:t>  zero();</a:t>
            </a:r>
          </a:p>
          <a:p>
            <a:r>
              <a:rPr lang="en-US" sz="1400">
                <a:solidFill>
                  <a:schemeClr val="bg1"/>
                </a:solidFill>
              </a:rPr>
              <a:t>  </a:t>
            </a:r>
          </a:p>
          <a:p>
            <a:r>
              <a:rPr lang="en-US" sz="1400">
                <a:solidFill>
                  <a:schemeClr val="bg1"/>
                </a:solidFill>
              </a:rPr>
              <a:t>}</a:t>
            </a:r>
          </a:p>
        </p:txBody>
      </p:sp>
    </p:spTree>
    <p:extLst>
      <p:ext uri="{BB962C8B-B14F-4D97-AF65-F5344CB8AC3E}">
        <p14:creationId xmlns:p14="http://schemas.microsoft.com/office/powerpoint/2010/main" val="24862878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6784538"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216093"/>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3" name="Picture 2">
            <a:extLst>
              <a:ext uri="{FF2B5EF4-FFF2-40B4-BE49-F238E27FC236}">
                <a16:creationId xmlns:a16="http://schemas.microsoft.com/office/drawing/2014/main" id="{C1B202CC-A411-8F35-455F-9F3DBBBC0329}"/>
              </a:ext>
            </a:extLst>
          </p:cNvPr>
          <p:cNvPicPr>
            <a:picLocks noChangeAspect="1"/>
          </p:cNvPicPr>
          <p:nvPr/>
        </p:nvPicPr>
        <p:blipFill rotWithShape="1">
          <a:blip r:embed="rId5"/>
          <a:srcRect l="23741"/>
          <a:stretch/>
        </p:blipFill>
        <p:spPr>
          <a:xfrm>
            <a:off x="3818233" y="1282892"/>
            <a:ext cx="7950606" cy="5078960"/>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A0485734-6DA3-3FC0-8AFC-14EA280FE3AF}"/>
              </a:ext>
            </a:extLst>
          </p:cNvPr>
          <p:cNvPicPr>
            <a:picLocks noChangeAspect="1"/>
          </p:cNvPicPr>
          <p:nvPr/>
        </p:nvPicPr>
        <p:blipFill rotWithShape="1">
          <a:blip r:embed="rId6">
            <a:extLst>
              <a:ext uri="{28A0092B-C50C-407E-A947-70E740481C1C}">
                <a14:useLocalDpi xmlns:a14="http://schemas.microsoft.com/office/drawing/2010/main" val="0"/>
              </a:ext>
            </a:extLst>
          </a:blip>
          <a:srcRect t="16249" b="8751"/>
          <a:stretch/>
        </p:blipFill>
        <p:spPr>
          <a:xfrm>
            <a:off x="-13570406" y="0"/>
            <a:ext cx="12191999" cy="6858000"/>
          </a:xfrm>
          <a:prstGeom prst="rect">
            <a:avLst/>
          </a:prstGeom>
        </p:spPr>
      </p:pic>
      <p:sp>
        <p:nvSpPr>
          <p:cNvPr id="6" name="Title 1">
            <a:extLst>
              <a:ext uri="{FF2B5EF4-FFF2-40B4-BE49-F238E27FC236}">
                <a16:creationId xmlns:a16="http://schemas.microsoft.com/office/drawing/2014/main" id="{E7A760E3-B712-DFB9-5EB9-95E6BD578FB1}"/>
              </a:ext>
            </a:extLst>
          </p:cNvPr>
          <p:cNvSpPr txBox="1">
            <a:spLocks/>
          </p:cNvSpPr>
          <p:nvPr/>
        </p:nvSpPr>
        <p:spPr>
          <a:xfrm>
            <a:off x="-15029102" y="3092643"/>
            <a:ext cx="7277102"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sp>
        <p:nvSpPr>
          <p:cNvPr id="9" name="Rectangle: Rounded Corners 8">
            <a:extLst>
              <a:ext uri="{FF2B5EF4-FFF2-40B4-BE49-F238E27FC236}">
                <a16:creationId xmlns:a16="http://schemas.microsoft.com/office/drawing/2014/main" id="{35EB2007-4172-D6C5-8217-03A0AD5CBBAF}"/>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81EC8E-2B0B-5226-8DD1-4AB8A778364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1" name="Rectangle 10">
            <a:extLst>
              <a:ext uri="{FF2B5EF4-FFF2-40B4-BE49-F238E27FC236}">
                <a16:creationId xmlns:a16="http://schemas.microsoft.com/office/drawing/2014/main" id="{FDC9AA20-9FAF-178E-A25F-28DE2021879B}"/>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38511836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6248400"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7934324" y="3176587"/>
            <a:ext cx="9020175" cy="504825"/>
          </a:xfrm>
          <a:prstGeom prst="rect">
            <a:avLst/>
          </a:prstGeom>
        </p:spPr>
      </p:pic>
      <p:pic>
        <p:nvPicPr>
          <p:cNvPr id="2" name="Picture 1" descr="A picture containing text, indoor, wall, lamp&#10;&#10;Description automatically generated">
            <a:extLst>
              <a:ext uri="{FF2B5EF4-FFF2-40B4-BE49-F238E27FC236}">
                <a16:creationId xmlns:a16="http://schemas.microsoft.com/office/drawing/2014/main" id="{A198B5C1-CEEF-2382-D14F-A2BE0595D473}"/>
              </a:ext>
            </a:extLst>
          </p:cNvPr>
          <p:cNvPicPr>
            <a:picLocks noChangeAspect="1"/>
          </p:cNvPicPr>
          <p:nvPr/>
        </p:nvPicPr>
        <p:blipFill rotWithShape="1">
          <a:blip r:embed="rId4">
            <a:extLst>
              <a:ext uri="{28A0092B-C50C-407E-A947-70E740481C1C}">
                <a14:useLocalDpi xmlns:a14="http://schemas.microsoft.com/office/drawing/2010/main" val="0"/>
              </a:ext>
            </a:extLst>
          </a:blip>
          <a:srcRect t="7871" r="17879" b="7871"/>
          <a:stretch/>
        </p:blipFill>
        <p:spPr>
          <a:xfrm>
            <a:off x="12344401" y="-1"/>
            <a:ext cx="10012144" cy="6858001"/>
          </a:xfrm>
          <a:prstGeom prst="rect">
            <a:avLst/>
          </a:prstGeom>
        </p:spPr>
      </p:pic>
      <p:sp>
        <p:nvSpPr>
          <p:cNvPr id="7" name="Title 1">
            <a:extLst>
              <a:ext uri="{FF2B5EF4-FFF2-40B4-BE49-F238E27FC236}">
                <a16:creationId xmlns:a16="http://schemas.microsoft.com/office/drawing/2014/main" id="{6770AB2C-66EF-FE9C-B8F0-A0549D570601}"/>
              </a:ext>
            </a:extLst>
          </p:cNvPr>
          <p:cNvSpPr txBox="1">
            <a:spLocks/>
          </p:cNvSpPr>
          <p:nvPr/>
        </p:nvSpPr>
        <p:spPr>
          <a:xfrm>
            <a:off x="4229099" y="-1081089"/>
            <a:ext cx="7277102" cy="698307"/>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7SEGMENTS</a:t>
            </a:r>
          </a:p>
        </p:txBody>
      </p:sp>
      <p:pic>
        <p:nvPicPr>
          <p:cNvPr id="3" name="Picture 2">
            <a:extLst>
              <a:ext uri="{FF2B5EF4-FFF2-40B4-BE49-F238E27FC236}">
                <a16:creationId xmlns:a16="http://schemas.microsoft.com/office/drawing/2014/main" id="{C1B202CC-A411-8F35-455F-9F3DBBBC0329}"/>
              </a:ext>
            </a:extLst>
          </p:cNvPr>
          <p:cNvPicPr>
            <a:picLocks noChangeAspect="1"/>
          </p:cNvPicPr>
          <p:nvPr/>
        </p:nvPicPr>
        <p:blipFill rotWithShape="1">
          <a:blip r:embed="rId5"/>
          <a:srcRect l="23741"/>
          <a:stretch/>
        </p:blipFill>
        <p:spPr>
          <a:xfrm>
            <a:off x="17972383" y="1282892"/>
            <a:ext cx="7950606" cy="5078960"/>
          </a:xfrm>
          <a:prstGeom prst="rect">
            <a:avLst/>
          </a:prstGeom>
        </p:spPr>
      </p:pic>
      <p:pic>
        <p:nvPicPr>
          <p:cNvPr id="9" name="Picture 8" descr="A picture containing text, indoor, projector&#10;&#10;Description automatically generated">
            <a:extLst>
              <a:ext uri="{FF2B5EF4-FFF2-40B4-BE49-F238E27FC236}">
                <a16:creationId xmlns:a16="http://schemas.microsoft.com/office/drawing/2014/main" id="{256B2043-36D0-7291-CBA0-9A1A349C7850}"/>
              </a:ext>
            </a:extLst>
          </p:cNvPr>
          <p:cNvPicPr>
            <a:picLocks noChangeAspect="1"/>
          </p:cNvPicPr>
          <p:nvPr/>
        </p:nvPicPr>
        <p:blipFill rotWithShape="1">
          <a:blip r:embed="rId6">
            <a:extLst>
              <a:ext uri="{28A0092B-C50C-407E-A947-70E740481C1C}">
                <a14:useLocalDpi xmlns:a14="http://schemas.microsoft.com/office/drawing/2010/main" val="0"/>
              </a:ext>
            </a:extLst>
          </a:blip>
          <a:srcRect t="16249" b="8751"/>
          <a:stretch/>
        </p:blipFill>
        <p:spPr>
          <a:xfrm>
            <a:off x="0" y="0"/>
            <a:ext cx="12191999" cy="6858000"/>
          </a:xfrm>
          <a:prstGeom prst="rect">
            <a:avLst/>
          </a:prstGeom>
        </p:spPr>
      </p:pic>
      <p:sp>
        <p:nvSpPr>
          <p:cNvPr id="10" name="Title 1">
            <a:extLst>
              <a:ext uri="{FF2B5EF4-FFF2-40B4-BE49-F238E27FC236}">
                <a16:creationId xmlns:a16="http://schemas.microsoft.com/office/drawing/2014/main" id="{42566BE4-6027-F846-6486-7DA8BDB067E0}"/>
              </a:ext>
            </a:extLst>
          </p:cNvPr>
          <p:cNvSpPr txBox="1">
            <a:spLocks/>
          </p:cNvSpPr>
          <p:nvPr/>
        </p:nvSpPr>
        <p:spPr>
          <a:xfrm>
            <a:off x="2609849" y="3092643"/>
            <a:ext cx="7277102" cy="977513"/>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2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11" name="Picture 10">
            <a:extLst>
              <a:ext uri="{FF2B5EF4-FFF2-40B4-BE49-F238E27FC236}">
                <a16:creationId xmlns:a16="http://schemas.microsoft.com/office/drawing/2014/main" id="{947F7BB8-BCD5-26F2-9AFB-8ED009F203A2}"/>
              </a:ext>
            </a:extLst>
          </p:cNvPr>
          <p:cNvPicPr>
            <a:picLocks noChangeAspect="1"/>
          </p:cNvPicPr>
          <p:nvPr/>
        </p:nvPicPr>
        <p:blipFill>
          <a:blip r:embed="rId7"/>
          <a:stretch>
            <a:fillRect/>
          </a:stretch>
        </p:blipFill>
        <p:spPr>
          <a:xfrm>
            <a:off x="16220738" y="1181100"/>
            <a:ext cx="3829717" cy="5418436"/>
          </a:xfrm>
          <a:prstGeom prst="rect">
            <a:avLst/>
          </a:prstGeom>
        </p:spPr>
      </p:pic>
      <p:pic>
        <p:nvPicPr>
          <p:cNvPr id="12" name="Picture 2" descr="16x2 LCD Pin Diagram">
            <a:extLst>
              <a:ext uri="{FF2B5EF4-FFF2-40B4-BE49-F238E27FC236}">
                <a16:creationId xmlns:a16="http://schemas.microsoft.com/office/drawing/2014/main" id="{2B56741A-639F-1CE0-3DD0-782820CEF1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0" y="1181100"/>
            <a:ext cx="4485747" cy="32956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48A51E39-D0C7-B4D8-02FE-03A95F5C834D}"/>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1A830E-B7D2-B333-3C9E-3A0A11920B9F}"/>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13" name="Rectangle 12">
            <a:extLst>
              <a:ext uri="{FF2B5EF4-FFF2-40B4-BE49-F238E27FC236}">
                <a16:creationId xmlns:a16="http://schemas.microsoft.com/office/drawing/2014/main" id="{23C6B5C8-5BF7-101E-389F-53D129B94FB3}"/>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3006608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4">
            <a:extLst>
              <a:ext uri="{28A0092B-C50C-407E-A947-70E740481C1C}">
                <a14:useLocalDpi xmlns:a14="http://schemas.microsoft.com/office/drawing/2010/main" val="0"/>
              </a:ext>
            </a:extLst>
          </a:blip>
          <a:srcRect t="16249" b="8751"/>
          <a:stretch/>
        </p:blipFill>
        <p:spPr>
          <a:xfrm>
            <a:off x="-8954936" y="0"/>
            <a:ext cx="12191999" cy="6858000"/>
          </a:xfrm>
          <a:prstGeom prst="rect">
            <a:avLst/>
          </a:prstGeom>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3981449" y="381000"/>
            <a:ext cx="7277102"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11" name="Picture 10">
            <a:extLst>
              <a:ext uri="{FF2B5EF4-FFF2-40B4-BE49-F238E27FC236}">
                <a16:creationId xmlns:a16="http://schemas.microsoft.com/office/drawing/2014/main" id="{44E98616-EFE0-5DC3-62D3-4301C919E59C}"/>
              </a:ext>
            </a:extLst>
          </p:cNvPr>
          <p:cNvPicPr>
            <a:picLocks noChangeAspect="1"/>
          </p:cNvPicPr>
          <p:nvPr/>
        </p:nvPicPr>
        <p:blipFill>
          <a:blip r:embed="rId5"/>
          <a:stretch>
            <a:fillRect/>
          </a:stretch>
        </p:blipFill>
        <p:spPr>
          <a:xfrm>
            <a:off x="3527953" y="1181100"/>
            <a:ext cx="3829717" cy="5418436"/>
          </a:xfrm>
          <a:prstGeom prst="rect">
            <a:avLst/>
          </a:prstGeom>
        </p:spPr>
      </p:pic>
      <p:pic>
        <p:nvPicPr>
          <p:cNvPr id="12" name="Picture 2" descr="16x2 LCD Pin Diagram">
            <a:extLst>
              <a:ext uri="{FF2B5EF4-FFF2-40B4-BE49-F238E27FC236}">
                <a16:creationId xmlns:a16="http://schemas.microsoft.com/office/drawing/2014/main" id="{C73E68E4-13FA-59B9-B1AD-69136921AC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4888" y="1181100"/>
            <a:ext cx="4485747" cy="32956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8B538A7-570D-5D1E-922F-C45C57A5926F}"/>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9" name="Rectangle 8">
            <a:extLst>
              <a:ext uri="{FF2B5EF4-FFF2-40B4-BE49-F238E27FC236}">
                <a16:creationId xmlns:a16="http://schemas.microsoft.com/office/drawing/2014/main" id="{A31681CE-4794-F2B1-BA2C-388EC9944CE1}"/>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
        <p:nvSpPr>
          <p:cNvPr id="13" name="Rectangle: Rounded Corners 12">
            <a:extLst>
              <a:ext uri="{FF2B5EF4-FFF2-40B4-BE49-F238E27FC236}">
                <a16:creationId xmlns:a16="http://schemas.microsoft.com/office/drawing/2014/main" id="{E2BAFDAE-B7B5-B89C-EE80-4E7B2D5243CE}"/>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CFAB685-C64C-A0A3-E471-4354802AD8EF}"/>
              </a:ext>
            </a:extLst>
          </p:cNvPr>
          <p:cNvSpPr/>
          <p:nvPr/>
        </p:nvSpPr>
        <p:spPr>
          <a:xfrm>
            <a:off x="845345" y="6208503"/>
            <a:ext cx="1107034" cy="276999"/>
          </a:xfrm>
          <a:prstGeom prst="rect">
            <a:avLst/>
          </a:prstGeom>
          <a:noFill/>
        </p:spPr>
        <p:txBody>
          <a:bodyPr wrap="none" lIns="91440" tIns="45720" rIns="91440" bIns="45720">
            <a:spAutoFit/>
          </a:bodyPr>
          <a:lstStyle/>
          <a:p>
            <a:pPr algn="ctr"/>
            <a:r>
              <a:rPr lang="en-US" sz="1200" err="1">
                <a:ln w="0"/>
                <a:effectLst>
                  <a:outerShdw blurRad="38100" dist="19050" dir="2700000" algn="tl" rotWithShape="0">
                    <a:schemeClr val="dk1">
                      <a:alpha val="40000"/>
                    </a:schemeClr>
                  </a:outerShdw>
                </a:effectLst>
              </a:rPr>
              <a:t>myusuffadhlan</a:t>
            </a:r>
            <a:endParaRPr lang="en-US" sz="1200" b="0" cap="none" spc="0">
              <a:ln w="0"/>
              <a:solidFill>
                <a:schemeClr val="tx1"/>
              </a:solidFill>
              <a:effectLst>
                <a:outerShdw blurRad="38100" dist="19050" dir="2700000" algn="tl" rotWithShape="0">
                  <a:schemeClr val="dk1">
                    <a:alpha val="40000"/>
                  </a:schemeClr>
                </a:outerShdw>
              </a:effectLst>
            </a:endParaRPr>
          </a:p>
        </p:txBody>
      </p:sp>
      <p:pic>
        <p:nvPicPr>
          <p:cNvPr id="15" name="Picture 2">
            <a:extLst>
              <a:ext uri="{FF2B5EF4-FFF2-40B4-BE49-F238E27FC236}">
                <a16:creationId xmlns:a16="http://schemas.microsoft.com/office/drawing/2014/main" id="{1AAA7649-15BC-4BC6-D216-7AC42E4EA04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8236" y="6278693"/>
            <a:ext cx="164458" cy="16445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an I see how many people viewed my Instagram profile in the last week? -  Quora">
            <a:extLst>
              <a:ext uri="{FF2B5EF4-FFF2-40B4-BE49-F238E27FC236}">
                <a16:creationId xmlns:a16="http://schemas.microsoft.com/office/drawing/2014/main" id="{983560C9-00FC-8AF4-F44B-00BE5D22DE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8847" y="5552830"/>
            <a:ext cx="2169809" cy="162532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E19D272-175F-FFAF-788E-DC9CFEA92D5A}"/>
              </a:ext>
            </a:extLst>
          </p:cNvPr>
          <p:cNvSpPr txBox="1"/>
          <p:nvPr/>
        </p:nvSpPr>
        <p:spPr>
          <a:xfrm>
            <a:off x="7357670" y="6251783"/>
            <a:ext cx="5064325" cy="338554"/>
          </a:xfrm>
          <a:prstGeom prst="rect">
            <a:avLst/>
          </a:prstGeom>
          <a:noFill/>
        </p:spPr>
        <p:txBody>
          <a:bodyPr wrap="square">
            <a:spAutoFit/>
          </a:bodyPr>
          <a:lstStyle/>
          <a:p>
            <a:r>
              <a:rPr lang="en-US" sz="1600">
                <a:solidFill>
                  <a:schemeClr val="bg1"/>
                </a:solidFill>
                <a:hlinkClick r:id="rId9">
                  <a:extLst>
                    <a:ext uri="{A12FA001-AC4F-418D-AE19-62706E023703}">
                      <ahyp:hlinkClr xmlns:ahyp="http://schemas.microsoft.com/office/drawing/2018/hyperlinkcolor" val="tx"/>
                    </a:ext>
                  </a:extLst>
                </a:hlinkClick>
              </a:rPr>
              <a:t>PIN diagram and registers of 16x2 LCD (includehelp.com)</a:t>
            </a:r>
            <a:endParaRPr lang="en-US" sz="1600">
              <a:solidFill>
                <a:schemeClr val="bg1"/>
              </a:solidFill>
            </a:endParaRPr>
          </a:p>
        </p:txBody>
      </p:sp>
    </p:spTree>
    <p:extLst>
      <p:ext uri="{BB962C8B-B14F-4D97-AF65-F5344CB8AC3E}">
        <p14:creationId xmlns:p14="http://schemas.microsoft.com/office/powerpoint/2010/main" val="15692239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 presetClass="entr" presetSubtype="0" fill="hold" grpId="0" nodeType="afterEffect">
                                  <p:stCondLst>
                                    <p:cond delay="0"/>
                                  </p:stCondLst>
                                  <p:iterate type="lt">
                                    <p:tmAbs val="100"/>
                                  </p:iterate>
                                  <p:childTnLst>
                                    <p:set>
                                      <p:cBhvr>
                                        <p:cTn id="10" dur="1" fill="hold">
                                          <p:stCondLst>
                                            <p:cond delay="0"/>
                                          </p:stCondLst>
                                        </p:cTn>
                                        <p:tgtEl>
                                          <p:spTgt spid="14"/>
                                        </p:tgtEl>
                                        <p:attrNameLst>
                                          <p:attrName>style.visibility</p:attrName>
                                        </p:attrNameLst>
                                      </p:cBhvr>
                                      <p:to>
                                        <p:strVal val="visible"/>
                                      </p:to>
                                    </p:set>
                                  </p:childTnLst>
                                </p:cTn>
                              </p:par>
                              <p:par>
                                <p:cTn id="11" presetID="37" presetClass="exit" presetSubtype="0" fill="hold" nodeType="withEffect">
                                  <p:stCondLst>
                                    <p:cond delay="5000"/>
                                  </p:stCondLst>
                                  <p:childTnLst>
                                    <p:animEffect transition="out" filter="fade">
                                      <p:cBhvr>
                                        <p:cTn id="12" dur="1000"/>
                                        <p:tgtEl>
                                          <p:spTgt spid="16"/>
                                        </p:tgtEl>
                                      </p:cBhvr>
                                    </p:animEffect>
                                    <p:anim calcmode="lin" valueType="num">
                                      <p:cBhvr>
                                        <p:cTn id="13" dur="1000"/>
                                        <p:tgtEl>
                                          <p:spTgt spid="16"/>
                                        </p:tgtEl>
                                        <p:attrNameLst>
                                          <p:attrName>ppt_x</p:attrName>
                                        </p:attrNameLst>
                                      </p:cBhvr>
                                      <p:tavLst>
                                        <p:tav tm="0">
                                          <p:val>
                                            <p:strVal val="ppt_x"/>
                                          </p:val>
                                        </p:tav>
                                        <p:tav tm="100000">
                                          <p:val>
                                            <p:strVal val="ppt_x"/>
                                          </p:val>
                                        </p:tav>
                                      </p:tavLst>
                                    </p:anim>
                                    <p:anim calcmode="lin" valueType="num">
                                      <p:cBhvr>
                                        <p:cTn id="14" dur="100" decel="100000"/>
                                        <p:tgtEl>
                                          <p:spTgt spid="16"/>
                                        </p:tgtEl>
                                        <p:attrNameLst>
                                          <p:attrName>ppt_y</p:attrName>
                                        </p:attrNameLst>
                                      </p:cBhvr>
                                      <p:tavLst>
                                        <p:tav tm="0">
                                          <p:val>
                                            <p:strVal val="ppt_y"/>
                                          </p:val>
                                        </p:tav>
                                        <p:tav tm="100000">
                                          <p:val>
                                            <p:strVal val="ppt_y-.03"/>
                                          </p:val>
                                        </p:tav>
                                      </p:tavLst>
                                    </p:anim>
                                    <p:anim calcmode="lin" valueType="num">
                                      <p:cBhvr>
                                        <p:cTn id="15" dur="900" accel="100000">
                                          <p:stCondLst>
                                            <p:cond delay="100"/>
                                          </p:stCondLst>
                                        </p:cTn>
                                        <p:tgtEl>
                                          <p:spTgt spid="16"/>
                                        </p:tgtEl>
                                        <p:attrNameLst>
                                          <p:attrName>ppt_y</p:attrName>
                                        </p:attrNameLst>
                                      </p:cBhvr>
                                      <p:tavLst>
                                        <p:tav tm="0">
                                          <p:val>
                                            <p:strVal val="ppt_y"/>
                                          </p:val>
                                        </p:tav>
                                        <p:tav tm="100000">
                                          <p:val>
                                            <p:strVal val="ppt_y+1"/>
                                          </p:val>
                                        </p:tav>
                                      </p:tavLst>
                                    </p:anim>
                                    <p:set>
                                      <p:cBhvr>
                                        <p:cTn id="16" dur="1" fill="hold">
                                          <p:stCondLst>
                                            <p:cond delay="999"/>
                                          </p:stCondLst>
                                        </p:cTn>
                                        <p:tgtEl>
                                          <p:spTgt spid="16"/>
                                        </p:tgtEl>
                                        <p:attrNameLst>
                                          <p:attrName>style.visibility</p:attrName>
                                        </p:attrNameLst>
                                      </p:cBhvr>
                                      <p:to>
                                        <p:strVal val="hidden"/>
                                      </p:to>
                                    </p:set>
                                  </p:childTnLst>
                                </p:cTn>
                              </p:par>
                              <p:par>
                                <p:cTn id="17" presetID="1" presetClass="exit" presetSubtype="0" fill="hold" grpId="1" nodeType="withEffect">
                                  <p:stCondLst>
                                    <p:cond delay="5000"/>
                                  </p:stCondLst>
                                  <p:iterate type="lt">
                                    <p:tmAbs val="100"/>
                                  </p:iterate>
                                  <p:childTnLst>
                                    <p:set>
                                      <p:cBhvr>
                                        <p:cTn id="18" dur="1" fill="hold">
                                          <p:stCondLst>
                                            <p:cond delay="0"/>
                                          </p:stCondLst>
                                        </p:cTn>
                                        <p:tgtEl>
                                          <p:spTgt spid="14"/>
                                        </p:tgtEl>
                                        <p:attrNameLst>
                                          <p:attrName>style.visibility</p:attrName>
                                        </p:attrNameLst>
                                      </p:cBhvr>
                                      <p:to>
                                        <p:strVal val="hidden"/>
                                      </p:to>
                                    </p:set>
                                  </p:childTnLst>
                                </p:cTn>
                              </p:par>
                              <p:par>
                                <p:cTn id="19" presetID="45" presetClass="exit" presetSubtype="0" fill="hold" nodeType="withEffect">
                                  <p:stCondLst>
                                    <p:cond delay="5000"/>
                                  </p:stCondLst>
                                  <p:childTnLst>
                                    <p:animEffect transition="out" filter="fade">
                                      <p:cBhvr>
                                        <p:cTn id="20" dur="2000"/>
                                        <p:tgtEl>
                                          <p:spTgt spid="15"/>
                                        </p:tgtEl>
                                      </p:cBhvr>
                                    </p:animEffect>
                                    <p:anim calcmode="lin" valueType="num">
                                      <p:cBhvr>
                                        <p:cTn id="21" dur="2000"/>
                                        <p:tgtEl>
                                          <p:spTgt spid="15"/>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2000"/>
                                        <p:tgtEl>
                                          <p:spTgt spid="15"/>
                                        </p:tgtEl>
                                        <p:attrNameLst>
                                          <p:attrName>ppt_h</p:attrName>
                                        </p:attrNameLst>
                                      </p:cBhvr>
                                      <p:tavLst>
                                        <p:tav tm="0">
                                          <p:val>
                                            <p:strVal val="ppt_h"/>
                                          </p:val>
                                        </p:tav>
                                        <p:tav tm="100000">
                                          <p:val>
                                            <p:strVal val="ppt_h"/>
                                          </p:val>
                                        </p:tav>
                                      </p:tavLst>
                                    </p:anim>
                                    <p:set>
                                      <p:cBhvr>
                                        <p:cTn id="23" dur="1" fill="hold">
                                          <p:stCondLst>
                                            <p:cond delay="1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4">
            <a:extLst>
              <a:ext uri="{28A0092B-C50C-407E-A947-70E740481C1C}">
                <a14:useLocalDpi xmlns:a14="http://schemas.microsoft.com/office/drawing/2010/main" val="0"/>
              </a:ext>
            </a:extLst>
          </a:blip>
          <a:srcRect t="16249" b="8751"/>
          <a:stretch/>
        </p:blipFill>
        <p:spPr>
          <a:xfrm>
            <a:off x="-8954936" y="0"/>
            <a:ext cx="12191999" cy="6858000"/>
          </a:xfrm>
          <a:prstGeom prst="rect">
            <a:avLst/>
          </a:prstGeom>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3981449" y="381000"/>
            <a:ext cx="7277102"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3080" name="Picture 8" descr="PEMASANGAN LCD 16X2 ARDUINO - AzeDocumenter">
            <a:extLst>
              <a:ext uri="{FF2B5EF4-FFF2-40B4-BE49-F238E27FC236}">
                <a16:creationId xmlns:a16="http://schemas.microsoft.com/office/drawing/2014/main" id="{21AA9323-9465-93EC-A742-A516A89000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0388" y="1022156"/>
            <a:ext cx="6362700" cy="5410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9B343A17-E269-050A-BAD4-B69D61F0E901}"/>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9462D20-E75B-64C2-BFDB-D1771C5856DE}"/>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6" name="Rectangle 5">
            <a:extLst>
              <a:ext uri="{FF2B5EF4-FFF2-40B4-BE49-F238E27FC236}">
                <a16:creationId xmlns:a16="http://schemas.microsoft.com/office/drawing/2014/main" id="{08AAE6CB-832F-5F81-B8AE-E2CF9285AEB6}"/>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7515364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4">
            <a:extLst>
              <a:ext uri="{28A0092B-C50C-407E-A947-70E740481C1C}">
                <a14:useLocalDpi xmlns:a14="http://schemas.microsoft.com/office/drawing/2010/main" val="0"/>
              </a:ext>
            </a:extLst>
          </a:blip>
          <a:srcRect t="16249" b="8751"/>
          <a:stretch/>
        </p:blipFill>
        <p:spPr>
          <a:xfrm>
            <a:off x="-8954936" y="0"/>
            <a:ext cx="12191999" cy="6858000"/>
          </a:xfrm>
          <a:prstGeom prst="rect">
            <a:avLst/>
          </a:prstGeom>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3981449" y="381000"/>
            <a:ext cx="7277102"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2" name="Picture 2">
            <a:extLst>
              <a:ext uri="{FF2B5EF4-FFF2-40B4-BE49-F238E27FC236}">
                <a16:creationId xmlns:a16="http://schemas.microsoft.com/office/drawing/2014/main" id="{4AEC30D4-68A1-E164-4488-312BFFFC6B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2356" y="1403156"/>
            <a:ext cx="8268487" cy="5073844"/>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F6A45E04-B994-525D-F838-C94E16C72336}"/>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C863857-515F-B25A-0B51-9A74EE125C2A}"/>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7" name="Rectangle 6">
            <a:extLst>
              <a:ext uri="{FF2B5EF4-FFF2-40B4-BE49-F238E27FC236}">
                <a16:creationId xmlns:a16="http://schemas.microsoft.com/office/drawing/2014/main" id="{5995EC61-BC15-0ACB-ED9F-8551C56FD9A5}"/>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spTree>
    <p:extLst>
      <p:ext uri="{BB962C8B-B14F-4D97-AF65-F5344CB8AC3E}">
        <p14:creationId xmlns:p14="http://schemas.microsoft.com/office/powerpoint/2010/main" val="22119165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2">
            <a:alphaModFix amt="30000"/>
            <a:extLst>
              <a:ext uri="{28A0092B-C50C-407E-A947-70E740481C1C}">
                <a14:useLocalDpi xmlns:a14="http://schemas.microsoft.com/office/drawing/2010/main" val="0"/>
              </a:ext>
            </a:extLst>
          </a:blip>
          <a:srcRect t="10242" b="10242"/>
          <a:stretch/>
        </p:blipFill>
        <p:spPr>
          <a:xfrm>
            <a:off x="3227609" y="0"/>
            <a:ext cx="12192002" cy="6858000"/>
          </a:xfrm>
          <a:prstGeom prst="rect">
            <a:avLst/>
          </a:prstGeom>
          <a:effectLst>
            <a:outerShdw blurRad="50800" dist="50800" dir="5400000" algn="ctr" rotWithShape="0">
              <a:srgbClr val="000000">
                <a:alpha val="75000"/>
              </a:srgbClr>
            </a:outerShdw>
          </a:effectLst>
        </p:spPr>
      </p:pic>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30064"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4">
            <a:extLst>
              <a:ext uri="{28A0092B-C50C-407E-A947-70E740481C1C}">
                <a14:useLocalDpi xmlns:a14="http://schemas.microsoft.com/office/drawing/2010/main" val="0"/>
              </a:ext>
            </a:extLst>
          </a:blip>
          <a:srcRect t="16249" b="8751"/>
          <a:stretch/>
        </p:blipFill>
        <p:spPr>
          <a:xfrm>
            <a:off x="-8954936" y="0"/>
            <a:ext cx="12191999" cy="6858000"/>
          </a:xfrm>
          <a:prstGeom prst="rect">
            <a:avLst/>
          </a:prstGeom>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3981449" y="381000"/>
            <a:ext cx="7277102"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3" name="Picture 2">
            <a:extLst>
              <a:ext uri="{FF2B5EF4-FFF2-40B4-BE49-F238E27FC236}">
                <a16:creationId xmlns:a16="http://schemas.microsoft.com/office/drawing/2014/main" id="{3DC37443-0992-F26A-92A6-089A136603E4}"/>
              </a:ext>
            </a:extLst>
          </p:cNvPr>
          <p:cNvPicPr>
            <a:picLocks noChangeAspect="1"/>
          </p:cNvPicPr>
          <p:nvPr/>
        </p:nvPicPr>
        <p:blipFill>
          <a:blip r:embed="rId5"/>
          <a:stretch>
            <a:fillRect/>
          </a:stretch>
        </p:blipFill>
        <p:spPr>
          <a:xfrm>
            <a:off x="5086350" y="1136456"/>
            <a:ext cx="5067300" cy="5067300"/>
          </a:xfrm>
          <a:prstGeom prst="rect">
            <a:avLst/>
          </a:prstGeom>
        </p:spPr>
      </p:pic>
      <p:sp>
        <p:nvSpPr>
          <p:cNvPr id="2" name="Rectangle: Rounded Corners 1">
            <a:extLst>
              <a:ext uri="{FF2B5EF4-FFF2-40B4-BE49-F238E27FC236}">
                <a16:creationId xmlns:a16="http://schemas.microsoft.com/office/drawing/2014/main" id="{89D43708-E78E-4F85-E510-4BA111E5F8AA}"/>
              </a:ext>
            </a:extLst>
          </p:cNvPr>
          <p:cNvSpPr/>
          <p:nvPr/>
        </p:nvSpPr>
        <p:spPr>
          <a:xfrm>
            <a:off x="553508" y="6216111"/>
            <a:ext cx="2255424" cy="277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FF29DC3-74AC-D8A4-6072-8C8AE2BECE57}"/>
              </a:ext>
            </a:extLst>
          </p:cNvPr>
          <p:cNvSpPr/>
          <p:nvPr/>
        </p:nvSpPr>
        <p:spPr>
          <a:xfrm>
            <a:off x="524300" y="6216111"/>
            <a:ext cx="2313840" cy="276999"/>
          </a:xfrm>
          <a:prstGeom prst="rect">
            <a:avLst/>
          </a:prstGeom>
          <a:noFill/>
        </p:spPr>
        <p:txBody>
          <a:bodyPr wrap="none" lIns="91440" tIns="45720" rIns="91440" bIns="45720">
            <a:spAutoFit/>
          </a:bodyPr>
          <a:lstStyle/>
          <a:p>
            <a:pPr algn="ctr"/>
            <a:r>
              <a:rPr lang="en-US" sz="1200" b="0" cap="none" spc="0">
                <a:ln w="0"/>
                <a:solidFill>
                  <a:schemeClr val="tx1"/>
                </a:solidFill>
                <a:effectLst>
                  <a:outerShdw blurRad="38100" dist="19050" dir="2700000" algn="tl" rotWithShape="0">
                    <a:schemeClr val="dk1">
                      <a:alpha val="40000"/>
                    </a:schemeClr>
                  </a:outerShdw>
                </a:effectLst>
              </a:rPr>
              <a:t>ERIL MOZEF, M. YUSUF FADHLAN</a:t>
            </a:r>
          </a:p>
        </p:txBody>
      </p:sp>
      <p:sp>
        <p:nvSpPr>
          <p:cNvPr id="7" name="Rectangle 6">
            <a:extLst>
              <a:ext uri="{FF2B5EF4-FFF2-40B4-BE49-F238E27FC236}">
                <a16:creationId xmlns:a16="http://schemas.microsoft.com/office/drawing/2014/main" id="{76E77FDF-91CE-00EC-6F75-AE09DC30D8EF}"/>
              </a:ext>
            </a:extLst>
          </p:cNvPr>
          <p:cNvSpPr/>
          <p:nvPr/>
        </p:nvSpPr>
        <p:spPr>
          <a:xfrm>
            <a:off x="670401" y="5939107"/>
            <a:ext cx="2021644" cy="276999"/>
          </a:xfrm>
          <a:prstGeom prst="rect">
            <a:avLst/>
          </a:prstGeom>
          <a:noFill/>
        </p:spPr>
        <p:txBody>
          <a:bodyPr wrap="none" lIns="91440" tIns="45720" rIns="91440" bIns="45720">
            <a:spAutoFit/>
          </a:bodyPr>
          <a:lstStyle/>
          <a:p>
            <a:pPr algn="ctr"/>
            <a:r>
              <a:rPr lang="en-US" sz="1200" b="1" cap="none" spc="0">
                <a:ln w="0"/>
                <a:solidFill>
                  <a:schemeClr val="bg1"/>
                </a:solidFill>
                <a:effectLst>
                  <a:outerShdw blurRad="38100" dist="19050" dir="2700000" algn="tl" rotWithShape="0">
                    <a:schemeClr val="dk1">
                      <a:alpha val="40000"/>
                    </a:schemeClr>
                  </a:outerShdw>
                </a:effectLst>
              </a:rPr>
              <a:t>APLIKASI MIKROKONTROLER</a:t>
            </a:r>
          </a:p>
        </p:txBody>
      </p:sp>
      <p:pic>
        <p:nvPicPr>
          <p:cNvPr id="9" name="Picture 2" descr="16x2 LCD Pin Diagram">
            <a:extLst>
              <a:ext uri="{FF2B5EF4-FFF2-40B4-BE49-F238E27FC236}">
                <a16:creationId xmlns:a16="http://schemas.microsoft.com/office/drawing/2014/main" id="{E0BAED58-F746-EF41-4340-3F0F476288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49964" y="4924425"/>
            <a:ext cx="1569608" cy="1153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8625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257675"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3">
            <a:extLst>
              <a:ext uri="{28A0092B-C50C-407E-A947-70E740481C1C}">
                <a14:useLocalDpi xmlns:a14="http://schemas.microsoft.com/office/drawing/2010/main" val="0"/>
              </a:ext>
            </a:extLst>
          </a:blip>
          <a:srcRect t="16249" b="8751"/>
          <a:stretch/>
        </p:blipFill>
        <p:spPr>
          <a:xfrm>
            <a:off x="-12182547" y="0"/>
            <a:ext cx="12191999" cy="6858000"/>
          </a:xfrm>
          <a:prstGeom prst="rect">
            <a:avLst/>
          </a:prstGeom>
        </p:spPr>
      </p:pic>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4">
            <a:alphaModFix amt="30000"/>
            <a:extLst>
              <a:ext uri="{28A0092B-C50C-407E-A947-70E740481C1C}">
                <a14:useLocalDpi xmlns:a14="http://schemas.microsoft.com/office/drawing/2010/main" val="0"/>
              </a:ext>
            </a:extLst>
          </a:blip>
          <a:srcRect t="10242" b="10242"/>
          <a:stretch/>
        </p:blipFill>
        <p:spPr>
          <a:xfrm>
            <a:off x="0" y="0"/>
            <a:ext cx="12192002" cy="6858000"/>
          </a:xfrm>
          <a:prstGeom prst="rect">
            <a:avLst/>
          </a:prstGeom>
          <a:effectLst>
            <a:outerShdw blurRad="50800" dist="50800" dir="5400000" algn="ctr" rotWithShape="0">
              <a:srgbClr val="000000">
                <a:alpha val="75000"/>
              </a:srgbClr>
            </a:outerShdw>
          </a:effectLst>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252413" y="381000"/>
            <a:ext cx="5067300"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2" name="Picture 1">
            <a:extLst>
              <a:ext uri="{FF2B5EF4-FFF2-40B4-BE49-F238E27FC236}">
                <a16:creationId xmlns:a16="http://schemas.microsoft.com/office/drawing/2014/main" id="{B214C327-57C2-9A5F-F536-976B3D548AD2}"/>
              </a:ext>
            </a:extLst>
          </p:cNvPr>
          <p:cNvPicPr>
            <a:picLocks noChangeAspect="1"/>
          </p:cNvPicPr>
          <p:nvPr/>
        </p:nvPicPr>
        <p:blipFill>
          <a:blip r:embed="rId5"/>
          <a:stretch>
            <a:fillRect/>
          </a:stretch>
        </p:blipFill>
        <p:spPr>
          <a:xfrm>
            <a:off x="252412" y="1136456"/>
            <a:ext cx="5067300" cy="5067300"/>
          </a:xfrm>
          <a:prstGeom prst="rect">
            <a:avLst/>
          </a:prstGeom>
        </p:spPr>
      </p:pic>
      <p:sp>
        <p:nvSpPr>
          <p:cNvPr id="6" name="Rectangle 5">
            <a:extLst>
              <a:ext uri="{FF2B5EF4-FFF2-40B4-BE49-F238E27FC236}">
                <a16:creationId xmlns:a16="http://schemas.microsoft.com/office/drawing/2014/main" id="{AA8C7099-0259-5282-F922-1665599F7187}"/>
              </a:ext>
            </a:extLst>
          </p:cNvPr>
          <p:cNvSpPr/>
          <p:nvPr/>
        </p:nvSpPr>
        <p:spPr>
          <a:xfrm>
            <a:off x="5727357" y="2871952"/>
            <a:ext cx="5156886" cy="1200329"/>
          </a:xfrm>
          <a:prstGeom prst="rect">
            <a:avLst/>
          </a:prstGeom>
        </p:spPr>
        <p:txBody>
          <a:bodyPr wrap="square">
            <a:spAutoFit/>
          </a:bodyPr>
          <a:lstStyle/>
          <a:p>
            <a:pPr fontAlgn="base"/>
            <a:r>
              <a:rPr lang="en-US">
                <a:solidFill>
                  <a:schemeClr val="bg1"/>
                </a:solidFill>
                <a:latin typeface="Montserrat" panose="00000500000000000000" pitchFamily="2" charset="0"/>
              </a:rPr>
              <a:t>The potentiometer is used to adjust the screen contrast. I typically use a </a:t>
            </a:r>
            <a:r>
              <a:rPr lang="en-US">
                <a:solidFill>
                  <a:schemeClr val="bg1"/>
                </a:solidFill>
                <a:latin typeface="Montserrat" panose="00000500000000000000" pitchFamily="2" charset="0"/>
                <a:hlinkClick r:id="rId6">
                  <a:extLst>
                    <a:ext uri="{A12FA001-AC4F-418D-AE19-62706E023703}">
                      <ahyp:hlinkClr xmlns:ahyp="http://schemas.microsoft.com/office/drawing/2018/hyperlinkcolor" val="tx"/>
                    </a:ext>
                  </a:extLst>
                </a:hlinkClick>
              </a:rPr>
              <a:t>10K Ohm potentiometer</a:t>
            </a:r>
            <a:r>
              <a:rPr lang="en-US">
                <a:solidFill>
                  <a:schemeClr val="bg1"/>
                </a:solidFill>
                <a:latin typeface="Montserrat" panose="00000500000000000000" pitchFamily="2" charset="0"/>
              </a:rPr>
              <a:t>, but other values will also work.</a:t>
            </a:r>
          </a:p>
        </p:txBody>
      </p:sp>
      <p:sp>
        <p:nvSpPr>
          <p:cNvPr id="7" name="Rectangle 6">
            <a:extLst>
              <a:ext uri="{FF2B5EF4-FFF2-40B4-BE49-F238E27FC236}">
                <a16:creationId xmlns:a16="http://schemas.microsoft.com/office/drawing/2014/main" id="{2895F5DA-1B18-472D-56D0-1EC0FC4B05CE}"/>
              </a:ext>
            </a:extLst>
          </p:cNvPr>
          <p:cNvSpPr/>
          <p:nvPr/>
        </p:nvSpPr>
        <p:spPr>
          <a:xfrm>
            <a:off x="5727355" y="1136456"/>
            <a:ext cx="5156887" cy="1477328"/>
          </a:xfrm>
          <a:prstGeom prst="rect">
            <a:avLst/>
          </a:prstGeom>
        </p:spPr>
        <p:txBody>
          <a:bodyPr wrap="square">
            <a:spAutoFit/>
          </a:bodyPr>
          <a:lstStyle/>
          <a:p>
            <a:r>
              <a:rPr lang="en-US">
                <a:solidFill>
                  <a:schemeClr val="bg1"/>
                </a:solidFill>
                <a:latin typeface="Montserrat" panose="00000500000000000000" pitchFamily="2" charset="0"/>
              </a:rPr>
              <a:t>The resistor in the diagram above sets the backlight brightness. A typical value is 220 Ohms, but other values will work too. Smaller resistors will make the backlight brighter.</a:t>
            </a:r>
            <a:endParaRPr lang="en-US">
              <a:solidFill>
                <a:schemeClr val="bg1"/>
              </a:solidFill>
            </a:endParaRPr>
          </a:p>
        </p:txBody>
      </p:sp>
    </p:spTree>
    <p:extLst>
      <p:ext uri="{BB962C8B-B14F-4D97-AF65-F5344CB8AC3E}">
        <p14:creationId xmlns:p14="http://schemas.microsoft.com/office/powerpoint/2010/main" val="11459338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257675"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3">
            <a:extLst>
              <a:ext uri="{28A0092B-C50C-407E-A947-70E740481C1C}">
                <a14:useLocalDpi xmlns:a14="http://schemas.microsoft.com/office/drawing/2010/main" val="0"/>
              </a:ext>
            </a:extLst>
          </a:blip>
          <a:srcRect t="16249" b="8751"/>
          <a:stretch/>
        </p:blipFill>
        <p:spPr>
          <a:xfrm>
            <a:off x="-12182547" y="0"/>
            <a:ext cx="12191999" cy="6858000"/>
          </a:xfrm>
          <a:prstGeom prst="rect">
            <a:avLst/>
          </a:prstGeom>
        </p:spPr>
      </p:pic>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4">
            <a:alphaModFix amt="30000"/>
            <a:extLst>
              <a:ext uri="{28A0092B-C50C-407E-A947-70E740481C1C}">
                <a14:useLocalDpi xmlns:a14="http://schemas.microsoft.com/office/drawing/2010/main" val="0"/>
              </a:ext>
            </a:extLst>
          </a:blip>
          <a:srcRect t="10242" b="10242"/>
          <a:stretch/>
        </p:blipFill>
        <p:spPr>
          <a:xfrm>
            <a:off x="0" y="0"/>
            <a:ext cx="12192002" cy="6858000"/>
          </a:xfrm>
          <a:prstGeom prst="rect">
            <a:avLst/>
          </a:prstGeom>
          <a:effectLst>
            <a:outerShdw blurRad="50800" dist="50800" dir="5400000" algn="ctr" rotWithShape="0">
              <a:srgbClr val="000000">
                <a:alpha val="75000"/>
              </a:srgbClr>
            </a:outerShdw>
          </a:effectLst>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252413" y="381000"/>
            <a:ext cx="5067300"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2" name="Picture 1">
            <a:extLst>
              <a:ext uri="{FF2B5EF4-FFF2-40B4-BE49-F238E27FC236}">
                <a16:creationId xmlns:a16="http://schemas.microsoft.com/office/drawing/2014/main" id="{B214C327-57C2-9A5F-F536-976B3D548AD2}"/>
              </a:ext>
            </a:extLst>
          </p:cNvPr>
          <p:cNvPicPr>
            <a:picLocks noChangeAspect="1"/>
          </p:cNvPicPr>
          <p:nvPr/>
        </p:nvPicPr>
        <p:blipFill>
          <a:blip r:embed="rId5"/>
          <a:stretch>
            <a:fillRect/>
          </a:stretch>
        </p:blipFill>
        <p:spPr>
          <a:xfrm>
            <a:off x="252412" y="1136456"/>
            <a:ext cx="5067300" cy="5067300"/>
          </a:xfrm>
          <a:prstGeom prst="rect">
            <a:avLst/>
          </a:prstGeom>
        </p:spPr>
      </p:pic>
      <p:sp>
        <p:nvSpPr>
          <p:cNvPr id="3" name="TextBox 2">
            <a:extLst>
              <a:ext uri="{FF2B5EF4-FFF2-40B4-BE49-F238E27FC236}">
                <a16:creationId xmlns:a16="http://schemas.microsoft.com/office/drawing/2014/main" id="{49C44529-5061-FECD-7273-DCB8F8F16514}"/>
              </a:ext>
            </a:extLst>
          </p:cNvPr>
          <p:cNvSpPr txBox="1"/>
          <p:nvPr/>
        </p:nvSpPr>
        <p:spPr>
          <a:xfrm>
            <a:off x="5652647" y="1052007"/>
            <a:ext cx="6206420" cy="11726287"/>
          </a:xfrm>
          <a:prstGeom prst="rect">
            <a:avLst/>
          </a:prstGeom>
          <a:noFill/>
        </p:spPr>
        <p:txBody>
          <a:bodyPr wrap="square">
            <a:spAutoFit/>
          </a:bodyPr>
          <a:lstStyle/>
          <a:p>
            <a:r>
              <a:rPr lang="id-ID" sz="1400">
                <a:solidFill>
                  <a:schemeClr val="bg1"/>
                </a:solidFill>
              </a:rPr>
              <a:t>#include &lt;LiquidCrystal.h&gt; </a:t>
            </a:r>
          </a:p>
          <a:p>
            <a:r>
              <a:rPr lang="id-ID" sz="1400">
                <a:solidFill>
                  <a:schemeClr val="bg1"/>
                </a:solidFill>
              </a:rPr>
              <a:t>// library LCD</a:t>
            </a:r>
          </a:p>
          <a:p>
            <a:endParaRPr lang="id-ID" sz="1400">
              <a:solidFill>
                <a:schemeClr val="bg1"/>
              </a:solidFill>
            </a:endParaRPr>
          </a:p>
          <a:p>
            <a:r>
              <a:rPr lang="id-ID" sz="1400">
                <a:solidFill>
                  <a:schemeClr val="bg1"/>
                </a:solidFill>
              </a:rPr>
              <a:t>#include&lt;Keypad.h&gt;</a:t>
            </a:r>
          </a:p>
          <a:p>
            <a:r>
              <a:rPr lang="id-ID" sz="1400">
                <a:solidFill>
                  <a:schemeClr val="bg1"/>
                </a:solidFill>
              </a:rPr>
              <a:t>// library keypad</a:t>
            </a:r>
          </a:p>
          <a:p>
            <a:endParaRPr lang="id-ID" sz="1400">
              <a:solidFill>
                <a:schemeClr val="bg1"/>
              </a:solidFill>
            </a:endParaRPr>
          </a:p>
          <a:p>
            <a:r>
              <a:rPr lang="id-ID" sz="1400">
                <a:solidFill>
                  <a:schemeClr val="bg1"/>
                </a:solidFill>
              </a:rPr>
              <a:t>const int numRows = 4;</a:t>
            </a:r>
          </a:p>
          <a:p>
            <a:r>
              <a:rPr lang="id-ID" sz="1400">
                <a:solidFill>
                  <a:schemeClr val="bg1"/>
                </a:solidFill>
              </a:rPr>
              <a:t>const int numCols = 4;</a:t>
            </a:r>
          </a:p>
          <a:p>
            <a:endParaRPr lang="id-ID" sz="1400">
              <a:solidFill>
                <a:schemeClr val="bg1"/>
              </a:solidFill>
            </a:endParaRPr>
          </a:p>
          <a:p>
            <a:r>
              <a:rPr lang="id-ID" sz="1400">
                <a:solidFill>
                  <a:schemeClr val="bg1"/>
                </a:solidFill>
              </a:rPr>
              <a:t>char keymap [numRows][numCols]=</a:t>
            </a:r>
          </a:p>
          <a:p>
            <a:r>
              <a:rPr lang="id-ID" sz="1400">
                <a:solidFill>
                  <a:schemeClr val="bg1"/>
                </a:solidFill>
              </a:rPr>
              <a:t>{</a:t>
            </a:r>
          </a:p>
          <a:p>
            <a:r>
              <a:rPr lang="id-ID" sz="1400">
                <a:solidFill>
                  <a:schemeClr val="bg1"/>
                </a:solidFill>
              </a:rPr>
              <a:t>  {'1','2','3','A'},</a:t>
            </a:r>
          </a:p>
          <a:p>
            <a:r>
              <a:rPr lang="id-ID" sz="1400">
                <a:solidFill>
                  <a:schemeClr val="bg1"/>
                </a:solidFill>
              </a:rPr>
              <a:t>  {'4','5','6','B'},</a:t>
            </a:r>
          </a:p>
          <a:p>
            <a:r>
              <a:rPr lang="id-ID" sz="1400">
                <a:solidFill>
                  <a:schemeClr val="bg1"/>
                </a:solidFill>
              </a:rPr>
              <a:t>  {'7','8','9','C'},</a:t>
            </a:r>
          </a:p>
          <a:p>
            <a:r>
              <a:rPr lang="id-ID" sz="1400">
                <a:solidFill>
                  <a:schemeClr val="bg1"/>
                </a:solidFill>
              </a:rPr>
              <a:t>  {'*','0','#','D'}</a:t>
            </a:r>
          </a:p>
          <a:p>
            <a:r>
              <a:rPr lang="id-ID" sz="1400">
                <a:solidFill>
                  <a:schemeClr val="bg1"/>
                </a:solidFill>
              </a:rPr>
              <a:t>};</a:t>
            </a:r>
          </a:p>
          <a:p>
            <a:endParaRPr lang="id-ID" sz="1400">
              <a:solidFill>
                <a:schemeClr val="bg1"/>
              </a:solidFill>
            </a:endParaRPr>
          </a:p>
          <a:p>
            <a:r>
              <a:rPr lang="id-ID" sz="1400">
                <a:solidFill>
                  <a:schemeClr val="bg1"/>
                </a:solidFill>
              </a:rPr>
              <a:t>byte rowPins[numRows] = {A0,12,11,10};</a:t>
            </a:r>
          </a:p>
          <a:p>
            <a:r>
              <a:rPr lang="id-ID" sz="1400">
                <a:solidFill>
                  <a:schemeClr val="bg1"/>
                </a:solidFill>
              </a:rPr>
              <a:t>byte colPins[numCols] = {9,8,7,6};</a:t>
            </a:r>
          </a:p>
          <a:p>
            <a:endParaRPr lang="id-ID" sz="1400">
              <a:solidFill>
                <a:schemeClr val="bg1"/>
              </a:solidFill>
            </a:endParaRPr>
          </a:p>
          <a:p>
            <a:r>
              <a:rPr lang="id-ID" sz="1400">
                <a:solidFill>
                  <a:schemeClr val="bg1"/>
                </a:solidFill>
              </a:rPr>
              <a:t>Keypad keypad = Keypad(makeKeymap(keymap),rowPins,colPins,numRows,numCols);</a:t>
            </a:r>
          </a:p>
          <a:p>
            <a:r>
              <a:rPr lang="id-ID" sz="1400">
                <a:solidFill>
                  <a:schemeClr val="bg1"/>
                </a:solidFill>
              </a:rPr>
              <a:t>//Class  object   </a:t>
            </a:r>
          </a:p>
          <a:p>
            <a:r>
              <a:rPr lang="id-ID" sz="1400">
                <a:solidFill>
                  <a:schemeClr val="bg1"/>
                </a:solidFill>
              </a:rPr>
              <a:t> </a:t>
            </a:r>
          </a:p>
          <a:p>
            <a:r>
              <a:rPr lang="id-ID" sz="1400">
                <a:solidFill>
                  <a:schemeClr val="bg1"/>
                </a:solidFill>
              </a:rPr>
              <a:t>LiquidCrystal lcd(5, 4, 3, 2, 1, 0);</a:t>
            </a:r>
          </a:p>
          <a:p>
            <a:endParaRPr lang="id-ID" sz="1400">
              <a:solidFill>
                <a:schemeClr val="bg1"/>
              </a:solidFill>
            </a:endParaRPr>
          </a:p>
          <a:p>
            <a:r>
              <a:rPr lang="id-ID" sz="1400">
                <a:solidFill>
                  <a:schemeClr val="bg1"/>
                </a:solidFill>
              </a:rPr>
              <a:t>int LCDrow = 0;</a:t>
            </a:r>
          </a:p>
          <a:p>
            <a:endParaRPr lang="id-ID" sz="1400">
              <a:solidFill>
                <a:schemeClr val="bg1"/>
              </a:solidFill>
            </a:endParaRPr>
          </a:p>
          <a:p>
            <a:r>
              <a:rPr lang="id-ID" sz="1400">
                <a:solidFill>
                  <a:schemeClr val="bg1"/>
                </a:solidFill>
              </a:rPr>
              <a:t>void setup() </a:t>
            </a:r>
          </a:p>
          <a:p>
            <a:r>
              <a:rPr lang="id-ID" sz="1400">
                <a:solidFill>
                  <a:schemeClr val="bg1"/>
                </a:solidFill>
              </a:rPr>
              <a:t>{</a:t>
            </a:r>
          </a:p>
          <a:p>
            <a:r>
              <a:rPr lang="id-ID" sz="1400">
                <a:solidFill>
                  <a:schemeClr val="bg1"/>
                </a:solidFill>
              </a:rPr>
              <a:t>  </a:t>
            </a:r>
          </a:p>
          <a:p>
            <a:r>
              <a:rPr lang="id-ID" sz="1400">
                <a:solidFill>
                  <a:schemeClr val="bg1"/>
                </a:solidFill>
              </a:rPr>
              <a:t>  // melakukan setting LCD:</a:t>
            </a:r>
          </a:p>
          <a:p>
            <a:r>
              <a:rPr lang="id-ID" sz="1400">
                <a:solidFill>
                  <a:schemeClr val="bg1"/>
                </a:solidFill>
              </a:rPr>
              <a:t>  lcd.begin(16, 2);</a:t>
            </a:r>
          </a:p>
          <a:p>
            <a:r>
              <a:rPr lang="id-ID" sz="1400">
                <a:solidFill>
                  <a:schemeClr val="bg1"/>
                </a:solidFill>
              </a:rPr>
              <a:t>  lcd.setCursor(LCDrow, 0);</a:t>
            </a:r>
          </a:p>
          <a:p>
            <a:r>
              <a:rPr lang="id-ID" sz="1400">
                <a:solidFill>
                  <a:schemeClr val="bg1"/>
                </a:solidFill>
              </a:rPr>
              <a:t>  lcd.print("Aplikasi Arduino");</a:t>
            </a:r>
          </a:p>
          <a:p>
            <a:r>
              <a:rPr lang="id-ID" sz="1400">
                <a:solidFill>
                  <a:schemeClr val="bg1"/>
                </a:solidFill>
              </a:rPr>
              <a:t>  lcd.setCursor(LCDrow, 1);</a:t>
            </a:r>
          </a:p>
          <a:p>
            <a:r>
              <a:rPr lang="id-ID" sz="1400">
                <a:solidFill>
                  <a:schemeClr val="bg1"/>
                </a:solidFill>
              </a:rPr>
              <a:t>  lcd.print("Politeknik Negeri Bandung");</a:t>
            </a:r>
          </a:p>
          <a:p>
            <a:r>
              <a:rPr lang="id-ID" sz="1400">
                <a:solidFill>
                  <a:schemeClr val="bg1"/>
                </a:solidFill>
              </a:rPr>
              <a:t>  delay (3000);</a:t>
            </a:r>
          </a:p>
          <a:p>
            <a:endParaRPr lang="id-ID" sz="1400">
              <a:solidFill>
                <a:schemeClr val="bg1"/>
              </a:solidFill>
            </a:endParaRPr>
          </a:p>
          <a:p>
            <a:r>
              <a:rPr lang="id-ID" sz="1400">
                <a:solidFill>
                  <a:schemeClr val="bg1"/>
                </a:solidFill>
              </a:rPr>
              <a:t>  lcd.clear();</a:t>
            </a:r>
          </a:p>
          <a:p>
            <a:r>
              <a:rPr lang="id-ID" sz="1400">
                <a:solidFill>
                  <a:schemeClr val="bg1"/>
                </a:solidFill>
              </a:rPr>
              <a:t>  lcd.setCursor(LCDrow, 0);</a:t>
            </a:r>
          </a:p>
          <a:p>
            <a:r>
              <a:rPr lang="id-ID" sz="1400">
                <a:solidFill>
                  <a:schemeClr val="bg1"/>
                </a:solidFill>
              </a:rPr>
              <a:t>}</a:t>
            </a:r>
          </a:p>
          <a:p>
            <a:endParaRPr lang="id-ID" sz="1400">
              <a:solidFill>
                <a:schemeClr val="bg1"/>
              </a:solidFill>
            </a:endParaRPr>
          </a:p>
          <a:p>
            <a:r>
              <a:rPr lang="id-ID" sz="1400">
                <a:solidFill>
                  <a:schemeClr val="bg1"/>
                </a:solidFill>
              </a:rPr>
              <a:t>void loop() </a:t>
            </a:r>
          </a:p>
          <a:p>
            <a:r>
              <a:rPr lang="id-ID" sz="1400">
                <a:solidFill>
                  <a:schemeClr val="bg1"/>
                </a:solidFill>
              </a:rPr>
              <a:t>{</a:t>
            </a:r>
          </a:p>
          <a:p>
            <a:r>
              <a:rPr lang="id-ID" sz="1400">
                <a:solidFill>
                  <a:schemeClr val="bg1"/>
                </a:solidFill>
              </a:rPr>
              <a:t>  char key = keypad.getKey();</a:t>
            </a:r>
          </a:p>
          <a:p>
            <a:r>
              <a:rPr lang="id-ID" sz="1400">
                <a:solidFill>
                  <a:schemeClr val="bg1"/>
                </a:solidFill>
              </a:rPr>
              <a:t>  </a:t>
            </a:r>
          </a:p>
          <a:p>
            <a:r>
              <a:rPr lang="id-ID" sz="1400">
                <a:solidFill>
                  <a:schemeClr val="bg1"/>
                </a:solidFill>
              </a:rPr>
              <a:t>  if (key)</a:t>
            </a:r>
          </a:p>
          <a:p>
            <a:r>
              <a:rPr lang="id-ID" sz="1400">
                <a:solidFill>
                  <a:schemeClr val="bg1"/>
                </a:solidFill>
              </a:rPr>
              <a:t>  {</a:t>
            </a:r>
          </a:p>
          <a:p>
            <a:r>
              <a:rPr lang="id-ID" sz="1400">
                <a:solidFill>
                  <a:schemeClr val="bg1"/>
                </a:solidFill>
              </a:rPr>
              <a:t>    Serial.println(key);</a:t>
            </a:r>
          </a:p>
          <a:p>
            <a:r>
              <a:rPr lang="id-ID" sz="1400">
                <a:solidFill>
                  <a:schemeClr val="bg1"/>
                </a:solidFill>
              </a:rPr>
              <a:t>    lcd.print(key);</a:t>
            </a:r>
          </a:p>
          <a:p>
            <a:r>
              <a:rPr lang="id-ID" sz="1400">
                <a:solidFill>
                  <a:schemeClr val="bg1"/>
                </a:solidFill>
              </a:rPr>
              <a:t>    lcd.setCursor (++LCDrow, 0);</a:t>
            </a:r>
          </a:p>
          <a:p>
            <a:r>
              <a:rPr lang="id-ID" sz="1400">
                <a:solidFill>
                  <a:schemeClr val="bg1"/>
                </a:solidFill>
              </a:rPr>
              <a:t>  }</a:t>
            </a:r>
          </a:p>
          <a:p>
            <a:r>
              <a:rPr lang="id-ID" sz="1400">
                <a:solidFill>
                  <a:schemeClr val="bg1"/>
                </a:solidFill>
              </a:rPr>
              <a:t>}</a:t>
            </a:r>
          </a:p>
        </p:txBody>
      </p:sp>
    </p:spTree>
    <p:extLst>
      <p:ext uri="{BB962C8B-B14F-4D97-AF65-F5344CB8AC3E}">
        <p14:creationId xmlns:p14="http://schemas.microsoft.com/office/powerpoint/2010/main" val="29478652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FCE7A7-48DF-0BC4-C6C9-32EB11111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257675" y="3176587"/>
            <a:ext cx="9020175" cy="504825"/>
          </a:xfrm>
          <a:prstGeom prst="rect">
            <a:avLst/>
          </a:prstGeom>
        </p:spPr>
      </p:pic>
      <p:pic>
        <p:nvPicPr>
          <p:cNvPr id="4" name="Picture 3" descr="A picture containing text, indoor, projector&#10;&#10;Description automatically generated">
            <a:extLst>
              <a:ext uri="{FF2B5EF4-FFF2-40B4-BE49-F238E27FC236}">
                <a16:creationId xmlns:a16="http://schemas.microsoft.com/office/drawing/2014/main" id="{79E97E8F-B108-8AB0-79AC-D57BBC6F48D1}"/>
              </a:ext>
            </a:extLst>
          </p:cNvPr>
          <p:cNvPicPr>
            <a:picLocks noChangeAspect="1"/>
          </p:cNvPicPr>
          <p:nvPr/>
        </p:nvPicPr>
        <p:blipFill rotWithShape="1">
          <a:blip r:embed="rId3">
            <a:extLst>
              <a:ext uri="{28A0092B-C50C-407E-A947-70E740481C1C}">
                <a14:useLocalDpi xmlns:a14="http://schemas.microsoft.com/office/drawing/2010/main" val="0"/>
              </a:ext>
            </a:extLst>
          </a:blip>
          <a:srcRect t="16249" b="8751"/>
          <a:stretch/>
        </p:blipFill>
        <p:spPr>
          <a:xfrm>
            <a:off x="-12182547" y="0"/>
            <a:ext cx="12191999" cy="6858000"/>
          </a:xfrm>
          <a:prstGeom prst="rect">
            <a:avLst/>
          </a:prstGeom>
        </p:spPr>
      </p:pic>
      <p:pic>
        <p:nvPicPr>
          <p:cNvPr id="8" name="Picture 7" descr="A picture containing text, circuit, electronics&#10;&#10;Description automatically generated">
            <a:extLst>
              <a:ext uri="{FF2B5EF4-FFF2-40B4-BE49-F238E27FC236}">
                <a16:creationId xmlns:a16="http://schemas.microsoft.com/office/drawing/2014/main" id="{E23C1FE4-4DE7-65BC-4CD8-6E676D47BC40}"/>
              </a:ext>
            </a:extLst>
          </p:cNvPr>
          <p:cNvPicPr>
            <a:picLocks noChangeAspect="1"/>
          </p:cNvPicPr>
          <p:nvPr/>
        </p:nvPicPr>
        <p:blipFill rotWithShape="1">
          <a:blip r:embed="rId4">
            <a:alphaModFix amt="30000"/>
            <a:extLst>
              <a:ext uri="{28A0092B-C50C-407E-A947-70E740481C1C}">
                <a14:useLocalDpi xmlns:a14="http://schemas.microsoft.com/office/drawing/2010/main" val="0"/>
              </a:ext>
            </a:extLst>
          </a:blip>
          <a:srcRect t="10242" b="10242"/>
          <a:stretch/>
        </p:blipFill>
        <p:spPr>
          <a:xfrm>
            <a:off x="0" y="0"/>
            <a:ext cx="12192002" cy="6858000"/>
          </a:xfrm>
          <a:prstGeom prst="rect">
            <a:avLst/>
          </a:prstGeom>
          <a:effectLst>
            <a:outerShdw blurRad="50800" dist="50800" dir="5400000" algn="ctr" rotWithShape="0">
              <a:srgbClr val="000000">
                <a:alpha val="75000"/>
              </a:srgbClr>
            </a:outerShdw>
          </a:effectLst>
        </p:spPr>
      </p:pic>
      <p:sp>
        <p:nvSpPr>
          <p:cNvPr id="10" name="Title 1">
            <a:extLst>
              <a:ext uri="{FF2B5EF4-FFF2-40B4-BE49-F238E27FC236}">
                <a16:creationId xmlns:a16="http://schemas.microsoft.com/office/drawing/2014/main" id="{8E0D5EE8-ED49-22BC-E7BE-EB9DAD9E14B8}"/>
              </a:ext>
            </a:extLst>
          </p:cNvPr>
          <p:cNvSpPr txBox="1">
            <a:spLocks/>
          </p:cNvSpPr>
          <p:nvPr/>
        </p:nvSpPr>
        <p:spPr>
          <a:xfrm>
            <a:off x="252413" y="381000"/>
            <a:ext cx="5067300" cy="641156"/>
          </a:xfrm>
          <a:prstGeom prst="rect">
            <a:avLst/>
          </a:prstGeom>
          <a:effectLst/>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a:solidFill>
                  <a:srgbClr val="FFFFFF"/>
                </a:solidFill>
                <a:effectLst>
                  <a:outerShdw blurRad="38100" dist="38100" dir="2700000" algn="tl">
                    <a:srgbClr val="000000">
                      <a:alpha val="43137"/>
                    </a:srgbClr>
                  </a:outerShdw>
                </a:effectLst>
                <a:latin typeface="Montserrat" panose="00000500000000000000" pitchFamily="2" charset="0"/>
              </a:rPr>
              <a:t>LCD</a:t>
            </a:r>
          </a:p>
        </p:txBody>
      </p:sp>
      <p:pic>
        <p:nvPicPr>
          <p:cNvPr id="2" name="Picture 1">
            <a:extLst>
              <a:ext uri="{FF2B5EF4-FFF2-40B4-BE49-F238E27FC236}">
                <a16:creationId xmlns:a16="http://schemas.microsoft.com/office/drawing/2014/main" id="{B214C327-57C2-9A5F-F536-976B3D548AD2}"/>
              </a:ext>
            </a:extLst>
          </p:cNvPr>
          <p:cNvPicPr>
            <a:picLocks noChangeAspect="1"/>
          </p:cNvPicPr>
          <p:nvPr/>
        </p:nvPicPr>
        <p:blipFill>
          <a:blip r:embed="rId5"/>
          <a:stretch>
            <a:fillRect/>
          </a:stretch>
        </p:blipFill>
        <p:spPr>
          <a:xfrm>
            <a:off x="252412" y="1136456"/>
            <a:ext cx="5067300" cy="5067300"/>
          </a:xfrm>
          <a:prstGeom prst="rect">
            <a:avLst/>
          </a:prstGeom>
        </p:spPr>
      </p:pic>
      <p:sp>
        <p:nvSpPr>
          <p:cNvPr id="3" name="TextBox 2">
            <a:extLst>
              <a:ext uri="{FF2B5EF4-FFF2-40B4-BE49-F238E27FC236}">
                <a16:creationId xmlns:a16="http://schemas.microsoft.com/office/drawing/2014/main" id="{49C44529-5061-FECD-7273-DCB8F8F16514}"/>
              </a:ext>
            </a:extLst>
          </p:cNvPr>
          <p:cNvSpPr txBox="1"/>
          <p:nvPr/>
        </p:nvSpPr>
        <p:spPr>
          <a:xfrm>
            <a:off x="5652647" y="-4868287"/>
            <a:ext cx="6206420" cy="11726287"/>
          </a:xfrm>
          <a:prstGeom prst="rect">
            <a:avLst/>
          </a:prstGeom>
          <a:noFill/>
        </p:spPr>
        <p:txBody>
          <a:bodyPr wrap="square">
            <a:spAutoFit/>
          </a:bodyPr>
          <a:lstStyle/>
          <a:p>
            <a:r>
              <a:rPr lang="id-ID" sz="1400">
                <a:solidFill>
                  <a:schemeClr val="bg1"/>
                </a:solidFill>
              </a:rPr>
              <a:t>#include &lt;LiquidCrystal.h&gt; </a:t>
            </a:r>
          </a:p>
          <a:p>
            <a:r>
              <a:rPr lang="id-ID" sz="1400">
                <a:solidFill>
                  <a:schemeClr val="bg1"/>
                </a:solidFill>
              </a:rPr>
              <a:t>// library LCD</a:t>
            </a:r>
          </a:p>
          <a:p>
            <a:endParaRPr lang="id-ID" sz="1400">
              <a:solidFill>
                <a:schemeClr val="bg1"/>
              </a:solidFill>
            </a:endParaRPr>
          </a:p>
          <a:p>
            <a:r>
              <a:rPr lang="id-ID" sz="1400">
                <a:solidFill>
                  <a:schemeClr val="bg1"/>
                </a:solidFill>
              </a:rPr>
              <a:t>#include&lt;Keypad.h&gt;</a:t>
            </a:r>
          </a:p>
          <a:p>
            <a:r>
              <a:rPr lang="id-ID" sz="1400">
                <a:solidFill>
                  <a:schemeClr val="bg1"/>
                </a:solidFill>
              </a:rPr>
              <a:t>// library keypad</a:t>
            </a:r>
          </a:p>
          <a:p>
            <a:endParaRPr lang="id-ID" sz="1400">
              <a:solidFill>
                <a:schemeClr val="bg1"/>
              </a:solidFill>
            </a:endParaRPr>
          </a:p>
          <a:p>
            <a:r>
              <a:rPr lang="id-ID" sz="1400">
                <a:solidFill>
                  <a:schemeClr val="bg1"/>
                </a:solidFill>
              </a:rPr>
              <a:t>const int numRows = 4;</a:t>
            </a:r>
          </a:p>
          <a:p>
            <a:r>
              <a:rPr lang="id-ID" sz="1400">
                <a:solidFill>
                  <a:schemeClr val="bg1"/>
                </a:solidFill>
              </a:rPr>
              <a:t>const int numCols = 4;</a:t>
            </a:r>
          </a:p>
          <a:p>
            <a:endParaRPr lang="id-ID" sz="1400">
              <a:solidFill>
                <a:schemeClr val="bg1"/>
              </a:solidFill>
            </a:endParaRPr>
          </a:p>
          <a:p>
            <a:r>
              <a:rPr lang="id-ID" sz="1400">
                <a:solidFill>
                  <a:schemeClr val="bg1"/>
                </a:solidFill>
              </a:rPr>
              <a:t>char keymap [numRows][numCols]=</a:t>
            </a:r>
          </a:p>
          <a:p>
            <a:r>
              <a:rPr lang="id-ID" sz="1400">
                <a:solidFill>
                  <a:schemeClr val="bg1"/>
                </a:solidFill>
              </a:rPr>
              <a:t>{</a:t>
            </a:r>
          </a:p>
          <a:p>
            <a:r>
              <a:rPr lang="id-ID" sz="1400">
                <a:solidFill>
                  <a:schemeClr val="bg1"/>
                </a:solidFill>
              </a:rPr>
              <a:t>  {'1','2','3','A'},</a:t>
            </a:r>
          </a:p>
          <a:p>
            <a:r>
              <a:rPr lang="id-ID" sz="1400">
                <a:solidFill>
                  <a:schemeClr val="bg1"/>
                </a:solidFill>
              </a:rPr>
              <a:t>  {'4','5','6','B'},</a:t>
            </a:r>
          </a:p>
          <a:p>
            <a:r>
              <a:rPr lang="id-ID" sz="1400">
                <a:solidFill>
                  <a:schemeClr val="bg1"/>
                </a:solidFill>
              </a:rPr>
              <a:t>  {'7','8','9','C'},</a:t>
            </a:r>
          </a:p>
          <a:p>
            <a:r>
              <a:rPr lang="id-ID" sz="1400">
                <a:solidFill>
                  <a:schemeClr val="bg1"/>
                </a:solidFill>
              </a:rPr>
              <a:t>  {'*','0','#','D'}</a:t>
            </a:r>
          </a:p>
          <a:p>
            <a:r>
              <a:rPr lang="id-ID" sz="1400">
                <a:solidFill>
                  <a:schemeClr val="bg1"/>
                </a:solidFill>
              </a:rPr>
              <a:t>};</a:t>
            </a:r>
          </a:p>
          <a:p>
            <a:endParaRPr lang="id-ID" sz="1400">
              <a:solidFill>
                <a:schemeClr val="bg1"/>
              </a:solidFill>
            </a:endParaRPr>
          </a:p>
          <a:p>
            <a:r>
              <a:rPr lang="id-ID" sz="1400">
                <a:solidFill>
                  <a:schemeClr val="bg1"/>
                </a:solidFill>
              </a:rPr>
              <a:t>byte rowPins[numRows] = {A0,12,11,10};</a:t>
            </a:r>
          </a:p>
          <a:p>
            <a:r>
              <a:rPr lang="id-ID" sz="1400">
                <a:solidFill>
                  <a:schemeClr val="bg1"/>
                </a:solidFill>
              </a:rPr>
              <a:t>byte colPins[numCols] = {9,8,7,6};</a:t>
            </a:r>
          </a:p>
          <a:p>
            <a:endParaRPr lang="id-ID" sz="1400">
              <a:solidFill>
                <a:schemeClr val="bg1"/>
              </a:solidFill>
            </a:endParaRPr>
          </a:p>
          <a:p>
            <a:r>
              <a:rPr lang="id-ID" sz="1400">
                <a:solidFill>
                  <a:schemeClr val="bg1"/>
                </a:solidFill>
              </a:rPr>
              <a:t>Keypad keypad = Keypad(makeKeymap(keymap),rowPins,colPins,numRows,numCols);</a:t>
            </a:r>
          </a:p>
          <a:p>
            <a:r>
              <a:rPr lang="id-ID" sz="1400">
                <a:solidFill>
                  <a:schemeClr val="bg1"/>
                </a:solidFill>
              </a:rPr>
              <a:t>//Class  object   </a:t>
            </a:r>
          </a:p>
          <a:p>
            <a:r>
              <a:rPr lang="id-ID" sz="1400">
                <a:solidFill>
                  <a:schemeClr val="bg1"/>
                </a:solidFill>
              </a:rPr>
              <a:t> </a:t>
            </a:r>
          </a:p>
          <a:p>
            <a:r>
              <a:rPr lang="id-ID" sz="1400">
                <a:solidFill>
                  <a:schemeClr val="bg1"/>
                </a:solidFill>
              </a:rPr>
              <a:t>LiquidCrystal lcd(5, 4, 3, 2, 1, 0);</a:t>
            </a:r>
          </a:p>
          <a:p>
            <a:endParaRPr lang="id-ID" sz="1400">
              <a:solidFill>
                <a:schemeClr val="bg1"/>
              </a:solidFill>
            </a:endParaRPr>
          </a:p>
          <a:p>
            <a:r>
              <a:rPr lang="id-ID" sz="1400">
                <a:solidFill>
                  <a:schemeClr val="bg1"/>
                </a:solidFill>
              </a:rPr>
              <a:t>int LCDrow = 0;</a:t>
            </a:r>
          </a:p>
          <a:p>
            <a:endParaRPr lang="id-ID" sz="1400">
              <a:solidFill>
                <a:schemeClr val="bg1"/>
              </a:solidFill>
            </a:endParaRPr>
          </a:p>
          <a:p>
            <a:r>
              <a:rPr lang="id-ID" sz="1400">
                <a:solidFill>
                  <a:schemeClr val="bg1"/>
                </a:solidFill>
              </a:rPr>
              <a:t>void setup() </a:t>
            </a:r>
          </a:p>
          <a:p>
            <a:r>
              <a:rPr lang="id-ID" sz="1400">
                <a:solidFill>
                  <a:schemeClr val="bg1"/>
                </a:solidFill>
              </a:rPr>
              <a:t>{</a:t>
            </a:r>
          </a:p>
          <a:p>
            <a:r>
              <a:rPr lang="id-ID" sz="1400">
                <a:solidFill>
                  <a:schemeClr val="bg1"/>
                </a:solidFill>
              </a:rPr>
              <a:t>  </a:t>
            </a:r>
          </a:p>
          <a:p>
            <a:r>
              <a:rPr lang="id-ID" sz="1400">
                <a:solidFill>
                  <a:schemeClr val="bg1"/>
                </a:solidFill>
              </a:rPr>
              <a:t>  // melakukan setting LCD:</a:t>
            </a:r>
          </a:p>
          <a:p>
            <a:r>
              <a:rPr lang="id-ID" sz="1400">
                <a:solidFill>
                  <a:schemeClr val="bg1"/>
                </a:solidFill>
              </a:rPr>
              <a:t>  lcd.begin(16, 2);</a:t>
            </a:r>
          </a:p>
          <a:p>
            <a:r>
              <a:rPr lang="id-ID" sz="1400">
                <a:solidFill>
                  <a:schemeClr val="bg1"/>
                </a:solidFill>
              </a:rPr>
              <a:t>  lcd.setCursor(LCDrow, 0);</a:t>
            </a:r>
          </a:p>
          <a:p>
            <a:r>
              <a:rPr lang="id-ID" sz="1400">
                <a:solidFill>
                  <a:schemeClr val="bg1"/>
                </a:solidFill>
              </a:rPr>
              <a:t>  lcd.print("Aplikasi Arduino");</a:t>
            </a:r>
          </a:p>
          <a:p>
            <a:r>
              <a:rPr lang="id-ID" sz="1400">
                <a:solidFill>
                  <a:schemeClr val="bg1"/>
                </a:solidFill>
              </a:rPr>
              <a:t>  lcd.setCursor(LCDrow, 1);</a:t>
            </a:r>
          </a:p>
          <a:p>
            <a:r>
              <a:rPr lang="id-ID" sz="1400">
                <a:solidFill>
                  <a:schemeClr val="bg1"/>
                </a:solidFill>
              </a:rPr>
              <a:t>  lcd.print("Politeknik Negeri Bandung");</a:t>
            </a:r>
          </a:p>
          <a:p>
            <a:r>
              <a:rPr lang="id-ID" sz="1400">
                <a:solidFill>
                  <a:schemeClr val="bg1"/>
                </a:solidFill>
              </a:rPr>
              <a:t>  delay (3000);</a:t>
            </a:r>
          </a:p>
          <a:p>
            <a:endParaRPr lang="id-ID" sz="1400">
              <a:solidFill>
                <a:schemeClr val="bg1"/>
              </a:solidFill>
            </a:endParaRPr>
          </a:p>
          <a:p>
            <a:r>
              <a:rPr lang="id-ID" sz="1400">
                <a:solidFill>
                  <a:schemeClr val="bg1"/>
                </a:solidFill>
              </a:rPr>
              <a:t>  lcd.clear();</a:t>
            </a:r>
          </a:p>
          <a:p>
            <a:r>
              <a:rPr lang="id-ID" sz="1400">
                <a:solidFill>
                  <a:schemeClr val="bg1"/>
                </a:solidFill>
              </a:rPr>
              <a:t>  lcd.setCursor(LCDrow, 0);</a:t>
            </a:r>
          </a:p>
          <a:p>
            <a:r>
              <a:rPr lang="id-ID" sz="1400">
                <a:solidFill>
                  <a:schemeClr val="bg1"/>
                </a:solidFill>
              </a:rPr>
              <a:t>}</a:t>
            </a:r>
          </a:p>
          <a:p>
            <a:endParaRPr lang="id-ID" sz="1400">
              <a:solidFill>
                <a:schemeClr val="bg1"/>
              </a:solidFill>
            </a:endParaRPr>
          </a:p>
          <a:p>
            <a:r>
              <a:rPr lang="id-ID" sz="1400">
                <a:solidFill>
                  <a:schemeClr val="bg1"/>
                </a:solidFill>
              </a:rPr>
              <a:t>void loop() </a:t>
            </a:r>
          </a:p>
          <a:p>
            <a:r>
              <a:rPr lang="id-ID" sz="1400">
                <a:solidFill>
                  <a:schemeClr val="bg1"/>
                </a:solidFill>
              </a:rPr>
              <a:t>{</a:t>
            </a:r>
          </a:p>
          <a:p>
            <a:r>
              <a:rPr lang="id-ID" sz="1400">
                <a:solidFill>
                  <a:schemeClr val="bg1"/>
                </a:solidFill>
              </a:rPr>
              <a:t>  char key = keypad.getKey();</a:t>
            </a:r>
          </a:p>
          <a:p>
            <a:r>
              <a:rPr lang="id-ID" sz="1400">
                <a:solidFill>
                  <a:schemeClr val="bg1"/>
                </a:solidFill>
              </a:rPr>
              <a:t>  </a:t>
            </a:r>
          </a:p>
          <a:p>
            <a:r>
              <a:rPr lang="id-ID" sz="1400">
                <a:solidFill>
                  <a:schemeClr val="bg1"/>
                </a:solidFill>
              </a:rPr>
              <a:t>  if (key)</a:t>
            </a:r>
          </a:p>
          <a:p>
            <a:r>
              <a:rPr lang="id-ID" sz="1400">
                <a:solidFill>
                  <a:schemeClr val="bg1"/>
                </a:solidFill>
              </a:rPr>
              <a:t>  {</a:t>
            </a:r>
          </a:p>
          <a:p>
            <a:r>
              <a:rPr lang="id-ID" sz="1400">
                <a:solidFill>
                  <a:schemeClr val="bg1"/>
                </a:solidFill>
              </a:rPr>
              <a:t>    Serial.println(key);</a:t>
            </a:r>
          </a:p>
          <a:p>
            <a:r>
              <a:rPr lang="id-ID" sz="1400">
                <a:solidFill>
                  <a:schemeClr val="bg1"/>
                </a:solidFill>
              </a:rPr>
              <a:t>    lcd.print(key);</a:t>
            </a:r>
          </a:p>
          <a:p>
            <a:r>
              <a:rPr lang="id-ID" sz="1400">
                <a:solidFill>
                  <a:schemeClr val="bg1"/>
                </a:solidFill>
              </a:rPr>
              <a:t>    lcd.setCursor (++LCDrow, 0);</a:t>
            </a:r>
          </a:p>
          <a:p>
            <a:r>
              <a:rPr lang="id-ID" sz="1400">
                <a:solidFill>
                  <a:schemeClr val="bg1"/>
                </a:solidFill>
              </a:rPr>
              <a:t>  }</a:t>
            </a:r>
          </a:p>
          <a:p>
            <a:r>
              <a:rPr lang="id-ID" sz="1400">
                <a:solidFill>
                  <a:schemeClr val="bg1"/>
                </a:solidFill>
              </a:rPr>
              <a:t>}</a:t>
            </a:r>
          </a:p>
        </p:txBody>
      </p:sp>
    </p:spTree>
    <p:extLst>
      <p:ext uri="{BB962C8B-B14F-4D97-AF65-F5344CB8AC3E}">
        <p14:creationId xmlns:p14="http://schemas.microsoft.com/office/powerpoint/2010/main" val="29173919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4104</Words>
  <Application>Microsoft Office PowerPoint</Application>
  <PresentationFormat>Widescreen</PresentationFormat>
  <Paragraphs>822</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KEYPAD ON MICROCONTROLLER</vt:lpstr>
      <vt:lpstr>KEYPAD ON MICROCONTROLLER</vt:lpstr>
      <vt:lpstr>PHYSICAL APPEARANCE</vt:lpstr>
      <vt:lpstr>PHYSICAL APPEARANCE</vt:lpstr>
      <vt:lpstr>PHYSICAL APPEARANCE</vt:lpstr>
      <vt:lpstr>PHYSICAL APPEARANCE</vt:lpstr>
      <vt:lpstr>PHYSICAL APPEARANCE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Soal 2</vt:lpstr>
      <vt:lpstr>Soal 2</vt:lpstr>
      <vt:lpstr>Soal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Penggunaan Keypad pada Mikrokontroler</dc:title>
  <dc:creator>Muhammad Yusuf Fadhlan</dc:creator>
  <cp:lastModifiedBy>Merida Audia</cp:lastModifiedBy>
  <cp:revision>3</cp:revision>
  <dcterms:created xsi:type="dcterms:W3CDTF">2021-09-27T03:50:53Z</dcterms:created>
  <dcterms:modified xsi:type="dcterms:W3CDTF">2024-03-14T02:41:12Z</dcterms:modified>
</cp:coreProperties>
</file>