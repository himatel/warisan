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Lst>
  <p:sldSz cx="18288000" cy="10287000"/>
  <p:notesSz cx="6858000" cy="9144000"/>
  <p:embeddedFontLst>
    <p:embeddedFont>
      <p:font typeface="Tenor Sans" charset="1" panose="02000000000000000000"/>
      <p:regular r:id="rId6"/>
    </p:embeddedFont>
    <p:embeddedFont>
      <p:font typeface="Arimo" charset="1" panose="020B0604020202020204"/>
      <p:regular r:id="rId7"/>
    </p:embeddedFont>
    <p:embeddedFont>
      <p:font typeface="Arimo Bold" charset="1" panose="020B0704020202020204"/>
      <p:regular r:id="rId8"/>
    </p:embeddedFont>
    <p:embeddedFont>
      <p:font typeface="Arimo Italics" charset="1" panose="020B0604020202090204"/>
      <p:regular r:id="rId9"/>
    </p:embeddedFont>
    <p:embeddedFont>
      <p:font typeface="Arimo Bold Italics" charset="1" panose="020B0704020202090204"/>
      <p:regular r:id="rId10"/>
    </p:embeddedFont>
    <p:embeddedFont>
      <p:font typeface="Open Sans Light" charset="1" panose="020B0306030504020204"/>
      <p:regular r:id="rId11"/>
    </p:embeddedFont>
    <p:embeddedFont>
      <p:font typeface="Open Sans Light Bold" charset="1" panose="020B0806030504020204"/>
      <p:regular r:id="rId12"/>
    </p:embeddedFont>
    <p:embeddedFont>
      <p:font typeface="Open Sans Light Italics" charset="1" panose="020B0306030504020204"/>
      <p:regular r:id="rId13"/>
    </p:embeddedFont>
    <p:embeddedFont>
      <p:font typeface="Open Sans Light Bold Italics" charset="1" panose="020B0806030504020204"/>
      <p:regular r:id="rId14"/>
    </p:embeddedFont>
    <p:embeddedFont>
      <p:font typeface="Open Sans" charset="1" panose="020B0606030504020204"/>
      <p:regular r:id="rId15"/>
    </p:embeddedFont>
    <p:embeddedFont>
      <p:font typeface="Open Sans Bold" charset="1" panose="020B0806030504020204"/>
      <p:regular r:id="rId16"/>
    </p:embeddedFont>
    <p:embeddedFont>
      <p:font typeface="Open Sans Italics" charset="1" panose="020B0606030504020204"/>
      <p:regular r:id="rId17"/>
    </p:embeddedFont>
    <p:embeddedFont>
      <p:font typeface="Open Sans Bold Italics" charset="1" panose="020B0806030504020204"/>
      <p:regular r:id="rId18"/>
    </p:embeddedFont>
    <p:embeddedFont>
      <p:font typeface="TAN Pearl"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slides/slide1.xml" Type="http://schemas.openxmlformats.org/officeDocument/2006/relationships/slide"/><Relationship Id="rId21" Target="slides/slide2.xml" Type="http://schemas.openxmlformats.org/officeDocument/2006/relationships/slide"/><Relationship Id="rId22" Target="slides/slide3.xml" Type="http://schemas.openxmlformats.org/officeDocument/2006/relationships/slide"/><Relationship Id="rId23" Target="slides/slide4.xml" Type="http://schemas.openxmlformats.org/officeDocument/2006/relationships/slide"/><Relationship Id="rId24" Target="slides/slide5.xml" Type="http://schemas.openxmlformats.org/officeDocument/2006/relationships/slide"/><Relationship Id="rId25" Target="slides/slide6.xml" Type="http://schemas.openxmlformats.org/officeDocument/2006/relationships/slide"/><Relationship Id="rId26" Target="slides/slide7.xml" Type="http://schemas.openxmlformats.org/officeDocument/2006/relationships/slide"/><Relationship Id="rId27" Target="slides/slide8.xml" Type="http://schemas.openxmlformats.org/officeDocument/2006/relationships/slide"/><Relationship Id="rId28" Target="slides/slide9.xml" Type="http://schemas.openxmlformats.org/officeDocument/2006/relationships/slide"/><Relationship Id="rId29" Target="slides/slide10.xml" Type="http://schemas.openxmlformats.org/officeDocument/2006/relationships/slide"/><Relationship Id="rId3" Target="viewProps.xml" Type="http://schemas.openxmlformats.org/officeDocument/2006/relationships/viewProps"/><Relationship Id="rId30" Target="slides/slide11.xml" Type="http://schemas.openxmlformats.org/officeDocument/2006/relationships/slide"/><Relationship Id="rId31" Target="slides/slide12.xml" Type="http://schemas.openxmlformats.org/officeDocument/2006/relationships/slide"/><Relationship Id="rId32" Target="slides/slide13.xml" Type="http://schemas.openxmlformats.org/officeDocument/2006/relationships/slide"/><Relationship Id="rId33" Target="slides/slide14.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3049988" y="5006459"/>
            <a:ext cx="8134781" cy="8134781"/>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5190616" y="1028700"/>
            <a:ext cx="4992475" cy="4965243"/>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1275376" y="7299237"/>
            <a:ext cx="3549225" cy="3549225"/>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0">
            <a:off x="12550058" y="2778451"/>
            <a:ext cx="4281256" cy="4114800"/>
          </a:xfrm>
          <a:prstGeom prst="rect">
            <a:avLst/>
          </a:prstGeom>
        </p:spPr>
      </p:pic>
      <p:grpSp>
        <p:nvGrpSpPr>
          <p:cNvPr name="Group 6" id="6"/>
          <p:cNvGrpSpPr/>
          <p:nvPr/>
        </p:nvGrpSpPr>
        <p:grpSpPr>
          <a:xfrm rot="0">
            <a:off x="574326" y="3692851"/>
            <a:ext cx="12994111" cy="4014088"/>
            <a:chOff x="0" y="0"/>
            <a:chExt cx="17325482" cy="5352117"/>
          </a:xfrm>
        </p:grpSpPr>
        <p:sp>
          <p:nvSpPr>
            <p:cNvPr name="TextBox 7" id="7"/>
            <p:cNvSpPr txBox="true"/>
            <p:nvPr/>
          </p:nvSpPr>
          <p:spPr>
            <a:xfrm rot="0">
              <a:off x="0" y="-199072"/>
              <a:ext cx="17325482" cy="1612768"/>
            </a:xfrm>
            <a:prstGeom prst="rect">
              <a:avLst/>
            </a:prstGeom>
          </p:spPr>
          <p:txBody>
            <a:bodyPr anchor="t" rtlCol="false" tIns="0" lIns="0" bIns="0" rIns="0">
              <a:spAutoFit/>
            </a:bodyPr>
            <a:lstStyle/>
            <a:p>
              <a:pPr>
                <a:lnSpc>
                  <a:spcPts val="9799"/>
                </a:lnSpc>
              </a:pPr>
              <a:r>
                <a:rPr lang="en-US" sz="6999">
                  <a:solidFill>
                    <a:srgbClr val="FFFFFF"/>
                  </a:solidFill>
                  <a:latin typeface="TAN Pearl"/>
                </a:rPr>
                <a:t>Modernitas dan Islam</a:t>
              </a:r>
            </a:p>
          </p:txBody>
        </p:sp>
        <p:sp>
          <p:nvSpPr>
            <p:cNvPr name="TextBox 8" id="8"/>
            <p:cNvSpPr txBox="true"/>
            <p:nvPr/>
          </p:nvSpPr>
          <p:spPr>
            <a:xfrm rot="0">
              <a:off x="0" y="2046347"/>
              <a:ext cx="17325482" cy="3307887"/>
            </a:xfrm>
            <a:prstGeom prst="rect">
              <a:avLst/>
            </a:prstGeom>
          </p:spPr>
          <p:txBody>
            <a:bodyPr anchor="t" rtlCol="false" tIns="0" lIns="0" bIns="0" rIns="0">
              <a:spAutoFit/>
            </a:bodyPr>
            <a:lstStyle/>
            <a:p>
              <a:pPr>
                <a:lnSpc>
                  <a:spcPts val="2800"/>
                </a:lnSpc>
              </a:pPr>
              <a:r>
                <a:rPr lang="en-US" sz="2000">
                  <a:solidFill>
                    <a:srgbClr val="FFFFFF"/>
                  </a:solidFill>
                  <a:latin typeface="Tenor Sans"/>
                </a:rPr>
                <a:t>Syaira Maharani (211331028)</a:t>
              </a:r>
            </a:p>
            <a:p>
              <a:pPr>
                <a:lnSpc>
                  <a:spcPts val="2800"/>
                </a:lnSpc>
              </a:pPr>
              <a:r>
                <a:rPr lang="en-US" sz="2000">
                  <a:solidFill>
                    <a:srgbClr val="FFFFFF"/>
                  </a:solidFill>
                  <a:latin typeface="Arimo"/>
                </a:rPr>
                <a:t>Thiana Thesarindri (211331029)</a:t>
              </a:r>
            </a:p>
            <a:p>
              <a:pPr>
                <a:lnSpc>
                  <a:spcPts val="2800"/>
                </a:lnSpc>
              </a:pPr>
              <a:r>
                <a:rPr lang="en-US" sz="2000">
                  <a:solidFill>
                    <a:srgbClr val="FFFFFF"/>
                  </a:solidFill>
                  <a:latin typeface="Arimo"/>
                </a:rPr>
                <a:t>Thierza Marvasha Kayla (211331030)</a:t>
              </a:r>
            </a:p>
            <a:p>
              <a:pPr>
                <a:lnSpc>
                  <a:spcPts val="2800"/>
                </a:lnSpc>
              </a:pPr>
              <a:r>
                <a:rPr lang="en-US" sz="2000">
                  <a:solidFill>
                    <a:srgbClr val="FFFFFF"/>
                  </a:solidFill>
                  <a:latin typeface="Arimo"/>
                </a:rPr>
                <a:t>Tsaniya Faridah Maulida (211331031)</a:t>
              </a:r>
            </a:p>
            <a:p>
              <a:pPr>
                <a:lnSpc>
                  <a:spcPts val="2800"/>
                </a:lnSpc>
              </a:pPr>
              <a:r>
                <a:rPr lang="en-US" sz="2000">
                  <a:solidFill>
                    <a:srgbClr val="FFFFFF"/>
                  </a:solidFill>
                  <a:latin typeface="Arimo"/>
                </a:rPr>
                <a:t>Wahdini Putri Pertiwi (211331032)</a:t>
              </a:r>
            </a:p>
            <a:p>
              <a:pPr>
                <a:lnSpc>
                  <a:spcPts val="2800"/>
                </a:lnSpc>
              </a:pPr>
              <a:r>
                <a:rPr lang="en-US" sz="2000">
                  <a:solidFill>
                    <a:srgbClr val="FFFFFF"/>
                  </a:solidFill>
                  <a:latin typeface="Arimo"/>
                </a:rPr>
                <a:t>Zaki Amir Hidayahtuloh (211331033)</a:t>
              </a:r>
            </a:p>
            <a:p>
              <a:pPr>
                <a:lnSpc>
                  <a:spcPts val="280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2305498" y="5109604"/>
            <a:ext cx="6568955" cy="6568955"/>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577288" y="3546529"/>
            <a:ext cx="3378114" cy="3378114"/>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669189" y="8127521"/>
            <a:ext cx="4122295" cy="4114800"/>
          </a:xfrm>
          <a:prstGeom prst="rect">
            <a:avLst/>
          </a:prstGeom>
        </p:spPr>
      </p:pic>
      <p:pic>
        <p:nvPicPr>
          <p:cNvPr name="Picture 5" id="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0" t="0" r="0" b="0"/>
          <a:stretch>
            <a:fillRect/>
          </a:stretch>
        </p:blipFill>
        <p:spPr>
          <a:xfrm flipH="false" flipV="false" rot="0">
            <a:off x="3116313" y="6623962"/>
            <a:ext cx="2294289" cy="2294289"/>
          </a:xfrm>
          <a:prstGeom prst="rect">
            <a:avLst/>
          </a:prstGeom>
        </p:spPr>
      </p:pic>
      <p:sp>
        <p:nvSpPr>
          <p:cNvPr name="TextBox 6" id="6"/>
          <p:cNvSpPr txBox="true"/>
          <p:nvPr/>
        </p:nvSpPr>
        <p:spPr>
          <a:xfrm rot="0">
            <a:off x="4253815" y="790575"/>
            <a:ext cx="12866272" cy="1457275"/>
          </a:xfrm>
          <a:prstGeom prst="rect">
            <a:avLst/>
          </a:prstGeom>
        </p:spPr>
        <p:txBody>
          <a:bodyPr anchor="t" rtlCol="false" tIns="0" lIns="0" bIns="0" rIns="0">
            <a:spAutoFit/>
          </a:bodyPr>
          <a:lstStyle/>
          <a:p>
            <a:pPr>
              <a:lnSpc>
                <a:spcPts val="11200"/>
              </a:lnSpc>
            </a:pPr>
            <a:r>
              <a:rPr lang="en-US" sz="8000">
                <a:solidFill>
                  <a:srgbClr val="FFFFFF"/>
                </a:solidFill>
                <a:latin typeface="TAN Pearl"/>
              </a:rPr>
              <a:t>pokok pembahasan</a:t>
            </a:r>
          </a:p>
        </p:txBody>
      </p:sp>
      <p:grpSp>
        <p:nvGrpSpPr>
          <p:cNvPr name="Group 7" id="7"/>
          <p:cNvGrpSpPr/>
          <p:nvPr/>
        </p:nvGrpSpPr>
        <p:grpSpPr>
          <a:xfrm rot="0">
            <a:off x="7246536" y="3005519"/>
            <a:ext cx="1136430" cy="1044513"/>
            <a:chOff x="0" y="0"/>
            <a:chExt cx="1515240" cy="1392684"/>
          </a:xfrm>
        </p:grpSpPr>
        <p:pic>
          <p:nvPicPr>
            <p:cNvPr name="Picture 8" id="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0" t="4044" r="0" b="4044"/>
            <a:stretch>
              <a:fillRect/>
            </a:stretch>
          </p:blipFill>
          <p:spPr>
            <a:xfrm flipH="false" flipV="false" rot="0">
              <a:off x="0" y="0"/>
              <a:ext cx="1515240" cy="1392684"/>
            </a:xfrm>
            <a:prstGeom prst="rect">
              <a:avLst/>
            </a:prstGeom>
          </p:spPr>
        </p:pic>
        <p:sp>
          <p:nvSpPr>
            <p:cNvPr name="TextBox 9" id="9"/>
            <p:cNvSpPr txBox="true"/>
            <p:nvPr/>
          </p:nvSpPr>
          <p:spPr>
            <a:xfrm rot="0">
              <a:off x="520361" y="382970"/>
              <a:ext cx="474518" cy="604520"/>
            </a:xfrm>
            <a:prstGeom prst="rect">
              <a:avLst/>
            </a:prstGeom>
          </p:spPr>
          <p:txBody>
            <a:bodyPr anchor="t" rtlCol="false" tIns="0" lIns="0" bIns="0" rIns="0">
              <a:spAutoFit/>
            </a:bodyPr>
            <a:lstStyle/>
            <a:p>
              <a:pPr algn="ctr">
                <a:lnSpc>
                  <a:spcPts val="3640"/>
                </a:lnSpc>
              </a:pPr>
              <a:r>
                <a:rPr lang="en-US" sz="2600">
                  <a:solidFill>
                    <a:srgbClr val="FFFFFF"/>
                  </a:solidFill>
                  <a:latin typeface="TAN Pearl"/>
                </a:rPr>
                <a:t>1</a:t>
              </a:r>
            </a:p>
          </p:txBody>
        </p:sp>
      </p:grpSp>
      <p:grpSp>
        <p:nvGrpSpPr>
          <p:cNvPr name="Group 10" id="10"/>
          <p:cNvGrpSpPr/>
          <p:nvPr/>
        </p:nvGrpSpPr>
        <p:grpSpPr>
          <a:xfrm rot="0">
            <a:off x="7246536" y="4881004"/>
            <a:ext cx="1136430" cy="1136430"/>
            <a:chOff x="0" y="0"/>
            <a:chExt cx="1515240" cy="1515240"/>
          </a:xfrm>
        </p:grpSpPr>
        <p:pic>
          <p:nvPicPr>
            <p:cNvPr name="Picture 11" id="1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0" t="0" r="0" b="0"/>
            <a:stretch>
              <a:fillRect/>
            </a:stretch>
          </p:blipFill>
          <p:spPr>
            <a:xfrm flipH="false" flipV="false" rot="0">
              <a:off x="0" y="0"/>
              <a:ext cx="1515240" cy="1515240"/>
            </a:xfrm>
            <a:prstGeom prst="rect">
              <a:avLst/>
            </a:prstGeom>
          </p:spPr>
        </p:pic>
        <p:sp>
          <p:nvSpPr>
            <p:cNvPr name="TextBox 12" id="12"/>
            <p:cNvSpPr txBox="true"/>
            <p:nvPr/>
          </p:nvSpPr>
          <p:spPr>
            <a:xfrm rot="0">
              <a:off x="534874" y="449222"/>
              <a:ext cx="445492" cy="604520"/>
            </a:xfrm>
            <a:prstGeom prst="rect">
              <a:avLst/>
            </a:prstGeom>
          </p:spPr>
          <p:txBody>
            <a:bodyPr anchor="t" rtlCol="false" tIns="0" lIns="0" bIns="0" rIns="0">
              <a:spAutoFit/>
            </a:bodyPr>
            <a:lstStyle/>
            <a:p>
              <a:pPr algn="ctr">
                <a:lnSpc>
                  <a:spcPts val="3640"/>
                </a:lnSpc>
              </a:pPr>
              <a:r>
                <a:rPr lang="en-US" sz="2600">
                  <a:solidFill>
                    <a:srgbClr val="FFFFFF"/>
                  </a:solidFill>
                  <a:latin typeface="TAN Pearl"/>
                </a:rPr>
                <a:t>2</a:t>
              </a:r>
            </a:p>
          </p:txBody>
        </p:sp>
      </p:grpSp>
      <p:grpSp>
        <p:nvGrpSpPr>
          <p:cNvPr name="Group 13" id="13"/>
          <p:cNvGrpSpPr/>
          <p:nvPr/>
        </p:nvGrpSpPr>
        <p:grpSpPr>
          <a:xfrm rot="0">
            <a:off x="7246536" y="6991091"/>
            <a:ext cx="1136430" cy="1136430"/>
            <a:chOff x="0" y="0"/>
            <a:chExt cx="1515240" cy="1515240"/>
          </a:xfrm>
        </p:grpSpPr>
        <p:pic>
          <p:nvPicPr>
            <p:cNvPr name="Picture 14" id="1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0" t="0" r="0" b="0"/>
            <a:stretch>
              <a:fillRect/>
            </a:stretch>
          </p:blipFill>
          <p:spPr>
            <a:xfrm flipH="false" flipV="false" rot="0">
              <a:off x="0" y="0"/>
              <a:ext cx="1515240" cy="1515240"/>
            </a:xfrm>
            <a:prstGeom prst="rect">
              <a:avLst/>
            </a:prstGeom>
          </p:spPr>
        </p:pic>
        <p:sp>
          <p:nvSpPr>
            <p:cNvPr name="TextBox 15" id="15"/>
            <p:cNvSpPr txBox="true"/>
            <p:nvPr/>
          </p:nvSpPr>
          <p:spPr>
            <a:xfrm rot="0">
              <a:off x="528424" y="464673"/>
              <a:ext cx="458391" cy="604520"/>
            </a:xfrm>
            <a:prstGeom prst="rect">
              <a:avLst/>
            </a:prstGeom>
          </p:spPr>
          <p:txBody>
            <a:bodyPr anchor="t" rtlCol="false" tIns="0" lIns="0" bIns="0" rIns="0">
              <a:spAutoFit/>
            </a:bodyPr>
            <a:lstStyle/>
            <a:p>
              <a:pPr algn="ctr">
                <a:lnSpc>
                  <a:spcPts val="3640"/>
                </a:lnSpc>
              </a:pPr>
              <a:r>
                <a:rPr lang="en-US" sz="2600">
                  <a:solidFill>
                    <a:srgbClr val="FFFFFF"/>
                  </a:solidFill>
                  <a:latin typeface="TAN Pearl"/>
                </a:rPr>
                <a:t>3</a:t>
              </a:r>
            </a:p>
          </p:txBody>
        </p:sp>
      </p:grpSp>
      <p:sp>
        <p:nvSpPr>
          <p:cNvPr name="TextBox 16" id="16"/>
          <p:cNvSpPr txBox="true"/>
          <p:nvPr/>
        </p:nvSpPr>
        <p:spPr>
          <a:xfrm rot="0">
            <a:off x="8904051" y="5149861"/>
            <a:ext cx="8355249" cy="680056"/>
          </a:xfrm>
          <a:prstGeom prst="rect">
            <a:avLst/>
          </a:prstGeom>
        </p:spPr>
        <p:txBody>
          <a:bodyPr anchor="t" rtlCol="false" tIns="0" lIns="0" bIns="0" rIns="0">
            <a:spAutoFit/>
          </a:bodyPr>
          <a:lstStyle/>
          <a:p>
            <a:pPr>
              <a:lnSpc>
                <a:spcPts val="5459"/>
              </a:lnSpc>
              <a:spcBef>
                <a:spcPct val="0"/>
              </a:spcBef>
            </a:pPr>
            <a:r>
              <a:rPr lang="en-US" sz="3899">
                <a:solidFill>
                  <a:srgbClr val="FFFFFF"/>
                </a:solidFill>
                <a:latin typeface="Tenor Sans"/>
              </a:rPr>
              <a:t>LGBT</a:t>
            </a:r>
          </a:p>
        </p:txBody>
      </p:sp>
      <p:sp>
        <p:nvSpPr>
          <p:cNvPr name="TextBox 17" id="17"/>
          <p:cNvSpPr txBox="true"/>
          <p:nvPr/>
        </p:nvSpPr>
        <p:spPr>
          <a:xfrm rot="0">
            <a:off x="8904051" y="7254506"/>
            <a:ext cx="8595198" cy="533400"/>
          </a:xfrm>
          <a:prstGeom prst="rect">
            <a:avLst/>
          </a:prstGeom>
        </p:spPr>
        <p:txBody>
          <a:bodyPr anchor="t" rtlCol="false" tIns="0" lIns="0" bIns="0" rIns="0">
            <a:spAutoFit/>
          </a:bodyPr>
          <a:lstStyle/>
          <a:p>
            <a:pPr>
              <a:lnSpc>
                <a:spcPts val="4200"/>
              </a:lnSpc>
              <a:spcBef>
                <a:spcPct val="0"/>
              </a:spcBef>
            </a:pPr>
            <a:r>
              <a:rPr lang="en-US" sz="3000">
                <a:solidFill>
                  <a:srgbClr val="FFFFFF"/>
                </a:solidFill>
                <a:latin typeface="Tenor Sans"/>
              </a:rPr>
              <a:t>PANDEMI</a:t>
            </a:r>
          </a:p>
        </p:txBody>
      </p:sp>
      <p:sp>
        <p:nvSpPr>
          <p:cNvPr name="TextBox 18" id="18"/>
          <p:cNvSpPr txBox="true"/>
          <p:nvPr/>
        </p:nvSpPr>
        <p:spPr>
          <a:xfrm rot="0">
            <a:off x="8904051" y="3222976"/>
            <a:ext cx="8355249" cy="533400"/>
          </a:xfrm>
          <a:prstGeom prst="rect">
            <a:avLst/>
          </a:prstGeom>
        </p:spPr>
        <p:txBody>
          <a:bodyPr anchor="t" rtlCol="false" tIns="0" lIns="0" bIns="0" rIns="0">
            <a:spAutoFit/>
          </a:bodyPr>
          <a:lstStyle/>
          <a:p>
            <a:pPr>
              <a:lnSpc>
                <a:spcPts val="4200"/>
              </a:lnSpc>
              <a:spcBef>
                <a:spcPct val="0"/>
              </a:spcBef>
            </a:pPr>
            <a:r>
              <a:rPr lang="en-US" sz="3000">
                <a:solidFill>
                  <a:srgbClr val="FFFFFF"/>
                </a:solidFill>
                <a:latin typeface="Tenor Sans"/>
              </a:rPr>
              <a:t>MODERNISASI DALAM ISLAM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3487615" y="-2806678"/>
            <a:ext cx="7658171" cy="7644247"/>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2022201" y="-1501481"/>
            <a:ext cx="3678757" cy="3631937"/>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6425794" y="3148512"/>
            <a:ext cx="3378114" cy="3378114"/>
          </a:xfrm>
          <a:prstGeom prst="rect">
            <a:avLst/>
          </a:prstGeom>
        </p:spPr>
      </p:pic>
      <p:sp>
        <p:nvSpPr>
          <p:cNvPr name="TextBox 5" id="5"/>
          <p:cNvSpPr txBox="true"/>
          <p:nvPr/>
        </p:nvSpPr>
        <p:spPr>
          <a:xfrm rot="0">
            <a:off x="192651" y="540386"/>
            <a:ext cx="12337853" cy="996328"/>
          </a:xfrm>
          <a:prstGeom prst="rect">
            <a:avLst/>
          </a:prstGeom>
        </p:spPr>
        <p:txBody>
          <a:bodyPr anchor="t" rtlCol="false" tIns="0" lIns="0" bIns="0" rIns="0">
            <a:spAutoFit/>
          </a:bodyPr>
          <a:lstStyle/>
          <a:p>
            <a:pPr>
              <a:lnSpc>
                <a:spcPts val="7666"/>
              </a:lnSpc>
            </a:pPr>
            <a:r>
              <a:rPr lang="en-US" sz="5475">
                <a:solidFill>
                  <a:srgbClr val="FFFFFF"/>
                </a:solidFill>
                <a:latin typeface="TAN Pearl"/>
              </a:rPr>
              <a:t>Pengertian Modernitas</a:t>
            </a:r>
          </a:p>
        </p:txBody>
      </p:sp>
      <p:sp>
        <p:nvSpPr>
          <p:cNvPr name="TextBox 6" id="6"/>
          <p:cNvSpPr txBox="true"/>
          <p:nvPr/>
        </p:nvSpPr>
        <p:spPr>
          <a:xfrm rot="0">
            <a:off x="1028700" y="3600822"/>
            <a:ext cx="13523529" cy="3019425"/>
          </a:xfrm>
          <a:prstGeom prst="rect">
            <a:avLst/>
          </a:prstGeom>
        </p:spPr>
        <p:txBody>
          <a:bodyPr anchor="t" rtlCol="false" tIns="0" lIns="0" bIns="0" rIns="0">
            <a:spAutoFit/>
          </a:bodyPr>
          <a:lstStyle/>
          <a:p>
            <a:pPr algn="just">
              <a:lnSpc>
                <a:spcPts val="4800"/>
              </a:lnSpc>
            </a:pPr>
            <a:r>
              <a:rPr lang="en-US" sz="4000">
                <a:solidFill>
                  <a:srgbClr val="FFFFFF"/>
                </a:solidFill>
                <a:latin typeface="Tenor Sans Bold"/>
              </a:rPr>
              <a:t>Modernisasi Islam adalah sebuah gerakan, aliran dan paham yang ingin merekonstruksi dan mengoreksi kembali nilai-nilai yang terkandung dalam Islam untuk dapat disesuaikan dengan kebutuhan-kebutuhan dan relevansi umat Islam di zaman modern ini.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6732506" y="8217152"/>
            <a:ext cx="560936" cy="599530"/>
          </a:xfrm>
          <a:prstGeom prst="rect">
            <a:avLst/>
          </a:prstGeom>
        </p:spPr>
      </p:pic>
      <p:pic>
        <p:nvPicPr>
          <p:cNvPr name="Picture 3" id="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0" t="0" r="0" b="0"/>
          <a:stretch>
            <a:fillRect/>
          </a:stretch>
        </p:blipFill>
        <p:spPr>
          <a:xfrm flipH="false" flipV="false" rot="0">
            <a:off x="14514755" y="-1711095"/>
            <a:ext cx="5955845" cy="5955845"/>
          </a:xfrm>
          <a:prstGeom prst="rect">
            <a:avLst/>
          </a:prstGeom>
        </p:spPr>
      </p:pic>
      <p:pic>
        <p:nvPicPr>
          <p:cNvPr name="Picture 4" id="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0" t="0" r="0" b="0"/>
          <a:stretch>
            <a:fillRect/>
          </a:stretch>
        </p:blipFill>
        <p:spPr>
          <a:xfrm flipH="false" flipV="false" rot="0">
            <a:off x="16132076" y="2874015"/>
            <a:ext cx="3041853" cy="3047394"/>
          </a:xfrm>
          <a:prstGeom prst="rect">
            <a:avLst/>
          </a:prstGeom>
        </p:spPr>
      </p:pic>
      <p:pic>
        <p:nvPicPr>
          <p:cNvPr name="Picture 5" id="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0" t="0" r="0" b="0"/>
          <a:stretch>
            <a:fillRect/>
          </a:stretch>
        </p:blipFill>
        <p:spPr>
          <a:xfrm flipH="false" flipV="false" rot="0">
            <a:off x="11805836" y="-2426387"/>
            <a:ext cx="5049083" cy="4852774"/>
          </a:xfrm>
          <a:prstGeom prst="rect">
            <a:avLst/>
          </a:prstGeom>
        </p:spPr>
      </p:pic>
      <p:sp>
        <p:nvSpPr>
          <p:cNvPr name="TextBox 6" id="6"/>
          <p:cNvSpPr txBox="true"/>
          <p:nvPr/>
        </p:nvSpPr>
        <p:spPr>
          <a:xfrm rot="0">
            <a:off x="982685" y="631149"/>
            <a:ext cx="11499643" cy="905631"/>
          </a:xfrm>
          <a:prstGeom prst="rect">
            <a:avLst/>
          </a:prstGeom>
        </p:spPr>
        <p:txBody>
          <a:bodyPr anchor="t" rtlCol="false" tIns="0" lIns="0" bIns="0" rIns="0">
            <a:spAutoFit/>
          </a:bodyPr>
          <a:lstStyle/>
          <a:p>
            <a:pPr algn="ctr">
              <a:lnSpc>
                <a:spcPts val="6991"/>
              </a:lnSpc>
            </a:pPr>
            <a:r>
              <a:rPr lang="en-US" sz="4994">
                <a:solidFill>
                  <a:srgbClr val="FFFFFF"/>
                </a:solidFill>
                <a:latin typeface="TAN Pearl"/>
              </a:rPr>
              <a:t>Modernitas Menurut Islam </a:t>
            </a:r>
          </a:p>
        </p:txBody>
      </p:sp>
      <p:sp>
        <p:nvSpPr>
          <p:cNvPr name="TextBox 7" id="7"/>
          <p:cNvSpPr txBox="true"/>
          <p:nvPr/>
        </p:nvSpPr>
        <p:spPr>
          <a:xfrm rot="0">
            <a:off x="1432405" y="2816865"/>
            <a:ext cx="12704334" cy="5125333"/>
          </a:xfrm>
          <a:prstGeom prst="rect">
            <a:avLst/>
          </a:prstGeom>
        </p:spPr>
        <p:txBody>
          <a:bodyPr anchor="t" rtlCol="false" tIns="0" lIns="0" bIns="0" rIns="0">
            <a:spAutoFit/>
          </a:bodyPr>
          <a:lstStyle/>
          <a:p>
            <a:pPr algn="just">
              <a:lnSpc>
                <a:spcPts val="3626"/>
              </a:lnSpc>
            </a:pPr>
            <a:r>
              <a:rPr lang="en-US" sz="2590">
                <a:solidFill>
                  <a:srgbClr val="FFFFFF"/>
                </a:solidFill>
                <a:latin typeface="Open Sans"/>
              </a:rPr>
              <a:t>  </a:t>
            </a:r>
          </a:p>
          <a:p>
            <a:pPr algn="just">
              <a:lnSpc>
                <a:spcPts val="3626"/>
              </a:lnSpc>
            </a:pPr>
            <a:r>
              <a:rPr lang="en-US" sz="2590">
                <a:solidFill>
                  <a:srgbClr val="FFFFFF"/>
                </a:solidFill>
                <a:latin typeface="Open Sans"/>
              </a:rPr>
              <a:t>​Makna Moderasi dalam Islam oleh para ahli menyandingkannya dengan kalimat Al Wasathiyah yang berarti berada ditengah, mengandung prinsip keseimbangan atau keadilan tidak terjebak pada perbuatan ektrem, baik terlalu kiri maupun terlalu kanan dalam mempraktekkan perilaku keberagamaanya, sedangkan lawan katanya adalah ekstrim,</a:t>
            </a:r>
          </a:p>
          <a:p>
            <a:pPr algn="ctr">
              <a:lnSpc>
                <a:spcPts val="3626"/>
              </a:lnSpc>
            </a:pPr>
          </a:p>
          <a:p>
            <a:pPr algn="ctr">
              <a:lnSpc>
                <a:spcPts val="3626"/>
              </a:lnSpc>
            </a:pPr>
            <a:r>
              <a:rPr lang="en-US" sz="2590">
                <a:solidFill>
                  <a:srgbClr val="FFFFFF"/>
                </a:solidFill>
                <a:latin typeface="Open Sans"/>
              </a:rPr>
              <a:t> Periode Modern merupakan zaman kebangkitan kembali umat Islam, setelah dunia Islam mengalami kemunduran di periode pertengahan. pada periode ini banyak bermunculan pemikiran-pemikiran pembaharuan dalam Islam. </a:t>
            </a:r>
          </a:p>
          <a:p>
            <a:pPr algn="ctr">
              <a:lnSpc>
                <a:spcPts val="3626"/>
              </a:lnSpc>
            </a:pPr>
            <a:r>
              <a:rPr lang="en-US" sz="2590">
                <a:solidFill>
                  <a:srgbClr val="FFFFFF"/>
                </a:solidFill>
                <a:latin typeface="Open Sans"/>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3061759" y="5427831"/>
            <a:ext cx="7386040" cy="738604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6754779" y="3647397"/>
            <a:ext cx="4114800" cy="41148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1955473" y="8636020"/>
            <a:ext cx="3326151" cy="3301961"/>
          </a:xfrm>
          <a:prstGeom prst="rect">
            <a:avLst/>
          </a:prstGeom>
        </p:spPr>
      </p:pic>
      <p:sp>
        <p:nvSpPr>
          <p:cNvPr name="TextBox 5" id="5"/>
          <p:cNvSpPr txBox="true"/>
          <p:nvPr/>
        </p:nvSpPr>
        <p:spPr>
          <a:xfrm rot="0">
            <a:off x="478154" y="946582"/>
            <a:ext cx="14480876" cy="2724150"/>
          </a:xfrm>
          <a:prstGeom prst="rect">
            <a:avLst/>
          </a:prstGeom>
        </p:spPr>
        <p:txBody>
          <a:bodyPr anchor="t" rtlCol="false" tIns="0" lIns="0" bIns="0" rIns="0">
            <a:spAutoFit/>
          </a:bodyPr>
          <a:lstStyle/>
          <a:p>
            <a:pPr algn="just">
              <a:lnSpc>
                <a:spcPts val="4305"/>
              </a:lnSpc>
            </a:pPr>
            <a:r>
              <a:rPr lang="en-US" sz="3587">
                <a:solidFill>
                  <a:srgbClr val="FFFFFF"/>
                </a:solidFill>
                <a:latin typeface="Tenor Sans Bold"/>
              </a:rPr>
              <a:t>Yusuf Qordowi menyebutkan bahwa yang dimaksud dengan moderasi beragama dalam Islam adalah sikap yang selalu mengambil jalan tengah dari sikap yang berlebihan sehinga salah satu atau kedua sikap yang dimaksud tidak mendominasi pikiran dan sikap seseorang.</a:t>
            </a:r>
          </a:p>
        </p:txBody>
      </p:sp>
      <p:sp>
        <p:nvSpPr>
          <p:cNvPr name="TextBox 6" id="6"/>
          <p:cNvSpPr txBox="true"/>
          <p:nvPr/>
        </p:nvSpPr>
        <p:spPr>
          <a:xfrm rot="0">
            <a:off x="8976940" y="4819967"/>
            <a:ext cx="334119"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Light"/>
              </a:rPr>
              <a:t>   </a:t>
            </a:r>
          </a:p>
        </p:txBody>
      </p:sp>
      <p:sp>
        <p:nvSpPr>
          <p:cNvPr name="TextBox 7" id="7"/>
          <p:cNvSpPr txBox="true"/>
          <p:nvPr/>
        </p:nvSpPr>
        <p:spPr>
          <a:xfrm rot="0">
            <a:off x="478154" y="4225640"/>
            <a:ext cx="12220225" cy="7712340"/>
          </a:xfrm>
          <a:prstGeom prst="rect">
            <a:avLst/>
          </a:prstGeom>
        </p:spPr>
        <p:txBody>
          <a:bodyPr anchor="t" rtlCol="false" tIns="0" lIns="0" bIns="0" rIns="0">
            <a:spAutoFit/>
          </a:bodyPr>
          <a:lstStyle/>
          <a:p>
            <a:pPr algn="just">
              <a:lnSpc>
                <a:spcPts val="4360"/>
              </a:lnSpc>
            </a:pPr>
            <a:r>
              <a:rPr lang="en-US" sz="3114">
                <a:solidFill>
                  <a:srgbClr val="FFFFFF"/>
                </a:solidFill>
                <a:latin typeface="Open Sans"/>
              </a:rPr>
              <a:t>Azyumardi Azra mengutip pernyataan dari Hashim Kamali, terkait dengan moderasi islam menyebutkan bahwa wasathiyyah merupakan aspek penting Islam, akan tetapi sayangnya agak terlupakan oleh banyak umatnya.   </a:t>
            </a:r>
          </a:p>
          <a:p>
            <a:pPr algn="just">
              <a:lnSpc>
                <a:spcPts val="4360"/>
              </a:lnSpc>
            </a:pPr>
          </a:p>
          <a:p>
            <a:pPr algn="just">
              <a:lnSpc>
                <a:spcPts val="4360"/>
              </a:lnSpc>
            </a:pPr>
            <a:r>
              <a:rPr lang="en-US" sz="3114">
                <a:solidFill>
                  <a:srgbClr val="FFFFFF"/>
                </a:solidFill>
                <a:latin typeface="Open Sans"/>
              </a:rPr>
              <a:t>Akan tetapi para intelektual Muslim lebih banyak menggunakan kata moderasi ini untuk sikap atau prilaku umat Islam dari pada untuk mensifati Islam. karena kata ummatan wasathan pada QS. Al-Baqarah: 143</a:t>
            </a:r>
          </a:p>
          <a:p>
            <a:pPr algn="just">
              <a:lnSpc>
                <a:spcPts val="4360"/>
              </a:lnSpc>
            </a:pPr>
          </a:p>
          <a:p>
            <a:pPr algn="just">
              <a:lnSpc>
                <a:spcPts val="4360"/>
              </a:lnSpc>
            </a:pPr>
          </a:p>
          <a:p>
            <a:pPr algn="just">
              <a:lnSpc>
                <a:spcPts val="4360"/>
              </a:lnSpc>
            </a:pPr>
          </a:p>
          <a:p>
            <a:pPr algn="just">
              <a:lnSpc>
                <a:spcPts val="4360"/>
              </a:lnSpc>
            </a:pPr>
          </a:p>
          <a:p>
            <a:pPr algn="just">
              <a:lnSpc>
                <a:spcPts val="436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sp>
        <p:nvSpPr>
          <p:cNvPr name="TextBox 2" id="2"/>
          <p:cNvSpPr txBox="true"/>
          <p:nvPr/>
        </p:nvSpPr>
        <p:spPr>
          <a:xfrm rot="0">
            <a:off x="616721" y="847725"/>
            <a:ext cx="14420205" cy="2285365"/>
          </a:xfrm>
          <a:prstGeom prst="rect">
            <a:avLst/>
          </a:prstGeom>
        </p:spPr>
        <p:txBody>
          <a:bodyPr anchor="t" rtlCol="false" tIns="0" lIns="0" bIns="0" rIns="0">
            <a:spAutoFit/>
          </a:bodyPr>
          <a:lstStyle/>
          <a:p>
            <a:pPr>
              <a:lnSpc>
                <a:spcPts val="8959"/>
              </a:lnSpc>
            </a:pPr>
            <a:r>
              <a:rPr lang="en-US" sz="6399">
                <a:solidFill>
                  <a:srgbClr val="FFFFFF"/>
                </a:solidFill>
                <a:latin typeface="TAN Pearl"/>
              </a:rPr>
              <a:t>Contoh-contoh modernitas di islam</a:t>
            </a: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5419921" y="-1815968"/>
            <a:ext cx="3678757" cy="3631937"/>
          </a:xfrm>
          <a:prstGeom prst="rect">
            <a:avLst/>
          </a:prstGeom>
        </p:spPr>
      </p:pic>
      <p:pic>
        <p:nvPicPr>
          <p:cNvPr name="Picture 4" id="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6598943" y="0"/>
            <a:ext cx="3378114" cy="3378114"/>
          </a:xfrm>
          <a:prstGeom prst="rect">
            <a:avLst/>
          </a:prstGeom>
        </p:spPr>
      </p:pic>
      <p:sp>
        <p:nvSpPr>
          <p:cNvPr name="TextBox 5" id="5"/>
          <p:cNvSpPr txBox="true"/>
          <p:nvPr/>
        </p:nvSpPr>
        <p:spPr>
          <a:xfrm rot="0">
            <a:off x="616721" y="4057650"/>
            <a:ext cx="12388808" cy="4389438"/>
          </a:xfrm>
          <a:prstGeom prst="rect">
            <a:avLst/>
          </a:prstGeom>
        </p:spPr>
        <p:txBody>
          <a:bodyPr anchor="t" rtlCol="false" tIns="0" lIns="0" bIns="0" rIns="0">
            <a:spAutoFit/>
          </a:bodyPr>
          <a:lstStyle/>
          <a:p>
            <a:pPr algn="just">
              <a:lnSpc>
                <a:spcPts val="4320"/>
              </a:lnSpc>
            </a:pPr>
            <a:r>
              <a:rPr lang="en-US" sz="3600">
                <a:solidFill>
                  <a:srgbClr val="FFFFFF"/>
                </a:solidFill>
                <a:latin typeface="Tenor Sans Bold"/>
              </a:rPr>
              <a:t>- Adanya aplikasi keagamaan (seperti kitab suci agama) yang data dipasang di  ponsel</a:t>
            </a:r>
          </a:p>
          <a:p>
            <a:pPr algn="just">
              <a:lnSpc>
                <a:spcPts val="4320"/>
              </a:lnSpc>
            </a:pPr>
            <a:r>
              <a:rPr lang="en-US" sz="3600">
                <a:solidFill>
                  <a:srgbClr val="FFFFFF"/>
                </a:solidFill>
                <a:latin typeface="Tenor Sans Bold"/>
              </a:rPr>
              <a:t>- Adanya pendakwah/Penceramahan melalui media sosial</a:t>
            </a:r>
          </a:p>
          <a:p>
            <a:pPr algn="just">
              <a:lnSpc>
                <a:spcPts val="4320"/>
              </a:lnSpc>
            </a:pPr>
            <a:r>
              <a:rPr lang="en-US" sz="3600">
                <a:solidFill>
                  <a:srgbClr val="FFFFFF"/>
                </a:solidFill>
                <a:latin typeface="Tenor Sans Bold"/>
              </a:rPr>
              <a:t>- Adanya balajar kitab suci dipandu dengan media dan teknologi</a:t>
            </a:r>
          </a:p>
          <a:p>
            <a:pPr algn="just">
              <a:lnSpc>
                <a:spcPts val="4320"/>
              </a:lnSpc>
            </a:pPr>
            <a:r>
              <a:rPr lang="en-US" sz="3600">
                <a:solidFill>
                  <a:srgbClr val="FFFFFF"/>
                </a:solidFill>
                <a:latin typeface="Tenor Sans Bold"/>
              </a:rPr>
              <a:t> </a:t>
            </a:r>
          </a:p>
          <a:p>
            <a:pPr algn="just">
              <a:lnSpc>
                <a:spcPts val="432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EA49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4739511" y="6222861"/>
            <a:ext cx="8284755" cy="8284755"/>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3718030" y="5226866"/>
            <a:ext cx="4760049" cy="4574977"/>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0391301" y="7745641"/>
            <a:ext cx="4104927" cy="4112404"/>
          </a:xfrm>
          <a:prstGeom prst="rect">
            <a:avLst/>
          </a:prstGeom>
        </p:spPr>
      </p:pic>
      <p:grpSp>
        <p:nvGrpSpPr>
          <p:cNvPr name="Group 5" id="5"/>
          <p:cNvGrpSpPr/>
          <p:nvPr/>
        </p:nvGrpSpPr>
        <p:grpSpPr>
          <a:xfrm rot="0">
            <a:off x="3379043" y="2189412"/>
            <a:ext cx="11529914" cy="2328390"/>
            <a:chOff x="0" y="0"/>
            <a:chExt cx="15373219" cy="3104520"/>
          </a:xfrm>
        </p:grpSpPr>
        <p:sp>
          <p:nvSpPr>
            <p:cNvPr name="TextBox 6" id="6"/>
            <p:cNvSpPr txBox="true"/>
            <p:nvPr/>
          </p:nvSpPr>
          <p:spPr>
            <a:xfrm rot="0">
              <a:off x="0" y="-238125"/>
              <a:ext cx="15373219" cy="1863659"/>
            </a:xfrm>
            <a:prstGeom prst="rect">
              <a:avLst/>
            </a:prstGeom>
          </p:spPr>
          <p:txBody>
            <a:bodyPr anchor="t" rtlCol="false" tIns="0" lIns="0" bIns="0" rIns="0">
              <a:spAutoFit/>
            </a:bodyPr>
            <a:lstStyle/>
            <a:p>
              <a:pPr algn="ctr">
                <a:lnSpc>
                  <a:spcPts val="11200"/>
                </a:lnSpc>
              </a:pPr>
              <a:r>
                <a:rPr lang="en-US" sz="8000">
                  <a:solidFill>
                    <a:srgbClr val="FFFFFF"/>
                  </a:solidFill>
                  <a:latin typeface="TAN Pearl"/>
                </a:rPr>
                <a:t>LGBT</a:t>
              </a:r>
            </a:p>
          </p:txBody>
        </p:sp>
        <p:sp>
          <p:nvSpPr>
            <p:cNvPr name="TextBox 7" id="7"/>
            <p:cNvSpPr txBox="true"/>
            <p:nvPr/>
          </p:nvSpPr>
          <p:spPr>
            <a:xfrm rot="0">
              <a:off x="0" y="2253779"/>
              <a:ext cx="15373219" cy="862806"/>
            </a:xfrm>
            <a:prstGeom prst="rect">
              <a:avLst/>
            </a:prstGeom>
          </p:spPr>
          <p:txBody>
            <a:bodyPr anchor="t" rtlCol="false" tIns="0" lIns="0" bIns="0" rIns="0">
              <a:spAutoFit/>
            </a:bodyPr>
            <a:lstStyle/>
            <a:p>
              <a:pPr algn="ctr">
                <a:lnSpc>
                  <a:spcPts val="5040"/>
                </a:lnSpc>
              </a:pPr>
              <a:r>
                <a:rPr lang="en-US" sz="4200">
                  <a:solidFill>
                    <a:srgbClr val="FFFFFF"/>
                  </a:solidFill>
                  <a:latin typeface="Tenor Sans Bold"/>
                </a:rPr>
                <a:t>LESBIAN,GAY,BISEXUAL,TRANSGENDER</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3746751" y="-3766953"/>
            <a:ext cx="8284755" cy="8284755"/>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5234901" y="1417901"/>
            <a:ext cx="4760049" cy="4574977"/>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689009" y="7698703"/>
            <a:ext cx="4104927" cy="4112404"/>
          </a:xfrm>
          <a:prstGeom prst="rect">
            <a:avLst/>
          </a:prstGeom>
        </p:spPr>
      </p:pic>
      <p:sp>
        <p:nvSpPr>
          <p:cNvPr name="TextBox 5" id="5"/>
          <p:cNvSpPr txBox="true"/>
          <p:nvPr/>
        </p:nvSpPr>
        <p:spPr>
          <a:xfrm rot="0">
            <a:off x="1028700" y="340961"/>
            <a:ext cx="11529914" cy="1935419"/>
          </a:xfrm>
          <a:prstGeom prst="rect">
            <a:avLst/>
          </a:prstGeom>
        </p:spPr>
        <p:txBody>
          <a:bodyPr anchor="t" rtlCol="false" tIns="0" lIns="0" bIns="0" rIns="0">
            <a:spAutoFit/>
          </a:bodyPr>
          <a:lstStyle/>
          <a:p>
            <a:pPr algn="ctr">
              <a:lnSpc>
                <a:spcPts val="7560"/>
              </a:lnSpc>
            </a:pPr>
            <a:r>
              <a:rPr lang="en-US" sz="5400">
                <a:solidFill>
                  <a:srgbClr val="FFFFFF"/>
                </a:solidFill>
                <a:latin typeface="TAN Pearl"/>
              </a:rPr>
              <a:t>pandangan islam terhadap LGBT </a:t>
            </a:r>
          </a:p>
        </p:txBody>
      </p:sp>
      <p:sp>
        <p:nvSpPr>
          <p:cNvPr name="TextBox 6" id="6"/>
          <p:cNvSpPr txBox="true"/>
          <p:nvPr/>
        </p:nvSpPr>
        <p:spPr>
          <a:xfrm rot="0">
            <a:off x="363454" y="3280944"/>
            <a:ext cx="11714233" cy="3667963"/>
          </a:xfrm>
          <a:prstGeom prst="rect">
            <a:avLst/>
          </a:prstGeom>
        </p:spPr>
        <p:txBody>
          <a:bodyPr anchor="t" rtlCol="false" tIns="0" lIns="0" bIns="0" rIns="0">
            <a:spAutoFit/>
          </a:bodyPr>
          <a:lstStyle/>
          <a:p>
            <a:pPr algn="just">
              <a:lnSpc>
                <a:spcPts val="3925"/>
              </a:lnSpc>
            </a:pPr>
            <a:r>
              <a:rPr lang="en-US" sz="2803">
                <a:solidFill>
                  <a:srgbClr val="FFFFFF"/>
                </a:solidFill>
                <a:latin typeface="Open Sans Light"/>
              </a:rPr>
              <a:t>Sebagaimana Allah terangkan dalam al Quran yang artinya :</a:t>
            </a:r>
          </a:p>
          <a:p>
            <a:pPr>
              <a:lnSpc>
                <a:spcPts val="3578"/>
              </a:lnSpc>
            </a:pPr>
            <a:r>
              <a:rPr lang="en-US" sz="2803">
                <a:solidFill>
                  <a:srgbClr val="FFFFFF"/>
                </a:solidFill>
                <a:latin typeface="Open Sans Light"/>
              </a:rPr>
              <a:t> “Dan (Kami juga telah mengutus) Luth (kepada kaumnya). (Ingatlah) tatkala dia berkata kepada mereka: “Mengapa kamu mengerjakan perbuatan faahisyah itu, yang belum pernah dikerjakan oleh seorangpun (di dunia ini) sebelummu. Sesungguhnya kamu mendatangi lelaki untuk melampiaskan nafsumu (kepada mereka), bukan kepada wanita, bahkan kamu ini adalah kaum yang melampaui batas.” (TQS. Al ‘Araf: 80 – 81)</a:t>
            </a:r>
          </a:p>
          <a:p>
            <a:pPr algn="ctr">
              <a:lnSpc>
                <a:spcPts val="3578"/>
              </a:lnSpc>
            </a:pPr>
          </a:p>
        </p:txBody>
      </p:sp>
      <p:sp>
        <p:nvSpPr>
          <p:cNvPr name="TextBox 7" id="7"/>
          <p:cNvSpPr txBox="true"/>
          <p:nvPr/>
        </p:nvSpPr>
        <p:spPr>
          <a:xfrm rot="0">
            <a:off x="6174896" y="6891756"/>
            <a:ext cx="11714233" cy="3348365"/>
          </a:xfrm>
          <a:prstGeom prst="rect">
            <a:avLst/>
          </a:prstGeom>
        </p:spPr>
        <p:txBody>
          <a:bodyPr anchor="t" rtlCol="false" tIns="0" lIns="0" bIns="0" rIns="0">
            <a:spAutoFit/>
          </a:bodyPr>
          <a:lstStyle/>
          <a:p>
            <a:pPr algn="r">
              <a:lnSpc>
                <a:spcPts val="3780"/>
              </a:lnSpc>
            </a:pPr>
            <a:r>
              <a:rPr lang="en-US" sz="2700">
                <a:solidFill>
                  <a:srgbClr val="FFFFFF"/>
                </a:solidFill>
                <a:latin typeface="Open Sans Light"/>
              </a:rPr>
              <a:t>Sedangkan Sihaaq (lesbian) adalah hubungan cinta birahi antara sesama wanita dengan image dua orang wanita saling menggesek-gesekkan anggota tubuh (farji’) nya antara satu dengan yang lainnya, hingga keduanya merasakan kelezatan dalam berhubungan tersebut. Hukum Sihaaq (lesbian) adalah haram. Berdasarkan dalil hadits Abu Said Al-Khudriy yang diriwayatkan oleh Al-Imam Muslim (no. 338), At-Tirmidzi (no. 2793) dan Abu Dawud (no. 4018) </a:t>
            </a:r>
          </a:p>
        </p:txBody>
      </p:sp>
      <p:sp>
        <p:nvSpPr>
          <p:cNvPr name="AutoShape 8" id="8"/>
          <p:cNvSpPr/>
          <p:nvPr/>
        </p:nvSpPr>
        <p:spPr>
          <a:xfrm rot="0">
            <a:off x="3547537" y="2456331"/>
            <a:ext cx="6492240" cy="0"/>
          </a:xfrm>
          <a:prstGeom prst="line">
            <a:avLst/>
          </a:prstGeom>
          <a:ln cap="rnd" w="47625">
            <a:solidFill>
              <a:srgbClr val="FFFFFF"/>
            </a:solidFill>
            <a:prstDash val="sysDot"/>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5197875" y="-3724660"/>
            <a:ext cx="8284755" cy="8284755"/>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6235537" y="-1011439"/>
            <a:ext cx="4760049" cy="4574977"/>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7359162" y="9258300"/>
            <a:ext cx="4104927" cy="4112404"/>
          </a:xfrm>
          <a:prstGeom prst="rect">
            <a:avLst/>
          </a:prstGeom>
        </p:spPr>
      </p:pic>
      <p:sp>
        <p:nvSpPr>
          <p:cNvPr name="TextBox 5" id="5"/>
          <p:cNvSpPr txBox="true"/>
          <p:nvPr/>
        </p:nvSpPr>
        <p:spPr>
          <a:xfrm rot="0">
            <a:off x="3086880" y="322468"/>
            <a:ext cx="13872501" cy="1811913"/>
          </a:xfrm>
          <a:prstGeom prst="rect">
            <a:avLst/>
          </a:prstGeom>
        </p:spPr>
        <p:txBody>
          <a:bodyPr anchor="t" rtlCol="false" tIns="0" lIns="0" bIns="0" rIns="0">
            <a:spAutoFit/>
          </a:bodyPr>
          <a:lstStyle/>
          <a:p>
            <a:pPr algn="ctr">
              <a:lnSpc>
                <a:spcPts val="7279"/>
              </a:lnSpc>
            </a:pPr>
            <a:r>
              <a:rPr lang="en-US" sz="5199">
                <a:solidFill>
                  <a:srgbClr val="FFFFFF"/>
                </a:solidFill>
                <a:latin typeface="Open Sans"/>
              </a:rPr>
              <a:t>Hukum dan Hukuman para pelaku LGBT menurut islam</a:t>
            </a:r>
          </a:p>
        </p:txBody>
      </p:sp>
      <p:sp>
        <p:nvSpPr>
          <p:cNvPr name="AutoShape 6" id="6"/>
          <p:cNvSpPr/>
          <p:nvPr/>
        </p:nvSpPr>
        <p:spPr>
          <a:xfrm rot="0">
            <a:off x="6777011" y="2690348"/>
            <a:ext cx="6492240" cy="0"/>
          </a:xfrm>
          <a:prstGeom prst="line">
            <a:avLst/>
          </a:prstGeom>
          <a:ln cap="rnd" w="47625">
            <a:solidFill>
              <a:srgbClr val="FFFFFF"/>
            </a:solidFill>
            <a:prstDash val="sysDot"/>
            <a:headEnd type="none" len="sm" w="sm"/>
            <a:tailEnd type="none" len="sm" w="sm"/>
          </a:ln>
        </p:spPr>
      </p:sp>
      <p:sp>
        <p:nvSpPr>
          <p:cNvPr name="TextBox 7" id="7"/>
          <p:cNvSpPr txBox="true"/>
          <p:nvPr/>
        </p:nvSpPr>
        <p:spPr>
          <a:xfrm rot="0">
            <a:off x="1572594" y="3222874"/>
            <a:ext cx="4526910" cy="6215260"/>
          </a:xfrm>
          <a:prstGeom prst="rect">
            <a:avLst/>
          </a:prstGeom>
        </p:spPr>
        <p:txBody>
          <a:bodyPr anchor="t" rtlCol="false" tIns="0" lIns="0" bIns="0" rIns="0">
            <a:spAutoFit/>
          </a:bodyPr>
          <a:lstStyle/>
          <a:p>
            <a:pPr marL="539754" indent="-269877" lvl="1">
              <a:lnSpc>
                <a:spcPts val="3500"/>
              </a:lnSpc>
              <a:buFont typeface="Arial"/>
              <a:buChar char="•"/>
            </a:pPr>
            <a:r>
              <a:rPr lang="en-US" sz="2500">
                <a:solidFill>
                  <a:srgbClr val="FFFFFF"/>
                </a:solidFill>
                <a:latin typeface="Open Sans Light"/>
              </a:rPr>
              <a:t>Hukumannya adalah dengan dibunuh, baik pelaku (fa’il) maupun obyek (maf’ul bih) bila keduanya telah baligh. Adapun keberadaannya orang yang mengerjakan perbuatan liwathdengan dzakar (penis)nya hukumannya adalah dibunuh, meskipun yang melakukannya belum menikah, sama saja baik itu fa’il (pelaku) maupun maf’ul bih. </a:t>
            </a:r>
          </a:p>
        </p:txBody>
      </p:sp>
      <p:sp>
        <p:nvSpPr>
          <p:cNvPr name="TextBox 8" id="8"/>
          <p:cNvSpPr txBox="true"/>
          <p:nvPr/>
        </p:nvSpPr>
        <p:spPr>
          <a:xfrm rot="0">
            <a:off x="6429414" y="3288447"/>
            <a:ext cx="4526910" cy="5770860"/>
          </a:xfrm>
          <a:prstGeom prst="rect">
            <a:avLst/>
          </a:prstGeom>
        </p:spPr>
        <p:txBody>
          <a:bodyPr anchor="t" rtlCol="false" tIns="0" lIns="0" bIns="0" rIns="0">
            <a:spAutoFit/>
          </a:bodyPr>
          <a:lstStyle/>
          <a:p>
            <a:pPr marL="539754" indent="-269877" lvl="1">
              <a:lnSpc>
                <a:spcPts val="3500"/>
              </a:lnSpc>
              <a:buFont typeface="Arial"/>
              <a:buChar char="•"/>
            </a:pPr>
            <a:r>
              <a:rPr lang="en-US" sz="2500">
                <a:solidFill>
                  <a:srgbClr val="FFFFFF"/>
                </a:solidFill>
                <a:latin typeface="Open Sans Light"/>
              </a:rPr>
              <a:t>Hukumannya dirajam, hal ini sebagaimana diriwayatkan oleh Al-Baihaqy dari Ali bahwa dia pernah merajam orang yang berbuat liwath. Imam Syafi’y mengatakan “Berdasarkan dalil ini, maka kita menggunakan rajam untuk menghukum orang yang berbuat liwath, baik itu muhshon (sudah menikah) atau selain muhshon. </a:t>
            </a:r>
          </a:p>
        </p:txBody>
      </p:sp>
      <p:sp>
        <p:nvSpPr>
          <p:cNvPr name="TextBox 9" id="9"/>
          <p:cNvSpPr txBox="true"/>
          <p:nvPr/>
        </p:nvSpPr>
        <p:spPr>
          <a:xfrm rot="0">
            <a:off x="11708626" y="3288447"/>
            <a:ext cx="4526910" cy="882451"/>
          </a:xfrm>
          <a:prstGeom prst="rect">
            <a:avLst/>
          </a:prstGeom>
        </p:spPr>
        <p:txBody>
          <a:bodyPr anchor="t" rtlCol="false" tIns="0" lIns="0" bIns="0" rIns="0">
            <a:spAutoFit/>
          </a:bodyPr>
          <a:lstStyle/>
          <a:p>
            <a:pPr marL="539754" indent="-269877" lvl="1">
              <a:lnSpc>
                <a:spcPts val="3500"/>
              </a:lnSpc>
              <a:buFont typeface="Arial"/>
              <a:buChar char="•"/>
            </a:pPr>
            <a:r>
              <a:rPr lang="en-US" sz="2500">
                <a:solidFill>
                  <a:srgbClr val="FFFFFF"/>
                </a:solidFill>
                <a:latin typeface="Open Sans Light"/>
              </a:rPr>
              <a:t>Hukumannya sama dengan hukuman berzina. </a:t>
            </a:r>
          </a:p>
        </p:txBody>
      </p:sp>
      <p:sp>
        <p:nvSpPr>
          <p:cNvPr name="TextBox 10" id="10"/>
          <p:cNvSpPr txBox="true"/>
          <p:nvPr/>
        </p:nvSpPr>
        <p:spPr>
          <a:xfrm rot="0">
            <a:off x="11708626" y="4502945"/>
            <a:ext cx="5550674" cy="3548856"/>
          </a:xfrm>
          <a:prstGeom prst="rect">
            <a:avLst/>
          </a:prstGeom>
        </p:spPr>
        <p:txBody>
          <a:bodyPr anchor="t" rtlCol="false" tIns="0" lIns="0" bIns="0" rIns="0">
            <a:spAutoFit/>
          </a:bodyPr>
          <a:lstStyle/>
          <a:p>
            <a:pPr marL="539754" indent="-269877" lvl="1">
              <a:lnSpc>
                <a:spcPts val="3500"/>
              </a:lnSpc>
              <a:buFont typeface="Arial"/>
              <a:buChar char="•"/>
            </a:pPr>
            <a:r>
              <a:rPr lang="en-US" sz="2500">
                <a:solidFill>
                  <a:srgbClr val="FFFFFF"/>
                </a:solidFill>
                <a:latin typeface="Open Sans Light"/>
              </a:rPr>
              <a:t>Hukumannya dengan ta’zir, sebagaimana telah berkata Abu Hanifah hukuman bagi yang melakukan liwath adalah di-ta’zir,bukan dijilid (cambuk) dan bukan pula dirajam.Abu Hanifah memandang perilaku homoseksual cukup dengan ta‘zir. </a:t>
            </a:r>
          </a:p>
        </p:txBody>
      </p:sp>
      <p:sp>
        <p:nvSpPr>
          <p:cNvPr name="TextBox 11" id="11"/>
          <p:cNvSpPr txBox="true"/>
          <p:nvPr/>
        </p:nvSpPr>
        <p:spPr>
          <a:xfrm rot="0">
            <a:off x="11708626" y="8347770"/>
            <a:ext cx="4946796" cy="882451"/>
          </a:xfrm>
          <a:prstGeom prst="rect">
            <a:avLst/>
          </a:prstGeom>
        </p:spPr>
        <p:txBody>
          <a:bodyPr anchor="t" rtlCol="false" tIns="0" lIns="0" bIns="0" rIns="0">
            <a:spAutoFit/>
          </a:bodyPr>
          <a:lstStyle/>
          <a:p>
            <a:pPr marL="539754" indent="-269877" lvl="1">
              <a:lnSpc>
                <a:spcPts val="3500"/>
              </a:lnSpc>
              <a:buFont typeface="Arial"/>
              <a:buChar char="•"/>
            </a:pPr>
            <a:r>
              <a:rPr lang="en-US" sz="2500">
                <a:solidFill>
                  <a:srgbClr val="FFFFFF"/>
                </a:solidFill>
                <a:latin typeface="Open Sans Light"/>
              </a:rPr>
              <a:t>Para pelaku lesbian juga hukumanya iaah ta'zir</a:t>
            </a: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4587942" y="9620115"/>
            <a:ext cx="4104927" cy="4112404"/>
          </a:xfrm>
          <a:prstGeom prst="rect">
            <a:avLst/>
          </a:prstGeom>
        </p:spPr>
      </p:pic>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0077098" y="9620115"/>
            <a:ext cx="4104927" cy="4112404"/>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7D35"/>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4895842" y="6038842"/>
            <a:ext cx="8496316" cy="8496316"/>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3773467" y="6038842"/>
            <a:ext cx="3378114" cy="3378114"/>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0951767" y="7556020"/>
            <a:ext cx="4122295" cy="4114800"/>
          </a:xfrm>
          <a:prstGeom prst="rect">
            <a:avLst/>
          </a:prstGeom>
        </p:spPr>
      </p:pic>
      <p:grpSp>
        <p:nvGrpSpPr>
          <p:cNvPr name="Group 5" id="5"/>
          <p:cNvGrpSpPr/>
          <p:nvPr/>
        </p:nvGrpSpPr>
        <p:grpSpPr>
          <a:xfrm rot="0">
            <a:off x="3369518" y="2189412"/>
            <a:ext cx="11529914" cy="2304548"/>
            <a:chOff x="0" y="0"/>
            <a:chExt cx="15373219" cy="3072731"/>
          </a:xfrm>
        </p:grpSpPr>
        <p:sp>
          <p:nvSpPr>
            <p:cNvPr name="TextBox 6" id="6"/>
            <p:cNvSpPr txBox="true"/>
            <p:nvPr/>
          </p:nvSpPr>
          <p:spPr>
            <a:xfrm rot="0">
              <a:off x="0" y="-238125"/>
              <a:ext cx="15373219" cy="1863659"/>
            </a:xfrm>
            <a:prstGeom prst="rect">
              <a:avLst/>
            </a:prstGeom>
          </p:spPr>
          <p:txBody>
            <a:bodyPr anchor="t" rtlCol="false" tIns="0" lIns="0" bIns="0" rIns="0">
              <a:spAutoFit/>
            </a:bodyPr>
            <a:lstStyle/>
            <a:p>
              <a:pPr algn="ctr">
                <a:lnSpc>
                  <a:spcPts val="11200"/>
                </a:lnSpc>
              </a:pPr>
              <a:r>
                <a:rPr lang="en-US" sz="8000">
                  <a:solidFill>
                    <a:srgbClr val="FFFFFF"/>
                  </a:solidFill>
                  <a:latin typeface="TAN Pearl"/>
                </a:rPr>
                <a:t>PANDEMI</a:t>
              </a:r>
            </a:p>
          </p:txBody>
        </p:sp>
        <p:sp>
          <p:nvSpPr>
            <p:cNvPr name="TextBox 7" id="7"/>
            <p:cNvSpPr txBox="true"/>
            <p:nvPr/>
          </p:nvSpPr>
          <p:spPr>
            <a:xfrm rot="0">
              <a:off x="0" y="2244254"/>
              <a:ext cx="15373219" cy="831652"/>
            </a:xfrm>
            <a:prstGeom prst="rect">
              <a:avLst/>
            </a:prstGeom>
          </p:spPr>
          <p:txBody>
            <a:bodyPr anchor="t" rtlCol="false" tIns="0" lIns="0" bIns="0" rIns="0">
              <a:spAutoFit/>
            </a:bodyPr>
            <a:lstStyle/>
            <a:p>
              <a:pPr algn="ctr">
                <a:lnSpc>
                  <a:spcPts val="4800"/>
                </a:lnSpc>
              </a:pPr>
              <a:r>
                <a:rPr lang="en-US" sz="4000">
                  <a:solidFill>
                    <a:srgbClr val="FFFFFF"/>
                  </a:solidFill>
                  <a:latin typeface="Tenor Sans Bold"/>
                </a:rPr>
                <a:t>COVID-19</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3505202" y="1638298"/>
            <a:ext cx="7010403" cy="7010403"/>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614729" y="5841620"/>
            <a:ext cx="3041853" cy="3047394"/>
          </a:xfrm>
          <a:prstGeom prst="rect">
            <a:avLst/>
          </a:prstGeom>
        </p:spPr>
      </p:pic>
      <p:sp>
        <p:nvSpPr>
          <p:cNvPr name="TextBox 4" id="4"/>
          <p:cNvSpPr txBox="true"/>
          <p:nvPr/>
        </p:nvSpPr>
        <p:spPr>
          <a:xfrm rot="0">
            <a:off x="6579836" y="3192987"/>
            <a:ext cx="10481556" cy="6512847"/>
          </a:xfrm>
          <a:prstGeom prst="rect">
            <a:avLst/>
          </a:prstGeom>
        </p:spPr>
        <p:txBody>
          <a:bodyPr anchor="t" rtlCol="false" tIns="0" lIns="0" bIns="0" rIns="0">
            <a:spAutoFit/>
          </a:bodyPr>
          <a:lstStyle/>
          <a:p>
            <a:pPr>
              <a:lnSpc>
                <a:spcPts val="5119"/>
              </a:lnSpc>
            </a:pPr>
            <a:r>
              <a:rPr lang="en-US" sz="3656">
                <a:solidFill>
                  <a:srgbClr val="FFFFFF"/>
                </a:solidFill>
                <a:latin typeface="TAN Pearl"/>
              </a:rPr>
              <a:t>Pandemi adalah wabah yang berjangkit serempak di mana-mana, meliputi daerah geografis yang luas. Pandemi merupakan epidemi yang menyebar hampir di seluruh negara atau benua, biasanya mengenai banyak orang. Contoh penyakit yang menjadi pandemi adalah </a:t>
            </a:r>
            <a:r>
              <a:rPr lang="en-US" sz="116">
                <a:solidFill>
                  <a:srgbClr val="FFFFFF"/>
                </a:solidFill>
                <a:latin typeface="Arimo"/>
              </a:rPr>
              <a:t>Coronavirus disease 2019 (Covid-19).</a:t>
            </a:r>
          </a:p>
        </p:txBody>
      </p:sp>
      <p:sp>
        <p:nvSpPr>
          <p:cNvPr name="TextBox 5" id="5"/>
          <p:cNvSpPr txBox="true"/>
          <p:nvPr/>
        </p:nvSpPr>
        <p:spPr>
          <a:xfrm rot="0">
            <a:off x="6579836" y="1429771"/>
            <a:ext cx="8685366" cy="908241"/>
          </a:xfrm>
          <a:prstGeom prst="rect">
            <a:avLst/>
          </a:prstGeom>
        </p:spPr>
        <p:txBody>
          <a:bodyPr anchor="t" rtlCol="false" tIns="0" lIns="0" bIns="0" rIns="0">
            <a:spAutoFit/>
          </a:bodyPr>
          <a:lstStyle/>
          <a:p>
            <a:pPr>
              <a:lnSpc>
                <a:spcPts val="7078"/>
              </a:lnSpc>
            </a:pPr>
            <a:r>
              <a:rPr lang="en-US" sz="5898">
                <a:solidFill>
                  <a:srgbClr val="FFFFFF"/>
                </a:solidFill>
                <a:latin typeface="Tenor Sans Bold"/>
              </a:rPr>
              <a:t>PENGERTIAN</a:t>
            </a:r>
          </a:p>
        </p:txBody>
      </p:sp>
      <p:pic>
        <p:nvPicPr>
          <p:cNvPr name="Picture 6" id="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375326" y="603475"/>
            <a:ext cx="4281256" cy="4114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3061759" y="5427831"/>
            <a:ext cx="7386040" cy="7386040"/>
          </a:xfrm>
          <a:prstGeom prst="rect">
            <a:avLst/>
          </a:prstGeom>
        </p:spPr>
      </p:pic>
      <p:pic>
        <p:nvPicPr>
          <p:cNvPr name="Picture 3" id="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6754779" y="3647397"/>
            <a:ext cx="4114800" cy="4114800"/>
          </a:xfrm>
          <a:prstGeom prst="rect">
            <a:avLst/>
          </a:prstGeom>
        </p:spPr>
      </p:pic>
      <p:pic>
        <p:nvPicPr>
          <p:cNvPr name="Picture 4" id="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1955473" y="8636020"/>
            <a:ext cx="3326151" cy="3301961"/>
          </a:xfrm>
          <a:prstGeom prst="rect">
            <a:avLst/>
          </a:prstGeom>
        </p:spPr>
      </p:pic>
      <p:sp>
        <p:nvSpPr>
          <p:cNvPr name="TextBox 5" id="5"/>
          <p:cNvSpPr txBox="true"/>
          <p:nvPr/>
        </p:nvSpPr>
        <p:spPr>
          <a:xfrm rot="0">
            <a:off x="1276009" y="3635245"/>
            <a:ext cx="10679464" cy="5485606"/>
          </a:xfrm>
          <a:prstGeom prst="rect">
            <a:avLst/>
          </a:prstGeom>
        </p:spPr>
        <p:txBody>
          <a:bodyPr anchor="t" rtlCol="false" tIns="0" lIns="0" bIns="0" rIns="0">
            <a:spAutoFit/>
          </a:bodyPr>
          <a:lstStyle/>
          <a:p>
            <a:pPr algn="ctr">
              <a:lnSpc>
                <a:spcPts val="5440"/>
              </a:lnSpc>
              <a:spcBef>
                <a:spcPct val="0"/>
              </a:spcBef>
            </a:pPr>
            <a:r>
              <a:rPr lang="en-US" sz="3200">
                <a:solidFill>
                  <a:srgbClr val="FFFFFF"/>
                </a:solidFill>
                <a:latin typeface="Tenor Sans"/>
              </a:rPr>
              <a:t>Penyebaran virus covid 19 semakin hari semakin bertambah banyak. Tidak hanya orang dewasa, bahkan balita pun beresiko tertular wabah covid 19 yang membuat masyarakat semakin cemas dan gelisah. Namun demikian, sebagai umat beragama pandemi Covid-19 justru menjadi peluang mendulang berbagai amal utama, tidak hanya ibadah kepada Allah tetapi juga kebaikan terhadap sesama manusia</a:t>
            </a:r>
          </a:p>
        </p:txBody>
      </p:sp>
      <p:sp>
        <p:nvSpPr>
          <p:cNvPr name="TextBox 6" id="6"/>
          <p:cNvSpPr txBox="true"/>
          <p:nvPr/>
        </p:nvSpPr>
        <p:spPr>
          <a:xfrm rot="0">
            <a:off x="4987624" y="866775"/>
            <a:ext cx="10679464" cy="2722165"/>
          </a:xfrm>
          <a:prstGeom prst="rect">
            <a:avLst/>
          </a:prstGeom>
        </p:spPr>
        <p:txBody>
          <a:bodyPr anchor="t" rtlCol="false" tIns="0" lIns="0" bIns="0" rIns="0">
            <a:spAutoFit/>
          </a:bodyPr>
          <a:lstStyle/>
          <a:p>
            <a:pPr algn="ctr">
              <a:lnSpc>
                <a:spcPts val="5440"/>
              </a:lnSpc>
              <a:spcBef>
                <a:spcPct val="0"/>
              </a:spcBef>
            </a:pPr>
            <a:r>
              <a:rPr lang="en-US" sz="3200">
                <a:solidFill>
                  <a:srgbClr val="FFFFFF"/>
                </a:solidFill>
                <a:latin typeface="Tenor Sans"/>
              </a:rPr>
              <a:t>Pada saat ini kita seang menghadapi pandemi yang sudah terjadi sejak tahun 2019. PANDEMI COVID-19 merupakan pandemi yang saat ini tengah meelanda dunia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sp>
        <p:nvSpPr>
          <p:cNvPr name="TextBox 2" id="2"/>
          <p:cNvSpPr txBox="true"/>
          <p:nvPr/>
        </p:nvSpPr>
        <p:spPr>
          <a:xfrm rot="0">
            <a:off x="0" y="2573634"/>
            <a:ext cx="12124404" cy="1092047"/>
          </a:xfrm>
          <a:prstGeom prst="rect">
            <a:avLst/>
          </a:prstGeom>
        </p:spPr>
        <p:txBody>
          <a:bodyPr anchor="t" rtlCol="false" tIns="0" lIns="0" bIns="0" rIns="0">
            <a:spAutoFit/>
          </a:bodyPr>
          <a:lstStyle/>
          <a:p>
            <a:pPr algn="ctr">
              <a:lnSpc>
                <a:spcPts val="4314"/>
              </a:lnSpc>
            </a:pPr>
            <a:r>
              <a:rPr lang="en-US" sz="2696">
                <a:solidFill>
                  <a:srgbClr val="FFFFFF"/>
                </a:solidFill>
                <a:latin typeface="TAN Pearl Bold"/>
              </a:rPr>
              <a:t>-Meningkatkan kualitas ibadah serta memperbanyak dzikir dan memperkuat doa</a:t>
            </a:r>
          </a:p>
        </p:txBody>
      </p:sp>
      <p:pic>
        <p:nvPicPr>
          <p:cNvPr name="Picture 3" id="3"/>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5473841" y="7377962"/>
            <a:ext cx="7465893" cy="7465893"/>
          </a:xfrm>
          <a:prstGeom prst="rect">
            <a:avLst/>
          </a:prstGeom>
        </p:spPr>
      </p:pic>
      <p:pic>
        <p:nvPicPr>
          <p:cNvPr name="Picture 4" id="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3994931" y="7704505"/>
            <a:ext cx="2957821" cy="2941687"/>
          </a:xfrm>
          <a:prstGeom prst="rect">
            <a:avLst/>
          </a:prstGeom>
        </p:spPr>
      </p:pic>
      <p:sp>
        <p:nvSpPr>
          <p:cNvPr name="TextBox 5" id="5"/>
          <p:cNvSpPr txBox="true"/>
          <p:nvPr/>
        </p:nvSpPr>
        <p:spPr>
          <a:xfrm rot="0">
            <a:off x="5510207" y="1009650"/>
            <a:ext cx="7267586" cy="1237952"/>
          </a:xfrm>
          <a:prstGeom prst="rect">
            <a:avLst/>
          </a:prstGeom>
        </p:spPr>
        <p:txBody>
          <a:bodyPr anchor="t" rtlCol="false" tIns="0" lIns="0" bIns="0" rIns="0">
            <a:spAutoFit/>
          </a:bodyPr>
          <a:lstStyle/>
          <a:p>
            <a:pPr algn="ctr">
              <a:lnSpc>
                <a:spcPts val="4800"/>
              </a:lnSpc>
            </a:pPr>
            <a:r>
              <a:rPr lang="en-US" sz="4000">
                <a:solidFill>
                  <a:srgbClr val="FFFFFF"/>
                </a:solidFill>
                <a:latin typeface="Tenor Sans Bold"/>
              </a:rPr>
              <a:t>HIKMAH YANG DAPAT DIAMBIL</a:t>
            </a:r>
          </a:p>
        </p:txBody>
      </p:sp>
      <p:pic>
        <p:nvPicPr>
          <p:cNvPr name="Picture 6" id="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10641610" y="7377962"/>
            <a:ext cx="4042666" cy="3885486"/>
          </a:xfrm>
          <a:prstGeom prst="rect">
            <a:avLst/>
          </a:prstGeom>
        </p:spPr>
      </p:pic>
      <p:sp>
        <p:nvSpPr>
          <p:cNvPr name="TextBox 7" id="7"/>
          <p:cNvSpPr txBox="true"/>
          <p:nvPr/>
        </p:nvSpPr>
        <p:spPr>
          <a:xfrm rot="0">
            <a:off x="260721" y="4141428"/>
            <a:ext cx="12124404" cy="544211"/>
          </a:xfrm>
          <a:prstGeom prst="rect">
            <a:avLst/>
          </a:prstGeom>
        </p:spPr>
        <p:txBody>
          <a:bodyPr anchor="t" rtlCol="false" tIns="0" lIns="0" bIns="0" rIns="0">
            <a:spAutoFit/>
          </a:bodyPr>
          <a:lstStyle/>
          <a:p>
            <a:pPr algn="ctr">
              <a:lnSpc>
                <a:spcPts val="4314"/>
              </a:lnSpc>
            </a:pPr>
            <a:r>
              <a:rPr lang="en-US" sz="2696">
                <a:solidFill>
                  <a:srgbClr val="FFFFFF"/>
                </a:solidFill>
                <a:latin typeface="TAN Pearl Bold"/>
              </a:rPr>
              <a:t>-Menjaga kebersihan diri serta lingkungannya</a:t>
            </a:r>
          </a:p>
        </p:txBody>
      </p:sp>
      <p:sp>
        <p:nvSpPr>
          <p:cNvPr name="TextBox 8" id="8"/>
          <p:cNvSpPr txBox="true"/>
          <p:nvPr/>
        </p:nvSpPr>
        <p:spPr>
          <a:xfrm rot="0">
            <a:off x="2559872" y="5010150"/>
            <a:ext cx="12124404" cy="544211"/>
          </a:xfrm>
          <a:prstGeom prst="rect">
            <a:avLst/>
          </a:prstGeom>
        </p:spPr>
        <p:txBody>
          <a:bodyPr anchor="t" rtlCol="false" tIns="0" lIns="0" bIns="0" rIns="0">
            <a:spAutoFit/>
          </a:bodyPr>
          <a:lstStyle/>
          <a:p>
            <a:pPr algn="ctr">
              <a:lnSpc>
                <a:spcPts val="4314"/>
              </a:lnSpc>
            </a:pPr>
            <a:r>
              <a:rPr lang="en-US" sz="2696">
                <a:solidFill>
                  <a:srgbClr val="FFFFFF"/>
                </a:solidFill>
                <a:latin typeface="TAN Pearl Bold"/>
              </a:rPr>
              <a:t>-Meningkatkan rasa solidaritas antar sesama</a:t>
            </a:r>
          </a:p>
        </p:txBody>
      </p:sp>
      <p:sp>
        <p:nvSpPr>
          <p:cNvPr name="TextBox 9" id="9"/>
          <p:cNvSpPr txBox="true"/>
          <p:nvPr/>
        </p:nvSpPr>
        <p:spPr>
          <a:xfrm rot="0">
            <a:off x="6600741" y="6064621"/>
            <a:ext cx="12124404" cy="1639883"/>
          </a:xfrm>
          <a:prstGeom prst="rect">
            <a:avLst/>
          </a:prstGeom>
        </p:spPr>
        <p:txBody>
          <a:bodyPr anchor="t" rtlCol="false" tIns="0" lIns="0" bIns="0" rIns="0">
            <a:spAutoFit/>
          </a:bodyPr>
          <a:lstStyle/>
          <a:p>
            <a:pPr algn="ctr">
              <a:lnSpc>
                <a:spcPts val="4314"/>
              </a:lnSpc>
            </a:pPr>
            <a:r>
              <a:rPr lang="en-US" sz="2696">
                <a:solidFill>
                  <a:srgbClr val="FFFFFF"/>
                </a:solidFill>
                <a:latin typeface="TAN Pearl Bold"/>
              </a:rPr>
              <a:t>-Menumbuhkan rasa syukur atas segala nikmat dan karunia yang telah Allah berikan</a:t>
            </a:r>
          </a:p>
          <a:p>
            <a:pPr algn="ctr">
              <a:lnSpc>
                <a:spcPts val="4314"/>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71717"/>
        </a:solidFill>
      </p:bgPr>
    </p:bg>
    <p:spTree>
      <p:nvGrpSpPr>
        <p:cNvPr id="1" name=""/>
        <p:cNvGrpSpPr/>
        <p:nvPr/>
      </p:nvGrpSpPr>
      <p:grpSpPr>
        <a:xfrm>
          <a:off x="0" y="0"/>
          <a:ext cx="0" cy="0"/>
          <a:chOff x="0" y="0"/>
          <a:chExt cx="0" cy="0"/>
        </a:xfrm>
      </p:grpSpPr>
      <p:sp>
        <p:nvSpPr>
          <p:cNvPr name="TextBox 2" id="2"/>
          <p:cNvSpPr txBox="true"/>
          <p:nvPr/>
        </p:nvSpPr>
        <p:spPr>
          <a:xfrm rot="0">
            <a:off x="4991059" y="2584675"/>
            <a:ext cx="12268241" cy="5903446"/>
          </a:xfrm>
          <a:prstGeom prst="rect">
            <a:avLst/>
          </a:prstGeom>
        </p:spPr>
        <p:txBody>
          <a:bodyPr anchor="t" rtlCol="false" tIns="0" lIns="0" bIns="0" rIns="0">
            <a:spAutoFit/>
          </a:bodyPr>
          <a:lstStyle/>
          <a:p>
            <a:pPr>
              <a:lnSpc>
                <a:spcPts val="3359"/>
              </a:lnSpc>
            </a:pPr>
            <a:r>
              <a:rPr lang="en-US" sz="2400">
                <a:solidFill>
                  <a:srgbClr val="FFFFFF"/>
                </a:solidFill>
                <a:latin typeface="TAN Pearl"/>
              </a:rPr>
              <a:t>Islam dan modernisasi adalah dua hal yang harus berjalan secara beriringan dan saling berkaitan. Namun, pada kenyataannya dua hal tersebut saling bertolak belakang. Seiring kemajuan zaman dan teknologi, hal hal yang pada dasarnya haram dan tidak boleh di lakukan karena melanggar syariat menjadi suatu hal yang dianggap normal oleh Sebagian pihak. Misalnya LGBT atau yang biasa kita kenal sebagai golongan penyuka sesama jenis. Hal ini memicu murka Allah SWT kepada golongan tersebut Sebagaimana kisah kaum nabi luth yang diceritakan didalam Al-Quran. Boleh jadi pandemi virus 19 yang kita alami saat ini juga merupakan salah satu bentuk peringatan dari Allah SWT yang maha kuasa atas segala sesuatu kepada kita semua agar senantiasa berada pada tuntunan dan ajarannya.</a:t>
            </a:r>
          </a:p>
          <a:p>
            <a:pPr>
              <a:lnSpc>
                <a:spcPts val="2641"/>
              </a:lnSpc>
            </a:pPr>
          </a:p>
        </p:txBody>
      </p:sp>
      <p:sp>
        <p:nvSpPr>
          <p:cNvPr name="TextBox 3" id="3"/>
          <p:cNvSpPr txBox="true"/>
          <p:nvPr/>
        </p:nvSpPr>
        <p:spPr>
          <a:xfrm rot="0">
            <a:off x="6579836" y="1709510"/>
            <a:ext cx="5889857" cy="628584"/>
          </a:xfrm>
          <a:prstGeom prst="rect">
            <a:avLst/>
          </a:prstGeom>
        </p:spPr>
        <p:txBody>
          <a:bodyPr anchor="t" rtlCol="false" tIns="0" lIns="0" bIns="0" rIns="0">
            <a:spAutoFit/>
          </a:bodyPr>
          <a:lstStyle/>
          <a:p>
            <a:pPr>
              <a:lnSpc>
                <a:spcPts val="4800"/>
              </a:lnSpc>
            </a:pPr>
            <a:r>
              <a:rPr lang="en-US" sz="4000">
                <a:solidFill>
                  <a:srgbClr val="FFFFFF"/>
                </a:solidFill>
                <a:latin typeface="Tenor Sans Bold"/>
              </a:rPr>
              <a:t>KESIMPULAN</a:t>
            </a: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3505202" y="1638298"/>
            <a:ext cx="7010403" cy="7010403"/>
          </a:xfrm>
          <a:prstGeom prst="rect">
            <a:avLst/>
          </a:prstGeom>
        </p:spPr>
      </p:pic>
      <p:pic>
        <p:nvPicPr>
          <p:cNvPr name="Picture 5" id="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0" t="0" r="0" b="0"/>
          <a:stretch>
            <a:fillRect/>
          </a:stretch>
        </p:blipFill>
        <p:spPr>
          <a:xfrm flipH="false" flipV="false" rot="0">
            <a:off x="1614729" y="5841620"/>
            <a:ext cx="3041853" cy="3047394"/>
          </a:xfrm>
          <a:prstGeom prst="rect">
            <a:avLst/>
          </a:prstGeom>
        </p:spPr>
      </p:pic>
      <p:pic>
        <p:nvPicPr>
          <p:cNvPr name="Picture 6" id="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0" t="0" r="0" b="0"/>
          <a:stretch>
            <a:fillRect/>
          </a:stretch>
        </p:blipFill>
        <p:spPr>
          <a:xfrm flipH="false" flipV="false" rot="0">
            <a:off x="375326" y="603475"/>
            <a:ext cx="4281256"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DAEwdab6yWg</dc:identifier>
  <dcterms:modified xsi:type="dcterms:W3CDTF">2011-08-01T06:04:30Z</dcterms:modified>
  <cp:revision>1</cp:revision>
  <dc:title>Presentasi Seru Game  Trivia Bentuk dan Pola Abstrak Warna-warni Gelap</dc:title>
</cp:coreProperties>
</file>