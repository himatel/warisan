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63" r:id="rId3"/>
    <p:sldId id="279" r:id="rId4"/>
    <p:sldId id="258" r:id="rId5"/>
    <p:sldId id="259" r:id="rId6"/>
    <p:sldId id="264" r:id="rId7"/>
    <p:sldId id="260" r:id="rId8"/>
    <p:sldId id="261" r:id="rId9"/>
    <p:sldId id="262" r:id="rId10"/>
    <p:sldId id="266" r:id="rId11"/>
    <p:sldId id="275" r:id="rId12"/>
    <p:sldId id="267" r:id="rId13"/>
    <p:sldId id="276" r:id="rId14"/>
    <p:sldId id="268" r:id="rId15"/>
    <p:sldId id="280" r:id="rId16"/>
    <p:sldId id="269" r:id="rId17"/>
    <p:sldId id="270" r:id="rId18"/>
    <p:sldId id="271" r:id="rId19"/>
    <p:sldId id="272" r:id="rId20"/>
    <p:sldId id="281" r:id="rId21"/>
    <p:sldId id="273" r:id="rId22"/>
    <p:sldId id="274" r:id="rId23"/>
    <p:sldId id="28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3A2F"/>
    <a:srgbClr val="DCCAC2"/>
    <a:srgbClr val="CAAEA2"/>
    <a:srgbClr val="A1715B"/>
    <a:srgbClr val="421D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D4EDC-573E-4F1D-BD8D-F8409A9359E9}" type="datetimeFigureOut">
              <a:rPr lang="en-ID" smtClean="0"/>
              <a:t>21/11/2022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BDD17-E19E-4A15-B5A4-125B48C899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4937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D7F3-932B-56B9-8408-B59B2A38A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97F5B-173B-71A1-6EE3-B2C903225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A5DDD-2D3E-2C06-D1D9-B237B1AD0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B895-6A45-4CCB-9C05-3488ED18CD70}" type="datetimeFigureOut">
              <a:rPr lang="en-ID" smtClean="0"/>
              <a:t>21/11/2022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7DDD8-65BC-CEFA-622D-1DD20A235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A042F-AB43-10DF-59FF-B0563EB6D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7846-4180-4630-94DD-2D57F0ED4C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83207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647C-A98A-2C6C-CFCA-75E12B85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D2884-F2BB-8124-9580-195BDF9AA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BADE5-E2C7-76ED-FE75-1AC41C106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B895-6A45-4CCB-9C05-3488ED18CD70}" type="datetimeFigureOut">
              <a:rPr lang="en-ID" smtClean="0"/>
              <a:t>21/11/2022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65C2B-34BB-03A8-1CBB-E3DBA40C4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41561-EDDA-8CF1-0DFE-A6D41B081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7846-4180-4630-94DD-2D57F0ED4C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6267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EF865-EC11-CD54-7F8A-B59DBEFC5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92224-F59E-5408-DD03-BEB2CF23B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EFF8-5518-0258-96E3-7DEF25EE6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B895-6A45-4CCB-9C05-3488ED18CD70}" type="datetimeFigureOut">
              <a:rPr lang="en-ID" smtClean="0"/>
              <a:t>21/11/2022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E8BD7-2A2B-7FBA-C087-7C72A2826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EB5AA-2B7C-EEAA-9DC5-69EFB32DD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7846-4180-4630-94DD-2D57F0ED4C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08700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0AB33-8764-C7FD-A0E5-1113D9D77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82319-7319-2438-8968-5F7015A9C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9C04C-E9A5-664E-96B1-4EAED7BAD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8E459-2B45-EA32-038C-24EED8A25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B895-6A45-4CCB-9C05-3488ED18CD70}" type="datetimeFigureOut">
              <a:rPr lang="en-ID" smtClean="0"/>
              <a:t>21/11/2022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8427F-7E01-7A23-1BA5-F2C2AB1E5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18514-40CD-3BDF-C087-79532AF55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7846-4180-4630-94DD-2D57F0ED4C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4680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D0014-5491-E178-B3D9-0A0FDE0F7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3064E-90C3-3868-FF16-2FFE900BB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F24B4-A2CC-9BED-F5E8-2B114916C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DE8-4D3B-D85C-1A90-13BB6AAE0E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4D7CF-459F-0F46-AB45-3E5B3510E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4D247-C26E-A7E0-9E8B-9EC102D10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B895-6A45-4CCB-9C05-3488ED18CD70}" type="datetimeFigureOut">
              <a:rPr lang="en-ID" smtClean="0"/>
              <a:t>21/11/2022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45BB38-22E8-8B2F-0F78-BCBC274D8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E24766-7FB1-A4D4-3A49-0364FB32E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7846-4180-4630-94DD-2D57F0ED4C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2271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1054-A431-8A7C-1488-565969B54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8E257-3F1A-6D69-B6F1-DCB077C04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B895-6A45-4CCB-9C05-3488ED18CD70}" type="datetimeFigureOut">
              <a:rPr lang="en-ID" smtClean="0"/>
              <a:t>21/11/2022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9F58B-FC35-C05A-1388-9C5A2C1CB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259BE-FCF9-4D17-8D41-76CA79AE5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7846-4180-4630-94DD-2D57F0ED4C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0605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5CE28-8C6E-AB9F-E40D-3EFA3BBDA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B895-6A45-4CCB-9C05-3488ED18CD70}" type="datetimeFigureOut">
              <a:rPr lang="en-ID" smtClean="0"/>
              <a:t>21/11/2022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DFD4B5-D5D6-E4A1-1B02-BE3E5D8E0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175E4-C752-00C3-FB47-1DD94DA48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7846-4180-4630-94DD-2D57F0ED4C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07580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921A-C5BC-AD96-8CE9-26083ECC3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C8083-9592-ED79-657D-B5073044A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B9D75-5DCD-6463-D2F0-91DCEB20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30F3F-094E-2D42-A0B6-04D818862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B895-6A45-4CCB-9C05-3488ED18CD70}" type="datetimeFigureOut">
              <a:rPr lang="en-ID" smtClean="0"/>
              <a:t>21/11/2022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2C8B4-CF5E-FB12-04B0-E758964D0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29D53-13C4-3FC2-6E60-D0BA88B4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7846-4180-4630-94DD-2D57F0ED4C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7252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C5D43-1903-6F62-85F9-803A5C455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9ADFAC-FBA1-A583-01C9-39D5FC8D7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70E6F-BB7E-AC02-9E96-5BAFAE4FB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EB3E5-6263-34B6-5CB8-47752DF36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B895-6A45-4CCB-9C05-3488ED18CD70}" type="datetimeFigureOut">
              <a:rPr lang="en-ID" smtClean="0"/>
              <a:t>21/11/2022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6B118-97B6-11BC-F115-C09A73FBE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A0251-0C47-C50B-A645-F8A0B7184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7846-4180-4630-94DD-2D57F0ED4C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99893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5870F-4FE9-77A6-350E-DE655E3E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FC43E-988B-6AEA-3DAE-AA0470620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6DCBE-A443-1F73-1C9D-2F674B810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B895-6A45-4CCB-9C05-3488ED18CD70}" type="datetimeFigureOut">
              <a:rPr lang="en-ID" smtClean="0"/>
              <a:t>21/11/2022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EF94F-A519-79F5-CBDF-043AEDE80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69BCE-162F-0D01-D0A9-21CD302BA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7846-4180-4630-94DD-2D57F0ED4C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21090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96D0CE-A8C8-795E-5F59-DB5F38105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8C79FE-C0C2-2498-FE98-68962842F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B5750-5207-10A8-41E9-35CE83FFC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B895-6A45-4CCB-9C05-3488ED18CD70}" type="datetimeFigureOut">
              <a:rPr lang="en-ID" smtClean="0"/>
              <a:t>21/11/2022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6B5C4-E810-850B-E507-9D1B6874F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E9180-2D5D-B52F-2E0F-5E8BD0E8F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7846-4180-4630-94DD-2D57F0ED4C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38261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17D130-AAB6-0DAE-076F-71A85ABA2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AB5DB-EFF3-EB57-ADD0-3EFFA8491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5097F-21BB-F5FA-DCB4-3693B40FD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5B895-6A45-4CCB-9C05-3488ED18CD70}" type="datetimeFigureOut">
              <a:rPr lang="en-ID" smtClean="0"/>
              <a:t>21/11/2022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8B5AD-EAA7-A656-0699-995E79E57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F6478-5EA8-A45C-5445-D8B5322B7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F7846-4180-4630-94DD-2D57F0ED4C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3581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5EE4344C-6348-54E4-173C-A2AAB4ED5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6"/>
            <a:ext cx="5496560" cy="687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D58288-3386-20C2-A248-BC7E1F374477}"/>
              </a:ext>
            </a:extLst>
          </p:cNvPr>
          <p:cNvSpPr txBox="1"/>
          <p:nvPr/>
        </p:nvSpPr>
        <p:spPr>
          <a:xfrm>
            <a:off x="5862320" y="1181358"/>
            <a:ext cx="47142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421D15"/>
                </a:solidFill>
                <a:latin typeface="Tw Cen MT" panose="020B0602020104020603" pitchFamily="34" charset="0"/>
              </a:rPr>
              <a:t>PERNIKAHAN DALAM ISLAM</a:t>
            </a:r>
            <a:endParaRPr lang="en-ID" sz="6000" b="1" dirty="0">
              <a:solidFill>
                <a:srgbClr val="421D15"/>
              </a:solidFill>
              <a:latin typeface="Tw Cen MT" panose="020B06020201040206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A1F295-8EC0-40F9-EC87-C76FAF5312EC}"/>
              </a:ext>
            </a:extLst>
          </p:cNvPr>
          <p:cNvSpPr/>
          <p:nvPr/>
        </p:nvSpPr>
        <p:spPr>
          <a:xfrm>
            <a:off x="5953760" y="4043680"/>
            <a:ext cx="6045200" cy="121920"/>
          </a:xfrm>
          <a:prstGeom prst="rect">
            <a:avLst/>
          </a:prstGeom>
          <a:solidFill>
            <a:srgbClr val="A171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850430-5FCF-62BB-3043-978FF4E1376C}"/>
              </a:ext>
            </a:extLst>
          </p:cNvPr>
          <p:cNvSpPr txBox="1"/>
          <p:nvPr/>
        </p:nvSpPr>
        <p:spPr>
          <a:xfrm>
            <a:off x="5862320" y="4267200"/>
            <a:ext cx="5110480" cy="1220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D" sz="2000" dirty="0" err="1">
                <a:solidFill>
                  <a:srgbClr val="421D15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Ahsanuamala</a:t>
            </a:r>
            <a:r>
              <a:rPr lang="en-ID" sz="2000" dirty="0">
                <a:solidFill>
                  <a:srgbClr val="421D15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Asma </a:t>
            </a:r>
            <a:r>
              <a:rPr lang="en-ID" sz="2000" dirty="0" err="1">
                <a:solidFill>
                  <a:srgbClr val="421D15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Amanina</a:t>
            </a:r>
            <a:r>
              <a:rPr lang="en-ID" sz="2000" dirty="0">
                <a:solidFill>
                  <a:srgbClr val="421D15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(221331002)</a:t>
            </a:r>
          </a:p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D" sz="2000" dirty="0" err="1">
                <a:solidFill>
                  <a:srgbClr val="421D15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Deninda</a:t>
            </a:r>
            <a:r>
              <a:rPr lang="en-ID" sz="2000" dirty="0">
                <a:solidFill>
                  <a:srgbClr val="421D15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solidFill>
                  <a:srgbClr val="421D15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Fatihah</a:t>
            </a:r>
            <a:r>
              <a:rPr lang="en-ID" sz="2000" dirty="0">
                <a:solidFill>
                  <a:srgbClr val="421D15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solidFill>
                  <a:srgbClr val="421D15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Nurputri</a:t>
            </a:r>
            <a:r>
              <a:rPr lang="en-ID" sz="2000" dirty="0">
                <a:solidFill>
                  <a:srgbClr val="421D15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(221331008)</a:t>
            </a:r>
          </a:p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D" sz="2000" dirty="0" err="1">
                <a:solidFill>
                  <a:srgbClr val="421D15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Devita</a:t>
            </a:r>
            <a:r>
              <a:rPr lang="en-ID" sz="2000" dirty="0">
                <a:solidFill>
                  <a:srgbClr val="421D15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solidFill>
                  <a:srgbClr val="421D15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Syifa</a:t>
            </a:r>
            <a:r>
              <a:rPr lang="en-ID" sz="2000" dirty="0">
                <a:solidFill>
                  <a:srgbClr val="421D15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solidFill>
                  <a:srgbClr val="421D15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Azzahraa</a:t>
            </a:r>
            <a:r>
              <a:rPr lang="en-ID" sz="2000" dirty="0">
                <a:solidFill>
                  <a:srgbClr val="421D15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(221331009)</a:t>
            </a:r>
          </a:p>
        </p:txBody>
      </p:sp>
    </p:spTree>
    <p:extLst>
      <p:ext uri="{BB962C8B-B14F-4D97-AF65-F5344CB8AC3E}">
        <p14:creationId xmlns:p14="http://schemas.microsoft.com/office/powerpoint/2010/main" val="615168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kad Nikah Wedding Citra Kirana (Ciki) Rezky Aditya">
            <a:hlinkClick r:id="" action="ppaction://media"/>
            <a:extLst>
              <a:ext uri="{FF2B5EF4-FFF2-40B4-BE49-F238E27FC236}">
                <a16:creationId xmlns:a16="http://schemas.microsoft.com/office/drawing/2014/main" id="{81CF1608-A7B7-F08C-FBA6-A132128FA95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161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97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remium Vector | Islamic wedding couple cartoon">
            <a:extLst>
              <a:ext uri="{FF2B5EF4-FFF2-40B4-BE49-F238E27FC236}">
                <a16:creationId xmlns:a16="http://schemas.microsoft.com/office/drawing/2014/main" id="{1918C828-F5FF-3FCB-9880-FE809C4FF9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9" t="11561" r="2215" b="9634"/>
          <a:stretch/>
        </p:blipFill>
        <p:spPr bwMode="auto">
          <a:xfrm>
            <a:off x="2570480" y="0"/>
            <a:ext cx="7965440" cy="678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C4EB1A2-71A8-4820-6CA0-BF7A6926B2D5}"/>
              </a:ext>
            </a:extLst>
          </p:cNvPr>
          <p:cNvSpPr/>
          <p:nvPr/>
        </p:nvSpPr>
        <p:spPr>
          <a:xfrm>
            <a:off x="0" y="2296160"/>
            <a:ext cx="12192000" cy="2042160"/>
          </a:xfrm>
          <a:prstGeom prst="rect">
            <a:avLst/>
          </a:prstGeom>
          <a:solidFill>
            <a:srgbClr val="6B3A2F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rgbClr val="DCCAC2"/>
                </a:solidFill>
                <a:latin typeface="Tw Cen MT" panose="020B0602020104020603" pitchFamily="34" charset="0"/>
              </a:rPr>
              <a:t>HAKIKAT PERNIKAHAN</a:t>
            </a:r>
            <a:endParaRPr lang="en-ID" sz="6600" b="1" dirty="0">
              <a:solidFill>
                <a:srgbClr val="DCCAC2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66362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AE178-DE67-A8F9-1360-6972CC202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39762"/>
            <a:ext cx="12192000" cy="5695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Apa</a:t>
            </a:r>
            <a:r>
              <a:rPr lang="en-US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US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itu</a:t>
            </a:r>
            <a:r>
              <a:rPr lang="en-US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US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Pernikahan</a:t>
            </a:r>
            <a:r>
              <a:rPr lang="en-US" b="1" dirty="0">
                <a:solidFill>
                  <a:srgbClr val="6B3A2F"/>
                </a:solidFill>
                <a:latin typeface="Tw Cen MT" panose="020B0602020104020603" pitchFamily="34" charset="0"/>
              </a:rPr>
              <a:t>?</a:t>
            </a:r>
            <a:endParaRPr lang="en-ID" b="1" dirty="0">
              <a:solidFill>
                <a:srgbClr val="6B3A2F"/>
              </a:solidFill>
              <a:latin typeface="Tw Cen MT" panose="020B06020201040206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51E6F-CFB6-E4AA-97AE-0042C7FA4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360" y="1785302"/>
            <a:ext cx="6324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26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Menurut</a:t>
            </a:r>
            <a:r>
              <a:rPr lang="en-ID" sz="26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6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istilah</a:t>
            </a:r>
            <a:r>
              <a:rPr lang="en-ID" sz="26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6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ilmu</a:t>
            </a:r>
            <a:r>
              <a:rPr lang="en-ID" sz="26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6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fiqih</a:t>
            </a:r>
            <a:r>
              <a:rPr lang="en-ID" sz="2400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nikah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berarti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suatu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akad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perjanjian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yang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mengandung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kebolehan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melakukan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hubungan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seksual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memakai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lafad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nikah. 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Nikah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artinya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perkawinan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sedangkan</a:t>
            </a:r>
            <a:r>
              <a:rPr lang="en-ID" sz="2400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aqad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perjanjian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ID" sz="2400" dirty="0">
              <a:solidFill>
                <a:srgbClr val="6B3A2F"/>
              </a:solidFill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Jadi nikah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perjanjian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suci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mengikatkan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diri</a:t>
            </a:r>
            <a:r>
              <a:rPr lang="en-ID" sz="2400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perkawinan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antara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wanita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pria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membentuk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keluarga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bahagia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kekal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2400" dirty="0"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8E3153-745A-D404-6A84-6F1E32CC0D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1646" t="5117" r="10084" b="5569"/>
          <a:stretch/>
        </p:blipFill>
        <p:spPr>
          <a:xfrm>
            <a:off x="7071360" y="1209357"/>
            <a:ext cx="4724400" cy="539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09499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C78AB42-89C6-41BE-7B5A-9E8829AB2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6882"/>
            <a:ext cx="12192000" cy="5695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6B3A2F"/>
                </a:solidFill>
                <a:latin typeface="Tw Cen MT" panose="020B0602020104020603" pitchFamily="34" charset="0"/>
              </a:rPr>
              <a:t>Dasar Hukum </a:t>
            </a:r>
            <a:r>
              <a:rPr lang="en-US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Pernikahan</a:t>
            </a:r>
            <a:endParaRPr lang="en-ID" b="1" dirty="0">
              <a:solidFill>
                <a:srgbClr val="6B3A2F"/>
              </a:solidFill>
              <a:latin typeface="Tw Cen MT" panose="020B06020201040206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A2E889-5228-B008-29B2-4BECDEC0B224}"/>
              </a:ext>
            </a:extLst>
          </p:cNvPr>
          <p:cNvSpPr txBox="1"/>
          <p:nvPr/>
        </p:nvSpPr>
        <p:spPr>
          <a:xfrm>
            <a:off x="472440" y="1232915"/>
            <a:ext cx="1124712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	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Pernikahan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bertujuan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untuk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mendapaikan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kedamaian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 dan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ketentraman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hidup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serta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menumbuhkan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rasa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kasih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sayang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khususnya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antara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suami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istri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kalangan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keluarga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lebih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khususnya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luas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bahkan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dalam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kehidupan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umat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manusia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umumnya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. Hal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ini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dapat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dilihat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cs typeface="Times New Roman" panose="02020603050405020304" pitchFamily="18" charset="0"/>
              </a:rPr>
              <a:t>dalam</a:t>
            </a:r>
            <a:r>
              <a:rPr lang="en-ID" sz="2400" dirty="0"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D" sz="2500" b="1" dirty="0">
                <a:solidFill>
                  <a:srgbClr val="6B3A2F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QS. Al-Rum : 21</a:t>
            </a:r>
          </a:p>
        </p:txBody>
      </p:sp>
      <p:pic>
        <p:nvPicPr>
          <p:cNvPr id="1030" name="Picture 6" descr="Free Islamic Calligraphy | Al-Rum 30, 21">
            <a:extLst>
              <a:ext uri="{FF2B5EF4-FFF2-40B4-BE49-F238E27FC236}">
                <a16:creationId xmlns:a16="http://schemas.microsoft.com/office/drawing/2014/main" id="{E4241B33-B3DA-8CD6-1D3F-1826FF70A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406" y="3039791"/>
            <a:ext cx="7941188" cy="2174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1152C2-2702-6A5E-FDB8-B470408798CA}"/>
              </a:ext>
            </a:extLst>
          </p:cNvPr>
          <p:cNvSpPr txBox="1"/>
          <p:nvPr/>
        </p:nvSpPr>
        <p:spPr>
          <a:xfrm>
            <a:off x="350520" y="5530960"/>
            <a:ext cx="114909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000" i="1" dirty="0">
                <a:latin typeface="Tw Cen MT" panose="020B0602020104020603" pitchFamily="34" charset="0"/>
              </a:rPr>
              <a:t>"Dan di </a:t>
            </a:r>
            <a:r>
              <a:rPr lang="en-ID" sz="2000" i="1" dirty="0" err="1">
                <a:latin typeface="Tw Cen MT" panose="020B0602020104020603" pitchFamily="34" charset="0"/>
              </a:rPr>
              <a:t>antara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tanda-tanda</a:t>
            </a:r>
            <a:r>
              <a:rPr lang="en-ID" sz="2000" i="1" dirty="0">
                <a:latin typeface="Tw Cen MT" panose="020B0602020104020603" pitchFamily="34" charset="0"/>
              </a:rPr>
              <a:t> (</a:t>
            </a:r>
            <a:r>
              <a:rPr lang="en-ID" sz="2000" i="1" dirty="0" err="1">
                <a:latin typeface="Tw Cen MT" panose="020B0602020104020603" pitchFamily="34" charset="0"/>
              </a:rPr>
              <a:t>kebesaran</a:t>
            </a:r>
            <a:r>
              <a:rPr lang="en-ID" sz="2000" i="1" dirty="0">
                <a:latin typeface="Tw Cen MT" panose="020B0602020104020603" pitchFamily="34" charset="0"/>
              </a:rPr>
              <a:t>)-Nya </a:t>
            </a:r>
            <a:r>
              <a:rPr lang="en-ID" sz="2000" i="1" dirty="0" err="1">
                <a:latin typeface="Tw Cen MT" panose="020B0602020104020603" pitchFamily="34" charset="0"/>
              </a:rPr>
              <a:t>ialah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Dia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menciptakan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pasangan-pasangan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untukmu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dari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jenismu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sendiri</a:t>
            </a:r>
            <a:r>
              <a:rPr lang="en-ID" sz="2000" i="1" dirty="0">
                <a:latin typeface="Tw Cen MT" panose="020B0602020104020603" pitchFamily="34" charset="0"/>
              </a:rPr>
              <a:t>, agar </a:t>
            </a:r>
            <a:r>
              <a:rPr lang="en-ID" sz="2000" i="1" dirty="0" err="1">
                <a:latin typeface="Tw Cen MT" panose="020B0602020104020603" pitchFamily="34" charset="0"/>
              </a:rPr>
              <a:t>kamu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cenderung</a:t>
            </a:r>
            <a:r>
              <a:rPr lang="en-ID" sz="2000" i="1" dirty="0">
                <a:latin typeface="Tw Cen MT" panose="020B0602020104020603" pitchFamily="34" charset="0"/>
              </a:rPr>
              <a:t> dan </a:t>
            </a:r>
            <a:r>
              <a:rPr lang="en-ID" sz="2000" i="1" dirty="0" err="1">
                <a:latin typeface="Tw Cen MT" panose="020B0602020104020603" pitchFamily="34" charset="0"/>
              </a:rPr>
              <a:t>merasa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tenteram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kepadanya</a:t>
            </a:r>
            <a:r>
              <a:rPr lang="en-ID" sz="2000" i="1" dirty="0">
                <a:latin typeface="Tw Cen MT" panose="020B0602020104020603" pitchFamily="34" charset="0"/>
              </a:rPr>
              <a:t>, dan </a:t>
            </a:r>
            <a:r>
              <a:rPr lang="en-ID" sz="2000" i="1" dirty="0" err="1">
                <a:latin typeface="Tw Cen MT" panose="020B0602020104020603" pitchFamily="34" charset="0"/>
              </a:rPr>
              <a:t>Dia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menjadikan</a:t>
            </a:r>
            <a:r>
              <a:rPr lang="en-ID" sz="2000" i="1" dirty="0">
                <a:latin typeface="Tw Cen MT" panose="020B0602020104020603" pitchFamily="34" charset="0"/>
              </a:rPr>
              <a:t> di </a:t>
            </a:r>
            <a:r>
              <a:rPr lang="en-ID" sz="2000" i="1" dirty="0" err="1">
                <a:latin typeface="Tw Cen MT" panose="020B0602020104020603" pitchFamily="34" charset="0"/>
              </a:rPr>
              <a:t>antaramu</a:t>
            </a:r>
            <a:r>
              <a:rPr lang="en-ID" sz="2000" i="1" dirty="0">
                <a:latin typeface="Tw Cen MT" panose="020B0602020104020603" pitchFamily="34" charset="0"/>
              </a:rPr>
              <a:t> rasa </a:t>
            </a:r>
            <a:r>
              <a:rPr lang="en-ID" sz="2000" i="1" dirty="0" err="1">
                <a:latin typeface="Tw Cen MT" panose="020B0602020104020603" pitchFamily="34" charset="0"/>
              </a:rPr>
              <a:t>kasih</a:t>
            </a:r>
            <a:r>
              <a:rPr lang="en-ID" sz="2000" i="1" dirty="0">
                <a:latin typeface="Tw Cen MT" panose="020B0602020104020603" pitchFamily="34" charset="0"/>
              </a:rPr>
              <a:t> dan </a:t>
            </a:r>
            <a:r>
              <a:rPr lang="en-ID" sz="2000" i="1" dirty="0" err="1">
                <a:latin typeface="Tw Cen MT" panose="020B0602020104020603" pitchFamily="34" charset="0"/>
              </a:rPr>
              <a:t>sayang</a:t>
            </a:r>
            <a:r>
              <a:rPr lang="en-ID" sz="2000" i="1" dirty="0">
                <a:latin typeface="Tw Cen MT" panose="020B06020201040206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180181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35ACE60-0570-19E3-4726-F56F326BD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6882"/>
            <a:ext cx="12192000" cy="5695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6B3A2F"/>
                </a:solidFill>
                <a:latin typeface="Tw Cen MT" panose="020B0602020104020603" pitchFamily="34" charset="0"/>
              </a:rPr>
              <a:t>Hukum </a:t>
            </a:r>
            <a:r>
              <a:rPr lang="en-US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Pernikahan</a:t>
            </a:r>
            <a:endParaRPr lang="en-ID" b="1" dirty="0">
              <a:solidFill>
                <a:srgbClr val="6B3A2F"/>
              </a:solidFill>
              <a:latin typeface="Tw Cen MT" panose="020B06020201040206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D2B991-2FCC-8729-C269-6FC2B3101D83}"/>
              </a:ext>
            </a:extLst>
          </p:cNvPr>
          <p:cNvSpPr txBox="1"/>
          <p:nvPr/>
        </p:nvSpPr>
        <p:spPr>
          <a:xfrm>
            <a:off x="601254" y="4105633"/>
            <a:ext cx="317826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6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Wajib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</a:p>
          <a:p>
            <a:pPr algn="ctr"/>
            <a:r>
              <a:rPr lang="en-ID" sz="2000" dirty="0" err="1">
                <a:latin typeface="Tw Cen MT" panose="020B0602020104020603" pitchFamily="34" charset="0"/>
              </a:rPr>
              <a:t>Bagi</a:t>
            </a:r>
            <a:r>
              <a:rPr lang="en-ID" sz="2000" dirty="0">
                <a:latin typeface="Tw Cen MT" panose="020B0602020104020603" pitchFamily="34" charset="0"/>
              </a:rPr>
              <a:t> orang yang </a:t>
            </a:r>
            <a:r>
              <a:rPr lang="en-ID" sz="2000" dirty="0" err="1">
                <a:latin typeface="Tw Cen MT" panose="020B0602020104020603" pitchFamily="34" charset="0"/>
              </a:rPr>
              <a:t>mempunyai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kemampuan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untuk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melaksanakan</a:t>
            </a:r>
            <a:r>
              <a:rPr lang="en-ID" sz="2000" dirty="0">
                <a:latin typeface="Tw Cen MT" panose="020B0602020104020603" pitchFamily="34" charset="0"/>
              </a:rPr>
              <a:t> dan </a:t>
            </a:r>
            <a:r>
              <a:rPr lang="en-ID" sz="2000" dirty="0" err="1">
                <a:latin typeface="Tw Cen MT" panose="020B0602020104020603" pitchFamily="34" charset="0"/>
              </a:rPr>
              <a:t>memikul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beban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kewajiban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dalam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hidup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perkawinan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0F5EDB-B42A-C8ED-739C-6C7C75339D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</a:blip>
          <a:srcRect l="12833" t="19250" r="9167" b="24750"/>
          <a:stretch/>
        </p:blipFill>
        <p:spPr>
          <a:xfrm>
            <a:off x="974272" y="1553805"/>
            <a:ext cx="2957648" cy="21234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C5256C-4F2C-7277-88EC-5BB0D77CA8D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05680" y="1554798"/>
            <a:ext cx="2357120" cy="23571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D5A368-F162-D45C-E2ED-F3BEF6FDE3E6}"/>
              </a:ext>
            </a:extLst>
          </p:cNvPr>
          <p:cNvSpPr txBox="1"/>
          <p:nvPr/>
        </p:nvSpPr>
        <p:spPr>
          <a:xfrm>
            <a:off x="4419600" y="4034176"/>
            <a:ext cx="358648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600" b="1" dirty="0">
                <a:solidFill>
                  <a:srgbClr val="6B3A2F"/>
                </a:solidFill>
                <a:latin typeface="Tw Cen MT" panose="020B0602020104020603" pitchFamily="34" charset="0"/>
              </a:rPr>
              <a:t>Sunnah </a:t>
            </a:r>
          </a:p>
          <a:p>
            <a:pPr algn="ctr"/>
            <a:r>
              <a:rPr lang="en-ID" sz="2000" dirty="0" err="1">
                <a:latin typeface="Tw Cen MT" panose="020B0602020104020603" pitchFamily="34" charset="0"/>
              </a:rPr>
              <a:t>Bagi</a:t>
            </a:r>
            <a:r>
              <a:rPr lang="en-ID" sz="2000" dirty="0">
                <a:latin typeface="Tw Cen MT" panose="020B0602020104020603" pitchFamily="34" charset="0"/>
              </a:rPr>
              <a:t> orang yang </a:t>
            </a:r>
            <a:r>
              <a:rPr lang="en-ID" sz="2000" dirty="0" err="1">
                <a:latin typeface="Tw Cen MT" panose="020B0602020104020603" pitchFamily="34" charset="0"/>
              </a:rPr>
              <a:t>berkeinginan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kuat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untuk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mempunyai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kemampuan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memikul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kewajiban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dalam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pernikahan</a:t>
            </a:r>
            <a:r>
              <a:rPr lang="en-ID" sz="2000" dirty="0">
                <a:latin typeface="Tw Cen MT" panose="020B0602020104020603" pitchFamily="34" charset="0"/>
              </a:rPr>
              <a:t>, </a:t>
            </a:r>
            <a:r>
              <a:rPr lang="en-ID" sz="2000" dirty="0" err="1">
                <a:latin typeface="Tw Cen MT" panose="020B0602020104020603" pitchFamily="34" charset="0"/>
              </a:rPr>
              <a:t>tetapi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jika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tidak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dilakukan</a:t>
            </a:r>
            <a:r>
              <a:rPr lang="en-ID" sz="2000" dirty="0">
                <a:latin typeface="Tw Cen MT" panose="020B0602020104020603" pitchFamily="34" charset="0"/>
              </a:rPr>
              <a:t>, </a:t>
            </a:r>
            <a:r>
              <a:rPr lang="en-ID" sz="2000" dirty="0" err="1">
                <a:latin typeface="Tw Cen MT" panose="020B0602020104020603" pitchFamily="34" charset="0"/>
              </a:rPr>
              <a:t>tidak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akan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berbuat</a:t>
            </a:r>
            <a:r>
              <a:rPr lang="en-ID" sz="2000" dirty="0">
                <a:latin typeface="Tw Cen MT" panose="020B0602020104020603" pitchFamily="34" charset="0"/>
              </a:rPr>
              <a:t> zina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29FDF7F-86EE-281A-5261-2EFC8016758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5833" l="10000" r="90000">
                        <a14:foregroundMark x1="47500" y1="66111" x2="59167" y2="58889"/>
                        <a14:foregroundMark x1="42500" y1="65278" x2="59444" y2="53889"/>
                        <a14:foregroundMark x1="32222" y1="92778" x2="50556" y2="92778"/>
                        <a14:foregroundMark x1="50556" y1="92778" x2="56111" y2="94722"/>
                        <a14:foregroundMark x1="66667" y1="94722" x2="70278" y2="95833"/>
                        <a14:foregroundMark x1="66111" y1="90000" x2="71111" y2="93333"/>
                        <a14:foregroundMark x1="47222" y1="64444" x2="55278" y2="50000"/>
                        <a14:foregroundMark x1="55278" y1="50000" x2="57222" y2="41111"/>
                        <a14:foregroundMark x1="23056" y1="65833" x2="23056" y2="65833"/>
                        <a14:foregroundMark x1="35833" y1="64722" x2="18611" y2="39444"/>
                        <a14:foregroundMark x1="43611" y1="22778" x2="14722" y2="26667"/>
                        <a14:foregroundMark x1="16389" y1="28056" x2="16389" y2="42500"/>
                        <a14:foregroundMark x1="16389" y1="42500" x2="28333" y2="53333"/>
                        <a14:foregroundMark x1="19444" y1="48056" x2="23056" y2="66667"/>
                        <a14:foregroundMark x1="24167" y1="66944" x2="40278" y2="62778"/>
                        <a14:foregroundMark x1="40278" y1="62778" x2="43611" y2="62778"/>
                        <a14:foregroundMark x1="43889" y1="25278" x2="47222" y2="38611"/>
                        <a14:foregroundMark x1="47222" y1="40833" x2="48333" y2="53611"/>
                        <a14:foregroundMark x1="58611" y1="23333" x2="50556" y2="54167"/>
                        <a14:foregroundMark x1="50556" y1="54167" x2="50556" y2="55000"/>
                        <a14:foregroundMark x1="60000" y1="24444" x2="81667" y2="28889"/>
                        <a14:foregroundMark x1="84444" y1="31111" x2="81111" y2="43889"/>
                        <a14:foregroundMark x1="80278" y1="48611" x2="78056" y2="63611"/>
                        <a14:foregroundMark x1="78056" y1="63611" x2="77500" y2="65000"/>
                        <a14:foregroundMark x1="76667" y1="67778" x2="62222" y2="61389"/>
                        <a14:foregroundMark x1="62222" y1="61389" x2="61667" y2="61389"/>
                        <a14:foregroundMark x1="65278" y1="66111" x2="55833" y2="63333"/>
                      </a14:backgroundRemoval>
                    </a14:imgEffect>
                  </a14:imgLayer>
                </a14:imgProps>
              </a:ext>
            </a:extLst>
          </a:blip>
          <a:srcRect l="11968" t="16909" r="12772"/>
          <a:stretch/>
        </p:blipFill>
        <p:spPr>
          <a:xfrm>
            <a:off x="8646160" y="1355095"/>
            <a:ext cx="2641598" cy="291650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333E327-1E7D-6EE1-2FF7-8DE08B7D5A30}"/>
              </a:ext>
            </a:extLst>
          </p:cNvPr>
          <p:cNvSpPr txBox="1"/>
          <p:nvPr/>
        </p:nvSpPr>
        <p:spPr>
          <a:xfrm>
            <a:off x="8067038" y="4413409"/>
            <a:ext cx="38100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6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Mubah</a:t>
            </a:r>
            <a:r>
              <a:rPr lang="en-ID" sz="26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</a:p>
          <a:p>
            <a:pPr algn="ctr"/>
            <a:r>
              <a:rPr lang="en-ID" sz="2000" dirty="0" err="1">
                <a:latin typeface="Tw Cen MT" panose="020B0602020104020603" pitchFamily="34" charset="0"/>
              </a:rPr>
              <a:t>Bagi</a:t>
            </a:r>
            <a:r>
              <a:rPr lang="en-ID" sz="2000" dirty="0">
                <a:latin typeface="Tw Cen MT" panose="020B0602020104020603" pitchFamily="34" charset="0"/>
              </a:rPr>
              <a:t> orang yang </a:t>
            </a:r>
            <a:r>
              <a:rPr lang="en-ID" sz="2000" dirty="0" err="1">
                <a:latin typeface="Tw Cen MT" panose="020B0602020104020603" pitchFamily="34" charset="0"/>
              </a:rPr>
              <a:t>mempunyai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harta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benda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tetapi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apabila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tidak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kawin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tidak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akan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merasa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khawatir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berbuat</a:t>
            </a:r>
            <a:r>
              <a:rPr lang="en-ID" sz="2000" dirty="0">
                <a:latin typeface="Tw Cen MT" panose="020B0602020104020603" pitchFamily="34" charset="0"/>
              </a:rPr>
              <a:t> zina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1811594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6049-743B-CAFF-CB7A-7BAF20446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6882"/>
            <a:ext cx="12192000" cy="5695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6B3A2F"/>
                </a:solidFill>
                <a:latin typeface="Tw Cen MT" panose="020B0602020104020603" pitchFamily="34" charset="0"/>
              </a:rPr>
              <a:t>Hukum </a:t>
            </a:r>
            <a:r>
              <a:rPr lang="en-US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Pernikahan</a:t>
            </a:r>
            <a:endParaRPr lang="en-ID" b="1" dirty="0">
              <a:solidFill>
                <a:srgbClr val="6B3A2F"/>
              </a:solidFill>
              <a:latin typeface="Tw Cen MT" panose="020B0602020104020603" pitchFamily="34" charset="0"/>
            </a:endParaRPr>
          </a:p>
        </p:txBody>
      </p:sp>
      <p:pic>
        <p:nvPicPr>
          <p:cNvPr id="2052" name="Picture 4" descr="Jabat Tangan Berjabat Mitra - Gambar vektor gratis di Pixabay">
            <a:extLst>
              <a:ext uri="{FF2B5EF4-FFF2-40B4-BE49-F238E27FC236}">
                <a16:creationId xmlns:a16="http://schemas.microsoft.com/office/drawing/2014/main" id="{FE442A51-CB7E-B089-10E3-4898239C8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449" y="2035644"/>
            <a:ext cx="2500312" cy="1754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Haram - Free cultures icons">
            <a:extLst>
              <a:ext uri="{FF2B5EF4-FFF2-40B4-BE49-F238E27FC236}">
                <a16:creationId xmlns:a16="http://schemas.microsoft.com/office/drawing/2014/main" id="{CAA36496-FDED-1C9C-5139-62E5BE905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6B3A2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825" y="1553805"/>
            <a:ext cx="2298105" cy="2298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64EEA8-17C4-09D3-D86F-3EE2B17DB5CF}"/>
              </a:ext>
            </a:extLst>
          </p:cNvPr>
          <p:cNvSpPr txBox="1"/>
          <p:nvPr/>
        </p:nvSpPr>
        <p:spPr>
          <a:xfrm>
            <a:off x="6888482" y="4209475"/>
            <a:ext cx="3454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600" b="1" dirty="0">
                <a:solidFill>
                  <a:srgbClr val="6B3A2F"/>
                </a:solidFill>
                <a:latin typeface="Tw Cen MT" panose="020B0602020104020603" pitchFamily="34" charset="0"/>
              </a:rPr>
              <a:t>Haram </a:t>
            </a:r>
          </a:p>
          <a:p>
            <a:pPr algn="ctr"/>
            <a:r>
              <a:rPr lang="en-ID" sz="2000" dirty="0" err="1">
                <a:latin typeface="Tw Cen MT" panose="020B0602020104020603" pitchFamily="34" charset="0"/>
              </a:rPr>
              <a:t>Bagi</a:t>
            </a:r>
            <a:r>
              <a:rPr lang="en-ID" sz="2000" dirty="0">
                <a:latin typeface="Tw Cen MT" panose="020B0602020104020603" pitchFamily="34" charset="0"/>
              </a:rPr>
              <a:t> orang yang </a:t>
            </a:r>
            <a:r>
              <a:rPr lang="en-ID" sz="2000" dirty="0" err="1">
                <a:latin typeface="Tw Cen MT" panose="020B0602020104020603" pitchFamily="34" charset="0"/>
              </a:rPr>
              <a:t>belum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berkeinginan</a:t>
            </a:r>
            <a:r>
              <a:rPr lang="en-ID" sz="2000" dirty="0">
                <a:latin typeface="Tw Cen MT" panose="020B0602020104020603" pitchFamily="34" charset="0"/>
              </a:rPr>
              <a:t> &amp; </a:t>
            </a:r>
            <a:r>
              <a:rPr lang="en-ID" sz="2000" dirty="0" err="1">
                <a:latin typeface="Tw Cen MT" panose="020B0602020104020603" pitchFamily="34" charset="0"/>
              </a:rPr>
              <a:t>tidak</a:t>
            </a:r>
            <a:r>
              <a:rPr lang="en-ID" sz="2000" dirty="0">
                <a:latin typeface="Tw Cen MT" panose="020B0602020104020603" pitchFamily="34" charset="0"/>
              </a:rPr>
              <a:t> punya </a:t>
            </a:r>
            <a:r>
              <a:rPr lang="en-ID" sz="2000" dirty="0" err="1">
                <a:latin typeface="Tw Cen MT" panose="020B0602020104020603" pitchFamily="34" charset="0"/>
              </a:rPr>
              <a:t>kemampuan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untuk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melaksanakan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kewajiban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hidup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dalam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pernikahan</a:t>
            </a:r>
            <a:endParaRPr lang="en-ID" sz="2000" dirty="0">
              <a:latin typeface="Tw Cen MT" panose="020B06020201040206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03833E-B8E2-18E6-1A40-F069AC0CB172}"/>
              </a:ext>
            </a:extLst>
          </p:cNvPr>
          <p:cNvSpPr txBox="1"/>
          <p:nvPr/>
        </p:nvSpPr>
        <p:spPr>
          <a:xfrm>
            <a:off x="1605280" y="4209475"/>
            <a:ext cx="35560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6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Makruh</a:t>
            </a:r>
            <a:r>
              <a:rPr lang="en-ID" sz="26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</a:p>
          <a:p>
            <a:pPr algn="ctr"/>
            <a:r>
              <a:rPr lang="en-ID" sz="2000" dirty="0" err="1">
                <a:latin typeface="Tw Cen MT" panose="020B0602020104020603" pitchFamily="34" charset="0"/>
              </a:rPr>
              <a:t>Bagi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seseorang</a:t>
            </a:r>
            <a:r>
              <a:rPr lang="en-ID" sz="2000" dirty="0">
                <a:latin typeface="Tw Cen MT" panose="020B0602020104020603" pitchFamily="34" charset="0"/>
              </a:rPr>
              <a:t> yang </a:t>
            </a:r>
            <a:r>
              <a:rPr lang="en-ID" sz="2000" dirty="0" err="1">
                <a:latin typeface="Tw Cen MT" panose="020B0602020104020603" pitchFamily="34" charset="0"/>
              </a:rPr>
              <a:t>mampu</a:t>
            </a:r>
            <a:r>
              <a:rPr lang="en-ID" sz="2000" dirty="0">
                <a:latin typeface="Tw Cen MT" panose="020B0602020104020603" pitchFamily="34" charset="0"/>
              </a:rPr>
              <a:t>, </a:t>
            </a:r>
            <a:r>
              <a:rPr lang="en-ID" sz="2000" dirty="0" err="1">
                <a:latin typeface="Tw Cen MT" panose="020B0602020104020603" pitchFamily="34" charset="0"/>
              </a:rPr>
              <a:t>tetapi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mempunyai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kekhawatiran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tidak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mampu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memenuhi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kewajiban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terhadap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istri</a:t>
            </a:r>
            <a:r>
              <a:rPr lang="en-ID" sz="2000" dirty="0">
                <a:latin typeface="Tw Cen MT" panose="020B0602020104020603" pitchFamily="34" charset="0"/>
              </a:rPr>
              <a:t>. </a:t>
            </a:r>
            <a:endParaRPr lang="en-ID" sz="18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49041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E286F-4117-B127-6C99-C13A7D689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0" y="1579669"/>
            <a:ext cx="6268720" cy="4546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25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Pasal</a:t>
            </a:r>
            <a:r>
              <a:rPr lang="en-ID" sz="2500" b="1" dirty="0">
                <a:solidFill>
                  <a:srgbClr val="6B3A2F"/>
                </a:solidFill>
                <a:latin typeface="Tw Cen MT" panose="020B0602020104020603" pitchFamily="34" charset="0"/>
              </a:rPr>
              <a:t> 3 KHI </a:t>
            </a:r>
            <a:r>
              <a:rPr lang="en-ID" sz="2400" dirty="0" err="1">
                <a:latin typeface="Tw Cen MT" panose="020B0602020104020603" pitchFamily="34" charset="0"/>
              </a:rPr>
              <a:t>merumuskan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bahwa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tujuan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dari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pernikahan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tangga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yaitu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sakinah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</a:rPr>
              <a:t>,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mawaddah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</a:rPr>
              <a:t>, dan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warahmah</a:t>
            </a:r>
            <a:r>
              <a:rPr lang="en-ID" sz="2400" dirty="0">
                <a:latin typeface="Tw Cen MT" panose="020B0602020104020603" pitchFamily="34" charset="0"/>
              </a:rPr>
              <a:t>. </a:t>
            </a:r>
          </a:p>
          <a:p>
            <a:pPr marL="0" indent="0">
              <a:buNone/>
            </a:pPr>
            <a:r>
              <a:rPr lang="en-ID" sz="2400" dirty="0" err="1">
                <a:latin typeface="Tw Cen MT" panose="020B0602020104020603" pitchFamily="34" charset="0"/>
              </a:rPr>
              <a:t>Sedangkan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500" dirty="0" err="1">
                <a:latin typeface="Tw Cen MT" panose="020B0602020104020603" pitchFamily="34" charset="0"/>
              </a:rPr>
              <a:t>tujuan</a:t>
            </a:r>
            <a:r>
              <a:rPr lang="en-ID" sz="25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ID" sz="25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menurut</a:t>
            </a:r>
            <a:r>
              <a:rPr lang="en-ID" sz="2500" b="1" dirty="0">
                <a:solidFill>
                  <a:srgbClr val="6B3A2F"/>
                </a:solidFill>
                <a:latin typeface="Tw Cen MT" panose="020B0602020104020603" pitchFamily="34" charset="0"/>
              </a:rPr>
              <a:t> UU </a:t>
            </a:r>
            <a:r>
              <a:rPr lang="en-ID" sz="25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Pernikahan</a:t>
            </a:r>
            <a:r>
              <a:rPr lang="en-ID" sz="25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adalah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untuk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membentuk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keluarga</a:t>
            </a:r>
            <a:r>
              <a:rPr lang="en-ID" sz="2400" dirty="0">
                <a:latin typeface="Tw Cen MT" panose="020B0602020104020603" pitchFamily="34" charset="0"/>
              </a:rPr>
              <a:t> (</a:t>
            </a:r>
            <a:r>
              <a:rPr lang="en-ID" sz="2400" dirty="0" err="1">
                <a:latin typeface="Tw Cen MT" panose="020B0602020104020603" pitchFamily="34" charset="0"/>
              </a:rPr>
              <a:t>rumah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tangga</a:t>
            </a:r>
            <a:r>
              <a:rPr lang="en-ID" sz="2400" dirty="0">
                <a:latin typeface="Tw Cen MT" panose="020B0602020104020603" pitchFamily="34" charset="0"/>
              </a:rPr>
              <a:t>) yang </a:t>
            </a:r>
            <a:r>
              <a:rPr lang="en-ID" sz="2400" dirty="0" err="1">
                <a:latin typeface="Tw Cen MT" panose="020B0602020104020603" pitchFamily="34" charset="0"/>
              </a:rPr>
              <a:t>bahagia</a:t>
            </a:r>
            <a:r>
              <a:rPr lang="en-ID" sz="2400" dirty="0">
                <a:latin typeface="Tw Cen MT" panose="020B0602020104020603" pitchFamily="34" charset="0"/>
              </a:rPr>
              <a:t> dan </a:t>
            </a:r>
            <a:r>
              <a:rPr lang="en-ID" sz="2400" dirty="0" err="1">
                <a:latin typeface="Tw Cen MT" panose="020B0602020104020603" pitchFamily="34" charset="0"/>
              </a:rPr>
              <a:t>kekal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berdasarkan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Ketuhanan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</a:rPr>
              <a:t> Yang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Maha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Esa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</a:rPr>
              <a:t>.</a:t>
            </a:r>
          </a:p>
          <a:p>
            <a:pPr marL="0" indent="0">
              <a:buNone/>
            </a:pPr>
            <a:r>
              <a:rPr lang="en-ID" sz="2400" dirty="0">
                <a:latin typeface="Tw Cen MT" panose="020B0602020104020603" pitchFamily="34" charset="0"/>
              </a:rPr>
              <a:t>Islam </a:t>
            </a:r>
            <a:r>
              <a:rPr lang="en-ID" sz="2400" dirty="0" err="1">
                <a:latin typeface="Tw Cen MT" panose="020B0602020104020603" pitchFamily="34" charset="0"/>
              </a:rPr>
              <a:t>menganjurkan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kepada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umatnya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untuk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memilih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pasangan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suami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istri</a:t>
            </a:r>
            <a:r>
              <a:rPr lang="en-ID" sz="2400" dirty="0">
                <a:latin typeface="Tw Cen MT" panose="020B0602020104020603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</a:rPr>
              <a:t>baik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sehingga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dapat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melahirkan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keturunan</a:t>
            </a:r>
            <a:r>
              <a:rPr lang="en-ID" sz="2400" dirty="0">
                <a:latin typeface="Tw Cen MT" panose="020B0602020104020603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</a:rPr>
              <a:t>diharapkan</a:t>
            </a:r>
            <a:r>
              <a:rPr lang="en-ID" sz="2400" dirty="0">
                <a:latin typeface="Tw Cen MT" panose="020B0602020104020603" pitchFamily="34" charset="0"/>
              </a:rPr>
              <a:t>. (Prof. Dr Jamaluddin, </a:t>
            </a:r>
            <a:r>
              <a:rPr lang="en-ID" sz="2400" dirty="0" err="1">
                <a:latin typeface="Tw Cen MT" panose="020B0602020104020603" pitchFamily="34" charset="0"/>
              </a:rPr>
              <a:t>Buku</a:t>
            </a:r>
            <a:r>
              <a:rPr lang="en-ID" sz="2400" dirty="0">
                <a:latin typeface="Tw Cen MT" panose="020B0602020104020603" pitchFamily="34" charset="0"/>
              </a:rPr>
              <a:t> Ajar Hukum </a:t>
            </a:r>
            <a:r>
              <a:rPr lang="en-ID" sz="2400" dirty="0" err="1">
                <a:latin typeface="Tw Cen MT" panose="020B0602020104020603" pitchFamily="34" charset="0"/>
              </a:rPr>
              <a:t>Perkawinan</a:t>
            </a:r>
            <a:r>
              <a:rPr lang="en-ID" sz="2400" dirty="0">
                <a:latin typeface="Tw Cen MT" panose="020B0602020104020603" pitchFamily="34" charset="0"/>
              </a:rPr>
              <a:t>, 2016 : 45).</a:t>
            </a:r>
            <a:endParaRPr lang="en-ID" sz="2400" dirty="0">
              <a:solidFill>
                <a:srgbClr val="6B3A2F"/>
              </a:solidFill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AFADA8-7C1F-391D-A4DD-F994F1A0FECF}"/>
              </a:ext>
            </a:extLst>
          </p:cNvPr>
          <p:cNvSpPr txBox="1"/>
          <p:nvPr/>
        </p:nvSpPr>
        <p:spPr>
          <a:xfrm>
            <a:off x="0" y="30809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ID" sz="40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Tujuan</a:t>
            </a:r>
            <a:r>
              <a:rPr lang="en-ID" sz="40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40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Pernikahan</a:t>
            </a:r>
            <a:endParaRPr lang="en-ID" sz="4000" b="1" dirty="0">
              <a:solidFill>
                <a:srgbClr val="6B3A2F"/>
              </a:solidFill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893A56-D1C9-DAA1-9804-3EC299120D95}"/>
              </a:ext>
            </a:extLst>
          </p:cNvPr>
          <p:cNvSpPr/>
          <p:nvPr/>
        </p:nvSpPr>
        <p:spPr>
          <a:xfrm>
            <a:off x="5425440" y="1270000"/>
            <a:ext cx="91440" cy="5266412"/>
          </a:xfrm>
          <a:prstGeom prst="rect">
            <a:avLst/>
          </a:prstGeom>
          <a:solidFill>
            <a:srgbClr val="6B3A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122" name="Picture 2" descr="Happy Muslim Family vector 4315275 Vector Art at Vecteezy">
            <a:extLst>
              <a:ext uri="{FF2B5EF4-FFF2-40B4-BE49-F238E27FC236}">
                <a16:creationId xmlns:a16="http://schemas.microsoft.com/office/drawing/2014/main" id="{3D8D1CF8-EB31-B805-6CE8-A5324E2565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1" t="8889" r="5260" b="9481"/>
          <a:stretch/>
        </p:blipFill>
        <p:spPr bwMode="auto">
          <a:xfrm>
            <a:off x="397954" y="1850728"/>
            <a:ext cx="4694443" cy="4275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233526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6693EA-D9B3-C9E4-0F31-43AE2C166805}"/>
              </a:ext>
            </a:extLst>
          </p:cNvPr>
          <p:cNvSpPr txBox="1"/>
          <p:nvPr/>
        </p:nvSpPr>
        <p:spPr>
          <a:xfrm>
            <a:off x="0" y="27372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ID" sz="40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Jenis</a:t>
            </a:r>
            <a:r>
              <a:rPr lang="en-ID" sz="40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ID" sz="40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Pernikahan</a:t>
            </a:r>
            <a:endParaRPr lang="en-ID" sz="4000" b="1" dirty="0">
              <a:solidFill>
                <a:srgbClr val="6B3A2F"/>
              </a:solidFill>
              <a:latin typeface="Tw Cen MT" panose="020B06020201040206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686316-34B0-22C2-4FC1-330FF2EB7763}"/>
              </a:ext>
            </a:extLst>
          </p:cNvPr>
          <p:cNvSpPr txBox="1"/>
          <p:nvPr/>
        </p:nvSpPr>
        <p:spPr>
          <a:xfrm>
            <a:off x="370840" y="1692304"/>
            <a:ext cx="1145032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800" b="1" dirty="0">
                <a:solidFill>
                  <a:srgbClr val="6B3A2F"/>
                </a:solidFill>
                <a:latin typeface="Tw Cen MT" panose="020B0602020104020603" pitchFamily="34" charset="0"/>
              </a:rPr>
              <a:t>Nikah mut’ah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diharamkan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dalam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 Islam. Kata mut’ah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dalam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bahasa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 Arab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berasal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dari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 kata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mata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 yang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bermakna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kesenangan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. </a:t>
            </a:r>
            <a:r>
              <a:rPr lang="en-ID" sz="2400" dirty="0" err="1">
                <a:latin typeface="Tw Cen MT" panose="020B0602020104020603" pitchFamily="34" charset="0"/>
              </a:rPr>
              <a:t>S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ecara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istilah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artinya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seorang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lelaki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menikahi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perempuan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untuk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jangka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waktu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seminggu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,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sebulan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atau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 </a:t>
            </a:r>
            <a:r>
              <a:rPr lang="en-ID" sz="2400" b="0" i="0" dirty="0" err="1">
                <a:effectLst/>
                <a:latin typeface="Tw Cen MT" panose="020B0602020104020603" pitchFamily="34" charset="0"/>
              </a:rPr>
              <a:t>setahun</a:t>
            </a:r>
            <a:r>
              <a:rPr lang="en-ID" sz="2400" b="0" i="0" dirty="0">
                <a:effectLst/>
                <a:latin typeface="Tw Cen MT" panose="020B0602020104020603" pitchFamily="34" charset="0"/>
              </a:rPr>
              <a:t>.</a:t>
            </a:r>
            <a:endParaRPr lang="en-ID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61DDFF-100E-FD56-52DD-18D888A3FC81}"/>
              </a:ext>
            </a:extLst>
          </p:cNvPr>
          <p:cNvSpPr/>
          <p:nvPr/>
        </p:nvSpPr>
        <p:spPr>
          <a:xfrm rot="5400000">
            <a:off x="6057969" y="-2278449"/>
            <a:ext cx="76062" cy="12192000"/>
          </a:xfrm>
          <a:prstGeom prst="rect">
            <a:avLst/>
          </a:prstGeom>
          <a:solidFill>
            <a:srgbClr val="6B3A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32257E-DE3C-B893-8C10-47C253C4CB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695" b="96589" l="9639" r="96145">
                        <a14:foregroundMark x1="14096" y1="12926" x2="31446" y2="16158"/>
                        <a14:foregroundMark x1="36024" y1="11670" x2="19880" y2="21185"/>
                        <a14:foregroundMark x1="19880" y1="21185" x2="14458" y2="42908"/>
                        <a14:foregroundMark x1="14458" y1="42908" x2="15663" y2="66427"/>
                        <a14:foregroundMark x1="15663" y1="66427" x2="21205" y2="42190"/>
                        <a14:foregroundMark x1="21205" y1="42190" x2="21325" y2="77199"/>
                        <a14:foregroundMark x1="21325" y1="77199" x2="26988" y2="71993"/>
                        <a14:foregroundMark x1="26988" y1="71993" x2="27470" y2="69300"/>
                        <a14:foregroundMark x1="16024" y1="14004" x2="10843" y2="24237"/>
                        <a14:foregroundMark x1="10843" y1="24237" x2="11084" y2="69300"/>
                        <a14:foregroundMark x1="11084" y1="69300" x2="9759" y2="79713"/>
                        <a14:foregroundMark x1="9759" y1="79713" x2="18072" y2="84919"/>
                        <a14:foregroundMark x1="18072" y1="84919" x2="23494" y2="80790"/>
                        <a14:foregroundMark x1="47934" y1="28850" x2="43012" y2="42011"/>
                        <a14:foregroundMark x1="51807" y1="18492" x2="48980" y2="26051"/>
                        <a14:foregroundMark x1="43012" y1="42011" x2="47952" y2="61580"/>
                        <a14:foregroundMark x1="47952" y1="61580" x2="46747" y2="76122"/>
                        <a14:foregroundMark x1="46747" y1="76122" x2="44819" y2="78097"/>
                        <a14:foregroundMark x1="64217" y1="9874" x2="77229" y2="17415"/>
                        <a14:foregroundMark x1="77229" y1="17415" x2="90723" y2="37702"/>
                        <a14:foregroundMark x1="90723" y1="37702" x2="89880" y2="64991"/>
                        <a14:foregroundMark x1="89880" y1="64991" x2="82530" y2="77558"/>
                        <a14:foregroundMark x1="82530" y1="77558" x2="67711" y2="74506"/>
                        <a14:foregroundMark x1="67711" y1="74506" x2="72048" y2="39677"/>
                        <a14:foregroundMark x1="72048" y1="39677" x2="75422" y2="67864"/>
                        <a14:foregroundMark x1="75422" y1="67864" x2="73253" y2="72531"/>
                        <a14:foregroundMark x1="96265" y1="22621" x2="88554" y2="30880"/>
                        <a14:foregroundMark x1="82651" y1="90664" x2="73855" y2="90126"/>
                        <a14:foregroundMark x1="73855" y1="90126" x2="69759" y2="87612"/>
                        <a14:foregroundMark x1="83012" y1="96589" x2="83012" y2="96589"/>
                        <a14:backgroundMark x1="49880" y1="28007" x2="47711" y2="28366"/>
                        <a14:backgroundMark x1="53253" y1="46858" x2="51084" y2="53321"/>
                      </a14:backgroundRemoval>
                    </a14:imgEffect>
                  </a14:imgLayer>
                </a14:imgProps>
              </a:ext>
            </a:extLst>
          </a:blip>
          <a:srcRect l="11130" t="10568" r="11324" b="9536"/>
          <a:stretch/>
        </p:blipFill>
        <p:spPr>
          <a:xfrm>
            <a:off x="132080" y="3978358"/>
            <a:ext cx="4043680" cy="27959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0A3D4C-5933-0612-956C-A878C378A0DA}"/>
              </a:ext>
            </a:extLst>
          </p:cNvPr>
          <p:cNvSpPr txBox="1"/>
          <p:nvPr/>
        </p:nvSpPr>
        <p:spPr>
          <a:xfrm>
            <a:off x="4124962" y="4347748"/>
            <a:ext cx="778256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D" sz="28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Pernikahan</a:t>
            </a:r>
            <a:r>
              <a:rPr lang="en-ID" sz="28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ID" sz="28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Muhallil</a:t>
            </a:r>
            <a:r>
              <a:rPr lang="en-ID" sz="28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yaitu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pria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menikahi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wanita</a:t>
            </a:r>
            <a:r>
              <a:rPr lang="en-ID" sz="2400" dirty="0">
                <a:latin typeface="Tw Cen MT" panose="020B0602020104020603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</a:rPr>
              <a:t>telah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bercerai</a:t>
            </a:r>
            <a:r>
              <a:rPr lang="en-ID" sz="2400" dirty="0">
                <a:latin typeface="Tw Cen MT" panose="020B0602020104020603" pitchFamily="34" charset="0"/>
              </a:rPr>
              <a:t> 3 kali. </a:t>
            </a:r>
            <a:r>
              <a:rPr lang="en-ID" sz="2400" dirty="0" err="1">
                <a:latin typeface="Tw Cen MT" panose="020B0602020104020603" pitchFamily="34" charset="0"/>
              </a:rPr>
              <a:t>Setelah</a:t>
            </a:r>
            <a:r>
              <a:rPr lang="en-ID" sz="2400" dirty="0">
                <a:latin typeface="Tw Cen MT" panose="020B0602020104020603" pitchFamily="34" charset="0"/>
              </a:rPr>
              <a:t> masa iddah, </a:t>
            </a:r>
            <a:r>
              <a:rPr lang="en-ID" sz="2400" dirty="0" err="1">
                <a:latin typeface="Tw Cen MT" panose="020B0602020104020603" pitchFamily="34" charset="0"/>
              </a:rPr>
              <a:t>maka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ceraikan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dia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dengan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maksud</a:t>
            </a:r>
            <a:r>
              <a:rPr lang="en-ID" sz="2400" dirty="0">
                <a:latin typeface="Tw Cen MT" panose="020B0602020104020603" pitchFamily="34" charset="0"/>
              </a:rPr>
              <a:t> agar </a:t>
            </a:r>
            <a:r>
              <a:rPr lang="en-ID" sz="2400" dirty="0" err="1">
                <a:latin typeface="Tw Cen MT" panose="020B0602020104020603" pitchFamily="34" charset="0"/>
              </a:rPr>
              <a:t>mantan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suaminya</a:t>
            </a:r>
            <a:r>
              <a:rPr lang="en-ID" sz="2400" dirty="0">
                <a:latin typeface="Tw Cen MT" panose="020B0602020104020603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</a:rPr>
              <a:t>pertama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dapat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menikahinya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kembali</a:t>
            </a:r>
            <a:r>
              <a:rPr lang="en-ID" sz="2400" dirty="0">
                <a:latin typeface="Tw Cen MT" panose="020B0602020104020603" pitchFamily="34" charset="0"/>
              </a:rPr>
              <a:t>. </a:t>
            </a:r>
            <a:r>
              <a:rPr lang="en-ID" sz="2400" dirty="0" err="1">
                <a:latin typeface="Tw Cen MT" panose="020B0602020104020603" pitchFamily="34" charset="0"/>
              </a:rPr>
              <a:t>Pernikahan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seperti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ini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diharamkan</a:t>
            </a:r>
            <a:r>
              <a:rPr lang="en-ID" sz="2400" dirty="0">
                <a:latin typeface="Tw Cen MT" panose="020B0602020104020603" pitchFamily="34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</a:rPr>
              <a:t>bahkan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termasuk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dosa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besar</a:t>
            </a:r>
            <a:endParaRPr lang="en-ID" sz="24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30046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465E9-3597-AE7B-20C7-ED14A0588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654" y="1610490"/>
            <a:ext cx="7002466" cy="1528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Pernikahan</a:t>
            </a:r>
            <a:r>
              <a:rPr lang="en-ID" b="1" dirty="0">
                <a:solidFill>
                  <a:srgbClr val="6B3A2F"/>
                </a:solidFill>
                <a:latin typeface="Tw Cen MT" panose="020B0602020104020603" pitchFamily="34" charset="0"/>
              </a:rPr>
              <a:t> Siri </a:t>
            </a:r>
            <a:r>
              <a:rPr lang="en-ID" sz="2400" dirty="0" err="1">
                <a:latin typeface="Tw Cen MT" panose="020B0602020104020603" pitchFamily="34" charset="0"/>
              </a:rPr>
              <a:t>adalah</a:t>
            </a:r>
            <a:r>
              <a:rPr lang="en-ID" sz="2400" dirty="0">
                <a:latin typeface="Tw Cen MT" panose="020B0602020104020603" pitchFamily="34" charset="0"/>
              </a:rPr>
              <a:t> nikah yang </a:t>
            </a:r>
            <a:r>
              <a:rPr lang="en-ID" sz="2400" dirty="0" err="1">
                <a:latin typeface="Tw Cen MT" panose="020B0602020104020603" pitchFamily="34" charset="0"/>
              </a:rPr>
              <a:t>dilaksanakan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tanpa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memberi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tahu</a:t>
            </a:r>
            <a:r>
              <a:rPr lang="en-ID" sz="2400" dirty="0">
                <a:latin typeface="Tw Cen MT" panose="020B0602020104020603" pitchFamily="34" charset="0"/>
              </a:rPr>
              <a:t> orang </a:t>
            </a:r>
            <a:r>
              <a:rPr lang="en-ID" sz="2400" dirty="0" err="1">
                <a:latin typeface="Tw Cen MT" panose="020B0602020104020603" pitchFamily="34" charset="0"/>
              </a:rPr>
              <a:t>tua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menjadi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wali</a:t>
            </a:r>
            <a:r>
              <a:rPr lang="en-ID" sz="2400" dirty="0">
                <a:latin typeface="Tw Cen MT" panose="020B0602020104020603" pitchFamily="34" charset="0"/>
              </a:rPr>
              <a:t>. </a:t>
            </a:r>
            <a:r>
              <a:rPr lang="en-ID" sz="2400" dirty="0" err="1">
                <a:latin typeface="Tw Cen MT" panose="020B0602020104020603" pitchFamily="34" charset="0"/>
              </a:rPr>
              <a:t>Ini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adalah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pernikahan</a:t>
            </a:r>
            <a:r>
              <a:rPr lang="en-ID" sz="2400" dirty="0">
                <a:latin typeface="Tw Cen MT" panose="020B0602020104020603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</a:rPr>
              <a:t>memenuhi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rukun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ketentuan</a:t>
            </a:r>
            <a:r>
              <a:rPr lang="en-ID" sz="2400" dirty="0">
                <a:latin typeface="Tw Cen MT" panose="020B0602020104020603" pitchFamily="34" charset="0"/>
              </a:rPr>
              <a:t> agama, </a:t>
            </a:r>
            <a:r>
              <a:rPr lang="en-ID" sz="2400" dirty="0" err="1">
                <a:latin typeface="Tw Cen MT" panose="020B0602020104020603" pitchFamily="34" charset="0"/>
              </a:rPr>
              <a:t>tetapi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tidak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dicatat</a:t>
            </a:r>
            <a:r>
              <a:rPr lang="en-ID" sz="2400" dirty="0">
                <a:latin typeface="Tw Cen MT" panose="020B0602020104020603" pitchFamily="34" charset="0"/>
              </a:rPr>
              <a:t> di KUA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E9A863-2CEF-35CC-9F16-69651EC82DFF}"/>
              </a:ext>
            </a:extLst>
          </p:cNvPr>
          <p:cNvSpPr txBox="1"/>
          <p:nvPr/>
        </p:nvSpPr>
        <p:spPr>
          <a:xfrm>
            <a:off x="0" y="27372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ID" sz="40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Jenis</a:t>
            </a:r>
            <a:r>
              <a:rPr lang="en-ID" sz="40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ID" sz="40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Pernikahan</a:t>
            </a:r>
            <a:endParaRPr lang="en-ID" sz="4000" b="1" dirty="0">
              <a:solidFill>
                <a:srgbClr val="6B3A2F"/>
              </a:solidFill>
              <a:latin typeface="Tw Cen MT" panose="020B06020201040206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AAA161-73E6-DFC2-3F7E-36EFF875AC30}"/>
              </a:ext>
            </a:extLst>
          </p:cNvPr>
          <p:cNvSpPr/>
          <p:nvPr/>
        </p:nvSpPr>
        <p:spPr>
          <a:xfrm rot="5400000">
            <a:off x="6057969" y="-2278449"/>
            <a:ext cx="76062" cy="12192000"/>
          </a:xfrm>
          <a:prstGeom prst="rect">
            <a:avLst/>
          </a:prstGeom>
          <a:solidFill>
            <a:srgbClr val="6B3A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1A6B7F-6CA5-608A-C54D-D7DCD44B5C16}"/>
              </a:ext>
            </a:extLst>
          </p:cNvPr>
          <p:cNvSpPr txBox="1"/>
          <p:nvPr/>
        </p:nvSpPr>
        <p:spPr>
          <a:xfrm>
            <a:off x="3789680" y="4587103"/>
            <a:ext cx="79857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D" sz="28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Poligami</a:t>
            </a:r>
            <a:r>
              <a:rPr lang="en-ID" sz="2400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adalah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suami</a:t>
            </a:r>
            <a:r>
              <a:rPr lang="en-ID" sz="2400" dirty="0">
                <a:latin typeface="Tw Cen MT" panose="020B0602020104020603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</a:rPr>
              <a:t>beristri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lebih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dari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satu</a:t>
            </a:r>
            <a:r>
              <a:rPr lang="en-ID" sz="2400" dirty="0">
                <a:latin typeface="Tw Cen MT" panose="020B0602020104020603" pitchFamily="34" charset="0"/>
              </a:rPr>
              <a:t>. Islam </a:t>
            </a:r>
            <a:r>
              <a:rPr lang="en-ID" sz="2400" dirty="0" err="1">
                <a:latin typeface="Tw Cen MT" panose="020B0602020104020603" pitchFamily="34" charset="0"/>
              </a:rPr>
              <a:t>memperbolehkan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seorang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laki-laki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untuk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menikah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lebih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dari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sekali</a:t>
            </a:r>
            <a:r>
              <a:rPr lang="en-ID" sz="2400" dirty="0">
                <a:latin typeface="Tw Cen MT" panose="020B0602020104020603" pitchFamily="34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</a:rPr>
              <a:t>tetapi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dengan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syarat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laki-laki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tersebut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dapat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berlaku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adil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bagi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semua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istri-istrinya</a:t>
            </a:r>
            <a:r>
              <a:rPr lang="en-ID" sz="2400" dirty="0">
                <a:latin typeface="Tw Cen MT" panose="020B0602020104020603" pitchFamily="34" charset="0"/>
              </a:rPr>
              <a:t>. 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13F9C-8FA1-5C2F-1605-A2860A55C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3986493"/>
            <a:ext cx="2738120" cy="2738120"/>
          </a:xfrm>
          <a:prstGeom prst="ellipse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EB1144-5450-2766-D2F9-D7E6B605F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868" y="1115348"/>
            <a:ext cx="4383412" cy="246097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27133902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remium Vector | Islamic wedding couple cartoon">
            <a:extLst>
              <a:ext uri="{FF2B5EF4-FFF2-40B4-BE49-F238E27FC236}">
                <a16:creationId xmlns:a16="http://schemas.microsoft.com/office/drawing/2014/main" id="{1918C828-F5FF-3FCB-9880-FE809C4FF9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9" t="11561" r="2215" b="9634"/>
          <a:stretch/>
        </p:blipFill>
        <p:spPr bwMode="auto">
          <a:xfrm>
            <a:off x="2570480" y="0"/>
            <a:ext cx="7965440" cy="678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C4EB1A2-71A8-4820-6CA0-BF7A6926B2D5}"/>
              </a:ext>
            </a:extLst>
          </p:cNvPr>
          <p:cNvSpPr/>
          <p:nvPr/>
        </p:nvSpPr>
        <p:spPr>
          <a:xfrm>
            <a:off x="0" y="2296160"/>
            <a:ext cx="12192000" cy="2042160"/>
          </a:xfrm>
          <a:prstGeom prst="rect">
            <a:avLst/>
          </a:prstGeom>
          <a:solidFill>
            <a:srgbClr val="6B3A2F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rgbClr val="DCCAC2"/>
                </a:solidFill>
                <a:latin typeface="Tw Cen MT" panose="020B0602020104020603" pitchFamily="34" charset="0"/>
              </a:rPr>
              <a:t>SYARAT &amp; RUKUN PERNIKAHAN</a:t>
            </a:r>
            <a:endParaRPr lang="en-ID" sz="6600" b="1" dirty="0">
              <a:solidFill>
                <a:srgbClr val="DCCAC2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14672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54D93-F291-9454-C1A8-DE13BEB328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8960" y="1911984"/>
            <a:ext cx="6045200" cy="4121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6B3A2F"/>
                </a:solidFill>
                <a:latin typeface="Tw Cen MT" panose="020B0602020104020603" pitchFamily="34" charset="0"/>
              </a:rPr>
              <a:t>Imam </a:t>
            </a:r>
            <a:r>
              <a:rPr lang="en-US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asy-syafi’I</a:t>
            </a:r>
            <a:r>
              <a:rPr lang="en-US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US" dirty="0" err="1">
                <a:latin typeface="Tw Cen MT" panose="020B0602020104020603" pitchFamily="34" charset="0"/>
              </a:rPr>
              <a:t>menyebutkan</a:t>
            </a:r>
            <a:r>
              <a:rPr lang="en-US" dirty="0">
                <a:latin typeface="Tw Cen MT" panose="020B0602020104020603" pitchFamily="34" charset="0"/>
              </a:rPr>
              <a:t> </a:t>
            </a:r>
            <a:r>
              <a:rPr lang="en-US" dirty="0" err="1">
                <a:latin typeface="Tw Cen MT" panose="020B0602020104020603" pitchFamily="34" charset="0"/>
              </a:rPr>
              <a:t>rukun</a:t>
            </a:r>
            <a:r>
              <a:rPr lang="en-US" dirty="0">
                <a:latin typeface="Tw Cen MT" panose="020B0602020104020603" pitchFamily="34" charset="0"/>
              </a:rPr>
              <a:t> nikah </a:t>
            </a:r>
            <a:r>
              <a:rPr lang="en-US" dirty="0" err="1">
                <a:latin typeface="Tw Cen MT" panose="020B0602020104020603" pitchFamily="34" charset="0"/>
              </a:rPr>
              <a:t>adalah</a:t>
            </a:r>
            <a:endParaRPr lang="en-US" dirty="0">
              <a:latin typeface="Tw Cen MT" panose="020B0602020104020603" pitchFamily="34" charset="0"/>
            </a:endParaRPr>
          </a:p>
          <a:p>
            <a:pPr marL="514350" indent="-514350">
              <a:buAutoNum type="arabicParenR"/>
            </a:pPr>
            <a:r>
              <a:rPr lang="en-US" dirty="0">
                <a:latin typeface="Tw Cen MT" panose="020B0602020104020603" pitchFamily="34" charset="0"/>
              </a:rPr>
              <a:t>Calon </a:t>
            </a:r>
            <a:r>
              <a:rPr lang="en-US" dirty="0" err="1">
                <a:latin typeface="Tw Cen MT" panose="020B0602020104020603" pitchFamily="34" charset="0"/>
              </a:rPr>
              <a:t>suami</a:t>
            </a:r>
            <a:endParaRPr lang="en-US" dirty="0">
              <a:latin typeface="Tw Cen MT" panose="020B0602020104020603" pitchFamily="34" charset="0"/>
            </a:endParaRPr>
          </a:p>
          <a:p>
            <a:pPr marL="514350" indent="-514350">
              <a:buAutoNum type="arabicParenR"/>
            </a:pPr>
            <a:r>
              <a:rPr lang="en-US" dirty="0">
                <a:latin typeface="Tw Cen MT" panose="020B0602020104020603" pitchFamily="34" charset="0"/>
              </a:rPr>
              <a:t>Calon </a:t>
            </a:r>
            <a:r>
              <a:rPr lang="en-US" dirty="0" err="1">
                <a:latin typeface="Tw Cen MT" panose="020B0602020104020603" pitchFamily="34" charset="0"/>
              </a:rPr>
              <a:t>istri</a:t>
            </a:r>
            <a:endParaRPr lang="en-US" dirty="0">
              <a:latin typeface="Tw Cen MT" panose="020B0602020104020603" pitchFamily="34" charset="0"/>
            </a:endParaRPr>
          </a:p>
          <a:p>
            <a:pPr marL="514350" indent="-514350">
              <a:buAutoNum type="arabicParenR"/>
            </a:pPr>
            <a:r>
              <a:rPr lang="en-US" dirty="0" err="1">
                <a:latin typeface="Tw Cen MT" panose="020B0602020104020603" pitchFamily="34" charset="0"/>
              </a:rPr>
              <a:t>Wali</a:t>
            </a:r>
            <a:endParaRPr lang="en-US" dirty="0">
              <a:latin typeface="Tw Cen MT" panose="020B0602020104020603" pitchFamily="34" charset="0"/>
            </a:endParaRPr>
          </a:p>
          <a:p>
            <a:pPr marL="514350" indent="-514350">
              <a:buAutoNum type="arabicParenR"/>
            </a:pPr>
            <a:r>
              <a:rPr lang="en-US" dirty="0" err="1">
                <a:latin typeface="Tw Cen MT" panose="020B0602020104020603" pitchFamily="34" charset="0"/>
              </a:rPr>
              <a:t>Dua</a:t>
            </a:r>
            <a:r>
              <a:rPr lang="en-US" dirty="0">
                <a:latin typeface="Tw Cen MT" panose="020B0602020104020603" pitchFamily="34" charset="0"/>
              </a:rPr>
              <a:t> orang </a:t>
            </a:r>
            <a:r>
              <a:rPr lang="en-US" dirty="0" err="1">
                <a:latin typeface="Tw Cen MT" panose="020B0602020104020603" pitchFamily="34" charset="0"/>
              </a:rPr>
              <a:t>saksi</a:t>
            </a:r>
            <a:endParaRPr lang="en-US" dirty="0">
              <a:latin typeface="Tw Cen MT" panose="020B0602020104020603" pitchFamily="34" charset="0"/>
            </a:endParaRPr>
          </a:p>
          <a:p>
            <a:pPr marL="514350" indent="-514350">
              <a:buAutoNum type="arabicParenR"/>
            </a:pPr>
            <a:r>
              <a:rPr lang="en-US" dirty="0" err="1">
                <a:latin typeface="Tw Cen MT" panose="020B0602020104020603" pitchFamily="34" charset="0"/>
              </a:rPr>
              <a:t>Ijab</a:t>
            </a:r>
            <a:r>
              <a:rPr lang="en-US" dirty="0">
                <a:latin typeface="Tw Cen MT" panose="020B0602020104020603" pitchFamily="34" charset="0"/>
              </a:rPr>
              <a:t> </a:t>
            </a:r>
            <a:r>
              <a:rPr lang="en-US" dirty="0" err="1">
                <a:latin typeface="Tw Cen MT" panose="020B0602020104020603" pitchFamily="34" charset="0"/>
              </a:rPr>
              <a:t>qobul</a:t>
            </a:r>
            <a:endParaRPr lang="en-ID" dirty="0">
              <a:latin typeface="Tw Cen MT" panose="020B06020201040206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2BF212-633C-0FEB-C7B0-403941A1BEB4}"/>
              </a:ext>
            </a:extLst>
          </p:cNvPr>
          <p:cNvSpPr txBox="1"/>
          <p:nvPr/>
        </p:nvSpPr>
        <p:spPr>
          <a:xfrm>
            <a:off x="0" y="27372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ID" sz="40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Syarat</a:t>
            </a:r>
            <a:r>
              <a:rPr lang="en-ID" sz="40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ID" sz="40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Pernikahan</a:t>
            </a:r>
            <a:endParaRPr lang="en-ID" sz="4000" b="1" dirty="0">
              <a:solidFill>
                <a:srgbClr val="6B3A2F"/>
              </a:solidFill>
              <a:latin typeface="Tw Cen MT" panose="020B0602020104020603" pitchFamily="34" charset="0"/>
            </a:endParaRPr>
          </a:p>
        </p:txBody>
      </p:sp>
      <p:pic>
        <p:nvPicPr>
          <p:cNvPr id="1028" name="Picture 4" descr="Pin on couple">
            <a:extLst>
              <a:ext uri="{FF2B5EF4-FFF2-40B4-BE49-F238E27FC236}">
                <a16:creationId xmlns:a16="http://schemas.microsoft.com/office/drawing/2014/main" id="{9CB955F6-F4D6-7BCA-C4AB-8C1FA490F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199" y="1077278"/>
            <a:ext cx="5099685" cy="509968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55888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C6E2AD-B181-0DEA-58F2-D857E332119C}"/>
              </a:ext>
            </a:extLst>
          </p:cNvPr>
          <p:cNvSpPr txBox="1">
            <a:spLocks/>
          </p:cNvSpPr>
          <p:nvPr/>
        </p:nvSpPr>
        <p:spPr>
          <a:xfrm>
            <a:off x="6096000" y="1978342"/>
            <a:ext cx="5913120" cy="3538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Menurut</a:t>
            </a:r>
            <a:r>
              <a:rPr lang="en-US" b="1" dirty="0">
                <a:solidFill>
                  <a:srgbClr val="6B3A2F"/>
                </a:solidFill>
                <a:latin typeface="Tw Cen MT" panose="020B0602020104020603" pitchFamily="34" charset="0"/>
              </a:rPr>
              <a:t> imam Malik</a:t>
            </a:r>
            <a:r>
              <a:rPr lang="en-US" dirty="0">
                <a:latin typeface="Tw Cen MT" panose="020B0602020104020603" pitchFamily="34" charset="0"/>
              </a:rPr>
              <a:t>, </a:t>
            </a:r>
            <a:r>
              <a:rPr lang="en-US" dirty="0" err="1">
                <a:latin typeface="Tw Cen MT" panose="020B0602020104020603" pitchFamily="34" charset="0"/>
              </a:rPr>
              <a:t>rukun</a:t>
            </a:r>
            <a:r>
              <a:rPr lang="en-US" dirty="0">
                <a:latin typeface="Tw Cen MT" panose="020B0602020104020603" pitchFamily="34" charset="0"/>
              </a:rPr>
              <a:t> nikah </a:t>
            </a:r>
            <a:r>
              <a:rPr lang="en-US" dirty="0" err="1">
                <a:latin typeface="Tw Cen MT" panose="020B0602020104020603" pitchFamily="34" charset="0"/>
              </a:rPr>
              <a:t>adalah</a:t>
            </a:r>
            <a:endParaRPr lang="en-US" dirty="0">
              <a:latin typeface="Tw Cen MT" panose="020B0602020104020603" pitchFamily="34" charset="0"/>
            </a:endParaRP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dirty="0">
                <a:latin typeface="Tw Cen MT" panose="020B0602020104020603" pitchFamily="34" charset="0"/>
              </a:rPr>
              <a:t>Calon </a:t>
            </a:r>
            <a:r>
              <a:rPr lang="en-US" dirty="0" err="1">
                <a:latin typeface="Tw Cen MT" panose="020B0602020104020603" pitchFamily="34" charset="0"/>
              </a:rPr>
              <a:t>suami</a:t>
            </a:r>
            <a:endParaRPr lang="en-US" dirty="0">
              <a:latin typeface="Tw Cen MT" panose="020B0602020104020603" pitchFamily="34" charset="0"/>
            </a:endParaRP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dirty="0">
                <a:latin typeface="Tw Cen MT" panose="020B0602020104020603" pitchFamily="34" charset="0"/>
              </a:rPr>
              <a:t>Calon </a:t>
            </a:r>
            <a:r>
              <a:rPr lang="en-US" dirty="0" err="1">
                <a:latin typeface="Tw Cen MT" panose="020B0602020104020603" pitchFamily="34" charset="0"/>
              </a:rPr>
              <a:t>istri</a:t>
            </a:r>
            <a:endParaRPr lang="en-US" dirty="0">
              <a:latin typeface="Tw Cen MT" panose="020B0602020104020603" pitchFamily="34" charset="0"/>
            </a:endParaRP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dirty="0" err="1">
                <a:latin typeface="Tw Cen MT" panose="020B0602020104020603" pitchFamily="34" charset="0"/>
              </a:rPr>
              <a:t>Wali</a:t>
            </a:r>
            <a:endParaRPr lang="en-US" dirty="0">
              <a:latin typeface="Tw Cen MT" panose="020B0602020104020603" pitchFamily="34" charset="0"/>
            </a:endParaRP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dirty="0">
                <a:latin typeface="Tw Cen MT" panose="020B0602020104020603" pitchFamily="34" charset="0"/>
              </a:rPr>
              <a:t>Mahar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dirty="0" err="1">
                <a:latin typeface="Tw Cen MT" panose="020B0602020104020603" pitchFamily="34" charset="0"/>
              </a:rPr>
              <a:t>Ijab</a:t>
            </a:r>
            <a:r>
              <a:rPr lang="en-US" dirty="0">
                <a:latin typeface="Tw Cen MT" panose="020B0602020104020603" pitchFamily="34" charset="0"/>
              </a:rPr>
              <a:t> </a:t>
            </a:r>
            <a:r>
              <a:rPr lang="en-US" dirty="0" err="1">
                <a:latin typeface="Tw Cen MT" panose="020B0602020104020603" pitchFamily="34" charset="0"/>
              </a:rPr>
              <a:t>qobul</a:t>
            </a:r>
            <a:endParaRPr lang="en-ID" dirty="0">
              <a:latin typeface="Tw Cen MT" panose="020B06020201040206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58DB0E-D5F5-E530-32B3-1ED29CA40347}"/>
              </a:ext>
            </a:extLst>
          </p:cNvPr>
          <p:cNvSpPr txBox="1"/>
          <p:nvPr/>
        </p:nvSpPr>
        <p:spPr>
          <a:xfrm>
            <a:off x="0" y="27372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ID" sz="40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Rukun</a:t>
            </a:r>
            <a:r>
              <a:rPr lang="en-ID" sz="40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ID" sz="40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Pernikahan</a:t>
            </a:r>
            <a:endParaRPr lang="en-ID" sz="4000" b="1" dirty="0">
              <a:solidFill>
                <a:srgbClr val="6B3A2F"/>
              </a:solidFill>
              <a:latin typeface="Tw Cen MT" panose="020B0602020104020603" pitchFamily="34" charset="0"/>
            </a:endParaRPr>
          </a:p>
        </p:txBody>
      </p:sp>
      <p:pic>
        <p:nvPicPr>
          <p:cNvPr id="3078" name="Picture 6" descr="muslim wedding in white dress illustration 4328835 Vector Art at Vecteezy">
            <a:extLst>
              <a:ext uri="{FF2B5EF4-FFF2-40B4-BE49-F238E27FC236}">
                <a16:creationId xmlns:a16="http://schemas.microsoft.com/office/drawing/2014/main" id="{3BC247D3-239D-FBC1-4D7F-0F716BB50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20" y="1381760"/>
            <a:ext cx="5202516" cy="520251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37082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47E395-4987-7B61-2E3F-7F743C25F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480" y="1666398"/>
            <a:ext cx="10861040" cy="5191602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20000"/>
              </a:lnSpc>
              <a:buFont typeface="+mj-lt"/>
              <a:buAutoNum type="arabicParenR"/>
            </a:pP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Kedua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calon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pengantin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sudah</a:t>
            </a:r>
            <a:r>
              <a:rPr lang="en-ID" sz="22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dewasa</a:t>
            </a:r>
            <a:r>
              <a:rPr lang="en-ID" sz="22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balig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</a:p>
          <a:p>
            <a:pPr marL="342900" lvl="0" indent="-342900" algn="just">
              <a:lnSpc>
                <a:spcPct val="120000"/>
              </a:lnSpc>
              <a:buFont typeface="+mj-lt"/>
              <a:buAutoNum type="arabicParenR"/>
            </a:pP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Harus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wali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bagi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pengantin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perempuan</a:t>
            </a:r>
            <a:endParaRPr lang="en-ID" sz="2200" dirty="0"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buFont typeface="+mj-lt"/>
              <a:buAutoNum type="arabicParenR"/>
            </a:pP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Harus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mahar</a:t>
            </a:r>
            <a:r>
              <a:rPr lang="en-ID" sz="22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/mas </a:t>
            </a:r>
            <a:r>
              <a:rPr lang="en-ID" sz="22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kawin</a:t>
            </a:r>
            <a:r>
              <a:rPr lang="en-ID" sz="22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pengantin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laki-laki</a:t>
            </a:r>
            <a:endParaRPr lang="en-ID" sz="2200" dirty="0"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buFont typeface="+mj-lt"/>
              <a:buAutoNum type="arabicParenR"/>
            </a:pP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dihadiri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milimal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dua</a:t>
            </a:r>
            <a:r>
              <a:rPr lang="en-ID" sz="22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orang </a:t>
            </a:r>
            <a:r>
              <a:rPr lang="en-ID" sz="22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saksi</a:t>
            </a:r>
            <a:r>
              <a:rPr lang="en-ID" sz="22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laki-laki</a:t>
            </a:r>
            <a:r>
              <a:rPr lang="en-ID" sz="22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yang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adil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merdeka</a:t>
            </a:r>
            <a:endParaRPr lang="en-ID" sz="2200" dirty="0"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buFont typeface="+mj-lt"/>
              <a:buAutoNum type="arabicParenR"/>
            </a:pP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Harus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b="1" dirty="0" err="1">
                <a:solidFill>
                  <a:srgbClr val="6B3A2F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ija</a:t>
            </a:r>
            <a:r>
              <a:rPr lang="en-ID" sz="22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ID" sz="22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22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qobul</a:t>
            </a:r>
            <a:r>
              <a:rPr lang="en-ID" sz="22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20000"/>
              </a:lnSpc>
              <a:buFont typeface="+mj-lt"/>
              <a:buAutoNum type="arabicParenR"/>
            </a:pP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tanda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bahwa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telah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resmi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terjadinya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akad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nikah,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maka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hendaknya</a:t>
            </a:r>
            <a:r>
              <a:rPr lang="en-ID" sz="22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diadakan</a:t>
            </a:r>
            <a:r>
              <a:rPr lang="en-ID" sz="22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walimah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resepsi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pernikahan</a:t>
            </a:r>
            <a:endParaRPr lang="en-ID" sz="2200" dirty="0"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bukti</a:t>
            </a:r>
            <a:r>
              <a:rPr lang="en-ID" sz="22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autentik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terjadinya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pernikahan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sesuai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surat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Ali-Imran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ayat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282 dan UU no. 22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Tahun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1946, UU no. 23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tahun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1954, dan UU no. 1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tahun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1974 (M. Idris </a:t>
            </a:r>
            <a:r>
              <a:rPr lang="en-ID" sz="22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Ramulyo</a:t>
            </a:r>
            <a:r>
              <a:rPr lang="en-ID" sz="22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2002:48-49).</a:t>
            </a:r>
          </a:p>
          <a:p>
            <a:pPr marL="0" indent="0">
              <a:buNone/>
            </a:pPr>
            <a:endParaRPr lang="en-ID" sz="23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312FF-51A5-6751-D534-A4FE4FD403F8}"/>
              </a:ext>
            </a:extLst>
          </p:cNvPr>
          <p:cNvSpPr txBox="1"/>
          <p:nvPr/>
        </p:nvSpPr>
        <p:spPr>
          <a:xfrm>
            <a:off x="0" y="305362"/>
            <a:ext cx="12192000" cy="1089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1785" indent="0" algn="ctr">
              <a:lnSpc>
                <a:spcPct val="120000"/>
              </a:lnSpc>
              <a:buNone/>
            </a:pP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Adapun di Indonesia, para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ahli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hukum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islam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sepakat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bahwa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akad</a:t>
            </a:r>
            <a:r>
              <a:rPr lang="en-ID" sz="28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nikah </a:t>
            </a:r>
            <a:r>
              <a:rPr lang="en-ID" sz="28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baru</a:t>
            </a:r>
            <a:r>
              <a:rPr lang="en-ID" sz="28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terjadi</a:t>
            </a:r>
            <a:r>
              <a:rPr lang="en-ID" sz="28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setelah</a:t>
            </a:r>
            <a:r>
              <a:rPr lang="en-ID" sz="28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terpenuhinya</a:t>
            </a:r>
            <a:r>
              <a:rPr lang="en-ID" sz="28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rukun-rukun</a:t>
            </a:r>
            <a:r>
              <a:rPr lang="en-ID" sz="28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28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syarat-syarat</a:t>
            </a:r>
            <a:r>
              <a:rPr lang="en-ID" sz="28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nikah</a:t>
            </a:r>
            <a:r>
              <a:rPr lang="en-ID" sz="2800" b="1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yaitu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</a:t>
            </a:r>
            <a:endParaRPr lang="en-ID" sz="2800" dirty="0"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26393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remium Vector | Islamic wedding couple cartoon">
            <a:extLst>
              <a:ext uri="{FF2B5EF4-FFF2-40B4-BE49-F238E27FC236}">
                <a16:creationId xmlns:a16="http://schemas.microsoft.com/office/drawing/2014/main" id="{1918C828-F5FF-3FCB-9880-FE809C4FF9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9" t="11561" r="2215" b="9634"/>
          <a:stretch/>
        </p:blipFill>
        <p:spPr bwMode="auto">
          <a:xfrm>
            <a:off x="2570480" y="0"/>
            <a:ext cx="7965440" cy="678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C4EB1A2-71A8-4820-6CA0-BF7A6926B2D5}"/>
              </a:ext>
            </a:extLst>
          </p:cNvPr>
          <p:cNvSpPr/>
          <p:nvPr/>
        </p:nvSpPr>
        <p:spPr>
          <a:xfrm>
            <a:off x="0" y="2296160"/>
            <a:ext cx="12192000" cy="2042160"/>
          </a:xfrm>
          <a:prstGeom prst="rect">
            <a:avLst/>
          </a:prstGeom>
          <a:solidFill>
            <a:srgbClr val="6B3A2F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rgbClr val="DCCAC2"/>
                </a:solidFill>
                <a:latin typeface="Tw Cen MT" panose="020B0602020104020603" pitchFamily="34" charset="0"/>
              </a:rPr>
              <a:t>HIKMAH PERNIKAHAN</a:t>
            </a:r>
            <a:endParaRPr lang="en-ID" sz="6600" b="1" dirty="0">
              <a:solidFill>
                <a:srgbClr val="DCCAC2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82161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AF985-A986-A5DE-C7A1-4786F53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960"/>
            <a:ext cx="6253480" cy="24333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Hikmah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pernikahan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islam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sangat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erat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kaitannya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tujuan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diciptakannya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manusia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muka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bumi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Al-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Jurjawi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menjelaskan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bahwa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Tuhan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menciptakan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manusia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tujuan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memakmurkan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bumi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 mana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segala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isinya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diciptakan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kepentingan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manusia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2400" dirty="0"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E4B1A-DC85-7009-2E41-76ECF7F70F2E}"/>
              </a:ext>
            </a:extLst>
          </p:cNvPr>
          <p:cNvSpPr txBox="1"/>
          <p:nvPr/>
        </p:nvSpPr>
        <p:spPr>
          <a:xfrm>
            <a:off x="0" y="27372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ID" sz="4000" b="1" dirty="0">
                <a:solidFill>
                  <a:srgbClr val="6B3A2F"/>
                </a:solidFill>
                <a:latin typeface="Tw Cen MT" panose="020B0602020104020603" pitchFamily="34" charset="0"/>
              </a:rPr>
              <a:t>Hikmah </a:t>
            </a:r>
            <a:r>
              <a:rPr lang="en-ID" sz="40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Pernikahan</a:t>
            </a:r>
            <a:endParaRPr lang="en-ID" sz="4000" b="1" dirty="0">
              <a:solidFill>
                <a:srgbClr val="6B3A2F"/>
              </a:solidFill>
              <a:latin typeface="Tw Cen MT" panose="020B06020201040206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30EBC5-4CCF-4B99-A2F0-1C0CAEE3F2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001" r="3632" b="-1"/>
          <a:stretch/>
        </p:blipFill>
        <p:spPr>
          <a:xfrm>
            <a:off x="7000239" y="1188735"/>
            <a:ext cx="4577081" cy="5222210"/>
          </a:xfrm>
          <a:prstGeom prst="ellipse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4D9BFA-92C4-5DA0-00A6-314CF259F68B}"/>
              </a:ext>
            </a:extLst>
          </p:cNvPr>
          <p:cNvSpPr txBox="1"/>
          <p:nvPr/>
        </p:nvSpPr>
        <p:spPr>
          <a:xfrm>
            <a:off x="861060" y="4007396"/>
            <a:ext cx="62069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Allah SWT 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menjadikan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makhluk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-Nya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berpasang-pasangan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agar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membangun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rumah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tangga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damai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teratur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itu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haruslah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ikatan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kokoh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yaitu</a:t>
            </a:r>
            <a:r>
              <a:rPr lang="en-ID" sz="24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akad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nikah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ijab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qabul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pernikahan</a:t>
            </a:r>
            <a:r>
              <a:rPr lang="en-ID" sz="2400" b="1" dirty="0">
                <a:solidFill>
                  <a:srgbClr val="6B3A2F"/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81978292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remium Vector | Islamic wedding couple cartoon">
            <a:extLst>
              <a:ext uri="{FF2B5EF4-FFF2-40B4-BE49-F238E27FC236}">
                <a16:creationId xmlns:a16="http://schemas.microsoft.com/office/drawing/2014/main" id="{69D6A39B-9935-B245-F6F9-26B4BDA4C6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9" t="11561" r="2215" b="9634"/>
          <a:stretch/>
        </p:blipFill>
        <p:spPr bwMode="auto">
          <a:xfrm>
            <a:off x="2570480" y="0"/>
            <a:ext cx="7965440" cy="6787219"/>
          </a:xfrm>
          <a:prstGeom prst="rect">
            <a:avLst/>
          </a:prstGeom>
          <a:noFill/>
          <a:effectLst>
            <a:glow rad="127000">
              <a:schemeClr val="bg1">
                <a:alpha val="1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B704C0-63A1-F68C-E7F0-27AE11261ADC}"/>
              </a:ext>
            </a:extLst>
          </p:cNvPr>
          <p:cNvSpPr txBox="1">
            <a:spLocks/>
          </p:cNvSpPr>
          <p:nvPr/>
        </p:nvSpPr>
        <p:spPr>
          <a:xfrm>
            <a:off x="949960" y="896143"/>
            <a:ext cx="10515600" cy="5740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Memenuhi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Tuntutan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Fitrah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	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Manusia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diciptakan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oleh Allah SWT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dengan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tertarik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kepada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lawan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jenisnya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. Islam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tidak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menghalangi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dan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menutupi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keinginan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ini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bahkan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islam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melarang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kehidupan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umat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muslim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menolak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pernikahan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/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b</a:t>
            </a:r>
            <a:r>
              <a:rPr lang="en-ID" sz="2400" i="1" dirty="0" err="1">
                <a:latin typeface="Tw Cen MT" panose="020B0602020104020603" pitchFamily="34" charset="0"/>
                <a:ea typeface="Calibri" panose="020F0502020204030204" pitchFamily="34" charset="0"/>
              </a:rPr>
              <a:t>ertahallul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(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membujang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). (At-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Tirmuzi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, tt:393III).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ID" sz="2400" dirty="0"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2)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Menghindari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Perusakan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Moral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Allah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telah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menganugerahi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manusia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berbagai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nikmat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salah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satunya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fitrah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berhubungan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seksual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Namun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fitrah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berakibat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negatif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jika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tidak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diberikan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batasan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Islam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hadir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memberikan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solusi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adanya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pernikahan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demikian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menjadi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salah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satu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hikmah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pernikahan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bermanfaat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bagi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kemaslahatan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umat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manusia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menghindari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perusakan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moral yang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terjadi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jika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hal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tidak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diatur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tidak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memiliki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batas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1593947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remium Vector | Islamic wedding couple cartoon">
            <a:extLst>
              <a:ext uri="{FF2B5EF4-FFF2-40B4-BE49-F238E27FC236}">
                <a16:creationId xmlns:a16="http://schemas.microsoft.com/office/drawing/2014/main" id="{C85E159F-1FE3-160A-7BCB-BC189E8861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9" t="11561" r="2215" b="9634"/>
          <a:stretch/>
        </p:blipFill>
        <p:spPr bwMode="auto">
          <a:xfrm>
            <a:off x="2570480" y="0"/>
            <a:ext cx="7965440" cy="6787219"/>
          </a:xfrm>
          <a:prstGeom prst="rect">
            <a:avLst/>
          </a:prstGeom>
          <a:noFill/>
          <a:effectLst>
            <a:glow rad="127000">
              <a:schemeClr val="bg1">
                <a:alpha val="1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68BE5A3-B5C0-F1FF-5D07-9ABD055C7FEB}"/>
              </a:ext>
            </a:extLst>
          </p:cNvPr>
          <p:cNvSpPr txBox="1">
            <a:spLocks/>
          </p:cNvSpPr>
          <p:nvPr/>
        </p:nvSpPr>
        <p:spPr>
          <a:xfrm>
            <a:off x="838200" y="1107599"/>
            <a:ext cx="10515600" cy="4998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6B3A2F"/>
                </a:solidFill>
                <a:latin typeface="Tw Cen MT" panose="020B0602020104020603" pitchFamily="34" charset="0"/>
              </a:rPr>
              <a:t>3) </a:t>
            </a:r>
            <a:r>
              <a:rPr lang="en-US" sz="24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Mewujudkan</a:t>
            </a:r>
            <a:r>
              <a:rPr lang="en-US" sz="24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US" sz="24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Ketenangan</a:t>
            </a:r>
            <a:r>
              <a:rPr lang="en-US" sz="2400" b="1" dirty="0">
                <a:solidFill>
                  <a:srgbClr val="6B3A2F"/>
                </a:solidFill>
                <a:latin typeface="Tw Cen MT" panose="020B0602020104020603" pitchFamily="34" charset="0"/>
              </a:rPr>
              <a:t> Jiwa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	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Dengan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melakukan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pernikahan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manusia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akan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mendapatkan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kepuasan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jasmaniah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dan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rohaniah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yaitu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bisa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dapat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berupa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kasih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sayang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ketenangan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ketenteraman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dan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kebahagiaan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hidup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. 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ID" sz="2400" b="1" dirty="0">
              <a:solidFill>
                <a:srgbClr val="6B3A2F"/>
              </a:solidFill>
              <a:latin typeface="Tw Cen MT" panose="020B0602020104020603" pitchFamily="34" charset="0"/>
              <a:ea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  <a:ea typeface="Calibri" panose="020F0502020204030204" pitchFamily="34" charset="0"/>
              </a:rPr>
              <a:t>4)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  <a:ea typeface="Calibri" panose="020F0502020204030204" pitchFamily="34" charset="0"/>
              </a:rPr>
              <a:t>Menyambung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  <a:ea typeface="Calibri" panose="020F0502020204030204" pitchFamily="34" charset="0"/>
              </a:rPr>
              <a:t>Keturunan</a:t>
            </a:r>
            <a:endParaRPr lang="en-ID" sz="2400" b="1" dirty="0">
              <a:solidFill>
                <a:srgbClr val="6B3A2F"/>
              </a:solidFill>
              <a:latin typeface="Tw Cen MT" panose="020B0602020104020603" pitchFamily="34" charset="0"/>
              <a:ea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	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Menyambung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keturunan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merupakan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salah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satu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hikmah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menikah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dengan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cara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melahirkan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anak-anak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shalih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beriman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dan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bertakwa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. Anak yang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cerdas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dalam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hal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emosional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dan juga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cerdas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secara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intelektual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dibutuhkan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untuk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melanjutkan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syiar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agama yang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dibawa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orang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tuanya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(agama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islam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).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Dengan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pernikahan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semua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hal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tersebut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dapat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terwujud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.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Generasi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islam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unggul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dapat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tetap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terus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ada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dan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berkelanjutan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untuk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tetap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menegakan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syari’at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Islam di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muka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bumi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  <a:ea typeface="Calibri" panose="020F0502020204030204" pitchFamily="34" charset="0"/>
              </a:rPr>
              <a:t>ini</a:t>
            </a:r>
            <a:r>
              <a:rPr lang="en-ID" sz="2400" dirty="0">
                <a:latin typeface="Tw Cen MT" panose="020B0602020104020603" pitchFamily="34" charset="0"/>
                <a:ea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9711737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remium Vector | Islamic wedding couple cartoon">
            <a:extLst>
              <a:ext uri="{FF2B5EF4-FFF2-40B4-BE49-F238E27FC236}">
                <a16:creationId xmlns:a16="http://schemas.microsoft.com/office/drawing/2014/main" id="{51309B6B-C254-D550-6E56-A7533137FF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9" t="11561" r="2215" b="9634"/>
          <a:stretch/>
        </p:blipFill>
        <p:spPr bwMode="auto">
          <a:xfrm>
            <a:off x="2570480" y="0"/>
            <a:ext cx="7965440" cy="6787219"/>
          </a:xfrm>
          <a:prstGeom prst="rect">
            <a:avLst/>
          </a:prstGeom>
          <a:noFill/>
          <a:effectLst>
            <a:glow rad="127000">
              <a:schemeClr val="bg1">
                <a:alpha val="1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119FC8E-EA25-AF51-532B-6FFB325E9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318"/>
            <a:ext cx="10515600" cy="57197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6B3A2F"/>
                </a:solidFill>
                <a:latin typeface="Tw Cen MT" panose="020B0602020104020603" pitchFamily="34" charset="0"/>
              </a:rPr>
              <a:t>5) </a:t>
            </a:r>
            <a:r>
              <a:rPr lang="en-US" sz="24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Pendamping</a:t>
            </a:r>
            <a:r>
              <a:rPr lang="en-US" sz="24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US" sz="24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Hidup</a:t>
            </a:r>
            <a:r>
              <a:rPr lang="en-US" sz="24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US" sz="24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dalam</a:t>
            </a:r>
            <a:r>
              <a:rPr lang="en-US" sz="24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US" sz="24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Berumah</a:t>
            </a:r>
            <a:r>
              <a:rPr lang="en-US" sz="24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US" sz="24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tangga</a:t>
            </a:r>
            <a:endParaRPr lang="en-US" sz="2400" b="1" dirty="0">
              <a:solidFill>
                <a:srgbClr val="6B3A2F"/>
              </a:solidFill>
              <a:latin typeface="Tw Cen MT" panose="020B0602020104020603" pitchFamily="34" charset="0"/>
            </a:endParaRPr>
          </a:p>
          <a:p>
            <a:pPr marL="0" indent="0" algn="just">
              <a:buNone/>
            </a:pPr>
            <a:r>
              <a:rPr lang="en-ID" sz="2400" dirty="0">
                <a:latin typeface="Tw Cen MT" panose="020B0602020104020603" pitchFamily="34" charset="0"/>
              </a:rPr>
              <a:t>	</a:t>
            </a:r>
            <a:r>
              <a:rPr lang="en-ID" sz="2400" dirty="0" err="1">
                <a:latin typeface="Tw Cen MT" panose="020B0602020104020603" pitchFamily="34" charset="0"/>
              </a:rPr>
              <a:t>Seperti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dalam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teori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sosiologis</a:t>
            </a:r>
            <a:r>
              <a:rPr lang="en-ID" sz="2400" dirty="0">
                <a:latin typeface="Tw Cen MT" panose="020B0602020104020603" pitchFamily="34" charset="0"/>
              </a:rPr>
              <a:t> juga </a:t>
            </a:r>
            <a:r>
              <a:rPr lang="en-ID" sz="2400" dirty="0" err="1">
                <a:latin typeface="Tw Cen MT" panose="020B0602020104020603" pitchFamily="34" charset="0"/>
              </a:rPr>
              <a:t>mengatakan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manusia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butuh</a:t>
            </a:r>
            <a:r>
              <a:rPr lang="en-ID" sz="2400" dirty="0">
                <a:latin typeface="Tw Cen MT" panose="020B0602020104020603" pitchFamily="34" charset="0"/>
              </a:rPr>
              <a:t> orang lain </a:t>
            </a:r>
            <a:r>
              <a:rPr lang="en-ID" sz="2400" dirty="0" err="1">
                <a:latin typeface="Tw Cen MT" panose="020B0602020104020603" pitchFamily="34" charset="0"/>
              </a:rPr>
              <a:t>karena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manusia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merupakan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mahluk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sosial</a:t>
            </a:r>
            <a:r>
              <a:rPr lang="en-ID" sz="2400" dirty="0">
                <a:latin typeface="Tw Cen MT" panose="020B0602020104020603" pitchFamily="34" charset="0"/>
              </a:rPr>
              <a:t>. </a:t>
            </a:r>
            <a:r>
              <a:rPr lang="en-ID" sz="2400" dirty="0" err="1">
                <a:latin typeface="Tw Cen MT" panose="020B0602020104020603" pitchFamily="34" charset="0"/>
              </a:rPr>
              <a:t>Manusia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pasti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membutuhkan</a:t>
            </a:r>
            <a:r>
              <a:rPr lang="en-ID" sz="2400" dirty="0">
                <a:latin typeface="Tw Cen MT" panose="020B0602020104020603" pitchFamily="34" charset="0"/>
              </a:rPr>
              <a:t> orang lain </a:t>
            </a:r>
            <a:r>
              <a:rPr lang="en-ID" sz="2400" dirty="0" err="1">
                <a:latin typeface="Tw Cen MT" panose="020B0602020104020603" pitchFamily="34" charset="0"/>
              </a:rPr>
              <a:t>dalam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hidupnya</a:t>
            </a:r>
            <a:r>
              <a:rPr lang="en-ID" sz="2400" dirty="0">
                <a:latin typeface="Tw Cen MT" panose="020B0602020104020603" pitchFamily="34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</a:rPr>
              <a:t>seperti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peran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seorang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istri</a:t>
            </a:r>
            <a:r>
              <a:rPr lang="en-ID" sz="2400" dirty="0">
                <a:latin typeface="Tw Cen MT" panose="020B0602020104020603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</a:rPr>
              <a:t>disahkan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menjadi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pendamping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dengan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pernikahan</a:t>
            </a:r>
            <a:r>
              <a:rPr lang="en-ID" sz="2400" dirty="0">
                <a:latin typeface="Tw Cen MT" panose="020B0602020104020603" pitchFamily="34" charset="0"/>
              </a:rPr>
              <a:t> yang di </a:t>
            </a:r>
            <a:r>
              <a:rPr lang="en-ID" sz="2400" dirty="0" err="1">
                <a:latin typeface="Tw Cen MT" panose="020B0602020104020603" pitchFamily="34" charset="0"/>
              </a:rPr>
              <a:t>syari’atkan</a:t>
            </a:r>
            <a:r>
              <a:rPr lang="en-ID" sz="2400" dirty="0">
                <a:latin typeface="Tw Cen MT" panose="020B0602020104020603" pitchFamily="34" charset="0"/>
              </a:rPr>
              <a:t> oleh Islam. Pemuda </a:t>
            </a:r>
            <a:r>
              <a:rPr lang="en-ID" sz="2400" dirty="0" err="1">
                <a:latin typeface="Tw Cen MT" panose="020B0602020104020603" pitchFamily="34" charset="0"/>
              </a:rPr>
              <a:t>lajang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biasanya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cenderung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lebih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sibuk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daripada</a:t>
            </a:r>
            <a:r>
              <a:rPr lang="en-ID" sz="2400" dirty="0">
                <a:latin typeface="Tw Cen MT" panose="020B0602020104020603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</a:rPr>
              <a:t>sudah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beristri</a:t>
            </a:r>
            <a:r>
              <a:rPr lang="en-ID" sz="2400" dirty="0">
                <a:latin typeface="Tw Cen MT" panose="020B0602020104020603" pitchFamily="34" charset="0"/>
              </a:rPr>
              <a:t>. </a:t>
            </a:r>
            <a:r>
              <a:rPr lang="en-ID" sz="2400" dirty="0" err="1">
                <a:latin typeface="Tw Cen MT" panose="020B0602020104020603" pitchFamily="34" charset="0"/>
              </a:rPr>
              <a:t>Sebab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dengan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beristri</a:t>
            </a:r>
            <a:r>
              <a:rPr lang="en-ID" sz="2400" dirty="0">
                <a:latin typeface="Tw Cen MT" panose="020B0602020104020603" pitchFamily="34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</a:rPr>
              <a:t>tentu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ada</a:t>
            </a:r>
            <a:r>
              <a:rPr lang="en-ID" sz="2400" dirty="0">
                <a:latin typeface="Tw Cen MT" panose="020B0602020104020603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</a:rPr>
              <a:t>mendampingi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dalam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menyelesaikan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urusan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rumah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tangganya</a:t>
            </a:r>
            <a:r>
              <a:rPr lang="en-ID" sz="2400" dirty="0">
                <a:latin typeface="Tw Cen MT" panose="020B0602020104020603" pitchFamily="34" charset="0"/>
              </a:rPr>
              <a:t>. Pun </a:t>
            </a:r>
            <a:r>
              <a:rPr lang="en-ID" sz="2400" dirty="0" err="1">
                <a:latin typeface="Tw Cen MT" panose="020B0602020104020603" pitchFamily="34" charset="0"/>
              </a:rPr>
              <a:t>apabila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ia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sakit</a:t>
            </a:r>
            <a:r>
              <a:rPr lang="en-ID" sz="2400" dirty="0">
                <a:latin typeface="Tw Cen MT" panose="020B0602020104020603" pitchFamily="34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</a:rPr>
              <a:t>ada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istri</a:t>
            </a:r>
            <a:r>
              <a:rPr lang="en-ID" sz="2400" dirty="0">
                <a:latin typeface="Tw Cen MT" panose="020B0602020104020603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</a:rPr>
              <a:t>merawatnya</a:t>
            </a:r>
            <a:r>
              <a:rPr lang="en-ID" sz="2400" dirty="0">
                <a:latin typeface="Tw Cen MT" panose="020B0602020104020603" pitchFamily="34" charset="0"/>
              </a:rPr>
              <a:t>, dan juga </a:t>
            </a:r>
            <a:r>
              <a:rPr lang="en-ID" sz="2400" dirty="0" err="1">
                <a:latin typeface="Tw Cen MT" panose="020B0602020104020603" pitchFamily="34" charset="0"/>
              </a:rPr>
              <a:t>sebaliknya</a:t>
            </a:r>
            <a:r>
              <a:rPr lang="en-ID" sz="2400" dirty="0">
                <a:latin typeface="Tw Cen MT" panose="020B0602020104020603" pitchFamily="34" charset="0"/>
              </a:rPr>
              <a:t>.</a:t>
            </a:r>
          </a:p>
          <a:p>
            <a:pPr marL="0" indent="0" algn="just">
              <a:buNone/>
            </a:pPr>
            <a:endParaRPr lang="en-ID" sz="2400" dirty="0">
              <a:latin typeface="Tw Cen MT" panose="020B0602020104020603" pitchFamily="34" charset="0"/>
            </a:endParaRPr>
          </a:p>
          <a:p>
            <a:pPr marL="0" indent="0" algn="just">
              <a:buNone/>
            </a:pP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</a:rPr>
              <a:t>6)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Melatih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ID" sz="24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Tanggung</a:t>
            </a:r>
            <a:r>
              <a:rPr lang="en-ID" sz="2400" b="1" dirty="0">
                <a:solidFill>
                  <a:srgbClr val="6B3A2F"/>
                </a:solidFill>
                <a:latin typeface="Tw Cen MT" panose="020B0602020104020603" pitchFamily="34" charset="0"/>
              </a:rPr>
              <a:t> Jawab</a:t>
            </a:r>
          </a:p>
          <a:p>
            <a:pPr marL="0" indent="0" algn="just">
              <a:buNone/>
            </a:pPr>
            <a:r>
              <a:rPr lang="en-ID" sz="2400" dirty="0">
                <a:latin typeface="Tw Cen MT" panose="020B0602020104020603" pitchFamily="34" charset="0"/>
              </a:rPr>
              <a:t>	</a:t>
            </a:r>
            <a:r>
              <a:rPr lang="en-ID" sz="2400" dirty="0" err="1">
                <a:latin typeface="Tw Cen MT" panose="020B0602020104020603" pitchFamily="34" charset="0"/>
              </a:rPr>
              <a:t>Saat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masih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lajang</a:t>
            </a:r>
            <a:r>
              <a:rPr lang="en-ID" sz="2400" dirty="0">
                <a:latin typeface="Tw Cen MT" panose="020B0602020104020603" pitchFamily="34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</a:rPr>
              <a:t>setiap</a:t>
            </a:r>
            <a:r>
              <a:rPr lang="en-ID" sz="2400" dirty="0">
                <a:latin typeface="Tw Cen MT" panose="020B0602020104020603" pitchFamily="34" charset="0"/>
              </a:rPr>
              <a:t> orang </a:t>
            </a:r>
            <a:r>
              <a:rPr lang="en-ID" sz="2400" dirty="0" err="1">
                <a:latin typeface="Tw Cen MT" panose="020B0602020104020603" pitchFamily="34" charset="0"/>
              </a:rPr>
              <a:t>cenderung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hidup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suka-suka</a:t>
            </a:r>
            <a:r>
              <a:rPr lang="en-ID" sz="2400" dirty="0">
                <a:latin typeface="Tw Cen MT" panose="020B0602020104020603" pitchFamily="34" charset="0"/>
              </a:rPr>
              <a:t>. </a:t>
            </a:r>
            <a:r>
              <a:rPr lang="en-ID" sz="2400" dirty="0" err="1">
                <a:latin typeface="Tw Cen MT" panose="020B0602020104020603" pitchFamily="34" charset="0"/>
              </a:rPr>
              <a:t>Saat</a:t>
            </a:r>
            <a:r>
              <a:rPr lang="en-ID" sz="2400" dirty="0">
                <a:latin typeface="Tw Cen MT" panose="020B0602020104020603" pitchFamily="34" charset="0"/>
              </a:rPr>
              <a:t> punya uang </a:t>
            </a:r>
            <a:r>
              <a:rPr lang="en-ID" sz="2400" dirty="0" err="1">
                <a:latin typeface="Tw Cen MT" panose="020B0602020104020603" pitchFamily="34" charset="0"/>
              </a:rPr>
              <a:t>dibuat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foya-foya</a:t>
            </a:r>
            <a:r>
              <a:rPr lang="en-ID" sz="2400" dirty="0">
                <a:latin typeface="Tw Cen MT" panose="020B0602020104020603" pitchFamily="34" charset="0"/>
              </a:rPr>
              <a:t>. </a:t>
            </a:r>
            <a:r>
              <a:rPr lang="en-ID" sz="2400" dirty="0" err="1">
                <a:latin typeface="Tw Cen MT" panose="020B0602020104020603" pitchFamily="34" charset="0"/>
              </a:rPr>
              <a:t>Pergi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kemanapun</a:t>
            </a:r>
            <a:r>
              <a:rPr lang="en-ID" sz="2400" dirty="0">
                <a:latin typeface="Tw Cen MT" panose="020B0602020104020603" pitchFamily="34" charset="0"/>
              </a:rPr>
              <a:t> juga </a:t>
            </a:r>
            <a:r>
              <a:rPr lang="en-ID" sz="2400" dirty="0" err="1">
                <a:latin typeface="Tw Cen MT" panose="020B0602020104020603" pitchFamily="34" charset="0"/>
              </a:rPr>
              <a:t>bebas</a:t>
            </a:r>
            <a:r>
              <a:rPr lang="en-ID" sz="2400" dirty="0">
                <a:latin typeface="Tw Cen MT" panose="020B0602020104020603" pitchFamily="34" charset="0"/>
              </a:rPr>
              <a:t>. </a:t>
            </a:r>
            <a:r>
              <a:rPr lang="en-ID" sz="2400" dirty="0" err="1">
                <a:latin typeface="Tw Cen MT" panose="020B0602020104020603" pitchFamily="34" charset="0"/>
              </a:rPr>
              <a:t>Namun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dengan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menikah</a:t>
            </a:r>
            <a:r>
              <a:rPr lang="en-ID" sz="2400" dirty="0">
                <a:latin typeface="Tw Cen MT" panose="020B0602020104020603" pitchFamily="34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</a:rPr>
              <a:t>seorang</a:t>
            </a:r>
            <a:r>
              <a:rPr lang="en-ID" sz="2400" dirty="0">
                <a:latin typeface="Tw Cen MT" panose="020B0602020104020603" pitchFamily="34" charset="0"/>
              </a:rPr>
              <a:t> pemuda </a:t>
            </a:r>
            <a:r>
              <a:rPr lang="en-ID" sz="2400" dirty="0" err="1">
                <a:latin typeface="Tw Cen MT" panose="020B0602020104020603" pitchFamily="34" charset="0"/>
              </a:rPr>
              <a:t>akan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berpikir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mengenai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tanggungjawab</a:t>
            </a:r>
            <a:r>
              <a:rPr lang="en-ID" sz="2400" dirty="0">
                <a:latin typeface="Tw Cen MT" panose="020B0602020104020603" pitchFamily="34" charset="0"/>
              </a:rPr>
              <a:t>; </a:t>
            </a:r>
            <a:r>
              <a:rPr lang="en-ID" sz="2400" dirty="0" err="1">
                <a:latin typeface="Tw Cen MT" panose="020B0602020104020603" pitchFamily="34" charset="0"/>
              </a:rPr>
              <a:t>menafkahi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istri</a:t>
            </a:r>
            <a:r>
              <a:rPr lang="en-ID" sz="2400" dirty="0">
                <a:latin typeface="Tw Cen MT" panose="020B0602020104020603" pitchFamily="34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</a:rPr>
              <a:t>anak</a:t>
            </a:r>
            <a:r>
              <a:rPr lang="en-ID" sz="2400" dirty="0">
                <a:latin typeface="Tw Cen MT" panose="020B0602020104020603" pitchFamily="34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</a:rPr>
              <a:t>keluarga</a:t>
            </a:r>
            <a:r>
              <a:rPr lang="en-ID" sz="2400" dirty="0">
                <a:latin typeface="Tw Cen MT" panose="020B0602020104020603" pitchFamily="34" charset="0"/>
              </a:rPr>
              <a:t>, juga </a:t>
            </a:r>
            <a:r>
              <a:rPr lang="en-ID" sz="2400" dirty="0" err="1">
                <a:latin typeface="Tw Cen MT" panose="020B0602020104020603" pitchFamily="34" charset="0"/>
              </a:rPr>
              <a:t>membimbing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mereka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ke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jalan</a:t>
            </a:r>
            <a:r>
              <a:rPr lang="en-ID" sz="2400" dirty="0">
                <a:latin typeface="Tw Cen MT" panose="020B0602020104020603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</a:rPr>
              <a:t>benar</a:t>
            </a:r>
            <a:r>
              <a:rPr lang="en-ID" sz="2400" dirty="0">
                <a:latin typeface="Tw Cen MT" panose="020B0602020104020603" pitchFamily="34" charset="0"/>
              </a:rPr>
              <a:t>. </a:t>
            </a:r>
            <a:r>
              <a:rPr lang="en-ID" sz="2400" dirty="0" err="1">
                <a:latin typeface="Tw Cen MT" panose="020B0602020104020603" pitchFamily="34" charset="0"/>
              </a:rPr>
              <a:t>Tanggung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jawabnya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dapat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berupa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seperti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kewajiban-kewajiban</a:t>
            </a:r>
            <a:r>
              <a:rPr lang="en-ID" sz="2400" dirty="0">
                <a:latin typeface="Tw Cen MT" panose="020B0602020104020603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</a:rPr>
              <a:t>harus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dilakukan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atau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dikerjakan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ketika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sudah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menikah</a:t>
            </a:r>
            <a:r>
              <a:rPr lang="en-ID" sz="2400" dirty="0">
                <a:latin typeface="Tw Cen MT" panose="020B06020201040206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036413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remium Vector | Islamic wedding couple cartoon">
            <a:extLst>
              <a:ext uri="{FF2B5EF4-FFF2-40B4-BE49-F238E27FC236}">
                <a16:creationId xmlns:a16="http://schemas.microsoft.com/office/drawing/2014/main" id="{1918C828-F5FF-3FCB-9880-FE809C4FF9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9" t="11561" r="2215" b="9634"/>
          <a:stretch/>
        </p:blipFill>
        <p:spPr bwMode="auto">
          <a:xfrm>
            <a:off x="2570480" y="0"/>
            <a:ext cx="7965440" cy="678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C4EB1A2-71A8-4820-6CA0-BF7A6926B2D5}"/>
              </a:ext>
            </a:extLst>
          </p:cNvPr>
          <p:cNvSpPr/>
          <p:nvPr/>
        </p:nvSpPr>
        <p:spPr>
          <a:xfrm>
            <a:off x="0" y="2296160"/>
            <a:ext cx="12192000" cy="2042160"/>
          </a:xfrm>
          <a:prstGeom prst="rect">
            <a:avLst/>
          </a:prstGeom>
          <a:solidFill>
            <a:srgbClr val="6B3A2F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rgbClr val="DCCAC2"/>
                </a:solidFill>
                <a:latin typeface="Tw Cen MT" panose="020B0602020104020603" pitchFamily="34" charset="0"/>
              </a:rPr>
              <a:t>KEWAJIBAN YANG HARUS DILAKUKAN SETELAH PERNIKAHAN</a:t>
            </a:r>
            <a:endParaRPr lang="en-ID" sz="6000" b="1" dirty="0">
              <a:solidFill>
                <a:srgbClr val="DCCAC2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332678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remium Vector | Islamic wedding couple cartoon">
            <a:extLst>
              <a:ext uri="{FF2B5EF4-FFF2-40B4-BE49-F238E27FC236}">
                <a16:creationId xmlns:a16="http://schemas.microsoft.com/office/drawing/2014/main" id="{A0CCD076-4AA8-F260-E2E2-96BA079493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9" t="11561" r="2215" b="9634"/>
          <a:stretch/>
        </p:blipFill>
        <p:spPr bwMode="auto">
          <a:xfrm>
            <a:off x="2570480" y="0"/>
            <a:ext cx="7965440" cy="6787219"/>
          </a:xfrm>
          <a:prstGeom prst="rect">
            <a:avLst/>
          </a:prstGeom>
          <a:noFill/>
          <a:effectLst>
            <a:glow rad="127000">
              <a:schemeClr val="bg1">
                <a:alpha val="1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9F3601F-7574-7D62-1C00-62E10FEBD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3600"/>
            <a:ext cx="10515600" cy="32102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400" dirty="0">
              <a:latin typeface="Tw Cen MT" panose="020B0602020104020603" pitchFamily="34" charset="0"/>
            </a:endParaRPr>
          </a:p>
          <a:p>
            <a:pPr marL="0" indent="0" algn="just">
              <a:buNone/>
            </a:pPr>
            <a:r>
              <a:rPr lang="en-ID" sz="2400" dirty="0">
                <a:latin typeface="Tw Cen MT" panose="020B0602020104020603" pitchFamily="34" charset="0"/>
              </a:rPr>
              <a:t>	</a:t>
            </a:r>
            <a:r>
              <a:rPr lang="en-ID" sz="2400" dirty="0" err="1">
                <a:latin typeface="Tw Cen MT" panose="020B0602020104020603" pitchFamily="34" charset="0"/>
              </a:rPr>
              <a:t>Akad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pernikahan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dalam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syariat</a:t>
            </a:r>
            <a:r>
              <a:rPr lang="en-ID" sz="2400" dirty="0">
                <a:latin typeface="Tw Cen MT" panose="020B0602020104020603" pitchFamily="34" charset="0"/>
              </a:rPr>
              <a:t> Islam </a:t>
            </a:r>
            <a:r>
              <a:rPr lang="en-ID" sz="2400" dirty="0" err="1">
                <a:latin typeface="Tw Cen MT" panose="020B0602020104020603" pitchFamily="34" charset="0"/>
              </a:rPr>
              <a:t>tidak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sama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dengan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akad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kepemilikan</a:t>
            </a:r>
            <a:r>
              <a:rPr lang="en-ID" sz="2400" dirty="0">
                <a:latin typeface="Tw Cen MT" panose="020B0602020104020603" pitchFamily="34" charset="0"/>
              </a:rPr>
              <a:t>. </a:t>
            </a:r>
            <a:r>
              <a:rPr lang="en-ID" sz="2400" dirty="0" err="1">
                <a:latin typeface="Tw Cen MT" panose="020B0602020104020603" pitchFamily="34" charset="0"/>
              </a:rPr>
              <a:t>akad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pernikahan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diikat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dengan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memperhatikan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adanya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kewajiban-kewajiban</a:t>
            </a:r>
            <a:r>
              <a:rPr lang="en-ID" sz="2400" dirty="0">
                <a:latin typeface="Tw Cen MT" panose="020B0602020104020603" pitchFamily="34" charset="0"/>
              </a:rPr>
              <a:t> di </a:t>
            </a:r>
            <a:r>
              <a:rPr lang="en-ID" sz="2400" dirty="0" err="1">
                <a:latin typeface="Tw Cen MT" panose="020B0602020104020603" pitchFamily="34" charset="0"/>
              </a:rPr>
              <a:t>antara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keduanya</a:t>
            </a:r>
            <a:r>
              <a:rPr lang="en-ID" sz="2400" dirty="0">
                <a:latin typeface="Tw Cen MT" panose="020B0602020104020603" pitchFamily="34" charset="0"/>
              </a:rPr>
              <a:t>. </a:t>
            </a:r>
            <a:r>
              <a:rPr lang="en-ID" sz="2400" dirty="0" err="1">
                <a:latin typeface="Tw Cen MT" panose="020B0602020104020603" pitchFamily="34" charset="0"/>
              </a:rPr>
              <a:t>Dalam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hal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ini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suami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mempunyai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kewajiban</a:t>
            </a:r>
            <a:r>
              <a:rPr lang="en-ID" sz="2400" dirty="0">
                <a:latin typeface="Tw Cen MT" panose="020B0602020104020603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</a:rPr>
              <a:t>lebih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berat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dibandingkan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istrinya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berdasarkan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firman</a:t>
            </a:r>
            <a:r>
              <a:rPr lang="en-ID" sz="2400" dirty="0">
                <a:latin typeface="Tw Cen MT" panose="020B0602020104020603" pitchFamily="34" charset="0"/>
              </a:rPr>
              <a:t>-Nya “</a:t>
            </a:r>
            <a:r>
              <a:rPr lang="en-ID" sz="2400" dirty="0" err="1">
                <a:latin typeface="Tw Cen MT" panose="020B0602020104020603" pitchFamily="34" charset="0"/>
              </a:rPr>
              <a:t>akan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tetapi</a:t>
            </a:r>
            <a:r>
              <a:rPr lang="en-ID" sz="2400" dirty="0">
                <a:latin typeface="Tw Cen MT" panose="020B0602020104020603" pitchFamily="34" charset="0"/>
              </a:rPr>
              <a:t> para </a:t>
            </a:r>
            <a:r>
              <a:rPr lang="en-ID" sz="2400" dirty="0" err="1">
                <a:latin typeface="Tw Cen MT" panose="020B0602020104020603" pitchFamily="34" charset="0"/>
              </a:rPr>
              <a:t>suami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mempunyai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satu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tingkatan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kelebihan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daripada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istrinya</a:t>
            </a:r>
            <a:r>
              <a:rPr lang="en-ID" sz="2400" dirty="0">
                <a:latin typeface="Tw Cen MT" panose="020B0602020104020603" pitchFamily="34" charset="0"/>
              </a:rPr>
              <a:t>”. Kata </a:t>
            </a:r>
            <a:r>
              <a:rPr lang="en-ID" sz="2400" dirty="0" err="1">
                <a:latin typeface="Tw Cen MT" panose="020B0602020104020603" pitchFamily="34" charset="0"/>
              </a:rPr>
              <a:t>satu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tingkatan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kelebihan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dapat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ditafsirkan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dengan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firmannya</a:t>
            </a:r>
            <a:r>
              <a:rPr lang="en-ID" sz="2400" dirty="0">
                <a:latin typeface="Tw Cen MT" panose="020B0602020104020603" pitchFamily="34" charset="0"/>
              </a:rPr>
              <a:t> : “</a:t>
            </a:r>
            <a:r>
              <a:rPr lang="en-ID" sz="2400" dirty="0" err="1">
                <a:latin typeface="Tw Cen MT" panose="020B0602020104020603" pitchFamily="34" charset="0"/>
              </a:rPr>
              <a:t>Kaum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laki-laki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itu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adalah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pemimpin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bagi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kaum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wanita</a:t>
            </a:r>
            <a:r>
              <a:rPr lang="en-ID" sz="2400" dirty="0">
                <a:latin typeface="Tw Cen MT" panose="020B0602020104020603" pitchFamily="34" charset="0"/>
              </a:rPr>
              <a:t>…” (QS. An-</a:t>
            </a:r>
            <a:r>
              <a:rPr lang="en-ID" sz="2400" dirty="0" err="1">
                <a:latin typeface="Tw Cen MT" panose="020B0602020104020603" pitchFamily="34" charset="0"/>
              </a:rPr>
              <a:t>Nisa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ayat</a:t>
            </a:r>
            <a:r>
              <a:rPr lang="en-ID" sz="2400" dirty="0">
                <a:latin typeface="Tw Cen MT" panose="020B0602020104020603" pitchFamily="34" charset="0"/>
              </a:rPr>
              <a:t> 34).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F7D7B2-BC9F-00A8-3F41-B74AF2FB8252}"/>
              </a:ext>
            </a:extLst>
          </p:cNvPr>
          <p:cNvSpPr txBox="1"/>
          <p:nvPr/>
        </p:nvSpPr>
        <p:spPr>
          <a:xfrm>
            <a:off x="0" y="1514157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B3A2F"/>
                </a:solidFill>
                <a:latin typeface="Tw Cen MT" panose="020B0602020104020603" pitchFamily="34" charset="0"/>
              </a:rPr>
              <a:t>K</a:t>
            </a:r>
            <a:r>
              <a:rPr lang="en-ID" sz="40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ewajiban</a:t>
            </a:r>
            <a:r>
              <a:rPr lang="en-ID" sz="40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ID" sz="40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Suami</a:t>
            </a:r>
            <a:r>
              <a:rPr lang="en-ID" sz="40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ID" sz="40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terhadap</a:t>
            </a:r>
            <a:r>
              <a:rPr lang="en-ID" sz="40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ID" sz="40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Istri</a:t>
            </a:r>
            <a:endParaRPr lang="en-ID" sz="4000" b="1" dirty="0">
              <a:solidFill>
                <a:srgbClr val="6B3A2F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059339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remium Vector | Islamic wedding couple cartoon">
            <a:extLst>
              <a:ext uri="{FF2B5EF4-FFF2-40B4-BE49-F238E27FC236}">
                <a16:creationId xmlns:a16="http://schemas.microsoft.com/office/drawing/2014/main" id="{45F2CAA0-6DBA-3CB7-1610-948ED15A0F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9" t="11561" r="2215" b="9634"/>
          <a:stretch/>
        </p:blipFill>
        <p:spPr bwMode="auto">
          <a:xfrm>
            <a:off x="2570480" y="0"/>
            <a:ext cx="7965440" cy="6787219"/>
          </a:xfrm>
          <a:prstGeom prst="rect">
            <a:avLst/>
          </a:prstGeom>
          <a:noFill/>
          <a:effectLst>
            <a:glow rad="127000">
              <a:schemeClr val="bg1">
                <a:alpha val="1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6DC371-3E35-5ADF-04DC-E0F7DE14D91B}"/>
              </a:ext>
            </a:extLst>
          </p:cNvPr>
          <p:cNvSpPr txBox="1"/>
          <p:nvPr/>
        </p:nvSpPr>
        <p:spPr>
          <a:xfrm>
            <a:off x="0" y="27372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B3A2F"/>
                </a:solidFill>
                <a:latin typeface="Tw Cen MT" panose="020B0602020104020603" pitchFamily="34" charset="0"/>
              </a:rPr>
              <a:t>K</a:t>
            </a:r>
            <a:r>
              <a:rPr lang="en-ID" sz="40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ewajiban</a:t>
            </a:r>
            <a:r>
              <a:rPr lang="en-ID" sz="40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ID" sz="40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Istri</a:t>
            </a:r>
            <a:r>
              <a:rPr lang="en-ID" sz="40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ID" sz="40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terhadap</a:t>
            </a:r>
            <a:r>
              <a:rPr lang="en-ID" sz="4000" b="1" dirty="0">
                <a:solidFill>
                  <a:srgbClr val="6B3A2F"/>
                </a:solidFill>
                <a:latin typeface="Tw Cen MT" panose="020B0602020104020603" pitchFamily="34" charset="0"/>
              </a:rPr>
              <a:t> </a:t>
            </a:r>
            <a:r>
              <a:rPr lang="en-ID" sz="4000" b="1" dirty="0" err="1">
                <a:solidFill>
                  <a:srgbClr val="6B3A2F"/>
                </a:solidFill>
                <a:latin typeface="Tw Cen MT" panose="020B0602020104020603" pitchFamily="34" charset="0"/>
              </a:rPr>
              <a:t>Suami</a:t>
            </a:r>
            <a:endParaRPr lang="en-ID" sz="4000" b="1" dirty="0">
              <a:solidFill>
                <a:srgbClr val="6B3A2F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98CBF7A-C5F7-3701-A858-FED0BEED4616}"/>
              </a:ext>
            </a:extLst>
          </p:cNvPr>
          <p:cNvSpPr txBox="1">
            <a:spLocks/>
          </p:cNvSpPr>
          <p:nvPr/>
        </p:nvSpPr>
        <p:spPr>
          <a:xfrm>
            <a:off x="838200" y="1255334"/>
            <a:ext cx="10515600" cy="5120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D" sz="2400" dirty="0">
                <a:latin typeface="Tw Cen MT" panose="020B0602020104020603" pitchFamily="34" charset="0"/>
              </a:rPr>
              <a:t>       </a:t>
            </a:r>
            <a:r>
              <a:rPr lang="en-ID" sz="2400" dirty="0" err="1">
                <a:latin typeface="Tw Cen MT" panose="020B0602020104020603" pitchFamily="34" charset="0"/>
              </a:rPr>
              <a:t>Mentaati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suami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merupakan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perintah</a:t>
            </a:r>
            <a:r>
              <a:rPr lang="en-ID" sz="2400" dirty="0">
                <a:latin typeface="Tw Cen MT" panose="020B0602020104020603" pitchFamily="34" charset="0"/>
              </a:rPr>
              <a:t> Allah SWT. </a:t>
            </a:r>
            <a:r>
              <a:rPr lang="en-ID" sz="2400" dirty="0" err="1">
                <a:latin typeface="Tw Cen MT" panose="020B0602020104020603" pitchFamily="34" charset="0"/>
              </a:rPr>
              <a:t>sebagaimana</a:t>
            </a:r>
            <a:r>
              <a:rPr lang="en-ID" sz="2400" dirty="0">
                <a:latin typeface="Tw Cen MT" panose="020B0602020104020603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</a:rPr>
              <a:t>tersirat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dalam</a:t>
            </a:r>
            <a:r>
              <a:rPr lang="en-ID" sz="2400" dirty="0">
                <a:latin typeface="Tw Cen MT" panose="020B0602020104020603" pitchFamily="34" charset="0"/>
              </a:rPr>
              <a:t> Al-Qur’an Surah An-</a:t>
            </a:r>
            <a:r>
              <a:rPr lang="en-ID" sz="2400" dirty="0" err="1">
                <a:latin typeface="Tw Cen MT" panose="020B0602020104020603" pitchFamily="34" charset="0"/>
              </a:rPr>
              <a:t>Nisa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ayat</a:t>
            </a:r>
            <a:r>
              <a:rPr lang="en-ID" sz="2400" dirty="0">
                <a:latin typeface="Tw Cen MT" panose="020B0602020104020603" pitchFamily="34" charset="0"/>
              </a:rPr>
              <a:t> 34 </a:t>
            </a:r>
            <a:r>
              <a:rPr lang="en-ID" sz="2400" dirty="0" err="1">
                <a:latin typeface="Tw Cen MT" panose="020B0602020104020603" pitchFamily="34" charset="0"/>
              </a:rPr>
              <a:t>sebagai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berikut</a:t>
            </a:r>
            <a:r>
              <a:rPr lang="en-ID" sz="2400" dirty="0">
                <a:latin typeface="Tw Cen MT" panose="020B0602020104020603" pitchFamily="34" charset="0"/>
              </a:rPr>
              <a:t>: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ar-AE" sz="2400" dirty="0">
                <a:latin typeface="Tw Cen MT" panose="020B0602020104020603" pitchFamily="34" charset="0"/>
              </a:rPr>
              <a:t>اَلرِّجَالُ قَوّٰمُوْنَ عَلَى النِّسَآءِ بِمَا فَضَّلَ اللّٰهُ بَعْضَهُمْ عَلٰى بَعْضٍ وَّ بِمَاۤ اَنْفَقُوْا مِنْ اَمْوَالِهِمْؕ-فَالصّٰلِحٰتُ قٰنِتٰتٌ حٰفِظٰتٌ لِّلْغَیْبِ بِمَا حَفِظَ اللّٰهُؕ-وَ الّٰتِیْ تَخَافُوْنَ نُشُوْزَهُنَّ فَعِظُوْهُنَّ وَ اهْجُرُوْهُنَّ فِی الْمَضَاجِعِ وَ اضْرِبُوْهُنَّۚ-فَاِنْ اَطَعْنَكُمْ فَلَا تَبْغُوْا عَلَیْهِنَّ سَبِیْلًاؕ-اِنَّ اللّٰهَ كَانَ عَلِیًّا كَبِیْرًا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D" sz="2400" dirty="0">
                <a:latin typeface="Tw Cen MT" panose="020B0602020104020603" pitchFamily="34" charset="0"/>
              </a:rPr>
              <a:t>       </a:t>
            </a:r>
            <a:r>
              <a:rPr lang="en-ID" sz="2000" i="1" dirty="0" err="1">
                <a:latin typeface="Tw Cen MT" panose="020B0602020104020603" pitchFamily="34" charset="0"/>
              </a:rPr>
              <a:t>Artinya</a:t>
            </a:r>
            <a:r>
              <a:rPr lang="en-ID" sz="2000" i="1" dirty="0">
                <a:latin typeface="Tw Cen MT" panose="020B0602020104020603" pitchFamily="34" charset="0"/>
              </a:rPr>
              <a:t> : </a:t>
            </a:r>
            <a:r>
              <a:rPr lang="en-ID" sz="2000" i="1" dirty="0" err="1">
                <a:latin typeface="Tw Cen MT" panose="020B0602020104020603" pitchFamily="34" charset="0"/>
              </a:rPr>
              <a:t>Kaum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laki-laki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itu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adalah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pemimpin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bagi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kaum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wanita</a:t>
            </a:r>
            <a:r>
              <a:rPr lang="en-ID" sz="2000" i="1" dirty="0">
                <a:latin typeface="Tw Cen MT" panose="020B0602020104020603" pitchFamily="34" charset="0"/>
              </a:rPr>
              <a:t>, oleh </a:t>
            </a:r>
            <a:r>
              <a:rPr lang="en-ID" sz="2000" i="1" dirty="0" err="1">
                <a:latin typeface="Tw Cen MT" panose="020B0602020104020603" pitchFamily="34" charset="0"/>
              </a:rPr>
              <a:t>karena</a:t>
            </a:r>
            <a:r>
              <a:rPr lang="en-ID" sz="2000" i="1" dirty="0">
                <a:latin typeface="Tw Cen MT" panose="020B0602020104020603" pitchFamily="34" charset="0"/>
              </a:rPr>
              <a:t> Allah </a:t>
            </a:r>
            <a:r>
              <a:rPr lang="en-ID" sz="2000" i="1" dirty="0" err="1">
                <a:latin typeface="Tw Cen MT" panose="020B0602020104020603" pitchFamily="34" charset="0"/>
              </a:rPr>
              <a:t>telah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melebihkan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sebahagian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mereka</a:t>
            </a:r>
            <a:r>
              <a:rPr lang="en-ID" sz="2000" i="1" dirty="0">
                <a:latin typeface="Tw Cen MT" panose="020B0602020104020603" pitchFamily="34" charset="0"/>
              </a:rPr>
              <a:t> (</a:t>
            </a:r>
            <a:r>
              <a:rPr lang="en-ID" sz="2000" i="1" dirty="0" err="1">
                <a:latin typeface="Tw Cen MT" panose="020B0602020104020603" pitchFamily="34" charset="0"/>
              </a:rPr>
              <a:t>laki-laki</a:t>
            </a:r>
            <a:r>
              <a:rPr lang="en-ID" sz="2000" i="1" dirty="0">
                <a:latin typeface="Tw Cen MT" panose="020B0602020104020603" pitchFamily="34" charset="0"/>
              </a:rPr>
              <a:t>) </a:t>
            </a:r>
            <a:r>
              <a:rPr lang="en-ID" sz="2000" i="1" dirty="0" err="1">
                <a:latin typeface="Tw Cen MT" panose="020B0602020104020603" pitchFamily="34" charset="0"/>
              </a:rPr>
              <a:t>atas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sebahagian</a:t>
            </a:r>
            <a:r>
              <a:rPr lang="en-ID" sz="2000" i="1" dirty="0">
                <a:latin typeface="Tw Cen MT" panose="020B0602020104020603" pitchFamily="34" charset="0"/>
              </a:rPr>
              <a:t> yang lain (</a:t>
            </a:r>
            <a:r>
              <a:rPr lang="en-ID" sz="2000" i="1" dirty="0" err="1">
                <a:latin typeface="Tw Cen MT" panose="020B0602020104020603" pitchFamily="34" charset="0"/>
              </a:rPr>
              <a:t>wanita</a:t>
            </a:r>
            <a:r>
              <a:rPr lang="en-ID" sz="2000" i="1" dirty="0">
                <a:latin typeface="Tw Cen MT" panose="020B0602020104020603" pitchFamily="34" charset="0"/>
              </a:rPr>
              <a:t>), dan </a:t>
            </a:r>
            <a:r>
              <a:rPr lang="en-ID" sz="2000" i="1" dirty="0" err="1">
                <a:latin typeface="Tw Cen MT" panose="020B0602020104020603" pitchFamily="34" charset="0"/>
              </a:rPr>
              <a:t>karena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mereka</a:t>
            </a:r>
            <a:r>
              <a:rPr lang="en-ID" sz="2000" i="1" dirty="0">
                <a:latin typeface="Tw Cen MT" panose="020B0602020104020603" pitchFamily="34" charset="0"/>
              </a:rPr>
              <a:t> (</a:t>
            </a:r>
            <a:r>
              <a:rPr lang="en-ID" sz="2000" i="1" dirty="0" err="1">
                <a:latin typeface="Tw Cen MT" panose="020B0602020104020603" pitchFamily="34" charset="0"/>
              </a:rPr>
              <a:t>laki-laki</a:t>
            </a:r>
            <a:r>
              <a:rPr lang="en-ID" sz="2000" i="1" dirty="0">
                <a:latin typeface="Tw Cen MT" panose="020B0602020104020603" pitchFamily="34" charset="0"/>
              </a:rPr>
              <a:t>) </a:t>
            </a:r>
            <a:r>
              <a:rPr lang="en-ID" sz="2000" i="1" dirty="0" err="1">
                <a:latin typeface="Tw Cen MT" panose="020B0602020104020603" pitchFamily="34" charset="0"/>
              </a:rPr>
              <a:t>telah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menafkahkan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sebagian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dari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harta</a:t>
            </a:r>
            <a:r>
              <a:rPr lang="en-ID" sz="2000" i="1" dirty="0">
                <a:latin typeface="Tw Cen MT" panose="020B0602020104020603" pitchFamily="34" charset="0"/>
              </a:rPr>
              <a:t> </a:t>
            </a:r>
            <a:r>
              <a:rPr lang="en-ID" sz="2000" i="1" dirty="0" err="1">
                <a:latin typeface="Tw Cen MT" panose="020B0602020104020603" pitchFamily="34" charset="0"/>
              </a:rPr>
              <a:t>mereka</a:t>
            </a:r>
            <a:r>
              <a:rPr lang="en-ID" sz="2000" i="1" dirty="0">
                <a:latin typeface="Tw Cen MT" panose="020B0602020104020603" pitchFamily="34" charset="0"/>
              </a:rPr>
              <a:t>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D" sz="2400" dirty="0">
                <a:latin typeface="Tw Cen MT" panose="020B0602020104020603" pitchFamily="34" charset="0"/>
              </a:rPr>
              <a:t>       </a:t>
            </a:r>
            <a:r>
              <a:rPr lang="en-ID" sz="2400" dirty="0" err="1">
                <a:latin typeface="Tw Cen MT" panose="020B0602020104020603" pitchFamily="34" charset="0"/>
              </a:rPr>
              <a:t>Sebab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itu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maka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wanita</a:t>
            </a:r>
            <a:r>
              <a:rPr lang="en-ID" sz="2400" dirty="0">
                <a:latin typeface="Tw Cen MT" panose="020B0602020104020603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</a:rPr>
              <a:t>salehah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ialah</a:t>
            </a:r>
            <a:r>
              <a:rPr lang="en-ID" sz="2400" dirty="0">
                <a:latin typeface="Tw Cen MT" panose="020B0602020104020603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</a:rPr>
              <a:t>taat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kepada</a:t>
            </a:r>
            <a:r>
              <a:rPr lang="en-ID" sz="2400" dirty="0">
                <a:latin typeface="Tw Cen MT" panose="020B0602020104020603" pitchFamily="34" charset="0"/>
              </a:rPr>
              <a:t> Allah </a:t>
            </a:r>
            <a:r>
              <a:rPr lang="en-ID" sz="2400" dirty="0" err="1">
                <a:latin typeface="Tw Cen MT" panose="020B0602020104020603" pitchFamily="34" charset="0"/>
              </a:rPr>
              <a:t>lagi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memelihara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diri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ketika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suaminya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tidak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ada</a:t>
            </a:r>
            <a:r>
              <a:rPr lang="en-ID" sz="2400" dirty="0">
                <a:latin typeface="Tw Cen MT" panose="020B0602020104020603" pitchFamily="34" charset="0"/>
              </a:rPr>
              <a:t>, oleh </a:t>
            </a:r>
            <a:r>
              <a:rPr lang="en-ID" sz="2400" dirty="0" err="1">
                <a:latin typeface="Tw Cen MT" panose="020B0602020104020603" pitchFamily="34" charset="0"/>
              </a:rPr>
              <a:t>karena</a:t>
            </a:r>
            <a:r>
              <a:rPr lang="en-ID" sz="2400" dirty="0">
                <a:latin typeface="Tw Cen MT" panose="020B0602020104020603" pitchFamily="34" charset="0"/>
              </a:rPr>
              <a:t> Allah </a:t>
            </a:r>
            <a:r>
              <a:rPr lang="en-ID" sz="2400" dirty="0" err="1">
                <a:latin typeface="Tw Cen MT" panose="020B0602020104020603" pitchFamily="34" charset="0"/>
              </a:rPr>
              <a:t>telah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memelihara</a:t>
            </a:r>
            <a:r>
              <a:rPr lang="en-ID" sz="2400" dirty="0">
                <a:latin typeface="Tw Cen MT" panose="020B0602020104020603" pitchFamily="34" charset="0"/>
              </a:rPr>
              <a:t> (</a:t>
            </a:r>
            <a:r>
              <a:rPr lang="en-ID" sz="2400" dirty="0" err="1">
                <a:latin typeface="Tw Cen MT" panose="020B0602020104020603" pitchFamily="34" charset="0"/>
              </a:rPr>
              <a:t>mereka</a:t>
            </a:r>
            <a:r>
              <a:rPr lang="en-ID" sz="2400" dirty="0">
                <a:latin typeface="Tw Cen MT" panose="020B0602020104020603" pitchFamily="34" charset="0"/>
              </a:rPr>
              <a:t>). Wanita-</a:t>
            </a:r>
            <a:r>
              <a:rPr lang="en-ID" sz="2400" dirty="0" err="1">
                <a:latin typeface="Tw Cen MT" panose="020B0602020104020603" pitchFamily="34" charset="0"/>
              </a:rPr>
              <a:t>wanita</a:t>
            </a:r>
            <a:r>
              <a:rPr lang="en-ID" sz="2400" dirty="0">
                <a:latin typeface="Tw Cen MT" panose="020B0602020104020603" pitchFamily="34" charset="0"/>
              </a:rPr>
              <a:t> yang </a:t>
            </a:r>
            <a:r>
              <a:rPr lang="en-ID" sz="2400" dirty="0" err="1">
                <a:latin typeface="Tw Cen MT" panose="020B0602020104020603" pitchFamily="34" charset="0"/>
              </a:rPr>
              <a:t>kamu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khawatirkan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nusyuznya</a:t>
            </a:r>
            <a:r>
              <a:rPr lang="en-ID" sz="2400" dirty="0">
                <a:latin typeface="Tw Cen MT" panose="020B0602020104020603" pitchFamily="34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</a:rPr>
              <a:t>maka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nasehatilah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mereka</a:t>
            </a:r>
            <a:r>
              <a:rPr lang="en-ID" sz="2400" dirty="0">
                <a:latin typeface="Tw Cen MT" panose="020B0602020104020603" pitchFamily="34" charset="0"/>
              </a:rPr>
              <a:t> dan </a:t>
            </a:r>
            <a:r>
              <a:rPr lang="en-ID" sz="2400" dirty="0" err="1">
                <a:latin typeface="Tw Cen MT" panose="020B0602020104020603" pitchFamily="34" charset="0"/>
              </a:rPr>
              <a:t>pisahkanlah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mereka</a:t>
            </a:r>
            <a:r>
              <a:rPr lang="en-ID" sz="2400" dirty="0">
                <a:latin typeface="Tw Cen MT" panose="020B0602020104020603" pitchFamily="34" charset="0"/>
              </a:rPr>
              <a:t> di </a:t>
            </a:r>
            <a:r>
              <a:rPr lang="en-ID" sz="2400" dirty="0" err="1">
                <a:latin typeface="Tw Cen MT" panose="020B0602020104020603" pitchFamily="34" charset="0"/>
              </a:rPr>
              <a:t>tempat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tidur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mereka</a:t>
            </a:r>
            <a:r>
              <a:rPr lang="en-ID" sz="2400" dirty="0">
                <a:latin typeface="Tw Cen MT" panose="020B0602020104020603" pitchFamily="34" charset="0"/>
              </a:rPr>
              <a:t>, dan </a:t>
            </a:r>
            <a:r>
              <a:rPr lang="en-ID" sz="2400" dirty="0" err="1">
                <a:latin typeface="Tw Cen MT" panose="020B0602020104020603" pitchFamily="34" charset="0"/>
              </a:rPr>
              <a:t>pukullah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mereka</a:t>
            </a:r>
            <a:r>
              <a:rPr lang="en-ID" sz="2400" dirty="0">
                <a:latin typeface="Tw Cen MT" panose="020B0602020104020603" pitchFamily="34" charset="0"/>
              </a:rPr>
              <a:t>. </a:t>
            </a:r>
            <a:r>
              <a:rPr lang="en-ID" sz="2400" dirty="0" err="1">
                <a:latin typeface="Tw Cen MT" panose="020B0602020104020603" pitchFamily="34" charset="0"/>
              </a:rPr>
              <a:t>Kemudian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jika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mereka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mentaatimu</a:t>
            </a:r>
            <a:r>
              <a:rPr lang="en-ID" sz="2400" dirty="0">
                <a:latin typeface="Tw Cen MT" panose="020B0602020104020603" pitchFamily="34" charset="0"/>
              </a:rPr>
              <a:t>, </a:t>
            </a:r>
            <a:r>
              <a:rPr lang="en-ID" sz="2400" dirty="0" err="1">
                <a:latin typeface="Tw Cen MT" panose="020B0602020104020603" pitchFamily="34" charset="0"/>
              </a:rPr>
              <a:t>maka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janganlah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kamu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mencari-cari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jalan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untuk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menyusahkannya</a:t>
            </a:r>
            <a:r>
              <a:rPr lang="en-ID" sz="2400" dirty="0">
                <a:latin typeface="Tw Cen MT" panose="020B0602020104020603" pitchFamily="34" charset="0"/>
              </a:rPr>
              <a:t>. </a:t>
            </a:r>
            <a:r>
              <a:rPr lang="en-ID" sz="2400" dirty="0" err="1">
                <a:latin typeface="Tw Cen MT" panose="020B0602020104020603" pitchFamily="34" charset="0"/>
              </a:rPr>
              <a:t>Sesungguhnya</a:t>
            </a:r>
            <a:r>
              <a:rPr lang="en-ID" sz="2400" dirty="0">
                <a:latin typeface="Tw Cen MT" panose="020B0602020104020603" pitchFamily="34" charset="0"/>
              </a:rPr>
              <a:t> Allah </a:t>
            </a:r>
            <a:r>
              <a:rPr lang="en-ID" sz="2400" dirty="0" err="1">
                <a:latin typeface="Tw Cen MT" panose="020B0602020104020603" pitchFamily="34" charset="0"/>
              </a:rPr>
              <a:t>Maha</a:t>
            </a:r>
            <a:r>
              <a:rPr lang="en-ID" sz="2400" dirty="0">
                <a:latin typeface="Tw Cen MT" panose="020B0602020104020603" pitchFamily="34" charset="0"/>
              </a:rPr>
              <a:t> Tinggi </a:t>
            </a:r>
            <a:r>
              <a:rPr lang="en-ID" sz="2400" dirty="0" err="1">
                <a:latin typeface="Tw Cen MT" panose="020B0602020104020603" pitchFamily="34" charset="0"/>
              </a:rPr>
              <a:t>lagi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Maha</a:t>
            </a:r>
            <a:r>
              <a:rPr lang="en-ID" sz="2400" dirty="0">
                <a:latin typeface="Tw Cen MT" panose="020B0602020104020603" pitchFamily="34" charset="0"/>
              </a:rPr>
              <a:t> </a:t>
            </a:r>
            <a:r>
              <a:rPr lang="en-ID" sz="2400" dirty="0" err="1">
                <a:latin typeface="Tw Cen MT" panose="020B0602020104020603" pitchFamily="34" charset="0"/>
              </a:rPr>
              <a:t>Besar</a:t>
            </a:r>
            <a:r>
              <a:rPr lang="en-ID" sz="2400" dirty="0">
                <a:latin typeface="Tw Cen MT" panose="020B0602020104020603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737074146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remium Vector | Islamic wedding couple cartoon">
            <a:extLst>
              <a:ext uri="{FF2B5EF4-FFF2-40B4-BE49-F238E27FC236}">
                <a16:creationId xmlns:a16="http://schemas.microsoft.com/office/drawing/2014/main" id="{1918C828-F5FF-3FCB-9880-FE809C4FF9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9" t="11561" r="2215" b="9634"/>
          <a:stretch/>
        </p:blipFill>
        <p:spPr bwMode="auto">
          <a:xfrm>
            <a:off x="2570480" y="0"/>
            <a:ext cx="7965440" cy="678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C4EB1A2-71A8-4820-6CA0-BF7A6926B2D5}"/>
              </a:ext>
            </a:extLst>
          </p:cNvPr>
          <p:cNvSpPr/>
          <p:nvPr/>
        </p:nvSpPr>
        <p:spPr>
          <a:xfrm>
            <a:off x="0" y="2296160"/>
            <a:ext cx="12192000" cy="2042160"/>
          </a:xfrm>
          <a:prstGeom prst="rect">
            <a:avLst/>
          </a:prstGeom>
          <a:solidFill>
            <a:srgbClr val="6B3A2F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 err="1">
                <a:solidFill>
                  <a:srgbClr val="DCCAC2"/>
                </a:solidFill>
                <a:latin typeface="Tw Cen MT" panose="020B0602020104020603" pitchFamily="34" charset="0"/>
              </a:rPr>
              <a:t>Terima</a:t>
            </a:r>
            <a:r>
              <a:rPr lang="en-US" sz="6000" b="1" dirty="0">
                <a:solidFill>
                  <a:srgbClr val="DCCAC2"/>
                </a:solidFill>
                <a:latin typeface="Tw Cen MT" panose="020B0602020104020603" pitchFamily="34" charset="0"/>
              </a:rPr>
              <a:t> Kasih</a:t>
            </a:r>
            <a:endParaRPr lang="en-ID" sz="6000" b="1" dirty="0">
              <a:solidFill>
                <a:srgbClr val="DCCAC2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4789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1335</Words>
  <Application>Microsoft Office PowerPoint</Application>
  <PresentationFormat>Widescreen</PresentationFormat>
  <Paragraphs>86</Paragraphs>
  <Slides>23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Tw Cen MT</vt:lpstr>
      <vt:lpstr>Office Theme</vt:lpstr>
      <vt:lpstr>PowerPoint Presentation</vt:lpstr>
      <vt:lpstr>PowerPoint Presentation</vt:lpstr>
      <vt:lpstr>PowerPoint Presentation</vt:lpstr>
      <vt:lpstr>Apa itu Pernikahan?</vt:lpstr>
      <vt:lpstr>Dasar Hukum Pernikahan</vt:lpstr>
      <vt:lpstr>Hukum Pernikahan</vt:lpstr>
      <vt:lpstr>Hukum Pernikahan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acer.sn00c20424c123400@outlook.com</dc:creator>
  <cp:lastModifiedBy>acer 54y9</cp:lastModifiedBy>
  <cp:revision>6</cp:revision>
  <dcterms:created xsi:type="dcterms:W3CDTF">2022-10-24T15:14:25Z</dcterms:created>
  <dcterms:modified xsi:type="dcterms:W3CDTF">2022-11-21T14:15:36Z</dcterms:modified>
</cp:coreProperties>
</file>