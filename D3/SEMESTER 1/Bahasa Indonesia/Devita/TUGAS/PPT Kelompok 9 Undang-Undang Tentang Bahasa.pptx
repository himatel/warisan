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1" r:id="rId1"/>
  </p:sldMasterIdLst>
  <p:sldIdLst>
    <p:sldId id="256" r:id="rId2"/>
    <p:sldId id="258" r:id="rId3"/>
    <p:sldId id="259" r:id="rId4"/>
    <p:sldId id="261" r:id="rId5"/>
    <p:sldId id="257" r:id="rId6"/>
    <p:sldId id="266" r:id="rId7"/>
    <p:sldId id="269" r:id="rId8"/>
    <p:sldId id="260" r:id="rId9"/>
    <p:sldId id="262" r:id="rId10"/>
    <p:sldId id="267" r:id="rId11"/>
    <p:sldId id="268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14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493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483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10/21/2020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05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10/21/2020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415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10/21/2020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828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10/21/2020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553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10/21/2020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10/21/2020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423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807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599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426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l="-2000" t="-53000" r="-1000" b="-4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4025" y="2371724"/>
            <a:ext cx="9144000" cy="218598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>UNDANG-UNDANG TENTANG BAHASA INDONESIA</a:t>
            </a:r>
            <a:b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Bauhaus 93" panose="04030905020B02020C02" pitchFamily="82" charset="0"/>
                <a:cs typeface="Andalus" panose="02020603050405020304" pitchFamily="18" charset="-78"/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OLEH KELOMPOK 9: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ADI NUGRAHA   1951042002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MIRNAWATI       1951041015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KURNIATI.H        1951042001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229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Garamond" panose="02020404030301010803" pitchFamily="18" charset="0"/>
              </a:rPr>
              <a:t>Lahirnya</a:t>
            </a:r>
            <a:r>
              <a:rPr lang="en-US" dirty="0" smtClean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Garamond" panose="02020404030301010803" pitchFamily="18" charset="0"/>
              </a:rPr>
              <a:t>Undang-undang</a:t>
            </a:r>
            <a:r>
              <a:rPr lang="en-US" dirty="0" smtClean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Garamond" panose="02020404030301010803" pitchFamily="18" charset="0"/>
              </a:rPr>
              <a:t>Bahasa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675" y="1811337"/>
            <a:ext cx="9434513" cy="344646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err="1">
                <a:latin typeface="Garamond" panose="02020404030301010803" pitchFamily="18" charset="0"/>
              </a:rPr>
              <a:t>Bahasa</a:t>
            </a:r>
            <a:r>
              <a:rPr lang="en-US" dirty="0">
                <a:latin typeface="Garamond" panose="02020404030301010803" pitchFamily="18" charset="0"/>
              </a:rPr>
              <a:t> Indonesia </a:t>
            </a:r>
            <a:r>
              <a:rPr lang="en-US" dirty="0" err="1">
                <a:latin typeface="Garamond" panose="02020404030301010803" pitchFamily="18" charset="0"/>
              </a:rPr>
              <a:t>lahir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pada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tanggal</a:t>
            </a:r>
            <a:r>
              <a:rPr lang="en-US" dirty="0">
                <a:latin typeface="Garamond" panose="02020404030301010803" pitchFamily="18" charset="0"/>
              </a:rPr>
              <a:t> 28 </a:t>
            </a:r>
            <a:r>
              <a:rPr lang="en-US" dirty="0" err="1">
                <a:latin typeface="Garamond" panose="02020404030301010803" pitchFamily="18" charset="0"/>
              </a:rPr>
              <a:t>Oktober</a:t>
            </a:r>
            <a:r>
              <a:rPr lang="en-US" dirty="0">
                <a:latin typeface="Garamond" panose="02020404030301010803" pitchFamily="18" charset="0"/>
              </a:rPr>
              <a:t> 1928. </a:t>
            </a:r>
            <a:r>
              <a:rPr lang="en-US" dirty="0" err="1">
                <a:latin typeface="Garamond" panose="02020404030301010803" pitchFamily="18" charset="0"/>
              </a:rPr>
              <a:t>Pada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saat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itu</a:t>
            </a:r>
            <a:r>
              <a:rPr lang="en-US" dirty="0">
                <a:latin typeface="Garamond" panose="02020404030301010803" pitchFamily="18" charset="0"/>
              </a:rPr>
              <a:t>, para </a:t>
            </a:r>
            <a:r>
              <a:rPr lang="en-US" dirty="0" err="1">
                <a:latin typeface="Garamond" panose="02020404030301010803" pitchFamily="18" charset="0"/>
              </a:rPr>
              <a:t>pemuda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dari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berbagai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pelosok</a:t>
            </a:r>
            <a:r>
              <a:rPr lang="en-US" dirty="0">
                <a:latin typeface="Garamond" panose="02020404030301010803" pitchFamily="18" charset="0"/>
              </a:rPr>
              <a:t> Nusantara </a:t>
            </a:r>
            <a:r>
              <a:rPr lang="en-US" dirty="0" err="1">
                <a:latin typeface="Garamond" panose="02020404030301010803" pitchFamily="18" charset="0"/>
              </a:rPr>
              <a:t>berkumpul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dalam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kerapatan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Pemuda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berikrar</a:t>
            </a:r>
            <a:r>
              <a:rPr lang="en-US" dirty="0">
                <a:latin typeface="Garamond" panose="02020404030301010803" pitchFamily="18" charset="0"/>
              </a:rPr>
              <a:t/>
            </a:r>
            <a:br>
              <a:rPr lang="en-US" dirty="0">
                <a:latin typeface="Garamond" panose="02020404030301010803" pitchFamily="18" charset="0"/>
              </a:rPr>
            </a:br>
            <a:r>
              <a:rPr lang="en-US" dirty="0">
                <a:latin typeface="Garamond" panose="02020404030301010803" pitchFamily="18" charset="0"/>
              </a:rPr>
              <a:t>1. </a:t>
            </a:r>
            <a:r>
              <a:rPr lang="en-US" dirty="0" err="1">
                <a:latin typeface="Garamond" panose="02020404030301010803" pitchFamily="18" charset="0"/>
              </a:rPr>
              <a:t>Bertumpah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darah</a:t>
            </a:r>
            <a:r>
              <a:rPr lang="en-US" dirty="0">
                <a:latin typeface="Garamond" panose="02020404030301010803" pitchFamily="18" charset="0"/>
              </a:rPr>
              <a:t> yang </a:t>
            </a:r>
            <a:r>
              <a:rPr lang="en-US" dirty="0" err="1">
                <a:latin typeface="Garamond" panose="02020404030301010803" pitchFamily="18" charset="0"/>
              </a:rPr>
              <a:t>satu</a:t>
            </a:r>
            <a:r>
              <a:rPr lang="en-US" dirty="0">
                <a:latin typeface="Garamond" panose="02020404030301010803" pitchFamily="18" charset="0"/>
              </a:rPr>
              <a:t>, </a:t>
            </a:r>
            <a:r>
              <a:rPr lang="en-US" dirty="0" err="1">
                <a:latin typeface="Garamond" panose="02020404030301010803" pitchFamily="18" charset="0"/>
              </a:rPr>
              <a:t>tanah</a:t>
            </a:r>
            <a:r>
              <a:rPr lang="en-US" dirty="0">
                <a:latin typeface="Garamond" panose="02020404030301010803" pitchFamily="18" charset="0"/>
              </a:rPr>
              <a:t> Indonesia,</a:t>
            </a:r>
            <a:br>
              <a:rPr lang="en-US" dirty="0">
                <a:latin typeface="Garamond" panose="02020404030301010803" pitchFamily="18" charset="0"/>
              </a:rPr>
            </a:br>
            <a:r>
              <a:rPr lang="en-US" dirty="0">
                <a:latin typeface="Garamond" panose="02020404030301010803" pitchFamily="18" charset="0"/>
              </a:rPr>
              <a:t>2. </a:t>
            </a:r>
            <a:r>
              <a:rPr lang="en-US" dirty="0" err="1">
                <a:latin typeface="Garamond" panose="02020404030301010803" pitchFamily="18" charset="0"/>
              </a:rPr>
              <a:t>Berbangsa</a:t>
            </a:r>
            <a:r>
              <a:rPr lang="en-US" dirty="0">
                <a:latin typeface="Garamond" panose="02020404030301010803" pitchFamily="18" charset="0"/>
              </a:rPr>
              <a:t> yang </a:t>
            </a:r>
            <a:r>
              <a:rPr lang="en-US" dirty="0" err="1">
                <a:latin typeface="Garamond" panose="02020404030301010803" pitchFamily="18" charset="0"/>
              </a:rPr>
              <a:t>satu</a:t>
            </a:r>
            <a:r>
              <a:rPr lang="en-US" dirty="0">
                <a:latin typeface="Garamond" panose="02020404030301010803" pitchFamily="18" charset="0"/>
              </a:rPr>
              <a:t>, </a:t>
            </a:r>
            <a:r>
              <a:rPr lang="en-US" dirty="0" err="1">
                <a:latin typeface="Garamond" panose="02020404030301010803" pitchFamily="18" charset="0"/>
              </a:rPr>
              <a:t>bangsa</a:t>
            </a:r>
            <a:r>
              <a:rPr lang="en-US" dirty="0">
                <a:latin typeface="Garamond" panose="02020404030301010803" pitchFamily="18" charset="0"/>
              </a:rPr>
              <a:t> Indonesia, </a:t>
            </a:r>
            <a:r>
              <a:rPr lang="en-US" dirty="0" err="1">
                <a:latin typeface="Garamond" panose="02020404030301010803" pitchFamily="18" charset="0"/>
              </a:rPr>
              <a:t>dan</a:t>
            </a:r>
            <a:r>
              <a:rPr lang="en-US" dirty="0">
                <a:latin typeface="Garamond" panose="02020404030301010803" pitchFamily="18" charset="0"/>
              </a:rPr>
              <a:t/>
            </a:r>
            <a:br>
              <a:rPr lang="en-US" dirty="0">
                <a:latin typeface="Garamond" panose="02020404030301010803" pitchFamily="18" charset="0"/>
              </a:rPr>
            </a:br>
            <a:r>
              <a:rPr lang="en-US" dirty="0">
                <a:latin typeface="Garamond" panose="02020404030301010803" pitchFamily="18" charset="0"/>
              </a:rPr>
              <a:t>3. </a:t>
            </a:r>
            <a:r>
              <a:rPr lang="en-US" dirty="0" err="1">
                <a:latin typeface="Garamond" panose="02020404030301010803" pitchFamily="18" charset="0"/>
              </a:rPr>
              <a:t>Menjunjung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bahasa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persatuan</a:t>
            </a:r>
            <a:r>
              <a:rPr lang="en-US" dirty="0">
                <a:latin typeface="Garamond" panose="02020404030301010803" pitchFamily="18" charset="0"/>
              </a:rPr>
              <a:t>, </a:t>
            </a:r>
            <a:r>
              <a:rPr lang="en-US" dirty="0" err="1">
                <a:latin typeface="Garamond" panose="02020404030301010803" pitchFamily="18" charset="0"/>
              </a:rPr>
              <a:t>bahasa</a:t>
            </a:r>
            <a:r>
              <a:rPr lang="en-US" dirty="0">
                <a:latin typeface="Garamond" panose="02020404030301010803" pitchFamily="18" charset="0"/>
              </a:rPr>
              <a:t> Indonesia.</a:t>
            </a:r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07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5350" y="1211263"/>
            <a:ext cx="10148888" cy="435133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Ikrar</a:t>
            </a:r>
            <a:r>
              <a:rPr lang="en-US" dirty="0">
                <a:solidFill>
                  <a:schemeClr val="tx1"/>
                </a:solidFill>
              </a:rPr>
              <a:t> para </a:t>
            </a:r>
            <a:r>
              <a:rPr lang="en-US" dirty="0" err="1">
                <a:solidFill>
                  <a:schemeClr val="tx1"/>
                </a:solidFill>
              </a:rPr>
              <a:t>pemuda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ini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dikenal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nama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Sumpah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Pemuda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 err="1">
                <a:solidFill>
                  <a:schemeClr val="tx1"/>
                </a:solidFill>
              </a:rPr>
              <a:t>Bahasa</a:t>
            </a:r>
            <a:r>
              <a:rPr lang="en-US" dirty="0">
                <a:solidFill>
                  <a:schemeClr val="tx1"/>
                </a:solidFill>
              </a:rPr>
              <a:t> Indonesia </a:t>
            </a:r>
            <a:r>
              <a:rPr lang="en-US" dirty="0" err="1">
                <a:solidFill>
                  <a:schemeClr val="tx1"/>
                </a:solidFill>
              </a:rPr>
              <a:t>dinyatakan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kedudukannya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sebagai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Bahasa</a:t>
            </a:r>
            <a:r>
              <a:rPr lang="en-US" dirty="0">
                <a:solidFill>
                  <a:schemeClr val="tx1"/>
                </a:solidFill>
              </a:rPr>
              <a:t> Negara ( </a:t>
            </a:r>
            <a:r>
              <a:rPr lang="en-US" dirty="0" err="1">
                <a:solidFill>
                  <a:schemeClr val="tx1"/>
                </a:solidFill>
              </a:rPr>
              <a:t>Bahasa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Resmi</a:t>
            </a:r>
            <a:r>
              <a:rPr lang="en-US" dirty="0">
                <a:solidFill>
                  <a:schemeClr val="tx1"/>
                </a:solidFill>
              </a:rPr>
              <a:t> ) </a:t>
            </a:r>
            <a:r>
              <a:rPr lang="en-US" dirty="0" err="1">
                <a:solidFill>
                  <a:schemeClr val="tx1"/>
                </a:solidFill>
              </a:rPr>
              <a:t>pada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tanggal</a:t>
            </a:r>
            <a:r>
              <a:rPr lang="en-US" dirty="0">
                <a:solidFill>
                  <a:schemeClr val="tx1"/>
                </a:solidFill>
              </a:rPr>
              <a:t> 18 </a:t>
            </a:r>
            <a:r>
              <a:rPr lang="en-US" dirty="0" err="1">
                <a:solidFill>
                  <a:schemeClr val="tx1"/>
                </a:solidFill>
              </a:rPr>
              <a:t>Agustus</a:t>
            </a:r>
            <a:r>
              <a:rPr lang="en-US" dirty="0">
                <a:solidFill>
                  <a:schemeClr val="tx1"/>
                </a:solidFill>
              </a:rPr>
              <a:t> 1945 </a:t>
            </a:r>
            <a:r>
              <a:rPr lang="en-US" dirty="0" err="1">
                <a:solidFill>
                  <a:schemeClr val="tx1"/>
                </a:solidFill>
              </a:rPr>
              <a:t>karena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pada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saat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itu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Undang-Undang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Dasar</a:t>
            </a:r>
            <a:r>
              <a:rPr lang="en-US" dirty="0">
                <a:solidFill>
                  <a:schemeClr val="tx1"/>
                </a:solidFill>
              </a:rPr>
              <a:t> 1945 </a:t>
            </a:r>
            <a:r>
              <a:rPr lang="en-US" dirty="0" err="1">
                <a:solidFill>
                  <a:schemeClr val="tx1"/>
                </a:solidFill>
              </a:rPr>
              <a:t>disahkan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sebagai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Undang-Undang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Dasar</a:t>
            </a:r>
            <a:r>
              <a:rPr lang="en-US" dirty="0">
                <a:solidFill>
                  <a:schemeClr val="tx1"/>
                </a:solidFill>
              </a:rPr>
              <a:t> Negara </a:t>
            </a:r>
            <a:r>
              <a:rPr lang="en-US" dirty="0" err="1">
                <a:solidFill>
                  <a:schemeClr val="tx1"/>
                </a:solidFill>
              </a:rPr>
              <a:t>Republik</a:t>
            </a:r>
            <a:r>
              <a:rPr lang="en-US" dirty="0">
                <a:solidFill>
                  <a:schemeClr val="tx1"/>
                </a:solidFill>
              </a:rPr>
              <a:t> Indonesia. </a:t>
            </a:r>
            <a:r>
              <a:rPr lang="en-US" dirty="0" err="1">
                <a:solidFill>
                  <a:schemeClr val="tx1"/>
                </a:solidFill>
              </a:rPr>
              <a:t>Dalam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Undang-Undang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Dasar</a:t>
            </a:r>
            <a:r>
              <a:rPr lang="en-US" dirty="0">
                <a:solidFill>
                  <a:schemeClr val="tx1"/>
                </a:solidFill>
              </a:rPr>
              <a:t> 1945 </a:t>
            </a:r>
            <a:r>
              <a:rPr lang="en-US" dirty="0" err="1">
                <a:solidFill>
                  <a:schemeClr val="tx1"/>
                </a:solidFill>
              </a:rPr>
              <a:t>disebutkan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bahwa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Bahasa</a:t>
            </a:r>
            <a:r>
              <a:rPr lang="en-US" dirty="0">
                <a:solidFill>
                  <a:schemeClr val="tx1"/>
                </a:solidFill>
              </a:rPr>
              <a:t> Negara </a:t>
            </a:r>
            <a:r>
              <a:rPr lang="en-US" dirty="0" err="1">
                <a:solidFill>
                  <a:schemeClr val="tx1"/>
                </a:solidFill>
              </a:rPr>
              <a:t>ialah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Bahasa</a:t>
            </a:r>
            <a:r>
              <a:rPr lang="en-US" dirty="0">
                <a:solidFill>
                  <a:schemeClr val="tx1"/>
                </a:solidFill>
              </a:rPr>
              <a:t> Indonesia (Bab XV, </a:t>
            </a:r>
            <a:r>
              <a:rPr lang="en-US" dirty="0" err="1">
                <a:solidFill>
                  <a:schemeClr val="tx1"/>
                </a:solidFill>
              </a:rPr>
              <a:t>Pasal</a:t>
            </a:r>
            <a:r>
              <a:rPr lang="en-US" dirty="0">
                <a:solidFill>
                  <a:schemeClr val="tx1"/>
                </a:solidFill>
              </a:rPr>
              <a:t> 36). </a:t>
            </a:r>
            <a:r>
              <a:rPr lang="en-US" dirty="0" err="1">
                <a:solidFill>
                  <a:schemeClr val="tx1"/>
                </a:solidFill>
              </a:rPr>
              <a:t>Pada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tanggal</a:t>
            </a:r>
            <a:r>
              <a:rPr lang="en-US" dirty="0">
                <a:solidFill>
                  <a:schemeClr val="tx1"/>
                </a:solidFill>
              </a:rPr>
              <a:t> 25 – 28 </a:t>
            </a:r>
            <a:r>
              <a:rPr lang="en-US" dirty="0" err="1">
                <a:solidFill>
                  <a:schemeClr val="tx1"/>
                </a:solidFill>
              </a:rPr>
              <a:t>Februari</a:t>
            </a:r>
            <a:r>
              <a:rPr lang="en-US" dirty="0">
                <a:solidFill>
                  <a:schemeClr val="tx1"/>
                </a:solidFill>
              </a:rPr>
              <a:t> 1975, </a:t>
            </a:r>
            <a:r>
              <a:rPr lang="en-US" dirty="0" err="1">
                <a:solidFill>
                  <a:schemeClr val="tx1"/>
                </a:solidFill>
              </a:rPr>
              <a:t>Hasil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perumusan</a:t>
            </a:r>
            <a:r>
              <a:rPr lang="en-US" dirty="0">
                <a:solidFill>
                  <a:schemeClr val="tx1"/>
                </a:solidFill>
              </a:rPr>
              <a:t> seminar </a:t>
            </a:r>
            <a:r>
              <a:rPr lang="en-US" dirty="0" err="1">
                <a:solidFill>
                  <a:schemeClr val="tx1"/>
                </a:solidFill>
              </a:rPr>
              <a:t>polotik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bahasa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Nasional</a:t>
            </a:r>
            <a:r>
              <a:rPr lang="en-US" dirty="0">
                <a:solidFill>
                  <a:schemeClr val="tx1"/>
                </a:solidFill>
              </a:rPr>
              <a:t> yang </a:t>
            </a:r>
            <a:r>
              <a:rPr lang="en-US" dirty="0" err="1">
                <a:solidFill>
                  <a:schemeClr val="tx1"/>
                </a:solidFill>
              </a:rPr>
              <a:t>diselenggarakan</a:t>
            </a:r>
            <a:r>
              <a:rPr lang="en-US" dirty="0">
                <a:solidFill>
                  <a:schemeClr val="tx1"/>
                </a:solidFill>
              </a:rPr>
              <a:t> di Jakarta. </a:t>
            </a:r>
            <a:r>
              <a:rPr lang="en-US" dirty="0" err="1">
                <a:solidFill>
                  <a:schemeClr val="tx1"/>
                </a:solidFill>
              </a:rPr>
              <a:t>Menyatakan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Fungsi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Kedudukan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Bahasa</a:t>
            </a:r>
            <a:r>
              <a:rPr lang="en-US" dirty="0">
                <a:solidFill>
                  <a:schemeClr val="tx1"/>
                </a:solidFill>
              </a:rPr>
              <a:t> Indonesia </a:t>
            </a:r>
            <a:r>
              <a:rPr lang="en-US" dirty="0" err="1">
                <a:solidFill>
                  <a:schemeClr val="tx1"/>
                </a:solidFill>
              </a:rPr>
              <a:t>sebagai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Bahasa</a:t>
            </a:r>
            <a:r>
              <a:rPr lang="en-US" dirty="0">
                <a:solidFill>
                  <a:schemeClr val="tx1"/>
                </a:solidFill>
              </a:rPr>
              <a:t> Negara </a:t>
            </a:r>
            <a:r>
              <a:rPr lang="en-US" dirty="0" err="1">
                <a:solidFill>
                  <a:schemeClr val="tx1"/>
                </a:solidFill>
              </a:rPr>
              <a:t>adalah</a:t>
            </a:r>
            <a:r>
              <a:rPr lang="en-US" dirty="0">
                <a:solidFill>
                  <a:schemeClr val="tx1"/>
                </a:solidFill>
              </a:rPr>
              <a:t> 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1. </a:t>
            </a:r>
            <a:r>
              <a:rPr lang="en-US" dirty="0" err="1">
                <a:solidFill>
                  <a:schemeClr val="tx1"/>
                </a:solidFill>
              </a:rPr>
              <a:t>Bahasa</a:t>
            </a:r>
            <a:r>
              <a:rPr lang="en-US" dirty="0">
                <a:solidFill>
                  <a:schemeClr val="tx1"/>
                </a:solidFill>
              </a:rPr>
              <a:t> Indonesia </a:t>
            </a:r>
            <a:r>
              <a:rPr lang="en-US" dirty="0" err="1">
                <a:solidFill>
                  <a:schemeClr val="tx1"/>
                </a:solidFill>
              </a:rPr>
              <a:t>sebagai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bahasa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resmi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kenegaraan</a:t>
            </a:r>
            <a:r>
              <a:rPr lang="en-US" dirty="0">
                <a:solidFill>
                  <a:schemeClr val="tx1"/>
                </a:solidFill>
              </a:rPr>
              <a:t>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2. </a:t>
            </a:r>
            <a:r>
              <a:rPr lang="en-US" dirty="0" err="1">
                <a:solidFill>
                  <a:schemeClr val="tx1"/>
                </a:solidFill>
              </a:rPr>
              <a:t>Bahasa</a:t>
            </a:r>
            <a:r>
              <a:rPr lang="en-US" dirty="0">
                <a:solidFill>
                  <a:schemeClr val="tx1"/>
                </a:solidFill>
              </a:rPr>
              <a:t> Indonesia </a:t>
            </a:r>
            <a:r>
              <a:rPr lang="en-US" dirty="0" err="1">
                <a:solidFill>
                  <a:schemeClr val="tx1"/>
                </a:solidFill>
              </a:rPr>
              <a:t>sebagai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alat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pengantar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dalam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dunia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pendidikan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49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212" y="771525"/>
            <a:ext cx="10120312" cy="484346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Dan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ditetapkan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sebuah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Pengaturan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mengenai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Bahasa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Indonesia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dalam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Undang-Undang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No. 24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Tahun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2009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mengenai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Bendera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,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Bahasa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,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dan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Lambang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Negara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serta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Lagu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Kebangsaan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.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Dasar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landasan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teori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gambaran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Bahasa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Indonesia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dalam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Undang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– </a:t>
            </a:r>
            <a:r>
              <a:rPr lang="en-US" sz="3600" dirty="0" err="1" smtClean="0">
                <a:solidFill>
                  <a:schemeClr val="tx1"/>
                </a:solidFill>
                <a:latin typeface="Garamond" panose="02020404030301010803" pitchFamily="18" charset="0"/>
              </a:rPr>
              <a:t>Undang</a:t>
            </a:r>
            <a:r>
              <a:rPr lang="en-US" sz="3600" dirty="0" smtClean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 smtClean="0">
                <a:solidFill>
                  <a:schemeClr val="tx1"/>
                </a:solidFill>
                <a:latin typeface="Garamond" panose="02020404030301010803" pitchFamily="18" charset="0"/>
              </a:rPr>
              <a:t>berkembang</a:t>
            </a:r>
            <a:r>
              <a:rPr lang="en-US" sz="3600" dirty="0" smtClean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sejak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Proklamasi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Kemerdekaan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Indonesia 17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Agustus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1945 yang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menjadi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tonggak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pertama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Bahasa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Indonesia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mulai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digunakan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di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kalangan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</a:t>
            </a:r>
            <a:r>
              <a:rPr lang="en-US" sz="3600" dirty="0" err="1">
                <a:solidFill>
                  <a:schemeClr val="tx1"/>
                </a:solidFill>
                <a:latin typeface="Garamond" panose="02020404030301010803" pitchFamily="18" charset="0"/>
              </a:rPr>
              <a:t>Bangsa</a:t>
            </a:r>
            <a: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  <a:t> Indonesia.</a:t>
            </a:r>
            <a:br>
              <a:rPr lang="en-US" sz="3600" dirty="0">
                <a:solidFill>
                  <a:schemeClr val="tx1"/>
                </a:solidFill>
                <a:latin typeface="Garamond" panose="02020404030301010803" pitchFamily="18" charset="0"/>
              </a:rPr>
            </a:br>
            <a:endParaRPr lang="en-US" sz="3600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196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788" y="1825625"/>
            <a:ext cx="10515600" cy="435133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Bahasa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sebagai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sebuah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sistem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sangat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berperan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dalam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mengungkapkan</a:t>
            </a:r>
            <a:r>
              <a:rPr lang="en-US" dirty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suatu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gagasan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,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baik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secara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tertulis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maupun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secara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lisan.Pemahaman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seseorang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terhadap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suatu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gagasan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akan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mudah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jika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pengungkapan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gagasan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itu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ditata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secara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teratur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,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rapi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,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dan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 </a:t>
            </a:r>
            <a:r>
              <a:rPr lang="en-US" dirty="0" err="1" smtClean="0">
                <a:latin typeface="Garamond" panose="02020404030301010803" pitchFamily="18" charset="0"/>
                <a:cs typeface="Aharoni" panose="02010803020104030203" pitchFamily="2" charset="-79"/>
              </a:rPr>
              <a:t>lugas</a:t>
            </a: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>.</a:t>
            </a:r>
          </a:p>
          <a:p>
            <a:r>
              <a:rPr lang="en-US" dirty="0" err="1" smtClean="0">
                <a:latin typeface="Garamond" panose="02020404030301010803" pitchFamily="18" charset="0"/>
              </a:rPr>
              <a:t>Pada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tahun</a:t>
            </a:r>
            <a:r>
              <a:rPr lang="en-US" dirty="0" smtClean="0">
                <a:latin typeface="Garamond" panose="02020404030301010803" pitchFamily="18" charset="0"/>
              </a:rPr>
              <a:t> 2009 </a:t>
            </a:r>
            <a:r>
              <a:rPr lang="en-US" dirty="0" err="1" smtClean="0">
                <a:latin typeface="Garamond" panose="02020404030301010803" pitchFamily="18" charset="0"/>
              </a:rPr>
              <a:t>Presiden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Republik</a:t>
            </a:r>
            <a:r>
              <a:rPr lang="en-US" dirty="0" smtClean="0">
                <a:latin typeface="Garamond" panose="02020404030301010803" pitchFamily="18" charset="0"/>
              </a:rPr>
              <a:t> Indonesia </a:t>
            </a:r>
            <a:r>
              <a:rPr lang="en-US" dirty="0" err="1" smtClean="0">
                <a:latin typeface="Garamond" panose="02020404030301010803" pitchFamily="18" charset="0"/>
              </a:rPr>
              <a:t>dan</a:t>
            </a:r>
            <a:r>
              <a:rPr lang="en-US" dirty="0" smtClean="0">
                <a:latin typeface="Garamond" panose="02020404030301010803" pitchFamily="18" charset="0"/>
              </a:rPr>
              <a:t> DPR </a:t>
            </a:r>
            <a:r>
              <a:rPr lang="en-US" dirty="0" err="1" smtClean="0">
                <a:latin typeface="Garamond" panose="02020404030301010803" pitchFamily="18" charset="0"/>
              </a:rPr>
              <a:t>menge-sahkan</a:t>
            </a:r>
            <a:r>
              <a:rPr lang="en-US" dirty="0" smtClean="0">
                <a:latin typeface="Garamond" panose="02020404030301010803" pitchFamily="18" charset="0"/>
              </a:rPr>
              <a:t/>
            </a:r>
            <a:br>
              <a:rPr lang="en-US" dirty="0" smtClean="0">
                <a:latin typeface="Garamond" panose="02020404030301010803" pitchFamily="18" charset="0"/>
              </a:rPr>
            </a:br>
            <a:r>
              <a:rPr lang="en-US" dirty="0" err="1" smtClean="0">
                <a:latin typeface="Garamond" panose="02020404030301010803" pitchFamily="18" charset="0"/>
              </a:rPr>
              <a:t>berlakunya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Undang-Undang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Republik</a:t>
            </a:r>
            <a:r>
              <a:rPr lang="en-US" dirty="0" smtClean="0">
                <a:latin typeface="Garamond" panose="02020404030301010803" pitchFamily="18" charset="0"/>
              </a:rPr>
              <a:t> Indonesia </a:t>
            </a:r>
            <a:r>
              <a:rPr lang="en-US" b="1" dirty="0" smtClean="0">
                <a:latin typeface="Garamond" panose="02020404030301010803" pitchFamily="18" charset="0"/>
              </a:rPr>
              <a:t>No 24 </a:t>
            </a:r>
            <a:r>
              <a:rPr lang="en-US" b="1" dirty="0" err="1" smtClean="0">
                <a:latin typeface="Garamond" panose="02020404030301010803" pitchFamily="18" charset="0"/>
              </a:rPr>
              <a:t>Tahun</a:t>
            </a:r>
            <a:r>
              <a:rPr lang="en-US" b="1" dirty="0" smtClean="0">
                <a:latin typeface="Garamond" panose="02020404030301010803" pitchFamily="18" charset="0"/>
              </a:rPr>
              <a:t> 2009</a:t>
            </a:r>
            <a:r>
              <a:rPr lang="en-US" dirty="0" smtClean="0">
                <a:latin typeface="Garamond" panose="02020404030301010803" pitchFamily="18" charset="0"/>
              </a:rPr>
              <a:t>, </a:t>
            </a:r>
            <a:r>
              <a:rPr lang="en-US" dirty="0" err="1" smtClean="0">
                <a:latin typeface="Garamond" panose="02020404030301010803" pitchFamily="18" charset="0"/>
              </a:rPr>
              <a:t>tentang</a:t>
            </a:r>
            <a:r>
              <a:rPr lang="en-US" dirty="0" smtClean="0">
                <a:latin typeface="Garamond" panose="02020404030301010803" pitchFamily="18" charset="0"/>
              </a:rPr>
              <a:t/>
            </a:r>
            <a:br>
              <a:rPr lang="en-US" dirty="0" smtClean="0">
                <a:latin typeface="Garamond" panose="02020404030301010803" pitchFamily="18" charset="0"/>
              </a:rPr>
            </a:br>
            <a:r>
              <a:rPr lang="en-US" dirty="0" err="1" smtClean="0">
                <a:latin typeface="Garamond" panose="02020404030301010803" pitchFamily="18" charset="0"/>
              </a:rPr>
              <a:t>Bendera</a:t>
            </a:r>
            <a:r>
              <a:rPr lang="en-US" dirty="0" smtClean="0">
                <a:latin typeface="Garamond" panose="02020404030301010803" pitchFamily="18" charset="0"/>
              </a:rPr>
              <a:t>, </a:t>
            </a:r>
            <a:r>
              <a:rPr lang="en-US" dirty="0" err="1" smtClean="0">
                <a:latin typeface="Garamond" panose="02020404030301010803" pitchFamily="18" charset="0"/>
              </a:rPr>
              <a:t>Bahasa</a:t>
            </a:r>
            <a:r>
              <a:rPr lang="en-US" dirty="0" smtClean="0">
                <a:latin typeface="Garamond" panose="02020404030301010803" pitchFamily="18" charset="0"/>
              </a:rPr>
              <a:t>, </a:t>
            </a:r>
            <a:r>
              <a:rPr lang="en-US" dirty="0" err="1" smtClean="0">
                <a:latin typeface="Garamond" panose="02020404030301010803" pitchFamily="18" charset="0"/>
              </a:rPr>
              <a:t>dan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Lambang</a:t>
            </a:r>
            <a:r>
              <a:rPr lang="en-US" dirty="0" smtClean="0">
                <a:latin typeface="Garamond" panose="02020404030301010803" pitchFamily="18" charset="0"/>
              </a:rPr>
              <a:t> Negara </a:t>
            </a:r>
            <a:r>
              <a:rPr lang="en-US" dirty="0" err="1" smtClean="0">
                <a:latin typeface="Garamond" panose="02020404030301010803" pitchFamily="18" charset="0"/>
              </a:rPr>
              <a:t>serta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Lagu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Kebangsaan</a:t>
            </a:r>
            <a:r>
              <a:rPr lang="en-US" dirty="0" smtClean="0">
                <a:latin typeface="Garamond" panose="02020404030301010803" pitchFamily="18" charset="0"/>
              </a:rPr>
              <a:t> Indonesia</a:t>
            </a:r>
            <a:br>
              <a:rPr lang="en-US" dirty="0" smtClean="0">
                <a:latin typeface="Garamond" panose="02020404030301010803" pitchFamily="18" charset="0"/>
              </a:rPr>
            </a:br>
            <a:r>
              <a:rPr lang="en-US" dirty="0" smtClean="0">
                <a:latin typeface="Garamond" panose="02020404030301010803" pitchFamily="18" charset="0"/>
              </a:rPr>
              <a:t>Raya. </a:t>
            </a:r>
            <a:r>
              <a:rPr lang="en-US" dirty="0" err="1" smtClean="0">
                <a:latin typeface="Garamond" panose="02020404030301010803" pitchFamily="18" charset="0"/>
              </a:rPr>
              <a:t>Dalam</a:t>
            </a:r>
            <a:r>
              <a:rPr lang="en-US" dirty="0" smtClean="0">
                <a:latin typeface="Garamond" panose="02020404030301010803" pitchFamily="18" charset="0"/>
              </a:rPr>
              <a:t> Bab III </a:t>
            </a:r>
            <a:r>
              <a:rPr lang="en-US" dirty="0" err="1" smtClean="0">
                <a:latin typeface="Garamond" panose="02020404030301010803" pitchFamily="18" charset="0"/>
              </a:rPr>
              <a:t>undang-undang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tersebut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terdapat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pasal-pasal</a:t>
            </a:r>
            <a:r>
              <a:rPr lang="en-US" dirty="0" smtClean="0">
                <a:latin typeface="Garamond" panose="02020404030301010803" pitchFamily="18" charset="0"/>
              </a:rPr>
              <a:t> yang </a:t>
            </a:r>
            <a:r>
              <a:rPr lang="en-US" dirty="0" err="1" smtClean="0">
                <a:latin typeface="Garamond" panose="02020404030301010803" pitchFamily="18" charset="0"/>
              </a:rPr>
              <a:t>berisi</a:t>
            </a:r>
            <a:r>
              <a:rPr lang="en-US" dirty="0" smtClean="0">
                <a:latin typeface="Garamond" panose="02020404030301010803" pitchFamily="18" charset="0"/>
              </a:rPr>
              <a:t/>
            </a:r>
            <a:br>
              <a:rPr lang="en-US" dirty="0" smtClean="0">
                <a:latin typeface="Garamond" panose="02020404030301010803" pitchFamily="18" charset="0"/>
              </a:rPr>
            </a:br>
            <a:r>
              <a:rPr lang="en-US" dirty="0" err="1" smtClean="0">
                <a:latin typeface="Garamond" panose="02020404030301010803" pitchFamily="18" charset="0"/>
              </a:rPr>
              <a:t>kebijakan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bahasa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nasional</a:t>
            </a:r>
            <a:r>
              <a:rPr lang="en-US" dirty="0" smtClean="0">
                <a:latin typeface="Garamond" panose="02020404030301010803" pitchFamily="18" charset="0"/>
              </a:rPr>
              <a:t>, </a:t>
            </a:r>
            <a:r>
              <a:rPr lang="en-US" dirty="0" err="1" smtClean="0">
                <a:latin typeface="Garamond" panose="02020404030301010803" pitchFamily="18" charset="0"/>
              </a:rPr>
              <a:t>yaitu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Pasal</a:t>
            </a:r>
            <a:r>
              <a:rPr lang="en-US" dirty="0" smtClean="0">
                <a:latin typeface="Garamond" panose="02020404030301010803" pitchFamily="18" charset="0"/>
              </a:rPr>
              <a:t> 25 </a:t>
            </a:r>
            <a:r>
              <a:rPr lang="en-US" dirty="0" err="1" smtClean="0">
                <a:latin typeface="Garamond" panose="02020404030301010803" pitchFamily="18" charset="0"/>
              </a:rPr>
              <a:t>sampai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dengan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Pasal</a:t>
            </a:r>
            <a:r>
              <a:rPr lang="en-US" dirty="0" smtClean="0">
                <a:latin typeface="Garamond" panose="02020404030301010803" pitchFamily="18" charset="0"/>
              </a:rPr>
              <a:t> 45.</a:t>
            </a:r>
            <a:endParaRPr lang="en-US" dirty="0" smtClean="0">
              <a:latin typeface="Garamond" panose="02020404030301010803" pitchFamily="18" charset="0"/>
              <a:cs typeface="Aharoni" panose="02010803020104030203" pitchFamily="2" charset="-79"/>
            </a:endParaRPr>
          </a:p>
          <a:p>
            <a:pPr marL="0" indent="0">
              <a:buNone/>
            </a:pPr>
            <a: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  <a:t/>
            </a:r>
            <a:br>
              <a:rPr lang="en-US" dirty="0" smtClean="0">
                <a:latin typeface="Garamond" panose="02020404030301010803" pitchFamily="18" charset="0"/>
                <a:cs typeface="Aharoni" panose="02010803020104030203" pitchFamily="2" charset="-79"/>
              </a:rPr>
            </a:br>
            <a:endParaRPr lang="en-US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aramond" panose="02020404030301010803" pitchFamily="18" charset="0"/>
              <a:cs typeface="Aharoni" panose="02010803020104030203" pitchFamily="2" charset="-79"/>
            </a:endParaRPr>
          </a:p>
          <a:p>
            <a:endParaRPr lang="en-US" dirty="0">
              <a:latin typeface="Garamond" panose="02020404030301010803" pitchFamily="18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91642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765175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150" y="1065213"/>
            <a:ext cx="9458325" cy="435133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dirty="0" err="1" smtClean="0">
                <a:latin typeface="Garamond" panose="02020404030301010803" pitchFamily="18" charset="0"/>
              </a:rPr>
              <a:t>Pasal</a:t>
            </a:r>
            <a:r>
              <a:rPr lang="en-US" sz="3200" dirty="0" smtClean="0">
                <a:latin typeface="Garamond" panose="02020404030301010803" pitchFamily="18" charset="0"/>
              </a:rPr>
              <a:t> yang </a:t>
            </a:r>
            <a:r>
              <a:rPr lang="en-US" sz="3200" dirty="0" err="1" smtClean="0">
                <a:latin typeface="Garamond" panose="02020404030301010803" pitchFamily="18" charset="0"/>
              </a:rPr>
              <a:t>dijadikan</a:t>
            </a:r>
            <a:r>
              <a:rPr lang="en-US" sz="3200" dirty="0" smtClean="0">
                <a:latin typeface="Garamond" panose="02020404030301010803" pitchFamily="18" charset="0"/>
              </a:rPr>
              <a:t> </a:t>
            </a:r>
            <a:r>
              <a:rPr lang="en-US" sz="3200" dirty="0" err="1">
                <a:latin typeface="Garamond" panose="02020404030301010803" pitchFamily="18" charset="0"/>
              </a:rPr>
              <a:t>pokok</a:t>
            </a:r>
            <a:r>
              <a:rPr lang="en-US" sz="3200" dirty="0">
                <a:latin typeface="Garamond" panose="02020404030301010803" pitchFamily="18" charset="0"/>
              </a:rPr>
              <a:t> </a:t>
            </a:r>
            <a:r>
              <a:rPr lang="en-US" sz="3200" dirty="0" err="1">
                <a:latin typeface="Garamond" panose="02020404030301010803" pitchFamily="18" charset="0"/>
              </a:rPr>
              <a:t>bahasan</a:t>
            </a:r>
            <a:r>
              <a:rPr lang="en-US" sz="3200" dirty="0">
                <a:latin typeface="Garamond" panose="02020404030301010803" pitchFamily="18" charset="0"/>
              </a:rPr>
              <a:t> </a:t>
            </a:r>
            <a:r>
              <a:rPr lang="en-US" sz="3200" dirty="0" err="1">
                <a:latin typeface="Garamond" panose="02020404030301010803" pitchFamily="18" charset="0"/>
              </a:rPr>
              <a:t>dalam</a:t>
            </a:r>
            <a:r>
              <a:rPr lang="en-US" sz="3200" dirty="0">
                <a:latin typeface="Garamond" panose="02020404030301010803" pitchFamily="18" charset="0"/>
              </a:rPr>
              <a:t> </a:t>
            </a:r>
            <a:r>
              <a:rPr lang="en-US" sz="3200" dirty="0" err="1">
                <a:latin typeface="Garamond" panose="02020404030301010803" pitchFamily="18" charset="0"/>
              </a:rPr>
              <a:t>karangan</a:t>
            </a:r>
            <a:r>
              <a:rPr lang="en-US" sz="3200" dirty="0">
                <a:latin typeface="Garamond" panose="02020404030301010803" pitchFamily="18" charset="0"/>
              </a:rPr>
              <a:t> </a:t>
            </a:r>
            <a:r>
              <a:rPr lang="en-US" sz="3200" dirty="0" err="1">
                <a:latin typeface="Garamond" panose="02020404030301010803" pitchFamily="18" charset="0"/>
              </a:rPr>
              <a:t>ini</a:t>
            </a:r>
            <a:r>
              <a:rPr lang="en-US" sz="3200" dirty="0">
                <a:latin typeface="Garamond" panose="02020404030301010803" pitchFamily="18" charset="0"/>
              </a:rPr>
              <a:t> </a:t>
            </a:r>
            <a:r>
              <a:rPr lang="en-US" sz="3200" dirty="0" err="1">
                <a:latin typeface="Garamond" panose="02020404030301010803" pitchFamily="18" charset="0"/>
              </a:rPr>
              <a:t>adalah</a:t>
            </a:r>
            <a:r>
              <a:rPr lang="en-US" sz="3200" dirty="0">
                <a:latin typeface="Garamond" panose="02020404030301010803" pitchFamily="18" charset="0"/>
              </a:rPr>
              <a:t> </a:t>
            </a:r>
            <a:r>
              <a:rPr lang="en-US" sz="3200" dirty="0" err="1">
                <a:latin typeface="Garamond" panose="02020404030301010803" pitchFamily="18" charset="0"/>
              </a:rPr>
              <a:t>Pasal</a:t>
            </a:r>
            <a:r>
              <a:rPr lang="en-US" sz="3200" dirty="0">
                <a:latin typeface="Garamond" panose="02020404030301010803" pitchFamily="18" charset="0"/>
              </a:rPr>
              <a:t> 36 yang </a:t>
            </a:r>
            <a:r>
              <a:rPr lang="en-US" sz="3200" dirty="0" err="1">
                <a:latin typeface="Garamond" panose="02020404030301010803" pitchFamily="18" charset="0"/>
              </a:rPr>
              <a:t>terdiri</a:t>
            </a:r>
            <a:r>
              <a:rPr lang="en-US" sz="3200" dirty="0">
                <a:latin typeface="Garamond" panose="02020404030301010803" pitchFamily="18" charset="0"/>
              </a:rPr>
              <a:t> </a:t>
            </a:r>
            <a:r>
              <a:rPr lang="en-US" sz="3200" dirty="0" err="1">
                <a:latin typeface="Garamond" panose="02020404030301010803" pitchFamily="18" charset="0"/>
              </a:rPr>
              <a:t>atas</a:t>
            </a:r>
            <a:r>
              <a:rPr lang="en-US" sz="3200" dirty="0">
                <a:latin typeface="Garamond" panose="02020404030301010803" pitchFamily="18" charset="0"/>
              </a:rPr>
              <a:t> </a:t>
            </a:r>
            <a:r>
              <a:rPr lang="en-US" sz="3200" dirty="0" smtClean="0">
                <a:latin typeface="Garamond" panose="02020404030301010803" pitchFamily="18" charset="0"/>
              </a:rPr>
              <a:t>3 </a:t>
            </a:r>
            <a:r>
              <a:rPr lang="en-US" sz="3200" dirty="0" err="1" smtClean="0">
                <a:latin typeface="Garamond" panose="02020404030301010803" pitchFamily="18" charset="0"/>
              </a:rPr>
              <a:t>ayat</a:t>
            </a:r>
            <a:r>
              <a:rPr lang="en-US" sz="3200" dirty="0">
                <a:latin typeface="Garamond" panose="02020404030301010803" pitchFamily="18" charset="0"/>
              </a:rPr>
              <a:t>, </a:t>
            </a:r>
            <a:r>
              <a:rPr lang="en-US" sz="3200" dirty="0" err="1" smtClean="0">
                <a:latin typeface="Garamond" panose="02020404030301010803" pitchFamily="18" charset="0"/>
              </a:rPr>
              <a:t>yaitu</a:t>
            </a:r>
            <a:endParaRPr lang="en-US" sz="3200" dirty="0" smtClean="0">
              <a:latin typeface="Garamond" panose="02020404030301010803" pitchFamily="18" charset="0"/>
            </a:endParaRPr>
          </a:p>
          <a:p>
            <a:r>
              <a:rPr lang="en-US" sz="3200" dirty="0" smtClean="0">
                <a:latin typeface="Garamond" panose="02020404030301010803" pitchFamily="18" charset="0"/>
              </a:rPr>
              <a:t> </a:t>
            </a:r>
            <a:r>
              <a:rPr lang="en-US" sz="3200" dirty="0" err="1">
                <a:latin typeface="Garamond" panose="02020404030301010803" pitchFamily="18" charset="0"/>
              </a:rPr>
              <a:t>Ayat</a:t>
            </a:r>
            <a:r>
              <a:rPr lang="en-US" sz="3200" dirty="0">
                <a:latin typeface="Garamond" panose="02020404030301010803" pitchFamily="18" charset="0"/>
              </a:rPr>
              <a:t> (1) </a:t>
            </a:r>
            <a:r>
              <a:rPr lang="en-US" sz="3200" dirty="0" err="1">
                <a:latin typeface="Garamond" panose="02020404030301010803" pitchFamily="18" charset="0"/>
              </a:rPr>
              <a:t>berbunyi</a:t>
            </a:r>
            <a:r>
              <a:rPr lang="en-US" sz="3200" dirty="0">
                <a:latin typeface="Garamond" panose="02020404030301010803" pitchFamily="18" charset="0"/>
              </a:rPr>
              <a:t> “</a:t>
            </a:r>
            <a:r>
              <a:rPr lang="en-US" sz="3200" dirty="0" err="1">
                <a:latin typeface="Garamond" panose="02020404030301010803" pitchFamily="18" charset="0"/>
              </a:rPr>
              <a:t>Bahasa</a:t>
            </a:r>
            <a:r>
              <a:rPr lang="en-US" sz="3200" dirty="0">
                <a:latin typeface="Garamond" panose="02020404030301010803" pitchFamily="18" charset="0"/>
              </a:rPr>
              <a:t> Indonesia </a:t>
            </a:r>
            <a:r>
              <a:rPr lang="en-US" sz="3200" dirty="0" err="1">
                <a:latin typeface="Garamond" panose="02020404030301010803" pitchFamily="18" charset="0"/>
              </a:rPr>
              <a:t>wajib</a:t>
            </a:r>
            <a:r>
              <a:rPr lang="en-US" sz="3200" dirty="0">
                <a:latin typeface="Garamond" panose="02020404030301010803" pitchFamily="18" charset="0"/>
              </a:rPr>
              <a:t> </a:t>
            </a:r>
            <a:r>
              <a:rPr lang="en-US" sz="3200" dirty="0" err="1">
                <a:latin typeface="Garamond" panose="02020404030301010803" pitchFamily="18" charset="0"/>
              </a:rPr>
              <a:t>digunakan</a:t>
            </a:r>
            <a:r>
              <a:rPr lang="en-US" sz="3200" dirty="0">
                <a:latin typeface="Garamond" panose="02020404030301010803" pitchFamily="18" charset="0"/>
              </a:rPr>
              <a:t> </a:t>
            </a:r>
            <a:r>
              <a:rPr lang="en-US" sz="3200" dirty="0" err="1">
                <a:latin typeface="Garamond" panose="02020404030301010803" pitchFamily="18" charset="0"/>
              </a:rPr>
              <a:t>dalam</a:t>
            </a:r>
            <a:r>
              <a:rPr lang="en-US" sz="3200" dirty="0">
                <a:latin typeface="Garamond" panose="02020404030301010803" pitchFamily="18" charset="0"/>
              </a:rPr>
              <a:t> </a:t>
            </a:r>
            <a:r>
              <a:rPr lang="en-US" sz="3200" dirty="0" err="1" smtClean="0">
                <a:latin typeface="Garamond" panose="02020404030301010803" pitchFamily="18" charset="0"/>
              </a:rPr>
              <a:t>nama</a:t>
            </a:r>
            <a:r>
              <a:rPr lang="en-US" sz="3200" dirty="0" smtClean="0">
                <a:latin typeface="Garamond" panose="02020404030301010803" pitchFamily="18" charset="0"/>
              </a:rPr>
              <a:t> </a:t>
            </a:r>
            <a:r>
              <a:rPr lang="en-US" sz="3200" dirty="0" err="1" smtClean="0">
                <a:latin typeface="Garamond" panose="02020404030301010803" pitchFamily="18" charset="0"/>
              </a:rPr>
              <a:t>geografi</a:t>
            </a:r>
            <a:r>
              <a:rPr lang="en-US" sz="3200" dirty="0" smtClean="0">
                <a:latin typeface="Garamond" panose="02020404030301010803" pitchFamily="18" charset="0"/>
              </a:rPr>
              <a:t> </a:t>
            </a:r>
            <a:r>
              <a:rPr lang="en-US" sz="3200" dirty="0">
                <a:latin typeface="Garamond" panose="02020404030301010803" pitchFamily="18" charset="0"/>
              </a:rPr>
              <a:t>di Indonesia</a:t>
            </a:r>
            <a:r>
              <a:rPr lang="en-US" sz="3200" dirty="0" smtClean="0">
                <a:latin typeface="Garamond" panose="02020404030301010803" pitchFamily="18" charset="0"/>
              </a:rPr>
              <a:t>”;</a:t>
            </a:r>
          </a:p>
          <a:p>
            <a:r>
              <a:rPr lang="en-US" sz="3200" dirty="0" err="1" smtClean="0">
                <a:latin typeface="Garamond" panose="02020404030301010803" pitchFamily="18" charset="0"/>
              </a:rPr>
              <a:t>Ayat</a:t>
            </a:r>
            <a:r>
              <a:rPr lang="en-US" sz="3200" dirty="0" smtClean="0">
                <a:latin typeface="Garamond" panose="02020404030301010803" pitchFamily="18" charset="0"/>
              </a:rPr>
              <a:t> </a:t>
            </a:r>
            <a:r>
              <a:rPr lang="en-US" sz="3200" dirty="0">
                <a:latin typeface="Garamond" panose="02020404030301010803" pitchFamily="18" charset="0"/>
              </a:rPr>
              <a:t>(2) </a:t>
            </a:r>
            <a:r>
              <a:rPr lang="en-US" sz="3200" dirty="0" err="1">
                <a:latin typeface="Garamond" panose="02020404030301010803" pitchFamily="18" charset="0"/>
              </a:rPr>
              <a:t>menegaskan</a:t>
            </a:r>
            <a:r>
              <a:rPr lang="en-US" sz="3200" dirty="0">
                <a:latin typeface="Garamond" panose="02020404030301010803" pitchFamily="18" charset="0"/>
              </a:rPr>
              <a:t> </a:t>
            </a:r>
            <a:r>
              <a:rPr lang="en-US" sz="3200" dirty="0" err="1">
                <a:latin typeface="Garamond" panose="02020404030301010803" pitchFamily="18" charset="0"/>
              </a:rPr>
              <a:t>bahwa</a:t>
            </a:r>
            <a:r>
              <a:rPr lang="en-US" sz="3200" dirty="0">
                <a:latin typeface="Garamond" panose="02020404030301010803" pitchFamily="18" charset="0"/>
              </a:rPr>
              <a:t> “</a:t>
            </a:r>
            <a:r>
              <a:rPr lang="en-US" sz="3200" dirty="0" err="1">
                <a:latin typeface="Garamond" panose="02020404030301010803" pitchFamily="18" charset="0"/>
              </a:rPr>
              <a:t>Nama</a:t>
            </a:r>
            <a:r>
              <a:rPr lang="en-US" sz="3200" dirty="0">
                <a:latin typeface="Garamond" panose="02020404030301010803" pitchFamily="18" charset="0"/>
              </a:rPr>
              <a:t> </a:t>
            </a:r>
            <a:r>
              <a:rPr lang="en-US" sz="3200" dirty="0" err="1">
                <a:latin typeface="Garamond" panose="02020404030301010803" pitchFamily="18" charset="0"/>
              </a:rPr>
              <a:t>geografi</a:t>
            </a:r>
            <a:r>
              <a:rPr lang="en-US" sz="3200" dirty="0">
                <a:latin typeface="Garamond" panose="02020404030301010803" pitchFamily="18" charset="0"/>
              </a:rPr>
              <a:t> </a:t>
            </a:r>
            <a:r>
              <a:rPr lang="en-US" sz="3200" dirty="0" err="1" smtClean="0">
                <a:latin typeface="Garamond" panose="02020404030301010803" pitchFamily="18" charset="0"/>
              </a:rPr>
              <a:t>sebagaimana</a:t>
            </a:r>
            <a:r>
              <a:rPr lang="en-US" sz="3200" dirty="0" smtClean="0">
                <a:latin typeface="Garamond" panose="02020404030301010803" pitchFamily="18" charset="0"/>
              </a:rPr>
              <a:t> </a:t>
            </a:r>
            <a:r>
              <a:rPr lang="en-US" sz="3200" dirty="0" err="1" smtClean="0">
                <a:latin typeface="Garamond" panose="02020404030301010803" pitchFamily="18" charset="0"/>
              </a:rPr>
              <a:t>dimaksud</a:t>
            </a:r>
            <a:r>
              <a:rPr lang="en-US" sz="3200" dirty="0" smtClean="0">
                <a:latin typeface="Garamond" panose="02020404030301010803" pitchFamily="18" charset="0"/>
              </a:rPr>
              <a:t> </a:t>
            </a:r>
            <a:r>
              <a:rPr lang="en-US" sz="3200" dirty="0" err="1">
                <a:latin typeface="Garamond" panose="02020404030301010803" pitchFamily="18" charset="0"/>
              </a:rPr>
              <a:t>pada</a:t>
            </a:r>
            <a:r>
              <a:rPr lang="en-US" sz="3200" dirty="0">
                <a:latin typeface="Garamond" panose="02020404030301010803" pitchFamily="18" charset="0"/>
              </a:rPr>
              <a:t> </a:t>
            </a:r>
            <a:r>
              <a:rPr lang="en-US" sz="3200" dirty="0" err="1">
                <a:latin typeface="Garamond" panose="02020404030301010803" pitchFamily="18" charset="0"/>
              </a:rPr>
              <a:t>Ayat</a:t>
            </a:r>
            <a:r>
              <a:rPr lang="en-US" sz="3200" dirty="0">
                <a:latin typeface="Garamond" panose="02020404030301010803" pitchFamily="18" charset="0"/>
              </a:rPr>
              <a:t> (1) </a:t>
            </a:r>
            <a:r>
              <a:rPr lang="en-US" sz="3200" dirty="0" err="1">
                <a:latin typeface="Garamond" panose="02020404030301010803" pitchFamily="18" charset="0"/>
              </a:rPr>
              <a:t>hanya</a:t>
            </a:r>
            <a:r>
              <a:rPr lang="en-US" sz="3200" dirty="0">
                <a:latin typeface="Garamond" panose="02020404030301010803" pitchFamily="18" charset="0"/>
              </a:rPr>
              <a:t> </a:t>
            </a:r>
            <a:r>
              <a:rPr lang="en-US" sz="3200" dirty="0" err="1">
                <a:latin typeface="Garamond" panose="02020404030301010803" pitchFamily="18" charset="0"/>
              </a:rPr>
              <a:t>memiliki</a:t>
            </a:r>
            <a:r>
              <a:rPr lang="en-US" sz="3200" dirty="0">
                <a:latin typeface="Garamond" panose="02020404030301010803" pitchFamily="18" charset="0"/>
              </a:rPr>
              <a:t> </a:t>
            </a:r>
            <a:r>
              <a:rPr lang="en-US" sz="3200" dirty="0" err="1">
                <a:latin typeface="Garamond" panose="02020404030301010803" pitchFamily="18" charset="0"/>
              </a:rPr>
              <a:t>satu</a:t>
            </a:r>
            <a:r>
              <a:rPr lang="en-US" sz="3200" dirty="0">
                <a:latin typeface="Garamond" panose="02020404030301010803" pitchFamily="18" charset="0"/>
              </a:rPr>
              <a:t> </a:t>
            </a:r>
            <a:r>
              <a:rPr lang="en-US" sz="3200" dirty="0" err="1">
                <a:latin typeface="Garamond" panose="02020404030301010803" pitchFamily="18" charset="0"/>
              </a:rPr>
              <a:t>nama</a:t>
            </a:r>
            <a:r>
              <a:rPr lang="en-US" sz="3200" dirty="0">
                <a:latin typeface="Garamond" panose="02020404030301010803" pitchFamily="18" charset="0"/>
              </a:rPr>
              <a:t> </a:t>
            </a:r>
            <a:r>
              <a:rPr lang="en-US" sz="3200" dirty="0" err="1">
                <a:latin typeface="Garamond" panose="02020404030301010803" pitchFamily="18" charset="0"/>
              </a:rPr>
              <a:t>resmi</a:t>
            </a:r>
            <a:r>
              <a:rPr lang="en-US" sz="3200" dirty="0" smtClean="0">
                <a:latin typeface="Garamond" panose="02020404030301010803" pitchFamily="18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851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5850" y="1014413"/>
            <a:ext cx="9544050" cy="474821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dirty="0" err="1" smtClean="0">
                <a:latin typeface="Garamond" panose="02020404030301010803" pitchFamily="18" charset="0"/>
              </a:rPr>
              <a:t>Ayat</a:t>
            </a:r>
            <a:r>
              <a:rPr lang="en-US" dirty="0" smtClean="0">
                <a:latin typeface="Garamond" panose="02020404030301010803" pitchFamily="18" charset="0"/>
              </a:rPr>
              <a:t> (3) </a:t>
            </a:r>
            <a:r>
              <a:rPr lang="en-US" dirty="0" err="1" smtClean="0">
                <a:latin typeface="Garamond" panose="02020404030301010803" pitchFamily="18" charset="0"/>
              </a:rPr>
              <a:t>menyatakan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bahwa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bahasa</a:t>
            </a:r>
            <a:r>
              <a:rPr lang="en-US" dirty="0" smtClean="0">
                <a:latin typeface="Garamond" panose="02020404030301010803" pitchFamily="18" charset="0"/>
              </a:rPr>
              <a:t> Indonesia </a:t>
            </a:r>
            <a:r>
              <a:rPr lang="en-US" dirty="0" err="1" smtClean="0">
                <a:latin typeface="Garamond" panose="02020404030301010803" pitchFamily="18" charset="0"/>
              </a:rPr>
              <a:t>wajib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digunakan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untuk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nama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bangunan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atau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gedung</a:t>
            </a:r>
            <a:r>
              <a:rPr lang="en-US" dirty="0" smtClean="0">
                <a:latin typeface="Garamond" panose="02020404030301010803" pitchFamily="18" charset="0"/>
              </a:rPr>
              <a:t>, </a:t>
            </a:r>
            <a:r>
              <a:rPr lang="en-US" dirty="0" err="1" smtClean="0">
                <a:latin typeface="Garamond" panose="02020404030301010803" pitchFamily="18" charset="0"/>
              </a:rPr>
              <a:t>jalan</a:t>
            </a:r>
            <a:r>
              <a:rPr lang="en-US" dirty="0" smtClean="0">
                <a:latin typeface="Garamond" panose="02020404030301010803" pitchFamily="18" charset="0"/>
              </a:rPr>
              <a:t>, </a:t>
            </a:r>
            <a:r>
              <a:rPr lang="en-US" dirty="0" err="1" smtClean="0">
                <a:latin typeface="Garamond" panose="02020404030301010803" pitchFamily="18" charset="0"/>
              </a:rPr>
              <a:t>apartemen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atau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permukiman</a:t>
            </a:r>
            <a:r>
              <a:rPr lang="en-US" dirty="0" smtClean="0">
                <a:latin typeface="Garamond" panose="02020404030301010803" pitchFamily="18" charset="0"/>
              </a:rPr>
              <a:t>, </a:t>
            </a:r>
            <a:r>
              <a:rPr lang="en-US" dirty="0" err="1" smtClean="0">
                <a:latin typeface="Garamond" panose="02020404030301010803" pitchFamily="18" charset="0"/>
              </a:rPr>
              <a:t>perkantoran</a:t>
            </a:r>
            <a:r>
              <a:rPr lang="en-US" dirty="0" smtClean="0">
                <a:latin typeface="Garamond" panose="02020404030301010803" pitchFamily="18" charset="0"/>
              </a:rPr>
              <a:t>, </a:t>
            </a:r>
            <a:r>
              <a:rPr lang="en-US" dirty="0" err="1" smtClean="0">
                <a:latin typeface="Garamond" panose="02020404030301010803" pitchFamily="18" charset="0"/>
              </a:rPr>
              <a:t>kompleks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perdagangan</a:t>
            </a:r>
            <a:r>
              <a:rPr lang="en-US" dirty="0" smtClean="0">
                <a:latin typeface="Garamond" panose="02020404030301010803" pitchFamily="18" charset="0"/>
              </a:rPr>
              <a:t>, </a:t>
            </a:r>
            <a:r>
              <a:rPr lang="en-US" dirty="0" err="1" smtClean="0">
                <a:latin typeface="Garamond" panose="02020404030301010803" pitchFamily="18" charset="0"/>
              </a:rPr>
              <a:t>merek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dagang</a:t>
            </a:r>
            <a:r>
              <a:rPr lang="en-US" dirty="0" smtClean="0">
                <a:latin typeface="Garamond" panose="02020404030301010803" pitchFamily="18" charset="0"/>
              </a:rPr>
              <a:t>, </a:t>
            </a:r>
            <a:r>
              <a:rPr lang="en-US" dirty="0" err="1" smtClean="0">
                <a:latin typeface="Garamond" panose="02020404030301010803" pitchFamily="18" charset="0"/>
              </a:rPr>
              <a:t>lembaga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usaha</a:t>
            </a:r>
            <a:r>
              <a:rPr lang="en-US" dirty="0" smtClean="0">
                <a:latin typeface="Garamond" panose="02020404030301010803" pitchFamily="18" charset="0"/>
              </a:rPr>
              <a:t>, </a:t>
            </a:r>
            <a:r>
              <a:rPr lang="en-US" dirty="0" err="1" smtClean="0">
                <a:latin typeface="Garamond" panose="02020404030301010803" pitchFamily="18" charset="0"/>
              </a:rPr>
              <a:t>lembaga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pendidikan</a:t>
            </a:r>
            <a:r>
              <a:rPr lang="en-US" dirty="0" smtClean="0">
                <a:latin typeface="Garamond" panose="02020404030301010803" pitchFamily="18" charset="0"/>
              </a:rPr>
              <a:t>, </a:t>
            </a:r>
            <a:r>
              <a:rPr lang="en-US" dirty="0" err="1" smtClean="0">
                <a:latin typeface="Garamond" panose="02020404030301010803" pitchFamily="18" charset="0"/>
              </a:rPr>
              <a:t>organisasi</a:t>
            </a:r>
            <a:r>
              <a:rPr lang="en-US" dirty="0" smtClean="0">
                <a:latin typeface="Garamond" panose="02020404030301010803" pitchFamily="18" charset="0"/>
              </a:rPr>
              <a:t> yang </a:t>
            </a:r>
            <a:r>
              <a:rPr lang="en-US" dirty="0" err="1" smtClean="0">
                <a:latin typeface="Garamond" panose="02020404030301010803" pitchFamily="18" charset="0"/>
              </a:rPr>
              <a:t>didirikan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atau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badan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hukum</a:t>
            </a:r>
            <a:r>
              <a:rPr lang="en-US" dirty="0" smtClean="0">
                <a:latin typeface="Garamond" panose="02020404030301010803" pitchFamily="18" charset="0"/>
              </a:rPr>
              <a:t> Indonesia”; </a:t>
            </a:r>
            <a:r>
              <a:rPr lang="en-US" dirty="0" err="1" smtClean="0">
                <a:latin typeface="Garamond" panose="02020404030301010803" pitchFamily="18" charset="0"/>
              </a:rPr>
              <a:t>dan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Ayat</a:t>
            </a:r>
            <a:endParaRPr lang="en-US" dirty="0" smtClean="0">
              <a:latin typeface="Garamond" panose="02020404030301010803" pitchFamily="18" charset="0"/>
            </a:endParaRPr>
          </a:p>
          <a:p>
            <a:r>
              <a:rPr lang="en-US" dirty="0" smtClean="0">
                <a:latin typeface="Garamond" panose="02020404030301010803" pitchFamily="18" charset="0"/>
              </a:rPr>
              <a:t> (4) </a:t>
            </a:r>
            <a:r>
              <a:rPr lang="en-US" dirty="0" err="1" smtClean="0">
                <a:latin typeface="Garamond" panose="02020404030301010803" pitchFamily="18" charset="0"/>
              </a:rPr>
              <a:t>berisi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tentang</a:t>
            </a:r>
            <a:r>
              <a:rPr lang="en-US" dirty="0" smtClean="0">
                <a:latin typeface="Garamond" panose="02020404030301010803" pitchFamily="18" charset="0"/>
              </a:rPr>
              <a:t> “</a:t>
            </a:r>
            <a:r>
              <a:rPr lang="en-US" dirty="0" err="1" smtClean="0">
                <a:latin typeface="Garamond" panose="02020404030301010803" pitchFamily="18" charset="0"/>
              </a:rPr>
              <a:t>Penamaan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sebagaimana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dimaksud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pada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Ayat</a:t>
            </a:r>
            <a:r>
              <a:rPr lang="en-US" dirty="0" smtClean="0">
                <a:latin typeface="Garamond" panose="02020404030301010803" pitchFamily="18" charset="0"/>
              </a:rPr>
              <a:t> (1) </a:t>
            </a:r>
            <a:r>
              <a:rPr lang="en-US" dirty="0" err="1" smtClean="0">
                <a:latin typeface="Garamond" panose="02020404030301010803" pitchFamily="18" charset="0"/>
              </a:rPr>
              <a:t>dan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Ayat</a:t>
            </a:r>
            <a:r>
              <a:rPr lang="en-US" dirty="0" smtClean="0">
                <a:latin typeface="Garamond" panose="02020404030301010803" pitchFamily="18" charset="0"/>
              </a:rPr>
              <a:t> (3) </a:t>
            </a:r>
            <a:r>
              <a:rPr lang="en-US" dirty="0" err="1" smtClean="0">
                <a:latin typeface="Garamond" panose="02020404030301010803" pitchFamily="18" charset="0"/>
              </a:rPr>
              <a:t>dapat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menggunakan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bahasa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daerah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atau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bahasa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asing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apabila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memiliki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nilai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sejarah</a:t>
            </a:r>
            <a:r>
              <a:rPr lang="en-US" dirty="0" smtClean="0">
                <a:latin typeface="Garamond" panose="02020404030301010803" pitchFamily="18" charset="0"/>
              </a:rPr>
              <a:t>, </a:t>
            </a:r>
            <a:r>
              <a:rPr lang="en-US" dirty="0" err="1" smtClean="0">
                <a:latin typeface="Garamond" panose="02020404030301010803" pitchFamily="18" charset="0"/>
              </a:rPr>
              <a:t>budaya</a:t>
            </a:r>
            <a:r>
              <a:rPr lang="en-US" dirty="0" smtClean="0">
                <a:latin typeface="Garamond" panose="02020404030301010803" pitchFamily="18" charset="0"/>
              </a:rPr>
              <a:t>, </a:t>
            </a:r>
            <a:r>
              <a:rPr lang="en-US" dirty="0" err="1" smtClean="0">
                <a:latin typeface="Garamond" panose="02020404030301010803" pitchFamily="18" charset="0"/>
              </a:rPr>
              <a:t>adat-istiadaat</a:t>
            </a:r>
            <a:r>
              <a:rPr lang="en-US" dirty="0" smtClean="0">
                <a:latin typeface="Garamond" panose="02020404030301010803" pitchFamily="18" charset="0"/>
              </a:rPr>
              <a:t>, </a:t>
            </a:r>
            <a:r>
              <a:rPr lang="en-US" dirty="0" err="1" smtClean="0">
                <a:latin typeface="Garamond" panose="02020404030301010803" pitchFamily="18" charset="0"/>
              </a:rPr>
              <a:t>dan</a:t>
            </a:r>
            <a:r>
              <a:rPr lang="en-US" dirty="0" smtClean="0">
                <a:latin typeface="Garamond" panose="02020404030301010803" pitchFamily="18" charset="0"/>
              </a:rPr>
              <a:t>/</a:t>
            </a:r>
            <a:r>
              <a:rPr lang="en-US" dirty="0" err="1" smtClean="0">
                <a:latin typeface="Garamond" panose="02020404030301010803" pitchFamily="18" charset="0"/>
              </a:rPr>
              <a:t>atau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keagamaan</a:t>
            </a:r>
            <a:r>
              <a:rPr lang="en-US" dirty="0" smtClean="0">
                <a:latin typeface="Garamond" panose="02020404030301010803" pitchFamily="18" charset="0"/>
              </a:rPr>
              <a:t>. </a:t>
            </a:r>
            <a:r>
              <a:rPr lang="en-US" dirty="0" err="1" smtClean="0">
                <a:latin typeface="Garamond" panose="02020404030301010803" pitchFamily="18" charset="0"/>
              </a:rPr>
              <a:t>Namun</a:t>
            </a:r>
            <a:r>
              <a:rPr lang="en-US" dirty="0" smtClean="0">
                <a:latin typeface="Garamond" panose="02020404030301010803" pitchFamily="18" charset="0"/>
              </a:rPr>
              <a:t>, </a:t>
            </a:r>
            <a:r>
              <a:rPr lang="en-US" dirty="0" err="1" smtClean="0">
                <a:latin typeface="Garamond" panose="02020404030301010803" pitchFamily="18" charset="0"/>
              </a:rPr>
              <a:t>dalam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kenyataan</a:t>
            </a:r>
            <a:r>
              <a:rPr lang="en-US" dirty="0" smtClean="0">
                <a:latin typeface="Garamond" panose="02020404030301010803" pitchFamily="18" charset="0"/>
              </a:rPr>
              <a:t> di </a:t>
            </a:r>
            <a:r>
              <a:rPr lang="en-US" dirty="0" err="1" smtClean="0">
                <a:latin typeface="Garamond" panose="02020404030301010803" pitchFamily="18" charset="0"/>
              </a:rPr>
              <a:t>lapangan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eksistensi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bahasa</a:t>
            </a:r>
            <a:r>
              <a:rPr lang="en-US" dirty="0" smtClean="0">
                <a:latin typeface="Garamond" panose="02020404030301010803" pitchFamily="18" charset="0"/>
              </a:rPr>
              <a:t> Indonesia </a:t>
            </a:r>
            <a:r>
              <a:rPr lang="en-US" dirty="0" err="1" smtClean="0">
                <a:latin typeface="Garamond" panose="02020404030301010803" pitchFamily="18" charset="0"/>
              </a:rPr>
              <a:t>cenderung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dipinggirkan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dan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penerapan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undang-undang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tersebut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tidak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berjalan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secara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efektif</a:t>
            </a:r>
            <a:r>
              <a:rPr lang="en-US" dirty="0" smtClean="0">
                <a:latin typeface="Garamond" panose="02020404030301010803" pitchFamily="18" charset="0"/>
              </a:rPr>
              <a:t>.</a:t>
            </a:r>
            <a:br>
              <a:rPr lang="en-US" dirty="0" smtClean="0">
                <a:latin typeface="Garamond" panose="02020404030301010803" pitchFamily="18" charset="0"/>
              </a:rPr>
            </a:br>
            <a:endParaRPr lang="en-US" dirty="0" smtClean="0">
              <a:latin typeface="Garamond" panose="02020404030301010803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037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599" y="1690688"/>
            <a:ext cx="9115425" cy="290353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Penerapan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Bahasa</a:t>
            </a:r>
            <a:r>
              <a:rPr lang="en-US" dirty="0">
                <a:latin typeface="Garamond" panose="02020404030301010803" pitchFamily="18" charset="0"/>
              </a:rPr>
              <a:t> Indonesia </a:t>
            </a:r>
            <a:r>
              <a:rPr lang="en-US" dirty="0" err="1">
                <a:latin typeface="Garamond" panose="02020404030301010803" pitchFamily="18" charset="0"/>
              </a:rPr>
              <a:t>dalam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dunia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pendidikan</a:t>
            </a:r>
            <a:r>
              <a:rPr lang="en-US" dirty="0">
                <a:latin typeface="Garamond" panose="02020404030301010803" pitchFamily="18" charset="0"/>
              </a:rPr>
              <a:t>, </a:t>
            </a:r>
            <a:r>
              <a:rPr lang="en-US" dirty="0" err="1">
                <a:latin typeface="Garamond" panose="02020404030301010803" pitchFamily="18" charset="0"/>
              </a:rPr>
              <a:t>dan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ranah</a:t>
            </a:r>
            <a:r>
              <a:rPr lang="en-US" dirty="0">
                <a:latin typeface="Garamond" panose="02020404030301010803" pitchFamily="18" charset="0"/>
              </a:rPr>
              <a:t> yang </a:t>
            </a:r>
            <a:r>
              <a:rPr lang="en-US" dirty="0" err="1">
                <a:latin typeface="Garamond" panose="02020404030301010803" pitchFamily="18" charset="0"/>
              </a:rPr>
              <a:t>bersifat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resmi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merupakan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salah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satu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fungsi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kedudukan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Bahasa</a:t>
            </a:r>
            <a:r>
              <a:rPr lang="en-US" dirty="0">
                <a:latin typeface="Garamond" panose="02020404030301010803" pitchFamily="18" charset="0"/>
              </a:rPr>
              <a:t> Indonesia </a:t>
            </a:r>
            <a:r>
              <a:rPr lang="en-US" dirty="0" err="1">
                <a:latin typeface="Garamond" panose="02020404030301010803" pitchFamily="18" charset="0"/>
              </a:rPr>
              <a:t>sebagai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Bahasa</a:t>
            </a:r>
            <a:r>
              <a:rPr lang="en-US" dirty="0">
                <a:latin typeface="Garamond" panose="02020404030301010803" pitchFamily="18" charset="0"/>
              </a:rPr>
              <a:t> Negara. </a:t>
            </a:r>
            <a:r>
              <a:rPr lang="en-US" dirty="0" err="1">
                <a:latin typeface="Garamond" panose="02020404030301010803" pitchFamily="18" charset="0"/>
              </a:rPr>
              <a:t>Bahasa</a:t>
            </a:r>
            <a:r>
              <a:rPr lang="en-US" dirty="0">
                <a:latin typeface="Garamond" panose="02020404030301010803" pitchFamily="18" charset="0"/>
              </a:rPr>
              <a:t> Indonesia </a:t>
            </a:r>
            <a:r>
              <a:rPr lang="en-US" dirty="0" err="1">
                <a:latin typeface="Garamond" panose="02020404030301010803" pitchFamily="18" charset="0"/>
              </a:rPr>
              <a:t>digunakan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dalam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pembutan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surat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resmi</a:t>
            </a:r>
            <a:r>
              <a:rPr lang="en-US" dirty="0">
                <a:latin typeface="Garamond" panose="02020404030301010803" pitchFamily="18" charset="0"/>
              </a:rPr>
              <a:t> Negara, </a:t>
            </a:r>
            <a:r>
              <a:rPr lang="en-US" dirty="0" err="1">
                <a:latin typeface="Garamond" panose="02020404030301010803" pitchFamily="18" charset="0"/>
              </a:rPr>
              <a:t>Perjanjian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Hukum</a:t>
            </a:r>
            <a:r>
              <a:rPr lang="en-US" dirty="0">
                <a:latin typeface="Garamond" panose="02020404030301010803" pitchFamily="18" charset="0"/>
              </a:rPr>
              <a:t>, </a:t>
            </a:r>
            <a:r>
              <a:rPr lang="en-US" dirty="0" err="1">
                <a:latin typeface="Garamond" panose="02020404030301010803" pitchFamily="18" charset="0"/>
              </a:rPr>
              <a:t>bahkan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dalam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Rancangan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Undang</a:t>
            </a:r>
            <a:r>
              <a:rPr lang="en-US" dirty="0">
                <a:latin typeface="Garamond" panose="02020404030301010803" pitchFamily="18" charset="0"/>
              </a:rPr>
              <a:t> – </a:t>
            </a:r>
            <a:r>
              <a:rPr lang="en-US" dirty="0" err="1">
                <a:latin typeface="Garamond" panose="02020404030301010803" pitchFamily="18" charset="0"/>
              </a:rPr>
              <a:t>Undang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sebagai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bentuk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aplikasi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Bahasa</a:t>
            </a:r>
            <a:r>
              <a:rPr lang="en-US" dirty="0">
                <a:latin typeface="Garamond" panose="02020404030301010803" pitchFamily="18" charset="0"/>
              </a:rPr>
              <a:t> Indonesia. </a:t>
            </a:r>
            <a:endParaRPr lang="en-US" dirty="0" smtClean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954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999" y="871537"/>
            <a:ext cx="9472613" cy="477678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>
                <a:latin typeface="Garamond" panose="02020404030301010803" pitchFamily="18" charset="0"/>
              </a:rPr>
              <a:t>Undang</a:t>
            </a:r>
            <a:r>
              <a:rPr lang="en-US" dirty="0">
                <a:latin typeface="Garamond" panose="02020404030301010803" pitchFamily="18" charset="0"/>
              </a:rPr>
              <a:t> – </a:t>
            </a:r>
            <a:r>
              <a:rPr lang="en-US" dirty="0" err="1">
                <a:latin typeface="Garamond" panose="02020404030301010803" pitchFamily="18" charset="0"/>
              </a:rPr>
              <a:t>Undang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Nomor</a:t>
            </a:r>
            <a:r>
              <a:rPr lang="en-US" dirty="0">
                <a:latin typeface="Garamond" panose="02020404030301010803" pitchFamily="18" charset="0"/>
              </a:rPr>
              <a:t> 24 </a:t>
            </a:r>
            <a:r>
              <a:rPr lang="en-US" dirty="0" err="1">
                <a:latin typeface="Garamond" panose="02020404030301010803" pitchFamily="18" charset="0"/>
              </a:rPr>
              <a:t>Tahun</a:t>
            </a:r>
            <a:r>
              <a:rPr lang="en-US" dirty="0">
                <a:latin typeface="Garamond" panose="02020404030301010803" pitchFamily="18" charset="0"/>
              </a:rPr>
              <a:t> 2009 ( </a:t>
            </a:r>
            <a:r>
              <a:rPr lang="en-US" dirty="0" err="1">
                <a:latin typeface="Garamond" panose="02020404030301010803" pitchFamily="18" charset="0"/>
              </a:rPr>
              <a:t>Selanjutnya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ditulis</a:t>
            </a:r>
            <a:r>
              <a:rPr lang="en-US" dirty="0">
                <a:latin typeface="Garamond" panose="02020404030301010803" pitchFamily="18" charset="0"/>
              </a:rPr>
              <a:t> UU 24/2009 ) </a:t>
            </a:r>
            <a:r>
              <a:rPr lang="en-US" dirty="0" err="1">
                <a:latin typeface="Garamond" panose="02020404030301010803" pitchFamily="18" charset="0"/>
              </a:rPr>
              <a:t>secara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umum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memiliki</a:t>
            </a:r>
            <a:r>
              <a:rPr lang="en-US" dirty="0">
                <a:latin typeface="Garamond" panose="02020404030301010803" pitchFamily="18" charset="0"/>
              </a:rPr>
              <a:t> 9 Bab </a:t>
            </a:r>
            <a:r>
              <a:rPr lang="en-US" dirty="0" err="1">
                <a:latin typeface="Garamond" panose="02020404030301010803" pitchFamily="18" charset="0"/>
              </a:rPr>
              <a:t>dan</a:t>
            </a:r>
            <a:r>
              <a:rPr lang="en-US" dirty="0">
                <a:latin typeface="Garamond" panose="02020404030301010803" pitchFamily="18" charset="0"/>
              </a:rPr>
              <a:t> 74 </a:t>
            </a:r>
            <a:r>
              <a:rPr lang="en-US" dirty="0" err="1">
                <a:latin typeface="Garamond" panose="02020404030301010803" pitchFamily="18" charset="0"/>
              </a:rPr>
              <a:t>pasal</a:t>
            </a:r>
            <a:r>
              <a:rPr lang="en-US" dirty="0">
                <a:latin typeface="Garamond" panose="02020404030301010803" pitchFamily="18" charset="0"/>
              </a:rPr>
              <a:t> yang </a:t>
            </a:r>
            <a:r>
              <a:rPr lang="en-US" dirty="0" err="1">
                <a:latin typeface="Garamond" panose="02020404030301010803" pitchFamily="18" charset="0"/>
              </a:rPr>
              <a:t>pada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pokoknya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mengatur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tentang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praktik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penetapan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tata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cara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penggunaan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bendera</a:t>
            </a:r>
            <a:r>
              <a:rPr lang="en-US" dirty="0">
                <a:latin typeface="Garamond" panose="02020404030301010803" pitchFamily="18" charset="0"/>
              </a:rPr>
              <a:t>, </a:t>
            </a:r>
            <a:r>
              <a:rPr lang="en-US" dirty="0" err="1">
                <a:latin typeface="Garamond" panose="02020404030301010803" pitchFamily="18" charset="0"/>
              </a:rPr>
              <a:t>bahasa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lambang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negara</a:t>
            </a:r>
            <a:r>
              <a:rPr lang="en-US" dirty="0">
                <a:latin typeface="Garamond" panose="02020404030301010803" pitchFamily="18" charset="0"/>
              </a:rPr>
              <a:t>, </a:t>
            </a:r>
            <a:r>
              <a:rPr lang="en-US" dirty="0" err="1">
                <a:latin typeface="Garamond" panose="02020404030301010803" pitchFamily="18" charset="0"/>
              </a:rPr>
              <a:t>serta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lagu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kebangsaan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berikut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ketentuan</a:t>
            </a:r>
            <a:r>
              <a:rPr lang="en-US" dirty="0">
                <a:latin typeface="Garamond" panose="02020404030301010803" pitchFamily="18" charset="0"/>
              </a:rPr>
              <a:t> – </a:t>
            </a:r>
            <a:r>
              <a:rPr lang="en-US" dirty="0" err="1">
                <a:latin typeface="Garamond" panose="02020404030301010803" pitchFamily="18" charset="0"/>
              </a:rPr>
              <a:t>ketentuan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pidananya</a:t>
            </a:r>
            <a:r>
              <a:rPr lang="en-US" dirty="0">
                <a:latin typeface="Garamond" panose="02020404030301010803" pitchFamily="18" charset="0"/>
              </a:rPr>
              <a:t>. Dan </a:t>
            </a:r>
            <a:r>
              <a:rPr lang="en-US" dirty="0" err="1">
                <a:latin typeface="Garamond" panose="02020404030301010803" pitchFamily="18" charset="0"/>
              </a:rPr>
              <a:t>tujuan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dari</a:t>
            </a:r>
            <a:r>
              <a:rPr lang="en-US" dirty="0">
                <a:latin typeface="Garamond" panose="02020404030301010803" pitchFamily="18" charset="0"/>
              </a:rPr>
              <a:t> UU 24/2009 </a:t>
            </a:r>
            <a:r>
              <a:rPr lang="en-US" dirty="0" err="1">
                <a:latin typeface="Garamond" panose="02020404030301010803" pitchFamily="18" charset="0"/>
              </a:rPr>
              <a:t>ini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adalah</a:t>
            </a:r>
            <a:r>
              <a:rPr lang="en-US" dirty="0">
                <a:latin typeface="Garamond" panose="02020404030301010803" pitchFamily="18" charset="0"/>
              </a:rPr>
              <a:t> :</a:t>
            </a:r>
            <a:br>
              <a:rPr lang="en-US" dirty="0">
                <a:latin typeface="Garamond" panose="02020404030301010803" pitchFamily="18" charset="0"/>
              </a:rPr>
            </a:br>
            <a:r>
              <a:rPr lang="en-US" dirty="0" smtClean="0">
                <a:latin typeface="Garamond" panose="02020404030301010803" pitchFamily="18" charset="0"/>
              </a:rPr>
              <a:t>1. </a:t>
            </a:r>
            <a:r>
              <a:rPr lang="en-US" dirty="0" err="1" smtClean="0">
                <a:latin typeface="Garamond" panose="02020404030301010803" pitchFamily="18" charset="0"/>
              </a:rPr>
              <a:t>Memperkuat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persatuan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kesatuan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bangsa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dan</a:t>
            </a:r>
            <a:r>
              <a:rPr lang="en-US" dirty="0">
                <a:latin typeface="Garamond" panose="02020404030301010803" pitchFamily="18" charset="0"/>
              </a:rPr>
              <a:t> Negara </a:t>
            </a:r>
            <a:r>
              <a:rPr lang="en-US" dirty="0" err="1">
                <a:latin typeface="Garamond" panose="02020404030301010803" pitchFamily="18" charset="0"/>
              </a:rPr>
              <a:t>Kesatuan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Republik</a:t>
            </a:r>
            <a:r>
              <a:rPr lang="en-US" dirty="0">
                <a:latin typeface="Garamond" panose="02020404030301010803" pitchFamily="18" charset="0"/>
              </a:rPr>
              <a:t> Indonesia</a:t>
            </a:r>
            <a:br>
              <a:rPr lang="en-US" dirty="0">
                <a:latin typeface="Garamond" panose="02020404030301010803" pitchFamily="18" charset="0"/>
              </a:rPr>
            </a:br>
            <a:r>
              <a:rPr lang="en-US" dirty="0" smtClean="0">
                <a:latin typeface="Garamond" panose="02020404030301010803" pitchFamily="18" charset="0"/>
              </a:rPr>
              <a:t>2. </a:t>
            </a:r>
            <a:r>
              <a:rPr lang="en-US" dirty="0" err="1" smtClean="0">
                <a:latin typeface="Garamond" panose="02020404030301010803" pitchFamily="18" charset="0"/>
              </a:rPr>
              <a:t>Menjaga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kehormatan</a:t>
            </a:r>
            <a:r>
              <a:rPr lang="en-US" dirty="0">
                <a:latin typeface="Garamond" panose="02020404030301010803" pitchFamily="18" charset="0"/>
              </a:rPr>
              <a:t> yang </a:t>
            </a:r>
            <a:r>
              <a:rPr lang="en-US" dirty="0" err="1">
                <a:latin typeface="Garamond" panose="02020404030301010803" pitchFamily="18" charset="0"/>
              </a:rPr>
              <a:t>menunjukkan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kedaulatan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bangsa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dan</a:t>
            </a:r>
            <a:r>
              <a:rPr lang="en-US" dirty="0">
                <a:latin typeface="Garamond" panose="02020404030301010803" pitchFamily="18" charset="0"/>
              </a:rPr>
              <a:t> Negara </a:t>
            </a:r>
            <a:r>
              <a:rPr lang="en-US" dirty="0" err="1">
                <a:latin typeface="Garamond" panose="02020404030301010803" pitchFamily="18" charset="0"/>
              </a:rPr>
              <a:t>Kesatuan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Republik</a:t>
            </a:r>
            <a:r>
              <a:rPr lang="en-US" dirty="0">
                <a:latin typeface="Garamond" panose="02020404030301010803" pitchFamily="18" charset="0"/>
              </a:rPr>
              <a:t> Indonesia;</a:t>
            </a:r>
            <a:br>
              <a:rPr lang="en-US" dirty="0">
                <a:latin typeface="Garamond" panose="02020404030301010803" pitchFamily="18" charset="0"/>
              </a:rPr>
            </a:br>
            <a:r>
              <a:rPr lang="en-US" dirty="0" smtClean="0">
                <a:latin typeface="Garamond" panose="02020404030301010803" pitchFamily="18" charset="0"/>
              </a:rPr>
              <a:t>3. </a:t>
            </a:r>
            <a:r>
              <a:rPr lang="en-US" dirty="0" err="1" smtClean="0">
                <a:latin typeface="Garamond" panose="02020404030301010803" pitchFamily="18" charset="0"/>
              </a:rPr>
              <a:t>Menciptakan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ketertiban</a:t>
            </a:r>
            <a:r>
              <a:rPr lang="en-US" dirty="0">
                <a:latin typeface="Garamond" panose="02020404030301010803" pitchFamily="18" charset="0"/>
              </a:rPr>
              <a:t>, </a:t>
            </a:r>
            <a:r>
              <a:rPr lang="en-US" dirty="0" err="1">
                <a:latin typeface="Garamond" panose="02020404030301010803" pitchFamily="18" charset="0"/>
              </a:rPr>
              <a:t>kepastian</a:t>
            </a:r>
            <a:r>
              <a:rPr lang="en-US" dirty="0">
                <a:latin typeface="Garamond" panose="02020404030301010803" pitchFamily="18" charset="0"/>
              </a:rPr>
              <a:t>, </a:t>
            </a:r>
            <a:r>
              <a:rPr lang="en-US" dirty="0" err="1">
                <a:latin typeface="Garamond" panose="02020404030301010803" pitchFamily="18" charset="0"/>
              </a:rPr>
              <a:t>dan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standarisasi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penggunaan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bendera</a:t>
            </a:r>
            <a:r>
              <a:rPr lang="en-US" dirty="0">
                <a:latin typeface="Garamond" panose="02020404030301010803" pitchFamily="18" charset="0"/>
              </a:rPr>
              <a:t>, </a:t>
            </a:r>
            <a:r>
              <a:rPr lang="en-US" dirty="0" err="1">
                <a:latin typeface="Garamond" panose="02020404030301010803" pitchFamily="18" charset="0"/>
              </a:rPr>
              <a:t>bahasa</a:t>
            </a:r>
            <a:r>
              <a:rPr lang="en-US" dirty="0">
                <a:latin typeface="Garamond" panose="02020404030301010803" pitchFamily="18" charset="0"/>
              </a:rPr>
              <a:t>, </a:t>
            </a:r>
            <a:r>
              <a:rPr lang="en-US" dirty="0" err="1">
                <a:latin typeface="Garamond" panose="02020404030301010803" pitchFamily="18" charset="0"/>
              </a:rPr>
              <a:t>dan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lambang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negara</a:t>
            </a:r>
            <a:r>
              <a:rPr lang="en-US" dirty="0">
                <a:latin typeface="Garamond" panose="02020404030301010803" pitchFamily="18" charset="0"/>
              </a:rPr>
              <a:t>, </a:t>
            </a:r>
            <a:r>
              <a:rPr lang="en-US" dirty="0" err="1">
                <a:latin typeface="Garamond" panose="02020404030301010803" pitchFamily="18" charset="0"/>
              </a:rPr>
              <a:t>serta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lagu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kebangsaan</a:t>
            </a:r>
            <a:r>
              <a:rPr lang="en-US" dirty="0" smtClean="0">
                <a:latin typeface="Garamond" panose="02020404030301010803" pitchFamily="18" charset="0"/>
              </a:rPr>
              <a:t>.</a:t>
            </a:r>
          </a:p>
          <a:p>
            <a:pPr marL="0" indent="0">
              <a:buNone/>
            </a:pPr>
            <a:r>
              <a:rPr lang="en-US" dirty="0" err="1" smtClean="0">
                <a:latin typeface="Garamond" panose="02020404030301010803" pitchFamily="18" charset="0"/>
              </a:rPr>
              <a:t>Berikut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beberapa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undang-undang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mengenai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bahasa</a:t>
            </a:r>
            <a:r>
              <a:rPr lang="en-US" dirty="0" smtClean="0">
                <a:latin typeface="Garamond" panose="02020404030301010803" pitchFamily="18" charset="0"/>
              </a:rPr>
              <a:t> Indonesia:</a:t>
            </a:r>
            <a:r>
              <a:rPr lang="en-US" dirty="0">
                <a:latin typeface="Garamond" panose="02020404030301010803" pitchFamily="18" charset="0"/>
              </a:rPr>
              <a:t/>
            </a:r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074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UUD 1945 </a:t>
            </a:r>
            <a:r>
              <a:rPr lang="en-US" dirty="0" err="1">
                <a:solidFill>
                  <a:schemeClr val="bg1"/>
                </a:solidFill>
                <a:latin typeface="Garamond" panose="02020404030301010803" pitchFamily="18" charset="0"/>
              </a:rPr>
              <a:t>bab</a:t>
            </a:r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15 </a:t>
            </a:r>
            <a:r>
              <a:rPr lang="en-US" dirty="0" err="1">
                <a:solidFill>
                  <a:schemeClr val="bg1"/>
                </a:solidFill>
                <a:latin typeface="Garamond" panose="02020404030301010803" pitchFamily="18" charset="0"/>
              </a:rPr>
              <a:t>pasal</a:t>
            </a:r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36</a:t>
            </a:r>
            <a:b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</a:b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7350" y="1825625"/>
            <a:ext cx="8472488" cy="356076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r>
              <a:rPr lang="en-US" dirty="0" err="1" smtClean="0"/>
              <a:t>Menetapkan</a:t>
            </a:r>
            <a:r>
              <a:rPr lang="en-US" dirty="0" smtClean="0"/>
              <a:t> </a:t>
            </a:r>
            <a:r>
              <a:rPr lang="en-US" dirty="0" err="1" smtClean="0"/>
              <a:t>bahwa</a:t>
            </a:r>
            <a:r>
              <a:rPr lang="en-US" dirty="0" smtClean="0"/>
              <a:t> </a:t>
            </a:r>
            <a:r>
              <a:rPr lang="en-US" dirty="0" err="1"/>
              <a:t>bahasa</a:t>
            </a:r>
            <a:r>
              <a:rPr lang="en-US" dirty="0"/>
              <a:t> Indonesia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negara</a:t>
            </a:r>
            <a:r>
              <a:rPr lang="en-US" dirty="0" smtClean="0"/>
              <a:t>.</a:t>
            </a:r>
          </a:p>
          <a:p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pasal</a:t>
            </a:r>
            <a:r>
              <a:rPr lang="en-US" dirty="0"/>
              <a:t> 36 </a:t>
            </a:r>
            <a:r>
              <a:rPr lang="en-US" dirty="0" err="1"/>
              <a:t>dalam</a:t>
            </a:r>
            <a:r>
              <a:rPr lang="en-US" dirty="0"/>
              <a:t> UUD </a:t>
            </a:r>
            <a:r>
              <a:rPr lang="en-US" dirty="0" smtClean="0"/>
              <a:t>1945 </a:t>
            </a:r>
            <a:r>
              <a:rPr lang="en-US" dirty="0" err="1" smtClean="0"/>
              <a:t>berbunyi</a:t>
            </a:r>
            <a:r>
              <a:rPr lang="en-US" dirty="0"/>
              <a:t>, “</a:t>
            </a:r>
            <a:r>
              <a:rPr lang="en-US" i="1" dirty="0" err="1"/>
              <a:t>Bahasa</a:t>
            </a:r>
            <a:r>
              <a:rPr lang="en-US" i="1" dirty="0"/>
              <a:t> </a:t>
            </a:r>
            <a:r>
              <a:rPr lang="en-US" i="1" dirty="0" err="1"/>
              <a:t>negara</a:t>
            </a:r>
            <a:r>
              <a:rPr lang="en-US" i="1" dirty="0"/>
              <a:t> </a:t>
            </a:r>
            <a:r>
              <a:rPr lang="en-US" i="1" dirty="0" err="1"/>
              <a:t>adalah</a:t>
            </a:r>
            <a:r>
              <a:rPr lang="en-US" i="1" dirty="0"/>
              <a:t> </a:t>
            </a:r>
            <a:r>
              <a:rPr lang="en-US" i="1" dirty="0" err="1" smtClean="0"/>
              <a:t>bahasa</a:t>
            </a:r>
            <a:r>
              <a:rPr lang="en-US" dirty="0" smtClean="0"/>
              <a:t> Indonesia</a:t>
            </a:r>
            <a:r>
              <a:rPr lang="en-US" dirty="0"/>
              <a:t>”. </a:t>
            </a:r>
            <a:r>
              <a:rPr lang="en-US" dirty="0" err="1"/>
              <a:t>Kalimat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menegaskan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Indonesia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nasional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kedudukan</a:t>
            </a:r>
            <a:r>
              <a:rPr lang="en-US" dirty="0"/>
              <a:t> yang </a:t>
            </a:r>
            <a:r>
              <a:rPr lang="en-US" dirty="0" err="1"/>
              <a:t>sangat</a:t>
            </a:r>
            <a:r>
              <a:rPr lang="en-US" dirty="0"/>
              <a:t> </a:t>
            </a:r>
            <a:r>
              <a:rPr lang="en-US" dirty="0" err="1"/>
              <a:t>kuat</a:t>
            </a:r>
            <a:r>
              <a:rPr lang="en-US" dirty="0"/>
              <a:t>,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urusan</a:t>
            </a:r>
            <a:r>
              <a:rPr lang="en-US" dirty="0"/>
              <a:t> </a:t>
            </a:r>
            <a:r>
              <a:rPr lang="en-US" dirty="0" err="1"/>
              <a:t>kenegaraan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urusan</a:t>
            </a:r>
            <a:r>
              <a:rPr lang="en-US" dirty="0"/>
              <a:t> </a:t>
            </a:r>
            <a:r>
              <a:rPr lang="en-US" dirty="0" err="1"/>
              <a:t>tata</a:t>
            </a:r>
            <a:r>
              <a:rPr lang="en-US" dirty="0"/>
              <a:t> </a:t>
            </a:r>
            <a:r>
              <a:rPr lang="en-US" dirty="0" err="1"/>
              <a:t>pemerintahan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551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 smtClean="0">
                <a:solidFill>
                  <a:schemeClr val="bg1"/>
                </a:solidFill>
                <a:latin typeface="Garamond" panose="02020404030301010803" pitchFamily="18" charset="0"/>
              </a:rPr>
              <a:t>Undang-undang</a:t>
            </a:r>
            <a:r>
              <a:rPr lang="en-US" dirty="0" smtClean="0">
                <a:solidFill>
                  <a:schemeClr val="bg1"/>
                </a:solidFill>
                <a:latin typeface="Garamond" panose="02020404030301010803" pitchFamily="18" charset="0"/>
              </a:rPr>
              <a:t> No. 20 </a:t>
            </a:r>
            <a:r>
              <a:rPr lang="en-US" dirty="0" err="1" smtClean="0">
                <a:solidFill>
                  <a:schemeClr val="bg1"/>
                </a:solidFill>
                <a:latin typeface="Garamond" panose="02020404030301010803" pitchFamily="18" charset="0"/>
              </a:rPr>
              <a:t>Tahun</a:t>
            </a:r>
            <a:r>
              <a:rPr lang="en-US" dirty="0" smtClean="0">
                <a:solidFill>
                  <a:schemeClr val="bg1"/>
                </a:solidFill>
                <a:latin typeface="Garamond" panose="02020404030301010803" pitchFamily="18" charset="0"/>
              </a:rPr>
              <a:t> 2009 </a:t>
            </a:r>
            <a:r>
              <a:rPr lang="en-US" dirty="0" err="1" smtClean="0">
                <a:solidFill>
                  <a:schemeClr val="bg1"/>
                </a:solidFill>
                <a:latin typeface="Garamond" panose="02020404030301010803" pitchFamily="18" charset="0"/>
              </a:rPr>
              <a:t>Pasal</a:t>
            </a:r>
            <a:r>
              <a:rPr lang="en-US" dirty="0" smtClean="0">
                <a:solidFill>
                  <a:schemeClr val="bg1"/>
                </a:solidFill>
                <a:latin typeface="Garamond" panose="02020404030301010803" pitchFamily="18" charset="0"/>
              </a:rPr>
              <a:t> 26, 27, 28, </a:t>
            </a:r>
            <a:r>
              <a:rPr lang="en-US" dirty="0" err="1" smtClean="0">
                <a:solidFill>
                  <a:schemeClr val="bg1"/>
                </a:solidFill>
                <a:latin typeface="Garamond" panose="02020404030301010803" pitchFamily="18" charset="0"/>
              </a:rPr>
              <a:t>dan</a:t>
            </a:r>
            <a:r>
              <a:rPr lang="en-US" dirty="0" smtClean="0">
                <a:solidFill>
                  <a:schemeClr val="bg1"/>
                </a:solidFill>
                <a:latin typeface="Garamond" panose="02020404030301010803" pitchFamily="18" charset="0"/>
              </a:rPr>
              <a:t> 29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4431" y="1690688"/>
            <a:ext cx="9863137" cy="48895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000" dirty="0" err="1" smtClean="0">
                <a:solidFill>
                  <a:schemeClr val="tx1"/>
                </a:solidFill>
              </a:rPr>
              <a:t>Pasal</a:t>
            </a:r>
            <a:r>
              <a:rPr lang="en-US" sz="2000" dirty="0" smtClean="0">
                <a:solidFill>
                  <a:schemeClr val="tx1"/>
                </a:solidFill>
              </a:rPr>
              <a:t> 26 </a:t>
            </a:r>
            <a:r>
              <a:rPr lang="en-US" sz="2000" dirty="0" err="1">
                <a:solidFill>
                  <a:schemeClr val="tx1"/>
                </a:solidFill>
              </a:rPr>
              <a:t>b</a:t>
            </a:r>
            <a:r>
              <a:rPr lang="en-US" sz="2000" dirty="0" err="1" smtClean="0">
                <a:solidFill>
                  <a:schemeClr val="tx1"/>
                </a:solidFill>
              </a:rPr>
              <a:t>erbunyi</a:t>
            </a:r>
            <a:r>
              <a:rPr lang="en-US" sz="2000" dirty="0" smtClean="0">
                <a:solidFill>
                  <a:schemeClr val="tx1"/>
                </a:solidFill>
              </a:rPr>
              <a:t> “</a:t>
            </a:r>
            <a:r>
              <a:rPr lang="sv-SE" sz="2000" i="1" dirty="0" smtClean="0">
                <a:solidFill>
                  <a:schemeClr val="tx1"/>
                </a:solidFill>
              </a:rPr>
              <a:t>Bahasa </a:t>
            </a:r>
            <a:r>
              <a:rPr lang="sv-SE" sz="2000" i="1" dirty="0">
                <a:solidFill>
                  <a:schemeClr val="tx1"/>
                </a:solidFill>
              </a:rPr>
              <a:t>Indonesia </a:t>
            </a:r>
            <a:r>
              <a:rPr lang="sv-SE" sz="2000" i="1" dirty="0" smtClean="0">
                <a:solidFill>
                  <a:schemeClr val="tx1"/>
                </a:solidFill>
              </a:rPr>
              <a:t>wajib</a:t>
            </a:r>
            <a:r>
              <a:rPr lang="sv-SE" sz="2000" dirty="0" smtClean="0">
                <a:solidFill>
                  <a:schemeClr val="tx1"/>
                </a:solidFill>
              </a:rPr>
              <a:t> </a:t>
            </a:r>
            <a:r>
              <a:rPr lang="sv-SE" sz="2000" i="1" dirty="0" smtClean="0">
                <a:solidFill>
                  <a:schemeClr val="tx1"/>
                </a:solidFill>
              </a:rPr>
              <a:t>digunakan </a:t>
            </a:r>
            <a:r>
              <a:rPr lang="sv-SE" sz="2000" i="1" dirty="0">
                <a:solidFill>
                  <a:schemeClr val="tx1"/>
                </a:solidFill>
              </a:rPr>
              <a:t>dalam </a:t>
            </a:r>
            <a:r>
              <a:rPr lang="sv-SE" sz="2000" i="1" dirty="0" smtClean="0">
                <a:solidFill>
                  <a:schemeClr val="tx1"/>
                </a:solidFill>
              </a:rPr>
              <a:t>peraturan</a:t>
            </a:r>
            <a:r>
              <a:rPr lang="sv-SE" sz="2000" dirty="0" smtClean="0">
                <a:solidFill>
                  <a:schemeClr val="tx1"/>
                </a:solidFill>
              </a:rPr>
              <a:t> </a:t>
            </a:r>
            <a:r>
              <a:rPr lang="sv-SE" sz="2000" i="1" dirty="0" smtClean="0">
                <a:solidFill>
                  <a:schemeClr val="tx1"/>
                </a:solidFill>
              </a:rPr>
              <a:t>perundang undangan”.</a:t>
            </a:r>
          </a:p>
          <a:p>
            <a:r>
              <a:rPr lang="en-US" sz="2000" dirty="0" err="1" smtClean="0">
                <a:solidFill>
                  <a:schemeClr val="tx1"/>
                </a:solidFill>
              </a:rPr>
              <a:t>Pasal</a:t>
            </a:r>
            <a:r>
              <a:rPr lang="en-US" sz="2000" dirty="0" smtClean="0">
                <a:solidFill>
                  <a:schemeClr val="tx1"/>
                </a:solidFill>
              </a:rPr>
              <a:t> 27 </a:t>
            </a:r>
            <a:r>
              <a:rPr lang="en-US" sz="2000" dirty="0" err="1" smtClean="0">
                <a:solidFill>
                  <a:schemeClr val="tx1"/>
                </a:solidFill>
              </a:rPr>
              <a:t>berbunyi</a:t>
            </a:r>
            <a:r>
              <a:rPr lang="en-US" sz="2000" dirty="0" smtClean="0">
                <a:solidFill>
                  <a:schemeClr val="tx1"/>
                </a:solidFill>
              </a:rPr>
              <a:t> “</a:t>
            </a:r>
            <a:r>
              <a:rPr lang="en-US" sz="2000" i="1" dirty="0" err="1">
                <a:solidFill>
                  <a:schemeClr val="tx1"/>
                </a:solidFill>
              </a:rPr>
              <a:t>Bahasa</a:t>
            </a:r>
            <a:r>
              <a:rPr lang="en-US" sz="2000" i="1" dirty="0">
                <a:solidFill>
                  <a:schemeClr val="tx1"/>
                </a:solidFill>
              </a:rPr>
              <a:t> Indonesia </a:t>
            </a:r>
            <a:r>
              <a:rPr lang="en-US" sz="2000" i="1" dirty="0" err="1">
                <a:solidFill>
                  <a:schemeClr val="tx1"/>
                </a:solidFill>
              </a:rPr>
              <a:t>wajib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digunakan</a:t>
            </a:r>
            <a:r>
              <a:rPr lang="en-US" sz="2000" i="1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dalam</a:t>
            </a:r>
            <a:r>
              <a:rPr lang="en-US" sz="2000" i="1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dokumen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resmi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negara</a:t>
            </a:r>
            <a:r>
              <a:rPr lang="en-US" sz="2000" i="1" dirty="0" smtClean="0">
                <a:solidFill>
                  <a:schemeClr val="tx1"/>
                </a:solidFill>
              </a:rPr>
              <a:t>”.</a:t>
            </a:r>
          </a:p>
          <a:p>
            <a:r>
              <a:rPr lang="en-US" sz="2000" dirty="0" err="1" smtClean="0">
                <a:solidFill>
                  <a:schemeClr val="tx1"/>
                </a:solidFill>
              </a:rPr>
              <a:t>Pasal</a:t>
            </a:r>
            <a:r>
              <a:rPr lang="en-US" sz="2000" dirty="0" smtClean="0">
                <a:solidFill>
                  <a:schemeClr val="tx1"/>
                </a:solidFill>
              </a:rPr>
              <a:t> 28 </a:t>
            </a:r>
            <a:r>
              <a:rPr lang="en-US" sz="2000" dirty="0" err="1" smtClean="0">
                <a:solidFill>
                  <a:schemeClr val="tx1"/>
                </a:solidFill>
              </a:rPr>
              <a:t>berbunyi</a:t>
            </a:r>
            <a:r>
              <a:rPr lang="en-US" sz="2000" dirty="0" smtClean="0">
                <a:solidFill>
                  <a:schemeClr val="tx1"/>
                </a:solidFill>
              </a:rPr>
              <a:t> “</a:t>
            </a:r>
            <a:r>
              <a:rPr lang="en-US" sz="2000" i="1" dirty="0" err="1">
                <a:solidFill>
                  <a:schemeClr val="tx1"/>
                </a:solidFill>
              </a:rPr>
              <a:t>Bahasa</a:t>
            </a:r>
            <a:r>
              <a:rPr lang="en-US" sz="2000" i="1" dirty="0">
                <a:solidFill>
                  <a:schemeClr val="tx1"/>
                </a:solidFill>
              </a:rPr>
              <a:t> Indonesia </a:t>
            </a:r>
            <a:r>
              <a:rPr lang="en-US" sz="2000" i="1" dirty="0" err="1" smtClean="0">
                <a:solidFill>
                  <a:schemeClr val="tx1"/>
                </a:solidFill>
              </a:rPr>
              <a:t>wajib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digunakan</a:t>
            </a:r>
            <a:r>
              <a:rPr lang="en-US" sz="2000" i="1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dalam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pidato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resmi</a:t>
            </a:r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i="1" dirty="0" err="1">
                <a:solidFill>
                  <a:schemeClr val="tx1"/>
                </a:solidFill>
              </a:rPr>
              <a:t>Presiden</a:t>
            </a:r>
            <a:r>
              <a:rPr lang="en-US" sz="2000" i="1" dirty="0">
                <a:solidFill>
                  <a:schemeClr val="tx1"/>
                </a:solidFill>
              </a:rPr>
              <a:t>, </a:t>
            </a:r>
            <a:r>
              <a:rPr lang="en-US" sz="2000" i="1" dirty="0" err="1">
                <a:solidFill>
                  <a:schemeClr val="tx1"/>
                </a:solidFill>
              </a:rPr>
              <a:t>Wakil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Presiden</a:t>
            </a:r>
            <a:r>
              <a:rPr lang="en-US" sz="2000" i="1" dirty="0">
                <a:solidFill>
                  <a:schemeClr val="tx1"/>
                </a:solidFill>
              </a:rPr>
              <a:t>, </a:t>
            </a:r>
            <a:r>
              <a:rPr lang="en-US" sz="2000" i="1" dirty="0" err="1" smtClean="0">
                <a:solidFill>
                  <a:schemeClr val="tx1"/>
                </a:solidFill>
              </a:rPr>
              <a:t>dan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pejabat</a:t>
            </a:r>
            <a:r>
              <a:rPr lang="en-US" sz="2000" i="1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negara</a:t>
            </a:r>
            <a:r>
              <a:rPr lang="en-US" sz="2000" i="1" dirty="0">
                <a:solidFill>
                  <a:schemeClr val="tx1"/>
                </a:solidFill>
              </a:rPr>
              <a:t> yang lain </a:t>
            </a:r>
            <a:r>
              <a:rPr lang="en-US" sz="2000" i="1" dirty="0" smtClean="0">
                <a:solidFill>
                  <a:schemeClr val="tx1"/>
                </a:solidFill>
              </a:rPr>
              <a:t>yang 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disampaikan</a:t>
            </a:r>
            <a:r>
              <a:rPr lang="en-US" sz="2000" i="1" dirty="0" smtClean="0">
                <a:solidFill>
                  <a:schemeClr val="tx1"/>
                </a:solidFill>
              </a:rPr>
              <a:t> di </a:t>
            </a:r>
            <a:r>
              <a:rPr lang="en-US" sz="2000" i="1" dirty="0" err="1" smtClean="0">
                <a:solidFill>
                  <a:schemeClr val="tx1"/>
                </a:solidFill>
              </a:rPr>
              <a:t>dalam</a:t>
            </a:r>
            <a:r>
              <a:rPr lang="en-US" sz="2000" i="1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atau</a:t>
            </a:r>
            <a:r>
              <a:rPr lang="en-US" sz="2000" i="1" dirty="0" smtClean="0">
                <a:solidFill>
                  <a:schemeClr val="tx1"/>
                </a:solidFill>
              </a:rPr>
              <a:t> di </a:t>
            </a:r>
            <a:r>
              <a:rPr lang="en-US" sz="2000" i="1" dirty="0" err="1" smtClean="0">
                <a:solidFill>
                  <a:schemeClr val="tx1"/>
                </a:solidFill>
              </a:rPr>
              <a:t>luar</a:t>
            </a:r>
            <a:r>
              <a:rPr lang="en-US" sz="2000" i="1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negeri</a:t>
            </a:r>
            <a:r>
              <a:rPr lang="en-US" sz="2000" i="1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US" sz="2000" i="1" dirty="0" err="1" smtClean="0">
                <a:solidFill>
                  <a:schemeClr val="tx1"/>
                </a:solidFill>
              </a:rPr>
              <a:t>Pasal</a:t>
            </a:r>
            <a:r>
              <a:rPr lang="en-US" sz="2000" i="1" dirty="0" smtClean="0">
                <a:solidFill>
                  <a:schemeClr val="tx1"/>
                </a:solidFill>
              </a:rPr>
              <a:t> 29 </a:t>
            </a:r>
            <a:r>
              <a:rPr lang="en-US" sz="2000" i="1" dirty="0" err="1" smtClean="0">
                <a:solidFill>
                  <a:schemeClr val="tx1"/>
                </a:solidFill>
              </a:rPr>
              <a:t>berbunyi</a:t>
            </a:r>
            <a:r>
              <a:rPr lang="en-US" sz="2000" i="1" dirty="0" smtClean="0">
                <a:solidFill>
                  <a:schemeClr val="tx1"/>
                </a:solidFill>
              </a:rPr>
              <a:t> :</a:t>
            </a:r>
          </a:p>
          <a:p>
            <a:pPr marL="0" indent="0">
              <a:buNone/>
            </a:pPr>
            <a:r>
              <a:rPr lang="en-US" sz="2000" i="1" dirty="0" smtClean="0">
                <a:solidFill>
                  <a:schemeClr val="tx1"/>
                </a:solidFill>
              </a:rPr>
              <a:t>(</a:t>
            </a:r>
            <a:r>
              <a:rPr lang="en-US" sz="2000" i="1" dirty="0">
                <a:solidFill>
                  <a:schemeClr val="tx1"/>
                </a:solidFill>
              </a:rPr>
              <a:t>1) </a:t>
            </a:r>
            <a:r>
              <a:rPr lang="en-US" sz="2000" i="1" dirty="0" err="1">
                <a:solidFill>
                  <a:schemeClr val="tx1"/>
                </a:solidFill>
              </a:rPr>
              <a:t>Bahasa</a:t>
            </a:r>
            <a:r>
              <a:rPr lang="en-US" sz="2000" i="1" dirty="0">
                <a:solidFill>
                  <a:schemeClr val="tx1"/>
                </a:solidFill>
              </a:rPr>
              <a:t> Indonesia </a:t>
            </a:r>
            <a:r>
              <a:rPr lang="en-US" sz="2000" i="1" dirty="0" err="1">
                <a:solidFill>
                  <a:schemeClr val="tx1"/>
                </a:solidFill>
              </a:rPr>
              <a:t>wajib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digunakan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sebagai</a:t>
            </a:r>
            <a:r>
              <a:rPr lang="en-US" sz="2000" i="1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bahasa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pengantar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dalam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pendidikan</a:t>
            </a:r>
            <a:r>
              <a:rPr lang="en-US" sz="2000" i="1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nasional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i="1" dirty="0">
                <a:solidFill>
                  <a:schemeClr val="tx1"/>
                </a:solidFill>
              </a:rPr>
              <a:t>(2) </a:t>
            </a:r>
            <a:r>
              <a:rPr lang="en-US" sz="2000" i="1" dirty="0" err="1">
                <a:solidFill>
                  <a:schemeClr val="tx1"/>
                </a:solidFill>
              </a:rPr>
              <a:t>Bahasa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pengantar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sebagaimana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dimaksud</a:t>
            </a:r>
            <a:r>
              <a:rPr lang="en-US" sz="2000" i="1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pada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ayat</a:t>
            </a:r>
            <a:r>
              <a:rPr lang="en-US" sz="2000" i="1" dirty="0">
                <a:solidFill>
                  <a:schemeClr val="tx1"/>
                </a:solidFill>
              </a:rPr>
              <a:t> (1) </a:t>
            </a:r>
            <a:r>
              <a:rPr lang="en-US" sz="2000" i="1" dirty="0" err="1" smtClean="0">
                <a:solidFill>
                  <a:schemeClr val="tx1"/>
                </a:solidFill>
              </a:rPr>
              <a:t>dapat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menggunakan</a:t>
            </a:r>
            <a:r>
              <a:rPr lang="en-US" sz="2000" i="1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bahasa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asing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untuk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tujuan</a:t>
            </a:r>
            <a:r>
              <a:rPr lang="en-US" sz="2000" i="1" dirty="0" smtClean="0">
                <a:solidFill>
                  <a:schemeClr val="tx1"/>
                </a:solidFill>
              </a:rPr>
              <a:t> </a:t>
            </a:r>
            <a:r>
              <a:rPr lang="en-US" sz="2000" i="1" dirty="0">
                <a:solidFill>
                  <a:schemeClr val="tx1"/>
                </a:solidFill>
              </a:rPr>
              <a:t>yang </a:t>
            </a:r>
            <a:r>
              <a:rPr lang="en-US" sz="2000" i="1" dirty="0" err="1">
                <a:solidFill>
                  <a:schemeClr val="tx1"/>
                </a:solidFill>
              </a:rPr>
              <a:t>mendukung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kemampuan</a:t>
            </a:r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i="1" dirty="0" err="1">
                <a:solidFill>
                  <a:schemeClr val="tx1"/>
                </a:solidFill>
              </a:rPr>
              <a:t>berbahasa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asing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peserta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didik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i="1" dirty="0">
                <a:solidFill>
                  <a:schemeClr val="tx1"/>
                </a:solidFill>
              </a:rPr>
              <a:t>(3) </a:t>
            </a:r>
            <a:r>
              <a:rPr lang="en-US" sz="2000" i="1" dirty="0" err="1">
                <a:solidFill>
                  <a:schemeClr val="tx1"/>
                </a:solidFill>
              </a:rPr>
              <a:t>Penggunaan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Bahasa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smtClean="0">
                <a:solidFill>
                  <a:schemeClr val="tx1"/>
                </a:solidFill>
              </a:rPr>
              <a:t>Indonesia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sebagaimana</a:t>
            </a:r>
            <a:r>
              <a:rPr lang="en-US" sz="2000" i="1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dimaksud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pada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ayat</a:t>
            </a:r>
            <a:r>
              <a:rPr lang="en-US" sz="2000" i="1" dirty="0">
                <a:solidFill>
                  <a:schemeClr val="tx1"/>
                </a:solidFill>
              </a:rPr>
              <a:t> (</a:t>
            </a:r>
            <a:r>
              <a:rPr lang="en-US" sz="2000" i="1" dirty="0" smtClean="0">
                <a:solidFill>
                  <a:schemeClr val="tx1"/>
                </a:solidFill>
              </a:rPr>
              <a:t>1)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tidak</a:t>
            </a:r>
            <a:r>
              <a:rPr lang="en-US" sz="2000" i="1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berlaku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untuk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satuan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pendidikan</a:t>
            </a:r>
            <a:r>
              <a:rPr lang="en-US" sz="2000" i="1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asing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atau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satuan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pendidikan</a:t>
            </a:r>
            <a:r>
              <a:rPr lang="en-US" sz="2000" i="1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khusus</a:t>
            </a:r>
            <a:r>
              <a:rPr lang="en-US" sz="2000" i="1" dirty="0">
                <a:solidFill>
                  <a:schemeClr val="tx1"/>
                </a:solidFill>
              </a:rPr>
              <a:t> yang </a:t>
            </a:r>
            <a:r>
              <a:rPr lang="en-US" sz="2000" i="1" dirty="0" err="1" smtClean="0">
                <a:solidFill>
                  <a:schemeClr val="tx1"/>
                </a:solidFill>
              </a:rPr>
              <a:t>mendidik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 smtClean="0">
                <a:solidFill>
                  <a:schemeClr val="tx1"/>
                </a:solidFill>
              </a:rPr>
              <a:t>warga</a:t>
            </a:r>
            <a:r>
              <a:rPr lang="en-US" sz="2000" i="1" dirty="0" smtClean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negara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 err="1">
                <a:solidFill>
                  <a:schemeClr val="tx1"/>
                </a:solidFill>
              </a:rPr>
              <a:t>asing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 smtClean="0">
                <a:solidFill>
                  <a:schemeClr val="tx1"/>
                </a:solidFill>
              </a:rPr>
              <a:t/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dirty="0" smtClean="0">
                <a:solidFill>
                  <a:schemeClr val="tx1"/>
                </a:solidFill>
              </a:rPr>
              <a:t/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dirty="0" smtClean="0">
                <a:solidFill>
                  <a:schemeClr val="tx1"/>
                </a:solidFill>
              </a:rPr>
              <a:t/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/>
            </a:r>
            <a:br>
              <a:rPr lang="en-US" sz="2000" dirty="0">
                <a:solidFill>
                  <a:schemeClr val="tx1"/>
                </a:solidFill>
              </a:rPr>
            </a:br>
            <a:endParaRPr lang="sv-SE" sz="2000" i="1" dirty="0" smtClean="0">
              <a:solidFill>
                <a:schemeClr val="tx1"/>
              </a:solidFill>
            </a:endParaRPr>
          </a:p>
          <a:p>
            <a:r>
              <a:rPr lang="sv-SE" sz="2000" dirty="0">
                <a:solidFill>
                  <a:schemeClr val="tx1"/>
                </a:solidFill>
              </a:rPr>
              <a:t/>
            </a:r>
            <a:br>
              <a:rPr lang="sv-SE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162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 smtClean="0">
                <a:solidFill>
                  <a:schemeClr val="bg1"/>
                </a:solidFill>
                <a:latin typeface="Garamond" panose="02020404030301010803" pitchFamily="18" charset="0"/>
              </a:rPr>
              <a:t>Undang-undang</a:t>
            </a:r>
            <a:r>
              <a:rPr lang="en-US" sz="4000" dirty="0" smtClean="0">
                <a:solidFill>
                  <a:schemeClr val="bg1"/>
                </a:solidFill>
                <a:latin typeface="Garamond" panose="02020404030301010803" pitchFamily="18" charset="0"/>
              </a:rPr>
              <a:t> No. 20 </a:t>
            </a:r>
            <a:r>
              <a:rPr lang="en-US" sz="4000" dirty="0" err="1" smtClean="0">
                <a:solidFill>
                  <a:schemeClr val="bg1"/>
                </a:solidFill>
                <a:latin typeface="Garamond" panose="02020404030301010803" pitchFamily="18" charset="0"/>
              </a:rPr>
              <a:t>Tahun</a:t>
            </a:r>
            <a:r>
              <a:rPr lang="en-US" sz="4000" dirty="0" smtClean="0">
                <a:solidFill>
                  <a:schemeClr val="bg1"/>
                </a:solidFill>
                <a:latin typeface="Garamond" panose="02020404030301010803" pitchFamily="18" charset="0"/>
              </a:rPr>
              <a:t> 2009 </a:t>
            </a:r>
            <a:r>
              <a:rPr lang="en-US" sz="4000" dirty="0" err="1" smtClean="0">
                <a:solidFill>
                  <a:schemeClr val="bg1"/>
                </a:solidFill>
                <a:latin typeface="Garamond" panose="02020404030301010803" pitchFamily="18" charset="0"/>
              </a:rPr>
              <a:t>Pasal</a:t>
            </a:r>
            <a:r>
              <a:rPr lang="en-US" sz="4000" dirty="0" smtClean="0">
                <a:solidFill>
                  <a:schemeClr val="bg1"/>
                </a:solidFill>
                <a:latin typeface="Garamond" panose="02020404030301010803" pitchFamily="18" charset="0"/>
              </a:rPr>
              <a:t> 30 </a:t>
            </a:r>
            <a:r>
              <a:rPr lang="en-US" sz="4000" dirty="0" err="1" smtClean="0">
                <a:solidFill>
                  <a:schemeClr val="bg1"/>
                </a:solidFill>
                <a:latin typeface="Garamond" panose="02020404030301010803" pitchFamily="18" charset="0"/>
              </a:rPr>
              <a:t>dan</a:t>
            </a:r>
            <a:r>
              <a:rPr lang="en-US" sz="4000" dirty="0" smtClean="0">
                <a:solidFill>
                  <a:schemeClr val="bg1"/>
                </a:solidFill>
                <a:latin typeface="Garamond" panose="02020404030301010803" pitchFamily="18" charset="0"/>
              </a:rPr>
              <a:t> 31</a:t>
            </a:r>
            <a:endParaRPr lang="en-US" sz="4000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US" dirty="0" err="1" smtClean="0">
                <a:latin typeface="Garamond" panose="02020404030301010803" pitchFamily="18" charset="0"/>
              </a:rPr>
              <a:t>Pasal</a:t>
            </a:r>
            <a:r>
              <a:rPr lang="en-US" dirty="0" smtClean="0">
                <a:latin typeface="Garamond" panose="02020404030301010803" pitchFamily="18" charset="0"/>
              </a:rPr>
              <a:t> 30 </a:t>
            </a:r>
            <a:r>
              <a:rPr lang="en-US" dirty="0" err="1" smtClean="0">
                <a:latin typeface="Garamond" panose="02020404030301010803" pitchFamily="18" charset="0"/>
              </a:rPr>
              <a:t>berbunyi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smtClean="0">
                <a:latin typeface="Garamond" panose="02020404030301010803" pitchFamily="18" charset="0"/>
              </a:rPr>
              <a:t>“</a:t>
            </a:r>
            <a:r>
              <a:rPr lang="en-US" dirty="0" err="1" smtClean="0">
                <a:latin typeface="Garamond" panose="02020404030301010803" pitchFamily="18" charset="0"/>
              </a:rPr>
              <a:t>Bahasa</a:t>
            </a:r>
            <a:r>
              <a:rPr lang="en-US" dirty="0" smtClean="0">
                <a:latin typeface="Garamond" panose="02020404030301010803" pitchFamily="18" charset="0"/>
              </a:rPr>
              <a:t> Indonesia </a:t>
            </a:r>
            <a:r>
              <a:rPr lang="en-US" dirty="0" err="1" smtClean="0">
                <a:latin typeface="Garamond" panose="02020404030301010803" pitchFamily="18" charset="0"/>
              </a:rPr>
              <a:t>wajib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digunakan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dalam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pelayanan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administrasi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publik</a:t>
            </a:r>
            <a:r>
              <a:rPr lang="en-US" dirty="0" smtClean="0">
                <a:latin typeface="Garamond" panose="02020404030301010803" pitchFamily="18" charset="0"/>
              </a:rPr>
              <a:t> di </a:t>
            </a:r>
            <a:r>
              <a:rPr lang="en-US" dirty="0" err="1" smtClean="0">
                <a:latin typeface="Garamond" panose="02020404030301010803" pitchFamily="18" charset="0"/>
              </a:rPr>
              <a:t>instansi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pemerintahan</a:t>
            </a:r>
            <a:r>
              <a:rPr lang="en-US" dirty="0" smtClean="0">
                <a:latin typeface="Garamond" panose="02020404030301010803" pitchFamily="18" charset="0"/>
              </a:rPr>
              <a:t>.</a:t>
            </a:r>
            <a:endParaRPr lang="en-US" dirty="0" smtClean="0">
              <a:latin typeface="Garamond" panose="02020404030301010803" pitchFamily="18" charset="0"/>
            </a:endParaRPr>
          </a:p>
          <a:p>
            <a:r>
              <a:rPr lang="en-US" dirty="0" err="1" smtClean="0">
                <a:latin typeface="Garamond" panose="02020404030301010803" pitchFamily="18" charset="0"/>
              </a:rPr>
              <a:t>Pasal</a:t>
            </a:r>
            <a:r>
              <a:rPr lang="en-US" dirty="0" smtClean="0">
                <a:latin typeface="Garamond" panose="02020404030301010803" pitchFamily="18" charset="0"/>
              </a:rPr>
              <a:t> 31 </a:t>
            </a:r>
            <a:r>
              <a:rPr lang="en-US" dirty="0" err="1" smtClean="0">
                <a:latin typeface="Garamond" panose="02020404030301010803" pitchFamily="18" charset="0"/>
              </a:rPr>
              <a:t>berbunyi</a:t>
            </a:r>
            <a:r>
              <a:rPr lang="en-US" dirty="0" smtClean="0">
                <a:latin typeface="Garamond" panose="02020404030301010803" pitchFamily="18" charset="0"/>
              </a:rPr>
              <a:t>:</a:t>
            </a:r>
          </a:p>
          <a:p>
            <a:r>
              <a:rPr lang="en-US" dirty="0" err="1" smtClean="0">
                <a:latin typeface="Garamond" panose="02020404030301010803" pitchFamily="18" charset="0"/>
              </a:rPr>
              <a:t>Ayat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>
                <a:latin typeface="Garamond" panose="02020404030301010803" pitchFamily="18" charset="0"/>
              </a:rPr>
              <a:t>(1):</a:t>
            </a:r>
            <a:br>
              <a:rPr lang="en-US" dirty="0">
                <a:latin typeface="Garamond" panose="02020404030301010803" pitchFamily="18" charset="0"/>
              </a:rPr>
            </a:br>
            <a:r>
              <a:rPr lang="en-US" dirty="0">
                <a:latin typeface="Garamond" panose="02020404030301010803" pitchFamily="18" charset="0"/>
              </a:rPr>
              <a:t>“</a:t>
            </a:r>
            <a:r>
              <a:rPr lang="en-US" dirty="0" err="1">
                <a:latin typeface="Garamond" panose="02020404030301010803" pitchFamily="18" charset="0"/>
              </a:rPr>
              <a:t>Bahasa</a:t>
            </a:r>
            <a:r>
              <a:rPr lang="en-US" dirty="0">
                <a:latin typeface="Garamond" panose="02020404030301010803" pitchFamily="18" charset="0"/>
              </a:rPr>
              <a:t> Indonesia </a:t>
            </a:r>
            <a:r>
              <a:rPr lang="en-US" dirty="0" err="1">
                <a:latin typeface="Garamond" panose="02020404030301010803" pitchFamily="18" charset="0"/>
              </a:rPr>
              <a:t>wajib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digunakan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dalam</a:t>
            </a:r>
            <a:r>
              <a:rPr lang="en-US" dirty="0">
                <a:latin typeface="Garamond" panose="02020404030301010803" pitchFamily="18" charset="0"/>
              </a:rPr>
              <a:t> nota </a:t>
            </a:r>
            <a:r>
              <a:rPr lang="en-US" dirty="0" err="1">
                <a:latin typeface="Garamond" panose="02020404030301010803" pitchFamily="18" charset="0"/>
              </a:rPr>
              <a:t>kesepahaman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atau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perjanjian</a:t>
            </a:r>
            <a:r>
              <a:rPr lang="en-US" dirty="0">
                <a:latin typeface="Garamond" panose="02020404030301010803" pitchFamily="18" charset="0"/>
              </a:rPr>
              <a:t> yang </a:t>
            </a:r>
            <a:r>
              <a:rPr lang="en-US" dirty="0" err="1">
                <a:latin typeface="Garamond" panose="02020404030301010803" pitchFamily="18" charset="0"/>
              </a:rPr>
              <a:t>melibatkan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lembaga</a:t>
            </a:r>
            <a:r>
              <a:rPr lang="en-US" dirty="0">
                <a:latin typeface="Garamond" panose="02020404030301010803" pitchFamily="18" charset="0"/>
              </a:rPr>
              <a:t> Negara, </a:t>
            </a:r>
            <a:r>
              <a:rPr lang="en-US" dirty="0" err="1">
                <a:latin typeface="Garamond" panose="02020404030301010803" pitchFamily="18" charset="0"/>
              </a:rPr>
              <a:t>instansi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pemerintahan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Republik</a:t>
            </a:r>
            <a:r>
              <a:rPr lang="en-US" dirty="0">
                <a:latin typeface="Garamond" panose="02020404030301010803" pitchFamily="18" charset="0"/>
              </a:rPr>
              <a:t> Indonesia, </a:t>
            </a:r>
            <a:r>
              <a:rPr lang="en-US" dirty="0" err="1">
                <a:latin typeface="Garamond" panose="02020404030301010803" pitchFamily="18" charset="0"/>
              </a:rPr>
              <a:t>lembaga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swasta</a:t>
            </a:r>
            <a:r>
              <a:rPr lang="en-US" dirty="0">
                <a:latin typeface="Garamond" panose="02020404030301010803" pitchFamily="18" charset="0"/>
              </a:rPr>
              <a:t> Indonesia </a:t>
            </a:r>
            <a:r>
              <a:rPr lang="en-US" dirty="0" err="1">
                <a:latin typeface="Garamond" panose="02020404030301010803" pitchFamily="18" charset="0"/>
              </a:rPr>
              <a:t>atau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perseorangan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warga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negara</a:t>
            </a:r>
            <a:r>
              <a:rPr lang="en-US" dirty="0">
                <a:latin typeface="Garamond" panose="02020404030301010803" pitchFamily="18" charset="0"/>
              </a:rPr>
              <a:t> Indonesia</a:t>
            </a:r>
            <a:r>
              <a:rPr lang="en-US" dirty="0" smtClean="0">
                <a:latin typeface="Garamond" panose="02020404030301010803" pitchFamily="18" charset="0"/>
              </a:rPr>
              <a:t>”.</a:t>
            </a:r>
          </a:p>
          <a:p>
            <a:r>
              <a:rPr lang="en-US" dirty="0" err="1" smtClean="0">
                <a:latin typeface="Garamond" panose="02020404030301010803" pitchFamily="18" charset="0"/>
              </a:rPr>
              <a:t>Ayat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>
                <a:latin typeface="Garamond" panose="02020404030301010803" pitchFamily="18" charset="0"/>
              </a:rPr>
              <a:t>(2):</a:t>
            </a:r>
            <a:br>
              <a:rPr lang="en-US" dirty="0">
                <a:latin typeface="Garamond" panose="02020404030301010803" pitchFamily="18" charset="0"/>
              </a:rPr>
            </a:br>
            <a:r>
              <a:rPr lang="en-US" dirty="0">
                <a:latin typeface="Garamond" panose="02020404030301010803" pitchFamily="18" charset="0"/>
              </a:rPr>
              <a:t>“Nota </a:t>
            </a:r>
            <a:r>
              <a:rPr lang="en-US" dirty="0" err="1">
                <a:latin typeface="Garamond" panose="02020404030301010803" pitchFamily="18" charset="0"/>
              </a:rPr>
              <a:t>kesepahaman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atau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perjanjian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sebagaimana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dimaksud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pada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ayat</a:t>
            </a:r>
            <a:r>
              <a:rPr lang="en-US" dirty="0">
                <a:latin typeface="Garamond" panose="02020404030301010803" pitchFamily="18" charset="0"/>
              </a:rPr>
              <a:t> (1) yang </a:t>
            </a:r>
            <a:r>
              <a:rPr lang="en-US" dirty="0" err="1">
                <a:latin typeface="Garamond" panose="02020404030301010803" pitchFamily="18" charset="0"/>
              </a:rPr>
              <a:t>melibatkan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pihak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asing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ditulis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juga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dalam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bahasa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nasional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pihak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asing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tersebut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dan</a:t>
            </a:r>
            <a:r>
              <a:rPr lang="en-US" dirty="0">
                <a:latin typeface="Garamond" panose="02020404030301010803" pitchFamily="18" charset="0"/>
              </a:rPr>
              <a:t>/</a:t>
            </a:r>
            <a:r>
              <a:rPr lang="en-US" dirty="0" err="1">
                <a:latin typeface="Garamond" panose="02020404030301010803" pitchFamily="18" charset="0"/>
              </a:rPr>
              <a:t>atau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bahasa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Inggris</a:t>
            </a:r>
            <a:r>
              <a:rPr lang="en-US" dirty="0">
                <a:latin typeface="Garamond" panose="02020404030301010803" pitchFamily="18" charset="0"/>
              </a:rPr>
              <a:t>”.</a:t>
            </a:r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508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solidFill>
                  <a:schemeClr val="bg1"/>
                </a:solidFill>
                <a:latin typeface="Garamond" panose="02020404030301010803" pitchFamily="18" charset="0"/>
              </a:rPr>
              <a:t>Kedudukan</a:t>
            </a:r>
            <a:r>
              <a:rPr lang="en-US" dirty="0" smtClean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Garamond" panose="02020404030301010803" pitchFamily="18" charset="0"/>
              </a:rPr>
              <a:t>bahasa</a:t>
            </a:r>
            <a:r>
              <a:rPr lang="en-US" dirty="0" smtClean="0">
                <a:solidFill>
                  <a:schemeClr val="bg1"/>
                </a:solidFill>
                <a:latin typeface="Garamond" panose="02020404030301010803" pitchFamily="18" charset="0"/>
              </a:rPr>
              <a:t> Indonesia </a:t>
            </a:r>
            <a:r>
              <a:rPr lang="en-US" dirty="0" err="1" smtClean="0">
                <a:solidFill>
                  <a:schemeClr val="bg1"/>
                </a:solidFill>
                <a:latin typeface="Garamond" panose="02020404030301010803" pitchFamily="18" charset="0"/>
              </a:rPr>
              <a:t>Dalam</a:t>
            </a:r>
            <a:r>
              <a:rPr lang="en-US" dirty="0" smtClean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Garamond" panose="02020404030301010803" pitchFamily="18" charset="0"/>
              </a:rPr>
              <a:t>Undang-undang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675" y="1868487"/>
            <a:ext cx="9772650" cy="35179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r>
              <a:rPr lang="en-US" dirty="0" err="1">
                <a:latin typeface="Garamond" panose="02020404030301010803" pitchFamily="18" charset="0"/>
              </a:rPr>
              <a:t>Bahasa</a:t>
            </a:r>
            <a:r>
              <a:rPr lang="en-US" dirty="0">
                <a:latin typeface="Garamond" panose="02020404030301010803" pitchFamily="18" charset="0"/>
              </a:rPr>
              <a:t> Indonesia </a:t>
            </a:r>
            <a:r>
              <a:rPr lang="en-US" dirty="0" err="1">
                <a:latin typeface="Garamond" panose="02020404030301010803" pitchFamily="18" charset="0"/>
              </a:rPr>
              <a:t>memiliki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kedudukan</a:t>
            </a:r>
            <a:r>
              <a:rPr lang="en-US" dirty="0">
                <a:latin typeface="Garamond" panose="02020404030301010803" pitchFamily="18" charset="0"/>
              </a:rPr>
              <a:t> yang </a:t>
            </a:r>
            <a:r>
              <a:rPr lang="en-US" dirty="0" err="1">
                <a:latin typeface="Garamond" panose="02020404030301010803" pitchFamily="18" charset="0"/>
              </a:rPr>
              <a:t>sangat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penting</a:t>
            </a:r>
            <a:r>
              <a:rPr lang="en-US" dirty="0">
                <a:latin typeface="Garamond" panose="02020404030301010803" pitchFamily="18" charset="0"/>
              </a:rPr>
              <a:t> yang </a:t>
            </a:r>
            <a:r>
              <a:rPr lang="en-US" dirty="0" err="1">
                <a:latin typeface="Garamond" panose="02020404030301010803" pitchFamily="18" charset="0"/>
              </a:rPr>
              <a:t>tercantum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didalam</a:t>
            </a:r>
            <a:r>
              <a:rPr lang="en-US" dirty="0">
                <a:latin typeface="Garamond" panose="02020404030301010803" pitchFamily="18" charset="0"/>
              </a:rPr>
              <a:t> :</a:t>
            </a:r>
            <a:br>
              <a:rPr lang="en-US" dirty="0">
                <a:latin typeface="Garamond" panose="02020404030301010803" pitchFamily="18" charset="0"/>
              </a:rPr>
            </a:br>
            <a:r>
              <a:rPr lang="en-US" dirty="0">
                <a:latin typeface="Garamond" panose="02020404030301010803" pitchFamily="18" charset="0"/>
              </a:rPr>
              <a:t>1. </a:t>
            </a:r>
            <a:r>
              <a:rPr lang="en-US" dirty="0" err="1">
                <a:latin typeface="Garamond" panose="02020404030301010803" pitchFamily="18" charset="0"/>
              </a:rPr>
              <a:t>Ikrar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ketiga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Sumpah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Pemuda</a:t>
            </a:r>
            <a:r>
              <a:rPr lang="en-US" dirty="0">
                <a:latin typeface="Garamond" panose="02020404030301010803" pitchFamily="18" charset="0"/>
              </a:rPr>
              <a:t> 1928 </a:t>
            </a:r>
            <a:r>
              <a:rPr lang="en-US" dirty="0" err="1">
                <a:latin typeface="Garamond" panose="02020404030301010803" pitchFamily="18" charset="0"/>
              </a:rPr>
              <a:t>dengan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bunyi</a:t>
            </a:r>
            <a:r>
              <a:rPr lang="en-US" dirty="0">
                <a:latin typeface="Garamond" panose="02020404030301010803" pitchFamily="18" charset="0"/>
              </a:rPr>
              <a:t>, “ Kami </a:t>
            </a:r>
            <a:r>
              <a:rPr lang="en-US" dirty="0" err="1">
                <a:latin typeface="Garamond" panose="02020404030301010803" pitchFamily="18" charset="0"/>
              </a:rPr>
              <a:t>putra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putri</a:t>
            </a:r>
            <a:r>
              <a:rPr lang="en-US" dirty="0">
                <a:latin typeface="Garamond" panose="02020404030301010803" pitchFamily="18" charset="0"/>
              </a:rPr>
              <a:t> Indonesia </a:t>
            </a:r>
            <a:r>
              <a:rPr lang="en-US" dirty="0" err="1">
                <a:latin typeface="Garamond" panose="02020404030301010803" pitchFamily="18" charset="0"/>
              </a:rPr>
              <a:t>menjunjung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bahasa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persatuan</a:t>
            </a:r>
            <a:r>
              <a:rPr lang="en-US" dirty="0">
                <a:latin typeface="Garamond" panose="02020404030301010803" pitchFamily="18" charset="0"/>
              </a:rPr>
              <a:t>, </a:t>
            </a:r>
            <a:r>
              <a:rPr lang="en-US" dirty="0" err="1">
                <a:latin typeface="Garamond" panose="02020404030301010803" pitchFamily="18" charset="0"/>
              </a:rPr>
              <a:t>bahasa</a:t>
            </a:r>
            <a:r>
              <a:rPr lang="en-US" dirty="0">
                <a:latin typeface="Garamond" panose="02020404030301010803" pitchFamily="18" charset="0"/>
              </a:rPr>
              <a:t> Indonesia”.</a:t>
            </a:r>
            <a:br>
              <a:rPr lang="en-US" dirty="0">
                <a:latin typeface="Garamond" panose="02020404030301010803" pitchFamily="18" charset="0"/>
              </a:rPr>
            </a:br>
            <a:r>
              <a:rPr lang="en-US" dirty="0">
                <a:latin typeface="Garamond" panose="02020404030301010803" pitchFamily="18" charset="0"/>
              </a:rPr>
              <a:t>2. </a:t>
            </a:r>
            <a:r>
              <a:rPr lang="en-US" dirty="0" err="1">
                <a:latin typeface="Garamond" panose="02020404030301010803" pitchFamily="18" charset="0"/>
              </a:rPr>
              <a:t>Undang</a:t>
            </a:r>
            <a:r>
              <a:rPr lang="en-US" dirty="0">
                <a:latin typeface="Garamond" panose="02020404030301010803" pitchFamily="18" charset="0"/>
              </a:rPr>
              <a:t>- </a:t>
            </a:r>
            <a:r>
              <a:rPr lang="en-US" dirty="0" err="1">
                <a:latin typeface="Garamond" panose="02020404030301010803" pitchFamily="18" charset="0"/>
              </a:rPr>
              <a:t>Undang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Dasar</a:t>
            </a:r>
            <a:r>
              <a:rPr lang="en-US" dirty="0">
                <a:latin typeface="Garamond" panose="02020404030301010803" pitchFamily="18" charset="0"/>
              </a:rPr>
              <a:t> RI 1945 Bab XV (</a:t>
            </a:r>
            <a:r>
              <a:rPr lang="en-US" dirty="0" err="1">
                <a:latin typeface="Garamond" panose="02020404030301010803" pitchFamily="18" charset="0"/>
              </a:rPr>
              <a:t>Bendera</a:t>
            </a:r>
            <a:r>
              <a:rPr lang="en-US" dirty="0">
                <a:latin typeface="Garamond" panose="02020404030301010803" pitchFamily="18" charset="0"/>
              </a:rPr>
              <a:t>, </a:t>
            </a:r>
            <a:r>
              <a:rPr lang="en-US" dirty="0" err="1">
                <a:latin typeface="Garamond" panose="02020404030301010803" pitchFamily="18" charset="0"/>
              </a:rPr>
              <a:t>Bahasa</a:t>
            </a:r>
            <a:r>
              <a:rPr lang="en-US" dirty="0">
                <a:latin typeface="Garamond" panose="02020404030301010803" pitchFamily="18" charset="0"/>
              </a:rPr>
              <a:t>, </a:t>
            </a:r>
            <a:r>
              <a:rPr lang="en-US" dirty="0" err="1">
                <a:latin typeface="Garamond" panose="02020404030301010803" pitchFamily="18" charset="0"/>
              </a:rPr>
              <a:t>dan</a:t>
            </a:r>
            <a:r>
              <a:rPr lang="en-US" dirty="0">
                <a:latin typeface="Garamond" panose="02020404030301010803" pitchFamily="18" charset="0"/>
              </a:rPr>
              <a:t> lambing Negara, </a:t>
            </a:r>
            <a:r>
              <a:rPr lang="en-US" dirty="0" err="1">
                <a:latin typeface="Garamond" panose="02020404030301010803" pitchFamily="18" charset="0"/>
              </a:rPr>
              <a:t>serta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Lagu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Kebangsaan</a:t>
            </a:r>
            <a:r>
              <a:rPr lang="en-US" dirty="0">
                <a:latin typeface="Garamond" panose="02020404030301010803" pitchFamily="18" charset="0"/>
              </a:rPr>
              <a:t>) </a:t>
            </a:r>
            <a:r>
              <a:rPr lang="en-US" dirty="0" err="1">
                <a:latin typeface="Garamond" panose="02020404030301010803" pitchFamily="18" charset="0"/>
              </a:rPr>
              <a:t>Pasal</a:t>
            </a:r>
            <a:r>
              <a:rPr lang="en-US" dirty="0">
                <a:latin typeface="Garamond" panose="02020404030301010803" pitchFamily="18" charset="0"/>
              </a:rPr>
              <a:t> 36 </a:t>
            </a:r>
            <a:r>
              <a:rPr lang="en-US" dirty="0" err="1">
                <a:latin typeface="Garamond" panose="02020404030301010803" pitchFamily="18" charset="0"/>
              </a:rPr>
              <a:t>menyatakan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bahwa</a:t>
            </a:r>
            <a:r>
              <a:rPr lang="en-US" dirty="0">
                <a:latin typeface="Garamond" panose="02020404030301010803" pitchFamily="18" charset="0"/>
              </a:rPr>
              <a:t> “</a:t>
            </a:r>
            <a:r>
              <a:rPr lang="en-US" dirty="0" err="1">
                <a:latin typeface="Garamond" panose="02020404030301010803" pitchFamily="18" charset="0"/>
              </a:rPr>
              <a:t>Bahasa</a:t>
            </a:r>
            <a:r>
              <a:rPr lang="en-US" dirty="0">
                <a:latin typeface="Garamond" panose="02020404030301010803" pitchFamily="18" charset="0"/>
              </a:rPr>
              <a:t> Negara </a:t>
            </a:r>
            <a:r>
              <a:rPr lang="en-US" dirty="0" err="1">
                <a:latin typeface="Garamond" panose="02020404030301010803" pitchFamily="18" charset="0"/>
              </a:rPr>
              <a:t>ialah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Bahasa</a:t>
            </a:r>
            <a:r>
              <a:rPr lang="en-US" dirty="0">
                <a:latin typeface="Garamond" panose="02020404030301010803" pitchFamily="18" charset="0"/>
              </a:rPr>
              <a:t> Indonesia”. </a:t>
            </a:r>
            <a:r>
              <a:rPr lang="en-US" dirty="0" err="1">
                <a:latin typeface="Garamond" panose="02020404030301010803" pitchFamily="18" charset="0"/>
              </a:rPr>
              <a:t>Maka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kedudukan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bahasa</a:t>
            </a:r>
            <a:r>
              <a:rPr lang="en-US" dirty="0">
                <a:latin typeface="Garamond" panose="02020404030301010803" pitchFamily="18" charset="0"/>
              </a:rPr>
              <a:t> Indonesia </a:t>
            </a:r>
            <a:r>
              <a:rPr lang="en-US" dirty="0" err="1">
                <a:latin typeface="Garamond" panose="02020404030301010803" pitchFamily="18" charset="0"/>
              </a:rPr>
              <a:t>sebagai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smtClean="0">
                <a:latin typeface="Garamond" panose="02020404030301010803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 smtClean="0">
                <a:latin typeface="Garamond" panose="02020404030301010803" pitchFamily="18" charset="0"/>
              </a:rPr>
              <a:t>Bahasa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N</a:t>
            </a:r>
            <a:r>
              <a:rPr lang="en-US" dirty="0" err="1" smtClean="0">
                <a:latin typeface="Garamond" panose="02020404030301010803" pitchFamily="18" charset="0"/>
              </a:rPr>
              <a:t>asional</a:t>
            </a:r>
            <a:endParaRPr lang="en-US" dirty="0" smtClean="0">
              <a:latin typeface="Garamond" panose="02020404030301010803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 smtClean="0">
                <a:latin typeface="Garamond" panose="02020404030301010803" pitchFamily="18" charset="0"/>
              </a:rPr>
              <a:t>Bahasa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>
                <a:latin typeface="Garamond" panose="02020404030301010803" pitchFamily="18" charset="0"/>
              </a:rPr>
              <a:t>Negara (</a:t>
            </a:r>
            <a:r>
              <a:rPr lang="en-US" dirty="0" err="1">
                <a:latin typeface="Garamond" panose="02020404030301010803" pitchFamily="18" charset="0"/>
              </a:rPr>
              <a:t>Bahasa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resmi</a:t>
            </a:r>
            <a:r>
              <a:rPr lang="en-US" dirty="0">
                <a:latin typeface="Garamond" panose="02020404030301010803" pitchFamily="18" charset="0"/>
              </a:rPr>
              <a:t> Negara </a:t>
            </a:r>
            <a:r>
              <a:rPr lang="en-US" dirty="0" err="1">
                <a:latin typeface="Garamond" panose="02020404030301010803" pitchFamily="18" charset="0"/>
              </a:rPr>
              <a:t>Kesatuan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Republik</a:t>
            </a:r>
            <a:r>
              <a:rPr lang="en-US" dirty="0">
                <a:latin typeface="Garamond" panose="02020404030301010803" pitchFamily="18" charset="0"/>
              </a:rPr>
              <a:t> Indonesia</a:t>
            </a:r>
            <a:r>
              <a:rPr lang="en-US" dirty="0" smtClean="0">
                <a:latin typeface="Garamond" panose="02020404030301010803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/>
            </a:r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185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Garamond" panose="02020404030301010803" pitchFamily="18" charset="0"/>
              </a:rPr>
              <a:t>SUMBER REFERENSI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8225" y="1690688"/>
            <a:ext cx="9777413" cy="3124200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US" dirty="0" smtClean="0">
                <a:latin typeface="Garamond" panose="02020404030301010803" pitchFamily="18" charset="0"/>
              </a:rPr>
              <a:t>E. </a:t>
            </a:r>
            <a:r>
              <a:rPr lang="en-US" dirty="0" err="1" smtClean="0">
                <a:latin typeface="Garamond" panose="02020404030301010803" pitchFamily="18" charset="0"/>
              </a:rPr>
              <a:t>Zaenal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Arifin</a:t>
            </a:r>
            <a:r>
              <a:rPr lang="en-US" dirty="0" smtClean="0">
                <a:latin typeface="Garamond" panose="02020404030301010803" pitchFamily="18" charset="0"/>
              </a:rPr>
              <a:t> (2015), </a:t>
            </a:r>
            <a:r>
              <a:rPr lang="en-US" i="1" dirty="0" err="1" smtClean="0">
                <a:latin typeface="Garamond" panose="02020404030301010803" pitchFamily="18" charset="0"/>
              </a:rPr>
              <a:t>Implementasipasal</a:t>
            </a:r>
            <a:r>
              <a:rPr lang="en-US" i="1" dirty="0" smtClean="0">
                <a:latin typeface="Garamond" panose="02020404030301010803" pitchFamily="18" charset="0"/>
              </a:rPr>
              <a:t> 36 “</a:t>
            </a:r>
            <a:r>
              <a:rPr lang="en-US" i="1" dirty="0" err="1" smtClean="0">
                <a:latin typeface="Garamond" panose="02020404030301010803" pitchFamily="18" charset="0"/>
              </a:rPr>
              <a:t>Undang-undang</a:t>
            </a:r>
            <a:r>
              <a:rPr lang="en-US" i="1" dirty="0" smtClean="0">
                <a:latin typeface="Garamond" panose="02020404030301010803" pitchFamily="18" charset="0"/>
              </a:rPr>
              <a:t> </a:t>
            </a:r>
            <a:r>
              <a:rPr lang="en-US" i="1" dirty="0" err="1" smtClean="0">
                <a:latin typeface="Garamond" panose="02020404030301010803" pitchFamily="18" charset="0"/>
              </a:rPr>
              <a:t>Bahasa</a:t>
            </a:r>
            <a:r>
              <a:rPr lang="en-US" i="1" dirty="0" smtClean="0">
                <a:latin typeface="Garamond" panose="02020404030301010803" pitchFamily="18" charset="0"/>
              </a:rPr>
              <a:t>”, </a:t>
            </a:r>
            <a:r>
              <a:rPr lang="en-US" dirty="0" err="1" smtClean="0">
                <a:latin typeface="Garamond" panose="02020404030301010803" pitchFamily="18" charset="0"/>
              </a:rPr>
              <a:t>Universitas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Indraprasta</a:t>
            </a:r>
            <a:r>
              <a:rPr lang="en-US" dirty="0" smtClean="0">
                <a:latin typeface="Garamond" panose="02020404030301010803" pitchFamily="18" charset="0"/>
              </a:rPr>
              <a:t> PGRI</a:t>
            </a:r>
          </a:p>
          <a:p>
            <a:r>
              <a:rPr lang="en-US" dirty="0" err="1" smtClean="0">
                <a:latin typeface="Garamond" panose="02020404030301010803" pitchFamily="18" charset="0"/>
              </a:rPr>
              <a:t>Jatut</a:t>
            </a:r>
            <a:r>
              <a:rPr lang="en-US" dirty="0" smtClean="0">
                <a:latin typeface="Garamond" panose="02020404030301010803" pitchFamily="18" charset="0"/>
              </a:rPr>
              <a:t> Yoga </a:t>
            </a:r>
            <a:r>
              <a:rPr lang="en-US" dirty="0" err="1" smtClean="0">
                <a:latin typeface="Garamond" panose="02020404030301010803" pitchFamily="18" charset="0"/>
              </a:rPr>
              <a:t>Prameswari</a:t>
            </a:r>
            <a:r>
              <a:rPr lang="en-US" dirty="0" smtClean="0">
                <a:latin typeface="Garamond" panose="02020404030301010803" pitchFamily="18" charset="0"/>
              </a:rPr>
              <a:t> (2017), </a:t>
            </a:r>
            <a:r>
              <a:rPr lang="en-US" i="1" dirty="0" err="1" smtClean="0">
                <a:latin typeface="Garamond" panose="02020404030301010803" pitchFamily="18" charset="0"/>
              </a:rPr>
              <a:t>Peran</a:t>
            </a:r>
            <a:r>
              <a:rPr lang="en-US" i="1" dirty="0" smtClean="0">
                <a:latin typeface="Garamond" panose="02020404030301010803" pitchFamily="18" charset="0"/>
              </a:rPr>
              <a:t> </a:t>
            </a:r>
            <a:r>
              <a:rPr lang="en-US" i="1" dirty="0" err="1" smtClean="0">
                <a:latin typeface="Garamond" panose="02020404030301010803" pitchFamily="18" charset="0"/>
              </a:rPr>
              <a:t>Undang-undang</a:t>
            </a:r>
            <a:r>
              <a:rPr lang="en-US" i="1" dirty="0" smtClean="0">
                <a:latin typeface="Garamond" panose="02020404030301010803" pitchFamily="18" charset="0"/>
              </a:rPr>
              <a:t> </a:t>
            </a:r>
            <a:r>
              <a:rPr lang="en-US" i="1" dirty="0" err="1" smtClean="0">
                <a:latin typeface="Garamond" panose="02020404030301010803" pitchFamily="18" charset="0"/>
              </a:rPr>
              <a:t>Nomor</a:t>
            </a:r>
            <a:r>
              <a:rPr lang="en-US" i="1" dirty="0" smtClean="0">
                <a:latin typeface="Garamond" panose="02020404030301010803" pitchFamily="18" charset="0"/>
              </a:rPr>
              <a:t> 24 </a:t>
            </a:r>
            <a:r>
              <a:rPr lang="en-US" i="1" dirty="0" err="1" smtClean="0">
                <a:latin typeface="Garamond" panose="02020404030301010803" pitchFamily="18" charset="0"/>
              </a:rPr>
              <a:t>Tahun</a:t>
            </a:r>
            <a:r>
              <a:rPr lang="en-US" i="1" dirty="0" smtClean="0">
                <a:latin typeface="Garamond" panose="02020404030301010803" pitchFamily="18" charset="0"/>
              </a:rPr>
              <a:t> 2009</a:t>
            </a:r>
            <a:r>
              <a:rPr lang="en-US" i="1" dirty="0">
                <a:latin typeface="Garamond" panose="02020404030301010803" pitchFamily="18" charset="0"/>
              </a:rPr>
              <a:t> </a:t>
            </a:r>
            <a:r>
              <a:rPr lang="en-US" i="1" dirty="0" err="1" smtClean="0">
                <a:latin typeface="Garamond" panose="02020404030301010803" pitchFamily="18" charset="0"/>
              </a:rPr>
              <a:t>Terhadap</a:t>
            </a:r>
            <a:r>
              <a:rPr lang="en-US" i="1" dirty="0" smtClean="0">
                <a:latin typeface="Garamond" panose="02020404030301010803" pitchFamily="18" charset="0"/>
              </a:rPr>
              <a:t> </a:t>
            </a:r>
            <a:r>
              <a:rPr lang="en-US" i="1" dirty="0" err="1" smtClean="0">
                <a:latin typeface="Garamond" panose="02020404030301010803" pitchFamily="18" charset="0"/>
              </a:rPr>
              <a:t>Pendidikan</a:t>
            </a:r>
            <a:r>
              <a:rPr lang="en-US" i="1" dirty="0" smtClean="0">
                <a:latin typeface="Garamond" panose="02020404030301010803" pitchFamily="18" charset="0"/>
              </a:rPr>
              <a:t> </a:t>
            </a:r>
            <a:r>
              <a:rPr lang="en-US" i="1" dirty="0" err="1" smtClean="0">
                <a:latin typeface="Garamond" panose="02020404030301010803" pitchFamily="18" charset="0"/>
              </a:rPr>
              <a:t>Bahasa</a:t>
            </a:r>
            <a:r>
              <a:rPr lang="en-US" i="1" dirty="0" smtClean="0">
                <a:latin typeface="Garamond" panose="02020404030301010803" pitchFamily="18" charset="0"/>
              </a:rPr>
              <a:t> Indonesia, </a:t>
            </a:r>
            <a:r>
              <a:rPr lang="en-US" i="1" dirty="0" err="1" smtClean="0">
                <a:latin typeface="Garamond" panose="02020404030301010803" pitchFamily="18" charset="0"/>
              </a:rPr>
              <a:t>Vol</a:t>
            </a:r>
            <a:r>
              <a:rPr lang="en-US" i="1" dirty="0" smtClean="0">
                <a:latin typeface="Garamond" panose="02020404030301010803" pitchFamily="18" charset="0"/>
              </a:rPr>
              <a:t> (4) 1</a:t>
            </a:r>
          </a:p>
          <a:p>
            <a:r>
              <a:rPr lang="en-US" dirty="0" err="1">
                <a:latin typeface="Garamond" panose="02020404030301010803" pitchFamily="18" charset="0"/>
              </a:rPr>
              <a:t>Neneng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Wahyuni</a:t>
            </a:r>
            <a:r>
              <a:rPr lang="en-US" dirty="0" smtClean="0">
                <a:latin typeface="Garamond" panose="02020404030301010803" pitchFamily="18" charset="0"/>
              </a:rPr>
              <a:t>, </a:t>
            </a:r>
            <a:r>
              <a:rPr lang="en-US" dirty="0" err="1" smtClean="0">
                <a:latin typeface="Garamond" panose="02020404030301010803" pitchFamily="18" charset="0"/>
              </a:rPr>
              <a:t>Analisis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Dasar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Hukum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Bahasa</a:t>
            </a:r>
            <a:r>
              <a:rPr lang="en-US" dirty="0" smtClean="0">
                <a:latin typeface="Garamond" panose="02020404030301010803" pitchFamily="18" charset="0"/>
              </a:rPr>
              <a:t> Indonesia</a:t>
            </a:r>
            <a:br>
              <a:rPr lang="en-US" dirty="0" smtClean="0">
                <a:latin typeface="Garamond" panose="02020404030301010803" pitchFamily="18" charset="0"/>
              </a:rPr>
            </a:br>
            <a:r>
              <a:rPr lang="en-US" dirty="0" err="1" smtClean="0">
                <a:latin typeface="Garamond" panose="02020404030301010803" pitchFamily="18" charset="0"/>
              </a:rPr>
              <a:t>Sebagai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Bahasa</a:t>
            </a:r>
            <a:r>
              <a:rPr lang="en-US" dirty="0" smtClean="0">
                <a:latin typeface="Garamond" panose="02020404030301010803" pitchFamily="18" charset="0"/>
              </a:rPr>
              <a:t> </a:t>
            </a:r>
            <a:r>
              <a:rPr lang="en-US" dirty="0" err="1" smtClean="0">
                <a:latin typeface="Garamond" panose="02020404030301010803" pitchFamily="18" charset="0"/>
              </a:rPr>
              <a:t>Nasional</a:t>
            </a:r>
            <a:r>
              <a:rPr lang="en-US" dirty="0" smtClean="0">
                <a:latin typeface="Garamond" panose="02020404030301010803" pitchFamily="18" charset="0"/>
              </a:rPr>
              <a:t>, </a:t>
            </a:r>
            <a:r>
              <a:rPr lang="en-US" dirty="0">
                <a:latin typeface="Garamond" panose="02020404030301010803" pitchFamily="18" charset="0"/>
              </a:rPr>
              <a:t>STKIP Abdi </a:t>
            </a:r>
            <a:r>
              <a:rPr lang="en-US" dirty="0" err="1">
                <a:latin typeface="Garamond" panose="02020404030301010803" pitchFamily="18" charset="0"/>
              </a:rPr>
              <a:t>Pendidikan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Payakumbuh</a:t>
            </a:r>
            <a:r>
              <a:rPr lang="en-US" dirty="0">
                <a:latin typeface="Garamond" panose="02020404030301010803" pitchFamily="18" charset="0"/>
              </a:rPr>
              <a:t/>
            </a:r>
            <a:br>
              <a:rPr lang="en-US" dirty="0">
                <a:latin typeface="Garamond" panose="02020404030301010803" pitchFamily="18" charset="0"/>
              </a:rPr>
            </a:br>
            <a:r>
              <a:rPr lang="en-US" dirty="0" smtClean="0">
                <a:latin typeface="Garamond" panose="02020404030301010803" pitchFamily="18" charset="0"/>
              </a:rPr>
              <a:t/>
            </a:r>
            <a:br>
              <a:rPr lang="en-US" dirty="0" smtClean="0">
                <a:latin typeface="Garamond" panose="02020404030301010803" pitchFamily="18" charset="0"/>
              </a:rPr>
            </a:br>
            <a:endParaRPr lang="en-US" i="1" dirty="0" smtClean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i="1" dirty="0" smtClean="0">
                <a:latin typeface="Garamond" panose="02020404030301010803" pitchFamily="18" charset="0"/>
              </a:rPr>
              <a:t/>
            </a:r>
            <a:br>
              <a:rPr lang="en-US" i="1" dirty="0" smtClean="0">
                <a:latin typeface="Garamond" panose="02020404030301010803" pitchFamily="18" charset="0"/>
              </a:rPr>
            </a:br>
            <a:r>
              <a:rPr lang="en-US" i="1" dirty="0" smtClean="0">
                <a:latin typeface="Garamond" panose="02020404030301010803" pitchFamily="18" charset="0"/>
              </a:rPr>
              <a:t/>
            </a:r>
            <a:br>
              <a:rPr lang="en-US" i="1" dirty="0" smtClean="0">
                <a:latin typeface="Garamond" panose="02020404030301010803" pitchFamily="18" charset="0"/>
              </a:rPr>
            </a:br>
            <a:r>
              <a:rPr lang="en-US" dirty="0" smtClean="0">
                <a:latin typeface="Garamond" panose="02020404030301010803" pitchFamily="18" charset="0"/>
              </a:rPr>
              <a:t/>
            </a:r>
            <a:br>
              <a:rPr lang="en-US" dirty="0" smtClean="0">
                <a:latin typeface="Garamond" panose="02020404030301010803" pitchFamily="18" charset="0"/>
              </a:rPr>
            </a:br>
            <a:r>
              <a:rPr lang="en-US" dirty="0" smtClean="0">
                <a:latin typeface="Garamond" panose="02020404030301010803" pitchFamily="18" charset="0"/>
              </a:rPr>
              <a:t/>
            </a:r>
            <a:br>
              <a:rPr lang="en-US" dirty="0" smtClean="0">
                <a:latin typeface="Garamond" panose="02020404030301010803" pitchFamily="18" charset="0"/>
              </a:rPr>
            </a:br>
            <a:r>
              <a:rPr lang="en-US" dirty="0" smtClean="0">
                <a:latin typeface="Garamond" panose="02020404030301010803" pitchFamily="18" charset="0"/>
              </a:rPr>
              <a:t/>
            </a:r>
            <a:br>
              <a:rPr lang="en-US" dirty="0" smtClean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320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701</Words>
  <Application>Microsoft Office PowerPoint</Application>
  <PresentationFormat>Widescreen</PresentationFormat>
  <Paragraphs>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Aharoni</vt:lpstr>
      <vt:lpstr>Andalus</vt:lpstr>
      <vt:lpstr>Arial</vt:lpstr>
      <vt:lpstr>Bauhaus 93</vt:lpstr>
      <vt:lpstr>Calibri</vt:lpstr>
      <vt:lpstr>Calibri Light</vt:lpstr>
      <vt:lpstr>Garamond</vt:lpstr>
      <vt:lpstr>Wingdings</vt:lpstr>
      <vt:lpstr>Office Theme</vt:lpstr>
      <vt:lpstr>                           UNDANG-UNDANG TENTANG BAHASA INDONESIA  </vt:lpstr>
      <vt:lpstr> Lahirnya Undang-undang Bahasa</vt:lpstr>
      <vt:lpstr>PowerPoint Presentation</vt:lpstr>
      <vt:lpstr>Dan ditetapkan sebuah Pengaturan mengenai Bahasa Indonesia dalam Undang-Undang No. 24 Tahun 2009 mengenai Bendera, Bahasa, dan Lambang Negara serta Lagu Kebangsaan. Dasar landasan teori gambaran Bahasa Indonesia dalam Undang – Undang berkembang sejak Proklamasi Kemerdekaan Indonesia 17 Agustus 1945 yang menjadi tonggak pertama Bahasa Indonesia mulai digunakan di kalangan Bangsa Indonesia.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UUD 1945 bab 15 pasal 36 </vt:lpstr>
      <vt:lpstr>Undang-undang No. 20 Tahun 2009 Pasal 26, 27, 28, dan 29</vt:lpstr>
      <vt:lpstr>Undang-undang No. 20 Tahun 2009 Pasal 30 dan 31</vt:lpstr>
      <vt:lpstr>Kedudukan bahasa Indonesia Dalam Undang-undang</vt:lpstr>
      <vt:lpstr>SUMBER REFERENSI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UNDANG-UNDANG TENTANG BAHASA</dc:title>
  <dc:creator>ismail - [2010]</dc:creator>
  <cp:lastModifiedBy>ismail - [2010]</cp:lastModifiedBy>
  <cp:revision>8</cp:revision>
  <dcterms:created xsi:type="dcterms:W3CDTF">2020-10-21T12:44:39Z</dcterms:created>
  <dcterms:modified xsi:type="dcterms:W3CDTF">2020-10-21T13:46:41Z</dcterms:modified>
</cp:coreProperties>
</file>