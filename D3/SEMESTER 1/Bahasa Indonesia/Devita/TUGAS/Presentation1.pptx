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4" r:id="rId7"/>
    <p:sldId id="260" r:id="rId8"/>
    <p:sldId id="265" r:id="rId9"/>
    <p:sldId id="267" r:id="rId10"/>
    <p:sldId id="276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AC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D6C6-9DCC-4ADC-8B56-53D236DB9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ACA58-327D-4306-BECA-B50CA33AA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0B255-0A62-473D-8AB0-02AEB5A1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FC0B0-846F-4DF9-BA0E-59C8FF57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3924-1A34-4BBD-A2E7-92A1A434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3134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BEC0-F038-4CF7-9943-A81FBBC84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8B62-BF15-40E2-A8AC-F2F76ADF3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4DCF1-009E-4062-A201-1752FE2E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BA70-32B9-436F-9890-0191218D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EA3E-46C8-4A2C-8155-D0396BF6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995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7AC9-B9F2-4E49-B244-28A9E320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7E783-A605-45C5-9038-7A16B6A75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370A2-6408-41EF-B203-E805A9CF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34E2-EADB-40C8-A607-28576419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E675A-9A38-4018-92CC-F4F66723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42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33502-96AB-4B86-8412-67DCFACC3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2CE5-9B20-4430-BD98-D3DD1083F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0B364-C1C2-4359-8C67-643C8654C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9470F-6B25-4D1B-8A10-0DDFE8DA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4F09D-C5DF-44B5-A266-AE38415E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AD08A-6F07-4A0A-A9FA-6AA3E45B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313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7774-AB1D-4F0F-9BB6-7C090494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D7024-B3ED-48CA-9369-B13EA2954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7636D-9B88-4367-A775-50173C8BF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64DC2B-4BB5-4254-AE64-26BE2FF40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BAD07-9195-46EA-A7AA-83C1722D5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6F9F7-FBDA-4AA3-93E1-79056A266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2AD023-DB16-4730-BF4A-2C91E9FA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8C3570-6733-4AEF-81A3-1F07C6D7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263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74F3-28F3-4DFF-8D47-F1677394D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C9F64-46DE-44D8-B490-25D06AC5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E7273-BAA1-4410-9B73-4EC570FB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15EAB-A9C0-4102-8326-E1EE5F94F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391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4DE0A-6F4D-4EF4-B443-88471BE5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8A90E-A262-4E31-9975-DA61CD9C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9D8D1-5A7D-4E09-AFCB-59B65CA2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1238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E5F6-1238-4DA0-913A-0139C9ED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833A-3187-434D-A308-D37148A5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2387C-C89A-459A-93F2-2A6EB272B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22033-D207-454C-9CCB-6214E719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3C895-6804-4EA3-9B54-2F9C739BA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D0FC1-F6B2-4AA9-82FA-77E7691D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532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4FE4-3911-4641-80EA-E41C6459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78DFF-4769-4102-B292-A5AB43AC6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26CC5-DB67-4CDD-B286-A36612D41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2F61F-CF83-40DD-ADCE-7EB4080B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2F741-AA15-472C-AB59-932BE718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47659-4FA7-492D-82E7-9EFEC4DC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764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969B-106C-4FFF-97E7-BA18F751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DFF65-DC2E-4DD4-A2EA-CA81C59EF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DF3EA-B9B9-4DE7-ADBE-D9F5431C4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30B5E-FA2B-4BBD-BC17-AF62D2CA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2B87F-AE95-44B0-B17C-FE8F3E7F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84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5EBDF-F0F4-4390-BB1D-8E9B90FCC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04349-16AC-4FF8-A606-404A50EE2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6D779-E3EF-4787-8C8F-2F7F1C3D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7EA7C-B10B-41A1-BBDB-0723CCF4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C3CBC-A543-4511-B922-174E4539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978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C805D-1506-46F0-B1F1-4026FA25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884A7-568C-4A2B-92D1-B042C5177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94415-08E8-4BAA-94DE-1F90587BE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7EC85-A235-447E-97F7-5B7C9E6DDE6B}" type="datetimeFigureOut">
              <a:rPr lang="en-ID" smtClean="0"/>
              <a:t>05/09/2022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BC404-1E5B-4DE1-9665-2F6D893B1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D835E-CEC5-478E-BA87-6B202EA3A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70B9D-3226-43A7-B05A-0345F155F26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3436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74C387-6209-40F1-ADDB-B2FD4C6FA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81638"/>
            <a:ext cx="12192000" cy="1122362"/>
          </a:xfrm>
        </p:spPr>
        <p:txBody>
          <a:bodyPr>
            <a:noAutofit/>
          </a:bodyPr>
          <a:lstStyle/>
          <a:p>
            <a:r>
              <a:rPr lang="en-US" sz="8000" spc="6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KEBIJAKAN</a:t>
            </a:r>
            <a:r>
              <a:rPr lang="en-US" sz="80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BERBAHASA</a:t>
            </a:r>
            <a:endParaRPr lang="en-ID" sz="80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1026" name="Picture 2" descr="OTAK, BAHASA DAN PIKIRAN ~ Smartlearners">
            <a:extLst>
              <a:ext uri="{FF2B5EF4-FFF2-40B4-BE49-F238E27FC236}">
                <a16:creationId xmlns:a16="http://schemas.microsoft.com/office/drawing/2014/main" id="{AA3430AC-943F-5E04-0159-1B6C4B2CC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162"/>
            <a:ext cx="12226834" cy="5349240"/>
          </a:xfrm>
          <a:prstGeom prst="rect">
            <a:avLst/>
          </a:prstGeom>
          <a:solidFill>
            <a:srgbClr val="85AC91"/>
          </a:solidFill>
        </p:spPr>
      </p:pic>
    </p:spTree>
    <p:extLst>
      <p:ext uri="{BB962C8B-B14F-4D97-AF65-F5344CB8AC3E}">
        <p14:creationId xmlns:p14="http://schemas.microsoft.com/office/powerpoint/2010/main" val="291621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C9FD72-40EC-8AD5-8A9C-14D84B34FDB9}"/>
              </a:ext>
            </a:extLst>
          </p:cNvPr>
          <p:cNvSpPr/>
          <p:nvPr/>
        </p:nvSpPr>
        <p:spPr>
          <a:xfrm>
            <a:off x="0" y="-42399"/>
            <a:ext cx="12192000" cy="125143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DAA6E-551D-3F3E-EB2D-36F83E195D32}"/>
              </a:ext>
            </a:extLst>
          </p:cNvPr>
          <p:cNvSpPr txBox="1"/>
          <p:nvPr/>
        </p:nvSpPr>
        <p:spPr>
          <a:xfrm>
            <a:off x="0" y="2335920"/>
            <a:ext cx="12192000" cy="3628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600" dirty="0">
                <a:latin typeface="Tw Cen MT" panose="020B0602020104020603" pitchFamily="34" charset="0"/>
              </a:rPr>
              <a:t>Adam Ananda Putra (221331001)</a:t>
            </a:r>
          </a:p>
          <a:p>
            <a:pPr algn="ctr">
              <a:lnSpc>
                <a:spcPct val="150000"/>
              </a:lnSpc>
            </a:pPr>
            <a:r>
              <a:rPr lang="en-US" sz="2600" dirty="0" err="1">
                <a:latin typeface="Tw Cen MT" panose="020B0602020104020603" pitchFamily="34" charset="0"/>
              </a:rPr>
              <a:t>Devita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Syifa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Azzahraa</a:t>
            </a:r>
            <a:r>
              <a:rPr lang="en-US" sz="2600" dirty="0">
                <a:latin typeface="Tw Cen MT" panose="020B0602020104020603" pitchFamily="34" charset="0"/>
              </a:rPr>
              <a:t> (221331009)</a:t>
            </a:r>
          </a:p>
          <a:p>
            <a:pPr algn="ctr">
              <a:lnSpc>
                <a:spcPct val="150000"/>
              </a:lnSpc>
            </a:pPr>
            <a:r>
              <a:rPr lang="en-US" sz="2600" dirty="0">
                <a:latin typeface="Tw Cen MT" panose="020B0602020104020603" pitchFamily="34" charset="0"/>
              </a:rPr>
              <a:t>Muhammad </a:t>
            </a:r>
            <a:r>
              <a:rPr lang="en-US" sz="2600" dirty="0" err="1">
                <a:latin typeface="Tw Cen MT" panose="020B0602020104020603" pitchFamily="34" charset="0"/>
              </a:rPr>
              <a:t>Andhika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Praja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Kasyfi</a:t>
            </a:r>
            <a:r>
              <a:rPr lang="en-US" sz="2600" dirty="0">
                <a:latin typeface="Tw Cen MT" panose="020B0602020104020603" pitchFamily="34" charset="0"/>
              </a:rPr>
              <a:t> (221331021)</a:t>
            </a:r>
          </a:p>
          <a:p>
            <a:pPr algn="ctr">
              <a:lnSpc>
                <a:spcPct val="150000"/>
              </a:lnSpc>
            </a:pPr>
            <a:r>
              <a:rPr lang="en-US" sz="2600" dirty="0">
                <a:latin typeface="Tw Cen MT" panose="020B0602020104020603" pitchFamily="34" charset="0"/>
              </a:rPr>
              <a:t>Muhammad </a:t>
            </a:r>
            <a:r>
              <a:rPr lang="en-US" sz="2600" dirty="0" err="1">
                <a:latin typeface="Tw Cen MT" panose="020B0602020104020603" pitchFamily="34" charset="0"/>
              </a:rPr>
              <a:t>Rizki</a:t>
            </a:r>
            <a:r>
              <a:rPr lang="en-US" sz="2600" dirty="0">
                <a:latin typeface="Tw Cen MT" panose="020B0602020104020603" pitchFamily="34" charset="0"/>
              </a:rPr>
              <a:t> (221331024)</a:t>
            </a:r>
          </a:p>
          <a:p>
            <a:pPr algn="ctr">
              <a:lnSpc>
                <a:spcPct val="150000"/>
              </a:lnSpc>
            </a:pPr>
            <a:r>
              <a:rPr lang="en-US" sz="2600" dirty="0" err="1">
                <a:latin typeface="Tw Cen MT" panose="020B0602020104020603" pitchFamily="34" charset="0"/>
              </a:rPr>
              <a:t>Qeisa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Thufeila</a:t>
            </a:r>
            <a:r>
              <a:rPr lang="en-US" sz="2600" dirty="0">
                <a:latin typeface="Tw Cen MT" panose="020B0602020104020603" pitchFamily="34" charset="0"/>
              </a:rPr>
              <a:t> (221331025)</a:t>
            </a:r>
          </a:p>
          <a:p>
            <a:pPr algn="ctr">
              <a:lnSpc>
                <a:spcPct val="150000"/>
              </a:lnSpc>
            </a:pPr>
            <a:r>
              <a:rPr lang="en-US" sz="2600" dirty="0" err="1">
                <a:latin typeface="Tw Cen MT" panose="020B0602020104020603" pitchFamily="34" charset="0"/>
              </a:rPr>
              <a:t>Rizky</a:t>
            </a:r>
            <a:r>
              <a:rPr lang="en-US" sz="2600" dirty="0">
                <a:latin typeface="Tw Cen MT" panose="020B0602020104020603" pitchFamily="34" charset="0"/>
              </a:rPr>
              <a:t> </a:t>
            </a:r>
            <a:r>
              <a:rPr lang="en-US" sz="2600" dirty="0" err="1">
                <a:latin typeface="Tw Cen MT" panose="020B0602020104020603" pitchFamily="34" charset="0"/>
              </a:rPr>
              <a:t>Pratama</a:t>
            </a:r>
            <a:r>
              <a:rPr lang="en-US" sz="2600" dirty="0">
                <a:latin typeface="Tw Cen MT" panose="020B0602020104020603" pitchFamily="34" charset="0"/>
              </a:rPr>
              <a:t> (221331028)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80CB78-DCDC-7FE5-DB5B-B2DDC58747C4}"/>
              </a:ext>
            </a:extLst>
          </p:cNvPr>
          <p:cNvSpPr/>
          <p:nvPr/>
        </p:nvSpPr>
        <p:spPr>
          <a:xfrm>
            <a:off x="0" y="6348241"/>
            <a:ext cx="12192000" cy="125143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1A27DAF-330C-C330-1D0B-1089140F46E0}"/>
              </a:ext>
            </a:extLst>
          </p:cNvPr>
          <p:cNvSpPr txBox="1">
            <a:spLocks/>
          </p:cNvSpPr>
          <p:nvPr/>
        </p:nvSpPr>
        <p:spPr>
          <a:xfrm>
            <a:off x="0" y="1660598"/>
            <a:ext cx="12192000" cy="675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u="sng" spc="3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Kelompok</a:t>
            </a:r>
            <a:r>
              <a:rPr lang="en-US" sz="3600" u="sng" spc="3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2</a:t>
            </a:r>
            <a:endParaRPr lang="en-ID" sz="3600" u="sng" spc="3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56132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CC7289-C503-0993-01D3-73B04BBD05A0}"/>
              </a:ext>
            </a:extLst>
          </p:cNvPr>
          <p:cNvSpPr/>
          <p:nvPr/>
        </p:nvSpPr>
        <p:spPr>
          <a:xfrm>
            <a:off x="3933191" y="3129280"/>
            <a:ext cx="4198620" cy="5994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Tw Cen MT" panose="020B0602020104020603" pitchFamily="34" charset="0"/>
              </a:rPr>
              <a:t>Kebijakan</a:t>
            </a:r>
            <a:r>
              <a:rPr lang="en-US" sz="3200" dirty="0">
                <a:solidFill>
                  <a:schemeClr val="bg1"/>
                </a:solidFill>
                <a:latin typeface="Tw Cen MT" panose="020B0602020104020603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Tw Cen MT" panose="020B0602020104020603" pitchFamily="34" charset="0"/>
              </a:rPr>
              <a:t>Berbahasa</a:t>
            </a:r>
            <a:endParaRPr lang="en-ID" sz="3200" dirty="0">
              <a:solidFill>
                <a:schemeClr val="bg1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D29DD8-9CDB-FFCF-0FF5-CCE22E044EC9}"/>
              </a:ext>
            </a:extLst>
          </p:cNvPr>
          <p:cNvSpPr/>
          <p:nvPr/>
        </p:nvSpPr>
        <p:spPr>
          <a:xfrm>
            <a:off x="855982" y="1548130"/>
            <a:ext cx="4555385" cy="52026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Sejarah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28FF9-A3E4-75A7-5D99-875ABE61DE33}"/>
              </a:ext>
            </a:extLst>
          </p:cNvPr>
          <p:cNvSpPr/>
          <p:nvPr/>
        </p:nvSpPr>
        <p:spPr>
          <a:xfrm>
            <a:off x="360682" y="2755900"/>
            <a:ext cx="3062205" cy="1168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Kedudukan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2859B-AE08-8FB4-0B2B-0EA2128816F0}"/>
              </a:ext>
            </a:extLst>
          </p:cNvPr>
          <p:cNvSpPr/>
          <p:nvPr/>
        </p:nvSpPr>
        <p:spPr>
          <a:xfrm>
            <a:off x="8666480" y="2825750"/>
            <a:ext cx="3062205" cy="1168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Fungsi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1971FE-DA74-5875-FE23-62ADDC03DF35}"/>
              </a:ext>
            </a:extLst>
          </p:cNvPr>
          <p:cNvSpPr/>
          <p:nvPr/>
        </p:nvSpPr>
        <p:spPr>
          <a:xfrm>
            <a:off x="6217920" y="1548130"/>
            <a:ext cx="4977268" cy="52026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Peran Bahasa Indonesia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8FB3D3-A356-8253-B513-CE421E8111E2}"/>
              </a:ext>
            </a:extLst>
          </p:cNvPr>
          <p:cNvSpPr/>
          <p:nvPr/>
        </p:nvSpPr>
        <p:spPr>
          <a:xfrm>
            <a:off x="3355340" y="4612640"/>
            <a:ext cx="5209540" cy="1168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UU Bahasa dan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Peraturan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Tw Cen MT" panose="020B0602020104020603" pitchFamily="34" charset="0"/>
              </a:rPr>
              <a:t>Pemerintahan</a:t>
            </a:r>
            <a:endParaRPr lang="en-ID" sz="2800" dirty="0">
              <a:solidFill>
                <a:schemeClr val="accent6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B9E9D0-8ADF-9361-6DF2-5616FED46BFF}"/>
              </a:ext>
            </a:extLst>
          </p:cNvPr>
          <p:cNvSpPr/>
          <p:nvPr/>
        </p:nvSpPr>
        <p:spPr>
          <a:xfrm>
            <a:off x="0" y="6460001"/>
            <a:ext cx="12192000" cy="52026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1E709-540E-DC3E-4B17-F1438A7B34AD}"/>
              </a:ext>
            </a:extLst>
          </p:cNvPr>
          <p:cNvSpPr/>
          <p:nvPr/>
        </p:nvSpPr>
        <p:spPr>
          <a:xfrm>
            <a:off x="0" y="10864"/>
            <a:ext cx="12192000" cy="520269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876402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0929-AAE3-4773-9DE5-D044CD93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654"/>
            <a:ext cx="12192000" cy="909321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Sejarah Bahasa Indonesia</a:t>
            </a:r>
            <a:endParaRPr lang="en-ID" sz="48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2050" name="Picture 2" descr="Tahu Hari Sumpah Pemuda Setelah Putus Dari Pacar - Portal Yogya">
            <a:extLst>
              <a:ext uri="{FF2B5EF4-FFF2-40B4-BE49-F238E27FC236}">
                <a16:creationId xmlns:a16="http://schemas.microsoft.com/office/drawing/2014/main" id="{905952D8-CB31-3F44-74E0-191F16253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60" y="1462107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FBFB89-A7CA-6B09-7C53-54CCE6426276}"/>
              </a:ext>
            </a:extLst>
          </p:cNvPr>
          <p:cNvSpPr txBox="1"/>
          <p:nvPr/>
        </p:nvSpPr>
        <p:spPr>
          <a:xfrm>
            <a:off x="3576320" y="1462248"/>
            <a:ext cx="29527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28 Oktober 1928</a:t>
            </a:r>
            <a:endParaRPr lang="en-ID" sz="26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B68AC-3EE2-EA7F-8020-C1EB4E02CB37}"/>
              </a:ext>
            </a:extLst>
          </p:cNvPr>
          <p:cNvSpPr txBox="1"/>
          <p:nvPr/>
        </p:nvSpPr>
        <p:spPr>
          <a:xfrm>
            <a:off x="3501390" y="1954691"/>
            <a:ext cx="8131810" cy="1063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565" marR="488950" indent="0">
              <a:lnSpc>
                <a:spcPct val="107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rPr lang="en-US" sz="2000" dirty="0" err="1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Lahirnya</a:t>
            </a:r>
            <a:r>
              <a:rPr lang="en-US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Bahasa Indonesi</a:t>
            </a:r>
            <a:r>
              <a:rPr lang="en-US" sz="2000" dirty="0">
                <a:latin typeface="Tw Cen MT" panose="020B0602020104020603" pitchFamily="34" charset="0"/>
                <a:ea typeface="Times New Roman" panose="02020603050405020304" pitchFamily="18" charset="0"/>
              </a:rPr>
              <a:t>a yang p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ada saat itu</a:t>
            </a:r>
            <a:r>
              <a:rPr lang="en-US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pemuda dari</a:t>
            </a:r>
            <a:r>
              <a:rPr lang="id-ID" sz="2000" spc="-28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berbagai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pelosok Nusantara</a:t>
            </a:r>
            <a:r>
              <a:rPr lang="id-ID" sz="2000" spc="-1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berkumpul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dalam Kerapatan Pemuda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dan</a:t>
            </a:r>
            <a:r>
              <a:rPr lang="id-ID" sz="2000" spc="-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berikrar</a:t>
            </a:r>
            <a:r>
              <a:rPr lang="id-ID" sz="2000" spc="1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Sumpah Pemuda</a:t>
            </a:r>
            <a:endParaRPr lang="en-ID" sz="2000" dirty="0">
              <a:effectLst/>
              <a:latin typeface="Tw Cen MT" panose="020B0602020104020603" pitchFamily="34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C0169E-84B4-F0E5-4A42-24E9D526D3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52" b="3029"/>
          <a:stretch/>
        </p:blipFill>
        <p:spPr>
          <a:xfrm>
            <a:off x="7071359" y="3305937"/>
            <a:ext cx="4675505" cy="304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736C49-399B-88A2-F823-B468F1A92C12}"/>
              </a:ext>
            </a:extLst>
          </p:cNvPr>
          <p:cNvSpPr txBox="1"/>
          <p:nvPr/>
        </p:nvSpPr>
        <p:spPr>
          <a:xfrm>
            <a:off x="4406264" y="3249149"/>
            <a:ext cx="7340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18 Agustus</a:t>
            </a:r>
            <a:r>
              <a:rPr lang="id-ID" sz="2600" b="1" spc="5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1945 </a:t>
            </a:r>
            <a:endParaRPr lang="en-ID" sz="2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20A5CA-83A2-2848-F1C3-01BF9978EA19}"/>
              </a:ext>
            </a:extLst>
          </p:cNvPr>
          <p:cNvSpPr txBox="1"/>
          <p:nvPr/>
        </p:nvSpPr>
        <p:spPr>
          <a:xfrm>
            <a:off x="1219200" y="3620375"/>
            <a:ext cx="56724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Bahasa Indonesia dinyatakan kedudukannya sebagai bahasa negara </a:t>
            </a:r>
            <a:endParaRPr lang="en-ID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B6F9DA-FE4F-1E3E-7782-7FCBFEF1702B}"/>
              </a:ext>
            </a:extLst>
          </p:cNvPr>
          <p:cNvSpPr txBox="1"/>
          <p:nvPr/>
        </p:nvSpPr>
        <p:spPr>
          <a:xfrm>
            <a:off x="2858770" y="4394828"/>
            <a:ext cx="7340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UUD 1945 Bab XV, </a:t>
            </a:r>
            <a:r>
              <a:rPr lang="en-US" sz="2600" b="1" dirty="0" err="1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Pasal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36</a:t>
            </a:r>
            <a:endParaRPr lang="en-ID" sz="2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28ECDC-B181-B957-6C0E-B17896DA9620}"/>
              </a:ext>
            </a:extLst>
          </p:cNvPr>
          <p:cNvSpPr txBox="1"/>
          <p:nvPr/>
        </p:nvSpPr>
        <p:spPr>
          <a:xfrm>
            <a:off x="2733040" y="4768977"/>
            <a:ext cx="619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Bahasa</a:t>
            </a:r>
            <a:r>
              <a:rPr lang="id-ID" sz="2000" spc="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negara</a:t>
            </a:r>
            <a:r>
              <a:rPr lang="id-ID" sz="2000" spc="-1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ialah bahasa</a:t>
            </a:r>
            <a:r>
              <a:rPr lang="id-ID" sz="2000" spc="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Indonesia </a:t>
            </a:r>
            <a:endParaRPr lang="en-ID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41E625-3A05-79C2-5E72-F498061695E5}"/>
              </a:ext>
            </a:extLst>
          </p:cNvPr>
          <p:cNvSpPr txBox="1"/>
          <p:nvPr/>
        </p:nvSpPr>
        <p:spPr>
          <a:xfrm>
            <a:off x="2550162" y="5264645"/>
            <a:ext cx="6197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Unsur </a:t>
            </a: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  <a:ea typeface="Times New Roman" panose="02020603050405020304" pitchFamily="18" charset="0"/>
              </a:rPr>
              <a:t>K</a:t>
            </a:r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etiga Sumpah Pemuda </a:t>
            </a:r>
            <a:endParaRPr lang="en-ID" sz="2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390CFF-0643-C055-EA54-D9C0BCAF399D}"/>
              </a:ext>
            </a:extLst>
          </p:cNvPr>
          <p:cNvSpPr txBox="1"/>
          <p:nvPr/>
        </p:nvSpPr>
        <p:spPr>
          <a:xfrm>
            <a:off x="279400" y="5634676"/>
            <a:ext cx="66090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latin typeface="Tw Cen MT" panose="020B0602020104020603" pitchFamily="34" charset="0"/>
                <a:ea typeface="Times New Roman" panose="02020603050405020304" pitchFamily="18" charset="0"/>
              </a:rPr>
              <a:t>P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ernyataan tekad bahwa bahasa</a:t>
            </a:r>
            <a:r>
              <a:rPr lang="id-ID" sz="2000" spc="5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Times New Roman" panose="02020603050405020304" pitchFamily="18" charset="0"/>
              </a:rPr>
              <a:t>Indonesia merupakan bahasa persatuan bangsa Indonesia.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10094786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1D8FFE-FE87-E46A-594E-4A065C99A89A}"/>
              </a:ext>
            </a:extLst>
          </p:cNvPr>
          <p:cNvSpPr txBox="1">
            <a:spLocks/>
          </p:cNvSpPr>
          <p:nvPr/>
        </p:nvSpPr>
        <p:spPr>
          <a:xfrm>
            <a:off x="0" y="210654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Kedudukan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Bahasa Indonesia</a:t>
            </a:r>
            <a:endParaRPr lang="en-ID" sz="48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7B3DE-C3B3-6A69-10C4-19298528FAF2}"/>
              </a:ext>
            </a:extLst>
          </p:cNvPr>
          <p:cNvSpPr txBox="1"/>
          <p:nvPr/>
        </p:nvSpPr>
        <p:spPr>
          <a:xfrm>
            <a:off x="435165" y="1382865"/>
            <a:ext cx="9336796" cy="49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id-ID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Kedudukan bahasa Indonesia sebagai bahasa nasional</a:t>
            </a:r>
            <a:endParaRPr lang="en-ID" sz="2600" dirty="0">
              <a:solidFill>
                <a:schemeClr val="accent6">
                  <a:lumMod val="50000"/>
                </a:schemeClr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D1A53-94CC-5329-8376-2DAEE2AF79CA}"/>
              </a:ext>
            </a:extLst>
          </p:cNvPr>
          <p:cNvSpPr txBox="1"/>
          <p:nvPr/>
        </p:nvSpPr>
        <p:spPr>
          <a:xfrm>
            <a:off x="936432" y="1915184"/>
            <a:ext cx="745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Ikrar Sumpah Pemuda tanggal </a:t>
            </a:r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 Oktober 1928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56FB2-919F-2AD5-0355-7C16C2C5ACCD}"/>
              </a:ext>
            </a:extLst>
          </p:cNvPr>
          <p:cNvSpPr txBox="1"/>
          <p:nvPr/>
        </p:nvSpPr>
        <p:spPr>
          <a:xfrm>
            <a:off x="870330" y="2239169"/>
            <a:ext cx="6268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id-ID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menjoen-joen tinggi bahasa persatoean bahasa Indonesia’.</a:t>
            </a:r>
            <a:endParaRPr lang="en-ID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078698-04A4-4500-42D4-C70C1ACDE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961" y="2414988"/>
            <a:ext cx="1820996" cy="1817697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55B15D-9315-58F6-E3F1-B5D688E72687}"/>
              </a:ext>
            </a:extLst>
          </p:cNvPr>
          <p:cNvSpPr txBox="1"/>
          <p:nvPr/>
        </p:nvSpPr>
        <p:spPr>
          <a:xfrm>
            <a:off x="7362254" y="2707035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25-28 Februari 1975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2DCE52-01FB-5E98-3B12-72F9E28BA022}"/>
              </a:ext>
            </a:extLst>
          </p:cNvPr>
          <p:cNvSpPr txBox="1"/>
          <p:nvPr/>
        </p:nvSpPr>
        <p:spPr>
          <a:xfrm>
            <a:off x="2268558" y="3103702"/>
            <a:ext cx="7458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err="1">
                <a:latin typeface="Tw Cen MT" panose="020B0602020104020603" pitchFamily="34" charset="0"/>
              </a:rPr>
              <a:t>Adanya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hasil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perumusan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seminar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politik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Bahasa </a:t>
            </a:r>
            <a:r>
              <a:rPr lang="en-US" sz="2000" dirty="0">
                <a:latin typeface="Tw Cen MT" panose="020B0602020104020603" pitchFamily="34" charset="0"/>
              </a:rPr>
              <a:t>yang </a:t>
            </a:r>
            <a:r>
              <a:rPr lang="en-US" sz="2000" dirty="0" err="1">
                <a:latin typeface="Tw Cen MT" panose="020B0602020104020603" pitchFamily="34" charset="0"/>
              </a:rPr>
              <a:t>menegaskan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bahwa</a:t>
            </a:r>
            <a:r>
              <a:rPr lang="en-US" sz="2000" dirty="0">
                <a:latin typeface="Tw Cen MT" panose="020B0602020104020603" pitchFamily="34" charset="0"/>
              </a:rPr>
              <a:t> Bahasa Indonesia </a:t>
            </a:r>
            <a:r>
              <a:rPr lang="en-US" sz="2000" dirty="0" err="1">
                <a:latin typeface="Tw Cen MT" panose="020B0602020104020603" pitchFamily="34" charset="0"/>
              </a:rPr>
              <a:t>sebagai</a:t>
            </a:r>
            <a:r>
              <a:rPr lang="en-US" sz="2000" dirty="0">
                <a:latin typeface="Tw Cen MT" panose="020B0602020104020603" pitchFamily="34" charset="0"/>
              </a:rPr>
              <a:t> Bahasa </a:t>
            </a:r>
            <a:r>
              <a:rPr lang="en-US" sz="2000" dirty="0" err="1">
                <a:latin typeface="Tw Cen MT" panose="020B0602020104020603" pitchFamily="34" charset="0"/>
              </a:rPr>
              <a:t>nasional</a:t>
            </a:r>
            <a:endParaRPr lang="en-ID" sz="2000" dirty="0">
              <a:latin typeface="Tw Cen MT" panose="020B06020201040206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15161-A4CA-BCFD-F95B-6EEDEEE66B23}"/>
              </a:ext>
            </a:extLst>
          </p:cNvPr>
          <p:cNvSpPr txBox="1"/>
          <p:nvPr/>
        </p:nvSpPr>
        <p:spPr>
          <a:xfrm>
            <a:off x="561862" y="4368879"/>
            <a:ext cx="10862630" cy="783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id-ID" sz="23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Bahasa nasional </a:t>
            </a:r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 suatu bahasa yang memiliki sejenis hubungan dengan seseorang dan mungkin melalui perluasan wilayah yang mereka duduki.</a:t>
            </a:r>
            <a:endParaRPr lang="en-ID" sz="2000" dirty="0"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90A80B-5BF9-E01A-7A44-F3AE35F81226}"/>
              </a:ext>
            </a:extLst>
          </p:cNvPr>
          <p:cNvSpPr txBox="1"/>
          <p:nvPr/>
        </p:nvSpPr>
        <p:spPr>
          <a:xfrm>
            <a:off x="329588" y="5435242"/>
            <a:ext cx="49695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id-ID" sz="2000" b="1" i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facto </a:t>
            </a:r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 bentuk pengakuan suatu negara terhadap negara lain yang sudah memenuhi syarat-syarat sebagai suatu negara</a:t>
            </a:r>
            <a:endParaRPr lang="en-ID" sz="2000" dirty="0">
              <a:latin typeface="Tw Cen MT" panose="020B06020201040206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1E514D-B0E2-9195-45CF-711708767070}"/>
              </a:ext>
            </a:extLst>
          </p:cNvPr>
          <p:cNvSpPr txBox="1"/>
          <p:nvPr/>
        </p:nvSpPr>
        <p:spPr>
          <a:xfrm>
            <a:off x="5880254" y="5448150"/>
            <a:ext cx="59821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None/>
            </a:pPr>
            <a:r>
              <a:rPr lang="en-US" sz="2000" b="1" i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id-ID" sz="2000" i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000" b="1" i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jure</a:t>
            </a:r>
            <a:r>
              <a:rPr lang="id-ID" sz="2000" i="1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 pengakuan yang dinyatakan secara resmi oleh negara lain berdasarkan hukum internasional tentang keberadaan negara baru.</a:t>
            </a:r>
            <a:endParaRPr lang="en-ID" sz="20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8477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1D8FFE-FE87-E46A-594E-4A065C99A89A}"/>
              </a:ext>
            </a:extLst>
          </p:cNvPr>
          <p:cNvSpPr txBox="1">
            <a:spLocks/>
          </p:cNvSpPr>
          <p:nvPr/>
        </p:nvSpPr>
        <p:spPr>
          <a:xfrm>
            <a:off x="0" y="768082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Kedudukan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Bahasa Indonesia</a:t>
            </a:r>
            <a:endParaRPr lang="en-ID" sz="48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7B3DE-C3B3-6A69-10C4-19298528FAF2}"/>
              </a:ext>
            </a:extLst>
          </p:cNvPr>
          <p:cNvSpPr txBox="1"/>
          <p:nvPr/>
        </p:nvSpPr>
        <p:spPr>
          <a:xfrm>
            <a:off x="419264" y="2120299"/>
            <a:ext cx="9336796" cy="49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6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  Kedudukan bahasa Indonesia sebagai bahasa negara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D1A53-94CC-5329-8376-2DAEE2AF79CA}"/>
              </a:ext>
            </a:extLst>
          </p:cNvPr>
          <p:cNvSpPr txBox="1"/>
          <p:nvPr/>
        </p:nvSpPr>
        <p:spPr>
          <a:xfrm>
            <a:off x="1771317" y="2628508"/>
            <a:ext cx="745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Bahasa negara?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55B15D-9315-58F6-E3F1-B5D688E72687}"/>
              </a:ext>
            </a:extLst>
          </p:cNvPr>
          <p:cNvSpPr txBox="1"/>
          <p:nvPr/>
        </p:nvSpPr>
        <p:spPr>
          <a:xfrm>
            <a:off x="902303" y="3481378"/>
            <a:ext cx="60978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effectLst/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</a:t>
            </a:r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18 Agustus 1945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36769-7C7F-862C-68AC-221B016D6AC0}"/>
              </a:ext>
            </a:extLst>
          </p:cNvPr>
          <p:cNvSpPr txBox="1"/>
          <p:nvPr/>
        </p:nvSpPr>
        <p:spPr>
          <a:xfrm>
            <a:off x="1771317" y="2915661"/>
            <a:ext cx="8533571" cy="40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id-ID" sz="2000" dirty="0">
                <a:latin typeface="Tw Cen MT" panose="020B0602020104020603" pitchFamily="34" charset="0"/>
              </a:rPr>
              <a:t>Bahasa yang secara hukum diakui sebagai bahasa identitas suatu negara.</a:t>
            </a:r>
            <a:endParaRPr lang="en-ID" sz="2000" dirty="0">
              <a:latin typeface="Tw Cen MT" panose="020B06020201040206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4E68F-C2F6-4160-5E67-1AE6E00F2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6402" y="2544164"/>
            <a:ext cx="968908" cy="968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F36069-F50E-6092-D4BD-0405E374D697}"/>
              </a:ext>
            </a:extLst>
          </p:cNvPr>
          <p:cNvSpPr txBox="1"/>
          <p:nvPr/>
        </p:nvSpPr>
        <p:spPr>
          <a:xfrm>
            <a:off x="1213868" y="3835321"/>
            <a:ext cx="10379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w Cen MT" panose="020B0602020104020603" pitchFamily="34" charset="0"/>
              </a:rPr>
              <a:t>D</a:t>
            </a:r>
            <a:r>
              <a:rPr lang="id-ID" sz="2000" dirty="0">
                <a:latin typeface="Tw Cen MT" panose="020B0602020104020603" pitchFamily="34" charset="0"/>
              </a:rPr>
              <a:t>iakui dan disahkan keberadaan bahasa Indonesia sebagai bahasa negara, yang termasuk dalam pasal </a:t>
            </a:r>
            <a:r>
              <a:rPr lang="id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36 UUD 1945 </a:t>
            </a:r>
            <a:r>
              <a:rPr lang="id-ID" sz="2000" dirty="0">
                <a:latin typeface="Tw Cen MT" panose="020B0602020104020603" pitchFamily="34" charset="0"/>
              </a:rPr>
              <a:t>yang berbunyi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id-ID" sz="2000" dirty="0">
                <a:latin typeface="Tw Cen MT" panose="020B0602020104020603" pitchFamily="34" charset="0"/>
              </a:rPr>
              <a:t>: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id-ID" sz="2000" b="1" i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‘Bahasa negara adalah bahasa Indonesia.’ </a:t>
            </a:r>
            <a:endParaRPr lang="en-ID" sz="20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5799D7-1928-9750-6A97-98424D717AEF}"/>
              </a:ext>
            </a:extLst>
          </p:cNvPr>
          <p:cNvSpPr/>
          <p:nvPr/>
        </p:nvSpPr>
        <p:spPr>
          <a:xfrm>
            <a:off x="0" y="6157686"/>
            <a:ext cx="12192000" cy="833470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84D18A-40B2-DDDA-8565-1B7376E8F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925" y="162928"/>
            <a:ext cx="1514475" cy="151447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805271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031560-0F44-766E-0B6A-8EDFB8D91C89}"/>
              </a:ext>
            </a:extLst>
          </p:cNvPr>
          <p:cNvSpPr txBox="1">
            <a:spLocks/>
          </p:cNvSpPr>
          <p:nvPr/>
        </p:nvSpPr>
        <p:spPr>
          <a:xfrm>
            <a:off x="0" y="1116616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Fungsi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Bahasa Indonesia</a:t>
            </a:r>
            <a:endParaRPr lang="en-ID" sz="48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70D00F-C269-40F1-4817-44EDD4E80214}"/>
              </a:ext>
            </a:extLst>
          </p:cNvPr>
          <p:cNvGrpSpPr/>
          <p:nvPr/>
        </p:nvGrpSpPr>
        <p:grpSpPr>
          <a:xfrm>
            <a:off x="1759770" y="2233862"/>
            <a:ext cx="4532174" cy="957846"/>
            <a:chOff x="5628" y="364613"/>
            <a:chExt cx="4532174" cy="95784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6815EC0-15C1-3A66-CB68-A3BA2CDA28F2}"/>
                </a:ext>
              </a:extLst>
            </p:cNvPr>
            <p:cNvSpPr/>
            <p:nvPr/>
          </p:nvSpPr>
          <p:spPr>
            <a:xfrm>
              <a:off x="5628" y="364613"/>
              <a:ext cx="4532174" cy="95784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D8627CE-7C2E-7D13-83EB-9415E759BC7C}"/>
                </a:ext>
              </a:extLst>
            </p:cNvPr>
            <p:cNvSpPr txBox="1"/>
            <p:nvPr/>
          </p:nvSpPr>
          <p:spPr>
            <a:xfrm>
              <a:off x="5628" y="364613"/>
              <a:ext cx="4532174" cy="9578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 err="1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Sebagai</a:t>
              </a:r>
              <a:r>
                <a:rPr lang="en-US" sz="2400" b="1" kern="12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 Bahasa Nasional</a:t>
              </a:r>
              <a:endParaRPr lang="en-ID" sz="2400" b="1" kern="1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413BBB-5D99-9647-2689-005E98C6D477}"/>
              </a:ext>
            </a:extLst>
          </p:cNvPr>
          <p:cNvGrpSpPr/>
          <p:nvPr/>
        </p:nvGrpSpPr>
        <p:grpSpPr>
          <a:xfrm>
            <a:off x="5837962" y="2233862"/>
            <a:ext cx="4532174" cy="957846"/>
            <a:chOff x="4770131" y="350839"/>
            <a:chExt cx="4532174" cy="95784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D7759B-D5FA-5F99-E756-C6576924A865}"/>
                </a:ext>
              </a:extLst>
            </p:cNvPr>
            <p:cNvSpPr/>
            <p:nvPr/>
          </p:nvSpPr>
          <p:spPr>
            <a:xfrm>
              <a:off x="4770131" y="350839"/>
              <a:ext cx="4532174" cy="95784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257943-DCE7-6D99-D002-B4C0A5FC9931}"/>
                </a:ext>
              </a:extLst>
            </p:cNvPr>
            <p:cNvSpPr txBox="1"/>
            <p:nvPr/>
          </p:nvSpPr>
          <p:spPr>
            <a:xfrm>
              <a:off x="4770131" y="350839"/>
              <a:ext cx="4532174" cy="9578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kern="1200" dirty="0" err="1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Sebagai</a:t>
              </a:r>
              <a:r>
                <a:rPr lang="en-US" sz="2400" b="1" kern="1200" dirty="0">
                  <a:solidFill>
                    <a:schemeClr val="accent6">
                      <a:lumMod val="50000"/>
                    </a:schemeClr>
                  </a:solidFill>
                  <a:effectLst/>
                  <a:latin typeface="Tw Cen MT" panose="020B0602020104020603" pitchFamily="34" charset="0"/>
                  <a:ea typeface="SimSun" panose="02010600030101010101" pitchFamily="2" charset="-122"/>
                  <a:cs typeface="Times New Roman" panose="02020603050405020304" pitchFamily="18" charset="0"/>
                </a:rPr>
                <a:t> Bahasa Negara</a:t>
              </a:r>
              <a:endParaRPr lang="en-ID" sz="2400" b="1" kern="1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B2DDBF3-D11B-9939-DC7D-5A7124A1FF62}"/>
              </a:ext>
            </a:extLst>
          </p:cNvPr>
          <p:cNvGrpSpPr/>
          <p:nvPr/>
        </p:nvGrpSpPr>
        <p:grpSpPr>
          <a:xfrm>
            <a:off x="470601" y="1796604"/>
            <a:ext cx="5512094" cy="4429047"/>
            <a:chOff x="-974247" y="0"/>
            <a:chExt cx="5512094" cy="442904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5869DE0-B624-AEAD-D290-FEF6C6352D8F}"/>
                </a:ext>
              </a:extLst>
            </p:cNvPr>
            <p:cNvSpPr/>
            <p:nvPr/>
          </p:nvSpPr>
          <p:spPr>
            <a:xfrm>
              <a:off x="5673" y="0"/>
              <a:ext cx="4532174" cy="95784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EB6E92D-68EE-54B3-D28E-7A76C66F6FA2}"/>
                </a:ext>
              </a:extLst>
            </p:cNvPr>
            <p:cNvSpPr txBox="1"/>
            <p:nvPr/>
          </p:nvSpPr>
          <p:spPr>
            <a:xfrm>
              <a:off x="-974247" y="3471201"/>
              <a:ext cx="4532174" cy="9578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100" tIns="25400" rIns="38100" bIns="254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D" sz="2000" kern="1200" dirty="0"/>
            </a:p>
          </p:txBody>
        </p:sp>
      </p:grpSp>
      <p:graphicFrame>
        <p:nvGraphicFramePr>
          <p:cNvPr id="42" name="Table 42">
            <a:extLst>
              <a:ext uri="{FF2B5EF4-FFF2-40B4-BE49-F238E27FC236}">
                <a16:creationId xmlns:a16="http://schemas.microsoft.com/office/drawing/2014/main" id="{393790CA-335D-B520-745A-A3F89703A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419024"/>
              </p:ext>
            </p:extLst>
          </p:nvPr>
        </p:nvGraphicFramePr>
        <p:xfrm>
          <a:off x="2032000" y="3362636"/>
          <a:ext cx="8128000" cy="2769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388472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94872991"/>
                    </a:ext>
                  </a:extLst>
                </a:gridCol>
              </a:tblGrid>
              <a:tr h="757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Lambang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Indentitas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Nasional</a:t>
                      </a:r>
                      <a:endParaRPr lang="en-ID" sz="2000" b="0" kern="120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Bahasa </a:t>
                      </a: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resmi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kenegaraan</a:t>
                      </a:r>
                      <a:endParaRPr lang="en-ID" sz="2000" b="0" dirty="0">
                        <a:solidFill>
                          <a:schemeClr val="tx1"/>
                        </a:solidFill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229041"/>
                  </a:ext>
                </a:extLst>
              </a:tr>
              <a:tr h="5334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Alat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Perhubungan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Antarwarga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Antardaerah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Antarbudaya</a:t>
                      </a:r>
                      <a:endParaRPr lang="en-US" sz="2000" kern="1200" dirty="0">
                        <a:effectLst/>
                        <a:latin typeface="Tw Cen MT" panose="020B0602020104020603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D" sz="20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kern="1200" dirty="0">
                        <a:effectLst/>
                        <a:latin typeface="Tw Cen MT" panose="020B0602020104020603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Bahasa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pengantar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pendidikan</a:t>
                      </a:r>
                      <a:endParaRPr lang="en-ID" sz="2000" kern="12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246208"/>
                  </a:ext>
                </a:extLst>
              </a:tr>
              <a:tr h="8973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kern="1200" dirty="0">
                        <a:effectLst/>
                        <a:latin typeface="Tw Cen MT" panose="020B0602020104020603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Lambang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Kebanggaan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Kebangsaan</a:t>
                      </a:r>
                      <a:endParaRPr lang="en-ID" sz="2000" kern="1200" dirty="0">
                        <a:latin typeface="Tw Cen MT" panose="020B0602020104020603" pitchFamily="34" charset="0"/>
                      </a:endParaRPr>
                    </a:p>
                    <a:p>
                      <a:pPr algn="ctr"/>
                      <a:endParaRPr lang="en-ID" sz="20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Alat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pengembangan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kebudayaan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pengetahuan,dan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ilmu</a:t>
                      </a:r>
                      <a:r>
                        <a:rPr lang="en-US" sz="2000" kern="1200" dirty="0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200" dirty="0" err="1">
                          <a:effectLst/>
                          <a:latin typeface="Tw Cen MT" panose="020B0602020104020603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teknologi</a:t>
                      </a:r>
                      <a:endParaRPr lang="en-ID" sz="2000" dirty="0">
                        <a:latin typeface="Tw Cen MT" panose="020B06020201040206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726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ADC2337-F070-A5EC-E5A1-3BAD6C387D92}"/>
              </a:ext>
            </a:extLst>
          </p:cNvPr>
          <p:cNvSpPr/>
          <p:nvPr/>
        </p:nvSpPr>
        <p:spPr>
          <a:xfrm>
            <a:off x="0" y="0"/>
            <a:ext cx="12192000" cy="833470"/>
          </a:xfrm>
          <a:prstGeom prst="rect">
            <a:avLst/>
          </a:prstGeom>
          <a:solidFill>
            <a:srgbClr val="85AC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 descr="Audit and Test Flat Icon Set Stock Vector - Illustration of flat,  checkmark: 108778924">
            <a:extLst>
              <a:ext uri="{FF2B5EF4-FFF2-40B4-BE49-F238E27FC236}">
                <a16:creationId xmlns:a16="http://schemas.microsoft.com/office/drawing/2014/main" id="{6188C4B0-0448-F54E-A529-056308EE5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5" t="13206" r="5497" b="10762"/>
          <a:stretch/>
        </p:blipFill>
        <p:spPr bwMode="auto">
          <a:xfrm>
            <a:off x="10265228" y="926381"/>
            <a:ext cx="1763487" cy="174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1290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1455D7-EF46-611E-1EC4-823E9F88F41E}"/>
              </a:ext>
            </a:extLst>
          </p:cNvPr>
          <p:cNvSpPr txBox="1">
            <a:spLocks/>
          </p:cNvSpPr>
          <p:nvPr/>
        </p:nvSpPr>
        <p:spPr>
          <a:xfrm>
            <a:off x="0" y="210654"/>
            <a:ext cx="12192000" cy="909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Peran Bahasa Indonesia</a:t>
            </a:r>
            <a:endParaRPr lang="en-ID" sz="48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F85F3-958E-FAD6-AFEE-E98B2222F6AB}"/>
              </a:ext>
            </a:extLst>
          </p:cNvPr>
          <p:cNvSpPr txBox="1"/>
          <p:nvPr/>
        </p:nvSpPr>
        <p:spPr>
          <a:xfrm>
            <a:off x="2272716" y="1336972"/>
            <a:ext cx="89233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Sebagai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Bahasa Negara</a:t>
            </a:r>
          </a:p>
          <a:p>
            <a:r>
              <a:rPr lang="en-ID" sz="2000" dirty="0">
                <a:latin typeface="Tw Cen MT" panose="020B0602020104020603" pitchFamily="34" charset="0"/>
              </a:rPr>
              <a:t>Karena Indonesia </a:t>
            </a:r>
            <a:r>
              <a:rPr lang="en-ID" sz="2000" dirty="0" err="1">
                <a:latin typeface="Tw Cen MT" panose="020B0602020104020603" pitchFamily="34" charset="0"/>
              </a:rPr>
              <a:t>merupakan</a:t>
            </a:r>
            <a:r>
              <a:rPr lang="en-ID" sz="2000" dirty="0">
                <a:latin typeface="Tw Cen MT" panose="020B0602020104020603" pitchFamily="34" charset="0"/>
              </a:rPr>
              <a:t> negara </a:t>
            </a:r>
            <a:r>
              <a:rPr lang="en-ID" sz="2000" dirty="0" err="1">
                <a:latin typeface="Tw Cen MT" panose="020B0602020104020603" pitchFamily="34" charset="0"/>
              </a:rPr>
              <a:t>dengan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ragam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budaya</a:t>
            </a:r>
            <a:r>
              <a:rPr lang="en-ID" sz="2000" dirty="0">
                <a:latin typeface="Tw Cen MT" panose="020B0602020104020603" pitchFamily="34" charset="0"/>
              </a:rPr>
              <a:t> dan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maka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diperlukan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satu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yang </a:t>
            </a:r>
            <a:r>
              <a:rPr lang="en-ID" sz="2000" dirty="0" err="1">
                <a:latin typeface="Tw Cen MT" panose="020B0602020104020603" pitchFamily="34" charset="0"/>
              </a:rPr>
              <a:t>kedudukannya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lebih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tinggi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dibanding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lain.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4AF69-536A-24B4-FE6F-9000C71E7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05" y="1198754"/>
            <a:ext cx="1342354" cy="1342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AC1016-0F24-41B2-F90C-CFD3D7CDE4BD}"/>
              </a:ext>
            </a:extLst>
          </p:cNvPr>
          <p:cNvSpPr txBox="1"/>
          <p:nvPr/>
        </p:nvSpPr>
        <p:spPr>
          <a:xfrm>
            <a:off x="2284231" y="4172419"/>
            <a:ext cx="92715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Sebagai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Petunjuk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Identitas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Diri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r>
              <a:rPr lang="en-ID" sz="2000" dirty="0">
                <a:latin typeface="Tw Cen MT" panose="020B0602020104020603" pitchFamily="34" charset="0"/>
              </a:rPr>
              <a:t>Karena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Indonesia </a:t>
            </a:r>
            <a:r>
              <a:rPr lang="en-ID" sz="2000" dirty="0" err="1">
                <a:latin typeface="Tw Cen MT" panose="020B0602020104020603" pitchFamily="34" charset="0"/>
              </a:rPr>
              <a:t>merupakan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alat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bagi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kita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untuk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menyampaikan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gagasan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kepada</a:t>
            </a:r>
            <a:r>
              <a:rPr lang="en-ID" sz="2000" dirty="0">
                <a:latin typeface="Tw Cen MT" panose="020B0602020104020603" pitchFamily="34" charset="0"/>
              </a:rPr>
              <a:t> orang lain.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1350A1-60CB-65DD-3B22-64B3E9C040CF}"/>
              </a:ext>
            </a:extLst>
          </p:cNvPr>
          <p:cNvSpPr txBox="1"/>
          <p:nvPr/>
        </p:nvSpPr>
        <p:spPr>
          <a:xfrm>
            <a:off x="1936456" y="5392340"/>
            <a:ext cx="80900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Untuk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Menjalankan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Administrasi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Negara</a:t>
            </a:r>
          </a:p>
          <a:p>
            <a:pPr algn="r"/>
            <a:r>
              <a:rPr lang="en-ID" sz="2000" dirty="0" err="1">
                <a:latin typeface="Tw Cen MT" panose="020B0602020104020603" pitchFamily="34" charset="0"/>
              </a:rPr>
              <a:t>Setiap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peraturan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dalam</a:t>
            </a:r>
            <a:r>
              <a:rPr lang="en-ID" sz="2000" dirty="0">
                <a:latin typeface="Tw Cen MT" panose="020B0602020104020603" pitchFamily="34" charset="0"/>
              </a:rPr>
              <a:t> negara </a:t>
            </a:r>
            <a:r>
              <a:rPr lang="en-ID" sz="2000" dirty="0" err="1">
                <a:latin typeface="Tw Cen MT" panose="020B0602020104020603" pitchFamily="34" charset="0"/>
              </a:rPr>
              <a:t>menggunakan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satu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yang </a:t>
            </a:r>
            <a:r>
              <a:rPr lang="en-ID" sz="2000" dirty="0" err="1">
                <a:latin typeface="Tw Cen MT" panose="020B0602020104020603" pitchFamily="34" charset="0"/>
              </a:rPr>
              <a:t>sudah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disepakati</a:t>
            </a:r>
            <a:r>
              <a:rPr lang="en-ID" sz="2000" dirty="0">
                <a:latin typeface="Tw Cen MT" panose="020B0602020104020603" pitchFamily="34" charset="0"/>
              </a:rPr>
              <a:t> oleh masing </a:t>
            </a:r>
            <a:r>
              <a:rPr lang="en-ID" sz="2000" dirty="0" err="1">
                <a:latin typeface="Tw Cen MT" panose="020B0602020104020603" pitchFamily="34" charset="0"/>
              </a:rPr>
              <a:t>masing</a:t>
            </a:r>
            <a:r>
              <a:rPr lang="en-ID" sz="2000" dirty="0">
                <a:latin typeface="Tw Cen MT" panose="020B0602020104020603" pitchFamily="34" charset="0"/>
              </a:rPr>
              <a:t> negara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3EA61-D455-63CD-F1EA-D063AF808E63}"/>
              </a:ext>
            </a:extLst>
          </p:cNvPr>
          <p:cNvSpPr txBox="1"/>
          <p:nvPr/>
        </p:nvSpPr>
        <p:spPr>
          <a:xfrm>
            <a:off x="2421566" y="2715663"/>
            <a:ext cx="76049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Sebagai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Alat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Pengantar</a:t>
            </a:r>
            <a:r>
              <a:rPr lang="en-ID" sz="20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Dunia </a:t>
            </a:r>
            <a:r>
              <a:rPr lang="en-ID" sz="20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Pendidik</a:t>
            </a:r>
            <a:endParaRPr lang="en-ID" sz="2000" b="1" dirty="0">
              <a:solidFill>
                <a:schemeClr val="accent6">
                  <a:lumMod val="50000"/>
                </a:schemeClr>
              </a:solidFill>
              <a:latin typeface="Tw Cen MT" panose="020B0602020104020603" pitchFamily="34" charset="0"/>
            </a:endParaRPr>
          </a:p>
          <a:p>
            <a:pPr algn="r"/>
            <a:r>
              <a:rPr lang="en-ID" sz="2000" dirty="0" err="1">
                <a:latin typeface="Tw Cen MT" panose="020B0602020104020603" pitchFamily="34" charset="0"/>
              </a:rPr>
              <a:t>Sebuah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instansi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pendidikan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harus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memiliki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bahasa</a:t>
            </a:r>
            <a:r>
              <a:rPr lang="en-ID" sz="2000" dirty="0">
                <a:latin typeface="Tw Cen MT" panose="020B0602020104020603" pitchFamily="34" charset="0"/>
              </a:rPr>
              <a:t> yang </a:t>
            </a:r>
            <a:r>
              <a:rPr lang="en-ID" sz="2000" dirty="0" err="1">
                <a:latin typeface="Tw Cen MT" panose="020B0602020104020603" pitchFamily="34" charset="0"/>
              </a:rPr>
              <a:t>seragam</a:t>
            </a:r>
            <a:r>
              <a:rPr lang="en-ID" sz="2000" dirty="0">
                <a:latin typeface="Tw Cen MT" panose="020B0602020104020603" pitchFamily="34" charset="0"/>
              </a:rPr>
              <a:t> agar </a:t>
            </a:r>
            <a:r>
              <a:rPr lang="en-ID" sz="2000" dirty="0" err="1">
                <a:latin typeface="Tw Cen MT" panose="020B0602020104020603" pitchFamily="34" charset="0"/>
              </a:rPr>
              <a:t>dapat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menunjang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keefektifam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dalam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kegiatan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belajar</a:t>
            </a:r>
            <a:r>
              <a:rPr lang="en-ID" sz="2000" dirty="0">
                <a:latin typeface="Tw Cen MT" panose="020B0602020104020603" pitchFamily="34" charset="0"/>
              </a:rPr>
              <a:t> </a:t>
            </a:r>
            <a:r>
              <a:rPr lang="en-ID" sz="2000" dirty="0" err="1">
                <a:latin typeface="Tw Cen MT" panose="020B0602020104020603" pitchFamily="34" charset="0"/>
              </a:rPr>
              <a:t>mengajar</a:t>
            </a:r>
            <a:r>
              <a:rPr lang="en-ID" sz="2000" dirty="0">
                <a:latin typeface="Tw Cen MT" panose="020B0602020104020603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518A7C-12E1-5F88-97C3-6C576DA0F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91" b="89979" l="7921" r="92739">
                        <a14:foregroundMark x1="11341" y1="36274" x2="7921" y2="36274"/>
                        <a14:foregroundMark x1="90879" y1="35974" x2="92739" y2="364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7014" y="2204881"/>
            <a:ext cx="1989525" cy="1989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B09229-E32C-125C-00C4-81BD107A77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976" t="21058" r="12512" b="20405"/>
          <a:stretch/>
        </p:blipFill>
        <p:spPr>
          <a:xfrm>
            <a:off x="444794" y="4042013"/>
            <a:ext cx="1685747" cy="13423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BB2776-5DA6-E0B8-4FF6-03157650D1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667" b="98000" l="778" r="98111">
                        <a14:foregroundMark x1="71667" y1="29889" x2="63333" y2="26111"/>
                        <a14:foregroundMark x1="63333" y1="26111" x2="36667" y2="23111"/>
                        <a14:foregroundMark x1="36667" y1="23111" x2="26444" y2="37333"/>
                        <a14:foregroundMark x1="26444" y1="37333" x2="22111" y2="52444"/>
                        <a14:foregroundMark x1="44000" y1="54444" x2="47444" y2="35222"/>
                        <a14:foregroundMark x1="52556" y1="58111" x2="53667" y2="40778"/>
                        <a14:foregroundMark x1="67778" y1="61222" x2="29444" y2="54667"/>
                        <a14:foregroundMark x1="42667" y1="69111" x2="43889" y2="41333"/>
                        <a14:foregroundMark x1="37000" y1="58111" x2="37778" y2="38111"/>
                        <a14:foregroundMark x1="37778" y1="38111" x2="37778" y2="38000"/>
                        <a14:foregroundMark x1="30111" y1="45111" x2="26667" y2="34000"/>
                        <a14:foregroundMark x1="26667" y1="34000" x2="19889" y2="36778"/>
                        <a14:foregroundMark x1="19889" y1="36778" x2="18667" y2="60222"/>
                        <a14:foregroundMark x1="18667" y1="60222" x2="24444" y2="72889"/>
                        <a14:foregroundMark x1="24444" y1="72889" x2="32444" y2="81000"/>
                        <a14:foregroundMark x1="32444" y1="81000" x2="39333" y2="83444"/>
                        <a14:foregroundMark x1="39333" y1="83444" x2="39556" y2="82444"/>
                        <a14:foregroundMark x1="36778" y1="22333" x2="56778" y2="22000"/>
                        <a14:foregroundMark x1="56778" y1="22000" x2="70444" y2="27778"/>
                        <a14:foregroundMark x1="70444" y1="27778" x2="77556" y2="36000"/>
                        <a14:foregroundMark x1="77556" y1="36000" x2="80556" y2="44333"/>
                        <a14:foregroundMark x1="83889" y1="41667" x2="76444" y2="24667"/>
                        <a14:foregroundMark x1="76444" y1="24667" x2="69556" y2="20333"/>
                        <a14:foregroundMark x1="69556" y1="20333" x2="49889" y2="18111"/>
                        <a14:foregroundMark x1="49889" y1="18111" x2="40778" y2="20556"/>
                        <a14:foregroundMark x1="40778" y1="20556" x2="36111" y2="23556"/>
                        <a14:foregroundMark x1="6444" y1="66333" x2="7667" y2="53111"/>
                        <a14:foregroundMark x1="7667" y1="53111" x2="6000" y2="51333"/>
                        <a14:foregroundMark x1="29778" y1="49778" x2="30111" y2="62444"/>
                        <a14:foregroundMark x1="30111" y1="62444" x2="35667" y2="70000"/>
                        <a14:foregroundMark x1="35667" y1="70000" x2="66444" y2="57111"/>
                        <a14:foregroundMark x1="66444" y1="57111" x2="67556" y2="66889"/>
                        <a14:foregroundMark x1="67556" y1="66889" x2="62667" y2="59889"/>
                        <a14:foregroundMark x1="62667" y1="59889" x2="62222" y2="29778"/>
                        <a14:foregroundMark x1="62222" y1="29778" x2="67111" y2="51556"/>
                        <a14:foregroundMark x1="67111" y1="51556" x2="52778" y2="59222"/>
                        <a14:foregroundMark x1="52778" y1="59222" x2="34111" y2="61111"/>
                        <a14:foregroundMark x1="34111" y1="61111" x2="58444" y2="59111"/>
                        <a14:foregroundMark x1="58444" y1="59111" x2="69000" y2="31778"/>
                        <a14:foregroundMark x1="75000" y1="63889" x2="58556" y2="65778"/>
                        <a14:foregroundMark x1="58556" y1="65778" x2="49889" y2="61556"/>
                        <a14:foregroundMark x1="49889" y1="61556" x2="73222" y2="60333"/>
                        <a14:foregroundMark x1="73222" y1="60333" x2="62778" y2="66444"/>
                        <a14:foregroundMark x1="62778" y1="66444" x2="67333" y2="72889"/>
                        <a14:foregroundMark x1="67333" y1="72889" x2="73444" y2="69444"/>
                        <a14:foregroundMark x1="73444" y1="69444" x2="61000" y2="63111"/>
                        <a14:foregroundMark x1="61000" y1="63111" x2="53000" y2="61556"/>
                        <a14:foregroundMark x1="53000" y1="61556" x2="66111" y2="43222"/>
                        <a14:foregroundMark x1="66111" y1="43222" x2="54667" y2="38667"/>
                        <a14:foregroundMark x1="54667" y1="38667" x2="57222" y2="45000"/>
                        <a14:foregroundMark x1="53889" y1="64444" x2="46444" y2="72000"/>
                        <a14:foregroundMark x1="46444" y1="72000" x2="45889" y2="72111"/>
                        <a14:foregroundMark x1="36556" y1="94667" x2="49222" y2="98444"/>
                        <a14:foregroundMark x1="49222" y1="98444" x2="60111" y2="96556"/>
                        <a14:foregroundMark x1="78778" y1="87556" x2="62333" y2="95333"/>
                        <a14:foregroundMark x1="28333" y1="94889" x2="10889" y2="76222"/>
                        <a14:foregroundMark x1="10889" y1="76222" x2="7778" y2="68778"/>
                        <a14:foregroundMark x1="4000" y1="59556" x2="5000" y2="46667"/>
                        <a14:foregroundMark x1="1556" y1="48000" x2="778" y2="48778"/>
                        <a14:foregroundMark x1="25222" y1="9111" x2="47000" y2="4444"/>
                        <a14:foregroundMark x1="51444" y1="2667" x2="66889" y2="8667"/>
                        <a14:foregroundMark x1="66889" y1="8667" x2="80778" y2="19667"/>
                        <a14:foregroundMark x1="92667" y1="31111" x2="98111" y2="57111"/>
                        <a14:foregroundMark x1="98111" y1="57111" x2="90889" y2="71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239436" y="5244415"/>
            <a:ext cx="1402931" cy="140293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3203385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FD53C0-9DD2-41FD-FF30-BC3B861C8ADD}"/>
              </a:ext>
            </a:extLst>
          </p:cNvPr>
          <p:cNvSpPr txBox="1">
            <a:spLocks/>
          </p:cNvSpPr>
          <p:nvPr/>
        </p:nvSpPr>
        <p:spPr>
          <a:xfrm>
            <a:off x="0" y="428368"/>
            <a:ext cx="12192000" cy="93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Undang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Undang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dan </a:t>
            </a:r>
            <a:r>
              <a:rPr lang="en-US" sz="48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Peraturan</a:t>
            </a:r>
            <a:r>
              <a:rPr lang="en-US" sz="48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800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Pemerintah</a:t>
            </a:r>
            <a:endParaRPr lang="en-ID" sz="48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A1A8D-A85D-482F-5E4F-F07E21CE61D1}"/>
              </a:ext>
            </a:extLst>
          </p:cNvPr>
          <p:cNvSpPr txBox="1"/>
          <p:nvPr/>
        </p:nvSpPr>
        <p:spPr>
          <a:xfrm>
            <a:off x="571753" y="1725928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1.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Undang-Undang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No. 24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Tahun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2009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BD54F-D8EA-8610-CF2B-E4927B093A25}"/>
              </a:ext>
            </a:extLst>
          </p:cNvPr>
          <p:cNvSpPr txBox="1"/>
          <p:nvPr/>
        </p:nvSpPr>
        <p:spPr>
          <a:xfrm>
            <a:off x="884970" y="2187593"/>
            <a:ext cx="1044383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Pengaturan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mengenai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Bahasa Indonesia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mengenai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Bendera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Bahasa,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Lambang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Negara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serta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Lagu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Kebangsaan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yang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menjadi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tonggak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pertama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Bahasa Indonesia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mulai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di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kalangan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Bangsa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Indonesia. </a:t>
            </a:r>
            <a:endParaRPr lang="en-US" sz="2000" dirty="0">
              <a:latin typeface="Tw Cen MT" panose="020B0602020104020603" pitchFamily="34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Undang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–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Undang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Nomor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24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Tahun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2009 (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Selanjutnya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ditulis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UU 24/2009 )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secara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umum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memiliki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9 Bab dan 74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yang pada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pokoknya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mengatur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tentang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praktik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penetapan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tata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cara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penggunaan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bendera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lambang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negara,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serta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lagu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kebangsaan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.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tujuan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dari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UU 24/2009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ini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adalah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:</a:t>
            </a:r>
          </a:p>
          <a:p>
            <a:pPr marL="457200" indent="-457200" algn="just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Memperkuat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persatuan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bangsa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Negara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Republik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Indonesia</a:t>
            </a:r>
            <a:endParaRPr lang="en-US" sz="2000" dirty="0">
              <a:latin typeface="Tw Cen MT" panose="020B0602020104020603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Menjaga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kehormatan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yang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menunjukkan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kedaulatan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bangsa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dan Negara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Republik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Indonesia</a:t>
            </a:r>
            <a:endParaRPr lang="en-US" sz="2000" dirty="0">
              <a:latin typeface="Tw Cen MT" panose="020B0602020104020603" pitchFamily="34" charset="0"/>
            </a:endParaRPr>
          </a:p>
          <a:p>
            <a:pPr marL="457200" indent="-457200" algn="just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Menciptakan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ketertiban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kepastian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standarisasi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penggunaan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bendera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, dan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lambang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negara,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serta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lagu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kebangsaan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407096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C66D3D-5774-2106-3E6B-3A638239A8D5}"/>
              </a:ext>
            </a:extLst>
          </p:cNvPr>
          <p:cNvSpPr txBox="1"/>
          <p:nvPr/>
        </p:nvSpPr>
        <p:spPr>
          <a:xfrm>
            <a:off x="744663" y="808116"/>
            <a:ext cx="1113165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26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“</a:t>
            </a:r>
            <a:r>
              <a:rPr lang="sv-SE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Bahasa Indonesia wajib</a:t>
            </a:r>
            <a:r>
              <a:rPr lang="sv-SE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sv-SE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digunakan dalam peraturan</a:t>
            </a:r>
            <a:r>
              <a:rPr lang="sv-SE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sv-SE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perundang undangan”.</a:t>
            </a:r>
          </a:p>
          <a:p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27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“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Bahasa Indonesia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wajib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dokumen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resmi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negara”.</a:t>
            </a:r>
          </a:p>
          <a:p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28 </a:t>
            </a:r>
            <a:r>
              <a:rPr lang="en-US" sz="2000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“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Bahasa Indonesia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wajib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pidato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resmi</a:t>
            </a:r>
            <a:r>
              <a:rPr lang="en-US" sz="2000" i="1" dirty="0"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Presiden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, Wakil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Presiden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, dan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pejabat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negara yang lain yang 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disampaikan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di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atau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di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luar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negeri.</a:t>
            </a:r>
          </a:p>
          <a:p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Pasal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29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berbunyi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: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(1) Bahasa Indonesia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wajib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digunakan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sebagai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pengantar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dalam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pendidikan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nasional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  <a:b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</a:b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(2) Bahasa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pengantar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sebagaimana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dimaksud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pada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ayat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(1)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dapat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menggunakan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bahasa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untuk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tujuan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yang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mendukung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kemampuan</a:t>
            </a:r>
            <a:b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</a:b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berbahasa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peserta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didik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  <a:b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</a:b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(3)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Penggunaan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Bahasa Indonesia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sebagaimana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dimaksud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pada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ayat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(1)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tidak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berlaku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untuk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pendidikan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atau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satuan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pendidikan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khusus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yang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mendidik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warga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 negara </a:t>
            </a:r>
            <a:r>
              <a:rPr lang="en-US" sz="2000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asing</a:t>
            </a:r>
            <a:r>
              <a:rPr lang="en-US" sz="2000" i="1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  <a:endParaRPr lang="en-ID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13AC79-F4DE-AB07-9B26-E963E88E60F6}"/>
              </a:ext>
            </a:extLst>
          </p:cNvPr>
          <p:cNvSpPr txBox="1"/>
          <p:nvPr/>
        </p:nvSpPr>
        <p:spPr>
          <a:xfrm>
            <a:off x="407203" y="323393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2.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Undang-Undang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No. 20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Tahun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2009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1CD85-D592-857C-A8E1-630DB59C36A9}"/>
              </a:ext>
            </a:extLst>
          </p:cNvPr>
          <p:cNvSpPr txBox="1"/>
          <p:nvPr/>
        </p:nvSpPr>
        <p:spPr>
          <a:xfrm>
            <a:off x="407203" y="4425588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3.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Peraturan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Presiden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nomor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  <a:latin typeface="Tw Cen MT" panose="020B0602020104020603" pitchFamily="34" charset="0"/>
              </a:rPr>
              <a:t> 63/2019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656A-51D2-B233-869A-0AA9C9B9EAA9}"/>
              </a:ext>
            </a:extLst>
          </p:cNvPr>
          <p:cNvSpPr txBox="1"/>
          <p:nvPr/>
        </p:nvSpPr>
        <p:spPr>
          <a:xfrm>
            <a:off x="750576" y="4887253"/>
            <a:ext cx="10099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Dalam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Peraturan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Presiden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(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Perpres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)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Nomor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63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Tahun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2019 </a:t>
            </a:r>
            <a:r>
              <a:rPr lang="en-ID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tentang</a:t>
            </a:r>
            <a:r>
              <a:rPr lang="en-ID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Penggunaan</a:t>
            </a:r>
            <a:r>
              <a:rPr lang="en-ID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 Bahasa Indonesia</a:t>
            </a:r>
            <a:r>
              <a:rPr lang="en-ID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Tw Cen MT" panose="020B0602020104020603" pitchFamily="34" charset="0"/>
              </a:rPr>
              <a:t> 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yang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ditandatangani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oleh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Presiden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Joko Widodo (Jokowi) pada 30 September 2019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lalu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disebutkan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, Bahasa Indonesia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wajib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digunakan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sebagai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bahasa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pengantar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dalam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pendidikan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nasional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dalam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seluruh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jenjang</a:t>
            </a:r>
            <a:r>
              <a:rPr lang="en-ID" sz="2000" b="0" i="0" dirty="0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 </a:t>
            </a:r>
            <a:r>
              <a:rPr lang="en-ID" sz="2000" b="0" i="0" dirty="0" err="1">
                <a:solidFill>
                  <a:srgbClr val="202124"/>
                </a:solidFill>
                <a:effectLst/>
                <a:latin typeface="Tw Cen MT" panose="020B0602020104020603" pitchFamily="34" charset="0"/>
              </a:rPr>
              <a:t>pendidikan</a:t>
            </a:r>
            <a:endParaRPr lang="en-ID" sz="20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5880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74C387-6209-40F1-ADDB-B2FD4C6FA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81638"/>
            <a:ext cx="12192000" cy="1122362"/>
          </a:xfrm>
        </p:spPr>
        <p:txBody>
          <a:bodyPr>
            <a:noAutofit/>
          </a:bodyPr>
          <a:lstStyle/>
          <a:p>
            <a:r>
              <a:rPr lang="en-US" sz="8000" spc="600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TERIMA KASIH -</a:t>
            </a:r>
            <a:endParaRPr lang="en-ID" sz="80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1026" name="Picture 2" descr="OTAK, BAHASA DAN PIKIRAN ~ Smartlearners">
            <a:extLst>
              <a:ext uri="{FF2B5EF4-FFF2-40B4-BE49-F238E27FC236}">
                <a16:creationId xmlns:a16="http://schemas.microsoft.com/office/drawing/2014/main" id="{AA3430AC-943F-5E04-0159-1B6C4B2CC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0162"/>
            <a:ext cx="12226834" cy="5349240"/>
          </a:xfrm>
          <a:prstGeom prst="rect">
            <a:avLst/>
          </a:prstGeom>
          <a:solidFill>
            <a:srgbClr val="85AC91"/>
          </a:solidFill>
        </p:spPr>
      </p:pic>
    </p:spTree>
    <p:extLst>
      <p:ext uri="{BB962C8B-B14F-4D97-AF65-F5344CB8AC3E}">
        <p14:creationId xmlns:p14="http://schemas.microsoft.com/office/powerpoint/2010/main" val="35586186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731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Bahnschrift SemiBold Condensed</vt:lpstr>
      <vt:lpstr>Calibri</vt:lpstr>
      <vt:lpstr>Calibri Light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Sejarah Bahasa Indonesia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acer.sn00c20424c123400@outlook.com</dc:creator>
  <cp:lastModifiedBy>acer.sn00c20424c123400@outlook.com</cp:lastModifiedBy>
  <cp:revision>4</cp:revision>
  <dcterms:created xsi:type="dcterms:W3CDTF">2022-08-31T08:49:58Z</dcterms:created>
  <dcterms:modified xsi:type="dcterms:W3CDTF">2022-09-05T09:56:39Z</dcterms:modified>
</cp:coreProperties>
</file>