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16/08/2025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9247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16/08/2025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498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16/08/2025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3618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16/08/2025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8385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16/08/2025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32944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16/08/2025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9083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16/08/2025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5516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16/08/2025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0279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16/08/2025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2134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16/08/2025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9214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16/08/2025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5212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B1ED6-40F7-433C-81D6-BC51FC58FAC1}" type="datetimeFigureOut">
              <a:rPr lang="id-ID" smtClean="0"/>
              <a:t>16/08/2025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28248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65311"/>
            <a:ext cx="9144000" cy="1019946"/>
          </a:xfrm>
        </p:spPr>
        <p:txBody>
          <a:bodyPr/>
          <a:lstStyle/>
          <a:p>
            <a:r>
              <a:rPr lang="id-ID" b="1" dirty="0">
                <a:latin typeface="Arial Black" panose="020B0A04020102020204" pitchFamily="34" charset="0"/>
              </a:rPr>
              <a:t>Fisika Terapan 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785257"/>
            <a:ext cx="9144000" cy="424107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200" dirty="0">
                <a:latin typeface="Arial Black" panose="020B0A04020102020204" pitchFamily="34" charset="0"/>
              </a:rPr>
              <a:t>Kode  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200" dirty="0">
                <a:latin typeface="Arial Black" panose="020B0A04020102020204" pitchFamily="34" charset="0"/>
              </a:rPr>
              <a:t>Program Studi : Teknik Telekomunikasi NK/D4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200" dirty="0">
                <a:latin typeface="Arial Black" panose="020B0A04020102020204" pitchFamily="34" charset="0"/>
              </a:rPr>
              <a:t>Kelas : 1A, 1B, </a:t>
            </a:r>
            <a:r>
              <a:rPr lang="en-US" sz="3200" dirty="0">
                <a:latin typeface="Arial Black" panose="020B0A04020102020204" pitchFamily="34" charset="0"/>
              </a:rPr>
              <a:t>1C</a:t>
            </a:r>
            <a:endParaRPr lang="id-ID" sz="3200" dirty="0">
              <a:latin typeface="Arial Black" panose="020B0A040201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200" dirty="0">
                <a:latin typeface="Arial Black" panose="020B0A04020102020204" pitchFamily="34" charset="0"/>
              </a:rPr>
              <a:t>Jadual :  1</a:t>
            </a:r>
            <a:r>
              <a:rPr lang="en-US" sz="3200" dirty="0">
                <a:latin typeface="Arial Black" panose="020B0A04020102020204" pitchFamily="34" charset="0"/>
              </a:rPr>
              <a:t>B</a:t>
            </a:r>
            <a:r>
              <a:rPr lang="id-ID" sz="3200" dirty="0">
                <a:latin typeface="Arial Black" panose="020B0A04020102020204" pitchFamily="34" charset="0"/>
              </a:rPr>
              <a:t> : Rabu 07.00 – 09.30</a:t>
            </a:r>
            <a:r>
              <a:rPr lang="en-US" sz="3200" dirty="0">
                <a:latin typeface="Arial Black" panose="020B0A04020102020204" pitchFamily="34" charset="0"/>
              </a:rPr>
              <a:t> A308</a:t>
            </a:r>
            <a:endParaRPr lang="id-ID" sz="3200" dirty="0">
              <a:latin typeface="Arial Black" panose="020B0A04020102020204" pitchFamily="34" charset="0"/>
            </a:endParaRPr>
          </a:p>
          <a:p>
            <a:pPr algn="l"/>
            <a:r>
              <a:rPr lang="id-ID" sz="3200" dirty="0">
                <a:latin typeface="Arial Black" panose="020B0A04020102020204" pitchFamily="34" charset="0"/>
              </a:rPr>
              <a:t>                  1</a:t>
            </a:r>
            <a:r>
              <a:rPr lang="en-US" sz="3200" dirty="0">
                <a:latin typeface="Arial Black" panose="020B0A04020102020204" pitchFamily="34" charset="0"/>
              </a:rPr>
              <a:t>A</a:t>
            </a:r>
            <a:r>
              <a:rPr lang="id-ID" sz="3200" dirty="0">
                <a:latin typeface="Arial Black" panose="020B0A04020102020204" pitchFamily="34" charset="0"/>
              </a:rPr>
              <a:t> : Rabu 09.50 – 12.20</a:t>
            </a:r>
            <a:r>
              <a:rPr lang="en-US" sz="3200" dirty="0">
                <a:latin typeface="Arial Black" panose="020B0A04020102020204" pitchFamily="34" charset="0"/>
              </a:rPr>
              <a:t> A307</a:t>
            </a:r>
            <a:endParaRPr lang="id-ID" sz="3200" dirty="0">
              <a:latin typeface="Arial Black" panose="020B0A04020102020204" pitchFamily="34" charset="0"/>
            </a:endParaRPr>
          </a:p>
          <a:p>
            <a:pPr algn="l"/>
            <a:r>
              <a:rPr lang="id-ID" sz="3200" dirty="0">
                <a:latin typeface="Arial Black" panose="020B0A04020102020204" pitchFamily="34" charset="0"/>
              </a:rPr>
              <a:t>                  1</a:t>
            </a:r>
            <a:r>
              <a:rPr lang="en-US" sz="3200" dirty="0">
                <a:latin typeface="Arial Black" panose="020B0A04020102020204" pitchFamily="34" charset="0"/>
              </a:rPr>
              <a:t>C</a:t>
            </a:r>
            <a:r>
              <a:rPr lang="id-ID" sz="3200" dirty="0">
                <a:latin typeface="Arial Black" panose="020B0A04020102020204" pitchFamily="34" charset="0"/>
              </a:rPr>
              <a:t> : </a:t>
            </a:r>
            <a:r>
              <a:rPr lang="en-US" sz="3200" dirty="0">
                <a:latin typeface="Arial Black" panose="020B0A04020102020204" pitchFamily="34" charset="0"/>
              </a:rPr>
              <a:t>Rabu 13.00 – 15.30 A309</a:t>
            </a:r>
            <a:endParaRPr lang="id-ID" sz="3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808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25974"/>
            <a:ext cx="9144000" cy="889317"/>
          </a:xfrm>
        </p:spPr>
        <p:txBody>
          <a:bodyPr>
            <a:normAutofit fontScale="90000"/>
          </a:bodyPr>
          <a:lstStyle/>
          <a:p>
            <a:r>
              <a:rPr lang="id-ID" dirty="0">
                <a:latin typeface="Arial Black" panose="020B0A04020102020204" pitchFamily="34" charset="0"/>
              </a:rPr>
              <a:t>Materi Kuliah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15291"/>
            <a:ext cx="9144000" cy="4685212"/>
          </a:xfrm>
        </p:spPr>
        <p:txBody>
          <a:bodyPr>
            <a:normAutofit/>
          </a:bodyPr>
          <a:lstStyle/>
          <a:p>
            <a:pPr lvl="0" algn="l"/>
            <a:r>
              <a:rPr lang="id-ID" dirty="0"/>
              <a:t>1. </a:t>
            </a:r>
            <a:r>
              <a:rPr lang="id-ID" dirty="0">
                <a:latin typeface="Arial Black" panose="020B0A04020102020204" pitchFamily="34" charset="0"/>
              </a:rPr>
              <a:t>P</a:t>
            </a:r>
            <a:r>
              <a:rPr lang="en-US" dirty="0" err="1">
                <a:latin typeface="Arial Black" panose="020B0A04020102020204" pitchFamily="34" charset="0"/>
              </a:rPr>
              <a:t>erhitungan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vektor</a:t>
            </a:r>
            <a:r>
              <a:rPr lang="id-ID" dirty="0">
                <a:latin typeface="Arial Black" panose="020B0A04020102020204" pitchFamily="34" charset="0"/>
              </a:rPr>
              <a:t> dan </a:t>
            </a:r>
            <a:r>
              <a:rPr lang="en-US" dirty="0" err="1">
                <a:latin typeface="Arial Black" panose="020B0A04020102020204" pitchFamily="34" charset="0"/>
              </a:rPr>
              <a:t>persamaan-persamaan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Maxwel</a:t>
            </a:r>
            <a:r>
              <a:rPr lang="id-ID" dirty="0">
                <a:latin typeface="Arial Black" panose="020B0A04020102020204" pitchFamily="34" charset="0"/>
              </a:rPr>
              <a:t>l</a:t>
            </a:r>
          </a:p>
          <a:p>
            <a:pPr lvl="0" algn="l"/>
            <a:r>
              <a:rPr lang="id-ID" dirty="0">
                <a:latin typeface="Arial Black" panose="020B0A04020102020204" pitchFamily="34" charset="0"/>
              </a:rPr>
              <a:t>2. M</a:t>
            </a:r>
            <a:r>
              <a:rPr lang="en-US" dirty="0" err="1">
                <a:latin typeface="Arial Black" panose="020B0A04020102020204" pitchFamily="34" charset="0"/>
              </a:rPr>
              <a:t>edan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listrik</a:t>
            </a:r>
            <a:r>
              <a:rPr lang="id-ID" dirty="0">
                <a:latin typeface="Arial Black" panose="020B0A04020102020204" pitchFamily="34" charset="0"/>
              </a:rPr>
              <a:t>, </a:t>
            </a:r>
            <a:r>
              <a:rPr lang="en-US" dirty="0" err="1">
                <a:latin typeface="Arial Black" panose="020B0A04020102020204" pitchFamily="34" charset="0"/>
              </a:rPr>
              <a:t>potensial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energi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potensial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listrik</a:t>
            </a:r>
            <a:r>
              <a:rPr lang="id-ID" dirty="0">
                <a:latin typeface="Arial Black" panose="020B0A04020102020204" pitchFamily="34" charset="0"/>
              </a:rPr>
              <a:t>, </a:t>
            </a:r>
            <a:r>
              <a:rPr lang="en-US" dirty="0" err="1">
                <a:latin typeface="Arial Black" panose="020B0A04020102020204" pitchFamily="34" charset="0"/>
              </a:rPr>
              <a:t>kapasitor</a:t>
            </a:r>
            <a:r>
              <a:rPr lang="id-ID" dirty="0">
                <a:latin typeface="Arial Black" panose="020B0A04020102020204" pitchFamily="34" charset="0"/>
              </a:rPr>
              <a:t>, </a:t>
            </a:r>
            <a:r>
              <a:rPr lang="en-US" dirty="0" err="1">
                <a:latin typeface="Arial Black" panose="020B0A04020102020204" pitchFamily="34" charset="0"/>
              </a:rPr>
              <a:t>sifat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listrik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statik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bahan</a:t>
            </a:r>
            <a:endParaRPr lang="id-ID" dirty="0">
              <a:latin typeface="Arial Black" panose="020B0A04020102020204" pitchFamily="34" charset="0"/>
            </a:endParaRPr>
          </a:p>
          <a:p>
            <a:pPr lvl="0" algn="l"/>
            <a:r>
              <a:rPr lang="id-ID" dirty="0">
                <a:latin typeface="Arial Black" panose="020B0A04020102020204" pitchFamily="34" charset="0"/>
              </a:rPr>
              <a:t>3. A</a:t>
            </a:r>
            <a:r>
              <a:rPr lang="en-US" dirty="0" err="1">
                <a:latin typeface="Arial Black" panose="020B0A04020102020204" pitchFamily="34" charset="0"/>
              </a:rPr>
              <a:t>rus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listrik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sifat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hantaran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listrik</a:t>
            </a:r>
            <a:endParaRPr lang="id-ID" dirty="0">
              <a:latin typeface="Arial Black" panose="020B0A04020102020204" pitchFamily="34" charset="0"/>
            </a:endParaRPr>
          </a:p>
          <a:p>
            <a:pPr lvl="0" algn="l"/>
            <a:r>
              <a:rPr lang="id-ID" dirty="0">
                <a:latin typeface="Arial Black" panose="020B0A04020102020204" pitchFamily="34" charset="0"/>
              </a:rPr>
              <a:t>4. M</a:t>
            </a:r>
            <a:r>
              <a:rPr lang="en-US" dirty="0" err="1">
                <a:latin typeface="Arial Black" panose="020B0A04020102020204" pitchFamily="34" charset="0"/>
              </a:rPr>
              <a:t>edan</a:t>
            </a:r>
            <a:r>
              <a:rPr lang="en-US" dirty="0">
                <a:latin typeface="Arial Black" panose="020B0A04020102020204" pitchFamily="34" charset="0"/>
              </a:rPr>
              <a:t> magnet</a:t>
            </a:r>
            <a:r>
              <a:rPr lang="id-ID" dirty="0">
                <a:latin typeface="Arial Black" panose="020B0A04020102020204" pitchFamily="34" charset="0"/>
              </a:rPr>
              <a:t>ik, G</a:t>
            </a:r>
            <a:r>
              <a:rPr lang="en-US" dirty="0" err="1">
                <a:latin typeface="Arial Black" panose="020B0A04020102020204" pitchFamily="34" charset="0"/>
              </a:rPr>
              <a:t>aya</a:t>
            </a:r>
            <a:r>
              <a:rPr lang="en-US" dirty="0">
                <a:latin typeface="Arial Black" panose="020B0A04020102020204" pitchFamily="34" charset="0"/>
              </a:rPr>
              <a:t> magnet</a:t>
            </a:r>
            <a:r>
              <a:rPr lang="id-ID" dirty="0">
                <a:latin typeface="Arial Black" panose="020B0A04020102020204" pitchFamily="34" charset="0"/>
              </a:rPr>
              <a:t>, S</a:t>
            </a:r>
            <a:r>
              <a:rPr lang="en-US" dirty="0" err="1">
                <a:latin typeface="Arial Black" panose="020B0A04020102020204" pitchFamily="34" charset="0"/>
              </a:rPr>
              <a:t>ifat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magnetik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bahan</a:t>
            </a:r>
            <a:endParaRPr lang="id-ID" dirty="0">
              <a:latin typeface="Arial Black" panose="020B0A04020102020204" pitchFamily="34" charset="0"/>
            </a:endParaRPr>
          </a:p>
          <a:p>
            <a:pPr lvl="0" algn="l"/>
            <a:r>
              <a:rPr lang="id-ID" dirty="0">
                <a:latin typeface="Arial Black" panose="020B0A04020102020204" pitchFamily="34" charset="0"/>
              </a:rPr>
              <a:t>5. I</a:t>
            </a:r>
            <a:r>
              <a:rPr lang="en-US" dirty="0" err="1">
                <a:latin typeface="Arial Black" panose="020B0A04020102020204" pitchFamily="34" charset="0"/>
              </a:rPr>
              <a:t>mbas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elektromagnet</a:t>
            </a:r>
            <a:r>
              <a:rPr lang="id-ID" dirty="0">
                <a:latin typeface="Arial Black" panose="020B0A04020102020204" pitchFamily="34" charset="0"/>
              </a:rPr>
              <a:t> dan arus bolak balik</a:t>
            </a:r>
          </a:p>
          <a:p>
            <a:pPr lvl="0" algn="l"/>
            <a:r>
              <a:rPr lang="id-ID" dirty="0">
                <a:latin typeface="Arial Black" panose="020B0A04020102020204" pitchFamily="34" charset="0"/>
              </a:rPr>
              <a:t>6. Getaran mekanik dan getaran listrik</a:t>
            </a:r>
          </a:p>
          <a:p>
            <a:pPr lvl="0" algn="l"/>
            <a:r>
              <a:rPr lang="id-ID" dirty="0">
                <a:latin typeface="Arial Black" panose="020B0A04020102020204" pitchFamily="34" charset="0"/>
              </a:rPr>
              <a:t>7. Gejala gejala gelombang</a:t>
            </a:r>
          </a:p>
          <a:p>
            <a:pPr lvl="0" algn="l"/>
            <a:r>
              <a:rPr lang="id-ID" dirty="0">
                <a:latin typeface="Arial Black" panose="020B0A04020102020204" pitchFamily="34" charset="0"/>
              </a:rPr>
              <a:t>8. Gelombang elektromagnetik</a:t>
            </a:r>
          </a:p>
          <a:p>
            <a:pPr algn="l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9996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69220"/>
            <a:ext cx="9144000" cy="784814"/>
          </a:xfrm>
        </p:spPr>
        <p:txBody>
          <a:bodyPr>
            <a:normAutofit/>
          </a:bodyPr>
          <a:lstStyle/>
          <a:p>
            <a:r>
              <a:rPr lang="id-ID" sz="4800" dirty="0">
                <a:latin typeface="Arial Black" panose="020B0A04020102020204" pitchFamily="34" charset="0"/>
              </a:rPr>
              <a:t>Sistematika Perkuliahan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14994"/>
            <a:ext cx="9144000" cy="4693920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id-ID" sz="3200" dirty="0">
                <a:latin typeface="Arial Black" panose="020B0A04020102020204" pitchFamily="34" charset="0"/>
              </a:rPr>
              <a:t>Kuliah Tatap Muka / Dalam Jejaring</a:t>
            </a:r>
          </a:p>
          <a:p>
            <a:pPr marL="457200" indent="-457200" algn="l">
              <a:buAutoNum type="arabicPeriod"/>
            </a:pPr>
            <a:r>
              <a:rPr lang="id-ID" sz="3200" dirty="0">
                <a:latin typeface="Arial Black" panose="020B0A04020102020204" pitchFamily="34" charset="0"/>
              </a:rPr>
              <a:t>Penugasan Individu</a:t>
            </a:r>
          </a:p>
          <a:p>
            <a:pPr marL="457200" indent="-457200" algn="l">
              <a:buAutoNum type="arabicPeriod"/>
            </a:pPr>
            <a:r>
              <a:rPr lang="id-ID" sz="3200" dirty="0">
                <a:latin typeface="Arial Black" panose="020B0A04020102020204" pitchFamily="34" charset="0"/>
              </a:rPr>
              <a:t>Penugasan Kelompok</a:t>
            </a:r>
          </a:p>
          <a:p>
            <a:pPr marL="457200" indent="-457200" algn="l">
              <a:buAutoNum type="arabicPeriod"/>
            </a:pPr>
            <a:r>
              <a:rPr lang="id-ID" sz="3200" dirty="0">
                <a:latin typeface="Arial Black" panose="020B0A04020102020204" pitchFamily="34" charset="0"/>
              </a:rPr>
              <a:t>Ujian Tengah Semester</a:t>
            </a:r>
          </a:p>
          <a:p>
            <a:pPr marL="457200" indent="-457200" algn="l">
              <a:buAutoNum type="arabicPeriod"/>
            </a:pPr>
            <a:r>
              <a:rPr lang="id-ID" sz="3200" dirty="0">
                <a:latin typeface="Arial Black" panose="020B0A04020102020204" pitchFamily="34" charset="0"/>
              </a:rPr>
              <a:t>Ujian Akhir Semester</a:t>
            </a:r>
          </a:p>
          <a:p>
            <a:pPr algn="l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3782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3392"/>
            <a:ext cx="9144000" cy="941568"/>
          </a:xfrm>
        </p:spPr>
        <p:txBody>
          <a:bodyPr/>
          <a:lstStyle/>
          <a:p>
            <a:r>
              <a:rPr lang="id-ID" dirty="0">
                <a:latin typeface="Arial Black" panose="020B0A04020102020204" pitchFamily="34" charset="0"/>
              </a:rPr>
              <a:t>Sumber Bacaan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84960"/>
            <a:ext cx="9144000" cy="4685211"/>
          </a:xfrm>
        </p:spPr>
        <p:txBody>
          <a:bodyPr>
            <a:normAutofit fontScale="92500" lnSpcReduction="10000"/>
          </a:bodyPr>
          <a:lstStyle/>
          <a:p>
            <a:pPr lvl="0" algn="l"/>
            <a:r>
              <a:rPr lang="id-ID" dirty="0">
                <a:latin typeface="Arial Black" panose="020B0A04020102020204" pitchFamily="34" charset="0"/>
              </a:rPr>
              <a:t>1. </a:t>
            </a:r>
            <a:r>
              <a:rPr lang="da-DK" dirty="0">
                <a:latin typeface="Arial Black" panose="020B0A04020102020204" pitchFamily="34" charset="0"/>
              </a:rPr>
              <a:t>Edminister J., ”Schaum’s Outline of Electromagnetism”, Mc Graw Hill, 4</a:t>
            </a:r>
            <a:r>
              <a:rPr lang="da-DK" baseline="30000" dirty="0">
                <a:latin typeface="Arial Black" panose="020B0A04020102020204" pitchFamily="34" charset="0"/>
              </a:rPr>
              <a:t>th</a:t>
            </a:r>
            <a:r>
              <a:rPr lang="da-DK" dirty="0">
                <a:latin typeface="Arial Black" panose="020B0A04020102020204" pitchFamily="34" charset="0"/>
              </a:rPr>
              <a:t> ed., 2013</a:t>
            </a:r>
            <a:endParaRPr lang="id-ID" dirty="0">
              <a:latin typeface="Arial Black" panose="020B0A04020102020204" pitchFamily="34" charset="0"/>
            </a:endParaRPr>
          </a:p>
          <a:p>
            <a:pPr lvl="0" algn="l"/>
            <a:r>
              <a:rPr lang="id-ID" dirty="0">
                <a:latin typeface="Arial Black" panose="020B0A04020102020204" pitchFamily="34" charset="0"/>
              </a:rPr>
              <a:t>2. </a:t>
            </a:r>
            <a:r>
              <a:rPr lang="da-DK" dirty="0">
                <a:latin typeface="Arial Black" panose="020B0A04020102020204" pitchFamily="34" charset="0"/>
              </a:rPr>
              <a:t>Halliday D, Resnick R. Walker J., ”Fundamentals of Physics”, John Wiley, New York, 10</a:t>
            </a:r>
            <a:r>
              <a:rPr lang="da-DK" baseline="30000" dirty="0">
                <a:latin typeface="Arial Black" panose="020B0A04020102020204" pitchFamily="34" charset="0"/>
              </a:rPr>
              <a:t>th</a:t>
            </a:r>
            <a:r>
              <a:rPr lang="da-DK" dirty="0">
                <a:latin typeface="Arial Black" panose="020B0A04020102020204" pitchFamily="34" charset="0"/>
              </a:rPr>
              <a:t> ed., 2013</a:t>
            </a:r>
            <a:endParaRPr lang="id-ID" dirty="0">
              <a:latin typeface="Arial Black" panose="020B0A04020102020204" pitchFamily="34" charset="0"/>
            </a:endParaRPr>
          </a:p>
          <a:p>
            <a:pPr lvl="0" algn="l"/>
            <a:r>
              <a:rPr lang="id-ID" dirty="0">
                <a:latin typeface="Arial Black" panose="020B0A04020102020204" pitchFamily="34" charset="0"/>
              </a:rPr>
              <a:t>3. </a:t>
            </a:r>
            <a:r>
              <a:rPr lang="da-DK" dirty="0">
                <a:latin typeface="Arial Black" panose="020B0A04020102020204" pitchFamily="34" charset="0"/>
              </a:rPr>
              <a:t>Sardjito, ”Fisika Listrik Magnet Untuk Teknik Telekomunikasi”, Buku Ajar, Politeknik Negeri Bandung, 2010</a:t>
            </a:r>
            <a:endParaRPr lang="id-ID" dirty="0">
              <a:latin typeface="Arial Black" panose="020B0A04020102020204" pitchFamily="34" charset="0"/>
            </a:endParaRPr>
          </a:p>
          <a:p>
            <a:pPr lvl="0" algn="l"/>
            <a:r>
              <a:rPr lang="id-ID" dirty="0">
                <a:latin typeface="Arial Black" panose="020B0A04020102020204" pitchFamily="34" charset="0"/>
              </a:rPr>
              <a:t>4. Sardjito, “Fisika Terapan ( Getaran dan Gelombang” Untuk Teknik Telekomunikasi, Buku Ajar, Politeknik Negeri Bandung, 2010</a:t>
            </a:r>
          </a:p>
          <a:p>
            <a:pPr lvl="0" algn="l"/>
            <a:r>
              <a:rPr lang="id-ID" dirty="0">
                <a:latin typeface="Arial Black" panose="020B0A04020102020204" pitchFamily="34" charset="0"/>
              </a:rPr>
              <a:t>5. </a:t>
            </a:r>
            <a:r>
              <a:rPr lang="da-DK" dirty="0">
                <a:latin typeface="Arial Black" panose="020B0A04020102020204" pitchFamily="34" charset="0"/>
              </a:rPr>
              <a:t>Sutrisno, Tan Ik Gie, ”Fisika Dasar : Listrik – Magnet &amp; Termofisika, Penerbit ITB, 1986</a:t>
            </a:r>
            <a:endParaRPr lang="id-ID" dirty="0">
              <a:latin typeface="Arial Black" panose="020B0A04020102020204" pitchFamily="34" charset="0"/>
            </a:endParaRPr>
          </a:p>
          <a:p>
            <a:pPr lvl="0" algn="l"/>
            <a:r>
              <a:rPr lang="id-ID" dirty="0">
                <a:latin typeface="Arial Black" panose="020B0A04020102020204" pitchFamily="34" charset="0"/>
              </a:rPr>
              <a:t>6. </a:t>
            </a:r>
            <a:r>
              <a:rPr lang="da-DK" dirty="0">
                <a:latin typeface="Arial Black" panose="020B0A04020102020204" pitchFamily="34" charset="0"/>
              </a:rPr>
              <a:t>Sutrisno, Tan Ik Gie, ”Fisika Dasar : </a:t>
            </a:r>
            <a:r>
              <a:rPr lang="id-ID" dirty="0">
                <a:latin typeface="Arial Black" panose="020B0A04020102020204" pitchFamily="34" charset="0"/>
              </a:rPr>
              <a:t>Gelombang</a:t>
            </a:r>
            <a:r>
              <a:rPr lang="da-DK" dirty="0">
                <a:latin typeface="Arial Black" panose="020B0A04020102020204" pitchFamily="34" charset="0"/>
              </a:rPr>
              <a:t>, Penerbit ITB, 1986</a:t>
            </a:r>
            <a:endParaRPr lang="id-ID" dirty="0">
              <a:latin typeface="Arial Black" panose="020B0A04020102020204" pitchFamily="34" charset="0"/>
            </a:endParaRPr>
          </a:p>
          <a:p>
            <a:pPr algn="l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12428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275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Office Theme</vt:lpstr>
      <vt:lpstr>Fisika Terapan B</vt:lpstr>
      <vt:lpstr>Materi Kuliah</vt:lpstr>
      <vt:lpstr>Sistematika Perkuliahan</vt:lpstr>
      <vt:lpstr>Sumber Bacaan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Fisika Terapan</dc:title>
  <dc:creator>Sardjito</dc:creator>
  <cp:lastModifiedBy>Sardjito .</cp:lastModifiedBy>
  <cp:revision>7</cp:revision>
  <dcterms:created xsi:type="dcterms:W3CDTF">2020-09-28T16:13:29Z</dcterms:created>
  <dcterms:modified xsi:type="dcterms:W3CDTF">2025-08-16T15:22:38Z</dcterms:modified>
</cp:coreProperties>
</file>