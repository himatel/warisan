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49" r:id="rId2"/>
  </p:sldMasterIdLst>
  <p:notesMasterIdLst>
    <p:notesMasterId r:id="rId48"/>
  </p:notesMasterIdLst>
  <p:sldIdLst>
    <p:sldId id="256" r:id="rId3"/>
    <p:sldId id="266" r:id="rId4"/>
    <p:sldId id="267" r:id="rId5"/>
    <p:sldId id="300" r:id="rId6"/>
    <p:sldId id="323" r:id="rId7"/>
    <p:sldId id="302" r:id="rId8"/>
    <p:sldId id="269" r:id="rId9"/>
    <p:sldId id="303" r:id="rId10"/>
    <p:sldId id="324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325" r:id="rId26"/>
    <p:sldId id="326" r:id="rId27"/>
    <p:sldId id="298" r:id="rId28"/>
    <p:sldId id="297" r:id="rId29"/>
    <p:sldId id="284" r:id="rId30"/>
    <p:sldId id="285" r:id="rId31"/>
    <p:sldId id="286" r:id="rId32"/>
    <p:sldId id="308" r:id="rId33"/>
    <p:sldId id="301" r:id="rId34"/>
    <p:sldId id="304" r:id="rId35"/>
    <p:sldId id="305" r:id="rId36"/>
    <p:sldId id="306" r:id="rId37"/>
    <p:sldId id="307" r:id="rId38"/>
    <p:sldId id="290" r:id="rId39"/>
    <p:sldId id="292" r:id="rId40"/>
    <p:sldId id="299" r:id="rId41"/>
    <p:sldId id="309" r:id="rId42"/>
    <p:sldId id="327" r:id="rId43"/>
    <p:sldId id="328" r:id="rId44"/>
    <p:sldId id="331" r:id="rId45"/>
    <p:sldId id="329" r:id="rId46"/>
    <p:sldId id="31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4F6F4-9BAE-4FEE-A92B-1ED88DA07A54}" type="datetimeFigureOut">
              <a:rPr lang="id-ID" smtClean="0"/>
              <a:t>20/08/2024</a:t>
            </a:fld>
            <a:endParaRPr lang="id-ID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026AE-2189-46D5-8AE5-515996C5FAC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30081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0180" name="Footer Placeholder 3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>
                <a:latin typeface="Times New Roman" panose="02020603050405020304" pitchFamily="18" charset="0"/>
              </a:rPr>
              <a:t>Oleh Endi Suhendi                                Jur. Dik. Fisika FPMIPA UPI</a:t>
            </a:r>
          </a:p>
        </p:txBody>
      </p:sp>
      <p:sp>
        <p:nvSpPr>
          <p:cNvPr id="5018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DCB900-F49A-434C-BE7D-C726D6C81633}" type="slidenum">
              <a:rPr lang="en-US" sz="1200">
                <a:latin typeface="Times New Roman" panose="02020603050405020304" pitchFamily="18" charset="0"/>
              </a:rPr>
              <a:pPr eaLnBrk="1" hangingPunct="1"/>
              <a:t>43</a:t>
            </a:fld>
            <a:endParaRPr 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401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3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52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0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3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8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2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3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9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30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6936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12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57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59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31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084" y="930275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2147888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2147888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281488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2928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9285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Edmond Syah Putra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928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76156C7-6C8E-40F9-9DDC-009362A2D9AF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614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14400" y="1346948"/>
            <a:ext cx="103632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14400" y="4282764"/>
            <a:ext cx="103632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4400" y="1484779"/>
            <a:ext cx="103632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9646373" y="4107023"/>
            <a:ext cx="12192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12444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3740" y="6272786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59041" y="4227195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172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561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3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8" y="6272786"/>
            <a:ext cx="2644309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6F822A4-8DA6-4447-9B1F-C5DB58435268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1465" y="6272785"/>
            <a:ext cx="632764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45149" y="2430623"/>
            <a:ext cx="12192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600" y="2508607"/>
            <a:ext cx="1188299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468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194560"/>
            <a:ext cx="48768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24" y="2194560"/>
            <a:ext cx="48768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450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048256"/>
            <a:ext cx="48768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2743200"/>
            <a:ext cx="48768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27724" y="2048256"/>
            <a:ext cx="48768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27724" y="2743200"/>
            <a:ext cx="48768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282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77919A6-33EB-49BD-A62F-1FA56B9F971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384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4583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1" y="2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363552" y="6255258"/>
            <a:ext cx="524256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1923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1" y="2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363552" y="6255258"/>
            <a:ext cx="524256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6721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00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33400"/>
            <a:ext cx="2552700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1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34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AAAE2-3A4C-4B91-A2DD-E19DC63817D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7EFB7-8F4B-42C4-A124-673F3C549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420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4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1363552" y="6255258"/>
            <a:ext cx="524256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84632"/>
            <a:ext cx="103632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121408"/>
            <a:ext cx="103632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4" y="6272786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6272786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6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17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wmf"/><Relationship Id="rId4" Type="http://schemas.openxmlformats.org/officeDocument/2006/relationships/image" Target="../media/image28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90385" y="2196278"/>
            <a:ext cx="9972515" cy="1945365"/>
          </a:xfrm>
        </p:spPr>
        <p:txBody>
          <a:bodyPr/>
          <a:lstStyle/>
          <a:p>
            <a:pPr algn="l"/>
            <a:r>
              <a:rPr lang="en-US" dirty="0" err="1"/>
              <a:t>Fisika</a:t>
            </a:r>
            <a:r>
              <a:rPr lang="en-US" dirty="0"/>
              <a:t> </a:t>
            </a:r>
            <a:r>
              <a:rPr lang="en-US" dirty="0" err="1"/>
              <a:t>Terapan</a:t>
            </a:r>
            <a:r>
              <a:rPr lang="en-US" dirty="0"/>
              <a:t> (</a:t>
            </a:r>
            <a:r>
              <a:rPr lang="id-ID" dirty="0"/>
              <a:t>21KU1017</a:t>
            </a:r>
            <a:r>
              <a:rPr lang="en-US" dirty="0"/>
              <a:t>) :</a:t>
            </a:r>
            <a:br>
              <a:rPr lang="id-ID" dirty="0"/>
            </a:br>
            <a:r>
              <a:rPr lang="en-US" dirty="0" err="1"/>
              <a:t>Topik</a:t>
            </a:r>
            <a:r>
              <a:rPr lang="en-US" dirty="0"/>
              <a:t> 1 :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satua</a:t>
            </a:r>
            <a:r>
              <a:rPr lang="id-ID" dirty="0"/>
              <a:t>n dan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vektor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892" y="4376421"/>
            <a:ext cx="7407155" cy="1879141"/>
          </a:xfrm>
        </p:spPr>
        <p:txBody>
          <a:bodyPr/>
          <a:lstStyle/>
          <a:p>
            <a:r>
              <a:rPr lang="en-US" dirty="0" err="1">
                <a:solidFill>
                  <a:srgbClr val="FFFF00"/>
                </a:solidFill>
              </a:rPr>
              <a:t>Dosen</a:t>
            </a:r>
            <a:r>
              <a:rPr lang="en-US" dirty="0">
                <a:solidFill>
                  <a:srgbClr val="FFFF00"/>
                </a:solidFill>
              </a:rPr>
              <a:t> : </a:t>
            </a:r>
            <a:r>
              <a:rPr lang="en-US" dirty="0" err="1">
                <a:solidFill>
                  <a:srgbClr val="FFFF00"/>
                </a:solidFill>
              </a:rPr>
              <a:t>Defrianto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Pratama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S.Pd</a:t>
            </a:r>
            <a:r>
              <a:rPr lang="en-US" dirty="0">
                <a:solidFill>
                  <a:srgbClr val="FFFF00"/>
                </a:solidFill>
              </a:rPr>
              <a:t>, </a:t>
            </a:r>
            <a:r>
              <a:rPr lang="en-US" dirty="0" err="1">
                <a:solidFill>
                  <a:srgbClr val="FFFF00"/>
                </a:solidFill>
              </a:rPr>
              <a:t>M.Si</a:t>
            </a:r>
            <a:r>
              <a:rPr lang="en-US" dirty="0">
                <a:solidFill>
                  <a:srgbClr val="FFFF00"/>
                </a:solidFill>
              </a:rPr>
              <a:t>.</a:t>
            </a:r>
          </a:p>
          <a:p>
            <a:r>
              <a:rPr lang="en-US" dirty="0" err="1">
                <a:solidFill>
                  <a:srgbClr val="FFFF00"/>
                </a:solidFill>
              </a:rPr>
              <a:t>Teknik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Elektronika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Politeknik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Negeri</a:t>
            </a:r>
            <a:r>
              <a:rPr lang="en-US" dirty="0">
                <a:solidFill>
                  <a:srgbClr val="FFFF00"/>
                </a:solidFill>
              </a:rPr>
              <a:t> Bandung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002" y="4592905"/>
            <a:ext cx="2195998" cy="2184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001" y="6121008"/>
            <a:ext cx="704474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bacaan</a:t>
            </a:r>
            <a:r>
              <a:rPr lang="en-US" dirty="0"/>
              <a:t> : </a:t>
            </a:r>
            <a:r>
              <a:rPr lang="en-US" dirty="0" err="1"/>
              <a:t>Halliday</a:t>
            </a:r>
            <a:r>
              <a:rPr lang="en-US" dirty="0"/>
              <a:t> :  chapter 3, &amp; chapter 4.5, 4.6, 4.7</a:t>
            </a:r>
          </a:p>
        </p:txBody>
      </p:sp>
    </p:spTree>
    <p:extLst>
      <p:ext uri="{BB962C8B-B14F-4D97-AF65-F5344CB8AC3E}">
        <p14:creationId xmlns:p14="http://schemas.microsoft.com/office/powerpoint/2010/main" val="19789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pengukuran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063" y="1979588"/>
            <a:ext cx="4700757" cy="2297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76" y="1896133"/>
            <a:ext cx="3302724" cy="246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0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85110" y="1013113"/>
            <a:ext cx="8029439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/>
            <a:r>
              <a:rPr lang="en-US" sz="3000" dirty="0" err="1">
                <a:solidFill>
                  <a:prstClr val="black"/>
                </a:solidFill>
                <a:latin typeface="Rockwell Condensed" panose="02060603050405020104"/>
              </a:rPr>
              <a:t>Sistem</a:t>
            </a:r>
            <a:r>
              <a:rPr lang="en-US" sz="30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Rockwell Condensed" panose="02060603050405020104"/>
              </a:rPr>
              <a:t>Pengukuran</a:t>
            </a:r>
            <a:endParaRPr lang="en-US" sz="3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endParaRPr lang="en-US" sz="3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1350" b="1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b="1" dirty="0" err="1">
                <a:solidFill>
                  <a:prstClr val="black"/>
                </a:solidFill>
                <a:latin typeface="Rockwell Condensed" panose="02060603050405020104"/>
              </a:rPr>
              <a:t>Sistem</a:t>
            </a:r>
            <a:r>
              <a:rPr lang="en-US" sz="2100" b="1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b="1" dirty="0" err="1">
                <a:solidFill>
                  <a:prstClr val="black"/>
                </a:solidFill>
                <a:latin typeface="Rockwell Condensed" panose="02060603050405020104"/>
              </a:rPr>
              <a:t>Standar</a:t>
            </a:r>
            <a:endParaRPr lang="en-US" sz="2100" b="1" dirty="0">
              <a:solidFill>
                <a:prstClr val="black"/>
              </a:solidFill>
              <a:latin typeface="Rockwell Condensed" panose="02060603050405020104"/>
            </a:endParaRPr>
          </a:p>
          <a:p>
            <a:pPr marL="342900" indent="-342900" defTabSz="457200">
              <a:buFontTx/>
              <a:buChar char="-"/>
            </a:pPr>
            <a:r>
              <a:rPr lang="sv-SE" sz="2100" dirty="0">
                <a:solidFill>
                  <a:prstClr val="black"/>
                </a:solidFill>
                <a:latin typeface="Rockwell Condensed" panose="02060603050405020104"/>
              </a:rPr>
              <a:t>Disetujui oleh yang berwenang, biasanya pemerintah</a:t>
            </a:r>
          </a:p>
          <a:p>
            <a:pPr defTabSz="457200"/>
            <a:endParaRPr lang="sv-SE" sz="21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b="1" dirty="0" err="1">
                <a:solidFill>
                  <a:prstClr val="black"/>
                </a:solidFill>
                <a:latin typeface="Rockwell Condensed" panose="02060603050405020104"/>
              </a:rPr>
              <a:t>Sistem</a:t>
            </a:r>
            <a:r>
              <a:rPr lang="en-US" sz="2100" b="1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b="1" dirty="0" err="1">
                <a:solidFill>
                  <a:prstClr val="black"/>
                </a:solidFill>
                <a:latin typeface="Rockwell Condensed" panose="02060603050405020104"/>
              </a:rPr>
              <a:t>Internasional</a:t>
            </a:r>
            <a:endParaRPr lang="en-US" sz="2100" b="1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it-IT" sz="2100" dirty="0">
                <a:solidFill>
                  <a:prstClr val="black"/>
                </a:solidFill>
                <a:latin typeface="Rockwell Condensed" panose="02060603050405020104"/>
              </a:rPr>
              <a:t>- Disepakati oleh komite internasional pada tahun 1960</a:t>
            </a:r>
          </a:p>
          <a:p>
            <a:pPr defTabSz="457200"/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-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Dinamakan</a:t>
            </a:r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juga</a:t>
            </a:r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mks</a:t>
            </a:r>
            <a:endParaRPr lang="en-US" sz="2100" dirty="0">
              <a:solidFill>
                <a:prstClr val="black"/>
              </a:solidFill>
              <a:latin typeface="Rockwell Condensed" panose="02060603050405020104"/>
            </a:endParaRPr>
          </a:p>
          <a:p>
            <a:pPr marL="342900" indent="-342900" defTabSz="457200">
              <a:buFontTx/>
              <a:buChar char="-"/>
            </a:pP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Digunakan</a:t>
            </a:r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dalam</a:t>
            </a:r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kuliah</a:t>
            </a:r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ini</a:t>
            </a:r>
            <a:endParaRPr lang="en-US" sz="21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b="1" dirty="0" err="1">
                <a:solidFill>
                  <a:prstClr val="black"/>
                </a:solidFill>
                <a:latin typeface="Rockwell Condensed" panose="02060603050405020104"/>
              </a:rPr>
              <a:t>Sistem</a:t>
            </a:r>
            <a:r>
              <a:rPr lang="en-US" sz="2100" b="1" dirty="0">
                <a:solidFill>
                  <a:prstClr val="black"/>
                </a:solidFill>
                <a:latin typeface="Rockwell Condensed" panose="02060603050405020104"/>
              </a:rPr>
              <a:t> Gaussian</a:t>
            </a:r>
          </a:p>
          <a:p>
            <a:pPr marL="342900" indent="-342900" defTabSz="457200">
              <a:buFontTx/>
              <a:buChar char="-"/>
            </a:pP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Dinamakan</a:t>
            </a:r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cgs</a:t>
            </a:r>
            <a:endParaRPr lang="en-US" sz="21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2100" b="1" dirty="0" err="1">
                <a:solidFill>
                  <a:prstClr val="black"/>
                </a:solidFill>
                <a:latin typeface="Rockwell Condensed" panose="02060603050405020104"/>
              </a:rPr>
              <a:t>Kebiasaan</a:t>
            </a:r>
            <a:r>
              <a:rPr lang="en-US" sz="2100" b="1" dirty="0">
                <a:solidFill>
                  <a:prstClr val="black"/>
                </a:solidFill>
                <a:latin typeface="Rockwell Condensed" panose="02060603050405020104"/>
              </a:rPr>
              <a:t> di USA &amp; UK</a:t>
            </a:r>
          </a:p>
          <a:p>
            <a:pPr defTabSz="457200"/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-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inci</a:t>
            </a:r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(inches), kaki (foot), mil (miles),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pon</a:t>
            </a:r>
            <a:r>
              <a:rPr lang="en-US" sz="2100" dirty="0">
                <a:solidFill>
                  <a:prstClr val="black"/>
                </a:solidFill>
                <a:latin typeface="Rockwell Condensed" panose="02060603050405020104"/>
              </a:rPr>
              <a:t> (pounds/slugs), </a:t>
            </a:r>
            <a:r>
              <a:rPr lang="en-US" sz="2100" dirty="0" err="1">
                <a:solidFill>
                  <a:prstClr val="black"/>
                </a:solidFill>
                <a:latin typeface="Rockwell Condensed" panose="02060603050405020104"/>
              </a:rPr>
              <a:t>dll</a:t>
            </a:r>
            <a:endParaRPr lang="en-US" sz="2100" dirty="0">
              <a:solidFill>
                <a:prstClr val="black"/>
              </a:solidFill>
              <a:latin typeface="Rockwell Condensed" panose="02060603050405020104"/>
            </a:endParaRPr>
          </a:p>
        </p:txBody>
      </p:sp>
    </p:spTree>
    <p:extLst>
      <p:ext uri="{BB962C8B-B14F-4D97-AF65-F5344CB8AC3E}">
        <p14:creationId xmlns:p14="http://schemas.microsoft.com/office/powerpoint/2010/main" val="133785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pokok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2374" t="45366" r="22978" b="11531"/>
          <a:stretch/>
        </p:blipFill>
        <p:spPr>
          <a:xfrm>
            <a:off x="1826652" y="2093976"/>
            <a:ext cx="8538697" cy="378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95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beSARAN</a:t>
            </a:r>
            <a:r>
              <a:rPr lang="en-US" dirty="0"/>
              <a:t> POKOK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064" t="21986" r="39396" b="27953"/>
          <a:stretch/>
        </p:blipFill>
        <p:spPr>
          <a:xfrm>
            <a:off x="2209801" y="1639614"/>
            <a:ext cx="6810703" cy="443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3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turunan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8498" y="1970690"/>
            <a:ext cx="7953703" cy="17657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fisika</a:t>
            </a:r>
            <a:r>
              <a:rPr lang="en-US" dirty="0"/>
              <a:t>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tujuh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pokok</a:t>
            </a:r>
            <a:r>
              <a:rPr lang="en-US" dirty="0"/>
              <a:t>  </a:t>
            </a:r>
            <a:r>
              <a:rPr lang="fi-FI" dirty="0"/>
              <a:t>dinamakan </a:t>
            </a:r>
            <a:r>
              <a:rPr lang="fi-FI" b="1" dirty="0"/>
              <a:t>besaran turunan</a:t>
            </a:r>
            <a:r>
              <a:rPr lang="fi-FI" dirty="0"/>
              <a:t>. Semua besaran turunan merupakan kombinasi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besaran-besaran</a:t>
            </a:r>
            <a:r>
              <a:rPr lang="en-US" dirty="0"/>
              <a:t> </a:t>
            </a:r>
            <a:r>
              <a:rPr lang="en-US" dirty="0" err="1"/>
              <a:t>pokok</a:t>
            </a:r>
            <a:r>
              <a:rPr lang="en-US" dirty="0"/>
              <a:t>.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fisika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dikatakan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fisika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turunan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: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Daya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9694" t="39978" r="21646" b="56142"/>
          <a:stretch/>
        </p:blipFill>
        <p:spPr>
          <a:xfrm>
            <a:off x="3033081" y="4389908"/>
            <a:ext cx="5025727" cy="58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3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799" y="1"/>
            <a:ext cx="6597870" cy="938553"/>
          </a:xfrm>
        </p:spPr>
        <p:txBody>
          <a:bodyPr/>
          <a:lstStyle/>
          <a:p>
            <a:pPr algn="ctr"/>
            <a:r>
              <a:rPr lang="en-US" b="1" dirty="0" err="1"/>
              <a:t>Panjang</a:t>
            </a:r>
            <a:r>
              <a:rPr lang="en-US" b="1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653818" y="712077"/>
            <a:ext cx="8569493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buFont typeface="Wingdings" panose="05000000000000000000" pitchFamily="2" charset="2"/>
              <a:buChar char="Ø"/>
            </a:pPr>
            <a:r>
              <a:rPr lang="en-US" sz="2400" b="1" dirty="0" err="1">
                <a:solidFill>
                  <a:prstClr val="black"/>
                </a:solidFill>
                <a:latin typeface="Rockwell" panose="02060603020205020403"/>
              </a:rPr>
              <a:t>Satuan</a:t>
            </a:r>
            <a:endParaRPr lang="en-US" sz="2400" b="1" dirty="0">
              <a:solidFill>
                <a:prstClr val="black"/>
              </a:solidFill>
              <a:latin typeface="Rockwell" panose="02060603020205020403"/>
            </a:endParaRPr>
          </a:p>
          <a:p>
            <a:pPr defTabSz="457200"/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- SI : meter (m), 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cgs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: centimeter (cm), USA &amp; UK : foot (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ft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)</a:t>
            </a:r>
          </a:p>
          <a:p>
            <a:pPr marL="342900" indent="-342900" algn="just" defTabSz="45720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Mula-mula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satu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meter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didefinisikan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berdasarkan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keliling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bumi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.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Ditetapkan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bahwa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keliling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garis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bujur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bumi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yang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melalui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kota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Paris,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Prancis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fi-FI" sz="2400" dirty="0">
                <a:solidFill>
                  <a:prstClr val="black"/>
                </a:solidFill>
                <a:latin typeface="Rockwell" panose="02060603020205020403"/>
              </a:rPr>
              <a:t>ditetapkan memiliki panjang 40.000.000 m, 1 meter =1/40.000.000 keliling garis bumi yang melalui kota paris.</a:t>
            </a:r>
          </a:p>
          <a:p>
            <a:pPr marL="342900" indent="-342900" defTabSz="45720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Pada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akhir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abad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ke-19,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panjang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satu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meter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didefinisikan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ulang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.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Panjang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satu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meter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ditetapkan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sama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dengan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jarak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dua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garisan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pada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batang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campuran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logam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platina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iridium yang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tersimpan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di </a:t>
            </a:r>
            <a:r>
              <a:rPr lang="en-US" sz="2400" i="1" dirty="0">
                <a:solidFill>
                  <a:prstClr val="black"/>
                </a:solidFill>
                <a:latin typeface="Rockwell" panose="02060603020205020403"/>
              </a:rPr>
              <a:t>International Bureau of Weight and </a:t>
            </a:r>
            <a:r>
              <a:rPr lang="fr-FR" sz="2400" i="1" dirty="0" err="1">
                <a:solidFill>
                  <a:prstClr val="black"/>
                </a:solidFill>
                <a:latin typeface="Rockwell" panose="02060603020205020403"/>
              </a:rPr>
              <a:t>Measures</a:t>
            </a:r>
            <a:r>
              <a:rPr lang="fr-FR" sz="2400" i="1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Rockwell" panose="02060603020205020403"/>
              </a:rPr>
              <a:t>di kota </a:t>
            </a:r>
            <a:r>
              <a:rPr lang="fr-FR" sz="2400" dirty="0" err="1">
                <a:solidFill>
                  <a:prstClr val="black"/>
                </a:solidFill>
                <a:latin typeface="Rockwell" panose="02060603020205020403"/>
              </a:rPr>
              <a:t>Sevres</a:t>
            </a:r>
            <a:r>
              <a:rPr lang="fr-FR" sz="2400" dirty="0">
                <a:solidFill>
                  <a:prstClr val="black"/>
                </a:solidFill>
                <a:latin typeface="Rockwell" panose="02060603020205020403"/>
              </a:rPr>
              <a:t>, </a:t>
            </a:r>
            <a:r>
              <a:rPr lang="fr-FR" sz="2400" dirty="0" err="1">
                <a:solidFill>
                  <a:prstClr val="black"/>
                </a:solidFill>
                <a:latin typeface="Rockwell" panose="02060603020205020403"/>
              </a:rPr>
              <a:t>Prancis</a:t>
            </a:r>
            <a:endParaRPr lang="en-US" sz="2400" dirty="0">
              <a:solidFill>
                <a:prstClr val="black"/>
              </a:solidFill>
              <a:latin typeface="Rockwell" panose="02060603020205020403"/>
            </a:endParaRPr>
          </a:p>
          <a:p>
            <a:pPr marL="342900" indent="-342900" defTabSz="457200">
              <a:buFont typeface="Wingdings" panose="05000000000000000000" pitchFamily="2" charset="2"/>
              <a:buChar char="Ø"/>
            </a:pPr>
            <a:r>
              <a:rPr lang="nb-NO" sz="2400" dirty="0">
                <a:solidFill>
                  <a:prstClr val="black"/>
                </a:solidFill>
                <a:latin typeface="Rockwell" panose="02060603020205020403"/>
              </a:rPr>
              <a:t>Semenjak tahun 1983-sekarang : Satu meter didefinisikan sebagai jarak yang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ditempuh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cahaya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dalam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vakum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selama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selang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waktu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1/299 792 458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sekon</a:t>
            </a:r>
            <a:endParaRPr lang="en-US" sz="2400" dirty="0">
              <a:solidFill>
                <a:prstClr val="black"/>
              </a:solidFill>
              <a:latin typeface="Rockwell" panose="02060603020205020403"/>
            </a:endParaRPr>
          </a:p>
          <a:p>
            <a:pPr marL="342900" indent="-342900" defTabSz="45720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Berapa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Laju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cahaya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dalam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Rockwell" panose="02060603020205020403"/>
              </a:rPr>
              <a:t>vakum</a:t>
            </a:r>
            <a:r>
              <a:rPr lang="en-US" sz="2400" dirty="0">
                <a:solidFill>
                  <a:prstClr val="black"/>
                </a:solidFill>
                <a:latin typeface="Rockwell" panose="02060603020205020403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9179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61090"/>
            <a:ext cx="3122229" cy="313794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09799" y="1"/>
            <a:ext cx="6597870" cy="938553"/>
          </a:xfrm>
        </p:spPr>
        <p:txBody>
          <a:bodyPr/>
          <a:lstStyle/>
          <a:p>
            <a:pPr algn="ctr"/>
            <a:r>
              <a:rPr lang="en-US" b="1" dirty="0" err="1"/>
              <a:t>Sejarah</a:t>
            </a:r>
            <a:r>
              <a:rPr lang="en-US" b="1" dirty="0"/>
              <a:t> </a:t>
            </a:r>
            <a:r>
              <a:rPr lang="en-US" b="1" dirty="0" err="1"/>
              <a:t>definisi</a:t>
            </a:r>
            <a:r>
              <a:rPr lang="en-US" b="1" dirty="0"/>
              <a:t> 1 meter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305" y="961090"/>
            <a:ext cx="4187479" cy="27532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533" y="4297532"/>
            <a:ext cx="3475021" cy="2316681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5332028" y="1986455"/>
            <a:ext cx="564276" cy="5436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Rockwell" panose="02060603020205020403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7782911" y="3736892"/>
            <a:ext cx="646387" cy="5197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Rockwell" panose="02060603020205020403"/>
            </a:endParaRPr>
          </a:p>
        </p:txBody>
      </p:sp>
    </p:spTree>
    <p:extLst>
      <p:ext uri="{BB962C8B-B14F-4D97-AF65-F5344CB8AC3E}">
        <p14:creationId xmlns:p14="http://schemas.microsoft.com/office/powerpoint/2010/main" val="285534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366706"/>
            <a:ext cx="7772400" cy="1609344"/>
          </a:xfrm>
        </p:spPr>
        <p:txBody>
          <a:bodyPr/>
          <a:lstStyle/>
          <a:p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panjang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801" y="971738"/>
            <a:ext cx="3265215" cy="23547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3527" t="21013" r="36673" b="11099"/>
          <a:stretch/>
        </p:blipFill>
        <p:spPr>
          <a:xfrm>
            <a:off x="5436474" y="971738"/>
            <a:ext cx="4430070" cy="33953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23222" t="49892" r="31582" b="16272"/>
          <a:stretch/>
        </p:blipFill>
        <p:spPr>
          <a:xfrm>
            <a:off x="1787207" y="4664968"/>
            <a:ext cx="3386808" cy="142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19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418960"/>
            <a:ext cx="7886700" cy="994172"/>
          </a:xfrm>
        </p:spPr>
        <p:txBody>
          <a:bodyPr/>
          <a:lstStyle/>
          <a:p>
            <a:pPr algn="ctr"/>
            <a:r>
              <a:rPr lang="en-US" b="1" dirty="0" err="1"/>
              <a:t>Panjang</a:t>
            </a:r>
            <a:r>
              <a:rPr lang="en-US" b="1" dirty="0"/>
              <a:t> (</a:t>
            </a:r>
            <a:r>
              <a:rPr lang="en-US" b="1" dirty="0" err="1"/>
              <a:t>Lanjutan</a:t>
            </a:r>
            <a:r>
              <a:rPr lang="en-US" b="1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3595" y="1391797"/>
            <a:ext cx="7799474" cy="4632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500" b="1" dirty="0" err="1">
                <a:solidFill>
                  <a:prstClr val="black"/>
                </a:solidFill>
                <a:latin typeface="Rockwell Condensed" panose="02060603050405020104"/>
              </a:rPr>
              <a:t>Jarak</a:t>
            </a:r>
            <a:r>
              <a:rPr lang="en-US" sz="1500" b="1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1500" b="1" dirty="0" err="1">
                <a:solidFill>
                  <a:prstClr val="black"/>
                </a:solidFill>
                <a:latin typeface="Rockwell Condensed" panose="02060603050405020104"/>
              </a:rPr>
              <a:t>Panjang</a:t>
            </a:r>
            <a:r>
              <a:rPr lang="en-US" sz="1500" b="1" dirty="0">
                <a:solidFill>
                  <a:prstClr val="black"/>
                </a:solidFill>
                <a:latin typeface="Rockwell Condensed" panose="02060603050405020104"/>
              </a:rPr>
              <a:t> 						(m)</a:t>
            </a:r>
          </a:p>
          <a:p>
            <a:pPr defTabSz="457200"/>
            <a:endParaRPr lang="en-US" sz="15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pt-BR" sz="1500" dirty="0">
                <a:solidFill>
                  <a:prstClr val="black"/>
                </a:solidFill>
                <a:latin typeface="Rockwell Condensed" panose="02060603050405020104"/>
              </a:rPr>
              <a:t>Radius alam semesta teramati 				1 x 10</a:t>
            </a:r>
            <a:r>
              <a:rPr lang="pt-BR" sz="1500" baseline="30000" dirty="0">
                <a:solidFill>
                  <a:prstClr val="black"/>
                </a:solidFill>
                <a:latin typeface="Rockwell Condensed" panose="02060603050405020104"/>
              </a:rPr>
              <a:t>26</a:t>
            </a:r>
          </a:p>
          <a:p>
            <a:pPr defTabSz="457200"/>
            <a:endParaRPr lang="pt-BR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sv-SE" sz="1500" dirty="0">
                <a:solidFill>
                  <a:prstClr val="black"/>
                </a:solidFill>
                <a:latin typeface="Rockwell Condensed" panose="02060603050405020104"/>
              </a:rPr>
              <a:t>Ke galaksi Andromeda 					2 x 10</a:t>
            </a:r>
            <a:r>
              <a:rPr lang="sv-SE" sz="1500" baseline="30000" dirty="0">
                <a:solidFill>
                  <a:prstClr val="black"/>
                </a:solidFill>
                <a:latin typeface="Rockwell Condensed" panose="02060603050405020104"/>
              </a:rPr>
              <a:t>22</a:t>
            </a:r>
          </a:p>
          <a:p>
            <a:pPr defTabSz="457200"/>
            <a:endParaRPr lang="sv-SE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Ke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bintang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terdekat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						 4 x 10</a:t>
            </a:r>
            <a:r>
              <a:rPr lang="en-US" sz="1500" baseline="30000" dirty="0">
                <a:solidFill>
                  <a:prstClr val="black"/>
                </a:solidFill>
                <a:latin typeface="Rockwell Condensed" panose="02060603050405020104"/>
              </a:rPr>
              <a:t>16</a:t>
            </a:r>
          </a:p>
          <a:p>
            <a:pPr defTabSz="457200"/>
            <a:endParaRPr lang="en-US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it-IT" sz="1500" dirty="0">
                <a:solidFill>
                  <a:prstClr val="black"/>
                </a:solidFill>
                <a:latin typeface="Rockwell Condensed" panose="02060603050405020104"/>
              </a:rPr>
              <a:t>Bumi – Matahari						 1.5 x 10</a:t>
            </a:r>
            <a:r>
              <a:rPr lang="it-IT" sz="1500" baseline="30000" dirty="0">
                <a:solidFill>
                  <a:prstClr val="black"/>
                </a:solidFill>
                <a:latin typeface="Rockwell Condensed" panose="02060603050405020104"/>
              </a:rPr>
              <a:t>11</a:t>
            </a:r>
          </a:p>
          <a:p>
            <a:pPr defTabSz="457200"/>
            <a:endParaRPr lang="it-IT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Radius </a:t>
            </a:r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Bumi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							6.4 x 10</a:t>
            </a:r>
            <a:r>
              <a:rPr lang="en-US" sz="1500" baseline="30000" dirty="0">
                <a:solidFill>
                  <a:prstClr val="black"/>
                </a:solidFill>
                <a:latin typeface="Rockwell Condensed" panose="02060603050405020104"/>
              </a:rPr>
              <a:t>6</a:t>
            </a:r>
          </a:p>
          <a:p>
            <a:pPr defTabSz="457200"/>
            <a:endParaRPr lang="en-US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Lapangan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Sepakbola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 						1.0 x 10</a:t>
            </a:r>
            <a:r>
              <a:rPr lang="en-US" sz="1500" baseline="30000" dirty="0">
                <a:solidFill>
                  <a:prstClr val="black"/>
                </a:solidFill>
                <a:latin typeface="Rockwell Condensed" panose="02060603050405020104"/>
              </a:rPr>
              <a:t>2</a:t>
            </a:r>
          </a:p>
          <a:p>
            <a:pPr defTabSz="457200"/>
            <a:endParaRPr lang="en-US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it-IT" sz="1500" dirty="0">
                <a:solidFill>
                  <a:prstClr val="black"/>
                </a:solidFill>
                <a:latin typeface="Rockwell Condensed" panose="02060603050405020104"/>
              </a:rPr>
              <a:t>Tinggi Orang 							2 x 10</a:t>
            </a:r>
            <a:r>
              <a:rPr lang="it-IT" sz="1500" baseline="30000" dirty="0">
                <a:solidFill>
                  <a:prstClr val="black"/>
                </a:solidFill>
                <a:latin typeface="Rockwell Condensed" panose="02060603050405020104"/>
              </a:rPr>
              <a:t>0</a:t>
            </a:r>
          </a:p>
          <a:p>
            <a:pPr defTabSz="457200"/>
            <a:endParaRPr lang="it-IT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fi-FI" sz="1500" dirty="0">
                <a:solidFill>
                  <a:prstClr val="black"/>
                </a:solidFill>
                <a:latin typeface="Rockwell Condensed" panose="02060603050405020104"/>
              </a:rPr>
              <a:t>Ketebalan kertas						1 x 10</a:t>
            </a:r>
            <a:r>
              <a:rPr lang="fi-FI" sz="1500" baseline="30000" dirty="0">
                <a:solidFill>
                  <a:prstClr val="black"/>
                </a:solidFill>
                <a:latin typeface="Rockwell Condensed" panose="02060603050405020104"/>
              </a:rPr>
              <a:t>-4</a:t>
            </a:r>
          </a:p>
          <a:p>
            <a:pPr defTabSz="457200"/>
            <a:endParaRPr lang="fi-FI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Panjang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gelombang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cahaya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Rockwell Condensed" panose="02060603050405020104"/>
              </a:rPr>
              <a:t>biru</a:t>
            </a:r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 				4 x 10</a:t>
            </a:r>
            <a:r>
              <a:rPr lang="en-US" sz="1500" baseline="30000" dirty="0">
                <a:solidFill>
                  <a:prstClr val="black"/>
                </a:solidFill>
                <a:latin typeface="Rockwell Condensed" panose="02060603050405020104"/>
              </a:rPr>
              <a:t>-7</a:t>
            </a:r>
          </a:p>
          <a:p>
            <a:pPr defTabSz="457200"/>
            <a:endParaRPr lang="en-US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sv-SE" sz="1500" dirty="0">
                <a:solidFill>
                  <a:prstClr val="black"/>
                </a:solidFill>
                <a:latin typeface="Rockwell Condensed" panose="02060603050405020104"/>
              </a:rPr>
              <a:t>Diameter atom hidrogen 					1 x 10</a:t>
            </a:r>
            <a:r>
              <a:rPr lang="sv-SE" sz="1500" baseline="30000" dirty="0">
                <a:solidFill>
                  <a:prstClr val="black"/>
                </a:solidFill>
                <a:latin typeface="Rockwell Condensed" panose="02060603050405020104"/>
              </a:rPr>
              <a:t>-10</a:t>
            </a:r>
          </a:p>
          <a:p>
            <a:pPr defTabSz="457200"/>
            <a:endParaRPr lang="sv-SE" sz="1500" baseline="30000" dirty="0">
              <a:solidFill>
                <a:prstClr val="black"/>
              </a:solidFill>
              <a:latin typeface="Rockwell Condensed" panose="02060603050405020104"/>
            </a:endParaRPr>
          </a:p>
          <a:p>
            <a:pPr defTabSz="457200"/>
            <a:r>
              <a:rPr lang="en-US" sz="1500" dirty="0">
                <a:solidFill>
                  <a:prstClr val="black"/>
                </a:solidFill>
                <a:latin typeface="Rockwell Condensed" panose="02060603050405020104"/>
              </a:rPr>
              <a:t>Diameter proton 						1 x 10</a:t>
            </a:r>
            <a:r>
              <a:rPr lang="en-US" sz="1500" baseline="30000" dirty="0">
                <a:solidFill>
                  <a:prstClr val="black"/>
                </a:solidFill>
                <a:latin typeface="Rockwell Condensed" panose="02060603050405020104"/>
              </a:rPr>
              <a:t>-15</a:t>
            </a:r>
          </a:p>
        </p:txBody>
      </p:sp>
    </p:spTree>
    <p:extLst>
      <p:ext uri="{BB962C8B-B14F-4D97-AF65-F5344CB8AC3E}">
        <p14:creationId xmlns:p14="http://schemas.microsoft.com/office/powerpoint/2010/main" val="1135154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0063" y="1940092"/>
            <a:ext cx="5633474" cy="3735806"/>
          </a:xfrm>
        </p:spPr>
        <p:txBody>
          <a:bodyPr>
            <a:normAutofit/>
          </a:bodyPr>
          <a:lstStyle/>
          <a:p>
            <a:r>
              <a:rPr lang="en-US" sz="1800" dirty="0" err="1"/>
              <a:t>Satuan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- SI : kilogram (kg)</a:t>
            </a:r>
          </a:p>
          <a:p>
            <a:pPr marL="0" indent="0">
              <a:buNone/>
            </a:pPr>
            <a:r>
              <a:rPr lang="en-US" sz="1800" dirty="0"/>
              <a:t>- </a:t>
            </a:r>
            <a:r>
              <a:rPr lang="en-US" sz="1800" dirty="0" err="1"/>
              <a:t>cgs</a:t>
            </a:r>
            <a:r>
              <a:rPr lang="en-US" sz="1800" dirty="0"/>
              <a:t> : gram (g)</a:t>
            </a:r>
          </a:p>
          <a:p>
            <a:pPr marL="0" indent="0">
              <a:buNone/>
            </a:pPr>
            <a:r>
              <a:rPr lang="en-US" sz="1800" dirty="0"/>
              <a:t>- USA &amp; UK : </a:t>
            </a:r>
            <a:r>
              <a:rPr lang="en-US" sz="1800" dirty="0" err="1"/>
              <a:t>pon</a:t>
            </a:r>
            <a:r>
              <a:rPr lang="en-US" sz="1800" dirty="0"/>
              <a:t>, slugs</a:t>
            </a:r>
          </a:p>
          <a:p>
            <a:r>
              <a:rPr lang="en-US" sz="1800" dirty="0"/>
              <a:t> </a:t>
            </a:r>
            <a:r>
              <a:rPr lang="en-US" sz="1800" dirty="0" err="1"/>
              <a:t>Satu</a:t>
            </a:r>
            <a:r>
              <a:rPr lang="en-US" sz="1800" dirty="0"/>
              <a:t> kilogram </a:t>
            </a:r>
            <a:r>
              <a:rPr lang="en-US" sz="1800" dirty="0" err="1"/>
              <a:t>didefinisikan</a:t>
            </a:r>
            <a:r>
              <a:rPr lang="en-US" sz="1800" dirty="0"/>
              <a:t>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massa</a:t>
            </a:r>
            <a:r>
              <a:rPr lang="en-US" sz="1800" dirty="0"/>
              <a:t> </a:t>
            </a:r>
            <a:r>
              <a:rPr lang="en-US" sz="1800" dirty="0" err="1"/>
              <a:t>silinder</a:t>
            </a:r>
            <a:r>
              <a:rPr lang="en-US" sz="1800" dirty="0"/>
              <a:t> </a:t>
            </a:r>
            <a:r>
              <a:rPr lang="en-US" sz="1800" dirty="0" err="1"/>
              <a:t>campuran</a:t>
            </a:r>
            <a:r>
              <a:rPr lang="en-US" sz="1800" dirty="0"/>
              <a:t> platinum iridium </a:t>
            </a:r>
            <a:r>
              <a:rPr lang="en-US" sz="1800" dirty="0" err="1"/>
              <a:t>khusus</a:t>
            </a:r>
            <a:r>
              <a:rPr lang="en-US" sz="1800" dirty="0"/>
              <a:t> yang </a:t>
            </a:r>
            <a:r>
              <a:rPr lang="en-US" sz="1800" dirty="0" err="1"/>
              <a:t>dijaga</a:t>
            </a:r>
            <a:r>
              <a:rPr lang="en-US" sz="1800" dirty="0"/>
              <a:t> </a:t>
            </a:r>
            <a:r>
              <a:rPr lang="en-US" sz="1800" dirty="0" err="1"/>
              <a:t>tetap</a:t>
            </a:r>
            <a:r>
              <a:rPr lang="en-US" sz="1800" dirty="0"/>
              <a:t> di </a:t>
            </a:r>
            <a:r>
              <a:rPr lang="en-US" sz="1800" dirty="0" err="1"/>
              <a:t>badan</a:t>
            </a:r>
            <a:r>
              <a:rPr lang="en-US" sz="1800" dirty="0"/>
              <a:t> </a:t>
            </a:r>
            <a:r>
              <a:rPr lang="en-US" sz="1800" dirty="0" err="1"/>
              <a:t>pengukuran</a:t>
            </a:r>
            <a:r>
              <a:rPr lang="en-US" sz="1800" dirty="0"/>
              <a:t> </a:t>
            </a:r>
            <a:r>
              <a:rPr lang="en-US" sz="1800" dirty="0" err="1"/>
              <a:t>internasional</a:t>
            </a:r>
            <a:r>
              <a:rPr lang="en-US" sz="1800" dirty="0"/>
              <a:t> Sevres </a:t>
            </a:r>
            <a:r>
              <a:rPr lang="en-US" sz="1800" dirty="0" err="1"/>
              <a:t>Prancis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59926" t="36677" r="21395" b="10362"/>
          <a:stretch/>
        </p:blipFill>
        <p:spPr>
          <a:xfrm>
            <a:off x="8087566" y="1940094"/>
            <a:ext cx="2346158" cy="37399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01" y="4646945"/>
            <a:ext cx="1829201" cy="205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95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1622" y="299545"/>
            <a:ext cx="6608654" cy="56913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 err="1"/>
              <a:t>Objek</a:t>
            </a:r>
            <a:r>
              <a:rPr lang="en-US" sz="1600" b="1" dirty="0"/>
              <a:t> Massa </a:t>
            </a:r>
            <a:r>
              <a:rPr lang="en-US" sz="1600" dirty="0"/>
              <a:t>											</a:t>
            </a:r>
            <a:r>
              <a:rPr lang="en-US" sz="1600" b="1" dirty="0"/>
              <a:t>(kg)</a:t>
            </a:r>
          </a:p>
          <a:p>
            <a:r>
              <a:rPr lang="en-US" sz="1600" dirty="0" err="1"/>
              <a:t>Alam</a:t>
            </a:r>
            <a:r>
              <a:rPr lang="en-US" sz="1600" dirty="0"/>
              <a:t> </a:t>
            </a:r>
            <a:r>
              <a:rPr lang="en-US" sz="1600" dirty="0" err="1"/>
              <a:t>semesta</a:t>
            </a:r>
            <a:r>
              <a:rPr lang="en-US" sz="1600" dirty="0"/>
              <a:t> </a:t>
            </a:r>
            <a:r>
              <a:rPr lang="en-US" sz="1600" dirty="0" err="1"/>
              <a:t>teramati</a:t>
            </a:r>
            <a:r>
              <a:rPr lang="en-US" sz="1600" dirty="0"/>
              <a:t> 			~ 10</a:t>
            </a:r>
            <a:r>
              <a:rPr lang="en-US" sz="1600" baseline="30000" dirty="0"/>
              <a:t>52</a:t>
            </a:r>
          </a:p>
          <a:p>
            <a:r>
              <a:rPr lang="en-US" sz="1600" dirty="0" err="1"/>
              <a:t>Galaksi</a:t>
            </a:r>
            <a:r>
              <a:rPr lang="en-US" sz="1600" dirty="0"/>
              <a:t> Milky Way 			7 x 10</a:t>
            </a:r>
            <a:r>
              <a:rPr lang="en-US" sz="1600" baseline="30000" dirty="0"/>
              <a:t>41</a:t>
            </a:r>
          </a:p>
          <a:p>
            <a:r>
              <a:rPr lang="en-US" sz="1600" dirty="0" err="1"/>
              <a:t>Matahari</a:t>
            </a:r>
            <a:r>
              <a:rPr lang="en-US" sz="1600" dirty="0"/>
              <a:t> 											2 x 10</a:t>
            </a:r>
            <a:r>
              <a:rPr lang="en-US" sz="1600" baseline="30000" dirty="0"/>
              <a:t>30</a:t>
            </a:r>
          </a:p>
          <a:p>
            <a:r>
              <a:rPr lang="en-US" sz="1600" dirty="0" err="1"/>
              <a:t>Bumi</a:t>
            </a:r>
            <a:r>
              <a:rPr lang="en-US" sz="1600" dirty="0"/>
              <a:t> 												6 x 10</a:t>
            </a:r>
            <a:r>
              <a:rPr lang="en-US" sz="1600" baseline="30000" dirty="0"/>
              <a:t>24</a:t>
            </a:r>
          </a:p>
          <a:p>
            <a:r>
              <a:rPr lang="en-US" sz="1600" dirty="0"/>
              <a:t>Boeing 747 											4 x 10</a:t>
            </a:r>
            <a:r>
              <a:rPr lang="en-US" sz="1600" baseline="30000" dirty="0"/>
              <a:t>5</a:t>
            </a:r>
          </a:p>
          <a:p>
            <a:r>
              <a:rPr lang="en-US" sz="1600" dirty="0"/>
              <a:t>Mobil 												1 x 10</a:t>
            </a:r>
            <a:r>
              <a:rPr lang="en-US" sz="1600" baseline="30000" dirty="0"/>
              <a:t>3</a:t>
            </a:r>
          </a:p>
          <a:p>
            <a:r>
              <a:rPr lang="en-US" sz="1600" dirty="0" err="1"/>
              <a:t>Mahasiswa</a:t>
            </a:r>
            <a:r>
              <a:rPr lang="en-US" sz="1600" dirty="0"/>
              <a:t> 											7 x 10</a:t>
            </a:r>
            <a:r>
              <a:rPr lang="en-US" sz="1600" baseline="30000" dirty="0"/>
              <a:t>1</a:t>
            </a:r>
          </a:p>
          <a:p>
            <a:r>
              <a:rPr lang="en-US" sz="1600" dirty="0" err="1"/>
              <a:t>Partikel</a:t>
            </a:r>
            <a:r>
              <a:rPr lang="en-US" sz="1600" dirty="0"/>
              <a:t> </a:t>
            </a:r>
            <a:r>
              <a:rPr lang="en-US" sz="1600" dirty="0" err="1"/>
              <a:t>debu</a:t>
            </a:r>
            <a:r>
              <a:rPr lang="en-US" sz="1600" dirty="0"/>
              <a:t>											1 x 10</a:t>
            </a:r>
            <a:r>
              <a:rPr lang="en-US" sz="1600" baseline="30000" dirty="0"/>
              <a:t>-9</a:t>
            </a:r>
          </a:p>
          <a:p>
            <a:r>
              <a:rPr lang="en-US" sz="1600" dirty="0" err="1"/>
              <a:t>Bakteri</a:t>
            </a:r>
            <a:r>
              <a:rPr lang="en-US" sz="1600" dirty="0"/>
              <a:t> 												1 x 10</a:t>
            </a:r>
            <a:r>
              <a:rPr lang="en-US" sz="1600" baseline="30000" dirty="0"/>
              <a:t>-15</a:t>
            </a:r>
          </a:p>
          <a:p>
            <a:r>
              <a:rPr lang="en-US" sz="1600" dirty="0"/>
              <a:t>Proton												 2 x 10</a:t>
            </a:r>
            <a:r>
              <a:rPr lang="en-US" sz="1600" baseline="30000" dirty="0"/>
              <a:t>-27</a:t>
            </a:r>
          </a:p>
          <a:p>
            <a:r>
              <a:rPr lang="en-US" sz="1600" dirty="0" err="1"/>
              <a:t>Elektron</a:t>
            </a:r>
            <a:r>
              <a:rPr lang="en-US" sz="1600" dirty="0"/>
              <a:t> 											9 x 10-</a:t>
            </a:r>
            <a:r>
              <a:rPr lang="en-US" sz="1600" baseline="30000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817725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582" y="15085"/>
            <a:ext cx="7772400" cy="1609344"/>
          </a:xfrm>
        </p:spPr>
        <p:txBody>
          <a:bodyPr/>
          <a:lstStyle/>
          <a:p>
            <a:r>
              <a:rPr lang="en-US" dirty="0" err="1"/>
              <a:t>Waktu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8224" y="1224613"/>
            <a:ext cx="7052807" cy="3146611"/>
          </a:xfrm>
        </p:spPr>
        <p:txBody>
          <a:bodyPr>
            <a:normAutofit/>
          </a:bodyPr>
          <a:lstStyle/>
          <a:p>
            <a:r>
              <a:rPr lang="en-US" sz="1800" dirty="0" err="1"/>
              <a:t>Satuan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- </a:t>
            </a:r>
            <a:r>
              <a:rPr lang="en-US" sz="1800" dirty="0" err="1"/>
              <a:t>Sekon</a:t>
            </a:r>
            <a:r>
              <a:rPr lang="en-US" sz="1800" dirty="0"/>
              <a:t> (</a:t>
            </a:r>
            <a:r>
              <a:rPr lang="en-US" sz="1800" dirty="0" err="1"/>
              <a:t>detik</a:t>
            </a:r>
            <a:r>
              <a:rPr lang="en-US" sz="1800" dirty="0"/>
              <a:t>), </a:t>
            </a:r>
            <a:r>
              <a:rPr lang="en-US" sz="1800" dirty="0" err="1"/>
              <a:t>semua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endParaRPr lang="en-US" sz="1800" dirty="0"/>
          </a:p>
          <a:p>
            <a:r>
              <a:rPr lang="fi-FI" sz="1800" dirty="0"/>
              <a:t>Satu sekon didefinisikan sebagai 9 .192. 631. 700 x </a:t>
            </a:r>
            <a:r>
              <a:rPr lang="it-IT" sz="1800" dirty="0"/>
              <a:t>perioda radiasi dari sebuah atom cesium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644" y="0"/>
            <a:ext cx="1433846" cy="19505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071" y="2773876"/>
            <a:ext cx="4776247" cy="20833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060" y="4977538"/>
            <a:ext cx="4928680" cy="16641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88741" y="5975187"/>
            <a:ext cx="148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Rockwell" panose="02060603020205020403"/>
              </a:rPr>
              <a:t>Jam Atom Cs-133</a:t>
            </a:r>
          </a:p>
        </p:txBody>
      </p:sp>
    </p:spTree>
    <p:extLst>
      <p:ext uri="{BB962C8B-B14F-4D97-AF65-F5344CB8AC3E}">
        <p14:creationId xmlns:p14="http://schemas.microsoft.com/office/powerpoint/2010/main" val="3183622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Waktu</a:t>
            </a:r>
            <a:r>
              <a:rPr lang="en-US" dirty="0"/>
              <a:t> (</a:t>
            </a:r>
            <a:r>
              <a:rPr lang="en-US" dirty="0" err="1"/>
              <a:t>Lanjutan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Interval </a:t>
            </a:r>
            <a:r>
              <a:rPr lang="en-US" b="1" dirty="0" err="1"/>
              <a:t>Waktu</a:t>
            </a:r>
            <a:r>
              <a:rPr lang="en-US" b="1" dirty="0"/>
              <a:t> 				(s)</a:t>
            </a:r>
          </a:p>
          <a:p>
            <a:r>
              <a:rPr lang="pt-BR" dirty="0"/>
              <a:t>Umur alam semesta			5 x 10</a:t>
            </a:r>
            <a:r>
              <a:rPr lang="pt-BR" baseline="30000" dirty="0"/>
              <a:t>17</a:t>
            </a:r>
          </a:p>
          <a:p>
            <a:r>
              <a:rPr lang="en-US" dirty="0" err="1"/>
              <a:t>Umur</a:t>
            </a:r>
            <a:r>
              <a:rPr lang="en-US" dirty="0"/>
              <a:t> Grand Canyon			 3 x 10</a:t>
            </a:r>
            <a:r>
              <a:rPr lang="en-US" baseline="30000" dirty="0"/>
              <a:t>14</a:t>
            </a:r>
          </a:p>
          <a:p>
            <a:r>
              <a:rPr lang="fi-FI" dirty="0"/>
              <a:t>Rata-rata umur mahasiswa 		6.3 x 10</a:t>
            </a:r>
            <a:r>
              <a:rPr lang="fi-FI" baseline="30000" dirty="0"/>
              <a:t>8</a:t>
            </a:r>
          </a:p>
          <a:p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				3.2 x 10</a:t>
            </a:r>
            <a:r>
              <a:rPr lang="en-US" baseline="30000" dirty="0"/>
              <a:t>7</a:t>
            </a:r>
          </a:p>
          <a:p>
            <a:r>
              <a:rPr lang="en-US" dirty="0" err="1"/>
              <a:t>Satu</a:t>
            </a:r>
            <a:r>
              <a:rPr lang="en-US" dirty="0"/>
              <a:t> jam				3.6 x 10</a:t>
            </a:r>
            <a:r>
              <a:rPr lang="en-US" baseline="30000" dirty="0"/>
              <a:t>3</a:t>
            </a:r>
          </a:p>
          <a:p>
            <a:r>
              <a:rPr lang="en-US" dirty="0" err="1"/>
              <a:t>Cahaya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bumi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		1.3 x 10</a:t>
            </a:r>
            <a:r>
              <a:rPr lang="en-US" baseline="30000" dirty="0"/>
              <a:t>0</a:t>
            </a:r>
          </a:p>
          <a:p>
            <a:r>
              <a:rPr lang="sv-SE" dirty="0"/>
              <a:t>Satu siklus senar gitar 			2 x 10</a:t>
            </a:r>
            <a:r>
              <a:rPr lang="sv-SE" baseline="30000" dirty="0"/>
              <a:t>-3</a:t>
            </a:r>
          </a:p>
          <a:p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radio FM	6 x 10</a:t>
            </a:r>
            <a:r>
              <a:rPr lang="en-US" baseline="30000" dirty="0"/>
              <a:t>-8</a:t>
            </a:r>
          </a:p>
          <a:p>
            <a:r>
              <a:rPr lang="en-US" dirty="0" err="1"/>
              <a:t>Cahaya</a:t>
            </a:r>
            <a:r>
              <a:rPr lang="en-US" dirty="0"/>
              <a:t> </a:t>
            </a:r>
            <a:r>
              <a:rPr lang="en-US" dirty="0" err="1"/>
              <a:t>mengelilingi</a:t>
            </a:r>
            <a:r>
              <a:rPr lang="en-US" dirty="0"/>
              <a:t> proton 		1 x 10</a:t>
            </a:r>
            <a:r>
              <a:rPr lang="en-US" baseline="30000" dirty="0"/>
              <a:t>-24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701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Notasi</a:t>
            </a:r>
            <a:r>
              <a:rPr lang="en-US" dirty="0"/>
              <a:t> </a:t>
            </a:r>
            <a:r>
              <a:rPr lang="en-US" dirty="0" err="1"/>
              <a:t>Ilmiah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575560" y="2441884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7200"/>
            <a:r>
              <a:rPr lang="en-US" dirty="0" err="1">
                <a:solidFill>
                  <a:prstClr val="black"/>
                </a:solidFill>
                <a:latin typeface="TTE164B6E8t00"/>
              </a:rPr>
              <a:t>Contoh</a:t>
            </a:r>
            <a:endParaRPr lang="en-US" dirty="0">
              <a:solidFill>
                <a:prstClr val="black"/>
              </a:solidFill>
              <a:latin typeface="TTE164B6E8t00"/>
            </a:endParaRPr>
          </a:p>
          <a:p>
            <a:pPr defTabSz="457200"/>
            <a:endParaRPr lang="en-US" dirty="0">
              <a:solidFill>
                <a:prstClr val="black"/>
              </a:solidFill>
              <a:latin typeface="TTE164B6E8t00"/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  <a:latin typeface="TTE1625478t0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TTE164B6E8t00"/>
              </a:rPr>
              <a:t>Laju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TTE164B6E8t00"/>
              </a:rPr>
              <a:t>cahaya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TTE164B6E8t00"/>
              </a:rPr>
              <a:t>dalam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TTE164B6E8t00"/>
              </a:rPr>
              <a:t>vakum</a:t>
            </a:r>
            <a:endParaRPr lang="en-US" dirty="0">
              <a:solidFill>
                <a:prstClr val="black"/>
              </a:solidFill>
              <a:latin typeface="TTE164B6E8t00"/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  <a:latin typeface="TTE164B6E8t00"/>
              </a:rPr>
              <a:t>c </a:t>
            </a:r>
            <a:r>
              <a:rPr lang="en-US" dirty="0">
                <a:solidFill>
                  <a:prstClr val="black"/>
                </a:solidFill>
                <a:latin typeface="Symbol" panose="05050102010706020507" pitchFamily="18" charset="2"/>
              </a:rPr>
              <a:t>» 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300 000 000 m/s</a:t>
            </a:r>
          </a:p>
          <a:p>
            <a:pPr defTabSz="457200"/>
            <a:r>
              <a:rPr lang="en-US" dirty="0">
                <a:solidFill>
                  <a:prstClr val="black"/>
                </a:solidFill>
                <a:latin typeface="TTE164B6E8t00"/>
              </a:rPr>
              <a:t>c </a:t>
            </a:r>
            <a:r>
              <a:rPr lang="en-US" dirty="0">
                <a:solidFill>
                  <a:prstClr val="black"/>
                </a:solidFill>
                <a:latin typeface="Symbol" panose="05050102010706020507" pitchFamily="18" charset="2"/>
              </a:rPr>
              <a:t>» 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3.0 x 10 </a:t>
            </a:r>
            <a:r>
              <a:rPr lang="en-US" baseline="30000" dirty="0">
                <a:solidFill>
                  <a:prstClr val="black"/>
                </a:solidFill>
                <a:latin typeface="TTE164B6E8t00"/>
              </a:rPr>
              <a:t>8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m/s</a:t>
            </a:r>
          </a:p>
          <a:p>
            <a:pPr defTabSz="457200"/>
            <a:endParaRPr lang="en-US" dirty="0">
              <a:solidFill>
                <a:prstClr val="black"/>
              </a:solidFill>
              <a:latin typeface="TTE164B6E8t00"/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  <a:latin typeface="TTE1625478t00"/>
              </a:rPr>
              <a:t> 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Massa </a:t>
            </a:r>
            <a:r>
              <a:rPr lang="en-US" dirty="0" err="1">
                <a:solidFill>
                  <a:prstClr val="black"/>
                </a:solidFill>
                <a:latin typeface="TTE164B6E8t00"/>
              </a:rPr>
              <a:t>nyamuk</a:t>
            </a:r>
            <a:endParaRPr lang="en-US" dirty="0">
              <a:solidFill>
                <a:prstClr val="black"/>
              </a:solidFill>
              <a:latin typeface="TTE164B6E8t00"/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  <a:latin typeface="TTE164B6E8t00"/>
              </a:rPr>
              <a:t>m </a:t>
            </a:r>
            <a:r>
              <a:rPr lang="en-US" dirty="0">
                <a:solidFill>
                  <a:prstClr val="black"/>
                </a:solidFill>
                <a:latin typeface="Symbol" panose="05050102010706020507" pitchFamily="18" charset="2"/>
              </a:rPr>
              <a:t>» 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0.00001 kg</a:t>
            </a:r>
          </a:p>
          <a:p>
            <a:pPr defTabSz="457200"/>
            <a:r>
              <a:rPr lang="en-US" dirty="0">
                <a:solidFill>
                  <a:prstClr val="black"/>
                </a:solidFill>
                <a:latin typeface="TTE164B6E8t00"/>
              </a:rPr>
              <a:t>m </a:t>
            </a:r>
            <a:r>
              <a:rPr lang="en-US" dirty="0">
                <a:solidFill>
                  <a:prstClr val="black"/>
                </a:solidFill>
                <a:latin typeface="Symbol" panose="05050102010706020507" pitchFamily="18" charset="2"/>
              </a:rPr>
              <a:t>» 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10-5 kg</a:t>
            </a:r>
            <a:endParaRPr lang="en-US" dirty="0">
              <a:solidFill>
                <a:prstClr val="black"/>
              </a:solidFill>
              <a:latin typeface="Rockwell" panose="02060603020205020403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66653" t="65853" r="21973" b="10739"/>
          <a:stretch/>
        </p:blipFill>
        <p:spPr>
          <a:xfrm>
            <a:off x="5364482" y="3881905"/>
            <a:ext cx="1683327" cy="194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0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Penamaan</a:t>
            </a:r>
            <a:r>
              <a:rPr lang="en-US" dirty="0"/>
              <a:t> </a:t>
            </a:r>
            <a:r>
              <a:rPr lang="en-US" dirty="0" err="1"/>
              <a:t>pangkat</a:t>
            </a:r>
            <a:r>
              <a:rPr lang="en-US" dirty="0"/>
              <a:t> 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6835" t="43574" r="10413" b="12676"/>
          <a:stretch/>
        </p:blipFill>
        <p:spPr>
          <a:xfrm>
            <a:off x="2705100" y="1905000"/>
            <a:ext cx="7416799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84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ANALISI DIMENSI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fi-FI" dirty="0"/>
              <a:t>Dimensi menyatakan sifat fisis dari suatu </a:t>
            </a:r>
            <a:r>
              <a:rPr lang="en-US" dirty="0" err="1"/>
              <a:t>kuantitas</a:t>
            </a:r>
            <a:endParaRPr lang="en-US" dirty="0"/>
          </a:p>
          <a:p>
            <a:r>
              <a:rPr lang="fi-FI" dirty="0"/>
              <a:t>Teknik untuk mengoreksi suatu persamaan</a:t>
            </a:r>
          </a:p>
          <a:p>
            <a:r>
              <a:rPr lang="en-US" dirty="0" err="1"/>
              <a:t>Dimensi</a:t>
            </a:r>
            <a:r>
              <a:rPr lang="en-US" dirty="0"/>
              <a:t> (</a:t>
            </a:r>
            <a:r>
              <a:rPr lang="en-US" dirty="0" err="1"/>
              <a:t>panjang</a:t>
            </a:r>
            <a:r>
              <a:rPr lang="en-US" dirty="0"/>
              <a:t>,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waktu</a:t>
            </a:r>
            <a:r>
              <a:rPr lang="en-US" dirty="0"/>
              <a:t> &amp; </a:t>
            </a:r>
            <a:r>
              <a:rPr lang="en-US" dirty="0" err="1"/>
              <a:t>kombinasinya</a:t>
            </a:r>
            <a:r>
              <a:rPr lang="en-US" dirty="0"/>
              <a:t>)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dperlakukan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kuantitas</a:t>
            </a:r>
            <a:r>
              <a:rPr lang="en-US" dirty="0"/>
              <a:t> </a:t>
            </a:r>
            <a:r>
              <a:rPr lang="en-US" dirty="0" err="1"/>
              <a:t>aljabar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/>
              <a:t>jumlah</a:t>
            </a:r>
            <a:r>
              <a:rPr lang="en-US" dirty="0"/>
              <a:t>, </a:t>
            </a:r>
            <a:r>
              <a:rPr lang="en-US" dirty="0" err="1"/>
              <a:t>kurang</a:t>
            </a:r>
            <a:r>
              <a:rPr lang="en-US" dirty="0"/>
              <a:t>, kali, </a:t>
            </a:r>
            <a:r>
              <a:rPr lang="en-US" dirty="0" err="1"/>
              <a:t>bagi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penjumlahan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pengurangan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 yang </a:t>
            </a:r>
            <a:r>
              <a:rPr lang="en-US" dirty="0" err="1"/>
              <a:t>sama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822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584" y="1196789"/>
            <a:ext cx="6173912" cy="907370"/>
          </a:xfrm>
        </p:spPr>
        <p:txBody>
          <a:bodyPr>
            <a:normAutofit/>
          </a:bodyPr>
          <a:lstStyle/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Dimensi</a:t>
            </a:r>
            <a:r>
              <a:rPr lang="en-US" dirty="0"/>
              <a:t> (</a:t>
            </a:r>
            <a:r>
              <a:rPr lang="en-US" dirty="0" err="1"/>
              <a:t>lanjutan</a:t>
            </a:r>
            <a:r>
              <a:rPr lang="en-US" dirty="0"/>
              <a:t>) 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4364" y="2226609"/>
            <a:ext cx="56734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dirty="0" err="1">
                <a:solidFill>
                  <a:prstClr val="black"/>
                </a:solidFill>
                <a:latin typeface="TTE164B6E8t00"/>
              </a:rPr>
              <a:t>Panjang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		L 	m (SI)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TTE164B6E8t00"/>
              </a:rPr>
              <a:t>Luas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		L</a:t>
            </a:r>
            <a:r>
              <a:rPr lang="en-US" baseline="30000" dirty="0">
                <a:solidFill>
                  <a:prstClr val="black"/>
                </a:solidFill>
                <a:latin typeface="TTE164B6E8t00"/>
              </a:rPr>
              <a:t>2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	 m</a:t>
            </a:r>
            <a:r>
              <a:rPr lang="en-US" baseline="30000" dirty="0">
                <a:solidFill>
                  <a:prstClr val="black"/>
                </a:solidFill>
                <a:latin typeface="TTE164B6E8t00"/>
              </a:rPr>
              <a:t>2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(SI)</a:t>
            </a:r>
          </a:p>
          <a:p>
            <a:pPr defTabSz="457200"/>
            <a:r>
              <a:rPr lang="en-US" dirty="0">
                <a:solidFill>
                  <a:prstClr val="black"/>
                </a:solidFill>
                <a:latin typeface="TTE164B6E8t00"/>
              </a:rPr>
              <a:t>Volume		 L</a:t>
            </a:r>
            <a:r>
              <a:rPr lang="en-US" baseline="30000" dirty="0">
                <a:solidFill>
                  <a:prstClr val="black"/>
                </a:solidFill>
                <a:latin typeface="TTE164B6E8t00"/>
              </a:rPr>
              <a:t>3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	m</a:t>
            </a:r>
            <a:r>
              <a:rPr lang="en-US" baseline="30000" dirty="0">
                <a:solidFill>
                  <a:prstClr val="black"/>
                </a:solidFill>
                <a:latin typeface="TTE164B6E8t00"/>
              </a:rPr>
              <a:t>3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(SI)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TTE164B6E8t00"/>
              </a:rPr>
              <a:t>Kecepatan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(</a:t>
            </a:r>
            <a:r>
              <a:rPr lang="en-US" dirty="0" err="1">
                <a:solidFill>
                  <a:prstClr val="black"/>
                </a:solidFill>
                <a:latin typeface="TTE164B6E8t00"/>
              </a:rPr>
              <a:t>laju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) 	L/T 	m/s (SI)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TTE164B6E8t00"/>
              </a:rPr>
              <a:t>Percepatan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		L/T</a:t>
            </a:r>
            <a:r>
              <a:rPr lang="en-US" baseline="30000" dirty="0">
                <a:solidFill>
                  <a:prstClr val="black"/>
                </a:solidFill>
                <a:latin typeface="TTE164B6E8t00"/>
              </a:rPr>
              <a:t>2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 	m/s</a:t>
            </a:r>
            <a:r>
              <a:rPr lang="en-US" baseline="30000" dirty="0">
                <a:solidFill>
                  <a:prstClr val="black"/>
                </a:solidFill>
                <a:latin typeface="TTE164B6E8t00"/>
              </a:rPr>
              <a:t>2 </a:t>
            </a:r>
            <a:r>
              <a:rPr lang="en-US" dirty="0">
                <a:solidFill>
                  <a:prstClr val="black"/>
                </a:solidFill>
                <a:latin typeface="TTE164B6E8t00"/>
              </a:rPr>
              <a:t>(SI)</a:t>
            </a:r>
            <a:endParaRPr lang="en-US" dirty="0">
              <a:solidFill>
                <a:prstClr val="black"/>
              </a:solidFill>
              <a:latin typeface="Rockwell" panose="02060603020205020403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5126" t="63807" r="47913" b="15057"/>
          <a:stretch/>
        </p:blipFill>
        <p:spPr>
          <a:xfrm>
            <a:off x="3144981" y="4161560"/>
            <a:ext cx="3055330" cy="134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Konversi</a:t>
            </a:r>
            <a:r>
              <a:rPr lang="en-US" dirty="0"/>
              <a:t> </a:t>
            </a:r>
            <a:r>
              <a:rPr lang="en-US" dirty="0" err="1"/>
              <a:t>Satuan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2220" y="2247187"/>
            <a:ext cx="6709906" cy="91672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cocok</a:t>
            </a:r>
            <a:r>
              <a:rPr lang="en-US" dirty="0"/>
              <a:t>, </a:t>
            </a:r>
            <a:r>
              <a:rPr lang="en-US" dirty="0" err="1"/>
              <a:t>konversikan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satuannya</a:t>
            </a:r>
            <a:r>
              <a:rPr lang="en-US" dirty="0"/>
              <a:t> </a:t>
            </a:r>
            <a:r>
              <a:rPr lang="en-US" dirty="0" err="1"/>
              <a:t>cocok</a:t>
            </a:r>
            <a:r>
              <a:rPr lang="en-US" dirty="0"/>
              <a:t> (</a:t>
            </a:r>
            <a:r>
              <a:rPr lang="en-US" dirty="0" err="1"/>
              <a:t>sama</a:t>
            </a:r>
            <a:r>
              <a:rPr lang="en-US" dirty="0"/>
              <a:t>)</a:t>
            </a:r>
          </a:p>
          <a:p>
            <a:r>
              <a:rPr lang="fi-FI" dirty="0"/>
              <a:t> Satuan dapat diperlakukan seperti kuantitas </a:t>
            </a:r>
            <a:r>
              <a:rPr lang="en-US" dirty="0" err="1"/>
              <a:t>aljabar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6498" t="55398" r="31430" b="11193"/>
          <a:stretch/>
        </p:blipFill>
        <p:spPr>
          <a:xfrm>
            <a:off x="5925590" y="3575512"/>
            <a:ext cx="3640975" cy="213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45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2103" y="1349536"/>
            <a:ext cx="6709906" cy="455366"/>
          </a:xfrm>
        </p:spPr>
        <p:txBody>
          <a:bodyPr>
            <a:normAutofit/>
          </a:bodyPr>
          <a:lstStyle/>
          <a:p>
            <a:r>
              <a:rPr lang="pt-BR" dirty="0"/>
              <a:t>Berapa m/s kah satu mil/jam !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320" t="36079" r="47275" b="40966"/>
          <a:stretch/>
        </p:blipFill>
        <p:spPr>
          <a:xfrm>
            <a:off x="3030874" y="2116629"/>
            <a:ext cx="2947520" cy="15586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6915" t="67898" r="26701" b="21647"/>
          <a:stretch/>
        </p:blipFill>
        <p:spPr>
          <a:xfrm>
            <a:off x="3843251" y="4410941"/>
            <a:ext cx="4526280" cy="5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7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KETIDAKPASTIAN PENGUKURAN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4661" t="32444" r="26702" b="16647"/>
          <a:stretch/>
        </p:blipFill>
        <p:spPr>
          <a:xfrm>
            <a:off x="3169922" y="2198923"/>
            <a:ext cx="5199611" cy="305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63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ANGKA PENTING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0401" y="1898177"/>
            <a:ext cx="6709906" cy="233819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Jumlah</a:t>
            </a:r>
            <a:r>
              <a:rPr lang="en-US" dirty="0"/>
              <a:t> digit yang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yang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dipastikan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digit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nol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penting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Nol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diantara</a:t>
            </a:r>
            <a:r>
              <a:rPr lang="en-US" dirty="0"/>
              <a:t> digit yang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nol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yang lain</a:t>
            </a:r>
          </a:p>
          <a:p>
            <a:r>
              <a:rPr lang="it-IT" dirty="0"/>
              <a:t> Semua digit dalam notasi ilmiah adalah angka penting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959" t="64943" r="34624" b="10512"/>
          <a:stretch/>
        </p:blipFill>
        <p:spPr>
          <a:xfrm>
            <a:off x="4042757" y="4248844"/>
            <a:ext cx="4114800" cy="155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30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OPERASI DENGAN ANGKA PENTING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2220" y="1721989"/>
            <a:ext cx="6709906" cy="3146611"/>
          </a:xfrm>
        </p:spPr>
        <p:txBody>
          <a:bodyPr>
            <a:normAutofit/>
          </a:bodyPr>
          <a:lstStyle/>
          <a:p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mengalikan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membagi</a:t>
            </a:r>
            <a:r>
              <a:rPr lang="en-US" dirty="0"/>
              <a:t>, 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harusmemiliki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kuantitas</a:t>
            </a:r>
            <a:r>
              <a:rPr lang="en-US" dirty="0"/>
              <a:t>(yang </a:t>
            </a:r>
            <a:r>
              <a:rPr lang="en-US" dirty="0" err="1"/>
              <a:t>dioperasikan</a:t>
            </a:r>
            <a:r>
              <a:rPr lang="en-US" dirty="0"/>
              <a:t>)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paling </a:t>
            </a:r>
            <a:r>
              <a:rPr lang="en-US" dirty="0" err="1"/>
              <a:t>kecil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penjumlahan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pengurangan</a:t>
            </a:r>
            <a:r>
              <a:rPr lang="en-US" dirty="0"/>
              <a:t>, 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digit </a:t>
            </a:r>
            <a:r>
              <a:rPr lang="en-US" dirty="0" err="1"/>
              <a:t>dibelakang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kuantitas</a:t>
            </a:r>
            <a:r>
              <a:rPr lang="en-US" dirty="0"/>
              <a:t> (yang </a:t>
            </a:r>
            <a:r>
              <a:rPr lang="en-US" dirty="0" err="1"/>
              <a:t>dioperasikan</a:t>
            </a:r>
            <a:r>
              <a:rPr lang="en-US" dirty="0"/>
              <a:t>)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digit </a:t>
            </a:r>
            <a:r>
              <a:rPr lang="en-US" dirty="0" err="1"/>
              <a:t>dibelakang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paling </a:t>
            </a:r>
            <a:r>
              <a:rPr lang="en-US" dirty="0" err="1"/>
              <a:t>sedikit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537" t="66307" r="32324" b="11193"/>
          <a:stretch/>
        </p:blipFill>
        <p:spPr>
          <a:xfrm>
            <a:off x="4495801" y="4893621"/>
            <a:ext cx="3983181" cy="143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38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 MAGNITUDO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905000"/>
            <a:ext cx="6709906" cy="1340672"/>
          </a:xfrm>
        </p:spPr>
        <p:txBody>
          <a:bodyPr>
            <a:normAutofit/>
          </a:bodyPr>
          <a:lstStyle/>
          <a:p>
            <a:r>
              <a:rPr lang="en-US" dirty="0" err="1"/>
              <a:t>Kadang-kadang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sv-SE" dirty="0"/>
              <a:t>kuantitas hanya dalam faktor 10</a:t>
            </a:r>
          </a:p>
          <a:p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dikenal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Orde</a:t>
            </a:r>
            <a:r>
              <a:rPr lang="en-US" dirty="0"/>
              <a:t> </a:t>
            </a:r>
            <a:r>
              <a:rPr lang="en-US" dirty="0" err="1"/>
              <a:t>Magnitudo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510" t="52670" r="28746" b="15512"/>
          <a:stretch/>
        </p:blipFill>
        <p:spPr>
          <a:xfrm>
            <a:off x="3706092" y="3575511"/>
            <a:ext cx="4588625" cy="17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35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MATEMATIKA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TRIGONOMETRI</a:t>
            </a:r>
          </a:p>
          <a:p>
            <a:r>
              <a:rPr lang="en-US" dirty="0"/>
              <a:t>VEKTOR</a:t>
            </a:r>
          </a:p>
          <a:p>
            <a:r>
              <a:rPr lang="en-US" dirty="0"/>
              <a:t>SISTEM KOORDINAT</a:t>
            </a:r>
          </a:p>
        </p:txBody>
      </p:sp>
    </p:spTree>
    <p:extLst>
      <p:ext uri="{BB962C8B-B14F-4D97-AF65-F5344CB8AC3E}">
        <p14:creationId xmlns:p14="http://schemas.microsoft.com/office/powerpoint/2010/main" val="4291075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Perhatikan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581" y="1834166"/>
            <a:ext cx="4665756" cy="424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833" y="1828647"/>
            <a:ext cx="4033962" cy="425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98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Vektor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Skalar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2834775" cy="359931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Mekanika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Kecepatan</a:t>
            </a:r>
            <a:r>
              <a:rPr lang="en-US" dirty="0"/>
              <a:t>, </a:t>
            </a:r>
            <a:r>
              <a:rPr lang="en-US" dirty="0" err="1"/>
              <a:t>Perpindahan</a:t>
            </a:r>
            <a:r>
              <a:rPr lang="en-US" dirty="0"/>
              <a:t>, </a:t>
            </a:r>
            <a:r>
              <a:rPr lang="en-US" dirty="0" err="1"/>
              <a:t>Percepatan</a:t>
            </a:r>
            <a:r>
              <a:rPr lang="en-US" dirty="0"/>
              <a:t>, Gaya, momentum,……</a:t>
            </a:r>
          </a:p>
          <a:p>
            <a:r>
              <a:rPr lang="en-US" dirty="0" err="1"/>
              <a:t>Listrik</a:t>
            </a:r>
            <a:r>
              <a:rPr lang="en-US" dirty="0"/>
              <a:t> Magnet :</a:t>
            </a:r>
          </a:p>
          <a:p>
            <a:pPr marL="0" indent="0">
              <a:buNone/>
            </a:pPr>
            <a:r>
              <a:rPr lang="en-US" dirty="0"/>
              <a:t>Gaya </a:t>
            </a:r>
            <a:r>
              <a:rPr lang="en-US" dirty="0" err="1"/>
              <a:t>Listrik</a:t>
            </a:r>
            <a:r>
              <a:rPr lang="en-US" dirty="0"/>
              <a:t>, Medan </a:t>
            </a:r>
            <a:r>
              <a:rPr lang="en-US" dirty="0" err="1"/>
              <a:t>Listrik</a:t>
            </a:r>
            <a:r>
              <a:rPr lang="en-US" dirty="0"/>
              <a:t>, Medan Magnet, </a:t>
            </a:r>
          </a:p>
          <a:p>
            <a:pPr marL="0" indent="0">
              <a:buNone/>
            </a:pPr>
            <a:r>
              <a:rPr lang="en-US" dirty="0" err="1"/>
              <a:t>Momen</a:t>
            </a:r>
            <a:r>
              <a:rPr lang="en-US" dirty="0"/>
              <a:t> </a:t>
            </a:r>
            <a:r>
              <a:rPr lang="en-US" dirty="0" err="1"/>
              <a:t>Dipol</a:t>
            </a:r>
            <a:r>
              <a:rPr lang="en-US" dirty="0"/>
              <a:t>….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57864" y="2216140"/>
            <a:ext cx="2834775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Mekanika</a:t>
            </a:r>
            <a:r>
              <a:rPr lang="en-US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Kelajuan</a:t>
            </a:r>
            <a:r>
              <a:rPr lang="en-US" dirty="0"/>
              <a:t>, </a:t>
            </a:r>
            <a:r>
              <a:rPr lang="en-US" dirty="0" err="1"/>
              <a:t>jarak</a:t>
            </a:r>
            <a:r>
              <a:rPr lang="en-US" dirty="0"/>
              <a:t> ,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Energi</a:t>
            </a:r>
            <a:r>
              <a:rPr lang="en-US" dirty="0"/>
              <a:t>….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Magnet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Muatan</a:t>
            </a:r>
            <a:r>
              <a:rPr lang="en-US" dirty="0"/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Potensial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Rapat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….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94410" y="6032665"/>
            <a:ext cx="811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sebutkan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besaran-besaran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099753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404" t="26988" r="24913" b="10966"/>
          <a:stretch/>
        </p:blipFill>
        <p:spPr>
          <a:xfrm>
            <a:off x="2626823" y="1712422"/>
            <a:ext cx="6334298" cy="45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9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336" t="16328" r="21792" b="10510"/>
          <a:stretch/>
        </p:blipFill>
        <p:spPr>
          <a:xfrm>
            <a:off x="1413165" y="0"/>
            <a:ext cx="9110748" cy="682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6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464" t="15852" r="21591" b="10966"/>
          <a:stretch/>
        </p:blipFill>
        <p:spPr>
          <a:xfrm>
            <a:off x="1578231" y="1"/>
            <a:ext cx="91581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234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848" t="16307" r="21974" b="10966"/>
          <a:stretch/>
        </p:blipFill>
        <p:spPr>
          <a:xfrm>
            <a:off x="1717202" y="0"/>
            <a:ext cx="9086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39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24782" y="2434442"/>
            <a:ext cx="4536787" cy="4191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5177"/>
            <a:ext cx="9613861" cy="1080938"/>
          </a:xfrm>
        </p:spPr>
        <p:txBody>
          <a:bodyPr/>
          <a:lstStyle/>
          <a:p>
            <a:r>
              <a:rPr lang="en-US" dirty="0" err="1"/>
              <a:t>Vektor</a:t>
            </a:r>
            <a:r>
              <a:rPr lang="en-US" dirty="0"/>
              <a:t> </a:t>
            </a:r>
            <a:r>
              <a:rPr lang="en-US" dirty="0" err="1"/>
              <a:t>Satuan</a:t>
            </a:r>
            <a:endParaRPr lang="en-US" dirty="0"/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822441"/>
              </p:ext>
            </p:extLst>
          </p:nvPr>
        </p:nvGraphicFramePr>
        <p:xfrm>
          <a:off x="148246" y="3487061"/>
          <a:ext cx="6828290" cy="289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54480" imgH="1803240" progId="Equation.3">
                  <p:embed/>
                </p:oleObj>
              </mc:Choice>
              <mc:Fallback>
                <p:oleObj name="Equation" r:id="rId2" imgW="4254480" imgH="1803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46" y="3487061"/>
                        <a:ext cx="6828290" cy="289438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3C672-BA3C-4BDB-83C4-88E5B88DAD16}" type="slidenum">
              <a:rPr lang="en-GB">
                <a:solidFill>
                  <a:srgbClr val="000000"/>
                </a:solidFill>
              </a:rPr>
              <a:pPr/>
              <a:t>32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946008"/>
            <a:ext cx="7345180" cy="4114800"/>
          </a:xfrm>
        </p:spPr>
        <p:txBody>
          <a:bodyPr>
            <a:normAutofit/>
          </a:bodyPr>
          <a:lstStyle/>
          <a:p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vektor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1,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.</a:t>
            </a:r>
          </a:p>
          <a:p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>
                <a:cs typeface="Arial" panose="020B0604020202020204" pitchFamily="34" charset="0"/>
              </a:rPr>
              <a:t>^ (</a:t>
            </a:r>
            <a:r>
              <a:rPr lang="en-US" dirty="0" err="1"/>
              <a:t>topi</a:t>
            </a:r>
            <a:r>
              <a:rPr lang="en-US" dirty="0"/>
              <a:t>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787" y="3170712"/>
            <a:ext cx="3841743" cy="302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0802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487" t="16989" r="21463" b="12102"/>
          <a:stretch/>
        </p:blipFill>
        <p:spPr>
          <a:xfrm>
            <a:off x="1529543" y="0"/>
            <a:ext cx="9305298" cy="686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45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998" t="16079" r="22485" b="10738"/>
          <a:stretch/>
        </p:blipFill>
        <p:spPr>
          <a:xfrm>
            <a:off x="1949258" y="0"/>
            <a:ext cx="8807411" cy="69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74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784" t="16079" r="21591" b="10738"/>
          <a:stretch/>
        </p:blipFill>
        <p:spPr>
          <a:xfrm>
            <a:off x="1795548" y="0"/>
            <a:ext cx="9104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69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938151" y="2291938"/>
            <a:ext cx="10331532" cy="456606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: </a:t>
            </a:r>
            <a:r>
              <a:rPr lang="en-US" dirty="0" err="1"/>
              <a:t>Resultan</a:t>
            </a:r>
            <a:r>
              <a:rPr lang="en-US" dirty="0"/>
              <a:t> </a:t>
            </a:r>
            <a:r>
              <a:rPr lang="en-US" dirty="0" err="1"/>
              <a:t>medan</a:t>
            </a:r>
            <a:r>
              <a:rPr lang="en-US" dirty="0"/>
              <a:t> </a:t>
            </a:r>
            <a:r>
              <a:rPr lang="en-US" dirty="0" err="1"/>
              <a:t>listrik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2042555" y="4550816"/>
            <a:ext cx="296883" cy="30875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2" name="Oval 11"/>
          <p:cNvSpPr/>
          <p:nvPr/>
        </p:nvSpPr>
        <p:spPr>
          <a:xfrm>
            <a:off x="2909455" y="3728852"/>
            <a:ext cx="118753" cy="13062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38843" y="4550816"/>
            <a:ext cx="308759" cy="32063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8820" y="3550722"/>
            <a:ext cx="22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6" name="Straight Arrow Connector 15"/>
          <p:cNvCxnSpPr>
            <a:stCxn id="12" idx="1"/>
          </p:cNvCxnSpPr>
          <p:nvPr/>
        </p:nvCxnSpPr>
        <p:spPr>
          <a:xfrm flipH="1" flipV="1">
            <a:off x="2291937" y="2980706"/>
            <a:ext cx="634909" cy="7672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08216" y="2933923"/>
            <a:ext cx="1448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E1=2 V/m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564" y="2689881"/>
            <a:ext cx="1448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E2=4 V/m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2998942" y="3840351"/>
            <a:ext cx="575530" cy="710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2291937" y="3875976"/>
            <a:ext cx="634909" cy="710465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2042555" y="2582312"/>
            <a:ext cx="2457771" cy="1297495"/>
            <a:chOff x="2042555" y="2582312"/>
            <a:chExt cx="2457771" cy="1297495"/>
          </a:xfrm>
        </p:grpSpPr>
        <p:sp>
          <p:nvSpPr>
            <p:cNvPr id="26" name="TextBox 25"/>
            <p:cNvSpPr txBox="1"/>
            <p:nvPr/>
          </p:nvSpPr>
          <p:spPr>
            <a:xfrm>
              <a:off x="2992581" y="2582312"/>
              <a:ext cx="41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084690" y="3510475"/>
              <a:ext cx="41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x</a:t>
              </a: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2042555" y="2755075"/>
              <a:ext cx="2065023" cy="1047339"/>
              <a:chOff x="2042555" y="2755075"/>
              <a:chExt cx="2065023" cy="1047339"/>
            </a:xfrm>
          </p:grpSpPr>
          <p:cxnSp>
            <p:nvCxnSpPr>
              <p:cNvPr id="23" name="Straight Arrow Connector 22"/>
              <p:cNvCxnSpPr>
                <a:stCxn id="12" idx="0"/>
              </p:cNvCxnSpPr>
              <p:nvPr/>
            </p:nvCxnSpPr>
            <p:spPr>
              <a:xfrm flipH="1" flipV="1">
                <a:off x="2968831" y="2755075"/>
                <a:ext cx="1" cy="9737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42555" y="3756229"/>
                <a:ext cx="2065023" cy="379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3051539" y="3525415"/>
                <a:ext cx="6120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30</a:t>
                </a:r>
                <a:r>
                  <a:rPr lang="en-US" sz="1200" baseline="300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439538" y="3522447"/>
                <a:ext cx="6120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30</a:t>
                </a:r>
                <a:r>
                  <a:rPr lang="en-US" sz="1200" baseline="300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</p:grpSp>
      </p:grpSp>
      <p:grpSp>
        <p:nvGrpSpPr>
          <p:cNvPr id="69" name="Group 68"/>
          <p:cNvGrpSpPr/>
          <p:nvPr/>
        </p:nvGrpSpPr>
        <p:grpSpPr>
          <a:xfrm>
            <a:off x="1931555" y="2873895"/>
            <a:ext cx="1454402" cy="1250902"/>
            <a:chOff x="1931555" y="2873895"/>
            <a:chExt cx="1454402" cy="1250902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2339438" y="2980706"/>
              <a:ext cx="641268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2291937" y="2980706"/>
              <a:ext cx="0" cy="813461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V="1">
              <a:off x="2957066" y="2959891"/>
              <a:ext cx="23527" cy="727024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2291937" y="3769260"/>
              <a:ext cx="597593" cy="5938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/>
            <p:cNvSpPr/>
            <p:nvPr/>
          </p:nvSpPr>
          <p:spPr>
            <a:xfrm>
              <a:off x="1931555" y="3817020"/>
              <a:ext cx="42511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</a:t>
              </a:r>
              <a:r>
                <a:rPr lang="en-US" sz="1100" dirty="0">
                  <a:solidFill>
                    <a:schemeClr val="bg1"/>
                  </a:solidFill>
                </a:rPr>
                <a:t>2x</a:t>
              </a:r>
              <a:endParaRPr lang="en-US" sz="11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922369" y="2873895"/>
              <a:ext cx="46358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E2y</a:t>
              </a:r>
              <a:endParaRPr lang="en-US" sz="1400" dirty="0"/>
            </a:p>
          </p:txBody>
        </p:sp>
      </p:grpSp>
      <p:cxnSp>
        <p:nvCxnSpPr>
          <p:cNvPr id="18" name="Straight Arrow Connector 17"/>
          <p:cNvCxnSpPr>
            <a:stCxn id="12" idx="7"/>
          </p:cNvCxnSpPr>
          <p:nvPr/>
        </p:nvCxnSpPr>
        <p:spPr>
          <a:xfrm flipV="1">
            <a:off x="3010817" y="3230088"/>
            <a:ext cx="421151" cy="517894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2564620" y="3109592"/>
            <a:ext cx="1176244" cy="995779"/>
            <a:chOff x="2564620" y="3109592"/>
            <a:chExt cx="1176244" cy="995779"/>
          </a:xfrm>
        </p:grpSpPr>
        <p:cxnSp>
          <p:nvCxnSpPr>
            <p:cNvPr id="53" name="Straight Connector 52"/>
            <p:cNvCxnSpPr/>
            <p:nvPr/>
          </p:nvCxnSpPr>
          <p:spPr>
            <a:xfrm>
              <a:off x="2968831" y="3230088"/>
              <a:ext cx="43938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431968" y="3257070"/>
              <a:ext cx="0" cy="54534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V="1">
              <a:off x="2968298" y="3195897"/>
              <a:ext cx="0" cy="573363"/>
            </a:xfrm>
            <a:prstGeom prst="straightConnector1">
              <a:avLst/>
            </a:prstGeom>
            <a:ln w="28575">
              <a:solidFill>
                <a:schemeClr val="accent5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3016543" y="3770913"/>
              <a:ext cx="403760" cy="8247"/>
            </a:xfrm>
            <a:prstGeom prst="straightConnector1">
              <a:avLst/>
            </a:prstGeom>
            <a:ln w="28575">
              <a:solidFill>
                <a:schemeClr val="accent5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/>
            <p:cNvSpPr/>
            <p:nvPr/>
          </p:nvSpPr>
          <p:spPr>
            <a:xfrm>
              <a:off x="3275672" y="3797594"/>
              <a:ext cx="46519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E1x</a:t>
              </a:r>
              <a:endParaRPr lang="en-US" sz="1400" dirty="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564620" y="3109592"/>
              <a:ext cx="46358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E1y</a:t>
              </a:r>
              <a:endParaRPr lang="en-US" sz="1400" dirty="0"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251128" y="2697277"/>
            <a:ext cx="3538847" cy="369332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</a:t>
            </a:r>
            <a:r>
              <a:rPr lang="en-US" sz="1100" dirty="0">
                <a:solidFill>
                  <a:schemeClr val="bg1"/>
                </a:solidFill>
              </a:rPr>
              <a:t>1x </a:t>
            </a:r>
            <a:r>
              <a:rPr lang="en-US" dirty="0">
                <a:solidFill>
                  <a:schemeClr val="bg1"/>
                </a:solidFill>
              </a:rPr>
              <a:t>= E</a:t>
            </a:r>
            <a:r>
              <a:rPr lang="en-US" sz="1200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 Cos 30</a:t>
            </a:r>
            <a:r>
              <a:rPr lang="en-US" baseline="30000" dirty="0">
                <a:solidFill>
                  <a:schemeClr val="bg1"/>
                </a:solidFill>
              </a:rPr>
              <a:t>0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 2 (1/2 √3)=√3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251128" y="3078814"/>
            <a:ext cx="2856872" cy="369332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</a:t>
            </a:r>
            <a:r>
              <a:rPr lang="en-US" sz="1100" dirty="0">
                <a:solidFill>
                  <a:schemeClr val="bg1"/>
                </a:solidFill>
              </a:rPr>
              <a:t>1y </a:t>
            </a:r>
            <a:r>
              <a:rPr lang="en-US" dirty="0">
                <a:solidFill>
                  <a:schemeClr val="bg1"/>
                </a:solidFill>
              </a:rPr>
              <a:t>= E</a:t>
            </a:r>
            <a:r>
              <a:rPr lang="en-US" sz="1200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 Sin 30</a:t>
            </a:r>
            <a:r>
              <a:rPr lang="en-US" baseline="30000" dirty="0">
                <a:solidFill>
                  <a:schemeClr val="bg1"/>
                </a:solidFill>
              </a:rPr>
              <a:t>0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 2 (1/2)=1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210051" y="3632997"/>
            <a:ext cx="3474028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</a:t>
            </a:r>
            <a:r>
              <a:rPr lang="en-US" sz="1100" dirty="0">
                <a:solidFill>
                  <a:schemeClr val="bg1"/>
                </a:solidFill>
              </a:rPr>
              <a:t>2X </a:t>
            </a:r>
            <a:r>
              <a:rPr lang="en-US" dirty="0">
                <a:solidFill>
                  <a:schemeClr val="bg1"/>
                </a:solidFill>
              </a:rPr>
              <a:t>= E</a:t>
            </a:r>
            <a:r>
              <a:rPr lang="en-US" sz="12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Cos 30</a:t>
            </a:r>
            <a:r>
              <a:rPr lang="en-US" baseline="30000" dirty="0">
                <a:solidFill>
                  <a:schemeClr val="bg1"/>
                </a:solidFill>
              </a:rPr>
              <a:t>0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 4 (1/2 √3)=2√3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198176" y="4040699"/>
            <a:ext cx="2925801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</a:t>
            </a:r>
            <a:r>
              <a:rPr lang="id-ID" sz="1100" dirty="0">
                <a:solidFill>
                  <a:schemeClr val="bg1"/>
                </a:solidFill>
              </a:rPr>
              <a:t>2</a:t>
            </a:r>
            <a:r>
              <a:rPr lang="en-US" sz="1100" dirty="0">
                <a:solidFill>
                  <a:schemeClr val="bg1"/>
                </a:solidFill>
              </a:rPr>
              <a:t>y </a:t>
            </a:r>
            <a:r>
              <a:rPr lang="en-US" dirty="0">
                <a:solidFill>
                  <a:schemeClr val="bg1"/>
                </a:solidFill>
              </a:rPr>
              <a:t>= E</a:t>
            </a:r>
            <a:r>
              <a:rPr lang="id-ID" sz="12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Sin 30</a:t>
            </a:r>
            <a:r>
              <a:rPr lang="en-US" baseline="30000" dirty="0">
                <a:solidFill>
                  <a:schemeClr val="bg1"/>
                </a:solidFill>
              </a:rPr>
              <a:t>0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 4 (1/2 )=2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036074" y="4884758"/>
            <a:ext cx="4345432" cy="815608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 = E</a:t>
            </a:r>
            <a:r>
              <a:rPr lang="en-US" sz="1200" dirty="0">
                <a:solidFill>
                  <a:schemeClr val="bg1"/>
                </a:solidFill>
              </a:rPr>
              <a:t>1X</a:t>
            </a:r>
            <a:r>
              <a:rPr lang="en-US" dirty="0">
                <a:solidFill>
                  <a:schemeClr val="bg1"/>
                </a:solidFill>
              </a:rPr>
              <a:t>-E</a:t>
            </a:r>
            <a:r>
              <a:rPr lang="en-US" sz="1200" dirty="0">
                <a:solidFill>
                  <a:schemeClr val="bg1"/>
                </a:solidFill>
              </a:rPr>
              <a:t>2X</a:t>
            </a:r>
            <a:r>
              <a:rPr lang="en-US" dirty="0">
                <a:solidFill>
                  <a:schemeClr val="bg1"/>
                </a:solidFill>
              </a:rPr>
              <a:t>= √3-2√3=-√3 (</a:t>
            </a:r>
            <a:r>
              <a:rPr lang="en-US" dirty="0" err="1">
                <a:solidFill>
                  <a:schemeClr val="bg1"/>
                </a:solidFill>
              </a:rPr>
              <a:t>arah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negatif</a:t>
            </a:r>
            <a:r>
              <a:rPr lang="en-US" dirty="0">
                <a:solidFill>
                  <a:schemeClr val="bg1"/>
                </a:solidFill>
              </a:rPr>
              <a:t> x)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Ey</a:t>
            </a:r>
            <a:r>
              <a:rPr lang="en-US" dirty="0">
                <a:solidFill>
                  <a:schemeClr val="bg1"/>
                </a:solidFill>
              </a:rPr>
              <a:t> = E</a:t>
            </a:r>
            <a:r>
              <a:rPr lang="en-US" sz="1200" dirty="0">
                <a:solidFill>
                  <a:schemeClr val="bg1"/>
                </a:solidFill>
              </a:rPr>
              <a:t>1y</a:t>
            </a:r>
            <a:r>
              <a:rPr lang="en-US" dirty="0">
                <a:solidFill>
                  <a:schemeClr val="bg1"/>
                </a:solidFill>
              </a:rPr>
              <a:t>+E</a:t>
            </a:r>
            <a:r>
              <a:rPr lang="en-US" sz="1200" dirty="0">
                <a:solidFill>
                  <a:schemeClr val="bg1"/>
                </a:solidFill>
              </a:rPr>
              <a:t>2y</a:t>
            </a:r>
            <a:r>
              <a:rPr lang="en-US" dirty="0">
                <a:solidFill>
                  <a:schemeClr val="bg1"/>
                </a:solidFill>
              </a:rPr>
              <a:t>= 1+2= 3 (</a:t>
            </a:r>
            <a:r>
              <a:rPr lang="en-US" dirty="0" err="1">
                <a:solidFill>
                  <a:schemeClr val="bg1"/>
                </a:solidFill>
              </a:rPr>
              <a:t>arah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positif</a:t>
            </a:r>
            <a:r>
              <a:rPr lang="en-US" dirty="0">
                <a:solidFill>
                  <a:schemeClr val="bg1"/>
                </a:solidFill>
              </a:rPr>
              <a:t> 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3408216" y="5984235"/>
                <a:ext cx="2277162" cy="402931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+3</m:t>
                    </m:r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V/m</a:t>
                </a:r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216" y="5984235"/>
                <a:ext cx="2277162" cy="4029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/>
          <p:cNvCxnSpPr/>
          <p:nvPr/>
        </p:nvCxnSpPr>
        <p:spPr>
          <a:xfrm flipH="1" flipV="1">
            <a:off x="2642053" y="2758517"/>
            <a:ext cx="326572" cy="104752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2381570" y="2442996"/>
                <a:ext cx="507960" cy="402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570" y="2442996"/>
                <a:ext cx="507960" cy="402931"/>
              </a:xfrm>
              <a:prstGeom prst="rect">
                <a:avLst/>
              </a:prstGeom>
              <a:blipFill rotWithShape="0"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6292182" y="5833428"/>
                <a:ext cx="3631635" cy="656013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d>
                        </m:e>
                      </m:acc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82" y="5833428"/>
                <a:ext cx="3631635" cy="65601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1773723" y="4943244"/>
                <a:ext cx="7289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23" y="4943244"/>
                <a:ext cx="728917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3375607" y="4916768"/>
                <a:ext cx="7289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607" y="4916768"/>
                <a:ext cx="728917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81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8" grpId="0"/>
      <p:bldP spid="8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720" t="16306" r="21718" b="11875"/>
          <a:stretch/>
        </p:blipFill>
        <p:spPr>
          <a:xfrm>
            <a:off x="1373705" y="-1"/>
            <a:ext cx="9316462" cy="68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00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592" t="16535" r="22230" b="10738"/>
          <a:stretch/>
        </p:blipFill>
        <p:spPr>
          <a:xfrm>
            <a:off x="1679172" y="0"/>
            <a:ext cx="9097032" cy="686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046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Perkalian</a:t>
            </a:r>
            <a:r>
              <a:rPr lang="en-US" dirty="0"/>
              <a:t> dot (scalar)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24" y="2173125"/>
            <a:ext cx="5080910" cy="2189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547" y="2314793"/>
            <a:ext cx="5524500" cy="224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2579" y="1937948"/>
            <a:ext cx="85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Fluks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859" y="4665488"/>
            <a:ext cx="2994452" cy="54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43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Perkalian</a:t>
            </a:r>
            <a:r>
              <a:rPr lang="en-US" dirty="0"/>
              <a:t> Cross (</a:t>
            </a:r>
            <a:r>
              <a:rPr lang="en-US" dirty="0" err="1"/>
              <a:t>Vektor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08" y="2009330"/>
            <a:ext cx="5579817" cy="4077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82767" y="2261668"/>
                <a:ext cx="877804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67" y="2261668"/>
                <a:ext cx="877804" cy="317972"/>
              </a:xfrm>
              <a:prstGeom prst="rect">
                <a:avLst/>
              </a:prstGeom>
              <a:blipFill rotWithShape="0">
                <a:blip r:embed="rId3"/>
                <a:stretch>
                  <a:fillRect l="-6250" t="-25000" r="-8333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21669" y="5213109"/>
                <a:ext cx="877804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669" y="5213109"/>
                <a:ext cx="877804" cy="317972"/>
              </a:xfrm>
              <a:prstGeom prst="rect">
                <a:avLst/>
              </a:prstGeom>
              <a:blipFill rotWithShape="0">
                <a:blip r:embed="rId4"/>
                <a:stretch>
                  <a:fillRect l="-6250" t="-25000" r="-37500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07358" y="2136775"/>
            <a:ext cx="5921687" cy="3076334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318847" y="5372096"/>
            <a:ext cx="54184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Gaya magnet </a:t>
            </a:r>
            <a:r>
              <a:rPr lang="en-US" dirty="0" err="1"/>
              <a:t>tegak</a:t>
            </a:r>
            <a:r>
              <a:rPr lang="en-US" dirty="0"/>
              <a:t> </a:t>
            </a:r>
            <a:r>
              <a:rPr lang="en-US" dirty="0" err="1"/>
              <a:t>lurus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:</a:t>
            </a:r>
          </a:p>
          <a:p>
            <a:r>
              <a:rPr lang="en-US" dirty="0" err="1"/>
              <a:t>Kecepatan</a:t>
            </a:r>
            <a:r>
              <a:rPr lang="en-US" dirty="0"/>
              <a:t> </a:t>
            </a:r>
            <a:r>
              <a:rPr lang="en-US" b="1" dirty="0"/>
              <a:t>v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b="1" dirty="0"/>
              <a:t> </a:t>
            </a:r>
            <a:r>
              <a:rPr lang="en-US" dirty="0" err="1"/>
              <a:t>medan</a:t>
            </a:r>
            <a:r>
              <a:rPr lang="en-US" dirty="0"/>
              <a:t> magnet</a:t>
            </a:r>
            <a:r>
              <a:rPr lang="en-US" b="1" dirty="0"/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339680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231" t="16307" r="22101" b="13011"/>
          <a:stretch/>
        </p:blipFill>
        <p:spPr>
          <a:xfrm>
            <a:off x="2604722" y="857250"/>
            <a:ext cx="69462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471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720" t="21080" r="21335" b="10966"/>
          <a:stretch/>
        </p:blipFill>
        <p:spPr>
          <a:xfrm>
            <a:off x="2390039" y="857250"/>
            <a:ext cx="7263809" cy="505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17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700148" y="5991272"/>
            <a:ext cx="2743200" cy="365125"/>
          </a:xfrm>
          <a:solidFill>
            <a:srgbClr val="99CCFF">
              <a:alpha val="50195"/>
            </a:srgbClr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4DAF42-EAB1-4D50-8FE0-8D44EE285917}" type="slidenum">
              <a:rPr lang="en-US" sz="1200">
                <a:latin typeface="Times New Roman" panose="02020603050405020304" pitchFamily="18" charset="0"/>
              </a:rPr>
              <a:pPr eaLnBrk="1" hangingPunct="1"/>
              <a:t>43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5520"/>
            <a:ext cx="8131175" cy="641350"/>
          </a:xfrm>
        </p:spPr>
        <p:txBody>
          <a:bodyPr/>
          <a:lstStyle/>
          <a:p>
            <a:pPr eaLnBrk="1" hangingPunct="1"/>
            <a:r>
              <a:rPr lang="en-US" sz="4000" dirty="0" err="1"/>
              <a:t>Persamaan</a:t>
            </a:r>
            <a:r>
              <a:rPr lang="en-US" sz="4000" dirty="0"/>
              <a:t> Maxwell</a:t>
            </a:r>
          </a:p>
        </p:txBody>
      </p:sp>
      <p:sp>
        <p:nvSpPr>
          <p:cNvPr id="1571843" name="Rectangle 3"/>
          <p:cNvSpPr>
            <a:spLocks noChangeArrowheads="1"/>
          </p:cNvSpPr>
          <p:nvPr/>
        </p:nvSpPr>
        <p:spPr bwMode="auto">
          <a:xfrm>
            <a:off x="4319781" y="2112486"/>
            <a:ext cx="2439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Hukum Gauss</a:t>
            </a:r>
          </a:p>
        </p:txBody>
      </p:sp>
      <p:sp>
        <p:nvSpPr>
          <p:cNvPr id="1571845" name="Rectangle 5"/>
          <p:cNvSpPr>
            <a:spLocks noChangeArrowheads="1"/>
          </p:cNvSpPr>
          <p:nvPr/>
        </p:nvSpPr>
        <p:spPr bwMode="auto">
          <a:xfrm>
            <a:off x="4245167" y="4717573"/>
            <a:ext cx="3727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Hukum Gauss Magnet</a:t>
            </a:r>
          </a:p>
        </p:txBody>
      </p:sp>
      <p:sp>
        <p:nvSpPr>
          <p:cNvPr id="1571847" name="Rectangle 7"/>
          <p:cNvSpPr>
            <a:spLocks noChangeArrowheads="1"/>
          </p:cNvSpPr>
          <p:nvPr/>
        </p:nvSpPr>
        <p:spPr bwMode="auto">
          <a:xfrm>
            <a:off x="4253105" y="5784373"/>
            <a:ext cx="2659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Hukum Ampere</a:t>
            </a:r>
          </a:p>
        </p:txBody>
      </p:sp>
      <p:pic>
        <p:nvPicPr>
          <p:cNvPr id="157184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393" y="1872867"/>
            <a:ext cx="2238375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185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767" y="4703286"/>
            <a:ext cx="19685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1851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281" y="5652611"/>
            <a:ext cx="2554287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4" name="Text Box 12"/>
          <p:cNvSpPr txBox="1">
            <a:spLocks noChangeArrowheads="1"/>
          </p:cNvSpPr>
          <p:nvPr/>
        </p:nvSpPr>
        <p:spPr bwMode="auto">
          <a:xfrm>
            <a:off x="54167" y="1288573"/>
            <a:ext cx="4065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 err="1"/>
              <a:t>Penghasil</a:t>
            </a:r>
            <a:r>
              <a:rPr lang="en-US" dirty="0"/>
              <a:t> Medan Listrik:</a:t>
            </a:r>
          </a:p>
        </p:txBody>
      </p:sp>
      <p:sp>
        <p:nvSpPr>
          <p:cNvPr id="21515" name="Text Box 13"/>
          <p:cNvSpPr txBox="1">
            <a:spLocks noChangeArrowheads="1"/>
          </p:cNvSpPr>
          <p:nvPr/>
        </p:nvSpPr>
        <p:spPr bwMode="auto">
          <a:xfrm>
            <a:off x="54167" y="4031773"/>
            <a:ext cx="4324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Penghasil Medan Magnet:</a:t>
            </a:r>
          </a:p>
        </p:txBody>
      </p:sp>
      <p:pic>
        <p:nvPicPr>
          <p:cNvPr id="1571854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767" y="3016786"/>
            <a:ext cx="2590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1855" name="Rectangle 15"/>
          <p:cNvSpPr>
            <a:spLocks noChangeArrowheads="1"/>
          </p:cNvSpPr>
          <p:nvPr/>
        </p:nvSpPr>
        <p:spPr bwMode="auto">
          <a:xfrm>
            <a:off x="4321367" y="3026886"/>
            <a:ext cx="2719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/>
              <a:t>Hukum Faraday</a:t>
            </a:r>
          </a:p>
        </p:txBody>
      </p:sp>
      <p:pic>
        <p:nvPicPr>
          <p:cNvPr id="2" name="Gambar 1">
            <a:extLst>
              <a:ext uri="{FF2B5EF4-FFF2-40B4-BE49-F238E27FC236}">
                <a16:creationId xmlns:a16="http://schemas.microsoft.com/office/drawing/2014/main" id="{D2228731-7E22-2341-D833-E2695EE5F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8535" y="315"/>
            <a:ext cx="2860585" cy="3614739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309AE421-2461-870C-C29C-344AA67F77C5}"/>
              </a:ext>
            </a:extLst>
          </p:cNvPr>
          <p:cNvSpPr txBox="1"/>
          <p:nvPr/>
        </p:nvSpPr>
        <p:spPr>
          <a:xfrm>
            <a:off x="9328998" y="3660054"/>
            <a:ext cx="2808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James </a:t>
            </a:r>
            <a:r>
              <a:rPr lang="id-ID" sz="20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Clerk</a:t>
            </a:r>
            <a:r>
              <a:rPr lang="id-ID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Maxwell</a:t>
            </a:r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101007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7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7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7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7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7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7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7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1843" grpId="0"/>
      <p:bldP spid="1571845" grpId="0"/>
      <p:bldP spid="1571847" grpId="0"/>
      <p:bldP spid="157185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754" y="-1926"/>
            <a:ext cx="2204867" cy="632533"/>
          </a:xfrm>
        </p:spPr>
        <p:txBody>
          <a:bodyPr/>
          <a:lstStyle/>
          <a:p>
            <a:r>
              <a:rPr lang="id-ID" b="1" dirty="0">
                <a:solidFill>
                  <a:schemeClr val="bg1"/>
                </a:solidFill>
              </a:rPr>
              <a:t>Tugas 1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088" t="61977" r="31845" b="29166"/>
          <a:stretch/>
        </p:blipFill>
        <p:spPr>
          <a:xfrm>
            <a:off x="251754" y="4017821"/>
            <a:ext cx="11688491" cy="15289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0674" t="43750" r="32431" b="40625"/>
          <a:stretch/>
        </p:blipFill>
        <p:spPr>
          <a:xfrm>
            <a:off x="575935" y="754004"/>
            <a:ext cx="10363814" cy="2278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0477" y="3155760"/>
            <a:ext cx="481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Halliday</a:t>
            </a:r>
            <a:r>
              <a:rPr lang="en-US" dirty="0"/>
              <a:t>, Problem : Chapter 1 no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7398" y="5926847"/>
            <a:ext cx="481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Halliday, Problem : Chapter 3 no  37</a:t>
            </a:r>
          </a:p>
        </p:txBody>
      </p:sp>
    </p:spTree>
    <p:extLst>
      <p:ext uri="{BB962C8B-B14F-4D97-AF65-F5344CB8AC3E}">
        <p14:creationId xmlns:p14="http://schemas.microsoft.com/office/powerpoint/2010/main" val="25354142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ultiply 10"/>
          <p:cNvSpPr/>
          <p:nvPr/>
        </p:nvSpPr>
        <p:spPr>
          <a:xfrm>
            <a:off x="4778063" y="5409127"/>
            <a:ext cx="399245" cy="36060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0321" y="2336873"/>
                <a:ext cx="11090969" cy="3599316"/>
              </a:xfrm>
            </p:spPr>
            <p:txBody>
              <a:bodyPr/>
              <a:lstStyle/>
              <a:p>
                <a:r>
                  <a:rPr lang="en-US" dirty="0"/>
                  <a:t>Diketahui </a:t>
                </a:r>
                <a:r>
                  <a:rPr lang="en-US" dirty="0" err="1"/>
                  <a:t>medan</a:t>
                </a:r>
                <a:r>
                  <a:rPr lang="en-US" dirty="0"/>
                  <a:t> </a:t>
                </a:r>
                <a:r>
                  <a:rPr lang="en-US" dirty="0" err="1"/>
                  <a:t>listrik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−5 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dirty="0"/>
                  <a:t> v/m, </a:t>
                </a:r>
                <a:r>
                  <a:rPr lang="en-US" dirty="0" err="1"/>
                  <a:t>menembus</a:t>
                </a:r>
                <a:r>
                  <a:rPr lang="en-US" dirty="0"/>
                  <a:t> </a:t>
                </a:r>
                <a:r>
                  <a:rPr lang="en-US" dirty="0" err="1"/>
                  <a:t>permukaan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dirty="0"/>
                  <a:t> m</a:t>
                </a:r>
                <a:r>
                  <a:rPr lang="en-US" baseline="30000" dirty="0"/>
                  <a:t>2</a:t>
                </a:r>
                <a:r>
                  <a:rPr lang="en-US" dirty="0"/>
                  <a:t> , </a:t>
                </a:r>
                <a:r>
                  <a:rPr lang="en-US" dirty="0" err="1"/>
                  <a:t>tentukan</a:t>
                </a:r>
                <a:r>
                  <a:rPr lang="en-US" dirty="0"/>
                  <a:t> </a:t>
                </a:r>
                <a:r>
                  <a:rPr lang="en-US" dirty="0" err="1"/>
                  <a:t>besar</a:t>
                </a:r>
                <a:r>
                  <a:rPr lang="en-US" dirty="0"/>
                  <a:t> flux </a:t>
                </a:r>
                <a:r>
                  <a:rPr lang="en-US" dirty="0" err="1"/>
                  <a:t>nya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dan</a:t>
                </a:r>
                <a:r>
                  <a:rPr lang="en-US" dirty="0"/>
                  <a:t> </a:t>
                </a:r>
                <a:r>
                  <a:rPr lang="en-US" dirty="0" err="1"/>
                  <a:t>tentukan</a:t>
                </a:r>
                <a:r>
                  <a:rPr lang="en-US" dirty="0"/>
                  <a:t> </a:t>
                </a:r>
                <a:r>
                  <a:rPr lang="en-US" dirty="0" err="1"/>
                  <a:t>sudut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medan</a:t>
                </a:r>
                <a:r>
                  <a:rPr lang="en-US" dirty="0"/>
                  <a:t> </a:t>
                </a:r>
                <a:r>
                  <a:rPr lang="en-US" dirty="0" err="1"/>
                  <a:t>listrik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permukan</a:t>
                </a:r>
                <a:r>
                  <a:rPr lang="en-US" dirty="0"/>
                  <a:t> !</a:t>
                </a:r>
              </a:p>
              <a:p>
                <a:r>
                  <a:rPr lang="en-US" dirty="0" err="1"/>
                  <a:t>Sebuah</a:t>
                </a:r>
                <a:r>
                  <a:rPr lang="en-US" dirty="0"/>
                  <a:t> </a:t>
                </a:r>
                <a:r>
                  <a:rPr lang="en-US" dirty="0" err="1"/>
                  <a:t>muatan</a:t>
                </a:r>
                <a:r>
                  <a:rPr lang="en-US" dirty="0"/>
                  <a:t> </a:t>
                </a:r>
                <a:r>
                  <a:rPr lang="en-US" dirty="0" err="1"/>
                  <a:t>positif</a:t>
                </a:r>
                <a:r>
                  <a:rPr lang="en-US" dirty="0"/>
                  <a:t> q =2µ C </a:t>
                </a:r>
                <a:r>
                  <a:rPr lang="en-US" dirty="0" err="1"/>
                  <a:t>bergerak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kecepatan</a:t>
                </a:r>
                <a:r>
                  <a:rPr lang="en-US" dirty="0"/>
                  <a:t> v= 4 x 10</a:t>
                </a:r>
                <a:r>
                  <a:rPr lang="id-ID" baseline="30000" dirty="0"/>
                  <a:t>5</a:t>
                </a:r>
                <a:r>
                  <a:rPr lang="en-US" dirty="0"/>
                  <a:t> m/s </a:t>
                </a:r>
                <a:r>
                  <a:rPr lang="en-US" dirty="0" err="1"/>
                  <a:t>tegak</a:t>
                </a:r>
                <a:r>
                  <a:rPr lang="en-US" dirty="0"/>
                  <a:t> </a:t>
                </a:r>
                <a:r>
                  <a:rPr lang="en-US" dirty="0" err="1"/>
                  <a:t>lurus</a:t>
                </a:r>
                <a:r>
                  <a:rPr lang="en-US" dirty="0"/>
                  <a:t> </a:t>
                </a:r>
                <a:r>
                  <a:rPr lang="en-US" dirty="0" err="1"/>
                  <a:t>didaerah</a:t>
                </a:r>
                <a:r>
                  <a:rPr lang="en-US" dirty="0"/>
                  <a:t> </a:t>
                </a:r>
                <a:r>
                  <a:rPr lang="en-US" dirty="0" err="1"/>
                  <a:t>medan</a:t>
                </a:r>
                <a:r>
                  <a:rPr lang="en-US" dirty="0"/>
                  <a:t> magnet 0.01 tesla. </a:t>
                </a:r>
                <a:r>
                  <a:rPr lang="en-US" dirty="0" err="1"/>
                  <a:t>Hitunglah</a:t>
                </a:r>
                <a:r>
                  <a:rPr lang="en-US" dirty="0"/>
                  <a:t> </a:t>
                </a:r>
                <a:r>
                  <a:rPr lang="en-US" dirty="0" err="1"/>
                  <a:t>besar</a:t>
                </a:r>
                <a:r>
                  <a:rPr lang="en-US" dirty="0"/>
                  <a:t> </a:t>
                </a:r>
                <a:r>
                  <a:rPr lang="en-US" dirty="0" err="1"/>
                  <a:t>gaya</a:t>
                </a:r>
                <a:r>
                  <a:rPr lang="en-US" dirty="0"/>
                  <a:t> magnet F </a:t>
                </a:r>
                <a:r>
                  <a:rPr lang="en-US" dirty="0" err="1"/>
                  <a:t>dan</a:t>
                </a:r>
                <a:r>
                  <a:rPr lang="en-US" dirty="0"/>
                  <a:t> </a:t>
                </a:r>
                <a:r>
                  <a:rPr lang="en-US" dirty="0" err="1"/>
                  <a:t>kemana</a:t>
                </a:r>
                <a:r>
                  <a:rPr lang="en-US" dirty="0"/>
                  <a:t> </a:t>
                </a:r>
                <a:r>
                  <a:rPr lang="en-US" dirty="0" err="1"/>
                  <a:t>arah</a:t>
                </a:r>
                <a:r>
                  <a:rPr lang="en-US" dirty="0"/>
                  <a:t> </a:t>
                </a:r>
                <a:r>
                  <a:rPr lang="en-US" dirty="0" err="1"/>
                  <a:t>gaya</a:t>
                </a:r>
                <a:r>
                  <a:rPr lang="en-US" dirty="0"/>
                  <a:t> magnet F? (</a:t>
                </a:r>
                <a:r>
                  <a:rPr lang="en-US" dirty="0" err="1"/>
                  <a:t>Gunakan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321" y="2336873"/>
                <a:ext cx="11090969" cy="3599316"/>
              </a:xfrm>
              <a:blipFill>
                <a:blip r:embed="rId2"/>
                <a:stretch>
                  <a:fillRect l="-770" t="-1354" r="-44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3812146" y="5241701"/>
            <a:ext cx="682581" cy="52803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+q</a:t>
            </a:r>
          </a:p>
        </p:txBody>
      </p:sp>
      <p:cxnSp>
        <p:nvCxnSpPr>
          <p:cNvPr id="6" name="Straight Arrow Connector 5"/>
          <p:cNvCxnSpPr>
            <a:stCxn id="4" idx="6"/>
          </p:cNvCxnSpPr>
          <p:nvPr/>
        </p:nvCxnSpPr>
        <p:spPr>
          <a:xfrm flipV="1">
            <a:off x="4494727" y="5499279"/>
            <a:ext cx="1068946" cy="64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Multiply 6"/>
          <p:cNvSpPr/>
          <p:nvPr/>
        </p:nvSpPr>
        <p:spPr>
          <a:xfrm>
            <a:off x="3078051" y="4881093"/>
            <a:ext cx="399245" cy="36060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ultiply 7"/>
          <p:cNvSpPr/>
          <p:nvPr/>
        </p:nvSpPr>
        <p:spPr>
          <a:xfrm>
            <a:off x="3940934" y="4881093"/>
            <a:ext cx="399245" cy="36060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y 8"/>
          <p:cNvSpPr/>
          <p:nvPr/>
        </p:nvSpPr>
        <p:spPr>
          <a:xfrm>
            <a:off x="4771621" y="4893972"/>
            <a:ext cx="399245" cy="36060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y 9"/>
          <p:cNvSpPr/>
          <p:nvPr/>
        </p:nvSpPr>
        <p:spPr>
          <a:xfrm>
            <a:off x="3078051" y="5409127"/>
            <a:ext cx="399245" cy="36060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y 11"/>
          <p:cNvSpPr/>
          <p:nvPr/>
        </p:nvSpPr>
        <p:spPr>
          <a:xfrm>
            <a:off x="3078051" y="5832944"/>
            <a:ext cx="399245" cy="36060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y 12"/>
          <p:cNvSpPr/>
          <p:nvPr/>
        </p:nvSpPr>
        <p:spPr>
          <a:xfrm>
            <a:off x="3940934" y="5832944"/>
            <a:ext cx="399245" cy="36060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y 13"/>
          <p:cNvSpPr/>
          <p:nvPr/>
        </p:nvSpPr>
        <p:spPr>
          <a:xfrm>
            <a:off x="4771621" y="5845823"/>
            <a:ext cx="399245" cy="36060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299654" y="5121773"/>
            <a:ext cx="60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0474" y="5161252"/>
            <a:ext cx="60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3372233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3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1326</TotalTime>
  <Words>1505</Words>
  <Application>Microsoft Office PowerPoint</Application>
  <PresentationFormat>Layar Lebar</PresentationFormat>
  <Paragraphs>209</Paragraphs>
  <Slides>45</Slides>
  <Notes>1</Notes>
  <HiddenSlides>0</HiddenSlides>
  <MMClips>0</MMClips>
  <ScaleCrop>false</ScaleCrop>
  <HeadingPairs>
    <vt:vector size="8" baseType="variant">
      <vt:variant>
        <vt:lpstr>Font Dipakai</vt:lpstr>
      </vt:variant>
      <vt:variant>
        <vt:i4>11</vt:i4>
      </vt:variant>
      <vt:variant>
        <vt:lpstr>Tema</vt:lpstr>
      </vt:variant>
      <vt:variant>
        <vt:i4>2</vt:i4>
      </vt:variant>
      <vt:variant>
        <vt:lpstr>Server OLE Tertanam</vt:lpstr>
      </vt:variant>
      <vt:variant>
        <vt:i4>1</vt:i4>
      </vt:variant>
      <vt:variant>
        <vt:lpstr>Judul Slide</vt:lpstr>
      </vt:variant>
      <vt:variant>
        <vt:i4>45</vt:i4>
      </vt:variant>
    </vt:vector>
  </HeadingPairs>
  <TitlesOfParts>
    <vt:vector size="59" baseType="lpstr">
      <vt:lpstr>Arial</vt:lpstr>
      <vt:lpstr>Calibri</vt:lpstr>
      <vt:lpstr>Cambria Math</vt:lpstr>
      <vt:lpstr>Rockwell</vt:lpstr>
      <vt:lpstr>Rockwell Condensed</vt:lpstr>
      <vt:lpstr>Symbol</vt:lpstr>
      <vt:lpstr>Times New Roman</vt:lpstr>
      <vt:lpstr>Trebuchet MS</vt:lpstr>
      <vt:lpstr>TTE1625478t00</vt:lpstr>
      <vt:lpstr>TTE164B6E8t00</vt:lpstr>
      <vt:lpstr>Wingdings</vt:lpstr>
      <vt:lpstr>Berlin</vt:lpstr>
      <vt:lpstr>Wood Type</vt:lpstr>
      <vt:lpstr>Equation</vt:lpstr>
      <vt:lpstr>Fisika Terapan (21KU1017) : Topik 1 :Sistem satuan dan perhitungan vektor</vt:lpstr>
      <vt:lpstr>pengukuran</vt:lpstr>
      <vt:lpstr>Presentasi PowerPoint</vt:lpstr>
      <vt:lpstr>Besaran pokok </vt:lpstr>
      <vt:lpstr>beSARAN POKOK</vt:lpstr>
      <vt:lpstr>Besaran turunan</vt:lpstr>
      <vt:lpstr>Panjang </vt:lpstr>
      <vt:lpstr>Sejarah definisi 1 meter </vt:lpstr>
      <vt:lpstr>Pengukuran panjang</vt:lpstr>
      <vt:lpstr>Panjang (Lanjutan)</vt:lpstr>
      <vt:lpstr>Massa</vt:lpstr>
      <vt:lpstr>Presentasi PowerPoint</vt:lpstr>
      <vt:lpstr>Waktu </vt:lpstr>
      <vt:lpstr>Waktu (Lanjutan)</vt:lpstr>
      <vt:lpstr>Notasi Ilmiah</vt:lpstr>
      <vt:lpstr>Penamaan pangkat 10</vt:lpstr>
      <vt:lpstr>ANALISI DIMENSI</vt:lpstr>
      <vt:lpstr>Analisis Dimensi (lanjutan) </vt:lpstr>
      <vt:lpstr>Konversi Satuan</vt:lpstr>
      <vt:lpstr>Presentasi PowerPoint</vt:lpstr>
      <vt:lpstr>KETIDAKPASTIAN PENGUKURAN</vt:lpstr>
      <vt:lpstr>ANGKA PENTING</vt:lpstr>
      <vt:lpstr>OPERASI DENGAN ANGKA PENTING</vt:lpstr>
      <vt:lpstr>ORDE MAGNITUDO</vt:lpstr>
      <vt:lpstr>REVIEW MATEMATIKA</vt:lpstr>
      <vt:lpstr>Perhatikan gambar berikut :</vt:lpstr>
      <vt:lpstr>Contoh Besaran Vektor dan Skalar</vt:lpstr>
      <vt:lpstr>TRIGONOMETRI</vt:lpstr>
      <vt:lpstr>Presentasi PowerPoint</vt:lpstr>
      <vt:lpstr>Presentasi PowerPoint</vt:lpstr>
      <vt:lpstr>Presentasi PowerPoint</vt:lpstr>
      <vt:lpstr>Vektor Satuan</vt:lpstr>
      <vt:lpstr>Presentasi PowerPoint</vt:lpstr>
      <vt:lpstr>Presentasi PowerPoint</vt:lpstr>
      <vt:lpstr>Presentasi PowerPoint</vt:lpstr>
      <vt:lpstr>Contoh : Resultan medan listrik</vt:lpstr>
      <vt:lpstr>Presentasi PowerPoint</vt:lpstr>
      <vt:lpstr>Presentasi PowerPoint</vt:lpstr>
      <vt:lpstr>Perkalian dot (scalar)</vt:lpstr>
      <vt:lpstr>Perkalian Cross (Vektor)</vt:lpstr>
      <vt:lpstr>Presentasi PowerPoint</vt:lpstr>
      <vt:lpstr>Presentasi PowerPoint</vt:lpstr>
      <vt:lpstr>Persamaan Maxwell</vt:lpstr>
      <vt:lpstr>Tugas 1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Fisika Terapan (Teori)</dc:title>
  <dc:creator>defri</dc:creator>
  <cp:lastModifiedBy>Defrianto Pratama</cp:lastModifiedBy>
  <cp:revision>99</cp:revision>
  <dcterms:created xsi:type="dcterms:W3CDTF">2016-11-09T02:35:35Z</dcterms:created>
  <dcterms:modified xsi:type="dcterms:W3CDTF">2024-08-20T05:02:22Z</dcterms:modified>
</cp:coreProperties>
</file>