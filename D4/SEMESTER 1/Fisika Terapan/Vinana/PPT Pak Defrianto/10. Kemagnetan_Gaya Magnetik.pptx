
<file path=[Content_Types].xml><?xml version="1.0" encoding="utf-8"?>
<Types xmlns="http://schemas.openxmlformats.org/package/2006/content-types"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30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1" r:id="rId14"/>
    <p:sldId id="268" r:id="rId15"/>
    <p:sldId id="270" r:id="rId16"/>
    <p:sldId id="272" r:id="rId17"/>
    <p:sldId id="273" r:id="rId18"/>
    <p:sldId id="274" r:id="rId19"/>
    <p:sldId id="332" r:id="rId20"/>
    <p:sldId id="336" r:id="rId21"/>
    <p:sldId id="276" r:id="rId22"/>
    <p:sldId id="277" r:id="rId23"/>
    <p:sldId id="278" r:id="rId24"/>
    <p:sldId id="337" r:id="rId25"/>
    <p:sldId id="279" r:id="rId26"/>
    <p:sldId id="280" r:id="rId27"/>
    <p:sldId id="281" r:id="rId28"/>
    <p:sldId id="338" r:id="rId29"/>
    <p:sldId id="329" r:id="rId30"/>
    <p:sldId id="339" r:id="rId31"/>
    <p:sldId id="335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61" autoAdjust="0"/>
    <p:restoredTop sz="73788" autoAdjust="0"/>
  </p:normalViewPr>
  <p:slideViewPr>
    <p:cSldViewPr snapToGrid="0">
      <p:cViewPr varScale="1">
        <p:scale>
          <a:sx n="59" d="100"/>
          <a:sy n="59" d="100"/>
        </p:scale>
        <p:origin x="17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05543-4851-4DFD-92C1-1CFD9E6038D8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6FA83-305E-41C6-A711-51E4517AE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19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05543-4851-4DFD-92C1-1CFD9E6038D8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6FA83-305E-41C6-A711-51E4517AE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92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05543-4851-4DFD-92C1-1CFD9E6038D8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6FA83-305E-41C6-A711-51E4517AE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158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05543-4851-4DFD-92C1-1CFD9E6038D8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6FA83-305E-41C6-A711-51E4517AE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314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05543-4851-4DFD-92C1-1CFD9E6038D8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6FA83-305E-41C6-A711-51E4517AE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874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05543-4851-4DFD-92C1-1CFD9E6038D8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6FA83-305E-41C6-A711-51E4517AE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751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05543-4851-4DFD-92C1-1CFD9E6038D8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6FA83-305E-41C6-A711-51E4517AE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81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05543-4851-4DFD-92C1-1CFD9E6038D8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6FA83-305E-41C6-A711-51E4517AE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467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05543-4851-4DFD-92C1-1CFD9E6038D8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6FA83-305E-41C6-A711-51E4517AE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541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05543-4851-4DFD-92C1-1CFD9E6038D8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6FA83-305E-41C6-A711-51E4517AE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623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05543-4851-4DFD-92C1-1CFD9E6038D8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6FA83-305E-41C6-A711-51E4517AE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7544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98425" y="304800"/>
            <a:ext cx="8893175" cy="5867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8426450" y="6535738"/>
            <a:ext cx="630238" cy="304800"/>
          </a:xfrm>
        </p:spPr>
        <p:txBody>
          <a:bodyPr/>
          <a:lstStyle>
            <a:lvl1pPr>
              <a:defRPr/>
            </a:lvl1pPr>
          </a:lstStyle>
          <a:p>
            <a:fld id="{CD4470B7-BC85-44EF-8AAC-05A6C5A2EE4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2463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98425" y="304800"/>
            <a:ext cx="8893175" cy="6413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447800"/>
            <a:ext cx="4075113" cy="2286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0913" y="1447800"/>
            <a:ext cx="4075112" cy="2286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33400" y="3886200"/>
            <a:ext cx="4075113" cy="2286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60913" y="3886200"/>
            <a:ext cx="4075112" cy="2286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8426450" y="6535738"/>
            <a:ext cx="630238" cy="304800"/>
          </a:xfrm>
        </p:spPr>
        <p:txBody>
          <a:bodyPr/>
          <a:lstStyle>
            <a:lvl1pPr>
              <a:defRPr/>
            </a:lvl1pPr>
          </a:lstStyle>
          <a:p>
            <a:fld id="{391439C1-9C35-4C21-8DE7-F5BC1E3CA36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486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DDDDD"/>
            </a:gs>
            <a:gs pos="100000">
              <a:srgbClr val="99CCFF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005543-4851-4DFD-92C1-1CFD9E6038D8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26FA83-305E-41C6-A711-51E4517AE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58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7" Type="http://schemas.openxmlformats.org/officeDocument/2006/relationships/hyperlink" Target="7.3%20cyclotron%20motion%20with%20parallel%20component.swf" TargetMode="External"/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2.xml"/><Relationship Id="rId6" Type="http://schemas.openxmlformats.org/officeDocument/2006/relationships/hyperlink" Target="7.2%20cyclotron%20motion.swf" TargetMode="External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wmf"/><Relationship Id="rId1" Type="http://schemas.openxmlformats.org/officeDocument/2006/relationships/slideLayout" Target="../slideLayouts/slideLayout2.xml"/><Relationship Id="rId6" Type="http://schemas.openxmlformats.org/officeDocument/2006/relationships/hyperlink" Target="7.8%202%20force%20between%202%20currents.swf" TargetMode="External"/><Relationship Id="rId5" Type="http://schemas.openxmlformats.org/officeDocument/2006/relationships/image" Target="../media/image40.wmf"/><Relationship Id="rId4" Type="http://schemas.openxmlformats.org/officeDocument/2006/relationships/image" Target="../media/image39.w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74231" y="215196"/>
            <a:ext cx="7886700" cy="1325563"/>
          </a:xfrm>
        </p:spPr>
        <p:txBody>
          <a:bodyPr/>
          <a:lstStyle/>
          <a:p>
            <a:pPr algn="ctr"/>
            <a:r>
              <a:rPr lang="en-US" b="1" dirty="0" err="1" smtClean="0"/>
              <a:t>Kemagnetan</a:t>
            </a:r>
            <a:r>
              <a:rPr lang="en-US" b="1" dirty="0" smtClean="0"/>
              <a:t> </a:t>
            </a:r>
            <a:r>
              <a:rPr lang="en-US" b="1" dirty="0"/>
              <a:t>(</a:t>
            </a:r>
            <a:r>
              <a:rPr lang="en-US" b="1" dirty="0" smtClean="0"/>
              <a:t> Gaya Lorentz</a:t>
            </a:r>
            <a:r>
              <a:rPr lang="en-US" b="1" dirty="0"/>
              <a:t>)</a:t>
            </a:r>
          </a:p>
        </p:txBody>
      </p:sp>
      <p:sp>
        <p:nvSpPr>
          <p:cNvPr id="3" name="Subtitle 2"/>
          <p:cNvSpPr txBox="1">
            <a:spLocks/>
          </p:cNvSpPr>
          <p:nvPr/>
        </p:nvSpPr>
        <p:spPr>
          <a:xfrm>
            <a:off x="1193552" y="4557813"/>
            <a:ext cx="7407155" cy="1879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 smtClean="0"/>
              <a:t>Dosen</a:t>
            </a:r>
            <a:r>
              <a:rPr lang="en-US" b="1" dirty="0" smtClean="0"/>
              <a:t> : </a:t>
            </a:r>
            <a:r>
              <a:rPr lang="en-US" b="1" dirty="0" err="1" smtClean="0"/>
              <a:t>Defrianto</a:t>
            </a:r>
            <a:r>
              <a:rPr lang="en-US" b="1" dirty="0" smtClean="0"/>
              <a:t> </a:t>
            </a:r>
            <a:r>
              <a:rPr lang="en-US" b="1" dirty="0" err="1" smtClean="0"/>
              <a:t>Pratama</a:t>
            </a:r>
            <a:r>
              <a:rPr lang="en-US" b="1" dirty="0" smtClean="0"/>
              <a:t>, </a:t>
            </a:r>
            <a:r>
              <a:rPr lang="en-US" b="1" dirty="0" err="1" smtClean="0"/>
              <a:t>S.Pd</a:t>
            </a:r>
            <a:r>
              <a:rPr lang="en-US" b="1" dirty="0" smtClean="0"/>
              <a:t>, </a:t>
            </a:r>
            <a:r>
              <a:rPr lang="en-US" b="1" dirty="0" err="1" smtClean="0"/>
              <a:t>M.Si</a:t>
            </a:r>
            <a:r>
              <a:rPr lang="en-US" b="1" dirty="0" smtClean="0"/>
              <a:t>.</a:t>
            </a:r>
          </a:p>
          <a:p>
            <a:r>
              <a:rPr lang="en-US" b="1" dirty="0" smtClean="0"/>
              <a:t> </a:t>
            </a:r>
            <a:r>
              <a:rPr lang="en-US" b="1" dirty="0" err="1" smtClean="0"/>
              <a:t>Teknik</a:t>
            </a:r>
            <a:r>
              <a:rPr lang="en-US" b="1" dirty="0" smtClean="0"/>
              <a:t> </a:t>
            </a:r>
            <a:r>
              <a:rPr lang="en-US" b="1" dirty="0" err="1" smtClean="0"/>
              <a:t>Elektronika</a:t>
            </a:r>
            <a:endParaRPr lang="en-US" b="1" dirty="0" smtClean="0"/>
          </a:p>
          <a:p>
            <a:r>
              <a:rPr lang="en-US" b="1" dirty="0" err="1" smtClean="0"/>
              <a:t>Politeknik</a:t>
            </a:r>
            <a:r>
              <a:rPr lang="en-US" b="1" dirty="0" smtClean="0"/>
              <a:t> </a:t>
            </a:r>
            <a:r>
              <a:rPr lang="en-US" b="1" dirty="0" err="1" smtClean="0"/>
              <a:t>Negeri</a:t>
            </a:r>
            <a:r>
              <a:rPr lang="en-US" b="1" dirty="0" smtClean="0"/>
              <a:t> Bandung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6933" y="1701837"/>
            <a:ext cx="2580392" cy="25732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40722" y="6093845"/>
            <a:ext cx="7044745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 smtClean="0"/>
              <a:t>Sumber</a:t>
            </a:r>
            <a:r>
              <a:rPr lang="en-US" dirty="0" smtClean="0"/>
              <a:t> </a:t>
            </a:r>
            <a:r>
              <a:rPr lang="en-US" dirty="0" err="1" smtClean="0"/>
              <a:t>bacaan</a:t>
            </a:r>
            <a:r>
              <a:rPr lang="en-US" dirty="0" smtClean="0"/>
              <a:t> </a:t>
            </a:r>
            <a:r>
              <a:rPr lang="en-US" dirty="0" err="1" smtClean="0"/>
              <a:t>Ebook</a:t>
            </a:r>
            <a:r>
              <a:rPr lang="en-US" dirty="0" smtClean="0"/>
              <a:t>: </a:t>
            </a:r>
            <a:r>
              <a:rPr lang="en-US" dirty="0" err="1" smtClean="0"/>
              <a:t>Halliday</a:t>
            </a:r>
            <a:r>
              <a:rPr lang="en-US" dirty="0" smtClean="0"/>
              <a:t> </a:t>
            </a:r>
            <a:r>
              <a:rPr lang="en-US" dirty="0" err="1" smtClean="0"/>
              <a:t>ch</a:t>
            </a:r>
            <a:r>
              <a:rPr lang="en-US" dirty="0" smtClean="0"/>
              <a:t> 28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607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508" name="Rectangle 4"/>
          <p:cNvSpPr>
            <a:spLocks noChangeArrowheads="1"/>
          </p:cNvSpPr>
          <p:nvPr/>
        </p:nvSpPr>
        <p:spPr bwMode="auto">
          <a:xfrm>
            <a:off x="1295400" y="365125"/>
            <a:ext cx="70866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4400" b="1"/>
              <a:t>Magnet Batang</a:t>
            </a:r>
          </a:p>
        </p:txBody>
      </p:sp>
      <p:sp>
        <p:nvSpPr>
          <p:cNvPr id="1557509" name="Rectangle 5"/>
          <p:cNvSpPr>
            <a:spLocks noChangeArrowheads="1"/>
          </p:cNvSpPr>
          <p:nvPr/>
        </p:nvSpPr>
        <p:spPr bwMode="auto">
          <a:xfrm>
            <a:off x="1295400" y="4419600"/>
            <a:ext cx="7010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/>
              <a:t>Kutub sejenis tolak menolak, berlawanan jenis tarik menarik</a:t>
            </a:r>
          </a:p>
        </p:txBody>
      </p:sp>
      <p:pic>
        <p:nvPicPr>
          <p:cNvPr id="1557510" name="Picture 6"/>
          <p:cNvPicPr>
            <a:picLocks noGrp="1" noChangeAspect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43000" y="1655763"/>
            <a:ext cx="7162800" cy="2306637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52178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57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57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750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Medan Magnet dari Magnet Batang</a:t>
            </a:r>
            <a:endParaRPr lang="en-US" sz="4000" b="0"/>
          </a:p>
        </p:txBody>
      </p:sp>
      <p:sp>
        <p:nvSpPr>
          <p:cNvPr id="1559556" name="Rectangle 4"/>
          <p:cNvSpPr>
            <a:spLocks noChangeArrowheads="1"/>
          </p:cNvSpPr>
          <p:nvPr/>
        </p:nvSpPr>
        <p:spPr bwMode="auto">
          <a:xfrm>
            <a:off x="152400" y="5105400"/>
            <a:ext cx="8839200" cy="145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630238" indent="-630238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809625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989013"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sz="2800">
                <a:latin typeface="Arial" panose="020B0604020202020204" pitchFamily="34" charset="0"/>
              </a:rPr>
              <a:t>(1) Sebuah magnet mempunyai dua kutub, North (N) dan South (S)</a:t>
            </a:r>
          </a:p>
          <a:p>
            <a:pPr>
              <a:spcBef>
                <a:spcPct val="20000"/>
              </a:spcBef>
            </a:pPr>
            <a:r>
              <a:rPr lang="en-US" sz="2800">
                <a:latin typeface="Arial" panose="020B0604020202020204" pitchFamily="34" charset="0"/>
              </a:rPr>
              <a:t>(2) Arah medan Magnet meninggalkan N, berakhir di S</a:t>
            </a:r>
          </a:p>
        </p:txBody>
      </p:sp>
      <p:pic>
        <p:nvPicPr>
          <p:cNvPr id="1559557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64576" y="1415562"/>
            <a:ext cx="3755265" cy="3500053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3809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59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59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955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Magnet  Batang adalah Dipol!</a:t>
            </a:r>
            <a:endParaRPr lang="en-US" sz="4000" b="0"/>
          </a:p>
        </p:txBody>
      </p:sp>
      <p:pic>
        <p:nvPicPr>
          <p:cNvPr id="1561606" name="Picture 6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295400"/>
            <a:ext cx="4075113" cy="3760788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1561604" name="Rectangle 4"/>
          <p:cNvSpPr>
            <a:spLocks noChangeArrowheads="1"/>
          </p:cNvSpPr>
          <p:nvPr/>
        </p:nvSpPr>
        <p:spPr bwMode="auto">
          <a:xfrm>
            <a:off x="4449763" y="1925638"/>
            <a:ext cx="4425950" cy="2570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Menghasilkan medan dipol</a:t>
            </a:r>
          </a:p>
          <a:p>
            <a:endParaRPr lang="en-US"/>
          </a:p>
          <a:p>
            <a:r>
              <a:rPr lang="en-US"/>
              <a:t>Apakah terdapat “massa” </a:t>
            </a:r>
          </a:p>
          <a:p>
            <a:r>
              <a:rPr lang="en-US"/>
              <a:t>Magnet atau “muatan” </a:t>
            </a:r>
          </a:p>
          <a:p>
            <a:r>
              <a:rPr lang="en-US"/>
              <a:t>Magnet?</a:t>
            </a:r>
          </a:p>
        </p:txBody>
      </p:sp>
      <p:sp>
        <p:nvSpPr>
          <p:cNvPr id="1561605" name="Rectangle 5"/>
          <p:cNvSpPr>
            <a:spLocks noChangeArrowheads="1"/>
          </p:cNvSpPr>
          <p:nvPr/>
        </p:nvSpPr>
        <p:spPr bwMode="auto">
          <a:xfrm>
            <a:off x="381000" y="6034088"/>
            <a:ext cx="8534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Tidak! Monopol magnet tidak ditemukan sendirian</a:t>
            </a:r>
          </a:p>
        </p:txBody>
      </p:sp>
      <p:pic>
        <p:nvPicPr>
          <p:cNvPr id="1561608" name="Picture 8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5257800"/>
            <a:ext cx="8534400" cy="781050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2669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1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1561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6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15616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6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0" dur="500"/>
                                        <p:tgtEl>
                                          <p:spTgt spid="15616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6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15616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561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61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160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674" name="Rectangle 2"/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r>
              <a:rPr lang="en-US" sz="4000"/>
              <a:t>Monopol Magnet ?</a:t>
            </a:r>
          </a:p>
        </p:txBody>
      </p:sp>
      <p:pic>
        <p:nvPicPr>
          <p:cNvPr id="1564682" name="Picture 10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1711325"/>
            <a:ext cx="2419350" cy="1260475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pic>
        <p:nvPicPr>
          <p:cNvPr id="1564684" name="Picture 1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00600" y="1752600"/>
            <a:ext cx="4075113" cy="1371600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pic>
        <p:nvPicPr>
          <p:cNvPr id="1564686" name="Picture 14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4960938"/>
            <a:ext cx="2895600" cy="1211262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1564676" name="Rectangle 4"/>
          <p:cNvSpPr>
            <a:spLocks noChangeArrowheads="1"/>
          </p:cNvSpPr>
          <p:nvPr/>
        </p:nvSpPr>
        <p:spPr bwMode="auto">
          <a:xfrm>
            <a:off x="533400" y="1143000"/>
            <a:ext cx="2025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Dipol Listrik</a:t>
            </a:r>
          </a:p>
        </p:txBody>
      </p:sp>
      <p:sp>
        <p:nvSpPr>
          <p:cNvPr id="1564677" name="Rectangle 5"/>
          <p:cNvSpPr>
            <a:spLocks noChangeArrowheads="1"/>
          </p:cNvSpPr>
          <p:nvPr/>
        </p:nvSpPr>
        <p:spPr bwMode="auto">
          <a:xfrm>
            <a:off x="5867400" y="1143000"/>
            <a:ext cx="289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Dipol Magnet</a:t>
            </a:r>
          </a:p>
        </p:txBody>
      </p:sp>
      <p:sp>
        <p:nvSpPr>
          <p:cNvPr id="1564678" name="Rectangle 6"/>
          <p:cNvSpPr>
            <a:spLocks noChangeArrowheads="1"/>
          </p:cNvSpPr>
          <p:nvPr/>
        </p:nvSpPr>
        <p:spPr bwMode="auto">
          <a:xfrm>
            <a:off x="457200" y="2895600"/>
            <a:ext cx="3886200" cy="103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Ketika dipotong: </a:t>
            </a:r>
          </a:p>
          <a:p>
            <a:r>
              <a:rPr lang="en-US"/>
              <a:t>2 monopol (muatan)</a:t>
            </a:r>
          </a:p>
        </p:txBody>
      </p:sp>
      <p:sp>
        <p:nvSpPr>
          <p:cNvPr id="1564679" name="Rectangle 7"/>
          <p:cNvSpPr>
            <a:spLocks noChangeArrowheads="1"/>
          </p:cNvSpPr>
          <p:nvPr/>
        </p:nvSpPr>
        <p:spPr bwMode="auto">
          <a:xfrm>
            <a:off x="5181600" y="3214688"/>
            <a:ext cx="3962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Ketika dipotong: 2 dipol</a:t>
            </a:r>
          </a:p>
        </p:txBody>
      </p:sp>
      <p:sp>
        <p:nvSpPr>
          <p:cNvPr id="1564680" name="Rectangle 8"/>
          <p:cNvSpPr>
            <a:spLocks noChangeArrowheads="1"/>
          </p:cNvSpPr>
          <p:nvPr/>
        </p:nvSpPr>
        <p:spPr bwMode="auto">
          <a:xfrm>
            <a:off x="1163638" y="3949700"/>
            <a:ext cx="6980237" cy="103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/>
              <a:t>Monopol magnet tidak ditemukan sendirian</a:t>
            </a:r>
          </a:p>
          <a:p>
            <a:pPr algn="ctr"/>
            <a:r>
              <a:rPr lang="en-US"/>
              <a:t>Persamaan Maxwell yang lain (2 dari 4)</a:t>
            </a:r>
          </a:p>
        </p:txBody>
      </p:sp>
      <p:sp>
        <p:nvSpPr>
          <p:cNvPr id="1564681" name="Rectangle 9"/>
          <p:cNvSpPr>
            <a:spLocks noChangeArrowheads="1"/>
          </p:cNvSpPr>
          <p:nvPr/>
        </p:nvSpPr>
        <p:spPr bwMode="auto">
          <a:xfrm>
            <a:off x="457200" y="6096000"/>
            <a:ext cx="8542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Hukum Gauss                          Hukum Gauss Magnet</a:t>
            </a:r>
          </a:p>
        </p:txBody>
      </p:sp>
      <p:pic>
        <p:nvPicPr>
          <p:cNvPr id="1564688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15000" y="5038725"/>
            <a:ext cx="2395538" cy="1133475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553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4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564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564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564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564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564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564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564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564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564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4676" grpId="0"/>
      <p:bldP spid="1564677" grpId="0"/>
      <p:bldP spid="1564678" grpId="0"/>
      <p:bldP spid="1564679" grpId="0"/>
      <p:bldP spid="1564680" grpId="0"/>
      <p:bldP spid="156468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Medan: Grav., Listrik, Magnet</a:t>
            </a:r>
            <a:endParaRPr lang="en-US" sz="4000" b="0"/>
          </a:p>
        </p:txBody>
      </p:sp>
      <p:pic>
        <p:nvPicPr>
          <p:cNvPr id="1569795" name="Picture 3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54288" y="1752600"/>
            <a:ext cx="4075112" cy="1763713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1569796" name="Rectangle 4"/>
          <p:cNvSpPr>
            <a:spLocks noChangeArrowheads="1"/>
          </p:cNvSpPr>
          <p:nvPr/>
        </p:nvSpPr>
        <p:spPr bwMode="auto">
          <a:xfrm>
            <a:off x="2514600" y="1219200"/>
            <a:ext cx="4648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Massa </a:t>
            </a:r>
            <a:r>
              <a:rPr lang="en-US" i="1"/>
              <a:t>m        </a:t>
            </a:r>
            <a:r>
              <a:rPr lang="en-US"/>
              <a:t>Muatan </a:t>
            </a:r>
            <a:r>
              <a:rPr lang="en-US" i="1"/>
              <a:t>q </a:t>
            </a:r>
            <a:r>
              <a:rPr lang="en-US"/>
              <a:t>(±)</a:t>
            </a:r>
          </a:p>
        </p:txBody>
      </p:sp>
      <p:sp>
        <p:nvSpPr>
          <p:cNvPr id="1569797" name="Rectangle 5"/>
          <p:cNvSpPr>
            <a:spLocks noChangeArrowheads="1"/>
          </p:cNvSpPr>
          <p:nvPr/>
        </p:nvSpPr>
        <p:spPr bwMode="auto">
          <a:xfrm>
            <a:off x="0" y="1981200"/>
            <a:ext cx="2514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Menghasilkan:</a:t>
            </a:r>
          </a:p>
        </p:txBody>
      </p:sp>
      <p:sp>
        <p:nvSpPr>
          <p:cNvPr id="1569798" name="Rectangle 6"/>
          <p:cNvSpPr>
            <a:spLocks noChangeArrowheads="1"/>
          </p:cNvSpPr>
          <p:nvPr/>
        </p:nvSpPr>
        <p:spPr bwMode="auto">
          <a:xfrm>
            <a:off x="0" y="2909888"/>
            <a:ext cx="2286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Merasakan:</a:t>
            </a:r>
          </a:p>
        </p:txBody>
      </p:sp>
      <p:sp>
        <p:nvSpPr>
          <p:cNvPr id="1569799" name="Rectangle 7"/>
          <p:cNvSpPr>
            <a:spLocks noChangeArrowheads="1"/>
          </p:cNvSpPr>
          <p:nvPr/>
        </p:nvSpPr>
        <p:spPr bwMode="auto">
          <a:xfrm>
            <a:off x="228600" y="3765550"/>
            <a:ext cx="5578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Tinjau juga…                      Dipol </a:t>
            </a:r>
            <a:r>
              <a:rPr lang="en-US" b="1"/>
              <a:t>p</a:t>
            </a:r>
          </a:p>
        </p:txBody>
      </p:sp>
      <p:sp>
        <p:nvSpPr>
          <p:cNvPr id="1569800" name="Rectangle 8"/>
          <p:cNvSpPr>
            <a:spLocks noChangeArrowheads="1"/>
          </p:cNvSpPr>
          <p:nvPr/>
        </p:nvSpPr>
        <p:spPr bwMode="auto">
          <a:xfrm>
            <a:off x="152400" y="4738688"/>
            <a:ext cx="24828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Menghasilkan:</a:t>
            </a:r>
          </a:p>
        </p:txBody>
      </p:sp>
      <p:sp>
        <p:nvSpPr>
          <p:cNvPr id="1569801" name="Rectangle 9"/>
          <p:cNvSpPr>
            <a:spLocks noChangeArrowheads="1"/>
          </p:cNvSpPr>
          <p:nvPr/>
        </p:nvSpPr>
        <p:spPr bwMode="auto">
          <a:xfrm>
            <a:off x="242888" y="5957888"/>
            <a:ext cx="20462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Merasakan:</a:t>
            </a:r>
          </a:p>
        </p:txBody>
      </p:sp>
      <p:sp>
        <p:nvSpPr>
          <p:cNvPr id="1569803" name="Rectangle 11"/>
          <p:cNvSpPr>
            <a:spLocks noChangeArrowheads="1"/>
          </p:cNvSpPr>
          <p:nvPr/>
        </p:nvSpPr>
        <p:spPr bwMode="auto">
          <a:xfrm>
            <a:off x="7162800" y="1905000"/>
            <a:ext cx="1828800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/>
              <a:t>Tidak ada </a:t>
            </a:r>
          </a:p>
          <a:p>
            <a:pPr algn="ctr"/>
            <a:r>
              <a:rPr lang="en-US"/>
              <a:t>Monopole</a:t>
            </a:r>
          </a:p>
          <a:p>
            <a:pPr algn="ctr"/>
            <a:r>
              <a:rPr lang="en-US"/>
              <a:t>Magnet</a:t>
            </a:r>
          </a:p>
        </p:txBody>
      </p:sp>
      <p:sp>
        <p:nvSpPr>
          <p:cNvPr id="1569804" name="Rectangle 12"/>
          <p:cNvSpPr>
            <a:spLocks noChangeArrowheads="1"/>
          </p:cNvSpPr>
          <p:nvPr/>
        </p:nvSpPr>
        <p:spPr bwMode="auto">
          <a:xfrm>
            <a:off x="6248400" y="3810000"/>
            <a:ext cx="1300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Dipol μ</a:t>
            </a:r>
          </a:p>
        </p:txBody>
      </p:sp>
      <p:pic>
        <p:nvPicPr>
          <p:cNvPr id="1569806" name="Picture 14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57600" y="4419600"/>
            <a:ext cx="4572000" cy="2136775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59166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9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69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569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569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569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569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569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569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569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569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9796" grpId="0"/>
      <p:bldP spid="1569797" grpId="0"/>
      <p:bldP spid="1569798" grpId="0"/>
      <p:bldP spid="1569799" grpId="0"/>
      <p:bldP spid="1569800" grpId="0"/>
      <p:bldP spid="1569801" grpId="0"/>
      <p:bldP spid="1569803" grpId="0"/>
      <p:bldP spid="156980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820" name="Rectangle 4"/>
          <p:cNvSpPr>
            <a:spLocks noChangeArrowheads="1"/>
          </p:cNvSpPr>
          <p:nvPr/>
        </p:nvSpPr>
        <p:spPr bwMode="auto">
          <a:xfrm>
            <a:off x="914400" y="2895600"/>
            <a:ext cx="76962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4000"/>
              <a:t>Apa lagi yang termasuk magnet?</a:t>
            </a:r>
          </a:p>
        </p:txBody>
      </p:sp>
    </p:spTree>
    <p:extLst>
      <p:ext uri="{BB962C8B-B14F-4D97-AF65-F5344CB8AC3E}">
        <p14:creationId xmlns:p14="http://schemas.microsoft.com/office/powerpoint/2010/main" val="3878419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Medan Magnet Bumi</a:t>
            </a:r>
            <a:endParaRPr lang="en-US" sz="4000" b="0"/>
          </a:p>
        </p:txBody>
      </p:sp>
      <p:sp>
        <p:nvSpPr>
          <p:cNvPr id="1571844" name="Rectangle 4"/>
          <p:cNvSpPr>
            <a:spLocks noChangeArrowheads="1"/>
          </p:cNvSpPr>
          <p:nvPr/>
        </p:nvSpPr>
        <p:spPr bwMode="auto">
          <a:xfrm>
            <a:off x="7010400" y="2314575"/>
            <a:ext cx="198120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/>
              <a:t>Juga merupakan  dipol magnet</a:t>
            </a:r>
          </a:p>
        </p:txBody>
      </p:sp>
      <p:sp>
        <p:nvSpPr>
          <p:cNvPr id="1571845" name="Rectangle 5"/>
          <p:cNvSpPr>
            <a:spLocks noChangeArrowheads="1"/>
          </p:cNvSpPr>
          <p:nvPr/>
        </p:nvSpPr>
        <p:spPr bwMode="auto">
          <a:xfrm>
            <a:off x="762000" y="5881688"/>
            <a:ext cx="7696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Kutub utara magnet adalah kutub selatan bumi</a:t>
            </a:r>
          </a:p>
        </p:txBody>
      </p:sp>
      <p:pic>
        <p:nvPicPr>
          <p:cNvPr id="1571846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81200" y="1236663"/>
            <a:ext cx="5029200" cy="4478337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7646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71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184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890" name="Rectangle 2"/>
          <p:cNvSpPr>
            <a:spLocks noGrp="1" noChangeArrowheads="1"/>
          </p:cNvSpPr>
          <p:nvPr>
            <p:ph type="title"/>
          </p:nvPr>
        </p:nvSpPr>
        <p:spPr>
          <a:xfrm>
            <a:off x="98425" y="425450"/>
            <a:ext cx="8893175" cy="641350"/>
          </a:xfrm>
        </p:spPr>
        <p:txBody>
          <a:bodyPr/>
          <a:lstStyle/>
          <a:p>
            <a:r>
              <a:rPr lang="en-US" sz="4000"/>
              <a:t>Medan Magnet B Sejauh Ini…</a:t>
            </a:r>
            <a:endParaRPr lang="en-US" sz="4000" b="0"/>
          </a:p>
        </p:txBody>
      </p:sp>
      <p:sp>
        <p:nvSpPr>
          <p:cNvPr id="1573892" name="Rectangle 4"/>
          <p:cNvSpPr>
            <a:spLocks noChangeArrowheads="1"/>
          </p:cNvSpPr>
          <p:nvPr/>
        </p:nvSpPr>
        <p:spPr bwMode="auto">
          <a:xfrm>
            <a:off x="304800" y="1371600"/>
            <a:ext cx="5867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Magnet Batang (Dipol Magnet)…</a:t>
            </a:r>
          </a:p>
        </p:txBody>
      </p:sp>
      <p:sp>
        <p:nvSpPr>
          <p:cNvPr id="1573893" name="Rectangle 5"/>
          <p:cNvSpPr>
            <a:spLocks noChangeArrowheads="1"/>
          </p:cNvSpPr>
          <p:nvPr/>
        </p:nvSpPr>
        <p:spPr bwMode="auto">
          <a:xfrm>
            <a:off x="4876800" y="2362200"/>
            <a:ext cx="4114800" cy="4364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US" b="1"/>
              <a:t> Menghasilkan: </a:t>
            </a:r>
          </a:p>
          <a:p>
            <a:r>
              <a:rPr lang="en-US"/>
              <a:t>	Medan</a:t>
            </a:r>
            <a:r>
              <a:rPr lang="en-US" b="1"/>
              <a:t> </a:t>
            </a:r>
            <a:r>
              <a:rPr lang="en-US"/>
              <a:t>Dipol</a:t>
            </a:r>
          </a:p>
          <a:p>
            <a:r>
              <a:rPr lang="en-US"/>
              <a:t>• </a:t>
            </a:r>
            <a:r>
              <a:rPr lang="en-US" b="1"/>
              <a:t>Merasakan</a:t>
            </a:r>
            <a:r>
              <a:rPr lang="en-US"/>
              <a:t>: </a:t>
            </a:r>
          </a:p>
          <a:p>
            <a:r>
              <a:rPr lang="en-US"/>
              <a:t> 	Orientasi Medan</a:t>
            </a:r>
          </a:p>
          <a:p>
            <a:endParaRPr lang="en-US"/>
          </a:p>
          <a:p>
            <a:r>
              <a:rPr lang="en-US"/>
              <a:t>Apakah ada yang lain yang menghasilkan atau merasakan medan magnet?</a:t>
            </a:r>
          </a:p>
        </p:txBody>
      </p:sp>
      <p:pic>
        <p:nvPicPr>
          <p:cNvPr id="1573894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2133600"/>
            <a:ext cx="4398963" cy="4071938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5423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8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5738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8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15738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8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15738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8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15738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8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5738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2438400"/>
            <a:ext cx="8302625" cy="685800"/>
          </a:xfrm>
        </p:spPr>
        <p:txBody>
          <a:bodyPr/>
          <a:lstStyle/>
          <a:p>
            <a:pPr algn="ctr"/>
            <a:r>
              <a:rPr lang="en-US" sz="4000"/>
              <a:t>Gaya Magnet</a:t>
            </a:r>
          </a:p>
        </p:txBody>
      </p:sp>
    </p:spTree>
    <p:extLst>
      <p:ext uri="{BB962C8B-B14F-4D97-AF65-F5344CB8AC3E}">
        <p14:creationId xmlns:p14="http://schemas.microsoft.com/office/powerpoint/2010/main" val="3795690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938" name="Rectangle 2"/>
          <p:cNvSpPr>
            <a:spLocks noGrp="1" noChangeArrowheads="1"/>
          </p:cNvSpPr>
          <p:nvPr>
            <p:ph type="title"/>
          </p:nvPr>
        </p:nvSpPr>
        <p:spPr>
          <a:xfrm>
            <a:off x="98425" y="228600"/>
            <a:ext cx="8893175" cy="641350"/>
          </a:xfrm>
        </p:spPr>
        <p:txBody>
          <a:bodyPr/>
          <a:lstStyle/>
          <a:p>
            <a:r>
              <a:rPr lang="en-US" sz="2800"/>
              <a:t>Muatan yang Bergerak Merasakan Gaya Magnet</a:t>
            </a:r>
            <a:endParaRPr lang="en-US" sz="2800" b="0"/>
          </a:p>
        </p:txBody>
      </p:sp>
      <p:sp>
        <p:nvSpPr>
          <p:cNvPr id="1575940" name="Rectangle 4"/>
          <p:cNvSpPr>
            <a:spLocks noChangeArrowheads="1"/>
          </p:cNvSpPr>
          <p:nvPr/>
        </p:nvSpPr>
        <p:spPr bwMode="auto">
          <a:xfrm>
            <a:off x="273050" y="5562600"/>
            <a:ext cx="8839200" cy="103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Gaya magnet tegak lurus terhadap:</a:t>
            </a:r>
          </a:p>
          <a:p>
            <a:r>
              <a:rPr lang="en-US"/>
              <a:t>Kecepatan </a:t>
            </a:r>
            <a:r>
              <a:rPr lang="en-US" b="1"/>
              <a:t>v </a:t>
            </a:r>
            <a:r>
              <a:rPr lang="en-US"/>
              <a:t>dari muatan dan</a:t>
            </a:r>
            <a:r>
              <a:rPr lang="en-US" b="1"/>
              <a:t> </a:t>
            </a:r>
            <a:r>
              <a:rPr lang="en-US"/>
              <a:t>medan magnet</a:t>
            </a:r>
            <a:r>
              <a:rPr lang="en-US" b="1"/>
              <a:t> B</a:t>
            </a:r>
          </a:p>
        </p:txBody>
      </p:sp>
      <p:pic>
        <p:nvPicPr>
          <p:cNvPr id="1575941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4175" y="1143000"/>
            <a:ext cx="8302625" cy="4313238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6588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75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594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060" name="Rectangle 4"/>
          <p:cNvSpPr>
            <a:spLocks noChangeArrowheads="1"/>
          </p:cNvSpPr>
          <p:nvPr/>
        </p:nvSpPr>
        <p:spPr bwMode="auto">
          <a:xfrm>
            <a:off x="2895600" y="2376488"/>
            <a:ext cx="3505200" cy="1433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4000"/>
              <a:t>Recall:</a:t>
            </a:r>
          </a:p>
          <a:p>
            <a:r>
              <a:rPr lang="en-US" sz="4000"/>
              <a:t>Cross Product</a:t>
            </a:r>
          </a:p>
        </p:txBody>
      </p:sp>
    </p:spTree>
    <p:extLst>
      <p:ext uri="{BB962C8B-B14F-4D97-AF65-F5344CB8AC3E}">
        <p14:creationId xmlns:p14="http://schemas.microsoft.com/office/powerpoint/2010/main" val="1296101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Cross Product: Besarnya</a:t>
            </a:r>
            <a:endParaRPr lang="en-US" sz="4000" b="0"/>
          </a:p>
        </p:txBody>
      </p:sp>
      <p:pic>
        <p:nvPicPr>
          <p:cNvPr id="1584133" name="Picture 5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" y="1944688"/>
            <a:ext cx="7391400" cy="3541712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1584132" name="Rectangle 4"/>
          <p:cNvSpPr>
            <a:spLocks noChangeArrowheads="1"/>
          </p:cNvSpPr>
          <p:nvPr/>
        </p:nvSpPr>
        <p:spPr bwMode="auto">
          <a:xfrm>
            <a:off x="914400" y="1157288"/>
            <a:ext cx="7467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Menghitung besarnya cross product A x B:</a:t>
            </a:r>
          </a:p>
        </p:txBody>
      </p:sp>
      <p:sp>
        <p:nvSpPr>
          <p:cNvPr id="1584135" name="Rectangle 7"/>
          <p:cNvSpPr>
            <a:spLocks noChangeArrowheads="1"/>
          </p:cNvSpPr>
          <p:nvPr/>
        </p:nvSpPr>
        <p:spPr bwMode="auto">
          <a:xfrm>
            <a:off x="3048000" y="5791200"/>
            <a:ext cx="3581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Luas Trapesium</a:t>
            </a:r>
          </a:p>
        </p:txBody>
      </p:sp>
      <p:pic>
        <p:nvPicPr>
          <p:cNvPr id="1584136" name="Picture 8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57400" y="5791200"/>
            <a:ext cx="933450" cy="561975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1029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Medan Magnet B: Satuan</a:t>
            </a:r>
            <a:endParaRPr lang="en-US" sz="4000" b="0"/>
          </a:p>
        </p:txBody>
      </p:sp>
      <p:pic>
        <p:nvPicPr>
          <p:cNvPr id="1577989" name="Picture 5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17888" y="1371600"/>
            <a:ext cx="3363912" cy="979488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1577988" name="Rectangle 4"/>
          <p:cNvSpPr>
            <a:spLocks noChangeArrowheads="1"/>
          </p:cNvSpPr>
          <p:nvPr/>
        </p:nvSpPr>
        <p:spPr bwMode="auto">
          <a:xfrm>
            <a:off x="1828800" y="1676400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Karena</a:t>
            </a:r>
          </a:p>
        </p:txBody>
      </p:sp>
      <p:pic>
        <p:nvPicPr>
          <p:cNvPr id="1577991" name="Picture 7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2590800"/>
            <a:ext cx="8839200" cy="3144838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6111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082" name="Rectangle 2"/>
          <p:cNvSpPr>
            <a:spLocks noGrp="1" noChangeArrowheads="1"/>
          </p:cNvSpPr>
          <p:nvPr>
            <p:ph type="title"/>
          </p:nvPr>
        </p:nvSpPr>
        <p:spPr>
          <a:xfrm>
            <a:off x="98425" y="806450"/>
            <a:ext cx="8893175" cy="641350"/>
          </a:xfrm>
        </p:spPr>
        <p:txBody>
          <a:bodyPr/>
          <a:lstStyle/>
          <a:p>
            <a:r>
              <a:rPr lang="en-US" sz="4000"/>
              <a:t>Notasi</a:t>
            </a:r>
            <a:endParaRPr lang="en-US" sz="4000" b="0"/>
          </a:p>
        </p:txBody>
      </p:sp>
      <p:pic>
        <p:nvPicPr>
          <p:cNvPr id="158208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43000" y="1905000"/>
            <a:ext cx="6629400" cy="1703388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1582086" name="Rectangle 6"/>
          <p:cNvSpPr>
            <a:spLocks noChangeArrowheads="1"/>
          </p:cNvSpPr>
          <p:nvPr/>
        </p:nvSpPr>
        <p:spPr bwMode="auto">
          <a:xfrm>
            <a:off x="609600" y="3886200"/>
            <a:ext cx="3505200" cy="103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/>
              <a:t>Keluar bidang</a:t>
            </a:r>
          </a:p>
          <a:p>
            <a:r>
              <a:rPr lang="en-US"/>
              <a:t>“kepala anak panah”</a:t>
            </a:r>
          </a:p>
        </p:txBody>
      </p:sp>
      <p:sp>
        <p:nvSpPr>
          <p:cNvPr id="1582088" name="Rectangle 8"/>
          <p:cNvSpPr>
            <a:spLocks noChangeArrowheads="1"/>
          </p:cNvSpPr>
          <p:nvPr/>
        </p:nvSpPr>
        <p:spPr bwMode="auto">
          <a:xfrm>
            <a:off x="5181600" y="3886200"/>
            <a:ext cx="3276600" cy="103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/>
              <a:t>Masuk bidang</a:t>
            </a:r>
          </a:p>
          <a:p>
            <a:r>
              <a:rPr lang="en-US"/>
              <a:t>“ujung anak panah”</a:t>
            </a:r>
          </a:p>
        </p:txBody>
      </p:sp>
    </p:spTree>
    <p:extLst>
      <p:ext uri="{BB962C8B-B14F-4D97-AF65-F5344CB8AC3E}">
        <p14:creationId xmlns:p14="http://schemas.microsoft.com/office/powerpoint/2010/main" val="849297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09" name="Rectangle 9"/>
          <p:cNvSpPr>
            <a:spLocks noGrp="1" noChangeArrowheads="1"/>
          </p:cNvSpPr>
          <p:nvPr>
            <p:ph type="title"/>
          </p:nvPr>
        </p:nvSpPr>
        <p:spPr>
          <a:xfrm>
            <a:off x="704850" y="94669"/>
            <a:ext cx="7886700" cy="1325563"/>
          </a:xfrm>
        </p:spPr>
        <p:txBody>
          <a:bodyPr/>
          <a:lstStyle/>
          <a:p>
            <a:r>
              <a:rPr lang="en-US" sz="4000" dirty="0" err="1"/>
              <a:t>Aturan</a:t>
            </a:r>
            <a:r>
              <a:rPr lang="en-US" sz="4000" dirty="0"/>
              <a:t> </a:t>
            </a:r>
            <a:r>
              <a:rPr lang="en-US" sz="4000" dirty="0" err="1"/>
              <a:t>Tangan</a:t>
            </a:r>
            <a:r>
              <a:rPr lang="en-US" sz="4000" dirty="0"/>
              <a:t> </a:t>
            </a:r>
            <a:r>
              <a:rPr lang="en-US" sz="4000" dirty="0" err="1"/>
              <a:t>Kanan</a:t>
            </a:r>
            <a:r>
              <a:rPr lang="en-US" sz="4000" dirty="0"/>
              <a:t> 1</a:t>
            </a:r>
          </a:p>
        </p:txBody>
      </p:sp>
      <p:pic>
        <p:nvPicPr>
          <p:cNvPr id="1587208" name="Picture 8" descr="rthnd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4400" y="1109663"/>
            <a:ext cx="7467600" cy="5291137"/>
          </a:xfrm>
          <a:solidFill>
            <a:schemeClr val="bg1"/>
          </a:solidFill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4034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209800"/>
            <a:ext cx="8302625" cy="1676400"/>
          </a:xfrm>
        </p:spPr>
        <p:txBody>
          <a:bodyPr/>
          <a:lstStyle/>
          <a:p>
            <a:pPr algn="ctr"/>
            <a:r>
              <a:rPr lang="en-US" sz="4000"/>
              <a:t>Jenis Gerak Seperti Apa yang Dihasilkan?</a:t>
            </a: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00313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492" name="Rectangle 4"/>
          <p:cNvSpPr>
            <a:spLocks noChangeArrowheads="1"/>
          </p:cNvSpPr>
          <p:nvPr/>
        </p:nvSpPr>
        <p:spPr bwMode="auto">
          <a:xfrm>
            <a:off x="2362200" y="228600"/>
            <a:ext cx="4572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4000" b="1"/>
              <a:t>Gerak Siklotron</a:t>
            </a:r>
          </a:p>
        </p:txBody>
      </p:sp>
      <p:sp>
        <p:nvSpPr>
          <p:cNvPr id="1599493" name="Rectangle 5"/>
          <p:cNvSpPr>
            <a:spLocks noChangeArrowheads="1"/>
          </p:cNvSpPr>
          <p:nvPr/>
        </p:nvSpPr>
        <p:spPr bwMode="auto">
          <a:xfrm>
            <a:off x="4343400" y="1143000"/>
            <a:ext cx="457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(1) r : Jari-jari lingkaran </a:t>
            </a:r>
          </a:p>
        </p:txBody>
      </p:sp>
      <p:sp>
        <p:nvSpPr>
          <p:cNvPr id="1599494" name="Rectangle 6"/>
          <p:cNvSpPr>
            <a:spLocks noChangeArrowheads="1"/>
          </p:cNvSpPr>
          <p:nvPr/>
        </p:nvSpPr>
        <p:spPr bwMode="auto">
          <a:xfrm>
            <a:off x="4267200" y="3048000"/>
            <a:ext cx="457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(2) T : periode gerak </a:t>
            </a:r>
          </a:p>
        </p:txBody>
      </p:sp>
      <p:sp>
        <p:nvSpPr>
          <p:cNvPr id="1599495" name="Rectangle 7"/>
          <p:cNvSpPr>
            <a:spLocks noChangeArrowheads="1"/>
          </p:cNvSpPr>
          <p:nvPr/>
        </p:nvSpPr>
        <p:spPr bwMode="auto">
          <a:xfrm>
            <a:off x="152400" y="5424488"/>
            <a:ext cx="457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(3) ω : frekuensi siklotron</a:t>
            </a:r>
          </a:p>
        </p:txBody>
      </p:sp>
      <p:pic>
        <p:nvPicPr>
          <p:cNvPr id="159949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9450" y="1878013"/>
            <a:ext cx="4578350" cy="1169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9497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5550" y="3581400"/>
            <a:ext cx="3498850" cy="1349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9498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5037138"/>
            <a:ext cx="4443413" cy="1439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9499" name="Picture 1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219200"/>
            <a:ext cx="3859212" cy="374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99500" name="Text Box 12">
            <a:hlinkClick r:id="rId6" action="ppaction://hlinkfile"/>
          </p:cNvPr>
          <p:cNvSpPr txBox="1">
            <a:spLocks noChangeArrowheads="1"/>
          </p:cNvSpPr>
          <p:nvPr/>
        </p:nvSpPr>
        <p:spPr bwMode="auto">
          <a:xfrm>
            <a:off x="304800" y="6172200"/>
            <a:ext cx="177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/>
              <a:t>Animasi 7.2</a:t>
            </a:r>
          </a:p>
        </p:txBody>
      </p:sp>
      <p:sp>
        <p:nvSpPr>
          <p:cNvPr id="1599501" name="Text Box 13">
            <a:hlinkClick r:id="rId7" action="ppaction://hlinkfile"/>
          </p:cNvPr>
          <p:cNvSpPr txBox="1">
            <a:spLocks noChangeArrowheads="1"/>
          </p:cNvSpPr>
          <p:nvPr/>
        </p:nvSpPr>
        <p:spPr bwMode="auto">
          <a:xfrm>
            <a:off x="2362200" y="6172200"/>
            <a:ext cx="177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/>
              <a:t>Animasi 7.3</a:t>
            </a:r>
          </a:p>
        </p:txBody>
      </p:sp>
    </p:spTree>
    <p:extLst>
      <p:ext uri="{BB962C8B-B14F-4D97-AF65-F5344CB8AC3E}">
        <p14:creationId xmlns:p14="http://schemas.microsoft.com/office/powerpoint/2010/main" val="2095539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99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99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99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99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99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99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99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599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599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9493" grpId="0"/>
      <p:bldP spid="1599494" grpId="0"/>
      <p:bldP spid="1599495" grpId="0"/>
      <p:bldP spid="1599500" grpId="0"/>
      <p:bldP spid="159950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738" y="733149"/>
            <a:ext cx="5550793" cy="5697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861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59387"/>
            <a:ext cx="4615851" cy="6698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284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370" name="Rectangle 2"/>
          <p:cNvSpPr>
            <a:spLocks noGrp="1" noChangeArrowheads="1"/>
          </p:cNvSpPr>
          <p:nvPr>
            <p:ph type="title"/>
          </p:nvPr>
        </p:nvSpPr>
        <p:spPr>
          <a:xfrm>
            <a:off x="98425" y="304800"/>
            <a:ext cx="8893175" cy="990600"/>
          </a:xfrm>
        </p:spPr>
        <p:txBody>
          <a:bodyPr>
            <a:normAutofit fontScale="90000"/>
          </a:bodyPr>
          <a:lstStyle/>
          <a:p>
            <a:r>
              <a:rPr lang="en-US" sz="4000"/>
              <a:t>Gaya Magnet + Gaya Listrik:</a:t>
            </a:r>
            <a:br>
              <a:rPr lang="en-US" sz="4000"/>
            </a:br>
            <a:r>
              <a:rPr lang="en-US" sz="4000"/>
              <a:t> Gaya Lorentz</a:t>
            </a:r>
            <a:endParaRPr lang="en-US" sz="4000" b="0"/>
          </a:p>
        </p:txBody>
      </p:sp>
      <p:sp>
        <p:nvSpPr>
          <p:cNvPr id="1594372" name="Rectangle 4"/>
          <p:cNvSpPr>
            <a:spLocks noChangeArrowheads="1"/>
          </p:cNvSpPr>
          <p:nvPr/>
        </p:nvSpPr>
        <p:spPr bwMode="auto">
          <a:xfrm>
            <a:off x="457200" y="1614488"/>
            <a:ext cx="457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Muatan merasakan…</a:t>
            </a:r>
          </a:p>
        </p:txBody>
      </p:sp>
      <p:sp>
        <p:nvSpPr>
          <p:cNvPr id="1594373" name="Rectangle 5"/>
          <p:cNvSpPr>
            <a:spLocks noChangeArrowheads="1"/>
          </p:cNvSpPr>
          <p:nvPr/>
        </p:nvSpPr>
        <p:spPr bwMode="auto">
          <a:xfrm>
            <a:off x="1066800" y="3443288"/>
            <a:ext cx="7467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Medan Listrik                       Medan Magnet</a:t>
            </a:r>
          </a:p>
        </p:txBody>
      </p:sp>
      <p:pic>
        <p:nvPicPr>
          <p:cNvPr id="1594375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8" y="2078038"/>
            <a:ext cx="8043862" cy="1122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4376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013" y="4194175"/>
            <a:ext cx="6199187" cy="190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34892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94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594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594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437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394" name="Rectangle 2"/>
          <p:cNvSpPr>
            <a:spLocks noGrp="1" noChangeArrowheads="1"/>
          </p:cNvSpPr>
          <p:nvPr>
            <p:ph type="title"/>
          </p:nvPr>
        </p:nvSpPr>
        <p:spPr>
          <a:xfrm>
            <a:off x="98425" y="425450"/>
            <a:ext cx="8893175" cy="641350"/>
          </a:xfrm>
        </p:spPr>
        <p:txBody>
          <a:bodyPr/>
          <a:lstStyle/>
          <a:p>
            <a:r>
              <a:rPr lang="en-US" sz="4000"/>
              <a:t>Aplikasi: Selektor Kecepatan</a:t>
            </a:r>
            <a:endParaRPr lang="en-US" sz="4000" b="0"/>
          </a:p>
        </p:txBody>
      </p:sp>
      <p:sp>
        <p:nvSpPr>
          <p:cNvPr id="1595396" name="Rectangle 4"/>
          <p:cNvSpPr>
            <a:spLocks noChangeArrowheads="1"/>
          </p:cNvSpPr>
          <p:nvPr/>
        </p:nvSpPr>
        <p:spPr bwMode="auto">
          <a:xfrm>
            <a:off x="2819400" y="5486400"/>
            <a:ext cx="3962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Apa yang terjadi disini?</a:t>
            </a:r>
          </a:p>
        </p:txBody>
      </p:sp>
      <p:pic>
        <p:nvPicPr>
          <p:cNvPr id="159539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501775"/>
            <a:ext cx="6429375" cy="383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21710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95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539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418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3" y="157487"/>
            <a:ext cx="7886700" cy="1325563"/>
          </a:xfrm>
        </p:spPr>
        <p:txBody>
          <a:bodyPr/>
          <a:lstStyle/>
          <a:p>
            <a:r>
              <a:rPr lang="en-US" sz="4000" dirty="0" err="1"/>
              <a:t>Selektor</a:t>
            </a:r>
            <a:r>
              <a:rPr lang="en-US" sz="4000" dirty="0"/>
              <a:t> </a:t>
            </a:r>
            <a:r>
              <a:rPr lang="en-US" sz="4000" dirty="0" err="1"/>
              <a:t>Kecepatan</a:t>
            </a:r>
            <a:r>
              <a:rPr lang="en-US" sz="4000" dirty="0"/>
              <a:t> </a:t>
            </a:r>
            <a:endParaRPr lang="en-US" sz="4000" b="0" dirty="0"/>
          </a:p>
        </p:txBody>
      </p:sp>
      <p:sp>
        <p:nvSpPr>
          <p:cNvPr id="1596420" name="Rectangle 4"/>
          <p:cNvSpPr>
            <a:spLocks noChangeArrowheads="1"/>
          </p:cNvSpPr>
          <p:nvPr/>
        </p:nvSpPr>
        <p:spPr bwMode="auto">
          <a:xfrm>
            <a:off x="838200" y="4510088"/>
            <a:ext cx="7848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/>
              <a:t>Partikel bergerak sepanjang garis lurus ketika: </a:t>
            </a:r>
          </a:p>
        </p:txBody>
      </p:sp>
      <p:pic>
        <p:nvPicPr>
          <p:cNvPr id="159642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156" y="1221347"/>
            <a:ext cx="7073900" cy="340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642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5068888"/>
            <a:ext cx="7999413" cy="148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4162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96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96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642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08" y="0"/>
            <a:ext cx="7886700" cy="1325563"/>
          </a:xfrm>
        </p:spPr>
        <p:txBody>
          <a:bodyPr/>
          <a:lstStyle/>
          <a:p>
            <a:r>
              <a:rPr lang="en-US" dirty="0" err="1" smtClean="0"/>
              <a:t>Lintasan</a:t>
            </a:r>
            <a:r>
              <a:rPr lang="en-US" dirty="0" smtClean="0"/>
              <a:t> Helix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408" y="1690689"/>
            <a:ext cx="8955184" cy="27950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08" y="4485736"/>
            <a:ext cx="2790825" cy="22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299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2590800"/>
            <a:ext cx="8302625" cy="762000"/>
          </a:xfrm>
        </p:spPr>
        <p:txBody>
          <a:bodyPr/>
          <a:lstStyle/>
          <a:p>
            <a:pPr algn="ctr"/>
            <a:r>
              <a:rPr lang="en-US" b="1"/>
              <a:t>Kawat Berarus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161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540" name="Rectangle 4"/>
          <p:cNvSpPr>
            <a:spLocks noChangeArrowheads="1"/>
          </p:cNvSpPr>
          <p:nvPr/>
        </p:nvSpPr>
        <p:spPr bwMode="auto">
          <a:xfrm>
            <a:off x="762000" y="381000"/>
            <a:ext cx="8001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3600" b="1"/>
              <a:t>Gaya Magnet pada Kawat Berarus</a:t>
            </a:r>
          </a:p>
        </p:txBody>
      </p:sp>
      <p:pic>
        <p:nvPicPr>
          <p:cNvPr id="160154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371600"/>
            <a:ext cx="4803775" cy="3870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0154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000" y="1524000"/>
            <a:ext cx="3454400" cy="4027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01543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5357813"/>
            <a:ext cx="3454400" cy="127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07823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0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01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565" name="Rectangle 5"/>
          <p:cNvSpPr>
            <a:spLocks noChangeArrowheads="1"/>
          </p:cNvSpPr>
          <p:nvPr/>
        </p:nvSpPr>
        <p:spPr bwMode="auto">
          <a:xfrm>
            <a:off x="228600" y="4800600"/>
            <a:ext cx="86868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/>
              <a:t>Arus adalah muatan yang bergerak, dan kita ketahui bahwa muatan yang bergerak </a:t>
            </a:r>
            <a:r>
              <a:rPr lang="en-US" b="1"/>
              <a:t>merasakan </a:t>
            </a:r>
            <a:r>
              <a:rPr lang="en-US"/>
              <a:t>gaya dalam suatu medan magnet</a:t>
            </a:r>
          </a:p>
        </p:txBody>
      </p:sp>
      <p:pic>
        <p:nvPicPr>
          <p:cNvPr id="160256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47800"/>
            <a:ext cx="2014538" cy="3025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0256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0488" y="1066800"/>
            <a:ext cx="1789112" cy="366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02568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4088" y="1066800"/>
            <a:ext cx="1789112" cy="364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02569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9600" y="1066800"/>
            <a:ext cx="1879600" cy="3589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02570" name="Rectangle 10"/>
          <p:cNvSpPr>
            <a:spLocks noChangeArrowheads="1"/>
          </p:cNvSpPr>
          <p:nvPr/>
        </p:nvSpPr>
        <p:spPr bwMode="auto">
          <a:xfrm>
            <a:off x="762000" y="152400"/>
            <a:ext cx="8001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3600" b="1"/>
              <a:t>Gaya Magnet pada Kawat Berarus</a:t>
            </a:r>
          </a:p>
        </p:txBody>
      </p:sp>
      <p:sp>
        <p:nvSpPr>
          <p:cNvPr id="1602571" name="Text Box 11">
            <a:hlinkClick r:id="rId6" action="ppaction://hlinkfile"/>
          </p:cNvPr>
          <p:cNvSpPr txBox="1">
            <a:spLocks noChangeArrowheads="1"/>
          </p:cNvSpPr>
          <p:nvPr/>
        </p:nvSpPr>
        <p:spPr bwMode="auto">
          <a:xfrm>
            <a:off x="3594100" y="6288088"/>
            <a:ext cx="177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/>
              <a:t>Animasi 7.8</a:t>
            </a:r>
          </a:p>
        </p:txBody>
      </p:sp>
    </p:spTree>
    <p:extLst>
      <p:ext uri="{BB962C8B-B14F-4D97-AF65-F5344CB8AC3E}">
        <p14:creationId xmlns:p14="http://schemas.microsoft.com/office/powerpoint/2010/main" val="1324425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02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02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02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02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02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02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2565" grpId="0"/>
      <p:bldP spid="160257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7" y="766762"/>
            <a:ext cx="8810625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591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972" y="0"/>
            <a:ext cx="788670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TUGAS NO 1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2544" t="24093" r="19055" b="10988"/>
          <a:stretch/>
        </p:blipFill>
        <p:spPr>
          <a:xfrm>
            <a:off x="235972" y="1720185"/>
            <a:ext cx="4498260" cy="33921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37969" y="1209368"/>
            <a:ext cx="337738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err="1" smtClean="0"/>
              <a:t>Spektometer</a:t>
            </a:r>
            <a:r>
              <a:rPr lang="en-US" dirty="0" smtClean="0"/>
              <a:t> Massa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alat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mengukur</a:t>
            </a:r>
            <a:r>
              <a:rPr lang="en-US" dirty="0" smtClean="0"/>
              <a:t> </a:t>
            </a:r>
            <a:r>
              <a:rPr lang="en-US" dirty="0" err="1" smtClean="0"/>
              <a:t>massa</a:t>
            </a:r>
            <a:r>
              <a:rPr lang="en-US" dirty="0" smtClean="0"/>
              <a:t> </a:t>
            </a:r>
            <a:r>
              <a:rPr lang="en-US" dirty="0" err="1" smtClean="0"/>
              <a:t>sebuah</a:t>
            </a:r>
            <a:r>
              <a:rPr lang="en-US" dirty="0" smtClean="0"/>
              <a:t> </a:t>
            </a:r>
            <a:r>
              <a:rPr lang="en-US" dirty="0" err="1" smtClean="0"/>
              <a:t>partikel</a:t>
            </a:r>
            <a:r>
              <a:rPr lang="en-US" dirty="0" smtClean="0"/>
              <a:t> yang </a:t>
            </a:r>
            <a:r>
              <a:rPr lang="en-US" dirty="0" err="1" smtClean="0"/>
              <a:t>bermuatan</a:t>
            </a:r>
            <a:r>
              <a:rPr lang="en-US" dirty="0" smtClean="0"/>
              <a:t>. </a:t>
            </a:r>
            <a:r>
              <a:rPr lang="en-US" dirty="0" err="1" smtClean="0"/>
              <a:t>Partikel</a:t>
            </a:r>
            <a:r>
              <a:rPr lang="en-US" dirty="0" smtClean="0"/>
              <a:t> </a:t>
            </a:r>
            <a:r>
              <a:rPr lang="en-US" dirty="0" err="1" smtClean="0"/>
              <a:t>bermuatan</a:t>
            </a:r>
            <a:r>
              <a:rPr lang="en-US" dirty="0" smtClean="0"/>
              <a:t> q </a:t>
            </a:r>
            <a:r>
              <a:rPr lang="en-US" dirty="0" err="1" smtClean="0"/>
              <a:t>ditembakan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sebuah</a:t>
            </a:r>
            <a:r>
              <a:rPr lang="en-US" dirty="0" smtClean="0"/>
              <a:t> </a:t>
            </a:r>
            <a:r>
              <a:rPr lang="en-US" dirty="0" err="1" smtClean="0"/>
              <a:t>daerah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medan</a:t>
            </a:r>
            <a:r>
              <a:rPr lang="en-US" dirty="0" smtClean="0"/>
              <a:t> magnet B uniform yang </a:t>
            </a:r>
            <a:r>
              <a:rPr lang="en-US" dirty="0" err="1" smtClean="0"/>
              <a:t>tegak</a:t>
            </a:r>
            <a:r>
              <a:rPr lang="en-US" dirty="0" smtClean="0"/>
              <a:t> </a:t>
            </a:r>
            <a:r>
              <a:rPr lang="en-US" dirty="0" err="1" smtClean="0"/>
              <a:t>lurus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lintasan</a:t>
            </a:r>
            <a:r>
              <a:rPr lang="en-US" dirty="0" smtClean="0"/>
              <a:t> </a:t>
            </a:r>
            <a:r>
              <a:rPr lang="en-US" dirty="0" err="1" smtClean="0"/>
              <a:t>gerak</a:t>
            </a:r>
            <a:r>
              <a:rPr lang="en-US" dirty="0" smtClean="0"/>
              <a:t> </a:t>
            </a:r>
            <a:r>
              <a:rPr lang="en-US" dirty="0" err="1" smtClean="0"/>
              <a:t>partikel</a:t>
            </a:r>
            <a:r>
              <a:rPr lang="en-US" dirty="0" smtClean="0"/>
              <a:t>, </a:t>
            </a:r>
            <a:r>
              <a:rPr lang="en-US" dirty="0" err="1" smtClean="0"/>
              <a:t>maka</a:t>
            </a:r>
            <a:r>
              <a:rPr lang="en-US" dirty="0" smtClean="0"/>
              <a:t> </a:t>
            </a:r>
            <a:r>
              <a:rPr lang="en-US" dirty="0" err="1" smtClean="0"/>
              <a:t>partikel</a:t>
            </a:r>
            <a:r>
              <a:rPr lang="en-US" dirty="0" smtClean="0"/>
              <a:t> </a:t>
            </a:r>
            <a:r>
              <a:rPr lang="en-US" dirty="0" err="1" smtClean="0"/>
              <a:t>akan</a:t>
            </a:r>
            <a:r>
              <a:rPr lang="en-US" dirty="0" smtClean="0"/>
              <a:t> </a:t>
            </a:r>
            <a:r>
              <a:rPr lang="en-US" dirty="0" err="1" smtClean="0"/>
              <a:t>menempuh</a:t>
            </a:r>
            <a:r>
              <a:rPr lang="en-US" dirty="0" smtClean="0"/>
              <a:t> </a:t>
            </a:r>
            <a:r>
              <a:rPr lang="en-US" dirty="0" err="1" smtClean="0"/>
              <a:t>litasan</a:t>
            </a:r>
            <a:r>
              <a:rPr lang="en-US" dirty="0" smtClean="0"/>
              <a:t> </a:t>
            </a:r>
            <a:r>
              <a:rPr lang="en-US" dirty="0" err="1" smtClean="0"/>
              <a:t>setengah</a:t>
            </a:r>
            <a:r>
              <a:rPr lang="en-US" dirty="0" smtClean="0"/>
              <a:t> </a:t>
            </a:r>
            <a:r>
              <a:rPr lang="en-US" dirty="0" err="1" smtClean="0"/>
              <a:t>lingkaran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menumbuk</a:t>
            </a:r>
            <a:r>
              <a:rPr lang="en-US" dirty="0" smtClean="0"/>
              <a:t> </a:t>
            </a:r>
            <a:r>
              <a:rPr lang="en-US" dirty="0" err="1" smtClean="0"/>
              <a:t>detektor</a:t>
            </a:r>
            <a:r>
              <a:rPr lang="en-US" dirty="0" smtClean="0"/>
              <a:t> </a:t>
            </a:r>
            <a:r>
              <a:rPr lang="en-US" dirty="0" err="1" smtClean="0"/>
              <a:t>sejauh</a:t>
            </a:r>
            <a:r>
              <a:rPr lang="en-US" dirty="0" smtClean="0"/>
              <a:t> x. </a:t>
            </a:r>
            <a:r>
              <a:rPr lang="en-US" dirty="0" err="1" smtClean="0"/>
              <a:t>Buktikan</a:t>
            </a:r>
            <a:r>
              <a:rPr lang="en-US" dirty="0" smtClean="0"/>
              <a:t> </a:t>
            </a:r>
            <a:r>
              <a:rPr lang="en-US" dirty="0" err="1" smtClean="0"/>
              <a:t>bahwa</a:t>
            </a:r>
            <a:r>
              <a:rPr lang="en-US" dirty="0" smtClean="0"/>
              <a:t> </a:t>
            </a:r>
            <a:r>
              <a:rPr lang="en-US" dirty="0" err="1" smtClean="0"/>
              <a:t>massa</a:t>
            </a:r>
            <a:r>
              <a:rPr lang="en-US" dirty="0" smtClean="0"/>
              <a:t> </a:t>
            </a:r>
            <a:r>
              <a:rPr lang="en-US" dirty="0" err="1" smtClean="0"/>
              <a:t>partikel</a:t>
            </a:r>
            <a:r>
              <a:rPr lang="en-US" dirty="0" smtClean="0"/>
              <a:t> m </a:t>
            </a:r>
            <a:r>
              <a:rPr lang="en-US" dirty="0" err="1" smtClean="0"/>
              <a:t>adalah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77581" t="49823" r="7700" b="37205"/>
          <a:stretch/>
        </p:blipFill>
        <p:spPr>
          <a:xfrm>
            <a:off x="6207608" y="4886150"/>
            <a:ext cx="1915064" cy="9489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11547" y="6124755"/>
            <a:ext cx="6487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Dimana</a:t>
            </a:r>
            <a:r>
              <a:rPr lang="en-US" dirty="0" smtClean="0"/>
              <a:t> V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beda</a:t>
            </a:r>
            <a:r>
              <a:rPr lang="en-US" dirty="0" smtClean="0"/>
              <a:t> </a:t>
            </a:r>
            <a:r>
              <a:rPr lang="en-US" dirty="0" err="1" smtClean="0"/>
              <a:t>potensial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memberikan</a:t>
            </a:r>
            <a:r>
              <a:rPr lang="en-US" dirty="0" smtClean="0"/>
              <a:t> </a:t>
            </a:r>
            <a:r>
              <a:rPr lang="en-US" dirty="0" err="1" smtClean="0"/>
              <a:t>kecepatan</a:t>
            </a:r>
            <a:r>
              <a:rPr lang="en-US" dirty="0" smtClean="0"/>
              <a:t> </a:t>
            </a:r>
            <a:r>
              <a:rPr lang="en-US" dirty="0" err="1" smtClean="0"/>
              <a:t>awal</a:t>
            </a:r>
            <a:r>
              <a:rPr lang="en-US" dirty="0" smtClean="0"/>
              <a:t> </a:t>
            </a:r>
            <a:r>
              <a:rPr lang="en-US" dirty="0" err="1" smtClean="0"/>
              <a:t>partikel</a:t>
            </a:r>
            <a:r>
              <a:rPr lang="en-US" dirty="0" smtClean="0"/>
              <a:t> </a:t>
            </a:r>
            <a:r>
              <a:rPr lang="en-US" dirty="0" err="1" smtClean="0"/>
              <a:t>sebelum</a:t>
            </a:r>
            <a:r>
              <a:rPr lang="en-US" dirty="0" smtClean="0"/>
              <a:t> </a:t>
            </a:r>
            <a:r>
              <a:rPr lang="en-US" dirty="0" err="1" smtClean="0"/>
              <a:t>memasuki</a:t>
            </a:r>
            <a:r>
              <a:rPr lang="en-US" dirty="0" smtClean="0"/>
              <a:t> </a:t>
            </a:r>
            <a:r>
              <a:rPr lang="en-US" dirty="0" err="1" smtClean="0"/>
              <a:t>medan</a:t>
            </a:r>
            <a:r>
              <a:rPr lang="en-US" dirty="0" smtClean="0"/>
              <a:t> magnet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223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TUGAS NO 2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944" y="1690689"/>
            <a:ext cx="7316112" cy="255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847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solidFill>
                  <a:srgbClr val="FF0000"/>
                </a:solidFill>
              </a:rPr>
              <a:t>TUGAS NO 3</a:t>
            </a:r>
            <a:endParaRPr lang="en-US" sz="4800" dirty="0">
              <a:solidFill>
                <a:srgbClr val="FF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3147" y="1502228"/>
            <a:ext cx="5241031" cy="347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099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1066</TotalTime>
  <Words>444</Words>
  <Application>Microsoft Office PowerPoint</Application>
  <PresentationFormat>On-screen Show (4:3)</PresentationFormat>
  <Paragraphs>91</Paragraphs>
  <Slides>31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Calibri Light</vt:lpstr>
      <vt:lpstr>Office Theme</vt:lpstr>
      <vt:lpstr>Kemagnetan ( Gaya Lorentz)</vt:lpstr>
      <vt:lpstr>PowerPoint Presentation</vt:lpstr>
      <vt:lpstr>Medan Magnet dari Magnet Batang</vt:lpstr>
      <vt:lpstr>Magnet  Batang adalah Dipol!</vt:lpstr>
      <vt:lpstr>Monopol Magnet ?</vt:lpstr>
      <vt:lpstr>Medan: Grav., Listrik, Magnet</vt:lpstr>
      <vt:lpstr>PowerPoint Presentation</vt:lpstr>
      <vt:lpstr>Medan Magnet Bumi</vt:lpstr>
      <vt:lpstr>Medan Magnet B Sejauh Ini…</vt:lpstr>
      <vt:lpstr>PowerPoint Presentation</vt:lpstr>
      <vt:lpstr>Muatan yang Bergerak Merasakan Gaya Magnet</vt:lpstr>
      <vt:lpstr>PowerPoint Presentation</vt:lpstr>
      <vt:lpstr>Cross Product: Besarnya</vt:lpstr>
      <vt:lpstr>Medan Magnet B: Satuan</vt:lpstr>
      <vt:lpstr>Notasi</vt:lpstr>
      <vt:lpstr>Aturan Tangan Kanan 1</vt:lpstr>
      <vt:lpstr>PowerPoint Presentation</vt:lpstr>
      <vt:lpstr>PowerPoint Presentation</vt:lpstr>
      <vt:lpstr>PowerPoint Presentation</vt:lpstr>
      <vt:lpstr>PowerPoint Presentation</vt:lpstr>
      <vt:lpstr>Gaya Magnet + Gaya Listrik:  Gaya Lorentz</vt:lpstr>
      <vt:lpstr>Aplikasi: Selektor Kecepatan</vt:lpstr>
      <vt:lpstr>Selektor Kecepatan </vt:lpstr>
      <vt:lpstr>Lintasan Helix</vt:lpstr>
      <vt:lpstr>PowerPoint Presentation</vt:lpstr>
      <vt:lpstr>PowerPoint Presentation</vt:lpstr>
      <vt:lpstr>PowerPoint Presentation</vt:lpstr>
      <vt:lpstr>PowerPoint Presentation</vt:lpstr>
      <vt:lpstr>TUGAS NO 1</vt:lpstr>
      <vt:lpstr>TUGAS NO 2</vt:lpstr>
      <vt:lpstr>TUGAS NO 3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Medan Gravitasi – Listrik</dc:title>
  <dc:creator>defri</dc:creator>
  <cp:lastModifiedBy>def</cp:lastModifiedBy>
  <cp:revision>33</cp:revision>
  <dcterms:created xsi:type="dcterms:W3CDTF">2019-05-05T15:21:41Z</dcterms:created>
  <dcterms:modified xsi:type="dcterms:W3CDTF">2022-10-18T02:26:02Z</dcterms:modified>
</cp:coreProperties>
</file>