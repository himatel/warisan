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1.xml" ContentType="application/inkml+xml"/>
  <Override PartName="/ppt/notesSlides/notesSlide16.xml" ContentType="application/vnd.openxmlformats-officedocument.presentationml.notesSlide+xml"/>
  <Override PartName="/ppt/ink/ink2.xml" ContentType="application/inkml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80" r:id="rId1"/>
  </p:sldMasterIdLst>
  <p:notesMasterIdLst>
    <p:notesMasterId r:id="rId25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8" r:id="rId9"/>
    <p:sldId id="304" r:id="rId10"/>
    <p:sldId id="269" r:id="rId11"/>
    <p:sldId id="273" r:id="rId12"/>
    <p:sldId id="275" r:id="rId13"/>
    <p:sldId id="278" r:id="rId14"/>
    <p:sldId id="303" r:id="rId15"/>
    <p:sldId id="305" r:id="rId16"/>
    <p:sldId id="300" r:id="rId17"/>
    <p:sldId id="279" r:id="rId18"/>
    <p:sldId id="281" r:id="rId19"/>
    <p:sldId id="286" r:id="rId20"/>
    <p:sldId id="291" r:id="rId21"/>
    <p:sldId id="306" r:id="rId22"/>
    <p:sldId id="294" r:id="rId23"/>
    <p:sldId id="29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4095.875" units="1/cm"/>
          <inkml:channelProperty channel="Y" name="resolution" value="6553.3999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0-11-02T11:11:06.812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E2687B81-E260-45C5-ABE9-25ED50228AFB}" emma:medium="tactile" emma:mode="ink">
          <msink:context xmlns:msink="http://schemas.microsoft.com/ink/2010/main" type="writingRegion" rotatedBoundingBox="31757,14517 32864,14517 32864,16290 31757,16290"/>
        </emma:interpretation>
      </emma:emma>
    </inkml:annotationXML>
    <inkml:traceGroup>
      <inkml:annotationXML>
        <emma:emma xmlns:emma="http://www.w3.org/2003/04/emma" version="1.0">
          <emma:interpretation id="{5DA0FB27-8B26-4376-9C71-9399024AB694}" emma:medium="tactile" emma:mode="ink">
            <msink:context xmlns:msink="http://schemas.microsoft.com/ink/2010/main" type="paragraph" rotatedBoundingBox="31757,14517 32864,14517 32864,16290 31757,1629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E9604BE-6870-4580-9D02-BFCCE0699671}" emma:medium="tactile" emma:mode="ink">
              <msink:context xmlns:msink="http://schemas.microsoft.com/ink/2010/main" type="line" rotatedBoundingBox="31757,14517 32864,14517 32864,16290 31757,16290"/>
            </emma:interpretation>
          </emma:emma>
        </inkml:annotationXML>
        <inkml:traceGroup>
          <inkml:annotationXML>
            <emma:emma xmlns:emma="http://www.w3.org/2003/04/emma" version="1.0">
              <emma:interpretation id="{02854735-FA2A-44AA-8F63-9ECC40F75423}" emma:medium="tactile" emma:mode="ink">
                <msink:context xmlns:msink="http://schemas.microsoft.com/ink/2010/main" type="inkWord" rotatedBoundingBox="31757,14517 32864,14517 32864,16290 31757,16290"/>
              </emma:interpretation>
              <emma:one-of disjunction-type="recognition" id="oneOf0">
                <emma:interpretation id="interp0" emma:lang="" emma:confidence="0">
                  <emma:literal>\</emma:literal>
                </emma:interpretation>
                <emma:interpretation id="interp1" emma:lang="" emma:confidence="0">
                  <emma:literal>'</emma:literal>
                </emma:interpretation>
                <emma:interpretation id="interp2" emma:lang="" emma:confidence="0">
                  <emma:literal>,</emma:literal>
                </emma:interpretation>
                <emma:interpretation id="interp3" emma:lang="" emma:confidence="0">
                  <emma:literal>•</emma:literal>
                </emma:interpretation>
                <emma:interpretation id="interp4" emma:lang="" emma:confidence="0">
                  <emma:literal>y</emma:literal>
                </emma:interpretation>
              </emma:one-of>
            </emma:emma>
          </inkml:annotationXML>
          <inkml:trace contextRef="#ctx0" brushRef="#br0">0 0 108 0,'145'208'268'0,"-2"-38"11"16,-5-24 6-16,-7-9-122 15,-13 2-66-15,-14 4-35 0,-12 1-20 16,-14-3-44 0,-13-7-137-16,-16-10-79 0,-18-11-38 15,-18-17-28 1,-16-18-14-16</inkml:trace>
        </inkml:traceGroup>
      </inkml:traceGroup>
    </inkml:traceGroup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4095.875" units="1/cm"/>
          <inkml:channelProperty channel="Y" name="resolution" value="6553.3999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0-10-22T04:40:41.599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4AC65149-7CBF-4648-978C-3FC112AB530A}" emma:medium="tactile" emma:mode="ink">
          <msink:context xmlns:msink="http://schemas.microsoft.com/ink/2010/main" type="inkDrawing" rotatedBoundingBox="10129,2390 10741,2530 10737,2544 10126,2405" semanticType="callout" shapeName="Other"/>
        </emma:interpretation>
      </emma:emma>
    </inkml:annotationXML>
    <inkml:trace contextRef="#ctx0" brushRef="#br0">0 0 15 0,'611'139'9'0</inkml:trace>
  </inkml:traceGroup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C32BCF-F6B8-4CCB-AA66-9A0C17217448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7EFB36-89C7-4115-B753-367168852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707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Oleh Endi Suhendi                                Jur. Dik.  Fisika FPMIPA UPI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E5111C-B579-4557-B51C-5E3AFEEA6D15}" type="slidenum">
              <a:rPr lang="en-US"/>
              <a:pPr/>
              <a:t>2</a:t>
            </a:fld>
            <a:endParaRPr lang="en-US"/>
          </a:p>
        </p:txBody>
      </p:sp>
      <p:sp>
        <p:nvSpPr>
          <p:cNvPr id="1198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1198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9750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Oleh Endi Suhendi                                Jur. Dik.  Fisika FPMIPA UPI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7531CAD-88F3-4469-8DC6-8395DA799966}" type="slidenum">
              <a:rPr lang="en-US"/>
              <a:pPr/>
              <a:t>3</a:t>
            </a:fld>
            <a:endParaRPr lang="en-US"/>
          </a:p>
        </p:txBody>
      </p:sp>
      <p:sp>
        <p:nvSpPr>
          <p:cNvPr id="1199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1199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7177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Oleh Endi Suhendi                                Jur. Dik.  Fisika FPMIPA UPI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148D27-ACDA-4E5E-96BB-626782BFCD71}" type="slidenum">
              <a:rPr lang="en-US"/>
              <a:pPr/>
              <a:t>4</a:t>
            </a:fld>
            <a:endParaRPr lang="en-US"/>
          </a:p>
        </p:txBody>
      </p:sp>
      <p:sp>
        <p:nvSpPr>
          <p:cNvPr id="1200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1200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357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Oleh Endi Suhendi                                Jur. Dik.  Fisika FPMIPA UPI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7D47F40-CE50-452A-A3C5-D8A7684C1026}" type="slidenum">
              <a:rPr lang="en-US"/>
              <a:pPr/>
              <a:t>5</a:t>
            </a:fld>
            <a:endParaRPr lang="en-US"/>
          </a:p>
        </p:txBody>
      </p:sp>
      <p:sp>
        <p:nvSpPr>
          <p:cNvPr id="1201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1201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158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Oleh Endi Suhendi                                Jur. Dik.  Fisika FPMIPA UPI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F7B0A49-9B83-4E87-BBF7-DD889BE45DAF}" type="slidenum">
              <a:rPr lang="en-US"/>
              <a:pPr/>
              <a:t>6</a:t>
            </a:fld>
            <a:endParaRPr lang="en-US"/>
          </a:p>
        </p:txBody>
      </p:sp>
      <p:sp>
        <p:nvSpPr>
          <p:cNvPr id="1202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1202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8039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Oleh Endi Suhendi                                Jur. Dik.  Fisika FPMIPA UPI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341080-50A2-408D-9A82-6B9E8645CB2C}" type="slidenum">
              <a:rPr lang="en-US"/>
              <a:pPr/>
              <a:t>7</a:t>
            </a:fld>
            <a:endParaRPr lang="en-US"/>
          </a:p>
        </p:txBody>
      </p:sp>
      <p:sp>
        <p:nvSpPr>
          <p:cNvPr id="1203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1203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071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Oleh Endi Suhendi                                Jur. Dik.  Fisika FPMIPA UPI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524B34-BDAE-4EBF-89B9-74A3C6072BC1}" type="slidenum">
              <a:rPr lang="en-US"/>
              <a:pPr/>
              <a:t>8</a:t>
            </a:fld>
            <a:endParaRPr lang="en-US"/>
          </a:p>
        </p:txBody>
      </p:sp>
      <p:sp>
        <p:nvSpPr>
          <p:cNvPr id="130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130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231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Oleh Endi Suhendi                                Jur. Dik.  Fisika FPMIPA UPI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59330C-E558-46A2-82E6-B0F3E53DC0B1}" type="slidenum">
              <a:rPr lang="en-US"/>
              <a:pPr/>
              <a:t>10</a:t>
            </a:fld>
            <a:endParaRPr lang="en-US"/>
          </a:p>
        </p:txBody>
      </p:sp>
      <p:sp>
        <p:nvSpPr>
          <p:cNvPr id="130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130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3635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Oleh Endi Suhendi                                Jur. Dik.  Fisika FPMIPA UPI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8146BF-2879-4BBF-8ED3-73897B20DB2C}" type="slidenum">
              <a:rPr lang="en-US"/>
              <a:pPr/>
              <a:t>11</a:t>
            </a:fld>
            <a:endParaRPr lang="en-US"/>
          </a:p>
        </p:txBody>
      </p:sp>
      <p:sp>
        <p:nvSpPr>
          <p:cNvPr id="132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132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975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Oleh Endi Suhendi                                Jur. Dik.  Fisika FPMIPA UPI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9AC390-497A-4568-835F-D19D060627FE}" type="slidenum">
              <a:rPr lang="en-US"/>
              <a:pPr/>
              <a:t>12</a:t>
            </a:fld>
            <a:endParaRPr lang="en-US"/>
          </a:p>
        </p:txBody>
      </p:sp>
      <p:sp>
        <p:nvSpPr>
          <p:cNvPr id="133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133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1358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Oleh Endi Suhendi                                Jur. Dik.  Fisika FPMIPA UPI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E22E0F1-8A54-4F42-894C-1BE5DE8203DB}" type="slidenum">
              <a:rPr lang="en-US"/>
              <a:pPr/>
              <a:t>13</a:t>
            </a:fld>
            <a:endParaRPr lang="en-US"/>
          </a:p>
        </p:txBody>
      </p:sp>
      <p:sp>
        <p:nvSpPr>
          <p:cNvPr id="135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135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1203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Oleh Endi Suhendi                                Jur. Dik.  Fisika FPMIPA UPI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624EA9D-40DF-40AC-8864-8019A40CB743}" type="slidenum">
              <a:rPr lang="en-US"/>
              <a:pPr/>
              <a:t>17</a:t>
            </a:fld>
            <a:endParaRPr lang="en-US"/>
          </a:p>
        </p:txBody>
      </p:sp>
      <p:sp>
        <p:nvSpPr>
          <p:cNvPr id="136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136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8396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Oleh Endi Suhendi                                Jur. Dik.  Fisika FPMIPA UPI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2632D9-60EC-46B9-8C03-0F949B4554BB}" type="slidenum">
              <a:rPr lang="en-US"/>
              <a:pPr/>
              <a:t>18</a:t>
            </a:fld>
            <a:endParaRPr lang="en-US"/>
          </a:p>
        </p:txBody>
      </p:sp>
      <p:sp>
        <p:nvSpPr>
          <p:cNvPr id="136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136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3708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Oleh Endi Suhendi                                Jur. Dik.  Fisika FPMIPA UPI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CB4A4B-FF35-44BA-A560-7AEDBDC160EC}" type="slidenum">
              <a:rPr lang="en-US"/>
              <a:pPr/>
              <a:t>19</a:t>
            </a:fld>
            <a:endParaRPr lang="en-US"/>
          </a:p>
        </p:txBody>
      </p:sp>
      <p:sp>
        <p:nvSpPr>
          <p:cNvPr id="137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137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3246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Oleh Endi Suhendi                                Jur. Dik.  Fisika FPMIPA UPI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C289F6-B770-4423-B25B-15359F7E84D4}" type="slidenum">
              <a:rPr lang="en-US"/>
              <a:pPr/>
              <a:t>20</a:t>
            </a:fld>
            <a:endParaRPr lang="en-US"/>
          </a:p>
        </p:txBody>
      </p:sp>
      <p:sp>
        <p:nvSpPr>
          <p:cNvPr id="138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138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8741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Oleh Endi Suhendi                                Jur. Dik.  Fisika FPMIPA UPI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9DD125-1768-40BB-937F-67611B9D2A60}" type="slidenum">
              <a:rPr lang="en-US"/>
              <a:pPr/>
              <a:t>22</a:t>
            </a:fld>
            <a:endParaRPr lang="en-US"/>
          </a:p>
        </p:txBody>
      </p:sp>
      <p:sp>
        <p:nvSpPr>
          <p:cNvPr id="139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1391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069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Oleh Endi Suhendi                                Jur. Dik.  Fisika FPMIPA UPI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DFC130-8B0D-432B-9CC9-9CEF9FBB42FD}" type="slidenum">
              <a:rPr lang="en-US"/>
              <a:pPr/>
              <a:t>23</a:t>
            </a:fld>
            <a:endParaRPr lang="en-US"/>
          </a:p>
        </p:txBody>
      </p:sp>
      <p:sp>
        <p:nvSpPr>
          <p:cNvPr id="139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1395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809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762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007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544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747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779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535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174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391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25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659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303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235" y="304800"/>
            <a:ext cx="11857567" cy="6413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11202" y="1447800"/>
            <a:ext cx="5433484" cy="228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347885" y="1447800"/>
            <a:ext cx="5433483" cy="228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711202" y="3886200"/>
            <a:ext cx="11070167" cy="228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1279719" y="6543675"/>
            <a:ext cx="840316" cy="304800"/>
          </a:xfrm>
        </p:spPr>
        <p:txBody>
          <a:bodyPr/>
          <a:lstStyle>
            <a:lvl1pPr>
              <a:defRPr/>
            </a:lvl1pPr>
          </a:lstStyle>
          <a:p>
            <a:fld id="{D7AE00FF-8C3A-4386-B217-9012849CB5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6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468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oleObject" Target="../embeddings/oleObject9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8.wmf"/><Relationship Id="rId12" Type="http://schemas.openxmlformats.org/officeDocument/2006/relationships/image" Target="../media/image11.wmf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Relationship Id="rId6" Type="http://schemas.openxmlformats.org/officeDocument/2006/relationships/oleObject" Target="../embeddings/oleObject6.bin"/><Relationship Id="rId11" Type="http://schemas.openxmlformats.org/officeDocument/2006/relationships/oleObject" Target="../embeddings/oleObject8.bin"/><Relationship Id="rId5" Type="http://schemas.openxmlformats.org/officeDocument/2006/relationships/image" Target="../media/image7.wmf"/><Relationship Id="rId15" Type="http://schemas.openxmlformats.org/officeDocument/2006/relationships/hyperlink" Target="1.6%20Coulom%20force.swf" TargetMode="External"/><Relationship Id="rId10" Type="http://schemas.openxmlformats.org/officeDocument/2006/relationships/image" Target="../media/image10.jpeg"/><Relationship Id="rId4" Type="http://schemas.openxmlformats.org/officeDocument/2006/relationships/oleObject" Target="../embeddings/oleObject5.bin"/><Relationship Id="rId9" Type="http://schemas.openxmlformats.org/officeDocument/2006/relationships/image" Target="../media/image9.wmf"/><Relationship Id="rId14" Type="http://schemas.openxmlformats.org/officeDocument/2006/relationships/image" Target="../media/image12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14.bin"/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7.emf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19.wmf"/><Relationship Id="rId1" Type="http://schemas.openxmlformats.org/officeDocument/2006/relationships/tags" Target="../tags/tag4.xml"/><Relationship Id="rId6" Type="http://schemas.openxmlformats.org/officeDocument/2006/relationships/image" Target="../media/image14.png"/><Relationship Id="rId11" Type="http://schemas.openxmlformats.org/officeDocument/2006/relationships/oleObject" Target="../embeddings/oleObject13.bin"/><Relationship Id="rId5" Type="http://schemas.openxmlformats.org/officeDocument/2006/relationships/image" Target="../media/image13.wmf"/><Relationship Id="rId15" Type="http://schemas.openxmlformats.org/officeDocument/2006/relationships/oleObject" Target="../embeddings/oleObject15.bin"/><Relationship Id="rId10" Type="http://schemas.openxmlformats.org/officeDocument/2006/relationships/image" Target="../media/image16.wmf"/><Relationship Id="rId4" Type="http://schemas.openxmlformats.org/officeDocument/2006/relationships/oleObject" Target="../embeddings/oleObject10.bin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18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21.wmf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6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notesSlide" Target="../notesSlides/notesSlide6.xml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Relationship Id="rId6" Type="http://schemas.openxmlformats.org/officeDocument/2006/relationships/image" Target="../media/image24.jpeg"/><Relationship Id="rId5" Type="http://schemas.openxmlformats.org/officeDocument/2006/relationships/image" Target="../media/image23.emf"/><Relationship Id="rId10" Type="http://schemas.openxmlformats.org/officeDocument/2006/relationships/image" Target="../media/image26.wmf"/><Relationship Id="rId4" Type="http://schemas.openxmlformats.org/officeDocument/2006/relationships/oleObject" Target="../embeddings/oleObject18.bin"/><Relationship Id="rId9" Type="http://schemas.openxmlformats.org/officeDocument/2006/relationships/oleObject" Target="../embeddings/oleObject20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13" Type="http://schemas.openxmlformats.org/officeDocument/2006/relationships/oleObject" Target="../embeddings/oleObject26.bin"/><Relationship Id="rId18" Type="http://schemas.openxmlformats.org/officeDocument/2006/relationships/image" Target="../media/image40.e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37.emf"/><Relationship Id="rId17" Type="http://schemas.openxmlformats.org/officeDocument/2006/relationships/oleObject" Target="../embeddings/oleObject28.bin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39.png"/><Relationship Id="rId20" Type="http://schemas.openxmlformats.org/officeDocument/2006/relationships/image" Target="../media/image41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e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7.bin"/><Relationship Id="rId10" Type="http://schemas.openxmlformats.org/officeDocument/2006/relationships/image" Target="../media/image36.emf"/><Relationship Id="rId19" Type="http://schemas.openxmlformats.org/officeDocument/2006/relationships/oleObject" Target="../embeddings/oleObject29.bin"/><Relationship Id="rId4" Type="http://schemas.openxmlformats.org/officeDocument/2006/relationships/image" Target="../media/image33.png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38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oleObject" Target="../embeddings/oleObject30.bin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oleObject" Target="../embeddings/oleObject31.bin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emf"/><Relationship Id="rId13" Type="http://schemas.openxmlformats.org/officeDocument/2006/relationships/oleObject" Target="../embeddings/oleObject37.bin"/><Relationship Id="rId18" Type="http://schemas.openxmlformats.org/officeDocument/2006/relationships/image" Target="../media/image69.emf"/><Relationship Id="rId26" Type="http://schemas.openxmlformats.org/officeDocument/2006/relationships/image" Target="../media/image73.wmf"/><Relationship Id="rId3" Type="http://schemas.openxmlformats.org/officeDocument/2006/relationships/oleObject" Target="../embeddings/oleObject32.bin"/><Relationship Id="rId21" Type="http://schemas.openxmlformats.org/officeDocument/2006/relationships/oleObject" Target="../embeddings/oleObject41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66.emf"/><Relationship Id="rId17" Type="http://schemas.openxmlformats.org/officeDocument/2006/relationships/oleObject" Target="../embeddings/oleObject39.bin"/><Relationship Id="rId25" Type="http://schemas.openxmlformats.org/officeDocument/2006/relationships/oleObject" Target="../embeddings/oleObject43.bin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68.emf"/><Relationship Id="rId20" Type="http://schemas.openxmlformats.org/officeDocument/2006/relationships/image" Target="../media/image70.wmf"/><Relationship Id="rId29" Type="http://schemas.openxmlformats.org/officeDocument/2006/relationships/oleObject" Target="../embeddings/oleObject45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3.emf"/><Relationship Id="rId11" Type="http://schemas.openxmlformats.org/officeDocument/2006/relationships/oleObject" Target="../embeddings/oleObject36.bin"/><Relationship Id="rId24" Type="http://schemas.openxmlformats.org/officeDocument/2006/relationships/image" Target="../media/image72.emf"/><Relationship Id="rId5" Type="http://schemas.openxmlformats.org/officeDocument/2006/relationships/oleObject" Target="../embeddings/oleObject33.bin"/><Relationship Id="rId15" Type="http://schemas.openxmlformats.org/officeDocument/2006/relationships/oleObject" Target="../embeddings/oleObject38.bin"/><Relationship Id="rId23" Type="http://schemas.openxmlformats.org/officeDocument/2006/relationships/oleObject" Target="../embeddings/oleObject42.bin"/><Relationship Id="rId28" Type="http://schemas.openxmlformats.org/officeDocument/2006/relationships/image" Target="../media/image74.wmf"/><Relationship Id="rId10" Type="http://schemas.openxmlformats.org/officeDocument/2006/relationships/image" Target="../media/image65.emf"/><Relationship Id="rId19" Type="http://schemas.openxmlformats.org/officeDocument/2006/relationships/oleObject" Target="../embeddings/oleObject40.bin"/><Relationship Id="rId31" Type="http://schemas.openxmlformats.org/officeDocument/2006/relationships/image" Target="../media/image76.png"/><Relationship Id="rId4" Type="http://schemas.openxmlformats.org/officeDocument/2006/relationships/image" Target="../media/image62.emf"/><Relationship Id="rId9" Type="http://schemas.openxmlformats.org/officeDocument/2006/relationships/oleObject" Target="../embeddings/oleObject35.bin"/><Relationship Id="rId14" Type="http://schemas.openxmlformats.org/officeDocument/2006/relationships/image" Target="../media/image67.emf"/><Relationship Id="rId22" Type="http://schemas.openxmlformats.org/officeDocument/2006/relationships/image" Target="../media/image71.emf"/><Relationship Id="rId27" Type="http://schemas.openxmlformats.org/officeDocument/2006/relationships/oleObject" Target="../embeddings/oleObject44.bin"/><Relationship Id="rId30" Type="http://schemas.openxmlformats.org/officeDocument/2006/relationships/image" Target="../media/image75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1.emf"/><Relationship Id="rId5" Type="http://schemas.openxmlformats.org/officeDocument/2006/relationships/image" Target="../media/image760.png"/><Relationship Id="rId4" Type="http://schemas.openxmlformats.org/officeDocument/2006/relationships/image" Target="../media/image8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10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emf"/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5" Type="http://schemas.openxmlformats.org/officeDocument/2006/relationships/customXml" Target="../ink/ink2.xml"/><Relationship Id="rId4" Type="http://schemas.openxmlformats.org/officeDocument/2006/relationships/image" Target="../media/image83.png"/><Relationship Id="rId9" Type="http://schemas.openxmlformats.org/officeDocument/2006/relationships/image" Target="../media/image8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0167" y="0"/>
            <a:ext cx="8795480" cy="2241825"/>
          </a:xfrm>
        </p:spPr>
        <p:txBody>
          <a:bodyPr/>
          <a:lstStyle/>
          <a:p>
            <a:r>
              <a:rPr lang="en-US" dirty="0" err="1"/>
              <a:t>Topik</a:t>
            </a:r>
            <a:r>
              <a:rPr lang="en-US" dirty="0"/>
              <a:t> </a:t>
            </a:r>
            <a:r>
              <a:rPr lang="id-ID" dirty="0"/>
              <a:t>2</a:t>
            </a:r>
            <a:r>
              <a:rPr lang="en-US" dirty="0"/>
              <a:t> :Listrik statis dan </a:t>
            </a:r>
            <a:r>
              <a:rPr lang="en-US" dirty="0" err="1"/>
              <a:t>Konsep</a:t>
            </a:r>
            <a:r>
              <a:rPr lang="en-US" dirty="0"/>
              <a:t> Medan </a:t>
            </a:r>
            <a:r>
              <a:rPr lang="en-US" dirty="0" err="1"/>
              <a:t>listrik</a:t>
            </a:r>
            <a:endParaRPr lang="en-US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417360" y="4978859"/>
            <a:ext cx="7407155" cy="1879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/>
              <a:t>Dosen</a:t>
            </a:r>
            <a:r>
              <a:rPr lang="en-US" b="1" dirty="0"/>
              <a:t> : </a:t>
            </a:r>
            <a:r>
              <a:rPr lang="en-US" b="1" dirty="0" err="1"/>
              <a:t>Defrianto</a:t>
            </a:r>
            <a:r>
              <a:rPr lang="en-US" b="1" dirty="0"/>
              <a:t> </a:t>
            </a:r>
            <a:r>
              <a:rPr lang="en-US" b="1" dirty="0" err="1"/>
              <a:t>Pratama</a:t>
            </a:r>
            <a:r>
              <a:rPr lang="en-US" b="1" dirty="0"/>
              <a:t>, </a:t>
            </a:r>
            <a:r>
              <a:rPr lang="en-US" b="1" dirty="0" err="1"/>
              <a:t>S.Pd</a:t>
            </a:r>
            <a:r>
              <a:rPr lang="en-US" b="1" dirty="0"/>
              <a:t>, </a:t>
            </a:r>
            <a:r>
              <a:rPr lang="en-US" b="1" dirty="0" err="1"/>
              <a:t>M.Si</a:t>
            </a:r>
            <a:r>
              <a:rPr lang="en-US" b="1" dirty="0"/>
              <a:t>.</a:t>
            </a:r>
          </a:p>
          <a:p>
            <a:r>
              <a:rPr lang="en-US" b="1" dirty="0" err="1"/>
              <a:t>Teknik</a:t>
            </a:r>
            <a:r>
              <a:rPr lang="en-US" b="1" dirty="0"/>
              <a:t> </a:t>
            </a:r>
            <a:r>
              <a:rPr lang="en-US" b="1" dirty="0" err="1"/>
              <a:t>Elektronika</a:t>
            </a:r>
            <a:endParaRPr lang="en-US" b="1" dirty="0"/>
          </a:p>
          <a:p>
            <a:r>
              <a:rPr lang="en-US" b="1" dirty="0" err="1"/>
              <a:t>Politeknik</a:t>
            </a:r>
            <a:r>
              <a:rPr lang="en-US" b="1" dirty="0"/>
              <a:t> </a:t>
            </a:r>
            <a:r>
              <a:rPr lang="en-US" b="1" dirty="0" err="1"/>
              <a:t>Negeri</a:t>
            </a:r>
            <a:r>
              <a:rPr lang="en-US" b="1" dirty="0"/>
              <a:t> Bandung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0532" y="2998343"/>
            <a:ext cx="1986032" cy="19805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79770" y="2435418"/>
            <a:ext cx="704474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Sumber</a:t>
            </a:r>
            <a:r>
              <a:rPr lang="en-US" dirty="0"/>
              <a:t> </a:t>
            </a:r>
            <a:r>
              <a:rPr lang="en-US" dirty="0" err="1"/>
              <a:t>bacaan</a:t>
            </a:r>
            <a:r>
              <a:rPr lang="en-US" dirty="0"/>
              <a:t> </a:t>
            </a:r>
            <a:r>
              <a:rPr lang="en-US" dirty="0" err="1"/>
              <a:t>Ebook</a:t>
            </a:r>
            <a:r>
              <a:rPr lang="en-US" dirty="0"/>
              <a:t>: </a:t>
            </a:r>
            <a:r>
              <a:rPr lang="en-US" dirty="0" err="1"/>
              <a:t>Halliday</a:t>
            </a:r>
            <a:r>
              <a:rPr lang="en-US" dirty="0"/>
              <a:t> </a:t>
            </a:r>
            <a:r>
              <a:rPr lang="en-US" dirty="0" err="1"/>
              <a:t>ch</a:t>
            </a:r>
            <a:r>
              <a:rPr lang="en-US" dirty="0"/>
              <a:t> 21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ch</a:t>
            </a:r>
            <a:r>
              <a:rPr lang="en-US" dirty="0"/>
              <a:t> 22</a:t>
            </a:r>
          </a:p>
        </p:txBody>
      </p:sp>
    </p:spTree>
    <p:extLst>
      <p:ext uri="{BB962C8B-B14F-4D97-AF65-F5344CB8AC3E}">
        <p14:creationId xmlns:p14="http://schemas.microsoft.com/office/powerpoint/2010/main" val="363971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330" name="Rectangle 2"/>
          <p:cNvSpPr>
            <a:spLocks noGrp="1" noChangeArrowheads="1"/>
          </p:cNvSpPr>
          <p:nvPr>
            <p:ph type="title"/>
          </p:nvPr>
        </p:nvSpPr>
        <p:spPr>
          <a:xfrm>
            <a:off x="3111106" y="1163243"/>
            <a:ext cx="6297215" cy="269081"/>
          </a:xfrm>
        </p:spPr>
        <p:txBody>
          <a:bodyPr>
            <a:normAutofit fontScale="90000"/>
          </a:bodyPr>
          <a:lstStyle/>
          <a:p>
            <a:r>
              <a:rPr lang="en-US"/>
              <a:t>Muatan Listrik</a:t>
            </a:r>
          </a:p>
        </p:txBody>
      </p:sp>
      <p:sp>
        <p:nvSpPr>
          <p:cNvPr id="1123331" name="Rectangle 3"/>
          <p:cNvSpPr>
            <a:spLocks noGrp="1" noChangeArrowheads="1"/>
          </p:cNvSpPr>
          <p:nvPr>
            <p:ph idx="1"/>
          </p:nvPr>
        </p:nvSpPr>
        <p:spPr>
          <a:xfrm>
            <a:off x="2838450" y="1828800"/>
            <a:ext cx="6515100" cy="3657600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>
                <a:solidFill>
                  <a:srgbClr val="000000"/>
                </a:solidFill>
                <a:cs typeface="Times New Roman" panose="02020603050405020304" pitchFamily="18" charset="0"/>
              </a:rPr>
              <a:t>Dua</a:t>
            </a:r>
            <a:r>
              <a:rPr 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cs typeface="Times New Roman" panose="02020603050405020304" pitchFamily="18" charset="0"/>
              </a:rPr>
              <a:t>jenis</a:t>
            </a:r>
            <a:r>
              <a:rPr 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cs typeface="Times New Roman" panose="02020603050405020304" pitchFamily="18" charset="0"/>
              </a:rPr>
              <a:t>muatan</a:t>
            </a:r>
            <a:r>
              <a:rPr 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cs typeface="Times New Roman" panose="02020603050405020304" pitchFamily="18" charset="0"/>
              </a:rPr>
              <a:t>listrik</a:t>
            </a:r>
            <a:r>
              <a:rPr 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: </a:t>
            </a:r>
            <a:r>
              <a:rPr lang="en-US" dirty="0" err="1">
                <a:solidFill>
                  <a:srgbClr val="000000"/>
                </a:solidFill>
                <a:cs typeface="Times New Roman" panose="02020603050405020304" pitchFamily="18" charset="0"/>
              </a:rPr>
              <a:t>positif</a:t>
            </a:r>
            <a:r>
              <a:rPr 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cs typeface="Times New Roman" panose="02020603050405020304" pitchFamily="18" charset="0"/>
              </a:rPr>
              <a:t>dan</a:t>
            </a:r>
            <a:r>
              <a:rPr 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cs typeface="Times New Roman" panose="02020603050405020304" pitchFamily="18" charset="0"/>
              </a:rPr>
              <a:t>negatif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</a:p>
          <a:p>
            <a:r>
              <a:rPr lang="en-US" dirty="0" err="1">
                <a:solidFill>
                  <a:srgbClr val="000000"/>
                </a:solidFill>
                <a:cs typeface="Times New Roman" panose="02020603050405020304" pitchFamily="18" charset="0"/>
              </a:rPr>
              <a:t>Satuan</a:t>
            </a:r>
            <a:r>
              <a:rPr 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cs typeface="Times New Roman" panose="02020603050405020304" pitchFamily="18" charset="0"/>
              </a:rPr>
              <a:t>muatan</a:t>
            </a:r>
            <a:r>
              <a:rPr 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cs typeface="Times New Roman" panose="02020603050405020304" pitchFamily="18" charset="0"/>
              </a:rPr>
              <a:t>adalah</a:t>
            </a:r>
            <a:r>
              <a:rPr 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en-US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coulomb</a:t>
            </a:r>
            <a:r>
              <a:rPr 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  [C] </a:t>
            </a:r>
            <a:endParaRPr lang="en-US" dirty="0"/>
          </a:p>
          <a:p>
            <a:pPr>
              <a:spcBef>
                <a:spcPct val="50000"/>
              </a:spcBef>
            </a:pPr>
            <a:r>
              <a:rPr lang="en-US" dirty="0" err="1">
                <a:cs typeface="Times New Roman" panose="02020603050405020304" pitchFamily="18" charset="0"/>
              </a:rPr>
              <a:t>Muatan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elektron</a:t>
            </a:r>
            <a:r>
              <a:rPr lang="en-US" dirty="0">
                <a:cs typeface="Times New Roman" panose="02020603050405020304" pitchFamily="18" charset="0"/>
              </a:rPr>
              <a:t> (</a:t>
            </a:r>
            <a:r>
              <a:rPr lang="en-US" dirty="0" err="1">
                <a:cs typeface="Times New Roman" panose="02020603050405020304" pitchFamily="18" charset="0"/>
              </a:rPr>
              <a:t>negatif</a:t>
            </a:r>
            <a:r>
              <a:rPr lang="en-US" dirty="0">
                <a:cs typeface="Times New Roman" panose="02020603050405020304" pitchFamily="18" charset="0"/>
              </a:rPr>
              <a:t>) </a:t>
            </a:r>
            <a:r>
              <a:rPr lang="en-US" dirty="0" err="1">
                <a:cs typeface="Times New Roman" panose="02020603050405020304" pitchFamily="18" charset="0"/>
              </a:rPr>
              <a:t>atau</a:t>
            </a:r>
            <a:r>
              <a:rPr lang="en-US" dirty="0">
                <a:cs typeface="Times New Roman" panose="02020603050405020304" pitchFamily="18" charset="0"/>
              </a:rPr>
              <a:t> proton (</a:t>
            </a:r>
            <a:r>
              <a:rPr lang="en-US" dirty="0" err="1">
                <a:cs typeface="Times New Roman" panose="02020603050405020304" pitchFamily="18" charset="0"/>
              </a:rPr>
              <a:t>positif</a:t>
            </a:r>
            <a:r>
              <a:rPr lang="en-US" dirty="0">
                <a:cs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adalah</a:t>
            </a:r>
            <a:r>
              <a:rPr lang="en-US" dirty="0">
                <a:cs typeface="Times New Roman" panose="02020603050405020304" pitchFamily="18" charset="0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spcBef>
                <a:spcPct val="50000"/>
              </a:spcBef>
            </a:pPr>
            <a:endParaRPr lang="en-US" sz="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solidFill>
                  <a:srgbClr val="000000"/>
                </a:solidFill>
                <a:cs typeface="Times New Roman" panose="02020603050405020304" pitchFamily="18" charset="0"/>
              </a:rPr>
              <a:t>Muatan</a:t>
            </a:r>
            <a:r>
              <a:rPr 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cs typeface="Times New Roman" panose="02020603050405020304" pitchFamily="18" charset="0"/>
              </a:rPr>
              <a:t>terkuantisasi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900" dirty="0"/>
          </a:p>
          <a:p>
            <a:r>
              <a:rPr lang="en-US" dirty="0" err="1"/>
              <a:t>Muatan</a:t>
            </a:r>
            <a:r>
              <a:rPr lang="en-US" dirty="0"/>
              <a:t> </a:t>
            </a:r>
            <a:r>
              <a:rPr lang="en-US" dirty="0" err="1"/>
              <a:t>kekal</a:t>
            </a:r>
            <a:endParaRPr lang="en-US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DA1F9-D403-498A-BBE3-920DDE20595E}" type="slidenum">
              <a:rPr lang="en-US"/>
              <a:pPr/>
              <a:t>2</a:t>
            </a:fld>
            <a:endParaRPr lang="en-US"/>
          </a:p>
        </p:txBody>
      </p:sp>
      <p:graphicFrame>
        <p:nvGraphicFramePr>
          <p:cNvPr id="11233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3990059"/>
              </p:ext>
            </p:extLst>
          </p:nvPr>
        </p:nvGraphicFramePr>
        <p:xfrm>
          <a:off x="3867150" y="3183735"/>
          <a:ext cx="4114800" cy="627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98320" imgH="228600" progId="Equation.DSMT4">
                  <p:embed/>
                </p:oleObj>
              </mc:Choice>
              <mc:Fallback>
                <p:oleObj name="Equation" r:id="rId4" imgW="1498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7150" y="3183735"/>
                        <a:ext cx="4114800" cy="6274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33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2834528"/>
              </p:ext>
            </p:extLst>
          </p:nvPr>
        </p:nvGraphicFramePr>
        <p:xfrm>
          <a:off x="5124450" y="4225537"/>
          <a:ext cx="160020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83920" imgH="203040" progId="Equation.DSMT4">
                  <p:embed/>
                </p:oleObj>
              </mc:Choice>
              <mc:Fallback>
                <p:oleObj name="Equation" r:id="rId6" imgW="5839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4450" y="4225537"/>
                        <a:ext cx="1600200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33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4584968"/>
              </p:ext>
            </p:extLst>
          </p:nvPr>
        </p:nvGraphicFramePr>
        <p:xfrm>
          <a:off x="3351458" y="5252260"/>
          <a:ext cx="2114550" cy="5119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39600" imgH="228600" progId="Equation.DSMT4">
                  <p:embed/>
                </p:oleObj>
              </mc:Choice>
              <mc:Fallback>
                <p:oleObj name="Equation" r:id="rId8" imgW="939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1458" y="5252260"/>
                        <a:ext cx="2114550" cy="5119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33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3339523"/>
              </p:ext>
            </p:extLst>
          </p:nvPr>
        </p:nvGraphicFramePr>
        <p:xfrm>
          <a:off x="5979016" y="5311383"/>
          <a:ext cx="2971800" cy="589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77760" imgH="228600" progId="Equation.DSMT4">
                  <p:embed/>
                </p:oleObj>
              </mc:Choice>
              <mc:Fallback>
                <p:oleObj name="Equation" r:id="rId10" imgW="977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9016" y="5311383"/>
                        <a:ext cx="2971800" cy="5893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248563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3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354" name="Rectangle 2"/>
          <p:cNvSpPr>
            <a:spLocks noGrp="1" noChangeArrowheads="1"/>
          </p:cNvSpPr>
          <p:nvPr>
            <p:ph type="title"/>
          </p:nvPr>
        </p:nvSpPr>
        <p:spPr>
          <a:xfrm>
            <a:off x="481931" y="420769"/>
            <a:ext cx="6175772" cy="269081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MS Mincho" panose="02020609040205080304" pitchFamily="49" charset="-128"/>
              </a:rPr>
              <a:t>Gaya </a:t>
            </a:r>
            <a:r>
              <a:rPr lang="en-US" dirty="0" err="1">
                <a:ea typeface="MS Mincho" panose="02020609040205080304" pitchFamily="49" charset="-128"/>
              </a:rPr>
              <a:t>Listrik</a:t>
            </a:r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0510E3-6E51-4C89-8489-26EF4F114B32}" type="slidenum">
              <a:rPr lang="en-US"/>
              <a:pPr/>
              <a:t>3</a:t>
            </a:fld>
            <a:endParaRPr lang="en-US"/>
          </a:p>
        </p:txBody>
      </p:sp>
      <p:sp>
        <p:nvSpPr>
          <p:cNvPr id="1124355" name="Text Box 3"/>
          <p:cNvSpPr txBox="1">
            <a:spLocks noChangeArrowheads="1"/>
          </p:cNvSpPr>
          <p:nvPr/>
        </p:nvSpPr>
        <p:spPr bwMode="auto">
          <a:xfrm>
            <a:off x="339634" y="1455556"/>
            <a:ext cx="8604069" cy="1892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250" dirty="0">
                <a:latin typeface="Arial" panose="020B0604020202020204" pitchFamily="34" charset="0"/>
                <a:ea typeface="MS Mincho" panose="02020609040205080304" pitchFamily="49" charset="-128"/>
              </a:rPr>
              <a:t>Gaya </a:t>
            </a:r>
            <a:r>
              <a:rPr lang="en-US" sz="2250" dirty="0" err="1">
                <a:latin typeface="Arial" panose="020B0604020202020204" pitchFamily="34" charset="0"/>
                <a:ea typeface="MS Mincho" panose="02020609040205080304" pitchFamily="49" charset="-128"/>
              </a:rPr>
              <a:t>listrik</a:t>
            </a:r>
            <a:r>
              <a:rPr lang="en-US" sz="2250" dirty="0">
                <a:latin typeface="Arial" panose="020B0604020202020204" pitchFamily="34" charset="0"/>
                <a:ea typeface="MS Mincho" panose="02020609040205080304" pitchFamily="49" charset="-128"/>
              </a:rPr>
              <a:t> </a:t>
            </a:r>
            <a:r>
              <a:rPr lang="en-US" sz="2250" dirty="0" err="1">
                <a:latin typeface="Arial" panose="020B0604020202020204" pitchFamily="34" charset="0"/>
                <a:ea typeface="MS Mincho" panose="02020609040205080304" pitchFamily="49" charset="-128"/>
              </a:rPr>
              <a:t>antara</a:t>
            </a:r>
            <a:r>
              <a:rPr lang="en-US" sz="2250" dirty="0">
                <a:latin typeface="Arial" panose="020B0604020202020204" pitchFamily="34" charset="0"/>
                <a:ea typeface="MS Mincho" panose="02020609040205080304" pitchFamily="49" charset="-128"/>
              </a:rPr>
              <a:t> </a:t>
            </a:r>
            <a:r>
              <a:rPr lang="en-US" sz="2250" dirty="0" err="1">
                <a:latin typeface="Arial" panose="020B0604020202020204" pitchFamily="34" charset="0"/>
                <a:ea typeface="MS Mincho" panose="02020609040205080304" pitchFamily="49" charset="-128"/>
              </a:rPr>
              <a:t>muatan</a:t>
            </a:r>
            <a:r>
              <a:rPr lang="en-US" sz="2250" dirty="0">
                <a:latin typeface="Arial" panose="020B0604020202020204" pitchFamily="34" charset="0"/>
                <a:ea typeface="MS Mincho" panose="02020609040205080304" pitchFamily="49" charset="-128"/>
              </a:rPr>
              <a:t> </a:t>
            </a:r>
            <a:r>
              <a:rPr lang="en-US" sz="2250" i="1" dirty="0">
                <a:latin typeface="Arial" panose="020B0604020202020204" pitchFamily="34" charset="0"/>
                <a:ea typeface="MS Mincho" panose="02020609040205080304" pitchFamily="49" charset="-128"/>
              </a:rPr>
              <a:t>q</a:t>
            </a:r>
            <a:r>
              <a:rPr lang="en-US" sz="2250" baseline="-30000" dirty="0">
                <a:latin typeface="Arial" panose="020B0604020202020204" pitchFamily="34" charset="0"/>
                <a:ea typeface="MS Mincho" panose="02020609040205080304" pitchFamily="49" charset="-128"/>
              </a:rPr>
              <a:t>1</a:t>
            </a:r>
            <a:r>
              <a:rPr lang="en-US" sz="2250" dirty="0">
                <a:latin typeface="Arial" panose="020B0604020202020204" pitchFamily="34" charset="0"/>
                <a:ea typeface="MS Mincho" panose="02020609040205080304" pitchFamily="49" charset="-128"/>
              </a:rPr>
              <a:t> </a:t>
            </a:r>
            <a:r>
              <a:rPr lang="en-US" sz="2250" dirty="0" err="1">
                <a:latin typeface="Arial" panose="020B0604020202020204" pitchFamily="34" charset="0"/>
                <a:ea typeface="MS Mincho" panose="02020609040205080304" pitchFamily="49" charset="-128"/>
              </a:rPr>
              <a:t>dan</a:t>
            </a:r>
            <a:r>
              <a:rPr lang="en-US" sz="2250" dirty="0">
                <a:latin typeface="Arial" panose="020B0604020202020204" pitchFamily="34" charset="0"/>
                <a:ea typeface="MS Mincho" panose="02020609040205080304" pitchFamily="49" charset="-128"/>
              </a:rPr>
              <a:t> </a:t>
            </a:r>
            <a:r>
              <a:rPr lang="en-US" sz="2250" i="1" dirty="0">
                <a:latin typeface="Arial" panose="020B0604020202020204" pitchFamily="34" charset="0"/>
                <a:ea typeface="MS Mincho" panose="02020609040205080304" pitchFamily="49" charset="-128"/>
              </a:rPr>
              <a:t>q</a:t>
            </a:r>
            <a:r>
              <a:rPr lang="en-US" sz="2250" baseline="-30000" dirty="0">
                <a:latin typeface="Arial" panose="020B0604020202020204" pitchFamily="34" charset="0"/>
                <a:ea typeface="MS Mincho" panose="02020609040205080304" pitchFamily="49" charset="-128"/>
              </a:rPr>
              <a:t>2</a:t>
            </a:r>
            <a:r>
              <a:rPr lang="en-US" sz="2250" dirty="0">
                <a:latin typeface="Arial" panose="020B0604020202020204" pitchFamily="34" charset="0"/>
                <a:ea typeface="MS Mincho" panose="02020609040205080304" pitchFamily="49" charset="-128"/>
              </a:rPr>
              <a:t> </a:t>
            </a:r>
            <a:r>
              <a:rPr lang="en-US" sz="2250" dirty="0" err="1">
                <a:latin typeface="Arial" panose="020B0604020202020204" pitchFamily="34" charset="0"/>
                <a:ea typeface="MS Mincho" panose="02020609040205080304" pitchFamily="49" charset="-128"/>
              </a:rPr>
              <a:t>adalah</a:t>
            </a:r>
            <a:endParaRPr lang="en-US" sz="2250" dirty="0">
              <a:latin typeface="Arial" panose="020B0604020202020204" pitchFamily="34" charset="0"/>
              <a:ea typeface="MS Mincho" panose="02020609040205080304" pitchFamily="49" charset="-128"/>
            </a:endParaRPr>
          </a:p>
          <a:p>
            <a:pPr>
              <a:lnSpc>
                <a:spcPct val="20000"/>
              </a:lnSpc>
            </a:pPr>
            <a:endParaRPr lang="en-US" sz="2250" dirty="0">
              <a:latin typeface="Arial" panose="020B0604020202020204" pitchFamily="34" charset="0"/>
              <a:ea typeface="MS Mincho" panose="02020609040205080304" pitchFamily="49" charset="-128"/>
            </a:endParaRPr>
          </a:p>
          <a:p>
            <a:pPr>
              <a:buFontTx/>
              <a:buAutoNum type="alphaLcParenBoth"/>
            </a:pPr>
            <a:r>
              <a:rPr lang="en-US" sz="2250" dirty="0">
                <a:latin typeface="Arial" panose="020B0604020202020204" pitchFamily="34" charset="0"/>
              </a:rPr>
              <a:t> </a:t>
            </a:r>
            <a:r>
              <a:rPr lang="en-US" sz="2250" dirty="0" err="1">
                <a:latin typeface="Arial" panose="020B0604020202020204" pitchFamily="34" charset="0"/>
              </a:rPr>
              <a:t>tolak-menolak</a:t>
            </a:r>
            <a:r>
              <a:rPr lang="en-US" sz="2250" dirty="0">
                <a:latin typeface="Arial" panose="020B0604020202020204" pitchFamily="34" charset="0"/>
              </a:rPr>
              <a:t> </a:t>
            </a:r>
            <a:r>
              <a:rPr lang="en-US" sz="2250" dirty="0" err="1">
                <a:latin typeface="Arial" panose="020B0604020202020204" pitchFamily="34" charset="0"/>
              </a:rPr>
              <a:t>jika</a:t>
            </a:r>
            <a:r>
              <a:rPr lang="en-US" sz="2250" dirty="0">
                <a:latin typeface="Arial" panose="020B0604020202020204" pitchFamily="34" charset="0"/>
              </a:rPr>
              <a:t> </a:t>
            </a:r>
            <a:r>
              <a:rPr lang="en-US" sz="2250" dirty="0" err="1">
                <a:latin typeface="Arial" panose="020B0604020202020204" pitchFamily="34" charset="0"/>
              </a:rPr>
              <a:t>muatan-muatan</a:t>
            </a:r>
            <a:r>
              <a:rPr lang="en-US" sz="2250" dirty="0">
                <a:latin typeface="Arial" panose="020B0604020202020204" pitchFamily="34" charset="0"/>
              </a:rPr>
              <a:t> </a:t>
            </a:r>
            <a:r>
              <a:rPr lang="en-US" sz="2250" dirty="0" err="1">
                <a:latin typeface="Arial" panose="020B0604020202020204" pitchFamily="34" charset="0"/>
              </a:rPr>
              <a:t>bertanda</a:t>
            </a:r>
            <a:r>
              <a:rPr lang="en-US" sz="2250" dirty="0">
                <a:latin typeface="Arial" panose="020B0604020202020204" pitchFamily="34" charset="0"/>
              </a:rPr>
              <a:t> </a:t>
            </a:r>
          </a:p>
          <a:p>
            <a:r>
              <a:rPr lang="en-US" sz="2250" dirty="0">
                <a:latin typeface="Arial" panose="020B0604020202020204" pitchFamily="34" charset="0"/>
              </a:rPr>
              <a:t>	 </a:t>
            </a:r>
            <a:r>
              <a:rPr lang="en-US" sz="2250" dirty="0" err="1">
                <a:latin typeface="Arial" panose="020B0604020202020204" pitchFamily="34" charset="0"/>
              </a:rPr>
              <a:t>sama</a:t>
            </a:r>
            <a:r>
              <a:rPr lang="en-US" altLang="zh-TW" sz="2250" dirty="0">
                <a:latin typeface="Arial" panose="020B0604020202020204" pitchFamily="34" charset="0"/>
                <a:ea typeface="新細明體" panose="02020500000000000000" pitchFamily="18" charset="-120"/>
              </a:rPr>
              <a:t> </a:t>
            </a:r>
          </a:p>
          <a:p>
            <a:r>
              <a:rPr lang="en-US" sz="2250" dirty="0">
                <a:latin typeface="Arial" panose="020B0604020202020204" pitchFamily="34" charset="0"/>
                <a:ea typeface="MS Mincho" panose="02020609040205080304" pitchFamily="49" charset="-128"/>
              </a:rPr>
              <a:t>(b) </a:t>
            </a:r>
            <a:r>
              <a:rPr lang="en-US" sz="2250" dirty="0" err="1">
                <a:latin typeface="Arial" panose="020B0604020202020204" pitchFamily="34" charset="0"/>
                <a:ea typeface="MS Mincho" panose="02020609040205080304" pitchFamily="49" charset="-128"/>
              </a:rPr>
              <a:t>tarik-menarik</a:t>
            </a:r>
            <a:r>
              <a:rPr lang="en-US" sz="2250" dirty="0">
                <a:latin typeface="Arial" panose="020B0604020202020204" pitchFamily="34" charset="0"/>
                <a:ea typeface="MS Mincho" panose="02020609040205080304" pitchFamily="49" charset="-128"/>
              </a:rPr>
              <a:t> </a:t>
            </a:r>
            <a:r>
              <a:rPr lang="en-US" sz="2250" dirty="0" err="1">
                <a:latin typeface="Arial" panose="020B0604020202020204" pitchFamily="34" charset="0"/>
                <a:ea typeface="MS Mincho" panose="02020609040205080304" pitchFamily="49" charset="-128"/>
              </a:rPr>
              <a:t>jika</a:t>
            </a:r>
            <a:r>
              <a:rPr lang="en-US" sz="2250" dirty="0">
                <a:latin typeface="Arial" panose="020B0604020202020204" pitchFamily="34" charset="0"/>
                <a:ea typeface="MS Mincho" panose="02020609040205080304" pitchFamily="49" charset="-128"/>
              </a:rPr>
              <a:t> </a:t>
            </a:r>
            <a:r>
              <a:rPr lang="en-US" sz="2250" dirty="0" err="1">
                <a:latin typeface="Arial" panose="020B0604020202020204" pitchFamily="34" charset="0"/>
                <a:ea typeface="MS Mincho" panose="02020609040205080304" pitchFamily="49" charset="-128"/>
              </a:rPr>
              <a:t>muatan-muatan</a:t>
            </a:r>
            <a:r>
              <a:rPr lang="en-US" sz="2250" dirty="0">
                <a:latin typeface="Arial" panose="020B0604020202020204" pitchFamily="34" charset="0"/>
                <a:ea typeface="MS Mincho" panose="02020609040205080304" pitchFamily="49" charset="-128"/>
              </a:rPr>
              <a:t> </a:t>
            </a:r>
            <a:r>
              <a:rPr lang="en-US" sz="2250" dirty="0" err="1">
                <a:latin typeface="Arial" panose="020B0604020202020204" pitchFamily="34" charset="0"/>
                <a:ea typeface="MS Mincho" panose="02020609040205080304" pitchFamily="49" charset="-128"/>
              </a:rPr>
              <a:t>berlainan</a:t>
            </a:r>
            <a:r>
              <a:rPr lang="en-US" sz="2250" dirty="0">
                <a:latin typeface="Arial" panose="020B0604020202020204" pitchFamily="34" charset="0"/>
                <a:ea typeface="MS Mincho" panose="02020609040205080304" pitchFamily="49" charset="-128"/>
              </a:rPr>
              <a:t> </a:t>
            </a:r>
          </a:p>
          <a:p>
            <a:r>
              <a:rPr lang="en-US" sz="2250" dirty="0">
                <a:latin typeface="Arial" panose="020B0604020202020204" pitchFamily="34" charset="0"/>
                <a:ea typeface="MS Mincho" panose="02020609040205080304" pitchFamily="49" charset="-128"/>
              </a:rPr>
              <a:t>     </a:t>
            </a:r>
            <a:r>
              <a:rPr lang="en-US" sz="2250" dirty="0" err="1">
                <a:latin typeface="Arial" panose="020B0604020202020204" pitchFamily="34" charset="0"/>
                <a:ea typeface="MS Mincho" panose="02020609040205080304" pitchFamily="49" charset="-128"/>
              </a:rPr>
              <a:t>tanda</a:t>
            </a:r>
            <a:r>
              <a:rPr lang="en-US" sz="2250" dirty="0">
                <a:latin typeface="Arial" panose="020B0604020202020204" pitchFamily="34" charset="0"/>
                <a:ea typeface="MS Mincho" panose="02020609040205080304" pitchFamily="49" charset="-128"/>
              </a:rPr>
              <a:t> </a:t>
            </a:r>
            <a:endParaRPr lang="en-US" altLang="zh-TW" sz="2250" dirty="0">
              <a:latin typeface="Arial" panose="020B0604020202020204" pitchFamily="34" charset="0"/>
              <a:ea typeface="MS Mincho" panose="02020609040205080304" pitchFamily="49" charset="-128"/>
            </a:endParaRPr>
          </a:p>
        </p:txBody>
      </p:sp>
      <p:pic>
        <p:nvPicPr>
          <p:cNvPr id="1124356" name="Picture 4" descr="2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5086" y="1455556"/>
            <a:ext cx="4572000" cy="2058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4357" name="Text Box 5"/>
          <p:cNvSpPr txBox="1">
            <a:spLocks noChangeArrowheads="1"/>
          </p:cNvSpPr>
          <p:nvPr/>
        </p:nvSpPr>
        <p:spPr bwMode="auto">
          <a:xfrm>
            <a:off x="3685903" y="5148876"/>
            <a:ext cx="4057650" cy="286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70000"/>
              </a:lnSpc>
            </a:pPr>
            <a:endParaRPr lang="en-US" sz="2700" baseline="-25000">
              <a:latin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75422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378" name="Rectangle 2"/>
          <p:cNvSpPr>
            <a:spLocks noGrp="1" noChangeArrowheads="1"/>
          </p:cNvSpPr>
          <p:nvPr>
            <p:ph type="title"/>
          </p:nvPr>
        </p:nvSpPr>
        <p:spPr>
          <a:xfrm>
            <a:off x="521936" y="405598"/>
            <a:ext cx="6297215" cy="269081"/>
          </a:xfrm>
        </p:spPr>
        <p:txBody>
          <a:bodyPr>
            <a:normAutofit fontScale="90000"/>
          </a:bodyPr>
          <a:lstStyle/>
          <a:p>
            <a:r>
              <a:rPr lang="en-US" sz="4050" dirty="0" err="1">
                <a:ea typeface="MS Mincho" panose="02020609040205080304" pitchFamily="49" charset="-128"/>
              </a:rPr>
              <a:t>Hukum</a:t>
            </a:r>
            <a:r>
              <a:rPr lang="en-US" sz="4050" dirty="0">
                <a:ea typeface="MS Mincho" panose="02020609040205080304" pitchFamily="49" charset="-128"/>
              </a:rPr>
              <a:t> Coulomb</a:t>
            </a:r>
          </a:p>
        </p:txBody>
      </p:sp>
      <p:sp>
        <p:nvSpPr>
          <p:cNvPr id="1125379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628343" y="1344811"/>
            <a:ext cx="3543300" cy="1219200"/>
          </a:xfrm>
        </p:spPr>
        <p:txBody>
          <a:bodyPr>
            <a:normAutofit/>
          </a:bodyPr>
          <a:lstStyle/>
          <a:p>
            <a:pPr marL="0" indent="0"/>
            <a:r>
              <a:rPr lang="en-US" dirty="0" err="1">
                <a:cs typeface="Times New Roman" panose="02020603050405020304" pitchFamily="18" charset="0"/>
              </a:rPr>
              <a:t>Hukum</a:t>
            </a:r>
            <a:r>
              <a:rPr lang="en-US" dirty="0">
                <a:cs typeface="Times New Roman" panose="02020603050405020304" pitchFamily="18" charset="0"/>
              </a:rPr>
              <a:t> Coulomb: Gaya </a:t>
            </a:r>
            <a:r>
              <a:rPr lang="en-US" dirty="0" err="1">
                <a:cs typeface="Times New Roman" panose="02020603050405020304" pitchFamily="18" charset="0"/>
              </a:rPr>
              <a:t>oleh</a:t>
            </a:r>
            <a:r>
              <a:rPr lang="en-US" sz="3000" dirty="0">
                <a:cs typeface="Times New Roman" panose="02020603050405020304" pitchFamily="18" charset="0"/>
              </a:rPr>
              <a:t> 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33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000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pada</a:t>
            </a:r>
            <a:r>
              <a:rPr lang="en-US" sz="3000" dirty="0">
                <a:cs typeface="Times New Roman" panose="02020603050405020304" pitchFamily="18" charset="0"/>
              </a:rPr>
              <a:t> 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33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3000" dirty="0"/>
          </a:p>
        </p:txBody>
      </p:sp>
      <p:graphicFrame>
        <p:nvGraphicFramePr>
          <p:cNvPr id="1125385" name="Object 9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49617212"/>
              </p:ext>
            </p:extLst>
          </p:nvPr>
        </p:nvGraphicFramePr>
        <p:xfrm>
          <a:off x="6819900" y="5153643"/>
          <a:ext cx="10160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8280" imgH="393480" progId="Equation.3">
                  <p:embed/>
                </p:oleObj>
              </mc:Choice>
              <mc:Fallback>
                <p:oleObj name="Equation" r:id="rId4" imgW="3682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9900" y="5153643"/>
                        <a:ext cx="1016000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53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0572799"/>
              </p:ext>
            </p:extLst>
          </p:nvPr>
        </p:nvGraphicFramePr>
        <p:xfrm>
          <a:off x="6431756" y="3724893"/>
          <a:ext cx="3739754" cy="787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82600" imgH="431640" progId="Equation.DSMT4">
                  <p:embed/>
                </p:oleObj>
              </mc:Choice>
              <mc:Fallback>
                <p:oleObj name="Equation" r:id="rId6" imgW="20826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1756" y="3724893"/>
                        <a:ext cx="3739754" cy="7870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53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95220"/>
              </p:ext>
            </p:extLst>
          </p:nvPr>
        </p:nvGraphicFramePr>
        <p:xfrm>
          <a:off x="5411442" y="819897"/>
          <a:ext cx="4103982" cy="18450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76240" imgH="393480" progId="Equation.DSMT4">
                  <p:embed/>
                </p:oleObj>
              </mc:Choice>
              <mc:Fallback>
                <p:oleObj name="Equation" r:id="rId8" imgW="8762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1442" y="819897"/>
                        <a:ext cx="4103982" cy="1845083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25382" name="Picture 6" descr="23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43" y="3170637"/>
            <a:ext cx="2514600" cy="2300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253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2850932"/>
              </p:ext>
            </p:extLst>
          </p:nvPr>
        </p:nvGraphicFramePr>
        <p:xfrm>
          <a:off x="6477001" y="4639294"/>
          <a:ext cx="360760" cy="513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2280" imgH="215640" progId="Equation.DSMT4">
                  <p:embed/>
                </p:oleObj>
              </mc:Choice>
              <mc:Fallback>
                <p:oleObj name="Equation" r:id="rId11" imgW="1522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1" y="4639294"/>
                        <a:ext cx="360760" cy="5131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5384" name="Text Box 8"/>
          <p:cNvSpPr txBox="1">
            <a:spLocks noChangeArrowheads="1"/>
          </p:cNvSpPr>
          <p:nvPr/>
        </p:nvSpPr>
        <p:spPr bwMode="auto">
          <a:xfrm>
            <a:off x="6819900" y="4696443"/>
            <a:ext cx="325755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Ctr="1"/>
          <a:lstStyle/>
          <a:p>
            <a:r>
              <a:rPr lang="en-US" sz="1350"/>
              <a:t>vektor satuan dari </a:t>
            </a:r>
            <a:r>
              <a:rPr lang="en-US" sz="1350" i="1">
                <a:latin typeface="Times New Roman" panose="02020603050405020304" pitchFamily="18" charset="0"/>
              </a:rPr>
              <a:t>q</a:t>
            </a:r>
            <a:r>
              <a:rPr lang="en-US" sz="1350" baseline="-25000"/>
              <a:t>1</a:t>
            </a:r>
            <a:r>
              <a:rPr lang="en-US" sz="1350"/>
              <a:t> ke </a:t>
            </a:r>
            <a:r>
              <a:rPr lang="en-US" sz="2250" i="1">
                <a:latin typeface="Times New Roman" panose="02020603050405020304" pitchFamily="18" charset="0"/>
              </a:rPr>
              <a:t>q</a:t>
            </a:r>
            <a:r>
              <a:rPr lang="en-US" sz="1350" baseline="-25000"/>
              <a:t>2</a:t>
            </a:r>
          </a:p>
        </p:txBody>
      </p:sp>
      <p:graphicFrame>
        <p:nvGraphicFramePr>
          <p:cNvPr id="112538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0642217"/>
              </p:ext>
            </p:extLst>
          </p:nvPr>
        </p:nvGraphicFramePr>
        <p:xfrm>
          <a:off x="7905750" y="5292946"/>
          <a:ext cx="2228850" cy="822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066680" imgH="393480" progId="Equation.DSMT4">
                  <p:embed/>
                </p:oleObj>
              </mc:Choice>
              <mc:Fallback>
                <p:oleObj name="Equation" r:id="rId13" imgW="10666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05750" y="5292946"/>
                        <a:ext cx="2228850" cy="8227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5387" name="Text Box 11">
            <a:hlinkClick r:id="rId15" action="ppaction://hlinkfile"/>
          </p:cNvPr>
          <p:cNvSpPr txBox="1">
            <a:spLocks noChangeArrowheads="1"/>
          </p:cNvSpPr>
          <p:nvPr/>
        </p:nvSpPr>
        <p:spPr bwMode="auto">
          <a:xfrm>
            <a:off x="3169446" y="5554266"/>
            <a:ext cx="100219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350"/>
              <a:t>Animasi 1.6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54928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538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2291953" y="528637"/>
            <a:ext cx="5826919" cy="481013"/>
          </a:xfrm>
        </p:spPr>
        <p:txBody>
          <a:bodyPr>
            <a:normAutofit fontScale="90000"/>
          </a:bodyPr>
          <a:lstStyle/>
          <a:p>
            <a:r>
              <a:rPr lang="en-US" sz="3600">
                <a:ea typeface="MS Mincho" panose="02020609040205080304" pitchFamily="49" charset="-128"/>
              </a:rPr>
              <a:t>Contoh Hukum Coulomb</a:t>
            </a:r>
          </a:p>
        </p:txBody>
      </p:sp>
      <p:graphicFrame>
        <p:nvGraphicFramePr>
          <p:cNvPr id="1126403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6013450" y="2286000"/>
          <a:ext cx="3079750" cy="145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30040" imgH="533160" progId="Equation.DSMT4">
                  <p:embed/>
                </p:oleObj>
              </mc:Choice>
              <mc:Fallback>
                <p:oleObj name="Equation" r:id="rId4" imgW="113004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3450" y="2286000"/>
                        <a:ext cx="3079750" cy="145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18410-BD63-4CD2-AEA2-8031B4B96B57}" type="slidenum">
              <a:rPr lang="en-US"/>
              <a:pPr/>
              <a:t>5</a:t>
            </a:fld>
            <a:endParaRPr lang="en-US"/>
          </a:p>
        </p:txBody>
      </p:sp>
      <p:grpSp>
        <p:nvGrpSpPr>
          <p:cNvPr id="1126404" name="Group 4"/>
          <p:cNvGrpSpPr>
            <a:grpSpLocks/>
          </p:cNvGrpSpPr>
          <p:nvPr/>
        </p:nvGrpSpPr>
        <p:grpSpPr bwMode="auto">
          <a:xfrm>
            <a:off x="2838449" y="1657351"/>
            <a:ext cx="2300288" cy="2083595"/>
            <a:chOff x="2688" y="2304"/>
            <a:chExt cx="1932" cy="1750"/>
          </a:xfrm>
        </p:grpSpPr>
        <p:pic>
          <p:nvPicPr>
            <p:cNvPr id="1126405" name="Picture 5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8" y="2304"/>
              <a:ext cx="1932" cy="17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26406" name="Text Box 6"/>
            <p:cNvSpPr txBox="1">
              <a:spLocks noChangeArrowheads="1"/>
            </p:cNvSpPr>
            <p:nvPr/>
          </p:nvSpPr>
          <p:spPr bwMode="auto">
            <a:xfrm>
              <a:off x="3888" y="2688"/>
              <a:ext cx="731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a = 1 m</a:t>
              </a:r>
            </a:p>
          </p:txBody>
        </p:sp>
        <p:sp>
          <p:nvSpPr>
            <p:cNvPr id="1126407" name="Text Box 7"/>
            <p:cNvSpPr txBox="1">
              <a:spLocks noChangeArrowheads="1"/>
            </p:cNvSpPr>
            <p:nvPr/>
          </p:nvSpPr>
          <p:spPr bwMode="auto">
            <a:xfrm>
              <a:off x="2688" y="3696"/>
              <a:ext cx="756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q</a:t>
              </a:r>
              <a:r>
                <a:rPr lang="en-US" baseline="-25000"/>
                <a:t>1</a:t>
              </a:r>
              <a:r>
                <a:rPr lang="en-US"/>
                <a:t> = 6 C</a:t>
              </a:r>
            </a:p>
          </p:txBody>
        </p:sp>
        <p:sp>
          <p:nvSpPr>
            <p:cNvPr id="1126408" name="Text Box 8"/>
            <p:cNvSpPr txBox="1">
              <a:spLocks noChangeArrowheads="1"/>
            </p:cNvSpPr>
            <p:nvPr/>
          </p:nvSpPr>
          <p:spPr bwMode="auto">
            <a:xfrm>
              <a:off x="2736" y="2352"/>
              <a:ext cx="756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q</a:t>
              </a:r>
              <a:r>
                <a:rPr lang="en-US" baseline="-25000"/>
                <a:t>3</a:t>
              </a:r>
              <a:r>
                <a:rPr lang="en-US"/>
                <a:t> = 3 C</a:t>
              </a:r>
            </a:p>
          </p:txBody>
        </p:sp>
        <p:sp>
          <p:nvSpPr>
            <p:cNvPr id="1126409" name="Text Box 9"/>
            <p:cNvSpPr txBox="1">
              <a:spLocks noChangeArrowheads="1"/>
            </p:cNvSpPr>
            <p:nvPr/>
          </p:nvSpPr>
          <p:spPr bwMode="auto">
            <a:xfrm>
              <a:off x="3792" y="3744"/>
              <a:ext cx="756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q</a:t>
              </a:r>
              <a:r>
                <a:rPr lang="en-US" baseline="-25000"/>
                <a:t>2</a:t>
              </a:r>
              <a:r>
                <a:rPr lang="en-US"/>
                <a:t> = 3 C</a:t>
              </a:r>
            </a:p>
          </p:txBody>
        </p:sp>
      </p:grpSp>
      <p:graphicFrame>
        <p:nvGraphicFramePr>
          <p:cNvPr id="1126410" name="Object 10"/>
          <p:cNvGraphicFramePr>
            <a:graphicFrameLocks noChangeAspect="1"/>
          </p:cNvGraphicFramePr>
          <p:nvPr/>
        </p:nvGraphicFramePr>
        <p:xfrm>
          <a:off x="5581650" y="1600200"/>
          <a:ext cx="1366838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44240" imgH="253800" progId="Equation.3">
                  <p:embed/>
                </p:oleObj>
              </mc:Choice>
              <mc:Fallback>
                <p:oleObj name="Equation" r:id="rId7" imgW="44424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1650" y="1600200"/>
                        <a:ext cx="1366838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11" name="Object 11"/>
          <p:cNvGraphicFramePr>
            <a:graphicFrameLocks noChangeAspect="1"/>
          </p:cNvGraphicFramePr>
          <p:nvPr/>
        </p:nvGraphicFramePr>
        <p:xfrm>
          <a:off x="2952750" y="4114800"/>
          <a:ext cx="1629966" cy="6917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27000" imgH="393480" progId="Equation.DSMT4">
                  <p:embed/>
                </p:oleObj>
              </mc:Choice>
              <mc:Fallback>
                <p:oleObj name="Equation" r:id="rId9" imgW="9270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50" y="4114800"/>
                        <a:ext cx="1629966" cy="6917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412" name="Line 12"/>
          <p:cNvSpPr>
            <a:spLocks noChangeShapeType="1"/>
          </p:cNvSpPr>
          <p:nvPr/>
        </p:nvSpPr>
        <p:spPr bwMode="auto">
          <a:xfrm>
            <a:off x="3981450" y="1885950"/>
            <a:ext cx="800100" cy="13716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sz="1350"/>
          </a:p>
        </p:txBody>
      </p:sp>
      <p:graphicFrame>
        <p:nvGraphicFramePr>
          <p:cNvPr id="1126413" name="Object 13"/>
          <p:cNvGraphicFramePr>
            <a:graphicFrameLocks noChangeAspect="1"/>
          </p:cNvGraphicFramePr>
          <p:nvPr/>
        </p:nvGraphicFramePr>
        <p:xfrm>
          <a:off x="4152901" y="2571750"/>
          <a:ext cx="4286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90440" imgH="228600" progId="Equation.DSMT4">
                  <p:embed/>
                </p:oleObj>
              </mc:Choice>
              <mc:Fallback>
                <p:oleObj name="Equation" r:id="rId11" imgW="190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2901" y="2571750"/>
                        <a:ext cx="428625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14" name="Object 14"/>
          <p:cNvGraphicFramePr>
            <a:graphicFrameLocks noChangeAspect="1"/>
          </p:cNvGraphicFramePr>
          <p:nvPr/>
        </p:nvGraphicFramePr>
        <p:xfrm>
          <a:off x="4667251" y="5029202"/>
          <a:ext cx="2477691" cy="7369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409400" imgH="419040" progId="Equation.DSMT4">
                  <p:embed/>
                </p:oleObj>
              </mc:Choice>
              <mc:Fallback>
                <p:oleObj name="Equation" r:id="rId13" imgW="14094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251" y="5029202"/>
                        <a:ext cx="2477691" cy="7369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15" name="Object 15"/>
          <p:cNvGraphicFramePr>
            <a:graphicFrameLocks noChangeAspect="1"/>
          </p:cNvGraphicFramePr>
          <p:nvPr/>
        </p:nvGraphicFramePr>
        <p:xfrm>
          <a:off x="4552950" y="3943350"/>
          <a:ext cx="4643438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41320" imgH="571320" progId="Equation.DSMT4">
                  <p:embed/>
                </p:oleObj>
              </mc:Choice>
              <mc:Fallback>
                <p:oleObj name="Equation" r:id="rId15" imgW="2641320" imgH="571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2950" y="3943350"/>
                        <a:ext cx="4643438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596049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426" name="Rectangle 2"/>
          <p:cNvSpPr>
            <a:spLocks noGrp="1" noChangeArrowheads="1"/>
          </p:cNvSpPr>
          <p:nvPr>
            <p:ph type="title"/>
          </p:nvPr>
        </p:nvSpPr>
        <p:spPr>
          <a:xfrm>
            <a:off x="3111106" y="1098948"/>
            <a:ext cx="6297215" cy="352425"/>
          </a:xfrm>
        </p:spPr>
        <p:txBody>
          <a:bodyPr>
            <a:normAutofit fontScale="90000"/>
          </a:bodyPr>
          <a:lstStyle/>
          <a:p>
            <a:r>
              <a:rPr lang="en-US"/>
              <a:t>Prinsip Superposisi </a:t>
            </a:r>
          </a:p>
        </p:txBody>
      </p:sp>
      <p:sp>
        <p:nvSpPr>
          <p:cNvPr id="9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42981-396F-4B0C-9BBE-09C3DCCC0BF3}" type="slidenum">
              <a:rPr lang="en-US"/>
              <a:pPr/>
              <a:t>6</a:t>
            </a:fld>
            <a:endParaRPr lang="en-US"/>
          </a:p>
        </p:txBody>
      </p:sp>
      <p:graphicFrame>
        <p:nvGraphicFramePr>
          <p:cNvPr id="1127427" name="Object 3"/>
          <p:cNvGraphicFramePr>
            <a:graphicFrameLocks noChangeAspect="1"/>
          </p:cNvGraphicFramePr>
          <p:nvPr/>
        </p:nvGraphicFramePr>
        <p:xfrm>
          <a:off x="7067550" y="3314700"/>
          <a:ext cx="2057400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12520" imgH="253800" progId="Equation.DSMT4">
                  <p:embed/>
                </p:oleObj>
              </mc:Choice>
              <mc:Fallback>
                <p:oleObj name="Equation" r:id="rId4" imgW="81252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7550" y="3314700"/>
                        <a:ext cx="2057400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428" name="Object 4"/>
          <p:cNvGraphicFramePr>
            <a:graphicFrameLocks noChangeAspect="1"/>
          </p:cNvGraphicFramePr>
          <p:nvPr/>
        </p:nvGraphicFramePr>
        <p:xfrm>
          <a:off x="7296150" y="4800602"/>
          <a:ext cx="1428750" cy="9167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40" imgH="431640" progId="Equation.DSMT4">
                  <p:embed/>
                </p:oleObj>
              </mc:Choice>
              <mc:Fallback>
                <p:oleObj name="Equation" r:id="rId6" imgW="6728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6150" y="4800602"/>
                        <a:ext cx="1428750" cy="916781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429" name="Rectangle 5"/>
          <p:cNvSpPr>
            <a:spLocks noChangeArrowheads="1"/>
          </p:cNvSpPr>
          <p:nvPr/>
        </p:nvSpPr>
        <p:spPr bwMode="auto">
          <a:xfrm>
            <a:off x="2838450" y="1771652"/>
            <a:ext cx="6457950" cy="1131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2250">
                <a:ea typeface="MS Mincho" panose="02020609040205080304" pitchFamily="49" charset="-128"/>
              </a:rPr>
              <a:t>Banyak Muatan yang Muncul:</a:t>
            </a:r>
          </a:p>
          <a:p>
            <a:pPr>
              <a:spcBef>
                <a:spcPct val="0"/>
              </a:spcBef>
            </a:pPr>
            <a:r>
              <a:rPr lang="en-US" sz="2250">
                <a:ea typeface="MS Mincho" panose="02020609040205080304" pitchFamily="49" charset="-128"/>
              </a:rPr>
              <a:t>Gaya neto pada setiap muatan adalah penjumlahan vektor-vektor gaya dari muatan individu yang lain</a:t>
            </a:r>
            <a:endParaRPr lang="en-US" altLang="zh-TW" sz="225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127430" name="Text Box 6"/>
          <p:cNvSpPr txBox="1">
            <a:spLocks noChangeArrowheads="1"/>
          </p:cNvSpPr>
          <p:nvPr/>
        </p:nvSpPr>
        <p:spPr bwMode="auto">
          <a:xfrm>
            <a:off x="2781301" y="3268266"/>
            <a:ext cx="74405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350"/>
              <a:t>Contoh:</a:t>
            </a:r>
          </a:p>
        </p:txBody>
      </p:sp>
      <p:pic>
        <p:nvPicPr>
          <p:cNvPr id="1127431" name="Picture 7" descr="2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3257550"/>
            <a:ext cx="285750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7432" name="Text Box 8"/>
          <p:cNvSpPr txBox="1">
            <a:spLocks noChangeArrowheads="1"/>
          </p:cNvSpPr>
          <p:nvPr/>
        </p:nvSpPr>
        <p:spPr bwMode="auto">
          <a:xfrm>
            <a:off x="7067550" y="4362450"/>
            <a:ext cx="1191224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350"/>
              <a:t>Secara umum:</a:t>
            </a:r>
          </a:p>
        </p:txBody>
      </p:sp>
      <p:sp>
        <p:nvSpPr>
          <p:cNvPr id="2" name="Kotak Teks 1">
            <a:extLst>
              <a:ext uri="{FF2B5EF4-FFF2-40B4-BE49-F238E27FC236}">
                <a16:creationId xmlns:a16="http://schemas.microsoft.com/office/drawing/2014/main" id="{CBF9B26F-B51A-9497-191B-02933A2600B0}"/>
              </a:ext>
            </a:extLst>
          </p:cNvPr>
          <p:cNvSpPr txBox="1"/>
          <p:nvPr/>
        </p:nvSpPr>
        <p:spPr>
          <a:xfrm>
            <a:off x="367906" y="3418307"/>
            <a:ext cx="2743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>
                <a:solidFill>
                  <a:srgbClr val="FF0000"/>
                </a:solidFill>
              </a:rPr>
              <a:t>Tugas No. 1</a:t>
            </a:r>
          </a:p>
          <a:p>
            <a:endParaRPr lang="id-ID" dirty="0">
              <a:solidFill>
                <a:srgbClr val="FF0000"/>
              </a:solidFill>
            </a:endParaRPr>
          </a:p>
          <a:p>
            <a:r>
              <a:rPr lang="id-ID" dirty="0">
                <a:solidFill>
                  <a:srgbClr val="FF0000"/>
                </a:solidFill>
              </a:rPr>
              <a:t>Cari resultan gaya pada muatan q1 !</a:t>
            </a:r>
          </a:p>
          <a:p>
            <a:r>
              <a:rPr lang="id-ID" dirty="0">
                <a:solidFill>
                  <a:srgbClr val="FF0000"/>
                </a:solidFill>
              </a:rPr>
              <a:t>q1=q3= 2 </a:t>
            </a:r>
            <a:r>
              <a:rPr lang="el-GR" dirty="0">
                <a:solidFill>
                  <a:srgbClr val="FF0000"/>
                </a:solidFill>
              </a:rPr>
              <a:t>μ</a:t>
            </a:r>
            <a:r>
              <a:rPr lang="id-ID" dirty="0">
                <a:solidFill>
                  <a:srgbClr val="FF0000"/>
                </a:solidFill>
              </a:rPr>
              <a:t>C</a:t>
            </a:r>
          </a:p>
          <a:p>
            <a:r>
              <a:rPr lang="id-ID" dirty="0">
                <a:solidFill>
                  <a:srgbClr val="FF0000"/>
                </a:solidFill>
              </a:rPr>
              <a:t>q2 = -2 </a:t>
            </a:r>
            <a:r>
              <a:rPr lang="el-GR" dirty="0">
                <a:solidFill>
                  <a:srgbClr val="FF0000"/>
                </a:solidFill>
              </a:rPr>
              <a:t>μ</a:t>
            </a:r>
            <a:r>
              <a:rPr lang="id-ID" dirty="0">
                <a:solidFill>
                  <a:srgbClr val="FF0000"/>
                </a:solidFill>
              </a:rPr>
              <a:t>C</a:t>
            </a:r>
          </a:p>
          <a:p>
            <a:r>
              <a:rPr lang="id-ID" dirty="0">
                <a:solidFill>
                  <a:srgbClr val="FF0000"/>
                </a:solidFill>
              </a:rPr>
              <a:t>a = 2 cm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4766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430" grpId="0"/>
      <p:bldP spid="11274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023538" y="1016543"/>
            <a:ext cx="2975020" cy="213878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8451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216193"/>
            <a:ext cx="6175772" cy="269081"/>
          </a:xfrm>
        </p:spPr>
        <p:txBody>
          <a:bodyPr>
            <a:normAutofit fontScale="90000"/>
          </a:bodyPr>
          <a:lstStyle/>
          <a:p>
            <a:r>
              <a:rPr lang="en-US" dirty="0"/>
              <a:t>Medan </a:t>
            </a:r>
            <a:r>
              <a:rPr lang="en-US" dirty="0" err="1"/>
              <a:t>Listrik</a:t>
            </a:r>
            <a:endParaRPr 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128455" name="Object 7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793964714"/>
              </p:ext>
            </p:extLst>
          </p:nvPr>
        </p:nvGraphicFramePr>
        <p:xfrm>
          <a:off x="8561004" y="1736233"/>
          <a:ext cx="1685211" cy="9674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85800" imgH="393700" progId="Equation.DSMT4">
                  <p:embed/>
                </p:oleObj>
              </mc:Choice>
              <mc:Fallback>
                <p:oleObj name="Equation" r:id="rId4" imgW="6858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1004" y="1736233"/>
                        <a:ext cx="1685211" cy="9674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452" name="Rectangle 4"/>
          <p:cNvSpPr>
            <a:spLocks noGrp="1" noChangeArrowheads="1"/>
          </p:cNvSpPr>
          <p:nvPr>
            <p:ph type="body" sz="half" idx="3"/>
          </p:nvPr>
        </p:nvSpPr>
        <p:spPr>
          <a:xfrm>
            <a:off x="101205" y="1016543"/>
            <a:ext cx="6286500" cy="1143000"/>
          </a:xfrm>
        </p:spPr>
        <p:txBody>
          <a:bodyPr>
            <a:normAutofit fontScale="92500" lnSpcReduction="10000"/>
          </a:bodyPr>
          <a:lstStyle/>
          <a:p>
            <a:pPr marL="0" indent="0"/>
            <a:r>
              <a:rPr lang="en-US" dirty="0"/>
              <a:t>Medan </a:t>
            </a:r>
            <a:r>
              <a:rPr lang="en-US" dirty="0" err="1"/>
              <a:t>listrik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gaya</a:t>
            </a:r>
            <a:r>
              <a:rPr lang="en-US" dirty="0"/>
              <a:t> yang </a:t>
            </a:r>
            <a:r>
              <a:rPr lang="en-US" dirty="0" err="1"/>
              <a:t>bekerja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muatan</a:t>
            </a:r>
            <a:r>
              <a:rPr lang="en-US" dirty="0"/>
              <a:t> </a:t>
            </a:r>
            <a:r>
              <a:rPr lang="en-US" dirty="0" err="1"/>
              <a:t>uji</a:t>
            </a:r>
            <a:r>
              <a:rPr lang="en-US" dirty="0"/>
              <a:t> </a:t>
            </a:r>
            <a:r>
              <a:rPr lang="en-US" i="1" dirty="0">
                <a:latin typeface="Times New Roman" panose="02020603050405020304" pitchFamily="18" charset="0"/>
              </a:rPr>
              <a:t>q</a:t>
            </a:r>
            <a:r>
              <a:rPr lang="en-US" baseline="-25000" dirty="0">
                <a:latin typeface="Times New Roman" panose="02020603050405020304" pitchFamily="18" charset="0"/>
              </a:rPr>
              <a:t>0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, </a:t>
            </a:r>
            <a:r>
              <a:rPr lang="en-US" dirty="0" err="1"/>
              <a:t>dibagi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muatan</a:t>
            </a:r>
            <a:r>
              <a:rPr lang="en-US" dirty="0"/>
              <a:t> </a:t>
            </a:r>
            <a:r>
              <a:rPr lang="en-US" i="1" dirty="0">
                <a:latin typeface="Times New Roman" panose="02020603050405020304" pitchFamily="18" charset="0"/>
              </a:rPr>
              <a:t>q</a:t>
            </a:r>
            <a:r>
              <a:rPr lang="en-US" baseline="-25000" dirty="0">
                <a:latin typeface="Times New Roman" panose="02020603050405020304" pitchFamily="18" charset="0"/>
              </a:rPr>
              <a:t>0</a:t>
            </a:r>
            <a:r>
              <a:rPr lang="en-US" sz="2400" dirty="0"/>
              <a:t> :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5906B7-C440-4F0E-A151-7155F96EFB22}" type="slidenum">
              <a:rPr lang="en-US"/>
              <a:pPr/>
              <a:t>7</a:t>
            </a:fld>
            <a:endParaRPr lang="en-US"/>
          </a:p>
        </p:txBody>
      </p:sp>
      <p:pic>
        <p:nvPicPr>
          <p:cNvPr id="1128450" name="Picture 2" descr="2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2283" y="2042863"/>
            <a:ext cx="2514600" cy="1938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28453" name="Objec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0565402"/>
              </p:ext>
            </p:extLst>
          </p:nvPr>
        </p:nvGraphicFramePr>
        <p:xfrm>
          <a:off x="537467" y="2552451"/>
          <a:ext cx="1485900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57200" imgH="457200" progId="Equation.DSMT4">
                  <p:embed/>
                </p:oleObj>
              </mc:Choice>
              <mc:Fallback>
                <p:oleObj name="Equation" r:id="rId7" imgW="457200" imgH="45720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467" y="2552451"/>
                        <a:ext cx="1485900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454" name="Text Box 6"/>
          <p:cNvSpPr txBox="1">
            <a:spLocks noChangeArrowheads="1"/>
          </p:cNvSpPr>
          <p:nvPr/>
        </p:nvSpPr>
        <p:spPr bwMode="auto">
          <a:xfrm>
            <a:off x="3579690" y="4455197"/>
            <a:ext cx="3828356" cy="484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sebuah</a:t>
            </a:r>
            <a:r>
              <a:rPr lang="en-US" sz="2400" dirty="0"/>
              <a:t> </a:t>
            </a:r>
            <a:r>
              <a:rPr lang="en-US" sz="2400" dirty="0" err="1"/>
              <a:t>muatan</a:t>
            </a:r>
            <a:r>
              <a:rPr lang="en-US" sz="2400" dirty="0"/>
              <a:t> </a:t>
            </a:r>
            <a:r>
              <a:rPr lang="en-US" sz="2400" dirty="0" err="1"/>
              <a:t>titik</a:t>
            </a:r>
            <a:r>
              <a:rPr lang="en-US" sz="2400" dirty="0"/>
              <a:t> </a:t>
            </a:r>
            <a:r>
              <a:rPr lang="en-US" sz="2550" i="1" dirty="0">
                <a:latin typeface="Times New Roman" panose="02020603050405020304" pitchFamily="18" charset="0"/>
              </a:rPr>
              <a:t>q</a:t>
            </a:r>
            <a:r>
              <a:rPr lang="en-US" sz="2550" dirty="0">
                <a:latin typeface="Times New Roman" panose="02020603050405020304" pitchFamily="18" charset="0"/>
              </a:rPr>
              <a:t>:</a:t>
            </a:r>
            <a:endParaRPr lang="en-US" sz="2400" dirty="0"/>
          </a:p>
        </p:txBody>
      </p:sp>
      <p:sp>
        <p:nvSpPr>
          <p:cNvPr id="1128457" name="Text Box 9"/>
          <p:cNvSpPr txBox="1">
            <a:spLocks noChangeArrowheads="1"/>
          </p:cNvSpPr>
          <p:nvPr/>
        </p:nvSpPr>
        <p:spPr bwMode="auto">
          <a:xfrm>
            <a:off x="3496975" y="5413941"/>
            <a:ext cx="391107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 err="1"/>
              <a:t>Satuan</a:t>
            </a:r>
            <a:r>
              <a:rPr lang="en-US" sz="2400" dirty="0"/>
              <a:t>:  N/C, </a:t>
            </a:r>
            <a:r>
              <a:rPr lang="en-US" sz="2400" dirty="0" err="1"/>
              <a:t>juga</a:t>
            </a:r>
            <a:r>
              <a:rPr lang="en-US" sz="2400" dirty="0"/>
              <a:t> Volt/meter</a:t>
            </a:r>
          </a:p>
        </p:txBody>
      </p:sp>
      <p:graphicFrame>
        <p:nvGraphicFramePr>
          <p:cNvPr id="1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972728"/>
              </p:ext>
            </p:extLst>
          </p:nvPr>
        </p:nvGraphicFramePr>
        <p:xfrm>
          <a:off x="688676" y="4374109"/>
          <a:ext cx="1183481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33160" imgH="253800" progId="Equation.DSMT4">
                  <p:embed/>
                </p:oleObj>
              </mc:Choice>
              <mc:Fallback>
                <p:oleObj name="Equation" r:id="rId9" imgW="5331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676" y="4374109"/>
                        <a:ext cx="1183481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8371268" y="1120462"/>
            <a:ext cx="2908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Medan </a:t>
            </a:r>
            <a:r>
              <a:rPr lang="en-US" b="1" dirty="0" err="1"/>
              <a:t>MuatanTitik</a:t>
            </a:r>
            <a:r>
              <a:rPr lang="en-US" b="1" dirty="0"/>
              <a:t> :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0515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8454" grpId="0"/>
      <p:bldP spid="112845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-37502" y="223186"/>
            <a:ext cx="6297215" cy="269081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Garis</a:t>
            </a:r>
            <a:r>
              <a:rPr lang="en-US" dirty="0"/>
              <a:t> Medan </a:t>
            </a:r>
            <a:r>
              <a:rPr lang="en-US" dirty="0" err="1"/>
              <a:t>Listrik</a:t>
            </a:r>
            <a:endParaRPr lang="en-US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E29BC-914E-4AA5-A42C-9057D1CBCAA1}" type="slidenum">
              <a:rPr lang="en-US"/>
              <a:pPr/>
              <a:t>8</a:t>
            </a:fld>
            <a:endParaRPr lang="en-US"/>
          </a:p>
        </p:txBody>
      </p:sp>
      <p:sp>
        <p:nvSpPr>
          <p:cNvPr id="1299459" name="Text Box 3"/>
          <p:cNvSpPr txBox="1">
            <a:spLocks noChangeArrowheads="1"/>
          </p:cNvSpPr>
          <p:nvPr/>
        </p:nvSpPr>
        <p:spPr bwMode="auto">
          <a:xfrm>
            <a:off x="-37502" y="688062"/>
            <a:ext cx="8408770" cy="1837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FontTx/>
              <a:buAutoNum type="arabicPeriod"/>
            </a:pPr>
            <a:r>
              <a:rPr lang="en-US" sz="2100" dirty="0" err="1">
                <a:latin typeface="Arial" panose="020B0604020202020204" pitchFamily="34" charset="0"/>
              </a:rPr>
              <a:t>Arah</a:t>
            </a:r>
            <a:r>
              <a:rPr lang="en-US" sz="2100" dirty="0">
                <a:latin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</a:rPr>
              <a:t>garis</a:t>
            </a:r>
            <a:r>
              <a:rPr lang="en-US" sz="2100" dirty="0">
                <a:latin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</a:rPr>
              <a:t>medan</a:t>
            </a:r>
            <a:r>
              <a:rPr lang="en-US" sz="2100" dirty="0">
                <a:latin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</a:rPr>
              <a:t>listrik</a:t>
            </a:r>
            <a:r>
              <a:rPr lang="en-US" sz="2100" dirty="0">
                <a:latin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</a:rPr>
              <a:t>pada</a:t>
            </a:r>
            <a:r>
              <a:rPr lang="en-US" sz="2100" dirty="0">
                <a:latin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</a:rPr>
              <a:t>suatu</a:t>
            </a:r>
            <a:r>
              <a:rPr lang="en-US" sz="2100" dirty="0">
                <a:latin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</a:rPr>
              <a:t>titik</a:t>
            </a:r>
            <a:r>
              <a:rPr lang="en-US" sz="2100" dirty="0">
                <a:latin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</a:rPr>
              <a:t>adalah</a:t>
            </a:r>
            <a:r>
              <a:rPr lang="en-US" sz="2100" dirty="0">
                <a:latin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</a:rPr>
              <a:t>menyinggung</a:t>
            </a:r>
            <a:r>
              <a:rPr lang="en-US" sz="2100" dirty="0">
                <a:latin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</a:rPr>
              <a:t>medan</a:t>
            </a:r>
            <a:r>
              <a:rPr lang="en-US" sz="2100" dirty="0">
                <a:latin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</a:rPr>
              <a:t>pada</a:t>
            </a:r>
            <a:r>
              <a:rPr lang="en-US" sz="2100" dirty="0">
                <a:latin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</a:rPr>
              <a:t>titik</a:t>
            </a:r>
            <a:r>
              <a:rPr lang="en-US" sz="2100" dirty="0">
                <a:latin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</a:rPr>
              <a:t>tersebut</a:t>
            </a:r>
            <a:r>
              <a:rPr lang="en-US" sz="2100" dirty="0">
                <a:latin typeface="Arial" panose="020B0604020202020204" pitchFamily="34" charset="0"/>
              </a:rPr>
              <a:t> </a:t>
            </a:r>
          </a:p>
          <a:p>
            <a:pPr>
              <a:spcBef>
                <a:spcPct val="20000"/>
              </a:spcBef>
              <a:buFontTx/>
              <a:buAutoNum type="arabicPeriod"/>
            </a:pPr>
            <a:r>
              <a:rPr 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Garis</a:t>
            </a:r>
            <a:r>
              <a:rPr lang="en-US" sz="21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medan</a:t>
            </a:r>
            <a:r>
              <a:rPr lang="en-US" sz="21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meninggalkan</a:t>
            </a:r>
            <a:r>
              <a:rPr lang="en-US" sz="21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titik</a:t>
            </a:r>
            <a:r>
              <a:rPr lang="en-US" sz="21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muatan</a:t>
            </a:r>
            <a:r>
              <a:rPr lang="en-US" sz="21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positif</a:t>
            </a:r>
            <a:r>
              <a:rPr lang="en-US" sz="21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dan</a:t>
            </a:r>
            <a:r>
              <a:rPr lang="en-US" sz="21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menuju</a:t>
            </a:r>
            <a:r>
              <a:rPr lang="en-US" sz="21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muatan</a:t>
            </a:r>
            <a:r>
              <a:rPr lang="en-US" sz="21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negatif</a:t>
            </a:r>
            <a:endParaRPr lang="en-US" sz="2100" dirty="0">
              <a:latin typeface="Arial" panose="020B0604020202020204" pitchFamily="34" charset="0"/>
            </a:endParaRPr>
          </a:p>
          <a:p>
            <a:pPr>
              <a:spcBef>
                <a:spcPct val="20000"/>
              </a:spcBef>
              <a:buFontTx/>
              <a:buAutoNum type="arabicPeriod"/>
            </a:pPr>
            <a:r>
              <a:rPr 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Garis</a:t>
            </a:r>
            <a:r>
              <a:rPr lang="en-US" sz="21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medan</a:t>
            </a:r>
            <a:r>
              <a:rPr lang="en-US" sz="21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tidak</a:t>
            </a:r>
            <a:r>
              <a:rPr lang="en-US" sz="21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pernah</a:t>
            </a:r>
            <a:r>
              <a:rPr lang="en-US" sz="21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saling</a:t>
            </a:r>
            <a:r>
              <a:rPr lang="en-US" sz="21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berpotongan</a:t>
            </a:r>
            <a:endParaRPr lang="en-US" sz="21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1988" y="2454275"/>
            <a:ext cx="4200525" cy="42672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018" y="2525487"/>
            <a:ext cx="3944221" cy="403500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3548" y="0"/>
            <a:ext cx="2440944" cy="257592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6"/>
          <a:srcRect l="8163" t="3058"/>
          <a:stretch/>
        </p:blipFill>
        <p:spPr>
          <a:xfrm>
            <a:off x="8937938" y="2910625"/>
            <a:ext cx="3254062" cy="261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564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Penerapa</a:t>
            </a:r>
            <a:r>
              <a:rPr lang="en-US" dirty="0"/>
              <a:t> </a:t>
            </a:r>
            <a:r>
              <a:rPr lang="en-US" dirty="0" err="1"/>
              <a:t>Konsep</a:t>
            </a:r>
            <a:r>
              <a:rPr lang="en-US" dirty="0"/>
              <a:t> Medan </a:t>
            </a:r>
            <a:r>
              <a:rPr lang="en-US" dirty="0" err="1"/>
              <a:t>dan</a:t>
            </a:r>
            <a:r>
              <a:rPr lang="en-US" dirty="0"/>
              <a:t> Gaya </a:t>
            </a:r>
            <a:r>
              <a:rPr lang="en-US" dirty="0" err="1"/>
              <a:t>Listrik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26" y="1802505"/>
            <a:ext cx="3486150" cy="4953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1260208"/>
            <a:ext cx="5076424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Percobaan</a:t>
            </a:r>
            <a:r>
              <a:rPr lang="en-US" dirty="0"/>
              <a:t> </a:t>
            </a:r>
            <a:r>
              <a:rPr lang="en-US" dirty="0" err="1"/>
              <a:t>Mengukur</a:t>
            </a:r>
            <a:r>
              <a:rPr lang="en-US" dirty="0"/>
              <a:t> </a:t>
            </a:r>
            <a:r>
              <a:rPr lang="en-US" dirty="0" err="1"/>
              <a:t>muatan</a:t>
            </a:r>
            <a:r>
              <a:rPr lang="en-US" dirty="0"/>
              <a:t> electron (</a:t>
            </a:r>
            <a:r>
              <a:rPr lang="en-US" dirty="0" err="1"/>
              <a:t>Percobaan</a:t>
            </a:r>
            <a:r>
              <a:rPr lang="en-US" dirty="0"/>
              <a:t> </a:t>
            </a:r>
            <a:r>
              <a:rPr lang="en-US" dirty="0" err="1"/>
              <a:t>Milikan</a:t>
            </a:r>
            <a:r>
              <a:rPr lang="en-US" dirty="0"/>
              <a:t> </a:t>
            </a:r>
            <a:r>
              <a:rPr lang="en-US" dirty="0" err="1"/>
              <a:t>tahun</a:t>
            </a:r>
            <a:r>
              <a:rPr lang="en-US" dirty="0"/>
              <a:t> 1923)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599" y="1906539"/>
            <a:ext cx="3999751" cy="43136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26982" y="1379368"/>
            <a:ext cx="198549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Printer Ink Jet</a:t>
            </a:r>
          </a:p>
        </p:txBody>
      </p:sp>
    </p:spTree>
    <p:extLst>
      <p:ext uri="{BB962C8B-B14F-4D97-AF65-F5344CB8AC3E}">
        <p14:creationId xmlns:p14="http://schemas.microsoft.com/office/powerpoint/2010/main" val="1155782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555" name="Rectangle 3"/>
          <p:cNvSpPr>
            <a:spLocks noGrp="1" noChangeArrowheads="1"/>
          </p:cNvSpPr>
          <p:nvPr>
            <p:ph type="title"/>
          </p:nvPr>
        </p:nvSpPr>
        <p:spPr>
          <a:xfrm>
            <a:off x="784272" y="517926"/>
            <a:ext cx="5826919" cy="481013"/>
          </a:xfrm>
        </p:spPr>
        <p:txBody>
          <a:bodyPr>
            <a:normAutofit fontScale="90000"/>
          </a:bodyPr>
          <a:lstStyle/>
          <a:p>
            <a:r>
              <a:rPr lang="en-US" dirty="0"/>
              <a:t>TUGAS  NO </a:t>
            </a:r>
            <a:r>
              <a:rPr lang="id-ID" dirty="0"/>
              <a:t>2</a:t>
            </a:r>
            <a:endParaRPr lang="en-US" dirty="0"/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0479E-7C56-4182-8819-04A07458DFF4}" type="slidenum">
              <a:rPr lang="en-US"/>
              <a:pPr/>
              <a:t>10</a:t>
            </a:fld>
            <a:endParaRPr lang="en-US"/>
          </a:p>
        </p:txBody>
      </p:sp>
      <p:graphicFrame>
        <p:nvGraphicFramePr>
          <p:cNvPr id="13035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4953204"/>
              </p:ext>
            </p:extLst>
          </p:nvPr>
        </p:nvGraphicFramePr>
        <p:xfrm>
          <a:off x="4099612" y="517927"/>
          <a:ext cx="4230244" cy="33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rtwork" r:id="rId3" imgW="6607113" imgH="5226667" progId="Adobe.Illustrator.7">
                  <p:embed/>
                </p:oleObj>
              </mc:Choice>
              <mc:Fallback>
                <p:oleObj name="Artwork" r:id="rId3" imgW="6607113" imgH="5226667" progId="Adobe.Illustrator.7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42000" contrast="12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9612" y="517927"/>
                        <a:ext cx="4230244" cy="33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35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942287"/>
              </p:ext>
            </p:extLst>
          </p:nvPr>
        </p:nvGraphicFramePr>
        <p:xfrm>
          <a:off x="6001942" y="3334559"/>
          <a:ext cx="230981" cy="39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680" imgH="177480" progId="Equation.3">
                  <p:embed/>
                </p:oleObj>
              </mc:Choice>
              <mc:Fallback>
                <p:oleObj name="Equation" r:id="rId5" imgW="13968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1942" y="3334559"/>
                        <a:ext cx="230981" cy="3932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35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4555439"/>
              </p:ext>
            </p:extLst>
          </p:nvPr>
        </p:nvGraphicFramePr>
        <p:xfrm>
          <a:off x="5781369" y="2168627"/>
          <a:ext cx="188119" cy="2345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4120" imgH="139680" progId="Equation.3">
                  <p:embed/>
                </p:oleObj>
              </mc:Choice>
              <mc:Fallback>
                <p:oleObj name="Equation" r:id="rId7" imgW="11412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1369" y="2168627"/>
                        <a:ext cx="188119" cy="23455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35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1249784"/>
              </p:ext>
            </p:extLst>
          </p:nvPr>
        </p:nvGraphicFramePr>
        <p:xfrm>
          <a:off x="4511778" y="3494139"/>
          <a:ext cx="398860" cy="277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41200" imgH="164880" progId="Equation.3">
                  <p:embed/>
                </p:oleObj>
              </mc:Choice>
              <mc:Fallback>
                <p:oleObj name="Equation" r:id="rId9" imgW="241200" imgH="16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778" y="3494139"/>
                        <a:ext cx="398860" cy="2774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35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976032"/>
              </p:ext>
            </p:extLst>
          </p:nvPr>
        </p:nvGraphicFramePr>
        <p:xfrm>
          <a:off x="7359833" y="3429000"/>
          <a:ext cx="398860" cy="298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41200" imgH="177480" progId="Equation.3">
                  <p:embed/>
                </p:oleObj>
              </mc:Choice>
              <mc:Fallback>
                <p:oleObj name="Equation" r:id="rId11" imgW="24120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9833" y="3429000"/>
                        <a:ext cx="398860" cy="29884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35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3518612"/>
              </p:ext>
            </p:extLst>
          </p:nvPr>
        </p:nvGraphicFramePr>
        <p:xfrm>
          <a:off x="5981701" y="831440"/>
          <a:ext cx="251222" cy="255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52280" imgH="152280" progId="Equation.3">
                  <p:embed/>
                </p:oleObj>
              </mc:Choice>
              <mc:Fallback>
                <p:oleObj name="Equation" r:id="rId13" imgW="152280" imgH="152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1701" y="831440"/>
                        <a:ext cx="251222" cy="2559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3561" name="Text Box 9"/>
          <p:cNvSpPr txBox="1">
            <a:spLocks noChangeArrowheads="1"/>
          </p:cNvSpPr>
          <p:nvPr/>
        </p:nvSpPr>
        <p:spPr bwMode="auto">
          <a:xfrm>
            <a:off x="2781301" y="4666940"/>
            <a:ext cx="62865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err="1"/>
              <a:t>Tinjau</a:t>
            </a:r>
            <a:r>
              <a:rPr lang="en-US" sz="2400" dirty="0"/>
              <a:t> </a:t>
            </a:r>
            <a:r>
              <a:rPr lang="en-US" sz="2400" dirty="0" err="1"/>
              <a:t>dua</a:t>
            </a:r>
            <a:r>
              <a:rPr lang="en-US" sz="2400" dirty="0"/>
              <a:t> </a:t>
            </a:r>
            <a:r>
              <a:rPr lang="en-US" sz="2400" dirty="0" err="1"/>
              <a:t>muatan</a:t>
            </a:r>
            <a:r>
              <a:rPr lang="en-US" sz="2400" dirty="0"/>
              <a:t> </a:t>
            </a:r>
            <a:r>
              <a:rPr lang="en-US" sz="2400" dirty="0" err="1"/>
              <a:t>titik</a:t>
            </a:r>
            <a:r>
              <a:rPr lang="en-US" sz="2400" dirty="0"/>
              <a:t> yang </a:t>
            </a:r>
            <a:r>
              <a:rPr lang="en-US" sz="2400" dirty="0" err="1"/>
              <a:t>besarnya</a:t>
            </a:r>
            <a:r>
              <a:rPr lang="en-US" sz="2400" dirty="0"/>
              <a:t> </a:t>
            </a:r>
            <a:r>
              <a:rPr lang="en-US" sz="2400" dirty="0" err="1"/>
              <a:t>sama</a:t>
            </a:r>
            <a:r>
              <a:rPr lang="en-US" sz="2400" dirty="0"/>
              <a:t> </a:t>
            </a:r>
            <a:r>
              <a:rPr lang="en-US" sz="2400" dirty="0" err="1"/>
              <a:t>tetapi</a:t>
            </a:r>
            <a:r>
              <a:rPr lang="en-US" sz="2400" dirty="0"/>
              <a:t> </a:t>
            </a:r>
            <a:r>
              <a:rPr lang="en-US" sz="2400" dirty="0" err="1"/>
              <a:t>berlawanan</a:t>
            </a:r>
            <a:r>
              <a:rPr lang="en-US" sz="2400" dirty="0"/>
              <a:t> </a:t>
            </a:r>
            <a:r>
              <a:rPr lang="en-US" sz="2400" dirty="0" err="1"/>
              <a:t>tanda</a:t>
            </a:r>
            <a:r>
              <a:rPr lang="en-US" sz="2400" dirty="0"/>
              <a:t> </a:t>
            </a:r>
            <a:r>
              <a:rPr lang="en-US" sz="2400" dirty="0" err="1"/>
              <a:t>terpisah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jarak</a:t>
            </a:r>
            <a:r>
              <a:rPr lang="en-US" sz="2400" dirty="0"/>
              <a:t> </a:t>
            </a:r>
            <a:r>
              <a:rPr lang="en-US" sz="2400" i="1" dirty="0"/>
              <a:t>d</a:t>
            </a:r>
            <a:r>
              <a:rPr lang="en-US" sz="2400" dirty="0"/>
              <a:t>. </a:t>
            </a:r>
            <a:r>
              <a:rPr lang="en-US" sz="2400" dirty="0" err="1"/>
              <a:t>Tentukan</a:t>
            </a:r>
            <a:r>
              <a:rPr lang="en-US" sz="2400" dirty="0"/>
              <a:t> </a:t>
            </a:r>
            <a:r>
              <a:rPr lang="en-US" sz="2400" dirty="0" err="1"/>
              <a:t>medan</a:t>
            </a:r>
            <a:r>
              <a:rPr lang="en-US" sz="2400" dirty="0"/>
              <a:t> </a:t>
            </a:r>
            <a:r>
              <a:rPr lang="en-US" sz="2400" dirty="0" err="1"/>
              <a:t>listrik</a:t>
            </a:r>
            <a:r>
              <a:rPr lang="en-US" sz="2400" dirty="0"/>
              <a:t> </a:t>
            </a:r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en-US" sz="2400" dirty="0" err="1"/>
              <a:t>titik</a:t>
            </a:r>
            <a:r>
              <a:rPr lang="en-US" sz="2400" dirty="0"/>
              <a:t> P? </a:t>
            </a:r>
          </a:p>
        </p:txBody>
      </p:sp>
      <p:graphicFrame>
        <p:nvGraphicFramePr>
          <p:cNvPr id="1303562" name="Object 10"/>
          <p:cNvGraphicFramePr>
            <a:graphicFrameLocks noChangeAspect="1"/>
          </p:cNvGraphicFramePr>
          <p:nvPr/>
        </p:nvGraphicFramePr>
        <p:xfrm>
          <a:off x="6724652" y="2114550"/>
          <a:ext cx="660797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rtwork" r:id="rId15" imgW="1912786" imgH="1752381" progId="Adobe.Illustrator.7">
                  <p:embed/>
                </p:oleObj>
              </mc:Choice>
              <mc:Fallback>
                <p:oleObj name="Artwork" r:id="rId15" imgW="1912786" imgH="1752381" progId="Adobe.Illustrator.7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lum bright="30000" contrast="12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4652" y="2114550"/>
                        <a:ext cx="660797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3563" name="Object 11"/>
          <p:cNvGraphicFramePr>
            <a:graphicFrameLocks noChangeAspect="1"/>
          </p:cNvGraphicFramePr>
          <p:nvPr/>
        </p:nvGraphicFramePr>
        <p:xfrm>
          <a:off x="7239002" y="2400300"/>
          <a:ext cx="108347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101512" imgH="203024" progId="Equation.3">
                  <p:embed/>
                </p:oleObj>
              </mc:Choice>
              <mc:Fallback>
                <p:oleObj r:id="rId17" imgW="101512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2" y="2400300"/>
                        <a:ext cx="108347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3564" name="Object 12"/>
          <p:cNvGraphicFramePr>
            <a:graphicFrameLocks noChangeAspect="1"/>
          </p:cNvGraphicFramePr>
          <p:nvPr/>
        </p:nvGraphicFramePr>
        <p:xfrm>
          <a:off x="6896101" y="2114550"/>
          <a:ext cx="115491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101556" imgH="241195" progId="Equation.3">
                  <p:embed/>
                </p:oleObj>
              </mc:Choice>
              <mc:Fallback>
                <p:oleObj r:id="rId19" imgW="101556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6101" y="2114550"/>
                        <a:ext cx="115491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Kotak Teks 1">
            <a:extLst>
              <a:ext uri="{FF2B5EF4-FFF2-40B4-BE49-F238E27FC236}">
                <a16:creationId xmlns:a16="http://schemas.microsoft.com/office/drawing/2014/main" id="{04A18380-F8EA-91DB-93DA-427E599B69A9}"/>
              </a:ext>
            </a:extLst>
          </p:cNvPr>
          <p:cNvSpPr txBox="1"/>
          <p:nvPr/>
        </p:nvSpPr>
        <p:spPr>
          <a:xfrm>
            <a:off x="1209368" y="2400300"/>
            <a:ext cx="17989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/>
              <a:t>d= 6 cm</a:t>
            </a:r>
          </a:p>
          <a:p>
            <a:r>
              <a:rPr lang="id-ID" dirty="0"/>
              <a:t>-q = -3 </a:t>
            </a:r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 C</a:t>
            </a:r>
          </a:p>
          <a:p>
            <a:r>
              <a:rPr lang="id-ID" dirty="0"/>
              <a:t>+q = +3 </a:t>
            </a:r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 C</a:t>
            </a:r>
          </a:p>
          <a:p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S= 4 cm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83659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-75010" y="197545"/>
            <a:ext cx="5826919" cy="481013"/>
          </a:xfrm>
        </p:spPr>
        <p:txBody>
          <a:bodyPr>
            <a:normAutofit fontScale="90000"/>
          </a:bodyPr>
          <a:lstStyle/>
          <a:p>
            <a:r>
              <a:rPr lang="en-US" dirty="0">
                <a:cs typeface="Times New Roman" panose="02020603050405020304" pitchFamily="18" charset="0"/>
              </a:rPr>
              <a:t>Medan </a:t>
            </a:r>
            <a:r>
              <a:rPr lang="en-US" dirty="0" err="1">
                <a:cs typeface="Times New Roman" panose="02020603050405020304" pitchFamily="18" charset="0"/>
              </a:rPr>
              <a:t>pada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Dipol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Listrik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/>
              <a:t> </a:t>
            </a:r>
          </a:p>
        </p:txBody>
      </p:sp>
      <p:sp>
        <p:nvSpPr>
          <p:cNvPr id="132813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953642"/>
            <a:ext cx="6515100" cy="685800"/>
          </a:xfrm>
        </p:spPr>
        <p:txBody>
          <a:bodyPr>
            <a:normAutofit fontScale="85000" lnSpcReduction="10000"/>
          </a:bodyPr>
          <a:lstStyle/>
          <a:p>
            <a:pPr marL="0" indent="0"/>
            <a:r>
              <a:rPr lang="en-US" dirty="0" err="1">
                <a:cs typeface="Times New Roman" panose="02020603050405020304" pitchFamily="18" charset="0"/>
              </a:rPr>
              <a:t>Dua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buah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muatan</a:t>
            </a:r>
            <a:r>
              <a:rPr lang="en-US" dirty="0">
                <a:cs typeface="Times New Roman" panose="02020603050405020304" pitchFamily="18" charset="0"/>
              </a:rPr>
              <a:t> yang </a:t>
            </a:r>
            <a:r>
              <a:rPr lang="en-US" dirty="0" err="1">
                <a:cs typeface="Times New Roman" panose="02020603050405020304" pitchFamily="18" charset="0"/>
              </a:rPr>
              <a:t>sama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besar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tetapi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berbeda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jenis</a:t>
            </a:r>
            <a:r>
              <a:rPr lang="en-US" dirty="0">
                <a:cs typeface="Times New Roman" panose="02020603050405020304" pitchFamily="18" charset="0"/>
              </a:rPr>
              <a:t> (</a:t>
            </a:r>
            <a:r>
              <a:rPr lang="en-US" b="1" i="1" dirty="0">
                <a:cs typeface="Times New Roman" panose="02020603050405020304" pitchFamily="18" charset="0"/>
              </a:rPr>
              <a:t>+q </a:t>
            </a:r>
            <a:r>
              <a:rPr lang="en-US" dirty="0" err="1">
                <a:cs typeface="Times New Roman" panose="02020603050405020304" pitchFamily="18" charset="0"/>
              </a:rPr>
              <a:t>dan</a:t>
            </a:r>
            <a:r>
              <a:rPr lang="en-US" b="1" i="1" dirty="0">
                <a:cs typeface="Times New Roman" panose="02020603050405020304" pitchFamily="18" charset="0"/>
              </a:rPr>
              <a:t> –q)</a:t>
            </a:r>
            <a:r>
              <a:rPr lang="en-US" dirty="0">
                <a:cs typeface="Times New Roman" panose="02020603050405020304" pitchFamily="18" charset="0"/>
              </a:rPr>
              <a:t>,</a:t>
            </a:r>
            <a:r>
              <a:rPr lang="en-US" b="1" i="1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terpisah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dengan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jarak</a:t>
            </a:r>
            <a:r>
              <a:rPr lang="en-US" b="1" i="1" dirty="0">
                <a:cs typeface="Times New Roman" panose="02020603050405020304" pitchFamily="18" charset="0"/>
              </a:rPr>
              <a:t> </a:t>
            </a:r>
            <a:r>
              <a:rPr lang="en-US" b="1" dirty="0">
                <a:cs typeface="Times New Roman" panose="02020603050405020304" pitchFamily="18" charset="0"/>
              </a:rPr>
              <a:t>d</a:t>
            </a:r>
            <a:r>
              <a:rPr lang="en-US" sz="2400" dirty="0"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8AAF4-7CD3-4A9C-9E10-B4E6A3A06628}" type="slidenum">
              <a:rPr lang="en-US"/>
              <a:pPr/>
              <a:t>11</a:t>
            </a:fld>
            <a:endParaRPr lang="en-US"/>
          </a:p>
        </p:txBody>
      </p:sp>
      <p:sp>
        <p:nvSpPr>
          <p:cNvPr id="1328133" name="Text Box 5"/>
          <p:cNvSpPr txBox="1">
            <a:spLocks noChangeArrowheads="1"/>
          </p:cNvSpPr>
          <p:nvPr/>
        </p:nvSpPr>
        <p:spPr bwMode="auto">
          <a:xfrm>
            <a:off x="461092" y="3304051"/>
            <a:ext cx="52578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 b="1" dirty="0" err="1"/>
              <a:t>Berarah</a:t>
            </a:r>
            <a:r>
              <a:rPr lang="en-US" sz="2000" b="1" dirty="0"/>
              <a:t> </a:t>
            </a:r>
            <a:r>
              <a:rPr lang="en-US" sz="2000" b="1" dirty="0" err="1"/>
              <a:t>dari</a:t>
            </a:r>
            <a:r>
              <a:rPr lang="en-US" sz="2000" b="1" dirty="0"/>
              <a:t> </a:t>
            </a:r>
            <a:r>
              <a:rPr lang="en-US" sz="2000" b="1" dirty="0" err="1"/>
              <a:t>muatan</a:t>
            </a:r>
            <a:r>
              <a:rPr lang="en-US" sz="2000" b="1" dirty="0"/>
              <a:t> </a:t>
            </a:r>
            <a:r>
              <a:rPr lang="en-US" sz="2000" b="1" dirty="0" err="1"/>
              <a:t>negatif</a:t>
            </a:r>
            <a:r>
              <a:rPr lang="en-US" sz="2000" b="1" dirty="0"/>
              <a:t> </a:t>
            </a:r>
            <a:r>
              <a:rPr lang="en-US" sz="2000" b="1" dirty="0" err="1"/>
              <a:t>ke</a:t>
            </a:r>
            <a:r>
              <a:rPr lang="en-US" sz="2000" b="1" dirty="0"/>
              <a:t> </a:t>
            </a:r>
            <a:r>
              <a:rPr lang="en-US" sz="2000" b="1" dirty="0" err="1"/>
              <a:t>muatan</a:t>
            </a:r>
            <a:r>
              <a:rPr lang="en-US" sz="2000" b="1" dirty="0"/>
              <a:t> </a:t>
            </a:r>
            <a:r>
              <a:rPr lang="en-US" sz="2000" b="1" dirty="0" err="1"/>
              <a:t>positif</a:t>
            </a:r>
            <a:endParaRPr lang="en-US" sz="2000" b="1" dirty="0"/>
          </a:p>
        </p:txBody>
      </p:sp>
      <p:graphicFrame>
        <p:nvGraphicFramePr>
          <p:cNvPr id="13281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5949481"/>
              </p:ext>
            </p:extLst>
          </p:nvPr>
        </p:nvGraphicFramePr>
        <p:xfrm>
          <a:off x="139623" y="3246931"/>
          <a:ext cx="321469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6720" imgH="203040" progId="Equation.DSMT4">
                  <p:embed/>
                </p:oleObj>
              </mc:Choice>
              <mc:Fallback>
                <p:oleObj name="Equation" r:id="rId3" imgW="126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623" y="3246931"/>
                        <a:ext cx="321469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8140" name="Text Box 12"/>
          <p:cNvSpPr txBox="1">
            <a:spLocks noChangeArrowheads="1"/>
          </p:cNvSpPr>
          <p:nvPr/>
        </p:nvSpPr>
        <p:spPr bwMode="auto">
          <a:xfrm>
            <a:off x="152400" y="1738089"/>
            <a:ext cx="19335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1" u="sng" dirty="0" err="1"/>
              <a:t>Momen</a:t>
            </a:r>
            <a:r>
              <a:rPr lang="en-US" sz="2400" b="1" u="sng" dirty="0"/>
              <a:t> </a:t>
            </a:r>
            <a:r>
              <a:rPr lang="en-US" sz="2400" b="1" u="sng" dirty="0" err="1"/>
              <a:t>Dipol</a:t>
            </a:r>
            <a:endParaRPr lang="en-US" sz="2400" b="1" u="sng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5"/>
          <a:srcRect l="57219" t="44221"/>
          <a:stretch/>
        </p:blipFill>
        <p:spPr>
          <a:xfrm>
            <a:off x="7443988" y="953642"/>
            <a:ext cx="2975019" cy="50459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963208" y="2493544"/>
                <a:ext cx="2286819" cy="553998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acc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𝒒𝒅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̂"/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acc>
                    </m:oMath>
                  </m:oMathPara>
                </a14:m>
                <a:endParaRPr lang="en-US" sz="3600" b="1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3208" y="2493544"/>
                <a:ext cx="2286819" cy="55399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Content Placeholder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614" y="3971952"/>
            <a:ext cx="2744336" cy="2411384"/>
          </a:xfrm>
          <a:prstGeom prst="rect">
            <a:avLst/>
          </a:prstGeom>
        </p:spPr>
      </p:pic>
      <p:sp>
        <p:nvSpPr>
          <p:cNvPr id="19" name="Title 1"/>
          <p:cNvSpPr txBox="1">
            <a:spLocks/>
          </p:cNvSpPr>
          <p:nvPr/>
        </p:nvSpPr>
        <p:spPr>
          <a:xfrm>
            <a:off x="139623" y="6219923"/>
            <a:ext cx="4248955" cy="8624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Molekul</a:t>
            </a:r>
            <a:r>
              <a:rPr lang="en-US" sz="2400" dirty="0"/>
              <a:t> air </a:t>
            </a:r>
            <a:r>
              <a:rPr lang="en-US" sz="2400" dirty="0" err="1"/>
              <a:t>sebagai</a:t>
            </a:r>
            <a:r>
              <a:rPr lang="en-US" sz="2400" dirty="0"/>
              <a:t> </a:t>
            </a:r>
            <a:r>
              <a:rPr lang="en-US" sz="2400" dirty="0" err="1"/>
              <a:t>dipol</a:t>
            </a:r>
            <a:r>
              <a:rPr lang="en-US" sz="2400" dirty="0"/>
              <a:t> </a:t>
            </a:r>
            <a:r>
              <a:rPr lang="en-US" sz="2400" dirty="0" err="1"/>
              <a:t>listrik</a:t>
            </a:r>
            <a:endParaRPr lang="en-US" sz="2400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7997780" y="2493544"/>
            <a:ext cx="0" cy="162769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656490" y="3047542"/>
            <a:ext cx="682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1181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8133" grpId="0"/>
      <p:bldP spid="132814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0646"/>
            <a:ext cx="6475810" cy="269081"/>
          </a:xfrm>
        </p:spPr>
        <p:txBody>
          <a:bodyPr>
            <a:normAutofit fontScale="90000"/>
          </a:bodyPr>
          <a:lstStyle/>
          <a:p>
            <a:r>
              <a:rPr lang="en-US" altLang="zh-HK" dirty="0">
                <a:ea typeface="新細明體" panose="02020500000000000000" pitchFamily="18" charset="-120"/>
              </a:rPr>
              <a:t>Medan </a:t>
            </a:r>
            <a:r>
              <a:rPr lang="en-US" altLang="zh-HK" dirty="0" err="1">
                <a:ea typeface="新細明體" panose="02020500000000000000" pitchFamily="18" charset="-120"/>
              </a:rPr>
              <a:t>Listrik</a:t>
            </a:r>
            <a:r>
              <a:rPr lang="en-US" altLang="zh-HK" dirty="0">
                <a:ea typeface="新細明體" panose="02020500000000000000" pitchFamily="18" charset="-120"/>
              </a:rPr>
              <a:t> </a:t>
            </a:r>
            <a:r>
              <a:rPr lang="en-US" altLang="zh-HK" dirty="0" err="1">
                <a:ea typeface="新細明體" panose="02020500000000000000" pitchFamily="18" charset="-120"/>
              </a:rPr>
              <a:t>oleh</a:t>
            </a:r>
            <a:r>
              <a:rPr lang="en-US" altLang="zh-HK" dirty="0">
                <a:ea typeface="新細明體" panose="02020500000000000000" pitchFamily="18" charset="-120"/>
              </a:rPr>
              <a:t> </a:t>
            </a:r>
            <a:r>
              <a:rPr lang="en-US" altLang="zh-HK" dirty="0" err="1">
                <a:ea typeface="新細明體" panose="02020500000000000000" pitchFamily="18" charset="-120"/>
              </a:rPr>
              <a:t>Dipol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1C7B4-1400-4B61-9DDF-B8C4418E1C40}" type="slidenum">
              <a:rPr lang="en-US"/>
              <a:pPr/>
              <a:t>12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l="9514" r="43074"/>
          <a:stretch/>
        </p:blipFill>
        <p:spPr>
          <a:xfrm>
            <a:off x="257577" y="814387"/>
            <a:ext cx="2086377" cy="572452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3890" y="557605"/>
            <a:ext cx="2962583" cy="80267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3464" y="5789299"/>
            <a:ext cx="4403318" cy="94534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6782" y="6091638"/>
            <a:ext cx="921656" cy="44727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1737" y="1360275"/>
            <a:ext cx="7410090" cy="410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516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-61913" y="76138"/>
            <a:ext cx="6500813" cy="481013"/>
          </a:xfrm>
        </p:spPr>
        <p:txBody>
          <a:bodyPr>
            <a:normAutofit fontScale="90000"/>
          </a:bodyPr>
          <a:lstStyle/>
          <a:p>
            <a:r>
              <a:rPr lang="en-US" altLang="zh-HK" dirty="0" err="1">
                <a:ea typeface="新細明體" panose="02020500000000000000" pitchFamily="18" charset="-120"/>
              </a:rPr>
              <a:t>Dipol</a:t>
            </a:r>
            <a:r>
              <a:rPr lang="en-US" altLang="zh-HK" dirty="0">
                <a:ea typeface="新細明體" panose="02020500000000000000" pitchFamily="18" charset="-120"/>
              </a:rPr>
              <a:t> </a:t>
            </a:r>
            <a:r>
              <a:rPr lang="en-US" altLang="zh-HK" dirty="0" err="1">
                <a:ea typeface="新細明體" panose="02020500000000000000" pitchFamily="18" charset="-120"/>
              </a:rPr>
              <a:t>dalam</a:t>
            </a:r>
            <a:r>
              <a:rPr lang="en-US" altLang="zh-HK" dirty="0">
                <a:ea typeface="新細明體" panose="02020500000000000000" pitchFamily="18" charset="-120"/>
              </a:rPr>
              <a:t> Medan Uniform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1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D6FE7-B379-4854-931F-53C2FD62B0B1}" type="slidenum">
              <a:rPr lang="en-US"/>
              <a:pPr/>
              <a:t>13</a:t>
            </a:fld>
            <a:endParaRPr lang="en-US"/>
          </a:p>
        </p:txBody>
      </p:sp>
      <p:sp>
        <p:nvSpPr>
          <p:cNvPr id="1353735" name="Text Box 7"/>
          <p:cNvSpPr txBox="1">
            <a:spLocks noChangeArrowheads="1"/>
          </p:cNvSpPr>
          <p:nvPr/>
        </p:nvSpPr>
        <p:spPr bwMode="auto">
          <a:xfrm>
            <a:off x="2838451" y="3657600"/>
            <a:ext cx="1330044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350"/>
              <a:t>Gaya total neto:</a:t>
            </a:r>
          </a:p>
        </p:txBody>
      </p:sp>
      <p:sp>
        <p:nvSpPr>
          <p:cNvPr id="1353737" name="Text Box 9"/>
          <p:cNvSpPr txBox="1">
            <a:spLocks noChangeArrowheads="1"/>
          </p:cNvSpPr>
          <p:nvPr/>
        </p:nvSpPr>
        <p:spPr bwMode="auto">
          <a:xfrm>
            <a:off x="3409951" y="5429252"/>
            <a:ext cx="57245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FF3300"/>
                </a:solidFill>
              </a:rPr>
              <a:t> </a:t>
            </a:r>
            <a:r>
              <a:rPr lang="en-US">
                <a:solidFill>
                  <a:srgbClr val="FF3300"/>
                </a:solidFill>
              </a:rPr>
              <a:t>cenderung untuk mensejajarkan diri dengan medan listrik</a:t>
            </a:r>
            <a:r>
              <a:rPr lang="en-US" sz="2400">
                <a:solidFill>
                  <a:srgbClr val="FF3300"/>
                </a:solidFill>
              </a:rPr>
              <a:t> </a:t>
            </a:r>
          </a:p>
        </p:txBody>
      </p:sp>
      <p:graphicFrame>
        <p:nvGraphicFramePr>
          <p:cNvPr id="1353738" name="Object 10"/>
          <p:cNvGraphicFramePr>
            <a:graphicFrameLocks noChangeAspect="1"/>
          </p:cNvGraphicFramePr>
          <p:nvPr/>
        </p:nvGraphicFramePr>
        <p:xfrm>
          <a:off x="3181352" y="5407819"/>
          <a:ext cx="321469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6720" imgH="203040" progId="Equation.DSMT4">
                  <p:embed/>
                </p:oleObj>
              </mc:Choice>
              <mc:Fallback>
                <p:oleObj name="Equation" r:id="rId3" imgW="126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1352" y="5407819"/>
                        <a:ext cx="321469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642" y="625016"/>
            <a:ext cx="4383479" cy="352027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7810" y="923052"/>
            <a:ext cx="6357515" cy="53978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1207" y="2591425"/>
            <a:ext cx="4481535" cy="6777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8"/>
          <a:srcRect t="22284" r="3718"/>
          <a:stretch/>
        </p:blipFill>
        <p:spPr>
          <a:xfrm>
            <a:off x="6008327" y="3734621"/>
            <a:ext cx="4347294" cy="1280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287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3735" grpId="0"/>
      <p:bldP spid="135373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Energi</a:t>
            </a:r>
            <a:r>
              <a:rPr lang="en-US" dirty="0"/>
              <a:t> </a:t>
            </a:r>
            <a:r>
              <a:rPr lang="en-US" dirty="0" err="1"/>
              <a:t>Potensial</a:t>
            </a:r>
            <a:r>
              <a:rPr lang="en-US" dirty="0"/>
              <a:t> </a:t>
            </a:r>
            <a:r>
              <a:rPr lang="en-US" dirty="0" err="1"/>
              <a:t>Dipol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Medan </a:t>
            </a:r>
            <a:r>
              <a:rPr lang="en-US" dirty="0" err="1"/>
              <a:t>Listrik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1706" t="-510" r="23976" b="88561"/>
          <a:stretch/>
        </p:blipFill>
        <p:spPr>
          <a:xfrm>
            <a:off x="838200" y="1571222"/>
            <a:ext cx="5693171" cy="94015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0839" t="31543" r="24632" b="60270"/>
          <a:stretch/>
        </p:blipFill>
        <p:spPr>
          <a:xfrm>
            <a:off x="1017431" y="4855334"/>
            <a:ext cx="5816388" cy="65230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0025" y="5875849"/>
            <a:ext cx="3371067" cy="57646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6518" y="5875849"/>
            <a:ext cx="1941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Usaha yang </a:t>
            </a:r>
            <a:r>
              <a:rPr lang="en-US" dirty="0" err="1"/>
              <a:t>dilakukan</a:t>
            </a:r>
            <a:r>
              <a:rPr lang="en-US" dirty="0"/>
              <a:t> Medan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988343" y="5875849"/>
            <a:ext cx="613189" cy="5764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4932" y="1335063"/>
            <a:ext cx="4383479" cy="3520271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9502276" y="1335063"/>
            <a:ext cx="25758" cy="3636182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4902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Penerapan</a:t>
            </a:r>
            <a:r>
              <a:rPr lang="en-US" dirty="0"/>
              <a:t> </a:t>
            </a:r>
            <a:r>
              <a:rPr lang="en-US" dirty="0" err="1"/>
              <a:t>momen</a:t>
            </a:r>
            <a:r>
              <a:rPr lang="en-US" dirty="0"/>
              <a:t> </a:t>
            </a:r>
            <a:r>
              <a:rPr lang="en-US" dirty="0" err="1"/>
              <a:t>dipol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prinsip</a:t>
            </a:r>
            <a:r>
              <a:rPr lang="en-US" dirty="0"/>
              <a:t> </a:t>
            </a:r>
            <a:r>
              <a:rPr lang="en-US" dirty="0" err="1"/>
              <a:t>kerja</a:t>
            </a:r>
            <a:r>
              <a:rPr lang="en-US" dirty="0"/>
              <a:t> oven microwave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51" y="1690688"/>
            <a:ext cx="3501234" cy="331919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2006" y="1656244"/>
            <a:ext cx="4000500" cy="20288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213" y="1556248"/>
            <a:ext cx="4333787" cy="226326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2233" y="4816699"/>
            <a:ext cx="5172075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783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9767" y="-157316"/>
            <a:ext cx="9969910" cy="691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2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8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81350" y="2455071"/>
            <a:ext cx="5829300" cy="1102519"/>
          </a:xfrm>
        </p:spPr>
        <p:txBody>
          <a:bodyPr anchor="ctr">
            <a:normAutofit fontScale="90000"/>
          </a:bodyPr>
          <a:lstStyle/>
          <a:p>
            <a:r>
              <a:rPr lang="en-US"/>
              <a:t>Distribusi Muatan Kontinu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9C20A-227E-4F02-9406-59C5626D7B56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7598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360608" y="180305"/>
            <a:ext cx="8992942" cy="1272260"/>
          </a:xfrm>
        </p:spPr>
        <p:txBody>
          <a:bodyPr>
            <a:normAutofit/>
          </a:bodyPr>
          <a:lstStyle/>
          <a:p>
            <a:r>
              <a:rPr lang="en-US" dirty="0" err="1"/>
              <a:t>Sumber</a:t>
            </a:r>
            <a:r>
              <a:rPr lang="en-US" dirty="0"/>
              <a:t> </a:t>
            </a:r>
            <a:r>
              <a:rPr lang="en-US" dirty="0" err="1"/>
              <a:t>Kontinu</a:t>
            </a:r>
            <a:r>
              <a:rPr lang="en-US" dirty="0"/>
              <a:t>:  </a:t>
            </a:r>
            <a:r>
              <a:rPr lang="en-US" dirty="0" err="1"/>
              <a:t>Rapat</a:t>
            </a:r>
            <a:r>
              <a:rPr lang="en-US" dirty="0"/>
              <a:t> </a:t>
            </a:r>
            <a:r>
              <a:rPr lang="en-US" dirty="0" err="1"/>
              <a:t>Muatan</a:t>
            </a:r>
            <a:endParaRPr lang="en-US" dirty="0"/>
          </a:p>
        </p:txBody>
      </p:sp>
      <p:sp>
        <p:nvSpPr>
          <p:cNvPr id="2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8AEC2-2122-4AA5-A457-22087F1F7EF2}" type="slidenum">
              <a:rPr lang="en-US"/>
              <a:pPr/>
              <a:t>18</a:t>
            </a:fld>
            <a:endParaRPr lang="en-US"/>
          </a:p>
        </p:txBody>
      </p:sp>
      <p:graphicFrame>
        <p:nvGraphicFramePr>
          <p:cNvPr id="1363971" name="Object 3"/>
          <p:cNvGraphicFramePr>
            <a:graphicFrameLocks noChangeAspect="1"/>
          </p:cNvGraphicFramePr>
          <p:nvPr/>
        </p:nvGraphicFramePr>
        <p:xfrm>
          <a:off x="7924800" y="5029200"/>
          <a:ext cx="1028700" cy="8632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69696" imgH="393529" progId="Equation.3">
                  <p:embed/>
                </p:oleObj>
              </mc:Choice>
              <mc:Fallback>
                <p:oleObj r:id="rId3" imgW="469696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5029200"/>
                        <a:ext cx="1028700" cy="8632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3972" name="Object 4"/>
          <p:cNvGraphicFramePr>
            <a:graphicFrameLocks noChangeAspect="1"/>
          </p:cNvGraphicFramePr>
          <p:nvPr/>
        </p:nvGraphicFramePr>
        <p:xfrm>
          <a:off x="7924802" y="3429001"/>
          <a:ext cx="1156097" cy="9263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95000" imgH="393480" progId="Equation.DSMT4">
                  <p:embed/>
                </p:oleObj>
              </mc:Choice>
              <mc:Fallback>
                <p:oleObj name="Equation" r:id="rId5" imgW="4950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2" y="3429001"/>
                        <a:ext cx="1156097" cy="9263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3973" name="Object 5"/>
          <p:cNvGraphicFramePr>
            <a:graphicFrameLocks noChangeAspect="1"/>
          </p:cNvGraphicFramePr>
          <p:nvPr/>
        </p:nvGraphicFramePr>
        <p:xfrm>
          <a:off x="8039101" y="2028826"/>
          <a:ext cx="934641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82400" imgH="393480" progId="Equation.DSMT4">
                  <p:embed/>
                </p:oleObj>
              </mc:Choice>
              <mc:Fallback>
                <p:oleObj name="Equation" r:id="rId7" imgW="4824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9101" y="2028826"/>
                        <a:ext cx="934641" cy="771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63974" name="Group 6"/>
          <p:cNvGrpSpPr>
            <a:grpSpLocks/>
          </p:cNvGrpSpPr>
          <p:nvPr/>
        </p:nvGrpSpPr>
        <p:grpSpPr bwMode="auto">
          <a:xfrm>
            <a:off x="3181350" y="4914900"/>
            <a:ext cx="3886200" cy="800100"/>
            <a:chOff x="432" y="3408"/>
            <a:chExt cx="3264" cy="672"/>
          </a:xfrm>
        </p:grpSpPr>
        <p:graphicFrame>
          <p:nvGraphicFramePr>
            <p:cNvPr id="1363975" name="Object 7"/>
            <p:cNvGraphicFramePr>
              <a:graphicFrameLocks noChangeAspect="1"/>
            </p:cNvGraphicFramePr>
            <p:nvPr/>
          </p:nvGraphicFramePr>
          <p:xfrm>
            <a:off x="1488" y="3408"/>
            <a:ext cx="1014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723600" imgH="203040" progId="Equation.DSMT4">
                    <p:embed/>
                  </p:oleObj>
                </mc:Choice>
                <mc:Fallback>
                  <p:oleObj name="Equation" r:id="rId9" imgW="7236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3408"/>
                          <a:ext cx="1014" cy="28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63976" name="Object 8"/>
            <p:cNvGraphicFramePr>
              <a:graphicFrameLocks noChangeAspect="1"/>
            </p:cNvGraphicFramePr>
            <p:nvPr/>
          </p:nvGraphicFramePr>
          <p:xfrm>
            <a:off x="1824" y="3792"/>
            <a:ext cx="254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164957" imgH="190335" progId="Equation.3">
                    <p:embed/>
                  </p:oleObj>
                </mc:Choice>
                <mc:Fallback>
                  <p:oleObj r:id="rId11" imgW="164957" imgH="19033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3792"/>
                          <a:ext cx="254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63977" name="Line 9"/>
            <p:cNvSpPr>
              <a:spLocks noChangeShapeType="1"/>
            </p:cNvSpPr>
            <p:nvPr/>
          </p:nvSpPr>
          <p:spPr bwMode="auto">
            <a:xfrm>
              <a:off x="432" y="3744"/>
              <a:ext cx="3264" cy="0"/>
            </a:xfrm>
            <a:prstGeom prst="line">
              <a:avLst/>
            </a:prstGeom>
            <a:noFill/>
            <a:ln w="63500">
              <a:solidFill>
                <a:srgbClr val="3399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 sz="1350"/>
            </a:p>
          </p:txBody>
        </p:sp>
      </p:grpSp>
      <p:grpSp>
        <p:nvGrpSpPr>
          <p:cNvPr id="1363978" name="Group 10"/>
          <p:cNvGrpSpPr>
            <a:grpSpLocks/>
          </p:cNvGrpSpPr>
          <p:nvPr/>
        </p:nvGrpSpPr>
        <p:grpSpPr bwMode="auto">
          <a:xfrm>
            <a:off x="2895600" y="3314700"/>
            <a:ext cx="4743450" cy="1143000"/>
            <a:chOff x="133" y="2021"/>
            <a:chExt cx="3984" cy="960"/>
          </a:xfrm>
        </p:grpSpPr>
        <p:graphicFrame>
          <p:nvGraphicFramePr>
            <p:cNvPr id="1363979" name="Object 11"/>
            <p:cNvGraphicFramePr>
              <a:graphicFrameLocks noChangeAspect="1"/>
            </p:cNvGraphicFramePr>
            <p:nvPr/>
          </p:nvGraphicFramePr>
          <p:xfrm>
            <a:off x="325" y="2117"/>
            <a:ext cx="288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152334" imgH="139639" progId="Equation.3">
                    <p:embed/>
                  </p:oleObj>
                </mc:Choice>
                <mc:Fallback>
                  <p:oleObj r:id="rId13" imgW="152334" imgH="13963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" y="2117"/>
                          <a:ext cx="288" cy="25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63980" name="AutoShape 12"/>
            <p:cNvSpPr>
              <a:spLocks noChangeArrowheads="1"/>
            </p:cNvSpPr>
            <p:nvPr/>
          </p:nvSpPr>
          <p:spPr bwMode="auto">
            <a:xfrm>
              <a:off x="133" y="2021"/>
              <a:ext cx="3984" cy="672"/>
            </a:xfrm>
            <a:prstGeom prst="parallelogram">
              <a:avLst>
                <a:gd name="adj" fmla="val 148214"/>
              </a:avLst>
            </a:prstGeom>
            <a:solidFill>
              <a:srgbClr val="3399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sz="1350"/>
            </a:p>
          </p:txBody>
        </p:sp>
        <p:graphicFrame>
          <p:nvGraphicFramePr>
            <p:cNvPr id="1363981" name="Object 13"/>
            <p:cNvGraphicFramePr>
              <a:graphicFrameLocks noChangeAspect="1"/>
            </p:cNvGraphicFramePr>
            <p:nvPr/>
          </p:nvGraphicFramePr>
          <p:xfrm>
            <a:off x="1861" y="2693"/>
            <a:ext cx="254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164957" imgH="190335" progId="Equation.3">
                    <p:embed/>
                  </p:oleObj>
                </mc:Choice>
                <mc:Fallback>
                  <p:oleObj r:id="rId15" imgW="164957" imgH="19033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1" y="2693"/>
                          <a:ext cx="254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63982" name="Object 14"/>
            <p:cNvGraphicFramePr>
              <a:graphicFrameLocks noChangeAspect="1"/>
            </p:cNvGraphicFramePr>
            <p:nvPr/>
          </p:nvGraphicFramePr>
          <p:xfrm>
            <a:off x="1440" y="2196"/>
            <a:ext cx="1422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015920" imgH="203040" progId="Equation.DSMT4">
                    <p:embed/>
                  </p:oleObj>
                </mc:Choice>
                <mc:Fallback>
                  <p:oleObj name="Equation" r:id="rId17" imgW="10159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2196"/>
                          <a:ext cx="1422" cy="2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63983" name="Group 15"/>
          <p:cNvGrpSpPr>
            <a:grpSpLocks/>
          </p:cNvGrpSpPr>
          <p:nvPr/>
        </p:nvGrpSpPr>
        <p:grpSpPr bwMode="auto">
          <a:xfrm>
            <a:off x="3124200" y="1193808"/>
            <a:ext cx="2790825" cy="1760935"/>
            <a:chOff x="96" y="201"/>
            <a:chExt cx="2344" cy="1479"/>
          </a:xfrm>
        </p:grpSpPr>
        <p:graphicFrame>
          <p:nvGraphicFramePr>
            <p:cNvPr id="1363984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6592011"/>
                </p:ext>
              </p:extLst>
            </p:nvPr>
          </p:nvGraphicFramePr>
          <p:xfrm>
            <a:off x="96" y="710"/>
            <a:ext cx="240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52280" imgH="164880" progId="Equation.3">
                    <p:embed/>
                  </p:oleObj>
                </mc:Choice>
                <mc:Fallback>
                  <p:oleObj name="Equation" r:id="rId19" imgW="1522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" y="710"/>
                          <a:ext cx="240" cy="2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63985" name="Object 17"/>
            <p:cNvGraphicFramePr>
              <a:graphicFrameLocks noChangeAspect="1"/>
            </p:cNvGraphicFramePr>
            <p:nvPr/>
          </p:nvGraphicFramePr>
          <p:xfrm>
            <a:off x="2064" y="1392"/>
            <a:ext cx="254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1" imgW="164957" imgH="190335" progId="Equation.3">
                    <p:embed/>
                  </p:oleObj>
                </mc:Choice>
                <mc:Fallback>
                  <p:oleObj r:id="rId21" imgW="164957" imgH="19033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1392"/>
                          <a:ext cx="254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63986" name="AutoShape 18"/>
            <p:cNvSpPr>
              <a:spLocks noChangeArrowheads="1"/>
            </p:cNvSpPr>
            <p:nvPr/>
          </p:nvSpPr>
          <p:spPr bwMode="auto">
            <a:xfrm rot="16200000">
              <a:off x="1752" y="656"/>
              <a:ext cx="768" cy="608"/>
            </a:xfrm>
            <a:prstGeom prst="can">
              <a:avLst>
                <a:gd name="adj" fmla="val 39225"/>
              </a:avLst>
            </a:prstGeom>
            <a:solidFill>
              <a:srgbClr val="3399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sz="1350"/>
            </a:p>
          </p:txBody>
        </p:sp>
        <p:graphicFrame>
          <p:nvGraphicFramePr>
            <p:cNvPr id="1363987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91343862"/>
                </p:ext>
              </p:extLst>
            </p:nvPr>
          </p:nvGraphicFramePr>
          <p:xfrm>
            <a:off x="336" y="201"/>
            <a:ext cx="1675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1333440" imgH="228600" progId="Equation.DSMT4">
                    <p:embed/>
                  </p:oleObj>
                </mc:Choice>
                <mc:Fallback>
                  <p:oleObj name="Equation" r:id="rId23" imgW="1333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201"/>
                          <a:ext cx="1675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63988" name="Object 20"/>
          <p:cNvGraphicFramePr>
            <a:graphicFrameLocks noChangeAspect="1"/>
          </p:cNvGraphicFramePr>
          <p:nvPr/>
        </p:nvGraphicFramePr>
        <p:xfrm>
          <a:off x="7696202" y="4629151"/>
          <a:ext cx="1545431" cy="475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660240" imgH="203040" progId="Equation.3">
                  <p:embed/>
                </p:oleObj>
              </mc:Choice>
              <mc:Fallback>
                <p:oleObj name="Equation" r:id="rId25" imgW="66024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2" y="4629151"/>
                        <a:ext cx="1545431" cy="4750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3989" name="Object 21"/>
          <p:cNvGraphicFramePr>
            <a:graphicFrameLocks noChangeAspect="1"/>
          </p:cNvGraphicFramePr>
          <p:nvPr/>
        </p:nvGraphicFramePr>
        <p:xfrm>
          <a:off x="7696201" y="3086101"/>
          <a:ext cx="1604963" cy="475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685800" imgH="203040" progId="Equation.3">
                  <p:embed/>
                </p:oleObj>
              </mc:Choice>
              <mc:Fallback>
                <p:oleObj name="Equation" r:id="rId27" imgW="6858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1" y="3086101"/>
                        <a:ext cx="1604963" cy="4750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3990" name="Object 22"/>
          <p:cNvGraphicFramePr>
            <a:graphicFrameLocks noChangeAspect="1"/>
          </p:cNvGraphicFramePr>
          <p:nvPr/>
        </p:nvGraphicFramePr>
        <p:xfrm>
          <a:off x="7696201" y="1600201"/>
          <a:ext cx="1664494" cy="475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711000" imgH="203040" progId="Equation.3">
                  <p:embed/>
                </p:oleObj>
              </mc:Choice>
              <mc:Fallback>
                <p:oleObj name="Equation" r:id="rId29" imgW="7110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1" y="1600201"/>
                        <a:ext cx="1664494" cy="4750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3793" y="4286250"/>
            <a:ext cx="3165543" cy="266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08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160451" y="64155"/>
            <a:ext cx="5826919" cy="48101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Contoh</a:t>
            </a:r>
            <a:r>
              <a:rPr lang="en-US" dirty="0"/>
              <a:t>: </a:t>
            </a:r>
            <a:r>
              <a:rPr lang="en-US" dirty="0" err="1"/>
              <a:t>Muatan</a:t>
            </a:r>
            <a:r>
              <a:rPr lang="en-US" dirty="0"/>
              <a:t> </a:t>
            </a:r>
            <a:r>
              <a:rPr lang="en-US" dirty="0" err="1"/>
              <a:t>Cincin</a:t>
            </a:r>
            <a:endParaRPr lang="en-US" dirty="0"/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BD8C8-D0E6-4F8E-B77E-55422D00C81C}" type="slidenum">
              <a:rPr lang="en-US"/>
              <a:pPr/>
              <a:t>19</a:t>
            </a:fld>
            <a:endParaRPr lang="en-US"/>
          </a:p>
        </p:txBody>
      </p:sp>
      <p:sp>
        <p:nvSpPr>
          <p:cNvPr id="1374212" name="Rectangle 4"/>
          <p:cNvSpPr>
            <a:spLocks noChangeArrowheads="1"/>
          </p:cNvSpPr>
          <p:nvPr/>
        </p:nvSpPr>
        <p:spPr bwMode="auto">
          <a:xfrm>
            <a:off x="4763506" y="172425"/>
            <a:ext cx="440055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 dirty="0" err="1"/>
              <a:t>Rapat</a:t>
            </a:r>
            <a:r>
              <a:rPr lang="en-US" sz="2400" dirty="0"/>
              <a:t> </a:t>
            </a:r>
            <a:r>
              <a:rPr lang="en-US" sz="2400" dirty="0" err="1"/>
              <a:t>muatan</a:t>
            </a:r>
            <a:r>
              <a:rPr lang="en-US" sz="2400" dirty="0"/>
              <a:t> </a:t>
            </a:r>
            <a:r>
              <a:rPr lang="en-US" sz="2400" dirty="0" err="1"/>
              <a:t>cincin</a:t>
            </a:r>
            <a:r>
              <a:rPr lang="en-US" sz="2400" dirty="0"/>
              <a:t> </a:t>
            </a:r>
            <a:r>
              <a:rPr lang="en-US" sz="2400" dirty="0">
                <a:latin typeface="Symbol" panose="05050102010706020507" pitchFamily="18" charset="2"/>
              </a:rPr>
              <a:t>l</a:t>
            </a:r>
            <a:r>
              <a:rPr lang="en-US" sz="2400" dirty="0"/>
              <a:t>.</a:t>
            </a:r>
          </a:p>
          <a:p>
            <a:pPr algn="ctr">
              <a:spcBef>
                <a:spcPct val="50000"/>
              </a:spcBef>
            </a:pPr>
            <a:r>
              <a:rPr lang="en-US" sz="2400" dirty="0" err="1"/>
              <a:t>Cari</a:t>
            </a:r>
            <a:r>
              <a:rPr lang="en-US" sz="2400" dirty="0"/>
              <a:t> </a:t>
            </a:r>
            <a:r>
              <a:rPr lang="en-US" sz="2400" b="1" dirty="0"/>
              <a:t>E</a:t>
            </a:r>
            <a:r>
              <a:rPr lang="en-US" sz="2400" dirty="0"/>
              <a:t> di P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487" y="574675"/>
            <a:ext cx="4943475" cy="57816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2241" y="5687199"/>
            <a:ext cx="4993057" cy="103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6714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463" name="Rectangle 15"/>
          <p:cNvSpPr>
            <a:spLocks noGrp="1" noChangeArrowheads="1"/>
          </p:cNvSpPr>
          <p:nvPr>
            <p:ph type="title"/>
          </p:nvPr>
        </p:nvSpPr>
        <p:spPr>
          <a:xfrm>
            <a:off x="0" y="203044"/>
            <a:ext cx="9513733" cy="48101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Tugas</a:t>
            </a:r>
            <a:r>
              <a:rPr lang="en-US" dirty="0"/>
              <a:t> No  2:  </a:t>
            </a:r>
            <a:r>
              <a:rPr lang="en-US" dirty="0" err="1"/>
              <a:t>Cari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E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Muatan</a:t>
            </a:r>
            <a:r>
              <a:rPr lang="en-US" dirty="0"/>
              <a:t> </a:t>
            </a:r>
            <a:r>
              <a:rPr lang="en-US" dirty="0" err="1"/>
              <a:t>Garis</a:t>
            </a:r>
            <a:endParaRPr lang="en-US" dirty="0"/>
          </a:p>
        </p:txBody>
      </p:sp>
      <p:sp>
        <p:nvSpPr>
          <p:cNvPr id="18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5CA58-5577-4A45-9C48-AAD562577490}" type="slidenum">
              <a:rPr lang="en-US"/>
              <a:pPr/>
              <a:t>20</a:t>
            </a:fld>
            <a:endParaRPr lang="en-US"/>
          </a:p>
        </p:txBody>
      </p:sp>
      <p:pic>
        <p:nvPicPr>
          <p:cNvPr id="1384456" name="Picture 8" descr="line_examp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4299" y="3481389"/>
            <a:ext cx="11906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4457" name="Picture 9" descr="line_examp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4299" y="3481389"/>
            <a:ext cx="11906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4458" name="Picture 10" descr="line_examp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4299" y="3481389"/>
            <a:ext cx="11906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4459" name="Picture 11" descr="line_examp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4299" y="3481389"/>
            <a:ext cx="11906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4460" name="Picture 12" descr="example_lin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4299" y="3481389"/>
            <a:ext cx="11906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84464" name="Text Box 16"/>
          <p:cNvSpPr txBox="1">
            <a:spLocks noChangeArrowheads="1"/>
          </p:cNvSpPr>
          <p:nvPr/>
        </p:nvSpPr>
        <p:spPr bwMode="auto">
          <a:xfrm>
            <a:off x="3009900" y="5429250"/>
            <a:ext cx="60579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1384465" name="Text Box 17"/>
          <p:cNvSpPr txBox="1">
            <a:spLocks noChangeArrowheads="1"/>
          </p:cNvSpPr>
          <p:nvPr/>
        </p:nvSpPr>
        <p:spPr bwMode="auto">
          <a:xfrm>
            <a:off x="-423126" y="821273"/>
            <a:ext cx="3758753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 err="1"/>
              <a:t>Rapat</a:t>
            </a:r>
            <a:r>
              <a:rPr lang="en-US" sz="2000" dirty="0"/>
              <a:t> </a:t>
            </a:r>
            <a:r>
              <a:rPr lang="en-US" sz="2000" dirty="0" err="1"/>
              <a:t>muatan</a:t>
            </a:r>
            <a:r>
              <a:rPr lang="en-US" sz="2000" dirty="0"/>
              <a:t> </a:t>
            </a:r>
            <a:r>
              <a:rPr lang="en-US" sz="2000" dirty="0" err="1"/>
              <a:t>garis</a:t>
            </a:r>
            <a:r>
              <a:rPr lang="en-US" sz="2000" dirty="0"/>
              <a:t> </a:t>
            </a:r>
            <a:r>
              <a:rPr lang="en-US" sz="2000" dirty="0">
                <a:sym typeface="Symbol" panose="05050102010706020507" pitchFamily="18" charset="2"/>
              </a:rPr>
              <a:t></a:t>
            </a:r>
          </a:p>
          <a:p>
            <a:pPr algn="ctr">
              <a:spcBef>
                <a:spcPct val="50000"/>
              </a:spcBef>
            </a:pPr>
            <a:r>
              <a:rPr lang="en-US" sz="2000" dirty="0" err="1"/>
              <a:t>Cari</a:t>
            </a:r>
            <a:r>
              <a:rPr lang="en-US" sz="2000" dirty="0"/>
              <a:t> </a:t>
            </a:r>
            <a:r>
              <a:rPr lang="en-US" sz="2000" b="1" i="1" dirty="0"/>
              <a:t>E</a:t>
            </a:r>
            <a:r>
              <a:rPr lang="en-US" sz="2000" dirty="0"/>
              <a:t> di </a:t>
            </a:r>
            <a:r>
              <a:rPr lang="en-US" sz="2000" i="1" dirty="0"/>
              <a:t>P</a:t>
            </a:r>
            <a:r>
              <a:rPr lang="en-US" sz="2000" dirty="0"/>
              <a:t>?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6174" y="1635020"/>
            <a:ext cx="4683751" cy="40950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816205" y="1893846"/>
                <a:ext cx="3379310" cy="1071575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acc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ad>
                          <m:radPr>
                            <m:degHide m:val="on"/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p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  <m:acc>
                      <m:accPr>
                        <m:chr m:val="̂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</m:acc>
                  </m:oMath>
                </a14:m>
                <a:r>
                  <a:rPr lang="en-US" sz="3200" dirty="0"/>
                  <a:t>  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6205" y="1893846"/>
                <a:ext cx="3379310" cy="10715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6985" y="3172648"/>
            <a:ext cx="3741629" cy="78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7869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09" y="269859"/>
            <a:ext cx="3535934" cy="309152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6" name="Ink 125"/>
              <p14:cNvContentPartPr/>
              <p14:nvPr/>
            </p14:nvContentPartPr>
            <p14:xfrm>
              <a:off x="11432571" y="5226223"/>
              <a:ext cx="398880" cy="638640"/>
            </p14:xfrm>
          </p:contentPart>
        </mc:Choice>
        <mc:Fallback xmlns="">
          <p:pic>
            <p:nvPicPr>
              <p:cNvPr id="126" name="Ink 12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430411" y="5224063"/>
                <a:ext cx="403920" cy="642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962588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5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314339"/>
            <a:ext cx="10515600" cy="1325563"/>
          </a:xfrm>
        </p:spPr>
        <p:txBody>
          <a:bodyPr/>
          <a:lstStyle/>
          <a:p>
            <a:r>
              <a:rPr lang="en-US" sz="3150" dirty="0" err="1"/>
              <a:t>Problem:Disk</a:t>
            </a:r>
            <a:r>
              <a:rPr lang="en-US" sz="3150" dirty="0"/>
              <a:t> </a:t>
            </a:r>
            <a:r>
              <a:rPr lang="en-US" sz="3150" dirty="0" err="1"/>
              <a:t>Bermuatan</a:t>
            </a:r>
            <a:r>
              <a:rPr lang="en-US" sz="3150" dirty="0"/>
              <a:t> Uniform 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F12C6-DF74-4BD0-8577-90B90B58CE8C}" type="slidenum">
              <a:rPr lang="en-US"/>
              <a:pPr/>
              <a:t>22</a:t>
            </a:fld>
            <a:endParaRPr lang="en-US"/>
          </a:p>
        </p:txBody>
      </p:sp>
      <p:sp>
        <p:nvSpPr>
          <p:cNvPr id="1390595" name="Rectangle 3"/>
          <p:cNvSpPr>
            <a:spLocks noChangeArrowheads="1"/>
          </p:cNvSpPr>
          <p:nvPr/>
        </p:nvSpPr>
        <p:spPr bwMode="auto">
          <a:xfrm>
            <a:off x="4969367" y="348443"/>
            <a:ext cx="417195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 dirty="0" err="1"/>
              <a:t>Rapat</a:t>
            </a:r>
            <a:r>
              <a:rPr lang="en-US" sz="2400" dirty="0"/>
              <a:t> </a:t>
            </a:r>
            <a:r>
              <a:rPr lang="en-US" sz="2400" dirty="0" err="1"/>
              <a:t>Muatan</a:t>
            </a:r>
            <a:r>
              <a:rPr lang="en-US" sz="2400" dirty="0"/>
              <a:t>  </a:t>
            </a:r>
            <a:r>
              <a:rPr lang="en-US" sz="2400" dirty="0">
                <a:latin typeface="Symbol" panose="05050102010706020507" pitchFamily="18" charset="2"/>
              </a:rPr>
              <a:t>s</a:t>
            </a:r>
            <a:r>
              <a:rPr lang="en-US" sz="2400" dirty="0"/>
              <a:t>.</a:t>
            </a:r>
          </a:p>
          <a:p>
            <a:pPr algn="ctr">
              <a:spcBef>
                <a:spcPct val="50000"/>
              </a:spcBef>
            </a:pPr>
            <a:r>
              <a:rPr lang="en-US" sz="2400" dirty="0" err="1"/>
              <a:t>Cari</a:t>
            </a:r>
            <a:r>
              <a:rPr lang="en-US" sz="2400" dirty="0"/>
              <a:t> </a:t>
            </a:r>
            <a:r>
              <a:rPr lang="en-US" sz="2400" b="1" dirty="0"/>
              <a:t>E</a:t>
            </a:r>
            <a:r>
              <a:rPr lang="en-US" sz="2400" dirty="0"/>
              <a:t> di P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984" y="1011224"/>
            <a:ext cx="2819400" cy="41433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65" y="5805487"/>
            <a:ext cx="3829050" cy="7334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2" name="Ink 21"/>
              <p14:cNvContentPartPr/>
              <p14:nvPr/>
            </p14:nvContentPartPr>
            <p14:xfrm>
              <a:off x="3646866" y="860770"/>
              <a:ext cx="220320" cy="50400"/>
            </p14:xfrm>
          </p:contentPart>
        </mc:Choice>
        <mc:Fallback xmlns="">
          <p:pic>
            <p:nvPicPr>
              <p:cNvPr id="22" name="Ink 21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44706" y="858610"/>
                <a:ext cx="224640" cy="54720"/>
              </a:xfrm>
              <a:prstGeom prst="rect">
                <a:avLst/>
              </a:prstGeom>
            </p:spPr>
          </p:pic>
        </mc:Fallback>
      </mc:AlternateContent>
      <p:pic>
        <p:nvPicPr>
          <p:cNvPr id="27" name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8581" y="5653994"/>
            <a:ext cx="4993057" cy="103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2451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128F2-8AFA-4DAA-B6E2-1E4EA4CAB7E1}" type="slidenum">
              <a:rPr lang="en-US"/>
              <a:pPr/>
              <a:t>23</a:t>
            </a:fld>
            <a:endParaRPr lang="en-US"/>
          </a:p>
        </p:txBody>
      </p:sp>
      <p:sp>
        <p:nvSpPr>
          <p:cNvPr id="1394691" name="Text Box 3"/>
          <p:cNvSpPr txBox="1">
            <a:spLocks noChangeArrowheads="1"/>
          </p:cNvSpPr>
          <p:nvPr/>
        </p:nvSpPr>
        <p:spPr bwMode="auto">
          <a:xfrm>
            <a:off x="2189408" y="1336069"/>
            <a:ext cx="6977720" cy="2419124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4572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FontTx/>
              <a:buAutoNum type="arabicParenR"/>
            </a:pPr>
            <a:r>
              <a:rPr lang="en-US" sz="2700" dirty="0">
                <a:latin typeface="Arial" panose="020B0604020202020204" pitchFamily="34" charset="0"/>
              </a:rPr>
              <a:t> </a:t>
            </a:r>
            <a:r>
              <a:rPr lang="en-US" sz="2700" dirty="0" err="1">
                <a:latin typeface="Arial" panose="020B0604020202020204" pitchFamily="34" charset="0"/>
              </a:rPr>
              <a:t>Dipol</a:t>
            </a:r>
            <a:r>
              <a:rPr lang="en-US" sz="2700" dirty="0">
                <a:latin typeface="Arial" panose="020B0604020202020204" pitchFamily="34" charset="0"/>
              </a:rPr>
              <a:t>			: E </a:t>
            </a:r>
            <a:r>
              <a:rPr lang="en-US" sz="2700" dirty="0" err="1">
                <a:latin typeface="Arial" panose="020B0604020202020204" pitchFamily="34" charset="0"/>
              </a:rPr>
              <a:t>berbanding</a:t>
            </a:r>
            <a:r>
              <a:rPr lang="en-US" sz="2700" dirty="0">
                <a:latin typeface="Arial" panose="020B0604020202020204" pitchFamily="34" charset="0"/>
              </a:rPr>
              <a:t> 1/r</a:t>
            </a:r>
            <a:r>
              <a:rPr lang="en-US" sz="2700" baseline="30000" dirty="0">
                <a:latin typeface="Arial" panose="020B0604020202020204" pitchFamily="34" charset="0"/>
              </a:rPr>
              <a:t>3</a:t>
            </a:r>
          </a:p>
          <a:p>
            <a:pPr>
              <a:spcBef>
                <a:spcPct val="20000"/>
              </a:spcBef>
              <a:buFontTx/>
              <a:buAutoNum type="arabicParenR"/>
            </a:pPr>
            <a:r>
              <a:rPr lang="en-US" sz="2700" dirty="0">
                <a:latin typeface="Arial" panose="020B0604020202020204" pitchFamily="34" charset="0"/>
              </a:rPr>
              <a:t> </a:t>
            </a:r>
            <a:r>
              <a:rPr lang="en-US" sz="2700" dirty="0" err="1">
                <a:latin typeface="Arial" panose="020B0604020202020204" pitchFamily="34" charset="0"/>
              </a:rPr>
              <a:t>Muatan</a:t>
            </a:r>
            <a:r>
              <a:rPr lang="en-US" sz="2700" dirty="0">
                <a:latin typeface="Arial" panose="020B0604020202020204" pitchFamily="34" charset="0"/>
              </a:rPr>
              <a:t> </a:t>
            </a:r>
            <a:r>
              <a:rPr lang="en-US" sz="2700" dirty="0" err="1">
                <a:latin typeface="Arial" panose="020B0604020202020204" pitchFamily="34" charset="0"/>
              </a:rPr>
              <a:t>Titik</a:t>
            </a:r>
            <a:r>
              <a:rPr lang="en-US" sz="2700" dirty="0">
                <a:latin typeface="Arial" panose="020B0604020202020204" pitchFamily="34" charset="0"/>
              </a:rPr>
              <a:t>	: E </a:t>
            </a:r>
            <a:r>
              <a:rPr lang="en-US" sz="2700" dirty="0" err="1">
                <a:latin typeface="Arial" panose="020B0604020202020204" pitchFamily="34" charset="0"/>
              </a:rPr>
              <a:t>berbanding</a:t>
            </a:r>
            <a:r>
              <a:rPr lang="en-US" sz="2700" dirty="0">
                <a:latin typeface="Arial" panose="020B0604020202020204" pitchFamily="34" charset="0"/>
              </a:rPr>
              <a:t> 1/r</a:t>
            </a:r>
            <a:r>
              <a:rPr lang="en-US" sz="2700" baseline="30000" dirty="0">
                <a:latin typeface="Arial" panose="020B0604020202020204" pitchFamily="34" charset="0"/>
              </a:rPr>
              <a:t>2</a:t>
            </a:r>
          </a:p>
          <a:p>
            <a:pPr>
              <a:spcBef>
                <a:spcPct val="20000"/>
              </a:spcBef>
              <a:buFontTx/>
              <a:buAutoNum type="arabicParenR"/>
            </a:pPr>
            <a:r>
              <a:rPr lang="en-US" sz="2700" dirty="0">
                <a:latin typeface="Arial" panose="020B0604020202020204" pitchFamily="34" charset="0"/>
              </a:rPr>
              <a:t> </a:t>
            </a:r>
            <a:r>
              <a:rPr lang="en-US" sz="2700" dirty="0" err="1">
                <a:latin typeface="Arial" panose="020B0604020202020204" pitchFamily="34" charset="0"/>
              </a:rPr>
              <a:t>Muatan</a:t>
            </a:r>
            <a:r>
              <a:rPr lang="en-US" sz="2700" dirty="0">
                <a:latin typeface="Arial" panose="020B0604020202020204" pitchFamily="34" charset="0"/>
              </a:rPr>
              <a:t> </a:t>
            </a:r>
            <a:r>
              <a:rPr lang="en-US" sz="2700" dirty="0" err="1">
                <a:latin typeface="Arial" panose="020B0604020202020204" pitchFamily="34" charset="0"/>
              </a:rPr>
              <a:t>Garis</a:t>
            </a:r>
            <a:r>
              <a:rPr lang="en-US" sz="2700" dirty="0">
                <a:latin typeface="Arial" panose="020B0604020202020204" pitchFamily="34" charset="0"/>
              </a:rPr>
              <a:t>	</a:t>
            </a:r>
            <a:r>
              <a:rPr lang="en-US" sz="2700" dirty="0" err="1">
                <a:latin typeface="Arial" panose="020B0604020202020204" pitchFamily="34" charset="0"/>
              </a:rPr>
              <a:t>Tak</a:t>
            </a:r>
            <a:r>
              <a:rPr lang="en-US" sz="2700" dirty="0">
                <a:latin typeface="Arial" panose="020B0604020202020204" pitchFamily="34" charset="0"/>
              </a:rPr>
              <a:t> </a:t>
            </a:r>
            <a:r>
              <a:rPr lang="en-US" sz="2700" dirty="0" err="1">
                <a:latin typeface="Arial" panose="020B0604020202020204" pitchFamily="34" charset="0"/>
              </a:rPr>
              <a:t>hingga</a:t>
            </a:r>
            <a:r>
              <a:rPr lang="en-US" sz="2700" dirty="0">
                <a:latin typeface="Arial" panose="020B0604020202020204" pitchFamily="34" charset="0"/>
              </a:rPr>
              <a:t>: E </a:t>
            </a:r>
            <a:r>
              <a:rPr lang="en-US" sz="2700" dirty="0" err="1">
                <a:latin typeface="Arial" panose="020B0604020202020204" pitchFamily="34" charset="0"/>
              </a:rPr>
              <a:t>berbanding</a:t>
            </a:r>
            <a:r>
              <a:rPr lang="en-US" sz="2700" dirty="0">
                <a:latin typeface="Arial" panose="020B0604020202020204" pitchFamily="34" charset="0"/>
              </a:rPr>
              <a:t> 1/r</a:t>
            </a:r>
          </a:p>
          <a:p>
            <a:pPr>
              <a:spcBef>
                <a:spcPct val="20000"/>
              </a:spcBef>
              <a:buFontTx/>
              <a:buAutoNum type="arabicParenR"/>
            </a:pPr>
            <a:r>
              <a:rPr lang="en-US" sz="2700" dirty="0">
                <a:latin typeface="Arial" panose="020B0604020202020204" pitchFamily="34" charset="0"/>
              </a:rPr>
              <a:t> </a:t>
            </a:r>
            <a:r>
              <a:rPr lang="en-US" sz="2700" dirty="0" err="1">
                <a:latin typeface="Arial" panose="020B0604020202020204" pitchFamily="34" charset="0"/>
              </a:rPr>
              <a:t>Muatan</a:t>
            </a:r>
            <a:r>
              <a:rPr lang="en-US" sz="2700" dirty="0">
                <a:latin typeface="Arial" panose="020B0604020202020204" pitchFamily="34" charset="0"/>
              </a:rPr>
              <a:t> </a:t>
            </a:r>
            <a:r>
              <a:rPr lang="en-US" sz="2700" dirty="0" err="1">
                <a:latin typeface="Arial" panose="020B0604020202020204" pitchFamily="34" charset="0"/>
              </a:rPr>
              <a:t>Bidang</a:t>
            </a:r>
            <a:r>
              <a:rPr lang="en-US" sz="2700" dirty="0">
                <a:latin typeface="Arial" panose="020B0604020202020204" pitchFamily="34" charset="0"/>
              </a:rPr>
              <a:t> </a:t>
            </a:r>
            <a:r>
              <a:rPr lang="en-US" sz="2700" dirty="0" err="1">
                <a:latin typeface="Arial" panose="020B0604020202020204" pitchFamily="34" charset="0"/>
              </a:rPr>
              <a:t>tak</a:t>
            </a:r>
            <a:r>
              <a:rPr lang="en-US" sz="2700" dirty="0">
                <a:latin typeface="Arial" panose="020B0604020202020204" pitchFamily="34" charset="0"/>
              </a:rPr>
              <a:t> </a:t>
            </a:r>
            <a:r>
              <a:rPr lang="en-US" sz="2700" dirty="0" err="1">
                <a:latin typeface="Arial" panose="020B0604020202020204" pitchFamily="34" charset="0"/>
              </a:rPr>
              <a:t>hingga</a:t>
            </a:r>
            <a:r>
              <a:rPr lang="en-US" sz="2700" dirty="0">
                <a:latin typeface="Arial" panose="020B0604020202020204" pitchFamily="34" charset="0"/>
              </a:rPr>
              <a:t>: E </a:t>
            </a:r>
            <a:r>
              <a:rPr lang="en-US" sz="2700" dirty="0" err="1">
                <a:latin typeface="Arial" panose="020B0604020202020204" pitchFamily="34" charset="0"/>
              </a:rPr>
              <a:t>Konstan</a:t>
            </a:r>
            <a:endParaRPr lang="en-US" sz="27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5985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1917</TotalTime>
  <Words>712</Words>
  <Application>Microsoft Office PowerPoint</Application>
  <PresentationFormat>Layar Lebar</PresentationFormat>
  <Paragraphs>140</Paragraphs>
  <Slides>23</Slides>
  <Notes>17</Notes>
  <HiddenSlides>0</HiddenSlides>
  <MMClips>0</MMClips>
  <ScaleCrop>false</ScaleCrop>
  <HeadingPairs>
    <vt:vector size="8" baseType="variant">
      <vt:variant>
        <vt:lpstr>Font Dipakai</vt:lpstr>
      </vt:variant>
      <vt:variant>
        <vt:i4>8</vt:i4>
      </vt:variant>
      <vt:variant>
        <vt:lpstr>Tema</vt:lpstr>
      </vt:variant>
      <vt:variant>
        <vt:i4>1</vt:i4>
      </vt:variant>
      <vt:variant>
        <vt:lpstr>Server OLE Tertanam</vt:lpstr>
      </vt:variant>
      <vt:variant>
        <vt:i4>3</vt:i4>
      </vt:variant>
      <vt:variant>
        <vt:lpstr>Judul Slide</vt:lpstr>
      </vt:variant>
      <vt:variant>
        <vt:i4>23</vt:i4>
      </vt:variant>
    </vt:vector>
  </HeadingPairs>
  <TitlesOfParts>
    <vt:vector size="35" baseType="lpstr">
      <vt:lpstr>MS Mincho</vt:lpstr>
      <vt:lpstr>新細明體</vt:lpstr>
      <vt:lpstr>Arial</vt:lpstr>
      <vt:lpstr>Calibri</vt:lpstr>
      <vt:lpstr>Calibri Light</vt:lpstr>
      <vt:lpstr>Cambria Math</vt:lpstr>
      <vt:lpstr>Symbol</vt:lpstr>
      <vt:lpstr>Times New Roman</vt:lpstr>
      <vt:lpstr>Office Theme</vt:lpstr>
      <vt:lpstr>Equation</vt:lpstr>
      <vt:lpstr>Artwork</vt:lpstr>
      <vt:lpstr>Equation.3</vt:lpstr>
      <vt:lpstr>Topik 2 :Listrik statis dan Konsep Medan listrik</vt:lpstr>
      <vt:lpstr>Muatan Listrik</vt:lpstr>
      <vt:lpstr>Gaya Listrik</vt:lpstr>
      <vt:lpstr>Hukum Coulomb</vt:lpstr>
      <vt:lpstr>Contoh Hukum Coulomb</vt:lpstr>
      <vt:lpstr>Prinsip Superposisi </vt:lpstr>
      <vt:lpstr>Medan Listrik</vt:lpstr>
      <vt:lpstr>Garis Medan Listrik</vt:lpstr>
      <vt:lpstr>Contoh Penerapa Konsep Medan dan Gaya Listrik</vt:lpstr>
      <vt:lpstr>TUGAS  NO 2</vt:lpstr>
      <vt:lpstr>Medan pada Dipol Listrik  </vt:lpstr>
      <vt:lpstr>Medan Listrik oleh Dipol</vt:lpstr>
      <vt:lpstr>Dipol dalam Medan Uniform</vt:lpstr>
      <vt:lpstr>Energi Potensial Dipol pada Medan Listrik</vt:lpstr>
      <vt:lpstr>Penerapan momen dipol pada prinsip kerja oven microwave</vt:lpstr>
      <vt:lpstr>Presentasi PowerPoint</vt:lpstr>
      <vt:lpstr>Distribusi Muatan Kontinu</vt:lpstr>
      <vt:lpstr>Sumber Kontinu:  Rapat Muatan</vt:lpstr>
      <vt:lpstr>Contoh: Muatan Cincin</vt:lpstr>
      <vt:lpstr>Tugas No  2:  Cari Nilai E Pada Muatan Garis</vt:lpstr>
      <vt:lpstr>Presentasi PowerPoint</vt:lpstr>
      <vt:lpstr>Problem:Disk Bermuatan Uniform </vt:lpstr>
      <vt:lpstr>Presentasi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Listrik statis : Konsep Medan listrik</dc:title>
  <dc:creator>defri</dc:creator>
  <cp:lastModifiedBy>Defrianto Pratama</cp:lastModifiedBy>
  <cp:revision>57</cp:revision>
  <dcterms:created xsi:type="dcterms:W3CDTF">2019-10-31T03:24:33Z</dcterms:created>
  <dcterms:modified xsi:type="dcterms:W3CDTF">2024-08-27T05:16:28Z</dcterms:modified>
</cp:coreProperties>
</file>