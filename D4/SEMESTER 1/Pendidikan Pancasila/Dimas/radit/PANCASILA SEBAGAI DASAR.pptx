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</p:sldMasterIdLst>
  <p:notesMasterIdLst>
    <p:notesMasterId r:id="rId12"/>
  </p:notesMasterIdLst>
  <p:sldIdLst>
    <p:sldId id="272" r:id="rId2"/>
    <p:sldId id="291" r:id="rId3"/>
    <p:sldId id="289" r:id="rId4"/>
    <p:sldId id="288" r:id="rId5"/>
    <p:sldId id="271" r:id="rId6"/>
    <p:sldId id="276" r:id="rId7"/>
    <p:sldId id="290" r:id="rId8"/>
    <p:sldId id="293" r:id="rId9"/>
    <p:sldId id="286" r:id="rId10"/>
    <p:sldId id="292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9" autoAdjust="0"/>
    <p:restoredTop sz="94249" autoAdjust="0"/>
  </p:normalViewPr>
  <p:slideViewPr>
    <p:cSldViewPr>
      <p:cViewPr varScale="1">
        <p:scale>
          <a:sx n="72" d="100"/>
          <a:sy n="72" d="100"/>
        </p:scale>
        <p:origin x="132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098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7A436A-7722-4658-9623-9A272354A58C}" type="datetimeFigureOut">
              <a:rPr lang="en-ID" smtClean="0"/>
              <a:t>21/09/2025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610594-8173-49D1-A098-8F158E0D9C3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3250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10594-8173-49D1-A098-8F158E0D9C34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06280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10594-8173-49D1-A098-8F158E0D9C34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59247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1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2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1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F5B3A55-14D6-4999-B494-0A698895D7F1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86613D42-EBAD-40FA-9FA8-17B08DE34C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3A55-14D6-4999-B494-0A698895D7F1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3D42-EBAD-40FA-9FA8-17B08DE34C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3A55-14D6-4999-B494-0A698895D7F1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3D42-EBAD-40FA-9FA8-17B08DE34C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9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9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3A55-14D6-4999-B494-0A698895D7F1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3D42-EBAD-40FA-9FA8-17B08DE34C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7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1" y="1444295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444295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9D955-EBFE-467B-93EA-A8C2DD38D75A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BB48F-8A7D-4D39-BA7A-D6C7BFBC48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3A55-14D6-4999-B494-0A698895D7F1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3D42-EBAD-40FA-9FA8-17B08DE34C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3A55-14D6-4999-B494-0A698895D7F1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3D42-EBAD-40FA-9FA8-17B08DE34C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DF5B3A55-14D6-4999-B494-0A698895D7F1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3D42-EBAD-40FA-9FA8-17B08DE34C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3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C99D955-EBFE-467B-93EA-A8C2DD38D75A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3" y="6407945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377BB48F-8A7D-4D39-BA7A-D6C7BFBC48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3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7" y="5001994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0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3" y="5791254"/>
            <a:ext cx="3402315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9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30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9D955-EBFE-467B-93EA-A8C2DD38D75A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BB48F-8A7D-4D39-BA7A-D6C7BFBC48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4" y="274641"/>
            <a:ext cx="1777471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9D955-EBFE-467B-93EA-A8C2DD38D75A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BB48F-8A7D-4D39-BA7A-D6C7BFBC48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7" y="5001994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0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3" y="5791254"/>
            <a:ext cx="3402315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9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9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0C99D955-EBFE-467B-93EA-A8C2DD38D75A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3" y="6407945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5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377BB48F-8A7D-4D39-BA7A-D6C7BFBC48A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transition>
    <p:fade/>
  </p:transition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ACER\Videos\Bahan%20ajar\GARUDA%20PANCASILA.flv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sca_esv=558361045&amp;rlz=1C1CHBD_enID925ID925&amp;biw=1280&amp;bih=585&amp;sxsrf=AE3TifNHrzKBVAMfn9mJnOXvbFHAdteh_w%3A1757812413492&amp;q=Kausa+Formalis&amp;sa=X&amp;ved=2ahUKEwjor_PDidePAxXazDgGHbKyACEQxccNegQIbhAB&amp;mstk=AUtExfBoU59OehzHQbVwBfl0vKpAG3ets_T3ho_UKshNKbIhxteXXE2igPKqL5EraVeuI7zRDX2qM9ZXpzjszBtAwxQZn-RqkyWtxXMJjwLHVU-Irs_tP2mCIT1uhJaX9RSB4yW4ou0CaCoddtcv6IRUiWF6XEoOqtKGXLakIDRrQ_W0Z8-WI67ve17jyJoh8MZNZ6yMKdHdhFYem44OqVXCzV8fotQFhGvUoL-09V-LDqTYGQ5Zk-WFScOFWw9zP6cdU0CAdPW__H13xGjpuc7CQs_h&amp;csui=3" TargetMode="External"/><Relationship Id="rId2" Type="http://schemas.openxmlformats.org/officeDocument/2006/relationships/hyperlink" Target="https://www.google.com/search?sca_esv=558361045&amp;rlz=1C1CHBD_enID925ID925&amp;biw=1280&amp;bih=585&amp;sxsrf=AE3TifNHrzKBVAMfn9mJnOXvbFHAdteh_w%3A1757812413492&amp;q=Kausa+Materialis&amp;sa=X&amp;ved=2ahUKEwjor_PDidePAxXazDgGHbKyACEQxccNegQIGRAB&amp;mstk=AUtExfBoU59OehzHQbVwBfl0vKpAG3ets_T3ho_UKshNKbIhxteXXE2igPKqL5EraVeuI7zRDX2qM9ZXpzjszBtAwxQZn-RqkyWtxXMJjwLHVU-Irs_tP2mCIT1uhJaX9RSB4yW4ou0CaCoddtcv6IRUiWF6XEoOqtKGXLakIDRrQ_W0Z8-WI67ve17jyJoh8MZNZ6yMKdHdhFYem44OqVXCzV8fotQFhGvUoL-09V-LDqTYGQ5Zk-WFScOFWw9zP6cdU0CAdPW__H13xGjpuc7CQs_h&amp;csui=3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oogle.com/search?sca_esv=558361045&amp;rlz=1C1CHBD_enID925ID925&amp;biw=1280&amp;bih=585&amp;sxsrf=AE3TifNHrzKBVAMfn9mJnOXvbFHAdteh_w%3A1757812413492&amp;q=Kausa+Finalis&amp;sa=X&amp;ved=2ahUKEwjor_PDidePAxXazDgGHbKyACEQxccNegQIdRAB&amp;mstk=AUtExfBoU59OehzHQbVwBfl0vKpAG3ets_T3ho_UKshNKbIhxteXXE2igPKqL5EraVeuI7zRDX2qM9ZXpzjszBtAwxQZn-RqkyWtxXMJjwLHVU-Irs_tP2mCIT1uhJaX9RSB4yW4ou0CaCoddtcv6IRUiWF6XEoOqtKGXLakIDRrQ_W0Z8-WI67ve17jyJoh8MZNZ6yMKdHdhFYem44OqVXCzV8fotQFhGvUoL-09V-LDqTYGQ5Zk-WFScOFWw9zP6cdU0CAdPW__H13xGjpuc7CQs_h&amp;csui=3" TargetMode="External"/><Relationship Id="rId4" Type="http://schemas.openxmlformats.org/officeDocument/2006/relationships/hyperlink" Target="https://www.google.com/search?sca_esv=558361045&amp;rlz=1C1CHBD_enID925ID925&amp;biw=1280&amp;bih=585&amp;sxsrf=AE3TifNHrzKBVAMfn9mJnOXvbFHAdteh_w%3A1757812413492&amp;q=Kausa+Efisien&amp;sa=X&amp;ved=2ahUKEwjor_PDidePAxXazDgGHbKyACEQxccNegQIbRAB&amp;mstk=AUtExfBoU59OehzHQbVwBfl0vKpAG3ets_T3ho_UKshNKbIhxteXXE2igPKqL5EraVeuI7zRDX2qM9ZXpzjszBtAwxQZn-RqkyWtxXMJjwLHVU-Irs_tP2mCIT1uhJaX9RSB4yW4ou0CaCoddtcv6IRUiWF6XEoOqtKGXLakIDRrQ_W0Z8-WI67ve17jyJoh8MZNZ6yMKdHdhFYem44OqVXCzV8fotQFhGvUoL-09V-LDqTYGQ5Zk-WFScOFWw9zP6cdU0CAdPW__H13xGjpuc7CQs_h&amp;csui=3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http://www.empatpilarkebangsaan.web.id/wp-content/uploads/2011/11/pancasila3.jpg">
            <a:hlinkClick r:id="rId3" action="ppaction://hlinkfile" highlightClick="1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29200" y="1828800"/>
            <a:ext cx="3810000" cy="2647951"/>
          </a:xfrm>
          <a:prstGeom prst="rect">
            <a:avLst/>
          </a:prstGeom>
          <a:noFill/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Pancasila </a:t>
            </a:r>
            <a:r>
              <a:rPr lang="en-US" dirty="0" err="1"/>
              <a:t>Sebagai</a:t>
            </a:r>
            <a:r>
              <a:rPr lang="en-US" dirty="0"/>
              <a:t> Dasar Negara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FC6D4-1098-FA5F-FF1A-49EB9A31E251}"/>
              </a:ext>
            </a:extLst>
          </p:cNvPr>
          <p:cNvSpPr>
            <a:spLocks noGrp="1"/>
          </p:cNvSpPr>
          <p:nvPr/>
        </p:nvSpPr>
        <p:spPr>
          <a:xfrm>
            <a:off x="381000" y="533399"/>
            <a:ext cx="8534400" cy="563880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D" sz="2400" b="1" i="0" dirty="0" err="1">
                <a:solidFill>
                  <a:srgbClr val="001D35"/>
                </a:solidFill>
                <a:effectLst/>
                <a:latin typeface="+mj-lt"/>
              </a:rPr>
              <a:t>Teori</a:t>
            </a:r>
            <a:r>
              <a:rPr lang="en-ID" sz="2400" b="1" i="0" dirty="0">
                <a:solidFill>
                  <a:srgbClr val="001D35"/>
                </a:solidFill>
                <a:effectLst/>
                <a:latin typeface="+mj-lt"/>
              </a:rPr>
              <a:t> </a:t>
            </a:r>
            <a:r>
              <a:rPr lang="en-ID" sz="2400" b="1" i="0" dirty="0" err="1">
                <a:solidFill>
                  <a:srgbClr val="001D35"/>
                </a:solidFill>
                <a:effectLst/>
                <a:latin typeface="+mj-lt"/>
              </a:rPr>
              <a:t>kausalitas</a:t>
            </a:r>
            <a:r>
              <a:rPr lang="en-ID" sz="2400" b="1" i="0" dirty="0">
                <a:solidFill>
                  <a:srgbClr val="001D35"/>
                </a:solidFill>
                <a:effectLst/>
                <a:latin typeface="+mj-lt"/>
              </a:rPr>
              <a:t> </a:t>
            </a:r>
            <a:r>
              <a:rPr lang="en-ID" sz="2400" b="1" i="0" dirty="0" err="1">
                <a:solidFill>
                  <a:srgbClr val="001D35"/>
                </a:solidFill>
                <a:effectLst/>
                <a:latin typeface="+mj-lt"/>
              </a:rPr>
              <a:t>asal</a:t>
            </a:r>
            <a:r>
              <a:rPr lang="en-ID" sz="2400" b="1" i="0" dirty="0">
                <a:solidFill>
                  <a:srgbClr val="001D35"/>
                </a:solidFill>
                <a:effectLst/>
                <a:latin typeface="+mj-lt"/>
              </a:rPr>
              <a:t> </a:t>
            </a:r>
            <a:r>
              <a:rPr lang="en-ID" sz="2400" b="1" i="0" dirty="0" err="1">
                <a:solidFill>
                  <a:srgbClr val="001D35"/>
                </a:solidFill>
                <a:effectLst/>
                <a:latin typeface="+mj-lt"/>
              </a:rPr>
              <a:t>mula</a:t>
            </a:r>
            <a:r>
              <a:rPr lang="en-ID" sz="2400" b="1" i="0" dirty="0">
                <a:solidFill>
                  <a:srgbClr val="001D35"/>
                </a:solidFill>
                <a:effectLst/>
                <a:latin typeface="+mj-lt"/>
              </a:rPr>
              <a:t> Pancasila</a:t>
            </a:r>
          </a:p>
          <a:p>
            <a:pPr marL="0" indent="0" algn="ctr">
              <a:buNone/>
            </a:pPr>
            <a:endParaRPr lang="en-ID" dirty="0">
              <a:latin typeface="+mj-lt"/>
            </a:endParaRPr>
          </a:p>
          <a:p>
            <a:r>
              <a:rPr lang="en-ID" b="1" dirty="0" err="1">
                <a:latin typeface="+mj-lt"/>
                <a:hlinkClick r:id="rId2"/>
              </a:rPr>
              <a:t>Kausa</a:t>
            </a:r>
            <a:r>
              <a:rPr lang="en-ID" b="1" dirty="0">
                <a:latin typeface="+mj-lt"/>
                <a:hlinkClick r:id="rId2"/>
              </a:rPr>
              <a:t> </a:t>
            </a:r>
            <a:r>
              <a:rPr lang="en-ID" b="1" dirty="0" err="1">
                <a:latin typeface="+mj-lt"/>
                <a:hlinkClick r:id="rId2"/>
              </a:rPr>
              <a:t>Materialis</a:t>
            </a:r>
            <a:r>
              <a:rPr lang="en-ID" b="1" dirty="0">
                <a:latin typeface="+mj-lt"/>
              </a:rPr>
              <a:t>:</a:t>
            </a:r>
            <a:endParaRPr lang="en-ID" dirty="0">
              <a:latin typeface="+mj-lt"/>
            </a:endParaRPr>
          </a:p>
          <a:p>
            <a:pPr marL="0" indent="0">
              <a:buNone/>
            </a:pPr>
            <a:r>
              <a:rPr lang="en-ID" dirty="0" err="1">
                <a:latin typeface="+mj-lt"/>
              </a:rPr>
              <a:t>Merujuk</a:t>
            </a:r>
            <a:r>
              <a:rPr lang="en-ID" dirty="0">
                <a:latin typeface="+mj-lt"/>
              </a:rPr>
              <a:t> pada </a:t>
            </a:r>
            <a:r>
              <a:rPr lang="en-ID" dirty="0" err="1">
                <a:latin typeface="+mj-lt"/>
              </a:rPr>
              <a:t>materi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atau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unsur-unsur</a:t>
            </a:r>
            <a:r>
              <a:rPr lang="en-ID" dirty="0">
                <a:latin typeface="+mj-lt"/>
              </a:rPr>
              <a:t> yang </a:t>
            </a:r>
            <a:r>
              <a:rPr lang="en-ID" dirty="0" err="1">
                <a:latin typeface="+mj-lt"/>
              </a:rPr>
              <a:t>membentuk</a:t>
            </a:r>
            <a:r>
              <a:rPr lang="en-ID" dirty="0">
                <a:latin typeface="+mj-lt"/>
              </a:rPr>
              <a:t> Pancasila, </a:t>
            </a:r>
            <a:r>
              <a:rPr lang="en-ID" dirty="0" err="1">
                <a:latin typeface="+mj-lt"/>
              </a:rPr>
              <a:t>yaitu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nilai-nilai</a:t>
            </a:r>
            <a:r>
              <a:rPr lang="en-ID" dirty="0">
                <a:latin typeface="+mj-lt"/>
              </a:rPr>
              <a:t> yang </a:t>
            </a:r>
            <a:r>
              <a:rPr lang="en-ID" dirty="0" err="1">
                <a:latin typeface="+mj-lt"/>
              </a:rPr>
              <a:t>ada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dalam</a:t>
            </a:r>
            <a:r>
              <a:rPr lang="en-ID" dirty="0">
                <a:latin typeface="+mj-lt"/>
              </a:rPr>
              <a:t> masyarakat Indonesia </a:t>
            </a:r>
            <a:r>
              <a:rPr lang="en-ID" dirty="0" err="1">
                <a:latin typeface="+mj-lt"/>
              </a:rPr>
              <a:t>itu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sendiri</a:t>
            </a:r>
            <a:r>
              <a:rPr lang="en-ID" dirty="0">
                <a:latin typeface="+mj-lt"/>
              </a:rPr>
              <a:t>, </a:t>
            </a:r>
            <a:r>
              <a:rPr lang="en-ID" dirty="0" err="1">
                <a:latin typeface="+mj-lt"/>
              </a:rPr>
              <a:t>seperti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nilai</a:t>
            </a:r>
            <a:r>
              <a:rPr lang="en-ID" dirty="0">
                <a:latin typeface="+mj-lt"/>
              </a:rPr>
              <a:t> agama, </a:t>
            </a:r>
            <a:r>
              <a:rPr lang="en-ID" dirty="0" err="1">
                <a:latin typeface="+mj-lt"/>
              </a:rPr>
              <a:t>kebudayaan</a:t>
            </a:r>
            <a:r>
              <a:rPr lang="en-ID" dirty="0">
                <a:latin typeface="+mj-lt"/>
              </a:rPr>
              <a:t>, dan </a:t>
            </a:r>
            <a:r>
              <a:rPr lang="en-ID" dirty="0" err="1">
                <a:latin typeface="+mj-lt"/>
              </a:rPr>
              <a:t>adat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istiada</a:t>
            </a:r>
            <a:endParaRPr lang="en-ID" dirty="0">
              <a:latin typeface="+mj-lt"/>
            </a:endParaRPr>
          </a:p>
          <a:p>
            <a:r>
              <a:rPr lang="en-ID" b="1" dirty="0" err="1">
                <a:latin typeface="+mj-lt"/>
                <a:hlinkClick r:id="rId3"/>
              </a:rPr>
              <a:t>Kausa</a:t>
            </a:r>
            <a:r>
              <a:rPr lang="en-ID" b="1" dirty="0">
                <a:latin typeface="+mj-lt"/>
                <a:hlinkClick r:id="rId3"/>
              </a:rPr>
              <a:t> </a:t>
            </a:r>
            <a:r>
              <a:rPr lang="en-ID" b="1" dirty="0" err="1">
                <a:latin typeface="+mj-lt"/>
                <a:hlinkClick r:id="rId3"/>
              </a:rPr>
              <a:t>Formalis</a:t>
            </a:r>
            <a:r>
              <a:rPr lang="en-ID" b="1" dirty="0">
                <a:latin typeface="+mj-lt"/>
              </a:rPr>
              <a:t>:</a:t>
            </a:r>
            <a:endParaRPr lang="en-ID" dirty="0">
              <a:latin typeface="+mj-lt"/>
            </a:endParaRPr>
          </a:p>
          <a:p>
            <a:pPr marL="0" indent="0">
              <a:buNone/>
            </a:pPr>
            <a:r>
              <a:rPr lang="en-ID" dirty="0" err="1">
                <a:latin typeface="+mj-lt"/>
              </a:rPr>
              <a:t>Menjelaskan</a:t>
            </a:r>
            <a:r>
              <a:rPr lang="en-ID" dirty="0">
                <a:latin typeface="+mj-lt"/>
              </a:rPr>
              <a:t> proses </a:t>
            </a:r>
            <a:r>
              <a:rPr lang="en-ID" dirty="0" err="1">
                <a:latin typeface="+mj-lt"/>
              </a:rPr>
              <a:t>bagaimana</a:t>
            </a:r>
            <a:r>
              <a:rPr lang="en-ID" dirty="0">
                <a:latin typeface="+mj-lt"/>
              </a:rPr>
              <a:t> Pancasila </a:t>
            </a:r>
            <a:r>
              <a:rPr lang="en-ID" dirty="0" err="1">
                <a:latin typeface="+mj-lt"/>
              </a:rPr>
              <a:t>dirumuskan</a:t>
            </a:r>
            <a:r>
              <a:rPr lang="en-ID" dirty="0">
                <a:latin typeface="+mj-lt"/>
              </a:rPr>
              <a:t> dan </a:t>
            </a:r>
            <a:r>
              <a:rPr lang="en-ID" dirty="0" err="1">
                <a:latin typeface="+mj-lt"/>
              </a:rPr>
              <a:t>disusun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dalam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Pembukaan</a:t>
            </a:r>
            <a:r>
              <a:rPr lang="en-ID" dirty="0">
                <a:latin typeface="+mj-lt"/>
              </a:rPr>
              <a:t> UUD 1945 oleh BPUPKI dan </a:t>
            </a:r>
            <a:r>
              <a:rPr lang="en-ID" dirty="0" err="1">
                <a:latin typeface="+mj-lt"/>
              </a:rPr>
              <a:t>tokoh-tokoh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penting</a:t>
            </a:r>
            <a:endParaRPr lang="en-ID" dirty="0">
              <a:latin typeface="+mj-lt"/>
            </a:endParaRPr>
          </a:p>
          <a:p>
            <a:r>
              <a:rPr lang="en-ID" b="1" dirty="0" err="1">
                <a:latin typeface="+mj-lt"/>
                <a:hlinkClick r:id="rId4"/>
              </a:rPr>
              <a:t>Kausa</a:t>
            </a:r>
            <a:r>
              <a:rPr lang="en-ID" b="1" dirty="0">
                <a:latin typeface="+mj-lt"/>
                <a:hlinkClick r:id="rId4"/>
              </a:rPr>
              <a:t> </a:t>
            </a:r>
            <a:r>
              <a:rPr lang="en-ID" b="1" dirty="0" err="1">
                <a:latin typeface="+mj-lt"/>
                <a:hlinkClick r:id="rId4"/>
              </a:rPr>
              <a:t>Efisien</a:t>
            </a:r>
            <a:r>
              <a:rPr lang="en-ID" b="1" dirty="0">
                <a:latin typeface="+mj-lt"/>
              </a:rPr>
              <a:t>:</a:t>
            </a:r>
            <a:endParaRPr lang="en-ID" dirty="0">
              <a:latin typeface="+mj-lt"/>
            </a:endParaRPr>
          </a:p>
          <a:p>
            <a:pPr marL="0" indent="0">
              <a:buNone/>
            </a:pPr>
            <a:r>
              <a:rPr lang="en-ID" dirty="0" err="1">
                <a:latin typeface="+mj-lt"/>
              </a:rPr>
              <a:t>Menjelaskan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siapa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atau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pihak</a:t>
            </a:r>
            <a:r>
              <a:rPr lang="en-ID" dirty="0">
                <a:latin typeface="+mj-lt"/>
              </a:rPr>
              <a:t> mana yang </a:t>
            </a:r>
            <a:r>
              <a:rPr lang="en-ID" dirty="0" err="1">
                <a:latin typeface="+mj-lt"/>
              </a:rPr>
              <a:t>berperan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dalam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perumusan</a:t>
            </a:r>
            <a:r>
              <a:rPr lang="en-ID" dirty="0">
                <a:latin typeface="+mj-lt"/>
              </a:rPr>
              <a:t> Pancasila, </a:t>
            </a:r>
            <a:r>
              <a:rPr lang="en-ID" dirty="0" err="1">
                <a:latin typeface="+mj-lt"/>
              </a:rPr>
              <a:t>yaitu</a:t>
            </a:r>
            <a:r>
              <a:rPr lang="en-ID" dirty="0">
                <a:latin typeface="+mj-lt"/>
              </a:rPr>
              <a:t> para </a:t>
            </a:r>
            <a:r>
              <a:rPr lang="en-ID" dirty="0" err="1">
                <a:latin typeface="+mj-lt"/>
              </a:rPr>
              <a:t>pendiri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bangsa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seperti</a:t>
            </a:r>
            <a:r>
              <a:rPr lang="en-ID" dirty="0">
                <a:latin typeface="+mj-lt"/>
              </a:rPr>
              <a:t> Soekarno dan Mohammad Hatta, yang </a:t>
            </a:r>
            <a:r>
              <a:rPr lang="en-ID" dirty="0" err="1">
                <a:latin typeface="+mj-lt"/>
              </a:rPr>
              <a:t>terlibat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dalam</a:t>
            </a:r>
            <a:r>
              <a:rPr lang="en-ID" dirty="0">
                <a:latin typeface="+mj-lt"/>
              </a:rPr>
              <a:t> proses tersebut.</a:t>
            </a:r>
          </a:p>
          <a:p>
            <a:r>
              <a:rPr lang="en-ID" b="1" dirty="0" err="1">
                <a:latin typeface="+mj-lt"/>
                <a:hlinkClick r:id="rId5"/>
              </a:rPr>
              <a:t>Kausa</a:t>
            </a:r>
            <a:r>
              <a:rPr lang="en-ID" b="1" dirty="0">
                <a:latin typeface="+mj-lt"/>
                <a:hlinkClick r:id="rId5"/>
              </a:rPr>
              <a:t> </a:t>
            </a:r>
            <a:r>
              <a:rPr lang="en-ID" b="1" dirty="0" err="1">
                <a:latin typeface="+mj-lt"/>
                <a:hlinkClick r:id="rId5"/>
              </a:rPr>
              <a:t>Finalis</a:t>
            </a:r>
            <a:r>
              <a:rPr lang="en-ID" b="1" dirty="0">
                <a:latin typeface="+mj-lt"/>
              </a:rPr>
              <a:t>:</a:t>
            </a:r>
            <a:endParaRPr lang="en-ID" dirty="0">
              <a:latin typeface="+mj-lt"/>
            </a:endParaRPr>
          </a:p>
          <a:p>
            <a:pPr marL="0" indent="0">
              <a:buNone/>
            </a:pPr>
            <a:r>
              <a:rPr lang="en-ID" dirty="0" err="1">
                <a:latin typeface="+mj-lt"/>
              </a:rPr>
              <a:t>Mengacu</a:t>
            </a:r>
            <a:r>
              <a:rPr lang="en-ID" dirty="0">
                <a:latin typeface="+mj-lt"/>
              </a:rPr>
              <a:t> pada </a:t>
            </a:r>
            <a:r>
              <a:rPr lang="en-ID" dirty="0" err="1">
                <a:latin typeface="+mj-lt"/>
              </a:rPr>
              <a:t>tujuan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akhir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dari</a:t>
            </a:r>
            <a:r>
              <a:rPr lang="en-ID" dirty="0">
                <a:latin typeface="+mj-lt"/>
              </a:rPr>
              <a:t> Pancasila, </a:t>
            </a:r>
            <a:r>
              <a:rPr lang="en-ID" dirty="0" err="1">
                <a:latin typeface="+mj-lt"/>
              </a:rPr>
              <a:t>yaitu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untuk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menjadi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dasar</a:t>
            </a:r>
            <a:r>
              <a:rPr lang="en-ID" dirty="0">
                <a:latin typeface="+mj-lt"/>
              </a:rPr>
              <a:t> negara Indonesia </a:t>
            </a:r>
            <a:r>
              <a:rPr lang="en-ID" dirty="0" err="1">
                <a:latin typeface="+mj-lt"/>
              </a:rPr>
              <a:t>merdeka</a:t>
            </a:r>
            <a:r>
              <a:rPr lang="en-ID" dirty="0">
                <a:latin typeface="+mj-lt"/>
              </a:rPr>
              <a:t> dan </a:t>
            </a:r>
            <a:r>
              <a:rPr lang="en-ID" dirty="0" err="1">
                <a:latin typeface="+mj-lt"/>
              </a:rPr>
              <a:t>mempersatukan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bangsa</a:t>
            </a:r>
            <a:endParaRPr lang="en-ID" dirty="0">
              <a:latin typeface="+mj-lt"/>
            </a:endParaRPr>
          </a:p>
          <a:p>
            <a:endParaRPr lang="en-ID" dirty="0">
              <a:latin typeface="+mj-lt"/>
            </a:endParaRPr>
          </a:p>
          <a:p>
            <a:endParaRPr lang="en-ID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8455228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65D483-4C63-4D21-98E6-1505049D3F7C}"/>
              </a:ext>
            </a:extLst>
          </p:cNvPr>
          <p:cNvSpPr txBox="1"/>
          <p:nvPr/>
        </p:nvSpPr>
        <p:spPr>
          <a:xfrm>
            <a:off x="304800" y="152400"/>
            <a:ext cx="85344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Secara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etimologis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,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istilah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dasar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negara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maknanya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identik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dengan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istilah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i="1" dirty="0" err="1">
                <a:solidFill>
                  <a:srgbClr val="000000"/>
                </a:solidFill>
                <a:effectLst/>
                <a:latin typeface="+mj-lt"/>
              </a:rPr>
              <a:t>grundnorm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(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norma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dasar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), </a:t>
            </a:r>
            <a:r>
              <a:rPr lang="en-ID" sz="2400" i="1" dirty="0" err="1">
                <a:solidFill>
                  <a:srgbClr val="000000"/>
                </a:solidFill>
                <a:effectLst/>
                <a:latin typeface="+mj-lt"/>
              </a:rPr>
              <a:t>rechtsidee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(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cita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hukum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), </a:t>
            </a:r>
            <a:r>
              <a:rPr lang="en-ID" sz="2400" i="1" dirty="0" err="1">
                <a:solidFill>
                  <a:srgbClr val="000000"/>
                </a:solidFill>
                <a:effectLst/>
                <a:latin typeface="+mj-lt"/>
              </a:rPr>
              <a:t>staatsidee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(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cita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negara), </a:t>
            </a:r>
            <a:r>
              <a:rPr lang="en-ID" sz="2400" i="1" dirty="0" err="1">
                <a:solidFill>
                  <a:srgbClr val="000000"/>
                </a:solidFill>
                <a:effectLst/>
                <a:latin typeface="+mj-lt"/>
              </a:rPr>
              <a:t>philosophische</a:t>
            </a:r>
            <a:r>
              <a:rPr lang="en-ID" sz="2400" i="1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i="1" dirty="0" err="1">
                <a:solidFill>
                  <a:srgbClr val="000000"/>
                </a:solidFill>
                <a:effectLst/>
                <a:latin typeface="+mj-lt"/>
              </a:rPr>
              <a:t>grondslag</a:t>
            </a:r>
            <a:r>
              <a:rPr lang="en-ID" sz="2400" i="1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(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dasar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filsafat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negara). </a:t>
            </a:r>
          </a:p>
          <a:p>
            <a:pPr algn="just"/>
            <a:endParaRPr lang="en-ID" sz="2400" dirty="0">
              <a:latin typeface="+mj-lt"/>
            </a:endParaRPr>
          </a:p>
          <a:p>
            <a:pPr algn="just"/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• Norma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dasar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ini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merupakan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norma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tertinggi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yang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mendasari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kesatuan-kesatuan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sistem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norma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dalam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masyarakat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yang </a:t>
            </a:r>
            <a:r>
              <a:rPr lang="en-ID" sz="2400" dirty="0"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teratur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termasuk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di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dalamnya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negara yang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sifatnya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tidak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berubah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(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Attamimi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dalam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Oesman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dan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Alfian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, 1993: 74). </a:t>
            </a:r>
            <a:endParaRPr lang="en-ID" sz="2400" dirty="0">
              <a:latin typeface="+mj-lt"/>
            </a:endParaRPr>
          </a:p>
          <a:p>
            <a:pPr algn="just"/>
            <a:endParaRPr lang="en-ID" sz="2400" dirty="0">
              <a:solidFill>
                <a:srgbClr val="000000"/>
              </a:solidFill>
              <a:effectLst/>
              <a:latin typeface="+mj-lt"/>
            </a:endParaRPr>
          </a:p>
          <a:p>
            <a:pPr algn="just"/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•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kedudukan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dasar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negara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berbeda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dengan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kedudukan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peraturan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perundang-undangan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karena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dasar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negara </a:t>
            </a:r>
            <a:r>
              <a:rPr lang="en-ID" sz="2400" dirty="0"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merupakan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sumber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dari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peraturan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perundang-undangan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. </a:t>
            </a:r>
            <a:endParaRPr lang="en-ID" sz="2400" dirty="0">
              <a:latin typeface="+mj-lt"/>
            </a:endParaRPr>
          </a:p>
          <a:p>
            <a:pPr algn="just"/>
            <a:endParaRPr lang="en-ID" sz="2400" dirty="0">
              <a:solidFill>
                <a:srgbClr val="000000"/>
              </a:solidFill>
              <a:effectLst/>
              <a:latin typeface="+mj-lt"/>
            </a:endParaRPr>
          </a:p>
          <a:p>
            <a:pPr algn="just"/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•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maka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dasar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negara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bersifat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permanen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sementara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peraturan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endParaRPr lang="en-ID" sz="2400" dirty="0">
              <a:latin typeface="+mj-lt"/>
            </a:endParaRPr>
          </a:p>
          <a:p>
            <a:pPr algn="just"/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perundang-undangan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bersifat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fleksibel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dalam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arti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dapat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endParaRPr lang="en-ID" sz="2400" dirty="0">
              <a:latin typeface="+mj-lt"/>
            </a:endParaRPr>
          </a:p>
          <a:p>
            <a:pPr algn="just"/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diubah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sesuai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dengan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tuntutan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zaman.</a:t>
            </a:r>
            <a:endParaRPr lang="en-ID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6064932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115888" indent="-6350">
              <a:buNone/>
            </a:pPr>
            <a:endParaRPr lang="en-US" dirty="0"/>
          </a:p>
          <a:p>
            <a:pPr marL="115888" indent="-6350">
              <a:buNone/>
            </a:pPr>
            <a:r>
              <a:rPr lang="id-ID" dirty="0"/>
              <a:t>”.... maka disusunlah Kemerdekaan Kebangsaan Indonesia itu dalam suatu Undang-undang Dasar Negara Indonesia, yang terbentuk dalam suatu susunan Negara Republik Indonesia, yang berkedaulatan rakyat </a:t>
            </a:r>
            <a:r>
              <a:rPr lang="id-ID" b="1" dirty="0"/>
              <a:t>dengan berdasar </a:t>
            </a:r>
            <a:r>
              <a:rPr lang="id-ID" dirty="0"/>
              <a:t>kepada</a:t>
            </a:r>
            <a:r>
              <a:rPr lang="en-US" dirty="0"/>
              <a:t>….”</a:t>
            </a:r>
          </a:p>
          <a:p>
            <a:pPr marL="371920" lvl="1" indent="-6350" algn="r">
              <a:buNone/>
            </a:pPr>
            <a:endParaRPr lang="en-US" i="1" dirty="0"/>
          </a:p>
          <a:p>
            <a:pPr marL="371920" lvl="1" indent="-6350" algn="r">
              <a:buNone/>
            </a:pPr>
            <a:r>
              <a:rPr lang="en-US" i="1" dirty="0" err="1"/>
              <a:t>Alinea</a:t>
            </a:r>
            <a:r>
              <a:rPr lang="en-US" i="1" dirty="0"/>
              <a:t> 4 </a:t>
            </a:r>
            <a:r>
              <a:rPr lang="en-US" i="1" dirty="0" err="1"/>
              <a:t>Pembukaan</a:t>
            </a:r>
            <a:r>
              <a:rPr lang="en-US" i="1" dirty="0"/>
              <a:t> UUD 1945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Pancasila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Negara</a:t>
            </a:r>
          </a:p>
        </p:txBody>
      </p:sp>
    </p:spTree>
    <p:extLst>
      <p:ext uri="{BB962C8B-B14F-4D97-AF65-F5344CB8AC3E}">
        <p14:creationId xmlns:p14="http://schemas.microsoft.com/office/powerpoint/2010/main" val="218633582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115888" indent="-6350">
              <a:buNone/>
            </a:pPr>
            <a:r>
              <a:rPr lang="en-US" dirty="0" err="1"/>
              <a:t>Pancasila</a:t>
            </a:r>
            <a:r>
              <a:rPr lang="en-US" dirty="0"/>
              <a:t> </a:t>
            </a:r>
            <a:r>
              <a:rPr lang="en-US" dirty="0" err="1"/>
              <a:t>sebagaimana</a:t>
            </a:r>
            <a:r>
              <a:rPr lang="en-US" dirty="0"/>
              <a:t> </a:t>
            </a:r>
            <a:r>
              <a:rPr lang="en-US" dirty="0" err="1"/>
              <a:t>dimaksud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Pembukaan</a:t>
            </a:r>
            <a:r>
              <a:rPr lang="en-US" dirty="0"/>
              <a:t> </a:t>
            </a:r>
            <a:r>
              <a:rPr lang="en-US" dirty="0" err="1"/>
              <a:t>Undang-Undang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1945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b="1" dirty="0" err="1"/>
              <a:t>dasar</a:t>
            </a:r>
            <a:r>
              <a:rPr lang="en-US" b="1" dirty="0"/>
              <a:t> </a:t>
            </a:r>
            <a:r>
              <a:rPr lang="en-US" b="1" dirty="0" err="1"/>
              <a:t>negara</a:t>
            </a:r>
            <a:r>
              <a:rPr lang="en-US" b="1" dirty="0"/>
              <a:t> </a:t>
            </a:r>
            <a:r>
              <a:rPr lang="en-US" dirty="0" err="1"/>
              <a:t>dari</a:t>
            </a:r>
            <a:r>
              <a:rPr lang="en-US" dirty="0"/>
              <a:t> Negara </a:t>
            </a:r>
            <a:r>
              <a:rPr lang="en-US" dirty="0" err="1"/>
              <a:t>Kesatuan</a:t>
            </a:r>
            <a:r>
              <a:rPr lang="en-US" dirty="0"/>
              <a:t> </a:t>
            </a:r>
            <a:r>
              <a:rPr lang="en-US" dirty="0" err="1"/>
              <a:t>Republik</a:t>
            </a:r>
            <a:r>
              <a:rPr lang="en-US" dirty="0"/>
              <a:t> Indonesia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sv-SE" dirty="0"/>
              <a:t>dilaksanakan secara konsisten dalam kehidupan bernegara.</a:t>
            </a:r>
          </a:p>
          <a:p>
            <a:pPr marL="1117600" lvl="2" indent="-23813" algn="just">
              <a:buNone/>
            </a:pPr>
            <a:r>
              <a:rPr lang="en-US" b="1" dirty="0" err="1"/>
              <a:t>Pasal</a:t>
            </a:r>
            <a:r>
              <a:rPr lang="en-US" b="1" dirty="0"/>
              <a:t> 1 </a:t>
            </a:r>
            <a:r>
              <a:rPr lang="en-US" i="1" dirty="0"/>
              <a:t>TAP MPR RI No. XVIII/MPR/1998 </a:t>
            </a:r>
            <a:r>
              <a:rPr lang="en-US" i="1" dirty="0" err="1"/>
              <a:t>tentang</a:t>
            </a:r>
            <a:r>
              <a:rPr lang="en-US" i="1" dirty="0"/>
              <a:t> </a:t>
            </a:r>
            <a:r>
              <a:rPr lang="en-US" i="1" dirty="0" err="1"/>
              <a:t>Pencabutan</a:t>
            </a:r>
            <a:r>
              <a:rPr lang="en-US" i="1" dirty="0"/>
              <a:t> TAP MPR RI NO II/MPR/1978 </a:t>
            </a:r>
            <a:r>
              <a:rPr lang="en-US" i="1" dirty="0" err="1"/>
              <a:t>tentang</a:t>
            </a:r>
            <a:r>
              <a:rPr lang="en-US" i="1" dirty="0"/>
              <a:t> </a:t>
            </a:r>
            <a:r>
              <a:rPr lang="en-US" i="1" dirty="0" err="1"/>
              <a:t>Pedoman</a:t>
            </a:r>
            <a:r>
              <a:rPr lang="en-US" i="1" dirty="0"/>
              <a:t> </a:t>
            </a:r>
            <a:r>
              <a:rPr lang="en-US" i="1" dirty="0" err="1"/>
              <a:t>Penghayatan</a:t>
            </a:r>
            <a:r>
              <a:rPr lang="en-US" i="1" dirty="0"/>
              <a:t> </a:t>
            </a:r>
            <a:r>
              <a:rPr lang="en-US" i="1" dirty="0" err="1"/>
              <a:t>dan</a:t>
            </a:r>
            <a:r>
              <a:rPr lang="en-US" i="1" dirty="0"/>
              <a:t> </a:t>
            </a:r>
            <a:r>
              <a:rPr lang="en-US" i="1" dirty="0" err="1"/>
              <a:t>Pengamalan</a:t>
            </a:r>
            <a:r>
              <a:rPr lang="en-US" i="1" dirty="0"/>
              <a:t> </a:t>
            </a:r>
            <a:r>
              <a:rPr lang="en-US" i="1" dirty="0" err="1"/>
              <a:t>Pancasila</a:t>
            </a:r>
            <a:r>
              <a:rPr lang="en-US" i="1" dirty="0"/>
              <a:t> (</a:t>
            </a:r>
            <a:r>
              <a:rPr lang="en-US" i="1" dirty="0" err="1"/>
              <a:t>Ekaprasetia</a:t>
            </a:r>
            <a:r>
              <a:rPr lang="en-US" i="1" dirty="0"/>
              <a:t> </a:t>
            </a:r>
            <a:r>
              <a:rPr lang="en-US" i="1" dirty="0" err="1"/>
              <a:t>Pancakarsa</a:t>
            </a:r>
            <a:r>
              <a:rPr lang="en-US" i="1" dirty="0"/>
              <a:t>) </a:t>
            </a:r>
            <a:r>
              <a:rPr lang="en-US" i="1" dirty="0" err="1"/>
              <a:t>dan</a:t>
            </a:r>
            <a:r>
              <a:rPr lang="en-US" i="1" dirty="0"/>
              <a:t> </a:t>
            </a:r>
            <a:r>
              <a:rPr lang="en-US" i="1" dirty="0" err="1"/>
              <a:t>Penetapan</a:t>
            </a:r>
            <a:r>
              <a:rPr lang="en-US" i="1" dirty="0"/>
              <a:t> </a:t>
            </a:r>
            <a:r>
              <a:rPr lang="en-US" i="1" dirty="0" err="1"/>
              <a:t>tentang</a:t>
            </a:r>
            <a:r>
              <a:rPr lang="en-US" i="1" dirty="0"/>
              <a:t> </a:t>
            </a:r>
            <a:r>
              <a:rPr lang="en-US" i="1" dirty="0" err="1"/>
              <a:t>Penegasan</a:t>
            </a:r>
            <a:r>
              <a:rPr lang="en-US" i="1" dirty="0"/>
              <a:t> </a:t>
            </a:r>
            <a:r>
              <a:rPr lang="en-US" i="1" dirty="0" err="1"/>
              <a:t>Pancasila</a:t>
            </a:r>
            <a:r>
              <a:rPr lang="en-US" i="1" dirty="0"/>
              <a:t> </a:t>
            </a:r>
            <a:r>
              <a:rPr lang="en-US" i="1" dirty="0" err="1"/>
              <a:t>sebagai</a:t>
            </a:r>
            <a:r>
              <a:rPr lang="en-US" i="1" dirty="0"/>
              <a:t> </a:t>
            </a:r>
            <a:r>
              <a:rPr lang="en-US" i="1" dirty="0" err="1"/>
              <a:t>Dasar</a:t>
            </a:r>
            <a:r>
              <a:rPr lang="en-US" i="1" dirty="0"/>
              <a:t> Negara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Pancasila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Negara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anchor="ctr">
            <a:normAutofit fontScale="77500" lnSpcReduction="20000"/>
          </a:bodyPr>
          <a:lstStyle/>
          <a:p>
            <a:pPr>
              <a:buFont typeface="Courier New" pitchFamily="49" charset="0"/>
              <a:buChar char="o"/>
            </a:pPr>
            <a:r>
              <a:rPr lang="en-US" sz="2800" dirty="0"/>
              <a:t>M</a:t>
            </a:r>
            <a:r>
              <a:rPr lang="id-ID" sz="2800" dirty="0"/>
              <a:t>erupakan sumber dari segala sumber hukum atau </a:t>
            </a:r>
            <a:r>
              <a:rPr lang="id-ID" sz="2800" dirty="0">
                <a:hlinkClick r:id="rId3" action="ppaction://hlinksldjump"/>
              </a:rPr>
              <a:t>sumber tertib hukum </a:t>
            </a:r>
            <a:r>
              <a:rPr lang="id-ID" sz="2800" dirty="0"/>
              <a:t>di Indonesia. </a:t>
            </a:r>
            <a:endParaRPr lang="en-US" sz="2800" dirty="0"/>
          </a:p>
          <a:p>
            <a:pPr>
              <a:buFont typeface="Courier New" pitchFamily="49" charset="0"/>
              <a:buChar char="o"/>
            </a:pPr>
            <a:r>
              <a:rPr lang="id-ID" sz="2800" dirty="0"/>
              <a:t>Meliputi suasana kebatinan </a:t>
            </a:r>
            <a:r>
              <a:rPr lang="id-ID" sz="2800" i="1" dirty="0"/>
              <a:t>(geistlichenhintergrund)</a:t>
            </a:r>
            <a:r>
              <a:rPr lang="id-ID" sz="2800" dirty="0"/>
              <a:t> dari </a:t>
            </a:r>
            <a:r>
              <a:rPr lang="en-US" sz="2800" dirty="0"/>
              <a:t>UUD </a:t>
            </a:r>
            <a:r>
              <a:rPr lang="id-ID" sz="2800" dirty="0"/>
              <a:t>1945.</a:t>
            </a:r>
            <a:endParaRPr lang="en-US" sz="2800" dirty="0"/>
          </a:p>
          <a:p>
            <a:pPr>
              <a:buFont typeface="Courier New" pitchFamily="49" charset="0"/>
              <a:buChar char="o"/>
            </a:pPr>
            <a:r>
              <a:rPr lang="id-ID" sz="2800" dirty="0"/>
              <a:t>Mewujudkan cita-cita hukum bagi hukum dasar negara (baik hukum dasar tertulis maupun tertulis)</a:t>
            </a:r>
            <a:endParaRPr lang="en-US" sz="2800" dirty="0"/>
          </a:p>
          <a:p>
            <a:pPr>
              <a:buFont typeface="Courier New" pitchFamily="49" charset="0"/>
              <a:buChar char="o"/>
            </a:pPr>
            <a:r>
              <a:rPr lang="id-ID" sz="2800" dirty="0"/>
              <a:t>Mengandung norma yang mengharuskan </a:t>
            </a:r>
            <a:r>
              <a:rPr lang="en-US" sz="2800" dirty="0"/>
              <a:t>UUD </a:t>
            </a:r>
            <a:r>
              <a:rPr lang="id-ID" sz="2800" dirty="0"/>
              <a:t>1945 dan Peraturan Perundang-undangan lainnya mengandung isi yang mewajibkan pemerintah penyelenggara negara (termasuk partai politik) memegang teguh nilai-nilai Pancasila.</a:t>
            </a:r>
            <a:endParaRPr lang="en-US" sz="2800" dirty="0"/>
          </a:p>
          <a:p>
            <a:pPr>
              <a:buFont typeface="Courier New" pitchFamily="49" charset="0"/>
              <a:buChar char="o"/>
            </a:pPr>
            <a:r>
              <a:rPr lang="id-ID" sz="2800" dirty="0"/>
              <a:t>Merupakan sumber semangat bagi </a:t>
            </a:r>
            <a:r>
              <a:rPr lang="en-US" sz="2800" dirty="0"/>
              <a:t>UUD </a:t>
            </a:r>
            <a:r>
              <a:rPr lang="id-ID" sz="2800" dirty="0"/>
              <a:t>1945, penyelenggara negara, para pelaksana tugas pemerintahan, penyelenggara partai politik dan golongan fungsional lainnya. </a:t>
            </a:r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Kedudukan</a:t>
            </a:r>
            <a:r>
              <a:rPr lang="en-US" dirty="0"/>
              <a:t> </a:t>
            </a:r>
            <a:r>
              <a:rPr lang="en-US" dirty="0" err="1"/>
              <a:t>Pancasila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Negara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E858D53-E18C-44C8-93D9-A26411C2BC89}"/>
              </a:ext>
            </a:extLst>
          </p:cNvPr>
          <p:cNvSpPr txBox="1"/>
          <p:nvPr/>
        </p:nvSpPr>
        <p:spPr>
          <a:xfrm>
            <a:off x="685800" y="2209800"/>
            <a:ext cx="8077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400" b="1" dirty="0">
                <a:solidFill>
                  <a:srgbClr val="000000"/>
                </a:solidFill>
                <a:effectLst/>
                <a:latin typeface="+mj-lt"/>
              </a:rPr>
              <a:t>BENARKAH PANCASILA ITU DIPERLUKAN SEBAGAI DASAR NEGARA? </a:t>
            </a:r>
            <a:endParaRPr lang="en-ID" sz="2400" dirty="0">
              <a:latin typeface="+mj-lt"/>
            </a:endParaRPr>
          </a:p>
          <a:p>
            <a:r>
              <a:rPr lang="en-ID" sz="2400" b="1" dirty="0">
                <a:solidFill>
                  <a:srgbClr val="000000"/>
                </a:solidFill>
                <a:effectLst/>
                <a:latin typeface="+mj-lt"/>
              </a:rPr>
              <a:t>APA BUKTINYA JIKA PANCASILA ITU PERLU DIJADIKAN DASAR NEGARA INDONESIA ? </a:t>
            </a:r>
          </a:p>
          <a:p>
            <a:endParaRPr lang="en-ID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6090235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7B81F6-2F35-47F8-A005-7E38988F9779}"/>
              </a:ext>
            </a:extLst>
          </p:cNvPr>
          <p:cNvSpPr txBox="1"/>
          <p:nvPr/>
        </p:nvSpPr>
        <p:spPr>
          <a:xfrm>
            <a:off x="533400" y="685800"/>
            <a:ext cx="80772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2400" b="1" dirty="0">
                <a:effectLst/>
                <a:latin typeface="+mj-lt"/>
              </a:rPr>
              <a:t>Pancasila </a:t>
            </a:r>
            <a:r>
              <a:rPr lang="en-ID" sz="2400" b="1" dirty="0" err="1">
                <a:effectLst/>
                <a:latin typeface="+mj-lt"/>
              </a:rPr>
              <a:t>seperti</a:t>
            </a:r>
            <a:r>
              <a:rPr lang="en-ID" sz="2400" b="1" dirty="0">
                <a:effectLst/>
                <a:latin typeface="+mj-lt"/>
              </a:rPr>
              <a:t> </a:t>
            </a:r>
            <a:r>
              <a:rPr lang="en-ID" sz="2400" b="1" dirty="0" err="1">
                <a:effectLst/>
                <a:latin typeface="+mj-lt"/>
              </a:rPr>
              <a:t>jalan</a:t>
            </a:r>
            <a:r>
              <a:rPr lang="en-ID" sz="2400" b="1" dirty="0">
                <a:effectLst/>
                <a:latin typeface="+mj-lt"/>
              </a:rPr>
              <a:t> </a:t>
            </a:r>
            <a:r>
              <a:rPr lang="en-ID" sz="2400" b="1" dirty="0" err="1">
                <a:effectLst/>
                <a:latin typeface="+mj-lt"/>
              </a:rPr>
              <a:t>aspal</a:t>
            </a:r>
            <a:r>
              <a:rPr lang="en-ID" sz="2400" b="1" dirty="0">
                <a:effectLst/>
                <a:latin typeface="+mj-lt"/>
              </a:rPr>
              <a:t> yang </a:t>
            </a:r>
            <a:r>
              <a:rPr lang="en-ID" sz="2400" b="1" dirty="0" err="1">
                <a:effectLst/>
                <a:latin typeface="+mj-lt"/>
              </a:rPr>
              <a:t>memberikan</a:t>
            </a:r>
            <a:r>
              <a:rPr lang="en-ID" sz="2400" b="1" dirty="0">
                <a:effectLst/>
                <a:latin typeface="+mj-lt"/>
              </a:rPr>
              <a:t> </a:t>
            </a:r>
            <a:r>
              <a:rPr lang="en-ID" sz="2400" b="1" dirty="0" err="1">
                <a:effectLst/>
                <a:latin typeface="+mj-lt"/>
              </a:rPr>
              <a:t>arah</a:t>
            </a:r>
            <a:r>
              <a:rPr lang="en-ID" sz="2400" b="1" dirty="0">
                <a:effectLst/>
                <a:latin typeface="+mj-lt"/>
              </a:rPr>
              <a:t> </a:t>
            </a:r>
            <a:r>
              <a:rPr lang="en-ID" sz="2400" b="1" dirty="0" err="1">
                <a:effectLst/>
                <a:latin typeface="+mj-lt"/>
              </a:rPr>
              <a:t>kemana</a:t>
            </a:r>
            <a:r>
              <a:rPr lang="en-ID" sz="2400" b="1" dirty="0">
                <a:effectLst/>
                <a:latin typeface="+mj-lt"/>
              </a:rPr>
              <a:t> </a:t>
            </a:r>
            <a:r>
              <a:rPr lang="en-ID" sz="2400" b="1" dirty="0" err="1">
                <a:effectLst/>
                <a:latin typeface="+mj-lt"/>
              </a:rPr>
              <a:t>kendaraan</a:t>
            </a:r>
            <a:r>
              <a:rPr lang="en-ID" sz="2400" b="1" dirty="0">
                <a:effectLst/>
                <a:latin typeface="+mj-lt"/>
              </a:rPr>
              <a:t> </a:t>
            </a:r>
            <a:r>
              <a:rPr lang="en-ID" sz="2400" b="1" dirty="0" err="1">
                <a:effectLst/>
                <a:latin typeface="+mj-lt"/>
              </a:rPr>
              <a:t>itu</a:t>
            </a:r>
            <a:r>
              <a:rPr lang="en-ID" sz="2400" b="1" dirty="0">
                <a:effectLst/>
                <a:latin typeface="+mj-lt"/>
              </a:rPr>
              <a:t> </a:t>
            </a:r>
            <a:r>
              <a:rPr lang="en-ID" sz="2400" b="1" dirty="0" err="1">
                <a:effectLst/>
                <a:latin typeface="+mj-lt"/>
              </a:rPr>
              <a:t>dapat</a:t>
            </a:r>
            <a:r>
              <a:rPr lang="en-ID" sz="2400" b="1" dirty="0">
                <a:effectLst/>
                <a:latin typeface="+mj-lt"/>
              </a:rPr>
              <a:t> </a:t>
            </a:r>
            <a:r>
              <a:rPr lang="en-ID" sz="2400" b="1" dirty="0" err="1">
                <a:effectLst/>
                <a:latin typeface="+mj-lt"/>
              </a:rPr>
              <a:t>dibawa</a:t>
            </a:r>
            <a:r>
              <a:rPr lang="en-ID" sz="2400" b="1" dirty="0">
                <a:effectLst/>
                <a:latin typeface="+mj-lt"/>
              </a:rPr>
              <a:t> </a:t>
            </a:r>
            <a:r>
              <a:rPr lang="en-ID" sz="2400" b="1" dirty="0" err="1">
                <a:effectLst/>
                <a:latin typeface="+mj-lt"/>
              </a:rPr>
              <a:t>tanpa</a:t>
            </a:r>
            <a:r>
              <a:rPr lang="en-ID" sz="2400" b="1" dirty="0">
                <a:effectLst/>
                <a:latin typeface="+mj-lt"/>
              </a:rPr>
              <a:t> </a:t>
            </a:r>
            <a:r>
              <a:rPr lang="en-ID" sz="2400" b="1" dirty="0" err="1">
                <a:effectLst/>
                <a:latin typeface="+mj-lt"/>
              </a:rPr>
              <a:t>ada</a:t>
            </a:r>
            <a:r>
              <a:rPr lang="en-ID" sz="2400" b="1" dirty="0">
                <a:effectLst/>
                <a:latin typeface="+mj-lt"/>
              </a:rPr>
              <a:t> </a:t>
            </a:r>
            <a:r>
              <a:rPr lang="en-ID" sz="2400" b="1" dirty="0" err="1">
                <a:effectLst/>
                <a:latin typeface="+mj-lt"/>
              </a:rPr>
              <a:t>kerusakan</a:t>
            </a:r>
            <a:r>
              <a:rPr lang="en-ID" sz="2400" dirty="0">
                <a:solidFill>
                  <a:srgbClr val="FFFF00"/>
                </a:solidFill>
                <a:effectLst/>
                <a:latin typeface="+mj-lt"/>
              </a:rPr>
              <a:t>. </a:t>
            </a:r>
          </a:p>
          <a:p>
            <a:pPr algn="just"/>
            <a:endParaRPr lang="en-ID" sz="2400" dirty="0">
              <a:latin typeface="+mj-lt"/>
            </a:endParaRPr>
          </a:p>
          <a:p>
            <a:pPr algn="just"/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Dengan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Pancasila,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perpecahan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bangsa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Indonesia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akan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mudah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dihindari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karena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pandangan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Pancasila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bertumpu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pada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pola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hidup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yang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berdasarkan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keseimbangan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,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keselarasan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, dan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keserasian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sehingga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perbedaan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apapun</a:t>
            </a:r>
            <a:r>
              <a:rPr lang="en-ID" sz="24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yang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ada</a:t>
            </a:r>
            <a:r>
              <a:rPr lang="en-ID" sz="2400" dirty="0"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dapat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dibina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menjadi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suatu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pola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kehidupan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yang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dinamis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,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penuh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dengan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keanekaragaman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yang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berada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dalam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satu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keseragaman</a:t>
            </a:r>
            <a:r>
              <a:rPr lang="en-ID" sz="2400" dirty="0">
                <a:solidFill>
                  <a:srgbClr val="000000"/>
                </a:solidFill>
                <a:effectLst/>
                <a:latin typeface="+mj-lt"/>
              </a:rPr>
              <a:t> yang </a:t>
            </a:r>
            <a:r>
              <a:rPr lang="en-ID" sz="2400" dirty="0" err="1">
                <a:solidFill>
                  <a:srgbClr val="000000"/>
                </a:solidFill>
                <a:effectLst/>
                <a:latin typeface="+mj-lt"/>
              </a:rPr>
              <a:t>kokoh.</a:t>
            </a:r>
            <a:r>
              <a:rPr lang="en-ID" sz="2400" dirty="0" err="1">
                <a:solidFill>
                  <a:srgbClr val="FFFFFF"/>
                </a:solidFill>
                <a:effectLst/>
                <a:latin typeface="+mj-lt"/>
              </a:rPr>
              <a:t>Negara</a:t>
            </a:r>
            <a:endParaRPr lang="en-ID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7137756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7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219200" y="-215665"/>
          <a:ext cx="6477000" cy="7332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5017680" imgH="7064640" progId="AcroExch.Document.11">
                  <p:embed/>
                </p:oleObj>
              </mc:Choice>
              <mc:Fallback>
                <p:oleObj name="Acrobat Document" r:id="rId2" imgW="5017680" imgH="7064640" progId="AcroExch.Document.11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-215665"/>
                        <a:ext cx="6477000" cy="73326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CC6867-8C9E-4922-859C-9156CEB65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en-US" sz="3600" b="1" dirty="0"/>
              <a:t>SEKIAN</a:t>
            </a:r>
            <a:endParaRPr lang="en-ID" sz="3600" b="1" dirty="0"/>
          </a:p>
        </p:txBody>
      </p:sp>
    </p:spTree>
    <p:extLst>
      <p:ext uri="{BB962C8B-B14F-4D97-AF65-F5344CB8AC3E}">
        <p14:creationId xmlns:p14="http://schemas.microsoft.com/office/powerpoint/2010/main" val="3486738663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Dikdik">
      <a:majorFont>
        <a:latin typeface="Candara"/>
        <a:ea typeface=""/>
        <a:cs typeface=""/>
      </a:majorFont>
      <a:minorFont>
        <a:latin typeface="Candara"/>
        <a:ea typeface=""/>
        <a:cs typeface="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4271</TotalTime>
  <Words>502</Words>
  <Application>Microsoft Office PowerPoint</Application>
  <PresentationFormat>On-screen Show (4:3)</PresentationFormat>
  <Paragraphs>42</Paragraphs>
  <Slides>10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Candara</vt:lpstr>
      <vt:lpstr>Courier New</vt:lpstr>
      <vt:lpstr>Verdana</vt:lpstr>
      <vt:lpstr>Wingdings 2</vt:lpstr>
      <vt:lpstr>Wingdings 3</vt:lpstr>
      <vt:lpstr>Concourse</vt:lpstr>
      <vt:lpstr>Acrobat Document</vt:lpstr>
      <vt:lpstr>Pancasila Sebagai Dasar Negara</vt:lpstr>
      <vt:lpstr>PowerPoint Presentation</vt:lpstr>
      <vt:lpstr>PowerPoint Presentation</vt:lpstr>
      <vt:lpstr>Pancasila Dasar Negara</vt:lpstr>
      <vt:lpstr>Pancasila Dasar Negara</vt:lpstr>
      <vt:lpstr>Kedudukan Pancasila sebagai Dasar Negara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Pancasila dan Pendidikan Pancasila di Perguruan Tinggi</dc:title>
  <dc:creator>DIKDIK</dc:creator>
  <cp:lastModifiedBy>X240</cp:lastModifiedBy>
  <cp:revision>43</cp:revision>
  <dcterms:created xsi:type="dcterms:W3CDTF">2011-09-26T15:14:59Z</dcterms:created>
  <dcterms:modified xsi:type="dcterms:W3CDTF">2025-09-24T03:14:29Z</dcterms:modified>
</cp:coreProperties>
</file>