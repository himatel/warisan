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1" r:id="rId4"/>
    <p:sldId id="270" r:id="rId5"/>
    <p:sldId id="272" r:id="rId6"/>
    <p:sldId id="274" r:id="rId7"/>
    <p:sldId id="275" r:id="rId8"/>
    <p:sldId id="276" r:id="rId9"/>
    <p:sldId id="277" r:id="rId10"/>
    <p:sldId id="280" r:id="rId11"/>
    <p:sldId id="282" r:id="rId12"/>
    <p:sldId id="283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981" y="337767"/>
            <a:ext cx="717350" cy="64216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399032" y="620268"/>
            <a:ext cx="10793095" cy="144780"/>
          </a:xfrm>
          <a:custGeom>
            <a:avLst/>
            <a:gdLst/>
            <a:ahLst/>
            <a:cxnLst/>
            <a:rect l="l" t="t" r="r" b="b"/>
            <a:pathLst>
              <a:path w="10793095" h="144779">
                <a:moveTo>
                  <a:pt x="10792968" y="0"/>
                </a:moveTo>
                <a:lnTo>
                  <a:pt x="0" y="0"/>
                </a:lnTo>
                <a:lnTo>
                  <a:pt x="0" y="144779"/>
                </a:lnTo>
                <a:lnTo>
                  <a:pt x="10792968" y="144779"/>
                </a:lnTo>
                <a:lnTo>
                  <a:pt x="10792968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20268"/>
            <a:ext cx="1399540" cy="144780"/>
          </a:xfrm>
          <a:custGeom>
            <a:avLst/>
            <a:gdLst/>
            <a:ahLst/>
            <a:cxnLst/>
            <a:rect l="l" t="t" r="r" b="b"/>
            <a:pathLst>
              <a:path w="1399540" h="144779">
                <a:moveTo>
                  <a:pt x="1399032" y="0"/>
                </a:moveTo>
                <a:lnTo>
                  <a:pt x="0" y="0"/>
                </a:lnTo>
                <a:lnTo>
                  <a:pt x="0" y="144779"/>
                </a:lnTo>
                <a:lnTo>
                  <a:pt x="1399032" y="144779"/>
                </a:lnTo>
                <a:lnTo>
                  <a:pt x="139903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59" y="332231"/>
            <a:ext cx="728472" cy="6476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20268"/>
            <a:ext cx="1399540" cy="144780"/>
          </a:xfrm>
          <a:custGeom>
            <a:avLst/>
            <a:gdLst/>
            <a:ahLst/>
            <a:cxnLst/>
            <a:rect l="l" t="t" r="r" b="b"/>
            <a:pathLst>
              <a:path w="1399540" h="144779">
                <a:moveTo>
                  <a:pt x="1399032" y="0"/>
                </a:moveTo>
                <a:lnTo>
                  <a:pt x="0" y="0"/>
                </a:lnTo>
                <a:lnTo>
                  <a:pt x="0" y="144779"/>
                </a:lnTo>
                <a:lnTo>
                  <a:pt x="1399032" y="144779"/>
                </a:lnTo>
                <a:lnTo>
                  <a:pt x="139903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3859" y="332231"/>
            <a:ext cx="728472" cy="6476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399032" y="620268"/>
            <a:ext cx="10793095" cy="144780"/>
          </a:xfrm>
          <a:custGeom>
            <a:avLst/>
            <a:gdLst/>
            <a:ahLst/>
            <a:cxnLst/>
            <a:rect l="l" t="t" r="r" b="b"/>
            <a:pathLst>
              <a:path w="10793095" h="144779">
                <a:moveTo>
                  <a:pt x="10792968" y="0"/>
                </a:moveTo>
                <a:lnTo>
                  <a:pt x="0" y="0"/>
                </a:lnTo>
                <a:lnTo>
                  <a:pt x="0" y="144779"/>
                </a:lnTo>
                <a:lnTo>
                  <a:pt x="10792968" y="144779"/>
                </a:lnTo>
                <a:lnTo>
                  <a:pt x="10792968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85240" y="70484"/>
            <a:ext cx="9821519" cy="5374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74845" y="1172337"/>
            <a:ext cx="6277609" cy="1908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jpg"/><Relationship Id="rId7" Type="http://schemas.openxmlformats.org/officeDocument/2006/relationships/image" Target="../media/image30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jpg"/><Relationship Id="rId4" Type="http://schemas.openxmlformats.org/officeDocument/2006/relationships/image" Target="../media/image27.png"/><Relationship Id="rId9" Type="http://schemas.openxmlformats.org/officeDocument/2006/relationships/image" Target="../media/image32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image" Target="../media/image5.png"/><Relationship Id="rId7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7.png"/><Relationship Id="rId10" Type="http://schemas.openxmlformats.org/officeDocument/2006/relationships/image" Target="../media/image49.png"/><Relationship Id="rId4" Type="http://schemas.openxmlformats.org/officeDocument/2006/relationships/image" Target="../media/image6.png"/><Relationship Id="rId9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7576"/>
            <a:ext cx="5412105" cy="149860"/>
          </a:xfrm>
          <a:custGeom>
            <a:avLst/>
            <a:gdLst/>
            <a:ahLst/>
            <a:cxnLst/>
            <a:rect l="l" t="t" r="r" b="b"/>
            <a:pathLst>
              <a:path w="5412105" h="149859">
                <a:moveTo>
                  <a:pt x="0" y="149351"/>
                </a:moveTo>
                <a:lnTo>
                  <a:pt x="5411724" y="149351"/>
                </a:lnTo>
                <a:lnTo>
                  <a:pt x="5411724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2041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80276" y="417576"/>
            <a:ext cx="5412105" cy="149860"/>
          </a:xfrm>
          <a:custGeom>
            <a:avLst/>
            <a:gdLst/>
            <a:ahLst/>
            <a:cxnLst/>
            <a:rect l="l" t="t" r="r" b="b"/>
            <a:pathLst>
              <a:path w="5412105" h="149859">
                <a:moveTo>
                  <a:pt x="0" y="149351"/>
                </a:moveTo>
                <a:lnTo>
                  <a:pt x="5411724" y="149351"/>
                </a:lnTo>
                <a:lnTo>
                  <a:pt x="5411724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2041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556259"/>
            <a:ext cx="5412105" cy="93345"/>
          </a:xfrm>
          <a:custGeom>
            <a:avLst/>
            <a:gdLst/>
            <a:ahLst/>
            <a:cxnLst/>
            <a:rect l="l" t="t" r="r" b="b"/>
            <a:pathLst>
              <a:path w="5412105" h="93345">
                <a:moveTo>
                  <a:pt x="0" y="92963"/>
                </a:moveTo>
                <a:lnTo>
                  <a:pt x="5411724" y="92963"/>
                </a:lnTo>
                <a:lnTo>
                  <a:pt x="5411724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BCD6ED">
              <a:alpha val="4196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80276" y="556259"/>
            <a:ext cx="5412105" cy="93345"/>
          </a:xfrm>
          <a:custGeom>
            <a:avLst/>
            <a:gdLst/>
            <a:ahLst/>
            <a:cxnLst/>
            <a:rect l="l" t="t" r="r" b="b"/>
            <a:pathLst>
              <a:path w="5412105" h="93345">
                <a:moveTo>
                  <a:pt x="0" y="92963"/>
                </a:moveTo>
                <a:lnTo>
                  <a:pt x="5411724" y="92963"/>
                </a:lnTo>
                <a:lnTo>
                  <a:pt x="5411724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BCD6ED">
              <a:alpha val="4196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0888" y="134112"/>
            <a:ext cx="1030223" cy="9159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00200" y="1600200"/>
            <a:ext cx="9144000" cy="663643"/>
          </a:xfrm>
          <a:prstGeom prst="rect">
            <a:avLst/>
          </a:prstGeom>
          <a:ln w="12192">
            <a:solidFill>
              <a:srgbClr val="41709C"/>
            </a:solidFill>
          </a:ln>
        </p:spPr>
        <p:txBody>
          <a:bodyPr vert="horz" wrap="square" lIns="0" tIns="291465" rIns="0" bIns="0" rtlCol="0">
            <a:spAutoFit/>
          </a:bodyPr>
          <a:lstStyle/>
          <a:p>
            <a:pPr marL="90170" algn="ctr">
              <a:lnSpc>
                <a:spcPct val="100000"/>
              </a:lnSpc>
              <a:spcBef>
                <a:spcPts val="2295"/>
              </a:spcBef>
            </a:pPr>
            <a:r>
              <a:rPr sz="2400" b="1" spc="-125" dirty="0">
                <a:solidFill>
                  <a:srgbClr val="1F487C"/>
                </a:solidFill>
                <a:latin typeface="Tahoma"/>
                <a:cs typeface="Tahoma"/>
              </a:rPr>
              <a:t>PENGANTAR</a:t>
            </a:r>
            <a:r>
              <a:rPr sz="2400" b="1" spc="20" dirty="0">
                <a:solidFill>
                  <a:srgbClr val="1F487C"/>
                </a:solidFill>
                <a:latin typeface="Tahoma"/>
                <a:cs typeface="Tahoma"/>
              </a:rPr>
              <a:t> </a:t>
            </a:r>
            <a:r>
              <a:rPr sz="2400" b="1" spc="-200" dirty="0">
                <a:solidFill>
                  <a:srgbClr val="1F487C"/>
                </a:solidFill>
                <a:latin typeface="Tahoma"/>
                <a:cs typeface="Tahoma"/>
              </a:rPr>
              <a:t>PENDIDIKAN</a:t>
            </a:r>
            <a:r>
              <a:rPr sz="2400" b="1" spc="30" dirty="0">
                <a:solidFill>
                  <a:srgbClr val="1F487C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1F487C"/>
                </a:solidFill>
                <a:latin typeface="Tahoma"/>
                <a:cs typeface="Tahoma"/>
              </a:rPr>
              <a:t>PANCASILA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90323" y="6510934"/>
            <a:ext cx="138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7E7E7E"/>
                </a:solidFill>
                <a:latin typeface="Arial MT"/>
                <a:cs typeface="Arial MT"/>
              </a:rPr>
              <a:t>5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2140" y="1552194"/>
            <a:ext cx="970724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0" i="0" dirty="0">
                <a:latin typeface="Calibri"/>
                <a:cs typeface="Calibri"/>
              </a:rPr>
              <a:t>Dalam</a:t>
            </a:r>
            <a:r>
              <a:rPr sz="1800" b="0" i="0" spc="-45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perjalanan</a:t>
            </a:r>
            <a:r>
              <a:rPr sz="1800" b="0" i="0" spc="-45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sejarah</a:t>
            </a:r>
            <a:r>
              <a:rPr sz="1800" b="0" i="0" spc="-50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bangsa</a:t>
            </a:r>
            <a:r>
              <a:rPr sz="1800" b="0" i="0" spc="-45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Indonesia,</a:t>
            </a:r>
            <a:r>
              <a:rPr sz="1800" b="0" i="0" spc="-35" dirty="0">
                <a:latin typeface="Calibri"/>
                <a:cs typeface="Calibri"/>
              </a:rPr>
              <a:t> </a:t>
            </a:r>
            <a:r>
              <a:rPr sz="1800" b="0" i="0" spc="-10" dirty="0">
                <a:latin typeface="Calibri"/>
                <a:cs typeface="Calibri"/>
              </a:rPr>
              <a:t>sesungguhnya</a:t>
            </a:r>
            <a:r>
              <a:rPr sz="1800" b="0" i="0" spc="-30" dirty="0">
                <a:latin typeface="Calibri"/>
                <a:cs typeface="Calibri"/>
              </a:rPr>
              <a:t> </a:t>
            </a:r>
            <a:r>
              <a:rPr sz="1800" b="0" i="0" spc="-10" dirty="0">
                <a:latin typeface="Calibri"/>
                <a:cs typeface="Calibri"/>
              </a:rPr>
              <a:t>nilai-</a:t>
            </a:r>
            <a:r>
              <a:rPr sz="1800" b="0" i="0" dirty="0">
                <a:latin typeface="Calibri"/>
                <a:cs typeface="Calibri"/>
              </a:rPr>
              <a:t>nilai</a:t>
            </a:r>
            <a:r>
              <a:rPr sz="1800" b="0" i="0" spc="-15" dirty="0">
                <a:latin typeface="Calibri"/>
                <a:cs typeface="Calibri"/>
              </a:rPr>
              <a:t> </a:t>
            </a:r>
            <a:r>
              <a:rPr sz="1800" b="0" i="0" spc="-10" dirty="0">
                <a:latin typeface="Calibri"/>
                <a:cs typeface="Calibri"/>
              </a:rPr>
              <a:t>Pancasila</a:t>
            </a:r>
            <a:r>
              <a:rPr sz="1800" b="0" i="0" spc="-40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sebagai</a:t>
            </a:r>
            <a:r>
              <a:rPr sz="1800" b="0" i="0" spc="-40" dirty="0">
                <a:latin typeface="Calibri"/>
                <a:cs typeface="Calibri"/>
              </a:rPr>
              <a:t> </a:t>
            </a:r>
            <a:r>
              <a:rPr sz="1800" b="0" i="0" spc="-10" dirty="0">
                <a:latin typeface="Calibri"/>
                <a:cs typeface="Calibri"/>
              </a:rPr>
              <a:t>pandangan</a:t>
            </a:r>
            <a:r>
              <a:rPr sz="1800" b="0" i="0" spc="-25" dirty="0">
                <a:latin typeface="Calibri"/>
                <a:cs typeface="Calibri"/>
              </a:rPr>
              <a:t> </a:t>
            </a:r>
            <a:r>
              <a:rPr sz="1800" b="0" i="0" spc="-10" dirty="0">
                <a:latin typeface="Calibri"/>
                <a:cs typeface="Calibri"/>
              </a:rPr>
              <a:t>hidup </a:t>
            </a:r>
            <a:r>
              <a:rPr sz="1800" b="0" i="0" dirty="0">
                <a:latin typeface="Calibri"/>
                <a:cs typeface="Calibri"/>
              </a:rPr>
              <a:t>bangsa</a:t>
            </a:r>
            <a:r>
              <a:rPr sz="1800" b="0" i="0" spc="-55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sudah</a:t>
            </a:r>
            <a:r>
              <a:rPr sz="1800" b="0" i="0" spc="-45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terwujud</a:t>
            </a:r>
            <a:r>
              <a:rPr sz="1800" b="0" i="0" spc="-30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dalam</a:t>
            </a:r>
            <a:r>
              <a:rPr sz="1800" b="0" i="0" spc="-25" dirty="0">
                <a:latin typeface="Calibri"/>
                <a:cs typeface="Calibri"/>
              </a:rPr>
              <a:t> </a:t>
            </a:r>
            <a:r>
              <a:rPr sz="1800" b="0" i="0" spc="-10" dirty="0">
                <a:latin typeface="Calibri"/>
                <a:cs typeface="Calibri"/>
              </a:rPr>
              <a:t>kehidupan</a:t>
            </a:r>
            <a:r>
              <a:rPr sz="1800" b="0" i="0" spc="-35" dirty="0">
                <a:latin typeface="Calibri"/>
                <a:cs typeface="Calibri"/>
              </a:rPr>
              <a:t> </a:t>
            </a:r>
            <a:r>
              <a:rPr sz="1800" b="0" i="0" spc="-10" dirty="0">
                <a:latin typeface="Calibri"/>
                <a:cs typeface="Calibri"/>
              </a:rPr>
              <a:t>bermasyarakat</a:t>
            </a:r>
            <a:r>
              <a:rPr sz="1800" b="0" i="0" spc="-80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sejak</a:t>
            </a:r>
            <a:r>
              <a:rPr sz="1800" b="0" i="0" spc="-60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sebelum</a:t>
            </a:r>
            <a:r>
              <a:rPr sz="1800" b="0" i="0" spc="-45" dirty="0">
                <a:latin typeface="Calibri"/>
                <a:cs typeface="Calibri"/>
              </a:rPr>
              <a:t> </a:t>
            </a:r>
            <a:r>
              <a:rPr sz="1800" b="0" i="0" spc="-10" dirty="0">
                <a:latin typeface="Calibri"/>
                <a:cs typeface="Calibri"/>
              </a:rPr>
              <a:t>Pancasila</a:t>
            </a:r>
            <a:r>
              <a:rPr sz="1800" b="0" i="0" spc="-50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sebagai</a:t>
            </a:r>
            <a:r>
              <a:rPr sz="1800" b="0" i="0" spc="-50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dasar</a:t>
            </a:r>
            <a:r>
              <a:rPr sz="1800" b="0" i="0" spc="-45" dirty="0">
                <a:latin typeface="Calibri"/>
                <a:cs typeface="Calibri"/>
              </a:rPr>
              <a:t> </a:t>
            </a:r>
            <a:r>
              <a:rPr sz="1800" b="0" i="0" spc="-10" dirty="0">
                <a:latin typeface="Calibri"/>
                <a:cs typeface="Calibri"/>
              </a:rPr>
              <a:t>negara dirumuskan</a:t>
            </a:r>
            <a:r>
              <a:rPr sz="1800" b="0" i="0" spc="-35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dalam</a:t>
            </a:r>
            <a:r>
              <a:rPr sz="1800" b="0" i="0" spc="-40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satu</a:t>
            </a:r>
            <a:r>
              <a:rPr sz="1800" b="0" i="0" spc="-60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sistem</a:t>
            </a:r>
            <a:r>
              <a:rPr sz="1800" b="0" i="0" spc="-40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nilai.</a:t>
            </a:r>
            <a:r>
              <a:rPr sz="1800" b="0" i="0" spc="-40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Sejak</a:t>
            </a:r>
            <a:r>
              <a:rPr sz="1800" b="0" i="0" spc="-45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zaman</a:t>
            </a:r>
            <a:r>
              <a:rPr sz="1800" b="0" i="0" spc="-50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dahulu,</a:t>
            </a:r>
            <a:r>
              <a:rPr sz="1800" b="0" i="0" spc="-40" dirty="0">
                <a:latin typeface="Calibri"/>
                <a:cs typeface="Calibri"/>
              </a:rPr>
              <a:t> </a:t>
            </a:r>
            <a:r>
              <a:rPr sz="1800" b="0" i="0" spc="-20" dirty="0">
                <a:latin typeface="Calibri"/>
                <a:cs typeface="Calibri"/>
              </a:rPr>
              <a:t>wilayah-</a:t>
            </a:r>
            <a:r>
              <a:rPr sz="1800" b="0" i="0" dirty="0">
                <a:latin typeface="Calibri"/>
                <a:cs typeface="Calibri"/>
              </a:rPr>
              <a:t>wilayah</a:t>
            </a:r>
            <a:r>
              <a:rPr sz="1800" b="0" i="0" spc="-25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di</a:t>
            </a:r>
            <a:r>
              <a:rPr sz="1800" b="0" i="0" spc="-40" dirty="0">
                <a:latin typeface="Calibri"/>
                <a:cs typeface="Calibri"/>
              </a:rPr>
              <a:t> </a:t>
            </a:r>
            <a:r>
              <a:rPr sz="1800" b="0" i="0" spc="-10" dirty="0">
                <a:latin typeface="Calibri"/>
                <a:cs typeface="Calibri"/>
              </a:rPr>
              <a:t>nusantara</a:t>
            </a:r>
            <a:r>
              <a:rPr sz="1800" b="0" i="0" spc="-55" dirty="0">
                <a:latin typeface="Calibri"/>
                <a:cs typeface="Calibri"/>
              </a:rPr>
              <a:t> </a:t>
            </a:r>
            <a:r>
              <a:rPr sz="1800" b="0" i="0" spc="-25" dirty="0">
                <a:latin typeface="Calibri"/>
                <a:cs typeface="Calibri"/>
              </a:rPr>
              <a:t>ini</a:t>
            </a:r>
            <a:endParaRPr sz="1800">
              <a:latin typeface="Calibri"/>
              <a:cs typeface="Calibri"/>
            </a:endParaRPr>
          </a:p>
          <a:p>
            <a:pPr marL="12700" marR="2526665">
              <a:lnSpc>
                <a:spcPct val="100000"/>
              </a:lnSpc>
            </a:pPr>
            <a:r>
              <a:rPr sz="1800" b="0" i="0" spc="-10" dirty="0">
                <a:latin typeface="Calibri"/>
                <a:cs typeface="Calibri"/>
              </a:rPr>
              <a:t>mempunyai</a:t>
            </a:r>
            <a:r>
              <a:rPr sz="1800" b="0" i="0" spc="-45" dirty="0">
                <a:latin typeface="Calibri"/>
                <a:cs typeface="Calibri"/>
              </a:rPr>
              <a:t> </a:t>
            </a:r>
            <a:r>
              <a:rPr sz="1800" b="0" i="0" spc="-10" dirty="0">
                <a:latin typeface="Calibri"/>
                <a:cs typeface="Calibri"/>
              </a:rPr>
              <a:t>beberapa</a:t>
            </a:r>
            <a:r>
              <a:rPr sz="1800" b="0" i="0" spc="-30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nilai</a:t>
            </a:r>
            <a:r>
              <a:rPr sz="1800" b="0" i="0" spc="-25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yang</a:t>
            </a:r>
            <a:r>
              <a:rPr sz="1800" b="0" i="0" spc="-45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dipegang</a:t>
            </a:r>
            <a:r>
              <a:rPr sz="1800" b="0" i="0" spc="-30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teguh</a:t>
            </a:r>
            <a:r>
              <a:rPr sz="1800" b="0" i="0" spc="-15" dirty="0">
                <a:latin typeface="Calibri"/>
                <a:cs typeface="Calibri"/>
              </a:rPr>
              <a:t> </a:t>
            </a:r>
            <a:r>
              <a:rPr sz="1800" b="0" i="0" dirty="0">
                <a:latin typeface="Calibri"/>
                <a:cs typeface="Calibri"/>
              </a:rPr>
              <a:t>oleh</a:t>
            </a:r>
            <a:r>
              <a:rPr sz="1800" b="0" i="0" spc="-30" dirty="0">
                <a:latin typeface="Calibri"/>
                <a:cs typeface="Calibri"/>
              </a:rPr>
              <a:t> </a:t>
            </a:r>
            <a:r>
              <a:rPr sz="1800" b="0" i="0" spc="-20" dirty="0">
                <a:latin typeface="Calibri"/>
                <a:cs typeface="Calibri"/>
              </a:rPr>
              <a:t>masyarakatnya,</a:t>
            </a:r>
            <a:r>
              <a:rPr sz="1800" b="0" i="0" spc="-60" dirty="0">
                <a:latin typeface="Calibri"/>
                <a:cs typeface="Calibri"/>
              </a:rPr>
              <a:t> </a:t>
            </a:r>
            <a:r>
              <a:rPr sz="1800" b="0" i="0" spc="-10" dirty="0">
                <a:latin typeface="Calibri"/>
                <a:cs typeface="Calibri"/>
              </a:rPr>
              <a:t>sebagai contoh: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140" y="2924047"/>
            <a:ext cx="53689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854" indent="-224154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36854" algn="l"/>
              </a:tabLst>
            </a:pPr>
            <a:r>
              <a:rPr sz="1800" spc="-20" dirty="0">
                <a:latin typeface="Calibri"/>
                <a:cs typeface="Calibri"/>
              </a:rPr>
              <a:t>Percaya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kepada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Tuhan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toleran,</a:t>
            </a:r>
            <a:endParaRPr sz="1800">
              <a:latin typeface="Calibri"/>
              <a:cs typeface="Calibri"/>
            </a:endParaRPr>
          </a:p>
          <a:p>
            <a:pPr marL="236854" indent="-224154">
              <a:lnSpc>
                <a:spcPct val="100000"/>
              </a:lnSpc>
              <a:buAutoNum type="arabicPeriod"/>
              <a:tabLst>
                <a:tab pos="236854" algn="l"/>
              </a:tabLst>
            </a:pPr>
            <a:r>
              <a:rPr sz="1800" dirty="0">
                <a:latin typeface="Calibri"/>
                <a:cs typeface="Calibri"/>
              </a:rPr>
              <a:t>Gotong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royong,</a:t>
            </a:r>
            <a:endParaRPr sz="1800">
              <a:latin typeface="Calibri"/>
              <a:cs typeface="Calibri"/>
            </a:endParaRPr>
          </a:p>
          <a:p>
            <a:pPr marL="236854" indent="-224154">
              <a:lnSpc>
                <a:spcPct val="100000"/>
              </a:lnSpc>
              <a:buAutoNum type="arabicPeriod"/>
              <a:tabLst>
                <a:tab pos="236854" algn="l"/>
              </a:tabLst>
            </a:pPr>
            <a:r>
              <a:rPr sz="1800" spc="-10" dirty="0">
                <a:latin typeface="Calibri"/>
                <a:cs typeface="Calibri"/>
              </a:rPr>
              <a:t>Musyawarah,</a:t>
            </a:r>
            <a:endParaRPr sz="1800">
              <a:latin typeface="Calibri"/>
              <a:cs typeface="Calibri"/>
            </a:endParaRPr>
          </a:p>
          <a:p>
            <a:pPr marL="236854" indent="-224154">
              <a:lnSpc>
                <a:spcPct val="100000"/>
              </a:lnSpc>
              <a:buAutoNum type="arabicPeriod"/>
              <a:tabLst>
                <a:tab pos="236854" algn="l"/>
              </a:tabLst>
            </a:pPr>
            <a:r>
              <a:rPr sz="1800" dirty="0">
                <a:latin typeface="Calibri"/>
                <a:cs typeface="Calibri"/>
              </a:rPr>
              <a:t>Solidaritas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atau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kesetiakawanan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sosial,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sebagainya.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32231"/>
            <a:ext cx="12192000" cy="822960"/>
            <a:chOff x="0" y="332231"/>
            <a:chExt cx="12192000" cy="8229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1856" y="335279"/>
              <a:ext cx="629412" cy="6141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19" y="848868"/>
              <a:ext cx="519684" cy="216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7763" y="937259"/>
              <a:ext cx="553211" cy="21793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633851" y="3066138"/>
            <a:ext cx="240665" cy="200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400" spc="-55" dirty="0">
                <a:latin typeface="Arial MT"/>
                <a:cs typeface="Arial MT"/>
              </a:rPr>
              <a:t>Me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4172" y="1795272"/>
            <a:ext cx="11027410" cy="4780280"/>
            <a:chOff x="614172" y="1795272"/>
            <a:chExt cx="11027410" cy="4780280"/>
          </a:xfrm>
        </p:grpSpPr>
        <p:sp>
          <p:nvSpPr>
            <p:cNvPr id="8" name="object 8"/>
            <p:cNvSpPr/>
            <p:nvPr/>
          </p:nvSpPr>
          <p:spPr>
            <a:xfrm>
              <a:off x="839724" y="1795271"/>
              <a:ext cx="10801985" cy="1194435"/>
            </a:xfrm>
            <a:custGeom>
              <a:avLst/>
              <a:gdLst/>
              <a:ahLst/>
              <a:cxnLst/>
              <a:rect l="l" t="t" r="r" b="b"/>
              <a:pathLst>
                <a:path w="10801985" h="1194435">
                  <a:moveTo>
                    <a:pt x="2700274" y="0"/>
                  </a:moveTo>
                  <a:lnTo>
                    <a:pt x="0" y="0"/>
                  </a:lnTo>
                  <a:lnTo>
                    <a:pt x="0" y="1194308"/>
                  </a:lnTo>
                  <a:lnTo>
                    <a:pt x="2700274" y="1194308"/>
                  </a:lnTo>
                  <a:lnTo>
                    <a:pt x="2700274" y="0"/>
                  </a:lnTo>
                  <a:close/>
                </a:path>
                <a:path w="10801985" h="1194435">
                  <a:moveTo>
                    <a:pt x="5400802" y="0"/>
                  </a:moveTo>
                  <a:lnTo>
                    <a:pt x="2700528" y="0"/>
                  </a:lnTo>
                  <a:lnTo>
                    <a:pt x="2700528" y="1194308"/>
                  </a:lnTo>
                  <a:lnTo>
                    <a:pt x="5400802" y="1194308"/>
                  </a:lnTo>
                  <a:lnTo>
                    <a:pt x="5400802" y="0"/>
                  </a:lnTo>
                  <a:close/>
                </a:path>
                <a:path w="10801985" h="1194435">
                  <a:moveTo>
                    <a:pt x="8101330" y="0"/>
                  </a:moveTo>
                  <a:lnTo>
                    <a:pt x="5401056" y="0"/>
                  </a:lnTo>
                  <a:lnTo>
                    <a:pt x="5401056" y="1194308"/>
                  </a:lnTo>
                  <a:lnTo>
                    <a:pt x="8101330" y="1194308"/>
                  </a:lnTo>
                  <a:lnTo>
                    <a:pt x="8101330" y="0"/>
                  </a:lnTo>
                  <a:close/>
                </a:path>
                <a:path w="10801985" h="1194435">
                  <a:moveTo>
                    <a:pt x="10801858" y="0"/>
                  </a:moveTo>
                  <a:lnTo>
                    <a:pt x="8101584" y="0"/>
                  </a:lnTo>
                  <a:lnTo>
                    <a:pt x="8101584" y="1194308"/>
                  </a:lnTo>
                  <a:lnTo>
                    <a:pt x="10801858" y="1194308"/>
                  </a:lnTo>
                  <a:lnTo>
                    <a:pt x="10801858" y="0"/>
                  </a:lnTo>
                  <a:close/>
                </a:path>
              </a:pathLst>
            </a:custGeom>
            <a:solidFill>
              <a:srgbClr val="D0D4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39724" y="2990087"/>
              <a:ext cx="10801985" cy="1196340"/>
            </a:xfrm>
            <a:custGeom>
              <a:avLst/>
              <a:gdLst/>
              <a:ahLst/>
              <a:cxnLst/>
              <a:rect l="l" t="t" r="r" b="b"/>
              <a:pathLst>
                <a:path w="10801985" h="1196339">
                  <a:moveTo>
                    <a:pt x="2700274" y="0"/>
                  </a:moveTo>
                  <a:lnTo>
                    <a:pt x="0" y="0"/>
                  </a:lnTo>
                  <a:lnTo>
                    <a:pt x="0" y="1196340"/>
                  </a:lnTo>
                  <a:lnTo>
                    <a:pt x="2700274" y="1196340"/>
                  </a:lnTo>
                  <a:lnTo>
                    <a:pt x="2700274" y="0"/>
                  </a:lnTo>
                  <a:close/>
                </a:path>
                <a:path w="10801985" h="1196339">
                  <a:moveTo>
                    <a:pt x="5400802" y="0"/>
                  </a:moveTo>
                  <a:lnTo>
                    <a:pt x="2700528" y="0"/>
                  </a:lnTo>
                  <a:lnTo>
                    <a:pt x="2700528" y="1196340"/>
                  </a:lnTo>
                  <a:lnTo>
                    <a:pt x="5400802" y="1196340"/>
                  </a:lnTo>
                  <a:lnTo>
                    <a:pt x="5400802" y="0"/>
                  </a:lnTo>
                  <a:close/>
                </a:path>
                <a:path w="10801985" h="1196339">
                  <a:moveTo>
                    <a:pt x="8101330" y="0"/>
                  </a:moveTo>
                  <a:lnTo>
                    <a:pt x="5401056" y="0"/>
                  </a:lnTo>
                  <a:lnTo>
                    <a:pt x="5401056" y="1196340"/>
                  </a:lnTo>
                  <a:lnTo>
                    <a:pt x="8101330" y="1196340"/>
                  </a:lnTo>
                  <a:lnTo>
                    <a:pt x="8101330" y="0"/>
                  </a:lnTo>
                  <a:close/>
                </a:path>
                <a:path w="10801985" h="1196339">
                  <a:moveTo>
                    <a:pt x="10801858" y="0"/>
                  </a:moveTo>
                  <a:lnTo>
                    <a:pt x="8101584" y="0"/>
                  </a:lnTo>
                  <a:lnTo>
                    <a:pt x="8101584" y="1196340"/>
                  </a:lnTo>
                  <a:lnTo>
                    <a:pt x="10801858" y="1196340"/>
                  </a:lnTo>
                  <a:lnTo>
                    <a:pt x="10801858" y="0"/>
                  </a:lnTo>
                  <a:close/>
                </a:path>
              </a:pathLst>
            </a:custGeom>
            <a:solidFill>
              <a:srgbClr val="E9EB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9724" y="4186427"/>
              <a:ext cx="10801985" cy="1194435"/>
            </a:xfrm>
            <a:custGeom>
              <a:avLst/>
              <a:gdLst/>
              <a:ahLst/>
              <a:cxnLst/>
              <a:rect l="l" t="t" r="r" b="b"/>
              <a:pathLst>
                <a:path w="10801985" h="1194435">
                  <a:moveTo>
                    <a:pt x="2700274" y="0"/>
                  </a:moveTo>
                  <a:lnTo>
                    <a:pt x="0" y="0"/>
                  </a:lnTo>
                  <a:lnTo>
                    <a:pt x="0" y="1194308"/>
                  </a:lnTo>
                  <a:lnTo>
                    <a:pt x="2700274" y="1194308"/>
                  </a:lnTo>
                  <a:lnTo>
                    <a:pt x="2700274" y="0"/>
                  </a:lnTo>
                  <a:close/>
                </a:path>
                <a:path w="10801985" h="1194435">
                  <a:moveTo>
                    <a:pt x="5400802" y="0"/>
                  </a:moveTo>
                  <a:lnTo>
                    <a:pt x="2700528" y="0"/>
                  </a:lnTo>
                  <a:lnTo>
                    <a:pt x="2700528" y="1194308"/>
                  </a:lnTo>
                  <a:lnTo>
                    <a:pt x="5400802" y="1194308"/>
                  </a:lnTo>
                  <a:lnTo>
                    <a:pt x="5400802" y="0"/>
                  </a:lnTo>
                  <a:close/>
                </a:path>
                <a:path w="10801985" h="1194435">
                  <a:moveTo>
                    <a:pt x="8101330" y="0"/>
                  </a:moveTo>
                  <a:lnTo>
                    <a:pt x="5401056" y="0"/>
                  </a:lnTo>
                  <a:lnTo>
                    <a:pt x="5401056" y="1194308"/>
                  </a:lnTo>
                  <a:lnTo>
                    <a:pt x="8101330" y="1194308"/>
                  </a:lnTo>
                  <a:lnTo>
                    <a:pt x="8101330" y="0"/>
                  </a:lnTo>
                  <a:close/>
                </a:path>
                <a:path w="10801985" h="1194435">
                  <a:moveTo>
                    <a:pt x="10801858" y="0"/>
                  </a:moveTo>
                  <a:lnTo>
                    <a:pt x="8101584" y="0"/>
                  </a:lnTo>
                  <a:lnTo>
                    <a:pt x="8101584" y="1194308"/>
                  </a:lnTo>
                  <a:lnTo>
                    <a:pt x="10801858" y="1194308"/>
                  </a:lnTo>
                  <a:lnTo>
                    <a:pt x="10801858" y="0"/>
                  </a:lnTo>
                  <a:close/>
                </a:path>
              </a:pathLst>
            </a:custGeom>
            <a:solidFill>
              <a:srgbClr val="D0D4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9724" y="5381243"/>
              <a:ext cx="10801985" cy="1194435"/>
            </a:xfrm>
            <a:custGeom>
              <a:avLst/>
              <a:gdLst/>
              <a:ahLst/>
              <a:cxnLst/>
              <a:rect l="l" t="t" r="r" b="b"/>
              <a:pathLst>
                <a:path w="10801985" h="1194434">
                  <a:moveTo>
                    <a:pt x="2700274" y="0"/>
                  </a:moveTo>
                  <a:lnTo>
                    <a:pt x="0" y="0"/>
                  </a:lnTo>
                  <a:lnTo>
                    <a:pt x="0" y="1194308"/>
                  </a:lnTo>
                  <a:lnTo>
                    <a:pt x="2700274" y="1194308"/>
                  </a:lnTo>
                  <a:lnTo>
                    <a:pt x="2700274" y="0"/>
                  </a:lnTo>
                  <a:close/>
                </a:path>
                <a:path w="10801985" h="1194434">
                  <a:moveTo>
                    <a:pt x="5400802" y="0"/>
                  </a:moveTo>
                  <a:lnTo>
                    <a:pt x="2700528" y="0"/>
                  </a:lnTo>
                  <a:lnTo>
                    <a:pt x="2700528" y="1194308"/>
                  </a:lnTo>
                  <a:lnTo>
                    <a:pt x="5400802" y="1194308"/>
                  </a:lnTo>
                  <a:lnTo>
                    <a:pt x="5400802" y="0"/>
                  </a:lnTo>
                  <a:close/>
                </a:path>
                <a:path w="10801985" h="1194434">
                  <a:moveTo>
                    <a:pt x="8101330" y="0"/>
                  </a:moveTo>
                  <a:lnTo>
                    <a:pt x="5401056" y="0"/>
                  </a:lnTo>
                  <a:lnTo>
                    <a:pt x="5401056" y="1194308"/>
                  </a:lnTo>
                  <a:lnTo>
                    <a:pt x="8101330" y="1194308"/>
                  </a:lnTo>
                  <a:lnTo>
                    <a:pt x="8101330" y="0"/>
                  </a:lnTo>
                  <a:close/>
                </a:path>
                <a:path w="10801985" h="1194434">
                  <a:moveTo>
                    <a:pt x="10801858" y="0"/>
                  </a:moveTo>
                  <a:lnTo>
                    <a:pt x="8101584" y="0"/>
                  </a:lnTo>
                  <a:lnTo>
                    <a:pt x="8101584" y="1194308"/>
                  </a:lnTo>
                  <a:lnTo>
                    <a:pt x="10801858" y="1194308"/>
                  </a:lnTo>
                  <a:lnTo>
                    <a:pt x="10801858" y="0"/>
                  </a:lnTo>
                  <a:close/>
                </a:path>
              </a:pathLst>
            </a:custGeom>
            <a:solidFill>
              <a:srgbClr val="E9EB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52500" y="2849880"/>
              <a:ext cx="277495" cy="271145"/>
            </a:xfrm>
            <a:custGeom>
              <a:avLst/>
              <a:gdLst/>
              <a:ahLst/>
              <a:cxnLst/>
              <a:rect l="l" t="t" r="r" b="b"/>
              <a:pathLst>
                <a:path w="277494" h="271144">
                  <a:moveTo>
                    <a:pt x="138556" y="0"/>
                  </a:moveTo>
                  <a:lnTo>
                    <a:pt x="0" y="135509"/>
                  </a:lnTo>
                  <a:lnTo>
                    <a:pt x="138556" y="270891"/>
                  </a:lnTo>
                  <a:lnTo>
                    <a:pt x="277113" y="135509"/>
                  </a:lnTo>
                  <a:lnTo>
                    <a:pt x="138556" y="0"/>
                  </a:lnTo>
                  <a:close/>
                </a:path>
              </a:pathLst>
            </a:custGeom>
            <a:solidFill>
              <a:srgbClr val="16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4172" y="2708147"/>
              <a:ext cx="484505" cy="474345"/>
            </a:xfrm>
            <a:custGeom>
              <a:avLst/>
              <a:gdLst/>
              <a:ahLst/>
              <a:cxnLst/>
              <a:rect l="l" t="t" r="r" b="b"/>
              <a:pathLst>
                <a:path w="484505" h="474344">
                  <a:moveTo>
                    <a:pt x="484251" y="0"/>
                  </a:moveTo>
                  <a:lnTo>
                    <a:pt x="0" y="0"/>
                  </a:lnTo>
                  <a:lnTo>
                    <a:pt x="0" y="473837"/>
                  </a:lnTo>
                  <a:lnTo>
                    <a:pt x="484251" y="473837"/>
                  </a:lnTo>
                  <a:lnTo>
                    <a:pt x="484251" y="0"/>
                  </a:lnTo>
                  <a:close/>
                </a:path>
              </a:pathLst>
            </a:custGeom>
            <a:solidFill>
              <a:srgbClr val="1F4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74007" y="2840736"/>
              <a:ext cx="278765" cy="271145"/>
            </a:xfrm>
            <a:custGeom>
              <a:avLst/>
              <a:gdLst/>
              <a:ahLst/>
              <a:cxnLst/>
              <a:rect l="l" t="t" r="r" b="b"/>
              <a:pathLst>
                <a:path w="278764" h="271144">
                  <a:moveTo>
                    <a:pt x="139191" y="0"/>
                  </a:moveTo>
                  <a:lnTo>
                    <a:pt x="0" y="135509"/>
                  </a:lnTo>
                  <a:lnTo>
                    <a:pt x="139191" y="270890"/>
                  </a:lnTo>
                  <a:lnTo>
                    <a:pt x="278511" y="135509"/>
                  </a:lnTo>
                  <a:lnTo>
                    <a:pt x="139191" y="0"/>
                  </a:lnTo>
                  <a:close/>
                </a:path>
              </a:pathLst>
            </a:custGeom>
            <a:solidFill>
              <a:srgbClr val="16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37204" y="2723388"/>
              <a:ext cx="484505" cy="472440"/>
            </a:xfrm>
            <a:custGeom>
              <a:avLst/>
              <a:gdLst/>
              <a:ahLst/>
              <a:cxnLst/>
              <a:rect l="l" t="t" r="r" b="b"/>
              <a:pathLst>
                <a:path w="484504" h="472439">
                  <a:moveTo>
                    <a:pt x="484250" y="0"/>
                  </a:moveTo>
                  <a:lnTo>
                    <a:pt x="0" y="0"/>
                  </a:lnTo>
                  <a:lnTo>
                    <a:pt x="0" y="472439"/>
                  </a:lnTo>
                  <a:lnTo>
                    <a:pt x="484250" y="472439"/>
                  </a:lnTo>
                  <a:lnTo>
                    <a:pt x="484250" y="0"/>
                  </a:lnTo>
                  <a:close/>
                </a:path>
              </a:pathLst>
            </a:custGeom>
            <a:solidFill>
              <a:srgbClr val="1F4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94704" y="2840736"/>
              <a:ext cx="277495" cy="271145"/>
            </a:xfrm>
            <a:custGeom>
              <a:avLst/>
              <a:gdLst/>
              <a:ahLst/>
              <a:cxnLst/>
              <a:rect l="l" t="t" r="r" b="b"/>
              <a:pathLst>
                <a:path w="277495" h="271144">
                  <a:moveTo>
                    <a:pt x="138429" y="0"/>
                  </a:moveTo>
                  <a:lnTo>
                    <a:pt x="0" y="135509"/>
                  </a:lnTo>
                  <a:lnTo>
                    <a:pt x="138429" y="270890"/>
                  </a:lnTo>
                  <a:lnTo>
                    <a:pt x="277114" y="135509"/>
                  </a:lnTo>
                  <a:lnTo>
                    <a:pt x="138429" y="0"/>
                  </a:lnTo>
                  <a:close/>
                </a:path>
              </a:pathLst>
            </a:custGeom>
            <a:solidFill>
              <a:srgbClr val="16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56375" y="2723388"/>
              <a:ext cx="484505" cy="472440"/>
            </a:xfrm>
            <a:custGeom>
              <a:avLst/>
              <a:gdLst/>
              <a:ahLst/>
              <a:cxnLst/>
              <a:rect l="l" t="t" r="r" b="b"/>
              <a:pathLst>
                <a:path w="484504" h="472439">
                  <a:moveTo>
                    <a:pt x="484250" y="0"/>
                  </a:moveTo>
                  <a:lnTo>
                    <a:pt x="0" y="0"/>
                  </a:lnTo>
                  <a:lnTo>
                    <a:pt x="0" y="472439"/>
                  </a:lnTo>
                  <a:lnTo>
                    <a:pt x="484250" y="472439"/>
                  </a:lnTo>
                  <a:lnTo>
                    <a:pt x="484250" y="0"/>
                  </a:lnTo>
                  <a:close/>
                </a:path>
              </a:pathLst>
            </a:custGeom>
            <a:solidFill>
              <a:srgbClr val="1F4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131807" y="2860547"/>
              <a:ext cx="277495" cy="271145"/>
            </a:xfrm>
            <a:custGeom>
              <a:avLst/>
              <a:gdLst/>
              <a:ahLst/>
              <a:cxnLst/>
              <a:rect l="l" t="t" r="r" b="b"/>
              <a:pathLst>
                <a:path w="277495" h="271144">
                  <a:moveTo>
                    <a:pt x="138430" y="0"/>
                  </a:moveTo>
                  <a:lnTo>
                    <a:pt x="0" y="135509"/>
                  </a:lnTo>
                  <a:lnTo>
                    <a:pt x="138430" y="270890"/>
                  </a:lnTo>
                  <a:lnTo>
                    <a:pt x="277114" y="135509"/>
                  </a:lnTo>
                  <a:lnTo>
                    <a:pt x="138430" y="0"/>
                  </a:lnTo>
                  <a:close/>
                </a:path>
              </a:pathLst>
            </a:custGeom>
            <a:solidFill>
              <a:srgbClr val="16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793479" y="2741675"/>
              <a:ext cx="484505" cy="474345"/>
            </a:xfrm>
            <a:custGeom>
              <a:avLst/>
              <a:gdLst/>
              <a:ahLst/>
              <a:cxnLst/>
              <a:rect l="l" t="t" r="r" b="b"/>
              <a:pathLst>
                <a:path w="484504" h="474344">
                  <a:moveTo>
                    <a:pt x="484250" y="0"/>
                  </a:moveTo>
                  <a:lnTo>
                    <a:pt x="0" y="0"/>
                  </a:lnTo>
                  <a:lnTo>
                    <a:pt x="0" y="473837"/>
                  </a:lnTo>
                  <a:lnTo>
                    <a:pt x="484250" y="473837"/>
                  </a:lnTo>
                  <a:lnTo>
                    <a:pt x="484250" y="0"/>
                  </a:lnTo>
                  <a:close/>
                </a:path>
              </a:pathLst>
            </a:custGeom>
            <a:solidFill>
              <a:srgbClr val="1F4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49452" y="5247131"/>
              <a:ext cx="251460" cy="245745"/>
            </a:xfrm>
            <a:custGeom>
              <a:avLst/>
              <a:gdLst/>
              <a:ahLst/>
              <a:cxnLst/>
              <a:rect l="l" t="t" r="r" b="b"/>
              <a:pathLst>
                <a:path w="251459" h="245745">
                  <a:moveTo>
                    <a:pt x="125729" y="0"/>
                  </a:moveTo>
                  <a:lnTo>
                    <a:pt x="0" y="122555"/>
                  </a:lnTo>
                  <a:lnTo>
                    <a:pt x="125729" y="245237"/>
                  </a:lnTo>
                  <a:lnTo>
                    <a:pt x="251459" y="122555"/>
                  </a:lnTo>
                  <a:lnTo>
                    <a:pt x="125729" y="0"/>
                  </a:lnTo>
                  <a:close/>
                </a:path>
              </a:pathLst>
            </a:custGeom>
            <a:solidFill>
              <a:srgbClr val="166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4172" y="5141975"/>
              <a:ext cx="467995" cy="434340"/>
            </a:xfrm>
            <a:custGeom>
              <a:avLst/>
              <a:gdLst/>
              <a:ahLst/>
              <a:cxnLst/>
              <a:rect l="l" t="t" r="r" b="b"/>
              <a:pathLst>
                <a:path w="467994" h="434339">
                  <a:moveTo>
                    <a:pt x="467614" y="0"/>
                  </a:moveTo>
                  <a:lnTo>
                    <a:pt x="0" y="0"/>
                  </a:lnTo>
                  <a:lnTo>
                    <a:pt x="0" y="434340"/>
                  </a:lnTo>
                  <a:lnTo>
                    <a:pt x="467614" y="434340"/>
                  </a:lnTo>
                  <a:lnTo>
                    <a:pt x="467614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29811" y="5241036"/>
              <a:ext cx="249554" cy="245745"/>
            </a:xfrm>
            <a:custGeom>
              <a:avLst/>
              <a:gdLst/>
              <a:ahLst/>
              <a:cxnLst/>
              <a:rect l="l" t="t" r="r" b="b"/>
              <a:pathLst>
                <a:path w="249554" h="245745">
                  <a:moveTo>
                    <a:pt x="124713" y="0"/>
                  </a:moveTo>
                  <a:lnTo>
                    <a:pt x="0" y="122554"/>
                  </a:lnTo>
                  <a:lnTo>
                    <a:pt x="124713" y="245236"/>
                  </a:lnTo>
                  <a:lnTo>
                    <a:pt x="249427" y="122554"/>
                  </a:lnTo>
                  <a:lnTo>
                    <a:pt x="124713" y="0"/>
                  </a:lnTo>
                  <a:close/>
                </a:path>
              </a:pathLst>
            </a:custGeom>
            <a:solidFill>
              <a:srgbClr val="166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46348" y="5141975"/>
              <a:ext cx="461645" cy="441959"/>
            </a:xfrm>
            <a:custGeom>
              <a:avLst/>
              <a:gdLst/>
              <a:ahLst/>
              <a:cxnLst/>
              <a:rect l="l" t="t" r="r" b="b"/>
              <a:pathLst>
                <a:path w="461645" h="441960">
                  <a:moveTo>
                    <a:pt x="461390" y="0"/>
                  </a:moveTo>
                  <a:lnTo>
                    <a:pt x="0" y="0"/>
                  </a:lnTo>
                  <a:lnTo>
                    <a:pt x="0" y="441960"/>
                  </a:lnTo>
                  <a:lnTo>
                    <a:pt x="461390" y="441960"/>
                  </a:lnTo>
                  <a:lnTo>
                    <a:pt x="46139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22136" y="5247131"/>
              <a:ext cx="249554" cy="245745"/>
            </a:xfrm>
            <a:custGeom>
              <a:avLst/>
              <a:gdLst/>
              <a:ahLst/>
              <a:cxnLst/>
              <a:rect l="l" t="t" r="r" b="b"/>
              <a:pathLst>
                <a:path w="249554" h="245745">
                  <a:moveTo>
                    <a:pt x="124713" y="0"/>
                  </a:moveTo>
                  <a:lnTo>
                    <a:pt x="0" y="122555"/>
                  </a:lnTo>
                  <a:lnTo>
                    <a:pt x="124713" y="245237"/>
                  </a:lnTo>
                  <a:lnTo>
                    <a:pt x="249428" y="122555"/>
                  </a:lnTo>
                  <a:lnTo>
                    <a:pt x="124713" y="0"/>
                  </a:lnTo>
                  <a:close/>
                </a:path>
              </a:pathLst>
            </a:custGeom>
            <a:solidFill>
              <a:srgbClr val="166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56375" y="5141975"/>
              <a:ext cx="497205" cy="434340"/>
            </a:xfrm>
            <a:custGeom>
              <a:avLst/>
              <a:gdLst/>
              <a:ahLst/>
              <a:cxnLst/>
              <a:rect l="l" t="t" r="r" b="b"/>
              <a:pathLst>
                <a:path w="497204" h="434339">
                  <a:moveTo>
                    <a:pt x="496697" y="0"/>
                  </a:moveTo>
                  <a:lnTo>
                    <a:pt x="0" y="0"/>
                  </a:lnTo>
                  <a:lnTo>
                    <a:pt x="0" y="434340"/>
                  </a:lnTo>
                  <a:lnTo>
                    <a:pt x="496697" y="434340"/>
                  </a:lnTo>
                  <a:lnTo>
                    <a:pt x="496697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86088" y="5247131"/>
              <a:ext cx="251460" cy="245745"/>
            </a:xfrm>
            <a:custGeom>
              <a:avLst/>
              <a:gdLst/>
              <a:ahLst/>
              <a:cxnLst/>
              <a:rect l="l" t="t" r="r" b="b"/>
              <a:pathLst>
                <a:path w="251459" h="245745">
                  <a:moveTo>
                    <a:pt x="125729" y="0"/>
                  </a:moveTo>
                  <a:lnTo>
                    <a:pt x="0" y="122555"/>
                  </a:lnTo>
                  <a:lnTo>
                    <a:pt x="125729" y="245237"/>
                  </a:lnTo>
                  <a:lnTo>
                    <a:pt x="251459" y="122555"/>
                  </a:lnTo>
                  <a:lnTo>
                    <a:pt x="125729" y="0"/>
                  </a:lnTo>
                  <a:close/>
                </a:path>
              </a:pathLst>
            </a:custGeom>
            <a:solidFill>
              <a:srgbClr val="166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779764" y="5148072"/>
              <a:ext cx="438784" cy="436245"/>
            </a:xfrm>
            <a:custGeom>
              <a:avLst/>
              <a:gdLst/>
              <a:ahLst/>
              <a:cxnLst/>
              <a:rect l="l" t="t" r="r" b="b"/>
              <a:pathLst>
                <a:path w="438784" h="436245">
                  <a:moveTo>
                    <a:pt x="438530" y="0"/>
                  </a:moveTo>
                  <a:lnTo>
                    <a:pt x="0" y="0"/>
                  </a:lnTo>
                  <a:lnTo>
                    <a:pt x="0" y="435736"/>
                  </a:lnTo>
                  <a:lnTo>
                    <a:pt x="438530" y="435736"/>
                  </a:lnTo>
                  <a:lnTo>
                    <a:pt x="43853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61703" y="1962912"/>
              <a:ext cx="2499359" cy="91744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19900" y="1850136"/>
              <a:ext cx="1175003" cy="111252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58995" y="4253483"/>
              <a:ext cx="1106424" cy="1078991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92886" y="2805176"/>
            <a:ext cx="1250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15892" y="2819145"/>
            <a:ext cx="1250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36970" y="2819145"/>
            <a:ext cx="1250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74328" y="2838069"/>
            <a:ext cx="1250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4351" y="5218938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43573" y="5218938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15639" y="5223128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939021" y="5226177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91844" y="3007232"/>
            <a:ext cx="19977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7375E"/>
                </a:solidFill>
                <a:latin typeface="Tahoma"/>
                <a:cs typeface="Tahoma"/>
              </a:rPr>
              <a:t>Masalah</a:t>
            </a:r>
            <a:r>
              <a:rPr sz="1600" b="1" spc="-40" dirty="0">
                <a:solidFill>
                  <a:srgbClr val="17375E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17375E"/>
                </a:solidFill>
                <a:latin typeface="Tahoma"/>
                <a:cs typeface="Tahoma"/>
              </a:rPr>
              <a:t>Kesadaran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91844" y="3250768"/>
            <a:ext cx="1162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17375E"/>
                </a:solidFill>
                <a:latin typeface="Tahoma"/>
                <a:cs typeface="Tahoma"/>
              </a:rPr>
              <a:t>Perpajakan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098797" y="3035935"/>
            <a:ext cx="16446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7375E"/>
                </a:solidFill>
                <a:latin typeface="Tahoma"/>
                <a:cs typeface="Tahoma"/>
              </a:rPr>
              <a:t>Masalah</a:t>
            </a:r>
            <a:r>
              <a:rPr sz="1600" b="1" spc="-45" dirty="0">
                <a:solidFill>
                  <a:srgbClr val="17375E"/>
                </a:solidFill>
                <a:latin typeface="Tahoma"/>
                <a:cs typeface="Tahoma"/>
              </a:rPr>
              <a:t> </a:t>
            </a:r>
            <a:r>
              <a:rPr sz="1600" b="1" spc="-70" dirty="0">
                <a:solidFill>
                  <a:srgbClr val="17375E"/>
                </a:solidFill>
                <a:latin typeface="Tahoma"/>
                <a:cs typeface="Tahoma"/>
              </a:rPr>
              <a:t>Korupsi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735327" y="894334"/>
            <a:ext cx="959802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5080"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mbria"/>
                <a:cs typeface="Cambria"/>
              </a:rPr>
              <a:t>Munculnya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permasalahan</a:t>
            </a:r>
            <a:r>
              <a:rPr sz="1600" b="1" spc="-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yang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mendera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Indonesia,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memperlihatkan</a:t>
            </a:r>
            <a:r>
              <a:rPr sz="1600" b="1" spc="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telah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spc="-20" dirty="0">
                <a:latin typeface="Cambria"/>
                <a:cs typeface="Cambria"/>
              </a:rPr>
              <a:t>tergerusnya</a:t>
            </a:r>
            <a:r>
              <a:rPr sz="1600" b="1" spc="-1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nilai-nilai Pancasila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dalam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kehidupan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bermasyarakat,</a:t>
            </a:r>
            <a:r>
              <a:rPr sz="1600" b="1" spc="2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berbangsa</a:t>
            </a:r>
            <a:r>
              <a:rPr sz="1600" b="1" spc="-1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dan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bernegara.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Oleh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karena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itu,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perlu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diungkap </a:t>
            </a:r>
            <a:r>
              <a:rPr sz="1600" b="1" dirty="0">
                <a:latin typeface="Cambria"/>
                <a:cs typeface="Cambria"/>
              </a:rPr>
              <a:t>berbagai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permasalahan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yang</a:t>
            </a:r>
            <a:r>
              <a:rPr sz="1600" b="1" spc="-6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menunjukkan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pentingnya</a:t>
            </a:r>
            <a:r>
              <a:rPr sz="1600" b="1" spc="-6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mata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kuliah</a:t>
            </a:r>
            <a:r>
              <a:rPr sz="1600" b="1" spc="-7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pendidikan</a:t>
            </a:r>
            <a:r>
              <a:rPr sz="1600" b="1" spc="-6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Pancasila.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11136" y="3032505"/>
            <a:ext cx="8705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17375E"/>
                </a:solidFill>
                <a:latin typeface="Tahoma"/>
                <a:cs typeface="Tahoma"/>
              </a:rPr>
              <a:t>Masalah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811136" y="3276346"/>
            <a:ext cx="11703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5" dirty="0">
                <a:solidFill>
                  <a:srgbClr val="17375E"/>
                </a:solidFill>
                <a:latin typeface="Tahoma"/>
                <a:cs typeface="Tahoma"/>
              </a:rPr>
              <a:t>Lingkungan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512045" y="3106927"/>
            <a:ext cx="20440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7375E"/>
                </a:solidFill>
                <a:latin typeface="Tahoma"/>
                <a:cs typeface="Tahoma"/>
              </a:rPr>
              <a:t>Masalah</a:t>
            </a:r>
            <a:r>
              <a:rPr sz="1600" b="1" spc="-40" dirty="0">
                <a:solidFill>
                  <a:srgbClr val="17375E"/>
                </a:solidFill>
                <a:latin typeface="Tahoma"/>
                <a:cs typeface="Tahoma"/>
              </a:rPr>
              <a:t> </a:t>
            </a:r>
            <a:r>
              <a:rPr sz="1600" b="1" spc="-75" dirty="0">
                <a:solidFill>
                  <a:srgbClr val="17375E"/>
                </a:solidFill>
                <a:latin typeface="Tahoma"/>
                <a:cs typeface="Tahoma"/>
              </a:rPr>
              <a:t>Disintegrasi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512045" y="3350767"/>
            <a:ext cx="7575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17375E"/>
                </a:solidFill>
                <a:latin typeface="Tahoma"/>
                <a:cs typeface="Tahoma"/>
              </a:rPr>
              <a:t>Bangsa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124813" y="5522467"/>
            <a:ext cx="197738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7375E"/>
                </a:solidFill>
                <a:latin typeface="Tahoma"/>
                <a:cs typeface="Tahoma"/>
              </a:rPr>
              <a:t>Masalah</a:t>
            </a:r>
            <a:r>
              <a:rPr sz="1600" b="1" spc="-45" dirty="0">
                <a:solidFill>
                  <a:srgbClr val="17375E"/>
                </a:solidFill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17375E"/>
                </a:solidFill>
                <a:latin typeface="Tahoma"/>
                <a:cs typeface="Tahoma"/>
              </a:rPr>
              <a:t>Dekadensi </a:t>
            </a:r>
            <a:r>
              <a:rPr sz="1600" b="1" spc="-10" dirty="0">
                <a:solidFill>
                  <a:srgbClr val="17375E"/>
                </a:solidFill>
                <a:latin typeface="Tahoma"/>
                <a:cs typeface="Tahoma"/>
              </a:rPr>
              <a:t>Moral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080128" y="5476138"/>
            <a:ext cx="8705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17375E"/>
                </a:solidFill>
                <a:latin typeface="Tahoma"/>
                <a:cs typeface="Tahoma"/>
              </a:rPr>
              <a:t>Masalah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080128" y="5719978"/>
            <a:ext cx="19113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7375E"/>
                </a:solidFill>
                <a:latin typeface="Tahoma"/>
                <a:cs typeface="Tahoma"/>
              </a:rPr>
              <a:t>Penegakan</a:t>
            </a:r>
            <a:r>
              <a:rPr sz="1600" b="1" spc="-15" dirty="0">
                <a:solidFill>
                  <a:srgbClr val="17375E"/>
                </a:solidFill>
                <a:latin typeface="Tahoma"/>
                <a:cs typeface="Tahoma"/>
              </a:rPr>
              <a:t> </a:t>
            </a:r>
            <a:r>
              <a:rPr sz="1600" b="1" spc="-70" dirty="0">
                <a:solidFill>
                  <a:srgbClr val="17375E"/>
                </a:solidFill>
                <a:latin typeface="Tahoma"/>
                <a:cs typeface="Tahoma"/>
              </a:rPr>
              <a:t>Hukum </a:t>
            </a:r>
            <a:r>
              <a:rPr sz="1600" b="1" dirty="0">
                <a:solidFill>
                  <a:srgbClr val="17375E"/>
                </a:solidFill>
                <a:latin typeface="Tahoma"/>
                <a:cs typeface="Tahoma"/>
              </a:rPr>
              <a:t>Yang</a:t>
            </a:r>
            <a:r>
              <a:rPr sz="1600" b="1" spc="-40" dirty="0">
                <a:solidFill>
                  <a:srgbClr val="17375E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17375E"/>
                </a:solidFill>
                <a:latin typeface="Tahoma"/>
                <a:cs typeface="Tahoma"/>
              </a:rPr>
              <a:t>berkeadilan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645020" y="5519115"/>
            <a:ext cx="1793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7375E"/>
                </a:solidFill>
                <a:latin typeface="Tahoma"/>
                <a:cs typeface="Tahoma"/>
              </a:rPr>
              <a:t>Masalah</a:t>
            </a:r>
            <a:r>
              <a:rPr sz="1600" b="1" spc="-45" dirty="0">
                <a:solidFill>
                  <a:srgbClr val="17375E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17375E"/>
                </a:solidFill>
                <a:latin typeface="Tahoma"/>
                <a:cs typeface="Tahoma"/>
              </a:rPr>
              <a:t>Narkoba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354693" y="5522467"/>
            <a:ext cx="18649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7375E"/>
                </a:solidFill>
                <a:latin typeface="Tahoma"/>
                <a:cs typeface="Tahoma"/>
              </a:rPr>
              <a:t>Masalah</a:t>
            </a:r>
            <a:r>
              <a:rPr sz="1600" b="1" spc="-40" dirty="0">
                <a:solidFill>
                  <a:srgbClr val="17375E"/>
                </a:solidFill>
                <a:latin typeface="Tahoma"/>
                <a:cs typeface="Tahoma"/>
              </a:rPr>
              <a:t> </a:t>
            </a:r>
            <a:r>
              <a:rPr sz="1600" b="1" spc="-80" dirty="0">
                <a:solidFill>
                  <a:srgbClr val="17375E"/>
                </a:solidFill>
                <a:latin typeface="Tahoma"/>
                <a:cs typeface="Tahoma"/>
              </a:rPr>
              <a:t>Terorisme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124711" y="1851660"/>
            <a:ext cx="9946005" cy="3487420"/>
            <a:chOff x="1124711" y="1851660"/>
            <a:chExt cx="9946005" cy="3487420"/>
          </a:xfrm>
        </p:grpSpPr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70659" y="1851660"/>
              <a:ext cx="1086612" cy="105918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49495" y="1862328"/>
              <a:ext cx="1188720" cy="109270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24711" y="4244339"/>
              <a:ext cx="1252727" cy="1027176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92467" y="4328160"/>
              <a:ext cx="899159" cy="987551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671304" y="4290060"/>
              <a:ext cx="1399031" cy="1048511"/>
            </a:xfrm>
            <a:prstGeom prst="rect">
              <a:avLst/>
            </a:prstGeom>
          </p:spPr>
        </p:pic>
      </p:grpSp>
      <p:sp>
        <p:nvSpPr>
          <p:cNvPr id="58" name="object 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9004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PERMASALAHAN</a:t>
            </a:r>
            <a:r>
              <a:rPr spc="-135" dirty="0"/>
              <a:t> </a:t>
            </a:r>
            <a:r>
              <a:rPr spc="-204" dirty="0"/>
              <a:t>BANGSA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71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SOLUSI</a:t>
            </a:r>
            <a:r>
              <a:rPr spc="-8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PERMASALAHAN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BANGSA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5565" y="848614"/>
            <a:ext cx="106857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3175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Mata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kuliah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pendidikan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Pancasila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adalah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usaha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sadar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dan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terencana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untuk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mewujudkan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suasana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belajar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dan </a:t>
            </a:r>
            <a:r>
              <a:rPr sz="1800" b="1" dirty="0">
                <a:latin typeface="Calibri"/>
                <a:cs typeface="Calibri"/>
              </a:rPr>
              <a:t>proses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pembelajaran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agar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mahasiswa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secara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aktif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mengembangkan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potensi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dirinya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untuk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memiliki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pengetahuan, </a:t>
            </a:r>
            <a:r>
              <a:rPr sz="1800" b="1" dirty="0">
                <a:latin typeface="Calibri"/>
                <a:cs typeface="Calibri"/>
              </a:rPr>
              <a:t>kepribadian,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dan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keahlian,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sesuai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dengan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program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studinya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masing-masing.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06993" y="3531234"/>
            <a:ext cx="2740660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299085" algn="l"/>
              </a:tabLst>
            </a:pPr>
            <a:r>
              <a:rPr sz="1400" b="1" i="1" spc="-30" dirty="0">
                <a:solidFill>
                  <a:srgbClr val="085EAF"/>
                </a:solidFill>
                <a:latin typeface="Calibri"/>
                <a:cs typeface="Calibri"/>
              </a:rPr>
              <a:t>Terwujudnya</a:t>
            </a:r>
            <a:r>
              <a:rPr sz="1400" b="1" i="1" spc="10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1400" b="1" i="1" spc="-20" dirty="0">
                <a:solidFill>
                  <a:srgbClr val="085EAF"/>
                </a:solidFill>
                <a:latin typeface="Calibri"/>
                <a:cs typeface="Calibri"/>
              </a:rPr>
              <a:t>kepribadian</a:t>
            </a:r>
            <a:r>
              <a:rPr sz="1400" b="1" i="1" spc="20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085EAF"/>
                </a:solidFill>
                <a:latin typeface="Calibri"/>
                <a:cs typeface="Calibri"/>
              </a:rPr>
              <a:t>sivitas </a:t>
            </a:r>
            <a:r>
              <a:rPr sz="1400" b="1" i="1" spc="-25" dirty="0">
                <a:solidFill>
                  <a:srgbClr val="085EAF"/>
                </a:solidFill>
                <a:latin typeface="Calibri"/>
                <a:cs typeface="Calibri"/>
              </a:rPr>
              <a:t>akademika</a:t>
            </a:r>
            <a:r>
              <a:rPr sz="1400" b="1" i="1" spc="-4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085EAF"/>
                </a:solidFill>
                <a:latin typeface="Calibri"/>
                <a:cs typeface="Calibri"/>
              </a:rPr>
              <a:t>yang</a:t>
            </a:r>
            <a:r>
              <a:rPr sz="1400" b="1" i="1" spc="-4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085EAF"/>
                </a:solidFill>
                <a:latin typeface="Calibri"/>
                <a:cs typeface="Calibri"/>
              </a:rPr>
              <a:t>bersumber</a:t>
            </a:r>
            <a:r>
              <a:rPr sz="1400" b="1" i="1" spc="-5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1400" b="1" i="1" spc="-20" dirty="0">
                <a:solidFill>
                  <a:srgbClr val="085EAF"/>
                </a:solidFill>
                <a:latin typeface="Calibri"/>
                <a:cs typeface="Calibri"/>
              </a:rPr>
              <a:t>pada nilai-</a:t>
            </a:r>
            <a:r>
              <a:rPr sz="1400" b="1" i="1" spc="-10" dirty="0">
                <a:solidFill>
                  <a:srgbClr val="085EAF"/>
                </a:solidFill>
                <a:latin typeface="Calibri"/>
                <a:cs typeface="Calibri"/>
              </a:rPr>
              <a:t>nilai</a:t>
            </a:r>
            <a:r>
              <a:rPr sz="1400" b="1" i="1" spc="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085EAF"/>
                </a:solidFill>
                <a:latin typeface="Calibri"/>
                <a:cs typeface="Calibri"/>
              </a:rPr>
              <a:t>Pancasila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39328" y="2353052"/>
            <a:ext cx="3596640" cy="4451985"/>
            <a:chOff x="8339328" y="2353052"/>
            <a:chExt cx="3596640" cy="44519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9328" y="2353052"/>
              <a:ext cx="3596639" cy="445160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396478" y="2387345"/>
              <a:ext cx="3487420" cy="4342130"/>
            </a:xfrm>
            <a:custGeom>
              <a:avLst/>
              <a:gdLst/>
              <a:ahLst/>
              <a:cxnLst/>
              <a:rect l="l" t="t" r="r" b="b"/>
              <a:pathLst>
                <a:path w="3487420" h="4342130">
                  <a:moveTo>
                    <a:pt x="0" y="4341876"/>
                  </a:moveTo>
                  <a:lnTo>
                    <a:pt x="3486912" y="4341876"/>
                  </a:lnTo>
                  <a:lnTo>
                    <a:pt x="3486912" y="0"/>
                  </a:lnTo>
                  <a:lnTo>
                    <a:pt x="0" y="0"/>
                  </a:lnTo>
                  <a:lnTo>
                    <a:pt x="0" y="4341876"/>
                  </a:lnTo>
                  <a:close/>
                </a:path>
              </a:pathLst>
            </a:custGeom>
            <a:ln w="28956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556497" y="2744216"/>
            <a:ext cx="29464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5" dirty="0">
                <a:solidFill>
                  <a:srgbClr val="393838"/>
                </a:solidFill>
                <a:latin typeface="Tahoma"/>
                <a:cs typeface="Tahoma"/>
              </a:rPr>
              <a:t>Visi</a:t>
            </a:r>
            <a:r>
              <a:rPr sz="1600" b="1" spc="-45" dirty="0">
                <a:solidFill>
                  <a:srgbClr val="393838"/>
                </a:solidFill>
                <a:latin typeface="Tahoma"/>
                <a:cs typeface="Tahoma"/>
              </a:rPr>
              <a:t> </a:t>
            </a:r>
            <a:r>
              <a:rPr sz="1600" b="1" spc="-85" dirty="0">
                <a:solidFill>
                  <a:srgbClr val="393838"/>
                </a:solidFill>
                <a:latin typeface="Tahoma"/>
                <a:cs typeface="Tahoma"/>
              </a:rPr>
              <a:t>Misi</a:t>
            </a:r>
            <a:r>
              <a:rPr sz="1600" b="1" spc="-45" dirty="0">
                <a:solidFill>
                  <a:srgbClr val="393838"/>
                </a:solidFill>
                <a:latin typeface="Tahoma"/>
                <a:cs typeface="Tahoma"/>
              </a:rPr>
              <a:t> </a:t>
            </a:r>
            <a:r>
              <a:rPr sz="1600" b="1" spc="-35" dirty="0">
                <a:solidFill>
                  <a:srgbClr val="393838"/>
                </a:solidFill>
                <a:latin typeface="Tahoma"/>
                <a:cs typeface="Tahoma"/>
              </a:rPr>
              <a:t>Pendidikan</a:t>
            </a:r>
            <a:r>
              <a:rPr sz="1600" b="1" spc="-25" dirty="0">
                <a:solidFill>
                  <a:srgbClr val="393838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393838"/>
                </a:solidFill>
                <a:latin typeface="Tahoma"/>
                <a:cs typeface="Tahoma"/>
              </a:rPr>
              <a:t>Pancasila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03742" y="4828794"/>
            <a:ext cx="3020060" cy="1374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172720" indent="-28702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99085" algn="l"/>
              </a:tabLst>
            </a:pP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Mengembangkan potensi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akademik</a:t>
            </a:r>
            <a:r>
              <a:rPr sz="900" b="1" i="1" spc="3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peserta</a:t>
            </a:r>
            <a:r>
              <a:rPr sz="900" b="1" i="1" spc="-1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didik</a:t>
            </a:r>
            <a:r>
              <a:rPr sz="900" b="1" i="1" spc="3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(misi</a:t>
            </a:r>
            <a:r>
              <a:rPr sz="900" b="1" i="1" spc="500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psikopedagogis).</a:t>
            </a:r>
            <a:endParaRPr sz="900">
              <a:latin typeface="Calibri"/>
              <a:cs typeface="Calibri"/>
            </a:endParaRPr>
          </a:p>
          <a:p>
            <a:pPr marL="299085" marR="56515" indent="-287020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299085" algn="l"/>
              </a:tabLst>
            </a:pP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Menyiapkan</a:t>
            </a:r>
            <a:r>
              <a:rPr sz="900" b="1" i="1" spc="-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peserta</a:t>
            </a:r>
            <a:r>
              <a:rPr sz="900" b="1" i="1" spc="-30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didik</a:t>
            </a:r>
            <a:r>
              <a:rPr sz="900" b="1" i="1" spc="2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untuk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 hidup</a:t>
            </a:r>
            <a:r>
              <a:rPr sz="900" b="1" i="1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dan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berkehidupan</a:t>
            </a:r>
            <a:r>
              <a:rPr sz="900" b="1" i="1" spc="500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dalam</a:t>
            </a:r>
            <a:r>
              <a:rPr sz="900" b="1" i="1" spc="-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masyarakat,</a:t>
            </a:r>
            <a:r>
              <a:rPr sz="900" b="1" i="1" spc="-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bangsa</a:t>
            </a:r>
            <a:r>
              <a:rPr sz="900" b="1" i="1" spc="-3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dan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negara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 (misi</a:t>
            </a:r>
            <a:r>
              <a:rPr sz="900" b="1" i="1" spc="-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psikososial).</a:t>
            </a:r>
            <a:endParaRPr sz="900">
              <a:latin typeface="Calibri"/>
              <a:cs typeface="Calibri"/>
            </a:endParaRPr>
          </a:p>
          <a:p>
            <a:pPr marL="299085" marR="210185" indent="-287020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299085" algn="l"/>
              </a:tabLst>
            </a:pP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Membangun</a:t>
            </a:r>
            <a:r>
              <a:rPr sz="900" b="1" i="1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budaya</a:t>
            </a:r>
            <a:r>
              <a:rPr sz="900" b="1" i="1" spc="1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ber-Pancasila</a:t>
            </a:r>
            <a:r>
              <a:rPr sz="900" b="1" i="1" spc="3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sebagai</a:t>
            </a:r>
            <a:r>
              <a:rPr sz="900" b="1" i="1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salah</a:t>
            </a:r>
            <a:r>
              <a:rPr sz="900" b="1" i="1" spc="1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satu</a:t>
            </a:r>
            <a:r>
              <a:rPr sz="900" b="1" i="1" spc="500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determinan</a:t>
            </a:r>
            <a:r>
              <a:rPr sz="900" b="1" i="1" spc="10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kehidupan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 (misi</a:t>
            </a:r>
            <a:r>
              <a:rPr sz="900" b="1" i="1" spc="20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sosiokultural).</a:t>
            </a:r>
            <a:endParaRPr sz="9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299085" algn="l"/>
              </a:tabLst>
            </a:pP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Mengkaji</a:t>
            </a:r>
            <a:r>
              <a:rPr sz="900" b="1" i="1" spc="20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dan</a:t>
            </a:r>
            <a:r>
              <a:rPr sz="900" b="1" i="1" spc="1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mengembangkan</a:t>
            </a:r>
            <a:r>
              <a:rPr sz="900" b="1" i="1" spc="1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pendidikan</a:t>
            </a:r>
            <a:r>
              <a:rPr sz="900" b="1" i="1" spc="3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Pancasila</a:t>
            </a:r>
            <a:r>
              <a:rPr sz="900" b="1" i="1" spc="500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sebagai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 sistem</a:t>
            </a:r>
            <a:r>
              <a:rPr sz="900" b="1" i="1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pengetahuan</a:t>
            </a:r>
            <a:r>
              <a:rPr sz="900" b="1" i="1" spc="-3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terintegrasi</a:t>
            </a:r>
            <a:r>
              <a:rPr sz="900" b="1" i="1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atau</a:t>
            </a:r>
            <a:r>
              <a:rPr sz="900" b="1" i="1" spc="-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disiplin</a:t>
            </a:r>
            <a:r>
              <a:rPr sz="900" b="1" i="1" spc="50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ilmu</a:t>
            </a:r>
            <a:r>
              <a:rPr sz="900" b="1" i="1" spc="500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sintetik</a:t>
            </a:r>
            <a:r>
              <a:rPr sz="900" b="1" i="1" spc="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(synthetic</a:t>
            </a:r>
            <a:r>
              <a:rPr sz="900" b="1" i="1" spc="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20" dirty="0">
                <a:solidFill>
                  <a:srgbClr val="085EAF"/>
                </a:solidFill>
                <a:latin typeface="Calibri"/>
                <a:cs typeface="Calibri"/>
              </a:rPr>
              <a:t>discipline),</a:t>
            </a:r>
            <a:r>
              <a:rPr sz="900" b="1" i="1" spc="30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sebagai</a:t>
            </a:r>
            <a:r>
              <a:rPr sz="900" b="1" i="1" spc="-2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misi</a:t>
            </a:r>
            <a:r>
              <a:rPr sz="900" b="1" i="1" spc="15" dirty="0">
                <a:solidFill>
                  <a:srgbClr val="085EA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85EAF"/>
                </a:solidFill>
                <a:latin typeface="Calibri"/>
                <a:cs typeface="Calibri"/>
              </a:rPr>
              <a:t>akademik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470392" y="1577339"/>
            <a:ext cx="3633470" cy="1945005"/>
            <a:chOff x="8470392" y="1577339"/>
            <a:chExt cx="3633470" cy="194500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81004" y="1577339"/>
              <a:ext cx="1022603" cy="10226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70392" y="3041903"/>
              <a:ext cx="2702052" cy="48006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517635" y="3066288"/>
            <a:ext cx="2612390" cy="390525"/>
          </a:xfrm>
          <a:prstGeom prst="rect">
            <a:avLst/>
          </a:prstGeom>
          <a:solidFill>
            <a:srgbClr val="FFC000"/>
          </a:solidFill>
          <a:ln w="9144">
            <a:solidFill>
              <a:srgbClr val="497DBA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875"/>
              </a:spcBef>
            </a:pPr>
            <a:r>
              <a:rPr sz="1400" b="1" spc="-75" dirty="0">
                <a:solidFill>
                  <a:srgbClr val="393838"/>
                </a:solidFill>
                <a:latin typeface="Tahoma"/>
                <a:cs typeface="Tahoma"/>
              </a:rPr>
              <a:t>Visi</a:t>
            </a:r>
            <a:r>
              <a:rPr sz="1400" b="1" spc="-5" dirty="0">
                <a:solidFill>
                  <a:srgbClr val="393838"/>
                </a:solidFill>
                <a:latin typeface="Tahoma"/>
                <a:cs typeface="Tahoma"/>
              </a:rPr>
              <a:t> </a:t>
            </a:r>
            <a:r>
              <a:rPr sz="1400" b="1" spc="-35" dirty="0">
                <a:solidFill>
                  <a:srgbClr val="393838"/>
                </a:solidFill>
                <a:latin typeface="Tahoma"/>
                <a:cs typeface="Tahoma"/>
              </a:rPr>
              <a:t>Pendidikan</a:t>
            </a:r>
            <a:r>
              <a:rPr sz="1400" b="1" spc="-30" dirty="0">
                <a:solidFill>
                  <a:srgbClr val="393838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393838"/>
                </a:solidFill>
                <a:latin typeface="Tahoma"/>
                <a:cs typeface="Tahoma"/>
              </a:rPr>
              <a:t>Pancasila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70392" y="4226039"/>
            <a:ext cx="2702052" cy="47854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517635" y="4250435"/>
            <a:ext cx="2612390" cy="388620"/>
          </a:xfrm>
          <a:prstGeom prst="rect">
            <a:avLst/>
          </a:prstGeom>
          <a:solidFill>
            <a:srgbClr val="FFC000"/>
          </a:solidFill>
          <a:ln w="9144">
            <a:solidFill>
              <a:srgbClr val="497DBA"/>
            </a:solidFill>
          </a:ln>
        </p:spPr>
        <p:txBody>
          <a:bodyPr vert="horz" wrap="square" lIns="0" tIns="92075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725"/>
              </a:spcBef>
            </a:pPr>
            <a:r>
              <a:rPr sz="1400" b="1" spc="-80" dirty="0">
                <a:solidFill>
                  <a:srgbClr val="393838"/>
                </a:solidFill>
                <a:latin typeface="Tahoma"/>
                <a:cs typeface="Tahoma"/>
              </a:rPr>
              <a:t>Misi</a:t>
            </a:r>
            <a:r>
              <a:rPr sz="1400" b="1" spc="5" dirty="0">
                <a:solidFill>
                  <a:srgbClr val="393838"/>
                </a:solidFill>
                <a:latin typeface="Tahoma"/>
                <a:cs typeface="Tahoma"/>
              </a:rPr>
              <a:t> </a:t>
            </a:r>
            <a:r>
              <a:rPr sz="1400" b="1" spc="-35" dirty="0">
                <a:solidFill>
                  <a:srgbClr val="393838"/>
                </a:solidFill>
                <a:latin typeface="Tahoma"/>
                <a:cs typeface="Tahoma"/>
              </a:rPr>
              <a:t>Pendidikan </a:t>
            </a:r>
            <a:r>
              <a:rPr sz="1400" b="1" spc="-10" dirty="0">
                <a:solidFill>
                  <a:srgbClr val="393838"/>
                </a:solidFill>
                <a:latin typeface="Tahoma"/>
                <a:cs typeface="Tahoma"/>
              </a:rPr>
              <a:t>Pancasila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5384" y="1973579"/>
            <a:ext cx="3489960" cy="1652270"/>
          </a:xfrm>
          <a:custGeom>
            <a:avLst/>
            <a:gdLst/>
            <a:ahLst/>
            <a:cxnLst/>
            <a:rect l="l" t="t" r="r" b="b"/>
            <a:pathLst>
              <a:path w="3489960" h="1652270">
                <a:moveTo>
                  <a:pt x="3421506" y="0"/>
                </a:moveTo>
                <a:lnTo>
                  <a:pt x="68503" y="0"/>
                </a:lnTo>
                <a:lnTo>
                  <a:pt x="41833" y="5334"/>
                </a:lnTo>
                <a:lnTo>
                  <a:pt x="20065" y="20066"/>
                </a:lnTo>
                <a:lnTo>
                  <a:pt x="5384" y="41783"/>
                </a:lnTo>
                <a:lnTo>
                  <a:pt x="0" y="68453"/>
                </a:lnTo>
                <a:lnTo>
                  <a:pt x="0" y="1583309"/>
                </a:lnTo>
                <a:lnTo>
                  <a:pt x="5384" y="1609979"/>
                </a:lnTo>
                <a:lnTo>
                  <a:pt x="20065" y="1631696"/>
                </a:lnTo>
                <a:lnTo>
                  <a:pt x="41833" y="1646428"/>
                </a:lnTo>
                <a:lnTo>
                  <a:pt x="68503" y="1651762"/>
                </a:lnTo>
                <a:lnTo>
                  <a:pt x="3421506" y="1651762"/>
                </a:lnTo>
                <a:lnTo>
                  <a:pt x="3448177" y="1646428"/>
                </a:lnTo>
                <a:lnTo>
                  <a:pt x="3469893" y="1631696"/>
                </a:lnTo>
                <a:lnTo>
                  <a:pt x="3484626" y="1609979"/>
                </a:lnTo>
                <a:lnTo>
                  <a:pt x="3489960" y="1583309"/>
                </a:lnTo>
                <a:lnTo>
                  <a:pt x="3489960" y="68453"/>
                </a:lnTo>
                <a:lnTo>
                  <a:pt x="3484626" y="41783"/>
                </a:lnTo>
                <a:lnTo>
                  <a:pt x="3469893" y="20066"/>
                </a:lnTo>
                <a:lnTo>
                  <a:pt x="3448177" y="5334"/>
                </a:lnTo>
                <a:lnTo>
                  <a:pt x="3421506" y="0"/>
                </a:lnTo>
                <a:close/>
              </a:path>
            </a:pathLst>
          </a:custGeom>
          <a:solidFill>
            <a:srgbClr val="297C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30623" y="3768852"/>
            <a:ext cx="3433445" cy="1577340"/>
          </a:xfrm>
          <a:custGeom>
            <a:avLst/>
            <a:gdLst/>
            <a:ahLst/>
            <a:cxnLst/>
            <a:rect l="l" t="t" r="r" b="b"/>
            <a:pathLst>
              <a:path w="3433445" h="1577339">
                <a:moveTo>
                  <a:pt x="3367658" y="0"/>
                </a:moveTo>
                <a:lnTo>
                  <a:pt x="65404" y="0"/>
                </a:lnTo>
                <a:lnTo>
                  <a:pt x="40004" y="5206"/>
                </a:lnTo>
                <a:lnTo>
                  <a:pt x="19176" y="19177"/>
                </a:lnTo>
                <a:lnTo>
                  <a:pt x="5206" y="40005"/>
                </a:lnTo>
                <a:lnTo>
                  <a:pt x="0" y="65405"/>
                </a:lnTo>
                <a:lnTo>
                  <a:pt x="0" y="1511935"/>
                </a:lnTo>
                <a:lnTo>
                  <a:pt x="5206" y="1537335"/>
                </a:lnTo>
                <a:lnTo>
                  <a:pt x="19176" y="1558163"/>
                </a:lnTo>
                <a:lnTo>
                  <a:pt x="40004" y="1572133"/>
                </a:lnTo>
                <a:lnTo>
                  <a:pt x="65404" y="1577340"/>
                </a:lnTo>
                <a:lnTo>
                  <a:pt x="3367658" y="1577340"/>
                </a:lnTo>
                <a:lnTo>
                  <a:pt x="3393058" y="1572133"/>
                </a:lnTo>
                <a:lnTo>
                  <a:pt x="3413886" y="1558163"/>
                </a:lnTo>
                <a:lnTo>
                  <a:pt x="3427856" y="1537335"/>
                </a:lnTo>
                <a:lnTo>
                  <a:pt x="3433064" y="1511935"/>
                </a:lnTo>
                <a:lnTo>
                  <a:pt x="3433064" y="65405"/>
                </a:lnTo>
                <a:lnTo>
                  <a:pt x="3427856" y="40005"/>
                </a:lnTo>
                <a:lnTo>
                  <a:pt x="3413886" y="19177"/>
                </a:lnTo>
                <a:lnTo>
                  <a:pt x="3393058" y="5206"/>
                </a:lnTo>
                <a:lnTo>
                  <a:pt x="3367658" y="0"/>
                </a:lnTo>
                <a:close/>
              </a:path>
            </a:pathLst>
          </a:custGeom>
          <a:solidFill>
            <a:srgbClr val="12A0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323588" y="3857244"/>
            <a:ext cx="3249295" cy="350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7150" rIns="0" bIns="0" rtlCol="0">
            <a:spAutoFit/>
          </a:bodyPr>
          <a:lstStyle/>
          <a:p>
            <a:pPr marL="738505">
              <a:lnSpc>
                <a:spcPct val="100000"/>
              </a:lnSpc>
              <a:spcBef>
                <a:spcPts val="450"/>
              </a:spcBef>
            </a:pPr>
            <a:r>
              <a:rPr sz="1800" b="1" dirty="0">
                <a:solidFill>
                  <a:srgbClr val="C55A11"/>
                </a:solidFill>
                <a:latin typeface="Calibri"/>
                <a:cs typeface="Calibri"/>
              </a:rPr>
              <a:t>BAGI</a:t>
            </a:r>
            <a:r>
              <a:rPr sz="1800" b="1" spc="-85" dirty="0">
                <a:solidFill>
                  <a:srgbClr val="C55A1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C55A11"/>
                </a:solidFill>
                <a:latin typeface="Calibri"/>
                <a:cs typeface="Calibri"/>
              </a:rPr>
              <a:t>MAHASISWA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70760" y="3814571"/>
            <a:ext cx="1148715" cy="815340"/>
          </a:xfrm>
          <a:custGeom>
            <a:avLst/>
            <a:gdLst/>
            <a:ahLst/>
            <a:cxnLst/>
            <a:rect l="l" t="t" r="r" b="b"/>
            <a:pathLst>
              <a:path w="1148714" h="815339">
                <a:moveTo>
                  <a:pt x="1148715" y="666750"/>
                </a:moveTo>
                <a:lnTo>
                  <a:pt x="1007999" y="512572"/>
                </a:lnTo>
                <a:lnTo>
                  <a:pt x="899287" y="393573"/>
                </a:lnTo>
                <a:lnTo>
                  <a:pt x="856361" y="512572"/>
                </a:lnTo>
                <a:lnTo>
                  <a:pt x="803275" y="496443"/>
                </a:lnTo>
                <a:lnTo>
                  <a:pt x="752094" y="478155"/>
                </a:lnTo>
                <a:lnTo>
                  <a:pt x="702818" y="457708"/>
                </a:lnTo>
                <a:lnTo>
                  <a:pt x="655828" y="435229"/>
                </a:lnTo>
                <a:lnTo>
                  <a:pt x="611124" y="410845"/>
                </a:lnTo>
                <a:lnTo>
                  <a:pt x="568960" y="384556"/>
                </a:lnTo>
                <a:lnTo>
                  <a:pt x="529336" y="356616"/>
                </a:lnTo>
                <a:lnTo>
                  <a:pt x="492506" y="327025"/>
                </a:lnTo>
                <a:lnTo>
                  <a:pt x="458724" y="295783"/>
                </a:lnTo>
                <a:lnTo>
                  <a:pt x="427990" y="263271"/>
                </a:lnTo>
                <a:lnTo>
                  <a:pt x="400558" y="229362"/>
                </a:lnTo>
                <a:lnTo>
                  <a:pt x="376555" y="194183"/>
                </a:lnTo>
                <a:lnTo>
                  <a:pt x="356108" y="157861"/>
                </a:lnTo>
                <a:lnTo>
                  <a:pt x="339471" y="120650"/>
                </a:lnTo>
                <a:lnTo>
                  <a:pt x="326644" y="82296"/>
                </a:lnTo>
                <a:lnTo>
                  <a:pt x="317881" y="43307"/>
                </a:lnTo>
                <a:lnTo>
                  <a:pt x="313309" y="3429"/>
                </a:lnTo>
                <a:lnTo>
                  <a:pt x="0" y="0"/>
                </a:lnTo>
                <a:lnTo>
                  <a:pt x="4191" y="39243"/>
                </a:lnTo>
                <a:lnTo>
                  <a:pt x="11303" y="78105"/>
                </a:lnTo>
                <a:lnTo>
                  <a:pt x="21336" y="116459"/>
                </a:lnTo>
                <a:lnTo>
                  <a:pt x="34290" y="154305"/>
                </a:lnTo>
                <a:lnTo>
                  <a:pt x="50038" y="191516"/>
                </a:lnTo>
                <a:lnTo>
                  <a:pt x="68580" y="228219"/>
                </a:lnTo>
                <a:lnTo>
                  <a:pt x="89662" y="264033"/>
                </a:lnTo>
                <a:lnTo>
                  <a:pt x="113411" y="299212"/>
                </a:lnTo>
                <a:lnTo>
                  <a:pt x="139700" y="333502"/>
                </a:lnTo>
                <a:lnTo>
                  <a:pt x="168402" y="366903"/>
                </a:lnTo>
                <a:lnTo>
                  <a:pt x="199390" y="399415"/>
                </a:lnTo>
                <a:lnTo>
                  <a:pt x="232791" y="430911"/>
                </a:lnTo>
                <a:lnTo>
                  <a:pt x="268351" y="461391"/>
                </a:lnTo>
                <a:lnTo>
                  <a:pt x="306070" y="490601"/>
                </a:lnTo>
                <a:lnTo>
                  <a:pt x="345821" y="518795"/>
                </a:lnTo>
                <a:lnTo>
                  <a:pt x="387731" y="545592"/>
                </a:lnTo>
                <a:lnTo>
                  <a:pt x="431546" y="571246"/>
                </a:lnTo>
                <a:lnTo>
                  <a:pt x="477139" y="595376"/>
                </a:lnTo>
                <a:lnTo>
                  <a:pt x="524637" y="618236"/>
                </a:lnTo>
                <a:lnTo>
                  <a:pt x="573786" y="639572"/>
                </a:lnTo>
                <a:lnTo>
                  <a:pt x="624586" y="659257"/>
                </a:lnTo>
                <a:lnTo>
                  <a:pt x="677037" y="677418"/>
                </a:lnTo>
                <a:lnTo>
                  <a:pt x="731012" y="693928"/>
                </a:lnTo>
                <a:lnTo>
                  <a:pt x="786384" y="708787"/>
                </a:lnTo>
                <a:lnTo>
                  <a:pt x="746379" y="815086"/>
                </a:lnTo>
                <a:lnTo>
                  <a:pt x="1148715" y="666750"/>
                </a:lnTo>
                <a:close/>
              </a:path>
            </a:pathLst>
          </a:custGeom>
          <a:solidFill>
            <a:srgbClr val="00A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41919" y="4443984"/>
            <a:ext cx="521334" cy="485775"/>
          </a:xfrm>
          <a:custGeom>
            <a:avLst/>
            <a:gdLst/>
            <a:ahLst/>
            <a:cxnLst/>
            <a:rect l="l" t="t" r="r" b="b"/>
            <a:pathLst>
              <a:path w="521334" h="485775">
                <a:moveTo>
                  <a:pt x="278764" y="0"/>
                </a:moveTo>
                <a:lnTo>
                  <a:pt x="278764" y="121412"/>
                </a:lnTo>
                <a:lnTo>
                  <a:pt x="0" y="121412"/>
                </a:lnTo>
                <a:lnTo>
                  <a:pt x="0" y="364236"/>
                </a:lnTo>
                <a:lnTo>
                  <a:pt x="278764" y="364236"/>
                </a:lnTo>
                <a:lnTo>
                  <a:pt x="278764" y="485648"/>
                </a:lnTo>
                <a:lnTo>
                  <a:pt x="521080" y="242824"/>
                </a:lnTo>
                <a:lnTo>
                  <a:pt x="278764" y="0"/>
                </a:lnTo>
                <a:close/>
              </a:path>
            </a:pathLst>
          </a:custGeom>
          <a:solidFill>
            <a:srgbClr val="00A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62355" y="2089404"/>
            <a:ext cx="3177540" cy="3384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301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9"/>
              </a:spcBef>
            </a:pPr>
            <a:r>
              <a:rPr sz="1600" b="1" dirty="0">
                <a:solidFill>
                  <a:srgbClr val="E36C09"/>
                </a:solidFill>
                <a:latin typeface="Calibri"/>
                <a:cs typeface="Calibri"/>
              </a:rPr>
              <a:t>URGENSI</a:t>
            </a:r>
            <a:r>
              <a:rPr sz="1600" b="1" spc="-60" dirty="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E36C09"/>
                </a:solidFill>
                <a:latin typeface="Calibri"/>
                <a:cs typeface="Calibri"/>
              </a:rPr>
              <a:t>PENDIDIKAN</a:t>
            </a:r>
            <a:r>
              <a:rPr sz="1600" b="1" spc="-45" dirty="0">
                <a:solidFill>
                  <a:srgbClr val="E36C09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E36C09"/>
                </a:solidFill>
                <a:latin typeface="Calibri"/>
                <a:cs typeface="Calibri"/>
              </a:rPr>
              <a:t>PANCASILA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8190" y="2460447"/>
            <a:ext cx="305625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200" b="1" dirty="0">
                <a:latin typeface="Calibri"/>
                <a:cs typeface="Calibri"/>
              </a:rPr>
              <a:t>Agar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mahasiswa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tidak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tercerabut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dari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akar</a:t>
            </a:r>
            <a:endParaRPr sz="12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latin typeface="Calibri"/>
                <a:cs typeface="Calibri"/>
              </a:rPr>
              <a:t>budayanya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sendiri</a:t>
            </a:r>
            <a:endParaRPr sz="1200">
              <a:latin typeface="Calibri"/>
              <a:cs typeface="Calibri"/>
            </a:endParaRPr>
          </a:p>
          <a:p>
            <a:pPr marL="299085" marR="15557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200" b="1" dirty="0">
                <a:latin typeface="Calibri"/>
                <a:cs typeface="Calibri"/>
              </a:rPr>
              <a:t>Nilai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Pancasila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sebagai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bintang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penuntun kehidupan</a:t>
            </a:r>
            <a:endParaRPr sz="12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200" b="1" spc="-10" dirty="0">
                <a:latin typeface="Calibri"/>
                <a:cs typeface="Calibri"/>
              </a:rPr>
              <a:t>memperkokoh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jiwa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kebangsaan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mahasiswa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95342" y="4292295"/>
            <a:ext cx="26682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10" dirty="0">
                <a:latin typeface="Calibri"/>
                <a:cs typeface="Calibri"/>
              </a:rPr>
              <a:t>Terwujudnya </a:t>
            </a:r>
            <a:r>
              <a:rPr sz="1200" b="1" i="1" dirty="0">
                <a:latin typeface="Calibri"/>
                <a:cs typeface="Calibri"/>
              </a:rPr>
              <a:t>Smart</a:t>
            </a:r>
            <a:r>
              <a:rPr sz="1200" b="1" i="1" spc="-25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and</a:t>
            </a:r>
            <a:r>
              <a:rPr sz="1200" b="1" i="1" spc="-20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Good</a:t>
            </a:r>
            <a:r>
              <a:rPr sz="1200" b="1" i="1" spc="240" dirty="0">
                <a:latin typeface="Calibri"/>
                <a:cs typeface="Calibri"/>
              </a:rPr>
              <a:t> </a:t>
            </a:r>
            <a:r>
              <a:rPr sz="1200" b="1" i="1" spc="-10" dirty="0">
                <a:latin typeface="Calibri"/>
                <a:cs typeface="Calibri"/>
              </a:rPr>
              <a:t>Citizenhsip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95342" y="4475733"/>
            <a:ext cx="1212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6055" algn="l"/>
              </a:tabLst>
            </a:pPr>
            <a:r>
              <a:rPr sz="1200" b="1" i="1" dirty="0">
                <a:latin typeface="Calibri"/>
                <a:cs typeface="Calibri"/>
              </a:rPr>
              <a:t>Civic</a:t>
            </a:r>
            <a:r>
              <a:rPr sz="1200" b="1" i="1" spc="-5" dirty="0">
                <a:latin typeface="Calibri"/>
                <a:cs typeface="Calibri"/>
              </a:rPr>
              <a:t> </a:t>
            </a:r>
            <a:r>
              <a:rPr sz="1200" b="1" i="1" spc="-10" dirty="0">
                <a:latin typeface="Calibri"/>
                <a:cs typeface="Calibri"/>
              </a:rPr>
              <a:t>cnowledge</a:t>
            </a:r>
            <a:endParaRPr sz="1200">
              <a:latin typeface="Calibri"/>
              <a:cs typeface="Calibri"/>
            </a:endParaRPr>
          </a:p>
          <a:p>
            <a:pPr marL="186055" indent="-173355">
              <a:lnSpc>
                <a:spcPct val="100000"/>
              </a:lnSpc>
              <a:buFont typeface="Arial MT"/>
              <a:buChar char="•"/>
              <a:tabLst>
                <a:tab pos="186055" algn="l"/>
              </a:tabLst>
            </a:pPr>
            <a:r>
              <a:rPr sz="1200" b="1" i="1" dirty="0">
                <a:latin typeface="Calibri"/>
                <a:cs typeface="Calibri"/>
              </a:rPr>
              <a:t>Civic</a:t>
            </a:r>
            <a:r>
              <a:rPr sz="1200" b="1" i="1" spc="-10" dirty="0">
                <a:latin typeface="Calibri"/>
                <a:cs typeface="Calibri"/>
              </a:rPr>
              <a:t> Skill</a:t>
            </a:r>
            <a:endParaRPr sz="1200">
              <a:latin typeface="Calibri"/>
              <a:cs typeface="Calibri"/>
            </a:endParaRPr>
          </a:p>
          <a:p>
            <a:pPr marL="186055" indent="-173355">
              <a:lnSpc>
                <a:spcPct val="100000"/>
              </a:lnSpc>
              <a:buFont typeface="Arial MT"/>
              <a:buChar char="•"/>
              <a:tabLst>
                <a:tab pos="186055" algn="l"/>
              </a:tabLst>
            </a:pPr>
            <a:r>
              <a:rPr sz="1200" b="1" i="1" dirty="0">
                <a:latin typeface="Calibri"/>
                <a:cs typeface="Calibri"/>
              </a:rPr>
              <a:t>Civic</a:t>
            </a:r>
            <a:r>
              <a:rPr sz="1200" b="1" i="1" spc="-10" dirty="0">
                <a:latin typeface="Calibri"/>
                <a:cs typeface="Calibri"/>
              </a:rPr>
              <a:t> disposition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39371" y="6516623"/>
            <a:ext cx="452755" cy="341630"/>
          </a:xfrm>
          <a:custGeom>
            <a:avLst/>
            <a:gdLst/>
            <a:ahLst/>
            <a:cxnLst/>
            <a:rect l="l" t="t" r="r" b="b"/>
            <a:pathLst>
              <a:path w="452754" h="341629">
                <a:moveTo>
                  <a:pt x="452627" y="0"/>
                </a:moveTo>
                <a:lnTo>
                  <a:pt x="0" y="0"/>
                </a:lnTo>
                <a:lnTo>
                  <a:pt x="0" y="341376"/>
                </a:lnTo>
                <a:lnTo>
                  <a:pt x="452627" y="341376"/>
                </a:lnTo>
                <a:lnTo>
                  <a:pt x="452627" y="0"/>
                </a:lnTo>
                <a:close/>
              </a:path>
            </a:pathLst>
          </a:custGeom>
          <a:solidFill>
            <a:srgbClr val="1737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62943" y="6572198"/>
            <a:ext cx="2089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FFFFFF"/>
                </a:solidFill>
                <a:latin typeface="Arial MT"/>
                <a:cs typeface="Arial MT"/>
              </a:rPr>
              <a:t>17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21195" y="1670304"/>
            <a:ext cx="463550" cy="1068705"/>
          </a:xfrm>
          <a:custGeom>
            <a:avLst/>
            <a:gdLst/>
            <a:ahLst/>
            <a:cxnLst/>
            <a:rect l="l" t="t" r="r" b="b"/>
            <a:pathLst>
              <a:path w="463550" h="1068705">
                <a:moveTo>
                  <a:pt x="463296" y="0"/>
                </a:moveTo>
                <a:lnTo>
                  <a:pt x="161162" y="0"/>
                </a:lnTo>
                <a:lnTo>
                  <a:pt x="118312" y="5755"/>
                </a:lnTo>
                <a:lnTo>
                  <a:pt x="79812" y="21999"/>
                </a:lnTo>
                <a:lnTo>
                  <a:pt x="47196" y="47196"/>
                </a:lnTo>
                <a:lnTo>
                  <a:pt x="21999" y="79812"/>
                </a:lnTo>
                <a:lnTo>
                  <a:pt x="5755" y="118312"/>
                </a:lnTo>
                <a:lnTo>
                  <a:pt x="0" y="161162"/>
                </a:lnTo>
                <a:lnTo>
                  <a:pt x="0" y="907161"/>
                </a:lnTo>
                <a:lnTo>
                  <a:pt x="5755" y="950011"/>
                </a:lnTo>
                <a:lnTo>
                  <a:pt x="21999" y="988511"/>
                </a:lnTo>
                <a:lnTo>
                  <a:pt x="47196" y="1021127"/>
                </a:lnTo>
                <a:lnTo>
                  <a:pt x="79812" y="1046324"/>
                </a:lnTo>
                <a:lnTo>
                  <a:pt x="118312" y="1062568"/>
                </a:lnTo>
                <a:lnTo>
                  <a:pt x="161162" y="1068324"/>
                </a:lnTo>
                <a:lnTo>
                  <a:pt x="463296" y="1068324"/>
                </a:lnTo>
                <a:lnTo>
                  <a:pt x="463296" y="0"/>
                </a:lnTo>
                <a:close/>
              </a:path>
            </a:pathLst>
          </a:custGeom>
          <a:solidFill>
            <a:srgbClr val="1737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21195" y="2830067"/>
            <a:ext cx="463550" cy="1277620"/>
          </a:xfrm>
          <a:custGeom>
            <a:avLst/>
            <a:gdLst/>
            <a:ahLst/>
            <a:cxnLst/>
            <a:rect l="l" t="t" r="r" b="b"/>
            <a:pathLst>
              <a:path w="463550" h="1277620">
                <a:moveTo>
                  <a:pt x="463296" y="0"/>
                </a:moveTo>
                <a:lnTo>
                  <a:pt x="161162" y="0"/>
                </a:lnTo>
                <a:lnTo>
                  <a:pt x="118312" y="5755"/>
                </a:lnTo>
                <a:lnTo>
                  <a:pt x="79812" y="21999"/>
                </a:lnTo>
                <a:lnTo>
                  <a:pt x="47196" y="47196"/>
                </a:lnTo>
                <a:lnTo>
                  <a:pt x="21999" y="79812"/>
                </a:lnTo>
                <a:lnTo>
                  <a:pt x="5755" y="118312"/>
                </a:lnTo>
                <a:lnTo>
                  <a:pt x="0" y="161162"/>
                </a:lnTo>
                <a:lnTo>
                  <a:pt x="0" y="1115949"/>
                </a:lnTo>
                <a:lnTo>
                  <a:pt x="5755" y="1158799"/>
                </a:lnTo>
                <a:lnTo>
                  <a:pt x="21999" y="1197299"/>
                </a:lnTo>
                <a:lnTo>
                  <a:pt x="47196" y="1229915"/>
                </a:lnTo>
                <a:lnTo>
                  <a:pt x="79812" y="1255112"/>
                </a:lnTo>
                <a:lnTo>
                  <a:pt x="118312" y="1271356"/>
                </a:lnTo>
                <a:lnTo>
                  <a:pt x="161162" y="1277112"/>
                </a:lnTo>
                <a:lnTo>
                  <a:pt x="463296" y="1277112"/>
                </a:lnTo>
                <a:lnTo>
                  <a:pt x="463296" y="0"/>
                </a:lnTo>
                <a:close/>
              </a:path>
            </a:pathLst>
          </a:custGeom>
          <a:solidFill>
            <a:srgbClr val="1737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21195" y="4262628"/>
            <a:ext cx="463550" cy="1167765"/>
          </a:xfrm>
          <a:custGeom>
            <a:avLst/>
            <a:gdLst/>
            <a:ahLst/>
            <a:cxnLst/>
            <a:rect l="l" t="t" r="r" b="b"/>
            <a:pathLst>
              <a:path w="463550" h="1167764">
                <a:moveTo>
                  <a:pt x="463296" y="0"/>
                </a:moveTo>
                <a:lnTo>
                  <a:pt x="161162" y="0"/>
                </a:lnTo>
                <a:lnTo>
                  <a:pt x="118312" y="5755"/>
                </a:lnTo>
                <a:lnTo>
                  <a:pt x="79812" y="21999"/>
                </a:lnTo>
                <a:lnTo>
                  <a:pt x="47196" y="47196"/>
                </a:lnTo>
                <a:lnTo>
                  <a:pt x="21999" y="79812"/>
                </a:lnTo>
                <a:lnTo>
                  <a:pt x="5755" y="118312"/>
                </a:lnTo>
                <a:lnTo>
                  <a:pt x="0" y="161163"/>
                </a:lnTo>
                <a:lnTo>
                  <a:pt x="0" y="1006221"/>
                </a:lnTo>
                <a:lnTo>
                  <a:pt x="5755" y="1049071"/>
                </a:lnTo>
                <a:lnTo>
                  <a:pt x="21999" y="1087571"/>
                </a:lnTo>
                <a:lnTo>
                  <a:pt x="47196" y="1120187"/>
                </a:lnTo>
                <a:lnTo>
                  <a:pt x="79812" y="1145384"/>
                </a:lnTo>
                <a:lnTo>
                  <a:pt x="118312" y="1161628"/>
                </a:lnTo>
                <a:lnTo>
                  <a:pt x="161162" y="1167384"/>
                </a:lnTo>
                <a:lnTo>
                  <a:pt x="463296" y="1167384"/>
                </a:lnTo>
                <a:lnTo>
                  <a:pt x="463296" y="0"/>
                </a:lnTo>
                <a:close/>
              </a:path>
            </a:pathLst>
          </a:custGeom>
          <a:solidFill>
            <a:srgbClr val="17375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521195" y="5570220"/>
            <a:ext cx="5486400" cy="814069"/>
            <a:chOff x="6521195" y="5570220"/>
            <a:chExt cx="5486400" cy="814069"/>
          </a:xfrm>
        </p:grpSpPr>
        <p:sp>
          <p:nvSpPr>
            <p:cNvPr id="8" name="object 8"/>
            <p:cNvSpPr/>
            <p:nvPr/>
          </p:nvSpPr>
          <p:spPr>
            <a:xfrm>
              <a:off x="7013447" y="5570220"/>
              <a:ext cx="4994275" cy="814069"/>
            </a:xfrm>
            <a:custGeom>
              <a:avLst/>
              <a:gdLst/>
              <a:ahLst/>
              <a:cxnLst/>
              <a:rect l="l" t="t" r="r" b="b"/>
              <a:pathLst>
                <a:path w="4994275" h="814070">
                  <a:moveTo>
                    <a:pt x="4994148" y="0"/>
                  </a:moveTo>
                  <a:lnTo>
                    <a:pt x="0" y="0"/>
                  </a:lnTo>
                  <a:lnTo>
                    <a:pt x="0" y="813815"/>
                  </a:lnTo>
                  <a:lnTo>
                    <a:pt x="4994148" y="813815"/>
                  </a:lnTo>
                  <a:lnTo>
                    <a:pt x="499414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21195" y="5570220"/>
              <a:ext cx="463550" cy="810895"/>
            </a:xfrm>
            <a:custGeom>
              <a:avLst/>
              <a:gdLst/>
              <a:ahLst/>
              <a:cxnLst/>
              <a:rect l="l" t="t" r="r" b="b"/>
              <a:pathLst>
                <a:path w="463550" h="810895">
                  <a:moveTo>
                    <a:pt x="463296" y="0"/>
                  </a:moveTo>
                  <a:lnTo>
                    <a:pt x="161162" y="0"/>
                  </a:lnTo>
                  <a:lnTo>
                    <a:pt x="118312" y="5756"/>
                  </a:lnTo>
                  <a:lnTo>
                    <a:pt x="79812" y="22001"/>
                  </a:lnTo>
                  <a:lnTo>
                    <a:pt x="47196" y="47199"/>
                  </a:lnTo>
                  <a:lnTo>
                    <a:pt x="21999" y="79814"/>
                  </a:lnTo>
                  <a:lnTo>
                    <a:pt x="5755" y="118309"/>
                  </a:lnTo>
                  <a:lnTo>
                    <a:pt x="0" y="161150"/>
                  </a:lnTo>
                  <a:lnTo>
                    <a:pt x="0" y="649617"/>
                  </a:lnTo>
                  <a:lnTo>
                    <a:pt x="5755" y="692458"/>
                  </a:lnTo>
                  <a:lnTo>
                    <a:pt x="21999" y="730953"/>
                  </a:lnTo>
                  <a:lnTo>
                    <a:pt x="47196" y="763568"/>
                  </a:lnTo>
                  <a:lnTo>
                    <a:pt x="79812" y="788766"/>
                  </a:lnTo>
                  <a:lnTo>
                    <a:pt x="118312" y="805011"/>
                  </a:lnTo>
                  <a:lnTo>
                    <a:pt x="161162" y="810767"/>
                  </a:lnTo>
                  <a:lnTo>
                    <a:pt x="463296" y="810767"/>
                  </a:lnTo>
                  <a:lnTo>
                    <a:pt x="463296" y="0"/>
                  </a:lnTo>
                  <a:close/>
                </a:path>
              </a:pathLst>
            </a:custGeom>
            <a:solidFill>
              <a:srgbClr val="1737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05981" y="223761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05981" y="319163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44716" y="4513021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18172" y="568370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13447" y="1670304"/>
            <a:ext cx="4994275" cy="107188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144780" rIns="0" bIns="0" rtlCol="0">
            <a:spAutoFit/>
          </a:bodyPr>
          <a:lstStyle/>
          <a:p>
            <a:pPr marL="104139" marR="88265">
              <a:lnSpc>
                <a:spcPct val="100000"/>
              </a:lnSpc>
              <a:spcBef>
                <a:spcPts val="1140"/>
              </a:spcBef>
            </a:pPr>
            <a:r>
              <a:rPr sz="1400" spc="-10" dirty="0">
                <a:latin typeface="Calibri"/>
                <a:cs typeface="Calibri"/>
              </a:rPr>
              <a:t>memperkuat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Pancasila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sebagai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dasar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falsafah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negara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ideologi </a:t>
            </a:r>
            <a:r>
              <a:rPr sz="1400" dirty="0">
                <a:latin typeface="Calibri"/>
                <a:cs typeface="Calibri"/>
              </a:rPr>
              <a:t>bangsa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melalui </a:t>
            </a:r>
            <a:r>
              <a:rPr sz="1400" spc="-10" dirty="0">
                <a:latin typeface="Calibri"/>
                <a:cs typeface="Calibri"/>
              </a:rPr>
              <a:t>revitalisasi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nilai-</a:t>
            </a:r>
            <a:r>
              <a:rPr sz="1400" dirty="0">
                <a:latin typeface="Calibri"/>
                <a:cs typeface="Calibri"/>
              </a:rPr>
              <a:t>nilai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dasar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Pancasila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sebagai</a:t>
            </a:r>
            <a:r>
              <a:rPr sz="1400" spc="5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norma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dasar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kehidupan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bermasyarakat,berbangsa,</a:t>
            </a:r>
            <a:r>
              <a:rPr sz="1400" dirty="0">
                <a:latin typeface="Calibri"/>
                <a:cs typeface="Calibri"/>
              </a:rPr>
              <a:t> dan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bernegara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13447" y="2830067"/>
            <a:ext cx="4994275" cy="127762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135890" rIns="0" bIns="0" rtlCol="0">
            <a:spAutoFit/>
          </a:bodyPr>
          <a:lstStyle/>
          <a:p>
            <a:pPr marL="104139" marR="125095">
              <a:lnSpc>
                <a:spcPct val="100000"/>
              </a:lnSpc>
              <a:spcBef>
                <a:spcPts val="1070"/>
              </a:spcBef>
            </a:pPr>
            <a:r>
              <a:rPr sz="1400" spc="-10" dirty="0">
                <a:latin typeface="Calibri"/>
                <a:cs typeface="Calibri"/>
              </a:rPr>
              <a:t>Memberikan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pemahaman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penghayatan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atas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jiwa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nilai- </a:t>
            </a:r>
            <a:r>
              <a:rPr sz="1400" dirty="0">
                <a:latin typeface="Calibri"/>
                <a:cs typeface="Calibri"/>
              </a:rPr>
              <a:t>nilai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dasar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Pancasila kepada mahasiswa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sebagai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warga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negara </a:t>
            </a:r>
            <a:r>
              <a:rPr sz="1400" dirty="0">
                <a:latin typeface="Calibri"/>
                <a:cs typeface="Calibri"/>
              </a:rPr>
              <a:t>Republik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Indonesia,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membimbing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untuk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dapat menerapkannya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dalam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kehidupan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bermasyarakat,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berbangsa,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dan </a:t>
            </a:r>
            <a:r>
              <a:rPr sz="1400" spc="-10" dirty="0">
                <a:latin typeface="Calibri"/>
                <a:cs typeface="Calibri"/>
              </a:rPr>
              <a:t>bernegara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13447" y="4262628"/>
            <a:ext cx="4994275" cy="116903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67945" rIns="0" bIns="0" rtlCol="0">
            <a:spAutoFit/>
          </a:bodyPr>
          <a:lstStyle/>
          <a:p>
            <a:pPr marL="284480" marR="8255">
              <a:lnSpc>
                <a:spcPct val="100200"/>
              </a:lnSpc>
              <a:spcBef>
                <a:spcPts val="535"/>
              </a:spcBef>
            </a:pPr>
            <a:r>
              <a:rPr sz="1400" spc="-10" dirty="0">
                <a:latin typeface="Calibri"/>
                <a:cs typeface="Calibri"/>
              </a:rPr>
              <a:t>mempersiapkan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mahasiswa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agar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mampu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menganalisis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dan </a:t>
            </a:r>
            <a:r>
              <a:rPr sz="1400" dirty="0">
                <a:latin typeface="Calibri"/>
                <a:cs typeface="Calibri"/>
              </a:rPr>
              <a:t>mencari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solusi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terhadap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berbagai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persoalan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kehidupan bermasyarakat,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berbangsa,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bernegara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melalui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sistem </a:t>
            </a:r>
            <a:r>
              <a:rPr sz="1400" dirty="0">
                <a:latin typeface="Calibri"/>
                <a:cs typeface="Calibri"/>
              </a:rPr>
              <a:t>pemikiran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yang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berdasarkan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nilai-</a:t>
            </a:r>
            <a:r>
              <a:rPr sz="1400" dirty="0">
                <a:latin typeface="Calibri"/>
                <a:cs typeface="Calibri"/>
              </a:rPr>
              <a:t>nilai</a:t>
            </a:r>
            <a:r>
              <a:rPr sz="1400" spc="-10" dirty="0">
                <a:latin typeface="Calibri"/>
                <a:cs typeface="Calibri"/>
              </a:rPr>
              <a:t> Pancasila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UUD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Negara </a:t>
            </a:r>
            <a:r>
              <a:rPr sz="1400" dirty="0">
                <a:latin typeface="Calibri"/>
                <a:cs typeface="Calibri"/>
              </a:rPr>
              <a:t>RI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Tahun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1945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48321" y="5584952"/>
            <a:ext cx="475932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latin typeface="Calibri"/>
                <a:cs typeface="Calibri"/>
              </a:rPr>
              <a:t>membentuk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sikap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mental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mahasiswa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yang</a:t>
            </a:r>
            <a:r>
              <a:rPr sz="1300" spc="-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mampu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mengapresiasi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nila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latin typeface="Calibri"/>
                <a:cs typeface="Calibri"/>
              </a:rPr>
              <a:t>Inilai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ketuhanan,</a:t>
            </a:r>
            <a:r>
              <a:rPr sz="130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kemanusiaan,</a:t>
            </a:r>
            <a:r>
              <a:rPr sz="130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kecintaan </a:t>
            </a:r>
            <a:r>
              <a:rPr sz="1300" dirty="0">
                <a:latin typeface="Calibri"/>
                <a:cs typeface="Calibri"/>
              </a:rPr>
              <a:t>pada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tanah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air, </a:t>
            </a:r>
            <a:r>
              <a:rPr sz="1300" dirty="0">
                <a:latin typeface="Calibri"/>
                <a:cs typeface="Calibri"/>
              </a:rPr>
              <a:t>dan </a:t>
            </a:r>
            <a:r>
              <a:rPr sz="1300" spc="-10" dirty="0">
                <a:latin typeface="Calibri"/>
                <a:cs typeface="Calibri"/>
              </a:rPr>
              <a:t>kesatuan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48321" y="5981496"/>
            <a:ext cx="50749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latin typeface="Calibri"/>
                <a:cs typeface="Calibri"/>
              </a:rPr>
              <a:t>bangsa,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serta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penguatan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masyarakat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madani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yang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demokratis,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berkeadilan,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48321" y="6181140"/>
            <a:ext cx="27590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latin typeface="Calibri"/>
                <a:cs typeface="Calibri"/>
              </a:rPr>
              <a:t>dan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bermartabat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berlandaskan </a:t>
            </a:r>
            <a:r>
              <a:rPr sz="1300" spc="-10" dirty="0">
                <a:latin typeface="Calibri"/>
                <a:cs typeface="Calibri"/>
              </a:rPr>
              <a:t>Pancasila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04444" y="1676400"/>
            <a:ext cx="5699760" cy="4057015"/>
            <a:chOff x="504444" y="1676400"/>
            <a:chExt cx="5699760" cy="405701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444" y="1676400"/>
              <a:ext cx="2656332" cy="405688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0776" y="1688591"/>
              <a:ext cx="3043428" cy="401116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967739" y="5835396"/>
            <a:ext cx="4867910" cy="523240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85"/>
              </a:spcBef>
            </a:pP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PENDIDIKAN</a:t>
            </a:r>
            <a:r>
              <a:rPr sz="2800" b="1" spc="-1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PANCASILA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spc="-345" dirty="0"/>
              <a:t>TUJUAN</a:t>
            </a:r>
            <a:r>
              <a:rPr spc="-110" dirty="0"/>
              <a:t> </a:t>
            </a:r>
            <a:r>
              <a:rPr spc="-260" dirty="0"/>
              <a:t>PENYELENGGARAAN</a:t>
            </a:r>
            <a:r>
              <a:rPr spc="-130" dirty="0"/>
              <a:t> </a:t>
            </a:r>
            <a:r>
              <a:rPr spc="-375" dirty="0"/>
              <a:t>PENDIDIKAN</a:t>
            </a:r>
            <a:r>
              <a:rPr spc="-114" dirty="0"/>
              <a:t> </a:t>
            </a:r>
            <a:r>
              <a:rPr spc="-290" dirty="0"/>
              <a:t>PANCASILA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77547" y="6510934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19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0555" y="1232829"/>
            <a:ext cx="7926705" cy="4679315"/>
            <a:chOff x="260555" y="1232829"/>
            <a:chExt cx="7926705" cy="46793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555" y="1232829"/>
              <a:ext cx="7926421" cy="46787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100" y="1391411"/>
              <a:ext cx="7429500" cy="41818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99103" y="1751075"/>
              <a:ext cx="4020311" cy="344728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541776" y="1770888"/>
            <a:ext cx="3939540" cy="3366770"/>
          </a:xfrm>
          <a:prstGeom prst="rect">
            <a:avLst/>
          </a:prstGeom>
          <a:solidFill>
            <a:srgbClr val="000000">
              <a:alpha val="21960"/>
            </a:srgbClr>
          </a:solidFill>
        </p:spPr>
        <p:txBody>
          <a:bodyPr vert="horz" wrap="square" lIns="0" tIns="400685" rIns="0" bIns="0" rtlCol="0">
            <a:spAutoFit/>
          </a:bodyPr>
          <a:lstStyle/>
          <a:p>
            <a:pPr marL="216535" marR="208279" indent="381000">
              <a:lnSpc>
                <a:spcPct val="100000"/>
              </a:lnSpc>
              <a:spcBef>
                <a:spcPts val="3155"/>
              </a:spcBef>
            </a:pPr>
            <a:r>
              <a:rPr sz="2800" b="1" i="1" dirty="0">
                <a:solidFill>
                  <a:srgbClr val="FFFFFF"/>
                </a:solidFill>
                <a:latin typeface="Calibri"/>
                <a:cs typeface="Calibri"/>
              </a:rPr>
              <a:t>“Jangan</a:t>
            </a:r>
            <a:r>
              <a:rPr sz="2800" b="1" i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i="1" spc="-30" dirty="0">
                <a:solidFill>
                  <a:srgbClr val="FFFFFF"/>
                </a:solidFill>
                <a:latin typeface="Calibri"/>
                <a:cs typeface="Calibri"/>
              </a:rPr>
              <a:t>sekali-</a:t>
            </a:r>
            <a:r>
              <a:rPr sz="2800" b="1" i="1" spc="-20" dirty="0">
                <a:solidFill>
                  <a:srgbClr val="FFFFFF"/>
                </a:solidFill>
                <a:latin typeface="Calibri"/>
                <a:cs typeface="Calibri"/>
              </a:rPr>
              <a:t>kali </a:t>
            </a:r>
            <a:r>
              <a:rPr sz="2800" b="1" i="1" dirty="0">
                <a:solidFill>
                  <a:srgbClr val="FFFFFF"/>
                </a:solidFill>
                <a:latin typeface="Calibri"/>
                <a:cs typeface="Calibri"/>
              </a:rPr>
              <a:t>meninggalkan</a:t>
            </a:r>
            <a:r>
              <a:rPr sz="2800" b="1" i="1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FFFFFF"/>
                </a:solidFill>
                <a:latin typeface="Calibri"/>
                <a:cs typeface="Calibri"/>
              </a:rPr>
              <a:t>sejarah.”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SUMBER</a:t>
            </a:r>
            <a:r>
              <a:rPr spc="-135" dirty="0"/>
              <a:t> </a:t>
            </a:r>
            <a:r>
              <a:rPr spc="-315" dirty="0"/>
              <a:t>SOSIOLOGIS</a:t>
            </a:r>
            <a:r>
              <a:rPr spc="-125" dirty="0"/>
              <a:t> </a:t>
            </a:r>
            <a:r>
              <a:rPr spc="-375" dirty="0"/>
              <a:t>PENDIDIKAN</a:t>
            </a:r>
            <a:r>
              <a:rPr spc="-130" dirty="0"/>
              <a:t> </a:t>
            </a:r>
            <a:r>
              <a:rPr spc="-290" dirty="0"/>
              <a:t>PANCASILA</a:t>
            </a:r>
          </a:p>
        </p:txBody>
      </p:sp>
      <p:sp>
        <p:nvSpPr>
          <p:cNvPr id="9" name="object 9"/>
          <p:cNvSpPr/>
          <p:nvPr/>
        </p:nvSpPr>
        <p:spPr>
          <a:xfrm>
            <a:off x="8445245" y="1937766"/>
            <a:ext cx="3514090" cy="3034030"/>
          </a:xfrm>
          <a:custGeom>
            <a:avLst/>
            <a:gdLst/>
            <a:ahLst/>
            <a:cxnLst/>
            <a:rect l="l" t="t" r="r" b="b"/>
            <a:pathLst>
              <a:path w="3514090" h="3034029">
                <a:moveTo>
                  <a:pt x="0" y="348234"/>
                </a:moveTo>
                <a:lnTo>
                  <a:pt x="3682" y="300989"/>
                </a:lnTo>
                <a:lnTo>
                  <a:pt x="14350" y="255650"/>
                </a:lnTo>
                <a:lnTo>
                  <a:pt x="31623" y="212725"/>
                </a:lnTo>
                <a:lnTo>
                  <a:pt x="54863" y="172466"/>
                </a:lnTo>
                <a:lnTo>
                  <a:pt x="83693" y="135509"/>
                </a:lnTo>
                <a:lnTo>
                  <a:pt x="117728" y="101981"/>
                </a:lnTo>
                <a:lnTo>
                  <a:pt x="156209" y="72517"/>
                </a:lnTo>
                <a:lnTo>
                  <a:pt x="199008" y="47498"/>
                </a:lnTo>
                <a:lnTo>
                  <a:pt x="245363" y="27305"/>
                </a:lnTo>
                <a:lnTo>
                  <a:pt x="295021" y="12446"/>
                </a:lnTo>
                <a:lnTo>
                  <a:pt x="347218" y="3175"/>
                </a:lnTo>
                <a:lnTo>
                  <a:pt x="401827" y="0"/>
                </a:lnTo>
                <a:lnTo>
                  <a:pt x="3112261" y="0"/>
                </a:lnTo>
                <a:lnTo>
                  <a:pt x="3166745" y="3175"/>
                </a:lnTo>
                <a:lnTo>
                  <a:pt x="3219069" y="12446"/>
                </a:lnTo>
                <a:lnTo>
                  <a:pt x="3268726" y="27305"/>
                </a:lnTo>
                <a:lnTo>
                  <a:pt x="3315080" y="47498"/>
                </a:lnTo>
                <a:lnTo>
                  <a:pt x="3357753" y="72517"/>
                </a:lnTo>
                <a:lnTo>
                  <a:pt x="3396360" y="101981"/>
                </a:lnTo>
                <a:lnTo>
                  <a:pt x="3430397" y="135509"/>
                </a:lnTo>
                <a:lnTo>
                  <a:pt x="3459226" y="172466"/>
                </a:lnTo>
                <a:lnTo>
                  <a:pt x="3482467" y="212725"/>
                </a:lnTo>
                <a:lnTo>
                  <a:pt x="3499738" y="255650"/>
                </a:lnTo>
                <a:lnTo>
                  <a:pt x="3510406" y="300989"/>
                </a:lnTo>
                <a:lnTo>
                  <a:pt x="3514089" y="348234"/>
                </a:lnTo>
                <a:lnTo>
                  <a:pt x="3514089" y="2685669"/>
                </a:lnTo>
                <a:lnTo>
                  <a:pt x="3510406" y="2732913"/>
                </a:lnTo>
                <a:lnTo>
                  <a:pt x="3499738" y="2778252"/>
                </a:lnTo>
                <a:lnTo>
                  <a:pt x="3482467" y="2821178"/>
                </a:lnTo>
                <a:lnTo>
                  <a:pt x="3459226" y="2861437"/>
                </a:lnTo>
                <a:lnTo>
                  <a:pt x="3430397" y="2898394"/>
                </a:lnTo>
                <a:lnTo>
                  <a:pt x="3396360" y="2931922"/>
                </a:lnTo>
                <a:lnTo>
                  <a:pt x="3357753" y="2961386"/>
                </a:lnTo>
                <a:lnTo>
                  <a:pt x="3315080" y="2986405"/>
                </a:lnTo>
                <a:lnTo>
                  <a:pt x="3268726" y="3006471"/>
                </a:lnTo>
                <a:lnTo>
                  <a:pt x="3219069" y="3021457"/>
                </a:lnTo>
                <a:lnTo>
                  <a:pt x="3166745" y="3030728"/>
                </a:lnTo>
                <a:lnTo>
                  <a:pt x="3112261" y="3033903"/>
                </a:lnTo>
                <a:lnTo>
                  <a:pt x="401827" y="3033903"/>
                </a:lnTo>
                <a:lnTo>
                  <a:pt x="347218" y="3030728"/>
                </a:lnTo>
                <a:lnTo>
                  <a:pt x="295021" y="3021457"/>
                </a:lnTo>
                <a:lnTo>
                  <a:pt x="245363" y="3006471"/>
                </a:lnTo>
                <a:lnTo>
                  <a:pt x="199008" y="2986405"/>
                </a:lnTo>
                <a:lnTo>
                  <a:pt x="156209" y="2961386"/>
                </a:lnTo>
                <a:lnTo>
                  <a:pt x="117728" y="2931922"/>
                </a:lnTo>
                <a:lnTo>
                  <a:pt x="83693" y="2898394"/>
                </a:lnTo>
                <a:lnTo>
                  <a:pt x="54863" y="2861437"/>
                </a:lnTo>
                <a:lnTo>
                  <a:pt x="31623" y="2821178"/>
                </a:lnTo>
                <a:lnTo>
                  <a:pt x="14350" y="2778252"/>
                </a:lnTo>
                <a:lnTo>
                  <a:pt x="3682" y="2732913"/>
                </a:lnTo>
                <a:lnTo>
                  <a:pt x="0" y="2685669"/>
                </a:lnTo>
                <a:lnTo>
                  <a:pt x="0" y="348234"/>
                </a:lnTo>
                <a:close/>
              </a:path>
            </a:pathLst>
          </a:custGeom>
          <a:ln w="19812">
            <a:solidFill>
              <a:srgbClr val="EC7C3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48600" y="2272283"/>
            <a:ext cx="506095" cy="2419985"/>
          </a:xfrm>
          <a:custGeom>
            <a:avLst/>
            <a:gdLst/>
            <a:ahLst/>
            <a:cxnLst/>
            <a:rect l="l" t="t" r="r" b="b"/>
            <a:pathLst>
              <a:path w="506095" h="2419985">
                <a:moveTo>
                  <a:pt x="0" y="0"/>
                </a:moveTo>
                <a:lnTo>
                  <a:pt x="0" y="2419604"/>
                </a:lnTo>
                <a:lnTo>
                  <a:pt x="505841" y="1209802"/>
                </a:lnTo>
                <a:lnTo>
                  <a:pt x="0" y="0"/>
                </a:lnTo>
                <a:close/>
              </a:path>
            </a:pathLst>
          </a:custGeom>
          <a:solidFill>
            <a:srgbClr val="1F38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523858" y="2179701"/>
            <a:ext cx="32372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45" dirty="0">
                <a:latin typeface="Tahoma"/>
                <a:cs typeface="Tahoma"/>
              </a:rPr>
              <a:t>“Sejarah</a:t>
            </a:r>
            <a:r>
              <a:rPr sz="1400" b="1" spc="-6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merupakan</a:t>
            </a:r>
            <a:r>
              <a:rPr sz="1400" b="1" spc="-7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guru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kehidupan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61958" y="2604592"/>
            <a:ext cx="3277235" cy="1978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99"/>
              </a:lnSpc>
              <a:spcBef>
                <a:spcPts val="95"/>
              </a:spcBef>
            </a:pPr>
            <a:r>
              <a:rPr sz="1600" dirty="0">
                <a:latin typeface="Verdana"/>
                <a:cs typeface="Verdana"/>
              </a:rPr>
              <a:t>Pendekatan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130" dirty="0">
                <a:latin typeface="Verdana"/>
                <a:cs typeface="Verdana"/>
              </a:rPr>
              <a:t>Historis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dalam </a:t>
            </a:r>
            <a:r>
              <a:rPr sz="1600" dirty="0">
                <a:latin typeface="Verdana"/>
                <a:cs typeface="Verdana"/>
              </a:rPr>
              <a:t>pendidikan</a:t>
            </a:r>
            <a:r>
              <a:rPr sz="1600" spc="-9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Pancasila</a:t>
            </a:r>
            <a:r>
              <a:rPr sz="1600" spc="-12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amat </a:t>
            </a:r>
            <a:r>
              <a:rPr sz="1600" spc="-10" dirty="0">
                <a:latin typeface="Verdana"/>
                <a:cs typeface="Verdana"/>
              </a:rPr>
              <a:t>penting</a:t>
            </a:r>
            <a:r>
              <a:rPr sz="1600" dirty="0">
                <a:latin typeface="Verdana"/>
                <a:cs typeface="Verdana"/>
              </a:rPr>
              <a:t> dengan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harapan </a:t>
            </a:r>
            <a:r>
              <a:rPr sz="1600" spc="-40" dirty="0">
                <a:latin typeface="Verdana"/>
                <a:cs typeface="Verdana"/>
              </a:rPr>
              <a:t>mahasiswa</a:t>
            </a:r>
            <a:r>
              <a:rPr sz="1600" spc="-95" dirty="0">
                <a:latin typeface="Verdana"/>
                <a:cs typeface="Verdana"/>
              </a:rPr>
              <a:t> </a:t>
            </a:r>
            <a:r>
              <a:rPr sz="1600" spc="65" dirty="0">
                <a:latin typeface="Verdana"/>
                <a:cs typeface="Verdana"/>
              </a:rPr>
              <a:t>dapat</a:t>
            </a:r>
            <a:r>
              <a:rPr sz="1600" spc="-1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mengambil </a:t>
            </a:r>
            <a:r>
              <a:rPr sz="1600" spc="-20" dirty="0">
                <a:latin typeface="Verdana"/>
                <a:cs typeface="Verdana"/>
              </a:rPr>
              <a:t>pelajaran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atau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55" dirty="0">
                <a:latin typeface="Verdana"/>
                <a:cs typeface="Verdana"/>
              </a:rPr>
              <a:t>hikmah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dari </a:t>
            </a:r>
            <a:r>
              <a:rPr sz="1600" dirty="0">
                <a:latin typeface="Verdana"/>
                <a:cs typeface="Verdana"/>
              </a:rPr>
              <a:t>berbagai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60" dirty="0">
                <a:latin typeface="Verdana"/>
                <a:cs typeface="Verdana"/>
              </a:rPr>
              <a:t>peristiwa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70" dirty="0">
                <a:latin typeface="Verdana"/>
                <a:cs typeface="Verdana"/>
              </a:rPr>
              <a:t>sejarah,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baik </a:t>
            </a:r>
            <a:r>
              <a:rPr sz="1600" spc="-55" dirty="0">
                <a:latin typeface="Verdana"/>
                <a:cs typeface="Verdana"/>
              </a:rPr>
              <a:t>sejarah</a:t>
            </a:r>
            <a:r>
              <a:rPr sz="1600" spc="-95" dirty="0">
                <a:latin typeface="Verdana"/>
                <a:cs typeface="Verdana"/>
              </a:rPr>
              <a:t> </a:t>
            </a:r>
            <a:r>
              <a:rPr sz="1600" spc="-35" dirty="0">
                <a:latin typeface="Verdana"/>
                <a:cs typeface="Verdana"/>
              </a:rPr>
              <a:t>nasional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maupun</a:t>
            </a:r>
            <a:r>
              <a:rPr sz="1600" spc="-90" dirty="0">
                <a:latin typeface="Verdana"/>
                <a:cs typeface="Verdana"/>
              </a:rPr>
              <a:t> </a:t>
            </a:r>
            <a:r>
              <a:rPr sz="1600" spc="-45" dirty="0">
                <a:latin typeface="Verdana"/>
                <a:cs typeface="Verdana"/>
              </a:rPr>
              <a:t>sejarah </a:t>
            </a:r>
            <a:r>
              <a:rPr sz="1600" spc="-10" dirty="0">
                <a:latin typeface="Verdana"/>
                <a:cs typeface="Verdana"/>
              </a:rPr>
              <a:t>bangsa-</a:t>
            </a:r>
            <a:r>
              <a:rPr sz="1600" dirty="0">
                <a:latin typeface="Verdana"/>
                <a:cs typeface="Verdana"/>
              </a:rPr>
              <a:t>bangsa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lain.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2464" y="3062985"/>
            <a:ext cx="1868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Nilai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Nilai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Pancasila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2464" y="3337305"/>
            <a:ext cx="1553845" cy="208343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Calibri"/>
                <a:cs typeface="Calibri"/>
              </a:rPr>
              <a:t>Ketuhanan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Calibri"/>
                <a:cs typeface="Calibri"/>
              </a:rPr>
              <a:t>Kemanusiaan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Calibri"/>
                <a:cs typeface="Calibri"/>
              </a:rPr>
              <a:t>Persatuan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Calibri"/>
                <a:cs typeface="Calibri"/>
              </a:rPr>
              <a:t>Kerakyatan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Calibri"/>
                <a:cs typeface="Calibri"/>
              </a:rPr>
              <a:t>Keadilan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15183" y="3570732"/>
            <a:ext cx="285115" cy="1963420"/>
          </a:xfrm>
          <a:custGeom>
            <a:avLst/>
            <a:gdLst/>
            <a:ahLst/>
            <a:cxnLst/>
            <a:rect l="l" t="t" r="r" b="b"/>
            <a:pathLst>
              <a:path w="285114" h="1963420">
                <a:moveTo>
                  <a:pt x="0" y="0"/>
                </a:moveTo>
                <a:lnTo>
                  <a:pt x="55483" y="1871"/>
                </a:lnTo>
                <a:lnTo>
                  <a:pt x="100774" y="6969"/>
                </a:lnTo>
                <a:lnTo>
                  <a:pt x="131302" y="14519"/>
                </a:lnTo>
                <a:lnTo>
                  <a:pt x="142494" y="23748"/>
                </a:lnTo>
                <a:lnTo>
                  <a:pt x="142494" y="957706"/>
                </a:lnTo>
                <a:lnTo>
                  <a:pt x="153685" y="966936"/>
                </a:lnTo>
                <a:lnTo>
                  <a:pt x="184213" y="974486"/>
                </a:lnTo>
                <a:lnTo>
                  <a:pt x="229504" y="979584"/>
                </a:lnTo>
                <a:lnTo>
                  <a:pt x="284988" y="981455"/>
                </a:lnTo>
                <a:lnTo>
                  <a:pt x="229504" y="983327"/>
                </a:lnTo>
                <a:lnTo>
                  <a:pt x="184213" y="988425"/>
                </a:lnTo>
                <a:lnTo>
                  <a:pt x="153685" y="995975"/>
                </a:lnTo>
                <a:lnTo>
                  <a:pt x="142494" y="1005204"/>
                </a:lnTo>
                <a:lnTo>
                  <a:pt x="142494" y="1939162"/>
                </a:lnTo>
                <a:lnTo>
                  <a:pt x="131302" y="1948392"/>
                </a:lnTo>
                <a:lnTo>
                  <a:pt x="100774" y="1955942"/>
                </a:lnTo>
                <a:lnTo>
                  <a:pt x="55483" y="1961040"/>
                </a:lnTo>
                <a:lnTo>
                  <a:pt x="0" y="1962911"/>
                </a:lnTo>
              </a:path>
            </a:pathLst>
          </a:custGeom>
          <a:ln w="9143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19" y="2090927"/>
            <a:ext cx="10689590" cy="0"/>
          </a:xfrm>
          <a:custGeom>
            <a:avLst/>
            <a:gdLst/>
            <a:ahLst/>
            <a:cxnLst/>
            <a:rect l="l" t="t" r="r" b="b"/>
            <a:pathLst>
              <a:path w="10689590">
                <a:moveTo>
                  <a:pt x="0" y="0"/>
                </a:moveTo>
                <a:lnTo>
                  <a:pt x="10689082" y="0"/>
                </a:lnTo>
              </a:path>
            </a:pathLst>
          </a:custGeom>
          <a:ln w="12192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312664" y="2160678"/>
            <a:ext cx="6875145" cy="4697730"/>
            <a:chOff x="5312664" y="2160678"/>
            <a:chExt cx="6875145" cy="46977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8906" y="2160678"/>
              <a:ext cx="3551715" cy="24269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7736" y="2319527"/>
              <a:ext cx="3054095" cy="19293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67928" y="2502407"/>
              <a:ext cx="3619373" cy="23180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63000" y="2697479"/>
              <a:ext cx="3049524" cy="174802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12664" y="4386026"/>
              <a:ext cx="3636264" cy="247197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07736" y="4581144"/>
              <a:ext cx="3066288" cy="1905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67928" y="4533932"/>
              <a:ext cx="3619373" cy="232406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63000" y="4728972"/>
              <a:ext cx="3049524" cy="185775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153282" y="3807967"/>
            <a:ext cx="1967864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Sikap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mental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dan </a:t>
            </a:r>
            <a:r>
              <a:rPr sz="1800" b="1" dirty="0">
                <a:latin typeface="Arial"/>
                <a:cs typeface="Arial"/>
              </a:rPr>
              <a:t>tingkah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laku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serta </a:t>
            </a:r>
            <a:r>
              <a:rPr sz="1800" b="1" dirty="0">
                <a:latin typeface="Arial"/>
                <a:cs typeface="Arial"/>
              </a:rPr>
              <a:t>amal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perbuatan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6427" y="951991"/>
            <a:ext cx="10229215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ahoma"/>
                <a:cs typeface="Tahoma"/>
              </a:rPr>
              <a:t>bangsa </a:t>
            </a:r>
            <a:r>
              <a:rPr sz="1400" b="1" spc="-45" dirty="0">
                <a:latin typeface="Tahoma"/>
                <a:cs typeface="Tahoma"/>
              </a:rPr>
              <a:t>Indonesia</a:t>
            </a:r>
            <a:r>
              <a:rPr sz="1400" b="1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mendasarkan</a:t>
            </a:r>
            <a:r>
              <a:rPr sz="1400" b="1" spc="-15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pandangan</a:t>
            </a:r>
            <a:r>
              <a:rPr sz="1400" b="1" spc="5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Tahoma"/>
                <a:cs typeface="Tahoma"/>
              </a:rPr>
              <a:t>hidupnya</a:t>
            </a:r>
            <a:r>
              <a:rPr sz="1400" b="1" spc="5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dalam </a:t>
            </a:r>
            <a:r>
              <a:rPr sz="1400" b="1" spc="-25" dirty="0">
                <a:latin typeface="Tahoma"/>
                <a:cs typeface="Tahoma"/>
              </a:rPr>
              <a:t>bermasyarakat,</a:t>
            </a:r>
            <a:r>
              <a:rPr sz="1400" b="1" spc="1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berbangsa,</a:t>
            </a:r>
            <a:r>
              <a:rPr sz="1400" b="1" spc="10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dan</a:t>
            </a:r>
            <a:r>
              <a:rPr sz="1400" b="1" spc="15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bernegara</a:t>
            </a:r>
            <a:r>
              <a:rPr sz="1400" b="1" spc="15" dirty="0">
                <a:latin typeface="Tahoma"/>
                <a:cs typeface="Tahoma"/>
              </a:rPr>
              <a:t> </a:t>
            </a:r>
            <a:r>
              <a:rPr sz="1400" b="1" spc="60" dirty="0">
                <a:latin typeface="Tahoma"/>
                <a:cs typeface="Tahoma"/>
              </a:rPr>
              <a:t>pada</a:t>
            </a:r>
            <a:r>
              <a:rPr sz="1400" b="1" spc="1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suatu </a:t>
            </a:r>
            <a:r>
              <a:rPr sz="1400" b="1" dirty="0">
                <a:latin typeface="Tahoma"/>
                <a:cs typeface="Tahoma"/>
              </a:rPr>
              <a:t>asas</a:t>
            </a:r>
            <a:r>
              <a:rPr sz="1400" b="1" spc="-10" dirty="0">
                <a:latin typeface="Tahoma"/>
                <a:cs typeface="Tahoma"/>
              </a:rPr>
              <a:t> </a:t>
            </a:r>
            <a:r>
              <a:rPr sz="1400" b="1" spc="-85" dirty="0">
                <a:latin typeface="Tahoma"/>
                <a:cs typeface="Tahoma"/>
              </a:rPr>
              <a:t>kultural</a:t>
            </a:r>
            <a:r>
              <a:rPr sz="1400" b="1" spc="-15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yang</a:t>
            </a:r>
            <a:r>
              <a:rPr sz="1400" b="1" spc="-15" dirty="0">
                <a:latin typeface="Tahoma"/>
                <a:cs typeface="Tahoma"/>
              </a:rPr>
              <a:t> </a:t>
            </a:r>
            <a:r>
              <a:rPr sz="1400" b="1" spc="-55" dirty="0">
                <a:latin typeface="Tahoma"/>
                <a:cs typeface="Tahoma"/>
              </a:rPr>
              <a:t>dimiliki</a:t>
            </a:r>
            <a:r>
              <a:rPr sz="1400" b="1" spc="-15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dan</a:t>
            </a:r>
            <a:r>
              <a:rPr sz="1400" b="1" spc="-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melekat </a:t>
            </a:r>
            <a:r>
              <a:rPr sz="1400" b="1" spc="60" dirty="0">
                <a:latin typeface="Tahoma"/>
                <a:cs typeface="Tahoma"/>
              </a:rPr>
              <a:t>pada</a:t>
            </a:r>
            <a:r>
              <a:rPr sz="1400" b="1" spc="-15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bangsa</a:t>
            </a:r>
            <a:r>
              <a:rPr sz="1400" b="1" spc="-5" dirty="0">
                <a:latin typeface="Tahoma"/>
                <a:cs typeface="Tahoma"/>
              </a:rPr>
              <a:t> </a:t>
            </a:r>
            <a:r>
              <a:rPr sz="1400" b="1" spc="-120" dirty="0">
                <a:latin typeface="Tahoma"/>
                <a:cs typeface="Tahoma"/>
              </a:rPr>
              <a:t>itu</a:t>
            </a:r>
            <a:r>
              <a:rPr sz="1400" b="1" spc="-10" dirty="0">
                <a:latin typeface="Tahoma"/>
                <a:cs typeface="Tahoma"/>
              </a:rPr>
              <a:t> </a:t>
            </a:r>
            <a:r>
              <a:rPr sz="1400" b="1" spc="-60" dirty="0">
                <a:latin typeface="Tahoma"/>
                <a:cs typeface="Tahoma"/>
              </a:rPr>
              <a:t>sendiri.</a:t>
            </a:r>
            <a:r>
              <a:rPr sz="1400" b="1" dirty="0">
                <a:latin typeface="Tahoma"/>
                <a:cs typeface="Tahoma"/>
              </a:rPr>
              <a:t> </a:t>
            </a:r>
            <a:r>
              <a:rPr sz="1400" b="1" spc="-45" dirty="0">
                <a:latin typeface="Tahoma"/>
                <a:cs typeface="Tahoma"/>
              </a:rPr>
              <a:t>Nilai</a:t>
            </a:r>
            <a:r>
              <a:rPr sz="1400" b="1" spc="-10" dirty="0">
                <a:latin typeface="Tahoma"/>
                <a:cs typeface="Tahoma"/>
              </a:rPr>
              <a:t> </a:t>
            </a:r>
            <a:r>
              <a:rPr sz="1400" b="1" spc="-45" dirty="0">
                <a:latin typeface="Tahoma"/>
                <a:cs typeface="Tahoma"/>
              </a:rPr>
              <a:t>nilai</a:t>
            </a:r>
            <a:r>
              <a:rPr sz="1400" b="1" spc="-15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kenegaraan</a:t>
            </a:r>
            <a:r>
              <a:rPr sz="1400" b="1" spc="-5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dan</a:t>
            </a:r>
            <a:r>
              <a:rPr sz="1400" b="1" spc="-10" dirty="0">
                <a:latin typeface="Tahoma"/>
                <a:cs typeface="Tahoma"/>
              </a:rPr>
              <a:t> kemasyarakatan</a:t>
            </a:r>
            <a:r>
              <a:rPr sz="1400" b="1" spc="-20" dirty="0">
                <a:latin typeface="Tahoma"/>
                <a:cs typeface="Tahoma"/>
              </a:rPr>
              <a:t> yang </a:t>
            </a:r>
            <a:r>
              <a:rPr sz="1400" b="1" spc="-35" dirty="0">
                <a:latin typeface="Tahoma"/>
                <a:cs typeface="Tahoma"/>
              </a:rPr>
              <a:t>terkandung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dalam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55" dirty="0">
                <a:latin typeface="Tahoma"/>
                <a:cs typeface="Tahoma"/>
              </a:rPr>
              <a:t>sila-sila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Pancasila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bukan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hanya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60" dirty="0">
                <a:latin typeface="Tahoma"/>
                <a:cs typeface="Tahoma"/>
              </a:rPr>
              <a:t>hasil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35" dirty="0">
                <a:latin typeface="Tahoma"/>
                <a:cs typeface="Tahoma"/>
              </a:rPr>
              <a:t>konseptual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25" dirty="0">
                <a:latin typeface="Tahoma"/>
                <a:cs typeface="Tahoma"/>
              </a:rPr>
              <a:t>seseorang saja,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Tahoma"/>
                <a:cs typeface="Tahoma"/>
              </a:rPr>
              <a:t>melainkan</a:t>
            </a:r>
            <a:r>
              <a:rPr sz="1400" b="1" spc="-5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juga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55" dirty="0">
                <a:latin typeface="Tahoma"/>
                <a:cs typeface="Tahoma"/>
              </a:rPr>
              <a:t>hasil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karya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besar </a:t>
            </a:r>
            <a:r>
              <a:rPr sz="1400" b="1" dirty="0">
                <a:latin typeface="Tahoma"/>
                <a:cs typeface="Tahoma"/>
              </a:rPr>
              <a:t>bangsa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45" dirty="0">
                <a:latin typeface="Tahoma"/>
                <a:cs typeface="Tahoma"/>
              </a:rPr>
              <a:t>Indonesia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sendiri,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yang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diangkat </a:t>
            </a:r>
            <a:r>
              <a:rPr sz="1400" b="1" spc="-20" dirty="0">
                <a:latin typeface="Tahoma"/>
                <a:cs typeface="Tahoma"/>
              </a:rPr>
              <a:t>dari</a:t>
            </a:r>
            <a:r>
              <a:rPr sz="1400" b="1" spc="-10" dirty="0">
                <a:latin typeface="Tahoma"/>
                <a:cs typeface="Tahoma"/>
              </a:rPr>
              <a:t> </a:t>
            </a:r>
            <a:r>
              <a:rPr sz="1400" b="1" spc="-55" dirty="0">
                <a:latin typeface="Tahoma"/>
                <a:cs typeface="Tahoma"/>
              </a:rPr>
              <a:t>nilai-</a:t>
            </a:r>
            <a:r>
              <a:rPr sz="1400" b="1" spc="-50" dirty="0">
                <a:latin typeface="Tahoma"/>
                <a:cs typeface="Tahoma"/>
              </a:rPr>
              <a:t>nilai</a:t>
            </a:r>
            <a:r>
              <a:rPr sz="1400" b="1" spc="-15" dirty="0">
                <a:latin typeface="Tahoma"/>
                <a:cs typeface="Tahoma"/>
              </a:rPr>
              <a:t> </a:t>
            </a:r>
            <a:r>
              <a:rPr sz="1400" b="1" spc="-75" dirty="0">
                <a:latin typeface="Tahoma"/>
                <a:cs typeface="Tahoma"/>
              </a:rPr>
              <a:t>kultural</a:t>
            </a:r>
            <a:r>
              <a:rPr sz="1400" b="1" spc="-10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yang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55" dirty="0">
                <a:latin typeface="Tahoma"/>
                <a:cs typeface="Tahoma"/>
              </a:rPr>
              <a:t>dimiliki</a:t>
            </a:r>
            <a:r>
              <a:rPr sz="1400" b="1" spc="-10" dirty="0">
                <a:latin typeface="Tahoma"/>
                <a:cs typeface="Tahoma"/>
              </a:rPr>
              <a:t> oleh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bangsa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45" dirty="0">
                <a:latin typeface="Tahoma"/>
                <a:cs typeface="Tahoma"/>
              </a:rPr>
              <a:t>Indonesia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55" dirty="0">
                <a:latin typeface="Tahoma"/>
                <a:cs typeface="Tahoma"/>
              </a:rPr>
              <a:t>sendiri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melalui </a:t>
            </a:r>
            <a:r>
              <a:rPr sz="1400" b="1" spc="-40" dirty="0">
                <a:latin typeface="Tahoma"/>
                <a:cs typeface="Tahoma"/>
              </a:rPr>
              <a:t>proses</a:t>
            </a:r>
            <a:r>
              <a:rPr sz="1400" b="1" spc="-5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refleksi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filosofis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SUMBER</a:t>
            </a:r>
            <a:r>
              <a:rPr spc="-135" dirty="0"/>
              <a:t> </a:t>
            </a:r>
            <a:r>
              <a:rPr spc="-315" dirty="0"/>
              <a:t>SOSIOLOGIS</a:t>
            </a:r>
            <a:r>
              <a:rPr spc="-125" dirty="0"/>
              <a:t> </a:t>
            </a:r>
            <a:r>
              <a:rPr spc="-375" dirty="0"/>
              <a:t>PENDIDIKAN</a:t>
            </a:r>
            <a:r>
              <a:rPr spc="-130" dirty="0"/>
              <a:t> </a:t>
            </a:r>
            <a:r>
              <a:rPr spc="-290" dirty="0"/>
              <a:t>PANCASILA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25656" y="6665974"/>
            <a:ext cx="427990" cy="191770"/>
          </a:xfrm>
          <a:custGeom>
            <a:avLst/>
            <a:gdLst/>
            <a:ahLst/>
            <a:cxnLst/>
            <a:rect l="l" t="t" r="r" b="b"/>
            <a:pathLst>
              <a:path w="427990" h="191770">
                <a:moveTo>
                  <a:pt x="427863" y="0"/>
                </a:moveTo>
                <a:lnTo>
                  <a:pt x="0" y="0"/>
                </a:lnTo>
                <a:lnTo>
                  <a:pt x="0" y="191643"/>
                </a:lnTo>
                <a:lnTo>
                  <a:pt x="427863" y="191643"/>
                </a:lnTo>
                <a:lnTo>
                  <a:pt x="427863" y="0"/>
                </a:lnTo>
                <a:close/>
              </a:path>
            </a:pathLst>
          </a:custGeom>
          <a:solidFill>
            <a:srgbClr val="00518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665975"/>
            <a:ext cx="10972800" cy="1920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027664" y="6665974"/>
            <a:ext cx="290830" cy="191770"/>
          </a:xfrm>
          <a:custGeom>
            <a:avLst/>
            <a:gdLst/>
            <a:ahLst/>
            <a:cxnLst/>
            <a:rect l="l" t="t" r="r" b="b"/>
            <a:pathLst>
              <a:path w="290829" h="191770">
                <a:moveTo>
                  <a:pt x="290702" y="0"/>
                </a:moveTo>
                <a:lnTo>
                  <a:pt x="0" y="0"/>
                </a:lnTo>
                <a:lnTo>
                  <a:pt x="0" y="191643"/>
                </a:lnTo>
                <a:lnTo>
                  <a:pt x="290702" y="191643"/>
                </a:lnTo>
                <a:lnTo>
                  <a:pt x="290702" y="0"/>
                </a:lnTo>
                <a:close/>
              </a:path>
            </a:pathLst>
          </a:custGeom>
          <a:solidFill>
            <a:srgbClr val="0051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376659" y="6665974"/>
            <a:ext cx="292735" cy="191770"/>
          </a:xfrm>
          <a:custGeom>
            <a:avLst/>
            <a:gdLst/>
            <a:ahLst/>
            <a:cxnLst/>
            <a:rect l="l" t="t" r="r" b="b"/>
            <a:pathLst>
              <a:path w="292734" h="191770">
                <a:moveTo>
                  <a:pt x="292480" y="0"/>
                </a:moveTo>
                <a:lnTo>
                  <a:pt x="0" y="0"/>
                </a:lnTo>
                <a:lnTo>
                  <a:pt x="0" y="191643"/>
                </a:lnTo>
                <a:lnTo>
                  <a:pt x="292480" y="191643"/>
                </a:lnTo>
                <a:lnTo>
                  <a:pt x="292480" y="0"/>
                </a:lnTo>
                <a:close/>
              </a:path>
            </a:pathLst>
          </a:custGeom>
          <a:solidFill>
            <a:srgbClr val="00518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82296" y="0"/>
            <a:ext cx="629920" cy="820419"/>
            <a:chOff x="82296" y="0"/>
            <a:chExt cx="629920" cy="82041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96" y="0"/>
              <a:ext cx="629412" cy="614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160" y="513587"/>
              <a:ext cx="519684" cy="21640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203" y="601980"/>
              <a:ext cx="553212" cy="217932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1708" y="1356360"/>
            <a:ext cx="1368552" cy="70256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607689" y="3417570"/>
            <a:ext cx="2702560" cy="15144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83185">
              <a:lnSpc>
                <a:spcPct val="101299"/>
              </a:lnSpc>
              <a:spcBef>
                <a:spcPts val="70"/>
              </a:spcBef>
            </a:pPr>
            <a:r>
              <a:rPr sz="1600" dirty="0">
                <a:latin typeface="Calibri"/>
                <a:cs typeface="Calibri"/>
              </a:rPr>
              <a:t>Hal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tersebut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berarti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pendekatan </a:t>
            </a:r>
            <a:r>
              <a:rPr sz="1600" spc="-10" dirty="0">
                <a:latin typeface="Calibri"/>
                <a:cs typeface="Calibri"/>
              </a:rPr>
              <a:t>yuridis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(hukum)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merupakan </a:t>
            </a:r>
            <a:r>
              <a:rPr sz="1600" dirty="0">
                <a:latin typeface="Calibri"/>
                <a:cs typeface="Calibri"/>
              </a:rPr>
              <a:t>salah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satu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pendekatan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utama </a:t>
            </a:r>
            <a:r>
              <a:rPr sz="1600" dirty="0">
                <a:latin typeface="Calibri"/>
                <a:cs typeface="Calibri"/>
              </a:rPr>
              <a:t>dalam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pengembangan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atau pengayaan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materi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20" dirty="0">
                <a:latin typeface="Calibri"/>
                <a:cs typeface="Calibri"/>
              </a:rPr>
              <a:t>mata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kuliah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pendidikan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Pancasila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331464" y="2238755"/>
            <a:ext cx="4361815" cy="3241675"/>
            <a:chOff x="3331464" y="2238755"/>
            <a:chExt cx="4361815" cy="3241675"/>
          </a:xfrm>
        </p:grpSpPr>
        <p:sp>
          <p:nvSpPr>
            <p:cNvPr id="13" name="object 13"/>
            <p:cNvSpPr/>
            <p:nvPr/>
          </p:nvSpPr>
          <p:spPr>
            <a:xfrm>
              <a:off x="3350514" y="2257805"/>
              <a:ext cx="3837304" cy="3203575"/>
            </a:xfrm>
            <a:custGeom>
              <a:avLst/>
              <a:gdLst/>
              <a:ahLst/>
              <a:cxnLst/>
              <a:rect l="l" t="t" r="r" b="b"/>
              <a:pathLst>
                <a:path w="3837304" h="3203575">
                  <a:moveTo>
                    <a:pt x="0" y="533781"/>
                  </a:moveTo>
                  <a:lnTo>
                    <a:pt x="2159" y="485267"/>
                  </a:lnTo>
                  <a:lnTo>
                    <a:pt x="8636" y="437896"/>
                  </a:lnTo>
                  <a:lnTo>
                    <a:pt x="19050" y="391922"/>
                  </a:lnTo>
                  <a:lnTo>
                    <a:pt x="33400" y="347599"/>
                  </a:lnTo>
                  <a:lnTo>
                    <a:pt x="51308" y="304927"/>
                  </a:lnTo>
                  <a:lnTo>
                    <a:pt x="72898" y="264414"/>
                  </a:lnTo>
                  <a:lnTo>
                    <a:pt x="97662" y="225933"/>
                  </a:lnTo>
                  <a:lnTo>
                    <a:pt x="125475" y="189865"/>
                  </a:lnTo>
                  <a:lnTo>
                    <a:pt x="156210" y="156337"/>
                  </a:lnTo>
                  <a:lnTo>
                    <a:pt x="189737" y="125603"/>
                  </a:lnTo>
                  <a:lnTo>
                    <a:pt x="225806" y="97663"/>
                  </a:lnTo>
                  <a:lnTo>
                    <a:pt x="264287" y="72898"/>
                  </a:lnTo>
                  <a:lnTo>
                    <a:pt x="304800" y="51435"/>
                  </a:lnTo>
                  <a:lnTo>
                    <a:pt x="347345" y="33401"/>
                  </a:lnTo>
                  <a:lnTo>
                    <a:pt x="391668" y="19050"/>
                  </a:lnTo>
                  <a:lnTo>
                    <a:pt x="437641" y="8636"/>
                  </a:lnTo>
                  <a:lnTo>
                    <a:pt x="485013" y="2159"/>
                  </a:lnTo>
                  <a:lnTo>
                    <a:pt x="533526" y="0"/>
                  </a:lnTo>
                  <a:lnTo>
                    <a:pt x="3303396" y="0"/>
                  </a:lnTo>
                  <a:lnTo>
                    <a:pt x="3351911" y="2159"/>
                  </a:lnTo>
                  <a:lnTo>
                    <a:pt x="3399282" y="8636"/>
                  </a:lnTo>
                  <a:lnTo>
                    <a:pt x="3445256" y="19050"/>
                  </a:lnTo>
                  <a:lnTo>
                    <a:pt x="3489579" y="33401"/>
                  </a:lnTo>
                  <a:lnTo>
                    <a:pt x="3532124" y="51435"/>
                  </a:lnTo>
                  <a:lnTo>
                    <a:pt x="3572637" y="72898"/>
                  </a:lnTo>
                  <a:lnTo>
                    <a:pt x="3611117" y="97663"/>
                  </a:lnTo>
                  <a:lnTo>
                    <a:pt x="3647186" y="125603"/>
                  </a:lnTo>
                  <a:lnTo>
                    <a:pt x="3680714" y="156337"/>
                  </a:lnTo>
                  <a:lnTo>
                    <a:pt x="3711447" y="189865"/>
                  </a:lnTo>
                  <a:lnTo>
                    <a:pt x="3739261" y="225933"/>
                  </a:lnTo>
                  <a:lnTo>
                    <a:pt x="3764026" y="264414"/>
                  </a:lnTo>
                  <a:lnTo>
                    <a:pt x="3785616" y="304927"/>
                  </a:lnTo>
                  <a:lnTo>
                    <a:pt x="3803522" y="347599"/>
                  </a:lnTo>
                  <a:lnTo>
                    <a:pt x="3817874" y="391922"/>
                  </a:lnTo>
                  <a:lnTo>
                    <a:pt x="3828288" y="437896"/>
                  </a:lnTo>
                  <a:lnTo>
                    <a:pt x="3834765" y="485267"/>
                  </a:lnTo>
                  <a:lnTo>
                    <a:pt x="3836924" y="533781"/>
                  </a:lnTo>
                  <a:lnTo>
                    <a:pt x="3836924" y="2669159"/>
                  </a:lnTo>
                  <a:lnTo>
                    <a:pt x="3834765" y="2717800"/>
                  </a:lnTo>
                  <a:lnTo>
                    <a:pt x="3828288" y="2765171"/>
                  </a:lnTo>
                  <a:lnTo>
                    <a:pt x="3817874" y="2811145"/>
                  </a:lnTo>
                  <a:lnTo>
                    <a:pt x="3803522" y="2855468"/>
                  </a:lnTo>
                  <a:lnTo>
                    <a:pt x="3785616" y="2898140"/>
                  </a:lnTo>
                  <a:lnTo>
                    <a:pt x="3764026" y="2938653"/>
                  </a:lnTo>
                  <a:lnTo>
                    <a:pt x="3739261" y="2977134"/>
                  </a:lnTo>
                  <a:lnTo>
                    <a:pt x="3711447" y="3013202"/>
                  </a:lnTo>
                  <a:lnTo>
                    <a:pt x="3680714" y="3046730"/>
                  </a:lnTo>
                  <a:lnTo>
                    <a:pt x="3647186" y="3077464"/>
                  </a:lnTo>
                  <a:lnTo>
                    <a:pt x="3611117" y="3105404"/>
                  </a:lnTo>
                  <a:lnTo>
                    <a:pt x="3572637" y="3130169"/>
                  </a:lnTo>
                  <a:lnTo>
                    <a:pt x="3532124" y="3151632"/>
                  </a:lnTo>
                  <a:lnTo>
                    <a:pt x="3489579" y="3169666"/>
                  </a:lnTo>
                  <a:lnTo>
                    <a:pt x="3445256" y="3184017"/>
                  </a:lnTo>
                  <a:lnTo>
                    <a:pt x="3399282" y="3194431"/>
                  </a:lnTo>
                  <a:lnTo>
                    <a:pt x="3351911" y="3200908"/>
                  </a:lnTo>
                  <a:lnTo>
                    <a:pt x="3303396" y="3203067"/>
                  </a:lnTo>
                  <a:lnTo>
                    <a:pt x="533526" y="3203067"/>
                  </a:lnTo>
                  <a:lnTo>
                    <a:pt x="485013" y="3200908"/>
                  </a:lnTo>
                  <a:lnTo>
                    <a:pt x="437641" y="3194431"/>
                  </a:lnTo>
                  <a:lnTo>
                    <a:pt x="391668" y="3184017"/>
                  </a:lnTo>
                  <a:lnTo>
                    <a:pt x="347345" y="3169666"/>
                  </a:lnTo>
                  <a:lnTo>
                    <a:pt x="304800" y="3151632"/>
                  </a:lnTo>
                  <a:lnTo>
                    <a:pt x="264287" y="3130169"/>
                  </a:lnTo>
                  <a:lnTo>
                    <a:pt x="225806" y="3105404"/>
                  </a:lnTo>
                  <a:lnTo>
                    <a:pt x="189737" y="3077464"/>
                  </a:lnTo>
                  <a:lnTo>
                    <a:pt x="156210" y="3046730"/>
                  </a:lnTo>
                  <a:lnTo>
                    <a:pt x="125475" y="3013202"/>
                  </a:lnTo>
                  <a:lnTo>
                    <a:pt x="97662" y="2977134"/>
                  </a:lnTo>
                  <a:lnTo>
                    <a:pt x="72898" y="2938653"/>
                  </a:lnTo>
                  <a:lnTo>
                    <a:pt x="51308" y="2898140"/>
                  </a:lnTo>
                  <a:lnTo>
                    <a:pt x="33400" y="2855468"/>
                  </a:lnTo>
                  <a:lnTo>
                    <a:pt x="19050" y="2811145"/>
                  </a:lnTo>
                  <a:lnTo>
                    <a:pt x="8636" y="2765171"/>
                  </a:lnTo>
                  <a:lnTo>
                    <a:pt x="2159" y="2717800"/>
                  </a:lnTo>
                  <a:lnTo>
                    <a:pt x="0" y="2669159"/>
                  </a:lnTo>
                  <a:lnTo>
                    <a:pt x="0" y="533781"/>
                  </a:lnTo>
                  <a:close/>
                </a:path>
              </a:pathLst>
            </a:custGeom>
            <a:ln w="381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87184" y="2685287"/>
              <a:ext cx="506095" cy="2419985"/>
            </a:xfrm>
            <a:custGeom>
              <a:avLst/>
              <a:gdLst/>
              <a:ahLst/>
              <a:cxnLst/>
              <a:rect l="l" t="t" r="r" b="b"/>
              <a:pathLst>
                <a:path w="506095" h="2419985">
                  <a:moveTo>
                    <a:pt x="0" y="0"/>
                  </a:moveTo>
                  <a:lnTo>
                    <a:pt x="0" y="2419604"/>
                  </a:lnTo>
                  <a:lnTo>
                    <a:pt x="505841" y="12098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30256" y="2699104"/>
              <a:ext cx="1147396" cy="60333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74920" y="2567939"/>
              <a:ext cx="1042415" cy="765048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2542032" y="2619755"/>
            <a:ext cx="506095" cy="3075305"/>
          </a:xfrm>
          <a:custGeom>
            <a:avLst/>
            <a:gdLst/>
            <a:ahLst/>
            <a:cxnLst/>
            <a:rect l="l" t="t" r="r" b="b"/>
            <a:pathLst>
              <a:path w="506094" h="3075304">
                <a:moveTo>
                  <a:pt x="0" y="0"/>
                </a:moveTo>
                <a:lnTo>
                  <a:pt x="0" y="3075063"/>
                </a:lnTo>
                <a:lnTo>
                  <a:pt x="505841" y="1537589"/>
                </a:lnTo>
                <a:lnTo>
                  <a:pt x="0" y="0"/>
                </a:lnTo>
                <a:close/>
              </a:path>
            </a:pathLst>
          </a:custGeom>
          <a:solidFill>
            <a:srgbClr val="1F3862">
              <a:alpha val="1607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014716" y="3995673"/>
            <a:ext cx="3723640" cy="2258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6545" marR="175895" algn="ctr">
              <a:lnSpc>
                <a:spcPct val="100000"/>
              </a:lnSpc>
              <a:spcBef>
                <a:spcPts val="95"/>
              </a:spcBef>
            </a:pPr>
            <a:r>
              <a:rPr sz="1600" i="1" spc="-20" dirty="0">
                <a:latin typeface="Calibri"/>
                <a:cs typeface="Calibri"/>
              </a:rPr>
              <a:t>mahasiswa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dapat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berperan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serta</a:t>
            </a:r>
            <a:r>
              <a:rPr sz="1600" i="1" spc="-7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dalam </a:t>
            </a:r>
            <a:r>
              <a:rPr sz="1600" i="1" spc="-20" dirty="0">
                <a:latin typeface="Calibri"/>
                <a:cs typeface="Calibri"/>
              </a:rPr>
              <a:t>mewujudkan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negara</a:t>
            </a:r>
            <a:r>
              <a:rPr sz="1600" i="1" spc="-5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hukum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formal</a:t>
            </a:r>
            <a:r>
              <a:rPr sz="1600" i="1" spc="-65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dan </a:t>
            </a:r>
            <a:r>
              <a:rPr sz="1600" i="1" spc="-10" dirty="0">
                <a:latin typeface="Calibri"/>
                <a:cs typeface="Calibri"/>
              </a:rPr>
              <a:t>material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alibri"/>
                <a:cs typeface="Calibri"/>
              </a:rPr>
              <a:t>Dapat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terwujudnya</a:t>
            </a:r>
            <a:endParaRPr sz="1600">
              <a:latin typeface="Calibri"/>
              <a:cs typeface="Calibri"/>
            </a:endParaRPr>
          </a:p>
          <a:p>
            <a:pPr marL="2863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86385" algn="l"/>
              </a:tabLst>
            </a:pPr>
            <a:r>
              <a:rPr sz="1600" spc="-30" dirty="0">
                <a:latin typeface="Calibri"/>
                <a:cs typeface="Calibri"/>
              </a:rPr>
              <a:t>keteraturan</a:t>
            </a:r>
            <a:r>
              <a:rPr sz="1600" spc="-10" dirty="0">
                <a:latin typeface="Calibri"/>
                <a:cs typeface="Calibri"/>
              </a:rPr>
              <a:t> sosial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(social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order)</a:t>
            </a:r>
            <a:endParaRPr sz="1600">
              <a:latin typeface="Calibri"/>
              <a:cs typeface="Calibri"/>
            </a:endParaRPr>
          </a:p>
          <a:p>
            <a:pPr marL="286385" marR="5080" indent="-2870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86385" algn="l"/>
              </a:tabLst>
            </a:pPr>
            <a:r>
              <a:rPr sz="1600" spc="-10" dirty="0">
                <a:latin typeface="Calibri"/>
                <a:cs typeface="Calibri"/>
              </a:rPr>
              <a:t>terbangun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suatu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kondisi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bagi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terwujudnya </a:t>
            </a:r>
            <a:r>
              <a:rPr sz="1600" spc="-20" dirty="0">
                <a:latin typeface="Calibri"/>
                <a:cs typeface="Calibri"/>
              </a:rPr>
              <a:t>peningkatan</a:t>
            </a:r>
            <a:r>
              <a:rPr sz="1600" spc="-25" dirty="0">
                <a:latin typeface="Calibri"/>
                <a:cs typeface="Calibri"/>
              </a:rPr>
              <a:t> kesejahteraan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rakyat </a:t>
            </a:r>
            <a:r>
              <a:rPr sz="1600" spc="-20" dirty="0">
                <a:latin typeface="Calibri"/>
                <a:cs typeface="Calibri"/>
              </a:rPr>
              <a:t>sebagaimana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yang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dicita-</a:t>
            </a:r>
            <a:r>
              <a:rPr sz="1600" spc="-20" dirty="0">
                <a:latin typeface="Calibri"/>
                <a:cs typeface="Calibri"/>
              </a:rPr>
              <a:t>citakan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oleh </a:t>
            </a:r>
            <a:r>
              <a:rPr sz="1600" spc="-20" dirty="0">
                <a:latin typeface="Calibri"/>
                <a:cs typeface="Calibri"/>
              </a:rPr>
              <a:t>para </a:t>
            </a:r>
            <a:r>
              <a:rPr sz="1600" spc="-10" dirty="0">
                <a:latin typeface="Calibri"/>
                <a:cs typeface="Calibri"/>
              </a:rPr>
              <a:t>pendiri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bangsa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990069" y="6684974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33359" y="1388363"/>
            <a:ext cx="4020820" cy="812800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6350" rIns="0" bIns="0" rtlCol="0">
            <a:spAutoFit/>
          </a:bodyPr>
          <a:lstStyle/>
          <a:p>
            <a:pPr marL="239395" marR="221615">
              <a:lnSpc>
                <a:spcPts val="2400"/>
              </a:lnSpc>
              <a:spcBef>
                <a:spcPts val="50"/>
              </a:spcBef>
            </a:pP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Urgensi</a:t>
            </a:r>
            <a:r>
              <a:rPr sz="20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pendekatan</a:t>
            </a:r>
            <a:r>
              <a:rPr sz="2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Yuridis</a:t>
            </a:r>
            <a:r>
              <a:rPr sz="2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dalam 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penegakan</a:t>
            </a:r>
            <a:r>
              <a:rPr sz="20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UU</a:t>
            </a:r>
            <a:r>
              <a:rPr sz="20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(Law</a:t>
            </a:r>
            <a:r>
              <a:rPr sz="20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enforcement)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7931" y="2295144"/>
            <a:ext cx="2318385" cy="378587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298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5"/>
              </a:spcBef>
            </a:pPr>
            <a:endParaRPr sz="1600">
              <a:latin typeface="Times New Roman"/>
              <a:cs typeface="Times New Roman"/>
            </a:endParaRPr>
          </a:p>
          <a:p>
            <a:pPr marL="338455" marR="335915" indent="-287020">
              <a:lnSpc>
                <a:spcPct val="100000"/>
              </a:lnSpc>
              <a:buFont typeface="Arial MT"/>
              <a:buChar char="•"/>
              <a:tabLst>
                <a:tab pos="338455" algn="l"/>
              </a:tabLst>
            </a:pPr>
            <a:r>
              <a:rPr sz="1600" spc="-10" dirty="0">
                <a:latin typeface="Calibri"/>
                <a:cs typeface="Calibri"/>
              </a:rPr>
              <a:t>Negara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Republik </a:t>
            </a:r>
            <a:r>
              <a:rPr sz="1600" dirty="0">
                <a:latin typeface="Calibri"/>
                <a:cs typeface="Calibri"/>
              </a:rPr>
              <a:t>Indonesia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adalah negara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hukum (rechtsstaat) pemerintahan berdasarkan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hukum </a:t>
            </a:r>
            <a:r>
              <a:rPr sz="1600" dirty="0">
                <a:latin typeface="Calibri"/>
                <a:cs typeface="Calibri"/>
              </a:rPr>
              <a:t>(rule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law).</a:t>
            </a:r>
            <a:endParaRPr sz="1600">
              <a:latin typeface="Calibri"/>
              <a:cs typeface="Calibri"/>
            </a:endParaRPr>
          </a:p>
          <a:p>
            <a:pPr marL="338455" marR="5270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38455" algn="l"/>
              </a:tabLst>
            </a:pPr>
            <a:r>
              <a:rPr sz="1600" spc="-10" dirty="0">
                <a:latin typeface="Calibri"/>
                <a:cs typeface="Calibri"/>
              </a:rPr>
              <a:t>Pancasila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sebagai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dasar negara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merupakan </a:t>
            </a:r>
            <a:r>
              <a:rPr sz="1600" dirty="0">
                <a:latin typeface="Calibri"/>
                <a:cs typeface="Calibri"/>
              </a:rPr>
              <a:t>landasan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sumber </a:t>
            </a:r>
            <a:r>
              <a:rPr sz="1600" dirty="0">
                <a:latin typeface="Calibri"/>
                <a:cs typeface="Calibri"/>
              </a:rPr>
              <a:t>dalam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membentuk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dan </a:t>
            </a:r>
            <a:r>
              <a:rPr sz="1600" spc="-10" dirty="0">
                <a:latin typeface="Calibri"/>
                <a:cs typeface="Calibri"/>
              </a:rPr>
              <a:t>menyelenggarakan negara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hukum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tersebut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SUMBER</a:t>
            </a:r>
            <a:r>
              <a:rPr spc="-140" dirty="0"/>
              <a:t> </a:t>
            </a:r>
            <a:r>
              <a:rPr spc="-459" dirty="0"/>
              <a:t>YURIDIS</a:t>
            </a:r>
            <a:r>
              <a:rPr spc="-140" dirty="0"/>
              <a:t> </a:t>
            </a:r>
            <a:r>
              <a:rPr spc="-375" dirty="0"/>
              <a:t>PENDIDIKAN</a:t>
            </a:r>
            <a:r>
              <a:rPr spc="-130" dirty="0"/>
              <a:t> </a:t>
            </a:r>
            <a:r>
              <a:rPr spc="-290" dirty="0"/>
              <a:t>PANCASILA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106156" y="2198623"/>
            <a:ext cx="3462654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Calibri"/>
                <a:cs typeface="Calibri"/>
              </a:rPr>
              <a:t>Penegakan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hukum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ini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hanya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akan</a:t>
            </a:r>
            <a:endParaRPr sz="150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sz="1500" spc="-20" dirty="0">
                <a:latin typeface="Calibri"/>
                <a:cs typeface="Calibri"/>
              </a:rPr>
              <a:t>efektif, </a:t>
            </a:r>
            <a:r>
              <a:rPr sz="1500" dirty="0">
                <a:latin typeface="Calibri"/>
                <a:cs typeface="Calibri"/>
              </a:rPr>
              <a:t>apabila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didukung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oleh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kesadaran </a:t>
            </a:r>
            <a:r>
              <a:rPr sz="1500" dirty="0">
                <a:latin typeface="Calibri"/>
                <a:cs typeface="Calibri"/>
              </a:rPr>
              <a:t>hukum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warga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negara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terutama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dari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kalangan intelektualnya.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827264" y="2171725"/>
            <a:ext cx="4032885" cy="4234815"/>
            <a:chOff x="7827264" y="2171725"/>
            <a:chExt cx="4032885" cy="4234815"/>
          </a:xfrm>
        </p:grpSpPr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35119" y="3240023"/>
              <a:ext cx="714329" cy="73151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833360" y="2177821"/>
              <a:ext cx="4020185" cy="4222750"/>
            </a:xfrm>
            <a:custGeom>
              <a:avLst/>
              <a:gdLst/>
              <a:ahLst/>
              <a:cxnLst/>
              <a:rect l="l" t="t" r="r" b="b"/>
              <a:pathLst>
                <a:path w="4020184" h="4222750">
                  <a:moveTo>
                    <a:pt x="0" y="4222496"/>
                  </a:moveTo>
                  <a:lnTo>
                    <a:pt x="4020184" y="4222496"/>
                  </a:lnTo>
                  <a:lnTo>
                    <a:pt x="4020184" y="0"/>
                  </a:lnTo>
                  <a:lnTo>
                    <a:pt x="0" y="0"/>
                  </a:lnTo>
                  <a:lnTo>
                    <a:pt x="0" y="4222496"/>
                  </a:lnTo>
                  <a:close/>
                </a:path>
              </a:pathLst>
            </a:custGeom>
            <a:ln w="12192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18119" y="1147572"/>
            <a:ext cx="2247900" cy="3931920"/>
            <a:chOff x="7818119" y="1147572"/>
            <a:chExt cx="2247900" cy="3931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7166" y="1147572"/>
              <a:ext cx="1599307" cy="2057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19" y="2831592"/>
              <a:ext cx="2247900" cy="2247899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0" y="5411723"/>
            <a:ext cx="5977255" cy="1233170"/>
          </a:xfrm>
          <a:custGeom>
            <a:avLst/>
            <a:gdLst/>
            <a:ahLst/>
            <a:cxnLst/>
            <a:rect l="l" t="t" r="r" b="b"/>
            <a:pathLst>
              <a:path w="5977255" h="1233170">
                <a:moveTo>
                  <a:pt x="5977128" y="0"/>
                </a:moveTo>
                <a:lnTo>
                  <a:pt x="0" y="0"/>
                </a:lnTo>
                <a:lnTo>
                  <a:pt x="0" y="1232916"/>
                </a:lnTo>
                <a:lnTo>
                  <a:pt x="5977128" y="1232916"/>
                </a:lnTo>
                <a:lnTo>
                  <a:pt x="5977128" y="0"/>
                </a:lnTo>
                <a:close/>
              </a:path>
            </a:pathLst>
          </a:custGeom>
          <a:solidFill>
            <a:srgbClr val="002C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52017" y="5514847"/>
            <a:ext cx="41541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2250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solidFill>
                  <a:srgbClr val="FFFFFF"/>
                </a:solidFill>
                <a:latin typeface="PMingLiU-ExtB"/>
                <a:cs typeface="PMingLiU-ExtB"/>
              </a:rPr>
              <a:t>Salah</a:t>
            </a:r>
            <a:r>
              <a:rPr sz="1800" spc="285" dirty="0">
                <a:solidFill>
                  <a:srgbClr val="FFFFFF"/>
                </a:solidFill>
                <a:latin typeface="PMingLiU-ExtB"/>
                <a:cs typeface="PMingLiU-ExtB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PMingLiU-ExtB"/>
                <a:cs typeface="PMingLiU-ExtB"/>
              </a:rPr>
              <a:t>satu</a:t>
            </a:r>
            <a:r>
              <a:rPr sz="1800" spc="275" dirty="0">
                <a:solidFill>
                  <a:srgbClr val="FFFFFF"/>
                </a:solidFill>
                <a:latin typeface="PMingLiU-ExtB"/>
                <a:cs typeface="PMingLiU-ExtB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PMingLiU-ExtB"/>
                <a:cs typeface="PMingLiU-ExtB"/>
              </a:rPr>
              <a:t>sumber</a:t>
            </a:r>
            <a:r>
              <a:rPr sz="1800" spc="300" dirty="0">
                <a:solidFill>
                  <a:srgbClr val="FFFFFF"/>
                </a:solidFill>
                <a:latin typeface="PMingLiU-ExtB"/>
                <a:cs typeface="PMingLiU-ExtB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PMingLiU-ExtB"/>
                <a:cs typeface="PMingLiU-ExtB"/>
              </a:rPr>
              <a:t>pengayaan</a:t>
            </a:r>
            <a:r>
              <a:rPr sz="1800" spc="325" dirty="0">
                <a:solidFill>
                  <a:srgbClr val="FFFFFF"/>
                </a:solidFill>
                <a:latin typeface="PMingLiU-ExtB"/>
                <a:cs typeface="PMingLiU-ExtB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PMingLiU-ExtB"/>
                <a:cs typeface="PMingLiU-ExtB"/>
              </a:rPr>
              <a:t>materi </a:t>
            </a:r>
            <a:r>
              <a:rPr sz="1800" spc="95" dirty="0">
                <a:solidFill>
                  <a:srgbClr val="FFFFFF"/>
                </a:solidFill>
                <a:latin typeface="PMingLiU-ExtB"/>
                <a:cs typeface="PMingLiU-ExtB"/>
              </a:rPr>
              <a:t>pendidikan</a:t>
            </a:r>
            <a:r>
              <a:rPr sz="1800" spc="335" dirty="0">
                <a:solidFill>
                  <a:srgbClr val="FFFFFF"/>
                </a:solidFill>
                <a:latin typeface="PMingLiU-ExtB"/>
                <a:cs typeface="PMingLiU-ExtB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PMingLiU-ExtB"/>
                <a:cs typeface="PMingLiU-ExtB"/>
              </a:rPr>
              <a:t>Pancasila</a:t>
            </a:r>
            <a:r>
              <a:rPr sz="1800" spc="330" dirty="0">
                <a:solidFill>
                  <a:srgbClr val="FFFFFF"/>
                </a:solidFill>
                <a:latin typeface="PMingLiU-ExtB"/>
                <a:cs typeface="PMingLiU-ExtB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PMingLiU-ExtB"/>
                <a:cs typeface="PMingLiU-ExtB"/>
              </a:rPr>
              <a:t>adalah</a:t>
            </a:r>
            <a:r>
              <a:rPr sz="1800" spc="310" dirty="0">
                <a:solidFill>
                  <a:srgbClr val="FFFFFF"/>
                </a:solidFill>
                <a:latin typeface="PMingLiU-ExtB"/>
                <a:cs typeface="PMingLiU-ExtB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PMingLiU-ExtB"/>
                <a:cs typeface="PMingLiU-ExtB"/>
              </a:rPr>
              <a:t>berasal</a:t>
            </a:r>
            <a:r>
              <a:rPr sz="1800" spc="290" dirty="0">
                <a:solidFill>
                  <a:srgbClr val="FFFFFF"/>
                </a:solidFill>
                <a:latin typeface="PMingLiU-ExtB"/>
                <a:cs typeface="PMingLiU-ExtB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PMingLiU-ExtB"/>
                <a:cs typeface="PMingLiU-ExtB"/>
              </a:rPr>
              <a:t>dari</a:t>
            </a:r>
            <a:endParaRPr sz="1800">
              <a:latin typeface="PMingLiU-ExtB"/>
              <a:cs typeface="PMingLiU-ExtB"/>
            </a:endParaRPr>
          </a:p>
          <a:p>
            <a:pPr marL="281940">
              <a:lnSpc>
                <a:spcPct val="100000"/>
              </a:lnSpc>
            </a:pPr>
            <a:r>
              <a:rPr sz="1800" spc="95" dirty="0">
                <a:solidFill>
                  <a:srgbClr val="FFFFFF"/>
                </a:solidFill>
                <a:latin typeface="PMingLiU-ExtB"/>
                <a:cs typeface="PMingLiU-ExtB"/>
              </a:rPr>
              <a:t>fenomena</a:t>
            </a:r>
            <a:r>
              <a:rPr sz="1800" spc="310" dirty="0">
                <a:solidFill>
                  <a:srgbClr val="FFFFFF"/>
                </a:solidFill>
                <a:latin typeface="PMingLiU-ExtB"/>
                <a:cs typeface="PMingLiU-ExtB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PMingLiU-ExtB"/>
                <a:cs typeface="PMingLiU-ExtB"/>
              </a:rPr>
              <a:t>kehidupan</a:t>
            </a:r>
            <a:r>
              <a:rPr sz="1800" spc="315" dirty="0">
                <a:solidFill>
                  <a:srgbClr val="FFFFFF"/>
                </a:solidFill>
                <a:latin typeface="PMingLiU-ExtB"/>
                <a:cs typeface="PMingLiU-ExtB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PMingLiU-ExtB"/>
                <a:cs typeface="PMingLiU-ExtB"/>
              </a:rPr>
              <a:t>politik</a:t>
            </a:r>
            <a:r>
              <a:rPr sz="1800" spc="330" dirty="0">
                <a:solidFill>
                  <a:srgbClr val="FFFFFF"/>
                </a:solidFill>
                <a:latin typeface="PMingLiU-ExtB"/>
                <a:cs typeface="PMingLiU-ExtB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PMingLiU-ExtB"/>
                <a:cs typeface="PMingLiU-ExtB"/>
              </a:rPr>
              <a:t>bangsa</a:t>
            </a:r>
            <a:endParaRPr sz="1800">
              <a:latin typeface="PMingLiU-ExtB"/>
              <a:cs typeface="PMingLiU-ExtB"/>
            </a:endParaRPr>
          </a:p>
          <a:p>
            <a:pPr marL="1597660">
              <a:lnSpc>
                <a:spcPct val="100000"/>
              </a:lnSpc>
            </a:pPr>
            <a:r>
              <a:rPr sz="1800" spc="85" dirty="0">
                <a:solidFill>
                  <a:srgbClr val="FFFFFF"/>
                </a:solidFill>
                <a:latin typeface="PMingLiU-ExtB"/>
                <a:cs typeface="PMingLiU-ExtB"/>
              </a:rPr>
              <a:t>Indonesia</a:t>
            </a:r>
            <a:endParaRPr sz="1800">
              <a:latin typeface="PMingLiU-ExtB"/>
              <a:cs typeface="PMingLiU-ExtB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SUMBER</a:t>
            </a:r>
            <a:r>
              <a:rPr spc="-135" dirty="0"/>
              <a:t> </a:t>
            </a:r>
            <a:r>
              <a:rPr spc="-465" dirty="0"/>
              <a:t>POLITIK</a:t>
            </a:r>
            <a:r>
              <a:rPr spc="-120" dirty="0"/>
              <a:t> </a:t>
            </a:r>
            <a:r>
              <a:rPr spc="-375" dirty="0"/>
              <a:t>PENDIDIKAN</a:t>
            </a:r>
            <a:r>
              <a:rPr spc="-135" dirty="0"/>
              <a:t> </a:t>
            </a:r>
            <a:r>
              <a:rPr spc="-290" dirty="0"/>
              <a:t>PANCASILA</a:t>
            </a: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9704" y="1581679"/>
            <a:ext cx="3830843" cy="345609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07735" y="3061716"/>
            <a:ext cx="941832" cy="59131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934455" y="5373623"/>
            <a:ext cx="6257925" cy="1313815"/>
            <a:chOff x="5934455" y="5373623"/>
            <a:chExt cx="6257925" cy="131381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34455" y="5373623"/>
              <a:ext cx="6257544" cy="13136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977127" y="5393435"/>
              <a:ext cx="6215380" cy="1233170"/>
            </a:xfrm>
            <a:custGeom>
              <a:avLst/>
              <a:gdLst/>
              <a:ahLst/>
              <a:cxnLst/>
              <a:rect l="l" t="t" r="r" b="b"/>
              <a:pathLst>
                <a:path w="6215380" h="1233170">
                  <a:moveTo>
                    <a:pt x="6214872" y="0"/>
                  </a:moveTo>
                  <a:lnTo>
                    <a:pt x="0" y="0"/>
                  </a:lnTo>
                  <a:lnTo>
                    <a:pt x="0" y="1232916"/>
                  </a:lnTo>
                  <a:lnTo>
                    <a:pt x="6214872" y="1232916"/>
                  </a:lnTo>
                  <a:lnTo>
                    <a:pt x="6214872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362827" y="5469432"/>
            <a:ext cx="54552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MingLiU-ExtB"/>
                <a:cs typeface="PMingLiU-ExtB"/>
              </a:rPr>
              <a:t>Tujuannya</a:t>
            </a:r>
            <a:r>
              <a:rPr sz="1800" spc="-15" dirty="0">
                <a:latin typeface="PMingLiU-ExtB"/>
                <a:cs typeface="PMingLiU-ExtB"/>
              </a:rPr>
              <a:t> </a:t>
            </a:r>
            <a:r>
              <a:rPr sz="1800" dirty="0">
                <a:latin typeface="PMingLiU-ExtB"/>
                <a:cs typeface="PMingLiU-ExtB"/>
              </a:rPr>
              <a:t>agar</a:t>
            </a:r>
            <a:r>
              <a:rPr sz="1800" spc="-65" dirty="0">
                <a:latin typeface="PMingLiU-ExtB"/>
                <a:cs typeface="PMingLiU-ExtB"/>
              </a:rPr>
              <a:t> </a:t>
            </a:r>
            <a:r>
              <a:rPr sz="1800" dirty="0">
                <a:latin typeface="PMingLiU-ExtB"/>
                <a:cs typeface="PMingLiU-ExtB"/>
              </a:rPr>
              <a:t>Anda</a:t>
            </a:r>
            <a:r>
              <a:rPr sz="1800" spc="-40" dirty="0">
                <a:latin typeface="PMingLiU-ExtB"/>
                <a:cs typeface="PMingLiU-ExtB"/>
              </a:rPr>
              <a:t> </a:t>
            </a:r>
            <a:r>
              <a:rPr sz="1800" dirty="0">
                <a:latin typeface="PMingLiU-ExtB"/>
                <a:cs typeface="PMingLiU-ExtB"/>
              </a:rPr>
              <a:t>mampu</a:t>
            </a:r>
            <a:r>
              <a:rPr sz="1800" spc="-75" dirty="0">
                <a:latin typeface="PMingLiU-ExtB"/>
                <a:cs typeface="PMingLiU-ExtB"/>
              </a:rPr>
              <a:t> </a:t>
            </a:r>
            <a:r>
              <a:rPr sz="1800" dirty="0">
                <a:latin typeface="PMingLiU-ExtB"/>
                <a:cs typeface="PMingLiU-ExtB"/>
              </a:rPr>
              <a:t>mendiagnosa</a:t>
            </a:r>
            <a:r>
              <a:rPr sz="1800" spc="-20" dirty="0">
                <a:latin typeface="PMingLiU-ExtB"/>
                <a:cs typeface="PMingLiU-ExtB"/>
              </a:rPr>
              <a:t> </a:t>
            </a:r>
            <a:r>
              <a:rPr sz="1800" spc="-25" dirty="0">
                <a:latin typeface="PMingLiU-ExtB"/>
                <a:cs typeface="PMingLiU-ExtB"/>
              </a:rPr>
              <a:t>dan </a:t>
            </a:r>
            <a:r>
              <a:rPr sz="1800" dirty="0">
                <a:latin typeface="PMingLiU-ExtB"/>
                <a:cs typeface="PMingLiU-ExtB"/>
              </a:rPr>
              <a:t>memformulasikan</a:t>
            </a:r>
            <a:r>
              <a:rPr sz="1800" spc="-45" dirty="0">
                <a:latin typeface="PMingLiU-ExtB"/>
                <a:cs typeface="PMingLiU-ExtB"/>
              </a:rPr>
              <a:t> </a:t>
            </a:r>
            <a:r>
              <a:rPr sz="1800" dirty="0">
                <a:latin typeface="PMingLiU-ExtB"/>
                <a:cs typeface="PMingLiU-ExtB"/>
              </a:rPr>
              <a:t>saran</a:t>
            </a:r>
            <a:r>
              <a:rPr sz="1800" spc="-55" dirty="0">
                <a:latin typeface="PMingLiU-ExtB"/>
                <a:cs typeface="PMingLiU-ExtB"/>
              </a:rPr>
              <a:t> </a:t>
            </a:r>
            <a:r>
              <a:rPr sz="1800" dirty="0">
                <a:latin typeface="PMingLiU-ExtB"/>
                <a:cs typeface="PMingLiU-ExtB"/>
              </a:rPr>
              <a:t>saran</a:t>
            </a:r>
            <a:r>
              <a:rPr sz="1800" spc="-50" dirty="0">
                <a:latin typeface="PMingLiU-ExtB"/>
                <a:cs typeface="PMingLiU-ExtB"/>
              </a:rPr>
              <a:t> </a:t>
            </a:r>
            <a:r>
              <a:rPr sz="1800" dirty="0">
                <a:latin typeface="PMingLiU-ExtB"/>
                <a:cs typeface="PMingLiU-ExtB"/>
              </a:rPr>
              <a:t>tentang</a:t>
            </a:r>
            <a:r>
              <a:rPr sz="1800" spc="-30" dirty="0">
                <a:latin typeface="PMingLiU-ExtB"/>
                <a:cs typeface="PMingLiU-ExtB"/>
              </a:rPr>
              <a:t> </a:t>
            </a:r>
            <a:r>
              <a:rPr sz="1800" dirty="0">
                <a:latin typeface="PMingLiU-ExtB"/>
                <a:cs typeface="PMingLiU-ExtB"/>
              </a:rPr>
              <a:t>upaya</a:t>
            </a:r>
            <a:r>
              <a:rPr sz="1800" spc="-30" dirty="0">
                <a:latin typeface="PMingLiU-ExtB"/>
                <a:cs typeface="PMingLiU-ExtB"/>
              </a:rPr>
              <a:t> </a:t>
            </a:r>
            <a:r>
              <a:rPr sz="1800" dirty="0">
                <a:latin typeface="PMingLiU-ExtB"/>
                <a:cs typeface="PMingLiU-ExtB"/>
              </a:rPr>
              <a:t>atau</a:t>
            </a:r>
            <a:r>
              <a:rPr sz="1800" spc="-45" dirty="0">
                <a:latin typeface="PMingLiU-ExtB"/>
                <a:cs typeface="PMingLiU-ExtB"/>
              </a:rPr>
              <a:t> </a:t>
            </a:r>
            <a:r>
              <a:rPr sz="1800" spc="-10" dirty="0">
                <a:latin typeface="PMingLiU-ExtB"/>
                <a:cs typeface="PMingLiU-ExtB"/>
              </a:rPr>
              <a:t>usaha </a:t>
            </a:r>
            <a:r>
              <a:rPr sz="1800" dirty="0">
                <a:latin typeface="PMingLiU-ExtB"/>
                <a:cs typeface="PMingLiU-ExtB"/>
              </a:rPr>
              <a:t>mewujudkan</a:t>
            </a:r>
            <a:r>
              <a:rPr sz="1800" spc="-40" dirty="0">
                <a:latin typeface="PMingLiU-ExtB"/>
                <a:cs typeface="PMingLiU-ExtB"/>
              </a:rPr>
              <a:t> </a:t>
            </a:r>
            <a:r>
              <a:rPr sz="1800" dirty="0">
                <a:latin typeface="PMingLiU-ExtB"/>
                <a:cs typeface="PMingLiU-ExtB"/>
              </a:rPr>
              <a:t>kehidupan</a:t>
            </a:r>
            <a:r>
              <a:rPr sz="1800" spc="-20" dirty="0">
                <a:latin typeface="PMingLiU-ExtB"/>
                <a:cs typeface="PMingLiU-ExtB"/>
              </a:rPr>
              <a:t> </a:t>
            </a:r>
            <a:r>
              <a:rPr sz="1800" dirty="0">
                <a:latin typeface="PMingLiU-ExtB"/>
                <a:cs typeface="PMingLiU-ExtB"/>
              </a:rPr>
              <a:t>politik</a:t>
            </a:r>
            <a:r>
              <a:rPr sz="1800" spc="-20" dirty="0">
                <a:latin typeface="PMingLiU-ExtB"/>
                <a:cs typeface="PMingLiU-ExtB"/>
              </a:rPr>
              <a:t> </a:t>
            </a:r>
            <a:r>
              <a:rPr sz="1800" dirty="0">
                <a:latin typeface="PMingLiU-ExtB"/>
                <a:cs typeface="PMingLiU-ExtB"/>
              </a:rPr>
              <a:t>yang</a:t>
            </a:r>
            <a:r>
              <a:rPr sz="1800" spc="-40" dirty="0">
                <a:latin typeface="PMingLiU-ExtB"/>
                <a:cs typeface="PMingLiU-ExtB"/>
              </a:rPr>
              <a:t> </a:t>
            </a:r>
            <a:r>
              <a:rPr sz="1800" dirty="0">
                <a:latin typeface="PMingLiU-ExtB"/>
                <a:cs typeface="PMingLiU-ExtB"/>
              </a:rPr>
              <a:t>ideal</a:t>
            </a:r>
            <a:r>
              <a:rPr sz="1800" spc="-60" dirty="0">
                <a:latin typeface="PMingLiU-ExtB"/>
                <a:cs typeface="PMingLiU-ExtB"/>
              </a:rPr>
              <a:t> </a:t>
            </a:r>
            <a:r>
              <a:rPr sz="1800" dirty="0">
                <a:latin typeface="PMingLiU-ExtB"/>
                <a:cs typeface="PMingLiU-ExtB"/>
              </a:rPr>
              <a:t>sesuai</a:t>
            </a:r>
            <a:r>
              <a:rPr sz="1800" spc="-45" dirty="0">
                <a:latin typeface="PMingLiU-ExtB"/>
                <a:cs typeface="PMingLiU-ExtB"/>
              </a:rPr>
              <a:t> </a:t>
            </a:r>
            <a:r>
              <a:rPr sz="1800" dirty="0">
                <a:latin typeface="PMingLiU-ExtB"/>
                <a:cs typeface="PMingLiU-ExtB"/>
              </a:rPr>
              <a:t>dengan</a:t>
            </a:r>
            <a:r>
              <a:rPr sz="1800" spc="-35" dirty="0">
                <a:latin typeface="PMingLiU-ExtB"/>
                <a:cs typeface="PMingLiU-ExtB"/>
              </a:rPr>
              <a:t> </a:t>
            </a:r>
            <a:r>
              <a:rPr sz="1800" spc="-10" dirty="0">
                <a:latin typeface="PMingLiU-ExtB"/>
                <a:cs typeface="PMingLiU-ExtB"/>
              </a:rPr>
              <a:t>nilai- nilaiPancasila</a:t>
            </a:r>
            <a:endParaRPr sz="1800">
              <a:latin typeface="PMingLiU-ExtB"/>
              <a:cs typeface="PMingLiU-ExtB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32231"/>
            <a:ext cx="12192000" cy="2676525"/>
            <a:chOff x="0" y="332231"/>
            <a:chExt cx="12192000" cy="2676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76843" y="1016508"/>
              <a:ext cx="2735569" cy="19659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263890" y="1003554"/>
              <a:ext cx="2780030" cy="1991995"/>
            </a:xfrm>
            <a:custGeom>
              <a:avLst/>
              <a:gdLst/>
              <a:ahLst/>
              <a:cxnLst/>
              <a:rect l="l" t="t" r="r" b="b"/>
              <a:pathLst>
                <a:path w="2780029" h="1991995">
                  <a:moveTo>
                    <a:pt x="0" y="1991868"/>
                  </a:moveTo>
                  <a:lnTo>
                    <a:pt x="2779776" y="1991868"/>
                  </a:lnTo>
                  <a:lnTo>
                    <a:pt x="2779776" y="0"/>
                  </a:lnTo>
                  <a:lnTo>
                    <a:pt x="0" y="0"/>
                  </a:lnTo>
                  <a:lnTo>
                    <a:pt x="0" y="1991868"/>
                  </a:lnTo>
                  <a:close/>
                </a:path>
              </a:pathLst>
            </a:custGeom>
            <a:ln w="25908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17735" y="1318259"/>
              <a:ext cx="1077595" cy="767080"/>
            </a:xfrm>
            <a:custGeom>
              <a:avLst/>
              <a:gdLst/>
              <a:ahLst/>
              <a:cxnLst/>
              <a:rect l="l" t="t" r="r" b="b"/>
              <a:pathLst>
                <a:path w="1077595" h="767080">
                  <a:moveTo>
                    <a:pt x="1077468" y="0"/>
                  </a:moveTo>
                  <a:lnTo>
                    <a:pt x="0" y="0"/>
                  </a:lnTo>
                  <a:lnTo>
                    <a:pt x="0" y="766572"/>
                  </a:lnTo>
                  <a:lnTo>
                    <a:pt x="1077468" y="766572"/>
                  </a:lnTo>
                  <a:lnTo>
                    <a:pt x="10774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90304" y="1335023"/>
              <a:ext cx="1104900" cy="6644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877547" y="6510934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7E7E7E"/>
                </a:solidFill>
                <a:latin typeface="Arial MT"/>
                <a:cs typeface="Arial MT"/>
              </a:rPr>
              <a:t>25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6427" y="2813304"/>
            <a:ext cx="4140835" cy="3363595"/>
            <a:chOff x="376427" y="2813304"/>
            <a:chExt cx="4140835" cy="336359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335" y="2906218"/>
              <a:ext cx="4114800" cy="327060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76427" y="2813304"/>
              <a:ext cx="3961129" cy="3124200"/>
            </a:xfrm>
            <a:custGeom>
              <a:avLst/>
              <a:gdLst/>
              <a:ahLst/>
              <a:cxnLst/>
              <a:rect l="l" t="t" r="r" b="b"/>
              <a:pathLst>
                <a:path w="3961129" h="3124200">
                  <a:moveTo>
                    <a:pt x="3561842" y="0"/>
                  </a:moveTo>
                  <a:lnTo>
                    <a:pt x="3362579" y="28321"/>
                  </a:lnTo>
                  <a:lnTo>
                    <a:pt x="1960752" y="244094"/>
                  </a:lnTo>
                  <a:lnTo>
                    <a:pt x="1020699" y="380111"/>
                  </a:lnTo>
                  <a:lnTo>
                    <a:pt x="496976" y="444246"/>
                  </a:lnTo>
                  <a:lnTo>
                    <a:pt x="0" y="495426"/>
                  </a:lnTo>
                  <a:lnTo>
                    <a:pt x="15811" y="535686"/>
                  </a:lnTo>
                  <a:lnTo>
                    <a:pt x="31013" y="576453"/>
                  </a:lnTo>
                  <a:lnTo>
                    <a:pt x="45631" y="617601"/>
                  </a:lnTo>
                  <a:lnTo>
                    <a:pt x="59702" y="659257"/>
                  </a:lnTo>
                  <a:lnTo>
                    <a:pt x="73240" y="701167"/>
                  </a:lnTo>
                  <a:lnTo>
                    <a:pt x="86271" y="743585"/>
                  </a:lnTo>
                  <a:lnTo>
                    <a:pt x="98818" y="786384"/>
                  </a:lnTo>
                  <a:lnTo>
                    <a:pt x="110921" y="829564"/>
                  </a:lnTo>
                  <a:lnTo>
                    <a:pt x="122605" y="873252"/>
                  </a:lnTo>
                  <a:lnTo>
                    <a:pt x="133870" y="917194"/>
                  </a:lnTo>
                  <a:lnTo>
                    <a:pt x="144779" y="961517"/>
                  </a:lnTo>
                  <a:lnTo>
                    <a:pt x="155333" y="1006221"/>
                  </a:lnTo>
                  <a:lnTo>
                    <a:pt x="165569" y="1051179"/>
                  </a:lnTo>
                  <a:lnTo>
                    <a:pt x="175514" y="1096645"/>
                  </a:lnTo>
                  <a:lnTo>
                    <a:pt x="185178" y="1142365"/>
                  </a:lnTo>
                  <a:lnTo>
                    <a:pt x="194614" y="1188466"/>
                  </a:lnTo>
                  <a:lnTo>
                    <a:pt x="212851" y="1281557"/>
                  </a:lnTo>
                  <a:lnTo>
                    <a:pt x="230428" y="1376045"/>
                  </a:lnTo>
                  <a:lnTo>
                    <a:pt x="256019" y="1519936"/>
                  </a:lnTo>
                  <a:lnTo>
                    <a:pt x="315785" y="1865376"/>
                  </a:lnTo>
                  <a:lnTo>
                    <a:pt x="333819" y="1966214"/>
                  </a:lnTo>
                  <a:lnTo>
                    <a:pt x="352653" y="2068068"/>
                  </a:lnTo>
                  <a:lnTo>
                    <a:pt x="372516" y="2170684"/>
                  </a:lnTo>
                  <a:lnTo>
                    <a:pt x="382892" y="2222373"/>
                  </a:lnTo>
                  <a:lnTo>
                    <a:pt x="393598" y="2274189"/>
                  </a:lnTo>
                  <a:lnTo>
                    <a:pt x="404660" y="2326132"/>
                  </a:lnTo>
                  <a:lnTo>
                    <a:pt x="416115" y="2378329"/>
                  </a:lnTo>
                  <a:lnTo>
                    <a:pt x="427977" y="2430653"/>
                  </a:lnTo>
                  <a:lnTo>
                    <a:pt x="440270" y="2483231"/>
                  </a:lnTo>
                  <a:lnTo>
                    <a:pt x="453034" y="2535936"/>
                  </a:lnTo>
                  <a:lnTo>
                    <a:pt x="466280" y="2588768"/>
                  </a:lnTo>
                  <a:lnTo>
                    <a:pt x="480047" y="2641727"/>
                  </a:lnTo>
                  <a:lnTo>
                    <a:pt x="494360" y="2694813"/>
                  </a:lnTo>
                  <a:lnTo>
                    <a:pt x="509231" y="2748026"/>
                  </a:lnTo>
                  <a:lnTo>
                    <a:pt x="524700" y="2801391"/>
                  </a:lnTo>
                  <a:lnTo>
                    <a:pt x="540791" y="2854858"/>
                  </a:lnTo>
                  <a:lnTo>
                    <a:pt x="557530" y="2908452"/>
                  </a:lnTo>
                  <a:lnTo>
                    <a:pt x="574941" y="2962135"/>
                  </a:lnTo>
                  <a:lnTo>
                    <a:pt x="593051" y="3015932"/>
                  </a:lnTo>
                  <a:lnTo>
                    <a:pt x="611885" y="3069805"/>
                  </a:lnTo>
                  <a:lnTo>
                    <a:pt x="631469" y="3123768"/>
                  </a:lnTo>
                  <a:lnTo>
                    <a:pt x="686701" y="3118904"/>
                  </a:lnTo>
                  <a:lnTo>
                    <a:pt x="742619" y="3113379"/>
                  </a:lnTo>
                  <a:lnTo>
                    <a:pt x="856335" y="3100438"/>
                  </a:lnTo>
                  <a:lnTo>
                    <a:pt x="972312" y="3085058"/>
                  </a:lnTo>
                  <a:lnTo>
                    <a:pt x="1090041" y="3067392"/>
                  </a:lnTo>
                  <a:lnTo>
                    <a:pt x="1209294" y="3047542"/>
                  </a:lnTo>
                  <a:lnTo>
                    <a:pt x="1329817" y="3025660"/>
                  </a:lnTo>
                  <a:lnTo>
                    <a:pt x="1451102" y="3001886"/>
                  </a:lnTo>
                  <a:lnTo>
                    <a:pt x="1572767" y="2976321"/>
                  </a:lnTo>
                  <a:lnTo>
                    <a:pt x="1755521" y="2934944"/>
                  </a:lnTo>
                  <a:lnTo>
                    <a:pt x="1937130" y="2890304"/>
                  </a:lnTo>
                  <a:lnTo>
                    <a:pt x="2116836" y="2842856"/>
                  </a:lnTo>
                  <a:lnTo>
                    <a:pt x="2293112" y="2793034"/>
                  </a:lnTo>
                  <a:lnTo>
                    <a:pt x="2464816" y="2741295"/>
                  </a:lnTo>
                  <a:lnTo>
                    <a:pt x="2630932" y="2688082"/>
                  </a:lnTo>
                  <a:lnTo>
                    <a:pt x="2737866" y="2652014"/>
                  </a:lnTo>
                  <a:lnTo>
                    <a:pt x="2841498" y="2615565"/>
                  </a:lnTo>
                  <a:lnTo>
                    <a:pt x="2941320" y="2578862"/>
                  </a:lnTo>
                  <a:lnTo>
                    <a:pt x="3037078" y="2542159"/>
                  </a:lnTo>
                  <a:lnTo>
                    <a:pt x="3128264" y="2505583"/>
                  </a:lnTo>
                  <a:lnTo>
                    <a:pt x="3172079" y="2487295"/>
                  </a:lnTo>
                  <a:lnTo>
                    <a:pt x="3214751" y="2469134"/>
                  </a:lnTo>
                  <a:lnTo>
                    <a:pt x="3256026" y="2451100"/>
                  </a:lnTo>
                  <a:lnTo>
                    <a:pt x="3296031" y="2433066"/>
                  </a:lnTo>
                  <a:lnTo>
                    <a:pt x="3334639" y="2415159"/>
                  </a:lnTo>
                  <a:lnTo>
                    <a:pt x="3371850" y="2397379"/>
                  </a:lnTo>
                  <a:lnTo>
                    <a:pt x="3407537" y="2379726"/>
                  </a:lnTo>
                  <a:lnTo>
                    <a:pt x="3441700" y="2362327"/>
                  </a:lnTo>
                  <a:lnTo>
                    <a:pt x="3505454" y="2327910"/>
                  </a:lnTo>
                  <a:lnTo>
                    <a:pt x="3562604" y="2294382"/>
                  </a:lnTo>
                  <a:lnTo>
                    <a:pt x="3612769" y="2261870"/>
                  </a:lnTo>
                  <a:lnTo>
                    <a:pt x="3655695" y="2230501"/>
                  </a:lnTo>
                  <a:lnTo>
                    <a:pt x="3691001" y="2200275"/>
                  </a:lnTo>
                  <a:lnTo>
                    <a:pt x="3718433" y="2171446"/>
                  </a:lnTo>
                  <a:lnTo>
                    <a:pt x="3737483" y="2144141"/>
                  </a:lnTo>
                  <a:lnTo>
                    <a:pt x="3767328" y="2136140"/>
                  </a:lnTo>
                  <a:lnTo>
                    <a:pt x="3819906" y="2114042"/>
                  </a:lnTo>
                  <a:lnTo>
                    <a:pt x="3863340" y="2084324"/>
                  </a:lnTo>
                  <a:lnTo>
                    <a:pt x="3897884" y="2047494"/>
                  </a:lnTo>
                  <a:lnTo>
                    <a:pt x="3924300" y="2003806"/>
                  </a:lnTo>
                  <a:lnTo>
                    <a:pt x="3943223" y="1953768"/>
                  </a:lnTo>
                  <a:lnTo>
                    <a:pt x="3955034" y="1897634"/>
                  </a:lnTo>
                  <a:lnTo>
                    <a:pt x="3960368" y="1835912"/>
                  </a:lnTo>
                  <a:lnTo>
                    <a:pt x="3960876" y="1803019"/>
                  </a:lnTo>
                  <a:lnTo>
                    <a:pt x="3959860" y="1768856"/>
                  </a:lnTo>
                  <a:lnTo>
                    <a:pt x="3953891" y="1696974"/>
                  </a:lnTo>
                  <a:lnTo>
                    <a:pt x="3943223" y="1620520"/>
                  </a:lnTo>
                  <a:lnTo>
                    <a:pt x="3936111" y="1580642"/>
                  </a:lnTo>
                  <a:lnTo>
                    <a:pt x="3928110" y="1539875"/>
                  </a:lnTo>
                  <a:lnTo>
                    <a:pt x="3919220" y="1498219"/>
                  </a:lnTo>
                  <a:lnTo>
                    <a:pt x="3909441" y="1455547"/>
                  </a:lnTo>
                  <a:lnTo>
                    <a:pt x="3898900" y="1412113"/>
                  </a:lnTo>
                  <a:lnTo>
                    <a:pt x="3887597" y="1367917"/>
                  </a:lnTo>
                  <a:lnTo>
                    <a:pt x="3875659" y="1322832"/>
                  </a:lnTo>
                  <a:lnTo>
                    <a:pt x="3850132" y="1230884"/>
                  </a:lnTo>
                  <a:lnTo>
                    <a:pt x="3822827" y="1136396"/>
                  </a:lnTo>
                  <a:lnTo>
                    <a:pt x="3735832" y="842391"/>
                  </a:lnTo>
                  <a:lnTo>
                    <a:pt x="3707003" y="742061"/>
                  </a:lnTo>
                  <a:lnTo>
                    <a:pt x="3679317" y="641223"/>
                  </a:lnTo>
                  <a:lnTo>
                    <a:pt x="3665982" y="590804"/>
                  </a:lnTo>
                  <a:lnTo>
                    <a:pt x="3653028" y="540258"/>
                  </a:lnTo>
                  <a:lnTo>
                    <a:pt x="3640709" y="489966"/>
                  </a:lnTo>
                  <a:lnTo>
                    <a:pt x="3629025" y="439674"/>
                  </a:lnTo>
                  <a:lnTo>
                    <a:pt x="3617976" y="389509"/>
                  </a:lnTo>
                  <a:lnTo>
                    <a:pt x="3607562" y="339598"/>
                  </a:lnTo>
                  <a:lnTo>
                    <a:pt x="3598037" y="289941"/>
                  </a:lnTo>
                  <a:lnTo>
                    <a:pt x="3589401" y="240537"/>
                  </a:lnTo>
                  <a:lnTo>
                    <a:pt x="3581781" y="191643"/>
                  </a:lnTo>
                  <a:lnTo>
                    <a:pt x="3575050" y="143001"/>
                  </a:lnTo>
                  <a:lnTo>
                    <a:pt x="3569462" y="94742"/>
                  </a:lnTo>
                  <a:lnTo>
                    <a:pt x="3565017" y="47117"/>
                  </a:lnTo>
                  <a:lnTo>
                    <a:pt x="3561842" y="0"/>
                  </a:lnTo>
                  <a:close/>
                </a:path>
              </a:pathLst>
            </a:custGeom>
            <a:solidFill>
              <a:srgbClr val="C4E0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49832" y="3172051"/>
            <a:ext cx="2622550" cy="20751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R="635" algn="ctr">
              <a:lnSpc>
                <a:spcPct val="100000"/>
              </a:lnSpc>
              <a:spcBef>
                <a:spcPts val="265"/>
              </a:spcBef>
            </a:pP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“Abdulgani”</a:t>
            </a:r>
            <a:endParaRPr sz="2000">
              <a:latin typeface="Calibri"/>
              <a:cs typeface="Calibri"/>
            </a:endParaRPr>
          </a:p>
          <a:p>
            <a:pPr marL="12065" marR="5080" indent="-5715" algn="ctr">
              <a:lnSpc>
                <a:spcPct val="100000"/>
              </a:lnSpc>
              <a:spcBef>
                <a:spcPts val="130"/>
              </a:spcBef>
            </a:pPr>
            <a:r>
              <a:rPr sz="1600" dirty="0">
                <a:latin typeface="Calibri"/>
                <a:cs typeface="Calibri"/>
              </a:rPr>
              <a:t>bahwa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Pancasila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adalah leitmotive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leitstar, dorongan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pokok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bintang penunjuk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jalan.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Tanpa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adanya leitmotive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leitstar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Pancasila </a:t>
            </a:r>
            <a:r>
              <a:rPr sz="1600" dirty="0">
                <a:latin typeface="Calibri"/>
                <a:cs typeface="Calibri"/>
              </a:rPr>
              <a:t>ini,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kekuasaan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negara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akan </a:t>
            </a:r>
            <a:r>
              <a:rPr sz="1600" spc="-10" dirty="0">
                <a:latin typeface="Calibri"/>
                <a:cs typeface="Calibri"/>
              </a:rPr>
              <a:t>menyeleweng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528" y="2782823"/>
            <a:ext cx="4357370" cy="1275715"/>
          </a:xfrm>
          <a:custGeom>
            <a:avLst/>
            <a:gdLst/>
            <a:ahLst/>
            <a:cxnLst/>
            <a:rect l="l" t="t" r="r" b="b"/>
            <a:pathLst>
              <a:path w="4357370" h="1275714">
                <a:moveTo>
                  <a:pt x="999147" y="353187"/>
                </a:moveTo>
                <a:lnTo>
                  <a:pt x="989393" y="350012"/>
                </a:lnTo>
                <a:lnTo>
                  <a:pt x="956284" y="341630"/>
                </a:lnTo>
                <a:lnTo>
                  <a:pt x="949363" y="339852"/>
                </a:lnTo>
                <a:lnTo>
                  <a:pt x="939622" y="336550"/>
                </a:lnTo>
                <a:lnTo>
                  <a:pt x="929614" y="337820"/>
                </a:lnTo>
                <a:lnTo>
                  <a:pt x="915517" y="340741"/>
                </a:lnTo>
                <a:lnTo>
                  <a:pt x="901560" y="341630"/>
                </a:lnTo>
                <a:lnTo>
                  <a:pt x="892009" y="336550"/>
                </a:lnTo>
                <a:lnTo>
                  <a:pt x="891222" y="321310"/>
                </a:lnTo>
                <a:lnTo>
                  <a:pt x="895870" y="298958"/>
                </a:lnTo>
                <a:lnTo>
                  <a:pt x="898588" y="276860"/>
                </a:lnTo>
                <a:lnTo>
                  <a:pt x="893572" y="266065"/>
                </a:lnTo>
                <a:lnTo>
                  <a:pt x="892009" y="262763"/>
                </a:lnTo>
                <a:lnTo>
                  <a:pt x="878243" y="259334"/>
                </a:lnTo>
                <a:lnTo>
                  <a:pt x="839101" y="266065"/>
                </a:lnTo>
                <a:lnTo>
                  <a:pt x="825347" y="262763"/>
                </a:lnTo>
                <a:lnTo>
                  <a:pt x="814590" y="213360"/>
                </a:lnTo>
                <a:lnTo>
                  <a:pt x="0" y="1028192"/>
                </a:lnTo>
                <a:lnTo>
                  <a:pt x="18453" y="1030097"/>
                </a:lnTo>
                <a:lnTo>
                  <a:pt x="75907" y="1013333"/>
                </a:lnTo>
                <a:lnTo>
                  <a:pt x="94373" y="1015238"/>
                </a:lnTo>
                <a:lnTo>
                  <a:pt x="94284" y="1030224"/>
                </a:lnTo>
                <a:lnTo>
                  <a:pt x="83451" y="1053465"/>
                </a:lnTo>
                <a:lnTo>
                  <a:pt x="71513" y="1077849"/>
                </a:lnTo>
                <a:lnTo>
                  <a:pt x="68173" y="1096264"/>
                </a:lnTo>
                <a:lnTo>
                  <a:pt x="72694" y="1109980"/>
                </a:lnTo>
                <a:lnTo>
                  <a:pt x="77254" y="1124966"/>
                </a:lnTo>
                <a:lnTo>
                  <a:pt x="80835" y="1141095"/>
                </a:lnTo>
                <a:lnTo>
                  <a:pt x="82461" y="1158240"/>
                </a:lnTo>
                <a:lnTo>
                  <a:pt x="78460" y="1179703"/>
                </a:lnTo>
                <a:lnTo>
                  <a:pt x="70497" y="1204722"/>
                </a:lnTo>
                <a:lnTo>
                  <a:pt x="65544" y="1226058"/>
                </a:lnTo>
                <a:lnTo>
                  <a:pt x="70561" y="1236726"/>
                </a:lnTo>
                <a:lnTo>
                  <a:pt x="73317" y="1243457"/>
                </a:lnTo>
                <a:lnTo>
                  <a:pt x="71069" y="1256030"/>
                </a:lnTo>
                <a:lnTo>
                  <a:pt x="69151" y="1268603"/>
                </a:lnTo>
                <a:lnTo>
                  <a:pt x="72898" y="1275207"/>
                </a:lnTo>
                <a:lnTo>
                  <a:pt x="87655" y="1269873"/>
                </a:lnTo>
                <a:lnTo>
                  <a:pt x="118757" y="1246632"/>
                </a:lnTo>
                <a:lnTo>
                  <a:pt x="171526" y="1199769"/>
                </a:lnTo>
                <a:lnTo>
                  <a:pt x="357822" y="1013333"/>
                </a:lnTo>
                <a:lnTo>
                  <a:pt x="986116" y="384937"/>
                </a:lnTo>
                <a:lnTo>
                  <a:pt x="999147" y="353187"/>
                </a:lnTo>
                <a:close/>
              </a:path>
              <a:path w="4357370" h="1275714">
                <a:moveTo>
                  <a:pt x="4356862" y="773176"/>
                </a:moveTo>
                <a:lnTo>
                  <a:pt x="4354703" y="722757"/>
                </a:lnTo>
                <a:lnTo>
                  <a:pt x="3673221" y="230759"/>
                </a:lnTo>
                <a:lnTo>
                  <a:pt x="3420110" y="48133"/>
                </a:lnTo>
                <a:lnTo>
                  <a:pt x="3363214" y="13335"/>
                </a:lnTo>
                <a:lnTo>
                  <a:pt x="3332607" y="0"/>
                </a:lnTo>
                <a:lnTo>
                  <a:pt x="3321685" y="2540"/>
                </a:lnTo>
                <a:lnTo>
                  <a:pt x="3323844" y="15367"/>
                </a:lnTo>
                <a:lnTo>
                  <a:pt x="3340608" y="50165"/>
                </a:lnTo>
                <a:lnTo>
                  <a:pt x="3341878" y="61214"/>
                </a:lnTo>
                <a:lnTo>
                  <a:pt x="3340100" y="72009"/>
                </a:lnTo>
                <a:lnTo>
                  <a:pt x="3344545" y="86487"/>
                </a:lnTo>
                <a:lnTo>
                  <a:pt x="3352292" y="101981"/>
                </a:lnTo>
                <a:lnTo>
                  <a:pt x="3366770" y="127381"/>
                </a:lnTo>
                <a:lnTo>
                  <a:pt x="3370961" y="136779"/>
                </a:lnTo>
                <a:lnTo>
                  <a:pt x="3372104" y="145669"/>
                </a:lnTo>
                <a:lnTo>
                  <a:pt x="3369183" y="155702"/>
                </a:lnTo>
                <a:lnTo>
                  <a:pt x="3370961" y="171831"/>
                </a:lnTo>
                <a:lnTo>
                  <a:pt x="3380359" y="193802"/>
                </a:lnTo>
                <a:lnTo>
                  <a:pt x="3387598" y="214757"/>
                </a:lnTo>
                <a:lnTo>
                  <a:pt x="3383280" y="228219"/>
                </a:lnTo>
                <a:lnTo>
                  <a:pt x="3363087" y="230759"/>
                </a:lnTo>
                <a:lnTo>
                  <a:pt x="3335020" y="227076"/>
                </a:lnTo>
                <a:lnTo>
                  <a:pt x="3308604" y="222758"/>
                </a:lnTo>
                <a:lnTo>
                  <a:pt x="3293237" y="223520"/>
                </a:lnTo>
                <a:lnTo>
                  <a:pt x="4212590" y="919480"/>
                </a:lnTo>
                <a:lnTo>
                  <a:pt x="4262247" y="953897"/>
                </a:lnTo>
                <a:lnTo>
                  <a:pt x="4297680" y="971931"/>
                </a:lnTo>
                <a:lnTo>
                  <a:pt x="4293997" y="964057"/>
                </a:lnTo>
                <a:lnTo>
                  <a:pt x="4283202" y="950341"/>
                </a:lnTo>
                <a:lnTo>
                  <a:pt x="4270756" y="935101"/>
                </a:lnTo>
                <a:lnTo>
                  <a:pt x="4261866" y="922401"/>
                </a:lnTo>
                <a:lnTo>
                  <a:pt x="4261866" y="916432"/>
                </a:lnTo>
                <a:lnTo>
                  <a:pt x="4276344" y="915670"/>
                </a:lnTo>
                <a:lnTo>
                  <a:pt x="4292219" y="915289"/>
                </a:lnTo>
                <a:lnTo>
                  <a:pt x="4305554" y="911733"/>
                </a:lnTo>
                <a:lnTo>
                  <a:pt x="4312412" y="901065"/>
                </a:lnTo>
                <a:lnTo>
                  <a:pt x="4314825" y="885063"/>
                </a:lnTo>
                <a:lnTo>
                  <a:pt x="4304919" y="861695"/>
                </a:lnTo>
                <a:lnTo>
                  <a:pt x="4291838" y="837311"/>
                </a:lnTo>
                <a:lnTo>
                  <a:pt x="4284599" y="818642"/>
                </a:lnTo>
                <a:lnTo>
                  <a:pt x="4293108" y="807466"/>
                </a:lnTo>
                <a:lnTo>
                  <a:pt x="4297426" y="802386"/>
                </a:lnTo>
                <a:lnTo>
                  <a:pt x="4299712" y="798830"/>
                </a:lnTo>
                <a:lnTo>
                  <a:pt x="4301998" y="791718"/>
                </a:lnTo>
                <a:lnTo>
                  <a:pt x="4317492" y="779018"/>
                </a:lnTo>
                <a:lnTo>
                  <a:pt x="4333367" y="776605"/>
                </a:lnTo>
                <a:lnTo>
                  <a:pt x="4347337" y="777113"/>
                </a:lnTo>
                <a:lnTo>
                  <a:pt x="4348734" y="776605"/>
                </a:lnTo>
                <a:lnTo>
                  <a:pt x="4356862" y="773176"/>
                </a:lnTo>
                <a:close/>
              </a:path>
            </a:pathLst>
          </a:custGeom>
          <a:solidFill>
            <a:srgbClr val="00AFEF">
              <a:alpha val="3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649" rIns="0" bIns="0" rtlCol="0">
            <a:spAutoFit/>
          </a:bodyPr>
          <a:lstStyle/>
          <a:p>
            <a:pPr marL="276225">
              <a:lnSpc>
                <a:spcPct val="100000"/>
              </a:lnSpc>
              <a:spcBef>
                <a:spcPts val="100"/>
              </a:spcBef>
            </a:pPr>
            <a:r>
              <a:rPr spc="-265" dirty="0"/>
              <a:t>TANTANGAN</a:t>
            </a:r>
            <a:r>
              <a:rPr spc="-160" dirty="0"/>
              <a:t> </a:t>
            </a:r>
            <a:r>
              <a:rPr spc="-375" dirty="0"/>
              <a:t>PENDIDIKAN</a:t>
            </a:r>
            <a:r>
              <a:rPr spc="-120" dirty="0"/>
              <a:t> </a:t>
            </a:r>
            <a:r>
              <a:rPr spc="-290" dirty="0"/>
              <a:t>PANCASILA</a:t>
            </a:r>
          </a:p>
        </p:txBody>
      </p:sp>
      <p:sp>
        <p:nvSpPr>
          <p:cNvPr id="14" name="object 14"/>
          <p:cNvSpPr/>
          <p:nvPr/>
        </p:nvSpPr>
        <p:spPr>
          <a:xfrm>
            <a:off x="4802123" y="3531108"/>
            <a:ext cx="1813560" cy="1473835"/>
          </a:xfrm>
          <a:custGeom>
            <a:avLst/>
            <a:gdLst/>
            <a:ahLst/>
            <a:cxnLst/>
            <a:rect l="l" t="t" r="r" b="b"/>
            <a:pathLst>
              <a:path w="1813559" h="1473835">
                <a:moveTo>
                  <a:pt x="1076578" y="0"/>
                </a:moveTo>
                <a:lnTo>
                  <a:pt x="1076578" y="368426"/>
                </a:lnTo>
                <a:lnTo>
                  <a:pt x="0" y="368426"/>
                </a:lnTo>
                <a:lnTo>
                  <a:pt x="0" y="1105153"/>
                </a:lnTo>
                <a:lnTo>
                  <a:pt x="1076578" y="1105153"/>
                </a:lnTo>
                <a:lnTo>
                  <a:pt x="1076578" y="1473708"/>
                </a:lnTo>
                <a:lnTo>
                  <a:pt x="1813432" y="736726"/>
                </a:lnTo>
                <a:lnTo>
                  <a:pt x="107657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14013" y="1382649"/>
            <a:ext cx="3014345" cy="173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spc="-80" dirty="0">
                <a:latin typeface="Verdana"/>
                <a:cs typeface="Verdana"/>
              </a:rPr>
              <a:t>nilai-</a:t>
            </a:r>
            <a:r>
              <a:rPr sz="1400" spc="-70" dirty="0">
                <a:latin typeface="Verdana"/>
                <a:cs typeface="Verdana"/>
              </a:rPr>
              <a:t>nilai</a:t>
            </a:r>
            <a:r>
              <a:rPr sz="1400" spc="-10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Pancasila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harus </a:t>
            </a:r>
            <a:r>
              <a:rPr sz="1400" spc="-40" dirty="0">
                <a:latin typeface="Verdana"/>
                <a:cs typeface="Verdana"/>
              </a:rPr>
              <a:t>dididikkan</a:t>
            </a:r>
            <a:r>
              <a:rPr sz="1400" spc="-100" dirty="0">
                <a:latin typeface="Verdana"/>
                <a:cs typeface="Verdana"/>
              </a:rPr>
              <a:t> </a:t>
            </a:r>
            <a:r>
              <a:rPr sz="1400" spc="50" dirty="0">
                <a:latin typeface="Verdana"/>
                <a:cs typeface="Verdana"/>
              </a:rPr>
              <a:t>kepada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para </a:t>
            </a:r>
            <a:r>
              <a:rPr sz="1400" spc="-40" dirty="0">
                <a:latin typeface="Verdana"/>
                <a:cs typeface="Verdana"/>
              </a:rPr>
              <a:t>mahasiswa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-40" dirty="0">
                <a:latin typeface="Verdana"/>
                <a:cs typeface="Verdana"/>
              </a:rPr>
              <a:t>melalui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mata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kuliah pendidikan</a:t>
            </a:r>
            <a:r>
              <a:rPr sz="1400" spc="-1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Pancasila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b="1" spc="-20" dirty="0">
                <a:latin typeface="Tahoma"/>
                <a:cs typeface="Tahoma"/>
              </a:rPr>
              <a:t>agar </a:t>
            </a:r>
            <a:r>
              <a:rPr sz="1400" b="1" spc="-25" dirty="0">
                <a:latin typeface="Tahoma"/>
                <a:cs typeface="Tahoma"/>
              </a:rPr>
              <a:t>menjadi</a:t>
            </a:r>
            <a:r>
              <a:rPr sz="1400" b="1" spc="-5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dorongan</a:t>
            </a:r>
            <a:r>
              <a:rPr sz="1400" b="1" spc="-55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pokok</a:t>
            </a:r>
            <a:r>
              <a:rPr sz="1400" b="1" spc="-50" dirty="0">
                <a:latin typeface="Tahoma"/>
                <a:cs typeface="Tahoma"/>
              </a:rPr>
              <a:t> </a:t>
            </a:r>
            <a:r>
              <a:rPr sz="1400" b="1" spc="-25" dirty="0">
                <a:latin typeface="Tahoma"/>
                <a:cs typeface="Tahoma"/>
              </a:rPr>
              <a:t>dan </a:t>
            </a:r>
            <a:r>
              <a:rPr sz="1400" b="1" spc="-40" dirty="0">
                <a:latin typeface="Tahoma"/>
                <a:cs typeface="Tahoma"/>
              </a:rPr>
              <a:t>bintang</a:t>
            </a:r>
            <a:r>
              <a:rPr sz="1400" b="1" spc="-55" dirty="0">
                <a:latin typeface="Tahoma"/>
                <a:cs typeface="Tahoma"/>
              </a:rPr>
              <a:t> </a:t>
            </a:r>
            <a:r>
              <a:rPr sz="1400" b="1" spc="-50" dirty="0">
                <a:latin typeface="Tahoma"/>
                <a:cs typeface="Tahoma"/>
              </a:rPr>
              <a:t>penunjuk</a:t>
            </a:r>
            <a:r>
              <a:rPr sz="1400" b="1" spc="-60" dirty="0">
                <a:latin typeface="Tahoma"/>
                <a:cs typeface="Tahoma"/>
              </a:rPr>
              <a:t> </a:t>
            </a:r>
            <a:r>
              <a:rPr sz="1400" b="1" spc="-30" dirty="0">
                <a:latin typeface="Tahoma"/>
                <a:cs typeface="Tahoma"/>
              </a:rPr>
              <a:t>jalan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spc="-20" dirty="0">
                <a:latin typeface="Verdana"/>
                <a:cs typeface="Verdana"/>
              </a:rPr>
              <a:t>bagi </a:t>
            </a:r>
            <a:r>
              <a:rPr sz="1400" spc="-35" dirty="0">
                <a:latin typeface="Verdana"/>
                <a:cs typeface="Verdana"/>
              </a:rPr>
              <a:t>generasi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-40" dirty="0">
                <a:latin typeface="Verdana"/>
                <a:cs typeface="Verdana"/>
              </a:rPr>
              <a:t>penerus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pemegang </a:t>
            </a:r>
            <a:r>
              <a:rPr sz="1400" spc="-30" dirty="0">
                <a:latin typeface="Verdana"/>
                <a:cs typeface="Verdana"/>
              </a:rPr>
              <a:t>estafet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kepemimpinan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nasional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22850" y="4028947"/>
            <a:ext cx="11087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">
              <a:lnSpc>
                <a:spcPct val="100000"/>
              </a:lnSpc>
              <a:spcBef>
                <a:spcPts val="100"/>
              </a:spcBef>
            </a:pP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PERUBAHAN </a:t>
            </a:r>
            <a:r>
              <a:rPr sz="1400" b="1" spc="-40" dirty="0">
                <a:solidFill>
                  <a:srgbClr val="FFFFFF"/>
                </a:solidFill>
                <a:latin typeface="Tahoma"/>
                <a:cs typeface="Tahoma"/>
              </a:rPr>
              <a:t>PARADIGMA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41235" y="3209544"/>
            <a:ext cx="4881880" cy="355600"/>
          </a:xfrm>
          <a:prstGeom prst="rect">
            <a:avLst/>
          </a:prstGeom>
          <a:solidFill>
            <a:srgbClr val="FFE699"/>
          </a:solidFill>
        </p:spPr>
        <p:txBody>
          <a:bodyPr vert="horz" wrap="square" lIns="0" tIns="62865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495"/>
              </a:spcBef>
            </a:pPr>
            <a:r>
              <a:rPr sz="1800" b="1" spc="-30" dirty="0">
                <a:latin typeface="Calibri"/>
                <a:cs typeface="Calibri"/>
              </a:rPr>
              <a:t>Tantangan </a:t>
            </a:r>
            <a:r>
              <a:rPr sz="1800" b="1" spc="-10" dirty="0">
                <a:latin typeface="Calibri"/>
                <a:cs typeface="Calibri"/>
              </a:rPr>
              <a:t>pendidikan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pancasila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41235" y="3564635"/>
            <a:ext cx="4881880" cy="2905125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121920" rIns="0" bIns="0" rtlCol="0">
            <a:spAutoFit/>
          </a:bodyPr>
          <a:lstStyle/>
          <a:p>
            <a:pPr marL="189230">
              <a:lnSpc>
                <a:spcPct val="100000"/>
              </a:lnSpc>
              <a:spcBef>
                <a:spcPts val="960"/>
              </a:spcBef>
            </a:pPr>
            <a:r>
              <a:rPr sz="1400" spc="-50" dirty="0">
                <a:latin typeface="Calibri Light"/>
                <a:cs typeface="Calibri Light"/>
              </a:rPr>
              <a:t>Tantangan</a:t>
            </a:r>
            <a:r>
              <a:rPr sz="1400" spc="5" dirty="0">
                <a:latin typeface="Calibri Light"/>
                <a:cs typeface="Calibri Light"/>
              </a:rPr>
              <a:t> </a:t>
            </a:r>
            <a:r>
              <a:rPr sz="1400" spc="-10" dirty="0">
                <a:latin typeface="Calibri Light"/>
                <a:cs typeface="Calibri Light"/>
              </a:rPr>
              <a:t>internal</a:t>
            </a:r>
            <a:endParaRPr sz="1400">
              <a:latin typeface="Calibri Light"/>
              <a:cs typeface="Calibri Light"/>
            </a:endParaRPr>
          </a:p>
          <a:p>
            <a:pPr marL="464820" marR="160655" indent="-27622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64820" algn="l"/>
              </a:tabLst>
            </a:pPr>
            <a:r>
              <a:rPr sz="1400" spc="-20" dirty="0">
                <a:latin typeface="Calibri Light"/>
                <a:cs typeface="Calibri Light"/>
              </a:rPr>
              <a:t>menentukan</a:t>
            </a:r>
            <a:r>
              <a:rPr sz="1400" spc="-75" dirty="0">
                <a:latin typeface="Calibri Light"/>
                <a:cs typeface="Calibri Light"/>
              </a:rPr>
              <a:t> </a:t>
            </a:r>
            <a:r>
              <a:rPr sz="1400" spc="-10" dirty="0">
                <a:latin typeface="Calibri Light"/>
                <a:cs typeface="Calibri Light"/>
              </a:rPr>
              <a:t>bentuk</a:t>
            </a:r>
            <a:r>
              <a:rPr sz="1400" spc="-70" dirty="0">
                <a:latin typeface="Calibri Light"/>
                <a:cs typeface="Calibri Light"/>
              </a:rPr>
              <a:t> </a:t>
            </a:r>
            <a:r>
              <a:rPr sz="1400" dirty="0">
                <a:latin typeface="Calibri Light"/>
                <a:cs typeface="Calibri Light"/>
              </a:rPr>
              <a:t>dan</a:t>
            </a:r>
            <a:r>
              <a:rPr sz="1400" spc="-50" dirty="0">
                <a:latin typeface="Calibri Light"/>
                <a:cs typeface="Calibri Light"/>
              </a:rPr>
              <a:t> </a:t>
            </a:r>
            <a:r>
              <a:rPr sz="1400" spc="-25" dirty="0">
                <a:latin typeface="Calibri Light"/>
                <a:cs typeface="Calibri Light"/>
              </a:rPr>
              <a:t>format</a:t>
            </a:r>
            <a:r>
              <a:rPr sz="1400" spc="-35" dirty="0">
                <a:latin typeface="Calibri Light"/>
                <a:cs typeface="Calibri Light"/>
              </a:rPr>
              <a:t> </a:t>
            </a:r>
            <a:r>
              <a:rPr sz="1400" spc="-10" dirty="0">
                <a:latin typeface="Calibri Light"/>
                <a:cs typeface="Calibri Light"/>
              </a:rPr>
              <a:t>agar</a:t>
            </a:r>
            <a:r>
              <a:rPr sz="1400" spc="-25" dirty="0">
                <a:latin typeface="Calibri Light"/>
                <a:cs typeface="Calibri Light"/>
              </a:rPr>
              <a:t> </a:t>
            </a:r>
            <a:r>
              <a:rPr sz="1400" spc="-20" dirty="0">
                <a:latin typeface="Calibri Light"/>
                <a:cs typeface="Calibri Light"/>
              </a:rPr>
              <a:t>mata </a:t>
            </a:r>
            <a:r>
              <a:rPr sz="1400" spc="-10" dirty="0">
                <a:latin typeface="Calibri Light"/>
                <a:cs typeface="Calibri Light"/>
              </a:rPr>
              <a:t>kuliah</a:t>
            </a:r>
            <a:r>
              <a:rPr sz="1400" spc="-50" dirty="0">
                <a:latin typeface="Calibri Light"/>
                <a:cs typeface="Calibri Light"/>
              </a:rPr>
              <a:t> </a:t>
            </a:r>
            <a:r>
              <a:rPr sz="1400" spc="-10" dirty="0">
                <a:latin typeface="Calibri Light"/>
                <a:cs typeface="Calibri Light"/>
              </a:rPr>
              <a:t>pendidikan </a:t>
            </a:r>
            <a:r>
              <a:rPr sz="1400" spc="-20" dirty="0">
                <a:latin typeface="Calibri Light"/>
                <a:cs typeface="Calibri Light"/>
              </a:rPr>
              <a:t>Pancasila</a:t>
            </a:r>
            <a:r>
              <a:rPr sz="1400" spc="-10" dirty="0">
                <a:latin typeface="Calibri Light"/>
                <a:cs typeface="Calibri Light"/>
              </a:rPr>
              <a:t> dapat</a:t>
            </a:r>
            <a:r>
              <a:rPr sz="1400" spc="-25" dirty="0">
                <a:latin typeface="Calibri Light"/>
                <a:cs typeface="Calibri Light"/>
              </a:rPr>
              <a:t> diselenggarakan</a:t>
            </a:r>
            <a:r>
              <a:rPr sz="1400" spc="-35" dirty="0">
                <a:latin typeface="Calibri Light"/>
                <a:cs typeface="Calibri Light"/>
              </a:rPr>
              <a:t> </a:t>
            </a:r>
            <a:r>
              <a:rPr sz="1400" dirty="0">
                <a:latin typeface="Calibri Light"/>
                <a:cs typeface="Calibri Light"/>
              </a:rPr>
              <a:t>di</a:t>
            </a:r>
            <a:r>
              <a:rPr sz="1400" spc="-30" dirty="0">
                <a:latin typeface="Calibri Light"/>
                <a:cs typeface="Calibri Light"/>
              </a:rPr>
              <a:t> </a:t>
            </a:r>
            <a:r>
              <a:rPr sz="1400" spc="-20" dirty="0">
                <a:latin typeface="Calibri Light"/>
                <a:cs typeface="Calibri Light"/>
              </a:rPr>
              <a:t>berbagai</a:t>
            </a:r>
            <a:r>
              <a:rPr sz="1400" spc="-15" dirty="0">
                <a:latin typeface="Calibri Light"/>
                <a:cs typeface="Calibri Light"/>
              </a:rPr>
              <a:t> </a:t>
            </a:r>
            <a:r>
              <a:rPr sz="1400" spc="-25" dirty="0">
                <a:latin typeface="Calibri Light"/>
                <a:cs typeface="Calibri Light"/>
              </a:rPr>
              <a:t>program</a:t>
            </a:r>
            <a:r>
              <a:rPr sz="1400" spc="-20" dirty="0">
                <a:latin typeface="Calibri Light"/>
                <a:cs typeface="Calibri Light"/>
              </a:rPr>
              <a:t> </a:t>
            </a:r>
            <a:r>
              <a:rPr sz="1400" spc="-10" dirty="0">
                <a:latin typeface="Calibri Light"/>
                <a:cs typeface="Calibri Light"/>
              </a:rPr>
              <a:t>studi </a:t>
            </a:r>
            <a:r>
              <a:rPr sz="1400" spc="-20" dirty="0">
                <a:latin typeface="Calibri Light"/>
                <a:cs typeface="Calibri Light"/>
              </a:rPr>
              <a:t>dengan</a:t>
            </a:r>
            <a:r>
              <a:rPr sz="1400" spc="-50" dirty="0">
                <a:latin typeface="Calibri Light"/>
                <a:cs typeface="Calibri Light"/>
              </a:rPr>
              <a:t> </a:t>
            </a:r>
            <a:r>
              <a:rPr sz="1400" spc="-10" dirty="0">
                <a:latin typeface="Calibri Light"/>
                <a:cs typeface="Calibri Light"/>
              </a:rPr>
              <a:t>menarik</a:t>
            </a:r>
            <a:r>
              <a:rPr sz="1400" spc="-35" dirty="0">
                <a:latin typeface="Calibri Light"/>
                <a:cs typeface="Calibri Light"/>
              </a:rPr>
              <a:t> </a:t>
            </a:r>
            <a:r>
              <a:rPr sz="1400" dirty="0">
                <a:latin typeface="Calibri Light"/>
                <a:cs typeface="Calibri Light"/>
              </a:rPr>
              <a:t>dan</a:t>
            </a:r>
            <a:r>
              <a:rPr sz="1400" spc="-50" dirty="0">
                <a:latin typeface="Calibri Light"/>
                <a:cs typeface="Calibri Light"/>
              </a:rPr>
              <a:t> </a:t>
            </a:r>
            <a:r>
              <a:rPr sz="1400" spc="-10" dirty="0">
                <a:latin typeface="Calibri Light"/>
                <a:cs typeface="Calibri Light"/>
              </a:rPr>
              <a:t>efektif.</a:t>
            </a:r>
            <a:endParaRPr sz="1400">
              <a:latin typeface="Calibri Light"/>
              <a:cs typeface="Calibri Light"/>
            </a:endParaRPr>
          </a:p>
          <a:p>
            <a:pPr marL="199390" marR="161290">
              <a:lnSpc>
                <a:spcPct val="100000"/>
              </a:lnSpc>
              <a:spcBef>
                <a:spcPts val="755"/>
              </a:spcBef>
            </a:pPr>
            <a:r>
              <a:rPr sz="1200" b="1" spc="-20" dirty="0">
                <a:latin typeface="Tahoma"/>
                <a:cs typeface="Tahoma"/>
              </a:rPr>
              <a:t>Misalnya</a:t>
            </a:r>
            <a:r>
              <a:rPr sz="1200" b="1" spc="-30" dirty="0">
                <a:latin typeface="Tahoma"/>
                <a:cs typeface="Tahoma"/>
              </a:rPr>
              <a:t> </a:t>
            </a:r>
            <a:r>
              <a:rPr sz="1200" spc="-30" dirty="0">
                <a:latin typeface="Verdana"/>
                <a:cs typeface="Verdana"/>
              </a:rPr>
              <a:t>f</a:t>
            </a:r>
            <a:r>
              <a:rPr sz="1400" spc="-30" dirty="0">
                <a:latin typeface="Arial MT"/>
                <a:cs typeface="Arial MT"/>
              </a:rPr>
              <a:t>aktor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70" dirty="0">
                <a:latin typeface="Arial MT"/>
                <a:cs typeface="Arial MT"/>
              </a:rPr>
              <a:t>ketersediaan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25" dirty="0">
                <a:latin typeface="Arial MT"/>
                <a:cs typeface="Arial MT"/>
              </a:rPr>
              <a:t>sumber</a:t>
            </a:r>
            <a:r>
              <a:rPr sz="1400" spc="-25" dirty="0">
                <a:latin typeface="Arial MT"/>
                <a:cs typeface="Arial MT"/>
              </a:rPr>
              <a:t> daya,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45" dirty="0">
                <a:latin typeface="Arial MT"/>
                <a:cs typeface="Arial MT"/>
              </a:rPr>
              <a:t>dan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spesialisasi </a:t>
            </a:r>
            <a:r>
              <a:rPr sz="1400" spc="-60" dirty="0">
                <a:latin typeface="Arial MT"/>
                <a:cs typeface="Arial MT"/>
              </a:rPr>
              <a:t>program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90" dirty="0">
                <a:latin typeface="Arial MT"/>
                <a:cs typeface="Arial MT"/>
              </a:rPr>
              <a:t>studi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5" dirty="0">
                <a:latin typeface="Arial MT"/>
                <a:cs typeface="Arial MT"/>
              </a:rPr>
              <a:t>yang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100" dirty="0">
                <a:latin typeface="Arial MT"/>
                <a:cs typeface="Arial MT"/>
              </a:rPr>
              <a:t>makin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tajam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65" dirty="0">
                <a:latin typeface="Arial MT"/>
                <a:cs typeface="Arial MT"/>
              </a:rPr>
              <a:t>(yang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85" dirty="0">
                <a:latin typeface="Arial MT"/>
                <a:cs typeface="Arial MT"/>
              </a:rPr>
              <a:t>menyebabkan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kekurang </a:t>
            </a:r>
            <a:r>
              <a:rPr sz="1400" spc="-35" dirty="0">
                <a:latin typeface="Arial MT"/>
                <a:cs typeface="Arial MT"/>
              </a:rPr>
              <a:t>tertarikan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75" dirty="0">
                <a:latin typeface="Arial MT"/>
                <a:cs typeface="Arial MT"/>
              </a:rPr>
              <a:t>sebagian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25" dirty="0">
                <a:latin typeface="Arial MT"/>
                <a:cs typeface="Arial MT"/>
              </a:rPr>
              <a:t>mahasiswa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spc="-30" dirty="0">
                <a:latin typeface="Arial MT"/>
                <a:cs typeface="Arial MT"/>
              </a:rPr>
              <a:t>terhadap</a:t>
            </a:r>
            <a:r>
              <a:rPr sz="1400" spc="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pendidikan Pancasila).</a:t>
            </a:r>
            <a:endParaRPr sz="1400">
              <a:latin typeface="Arial MT"/>
              <a:cs typeface="Arial MT"/>
            </a:endParaRPr>
          </a:p>
          <a:p>
            <a:pPr marL="189230">
              <a:lnSpc>
                <a:spcPct val="100000"/>
              </a:lnSpc>
              <a:spcBef>
                <a:spcPts val="770"/>
              </a:spcBef>
            </a:pPr>
            <a:r>
              <a:rPr sz="1400" spc="-40" dirty="0">
                <a:latin typeface="Calibri Light"/>
                <a:cs typeface="Calibri Light"/>
              </a:rPr>
              <a:t>Tantangan</a:t>
            </a:r>
            <a:r>
              <a:rPr sz="1400" dirty="0">
                <a:latin typeface="Calibri Light"/>
                <a:cs typeface="Calibri Light"/>
              </a:rPr>
              <a:t> </a:t>
            </a:r>
            <a:r>
              <a:rPr sz="1400" spc="-10" dirty="0">
                <a:latin typeface="Calibri Light"/>
                <a:cs typeface="Calibri Light"/>
              </a:rPr>
              <a:t>eksternal,</a:t>
            </a:r>
            <a:endParaRPr sz="1400">
              <a:latin typeface="Calibri Light"/>
              <a:cs typeface="Calibri Light"/>
            </a:endParaRPr>
          </a:p>
          <a:p>
            <a:pPr marL="475615" marR="222885" indent="-28702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475615" algn="l"/>
              </a:tabLst>
            </a:pPr>
            <a:r>
              <a:rPr sz="1400" dirty="0">
                <a:latin typeface="Calibri Light"/>
                <a:cs typeface="Calibri Light"/>
              </a:rPr>
              <a:t>krisis</a:t>
            </a:r>
            <a:r>
              <a:rPr sz="1400" spc="-35" dirty="0">
                <a:latin typeface="Calibri Light"/>
                <a:cs typeface="Calibri Light"/>
              </a:rPr>
              <a:t> </a:t>
            </a:r>
            <a:r>
              <a:rPr sz="1400" spc="-10" dirty="0">
                <a:latin typeface="Calibri Light"/>
                <a:cs typeface="Calibri Light"/>
              </a:rPr>
              <a:t>keteladanan</a:t>
            </a:r>
            <a:r>
              <a:rPr sz="1400" spc="-40" dirty="0">
                <a:latin typeface="Calibri Light"/>
                <a:cs typeface="Calibri Light"/>
              </a:rPr>
              <a:t> </a:t>
            </a:r>
            <a:r>
              <a:rPr sz="1400" dirty="0">
                <a:latin typeface="Calibri Light"/>
                <a:cs typeface="Calibri Light"/>
              </a:rPr>
              <a:t>dari</a:t>
            </a:r>
            <a:r>
              <a:rPr sz="1400" spc="-25" dirty="0">
                <a:latin typeface="Calibri Light"/>
                <a:cs typeface="Calibri Light"/>
              </a:rPr>
              <a:t> </a:t>
            </a:r>
            <a:r>
              <a:rPr sz="1400" dirty="0">
                <a:latin typeface="Calibri Light"/>
                <a:cs typeface="Calibri Light"/>
              </a:rPr>
              <a:t>para</a:t>
            </a:r>
            <a:r>
              <a:rPr sz="1400" spc="-20" dirty="0">
                <a:latin typeface="Calibri Light"/>
                <a:cs typeface="Calibri Light"/>
              </a:rPr>
              <a:t> </a:t>
            </a:r>
            <a:r>
              <a:rPr sz="1400" dirty="0">
                <a:latin typeface="Calibri Light"/>
                <a:cs typeface="Calibri Light"/>
              </a:rPr>
              <a:t>elite</a:t>
            </a:r>
            <a:r>
              <a:rPr sz="1400" spc="-25" dirty="0">
                <a:latin typeface="Calibri Light"/>
                <a:cs typeface="Calibri Light"/>
              </a:rPr>
              <a:t> </a:t>
            </a:r>
            <a:r>
              <a:rPr sz="1400" dirty="0">
                <a:latin typeface="Calibri Light"/>
                <a:cs typeface="Calibri Light"/>
              </a:rPr>
              <a:t>politik</a:t>
            </a:r>
            <a:r>
              <a:rPr sz="1400" spc="-25" dirty="0">
                <a:latin typeface="Calibri Light"/>
                <a:cs typeface="Calibri Light"/>
              </a:rPr>
              <a:t> </a:t>
            </a:r>
            <a:r>
              <a:rPr sz="1400" dirty="0">
                <a:latin typeface="Calibri Light"/>
                <a:cs typeface="Calibri Light"/>
              </a:rPr>
              <a:t>dan</a:t>
            </a:r>
            <a:r>
              <a:rPr sz="1400" spc="-30" dirty="0">
                <a:latin typeface="Calibri Light"/>
                <a:cs typeface="Calibri Light"/>
              </a:rPr>
              <a:t> </a:t>
            </a:r>
            <a:r>
              <a:rPr sz="1400" spc="-10" dirty="0">
                <a:latin typeface="Calibri Light"/>
                <a:cs typeface="Calibri Light"/>
              </a:rPr>
              <a:t>maraknya</a:t>
            </a:r>
            <a:r>
              <a:rPr sz="1400" spc="-40" dirty="0">
                <a:latin typeface="Calibri Light"/>
                <a:cs typeface="Calibri Light"/>
              </a:rPr>
              <a:t> </a:t>
            </a:r>
            <a:r>
              <a:rPr sz="1400" spc="-20" dirty="0">
                <a:latin typeface="Calibri Light"/>
                <a:cs typeface="Calibri Light"/>
              </a:rPr>
              <a:t>gaya </a:t>
            </a:r>
            <a:r>
              <a:rPr sz="1400" dirty="0">
                <a:latin typeface="Calibri Light"/>
                <a:cs typeface="Calibri Light"/>
              </a:rPr>
              <a:t>hidup</a:t>
            </a:r>
            <a:r>
              <a:rPr sz="1400" spc="-20" dirty="0">
                <a:latin typeface="Calibri Light"/>
                <a:cs typeface="Calibri Light"/>
              </a:rPr>
              <a:t> </a:t>
            </a:r>
            <a:r>
              <a:rPr sz="1400" spc="-10" dirty="0">
                <a:latin typeface="Calibri Light"/>
                <a:cs typeface="Calibri Light"/>
              </a:rPr>
              <a:t>hedonistik</a:t>
            </a:r>
            <a:r>
              <a:rPr sz="1400" spc="-35" dirty="0">
                <a:latin typeface="Calibri Light"/>
                <a:cs typeface="Calibri Light"/>
              </a:rPr>
              <a:t> </a:t>
            </a:r>
            <a:r>
              <a:rPr sz="1400" dirty="0">
                <a:latin typeface="Calibri Light"/>
                <a:cs typeface="Calibri Light"/>
              </a:rPr>
              <a:t>di</a:t>
            </a:r>
            <a:r>
              <a:rPr sz="1400" spc="-5" dirty="0">
                <a:latin typeface="Calibri Light"/>
                <a:cs typeface="Calibri Light"/>
              </a:rPr>
              <a:t> </a:t>
            </a:r>
            <a:r>
              <a:rPr sz="1400" dirty="0">
                <a:latin typeface="Calibri Light"/>
                <a:cs typeface="Calibri Light"/>
              </a:rPr>
              <a:t>dalam</a:t>
            </a:r>
            <a:r>
              <a:rPr sz="1400" spc="5" dirty="0">
                <a:latin typeface="Calibri Light"/>
                <a:cs typeface="Calibri Light"/>
              </a:rPr>
              <a:t> </a:t>
            </a:r>
            <a:r>
              <a:rPr sz="1400" spc="-10" dirty="0">
                <a:latin typeface="Calibri Light"/>
                <a:cs typeface="Calibri Light"/>
              </a:rPr>
              <a:t>masyarakat</a:t>
            </a:r>
            <a:endParaRPr sz="14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25656" y="6665974"/>
            <a:ext cx="427990" cy="191770"/>
          </a:xfrm>
          <a:custGeom>
            <a:avLst/>
            <a:gdLst/>
            <a:ahLst/>
            <a:cxnLst/>
            <a:rect l="l" t="t" r="r" b="b"/>
            <a:pathLst>
              <a:path w="427990" h="191770">
                <a:moveTo>
                  <a:pt x="427863" y="0"/>
                </a:moveTo>
                <a:lnTo>
                  <a:pt x="0" y="0"/>
                </a:lnTo>
                <a:lnTo>
                  <a:pt x="0" y="191643"/>
                </a:lnTo>
                <a:lnTo>
                  <a:pt x="427863" y="191643"/>
                </a:lnTo>
                <a:lnTo>
                  <a:pt x="427863" y="0"/>
                </a:lnTo>
                <a:close/>
              </a:path>
            </a:pathLst>
          </a:custGeom>
          <a:solidFill>
            <a:srgbClr val="00518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665975"/>
            <a:ext cx="10972800" cy="1920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027664" y="6665974"/>
            <a:ext cx="290830" cy="191770"/>
          </a:xfrm>
          <a:custGeom>
            <a:avLst/>
            <a:gdLst/>
            <a:ahLst/>
            <a:cxnLst/>
            <a:rect l="l" t="t" r="r" b="b"/>
            <a:pathLst>
              <a:path w="290829" h="191770">
                <a:moveTo>
                  <a:pt x="290702" y="0"/>
                </a:moveTo>
                <a:lnTo>
                  <a:pt x="0" y="0"/>
                </a:lnTo>
                <a:lnTo>
                  <a:pt x="0" y="191643"/>
                </a:lnTo>
                <a:lnTo>
                  <a:pt x="290702" y="191643"/>
                </a:lnTo>
                <a:lnTo>
                  <a:pt x="290702" y="0"/>
                </a:lnTo>
                <a:close/>
              </a:path>
            </a:pathLst>
          </a:custGeom>
          <a:solidFill>
            <a:srgbClr val="0051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376659" y="6665974"/>
            <a:ext cx="292735" cy="191770"/>
          </a:xfrm>
          <a:custGeom>
            <a:avLst/>
            <a:gdLst/>
            <a:ahLst/>
            <a:cxnLst/>
            <a:rect l="l" t="t" r="r" b="b"/>
            <a:pathLst>
              <a:path w="292734" h="191770">
                <a:moveTo>
                  <a:pt x="292480" y="0"/>
                </a:moveTo>
                <a:lnTo>
                  <a:pt x="0" y="0"/>
                </a:lnTo>
                <a:lnTo>
                  <a:pt x="0" y="191643"/>
                </a:lnTo>
                <a:lnTo>
                  <a:pt x="292480" y="191643"/>
                </a:lnTo>
                <a:lnTo>
                  <a:pt x="292480" y="0"/>
                </a:lnTo>
                <a:close/>
              </a:path>
            </a:pathLst>
          </a:custGeom>
          <a:solidFill>
            <a:srgbClr val="00518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82296" y="0"/>
            <a:ext cx="629920" cy="820419"/>
            <a:chOff x="82296" y="0"/>
            <a:chExt cx="629920" cy="82041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96" y="0"/>
              <a:ext cx="629412" cy="6141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160" y="513587"/>
              <a:ext cx="519684" cy="21640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203" y="601980"/>
              <a:ext cx="553212" cy="217932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5803391" y="2638044"/>
            <a:ext cx="276225" cy="0"/>
          </a:xfrm>
          <a:custGeom>
            <a:avLst/>
            <a:gdLst/>
            <a:ahLst/>
            <a:cxnLst/>
            <a:rect l="l" t="t" r="r" b="b"/>
            <a:pathLst>
              <a:path w="276225">
                <a:moveTo>
                  <a:pt x="0" y="0"/>
                </a:moveTo>
                <a:lnTo>
                  <a:pt x="275717" y="0"/>
                </a:lnTo>
              </a:path>
            </a:pathLst>
          </a:custGeom>
          <a:ln w="12192">
            <a:solidFill>
              <a:srgbClr val="7C7C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03391" y="3336035"/>
            <a:ext cx="276225" cy="0"/>
          </a:xfrm>
          <a:custGeom>
            <a:avLst/>
            <a:gdLst/>
            <a:ahLst/>
            <a:cxnLst/>
            <a:rect l="l" t="t" r="r" b="b"/>
            <a:pathLst>
              <a:path w="276225">
                <a:moveTo>
                  <a:pt x="0" y="0"/>
                </a:moveTo>
                <a:lnTo>
                  <a:pt x="275717" y="0"/>
                </a:lnTo>
              </a:path>
            </a:pathLst>
          </a:custGeom>
          <a:ln w="12192">
            <a:solidFill>
              <a:srgbClr val="7C7C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03391" y="4756403"/>
            <a:ext cx="276225" cy="0"/>
          </a:xfrm>
          <a:custGeom>
            <a:avLst/>
            <a:gdLst/>
            <a:ahLst/>
            <a:cxnLst/>
            <a:rect l="l" t="t" r="r" b="b"/>
            <a:pathLst>
              <a:path w="276225">
                <a:moveTo>
                  <a:pt x="0" y="0"/>
                </a:moveTo>
                <a:lnTo>
                  <a:pt x="275717" y="0"/>
                </a:lnTo>
              </a:path>
            </a:pathLst>
          </a:custGeom>
          <a:ln w="12192">
            <a:solidFill>
              <a:srgbClr val="7C7C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03391" y="5463540"/>
            <a:ext cx="276225" cy="0"/>
          </a:xfrm>
          <a:custGeom>
            <a:avLst/>
            <a:gdLst/>
            <a:ahLst/>
            <a:cxnLst/>
            <a:rect l="l" t="t" r="r" b="b"/>
            <a:pathLst>
              <a:path w="276225">
                <a:moveTo>
                  <a:pt x="0" y="0"/>
                </a:moveTo>
                <a:lnTo>
                  <a:pt x="275717" y="0"/>
                </a:lnTo>
              </a:path>
            </a:pathLst>
          </a:custGeom>
          <a:ln w="12192">
            <a:solidFill>
              <a:srgbClr val="7C7C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24144" y="1851660"/>
            <a:ext cx="123825" cy="142875"/>
          </a:xfrm>
          <a:custGeom>
            <a:avLst/>
            <a:gdLst/>
            <a:ahLst/>
            <a:cxnLst/>
            <a:rect l="l" t="t" r="r" b="b"/>
            <a:pathLst>
              <a:path w="123825" h="142875">
                <a:moveTo>
                  <a:pt x="0" y="0"/>
                </a:moveTo>
                <a:lnTo>
                  <a:pt x="0" y="142875"/>
                </a:lnTo>
                <a:lnTo>
                  <a:pt x="123443" y="71500"/>
                </a:lnTo>
                <a:lnTo>
                  <a:pt x="0" y="0"/>
                </a:lnTo>
                <a:close/>
              </a:path>
            </a:pathLst>
          </a:custGeom>
          <a:solidFill>
            <a:srgbClr val="6D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24144" y="2560320"/>
            <a:ext cx="123825" cy="144780"/>
          </a:xfrm>
          <a:custGeom>
            <a:avLst/>
            <a:gdLst/>
            <a:ahLst/>
            <a:cxnLst/>
            <a:rect l="l" t="t" r="r" b="b"/>
            <a:pathLst>
              <a:path w="123825" h="144780">
                <a:moveTo>
                  <a:pt x="0" y="0"/>
                </a:moveTo>
                <a:lnTo>
                  <a:pt x="0" y="144525"/>
                </a:lnTo>
                <a:lnTo>
                  <a:pt x="123443" y="72135"/>
                </a:lnTo>
                <a:lnTo>
                  <a:pt x="0" y="0"/>
                </a:lnTo>
                <a:close/>
              </a:path>
            </a:pathLst>
          </a:custGeom>
          <a:solidFill>
            <a:srgbClr val="6D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24144" y="3264408"/>
            <a:ext cx="123825" cy="144780"/>
          </a:xfrm>
          <a:custGeom>
            <a:avLst/>
            <a:gdLst/>
            <a:ahLst/>
            <a:cxnLst/>
            <a:rect l="l" t="t" r="r" b="b"/>
            <a:pathLst>
              <a:path w="123825" h="144779">
                <a:moveTo>
                  <a:pt x="0" y="0"/>
                </a:moveTo>
                <a:lnTo>
                  <a:pt x="0" y="144652"/>
                </a:lnTo>
                <a:lnTo>
                  <a:pt x="123443" y="72262"/>
                </a:lnTo>
                <a:lnTo>
                  <a:pt x="0" y="0"/>
                </a:lnTo>
                <a:close/>
              </a:path>
            </a:pathLst>
          </a:custGeom>
          <a:solidFill>
            <a:srgbClr val="6D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24144" y="4684776"/>
            <a:ext cx="123825" cy="144780"/>
          </a:xfrm>
          <a:custGeom>
            <a:avLst/>
            <a:gdLst/>
            <a:ahLst/>
            <a:cxnLst/>
            <a:rect l="l" t="t" r="r" b="b"/>
            <a:pathLst>
              <a:path w="123825" h="144779">
                <a:moveTo>
                  <a:pt x="0" y="0"/>
                </a:moveTo>
                <a:lnTo>
                  <a:pt x="0" y="144653"/>
                </a:lnTo>
                <a:lnTo>
                  <a:pt x="123443" y="72262"/>
                </a:lnTo>
                <a:lnTo>
                  <a:pt x="0" y="0"/>
                </a:lnTo>
                <a:close/>
              </a:path>
            </a:pathLst>
          </a:custGeom>
          <a:solidFill>
            <a:srgbClr val="6D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24144" y="5388864"/>
            <a:ext cx="123825" cy="144780"/>
          </a:xfrm>
          <a:custGeom>
            <a:avLst/>
            <a:gdLst/>
            <a:ahLst/>
            <a:cxnLst/>
            <a:rect l="l" t="t" r="r" b="b"/>
            <a:pathLst>
              <a:path w="123825" h="144779">
                <a:moveTo>
                  <a:pt x="0" y="0"/>
                </a:moveTo>
                <a:lnTo>
                  <a:pt x="0" y="144653"/>
                </a:lnTo>
                <a:lnTo>
                  <a:pt x="123443" y="72263"/>
                </a:lnTo>
                <a:lnTo>
                  <a:pt x="0" y="0"/>
                </a:lnTo>
                <a:close/>
              </a:path>
            </a:pathLst>
          </a:custGeom>
          <a:solidFill>
            <a:srgbClr val="6D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24144" y="6149340"/>
            <a:ext cx="123825" cy="142875"/>
          </a:xfrm>
          <a:custGeom>
            <a:avLst/>
            <a:gdLst/>
            <a:ahLst/>
            <a:cxnLst/>
            <a:rect l="l" t="t" r="r" b="b"/>
            <a:pathLst>
              <a:path w="123825" h="142875">
                <a:moveTo>
                  <a:pt x="0" y="0"/>
                </a:moveTo>
                <a:lnTo>
                  <a:pt x="0" y="142836"/>
                </a:lnTo>
                <a:lnTo>
                  <a:pt x="123443" y="71424"/>
                </a:lnTo>
                <a:lnTo>
                  <a:pt x="0" y="0"/>
                </a:lnTo>
                <a:close/>
              </a:path>
            </a:pathLst>
          </a:custGeom>
          <a:solidFill>
            <a:srgbClr val="6D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29483" y="2321077"/>
            <a:ext cx="3008630" cy="597535"/>
          </a:xfrm>
          <a:custGeom>
            <a:avLst/>
            <a:gdLst/>
            <a:ahLst/>
            <a:cxnLst/>
            <a:rect l="l" t="t" r="r" b="b"/>
            <a:pathLst>
              <a:path w="3008629" h="597535">
                <a:moveTo>
                  <a:pt x="3008122" y="0"/>
                </a:moveTo>
                <a:lnTo>
                  <a:pt x="0" y="0"/>
                </a:lnTo>
                <a:lnTo>
                  <a:pt x="0" y="597382"/>
                </a:lnTo>
                <a:lnTo>
                  <a:pt x="3008122" y="597382"/>
                </a:lnTo>
                <a:lnTo>
                  <a:pt x="300812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29483" y="3037332"/>
            <a:ext cx="3008630" cy="617855"/>
          </a:xfrm>
          <a:custGeom>
            <a:avLst/>
            <a:gdLst/>
            <a:ahLst/>
            <a:cxnLst/>
            <a:rect l="l" t="t" r="r" b="b"/>
            <a:pathLst>
              <a:path w="3008629" h="617854">
                <a:moveTo>
                  <a:pt x="3008122" y="0"/>
                </a:moveTo>
                <a:lnTo>
                  <a:pt x="0" y="0"/>
                </a:lnTo>
                <a:lnTo>
                  <a:pt x="0" y="617854"/>
                </a:lnTo>
                <a:lnTo>
                  <a:pt x="3008122" y="617854"/>
                </a:lnTo>
                <a:lnTo>
                  <a:pt x="300812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729483" y="3742969"/>
            <a:ext cx="3008630" cy="624205"/>
          </a:xfrm>
          <a:custGeom>
            <a:avLst/>
            <a:gdLst/>
            <a:ahLst/>
            <a:cxnLst/>
            <a:rect l="l" t="t" r="r" b="b"/>
            <a:pathLst>
              <a:path w="3008629" h="624204">
                <a:moveTo>
                  <a:pt x="3008122" y="0"/>
                </a:moveTo>
                <a:lnTo>
                  <a:pt x="0" y="0"/>
                </a:lnTo>
                <a:lnTo>
                  <a:pt x="0" y="623925"/>
                </a:lnTo>
                <a:lnTo>
                  <a:pt x="3008122" y="623925"/>
                </a:lnTo>
                <a:lnTo>
                  <a:pt x="300812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29483" y="4459185"/>
            <a:ext cx="3008630" cy="582930"/>
          </a:xfrm>
          <a:custGeom>
            <a:avLst/>
            <a:gdLst/>
            <a:ahLst/>
            <a:cxnLst/>
            <a:rect l="l" t="t" r="r" b="b"/>
            <a:pathLst>
              <a:path w="3008629" h="582929">
                <a:moveTo>
                  <a:pt x="3008122" y="0"/>
                </a:moveTo>
                <a:lnTo>
                  <a:pt x="0" y="0"/>
                </a:lnTo>
                <a:lnTo>
                  <a:pt x="0" y="582841"/>
                </a:lnTo>
                <a:lnTo>
                  <a:pt x="3008122" y="582841"/>
                </a:lnTo>
                <a:lnTo>
                  <a:pt x="300812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729483" y="5146547"/>
            <a:ext cx="3008630" cy="641350"/>
          </a:xfrm>
          <a:custGeom>
            <a:avLst/>
            <a:gdLst/>
            <a:ahLst/>
            <a:cxnLst/>
            <a:rect l="l" t="t" r="r" b="b"/>
            <a:pathLst>
              <a:path w="3008629" h="641350">
                <a:moveTo>
                  <a:pt x="3008122" y="0"/>
                </a:moveTo>
                <a:lnTo>
                  <a:pt x="0" y="0"/>
                </a:lnTo>
                <a:lnTo>
                  <a:pt x="0" y="641311"/>
                </a:lnTo>
                <a:lnTo>
                  <a:pt x="3008122" y="641311"/>
                </a:lnTo>
                <a:lnTo>
                  <a:pt x="300812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729483" y="5891784"/>
            <a:ext cx="3008630" cy="525780"/>
          </a:xfrm>
          <a:custGeom>
            <a:avLst/>
            <a:gdLst/>
            <a:ahLst/>
            <a:cxnLst/>
            <a:rect l="l" t="t" r="r" b="b"/>
            <a:pathLst>
              <a:path w="3008629" h="525779">
                <a:moveTo>
                  <a:pt x="3008122" y="0"/>
                </a:moveTo>
                <a:lnTo>
                  <a:pt x="0" y="0"/>
                </a:lnTo>
                <a:lnTo>
                  <a:pt x="0" y="525779"/>
                </a:lnTo>
                <a:lnTo>
                  <a:pt x="3008122" y="525779"/>
                </a:lnTo>
                <a:lnTo>
                  <a:pt x="300812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29483" y="1613954"/>
            <a:ext cx="3008630" cy="593090"/>
          </a:xfrm>
          <a:custGeom>
            <a:avLst/>
            <a:gdLst/>
            <a:ahLst/>
            <a:cxnLst/>
            <a:rect l="l" t="t" r="r" b="b"/>
            <a:pathLst>
              <a:path w="3008629" h="593089">
                <a:moveTo>
                  <a:pt x="3008122" y="0"/>
                </a:moveTo>
                <a:lnTo>
                  <a:pt x="0" y="0"/>
                </a:lnTo>
                <a:lnTo>
                  <a:pt x="0" y="592543"/>
                </a:lnTo>
                <a:lnTo>
                  <a:pt x="3008122" y="592543"/>
                </a:lnTo>
                <a:lnTo>
                  <a:pt x="300812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82296" y="950975"/>
            <a:ext cx="12003405" cy="520065"/>
            <a:chOff x="82296" y="950975"/>
            <a:chExt cx="12003405" cy="520065"/>
          </a:xfrm>
        </p:grpSpPr>
        <p:sp>
          <p:nvSpPr>
            <p:cNvPr id="28" name="object 28"/>
            <p:cNvSpPr/>
            <p:nvPr/>
          </p:nvSpPr>
          <p:spPr>
            <a:xfrm>
              <a:off x="2694431" y="964691"/>
              <a:ext cx="3488690" cy="506095"/>
            </a:xfrm>
            <a:custGeom>
              <a:avLst/>
              <a:gdLst/>
              <a:ahLst/>
              <a:cxnLst/>
              <a:rect l="l" t="t" r="r" b="b"/>
              <a:pathLst>
                <a:path w="3488690" h="506094">
                  <a:moveTo>
                    <a:pt x="3408299" y="0"/>
                  </a:moveTo>
                  <a:lnTo>
                    <a:pt x="0" y="0"/>
                  </a:lnTo>
                  <a:lnTo>
                    <a:pt x="0" y="505841"/>
                  </a:lnTo>
                  <a:lnTo>
                    <a:pt x="3408299" y="505841"/>
                  </a:lnTo>
                  <a:lnTo>
                    <a:pt x="3488435" y="252984"/>
                  </a:lnTo>
                  <a:lnTo>
                    <a:pt x="3408299" y="0"/>
                  </a:lnTo>
                  <a:close/>
                </a:path>
              </a:pathLst>
            </a:custGeom>
            <a:solidFill>
              <a:srgbClr val="0051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296" y="966215"/>
              <a:ext cx="2590800" cy="502920"/>
            </a:xfrm>
            <a:custGeom>
              <a:avLst/>
              <a:gdLst/>
              <a:ahLst/>
              <a:cxnLst/>
              <a:rect l="l" t="t" r="r" b="b"/>
              <a:pathLst>
                <a:path w="2590800" h="502919">
                  <a:moveTo>
                    <a:pt x="2490343" y="0"/>
                  </a:moveTo>
                  <a:lnTo>
                    <a:pt x="0" y="0"/>
                  </a:lnTo>
                  <a:lnTo>
                    <a:pt x="100330" y="251333"/>
                  </a:lnTo>
                  <a:lnTo>
                    <a:pt x="0" y="502793"/>
                  </a:lnTo>
                  <a:lnTo>
                    <a:pt x="2490343" y="502793"/>
                  </a:lnTo>
                  <a:lnTo>
                    <a:pt x="2590673" y="251333"/>
                  </a:lnTo>
                  <a:lnTo>
                    <a:pt x="2490343" y="0"/>
                  </a:lnTo>
                  <a:close/>
                </a:path>
              </a:pathLst>
            </a:custGeom>
            <a:solidFill>
              <a:srgbClr val="115F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82867" y="950975"/>
              <a:ext cx="3349625" cy="502920"/>
            </a:xfrm>
            <a:custGeom>
              <a:avLst/>
              <a:gdLst/>
              <a:ahLst/>
              <a:cxnLst/>
              <a:rect l="l" t="t" r="r" b="b"/>
              <a:pathLst>
                <a:path w="3349625" h="502919">
                  <a:moveTo>
                    <a:pt x="3248914" y="0"/>
                  </a:moveTo>
                  <a:lnTo>
                    <a:pt x="0" y="0"/>
                  </a:lnTo>
                  <a:lnTo>
                    <a:pt x="100457" y="251333"/>
                  </a:lnTo>
                  <a:lnTo>
                    <a:pt x="0" y="502793"/>
                  </a:lnTo>
                  <a:lnTo>
                    <a:pt x="3248914" y="502793"/>
                  </a:lnTo>
                  <a:lnTo>
                    <a:pt x="3349243" y="251333"/>
                  </a:lnTo>
                  <a:lnTo>
                    <a:pt x="3248914" y="0"/>
                  </a:lnTo>
                  <a:close/>
                </a:path>
              </a:pathLst>
            </a:custGeom>
            <a:solidFill>
              <a:srgbClr val="6D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494519" y="950975"/>
              <a:ext cx="2590800" cy="502920"/>
            </a:xfrm>
            <a:custGeom>
              <a:avLst/>
              <a:gdLst/>
              <a:ahLst/>
              <a:cxnLst/>
              <a:rect l="l" t="t" r="r" b="b"/>
              <a:pathLst>
                <a:path w="2590800" h="502919">
                  <a:moveTo>
                    <a:pt x="2490343" y="0"/>
                  </a:moveTo>
                  <a:lnTo>
                    <a:pt x="0" y="0"/>
                  </a:lnTo>
                  <a:lnTo>
                    <a:pt x="100456" y="251333"/>
                  </a:lnTo>
                  <a:lnTo>
                    <a:pt x="0" y="502793"/>
                  </a:lnTo>
                  <a:lnTo>
                    <a:pt x="2490343" y="502793"/>
                  </a:lnTo>
                  <a:lnTo>
                    <a:pt x="2590800" y="251333"/>
                  </a:lnTo>
                  <a:lnTo>
                    <a:pt x="2490343" y="0"/>
                  </a:lnTo>
                  <a:close/>
                </a:path>
              </a:pathLst>
            </a:custGeom>
            <a:solidFill>
              <a:srgbClr val="6DAC46">
                <a:alpha val="7882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946273" y="1010233"/>
            <a:ext cx="215392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Esensi</a:t>
            </a:r>
            <a:r>
              <a:rPr sz="1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materi</a:t>
            </a:r>
            <a:r>
              <a:rPr sz="1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pendidikan</a:t>
            </a:r>
            <a:endParaRPr sz="14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Pancasila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2612" y="1077595"/>
            <a:ext cx="14522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Landasan</a:t>
            </a:r>
            <a:r>
              <a:rPr sz="1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Yuridis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01053" y="1059307"/>
            <a:ext cx="18827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Strategi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Pembelajaran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341609" y="1092834"/>
            <a:ext cx="7175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Dampak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38627" y="1623060"/>
            <a:ext cx="277495" cy="268605"/>
          </a:xfrm>
          <a:prstGeom prst="rect">
            <a:avLst/>
          </a:prstGeom>
          <a:solidFill>
            <a:srgbClr val="00518F"/>
          </a:solidFill>
        </p:spPr>
        <p:txBody>
          <a:bodyPr vert="horz" wrap="square" lIns="0" tIns="3810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300"/>
              </a:spcBef>
            </a:pP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01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738627" y="2321051"/>
            <a:ext cx="277495" cy="268605"/>
          </a:xfrm>
          <a:custGeom>
            <a:avLst/>
            <a:gdLst/>
            <a:ahLst/>
            <a:cxnLst/>
            <a:rect l="l" t="t" r="r" b="b"/>
            <a:pathLst>
              <a:path w="277494" h="268605">
                <a:moveTo>
                  <a:pt x="277368" y="0"/>
                </a:moveTo>
                <a:lnTo>
                  <a:pt x="0" y="0"/>
                </a:lnTo>
                <a:lnTo>
                  <a:pt x="0" y="268224"/>
                </a:lnTo>
                <a:lnTo>
                  <a:pt x="277368" y="268224"/>
                </a:lnTo>
                <a:lnTo>
                  <a:pt x="277368" y="0"/>
                </a:lnTo>
                <a:close/>
              </a:path>
            </a:pathLst>
          </a:custGeom>
          <a:solidFill>
            <a:srgbClr val="0051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785617" y="2346198"/>
            <a:ext cx="1809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02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738627" y="3046476"/>
            <a:ext cx="277495" cy="268605"/>
          </a:xfrm>
          <a:custGeom>
            <a:avLst/>
            <a:gdLst/>
            <a:ahLst/>
            <a:cxnLst/>
            <a:rect l="l" t="t" r="r" b="b"/>
            <a:pathLst>
              <a:path w="277494" h="268604">
                <a:moveTo>
                  <a:pt x="277368" y="0"/>
                </a:moveTo>
                <a:lnTo>
                  <a:pt x="0" y="0"/>
                </a:lnTo>
                <a:lnTo>
                  <a:pt x="0" y="268224"/>
                </a:lnTo>
                <a:lnTo>
                  <a:pt x="277368" y="268224"/>
                </a:lnTo>
                <a:lnTo>
                  <a:pt x="277368" y="0"/>
                </a:lnTo>
                <a:close/>
              </a:path>
            </a:pathLst>
          </a:custGeom>
          <a:solidFill>
            <a:srgbClr val="0051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785617" y="3072130"/>
            <a:ext cx="1809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03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738627" y="3742944"/>
            <a:ext cx="277495" cy="268605"/>
          </a:xfrm>
          <a:custGeom>
            <a:avLst/>
            <a:gdLst/>
            <a:ahLst/>
            <a:cxnLst/>
            <a:rect l="l" t="t" r="r" b="b"/>
            <a:pathLst>
              <a:path w="277494" h="268604">
                <a:moveTo>
                  <a:pt x="277368" y="0"/>
                </a:moveTo>
                <a:lnTo>
                  <a:pt x="0" y="0"/>
                </a:lnTo>
                <a:lnTo>
                  <a:pt x="0" y="268223"/>
                </a:lnTo>
                <a:lnTo>
                  <a:pt x="277368" y="268223"/>
                </a:lnTo>
                <a:lnTo>
                  <a:pt x="277368" y="0"/>
                </a:lnTo>
                <a:close/>
              </a:path>
            </a:pathLst>
          </a:custGeom>
          <a:solidFill>
            <a:srgbClr val="0051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2785617" y="3769614"/>
            <a:ext cx="1809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04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738627" y="4459223"/>
            <a:ext cx="277495" cy="268605"/>
          </a:xfrm>
          <a:prstGeom prst="rect">
            <a:avLst/>
          </a:prstGeom>
          <a:solidFill>
            <a:srgbClr val="00518F"/>
          </a:solidFill>
        </p:spPr>
        <p:txBody>
          <a:bodyPr vert="horz" wrap="square" lIns="0" tIns="3937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310"/>
              </a:spcBef>
            </a:pP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05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738627" y="5157215"/>
            <a:ext cx="277495" cy="266700"/>
          </a:xfrm>
          <a:custGeom>
            <a:avLst/>
            <a:gdLst/>
            <a:ahLst/>
            <a:cxnLst/>
            <a:rect l="l" t="t" r="r" b="b"/>
            <a:pathLst>
              <a:path w="277494" h="266700">
                <a:moveTo>
                  <a:pt x="277368" y="0"/>
                </a:moveTo>
                <a:lnTo>
                  <a:pt x="0" y="0"/>
                </a:lnTo>
                <a:lnTo>
                  <a:pt x="0" y="266700"/>
                </a:lnTo>
                <a:lnTo>
                  <a:pt x="277368" y="266700"/>
                </a:lnTo>
                <a:lnTo>
                  <a:pt x="277368" y="0"/>
                </a:lnTo>
                <a:close/>
              </a:path>
            </a:pathLst>
          </a:custGeom>
          <a:solidFill>
            <a:srgbClr val="0051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785617" y="5183504"/>
            <a:ext cx="1809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06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38627" y="5891784"/>
            <a:ext cx="277495" cy="268605"/>
          </a:xfrm>
          <a:prstGeom prst="rect">
            <a:avLst/>
          </a:prstGeom>
          <a:solidFill>
            <a:srgbClr val="00518F"/>
          </a:solidFill>
        </p:spPr>
        <p:txBody>
          <a:bodyPr vert="horz" wrap="square" lIns="0" tIns="4064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320"/>
              </a:spcBef>
            </a:pPr>
            <a:r>
              <a:rPr sz="1100" spc="-25" dirty="0">
                <a:solidFill>
                  <a:srgbClr val="FFFFFF"/>
                </a:solidFill>
                <a:latin typeface="Arial MT"/>
                <a:cs typeface="Arial MT"/>
              </a:rPr>
              <a:t>07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156966" y="1646047"/>
            <a:ext cx="19399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Pengantar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perkuliahan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738627" y="1891283"/>
            <a:ext cx="2999105" cy="31559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430530">
              <a:lnSpc>
                <a:spcPts val="1535"/>
              </a:lnSpc>
            </a:pPr>
            <a:r>
              <a:rPr sz="1400" b="1" dirty="0">
                <a:latin typeface="Arial"/>
                <a:cs typeface="Arial"/>
              </a:rPr>
              <a:t>pendidikan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Pancasila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131057" y="2352801"/>
            <a:ext cx="19481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Pancasila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dalam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kajian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131057" y="2566162"/>
            <a:ext cx="21805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sejarah</a:t>
            </a:r>
            <a:r>
              <a:rPr sz="1400" b="1" spc="-9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bangsa</a:t>
            </a:r>
            <a:r>
              <a:rPr sz="1400" b="1" spc="-9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Indonesia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166110" y="3086176"/>
            <a:ext cx="1546225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Pancasila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sebagai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Arial"/>
                <a:cs typeface="Arial"/>
              </a:rPr>
              <a:t>dasar</a:t>
            </a:r>
            <a:r>
              <a:rPr sz="1400" b="1" spc="-7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negara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158998" y="3753739"/>
            <a:ext cx="22669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Pencasila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sebagai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ideologi negara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155060" y="4443476"/>
            <a:ext cx="21653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Pancasila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sebagai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sistem</a:t>
            </a:r>
            <a:endParaRPr sz="14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738627" y="4727447"/>
            <a:ext cx="2999105" cy="31496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428625">
              <a:lnSpc>
                <a:spcPts val="1230"/>
              </a:lnSpc>
            </a:pPr>
            <a:r>
              <a:rPr sz="1400" b="1" spc="-10" dirty="0">
                <a:latin typeface="Arial"/>
                <a:cs typeface="Arial"/>
              </a:rPr>
              <a:t>filsafat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724144" y="1659623"/>
            <a:ext cx="3528060" cy="4567555"/>
            <a:chOff x="5724144" y="1659623"/>
            <a:chExt cx="3528060" cy="4567555"/>
          </a:xfrm>
        </p:grpSpPr>
        <p:sp>
          <p:nvSpPr>
            <p:cNvPr id="56" name="object 56"/>
            <p:cNvSpPr/>
            <p:nvPr/>
          </p:nvSpPr>
          <p:spPr>
            <a:xfrm>
              <a:off x="5847588" y="1923288"/>
              <a:ext cx="239395" cy="4297680"/>
            </a:xfrm>
            <a:custGeom>
              <a:avLst/>
              <a:gdLst/>
              <a:ahLst/>
              <a:cxnLst/>
              <a:rect l="l" t="t" r="r" b="b"/>
              <a:pathLst>
                <a:path w="239395" h="4297680">
                  <a:moveTo>
                    <a:pt x="0" y="0"/>
                  </a:moveTo>
                  <a:lnTo>
                    <a:pt x="238887" y="0"/>
                  </a:lnTo>
                  <a:lnTo>
                    <a:pt x="238887" y="4297324"/>
                  </a:lnTo>
                  <a:lnTo>
                    <a:pt x="12700" y="4297324"/>
                  </a:lnTo>
                </a:path>
              </a:pathLst>
            </a:custGeom>
            <a:ln w="12192">
              <a:solidFill>
                <a:srgbClr val="7C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4313" y="2165604"/>
              <a:ext cx="41388" cy="10058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736336" y="4040123"/>
              <a:ext cx="583565" cy="3175"/>
            </a:xfrm>
            <a:custGeom>
              <a:avLst/>
              <a:gdLst/>
              <a:ahLst/>
              <a:cxnLst/>
              <a:rect l="l" t="t" r="r" b="b"/>
              <a:pathLst>
                <a:path w="583564" h="3175">
                  <a:moveTo>
                    <a:pt x="0" y="0"/>
                  </a:moveTo>
                  <a:lnTo>
                    <a:pt x="583564" y="2920"/>
                  </a:lnTo>
                </a:path>
              </a:pathLst>
            </a:custGeom>
            <a:ln w="12191">
              <a:solidFill>
                <a:srgbClr val="7C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724144" y="3974591"/>
              <a:ext cx="449580" cy="144780"/>
            </a:xfrm>
            <a:custGeom>
              <a:avLst/>
              <a:gdLst/>
              <a:ahLst/>
              <a:cxnLst/>
              <a:rect l="l" t="t" r="r" b="b"/>
              <a:pathLst>
                <a:path w="449579" h="144779">
                  <a:moveTo>
                    <a:pt x="123444" y="72263"/>
                  </a:moveTo>
                  <a:lnTo>
                    <a:pt x="0" y="0"/>
                  </a:lnTo>
                  <a:lnTo>
                    <a:pt x="0" y="144526"/>
                  </a:lnTo>
                  <a:lnTo>
                    <a:pt x="123444" y="72263"/>
                  </a:lnTo>
                  <a:close/>
                </a:path>
                <a:path w="449579" h="144779">
                  <a:moveTo>
                    <a:pt x="449072" y="72263"/>
                  </a:moveTo>
                  <a:lnTo>
                    <a:pt x="324612" y="0"/>
                  </a:lnTo>
                  <a:lnTo>
                    <a:pt x="324612" y="144526"/>
                  </a:lnTo>
                  <a:lnTo>
                    <a:pt x="449072" y="72263"/>
                  </a:lnTo>
                  <a:close/>
                </a:path>
              </a:pathLst>
            </a:custGeom>
            <a:solidFill>
              <a:srgbClr val="6D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330695" y="1937893"/>
              <a:ext cx="2921635" cy="3359150"/>
            </a:xfrm>
            <a:custGeom>
              <a:avLst/>
              <a:gdLst/>
              <a:ahLst/>
              <a:cxnLst/>
              <a:rect l="l" t="t" r="r" b="b"/>
              <a:pathLst>
                <a:path w="2921634" h="3359150">
                  <a:moveTo>
                    <a:pt x="0" y="3359023"/>
                  </a:moveTo>
                  <a:lnTo>
                    <a:pt x="2921127" y="3359023"/>
                  </a:lnTo>
                  <a:lnTo>
                    <a:pt x="2921127" y="0"/>
                  </a:lnTo>
                  <a:lnTo>
                    <a:pt x="0" y="0"/>
                  </a:lnTo>
                  <a:lnTo>
                    <a:pt x="0" y="3359023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330695" y="1659623"/>
              <a:ext cx="2921635" cy="278765"/>
            </a:xfrm>
            <a:custGeom>
              <a:avLst/>
              <a:gdLst/>
              <a:ahLst/>
              <a:cxnLst/>
              <a:rect l="l" t="t" r="r" b="b"/>
              <a:pathLst>
                <a:path w="2921634" h="278764">
                  <a:moveTo>
                    <a:pt x="2921254" y="0"/>
                  </a:moveTo>
                  <a:lnTo>
                    <a:pt x="0" y="0"/>
                  </a:lnTo>
                  <a:lnTo>
                    <a:pt x="0" y="278269"/>
                  </a:lnTo>
                  <a:lnTo>
                    <a:pt x="2921254" y="278269"/>
                  </a:lnTo>
                  <a:lnTo>
                    <a:pt x="2921254" y="0"/>
                  </a:lnTo>
                  <a:close/>
                </a:path>
              </a:pathLst>
            </a:custGeom>
            <a:solidFill>
              <a:srgbClr val="6D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239268" y="1930907"/>
            <a:ext cx="2313305" cy="2287270"/>
            <a:chOff x="239268" y="1930907"/>
            <a:chExt cx="2313305" cy="2287270"/>
          </a:xfrm>
        </p:grpSpPr>
        <p:sp>
          <p:nvSpPr>
            <p:cNvPr id="63" name="object 63"/>
            <p:cNvSpPr/>
            <p:nvPr/>
          </p:nvSpPr>
          <p:spPr>
            <a:xfrm>
              <a:off x="2333244" y="2903219"/>
              <a:ext cx="219075" cy="443230"/>
            </a:xfrm>
            <a:custGeom>
              <a:avLst/>
              <a:gdLst/>
              <a:ahLst/>
              <a:cxnLst/>
              <a:rect l="l" t="t" r="r" b="b"/>
              <a:pathLst>
                <a:path w="219075" h="443229">
                  <a:moveTo>
                    <a:pt x="0" y="0"/>
                  </a:moveTo>
                  <a:lnTo>
                    <a:pt x="0" y="442975"/>
                  </a:lnTo>
                  <a:lnTo>
                    <a:pt x="219075" y="2216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39268" y="1930907"/>
              <a:ext cx="2120265" cy="2287270"/>
            </a:xfrm>
            <a:custGeom>
              <a:avLst/>
              <a:gdLst/>
              <a:ahLst/>
              <a:cxnLst/>
              <a:rect l="l" t="t" r="r" b="b"/>
              <a:pathLst>
                <a:path w="2120265" h="2287270">
                  <a:moveTo>
                    <a:pt x="2096643" y="0"/>
                  </a:moveTo>
                  <a:lnTo>
                    <a:pt x="23114" y="0"/>
                  </a:lnTo>
                  <a:lnTo>
                    <a:pt x="14096" y="1777"/>
                  </a:lnTo>
                  <a:lnTo>
                    <a:pt x="6731" y="6857"/>
                  </a:lnTo>
                  <a:lnTo>
                    <a:pt x="1778" y="14096"/>
                  </a:lnTo>
                  <a:lnTo>
                    <a:pt x="0" y="23113"/>
                  </a:lnTo>
                  <a:lnTo>
                    <a:pt x="0" y="2264155"/>
                  </a:lnTo>
                  <a:lnTo>
                    <a:pt x="1778" y="2273172"/>
                  </a:lnTo>
                  <a:lnTo>
                    <a:pt x="6731" y="2280539"/>
                  </a:lnTo>
                  <a:lnTo>
                    <a:pt x="14096" y="2285491"/>
                  </a:lnTo>
                  <a:lnTo>
                    <a:pt x="23114" y="2287269"/>
                  </a:lnTo>
                  <a:lnTo>
                    <a:pt x="2096643" y="2287269"/>
                  </a:lnTo>
                  <a:lnTo>
                    <a:pt x="2105660" y="2285491"/>
                  </a:lnTo>
                  <a:lnTo>
                    <a:pt x="2113026" y="2280539"/>
                  </a:lnTo>
                  <a:lnTo>
                    <a:pt x="2117979" y="2273172"/>
                  </a:lnTo>
                  <a:lnTo>
                    <a:pt x="2119757" y="2264155"/>
                  </a:lnTo>
                  <a:lnTo>
                    <a:pt x="2119757" y="23113"/>
                  </a:lnTo>
                  <a:lnTo>
                    <a:pt x="2117979" y="14096"/>
                  </a:lnTo>
                  <a:lnTo>
                    <a:pt x="2113026" y="6857"/>
                  </a:lnTo>
                  <a:lnTo>
                    <a:pt x="2105660" y="1777"/>
                  </a:lnTo>
                  <a:lnTo>
                    <a:pt x="209664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6591" y="1953767"/>
              <a:ext cx="733044" cy="533400"/>
            </a:xfrm>
            <a:prstGeom prst="rect">
              <a:avLst/>
            </a:prstGeom>
          </p:spPr>
        </p:pic>
      </p:grpSp>
      <p:sp>
        <p:nvSpPr>
          <p:cNvPr id="66" name="object 66"/>
          <p:cNvSpPr/>
          <p:nvPr/>
        </p:nvSpPr>
        <p:spPr>
          <a:xfrm>
            <a:off x="9381743" y="3752088"/>
            <a:ext cx="219075" cy="444500"/>
          </a:xfrm>
          <a:custGeom>
            <a:avLst/>
            <a:gdLst/>
            <a:ahLst/>
            <a:cxnLst/>
            <a:rect l="l" t="t" r="r" b="b"/>
            <a:pathLst>
              <a:path w="219075" h="444500">
                <a:moveTo>
                  <a:pt x="0" y="0"/>
                </a:moveTo>
                <a:lnTo>
                  <a:pt x="0" y="444500"/>
                </a:lnTo>
                <a:lnTo>
                  <a:pt x="219075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6D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9675876" y="2924555"/>
            <a:ext cx="2409825" cy="7791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5560" rIns="0" bIns="0" rtlCol="0">
            <a:spAutoFit/>
          </a:bodyPr>
          <a:lstStyle/>
          <a:p>
            <a:pPr marL="71755" marR="62865" algn="ctr">
              <a:lnSpc>
                <a:spcPct val="100000"/>
              </a:lnSpc>
              <a:spcBef>
                <a:spcPts val="280"/>
              </a:spcBef>
            </a:pPr>
            <a:r>
              <a:rPr sz="1200" b="1" dirty="0">
                <a:latin typeface="Arial"/>
                <a:cs typeface="Arial"/>
              </a:rPr>
              <a:t>Agar mahasiswa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dapat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menjadi </a:t>
            </a:r>
            <a:r>
              <a:rPr sz="1200" b="1" dirty="0">
                <a:latin typeface="Arial"/>
                <a:cs typeface="Arial"/>
              </a:rPr>
              <a:t>insan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profesional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yang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berjiwa </a:t>
            </a:r>
            <a:r>
              <a:rPr sz="1200" b="1" dirty="0">
                <a:latin typeface="Arial"/>
                <a:cs typeface="Arial"/>
              </a:rPr>
              <a:t>Pancasila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dalam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kehidupan bermasyarakat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dan</a:t>
            </a:r>
            <a:r>
              <a:rPr sz="1200" b="1" spc="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bernegara</a:t>
            </a:r>
            <a:endParaRPr sz="12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680447" y="5152644"/>
            <a:ext cx="2405380" cy="96520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7465" rIns="0" bIns="0" rtlCol="0">
            <a:spAutoFit/>
          </a:bodyPr>
          <a:lstStyle/>
          <a:p>
            <a:pPr marL="99695" marR="9525" algn="ctr">
              <a:lnSpc>
                <a:spcPct val="100000"/>
              </a:lnSpc>
              <a:spcBef>
                <a:spcPts val="295"/>
              </a:spcBef>
            </a:pPr>
            <a:r>
              <a:rPr sz="1200" b="1" dirty="0">
                <a:latin typeface="Arial"/>
                <a:cs typeface="Arial"/>
              </a:rPr>
              <a:t>Urgensi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pendidikan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Pancasila </a:t>
            </a:r>
            <a:r>
              <a:rPr sz="1200" b="1" dirty="0">
                <a:latin typeface="Arial"/>
                <a:cs typeface="Arial"/>
              </a:rPr>
              <a:t>adalah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untuk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membentengi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dan </a:t>
            </a:r>
            <a:r>
              <a:rPr sz="1200" b="1" dirty="0">
                <a:latin typeface="Arial"/>
                <a:cs typeface="Arial"/>
              </a:rPr>
              <a:t>menjawab</a:t>
            </a:r>
            <a:r>
              <a:rPr sz="1200" b="1" spc="-5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tantangan</a:t>
            </a:r>
            <a:r>
              <a:rPr sz="1200" b="1" spc="50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perubahan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-</a:t>
            </a:r>
            <a:r>
              <a:rPr sz="1200" b="1" dirty="0">
                <a:latin typeface="Arial"/>
                <a:cs typeface="Arial"/>
              </a:rPr>
              <a:t>perubahan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di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masa </a:t>
            </a:r>
            <a:r>
              <a:rPr sz="1200" b="1" dirty="0">
                <a:latin typeface="Arial"/>
                <a:cs typeface="Arial"/>
              </a:rPr>
              <a:t>yang akan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datang.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1976861" y="6661201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25" dirty="0">
                <a:solidFill>
                  <a:srgbClr val="FFFFFF"/>
                </a:solidFill>
                <a:latin typeface="Calibri"/>
                <a:cs typeface="Calibri"/>
              </a:rPr>
              <a:t>27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44830" y="2546730"/>
            <a:ext cx="1943735" cy="151638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Arial"/>
                <a:cs typeface="Arial"/>
              </a:rPr>
              <a:t>UU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RI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No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12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Tahun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2012</a:t>
            </a:r>
            <a:endParaRPr sz="1200">
              <a:latin typeface="Arial"/>
              <a:cs typeface="Arial"/>
            </a:endParaRPr>
          </a:p>
          <a:p>
            <a:pPr marL="12065" marR="5080" indent="-1270" algn="ctr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latin typeface="Arial MT"/>
                <a:cs typeface="Arial MT"/>
              </a:rPr>
              <a:t>Mata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kuliah</a:t>
            </a:r>
            <a:r>
              <a:rPr sz="1200" spc="-7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pendidikan Pancasila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adalah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pendidikan </a:t>
            </a:r>
            <a:r>
              <a:rPr sz="1200" dirty="0">
                <a:latin typeface="Arial MT"/>
                <a:cs typeface="Arial MT"/>
              </a:rPr>
              <a:t>untuk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memberikan pemahaman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dan </a:t>
            </a:r>
            <a:r>
              <a:rPr sz="1200" spc="-10" dirty="0">
                <a:latin typeface="Arial MT"/>
                <a:cs typeface="Arial MT"/>
              </a:rPr>
              <a:t>penghayatan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kepada mahasiswa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mengenai ideologi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bangsa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Indonesia.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103245" y="5164582"/>
            <a:ext cx="21653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Pancasila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sebagai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sistem Etika</a:t>
            </a:r>
            <a:endParaRPr sz="14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139820" y="5904382"/>
            <a:ext cx="20751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Pancasila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sebagai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dasar</a:t>
            </a:r>
            <a:endParaRPr sz="14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738627" y="6160008"/>
            <a:ext cx="2999105" cy="2578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413384">
              <a:lnSpc>
                <a:spcPts val="1450"/>
              </a:lnSpc>
            </a:pPr>
            <a:r>
              <a:rPr sz="1400" b="1" dirty="0">
                <a:latin typeface="Arial"/>
                <a:cs typeface="Arial"/>
              </a:rPr>
              <a:t>Nilai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Pengembangan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Ilmu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74" name="object 7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369295" y="1536191"/>
            <a:ext cx="1027176" cy="1277112"/>
          </a:xfrm>
          <a:prstGeom prst="rect">
            <a:avLst/>
          </a:prstGeom>
        </p:spPr>
      </p:pic>
      <p:sp>
        <p:nvSpPr>
          <p:cNvPr id="75" name="object 7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ESENSI</a:t>
            </a:r>
            <a:r>
              <a:rPr spc="-125" dirty="0"/>
              <a:t> </a:t>
            </a:r>
            <a:r>
              <a:rPr spc="-245" dirty="0"/>
              <a:t>DAN</a:t>
            </a:r>
            <a:r>
              <a:rPr spc="-135" dirty="0"/>
              <a:t> </a:t>
            </a:r>
            <a:r>
              <a:rPr spc="-375" dirty="0"/>
              <a:t>URGENSI</a:t>
            </a:r>
            <a:r>
              <a:rPr spc="-135" dirty="0"/>
              <a:t> </a:t>
            </a:r>
            <a:r>
              <a:rPr spc="-375" dirty="0"/>
              <a:t>PENDIDIKAN</a:t>
            </a:r>
            <a:r>
              <a:rPr spc="-135" dirty="0"/>
              <a:t> </a:t>
            </a:r>
            <a:r>
              <a:rPr spc="-280" dirty="0"/>
              <a:t>PANCASILA</a:t>
            </a:r>
            <a:r>
              <a:rPr spc="-125" dirty="0"/>
              <a:t> </a:t>
            </a:r>
            <a:r>
              <a:rPr spc="-440" dirty="0"/>
              <a:t>UNTUK</a:t>
            </a:r>
            <a:r>
              <a:rPr spc="-120" dirty="0"/>
              <a:t> </a:t>
            </a:r>
            <a:r>
              <a:rPr spc="-200" dirty="0"/>
              <a:t>MASA</a:t>
            </a:r>
            <a:r>
              <a:rPr spc="-135" dirty="0"/>
              <a:t> </a:t>
            </a:r>
            <a:r>
              <a:rPr spc="-310" dirty="0"/>
              <a:t>DEPAN</a:t>
            </a:r>
          </a:p>
        </p:txBody>
      </p:sp>
      <p:sp>
        <p:nvSpPr>
          <p:cNvPr id="76" name="object 76"/>
          <p:cNvSpPr txBox="1"/>
          <p:nvPr/>
        </p:nvSpPr>
        <p:spPr>
          <a:xfrm>
            <a:off x="6438138" y="3150565"/>
            <a:ext cx="2696210" cy="1320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 marR="86995"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Pendekatan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pembelajaran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yang </a:t>
            </a:r>
            <a:r>
              <a:rPr sz="1200" spc="-10" dirty="0">
                <a:latin typeface="Arial MT"/>
                <a:cs typeface="Arial MT"/>
              </a:rPr>
              <a:t>berpusat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kepada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mahasiswa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(student centered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learning),</a:t>
            </a:r>
            <a:endParaRPr sz="1200">
              <a:latin typeface="Arial MT"/>
              <a:cs typeface="Arial MT"/>
            </a:endParaRPr>
          </a:p>
          <a:p>
            <a:pPr marL="12065" marR="5080" indent="-1270"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Arial"/>
                <a:cs typeface="Arial"/>
              </a:rPr>
              <a:t>untuk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memahami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dan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menghayati </a:t>
            </a:r>
            <a:r>
              <a:rPr sz="1200" spc="-10" dirty="0">
                <a:latin typeface="Arial MT"/>
                <a:cs typeface="Arial MT"/>
              </a:rPr>
              <a:t>nilai-</a:t>
            </a:r>
            <a:r>
              <a:rPr sz="1200" dirty="0">
                <a:latin typeface="Arial MT"/>
                <a:cs typeface="Arial MT"/>
              </a:rPr>
              <a:t>nilai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Pancasila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baik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sebagai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etika, </a:t>
            </a:r>
            <a:r>
              <a:rPr sz="1200" dirty="0">
                <a:latin typeface="Arial MT"/>
                <a:cs typeface="Arial MT"/>
              </a:rPr>
              <a:t>filsafat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negara,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maupun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ideologi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bangsa </a:t>
            </a:r>
            <a:r>
              <a:rPr sz="1200" dirty="0">
                <a:latin typeface="Arial MT"/>
                <a:cs typeface="Arial MT"/>
              </a:rPr>
              <a:t>secara</a:t>
            </a:r>
            <a:r>
              <a:rPr sz="1200" spc="-8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scientific.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77" name="object 7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28504" y="4026408"/>
            <a:ext cx="1597152" cy="822959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74635" y="2267711"/>
            <a:ext cx="826007" cy="787908"/>
          </a:xfrm>
          <a:prstGeom prst="rect">
            <a:avLst/>
          </a:prstGeom>
        </p:spPr>
      </p:pic>
      <p:sp>
        <p:nvSpPr>
          <p:cNvPr id="79" name="object 79"/>
          <p:cNvSpPr txBox="1"/>
          <p:nvPr/>
        </p:nvSpPr>
        <p:spPr>
          <a:xfrm>
            <a:off x="7407020" y="1679194"/>
            <a:ext cx="9664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Pendekatan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8629" y="2944114"/>
            <a:ext cx="4246880" cy="6694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4250" i="0" spc="-290" dirty="0">
                <a:latin typeface="Tahoma"/>
                <a:cs typeface="Tahoma"/>
              </a:rPr>
              <a:t>THANK</a:t>
            </a:r>
            <a:r>
              <a:rPr sz="4250" i="0" spc="-20" dirty="0">
                <a:latin typeface="Tahoma"/>
                <a:cs typeface="Tahoma"/>
              </a:rPr>
              <a:t> </a:t>
            </a:r>
            <a:r>
              <a:rPr sz="4250" i="0" spc="-25" dirty="0">
                <a:latin typeface="Tahoma"/>
                <a:cs typeface="Tahoma"/>
              </a:rPr>
              <a:t>YOU</a:t>
            </a:r>
            <a:endParaRPr sz="42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995</Words>
  <Application>Microsoft Office PowerPoint</Application>
  <PresentationFormat>Widescreen</PresentationFormat>
  <Paragraphs>144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PMingLiU-ExtB</vt:lpstr>
      <vt:lpstr>Arial</vt:lpstr>
      <vt:lpstr>Arial MT</vt:lpstr>
      <vt:lpstr>Calibri</vt:lpstr>
      <vt:lpstr>Calibri Light</vt:lpstr>
      <vt:lpstr>Cambria</vt:lpstr>
      <vt:lpstr>Tahoma</vt:lpstr>
      <vt:lpstr>Times New Roman</vt:lpstr>
      <vt:lpstr>Verdana</vt:lpstr>
      <vt:lpstr>Wingdings</vt:lpstr>
      <vt:lpstr>Office Theme</vt:lpstr>
      <vt:lpstr>PowerPoint Presentation</vt:lpstr>
      <vt:lpstr>Dalam perjalanan sejarah bangsa Indonesia, sesungguhnya nilai-nilai Pancasila sebagai pandangan hidup bangsa sudah terwujud dalam kehidupan bermasyarakat sejak sebelum Pancasila sebagai dasar negara dirumuskan dalam satu sistem nilai. Sejak zaman dahulu, wilayah-wilayah di nusantara ini mempunyai beberapa nilai yang dipegang teguh oleh masyarakatnya, sebagai contoh:</vt:lpstr>
      <vt:lpstr>PERMASALAHAN BANGSA</vt:lpstr>
      <vt:lpstr>SOLUSI PERMASALAHAN BANGSA</vt:lpstr>
      <vt:lpstr>TUJUAN PENYELENGGARAAN PENDIDIKAN PANCASILA</vt:lpstr>
      <vt:lpstr>SUMBER SOSIOLOGIS PENDIDIKAN PANCASILA</vt:lpstr>
      <vt:lpstr>SUMBER SOSIOLOGIS PENDIDIKAN PANCASILA</vt:lpstr>
      <vt:lpstr>SUMBER YURIDIS PENDIDIKAN PANCASILA</vt:lpstr>
      <vt:lpstr>SUMBER POLITIK PENDIDIKAN PANCASILA</vt:lpstr>
      <vt:lpstr>TANTANGAN PENDIDIKAN PANCASILA</vt:lpstr>
      <vt:lpstr>ESENSI DAN URGENSI PENDIDIKAN PANCASILA UNTUK MASA DEPAN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Topan</dc:creator>
  <cp:lastModifiedBy>X240</cp:lastModifiedBy>
  <cp:revision>1</cp:revision>
  <dcterms:created xsi:type="dcterms:W3CDTF">2025-09-24T03:13:26Z</dcterms:created>
  <dcterms:modified xsi:type="dcterms:W3CDTF">2025-09-24T03:20:52Z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2020-04-10T00:00:00Z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2025-09-24T00:00:00Z</vt:filetime>
  </property>
  <property fmtid="{D5CDD505-2E9C-101B-9397-08002B2CF9AE}" pid="5" name="Producer">
    <vt:lpwstr>Microsoft® PowerPoint® for Office 365</vt:lpwstr>
  </property>
</Properties>
</file>