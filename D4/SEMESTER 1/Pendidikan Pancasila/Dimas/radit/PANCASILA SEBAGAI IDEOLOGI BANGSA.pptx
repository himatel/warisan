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83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72" r:id="rId15"/>
    <p:sldId id="274" r:id="rId16"/>
    <p:sldId id="275" r:id="rId17"/>
    <p:sldId id="276" r:id="rId18"/>
    <p:sldId id="277" r:id="rId19"/>
    <p:sldId id="279" r:id="rId20"/>
    <p:sldId id="281" r:id="rId21"/>
    <p:sldId id="28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13925-294B-49D8-9753-35F4C7E17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3834C-84AA-455C-8D84-F4EC8DF95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BA3A8-4D80-4FD1-8734-19F34E4A6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43024-89C6-469A-989E-65595200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0E917-763F-4AD8-BB13-B343C8DBD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0930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3C1BB-D051-4157-A18A-D45939C7A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505F0-0913-4C3A-8A2C-56154F110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6E1DE-56F5-4CEB-A53A-2852316D2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A41C8-228E-45CF-9EA0-0F5FCB775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A685C-C382-4422-92B3-1A7BDEAC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86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8F0C-DE0C-4D74-A78F-833C4BB3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5983C-C741-41B5-BBA9-5D4F5E500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6196-4392-44F4-A19D-80CABFFF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96D7A-E185-4416-ABD3-03516820F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D9797-B921-4644-BE4F-E0080A7AA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99208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BA2DE-2A3F-42FE-92B2-71F07DB89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5BE22-0D2F-4CCE-BC58-D4FD379DB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4B4AC-5312-47AD-B5F3-39DD56705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8FFD9-A563-46B2-BCC0-B84807770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FA7C1-0CE5-491C-AAB9-F9162AF3D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C5BBD0-FAC9-4833-96DF-88995D9F2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87334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0D2C-7B69-4D93-BFBC-DA26D0CA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B0F7C-26E5-4EBF-B418-8A787EA2B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34E32-93B1-44B0-94DF-69738B2E5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28D45-47CC-4E8F-B100-FD19D5A37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03D45-99E9-43E6-AB05-75FA4A480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EC11E-A73C-4572-9AE5-DDB7BD7D2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A808BC-549A-47E2-B337-3FDCC8315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549EA4-5228-40EA-B5FF-A262AFC0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236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D70A7-6242-482D-BCA3-C9598C89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EA96F2-6DA8-49A6-8E2B-4541D19E2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68A83-E36B-4C73-B570-165F3F1E3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4A4AC-3B8A-49A1-91EC-833B7C01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7874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D87D38-474F-4A1F-907E-7E4669BC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DB209-05D1-486A-BAEC-14667212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F8B9B-664E-4362-B323-6FD89AF8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9883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538B5-3F5E-4FF1-BF2B-33EB05A5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08452-5427-43D9-A8EB-49BF39D00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318B7-D2FC-4DB0-9FEA-02B5DC3A6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6EA55-3C45-4285-B756-3E2D62788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5C239-6F1E-4CEB-BCA6-54919477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30DBB-B680-48DE-BF04-762133BD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2670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894D6-9F08-48DD-9467-63461D6FC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060B5-29DA-4198-8644-3B2D15D4F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9EAB3-852B-4294-A761-A8685CD0E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C43083-710A-40DD-91FD-10F3AD3C3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9581B-0A33-422B-843D-72E014C4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09154-6DE8-4BD4-9641-8D29427B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89945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966B5-3FB9-4CB8-84CF-A6F02746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127CC-B5F5-4B31-B979-1F391637A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8853E-3768-4E6A-9E7A-6FD559FB0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79892-D613-4F6F-AD88-45AAD5785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E8EC3-098A-4A56-8877-FED3E4054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571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3B8BCF-BF22-4626-A9AB-F4846FB29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70C38-51D8-48E9-8AB4-ACCB397BD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121BB-0CC8-4E33-BCDE-4E3109E60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21186-6089-4F30-8265-1F654AF0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4A834-0BBD-46B7-84C6-C50DF8BF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5031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1791"/>
            <a:ext cx="1399540" cy="143510"/>
          </a:xfrm>
          <a:custGeom>
            <a:avLst/>
            <a:gdLst/>
            <a:ahLst/>
            <a:cxnLst/>
            <a:rect l="l" t="t" r="r" b="b"/>
            <a:pathLst>
              <a:path w="1399540" h="143509">
                <a:moveTo>
                  <a:pt x="1399032" y="0"/>
                </a:moveTo>
                <a:lnTo>
                  <a:pt x="0" y="0"/>
                </a:lnTo>
                <a:lnTo>
                  <a:pt x="0" y="143255"/>
                </a:lnTo>
                <a:lnTo>
                  <a:pt x="1399032" y="143255"/>
                </a:lnTo>
                <a:lnTo>
                  <a:pt x="139903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384" y="332231"/>
            <a:ext cx="728472" cy="64617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399032" y="621791"/>
            <a:ext cx="10793095" cy="143510"/>
          </a:xfrm>
          <a:custGeom>
            <a:avLst/>
            <a:gdLst/>
            <a:ahLst/>
            <a:cxnLst/>
            <a:rect l="l" t="t" r="r" b="b"/>
            <a:pathLst>
              <a:path w="10793095" h="143509">
                <a:moveTo>
                  <a:pt x="10792968" y="0"/>
                </a:moveTo>
                <a:lnTo>
                  <a:pt x="0" y="0"/>
                </a:lnTo>
                <a:lnTo>
                  <a:pt x="0" y="143255"/>
                </a:lnTo>
                <a:lnTo>
                  <a:pt x="10792968" y="143255"/>
                </a:lnTo>
                <a:lnTo>
                  <a:pt x="10792968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" y="3154679"/>
            <a:ext cx="12176760" cy="521208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5240" y="3392423"/>
            <a:ext cx="12176760" cy="43180"/>
          </a:xfrm>
          <a:custGeom>
            <a:avLst/>
            <a:gdLst/>
            <a:ahLst/>
            <a:cxnLst/>
            <a:rect l="l" t="t" r="r" b="b"/>
            <a:pathLst>
              <a:path w="12176760" h="43179">
                <a:moveTo>
                  <a:pt x="12176760" y="0"/>
                </a:moveTo>
                <a:lnTo>
                  <a:pt x="0" y="0"/>
                </a:lnTo>
                <a:lnTo>
                  <a:pt x="0" y="42672"/>
                </a:lnTo>
                <a:lnTo>
                  <a:pt x="12176760" y="42672"/>
                </a:lnTo>
                <a:lnTo>
                  <a:pt x="12176760" y="0"/>
                </a:lnTo>
                <a:close/>
              </a:path>
            </a:pathLst>
          </a:custGeom>
          <a:solidFill>
            <a:srgbClr val="7D7D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696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ACAE1F-4966-4933-8D3A-0C99D83AC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A5B76-3B1C-43DD-9AE6-AB9394DD0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D596D-F5C2-4B58-BF86-255529E08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867EC-17CE-48BF-BCB0-89326FF6F7BE}" type="datetimeFigureOut">
              <a:rPr lang="en-ID" smtClean="0"/>
              <a:t>30/09/2025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03F48-059D-4274-A2AB-30FDD370D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E5132-2B6A-4DFC-A10A-2255B5962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EC469-46D1-4534-BB17-10355CDF5C7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2169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hyperlink" Target="file:///E:\video\Pidato%20Bung%20Karno%20Hari%20Lahirnya%20Pancasila%201%20Juni.mp4" TargetMode="External"/><Relationship Id="rId5" Type="http://schemas.openxmlformats.org/officeDocument/2006/relationships/image" Target="../media/image9.png"/><Relationship Id="rId10" Type="http://schemas.openxmlformats.org/officeDocument/2006/relationships/image" Target="../media/image14.jpg"/><Relationship Id="rId4" Type="http://schemas.openxmlformats.org/officeDocument/2006/relationships/hyperlink" Target="../../../DATA%20PENTING/DATA%20SEKOLAH/SMAN%2017%20BDG/PKn/Pidato%20Bung%20Karno%20Hari%20Lahirnya%20Pancasila%201%20Juni.mp4" TargetMode="External"/><Relationship Id="rId9" Type="http://schemas.openxmlformats.org/officeDocument/2006/relationships/image" Target="../media/image13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7" Type="http://schemas.openxmlformats.org/officeDocument/2006/relationships/image" Target="../media/image34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g"/><Relationship Id="rId3" Type="http://schemas.openxmlformats.org/officeDocument/2006/relationships/image" Target="../media/image35.jpg"/><Relationship Id="rId7" Type="http://schemas.openxmlformats.org/officeDocument/2006/relationships/image" Target="../media/image3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7" Type="http://schemas.openxmlformats.org/officeDocument/2006/relationships/image" Target="../media/image4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g"/><Relationship Id="rId3" Type="http://schemas.openxmlformats.org/officeDocument/2006/relationships/image" Target="../media/image46.jpg"/><Relationship Id="rId7" Type="http://schemas.openxmlformats.org/officeDocument/2006/relationships/image" Target="../media/image5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g"/><Relationship Id="rId5" Type="http://schemas.openxmlformats.org/officeDocument/2006/relationships/image" Target="../media/image48.png"/><Relationship Id="rId4" Type="http://schemas.openxmlformats.org/officeDocument/2006/relationships/image" Target="../media/image4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8.png"/><Relationship Id="rId7" Type="http://schemas.openxmlformats.org/officeDocument/2006/relationships/image" Target="../media/image5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jp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g"/><Relationship Id="rId3" Type="http://schemas.openxmlformats.org/officeDocument/2006/relationships/image" Target="../media/image63.png"/><Relationship Id="rId7" Type="http://schemas.openxmlformats.org/officeDocument/2006/relationships/image" Target="../media/image67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jp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g"/><Relationship Id="rId3" Type="http://schemas.openxmlformats.org/officeDocument/2006/relationships/image" Target="../media/image64.png"/><Relationship Id="rId7" Type="http://schemas.openxmlformats.org/officeDocument/2006/relationships/image" Target="../media/image70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jpg"/><Relationship Id="rId5" Type="http://schemas.openxmlformats.org/officeDocument/2006/relationships/image" Target="../media/image63.png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jp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66.jpg"/><Relationship Id="rId7" Type="http://schemas.openxmlformats.org/officeDocument/2006/relationships/image" Target="../media/image6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77.jpg"/><Relationship Id="rId4" Type="http://schemas.openxmlformats.org/officeDocument/2006/relationships/image" Target="../media/image7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17576"/>
            <a:ext cx="5413375" cy="149860"/>
          </a:xfrm>
          <a:custGeom>
            <a:avLst/>
            <a:gdLst/>
            <a:ahLst/>
            <a:cxnLst/>
            <a:rect l="l" t="t" r="r" b="b"/>
            <a:pathLst>
              <a:path w="5413375" h="149859">
                <a:moveTo>
                  <a:pt x="0" y="149351"/>
                </a:moveTo>
                <a:lnTo>
                  <a:pt x="5413248" y="149351"/>
                </a:lnTo>
                <a:lnTo>
                  <a:pt x="5413248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204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778752" y="417576"/>
            <a:ext cx="5413375" cy="149860"/>
          </a:xfrm>
          <a:custGeom>
            <a:avLst/>
            <a:gdLst/>
            <a:ahLst/>
            <a:cxnLst/>
            <a:rect l="l" t="t" r="r" b="b"/>
            <a:pathLst>
              <a:path w="5413375" h="149859">
                <a:moveTo>
                  <a:pt x="0" y="149351"/>
                </a:moveTo>
                <a:lnTo>
                  <a:pt x="5413248" y="149351"/>
                </a:lnTo>
                <a:lnTo>
                  <a:pt x="5413248" y="0"/>
                </a:lnTo>
                <a:lnTo>
                  <a:pt x="0" y="0"/>
                </a:lnTo>
                <a:lnTo>
                  <a:pt x="0" y="149351"/>
                </a:lnTo>
                <a:close/>
              </a:path>
            </a:pathLst>
          </a:custGeom>
          <a:solidFill>
            <a:srgbClr val="2041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557783"/>
            <a:ext cx="5413375" cy="91440"/>
          </a:xfrm>
          <a:custGeom>
            <a:avLst/>
            <a:gdLst/>
            <a:ahLst/>
            <a:cxnLst/>
            <a:rect l="l" t="t" r="r" b="b"/>
            <a:pathLst>
              <a:path w="5413375" h="91440">
                <a:moveTo>
                  <a:pt x="0" y="91439"/>
                </a:moveTo>
                <a:lnTo>
                  <a:pt x="5413248" y="91439"/>
                </a:lnTo>
                <a:lnTo>
                  <a:pt x="5413248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BCD6ED">
              <a:alpha val="4196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78752" y="557783"/>
            <a:ext cx="5413375" cy="91440"/>
          </a:xfrm>
          <a:custGeom>
            <a:avLst/>
            <a:gdLst/>
            <a:ahLst/>
            <a:cxnLst/>
            <a:rect l="l" t="t" r="r" b="b"/>
            <a:pathLst>
              <a:path w="5413375" h="91440">
                <a:moveTo>
                  <a:pt x="0" y="91439"/>
                </a:moveTo>
                <a:lnTo>
                  <a:pt x="5413248" y="91439"/>
                </a:lnTo>
                <a:lnTo>
                  <a:pt x="5413248" y="0"/>
                </a:lnTo>
                <a:lnTo>
                  <a:pt x="0" y="0"/>
                </a:lnTo>
                <a:lnTo>
                  <a:pt x="0" y="91439"/>
                </a:lnTo>
                <a:close/>
              </a:path>
            </a:pathLst>
          </a:custGeom>
          <a:solidFill>
            <a:srgbClr val="BCD6ED">
              <a:alpha val="4196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0888" y="134112"/>
            <a:ext cx="1030223" cy="9144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24000" y="1803885"/>
            <a:ext cx="9144000" cy="740587"/>
          </a:xfrm>
          <a:prstGeom prst="rect">
            <a:avLst/>
          </a:prstGeom>
          <a:ln w="12192">
            <a:solidFill>
              <a:srgbClr val="41709C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 sz="2250" dirty="0">
              <a:latin typeface="Times New Roman"/>
              <a:cs typeface="Times New Roman"/>
            </a:endParaRPr>
          </a:p>
          <a:p>
            <a:pPr marL="321310">
              <a:lnSpc>
                <a:spcPct val="100000"/>
              </a:lnSpc>
            </a:pPr>
            <a:r>
              <a:rPr sz="2250" b="1" spc="-75" dirty="0">
                <a:solidFill>
                  <a:srgbClr val="1F487C"/>
                </a:solidFill>
                <a:latin typeface="Tahoma"/>
                <a:cs typeface="Tahoma"/>
              </a:rPr>
              <a:t>PANCASILA</a:t>
            </a:r>
            <a:r>
              <a:rPr sz="2250" b="1" spc="-80" dirty="0">
                <a:solidFill>
                  <a:srgbClr val="1F487C"/>
                </a:solidFill>
                <a:latin typeface="Tahoma"/>
                <a:cs typeface="Tahoma"/>
              </a:rPr>
              <a:t> </a:t>
            </a:r>
            <a:r>
              <a:rPr sz="2250" b="1" spc="-90" dirty="0">
                <a:solidFill>
                  <a:srgbClr val="1F487C"/>
                </a:solidFill>
                <a:latin typeface="Tahoma"/>
                <a:cs typeface="Tahoma"/>
              </a:rPr>
              <a:t>SEBAGAI</a:t>
            </a:r>
            <a:r>
              <a:rPr sz="2250" b="1" spc="-35" dirty="0">
                <a:solidFill>
                  <a:srgbClr val="1F487C"/>
                </a:solidFill>
                <a:latin typeface="Tahoma"/>
                <a:cs typeface="Tahoma"/>
              </a:rPr>
              <a:t> </a:t>
            </a:r>
            <a:r>
              <a:rPr sz="2250" b="1" spc="-130" dirty="0">
                <a:solidFill>
                  <a:srgbClr val="1F487C"/>
                </a:solidFill>
                <a:latin typeface="Tahoma"/>
                <a:cs typeface="Tahoma"/>
              </a:rPr>
              <a:t>IDEOLOGI</a:t>
            </a:r>
            <a:r>
              <a:rPr sz="2250" b="1" spc="-5" dirty="0">
                <a:solidFill>
                  <a:srgbClr val="1F487C"/>
                </a:solidFill>
                <a:latin typeface="Tahoma"/>
                <a:cs typeface="Tahoma"/>
              </a:rPr>
              <a:t> </a:t>
            </a:r>
            <a:r>
              <a:rPr sz="2250" b="1" spc="-10" dirty="0">
                <a:solidFill>
                  <a:srgbClr val="1F487C"/>
                </a:solidFill>
                <a:latin typeface="Tahoma"/>
                <a:cs typeface="Tahoma"/>
              </a:rPr>
              <a:t>NEGARA</a:t>
            </a:r>
            <a:r>
              <a:rPr sz="2250" b="1" spc="-65" dirty="0">
                <a:solidFill>
                  <a:srgbClr val="1F487C"/>
                </a:solidFill>
                <a:latin typeface="Tahoma"/>
                <a:cs typeface="Tahoma"/>
              </a:rPr>
              <a:t> </a:t>
            </a:r>
            <a:r>
              <a:rPr sz="2250" b="1" spc="-275" dirty="0">
                <a:solidFill>
                  <a:srgbClr val="1F487C"/>
                </a:solidFill>
                <a:latin typeface="Tahoma"/>
                <a:cs typeface="Tahoma"/>
              </a:rPr>
              <a:t>REPUBLIK</a:t>
            </a:r>
            <a:r>
              <a:rPr sz="2250" b="1" dirty="0">
                <a:solidFill>
                  <a:srgbClr val="1F487C"/>
                </a:solidFill>
                <a:latin typeface="Tahoma"/>
                <a:cs typeface="Tahoma"/>
              </a:rPr>
              <a:t> </a:t>
            </a:r>
            <a:r>
              <a:rPr sz="2250" b="1" spc="-25" dirty="0">
                <a:solidFill>
                  <a:srgbClr val="1F487C"/>
                </a:solidFill>
                <a:latin typeface="Tahoma"/>
                <a:cs typeface="Tahoma"/>
              </a:rPr>
              <a:t>INDONESIA</a:t>
            </a:r>
            <a:endParaRPr sz="225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30826" y="1075131"/>
            <a:ext cx="255714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2785" marR="5080" indent="-680085">
              <a:lnSpc>
                <a:spcPct val="120000"/>
              </a:lnSpc>
              <a:spcBef>
                <a:spcPts val="95"/>
              </a:spcBef>
            </a:pPr>
            <a:r>
              <a:rPr sz="1000" b="1" dirty="0">
                <a:solidFill>
                  <a:srgbClr val="244060"/>
                </a:solidFill>
                <a:latin typeface="Arial"/>
                <a:cs typeface="Arial"/>
              </a:rPr>
              <a:t>Kementerian</a:t>
            </a:r>
            <a:r>
              <a:rPr sz="1000" b="1" spc="-40" dirty="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44060"/>
                </a:solidFill>
                <a:latin typeface="Arial"/>
                <a:cs typeface="Arial"/>
              </a:rPr>
              <a:t>Pendidikan</a:t>
            </a:r>
            <a:r>
              <a:rPr sz="1000" b="1" spc="-80" dirty="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244060"/>
                </a:solidFill>
                <a:latin typeface="Arial"/>
                <a:cs typeface="Arial"/>
              </a:rPr>
              <a:t>dan</a:t>
            </a:r>
            <a:r>
              <a:rPr sz="1000" b="1" spc="-30" dirty="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44060"/>
                </a:solidFill>
                <a:latin typeface="Arial"/>
                <a:cs typeface="Arial"/>
              </a:rPr>
              <a:t>Kebudayaan </a:t>
            </a:r>
            <a:r>
              <a:rPr sz="1000" b="1" dirty="0">
                <a:solidFill>
                  <a:srgbClr val="244060"/>
                </a:solidFill>
                <a:latin typeface="Arial"/>
                <a:cs typeface="Arial"/>
              </a:rPr>
              <a:t>Republik</a:t>
            </a:r>
            <a:r>
              <a:rPr sz="1000" b="1" spc="-55" dirty="0">
                <a:solidFill>
                  <a:srgbClr val="244060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244060"/>
                </a:solidFill>
                <a:latin typeface="Arial"/>
                <a:cs typeface="Arial"/>
              </a:rPr>
              <a:t>Indonesia</a:t>
            </a:r>
            <a:endParaRPr sz="1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57544"/>
            <a:ext cx="12204700" cy="606425"/>
            <a:chOff x="-6095" y="6257544"/>
            <a:chExt cx="12204700" cy="606425"/>
          </a:xfrm>
        </p:grpSpPr>
        <p:sp>
          <p:nvSpPr>
            <p:cNvPr id="3" name="object 3"/>
            <p:cNvSpPr/>
            <p:nvPr/>
          </p:nvSpPr>
          <p:spPr>
            <a:xfrm>
              <a:off x="10454639" y="6547101"/>
              <a:ext cx="1737360" cy="310515"/>
            </a:xfrm>
            <a:custGeom>
              <a:avLst/>
              <a:gdLst/>
              <a:ahLst/>
              <a:cxnLst/>
              <a:rect l="l" t="t" r="r" b="b"/>
              <a:pathLst>
                <a:path w="1737359" h="310515">
                  <a:moveTo>
                    <a:pt x="0" y="310387"/>
                  </a:moveTo>
                  <a:lnTo>
                    <a:pt x="1736978" y="310387"/>
                  </a:lnTo>
                  <a:lnTo>
                    <a:pt x="1736978" y="0"/>
                  </a:lnTo>
                  <a:lnTo>
                    <a:pt x="0" y="0"/>
                  </a:lnTo>
                  <a:lnTo>
                    <a:pt x="0" y="310387"/>
                  </a:lnTo>
                  <a:close/>
                </a:path>
              </a:pathLst>
            </a:custGeom>
            <a:ln w="12192">
              <a:solidFill>
                <a:srgbClr val="FFA9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31621" y="1008126"/>
            <a:ext cx="4181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250" dirty="0">
                <a:latin typeface="Verdana"/>
                <a:cs typeface="Verdana"/>
              </a:rPr>
              <a:t>Pengertian</a:t>
            </a:r>
            <a:r>
              <a:rPr sz="2400" b="1" i="1" spc="-204" dirty="0">
                <a:latin typeface="Verdana"/>
                <a:cs typeface="Verdana"/>
              </a:rPr>
              <a:t> </a:t>
            </a:r>
            <a:r>
              <a:rPr sz="2400" b="1" i="1" spc="-145" dirty="0">
                <a:latin typeface="Verdana"/>
                <a:cs typeface="Verdana"/>
              </a:rPr>
              <a:t>secara</a:t>
            </a:r>
            <a:r>
              <a:rPr sz="2400" b="1" i="1" spc="-65" dirty="0">
                <a:latin typeface="Verdana"/>
                <a:cs typeface="Verdana"/>
              </a:rPr>
              <a:t> </a:t>
            </a:r>
            <a:r>
              <a:rPr sz="2400" b="1" i="1" spc="-175" dirty="0">
                <a:latin typeface="Verdana"/>
                <a:cs typeface="Verdana"/>
              </a:rPr>
              <a:t>etimologi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3712" y="1432560"/>
            <a:ext cx="7391400" cy="0"/>
          </a:xfrm>
          <a:custGeom>
            <a:avLst/>
            <a:gdLst/>
            <a:ahLst/>
            <a:cxnLst/>
            <a:rect l="l" t="t" r="r" b="b"/>
            <a:pathLst>
              <a:path w="7391400">
                <a:moveTo>
                  <a:pt x="0" y="0"/>
                </a:moveTo>
                <a:lnTo>
                  <a:pt x="7391400" y="0"/>
                </a:lnTo>
              </a:path>
            </a:pathLst>
          </a:custGeom>
          <a:ln w="3048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55904" y="3358896"/>
            <a:ext cx="7312659" cy="0"/>
          </a:xfrm>
          <a:custGeom>
            <a:avLst/>
            <a:gdLst/>
            <a:ahLst/>
            <a:cxnLst/>
            <a:rect l="l" t="t" r="r" b="b"/>
            <a:pathLst>
              <a:path w="7312659">
                <a:moveTo>
                  <a:pt x="0" y="0"/>
                </a:moveTo>
                <a:lnTo>
                  <a:pt x="7312152" y="0"/>
                </a:lnTo>
              </a:path>
            </a:pathLst>
          </a:custGeom>
          <a:ln w="3048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0" y="0"/>
            <a:ext cx="12192000" cy="1273810"/>
            <a:chOff x="0" y="0"/>
            <a:chExt cx="12192000" cy="1273810"/>
          </a:xfrm>
        </p:grpSpPr>
        <p:sp>
          <p:nvSpPr>
            <p:cNvPr id="9" name="object 9"/>
            <p:cNvSpPr/>
            <p:nvPr/>
          </p:nvSpPr>
          <p:spPr>
            <a:xfrm>
              <a:off x="0" y="0"/>
              <a:ext cx="12192000" cy="1273810"/>
            </a:xfrm>
            <a:custGeom>
              <a:avLst/>
              <a:gdLst/>
              <a:ahLst/>
              <a:cxnLst/>
              <a:rect l="l" t="t" r="r" b="b"/>
              <a:pathLst>
                <a:path w="12192000" h="1273810">
                  <a:moveTo>
                    <a:pt x="12192000" y="0"/>
                  </a:moveTo>
                  <a:lnTo>
                    <a:pt x="0" y="0"/>
                  </a:lnTo>
                  <a:lnTo>
                    <a:pt x="0" y="1154811"/>
                  </a:lnTo>
                  <a:lnTo>
                    <a:pt x="0" y="1273683"/>
                  </a:lnTo>
                  <a:lnTo>
                    <a:pt x="12192000" y="1273683"/>
                  </a:lnTo>
                  <a:lnTo>
                    <a:pt x="12192000" y="1154811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88952" cy="810767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443096" y="183845"/>
            <a:ext cx="4990465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i="0" spc="-10" dirty="0">
                <a:latin typeface="Cambria"/>
                <a:cs typeface="Cambria"/>
              </a:rPr>
              <a:t>Pengertian</a:t>
            </a:r>
            <a:r>
              <a:rPr sz="2800" i="0" spc="-125" dirty="0">
                <a:latin typeface="Cambria"/>
                <a:cs typeface="Cambria"/>
              </a:rPr>
              <a:t> </a:t>
            </a:r>
            <a:r>
              <a:rPr sz="2800" i="0" dirty="0">
                <a:latin typeface="Cambria"/>
                <a:cs typeface="Cambria"/>
              </a:rPr>
              <a:t>dan</a:t>
            </a:r>
            <a:r>
              <a:rPr sz="2800" i="0" spc="-85" dirty="0">
                <a:latin typeface="Cambria"/>
                <a:cs typeface="Cambria"/>
              </a:rPr>
              <a:t> </a:t>
            </a:r>
            <a:r>
              <a:rPr sz="2800" i="0" dirty="0">
                <a:latin typeface="Cambria"/>
                <a:cs typeface="Cambria"/>
              </a:rPr>
              <a:t>fungsi</a:t>
            </a:r>
            <a:r>
              <a:rPr sz="2800" i="0" spc="-114" dirty="0">
                <a:latin typeface="Cambria"/>
                <a:cs typeface="Cambria"/>
              </a:rPr>
              <a:t> </a:t>
            </a:r>
            <a:r>
              <a:rPr sz="2800" i="0" spc="-10" dirty="0">
                <a:latin typeface="Cambria"/>
                <a:cs typeface="Cambria"/>
              </a:rPr>
              <a:t>Ideologi</a:t>
            </a:r>
            <a:endParaRPr sz="2800">
              <a:latin typeface="Cambria"/>
              <a:cs typeface="Cambr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45623" y="1203960"/>
            <a:ext cx="1816607" cy="215493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0821" y="1513078"/>
            <a:ext cx="8845550" cy="4924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3679" marR="133350" indent="-170815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33679" algn="l"/>
              </a:tabLst>
            </a:pPr>
            <a:r>
              <a:rPr sz="1300" spc="-30" dirty="0">
                <a:latin typeface="Verdana"/>
                <a:cs typeface="Verdana"/>
              </a:rPr>
              <a:t>Ideologi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berasal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35" dirty="0">
                <a:latin typeface="Verdana"/>
                <a:cs typeface="Verdana"/>
              </a:rPr>
              <a:t>dari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kata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idea,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yang</a:t>
            </a:r>
            <a:r>
              <a:rPr sz="1300" spc="-145" dirty="0">
                <a:latin typeface="Verdana"/>
                <a:cs typeface="Verdana"/>
              </a:rPr>
              <a:t> </a:t>
            </a:r>
            <a:r>
              <a:rPr sz="1300" spc="-45" dirty="0">
                <a:latin typeface="Verdana"/>
                <a:cs typeface="Verdana"/>
              </a:rPr>
              <a:t>artinya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gagasan,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konsep,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pengertian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40" dirty="0">
                <a:latin typeface="Verdana"/>
                <a:cs typeface="Verdana"/>
              </a:rPr>
              <a:t>dasar,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cita-</a:t>
            </a:r>
            <a:r>
              <a:rPr sz="1300" spc="-45" dirty="0">
                <a:latin typeface="Verdana"/>
                <a:cs typeface="Verdana"/>
              </a:rPr>
              <a:t>cita;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dan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30" dirty="0">
                <a:latin typeface="Verdana"/>
                <a:cs typeface="Verdana"/>
              </a:rPr>
              <a:t>logos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yang </a:t>
            </a:r>
            <a:r>
              <a:rPr sz="1300" spc="-50" dirty="0">
                <a:latin typeface="Verdana"/>
                <a:cs typeface="Verdana"/>
              </a:rPr>
              <a:t>berarti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ilmu</a:t>
            </a:r>
            <a:endParaRPr sz="1300" dirty="0">
              <a:latin typeface="Verdana"/>
              <a:cs typeface="Verdana"/>
            </a:endParaRPr>
          </a:p>
          <a:p>
            <a:pPr marL="233679" marR="55880" indent="-17081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33679" algn="l"/>
              </a:tabLst>
            </a:pPr>
            <a:r>
              <a:rPr sz="1300" spc="-10" dirty="0">
                <a:latin typeface="Verdana"/>
                <a:cs typeface="Verdana"/>
              </a:rPr>
              <a:t>ideologi</a:t>
            </a:r>
            <a:r>
              <a:rPr sz="1300" spc="-70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didefinisikan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sebagai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35" dirty="0">
                <a:latin typeface="Verdana"/>
                <a:cs typeface="Verdana"/>
              </a:rPr>
              <a:t>kumpulan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40" dirty="0">
                <a:latin typeface="Verdana"/>
                <a:cs typeface="Verdana"/>
              </a:rPr>
              <a:t>konsep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bersistem </a:t>
            </a:r>
            <a:r>
              <a:rPr sz="1300" dirty="0">
                <a:latin typeface="Verdana"/>
                <a:cs typeface="Verdana"/>
              </a:rPr>
              <a:t>yang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35" dirty="0">
                <a:latin typeface="Verdana"/>
                <a:cs typeface="Verdana"/>
              </a:rPr>
              <a:t>dijadikan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45" dirty="0">
                <a:latin typeface="Verdana"/>
                <a:cs typeface="Verdana"/>
              </a:rPr>
              <a:t>asas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pendapat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yang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memberikan </a:t>
            </a:r>
            <a:r>
              <a:rPr sz="1300" dirty="0">
                <a:latin typeface="Verdana"/>
                <a:cs typeface="Verdana"/>
              </a:rPr>
              <a:t>arah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dan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tujuan</a:t>
            </a:r>
            <a:r>
              <a:rPr sz="1300" spc="-120" dirty="0">
                <a:latin typeface="Verdana"/>
                <a:cs typeface="Verdana"/>
              </a:rPr>
              <a:t> </a:t>
            </a:r>
            <a:r>
              <a:rPr sz="1300" spc="-75" dirty="0">
                <a:latin typeface="Verdana"/>
                <a:cs typeface="Verdana"/>
              </a:rPr>
              <a:t>untuk</a:t>
            </a:r>
            <a:r>
              <a:rPr sz="1300" spc="-125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kelangsungan</a:t>
            </a:r>
            <a:r>
              <a:rPr sz="1300" spc="-14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hidup</a:t>
            </a:r>
            <a:r>
              <a:rPr sz="1300" spc="-12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(KBBI)</a:t>
            </a:r>
            <a:endParaRPr sz="1300" dirty="0">
              <a:latin typeface="Verdana"/>
              <a:cs typeface="Verdana"/>
            </a:endParaRPr>
          </a:p>
          <a:p>
            <a:pPr marL="233679" indent="-17018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233679" algn="l"/>
              </a:tabLst>
            </a:pPr>
            <a:r>
              <a:rPr sz="1300" spc="-70" dirty="0">
                <a:latin typeface="Verdana"/>
                <a:cs typeface="Verdana"/>
              </a:rPr>
              <a:t>Suatu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95" dirty="0">
                <a:latin typeface="Verdana"/>
                <a:cs typeface="Verdana"/>
              </a:rPr>
              <a:t>sistem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35" dirty="0">
                <a:latin typeface="Verdana"/>
                <a:cs typeface="Verdana"/>
              </a:rPr>
              <a:t>keyakinan</a:t>
            </a:r>
            <a:r>
              <a:rPr sz="1300" spc="-13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yang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85" dirty="0">
                <a:latin typeface="Verdana"/>
                <a:cs typeface="Verdana"/>
              </a:rPr>
              <a:t>dimiliki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oleh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60" dirty="0">
                <a:latin typeface="Verdana"/>
                <a:cs typeface="Verdana"/>
              </a:rPr>
              <a:t>suatu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35" dirty="0">
                <a:latin typeface="Verdana"/>
                <a:cs typeface="Verdana"/>
              </a:rPr>
              <a:t>masyarakat</a:t>
            </a:r>
            <a:r>
              <a:rPr sz="1300" spc="-114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atau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bangsa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yag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50" dirty="0">
                <a:latin typeface="Verdana"/>
                <a:cs typeface="Verdana"/>
              </a:rPr>
              <a:t>bersifat</a:t>
            </a:r>
            <a:r>
              <a:rPr sz="1300" spc="-114" dirty="0">
                <a:latin typeface="Verdana"/>
                <a:cs typeface="Verdana"/>
              </a:rPr>
              <a:t> </a:t>
            </a:r>
            <a:r>
              <a:rPr sz="1300" spc="-55" dirty="0">
                <a:latin typeface="Verdana"/>
                <a:cs typeface="Verdana"/>
              </a:rPr>
              <a:t>menyeluruh</a:t>
            </a:r>
            <a:r>
              <a:rPr sz="1300" spc="-130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yang</a:t>
            </a:r>
            <a:endParaRPr sz="1300" dirty="0">
              <a:latin typeface="Verdana"/>
              <a:cs typeface="Verdana"/>
            </a:endParaRPr>
          </a:p>
          <a:p>
            <a:pPr marL="233679">
              <a:lnSpc>
                <a:spcPct val="100000"/>
              </a:lnSpc>
            </a:pPr>
            <a:r>
              <a:rPr sz="1300" dirty="0">
                <a:latin typeface="Verdana"/>
                <a:cs typeface="Verdana"/>
              </a:rPr>
              <a:t>mendalam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mengenai</a:t>
            </a:r>
            <a:r>
              <a:rPr sz="1300" spc="-10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segala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45" dirty="0">
                <a:latin typeface="Verdana"/>
                <a:cs typeface="Verdana"/>
              </a:rPr>
              <a:t>sendi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kehidupan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kenegaraan,</a:t>
            </a:r>
            <a:r>
              <a:rPr sz="1300" spc="-120" dirty="0">
                <a:latin typeface="Verdana"/>
                <a:cs typeface="Verdana"/>
              </a:rPr>
              <a:t> </a:t>
            </a:r>
            <a:r>
              <a:rPr sz="1300" spc="-30" dirty="0">
                <a:latin typeface="Verdana"/>
                <a:cs typeface="Verdana"/>
              </a:rPr>
              <a:t>kemasyarakatan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dan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kebangsaan</a:t>
            </a:r>
            <a:endParaRPr sz="1300" dirty="0">
              <a:latin typeface="Verdana"/>
              <a:cs typeface="Verdana"/>
            </a:endParaRPr>
          </a:p>
          <a:p>
            <a:pPr marL="63500">
              <a:lnSpc>
                <a:spcPct val="100000"/>
              </a:lnSpc>
              <a:spcBef>
                <a:spcPts val="1085"/>
              </a:spcBef>
            </a:pPr>
            <a:r>
              <a:rPr sz="2400" spc="-465" baseline="62500" dirty="0">
                <a:latin typeface="Verdana"/>
                <a:cs typeface="Verdana"/>
              </a:rPr>
              <a:t>.</a:t>
            </a:r>
            <a:r>
              <a:rPr sz="2400" b="1" i="1" spc="-310" dirty="0">
                <a:latin typeface="Verdana"/>
                <a:cs typeface="Verdana"/>
              </a:rPr>
              <a:t>Fungsi</a:t>
            </a:r>
            <a:r>
              <a:rPr sz="2400" b="1" i="1" spc="-150" dirty="0">
                <a:latin typeface="Verdana"/>
                <a:cs typeface="Verdana"/>
              </a:rPr>
              <a:t> </a:t>
            </a:r>
            <a:r>
              <a:rPr sz="2400" b="1" i="1" spc="-30" dirty="0">
                <a:latin typeface="Verdana"/>
                <a:cs typeface="Verdana"/>
              </a:rPr>
              <a:t>ideologi</a:t>
            </a:r>
            <a:endParaRPr sz="2400" dirty="0">
              <a:latin typeface="Verdana"/>
              <a:cs typeface="Verdana"/>
            </a:endParaRPr>
          </a:p>
          <a:p>
            <a:pPr marL="86360">
              <a:lnSpc>
                <a:spcPct val="100000"/>
              </a:lnSpc>
              <a:spcBef>
                <a:spcPts val="1285"/>
              </a:spcBef>
            </a:pPr>
            <a:r>
              <a:rPr sz="1600" b="1" i="1" spc="-195" dirty="0">
                <a:latin typeface="Verdana"/>
                <a:cs typeface="Verdana"/>
              </a:rPr>
              <a:t>Fungsi</a:t>
            </a:r>
            <a:r>
              <a:rPr sz="1600" b="1" i="1" spc="-90" dirty="0">
                <a:latin typeface="Verdana"/>
                <a:cs typeface="Verdana"/>
              </a:rPr>
              <a:t> </a:t>
            </a:r>
            <a:r>
              <a:rPr sz="1600" b="1" i="1" spc="-20" dirty="0">
                <a:latin typeface="Verdana"/>
                <a:cs typeface="Verdana"/>
              </a:rPr>
              <a:t>etis</a:t>
            </a:r>
            <a:endParaRPr sz="1600" dirty="0">
              <a:latin typeface="Verdana"/>
              <a:cs typeface="Verdana"/>
            </a:endParaRPr>
          </a:p>
          <a:p>
            <a:pPr marL="372745" marR="999490" indent="-28702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372745" algn="l"/>
              </a:tabLst>
            </a:pPr>
            <a:r>
              <a:rPr sz="1200" dirty="0">
                <a:latin typeface="Verdana"/>
                <a:cs typeface="Verdana"/>
              </a:rPr>
              <a:t>Sebagai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panduan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dan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spc="-60" dirty="0">
                <a:latin typeface="Verdana"/>
                <a:cs typeface="Verdana"/>
              </a:rPr>
              <a:t>sikap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0" dirty="0">
                <a:latin typeface="Verdana"/>
                <a:cs typeface="Verdana"/>
              </a:rPr>
              <a:t>serta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55" dirty="0">
                <a:latin typeface="Verdana"/>
                <a:cs typeface="Verdana"/>
              </a:rPr>
              <a:t>prilaku </a:t>
            </a:r>
            <a:r>
              <a:rPr sz="1200" dirty="0">
                <a:latin typeface="Verdana"/>
                <a:cs typeface="Verdana"/>
              </a:rPr>
              <a:t>kelompok</a:t>
            </a:r>
            <a:r>
              <a:rPr sz="1200" spc="295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masyarakat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dalam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kehidupan</a:t>
            </a:r>
            <a:r>
              <a:rPr sz="1200" spc="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kenegaraan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dan </a:t>
            </a:r>
            <a:r>
              <a:rPr sz="1200" spc="-10" dirty="0">
                <a:latin typeface="Verdana"/>
                <a:cs typeface="Verdana"/>
              </a:rPr>
              <a:t>kebangsaan</a:t>
            </a:r>
            <a:endParaRPr sz="1200" dirty="0">
              <a:latin typeface="Verdana"/>
              <a:cs typeface="Verdana"/>
            </a:endParaRPr>
          </a:p>
          <a:p>
            <a:pPr marL="86360">
              <a:lnSpc>
                <a:spcPct val="100000"/>
              </a:lnSpc>
              <a:spcBef>
                <a:spcPts val="130"/>
              </a:spcBef>
            </a:pPr>
            <a:r>
              <a:rPr sz="1600" b="1" i="1" spc="-195" dirty="0">
                <a:latin typeface="Verdana"/>
                <a:cs typeface="Verdana"/>
              </a:rPr>
              <a:t>Fungsi</a:t>
            </a:r>
            <a:r>
              <a:rPr sz="1600" b="1" i="1" spc="-90" dirty="0">
                <a:latin typeface="Verdana"/>
                <a:cs typeface="Verdana"/>
              </a:rPr>
              <a:t> </a:t>
            </a:r>
            <a:r>
              <a:rPr sz="1600" b="1" i="1" spc="-85" dirty="0">
                <a:latin typeface="Verdana"/>
                <a:cs typeface="Verdana"/>
              </a:rPr>
              <a:t>Integrasi</a:t>
            </a:r>
            <a:endParaRPr sz="1600" dirty="0">
              <a:latin typeface="Verdana"/>
              <a:cs typeface="Verdana"/>
            </a:endParaRPr>
          </a:p>
          <a:p>
            <a:pPr marL="372745" indent="-286385">
              <a:lnSpc>
                <a:spcPct val="100000"/>
              </a:lnSpc>
              <a:spcBef>
                <a:spcPts val="15"/>
              </a:spcBef>
              <a:buFont typeface="Wingdings"/>
              <a:buChar char=""/>
              <a:tabLst>
                <a:tab pos="372745" algn="l"/>
              </a:tabLst>
            </a:pPr>
            <a:r>
              <a:rPr sz="1200" spc="-40" dirty="0">
                <a:latin typeface="Verdana"/>
                <a:cs typeface="Verdana"/>
              </a:rPr>
              <a:t>Nilai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yang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menjadi </a:t>
            </a:r>
            <a:r>
              <a:rPr sz="1200" spc="-10" dirty="0">
                <a:latin typeface="Verdana"/>
                <a:cs typeface="Verdana"/>
              </a:rPr>
              <a:t>pengikat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spc="-60" dirty="0">
                <a:latin typeface="Verdana"/>
                <a:cs typeface="Verdana"/>
              </a:rPr>
              <a:t>suatu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bangsa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atau</a:t>
            </a:r>
            <a:r>
              <a:rPr sz="1200" spc="-3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masyarakat</a:t>
            </a:r>
            <a:endParaRPr sz="1200" dirty="0">
              <a:latin typeface="Verdana"/>
              <a:cs typeface="Verdana"/>
            </a:endParaRPr>
          </a:p>
          <a:p>
            <a:pPr marL="86360">
              <a:lnSpc>
                <a:spcPct val="100000"/>
              </a:lnSpc>
              <a:spcBef>
                <a:spcPts val="1340"/>
              </a:spcBef>
            </a:pPr>
            <a:r>
              <a:rPr sz="1600" b="1" i="1" spc="-195" dirty="0">
                <a:latin typeface="Verdana"/>
                <a:cs typeface="Verdana"/>
              </a:rPr>
              <a:t>Fungsi</a:t>
            </a:r>
            <a:r>
              <a:rPr sz="1600" b="1" i="1" spc="-85" dirty="0">
                <a:latin typeface="Verdana"/>
                <a:cs typeface="Verdana"/>
              </a:rPr>
              <a:t> </a:t>
            </a:r>
            <a:r>
              <a:rPr sz="1600" b="1" i="1" spc="-70" dirty="0">
                <a:latin typeface="Verdana"/>
                <a:cs typeface="Verdana"/>
              </a:rPr>
              <a:t>Kritis</a:t>
            </a:r>
            <a:endParaRPr sz="1600" dirty="0">
              <a:latin typeface="Verdana"/>
              <a:cs typeface="Verdana"/>
            </a:endParaRPr>
          </a:p>
          <a:p>
            <a:pPr marL="372745" marR="1307465" indent="-287020">
              <a:lnSpc>
                <a:spcPct val="100000"/>
              </a:lnSpc>
              <a:spcBef>
                <a:spcPts val="20"/>
              </a:spcBef>
              <a:buFont typeface="Wingdings"/>
              <a:buChar char=""/>
              <a:tabLst>
                <a:tab pos="372745" algn="l"/>
              </a:tabLst>
            </a:pPr>
            <a:r>
              <a:rPr sz="1200" dirty="0">
                <a:latin typeface="Verdana"/>
                <a:cs typeface="Verdana"/>
              </a:rPr>
              <a:t>Sebagai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spc="-55" dirty="0">
                <a:latin typeface="Verdana"/>
                <a:cs typeface="Verdana"/>
              </a:rPr>
              <a:t>ukuran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spc="-45" dirty="0">
                <a:latin typeface="Verdana"/>
                <a:cs typeface="Verdana"/>
              </a:rPr>
              <a:t>nilai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yang</a:t>
            </a:r>
            <a:r>
              <a:rPr sz="1200" spc="-2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dapat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digunakan</a:t>
            </a:r>
            <a:r>
              <a:rPr sz="1200" spc="35" dirty="0">
                <a:latin typeface="Verdana"/>
                <a:cs typeface="Verdana"/>
              </a:rPr>
              <a:t> </a:t>
            </a:r>
            <a:r>
              <a:rPr sz="1200" spc="-65" dirty="0">
                <a:latin typeface="Verdana"/>
                <a:cs typeface="Verdana"/>
              </a:rPr>
              <a:t>untuk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melakukan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spc="-125" dirty="0">
                <a:latin typeface="Verdana"/>
                <a:cs typeface="Verdana"/>
              </a:rPr>
              <a:t>kritik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terhadap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spc="-45" dirty="0">
                <a:latin typeface="Verdana"/>
                <a:cs typeface="Verdana"/>
              </a:rPr>
              <a:t>nilai</a:t>
            </a:r>
            <a:r>
              <a:rPr sz="1200" spc="-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atau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keadaan tertentu</a:t>
            </a:r>
            <a:endParaRPr sz="1200" dirty="0">
              <a:latin typeface="Verdana"/>
              <a:cs typeface="Verdana"/>
            </a:endParaRPr>
          </a:p>
          <a:p>
            <a:pPr marL="86360">
              <a:lnSpc>
                <a:spcPct val="100000"/>
              </a:lnSpc>
              <a:spcBef>
                <a:spcPts val="409"/>
              </a:spcBef>
            </a:pPr>
            <a:r>
              <a:rPr sz="1600" b="1" i="1" spc="-195" dirty="0">
                <a:latin typeface="Verdana"/>
                <a:cs typeface="Verdana"/>
              </a:rPr>
              <a:t>Fungsi</a:t>
            </a:r>
            <a:r>
              <a:rPr sz="1600" b="1" i="1" spc="-90" dirty="0">
                <a:latin typeface="Verdana"/>
                <a:cs typeface="Verdana"/>
              </a:rPr>
              <a:t> </a:t>
            </a:r>
            <a:r>
              <a:rPr sz="1600" b="1" i="1" spc="-40" dirty="0">
                <a:latin typeface="Verdana"/>
                <a:cs typeface="Verdana"/>
              </a:rPr>
              <a:t>Praxis</a:t>
            </a:r>
            <a:endParaRPr sz="1600" dirty="0">
              <a:latin typeface="Verdana"/>
              <a:cs typeface="Verdana"/>
            </a:endParaRPr>
          </a:p>
          <a:p>
            <a:pPr marL="372745" indent="-286385">
              <a:lnSpc>
                <a:spcPct val="100000"/>
              </a:lnSpc>
              <a:spcBef>
                <a:spcPts val="15"/>
              </a:spcBef>
              <a:buFont typeface="Wingdings"/>
              <a:buChar char=""/>
              <a:tabLst>
                <a:tab pos="372745" algn="l"/>
              </a:tabLst>
            </a:pPr>
            <a:r>
              <a:rPr sz="1200" dirty="0">
                <a:latin typeface="Verdana"/>
                <a:cs typeface="Verdana"/>
              </a:rPr>
              <a:t>Sebagai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acuan</a:t>
            </a:r>
            <a:r>
              <a:rPr sz="1200" spc="3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dalam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menyelesaikan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masalah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masalah</a:t>
            </a:r>
            <a:r>
              <a:rPr sz="1200" spc="1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konkrit</a:t>
            </a:r>
            <a:endParaRPr sz="1200" dirty="0">
              <a:latin typeface="Verdana"/>
              <a:cs typeface="Verdana"/>
            </a:endParaRPr>
          </a:p>
          <a:p>
            <a:pPr marL="86360">
              <a:lnSpc>
                <a:spcPct val="100000"/>
              </a:lnSpc>
              <a:spcBef>
                <a:spcPts val="685"/>
              </a:spcBef>
            </a:pPr>
            <a:r>
              <a:rPr sz="1600" b="1" i="1" spc="-195" dirty="0">
                <a:latin typeface="Verdana"/>
                <a:cs typeface="Verdana"/>
              </a:rPr>
              <a:t>Fungsi</a:t>
            </a:r>
            <a:r>
              <a:rPr sz="1600" b="1" i="1" spc="-90" dirty="0">
                <a:latin typeface="Verdana"/>
                <a:cs typeface="Verdana"/>
              </a:rPr>
              <a:t> </a:t>
            </a:r>
            <a:r>
              <a:rPr sz="1600" b="1" i="1" spc="-95" dirty="0">
                <a:latin typeface="Verdana"/>
                <a:cs typeface="Verdana"/>
              </a:rPr>
              <a:t>Justifikasi</a:t>
            </a:r>
            <a:endParaRPr sz="1600" dirty="0">
              <a:latin typeface="Verdana"/>
              <a:cs typeface="Verdana"/>
            </a:endParaRPr>
          </a:p>
          <a:p>
            <a:pPr marL="372745" marR="942975" indent="-287020">
              <a:lnSpc>
                <a:spcPct val="100000"/>
              </a:lnSpc>
              <a:spcBef>
                <a:spcPts val="15"/>
              </a:spcBef>
              <a:buFont typeface="Wingdings"/>
              <a:buChar char=""/>
              <a:tabLst>
                <a:tab pos="372745" algn="l"/>
              </a:tabLst>
            </a:pPr>
            <a:r>
              <a:rPr sz="1200" dirty="0">
                <a:latin typeface="Verdana"/>
                <a:cs typeface="Verdana"/>
              </a:rPr>
              <a:t>Sebagai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spc="-45" dirty="0">
                <a:latin typeface="Verdana"/>
                <a:cs typeface="Verdana"/>
              </a:rPr>
              <a:t>nilai</a:t>
            </a:r>
            <a:r>
              <a:rPr sz="1200" spc="-5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pembenar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atas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spc="-55" dirty="0">
                <a:latin typeface="Verdana"/>
                <a:cs typeface="Verdana"/>
              </a:rPr>
              <a:t>suatu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tindakan </a:t>
            </a:r>
            <a:r>
              <a:rPr sz="1200" spc="-10" dirty="0">
                <a:latin typeface="Verdana"/>
                <a:cs typeface="Verdana"/>
              </a:rPr>
              <a:t>atas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kebijakan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45" dirty="0">
                <a:latin typeface="Verdana"/>
                <a:cs typeface="Verdana"/>
              </a:rPr>
              <a:t>tertentu</a:t>
            </a:r>
            <a:r>
              <a:rPr sz="1200" spc="-9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yang</a:t>
            </a:r>
            <a:r>
              <a:rPr sz="1200" spc="-70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dikeluarkan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oleh</a:t>
            </a:r>
            <a:r>
              <a:rPr sz="1200" spc="-9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kelompok tertentu</a:t>
            </a:r>
            <a:endParaRPr sz="1200" dirty="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79114" y="3681260"/>
            <a:ext cx="2490089" cy="25207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068567"/>
            <a:ext cx="12204700" cy="795020"/>
            <a:chOff x="-6095" y="6068567"/>
            <a:chExt cx="12204700" cy="795020"/>
          </a:xfrm>
        </p:grpSpPr>
        <p:sp>
          <p:nvSpPr>
            <p:cNvPr id="3" name="object 3"/>
            <p:cNvSpPr/>
            <p:nvPr/>
          </p:nvSpPr>
          <p:spPr>
            <a:xfrm>
              <a:off x="10454639" y="6547101"/>
              <a:ext cx="1737360" cy="310515"/>
            </a:xfrm>
            <a:custGeom>
              <a:avLst/>
              <a:gdLst/>
              <a:ahLst/>
              <a:cxnLst/>
              <a:rect l="l" t="t" r="r" b="b"/>
              <a:pathLst>
                <a:path w="1737359" h="310515">
                  <a:moveTo>
                    <a:pt x="0" y="310387"/>
                  </a:moveTo>
                  <a:lnTo>
                    <a:pt x="1736978" y="310387"/>
                  </a:lnTo>
                  <a:lnTo>
                    <a:pt x="1736978" y="0"/>
                  </a:lnTo>
                  <a:lnTo>
                    <a:pt x="0" y="0"/>
                  </a:lnTo>
                  <a:lnTo>
                    <a:pt x="0" y="310387"/>
                  </a:lnTo>
                  <a:close/>
                </a:path>
              </a:pathLst>
            </a:custGeom>
            <a:ln w="12192">
              <a:solidFill>
                <a:srgbClr val="FFA9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068567"/>
              <a:ext cx="3532632" cy="484631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79" y="274320"/>
            <a:ext cx="682752" cy="633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18312" y="946226"/>
            <a:ext cx="64389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45">
              <a:lnSpc>
                <a:spcPts val="132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BD9000"/>
                </a:solidFill>
                <a:latin typeface="Calibri"/>
                <a:cs typeface="Calibri"/>
              </a:rPr>
              <a:t>Republik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320"/>
              </a:lnSpc>
            </a:pPr>
            <a:r>
              <a:rPr sz="1200" b="1" spc="-10" dirty="0">
                <a:solidFill>
                  <a:srgbClr val="BD9000"/>
                </a:solidFill>
                <a:latin typeface="Calibri"/>
                <a:cs typeface="Calibri"/>
              </a:rPr>
              <a:t>Indonesia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39439" y="6391655"/>
            <a:ext cx="1000125" cy="182880"/>
          </a:xfrm>
          <a:custGeom>
            <a:avLst/>
            <a:gdLst/>
            <a:ahLst/>
            <a:cxnLst/>
            <a:rect l="l" t="t" r="r" b="b"/>
            <a:pathLst>
              <a:path w="1000125" h="182879">
                <a:moveTo>
                  <a:pt x="999616" y="0"/>
                </a:moveTo>
                <a:lnTo>
                  <a:pt x="0" y="0"/>
                </a:lnTo>
                <a:lnTo>
                  <a:pt x="0" y="182880"/>
                </a:lnTo>
                <a:lnTo>
                  <a:pt x="999616" y="182880"/>
                </a:lnTo>
                <a:lnTo>
                  <a:pt x="999616" y="0"/>
                </a:lnTo>
                <a:close/>
              </a:path>
            </a:pathLst>
          </a:custGeom>
          <a:solidFill>
            <a:srgbClr val="F8AC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85715" y="509143"/>
            <a:ext cx="207200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i="0" spc="-95" dirty="0">
                <a:solidFill>
                  <a:srgbClr val="403052"/>
                </a:solidFill>
                <a:latin typeface="Tahoma"/>
                <a:cs typeface="Tahoma"/>
              </a:rPr>
              <a:t>PANCASILA</a:t>
            </a:r>
            <a:endParaRPr sz="2900">
              <a:latin typeface="Tahoma"/>
              <a:cs typeface="Tahoma"/>
            </a:endParaRPr>
          </a:p>
        </p:txBody>
      </p:sp>
      <p:pic>
        <p:nvPicPr>
          <p:cNvPr id="9" name="object 9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" y="1828800"/>
            <a:ext cx="2270760" cy="295351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71855" y="4903978"/>
            <a:ext cx="1638935" cy="1061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699"/>
              </a:lnSpc>
              <a:spcBef>
                <a:spcPts val="95"/>
              </a:spcBef>
            </a:pPr>
            <a:r>
              <a:rPr sz="1600" b="1" spc="-120" dirty="0">
                <a:solidFill>
                  <a:srgbClr val="001F5F"/>
                </a:solidFill>
                <a:latin typeface="Arial"/>
                <a:cs typeface="Arial"/>
              </a:rPr>
              <a:t>“Pancasila</a:t>
            </a:r>
            <a:r>
              <a:rPr sz="1600" b="1" spc="-6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600" b="1" spc="-100" dirty="0">
                <a:solidFill>
                  <a:srgbClr val="001F5F"/>
                </a:solidFill>
                <a:latin typeface="Arial"/>
                <a:cs typeface="Arial"/>
              </a:rPr>
              <a:t>sebagai </a:t>
            </a:r>
            <a:r>
              <a:rPr sz="1600" b="1" spc="-60" dirty="0">
                <a:solidFill>
                  <a:srgbClr val="001F5F"/>
                </a:solidFill>
                <a:latin typeface="Arial"/>
                <a:cs typeface="Arial"/>
              </a:rPr>
              <a:t>philosofische </a:t>
            </a:r>
            <a:r>
              <a:rPr sz="1600" b="1" spc="-40" dirty="0">
                <a:solidFill>
                  <a:srgbClr val="001F5F"/>
                </a:solidFill>
                <a:latin typeface="Arial"/>
                <a:cs typeface="Arial"/>
              </a:rPr>
              <a:t>Grounddslag”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1400" b="1" spc="-80" dirty="0">
                <a:latin typeface="Arial"/>
                <a:cs typeface="Arial"/>
              </a:rPr>
              <a:t>Ir,</a:t>
            </a:r>
            <a:r>
              <a:rPr sz="1400" b="1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Soekarno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62614" y="2613042"/>
            <a:ext cx="768379" cy="690989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532632" y="1664207"/>
            <a:ext cx="0" cy="4438015"/>
          </a:xfrm>
          <a:custGeom>
            <a:avLst/>
            <a:gdLst/>
            <a:ahLst/>
            <a:cxnLst/>
            <a:rect l="l" t="t" r="r" b="b"/>
            <a:pathLst>
              <a:path h="4438015">
                <a:moveTo>
                  <a:pt x="0" y="0"/>
                </a:moveTo>
                <a:lnTo>
                  <a:pt x="0" y="4437519"/>
                </a:lnTo>
              </a:path>
            </a:pathLst>
          </a:custGeom>
          <a:ln w="6096">
            <a:solidFill>
              <a:srgbClr val="001F5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731135" y="1050163"/>
            <a:ext cx="7569200" cy="500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63294" marR="1111885" indent="-95123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mbria"/>
                <a:cs typeface="Cambria"/>
              </a:rPr>
              <a:t>Dasar</a:t>
            </a:r>
            <a:r>
              <a:rPr sz="1800" b="1" spc="-1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negara</a:t>
            </a:r>
            <a:r>
              <a:rPr sz="1800" b="1" spc="-5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Reublik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Indonesia,Ideologi</a:t>
            </a:r>
            <a:r>
              <a:rPr sz="1800" b="1" spc="-4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Nasional,Pandangan </a:t>
            </a:r>
            <a:r>
              <a:rPr sz="1800" b="1" dirty="0">
                <a:latin typeface="Cambria"/>
                <a:cs typeface="Cambria"/>
              </a:rPr>
              <a:t>Hidup</a:t>
            </a:r>
            <a:r>
              <a:rPr sz="1800" b="1" spc="-50" dirty="0">
                <a:latin typeface="Cambria"/>
                <a:cs typeface="Cambria"/>
              </a:rPr>
              <a:t> </a:t>
            </a:r>
            <a:r>
              <a:rPr sz="1800" b="1" dirty="0">
                <a:latin typeface="Cambria"/>
                <a:cs typeface="Cambria"/>
              </a:rPr>
              <a:t>Bangsa</a:t>
            </a:r>
            <a:r>
              <a:rPr sz="1800" b="1" spc="-30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Indonesia,Pemersatu</a:t>
            </a:r>
            <a:r>
              <a:rPr sz="1800" b="1" spc="-35" dirty="0">
                <a:latin typeface="Cambria"/>
                <a:cs typeface="Cambria"/>
              </a:rPr>
              <a:t> </a:t>
            </a:r>
            <a:r>
              <a:rPr sz="1800" b="1" spc="-10" dirty="0">
                <a:latin typeface="Cambria"/>
                <a:cs typeface="Cambria"/>
              </a:rPr>
              <a:t>Bangsa</a:t>
            </a:r>
            <a:endParaRPr sz="1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800" dirty="0">
              <a:latin typeface="Cambria"/>
              <a:cs typeface="Cambria"/>
            </a:endParaRPr>
          </a:p>
          <a:p>
            <a:pPr marL="2280920" marR="488950" indent="-287020">
              <a:lnSpc>
                <a:spcPct val="100000"/>
              </a:lnSpc>
              <a:buFont typeface="Wingdings"/>
              <a:buChar char=""/>
              <a:tabLst>
                <a:tab pos="2280920" algn="l"/>
              </a:tabLst>
            </a:pPr>
            <a:r>
              <a:rPr sz="1800" dirty="0">
                <a:latin typeface="Calibri"/>
                <a:cs typeface="Calibri"/>
              </a:rPr>
              <a:t>Menjalin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toleransi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saling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menghormati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kepercayaan masing-</a:t>
            </a:r>
            <a:r>
              <a:rPr sz="1800" dirty="0">
                <a:latin typeface="Calibri"/>
                <a:cs typeface="Calibri"/>
              </a:rPr>
              <a:t>masing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untuk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membina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kerukunan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  <a:buFont typeface="Wingdings"/>
              <a:buChar char=""/>
            </a:pPr>
            <a:endParaRPr sz="1800" dirty="0">
              <a:latin typeface="Calibri"/>
              <a:cs typeface="Calibri"/>
            </a:endParaRPr>
          </a:p>
          <a:p>
            <a:pPr marL="2303145" indent="-286385">
              <a:lnSpc>
                <a:spcPct val="100000"/>
              </a:lnSpc>
              <a:buFont typeface="Wingdings"/>
              <a:buChar char=""/>
              <a:tabLst>
                <a:tab pos="2303145" algn="l"/>
              </a:tabLst>
            </a:pPr>
            <a:r>
              <a:rPr sz="1800" dirty="0">
                <a:latin typeface="Calibri"/>
                <a:cs typeface="Calibri"/>
              </a:rPr>
              <a:t>Saling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mnecintai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menumbuhkan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rasa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tenggang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rasa</a:t>
            </a:r>
            <a:endParaRPr sz="1800" dirty="0">
              <a:latin typeface="Calibri"/>
              <a:cs typeface="Calibri"/>
            </a:endParaRPr>
          </a:p>
          <a:p>
            <a:pPr marL="2303145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serta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menjunjung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tinggi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kemanusiaan</a:t>
            </a:r>
            <a:endParaRPr sz="1800" dirty="0">
              <a:latin typeface="Calibri"/>
              <a:cs typeface="Calibri"/>
            </a:endParaRPr>
          </a:p>
          <a:p>
            <a:pPr marL="2246630" indent="-286385">
              <a:lnSpc>
                <a:spcPct val="100000"/>
              </a:lnSpc>
              <a:spcBef>
                <a:spcPts val="1995"/>
              </a:spcBef>
              <a:buFont typeface="Wingdings"/>
              <a:buChar char=""/>
              <a:tabLst>
                <a:tab pos="2246630" algn="l"/>
              </a:tabLst>
            </a:pPr>
            <a:r>
              <a:rPr sz="1800" spc="-10" dirty="0">
                <a:latin typeface="Calibri"/>
                <a:cs typeface="Calibri"/>
              </a:rPr>
              <a:t>Menempatkan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persatuan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bangsa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(asas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bhineka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tunggal</a:t>
            </a:r>
            <a:endParaRPr sz="1800" dirty="0">
              <a:latin typeface="Calibri"/>
              <a:cs typeface="Calibri"/>
            </a:endParaRPr>
          </a:p>
          <a:p>
            <a:pPr marL="224663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ika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)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diatas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kepentingan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pribadi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golongan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800" dirty="0">
              <a:latin typeface="Calibri"/>
              <a:cs typeface="Calibri"/>
            </a:endParaRPr>
          </a:p>
          <a:p>
            <a:pPr marL="2280920" indent="-286385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280920" algn="l"/>
              </a:tabLst>
            </a:pPr>
            <a:r>
              <a:rPr sz="1800" dirty="0">
                <a:latin typeface="Calibri"/>
                <a:cs typeface="Calibri"/>
              </a:rPr>
              <a:t>Menjunjung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tinggi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kekeluargaan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dalam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musyawarah</a:t>
            </a:r>
            <a:endParaRPr sz="1800" dirty="0">
              <a:latin typeface="Calibri"/>
              <a:cs typeface="Calibri"/>
            </a:endParaRPr>
          </a:p>
          <a:p>
            <a:pPr marL="228092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yang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dilakukan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dengan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hati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nurani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luhur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800" dirty="0">
              <a:latin typeface="Calibri"/>
              <a:cs typeface="Calibri"/>
            </a:endParaRPr>
          </a:p>
          <a:p>
            <a:pPr marL="2280920" indent="-286385">
              <a:lnSpc>
                <a:spcPct val="100000"/>
              </a:lnSpc>
              <a:buFont typeface="Wingdings"/>
              <a:buChar char=""/>
              <a:tabLst>
                <a:tab pos="2280920" algn="l"/>
              </a:tabLst>
            </a:pPr>
            <a:r>
              <a:rPr sz="1800" dirty="0">
                <a:latin typeface="Cambria"/>
                <a:cs typeface="Cambria"/>
              </a:rPr>
              <a:t>Mengembangkan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perbuatan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adil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yang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mencerminkan</a:t>
            </a:r>
            <a:endParaRPr sz="1800" dirty="0">
              <a:latin typeface="Cambria"/>
              <a:cs typeface="Cambria"/>
            </a:endParaRPr>
          </a:p>
          <a:p>
            <a:pPr marL="2280920">
              <a:lnSpc>
                <a:spcPct val="100000"/>
              </a:lnSpc>
            </a:pPr>
            <a:r>
              <a:rPr sz="1800" dirty="0">
                <a:latin typeface="Cambria"/>
                <a:cs typeface="Cambria"/>
              </a:rPr>
              <a:t>nilai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luhur ,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kekeluargaan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gotong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royong</a:t>
            </a:r>
            <a:endParaRPr sz="1800" dirty="0">
              <a:latin typeface="Cambria"/>
              <a:cs typeface="Cambri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33800" y="1853183"/>
            <a:ext cx="810768" cy="60655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03320" y="3532632"/>
            <a:ext cx="871727" cy="54254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73423" y="4456176"/>
            <a:ext cx="771144" cy="69189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19144" y="5367528"/>
            <a:ext cx="655320" cy="630936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2822448" y="3489959"/>
            <a:ext cx="421005" cy="292735"/>
            <a:chOff x="2822448" y="3489959"/>
            <a:chExt cx="421005" cy="292735"/>
          </a:xfrm>
        </p:grpSpPr>
        <p:pic>
          <p:nvPicPr>
            <p:cNvPr id="19" name="object 19">
              <a:hlinkClick r:id="rId11"/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19984" y="3572636"/>
              <a:ext cx="225552" cy="120396"/>
            </a:xfrm>
            <a:prstGeom prst="rect">
              <a:avLst/>
            </a:prstGeom>
          </p:spPr>
        </p:pic>
        <p:sp>
          <p:nvSpPr>
            <p:cNvPr id="20" name="object 20">
              <a:hlinkClick r:id="rId11"/>
            </p:cNvPr>
            <p:cNvSpPr/>
            <p:nvPr/>
          </p:nvSpPr>
          <p:spPr>
            <a:xfrm>
              <a:off x="2834640" y="3502151"/>
              <a:ext cx="396240" cy="268605"/>
            </a:xfrm>
            <a:custGeom>
              <a:avLst/>
              <a:gdLst/>
              <a:ahLst/>
              <a:cxnLst/>
              <a:rect l="l" t="t" r="r" b="b"/>
              <a:pathLst>
                <a:path w="396239" h="268604">
                  <a:moveTo>
                    <a:pt x="0" y="268224"/>
                  </a:moveTo>
                  <a:lnTo>
                    <a:pt x="396239" y="268224"/>
                  </a:lnTo>
                  <a:lnTo>
                    <a:pt x="396239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24383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9C8529-9F2A-43EF-B17D-F0534E051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955328"/>
              </p:ext>
            </p:extLst>
          </p:nvPr>
        </p:nvGraphicFramePr>
        <p:xfrm>
          <a:off x="921026" y="1377930"/>
          <a:ext cx="10469219" cy="3761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6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1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1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625"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Aspek</a:t>
                      </a:r>
                      <a:endParaRPr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Pancasila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sebagai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Dasar Negara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 b="1">
                          <a:solidFill>
                            <a:schemeClr val="lt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Pancasila sebagai Ideologi Negara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89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Pengertian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Fondasi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yuridis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dan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sumber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hukum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tertinggi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bagi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penyelenggaraan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negara.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Pandangan hidup dan pedoman nilai bagi bangsa Indonesia.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625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Fungsi Utama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Landasan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konstitusional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dan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sumber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hukum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Arah, tujuan, dan pemersatu bangsa.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625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Ruang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Lingkup</a:t>
                      </a:r>
                      <a:endParaRPr sz="1600" dirty="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Struktur kenegaraan, hukum, dan pemerintahan.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Nilai, norma, dan orientasi hidup bangsa.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446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Sifat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Formal, yuridis, konstitusional.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Filosofis, substantif, ideologis.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892"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Contoh Penerapan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Pembukaan UUD 1945 sebagai sumber dari segala sumber hukum.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en-US">
                          <a:solidFill>
                            <a:schemeClr val="dk1"/>
                          </a:solidFill>
                        </a:defRPr>
                      </a:defPPr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Gotong royong,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toleransi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antarumat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beragama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,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musyawarah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 </a:t>
                      </a:r>
                      <a:r>
                        <a:rPr sz="1600" dirty="0" err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mufakat</a:t>
                      </a:r>
                      <a:r>
                        <a:rPr sz="16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61723-2AC7-45A7-8C6C-75DCE7D13CF0}"/>
              </a:ext>
            </a:extLst>
          </p:cNvPr>
          <p:cNvSpPr>
            <a:spLocks noGrp="1"/>
          </p:cNvSpPr>
          <p:nvPr/>
        </p:nvSpPr>
        <p:spPr>
          <a:xfrm>
            <a:off x="921026" y="5251411"/>
            <a:ext cx="10469218" cy="157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• Pancasila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sebagai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dasar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negara →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berfungsi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hukum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&amp;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konstitusional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• Pancasila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sebagai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ideologi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negara →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berfungsi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nilai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&amp;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pedoman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hidup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>
              <a:buNone/>
            </a:pP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Keduanya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saling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melengkapi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sebagai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fondasi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dan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arah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bangsa</a:t>
            </a:r>
            <a:r>
              <a:rPr sz="1800" dirty="0">
                <a:latin typeface="Verdana" panose="020B0604030504040204" pitchFamily="34" charset="0"/>
                <a:ea typeface="Verdana" panose="020B0604030504040204" pitchFamily="34" charset="0"/>
              </a:rPr>
              <a:t> Indonesia.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8ED21-A8A9-40F5-B962-2D99B1A728ED}"/>
              </a:ext>
            </a:extLst>
          </p:cNvPr>
          <p:cNvSpPr txBox="1"/>
          <p:nvPr/>
        </p:nvSpPr>
        <p:spPr>
          <a:xfrm>
            <a:off x="980661" y="362108"/>
            <a:ext cx="10349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>
                <a:latin typeface="Verdana" panose="020B0604030504040204" pitchFamily="34" charset="0"/>
                <a:ea typeface="Verdana" panose="020B0604030504040204" pitchFamily="34" charset="0"/>
              </a:rPr>
              <a:t>PERBEDAAN PANCASILA SEBAGAI DASAR NEGARA DENGAN PANCASILA SEBAGAI IDEOLOGI NEGARA</a:t>
            </a:r>
          </a:p>
        </p:txBody>
      </p:sp>
    </p:spTree>
    <p:extLst>
      <p:ext uri="{BB962C8B-B14F-4D97-AF65-F5344CB8AC3E}">
        <p14:creationId xmlns:p14="http://schemas.microsoft.com/office/powerpoint/2010/main" val="1282507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274445"/>
            <a:chOff x="0" y="0"/>
            <a:chExt cx="12192000" cy="12744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127406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2192000" cy="1273810"/>
            </a:xfrm>
            <a:custGeom>
              <a:avLst/>
              <a:gdLst/>
              <a:ahLst/>
              <a:cxnLst/>
              <a:rect l="l" t="t" r="r" b="b"/>
              <a:pathLst>
                <a:path w="12192000" h="1273810">
                  <a:moveTo>
                    <a:pt x="12192000" y="0"/>
                  </a:moveTo>
                  <a:lnTo>
                    <a:pt x="0" y="0"/>
                  </a:lnTo>
                  <a:lnTo>
                    <a:pt x="0" y="1273683"/>
                  </a:lnTo>
                  <a:lnTo>
                    <a:pt x="12192000" y="127368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FFFF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031" y="320040"/>
              <a:ext cx="646176" cy="688847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0" y="1478280"/>
            <a:ext cx="5215255" cy="5005070"/>
            <a:chOff x="0" y="1478280"/>
            <a:chExt cx="5215255" cy="5005070"/>
          </a:xfrm>
        </p:grpSpPr>
        <p:sp>
          <p:nvSpPr>
            <p:cNvPr id="7" name="object 7"/>
            <p:cNvSpPr/>
            <p:nvPr/>
          </p:nvSpPr>
          <p:spPr>
            <a:xfrm>
              <a:off x="4117847" y="5766815"/>
              <a:ext cx="713105" cy="716280"/>
            </a:xfrm>
            <a:custGeom>
              <a:avLst/>
              <a:gdLst/>
              <a:ahLst/>
              <a:cxnLst/>
              <a:rect l="l" t="t" r="r" b="b"/>
              <a:pathLst>
                <a:path w="713104" h="716279">
                  <a:moveTo>
                    <a:pt x="356488" y="0"/>
                  </a:moveTo>
                  <a:lnTo>
                    <a:pt x="308101" y="3263"/>
                  </a:lnTo>
                  <a:lnTo>
                    <a:pt x="261747" y="12788"/>
                  </a:lnTo>
                  <a:lnTo>
                    <a:pt x="217677" y="28130"/>
                  </a:lnTo>
                  <a:lnTo>
                    <a:pt x="176529" y="48882"/>
                  </a:lnTo>
                  <a:lnTo>
                    <a:pt x="138684" y="74599"/>
                  </a:lnTo>
                  <a:lnTo>
                    <a:pt x="104393" y="104863"/>
                  </a:lnTo>
                  <a:lnTo>
                    <a:pt x="74294" y="139242"/>
                  </a:lnTo>
                  <a:lnTo>
                    <a:pt x="48640" y="177317"/>
                  </a:lnTo>
                  <a:lnTo>
                    <a:pt x="28066" y="218655"/>
                  </a:lnTo>
                  <a:lnTo>
                    <a:pt x="12700" y="262839"/>
                  </a:lnTo>
                  <a:lnTo>
                    <a:pt x="3301" y="309435"/>
                  </a:lnTo>
                  <a:lnTo>
                    <a:pt x="0" y="358013"/>
                  </a:lnTo>
                  <a:lnTo>
                    <a:pt x="3301" y="406590"/>
                  </a:lnTo>
                  <a:lnTo>
                    <a:pt x="12700" y="453186"/>
                  </a:lnTo>
                  <a:lnTo>
                    <a:pt x="28066" y="497370"/>
                  </a:lnTo>
                  <a:lnTo>
                    <a:pt x="48640" y="538708"/>
                  </a:lnTo>
                  <a:lnTo>
                    <a:pt x="74294" y="576783"/>
                  </a:lnTo>
                  <a:lnTo>
                    <a:pt x="104393" y="611162"/>
                  </a:lnTo>
                  <a:lnTo>
                    <a:pt x="138684" y="641426"/>
                  </a:lnTo>
                  <a:lnTo>
                    <a:pt x="176529" y="667143"/>
                  </a:lnTo>
                  <a:lnTo>
                    <a:pt x="217677" y="687895"/>
                  </a:lnTo>
                  <a:lnTo>
                    <a:pt x="261747" y="703237"/>
                  </a:lnTo>
                  <a:lnTo>
                    <a:pt x="308101" y="712762"/>
                  </a:lnTo>
                  <a:lnTo>
                    <a:pt x="356488" y="716026"/>
                  </a:lnTo>
                  <a:lnTo>
                    <a:pt x="404875" y="712762"/>
                  </a:lnTo>
                  <a:lnTo>
                    <a:pt x="451230" y="703237"/>
                  </a:lnTo>
                  <a:lnTo>
                    <a:pt x="495300" y="687895"/>
                  </a:lnTo>
                  <a:lnTo>
                    <a:pt x="536448" y="667143"/>
                  </a:lnTo>
                  <a:lnTo>
                    <a:pt x="574293" y="641426"/>
                  </a:lnTo>
                  <a:lnTo>
                    <a:pt x="608584" y="611162"/>
                  </a:lnTo>
                  <a:lnTo>
                    <a:pt x="638682" y="576783"/>
                  </a:lnTo>
                  <a:lnTo>
                    <a:pt x="664337" y="538708"/>
                  </a:lnTo>
                  <a:lnTo>
                    <a:pt x="684911" y="497370"/>
                  </a:lnTo>
                  <a:lnTo>
                    <a:pt x="700277" y="453186"/>
                  </a:lnTo>
                  <a:lnTo>
                    <a:pt x="709676" y="406590"/>
                  </a:lnTo>
                  <a:lnTo>
                    <a:pt x="712977" y="358013"/>
                  </a:lnTo>
                  <a:lnTo>
                    <a:pt x="709676" y="309435"/>
                  </a:lnTo>
                  <a:lnTo>
                    <a:pt x="700277" y="262839"/>
                  </a:lnTo>
                  <a:lnTo>
                    <a:pt x="684911" y="218655"/>
                  </a:lnTo>
                  <a:lnTo>
                    <a:pt x="664337" y="177317"/>
                  </a:lnTo>
                  <a:lnTo>
                    <a:pt x="638682" y="139242"/>
                  </a:lnTo>
                  <a:lnTo>
                    <a:pt x="608584" y="104863"/>
                  </a:lnTo>
                  <a:lnTo>
                    <a:pt x="574293" y="74599"/>
                  </a:lnTo>
                  <a:lnTo>
                    <a:pt x="536448" y="48882"/>
                  </a:lnTo>
                  <a:lnTo>
                    <a:pt x="495300" y="28130"/>
                  </a:lnTo>
                  <a:lnTo>
                    <a:pt x="451230" y="12788"/>
                  </a:lnTo>
                  <a:lnTo>
                    <a:pt x="404875" y="3263"/>
                  </a:lnTo>
                  <a:lnTo>
                    <a:pt x="35648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8392" y="1673351"/>
              <a:ext cx="3044825" cy="4752340"/>
            </a:xfrm>
            <a:custGeom>
              <a:avLst/>
              <a:gdLst/>
              <a:ahLst/>
              <a:cxnLst/>
              <a:rect l="l" t="t" r="r" b="b"/>
              <a:pathLst>
                <a:path w="3044825" h="4752340">
                  <a:moveTo>
                    <a:pt x="3044444" y="2375916"/>
                  </a:moveTo>
                  <a:lnTo>
                    <a:pt x="3043936" y="2325116"/>
                  </a:lnTo>
                  <a:lnTo>
                    <a:pt x="3042539" y="2274316"/>
                  </a:lnTo>
                  <a:lnTo>
                    <a:pt x="3036697" y="2185289"/>
                  </a:lnTo>
                  <a:lnTo>
                    <a:pt x="3032506" y="2134489"/>
                  </a:lnTo>
                  <a:lnTo>
                    <a:pt x="3027299" y="2083689"/>
                  </a:lnTo>
                  <a:lnTo>
                    <a:pt x="3021076" y="2045589"/>
                  </a:lnTo>
                  <a:lnTo>
                    <a:pt x="3014091" y="1994789"/>
                  </a:lnTo>
                  <a:lnTo>
                    <a:pt x="3006090" y="1943989"/>
                  </a:lnTo>
                  <a:lnTo>
                    <a:pt x="2997327" y="1905762"/>
                  </a:lnTo>
                  <a:lnTo>
                    <a:pt x="2987548" y="1854962"/>
                  </a:lnTo>
                  <a:lnTo>
                    <a:pt x="2977007" y="1816862"/>
                  </a:lnTo>
                  <a:lnTo>
                    <a:pt x="2965450" y="1766062"/>
                  </a:lnTo>
                  <a:lnTo>
                    <a:pt x="2953131" y="1727962"/>
                  </a:lnTo>
                  <a:lnTo>
                    <a:pt x="2940050" y="1677162"/>
                  </a:lnTo>
                  <a:lnTo>
                    <a:pt x="2926080" y="1639062"/>
                  </a:lnTo>
                  <a:lnTo>
                    <a:pt x="2911221" y="1588135"/>
                  </a:lnTo>
                  <a:lnTo>
                    <a:pt x="2895600" y="1550035"/>
                  </a:lnTo>
                  <a:lnTo>
                    <a:pt x="2879090" y="1499235"/>
                  </a:lnTo>
                  <a:lnTo>
                    <a:pt x="2861945" y="1461135"/>
                  </a:lnTo>
                  <a:lnTo>
                    <a:pt x="2843911" y="1423035"/>
                  </a:lnTo>
                  <a:lnTo>
                    <a:pt x="2825115" y="1372235"/>
                  </a:lnTo>
                  <a:lnTo>
                    <a:pt x="2805430" y="1334008"/>
                  </a:lnTo>
                  <a:lnTo>
                    <a:pt x="2785110" y="1295908"/>
                  </a:lnTo>
                  <a:lnTo>
                    <a:pt x="2764028" y="1257808"/>
                  </a:lnTo>
                  <a:lnTo>
                    <a:pt x="2742184" y="1219708"/>
                  </a:lnTo>
                  <a:lnTo>
                    <a:pt x="2719578" y="1181608"/>
                  </a:lnTo>
                  <a:lnTo>
                    <a:pt x="2696337" y="1130808"/>
                  </a:lnTo>
                  <a:lnTo>
                    <a:pt x="2672334" y="1092708"/>
                  </a:lnTo>
                  <a:lnTo>
                    <a:pt x="2647569" y="1054608"/>
                  </a:lnTo>
                  <a:lnTo>
                    <a:pt x="2622169" y="1029081"/>
                  </a:lnTo>
                  <a:lnTo>
                    <a:pt x="2596007" y="990981"/>
                  </a:lnTo>
                  <a:lnTo>
                    <a:pt x="2569210" y="952881"/>
                  </a:lnTo>
                  <a:lnTo>
                    <a:pt x="2541778" y="914781"/>
                  </a:lnTo>
                  <a:lnTo>
                    <a:pt x="2513584" y="876681"/>
                  </a:lnTo>
                  <a:lnTo>
                    <a:pt x="2484882" y="838581"/>
                  </a:lnTo>
                  <a:lnTo>
                    <a:pt x="2455418" y="813181"/>
                  </a:lnTo>
                  <a:lnTo>
                    <a:pt x="2425446" y="775081"/>
                  </a:lnTo>
                  <a:lnTo>
                    <a:pt x="2394712" y="736854"/>
                  </a:lnTo>
                  <a:lnTo>
                    <a:pt x="2363470" y="711454"/>
                  </a:lnTo>
                  <a:lnTo>
                    <a:pt x="2331593" y="673354"/>
                  </a:lnTo>
                  <a:lnTo>
                    <a:pt x="2299081" y="647954"/>
                  </a:lnTo>
                  <a:lnTo>
                    <a:pt x="2265934" y="609854"/>
                  </a:lnTo>
                  <a:lnTo>
                    <a:pt x="2232279" y="584454"/>
                  </a:lnTo>
                  <a:lnTo>
                    <a:pt x="2198116" y="559054"/>
                  </a:lnTo>
                  <a:lnTo>
                    <a:pt x="2163318" y="533654"/>
                  </a:lnTo>
                  <a:lnTo>
                    <a:pt x="2128012" y="495554"/>
                  </a:lnTo>
                  <a:lnTo>
                    <a:pt x="2092071" y="470154"/>
                  </a:lnTo>
                  <a:lnTo>
                    <a:pt x="2018792" y="419227"/>
                  </a:lnTo>
                  <a:lnTo>
                    <a:pt x="1943354" y="368427"/>
                  </a:lnTo>
                  <a:lnTo>
                    <a:pt x="1866011" y="317627"/>
                  </a:lnTo>
                  <a:lnTo>
                    <a:pt x="1826641" y="304927"/>
                  </a:lnTo>
                  <a:lnTo>
                    <a:pt x="1746377" y="254127"/>
                  </a:lnTo>
                  <a:lnTo>
                    <a:pt x="1705610" y="241427"/>
                  </a:lnTo>
                  <a:lnTo>
                    <a:pt x="1664462" y="216027"/>
                  </a:lnTo>
                  <a:lnTo>
                    <a:pt x="1622806" y="203327"/>
                  </a:lnTo>
                  <a:lnTo>
                    <a:pt x="1580769" y="177927"/>
                  </a:lnTo>
                  <a:lnTo>
                    <a:pt x="1538224" y="165227"/>
                  </a:lnTo>
                  <a:lnTo>
                    <a:pt x="1495425" y="139700"/>
                  </a:lnTo>
                  <a:lnTo>
                    <a:pt x="1230122" y="63500"/>
                  </a:lnTo>
                  <a:lnTo>
                    <a:pt x="1138948" y="38100"/>
                  </a:lnTo>
                  <a:lnTo>
                    <a:pt x="1092847" y="38100"/>
                  </a:lnTo>
                  <a:lnTo>
                    <a:pt x="1046454" y="25400"/>
                  </a:lnTo>
                  <a:lnTo>
                    <a:pt x="999756" y="25400"/>
                  </a:lnTo>
                  <a:lnTo>
                    <a:pt x="952754" y="12700"/>
                  </a:lnTo>
                  <a:lnTo>
                    <a:pt x="905484" y="12700"/>
                  </a:lnTo>
                  <a:lnTo>
                    <a:pt x="857935" y="0"/>
                  </a:lnTo>
                  <a:lnTo>
                    <a:pt x="470039" y="0"/>
                  </a:lnTo>
                  <a:lnTo>
                    <a:pt x="421906" y="12700"/>
                  </a:lnTo>
                  <a:lnTo>
                    <a:pt x="374065" y="12700"/>
                  </a:lnTo>
                  <a:lnTo>
                    <a:pt x="326491" y="25400"/>
                  </a:lnTo>
                  <a:lnTo>
                    <a:pt x="279247" y="25400"/>
                  </a:lnTo>
                  <a:lnTo>
                    <a:pt x="185674" y="50800"/>
                  </a:lnTo>
                  <a:lnTo>
                    <a:pt x="0" y="88900"/>
                  </a:lnTo>
                  <a:lnTo>
                    <a:pt x="0" y="152527"/>
                  </a:lnTo>
                  <a:lnTo>
                    <a:pt x="198539" y="101600"/>
                  </a:lnTo>
                  <a:lnTo>
                    <a:pt x="248983" y="101600"/>
                  </a:lnTo>
                  <a:lnTo>
                    <a:pt x="350989" y="76200"/>
                  </a:lnTo>
                  <a:lnTo>
                    <a:pt x="454431" y="76200"/>
                  </a:lnTo>
                  <a:lnTo>
                    <a:pt x="506653" y="63500"/>
                  </a:lnTo>
                  <a:lnTo>
                    <a:pt x="857453" y="63500"/>
                  </a:lnTo>
                  <a:lnTo>
                    <a:pt x="904875" y="76200"/>
                  </a:lnTo>
                  <a:lnTo>
                    <a:pt x="952004" y="76200"/>
                  </a:lnTo>
                  <a:lnTo>
                    <a:pt x="998855" y="88900"/>
                  </a:lnTo>
                  <a:lnTo>
                    <a:pt x="1045387" y="88900"/>
                  </a:lnTo>
                  <a:lnTo>
                    <a:pt x="1137539" y="114300"/>
                  </a:lnTo>
                  <a:lnTo>
                    <a:pt x="1183132" y="114300"/>
                  </a:lnTo>
                  <a:lnTo>
                    <a:pt x="1449197" y="190627"/>
                  </a:lnTo>
                  <a:lnTo>
                    <a:pt x="1492123" y="216027"/>
                  </a:lnTo>
                  <a:lnTo>
                    <a:pt x="1576959" y="241427"/>
                  </a:lnTo>
                  <a:lnTo>
                    <a:pt x="1618742" y="266827"/>
                  </a:lnTo>
                  <a:lnTo>
                    <a:pt x="1660017" y="279527"/>
                  </a:lnTo>
                  <a:lnTo>
                    <a:pt x="1741297" y="330327"/>
                  </a:lnTo>
                  <a:lnTo>
                    <a:pt x="1781302" y="343027"/>
                  </a:lnTo>
                  <a:lnTo>
                    <a:pt x="1859788" y="393827"/>
                  </a:lnTo>
                  <a:lnTo>
                    <a:pt x="1936242" y="444627"/>
                  </a:lnTo>
                  <a:lnTo>
                    <a:pt x="2010664" y="495554"/>
                  </a:lnTo>
                  <a:lnTo>
                    <a:pt x="2047113" y="520954"/>
                  </a:lnTo>
                  <a:lnTo>
                    <a:pt x="2083054" y="546354"/>
                  </a:lnTo>
                  <a:lnTo>
                    <a:pt x="2118360" y="571754"/>
                  </a:lnTo>
                  <a:lnTo>
                    <a:pt x="2153158" y="597154"/>
                  </a:lnTo>
                  <a:lnTo>
                    <a:pt x="2187321" y="635254"/>
                  </a:lnTo>
                  <a:lnTo>
                    <a:pt x="2220976" y="660654"/>
                  </a:lnTo>
                  <a:lnTo>
                    <a:pt x="2253996" y="686054"/>
                  </a:lnTo>
                  <a:lnTo>
                    <a:pt x="2286508" y="724154"/>
                  </a:lnTo>
                  <a:lnTo>
                    <a:pt x="2318258" y="749681"/>
                  </a:lnTo>
                  <a:lnTo>
                    <a:pt x="2349500" y="787781"/>
                  </a:lnTo>
                  <a:lnTo>
                    <a:pt x="2380107" y="825881"/>
                  </a:lnTo>
                  <a:lnTo>
                    <a:pt x="2409952" y="851281"/>
                  </a:lnTo>
                  <a:lnTo>
                    <a:pt x="2439289" y="889381"/>
                  </a:lnTo>
                  <a:lnTo>
                    <a:pt x="2467864" y="927481"/>
                  </a:lnTo>
                  <a:lnTo>
                    <a:pt x="2495804" y="952881"/>
                  </a:lnTo>
                  <a:lnTo>
                    <a:pt x="2523109" y="990981"/>
                  </a:lnTo>
                  <a:lnTo>
                    <a:pt x="2549779" y="1029081"/>
                  </a:lnTo>
                  <a:lnTo>
                    <a:pt x="2575687" y="1067308"/>
                  </a:lnTo>
                  <a:lnTo>
                    <a:pt x="2600833" y="1105408"/>
                  </a:lnTo>
                  <a:lnTo>
                    <a:pt x="2625344" y="1143508"/>
                  </a:lnTo>
                  <a:lnTo>
                    <a:pt x="2649093" y="1181608"/>
                  </a:lnTo>
                  <a:lnTo>
                    <a:pt x="2672080" y="1219708"/>
                  </a:lnTo>
                  <a:lnTo>
                    <a:pt x="2694305" y="1257808"/>
                  </a:lnTo>
                  <a:lnTo>
                    <a:pt x="2715895" y="1295908"/>
                  </a:lnTo>
                  <a:lnTo>
                    <a:pt x="2736596" y="1346835"/>
                  </a:lnTo>
                  <a:lnTo>
                    <a:pt x="2756535" y="1384935"/>
                  </a:lnTo>
                  <a:lnTo>
                    <a:pt x="2775839" y="1423035"/>
                  </a:lnTo>
                  <a:lnTo>
                    <a:pt x="2794127" y="1461135"/>
                  </a:lnTo>
                  <a:lnTo>
                    <a:pt x="2811780" y="1511935"/>
                  </a:lnTo>
                  <a:lnTo>
                    <a:pt x="2828544" y="1550035"/>
                  </a:lnTo>
                  <a:lnTo>
                    <a:pt x="2844546" y="1588135"/>
                  </a:lnTo>
                  <a:lnTo>
                    <a:pt x="2859659" y="1639062"/>
                  </a:lnTo>
                  <a:lnTo>
                    <a:pt x="2873883" y="1677162"/>
                  </a:lnTo>
                  <a:lnTo>
                    <a:pt x="2887345" y="1727962"/>
                  </a:lnTo>
                  <a:lnTo>
                    <a:pt x="2899918" y="1766062"/>
                  </a:lnTo>
                  <a:lnTo>
                    <a:pt x="2911602" y="1816862"/>
                  </a:lnTo>
                  <a:lnTo>
                    <a:pt x="2922397" y="1854962"/>
                  </a:lnTo>
                  <a:lnTo>
                    <a:pt x="2932430" y="1905762"/>
                  </a:lnTo>
                  <a:lnTo>
                    <a:pt x="2941447" y="1956689"/>
                  </a:lnTo>
                  <a:lnTo>
                    <a:pt x="2949575" y="1994789"/>
                  </a:lnTo>
                  <a:lnTo>
                    <a:pt x="2956687" y="2045589"/>
                  </a:lnTo>
                  <a:lnTo>
                    <a:pt x="2963037" y="2096389"/>
                  </a:lnTo>
                  <a:lnTo>
                    <a:pt x="2968371" y="2134489"/>
                  </a:lnTo>
                  <a:lnTo>
                    <a:pt x="2972689" y="2185289"/>
                  </a:lnTo>
                  <a:lnTo>
                    <a:pt x="2976118" y="2236216"/>
                  </a:lnTo>
                  <a:lnTo>
                    <a:pt x="2978658" y="2287016"/>
                  </a:lnTo>
                  <a:lnTo>
                    <a:pt x="2980055" y="2325116"/>
                  </a:lnTo>
                  <a:lnTo>
                    <a:pt x="2980563" y="2375916"/>
                  </a:lnTo>
                  <a:lnTo>
                    <a:pt x="2980055" y="2426716"/>
                  </a:lnTo>
                  <a:lnTo>
                    <a:pt x="2978658" y="2477516"/>
                  </a:lnTo>
                  <a:lnTo>
                    <a:pt x="2976118" y="2528443"/>
                  </a:lnTo>
                  <a:lnTo>
                    <a:pt x="2968371" y="2617343"/>
                  </a:lnTo>
                  <a:lnTo>
                    <a:pt x="2963037" y="2668143"/>
                  </a:lnTo>
                  <a:lnTo>
                    <a:pt x="2956687" y="2706243"/>
                  </a:lnTo>
                  <a:lnTo>
                    <a:pt x="2949575" y="2757043"/>
                  </a:lnTo>
                  <a:lnTo>
                    <a:pt x="2941447" y="2807843"/>
                  </a:lnTo>
                  <a:lnTo>
                    <a:pt x="2932430" y="2846070"/>
                  </a:lnTo>
                  <a:lnTo>
                    <a:pt x="2922397" y="2896870"/>
                  </a:lnTo>
                  <a:lnTo>
                    <a:pt x="2911602" y="2934970"/>
                  </a:lnTo>
                  <a:lnTo>
                    <a:pt x="2899918" y="2985770"/>
                  </a:lnTo>
                  <a:lnTo>
                    <a:pt x="2887345" y="3036570"/>
                  </a:lnTo>
                  <a:lnTo>
                    <a:pt x="2873883" y="3074670"/>
                  </a:lnTo>
                  <a:lnTo>
                    <a:pt x="2859659" y="3112770"/>
                  </a:lnTo>
                  <a:lnTo>
                    <a:pt x="2844546" y="3163697"/>
                  </a:lnTo>
                  <a:lnTo>
                    <a:pt x="2828544" y="3201797"/>
                  </a:lnTo>
                  <a:lnTo>
                    <a:pt x="2811780" y="3252597"/>
                  </a:lnTo>
                  <a:lnTo>
                    <a:pt x="2794127" y="3290697"/>
                  </a:lnTo>
                  <a:lnTo>
                    <a:pt x="2775839" y="3328797"/>
                  </a:lnTo>
                  <a:lnTo>
                    <a:pt x="2756535" y="3366897"/>
                  </a:lnTo>
                  <a:lnTo>
                    <a:pt x="2736596" y="3417824"/>
                  </a:lnTo>
                  <a:lnTo>
                    <a:pt x="2715895" y="3455924"/>
                  </a:lnTo>
                  <a:lnTo>
                    <a:pt x="2694305" y="3494024"/>
                  </a:lnTo>
                  <a:lnTo>
                    <a:pt x="2672080" y="3532124"/>
                  </a:lnTo>
                  <a:lnTo>
                    <a:pt x="2649093" y="3570224"/>
                  </a:lnTo>
                  <a:lnTo>
                    <a:pt x="2625344" y="3608324"/>
                  </a:lnTo>
                  <a:lnTo>
                    <a:pt x="2600833" y="3646424"/>
                  </a:lnTo>
                  <a:lnTo>
                    <a:pt x="2575687" y="3684524"/>
                  </a:lnTo>
                  <a:lnTo>
                    <a:pt x="2549779" y="3722751"/>
                  </a:lnTo>
                  <a:lnTo>
                    <a:pt x="2523109" y="3760851"/>
                  </a:lnTo>
                  <a:lnTo>
                    <a:pt x="2495804" y="3798951"/>
                  </a:lnTo>
                  <a:lnTo>
                    <a:pt x="2467864" y="3837051"/>
                  </a:lnTo>
                  <a:lnTo>
                    <a:pt x="2439289" y="3862451"/>
                  </a:lnTo>
                  <a:lnTo>
                    <a:pt x="2409952" y="3900551"/>
                  </a:lnTo>
                  <a:lnTo>
                    <a:pt x="2380107" y="3938689"/>
                  </a:lnTo>
                  <a:lnTo>
                    <a:pt x="2349500" y="3964089"/>
                  </a:lnTo>
                  <a:lnTo>
                    <a:pt x="2318258" y="4002214"/>
                  </a:lnTo>
                  <a:lnTo>
                    <a:pt x="2286508" y="4027627"/>
                  </a:lnTo>
                  <a:lnTo>
                    <a:pt x="2253996" y="4065740"/>
                  </a:lnTo>
                  <a:lnTo>
                    <a:pt x="2220976" y="4091152"/>
                  </a:lnTo>
                  <a:lnTo>
                    <a:pt x="2187321" y="4129265"/>
                  </a:lnTo>
                  <a:lnTo>
                    <a:pt x="2153158" y="4154678"/>
                  </a:lnTo>
                  <a:lnTo>
                    <a:pt x="2118360" y="4180090"/>
                  </a:lnTo>
                  <a:lnTo>
                    <a:pt x="2083054" y="4205503"/>
                  </a:lnTo>
                  <a:lnTo>
                    <a:pt x="2047113" y="4230903"/>
                  </a:lnTo>
                  <a:lnTo>
                    <a:pt x="2010664" y="4269029"/>
                  </a:lnTo>
                  <a:lnTo>
                    <a:pt x="1936242" y="4319841"/>
                  </a:lnTo>
                  <a:lnTo>
                    <a:pt x="1898269" y="4332554"/>
                  </a:lnTo>
                  <a:lnTo>
                    <a:pt x="1820799" y="4383379"/>
                  </a:lnTo>
                  <a:lnTo>
                    <a:pt x="1741297" y="4434192"/>
                  </a:lnTo>
                  <a:lnTo>
                    <a:pt x="1700911" y="4446905"/>
                  </a:lnTo>
                  <a:lnTo>
                    <a:pt x="1660017" y="4472317"/>
                  </a:lnTo>
                  <a:lnTo>
                    <a:pt x="1618742" y="4485017"/>
                  </a:lnTo>
                  <a:lnTo>
                    <a:pt x="1576959" y="4510430"/>
                  </a:lnTo>
                  <a:lnTo>
                    <a:pt x="1492123" y="4535843"/>
                  </a:lnTo>
                  <a:lnTo>
                    <a:pt x="1449197" y="4561256"/>
                  </a:lnTo>
                  <a:lnTo>
                    <a:pt x="1137539" y="4650194"/>
                  </a:lnTo>
                  <a:lnTo>
                    <a:pt x="1091628" y="4650194"/>
                  </a:lnTo>
                  <a:lnTo>
                    <a:pt x="998855" y="4675594"/>
                  </a:lnTo>
                  <a:lnTo>
                    <a:pt x="952004" y="4675594"/>
                  </a:lnTo>
                  <a:lnTo>
                    <a:pt x="904875" y="4688306"/>
                  </a:lnTo>
                  <a:lnTo>
                    <a:pt x="454431" y="4688306"/>
                  </a:lnTo>
                  <a:lnTo>
                    <a:pt x="402539" y="4675594"/>
                  </a:lnTo>
                  <a:lnTo>
                    <a:pt x="350989" y="4675594"/>
                  </a:lnTo>
                  <a:lnTo>
                    <a:pt x="299796" y="4662894"/>
                  </a:lnTo>
                  <a:lnTo>
                    <a:pt x="248983" y="4662894"/>
                  </a:lnTo>
                  <a:lnTo>
                    <a:pt x="0" y="4599368"/>
                  </a:lnTo>
                  <a:lnTo>
                    <a:pt x="0" y="4662894"/>
                  </a:lnTo>
                  <a:lnTo>
                    <a:pt x="185674" y="4713719"/>
                  </a:lnTo>
                  <a:lnTo>
                    <a:pt x="232295" y="4713719"/>
                  </a:lnTo>
                  <a:lnTo>
                    <a:pt x="326491" y="4739132"/>
                  </a:lnTo>
                  <a:lnTo>
                    <a:pt x="374065" y="4739132"/>
                  </a:lnTo>
                  <a:lnTo>
                    <a:pt x="421906" y="4751832"/>
                  </a:lnTo>
                  <a:lnTo>
                    <a:pt x="905484" y="4751832"/>
                  </a:lnTo>
                  <a:lnTo>
                    <a:pt x="952754" y="4739132"/>
                  </a:lnTo>
                  <a:lnTo>
                    <a:pt x="999756" y="4739132"/>
                  </a:lnTo>
                  <a:lnTo>
                    <a:pt x="1092847" y="4713719"/>
                  </a:lnTo>
                  <a:lnTo>
                    <a:pt x="1138948" y="4713719"/>
                  </a:lnTo>
                  <a:lnTo>
                    <a:pt x="1230122" y="4688306"/>
                  </a:lnTo>
                  <a:lnTo>
                    <a:pt x="1495425" y="4612068"/>
                  </a:lnTo>
                  <a:lnTo>
                    <a:pt x="1538224" y="4586656"/>
                  </a:lnTo>
                  <a:lnTo>
                    <a:pt x="1622806" y="4561256"/>
                  </a:lnTo>
                  <a:lnTo>
                    <a:pt x="1664462" y="4535843"/>
                  </a:lnTo>
                  <a:lnTo>
                    <a:pt x="1705610" y="4523130"/>
                  </a:lnTo>
                  <a:lnTo>
                    <a:pt x="1786763" y="4472317"/>
                  </a:lnTo>
                  <a:lnTo>
                    <a:pt x="1826641" y="4459605"/>
                  </a:lnTo>
                  <a:lnTo>
                    <a:pt x="1905000" y="4408779"/>
                  </a:lnTo>
                  <a:lnTo>
                    <a:pt x="1981327" y="4357967"/>
                  </a:lnTo>
                  <a:lnTo>
                    <a:pt x="2055749" y="4307141"/>
                  </a:lnTo>
                  <a:lnTo>
                    <a:pt x="2128012" y="4256316"/>
                  </a:lnTo>
                  <a:lnTo>
                    <a:pt x="2163318" y="4230903"/>
                  </a:lnTo>
                  <a:lnTo>
                    <a:pt x="2198116" y="4192790"/>
                  </a:lnTo>
                  <a:lnTo>
                    <a:pt x="2232279" y="4167378"/>
                  </a:lnTo>
                  <a:lnTo>
                    <a:pt x="2265934" y="4141965"/>
                  </a:lnTo>
                  <a:lnTo>
                    <a:pt x="2299081" y="4103852"/>
                  </a:lnTo>
                  <a:lnTo>
                    <a:pt x="2331593" y="4078440"/>
                  </a:lnTo>
                  <a:lnTo>
                    <a:pt x="2363470" y="4040327"/>
                  </a:lnTo>
                  <a:lnTo>
                    <a:pt x="2394712" y="4014914"/>
                  </a:lnTo>
                  <a:lnTo>
                    <a:pt x="2425446" y="3976801"/>
                  </a:lnTo>
                  <a:lnTo>
                    <a:pt x="2455418" y="3951389"/>
                  </a:lnTo>
                  <a:lnTo>
                    <a:pt x="2484882" y="3913251"/>
                  </a:lnTo>
                  <a:lnTo>
                    <a:pt x="2513584" y="3875151"/>
                  </a:lnTo>
                  <a:lnTo>
                    <a:pt x="2541778" y="3837051"/>
                  </a:lnTo>
                  <a:lnTo>
                    <a:pt x="2569210" y="3798951"/>
                  </a:lnTo>
                  <a:lnTo>
                    <a:pt x="2596007" y="3773551"/>
                  </a:lnTo>
                  <a:lnTo>
                    <a:pt x="2622169" y="3735451"/>
                  </a:lnTo>
                  <a:lnTo>
                    <a:pt x="2647569" y="3697224"/>
                  </a:lnTo>
                  <a:lnTo>
                    <a:pt x="2672334" y="3659124"/>
                  </a:lnTo>
                  <a:lnTo>
                    <a:pt x="2696337" y="3621024"/>
                  </a:lnTo>
                  <a:lnTo>
                    <a:pt x="2719578" y="3582924"/>
                  </a:lnTo>
                  <a:lnTo>
                    <a:pt x="2742184" y="3544824"/>
                  </a:lnTo>
                  <a:lnTo>
                    <a:pt x="2764028" y="3494024"/>
                  </a:lnTo>
                  <a:lnTo>
                    <a:pt x="2785110" y="3455924"/>
                  </a:lnTo>
                  <a:lnTo>
                    <a:pt x="2805430" y="3417824"/>
                  </a:lnTo>
                  <a:lnTo>
                    <a:pt x="2825115" y="3379597"/>
                  </a:lnTo>
                  <a:lnTo>
                    <a:pt x="2843911" y="3341497"/>
                  </a:lnTo>
                  <a:lnTo>
                    <a:pt x="2861945" y="3290697"/>
                  </a:lnTo>
                  <a:lnTo>
                    <a:pt x="2879090" y="3252597"/>
                  </a:lnTo>
                  <a:lnTo>
                    <a:pt x="2895600" y="3214497"/>
                  </a:lnTo>
                  <a:lnTo>
                    <a:pt x="2911221" y="3163697"/>
                  </a:lnTo>
                  <a:lnTo>
                    <a:pt x="2926080" y="3125597"/>
                  </a:lnTo>
                  <a:lnTo>
                    <a:pt x="2940050" y="3074670"/>
                  </a:lnTo>
                  <a:lnTo>
                    <a:pt x="2953131" y="3036570"/>
                  </a:lnTo>
                  <a:lnTo>
                    <a:pt x="2965450" y="2985770"/>
                  </a:lnTo>
                  <a:lnTo>
                    <a:pt x="2977007" y="2947670"/>
                  </a:lnTo>
                  <a:lnTo>
                    <a:pt x="2987548" y="2896870"/>
                  </a:lnTo>
                  <a:lnTo>
                    <a:pt x="2997327" y="2846070"/>
                  </a:lnTo>
                  <a:lnTo>
                    <a:pt x="3006090" y="2807843"/>
                  </a:lnTo>
                  <a:lnTo>
                    <a:pt x="3014091" y="2757043"/>
                  </a:lnTo>
                  <a:lnTo>
                    <a:pt x="3021076" y="2706243"/>
                  </a:lnTo>
                  <a:lnTo>
                    <a:pt x="3027299" y="2668143"/>
                  </a:lnTo>
                  <a:lnTo>
                    <a:pt x="3032506" y="2617343"/>
                  </a:lnTo>
                  <a:lnTo>
                    <a:pt x="3036697" y="2566543"/>
                  </a:lnTo>
                  <a:lnTo>
                    <a:pt x="3040126" y="2528443"/>
                  </a:lnTo>
                  <a:lnTo>
                    <a:pt x="3042539" y="2477516"/>
                  </a:lnTo>
                  <a:lnTo>
                    <a:pt x="3043936" y="2426716"/>
                  </a:lnTo>
                  <a:lnTo>
                    <a:pt x="3044444" y="2375916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703832"/>
              <a:ext cx="195072" cy="2133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132576"/>
              <a:ext cx="195072" cy="21031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47216" y="1697736"/>
              <a:ext cx="280035" cy="277495"/>
            </a:xfrm>
            <a:custGeom>
              <a:avLst/>
              <a:gdLst/>
              <a:ahLst/>
              <a:cxnLst/>
              <a:rect l="l" t="t" r="r" b="b"/>
              <a:pathLst>
                <a:path w="280035" h="277494">
                  <a:moveTo>
                    <a:pt x="139953" y="0"/>
                  </a:moveTo>
                  <a:lnTo>
                    <a:pt x="95758" y="7112"/>
                  </a:lnTo>
                  <a:lnTo>
                    <a:pt x="57277" y="26797"/>
                  </a:lnTo>
                  <a:lnTo>
                    <a:pt x="27050" y="56768"/>
                  </a:lnTo>
                  <a:lnTo>
                    <a:pt x="7112" y="94741"/>
                  </a:lnTo>
                  <a:lnTo>
                    <a:pt x="0" y="138684"/>
                  </a:lnTo>
                  <a:lnTo>
                    <a:pt x="7112" y="182499"/>
                  </a:lnTo>
                  <a:lnTo>
                    <a:pt x="27050" y="220472"/>
                  </a:lnTo>
                  <a:lnTo>
                    <a:pt x="57277" y="250443"/>
                  </a:lnTo>
                  <a:lnTo>
                    <a:pt x="95758" y="270128"/>
                  </a:lnTo>
                  <a:lnTo>
                    <a:pt x="139953" y="277240"/>
                  </a:lnTo>
                  <a:lnTo>
                    <a:pt x="184150" y="270128"/>
                  </a:lnTo>
                  <a:lnTo>
                    <a:pt x="222631" y="250443"/>
                  </a:lnTo>
                  <a:lnTo>
                    <a:pt x="252856" y="220472"/>
                  </a:lnTo>
                  <a:lnTo>
                    <a:pt x="272796" y="182499"/>
                  </a:lnTo>
                  <a:lnTo>
                    <a:pt x="279908" y="138684"/>
                  </a:lnTo>
                  <a:lnTo>
                    <a:pt x="272796" y="94741"/>
                  </a:lnTo>
                  <a:lnTo>
                    <a:pt x="252856" y="56768"/>
                  </a:lnTo>
                  <a:lnTo>
                    <a:pt x="222631" y="26797"/>
                  </a:lnTo>
                  <a:lnTo>
                    <a:pt x="184150" y="7112"/>
                  </a:lnTo>
                  <a:lnTo>
                    <a:pt x="13995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92551" y="3297936"/>
              <a:ext cx="280035" cy="280035"/>
            </a:xfrm>
            <a:custGeom>
              <a:avLst/>
              <a:gdLst/>
              <a:ahLst/>
              <a:cxnLst/>
              <a:rect l="l" t="t" r="r" b="b"/>
              <a:pathLst>
                <a:path w="280035" h="280035">
                  <a:moveTo>
                    <a:pt x="139954" y="0"/>
                  </a:moveTo>
                  <a:lnTo>
                    <a:pt x="95758" y="7112"/>
                  </a:lnTo>
                  <a:lnTo>
                    <a:pt x="57277" y="27050"/>
                  </a:lnTo>
                  <a:lnTo>
                    <a:pt x="27050" y="57276"/>
                  </a:lnTo>
                  <a:lnTo>
                    <a:pt x="7112" y="95758"/>
                  </a:lnTo>
                  <a:lnTo>
                    <a:pt x="0" y="139953"/>
                  </a:lnTo>
                  <a:lnTo>
                    <a:pt x="7112" y="184150"/>
                  </a:lnTo>
                  <a:lnTo>
                    <a:pt x="27050" y="222630"/>
                  </a:lnTo>
                  <a:lnTo>
                    <a:pt x="57277" y="252856"/>
                  </a:lnTo>
                  <a:lnTo>
                    <a:pt x="95758" y="272796"/>
                  </a:lnTo>
                  <a:lnTo>
                    <a:pt x="139954" y="279908"/>
                  </a:lnTo>
                  <a:lnTo>
                    <a:pt x="184150" y="272796"/>
                  </a:lnTo>
                  <a:lnTo>
                    <a:pt x="222631" y="252856"/>
                  </a:lnTo>
                  <a:lnTo>
                    <a:pt x="252856" y="222630"/>
                  </a:lnTo>
                  <a:lnTo>
                    <a:pt x="272796" y="184150"/>
                  </a:lnTo>
                  <a:lnTo>
                    <a:pt x="279908" y="139953"/>
                  </a:lnTo>
                  <a:lnTo>
                    <a:pt x="272796" y="95758"/>
                  </a:lnTo>
                  <a:lnTo>
                    <a:pt x="252856" y="57276"/>
                  </a:lnTo>
                  <a:lnTo>
                    <a:pt x="222631" y="27050"/>
                  </a:lnTo>
                  <a:lnTo>
                    <a:pt x="184150" y="7112"/>
                  </a:lnTo>
                  <a:lnTo>
                    <a:pt x="13995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80360" y="4636008"/>
              <a:ext cx="280035" cy="276860"/>
            </a:xfrm>
            <a:custGeom>
              <a:avLst/>
              <a:gdLst/>
              <a:ahLst/>
              <a:cxnLst/>
              <a:rect l="l" t="t" r="r" b="b"/>
              <a:pathLst>
                <a:path w="280035" h="276860">
                  <a:moveTo>
                    <a:pt x="139953" y="0"/>
                  </a:moveTo>
                  <a:lnTo>
                    <a:pt x="95757" y="7112"/>
                  </a:lnTo>
                  <a:lnTo>
                    <a:pt x="57276" y="26670"/>
                  </a:lnTo>
                  <a:lnTo>
                    <a:pt x="27050" y="56642"/>
                  </a:lnTo>
                  <a:lnTo>
                    <a:pt x="7112" y="94615"/>
                  </a:lnTo>
                  <a:lnTo>
                    <a:pt x="0" y="138430"/>
                  </a:lnTo>
                  <a:lnTo>
                    <a:pt x="7112" y="182245"/>
                  </a:lnTo>
                  <a:lnTo>
                    <a:pt x="27050" y="220218"/>
                  </a:lnTo>
                  <a:lnTo>
                    <a:pt x="57276" y="250190"/>
                  </a:lnTo>
                  <a:lnTo>
                    <a:pt x="95757" y="269748"/>
                  </a:lnTo>
                  <a:lnTo>
                    <a:pt x="139953" y="276860"/>
                  </a:lnTo>
                  <a:lnTo>
                    <a:pt x="184150" y="269748"/>
                  </a:lnTo>
                  <a:lnTo>
                    <a:pt x="222631" y="250190"/>
                  </a:lnTo>
                  <a:lnTo>
                    <a:pt x="252856" y="220218"/>
                  </a:lnTo>
                  <a:lnTo>
                    <a:pt x="272795" y="182245"/>
                  </a:lnTo>
                  <a:lnTo>
                    <a:pt x="279907" y="138430"/>
                  </a:lnTo>
                  <a:lnTo>
                    <a:pt x="272795" y="94615"/>
                  </a:lnTo>
                  <a:lnTo>
                    <a:pt x="252856" y="56642"/>
                  </a:lnTo>
                  <a:lnTo>
                    <a:pt x="222631" y="26670"/>
                  </a:lnTo>
                  <a:lnTo>
                    <a:pt x="184150" y="7112"/>
                  </a:lnTo>
                  <a:lnTo>
                    <a:pt x="139953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71827" y="1805940"/>
              <a:ext cx="2164080" cy="0"/>
            </a:xfrm>
            <a:custGeom>
              <a:avLst/>
              <a:gdLst/>
              <a:ahLst/>
              <a:cxnLst/>
              <a:rect l="l" t="t" r="r" b="b"/>
              <a:pathLst>
                <a:path w="2164079">
                  <a:moveTo>
                    <a:pt x="0" y="0"/>
                  </a:moveTo>
                  <a:lnTo>
                    <a:pt x="2164080" y="0"/>
                  </a:lnTo>
                </a:path>
              </a:pathLst>
            </a:custGeom>
            <a:ln w="21336">
              <a:solidFill>
                <a:srgbClr val="DADA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4759" y="1767840"/>
              <a:ext cx="76200" cy="76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30679" y="1767840"/>
              <a:ext cx="76200" cy="76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41548" y="3439668"/>
              <a:ext cx="1172845" cy="0"/>
            </a:xfrm>
            <a:custGeom>
              <a:avLst/>
              <a:gdLst/>
              <a:ahLst/>
              <a:cxnLst/>
              <a:rect l="l" t="t" r="r" b="b"/>
              <a:pathLst>
                <a:path w="1172845">
                  <a:moveTo>
                    <a:pt x="0" y="0"/>
                  </a:moveTo>
                  <a:lnTo>
                    <a:pt x="1172844" y="0"/>
                  </a:lnTo>
                </a:path>
              </a:pathLst>
            </a:custGeom>
            <a:ln w="21336">
              <a:solidFill>
                <a:srgbClr val="DADA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73879" y="3401568"/>
              <a:ext cx="76200" cy="762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0400" y="3401568"/>
              <a:ext cx="76200" cy="762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28871" y="1478280"/>
              <a:ext cx="716280" cy="716280"/>
            </a:xfrm>
            <a:custGeom>
              <a:avLst/>
              <a:gdLst/>
              <a:ahLst/>
              <a:cxnLst/>
              <a:rect l="l" t="t" r="r" b="b"/>
              <a:pathLst>
                <a:path w="716279" h="716280">
                  <a:moveTo>
                    <a:pt x="358013" y="0"/>
                  </a:moveTo>
                  <a:lnTo>
                    <a:pt x="309372" y="3302"/>
                  </a:lnTo>
                  <a:lnTo>
                    <a:pt x="262889" y="12827"/>
                  </a:lnTo>
                  <a:lnTo>
                    <a:pt x="218693" y="28194"/>
                  </a:lnTo>
                  <a:lnTo>
                    <a:pt x="177291" y="48895"/>
                  </a:lnTo>
                  <a:lnTo>
                    <a:pt x="139191" y="74675"/>
                  </a:lnTo>
                  <a:lnTo>
                    <a:pt x="104901" y="104902"/>
                  </a:lnTo>
                  <a:lnTo>
                    <a:pt x="74549" y="139319"/>
                  </a:lnTo>
                  <a:lnTo>
                    <a:pt x="48894" y="177419"/>
                  </a:lnTo>
                  <a:lnTo>
                    <a:pt x="28193" y="218694"/>
                  </a:lnTo>
                  <a:lnTo>
                    <a:pt x="12826" y="262890"/>
                  </a:lnTo>
                  <a:lnTo>
                    <a:pt x="3301" y="309499"/>
                  </a:lnTo>
                  <a:lnTo>
                    <a:pt x="0" y="358140"/>
                  </a:lnTo>
                  <a:lnTo>
                    <a:pt x="3301" y="406781"/>
                  </a:lnTo>
                  <a:lnTo>
                    <a:pt x="12826" y="453390"/>
                  </a:lnTo>
                  <a:lnTo>
                    <a:pt x="28193" y="497586"/>
                  </a:lnTo>
                  <a:lnTo>
                    <a:pt x="48894" y="538861"/>
                  </a:lnTo>
                  <a:lnTo>
                    <a:pt x="74549" y="576961"/>
                  </a:lnTo>
                  <a:lnTo>
                    <a:pt x="104901" y="611378"/>
                  </a:lnTo>
                  <a:lnTo>
                    <a:pt x="139191" y="641604"/>
                  </a:lnTo>
                  <a:lnTo>
                    <a:pt x="177291" y="667385"/>
                  </a:lnTo>
                  <a:lnTo>
                    <a:pt x="218693" y="688086"/>
                  </a:lnTo>
                  <a:lnTo>
                    <a:pt x="262889" y="703453"/>
                  </a:lnTo>
                  <a:lnTo>
                    <a:pt x="309372" y="712978"/>
                  </a:lnTo>
                  <a:lnTo>
                    <a:pt x="358013" y="716280"/>
                  </a:lnTo>
                  <a:lnTo>
                    <a:pt x="406653" y="712978"/>
                  </a:lnTo>
                  <a:lnTo>
                    <a:pt x="453136" y="703453"/>
                  </a:lnTo>
                  <a:lnTo>
                    <a:pt x="497331" y="688086"/>
                  </a:lnTo>
                  <a:lnTo>
                    <a:pt x="538733" y="667385"/>
                  </a:lnTo>
                  <a:lnTo>
                    <a:pt x="576833" y="641604"/>
                  </a:lnTo>
                  <a:lnTo>
                    <a:pt x="611124" y="611378"/>
                  </a:lnTo>
                  <a:lnTo>
                    <a:pt x="641476" y="576961"/>
                  </a:lnTo>
                  <a:lnTo>
                    <a:pt x="667130" y="538861"/>
                  </a:lnTo>
                  <a:lnTo>
                    <a:pt x="687831" y="497586"/>
                  </a:lnTo>
                  <a:lnTo>
                    <a:pt x="703199" y="453390"/>
                  </a:lnTo>
                  <a:lnTo>
                    <a:pt x="712724" y="406781"/>
                  </a:lnTo>
                  <a:lnTo>
                    <a:pt x="716026" y="358140"/>
                  </a:lnTo>
                  <a:lnTo>
                    <a:pt x="712724" y="309499"/>
                  </a:lnTo>
                  <a:lnTo>
                    <a:pt x="703199" y="262890"/>
                  </a:lnTo>
                  <a:lnTo>
                    <a:pt x="687831" y="218694"/>
                  </a:lnTo>
                  <a:lnTo>
                    <a:pt x="667130" y="177419"/>
                  </a:lnTo>
                  <a:lnTo>
                    <a:pt x="641476" y="139319"/>
                  </a:lnTo>
                  <a:lnTo>
                    <a:pt x="611124" y="104902"/>
                  </a:lnTo>
                  <a:lnTo>
                    <a:pt x="576833" y="74675"/>
                  </a:lnTo>
                  <a:lnTo>
                    <a:pt x="538733" y="48895"/>
                  </a:lnTo>
                  <a:lnTo>
                    <a:pt x="497331" y="28194"/>
                  </a:lnTo>
                  <a:lnTo>
                    <a:pt x="453136" y="12827"/>
                  </a:lnTo>
                  <a:lnTo>
                    <a:pt x="406653" y="3302"/>
                  </a:lnTo>
                  <a:lnTo>
                    <a:pt x="3580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56176" y="3081527"/>
              <a:ext cx="716280" cy="716280"/>
            </a:xfrm>
            <a:custGeom>
              <a:avLst/>
              <a:gdLst/>
              <a:ahLst/>
              <a:cxnLst/>
              <a:rect l="l" t="t" r="r" b="b"/>
              <a:pathLst>
                <a:path w="716279" h="716279">
                  <a:moveTo>
                    <a:pt x="358139" y="0"/>
                  </a:moveTo>
                  <a:lnTo>
                    <a:pt x="309499" y="3301"/>
                  </a:lnTo>
                  <a:lnTo>
                    <a:pt x="262889" y="12826"/>
                  </a:lnTo>
                  <a:lnTo>
                    <a:pt x="218694" y="28194"/>
                  </a:lnTo>
                  <a:lnTo>
                    <a:pt x="177419" y="48895"/>
                  </a:lnTo>
                  <a:lnTo>
                    <a:pt x="139319" y="74675"/>
                  </a:lnTo>
                  <a:lnTo>
                    <a:pt x="104901" y="104901"/>
                  </a:lnTo>
                  <a:lnTo>
                    <a:pt x="74675" y="139319"/>
                  </a:lnTo>
                  <a:lnTo>
                    <a:pt x="48895" y="177419"/>
                  </a:lnTo>
                  <a:lnTo>
                    <a:pt x="28194" y="218694"/>
                  </a:lnTo>
                  <a:lnTo>
                    <a:pt x="12826" y="262889"/>
                  </a:lnTo>
                  <a:lnTo>
                    <a:pt x="3301" y="309499"/>
                  </a:lnTo>
                  <a:lnTo>
                    <a:pt x="0" y="358139"/>
                  </a:lnTo>
                  <a:lnTo>
                    <a:pt x="3301" y="406781"/>
                  </a:lnTo>
                  <a:lnTo>
                    <a:pt x="12826" y="453389"/>
                  </a:lnTo>
                  <a:lnTo>
                    <a:pt x="28194" y="497586"/>
                  </a:lnTo>
                  <a:lnTo>
                    <a:pt x="48895" y="538861"/>
                  </a:lnTo>
                  <a:lnTo>
                    <a:pt x="74675" y="576961"/>
                  </a:lnTo>
                  <a:lnTo>
                    <a:pt x="104901" y="611378"/>
                  </a:lnTo>
                  <a:lnTo>
                    <a:pt x="139319" y="641604"/>
                  </a:lnTo>
                  <a:lnTo>
                    <a:pt x="177419" y="667385"/>
                  </a:lnTo>
                  <a:lnTo>
                    <a:pt x="218694" y="688086"/>
                  </a:lnTo>
                  <a:lnTo>
                    <a:pt x="262889" y="703453"/>
                  </a:lnTo>
                  <a:lnTo>
                    <a:pt x="309499" y="712978"/>
                  </a:lnTo>
                  <a:lnTo>
                    <a:pt x="358139" y="716280"/>
                  </a:lnTo>
                  <a:lnTo>
                    <a:pt x="406781" y="712978"/>
                  </a:lnTo>
                  <a:lnTo>
                    <a:pt x="453389" y="703453"/>
                  </a:lnTo>
                  <a:lnTo>
                    <a:pt x="497586" y="688086"/>
                  </a:lnTo>
                  <a:lnTo>
                    <a:pt x="538861" y="667385"/>
                  </a:lnTo>
                  <a:lnTo>
                    <a:pt x="576961" y="641604"/>
                  </a:lnTo>
                  <a:lnTo>
                    <a:pt x="611377" y="611378"/>
                  </a:lnTo>
                  <a:lnTo>
                    <a:pt x="641603" y="576961"/>
                  </a:lnTo>
                  <a:lnTo>
                    <a:pt x="667385" y="538861"/>
                  </a:lnTo>
                  <a:lnTo>
                    <a:pt x="688086" y="497586"/>
                  </a:lnTo>
                  <a:lnTo>
                    <a:pt x="703452" y="453389"/>
                  </a:lnTo>
                  <a:lnTo>
                    <a:pt x="712977" y="406781"/>
                  </a:lnTo>
                  <a:lnTo>
                    <a:pt x="716279" y="358139"/>
                  </a:lnTo>
                  <a:lnTo>
                    <a:pt x="712977" y="309499"/>
                  </a:lnTo>
                  <a:lnTo>
                    <a:pt x="703452" y="262889"/>
                  </a:lnTo>
                  <a:lnTo>
                    <a:pt x="688086" y="218694"/>
                  </a:lnTo>
                  <a:lnTo>
                    <a:pt x="667385" y="177419"/>
                  </a:lnTo>
                  <a:lnTo>
                    <a:pt x="641603" y="139319"/>
                  </a:lnTo>
                  <a:lnTo>
                    <a:pt x="611377" y="104901"/>
                  </a:lnTo>
                  <a:lnTo>
                    <a:pt x="576961" y="74675"/>
                  </a:lnTo>
                  <a:lnTo>
                    <a:pt x="538861" y="48895"/>
                  </a:lnTo>
                  <a:lnTo>
                    <a:pt x="497586" y="28194"/>
                  </a:lnTo>
                  <a:lnTo>
                    <a:pt x="453389" y="12826"/>
                  </a:lnTo>
                  <a:lnTo>
                    <a:pt x="406781" y="3301"/>
                  </a:lnTo>
                  <a:lnTo>
                    <a:pt x="35813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98847" y="4404359"/>
              <a:ext cx="716280" cy="716280"/>
            </a:xfrm>
            <a:custGeom>
              <a:avLst/>
              <a:gdLst/>
              <a:ahLst/>
              <a:cxnLst/>
              <a:rect l="l" t="t" r="r" b="b"/>
              <a:pathLst>
                <a:path w="716279" h="716279">
                  <a:moveTo>
                    <a:pt x="358013" y="0"/>
                  </a:moveTo>
                  <a:lnTo>
                    <a:pt x="309372" y="3301"/>
                  </a:lnTo>
                  <a:lnTo>
                    <a:pt x="262889" y="12826"/>
                  </a:lnTo>
                  <a:lnTo>
                    <a:pt x="218693" y="28193"/>
                  </a:lnTo>
                  <a:lnTo>
                    <a:pt x="177291" y="48894"/>
                  </a:lnTo>
                  <a:lnTo>
                    <a:pt x="139191" y="74675"/>
                  </a:lnTo>
                  <a:lnTo>
                    <a:pt x="104901" y="104901"/>
                  </a:lnTo>
                  <a:lnTo>
                    <a:pt x="74549" y="139319"/>
                  </a:lnTo>
                  <a:lnTo>
                    <a:pt x="48894" y="177419"/>
                  </a:lnTo>
                  <a:lnTo>
                    <a:pt x="28193" y="218694"/>
                  </a:lnTo>
                  <a:lnTo>
                    <a:pt x="12826" y="262889"/>
                  </a:lnTo>
                  <a:lnTo>
                    <a:pt x="3301" y="309498"/>
                  </a:lnTo>
                  <a:lnTo>
                    <a:pt x="0" y="358139"/>
                  </a:lnTo>
                  <a:lnTo>
                    <a:pt x="3301" y="406781"/>
                  </a:lnTo>
                  <a:lnTo>
                    <a:pt x="12826" y="453389"/>
                  </a:lnTo>
                  <a:lnTo>
                    <a:pt x="28193" y="497585"/>
                  </a:lnTo>
                  <a:lnTo>
                    <a:pt x="48894" y="538860"/>
                  </a:lnTo>
                  <a:lnTo>
                    <a:pt x="74549" y="576960"/>
                  </a:lnTo>
                  <a:lnTo>
                    <a:pt x="104901" y="611377"/>
                  </a:lnTo>
                  <a:lnTo>
                    <a:pt x="139191" y="641603"/>
                  </a:lnTo>
                  <a:lnTo>
                    <a:pt x="177291" y="667384"/>
                  </a:lnTo>
                  <a:lnTo>
                    <a:pt x="218693" y="688085"/>
                  </a:lnTo>
                  <a:lnTo>
                    <a:pt x="262889" y="703452"/>
                  </a:lnTo>
                  <a:lnTo>
                    <a:pt x="309372" y="712977"/>
                  </a:lnTo>
                  <a:lnTo>
                    <a:pt x="358013" y="716279"/>
                  </a:lnTo>
                  <a:lnTo>
                    <a:pt x="406653" y="712977"/>
                  </a:lnTo>
                  <a:lnTo>
                    <a:pt x="453136" y="703452"/>
                  </a:lnTo>
                  <a:lnTo>
                    <a:pt x="497331" y="688085"/>
                  </a:lnTo>
                  <a:lnTo>
                    <a:pt x="538734" y="667384"/>
                  </a:lnTo>
                  <a:lnTo>
                    <a:pt x="576834" y="641603"/>
                  </a:lnTo>
                  <a:lnTo>
                    <a:pt x="611124" y="611377"/>
                  </a:lnTo>
                  <a:lnTo>
                    <a:pt x="641476" y="576960"/>
                  </a:lnTo>
                  <a:lnTo>
                    <a:pt x="667130" y="538860"/>
                  </a:lnTo>
                  <a:lnTo>
                    <a:pt x="687831" y="497585"/>
                  </a:lnTo>
                  <a:lnTo>
                    <a:pt x="703199" y="453389"/>
                  </a:lnTo>
                  <a:lnTo>
                    <a:pt x="712724" y="406781"/>
                  </a:lnTo>
                  <a:lnTo>
                    <a:pt x="716026" y="358139"/>
                  </a:lnTo>
                  <a:lnTo>
                    <a:pt x="712724" y="309498"/>
                  </a:lnTo>
                  <a:lnTo>
                    <a:pt x="703199" y="262889"/>
                  </a:lnTo>
                  <a:lnTo>
                    <a:pt x="687831" y="218694"/>
                  </a:lnTo>
                  <a:lnTo>
                    <a:pt x="667130" y="177419"/>
                  </a:lnTo>
                  <a:lnTo>
                    <a:pt x="641476" y="139319"/>
                  </a:lnTo>
                  <a:lnTo>
                    <a:pt x="611124" y="104901"/>
                  </a:lnTo>
                  <a:lnTo>
                    <a:pt x="576834" y="74675"/>
                  </a:lnTo>
                  <a:lnTo>
                    <a:pt x="538734" y="48894"/>
                  </a:lnTo>
                  <a:lnTo>
                    <a:pt x="497331" y="28193"/>
                  </a:lnTo>
                  <a:lnTo>
                    <a:pt x="453136" y="12826"/>
                  </a:lnTo>
                  <a:lnTo>
                    <a:pt x="406653" y="3301"/>
                  </a:lnTo>
                  <a:lnTo>
                    <a:pt x="358013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56788" y="4765547"/>
              <a:ext cx="1172845" cy="0"/>
            </a:xfrm>
            <a:custGeom>
              <a:avLst/>
              <a:gdLst/>
              <a:ahLst/>
              <a:cxnLst/>
              <a:rect l="l" t="t" r="r" b="b"/>
              <a:pathLst>
                <a:path w="1172845">
                  <a:moveTo>
                    <a:pt x="0" y="0"/>
                  </a:moveTo>
                  <a:lnTo>
                    <a:pt x="1172845" y="0"/>
                  </a:lnTo>
                </a:path>
              </a:pathLst>
            </a:custGeom>
            <a:ln w="21336">
              <a:solidFill>
                <a:srgbClr val="DADA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89120" y="4724400"/>
              <a:ext cx="76200" cy="76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15639" y="4724400"/>
              <a:ext cx="76200" cy="762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65447" y="1517904"/>
              <a:ext cx="600455" cy="61264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81144" y="3197352"/>
              <a:ext cx="475488" cy="47548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81144" y="4495800"/>
              <a:ext cx="548639" cy="53644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734311" y="6004559"/>
              <a:ext cx="280035" cy="280035"/>
            </a:xfrm>
            <a:custGeom>
              <a:avLst/>
              <a:gdLst/>
              <a:ahLst/>
              <a:cxnLst/>
              <a:rect l="l" t="t" r="r" b="b"/>
              <a:pathLst>
                <a:path w="280035" h="280035">
                  <a:moveTo>
                    <a:pt x="139954" y="0"/>
                  </a:moveTo>
                  <a:lnTo>
                    <a:pt x="95757" y="7137"/>
                  </a:lnTo>
                  <a:lnTo>
                    <a:pt x="57276" y="27000"/>
                  </a:lnTo>
                  <a:lnTo>
                    <a:pt x="27050" y="57302"/>
                  </a:lnTo>
                  <a:lnTo>
                    <a:pt x="7112" y="95719"/>
                  </a:lnTo>
                  <a:lnTo>
                    <a:pt x="0" y="139953"/>
                  </a:lnTo>
                  <a:lnTo>
                    <a:pt x="7112" y="184188"/>
                  </a:lnTo>
                  <a:lnTo>
                    <a:pt x="27050" y="222605"/>
                  </a:lnTo>
                  <a:lnTo>
                    <a:pt x="57276" y="252907"/>
                  </a:lnTo>
                  <a:lnTo>
                    <a:pt x="95757" y="272770"/>
                  </a:lnTo>
                  <a:lnTo>
                    <a:pt x="139954" y="279907"/>
                  </a:lnTo>
                  <a:lnTo>
                    <a:pt x="184150" y="272770"/>
                  </a:lnTo>
                  <a:lnTo>
                    <a:pt x="222631" y="252907"/>
                  </a:lnTo>
                  <a:lnTo>
                    <a:pt x="252856" y="222605"/>
                  </a:lnTo>
                  <a:lnTo>
                    <a:pt x="272795" y="184188"/>
                  </a:lnTo>
                  <a:lnTo>
                    <a:pt x="279907" y="139953"/>
                  </a:lnTo>
                  <a:lnTo>
                    <a:pt x="272795" y="95719"/>
                  </a:lnTo>
                  <a:lnTo>
                    <a:pt x="252856" y="57302"/>
                  </a:lnTo>
                  <a:lnTo>
                    <a:pt x="222631" y="27000"/>
                  </a:lnTo>
                  <a:lnTo>
                    <a:pt x="184150" y="7137"/>
                  </a:lnTo>
                  <a:lnTo>
                    <a:pt x="13995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089404" y="6124956"/>
              <a:ext cx="1941195" cy="0"/>
            </a:xfrm>
            <a:custGeom>
              <a:avLst/>
              <a:gdLst/>
              <a:ahLst/>
              <a:cxnLst/>
              <a:rect l="l" t="t" r="r" b="b"/>
              <a:pathLst>
                <a:path w="1941195">
                  <a:moveTo>
                    <a:pt x="0" y="0"/>
                  </a:moveTo>
                  <a:lnTo>
                    <a:pt x="1940941" y="0"/>
                  </a:lnTo>
                </a:path>
              </a:pathLst>
            </a:custGeom>
            <a:ln w="21336">
              <a:solidFill>
                <a:srgbClr val="DADAD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92879" y="6086856"/>
              <a:ext cx="76200" cy="762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1304" y="6086856"/>
              <a:ext cx="76200" cy="76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45864" y="5885688"/>
              <a:ext cx="475488" cy="478536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1949810" y="6485331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95592"/>
                </a:solidFill>
                <a:latin typeface="Calibri"/>
                <a:cs typeface="Calibri"/>
              </a:rPr>
              <a:t>43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title"/>
          </p:nvPr>
        </p:nvSpPr>
        <p:spPr>
          <a:xfrm>
            <a:off x="4121022" y="470357"/>
            <a:ext cx="3799204" cy="454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i="0" dirty="0">
                <a:solidFill>
                  <a:srgbClr val="FFFFFF"/>
                </a:solidFill>
                <a:latin typeface="Cambria"/>
                <a:cs typeface="Cambria"/>
              </a:rPr>
              <a:t>Macam</a:t>
            </a:r>
            <a:r>
              <a:rPr sz="2800" i="0" spc="-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i="0" dirty="0">
                <a:solidFill>
                  <a:srgbClr val="FFFFFF"/>
                </a:solidFill>
                <a:latin typeface="Cambria"/>
                <a:cs typeface="Cambria"/>
              </a:rPr>
              <a:t>Macam</a:t>
            </a:r>
            <a:r>
              <a:rPr sz="2800" i="0" spc="-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i="0" spc="-10" dirty="0">
                <a:solidFill>
                  <a:srgbClr val="FFFFFF"/>
                </a:solidFill>
                <a:latin typeface="Cambria"/>
                <a:cs typeface="Cambria"/>
              </a:rPr>
              <a:t>ideologi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01615" y="1363217"/>
            <a:ext cx="6418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Marxisme-Leninisme;</a:t>
            </a:r>
            <a:r>
              <a:rPr sz="1800" b="1" spc="-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suatu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paham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yang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meletakkan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ideologi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dalam perspektif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evolusi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sejarah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yang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didasarkan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pada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dua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prinsip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13503" y="2010983"/>
            <a:ext cx="6247765" cy="5448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220"/>
              </a:spcBef>
              <a:buFont typeface="Wingdings"/>
              <a:buChar char=""/>
              <a:tabLst>
                <a:tab pos="299085" algn="l"/>
              </a:tabLst>
            </a:pPr>
            <a:r>
              <a:rPr sz="1600" spc="-10" dirty="0">
                <a:latin typeface="Calibri"/>
                <a:cs typeface="Calibri"/>
              </a:rPr>
              <a:t>Penentu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akhir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dari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perubahan</a:t>
            </a:r>
            <a:r>
              <a:rPr sz="1600" spc="-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sosial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adalah</a:t>
            </a:r>
            <a:r>
              <a:rPr sz="1600" spc="-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perubahan</a:t>
            </a:r>
            <a:r>
              <a:rPr sz="1600" spc="-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dari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cara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produksi</a:t>
            </a:r>
            <a:endParaRPr sz="1600" dirty="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299085" algn="l"/>
              </a:tabLst>
            </a:pPr>
            <a:r>
              <a:rPr sz="1600" spc="-10" dirty="0">
                <a:latin typeface="Calibri"/>
                <a:cs typeface="Calibri"/>
              </a:rPr>
              <a:t>Proses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perubahan</a:t>
            </a:r>
            <a:r>
              <a:rPr sz="1600" spc="-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sosial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bersifat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dialektis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01183" y="2889630"/>
            <a:ext cx="5266055" cy="10331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200" b="1" spc="-20" dirty="0">
                <a:latin typeface="Calibri"/>
                <a:cs typeface="Calibri"/>
              </a:rPr>
              <a:t>Suatu</a:t>
            </a:r>
            <a:r>
              <a:rPr sz="2200" b="1" spc="-7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paham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yang</a:t>
            </a:r>
            <a:r>
              <a:rPr sz="2200" b="1" spc="-100" dirty="0">
                <a:latin typeface="Calibri"/>
                <a:cs typeface="Calibri"/>
              </a:rPr>
              <a:t> </a:t>
            </a:r>
            <a:r>
              <a:rPr sz="2200" b="1" spc="-30" dirty="0">
                <a:latin typeface="Calibri"/>
                <a:cs typeface="Calibri"/>
              </a:rPr>
              <a:t>meletakkan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ideologi</a:t>
            </a:r>
            <a:r>
              <a:rPr sz="2200" b="1" spc="-8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dalam </a:t>
            </a:r>
            <a:r>
              <a:rPr sz="2200" b="1" spc="-25" dirty="0">
                <a:latin typeface="Calibri"/>
                <a:cs typeface="Calibri"/>
              </a:rPr>
              <a:t>perspektif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kebebasan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25" dirty="0">
                <a:latin typeface="Calibri"/>
                <a:cs typeface="Calibri"/>
              </a:rPr>
              <a:t>individual,</a:t>
            </a:r>
            <a:r>
              <a:rPr sz="2200" b="1" spc="-100" dirty="0">
                <a:latin typeface="Calibri"/>
                <a:cs typeface="Calibri"/>
              </a:rPr>
              <a:t> </a:t>
            </a:r>
            <a:r>
              <a:rPr sz="2200" b="1" spc="-30" dirty="0">
                <a:latin typeface="Calibri"/>
                <a:cs typeface="Calibri"/>
              </a:rPr>
              <a:t>artinya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lebih </a:t>
            </a:r>
            <a:r>
              <a:rPr sz="2200" b="1" spc="-30" dirty="0">
                <a:latin typeface="Calibri"/>
                <a:cs typeface="Calibri"/>
              </a:rPr>
              <a:t>mengutamakan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45" dirty="0">
                <a:latin typeface="Calibri"/>
                <a:cs typeface="Calibri"/>
              </a:rPr>
              <a:t>hak-</a:t>
            </a:r>
            <a:r>
              <a:rPr sz="2200" b="1" dirty="0">
                <a:latin typeface="Calibri"/>
                <a:cs typeface="Calibri"/>
              </a:rPr>
              <a:t>hak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individu.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16422" y="4258817"/>
            <a:ext cx="5960745" cy="12439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0"/>
              </a:spcBef>
            </a:pPr>
            <a:r>
              <a:rPr sz="2000" b="1" dirty="0">
                <a:latin typeface="Calibri"/>
                <a:cs typeface="Calibri"/>
              </a:rPr>
              <a:t>Suatu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paham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yang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meletakkan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ideologi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dalam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perspektif </a:t>
            </a:r>
            <a:r>
              <a:rPr sz="2000" b="1" spc="-20" dirty="0">
                <a:latin typeface="Calibri"/>
                <a:cs typeface="Calibri"/>
              </a:rPr>
              <a:t>kepentingan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30" dirty="0">
                <a:latin typeface="Calibri"/>
                <a:cs typeface="Calibri"/>
              </a:rPr>
              <a:t>masyarakat,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artinya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negara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wajib </a:t>
            </a:r>
            <a:r>
              <a:rPr sz="2000" b="1" spc="-25" dirty="0">
                <a:latin typeface="Calibri"/>
                <a:cs typeface="Calibri"/>
              </a:rPr>
              <a:t>menyejahterakan</a:t>
            </a:r>
            <a:r>
              <a:rPr sz="2000" b="1" spc="-1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seluruh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30" dirty="0">
                <a:latin typeface="Calibri"/>
                <a:cs typeface="Calibri"/>
              </a:rPr>
              <a:t>masyarakat</a:t>
            </a:r>
            <a:r>
              <a:rPr sz="2000" b="1" spc="-10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atau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yang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dikenal dengan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kosep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welfare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059807" y="5813552"/>
            <a:ext cx="6604634" cy="939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Calibri"/>
                <a:cs typeface="Calibri"/>
              </a:rPr>
              <a:t>Suatu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paham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yang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memberi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kebebasan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kepada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setiap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individu </a:t>
            </a:r>
            <a:r>
              <a:rPr sz="2000" b="1" dirty="0">
                <a:latin typeface="Calibri"/>
                <a:cs typeface="Calibri"/>
              </a:rPr>
              <a:t>untuk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menguasai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sistem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pereknomian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dengan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kemampuan </a:t>
            </a:r>
            <a:r>
              <a:rPr sz="2000" b="1" dirty="0">
                <a:latin typeface="Calibri"/>
                <a:cs typeface="Calibri"/>
              </a:rPr>
              <a:t>modal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yang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ia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miliki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8739" y="1661922"/>
            <a:ext cx="127317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Calibri"/>
                <a:cs typeface="Calibri"/>
              </a:rPr>
              <a:t>Komunisme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20292" y="3243199"/>
            <a:ext cx="122491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Calibri"/>
                <a:cs typeface="Calibri"/>
              </a:rPr>
              <a:t>Liberalisme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97711" y="4582414"/>
            <a:ext cx="112522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10" dirty="0">
                <a:latin typeface="Calibri"/>
                <a:cs typeface="Calibri"/>
              </a:rPr>
              <a:t>Sosialisme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38150" y="5904077"/>
            <a:ext cx="125158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0" dirty="0">
                <a:latin typeface="Calibri"/>
                <a:cs typeface="Calibri"/>
              </a:rPr>
              <a:t>Kapitalisme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302133"/>
            <a:ext cx="12204700" cy="6562090"/>
            <a:chOff x="-6350" y="302133"/>
            <a:chExt cx="12204700" cy="6562090"/>
          </a:xfrm>
        </p:grpSpPr>
        <p:sp>
          <p:nvSpPr>
            <p:cNvPr id="3" name="object 3"/>
            <p:cNvSpPr/>
            <p:nvPr/>
          </p:nvSpPr>
          <p:spPr>
            <a:xfrm>
              <a:off x="10454640" y="6547101"/>
              <a:ext cx="1737360" cy="310515"/>
            </a:xfrm>
            <a:custGeom>
              <a:avLst/>
              <a:gdLst/>
              <a:ahLst/>
              <a:cxnLst/>
              <a:rect l="l" t="t" r="r" b="b"/>
              <a:pathLst>
                <a:path w="1737359" h="310515">
                  <a:moveTo>
                    <a:pt x="0" y="310387"/>
                  </a:moveTo>
                  <a:lnTo>
                    <a:pt x="1736978" y="310387"/>
                  </a:lnTo>
                  <a:lnTo>
                    <a:pt x="1736978" y="0"/>
                  </a:lnTo>
                  <a:lnTo>
                    <a:pt x="0" y="0"/>
                  </a:lnTo>
                  <a:lnTo>
                    <a:pt x="0" y="310387"/>
                  </a:lnTo>
                  <a:close/>
                </a:path>
              </a:pathLst>
            </a:custGeom>
            <a:ln w="12192">
              <a:solidFill>
                <a:srgbClr val="FFA9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3"/>
              <a:ext cx="3532632" cy="4815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65241" y="314832"/>
              <a:ext cx="1477010" cy="3797935"/>
            </a:xfrm>
            <a:custGeom>
              <a:avLst/>
              <a:gdLst/>
              <a:ahLst/>
              <a:cxnLst/>
              <a:rect l="l" t="t" r="r" b="b"/>
              <a:pathLst>
                <a:path w="1477009" h="3797935">
                  <a:moveTo>
                    <a:pt x="1476883" y="2131072"/>
                  </a:moveTo>
                  <a:lnTo>
                    <a:pt x="0" y="2131072"/>
                  </a:lnTo>
                  <a:lnTo>
                    <a:pt x="0" y="3797935"/>
                  </a:lnTo>
                  <a:lnTo>
                    <a:pt x="1476883" y="3797935"/>
                  </a:lnTo>
                  <a:lnTo>
                    <a:pt x="1476883" y="2131072"/>
                  </a:lnTo>
                  <a:close/>
                </a:path>
                <a:path w="1477009" h="3797935">
                  <a:moveTo>
                    <a:pt x="1476883" y="0"/>
                  </a:moveTo>
                  <a:lnTo>
                    <a:pt x="0" y="0"/>
                  </a:lnTo>
                  <a:lnTo>
                    <a:pt x="0" y="2131060"/>
                  </a:lnTo>
                  <a:lnTo>
                    <a:pt x="1476883" y="2131060"/>
                  </a:lnTo>
                  <a:lnTo>
                    <a:pt x="1476883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342251" y="2445893"/>
              <a:ext cx="4725670" cy="1666875"/>
            </a:xfrm>
            <a:custGeom>
              <a:avLst/>
              <a:gdLst/>
              <a:ahLst/>
              <a:cxnLst/>
              <a:rect l="l" t="t" r="r" b="b"/>
              <a:pathLst>
                <a:path w="4725670" h="1666875">
                  <a:moveTo>
                    <a:pt x="4725670" y="0"/>
                  </a:moveTo>
                  <a:lnTo>
                    <a:pt x="0" y="0"/>
                  </a:lnTo>
                  <a:lnTo>
                    <a:pt x="0" y="1666874"/>
                  </a:lnTo>
                  <a:lnTo>
                    <a:pt x="4725670" y="1666874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EBE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865240" y="4112806"/>
              <a:ext cx="1477010" cy="2251710"/>
            </a:xfrm>
            <a:custGeom>
              <a:avLst/>
              <a:gdLst/>
              <a:ahLst/>
              <a:cxnLst/>
              <a:rect l="l" t="t" r="r" b="b"/>
              <a:pathLst>
                <a:path w="1477009" h="2251710">
                  <a:moveTo>
                    <a:pt x="1476883" y="0"/>
                  </a:moveTo>
                  <a:lnTo>
                    <a:pt x="0" y="0"/>
                  </a:lnTo>
                  <a:lnTo>
                    <a:pt x="0" y="2251583"/>
                  </a:lnTo>
                  <a:lnTo>
                    <a:pt x="1476883" y="2251583"/>
                  </a:lnTo>
                  <a:lnTo>
                    <a:pt x="1476883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42251" y="5337720"/>
              <a:ext cx="4725670" cy="1026794"/>
            </a:xfrm>
            <a:custGeom>
              <a:avLst/>
              <a:gdLst/>
              <a:ahLst/>
              <a:cxnLst/>
              <a:rect l="l" t="t" r="r" b="b"/>
              <a:pathLst>
                <a:path w="4725670" h="1026795">
                  <a:moveTo>
                    <a:pt x="4725670" y="0"/>
                  </a:moveTo>
                  <a:lnTo>
                    <a:pt x="0" y="0"/>
                  </a:lnTo>
                  <a:lnTo>
                    <a:pt x="0" y="1026668"/>
                  </a:lnTo>
                  <a:lnTo>
                    <a:pt x="4725670" y="1026668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EBE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65240" y="308483"/>
              <a:ext cx="1477010" cy="6062345"/>
            </a:xfrm>
            <a:custGeom>
              <a:avLst/>
              <a:gdLst/>
              <a:ahLst/>
              <a:cxnLst/>
              <a:rect l="l" t="t" r="r" b="b"/>
              <a:pathLst>
                <a:path w="1477009" h="6062345">
                  <a:moveTo>
                    <a:pt x="0" y="0"/>
                  </a:moveTo>
                  <a:lnTo>
                    <a:pt x="0" y="2110422"/>
                  </a:lnTo>
                </a:path>
                <a:path w="1477009" h="6062345">
                  <a:moveTo>
                    <a:pt x="0" y="2164397"/>
                  </a:moveTo>
                  <a:lnTo>
                    <a:pt x="0" y="3777297"/>
                  </a:lnTo>
                </a:path>
                <a:path w="1477009" h="6062345">
                  <a:moveTo>
                    <a:pt x="0" y="4843716"/>
                  </a:moveTo>
                  <a:lnTo>
                    <a:pt x="0" y="6062256"/>
                  </a:lnTo>
                </a:path>
                <a:path w="1477009" h="6062345">
                  <a:moveTo>
                    <a:pt x="0" y="3831272"/>
                  </a:moveTo>
                  <a:lnTo>
                    <a:pt x="0" y="4789741"/>
                  </a:lnTo>
                </a:path>
                <a:path w="1477009" h="6062345">
                  <a:moveTo>
                    <a:pt x="1477010" y="3804285"/>
                  </a:moveTo>
                  <a:lnTo>
                    <a:pt x="1477010" y="606225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609335" y="2445893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4">
                  <a:moveTo>
                    <a:pt x="0" y="0"/>
                  </a:moveTo>
                  <a:lnTo>
                    <a:pt x="262254" y="0"/>
                  </a:lnTo>
                </a:path>
              </a:pathLst>
            </a:custGeom>
            <a:ln w="53975">
              <a:solidFill>
                <a:srgbClr val="E985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71590" y="2445893"/>
              <a:ext cx="1477010" cy="0"/>
            </a:xfrm>
            <a:custGeom>
              <a:avLst/>
              <a:gdLst/>
              <a:ahLst/>
              <a:cxnLst/>
              <a:rect l="l" t="t" r="r" b="b"/>
              <a:pathLst>
                <a:path w="1477009">
                  <a:moveTo>
                    <a:pt x="0" y="0"/>
                  </a:moveTo>
                  <a:lnTo>
                    <a:pt x="147701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09335" y="4112767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4">
                  <a:moveTo>
                    <a:pt x="0" y="0"/>
                  </a:moveTo>
                  <a:lnTo>
                    <a:pt x="262254" y="0"/>
                  </a:lnTo>
                </a:path>
              </a:pathLst>
            </a:custGeom>
            <a:ln w="53975">
              <a:solidFill>
                <a:srgbClr val="85C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71590" y="4112767"/>
              <a:ext cx="6202680" cy="0"/>
            </a:xfrm>
            <a:custGeom>
              <a:avLst/>
              <a:gdLst/>
              <a:ahLst/>
              <a:cxnLst/>
              <a:rect l="l" t="t" r="r" b="b"/>
              <a:pathLst>
                <a:path w="6202680">
                  <a:moveTo>
                    <a:pt x="0" y="0"/>
                  </a:moveTo>
                  <a:lnTo>
                    <a:pt x="620268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09335" y="5125211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4">
                  <a:moveTo>
                    <a:pt x="0" y="0"/>
                  </a:moveTo>
                  <a:lnTo>
                    <a:pt x="262254" y="0"/>
                  </a:lnTo>
                </a:path>
              </a:pathLst>
            </a:custGeom>
            <a:ln w="53975">
              <a:solidFill>
                <a:srgbClr val="00A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58890" y="308483"/>
              <a:ext cx="6215380" cy="6062345"/>
            </a:xfrm>
            <a:custGeom>
              <a:avLst/>
              <a:gdLst/>
              <a:ahLst/>
              <a:cxnLst/>
              <a:rect l="l" t="t" r="r" b="b"/>
              <a:pathLst>
                <a:path w="6215380" h="6062345">
                  <a:moveTo>
                    <a:pt x="6209030" y="0"/>
                  </a:moveTo>
                  <a:lnTo>
                    <a:pt x="6209030" y="6062256"/>
                  </a:lnTo>
                </a:path>
                <a:path w="6215380" h="6062345">
                  <a:moveTo>
                    <a:pt x="0" y="6350"/>
                  </a:moveTo>
                  <a:lnTo>
                    <a:pt x="6215380" y="6350"/>
                  </a:lnTo>
                </a:path>
                <a:path w="6215380" h="6062345">
                  <a:moveTo>
                    <a:pt x="0" y="6055906"/>
                  </a:moveTo>
                  <a:lnTo>
                    <a:pt x="6215380" y="6055906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458849" y="247345"/>
            <a:ext cx="33528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0" dirty="0">
                <a:solidFill>
                  <a:srgbClr val="2D5395"/>
                </a:solidFill>
                <a:latin typeface="Verdana"/>
                <a:cs typeface="Verdana"/>
              </a:rPr>
              <a:t>Liberalisme</a:t>
            </a:r>
            <a:endParaRPr sz="4800">
              <a:latin typeface="Verdana"/>
              <a:cs typeface="Verdana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944742" y="308483"/>
          <a:ext cx="6132830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1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1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323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Pengertian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266700" indent="-167640">
                        <a:lnSpc>
                          <a:spcPct val="100000"/>
                        </a:lnSpc>
                        <a:spcBef>
                          <a:spcPts val="320"/>
                        </a:spcBef>
                        <a:buFont typeface="Arial MT"/>
                        <a:buChar char="•"/>
                        <a:tabLst>
                          <a:tab pos="269875" algn="l"/>
                        </a:tabLst>
                      </a:pPr>
                      <a:r>
                        <a:rPr sz="1100" b="1" spc="-45" dirty="0">
                          <a:latin typeface="Tahoma"/>
                          <a:cs typeface="Tahoma"/>
                        </a:rPr>
                        <a:t>Liberalisme</a:t>
                      </a:r>
                      <a:r>
                        <a:rPr sz="1100" b="1" spc="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dapat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juga 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diartikan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sebagai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paham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tradisi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politik 	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terfokus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70" dirty="0">
                          <a:latin typeface="Verdana"/>
                          <a:cs typeface="Verdana"/>
                        </a:rPr>
                        <a:t>pada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kebebasan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persamaan</a:t>
                      </a:r>
                      <a:r>
                        <a:rPr sz="11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hak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bagi</a:t>
                      </a:r>
                      <a:r>
                        <a:rPr sz="11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setiap 	</a:t>
                      </a:r>
                      <a:r>
                        <a:rPr sz="1100" spc="-35" dirty="0">
                          <a:latin typeface="Verdana"/>
                          <a:cs typeface="Verdana"/>
                        </a:rPr>
                        <a:t>individu</a:t>
                      </a:r>
                      <a:r>
                        <a:rPr sz="11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di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1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masyarakat.</a:t>
                      </a:r>
                      <a:r>
                        <a:rPr sz="11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Hal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70" dirty="0">
                          <a:latin typeface="Verdana"/>
                          <a:cs typeface="Verdana"/>
                        </a:rPr>
                        <a:t>ini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berarti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suatu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negara</a:t>
                      </a:r>
                      <a:r>
                        <a:rPr sz="11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dan 	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pemerintahnya</a:t>
                      </a:r>
                      <a:r>
                        <a:rPr sz="11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harus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menghormati</a:t>
                      </a:r>
                      <a:r>
                        <a:rPr sz="11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serta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melindungi</a:t>
                      </a:r>
                      <a:r>
                        <a:rPr sz="11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kebebasan 	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hak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setiap</a:t>
                      </a:r>
                      <a:r>
                        <a:rPr sz="11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warganya</a:t>
                      </a:r>
                      <a:r>
                        <a:rPr sz="11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di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berbagai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aspek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kehidupan 	manusia.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67335" marR="140970" indent="-168275">
                        <a:lnSpc>
                          <a:spcPct val="100000"/>
                        </a:lnSpc>
                        <a:spcBef>
                          <a:spcPts val="295"/>
                        </a:spcBef>
                        <a:buFont typeface="Arial MT"/>
                        <a:buChar char="•"/>
                        <a:tabLst>
                          <a:tab pos="269875" algn="l"/>
                        </a:tabLst>
                      </a:pPr>
                      <a:r>
                        <a:rPr sz="1100" spc="-40" dirty="0">
                          <a:latin typeface="Verdana"/>
                          <a:cs typeface="Verdana"/>
                        </a:rPr>
                        <a:t>Liberalisme</a:t>
                      </a:r>
                      <a:r>
                        <a:rPr sz="11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merupakan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salah</a:t>
                      </a:r>
                      <a:r>
                        <a:rPr sz="11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satu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85" dirty="0">
                          <a:latin typeface="Verdana"/>
                          <a:cs typeface="Verdana"/>
                        </a:rPr>
                        <a:t>jenis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paham</a:t>
                      </a:r>
                      <a:r>
                        <a:rPr sz="11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atau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ideologi 	</a:t>
                      </a:r>
                      <a:r>
                        <a:rPr sz="1100" spc="1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1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10" dirty="0">
                          <a:latin typeface="Verdana"/>
                          <a:cs typeface="Verdana"/>
                        </a:rPr>
                        <a:t>mengedepankan</a:t>
                      </a:r>
                      <a:r>
                        <a:rPr sz="11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10" dirty="0">
                          <a:latin typeface="Verdana"/>
                          <a:cs typeface="Verdana"/>
                        </a:rPr>
                        <a:t>kebebasan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10" dirty="0">
                          <a:latin typeface="Verdana"/>
                          <a:cs typeface="Verdana"/>
                        </a:rPr>
                        <a:t>atau</a:t>
                      </a:r>
                      <a:r>
                        <a:rPr sz="11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kemerdekaan</a:t>
                      </a:r>
                      <a:r>
                        <a:rPr sz="11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individu 	di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semua</a:t>
                      </a:r>
                      <a:r>
                        <a:rPr sz="11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35" dirty="0">
                          <a:latin typeface="Verdana"/>
                          <a:cs typeface="Verdana"/>
                        </a:rPr>
                        <a:t>aspek,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baik</a:t>
                      </a:r>
                      <a:r>
                        <a:rPr sz="11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bidang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politik,</a:t>
                      </a:r>
                      <a:r>
                        <a:rPr sz="11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ekonomi, 	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sosial,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agama,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dan 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lain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sebagainya.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309880" marR="3175" indent="-210185">
                        <a:lnSpc>
                          <a:spcPct val="100000"/>
                        </a:lnSpc>
                        <a:spcBef>
                          <a:spcPts val="310"/>
                        </a:spcBef>
                        <a:buFont typeface="Arial MT"/>
                        <a:buChar char="•"/>
                        <a:tabLst>
                          <a:tab pos="309880" algn="l"/>
                        </a:tabLst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Paham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Liberalisme</a:t>
                      </a:r>
                      <a:r>
                        <a:rPr sz="11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ini</a:t>
                      </a:r>
                      <a:r>
                        <a:rPr sz="11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ialah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paham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menolak</a:t>
                      </a:r>
                      <a:r>
                        <a:rPr sz="11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apapun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69875" marR="3175">
                        <a:lnSpc>
                          <a:spcPts val="1245"/>
                        </a:lnSpc>
                      </a:pPr>
                      <a:r>
                        <a:rPr sz="1100" spc="-30" dirty="0">
                          <a:latin typeface="Verdana"/>
                          <a:cs typeface="Verdana"/>
                        </a:rPr>
                        <a:t>bentuk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pembatasan</a:t>
                      </a:r>
                      <a:r>
                        <a:rPr sz="11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terhadap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 suatu</a:t>
                      </a:r>
                      <a:r>
                        <a:rPr sz="11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individu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4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Sejarah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66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73050" marR="443230" indent="-173990">
                        <a:lnSpc>
                          <a:spcPct val="100000"/>
                        </a:lnSpc>
                        <a:buChar char="•"/>
                        <a:tabLst>
                          <a:tab pos="273050" algn="l"/>
                          <a:tab pos="312420" algn="l"/>
                        </a:tabLst>
                      </a:pPr>
                      <a:r>
                        <a:rPr sz="11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muncul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70" dirty="0">
                          <a:latin typeface="Verdana"/>
                          <a:cs typeface="Verdana"/>
                        </a:rPr>
                        <a:t>pada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saat 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peristiwa</a:t>
                      </a:r>
                      <a:r>
                        <a:rPr sz="11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revolusi</a:t>
                      </a:r>
                      <a:r>
                        <a:rPr sz="11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Perancis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diabad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18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disebabkan</a:t>
                      </a:r>
                      <a:r>
                        <a:rPr sz="11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karena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adanya</a:t>
                      </a:r>
                      <a:r>
                        <a:rPr sz="11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kepincangan</a:t>
                      </a:r>
                      <a:r>
                        <a:rPr sz="11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80" dirty="0">
                          <a:latin typeface="Verdana"/>
                          <a:cs typeface="Verdana"/>
                        </a:rPr>
                        <a:t>sistem</a:t>
                      </a:r>
                      <a:r>
                        <a:rPr sz="11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dan kesenjangan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 sosial</a:t>
                      </a:r>
                      <a:r>
                        <a:rPr sz="11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terjadi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di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masyarakat</a:t>
                      </a:r>
                      <a:r>
                        <a:rPr sz="11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sangat mencolok.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69875" marR="73025" indent="-170815">
                        <a:lnSpc>
                          <a:spcPct val="100000"/>
                        </a:lnSpc>
                        <a:spcBef>
                          <a:spcPts val="315"/>
                        </a:spcBef>
                        <a:buFont typeface="Arial MT"/>
                        <a:buChar char="•"/>
                        <a:tabLst>
                          <a:tab pos="273050" algn="l"/>
                        </a:tabLst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terdapat</a:t>
                      </a:r>
                      <a:r>
                        <a:rPr sz="1100" spc="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penggolongan</a:t>
                      </a:r>
                      <a:r>
                        <a:rPr sz="11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1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masyarakat,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dimana</a:t>
                      </a:r>
                      <a:r>
                        <a:rPr sz="11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terdapat 	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golongan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 tertentu</a:t>
                      </a:r>
                      <a:r>
                        <a:rPr sz="11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mendapatkan</a:t>
                      </a:r>
                      <a:r>
                        <a:rPr sz="11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keistimewaan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 yang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tidak 	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mungkin</a:t>
                      </a:r>
                      <a:r>
                        <a:rPr sz="11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didapatkan</a:t>
                      </a:r>
                      <a:r>
                        <a:rPr sz="11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oleh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golongan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lainnya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4455" marB="0"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4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Asumsi</a:t>
                      </a:r>
                      <a:endParaRPr sz="1600">
                        <a:latin typeface="Tahoma"/>
                        <a:cs typeface="Tahoma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pemikiran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135890" marR="317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12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4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65" dirty="0">
                          <a:latin typeface="Tahoma"/>
                          <a:cs typeface="Tahoma"/>
                        </a:rPr>
                        <a:t>asumsi</a:t>
                      </a:r>
                      <a:r>
                        <a:rPr sz="14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20" dirty="0">
                          <a:latin typeface="Tahoma"/>
                          <a:cs typeface="Tahoma"/>
                        </a:rPr>
                        <a:t>dasar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352425" marR="3175" indent="-234950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Wingdings"/>
                        <a:buChar char=""/>
                        <a:tabLst>
                          <a:tab pos="352425" algn="l"/>
                        </a:tabLst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setiap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Individu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60" dirty="0">
                          <a:latin typeface="Verdana"/>
                          <a:cs typeface="Verdana"/>
                        </a:rPr>
                        <a:t>Memiliki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Kesempatan</a:t>
                      </a:r>
                      <a:r>
                        <a:rPr sz="12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Sama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352425" marR="3175" indent="-23495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52425" algn="l"/>
                        </a:tabLst>
                      </a:pPr>
                      <a:r>
                        <a:rPr sz="1200" spc="-55" dirty="0">
                          <a:latin typeface="Verdana"/>
                          <a:cs typeface="Verdana"/>
                        </a:rPr>
                        <a:t>Berhak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Mendapat</a:t>
                      </a:r>
                      <a:r>
                        <a:rPr sz="1200" spc="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Perlakuan</a:t>
                      </a:r>
                      <a:r>
                        <a:rPr sz="12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200" spc="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Sama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352425" marR="3175" indent="-234950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352425" algn="l"/>
                        </a:tabLst>
                      </a:pPr>
                      <a:r>
                        <a:rPr sz="1200" spc="50" dirty="0">
                          <a:latin typeface="Verdana"/>
                          <a:cs typeface="Verdana"/>
                        </a:rPr>
                        <a:t>Ada</a:t>
                      </a:r>
                      <a:r>
                        <a:rPr sz="12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0" dirty="0">
                          <a:latin typeface="Verdana"/>
                          <a:cs typeface="Verdana"/>
                        </a:rPr>
                        <a:t>Hukum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5" dirty="0">
                          <a:latin typeface="Verdana"/>
                          <a:cs typeface="Verdana"/>
                        </a:rPr>
                        <a:t>Hukum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Diterapkan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352425" marR="3175" indent="-23495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52425" algn="l"/>
                        </a:tabLst>
                      </a:pPr>
                      <a:r>
                        <a:rPr sz="1200" spc="-30" dirty="0">
                          <a:latin typeface="Verdana"/>
                          <a:cs typeface="Verdana"/>
                        </a:rPr>
                        <a:t>Pemerintah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Ditentukan</a:t>
                      </a:r>
                      <a:r>
                        <a:rPr sz="12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Dengan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Persetujuan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352425" marR="3175" indent="-234950">
                        <a:lnSpc>
                          <a:spcPts val="1345"/>
                        </a:lnSpc>
                        <a:buFont typeface="Wingdings"/>
                        <a:buChar char=""/>
                        <a:tabLst>
                          <a:tab pos="352425" algn="l"/>
                        </a:tabLst>
                      </a:pPr>
                      <a:r>
                        <a:rPr sz="1200" spc="-70" dirty="0">
                          <a:latin typeface="Verdana"/>
                          <a:cs typeface="Verdana"/>
                        </a:rPr>
                        <a:t>Tidak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Menerima</a:t>
                      </a:r>
                      <a:r>
                        <a:rPr sz="12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Ajaran</a:t>
                      </a:r>
                      <a:r>
                        <a:rPr sz="12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Dogmantisme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7335901" y="308483"/>
            <a:ext cx="4738370" cy="3804285"/>
            <a:chOff x="7335901" y="308483"/>
            <a:chExt cx="4738370" cy="3804285"/>
          </a:xfrm>
        </p:grpSpPr>
        <p:sp>
          <p:nvSpPr>
            <p:cNvPr id="19" name="object 19"/>
            <p:cNvSpPr/>
            <p:nvPr/>
          </p:nvSpPr>
          <p:spPr>
            <a:xfrm>
              <a:off x="7342251" y="308483"/>
              <a:ext cx="0" cy="3804285"/>
            </a:xfrm>
            <a:custGeom>
              <a:avLst/>
              <a:gdLst/>
              <a:ahLst/>
              <a:cxnLst/>
              <a:rect l="l" t="t" r="r" b="b"/>
              <a:pathLst>
                <a:path h="3804285">
                  <a:moveTo>
                    <a:pt x="0" y="0"/>
                  </a:moveTo>
                  <a:lnTo>
                    <a:pt x="0" y="2137410"/>
                  </a:lnTo>
                </a:path>
                <a:path h="3804285">
                  <a:moveTo>
                    <a:pt x="0" y="2137410"/>
                  </a:moveTo>
                  <a:lnTo>
                    <a:pt x="0" y="3804285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48601" y="2439543"/>
              <a:ext cx="4725670" cy="12700"/>
            </a:xfrm>
            <a:custGeom>
              <a:avLst/>
              <a:gdLst/>
              <a:ahLst/>
              <a:cxnLst/>
              <a:rect l="l" t="t" r="r" b="b"/>
              <a:pathLst>
                <a:path w="4725670" h="12700">
                  <a:moveTo>
                    <a:pt x="0" y="12700"/>
                  </a:moveTo>
                  <a:lnTo>
                    <a:pt x="4725670" y="12700"/>
                  </a:lnTo>
                  <a:lnTo>
                    <a:pt x="4725670" y="0"/>
                  </a:lnTo>
                  <a:lnTo>
                    <a:pt x="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84936" y="2971546"/>
            <a:ext cx="795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John </a:t>
            </a:r>
            <a:r>
              <a:rPr sz="1200" b="1" spc="-10" dirty="0">
                <a:latin typeface="Calibri"/>
                <a:cs typeface="Calibri"/>
              </a:rPr>
              <a:t>Dewey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64485" y="2971546"/>
            <a:ext cx="1243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Friedrich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Naumann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27170" y="2971546"/>
            <a:ext cx="11493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Leonard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Trelawny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01572" y="5942787"/>
            <a:ext cx="241617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i="1" spc="-175" dirty="0">
                <a:latin typeface="Verdana"/>
                <a:cs typeface="Verdana"/>
              </a:rPr>
              <a:t>Pestival</a:t>
            </a:r>
            <a:r>
              <a:rPr sz="1600" b="1" i="1" spc="-135" dirty="0">
                <a:latin typeface="Verdana"/>
                <a:cs typeface="Verdana"/>
              </a:rPr>
              <a:t> </a:t>
            </a:r>
            <a:r>
              <a:rPr sz="1600" b="1" i="1" spc="-260" dirty="0">
                <a:latin typeface="Verdana"/>
                <a:cs typeface="Verdana"/>
              </a:rPr>
              <a:t>LGBT</a:t>
            </a:r>
            <a:r>
              <a:rPr sz="1600" b="1" i="1" spc="-80" dirty="0">
                <a:latin typeface="Verdana"/>
                <a:cs typeface="Verdana"/>
              </a:rPr>
              <a:t> </a:t>
            </a:r>
            <a:r>
              <a:rPr sz="1600" b="1" i="1" spc="-130" dirty="0">
                <a:latin typeface="Verdana"/>
                <a:cs typeface="Verdana"/>
              </a:rPr>
              <a:t>di</a:t>
            </a:r>
            <a:r>
              <a:rPr sz="1600" b="1" i="1" spc="-80" dirty="0">
                <a:latin typeface="Verdana"/>
                <a:cs typeface="Verdana"/>
              </a:rPr>
              <a:t> </a:t>
            </a:r>
            <a:r>
              <a:rPr sz="1600" b="1" i="1" spc="-110" dirty="0">
                <a:latin typeface="Verdana"/>
                <a:cs typeface="Verdana"/>
              </a:rPr>
              <a:t>Amerika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53568" y="215511"/>
            <a:ext cx="5267325" cy="6054725"/>
            <a:chOff x="353568" y="215511"/>
            <a:chExt cx="5267325" cy="6054725"/>
          </a:xfrm>
        </p:grpSpPr>
        <p:sp>
          <p:nvSpPr>
            <p:cNvPr id="26" name="object 26"/>
            <p:cNvSpPr/>
            <p:nvPr/>
          </p:nvSpPr>
          <p:spPr>
            <a:xfrm>
              <a:off x="365760" y="1124712"/>
              <a:ext cx="5242560" cy="5133340"/>
            </a:xfrm>
            <a:custGeom>
              <a:avLst/>
              <a:gdLst/>
              <a:ahLst/>
              <a:cxnLst/>
              <a:rect l="l" t="t" r="r" b="b"/>
              <a:pathLst>
                <a:path w="5242560" h="5133340">
                  <a:moveTo>
                    <a:pt x="0" y="5132832"/>
                  </a:moveTo>
                  <a:lnTo>
                    <a:pt x="5242560" y="5132832"/>
                  </a:lnTo>
                  <a:lnTo>
                    <a:pt x="5242560" y="0"/>
                  </a:lnTo>
                  <a:lnTo>
                    <a:pt x="0" y="0"/>
                  </a:lnTo>
                  <a:lnTo>
                    <a:pt x="0" y="513283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511" y="3340607"/>
              <a:ext cx="4590288" cy="257860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3608" y="1252727"/>
              <a:ext cx="1298448" cy="166420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5144" y="1252727"/>
              <a:ext cx="1335024" cy="169468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53256" y="1280160"/>
              <a:ext cx="1298448" cy="166725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1081" y="215511"/>
              <a:ext cx="605440" cy="73722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57544"/>
            <a:ext cx="12204700" cy="606425"/>
            <a:chOff x="-6095" y="6257544"/>
            <a:chExt cx="12204700" cy="606425"/>
          </a:xfrm>
        </p:grpSpPr>
        <p:sp>
          <p:nvSpPr>
            <p:cNvPr id="3" name="object 3"/>
            <p:cNvSpPr/>
            <p:nvPr/>
          </p:nvSpPr>
          <p:spPr>
            <a:xfrm>
              <a:off x="10454639" y="6547101"/>
              <a:ext cx="1737360" cy="310515"/>
            </a:xfrm>
            <a:custGeom>
              <a:avLst/>
              <a:gdLst/>
              <a:ahLst/>
              <a:cxnLst/>
              <a:rect l="l" t="t" r="r" b="b"/>
              <a:pathLst>
                <a:path w="1737359" h="310515">
                  <a:moveTo>
                    <a:pt x="0" y="310387"/>
                  </a:moveTo>
                  <a:lnTo>
                    <a:pt x="1736978" y="310387"/>
                  </a:lnTo>
                  <a:lnTo>
                    <a:pt x="1736978" y="0"/>
                  </a:lnTo>
                  <a:lnTo>
                    <a:pt x="0" y="0"/>
                  </a:lnTo>
                  <a:lnTo>
                    <a:pt x="0" y="310387"/>
                  </a:lnTo>
                  <a:close/>
                </a:path>
              </a:pathLst>
            </a:custGeom>
            <a:ln w="12192">
              <a:solidFill>
                <a:srgbClr val="FFA9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22324" y="187274"/>
            <a:ext cx="3462654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50" dirty="0">
                <a:solidFill>
                  <a:srgbClr val="2D5395"/>
                </a:solidFill>
                <a:latin typeface="Verdana"/>
                <a:cs typeface="Verdana"/>
              </a:rPr>
              <a:t>Kapitalisme</a:t>
            </a:r>
            <a:endParaRPr sz="48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696" y="3486911"/>
            <a:ext cx="3931920" cy="23500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75176" y="1280160"/>
            <a:ext cx="1292352" cy="166725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0864" y="1280160"/>
            <a:ext cx="1292352" cy="16672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8640" y="1280160"/>
            <a:ext cx="1292352" cy="1667256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53568" y="465708"/>
          <a:ext cx="11711940" cy="59118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5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643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Pengertian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60985" indent="-168275">
                        <a:lnSpc>
                          <a:spcPct val="100000"/>
                        </a:lnSpc>
                        <a:spcBef>
                          <a:spcPts val="320"/>
                        </a:spcBef>
                        <a:buFont typeface="Arial MT"/>
                        <a:buChar char="•"/>
                        <a:tabLst>
                          <a:tab pos="263525" algn="l"/>
                        </a:tabLst>
                      </a:pPr>
                      <a:r>
                        <a:rPr sz="1100" b="1" spc="-40" dirty="0">
                          <a:latin typeface="Tahoma"/>
                          <a:cs typeface="Tahoma"/>
                        </a:rPr>
                        <a:t>Kapitalisme</a:t>
                      </a:r>
                      <a:r>
                        <a:rPr sz="11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adalah</a:t>
                      </a:r>
                      <a:r>
                        <a:rPr sz="1100" b="1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80" dirty="0">
                          <a:latin typeface="Verdana"/>
                          <a:cs typeface="Verdana"/>
                        </a:rPr>
                        <a:t>sistem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perekonomian</a:t>
                      </a:r>
                      <a:r>
                        <a:rPr sz="11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menekankan 	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peran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kapital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35" dirty="0">
                          <a:latin typeface="Verdana"/>
                          <a:cs typeface="Verdana"/>
                        </a:rPr>
                        <a:t>(modal),</a:t>
                      </a:r>
                      <a:r>
                        <a:rPr sz="11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yakni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kekayaan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1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segala</a:t>
                      </a:r>
                      <a:r>
                        <a:rPr sz="11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jenisnya, 	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termasuk</a:t>
                      </a:r>
                      <a:r>
                        <a:rPr sz="11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barang-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barang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digunakan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produksi</a:t>
                      </a:r>
                      <a:r>
                        <a:rPr sz="11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barang 	lainnya.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60985" marR="252729" indent="-168275">
                        <a:lnSpc>
                          <a:spcPct val="100000"/>
                        </a:lnSpc>
                        <a:spcBef>
                          <a:spcPts val="295"/>
                        </a:spcBef>
                        <a:buFont typeface="Arial MT"/>
                        <a:buChar char="•"/>
                        <a:tabLst>
                          <a:tab pos="263525" algn="l"/>
                        </a:tabLst>
                      </a:pPr>
                      <a:r>
                        <a:rPr sz="1100" spc="-40" dirty="0">
                          <a:latin typeface="Verdana"/>
                          <a:cs typeface="Verdana"/>
                        </a:rPr>
                        <a:t>Kapitalisme</a:t>
                      </a:r>
                      <a:r>
                        <a:rPr sz="11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merupakan</a:t>
                      </a:r>
                      <a:r>
                        <a:rPr sz="11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35" dirty="0">
                          <a:latin typeface="Tahoma"/>
                          <a:cs typeface="Tahoma"/>
                        </a:rPr>
                        <a:t>perwujudan</a:t>
                      </a:r>
                      <a:r>
                        <a:rPr sz="1100" b="1" spc="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45" dirty="0">
                          <a:latin typeface="Tahoma"/>
                          <a:cs typeface="Tahoma"/>
                        </a:rPr>
                        <a:t>liberalisme</a:t>
                      </a:r>
                      <a:r>
                        <a:rPr sz="11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bidang 	ekonomi</a:t>
                      </a:r>
                      <a:endParaRPr sz="1100">
                        <a:latin typeface="Verdana"/>
                        <a:cs typeface="Verdana"/>
                      </a:endParaRPr>
                    </a:p>
                    <a:p>
                      <a:pPr marL="260350" marR="143510" indent="-167640">
                        <a:lnSpc>
                          <a:spcPct val="100000"/>
                        </a:lnSpc>
                        <a:spcBef>
                          <a:spcPts val="310"/>
                        </a:spcBef>
                        <a:buFont typeface="Arial MT"/>
                        <a:buChar char="•"/>
                        <a:tabLst>
                          <a:tab pos="263525" algn="l"/>
                        </a:tabLst>
                      </a:pPr>
                      <a:r>
                        <a:rPr sz="1100" spc="-30" dirty="0">
                          <a:latin typeface="Verdana"/>
                          <a:cs typeface="Verdana"/>
                        </a:rPr>
                        <a:t>Kapital</a:t>
                      </a:r>
                      <a:r>
                        <a:rPr sz="1100" spc="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adalah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80" dirty="0">
                          <a:latin typeface="Verdana"/>
                          <a:cs typeface="Verdana"/>
                        </a:rPr>
                        <a:t>sistem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ekonomi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di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mana</a:t>
                      </a:r>
                      <a:r>
                        <a:rPr sz="11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perdagangan,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industri 	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alat-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alat</a:t>
                      </a:r>
                      <a:r>
                        <a:rPr sz="11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produksi</a:t>
                      </a:r>
                      <a:r>
                        <a:rPr sz="1100" spc="-1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dikendalikan</a:t>
                      </a:r>
                      <a:r>
                        <a:rPr sz="1100" spc="-114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oleh</a:t>
                      </a:r>
                      <a:r>
                        <a:rPr sz="11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b="1" spc="-35" dirty="0">
                          <a:latin typeface="Tahoma"/>
                          <a:cs typeface="Tahoma"/>
                        </a:rPr>
                        <a:t>pemilik</a:t>
                      </a:r>
                      <a:r>
                        <a:rPr sz="11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50" dirty="0">
                          <a:latin typeface="Tahoma"/>
                          <a:cs typeface="Tahoma"/>
                        </a:rPr>
                        <a:t>swasta</a:t>
                      </a:r>
                      <a:r>
                        <a:rPr sz="1100" b="1" spc="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dengan 	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tujuan</a:t>
                      </a:r>
                      <a:r>
                        <a:rPr sz="11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memperoleh</a:t>
                      </a:r>
                      <a:r>
                        <a:rPr sz="11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keuntungan</a:t>
                      </a:r>
                      <a:r>
                        <a:rPr sz="11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1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ekonomi</a:t>
                      </a:r>
                      <a:r>
                        <a:rPr sz="11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40" dirty="0">
                          <a:latin typeface="Verdana"/>
                          <a:cs typeface="Verdana"/>
                        </a:rPr>
                        <a:t>pasar.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Pemilik 	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modal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melakukan</a:t>
                      </a:r>
                      <a:r>
                        <a:rPr sz="11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usahanya</a:t>
                      </a:r>
                      <a:r>
                        <a:rPr sz="11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berusaha</a:t>
                      </a:r>
                      <a:r>
                        <a:rPr sz="11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untuk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meraih 	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keuntungan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sebesar-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besarnya.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58470">
                        <a:lnSpc>
                          <a:spcPct val="100000"/>
                        </a:lnSpc>
                        <a:tabLst>
                          <a:tab pos="2239010" algn="l"/>
                          <a:tab pos="3714750" algn="l"/>
                        </a:tabLst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Adam</a:t>
                      </a:r>
                      <a:r>
                        <a:rPr sz="14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smith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100" b="1" baseline="1984" dirty="0">
                          <a:latin typeface="Calibri"/>
                          <a:cs typeface="Calibri"/>
                        </a:rPr>
                        <a:t>John</a:t>
                      </a:r>
                      <a:r>
                        <a:rPr sz="2100" b="1" spc="-44" baseline="198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100" b="1" spc="-30" baseline="1984" dirty="0">
                          <a:latin typeface="Calibri"/>
                          <a:cs typeface="Calibri"/>
                        </a:rPr>
                        <a:t>locke</a:t>
                      </a:r>
                      <a:r>
                        <a:rPr sz="2100" b="1" baseline="1984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Francois</a:t>
                      </a:r>
                      <a:r>
                        <a:rPr sz="14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Quesnay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R="136525" algn="ctr">
                        <a:lnSpc>
                          <a:spcPct val="100000"/>
                        </a:lnSpc>
                      </a:pPr>
                      <a:r>
                        <a:rPr sz="1600" b="1" i="1" spc="-200" dirty="0">
                          <a:latin typeface="Verdana"/>
                          <a:cs typeface="Verdana"/>
                        </a:rPr>
                        <a:t>Walter</a:t>
                      </a:r>
                      <a:r>
                        <a:rPr sz="1600" b="1" i="1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b="1" i="1" spc="-175" dirty="0">
                          <a:latin typeface="Verdana"/>
                          <a:cs typeface="Verdana"/>
                        </a:rPr>
                        <a:t>Griffin,</a:t>
                      </a:r>
                      <a:r>
                        <a:rPr sz="1600" b="1" i="1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b="1" i="1" spc="-180" dirty="0">
                          <a:latin typeface="Verdana"/>
                          <a:cs typeface="Verdana"/>
                        </a:rPr>
                        <a:t>aktifitas</a:t>
                      </a:r>
                      <a:r>
                        <a:rPr sz="1600" b="1" i="1" spc="-1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b="1" i="1" spc="-10" dirty="0">
                          <a:latin typeface="Verdana"/>
                          <a:cs typeface="Verdana"/>
                        </a:rPr>
                        <a:t>Ekonomi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9851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E98517"/>
                      </a:solidFill>
                      <a:prstDash val="solid"/>
                    </a:lnT>
                    <a:lnB w="57150">
                      <a:solidFill>
                        <a:srgbClr val="85C83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Sejarah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91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E98517"/>
                      </a:solidFill>
                      <a:prstDash val="solid"/>
                    </a:lnT>
                    <a:lnB w="57150">
                      <a:solidFill>
                        <a:srgbClr val="85C839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63525" marR="238760" indent="-17081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266700" algn="l"/>
                        </a:tabLst>
                      </a:pPr>
                      <a:r>
                        <a:rPr sz="1100" dirty="0">
                          <a:latin typeface="Verdana"/>
                          <a:cs typeface="Verdana"/>
                        </a:rPr>
                        <a:t>Perkembangannya</a:t>
                      </a:r>
                      <a:r>
                        <a:rPr sz="11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dimulai</a:t>
                      </a:r>
                      <a:r>
                        <a:rPr sz="11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di</a:t>
                      </a:r>
                      <a:r>
                        <a:rPr sz="11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inggris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70" dirty="0">
                          <a:latin typeface="Verdana"/>
                          <a:cs typeface="Verdana"/>
                        </a:rPr>
                        <a:t>pada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65" dirty="0">
                          <a:latin typeface="Verdana"/>
                          <a:cs typeface="Verdana"/>
                        </a:rPr>
                        <a:t>abad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ke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10" dirty="0">
                          <a:latin typeface="Verdana"/>
                          <a:cs typeface="Verdana"/>
                        </a:rPr>
                        <a:t>16-</a:t>
                      </a:r>
                      <a:r>
                        <a:rPr sz="1100" spc="-95" dirty="0">
                          <a:latin typeface="Verdana"/>
                          <a:cs typeface="Verdana"/>
                        </a:rPr>
                        <a:t>18</a:t>
                      </a:r>
                      <a:r>
                        <a:rPr sz="11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30" dirty="0">
                          <a:latin typeface="Verdana"/>
                          <a:cs typeface="Verdana"/>
                        </a:rPr>
                        <a:t>M 	</a:t>
                      </a:r>
                      <a:r>
                        <a:rPr sz="1100" spc="70" dirty="0">
                          <a:latin typeface="Verdana"/>
                          <a:cs typeface="Verdana"/>
                        </a:rPr>
                        <a:t>pada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masa</a:t>
                      </a:r>
                      <a:r>
                        <a:rPr sz="11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perkembangan</a:t>
                      </a:r>
                      <a:r>
                        <a:rPr sz="11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perbankan</a:t>
                      </a:r>
                      <a:r>
                        <a:rPr sz="11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komersial</a:t>
                      </a:r>
                      <a:r>
                        <a:rPr sz="11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Eropa 	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menyebar</a:t>
                      </a:r>
                      <a:r>
                        <a:rPr sz="11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luas</a:t>
                      </a:r>
                      <a:r>
                        <a:rPr sz="1100" spc="-1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ke</a:t>
                      </a:r>
                      <a:r>
                        <a:rPr sz="11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kawasan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eropa</a:t>
                      </a:r>
                      <a:r>
                        <a:rPr sz="11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barat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lalu</a:t>
                      </a:r>
                      <a:r>
                        <a:rPr sz="1100" spc="-1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ke</a:t>
                      </a:r>
                      <a:r>
                        <a:rPr sz="11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amerika</a:t>
                      </a:r>
                      <a:r>
                        <a:rPr sz="11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utara.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857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99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85C839"/>
                      </a:solidFill>
                      <a:prstDash val="solid"/>
                    </a:lnT>
                    <a:lnB w="57150">
                      <a:solidFill>
                        <a:srgbClr val="00AEEE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1125" marR="3632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Asumsi 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pemikiran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kapitalis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9539" marR="317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12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4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65" dirty="0">
                          <a:latin typeface="Tahoma"/>
                          <a:cs typeface="Tahoma"/>
                        </a:rPr>
                        <a:t>asumsi</a:t>
                      </a:r>
                      <a:r>
                        <a:rPr sz="14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20" dirty="0">
                          <a:latin typeface="Tahoma"/>
                          <a:cs typeface="Tahoma"/>
                        </a:rPr>
                        <a:t>dasar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346075" marR="3175" indent="-234950">
                        <a:lnSpc>
                          <a:spcPct val="100000"/>
                        </a:lnSpc>
                        <a:spcBef>
                          <a:spcPts val="175"/>
                        </a:spcBef>
                        <a:buFont typeface="Wingdings"/>
                        <a:buChar char=""/>
                        <a:tabLst>
                          <a:tab pos="346075" algn="l"/>
                        </a:tabLst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Kebebasan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Individu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346075" marR="3175" indent="-23495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46075" algn="l"/>
                        </a:tabLst>
                      </a:pPr>
                      <a:r>
                        <a:rPr sz="1200" spc="-10" dirty="0">
                          <a:latin typeface="Verdana"/>
                          <a:cs typeface="Verdana"/>
                        </a:rPr>
                        <a:t>Kepentingan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diri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346075" marR="3175" indent="-23495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46075" algn="l"/>
                        </a:tabLst>
                      </a:pPr>
                      <a:r>
                        <a:rPr sz="1200" spc="-40" dirty="0">
                          <a:latin typeface="Verdana"/>
                          <a:cs typeface="Verdana"/>
                        </a:rPr>
                        <a:t>Pasar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bebas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00AEEE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64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00AEEE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266700" marR="149225" indent="-173990">
                        <a:lnSpc>
                          <a:spcPct val="100000"/>
                        </a:lnSpc>
                        <a:spcBef>
                          <a:spcPts val="1175"/>
                        </a:spcBef>
                        <a:buFont typeface="Arial MT"/>
                        <a:buChar char="•"/>
                        <a:tabLst>
                          <a:tab pos="266700" algn="l"/>
                        </a:tabLst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Kebebasan</a:t>
                      </a:r>
                      <a:r>
                        <a:rPr sz="12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individu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menjadi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tiang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pokok</a:t>
                      </a:r>
                      <a:r>
                        <a:rPr sz="12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kapitalisme,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dengan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pengakuan</a:t>
                      </a:r>
                      <a:r>
                        <a:rPr sz="12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hak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alami</a:t>
                      </a:r>
                      <a:r>
                        <a:rPr sz="12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tersebut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individu</a:t>
                      </a:r>
                      <a:r>
                        <a:rPr sz="1200" spc="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bebas </a:t>
                      </a:r>
                      <a:r>
                        <a:rPr sz="1200" spc="-80" dirty="0">
                          <a:latin typeface="Verdana"/>
                          <a:cs typeface="Verdana"/>
                        </a:rPr>
                        <a:t>berfikir,</a:t>
                      </a:r>
                      <a:r>
                        <a:rPr sz="12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berkarya,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berproduksi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65" dirty="0">
                          <a:latin typeface="Verdana"/>
                          <a:cs typeface="Verdana"/>
                        </a:rPr>
                        <a:t>untuk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keberlangsungan hidupnya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49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759" y="164592"/>
            <a:ext cx="826008" cy="8229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3725" y="207721"/>
            <a:ext cx="30753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0" dirty="0">
                <a:solidFill>
                  <a:srgbClr val="2D5395"/>
                </a:solidFill>
                <a:latin typeface="Verdana"/>
                <a:cs typeface="Verdana"/>
              </a:rPr>
              <a:t>Sosialisme</a:t>
            </a:r>
            <a:endParaRPr sz="4800">
              <a:latin typeface="Verdana"/>
              <a:cs typeface="Verdan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930391" y="471551"/>
          <a:ext cx="6131559" cy="5920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9851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Pengertian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62255" marR="183515" indent="-169545">
                        <a:lnSpc>
                          <a:spcPct val="99600"/>
                        </a:lnSpc>
                        <a:buFont typeface="Arial MT"/>
                        <a:buChar char="•"/>
                        <a:tabLst>
                          <a:tab pos="263525" algn="l"/>
                        </a:tabLst>
                      </a:pPr>
                      <a:r>
                        <a:rPr sz="1400" b="1" spc="-60" dirty="0">
                          <a:latin typeface="Tahoma"/>
                          <a:cs typeface="Tahoma"/>
                        </a:rPr>
                        <a:t>Sosialisme</a:t>
                      </a:r>
                      <a:r>
                        <a:rPr sz="1400" b="1" spc="-4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merupakan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sutau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teori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ekonomi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politik 	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yang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menekankan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pentingnya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peranan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komusial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dan 	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pemerintah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dalam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menguasai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alat-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alat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produksi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dan 	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distribusi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barang.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54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E98517"/>
                      </a:solidFill>
                      <a:prstDash val="solid"/>
                    </a:lnT>
                    <a:lnB w="57150">
                      <a:solidFill>
                        <a:srgbClr val="85C8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Sejarah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2044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265430" marR="196850" indent="-172720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66700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Muncul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sebagai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reaksi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adanya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faham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liberalis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ekonomis 	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kapitalis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modern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pada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akhir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abad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ke-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18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awal 	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abad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ke-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19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masehi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di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Eropa.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setelah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terjadinya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revolusi 	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industri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di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Inggris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yang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telah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menyebabkan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terjadinya 	ketimpangan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 antara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golongan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borjuis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(majikan)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dengan 	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golongan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proleter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(buruh).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7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85C839"/>
                      </a:solidFill>
                      <a:prstDash val="solid"/>
                    </a:lnT>
                    <a:lnB w="57150">
                      <a:solidFill>
                        <a:srgbClr val="00AEEE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Asumsi</a:t>
                      </a:r>
                      <a:endParaRPr sz="1600">
                        <a:latin typeface="Tahoma"/>
                        <a:cs typeface="Tahoma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pemikiran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400" b="1" spc="-65" dirty="0">
                          <a:latin typeface="Tahoma"/>
                          <a:cs typeface="Tahoma"/>
                        </a:rPr>
                        <a:t>asumsi</a:t>
                      </a:r>
                      <a:r>
                        <a:rPr sz="1400" b="1" spc="-10" dirty="0">
                          <a:latin typeface="Tahoma"/>
                          <a:cs typeface="Tahoma"/>
                        </a:rPr>
                        <a:t> dasar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346075" marR="254635" indent="-234950">
                        <a:lnSpc>
                          <a:spcPct val="100000"/>
                        </a:lnSpc>
                        <a:spcBef>
                          <a:spcPts val="120"/>
                        </a:spcBef>
                        <a:buFont typeface="Wingdings"/>
                        <a:buChar char=""/>
                        <a:tabLst>
                          <a:tab pos="346075" algn="l"/>
                        </a:tabLst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Sosialisme</a:t>
                      </a:r>
                      <a:r>
                        <a:rPr sz="14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memiliki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Prinsip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dalam</a:t>
                      </a:r>
                      <a:r>
                        <a:rPr sz="14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menegakan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suatu pemerintahan</a:t>
                      </a:r>
                      <a:r>
                        <a:rPr sz="14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negara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dalam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mewujudkan kepentingan</a:t>
                      </a:r>
                      <a:r>
                        <a:rPr sz="14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rakyat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secara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keseluruhan.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Meliputi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masalah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agama,</a:t>
                      </a:r>
                      <a:r>
                        <a:rPr sz="14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idealisme</a:t>
                      </a:r>
                      <a:r>
                        <a:rPr sz="14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etis</a:t>
                      </a:r>
                      <a:r>
                        <a:rPr sz="14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estetis,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empirisme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febian,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liberalisme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00AEEE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36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3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00AEEE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-6350" y="1112329"/>
            <a:ext cx="12204700" cy="5751830"/>
            <a:chOff x="-6350" y="1112329"/>
            <a:chExt cx="12204700" cy="5751830"/>
          </a:xfrm>
        </p:grpSpPr>
        <p:sp>
          <p:nvSpPr>
            <p:cNvPr id="5" name="object 5"/>
            <p:cNvSpPr/>
            <p:nvPr/>
          </p:nvSpPr>
          <p:spPr>
            <a:xfrm>
              <a:off x="0" y="6547102"/>
              <a:ext cx="8610600" cy="310515"/>
            </a:xfrm>
            <a:custGeom>
              <a:avLst/>
              <a:gdLst/>
              <a:ahLst/>
              <a:cxnLst/>
              <a:rect l="l" t="t" r="r" b="b"/>
              <a:pathLst>
                <a:path w="8610600" h="310515">
                  <a:moveTo>
                    <a:pt x="8610600" y="0"/>
                  </a:moveTo>
                  <a:lnTo>
                    <a:pt x="0" y="0"/>
                  </a:lnTo>
                  <a:lnTo>
                    <a:pt x="0" y="310387"/>
                  </a:lnTo>
                  <a:lnTo>
                    <a:pt x="8610600" y="310387"/>
                  </a:lnTo>
                  <a:lnTo>
                    <a:pt x="8610600" y="0"/>
                  </a:lnTo>
                  <a:close/>
                </a:path>
              </a:pathLst>
            </a:custGeom>
            <a:solidFill>
              <a:srgbClr val="0050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547102"/>
              <a:ext cx="8610600" cy="310515"/>
            </a:xfrm>
            <a:custGeom>
              <a:avLst/>
              <a:gdLst/>
              <a:ahLst/>
              <a:cxnLst/>
              <a:rect l="l" t="t" r="r" b="b"/>
              <a:pathLst>
                <a:path w="8610600" h="310515">
                  <a:moveTo>
                    <a:pt x="0" y="310387"/>
                  </a:moveTo>
                  <a:lnTo>
                    <a:pt x="8610600" y="310387"/>
                  </a:lnTo>
                  <a:lnTo>
                    <a:pt x="8610600" y="0"/>
                  </a:lnTo>
                  <a:lnTo>
                    <a:pt x="0" y="0"/>
                  </a:lnTo>
                  <a:lnTo>
                    <a:pt x="0" y="310387"/>
                  </a:lnTo>
                  <a:close/>
                </a:path>
              </a:pathLst>
            </a:custGeom>
            <a:ln w="12192">
              <a:solidFill>
                <a:srgbClr val="0050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10600" y="6547102"/>
              <a:ext cx="1844039" cy="310515"/>
            </a:xfrm>
            <a:custGeom>
              <a:avLst/>
              <a:gdLst/>
              <a:ahLst/>
              <a:cxnLst/>
              <a:rect l="l" t="t" r="r" b="b"/>
              <a:pathLst>
                <a:path w="1844040" h="310515">
                  <a:moveTo>
                    <a:pt x="1843786" y="0"/>
                  </a:moveTo>
                  <a:lnTo>
                    <a:pt x="0" y="0"/>
                  </a:lnTo>
                  <a:lnTo>
                    <a:pt x="0" y="310387"/>
                  </a:lnTo>
                  <a:lnTo>
                    <a:pt x="1843786" y="310387"/>
                  </a:lnTo>
                  <a:lnTo>
                    <a:pt x="1843786" y="0"/>
                  </a:lnTo>
                  <a:close/>
                </a:path>
              </a:pathLst>
            </a:custGeom>
            <a:solidFill>
              <a:srgbClr val="5496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10600" y="6547102"/>
              <a:ext cx="3581400" cy="310515"/>
            </a:xfrm>
            <a:custGeom>
              <a:avLst/>
              <a:gdLst/>
              <a:ahLst/>
              <a:cxnLst/>
              <a:rect l="l" t="t" r="r" b="b"/>
              <a:pathLst>
                <a:path w="3581400" h="310515">
                  <a:moveTo>
                    <a:pt x="0" y="310387"/>
                  </a:moveTo>
                  <a:lnTo>
                    <a:pt x="3581400" y="310387"/>
                  </a:lnTo>
                  <a:lnTo>
                    <a:pt x="3581400" y="0"/>
                  </a:lnTo>
                  <a:lnTo>
                    <a:pt x="0" y="0"/>
                  </a:lnTo>
                  <a:lnTo>
                    <a:pt x="0" y="310387"/>
                  </a:lnTo>
                  <a:close/>
                </a:path>
              </a:pathLst>
            </a:custGeom>
            <a:ln w="12192">
              <a:solidFill>
                <a:srgbClr val="5496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454640" y="6547102"/>
              <a:ext cx="1737360" cy="310515"/>
            </a:xfrm>
            <a:custGeom>
              <a:avLst/>
              <a:gdLst/>
              <a:ahLst/>
              <a:cxnLst/>
              <a:rect l="l" t="t" r="r" b="b"/>
              <a:pathLst>
                <a:path w="1737359" h="310515">
                  <a:moveTo>
                    <a:pt x="1736978" y="0"/>
                  </a:moveTo>
                  <a:lnTo>
                    <a:pt x="0" y="0"/>
                  </a:lnTo>
                  <a:lnTo>
                    <a:pt x="0" y="310387"/>
                  </a:lnTo>
                  <a:lnTo>
                    <a:pt x="1736978" y="310387"/>
                  </a:lnTo>
                  <a:lnTo>
                    <a:pt x="1736978" y="0"/>
                  </a:lnTo>
                  <a:close/>
                </a:path>
              </a:pathLst>
            </a:custGeom>
            <a:solidFill>
              <a:srgbClr val="FFA9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454640" y="6547102"/>
              <a:ext cx="1737360" cy="310515"/>
            </a:xfrm>
            <a:custGeom>
              <a:avLst/>
              <a:gdLst/>
              <a:ahLst/>
              <a:cxnLst/>
              <a:rect l="l" t="t" r="r" b="b"/>
              <a:pathLst>
                <a:path w="1737359" h="310515">
                  <a:moveTo>
                    <a:pt x="0" y="310387"/>
                  </a:moveTo>
                  <a:lnTo>
                    <a:pt x="1736978" y="310387"/>
                  </a:lnTo>
                  <a:lnTo>
                    <a:pt x="1736978" y="0"/>
                  </a:lnTo>
                  <a:lnTo>
                    <a:pt x="0" y="0"/>
                  </a:lnTo>
                  <a:lnTo>
                    <a:pt x="0" y="310387"/>
                  </a:lnTo>
                  <a:close/>
                </a:path>
              </a:pathLst>
            </a:custGeom>
            <a:ln w="12192">
              <a:solidFill>
                <a:srgbClr val="FFA9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64735" y="1566672"/>
              <a:ext cx="1033272" cy="13289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03832" y="1551431"/>
              <a:ext cx="1036319" cy="13136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14472" y="1551431"/>
              <a:ext cx="1036320" cy="131368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6136" y="1551431"/>
              <a:ext cx="1039368" cy="13136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7160" y="1124711"/>
              <a:ext cx="5702935" cy="5133340"/>
            </a:xfrm>
            <a:custGeom>
              <a:avLst/>
              <a:gdLst/>
              <a:ahLst/>
              <a:cxnLst/>
              <a:rect l="l" t="t" r="r" b="b"/>
              <a:pathLst>
                <a:path w="5702935" h="5133340">
                  <a:moveTo>
                    <a:pt x="0" y="5132832"/>
                  </a:moveTo>
                  <a:lnTo>
                    <a:pt x="5702808" y="5132832"/>
                  </a:lnTo>
                  <a:lnTo>
                    <a:pt x="5702808" y="0"/>
                  </a:lnTo>
                  <a:lnTo>
                    <a:pt x="0" y="0"/>
                  </a:lnTo>
                  <a:lnTo>
                    <a:pt x="0" y="5132832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8995" y="2963036"/>
            <a:ext cx="968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Charles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Fourier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66900" y="2949955"/>
            <a:ext cx="719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" marR="5080" indent="-2794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Louis</a:t>
            </a:r>
            <a:r>
              <a:rPr sz="1200" b="1" spc="-2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Blanc </a:t>
            </a:r>
            <a:r>
              <a:rPr sz="1200" b="1" spc="-20" dirty="0">
                <a:latin typeface="Calibri"/>
                <a:cs typeface="Calibri"/>
              </a:rPr>
              <a:t>1813-1882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21786" y="2963036"/>
            <a:ext cx="832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0" marR="5080" indent="-8255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Robert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owen 1771-1858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12817" y="2963036"/>
            <a:ext cx="7531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Saint</a:t>
            </a:r>
            <a:r>
              <a:rPr sz="1200" b="1" spc="-2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simon</a:t>
            </a:r>
            <a:endParaRPr sz="1200">
              <a:latin typeface="Calibri"/>
              <a:cs typeface="Calibri"/>
            </a:endParaRPr>
          </a:p>
          <a:p>
            <a:pPr marL="42545">
              <a:lnSpc>
                <a:spcPct val="100000"/>
              </a:lnSpc>
            </a:pPr>
            <a:r>
              <a:rPr sz="1200" b="1" spc="-25" dirty="0">
                <a:latin typeface="Calibri"/>
                <a:cs typeface="Calibri"/>
              </a:rPr>
              <a:t>1760-</a:t>
            </a:r>
            <a:r>
              <a:rPr sz="1200" b="1" spc="-20" dirty="0">
                <a:latin typeface="Calibri"/>
                <a:cs typeface="Calibri"/>
              </a:rPr>
              <a:t>1825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4904" y="103631"/>
            <a:ext cx="826008" cy="87782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6136" y="3450335"/>
            <a:ext cx="5071872" cy="2471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465201"/>
            <a:ext cx="12204700" cy="6398895"/>
            <a:chOff x="-6350" y="465201"/>
            <a:chExt cx="12204700" cy="6398895"/>
          </a:xfrm>
        </p:grpSpPr>
        <p:sp>
          <p:nvSpPr>
            <p:cNvPr id="3" name="object 3"/>
            <p:cNvSpPr/>
            <p:nvPr/>
          </p:nvSpPr>
          <p:spPr>
            <a:xfrm>
              <a:off x="10454640" y="6547101"/>
              <a:ext cx="1737360" cy="310515"/>
            </a:xfrm>
            <a:custGeom>
              <a:avLst/>
              <a:gdLst/>
              <a:ahLst/>
              <a:cxnLst/>
              <a:rect l="l" t="t" r="r" b="b"/>
              <a:pathLst>
                <a:path w="1737359" h="310515">
                  <a:moveTo>
                    <a:pt x="0" y="310387"/>
                  </a:moveTo>
                  <a:lnTo>
                    <a:pt x="1736978" y="310387"/>
                  </a:lnTo>
                  <a:lnTo>
                    <a:pt x="1736978" y="0"/>
                  </a:lnTo>
                  <a:lnTo>
                    <a:pt x="0" y="0"/>
                  </a:lnTo>
                  <a:lnTo>
                    <a:pt x="0" y="310387"/>
                  </a:lnTo>
                  <a:close/>
                </a:path>
              </a:pathLst>
            </a:custGeom>
            <a:ln w="12192">
              <a:solidFill>
                <a:srgbClr val="FFA9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3"/>
              <a:ext cx="3532632" cy="4815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7240" y="1356359"/>
              <a:ext cx="1243584" cy="13746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848" y="3358896"/>
              <a:ext cx="4465320" cy="20513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8567" y="1356359"/>
              <a:ext cx="1246632" cy="138074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65240" y="478028"/>
              <a:ext cx="1477010" cy="1546225"/>
            </a:xfrm>
            <a:custGeom>
              <a:avLst/>
              <a:gdLst/>
              <a:ahLst/>
              <a:cxnLst/>
              <a:rect l="l" t="t" r="r" b="b"/>
              <a:pathLst>
                <a:path w="1477009" h="1546225">
                  <a:moveTo>
                    <a:pt x="1476883" y="0"/>
                  </a:moveTo>
                  <a:lnTo>
                    <a:pt x="0" y="0"/>
                  </a:lnTo>
                  <a:lnTo>
                    <a:pt x="0" y="1545971"/>
                  </a:lnTo>
                  <a:lnTo>
                    <a:pt x="1476883" y="1545971"/>
                  </a:lnTo>
                  <a:lnTo>
                    <a:pt x="1476883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42251" y="477901"/>
              <a:ext cx="4725670" cy="1355725"/>
            </a:xfrm>
            <a:custGeom>
              <a:avLst/>
              <a:gdLst/>
              <a:ahLst/>
              <a:cxnLst/>
              <a:rect l="l" t="t" r="r" b="b"/>
              <a:pathLst>
                <a:path w="4725670" h="1355725">
                  <a:moveTo>
                    <a:pt x="4725670" y="0"/>
                  </a:moveTo>
                  <a:lnTo>
                    <a:pt x="0" y="0"/>
                  </a:lnTo>
                  <a:lnTo>
                    <a:pt x="0" y="1355725"/>
                  </a:lnTo>
                  <a:lnTo>
                    <a:pt x="4725670" y="1355725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D3E1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865241" y="2023897"/>
              <a:ext cx="1477010" cy="4392295"/>
            </a:xfrm>
            <a:custGeom>
              <a:avLst/>
              <a:gdLst/>
              <a:ahLst/>
              <a:cxnLst/>
              <a:rect l="l" t="t" r="r" b="b"/>
              <a:pathLst>
                <a:path w="1477009" h="4392295">
                  <a:moveTo>
                    <a:pt x="1476883" y="852830"/>
                  </a:moveTo>
                  <a:lnTo>
                    <a:pt x="0" y="852830"/>
                  </a:lnTo>
                  <a:lnTo>
                    <a:pt x="0" y="4391685"/>
                  </a:lnTo>
                  <a:lnTo>
                    <a:pt x="1476883" y="4391685"/>
                  </a:lnTo>
                  <a:lnTo>
                    <a:pt x="1476883" y="852830"/>
                  </a:lnTo>
                  <a:close/>
                </a:path>
                <a:path w="1477009" h="4392295">
                  <a:moveTo>
                    <a:pt x="1476883" y="0"/>
                  </a:moveTo>
                  <a:lnTo>
                    <a:pt x="0" y="0"/>
                  </a:lnTo>
                  <a:lnTo>
                    <a:pt x="0" y="852779"/>
                  </a:lnTo>
                  <a:lnTo>
                    <a:pt x="1476883" y="852779"/>
                  </a:lnTo>
                  <a:lnTo>
                    <a:pt x="1476883" y="0"/>
                  </a:lnTo>
                  <a:close/>
                </a:path>
              </a:pathLst>
            </a:custGeom>
            <a:solidFill>
              <a:srgbClr val="6E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42251" y="4650282"/>
              <a:ext cx="4725670" cy="1765300"/>
            </a:xfrm>
            <a:custGeom>
              <a:avLst/>
              <a:gdLst/>
              <a:ahLst/>
              <a:cxnLst/>
              <a:rect l="l" t="t" r="r" b="b"/>
              <a:pathLst>
                <a:path w="4725670" h="1765300">
                  <a:moveTo>
                    <a:pt x="4725670" y="0"/>
                  </a:moveTo>
                  <a:lnTo>
                    <a:pt x="0" y="0"/>
                  </a:lnTo>
                  <a:lnTo>
                    <a:pt x="0" y="1765300"/>
                  </a:lnTo>
                  <a:lnTo>
                    <a:pt x="4725670" y="1765300"/>
                  </a:lnTo>
                  <a:lnTo>
                    <a:pt x="4725670" y="0"/>
                  </a:lnTo>
                  <a:close/>
                </a:path>
              </a:pathLst>
            </a:custGeom>
            <a:solidFill>
              <a:srgbClr val="EBEF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65240" y="471551"/>
              <a:ext cx="1477010" cy="5950585"/>
            </a:xfrm>
            <a:custGeom>
              <a:avLst/>
              <a:gdLst/>
              <a:ahLst/>
              <a:cxnLst/>
              <a:rect l="l" t="t" r="r" b="b"/>
              <a:pathLst>
                <a:path w="1477009" h="5950585">
                  <a:moveTo>
                    <a:pt x="0" y="1579435"/>
                  </a:moveTo>
                  <a:lnTo>
                    <a:pt x="0" y="2378138"/>
                  </a:lnTo>
                </a:path>
                <a:path w="1477009" h="5950585">
                  <a:moveTo>
                    <a:pt x="0" y="0"/>
                  </a:moveTo>
                  <a:lnTo>
                    <a:pt x="0" y="1525460"/>
                  </a:lnTo>
                </a:path>
                <a:path w="1477009" h="5950585">
                  <a:moveTo>
                    <a:pt x="0" y="2432113"/>
                  </a:moveTo>
                  <a:lnTo>
                    <a:pt x="0" y="3477196"/>
                  </a:lnTo>
                </a:path>
                <a:path w="1477009" h="5950585">
                  <a:moveTo>
                    <a:pt x="0" y="3531171"/>
                  </a:moveTo>
                  <a:lnTo>
                    <a:pt x="0" y="5950381"/>
                  </a:lnTo>
                </a:path>
                <a:path w="1477009" h="5950585">
                  <a:moveTo>
                    <a:pt x="1477010" y="0"/>
                  </a:moveTo>
                  <a:lnTo>
                    <a:pt x="1477010" y="2405126"/>
                  </a:lnTo>
                </a:path>
                <a:path w="1477009" h="5950585">
                  <a:moveTo>
                    <a:pt x="1477010" y="4178680"/>
                  </a:moveTo>
                  <a:lnTo>
                    <a:pt x="1477010" y="595038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09335" y="2023998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4">
                  <a:moveTo>
                    <a:pt x="0" y="0"/>
                  </a:moveTo>
                  <a:lnTo>
                    <a:pt x="262254" y="0"/>
                  </a:lnTo>
                </a:path>
              </a:pathLst>
            </a:custGeom>
            <a:ln w="53975">
              <a:solidFill>
                <a:srgbClr val="E9851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71590" y="2023998"/>
              <a:ext cx="1477010" cy="0"/>
            </a:xfrm>
            <a:custGeom>
              <a:avLst/>
              <a:gdLst/>
              <a:ahLst/>
              <a:cxnLst/>
              <a:rect l="l" t="t" r="r" b="b"/>
              <a:pathLst>
                <a:path w="1477009">
                  <a:moveTo>
                    <a:pt x="0" y="0"/>
                  </a:moveTo>
                  <a:lnTo>
                    <a:pt x="1477010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09335" y="2876677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4">
                  <a:moveTo>
                    <a:pt x="0" y="0"/>
                  </a:moveTo>
                  <a:lnTo>
                    <a:pt x="262254" y="0"/>
                  </a:lnTo>
                </a:path>
              </a:pathLst>
            </a:custGeom>
            <a:ln w="53975">
              <a:solidFill>
                <a:srgbClr val="85C8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71590" y="2876677"/>
              <a:ext cx="6202680" cy="0"/>
            </a:xfrm>
            <a:custGeom>
              <a:avLst/>
              <a:gdLst/>
              <a:ahLst/>
              <a:cxnLst/>
              <a:rect l="l" t="t" r="r" b="b"/>
              <a:pathLst>
                <a:path w="6202680">
                  <a:moveTo>
                    <a:pt x="0" y="0"/>
                  </a:moveTo>
                  <a:lnTo>
                    <a:pt x="6202680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09335" y="3975735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4">
                  <a:moveTo>
                    <a:pt x="0" y="0"/>
                  </a:moveTo>
                  <a:lnTo>
                    <a:pt x="262254" y="0"/>
                  </a:lnTo>
                </a:path>
              </a:pathLst>
            </a:custGeom>
            <a:ln w="53975">
              <a:solidFill>
                <a:srgbClr val="00A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58890" y="471551"/>
              <a:ext cx="6215380" cy="5950585"/>
            </a:xfrm>
            <a:custGeom>
              <a:avLst/>
              <a:gdLst/>
              <a:ahLst/>
              <a:cxnLst/>
              <a:rect l="l" t="t" r="r" b="b"/>
              <a:pathLst>
                <a:path w="6215380" h="5950585">
                  <a:moveTo>
                    <a:pt x="6209030" y="0"/>
                  </a:moveTo>
                  <a:lnTo>
                    <a:pt x="6209030" y="5950381"/>
                  </a:lnTo>
                </a:path>
                <a:path w="6215380" h="5950585">
                  <a:moveTo>
                    <a:pt x="0" y="6350"/>
                  </a:moveTo>
                  <a:lnTo>
                    <a:pt x="6215380" y="6350"/>
                  </a:lnTo>
                </a:path>
                <a:path w="6215380" h="5950585">
                  <a:moveTo>
                    <a:pt x="0" y="5944031"/>
                  </a:moveTo>
                  <a:lnTo>
                    <a:pt x="6215380" y="5944031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1391158" y="249123"/>
            <a:ext cx="345249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5" dirty="0">
                <a:solidFill>
                  <a:srgbClr val="2D5395"/>
                </a:solidFill>
                <a:latin typeface="Verdana"/>
                <a:cs typeface="Verdana"/>
              </a:rPr>
              <a:t>komunisme</a:t>
            </a:r>
            <a:endParaRPr sz="4800">
              <a:latin typeface="Verdana"/>
              <a:cs typeface="Verdana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944742" y="736977"/>
          <a:ext cx="6123305" cy="53454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1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2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6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Pengertian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269875" marR="240665" indent="-17081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269875" algn="l"/>
                        </a:tabLst>
                      </a:pPr>
                      <a:r>
                        <a:rPr sz="1200" b="1" spc="-50" dirty="0">
                          <a:latin typeface="Tahoma"/>
                          <a:cs typeface="Tahoma"/>
                        </a:rPr>
                        <a:t>Komunisme</a:t>
                      </a:r>
                      <a:r>
                        <a:rPr sz="1200" b="1" dirty="0">
                          <a:latin typeface="Tahoma"/>
                          <a:cs typeface="Tahoma"/>
                        </a:rPr>
                        <a:t> adalah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ideologi</a:t>
                      </a:r>
                      <a:r>
                        <a:rPr sz="12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2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berkenaan</a:t>
                      </a:r>
                      <a:r>
                        <a:rPr sz="12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dengan </a:t>
                      </a:r>
                      <a:r>
                        <a:rPr sz="1200" spc="-70" dirty="0">
                          <a:latin typeface="Verdana"/>
                          <a:cs typeface="Verdana"/>
                        </a:rPr>
                        <a:t>filosofi,</a:t>
                      </a:r>
                      <a:r>
                        <a:rPr sz="12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65" dirty="0">
                          <a:latin typeface="Verdana"/>
                          <a:cs typeface="Verdana"/>
                        </a:rPr>
                        <a:t>politik,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5" dirty="0">
                          <a:latin typeface="Verdana"/>
                          <a:cs typeface="Verdana"/>
                        </a:rPr>
                        <a:t>sosial,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ekonomi</a:t>
                      </a:r>
                      <a:r>
                        <a:rPr sz="12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tujuan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utamanya terciptanya</a:t>
                      </a:r>
                      <a:r>
                        <a:rPr sz="12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masyarakat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0" dirty="0">
                          <a:latin typeface="Verdana"/>
                          <a:cs typeface="Verdana"/>
                        </a:rPr>
                        <a:t>komunis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dengan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aturan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sosial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ekonomi</a:t>
                      </a:r>
                      <a:r>
                        <a:rPr sz="12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berdasarkan</a:t>
                      </a:r>
                      <a:r>
                        <a:rPr sz="12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kepemilikan</a:t>
                      </a:r>
                      <a:r>
                        <a:rPr sz="1200" spc="-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bersama</a:t>
                      </a:r>
                      <a:r>
                        <a:rPr sz="12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alat</a:t>
                      </a:r>
                      <a:r>
                        <a:rPr sz="12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produksi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2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tidak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adanya</a:t>
                      </a:r>
                      <a:r>
                        <a:rPr sz="12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kelas</a:t>
                      </a:r>
                      <a:r>
                        <a:rPr sz="12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5" dirty="0">
                          <a:latin typeface="Verdana"/>
                          <a:cs typeface="Verdana"/>
                        </a:rPr>
                        <a:t>sosial,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uang,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2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negara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635" marB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6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Sejarah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269875" marR="240029" indent="-170815">
                        <a:lnSpc>
                          <a:spcPct val="100000"/>
                        </a:lnSpc>
                        <a:spcBef>
                          <a:spcPts val="330"/>
                        </a:spcBef>
                        <a:buFont typeface="Arial MT"/>
                        <a:buChar char="•"/>
                        <a:tabLst>
                          <a:tab pos="269875" algn="l"/>
                        </a:tabLst>
                      </a:pPr>
                      <a:r>
                        <a:rPr sz="1200" spc="-70" dirty="0">
                          <a:latin typeface="Verdana"/>
                          <a:cs typeface="Verdana"/>
                        </a:rPr>
                        <a:t>Komunis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internasional</a:t>
                      </a:r>
                      <a:r>
                        <a:rPr sz="12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sebagai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teori</a:t>
                      </a:r>
                      <a:r>
                        <a:rPr sz="12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ideologi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mulai diterapkan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setelah</a:t>
                      </a:r>
                      <a:r>
                        <a:rPr sz="12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meletusnya</a:t>
                      </a:r>
                      <a:r>
                        <a:rPr sz="12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60" dirty="0">
                          <a:latin typeface="Verdana"/>
                          <a:cs typeface="Verdana"/>
                        </a:rPr>
                        <a:t>Revolusi</a:t>
                      </a:r>
                      <a:r>
                        <a:rPr sz="12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65" dirty="0">
                          <a:latin typeface="Verdana"/>
                          <a:cs typeface="Verdana"/>
                        </a:rPr>
                        <a:t>Bolshevik</a:t>
                      </a:r>
                      <a:r>
                        <a:rPr sz="12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di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Rusia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tanggal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5" dirty="0">
                          <a:latin typeface="Verdana"/>
                          <a:cs typeface="Verdana"/>
                        </a:rPr>
                        <a:t>7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November</a:t>
                      </a:r>
                      <a:r>
                        <a:rPr sz="12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1917.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269875" marR="52069" indent="-170815">
                        <a:lnSpc>
                          <a:spcPct val="100000"/>
                        </a:lnSpc>
                        <a:spcBef>
                          <a:spcPts val="295"/>
                        </a:spcBef>
                        <a:buFont typeface="Arial MT"/>
                        <a:buChar char="•"/>
                        <a:tabLst>
                          <a:tab pos="273050" algn="l"/>
                        </a:tabLst>
                      </a:pPr>
                      <a:r>
                        <a:rPr sz="1100" spc="50" dirty="0">
                          <a:latin typeface="Verdana"/>
                          <a:cs typeface="Verdana"/>
                        </a:rPr>
                        <a:t>Pada</a:t>
                      </a:r>
                      <a:r>
                        <a:rPr sz="11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tahun</a:t>
                      </a:r>
                      <a:r>
                        <a:rPr sz="11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90" dirty="0">
                          <a:latin typeface="Verdana"/>
                          <a:cs typeface="Verdana"/>
                        </a:rPr>
                        <a:t>2005</a:t>
                      </a:r>
                      <a:r>
                        <a:rPr sz="11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negara</a:t>
                      </a:r>
                      <a:r>
                        <a:rPr sz="11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45" dirty="0">
                          <a:latin typeface="Verdana"/>
                          <a:cs typeface="Verdana"/>
                        </a:rPr>
                        <a:t>masih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menganut</a:t>
                      </a:r>
                      <a:r>
                        <a:rPr sz="1100" spc="-1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paham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komunis 	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adalah</a:t>
                      </a:r>
                      <a:r>
                        <a:rPr sz="11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60" dirty="0">
                          <a:latin typeface="Verdana"/>
                          <a:cs typeface="Verdana"/>
                        </a:rPr>
                        <a:t>Tiongkok,</a:t>
                      </a:r>
                      <a:r>
                        <a:rPr sz="1100" spc="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5" dirty="0">
                          <a:latin typeface="Verdana"/>
                          <a:cs typeface="Verdana"/>
                        </a:rPr>
                        <a:t>Vietnam,</a:t>
                      </a:r>
                      <a:r>
                        <a:rPr sz="11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20" dirty="0">
                          <a:latin typeface="Verdana"/>
                          <a:cs typeface="Verdana"/>
                        </a:rPr>
                        <a:t>Korea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50" dirty="0">
                          <a:latin typeface="Verdana"/>
                          <a:cs typeface="Verdana"/>
                        </a:rPr>
                        <a:t>Utara,</a:t>
                      </a:r>
                      <a:r>
                        <a:rPr sz="11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Kuba</a:t>
                      </a:r>
                      <a:r>
                        <a:rPr sz="11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1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100" spc="-10" dirty="0">
                          <a:latin typeface="Verdana"/>
                          <a:cs typeface="Verdana"/>
                        </a:rPr>
                        <a:t>Laos.</a:t>
                      </a:r>
                      <a:endParaRPr sz="1100">
                        <a:latin typeface="Verdana"/>
                        <a:cs typeface="Verdana"/>
                      </a:endParaRPr>
                    </a:p>
                  </a:txBody>
                  <a:tcPr marL="0" marR="0" marT="41910" marB="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3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31750" marR="35687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Asumsi 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pemikiran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13589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400" b="1" spc="-70" dirty="0">
                          <a:latin typeface="Tahoma"/>
                          <a:cs typeface="Tahoma"/>
                        </a:rPr>
                        <a:t>Ide</a:t>
                      </a:r>
                      <a:r>
                        <a:rPr sz="1400" b="1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10" dirty="0">
                          <a:latin typeface="Tahoma"/>
                          <a:cs typeface="Tahoma"/>
                        </a:rPr>
                        <a:t>dasar</a:t>
                      </a:r>
                      <a:r>
                        <a:rPr sz="1400" b="1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10" dirty="0">
                          <a:latin typeface="Tahoma"/>
                          <a:cs typeface="Tahoma"/>
                        </a:rPr>
                        <a:t>Komunis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352425" indent="-234950">
                        <a:lnSpc>
                          <a:spcPct val="100000"/>
                        </a:lnSpc>
                        <a:spcBef>
                          <a:spcPts val="180"/>
                        </a:spcBef>
                        <a:buFont typeface="Wingdings"/>
                        <a:buChar char=""/>
                        <a:tabLst>
                          <a:tab pos="352425" algn="l"/>
                        </a:tabLst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Kesenjangan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antara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kaum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10" dirty="0">
                          <a:latin typeface="Verdana"/>
                          <a:cs typeface="Verdana"/>
                        </a:rPr>
                        <a:t>Borjuis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2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Proletariat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352425" indent="-23495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52425" algn="l"/>
                        </a:tabLst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Cara</a:t>
                      </a:r>
                      <a:r>
                        <a:rPr sz="12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merombak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ketidak</a:t>
                      </a:r>
                      <a:r>
                        <a:rPr sz="12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adilan</a:t>
                      </a:r>
                      <a:r>
                        <a:rPr sz="1200" spc="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dengan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menerapkan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352425">
                        <a:lnSpc>
                          <a:spcPct val="100000"/>
                        </a:lnSpc>
                      </a:pPr>
                      <a:r>
                        <a:rPr sz="1200" spc="-95" dirty="0">
                          <a:latin typeface="Verdana"/>
                          <a:cs typeface="Verdana"/>
                        </a:rPr>
                        <a:t>sosialis,</a:t>
                      </a:r>
                      <a:r>
                        <a:rPr sz="12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alat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produksi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diuasai</a:t>
                      </a:r>
                      <a:r>
                        <a:rPr sz="1200" spc="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negara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bukan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swasta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352425" marR="527685" indent="-23495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52425" algn="l"/>
                        </a:tabLst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merealisasikan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85" dirty="0">
                          <a:latin typeface="Verdana"/>
                          <a:cs typeface="Verdana"/>
                        </a:rPr>
                        <a:t>sistem</a:t>
                      </a:r>
                      <a:r>
                        <a:rPr sz="12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90" dirty="0">
                          <a:latin typeface="Verdana"/>
                          <a:cs typeface="Verdana"/>
                        </a:rPr>
                        <a:t>sosialis</a:t>
                      </a:r>
                      <a:r>
                        <a:rPr sz="1200" spc="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dengan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revolusi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kekerasan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352425" indent="-23495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352425" algn="l"/>
                        </a:tabLst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2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menjaga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85" dirty="0">
                          <a:latin typeface="Verdana"/>
                          <a:cs typeface="Verdana"/>
                        </a:rPr>
                        <a:t>sistem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90" dirty="0">
                          <a:latin typeface="Verdana"/>
                          <a:cs typeface="Verdana"/>
                        </a:rPr>
                        <a:t>sosialis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diatur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oleh</a:t>
                      </a:r>
                      <a:r>
                        <a:rPr sz="12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kediktatoran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3524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latin typeface="Verdana"/>
                          <a:cs typeface="Verdana"/>
                        </a:rPr>
                        <a:t>partai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65" dirty="0">
                          <a:latin typeface="Verdana"/>
                          <a:cs typeface="Verdana"/>
                        </a:rPr>
                        <a:t>komunis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jangka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waktu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memadai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025" marB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1400" b="1" spc="-90" dirty="0">
                          <a:latin typeface="Tahoma"/>
                          <a:cs typeface="Tahoma"/>
                        </a:rPr>
                        <a:t>Sistem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10" dirty="0">
                          <a:latin typeface="Tahoma"/>
                          <a:cs typeface="Tahoma"/>
                        </a:rPr>
                        <a:t>Politik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269875" marR="27305" indent="-170815">
                        <a:lnSpc>
                          <a:spcPct val="100000"/>
                        </a:lnSpc>
                        <a:spcBef>
                          <a:spcPts val="1135"/>
                        </a:spcBef>
                        <a:buFont typeface="Wingdings"/>
                        <a:buChar char=""/>
                        <a:tabLst>
                          <a:tab pos="269875" algn="l"/>
                        </a:tabLst>
                      </a:pPr>
                      <a:r>
                        <a:rPr sz="1200" spc="-30" dirty="0">
                          <a:latin typeface="Verdana"/>
                          <a:cs typeface="Verdana"/>
                        </a:rPr>
                        <a:t>Pemerintah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menciptakan</a:t>
                      </a:r>
                      <a:r>
                        <a:rPr sz="12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rakyat</a:t>
                      </a:r>
                      <a:r>
                        <a:rPr sz="12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cita-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citanya</a:t>
                      </a:r>
                      <a:r>
                        <a:rPr sz="12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sama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rata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sama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60" dirty="0">
                          <a:latin typeface="Verdana"/>
                          <a:cs typeface="Verdana"/>
                        </a:rPr>
                        <a:t>rasa.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5" dirty="0">
                          <a:latin typeface="Verdana"/>
                          <a:cs typeface="Verdana"/>
                        </a:rPr>
                        <a:t>Sistem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politik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cenderung</a:t>
                      </a:r>
                      <a:r>
                        <a:rPr sz="1200" spc="-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otoriter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tiranik. 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Kekerasan,</a:t>
                      </a:r>
                      <a:r>
                        <a:rPr sz="12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penyingkiran</a:t>
                      </a:r>
                      <a:r>
                        <a:rPr sz="12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lawan,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pembuangan, pengasingan,</a:t>
                      </a:r>
                      <a:r>
                        <a:rPr sz="12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agitasii,</a:t>
                      </a:r>
                      <a:r>
                        <a:rPr sz="1200" spc="1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prpoganda</a:t>
                      </a:r>
                      <a:r>
                        <a:rPr sz="12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adalah</a:t>
                      </a:r>
                      <a:r>
                        <a:rPr sz="1200" spc="40" dirty="0">
                          <a:latin typeface="Verdana"/>
                          <a:cs typeface="Verdana"/>
                        </a:rPr>
                        <a:t> 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cara 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revolusioner</a:t>
                      </a:r>
                      <a:r>
                        <a:rPr sz="1200" spc="1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2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radikal.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47955" marB="0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bject 21"/>
          <p:cNvSpPr/>
          <p:nvPr/>
        </p:nvSpPr>
        <p:spPr>
          <a:xfrm>
            <a:off x="7342251" y="2876676"/>
            <a:ext cx="0" cy="1773555"/>
          </a:xfrm>
          <a:custGeom>
            <a:avLst/>
            <a:gdLst/>
            <a:ahLst/>
            <a:cxnLst/>
            <a:rect l="l" t="t" r="r" b="b"/>
            <a:pathLst>
              <a:path h="1773554">
                <a:moveTo>
                  <a:pt x="0" y="0"/>
                </a:moveTo>
                <a:lnTo>
                  <a:pt x="0" y="177355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65759" y="1124711"/>
            <a:ext cx="5242560" cy="4813300"/>
          </a:xfrm>
          <a:custGeom>
            <a:avLst/>
            <a:gdLst/>
            <a:ahLst/>
            <a:cxnLst/>
            <a:rect l="l" t="t" r="r" b="b"/>
            <a:pathLst>
              <a:path w="5242560" h="4813300">
                <a:moveTo>
                  <a:pt x="0" y="4812792"/>
                </a:moveTo>
                <a:lnTo>
                  <a:pt x="5242560" y="4812792"/>
                </a:lnTo>
                <a:lnTo>
                  <a:pt x="5242560" y="0"/>
                </a:lnTo>
                <a:lnTo>
                  <a:pt x="0" y="0"/>
                </a:lnTo>
                <a:lnTo>
                  <a:pt x="0" y="4812792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110183" y="2876550"/>
            <a:ext cx="74549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Karl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Marx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292223" y="2850261"/>
            <a:ext cx="11804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Friedrich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Engels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65759" y="134112"/>
            <a:ext cx="4642485" cy="2603500"/>
            <a:chOff x="365759" y="134112"/>
            <a:chExt cx="4642485" cy="2603500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5759" y="134112"/>
              <a:ext cx="880872" cy="88087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67327" y="1356359"/>
              <a:ext cx="1240536" cy="138074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872610" y="2849118"/>
            <a:ext cx="108902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Calibri"/>
                <a:cs typeface="Calibri"/>
              </a:rPr>
              <a:t>Vladimir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Lenin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57544"/>
            <a:ext cx="12204700" cy="606425"/>
            <a:chOff x="-6095" y="6257544"/>
            <a:chExt cx="12204700" cy="606425"/>
          </a:xfrm>
        </p:grpSpPr>
        <p:sp>
          <p:nvSpPr>
            <p:cNvPr id="3" name="object 3"/>
            <p:cNvSpPr/>
            <p:nvPr/>
          </p:nvSpPr>
          <p:spPr>
            <a:xfrm>
              <a:off x="10454639" y="6547101"/>
              <a:ext cx="1737360" cy="310515"/>
            </a:xfrm>
            <a:custGeom>
              <a:avLst/>
              <a:gdLst/>
              <a:ahLst/>
              <a:cxnLst/>
              <a:rect l="l" t="t" r="r" b="b"/>
              <a:pathLst>
                <a:path w="1737359" h="310515">
                  <a:moveTo>
                    <a:pt x="0" y="310387"/>
                  </a:moveTo>
                  <a:lnTo>
                    <a:pt x="1736978" y="310387"/>
                  </a:lnTo>
                  <a:lnTo>
                    <a:pt x="1736978" y="0"/>
                  </a:lnTo>
                  <a:lnTo>
                    <a:pt x="0" y="0"/>
                  </a:lnTo>
                  <a:lnTo>
                    <a:pt x="0" y="310387"/>
                  </a:lnTo>
                  <a:close/>
                </a:path>
              </a:pathLst>
            </a:custGeom>
            <a:ln w="12192">
              <a:solidFill>
                <a:srgbClr val="FFA9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04213" y="206197"/>
            <a:ext cx="23672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20" dirty="0">
                <a:solidFill>
                  <a:srgbClr val="2D5395"/>
                </a:solidFill>
                <a:latin typeface="Verdana"/>
                <a:cs typeface="Verdana"/>
              </a:rPr>
              <a:t>Fasisme</a:t>
            </a:r>
            <a:endParaRPr sz="48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6784" y="487933"/>
          <a:ext cx="11931015" cy="5885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9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151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Pengertian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3525" marR="145415" indent="-17081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263525" algn="l"/>
                        </a:tabLst>
                      </a:pPr>
                      <a:r>
                        <a:rPr sz="1200" b="1" spc="-15" dirty="0">
                          <a:latin typeface="Tahoma"/>
                          <a:cs typeface="Tahoma"/>
                        </a:rPr>
                        <a:t>Fasisme</a:t>
                      </a:r>
                      <a:r>
                        <a:rPr sz="1200" b="1" spc="15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b="1" dirty="0">
                          <a:latin typeface="Tahoma"/>
                          <a:cs typeface="Tahoma"/>
                        </a:rPr>
                        <a:t>adalah</a:t>
                      </a:r>
                      <a:r>
                        <a:rPr sz="1200" b="1" spc="-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ideologi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politik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radikal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otoriter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nasionalis sehingga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fasisme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berarti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sebuah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paham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politik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yang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menjunjung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tinggi kekuasaan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absolout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tanpa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demokrasi,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dalam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faham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ini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nasionalisme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yang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sangat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fanatik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juga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otoriter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sangat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kentara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44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20365">
                        <a:lnSpc>
                          <a:spcPct val="100000"/>
                        </a:lnSpc>
                        <a:tabLst>
                          <a:tab pos="4333875" algn="l"/>
                        </a:tabLst>
                      </a:pPr>
                      <a:r>
                        <a:rPr sz="1200" i="1" spc="-40" dirty="0">
                          <a:latin typeface="Verdana"/>
                          <a:cs typeface="Verdana"/>
                        </a:rPr>
                        <a:t>Tenno</a:t>
                      </a:r>
                      <a:r>
                        <a:rPr sz="1200" i="1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i="1" spc="-10" dirty="0">
                          <a:latin typeface="Verdana"/>
                          <a:cs typeface="Verdana"/>
                        </a:rPr>
                        <a:t>heika</a:t>
                      </a:r>
                      <a:r>
                        <a:rPr sz="1200" b="1" i="1" spc="-10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200" b="1" i="1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800" i="1" baseline="4629" dirty="0">
                          <a:latin typeface="Verdana"/>
                          <a:cs typeface="Verdana"/>
                        </a:rPr>
                        <a:t>Juan</a:t>
                      </a:r>
                      <a:r>
                        <a:rPr sz="1800" i="1" spc="-82" baseline="4629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i="1" spc="-15" baseline="4629" dirty="0">
                          <a:latin typeface="Verdana"/>
                          <a:cs typeface="Verdana"/>
                        </a:rPr>
                        <a:t>feron</a:t>
                      </a:r>
                      <a:endParaRPr sz="1800" baseline="4629">
                        <a:latin typeface="Verdana"/>
                        <a:cs typeface="Verdana"/>
                      </a:endParaRPr>
                    </a:p>
                    <a:p>
                      <a:pPr marL="2914015">
                        <a:lnSpc>
                          <a:spcPct val="100000"/>
                        </a:lnSpc>
                        <a:tabLst>
                          <a:tab pos="4220845" algn="l"/>
                        </a:tabLst>
                      </a:pPr>
                      <a:r>
                        <a:rPr sz="1200" b="1" i="1" spc="-90" dirty="0">
                          <a:latin typeface="Verdana"/>
                          <a:cs typeface="Verdana"/>
                        </a:rPr>
                        <a:t>jepang,</a:t>
                      </a:r>
                      <a:r>
                        <a:rPr sz="1200" b="1" i="1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i="1" spc="-20" dirty="0">
                          <a:latin typeface="Verdana"/>
                          <a:cs typeface="Verdana"/>
                        </a:rPr>
                        <a:t>1930</a:t>
                      </a:r>
                      <a:r>
                        <a:rPr sz="1200" b="1" i="1" dirty="0">
                          <a:latin typeface="Verdana"/>
                          <a:cs typeface="Verdana"/>
                        </a:rPr>
                        <a:t>	</a:t>
                      </a:r>
                      <a:r>
                        <a:rPr sz="1800" b="1" i="1" spc="-157" baseline="4629" dirty="0">
                          <a:latin typeface="Verdana"/>
                          <a:cs typeface="Verdana"/>
                        </a:rPr>
                        <a:t>Spanyol,</a:t>
                      </a:r>
                      <a:r>
                        <a:rPr sz="1800" b="1" i="1" spc="-67" baseline="4629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800" b="1" i="1" spc="-30" baseline="4629" dirty="0">
                          <a:latin typeface="Verdana"/>
                          <a:cs typeface="Verdana"/>
                        </a:rPr>
                        <a:t>1950</a:t>
                      </a:r>
                      <a:endParaRPr sz="1800" baseline="4629">
                        <a:latin typeface="Verdana"/>
                        <a:cs typeface="Verdan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269875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i="1" spc="-35" dirty="0">
                          <a:latin typeface="Verdana"/>
                          <a:cs typeface="Verdana"/>
                        </a:rPr>
                        <a:t>Benito</a:t>
                      </a:r>
                      <a:r>
                        <a:rPr sz="1200" i="1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i="1" spc="-80" dirty="0">
                          <a:latin typeface="Verdana"/>
                          <a:cs typeface="Verdana"/>
                        </a:rPr>
                        <a:t>mussolini</a:t>
                      </a:r>
                      <a:r>
                        <a:rPr sz="1200" i="1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i="1" dirty="0">
                          <a:latin typeface="Verdana"/>
                          <a:cs typeface="Verdana"/>
                        </a:rPr>
                        <a:t>&amp;</a:t>
                      </a:r>
                      <a:r>
                        <a:rPr sz="1200" i="1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i="1" spc="60" dirty="0">
                          <a:latin typeface="Verdana"/>
                          <a:cs typeface="Verdana"/>
                        </a:rPr>
                        <a:t>Adobe</a:t>
                      </a:r>
                      <a:r>
                        <a:rPr sz="1200" i="1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i="1" spc="-10" dirty="0">
                          <a:latin typeface="Verdana"/>
                          <a:cs typeface="Verdana"/>
                        </a:rPr>
                        <a:t>hitler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R="2702560" algn="ctr">
                        <a:lnSpc>
                          <a:spcPct val="100000"/>
                        </a:lnSpc>
                      </a:pPr>
                      <a:r>
                        <a:rPr sz="1200" b="1" i="1" spc="-135" dirty="0">
                          <a:latin typeface="Verdana"/>
                          <a:cs typeface="Verdana"/>
                        </a:rPr>
                        <a:t>Itallia,</a:t>
                      </a:r>
                      <a:r>
                        <a:rPr sz="1200" b="1" i="1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i="1" spc="-170" dirty="0">
                          <a:latin typeface="Verdana"/>
                          <a:cs typeface="Verdana"/>
                        </a:rPr>
                        <a:t>1922.</a:t>
                      </a:r>
                      <a:r>
                        <a:rPr sz="1200" b="1" i="1" spc="-80" dirty="0">
                          <a:latin typeface="Verdana"/>
                          <a:cs typeface="Verdana"/>
                        </a:rPr>
                        <a:t> Jerman</a:t>
                      </a:r>
                      <a:r>
                        <a:rPr sz="1200" b="1" i="1" spc="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b="1" i="1" spc="-10" dirty="0">
                          <a:latin typeface="Verdana"/>
                          <a:cs typeface="Verdana"/>
                        </a:rPr>
                        <a:t>(1933</a:t>
                      </a:r>
                      <a:r>
                        <a:rPr sz="1200" b="1" spc="-10" dirty="0">
                          <a:latin typeface="Arial"/>
                          <a:cs typeface="Arial"/>
                        </a:rPr>
                        <a:t>)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98517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12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652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E98517"/>
                      </a:solidFill>
                      <a:prstDash val="solid"/>
                    </a:lnT>
                    <a:lnB w="57150">
                      <a:solidFill>
                        <a:srgbClr val="85C8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0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Sejarah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2038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3525" indent="-170815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Arial MT"/>
                        <a:buChar char="•"/>
                        <a:tabLst>
                          <a:tab pos="26352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Dilatarbelakangi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oleh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kekecawaan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terhadap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kegagalan</a:t>
                      </a:r>
                      <a:r>
                        <a:rPr sz="12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proses demokratisasi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di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italia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jerman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pada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tahun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1922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1933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yang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mengakibatkan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masyarakat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industrial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modern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frustasi,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merasa</a:t>
                      </a:r>
                      <a:r>
                        <a:rPr sz="12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tidak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aman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dalam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menghadapi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persoalan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hidup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mempunyai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waktak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vandalistik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serta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destruktif.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93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4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85C839"/>
                      </a:solidFill>
                      <a:prstDash val="solid"/>
                    </a:lnT>
                    <a:lnB w="57150">
                      <a:solidFill>
                        <a:srgbClr val="00AEEE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1125" marR="3632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Asumsi 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pemikiran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9539" marR="31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400" b="1" spc="-95" dirty="0">
                          <a:latin typeface="Tahoma"/>
                          <a:cs typeface="Tahoma"/>
                        </a:rPr>
                        <a:t>Doktrin</a:t>
                      </a:r>
                      <a:r>
                        <a:rPr sz="1400" b="1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dan</a:t>
                      </a:r>
                      <a:r>
                        <a:rPr sz="1400" b="1" spc="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gagasan</a:t>
                      </a:r>
                      <a:r>
                        <a:rPr sz="1400" b="1" spc="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20" dirty="0">
                          <a:latin typeface="Tahoma"/>
                          <a:cs typeface="Tahoma"/>
                        </a:rPr>
                        <a:t>utama</a:t>
                      </a:r>
                      <a:r>
                        <a:rPr sz="1400" b="1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10" dirty="0">
                          <a:latin typeface="Tahoma"/>
                          <a:cs typeface="Tahoma"/>
                        </a:rPr>
                        <a:t>Fasisme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233045" marR="118745" indent="-121920">
                        <a:lnSpc>
                          <a:spcPct val="100000"/>
                        </a:lnSpc>
                        <a:spcBef>
                          <a:spcPts val="130"/>
                        </a:spcBef>
                        <a:buFont typeface="Wingdings"/>
                        <a:buChar char=""/>
                        <a:tabLst>
                          <a:tab pos="2330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Mitos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ras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unggul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konsep keunggulan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atau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superioritas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ras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merupakan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doktrin</a:t>
                      </a:r>
                      <a:r>
                        <a:rPr sz="1200" spc="2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sentral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fasisme.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32410" marR="3175" indent="-121285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232410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Doktrin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anti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semitisme,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melahirkan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sikap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kebencian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terhdap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lain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33045" marR="317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terutama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yahudi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33045" marR="370840" indent="-12192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2330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Doktrin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totalitarianisme,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negara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merupakan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dasar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pusat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unsur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konkrit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kehidupan</a:t>
                      </a:r>
                      <a:r>
                        <a:rPr sz="1200" spc="2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seperti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seni,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hukum,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moral,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agama,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ilmu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pengetahuan.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33045" marR="243840" indent="-121920" algn="just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233045" algn="l"/>
                        </a:tabLst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Doktrin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tentang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elit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pemimpin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meyakini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bahwa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manusia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secara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alamiah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ditentukan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untuk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menjadi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penguasa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ruler)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dikuasai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(the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ruled)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79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00AEEE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30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39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00AEEE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 marL="93345" marR="3175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sz="1400" b="1" spc="-90" dirty="0">
                          <a:latin typeface="Tahoma"/>
                          <a:cs typeface="Tahoma"/>
                        </a:rPr>
                        <a:t>Sistem</a:t>
                      </a:r>
                      <a:r>
                        <a:rPr sz="1400" b="1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10" dirty="0">
                          <a:latin typeface="Tahoma"/>
                          <a:cs typeface="Tahoma"/>
                        </a:rPr>
                        <a:t>Politik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263525" marR="172720" indent="-170815">
                        <a:lnSpc>
                          <a:spcPct val="100000"/>
                        </a:lnSpc>
                        <a:spcBef>
                          <a:spcPts val="1205"/>
                        </a:spcBef>
                        <a:buFont typeface="Wingdings"/>
                        <a:buChar char=""/>
                        <a:tabLst>
                          <a:tab pos="263525" algn="l"/>
                        </a:tabLst>
                      </a:pPr>
                      <a:r>
                        <a:rPr sz="1200" dirty="0">
                          <a:latin typeface="Cambria"/>
                          <a:cs typeface="Cambria"/>
                        </a:rPr>
                        <a:t>Sistem</a:t>
                      </a:r>
                      <a:r>
                        <a:rPr sz="12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demokrasi</a:t>
                      </a:r>
                      <a:r>
                        <a:rPr sz="1200" spc="-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dianggap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sebuah</a:t>
                      </a:r>
                      <a:r>
                        <a:rPr sz="12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ilusi</a:t>
                      </a:r>
                      <a:r>
                        <a:rPr sz="1200" spc="-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keadilan</a:t>
                      </a:r>
                      <a:r>
                        <a:rPr sz="1200" spc="-1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politik</a:t>
                      </a:r>
                      <a:r>
                        <a:rPr sz="12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dan</a:t>
                      </a:r>
                      <a:r>
                        <a:rPr sz="1200" spc="-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tidak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dijadikan</a:t>
                      </a:r>
                      <a:r>
                        <a:rPr sz="1200" spc="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standar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nilai</a:t>
                      </a:r>
                      <a:r>
                        <a:rPr sz="1200" spc="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pembentukan </a:t>
                      </a:r>
                      <a:r>
                        <a:rPr sz="1200" dirty="0">
                          <a:latin typeface="Cambria"/>
                          <a:cs typeface="Cambria"/>
                        </a:rPr>
                        <a:t>sistem</a:t>
                      </a:r>
                      <a:r>
                        <a:rPr sz="120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politk-ekonomi</a:t>
                      </a:r>
                      <a:r>
                        <a:rPr sz="1200" spc="-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0" dirty="0">
                          <a:latin typeface="Cambria"/>
                          <a:cs typeface="Cambria"/>
                        </a:rPr>
                        <a:t>yang </a:t>
                      </a:r>
                      <a:r>
                        <a:rPr sz="1200" spc="-10" dirty="0">
                          <a:latin typeface="Cambria"/>
                          <a:cs typeface="Cambria"/>
                        </a:rPr>
                        <a:t>baik.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148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9223" y="137160"/>
            <a:ext cx="865632" cy="86563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2984" y="1228344"/>
            <a:ext cx="2563367" cy="25603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10839" y="1240536"/>
            <a:ext cx="1243584" cy="14538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00728" y="1240536"/>
            <a:ext cx="1167384" cy="145389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3191" y="4224528"/>
            <a:ext cx="2746248" cy="19812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61359" y="3642359"/>
            <a:ext cx="2075688" cy="25633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57544"/>
            <a:ext cx="12204700" cy="606425"/>
            <a:chOff x="-6095" y="6257544"/>
            <a:chExt cx="12204700" cy="606425"/>
          </a:xfrm>
        </p:grpSpPr>
        <p:sp>
          <p:nvSpPr>
            <p:cNvPr id="3" name="object 3"/>
            <p:cNvSpPr/>
            <p:nvPr/>
          </p:nvSpPr>
          <p:spPr>
            <a:xfrm>
              <a:off x="10454639" y="6547101"/>
              <a:ext cx="1737360" cy="310515"/>
            </a:xfrm>
            <a:custGeom>
              <a:avLst/>
              <a:gdLst/>
              <a:ahLst/>
              <a:cxnLst/>
              <a:rect l="l" t="t" r="r" b="b"/>
              <a:pathLst>
                <a:path w="1737359" h="310515">
                  <a:moveTo>
                    <a:pt x="0" y="310387"/>
                  </a:moveTo>
                  <a:lnTo>
                    <a:pt x="1736978" y="310387"/>
                  </a:lnTo>
                  <a:lnTo>
                    <a:pt x="1736978" y="0"/>
                  </a:lnTo>
                  <a:lnTo>
                    <a:pt x="0" y="0"/>
                  </a:lnTo>
                  <a:lnTo>
                    <a:pt x="0" y="310387"/>
                  </a:lnTo>
                  <a:close/>
                </a:path>
              </a:pathLst>
            </a:custGeom>
            <a:ln w="12192">
              <a:solidFill>
                <a:srgbClr val="FFA9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00735">
              <a:lnSpc>
                <a:spcPct val="100000"/>
              </a:lnSpc>
              <a:spcBef>
                <a:spcPts val="100"/>
              </a:spcBef>
            </a:pPr>
            <a:r>
              <a:rPr sz="4800" spc="-465" dirty="0">
                <a:solidFill>
                  <a:srgbClr val="2D5395"/>
                </a:solidFill>
                <a:latin typeface="Verdana"/>
                <a:cs typeface="Verdana"/>
              </a:rPr>
              <a:t>Anarkisme</a:t>
            </a:r>
            <a:endParaRPr sz="48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2960" y="3404615"/>
            <a:ext cx="3605784" cy="18684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6488" y="1371600"/>
            <a:ext cx="3572255" cy="1877567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53568" y="1088771"/>
          <a:ext cx="11183619" cy="4799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2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5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1163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43865" marR="671195">
                        <a:lnSpc>
                          <a:spcPct val="100000"/>
                        </a:lnSpc>
                      </a:pPr>
                      <a:r>
                        <a:rPr sz="1100" i="1" dirty="0">
                          <a:latin typeface="Calibri"/>
                          <a:cs typeface="Calibri"/>
                        </a:rPr>
                        <a:t>Orang</a:t>
                      </a:r>
                      <a:r>
                        <a:rPr sz="11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inuit</a:t>
                      </a:r>
                      <a:r>
                        <a:rPr sz="1100" i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(eskimo)</a:t>
                      </a:r>
                      <a:r>
                        <a:rPr sz="11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selama</a:t>
                      </a:r>
                      <a:r>
                        <a:rPr sz="1100" i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puluhan</a:t>
                      </a:r>
                      <a:r>
                        <a:rPr sz="1100" i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ribu</a:t>
                      </a:r>
                      <a:r>
                        <a:rPr sz="11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tahun</a:t>
                      </a:r>
                      <a:r>
                        <a:rPr sz="1100" i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spc="-10" dirty="0">
                          <a:latin typeface="Calibri"/>
                          <a:cs typeface="Calibri"/>
                        </a:rPr>
                        <a:t>bermasyarakat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tanpa</a:t>
                      </a:r>
                      <a:r>
                        <a:rPr sz="11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figur</a:t>
                      </a:r>
                      <a:r>
                        <a:rPr sz="11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pemimpin</a:t>
                      </a:r>
                      <a:r>
                        <a:rPr sz="11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dan</a:t>
                      </a:r>
                      <a:r>
                        <a:rPr sz="11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tanpa</a:t>
                      </a:r>
                      <a:r>
                        <a:rPr sz="11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hirarki</a:t>
                      </a:r>
                      <a:r>
                        <a:rPr sz="1100" i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i="1" dirty="0">
                          <a:latin typeface="Calibri"/>
                          <a:cs typeface="Calibri"/>
                        </a:rPr>
                        <a:t>kewenangan</a:t>
                      </a:r>
                      <a:r>
                        <a:rPr sz="1100" i="1" spc="-10" dirty="0">
                          <a:latin typeface="Calibri"/>
                          <a:cs typeface="Calibri"/>
                        </a:rPr>
                        <a:t> vertikal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57150">
                      <a:solidFill>
                        <a:srgbClr val="E9851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Pengertian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3525" marR="13970" indent="-17081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263525" algn="l"/>
                        </a:tabLst>
                      </a:pPr>
                      <a:r>
                        <a:rPr sz="1200" b="1" spc="-10" dirty="0">
                          <a:latin typeface="Tahoma"/>
                          <a:cs typeface="Tahoma"/>
                        </a:rPr>
                        <a:t>Anarkisme</a:t>
                      </a:r>
                      <a:r>
                        <a:rPr sz="1200" b="1" spc="3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b="1" dirty="0">
                          <a:latin typeface="Tahoma"/>
                          <a:cs typeface="Tahoma"/>
                        </a:rPr>
                        <a:t>adalah</a:t>
                      </a:r>
                      <a:r>
                        <a:rPr sz="1200" b="1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suatu</a:t>
                      </a:r>
                      <a:r>
                        <a:rPr sz="12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paham</a:t>
                      </a:r>
                      <a:r>
                        <a:rPr sz="12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2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mempercayai</a:t>
                      </a:r>
                      <a:r>
                        <a:rPr sz="1200" spc="5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bahwa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segala</a:t>
                      </a:r>
                      <a:r>
                        <a:rPr sz="12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bentuk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negara,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pemerintahan,</a:t>
                      </a:r>
                      <a:r>
                        <a:rPr sz="1200" spc="-6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dengan 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kekuasaannya</a:t>
                      </a:r>
                      <a:r>
                        <a:rPr sz="1200" spc="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adalah</a:t>
                      </a:r>
                      <a:r>
                        <a:rPr sz="1200" spc="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lembaga lembaga</a:t>
                      </a:r>
                      <a:r>
                        <a:rPr sz="12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200" spc="8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menumbuh </a:t>
                      </a:r>
                      <a:r>
                        <a:rPr sz="1200" spc="-60" dirty="0">
                          <a:latin typeface="Verdana"/>
                          <a:cs typeface="Verdana"/>
                        </a:rPr>
                        <a:t>suburkan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penindasan</a:t>
                      </a:r>
                      <a:r>
                        <a:rPr sz="1200" spc="-10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teradap</a:t>
                      </a:r>
                      <a:r>
                        <a:rPr sz="1200" spc="3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kehidupan,</a:t>
                      </a:r>
                      <a:r>
                        <a:rPr sz="12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oleh</a:t>
                      </a:r>
                      <a:r>
                        <a:rPr sz="1200" spc="-10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karena</a:t>
                      </a:r>
                      <a:r>
                        <a:rPr sz="12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itu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negara</a:t>
                      </a:r>
                      <a:r>
                        <a:rPr sz="1200" spc="-7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14" dirty="0">
                          <a:latin typeface="Verdana"/>
                          <a:cs typeface="Verdana"/>
                        </a:rPr>
                        <a:t>,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pemerintahan</a:t>
                      </a:r>
                      <a:r>
                        <a:rPr sz="1200" spc="-1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25" dirty="0">
                          <a:latin typeface="Verdana"/>
                          <a:cs typeface="Verdana"/>
                        </a:rPr>
                        <a:t>beserta</a:t>
                      </a:r>
                      <a:r>
                        <a:rPr sz="12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perangkatnya</a:t>
                      </a:r>
                      <a:r>
                        <a:rPr sz="1200" spc="-9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harus dihilangkan/dihancurkan.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92710">
                        <a:lnSpc>
                          <a:spcPts val="1355"/>
                        </a:lnSpc>
                        <a:spcBef>
                          <a:spcPts val="320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•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E98517"/>
                      </a:solidFill>
                      <a:prstDash val="solid"/>
                    </a:lnT>
                    <a:lnB w="57150">
                      <a:solidFill>
                        <a:srgbClr val="00AEEE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Asumsi</a:t>
                      </a:r>
                      <a:endParaRPr sz="1600">
                        <a:latin typeface="Tahoma"/>
                        <a:cs typeface="Tahoma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pemikiran</a:t>
                      </a:r>
                      <a:endParaRPr sz="16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3E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4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E98517"/>
                      </a:solidFill>
                      <a:prstDash val="solid"/>
                    </a:lnT>
                    <a:lnB w="57150">
                      <a:solidFill>
                        <a:srgbClr val="00AEEE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</a:pPr>
                      <a:r>
                        <a:rPr sz="1400" b="1" spc="-95" dirty="0">
                          <a:latin typeface="Tahoma"/>
                          <a:cs typeface="Tahoma"/>
                        </a:rPr>
                        <a:t>Teori</a:t>
                      </a:r>
                      <a:r>
                        <a:rPr sz="1400" b="1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10" dirty="0">
                          <a:latin typeface="Tahoma"/>
                          <a:cs typeface="Tahoma"/>
                        </a:rPr>
                        <a:t>Politik</a:t>
                      </a:r>
                      <a:endParaRPr sz="1400">
                        <a:latin typeface="Tahoma"/>
                        <a:cs typeface="Tahoma"/>
                      </a:endParaRPr>
                    </a:p>
                    <a:p>
                      <a:pPr marL="233045" marR="170815" indent="-121920">
                        <a:lnSpc>
                          <a:spcPct val="100000"/>
                        </a:lnSpc>
                        <a:spcBef>
                          <a:spcPts val="10"/>
                        </a:spcBef>
                        <a:buFont typeface="Wingdings"/>
                        <a:buChar char=""/>
                        <a:tabLst>
                          <a:tab pos="233045" algn="l"/>
                        </a:tabLst>
                      </a:pPr>
                      <a:r>
                        <a:rPr sz="1200" spc="-75" dirty="0">
                          <a:latin typeface="Verdana"/>
                          <a:cs typeface="Verdana"/>
                        </a:rPr>
                        <a:t>Teori</a:t>
                      </a:r>
                      <a:r>
                        <a:rPr sz="1200" spc="-6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politik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bertujuan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0" dirty="0">
                          <a:latin typeface="Verdana"/>
                          <a:cs typeface="Verdana"/>
                        </a:rPr>
                        <a:t>untuk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mencipatakan 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masyarakat</a:t>
                      </a:r>
                      <a:r>
                        <a:rPr sz="12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tanpa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5" dirty="0">
                          <a:latin typeface="Verdana"/>
                          <a:cs typeface="Verdana"/>
                        </a:rPr>
                        <a:t>hirarkis</a:t>
                      </a:r>
                      <a:r>
                        <a:rPr sz="1200" spc="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(dalam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bidang</a:t>
                      </a:r>
                      <a:r>
                        <a:rPr sz="12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60" dirty="0">
                          <a:latin typeface="Verdana"/>
                          <a:cs typeface="Verdana"/>
                        </a:rPr>
                        <a:t>politik,</a:t>
                      </a:r>
                      <a:r>
                        <a:rPr sz="12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ekonomi, sosial).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233045" marR="42545" indent="-121920">
                        <a:lnSpc>
                          <a:spcPct val="100000"/>
                        </a:lnSpc>
                        <a:buFont typeface="Wingdings"/>
                        <a:buChar char=""/>
                        <a:tabLst>
                          <a:tab pos="233045" algn="l"/>
                        </a:tabLst>
                      </a:pPr>
                      <a:r>
                        <a:rPr sz="1200" spc="-40" dirty="0">
                          <a:latin typeface="Verdana"/>
                          <a:cs typeface="Verdana"/>
                        </a:rPr>
                        <a:t>Berusaha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mempertahankan</a:t>
                      </a:r>
                      <a:r>
                        <a:rPr sz="12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anarki,</a:t>
                      </a:r>
                      <a:r>
                        <a:rPr sz="1200" spc="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ketiadaan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aturan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adalah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sebuah</a:t>
                      </a:r>
                      <a:r>
                        <a:rPr sz="12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format</a:t>
                      </a:r>
                      <a:r>
                        <a:rPr sz="12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dalam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85" dirty="0">
                          <a:latin typeface="Verdana"/>
                          <a:cs typeface="Verdana"/>
                        </a:rPr>
                        <a:t>sistem</a:t>
                      </a:r>
                      <a:r>
                        <a:rPr sz="1200" spc="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70" dirty="0">
                          <a:latin typeface="Verdana"/>
                          <a:cs typeface="Verdana"/>
                        </a:rPr>
                        <a:t>sosial</a:t>
                      </a:r>
                      <a:r>
                        <a:rPr sz="1200" spc="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2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dapat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mencipatakan</a:t>
                      </a:r>
                      <a:r>
                        <a:rPr sz="12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kebebasan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individu</a:t>
                      </a:r>
                      <a:r>
                        <a:rPr sz="1200" spc="5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200" spc="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kebersamaan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sosial</a:t>
                      </a:r>
                      <a:endParaRPr sz="1200">
                        <a:latin typeface="Verdana"/>
                        <a:cs typeface="Verdana"/>
                      </a:endParaRPr>
                    </a:p>
                    <a:p>
                      <a:pPr marL="233045" marR="354965" indent="-121920" algn="just">
                        <a:lnSpc>
                          <a:spcPct val="100000"/>
                        </a:lnSpc>
                        <a:spcBef>
                          <a:spcPts val="5"/>
                        </a:spcBef>
                        <a:buFont typeface="Wingdings"/>
                        <a:buChar char=""/>
                        <a:tabLst>
                          <a:tab pos="233045" algn="l"/>
                        </a:tabLst>
                      </a:pPr>
                      <a:r>
                        <a:rPr sz="1200" dirty="0">
                          <a:latin typeface="Verdana"/>
                          <a:cs typeface="Verdana"/>
                        </a:rPr>
                        <a:t>Kebebasan</a:t>
                      </a:r>
                      <a:r>
                        <a:rPr sz="12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individu</a:t>
                      </a:r>
                      <a:r>
                        <a:rPr sz="1200" spc="5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dan</a:t>
                      </a:r>
                      <a:r>
                        <a:rPr sz="12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kebersamaan</a:t>
                      </a:r>
                      <a:r>
                        <a:rPr sz="12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sebagai</a:t>
                      </a:r>
                      <a:r>
                        <a:rPr sz="12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sebuah 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kerjasama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yang</a:t>
                      </a:r>
                      <a:r>
                        <a:rPr sz="1200" spc="-50" dirty="0">
                          <a:latin typeface="Verdana"/>
                          <a:cs typeface="Verdana"/>
                        </a:rPr>
                        <a:t> saling</a:t>
                      </a:r>
                      <a:r>
                        <a:rPr sz="1200" spc="-4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dirty="0">
                          <a:latin typeface="Verdana"/>
                          <a:cs typeface="Verdana"/>
                        </a:rPr>
                        <a:t>membangun</a:t>
                      </a:r>
                      <a:r>
                        <a:rPr sz="1200" spc="-7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antar</a:t>
                      </a:r>
                      <a:r>
                        <a:rPr sz="12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55" dirty="0">
                          <a:latin typeface="Verdana"/>
                          <a:cs typeface="Verdana"/>
                        </a:rPr>
                        <a:t>satu</a:t>
                      </a:r>
                      <a:r>
                        <a:rPr sz="1200" spc="-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200" spc="-10" dirty="0">
                          <a:latin typeface="Verdana"/>
                          <a:cs typeface="Verdana"/>
                        </a:rPr>
                        <a:t>dengan lainnya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93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00AEEE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6EAC4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9327" y="179831"/>
            <a:ext cx="957072" cy="7894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57544"/>
            <a:ext cx="12204700" cy="606425"/>
            <a:chOff x="-6095" y="6257544"/>
            <a:chExt cx="12204700" cy="606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51631" y="6550152"/>
              <a:ext cx="1002665" cy="182880"/>
            </a:xfrm>
            <a:custGeom>
              <a:avLst/>
              <a:gdLst/>
              <a:ahLst/>
              <a:cxnLst/>
              <a:rect l="l" t="t" r="r" b="b"/>
              <a:pathLst>
                <a:path w="1002664" h="182879">
                  <a:moveTo>
                    <a:pt x="1002665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002665" y="182880"/>
                  </a:lnTo>
                  <a:lnTo>
                    <a:pt x="1002665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79" y="198120"/>
            <a:ext cx="588264" cy="633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454640" y="6547101"/>
            <a:ext cx="1737360" cy="310515"/>
          </a:xfrm>
          <a:prstGeom prst="rect">
            <a:avLst/>
          </a:prstGeom>
          <a:ln w="12573">
            <a:solidFill>
              <a:srgbClr val="FFA935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R="271780" algn="r">
              <a:lnSpc>
                <a:spcPct val="100000"/>
              </a:lnSpc>
              <a:spcBef>
                <a:spcPts val="380"/>
              </a:spcBef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7354" y="1287558"/>
            <a:ext cx="57105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i="1" spc="-10" dirty="0">
                <a:latin typeface="Calibri"/>
                <a:cs typeface="Calibri"/>
              </a:rPr>
              <a:t>Globalisasi</a:t>
            </a:r>
            <a:r>
              <a:rPr sz="1800" b="1" i="1" spc="-7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merupakan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era</a:t>
            </a:r>
            <a:r>
              <a:rPr sz="1800" b="1" i="1" spc="2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saling</a:t>
            </a:r>
            <a:r>
              <a:rPr sz="1800" b="1" i="1" spc="-45" dirty="0">
                <a:latin typeface="Calibri"/>
                <a:cs typeface="Calibri"/>
              </a:rPr>
              <a:t> </a:t>
            </a:r>
            <a:r>
              <a:rPr sz="1800" b="1" i="1" spc="-20" dirty="0">
                <a:latin typeface="Calibri"/>
                <a:cs typeface="Calibri"/>
              </a:rPr>
              <a:t>keterhubungan</a:t>
            </a:r>
            <a:r>
              <a:rPr sz="1800" b="1" i="1" spc="-6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antara </a:t>
            </a:r>
            <a:r>
              <a:rPr sz="1800" b="1" i="1" spc="-20" dirty="0">
                <a:latin typeface="Calibri"/>
                <a:cs typeface="Calibri"/>
              </a:rPr>
              <a:t>masyarakat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suatu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bangsa</a:t>
            </a:r>
            <a:r>
              <a:rPr sz="1800" b="1" i="1" spc="-6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dan</a:t>
            </a:r>
            <a:r>
              <a:rPr sz="1800" b="1" i="1" spc="-10" dirty="0">
                <a:latin typeface="Calibri"/>
                <a:cs typeface="Calibri"/>
              </a:rPr>
              <a:t> </a:t>
            </a:r>
            <a:r>
              <a:rPr sz="1800" b="1" i="1" spc="-20" dirty="0">
                <a:latin typeface="Calibri"/>
                <a:cs typeface="Calibri"/>
              </a:rPr>
              <a:t>masyarakat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bangsa</a:t>
            </a:r>
            <a:r>
              <a:rPr sz="1800" b="1" i="1" spc="-3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yang</a:t>
            </a:r>
            <a:r>
              <a:rPr sz="1800" b="1" i="1" spc="-15" dirty="0">
                <a:latin typeface="Calibri"/>
                <a:cs typeface="Calibri"/>
              </a:rPr>
              <a:t> </a:t>
            </a:r>
            <a:r>
              <a:rPr sz="1800" b="1" i="1" spc="-20" dirty="0">
                <a:latin typeface="Calibri"/>
                <a:cs typeface="Calibri"/>
              </a:rPr>
              <a:t>lain </a:t>
            </a:r>
            <a:r>
              <a:rPr sz="1800" b="1" i="1" spc="-10" dirty="0">
                <a:latin typeface="Calibri"/>
                <a:cs typeface="Calibri"/>
              </a:rPr>
              <a:t>sehingga</a:t>
            </a:r>
            <a:r>
              <a:rPr sz="1800" b="1" i="1" spc="-9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masyarakat</a:t>
            </a:r>
            <a:r>
              <a:rPr sz="1800" b="1" i="1" spc="-8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dunia</a:t>
            </a:r>
            <a:r>
              <a:rPr sz="1800" b="1" i="1" spc="-5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menjadi</a:t>
            </a:r>
            <a:r>
              <a:rPr sz="1800" b="1" i="1" spc="-7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lebih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terbuka.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7887" y="2136648"/>
            <a:ext cx="4645152" cy="30144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450328" y="1524076"/>
            <a:ext cx="4035425" cy="47586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69570" marR="801370" indent="-356870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369570" algn="l"/>
              </a:tabLst>
            </a:pPr>
            <a:r>
              <a:rPr sz="1600" spc="-55" dirty="0">
                <a:latin typeface="Arial MT"/>
                <a:cs typeface="Arial MT"/>
              </a:rPr>
              <a:t>Berbagai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bangsa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70" dirty="0">
                <a:latin typeface="Arial MT"/>
                <a:cs typeface="Arial MT"/>
              </a:rPr>
              <a:t>dan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65" dirty="0">
                <a:latin typeface="Arial MT"/>
                <a:cs typeface="Arial MT"/>
              </a:rPr>
              <a:t>kebudayaan </a:t>
            </a:r>
            <a:r>
              <a:rPr sz="1600" spc="-85" dirty="0">
                <a:latin typeface="Arial MT"/>
                <a:cs typeface="Arial MT"/>
              </a:rPr>
              <a:t>menjadi</a:t>
            </a:r>
            <a:r>
              <a:rPr sz="1600" spc="-65" dirty="0">
                <a:latin typeface="Arial MT"/>
                <a:cs typeface="Arial MT"/>
              </a:rPr>
              <a:t> lebih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70" dirty="0">
                <a:latin typeface="Arial MT"/>
                <a:cs typeface="Arial MT"/>
              </a:rPr>
              <a:t>terbuka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terhadap </a:t>
            </a:r>
            <a:r>
              <a:rPr sz="1600" spc="-95" dirty="0">
                <a:latin typeface="Arial MT"/>
                <a:cs typeface="Arial MT"/>
              </a:rPr>
              <a:t>pengaruh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timbal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balik</a:t>
            </a:r>
            <a:endParaRPr sz="1600">
              <a:latin typeface="Arial MT"/>
              <a:cs typeface="Arial MT"/>
            </a:endParaRPr>
          </a:p>
          <a:p>
            <a:pPr marL="335915" marR="549275" indent="-311150">
              <a:lnSpc>
                <a:spcPct val="100000"/>
              </a:lnSpc>
              <a:spcBef>
                <a:spcPts val="930"/>
              </a:spcBef>
              <a:buFont typeface="Calibri"/>
              <a:buAutoNum type="arabicPeriod"/>
              <a:tabLst>
                <a:tab pos="369570" algn="l"/>
              </a:tabLst>
            </a:pPr>
            <a:r>
              <a:rPr sz="1600" spc="-140" dirty="0">
                <a:latin typeface="Arial MT"/>
                <a:cs typeface="Arial MT"/>
              </a:rPr>
              <a:t>Pengakuan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akan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75" dirty="0">
                <a:latin typeface="Arial MT"/>
                <a:cs typeface="Arial MT"/>
              </a:rPr>
              <a:t>identitas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dan 	</a:t>
            </a:r>
            <a:r>
              <a:rPr sz="1600" spc="-95" dirty="0">
                <a:latin typeface="Arial MT"/>
                <a:cs typeface="Arial MT"/>
              </a:rPr>
              <a:t>keanekaragaman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masyarakat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dalam 	</a:t>
            </a:r>
            <a:r>
              <a:rPr sz="1600" spc="-30" dirty="0">
                <a:latin typeface="Arial MT"/>
                <a:cs typeface="Arial MT"/>
              </a:rPr>
              <a:t>berbagai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kelompok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dengan</a:t>
            </a:r>
            <a:r>
              <a:rPr sz="1600" spc="-80" dirty="0">
                <a:latin typeface="Arial MT"/>
                <a:cs typeface="Arial MT"/>
              </a:rPr>
              <a:t> pluralisme 	</a:t>
            </a:r>
            <a:r>
              <a:rPr sz="1600" spc="-114" dirty="0">
                <a:latin typeface="Arial MT"/>
                <a:cs typeface="Arial MT"/>
              </a:rPr>
              <a:t>etnis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spc="-70" dirty="0">
                <a:latin typeface="Arial MT"/>
                <a:cs typeface="Arial MT"/>
              </a:rPr>
              <a:t>dan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religius.;</a:t>
            </a:r>
            <a:endParaRPr sz="1600">
              <a:latin typeface="Arial MT"/>
              <a:cs typeface="Arial MT"/>
            </a:endParaRPr>
          </a:p>
          <a:p>
            <a:pPr marL="366395" marR="476884" indent="-341630">
              <a:lnSpc>
                <a:spcPct val="99600"/>
              </a:lnSpc>
              <a:spcBef>
                <a:spcPts val="280"/>
              </a:spcBef>
              <a:buFont typeface="Calibri"/>
              <a:buAutoNum type="arabicPeriod"/>
              <a:tabLst>
                <a:tab pos="369570" algn="l"/>
              </a:tabLst>
            </a:pPr>
            <a:r>
              <a:rPr sz="1600" spc="-70" dirty="0">
                <a:latin typeface="Arial MT"/>
                <a:cs typeface="Arial MT"/>
              </a:rPr>
              <a:t>Masyarakat </a:t>
            </a:r>
            <a:r>
              <a:rPr sz="1600" spc="-75" dirty="0">
                <a:latin typeface="Arial MT"/>
                <a:cs typeface="Arial MT"/>
              </a:rPr>
              <a:t>yang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memiliki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45" dirty="0">
                <a:latin typeface="Arial MT"/>
                <a:cs typeface="Arial MT"/>
              </a:rPr>
              <a:t>ideologi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dan 	</a:t>
            </a:r>
            <a:r>
              <a:rPr sz="1600" spc="-155" dirty="0">
                <a:latin typeface="Arial MT"/>
                <a:cs typeface="Arial MT"/>
              </a:rPr>
              <a:t>sistem</a:t>
            </a:r>
            <a:r>
              <a:rPr sz="1600" spc="-45" dirty="0">
                <a:latin typeface="Arial MT"/>
                <a:cs typeface="Arial MT"/>
              </a:rPr>
              <a:t> nilai</a:t>
            </a:r>
            <a:r>
              <a:rPr sz="1600" spc="-75" dirty="0">
                <a:latin typeface="Arial MT"/>
                <a:cs typeface="Arial MT"/>
              </a:rPr>
              <a:t> yang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35" dirty="0">
                <a:latin typeface="Arial MT"/>
                <a:cs typeface="Arial MT"/>
              </a:rPr>
              <a:t>berbeda</a:t>
            </a:r>
            <a:r>
              <a:rPr sz="1600" spc="-80" dirty="0">
                <a:latin typeface="Arial MT"/>
                <a:cs typeface="Arial MT"/>
              </a:rPr>
              <a:t> bekerjasama 	</a:t>
            </a:r>
            <a:r>
              <a:rPr sz="1600" spc="-60" dirty="0">
                <a:latin typeface="Arial MT"/>
                <a:cs typeface="Arial MT"/>
              </a:rPr>
              <a:t>dan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bersaing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sehingga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tidak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dirty="0">
                <a:latin typeface="Calibri"/>
                <a:cs typeface="Calibri"/>
              </a:rPr>
              <a:t>ada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satu 	</a:t>
            </a:r>
            <a:r>
              <a:rPr sz="1600" dirty="0">
                <a:latin typeface="Calibri"/>
                <a:cs typeface="Calibri"/>
              </a:rPr>
              <a:t>pun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ideologi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yang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dominan;</a:t>
            </a:r>
            <a:endParaRPr sz="1600">
              <a:latin typeface="Calibri"/>
              <a:cs typeface="Calibri"/>
            </a:endParaRPr>
          </a:p>
          <a:p>
            <a:pPr marL="366395" marR="465455" indent="-341630">
              <a:lnSpc>
                <a:spcPct val="100000"/>
              </a:lnSpc>
              <a:spcBef>
                <a:spcPts val="725"/>
              </a:spcBef>
              <a:buAutoNum type="arabicPeriod"/>
              <a:tabLst>
                <a:tab pos="369570" algn="l"/>
              </a:tabLst>
            </a:pPr>
            <a:r>
              <a:rPr sz="1600" spc="-90" dirty="0">
                <a:latin typeface="Arial MT"/>
                <a:cs typeface="Arial MT"/>
              </a:rPr>
              <a:t>Kebudayaan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global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merupakan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135" dirty="0">
                <a:latin typeface="Arial MT"/>
                <a:cs typeface="Arial MT"/>
              </a:rPr>
              <a:t>sesuatu 	</a:t>
            </a:r>
            <a:r>
              <a:rPr sz="1600" spc="-75" dirty="0">
                <a:latin typeface="Arial MT"/>
                <a:cs typeface="Arial MT"/>
              </a:rPr>
              <a:t>yang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50" dirty="0">
                <a:latin typeface="Arial MT"/>
                <a:cs typeface="Arial MT"/>
              </a:rPr>
              <a:t>khas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secara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50" dirty="0">
                <a:latin typeface="Arial MT"/>
                <a:cs typeface="Arial MT"/>
              </a:rPr>
              <a:t>utuh,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30" dirty="0">
                <a:latin typeface="Arial MT"/>
                <a:cs typeface="Arial MT"/>
              </a:rPr>
              <a:t>tetapi</a:t>
            </a:r>
            <a:r>
              <a:rPr sz="1600" spc="-1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tetap 	</a:t>
            </a:r>
            <a:r>
              <a:rPr sz="1600" spc="-45" dirty="0">
                <a:latin typeface="Arial MT"/>
                <a:cs typeface="Arial MT"/>
              </a:rPr>
              <a:t>bersifat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45" dirty="0">
                <a:latin typeface="Arial MT"/>
                <a:cs typeface="Arial MT"/>
              </a:rPr>
              <a:t>plural </a:t>
            </a:r>
            <a:r>
              <a:rPr sz="1600" spc="-70" dirty="0">
                <a:latin typeface="Arial MT"/>
                <a:cs typeface="Arial MT"/>
              </a:rPr>
              <a:t>dan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heterogen.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366395" marR="5080" indent="-341630">
              <a:lnSpc>
                <a:spcPct val="100000"/>
              </a:lnSpc>
              <a:spcBef>
                <a:spcPts val="790"/>
              </a:spcBef>
              <a:buAutoNum type="arabicPeriod"/>
              <a:tabLst>
                <a:tab pos="369570" algn="l"/>
              </a:tabLst>
            </a:pPr>
            <a:r>
              <a:rPr sz="1600" spc="-25" dirty="0">
                <a:latin typeface="Arial MT"/>
                <a:cs typeface="Arial MT"/>
              </a:rPr>
              <a:t>Nilai-</a:t>
            </a:r>
            <a:r>
              <a:rPr sz="1600" spc="-55" dirty="0">
                <a:latin typeface="Arial MT"/>
                <a:cs typeface="Arial MT"/>
              </a:rPr>
              <a:t>nilai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hak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20" dirty="0">
                <a:latin typeface="Arial MT"/>
                <a:cs typeface="Arial MT"/>
              </a:rPr>
              <a:t>asasi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40" dirty="0">
                <a:latin typeface="Arial MT"/>
                <a:cs typeface="Arial MT"/>
              </a:rPr>
              <a:t>manusia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(HAM), 	</a:t>
            </a:r>
            <a:r>
              <a:rPr sz="1600" spc="-105" dirty="0">
                <a:latin typeface="Arial MT"/>
                <a:cs typeface="Arial MT"/>
              </a:rPr>
              <a:t>kebebasan,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demokrasi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menjadi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nilainilai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30" dirty="0">
                <a:latin typeface="Arial MT"/>
                <a:cs typeface="Arial MT"/>
              </a:rPr>
              <a:t>yang 	</a:t>
            </a:r>
            <a:r>
              <a:rPr sz="1600" spc="-50" dirty="0">
                <a:latin typeface="Arial MT"/>
                <a:cs typeface="Arial MT"/>
              </a:rPr>
              <a:t>dihayati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bersama,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30" dirty="0">
                <a:latin typeface="Arial MT"/>
                <a:cs typeface="Arial MT"/>
              </a:rPr>
              <a:t>tetapi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dengan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30" dirty="0">
                <a:latin typeface="Arial MT"/>
                <a:cs typeface="Arial MT"/>
              </a:rPr>
              <a:t>interpretasi 	</a:t>
            </a:r>
            <a:r>
              <a:rPr sz="1600" spc="-75" dirty="0">
                <a:latin typeface="Arial MT"/>
                <a:cs typeface="Arial MT"/>
              </a:rPr>
              <a:t>yang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35" dirty="0">
                <a:latin typeface="Arial MT"/>
                <a:cs typeface="Arial MT"/>
              </a:rPr>
              <a:t>berbeda-</a:t>
            </a:r>
            <a:r>
              <a:rPr sz="1600" spc="-20" dirty="0">
                <a:latin typeface="Arial MT"/>
                <a:cs typeface="Arial MT"/>
              </a:rPr>
              <a:t>beda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62519" y="761822"/>
            <a:ext cx="2684780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1F487C"/>
                </a:solidFill>
                <a:latin typeface="Calibri"/>
                <a:cs typeface="Calibri"/>
              </a:rPr>
              <a:t>Karakteristik </a:t>
            </a:r>
            <a:r>
              <a:rPr sz="2000" b="1" spc="-10" dirty="0">
                <a:solidFill>
                  <a:srgbClr val="1F487C"/>
                </a:solidFill>
                <a:latin typeface="Calibri"/>
                <a:cs typeface="Calibri"/>
              </a:rPr>
              <a:t>Kebudayaan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solidFill>
                  <a:srgbClr val="1F487C"/>
                </a:solidFill>
                <a:latin typeface="Calibri"/>
                <a:cs typeface="Calibri"/>
              </a:rPr>
              <a:t>global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751576" y="2188464"/>
            <a:ext cx="243840" cy="2910840"/>
          </a:xfrm>
          <a:custGeom>
            <a:avLst/>
            <a:gdLst/>
            <a:ahLst/>
            <a:cxnLst/>
            <a:rect l="l" t="t" r="r" b="b"/>
            <a:pathLst>
              <a:path w="243839" h="2910840">
                <a:moveTo>
                  <a:pt x="0" y="0"/>
                </a:moveTo>
                <a:lnTo>
                  <a:pt x="121793" y="0"/>
                </a:lnTo>
              </a:path>
              <a:path w="243839" h="2910840">
                <a:moveTo>
                  <a:pt x="0" y="2910840"/>
                </a:moveTo>
                <a:lnTo>
                  <a:pt x="121793" y="2910840"/>
                </a:lnTo>
              </a:path>
              <a:path w="243839" h="2910840">
                <a:moveTo>
                  <a:pt x="121920" y="0"/>
                </a:moveTo>
                <a:lnTo>
                  <a:pt x="121920" y="2910840"/>
                </a:lnTo>
              </a:path>
              <a:path w="243839" h="2910840">
                <a:moveTo>
                  <a:pt x="121920" y="1450848"/>
                </a:moveTo>
                <a:lnTo>
                  <a:pt x="243712" y="1450848"/>
                </a:lnTo>
              </a:path>
            </a:pathLst>
          </a:custGeom>
          <a:ln w="6096">
            <a:solidFill>
              <a:srgbClr val="5B9BD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829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3200" b="0" i="0" spc="-430" dirty="0">
                <a:solidFill>
                  <a:srgbClr val="171717"/>
                </a:solidFill>
                <a:latin typeface="Trebuchet MS"/>
                <a:cs typeface="Trebuchet MS"/>
              </a:rPr>
              <a:t>Urgensi</a:t>
            </a:r>
            <a:r>
              <a:rPr sz="3200" b="0" i="0" spc="-265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3200" b="0" i="0" spc="-440" dirty="0">
                <a:solidFill>
                  <a:srgbClr val="171717"/>
                </a:solidFill>
                <a:latin typeface="Trebuchet MS"/>
                <a:cs typeface="Trebuchet MS"/>
              </a:rPr>
              <a:t>Pancasila</a:t>
            </a:r>
            <a:r>
              <a:rPr sz="3200" b="0" i="0" spc="-285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3200" b="0" i="0" spc="-415" dirty="0">
                <a:solidFill>
                  <a:srgbClr val="171717"/>
                </a:solidFill>
                <a:latin typeface="Trebuchet MS"/>
                <a:cs typeface="Trebuchet MS"/>
              </a:rPr>
              <a:t>sebagai</a:t>
            </a:r>
            <a:r>
              <a:rPr sz="3200" b="0" i="0" spc="-275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3200" b="0" i="0" spc="-390" dirty="0">
                <a:solidFill>
                  <a:srgbClr val="171717"/>
                </a:solidFill>
                <a:latin typeface="Trebuchet MS"/>
                <a:cs typeface="Trebuchet MS"/>
              </a:rPr>
              <a:t>Ideologi</a:t>
            </a:r>
            <a:r>
              <a:rPr sz="3200" b="0" i="0" spc="-25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3200" b="0" i="0" spc="-484" dirty="0">
                <a:solidFill>
                  <a:srgbClr val="171717"/>
                </a:solidFill>
                <a:latin typeface="Trebuchet MS"/>
                <a:cs typeface="Trebuchet MS"/>
              </a:rPr>
              <a:t>Negara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57544"/>
            <a:ext cx="12204700" cy="606425"/>
            <a:chOff x="-6095" y="6257544"/>
            <a:chExt cx="12204700" cy="606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51631" y="6550152"/>
              <a:ext cx="1002665" cy="182880"/>
            </a:xfrm>
            <a:custGeom>
              <a:avLst/>
              <a:gdLst/>
              <a:ahLst/>
              <a:cxnLst/>
              <a:rect l="l" t="t" r="r" b="b"/>
              <a:pathLst>
                <a:path w="1002664" h="182879">
                  <a:moveTo>
                    <a:pt x="1002665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002665" y="182880"/>
                  </a:lnTo>
                  <a:lnTo>
                    <a:pt x="1002665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79" y="198120"/>
            <a:ext cx="588264" cy="633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454640" y="6547101"/>
            <a:ext cx="1737360" cy="310515"/>
          </a:xfrm>
          <a:prstGeom prst="rect">
            <a:avLst/>
          </a:prstGeom>
          <a:ln w="12573">
            <a:solidFill>
              <a:srgbClr val="FFA935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R="271780" algn="r">
              <a:lnSpc>
                <a:spcPct val="100000"/>
              </a:lnSpc>
              <a:spcBef>
                <a:spcPts val="380"/>
              </a:spcBef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5505" y="1300455"/>
            <a:ext cx="944943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7560" algn="ctr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ideologi</a:t>
            </a:r>
            <a:r>
              <a:rPr sz="1800" b="1" i="1" spc="-8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Pancasila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menghadapi</a:t>
            </a:r>
            <a:r>
              <a:rPr sz="1800" b="1" i="1" spc="-7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tantangan</a:t>
            </a:r>
            <a:r>
              <a:rPr sz="1800" b="1" i="1" spc="-5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dari</a:t>
            </a:r>
            <a:r>
              <a:rPr sz="1800" b="1" i="1" spc="-2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berbagai</a:t>
            </a:r>
            <a:r>
              <a:rPr sz="1800" b="1" i="1" spc="-8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ideologi</a:t>
            </a:r>
            <a:r>
              <a:rPr sz="1800" b="1" i="1" spc="-7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dunia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dalam</a:t>
            </a:r>
            <a:endParaRPr sz="1800" dirty="0">
              <a:latin typeface="Calibri"/>
              <a:cs typeface="Calibri"/>
            </a:endParaRPr>
          </a:p>
          <a:p>
            <a:pPr marL="2074545" algn="ctr">
              <a:lnSpc>
                <a:spcPct val="100000"/>
              </a:lnSpc>
              <a:spcBef>
                <a:spcPts val="5"/>
              </a:spcBef>
            </a:pPr>
            <a:r>
              <a:rPr sz="1800" b="1" i="1" spc="-10" dirty="0">
                <a:latin typeface="Calibri"/>
                <a:cs typeface="Calibri"/>
              </a:rPr>
              <a:t>kebudayaan</a:t>
            </a:r>
            <a:r>
              <a:rPr sz="1800" b="1" i="1" spc="-8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global.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  <a:tabLst>
                <a:tab pos="4316095" algn="l"/>
              </a:tabLst>
            </a:pPr>
            <a:r>
              <a:rPr sz="3000" b="1" spc="-60" baseline="1388" dirty="0">
                <a:solidFill>
                  <a:srgbClr val="1F487C"/>
                </a:solidFill>
                <a:latin typeface="Calibri"/>
                <a:cs typeface="Calibri"/>
              </a:rPr>
              <a:t>Tantangan</a:t>
            </a:r>
            <a:r>
              <a:rPr sz="3000" b="1" spc="-142" baseline="1388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3000" b="1" baseline="1388" dirty="0">
                <a:solidFill>
                  <a:srgbClr val="1F487C"/>
                </a:solidFill>
                <a:latin typeface="Calibri"/>
                <a:cs typeface="Calibri"/>
              </a:rPr>
              <a:t>dari</a:t>
            </a:r>
            <a:r>
              <a:rPr sz="3000" b="1" spc="-60" baseline="1388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3000" b="1" spc="-15" baseline="1388" dirty="0">
                <a:solidFill>
                  <a:srgbClr val="1F487C"/>
                </a:solidFill>
                <a:latin typeface="Calibri"/>
                <a:cs typeface="Calibri"/>
              </a:rPr>
              <a:t>ideologi</a:t>
            </a:r>
            <a:r>
              <a:rPr sz="3000" b="1" spc="-97" baseline="1388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3000" b="1" spc="-30" baseline="1388" dirty="0">
                <a:solidFill>
                  <a:srgbClr val="1F487C"/>
                </a:solidFill>
                <a:latin typeface="Calibri"/>
                <a:cs typeface="Calibri"/>
              </a:rPr>
              <a:t>lain:</a:t>
            </a:r>
            <a:r>
              <a:rPr sz="3000" b="1" baseline="1388" dirty="0">
                <a:solidFill>
                  <a:srgbClr val="1F487C"/>
                </a:solidFill>
                <a:latin typeface="Calibri"/>
                <a:cs typeface="Calibri"/>
              </a:rPr>
              <a:t>	</a:t>
            </a:r>
            <a:r>
              <a:rPr sz="2000" b="1" spc="-40" dirty="0">
                <a:solidFill>
                  <a:srgbClr val="1F487C"/>
                </a:solidFill>
                <a:latin typeface="Calibri"/>
                <a:cs typeface="Calibri"/>
              </a:rPr>
              <a:t>Tantangan</a:t>
            </a:r>
            <a:r>
              <a:rPr sz="2000" b="1" spc="-9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F487C"/>
                </a:solidFill>
                <a:latin typeface="Calibri"/>
                <a:cs typeface="Calibri"/>
              </a:rPr>
              <a:t>dari</a:t>
            </a:r>
            <a:r>
              <a:rPr sz="2000" b="1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spc="-25" dirty="0">
                <a:solidFill>
                  <a:srgbClr val="1F487C"/>
                </a:solidFill>
                <a:latin typeface="Calibri"/>
                <a:cs typeface="Calibri"/>
              </a:rPr>
              <a:t>penyimpangan</a:t>
            </a:r>
            <a:r>
              <a:rPr sz="2000" b="1" spc="-6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1F487C"/>
                </a:solidFill>
                <a:latin typeface="Calibri"/>
                <a:cs typeface="Calibri"/>
              </a:rPr>
              <a:t>Prilaku</a:t>
            </a:r>
            <a:r>
              <a:rPr sz="2000" b="1" spc="-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2000" b="1" spc="-50" dirty="0">
                <a:solidFill>
                  <a:srgbClr val="1F487C"/>
                </a:solidFill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98847" y="2795016"/>
            <a:ext cx="0" cy="2914015"/>
          </a:xfrm>
          <a:custGeom>
            <a:avLst/>
            <a:gdLst/>
            <a:ahLst/>
            <a:cxnLst/>
            <a:rect l="l" t="t" r="r" b="b"/>
            <a:pathLst>
              <a:path h="2914015">
                <a:moveTo>
                  <a:pt x="0" y="0"/>
                </a:moveTo>
                <a:lnTo>
                  <a:pt x="0" y="2913888"/>
                </a:lnTo>
              </a:path>
            </a:pathLst>
          </a:custGeom>
          <a:ln w="6096">
            <a:solidFill>
              <a:srgbClr val="5B9BD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15580" y="-8656"/>
            <a:ext cx="10515600" cy="1325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800" b="0" i="0" spc="-440" dirty="0" err="1">
                <a:solidFill>
                  <a:srgbClr val="171717"/>
                </a:solidFill>
                <a:latin typeface="Trebuchet MS"/>
                <a:cs typeface="Trebuchet MS"/>
              </a:rPr>
              <a:t>Warga</a:t>
            </a:r>
            <a:r>
              <a:rPr sz="2800" b="0" i="0" spc="-245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400" dirty="0">
                <a:solidFill>
                  <a:srgbClr val="171717"/>
                </a:solidFill>
                <a:latin typeface="Trebuchet MS"/>
                <a:cs typeface="Trebuchet MS"/>
              </a:rPr>
              <a:t>Negara</a:t>
            </a:r>
            <a:r>
              <a:rPr sz="2800" b="0" i="0" spc="-265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484" dirty="0">
                <a:solidFill>
                  <a:srgbClr val="171717"/>
                </a:solidFill>
                <a:latin typeface="Trebuchet MS"/>
                <a:cs typeface="Trebuchet MS"/>
              </a:rPr>
              <a:t>Memahami</a:t>
            </a:r>
            <a:r>
              <a:rPr sz="2800" b="0" i="0" spc="-275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459" dirty="0">
                <a:solidFill>
                  <a:srgbClr val="171717"/>
                </a:solidFill>
                <a:latin typeface="Trebuchet MS"/>
                <a:cs typeface="Trebuchet MS"/>
              </a:rPr>
              <a:t>dan</a:t>
            </a:r>
            <a:r>
              <a:rPr sz="2800" b="0" i="0" spc="-20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390" dirty="0">
                <a:solidFill>
                  <a:srgbClr val="171717"/>
                </a:solidFill>
                <a:latin typeface="Trebuchet MS"/>
                <a:cs typeface="Trebuchet MS"/>
              </a:rPr>
              <a:t>Melaksanakan </a:t>
            </a:r>
            <a:r>
              <a:rPr sz="2800" b="0" i="0" spc="-370" dirty="0">
                <a:solidFill>
                  <a:srgbClr val="171717"/>
                </a:solidFill>
                <a:latin typeface="Trebuchet MS"/>
                <a:cs typeface="Trebuchet MS"/>
              </a:rPr>
              <a:t>Pancasila</a:t>
            </a:r>
            <a:r>
              <a:rPr sz="2800" b="0" i="0" spc="-27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350" dirty="0">
                <a:solidFill>
                  <a:srgbClr val="171717"/>
                </a:solidFill>
                <a:latin typeface="Trebuchet MS"/>
                <a:cs typeface="Trebuchet MS"/>
              </a:rPr>
              <a:t>sebagai</a:t>
            </a:r>
            <a:r>
              <a:rPr sz="2800" b="0" i="0" spc="-25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330" dirty="0">
                <a:solidFill>
                  <a:srgbClr val="171717"/>
                </a:solidFill>
                <a:latin typeface="Trebuchet MS"/>
                <a:cs typeface="Trebuchet MS"/>
              </a:rPr>
              <a:t>Ideologi</a:t>
            </a:r>
            <a:r>
              <a:rPr sz="2800" b="0" i="0" spc="-27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409" dirty="0">
                <a:solidFill>
                  <a:srgbClr val="171717"/>
                </a:solidFill>
                <a:latin typeface="Trebuchet MS"/>
                <a:cs typeface="Trebuchet MS"/>
              </a:rPr>
              <a:t>Negara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56132" y="1086611"/>
            <a:ext cx="4539615" cy="0"/>
          </a:xfrm>
          <a:custGeom>
            <a:avLst/>
            <a:gdLst/>
            <a:ahLst/>
            <a:cxnLst/>
            <a:rect l="l" t="t" r="r" b="b"/>
            <a:pathLst>
              <a:path w="4539615">
                <a:moveTo>
                  <a:pt x="0" y="0"/>
                </a:moveTo>
                <a:lnTo>
                  <a:pt x="4539360" y="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4693920" y="2380488"/>
            <a:ext cx="6480175" cy="414020"/>
            <a:chOff x="4693920" y="2380488"/>
            <a:chExt cx="6480175" cy="414020"/>
          </a:xfrm>
        </p:grpSpPr>
        <p:sp>
          <p:nvSpPr>
            <p:cNvPr id="12" name="object 12"/>
            <p:cNvSpPr/>
            <p:nvPr/>
          </p:nvSpPr>
          <p:spPr>
            <a:xfrm>
              <a:off x="4693920" y="2380488"/>
              <a:ext cx="3240405" cy="414020"/>
            </a:xfrm>
            <a:custGeom>
              <a:avLst/>
              <a:gdLst/>
              <a:ahLst/>
              <a:cxnLst/>
              <a:rect l="l" t="t" r="r" b="b"/>
              <a:pathLst>
                <a:path w="3240404" h="414019">
                  <a:moveTo>
                    <a:pt x="3117723" y="0"/>
                  </a:moveTo>
                  <a:lnTo>
                    <a:pt x="0" y="0"/>
                  </a:lnTo>
                  <a:lnTo>
                    <a:pt x="122300" y="207010"/>
                  </a:lnTo>
                  <a:lnTo>
                    <a:pt x="0" y="414020"/>
                  </a:lnTo>
                  <a:lnTo>
                    <a:pt x="3117723" y="414020"/>
                  </a:lnTo>
                  <a:lnTo>
                    <a:pt x="3240024" y="207010"/>
                  </a:lnTo>
                  <a:lnTo>
                    <a:pt x="3117723" y="0"/>
                  </a:lnTo>
                  <a:close/>
                </a:path>
              </a:pathLst>
            </a:custGeom>
            <a:solidFill>
              <a:srgbClr val="F8C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933944" y="2380488"/>
              <a:ext cx="3240405" cy="414020"/>
            </a:xfrm>
            <a:custGeom>
              <a:avLst/>
              <a:gdLst/>
              <a:ahLst/>
              <a:cxnLst/>
              <a:rect l="l" t="t" r="r" b="b"/>
              <a:pathLst>
                <a:path w="3240404" h="414019">
                  <a:moveTo>
                    <a:pt x="3117723" y="0"/>
                  </a:moveTo>
                  <a:lnTo>
                    <a:pt x="0" y="0"/>
                  </a:lnTo>
                  <a:lnTo>
                    <a:pt x="122300" y="207010"/>
                  </a:lnTo>
                  <a:lnTo>
                    <a:pt x="0" y="414020"/>
                  </a:lnTo>
                  <a:lnTo>
                    <a:pt x="3117723" y="414020"/>
                  </a:lnTo>
                  <a:lnTo>
                    <a:pt x="3240024" y="207010"/>
                  </a:lnTo>
                  <a:lnTo>
                    <a:pt x="3117723" y="0"/>
                  </a:lnTo>
                  <a:close/>
                </a:path>
              </a:pathLst>
            </a:custGeom>
            <a:solidFill>
              <a:srgbClr val="C5D9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66308" y="2398267"/>
            <a:ext cx="1414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Aksi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Terorisme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298560" y="2417521"/>
            <a:ext cx="24542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Penyalahgunaan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Narkoba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59248" y="2921254"/>
            <a:ext cx="2859405" cy="20027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397510" indent="-18288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194945" algn="l"/>
              </a:tabLst>
            </a:pPr>
            <a:r>
              <a:rPr sz="1600" spc="-95" dirty="0">
                <a:latin typeface="Arial MT"/>
                <a:cs typeface="Arial MT"/>
              </a:rPr>
              <a:t>Phobia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terorisme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45" dirty="0">
                <a:latin typeface="Arial MT"/>
                <a:cs typeface="Arial MT"/>
              </a:rPr>
              <a:t>menancam </a:t>
            </a:r>
            <a:r>
              <a:rPr sz="1600" spc="-114" dirty="0">
                <a:latin typeface="Arial MT"/>
                <a:cs typeface="Arial MT"/>
              </a:rPr>
              <a:t>keamanan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negara</a:t>
            </a:r>
            <a:endParaRPr sz="1600">
              <a:latin typeface="Arial MT"/>
              <a:cs typeface="Arial MT"/>
            </a:endParaRPr>
          </a:p>
          <a:p>
            <a:pPr marL="222250" indent="-20955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22250" algn="l"/>
              </a:tabLst>
            </a:pPr>
            <a:r>
              <a:rPr sz="1600" spc="-130" dirty="0">
                <a:latin typeface="Arial MT"/>
                <a:cs typeface="Arial MT"/>
              </a:rPr>
              <a:t>Aksi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-145" dirty="0">
                <a:latin typeface="Arial MT"/>
                <a:cs typeface="Arial MT"/>
              </a:rPr>
              <a:t>Terorisme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45" dirty="0">
                <a:latin typeface="Arial MT"/>
                <a:cs typeface="Arial MT"/>
              </a:rPr>
              <a:t>mengancam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70" dirty="0">
                <a:latin typeface="Arial MT"/>
                <a:cs typeface="Arial MT"/>
              </a:rPr>
              <a:t>NKRI</a:t>
            </a:r>
            <a:endParaRPr sz="1600">
              <a:latin typeface="Arial MT"/>
              <a:cs typeface="Arial MT"/>
            </a:endParaRPr>
          </a:p>
          <a:p>
            <a:pPr marL="194945">
              <a:lnSpc>
                <a:spcPct val="100000"/>
              </a:lnSpc>
            </a:pPr>
            <a:r>
              <a:rPr sz="1600" spc="-50" dirty="0">
                <a:latin typeface="Arial MT"/>
                <a:cs typeface="Arial MT"/>
              </a:rPr>
              <a:t>dan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75" dirty="0">
                <a:latin typeface="Arial MT"/>
                <a:cs typeface="Arial MT"/>
              </a:rPr>
              <a:t>memicu</a:t>
            </a:r>
            <a:r>
              <a:rPr sz="1600" spc="-90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disentegrasi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35" dirty="0">
                <a:latin typeface="Arial MT"/>
                <a:cs typeface="Arial MT"/>
              </a:rPr>
              <a:t>bangsa</a:t>
            </a:r>
            <a:endParaRPr sz="1600">
              <a:latin typeface="Arial MT"/>
              <a:cs typeface="Arial MT"/>
            </a:endParaRPr>
          </a:p>
          <a:p>
            <a:pPr marL="194945" marR="5080" indent="-182880">
              <a:lnSpc>
                <a:spcPct val="100000"/>
              </a:lnSpc>
              <a:spcBef>
                <a:spcPts val="95"/>
              </a:spcBef>
              <a:buAutoNum type="arabicPeriod" startAt="3"/>
              <a:tabLst>
                <a:tab pos="194945" algn="l"/>
                <a:tab pos="221615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spc="-90" dirty="0">
                <a:latin typeface="Arial MT"/>
                <a:cs typeface="Arial MT"/>
              </a:rPr>
              <a:t>Menyebabkan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14" dirty="0">
                <a:latin typeface="Arial MT"/>
                <a:cs typeface="Arial MT"/>
              </a:rPr>
              <a:t>Investor</a:t>
            </a:r>
            <a:r>
              <a:rPr sz="1600" spc="-20" dirty="0">
                <a:latin typeface="Arial MT"/>
                <a:cs typeface="Arial MT"/>
              </a:rPr>
              <a:t> asing </a:t>
            </a:r>
            <a:r>
              <a:rPr sz="1600" spc="-95" dirty="0">
                <a:latin typeface="Arial MT"/>
                <a:cs typeface="Arial MT"/>
              </a:rPr>
              <a:t>enggan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40" dirty="0">
                <a:latin typeface="Arial MT"/>
                <a:cs typeface="Arial MT"/>
              </a:rPr>
              <a:t>menanamkan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modal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40" dirty="0">
                <a:latin typeface="Arial MT"/>
                <a:cs typeface="Arial MT"/>
              </a:rPr>
              <a:t>dan </a:t>
            </a:r>
            <a:r>
              <a:rPr sz="1600" spc="-125" dirty="0">
                <a:latin typeface="Arial MT"/>
                <a:cs typeface="Arial MT"/>
              </a:rPr>
              <a:t>penurunan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45" dirty="0">
                <a:latin typeface="Arial MT"/>
                <a:cs typeface="Arial MT"/>
              </a:rPr>
              <a:t>terhadap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pariwisata asing.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15478" y="2921254"/>
            <a:ext cx="2960370" cy="273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194945" algn="l"/>
              </a:tabLst>
            </a:pPr>
            <a:r>
              <a:rPr sz="1600" spc="-120" dirty="0">
                <a:latin typeface="Arial MT"/>
                <a:cs typeface="Arial MT"/>
              </a:rPr>
              <a:t>Penyalahgunaan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narkoba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terus </a:t>
            </a:r>
            <a:r>
              <a:rPr sz="1600" spc="-140" dirty="0">
                <a:latin typeface="Arial MT"/>
                <a:cs typeface="Arial MT"/>
              </a:rPr>
              <a:t>merusak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45" dirty="0">
                <a:latin typeface="Arial MT"/>
                <a:cs typeface="Arial MT"/>
              </a:rPr>
              <a:t>masa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5" dirty="0">
                <a:latin typeface="Arial MT"/>
                <a:cs typeface="Arial MT"/>
              </a:rPr>
              <a:t>depan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bangsa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5" dirty="0">
                <a:latin typeface="Arial MT"/>
                <a:cs typeface="Arial MT"/>
              </a:rPr>
              <a:t>dan </a:t>
            </a:r>
            <a:r>
              <a:rPr sz="1600" spc="-70" dirty="0">
                <a:latin typeface="Arial MT"/>
                <a:cs typeface="Arial MT"/>
              </a:rPr>
              <a:t>berimplikasi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terhadap </a:t>
            </a:r>
            <a:r>
              <a:rPr sz="1600" spc="-114" dirty="0">
                <a:latin typeface="Arial MT"/>
                <a:cs typeface="Arial MT"/>
              </a:rPr>
              <a:t>kelangsungan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hidup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bernegara</a:t>
            </a:r>
            <a:endParaRPr sz="1600">
              <a:latin typeface="Arial MT"/>
              <a:cs typeface="Arial MT"/>
            </a:endParaRPr>
          </a:p>
          <a:p>
            <a:pPr marL="194945" marR="169545" indent="-18288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94945" algn="l"/>
                <a:tab pos="221615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spc="-85" dirty="0">
                <a:latin typeface="Arial MT"/>
                <a:cs typeface="Arial MT"/>
              </a:rPr>
              <a:t>Perdagangan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65" dirty="0">
                <a:latin typeface="Arial MT"/>
                <a:cs typeface="Arial MT"/>
              </a:rPr>
              <a:t>narkoba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20" dirty="0">
                <a:latin typeface="Arial MT"/>
                <a:cs typeface="Arial MT"/>
              </a:rPr>
              <a:t>merusak </a:t>
            </a:r>
            <a:r>
              <a:rPr sz="1600" spc="-80" dirty="0">
                <a:latin typeface="Arial MT"/>
                <a:cs typeface="Arial MT"/>
              </a:rPr>
              <a:t>reputasi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bangsa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indonesia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spc="-35" dirty="0">
                <a:latin typeface="Arial MT"/>
                <a:cs typeface="Arial MT"/>
              </a:rPr>
              <a:t>yang </a:t>
            </a:r>
            <a:r>
              <a:rPr sz="1600" spc="-135" dirty="0">
                <a:latin typeface="Arial MT"/>
                <a:cs typeface="Arial MT"/>
              </a:rPr>
              <a:t>menjunjung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tinggi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40" dirty="0">
                <a:latin typeface="Arial MT"/>
                <a:cs typeface="Arial MT"/>
              </a:rPr>
              <a:t>nilai-</a:t>
            </a:r>
            <a:r>
              <a:rPr sz="1600" spc="-20" dirty="0">
                <a:latin typeface="Arial MT"/>
                <a:cs typeface="Arial MT"/>
              </a:rPr>
              <a:t>nilai </a:t>
            </a:r>
            <a:r>
              <a:rPr sz="1600" spc="-10" dirty="0">
                <a:latin typeface="Arial MT"/>
                <a:cs typeface="Arial MT"/>
              </a:rPr>
              <a:t>Pancasila</a:t>
            </a:r>
            <a:endParaRPr sz="1600">
              <a:latin typeface="Arial MT"/>
              <a:cs typeface="Arial MT"/>
            </a:endParaRPr>
          </a:p>
          <a:p>
            <a:pPr marL="194945" marR="29845" indent="-18288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94945" algn="l"/>
                <a:tab pos="220979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spc="-95" dirty="0">
                <a:latin typeface="Arial MT"/>
                <a:cs typeface="Arial MT"/>
              </a:rPr>
              <a:t>Perdagangan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tersebut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merugikan </a:t>
            </a:r>
            <a:r>
              <a:rPr sz="1600" spc="-155" dirty="0">
                <a:latin typeface="Arial MT"/>
                <a:cs typeface="Arial MT"/>
              </a:rPr>
              <a:t>sistem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perekonomian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karena </a:t>
            </a:r>
            <a:r>
              <a:rPr sz="1600" spc="-75" dirty="0">
                <a:latin typeface="Arial MT"/>
                <a:cs typeface="Arial MT"/>
              </a:rPr>
              <a:t>bertentangan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dengan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UU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5505" y="2890774"/>
            <a:ext cx="3512185" cy="2491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5580" marR="391160" indent="-18351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195580" algn="l"/>
              </a:tabLst>
            </a:pPr>
            <a:r>
              <a:rPr sz="1600" spc="-185" dirty="0">
                <a:latin typeface="Arial MT"/>
                <a:cs typeface="Arial MT"/>
              </a:rPr>
              <a:t>Unsur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ateisme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70" dirty="0">
                <a:latin typeface="Arial MT"/>
                <a:cs typeface="Arial MT"/>
              </a:rPr>
              <a:t>yang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terdapat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40" dirty="0">
                <a:latin typeface="Arial MT"/>
                <a:cs typeface="Arial MT"/>
              </a:rPr>
              <a:t>dalam ideologi</a:t>
            </a:r>
            <a:r>
              <a:rPr sz="1600" spc="-80" dirty="0">
                <a:latin typeface="Arial MT"/>
                <a:cs typeface="Arial MT"/>
              </a:rPr>
              <a:t> </a:t>
            </a:r>
            <a:r>
              <a:rPr sz="1600" spc="-100" dirty="0">
                <a:latin typeface="Arial MT"/>
                <a:cs typeface="Arial MT"/>
              </a:rPr>
              <a:t>Marxisme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atau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komunisme </a:t>
            </a:r>
            <a:r>
              <a:rPr sz="1600" spc="-75" dirty="0">
                <a:latin typeface="Arial MT"/>
                <a:cs typeface="Arial MT"/>
              </a:rPr>
              <a:t>bertentangan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dengan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sila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55" dirty="0">
                <a:latin typeface="Arial MT"/>
                <a:cs typeface="Arial MT"/>
              </a:rPr>
              <a:t>Ke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 marL="195580" marR="92075" indent="-1835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95580" algn="l"/>
                <a:tab pos="220979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spc="-180" dirty="0">
                <a:latin typeface="Arial MT"/>
                <a:cs typeface="Arial MT"/>
              </a:rPr>
              <a:t>Unsur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90" dirty="0">
                <a:latin typeface="Arial MT"/>
                <a:cs typeface="Arial MT"/>
              </a:rPr>
              <a:t>individualisme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60" dirty="0">
                <a:latin typeface="Arial MT"/>
                <a:cs typeface="Arial MT"/>
              </a:rPr>
              <a:t>dalam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liberalisme </a:t>
            </a:r>
            <a:r>
              <a:rPr sz="1600" spc="-20" dirty="0">
                <a:latin typeface="Arial MT"/>
                <a:cs typeface="Arial MT"/>
              </a:rPr>
              <a:t>tidak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45" dirty="0">
                <a:latin typeface="Arial MT"/>
                <a:cs typeface="Arial MT"/>
              </a:rPr>
              <a:t>sesuai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85" dirty="0">
                <a:latin typeface="Arial MT"/>
                <a:cs typeface="Arial MT"/>
              </a:rPr>
              <a:t>dengan</a:t>
            </a:r>
            <a:r>
              <a:rPr sz="1600" spc="-75" dirty="0">
                <a:latin typeface="Arial MT"/>
                <a:cs typeface="Arial MT"/>
              </a:rPr>
              <a:t> </a:t>
            </a:r>
            <a:r>
              <a:rPr sz="1600" spc="-70" dirty="0">
                <a:latin typeface="Arial MT"/>
                <a:cs typeface="Arial MT"/>
              </a:rPr>
              <a:t>prinsip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35" dirty="0">
                <a:latin typeface="Arial MT"/>
                <a:cs typeface="Arial MT"/>
              </a:rPr>
              <a:t>nilai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50" dirty="0">
                <a:latin typeface="Arial MT"/>
                <a:cs typeface="Arial MT"/>
              </a:rPr>
              <a:t>gotong </a:t>
            </a:r>
            <a:r>
              <a:rPr sz="1600" spc="-10" dirty="0">
                <a:latin typeface="Arial MT"/>
                <a:cs typeface="Arial MT"/>
              </a:rPr>
              <a:t>royong</a:t>
            </a:r>
            <a:endParaRPr sz="1600">
              <a:latin typeface="Arial MT"/>
              <a:cs typeface="Arial MT"/>
            </a:endParaRPr>
          </a:p>
          <a:p>
            <a:pPr marL="195580" marR="5080" indent="-1835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95580" algn="l"/>
                <a:tab pos="221615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spc="-85" dirty="0">
                <a:latin typeface="Arial MT"/>
                <a:cs typeface="Arial MT"/>
              </a:rPr>
              <a:t>Kapitalisme</a:t>
            </a:r>
            <a:r>
              <a:rPr sz="1600" spc="-70" dirty="0">
                <a:latin typeface="Arial MT"/>
                <a:cs typeface="Arial MT"/>
              </a:rPr>
              <a:t> yang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memberikan </a:t>
            </a:r>
            <a:r>
              <a:rPr sz="1600" spc="-100" dirty="0">
                <a:latin typeface="Arial MT"/>
                <a:cs typeface="Arial MT"/>
              </a:rPr>
              <a:t>kebebasan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65" dirty="0">
                <a:latin typeface="Arial MT"/>
                <a:cs typeface="Arial MT"/>
              </a:rPr>
              <a:t>individu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50" dirty="0">
                <a:latin typeface="Arial MT"/>
                <a:cs typeface="Arial MT"/>
              </a:rPr>
              <a:t>untuk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menguasai </a:t>
            </a:r>
            <a:r>
              <a:rPr sz="1600" spc="-155" dirty="0">
                <a:latin typeface="Arial MT"/>
                <a:cs typeface="Arial MT"/>
              </a:rPr>
              <a:t>sistem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perekonomian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spc="-65" dirty="0">
                <a:latin typeface="Arial MT"/>
                <a:cs typeface="Arial MT"/>
              </a:rPr>
              <a:t>negara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tidak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20" dirty="0">
                <a:latin typeface="Arial MT"/>
                <a:cs typeface="Arial MT"/>
              </a:rPr>
              <a:t>sesuai </a:t>
            </a:r>
            <a:r>
              <a:rPr sz="1600" spc="-85" dirty="0">
                <a:latin typeface="Arial MT"/>
                <a:cs typeface="Arial MT"/>
              </a:rPr>
              <a:t>dengan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75" dirty="0">
                <a:latin typeface="Arial MT"/>
                <a:cs typeface="Arial MT"/>
              </a:rPr>
              <a:t>prinsip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25" dirty="0">
                <a:latin typeface="Arial MT"/>
                <a:cs typeface="Arial MT"/>
              </a:rPr>
              <a:t>ekonomi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kerakyatan.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095" y="6257544"/>
            <a:ext cx="12204700" cy="606425"/>
            <a:chOff x="-6095" y="6257544"/>
            <a:chExt cx="12204700" cy="606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57544"/>
              <a:ext cx="3532632" cy="48158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51631" y="6550152"/>
              <a:ext cx="1002665" cy="182880"/>
            </a:xfrm>
            <a:custGeom>
              <a:avLst/>
              <a:gdLst/>
              <a:ahLst/>
              <a:cxnLst/>
              <a:rect l="l" t="t" r="r" b="b"/>
              <a:pathLst>
                <a:path w="1002664" h="182879">
                  <a:moveTo>
                    <a:pt x="1002665" y="0"/>
                  </a:moveTo>
                  <a:lnTo>
                    <a:pt x="0" y="0"/>
                  </a:lnTo>
                  <a:lnTo>
                    <a:pt x="0" y="182880"/>
                  </a:lnTo>
                  <a:lnTo>
                    <a:pt x="1002665" y="182880"/>
                  </a:lnTo>
                  <a:lnTo>
                    <a:pt x="1002665" y="0"/>
                  </a:lnTo>
                  <a:close/>
                </a:path>
              </a:pathLst>
            </a:custGeom>
            <a:solidFill>
              <a:srgbClr val="F8A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279" y="198120"/>
            <a:ext cx="588264" cy="6339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454640" y="6547101"/>
            <a:ext cx="1737360" cy="310515"/>
          </a:xfrm>
          <a:prstGeom prst="rect">
            <a:avLst/>
          </a:prstGeom>
          <a:ln w="12573">
            <a:solidFill>
              <a:srgbClr val="FFA935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R="271780" algn="r">
              <a:lnSpc>
                <a:spcPct val="100000"/>
              </a:lnSpc>
              <a:spcBef>
                <a:spcPts val="380"/>
              </a:spcBef>
            </a:pPr>
            <a:r>
              <a:rPr sz="1600" b="1" spc="-25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07669" y="105312"/>
            <a:ext cx="10515600" cy="1325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800" b="0" i="0" spc="-380" dirty="0">
                <a:solidFill>
                  <a:srgbClr val="171717"/>
                </a:solidFill>
                <a:latin typeface="Trebuchet MS"/>
                <a:cs typeface="Trebuchet MS"/>
              </a:rPr>
              <a:t>Penyelenggara</a:t>
            </a:r>
            <a:r>
              <a:rPr sz="2800" b="0" i="0" spc="-254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400" dirty="0">
                <a:solidFill>
                  <a:srgbClr val="171717"/>
                </a:solidFill>
                <a:latin typeface="Trebuchet MS"/>
                <a:cs typeface="Trebuchet MS"/>
              </a:rPr>
              <a:t>Negara</a:t>
            </a:r>
            <a:r>
              <a:rPr sz="2800" b="0" i="0" spc="-27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484" dirty="0">
                <a:solidFill>
                  <a:srgbClr val="171717"/>
                </a:solidFill>
                <a:latin typeface="Trebuchet MS"/>
                <a:cs typeface="Trebuchet MS"/>
              </a:rPr>
              <a:t>Memahami</a:t>
            </a:r>
            <a:r>
              <a:rPr sz="2800" b="0" i="0" spc="-26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484" dirty="0">
                <a:solidFill>
                  <a:srgbClr val="171717"/>
                </a:solidFill>
                <a:latin typeface="Trebuchet MS"/>
                <a:cs typeface="Trebuchet MS"/>
              </a:rPr>
              <a:t>dan </a:t>
            </a:r>
            <a:r>
              <a:rPr sz="2800" b="0" i="0" spc="-380" dirty="0">
                <a:solidFill>
                  <a:srgbClr val="171717"/>
                </a:solidFill>
                <a:latin typeface="Trebuchet MS"/>
                <a:cs typeface="Trebuchet MS"/>
              </a:rPr>
              <a:t>Melaksanakan</a:t>
            </a:r>
            <a:r>
              <a:rPr sz="2800" b="0" i="0" spc="-254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375" dirty="0">
                <a:solidFill>
                  <a:srgbClr val="171717"/>
                </a:solidFill>
                <a:latin typeface="Trebuchet MS"/>
                <a:cs typeface="Trebuchet MS"/>
              </a:rPr>
              <a:t>Pancasila</a:t>
            </a:r>
            <a:r>
              <a:rPr sz="2800" b="0" i="0" spc="-225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355" dirty="0">
                <a:solidFill>
                  <a:srgbClr val="171717"/>
                </a:solidFill>
                <a:latin typeface="Trebuchet MS"/>
                <a:cs typeface="Trebuchet MS"/>
              </a:rPr>
              <a:t>sebagai</a:t>
            </a:r>
            <a:r>
              <a:rPr sz="2800" b="0" i="0" spc="-15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330" dirty="0">
                <a:solidFill>
                  <a:srgbClr val="171717"/>
                </a:solidFill>
                <a:latin typeface="Trebuchet MS"/>
                <a:cs typeface="Trebuchet MS"/>
              </a:rPr>
              <a:t>Ideologi</a:t>
            </a:r>
            <a:r>
              <a:rPr sz="2800" b="0" i="0" spc="-229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2800" b="0" i="0" spc="-409" dirty="0">
                <a:solidFill>
                  <a:srgbClr val="171717"/>
                </a:solidFill>
                <a:latin typeface="Trebuchet MS"/>
                <a:cs typeface="Trebuchet MS"/>
              </a:rPr>
              <a:t>Negara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56132" y="1086611"/>
            <a:ext cx="4539615" cy="0"/>
          </a:xfrm>
          <a:custGeom>
            <a:avLst/>
            <a:gdLst/>
            <a:ahLst/>
            <a:cxnLst/>
            <a:rect l="l" t="t" r="r" b="b"/>
            <a:pathLst>
              <a:path w="4539615">
                <a:moveTo>
                  <a:pt x="0" y="0"/>
                </a:moveTo>
                <a:lnTo>
                  <a:pt x="4539360" y="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183103" y="2383282"/>
            <a:ext cx="11299190" cy="1263015"/>
            <a:chOff x="183103" y="2383282"/>
            <a:chExt cx="11299190" cy="1263015"/>
          </a:xfrm>
        </p:grpSpPr>
        <p:sp>
          <p:nvSpPr>
            <p:cNvPr id="10" name="object 10"/>
            <p:cNvSpPr/>
            <p:nvPr/>
          </p:nvSpPr>
          <p:spPr>
            <a:xfrm>
              <a:off x="548639" y="2389632"/>
              <a:ext cx="5511165" cy="417195"/>
            </a:xfrm>
            <a:custGeom>
              <a:avLst/>
              <a:gdLst/>
              <a:ahLst/>
              <a:cxnLst/>
              <a:rect l="l" t="t" r="r" b="b"/>
              <a:pathLst>
                <a:path w="5511165" h="417194">
                  <a:moveTo>
                    <a:pt x="5302758" y="0"/>
                  </a:moveTo>
                  <a:lnTo>
                    <a:pt x="0" y="0"/>
                  </a:lnTo>
                  <a:lnTo>
                    <a:pt x="208089" y="208533"/>
                  </a:lnTo>
                  <a:lnTo>
                    <a:pt x="0" y="417067"/>
                  </a:lnTo>
                  <a:lnTo>
                    <a:pt x="5302758" y="417067"/>
                  </a:lnTo>
                  <a:lnTo>
                    <a:pt x="5510784" y="208533"/>
                  </a:lnTo>
                  <a:lnTo>
                    <a:pt x="5302758" y="0"/>
                  </a:lnTo>
                  <a:close/>
                </a:path>
              </a:pathLst>
            </a:custGeom>
            <a:solidFill>
              <a:srgbClr val="F8C9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80175" y="2389632"/>
              <a:ext cx="5495290" cy="417195"/>
            </a:xfrm>
            <a:custGeom>
              <a:avLst/>
              <a:gdLst/>
              <a:ahLst/>
              <a:cxnLst/>
              <a:rect l="l" t="t" r="r" b="b"/>
              <a:pathLst>
                <a:path w="5495290" h="417194">
                  <a:moveTo>
                    <a:pt x="5287137" y="0"/>
                  </a:moveTo>
                  <a:lnTo>
                    <a:pt x="0" y="0"/>
                  </a:lnTo>
                  <a:lnTo>
                    <a:pt x="208025" y="208533"/>
                  </a:lnTo>
                  <a:lnTo>
                    <a:pt x="0" y="417067"/>
                  </a:lnTo>
                  <a:lnTo>
                    <a:pt x="5287137" y="417067"/>
                  </a:lnTo>
                  <a:lnTo>
                    <a:pt x="5495163" y="208533"/>
                  </a:lnTo>
                  <a:lnTo>
                    <a:pt x="5287137" y="0"/>
                  </a:lnTo>
                  <a:close/>
                </a:path>
              </a:pathLst>
            </a:custGeom>
            <a:solidFill>
              <a:srgbClr val="BBD5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0175" y="2389632"/>
              <a:ext cx="5495290" cy="417195"/>
            </a:xfrm>
            <a:custGeom>
              <a:avLst/>
              <a:gdLst/>
              <a:ahLst/>
              <a:cxnLst/>
              <a:rect l="l" t="t" r="r" b="b"/>
              <a:pathLst>
                <a:path w="5495290" h="417194">
                  <a:moveTo>
                    <a:pt x="0" y="0"/>
                  </a:moveTo>
                  <a:lnTo>
                    <a:pt x="5287137" y="0"/>
                  </a:lnTo>
                  <a:lnTo>
                    <a:pt x="5495163" y="208533"/>
                  </a:lnTo>
                  <a:lnTo>
                    <a:pt x="5287137" y="417067"/>
                  </a:lnTo>
                  <a:lnTo>
                    <a:pt x="0" y="417067"/>
                  </a:lnTo>
                  <a:lnTo>
                    <a:pt x="208025" y="208533"/>
                  </a:lnTo>
                  <a:lnTo>
                    <a:pt x="0" y="0"/>
                  </a:lnTo>
                  <a:close/>
                </a:path>
              </a:pathLst>
            </a:custGeom>
            <a:ln w="12192">
              <a:solidFill>
                <a:srgbClr val="9DC3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103" y="2825496"/>
              <a:ext cx="985222" cy="820206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0455" y="3794759"/>
            <a:ext cx="795528" cy="40538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382394" y="3013075"/>
            <a:ext cx="4021454" cy="13055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7650" marR="5080" indent="-23495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47650" algn="l"/>
              </a:tabLst>
            </a:pPr>
            <a:r>
              <a:rPr sz="1400" dirty="0">
                <a:latin typeface="Verdana"/>
                <a:cs typeface="Verdana"/>
              </a:rPr>
              <a:t>Adanya</a:t>
            </a:r>
            <a:r>
              <a:rPr sz="1400" spc="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kesepakatan</a:t>
            </a:r>
            <a:r>
              <a:rPr sz="1400" spc="10" dirty="0">
                <a:latin typeface="Verdana"/>
                <a:cs typeface="Verdana"/>
              </a:rPr>
              <a:t> </a:t>
            </a:r>
            <a:r>
              <a:rPr sz="1400" spc="-85" dirty="0">
                <a:latin typeface="Verdana"/>
                <a:cs typeface="Verdana"/>
              </a:rPr>
              <a:t>untuk</a:t>
            </a:r>
            <a:r>
              <a:rPr sz="1400" spc="95" dirty="0">
                <a:latin typeface="Verdana"/>
                <a:cs typeface="Verdana"/>
              </a:rPr>
              <a:t> </a:t>
            </a:r>
            <a:r>
              <a:rPr sz="1400" spc="-40" dirty="0">
                <a:latin typeface="Verdana"/>
                <a:cs typeface="Verdana"/>
              </a:rPr>
              <a:t>bersama-</a:t>
            </a:r>
            <a:r>
              <a:rPr sz="1400" spc="-20" dirty="0">
                <a:latin typeface="Verdana"/>
                <a:cs typeface="Verdana"/>
              </a:rPr>
              <a:t>sama </a:t>
            </a:r>
            <a:r>
              <a:rPr sz="1400" dirty="0">
                <a:latin typeface="Verdana"/>
                <a:cs typeface="Verdana"/>
              </a:rPr>
              <a:t>membangun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negara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55" dirty="0">
                <a:latin typeface="Verdana"/>
                <a:cs typeface="Verdana"/>
              </a:rPr>
              <a:t>Indonesia,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tanpa </a:t>
            </a:r>
            <a:r>
              <a:rPr sz="1400" spc="-95" dirty="0">
                <a:latin typeface="Verdana"/>
                <a:cs typeface="Verdana"/>
              </a:rPr>
              <a:t>diskriminasi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sehingga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ideologi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Pancasila </a:t>
            </a:r>
            <a:r>
              <a:rPr sz="1400" spc="-25" dirty="0">
                <a:latin typeface="Verdana"/>
                <a:cs typeface="Verdana"/>
              </a:rPr>
              <a:t>menutup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60" dirty="0">
                <a:latin typeface="Verdana"/>
                <a:cs typeface="Verdana"/>
              </a:rPr>
              <a:t>pintu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85" dirty="0">
                <a:latin typeface="Verdana"/>
                <a:cs typeface="Verdana"/>
              </a:rPr>
              <a:t>untuk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-30" dirty="0">
                <a:latin typeface="Verdana"/>
                <a:cs typeface="Verdana"/>
              </a:rPr>
              <a:t>semua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ideologi </a:t>
            </a:r>
            <a:r>
              <a:rPr sz="1400" spc="-110" dirty="0">
                <a:latin typeface="Verdana"/>
                <a:cs typeface="Verdana"/>
              </a:rPr>
              <a:t>eksklusif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yang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mau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menyeragamkan </a:t>
            </a:r>
            <a:r>
              <a:rPr sz="1400" spc="-30" dirty="0">
                <a:latin typeface="Verdana"/>
                <a:cs typeface="Verdana"/>
              </a:rPr>
              <a:t>masyarakat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spc="-65" dirty="0">
                <a:latin typeface="Verdana"/>
                <a:cs typeface="Verdana"/>
              </a:rPr>
              <a:t>menurut</a:t>
            </a:r>
            <a:r>
              <a:rPr sz="1400" spc="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gagasannya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sendiri.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3544" y="2404872"/>
            <a:ext cx="460375" cy="36893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98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35"/>
              </a:spcBef>
            </a:pP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59423" y="5608320"/>
            <a:ext cx="621792" cy="51816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59423" y="4898135"/>
            <a:ext cx="621792" cy="51815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59423" y="3800855"/>
            <a:ext cx="621792" cy="103022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59423" y="3102864"/>
            <a:ext cx="621792" cy="52730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839204" y="3098114"/>
            <a:ext cx="4584065" cy="12236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0190" indent="-237490">
              <a:lnSpc>
                <a:spcPts val="1735"/>
              </a:lnSpc>
              <a:spcBef>
                <a:spcPts val="90"/>
              </a:spcBef>
              <a:buFont typeface="Arial MT"/>
              <a:buChar char="•"/>
              <a:tabLst>
                <a:tab pos="250190" algn="l"/>
              </a:tabLst>
            </a:pPr>
            <a:r>
              <a:rPr sz="1450" dirty="0">
                <a:latin typeface="Calibri"/>
                <a:cs typeface="Calibri"/>
              </a:rPr>
              <a:t>Jaminan</a:t>
            </a:r>
            <a:r>
              <a:rPr sz="1450" spc="-10" dirty="0">
                <a:latin typeface="Calibri"/>
                <a:cs typeface="Calibri"/>
              </a:rPr>
              <a:t> kebebasan</a:t>
            </a:r>
            <a:r>
              <a:rPr sz="1450" spc="1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beragama </a:t>
            </a:r>
            <a:r>
              <a:rPr sz="1450" dirty="0">
                <a:latin typeface="Calibri"/>
                <a:cs typeface="Calibri"/>
              </a:rPr>
              <a:t>dan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pluralisme</a:t>
            </a:r>
            <a:r>
              <a:rPr sz="1450" spc="10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ekspresi</a:t>
            </a:r>
            <a:endParaRPr sz="1450">
              <a:latin typeface="Calibri"/>
              <a:cs typeface="Calibri"/>
            </a:endParaRPr>
          </a:p>
          <a:p>
            <a:pPr marL="250190">
              <a:lnSpc>
                <a:spcPts val="1735"/>
              </a:lnSpc>
            </a:pPr>
            <a:r>
              <a:rPr sz="1450" spc="-10" dirty="0">
                <a:latin typeface="Calibri"/>
                <a:cs typeface="Calibri"/>
              </a:rPr>
              <a:t>keagamaan</a:t>
            </a:r>
            <a:endParaRPr sz="1450">
              <a:latin typeface="Calibri"/>
              <a:cs typeface="Calibri"/>
            </a:endParaRPr>
          </a:p>
          <a:p>
            <a:pPr marL="265430" marR="5080" indent="-232410">
              <a:lnSpc>
                <a:spcPct val="100000"/>
              </a:lnSpc>
              <a:spcBef>
                <a:spcPts val="930"/>
              </a:spcBef>
              <a:buFont typeface="Arial MT"/>
              <a:buChar char="•"/>
              <a:tabLst>
                <a:tab pos="265430" algn="l"/>
              </a:tabLst>
            </a:pPr>
            <a:r>
              <a:rPr sz="1400" dirty="0">
                <a:latin typeface="Calibri"/>
                <a:cs typeface="Calibri"/>
              </a:rPr>
              <a:t>jaminan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pelaksanaan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sebagai</a:t>
            </a:r>
            <a:r>
              <a:rPr sz="1400" spc="2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tolok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ukur</a:t>
            </a:r>
            <a:r>
              <a:rPr sz="1400" spc="-10" dirty="0">
                <a:latin typeface="Calibri"/>
                <a:cs typeface="Calibri"/>
              </a:rPr>
              <a:t> keberadaban </a:t>
            </a:r>
            <a:r>
              <a:rPr sz="1400" dirty="0">
                <a:latin typeface="Calibri"/>
                <a:cs typeface="Calibri"/>
              </a:rPr>
              <a:t>serta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solidaritas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suatu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bangsa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terhadap setiap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warga</a:t>
            </a:r>
            <a:r>
              <a:rPr sz="1400" spc="5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negara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47570" y="1240027"/>
            <a:ext cx="8490585" cy="1483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3990" marR="5080" indent="2540" algn="ctr">
              <a:lnSpc>
                <a:spcPct val="100000"/>
              </a:lnSpc>
              <a:spcBef>
                <a:spcPts val="105"/>
              </a:spcBef>
            </a:pPr>
            <a:r>
              <a:rPr sz="1600" b="1" i="1" spc="-10" dirty="0">
                <a:latin typeface="Calibri"/>
                <a:cs typeface="Calibri"/>
              </a:rPr>
              <a:t>“Penyelenggara</a:t>
            </a:r>
            <a:r>
              <a:rPr sz="1600" b="1" i="1" spc="-8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negara</a:t>
            </a:r>
            <a:r>
              <a:rPr sz="1600" b="1" i="1" spc="-6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merupakan</a:t>
            </a:r>
            <a:r>
              <a:rPr sz="1600" b="1" i="1" spc="-6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kunci</a:t>
            </a:r>
            <a:r>
              <a:rPr sz="1600" b="1" i="1" spc="-7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penting</a:t>
            </a:r>
            <a:r>
              <a:rPr sz="1600" b="1" i="1" spc="-4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bagi</a:t>
            </a:r>
            <a:r>
              <a:rPr sz="1600" b="1" i="1" spc="-2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sistem</a:t>
            </a:r>
            <a:r>
              <a:rPr sz="1600" b="1" i="1" spc="-5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pemerintahan</a:t>
            </a:r>
            <a:r>
              <a:rPr sz="1600" b="1" i="1" spc="-6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yang</a:t>
            </a:r>
            <a:r>
              <a:rPr sz="1600" b="1" i="1" spc="-6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bersih</a:t>
            </a:r>
            <a:r>
              <a:rPr sz="1600" b="1" i="1" spc="-65" dirty="0">
                <a:latin typeface="Calibri"/>
                <a:cs typeface="Calibri"/>
              </a:rPr>
              <a:t> </a:t>
            </a:r>
            <a:r>
              <a:rPr sz="1600" b="1" i="1" spc="-25" dirty="0">
                <a:latin typeface="Calibri"/>
                <a:cs typeface="Calibri"/>
              </a:rPr>
              <a:t>dan </a:t>
            </a:r>
            <a:r>
              <a:rPr sz="1600" b="1" i="1" spc="-10" dirty="0">
                <a:latin typeface="Calibri"/>
                <a:cs typeface="Calibri"/>
              </a:rPr>
              <a:t>berwibawa</a:t>
            </a:r>
            <a:r>
              <a:rPr sz="1600" b="1" i="1" spc="-8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sehingga</a:t>
            </a:r>
            <a:r>
              <a:rPr sz="1600" b="1" i="1" spc="-5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aparatur</a:t>
            </a:r>
            <a:r>
              <a:rPr sz="1600" b="1" i="1" spc="-6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negara</a:t>
            </a:r>
            <a:r>
              <a:rPr sz="1600" b="1" i="1" spc="-7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juga</a:t>
            </a:r>
            <a:r>
              <a:rPr sz="1600" b="1" i="1" spc="-3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harus</a:t>
            </a:r>
            <a:r>
              <a:rPr sz="1600" b="1" i="1" spc="-8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memahami</a:t>
            </a:r>
            <a:r>
              <a:rPr sz="1600" b="1" i="1" spc="-7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dan</a:t>
            </a:r>
            <a:r>
              <a:rPr sz="1600" b="1" i="1" spc="-5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melaksanakan</a:t>
            </a:r>
            <a:r>
              <a:rPr sz="1600" b="1" i="1" spc="-5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Pancasila</a:t>
            </a:r>
            <a:r>
              <a:rPr sz="1600" b="1" i="1" spc="-50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sebagai </a:t>
            </a:r>
            <a:r>
              <a:rPr sz="1600" b="1" i="1" dirty="0">
                <a:latin typeface="Calibri"/>
                <a:cs typeface="Calibri"/>
              </a:rPr>
              <a:t>ideologi</a:t>
            </a:r>
            <a:r>
              <a:rPr sz="1600" b="1" i="1" spc="-5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negara</a:t>
            </a:r>
            <a:r>
              <a:rPr sz="1600" b="1" i="1" spc="-5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secara</a:t>
            </a:r>
            <a:r>
              <a:rPr sz="1600" b="1" i="1" spc="-7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konsisten”.</a:t>
            </a:r>
            <a:endParaRPr sz="1600" dirty="0">
              <a:latin typeface="Calibri"/>
              <a:cs typeface="Calibri"/>
            </a:endParaRPr>
          </a:p>
          <a:p>
            <a:pPr marL="1492250">
              <a:lnSpc>
                <a:spcPct val="100000"/>
              </a:lnSpc>
              <a:spcBef>
                <a:spcPts val="370"/>
              </a:spcBef>
            </a:pPr>
            <a:r>
              <a:rPr sz="1800" spc="-5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  <a:tabLst>
                <a:tab pos="5539740" algn="l"/>
              </a:tabLst>
            </a:pPr>
            <a:r>
              <a:rPr sz="1600" b="1" dirty="0">
                <a:latin typeface="Calibri"/>
                <a:cs typeface="Calibri"/>
              </a:rPr>
              <a:t>Menghargai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dalam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kekhasan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masing-</a:t>
            </a:r>
            <a:r>
              <a:rPr sz="1600" b="1" spc="-10" dirty="0">
                <a:latin typeface="Calibri"/>
                <a:cs typeface="Calibri"/>
              </a:rPr>
              <a:t>masing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2400" b="1" baseline="1736" dirty="0">
                <a:latin typeface="Calibri"/>
                <a:cs typeface="Calibri"/>
              </a:rPr>
              <a:t>Aktualisasi</a:t>
            </a:r>
            <a:r>
              <a:rPr sz="2400" b="1" spc="60" baseline="1736" dirty="0">
                <a:latin typeface="Calibri"/>
                <a:cs typeface="Calibri"/>
              </a:rPr>
              <a:t> </a:t>
            </a:r>
            <a:r>
              <a:rPr sz="2400" b="1" baseline="1736" dirty="0">
                <a:latin typeface="Calibri"/>
                <a:cs typeface="Calibri"/>
              </a:rPr>
              <a:t>lima</a:t>
            </a:r>
            <a:r>
              <a:rPr sz="2400" b="1" spc="37" baseline="1736" dirty="0">
                <a:latin typeface="Calibri"/>
                <a:cs typeface="Calibri"/>
              </a:rPr>
              <a:t> </a:t>
            </a:r>
            <a:r>
              <a:rPr sz="2400" b="1" baseline="1736" dirty="0">
                <a:latin typeface="Calibri"/>
                <a:cs typeface="Calibri"/>
              </a:rPr>
              <a:t>sila</a:t>
            </a:r>
            <a:r>
              <a:rPr sz="2400" b="1" spc="37" baseline="1736" dirty="0">
                <a:latin typeface="Calibri"/>
                <a:cs typeface="Calibri"/>
              </a:rPr>
              <a:t> </a:t>
            </a:r>
            <a:r>
              <a:rPr sz="2400" b="1" spc="-15" baseline="1736" dirty="0">
                <a:latin typeface="Calibri"/>
                <a:cs typeface="Calibri"/>
              </a:rPr>
              <a:t>Pancasila</a:t>
            </a:r>
            <a:endParaRPr sz="2400" baseline="1736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39204" y="4447159"/>
            <a:ext cx="4688840" cy="1804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90"/>
              </a:spcBef>
              <a:buFont typeface="Arial MT"/>
              <a:buChar char="•"/>
              <a:tabLst>
                <a:tab pos="250190" algn="l"/>
              </a:tabLst>
            </a:pPr>
            <a:r>
              <a:rPr sz="1450" dirty="0">
                <a:latin typeface="Calibri"/>
                <a:cs typeface="Calibri"/>
              </a:rPr>
              <a:t>Nasionalisme</a:t>
            </a:r>
            <a:r>
              <a:rPr sz="1450" spc="20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non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chauvinisme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75"/>
              </a:spcBef>
              <a:buFont typeface="Arial MT"/>
              <a:buChar char="•"/>
            </a:pPr>
            <a:endParaRPr sz="1450">
              <a:latin typeface="Calibri"/>
              <a:cs typeface="Calibri"/>
            </a:endParaRPr>
          </a:p>
          <a:p>
            <a:pPr marL="265430" indent="-231775">
              <a:lnSpc>
                <a:spcPct val="100000"/>
              </a:lnSpc>
              <a:buFont typeface="Arial MT"/>
              <a:buChar char="•"/>
              <a:tabLst>
                <a:tab pos="265430" algn="l"/>
              </a:tabLst>
            </a:pPr>
            <a:r>
              <a:rPr sz="1400" spc="-10" dirty="0">
                <a:latin typeface="Calibri"/>
                <a:cs typeface="Calibri"/>
              </a:rPr>
              <a:t>komitmen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terhadap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demokrasi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yang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wajib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disukseskan.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265430" marR="5080" indent="-232410">
              <a:lnSpc>
                <a:spcPct val="100000"/>
              </a:lnSpc>
              <a:buFont typeface="Arial MT"/>
              <a:buChar char="•"/>
              <a:tabLst>
                <a:tab pos="265430" algn="l"/>
              </a:tabLst>
            </a:pPr>
            <a:r>
              <a:rPr sz="1400" spc="-10" dirty="0">
                <a:latin typeface="Calibri"/>
                <a:cs typeface="Calibri"/>
              </a:rPr>
              <a:t>Pengentasan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kemiskinan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dan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diskriminasi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terhadap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minoritas </a:t>
            </a:r>
            <a:r>
              <a:rPr sz="1400" dirty="0">
                <a:latin typeface="Calibri"/>
                <a:cs typeface="Calibri"/>
              </a:rPr>
              <a:t>dan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kelompokkelompok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lemah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perlu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dihapus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dari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bumi </a:t>
            </a:r>
            <a:r>
              <a:rPr sz="1400" spc="-10" dirty="0">
                <a:latin typeface="Calibri"/>
                <a:cs typeface="Calibri"/>
              </a:rPr>
              <a:t>Indonesia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13064" y="1353311"/>
            <a:ext cx="3450590" cy="1594485"/>
          </a:xfrm>
          <a:custGeom>
            <a:avLst/>
            <a:gdLst/>
            <a:ahLst/>
            <a:cxnLst/>
            <a:rect l="l" t="t" r="r" b="b"/>
            <a:pathLst>
              <a:path w="3450590" h="1594485">
                <a:moveTo>
                  <a:pt x="3184397" y="0"/>
                </a:moveTo>
                <a:lnTo>
                  <a:pt x="265937" y="0"/>
                </a:lnTo>
                <a:lnTo>
                  <a:pt x="218058" y="4317"/>
                </a:lnTo>
                <a:lnTo>
                  <a:pt x="173100" y="16637"/>
                </a:lnTo>
                <a:lnTo>
                  <a:pt x="131699" y="36322"/>
                </a:lnTo>
                <a:lnTo>
                  <a:pt x="94614" y="62484"/>
                </a:lnTo>
                <a:lnTo>
                  <a:pt x="62483" y="94487"/>
                </a:lnTo>
                <a:lnTo>
                  <a:pt x="36321" y="131572"/>
                </a:lnTo>
                <a:lnTo>
                  <a:pt x="16636" y="172974"/>
                </a:lnTo>
                <a:lnTo>
                  <a:pt x="4317" y="217932"/>
                </a:lnTo>
                <a:lnTo>
                  <a:pt x="0" y="265684"/>
                </a:lnTo>
                <a:lnTo>
                  <a:pt x="0" y="1328420"/>
                </a:lnTo>
                <a:lnTo>
                  <a:pt x="4317" y="1376172"/>
                </a:lnTo>
                <a:lnTo>
                  <a:pt x="16636" y="1421129"/>
                </a:lnTo>
                <a:lnTo>
                  <a:pt x="36321" y="1462532"/>
                </a:lnTo>
                <a:lnTo>
                  <a:pt x="62483" y="1499615"/>
                </a:lnTo>
                <a:lnTo>
                  <a:pt x="94614" y="1531620"/>
                </a:lnTo>
                <a:lnTo>
                  <a:pt x="131699" y="1557782"/>
                </a:lnTo>
                <a:lnTo>
                  <a:pt x="173100" y="1577466"/>
                </a:lnTo>
                <a:lnTo>
                  <a:pt x="218058" y="1589786"/>
                </a:lnTo>
                <a:lnTo>
                  <a:pt x="265937" y="1594103"/>
                </a:lnTo>
                <a:lnTo>
                  <a:pt x="3184397" y="1594103"/>
                </a:lnTo>
                <a:lnTo>
                  <a:pt x="3232277" y="1589786"/>
                </a:lnTo>
                <a:lnTo>
                  <a:pt x="3277234" y="1577466"/>
                </a:lnTo>
                <a:lnTo>
                  <a:pt x="3318636" y="1557782"/>
                </a:lnTo>
                <a:lnTo>
                  <a:pt x="3355720" y="1531620"/>
                </a:lnTo>
                <a:lnTo>
                  <a:pt x="3387852" y="1499615"/>
                </a:lnTo>
                <a:lnTo>
                  <a:pt x="3414013" y="1462532"/>
                </a:lnTo>
                <a:lnTo>
                  <a:pt x="3433699" y="1421129"/>
                </a:lnTo>
                <a:lnTo>
                  <a:pt x="3446017" y="1376172"/>
                </a:lnTo>
                <a:lnTo>
                  <a:pt x="3450335" y="1328420"/>
                </a:lnTo>
                <a:lnTo>
                  <a:pt x="3450335" y="265684"/>
                </a:lnTo>
                <a:lnTo>
                  <a:pt x="3446017" y="217932"/>
                </a:lnTo>
                <a:lnTo>
                  <a:pt x="3433699" y="172974"/>
                </a:lnTo>
                <a:lnTo>
                  <a:pt x="3414013" y="131572"/>
                </a:lnTo>
                <a:lnTo>
                  <a:pt x="3387852" y="94487"/>
                </a:lnTo>
                <a:lnTo>
                  <a:pt x="3355720" y="62484"/>
                </a:lnTo>
                <a:lnTo>
                  <a:pt x="3318636" y="36322"/>
                </a:lnTo>
                <a:lnTo>
                  <a:pt x="3277234" y="16637"/>
                </a:lnTo>
                <a:lnTo>
                  <a:pt x="3232277" y="4317"/>
                </a:lnTo>
                <a:lnTo>
                  <a:pt x="3184397" y="0"/>
                </a:lnTo>
                <a:close/>
              </a:path>
            </a:pathLst>
          </a:custGeom>
          <a:solidFill>
            <a:srgbClr val="B8CD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764651" y="1508201"/>
            <a:ext cx="2959735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576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Calibri"/>
                <a:cs typeface="Calibri"/>
              </a:rPr>
              <a:t>Penataran</a:t>
            </a:r>
            <a:r>
              <a:rPr sz="1200" spc="-9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P-</a:t>
            </a:r>
            <a:r>
              <a:rPr sz="1200" dirty="0">
                <a:latin typeface="Calibri"/>
                <a:cs typeface="Calibri"/>
              </a:rPr>
              <a:t>4</a:t>
            </a:r>
            <a:r>
              <a:rPr sz="1200" spc="2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265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1F1F"/>
                </a:solidFill>
                <a:latin typeface="Calibri"/>
                <a:cs typeface="Calibri"/>
              </a:rPr>
              <a:t>Badan</a:t>
            </a:r>
            <a:r>
              <a:rPr sz="1200" spc="-10" dirty="0">
                <a:solidFill>
                  <a:srgbClr val="221F1F"/>
                </a:solidFill>
                <a:latin typeface="Calibri"/>
                <a:cs typeface="Calibri"/>
              </a:rPr>
              <a:t> Pembinaan Pendidikan</a:t>
            </a:r>
            <a:r>
              <a:rPr sz="1200" spc="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F1F"/>
                </a:solidFill>
                <a:latin typeface="Calibri"/>
                <a:cs typeface="Calibri"/>
              </a:rPr>
              <a:t>Pelaksanaan</a:t>
            </a:r>
            <a:r>
              <a:rPr sz="1200" spc="-3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21F1F"/>
                </a:solidFill>
                <a:latin typeface="Calibri"/>
                <a:cs typeface="Calibri"/>
              </a:rPr>
              <a:t>Pedoman</a:t>
            </a:r>
            <a:r>
              <a:rPr sz="1200" spc="-10" dirty="0">
                <a:solidFill>
                  <a:srgbClr val="221F1F"/>
                </a:solidFill>
                <a:latin typeface="Calibri"/>
                <a:cs typeface="Calibri"/>
              </a:rPr>
              <a:t> Penghayatan </a:t>
            </a:r>
            <a:r>
              <a:rPr sz="1200" dirty="0">
                <a:solidFill>
                  <a:srgbClr val="221F1F"/>
                </a:solidFill>
                <a:latin typeface="Calibri"/>
                <a:cs typeface="Calibri"/>
              </a:rPr>
              <a:t>dan</a:t>
            </a:r>
            <a:r>
              <a:rPr sz="1200" spc="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F1F"/>
                </a:solidFill>
                <a:latin typeface="Calibri"/>
                <a:cs typeface="Calibri"/>
              </a:rPr>
              <a:t>Pengamalan</a:t>
            </a:r>
            <a:r>
              <a:rPr sz="1200" spc="-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F1F"/>
                </a:solidFill>
                <a:latin typeface="Calibri"/>
                <a:cs typeface="Calibri"/>
              </a:rPr>
              <a:t>Pancasila</a:t>
            </a:r>
            <a:r>
              <a:rPr sz="1200" spc="1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21F1F"/>
                </a:solidFill>
                <a:latin typeface="Calibri"/>
                <a:cs typeface="Calibri"/>
              </a:rPr>
              <a:t>(BP-</a:t>
            </a:r>
            <a:r>
              <a:rPr sz="1200" dirty="0">
                <a:solidFill>
                  <a:srgbClr val="221F1F"/>
                </a:solidFill>
                <a:latin typeface="Calibri"/>
                <a:cs typeface="Calibri"/>
              </a:rPr>
              <a:t>7)</a:t>
            </a:r>
            <a:r>
              <a:rPr sz="1200" spc="1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dihentikan.</a:t>
            </a:r>
            <a:endParaRPr sz="12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Calibri"/>
                <a:cs typeface="Calibri"/>
              </a:rPr>
              <a:t>Resonansi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Pancasila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kurang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bergema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karena</a:t>
            </a:r>
            <a:endParaRPr sz="12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pemerintahan</a:t>
            </a:r>
            <a:endParaRPr sz="1200">
              <a:latin typeface="Calibri"/>
              <a:cs typeface="Calibri"/>
            </a:endParaRPr>
          </a:p>
          <a:p>
            <a:pPr marL="106680" marR="101600" algn="ctr">
              <a:lnSpc>
                <a:spcPct val="100000"/>
              </a:lnSpc>
            </a:pPr>
            <a:r>
              <a:rPr sz="1200" spc="-10" dirty="0">
                <a:latin typeface="Calibri"/>
                <a:cs typeface="Calibri"/>
              </a:rPr>
              <a:t>Habibie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lebih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disibukkan</a:t>
            </a:r>
            <a:r>
              <a:rPr sz="1200" spc="-7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masalah</a:t>
            </a:r>
            <a:r>
              <a:rPr sz="1200" spc="-7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politis,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baik </a:t>
            </a:r>
            <a:r>
              <a:rPr sz="1200" spc="-10" dirty="0">
                <a:latin typeface="Calibri"/>
                <a:cs typeface="Calibri"/>
              </a:rPr>
              <a:t>dalam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negeri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maupun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luar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negeri.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53840" y="1356359"/>
            <a:ext cx="4297680" cy="1899285"/>
          </a:xfrm>
          <a:custGeom>
            <a:avLst/>
            <a:gdLst/>
            <a:ahLst/>
            <a:cxnLst/>
            <a:rect l="l" t="t" r="r" b="b"/>
            <a:pathLst>
              <a:path w="4297680" h="1899285">
                <a:moveTo>
                  <a:pt x="4297680" y="268224"/>
                </a:moveTo>
                <a:lnTo>
                  <a:pt x="4293362" y="219964"/>
                </a:lnTo>
                <a:lnTo>
                  <a:pt x="4280916" y="174625"/>
                </a:lnTo>
                <a:lnTo>
                  <a:pt x="4261104" y="132842"/>
                </a:lnTo>
                <a:lnTo>
                  <a:pt x="4234561" y="95377"/>
                </a:lnTo>
                <a:lnTo>
                  <a:pt x="4202176" y="63119"/>
                </a:lnTo>
                <a:lnTo>
                  <a:pt x="4164711" y="36576"/>
                </a:lnTo>
                <a:lnTo>
                  <a:pt x="4122928" y="16764"/>
                </a:lnTo>
                <a:lnTo>
                  <a:pt x="4077589" y="4318"/>
                </a:lnTo>
                <a:lnTo>
                  <a:pt x="4029329" y="0"/>
                </a:lnTo>
                <a:lnTo>
                  <a:pt x="268351" y="0"/>
                </a:lnTo>
                <a:lnTo>
                  <a:pt x="220091" y="4318"/>
                </a:lnTo>
                <a:lnTo>
                  <a:pt x="174752" y="16764"/>
                </a:lnTo>
                <a:lnTo>
                  <a:pt x="132969" y="36576"/>
                </a:lnTo>
                <a:lnTo>
                  <a:pt x="95504" y="63119"/>
                </a:lnTo>
                <a:lnTo>
                  <a:pt x="63119" y="95377"/>
                </a:lnTo>
                <a:lnTo>
                  <a:pt x="36576" y="132842"/>
                </a:lnTo>
                <a:lnTo>
                  <a:pt x="16764" y="174625"/>
                </a:lnTo>
                <a:lnTo>
                  <a:pt x="4318" y="219964"/>
                </a:lnTo>
                <a:lnTo>
                  <a:pt x="0" y="268224"/>
                </a:lnTo>
                <a:lnTo>
                  <a:pt x="0" y="1341120"/>
                </a:lnTo>
                <a:lnTo>
                  <a:pt x="4318" y="1389380"/>
                </a:lnTo>
                <a:lnTo>
                  <a:pt x="16764" y="1434719"/>
                </a:lnTo>
                <a:lnTo>
                  <a:pt x="36576" y="1476502"/>
                </a:lnTo>
                <a:lnTo>
                  <a:pt x="63119" y="1513967"/>
                </a:lnTo>
                <a:lnTo>
                  <a:pt x="95504" y="1546225"/>
                </a:lnTo>
                <a:lnTo>
                  <a:pt x="132969" y="1572768"/>
                </a:lnTo>
                <a:lnTo>
                  <a:pt x="174752" y="1592580"/>
                </a:lnTo>
                <a:lnTo>
                  <a:pt x="220091" y="1605026"/>
                </a:lnTo>
                <a:lnTo>
                  <a:pt x="268351" y="1609344"/>
                </a:lnTo>
                <a:lnTo>
                  <a:pt x="1830832" y="1609344"/>
                </a:lnTo>
                <a:lnTo>
                  <a:pt x="2148840" y="1898904"/>
                </a:lnTo>
                <a:lnTo>
                  <a:pt x="2466822" y="1609344"/>
                </a:lnTo>
                <a:lnTo>
                  <a:pt x="4029329" y="1609344"/>
                </a:lnTo>
                <a:lnTo>
                  <a:pt x="4077589" y="1605026"/>
                </a:lnTo>
                <a:lnTo>
                  <a:pt x="4122928" y="1592580"/>
                </a:lnTo>
                <a:lnTo>
                  <a:pt x="4164711" y="1572768"/>
                </a:lnTo>
                <a:lnTo>
                  <a:pt x="4202176" y="1546225"/>
                </a:lnTo>
                <a:lnTo>
                  <a:pt x="4234561" y="1513967"/>
                </a:lnTo>
                <a:lnTo>
                  <a:pt x="4261104" y="1476502"/>
                </a:lnTo>
                <a:lnTo>
                  <a:pt x="4280916" y="1434719"/>
                </a:lnTo>
                <a:lnTo>
                  <a:pt x="4293362" y="1389380"/>
                </a:lnTo>
                <a:lnTo>
                  <a:pt x="4297680" y="1341120"/>
                </a:lnTo>
                <a:lnTo>
                  <a:pt x="4297680" y="268224"/>
                </a:lnTo>
                <a:close/>
              </a:path>
            </a:pathLst>
          </a:custGeom>
          <a:solidFill>
            <a:srgbClr val="F8C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68808" y="1261872"/>
            <a:ext cx="3587750" cy="1965960"/>
            <a:chOff x="368808" y="1261872"/>
            <a:chExt cx="3587750" cy="19659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808" y="1261872"/>
              <a:ext cx="3587496" cy="19659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20624" y="1353311"/>
              <a:ext cx="3484245" cy="1862455"/>
            </a:xfrm>
            <a:custGeom>
              <a:avLst/>
              <a:gdLst/>
              <a:ahLst/>
              <a:cxnLst/>
              <a:rect l="l" t="t" r="r" b="b"/>
              <a:pathLst>
                <a:path w="3484245" h="1862455">
                  <a:moveTo>
                    <a:pt x="3483864" y="265176"/>
                  </a:moveTo>
                  <a:lnTo>
                    <a:pt x="3479546" y="217551"/>
                  </a:lnTo>
                  <a:lnTo>
                    <a:pt x="3467227" y="172593"/>
                  </a:lnTo>
                  <a:lnTo>
                    <a:pt x="3447669" y="131318"/>
                  </a:lnTo>
                  <a:lnTo>
                    <a:pt x="3421507" y="94361"/>
                  </a:lnTo>
                  <a:lnTo>
                    <a:pt x="3389503" y="62357"/>
                  </a:lnTo>
                  <a:lnTo>
                    <a:pt x="3352546" y="36195"/>
                  </a:lnTo>
                  <a:lnTo>
                    <a:pt x="3311271" y="16637"/>
                  </a:lnTo>
                  <a:lnTo>
                    <a:pt x="3266313" y="4318"/>
                  </a:lnTo>
                  <a:lnTo>
                    <a:pt x="3218688" y="0"/>
                  </a:lnTo>
                  <a:lnTo>
                    <a:pt x="265125" y="0"/>
                  </a:lnTo>
                  <a:lnTo>
                    <a:pt x="217462" y="4318"/>
                  </a:lnTo>
                  <a:lnTo>
                    <a:pt x="172618" y="16637"/>
                  </a:lnTo>
                  <a:lnTo>
                    <a:pt x="131305" y="36195"/>
                  </a:lnTo>
                  <a:lnTo>
                    <a:pt x="94310" y="62357"/>
                  </a:lnTo>
                  <a:lnTo>
                    <a:pt x="62357" y="94361"/>
                  </a:lnTo>
                  <a:lnTo>
                    <a:pt x="36195" y="131318"/>
                  </a:lnTo>
                  <a:lnTo>
                    <a:pt x="16586" y="172593"/>
                  </a:lnTo>
                  <a:lnTo>
                    <a:pt x="4267" y="217551"/>
                  </a:lnTo>
                  <a:lnTo>
                    <a:pt x="0" y="265176"/>
                  </a:lnTo>
                  <a:lnTo>
                    <a:pt x="0" y="1325880"/>
                  </a:lnTo>
                  <a:lnTo>
                    <a:pt x="4267" y="1373505"/>
                  </a:lnTo>
                  <a:lnTo>
                    <a:pt x="16586" y="1418463"/>
                  </a:lnTo>
                  <a:lnTo>
                    <a:pt x="36195" y="1459738"/>
                  </a:lnTo>
                  <a:lnTo>
                    <a:pt x="62357" y="1496695"/>
                  </a:lnTo>
                  <a:lnTo>
                    <a:pt x="94310" y="1528699"/>
                  </a:lnTo>
                  <a:lnTo>
                    <a:pt x="131305" y="1554861"/>
                  </a:lnTo>
                  <a:lnTo>
                    <a:pt x="172618" y="1574419"/>
                  </a:lnTo>
                  <a:lnTo>
                    <a:pt x="217462" y="1586738"/>
                  </a:lnTo>
                  <a:lnTo>
                    <a:pt x="265125" y="1591056"/>
                  </a:lnTo>
                  <a:lnTo>
                    <a:pt x="1487284" y="1591056"/>
                  </a:lnTo>
                  <a:lnTo>
                    <a:pt x="1741932" y="1862328"/>
                  </a:lnTo>
                  <a:lnTo>
                    <a:pt x="1996567" y="1591056"/>
                  </a:lnTo>
                  <a:lnTo>
                    <a:pt x="3218688" y="1591056"/>
                  </a:lnTo>
                  <a:lnTo>
                    <a:pt x="3266313" y="1586738"/>
                  </a:lnTo>
                  <a:lnTo>
                    <a:pt x="3311271" y="1574419"/>
                  </a:lnTo>
                  <a:lnTo>
                    <a:pt x="3352546" y="1554861"/>
                  </a:lnTo>
                  <a:lnTo>
                    <a:pt x="3389503" y="1528699"/>
                  </a:lnTo>
                  <a:lnTo>
                    <a:pt x="3421507" y="1496695"/>
                  </a:lnTo>
                  <a:lnTo>
                    <a:pt x="3447669" y="1459738"/>
                  </a:lnTo>
                  <a:lnTo>
                    <a:pt x="3467227" y="1418463"/>
                  </a:lnTo>
                  <a:lnTo>
                    <a:pt x="3479546" y="1373505"/>
                  </a:lnTo>
                  <a:lnTo>
                    <a:pt x="3483864" y="1325880"/>
                  </a:lnTo>
                  <a:lnTo>
                    <a:pt x="3483864" y="265176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902952" y="2898648"/>
            <a:ext cx="615950" cy="600710"/>
            <a:chOff x="9902952" y="2898648"/>
            <a:chExt cx="615950" cy="600710"/>
          </a:xfrm>
        </p:grpSpPr>
        <p:sp>
          <p:nvSpPr>
            <p:cNvPr id="9" name="object 9"/>
            <p:cNvSpPr/>
            <p:nvPr/>
          </p:nvSpPr>
          <p:spPr>
            <a:xfrm>
              <a:off x="9902952" y="2898648"/>
              <a:ext cx="615950" cy="323215"/>
            </a:xfrm>
            <a:custGeom>
              <a:avLst/>
              <a:gdLst/>
              <a:ahLst/>
              <a:cxnLst/>
              <a:rect l="l" t="t" r="r" b="b"/>
              <a:pathLst>
                <a:path w="615950" h="323214">
                  <a:moveTo>
                    <a:pt x="615696" y="0"/>
                  </a:moveTo>
                  <a:lnTo>
                    <a:pt x="0" y="0"/>
                  </a:lnTo>
                  <a:lnTo>
                    <a:pt x="307848" y="323088"/>
                  </a:lnTo>
                  <a:lnTo>
                    <a:pt x="615696" y="0"/>
                  </a:lnTo>
                  <a:close/>
                </a:path>
              </a:pathLst>
            </a:custGeom>
            <a:solidFill>
              <a:srgbClr val="B8CD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88880" y="3258312"/>
              <a:ext cx="243840" cy="24079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08508" y="971803"/>
            <a:ext cx="3341370" cy="173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Calibri"/>
                <a:cs typeface="Calibri"/>
              </a:rPr>
              <a:t>TAHUN</a:t>
            </a:r>
            <a:r>
              <a:rPr sz="1800" b="1" spc="-1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1945-</a:t>
            </a:r>
            <a:r>
              <a:rPr sz="1800" b="1" dirty="0">
                <a:latin typeface="Calibri"/>
                <a:cs typeface="Calibri"/>
              </a:rPr>
              <a:t>1960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 </a:t>
            </a:r>
            <a:r>
              <a:rPr sz="1800" b="1" spc="-10" dirty="0">
                <a:latin typeface="Calibri"/>
                <a:cs typeface="Calibri"/>
              </a:rPr>
              <a:t>1960-</a:t>
            </a:r>
            <a:r>
              <a:rPr sz="1800" b="1" spc="-20" dirty="0">
                <a:latin typeface="Calibri"/>
                <a:cs typeface="Calibri"/>
              </a:rPr>
              <a:t>1965</a:t>
            </a:r>
            <a:endParaRPr sz="180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  <a:spcBef>
                <a:spcPts val="1140"/>
              </a:spcBef>
            </a:pPr>
            <a:r>
              <a:rPr sz="1400" dirty="0">
                <a:solidFill>
                  <a:srgbClr val="0D0D0D"/>
                </a:solidFill>
                <a:latin typeface="Calibri"/>
                <a:cs typeface="Calibri"/>
              </a:rPr>
              <a:t>Pancasila</a:t>
            </a:r>
            <a:r>
              <a:rPr sz="1400" spc="1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ditegaskan</a:t>
            </a:r>
            <a:r>
              <a:rPr sz="14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sebagai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pemersatu</a:t>
            </a:r>
            <a:r>
              <a:rPr sz="14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bangsa</a:t>
            </a:r>
            <a:r>
              <a:rPr sz="14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(Pidato</a:t>
            </a:r>
            <a:r>
              <a:rPr sz="14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Politik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 1945—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1960)</a:t>
            </a:r>
            <a:endParaRPr sz="1400">
              <a:latin typeface="Calibri"/>
              <a:cs typeface="Calibri"/>
            </a:endParaRPr>
          </a:p>
          <a:p>
            <a:pPr marL="194945" marR="181610" algn="ctr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Namun</a:t>
            </a:r>
            <a:r>
              <a:rPr sz="14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0D0D"/>
                </a:solidFill>
                <a:latin typeface="Calibri"/>
                <a:cs typeface="Calibri"/>
              </a:rPr>
              <a:t>seiring</a:t>
            </a:r>
            <a:r>
              <a:rPr sz="1400" spc="2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dengan</a:t>
            </a:r>
            <a:r>
              <a:rPr sz="1400" spc="-2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perjalanan</a:t>
            </a:r>
            <a:r>
              <a:rPr sz="14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waktu, </a:t>
            </a:r>
            <a:r>
              <a:rPr sz="1400" dirty="0">
                <a:solidFill>
                  <a:srgbClr val="0D0D0D"/>
                </a:solidFill>
                <a:latin typeface="Calibri"/>
                <a:cs typeface="Calibri"/>
              </a:rPr>
              <a:t>pada</a:t>
            </a:r>
            <a:r>
              <a:rPr sz="14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kurun</a:t>
            </a:r>
            <a:r>
              <a:rPr sz="14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waktu</a:t>
            </a:r>
            <a:r>
              <a:rPr sz="14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D0D0D"/>
                </a:solidFill>
                <a:latin typeface="Calibri"/>
                <a:cs typeface="Calibri"/>
              </a:rPr>
              <a:t>1960-</a:t>
            </a:r>
            <a:r>
              <a:rPr sz="1400" dirty="0">
                <a:solidFill>
                  <a:srgbClr val="0D0D0D"/>
                </a:solidFill>
                <a:latin typeface="Calibri"/>
                <a:cs typeface="Calibri"/>
              </a:rPr>
              <a:t>-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1965,</a:t>
            </a:r>
            <a:r>
              <a:rPr sz="14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Soekarno beralih</a:t>
            </a:r>
            <a:r>
              <a:rPr sz="14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0D0D0D"/>
                </a:solidFill>
                <a:latin typeface="Calibri"/>
                <a:cs typeface="Calibri"/>
              </a:rPr>
              <a:t>ke</a:t>
            </a:r>
            <a:r>
              <a:rPr sz="14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Nasakom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sebagai</a:t>
            </a:r>
            <a:r>
              <a:rPr sz="14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landasan</a:t>
            </a:r>
            <a:r>
              <a:rPr sz="14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politik</a:t>
            </a:r>
            <a:r>
              <a:rPr sz="14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bagi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bangsa</a:t>
            </a:r>
            <a:r>
              <a:rPr sz="1400" spc="-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Indonesia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239639" y="957833"/>
            <a:ext cx="190944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i="0" spc="-75" dirty="0">
                <a:latin typeface="Calibri"/>
                <a:cs typeface="Calibri"/>
              </a:rPr>
              <a:t>TAHUN</a:t>
            </a:r>
            <a:r>
              <a:rPr i="0" spc="-5" dirty="0">
                <a:latin typeface="Calibri"/>
                <a:cs typeface="Calibri"/>
              </a:rPr>
              <a:t> </a:t>
            </a:r>
            <a:r>
              <a:rPr i="0" spc="-20" dirty="0">
                <a:solidFill>
                  <a:srgbClr val="221F1F"/>
                </a:solidFill>
                <a:latin typeface="Calibri"/>
                <a:cs typeface="Calibri"/>
              </a:rPr>
              <a:t>1965-1998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55338" y="1393393"/>
            <a:ext cx="3702050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400" spc="-10" dirty="0">
                <a:latin typeface="Calibri"/>
                <a:cs typeface="Calibri"/>
              </a:rPr>
              <a:t>Pancasila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dijadikan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sebagai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asas</a:t>
            </a:r>
            <a:endParaRPr sz="14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tunggal </a:t>
            </a:r>
            <a:r>
              <a:rPr sz="1400" dirty="0">
                <a:latin typeface="Calibri"/>
                <a:cs typeface="Calibri"/>
              </a:rPr>
              <a:t>bagi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Organisasi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Politik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Organisasi </a:t>
            </a:r>
            <a:r>
              <a:rPr sz="1400" spc="-25" dirty="0">
                <a:latin typeface="Calibri"/>
                <a:cs typeface="Calibri"/>
              </a:rPr>
              <a:t>Kemasyarakatan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melalui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P4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</a:t>
            </a:r>
            <a:r>
              <a:rPr sz="1400" spc="-20" dirty="0">
                <a:latin typeface="Calibri"/>
                <a:cs typeface="Calibri"/>
              </a:rPr>
              <a:t> tafsirkan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sebagai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produk</a:t>
            </a:r>
            <a:r>
              <a:rPr sz="1400" spc="-2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rezim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Orde</a:t>
            </a:r>
            <a:r>
              <a:rPr sz="1400" spc="-3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Baru</a:t>
            </a:r>
            <a:r>
              <a:rPr sz="1400" spc="-6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21F1F"/>
                </a:solidFill>
                <a:latin typeface="Calibri"/>
                <a:cs typeface="Calibri"/>
              </a:rPr>
              <a:t>(mono</a:t>
            </a:r>
            <a:r>
              <a:rPr sz="1400" spc="-6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tafsir</a:t>
            </a:r>
            <a:r>
              <a:rPr sz="1400" spc="-45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21F1F"/>
                </a:solidFill>
                <a:latin typeface="Calibri"/>
                <a:cs typeface="Calibri"/>
              </a:rPr>
              <a:t>ideologi)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2221" y="978154"/>
            <a:ext cx="190055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spc="-75" dirty="0">
                <a:latin typeface="Calibri"/>
                <a:cs typeface="Calibri"/>
              </a:rPr>
              <a:t>TAHUN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1998-1999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6855" y="3276600"/>
            <a:ext cx="240791" cy="24079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54351" y="3264408"/>
            <a:ext cx="243839" cy="240791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728472" y="5535167"/>
            <a:ext cx="10869295" cy="1155700"/>
          </a:xfrm>
          <a:custGeom>
            <a:avLst/>
            <a:gdLst/>
            <a:ahLst/>
            <a:cxnLst/>
            <a:rect l="l" t="t" r="r" b="b"/>
            <a:pathLst>
              <a:path w="10869295" h="1155700">
                <a:moveTo>
                  <a:pt x="0" y="1155191"/>
                </a:moveTo>
                <a:lnTo>
                  <a:pt x="10869168" y="1155191"/>
                </a:lnTo>
                <a:lnTo>
                  <a:pt x="10869168" y="0"/>
                </a:lnTo>
                <a:lnTo>
                  <a:pt x="0" y="0"/>
                </a:lnTo>
                <a:lnTo>
                  <a:pt x="0" y="1155191"/>
                </a:lnTo>
                <a:close/>
              </a:path>
            </a:pathLst>
          </a:custGeom>
          <a:ln w="54863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628013" y="5021021"/>
            <a:ext cx="1094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SOEKARNO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30417" y="5057013"/>
            <a:ext cx="1066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SOEHARTO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908540" y="5021021"/>
            <a:ext cx="795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HABIBIE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0988" y="210439"/>
            <a:ext cx="5471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latin typeface="Calibri"/>
                <a:cs typeface="Calibri"/>
              </a:rPr>
              <a:t>SUMBER</a:t>
            </a:r>
            <a:r>
              <a:rPr sz="1800" b="1" i="1" spc="-70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HISTORI</a:t>
            </a:r>
            <a:r>
              <a:rPr sz="1800" b="1" i="1" spc="-7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PANCASILA</a:t>
            </a:r>
            <a:r>
              <a:rPr sz="1800" b="1" i="1" spc="-3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SEBAGAI</a:t>
            </a:r>
            <a:r>
              <a:rPr sz="1800" b="1" i="1" spc="-60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IDEOLOGI</a:t>
            </a:r>
            <a:r>
              <a:rPr sz="1800" b="1" i="1" spc="-7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NEGARA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7927" y="3736847"/>
            <a:ext cx="2456688" cy="122834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46320" y="3745991"/>
            <a:ext cx="2633472" cy="12192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784335" y="3779520"/>
            <a:ext cx="2636520" cy="122224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13064" y="1353311"/>
            <a:ext cx="3450590" cy="1868805"/>
          </a:xfrm>
          <a:custGeom>
            <a:avLst/>
            <a:gdLst/>
            <a:ahLst/>
            <a:cxnLst/>
            <a:rect l="l" t="t" r="r" b="b"/>
            <a:pathLst>
              <a:path w="3450590" h="1868805">
                <a:moveTo>
                  <a:pt x="3450336" y="265684"/>
                </a:moveTo>
                <a:lnTo>
                  <a:pt x="3446018" y="217932"/>
                </a:lnTo>
                <a:lnTo>
                  <a:pt x="3433699" y="172974"/>
                </a:lnTo>
                <a:lnTo>
                  <a:pt x="3414014" y="131572"/>
                </a:lnTo>
                <a:lnTo>
                  <a:pt x="3387852" y="94488"/>
                </a:lnTo>
                <a:lnTo>
                  <a:pt x="3355721" y="62484"/>
                </a:lnTo>
                <a:lnTo>
                  <a:pt x="3318637" y="36322"/>
                </a:lnTo>
                <a:lnTo>
                  <a:pt x="3277235" y="16637"/>
                </a:lnTo>
                <a:lnTo>
                  <a:pt x="3232277" y="4318"/>
                </a:lnTo>
                <a:lnTo>
                  <a:pt x="3184398" y="0"/>
                </a:lnTo>
                <a:lnTo>
                  <a:pt x="265938" y="0"/>
                </a:lnTo>
                <a:lnTo>
                  <a:pt x="218059" y="4318"/>
                </a:lnTo>
                <a:lnTo>
                  <a:pt x="173101" y="16637"/>
                </a:lnTo>
                <a:lnTo>
                  <a:pt x="131699" y="36322"/>
                </a:lnTo>
                <a:lnTo>
                  <a:pt x="94615" y="62484"/>
                </a:lnTo>
                <a:lnTo>
                  <a:pt x="62484" y="94488"/>
                </a:lnTo>
                <a:lnTo>
                  <a:pt x="36322" y="131572"/>
                </a:lnTo>
                <a:lnTo>
                  <a:pt x="16637" y="172974"/>
                </a:lnTo>
                <a:lnTo>
                  <a:pt x="4318" y="217932"/>
                </a:lnTo>
                <a:lnTo>
                  <a:pt x="0" y="265684"/>
                </a:lnTo>
                <a:lnTo>
                  <a:pt x="0" y="1328420"/>
                </a:lnTo>
                <a:lnTo>
                  <a:pt x="4318" y="1376172"/>
                </a:lnTo>
                <a:lnTo>
                  <a:pt x="16637" y="1421130"/>
                </a:lnTo>
                <a:lnTo>
                  <a:pt x="36322" y="1462532"/>
                </a:lnTo>
                <a:lnTo>
                  <a:pt x="62484" y="1499616"/>
                </a:lnTo>
                <a:lnTo>
                  <a:pt x="94615" y="1531620"/>
                </a:lnTo>
                <a:lnTo>
                  <a:pt x="131699" y="1557782"/>
                </a:lnTo>
                <a:lnTo>
                  <a:pt x="173101" y="1577467"/>
                </a:lnTo>
                <a:lnTo>
                  <a:pt x="218059" y="1589786"/>
                </a:lnTo>
                <a:lnTo>
                  <a:pt x="265938" y="1594104"/>
                </a:lnTo>
                <a:lnTo>
                  <a:pt x="1436344" y="1594104"/>
                </a:lnTo>
                <a:lnTo>
                  <a:pt x="1697736" y="1868424"/>
                </a:lnTo>
                <a:lnTo>
                  <a:pt x="1959114" y="1594104"/>
                </a:lnTo>
                <a:lnTo>
                  <a:pt x="3184398" y="1594104"/>
                </a:lnTo>
                <a:lnTo>
                  <a:pt x="3232277" y="1589786"/>
                </a:lnTo>
                <a:lnTo>
                  <a:pt x="3277235" y="1577467"/>
                </a:lnTo>
                <a:lnTo>
                  <a:pt x="3318637" y="1557782"/>
                </a:lnTo>
                <a:lnTo>
                  <a:pt x="3355721" y="1531620"/>
                </a:lnTo>
                <a:lnTo>
                  <a:pt x="3387852" y="1499616"/>
                </a:lnTo>
                <a:lnTo>
                  <a:pt x="3414014" y="1462532"/>
                </a:lnTo>
                <a:lnTo>
                  <a:pt x="3433699" y="1421130"/>
                </a:lnTo>
                <a:lnTo>
                  <a:pt x="3446018" y="1376172"/>
                </a:lnTo>
                <a:lnTo>
                  <a:pt x="3450336" y="1328420"/>
                </a:lnTo>
                <a:lnTo>
                  <a:pt x="3450336" y="265684"/>
                </a:lnTo>
                <a:close/>
              </a:path>
            </a:pathLst>
          </a:custGeom>
          <a:solidFill>
            <a:srgbClr val="B8CD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053840" y="1356359"/>
            <a:ext cx="4297680" cy="1899285"/>
          </a:xfrm>
          <a:custGeom>
            <a:avLst/>
            <a:gdLst/>
            <a:ahLst/>
            <a:cxnLst/>
            <a:rect l="l" t="t" r="r" b="b"/>
            <a:pathLst>
              <a:path w="4297680" h="1899285">
                <a:moveTo>
                  <a:pt x="4297680" y="268224"/>
                </a:moveTo>
                <a:lnTo>
                  <a:pt x="4293362" y="219964"/>
                </a:lnTo>
                <a:lnTo>
                  <a:pt x="4280916" y="174625"/>
                </a:lnTo>
                <a:lnTo>
                  <a:pt x="4261104" y="132842"/>
                </a:lnTo>
                <a:lnTo>
                  <a:pt x="4234561" y="95377"/>
                </a:lnTo>
                <a:lnTo>
                  <a:pt x="4202176" y="63119"/>
                </a:lnTo>
                <a:lnTo>
                  <a:pt x="4164711" y="36576"/>
                </a:lnTo>
                <a:lnTo>
                  <a:pt x="4122928" y="16764"/>
                </a:lnTo>
                <a:lnTo>
                  <a:pt x="4077589" y="4318"/>
                </a:lnTo>
                <a:lnTo>
                  <a:pt x="4029329" y="0"/>
                </a:lnTo>
                <a:lnTo>
                  <a:pt x="268351" y="0"/>
                </a:lnTo>
                <a:lnTo>
                  <a:pt x="220091" y="4318"/>
                </a:lnTo>
                <a:lnTo>
                  <a:pt x="174752" y="16764"/>
                </a:lnTo>
                <a:lnTo>
                  <a:pt x="132969" y="36576"/>
                </a:lnTo>
                <a:lnTo>
                  <a:pt x="95504" y="63119"/>
                </a:lnTo>
                <a:lnTo>
                  <a:pt x="63119" y="95377"/>
                </a:lnTo>
                <a:lnTo>
                  <a:pt x="36576" y="132842"/>
                </a:lnTo>
                <a:lnTo>
                  <a:pt x="16764" y="174625"/>
                </a:lnTo>
                <a:lnTo>
                  <a:pt x="4318" y="219964"/>
                </a:lnTo>
                <a:lnTo>
                  <a:pt x="0" y="268224"/>
                </a:lnTo>
                <a:lnTo>
                  <a:pt x="0" y="1341120"/>
                </a:lnTo>
                <a:lnTo>
                  <a:pt x="4318" y="1389380"/>
                </a:lnTo>
                <a:lnTo>
                  <a:pt x="16764" y="1434719"/>
                </a:lnTo>
                <a:lnTo>
                  <a:pt x="36576" y="1476502"/>
                </a:lnTo>
                <a:lnTo>
                  <a:pt x="63119" y="1513967"/>
                </a:lnTo>
                <a:lnTo>
                  <a:pt x="95504" y="1546225"/>
                </a:lnTo>
                <a:lnTo>
                  <a:pt x="132969" y="1572768"/>
                </a:lnTo>
                <a:lnTo>
                  <a:pt x="174752" y="1592580"/>
                </a:lnTo>
                <a:lnTo>
                  <a:pt x="220091" y="1605026"/>
                </a:lnTo>
                <a:lnTo>
                  <a:pt x="268351" y="1609344"/>
                </a:lnTo>
                <a:lnTo>
                  <a:pt x="1830832" y="1609344"/>
                </a:lnTo>
                <a:lnTo>
                  <a:pt x="2148840" y="1898904"/>
                </a:lnTo>
                <a:lnTo>
                  <a:pt x="2466822" y="1609344"/>
                </a:lnTo>
                <a:lnTo>
                  <a:pt x="4029329" y="1609344"/>
                </a:lnTo>
                <a:lnTo>
                  <a:pt x="4077589" y="1605026"/>
                </a:lnTo>
                <a:lnTo>
                  <a:pt x="4122928" y="1592580"/>
                </a:lnTo>
                <a:lnTo>
                  <a:pt x="4164711" y="1572768"/>
                </a:lnTo>
                <a:lnTo>
                  <a:pt x="4202176" y="1546225"/>
                </a:lnTo>
                <a:lnTo>
                  <a:pt x="4234561" y="1513967"/>
                </a:lnTo>
                <a:lnTo>
                  <a:pt x="4261104" y="1476502"/>
                </a:lnTo>
                <a:lnTo>
                  <a:pt x="4280916" y="1434719"/>
                </a:lnTo>
                <a:lnTo>
                  <a:pt x="4293362" y="1389380"/>
                </a:lnTo>
                <a:lnTo>
                  <a:pt x="4297680" y="1341120"/>
                </a:lnTo>
                <a:lnTo>
                  <a:pt x="4297680" y="268224"/>
                </a:lnTo>
                <a:close/>
              </a:path>
            </a:pathLst>
          </a:custGeom>
          <a:solidFill>
            <a:srgbClr val="F8C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68808" y="1261872"/>
            <a:ext cx="3587750" cy="1965960"/>
            <a:chOff x="368808" y="1261872"/>
            <a:chExt cx="3587750" cy="19659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808" y="1261872"/>
              <a:ext cx="3587496" cy="19659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20624" y="1353311"/>
              <a:ext cx="3484245" cy="1862455"/>
            </a:xfrm>
            <a:custGeom>
              <a:avLst/>
              <a:gdLst/>
              <a:ahLst/>
              <a:cxnLst/>
              <a:rect l="l" t="t" r="r" b="b"/>
              <a:pathLst>
                <a:path w="3484245" h="1862455">
                  <a:moveTo>
                    <a:pt x="3483864" y="265176"/>
                  </a:moveTo>
                  <a:lnTo>
                    <a:pt x="3479546" y="217551"/>
                  </a:lnTo>
                  <a:lnTo>
                    <a:pt x="3467227" y="172593"/>
                  </a:lnTo>
                  <a:lnTo>
                    <a:pt x="3447669" y="131318"/>
                  </a:lnTo>
                  <a:lnTo>
                    <a:pt x="3421507" y="94361"/>
                  </a:lnTo>
                  <a:lnTo>
                    <a:pt x="3389503" y="62357"/>
                  </a:lnTo>
                  <a:lnTo>
                    <a:pt x="3352546" y="36195"/>
                  </a:lnTo>
                  <a:lnTo>
                    <a:pt x="3311271" y="16637"/>
                  </a:lnTo>
                  <a:lnTo>
                    <a:pt x="3266313" y="4318"/>
                  </a:lnTo>
                  <a:lnTo>
                    <a:pt x="3218688" y="0"/>
                  </a:lnTo>
                  <a:lnTo>
                    <a:pt x="265125" y="0"/>
                  </a:lnTo>
                  <a:lnTo>
                    <a:pt x="217462" y="4318"/>
                  </a:lnTo>
                  <a:lnTo>
                    <a:pt x="172618" y="16637"/>
                  </a:lnTo>
                  <a:lnTo>
                    <a:pt x="131305" y="36195"/>
                  </a:lnTo>
                  <a:lnTo>
                    <a:pt x="94310" y="62357"/>
                  </a:lnTo>
                  <a:lnTo>
                    <a:pt x="62357" y="94361"/>
                  </a:lnTo>
                  <a:lnTo>
                    <a:pt x="36195" y="131318"/>
                  </a:lnTo>
                  <a:lnTo>
                    <a:pt x="16586" y="172593"/>
                  </a:lnTo>
                  <a:lnTo>
                    <a:pt x="4267" y="217551"/>
                  </a:lnTo>
                  <a:lnTo>
                    <a:pt x="0" y="265176"/>
                  </a:lnTo>
                  <a:lnTo>
                    <a:pt x="0" y="1325880"/>
                  </a:lnTo>
                  <a:lnTo>
                    <a:pt x="4267" y="1373505"/>
                  </a:lnTo>
                  <a:lnTo>
                    <a:pt x="16586" y="1418463"/>
                  </a:lnTo>
                  <a:lnTo>
                    <a:pt x="36195" y="1459738"/>
                  </a:lnTo>
                  <a:lnTo>
                    <a:pt x="62357" y="1496695"/>
                  </a:lnTo>
                  <a:lnTo>
                    <a:pt x="94310" y="1528699"/>
                  </a:lnTo>
                  <a:lnTo>
                    <a:pt x="131305" y="1554861"/>
                  </a:lnTo>
                  <a:lnTo>
                    <a:pt x="172618" y="1574419"/>
                  </a:lnTo>
                  <a:lnTo>
                    <a:pt x="217462" y="1586738"/>
                  </a:lnTo>
                  <a:lnTo>
                    <a:pt x="265125" y="1591056"/>
                  </a:lnTo>
                  <a:lnTo>
                    <a:pt x="1487284" y="1591056"/>
                  </a:lnTo>
                  <a:lnTo>
                    <a:pt x="1741932" y="1862328"/>
                  </a:lnTo>
                  <a:lnTo>
                    <a:pt x="1996567" y="1591056"/>
                  </a:lnTo>
                  <a:lnTo>
                    <a:pt x="3218688" y="1591056"/>
                  </a:lnTo>
                  <a:lnTo>
                    <a:pt x="3266313" y="1586738"/>
                  </a:lnTo>
                  <a:lnTo>
                    <a:pt x="3311271" y="1574419"/>
                  </a:lnTo>
                  <a:lnTo>
                    <a:pt x="3352546" y="1554861"/>
                  </a:lnTo>
                  <a:lnTo>
                    <a:pt x="3389503" y="1528699"/>
                  </a:lnTo>
                  <a:lnTo>
                    <a:pt x="3421507" y="1496695"/>
                  </a:lnTo>
                  <a:lnTo>
                    <a:pt x="3447669" y="1459738"/>
                  </a:lnTo>
                  <a:lnTo>
                    <a:pt x="3467227" y="1418463"/>
                  </a:lnTo>
                  <a:lnTo>
                    <a:pt x="3479546" y="1373505"/>
                  </a:lnTo>
                  <a:lnTo>
                    <a:pt x="3483864" y="1325880"/>
                  </a:lnTo>
                  <a:lnTo>
                    <a:pt x="3483864" y="265176"/>
                  </a:lnTo>
                  <a:close/>
                </a:path>
              </a:pathLst>
            </a:custGeom>
            <a:solidFill>
              <a:srgbClr val="CCC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96900" y="971803"/>
            <a:ext cx="3164840" cy="1926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</a:pPr>
            <a:r>
              <a:rPr sz="1800" b="1" spc="-65" dirty="0">
                <a:latin typeface="Calibri"/>
                <a:cs typeface="Calibri"/>
              </a:rPr>
              <a:t>TAHUN</a:t>
            </a:r>
            <a:r>
              <a:rPr sz="1800" b="1" spc="-1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1945-</a:t>
            </a:r>
            <a:r>
              <a:rPr sz="1800" b="1" dirty="0">
                <a:latin typeface="Calibri"/>
                <a:cs typeface="Calibri"/>
              </a:rPr>
              <a:t>1960</a:t>
            </a:r>
            <a:r>
              <a:rPr sz="1800" b="1" spc="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&amp; </a:t>
            </a:r>
            <a:r>
              <a:rPr sz="1800" b="1" spc="-10" dirty="0">
                <a:latin typeface="Calibri"/>
                <a:cs typeface="Calibri"/>
              </a:rPr>
              <a:t>1960-</a:t>
            </a:r>
            <a:r>
              <a:rPr sz="1800" b="1" spc="-20" dirty="0">
                <a:latin typeface="Calibri"/>
                <a:cs typeface="Calibri"/>
              </a:rPr>
              <a:t>1965</a:t>
            </a:r>
            <a:endParaRPr sz="18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1045"/>
              </a:spcBef>
            </a:pP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Muncul</a:t>
            </a:r>
            <a:r>
              <a:rPr sz="14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wacana</a:t>
            </a:r>
            <a:r>
              <a:rPr sz="14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penghapusan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D0D0D"/>
                </a:solidFill>
                <a:latin typeface="Calibri"/>
                <a:cs typeface="Calibri"/>
              </a:rPr>
              <a:t>TAP NO.XXV/MPRS/1966</a:t>
            </a:r>
            <a:r>
              <a:rPr sz="14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tentang</a:t>
            </a:r>
            <a:r>
              <a:rPr sz="1400" spc="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pelarangan</a:t>
            </a:r>
            <a:r>
              <a:rPr sz="14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D0D0D"/>
                </a:solidFill>
                <a:latin typeface="Calibri"/>
                <a:cs typeface="Calibri"/>
              </a:rPr>
              <a:t>PKI </a:t>
            </a:r>
            <a:r>
              <a:rPr sz="1400" dirty="0">
                <a:solidFill>
                  <a:srgbClr val="0D0D0D"/>
                </a:solidFill>
                <a:latin typeface="Calibri"/>
                <a:cs typeface="Calibri"/>
              </a:rPr>
              <a:t>dan</a:t>
            </a:r>
            <a:r>
              <a:rPr sz="1400" spc="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penyebarluasan</a:t>
            </a:r>
            <a:r>
              <a:rPr sz="14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ajaran</a:t>
            </a:r>
            <a:r>
              <a:rPr sz="14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D0D0D"/>
                </a:solidFill>
                <a:latin typeface="Calibri"/>
                <a:cs typeface="Calibri"/>
              </a:rPr>
              <a:t>komunisme.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D0D0D"/>
                </a:solidFill>
                <a:latin typeface="Calibri"/>
                <a:cs typeface="Calibri"/>
              </a:rPr>
              <a:t>Di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masa</a:t>
            </a:r>
            <a:r>
              <a:rPr sz="1400" spc="-7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D0D0D"/>
                </a:solidFill>
                <a:latin typeface="Calibri"/>
                <a:cs typeface="Calibri"/>
              </a:rPr>
              <a:t>ini,</a:t>
            </a:r>
            <a:r>
              <a:rPr sz="14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yang</a:t>
            </a:r>
            <a:r>
              <a:rPr sz="14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lebih</a:t>
            </a:r>
            <a:r>
              <a:rPr sz="14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dominan</a:t>
            </a:r>
            <a:r>
              <a:rPr sz="1400" spc="-5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adalah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kebebasan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berpendapat</a:t>
            </a:r>
            <a:r>
              <a:rPr sz="1400" spc="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sehingga</a:t>
            </a:r>
            <a:r>
              <a:rPr sz="140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perhatian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terhadap</a:t>
            </a:r>
            <a:r>
              <a:rPr sz="1400" spc="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ideologi</a:t>
            </a:r>
            <a:r>
              <a:rPr sz="1400" spc="-1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0D0D0D"/>
                </a:solidFill>
                <a:latin typeface="Calibri"/>
                <a:cs typeface="Calibri"/>
              </a:rPr>
              <a:t>Pancasila</a:t>
            </a:r>
            <a:r>
              <a:rPr sz="14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D0D0D"/>
                </a:solidFill>
                <a:latin typeface="Calibri"/>
                <a:cs typeface="Calibri"/>
              </a:rPr>
              <a:t>cenderung melemah.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535295" y="957833"/>
            <a:ext cx="1321435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i="0" spc="-75" dirty="0">
                <a:latin typeface="Calibri"/>
                <a:cs typeface="Calibri"/>
              </a:rPr>
              <a:t>TAHUN</a:t>
            </a:r>
            <a:r>
              <a:rPr i="0" spc="-30" dirty="0">
                <a:latin typeface="Calibri"/>
                <a:cs typeface="Calibri"/>
              </a:rPr>
              <a:t> </a:t>
            </a:r>
            <a:r>
              <a:rPr i="0" spc="-20" dirty="0">
                <a:solidFill>
                  <a:srgbClr val="221F1F"/>
                </a:solidFill>
                <a:latin typeface="Calibri"/>
                <a:cs typeface="Calibri"/>
              </a:rPr>
              <a:t>2003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355338" y="1393698"/>
            <a:ext cx="3706495" cy="1304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985" algn="ctr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latin typeface="Calibri"/>
                <a:cs typeface="Calibri"/>
              </a:rPr>
              <a:t>Pancasila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sebagai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ideologi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semakin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kehilangan </a:t>
            </a:r>
            <a:r>
              <a:rPr sz="1400" spc="-20" dirty="0">
                <a:latin typeface="Calibri"/>
                <a:cs typeface="Calibri"/>
              </a:rPr>
              <a:t>formalitasnya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dengan</a:t>
            </a:r>
            <a:r>
              <a:rPr sz="1400" spc="-20" dirty="0">
                <a:latin typeface="Calibri"/>
                <a:cs typeface="Calibri"/>
              </a:rPr>
              <a:t> disahkannya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Undang-</a:t>
            </a:r>
            <a:r>
              <a:rPr sz="1400" spc="-10" dirty="0">
                <a:latin typeface="Calibri"/>
                <a:cs typeface="Calibri"/>
              </a:rPr>
              <a:t>Undang SISDIKNAS</a:t>
            </a:r>
            <a:r>
              <a:rPr sz="1400" spc="-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No.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20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tahun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2003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yang</a:t>
            </a:r>
            <a:endParaRPr sz="1400">
              <a:latin typeface="Calibri"/>
              <a:cs typeface="Calibri"/>
            </a:endParaRPr>
          </a:p>
          <a:p>
            <a:pPr marL="36830" marR="33020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tidak</a:t>
            </a:r>
            <a:r>
              <a:rPr sz="1400" spc="-20" dirty="0">
                <a:latin typeface="Calibri"/>
                <a:cs typeface="Calibri"/>
              </a:rPr>
              <a:t> mencantumkan </a:t>
            </a:r>
            <a:r>
              <a:rPr sz="1400" spc="-10" dirty="0">
                <a:latin typeface="Calibri"/>
                <a:cs typeface="Calibri"/>
              </a:rPr>
              <a:t>pendidikan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Pancasila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sebagai mata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pelajaran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wajib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dari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tingkat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Sekolah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Dasar sampai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perguruan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tinggi.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6855" y="3276600"/>
            <a:ext cx="240791" cy="24079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54351" y="3264408"/>
            <a:ext cx="243839" cy="24079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49256" y="3258311"/>
            <a:ext cx="240792" cy="24079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730488" y="978154"/>
            <a:ext cx="3036570" cy="19170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24180">
              <a:lnSpc>
                <a:spcPct val="100000"/>
              </a:lnSpc>
              <a:spcBef>
                <a:spcPts val="90"/>
              </a:spcBef>
            </a:pPr>
            <a:r>
              <a:rPr sz="2000" b="1" spc="-75" dirty="0">
                <a:latin typeface="Calibri"/>
                <a:cs typeface="Calibri"/>
              </a:rPr>
              <a:t>TAHUN </a:t>
            </a:r>
            <a:r>
              <a:rPr sz="2000" b="1" spc="-20" dirty="0">
                <a:latin typeface="Calibri"/>
                <a:cs typeface="Calibri"/>
              </a:rPr>
              <a:t>2004-2014</a:t>
            </a:r>
            <a:endParaRPr sz="2000">
              <a:latin typeface="Calibri"/>
              <a:cs typeface="Calibri"/>
            </a:endParaRPr>
          </a:p>
          <a:p>
            <a:pPr marL="12700" marR="5080" indent="-1270" algn="ctr">
              <a:lnSpc>
                <a:spcPct val="100000"/>
              </a:lnSpc>
              <a:spcBef>
                <a:spcPts val="880"/>
              </a:spcBef>
            </a:pPr>
            <a:r>
              <a:rPr sz="1200" spc="-10" dirty="0">
                <a:latin typeface="Calibri"/>
                <a:cs typeface="Calibri"/>
              </a:rPr>
              <a:t>Suasana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politik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lebih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banyak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ditandai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dengan </a:t>
            </a:r>
            <a:r>
              <a:rPr sz="1200" spc="-20" dirty="0">
                <a:latin typeface="Calibri"/>
                <a:cs typeface="Calibri"/>
              </a:rPr>
              <a:t>pertarungan</a:t>
            </a:r>
            <a:r>
              <a:rPr sz="1200" spc="-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politik</a:t>
            </a:r>
            <a:r>
              <a:rPr sz="1200" spc="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untuk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memperebutkan </a:t>
            </a:r>
            <a:r>
              <a:rPr sz="1200" spc="-20" dirty="0">
                <a:latin typeface="Calibri"/>
                <a:cs typeface="Calibri"/>
              </a:rPr>
              <a:t>kekuasaan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atau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meraih suara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sebanyakbanyaknya dalam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pemilu.</a:t>
            </a:r>
            <a:endParaRPr sz="1200">
              <a:latin typeface="Calibri"/>
              <a:cs typeface="Calibri"/>
            </a:endParaRPr>
          </a:p>
          <a:p>
            <a:pPr marL="42545" marR="39370" indent="-1270" algn="ct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Ditandatanganinya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UU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RI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No.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12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tahun</a:t>
            </a:r>
            <a:r>
              <a:rPr sz="1200" spc="-20" dirty="0">
                <a:latin typeface="Calibri"/>
                <a:cs typeface="Calibri"/>
              </a:rPr>
              <a:t> 2012 </a:t>
            </a:r>
            <a:r>
              <a:rPr sz="1200" dirty="0">
                <a:latin typeface="Calibri"/>
                <a:cs typeface="Calibri"/>
              </a:rPr>
              <a:t>tentang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Pendidikan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Tinggi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yang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mencantumkan </a:t>
            </a:r>
            <a:r>
              <a:rPr sz="1200" dirty="0">
                <a:latin typeface="Calibri"/>
                <a:cs typeface="Calibri"/>
              </a:rPr>
              <a:t>mata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kuliah</a:t>
            </a:r>
            <a:r>
              <a:rPr sz="1200" spc="-10" dirty="0">
                <a:latin typeface="Calibri"/>
                <a:cs typeface="Calibri"/>
              </a:rPr>
              <a:t> Pancasila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sebagai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mata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kuliah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wajib </a:t>
            </a:r>
            <a:r>
              <a:rPr sz="1200" dirty="0">
                <a:latin typeface="Calibri"/>
                <a:cs typeface="Calibri"/>
              </a:rPr>
              <a:t>pada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pasal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35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ayat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(3).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01877" y="5002148"/>
            <a:ext cx="198437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0" dirty="0">
                <a:latin typeface="Calibri"/>
                <a:cs typeface="Calibri"/>
              </a:rPr>
              <a:t>ABDURAHMAN </a:t>
            </a:r>
            <a:r>
              <a:rPr sz="1600" b="1" spc="-20" dirty="0">
                <a:latin typeface="Calibri"/>
                <a:cs typeface="Calibri"/>
              </a:rPr>
              <a:t>WAHID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41034" y="5125973"/>
            <a:ext cx="1099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0" dirty="0">
                <a:latin typeface="Calibri"/>
                <a:cs typeface="Calibri"/>
              </a:rPr>
              <a:t>MEGAWATI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95103" y="5025897"/>
            <a:ext cx="370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SBY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6696" y="3730752"/>
            <a:ext cx="2225040" cy="125272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95671" y="3749040"/>
            <a:ext cx="2414016" cy="123444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74480" y="3736847"/>
            <a:ext cx="2322576" cy="12557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3523" y="827532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21336">
            <a:solidFill>
              <a:srgbClr val="009D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2877" y="60865"/>
            <a:ext cx="10515600" cy="1325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95"/>
              </a:spcBef>
            </a:pPr>
            <a:r>
              <a:rPr sz="3200" b="0" i="0" spc="-585" dirty="0">
                <a:solidFill>
                  <a:srgbClr val="171717"/>
                </a:solidFill>
                <a:latin typeface="Trebuchet MS"/>
                <a:cs typeface="Trebuchet MS"/>
              </a:rPr>
              <a:t>BADAN</a:t>
            </a:r>
            <a:r>
              <a:rPr sz="3200" b="0" i="0" spc="-20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3200" b="0" i="0" spc="-540" dirty="0">
                <a:solidFill>
                  <a:srgbClr val="171717"/>
                </a:solidFill>
                <a:latin typeface="Trebuchet MS"/>
                <a:cs typeface="Trebuchet MS"/>
              </a:rPr>
              <a:t>PEMBINAAN</a:t>
            </a:r>
            <a:r>
              <a:rPr sz="3200" b="0" i="0" spc="-22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3200" b="0" i="0" spc="-509" dirty="0">
                <a:solidFill>
                  <a:srgbClr val="171717"/>
                </a:solidFill>
                <a:latin typeface="Trebuchet MS"/>
                <a:cs typeface="Trebuchet MS"/>
              </a:rPr>
              <a:t>IDEOLOGI</a:t>
            </a:r>
            <a:r>
              <a:rPr sz="3200" b="0" i="0" spc="-250" dirty="0">
                <a:solidFill>
                  <a:srgbClr val="171717"/>
                </a:solidFill>
                <a:latin typeface="Trebuchet MS"/>
                <a:cs typeface="Trebuchet MS"/>
              </a:rPr>
              <a:t> </a:t>
            </a:r>
            <a:r>
              <a:rPr sz="3200" b="0" i="0" spc="-520" dirty="0">
                <a:solidFill>
                  <a:srgbClr val="171717"/>
                </a:solidFill>
                <a:latin typeface="Trebuchet MS"/>
                <a:cs typeface="Trebuchet MS"/>
              </a:rPr>
              <a:t>PANCASILA</a:t>
            </a:r>
            <a:endParaRPr sz="32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7760" y="1063752"/>
            <a:ext cx="2093976" cy="22646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68983" y="3448303"/>
            <a:ext cx="16922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spc="-130" dirty="0">
                <a:latin typeface="Arial"/>
                <a:cs typeface="Arial"/>
              </a:rPr>
              <a:t>Presiden</a:t>
            </a:r>
            <a:r>
              <a:rPr sz="1400" b="1" spc="55" dirty="0">
                <a:latin typeface="Arial"/>
                <a:cs typeface="Arial"/>
              </a:rPr>
              <a:t> </a:t>
            </a:r>
            <a:r>
              <a:rPr sz="1400" b="1" spc="-150" dirty="0">
                <a:latin typeface="Arial"/>
                <a:cs typeface="Arial"/>
              </a:rPr>
              <a:t>Joko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90" dirty="0">
                <a:latin typeface="Arial"/>
                <a:cs typeface="Arial"/>
              </a:rPr>
              <a:t>Widodo</a:t>
            </a:r>
            <a:r>
              <a:rPr sz="1400" spc="-90" dirty="0">
                <a:latin typeface="Arial MT"/>
                <a:cs typeface="Arial MT"/>
              </a:rPr>
              <a:t>,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3270" y="4887848"/>
            <a:ext cx="6585584" cy="1246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5"/>
              </a:spcBef>
            </a:pPr>
            <a:r>
              <a:rPr sz="1600" b="1" i="1" spc="-185" dirty="0">
                <a:latin typeface="Trebuchet MS"/>
                <a:cs typeface="Trebuchet MS"/>
              </a:rPr>
              <a:t>Badan</a:t>
            </a:r>
            <a:r>
              <a:rPr sz="1600" b="1" i="1" spc="-100" dirty="0">
                <a:latin typeface="Trebuchet MS"/>
                <a:cs typeface="Trebuchet MS"/>
              </a:rPr>
              <a:t> </a:t>
            </a:r>
            <a:r>
              <a:rPr sz="1600" b="1" i="1" spc="-210" dirty="0">
                <a:latin typeface="Trebuchet MS"/>
                <a:cs typeface="Trebuchet MS"/>
              </a:rPr>
              <a:t>Pembinaan</a:t>
            </a:r>
            <a:r>
              <a:rPr sz="1600" b="1" i="1" spc="-105" dirty="0">
                <a:latin typeface="Trebuchet MS"/>
                <a:cs typeface="Trebuchet MS"/>
              </a:rPr>
              <a:t> </a:t>
            </a:r>
            <a:r>
              <a:rPr sz="1600" b="1" i="1" spc="-150" dirty="0">
                <a:latin typeface="Trebuchet MS"/>
                <a:cs typeface="Trebuchet MS"/>
              </a:rPr>
              <a:t>Ideologi</a:t>
            </a:r>
            <a:r>
              <a:rPr sz="1600" b="1" i="1" spc="-90" dirty="0">
                <a:latin typeface="Trebuchet MS"/>
                <a:cs typeface="Trebuchet MS"/>
              </a:rPr>
              <a:t> </a:t>
            </a:r>
            <a:r>
              <a:rPr sz="1600" b="1" i="1" spc="-200" dirty="0">
                <a:latin typeface="Trebuchet MS"/>
                <a:cs typeface="Trebuchet MS"/>
              </a:rPr>
              <a:t>Pancasila</a:t>
            </a:r>
            <a:r>
              <a:rPr sz="1600" b="1" i="1" spc="-95" dirty="0">
                <a:latin typeface="Trebuchet MS"/>
                <a:cs typeface="Trebuchet MS"/>
              </a:rPr>
              <a:t> </a:t>
            </a:r>
            <a:r>
              <a:rPr sz="1600" i="1" spc="-90" dirty="0">
                <a:latin typeface="Arial"/>
                <a:cs typeface="Arial"/>
              </a:rPr>
              <a:t>adalah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90" dirty="0">
                <a:latin typeface="Arial"/>
                <a:cs typeface="Arial"/>
              </a:rPr>
              <a:t>adalah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spc="-110" dirty="0">
                <a:latin typeface="Arial"/>
                <a:cs typeface="Arial"/>
              </a:rPr>
              <a:t>institusi</a:t>
            </a:r>
            <a:r>
              <a:rPr sz="1600" i="1" spc="-10" dirty="0">
                <a:latin typeface="Arial"/>
                <a:cs typeface="Arial"/>
              </a:rPr>
              <a:t> </a:t>
            </a:r>
            <a:r>
              <a:rPr sz="1600" i="1" spc="-105" dirty="0">
                <a:latin typeface="Arial"/>
                <a:cs typeface="Arial"/>
              </a:rPr>
              <a:t>yang</a:t>
            </a:r>
            <a:r>
              <a:rPr sz="1600" i="1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melakukan </a:t>
            </a:r>
            <a:r>
              <a:rPr sz="1600" i="1" spc="-140" dirty="0">
                <a:latin typeface="Arial"/>
                <a:cs typeface="Arial"/>
              </a:rPr>
              <a:t>pembinaan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65" dirty="0">
                <a:latin typeface="Arial"/>
                <a:cs typeface="Arial"/>
              </a:rPr>
              <a:t>ideologi</a:t>
            </a:r>
            <a:r>
              <a:rPr sz="1600" i="1" spc="-55" dirty="0">
                <a:latin typeface="Arial"/>
                <a:cs typeface="Arial"/>
              </a:rPr>
              <a:t> </a:t>
            </a:r>
            <a:r>
              <a:rPr sz="1600" i="1" spc="-145" dirty="0">
                <a:latin typeface="Arial"/>
                <a:cs typeface="Arial"/>
              </a:rPr>
              <a:t>Pancasila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spc="-130" dirty="0">
                <a:latin typeface="Arial"/>
                <a:cs typeface="Arial"/>
              </a:rPr>
              <a:t>dengan</a:t>
            </a:r>
            <a:r>
              <a:rPr sz="1600" i="1" spc="-25" dirty="0">
                <a:latin typeface="Arial"/>
                <a:cs typeface="Arial"/>
              </a:rPr>
              <a:t> </a:t>
            </a:r>
            <a:r>
              <a:rPr sz="1600" i="1" spc="-120" dirty="0">
                <a:latin typeface="Arial"/>
                <a:cs typeface="Arial"/>
              </a:rPr>
              <a:t>tugas</a:t>
            </a:r>
            <a:r>
              <a:rPr sz="1600" i="1" spc="5" dirty="0">
                <a:latin typeface="Arial"/>
                <a:cs typeface="Arial"/>
              </a:rPr>
              <a:t> </a:t>
            </a:r>
            <a:r>
              <a:rPr sz="1600" i="1" spc="-170" dirty="0">
                <a:latin typeface="Arial"/>
                <a:cs typeface="Arial"/>
              </a:rPr>
              <a:t>membantu</a:t>
            </a:r>
            <a:r>
              <a:rPr sz="1600" i="1" spc="-55" dirty="0">
                <a:latin typeface="Arial"/>
                <a:cs typeface="Arial"/>
              </a:rPr>
              <a:t> </a:t>
            </a:r>
            <a:r>
              <a:rPr sz="1600" i="1" spc="-155" dirty="0">
                <a:latin typeface="Arial"/>
                <a:cs typeface="Arial"/>
              </a:rPr>
              <a:t>Presiden</a:t>
            </a:r>
            <a:r>
              <a:rPr sz="1600" i="1" spc="-15" dirty="0">
                <a:latin typeface="Arial"/>
                <a:cs typeface="Arial"/>
              </a:rPr>
              <a:t> </a:t>
            </a:r>
            <a:r>
              <a:rPr sz="1600" i="1" spc="-105" dirty="0">
                <a:latin typeface="Arial"/>
                <a:cs typeface="Arial"/>
              </a:rPr>
              <a:t>dalam</a:t>
            </a:r>
            <a:r>
              <a:rPr sz="1600" i="1" spc="-55" dirty="0">
                <a:latin typeface="Arial"/>
                <a:cs typeface="Arial"/>
              </a:rPr>
              <a:t> </a:t>
            </a:r>
            <a:r>
              <a:rPr sz="1600" i="1" spc="-120" dirty="0">
                <a:latin typeface="Arial"/>
                <a:cs typeface="Arial"/>
              </a:rPr>
              <a:t>merumuskan </a:t>
            </a:r>
            <a:r>
              <a:rPr sz="1600" i="1" spc="-100" dirty="0">
                <a:latin typeface="Arial"/>
                <a:cs typeface="Arial"/>
              </a:rPr>
              <a:t>arah</a:t>
            </a:r>
            <a:r>
              <a:rPr sz="1600" i="1" spc="-30" dirty="0">
                <a:latin typeface="Arial"/>
                <a:cs typeface="Arial"/>
              </a:rPr>
              <a:t> </a:t>
            </a:r>
            <a:r>
              <a:rPr sz="1600" i="1" spc="-100" dirty="0">
                <a:latin typeface="Arial"/>
                <a:cs typeface="Arial"/>
              </a:rPr>
              <a:t>kebijakan</a:t>
            </a:r>
            <a:r>
              <a:rPr sz="1600" i="1" spc="-40" dirty="0">
                <a:latin typeface="Arial"/>
                <a:cs typeface="Arial"/>
              </a:rPr>
              <a:t> </a:t>
            </a:r>
            <a:r>
              <a:rPr sz="1600" i="1" spc="-240" dirty="0">
                <a:latin typeface="Arial"/>
                <a:cs typeface="Arial"/>
              </a:rPr>
              <a:t>umum</a:t>
            </a:r>
            <a:r>
              <a:rPr sz="1600" i="1" spc="-10" dirty="0">
                <a:latin typeface="Arial"/>
                <a:cs typeface="Arial"/>
              </a:rPr>
              <a:t> </a:t>
            </a:r>
            <a:r>
              <a:rPr sz="1600" i="1" spc="-140" dirty="0">
                <a:latin typeface="Arial"/>
                <a:cs typeface="Arial"/>
              </a:rPr>
              <a:t>pembinaan</a:t>
            </a:r>
            <a:r>
              <a:rPr sz="1600" i="1" spc="-40" dirty="0">
                <a:latin typeface="Arial"/>
                <a:cs typeface="Arial"/>
              </a:rPr>
              <a:t> </a:t>
            </a:r>
            <a:r>
              <a:rPr sz="1600" i="1" spc="-65" dirty="0">
                <a:latin typeface="Arial"/>
                <a:cs typeface="Arial"/>
              </a:rPr>
              <a:t>ideologi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spc="-145" dirty="0">
                <a:latin typeface="Arial"/>
                <a:cs typeface="Arial"/>
              </a:rPr>
              <a:t>Pancasila</a:t>
            </a:r>
            <a:r>
              <a:rPr sz="1600" i="1" spc="-55" dirty="0">
                <a:latin typeface="Arial"/>
                <a:cs typeface="Arial"/>
              </a:rPr>
              <a:t> </a:t>
            </a:r>
            <a:r>
              <a:rPr sz="1600" i="1" spc="-125" dirty="0">
                <a:latin typeface="Arial"/>
                <a:cs typeface="Arial"/>
              </a:rPr>
              <a:t>dan</a:t>
            </a:r>
            <a:r>
              <a:rPr sz="1600" i="1" spc="5" dirty="0">
                <a:latin typeface="Arial"/>
                <a:cs typeface="Arial"/>
              </a:rPr>
              <a:t> </a:t>
            </a:r>
            <a:r>
              <a:rPr sz="1600" i="1" spc="-150" dirty="0">
                <a:latin typeface="Arial"/>
                <a:cs typeface="Arial"/>
              </a:rPr>
              <a:t>melaksanakan</a:t>
            </a:r>
            <a:r>
              <a:rPr sz="1600" i="1" spc="-65" dirty="0">
                <a:latin typeface="Arial"/>
                <a:cs typeface="Arial"/>
              </a:rPr>
              <a:t> </a:t>
            </a:r>
            <a:r>
              <a:rPr sz="1600" i="1" spc="-10" dirty="0">
                <a:latin typeface="Arial"/>
                <a:cs typeface="Arial"/>
              </a:rPr>
              <a:t>koordinasi, </a:t>
            </a:r>
            <a:r>
              <a:rPr sz="1600" i="1" spc="-125" dirty="0">
                <a:latin typeface="Arial"/>
                <a:cs typeface="Arial"/>
              </a:rPr>
              <a:t>sinkronisasi,</a:t>
            </a:r>
            <a:r>
              <a:rPr sz="1600" i="1" spc="-50" dirty="0">
                <a:latin typeface="Arial"/>
                <a:cs typeface="Arial"/>
              </a:rPr>
              <a:t> </a:t>
            </a:r>
            <a:r>
              <a:rPr sz="1600" i="1" spc="-125" dirty="0">
                <a:latin typeface="Arial"/>
                <a:cs typeface="Arial"/>
              </a:rPr>
              <a:t>dan</a:t>
            </a:r>
            <a:r>
              <a:rPr sz="1600" i="1" dirty="0">
                <a:latin typeface="Arial"/>
                <a:cs typeface="Arial"/>
              </a:rPr>
              <a:t> </a:t>
            </a:r>
            <a:r>
              <a:rPr sz="1600" i="1" spc="-120" dirty="0">
                <a:latin typeface="Arial"/>
                <a:cs typeface="Arial"/>
              </a:rPr>
              <a:t>pengendalian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140" dirty="0">
                <a:latin typeface="Arial"/>
                <a:cs typeface="Arial"/>
              </a:rPr>
              <a:t>pembinaan</a:t>
            </a:r>
            <a:r>
              <a:rPr sz="1600" i="1" spc="-45" dirty="0">
                <a:latin typeface="Arial"/>
                <a:cs typeface="Arial"/>
              </a:rPr>
              <a:t> </a:t>
            </a:r>
            <a:r>
              <a:rPr sz="1600" i="1" spc="-60" dirty="0">
                <a:latin typeface="Arial"/>
                <a:cs typeface="Arial"/>
              </a:rPr>
              <a:t>ideologi</a:t>
            </a:r>
            <a:r>
              <a:rPr sz="1600" i="1" spc="-30" dirty="0">
                <a:latin typeface="Arial"/>
                <a:cs typeface="Arial"/>
              </a:rPr>
              <a:t> </a:t>
            </a:r>
            <a:r>
              <a:rPr sz="1600" i="1" spc="-145" dirty="0">
                <a:latin typeface="Arial"/>
                <a:cs typeface="Arial"/>
              </a:rPr>
              <a:t>Pancasila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spc="-150" dirty="0">
                <a:latin typeface="Arial"/>
                <a:cs typeface="Arial"/>
              </a:rPr>
              <a:t>secara</a:t>
            </a:r>
            <a:r>
              <a:rPr sz="1600" i="1" dirty="0">
                <a:latin typeface="Arial"/>
                <a:cs typeface="Arial"/>
              </a:rPr>
              <a:t> </a:t>
            </a:r>
            <a:r>
              <a:rPr sz="1600" i="1" spc="-155" dirty="0">
                <a:latin typeface="Arial"/>
                <a:cs typeface="Arial"/>
              </a:rPr>
              <a:t>menyeluruh</a:t>
            </a:r>
            <a:r>
              <a:rPr sz="1600" i="1" spc="-20" dirty="0">
                <a:latin typeface="Arial"/>
                <a:cs typeface="Arial"/>
              </a:rPr>
              <a:t> </a:t>
            </a:r>
            <a:r>
              <a:rPr sz="1600" i="1" spc="-25" dirty="0">
                <a:latin typeface="Arial"/>
                <a:cs typeface="Arial"/>
              </a:rPr>
              <a:t>dan </a:t>
            </a:r>
            <a:r>
              <a:rPr sz="1600" i="1" spc="-40" dirty="0">
                <a:latin typeface="Arial"/>
                <a:cs typeface="Arial"/>
              </a:rPr>
              <a:t>berkelanjutan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48784" y="1213103"/>
            <a:ext cx="609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32231"/>
            <a:ext cx="12192000" cy="646430"/>
            <a:chOff x="0" y="332231"/>
            <a:chExt cx="12192000" cy="646430"/>
          </a:xfrm>
        </p:grpSpPr>
        <p:sp>
          <p:nvSpPr>
            <p:cNvPr id="3" name="object 3"/>
            <p:cNvSpPr/>
            <p:nvPr/>
          </p:nvSpPr>
          <p:spPr>
            <a:xfrm>
              <a:off x="0" y="621791"/>
              <a:ext cx="1399540" cy="143510"/>
            </a:xfrm>
            <a:custGeom>
              <a:avLst/>
              <a:gdLst/>
              <a:ahLst/>
              <a:cxnLst/>
              <a:rect l="l" t="t" r="r" b="b"/>
              <a:pathLst>
                <a:path w="1399540" h="143509">
                  <a:moveTo>
                    <a:pt x="1399032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399032" y="143255"/>
                  </a:lnTo>
                  <a:lnTo>
                    <a:pt x="139903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384" y="332231"/>
              <a:ext cx="728472" cy="6461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99032" y="621791"/>
              <a:ext cx="10793095" cy="143510"/>
            </a:xfrm>
            <a:custGeom>
              <a:avLst/>
              <a:gdLst/>
              <a:ahLst/>
              <a:cxnLst/>
              <a:rect l="l" t="t" r="r" b="b"/>
              <a:pathLst>
                <a:path w="10793095" h="143509">
                  <a:moveTo>
                    <a:pt x="10792968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0792968" y="143255"/>
                  </a:lnTo>
                  <a:lnTo>
                    <a:pt x="1079296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97253" y="170433"/>
            <a:ext cx="759460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221F1F"/>
                </a:solidFill>
              </a:rPr>
              <a:t>SUMBER</a:t>
            </a:r>
            <a:r>
              <a:rPr spc="-85" dirty="0">
                <a:solidFill>
                  <a:srgbClr val="221F1F"/>
                </a:solidFill>
              </a:rPr>
              <a:t> </a:t>
            </a:r>
            <a:r>
              <a:rPr spc="-10" dirty="0">
                <a:solidFill>
                  <a:srgbClr val="221F1F"/>
                </a:solidFill>
              </a:rPr>
              <a:t>SOSIOLOGIS</a:t>
            </a:r>
            <a:r>
              <a:rPr spc="-45" dirty="0">
                <a:solidFill>
                  <a:srgbClr val="221F1F"/>
                </a:solidFill>
              </a:rPr>
              <a:t> </a:t>
            </a:r>
            <a:r>
              <a:rPr dirty="0">
                <a:solidFill>
                  <a:srgbClr val="221F1F"/>
                </a:solidFill>
              </a:rPr>
              <a:t>&amp;</a:t>
            </a:r>
            <a:r>
              <a:rPr spc="-75" dirty="0">
                <a:solidFill>
                  <a:srgbClr val="221F1F"/>
                </a:solidFill>
              </a:rPr>
              <a:t> </a:t>
            </a:r>
            <a:r>
              <a:rPr dirty="0">
                <a:solidFill>
                  <a:srgbClr val="221F1F"/>
                </a:solidFill>
              </a:rPr>
              <a:t>POLITIK</a:t>
            </a:r>
            <a:r>
              <a:rPr spc="-35" dirty="0">
                <a:solidFill>
                  <a:srgbClr val="221F1F"/>
                </a:solidFill>
              </a:rPr>
              <a:t> </a:t>
            </a:r>
            <a:r>
              <a:rPr spc="-20" dirty="0">
                <a:solidFill>
                  <a:srgbClr val="221F1F"/>
                </a:solidFill>
              </a:rPr>
              <a:t>PANCASILA</a:t>
            </a:r>
            <a:r>
              <a:rPr spc="-30" dirty="0">
                <a:solidFill>
                  <a:srgbClr val="221F1F"/>
                </a:solidFill>
              </a:rPr>
              <a:t> </a:t>
            </a:r>
            <a:r>
              <a:rPr dirty="0">
                <a:solidFill>
                  <a:srgbClr val="221F1F"/>
                </a:solidFill>
              </a:rPr>
              <a:t>SEBAGAI</a:t>
            </a:r>
            <a:r>
              <a:rPr spc="-55" dirty="0">
                <a:solidFill>
                  <a:srgbClr val="221F1F"/>
                </a:solidFill>
              </a:rPr>
              <a:t> </a:t>
            </a:r>
            <a:r>
              <a:rPr spc="-10" dirty="0">
                <a:solidFill>
                  <a:srgbClr val="221F1F"/>
                </a:solidFill>
              </a:rPr>
              <a:t>IDEOLOGI</a:t>
            </a:r>
            <a:r>
              <a:rPr spc="-40" dirty="0">
                <a:solidFill>
                  <a:srgbClr val="221F1F"/>
                </a:solidFill>
              </a:rPr>
              <a:t> </a:t>
            </a:r>
            <a:r>
              <a:rPr spc="-10" dirty="0">
                <a:solidFill>
                  <a:srgbClr val="221F1F"/>
                </a:solidFill>
              </a:rPr>
              <a:t>NEGARA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109977" y="1641348"/>
          <a:ext cx="8982075" cy="40874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36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5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12661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60" dirty="0">
                          <a:latin typeface="Arial"/>
                          <a:cs typeface="Arial"/>
                        </a:rPr>
                        <a:t>SUMBER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60" dirty="0">
                          <a:latin typeface="Arial"/>
                          <a:cs typeface="Arial"/>
                        </a:rPr>
                        <a:t>SOSIOLOGI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260" dirty="0">
                          <a:latin typeface="Arial"/>
                          <a:cs typeface="Arial"/>
                        </a:rPr>
                        <a:t>SUMBER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55" dirty="0">
                          <a:latin typeface="Arial"/>
                          <a:cs typeface="Arial"/>
                        </a:rPr>
                        <a:t>POLITIS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T w="12700">
                      <a:solidFill>
                        <a:srgbClr val="4F81BC"/>
                      </a:solidFill>
                      <a:prstDash val="solid"/>
                    </a:lnT>
                    <a:lnB w="12700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 marR="13970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75" dirty="0">
                          <a:latin typeface="Arial MT"/>
                          <a:cs typeface="Arial MT"/>
                        </a:rPr>
                        <a:t>Kehidupan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beragama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0" dirty="0">
                          <a:latin typeface="Arial MT"/>
                          <a:cs typeface="Arial MT"/>
                        </a:rPr>
                        <a:t>masyarakat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75" dirty="0">
                          <a:latin typeface="Arial MT"/>
                          <a:cs typeface="Arial MT"/>
                        </a:rPr>
                        <a:t>Indonesia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dalam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berbagai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bentuk 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kepercayaan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70" dirty="0">
                          <a:latin typeface="Arial MT"/>
                          <a:cs typeface="Arial MT"/>
                        </a:rPr>
                        <a:t>keyakinan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terhadap 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adanya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70" dirty="0">
                          <a:latin typeface="Arial MT"/>
                          <a:cs typeface="Arial MT"/>
                        </a:rPr>
                        <a:t>kekuatan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gaib.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4F81BC"/>
                      </a:solidFill>
                      <a:prstDash val="solid"/>
                    </a:lnT>
                    <a:solidFill>
                      <a:srgbClr val="4F81BC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semangat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1200" spc="-60" dirty="0">
                          <a:latin typeface="Arial MT"/>
                          <a:cs typeface="Arial MT"/>
                        </a:rPr>
                        <a:t>toleransi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0" dirty="0">
                          <a:latin typeface="Arial MT"/>
                          <a:cs typeface="Arial MT"/>
                        </a:rPr>
                        <a:t>antarumat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beragama.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4F81BC"/>
                      </a:solidFill>
                      <a:prstDash val="solid"/>
                    </a:lnT>
                    <a:solidFill>
                      <a:srgbClr val="4F81BC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 marR="5353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60" dirty="0">
                          <a:latin typeface="Arial MT"/>
                          <a:cs typeface="Arial MT"/>
                        </a:rPr>
                        <a:t>saling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0" dirty="0">
                          <a:latin typeface="Arial MT"/>
                          <a:cs typeface="Arial MT"/>
                        </a:rPr>
                        <a:t>menghargai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75" dirty="0">
                          <a:latin typeface="Arial MT"/>
                          <a:cs typeface="Arial MT"/>
                        </a:rPr>
                        <a:t>menghormati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0" dirty="0">
                          <a:latin typeface="Arial MT"/>
                          <a:cs typeface="Arial MT"/>
                        </a:rPr>
                        <a:t>hak-</a:t>
                      </a:r>
                      <a:r>
                        <a:rPr sz="1200" spc="-80" dirty="0">
                          <a:latin typeface="Arial MT"/>
                          <a:cs typeface="Arial MT"/>
                        </a:rPr>
                        <a:t>hak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orang 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lain,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tidak 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bersikap</a:t>
                      </a:r>
                      <a:r>
                        <a:rPr sz="12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90" dirty="0">
                          <a:latin typeface="Arial MT"/>
                          <a:cs typeface="Arial MT"/>
                        </a:rPr>
                        <a:t>sewenang-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wenang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60" dirty="0">
                          <a:latin typeface="Arial MT"/>
                          <a:cs typeface="Arial MT"/>
                        </a:rPr>
                        <a:t>diwujudkan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penghargaan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30" dirty="0">
                          <a:latin typeface="Arial MT"/>
                          <a:cs typeface="Arial MT"/>
                        </a:rPr>
                        <a:t>terhadap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0" dirty="0">
                          <a:latin typeface="Arial MT"/>
                          <a:cs typeface="Arial MT"/>
                        </a:rPr>
                        <a:t>pelaksanaan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75" dirty="0">
                          <a:latin typeface="Arial MT"/>
                          <a:cs typeface="Arial MT"/>
                        </a:rPr>
                        <a:t>Hak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5" dirty="0">
                          <a:latin typeface="Arial MT"/>
                          <a:cs typeface="Arial MT"/>
                        </a:rPr>
                        <a:t>Asasi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80" dirty="0">
                          <a:latin typeface="Arial MT"/>
                          <a:cs typeface="Arial MT"/>
                        </a:rPr>
                        <a:t>Manusia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90" dirty="0">
                          <a:latin typeface="Arial MT"/>
                          <a:cs typeface="Arial MT"/>
                        </a:rPr>
                        <a:t>(HAM)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di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Indonesia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91440" marR="5549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80" dirty="0">
                          <a:latin typeface="Arial MT"/>
                          <a:cs typeface="Arial MT"/>
                        </a:rPr>
                        <a:t>bentuk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solidaritas,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rasa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0" dirty="0">
                          <a:latin typeface="Arial MT"/>
                          <a:cs typeface="Arial MT"/>
                        </a:rPr>
                        <a:t>setia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75" dirty="0">
                          <a:latin typeface="Arial MT"/>
                          <a:cs typeface="Arial MT"/>
                        </a:rPr>
                        <a:t>kawan,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rasa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5" dirty="0">
                          <a:latin typeface="Arial MT"/>
                          <a:cs typeface="Arial MT"/>
                        </a:rPr>
                        <a:t>cinta</a:t>
                      </a:r>
                      <a:r>
                        <a:rPr sz="12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5" dirty="0">
                          <a:latin typeface="Arial MT"/>
                          <a:cs typeface="Arial MT"/>
                        </a:rPr>
                        <a:t>tanah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air</a:t>
                      </a:r>
                      <a:r>
                        <a:rPr sz="12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yang 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berwujud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pada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80" dirty="0">
                          <a:latin typeface="Arial MT"/>
                          <a:cs typeface="Arial MT"/>
                        </a:rPr>
                        <a:t>mencintai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0" dirty="0">
                          <a:latin typeface="Arial MT"/>
                          <a:cs typeface="Arial MT"/>
                        </a:rPr>
                        <a:t>produk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dalam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negeri.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solidFill>
                      <a:srgbClr val="4F81BC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7320" marR="83693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80" dirty="0">
                          <a:latin typeface="Arial MT"/>
                          <a:cs typeface="Arial MT"/>
                        </a:rPr>
                        <a:t>Mendahulukan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5" dirty="0">
                          <a:latin typeface="Arial MT"/>
                          <a:cs typeface="Arial MT"/>
                        </a:rPr>
                        <a:t>kepentingan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5" dirty="0">
                          <a:latin typeface="Arial MT"/>
                          <a:cs typeface="Arial MT"/>
                        </a:rPr>
                        <a:t>bangsa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dan</a:t>
                      </a:r>
                      <a:r>
                        <a:rPr sz="12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negara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daripada </a:t>
                      </a:r>
                      <a:r>
                        <a:rPr sz="1200" spc="-65" dirty="0">
                          <a:latin typeface="Arial MT"/>
                          <a:cs typeface="Arial MT"/>
                        </a:rPr>
                        <a:t>kepentingan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80" dirty="0">
                          <a:latin typeface="Arial MT"/>
                          <a:cs typeface="Arial MT"/>
                        </a:rPr>
                        <a:t>kelompok</a:t>
                      </a:r>
                      <a:r>
                        <a:rPr sz="12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atau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0" dirty="0">
                          <a:latin typeface="Arial MT"/>
                          <a:cs typeface="Arial MT"/>
                        </a:rPr>
                        <a:t>golongan,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85" dirty="0">
                          <a:latin typeface="Arial MT"/>
                          <a:cs typeface="Arial MT"/>
                        </a:rPr>
                        <a:t>termasuk</a:t>
                      </a:r>
                      <a:r>
                        <a:rPr sz="12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partai.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solidFill>
                      <a:srgbClr val="4F81BC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135" dirty="0">
                          <a:latin typeface="Arial MT"/>
                          <a:cs typeface="Arial MT"/>
                        </a:rPr>
                        <a:t>Bentuk</a:t>
                      </a:r>
                      <a:r>
                        <a:rPr sz="1400" spc="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70" dirty="0">
                          <a:latin typeface="Arial MT"/>
                          <a:cs typeface="Arial MT"/>
                        </a:rPr>
                        <a:t>menghargai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pendapat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5" dirty="0">
                          <a:latin typeface="Arial MT"/>
                          <a:cs typeface="Arial MT"/>
                        </a:rPr>
                        <a:t>orang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50" dirty="0">
                          <a:latin typeface="Arial MT"/>
                          <a:cs typeface="Arial MT"/>
                        </a:rPr>
                        <a:t>lain,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semangat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spc="-105" dirty="0">
                          <a:latin typeface="Arial MT"/>
                          <a:cs typeface="Arial MT"/>
                        </a:rPr>
                        <a:t>musyawarah</a:t>
                      </a:r>
                      <a:r>
                        <a:rPr sz="14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45" dirty="0">
                          <a:latin typeface="Arial MT"/>
                          <a:cs typeface="Arial MT"/>
                        </a:rPr>
                        <a:t>dalam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90" dirty="0">
                          <a:latin typeface="Arial MT"/>
                          <a:cs typeface="Arial MT"/>
                        </a:rPr>
                        <a:t>mengambil</a:t>
                      </a:r>
                      <a:r>
                        <a:rPr sz="14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keputusan.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80" dirty="0">
                          <a:latin typeface="Arial MT"/>
                          <a:cs typeface="Arial MT"/>
                        </a:rPr>
                        <a:t>Mendahulukan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pengambilan</a:t>
                      </a:r>
                      <a:r>
                        <a:rPr sz="12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90" dirty="0">
                          <a:latin typeface="Arial MT"/>
                          <a:cs typeface="Arial MT"/>
                        </a:rPr>
                        <a:t>keputusan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berdasarkan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musyawarah</a:t>
                      </a:r>
                      <a:endParaRPr sz="1200">
                        <a:latin typeface="Arial MT"/>
                        <a:cs typeface="Arial MT"/>
                      </a:endParaRPr>
                    </a:p>
                    <a:p>
                      <a:pPr marL="14732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daripada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voting.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424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85" dirty="0">
                          <a:latin typeface="Arial MT"/>
                          <a:cs typeface="Arial MT"/>
                        </a:rPr>
                        <a:t>menjalankan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gaya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70" dirty="0">
                          <a:latin typeface="Arial MT"/>
                          <a:cs typeface="Arial MT"/>
                        </a:rPr>
                        <a:t>hidup</a:t>
                      </a:r>
                      <a:r>
                        <a:rPr sz="14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90" dirty="0">
                          <a:latin typeface="Arial MT"/>
                          <a:cs typeface="Arial MT"/>
                        </a:rPr>
                        <a:t>sederhana,</a:t>
                      </a:r>
                      <a:r>
                        <a:rPr sz="14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tidak</a:t>
                      </a:r>
                      <a:r>
                        <a:rPr sz="14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10" dirty="0">
                          <a:latin typeface="Arial MT"/>
                          <a:cs typeface="Arial MT"/>
                        </a:rPr>
                        <a:t>menyolok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atau</a:t>
                      </a:r>
                      <a:endParaRPr sz="1400">
                        <a:latin typeface="Arial MT"/>
                        <a:cs typeface="Arial MT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berlebihan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7465" marB="0"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4F81BC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47320" marR="19875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tidak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80" dirty="0">
                          <a:latin typeface="Arial MT"/>
                          <a:cs typeface="Arial MT"/>
                        </a:rPr>
                        <a:t>menyalahgunakan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85" dirty="0">
                          <a:latin typeface="Arial MT"/>
                          <a:cs typeface="Arial MT"/>
                        </a:rPr>
                        <a:t>kekuasaan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80" dirty="0">
                          <a:latin typeface="Arial MT"/>
                          <a:cs typeface="Arial MT"/>
                        </a:rPr>
                        <a:t>(abuse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of</a:t>
                      </a:r>
                      <a:r>
                        <a:rPr sz="12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power)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untuk </a:t>
                      </a:r>
                      <a:r>
                        <a:rPr sz="1200" spc="-75" dirty="0">
                          <a:latin typeface="Arial MT"/>
                          <a:cs typeface="Arial MT"/>
                        </a:rPr>
                        <a:t>memperkaya</a:t>
                      </a:r>
                      <a:r>
                        <a:rPr sz="12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diri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atau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80" dirty="0">
                          <a:latin typeface="Arial MT"/>
                          <a:cs typeface="Arial MT"/>
                        </a:rPr>
                        <a:t>kelompok</a:t>
                      </a:r>
                      <a:r>
                        <a:rPr sz="1200" spc="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karena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65" dirty="0">
                          <a:latin typeface="Arial MT"/>
                          <a:cs typeface="Arial MT"/>
                        </a:rPr>
                        <a:t>penyalahgunaan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70" dirty="0">
                          <a:latin typeface="Arial MT"/>
                          <a:cs typeface="Arial MT"/>
                        </a:rPr>
                        <a:t>kekuasaan 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itulah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yang</a:t>
                      </a:r>
                      <a:r>
                        <a:rPr sz="12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70" dirty="0">
                          <a:latin typeface="Arial MT"/>
                          <a:cs typeface="Arial MT"/>
                        </a:rPr>
                        <a:t>menjadi</a:t>
                      </a:r>
                      <a:r>
                        <a:rPr sz="12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faktor </a:t>
                      </a:r>
                      <a:r>
                        <a:rPr sz="1200" spc="-100" dirty="0">
                          <a:latin typeface="Arial MT"/>
                          <a:cs typeface="Arial MT"/>
                        </a:rPr>
                        <a:t>pemicu</a:t>
                      </a:r>
                      <a:r>
                        <a:rPr sz="12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30" dirty="0">
                          <a:latin typeface="Arial MT"/>
                          <a:cs typeface="Arial MT"/>
                        </a:rPr>
                        <a:t>terjadinya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korupsi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38735" marB="0">
                    <a:lnB w="12700">
                      <a:solidFill>
                        <a:srgbClr val="4F81BC"/>
                      </a:solidFill>
                      <a:prstDash val="solid"/>
                    </a:lnB>
                    <a:solidFill>
                      <a:srgbClr val="4F81BC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7591" y="4971288"/>
            <a:ext cx="621791" cy="51815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7591" y="4126991"/>
            <a:ext cx="621791" cy="5181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4544" y="3422903"/>
            <a:ext cx="612225" cy="47018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9408" y="2785872"/>
            <a:ext cx="545591" cy="45415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59408" y="2136648"/>
            <a:ext cx="57912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32231"/>
            <a:ext cx="12192000" cy="646430"/>
            <a:chOff x="0" y="332231"/>
            <a:chExt cx="12192000" cy="646430"/>
          </a:xfrm>
        </p:grpSpPr>
        <p:sp>
          <p:nvSpPr>
            <p:cNvPr id="3" name="object 3"/>
            <p:cNvSpPr/>
            <p:nvPr/>
          </p:nvSpPr>
          <p:spPr>
            <a:xfrm>
              <a:off x="0" y="621791"/>
              <a:ext cx="1399540" cy="143510"/>
            </a:xfrm>
            <a:custGeom>
              <a:avLst/>
              <a:gdLst/>
              <a:ahLst/>
              <a:cxnLst/>
              <a:rect l="l" t="t" r="r" b="b"/>
              <a:pathLst>
                <a:path w="1399540" h="143509">
                  <a:moveTo>
                    <a:pt x="1399032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399032" y="143255"/>
                  </a:lnTo>
                  <a:lnTo>
                    <a:pt x="139903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384" y="332231"/>
              <a:ext cx="728472" cy="6461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99032" y="621791"/>
              <a:ext cx="10793095" cy="143510"/>
            </a:xfrm>
            <a:custGeom>
              <a:avLst/>
              <a:gdLst/>
              <a:ahLst/>
              <a:cxnLst/>
              <a:rect l="l" t="t" r="r" b="b"/>
              <a:pathLst>
                <a:path w="10793095" h="143509">
                  <a:moveTo>
                    <a:pt x="10792968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0792968" y="143255"/>
                  </a:lnTo>
                  <a:lnTo>
                    <a:pt x="1079296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424671" y="1368552"/>
            <a:ext cx="3654425" cy="4687570"/>
          </a:xfrm>
          <a:custGeom>
            <a:avLst/>
            <a:gdLst/>
            <a:ahLst/>
            <a:cxnLst/>
            <a:rect l="l" t="t" r="r" b="b"/>
            <a:pathLst>
              <a:path w="3654425" h="4687570">
                <a:moveTo>
                  <a:pt x="3654425" y="0"/>
                </a:moveTo>
                <a:lnTo>
                  <a:pt x="0" y="0"/>
                </a:lnTo>
                <a:lnTo>
                  <a:pt x="0" y="4687443"/>
                </a:lnTo>
                <a:lnTo>
                  <a:pt x="3654425" y="4687443"/>
                </a:lnTo>
                <a:lnTo>
                  <a:pt x="3654425" y="0"/>
                </a:lnTo>
                <a:close/>
              </a:path>
            </a:pathLst>
          </a:custGeom>
          <a:solidFill>
            <a:srgbClr val="E0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911" y="1362455"/>
            <a:ext cx="4261485" cy="4727575"/>
          </a:xfrm>
          <a:custGeom>
            <a:avLst/>
            <a:gdLst/>
            <a:ahLst/>
            <a:cxnLst/>
            <a:rect l="l" t="t" r="r" b="b"/>
            <a:pathLst>
              <a:path w="4261485" h="4727575">
                <a:moveTo>
                  <a:pt x="4260977" y="0"/>
                </a:moveTo>
                <a:lnTo>
                  <a:pt x="0" y="0"/>
                </a:lnTo>
                <a:lnTo>
                  <a:pt x="0" y="4727321"/>
                </a:lnTo>
                <a:lnTo>
                  <a:pt x="4260977" y="4727321"/>
                </a:lnTo>
                <a:lnTo>
                  <a:pt x="4260977" y="0"/>
                </a:lnTo>
                <a:close/>
              </a:path>
            </a:pathLst>
          </a:custGeom>
          <a:solidFill>
            <a:srgbClr val="E0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5455" y="1525346"/>
            <a:ext cx="245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b="1" i="1" spc="-50" dirty="0">
                <a:solidFill>
                  <a:srgbClr val="2C75B6"/>
                </a:solidFill>
                <a:latin typeface="Calibri"/>
                <a:cs typeface="Calibri"/>
              </a:rPr>
              <a:t>1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47032" y="1368552"/>
            <a:ext cx="3874135" cy="4687570"/>
          </a:xfrm>
          <a:custGeom>
            <a:avLst/>
            <a:gdLst/>
            <a:ahLst/>
            <a:cxnLst/>
            <a:rect l="l" t="t" r="r" b="b"/>
            <a:pathLst>
              <a:path w="3874134" h="4687570">
                <a:moveTo>
                  <a:pt x="3873881" y="0"/>
                </a:moveTo>
                <a:lnTo>
                  <a:pt x="0" y="0"/>
                </a:lnTo>
                <a:lnTo>
                  <a:pt x="0" y="4687443"/>
                </a:lnTo>
                <a:lnTo>
                  <a:pt x="3873881" y="4687443"/>
                </a:lnTo>
                <a:lnTo>
                  <a:pt x="3873881" y="0"/>
                </a:lnTo>
                <a:close/>
              </a:path>
            </a:pathLst>
          </a:custGeom>
          <a:solidFill>
            <a:srgbClr val="E0EE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875141" y="1501267"/>
            <a:ext cx="2665730" cy="758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sz="1600" b="1" spc="-105" dirty="0">
                <a:latin typeface="Tahoma"/>
                <a:cs typeface="Tahoma"/>
              </a:rPr>
              <a:t>Eksistensi</a:t>
            </a:r>
            <a:r>
              <a:rPr sz="1600" b="1" spc="-8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Pancasila</a:t>
            </a:r>
            <a:r>
              <a:rPr sz="1600" b="1" spc="-6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lenyap </a:t>
            </a:r>
            <a:r>
              <a:rPr sz="1600" b="1" dirty="0">
                <a:latin typeface="Tahoma"/>
                <a:cs typeface="Tahoma"/>
              </a:rPr>
              <a:t>karena</a:t>
            </a:r>
            <a:r>
              <a:rPr sz="1600" b="1" spc="-8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kurangnya </a:t>
            </a:r>
            <a:r>
              <a:rPr sz="1600" b="1" spc="-40" dirty="0">
                <a:latin typeface="Tahoma"/>
                <a:cs typeface="Tahoma"/>
              </a:rPr>
              <a:t>perhatian</a:t>
            </a:r>
            <a:r>
              <a:rPr sz="1600" b="1" spc="-5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pemerintah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25009" y="1446657"/>
            <a:ext cx="269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b="1" i="1" spc="-615" dirty="0">
                <a:solidFill>
                  <a:srgbClr val="2C75B6"/>
                </a:solidFill>
                <a:latin typeface="Verdana"/>
                <a:cs typeface="Verdana"/>
              </a:rPr>
              <a:t>2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51164" y="1464386"/>
            <a:ext cx="2692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600" b="1" i="1" spc="-615" dirty="0">
                <a:solidFill>
                  <a:srgbClr val="2C75B6"/>
                </a:solidFill>
                <a:latin typeface="Verdana"/>
                <a:cs typeface="Verdana"/>
              </a:rPr>
              <a:t>3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1592" y="1502155"/>
            <a:ext cx="2696210" cy="758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5"/>
              </a:spcBef>
            </a:pPr>
            <a:r>
              <a:rPr sz="1600" b="1" spc="-35" dirty="0">
                <a:latin typeface="Tahoma"/>
                <a:cs typeface="Tahoma"/>
              </a:rPr>
              <a:t>Dikemas</a:t>
            </a:r>
            <a:r>
              <a:rPr sz="1600" b="1" spc="-8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dalam</a:t>
            </a:r>
            <a:r>
              <a:rPr sz="1600" b="1" spc="-40" dirty="0">
                <a:latin typeface="Tahoma"/>
                <a:cs typeface="Tahoma"/>
              </a:rPr>
              <a:t> </a:t>
            </a:r>
            <a:r>
              <a:rPr sz="1600" b="1" spc="-150" dirty="0">
                <a:latin typeface="Tahoma"/>
                <a:cs typeface="Tahoma"/>
              </a:rPr>
              <a:t>P4</a:t>
            </a:r>
            <a:r>
              <a:rPr sz="1600" b="1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sebagai asas</a:t>
            </a:r>
            <a:r>
              <a:rPr sz="1600" b="1" spc="-50" dirty="0">
                <a:latin typeface="Tahoma"/>
                <a:cs typeface="Tahoma"/>
              </a:rPr>
              <a:t> </a:t>
            </a:r>
            <a:r>
              <a:rPr sz="1600" b="1" spc="-45" dirty="0">
                <a:latin typeface="Tahoma"/>
                <a:cs typeface="Tahoma"/>
              </a:rPr>
              <a:t>tunggal</a:t>
            </a:r>
            <a:r>
              <a:rPr sz="1600" b="1" spc="-9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bagi</a:t>
            </a:r>
            <a:r>
              <a:rPr sz="1600" b="1" spc="-3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Orpol</a:t>
            </a:r>
            <a:r>
              <a:rPr sz="1600" b="1" spc="-65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&amp; </a:t>
            </a:r>
            <a:r>
              <a:rPr sz="1600" b="1" spc="-10" dirty="0">
                <a:latin typeface="Tahoma"/>
                <a:cs typeface="Tahoma"/>
              </a:rPr>
              <a:t>Ormas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06696" y="4576317"/>
            <a:ext cx="3089910" cy="13049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latin typeface="Calibri"/>
                <a:cs typeface="Calibri"/>
              </a:rPr>
              <a:t>Pancasila</a:t>
            </a:r>
            <a:r>
              <a:rPr sz="1400" spc="1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diletakkan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pada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kedudukan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yang </a:t>
            </a:r>
            <a:r>
              <a:rPr sz="1400" spc="-10" dirty="0">
                <a:latin typeface="Calibri"/>
                <a:cs typeface="Calibri"/>
              </a:rPr>
              <a:t>sangat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kuat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melalui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b="1" spc="-40" dirty="0">
                <a:latin typeface="Calibri"/>
                <a:cs typeface="Calibri"/>
              </a:rPr>
              <a:t>TAP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MPR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No.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II/1978 tentang</a:t>
            </a:r>
            <a:r>
              <a:rPr sz="1400" b="1" spc="1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pemasayarakatan</a:t>
            </a:r>
            <a:r>
              <a:rPr sz="1400" b="1" spc="-7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P-</a:t>
            </a:r>
            <a:r>
              <a:rPr sz="1400" b="1" dirty="0">
                <a:latin typeface="Calibri"/>
                <a:cs typeface="Calibri"/>
              </a:rPr>
              <a:t>4,</a:t>
            </a:r>
            <a:r>
              <a:rPr sz="1400" b="1" spc="1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</a:t>
            </a:r>
            <a:r>
              <a:rPr sz="1400" spc="-10" dirty="0">
                <a:latin typeface="Calibri"/>
                <a:cs typeface="Calibri"/>
              </a:rPr>
              <a:t>deologi Pancasila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menjadi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asas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tunggal </a:t>
            </a:r>
            <a:r>
              <a:rPr sz="1400" dirty="0">
                <a:latin typeface="Calibri"/>
                <a:cs typeface="Calibri"/>
              </a:rPr>
              <a:t>bagi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semua organisasi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politik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(Orpol)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organisasi </a:t>
            </a:r>
            <a:r>
              <a:rPr sz="1400" spc="-20" dirty="0">
                <a:latin typeface="Calibri"/>
                <a:cs typeface="Calibri"/>
              </a:rPr>
              <a:t>masyarakat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(Ormas).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3666" y="1518665"/>
            <a:ext cx="3146425" cy="565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125"/>
              </a:lnSpc>
              <a:spcBef>
                <a:spcPts val="100"/>
              </a:spcBef>
            </a:pPr>
            <a:r>
              <a:rPr sz="1800" b="1" spc="-10" dirty="0">
                <a:latin typeface="Tahoma"/>
                <a:cs typeface="Tahoma"/>
              </a:rPr>
              <a:t>Pancasila</a:t>
            </a:r>
            <a:r>
              <a:rPr sz="1800" b="1" spc="-100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dicampur</a:t>
            </a:r>
            <a:r>
              <a:rPr sz="1800" b="1" spc="-11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adukan</a:t>
            </a:r>
            <a:endParaRPr sz="1800">
              <a:latin typeface="Tahoma"/>
              <a:cs typeface="Tahoma"/>
            </a:endParaRPr>
          </a:p>
          <a:p>
            <a:pPr>
              <a:lnSpc>
                <a:spcPts val="2125"/>
              </a:lnSpc>
            </a:pPr>
            <a:r>
              <a:rPr sz="1800" b="1" dirty="0">
                <a:latin typeface="Tahoma"/>
                <a:cs typeface="Tahoma"/>
              </a:rPr>
              <a:t>dengan</a:t>
            </a:r>
            <a:r>
              <a:rPr sz="1800" b="1" spc="5" dirty="0"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Tahoma"/>
                <a:cs typeface="Tahoma"/>
              </a:rPr>
              <a:t>Nasakom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3580" y="4533975"/>
            <a:ext cx="3877945" cy="117157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15"/>
              </a:spcBef>
            </a:pPr>
            <a:r>
              <a:rPr sz="1500" spc="-100" dirty="0">
                <a:latin typeface="Arial MT"/>
                <a:cs typeface="Arial MT"/>
              </a:rPr>
              <a:t>Soekarno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memahami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spc="-100" dirty="0">
                <a:latin typeface="Arial MT"/>
                <a:cs typeface="Arial MT"/>
              </a:rPr>
              <a:t>kedudukan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20" dirty="0">
                <a:latin typeface="Arial MT"/>
                <a:cs typeface="Arial MT"/>
              </a:rPr>
              <a:t>Pancasila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35" dirty="0">
                <a:latin typeface="Arial MT"/>
                <a:cs typeface="Arial MT"/>
              </a:rPr>
              <a:t>sebagai </a:t>
            </a:r>
            <a:r>
              <a:rPr sz="1500" spc="-45" dirty="0">
                <a:latin typeface="Arial MT"/>
                <a:cs typeface="Arial MT"/>
              </a:rPr>
              <a:t>ideologi</a:t>
            </a:r>
            <a:r>
              <a:rPr sz="1500" spc="-65" dirty="0">
                <a:latin typeface="Arial MT"/>
                <a:cs typeface="Arial MT"/>
              </a:rPr>
              <a:t> negara.</a:t>
            </a:r>
            <a:r>
              <a:rPr sz="1500" spc="-75" dirty="0">
                <a:latin typeface="Arial MT"/>
                <a:cs typeface="Arial MT"/>
              </a:rPr>
              <a:t> </a:t>
            </a:r>
            <a:r>
              <a:rPr sz="1500" spc="-140" dirty="0">
                <a:latin typeface="Arial MT"/>
                <a:cs typeface="Arial MT"/>
              </a:rPr>
              <a:t>Namun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65" dirty="0">
                <a:latin typeface="Arial MT"/>
                <a:cs typeface="Arial MT"/>
              </a:rPr>
              <a:t>dalam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perjalanan </a:t>
            </a:r>
            <a:r>
              <a:rPr sz="1500" spc="-95" dirty="0">
                <a:latin typeface="Arial MT"/>
                <a:cs typeface="Arial MT"/>
              </a:rPr>
              <a:t>pemerintahannya,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50" dirty="0">
                <a:latin typeface="Arial MT"/>
                <a:cs typeface="Arial MT"/>
              </a:rPr>
              <a:t>ideologi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20" dirty="0">
                <a:latin typeface="Arial MT"/>
                <a:cs typeface="Arial MT"/>
              </a:rPr>
              <a:t>Pancasila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mengalami </a:t>
            </a:r>
            <a:r>
              <a:rPr sz="1500" spc="-80" dirty="0">
                <a:latin typeface="Arial MT"/>
                <a:cs typeface="Arial MT"/>
              </a:rPr>
              <a:t>pasang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125" dirty="0">
                <a:latin typeface="Arial MT"/>
                <a:cs typeface="Arial MT"/>
              </a:rPr>
              <a:t>surut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65" dirty="0">
                <a:latin typeface="Arial MT"/>
                <a:cs typeface="Arial MT"/>
              </a:rPr>
              <a:t>karena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dicampur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90" dirty="0">
                <a:latin typeface="Arial MT"/>
                <a:cs typeface="Arial MT"/>
              </a:rPr>
              <a:t>dengan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b="1" spc="-10" dirty="0">
                <a:latin typeface="Arial"/>
                <a:cs typeface="Arial"/>
              </a:rPr>
              <a:t>ideologi </a:t>
            </a:r>
            <a:r>
              <a:rPr sz="1500" b="1" spc="-140" dirty="0">
                <a:latin typeface="Arial"/>
                <a:cs typeface="Arial"/>
              </a:rPr>
              <a:t>komunisme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90" dirty="0">
                <a:latin typeface="Arial"/>
                <a:cs typeface="Arial"/>
              </a:rPr>
              <a:t>dalam</a:t>
            </a:r>
            <a:r>
              <a:rPr sz="1500" b="1" spc="-10" dirty="0">
                <a:latin typeface="Arial"/>
                <a:cs typeface="Arial"/>
              </a:rPr>
              <a:t> </a:t>
            </a:r>
            <a:r>
              <a:rPr sz="1500" b="1" spc="-150" dirty="0">
                <a:latin typeface="Arial"/>
                <a:cs typeface="Arial"/>
              </a:rPr>
              <a:t>konsep</a:t>
            </a:r>
            <a:r>
              <a:rPr sz="1500" b="1" spc="1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Nasakom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5216" y="247269"/>
            <a:ext cx="538607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b="1" i="1" dirty="0">
                <a:latin typeface="Calibri"/>
                <a:cs typeface="Calibri"/>
              </a:rPr>
              <a:t>DINAMIKA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spc="-20" dirty="0">
                <a:latin typeface="Calibri"/>
                <a:cs typeface="Calibri"/>
              </a:rPr>
              <a:t>PANCASILA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SEBAGAI</a:t>
            </a:r>
            <a:r>
              <a:rPr sz="2000" b="1" i="1" spc="-9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IDEOLOGI</a:t>
            </a:r>
            <a:r>
              <a:rPr sz="2000" b="1" i="1" spc="-4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NEGARA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08186" y="4823536"/>
            <a:ext cx="3321685" cy="12268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5080" indent="635" algn="ctr">
              <a:lnSpc>
                <a:spcPct val="101299"/>
              </a:lnSpc>
              <a:spcBef>
                <a:spcPts val="75"/>
              </a:spcBef>
            </a:pPr>
            <a:r>
              <a:rPr sz="1300" spc="-110" dirty="0">
                <a:latin typeface="Arial MT"/>
                <a:cs typeface="Arial MT"/>
              </a:rPr>
              <a:t>Enggannya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para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65" dirty="0">
                <a:latin typeface="Arial MT"/>
                <a:cs typeface="Arial MT"/>
              </a:rPr>
              <a:t>penyelenggara</a:t>
            </a:r>
            <a:r>
              <a:rPr sz="1300" spc="-7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negara </a:t>
            </a:r>
            <a:r>
              <a:rPr sz="1300" spc="-105" dirty="0">
                <a:latin typeface="Arial MT"/>
                <a:cs typeface="Arial MT"/>
              </a:rPr>
              <a:t>mewacanakan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spc="-65" dirty="0">
                <a:latin typeface="Arial MT"/>
                <a:cs typeface="Arial MT"/>
              </a:rPr>
              <a:t>tentang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spc="-105" dirty="0">
                <a:latin typeface="Arial MT"/>
                <a:cs typeface="Arial MT"/>
              </a:rPr>
              <a:t>Pancasila,</a:t>
            </a:r>
            <a:r>
              <a:rPr sz="1300" spc="-45" dirty="0">
                <a:latin typeface="Arial MT"/>
                <a:cs typeface="Arial MT"/>
              </a:rPr>
              <a:t> </a:t>
            </a:r>
            <a:r>
              <a:rPr sz="1300" spc="-80" dirty="0">
                <a:latin typeface="Arial MT"/>
                <a:cs typeface="Arial MT"/>
              </a:rPr>
              <a:t>bahkan</a:t>
            </a:r>
            <a:r>
              <a:rPr sz="1300" spc="25" dirty="0">
                <a:latin typeface="Arial MT"/>
                <a:cs typeface="Arial MT"/>
              </a:rPr>
              <a:t> </a:t>
            </a:r>
            <a:r>
              <a:rPr sz="1300" spc="-55" dirty="0">
                <a:latin typeface="Arial MT"/>
                <a:cs typeface="Arial MT"/>
              </a:rPr>
              <a:t>berujung </a:t>
            </a:r>
            <a:r>
              <a:rPr sz="1300" spc="-10" dirty="0">
                <a:latin typeface="Arial MT"/>
                <a:cs typeface="Arial MT"/>
              </a:rPr>
              <a:t>pada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spc="-75" dirty="0">
                <a:latin typeface="Arial MT"/>
                <a:cs typeface="Arial MT"/>
              </a:rPr>
              <a:t>hilangnya</a:t>
            </a:r>
            <a:r>
              <a:rPr sz="1300" spc="-50" dirty="0">
                <a:latin typeface="Arial MT"/>
                <a:cs typeface="Arial MT"/>
              </a:rPr>
              <a:t> </a:t>
            </a:r>
            <a:r>
              <a:rPr sz="1300" spc="-100" dirty="0">
                <a:latin typeface="Arial MT"/>
                <a:cs typeface="Arial MT"/>
              </a:rPr>
              <a:t>Pancasila</a:t>
            </a:r>
            <a:r>
              <a:rPr sz="1300" spc="-6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dari</a:t>
            </a:r>
            <a:r>
              <a:rPr sz="1300" spc="-10" dirty="0">
                <a:latin typeface="Arial MT"/>
                <a:cs typeface="Arial MT"/>
              </a:rPr>
              <a:t> </a:t>
            </a:r>
            <a:r>
              <a:rPr sz="1300" spc="-100" dirty="0">
                <a:latin typeface="Arial MT"/>
                <a:cs typeface="Arial MT"/>
              </a:rPr>
              <a:t>kurikulum</a:t>
            </a:r>
            <a:r>
              <a:rPr sz="1300" spc="-25" dirty="0">
                <a:latin typeface="Arial MT"/>
                <a:cs typeface="Arial MT"/>
              </a:rPr>
              <a:t> nasional, </a:t>
            </a:r>
            <a:r>
              <a:rPr sz="1300" spc="-120" dirty="0">
                <a:latin typeface="Arial MT"/>
                <a:cs typeface="Arial MT"/>
              </a:rPr>
              <a:t>meskipun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pada</a:t>
            </a:r>
            <a:r>
              <a:rPr sz="1300" spc="-45" dirty="0">
                <a:latin typeface="Arial MT"/>
                <a:cs typeface="Arial MT"/>
              </a:rPr>
              <a:t> </a:t>
            </a:r>
            <a:r>
              <a:rPr sz="1300" spc="-65" dirty="0">
                <a:latin typeface="Arial MT"/>
                <a:cs typeface="Arial MT"/>
              </a:rPr>
              <a:t>akhirnya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spc="-70" dirty="0">
                <a:latin typeface="Arial MT"/>
                <a:cs typeface="Arial MT"/>
              </a:rPr>
              <a:t>timbul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kesadaran </a:t>
            </a:r>
            <a:r>
              <a:rPr sz="1300" spc="-65" dirty="0">
                <a:latin typeface="Arial MT"/>
                <a:cs typeface="Arial MT"/>
              </a:rPr>
              <a:t>penyelenggara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spc="-55" dirty="0">
                <a:latin typeface="Arial MT"/>
                <a:cs typeface="Arial MT"/>
              </a:rPr>
              <a:t>negara</a:t>
            </a:r>
            <a:r>
              <a:rPr sz="1300" spc="-5" dirty="0">
                <a:latin typeface="Arial MT"/>
                <a:cs typeface="Arial MT"/>
              </a:rPr>
              <a:t> </a:t>
            </a:r>
            <a:r>
              <a:rPr sz="1300" spc="-65" dirty="0">
                <a:latin typeface="Arial MT"/>
                <a:cs typeface="Arial MT"/>
              </a:rPr>
              <a:t>tentang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pentingnya </a:t>
            </a:r>
            <a:r>
              <a:rPr sz="1300" spc="-60" dirty="0">
                <a:latin typeface="Arial MT"/>
                <a:cs typeface="Arial MT"/>
              </a:rPr>
              <a:t>pendidikan</a:t>
            </a:r>
            <a:r>
              <a:rPr sz="1300" spc="-55" dirty="0">
                <a:latin typeface="Arial MT"/>
                <a:cs typeface="Arial MT"/>
              </a:rPr>
              <a:t> </a:t>
            </a:r>
            <a:r>
              <a:rPr sz="1300" spc="-100" dirty="0">
                <a:latin typeface="Arial MT"/>
                <a:cs typeface="Arial MT"/>
              </a:rPr>
              <a:t>Pancasila</a:t>
            </a:r>
            <a:r>
              <a:rPr sz="1300" spc="-5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di</a:t>
            </a:r>
            <a:r>
              <a:rPr sz="1300" spc="35" dirty="0">
                <a:latin typeface="Arial MT"/>
                <a:cs typeface="Arial MT"/>
              </a:rPr>
              <a:t> </a:t>
            </a:r>
            <a:r>
              <a:rPr sz="1300" spc="-70" dirty="0">
                <a:latin typeface="Arial MT"/>
                <a:cs typeface="Arial MT"/>
              </a:rPr>
              <a:t>perguruan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tinggi</a:t>
            </a:r>
            <a:endParaRPr sz="13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463" y="2356104"/>
            <a:ext cx="3965448" cy="19812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99432" y="2356104"/>
            <a:ext cx="3566160" cy="203911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46007" y="2465832"/>
            <a:ext cx="3566159" cy="2185416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0" y="1008888"/>
            <a:ext cx="12174220" cy="259079"/>
            <a:chOff x="0" y="1008888"/>
            <a:chExt cx="12174220" cy="259079"/>
          </a:xfrm>
        </p:grpSpPr>
        <p:sp>
          <p:nvSpPr>
            <p:cNvPr id="23" name="object 23"/>
            <p:cNvSpPr/>
            <p:nvPr/>
          </p:nvSpPr>
          <p:spPr>
            <a:xfrm>
              <a:off x="0" y="1143000"/>
              <a:ext cx="12174220" cy="43180"/>
            </a:xfrm>
            <a:custGeom>
              <a:avLst/>
              <a:gdLst/>
              <a:ahLst/>
              <a:cxnLst/>
              <a:rect l="l" t="t" r="r" b="b"/>
              <a:pathLst>
                <a:path w="12174220" h="43180">
                  <a:moveTo>
                    <a:pt x="12173712" y="0"/>
                  </a:moveTo>
                  <a:lnTo>
                    <a:pt x="0" y="0"/>
                  </a:lnTo>
                  <a:lnTo>
                    <a:pt x="0" y="42672"/>
                  </a:lnTo>
                  <a:lnTo>
                    <a:pt x="12173712" y="42672"/>
                  </a:lnTo>
                  <a:lnTo>
                    <a:pt x="12173712" y="0"/>
                  </a:lnTo>
                  <a:close/>
                </a:path>
              </a:pathLst>
            </a:custGeom>
            <a:solidFill>
              <a:srgbClr val="7D7D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3232" y="1027176"/>
              <a:ext cx="240791" cy="24079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5759" y="1027176"/>
              <a:ext cx="243840" cy="24079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58783" y="1008888"/>
              <a:ext cx="240792" cy="2407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32231"/>
            <a:ext cx="12192000" cy="646430"/>
            <a:chOff x="0" y="332231"/>
            <a:chExt cx="12192000" cy="646430"/>
          </a:xfrm>
        </p:grpSpPr>
        <p:sp>
          <p:nvSpPr>
            <p:cNvPr id="3" name="object 3"/>
            <p:cNvSpPr/>
            <p:nvPr/>
          </p:nvSpPr>
          <p:spPr>
            <a:xfrm>
              <a:off x="0" y="621791"/>
              <a:ext cx="1399540" cy="143510"/>
            </a:xfrm>
            <a:custGeom>
              <a:avLst/>
              <a:gdLst/>
              <a:ahLst/>
              <a:cxnLst/>
              <a:rect l="l" t="t" r="r" b="b"/>
              <a:pathLst>
                <a:path w="1399540" h="143509">
                  <a:moveTo>
                    <a:pt x="1399032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399032" y="143255"/>
                  </a:lnTo>
                  <a:lnTo>
                    <a:pt x="139903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384" y="332231"/>
              <a:ext cx="728472" cy="6461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99032" y="621791"/>
              <a:ext cx="10793095" cy="143510"/>
            </a:xfrm>
            <a:custGeom>
              <a:avLst/>
              <a:gdLst/>
              <a:ahLst/>
              <a:cxnLst/>
              <a:rect l="l" t="t" r="r" b="b"/>
              <a:pathLst>
                <a:path w="10793095" h="143509">
                  <a:moveTo>
                    <a:pt x="10792968" y="0"/>
                  </a:moveTo>
                  <a:lnTo>
                    <a:pt x="0" y="0"/>
                  </a:lnTo>
                  <a:lnTo>
                    <a:pt x="0" y="143255"/>
                  </a:lnTo>
                  <a:lnTo>
                    <a:pt x="10792968" y="143255"/>
                  </a:lnTo>
                  <a:lnTo>
                    <a:pt x="10792968" y="0"/>
                  </a:lnTo>
                  <a:close/>
                </a:path>
              </a:pathLst>
            </a:custGeom>
            <a:solidFill>
              <a:srgbClr val="1F4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1840992"/>
            <a:ext cx="12176760" cy="4135754"/>
            <a:chOff x="0" y="1840992"/>
            <a:chExt cx="12176760" cy="4135754"/>
          </a:xfrm>
        </p:grpSpPr>
        <p:sp>
          <p:nvSpPr>
            <p:cNvPr id="7" name="object 7"/>
            <p:cNvSpPr/>
            <p:nvPr/>
          </p:nvSpPr>
          <p:spPr>
            <a:xfrm>
              <a:off x="0" y="1840992"/>
              <a:ext cx="12176760" cy="4135754"/>
            </a:xfrm>
            <a:custGeom>
              <a:avLst/>
              <a:gdLst/>
              <a:ahLst/>
              <a:cxnLst/>
              <a:rect l="l" t="t" r="r" b="b"/>
              <a:pathLst>
                <a:path w="12176760" h="4135754">
                  <a:moveTo>
                    <a:pt x="12176760" y="0"/>
                  </a:moveTo>
                  <a:lnTo>
                    <a:pt x="0" y="0"/>
                  </a:lnTo>
                  <a:lnTo>
                    <a:pt x="0" y="4135628"/>
                  </a:lnTo>
                  <a:lnTo>
                    <a:pt x="12176760" y="4135628"/>
                  </a:lnTo>
                  <a:lnTo>
                    <a:pt x="1217676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00783" y="3151632"/>
              <a:ext cx="2355850" cy="1879600"/>
            </a:xfrm>
            <a:custGeom>
              <a:avLst/>
              <a:gdLst/>
              <a:ahLst/>
              <a:cxnLst/>
              <a:rect l="l" t="t" r="r" b="b"/>
              <a:pathLst>
                <a:path w="2355850" h="1879600">
                  <a:moveTo>
                    <a:pt x="2355722" y="0"/>
                  </a:moveTo>
                  <a:lnTo>
                    <a:pt x="0" y="0"/>
                  </a:lnTo>
                  <a:lnTo>
                    <a:pt x="0" y="1879473"/>
                  </a:lnTo>
                  <a:lnTo>
                    <a:pt x="2355722" y="1879473"/>
                  </a:lnTo>
                  <a:lnTo>
                    <a:pt x="2355722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686800" y="868680"/>
            <a:ext cx="3200400" cy="802005"/>
          </a:xfrm>
          <a:prstGeom prst="rect">
            <a:avLst/>
          </a:prstGeom>
          <a:solidFill>
            <a:srgbClr val="0D6DC5"/>
          </a:solidFill>
        </p:spPr>
        <p:txBody>
          <a:bodyPr vert="horz" wrap="square" lIns="0" tIns="16510" rIns="0" bIns="0" rtlCol="0">
            <a:spAutoFit/>
          </a:bodyPr>
          <a:lstStyle/>
          <a:p>
            <a:pPr marL="545465" marR="144780" indent="-320040">
              <a:lnSpc>
                <a:spcPts val="3000"/>
              </a:lnSpc>
              <a:spcBef>
                <a:spcPts val="130"/>
              </a:spcBef>
            </a:pPr>
            <a:r>
              <a:rPr sz="2800" b="1" spc="-345" dirty="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375" dirty="0">
                <a:solidFill>
                  <a:srgbClr val="FFFFFF"/>
                </a:solidFill>
                <a:latin typeface="Arial"/>
                <a:cs typeface="Arial"/>
              </a:rPr>
              <a:t>FISHERIES </a:t>
            </a:r>
            <a:r>
              <a:rPr sz="2800" b="1" spc="-310" dirty="0">
                <a:solidFill>
                  <a:srgbClr val="FFFFFF"/>
                </a:solidFill>
                <a:latin typeface="Arial"/>
                <a:cs typeface="Arial"/>
              </a:rPr>
              <a:t>GOVERNANCE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41754" y="3165475"/>
            <a:ext cx="201993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Arial MT"/>
                <a:cs typeface="Arial MT"/>
              </a:rPr>
              <a:t>Nilai-</a:t>
            </a:r>
            <a:r>
              <a:rPr sz="1200" spc="-40" dirty="0">
                <a:latin typeface="Arial MT"/>
                <a:cs typeface="Arial MT"/>
              </a:rPr>
              <a:t>nilai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Pancasila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bersumber </a:t>
            </a:r>
            <a:r>
              <a:rPr sz="1200" dirty="0">
                <a:latin typeface="Arial MT"/>
                <a:cs typeface="Arial MT"/>
              </a:rPr>
              <a:t>dari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nilai-</a:t>
            </a:r>
            <a:r>
              <a:rPr sz="1200" spc="-40" dirty="0">
                <a:latin typeface="Arial MT"/>
                <a:cs typeface="Arial MT"/>
              </a:rPr>
              <a:t>nilai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kehidupan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bangsa </a:t>
            </a:r>
            <a:r>
              <a:rPr sz="1200" spc="-80" dirty="0">
                <a:latin typeface="Arial MT"/>
                <a:cs typeface="Arial MT"/>
              </a:rPr>
              <a:t>Indonesia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80" dirty="0">
                <a:latin typeface="Arial MT"/>
                <a:cs typeface="Arial MT"/>
              </a:rPr>
              <a:t>sekaligus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juga</a:t>
            </a:r>
            <a:r>
              <a:rPr sz="1200" spc="-10" dirty="0">
                <a:latin typeface="Arial MT"/>
                <a:cs typeface="Arial MT"/>
              </a:rPr>
              <a:t> berarti </a:t>
            </a:r>
            <a:r>
              <a:rPr sz="1200" spc="-55" dirty="0">
                <a:latin typeface="Arial MT"/>
                <a:cs typeface="Arial MT"/>
              </a:rPr>
              <a:t>bahwa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nilai-</a:t>
            </a:r>
            <a:r>
              <a:rPr sz="1200" spc="-35" dirty="0">
                <a:latin typeface="Arial MT"/>
                <a:cs typeface="Arial MT"/>
              </a:rPr>
              <a:t>nilai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Pancasila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harus dijabarkan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dalam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kehidupan </a:t>
            </a:r>
            <a:r>
              <a:rPr sz="1200" spc="-55" dirty="0">
                <a:latin typeface="Arial MT"/>
                <a:cs typeface="Arial MT"/>
              </a:rPr>
              <a:t>nyata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sehari-</a:t>
            </a:r>
            <a:r>
              <a:rPr sz="1200" spc="-45" dirty="0">
                <a:latin typeface="Arial MT"/>
                <a:cs typeface="Arial MT"/>
              </a:rPr>
              <a:t>hari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baik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dalam </a:t>
            </a:r>
            <a:r>
              <a:rPr sz="1200" spc="-55" dirty="0">
                <a:latin typeface="Arial MT"/>
                <a:cs typeface="Arial MT"/>
              </a:rPr>
              <a:t>kaitannya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dengan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kehidupan </a:t>
            </a:r>
            <a:r>
              <a:rPr sz="1200" spc="-55" dirty="0">
                <a:latin typeface="Arial MT"/>
                <a:cs typeface="Arial MT"/>
              </a:rPr>
              <a:t>bermasyarakat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10" dirty="0">
                <a:latin typeface="Arial MT"/>
                <a:cs typeface="Arial MT"/>
              </a:rPr>
              <a:t>maupun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dalam </a:t>
            </a:r>
            <a:r>
              <a:rPr sz="1200" spc="-50" dirty="0">
                <a:latin typeface="Arial MT"/>
                <a:cs typeface="Arial MT"/>
              </a:rPr>
              <a:t>segala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75" dirty="0">
                <a:latin typeface="Arial MT"/>
                <a:cs typeface="Arial MT"/>
              </a:rPr>
              <a:t>aspek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penyelenggaraan </a:t>
            </a:r>
            <a:r>
              <a:rPr sz="1200" spc="-10" dirty="0">
                <a:latin typeface="Arial MT"/>
                <a:cs typeface="Arial MT"/>
              </a:rPr>
              <a:t>negara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5047" y="3944061"/>
            <a:ext cx="2377440" cy="1847214"/>
          </a:xfrm>
          <a:custGeom>
            <a:avLst/>
            <a:gdLst/>
            <a:ahLst/>
            <a:cxnLst/>
            <a:rect l="l" t="t" r="r" b="b"/>
            <a:pathLst>
              <a:path w="2377440" h="1847214">
                <a:moveTo>
                  <a:pt x="2377313" y="0"/>
                </a:moveTo>
                <a:lnTo>
                  <a:pt x="0" y="0"/>
                </a:lnTo>
                <a:lnTo>
                  <a:pt x="0" y="1846707"/>
                </a:lnTo>
                <a:lnTo>
                  <a:pt x="2377313" y="1846707"/>
                </a:lnTo>
                <a:lnTo>
                  <a:pt x="2377313" y="0"/>
                </a:lnTo>
                <a:close/>
              </a:path>
            </a:pathLst>
          </a:custGeom>
          <a:solidFill>
            <a:srgbClr val="F8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34229" y="3935095"/>
            <a:ext cx="224980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latin typeface="Arial MT"/>
                <a:cs typeface="Arial MT"/>
              </a:rPr>
              <a:t>Mengandung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cita-</a:t>
            </a:r>
            <a:r>
              <a:rPr sz="1200" spc="-55" dirty="0">
                <a:latin typeface="Arial MT"/>
                <a:cs typeface="Arial MT"/>
              </a:rPr>
              <a:t>cita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yang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ingin </a:t>
            </a:r>
            <a:r>
              <a:rPr sz="1200" spc="-30" dirty="0">
                <a:latin typeface="Arial MT"/>
                <a:cs typeface="Arial MT"/>
              </a:rPr>
              <a:t>dicapai</a:t>
            </a:r>
            <a:r>
              <a:rPr sz="1200" spc="-45" dirty="0">
                <a:latin typeface="Arial MT"/>
                <a:cs typeface="Arial MT"/>
              </a:rPr>
              <a:t> dalam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berbagai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bidang </a:t>
            </a:r>
            <a:r>
              <a:rPr sz="1200" spc="-80" dirty="0">
                <a:latin typeface="Arial MT"/>
                <a:cs typeface="Arial MT"/>
              </a:rPr>
              <a:t>kehidupan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bermasyarakat, </a:t>
            </a:r>
            <a:r>
              <a:rPr sz="1200" spc="-65" dirty="0">
                <a:latin typeface="Arial MT"/>
                <a:cs typeface="Arial MT"/>
              </a:rPr>
              <a:t>berbangsa,</a:t>
            </a:r>
            <a:r>
              <a:rPr sz="1200" spc="-50" dirty="0">
                <a:latin typeface="Arial MT"/>
                <a:cs typeface="Arial MT"/>
              </a:rPr>
              <a:t> dan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bernegara.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adanya </a:t>
            </a:r>
            <a:r>
              <a:rPr sz="1200" spc="-75" dirty="0">
                <a:latin typeface="Arial MT"/>
                <a:cs typeface="Arial MT"/>
              </a:rPr>
              <a:t>tujuan</a:t>
            </a:r>
            <a:r>
              <a:rPr sz="1200" spc="-9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yang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dicapai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sehingga </a:t>
            </a:r>
            <a:r>
              <a:rPr sz="1200" spc="-100" dirty="0">
                <a:latin typeface="Arial MT"/>
                <a:cs typeface="Arial MT"/>
              </a:rPr>
              <a:t>menimbulkan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harapan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dan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85" dirty="0">
                <a:latin typeface="Arial MT"/>
                <a:cs typeface="Arial MT"/>
              </a:rPr>
              <a:t>optimisme </a:t>
            </a:r>
            <a:r>
              <a:rPr sz="1200" spc="-55" dirty="0">
                <a:latin typeface="Arial MT"/>
                <a:cs typeface="Arial MT"/>
              </a:rPr>
              <a:t>serta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20" dirty="0">
                <a:latin typeface="Arial MT"/>
                <a:cs typeface="Arial MT"/>
              </a:rPr>
              <a:t>mampu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menggugah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motivasi </a:t>
            </a:r>
            <a:r>
              <a:rPr sz="1200" spc="-110" dirty="0">
                <a:latin typeface="Arial MT"/>
                <a:cs typeface="Arial MT"/>
              </a:rPr>
              <a:t>untuk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95" dirty="0">
                <a:latin typeface="Arial MT"/>
                <a:cs typeface="Arial MT"/>
              </a:rPr>
              <a:t>mewujudkan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cita-</a:t>
            </a:r>
            <a:r>
              <a:rPr sz="1200" spc="-10" dirty="0">
                <a:latin typeface="Arial MT"/>
                <a:cs typeface="Arial MT"/>
              </a:rPr>
              <a:t>cita.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67273" y="1996516"/>
            <a:ext cx="1447165" cy="4851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1500" b="1" dirty="0">
                <a:latin typeface="Arial"/>
                <a:cs typeface="Arial"/>
              </a:rPr>
              <a:t>3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spc="-114" dirty="0">
                <a:latin typeface="Arial"/>
                <a:cs typeface="Arial"/>
              </a:rPr>
              <a:t>dimensi </a:t>
            </a:r>
            <a:r>
              <a:rPr sz="1500" b="1" spc="-60" dirty="0">
                <a:latin typeface="Arial"/>
                <a:cs typeface="Arial"/>
              </a:rPr>
              <a:t>Hakikat</a:t>
            </a:r>
            <a:endParaRPr sz="1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Pancasila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27047" y="3008376"/>
            <a:ext cx="299085" cy="301625"/>
          </a:xfrm>
          <a:custGeom>
            <a:avLst/>
            <a:gdLst/>
            <a:ahLst/>
            <a:cxnLst/>
            <a:rect l="l" t="t" r="r" b="b"/>
            <a:pathLst>
              <a:path w="299085" h="301625">
                <a:moveTo>
                  <a:pt x="149225" y="0"/>
                </a:moveTo>
                <a:lnTo>
                  <a:pt x="102108" y="7747"/>
                </a:lnTo>
                <a:lnTo>
                  <a:pt x="61087" y="29083"/>
                </a:lnTo>
                <a:lnTo>
                  <a:pt x="28829" y="61722"/>
                </a:lnTo>
                <a:lnTo>
                  <a:pt x="7620" y="103124"/>
                </a:lnTo>
                <a:lnTo>
                  <a:pt x="0" y="150622"/>
                </a:lnTo>
                <a:lnTo>
                  <a:pt x="7620" y="198247"/>
                </a:lnTo>
                <a:lnTo>
                  <a:pt x="28829" y="239649"/>
                </a:lnTo>
                <a:lnTo>
                  <a:pt x="61087" y="272288"/>
                </a:lnTo>
                <a:lnTo>
                  <a:pt x="102108" y="293624"/>
                </a:lnTo>
                <a:lnTo>
                  <a:pt x="149225" y="301371"/>
                </a:lnTo>
                <a:lnTo>
                  <a:pt x="196469" y="293624"/>
                </a:lnTo>
                <a:lnTo>
                  <a:pt x="237490" y="272288"/>
                </a:lnTo>
                <a:lnTo>
                  <a:pt x="269747" y="239649"/>
                </a:lnTo>
                <a:lnTo>
                  <a:pt x="290957" y="198247"/>
                </a:lnTo>
                <a:lnTo>
                  <a:pt x="298577" y="150622"/>
                </a:lnTo>
                <a:lnTo>
                  <a:pt x="290957" y="103124"/>
                </a:lnTo>
                <a:lnTo>
                  <a:pt x="269747" y="61722"/>
                </a:lnTo>
                <a:lnTo>
                  <a:pt x="237490" y="29083"/>
                </a:lnTo>
                <a:lnTo>
                  <a:pt x="196469" y="7747"/>
                </a:lnTo>
                <a:lnTo>
                  <a:pt x="149225" y="0"/>
                </a:lnTo>
                <a:close/>
              </a:path>
            </a:pathLst>
          </a:custGeom>
          <a:solidFill>
            <a:srgbClr val="0D6D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19503" y="3030423"/>
            <a:ext cx="1130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92167" y="3727703"/>
            <a:ext cx="298450" cy="298450"/>
          </a:xfrm>
          <a:custGeom>
            <a:avLst/>
            <a:gdLst/>
            <a:ahLst/>
            <a:cxnLst/>
            <a:rect l="l" t="t" r="r" b="b"/>
            <a:pathLst>
              <a:path w="298450" h="298450">
                <a:moveTo>
                  <a:pt x="149098" y="0"/>
                </a:moveTo>
                <a:lnTo>
                  <a:pt x="101981" y="7620"/>
                </a:lnTo>
                <a:lnTo>
                  <a:pt x="61087" y="28829"/>
                </a:lnTo>
                <a:lnTo>
                  <a:pt x="28829" y="61087"/>
                </a:lnTo>
                <a:lnTo>
                  <a:pt x="7620" y="101981"/>
                </a:lnTo>
                <a:lnTo>
                  <a:pt x="0" y="149225"/>
                </a:lnTo>
                <a:lnTo>
                  <a:pt x="7620" y="196342"/>
                </a:lnTo>
                <a:lnTo>
                  <a:pt x="28829" y="237236"/>
                </a:lnTo>
                <a:lnTo>
                  <a:pt x="61087" y="269494"/>
                </a:lnTo>
                <a:lnTo>
                  <a:pt x="101981" y="290703"/>
                </a:lnTo>
                <a:lnTo>
                  <a:pt x="149098" y="298323"/>
                </a:lnTo>
                <a:lnTo>
                  <a:pt x="196342" y="290703"/>
                </a:lnTo>
                <a:lnTo>
                  <a:pt x="237236" y="269494"/>
                </a:lnTo>
                <a:lnTo>
                  <a:pt x="269494" y="237236"/>
                </a:lnTo>
                <a:lnTo>
                  <a:pt x="290703" y="196342"/>
                </a:lnTo>
                <a:lnTo>
                  <a:pt x="298323" y="149225"/>
                </a:lnTo>
                <a:lnTo>
                  <a:pt x="290703" y="101981"/>
                </a:lnTo>
                <a:lnTo>
                  <a:pt x="269494" y="61087"/>
                </a:lnTo>
                <a:lnTo>
                  <a:pt x="237236" y="28829"/>
                </a:lnTo>
                <a:lnTo>
                  <a:pt x="196342" y="7620"/>
                </a:lnTo>
                <a:lnTo>
                  <a:pt x="149098" y="0"/>
                </a:lnTo>
                <a:close/>
              </a:path>
            </a:pathLst>
          </a:custGeom>
          <a:solidFill>
            <a:srgbClr val="A3C2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480305" y="3737864"/>
            <a:ext cx="12255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50" dirty="0">
                <a:latin typeface="Arial"/>
                <a:cs typeface="Arial"/>
              </a:rPr>
              <a:t>2</a:t>
            </a:r>
            <a:endParaRPr sz="14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29016" y="3352800"/>
            <a:ext cx="3014345" cy="1414145"/>
          </a:xfrm>
          <a:custGeom>
            <a:avLst/>
            <a:gdLst/>
            <a:ahLst/>
            <a:cxnLst/>
            <a:rect l="l" t="t" r="r" b="b"/>
            <a:pathLst>
              <a:path w="3014345" h="1414145">
                <a:moveTo>
                  <a:pt x="3014218" y="0"/>
                </a:moveTo>
                <a:lnTo>
                  <a:pt x="0" y="0"/>
                </a:lnTo>
                <a:lnTo>
                  <a:pt x="0" y="1414145"/>
                </a:lnTo>
                <a:lnTo>
                  <a:pt x="3014218" y="1414145"/>
                </a:lnTo>
                <a:lnTo>
                  <a:pt x="3014218" y="0"/>
                </a:lnTo>
                <a:close/>
              </a:path>
            </a:pathLst>
          </a:custGeom>
          <a:solidFill>
            <a:srgbClr val="F8FA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8230869" y="3432175"/>
            <a:ext cx="280606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90" dirty="0">
                <a:latin typeface="Arial MT"/>
                <a:cs typeface="Arial MT"/>
              </a:rPr>
              <a:t>Pancasila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sebagai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ideologi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bersifat </a:t>
            </a:r>
            <a:r>
              <a:rPr sz="1200" spc="-10" dirty="0">
                <a:latin typeface="Arial MT"/>
                <a:cs typeface="Arial MT"/>
              </a:rPr>
              <a:t>terbuka </a:t>
            </a:r>
            <a:r>
              <a:rPr sz="1200" spc="-50" dirty="0">
                <a:latin typeface="Arial MT"/>
                <a:cs typeface="Arial MT"/>
              </a:rPr>
              <a:t>karena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bersifat </a:t>
            </a:r>
            <a:r>
              <a:rPr sz="1200" spc="-75" dirty="0">
                <a:latin typeface="Arial MT"/>
                <a:cs typeface="Arial MT"/>
              </a:rPr>
              <a:t>demokratis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dan</a:t>
            </a:r>
            <a:r>
              <a:rPr sz="1200" dirty="0">
                <a:latin typeface="Arial MT"/>
                <a:cs typeface="Arial MT"/>
              </a:rPr>
              <a:t> </a:t>
            </a:r>
            <a:r>
              <a:rPr sz="1200" spc="-35" dirty="0">
                <a:latin typeface="Arial MT"/>
                <a:cs typeface="Arial MT"/>
              </a:rPr>
              <a:t>mengandung </a:t>
            </a:r>
            <a:r>
              <a:rPr sz="1200" spc="-60" dirty="0">
                <a:latin typeface="Arial MT"/>
                <a:cs typeface="Arial MT"/>
              </a:rPr>
              <a:t>dinamika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internal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yang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90" dirty="0">
                <a:latin typeface="Arial MT"/>
                <a:cs typeface="Arial MT"/>
              </a:rPr>
              <a:t>mengundang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dan </a:t>
            </a:r>
            <a:r>
              <a:rPr sz="1200" spc="-85" dirty="0">
                <a:latin typeface="Arial MT"/>
                <a:cs typeface="Arial MT"/>
              </a:rPr>
              <a:t>merangsang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30" dirty="0">
                <a:latin typeface="Arial MT"/>
                <a:cs typeface="Arial MT"/>
              </a:rPr>
              <a:t>warga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negara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yang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70" dirty="0">
                <a:latin typeface="Arial MT"/>
                <a:cs typeface="Arial MT"/>
              </a:rPr>
              <a:t>meyakininya </a:t>
            </a:r>
            <a:r>
              <a:rPr sz="1200" spc="-105" dirty="0">
                <a:latin typeface="Arial MT"/>
                <a:cs typeface="Arial MT"/>
              </a:rPr>
              <a:t>untuk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mengembangkan</a:t>
            </a:r>
            <a:endParaRPr sz="1200">
              <a:latin typeface="Arial MT"/>
              <a:cs typeface="Arial MT"/>
            </a:endParaRPr>
          </a:p>
          <a:p>
            <a:pPr marL="12700" marR="182245">
              <a:lnSpc>
                <a:spcPct val="100000"/>
              </a:lnSpc>
            </a:pPr>
            <a:r>
              <a:rPr sz="1200" spc="-65" dirty="0">
                <a:latin typeface="Arial MT"/>
                <a:cs typeface="Arial MT"/>
              </a:rPr>
              <a:t>pemikiran</a:t>
            </a:r>
            <a:r>
              <a:rPr sz="1200" spc="-50" dirty="0">
                <a:latin typeface="Arial MT"/>
                <a:cs typeface="Arial MT"/>
              </a:rPr>
              <a:t> </a:t>
            </a:r>
            <a:r>
              <a:rPr sz="1200" spc="-45" dirty="0">
                <a:latin typeface="Arial MT"/>
                <a:cs typeface="Arial MT"/>
              </a:rPr>
              <a:t>baru,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40" dirty="0">
                <a:latin typeface="Arial MT"/>
                <a:cs typeface="Arial MT"/>
              </a:rPr>
              <a:t>tanpa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khawatir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kehilangan hakikat </a:t>
            </a:r>
            <a:r>
              <a:rPr sz="1200" spc="-10" dirty="0">
                <a:latin typeface="Arial MT"/>
                <a:cs typeface="Arial MT"/>
              </a:rPr>
              <a:t>dirinya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58328" y="3203448"/>
            <a:ext cx="301625" cy="298450"/>
          </a:xfrm>
          <a:custGeom>
            <a:avLst/>
            <a:gdLst/>
            <a:ahLst/>
            <a:cxnLst/>
            <a:rect l="l" t="t" r="r" b="b"/>
            <a:pathLst>
              <a:path w="301625" h="298450">
                <a:moveTo>
                  <a:pt x="150622" y="0"/>
                </a:moveTo>
                <a:lnTo>
                  <a:pt x="103124" y="7619"/>
                </a:lnTo>
                <a:lnTo>
                  <a:pt x="61722" y="28828"/>
                </a:lnTo>
                <a:lnTo>
                  <a:pt x="29082" y="61087"/>
                </a:lnTo>
                <a:lnTo>
                  <a:pt x="7747" y="101980"/>
                </a:lnTo>
                <a:lnTo>
                  <a:pt x="0" y="149098"/>
                </a:lnTo>
                <a:lnTo>
                  <a:pt x="7747" y="196341"/>
                </a:lnTo>
                <a:lnTo>
                  <a:pt x="29082" y="237236"/>
                </a:lnTo>
                <a:lnTo>
                  <a:pt x="61722" y="269493"/>
                </a:lnTo>
                <a:lnTo>
                  <a:pt x="103124" y="290702"/>
                </a:lnTo>
                <a:lnTo>
                  <a:pt x="150622" y="298323"/>
                </a:lnTo>
                <a:lnTo>
                  <a:pt x="198247" y="290702"/>
                </a:lnTo>
                <a:lnTo>
                  <a:pt x="239649" y="269493"/>
                </a:lnTo>
                <a:lnTo>
                  <a:pt x="272288" y="237236"/>
                </a:lnTo>
                <a:lnTo>
                  <a:pt x="293624" y="196341"/>
                </a:lnTo>
                <a:lnTo>
                  <a:pt x="301371" y="149098"/>
                </a:lnTo>
                <a:lnTo>
                  <a:pt x="293624" y="101980"/>
                </a:lnTo>
                <a:lnTo>
                  <a:pt x="272288" y="61087"/>
                </a:lnTo>
                <a:lnTo>
                  <a:pt x="239649" y="28828"/>
                </a:lnTo>
                <a:lnTo>
                  <a:pt x="198247" y="7619"/>
                </a:lnTo>
                <a:lnTo>
                  <a:pt x="15062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047990" y="3213861"/>
            <a:ext cx="12255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b="1" spc="-50" dirty="0">
                <a:latin typeface="Arial"/>
                <a:cs typeface="Arial"/>
              </a:rPr>
              <a:t>3</a:t>
            </a:r>
            <a:endParaRPr sz="14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751897" y="1752409"/>
            <a:ext cx="4483735" cy="2103120"/>
            <a:chOff x="3751897" y="1752409"/>
            <a:chExt cx="4483735" cy="2103120"/>
          </a:xfrm>
        </p:grpSpPr>
        <p:sp>
          <p:nvSpPr>
            <p:cNvPr id="23" name="object 23"/>
            <p:cNvSpPr/>
            <p:nvPr/>
          </p:nvSpPr>
          <p:spPr>
            <a:xfrm>
              <a:off x="3755135" y="1755648"/>
              <a:ext cx="1564005" cy="1624330"/>
            </a:xfrm>
            <a:custGeom>
              <a:avLst/>
              <a:gdLst/>
              <a:ahLst/>
              <a:cxnLst/>
              <a:rect l="l" t="t" r="r" b="b"/>
              <a:pathLst>
                <a:path w="1564004" h="1624329">
                  <a:moveTo>
                    <a:pt x="0" y="0"/>
                  </a:moveTo>
                  <a:lnTo>
                    <a:pt x="253" y="46609"/>
                  </a:lnTo>
                  <a:lnTo>
                    <a:pt x="1777" y="93090"/>
                  </a:lnTo>
                  <a:lnTo>
                    <a:pt x="4699" y="139573"/>
                  </a:lnTo>
                  <a:lnTo>
                    <a:pt x="8762" y="185419"/>
                  </a:lnTo>
                  <a:lnTo>
                    <a:pt x="14224" y="231266"/>
                  </a:lnTo>
                  <a:lnTo>
                    <a:pt x="20827" y="276987"/>
                  </a:lnTo>
                  <a:lnTo>
                    <a:pt x="28828" y="322325"/>
                  </a:lnTo>
                  <a:lnTo>
                    <a:pt x="37973" y="367538"/>
                  </a:lnTo>
                  <a:lnTo>
                    <a:pt x="48513" y="412368"/>
                  </a:lnTo>
                  <a:lnTo>
                    <a:pt x="60198" y="456946"/>
                  </a:lnTo>
                  <a:lnTo>
                    <a:pt x="73025" y="501141"/>
                  </a:lnTo>
                  <a:lnTo>
                    <a:pt x="87122" y="545084"/>
                  </a:lnTo>
                  <a:lnTo>
                    <a:pt x="102488" y="588644"/>
                  </a:lnTo>
                  <a:lnTo>
                    <a:pt x="118999" y="631825"/>
                  </a:lnTo>
                  <a:lnTo>
                    <a:pt x="136651" y="674624"/>
                  </a:lnTo>
                  <a:lnTo>
                    <a:pt x="155448" y="717041"/>
                  </a:lnTo>
                  <a:lnTo>
                    <a:pt x="175387" y="759078"/>
                  </a:lnTo>
                  <a:lnTo>
                    <a:pt x="196596" y="800607"/>
                  </a:lnTo>
                  <a:lnTo>
                    <a:pt x="218821" y="841755"/>
                  </a:lnTo>
                  <a:lnTo>
                    <a:pt x="242188" y="882396"/>
                  </a:lnTo>
                  <a:lnTo>
                    <a:pt x="266700" y="922654"/>
                  </a:lnTo>
                  <a:lnTo>
                    <a:pt x="292353" y="962278"/>
                  </a:lnTo>
                  <a:lnTo>
                    <a:pt x="319024" y="1001394"/>
                  </a:lnTo>
                  <a:lnTo>
                    <a:pt x="346710" y="1040002"/>
                  </a:lnTo>
                  <a:lnTo>
                    <a:pt x="375665" y="1078102"/>
                  </a:lnTo>
                  <a:lnTo>
                    <a:pt x="405511" y="1115567"/>
                  </a:lnTo>
                  <a:lnTo>
                    <a:pt x="436499" y="1152525"/>
                  </a:lnTo>
                  <a:lnTo>
                    <a:pt x="468375" y="1188847"/>
                  </a:lnTo>
                  <a:lnTo>
                    <a:pt x="501396" y="1224534"/>
                  </a:lnTo>
                  <a:lnTo>
                    <a:pt x="535431" y="1259586"/>
                  </a:lnTo>
                  <a:lnTo>
                    <a:pt x="570484" y="1294002"/>
                  </a:lnTo>
                  <a:lnTo>
                    <a:pt x="606551" y="1327657"/>
                  </a:lnTo>
                  <a:lnTo>
                    <a:pt x="643509" y="1360677"/>
                  </a:lnTo>
                  <a:lnTo>
                    <a:pt x="681481" y="1393063"/>
                  </a:lnTo>
                  <a:lnTo>
                    <a:pt x="720471" y="1424686"/>
                  </a:lnTo>
                  <a:lnTo>
                    <a:pt x="760349" y="1455547"/>
                  </a:lnTo>
                  <a:lnTo>
                    <a:pt x="801115" y="1485646"/>
                  </a:lnTo>
                  <a:lnTo>
                    <a:pt x="842899" y="1514982"/>
                  </a:lnTo>
                  <a:lnTo>
                    <a:pt x="885571" y="1543430"/>
                  </a:lnTo>
                  <a:lnTo>
                    <a:pt x="929259" y="1571243"/>
                  </a:lnTo>
                  <a:lnTo>
                    <a:pt x="973709" y="1598167"/>
                  </a:lnTo>
                  <a:lnTo>
                    <a:pt x="1019048" y="1624202"/>
                  </a:lnTo>
                  <a:lnTo>
                    <a:pt x="1563497" y="918463"/>
                  </a:lnTo>
                  <a:lnTo>
                    <a:pt x="1512951" y="894968"/>
                  </a:lnTo>
                  <a:lnTo>
                    <a:pt x="1463928" y="870076"/>
                  </a:lnTo>
                  <a:lnTo>
                    <a:pt x="1416685" y="843661"/>
                  </a:lnTo>
                  <a:lnTo>
                    <a:pt x="1371218" y="815975"/>
                  </a:lnTo>
                  <a:lnTo>
                    <a:pt x="1327403" y="786891"/>
                  </a:lnTo>
                  <a:lnTo>
                    <a:pt x="1285366" y="756538"/>
                  </a:lnTo>
                  <a:lnTo>
                    <a:pt x="1245235" y="725042"/>
                  </a:lnTo>
                  <a:lnTo>
                    <a:pt x="1206880" y="692276"/>
                  </a:lnTo>
                  <a:lnTo>
                    <a:pt x="1170431" y="658494"/>
                  </a:lnTo>
                  <a:lnTo>
                    <a:pt x="1136014" y="623569"/>
                  </a:lnTo>
                  <a:lnTo>
                    <a:pt x="1103502" y="587628"/>
                  </a:lnTo>
                  <a:lnTo>
                    <a:pt x="1073023" y="550799"/>
                  </a:lnTo>
                  <a:lnTo>
                    <a:pt x="1044701" y="512952"/>
                  </a:lnTo>
                  <a:lnTo>
                    <a:pt x="1018413" y="474217"/>
                  </a:lnTo>
                  <a:lnTo>
                    <a:pt x="994155" y="434721"/>
                  </a:lnTo>
                  <a:lnTo>
                    <a:pt x="972185" y="394462"/>
                  </a:lnTo>
                  <a:lnTo>
                    <a:pt x="952373" y="353567"/>
                  </a:lnTo>
                  <a:lnTo>
                    <a:pt x="934847" y="311912"/>
                  </a:lnTo>
                  <a:lnTo>
                    <a:pt x="919606" y="269621"/>
                  </a:lnTo>
                  <a:lnTo>
                    <a:pt x="906652" y="226822"/>
                  </a:lnTo>
                  <a:lnTo>
                    <a:pt x="896112" y="183387"/>
                  </a:lnTo>
                  <a:lnTo>
                    <a:pt x="887984" y="139573"/>
                  </a:lnTo>
                  <a:lnTo>
                    <a:pt x="882268" y="95376"/>
                  </a:lnTo>
                  <a:lnTo>
                    <a:pt x="878966" y="50800"/>
                  </a:lnTo>
                  <a:lnTo>
                    <a:pt x="878204" y="5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D6D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56659" y="1757172"/>
              <a:ext cx="1564005" cy="1624330"/>
            </a:xfrm>
            <a:custGeom>
              <a:avLst/>
              <a:gdLst/>
              <a:ahLst/>
              <a:cxnLst/>
              <a:rect l="l" t="t" r="r" b="b"/>
              <a:pathLst>
                <a:path w="1564004" h="1624329">
                  <a:moveTo>
                    <a:pt x="1019048" y="1624202"/>
                  </a:moveTo>
                  <a:lnTo>
                    <a:pt x="973709" y="1598167"/>
                  </a:lnTo>
                  <a:lnTo>
                    <a:pt x="929259" y="1571243"/>
                  </a:lnTo>
                  <a:lnTo>
                    <a:pt x="885570" y="1543430"/>
                  </a:lnTo>
                  <a:lnTo>
                    <a:pt x="842899" y="1514982"/>
                  </a:lnTo>
                  <a:lnTo>
                    <a:pt x="801115" y="1485645"/>
                  </a:lnTo>
                  <a:lnTo>
                    <a:pt x="760349" y="1455547"/>
                  </a:lnTo>
                  <a:lnTo>
                    <a:pt x="720470" y="1424686"/>
                  </a:lnTo>
                  <a:lnTo>
                    <a:pt x="681481" y="1393063"/>
                  </a:lnTo>
                  <a:lnTo>
                    <a:pt x="643509" y="1360677"/>
                  </a:lnTo>
                  <a:lnTo>
                    <a:pt x="606551" y="1327657"/>
                  </a:lnTo>
                  <a:lnTo>
                    <a:pt x="570484" y="1294002"/>
                  </a:lnTo>
                  <a:lnTo>
                    <a:pt x="535431" y="1259586"/>
                  </a:lnTo>
                  <a:lnTo>
                    <a:pt x="501395" y="1224533"/>
                  </a:lnTo>
                  <a:lnTo>
                    <a:pt x="468375" y="1188847"/>
                  </a:lnTo>
                  <a:lnTo>
                    <a:pt x="436499" y="1152525"/>
                  </a:lnTo>
                  <a:lnTo>
                    <a:pt x="405511" y="1115567"/>
                  </a:lnTo>
                  <a:lnTo>
                    <a:pt x="375665" y="1078102"/>
                  </a:lnTo>
                  <a:lnTo>
                    <a:pt x="346710" y="1040002"/>
                  </a:lnTo>
                  <a:lnTo>
                    <a:pt x="319024" y="1001394"/>
                  </a:lnTo>
                  <a:lnTo>
                    <a:pt x="292353" y="962278"/>
                  </a:lnTo>
                  <a:lnTo>
                    <a:pt x="266700" y="922654"/>
                  </a:lnTo>
                  <a:lnTo>
                    <a:pt x="242188" y="882395"/>
                  </a:lnTo>
                  <a:lnTo>
                    <a:pt x="218820" y="841755"/>
                  </a:lnTo>
                  <a:lnTo>
                    <a:pt x="196595" y="800607"/>
                  </a:lnTo>
                  <a:lnTo>
                    <a:pt x="175387" y="759078"/>
                  </a:lnTo>
                  <a:lnTo>
                    <a:pt x="155448" y="717041"/>
                  </a:lnTo>
                  <a:lnTo>
                    <a:pt x="136651" y="674624"/>
                  </a:lnTo>
                  <a:lnTo>
                    <a:pt x="118999" y="631825"/>
                  </a:lnTo>
                  <a:lnTo>
                    <a:pt x="102488" y="588644"/>
                  </a:lnTo>
                  <a:lnTo>
                    <a:pt x="87122" y="545083"/>
                  </a:lnTo>
                  <a:lnTo>
                    <a:pt x="73025" y="501141"/>
                  </a:lnTo>
                  <a:lnTo>
                    <a:pt x="60198" y="456945"/>
                  </a:lnTo>
                  <a:lnTo>
                    <a:pt x="48513" y="412368"/>
                  </a:lnTo>
                  <a:lnTo>
                    <a:pt x="37973" y="367538"/>
                  </a:lnTo>
                  <a:lnTo>
                    <a:pt x="28828" y="322325"/>
                  </a:lnTo>
                  <a:lnTo>
                    <a:pt x="20827" y="276987"/>
                  </a:lnTo>
                  <a:lnTo>
                    <a:pt x="14224" y="231266"/>
                  </a:lnTo>
                  <a:lnTo>
                    <a:pt x="8762" y="185419"/>
                  </a:lnTo>
                  <a:lnTo>
                    <a:pt x="4572" y="139318"/>
                  </a:lnTo>
                  <a:lnTo>
                    <a:pt x="1777" y="93090"/>
                  </a:lnTo>
                  <a:lnTo>
                    <a:pt x="253" y="46608"/>
                  </a:lnTo>
                  <a:lnTo>
                    <a:pt x="0" y="0"/>
                  </a:lnTo>
                  <a:lnTo>
                    <a:pt x="878204" y="5968"/>
                  </a:lnTo>
                  <a:lnTo>
                    <a:pt x="878966" y="50800"/>
                  </a:lnTo>
                  <a:lnTo>
                    <a:pt x="882268" y="95376"/>
                  </a:lnTo>
                  <a:lnTo>
                    <a:pt x="887984" y="139573"/>
                  </a:lnTo>
                  <a:lnTo>
                    <a:pt x="896112" y="183387"/>
                  </a:lnTo>
                  <a:lnTo>
                    <a:pt x="906652" y="226822"/>
                  </a:lnTo>
                  <a:lnTo>
                    <a:pt x="919606" y="269620"/>
                  </a:lnTo>
                  <a:lnTo>
                    <a:pt x="934847" y="311912"/>
                  </a:lnTo>
                  <a:lnTo>
                    <a:pt x="952373" y="353567"/>
                  </a:lnTo>
                  <a:lnTo>
                    <a:pt x="972185" y="394462"/>
                  </a:lnTo>
                  <a:lnTo>
                    <a:pt x="994155" y="434720"/>
                  </a:lnTo>
                  <a:lnTo>
                    <a:pt x="1018413" y="474217"/>
                  </a:lnTo>
                  <a:lnTo>
                    <a:pt x="1044701" y="512952"/>
                  </a:lnTo>
                  <a:lnTo>
                    <a:pt x="1073023" y="550799"/>
                  </a:lnTo>
                  <a:lnTo>
                    <a:pt x="1103502" y="587628"/>
                  </a:lnTo>
                  <a:lnTo>
                    <a:pt x="1136014" y="623569"/>
                  </a:lnTo>
                  <a:lnTo>
                    <a:pt x="1170431" y="658494"/>
                  </a:lnTo>
                  <a:lnTo>
                    <a:pt x="1206880" y="692276"/>
                  </a:lnTo>
                  <a:lnTo>
                    <a:pt x="1245235" y="725042"/>
                  </a:lnTo>
                  <a:lnTo>
                    <a:pt x="1285366" y="756538"/>
                  </a:lnTo>
                  <a:lnTo>
                    <a:pt x="1327403" y="786891"/>
                  </a:lnTo>
                  <a:lnTo>
                    <a:pt x="1371218" y="815975"/>
                  </a:lnTo>
                  <a:lnTo>
                    <a:pt x="1416685" y="843661"/>
                  </a:lnTo>
                  <a:lnTo>
                    <a:pt x="1463928" y="870076"/>
                  </a:lnTo>
                  <a:lnTo>
                    <a:pt x="1512951" y="894968"/>
                  </a:lnTo>
                  <a:lnTo>
                    <a:pt x="1563497" y="918463"/>
                  </a:lnTo>
                  <a:lnTo>
                    <a:pt x="1019048" y="1624202"/>
                  </a:lnTo>
                  <a:close/>
                </a:path>
              </a:pathLst>
            </a:custGeom>
            <a:ln w="9143">
              <a:solidFill>
                <a:srgbClr val="0D6D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89191" y="1850136"/>
              <a:ext cx="1746250" cy="1657985"/>
            </a:xfrm>
            <a:custGeom>
              <a:avLst/>
              <a:gdLst/>
              <a:ahLst/>
              <a:cxnLst/>
              <a:rect l="l" t="t" r="r" b="b"/>
              <a:pathLst>
                <a:path w="1746250" h="1657985">
                  <a:moveTo>
                    <a:pt x="1746123" y="0"/>
                  </a:moveTo>
                  <a:lnTo>
                    <a:pt x="853693" y="0"/>
                  </a:lnTo>
                  <a:lnTo>
                    <a:pt x="852424" y="41021"/>
                  </a:lnTo>
                  <a:lnTo>
                    <a:pt x="848613" y="81661"/>
                  </a:lnTo>
                  <a:lnTo>
                    <a:pt x="842263" y="121919"/>
                  </a:lnTo>
                  <a:lnTo>
                    <a:pt x="833501" y="161671"/>
                  </a:lnTo>
                  <a:lnTo>
                    <a:pt x="822198" y="201040"/>
                  </a:lnTo>
                  <a:lnTo>
                    <a:pt x="808609" y="239902"/>
                  </a:lnTo>
                  <a:lnTo>
                    <a:pt x="792734" y="278129"/>
                  </a:lnTo>
                  <a:lnTo>
                    <a:pt x="774446" y="315722"/>
                  </a:lnTo>
                  <a:lnTo>
                    <a:pt x="753999" y="352678"/>
                  </a:lnTo>
                  <a:lnTo>
                    <a:pt x="731392" y="388874"/>
                  </a:lnTo>
                  <a:lnTo>
                    <a:pt x="706628" y="424306"/>
                  </a:lnTo>
                  <a:lnTo>
                    <a:pt x="679704" y="458977"/>
                  </a:lnTo>
                  <a:lnTo>
                    <a:pt x="650748" y="492760"/>
                  </a:lnTo>
                  <a:lnTo>
                    <a:pt x="619760" y="525652"/>
                  </a:lnTo>
                  <a:lnTo>
                    <a:pt x="586866" y="557656"/>
                  </a:lnTo>
                  <a:lnTo>
                    <a:pt x="552068" y="588644"/>
                  </a:lnTo>
                  <a:lnTo>
                    <a:pt x="515238" y="618616"/>
                  </a:lnTo>
                  <a:lnTo>
                    <a:pt x="476758" y="647446"/>
                  </a:lnTo>
                  <a:lnTo>
                    <a:pt x="436372" y="675259"/>
                  </a:lnTo>
                  <a:lnTo>
                    <a:pt x="394208" y="701801"/>
                  </a:lnTo>
                  <a:lnTo>
                    <a:pt x="350392" y="727201"/>
                  </a:lnTo>
                  <a:lnTo>
                    <a:pt x="304927" y="751331"/>
                  </a:lnTo>
                  <a:lnTo>
                    <a:pt x="257937" y="774064"/>
                  </a:lnTo>
                  <a:lnTo>
                    <a:pt x="209296" y="795527"/>
                  </a:lnTo>
                  <a:lnTo>
                    <a:pt x="159131" y="815593"/>
                  </a:lnTo>
                  <a:lnTo>
                    <a:pt x="107441" y="834263"/>
                  </a:lnTo>
                  <a:lnTo>
                    <a:pt x="54483" y="851408"/>
                  </a:lnTo>
                  <a:lnTo>
                    <a:pt x="0" y="866901"/>
                  </a:lnTo>
                  <a:lnTo>
                    <a:pt x="438150" y="1657858"/>
                  </a:lnTo>
                  <a:lnTo>
                    <a:pt x="488568" y="1638553"/>
                  </a:lnTo>
                  <a:lnTo>
                    <a:pt x="538226" y="1618361"/>
                  </a:lnTo>
                  <a:lnTo>
                    <a:pt x="587121" y="1597152"/>
                  </a:lnTo>
                  <a:lnTo>
                    <a:pt x="635127" y="1575053"/>
                  </a:lnTo>
                  <a:lnTo>
                    <a:pt x="682371" y="1552193"/>
                  </a:lnTo>
                  <a:lnTo>
                    <a:pt x="728726" y="1528317"/>
                  </a:lnTo>
                  <a:lnTo>
                    <a:pt x="774318" y="1503552"/>
                  </a:lnTo>
                  <a:lnTo>
                    <a:pt x="818896" y="1478026"/>
                  </a:lnTo>
                  <a:lnTo>
                    <a:pt x="862711" y="1451610"/>
                  </a:lnTo>
                  <a:lnTo>
                    <a:pt x="905637" y="1424431"/>
                  </a:lnTo>
                  <a:lnTo>
                    <a:pt x="947547" y="1396491"/>
                  </a:lnTo>
                  <a:lnTo>
                    <a:pt x="988694" y="1367789"/>
                  </a:lnTo>
                  <a:lnTo>
                    <a:pt x="1028827" y="1338199"/>
                  </a:lnTo>
                  <a:lnTo>
                    <a:pt x="1067942" y="1307973"/>
                  </a:lnTo>
                  <a:lnTo>
                    <a:pt x="1106169" y="1276985"/>
                  </a:lnTo>
                  <a:lnTo>
                    <a:pt x="1143508" y="1245235"/>
                  </a:lnTo>
                  <a:lnTo>
                    <a:pt x="1179830" y="1212850"/>
                  </a:lnTo>
                  <a:lnTo>
                    <a:pt x="1215009" y="1179702"/>
                  </a:lnTo>
                  <a:lnTo>
                    <a:pt x="1249299" y="1146048"/>
                  </a:lnTo>
                  <a:lnTo>
                    <a:pt x="1282573" y="1111630"/>
                  </a:lnTo>
                  <a:lnTo>
                    <a:pt x="1314831" y="1076578"/>
                  </a:lnTo>
                  <a:lnTo>
                    <a:pt x="1345946" y="1041018"/>
                  </a:lnTo>
                  <a:lnTo>
                    <a:pt x="1376044" y="1004697"/>
                  </a:lnTo>
                  <a:lnTo>
                    <a:pt x="1405128" y="967993"/>
                  </a:lnTo>
                  <a:lnTo>
                    <a:pt x="1433067" y="930528"/>
                  </a:lnTo>
                  <a:lnTo>
                    <a:pt x="1459864" y="892683"/>
                  </a:lnTo>
                  <a:lnTo>
                    <a:pt x="1485646" y="854201"/>
                  </a:lnTo>
                  <a:lnTo>
                    <a:pt x="1510284" y="815213"/>
                  </a:lnTo>
                  <a:lnTo>
                    <a:pt x="1533779" y="775842"/>
                  </a:lnTo>
                  <a:lnTo>
                    <a:pt x="1556004" y="735838"/>
                  </a:lnTo>
                  <a:lnTo>
                    <a:pt x="1577213" y="695451"/>
                  </a:lnTo>
                  <a:lnTo>
                    <a:pt x="1597152" y="654685"/>
                  </a:lnTo>
                  <a:lnTo>
                    <a:pt x="1615948" y="613410"/>
                  </a:lnTo>
                  <a:lnTo>
                    <a:pt x="1633474" y="571753"/>
                  </a:lnTo>
                  <a:lnTo>
                    <a:pt x="1649857" y="529716"/>
                  </a:lnTo>
                  <a:lnTo>
                    <a:pt x="1664969" y="487172"/>
                  </a:lnTo>
                  <a:lnTo>
                    <a:pt x="1678813" y="444373"/>
                  </a:lnTo>
                  <a:lnTo>
                    <a:pt x="1691386" y="401192"/>
                  </a:lnTo>
                  <a:lnTo>
                    <a:pt x="1702815" y="357759"/>
                  </a:lnTo>
                  <a:lnTo>
                    <a:pt x="1712849" y="313943"/>
                  </a:lnTo>
                  <a:lnTo>
                    <a:pt x="1721612" y="269875"/>
                  </a:lnTo>
                  <a:lnTo>
                    <a:pt x="1728978" y="225425"/>
                  </a:lnTo>
                  <a:lnTo>
                    <a:pt x="1735201" y="180848"/>
                  </a:lnTo>
                  <a:lnTo>
                    <a:pt x="1739900" y="136016"/>
                  </a:lnTo>
                  <a:lnTo>
                    <a:pt x="1743329" y="90804"/>
                  </a:lnTo>
                  <a:lnTo>
                    <a:pt x="1745488" y="45465"/>
                  </a:lnTo>
                  <a:lnTo>
                    <a:pt x="174612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21936" y="2685287"/>
              <a:ext cx="2063750" cy="999490"/>
            </a:xfrm>
            <a:custGeom>
              <a:avLst/>
              <a:gdLst/>
              <a:ahLst/>
              <a:cxnLst/>
              <a:rect l="l" t="t" r="r" b="b"/>
              <a:pathLst>
                <a:path w="2063750" h="999489">
                  <a:moveTo>
                    <a:pt x="2063496" y="837057"/>
                  </a:moveTo>
                  <a:lnTo>
                    <a:pt x="1656207" y="100838"/>
                  </a:lnTo>
                  <a:lnTo>
                    <a:pt x="1622044" y="39116"/>
                  </a:lnTo>
                  <a:lnTo>
                    <a:pt x="1573784" y="51308"/>
                  </a:lnTo>
                  <a:lnTo>
                    <a:pt x="1525143" y="62230"/>
                  </a:lnTo>
                  <a:lnTo>
                    <a:pt x="1476121" y="71628"/>
                  </a:lnTo>
                  <a:lnTo>
                    <a:pt x="1426718" y="79883"/>
                  </a:lnTo>
                  <a:lnTo>
                    <a:pt x="1377061" y="86741"/>
                  </a:lnTo>
                  <a:lnTo>
                    <a:pt x="1327023" y="92202"/>
                  </a:lnTo>
                  <a:lnTo>
                    <a:pt x="1276985" y="96266"/>
                  </a:lnTo>
                  <a:lnTo>
                    <a:pt x="1226693" y="99187"/>
                  </a:lnTo>
                  <a:lnTo>
                    <a:pt x="1176528" y="100584"/>
                  </a:lnTo>
                  <a:lnTo>
                    <a:pt x="1126109" y="100838"/>
                  </a:lnTo>
                  <a:lnTo>
                    <a:pt x="1075944" y="99695"/>
                  </a:lnTo>
                  <a:lnTo>
                    <a:pt x="1025779" y="97155"/>
                  </a:lnTo>
                  <a:lnTo>
                    <a:pt x="975741" y="93345"/>
                  </a:lnTo>
                  <a:lnTo>
                    <a:pt x="925957" y="88265"/>
                  </a:lnTo>
                  <a:lnTo>
                    <a:pt x="876427" y="81788"/>
                  </a:lnTo>
                  <a:lnTo>
                    <a:pt x="827278" y="74041"/>
                  </a:lnTo>
                  <a:lnTo>
                    <a:pt x="778383" y="65024"/>
                  </a:lnTo>
                  <a:lnTo>
                    <a:pt x="729996" y="54610"/>
                  </a:lnTo>
                  <a:lnTo>
                    <a:pt x="682117" y="42926"/>
                  </a:lnTo>
                  <a:lnTo>
                    <a:pt x="634746" y="29972"/>
                  </a:lnTo>
                  <a:lnTo>
                    <a:pt x="588010" y="15621"/>
                  </a:lnTo>
                  <a:lnTo>
                    <a:pt x="541909" y="0"/>
                  </a:lnTo>
                  <a:lnTo>
                    <a:pt x="0" y="739902"/>
                  </a:lnTo>
                  <a:lnTo>
                    <a:pt x="43942" y="760984"/>
                  </a:lnTo>
                  <a:lnTo>
                    <a:pt x="88392" y="781050"/>
                  </a:lnTo>
                  <a:lnTo>
                    <a:pt x="133223" y="800354"/>
                  </a:lnTo>
                  <a:lnTo>
                    <a:pt x="178435" y="818769"/>
                  </a:lnTo>
                  <a:lnTo>
                    <a:pt x="224028" y="836295"/>
                  </a:lnTo>
                  <a:lnTo>
                    <a:pt x="270129" y="852805"/>
                  </a:lnTo>
                  <a:lnTo>
                    <a:pt x="316484" y="868553"/>
                  </a:lnTo>
                  <a:lnTo>
                    <a:pt x="363220" y="883412"/>
                  </a:lnTo>
                  <a:lnTo>
                    <a:pt x="410210" y="897394"/>
                  </a:lnTo>
                  <a:lnTo>
                    <a:pt x="457581" y="910463"/>
                  </a:lnTo>
                  <a:lnTo>
                    <a:pt x="505079" y="922655"/>
                  </a:lnTo>
                  <a:lnTo>
                    <a:pt x="552958" y="933958"/>
                  </a:lnTo>
                  <a:lnTo>
                    <a:pt x="601091" y="944245"/>
                  </a:lnTo>
                  <a:lnTo>
                    <a:pt x="649478" y="953770"/>
                  </a:lnTo>
                  <a:lnTo>
                    <a:pt x="697992" y="962406"/>
                  </a:lnTo>
                  <a:lnTo>
                    <a:pt x="746760" y="970153"/>
                  </a:lnTo>
                  <a:lnTo>
                    <a:pt x="795528" y="976884"/>
                  </a:lnTo>
                  <a:lnTo>
                    <a:pt x="844677" y="982853"/>
                  </a:lnTo>
                  <a:lnTo>
                    <a:pt x="893826" y="987933"/>
                  </a:lnTo>
                  <a:lnTo>
                    <a:pt x="943102" y="991997"/>
                  </a:lnTo>
                  <a:lnTo>
                    <a:pt x="992505" y="995172"/>
                  </a:lnTo>
                  <a:lnTo>
                    <a:pt x="1041908" y="997585"/>
                  </a:lnTo>
                  <a:lnTo>
                    <a:pt x="1091438" y="998982"/>
                  </a:lnTo>
                  <a:lnTo>
                    <a:pt x="1140968" y="999490"/>
                  </a:lnTo>
                  <a:lnTo>
                    <a:pt x="1190498" y="999109"/>
                  </a:lnTo>
                  <a:lnTo>
                    <a:pt x="1240028" y="997839"/>
                  </a:lnTo>
                  <a:lnTo>
                    <a:pt x="1289558" y="995680"/>
                  </a:lnTo>
                  <a:lnTo>
                    <a:pt x="1338961" y="992632"/>
                  </a:lnTo>
                  <a:lnTo>
                    <a:pt x="1388491" y="988568"/>
                  </a:lnTo>
                  <a:lnTo>
                    <a:pt x="1437767" y="983742"/>
                  </a:lnTo>
                  <a:lnTo>
                    <a:pt x="1487043" y="977900"/>
                  </a:lnTo>
                  <a:lnTo>
                    <a:pt x="1536192" y="971169"/>
                  </a:lnTo>
                  <a:lnTo>
                    <a:pt x="1585087" y="963549"/>
                  </a:lnTo>
                  <a:lnTo>
                    <a:pt x="1633982" y="955040"/>
                  </a:lnTo>
                  <a:lnTo>
                    <a:pt x="1682610" y="945515"/>
                  </a:lnTo>
                  <a:lnTo>
                    <a:pt x="1731137" y="935228"/>
                  </a:lnTo>
                  <a:lnTo>
                    <a:pt x="1779384" y="923925"/>
                  </a:lnTo>
                  <a:lnTo>
                    <a:pt x="1827403" y="911745"/>
                  </a:lnTo>
                  <a:lnTo>
                    <a:pt x="1875155" y="898652"/>
                  </a:lnTo>
                  <a:lnTo>
                    <a:pt x="1922780" y="884555"/>
                  </a:lnTo>
                  <a:lnTo>
                    <a:pt x="1970024" y="869708"/>
                  </a:lnTo>
                  <a:lnTo>
                    <a:pt x="2016887" y="853833"/>
                  </a:lnTo>
                  <a:lnTo>
                    <a:pt x="2063496" y="837057"/>
                  </a:lnTo>
                  <a:close/>
                </a:path>
              </a:pathLst>
            </a:custGeom>
            <a:solidFill>
              <a:srgbClr val="A3C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13631" y="2484120"/>
              <a:ext cx="286385" cy="243840"/>
            </a:xfrm>
            <a:custGeom>
              <a:avLst/>
              <a:gdLst/>
              <a:ahLst/>
              <a:cxnLst/>
              <a:rect l="l" t="t" r="r" b="b"/>
              <a:pathLst>
                <a:path w="286385" h="243839">
                  <a:moveTo>
                    <a:pt x="143128" y="0"/>
                  </a:moveTo>
                  <a:lnTo>
                    <a:pt x="0" y="243585"/>
                  </a:lnTo>
                  <a:lnTo>
                    <a:pt x="286257" y="243585"/>
                  </a:lnTo>
                  <a:lnTo>
                    <a:pt x="143128" y="0"/>
                  </a:lnTo>
                  <a:close/>
                </a:path>
              </a:pathLst>
            </a:custGeom>
            <a:solidFill>
              <a:srgbClr val="0D6D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782055" y="3611879"/>
              <a:ext cx="286385" cy="243840"/>
            </a:xfrm>
            <a:custGeom>
              <a:avLst/>
              <a:gdLst/>
              <a:ahLst/>
              <a:cxnLst/>
              <a:rect l="l" t="t" r="r" b="b"/>
              <a:pathLst>
                <a:path w="286385" h="243839">
                  <a:moveTo>
                    <a:pt x="286004" y="0"/>
                  </a:moveTo>
                  <a:lnTo>
                    <a:pt x="0" y="0"/>
                  </a:lnTo>
                  <a:lnTo>
                    <a:pt x="143002" y="243332"/>
                  </a:lnTo>
                  <a:lnTo>
                    <a:pt x="286004" y="0"/>
                  </a:lnTo>
                  <a:close/>
                </a:path>
              </a:pathLst>
            </a:custGeom>
            <a:solidFill>
              <a:srgbClr val="A3C2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671815" y="2724911"/>
              <a:ext cx="298450" cy="265430"/>
            </a:xfrm>
            <a:custGeom>
              <a:avLst/>
              <a:gdLst/>
              <a:ahLst/>
              <a:cxnLst/>
              <a:rect l="l" t="t" r="r" b="b"/>
              <a:pathLst>
                <a:path w="298450" h="265430">
                  <a:moveTo>
                    <a:pt x="144399" y="0"/>
                  </a:moveTo>
                  <a:lnTo>
                    <a:pt x="0" y="202311"/>
                  </a:lnTo>
                  <a:lnTo>
                    <a:pt x="298323" y="264922"/>
                  </a:lnTo>
                  <a:lnTo>
                    <a:pt x="14439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105402" y="2328164"/>
            <a:ext cx="7981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30" dirty="0">
                <a:solidFill>
                  <a:srgbClr val="FFFFFF"/>
                </a:solidFill>
                <a:latin typeface="Arial"/>
                <a:cs typeface="Arial"/>
              </a:rPr>
              <a:t>Dimensi</a:t>
            </a:r>
            <a:endParaRPr sz="1800">
              <a:latin typeface="Arial"/>
              <a:cs typeface="Arial"/>
            </a:endParaRPr>
          </a:p>
          <a:p>
            <a:pPr marL="45720">
              <a:lnSpc>
                <a:spcPct val="100000"/>
              </a:lnSpc>
            </a:pPr>
            <a:r>
              <a:rPr sz="1800" b="1" spc="-60" dirty="0">
                <a:solidFill>
                  <a:srgbClr val="FFFFFF"/>
                </a:solidFill>
                <a:latin typeface="Arial"/>
                <a:cs typeface="Arial"/>
              </a:rPr>
              <a:t>realitas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13782" y="3134613"/>
            <a:ext cx="148082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spc="-114" dirty="0">
                <a:latin typeface="Arial"/>
                <a:cs typeface="Arial"/>
              </a:rPr>
              <a:t>Dimensi</a:t>
            </a:r>
            <a:r>
              <a:rPr sz="1600" b="1" spc="-65" dirty="0">
                <a:latin typeface="Arial"/>
                <a:cs typeface="Arial"/>
              </a:rPr>
              <a:t> </a:t>
            </a:r>
            <a:r>
              <a:rPr sz="1600" b="1" spc="-85" dirty="0">
                <a:latin typeface="Arial"/>
                <a:cs typeface="Arial"/>
              </a:rPr>
              <a:t>idealitas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49185" y="2518994"/>
            <a:ext cx="86550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95"/>
              </a:spcBef>
            </a:pPr>
            <a:r>
              <a:rPr sz="1400" b="1" spc="-10" dirty="0">
                <a:latin typeface="Arial"/>
                <a:cs typeface="Arial"/>
              </a:rPr>
              <a:t>Dimensi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400" b="1" spc="-70" dirty="0">
                <a:latin typeface="Arial"/>
                <a:cs typeface="Arial"/>
              </a:rPr>
              <a:t>fleksibilitas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74320" y="1612391"/>
            <a:ext cx="4721225" cy="1365885"/>
            <a:chOff x="274320" y="1612391"/>
            <a:chExt cx="4721225" cy="1365885"/>
          </a:xfrm>
        </p:grpSpPr>
        <p:sp>
          <p:nvSpPr>
            <p:cNvPr id="34" name="object 34"/>
            <p:cNvSpPr/>
            <p:nvPr/>
          </p:nvSpPr>
          <p:spPr>
            <a:xfrm>
              <a:off x="3508247" y="1612391"/>
              <a:ext cx="1487805" cy="228600"/>
            </a:xfrm>
            <a:custGeom>
              <a:avLst/>
              <a:gdLst/>
              <a:ahLst/>
              <a:cxnLst/>
              <a:rect l="l" t="t" r="r" b="b"/>
              <a:pathLst>
                <a:path w="1487804" h="228600">
                  <a:moveTo>
                    <a:pt x="1487297" y="0"/>
                  </a:moveTo>
                  <a:lnTo>
                    <a:pt x="0" y="0"/>
                  </a:lnTo>
                  <a:lnTo>
                    <a:pt x="0" y="228600"/>
                  </a:lnTo>
                  <a:lnTo>
                    <a:pt x="1487297" y="228600"/>
                  </a:lnTo>
                  <a:lnTo>
                    <a:pt x="14872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4320" y="2157983"/>
              <a:ext cx="850392" cy="819912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930965" y="596393"/>
            <a:ext cx="7755835" cy="1446935"/>
          </a:xfrm>
          <a:prstGeom prst="rect">
            <a:avLst/>
          </a:prstGeom>
        </p:spPr>
        <p:txBody>
          <a:bodyPr vert="horz" wrap="square" lIns="0" tIns="91821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90"/>
              </a:spcBef>
            </a:pPr>
            <a:r>
              <a:rPr dirty="0"/>
              <a:t>ESENSI</a:t>
            </a:r>
            <a:r>
              <a:rPr spc="-100" dirty="0"/>
              <a:t> </a:t>
            </a:r>
            <a:r>
              <a:rPr spc="-10" dirty="0"/>
              <a:t>PANCASILA</a:t>
            </a:r>
            <a:r>
              <a:rPr spc="-50" dirty="0"/>
              <a:t> </a:t>
            </a:r>
            <a:r>
              <a:rPr spc="-10" dirty="0"/>
              <a:t>SEBAGAI</a:t>
            </a:r>
            <a:r>
              <a:rPr spc="-100" dirty="0"/>
              <a:t> </a:t>
            </a:r>
            <a:r>
              <a:rPr spc="-10" dirty="0"/>
              <a:t>IDEOLOGI</a:t>
            </a:r>
            <a:r>
              <a:rPr spc="-60" dirty="0"/>
              <a:t> </a:t>
            </a:r>
            <a:r>
              <a:rPr spc="-10" dirty="0"/>
              <a:t>NEGARA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33C5A-BA0A-46D1-9D56-EBC8CA7B1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TERIMAKASIH</a:t>
            </a:r>
            <a:endParaRPr lang="en-ID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854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2488</Words>
  <Application>Microsoft Office PowerPoint</Application>
  <PresentationFormat>Widescreen</PresentationFormat>
  <Paragraphs>403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Arial MT</vt:lpstr>
      <vt:lpstr>Calibri</vt:lpstr>
      <vt:lpstr>Calibri Light</vt:lpstr>
      <vt:lpstr>Cambria</vt:lpstr>
      <vt:lpstr>Tahoma</vt:lpstr>
      <vt:lpstr>Times New Roman</vt:lpstr>
      <vt:lpstr>Trebuchet MS</vt:lpstr>
      <vt:lpstr>Verdana</vt:lpstr>
      <vt:lpstr>Wingdings</vt:lpstr>
      <vt:lpstr>Office Theme</vt:lpstr>
      <vt:lpstr>PowerPoint Presentation</vt:lpstr>
      <vt:lpstr>Pengertian dan fungsi Ideologi</vt:lpstr>
      <vt:lpstr>PANCASILA</vt:lpstr>
      <vt:lpstr>PowerPoint Presentation</vt:lpstr>
      <vt:lpstr>Macam Macam ideologi</vt:lpstr>
      <vt:lpstr>Liberalisme</vt:lpstr>
      <vt:lpstr>Kapitalisme</vt:lpstr>
      <vt:lpstr>Sosialisme</vt:lpstr>
      <vt:lpstr>komunisme</vt:lpstr>
      <vt:lpstr>Fasisme</vt:lpstr>
      <vt:lpstr>Anarkisme</vt:lpstr>
      <vt:lpstr>Urgensi Pancasila sebagai Ideologi Negara</vt:lpstr>
      <vt:lpstr>Warga Negara Memahami dan Melaksanakan Pancasila sebagai Ideologi Negara</vt:lpstr>
      <vt:lpstr>Penyelenggara Negara Memahami dan Melaksanakan Pancasila sebagai Ideologi Negara</vt:lpstr>
      <vt:lpstr>TAHUN 1965-1998</vt:lpstr>
      <vt:lpstr>TAHUN 2003</vt:lpstr>
      <vt:lpstr>BADAN PEMBINAAN IDEOLOGI PANCASILA</vt:lpstr>
      <vt:lpstr>SUMBER SOSIOLOGIS &amp; POLITIK PANCASILA SEBAGAI IDEOLOGI NEGARA</vt:lpstr>
      <vt:lpstr>PowerPoint Presentation</vt:lpstr>
      <vt:lpstr>ESENSI PANCASILA SEBAGAI IDEOLOGI NEGARA</vt:lpstr>
      <vt:lpstr>TERIMAKASIH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X240</cp:lastModifiedBy>
  <cp:revision>3</cp:revision>
  <dcterms:created xsi:type="dcterms:W3CDTF">2025-09-29T15:12:27Z</dcterms:created>
  <dcterms:modified xsi:type="dcterms:W3CDTF">2025-09-30T03:22:17Z</dcterms:modified>
</cp:coreProperties>
</file>