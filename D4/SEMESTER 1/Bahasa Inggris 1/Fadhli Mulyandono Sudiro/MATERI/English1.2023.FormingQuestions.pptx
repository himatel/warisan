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7"/>
  </p:notesMasterIdLst>
  <p:sldIdLst>
    <p:sldId id="256" r:id="rId2"/>
    <p:sldId id="260" r:id="rId3"/>
    <p:sldId id="258" r:id="rId4"/>
    <p:sldId id="261" r:id="rId5"/>
    <p:sldId id="262" r:id="rId6"/>
    <p:sldId id="263" r:id="rId7"/>
    <p:sldId id="283" r:id="rId8"/>
    <p:sldId id="286" r:id="rId9"/>
    <p:sldId id="287" r:id="rId10"/>
    <p:sldId id="265" r:id="rId11"/>
    <p:sldId id="266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67" r:id="rId25"/>
    <p:sldId id="29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008000"/>
    <a:srgbClr val="FF66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7" d="100"/>
          <a:sy n="77" d="100"/>
        </p:scale>
        <p:origin x="-72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C2B48-4AAA-4825-A618-B6FC0FB7DAE2}" type="datetimeFigureOut">
              <a:rPr lang="en-US" smtClean="0"/>
              <a:pPr/>
              <a:t>9/18/2019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AB35D-2AC1-4A22-8867-9AC4902A49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7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5AB35D-2AC1-4A22-8867-9AC4902A49B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2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51EF4E-6F8B-4016-9E51-1F46FE7526DA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81B3C9-2D71-447D-8307-30962593F470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EC702A-1A3E-47BF-A820-BFFE1E991DE1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6AD83A4-2B18-4D5F-A5A2-04F3CA7785CB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180D81-8618-4D55-97AA-4335334A08A2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57B9BA-81F7-4FE3-8BE5-961D63C05032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4110CD-DEBC-4C7A-A929-94DE3F87932A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9FD50A-F783-4AD2-9A98-A4835F20D6E3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BF2210-B752-412D-BC27-C1A3223065AA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4C913F-306A-4DA5-8716-130F4A1D840D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1503C00-EA0A-4146-8920-B82C9D86AC77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 smtClean="0"/>
              <a:t>RestuArini.English1.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Photo_Video\Gambar Kartun\handsup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3439064"/>
            <a:ext cx="4343400" cy="3114136"/>
          </a:xfrm>
          <a:prstGeom prst="rect">
            <a:avLst/>
          </a:prstGeom>
          <a:noFill/>
        </p:spPr>
      </p:pic>
      <p:sp>
        <p:nvSpPr>
          <p:cNvPr id="4" name="Oval Callout 3"/>
          <p:cNvSpPr/>
          <p:nvPr/>
        </p:nvSpPr>
        <p:spPr>
          <a:xfrm>
            <a:off x="1524000" y="304800"/>
            <a:ext cx="5943600" cy="2971800"/>
          </a:xfrm>
          <a:prstGeom prst="wedgeEllipseCallou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Segoe UI Symbol" pitchFamily="34" charset="0"/>
                <a:ea typeface="Segoe UI Symbol" pitchFamily="34" charset="0"/>
              </a:rPr>
              <a:t>Lesson </a:t>
            </a:r>
            <a:r>
              <a:rPr lang="en-US" dirty="0" smtClean="0">
                <a:latin typeface="Segoe UI Symbol" pitchFamily="34" charset="0"/>
                <a:ea typeface="Segoe UI Symbol" pitchFamily="34" charset="0"/>
              </a:rPr>
              <a:t>4:  </a:t>
            </a:r>
            <a:r>
              <a:rPr lang="en-US" sz="4400" dirty="0" smtClean="0">
                <a:latin typeface="Segoe UI Symbol" pitchFamily="34" charset="0"/>
                <a:ea typeface="Segoe UI Symbol" pitchFamily="34" charset="0"/>
              </a:rPr>
              <a:t>FORMING QUESTIONs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400" decel="5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52400"/>
            <a:ext cx="8229600" cy="11430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chemeClr val="bg1"/>
                </a:solidFill>
              </a:rPr>
              <a:t>Brainstorm: Create questions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4040188" cy="639762"/>
          </a:xfrm>
        </p:spPr>
        <p:txBody>
          <a:bodyPr/>
          <a:lstStyle/>
          <a:p>
            <a:r>
              <a:rPr lang="en-US" u="sng" dirty="0" smtClean="0">
                <a:solidFill>
                  <a:schemeClr val="bg1"/>
                </a:solidFill>
              </a:rPr>
              <a:t>Short answers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50812" y="1447800"/>
            <a:ext cx="4497388" cy="510540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Downtown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No, I’m allergic to cats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Seven-thirty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Two hours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Because I overslept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Mine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My cousin</a:t>
            </a:r>
          </a:p>
          <a:p>
            <a:pPr marL="514350" indent="-514350">
              <a:buAutoNum type="arabicPeriod" startAt="8"/>
            </a:pPr>
            <a:r>
              <a:rPr lang="en-US" sz="2800" dirty="0" smtClean="0">
                <a:solidFill>
                  <a:schemeClr val="bg1"/>
                </a:solidFill>
              </a:rPr>
              <a:t>Five block from here</a:t>
            </a:r>
          </a:p>
          <a:p>
            <a:pPr marL="514350" indent="-514350">
              <a:buAutoNum type="arabicPeriod" startAt="8"/>
            </a:pPr>
            <a:r>
              <a:rPr lang="en-US" sz="2800" dirty="0" smtClean="0">
                <a:solidFill>
                  <a:schemeClr val="bg1"/>
                </a:solidFill>
              </a:rPr>
              <a:t>Once a week</a:t>
            </a:r>
          </a:p>
          <a:p>
            <a:pPr marL="514350" indent="-514350">
              <a:buAutoNum type="arabicPeriod" startAt="8"/>
            </a:pPr>
            <a:r>
              <a:rPr lang="en-US" sz="2800" dirty="0" smtClean="0">
                <a:solidFill>
                  <a:schemeClr val="bg1"/>
                </a:solidFill>
              </a:rPr>
              <a:t>Answering your questions</a:t>
            </a:r>
          </a:p>
          <a:p>
            <a:pPr marL="514350" indent="-514350">
              <a:buAutoNum type="arabicPeriod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645025" y="762000"/>
            <a:ext cx="4041775" cy="639762"/>
          </a:xfrm>
        </p:spPr>
        <p:txBody>
          <a:bodyPr/>
          <a:lstStyle/>
          <a:p>
            <a:r>
              <a:rPr lang="en-US" u="sng" dirty="0" smtClean="0">
                <a:solidFill>
                  <a:schemeClr val="bg1"/>
                </a:solidFill>
              </a:rPr>
              <a:t>Questions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2"/>
          </p:nvPr>
        </p:nvSpPr>
        <p:spPr>
          <a:xfrm>
            <a:off x="4646612" y="1447800"/>
            <a:ext cx="4497388" cy="510540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800" b="1" i="1" dirty="0" smtClean="0">
                <a:solidFill>
                  <a:schemeClr val="bg1"/>
                </a:solidFill>
              </a:rPr>
              <a:t>Where</a:t>
            </a:r>
            <a:r>
              <a:rPr lang="en-US" sz="2800" dirty="0" smtClean="0">
                <a:solidFill>
                  <a:schemeClr val="bg1"/>
                </a:solidFill>
              </a:rPr>
              <a:t> do you live?</a:t>
            </a:r>
          </a:p>
          <a:p>
            <a:pPr marL="514350" indent="-514350">
              <a:buAutoNum type="arabicPeriod"/>
            </a:pPr>
            <a:r>
              <a:rPr lang="en-US" sz="2800" b="1" i="1" dirty="0" smtClean="0">
                <a:solidFill>
                  <a:schemeClr val="bg1"/>
                </a:solidFill>
              </a:rPr>
              <a:t>Do</a:t>
            </a:r>
            <a:r>
              <a:rPr lang="en-US" sz="2800" dirty="0" smtClean="0">
                <a:solidFill>
                  <a:schemeClr val="bg1"/>
                </a:solidFill>
              </a:rPr>
              <a:t> you like cats?</a:t>
            </a:r>
          </a:p>
          <a:p>
            <a:pPr marL="514350" indent="-514350">
              <a:buAutoNum type="arabicPeriod"/>
            </a:pPr>
            <a:r>
              <a:rPr lang="en-US" sz="2800" b="1" i="1" dirty="0" smtClean="0">
                <a:solidFill>
                  <a:schemeClr val="bg1"/>
                </a:solidFill>
              </a:rPr>
              <a:t>When/What time</a:t>
            </a:r>
            <a:r>
              <a:rPr lang="en-US" sz="2800" dirty="0" smtClean="0">
                <a:solidFill>
                  <a:schemeClr val="bg1"/>
                </a:solidFill>
              </a:rPr>
              <a:t> ….?</a:t>
            </a:r>
          </a:p>
          <a:p>
            <a:pPr marL="514350" indent="-514350">
              <a:buAutoNum type="arabicPeriod"/>
            </a:pPr>
            <a:r>
              <a:rPr lang="en-US" sz="2800" b="1" i="1" dirty="0" smtClean="0">
                <a:solidFill>
                  <a:schemeClr val="bg1"/>
                </a:solidFill>
              </a:rPr>
              <a:t>How long</a:t>
            </a:r>
            <a:r>
              <a:rPr lang="en-US" sz="2800" dirty="0" smtClean="0">
                <a:solidFill>
                  <a:schemeClr val="bg1"/>
                </a:solidFill>
              </a:rPr>
              <a:t> ……. ?</a:t>
            </a:r>
          </a:p>
          <a:p>
            <a:pPr marL="514350" indent="-514350">
              <a:buAutoNum type="arabicPeriod"/>
            </a:pPr>
            <a:r>
              <a:rPr lang="en-US" sz="2800" b="1" i="1" dirty="0" smtClean="0">
                <a:solidFill>
                  <a:schemeClr val="bg1"/>
                </a:solidFill>
              </a:rPr>
              <a:t>Why did you</a:t>
            </a:r>
            <a:r>
              <a:rPr lang="en-US" sz="2800" dirty="0" smtClean="0">
                <a:solidFill>
                  <a:schemeClr val="bg1"/>
                </a:solidFill>
              </a:rPr>
              <a:t> ……….?</a:t>
            </a:r>
          </a:p>
          <a:p>
            <a:pPr marL="514350" indent="-514350">
              <a:buAutoNum type="arabicPeriod"/>
            </a:pPr>
            <a:r>
              <a:rPr lang="en-US" sz="2800" b="1" i="1" dirty="0" smtClean="0">
                <a:solidFill>
                  <a:schemeClr val="bg1"/>
                </a:solidFill>
              </a:rPr>
              <a:t>Whose</a:t>
            </a:r>
            <a:r>
              <a:rPr lang="en-US" sz="2800" dirty="0" smtClean="0">
                <a:solidFill>
                  <a:schemeClr val="bg1"/>
                </a:solidFill>
              </a:rPr>
              <a:t> book is this?</a:t>
            </a:r>
          </a:p>
          <a:p>
            <a:pPr marL="514350" indent="-514350">
              <a:buAutoNum type="arabicPeriod"/>
            </a:pPr>
            <a:r>
              <a:rPr lang="en-US" sz="2800" b="1" i="1" dirty="0" smtClean="0">
                <a:solidFill>
                  <a:schemeClr val="bg1"/>
                </a:solidFill>
              </a:rPr>
              <a:t>Who</a:t>
            </a:r>
            <a:r>
              <a:rPr lang="en-US" sz="2800" dirty="0" smtClean="0">
                <a:solidFill>
                  <a:schemeClr val="bg1"/>
                </a:solidFill>
              </a:rPr>
              <a:t> ..? </a:t>
            </a:r>
            <a:r>
              <a:rPr lang="en-US" sz="2800" b="1" i="1" dirty="0" smtClean="0">
                <a:solidFill>
                  <a:schemeClr val="bg1"/>
                </a:solidFill>
              </a:rPr>
              <a:t>Whom</a:t>
            </a:r>
            <a:r>
              <a:rPr lang="en-US" sz="2800" dirty="0" smtClean="0">
                <a:solidFill>
                  <a:schemeClr val="bg1"/>
                </a:solidFill>
              </a:rPr>
              <a:t> do you?</a:t>
            </a:r>
          </a:p>
          <a:p>
            <a:pPr marL="514350" indent="-514350">
              <a:buAutoNum type="arabicPeriod" startAt="8"/>
            </a:pPr>
            <a:r>
              <a:rPr lang="en-US" sz="2800" b="1" i="1" dirty="0" smtClean="0">
                <a:solidFill>
                  <a:schemeClr val="bg1"/>
                </a:solidFill>
              </a:rPr>
              <a:t>How far</a:t>
            </a:r>
            <a:r>
              <a:rPr lang="en-US" sz="2800" dirty="0" smtClean="0">
                <a:solidFill>
                  <a:schemeClr val="bg1"/>
                </a:solidFill>
              </a:rPr>
              <a:t> is it …. here?</a:t>
            </a:r>
          </a:p>
          <a:p>
            <a:pPr marL="514350" indent="-514350">
              <a:buAutoNum type="arabicPeriod" startAt="8"/>
            </a:pPr>
            <a:r>
              <a:rPr lang="en-US" sz="2800" b="1" i="1" dirty="0" smtClean="0">
                <a:solidFill>
                  <a:schemeClr val="bg1"/>
                </a:solidFill>
              </a:rPr>
              <a:t>How many times</a:t>
            </a:r>
            <a:r>
              <a:rPr lang="en-US" sz="2800" dirty="0" smtClean="0">
                <a:solidFill>
                  <a:schemeClr val="bg1"/>
                </a:solidFill>
              </a:rPr>
              <a:t> .. ?</a:t>
            </a:r>
          </a:p>
          <a:p>
            <a:pPr marL="514350" indent="-514350">
              <a:buAutoNum type="arabicPeriod" startAt="8"/>
            </a:pPr>
            <a:r>
              <a:rPr lang="en-US" sz="2800" dirty="0" smtClean="0">
                <a:solidFill>
                  <a:schemeClr val="bg1"/>
                </a:solidFill>
              </a:rPr>
              <a:t>What are you doing?</a:t>
            </a:r>
          </a:p>
          <a:p>
            <a:pPr marL="514350" indent="-514350">
              <a:buAutoNum type="arabicPeriod"/>
            </a:pPr>
            <a:endParaRPr lang="en-US" sz="2800" dirty="0" smtClean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1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 build="p"/>
      <p:bldP spid="7" grpId="0" build="p"/>
      <p:bldP spid="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04800" y="228600"/>
          <a:ext cx="8458200" cy="620797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855633"/>
                <a:gridCol w="3602567"/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Yes/No Questions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WH-Questions</a:t>
                      </a:r>
                      <a:endParaRPr lang="en-US" sz="4000" dirty="0"/>
                    </a:p>
                  </a:txBody>
                  <a:tcPr/>
                </a:tc>
              </a:tr>
              <a:tr h="5293574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1B3C9-2D71-447D-8307-30962593F470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91200" y="4105870"/>
            <a:ext cx="18473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smtClean="0">
                <a:ln w="11430"/>
                <a:solidFill>
                  <a:srgbClr val="FF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Why?</a:t>
            </a:r>
            <a:endParaRPr lang="en-US" sz="5400" b="1" cap="none" spc="50" dirty="0">
              <a:ln w="11430"/>
              <a:solidFill>
                <a:srgbClr val="FF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50780" y="2277070"/>
            <a:ext cx="21130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smtClean="0">
                <a:ln w="11430">
                  <a:solidFill>
                    <a:srgbClr val="FF6600"/>
                  </a:solidFill>
                </a:ln>
                <a:solidFill>
                  <a:srgbClr val="FF66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What?</a:t>
            </a:r>
            <a:endParaRPr lang="en-US" sz="5400" b="1" cap="none" spc="50" dirty="0">
              <a:ln w="11430">
                <a:solidFill>
                  <a:srgbClr val="FF6600"/>
                </a:solidFill>
              </a:ln>
              <a:solidFill>
                <a:srgbClr val="FF66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50780" y="2886670"/>
            <a:ext cx="24788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smtClean="0">
                <a:ln w="11430"/>
                <a:solidFill>
                  <a:srgbClr val="008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Where?</a:t>
            </a:r>
            <a:endParaRPr lang="en-US" sz="5400" b="1" cap="none" spc="50" dirty="0">
              <a:ln w="11430"/>
              <a:solidFill>
                <a:srgbClr val="008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50780" y="1600200"/>
            <a:ext cx="19030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Who?</a:t>
            </a:r>
            <a:endParaRPr lang="en-US" sz="5400" b="1" cap="none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91200" y="3496270"/>
            <a:ext cx="22573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smtClean="0">
                <a:ln w="11430"/>
                <a:solidFill>
                  <a:srgbClr val="3366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When?</a:t>
            </a:r>
            <a:endParaRPr lang="en-US" sz="5400" b="1" cap="none" spc="50" dirty="0">
              <a:ln w="11430"/>
              <a:solidFill>
                <a:srgbClr val="3366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600" y="1143000"/>
            <a:ext cx="21579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solidFill>
                  <a:srgbClr val="3366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Do … </a:t>
            </a:r>
            <a:r>
              <a:rPr lang="en-US" sz="5400" b="1" cap="none" spc="50" dirty="0" smtClean="0">
                <a:ln w="11430"/>
                <a:solidFill>
                  <a:srgbClr val="3366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en-US" sz="5400" b="1" cap="none" spc="50" dirty="0">
              <a:ln w="11430"/>
              <a:solidFill>
                <a:srgbClr val="3366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5181" y="1591270"/>
            <a:ext cx="31486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solidFill>
                  <a:srgbClr val="008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Does  …. </a:t>
            </a:r>
            <a:r>
              <a:rPr lang="en-US" sz="5400" b="1" cap="none" spc="50" dirty="0" smtClean="0">
                <a:ln w="11430"/>
                <a:solidFill>
                  <a:srgbClr val="008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en-US" sz="5400" b="1" cap="none" spc="50" dirty="0">
              <a:ln w="11430"/>
              <a:solidFill>
                <a:srgbClr val="008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2048470"/>
            <a:ext cx="27158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>
                  <a:solidFill>
                    <a:srgbClr val="FF6600"/>
                  </a:solidFill>
                </a:ln>
                <a:solidFill>
                  <a:srgbClr val="FF66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Did ….. </a:t>
            </a:r>
            <a:r>
              <a:rPr lang="en-US" sz="5400" b="1" cap="none" spc="50" dirty="0" smtClean="0">
                <a:ln w="11430">
                  <a:solidFill>
                    <a:srgbClr val="FF6600"/>
                  </a:solidFill>
                </a:ln>
                <a:solidFill>
                  <a:srgbClr val="FF66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en-US" sz="5400" b="1" cap="none" spc="50" dirty="0">
              <a:ln w="11430">
                <a:solidFill>
                  <a:srgbClr val="FF6600"/>
                </a:solidFill>
              </a:ln>
              <a:solidFill>
                <a:srgbClr val="FF66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" y="2819400"/>
            <a:ext cx="1837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solidFill>
                  <a:srgbClr val="FF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Is ….</a:t>
            </a:r>
            <a:r>
              <a:rPr lang="en-US" sz="5400" b="1" cap="none" spc="50" dirty="0" smtClean="0">
                <a:ln w="11430"/>
                <a:solidFill>
                  <a:srgbClr val="FF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en-US" sz="5400" b="1" cap="none" spc="50" dirty="0">
              <a:ln w="11430"/>
              <a:solidFill>
                <a:srgbClr val="FF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2677" y="3191470"/>
            <a:ext cx="22429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Am …</a:t>
            </a:r>
            <a:r>
              <a:rPr lang="en-US" sz="5400" b="1" cap="none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en-US" sz="5400" b="1" cap="none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964" y="3581400"/>
            <a:ext cx="2273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solidFill>
                  <a:srgbClr val="7030A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Are …</a:t>
            </a:r>
            <a:r>
              <a:rPr lang="en-US" sz="5400" b="1" cap="none" spc="50" dirty="0" smtClean="0">
                <a:ln w="11430"/>
                <a:solidFill>
                  <a:srgbClr val="7030A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en-US" sz="5400" b="1" cap="none" spc="50" dirty="0">
              <a:ln w="11430"/>
              <a:solidFill>
                <a:srgbClr val="7030A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99097" y="4495800"/>
            <a:ext cx="29585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>
                  <a:solidFill>
                    <a:srgbClr val="FF6600"/>
                  </a:solidFill>
                </a:ln>
                <a:solidFill>
                  <a:srgbClr val="FF66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Was ….. </a:t>
            </a:r>
            <a:r>
              <a:rPr lang="en-US" sz="5400" b="1" cap="none" spc="50" dirty="0" smtClean="0">
                <a:ln w="11430">
                  <a:solidFill>
                    <a:srgbClr val="FF6600"/>
                  </a:solidFill>
                </a:ln>
                <a:solidFill>
                  <a:srgbClr val="FF66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en-US" sz="5400" b="1" cap="none" spc="50" dirty="0">
              <a:ln w="11430">
                <a:solidFill>
                  <a:srgbClr val="FF6600"/>
                </a:solidFill>
              </a:ln>
              <a:solidFill>
                <a:srgbClr val="FF66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9514" y="4038600"/>
            <a:ext cx="3282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>
                  <a:solidFill>
                    <a:srgbClr val="008000"/>
                  </a:solidFill>
                </a:ln>
                <a:solidFill>
                  <a:srgbClr val="008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Were ….. </a:t>
            </a:r>
            <a:r>
              <a:rPr lang="en-US" sz="5400" b="1" cap="none" spc="50" dirty="0" smtClean="0">
                <a:ln w="11430">
                  <a:solidFill>
                    <a:srgbClr val="008000"/>
                  </a:solidFill>
                </a:ln>
                <a:solidFill>
                  <a:srgbClr val="008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en-US" sz="5400" b="1" cap="none" spc="50" dirty="0">
              <a:ln w="11430">
                <a:solidFill>
                  <a:srgbClr val="008000"/>
                </a:solidFill>
              </a:ln>
              <a:solidFill>
                <a:srgbClr val="008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600" y="5334000"/>
            <a:ext cx="46474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>
                  <a:solidFill>
                    <a:srgbClr val="3366FF"/>
                  </a:solidFill>
                </a:ln>
                <a:solidFill>
                  <a:srgbClr val="3366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Can/Should.. </a:t>
            </a:r>
            <a:r>
              <a:rPr lang="en-US" sz="5400" b="1" cap="none" spc="50" dirty="0" smtClean="0">
                <a:ln w="11430">
                  <a:solidFill>
                    <a:srgbClr val="3366FF"/>
                  </a:solidFill>
                </a:ln>
                <a:solidFill>
                  <a:srgbClr val="3366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?</a:t>
            </a:r>
            <a:endParaRPr lang="en-US" sz="5400" b="1" cap="none" spc="50" dirty="0">
              <a:ln w="11430">
                <a:solidFill>
                  <a:srgbClr val="3366FF"/>
                </a:solidFill>
              </a:ln>
              <a:solidFill>
                <a:srgbClr val="3366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840948" y="4724400"/>
            <a:ext cx="18552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 smtClean="0">
                <a:ln w="11430"/>
                <a:solidFill>
                  <a:srgbClr val="7030A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How?</a:t>
            </a:r>
            <a:endParaRPr lang="en-US" sz="5400" b="1" cap="none" spc="50" dirty="0">
              <a:ln w="11430"/>
              <a:solidFill>
                <a:srgbClr val="7030A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715962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Yes/no Questions: with </a:t>
            </a:r>
            <a:r>
              <a:rPr lang="en-US" i="1" dirty="0" smtClean="0">
                <a:solidFill>
                  <a:schemeClr val="bg1"/>
                </a:solidFill>
              </a:rPr>
              <a:t>to be</a:t>
            </a:r>
            <a:endParaRPr lang="en-US" i="1" dirty="0">
              <a:solidFill>
                <a:schemeClr val="bg1"/>
              </a:solidFill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57200" y="1676400"/>
          <a:ext cx="8229600" cy="4130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5800"/>
                <a:gridCol w="3733800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3200" u="sng" dirty="0" smtClean="0"/>
                        <a:t>Statement</a:t>
                      </a:r>
                      <a:endParaRPr lang="en-US" sz="3200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u="sng" dirty="0" smtClean="0"/>
                        <a:t>Question</a:t>
                      </a:r>
                      <a:endParaRPr lang="en-US" sz="3200" u="sn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John </a:t>
                      </a:r>
                      <a:r>
                        <a:rPr lang="en-US" sz="3200" b="1" i="1" u="none" dirty="0" smtClean="0"/>
                        <a:t>is</a:t>
                      </a:r>
                      <a:r>
                        <a:rPr lang="en-US" sz="3200" dirty="0" smtClean="0"/>
                        <a:t> from</a:t>
                      </a:r>
                      <a:r>
                        <a:rPr lang="en-US" sz="3200" baseline="0" dirty="0" smtClean="0"/>
                        <a:t> Java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1" i="1" dirty="0" smtClean="0"/>
                        <a:t>Is</a:t>
                      </a:r>
                      <a:r>
                        <a:rPr lang="en-US" sz="3200" dirty="0" smtClean="0"/>
                        <a:t> John from</a:t>
                      </a:r>
                      <a:r>
                        <a:rPr lang="en-US" sz="3200" baseline="0" dirty="0" smtClean="0"/>
                        <a:t> Java</a:t>
                      </a:r>
                      <a:r>
                        <a:rPr lang="en-US" sz="3200" dirty="0" smtClean="0"/>
                        <a:t>?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514350" indent="-514350">
                        <a:buNone/>
                      </a:pPr>
                      <a:r>
                        <a:rPr lang="en-US" sz="3200" dirty="0" smtClean="0"/>
                        <a:t>You and I </a:t>
                      </a:r>
                      <a:r>
                        <a:rPr lang="en-US" sz="3200" b="1" i="1" u="none" dirty="0" smtClean="0"/>
                        <a:t>are </a:t>
                      </a:r>
                      <a:r>
                        <a:rPr lang="en-US" sz="3200" dirty="0" smtClean="0"/>
                        <a:t>in the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1" i="1" dirty="0" smtClean="0"/>
                        <a:t>Are</a:t>
                      </a:r>
                      <a:r>
                        <a:rPr lang="en-US" sz="3200" dirty="0" smtClean="0"/>
                        <a:t> we</a:t>
                      </a:r>
                      <a:r>
                        <a:rPr lang="en-US" sz="3200" baseline="0" dirty="0" smtClean="0"/>
                        <a:t> in the room?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John </a:t>
                      </a:r>
                      <a:r>
                        <a:rPr lang="en-US" sz="3200" b="1" i="1" u="none" dirty="0" smtClean="0"/>
                        <a:t>was</a:t>
                      </a:r>
                      <a:r>
                        <a:rPr lang="en-US" sz="3200" dirty="0" smtClean="0"/>
                        <a:t> in the</a:t>
                      </a:r>
                      <a:r>
                        <a:rPr lang="en-US" sz="3200" baseline="0" dirty="0" smtClean="0"/>
                        <a:t> library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1" i="1" dirty="0" smtClean="0"/>
                        <a:t>Was</a:t>
                      </a:r>
                      <a:r>
                        <a:rPr lang="en-US" sz="3200" dirty="0" smtClean="0"/>
                        <a:t> John in the library?</a:t>
                      </a:r>
                      <a:endParaRPr lang="en-US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They </a:t>
                      </a:r>
                      <a:r>
                        <a:rPr lang="en-US" sz="3200" b="1" i="1" u="none" dirty="0" smtClean="0"/>
                        <a:t>were</a:t>
                      </a:r>
                      <a:r>
                        <a:rPr lang="en-US" sz="3200" dirty="0" smtClean="0"/>
                        <a:t> in the library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1" i="1" dirty="0" smtClean="0"/>
                        <a:t>Were</a:t>
                      </a:r>
                      <a:r>
                        <a:rPr lang="en-US" sz="3200" dirty="0" smtClean="0"/>
                        <a:t> they in the library?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Yes/no Questions: with </a:t>
            </a:r>
            <a:r>
              <a:rPr lang="en-US" i="1" dirty="0" smtClean="0">
                <a:solidFill>
                  <a:schemeClr val="bg1"/>
                </a:solidFill>
              </a:rPr>
              <a:t>verb</a:t>
            </a:r>
            <a:endParaRPr lang="en-US" i="1" dirty="0">
              <a:solidFill>
                <a:schemeClr val="bg1"/>
              </a:solidFill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023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733800"/>
                <a:gridCol w="4495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u="sng" dirty="0" smtClean="0"/>
                        <a:t>Statement</a:t>
                      </a:r>
                      <a:endParaRPr lang="en-US" sz="3200" u="sng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u="sng" dirty="0" smtClean="0"/>
                        <a:t>Question</a:t>
                      </a:r>
                      <a:endParaRPr lang="en-US" sz="3200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John </a:t>
                      </a:r>
                      <a:r>
                        <a:rPr lang="en-US" sz="2800" b="1" i="1" u="none" dirty="0" smtClean="0"/>
                        <a:t>works</a:t>
                      </a:r>
                      <a:r>
                        <a:rPr lang="en-US" sz="2800" dirty="0" smtClean="0"/>
                        <a:t> in the room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Does</a:t>
                      </a:r>
                      <a:r>
                        <a:rPr lang="en-US" sz="2800" dirty="0" smtClean="0"/>
                        <a:t> John </a:t>
                      </a:r>
                      <a:r>
                        <a:rPr lang="en-US" sz="2800" b="1" i="1" dirty="0" smtClean="0"/>
                        <a:t>work</a:t>
                      </a:r>
                      <a:r>
                        <a:rPr lang="en-US" sz="2800" dirty="0" smtClean="0"/>
                        <a:t> in the room?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14350" indent="-514350">
                        <a:buNone/>
                      </a:pPr>
                      <a:r>
                        <a:rPr lang="en-US" sz="2800" dirty="0" smtClean="0"/>
                        <a:t>They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="1" i="1" u="none" baseline="0" dirty="0" smtClean="0"/>
                        <a:t>work</a:t>
                      </a:r>
                      <a:r>
                        <a:rPr lang="en-US" sz="2800" dirty="0" smtClean="0"/>
                        <a:t> in the room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baseline="0" dirty="0" smtClean="0"/>
                        <a:t>Do</a:t>
                      </a:r>
                      <a:r>
                        <a:rPr lang="en-US" sz="2800" baseline="0" dirty="0" smtClean="0"/>
                        <a:t> they </a:t>
                      </a:r>
                      <a:r>
                        <a:rPr lang="en-US" sz="2800" b="1" i="1" baseline="0" dirty="0" smtClean="0"/>
                        <a:t>work</a:t>
                      </a:r>
                      <a:r>
                        <a:rPr lang="en-US" sz="2800" baseline="0" dirty="0" smtClean="0"/>
                        <a:t> in the room?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John </a:t>
                      </a:r>
                      <a:r>
                        <a:rPr lang="en-US" sz="2800" b="1" i="1" dirty="0" smtClean="0"/>
                        <a:t>worked</a:t>
                      </a:r>
                      <a:r>
                        <a:rPr lang="en-US" sz="2800" b="1" i="1" baseline="0" dirty="0" smtClean="0"/>
                        <a:t> </a:t>
                      </a:r>
                      <a:r>
                        <a:rPr lang="en-US" sz="2800" dirty="0" smtClean="0"/>
                        <a:t>in the library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Did</a:t>
                      </a:r>
                      <a:r>
                        <a:rPr lang="en-US" sz="2800" dirty="0" smtClean="0"/>
                        <a:t> John </a:t>
                      </a:r>
                      <a:r>
                        <a:rPr lang="en-US" sz="2800" b="1" i="1" dirty="0" smtClean="0"/>
                        <a:t>work </a:t>
                      </a:r>
                      <a:r>
                        <a:rPr lang="en-US" sz="2800" dirty="0" smtClean="0"/>
                        <a:t>in the library?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They  </a:t>
                      </a:r>
                      <a:r>
                        <a:rPr lang="en-US" sz="2800" b="1" i="1" dirty="0" smtClean="0"/>
                        <a:t>are working</a:t>
                      </a:r>
                      <a:r>
                        <a:rPr lang="en-US" sz="2800" dirty="0" smtClean="0"/>
                        <a:t> in the library ?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Are</a:t>
                      </a:r>
                      <a:r>
                        <a:rPr lang="en-US" sz="2800" dirty="0" smtClean="0"/>
                        <a:t> they </a:t>
                      </a:r>
                      <a:r>
                        <a:rPr lang="en-US" sz="2800" b="1" i="1" dirty="0" smtClean="0"/>
                        <a:t>working</a:t>
                      </a:r>
                      <a:r>
                        <a:rPr lang="en-US" sz="2800" dirty="0" smtClean="0"/>
                        <a:t> in the library?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sz="2800" dirty="0" smtClean="0"/>
                        <a:t>They </a:t>
                      </a:r>
                      <a:r>
                        <a:rPr lang="en-US" sz="2800" b="1" i="1" dirty="0" smtClean="0"/>
                        <a:t>have worked</a:t>
                      </a:r>
                      <a:r>
                        <a:rPr lang="en-US" sz="2800" dirty="0" smtClean="0"/>
                        <a:t> hard.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Have </a:t>
                      </a:r>
                      <a:r>
                        <a:rPr lang="en-US" sz="2800" dirty="0" smtClean="0"/>
                        <a:t>they </a:t>
                      </a:r>
                      <a:r>
                        <a:rPr lang="en-US" sz="2800" b="1" i="1" dirty="0" smtClean="0"/>
                        <a:t>worked</a:t>
                      </a:r>
                      <a:r>
                        <a:rPr lang="en-US" sz="2800" dirty="0" smtClean="0"/>
                        <a:t> hard?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868362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3200" dirty="0" smtClean="0">
                <a:solidFill>
                  <a:schemeClr val="bg1"/>
                </a:solidFill>
              </a:rPr>
              <a:t>Yes/no Questions: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with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i="1" dirty="0" smtClean="0">
                <a:solidFill>
                  <a:schemeClr val="bg1"/>
                </a:solidFill>
              </a:rPr>
              <a:t>MODAL Auxiliaries</a:t>
            </a:r>
            <a:endParaRPr lang="en-US" i="1" dirty="0">
              <a:solidFill>
                <a:schemeClr val="bg1"/>
              </a:solidFill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415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10000"/>
                <a:gridCol w="441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u="sng" dirty="0" smtClean="0"/>
                        <a:t>Statement</a:t>
                      </a:r>
                      <a:endParaRPr lang="en-US" sz="3200" u="sng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u="sng" dirty="0" smtClean="0"/>
                        <a:t>Question</a:t>
                      </a:r>
                      <a:endParaRPr lang="en-US" sz="3200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Tina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="1" i="1" baseline="0" dirty="0" smtClean="0"/>
                        <a:t>can </a:t>
                      </a:r>
                      <a:r>
                        <a:rPr lang="en-US" sz="2800" baseline="0" dirty="0" smtClean="0"/>
                        <a:t>speak English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Can</a:t>
                      </a:r>
                      <a:r>
                        <a:rPr lang="en-US" sz="2800" dirty="0" smtClean="0"/>
                        <a:t> Tina </a:t>
                      </a:r>
                      <a:r>
                        <a:rPr lang="en-US" sz="2800" b="1" i="1" dirty="0" smtClean="0"/>
                        <a:t>speak</a:t>
                      </a:r>
                      <a:r>
                        <a:rPr lang="en-US" sz="2800" dirty="0" smtClean="0"/>
                        <a:t> English?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14350" indent="-514350">
                        <a:buNone/>
                      </a:pPr>
                      <a:r>
                        <a:rPr lang="en-US" sz="2800" dirty="0" smtClean="0"/>
                        <a:t>Budi </a:t>
                      </a:r>
                      <a:r>
                        <a:rPr lang="en-US" sz="2800" b="1" i="1" dirty="0" smtClean="0"/>
                        <a:t>should</a:t>
                      </a:r>
                      <a:r>
                        <a:rPr lang="en-US" sz="2800" baseline="0" dirty="0" smtClean="0"/>
                        <a:t> see a doctor</a:t>
                      </a:r>
                      <a:endParaRPr lang="en-US" sz="2800" dirty="0" smtClean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Should</a:t>
                      </a:r>
                      <a:r>
                        <a:rPr lang="en-US" sz="2800" dirty="0" smtClean="0"/>
                        <a:t> Budi </a:t>
                      </a:r>
                      <a:r>
                        <a:rPr lang="en-US" sz="2800" b="1" i="1" dirty="0" smtClean="0"/>
                        <a:t>see</a:t>
                      </a:r>
                      <a:r>
                        <a:rPr lang="en-US" sz="2800" dirty="0" smtClean="0"/>
                        <a:t> a doctor?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We </a:t>
                      </a:r>
                      <a:r>
                        <a:rPr lang="en-US" sz="2800" b="1" i="1" dirty="0" smtClean="0"/>
                        <a:t>shall</a:t>
                      </a:r>
                      <a:r>
                        <a:rPr lang="en-US" sz="2800" dirty="0" smtClean="0"/>
                        <a:t> use the laboratory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Shall</a:t>
                      </a:r>
                      <a:r>
                        <a:rPr lang="en-US" sz="2800" dirty="0" smtClean="0"/>
                        <a:t> we </a:t>
                      </a:r>
                      <a:r>
                        <a:rPr lang="en-US" sz="2800" b="1" i="1" dirty="0" smtClean="0"/>
                        <a:t>use</a:t>
                      </a:r>
                      <a:r>
                        <a:rPr lang="en-US" sz="2800" dirty="0" smtClean="0"/>
                        <a:t> the laboratory?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You </a:t>
                      </a:r>
                      <a:r>
                        <a:rPr lang="en-US" sz="2800" b="1" i="1" dirty="0" smtClean="0"/>
                        <a:t>may</a:t>
                      </a:r>
                      <a:r>
                        <a:rPr lang="en-US" sz="2800" dirty="0" smtClean="0"/>
                        <a:t> come late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May</a:t>
                      </a:r>
                      <a:r>
                        <a:rPr lang="en-US" sz="2800" dirty="0" smtClean="0"/>
                        <a:t> I </a:t>
                      </a:r>
                      <a:r>
                        <a:rPr lang="en-US" sz="2800" b="1" i="1" dirty="0" smtClean="0"/>
                        <a:t>come </a:t>
                      </a:r>
                      <a:r>
                        <a:rPr lang="en-US" sz="2800" dirty="0" smtClean="0"/>
                        <a:t>late?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We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="1" i="1" baseline="0" dirty="0" smtClean="0"/>
                        <a:t>must</a:t>
                      </a:r>
                      <a:r>
                        <a:rPr lang="en-US" sz="2800" baseline="0" dirty="0" smtClean="0"/>
                        <a:t> come on time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Must</a:t>
                      </a:r>
                      <a:r>
                        <a:rPr lang="en-US" sz="2800" dirty="0" smtClean="0"/>
                        <a:t> we </a:t>
                      </a:r>
                      <a:r>
                        <a:rPr lang="en-US" sz="2800" b="1" i="1" dirty="0" smtClean="0"/>
                        <a:t>come</a:t>
                      </a:r>
                      <a:r>
                        <a:rPr lang="en-US" sz="2800" dirty="0" smtClean="0"/>
                        <a:t> on time?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She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="1" i="1" baseline="0" dirty="0" smtClean="0"/>
                        <a:t>could</a:t>
                      </a:r>
                      <a:r>
                        <a:rPr lang="en-US" sz="2800" baseline="0" dirty="0" smtClean="0"/>
                        <a:t> die without him</a:t>
                      </a:r>
                      <a:endParaRPr lang="en-US" sz="28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Could</a:t>
                      </a:r>
                      <a:r>
                        <a:rPr lang="en-US" sz="2800" dirty="0" smtClean="0"/>
                        <a:t> she </a:t>
                      </a:r>
                      <a:r>
                        <a:rPr lang="en-US" sz="2800" b="1" i="1" dirty="0" smtClean="0"/>
                        <a:t>die</a:t>
                      </a:r>
                      <a:r>
                        <a:rPr lang="en-US" sz="2800" dirty="0" smtClean="0"/>
                        <a:t> without him?</a:t>
                      </a:r>
                      <a:endParaRPr 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1B3C9-2D71-447D-8307-30962593F470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smtClean="0">
                <a:solidFill>
                  <a:schemeClr val="bg1"/>
                </a:solidFill>
              </a:rPr>
              <a:t>Forming</a:t>
            </a:r>
            <a:r>
              <a:rPr lang="en-US" i="1" dirty="0" smtClean="0">
                <a:solidFill>
                  <a:schemeClr val="bg1"/>
                </a:solidFill>
              </a:rPr>
              <a:t> YES/No Question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1828800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                </a:t>
            </a:r>
            <a:r>
              <a:rPr lang="en-US" sz="4000" dirty="0" smtClean="0"/>
              <a:t>  </a:t>
            </a:r>
            <a:r>
              <a:rPr lang="en-US" sz="4000" dirty="0" err="1" smtClean="0"/>
              <a:t>Tejo</a:t>
            </a:r>
            <a:r>
              <a:rPr lang="en-US" sz="4000" dirty="0" smtClean="0"/>
              <a:t>  </a:t>
            </a:r>
            <a:r>
              <a:rPr lang="en-US" sz="4000" dirty="0" smtClean="0"/>
              <a:t>will  graduate next year</a:t>
            </a:r>
          </a:p>
          <a:p>
            <a:pPr algn="just"/>
            <a:r>
              <a:rPr lang="en-US" sz="2800" i="1" dirty="0" smtClean="0"/>
              <a:t>							</a:t>
            </a:r>
          </a:p>
          <a:p>
            <a:pPr algn="ctr"/>
            <a:endParaRPr lang="en-US" sz="4000" dirty="0"/>
          </a:p>
        </p:txBody>
      </p:sp>
      <p:sp>
        <p:nvSpPr>
          <p:cNvPr id="8" name="Rectangle 7"/>
          <p:cNvSpPr/>
          <p:nvPr/>
        </p:nvSpPr>
        <p:spPr>
          <a:xfrm>
            <a:off x="304800" y="3352800"/>
            <a:ext cx="8229600" cy="914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i="1" dirty="0" smtClean="0"/>
              <a:t>           </a:t>
            </a:r>
            <a:r>
              <a:rPr lang="en-US" sz="3600" i="1" dirty="0" smtClean="0"/>
              <a:t>        </a:t>
            </a:r>
            <a:r>
              <a:rPr lang="en-US" sz="3600" dirty="0" smtClean="0"/>
              <a:t> </a:t>
            </a:r>
            <a:r>
              <a:rPr lang="en-US" sz="3600" dirty="0" err="1" smtClean="0"/>
              <a:t>Tejo</a:t>
            </a:r>
            <a:r>
              <a:rPr lang="en-US" sz="3600" dirty="0" smtClean="0"/>
              <a:t> graduate next year </a:t>
            </a:r>
            <a:r>
              <a:rPr lang="en-US" sz="3600" i="1" dirty="0" smtClean="0"/>
              <a:t>?</a:t>
            </a:r>
          </a:p>
          <a:p>
            <a:pPr algn="ctr"/>
            <a:endParaRPr lang="en-US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3429000" y="1905000"/>
            <a:ext cx="1066800" cy="7620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Will</a:t>
            </a:r>
            <a:endParaRPr lang="en-US" sz="4000" dirty="0"/>
          </a:p>
        </p:txBody>
      </p:sp>
      <p:sp>
        <p:nvSpPr>
          <p:cNvPr id="26" name="Freeform 25"/>
          <p:cNvSpPr/>
          <p:nvPr/>
        </p:nvSpPr>
        <p:spPr>
          <a:xfrm>
            <a:off x="1820056" y="1280411"/>
            <a:ext cx="1761344" cy="2300989"/>
          </a:xfrm>
          <a:custGeom>
            <a:avLst/>
            <a:gdLst>
              <a:gd name="connsiteX0" fmla="*/ 2365947 w 2365947"/>
              <a:gd name="connsiteY0" fmla="*/ 934386 h 2758189"/>
              <a:gd name="connsiteX1" fmla="*/ 866931 w 2365947"/>
              <a:gd name="connsiteY1" fmla="*/ 244839 h 2758189"/>
              <a:gd name="connsiteX2" fmla="*/ 117423 w 2365947"/>
              <a:gd name="connsiteY2" fmla="*/ 2403422 h 2758189"/>
              <a:gd name="connsiteX3" fmla="*/ 162393 w 2365947"/>
              <a:gd name="connsiteY3" fmla="*/ 2373442 h 2758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5947" h="2758189">
                <a:moveTo>
                  <a:pt x="2365947" y="934386"/>
                </a:moveTo>
                <a:cubicBezTo>
                  <a:pt x="1803816" y="467193"/>
                  <a:pt x="1241685" y="0"/>
                  <a:pt x="866931" y="244839"/>
                </a:cubicBezTo>
                <a:cubicBezTo>
                  <a:pt x="492177" y="489678"/>
                  <a:pt x="234846" y="2048655"/>
                  <a:pt x="117423" y="2403422"/>
                </a:cubicBezTo>
                <a:cubicBezTo>
                  <a:pt x="0" y="2758189"/>
                  <a:pt x="81196" y="2565815"/>
                  <a:pt x="162393" y="2373442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429000" y="1828800"/>
            <a:ext cx="1066800" cy="99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0.00833 -0.01942 C -0.06979 -0.077 -0.1309 -0.13434 -0.1684 -0.09434 C -0.2059 -0.05411 -0.22257 0.16925 -0.23333 0.22196 " pathEditMode="relative" rAng="0" ptsTypes="aaA">
                                      <p:cBhvr>
                                        <p:cTn id="2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00" y="6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3" grpId="0" animBg="1"/>
      <p:bldP spid="13" grpId="1" animBg="1"/>
      <p:bldP spid="26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1B3C9-2D71-447D-8307-30962593F470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smtClean="0">
                <a:solidFill>
                  <a:schemeClr val="bg1"/>
                </a:solidFill>
              </a:rPr>
              <a:t>Forming</a:t>
            </a:r>
            <a:r>
              <a:rPr lang="en-US" i="1" dirty="0" smtClean="0">
                <a:solidFill>
                  <a:schemeClr val="bg1"/>
                </a:solidFill>
              </a:rPr>
              <a:t> YES/No Question-2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1828800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       They   are attending  the meeting.</a:t>
            </a:r>
          </a:p>
          <a:p>
            <a:pPr algn="just"/>
            <a:r>
              <a:rPr lang="en-US" sz="2800" i="1" dirty="0" smtClean="0"/>
              <a:t>							</a:t>
            </a:r>
          </a:p>
          <a:p>
            <a:pPr algn="ctr"/>
            <a:endParaRPr lang="en-US" sz="4000" dirty="0"/>
          </a:p>
        </p:txBody>
      </p:sp>
      <p:sp>
        <p:nvSpPr>
          <p:cNvPr id="8" name="Rectangle 7"/>
          <p:cNvSpPr/>
          <p:nvPr/>
        </p:nvSpPr>
        <p:spPr>
          <a:xfrm>
            <a:off x="228600" y="3352800"/>
            <a:ext cx="8915400" cy="914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i="1" dirty="0" smtClean="0"/>
              <a:t>          </a:t>
            </a:r>
            <a:r>
              <a:rPr lang="en-US" sz="3600" i="1" dirty="0" smtClean="0"/>
              <a:t>        they</a:t>
            </a:r>
            <a:r>
              <a:rPr lang="en-US" sz="3600" dirty="0" smtClean="0"/>
              <a:t>                            the meeting </a:t>
            </a:r>
            <a:r>
              <a:rPr lang="en-US" sz="3600" i="1" dirty="0" smtClean="0"/>
              <a:t>?</a:t>
            </a:r>
          </a:p>
          <a:p>
            <a:pPr algn="ctr"/>
            <a:endParaRPr lang="en-US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2286000" y="1905000"/>
            <a:ext cx="3124200" cy="6858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are attending</a:t>
            </a:r>
            <a:endParaRPr lang="en-US" sz="4000" dirty="0"/>
          </a:p>
        </p:txBody>
      </p:sp>
      <p:sp>
        <p:nvSpPr>
          <p:cNvPr id="10" name="Rounded Rectangle 9"/>
          <p:cNvSpPr/>
          <p:nvPr/>
        </p:nvSpPr>
        <p:spPr>
          <a:xfrm>
            <a:off x="3429000" y="3429000"/>
            <a:ext cx="2286000" cy="7620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attending </a:t>
            </a:r>
            <a:endParaRPr lang="en-US" sz="4000" dirty="0"/>
          </a:p>
        </p:txBody>
      </p:sp>
      <p:sp>
        <p:nvSpPr>
          <p:cNvPr id="11" name="Rounded Rectangle 10"/>
          <p:cNvSpPr/>
          <p:nvPr/>
        </p:nvSpPr>
        <p:spPr>
          <a:xfrm>
            <a:off x="533400" y="3429000"/>
            <a:ext cx="2971800" cy="762000"/>
          </a:xfrm>
          <a:prstGeom prst="round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       they </a:t>
            </a:r>
            <a:endParaRPr lang="en-US" sz="4000" dirty="0"/>
          </a:p>
        </p:txBody>
      </p:sp>
      <p:sp>
        <p:nvSpPr>
          <p:cNvPr id="9" name="Rounded Rectangle 8"/>
          <p:cNvSpPr/>
          <p:nvPr/>
        </p:nvSpPr>
        <p:spPr>
          <a:xfrm>
            <a:off x="304800" y="3429000"/>
            <a:ext cx="1295400" cy="7620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Are</a:t>
            </a:r>
            <a:endParaRPr lang="en-US" sz="4000" dirty="0"/>
          </a:p>
        </p:txBody>
      </p:sp>
      <p:sp>
        <p:nvSpPr>
          <p:cNvPr id="12" name="Rounded Rectangle 11"/>
          <p:cNvSpPr/>
          <p:nvPr/>
        </p:nvSpPr>
        <p:spPr>
          <a:xfrm>
            <a:off x="2362200" y="1905000"/>
            <a:ext cx="3048000" cy="685800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0.0125 -0.02035 C -0.0625 -0.09064 -0.1125 -0.16093 -0.14583 -0.12023 C -0.17916 -0.07954 -0.20139 0.16647 -0.2125 0.22381 " pathEditMode="relative" rAng="0" ptsTypes="aaA">
                                      <p:cBhvr>
                                        <p:cTn id="3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5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3" grpId="0" animBg="1"/>
      <p:bldP spid="13" grpId="1" animBg="1"/>
      <p:bldP spid="10" grpId="0" animBg="1"/>
      <p:bldP spid="11" grpId="0" animBg="1"/>
      <p:bldP spid="9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1B3C9-2D71-447D-8307-30962593F470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smtClean="0">
                <a:solidFill>
                  <a:schemeClr val="bg1"/>
                </a:solidFill>
              </a:rPr>
              <a:t>Forming</a:t>
            </a:r>
            <a:r>
              <a:rPr lang="en-US" i="1" dirty="0" smtClean="0">
                <a:solidFill>
                  <a:schemeClr val="bg1"/>
                </a:solidFill>
              </a:rPr>
              <a:t> YES/No Question-3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1828800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         We   have finished  our Mid Exam.</a:t>
            </a:r>
          </a:p>
          <a:p>
            <a:pPr algn="just"/>
            <a:r>
              <a:rPr lang="en-US" sz="2800" i="1" dirty="0" smtClean="0"/>
              <a:t>							</a:t>
            </a:r>
          </a:p>
          <a:p>
            <a:pPr algn="ctr"/>
            <a:endParaRPr lang="en-US" sz="4000" dirty="0"/>
          </a:p>
        </p:txBody>
      </p:sp>
      <p:sp>
        <p:nvSpPr>
          <p:cNvPr id="8" name="Rectangle 7"/>
          <p:cNvSpPr/>
          <p:nvPr/>
        </p:nvSpPr>
        <p:spPr>
          <a:xfrm>
            <a:off x="228600" y="3352800"/>
            <a:ext cx="8915400" cy="914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i="1" dirty="0" smtClean="0"/>
              <a:t>          </a:t>
            </a:r>
            <a:r>
              <a:rPr lang="en-US" sz="3600" i="1" dirty="0" smtClean="0"/>
              <a:t>        you</a:t>
            </a:r>
            <a:r>
              <a:rPr lang="en-US" sz="3600" dirty="0" smtClean="0"/>
              <a:t>                            your Mid Exam </a:t>
            </a:r>
            <a:r>
              <a:rPr lang="en-US" sz="3600" i="1" dirty="0" smtClean="0"/>
              <a:t>?</a:t>
            </a:r>
          </a:p>
          <a:p>
            <a:pPr algn="ctr"/>
            <a:endParaRPr lang="en-US" sz="4000" dirty="0"/>
          </a:p>
        </p:txBody>
      </p:sp>
      <p:sp>
        <p:nvSpPr>
          <p:cNvPr id="13" name="Rounded Rectangle 12"/>
          <p:cNvSpPr/>
          <p:nvPr/>
        </p:nvSpPr>
        <p:spPr>
          <a:xfrm>
            <a:off x="2286000" y="1905000"/>
            <a:ext cx="3124200" cy="6858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have finished</a:t>
            </a:r>
            <a:endParaRPr lang="en-US" sz="4000" dirty="0"/>
          </a:p>
        </p:txBody>
      </p:sp>
      <p:sp>
        <p:nvSpPr>
          <p:cNvPr id="10" name="Rounded Rectangle 9"/>
          <p:cNvSpPr/>
          <p:nvPr/>
        </p:nvSpPr>
        <p:spPr>
          <a:xfrm>
            <a:off x="3581400" y="3429000"/>
            <a:ext cx="2133600" cy="7620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finished </a:t>
            </a:r>
            <a:endParaRPr lang="en-US" sz="4000" dirty="0"/>
          </a:p>
        </p:txBody>
      </p:sp>
      <p:sp>
        <p:nvSpPr>
          <p:cNvPr id="11" name="Rounded Rectangle 10"/>
          <p:cNvSpPr/>
          <p:nvPr/>
        </p:nvSpPr>
        <p:spPr>
          <a:xfrm>
            <a:off x="381000" y="3429000"/>
            <a:ext cx="3276600" cy="762000"/>
          </a:xfrm>
          <a:prstGeom prst="round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       you </a:t>
            </a:r>
            <a:endParaRPr lang="en-US" sz="4000" dirty="0"/>
          </a:p>
        </p:txBody>
      </p:sp>
      <p:sp>
        <p:nvSpPr>
          <p:cNvPr id="9" name="Rounded Rectangle 8"/>
          <p:cNvSpPr/>
          <p:nvPr/>
        </p:nvSpPr>
        <p:spPr>
          <a:xfrm>
            <a:off x="304800" y="3429000"/>
            <a:ext cx="1295400" cy="7620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Have</a:t>
            </a:r>
            <a:endParaRPr lang="en-US" sz="4000" dirty="0"/>
          </a:p>
        </p:txBody>
      </p:sp>
      <p:sp>
        <p:nvSpPr>
          <p:cNvPr id="12" name="Rounded Rectangle 11"/>
          <p:cNvSpPr/>
          <p:nvPr/>
        </p:nvSpPr>
        <p:spPr>
          <a:xfrm>
            <a:off x="2286000" y="1905000"/>
            <a:ext cx="31242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3.33333E-6 -0.02035 C -0.05 -0.09064 -0.1 -0.16093 -0.13333 -0.12023 C -0.16666 -0.07954 -0.18889 0.16647 -0.2 0.22381 " pathEditMode="relative" rAng="0" ptsTypes="aaA">
                                      <p:cBhvr>
                                        <p:cTn id="3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5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3" grpId="0" animBg="1"/>
      <p:bldP spid="13" grpId="1" animBg="1"/>
      <p:bldP spid="10" grpId="0" animBg="1"/>
      <p:bldP spid="11" grpId="0" animBg="1"/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868362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600" dirty="0" smtClean="0">
                <a:solidFill>
                  <a:schemeClr val="bg1"/>
                </a:solidFill>
              </a:rPr>
              <a:t>Exercises: create Yes/No Questions</a:t>
            </a:r>
            <a:endParaRPr lang="en-US" sz="3600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Johnny </a:t>
            </a:r>
            <a:r>
              <a:rPr lang="en-US" dirty="0" err="1" smtClean="0">
                <a:solidFill>
                  <a:schemeClr val="bg1"/>
                </a:solidFill>
              </a:rPr>
              <a:t>Depp</a:t>
            </a:r>
            <a:r>
              <a:rPr lang="en-US" dirty="0" smtClean="0">
                <a:solidFill>
                  <a:schemeClr val="bg1"/>
                </a:solidFill>
              </a:rPr>
              <a:t> is a very talented actor.</a:t>
            </a:r>
          </a:p>
          <a:p>
            <a:pPr marL="457200" indent="-4572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He enjoys acting very much</a:t>
            </a:r>
          </a:p>
          <a:p>
            <a:pPr marL="457200" indent="-4572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He can play in any kinds of movies.</a:t>
            </a:r>
          </a:p>
          <a:p>
            <a:pPr marL="457200" indent="-4572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He has been working in film industry for about 20 years.</a:t>
            </a:r>
          </a:p>
          <a:p>
            <a:pPr marL="457200" indent="-4572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Right now, he is finishing his newest movie entitled “</a:t>
            </a:r>
            <a:r>
              <a:rPr lang="en-US" dirty="0" err="1" smtClean="0">
                <a:solidFill>
                  <a:schemeClr val="bg1"/>
                </a:solidFill>
              </a:rPr>
              <a:t>Wiro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Sableng</a:t>
            </a:r>
            <a:r>
              <a:rPr lang="en-US" dirty="0" smtClean="0">
                <a:solidFill>
                  <a:schemeClr val="bg1"/>
                </a:solidFill>
              </a:rPr>
              <a:t>” a collaborative project with Indonesia.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err="1" smtClean="0">
                <a:solidFill>
                  <a:schemeClr val="bg1"/>
                </a:solidFill>
              </a:rPr>
              <a:t>Wh</a:t>
            </a:r>
            <a:r>
              <a:rPr lang="en-US" i="1" dirty="0" smtClean="0">
                <a:solidFill>
                  <a:schemeClr val="bg1"/>
                </a:solidFill>
              </a:rPr>
              <a:t>-Q: WHO and WHOM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108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a. </a:t>
                      </a:r>
                      <a:r>
                        <a:rPr lang="en-US" sz="2800" b="1" i="1" dirty="0" smtClean="0"/>
                        <a:t>Who</a:t>
                      </a:r>
                      <a:r>
                        <a:rPr lang="en-US" sz="2800" dirty="0" smtClean="0"/>
                        <a:t> came?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aseline="0" dirty="0" smtClean="0"/>
                        <a:t>S </a:t>
                      </a:r>
                      <a:r>
                        <a:rPr lang="en-US" sz="2800" dirty="0" smtClean="0"/>
                        <a:t>came.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b. </a:t>
                      </a:r>
                      <a:r>
                        <a:rPr lang="en-US" sz="2800" b="1" i="1" dirty="0" smtClean="0"/>
                        <a:t>Whom</a:t>
                      </a:r>
                      <a:r>
                        <a:rPr lang="en-US" sz="2800" dirty="0" smtClean="0"/>
                        <a:t> did you see?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 saw </a:t>
                      </a:r>
                      <a:r>
                        <a:rPr lang="en-US" sz="2800" b="1" i="1" dirty="0" smtClean="0"/>
                        <a:t>someone</a:t>
                      </a:r>
                      <a:r>
                        <a:rPr lang="en-US" sz="2800" dirty="0" smtClean="0"/>
                        <a:t>.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c. </a:t>
                      </a:r>
                      <a:r>
                        <a:rPr lang="en-US" sz="2800" b="1" i="1" dirty="0" smtClean="0"/>
                        <a:t>What</a:t>
                      </a:r>
                      <a:r>
                        <a:rPr lang="en-US" sz="2800" dirty="0" smtClean="0"/>
                        <a:t> happened?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i="1" dirty="0" smtClean="0"/>
                        <a:t>Something</a:t>
                      </a:r>
                      <a:r>
                        <a:rPr lang="en-US" sz="2800" dirty="0" smtClean="0"/>
                        <a:t> happened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d. </a:t>
                      </a:r>
                      <a:r>
                        <a:rPr lang="en-US" sz="2800" b="1" i="1" dirty="0" smtClean="0"/>
                        <a:t>What</a:t>
                      </a:r>
                      <a:r>
                        <a:rPr lang="en-US" sz="2800" dirty="0" smtClean="0"/>
                        <a:t> did you see?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 saw s</a:t>
                      </a:r>
                      <a:r>
                        <a:rPr lang="en-US" sz="2800" b="1" i="1" dirty="0" smtClean="0"/>
                        <a:t>omething</a:t>
                      </a:r>
                      <a:endParaRPr lang="en-US" sz="2800" b="1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err="1" smtClean="0">
                <a:solidFill>
                  <a:schemeClr val="bg1"/>
                </a:solidFill>
              </a:rPr>
              <a:t>Wh</a:t>
            </a:r>
            <a:r>
              <a:rPr lang="en-US" i="1" dirty="0" smtClean="0">
                <a:solidFill>
                  <a:schemeClr val="bg1"/>
                </a:solidFill>
              </a:rPr>
              <a:t>-Q: WHEN, WHERE, WHAT TIME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4494361"/>
              </p:ext>
            </p:extLst>
          </p:nvPr>
        </p:nvGraphicFramePr>
        <p:xfrm>
          <a:off x="457200" y="1219200"/>
          <a:ext cx="8229600" cy="5151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57600"/>
                <a:gridCol w="457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a. </a:t>
                      </a:r>
                      <a:r>
                        <a:rPr lang="en-US" sz="2800" b="1" i="1" dirty="0" smtClean="0"/>
                        <a:t>Where</a:t>
                      </a:r>
                      <a:r>
                        <a:rPr lang="en-US" sz="2800" b="1" i="1" baseline="0" dirty="0" smtClean="0"/>
                        <a:t> </a:t>
                      </a:r>
                      <a:r>
                        <a:rPr lang="en-US" sz="2800" dirty="0" smtClean="0"/>
                        <a:t> did</a:t>
                      </a:r>
                      <a:r>
                        <a:rPr lang="en-US" sz="2800" baseline="0" dirty="0" smtClean="0"/>
                        <a:t> you go</a:t>
                      </a:r>
                      <a:r>
                        <a:rPr lang="en-US" sz="2800" dirty="0" smtClean="0"/>
                        <a:t>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 went</a:t>
                      </a:r>
                      <a:r>
                        <a:rPr lang="en-US" sz="2800" baseline="0" dirty="0" smtClean="0"/>
                        <a:t> to </a:t>
                      </a:r>
                      <a:r>
                        <a:rPr lang="en-US" sz="2800" b="1" i="1" dirty="0" smtClean="0"/>
                        <a:t>Paris</a:t>
                      </a:r>
                      <a:endParaRPr lang="en-US" sz="2800" b="1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b. </a:t>
                      </a:r>
                      <a:r>
                        <a:rPr lang="en-US" sz="2800" b="1" i="1" dirty="0" smtClean="0"/>
                        <a:t>Where</a:t>
                      </a:r>
                      <a:r>
                        <a:rPr lang="en-US" sz="2800" b="1" i="1" baseline="0" dirty="0" smtClean="0"/>
                        <a:t> </a:t>
                      </a:r>
                      <a:r>
                        <a:rPr lang="en-US" sz="2800" b="0" i="0" baseline="0" dirty="0" smtClean="0"/>
                        <a:t>is she going?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She is going to </a:t>
                      </a:r>
                      <a:r>
                        <a:rPr lang="en-US" sz="2800" b="1" i="1" dirty="0" smtClean="0"/>
                        <a:t>Paris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c. </a:t>
                      </a:r>
                      <a:r>
                        <a:rPr lang="en-US" sz="2800" b="1" i="1" dirty="0" smtClean="0"/>
                        <a:t>What</a:t>
                      </a:r>
                      <a:r>
                        <a:rPr lang="en-US" sz="2800" b="1" i="1" baseline="0" dirty="0" smtClean="0"/>
                        <a:t> time</a:t>
                      </a:r>
                      <a:r>
                        <a:rPr lang="en-US" sz="2800" b="1" i="1" dirty="0" smtClean="0"/>
                        <a:t> </a:t>
                      </a:r>
                      <a:r>
                        <a:rPr lang="en-US" sz="2800" b="0" i="0" dirty="0" smtClean="0"/>
                        <a:t>did he come?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He came    </a:t>
                      </a:r>
                      <a:r>
                        <a:rPr lang="en-US" sz="2800" b="1" i="1" dirty="0" smtClean="0"/>
                        <a:t>seven thirty</a:t>
                      </a:r>
                    </a:p>
                    <a:p>
                      <a:r>
                        <a:rPr lang="en-US" sz="2800" b="1" i="1" dirty="0" smtClean="0"/>
                        <a:t>                   around five o’clock</a:t>
                      </a:r>
                    </a:p>
                    <a:p>
                      <a:r>
                        <a:rPr lang="en-US" sz="2800" b="1" i="1" dirty="0" smtClean="0"/>
                        <a:t>                   a</a:t>
                      </a:r>
                      <a:r>
                        <a:rPr lang="en-US" sz="2800" b="1" i="1" baseline="0" dirty="0" smtClean="0"/>
                        <a:t> quarter past ten</a:t>
                      </a:r>
                      <a:endParaRPr lang="en-US" sz="2800" b="1" i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d. </a:t>
                      </a:r>
                      <a:r>
                        <a:rPr lang="en-US" sz="2800" b="1" i="1" dirty="0" smtClean="0"/>
                        <a:t>When</a:t>
                      </a:r>
                      <a:r>
                        <a:rPr lang="en-US" sz="2800" dirty="0" smtClean="0"/>
                        <a:t> did he come?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dirty="0" smtClean="0"/>
                        <a:t>He</a:t>
                      </a:r>
                      <a:r>
                        <a:rPr lang="en-US" sz="2800" b="0" i="0" baseline="0" dirty="0" smtClean="0"/>
                        <a:t> came    </a:t>
                      </a:r>
                      <a:r>
                        <a:rPr lang="en-US" sz="2800" b="1" i="1" baseline="0" dirty="0" smtClean="0"/>
                        <a:t>seven thirty</a:t>
                      </a:r>
                    </a:p>
                    <a:p>
                      <a:r>
                        <a:rPr lang="en-US" sz="2800" b="1" i="1" baseline="0" dirty="0" smtClean="0"/>
                        <a:t>                   last night</a:t>
                      </a:r>
                    </a:p>
                    <a:p>
                      <a:r>
                        <a:rPr lang="en-US" sz="2800" b="1" i="1" baseline="0" dirty="0" smtClean="0"/>
                        <a:t>                   two days ago</a:t>
                      </a:r>
                    </a:p>
                    <a:p>
                      <a:r>
                        <a:rPr lang="en-US" sz="2800" b="1" i="1" baseline="0" dirty="0" smtClean="0"/>
                        <a:t>                   Monday morning</a:t>
                      </a:r>
                    </a:p>
                    <a:p>
                      <a:r>
                        <a:rPr lang="en-US" sz="2800" b="1" i="1" baseline="0" dirty="0" smtClean="0"/>
                        <a:t>                   in 1998</a:t>
                      </a:r>
                      <a:endParaRPr lang="en-US" sz="2800" b="0" i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Left Brace 7"/>
          <p:cNvSpPr/>
          <p:nvPr/>
        </p:nvSpPr>
        <p:spPr>
          <a:xfrm>
            <a:off x="5486400" y="3276600"/>
            <a:ext cx="198119" cy="12192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>
            <a:off x="5486401" y="4648200"/>
            <a:ext cx="152400" cy="19812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What kind of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229600" cy="481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102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a. What kind of shoes did you buy?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Boot</a:t>
                      </a:r>
                    </a:p>
                    <a:p>
                      <a:r>
                        <a:rPr lang="en-US" sz="2400" b="1" i="1" dirty="0" smtClean="0"/>
                        <a:t>Sandals</a:t>
                      </a:r>
                    </a:p>
                    <a:p>
                      <a:r>
                        <a:rPr lang="en-US" sz="2400" b="1" i="1" dirty="0" smtClean="0"/>
                        <a:t>Tennis shoes</a:t>
                      </a:r>
                    </a:p>
                    <a:p>
                      <a:r>
                        <a:rPr lang="en-US" sz="2400" b="1" i="1" dirty="0" smtClean="0"/>
                        <a:t>Running shoes</a:t>
                      </a:r>
                    </a:p>
                    <a:p>
                      <a:r>
                        <a:rPr lang="en-US" sz="2400" b="1" i="1" dirty="0" smtClean="0"/>
                        <a:t>High heels</a:t>
                      </a:r>
                    </a:p>
                    <a:p>
                      <a:r>
                        <a:rPr lang="en-US" sz="2400" b="1" i="1" dirty="0" smtClean="0"/>
                        <a:t>Etc.</a:t>
                      </a:r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2400" b="1" i="1" dirty="0" smtClean="0"/>
                        <a:t>What kind</a:t>
                      </a:r>
                      <a:r>
                        <a:rPr lang="en-US" sz="2400" b="1" i="1" baseline="0" dirty="0" smtClean="0"/>
                        <a:t> of </a:t>
                      </a:r>
                      <a:r>
                        <a:rPr lang="en-US" sz="2400" baseline="0" dirty="0" smtClean="0"/>
                        <a:t>asks for information about specific type (specific kind) in a general category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General</a:t>
                      </a:r>
                      <a:r>
                        <a:rPr lang="en-US" sz="2400" baseline="0" dirty="0" smtClean="0"/>
                        <a:t> category</a:t>
                      </a:r>
                    </a:p>
                    <a:p>
                      <a:r>
                        <a:rPr lang="en-US" sz="2400" baseline="0" dirty="0" smtClean="0"/>
                        <a:t>Specific kinds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aseline="0" dirty="0" smtClean="0"/>
                        <a:t>= shoes</a:t>
                      </a:r>
                    </a:p>
                    <a:p>
                      <a:r>
                        <a:rPr lang="en-US" sz="2400" b="1" i="1" baseline="0" dirty="0" smtClean="0"/>
                        <a:t>=  </a:t>
                      </a:r>
                      <a:r>
                        <a:rPr lang="en-US" sz="2400" b="1" i="1" dirty="0" smtClean="0"/>
                        <a:t>Boot, Sandals</a:t>
                      </a:r>
                    </a:p>
                    <a:p>
                      <a:r>
                        <a:rPr lang="en-US" sz="2400" b="1" i="1" dirty="0" smtClean="0"/>
                        <a:t>Tennis shoes,</a:t>
                      </a:r>
                      <a:r>
                        <a:rPr lang="en-US" sz="2400" b="1" i="1" baseline="0" dirty="0" smtClean="0"/>
                        <a:t> etc</a:t>
                      </a:r>
                      <a:endParaRPr lang="en-US" sz="2400" b="1" i="1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Left Brace 7"/>
          <p:cNvSpPr/>
          <p:nvPr/>
        </p:nvSpPr>
        <p:spPr>
          <a:xfrm>
            <a:off x="5715000" y="2133600"/>
            <a:ext cx="152400" cy="22098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Which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229600" cy="4084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102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Tom</a:t>
                      </a:r>
                      <a:r>
                        <a:rPr lang="en-US" sz="2400" baseline="0" dirty="0" smtClean="0"/>
                        <a:t> : May I borrow your pen?</a:t>
                      </a:r>
                    </a:p>
                    <a:p>
                      <a:r>
                        <a:rPr lang="en-US" sz="2400" baseline="0" dirty="0" smtClean="0"/>
                        <a:t>Ann:  Sure. I have two pens. </a:t>
                      </a:r>
                    </a:p>
                    <a:p>
                      <a:r>
                        <a:rPr lang="en-US" sz="2400" baseline="0" dirty="0" smtClean="0"/>
                        <a:t>           </a:t>
                      </a:r>
                      <a:r>
                        <a:rPr lang="en-US" sz="2400" b="1" i="1" baseline="0" dirty="0" smtClean="0"/>
                        <a:t>Which pen</a:t>
                      </a:r>
                      <a:r>
                        <a:rPr lang="en-US" sz="2400" baseline="0" dirty="0" smtClean="0"/>
                        <a:t> do you want?</a:t>
                      </a:r>
                    </a:p>
                    <a:p>
                      <a:r>
                        <a:rPr lang="en-US" sz="2400" baseline="0" dirty="0" smtClean="0"/>
                        <a:t>           </a:t>
                      </a:r>
                      <a:r>
                        <a:rPr lang="en-US" sz="2400" b="1" i="1" baseline="0" dirty="0" smtClean="0"/>
                        <a:t>Which one</a:t>
                      </a:r>
                      <a:r>
                        <a:rPr lang="en-US" sz="2400" baseline="0" dirty="0" smtClean="0"/>
                        <a:t> do you want?</a:t>
                      </a:r>
                    </a:p>
                    <a:p>
                      <a:r>
                        <a:rPr lang="en-US" sz="2400" baseline="0" dirty="0" smtClean="0"/>
                        <a:t>           </a:t>
                      </a:r>
                      <a:r>
                        <a:rPr lang="en-US" sz="2400" b="1" i="1" baseline="0" dirty="0" smtClean="0"/>
                        <a:t>Which</a:t>
                      </a:r>
                      <a:r>
                        <a:rPr lang="en-US" sz="2400" baseline="0" dirty="0" smtClean="0"/>
                        <a:t>         do you want?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i="1" dirty="0" smtClean="0"/>
                    </a:p>
                    <a:p>
                      <a:r>
                        <a:rPr lang="en-US" sz="2400" b="0" i="0" dirty="0" smtClean="0"/>
                        <a:t>I’d like</a:t>
                      </a:r>
                      <a:r>
                        <a:rPr lang="en-US" sz="2400" b="1" i="1" baseline="0" dirty="0" smtClean="0"/>
                        <a:t> the red one</a:t>
                      </a:r>
                      <a:endParaRPr lang="en-US" sz="2400" b="1" i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Jim:  Here’s a photo of my daughter’s class</a:t>
                      </a:r>
                    </a:p>
                    <a:p>
                      <a:r>
                        <a:rPr lang="en-US" sz="2400" dirty="0" smtClean="0"/>
                        <a:t>Kim: </a:t>
                      </a:r>
                      <a:r>
                        <a:rPr lang="en-US" sz="2400" b="1" i="1" dirty="0" smtClean="0"/>
                        <a:t>Which one</a:t>
                      </a:r>
                      <a:r>
                        <a:rPr lang="en-US" sz="2400" dirty="0" smtClean="0"/>
                        <a:t> is your daughter?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My daughter is </a:t>
                      </a:r>
                      <a:r>
                        <a:rPr lang="en-US" sz="2400" b="1" i="1" dirty="0" smtClean="0"/>
                        <a:t>the one</a:t>
                      </a:r>
                      <a:r>
                        <a:rPr lang="en-US" sz="2400" dirty="0" smtClean="0"/>
                        <a:t> wearing</a:t>
                      </a:r>
                      <a:r>
                        <a:rPr lang="en-US" sz="2400" baseline="0" dirty="0" smtClean="0"/>
                        <a:t> blue hat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Whose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524000"/>
          <a:ext cx="8229600" cy="3261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102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a. </a:t>
                      </a:r>
                      <a:r>
                        <a:rPr lang="en-US" sz="2400" b="1" i="1" dirty="0" smtClean="0"/>
                        <a:t>Whose </a:t>
                      </a:r>
                      <a:r>
                        <a:rPr lang="en-US" sz="2400" b="0" i="0" dirty="0" smtClean="0"/>
                        <a:t>book</a:t>
                      </a:r>
                      <a:r>
                        <a:rPr lang="en-US" sz="2400" b="0" i="0" baseline="0" dirty="0" smtClean="0"/>
                        <a:t> is this?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dirty="0" smtClean="0"/>
                        <a:t>It’s </a:t>
                      </a:r>
                      <a:r>
                        <a:rPr lang="en-US" sz="2400" b="1" i="1" dirty="0" smtClean="0"/>
                        <a:t>John’s (book)</a:t>
                      </a:r>
                      <a:r>
                        <a:rPr lang="en-US" sz="2400" b="0" i="0" dirty="0" smtClean="0"/>
                        <a:t>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b. </a:t>
                      </a:r>
                      <a:r>
                        <a:rPr lang="en-US" sz="2400" b="1" i="1" dirty="0" smtClean="0"/>
                        <a:t>Whose</a:t>
                      </a:r>
                      <a:r>
                        <a:rPr lang="en-US" sz="2400" b="1" i="1" baseline="0" dirty="0" smtClean="0"/>
                        <a:t> books</a:t>
                      </a:r>
                      <a:r>
                        <a:rPr lang="en-US" sz="2400" baseline="0" dirty="0" smtClean="0"/>
                        <a:t> are those?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They’re </a:t>
                      </a:r>
                      <a:r>
                        <a:rPr lang="en-US" sz="2400" b="1" i="1" dirty="0" smtClean="0"/>
                        <a:t>mine</a:t>
                      </a:r>
                      <a:endParaRPr lang="en-US" sz="2400" b="1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c. </a:t>
                      </a:r>
                      <a:r>
                        <a:rPr lang="en-US" sz="2400" b="1" i="1" dirty="0" smtClean="0"/>
                        <a:t>Whose</a:t>
                      </a:r>
                      <a:r>
                        <a:rPr lang="en-US" sz="2400" b="1" i="1" baseline="0" dirty="0" smtClean="0"/>
                        <a:t> car</a:t>
                      </a:r>
                      <a:r>
                        <a:rPr lang="en-US" sz="2400" baseline="0" dirty="0" smtClean="0"/>
                        <a:t> did you borrow?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dirty="0" smtClean="0"/>
                        <a:t>I borrowed</a:t>
                      </a:r>
                      <a:r>
                        <a:rPr lang="en-US" sz="2400" b="1" i="1" dirty="0" smtClean="0"/>
                        <a:t> Karen’s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b="1" i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d. </a:t>
                      </a:r>
                      <a:r>
                        <a:rPr lang="en-US" sz="2400" b="1" i="1" dirty="0" smtClean="0"/>
                        <a:t>Who’s</a:t>
                      </a:r>
                      <a:r>
                        <a:rPr lang="en-US" sz="2400" dirty="0" smtClean="0"/>
                        <a:t> that?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Mary Smith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e. </a:t>
                      </a:r>
                      <a:r>
                        <a:rPr lang="en-US" sz="2400" b="1" i="1" dirty="0" smtClean="0"/>
                        <a:t>Whose</a:t>
                      </a:r>
                      <a:r>
                        <a:rPr lang="en-US" sz="2400" b="1" i="1" baseline="0" dirty="0" smtClean="0"/>
                        <a:t> is</a:t>
                      </a:r>
                      <a:r>
                        <a:rPr lang="en-US" sz="2400" baseline="0" dirty="0" smtClean="0"/>
                        <a:t> that?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Mary’s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Using HOW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106633"/>
              </p:ext>
            </p:extLst>
          </p:nvPr>
        </p:nvGraphicFramePr>
        <p:xfrm>
          <a:off x="457200" y="1143000"/>
          <a:ext cx="8229600" cy="518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410200"/>
                <a:gridCol w="2819400"/>
              </a:tblGrid>
              <a:tr h="51816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a. </a:t>
                      </a:r>
                      <a:r>
                        <a:rPr lang="en-US" sz="2400" b="1" i="1" dirty="0" smtClean="0"/>
                        <a:t>How</a:t>
                      </a:r>
                      <a:r>
                        <a:rPr lang="en-US" sz="2400" dirty="0" smtClean="0"/>
                        <a:t> did you get</a:t>
                      </a:r>
                      <a:r>
                        <a:rPr lang="en-US" sz="2400" baseline="0" dirty="0" smtClean="0"/>
                        <a:t> there?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dirty="0" smtClean="0"/>
                        <a:t>I</a:t>
                      </a:r>
                      <a:r>
                        <a:rPr lang="en-US" sz="2400" b="0" i="0" baseline="0" dirty="0" smtClean="0"/>
                        <a:t> drove/by car</a:t>
                      </a:r>
                    </a:p>
                    <a:p>
                      <a:r>
                        <a:rPr lang="en-US" sz="2400" b="0" i="0" baseline="0" dirty="0" smtClean="0"/>
                        <a:t>I took a taxi/by taxi</a:t>
                      </a:r>
                    </a:p>
                    <a:p>
                      <a:r>
                        <a:rPr lang="en-US" sz="2400" b="0" i="0" baseline="0" dirty="0" smtClean="0"/>
                        <a:t>I took a bus/by bus</a:t>
                      </a:r>
                    </a:p>
                    <a:p>
                      <a:r>
                        <a:rPr lang="en-US" sz="2400" b="0" i="0" baseline="0" dirty="0" smtClean="0"/>
                        <a:t>I flew/by plane</a:t>
                      </a:r>
                    </a:p>
                    <a:p>
                      <a:r>
                        <a:rPr lang="en-US" sz="2400" b="0" i="0" baseline="0" dirty="0" smtClean="0"/>
                        <a:t>I walked/on foot</a:t>
                      </a:r>
                      <a:endParaRPr lang="en-US" sz="2400" b="0" i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b. </a:t>
                      </a:r>
                      <a:r>
                        <a:rPr lang="en-US" sz="2400" b="1" i="1" dirty="0" smtClean="0"/>
                        <a:t>How old</a:t>
                      </a:r>
                      <a:r>
                        <a:rPr lang="en-US" sz="2400" dirty="0" smtClean="0"/>
                        <a:t> are you?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Twenty one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c. </a:t>
                      </a:r>
                      <a:r>
                        <a:rPr lang="en-US" sz="2400" b="1" i="1" dirty="0" smtClean="0"/>
                        <a:t>How tall</a:t>
                      </a:r>
                      <a:r>
                        <a:rPr lang="en-US" sz="2400" dirty="0" smtClean="0"/>
                        <a:t> is he?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About 170</a:t>
                      </a:r>
                      <a:r>
                        <a:rPr lang="en-US" sz="2400" b="1" i="1" baseline="0" dirty="0" smtClean="0"/>
                        <a:t> cm</a:t>
                      </a:r>
                      <a:endParaRPr lang="en-US" sz="2400" b="1" i="1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d. </a:t>
                      </a:r>
                      <a:r>
                        <a:rPr lang="en-US" sz="2400" b="1" i="1" dirty="0" smtClean="0"/>
                        <a:t>How big</a:t>
                      </a:r>
                      <a:r>
                        <a:rPr lang="en-US" sz="2400" dirty="0" smtClean="0"/>
                        <a:t> is your apartment?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It has three rooms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e. How</a:t>
                      </a:r>
                      <a:r>
                        <a:rPr lang="en-US" sz="2400" baseline="0" dirty="0" smtClean="0"/>
                        <a:t> soon will you be ready?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In five minutes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f. How quickly can you get there?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In 30 minutes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g. </a:t>
                      </a:r>
                      <a:r>
                        <a:rPr lang="en-US" sz="2400" b="1" i="1" dirty="0" smtClean="0"/>
                        <a:t>How well</a:t>
                      </a:r>
                      <a:r>
                        <a:rPr lang="en-US" sz="2400" b="0" i="0" dirty="0" smtClean="0"/>
                        <a:t> does he speak English?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Very well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HOW FAR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3718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48400"/>
                <a:gridCol w="1981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It is 289 miles </a:t>
                      </a:r>
                      <a:r>
                        <a:rPr lang="en-US" sz="2400" b="1" dirty="0" smtClean="0"/>
                        <a:t>from </a:t>
                      </a:r>
                      <a:r>
                        <a:rPr lang="en-US" sz="2400" dirty="0" smtClean="0"/>
                        <a:t>St Louis </a:t>
                      </a:r>
                      <a:r>
                        <a:rPr lang="en-US" sz="2400" b="1" dirty="0" smtClean="0"/>
                        <a:t>to</a:t>
                      </a:r>
                      <a:r>
                        <a:rPr lang="en-US" sz="2400" dirty="0" smtClean="0"/>
                        <a:t> Chicago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a. </a:t>
                      </a:r>
                      <a:r>
                        <a:rPr lang="en-US" sz="2400" b="1" i="1" dirty="0" smtClean="0"/>
                        <a:t>How far is it</a:t>
                      </a:r>
                      <a:r>
                        <a:rPr lang="en-US" sz="2400" dirty="0" smtClean="0"/>
                        <a:t> from St</a:t>
                      </a:r>
                      <a:r>
                        <a:rPr lang="en-US" sz="2400" baseline="0" dirty="0" smtClean="0"/>
                        <a:t> Louis to Chicago?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289 miles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b. </a:t>
                      </a:r>
                      <a:r>
                        <a:rPr lang="en-US" sz="2400" b="1" i="1" dirty="0" smtClean="0"/>
                        <a:t>How far do you</a:t>
                      </a:r>
                      <a:r>
                        <a:rPr lang="en-US" sz="2400" dirty="0" smtClean="0"/>
                        <a:t> live from school?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 smtClean="0"/>
                        <a:t>Four blocks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c. </a:t>
                      </a:r>
                      <a:r>
                        <a:rPr lang="en-US" sz="2400" b="1" i="1" dirty="0" smtClean="0"/>
                        <a:t>How many miles is it</a:t>
                      </a:r>
                      <a:r>
                        <a:rPr lang="en-US" sz="2400" dirty="0" smtClean="0"/>
                        <a:t> from St Louis to</a:t>
                      </a:r>
                      <a:r>
                        <a:rPr lang="en-US" sz="2400" baseline="0" dirty="0" smtClean="0"/>
                        <a:t> Chicago?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d. </a:t>
                      </a:r>
                      <a:r>
                        <a:rPr lang="en-US" sz="2400" b="1" i="1" dirty="0" smtClean="0"/>
                        <a:t>How many </a:t>
                      </a:r>
                      <a:r>
                        <a:rPr lang="en-US" sz="2400" b="1" i="1" dirty="0" err="1" smtClean="0"/>
                        <a:t>kilometres</a:t>
                      </a:r>
                      <a:r>
                        <a:rPr lang="en-US" sz="2400" b="1" i="1" dirty="0" smtClean="0"/>
                        <a:t> is it</a:t>
                      </a:r>
                      <a:r>
                        <a:rPr lang="en-US" sz="2400" dirty="0" smtClean="0"/>
                        <a:t> from …. to</a:t>
                      </a:r>
                      <a:r>
                        <a:rPr lang="en-US" sz="2400" baseline="0" dirty="0" smtClean="0"/>
                        <a:t> …..?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e.</a:t>
                      </a:r>
                      <a:r>
                        <a:rPr lang="en-US" sz="2400" b="1" i="1" dirty="0" smtClean="0"/>
                        <a:t> How many blocks</a:t>
                      </a:r>
                      <a:r>
                        <a:rPr lang="en-US" sz="2400" b="1" i="1" baseline="0" dirty="0" smtClean="0"/>
                        <a:t> is it</a:t>
                      </a:r>
                      <a:r>
                        <a:rPr lang="en-US" sz="2400" baseline="0" dirty="0" smtClean="0"/>
                        <a:t> to the post office?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How Much (Quantity)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143000"/>
          <a:ext cx="8229600" cy="3992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43600"/>
                <a:gridCol w="228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marL="457200" indent="-457200">
                        <a:buAutoNum type="alphaLcPeriod"/>
                      </a:pP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a.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="1" i="1" baseline="0" dirty="0" smtClean="0"/>
                        <a:t>How much </a:t>
                      </a:r>
                      <a:r>
                        <a:rPr lang="en-US" sz="2400" baseline="0" dirty="0" smtClean="0"/>
                        <a:t>sugar do you need for your tea?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Not</a:t>
                      </a:r>
                      <a:r>
                        <a:rPr lang="en-US" sz="2400" baseline="0" dirty="0" smtClean="0"/>
                        <a:t> much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b. </a:t>
                      </a:r>
                      <a:r>
                        <a:rPr lang="en-US" sz="2400" b="1" i="1" dirty="0" smtClean="0"/>
                        <a:t>How much</a:t>
                      </a:r>
                      <a:r>
                        <a:rPr lang="en-US" sz="2400" dirty="0" smtClean="0"/>
                        <a:t> water do</a:t>
                      </a:r>
                      <a:r>
                        <a:rPr lang="en-US" sz="2400" baseline="0" dirty="0" smtClean="0"/>
                        <a:t> we need for a day?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Pretty much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d. </a:t>
                      </a:r>
                      <a:r>
                        <a:rPr lang="en-US" sz="2400" b="1" i="1" dirty="0" smtClean="0"/>
                        <a:t>How many spoon of</a:t>
                      </a:r>
                      <a:r>
                        <a:rPr lang="en-US" sz="2400" dirty="0" smtClean="0"/>
                        <a:t> sugar do you need for your tea?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 teaspoons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e. </a:t>
                      </a:r>
                      <a:r>
                        <a:rPr lang="en-US" sz="2400" b="1" i="1" dirty="0" smtClean="0"/>
                        <a:t>How many glass of</a:t>
                      </a:r>
                      <a:r>
                        <a:rPr lang="en-US" sz="2400" dirty="0" smtClean="0"/>
                        <a:t> water do we need for a day?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 glasses a day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Left Brace 7"/>
          <p:cNvSpPr/>
          <p:nvPr/>
        </p:nvSpPr>
        <p:spPr>
          <a:xfrm>
            <a:off x="6172200" y="4648200"/>
            <a:ext cx="198119" cy="16764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HOW LONG (length of time)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143000"/>
          <a:ext cx="8229600" cy="518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43600"/>
                <a:gridCol w="228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marL="457200" indent="-457200">
                        <a:buAutoNum type="alphaLcPeriod"/>
                      </a:pPr>
                      <a:r>
                        <a:rPr lang="en-US" sz="2400" b="1" i="1" dirty="0" smtClean="0"/>
                        <a:t>It takes</a:t>
                      </a:r>
                      <a:r>
                        <a:rPr lang="en-US" sz="2400" dirty="0" smtClean="0"/>
                        <a:t>             20 minutes   to cook noodle</a:t>
                      </a:r>
                    </a:p>
                    <a:p>
                      <a:pPr marL="457200" indent="-457200">
                        <a:buAutoNum type="alphaLcPeriod"/>
                      </a:pPr>
                      <a:r>
                        <a:rPr lang="en-US" sz="2400" b="1" i="1" dirty="0" smtClean="0"/>
                        <a:t>It</a:t>
                      </a:r>
                      <a:r>
                        <a:rPr lang="en-US" sz="2400" b="1" i="1" baseline="0" dirty="0" smtClean="0"/>
                        <a:t> took    </a:t>
                      </a:r>
                      <a:r>
                        <a:rPr lang="en-US" sz="2400" b="0" i="0" baseline="0" dirty="0" smtClean="0"/>
                        <a:t>Ann</a:t>
                      </a:r>
                      <a:r>
                        <a:rPr lang="en-US" sz="2400" b="1" i="1" baseline="0" dirty="0" smtClean="0"/>
                        <a:t>   </a:t>
                      </a:r>
                      <a:r>
                        <a:rPr lang="en-US" sz="2400" baseline="0" dirty="0" smtClean="0"/>
                        <a:t>two hours     to drive to work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c. </a:t>
                      </a:r>
                      <a:r>
                        <a:rPr lang="en-US" sz="2400" b="1" i="1" dirty="0" smtClean="0"/>
                        <a:t>How long</a:t>
                      </a:r>
                      <a:r>
                        <a:rPr lang="en-US" sz="2400" dirty="0" smtClean="0"/>
                        <a:t> does it take to cook rice?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 minutes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d. </a:t>
                      </a:r>
                      <a:r>
                        <a:rPr lang="en-US" sz="2400" b="1" i="1" dirty="0" smtClean="0"/>
                        <a:t>How long</a:t>
                      </a:r>
                      <a:r>
                        <a:rPr lang="en-US" sz="2400" dirty="0" smtClean="0"/>
                        <a:t> did it</a:t>
                      </a:r>
                      <a:r>
                        <a:rPr lang="en-US" sz="2400" baseline="0" dirty="0" smtClean="0"/>
                        <a:t> take Ann to drive to work?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Two hours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e. </a:t>
                      </a:r>
                      <a:r>
                        <a:rPr lang="en-US" sz="2400" b="1" i="1" dirty="0" smtClean="0"/>
                        <a:t>How long</a:t>
                      </a:r>
                      <a:r>
                        <a:rPr lang="en-US" sz="2400" dirty="0" smtClean="0"/>
                        <a:t> did you study last night?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Four</a:t>
                      </a:r>
                      <a:r>
                        <a:rPr lang="en-US" sz="2400" baseline="0" dirty="0" smtClean="0"/>
                        <a:t> hours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f.</a:t>
                      </a:r>
                      <a:r>
                        <a:rPr lang="en-US" sz="2400" baseline="0" dirty="0" smtClean="0"/>
                        <a:t>  </a:t>
                      </a:r>
                      <a:r>
                        <a:rPr lang="en-US" sz="2400" b="1" i="1" baseline="0" dirty="0" smtClean="0"/>
                        <a:t>How long </a:t>
                      </a:r>
                      <a:r>
                        <a:rPr lang="en-US" sz="2400" baseline="0" dirty="0" smtClean="0"/>
                        <a:t>will you be in London?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Ten days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g. </a:t>
                      </a:r>
                      <a:r>
                        <a:rPr lang="en-US" sz="2400" b="1" i="1" dirty="0" smtClean="0"/>
                        <a:t>How many days</a:t>
                      </a:r>
                      <a:r>
                        <a:rPr lang="en-US" sz="2400" dirty="0" smtClean="0"/>
                        <a:t> will you be in </a:t>
                      </a:r>
                      <a:r>
                        <a:rPr lang="en-US" sz="2400" dirty="0" err="1" smtClean="0"/>
                        <a:t>Hongkong</a:t>
                      </a:r>
                      <a:r>
                        <a:rPr lang="en-US" sz="2400" dirty="0" smtClean="0"/>
                        <a:t>?</a:t>
                      </a:r>
                    </a:p>
                    <a:p>
                      <a:endParaRPr lang="en-US" sz="2400" dirty="0" smtClean="0"/>
                    </a:p>
                    <a:p>
                      <a:r>
                        <a:rPr lang="en-US" sz="2400" baseline="0" dirty="0" smtClean="0"/>
                        <a:t>                                                          How many  +</a:t>
                      </a:r>
                      <a:endParaRPr lang="en-US" sz="2400" dirty="0" smtClean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Minutes</a:t>
                      </a:r>
                    </a:p>
                    <a:p>
                      <a:r>
                        <a:rPr lang="en-US" dirty="0" smtClean="0"/>
                        <a:t>Hours</a:t>
                      </a:r>
                    </a:p>
                    <a:p>
                      <a:r>
                        <a:rPr lang="en-US" dirty="0" smtClean="0"/>
                        <a:t>Days</a:t>
                      </a:r>
                    </a:p>
                    <a:p>
                      <a:r>
                        <a:rPr lang="en-US" dirty="0" smtClean="0"/>
                        <a:t>Weeks</a:t>
                      </a:r>
                    </a:p>
                    <a:p>
                      <a:r>
                        <a:rPr lang="en-US" dirty="0" smtClean="0"/>
                        <a:t>Month</a:t>
                      </a:r>
                    </a:p>
                    <a:p>
                      <a:r>
                        <a:rPr lang="en-US" dirty="0" smtClean="0"/>
                        <a:t>years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Left Brace 7"/>
          <p:cNvSpPr/>
          <p:nvPr/>
        </p:nvSpPr>
        <p:spPr>
          <a:xfrm>
            <a:off x="6172200" y="4648200"/>
            <a:ext cx="198119" cy="16764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HOW LONG (length of time)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457200" y="1143000"/>
          <a:ext cx="8229600" cy="518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43600"/>
                <a:gridCol w="228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Questions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Answer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marL="457200" indent="-457200">
                        <a:buAutoNum type="alphaLcPeriod"/>
                      </a:pPr>
                      <a:r>
                        <a:rPr lang="en-US" sz="2400" b="1" i="1" dirty="0" smtClean="0"/>
                        <a:t>It takes</a:t>
                      </a:r>
                      <a:r>
                        <a:rPr lang="en-US" sz="2400" dirty="0" smtClean="0"/>
                        <a:t>             20 minutes   to cook noodle</a:t>
                      </a:r>
                    </a:p>
                    <a:p>
                      <a:pPr marL="457200" indent="-457200">
                        <a:buAutoNum type="alphaLcPeriod"/>
                      </a:pPr>
                      <a:r>
                        <a:rPr lang="en-US" sz="2400" b="1" i="1" dirty="0" smtClean="0"/>
                        <a:t>It</a:t>
                      </a:r>
                      <a:r>
                        <a:rPr lang="en-US" sz="2400" b="1" i="1" baseline="0" dirty="0" smtClean="0"/>
                        <a:t> took    </a:t>
                      </a:r>
                      <a:r>
                        <a:rPr lang="en-US" sz="2400" b="0" i="0" baseline="0" dirty="0" smtClean="0"/>
                        <a:t>Ann</a:t>
                      </a:r>
                      <a:r>
                        <a:rPr lang="en-US" sz="2400" b="1" i="1" baseline="0" dirty="0" smtClean="0"/>
                        <a:t>   </a:t>
                      </a:r>
                      <a:r>
                        <a:rPr lang="en-US" sz="2400" baseline="0" dirty="0" smtClean="0"/>
                        <a:t>two hours     to drive to work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c. </a:t>
                      </a:r>
                      <a:r>
                        <a:rPr lang="en-US" sz="2400" b="1" i="1" dirty="0" smtClean="0"/>
                        <a:t>How long</a:t>
                      </a:r>
                      <a:r>
                        <a:rPr lang="en-US" sz="2400" dirty="0" smtClean="0"/>
                        <a:t> does it take to cook rice?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 minutes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d. </a:t>
                      </a:r>
                      <a:r>
                        <a:rPr lang="en-US" sz="2400" b="1" i="1" dirty="0" smtClean="0"/>
                        <a:t>How long</a:t>
                      </a:r>
                      <a:r>
                        <a:rPr lang="en-US" sz="2400" dirty="0" smtClean="0"/>
                        <a:t> did it</a:t>
                      </a:r>
                      <a:r>
                        <a:rPr lang="en-US" sz="2400" baseline="0" dirty="0" smtClean="0"/>
                        <a:t> take Ann to drive to work?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Two hours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e. </a:t>
                      </a:r>
                      <a:r>
                        <a:rPr lang="en-US" sz="2400" b="1" i="1" dirty="0" smtClean="0"/>
                        <a:t>How long</a:t>
                      </a:r>
                      <a:r>
                        <a:rPr lang="en-US" sz="2400" dirty="0" smtClean="0"/>
                        <a:t> did you study last night?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Four</a:t>
                      </a:r>
                      <a:r>
                        <a:rPr lang="en-US" sz="2400" baseline="0" dirty="0" smtClean="0"/>
                        <a:t> hours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f.</a:t>
                      </a:r>
                      <a:r>
                        <a:rPr lang="en-US" sz="2400" baseline="0" dirty="0" smtClean="0"/>
                        <a:t>  </a:t>
                      </a:r>
                      <a:r>
                        <a:rPr lang="en-US" sz="2400" b="1" i="1" baseline="0" dirty="0" smtClean="0"/>
                        <a:t>How long </a:t>
                      </a:r>
                      <a:r>
                        <a:rPr lang="en-US" sz="2400" baseline="0" dirty="0" smtClean="0"/>
                        <a:t>will you be in London?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Ten days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g. </a:t>
                      </a:r>
                      <a:r>
                        <a:rPr lang="en-US" sz="2400" b="1" i="1" dirty="0" smtClean="0"/>
                        <a:t>How many days</a:t>
                      </a:r>
                      <a:r>
                        <a:rPr lang="en-US" sz="2400" dirty="0" smtClean="0"/>
                        <a:t> will you be in </a:t>
                      </a:r>
                      <a:r>
                        <a:rPr lang="en-US" sz="2400" dirty="0" err="1" smtClean="0"/>
                        <a:t>Hongkong</a:t>
                      </a:r>
                      <a:r>
                        <a:rPr lang="en-US" sz="2400" dirty="0" smtClean="0"/>
                        <a:t>?</a:t>
                      </a:r>
                    </a:p>
                    <a:p>
                      <a:endParaRPr lang="en-US" sz="2400" dirty="0" smtClean="0"/>
                    </a:p>
                    <a:p>
                      <a:r>
                        <a:rPr lang="en-US" sz="2400" baseline="0" dirty="0" smtClean="0"/>
                        <a:t>                                                          How many  +</a:t>
                      </a:r>
                      <a:endParaRPr lang="en-US" sz="2400" dirty="0" smtClean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Minutes</a:t>
                      </a:r>
                    </a:p>
                    <a:p>
                      <a:r>
                        <a:rPr lang="en-US" dirty="0" smtClean="0"/>
                        <a:t>Hours</a:t>
                      </a:r>
                    </a:p>
                    <a:p>
                      <a:r>
                        <a:rPr lang="en-US" dirty="0" smtClean="0"/>
                        <a:t>Days</a:t>
                      </a:r>
                    </a:p>
                    <a:p>
                      <a:r>
                        <a:rPr lang="en-US" dirty="0" smtClean="0"/>
                        <a:t>Weeks</a:t>
                      </a:r>
                    </a:p>
                    <a:p>
                      <a:r>
                        <a:rPr lang="en-US" dirty="0" smtClean="0"/>
                        <a:t>Month</a:t>
                      </a:r>
                    </a:p>
                    <a:p>
                      <a:r>
                        <a:rPr lang="en-US" dirty="0" smtClean="0"/>
                        <a:t>years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Left Brace 7"/>
          <p:cNvSpPr/>
          <p:nvPr/>
        </p:nvSpPr>
        <p:spPr>
          <a:xfrm>
            <a:off x="6172200" y="4648200"/>
            <a:ext cx="198119" cy="16764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1B3C9-2D71-447D-8307-30962593F470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Forming </a:t>
            </a:r>
            <a:r>
              <a:rPr lang="en-US" i="1" dirty="0" err="1" smtClean="0">
                <a:solidFill>
                  <a:schemeClr val="bg1"/>
                </a:solidFill>
              </a:rPr>
              <a:t>Wh</a:t>
            </a:r>
            <a:r>
              <a:rPr lang="en-US" i="1" dirty="0" smtClean="0">
                <a:solidFill>
                  <a:schemeClr val="bg1"/>
                </a:solidFill>
              </a:rPr>
              <a:t>-Q: who/whom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1828800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                                     </a:t>
            </a:r>
            <a:r>
              <a:rPr lang="en-US" sz="4000" dirty="0" err="1" smtClean="0"/>
              <a:t>Tejo</a:t>
            </a:r>
            <a:r>
              <a:rPr lang="en-US" sz="4000" dirty="0" smtClean="0"/>
              <a:t> meets </a:t>
            </a:r>
            <a:r>
              <a:rPr lang="en-US" sz="4000" i="1" dirty="0" smtClean="0"/>
              <a:t>Maria</a:t>
            </a:r>
          </a:p>
          <a:p>
            <a:pPr algn="just"/>
            <a:r>
              <a:rPr lang="en-US" sz="2800" i="1" dirty="0" smtClean="0"/>
              <a:t>							</a:t>
            </a:r>
          </a:p>
          <a:p>
            <a:pPr algn="ctr"/>
            <a:endParaRPr lang="en-US" sz="4000" dirty="0"/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Yes/no:               </a:t>
            </a:r>
            <a:r>
              <a:rPr lang="en-US" sz="4000" i="1" dirty="0" smtClean="0"/>
              <a:t>Does</a:t>
            </a:r>
            <a:r>
              <a:rPr lang="en-US" sz="4000" dirty="0" smtClean="0"/>
              <a:t> </a:t>
            </a:r>
            <a:r>
              <a:rPr lang="en-US" sz="4000" dirty="0" err="1" smtClean="0"/>
              <a:t>Tejo</a:t>
            </a:r>
            <a:r>
              <a:rPr lang="en-US" sz="4000" dirty="0" smtClean="0"/>
              <a:t> meet </a:t>
            </a:r>
            <a:r>
              <a:rPr lang="en-US" sz="4000" i="1" dirty="0" smtClean="0"/>
              <a:t>Maria?</a:t>
            </a:r>
          </a:p>
          <a:p>
            <a:pPr algn="ctr"/>
            <a:endParaRPr lang="en-US" sz="4000" dirty="0"/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           </a:t>
            </a:r>
            <a:r>
              <a:rPr lang="en-US" sz="4000" dirty="0" smtClean="0">
                <a:solidFill>
                  <a:srgbClr val="FFC000"/>
                </a:solidFill>
              </a:rPr>
              <a:t>Who(m)  </a:t>
            </a:r>
            <a:r>
              <a:rPr lang="en-US" sz="4000" dirty="0" smtClean="0"/>
              <a:t>d</a:t>
            </a:r>
            <a:r>
              <a:rPr lang="en-US" sz="4000" i="1" dirty="0" smtClean="0"/>
              <a:t>oes</a:t>
            </a:r>
            <a:r>
              <a:rPr lang="en-US" sz="4000" dirty="0" smtClean="0"/>
              <a:t>  </a:t>
            </a:r>
            <a:r>
              <a:rPr lang="en-US" sz="4000" dirty="0" err="1" smtClean="0"/>
              <a:t>Tejo</a:t>
            </a:r>
            <a:r>
              <a:rPr lang="en-US" sz="4000" dirty="0" smtClean="0"/>
              <a:t> meet </a:t>
            </a:r>
            <a:r>
              <a:rPr lang="en-US" sz="4000" i="1" dirty="0" smtClean="0"/>
              <a:t>?</a:t>
            </a:r>
          </a:p>
          <a:p>
            <a:pPr algn="ctr"/>
            <a:endParaRPr lang="en-US" sz="4000" dirty="0"/>
          </a:p>
        </p:txBody>
      </p:sp>
      <p:sp>
        <p:nvSpPr>
          <p:cNvPr id="10" name="Oval 9"/>
          <p:cNvSpPr/>
          <p:nvPr/>
        </p:nvSpPr>
        <p:spPr>
          <a:xfrm>
            <a:off x="6858000" y="1905000"/>
            <a:ext cx="1752600" cy="9144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86600" y="2438400"/>
            <a:ext cx="12192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/>
              <a:t>object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1B3C9-2D71-447D-8307-30962593F470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Forming </a:t>
            </a:r>
            <a:r>
              <a:rPr lang="en-US" i="1" dirty="0" err="1" smtClean="0">
                <a:solidFill>
                  <a:schemeClr val="bg1"/>
                </a:solidFill>
              </a:rPr>
              <a:t>Wh</a:t>
            </a:r>
            <a:r>
              <a:rPr lang="en-US" i="1" dirty="0" smtClean="0">
                <a:solidFill>
                  <a:schemeClr val="bg1"/>
                </a:solidFill>
              </a:rPr>
              <a:t>-Q: who/whom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1828800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                                     </a:t>
            </a:r>
            <a:r>
              <a:rPr lang="en-US" sz="4000" i="1" dirty="0" err="1" smtClean="0"/>
              <a:t>Tejo</a:t>
            </a:r>
            <a:r>
              <a:rPr lang="en-US" sz="4000" i="1" dirty="0" smtClean="0"/>
              <a:t> </a:t>
            </a:r>
            <a:r>
              <a:rPr lang="en-US" sz="4000" dirty="0" smtClean="0"/>
              <a:t>meets Maria</a:t>
            </a:r>
          </a:p>
          <a:p>
            <a:pPr algn="just"/>
            <a:r>
              <a:rPr lang="en-US" sz="2800" i="1" dirty="0" smtClean="0"/>
              <a:t>							</a:t>
            </a:r>
          </a:p>
          <a:p>
            <a:pPr algn="ctr"/>
            <a:endParaRPr lang="en-US" sz="4000" dirty="0"/>
          </a:p>
        </p:txBody>
      </p:sp>
      <p:sp>
        <p:nvSpPr>
          <p:cNvPr id="9" name="Rectangle 8"/>
          <p:cNvSpPr/>
          <p:nvPr/>
        </p:nvSpPr>
        <p:spPr>
          <a:xfrm>
            <a:off x="457200" y="3276600"/>
            <a:ext cx="8229600" cy="914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                         </a:t>
            </a:r>
            <a:r>
              <a:rPr lang="en-US" sz="4000" dirty="0" smtClean="0">
                <a:solidFill>
                  <a:srgbClr val="FFC000"/>
                </a:solidFill>
              </a:rPr>
              <a:t>Who    </a:t>
            </a:r>
            <a:r>
              <a:rPr lang="en-US" sz="4000" dirty="0" smtClean="0"/>
              <a:t>meet Maria </a:t>
            </a:r>
            <a:r>
              <a:rPr lang="en-US" sz="4000" i="1" dirty="0" smtClean="0"/>
              <a:t>?</a:t>
            </a:r>
          </a:p>
          <a:p>
            <a:pPr algn="ctr"/>
            <a:endParaRPr lang="en-US" sz="4000" dirty="0"/>
          </a:p>
        </p:txBody>
      </p:sp>
      <p:sp>
        <p:nvSpPr>
          <p:cNvPr id="10" name="Oval 9"/>
          <p:cNvSpPr/>
          <p:nvPr/>
        </p:nvSpPr>
        <p:spPr>
          <a:xfrm>
            <a:off x="4191000" y="1828800"/>
            <a:ext cx="1752600" cy="9144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495800" y="2514600"/>
            <a:ext cx="12192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/>
              <a:t>subject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1B3C9-2D71-447D-8307-30962593F470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Forming </a:t>
            </a:r>
            <a:r>
              <a:rPr lang="en-US" i="1" dirty="0" err="1" smtClean="0">
                <a:solidFill>
                  <a:schemeClr val="bg1"/>
                </a:solidFill>
              </a:rPr>
              <a:t>Wh</a:t>
            </a:r>
            <a:r>
              <a:rPr lang="en-US" i="1" dirty="0" smtClean="0">
                <a:solidFill>
                  <a:schemeClr val="bg1"/>
                </a:solidFill>
              </a:rPr>
              <a:t>-Q: WHEN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1828800"/>
            <a:ext cx="8229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                  </a:t>
            </a:r>
            <a:r>
              <a:rPr lang="en-US" sz="4000" i="1" dirty="0" err="1" smtClean="0"/>
              <a:t>Tejo</a:t>
            </a:r>
            <a:r>
              <a:rPr lang="en-US" sz="4000" i="1" dirty="0" smtClean="0"/>
              <a:t> will graduate next year</a:t>
            </a:r>
            <a:endParaRPr lang="en-US" sz="4000" dirty="0" smtClean="0"/>
          </a:p>
          <a:p>
            <a:pPr algn="just"/>
            <a:r>
              <a:rPr lang="en-US" sz="2800" i="1" dirty="0" smtClean="0"/>
              <a:t>							</a:t>
            </a:r>
          </a:p>
          <a:p>
            <a:pPr algn="ctr"/>
            <a:endParaRPr lang="en-US" sz="4000" dirty="0"/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Yes/no:       </a:t>
            </a:r>
            <a:r>
              <a:rPr lang="en-US" sz="3600" i="1" dirty="0" smtClean="0"/>
              <a:t>Will </a:t>
            </a:r>
            <a:r>
              <a:rPr lang="en-US" sz="3600" dirty="0" smtClean="0"/>
              <a:t> </a:t>
            </a:r>
            <a:r>
              <a:rPr lang="en-US" sz="3600" dirty="0" err="1" smtClean="0"/>
              <a:t>Tejo</a:t>
            </a:r>
            <a:r>
              <a:rPr lang="en-US" sz="3600" dirty="0" smtClean="0"/>
              <a:t> graduate next year </a:t>
            </a:r>
            <a:r>
              <a:rPr lang="en-US" sz="3600" i="1" dirty="0" smtClean="0"/>
              <a:t>?</a:t>
            </a:r>
          </a:p>
          <a:p>
            <a:pPr algn="ctr"/>
            <a:endParaRPr lang="en-US" sz="4000" dirty="0"/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 smtClean="0"/>
          </a:p>
          <a:p>
            <a:pPr algn="just"/>
            <a:r>
              <a:rPr lang="en-US" sz="4000" dirty="0" smtClean="0"/>
              <a:t>         </a:t>
            </a:r>
            <a:r>
              <a:rPr lang="en-US" sz="4000" dirty="0" smtClean="0">
                <a:solidFill>
                  <a:srgbClr val="FF0000"/>
                </a:solidFill>
              </a:rPr>
              <a:t>When</a:t>
            </a:r>
            <a:r>
              <a:rPr lang="en-US" sz="4000" dirty="0" smtClean="0">
                <a:solidFill>
                  <a:srgbClr val="FFC000"/>
                </a:solidFill>
              </a:rPr>
              <a:t> </a:t>
            </a:r>
            <a:r>
              <a:rPr lang="en-US" sz="4000" i="1" dirty="0" smtClean="0">
                <a:solidFill>
                  <a:schemeClr val="bg1"/>
                </a:solidFill>
              </a:rPr>
              <a:t>will </a:t>
            </a:r>
            <a:r>
              <a:rPr lang="en-US" sz="4000" dirty="0" smtClean="0"/>
              <a:t> </a:t>
            </a:r>
            <a:r>
              <a:rPr lang="en-US" sz="4000" dirty="0" err="1" smtClean="0"/>
              <a:t>Tejo</a:t>
            </a:r>
            <a:r>
              <a:rPr lang="en-US" sz="4000" dirty="0" smtClean="0"/>
              <a:t>  graduate?</a:t>
            </a:r>
            <a:endParaRPr lang="en-US" sz="4000" i="1" dirty="0" smtClean="0"/>
          </a:p>
          <a:p>
            <a:pPr algn="ctr"/>
            <a:endParaRPr lang="en-US" sz="4000" dirty="0"/>
          </a:p>
        </p:txBody>
      </p:sp>
      <p:sp>
        <p:nvSpPr>
          <p:cNvPr id="10" name="Oval 9"/>
          <p:cNvSpPr/>
          <p:nvPr/>
        </p:nvSpPr>
        <p:spPr>
          <a:xfrm>
            <a:off x="6172200" y="1905000"/>
            <a:ext cx="2286000" cy="76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48400" y="2590800"/>
            <a:ext cx="2209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/>
              <a:t>adverb of time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868362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i="1" dirty="0" smtClean="0">
                <a:solidFill>
                  <a:schemeClr val="bg1"/>
                </a:solidFill>
              </a:rPr>
              <a:t>Forming </a:t>
            </a:r>
            <a:r>
              <a:rPr lang="en-US" i="1" dirty="0" err="1" smtClean="0">
                <a:solidFill>
                  <a:schemeClr val="bg1"/>
                </a:solidFill>
              </a:rPr>
              <a:t>Wh</a:t>
            </a:r>
            <a:r>
              <a:rPr lang="en-US" i="1" dirty="0" smtClean="0">
                <a:solidFill>
                  <a:schemeClr val="bg1"/>
                </a:solidFill>
              </a:rPr>
              <a:t>-Q: Where, When</a:t>
            </a:r>
            <a:endParaRPr lang="en-US" i="1" dirty="0">
              <a:solidFill>
                <a:schemeClr val="bg1"/>
              </a:solidFill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6164223"/>
              </p:ext>
            </p:extLst>
          </p:nvPr>
        </p:nvGraphicFramePr>
        <p:xfrm>
          <a:off x="457200" y="1600200"/>
          <a:ext cx="8229600" cy="44196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05000"/>
                <a:gridCol w="1143000"/>
                <a:gridCol w="5181600"/>
              </a:tblGrid>
              <a:tr h="370840">
                <a:tc gridSpan="3">
                  <a:txBody>
                    <a:bodyPr/>
                    <a:lstStyle/>
                    <a:p>
                      <a:pPr algn="just"/>
                      <a:r>
                        <a:rPr lang="en-US" sz="3200" u="none" dirty="0" smtClean="0"/>
                        <a:t>                                  </a:t>
                      </a:r>
                      <a:r>
                        <a:rPr lang="en-US" sz="3200" u="none" dirty="0" err="1" smtClean="0"/>
                        <a:t>Tejo</a:t>
                      </a:r>
                      <a:r>
                        <a:rPr lang="en-US" sz="3200" u="none" baseline="0" dirty="0" smtClean="0"/>
                        <a:t> lives </a:t>
                      </a:r>
                      <a:r>
                        <a:rPr lang="en-US" sz="3200" i="1" u="none" baseline="0" dirty="0" smtClean="0"/>
                        <a:t>in Jogjakarta</a:t>
                      </a:r>
                      <a:endParaRPr lang="en-US" sz="3200" u="none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3200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 smtClean="0"/>
                        <a:t>Yes/No:</a:t>
                      </a:r>
                      <a:endParaRPr 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u="none" dirty="0" smtClean="0"/>
                        <a:t>Does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dirty="0" err="1" smtClean="0"/>
                        <a:t>Tejo</a:t>
                      </a:r>
                      <a:r>
                        <a:rPr lang="en-US" sz="2400" u="none" baseline="0" dirty="0" smtClean="0"/>
                        <a:t> live </a:t>
                      </a:r>
                      <a:r>
                        <a:rPr lang="en-US" sz="2400" i="1" u="none" baseline="0" dirty="0" smtClean="0"/>
                        <a:t>in </a:t>
                      </a:r>
                      <a:r>
                        <a:rPr lang="en-US" sz="2400" i="1" u="none" baseline="0" dirty="0" smtClean="0"/>
                        <a:t>Bandung</a:t>
                      </a:r>
                      <a:r>
                        <a:rPr lang="en-US" sz="2400" u="none" baseline="0" dirty="0" smtClean="0"/>
                        <a:t>?</a:t>
                      </a:r>
                      <a:endParaRPr lang="en-US" sz="2400" u="none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514350" marR="0" indent="-51435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Where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14350" marR="0" indent="-51435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dirty="0" smtClean="0"/>
                        <a:t>Does</a:t>
                      </a:r>
                      <a:endParaRPr lang="en-US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u="none" dirty="0" err="1" smtClean="0"/>
                        <a:t>Tejo</a:t>
                      </a:r>
                      <a:r>
                        <a:rPr lang="en-US" sz="2400" u="none" baseline="0" dirty="0" smtClean="0"/>
                        <a:t> live ?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3200" dirty="0" err="1" smtClean="0">
                          <a:solidFill>
                            <a:schemeClr val="bg1"/>
                          </a:solidFill>
                        </a:rPr>
                        <a:t>Tejo</a:t>
                      </a:r>
                      <a:r>
                        <a:rPr lang="en-US" sz="3200" dirty="0" smtClean="0">
                          <a:solidFill>
                            <a:schemeClr val="bg1"/>
                          </a:solidFill>
                        </a:rPr>
                        <a:t> will graduate </a:t>
                      </a:r>
                      <a:r>
                        <a:rPr lang="en-US" sz="3200" i="1" dirty="0" smtClean="0">
                          <a:solidFill>
                            <a:schemeClr val="bg1"/>
                          </a:solidFill>
                        </a:rPr>
                        <a:t>next year</a:t>
                      </a:r>
                      <a:endParaRPr lang="en-US" sz="3200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2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will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chemeClr val="tx1"/>
                          </a:solidFill>
                        </a:rPr>
                        <a:t>Tejo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 graduate </a:t>
                      </a:r>
                      <a:r>
                        <a:rPr lang="en-US" sz="2400" i="0" dirty="0" smtClean="0">
                          <a:solidFill>
                            <a:schemeClr val="tx1"/>
                          </a:solidFill>
                        </a:rPr>
                        <a:t>next year?</a:t>
                      </a:r>
                      <a:endParaRPr lang="en-US" sz="240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/>
                        <a:t>When</a:t>
                      </a:r>
                      <a:endParaRPr lang="en-US" sz="2400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will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solidFill>
                            <a:schemeClr val="tx1"/>
                          </a:solidFill>
                        </a:rPr>
                        <a:t>Tejo</a:t>
                      </a:r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 graduate?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gridSpan="3">
                  <a:txBody>
                    <a:bodyPr/>
                    <a:lstStyle/>
                    <a:p>
                      <a:pPr algn="r"/>
                      <a:r>
                        <a:rPr lang="en-US" sz="2800" b="0" dirty="0" smtClean="0">
                          <a:solidFill>
                            <a:schemeClr val="bg1"/>
                          </a:solidFill>
                        </a:rPr>
                        <a:t>I stayed at home </a:t>
                      </a:r>
                      <a:r>
                        <a:rPr lang="en-US" sz="2800" b="0" i="1" dirty="0" smtClean="0">
                          <a:solidFill>
                            <a:schemeClr val="bg1"/>
                          </a:solidFill>
                        </a:rPr>
                        <a:t>because I didn’t feel well</a:t>
                      </a:r>
                      <a:endParaRPr lang="en-US" sz="2800" b="0" i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2400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did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smtClean="0"/>
                        <a:t>you stay </a:t>
                      </a:r>
                      <a:r>
                        <a:rPr lang="en-US" sz="2400" dirty="0" smtClean="0"/>
                        <a:t>at home?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/>
                        <a:t>Why</a:t>
                      </a:r>
                      <a:endParaRPr lang="en-US" sz="2400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/>
                        <a:t>did</a:t>
                      </a:r>
                      <a:r>
                        <a:rPr lang="en-US" sz="2400" baseline="0" dirty="0" smtClean="0"/>
                        <a:t> 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you stay at home?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ECF4-D1D0-437B-89E9-90A7CC94AA65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chemeClr val="bg1"/>
                </a:solidFill>
              </a:rPr>
              <a:t>Sport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 you like swimming?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What kind of sports do you like?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often DO you go swimming in a week?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Where do you playing badminton?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much money do you spend for yoga?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many times do you go jogging in a week?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many times a week do you go jogging?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With whom do you go jogging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1B3C9-2D71-447D-8307-30962593F470}" type="datetime4">
              <a:rPr lang="en-US" smtClean="0"/>
              <a:pPr/>
              <a:t>September 18,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1095</TotalTime>
  <Words>1385</Words>
  <Application>Microsoft Office PowerPoint</Application>
  <PresentationFormat>On-screen Show (4:3)</PresentationFormat>
  <Paragraphs>364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Theme3</vt:lpstr>
      <vt:lpstr>PowerPoint Presentation</vt:lpstr>
      <vt:lpstr>Brainstorm: Create questions</vt:lpstr>
      <vt:lpstr>PowerPoint Presentation</vt:lpstr>
      <vt:lpstr>Yes/no Questions: with to be</vt:lpstr>
      <vt:lpstr>Yes/no Questions: with verb</vt:lpstr>
      <vt:lpstr>Yes/no Questions: with MODAL Auxiliaries</vt:lpstr>
      <vt:lpstr>Forming YES/No Question</vt:lpstr>
      <vt:lpstr>Forming YES/No Question-2</vt:lpstr>
      <vt:lpstr>Forming YES/No Question-3</vt:lpstr>
      <vt:lpstr>Exercises: create Yes/No Questions</vt:lpstr>
      <vt:lpstr>Wh-Q: WHO and WHOM</vt:lpstr>
      <vt:lpstr>Wh-Q: WHEN, WHERE, WHAT TIME</vt:lpstr>
      <vt:lpstr>What kind of</vt:lpstr>
      <vt:lpstr>Which</vt:lpstr>
      <vt:lpstr>Whose</vt:lpstr>
      <vt:lpstr>Using HOW</vt:lpstr>
      <vt:lpstr>HOW FAR</vt:lpstr>
      <vt:lpstr>How Much (Quantity)</vt:lpstr>
      <vt:lpstr>HOW LONG (length of time)</vt:lpstr>
      <vt:lpstr>HOW LONG (length of time)</vt:lpstr>
      <vt:lpstr>Forming Wh-Q: who/whom</vt:lpstr>
      <vt:lpstr>Forming Wh-Q: who/whom</vt:lpstr>
      <vt:lpstr>Forming Wh-Q: WHEN</vt:lpstr>
      <vt:lpstr>Forming Wh-Q: Where, When</vt:lpstr>
      <vt:lpstr>Sport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arini</dc:creator>
  <cp:lastModifiedBy>user</cp:lastModifiedBy>
  <cp:revision>75</cp:revision>
  <dcterms:created xsi:type="dcterms:W3CDTF">2006-08-16T00:00:00Z</dcterms:created>
  <dcterms:modified xsi:type="dcterms:W3CDTF">2019-09-18T03:24:03Z</dcterms:modified>
</cp:coreProperties>
</file>