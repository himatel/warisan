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58" r:id="rId5"/>
    <p:sldId id="259" r:id="rId6"/>
    <p:sldId id="260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13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8085D-0EE7-4C51-94FC-AA86209A7F6A}" type="datetimeFigureOut">
              <a:rPr lang="id-ID" smtClean="0"/>
              <a:pPr/>
              <a:t>03/04/2014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EDF34-7A60-4289-94DC-E5D7C4685FF3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 smtClean="0"/>
              <a:t>2. </a:t>
            </a:r>
            <a:r>
              <a:rPr lang="id-ID" sz="3200" b="1" dirty="0" smtClean="0"/>
              <a:t>DPCM (Differential Pulse Code Modulation</a:t>
            </a:r>
          </a:p>
          <a:p>
            <a:endParaRPr lang="id-ID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0" y="714356"/>
            <a:ext cx="950122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id-ID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DPCM</a:t>
            </a:r>
            <a:r>
              <a:rPr kumimoji="0" 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: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a procedure of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converting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an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analog signal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into a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digital signal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in which an analog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signal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is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sampled and then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the</a:t>
            </a:r>
            <a:r>
              <a:rPr kumimoji="0" lang="id-ID" sz="24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difference between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i="1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b="1" i="1" dirty="0" smtClean="0">
                <a:latin typeface="Verdana" pitchFamily="34" charset="0"/>
                <a:ea typeface="Times New Roman" pitchFamily="18" charset="0"/>
              </a:rPr>
              <a:t>             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the</a:t>
            </a:r>
            <a:r>
              <a:rPr kumimoji="0" lang="id-ID" sz="24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actual sample</a:t>
            </a:r>
            <a:r>
              <a:rPr kumimoji="0" lang="id-ID" sz="24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value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and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its predicted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b="1" i="1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b="1" i="1" dirty="0" smtClean="0">
                <a:latin typeface="Verdana" pitchFamily="34" charset="0"/>
                <a:ea typeface="Times New Roman" pitchFamily="18" charset="0"/>
              </a:rPr>
              <a:t>             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value</a:t>
            </a:r>
            <a:r>
              <a:rPr kumimoji="0" lang="id-ID" sz="24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(predicted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value is based on previous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sample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or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samples)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is quantized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and then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  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encoded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forming a digital value.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   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4214818"/>
            <a:ext cx="9572660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DPCM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: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code words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represent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differences between</a:t>
            </a:r>
          </a:p>
          <a:p>
            <a:pPr>
              <a:spcAft>
                <a:spcPts val="600"/>
              </a:spcAft>
            </a:pPr>
            <a:r>
              <a:rPr lang="id-ID" sz="2400" b="1" i="1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b="1" i="1" dirty="0" smtClean="0">
                <a:latin typeface="Verdana" pitchFamily="34" charset="0"/>
                <a:ea typeface="Times New Roman" pitchFamily="18" charset="0"/>
              </a:rPr>
              <a:t>            </a:t>
            </a:r>
            <a:r>
              <a:rPr kumimoji="0" lang="id-ID" sz="24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samples,</a:t>
            </a:r>
          </a:p>
          <a:p>
            <a:pPr>
              <a:spcAft>
                <a:spcPts val="600"/>
              </a:spcAft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 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unlike 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PCM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: where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code words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represented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a sample value</a:t>
            </a:r>
            <a:endParaRPr lang="id-ID" sz="2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0" y="0"/>
            <a:ext cx="992985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Basic</a:t>
            </a:r>
            <a:r>
              <a:rPr kumimoji="0" lang="id-ID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concept of DPCM </a:t>
            </a:r>
            <a:r>
              <a:rPr kumimoji="0" lang="id-ID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: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coding a difference, is based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           on the fact that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most source</a:t>
            </a:r>
            <a:r>
              <a:rPr kumimoji="0" lang="id-ID" sz="2400" b="1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signals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show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significant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correlation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between successive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samples so encoding uses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redundancy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in sample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values which implies </a:t>
            </a:r>
            <a:r>
              <a:rPr kumimoji="0" lang="id-ID" sz="2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lower bit rate.</a:t>
            </a:r>
            <a:endParaRPr kumimoji="0" lang="id-ID" sz="24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2143116"/>
            <a:ext cx="978697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Realization of basic concept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: is based on a</a:t>
            </a:r>
            <a:r>
              <a:rPr kumimoji="0" lang="id-ID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technique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in which we have to predict current sample value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based upon previous samples (or sample) and we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have to encode the difference between actual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value of sample and predicted value (the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difference between samples can be interpreted as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prediction error).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/>
            </a:r>
            <a:b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</a:b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             Because it's necessary to predict sample value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tabLst/>
            </a:pPr>
            <a:r>
              <a:rPr lang="id-ID" sz="2400" dirty="0">
                <a:latin typeface="Verdana" pitchFamily="34" charset="0"/>
                <a:ea typeface="Times New Roman" pitchFamily="18" charset="0"/>
              </a:rPr>
              <a:t> </a:t>
            </a:r>
            <a:r>
              <a:rPr lang="id-ID" sz="2400" dirty="0" smtClean="0">
                <a:latin typeface="Verdana" pitchFamily="34" charset="0"/>
                <a:ea typeface="Times New Roman" pitchFamily="18" charset="0"/>
              </a:rPr>
              <a:t>            </a:t>
            </a:r>
            <a:r>
              <a:rPr kumimoji="0" lang="id-ID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</a:rPr>
              <a:t>DPCM is form of predictive coding.</a:t>
            </a:r>
            <a:endParaRPr kumimoji="0" lang="id-ID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2852"/>
            <a:ext cx="95726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 smtClean="0"/>
              <a:t>DPCM :</a:t>
            </a:r>
            <a:r>
              <a:rPr lang="id-ID" sz="2800" dirty="0" smtClean="0"/>
              <a:t> </a:t>
            </a:r>
            <a:r>
              <a:rPr lang="id-ID" sz="2800" dirty="0" smtClean="0"/>
              <a:t>Mengkodekan Perbedaan </a:t>
            </a:r>
            <a:r>
              <a:rPr lang="id-ID" sz="2800" dirty="0" smtClean="0"/>
              <a:t>dua amplitudo sinyal </a:t>
            </a:r>
            <a:r>
              <a:rPr lang="id-ID" sz="2800" dirty="0" smtClean="0"/>
              <a:t>sample</a:t>
            </a:r>
          </a:p>
          <a:p>
            <a:r>
              <a:rPr lang="id-ID" sz="2800" dirty="0"/>
              <a:t> </a:t>
            </a:r>
            <a:r>
              <a:rPr lang="id-ID" sz="2800" dirty="0" smtClean="0"/>
              <a:t>            </a:t>
            </a:r>
            <a:r>
              <a:rPr lang="id-ID" sz="2800" dirty="0" smtClean="0"/>
              <a:t> </a:t>
            </a:r>
            <a:r>
              <a:rPr lang="id-ID" sz="2800" dirty="0" smtClean="0"/>
              <a:t>PAM yang </a:t>
            </a:r>
            <a:r>
              <a:rPr lang="id-ID" sz="2800" dirty="0" smtClean="0"/>
              <a:t>berdekatan</a:t>
            </a:r>
            <a:r>
              <a:rPr lang="id-ID" sz="2800" dirty="0" smtClean="0"/>
              <a:t>, yaitu sinyal sample </a:t>
            </a:r>
            <a:r>
              <a:rPr lang="id-ID" sz="2800" dirty="0" smtClean="0"/>
              <a:t>sebelumnya</a:t>
            </a:r>
          </a:p>
          <a:p>
            <a:r>
              <a:rPr lang="id-ID" sz="2800" dirty="0"/>
              <a:t> </a:t>
            </a:r>
            <a:r>
              <a:rPr lang="id-ID" sz="2800" dirty="0" smtClean="0"/>
              <a:t>            </a:t>
            </a:r>
            <a:r>
              <a:rPr lang="id-ID" sz="2800" dirty="0" smtClean="0"/>
              <a:t> dengan sinyal </a:t>
            </a:r>
            <a:r>
              <a:rPr lang="id-ID" sz="2800" dirty="0" smtClean="0"/>
              <a:t>sample berikutnya  (yang  disebut “ </a:t>
            </a:r>
            <a:endParaRPr lang="id-ID" sz="2800" dirty="0" smtClean="0"/>
          </a:p>
          <a:p>
            <a:r>
              <a:rPr lang="id-ID" sz="2800" dirty="0"/>
              <a:t> </a:t>
            </a:r>
            <a:r>
              <a:rPr lang="id-ID" sz="2800" dirty="0" smtClean="0"/>
              <a:t>             </a:t>
            </a:r>
            <a:r>
              <a:rPr lang="id-ID" sz="2800" dirty="0" smtClean="0"/>
              <a:t>prediction </a:t>
            </a:r>
            <a:r>
              <a:rPr lang="id-ID" sz="2800" dirty="0" smtClean="0"/>
              <a:t>error), dikuantisasi  selanjutnya dikodekan </a:t>
            </a:r>
            <a:endParaRPr lang="id-ID" sz="2800" dirty="0" smtClean="0"/>
          </a:p>
          <a:p>
            <a:r>
              <a:rPr lang="id-ID" sz="2800" dirty="0"/>
              <a:t> </a:t>
            </a:r>
            <a:r>
              <a:rPr lang="id-ID" sz="2800" dirty="0" smtClean="0"/>
              <a:t>             </a:t>
            </a:r>
            <a:r>
              <a:rPr lang="id-ID" sz="2800" dirty="0" smtClean="0"/>
              <a:t>menjadi sinyal digital (code word)</a:t>
            </a:r>
            <a:r>
              <a:rPr lang="id-ID" sz="2800" dirty="0" smtClean="0"/>
              <a:t>  </a:t>
            </a:r>
            <a:r>
              <a:rPr lang="id-ID" sz="2800" dirty="0" smtClean="0"/>
              <a:t>dan  </a:t>
            </a:r>
            <a:r>
              <a:rPr lang="id-ID" sz="2800" dirty="0" smtClean="0"/>
              <a:t>ditransmisikan.</a:t>
            </a:r>
          </a:p>
          <a:p>
            <a:endParaRPr lang="id-ID" sz="2800" dirty="0"/>
          </a:p>
          <a:p>
            <a:pPr lvl="2">
              <a:buFont typeface="Wingdings" pitchFamily="2" charset="2"/>
              <a:buChar char="§"/>
            </a:pPr>
            <a:r>
              <a:rPr lang="id-ID" sz="2800" dirty="0" smtClean="0"/>
              <a:t>  Perkiraan harga sinyal sample berikutnya dibuat  </a:t>
            </a:r>
          </a:p>
          <a:p>
            <a:pPr lvl="2"/>
            <a:r>
              <a:rPr lang="id-ID" sz="2800" dirty="0" smtClean="0"/>
              <a:t>    berdasarkan atas harga sinyal sample terdahulu.</a:t>
            </a:r>
            <a:endParaRPr lang="id-ID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0021" cy="450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85720" y="5000636"/>
            <a:ext cx="84296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200" b="1" dirty="0"/>
              <a:t>PCM </a:t>
            </a:r>
            <a:r>
              <a:rPr lang="id-ID" sz="3200" b="1" dirty="0" smtClean="0"/>
              <a:t> : code </a:t>
            </a:r>
            <a:r>
              <a:rPr lang="id-ID" sz="3200" b="1" dirty="0"/>
              <a:t>words represented a sample value.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08000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5500702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2800" b="1" dirty="0" smtClean="0"/>
              <a:t>DPCM : </a:t>
            </a:r>
            <a:r>
              <a:rPr lang="id-ID" sz="2800" b="1" dirty="0"/>
              <a:t>code words represent differences between samples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71472" y="285728"/>
            <a:ext cx="8229600" cy="571504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Reduksi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Redundancy dg Prediction pd Lossless Coding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7158" y="928670"/>
            <a:ext cx="8532000" cy="2793203"/>
          </a:xfrm>
          <a:prstGeom prst="rect">
            <a:avLst/>
          </a:prstGeom>
          <a:noFill/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3786190"/>
            <a:ext cx="9358346" cy="2874966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Principle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x[n]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adalah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sampel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saat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ini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dari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sinyal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original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µ</a:t>
            </a:r>
            <a:r>
              <a:rPr kumimoji="0" lang="en-US" sz="2400" b="0" i="1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p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adalah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prediksi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utk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x[n]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dikalkulasi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dari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sampel</a:t>
            </a:r>
            <a:r>
              <a:rPr kumimoji="0" lang="id-ID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sebelumnya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e[n]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adalah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prediction error,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yg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secara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signifikan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mengurangi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statistical dependencies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antar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sampel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berdekatan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Penerima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dp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merekonstruksi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x[n] 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tanpa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loss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0"/>
            <a:ext cx="8229600" cy="85723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Prinsip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DPCM</a:t>
            </a:r>
            <a:endParaRPr kumimoji="0" lang="en-US" sz="4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j-ea"/>
              <a:cs typeface="+mj-cs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5786" y="1214422"/>
            <a:ext cx="7777162" cy="49657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2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/>
              <a:t>3. Modulasi Delta</a:t>
            </a:r>
            <a:endParaRPr lang="id-ID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0" y="642918"/>
            <a:ext cx="9144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b="1" dirty="0" smtClean="0"/>
              <a:t> D</a:t>
            </a:r>
            <a:r>
              <a:rPr lang="id-ID" sz="2400" dirty="0" smtClean="0"/>
              <a:t>elta </a:t>
            </a:r>
            <a:r>
              <a:rPr lang="id-ID" sz="2400" b="1" dirty="0"/>
              <a:t>m</a:t>
            </a:r>
            <a:r>
              <a:rPr lang="id-ID" sz="2400" dirty="0"/>
              <a:t>odulation (DM )is a </a:t>
            </a:r>
            <a:r>
              <a:rPr lang="id-ID" sz="2400" dirty="0" smtClean="0"/>
              <a:t>subclass) of differential </a:t>
            </a:r>
            <a:r>
              <a:rPr lang="id-ID" sz="2400" dirty="0"/>
              <a:t>pulse </a:t>
            </a:r>
            <a:r>
              <a:rPr lang="id-ID" sz="2400" dirty="0" smtClean="0"/>
              <a:t>code </a:t>
            </a:r>
          </a:p>
          <a:p>
            <a:pPr>
              <a:spcAft>
                <a:spcPts val="600"/>
              </a:spcAft>
            </a:pPr>
            <a:r>
              <a:rPr lang="id-ID" sz="2400" dirty="0"/>
              <a:t> </a:t>
            </a:r>
            <a:r>
              <a:rPr lang="id-ID" sz="2400" dirty="0" smtClean="0"/>
              <a:t>    modulation (DPCM). </a:t>
            </a:r>
          </a:p>
          <a:p>
            <a:pPr>
              <a:buFont typeface="Wingdings" pitchFamily="2" charset="2"/>
              <a:buChar char="Ø"/>
            </a:pPr>
            <a:r>
              <a:rPr lang="id-ID" sz="2400" dirty="0" smtClean="0"/>
              <a:t> It </a:t>
            </a:r>
            <a:r>
              <a:rPr lang="id-ID" sz="2400" dirty="0"/>
              <a:t>can be viewed as a simplified variant of </a:t>
            </a:r>
            <a:r>
              <a:rPr lang="id-ID" sz="2400" dirty="0" smtClean="0"/>
              <a:t>DPCM, in </a:t>
            </a:r>
            <a:r>
              <a:rPr lang="id-ID" sz="2400" dirty="0"/>
              <a:t>which 1-bit </a:t>
            </a:r>
            <a:endParaRPr lang="id-ID" sz="2400" dirty="0" smtClean="0"/>
          </a:p>
          <a:p>
            <a:r>
              <a:rPr lang="id-ID" sz="2400" dirty="0"/>
              <a:t> </a:t>
            </a:r>
            <a:r>
              <a:rPr lang="id-ID" sz="2400" dirty="0" smtClean="0"/>
              <a:t>   quantizer </a:t>
            </a:r>
            <a:r>
              <a:rPr lang="id-ID" sz="2400" dirty="0"/>
              <a:t>is used with the fixed first order predictor, and was </a:t>
            </a:r>
            <a:endParaRPr lang="id-ID" sz="2400" dirty="0" smtClean="0"/>
          </a:p>
          <a:p>
            <a:r>
              <a:rPr lang="id-ID" sz="2400" dirty="0"/>
              <a:t> </a:t>
            </a:r>
            <a:r>
              <a:rPr lang="id-ID" sz="2400" dirty="0" smtClean="0"/>
              <a:t>   developed </a:t>
            </a:r>
            <a:r>
              <a:rPr lang="id-ID" sz="2400" dirty="0"/>
              <a:t>for voice telephony applications.</a:t>
            </a:r>
            <a:br>
              <a:rPr lang="id-ID" sz="2400" dirty="0"/>
            </a:br>
            <a:endParaRPr lang="id-ID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2714620"/>
            <a:ext cx="9144000" cy="4651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800" dirty="0"/>
              <a:t> </a:t>
            </a:r>
            <a:r>
              <a:rPr lang="id-ID" sz="2800" b="1" dirty="0" smtClean="0"/>
              <a:t>Principle </a:t>
            </a:r>
            <a:r>
              <a:rPr lang="id-ID" sz="2800" b="1" dirty="0"/>
              <a:t>of DM : </a:t>
            </a:r>
            <a:endParaRPr lang="id-ID" sz="2800" b="1" dirty="0" smtClean="0"/>
          </a:p>
          <a:p>
            <a:pPr>
              <a:buFont typeface="Wingdings" pitchFamily="2" charset="2"/>
              <a:buChar char="§"/>
            </a:pPr>
            <a:r>
              <a:rPr lang="id-ID" sz="2400" dirty="0" smtClean="0"/>
              <a:t>    </a:t>
            </a:r>
            <a:r>
              <a:rPr lang="en-US" sz="2400" dirty="0" smtClean="0"/>
              <a:t>Transmits information only to indicate whether the analog signal that</a:t>
            </a:r>
            <a:endParaRPr lang="id-ID" sz="2400" dirty="0" smtClean="0"/>
          </a:p>
          <a:p>
            <a:pPr>
              <a:spcAft>
                <a:spcPts val="600"/>
              </a:spcAft>
            </a:pPr>
            <a:r>
              <a:rPr lang="id-ID" sz="2400" dirty="0" smtClean="0"/>
              <a:t>     </a:t>
            </a:r>
            <a:r>
              <a:rPr lang="en-US" sz="2400" dirty="0" smtClean="0"/>
              <a:t> is being encoded goes up or goes down</a:t>
            </a:r>
            <a:r>
              <a:rPr lang="id-ID" sz="2400" dirty="0" smtClean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id-ID" sz="2400" dirty="0" smtClean="0"/>
              <a:t>    </a:t>
            </a:r>
            <a:r>
              <a:rPr lang="en-US" sz="2400" dirty="0" smtClean="0"/>
              <a:t>The Encoder Outputs are highs or lows that “instruct” whether to go </a:t>
            </a:r>
            <a:endParaRPr lang="id-ID" sz="2400" dirty="0" smtClean="0"/>
          </a:p>
          <a:p>
            <a:r>
              <a:rPr lang="id-ID" sz="2400" dirty="0"/>
              <a:t> </a:t>
            </a:r>
            <a:r>
              <a:rPr lang="id-ID" sz="2400" dirty="0" smtClean="0"/>
              <a:t>     </a:t>
            </a:r>
            <a:r>
              <a:rPr lang="en-US" sz="2400" dirty="0" smtClean="0"/>
              <a:t>up or down, respectively</a:t>
            </a:r>
            <a:r>
              <a:rPr lang="id-ID" sz="2400" dirty="0" smtClean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id-ID" sz="2400" dirty="0"/>
              <a:t> </a:t>
            </a:r>
            <a:r>
              <a:rPr lang="id-ID" sz="2400" dirty="0" smtClean="0"/>
              <a:t> </a:t>
            </a:r>
            <a:r>
              <a:rPr lang="id-ID" dirty="0" smtClean="0"/>
              <a:t>   </a:t>
            </a:r>
            <a:r>
              <a:rPr lang="id-ID" sz="2400" dirty="0" smtClean="0"/>
              <a:t>DM </a:t>
            </a:r>
            <a:r>
              <a:rPr lang="id-ID" sz="2400" dirty="0"/>
              <a:t>output is 0 if waveform falls in </a:t>
            </a:r>
            <a:r>
              <a:rPr lang="id-ID" sz="2400" dirty="0" smtClean="0"/>
              <a:t>value. </a:t>
            </a:r>
          </a:p>
          <a:p>
            <a:pPr>
              <a:buFont typeface="Wingdings" pitchFamily="2" charset="2"/>
              <a:buChar char="§"/>
            </a:pPr>
            <a:r>
              <a:rPr lang="id-ID" sz="2400" dirty="0"/>
              <a:t> </a:t>
            </a:r>
            <a:r>
              <a:rPr lang="id-ID" sz="2400" dirty="0" smtClean="0"/>
              <a:t>   DM output is 1 </a:t>
            </a:r>
            <a:r>
              <a:rPr lang="id-ID" sz="2400" dirty="0"/>
              <a:t>represents rise in </a:t>
            </a:r>
            <a:r>
              <a:rPr lang="id-ID" sz="2400" dirty="0" smtClean="0"/>
              <a:t>value. </a:t>
            </a:r>
          </a:p>
          <a:p>
            <a:pPr>
              <a:buFont typeface="Wingdings" pitchFamily="2" charset="2"/>
              <a:buChar char="§"/>
            </a:pPr>
            <a:r>
              <a:rPr lang="id-ID" sz="2400" dirty="0"/>
              <a:t> </a:t>
            </a:r>
            <a:r>
              <a:rPr lang="id-ID" sz="2400" dirty="0" smtClean="0"/>
              <a:t>   Each </a:t>
            </a:r>
            <a:r>
              <a:rPr lang="id-ID" sz="2400" dirty="0"/>
              <a:t>bit indicates direction in which signal is changing </a:t>
            </a:r>
            <a:endParaRPr lang="id-ID" sz="2400" dirty="0" smtClean="0"/>
          </a:p>
          <a:p>
            <a:r>
              <a:rPr lang="id-ID" sz="2400" dirty="0"/>
              <a:t> </a:t>
            </a:r>
            <a:r>
              <a:rPr lang="id-ID" sz="2400" dirty="0" smtClean="0"/>
              <a:t>     (</a:t>
            </a:r>
            <a:r>
              <a:rPr lang="id-ID" sz="2400" dirty="0"/>
              <a:t>not how much), i.e</a:t>
            </a:r>
            <a:r>
              <a:rPr lang="id-ID" sz="2400" dirty="0" smtClean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id-ID" sz="2400" dirty="0"/>
              <a:t> </a:t>
            </a:r>
            <a:r>
              <a:rPr lang="id-ID" sz="2400" dirty="0" smtClean="0"/>
              <a:t>   DM </a:t>
            </a:r>
            <a:r>
              <a:rPr lang="id-ID" sz="2400" dirty="0"/>
              <a:t>codes the direction of differences in signal amplitude instead </a:t>
            </a:r>
            <a:r>
              <a:rPr lang="id-ID" sz="2400" dirty="0" smtClean="0"/>
              <a:t>of</a:t>
            </a:r>
          </a:p>
          <a:p>
            <a:r>
              <a:rPr lang="id-ID" sz="2400" dirty="0"/>
              <a:t> </a:t>
            </a:r>
            <a:r>
              <a:rPr lang="id-ID" sz="2400" dirty="0" smtClean="0"/>
              <a:t>     the value </a:t>
            </a:r>
            <a:r>
              <a:rPr lang="id-ID" sz="2400" dirty="0"/>
              <a:t>of difference (DPCM).</a:t>
            </a:r>
            <a:r>
              <a:rPr lang="id-ID" dirty="0"/>
              <a:t/>
            </a:r>
            <a:br>
              <a:rPr lang="id-ID" dirty="0"/>
            </a:b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4297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The analog signal is quantized by a one-bit ADC (a</a:t>
            </a:r>
            <a:r>
              <a:rPr lang="id-ID" sz="2800" dirty="0" smtClean="0"/>
              <a:t> </a:t>
            </a:r>
            <a:r>
              <a:rPr lang="en-US" sz="2800" dirty="0" smtClean="0"/>
              <a:t>comparator</a:t>
            </a:r>
            <a:endParaRPr lang="id-ID" sz="2800" dirty="0" smtClean="0"/>
          </a:p>
          <a:p>
            <a:pPr>
              <a:spcAft>
                <a:spcPts val="1200"/>
              </a:spcAft>
            </a:pPr>
            <a:r>
              <a:rPr lang="id-ID" sz="2800" dirty="0"/>
              <a:t> </a:t>
            </a:r>
            <a:r>
              <a:rPr lang="id-ID" sz="2800" dirty="0" smtClean="0"/>
              <a:t>  </a:t>
            </a:r>
            <a:r>
              <a:rPr lang="en-US" sz="2800" dirty="0" smtClean="0"/>
              <a:t>implemented as a comparator)</a:t>
            </a:r>
            <a:r>
              <a:rPr lang="id-ID" sz="2800" dirty="0" smtClean="0"/>
              <a:t>.</a:t>
            </a:r>
            <a:r>
              <a:rPr lang="en-US" sz="2800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The comparator output is converted back to an analog signal</a:t>
            </a:r>
            <a:endParaRPr lang="id-ID" sz="2800" dirty="0" smtClean="0"/>
          </a:p>
          <a:p>
            <a:r>
              <a:rPr lang="id-ID" sz="2800" dirty="0"/>
              <a:t> </a:t>
            </a:r>
            <a:r>
              <a:rPr lang="id-ID" sz="2800" dirty="0" smtClean="0"/>
              <a:t> </a:t>
            </a:r>
            <a:r>
              <a:rPr lang="en-US" sz="2800" dirty="0" smtClean="0"/>
              <a:t> with a 1-bit </a:t>
            </a:r>
            <a:r>
              <a:rPr lang="en-US" sz="2800" dirty="0" err="1" smtClean="0"/>
              <a:t>DAC</a:t>
            </a:r>
            <a:r>
              <a:rPr lang="en-US" sz="2800" dirty="0" smtClean="0"/>
              <a:t>, and subtracted from the input after passing</a:t>
            </a:r>
            <a:endParaRPr lang="id-ID" sz="2800" dirty="0" smtClean="0"/>
          </a:p>
          <a:p>
            <a:pPr>
              <a:spcAft>
                <a:spcPts val="1200"/>
              </a:spcAft>
            </a:pPr>
            <a:r>
              <a:rPr lang="id-ID" sz="2800" dirty="0"/>
              <a:t> </a:t>
            </a:r>
            <a:r>
              <a:rPr lang="id-ID" sz="2800" dirty="0" smtClean="0"/>
              <a:t> </a:t>
            </a:r>
            <a:r>
              <a:rPr lang="en-US" sz="2800" dirty="0" smtClean="0"/>
              <a:t> through an integrator</a:t>
            </a:r>
            <a:r>
              <a:rPr lang="id-ID" sz="2800" dirty="0" smtClean="0"/>
              <a:t>.</a:t>
            </a:r>
            <a:endParaRPr lang="en-US" sz="2800" dirty="0" smtClean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The shape of the analog signal is transmitted as follows: </a:t>
            </a:r>
            <a:endParaRPr lang="id-ID" sz="2800" dirty="0" smtClean="0"/>
          </a:p>
          <a:p>
            <a:pPr lvl="2">
              <a:buFont typeface="Wingdings" pitchFamily="2" charset="2"/>
              <a:buChar char="v"/>
            </a:pPr>
            <a:r>
              <a:rPr lang="id-ID" sz="2800" dirty="0" smtClean="0"/>
              <a:t> </a:t>
            </a:r>
            <a:r>
              <a:rPr lang="en-US" sz="2800" dirty="0" smtClean="0"/>
              <a:t>a "1“</a:t>
            </a:r>
            <a:r>
              <a:rPr lang="id-ID" sz="2800" dirty="0"/>
              <a:t> </a:t>
            </a:r>
            <a:r>
              <a:rPr lang="en-US" sz="2800" dirty="0" smtClean="0"/>
              <a:t>indicates that a positive excursion has occurred</a:t>
            </a:r>
            <a:endParaRPr lang="id-ID" sz="2800" dirty="0" smtClean="0"/>
          </a:p>
          <a:p>
            <a:pPr lvl="2"/>
            <a:r>
              <a:rPr lang="id-ID" sz="2800" dirty="0"/>
              <a:t> </a:t>
            </a:r>
            <a:r>
              <a:rPr lang="id-ID" sz="2800" dirty="0" smtClean="0"/>
              <a:t>   </a:t>
            </a:r>
            <a:r>
              <a:rPr lang="en-US" sz="2800" dirty="0" smtClean="0"/>
              <a:t> since the last sample, </a:t>
            </a:r>
            <a:endParaRPr lang="id-ID" sz="2800" dirty="0" smtClean="0"/>
          </a:p>
          <a:p>
            <a:pPr lvl="2">
              <a:buFont typeface="Wingdings" pitchFamily="2" charset="2"/>
              <a:buChar char="v"/>
            </a:pPr>
            <a:r>
              <a:rPr lang="id-ID" sz="2800" dirty="0"/>
              <a:t> </a:t>
            </a:r>
            <a:r>
              <a:rPr lang="en-US" sz="2800" dirty="0" smtClean="0"/>
              <a:t>and a "0" indicates that a negative excursion has </a:t>
            </a:r>
            <a:endParaRPr lang="id-ID" sz="2800" dirty="0" smtClean="0"/>
          </a:p>
          <a:p>
            <a:pPr lvl="2"/>
            <a:r>
              <a:rPr lang="id-ID" sz="2800" dirty="0"/>
              <a:t> </a:t>
            </a:r>
            <a:r>
              <a:rPr lang="id-ID" sz="2800" dirty="0" smtClean="0"/>
              <a:t>    </a:t>
            </a:r>
            <a:r>
              <a:rPr lang="en-US" sz="2800" dirty="0" smtClean="0"/>
              <a:t>occurred since the last sample.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9106641" cy="385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4572008"/>
            <a:ext cx="4175961" cy="6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122238"/>
            <a:ext cx="7239000" cy="11731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Resulting Waveforms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000108"/>
            <a:ext cx="9144000" cy="58578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22238"/>
            <a:ext cx="9144000" cy="11731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Simple Implementation of a DM system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8858250" cy="559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22238"/>
            <a:ext cx="9144000" cy="734994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Limitations of the system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62"/>
            <a:ext cx="9144000" cy="5889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71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0" y="1"/>
            <a:ext cx="957266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The codec determines if the waveform has risen 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3200" dirty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latin typeface="+mj-lt"/>
                <a:ea typeface="Times New Roman" pitchFamily="18" charset="0"/>
                <a:cs typeface="Times New Roman" pitchFamily="18" charset="0"/>
              </a:rPr>
              <a:t>  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dropped one delta step.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3200" dirty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Transmit a 1 or 0</a:t>
            </a:r>
            <a:r>
              <a:rPr lang="id-ID" sz="3200" dirty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accordingly.</a:t>
            </a:r>
            <a:endParaRPr kumimoji="0" lang="id-ID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  Delta Modulation requires only 1 bit sample.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id-ID" sz="3200" dirty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Delta modulation is faster than PCM.</a:t>
            </a:r>
            <a:endParaRPr kumimoji="0" lang="id-ID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id-ID" sz="32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Slope </a:t>
            </a:r>
            <a:r>
              <a:rPr kumimoji="0" lang="id-ID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overload noise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: waveform </a:t>
            </a:r>
            <a:r>
              <a:rPr kumimoji="0" lang="id-ID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rises or drops too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3200" b="1" i="1" dirty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3200" b="1" i="1" dirty="0" smtClean="0">
                <a:latin typeface="+mj-lt"/>
                <a:ea typeface="Times New Roman" pitchFamily="18" charset="0"/>
                <a:cs typeface="Times New Roman" pitchFamily="18" charset="0"/>
              </a:rPr>
              <a:t>   </a:t>
            </a:r>
            <a:r>
              <a:rPr kumimoji="0" lang="id-ID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quickly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, the codec not able to keep up with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id-ID" sz="3200" dirty="0">
                <a:latin typeface="+mj-lt"/>
                <a:ea typeface="Times New Roman" pitchFamily="18" charset="0"/>
                <a:cs typeface="Times New Roman" pitchFamily="18" charset="0"/>
              </a:rPr>
              <a:t> </a:t>
            </a:r>
            <a:r>
              <a:rPr lang="id-ID" sz="3200" dirty="0" smtClean="0">
                <a:latin typeface="+mj-lt"/>
                <a:ea typeface="Times New Roman" pitchFamily="18" charset="0"/>
                <a:cs typeface="Times New Roman" pitchFamily="18" charset="0"/>
              </a:rPr>
              <a:t>  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Times New Roman" pitchFamily="18" charset="0"/>
              </a:rPr>
              <a:t>change.</a:t>
            </a:r>
            <a:endParaRPr kumimoji="0" lang="id-ID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  Constant waveform: A  </a:t>
            </a:r>
            <a:r>
              <a:rPr kumimoji="0" lang="id-ID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non-changing waveform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3200" dirty="0">
                <a:latin typeface="+mj-lt"/>
                <a:ea typeface="Times New Roman" pitchFamily="18" charset="0"/>
              </a:rPr>
              <a:t> </a:t>
            </a:r>
            <a:r>
              <a:rPr lang="id-ID" sz="3200" dirty="0" smtClean="0">
                <a:latin typeface="+mj-lt"/>
                <a:ea typeface="Times New Roman" pitchFamily="18" charset="0"/>
              </a:rPr>
              <a:t>  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generates a pattern </a:t>
            </a:r>
            <a:r>
              <a:rPr kumimoji="0" lang="id-ID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of 01010101.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.. thus generating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d-ID" sz="3200" dirty="0">
                <a:latin typeface="+mj-lt"/>
                <a:ea typeface="Times New Roman" pitchFamily="18" charset="0"/>
              </a:rPr>
              <a:t> </a:t>
            </a:r>
            <a:r>
              <a:rPr lang="id-ID" sz="3200" dirty="0" smtClean="0">
                <a:latin typeface="+mj-lt"/>
                <a:ea typeface="Times New Roman" pitchFamily="18" charset="0"/>
              </a:rPr>
              <a:t> 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 </a:t>
            </a:r>
            <a:r>
              <a:rPr kumimoji="0" lang="id-ID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quantising noise 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atau </a:t>
            </a:r>
            <a:r>
              <a:rPr kumimoji="0" lang="id-ID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Granular noise</a:t>
            </a:r>
            <a: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  <a:t>.</a:t>
            </a:r>
            <a:br>
              <a:rPr kumimoji="0" lang="id-ID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</a:rPr>
            </a:br>
            <a:r>
              <a:rPr kumimoji="0" lang="id-ID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/>
            </a:r>
            <a:br>
              <a:rPr kumimoji="0" lang="id-ID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</a:br>
            <a:endParaRPr kumimoji="0" lang="id-ID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5689"/>
            <a:ext cx="8676000" cy="63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681</Words>
  <Application>Microsoft Office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-</dc:creator>
  <cp:lastModifiedBy>Slameta</cp:lastModifiedBy>
  <cp:revision>9</cp:revision>
  <dcterms:created xsi:type="dcterms:W3CDTF">2012-03-18T12:55:41Z</dcterms:created>
  <dcterms:modified xsi:type="dcterms:W3CDTF">2014-04-03T04:36:47Z</dcterms:modified>
</cp:coreProperties>
</file>