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0160000" cy="7620000"/>
  <p:notesSz cx="7620000" cy="10160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86" y="270"/>
      </p:cViewPr>
      <p:guideLst>
        <p:guide orient="horz" pos="2400"/>
        <p:guide pos="32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99475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Shape 14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Shape 29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Shape 30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Shape 38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Shape 38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Shape 40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Shape 41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Shape 43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Shape 44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449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Shape 45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Shape 45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Shape 50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556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Shape 55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56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Shape 56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Shape 57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579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Shape 58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Shape 58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59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Shape 59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 600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Shape 60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Shape 607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Shape 60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4800"/>
            </a:lvl1pPr>
            <a:lvl2pPr algn="ctr">
              <a:buSzPct val="100000"/>
              <a:defRPr sz="4800"/>
            </a:lvl2pPr>
            <a:lvl3pPr algn="ctr">
              <a:buSzPct val="100000"/>
              <a:defRPr sz="4800"/>
            </a:lvl3pPr>
            <a:lvl4pPr algn="ctr">
              <a:buSzPct val="100000"/>
              <a:defRPr sz="4800"/>
            </a:lvl4pPr>
            <a:lvl5pPr algn="ctr">
              <a:buSzPct val="100000"/>
              <a:defRPr sz="4800"/>
            </a:lvl5pPr>
            <a:lvl6pPr algn="ctr">
              <a:buSzPct val="100000"/>
              <a:defRPr sz="4800"/>
            </a:lvl6pPr>
            <a:lvl7pPr algn="ctr">
              <a:buSzPct val="100000"/>
              <a:defRPr sz="4800"/>
            </a:lvl7pPr>
            <a:lvl8pPr algn="ctr">
              <a:buSzPct val="100000"/>
              <a:defRPr sz="4800"/>
            </a:lvl8pPr>
            <a:lvl9pPr algn="ctr">
              <a:buSzPct val="100000"/>
              <a:defRPr sz="4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399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woColTx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powerpointpresentationon.blogspot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5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3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26" Type="http://schemas.openxmlformats.org/officeDocument/2006/relationships/image" Target="../media/image100.png"/><Relationship Id="rId3" Type="http://schemas.openxmlformats.org/officeDocument/2006/relationships/image" Target="../media/image77.png"/><Relationship Id="rId21" Type="http://schemas.openxmlformats.org/officeDocument/2006/relationships/image" Target="../media/image95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5" Type="http://schemas.openxmlformats.org/officeDocument/2006/relationships/image" Target="../media/image9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Relationship Id="rId27" Type="http://schemas.openxmlformats.org/officeDocument/2006/relationships/image" Target="../media/image10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2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86.png"/><Relationship Id="rId9" Type="http://schemas.openxmlformats.org/officeDocument/2006/relationships/image" Target="../media/image10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8.png"/><Relationship Id="rId3" Type="http://schemas.openxmlformats.org/officeDocument/2006/relationships/image" Target="../media/image63.png"/><Relationship Id="rId7" Type="http://schemas.openxmlformats.org/officeDocument/2006/relationships/image" Target="../media/image114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7.png"/><Relationship Id="rId5" Type="http://schemas.openxmlformats.org/officeDocument/2006/relationships/image" Target="../media/image112.png"/><Relationship Id="rId10" Type="http://schemas.openxmlformats.org/officeDocument/2006/relationships/image" Target="../media/image116.png"/><Relationship Id="rId4" Type="http://schemas.openxmlformats.org/officeDocument/2006/relationships/image" Target="../media/image111.png"/><Relationship Id="rId9" Type="http://schemas.openxmlformats.org/officeDocument/2006/relationships/image" Target="../media/image8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image" Target="../media/image63.png"/><Relationship Id="rId21" Type="http://schemas.openxmlformats.org/officeDocument/2006/relationships/image" Target="../media/image136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40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139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8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18" Type="http://schemas.openxmlformats.org/officeDocument/2006/relationships/image" Target="../media/image152.png"/><Relationship Id="rId26" Type="http://schemas.openxmlformats.org/officeDocument/2006/relationships/image" Target="../media/image159.png"/><Relationship Id="rId3" Type="http://schemas.openxmlformats.org/officeDocument/2006/relationships/image" Target="../media/image63.png"/><Relationship Id="rId21" Type="http://schemas.openxmlformats.org/officeDocument/2006/relationships/image" Target="../media/image154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91.png"/><Relationship Id="rId25" Type="http://schemas.openxmlformats.org/officeDocument/2006/relationships/image" Target="../media/image158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51.png"/><Relationship Id="rId20" Type="http://schemas.openxmlformats.org/officeDocument/2006/relationships/image" Target="../media/image153.png"/><Relationship Id="rId29" Type="http://schemas.openxmlformats.org/officeDocument/2006/relationships/image" Target="../media/image1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57.png"/><Relationship Id="rId32" Type="http://schemas.openxmlformats.org/officeDocument/2006/relationships/image" Target="../media/image164.png"/><Relationship Id="rId5" Type="http://schemas.openxmlformats.org/officeDocument/2006/relationships/image" Target="../media/image125.png"/><Relationship Id="rId15" Type="http://schemas.openxmlformats.org/officeDocument/2006/relationships/image" Target="../media/image150.png"/><Relationship Id="rId23" Type="http://schemas.openxmlformats.org/officeDocument/2006/relationships/image" Target="../media/image156.png"/><Relationship Id="rId28" Type="http://schemas.openxmlformats.org/officeDocument/2006/relationships/image" Target="../media/image160.png"/><Relationship Id="rId10" Type="http://schemas.openxmlformats.org/officeDocument/2006/relationships/image" Target="../media/image145.png"/><Relationship Id="rId19" Type="http://schemas.openxmlformats.org/officeDocument/2006/relationships/image" Target="../media/image136.png"/><Relationship Id="rId31" Type="http://schemas.openxmlformats.org/officeDocument/2006/relationships/image" Target="../media/image163.png"/><Relationship Id="rId4" Type="http://schemas.openxmlformats.org/officeDocument/2006/relationships/image" Target="../media/image126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Relationship Id="rId22" Type="http://schemas.openxmlformats.org/officeDocument/2006/relationships/image" Target="../media/image155.png"/><Relationship Id="rId27" Type="http://schemas.openxmlformats.org/officeDocument/2006/relationships/image" Target="../media/image139.png"/><Relationship Id="rId30" Type="http://schemas.openxmlformats.org/officeDocument/2006/relationships/image" Target="../media/image1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8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20" name="Shape 20"/>
          <p:cNvSpPr/>
          <p:nvPr/>
        </p:nvSpPr>
        <p:spPr>
          <a:xfrm>
            <a:off x="3810000" y="2878650"/>
            <a:ext cx="2540000" cy="22648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1" name="Shape 21"/>
          <p:cNvSpPr txBox="1"/>
          <p:nvPr/>
        </p:nvSpPr>
        <p:spPr>
          <a:xfrm>
            <a:off x="1118300" y="-456825"/>
            <a:ext cx="7068250" cy="6766035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
</a:t>
            </a: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indent="0" algn="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PRACTICAL TRAINING PRESENTATION</a:t>
            </a:r>
          </a:p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“ON CDMA TECHNOLOGY” </a:t>
            </a: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1065375" y="5723800"/>
            <a:ext cx="7999574" cy="9916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BY-</a:t>
            </a:r>
          </a:p>
          <a:p>
            <a:pPr marL="0" marR="0" indent="0" algn="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VIJAY YADAV</a:t>
            </a:r>
          </a:p>
          <a:p>
            <a:pPr marL="0" marR="0" indent="0" algn="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IV YR, ECE DEPT.,SECTION -B</a:t>
            </a:r>
          </a:p>
        </p:txBody>
      </p:sp>
      <p:sp>
        <p:nvSpPr>
          <p:cNvPr id="23" name="Shape 23"/>
          <p:cNvSpPr/>
          <p:nvPr/>
        </p:nvSpPr>
        <p:spPr>
          <a:xfrm>
            <a:off x="1005400" y="402150"/>
            <a:ext cx="8720649" cy="62439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4" name="Shape 24"/>
          <p:cNvSpPr txBox="1"/>
          <p:nvPr/>
        </p:nvSpPr>
        <p:spPr>
          <a:xfrm>
            <a:off x="96375" y="6908775"/>
            <a:ext cx="7391774" cy="196499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26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www.powerpointpresentationon.blogspot.com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1372300" y="474475"/>
            <a:ext cx="9361299" cy="12438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9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</a:p>
        </p:txBody>
      </p:sp>
      <p:sp>
        <p:nvSpPr>
          <p:cNvPr id="31" name="Shape 31"/>
          <p:cNvSpPr/>
          <p:nvPr/>
        </p:nvSpPr>
        <p:spPr>
          <a:xfrm>
            <a:off x="1270000" y="1693325"/>
            <a:ext cx="8890000" cy="52599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32" name="Shape 32"/>
          <p:cNvSpPr txBox="1"/>
          <p:nvPr/>
        </p:nvSpPr>
        <p:spPr>
          <a:xfrm>
            <a:off x="1372300" y="1744475"/>
            <a:ext cx="8761575" cy="52267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76577" algn="l">
              <a:lnSpc>
                <a:spcPct val="1078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4609"/>
              <a:buFont typeface="Arial"/>
              <a:buChar char="•"/>
            </a:pPr>
            <a:r>
              <a:rPr lang="en-US" sz="3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 # 1</a:t>
            </a:r>
          </a:p>
          <a:p>
            <a:pPr marL="762000" marR="0" lvl="1" indent="-191911" algn="l">
              <a:lnSpc>
                <a:spcPct val="108125"/>
              </a:lnSpc>
              <a:spcBef>
                <a:spcPts val="396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Courier New"/>
              <a:buChar char="o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 PROFILE</a:t>
            </a:r>
          </a:p>
          <a:p>
            <a:pPr marL="762000" marR="0" lvl="1" indent="-191911" algn="l">
              <a:lnSpc>
                <a:spcPct val="108125"/>
              </a:lnSpc>
              <a:spcBef>
                <a:spcPts val="396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Courier New"/>
              <a:buChar char="o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TTSL AT JAIPUR</a:t>
            </a:r>
          </a:p>
          <a:p>
            <a:pPr marL="762000" marR="0" lvl="1" indent="-177800" algn="l">
              <a:lnSpc>
                <a:spcPct val="108333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ct val="99999"/>
              <a:buFont typeface="Courier New"/>
              <a:buChar char="o"/>
            </a:pP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AWARDS &amp; RECOGNIZATION</a:t>
            </a:r>
          </a:p>
          <a:p>
            <a:pPr marL="762000" marR="0" lvl="1" indent="-191911" algn="l">
              <a:lnSpc>
                <a:spcPct val="108125"/>
              </a:lnSpc>
              <a:spcBef>
                <a:spcPts val="396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Courier New"/>
              <a:buChar char="o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SERVICES</a:t>
            </a:r>
          </a:p>
          <a:p>
            <a:endParaRPr lang="en-US" sz="22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76577" algn="l">
              <a:lnSpc>
                <a:spcPct val="107812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ct val="164609"/>
              <a:buFont typeface="Arial"/>
              <a:buChar char="•"/>
            </a:pPr>
            <a:r>
              <a:rPr lang="en-US" sz="3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 # 2</a:t>
            </a:r>
          </a:p>
          <a:p>
            <a:pPr marL="762000" marR="0" lvl="1" indent="-191911" algn="l">
              <a:lnSpc>
                <a:spcPct val="108125"/>
              </a:lnSpc>
              <a:spcBef>
                <a:spcPts val="396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Courier New"/>
              <a:buChar char="o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CELLULAR COMMUNICATION</a:t>
            </a:r>
          </a:p>
          <a:p>
            <a:pPr marL="1143000" marR="0" lvl="2" indent="-163688" algn="l">
              <a:lnSpc>
                <a:spcPct val="108593"/>
              </a:lnSpc>
              <a:spcBef>
                <a:spcPts val="323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Wingdings"/>
              <a:buChar char="§"/>
            </a:pPr>
            <a:r>
              <a:rPr lang="en-US" sz="177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Access Method</a:t>
            </a:r>
          </a:p>
          <a:p>
            <a:pPr marL="1143000" marR="0" lvl="2" indent="-163688" algn="l">
              <a:lnSpc>
                <a:spcPct val="108593"/>
              </a:lnSpc>
              <a:spcBef>
                <a:spcPts val="323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Wingdings"/>
              <a:buChar char="§"/>
            </a:pPr>
            <a:r>
              <a:rPr lang="en-US" sz="177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 Introduction</a:t>
            </a:r>
          </a:p>
          <a:p>
            <a:pPr marL="762000" marR="0" lvl="1" indent="-191911" algn="l">
              <a:lnSpc>
                <a:spcPct val="108125"/>
              </a:lnSpc>
              <a:spcBef>
                <a:spcPts val="396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Courier New"/>
              <a:buChar char="o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 NETWORK ARCHITECTURE</a:t>
            </a:r>
          </a:p>
          <a:p>
            <a:pPr marL="762000" marR="0" lvl="1" indent="-191911" algn="l">
              <a:lnSpc>
                <a:spcPct val="108125"/>
              </a:lnSpc>
              <a:spcBef>
                <a:spcPts val="396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Courier New"/>
              <a:buChar char="o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 PROCESSING IN CDMA NETWORK</a:t>
            </a:r>
          </a:p>
          <a:p>
            <a:endParaRPr lang="en-US" sz="22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2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266666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6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STAGE#1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1541625" y="458600"/>
            <a:ext cx="9015574" cy="1787649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88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Company’s Profile</a:t>
            </a:r>
          </a:p>
          <a:p>
            <a:endParaRPr lang="en-US" sz="4888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Shape 45"/>
          <p:cNvSpPr txBox="1"/>
          <p:nvPr/>
        </p:nvSpPr>
        <p:spPr>
          <a:xfrm>
            <a:off x="1118300" y="2506475"/>
            <a:ext cx="9523575" cy="5138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
</a:t>
            </a:r>
          </a:p>
          <a:p>
            <a:pPr marL="0" marR="0" indent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Established in : 1996</a:t>
            </a: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Chairman &amp; M.D. : Mr. Ratan .N. Tata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endParaRPr lang="en-US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CEO &amp; Joint Managing Director : Mr. Anil Kumar Sardana </a:t>
            </a:r>
          </a:p>
          <a:p>
            <a:pPr marL="0" marR="0" indent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Employees : 3,50,000</a:t>
            </a: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Proportionate Revenue : $ 62.5 Billion </a:t>
            </a: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Shares in Issue : 3.2 Million in June 2008</a:t>
            </a: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Shape 46"/>
          <p:cNvSpPr/>
          <p:nvPr/>
        </p:nvSpPr>
        <p:spPr>
          <a:xfrm>
            <a:off x="1016000" y="1185325"/>
            <a:ext cx="2010824" cy="124882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13077" algn="l">
              <a:lnSpc>
                <a:spcPct val="1081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3817"/>
              <a:buFont typeface="Arial"/>
              <a:buChar char="•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undertaken at :</a:t>
            </a:r>
          </a:p>
          <a:p>
            <a:pPr marL="1905000" marR="0" lvl="4" indent="-50800" algn="l">
              <a:lnSpc>
                <a:spcPct val="108333"/>
              </a:lnSpc>
              <a:spcBef>
                <a:spcPts val="292"/>
              </a:spcBef>
              <a:spcAft>
                <a:spcPts val="0"/>
              </a:spcAft>
              <a:buClr>
                <a:srgbClr val="000000"/>
              </a:buClr>
              <a:buSzPct val="98039"/>
              <a:buFont typeface="Arial"/>
              <a:buNone/>
            </a:pPr>
            <a:r>
              <a:rPr lang="en-US" sz="1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TATA TELE SERVICES LIMITED, </a:t>
            </a:r>
          </a:p>
          <a:p>
            <a:pPr marL="1905000" marR="0" lvl="4" indent="-50800" algn="l">
              <a:lnSpc>
                <a:spcPct val="108333"/>
              </a:lnSpc>
              <a:spcBef>
                <a:spcPts val="292"/>
              </a:spcBef>
              <a:spcAft>
                <a:spcPts val="0"/>
              </a:spcAft>
              <a:buClr>
                <a:srgbClr val="000000"/>
              </a:buClr>
              <a:buSzPct val="98039"/>
              <a:buFont typeface="Arial"/>
              <a:buNone/>
            </a:pPr>
            <a:r>
              <a:rPr lang="en-US" sz="1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GUMAN-I, AMPRAPALI CIRCLE, </a:t>
            </a:r>
          </a:p>
          <a:p>
            <a:pPr marL="1905000" marR="0" lvl="4" indent="-50800" algn="l">
              <a:lnSpc>
                <a:spcPct val="108333"/>
              </a:lnSpc>
              <a:spcBef>
                <a:spcPts val="292"/>
              </a:spcBef>
              <a:spcAft>
                <a:spcPts val="0"/>
              </a:spcAft>
              <a:buClr>
                <a:srgbClr val="000000"/>
              </a:buClr>
              <a:buSzPct val="98039"/>
              <a:buFont typeface="Arial"/>
              <a:buNone/>
            </a:pPr>
            <a:r>
              <a:rPr lang="en-US" sz="1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VAISHALI NAGAR, JAIPUR</a:t>
            </a:r>
          </a:p>
          <a:p>
            <a:pPr marL="381000" marR="0" lvl="0" indent="-220133" algn="l">
              <a:lnSpc>
                <a:spcPct val="107812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Arial"/>
              <a:buAutoNum type="arabicPeriod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H.R. Manager : Mr . Amit Agarwal</a:t>
            </a:r>
          </a:p>
          <a:p>
            <a:pPr marL="381000" marR="0" lvl="0" indent="-220133" algn="l">
              <a:lnSpc>
                <a:spcPct val="107812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Arial"/>
              <a:buAutoNum type="arabicPeriod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Reporting officer : Mr. Rahul Sharma</a:t>
            </a:r>
          </a:p>
          <a:p>
            <a:pPr marL="381000" marR="0" lvl="0" indent="-220133" algn="l">
              <a:lnSpc>
                <a:spcPct val="107812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Arial"/>
              <a:buAutoNum type="arabicPeriod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Co-persons : Mr.ShishirDhandholiya</a:t>
            </a:r>
          </a:p>
          <a:p>
            <a:pPr marL="0" marR="0" indent="0" algn="l">
              <a:lnSpc>
                <a:spcPct val="107812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Mr. Abhay Agarwal</a:t>
            </a:r>
          </a:p>
          <a:p>
            <a:endParaRPr lang="en-US"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Shape 52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53" name="Shape 53"/>
          <p:cNvSpPr/>
          <p:nvPr/>
        </p:nvSpPr>
        <p:spPr>
          <a:xfrm>
            <a:off x="497400" y="296325"/>
            <a:ext cx="916514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54" name="Shape 54"/>
          <p:cNvSpPr/>
          <p:nvPr/>
        </p:nvSpPr>
        <p:spPr>
          <a:xfrm>
            <a:off x="254000" y="338650"/>
            <a:ext cx="2010824" cy="124882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19191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Arial"/>
              <a:buAutoNum type="arabicPeriod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TTSL Has Won the GLOBAL HR EXCELLENCE AWARD 2009 under the “INSTITUTION BUILDING CATEGORY” BY WORLD HRD CONGRESS</a:t>
            </a:r>
          </a:p>
          <a:p>
            <a:pPr marL="381000" marR="0" lvl="0" indent="-191911" algn="l">
              <a:lnSpc>
                <a:spcPct val="120000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Arial"/>
              <a:buAutoNum type="arabicPeriod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 TRUE VALUE SHOPEES(TVS) ON THE SAME DAY ACROSS THE NATION</a:t>
            </a:r>
          </a:p>
          <a:p>
            <a:pPr marL="381000" marR="0" lvl="0" indent="-191911" algn="l">
              <a:lnSpc>
                <a:spcPct val="120000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Arial"/>
              <a:buAutoNum type="arabicPeriod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INNOVATIVE RETAIL CONCEPT OF THE YEAR 2008</a:t>
            </a:r>
          </a:p>
          <a:p>
            <a:endParaRPr lang="en-US" sz="22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Shape 60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61" name="Shape 61"/>
          <p:cNvSpPr/>
          <p:nvPr/>
        </p:nvSpPr>
        <p:spPr>
          <a:xfrm>
            <a:off x="1608650" y="423325"/>
            <a:ext cx="6561649" cy="93132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62" name="Shape 62"/>
          <p:cNvSpPr/>
          <p:nvPr/>
        </p:nvSpPr>
        <p:spPr>
          <a:xfrm>
            <a:off x="1439325" y="4656650"/>
            <a:ext cx="8297325" cy="263522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1541625" y="948950"/>
            <a:ext cx="9015574" cy="12438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88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Other Services</a:t>
            </a:r>
          </a:p>
        </p:txBody>
      </p:sp>
      <p:sp>
        <p:nvSpPr>
          <p:cNvPr id="69" name="Shape 69"/>
          <p:cNvSpPr txBox="1"/>
          <p:nvPr/>
        </p:nvSpPr>
        <p:spPr>
          <a:xfrm>
            <a:off x="1202950" y="1998475"/>
            <a:ext cx="5544250" cy="60698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TATA TELEMEDIA SERVICES</a:t>
            </a:r>
          </a:p>
          <a:p>
            <a:pPr marL="381000" marR="0" lvl="0" indent="-191911" algn="l">
              <a:lnSpc>
                <a:spcPct val="120000"/>
              </a:lnSpc>
              <a:spcBef>
                <a:spcPts val="396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Arial"/>
              <a:buAutoNum type="arabicPeriod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Speed Broadband Internet Services</a:t>
            </a:r>
          </a:p>
          <a:p>
            <a:pPr marL="381000" marR="0" lvl="0" indent="-191911" algn="l">
              <a:lnSpc>
                <a:spcPct val="120000"/>
              </a:lnSpc>
              <a:spcBef>
                <a:spcPts val="396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Arial"/>
              <a:buAutoNum type="arabicPeriod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Landline service in around 102 cities</a:t>
            </a:r>
          </a:p>
          <a:p>
            <a:pPr marL="381000" marR="0" lvl="0" indent="-191911" algn="l">
              <a:lnSpc>
                <a:spcPct val="120000"/>
              </a:lnSpc>
              <a:spcBef>
                <a:spcPts val="396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Arial"/>
              <a:buAutoNum type="arabicPeriod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 to Home (DTH) Service in over 87 Cities</a:t>
            </a:r>
          </a:p>
          <a:p>
            <a:endParaRPr lang="en-US" sz="22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indent="0" algn="l">
              <a:lnSpc>
                <a:spcPct val="119791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ENTERPRISE SERVICES</a:t>
            </a:r>
          </a:p>
          <a:p>
            <a:pPr marL="381000" marR="0" lvl="0" indent="-191911" algn="l">
              <a:lnSpc>
                <a:spcPct val="120000"/>
              </a:lnSpc>
              <a:spcBef>
                <a:spcPts val="396"/>
              </a:spcBef>
              <a:spcAft>
                <a:spcPts val="0"/>
              </a:spcAft>
              <a:buClr>
                <a:srgbClr val="000000"/>
              </a:buClr>
              <a:buSzPct val="101010"/>
              <a:buFont typeface="Arial"/>
              <a:buAutoNum type="arabicPeriod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a broad portfolio of services to large Enterprise and Carrier customers. </a:t>
            </a:r>
          </a:p>
          <a:p>
            <a:pPr marL="0" marR="0" indent="0" algn="l">
              <a:lnSpc>
                <a:spcPct val="120000"/>
              </a:lnSpc>
              <a:spcBef>
                <a:spcPts val="396"/>
              </a:spcBef>
              <a:spcAft>
                <a:spcPts val="0"/>
              </a:spcAft>
              <a:buNone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This division comprises of the Carrier and Corporate business unit. </a:t>
            </a:r>
          </a:p>
          <a:p>
            <a:endParaRPr lang="en-US" sz="22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Shape 70"/>
          <p:cNvSpPr/>
          <p:nvPr/>
        </p:nvSpPr>
        <p:spPr>
          <a:xfrm>
            <a:off x="6858000" y="2370650"/>
            <a:ext cx="2772825" cy="20319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71" name="Shape 71"/>
          <p:cNvSpPr/>
          <p:nvPr/>
        </p:nvSpPr>
        <p:spPr>
          <a:xfrm>
            <a:off x="6879150" y="4402650"/>
            <a:ext cx="2783400" cy="23812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77" name="Shape 77"/>
          <p:cNvSpPr/>
          <p:nvPr/>
        </p:nvSpPr>
        <p:spPr>
          <a:xfrm>
            <a:off x="497400" y="296325"/>
            <a:ext cx="9165149" cy="264582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/>
        </p:nvSpPr>
        <p:spPr>
          <a:xfrm>
            <a:off x="931325" y="317475"/>
            <a:ext cx="8731250" cy="147107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83" name="Shape 83"/>
          <p:cNvSpPr/>
          <p:nvPr/>
        </p:nvSpPr>
        <p:spPr>
          <a:xfrm>
            <a:off x="2154749" y="2838614"/>
            <a:ext cx="6604000" cy="33655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84" name="Shape 84"/>
          <p:cNvSpPr txBox="1"/>
          <p:nvPr/>
        </p:nvSpPr>
        <p:spPr>
          <a:xfrm>
            <a:off x="4706050" y="2762250"/>
            <a:ext cx="1501399" cy="777812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</a:t>
            </a:r>
          </a:p>
        </p:txBody>
      </p:sp>
      <p:sp>
        <p:nvSpPr>
          <p:cNvPr id="85" name="Shape 85"/>
          <p:cNvSpPr txBox="1"/>
          <p:nvPr/>
        </p:nvSpPr>
        <p:spPr>
          <a:xfrm>
            <a:off x="2998600" y="3622968"/>
            <a:ext cx="2005200" cy="446276"/>
          </a:xfrm>
          <a:prstGeom prst="rect">
            <a:avLst/>
          </a:prstGeom>
        </p:spPr>
        <p:txBody>
          <a:bodyPr wrap="square"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TDMA/FDMA</a:t>
            </a:r>
          </a:p>
        </p:txBody>
      </p:sp>
      <p:sp>
        <p:nvSpPr>
          <p:cNvPr id="86" name="Shape 86"/>
          <p:cNvSpPr txBox="1"/>
          <p:nvPr/>
        </p:nvSpPr>
        <p:spPr>
          <a:xfrm rot="10800000" flipV="1">
            <a:off x="6411725" y="3637176"/>
            <a:ext cx="1208276" cy="446276"/>
          </a:xfrm>
          <a:prstGeom prst="rect">
            <a:avLst/>
          </a:prstGeom>
        </p:spPr>
        <p:txBody>
          <a:bodyPr wrap="square"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</a:t>
            </a:r>
          </a:p>
        </p:txBody>
      </p:sp>
      <p:sp>
        <p:nvSpPr>
          <p:cNvPr id="87" name="Shape 87"/>
          <p:cNvSpPr txBox="1"/>
          <p:nvPr/>
        </p:nvSpPr>
        <p:spPr>
          <a:xfrm>
            <a:off x="2340674" y="4188832"/>
            <a:ext cx="2817249" cy="2231380"/>
          </a:xfrm>
          <a:prstGeom prst="rect">
            <a:avLst/>
          </a:prstGeom>
        </p:spPr>
        <p:txBody>
          <a:bodyPr wrap="square"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GSM (European Standard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136 (U.S Standard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PDC (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Japnese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Standard)</a:t>
            </a:r>
          </a:p>
          <a:p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Shape 88"/>
          <p:cNvSpPr txBox="1"/>
          <p:nvPr/>
        </p:nvSpPr>
        <p:spPr>
          <a:xfrm>
            <a:off x="5642675" y="4152175"/>
            <a:ext cx="3041274" cy="1921225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95 (U.S Standard)</a:t>
            </a:r>
          </a:p>
        </p:txBody>
      </p:sp>
      <p:sp>
        <p:nvSpPr>
          <p:cNvPr id="90" name="Shape 90"/>
          <p:cNvSpPr/>
          <p:nvPr/>
        </p:nvSpPr>
        <p:spPr>
          <a:xfrm>
            <a:off x="7620000" y="1354650"/>
            <a:ext cx="2010824" cy="124882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8630764" y="6400800"/>
            <a:ext cx="1418150" cy="87839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97" name="Shape 97"/>
          <p:cNvSpPr/>
          <p:nvPr/>
        </p:nvSpPr>
        <p:spPr>
          <a:xfrm>
            <a:off x="497400" y="0"/>
            <a:ext cx="9239250" cy="13652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98" name="Shape 98"/>
          <p:cNvSpPr txBox="1"/>
          <p:nvPr/>
        </p:nvSpPr>
        <p:spPr>
          <a:xfrm>
            <a:off x="615575" y="361575"/>
            <a:ext cx="9005000" cy="123330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88" dirty="0">
                <a:solidFill>
                  <a:srgbClr val="3399FF"/>
                </a:solidFill>
                <a:latin typeface="Arial"/>
                <a:ea typeface="Arial"/>
                <a:cs typeface="Arial"/>
                <a:sym typeface="Arial"/>
              </a:rPr>
              <a:t>Evolution of Cellular Systems</a:t>
            </a:r>
          </a:p>
        </p:txBody>
      </p:sp>
      <p:sp>
        <p:nvSpPr>
          <p:cNvPr id="99" name="Shape 99"/>
          <p:cNvSpPr/>
          <p:nvPr/>
        </p:nvSpPr>
        <p:spPr>
          <a:xfrm>
            <a:off x="1270000" y="3979325"/>
            <a:ext cx="1989649" cy="8149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100" name="Shape 100"/>
          <p:cNvSpPr txBox="1"/>
          <p:nvPr/>
        </p:nvSpPr>
        <p:spPr>
          <a:xfrm>
            <a:off x="1091320" y="3219360"/>
            <a:ext cx="2058799" cy="8875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1st.Generation</a:t>
            </a:r>
          </a:p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(1980s)</a:t>
            </a:r>
          </a:p>
        </p:txBody>
      </p:sp>
      <p:sp>
        <p:nvSpPr>
          <p:cNvPr id="101" name="Shape 101"/>
          <p:cNvSpPr txBox="1"/>
          <p:nvPr/>
        </p:nvSpPr>
        <p:spPr>
          <a:xfrm>
            <a:off x="1498600" y="4863025"/>
            <a:ext cx="1144024" cy="405111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Analog</a:t>
            </a:r>
          </a:p>
        </p:txBody>
      </p:sp>
      <p:sp>
        <p:nvSpPr>
          <p:cNvPr id="102" name="Shape 102"/>
          <p:cNvSpPr txBox="1"/>
          <p:nvPr/>
        </p:nvSpPr>
        <p:spPr>
          <a:xfrm>
            <a:off x="1677450" y="5362200"/>
            <a:ext cx="1212125" cy="7852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NMT CT0</a:t>
            </a:r>
          </a:p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TACS CT1</a:t>
            </a:r>
          </a:p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AMPS</a:t>
            </a:r>
          </a:p>
        </p:txBody>
      </p:sp>
      <p:sp>
        <p:nvSpPr>
          <p:cNvPr id="103" name="Shape 103"/>
          <p:cNvSpPr/>
          <p:nvPr/>
        </p:nvSpPr>
        <p:spPr>
          <a:xfrm>
            <a:off x="5814099" y="2169679"/>
            <a:ext cx="3344324" cy="95250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104" name="Shape 104"/>
          <p:cNvSpPr txBox="1"/>
          <p:nvPr/>
        </p:nvSpPr>
        <p:spPr>
          <a:xfrm>
            <a:off x="7202560" y="1541275"/>
            <a:ext cx="2199899" cy="8875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3rd. Generation</a:t>
            </a:r>
          </a:p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(2000s)</a:t>
            </a:r>
          </a:p>
        </p:txBody>
      </p:sp>
      <p:sp>
        <p:nvSpPr>
          <p:cNvPr id="105" name="Shape 105"/>
          <p:cNvSpPr/>
          <p:nvPr/>
        </p:nvSpPr>
        <p:spPr>
          <a:xfrm>
            <a:off x="2889575" y="2891279"/>
            <a:ext cx="3141111" cy="944876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106" name="Shape 106"/>
          <p:cNvSpPr txBox="1"/>
          <p:nvPr/>
        </p:nvSpPr>
        <p:spPr>
          <a:xfrm>
            <a:off x="3642424" y="2200263"/>
            <a:ext cx="2256350" cy="8875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2nd. Generation</a:t>
            </a:r>
          </a:p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(1990s)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572000" y="3633600"/>
            <a:ext cx="1117600" cy="405111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</a:p>
        </p:txBody>
      </p:sp>
      <p:sp>
        <p:nvSpPr>
          <p:cNvPr id="108" name="Shape 108"/>
          <p:cNvSpPr txBox="1"/>
          <p:nvPr/>
        </p:nvSpPr>
        <p:spPr>
          <a:xfrm>
            <a:off x="4081625" y="4095750"/>
            <a:ext cx="1817149" cy="1730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GSM DECT</a:t>
            </a:r>
          </a:p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DCS1800 CT2</a:t>
            </a:r>
          </a:p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PDC PHS</a:t>
            </a:r>
          </a:p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IS-54</a:t>
            </a:r>
          </a:p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IS-95</a:t>
            </a:r>
          </a:p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IS-136</a:t>
            </a:r>
          </a:p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UP-PCS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7522690" y="3197212"/>
            <a:ext cx="1817149" cy="7852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IMT-2000</a:t>
            </a:r>
          </a:p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CDMA2000</a:t>
            </a:r>
          </a:p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W-CDMA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/>
        </p:nvSpPr>
        <p:spPr>
          <a:xfrm>
            <a:off x="920750" y="867825"/>
            <a:ext cx="8741824" cy="86782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16" name="Shape 116"/>
          <p:cNvSpPr/>
          <p:nvPr/>
        </p:nvSpPr>
        <p:spPr>
          <a:xfrm>
            <a:off x="7609400" y="2783400"/>
            <a:ext cx="1968500" cy="222247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17" name="Shape 117"/>
          <p:cNvSpPr/>
          <p:nvPr/>
        </p:nvSpPr>
        <p:spPr>
          <a:xfrm>
            <a:off x="1227650" y="3048000"/>
            <a:ext cx="84650" cy="245532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118" name="Shape 118"/>
          <p:cNvSpPr/>
          <p:nvPr/>
        </p:nvSpPr>
        <p:spPr>
          <a:xfrm>
            <a:off x="1270000" y="5460975"/>
            <a:ext cx="2370649" cy="8465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119" name="Shape 119"/>
          <p:cNvSpPr/>
          <p:nvPr/>
        </p:nvSpPr>
        <p:spPr>
          <a:xfrm>
            <a:off x="3810000" y="5460975"/>
            <a:ext cx="2540000" cy="84650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120" name="Shape 120"/>
          <p:cNvSpPr/>
          <p:nvPr/>
        </p:nvSpPr>
        <p:spPr>
          <a:xfrm>
            <a:off x="6942650" y="5460975"/>
            <a:ext cx="2540000" cy="84650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121" name="Shape 121"/>
          <p:cNvSpPr/>
          <p:nvPr/>
        </p:nvSpPr>
        <p:spPr>
          <a:xfrm>
            <a:off x="6900325" y="3048000"/>
            <a:ext cx="84650" cy="245532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122" name="Shape 122"/>
          <p:cNvSpPr/>
          <p:nvPr/>
        </p:nvSpPr>
        <p:spPr>
          <a:xfrm>
            <a:off x="3767650" y="3048000"/>
            <a:ext cx="84650" cy="245532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123" name="Shape 123"/>
          <p:cNvSpPr txBox="1"/>
          <p:nvPr/>
        </p:nvSpPr>
        <p:spPr>
          <a:xfrm>
            <a:off x="2160399" y="5596451"/>
            <a:ext cx="1480250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5492750" y="5596452"/>
            <a:ext cx="857250" cy="446276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</a:p>
        </p:txBody>
      </p:sp>
      <p:sp>
        <p:nvSpPr>
          <p:cNvPr id="125" name="Shape 125"/>
          <p:cNvSpPr txBox="1"/>
          <p:nvPr/>
        </p:nvSpPr>
        <p:spPr>
          <a:xfrm>
            <a:off x="8545675" y="5596452"/>
            <a:ext cx="862900" cy="446276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</a:p>
        </p:txBody>
      </p:sp>
      <p:sp>
        <p:nvSpPr>
          <p:cNvPr id="126" name="Shape 126"/>
          <p:cNvSpPr txBox="1"/>
          <p:nvPr/>
        </p:nvSpPr>
        <p:spPr>
          <a:xfrm>
            <a:off x="937546" y="2569800"/>
            <a:ext cx="887574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Shape 127"/>
          <p:cNvSpPr txBox="1"/>
          <p:nvPr/>
        </p:nvSpPr>
        <p:spPr>
          <a:xfrm>
            <a:off x="3408513" y="2656051"/>
            <a:ext cx="887574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Shape 128"/>
          <p:cNvSpPr txBox="1"/>
          <p:nvPr/>
        </p:nvSpPr>
        <p:spPr>
          <a:xfrm>
            <a:off x="6536950" y="2656050"/>
            <a:ext cx="887574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29" name="Shape 129"/>
          <p:cNvSpPr/>
          <p:nvPr/>
        </p:nvSpPr>
        <p:spPr>
          <a:xfrm>
            <a:off x="1259400" y="4730725"/>
            <a:ext cx="2137825" cy="783149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130" name="Shape 130"/>
          <p:cNvSpPr/>
          <p:nvPr/>
        </p:nvSpPr>
        <p:spPr>
          <a:xfrm>
            <a:off x="1259400" y="3968725"/>
            <a:ext cx="2137825" cy="783149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131" name="Shape 131"/>
          <p:cNvSpPr/>
          <p:nvPr/>
        </p:nvSpPr>
        <p:spPr>
          <a:xfrm>
            <a:off x="1259400" y="3291400"/>
            <a:ext cx="2137825" cy="698500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sp>
      <p:sp>
        <p:nvSpPr>
          <p:cNvPr id="132" name="Shape 132"/>
          <p:cNvSpPr/>
          <p:nvPr/>
        </p:nvSpPr>
        <p:spPr>
          <a:xfrm>
            <a:off x="3799400" y="3291400"/>
            <a:ext cx="867824" cy="2222475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</p:sp>
      <p:sp>
        <p:nvSpPr>
          <p:cNvPr id="133" name="Shape 133"/>
          <p:cNvSpPr/>
          <p:nvPr/>
        </p:nvSpPr>
        <p:spPr>
          <a:xfrm>
            <a:off x="4646075" y="3291400"/>
            <a:ext cx="867824" cy="2222475"/>
          </a:xfrm>
          <a:prstGeom prst="rect">
            <a:avLst/>
          </a:prstGeom>
          <a:blipFill>
            <a:blip r:embed="rId12"/>
            <a:stretch>
              <a:fillRect/>
            </a:stretch>
          </a:blipFill>
        </p:spPr>
      </p:sp>
      <p:sp>
        <p:nvSpPr>
          <p:cNvPr id="134" name="Shape 134"/>
          <p:cNvSpPr/>
          <p:nvPr/>
        </p:nvSpPr>
        <p:spPr>
          <a:xfrm>
            <a:off x="5492750" y="3291400"/>
            <a:ext cx="698500" cy="2222475"/>
          </a:xfrm>
          <a:prstGeom prst="rect">
            <a:avLst/>
          </a:prstGeom>
          <a:blipFill>
            <a:blip r:embed="rId13"/>
            <a:stretch>
              <a:fillRect/>
            </a:stretch>
          </a:blipFill>
        </p:spPr>
      </p:sp>
      <p:sp>
        <p:nvSpPr>
          <p:cNvPr id="135" name="Shape 135"/>
          <p:cNvSpPr/>
          <p:nvPr/>
        </p:nvSpPr>
        <p:spPr>
          <a:xfrm>
            <a:off x="6932075" y="3291400"/>
            <a:ext cx="2222500" cy="2222475"/>
          </a:xfrm>
          <a:prstGeom prst="rect">
            <a:avLst/>
          </a:prstGeom>
          <a:blipFill>
            <a:blip r:embed="rId14"/>
            <a:stretch>
              <a:fillRect/>
            </a:stretch>
          </a:blipFill>
        </p:spPr>
      </p:sp>
      <p:sp>
        <p:nvSpPr>
          <p:cNvPr id="136" name="Shape 136"/>
          <p:cNvSpPr/>
          <p:nvPr/>
        </p:nvSpPr>
        <p:spPr>
          <a:xfrm>
            <a:off x="7270750" y="3037400"/>
            <a:ext cx="2137825" cy="2307149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</p:sp>
      <p:sp>
        <p:nvSpPr>
          <p:cNvPr id="137" name="Shape 137"/>
          <p:cNvSpPr/>
          <p:nvPr/>
        </p:nvSpPr>
        <p:spPr>
          <a:xfrm>
            <a:off x="6932075" y="3291400"/>
            <a:ext cx="2222500" cy="2222475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</p:sp>
      <p:sp>
        <p:nvSpPr>
          <p:cNvPr id="138" name="Shape 138"/>
          <p:cNvSpPr/>
          <p:nvPr/>
        </p:nvSpPr>
        <p:spPr>
          <a:xfrm>
            <a:off x="8032750" y="2286000"/>
            <a:ext cx="687900" cy="1111225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</p:sp>
      <p:sp>
        <p:nvSpPr>
          <p:cNvPr id="139" name="Shape 139"/>
          <p:cNvSpPr txBox="1"/>
          <p:nvPr/>
        </p:nvSpPr>
        <p:spPr>
          <a:xfrm>
            <a:off x="8230300" y="1998475"/>
            <a:ext cx="1395574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PN Code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1360586" y="6042728"/>
            <a:ext cx="1818899" cy="4148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2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FDMA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4233312" y="5977800"/>
            <a:ext cx="1818899" cy="4148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2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TDMA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7559961" y="6105042"/>
            <a:ext cx="1818899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</a:t>
            </a:r>
          </a:p>
        </p:txBody>
      </p:sp>
      <p:sp>
        <p:nvSpPr>
          <p:cNvPr id="143" name="Shape 143"/>
          <p:cNvSpPr/>
          <p:nvPr/>
        </p:nvSpPr>
        <p:spPr>
          <a:xfrm>
            <a:off x="8043325" y="52913"/>
            <a:ext cx="2010824" cy="1248824"/>
          </a:xfrm>
          <a:prstGeom prst="rect">
            <a:avLst/>
          </a:prstGeom>
          <a:blipFill>
            <a:blip r:embed="rId18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41300" algn="l">
              <a:lnSpc>
                <a:spcPct val="1078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FDMA, the entire allocated cellular frequency spectrum is divided into a number of 30-kHz channels .</a:t>
            </a:r>
          </a:p>
          <a:p>
            <a:pPr marL="381000" marR="0" lvl="0" indent="-241300" algn="l">
              <a:lnSpc>
                <a:spcPct val="107870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power transmitted by a cell is only large enough to communicate with mobile stations located near the edge of the cell’s coverage area. </a:t>
            </a:r>
          </a:p>
          <a:p>
            <a:pPr marL="381000" marR="0" lvl="0" indent="-241300" algn="l">
              <a:lnSpc>
                <a:spcPct val="107870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radius of a cell might be one mile or less-referred to as a small cell.</a:t>
            </a:r>
          </a:p>
        </p:txBody>
      </p:sp>
      <p:sp>
        <p:nvSpPr>
          <p:cNvPr id="149" name="Shape 149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150" name="Shape 150"/>
          <p:cNvSpPr/>
          <p:nvPr/>
        </p:nvSpPr>
        <p:spPr>
          <a:xfrm>
            <a:off x="497400" y="296325"/>
            <a:ext cx="916514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/>
        </p:nvSpPr>
        <p:spPr>
          <a:xfrm>
            <a:off x="1682750" y="751400"/>
            <a:ext cx="7672900" cy="889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57" name="Shape 157"/>
          <p:cNvSpPr txBox="1"/>
          <p:nvPr/>
        </p:nvSpPr>
        <p:spPr>
          <a:xfrm>
            <a:off x="1800925" y="818425"/>
            <a:ext cx="7438649" cy="93192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FDMA Overview</a:t>
            </a:r>
          </a:p>
        </p:txBody>
      </p:sp>
      <p:sp>
        <p:nvSpPr>
          <p:cNvPr id="158" name="Shape 158"/>
          <p:cNvSpPr/>
          <p:nvPr/>
        </p:nvSpPr>
        <p:spPr>
          <a:xfrm>
            <a:off x="687900" y="2438400"/>
            <a:ext cx="8667750" cy="49212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59" name="Shape 159"/>
          <p:cNvSpPr txBox="1"/>
          <p:nvPr/>
        </p:nvSpPr>
        <p:spPr>
          <a:xfrm>
            <a:off x="1495775" y="5235200"/>
            <a:ext cx="247274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4497900" y="5192875"/>
            <a:ext cx="247274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2069025" y="4305650"/>
            <a:ext cx="249049" cy="38310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162" name="Shape 162"/>
          <p:cNvSpPr txBox="1"/>
          <p:nvPr/>
        </p:nvSpPr>
        <p:spPr>
          <a:xfrm>
            <a:off x="5071175" y="4263300"/>
            <a:ext cx="247274" cy="3848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163" name="Shape 163"/>
          <p:cNvSpPr txBox="1"/>
          <p:nvPr/>
        </p:nvSpPr>
        <p:spPr>
          <a:xfrm>
            <a:off x="2601725" y="3347850"/>
            <a:ext cx="261399" cy="38310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164" name="Shape 164"/>
          <p:cNvSpPr txBox="1"/>
          <p:nvPr/>
        </p:nvSpPr>
        <p:spPr>
          <a:xfrm>
            <a:off x="5603875" y="3305525"/>
            <a:ext cx="261399" cy="3848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165" name="Shape 165"/>
          <p:cNvSpPr txBox="1"/>
          <p:nvPr/>
        </p:nvSpPr>
        <p:spPr>
          <a:xfrm>
            <a:off x="8648699" y="2693100"/>
            <a:ext cx="1277399" cy="38310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Frequency</a:t>
            </a:r>
          </a:p>
        </p:txBody>
      </p:sp>
      <p:sp>
        <p:nvSpPr>
          <p:cNvPr id="166" name="Shape 166"/>
          <p:cNvSpPr txBox="1"/>
          <p:nvPr/>
        </p:nvSpPr>
        <p:spPr>
          <a:xfrm>
            <a:off x="6223000" y="6212225"/>
            <a:ext cx="642400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8912925" y="3441325"/>
            <a:ext cx="148499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</a:p>
        </p:txBody>
      </p:sp>
      <p:sp>
        <p:nvSpPr>
          <p:cNvPr id="168" name="Shape 168"/>
          <p:cNvSpPr txBox="1"/>
          <p:nvPr/>
        </p:nvSpPr>
        <p:spPr>
          <a:xfrm>
            <a:off x="8985250" y="3539400"/>
            <a:ext cx="370400" cy="364074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x="8394325" y="4337400"/>
            <a:ext cx="148499" cy="3848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</a:p>
        </p:txBody>
      </p:sp>
      <p:sp>
        <p:nvSpPr>
          <p:cNvPr id="170" name="Shape 170"/>
          <p:cNvSpPr txBox="1"/>
          <p:nvPr/>
        </p:nvSpPr>
        <p:spPr>
          <a:xfrm>
            <a:off x="8461375" y="4452050"/>
            <a:ext cx="187324" cy="312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71" name="Shape 171"/>
          <p:cNvSpPr txBox="1"/>
          <p:nvPr/>
        </p:nvSpPr>
        <p:spPr>
          <a:xfrm>
            <a:off x="7821075" y="5305775"/>
            <a:ext cx="150274" cy="3848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</a:p>
        </p:txBody>
      </p:sp>
      <p:sp>
        <p:nvSpPr>
          <p:cNvPr id="172" name="Shape 172"/>
          <p:cNvSpPr txBox="1"/>
          <p:nvPr/>
        </p:nvSpPr>
        <p:spPr>
          <a:xfrm>
            <a:off x="7888100" y="5420425"/>
            <a:ext cx="185550" cy="312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41300" algn="l">
              <a:lnSpc>
                <a:spcPct val="1199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TDMA is a digital wireless air interface .</a:t>
            </a:r>
          </a:p>
          <a:p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41300" algn="l">
              <a:lnSpc>
                <a:spcPct val="119907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divides each carrier frequency into a number of time slots, each of which constitutes an independent telephone circuit.</a:t>
            </a:r>
          </a:p>
        </p:txBody>
      </p:sp>
      <p:sp>
        <p:nvSpPr>
          <p:cNvPr id="179" name="Shape 179"/>
          <p:cNvSpPr/>
          <p:nvPr/>
        </p:nvSpPr>
        <p:spPr>
          <a:xfrm>
            <a:off x="412750" y="296325"/>
            <a:ext cx="9249824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/>
          <p:nvPr/>
        </p:nvSpPr>
        <p:spPr>
          <a:xfrm>
            <a:off x="8762975" y="6609404"/>
            <a:ext cx="1418150" cy="87839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86" name="Shape 186"/>
          <p:cNvSpPr/>
          <p:nvPr/>
        </p:nvSpPr>
        <p:spPr>
          <a:xfrm>
            <a:off x="1513400" y="666750"/>
            <a:ext cx="7672900" cy="889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87" name="Shape 187"/>
          <p:cNvSpPr txBox="1"/>
          <p:nvPr/>
        </p:nvSpPr>
        <p:spPr>
          <a:xfrm>
            <a:off x="1631575" y="733775"/>
            <a:ext cx="7438649" cy="93192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TDMA Overview</a:t>
            </a:r>
          </a:p>
        </p:txBody>
      </p:sp>
      <p:sp>
        <p:nvSpPr>
          <p:cNvPr id="188" name="Shape 188"/>
          <p:cNvSpPr/>
          <p:nvPr/>
        </p:nvSpPr>
        <p:spPr>
          <a:xfrm>
            <a:off x="1344075" y="2952750"/>
            <a:ext cx="7418900" cy="24765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189" name="Shape 189"/>
          <p:cNvSpPr txBox="1"/>
          <p:nvPr/>
        </p:nvSpPr>
        <p:spPr>
          <a:xfrm>
            <a:off x="3153825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190" name="Shape 190"/>
          <p:cNvSpPr txBox="1"/>
          <p:nvPr/>
        </p:nvSpPr>
        <p:spPr>
          <a:xfrm>
            <a:off x="3499550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191" name="Shape 191"/>
          <p:cNvSpPr txBox="1"/>
          <p:nvPr/>
        </p:nvSpPr>
        <p:spPr>
          <a:xfrm>
            <a:off x="3859375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192" name="Shape 192"/>
          <p:cNvSpPr txBox="1"/>
          <p:nvPr/>
        </p:nvSpPr>
        <p:spPr>
          <a:xfrm>
            <a:off x="4212150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193" name="Shape 193"/>
          <p:cNvSpPr txBox="1"/>
          <p:nvPr/>
        </p:nvSpPr>
        <p:spPr>
          <a:xfrm>
            <a:off x="4557875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194" name="Shape 194"/>
          <p:cNvSpPr txBox="1"/>
          <p:nvPr/>
        </p:nvSpPr>
        <p:spPr>
          <a:xfrm>
            <a:off x="4917700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195" name="Shape 195"/>
          <p:cNvSpPr txBox="1"/>
          <p:nvPr/>
        </p:nvSpPr>
        <p:spPr>
          <a:xfrm>
            <a:off x="5256375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196" name="Shape 196"/>
          <p:cNvSpPr txBox="1"/>
          <p:nvPr/>
        </p:nvSpPr>
        <p:spPr>
          <a:xfrm>
            <a:off x="5602100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197" name="Shape 197"/>
          <p:cNvSpPr txBox="1"/>
          <p:nvPr/>
        </p:nvSpPr>
        <p:spPr>
          <a:xfrm>
            <a:off x="5961925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198" name="Shape 198"/>
          <p:cNvSpPr txBox="1"/>
          <p:nvPr/>
        </p:nvSpPr>
        <p:spPr>
          <a:xfrm>
            <a:off x="6314700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199" name="Shape 199"/>
          <p:cNvSpPr txBox="1"/>
          <p:nvPr/>
        </p:nvSpPr>
        <p:spPr>
          <a:xfrm>
            <a:off x="6660425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200" name="Shape 200"/>
          <p:cNvSpPr txBox="1"/>
          <p:nvPr/>
        </p:nvSpPr>
        <p:spPr>
          <a:xfrm>
            <a:off x="7020275" y="44167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1728600" y="5065875"/>
            <a:ext cx="25962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2857500" y="3781775"/>
            <a:ext cx="24552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2222500" y="4191000"/>
            <a:ext cx="24552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204" name="Shape 204"/>
          <p:cNvSpPr txBox="1"/>
          <p:nvPr/>
        </p:nvSpPr>
        <p:spPr>
          <a:xfrm>
            <a:off x="7697600" y="5432775"/>
            <a:ext cx="64062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x="8332600" y="4303875"/>
            <a:ext cx="146750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</a:p>
        </p:txBody>
      </p:sp>
      <p:sp>
        <p:nvSpPr>
          <p:cNvPr id="206" name="Shape 206"/>
          <p:cNvSpPr txBox="1"/>
          <p:nvPr/>
        </p:nvSpPr>
        <p:spPr>
          <a:xfrm>
            <a:off x="8404925" y="4416775"/>
            <a:ext cx="185550" cy="312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8459600" y="3582450"/>
            <a:ext cx="1277399" cy="38310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Frequency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48355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7264"/>
              <a:buFont typeface="Arial"/>
              <a:buChar char="•"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digital multiple access technique specified by the Telecommunications Industry Association (TIA) as "IS-95."</a:t>
            </a:r>
          </a:p>
          <a:p>
            <a:pPr marL="381000" marR="0" lvl="0" indent="-248355" algn="l">
              <a:lnSpc>
                <a:spcPct val="108035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Pct val="167264"/>
              <a:buFont typeface="Arial"/>
              <a:buChar char="•"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of the unique aspect of CDMA is that while there are certainly limits to the number of phone calls that can be handled by a carrier, this is not a fixed number .</a:t>
            </a:r>
          </a:p>
          <a:p>
            <a:pPr marL="381000" marR="0" lvl="0" indent="-248355" algn="l">
              <a:lnSpc>
                <a:spcPct val="108035"/>
              </a:lnSpc>
              <a:spcBef>
                <a:spcPts val="333"/>
              </a:spcBef>
              <a:spcAft>
                <a:spcPts val="0"/>
              </a:spcAft>
              <a:buClr>
                <a:srgbClr val="000000"/>
              </a:buClr>
              <a:buSzPct val="167264"/>
              <a:buFont typeface="Arial"/>
              <a:buChar char="•"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division multiple access (CDMA) is a digital air interface standard, claiming eight to fifteen times the capacity of analog. 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214" name="Shape 214"/>
          <p:cNvSpPr/>
          <p:nvPr/>
        </p:nvSpPr>
        <p:spPr>
          <a:xfrm>
            <a:off x="433900" y="296325"/>
            <a:ext cx="9239250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/>
          <p:nvPr/>
        </p:nvSpPr>
        <p:spPr>
          <a:xfrm>
            <a:off x="1830900" y="582075"/>
            <a:ext cx="7672900" cy="889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21" name="Shape 221"/>
          <p:cNvSpPr txBox="1"/>
          <p:nvPr/>
        </p:nvSpPr>
        <p:spPr>
          <a:xfrm>
            <a:off x="1945550" y="649100"/>
            <a:ext cx="7438649" cy="93192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CDMA ?</a:t>
            </a:r>
          </a:p>
        </p:txBody>
      </p:sp>
      <p:sp>
        <p:nvSpPr>
          <p:cNvPr id="222" name="Shape 222"/>
          <p:cNvSpPr/>
          <p:nvPr/>
        </p:nvSpPr>
        <p:spPr>
          <a:xfrm>
            <a:off x="1957900" y="6508725"/>
            <a:ext cx="1090075" cy="46564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23" name="Shape 223"/>
          <p:cNvSpPr txBox="1"/>
          <p:nvPr/>
        </p:nvSpPr>
        <p:spPr>
          <a:xfrm>
            <a:off x="1803400" y="6291120"/>
            <a:ext cx="922850" cy="4060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Sender</a:t>
            </a:r>
          </a:p>
        </p:txBody>
      </p:sp>
      <p:sp>
        <p:nvSpPr>
          <p:cNvPr id="224" name="Shape 224"/>
          <p:cNvSpPr/>
          <p:nvPr/>
        </p:nvSpPr>
        <p:spPr>
          <a:xfrm>
            <a:off x="6508750" y="6508725"/>
            <a:ext cx="1259399" cy="46564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25" name="Shape 225"/>
          <p:cNvSpPr txBox="1"/>
          <p:nvPr/>
        </p:nvSpPr>
        <p:spPr>
          <a:xfrm>
            <a:off x="6661863" y="6413475"/>
            <a:ext cx="1106299" cy="4060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</a:p>
        </p:txBody>
      </p:sp>
      <p:sp>
        <p:nvSpPr>
          <p:cNvPr id="226" name="Shape 226"/>
          <p:cNvSpPr/>
          <p:nvPr/>
        </p:nvSpPr>
        <p:spPr>
          <a:xfrm>
            <a:off x="1492250" y="3153825"/>
            <a:ext cx="3534825" cy="3069149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27" name="Shape 227"/>
          <p:cNvSpPr/>
          <p:nvPr/>
        </p:nvSpPr>
        <p:spPr>
          <a:xfrm>
            <a:off x="2497650" y="4370900"/>
            <a:ext cx="624399" cy="603225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228" name="Shape 228"/>
          <p:cNvSpPr txBox="1"/>
          <p:nvPr/>
        </p:nvSpPr>
        <p:spPr>
          <a:xfrm>
            <a:off x="2868075" y="4219200"/>
            <a:ext cx="765875" cy="312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A</a:t>
            </a:r>
          </a:p>
        </p:txBody>
      </p:sp>
      <p:sp>
        <p:nvSpPr>
          <p:cNvPr id="229" name="Shape 229"/>
          <p:cNvSpPr/>
          <p:nvPr/>
        </p:nvSpPr>
        <p:spPr>
          <a:xfrm>
            <a:off x="2211900" y="5027075"/>
            <a:ext cx="550325" cy="476250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230" name="Shape 230"/>
          <p:cNvSpPr txBox="1"/>
          <p:nvPr/>
        </p:nvSpPr>
        <p:spPr>
          <a:xfrm>
            <a:off x="2324800" y="524932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231" name="Shape 231"/>
          <p:cNvSpPr/>
          <p:nvPr/>
        </p:nvSpPr>
        <p:spPr>
          <a:xfrm>
            <a:off x="3344325" y="2995075"/>
            <a:ext cx="624399" cy="592650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232" name="Shape 232"/>
          <p:cNvSpPr txBox="1"/>
          <p:nvPr/>
        </p:nvSpPr>
        <p:spPr>
          <a:xfrm>
            <a:off x="3714750" y="2836325"/>
            <a:ext cx="765875" cy="312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B</a:t>
            </a:r>
          </a:p>
        </p:txBody>
      </p:sp>
      <p:sp>
        <p:nvSpPr>
          <p:cNvPr id="233" name="Shape 233"/>
          <p:cNvSpPr/>
          <p:nvPr/>
        </p:nvSpPr>
        <p:spPr>
          <a:xfrm>
            <a:off x="3058575" y="3640650"/>
            <a:ext cx="550325" cy="486824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sp>
      <p:sp>
        <p:nvSpPr>
          <p:cNvPr id="234" name="Shape 234"/>
          <p:cNvSpPr txBox="1"/>
          <p:nvPr/>
        </p:nvSpPr>
        <p:spPr>
          <a:xfrm>
            <a:off x="3171450" y="38593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235" name="Shape 235"/>
          <p:cNvSpPr/>
          <p:nvPr/>
        </p:nvSpPr>
        <p:spPr>
          <a:xfrm>
            <a:off x="2899825" y="3344325"/>
            <a:ext cx="1725075" cy="2381250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</p:sp>
      <p:sp>
        <p:nvSpPr>
          <p:cNvPr id="236" name="Shape 236"/>
          <p:cNvSpPr txBox="1"/>
          <p:nvPr/>
        </p:nvSpPr>
        <p:spPr>
          <a:xfrm>
            <a:off x="3580675" y="51152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237" name="Shape 237"/>
          <p:cNvSpPr txBox="1"/>
          <p:nvPr/>
        </p:nvSpPr>
        <p:spPr>
          <a:xfrm>
            <a:off x="3411350" y="4917700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238" name="Shape 238"/>
          <p:cNvSpPr/>
          <p:nvPr/>
        </p:nvSpPr>
        <p:spPr>
          <a:xfrm>
            <a:off x="3513650" y="3153825"/>
            <a:ext cx="3534825" cy="3069149"/>
          </a:xfrm>
          <a:prstGeom prst="rect">
            <a:avLst/>
          </a:prstGeom>
          <a:blipFill>
            <a:blip r:embed="rId12"/>
            <a:stretch>
              <a:fillRect/>
            </a:stretch>
          </a:blipFill>
        </p:spPr>
      </p:sp>
      <p:sp>
        <p:nvSpPr>
          <p:cNvPr id="239" name="Shape 239"/>
          <p:cNvSpPr/>
          <p:nvPr/>
        </p:nvSpPr>
        <p:spPr>
          <a:xfrm>
            <a:off x="6000750" y="3153825"/>
            <a:ext cx="3534825" cy="3069149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40" name="Shape 240"/>
          <p:cNvSpPr/>
          <p:nvPr/>
        </p:nvSpPr>
        <p:spPr>
          <a:xfrm>
            <a:off x="6487575" y="3217325"/>
            <a:ext cx="1820324" cy="2508250"/>
          </a:xfrm>
          <a:prstGeom prst="rect">
            <a:avLst/>
          </a:prstGeom>
          <a:blipFill>
            <a:blip r:embed="rId13"/>
            <a:stretch>
              <a:fillRect/>
            </a:stretch>
          </a:blipFill>
        </p:spPr>
      </p:sp>
      <p:sp>
        <p:nvSpPr>
          <p:cNvPr id="241" name="Shape 241"/>
          <p:cNvSpPr txBox="1"/>
          <p:nvPr/>
        </p:nvSpPr>
        <p:spPr>
          <a:xfrm>
            <a:off x="7256625" y="518582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7129625" y="5030600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6960300" y="48612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244" name="Shape 244"/>
          <p:cNvSpPr/>
          <p:nvPr/>
        </p:nvSpPr>
        <p:spPr>
          <a:xfrm>
            <a:off x="7397750" y="3301975"/>
            <a:ext cx="1735649" cy="2402399"/>
          </a:xfrm>
          <a:prstGeom prst="rect">
            <a:avLst/>
          </a:prstGeom>
          <a:blipFill>
            <a:blip r:embed="rId14"/>
            <a:stretch>
              <a:fillRect/>
            </a:stretch>
          </a:blipFill>
        </p:spPr>
      </p:sp>
      <p:sp>
        <p:nvSpPr>
          <p:cNvPr id="245" name="Shape 245"/>
          <p:cNvSpPr txBox="1"/>
          <p:nvPr/>
        </p:nvSpPr>
        <p:spPr>
          <a:xfrm>
            <a:off x="8060950" y="51152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246" name="Shape 246"/>
          <p:cNvSpPr txBox="1"/>
          <p:nvPr/>
        </p:nvSpPr>
        <p:spPr>
          <a:xfrm>
            <a:off x="7877525" y="50023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247" name="Shape 247"/>
          <p:cNvSpPr txBox="1"/>
          <p:nvPr/>
        </p:nvSpPr>
        <p:spPr>
          <a:xfrm>
            <a:off x="8089175" y="4148650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248" name="Shape 248"/>
          <p:cNvSpPr/>
          <p:nvPr/>
        </p:nvSpPr>
        <p:spPr>
          <a:xfrm>
            <a:off x="8244400" y="3270250"/>
            <a:ext cx="624399" cy="603225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</p:sp>
      <p:sp>
        <p:nvSpPr>
          <p:cNvPr id="249" name="Shape 249"/>
          <p:cNvSpPr txBox="1"/>
          <p:nvPr/>
        </p:nvSpPr>
        <p:spPr>
          <a:xfrm>
            <a:off x="8618350" y="3118550"/>
            <a:ext cx="765875" cy="312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A</a:t>
            </a:r>
          </a:p>
        </p:txBody>
      </p:sp>
      <p:sp>
        <p:nvSpPr>
          <p:cNvPr id="250" name="Shape 250"/>
          <p:cNvSpPr/>
          <p:nvPr/>
        </p:nvSpPr>
        <p:spPr>
          <a:xfrm>
            <a:off x="2180150" y="2783400"/>
            <a:ext cx="793750" cy="1576899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</p:sp>
      <p:sp>
        <p:nvSpPr>
          <p:cNvPr id="251" name="Shape 251"/>
          <p:cNvSpPr/>
          <p:nvPr/>
        </p:nvSpPr>
        <p:spPr>
          <a:xfrm>
            <a:off x="1354650" y="4169825"/>
            <a:ext cx="772574" cy="1682750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</p:sp>
      <p:sp>
        <p:nvSpPr>
          <p:cNvPr id="252" name="Shape 252"/>
          <p:cNvSpPr/>
          <p:nvPr/>
        </p:nvSpPr>
        <p:spPr>
          <a:xfrm>
            <a:off x="4011075" y="3206725"/>
            <a:ext cx="2592900" cy="2487074"/>
          </a:xfrm>
          <a:prstGeom prst="rect">
            <a:avLst/>
          </a:prstGeom>
          <a:blipFill>
            <a:blip r:embed="rId18"/>
            <a:stretch>
              <a:fillRect/>
            </a:stretch>
          </a:blipFill>
        </p:spPr>
      </p:sp>
      <p:sp>
        <p:nvSpPr>
          <p:cNvPr id="253" name="Shape 253"/>
          <p:cNvSpPr txBox="1"/>
          <p:nvPr/>
        </p:nvSpPr>
        <p:spPr>
          <a:xfrm>
            <a:off x="5471575" y="5221100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254" name="Shape 254"/>
          <p:cNvSpPr txBox="1"/>
          <p:nvPr/>
        </p:nvSpPr>
        <p:spPr>
          <a:xfrm>
            <a:off x="5344575" y="5030600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255" name="Shape 255"/>
          <p:cNvSpPr txBox="1"/>
          <p:nvPr/>
        </p:nvSpPr>
        <p:spPr>
          <a:xfrm>
            <a:off x="5147025" y="4861275"/>
            <a:ext cx="238475" cy="3478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256" name="Shape 256"/>
          <p:cNvSpPr/>
          <p:nvPr/>
        </p:nvSpPr>
        <p:spPr>
          <a:xfrm>
            <a:off x="2899825" y="2963325"/>
            <a:ext cx="4497899" cy="3429000"/>
          </a:xfrm>
          <a:prstGeom prst="rect">
            <a:avLst/>
          </a:prstGeom>
          <a:blipFill>
            <a:blip r:embed="rId19"/>
            <a:stretch>
              <a:fillRect/>
            </a:stretch>
          </a:blipFill>
        </p:spPr>
      </p:sp>
      <p:sp>
        <p:nvSpPr>
          <p:cNvPr id="257" name="Shape 257"/>
          <p:cNvSpPr txBox="1"/>
          <p:nvPr/>
        </p:nvSpPr>
        <p:spPr>
          <a:xfrm>
            <a:off x="5633850" y="6413475"/>
            <a:ext cx="1198750" cy="446276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</a:p>
        </p:txBody>
      </p:sp>
      <p:sp>
        <p:nvSpPr>
          <p:cNvPr id="258" name="Shape 258"/>
          <p:cNvSpPr/>
          <p:nvPr/>
        </p:nvSpPr>
        <p:spPr>
          <a:xfrm>
            <a:off x="8244400" y="3005650"/>
            <a:ext cx="1693324" cy="3238500"/>
          </a:xfrm>
          <a:prstGeom prst="rect">
            <a:avLst/>
          </a:prstGeom>
          <a:blipFill>
            <a:blip r:embed="rId20"/>
            <a:stretch>
              <a:fillRect/>
            </a:stretch>
          </a:blipFill>
        </p:spPr>
      </p:sp>
      <p:sp>
        <p:nvSpPr>
          <p:cNvPr id="259" name="Shape 259"/>
          <p:cNvSpPr txBox="1"/>
          <p:nvPr/>
        </p:nvSpPr>
        <p:spPr>
          <a:xfrm>
            <a:off x="9406800" y="3921100"/>
            <a:ext cx="1277399" cy="38310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Frequency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8547800" y="5362200"/>
            <a:ext cx="24552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8371400" y="5221100"/>
            <a:ext cx="25962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262" name="Shape 262"/>
          <p:cNvSpPr/>
          <p:nvPr/>
        </p:nvSpPr>
        <p:spPr>
          <a:xfrm>
            <a:off x="1629825" y="2370650"/>
            <a:ext cx="1703900" cy="1418150"/>
          </a:xfrm>
          <a:prstGeom prst="rect">
            <a:avLst/>
          </a:prstGeom>
          <a:blipFill>
            <a:blip r:embed="rId21"/>
            <a:stretch>
              <a:fillRect/>
            </a:stretch>
          </a:blipFill>
        </p:spPr>
      </p:sp>
      <p:sp>
        <p:nvSpPr>
          <p:cNvPr id="263" name="Shape 263"/>
          <p:cNvSpPr txBox="1"/>
          <p:nvPr/>
        </p:nvSpPr>
        <p:spPr>
          <a:xfrm>
            <a:off x="2084900" y="3203200"/>
            <a:ext cx="24552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264" name="Shape 264"/>
          <p:cNvSpPr/>
          <p:nvPr/>
        </p:nvSpPr>
        <p:spPr>
          <a:xfrm>
            <a:off x="984250" y="3608900"/>
            <a:ext cx="1566325" cy="1576899"/>
          </a:xfrm>
          <a:prstGeom prst="rect">
            <a:avLst/>
          </a:prstGeom>
          <a:blipFill>
            <a:blip r:embed="rId22"/>
            <a:stretch>
              <a:fillRect/>
            </a:stretch>
          </a:blipFill>
        </p:spPr>
      </p:sp>
      <p:sp>
        <p:nvSpPr>
          <p:cNvPr id="265" name="Shape 265"/>
          <p:cNvSpPr txBox="1"/>
          <p:nvPr/>
        </p:nvSpPr>
        <p:spPr>
          <a:xfrm>
            <a:off x="1125350" y="4360325"/>
            <a:ext cx="24552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266" name="Shape 266"/>
          <p:cNvSpPr/>
          <p:nvPr/>
        </p:nvSpPr>
        <p:spPr>
          <a:xfrm>
            <a:off x="2264825" y="2084900"/>
            <a:ext cx="2561149" cy="2180150"/>
          </a:xfrm>
          <a:prstGeom prst="rect">
            <a:avLst/>
          </a:prstGeom>
          <a:blipFill>
            <a:blip r:embed="rId23"/>
            <a:stretch>
              <a:fillRect/>
            </a:stretch>
          </a:blipFill>
        </p:spPr>
      </p:sp>
      <p:sp>
        <p:nvSpPr>
          <p:cNvPr id="267" name="Shape 267"/>
          <p:cNvSpPr txBox="1"/>
          <p:nvPr/>
        </p:nvSpPr>
        <p:spPr>
          <a:xfrm>
            <a:off x="2379475" y="2151925"/>
            <a:ext cx="2408050" cy="333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ctr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Base-band Spectrum</a:t>
            </a:r>
          </a:p>
        </p:txBody>
      </p:sp>
      <p:sp>
        <p:nvSpPr>
          <p:cNvPr id="268" name="Shape 268"/>
          <p:cNvSpPr/>
          <p:nvPr/>
        </p:nvSpPr>
        <p:spPr>
          <a:xfrm>
            <a:off x="5873750" y="2074325"/>
            <a:ext cx="2455325" cy="3704149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269" name="Shape 269"/>
          <p:cNvSpPr txBox="1"/>
          <p:nvPr/>
        </p:nvSpPr>
        <p:spPr>
          <a:xfrm>
            <a:off x="5997200" y="2146650"/>
            <a:ext cx="2289874" cy="333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ctr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Radio Spectrum</a:t>
            </a:r>
          </a:p>
        </p:txBody>
      </p:sp>
      <p:sp>
        <p:nvSpPr>
          <p:cNvPr id="270" name="Shape 270"/>
          <p:cNvSpPr txBox="1"/>
          <p:nvPr/>
        </p:nvSpPr>
        <p:spPr>
          <a:xfrm>
            <a:off x="4307400" y="1723300"/>
            <a:ext cx="2048224" cy="312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ctr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spread spectrum</a:t>
            </a:r>
          </a:p>
        </p:txBody>
      </p:sp>
      <p:sp>
        <p:nvSpPr>
          <p:cNvPr id="271" name="Shape 271"/>
          <p:cNvSpPr/>
          <p:nvPr/>
        </p:nvSpPr>
        <p:spPr>
          <a:xfrm>
            <a:off x="8043325" y="6096000"/>
            <a:ext cx="1756825" cy="1248824"/>
          </a:xfrm>
          <a:prstGeom prst="rect">
            <a:avLst/>
          </a:prstGeom>
          <a:blipFill>
            <a:blip r:embed="rId25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41300" algn="l">
              <a:lnSpc>
                <a:spcPct val="1199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Classification of CDMA Systems</a:t>
            </a:r>
          </a:p>
        </p:txBody>
      </p:sp>
      <p:sp>
        <p:nvSpPr>
          <p:cNvPr id="278" name="Shape 278"/>
          <p:cNvSpPr/>
          <p:nvPr/>
        </p:nvSpPr>
        <p:spPr>
          <a:xfrm>
            <a:off x="211650" y="296325"/>
            <a:ext cx="945089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79" name="Shape 279"/>
          <p:cNvSpPr/>
          <p:nvPr/>
        </p:nvSpPr>
        <p:spPr>
          <a:xfrm>
            <a:off x="3783524" y="2667000"/>
            <a:ext cx="2307149" cy="135464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80" name="Shape 280"/>
          <p:cNvSpPr/>
          <p:nvPr/>
        </p:nvSpPr>
        <p:spPr>
          <a:xfrm>
            <a:off x="2868075" y="4392075"/>
            <a:ext cx="1037150" cy="78314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81" name="Shape 281"/>
          <p:cNvSpPr txBox="1"/>
          <p:nvPr/>
        </p:nvSpPr>
        <p:spPr>
          <a:xfrm>
            <a:off x="2986250" y="4459100"/>
            <a:ext cx="877000" cy="777812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 </a:t>
            </a:r>
          </a:p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</a:p>
        </p:txBody>
      </p:sp>
      <p:sp>
        <p:nvSpPr>
          <p:cNvPr id="282" name="Shape 282"/>
          <p:cNvSpPr/>
          <p:nvPr/>
        </p:nvSpPr>
        <p:spPr>
          <a:xfrm>
            <a:off x="6339400" y="4476750"/>
            <a:ext cx="1037150" cy="78314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83" name="Shape 283"/>
          <p:cNvSpPr txBox="1"/>
          <p:nvPr/>
        </p:nvSpPr>
        <p:spPr>
          <a:xfrm>
            <a:off x="6457575" y="4543775"/>
            <a:ext cx="877000" cy="777812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 </a:t>
            </a:r>
          </a:p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2000</a:t>
            </a:r>
          </a:p>
        </p:txBody>
      </p:sp>
      <p:sp>
        <p:nvSpPr>
          <p:cNvPr id="284" name="Shape 284"/>
          <p:cNvSpPr/>
          <p:nvPr/>
        </p:nvSpPr>
        <p:spPr>
          <a:xfrm>
            <a:off x="2275400" y="5154075"/>
            <a:ext cx="1037150" cy="69850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85" name="Shape 285"/>
          <p:cNvSpPr/>
          <p:nvPr/>
        </p:nvSpPr>
        <p:spPr>
          <a:xfrm>
            <a:off x="3291400" y="5164650"/>
            <a:ext cx="21150" cy="677325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286" name="Shape 286"/>
          <p:cNvSpPr/>
          <p:nvPr/>
        </p:nvSpPr>
        <p:spPr>
          <a:xfrm>
            <a:off x="3291400" y="5154075"/>
            <a:ext cx="1037150" cy="698500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287" name="Shape 287"/>
          <p:cNvSpPr txBox="1"/>
          <p:nvPr/>
        </p:nvSpPr>
        <p:spPr>
          <a:xfrm>
            <a:off x="1862650" y="5933700"/>
            <a:ext cx="598299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IS95</a:t>
            </a:r>
          </a:p>
        </p:txBody>
      </p:sp>
      <p:sp>
        <p:nvSpPr>
          <p:cNvPr id="288" name="Shape 288"/>
          <p:cNvSpPr txBox="1"/>
          <p:nvPr/>
        </p:nvSpPr>
        <p:spPr>
          <a:xfrm>
            <a:off x="2980950" y="5909025"/>
            <a:ext cx="767624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IS95B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3979325" y="5933700"/>
            <a:ext cx="120507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JSTD 008</a:t>
            </a:r>
          </a:p>
        </p:txBody>
      </p:sp>
      <p:sp>
        <p:nvSpPr>
          <p:cNvPr id="290" name="Shape 290"/>
          <p:cNvSpPr txBox="1"/>
          <p:nvPr/>
        </p:nvSpPr>
        <p:spPr>
          <a:xfrm>
            <a:off x="2443014" y="6790601"/>
            <a:ext cx="1557850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Narrow Band</a:t>
            </a:r>
          </a:p>
        </p:txBody>
      </p:sp>
      <p:sp>
        <p:nvSpPr>
          <p:cNvPr id="291" name="Shape 291"/>
          <p:cNvSpPr txBox="1"/>
          <p:nvPr/>
        </p:nvSpPr>
        <p:spPr>
          <a:xfrm>
            <a:off x="6198300" y="5723800"/>
            <a:ext cx="131797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Wide Band</a:t>
            </a:r>
          </a:p>
        </p:txBody>
      </p:sp>
      <p:sp>
        <p:nvSpPr>
          <p:cNvPr id="292" name="Shape 292"/>
          <p:cNvSpPr txBox="1"/>
          <p:nvPr/>
        </p:nvSpPr>
        <p:spPr>
          <a:xfrm>
            <a:off x="4574762" y="2980354"/>
            <a:ext cx="2108200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 SYSTEMS</a:t>
            </a:r>
          </a:p>
        </p:txBody>
      </p:sp>
      <p:sp>
        <p:nvSpPr>
          <p:cNvPr id="293" name="Shape 293"/>
          <p:cNvSpPr/>
          <p:nvPr/>
        </p:nvSpPr>
        <p:spPr>
          <a:xfrm>
            <a:off x="3884075" y="3630075"/>
            <a:ext cx="1037150" cy="783149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294" name="Shape 294"/>
          <p:cNvSpPr/>
          <p:nvPr/>
        </p:nvSpPr>
        <p:spPr>
          <a:xfrm>
            <a:off x="4984750" y="3630075"/>
            <a:ext cx="1375825" cy="952500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41300" algn="l">
              <a:lnSpc>
                <a:spcPct val="1199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Access in CDMA:</a:t>
            </a:r>
          </a:p>
          <a:p>
            <a:pPr marL="762000" marR="0" lvl="1" indent="-213077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Courier New"/>
              <a:buChar char="o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user is assigned a unique PN code.</a:t>
            </a:r>
          </a:p>
          <a:p>
            <a:pPr marL="762000" marR="0" lvl="1" indent="-213077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Courier New"/>
              <a:buChar char="o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user transmits its information by spreading with unique code.</a:t>
            </a:r>
          </a:p>
          <a:p>
            <a:pPr marL="762000" marR="0" lvl="1" indent="-213077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Courier New"/>
              <a:buChar char="o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 Sequence spread spectrum is used.</a:t>
            </a:r>
          </a:p>
          <a:p>
            <a:pPr marL="762000" marR="0" lvl="1" indent="-213077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Courier New"/>
              <a:buChar char="o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are seperated by code not by time slot and freq slot.</a:t>
            </a:r>
          </a:p>
          <a:p>
            <a:endParaRPr lang="en-US" sz="25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5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Shape 300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301" name="Shape 301"/>
          <p:cNvSpPr/>
          <p:nvPr/>
        </p:nvSpPr>
        <p:spPr>
          <a:xfrm>
            <a:off x="211650" y="296325"/>
            <a:ext cx="945089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41300" algn="l">
              <a:lnSpc>
                <a:spcPct val="1199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 of CDMA</a:t>
            </a:r>
          </a:p>
          <a:p>
            <a:pPr marL="762000" marR="0" lvl="1" indent="-213077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Courier New"/>
              <a:buChar char="o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share same </a:t>
            </a:r>
          </a:p>
          <a:p>
            <a:pPr marL="762000" marR="0" lvl="1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bandwidth</a:t>
            </a:r>
          </a:p>
          <a:p>
            <a:pPr marL="762000" marR="0" lvl="1" indent="-213077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Courier New"/>
              <a:buChar char="o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axis shows </a:t>
            </a:r>
          </a:p>
          <a:p>
            <a:pPr marL="762000" marR="0" lvl="1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cumulative signal strength </a:t>
            </a:r>
          </a:p>
          <a:p>
            <a:pPr marL="762000" marR="0" lvl="1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all users</a:t>
            </a:r>
          </a:p>
          <a:p>
            <a:endParaRPr lang="en-US" sz="25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Shape 308"/>
          <p:cNvSpPr/>
          <p:nvPr/>
        </p:nvSpPr>
        <p:spPr>
          <a:xfrm>
            <a:off x="211650" y="296325"/>
            <a:ext cx="945089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309" name="Shape 309"/>
          <p:cNvSpPr/>
          <p:nvPr/>
        </p:nvSpPr>
        <p:spPr>
          <a:xfrm>
            <a:off x="6307650" y="2624650"/>
            <a:ext cx="84650" cy="279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10" name="Shape 310"/>
          <p:cNvSpPr/>
          <p:nvPr/>
        </p:nvSpPr>
        <p:spPr>
          <a:xfrm>
            <a:off x="6350000" y="5376325"/>
            <a:ext cx="3302000" cy="8465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311" name="Shape 311"/>
          <p:cNvSpPr/>
          <p:nvPr/>
        </p:nvSpPr>
        <p:spPr>
          <a:xfrm>
            <a:off x="6339400" y="4815400"/>
            <a:ext cx="2984500" cy="61382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312" name="Shape 312"/>
          <p:cNvSpPr txBox="1"/>
          <p:nvPr/>
        </p:nvSpPr>
        <p:spPr>
          <a:xfrm>
            <a:off x="6457575" y="4882425"/>
            <a:ext cx="2824324" cy="555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1</a:t>
            </a:r>
          </a:p>
        </p:txBody>
      </p:sp>
      <p:sp>
        <p:nvSpPr>
          <p:cNvPr id="313" name="Shape 313"/>
          <p:cNvSpPr/>
          <p:nvPr/>
        </p:nvSpPr>
        <p:spPr>
          <a:xfrm>
            <a:off x="6339400" y="4222750"/>
            <a:ext cx="2984500" cy="613824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314" name="Shape 314"/>
          <p:cNvSpPr txBox="1"/>
          <p:nvPr/>
        </p:nvSpPr>
        <p:spPr>
          <a:xfrm>
            <a:off x="6457575" y="4289775"/>
            <a:ext cx="2824324" cy="555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Code2 </a:t>
            </a:r>
          </a:p>
        </p:txBody>
      </p:sp>
      <p:sp>
        <p:nvSpPr>
          <p:cNvPr id="315" name="Shape 315"/>
          <p:cNvSpPr/>
          <p:nvPr/>
        </p:nvSpPr>
        <p:spPr>
          <a:xfrm>
            <a:off x="6339400" y="3630075"/>
            <a:ext cx="2984500" cy="613824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316" name="Shape 316"/>
          <p:cNvSpPr txBox="1"/>
          <p:nvPr/>
        </p:nvSpPr>
        <p:spPr>
          <a:xfrm>
            <a:off x="6457575" y="3697100"/>
            <a:ext cx="2824324" cy="555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3</a:t>
            </a:r>
          </a:p>
        </p:txBody>
      </p:sp>
      <p:sp>
        <p:nvSpPr>
          <p:cNvPr id="317" name="Shape 317"/>
          <p:cNvSpPr/>
          <p:nvPr/>
        </p:nvSpPr>
        <p:spPr>
          <a:xfrm>
            <a:off x="6339400" y="3037400"/>
            <a:ext cx="2984500" cy="613824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318" name="Shape 318"/>
          <p:cNvSpPr txBox="1"/>
          <p:nvPr/>
        </p:nvSpPr>
        <p:spPr>
          <a:xfrm>
            <a:off x="6457575" y="3104425"/>
            <a:ext cx="2824324" cy="555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4</a:t>
            </a:r>
          </a:p>
        </p:txBody>
      </p:sp>
      <p:sp>
        <p:nvSpPr>
          <p:cNvPr id="319" name="Shape 319"/>
          <p:cNvSpPr txBox="1"/>
          <p:nvPr/>
        </p:nvSpPr>
        <p:spPr>
          <a:xfrm>
            <a:off x="8466650" y="5510375"/>
            <a:ext cx="1185350" cy="446276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Shape 320"/>
          <p:cNvSpPr txBox="1"/>
          <p:nvPr/>
        </p:nvSpPr>
        <p:spPr>
          <a:xfrm>
            <a:off x="5690300" y="3099150"/>
            <a:ext cx="633575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/>
          <p:nvPr/>
        </p:nvSpPr>
        <p:spPr>
          <a:xfrm>
            <a:off x="566200" y="1651324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30480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Architecture Of CDMA</a:t>
            </a:r>
          </a:p>
        </p:txBody>
      </p:sp>
      <p:sp>
        <p:nvSpPr>
          <p:cNvPr id="327" name="Shape 327"/>
          <p:cNvSpPr/>
          <p:nvPr/>
        </p:nvSpPr>
        <p:spPr>
          <a:xfrm>
            <a:off x="931325" y="550325"/>
            <a:ext cx="8731250" cy="115357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328" name="Shape 328"/>
          <p:cNvSpPr/>
          <p:nvPr/>
        </p:nvSpPr>
        <p:spPr>
          <a:xfrm>
            <a:off x="2698750" y="2529400"/>
            <a:ext cx="2730500" cy="366182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29" name="Shape 329"/>
          <p:cNvSpPr/>
          <p:nvPr/>
        </p:nvSpPr>
        <p:spPr>
          <a:xfrm>
            <a:off x="1354650" y="4476750"/>
            <a:ext cx="687900" cy="111122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330" name="Shape 330"/>
          <p:cNvSpPr txBox="1"/>
          <p:nvPr/>
        </p:nvSpPr>
        <p:spPr>
          <a:xfrm>
            <a:off x="1372300" y="5147025"/>
            <a:ext cx="887574" cy="3813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</a:t>
            </a:r>
          </a:p>
        </p:txBody>
      </p:sp>
      <p:sp>
        <p:nvSpPr>
          <p:cNvPr id="331" name="Shape 331"/>
          <p:cNvSpPr/>
          <p:nvPr/>
        </p:nvSpPr>
        <p:spPr>
          <a:xfrm>
            <a:off x="1270000" y="3894650"/>
            <a:ext cx="1121825" cy="507975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332" name="Shape 332"/>
          <p:cNvSpPr txBox="1"/>
          <p:nvPr/>
        </p:nvSpPr>
        <p:spPr>
          <a:xfrm>
            <a:off x="1372300" y="3945800"/>
            <a:ext cx="548899" cy="100898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</a:p>
        </p:txBody>
      </p:sp>
      <p:sp>
        <p:nvSpPr>
          <p:cNvPr id="333" name="Shape 333"/>
          <p:cNvSpPr/>
          <p:nvPr/>
        </p:nvSpPr>
        <p:spPr>
          <a:xfrm>
            <a:off x="2783400" y="4825975"/>
            <a:ext cx="857250" cy="857250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334" name="Shape 334"/>
          <p:cNvSpPr txBox="1"/>
          <p:nvPr/>
        </p:nvSpPr>
        <p:spPr>
          <a:xfrm>
            <a:off x="2901575" y="4967100"/>
            <a:ext cx="622999" cy="100898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BTS</a:t>
            </a:r>
          </a:p>
        </p:txBody>
      </p:sp>
      <p:sp>
        <p:nvSpPr>
          <p:cNvPr id="335" name="Shape 335"/>
          <p:cNvSpPr/>
          <p:nvPr/>
        </p:nvSpPr>
        <p:spPr>
          <a:xfrm>
            <a:off x="2783400" y="3386650"/>
            <a:ext cx="857250" cy="857250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336" name="Shape 336"/>
          <p:cNvSpPr txBox="1"/>
          <p:nvPr/>
        </p:nvSpPr>
        <p:spPr>
          <a:xfrm>
            <a:off x="2901575" y="3527775"/>
            <a:ext cx="622999" cy="100898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BTS</a:t>
            </a:r>
          </a:p>
        </p:txBody>
      </p:sp>
      <p:sp>
        <p:nvSpPr>
          <p:cNvPr id="337" name="Shape 337"/>
          <p:cNvSpPr/>
          <p:nvPr/>
        </p:nvSpPr>
        <p:spPr>
          <a:xfrm>
            <a:off x="4392075" y="4825975"/>
            <a:ext cx="941899" cy="857250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338" name="Shape 338"/>
          <p:cNvSpPr txBox="1"/>
          <p:nvPr/>
        </p:nvSpPr>
        <p:spPr>
          <a:xfrm>
            <a:off x="4510250" y="4967100"/>
            <a:ext cx="707650" cy="100898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</a:p>
        </p:txBody>
      </p:sp>
      <p:sp>
        <p:nvSpPr>
          <p:cNvPr id="339" name="Shape 339"/>
          <p:cNvSpPr/>
          <p:nvPr/>
        </p:nvSpPr>
        <p:spPr>
          <a:xfrm>
            <a:off x="4392075" y="2794000"/>
            <a:ext cx="941899" cy="941899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340" name="Shape 340"/>
          <p:cNvSpPr txBox="1"/>
          <p:nvPr/>
        </p:nvSpPr>
        <p:spPr>
          <a:xfrm>
            <a:off x="4510250" y="2935100"/>
            <a:ext cx="707650" cy="100898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</a:p>
        </p:txBody>
      </p:sp>
      <p:sp>
        <p:nvSpPr>
          <p:cNvPr id="341" name="Shape 341"/>
          <p:cNvSpPr/>
          <p:nvPr/>
        </p:nvSpPr>
        <p:spPr>
          <a:xfrm>
            <a:off x="6783900" y="3630075"/>
            <a:ext cx="1185324" cy="1195899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sp>
      <p:sp>
        <p:nvSpPr>
          <p:cNvPr id="342" name="Shape 342"/>
          <p:cNvSpPr txBox="1"/>
          <p:nvPr/>
        </p:nvSpPr>
        <p:spPr>
          <a:xfrm>
            <a:off x="6898550" y="3866425"/>
            <a:ext cx="859349" cy="979299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</a:p>
        </p:txBody>
      </p:sp>
      <p:sp>
        <p:nvSpPr>
          <p:cNvPr id="343" name="Shape 343"/>
          <p:cNvSpPr/>
          <p:nvPr/>
        </p:nvSpPr>
        <p:spPr>
          <a:xfrm>
            <a:off x="7376575" y="2614075"/>
            <a:ext cx="1037150" cy="698500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</p:sp>
      <p:sp>
        <p:nvSpPr>
          <p:cNvPr id="344" name="Shape 344"/>
          <p:cNvSpPr txBox="1"/>
          <p:nvPr/>
        </p:nvSpPr>
        <p:spPr>
          <a:xfrm>
            <a:off x="7491225" y="2857500"/>
            <a:ext cx="877000" cy="54259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VLR</a:t>
            </a:r>
          </a:p>
        </p:txBody>
      </p:sp>
      <p:sp>
        <p:nvSpPr>
          <p:cNvPr id="345" name="Shape 345"/>
          <p:cNvSpPr/>
          <p:nvPr/>
        </p:nvSpPr>
        <p:spPr>
          <a:xfrm>
            <a:off x="5852575" y="5238750"/>
            <a:ext cx="1037150" cy="698500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</p:sp>
      <p:sp>
        <p:nvSpPr>
          <p:cNvPr id="346" name="Shape 346"/>
          <p:cNvSpPr txBox="1"/>
          <p:nvPr/>
        </p:nvSpPr>
        <p:spPr>
          <a:xfrm>
            <a:off x="5967225" y="5482150"/>
            <a:ext cx="877000" cy="54259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EIR</a:t>
            </a:r>
          </a:p>
        </p:txBody>
      </p:sp>
      <p:sp>
        <p:nvSpPr>
          <p:cNvPr id="347" name="Shape 347"/>
          <p:cNvSpPr/>
          <p:nvPr/>
        </p:nvSpPr>
        <p:spPr>
          <a:xfrm>
            <a:off x="5852575" y="2614075"/>
            <a:ext cx="1037150" cy="698500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</p:sp>
      <p:sp>
        <p:nvSpPr>
          <p:cNvPr id="348" name="Shape 348"/>
          <p:cNvSpPr txBox="1"/>
          <p:nvPr/>
        </p:nvSpPr>
        <p:spPr>
          <a:xfrm>
            <a:off x="5967225" y="2857500"/>
            <a:ext cx="877000" cy="54259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HLR</a:t>
            </a:r>
          </a:p>
        </p:txBody>
      </p:sp>
      <p:sp>
        <p:nvSpPr>
          <p:cNvPr id="349" name="Shape 349"/>
          <p:cNvSpPr/>
          <p:nvPr/>
        </p:nvSpPr>
        <p:spPr>
          <a:xfrm>
            <a:off x="7376575" y="5238750"/>
            <a:ext cx="1037150" cy="698500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</p:sp>
      <p:sp>
        <p:nvSpPr>
          <p:cNvPr id="350" name="Shape 350"/>
          <p:cNvSpPr txBox="1"/>
          <p:nvPr/>
        </p:nvSpPr>
        <p:spPr>
          <a:xfrm>
            <a:off x="7491225" y="5482150"/>
            <a:ext cx="877000" cy="54259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</a:p>
        </p:txBody>
      </p:sp>
      <p:sp>
        <p:nvSpPr>
          <p:cNvPr id="351" name="Shape 351"/>
          <p:cNvSpPr/>
          <p:nvPr/>
        </p:nvSpPr>
        <p:spPr>
          <a:xfrm>
            <a:off x="5937250" y="2529400"/>
            <a:ext cx="10575" cy="21150"/>
          </a:xfrm>
          <a:prstGeom prst="rect">
            <a:avLst/>
          </a:prstGeom>
          <a:blipFill>
            <a:blip r:embed="rId12"/>
            <a:stretch>
              <a:fillRect/>
            </a:stretch>
          </a:blipFill>
        </p:spPr>
      </p:sp>
      <p:sp>
        <p:nvSpPr>
          <p:cNvPr id="352" name="Shape 352"/>
          <p:cNvSpPr/>
          <p:nvPr/>
        </p:nvSpPr>
        <p:spPr>
          <a:xfrm>
            <a:off x="5767900" y="2529400"/>
            <a:ext cx="2730500" cy="3661824"/>
          </a:xfrm>
          <a:prstGeom prst="rect">
            <a:avLst/>
          </a:prstGeom>
          <a:blipFill>
            <a:blip r:embed="rId13"/>
            <a:stretch>
              <a:fillRect/>
            </a:stretch>
          </a:blipFill>
        </p:spPr>
      </p:sp>
      <p:sp>
        <p:nvSpPr>
          <p:cNvPr id="353" name="Shape 353"/>
          <p:cNvSpPr/>
          <p:nvPr/>
        </p:nvSpPr>
        <p:spPr>
          <a:xfrm>
            <a:off x="2444750" y="2455325"/>
            <a:ext cx="105824" cy="3725325"/>
          </a:xfrm>
          <a:prstGeom prst="rect">
            <a:avLst/>
          </a:prstGeom>
          <a:blipFill>
            <a:blip r:embed="rId14"/>
            <a:stretch>
              <a:fillRect/>
            </a:stretch>
          </a:blipFill>
        </p:spPr>
      </p:sp>
      <p:sp>
        <p:nvSpPr>
          <p:cNvPr id="354" name="Shape 354"/>
          <p:cNvSpPr/>
          <p:nvPr/>
        </p:nvSpPr>
        <p:spPr>
          <a:xfrm>
            <a:off x="5513900" y="2444725"/>
            <a:ext cx="169325" cy="3831149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</p:sp>
      <p:sp>
        <p:nvSpPr>
          <p:cNvPr id="355" name="Shape 355"/>
          <p:cNvSpPr/>
          <p:nvPr/>
        </p:nvSpPr>
        <p:spPr>
          <a:xfrm>
            <a:off x="3545400" y="3968725"/>
            <a:ext cx="867824" cy="1375825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</p:sp>
      <p:sp>
        <p:nvSpPr>
          <p:cNvPr id="356" name="Shape 356"/>
          <p:cNvSpPr/>
          <p:nvPr/>
        </p:nvSpPr>
        <p:spPr>
          <a:xfrm>
            <a:off x="3556000" y="5323400"/>
            <a:ext cx="846650" cy="21150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</p:sp>
      <p:sp>
        <p:nvSpPr>
          <p:cNvPr id="357" name="Shape 357"/>
          <p:cNvSpPr/>
          <p:nvPr/>
        </p:nvSpPr>
        <p:spPr>
          <a:xfrm>
            <a:off x="5238750" y="3291400"/>
            <a:ext cx="1545149" cy="952500"/>
          </a:xfrm>
          <a:prstGeom prst="rect">
            <a:avLst/>
          </a:prstGeom>
          <a:blipFill>
            <a:blip r:embed="rId18"/>
            <a:stretch>
              <a:fillRect/>
            </a:stretch>
          </a:blipFill>
        </p:spPr>
      </p:sp>
      <p:sp>
        <p:nvSpPr>
          <p:cNvPr id="358" name="Shape 358"/>
          <p:cNvSpPr/>
          <p:nvPr/>
        </p:nvSpPr>
        <p:spPr>
          <a:xfrm>
            <a:off x="5238750" y="4646075"/>
            <a:ext cx="1545149" cy="867824"/>
          </a:xfrm>
          <a:prstGeom prst="rect">
            <a:avLst/>
          </a:prstGeom>
          <a:blipFill>
            <a:blip r:embed="rId19"/>
            <a:stretch>
              <a:fillRect/>
            </a:stretch>
          </a:blipFill>
        </p:spPr>
      </p:sp>
      <p:sp>
        <p:nvSpPr>
          <p:cNvPr id="359" name="Shape 359"/>
          <p:cNvSpPr txBox="1"/>
          <p:nvPr/>
        </p:nvSpPr>
        <p:spPr>
          <a:xfrm>
            <a:off x="5436300" y="6147150"/>
            <a:ext cx="321374" cy="4818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360" name="Shape 360"/>
          <p:cNvSpPr/>
          <p:nvPr/>
        </p:nvSpPr>
        <p:spPr>
          <a:xfrm>
            <a:off x="1947325" y="4900075"/>
            <a:ext cx="338650" cy="21150"/>
          </a:xfrm>
          <a:prstGeom prst="rect">
            <a:avLst/>
          </a:prstGeom>
          <a:blipFill>
            <a:blip r:embed="rId20"/>
            <a:stretch>
              <a:fillRect/>
            </a:stretch>
          </a:blipFill>
        </p:spPr>
      </p:sp>
      <p:sp>
        <p:nvSpPr>
          <p:cNvPr id="361" name="Shape 361"/>
          <p:cNvSpPr/>
          <p:nvPr/>
        </p:nvSpPr>
        <p:spPr>
          <a:xfrm>
            <a:off x="2106075" y="4900075"/>
            <a:ext cx="190500" cy="105824"/>
          </a:xfrm>
          <a:prstGeom prst="rect">
            <a:avLst/>
          </a:prstGeom>
          <a:blipFill>
            <a:blip r:embed="rId21"/>
            <a:stretch>
              <a:fillRect/>
            </a:stretch>
          </a:blipFill>
        </p:spPr>
      </p:sp>
      <p:sp>
        <p:nvSpPr>
          <p:cNvPr id="362" name="Shape 362"/>
          <p:cNvSpPr/>
          <p:nvPr/>
        </p:nvSpPr>
        <p:spPr>
          <a:xfrm>
            <a:off x="2116650" y="4984725"/>
            <a:ext cx="423325" cy="21150"/>
          </a:xfrm>
          <a:prstGeom prst="rect">
            <a:avLst/>
          </a:prstGeom>
          <a:blipFill>
            <a:blip r:embed="rId22"/>
            <a:stretch>
              <a:fillRect/>
            </a:stretch>
          </a:blipFill>
        </p:spPr>
      </p:sp>
      <p:sp>
        <p:nvSpPr>
          <p:cNvPr id="363" name="Shape 363"/>
          <p:cNvSpPr/>
          <p:nvPr/>
        </p:nvSpPr>
        <p:spPr>
          <a:xfrm>
            <a:off x="2275400" y="4984725"/>
            <a:ext cx="275149" cy="105824"/>
          </a:xfrm>
          <a:prstGeom prst="rect">
            <a:avLst/>
          </a:prstGeom>
          <a:blipFill>
            <a:blip r:embed="rId23"/>
            <a:stretch>
              <a:fillRect/>
            </a:stretch>
          </a:blipFill>
        </p:spPr>
      </p:sp>
      <p:sp>
        <p:nvSpPr>
          <p:cNvPr id="364" name="Shape 364"/>
          <p:cNvSpPr/>
          <p:nvPr/>
        </p:nvSpPr>
        <p:spPr>
          <a:xfrm>
            <a:off x="2275400" y="5069400"/>
            <a:ext cx="529150" cy="105824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365" name="Shape 365"/>
          <p:cNvSpPr/>
          <p:nvPr/>
        </p:nvSpPr>
        <p:spPr>
          <a:xfrm>
            <a:off x="2275400" y="5069400"/>
            <a:ext cx="433900" cy="126975"/>
          </a:xfrm>
          <a:prstGeom prst="rect">
            <a:avLst/>
          </a:prstGeom>
          <a:blipFill>
            <a:blip r:embed="rId25"/>
            <a:stretch>
              <a:fillRect/>
            </a:stretch>
          </a:blipFill>
        </p:spPr>
      </p:sp>
      <p:sp>
        <p:nvSpPr>
          <p:cNvPr id="366" name="Shape 366"/>
          <p:cNvSpPr txBox="1"/>
          <p:nvPr/>
        </p:nvSpPr>
        <p:spPr>
          <a:xfrm>
            <a:off x="2286000" y="6147150"/>
            <a:ext cx="1259400" cy="569258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</a:t>
            </a:r>
          </a:p>
        </p:txBody>
      </p:sp>
      <p:sp>
        <p:nvSpPr>
          <p:cNvPr id="367" name="Shape 367"/>
          <p:cNvSpPr/>
          <p:nvPr/>
        </p:nvSpPr>
        <p:spPr>
          <a:xfrm>
            <a:off x="3968750" y="3894650"/>
            <a:ext cx="105824" cy="1778000"/>
          </a:xfrm>
          <a:prstGeom prst="rect">
            <a:avLst/>
          </a:prstGeom>
          <a:blipFill>
            <a:blip r:embed="rId26"/>
            <a:stretch>
              <a:fillRect/>
            </a:stretch>
          </a:blipFill>
        </p:spPr>
      </p:sp>
      <p:sp>
        <p:nvSpPr>
          <p:cNvPr id="368" name="Shape 368"/>
          <p:cNvSpPr txBox="1"/>
          <p:nvPr/>
        </p:nvSpPr>
        <p:spPr>
          <a:xfrm>
            <a:off x="3658299" y="5639150"/>
            <a:ext cx="1115637" cy="569258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Abis</a:t>
            </a:r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Shape 369"/>
          <p:cNvSpPr/>
          <p:nvPr/>
        </p:nvSpPr>
        <p:spPr>
          <a:xfrm>
            <a:off x="8635975" y="3640637"/>
            <a:ext cx="1121825" cy="1375825"/>
          </a:xfrm>
          <a:prstGeom prst="rect">
            <a:avLst/>
          </a:prstGeom>
          <a:blipFill>
            <a:blip r:embed="rId27"/>
            <a:stretch>
              <a:fillRect/>
            </a:stretch>
          </a:blipFill>
        </p:spPr>
      </p:sp>
      <p:sp>
        <p:nvSpPr>
          <p:cNvPr id="370" name="Shape 370"/>
          <p:cNvSpPr txBox="1"/>
          <p:nvPr/>
        </p:nvSpPr>
        <p:spPr>
          <a:xfrm>
            <a:off x="8635975" y="3829512"/>
            <a:ext cx="1416425" cy="1061573"/>
          </a:xfrm>
          <a:prstGeom prst="rect">
            <a:avLst/>
          </a:prstGeom>
        </p:spPr>
        <p:txBody>
          <a:bodyPr wrap="square"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PSTN,</a:t>
            </a:r>
          </a:p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ISDN</a:t>
            </a:r>
          </a:p>
        </p:txBody>
      </p:sp>
      <p:sp>
        <p:nvSpPr>
          <p:cNvPr id="371" name="Shape 371"/>
          <p:cNvSpPr/>
          <p:nvPr/>
        </p:nvSpPr>
        <p:spPr>
          <a:xfrm>
            <a:off x="7789325" y="4307400"/>
            <a:ext cx="846650" cy="21150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</p:sp>
      <p:sp>
        <p:nvSpPr>
          <p:cNvPr id="372" name="Shape 372"/>
          <p:cNvSpPr txBox="1"/>
          <p:nvPr/>
        </p:nvSpPr>
        <p:spPr>
          <a:xfrm>
            <a:off x="938013" y="7069999"/>
            <a:ext cx="2209074" cy="487313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2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station</a:t>
            </a:r>
          </a:p>
        </p:txBody>
      </p:sp>
      <p:sp>
        <p:nvSpPr>
          <p:cNvPr id="373" name="Shape 373"/>
          <p:cNvSpPr txBox="1"/>
          <p:nvPr/>
        </p:nvSpPr>
        <p:spPr>
          <a:xfrm>
            <a:off x="3358840" y="6774657"/>
            <a:ext cx="2326900" cy="7535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2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Station Subsystem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6498125" y="6630499"/>
            <a:ext cx="2190750" cy="897682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2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</a:p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2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Subsystem 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2259874" y="6654049"/>
            <a:ext cx="570075" cy="4148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2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3602110" y="6325949"/>
            <a:ext cx="1120074" cy="487313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2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BSS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6969425" y="6247611"/>
            <a:ext cx="1006850" cy="487313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2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 txBox="1"/>
          <p:nvPr/>
        </p:nvSpPr>
        <p:spPr>
          <a:xfrm>
            <a:off x="1287625" y="1998475"/>
            <a:ext cx="8338249" cy="1836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48355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7264"/>
              <a:buFont typeface="Arial"/>
              <a:buChar char="•"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Station (MS): Two Blocks</a:t>
            </a:r>
          </a:p>
          <a:p>
            <a:pPr marL="762000" marR="0" lvl="1" indent="-220133" algn="l">
              <a:lnSpc>
                <a:spcPct val="108035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Courier New"/>
              <a:buChar char="o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Equipment (ME)</a:t>
            </a:r>
          </a:p>
          <a:p>
            <a:pPr marL="762000" marR="0" lvl="1" indent="-220133" algn="l">
              <a:lnSpc>
                <a:spcPct val="108035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Courier New"/>
              <a:buChar char="o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Subscribers Identity Module (SIM)</a:t>
            </a:r>
          </a:p>
          <a:p>
            <a:endParaRPr lang="en-US"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Shape 383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384" name="Shape 384"/>
          <p:cNvSpPr/>
          <p:nvPr/>
        </p:nvSpPr>
        <p:spPr>
          <a:xfrm>
            <a:off x="222250" y="201075"/>
            <a:ext cx="9440324" cy="1386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385" name="Shape 385"/>
          <p:cNvSpPr txBox="1"/>
          <p:nvPr/>
        </p:nvSpPr>
        <p:spPr>
          <a:xfrm>
            <a:off x="2218950" y="3522475"/>
            <a:ext cx="6475574" cy="3614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50800" algn="l">
              <a:lnSpc>
                <a:spcPct val="120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358"/>
              <a:buFont typeface="Arial"/>
              <a:buNone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 of Mobile Station:</a:t>
            </a:r>
          </a:p>
          <a:p>
            <a:pPr marL="381000" marR="0" lvl="0" indent="-50800" algn="l">
              <a:lnSpc>
                <a:spcPct val="120089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ct val="100358"/>
              <a:buFont typeface="Arial"/>
              <a:buNone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Personal Mobility</a:t>
            </a:r>
          </a:p>
          <a:p>
            <a:pPr marL="381000" marR="0" lvl="0" indent="-50800" algn="l">
              <a:lnSpc>
                <a:spcPct val="120089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ct val="100358"/>
              <a:buFont typeface="Arial"/>
              <a:buNone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IMEI (International Mobile Equipment Identity)</a:t>
            </a:r>
          </a:p>
          <a:p>
            <a:pPr marL="381000" marR="0" lvl="0" indent="-50800" algn="l">
              <a:lnSpc>
                <a:spcPct val="120089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ct val="100358"/>
              <a:buFont typeface="Arial"/>
              <a:buNone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IMSI (International Mobile Subscriber Identity)</a:t>
            </a:r>
          </a:p>
          <a:p>
            <a:endParaRPr lang="en-US" sz="31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41300" algn="l">
              <a:lnSpc>
                <a:spcPct val="1199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Station Subsystem (BSS)</a:t>
            </a:r>
          </a:p>
          <a:p>
            <a:pPr marL="762000" marR="0" lvl="1" indent="-213077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Courier New"/>
              <a:buChar char="o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Transceiver Station (BTS)</a:t>
            </a:r>
          </a:p>
          <a:p>
            <a:pPr marL="762000" marR="0" lvl="1" indent="-213077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Courier New"/>
              <a:buChar char="o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Station Controller (BSC)</a:t>
            </a:r>
          </a:p>
        </p:txBody>
      </p:sp>
      <p:sp>
        <p:nvSpPr>
          <p:cNvPr id="391" name="Shape 391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392" name="Shape 392"/>
          <p:cNvSpPr/>
          <p:nvPr/>
        </p:nvSpPr>
        <p:spPr>
          <a:xfrm>
            <a:off x="222250" y="201075"/>
            <a:ext cx="9440324" cy="1386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393" name="Shape 393"/>
          <p:cNvSpPr/>
          <p:nvPr/>
        </p:nvSpPr>
        <p:spPr>
          <a:xfrm>
            <a:off x="6138325" y="3630075"/>
            <a:ext cx="10575" cy="211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94" name="Shape 394"/>
          <p:cNvSpPr/>
          <p:nvPr/>
        </p:nvSpPr>
        <p:spPr>
          <a:xfrm>
            <a:off x="3037400" y="4053400"/>
            <a:ext cx="1195899" cy="103715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395" name="Shape 395"/>
          <p:cNvSpPr/>
          <p:nvPr/>
        </p:nvSpPr>
        <p:spPr>
          <a:xfrm>
            <a:off x="3037400" y="4646075"/>
            <a:ext cx="3323149" cy="146047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396" name="Shape 396"/>
          <p:cNvSpPr/>
          <p:nvPr/>
        </p:nvSpPr>
        <p:spPr>
          <a:xfrm>
            <a:off x="3884075" y="4561400"/>
            <a:ext cx="3492500" cy="1037150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397" name="Shape 397"/>
          <p:cNvSpPr txBox="1"/>
          <p:nvPr/>
        </p:nvSpPr>
        <p:spPr>
          <a:xfrm>
            <a:off x="6457575" y="4628425"/>
            <a:ext cx="877000" cy="979299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</a:p>
        </p:txBody>
      </p:sp>
      <p:sp>
        <p:nvSpPr>
          <p:cNvPr id="398" name="Shape 398"/>
          <p:cNvSpPr/>
          <p:nvPr/>
        </p:nvSpPr>
        <p:spPr>
          <a:xfrm>
            <a:off x="4572000" y="5069400"/>
            <a:ext cx="1778000" cy="21150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399" name="Shape 399"/>
          <p:cNvSpPr/>
          <p:nvPr/>
        </p:nvSpPr>
        <p:spPr>
          <a:xfrm>
            <a:off x="3714750" y="5069400"/>
            <a:ext cx="2645825" cy="613824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/>
          <p:nvPr/>
        </p:nvSpPr>
        <p:spPr>
          <a:xfrm>
            <a:off x="497400" y="296325"/>
            <a:ext cx="916514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406" name="Shape 406"/>
          <p:cNvSpPr/>
          <p:nvPr/>
        </p:nvSpPr>
        <p:spPr>
          <a:xfrm>
            <a:off x="1193800" y="1601688"/>
            <a:ext cx="3407825" cy="179914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07" name="Shape 407"/>
          <p:cNvSpPr txBox="1"/>
          <p:nvPr/>
        </p:nvSpPr>
        <p:spPr>
          <a:xfrm>
            <a:off x="3717200" y="2268203"/>
            <a:ext cx="884425" cy="569258"/>
          </a:xfrm>
          <a:prstGeom prst="rect">
            <a:avLst/>
          </a:prstGeom>
        </p:spPr>
        <p:txBody>
          <a:bodyPr wrap="square"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</a:p>
        </p:txBody>
      </p:sp>
      <p:sp>
        <p:nvSpPr>
          <p:cNvPr id="408" name="Shape 408"/>
          <p:cNvSpPr txBox="1"/>
          <p:nvPr/>
        </p:nvSpPr>
        <p:spPr>
          <a:xfrm>
            <a:off x="56327" y="3657600"/>
            <a:ext cx="10144313" cy="3769109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spcAft>
                <a:spcPts val="0"/>
              </a:spcAft>
              <a:buNone/>
            </a:pPr>
            <a:r>
              <a:rPr lang="en-US" sz="266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BTS : Base </a:t>
            </a:r>
            <a:r>
              <a:rPr lang="en-US" sz="2666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Tranceiver</a:t>
            </a:r>
            <a:r>
              <a:rPr lang="en-US" sz="266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station</a:t>
            </a:r>
          </a:p>
          <a:p>
            <a:pPr marL="0" marR="0" indent="0" algn="l"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It defines the cell .</a:t>
            </a:r>
          </a:p>
          <a:p>
            <a:pPr marL="0" marR="0" indent="0" algn="l"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It handles the radio link protocol with the mobile </a:t>
            </a:r>
            <a:r>
              <a:rPr lang="en-US" sz="2666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station</a:t>
            </a:r>
            <a:endParaRPr lang="id-ID" sz="2666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indent="0" algn="l">
              <a:spcAft>
                <a:spcPts val="0"/>
              </a:spcAft>
              <a:buNone/>
            </a:pPr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indent="0" algn="l">
              <a:spcAft>
                <a:spcPts val="0"/>
              </a:spcAft>
              <a:buNone/>
            </a:pPr>
            <a:r>
              <a:rPr lang="en-US" sz="266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BSC: Base station Controller</a:t>
            </a:r>
          </a:p>
          <a:p>
            <a:pPr marL="0" marR="0" indent="0" algn="l"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It manages radio resources for one or more BTS.</a:t>
            </a:r>
          </a:p>
          <a:p>
            <a:pPr marL="0" marR="0" indent="0" algn="l"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Allocation and </a:t>
            </a:r>
            <a:r>
              <a:rPr lang="en-US" sz="266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Deallocation</a:t>
            </a: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channels.</a:t>
            </a:r>
          </a:p>
          <a:p>
            <a:pPr marL="0" marR="0" indent="0" algn="l"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Transmitter power control.</a:t>
            </a:r>
          </a:p>
          <a:p>
            <a:pPr marL="0" marR="0" indent="0" algn="l"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Handoff control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183" y="1026979"/>
            <a:ext cx="109061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/>
          <p:nvPr/>
        </p:nvSpPr>
        <p:spPr>
          <a:xfrm>
            <a:off x="1372300" y="4369150"/>
            <a:ext cx="7745575" cy="276787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20133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4609"/>
              <a:buFont typeface="Arial"/>
              <a:buChar char="•"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Subsystem</a:t>
            </a:r>
          </a:p>
          <a:p>
            <a:pPr marL="762000" marR="0" lvl="1" indent="-220133" algn="l">
              <a:lnSpc>
                <a:spcPct val="119791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Courier New"/>
              <a:buChar char="o"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MSC: Mobile Switching Center</a:t>
            </a:r>
          </a:p>
          <a:p>
            <a:pPr marL="762000" marR="0" lvl="1" indent="-220133" algn="l">
              <a:lnSpc>
                <a:spcPct val="119791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Courier New"/>
              <a:buChar char="o"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HLR: Home Location Register</a:t>
            </a:r>
          </a:p>
          <a:p>
            <a:pPr marL="762000" marR="0" lvl="1" indent="-220133" algn="l">
              <a:lnSpc>
                <a:spcPct val="119791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Courier New"/>
              <a:buChar char="o"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VLR: Visitor Location register</a:t>
            </a:r>
          </a:p>
          <a:p>
            <a:pPr marL="762000" marR="0" lvl="1" indent="-220133" algn="l">
              <a:lnSpc>
                <a:spcPct val="119791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Courier New"/>
              <a:buChar char="o"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AuC: Authentication Center</a:t>
            </a:r>
          </a:p>
          <a:p>
            <a:pPr marL="762000" marR="0" lvl="1" indent="-220133" algn="l">
              <a:lnSpc>
                <a:spcPct val="119791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765"/>
              <a:buFont typeface="Courier New"/>
              <a:buChar char="o"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EIR: Equipment Identity Register</a:t>
            </a:r>
          </a:p>
        </p:txBody>
      </p:sp>
      <p:sp>
        <p:nvSpPr>
          <p:cNvPr id="414" name="Shape 414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415" name="Shape 415"/>
          <p:cNvSpPr/>
          <p:nvPr/>
        </p:nvSpPr>
        <p:spPr>
          <a:xfrm>
            <a:off x="211650" y="296325"/>
            <a:ext cx="945089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416" name="Shape 416"/>
          <p:cNvSpPr/>
          <p:nvPr/>
        </p:nvSpPr>
        <p:spPr>
          <a:xfrm>
            <a:off x="1428750" y="2794000"/>
            <a:ext cx="772574" cy="6032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17" name="Shape 417"/>
          <p:cNvSpPr txBox="1"/>
          <p:nvPr/>
        </p:nvSpPr>
        <p:spPr>
          <a:xfrm>
            <a:off x="1309875" y="2870332"/>
            <a:ext cx="891449" cy="569258"/>
          </a:xfrm>
          <a:prstGeom prst="rect">
            <a:avLst/>
          </a:prstGeom>
        </p:spPr>
        <p:txBody>
          <a:bodyPr wrap="square"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</a:p>
        </p:txBody>
      </p:sp>
      <p:sp>
        <p:nvSpPr>
          <p:cNvPr id="418" name="Shape 418"/>
          <p:cNvSpPr/>
          <p:nvPr/>
        </p:nvSpPr>
        <p:spPr>
          <a:xfrm>
            <a:off x="3640650" y="2698750"/>
            <a:ext cx="1100650" cy="85725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419" name="Shape 419"/>
          <p:cNvSpPr txBox="1"/>
          <p:nvPr/>
        </p:nvSpPr>
        <p:spPr>
          <a:xfrm>
            <a:off x="3316838" y="2895575"/>
            <a:ext cx="1543400" cy="569258"/>
          </a:xfrm>
          <a:prstGeom prst="rect">
            <a:avLst/>
          </a:prstGeom>
        </p:spPr>
        <p:txBody>
          <a:bodyPr wrap="square"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</a:p>
        </p:txBody>
      </p:sp>
      <p:sp>
        <p:nvSpPr>
          <p:cNvPr id="420" name="Shape 420"/>
          <p:cNvSpPr/>
          <p:nvPr/>
        </p:nvSpPr>
        <p:spPr>
          <a:xfrm>
            <a:off x="4392075" y="2190750"/>
            <a:ext cx="846650" cy="52915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421" name="Shape 421"/>
          <p:cNvSpPr txBox="1"/>
          <p:nvPr/>
        </p:nvSpPr>
        <p:spPr>
          <a:xfrm>
            <a:off x="4190975" y="2224742"/>
            <a:ext cx="1257650" cy="569258"/>
          </a:xfrm>
          <a:prstGeom prst="rect">
            <a:avLst/>
          </a:prstGeom>
        </p:spPr>
        <p:txBody>
          <a:bodyPr wrap="square"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VLR</a:t>
            </a:r>
          </a:p>
        </p:txBody>
      </p:sp>
      <p:sp>
        <p:nvSpPr>
          <p:cNvPr id="422" name="Shape 422"/>
          <p:cNvSpPr/>
          <p:nvPr/>
        </p:nvSpPr>
        <p:spPr>
          <a:xfrm>
            <a:off x="2952750" y="3545400"/>
            <a:ext cx="846650" cy="52915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423" name="Shape 423"/>
          <p:cNvSpPr txBox="1"/>
          <p:nvPr/>
        </p:nvSpPr>
        <p:spPr>
          <a:xfrm>
            <a:off x="3070925" y="3634690"/>
            <a:ext cx="690025" cy="54259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EIR</a:t>
            </a:r>
          </a:p>
        </p:txBody>
      </p:sp>
      <p:sp>
        <p:nvSpPr>
          <p:cNvPr id="424" name="Shape 424"/>
          <p:cNvSpPr/>
          <p:nvPr/>
        </p:nvSpPr>
        <p:spPr>
          <a:xfrm>
            <a:off x="2952750" y="2190750"/>
            <a:ext cx="931325" cy="698500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425" name="Shape 425"/>
          <p:cNvSpPr txBox="1"/>
          <p:nvPr/>
        </p:nvSpPr>
        <p:spPr>
          <a:xfrm>
            <a:off x="3070925" y="2434150"/>
            <a:ext cx="774700" cy="54259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HLR</a:t>
            </a:r>
          </a:p>
        </p:txBody>
      </p:sp>
      <p:sp>
        <p:nvSpPr>
          <p:cNvPr id="426" name="Shape 426"/>
          <p:cNvSpPr/>
          <p:nvPr/>
        </p:nvSpPr>
        <p:spPr>
          <a:xfrm>
            <a:off x="4307400" y="3545400"/>
            <a:ext cx="1016000" cy="529150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427" name="Shape 427"/>
          <p:cNvSpPr txBox="1"/>
          <p:nvPr/>
        </p:nvSpPr>
        <p:spPr>
          <a:xfrm>
            <a:off x="4414936" y="3630740"/>
            <a:ext cx="859349" cy="54259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endParaRPr lang="en-US" sz="266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Shape 428"/>
          <p:cNvSpPr/>
          <p:nvPr/>
        </p:nvSpPr>
        <p:spPr>
          <a:xfrm>
            <a:off x="2889250" y="1852075"/>
            <a:ext cx="10575" cy="21150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429" name="Shape 429"/>
          <p:cNvSpPr/>
          <p:nvPr/>
        </p:nvSpPr>
        <p:spPr>
          <a:xfrm>
            <a:off x="2564538" y="1873225"/>
            <a:ext cx="3048000" cy="2391824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sp>
      <p:sp>
        <p:nvSpPr>
          <p:cNvPr id="430" name="Shape 430"/>
          <p:cNvSpPr/>
          <p:nvPr/>
        </p:nvSpPr>
        <p:spPr>
          <a:xfrm>
            <a:off x="2116650" y="3206725"/>
            <a:ext cx="1608650" cy="21150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</p:sp>
      <p:sp>
        <p:nvSpPr>
          <p:cNvPr id="431" name="Shape 431"/>
          <p:cNvSpPr/>
          <p:nvPr/>
        </p:nvSpPr>
        <p:spPr>
          <a:xfrm>
            <a:off x="5916075" y="2444725"/>
            <a:ext cx="1121825" cy="1375825"/>
          </a:xfrm>
          <a:prstGeom prst="rect">
            <a:avLst/>
          </a:prstGeom>
          <a:blipFill>
            <a:blip r:embed="rId12"/>
            <a:stretch>
              <a:fillRect/>
            </a:stretch>
          </a:blipFill>
        </p:spPr>
      </p:sp>
      <p:sp>
        <p:nvSpPr>
          <p:cNvPr id="432" name="Shape 432"/>
          <p:cNvSpPr txBox="1"/>
          <p:nvPr/>
        </p:nvSpPr>
        <p:spPr>
          <a:xfrm>
            <a:off x="5767900" y="2686513"/>
            <a:ext cx="1712750" cy="1061573"/>
          </a:xfrm>
          <a:prstGeom prst="rect">
            <a:avLst/>
          </a:prstGeom>
        </p:spPr>
        <p:txBody>
          <a:bodyPr wrap="square"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PSTN,</a:t>
            </a:r>
          </a:p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ISDN</a:t>
            </a:r>
          </a:p>
        </p:txBody>
      </p:sp>
      <p:sp>
        <p:nvSpPr>
          <p:cNvPr id="433" name="Shape 433"/>
          <p:cNvSpPr/>
          <p:nvPr/>
        </p:nvSpPr>
        <p:spPr>
          <a:xfrm>
            <a:off x="4656650" y="3122075"/>
            <a:ext cx="1270000" cy="21150"/>
          </a:xfrm>
          <a:prstGeom prst="rect">
            <a:avLst/>
          </a:pr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07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Switching center:(MSC)</a:t>
            </a:r>
          </a:p>
          <a:p>
            <a:pPr marL="381000" marR="0" lvl="0" indent="-50800" algn="l">
              <a:lnSpc>
                <a:spcPct val="108152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Call set up/supervision/release</a:t>
            </a:r>
          </a:p>
          <a:p>
            <a:pPr marL="381000" marR="0" lvl="0" indent="-50800" algn="l">
              <a:lnSpc>
                <a:spcPct val="108152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Call routing</a:t>
            </a:r>
          </a:p>
          <a:p>
            <a:pPr marL="381000" marR="0" lvl="0" indent="-50800" algn="l">
              <a:lnSpc>
                <a:spcPct val="108152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Billing information collection</a:t>
            </a:r>
          </a:p>
          <a:p>
            <a:pPr marL="381000" marR="0" lvl="0" indent="-50800" algn="l">
              <a:lnSpc>
                <a:spcPct val="108152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Mobility management</a:t>
            </a:r>
          </a:p>
          <a:p>
            <a:pPr marL="381000" marR="0" lvl="0" indent="-50800" algn="l">
              <a:lnSpc>
                <a:spcPct val="108152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Paging, Echo cancellation</a:t>
            </a:r>
          </a:p>
          <a:p>
            <a:pPr marL="381000" marR="0" lvl="0" indent="-50800" algn="l">
              <a:lnSpc>
                <a:spcPct val="108152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 to BSC, other MSC and other local exchange networks</a:t>
            </a:r>
          </a:p>
          <a:p>
            <a:pPr marL="381000" marR="0" lvl="0" indent="-50800" algn="l">
              <a:lnSpc>
                <a:spcPct val="108152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Access to HLR and VLR</a:t>
            </a:r>
          </a:p>
        </p:txBody>
      </p:sp>
      <p:sp>
        <p:nvSpPr>
          <p:cNvPr id="439" name="Shape 439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440" name="Shape 440"/>
          <p:cNvSpPr/>
          <p:nvPr/>
        </p:nvSpPr>
        <p:spPr>
          <a:xfrm>
            <a:off x="211650" y="296325"/>
            <a:ext cx="945089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445"/>
          <p:cNvSpPr txBox="1"/>
          <p:nvPr/>
        </p:nvSpPr>
        <p:spPr>
          <a:xfrm>
            <a:off x="1287625" y="1998475"/>
            <a:ext cx="8338249" cy="46305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9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Location Register (HLR)</a:t>
            </a:r>
          </a:p>
          <a:p>
            <a:pPr marL="381000" marR="0" lvl="0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One HLR per CDMA operator</a:t>
            </a:r>
          </a:p>
          <a:p>
            <a:pPr marL="381000" marR="0" lvl="0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Contains permanent M database of all the subscribers in the network</a:t>
            </a:r>
          </a:p>
          <a:p>
            <a:pPr marL="381000" marR="0" lvl="0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Contains MSRN(mobile station routing no.)</a:t>
            </a:r>
          </a:p>
          <a:p>
            <a:pPr marL="381000" marR="0" lvl="0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It is reffered for every incomming call</a:t>
            </a:r>
          </a:p>
        </p:txBody>
      </p:sp>
      <p:sp>
        <p:nvSpPr>
          <p:cNvPr id="446" name="Shape 446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447" name="Shape 447"/>
          <p:cNvSpPr/>
          <p:nvPr/>
        </p:nvSpPr>
        <p:spPr>
          <a:xfrm>
            <a:off x="211650" y="296325"/>
            <a:ext cx="945089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452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9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Visitor Location Register(VLR)</a:t>
            </a:r>
          </a:p>
          <a:p>
            <a:pPr marL="381000" marR="0" lvl="0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Temporary visitors database</a:t>
            </a:r>
          </a:p>
          <a:p>
            <a:pPr marL="381000" marR="0" lvl="0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One VLR per MSC</a:t>
            </a:r>
          </a:p>
          <a:p>
            <a:pPr marL="0" marR="0" indent="0" algn="l">
              <a:lnSpc>
                <a:spcPct val="119907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Authentication Center(AuC)</a:t>
            </a:r>
          </a:p>
          <a:p>
            <a:pPr marL="381000" marR="0" lvl="0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Provides security</a:t>
            </a:r>
          </a:p>
          <a:p>
            <a:pPr marL="381000" marR="0" lvl="0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Authentication and encryption</a:t>
            </a:r>
          </a:p>
          <a:p>
            <a:pPr marL="0" marR="0" indent="0" algn="l">
              <a:lnSpc>
                <a:spcPct val="119907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Equipment Identity Register:</a:t>
            </a:r>
          </a:p>
          <a:p>
            <a:pPr marL="381000" marR="0" lvl="0" indent="-50800" algn="l">
              <a:lnSpc>
                <a:spcPct val="120108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98290"/>
              <a:buFont typeface="Arial"/>
              <a:buNone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Contains IMEI</a:t>
            </a:r>
          </a:p>
          <a:p>
            <a:endParaRPr lang="en-US" sz="25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Shape 453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454" name="Shape 454"/>
          <p:cNvSpPr/>
          <p:nvPr/>
        </p:nvSpPr>
        <p:spPr>
          <a:xfrm>
            <a:off x="211650" y="296325"/>
            <a:ext cx="945089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 txBox="1"/>
          <p:nvPr/>
        </p:nvSpPr>
        <p:spPr>
          <a:xfrm>
            <a:off x="610300" y="1696850"/>
            <a:ext cx="9015574" cy="50027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41300" algn="l">
              <a:lnSpc>
                <a:spcPct val="1199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Handoff</a:t>
            </a:r>
          </a:p>
        </p:txBody>
      </p:sp>
      <p:sp>
        <p:nvSpPr>
          <p:cNvPr id="460" name="Shape 460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461" name="Shape 461"/>
          <p:cNvSpPr/>
          <p:nvPr/>
        </p:nvSpPr>
        <p:spPr>
          <a:xfrm>
            <a:off x="211650" y="296325"/>
            <a:ext cx="945089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462" name="Shape 462"/>
          <p:cNvSpPr/>
          <p:nvPr/>
        </p:nvSpPr>
        <p:spPr>
          <a:xfrm>
            <a:off x="3545400" y="4307400"/>
            <a:ext cx="1037150" cy="86782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63" name="Shape 463"/>
          <p:cNvSpPr txBox="1"/>
          <p:nvPr/>
        </p:nvSpPr>
        <p:spPr>
          <a:xfrm>
            <a:off x="3663575" y="4374425"/>
            <a:ext cx="877000" cy="809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</a:p>
        </p:txBody>
      </p:sp>
      <p:sp>
        <p:nvSpPr>
          <p:cNvPr id="464" name="Shape 464"/>
          <p:cNvSpPr/>
          <p:nvPr/>
        </p:nvSpPr>
        <p:spPr>
          <a:xfrm>
            <a:off x="2021400" y="4307400"/>
            <a:ext cx="1037150" cy="86782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465" name="Shape 465"/>
          <p:cNvSpPr txBox="1"/>
          <p:nvPr/>
        </p:nvSpPr>
        <p:spPr>
          <a:xfrm>
            <a:off x="2139575" y="4374425"/>
            <a:ext cx="877000" cy="809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</a:p>
        </p:txBody>
      </p:sp>
      <p:sp>
        <p:nvSpPr>
          <p:cNvPr id="466" name="Shape 466"/>
          <p:cNvSpPr/>
          <p:nvPr/>
        </p:nvSpPr>
        <p:spPr>
          <a:xfrm>
            <a:off x="6254750" y="4307400"/>
            <a:ext cx="1037150" cy="86782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467" name="Shape 467"/>
          <p:cNvSpPr txBox="1"/>
          <p:nvPr/>
        </p:nvSpPr>
        <p:spPr>
          <a:xfrm>
            <a:off x="6372925" y="4374425"/>
            <a:ext cx="877000" cy="809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</a:p>
        </p:txBody>
      </p:sp>
      <p:sp>
        <p:nvSpPr>
          <p:cNvPr id="468" name="Shape 468"/>
          <p:cNvSpPr/>
          <p:nvPr/>
        </p:nvSpPr>
        <p:spPr>
          <a:xfrm>
            <a:off x="2698750" y="3037400"/>
            <a:ext cx="1037150" cy="867824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469" name="Shape 469"/>
          <p:cNvSpPr txBox="1"/>
          <p:nvPr/>
        </p:nvSpPr>
        <p:spPr>
          <a:xfrm>
            <a:off x="2816925" y="3104425"/>
            <a:ext cx="877000" cy="809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</a:p>
        </p:txBody>
      </p:sp>
      <p:sp>
        <p:nvSpPr>
          <p:cNvPr id="470" name="Shape 470"/>
          <p:cNvSpPr/>
          <p:nvPr/>
        </p:nvSpPr>
        <p:spPr>
          <a:xfrm>
            <a:off x="6170075" y="3037400"/>
            <a:ext cx="1037150" cy="86782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471" name="Shape 471"/>
          <p:cNvSpPr txBox="1"/>
          <p:nvPr/>
        </p:nvSpPr>
        <p:spPr>
          <a:xfrm>
            <a:off x="6288250" y="3104425"/>
            <a:ext cx="877000" cy="809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</a:p>
        </p:txBody>
      </p:sp>
      <p:sp>
        <p:nvSpPr>
          <p:cNvPr id="472" name="Shape 472"/>
          <p:cNvSpPr/>
          <p:nvPr/>
        </p:nvSpPr>
        <p:spPr>
          <a:xfrm>
            <a:off x="4561400" y="2021400"/>
            <a:ext cx="1037150" cy="867824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473" name="Shape 473"/>
          <p:cNvSpPr txBox="1"/>
          <p:nvPr/>
        </p:nvSpPr>
        <p:spPr>
          <a:xfrm>
            <a:off x="4679575" y="2088425"/>
            <a:ext cx="877000" cy="100898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GMSC</a:t>
            </a:r>
          </a:p>
        </p:txBody>
      </p:sp>
      <p:sp>
        <p:nvSpPr>
          <p:cNvPr id="474" name="Shape 474"/>
          <p:cNvSpPr/>
          <p:nvPr/>
        </p:nvSpPr>
        <p:spPr>
          <a:xfrm>
            <a:off x="4730750" y="5662075"/>
            <a:ext cx="1195899" cy="1037150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475" name="Shape 475"/>
          <p:cNvSpPr/>
          <p:nvPr/>
        </p:nvSpPr>
        <p:spPr>
          <a:xfrm>
            <a:off x="3884075" y="6170075"/>
            <a:ext cx="1195899" cy="1037150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sp>
      <p:sp>
        <p:nvSpPr>
          <p:cNvPr id="476" name="Shape 476"/>
          <p:cNvSpPr/>
          <p:nvPr/>
        </p:nvSpPr>
        <p:spPr>
          <a:xfrm>
            <a:off x="3037400" y="5662075"/>
            <a:ext cx="1195899" cy="1037150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sp>
      <p:sp>
        <p:nvSpPr>
          <p:cNvPr id="477" name="Shape 477"/>
          <p:cNvSpPr/>
          <p:nvPr/>
        </p:nvSpPr>
        <p:spPr>
          <a:xfrm>
            <a:off x="2190750" y="6170075"/>
            <a:ext cx="1195899" cy="1037150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</p:sp>
      <p:sp>
        <p:nvSpPr>
          <p:cNvPr id="478" name="Shape 478"/>
          <p:cNvSpPr/>
          <p:nvPr/>
        </p:nvSpPr>
        <p:spPr>
          <a:xfrm>
            <a:off x="1354650" y="5662075"/>
            <a:ext cx="1195899" cy="1037150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</p:sp>
      <p:sp>
        <p:nvSpPr>
          <p:cNvPr id="479" name="Shape 479"/>
          <p:cNvSpPr/>
          <p:nvPr/>
        </p:nvSpPr>
        <p:spPr>
          <a:xfrm>
            <a:off x="5577400" y="6170075"/>
            <a:ext cx="1195899" cy="1037150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480" name="Shape 480"/>
          <p:cNvSpPr/>
          <p:nvPr/>
        </p:nvSpPr>
        <p:spPr>
          <a:xfrm>
            <a:off x="2021400" y="5154075"/>
            <a:ext cx="5598574" cy="1545149"/>
          </a:xfrm>
          <a:prstGeom prst="rect">
            <a:avLst/>
          </a:prstGeom>
          <a:blipFill>
            <a:blip r:embed="rId12"/>
            <a:stretch>
              <a:fillRect/>
            </a:stretch>
          </a:blipFill>
        </p:spPr>
      </p:sp>
      <p:sp>
        <p:nvSpPr>
          <p:cNvPr id="481" name="Shape 481"/>
          <p:cNvSpPr/>
          <p:nvPr/>
        </p:nvSpPr>
        <p:spPr>
          <a:xfrm>
            <a:off x="2444750" y="5154075"/>
            <a:ext cx="359824" cy="1460474"/>
          </a:xfrm>
          <a:prstGeom prst="rect">
            <a:avLst/>
          </a:prstGeom>
          <a:blipFill>
            <a:blip r:embed="rId13"/>
            <a:stretch>
              <a:fillRect/>
            </a:stretch>
          </a:blipFill>
        </p:spPr>
      </p:sp>
      <p:sp>
        <p:nvSpPr>
          <p:cNvPr id="482" name="Shape 482"/>
          <p:cNvSpPr/>
          <p:nvPr/>
        </p:nvSpPr>
        <p:spPr>
          <a:xfrm>
            <a:off x="3630075" y="5154075"/>
            <a:ext cx="359824" cy="952500"/>
          </a:xfrm>
          <a:prstGeom prst="rect">
            <a:avLst/>
          </a:prstGeom>
          <a:blipFill>
            <a:blip r:embed="rId14"/>
            <a:stretch>
              <a:fillRect/>
            </a:stretch>
          </a:blipFill>
        </p:spPr>
      </p:sp>
      <p:sp>
        <p:nvSpPr>
          <p:cNvPr id="483" name="Shape 483"/>
          <p:cNvSpPr/>
          <p:nvPr/>
        </p:nvSpPr>
        <p:spPr>
          <a:xfrm>
            <a:off x="3968750" y="5154075"/>
            <a:ext cx="529150" cy="1460474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</p:sp>
      <p:sp>
        <p:nvSpPr>
          <p:cNvPr id="484" name="Shape 484"/>
          <p:cNvSpPr/>
          <p:nvPr/>
        </p:nvSpPr>
        <p:spPr>
          <a:xfrm>
            <a:off x="5323400" y="5154075"/>
            <a:ext cx="1291150" cy="952500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</p:sp>
      <p:sp>
        <p:nvSpPr>
          <p:cNvPr id="485" name="Shape 485"/>
          <p:cNvSpPr/>
          <p:nvPr/>
        </p:nvSpPr>
        <p:spPr>
          <a:xfrm>
            <a:off x="6170075" y="5154075"/>
            <a:ext cx="444500" cy="1375825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</p:sp>
      <p:sp>
        <p:nvSpPr>
          <p:cNvPr id="486" name="Shape 486"/>
          <p:cNvSpPr/>
          <p:nvPr/>
        </p:nvSpPr>
        <p:spPr>
          <a:xfrm>
            <a:off x="6593400" y="5154075"/>
            <a:ext cx="359824" cy="1037150"/>
          </a:xfrm>
          <a:prstGeom prst="rect">
            <a:avLst/>
          </a:prstGeom>
          <a:blipFill>
            <a:blip r:embed="rId18"/>
            <a:stretch>
              <a:fillRect/>
            </a:stretch>
          </a:blipFill>
        </p:spPr>
      </p:sp>
      <p:sp>
        <p:nvSpPr>
          <p:cNvPr id="487" name="Shape 487"/>
          <p:cNvSpPr/>
          <p:nvPr/>
        </p:nvSpPr>
        <p:spPr>
          <a:xfrm>
            <a:off x="2529400" y="3884075"/>
            <a:ext cx="613824" cy="444500"/>
          </a:xfrm>
          <a:prstGeom prst="rect">
            <a:avLst/>
          </a:prstGeom>
          <a:blipFill>
            <a:blip r:embed="rId19"/>
            <a:stretch>
              <a:fillRect/>
            </a:stretch>
          </a:blipFill>
        </p:spPr>
      </p:sp>
      <p:sp>
        <p:nvSpPr>
          <p:cNvPr id="488" name="Shape 488"/>
          <p:cNvSpPr/>
          <p:nvPr/>
        </p:nvSpPr>
        <p:spPr>
          <a:xfrm>
            <a:off x="3122075" y="3884075"/>
            <a:ext cx="867824" cy="444500"/>
          </a:xfrm>
          <a:prstGeom prst="rect">
            <a:avLst/>
          </a:prstGeom>
          <a:blipFill>
            <a:blip r:embed="rId20"/>
            <a:stretch>
              <a:fillRect/>
            </a:stretch>
          </a:blipFill>
        </p:spPr>
      </p:sp>
      <p:sp>
        <p:nvSpPr>
          <p:cNvPr id="489" name="Shape 489"/>
          <p:cNvSpPr/>
          <p:nvPr/>
        </p:nvSpPr>
        <p:spPr>
          <a:xfrm>
            <a:off x="6678075" y="3894650"/>
            <a:ext cx="21150" cy="423325"/>
          </a:xfrm>
          <a:prstGeom prst="rect">
            <a:avLst/>
          </a:prstGeom>
          <a:blipFill>
            <a:blip r:embed="rId21"/>
            <a:stretch>
              <a:fillRect/>
            </a:stretch>
          </a:blipFill>
        </p:spPr>
      </p:sp>
      <p:sp>
        <p:nvSpPr>
          <p:cNvPr id="490" name="Shape 490"/>
          <p:cNvSpPr/>
          <p:nvPr/>
        </p:nvSpPr>
        <p:spPr>
          <a:xfrm>
            <a:off x="3630075" y="2868075"/>
            <a:ext cx="1375825" cy="444500"/>
          </a:xfrm>
          <a:prstGeom prst="rect">
            <a:avLst/>
          </a:prstGeom>
          <a:blipFill>
            <a:blip r:embed="rId22"/>
            <a:stretch>
              <a:fillRect/>
            </a:stretch>
          </a:blipFill>
        </p:spPr>
      </p:sp>
      <p:sp>
        <p:nvSpPr>
          <p:cNvPr id="491" name="Shape 491"/>
          <p:cNvSpPr/>
          <p:nvPr/>
        </p:nvSpPr>
        <p:spPr>
          <a:xfrm>
            <a:off x="4984750" y="2868075"/>
            <a:ext cx="1291150" cy="529150"/>
          </a:xfrm>
          <a:prstGeom prst="rect">
            <a:avLst/>
          </a:prstGeom>
          <a:blipFill>
            <a:blip r:embed="rId23"/>
            <a:stretch>
              <a:fillRect/>
            </a:stretch>
          </a:blipFill>
        </p:spPr>
      </p:sp>
      <p:sp>
        <p:nvSpPr>
          <p:cNvPr id="492" name="Shape 492"/>
          <p:cNvSpPr/>
          <p:nvPr/>
        </p:nvSpPr>
        <p:spPr>
          <a:xfrm>
            <a:off x="1608650" y="5852575"/>
            <a:ext cx="306899" cy="677325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493" name="Shape 493"/>
          <p:cNvSpPr/>
          <p:nvPr/>
        </p:nvSpPr>
        <p:spPr>
          <a:xfrm>
            <a:off x="2116650" y="6096000"/>
            <a:ext cx="306899" cy="677325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494" name="Shape 494"/>
          <p:cNvSpPr/>
          <p:nvPr/>
        </p:nvSpPr>
        <p:spPr>
          <a:xfrm>
            <a:off x="2624650" y="6350000"/>
            <a:ext cx="306899" cy="677325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495" name="Shape 495"/>
          <p:cNvSpPr/>
          <p:nvPr/>
        </p:nvSpPr>
        <p:spPr>
          <a:xfrm>
            <a:off x="3132650" y="6096000"/>
            <a:ext cx="306899" cy="677325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496" name="Shape 496"/>
          <p:cNvSpPr/>
          <p:nvPr/>
        </p:nvSpPr>
        <p:spPr>
          <a:xfrm>
            <a:off x="3810000" y="6096000"/>
            <a:ext cx="306899" cy="677325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497" name="Shape 497"/>
          <p:cNvSpPr/>
          <p:nvPr/>
        </p:nvSpPr>
        <p:spPr>
          <a:xfrm>
            <a:off x="4318000" y="6265325"/>
            <a:ext cx="306899" cy="677325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498" name="Shape 498"/>
          <p:cNvSpPr/>
          <p:nvPr/>
        </p:nvSpPr>
        <p:spPr>
          <a:xfrm>
            <a:off x="4826000" y="6096000"/>
            <a:ext cx="391574" cy="677325"/>
          </a:xfrm>
          <a:prstGeom prst="rect">
            <a:avLst/>
          </a:prstGeom>
          <a:blipFill>
            <a:blip r:embed="rId25"/>
            <a:stretch>
              <a:fillRect/>
            </a:stretch>
          </a:blipFill>
        </p:spPr>
      </p:sp>
      <p:sp>
        <p:nvSpPr>
          <p:cNvPr id="499" name="Shape 499"/>
          <p:cNvSpPr/>
          <p:nvPr/>
        </p:nvSpPr>
        <p:spPr>
          <a:xfrm>
            <a:off x="5672650" y="6096000"/>
            <a:ext cx="306899" cy="677325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500" name="Shape 500"/>
          <p:cNvSpPr/>
          <p:nvPr/>
        </p:nvSpPr>
        <p:spPr>
          <a:xfrm>
            <a:off x="6350000" y="6096000"/>
            <a:ext cx="306899" cy="677325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501" name="Shape 501"/>
          <p:cNvSpPr txBox="1"/>
          <p:nvPr/>
        </p:nvSpPr>
        <p:spPr>
          <a:xfrm>
            <a:off x="7552950" y="2252475"/>
            <a:ext cx="2607050" cy="3154069"/>
          </a:xfrm>
          <a:prstGeom prst="rect">
            <a:avLst/>
          </a:prstGeom>
        </p:spPr>
        <p:txBody>
          <a:bodyPr wrap="square"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Handoff is of </a:t>
            </a:r>
          </a:p>
          <a:p>
            <a:pPr marL="0" marR="0" indent="0" algn="l">
              <a:lnSpc>
                <a:spcPct val="119791"/>
              </a:lnSpc>
              <a:spcBef>
                <a:spcPts val="1198"/>
              </a:spcBef>
              <a:spcAft>
                <a:spcPts val="0"/>
              </a:spcAft>
              <a:buNone/>
            </a:pPr>
            <a:r>
              <a:rPr lang="en-US" sz="266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types</a:t>
            </a:r>
          </a:p>
          <a:p>
            <a:pPr marL="0" marR="0" indent="0" algn="l">
              <a:lnSpc>
                <a:spcPct val="119791"/>
              </a:lnSpc>
              <a:spcBef>
                <a:spcPts val="1198"/>
              </a:spcBef>
              <a:spcAft>
                <a:spcPts val="0"/>
              </a:spcAft>
              <a:buNone/>
            </a:pPr>
            <a:r>
              <a:rPr lang="en-US" sz="266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Intra BSC</a:t>
            </a:r>
          </a:p>
          <a:p>
            <a:pPr marL="0" marR="0" indent="0" algn="l">
              <a:lnSpc>
                <a:spcPct val="119791"/>
              </a:lnSpc>
              <a:spcBef>
                <a:spcPts val="1198"/>
              </a:spcBef>
              <a:spcAft>
                <a:spcPts val="0"/>
              </a:spcAft>
              <a:buNone/>
            </a:pPr>
            <a:r>
              <a:rPr lang="en-US" sz="266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Inter BSC</a:t>
            </a:r>
          </a:p>
          <a:p>
            <a:pPr marL="0" marR="0" indent="0" algn="l">
              <a:lnSpc>
                <a:spcPct val="119791"/>
              </a:lnSpc>
              <a:spcBef>
                <a:spcPts val="1198"/>
              </a:spcBef>
              <a:spcAft>
                <a:spcPts val="0"/>
              </a:spcAft>
              <a:buNone/>
            </a:pPr>
            <a:r>
              <a:rPr lang="en-US" sz="266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Inter MSC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507" name="Shape 507"/>
          <p:cNvSpPr/>
          <p:nvPr/>
        </p:nvSpPr>
        <p:spPr>
          <a:xfrm>
            <a:off x="211650" y="296325"/>
            <a:ext cx="945089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508" name="Shape 508"/>
          <p:cNvSpPr/>
          <p:nvPr/>
        </p:nvSpPr>
        <p:spPr>
          <a:xfrm>
            <a:off x="1693325" y="4138075"/>
            <a:ext cx="1195899" cy="10371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09" name="Shape 509"/>
          <p:cNvSpPr/>
          <p:nvPr/>
        </p:nvSpPr>
        <p:spPr>
          <a:xfrm>
            <a:off x="2529400" y="3630075"/>
            <a:ext cx="1195899" cy="103715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510" name="Shape 510"/>
          <p:cNvSpPr/>
          <p:nvPr/>
        </p:nvSpPr>
        <p:spPr>
          <a:xfrm>
            <a:off x="2529400" y="2614075"/>
            <a:ext cx="1195899" cy="103715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511" name="Shape 511"/>
          <p:cNvSpPr/>
          <p:nvPr/>
        </p:nvSpPr>
        <p:spPr>
          <a:xfrm>
            <a:off x="1693325" y="3122075"/>
            <a:ext cx="1195899" cy="103715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512" name="Shape 512"/>
          <p:cNvSpPr/>
          <p:nvPr/>
        </p:nvSpPr>
        <p:spPr>
          <a:xfrm>
            <a:off x="2529400" y="4646075"/>
            <a:ext cx="1195899" cy="10371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13" name="Shape 513"/>
          <p:cNvSpPr/>
          <p:nvPr/>
        </p:nvSpPr>
        <p:spPr>
          <a:xfrm>
            <a:off x="1682750" y="3291400"/>
            <a:ext cx="3915824" cy="2899825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514" name="Shape 514"/>
          <p:cNvSpPr txBox="1"/>
          <p:nvPr/>
        </p:nvSpPr>
        <p:spPr>
          <a:xfrm>
            <a:off x="4679575" y="3358425"/>
            <a:ext cx="877000" cy="809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</a:p>
        </p:txBody>
      </p:sp>
      <p:sp>
        <p:nvSpPr>
          <p:cNvPr id="515" name="Shape 515"/>
          <p:cNvSpPr/>
          <p:nvPr/>
        </p:nvSpPr>
        <p:spPr>
          <a:xfrm>
            <a:off x="4561400" y="4815400"/>
            <a:ext cx="952500" cy="867824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516" name="Shape 516"/>
          <p:cNvSpPr txBox="1"/>
          <p:nvPr/>
        </p:nvSpPr>
        <p:spPr>
          <a:xfrm>
            <a:off x="4679575" y="4882425"/>
            <a:ext cx="792324" cy="8099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</a:p>
        </p:txBody>
      </p:sp>
      <p:sp>
        <p:nvSpPr>
          <p:cNvPr id="517" name="Shape 517"/>
          <p:cNvSpPr/>
          <p:nvPr/>
        </p:nvSpPr>
        <p:spPr>
          <a:xfrm>
            <a:off x="6424075" y="3291400"/>
            <a:ext cx="952500" cy="613824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518" name="Shape 518"/>
          <p:cNvSpPr txBox="1"/>
          <p:nvPr/>
        </p:nvSpPr>
        <p:spPr>
          <a:xfrm>
            <a:off x="6542250" y="3358425"/>
            <a:ext cx="792324" cy="100898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</a:p>
        </p:txBody>
      </p:sp>
      <p:sp>
        <p:nvSpPr>
          <p:cNvPr id="519" name="Shape 519"/>
          <p:cNvSpPr/>
          <p:nvPr/>
        </p:nvSpPr>
        <p:spPr>
          <a:xfrm>
            <a:off x="6508750" y="5154075"/>
            <a:ext cx="952500" cy="529150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520" name="Shape 520"/>
          <p:cNvSpPr txBox="1"/>
          <p:nvPr/>
        </p:nvSpPr>
        <p:spPr>
          <a:xfrm>
            <a:off x="6626925" y="5221100"/>
            <a:ext cx="792324" cy="100898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</a:p>
        </p:txBody>
      </p:sp>
      <p:sp>
        <p:nvSpPr>
          <p:cNvPr id="521" name="Shape 521"/>
          <p:cNvSpPr/>
          <p:nvPr/>
        </p:nvSpPr>
        <p:spPr>
          <a:xfrm>
            <a:off x="6339400" y="2190750"/>
            <a:ext cx="1037150" cy="698500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sp>
      <p:sp>
        <p:nvSpPr>
          <p:cNvPr id="522" name="Shape 522"/>
          <p:cNvSpPr txBox="1"/>
          <p:nvPr/>
        </p:nvSpPr>
        <p:spPr>
          <a:xfrm>
            <a:off x="6457575" y="2434150"/>
            <a:ext cx="877000" cy="54259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VLR</a:t>
            </a:r>
          </a:p>
        </p:txBody>
      </p:sp>
      <p:sp>
        <p:nvSpPr>
          <p:cNvPr id="523" name="Shape 523"/>
          <p:cNvSpPr/>
          <p:nvPr/>
        </p:nvSpPr>
        <p:spPr>
          <a:xfrm>
            <a:off x="6424075" y="6170075"/>
            <a:ext cx="1037150" cy="698500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sp>
      <p:sp>
        <p:nvSpPr>
          <p:cNvPr id="524" name="Shape 524"/>
          <p:cNvSpPr txBox="1"/>
          <p:nvPr/>
        </p:nvSpPr>
        <p:spPr>
          <a:xfrm>
            <a:off x="6542250" y="6413475"/>
            <a:ext cx="877000" cy="54259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VLR</a:t>
            </a:r>
          </a:p>
        </p:txBody>
      </p:sp>
      <p:sp>
        <p:nvSpPr>
          <p:cNvPr id="525" name="Shape 525"/>
          <p:cNvSpPr/>
          <p:nvPr/>
        </p:nvSpPr>
        <p:spPr>
          <a:xfrm>
            <a:off x="6424075" y="4138075"/>
            <a:ext cx="1037150" cy="698500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sp>
      <p:sp>
        <p:nvSpPr>
          <p:cNvPr id="526" name="Shape 526"/>
          <p:cNvSpPr txBox="1"/>
          <p:nvPr/>
        </p:nvSpPr>
        <p:spPr>
          <a:xfrm>
            <a:off x="6542250" y="4381500"/>
            <a:ext cx="877000" cy="54259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HLR</a:t>
            </a:r>
          </a:p>
        </p:txBody>
      </p:sp>
      <p:sp>
        <p:nvSpPr>
          <p:cNvPr id="527" name="Shape 527"/>
          <p:cNvSpPr/>
          <p:nvPr/>
        </p:nvSpPr>
        <p:spPr>
          <a:xfrm>
            <a:off x="3206750" y="3291400"/>
            <a:ext cx="1375825" cy="444500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</p:sp>
      <p:sp>
        <p:nvSpPr>
          <p:cNvPr id="528" name="Shape 528"/>
          <p:cNvSpPr/>
          <p:nvPr/>
        </p:nvSpPr>
        <p:spPr>
          <a:xfrm>
            <a:off x="2370650" y="3714750"/>
            <a:ext cx="2286000" cy="21150"/>
          </a:xfrm>
          <a:prstGeom prst="rect">
            <a:avLst/>
          </a:prstGeom>
          <a:blipFill>
            <a:blip r:embed="rId12"/>
            <a:stretch>
              <a:fillRect/>
            </a:stretch>
          </a:blipFill>
        </p:spPr>
      </p:sp>
      <p:sp>
        <p:nvSpPr>
          <p:cNvPr id="529" name="Shape 529"/>
          <p:cNvSpPr/>
          <p:nvPr/>
        </p:nvSpPr>
        <p:spPr>
          <a:xfrm>
            <a:off x="3206750" y="3714750"/>
            <a:ext cx="1375825" cy="613824"/>
          </a:xfrm>
          <a:prstGeom prst="rect">
            <a:avLst/>
          </a:prstGeom>
          <a:blipFill>
            <a:blip r:embed="rId13"/>
            <a:stretch>
              <a:fillRect/>
            </a:stretch>
          </a:blipFill>
        </p:spPr>
      </p:sp>
      <p:sp>
        <p:nvSpPr>
          <p:cNvPr id="530" name="Shape 530"/>
          <p:cNvSpPr/>
          <p:nvPr/>
        </p:nvSpPr>
        <p:spPr>
          <a:xfrm>
            <a:off x="3217325" y="5238750"/>
            <a:ext cx="1354650" cy="21150"/>
          </a:xfrm>
          <a:prstGeom prst="rect">
            <a:avLst/>
          </a:prstGeom>
          <a:blipFill>
            <a:blip r:embed="rId14"/>
            <a:stretch>
              <a:fillRect/>
            </a:stretch>
          </a:blipFill>
        </p:spPr>
      </p:sp>
      <p:sp>
        <p:nvSpPr>
          <p:cNvPr id="531" name="Shape 531"/>
          <p:cNvSpPr/>
          <p:nvPr/>
        </p:nvSpPr>
        <p:spPr>
          <a:xfrm>
            <a:off x="2360075" y="4646075"/>
            <a:ext cx="2222500" cy="613824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</p:sp>
      <p:sp>
        <p:nvSpPr>
          <p:cNvPr id="532" name="Shape 532"/>
          <p:cNvSpPr/>
          <p:nvPr/>
        </p:nvSpPr>
        <p:spPr>
          <a:xfrm>
            <a:off x="2360075" y="5238750"/>
            <a:ext cx="2222500" cy="529150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</p:sp>
      <p:sp>
        <p:nvSpPr>
          <p:cNvPr id="533" name="Shape 533"/>
          <p:cNvSpPr/>
          <p:nvPr/>
        </p:nvSpPr>
        <p:spPr>
          <a:xfrm>
            <a:off x="5588000" y="3714750"/>
            <a:ext cx="846650" cy="21150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</p:sp>
      <p:sp>
        <p:nvSpPr>
          <p:cNvPr id="534" name="Shape 534"/>
          <p:cNvSpPr/>
          <p:nvPr/>
        </p:nvSpPr>
        <p:spPr>
          <a:xfrm>
            <a:off x="5503325" y="5238750"/>
            <a:ext cx="1016000" cy="21150"/>
          </a:xfrm>
          <a:prstGeom prst="rect">
            <a:avLst/>
          </a:prstGeom>
          <a:blipFill>
            <a:blip r:embed="rId18"/>
            <a:stretch>
              <a:fillRect/>
            </a:stretch>
          </a:blipFill>
        </p:spPr>
      </p:sp>
      <p:sp>
        <p:nvSpPr>
          <p:cNvPr id="535" name="Shape 535"/>
          <p:cNvSpPr/>
          <p:nvPr/>
        </p:nvSpPr>
        <p:spPr>
          <a:xfrm>
            <a:off x="6847400" y="2878650"/>
            <a:ext cx="21150" cy="423325"/>
          </a:xfrm>
          <a:prstGeom prst="rect">
            <a:avLst/>
          </a:prstGeom>
          <a:blipFill>
            <a:blip r:embed="rId19"/>
            <a:stretch>
              <a:fillRect/>
            </a:stretch>
          </a:blipFill>
        </p:spPr>
      </p:sp>
      <p:sp>
        <p:nvSpPr>
          <p:cNvPr id="536" name="Shape 536"/>
          <p:cNvSpPr/>
          <p:nvPr/>
        </p:nvSpPr>
        <p:spPr>
          <a:xfrm>
            <a:off x="6932075" y="5672650"/>
            <a:ext cx="21150" cy="507975"/>
          </a:xfrm>
          <a:prstGeom prst="rect">
            <a:avLst/>
          </a:prstGeom>
          <a:blipFill>
            <a:blip r:embed="rId20"/>
            <a:stretch>
              <a:fillRect/>
            </a:stretch>
          </a:blipFill>
        </p:spPr>
      </p:sp>
      <p:sp>
        <p:nvSpPr>
          <p:cNvPr id="537" name="Shape 537"/>
          <p:cNvSpPr/>
          <p:nvPr/>
        </p:nvSpPr>
        <p:spPr>
          <a:xfrm>
            <a:off x="7355400" y="3630075"/>
            <a:ext cx="783149" cy="952500"/>
          </a:xfrm>
          <a:prstGeom prst="rect">
            <a:avLst/>
          </a:prstGeom>
          <a:blipFill>
            <a:blip r:embed="rId21"/>
            <a:stretch>
              <a:fillRect/>
            </a:stretch>
          </a:blipFill>
        </p:spPr>
      </p:sp>
      <p:sp>
        <p:nvSpPr>
          <p:cNvPr id="538" name="Shape 538"/>
          <p:cNvSpPr/>
          <p:nvPr/>
        </p:nvSpPr>
        <p:spPr>
          <a:xfrm>
            <a:off x="6932075" y="4825975"/>
            <a:ext cx="21150" cy="338650"/>
          </a:xfrm>
          <a:prstGeom prst="rect">
            <a:avLst/>
          </a:prstGeom>
          <a:blipFill>
            <a:blip r:embed="rId22"/>
            <a:stretch>
              <a:fillRect/>
            </a:stretch>
          </a:blipFill>
        </p:spPr>
      </p:sp>
      <p:sp>
        <p:nvSpPr>
          <p:cNvPr id="539" name="Shape 539"/>
          <p:cNvSpPr/>
          <p:nvPr/>
        </p:nvSpPr>
        <p:spPr>
          <a:xfrm>
            <a:off x="6932075" y="3894650"/>
            <a:ext cx="21150" cy="253974"/>
          </a:xfrm>
          <a:prstGeom prst="rect">
            <a:avLst/>
          </a:prstGeom>
          <a:blipFill>
            <a:blip r:embed="rId23"/>
            <a:stretch>
              <a:fillRect/>
            </a:stretch>
          </a:blipFill>
        </p:spPr>
      </p:sp>
      <p:sp>
        <p:nvSpPr>
          <p:cNvPr id="540" name="Shape 540"/>
          <p:cNvSpPr/>
          <p:nvPr/>
        </p:nvSpPr>
        <p:spPr>
          <a:xfrm>
            <a:off x="8117400" y="4138075"/>
            <a:ext cx="1037150" cy="1037150"/>
          </a:xfrm>
          <a:prstGeom prst="rect">
            <a:avLst/>
          </a:prstGeom>
          <a:blipFill>
            <a:blip r:embed="rId24"/>
            <a:stretch>
              <a:fillRect/>
            </a:stretch>
          </a:blipFill>
        </p:spPr>
      </p:sp>
      <p:sp>
        <p:nvSpPr>
          <p:cNvPr id="541" name="Shape 541"/>
          <p:cNvSpPr txBox="1"/>
          <p:nvPr/>
        </p:nvSpPr>
        <p:spPr>
          <a:xfrm>
            <a:off x="8235575" y="4205100"/>
            <a:ext cx="877000" cy="100898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GMSC</a:t>
            </a:r>
          </a:p>
        </p:txBody>
      </p:sp>
      <p:sp>
        <p:nvSpPr>
          <p:cNvPr id="542" name="Shape 542"/>
          <p:cNvSpPr/>
          <p:nvPr/>
        </p:nvSpPr>
        <p:spPr>
          <a:xfrm>
            <a:off x="7440075" y="4646075"/>
            <a:ext cx="698500" cy="783149"/>
          </a:xfrm>
          <a:prstGeom prst="rect">
            <a:avLst/>
          </a:prstGeom>
          <a:blipFill>
            <a:blip r:embed="rId25"/>
            <a:stretch>
              <a:fillRect/>
            </a:stretch>
          </a:blipFill>
        </p:spPr>
      </p:sp>
      <p:sp>
        <p:nvSpPr>
          <p:cNvPr id="543" name="Shape 543"/>
          <p:cNvSpPr/>
          <p:nvPr/>
        </p:nvSpPr>
        <p:spPr>
          <a:xfrm>
            <a:off x="8117400" y="5577400"/>
            <a:ext cx="1037150" cy="1037150"/>
          </a:xfrm>
          <a:prstGeom prst="rect">
            <a:avLst/>
          </a:prstGeom>
          <a:blipFill>
            <a:blip r:embed="rId26"/>
            <a:stretch>
              <a:fillRect/>
            </a:stretch>
          </a:blipFill>
        </p:spPr>
      </p:sp>
      <p:sp>
        <p:nvSpPr>
          <p:cNvPr id="544" name="Shape 544"/>
          <p:cNvSpPr txBox="1"/>
          <p:nvPr/>
        </p:nvSpPr>
        <p:spPr>
          <a:xfrm>
            <a:off x="8235575" y="5644425"/>
            <a:ext cx="877000" cy="1941760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PSTN.</a:t>
            </a:r>
          </a:p>
          <a:p>
            <a:pPr marL="0" marR="0" indent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ISDN</a:t>
            </a:r>
          </a:p>
        </p:txBody>
      </p:sp>
      <p:sp>
        <p:nvSpPr>
          <p:cNvPr id="545" name="Shape 545"/>
          <p:cNvSpPr/>
          <p:nvPr/>
        </p:nvSpPr>
        <p:spPr>
          <a:xfrm>
            <a:off x="8625400" y="5164650"/>
            <a:ext cx="21150" cy="423325"/>
          </a:xfrm>
          <a:prstGeom prst="rect">
            <a:avLst/>
          </a:prstGeom>
          <a:blipFill>
            <a:blip r:embed="rId19"/>
            <a:stretch>
              <a:fillRect/>
            </a:stretch>
          </a:blipFill>
        </p:spPr>
      </p:sp>
      <p:sp>
        <p:nvSpPr>
          <p:cNvPr id="546" name="Shape 546"/>
          <p:cNvSpPr txBox="1"/>
          <p:nvPr/>
        </p:nvSpPr>
        <p:spPr>
          <a:xfrm>
            <a:off x="1444625" y="1987900"/>
            <a:ext cx="2898400" cy="5506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20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1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 Update</a:t>
            </a:r>
          </a:p>
        </p:txBody>
      </p:sp>
      <p:sp>
        <p:nvSpPr>
          <p:cNvPr id="547" name="Shape 547"/>
          <p:cNvSpPr/>
          <p:nvPr/>
        </p:nvSpPr>
        <p:spPr>
          <a:xfrm>
            <a:off x="1862650" y="3386650"/>
            <a:ext cx="306899" cy="677325"/>
          </a:xfrm>
          <a:prstGeom prst="rect">
            <a:avLst/>
          </a:prstGeom>
          <a:blipFill>
            <a:blip r:embed="rId27"/>
            <a:stretch>
              <a:fillRect/>
            </a:stretch>
          </a:blipFill>
        </p:spPr>
      </p:sp>
      <p:sp>
        <p:nvSpPr>
          <p:cNvPr id="548" name="Shape 548"/>
          <p:cNvSpPr/>
          <p:nvPr/>
        </p:nvSpPr>
        <p:spPr>
          <a:xfrm>
            <a:off x="2063750" y="3735900"/>
            <a:ext cx="306899" cy="677325"/>
          </a:xfrm>
          <a:prstGeom prst="rect">
            <a:avLst/>
          </a:prstGeom>
          <a:blipFill>
            <a:blip r:embed="rId28"/>
            <a:stretch>
              <a:fillRect/>
            </a:stretch>
          </a:blipFill>
        </p:spPr>
      </p:sp>
      <p:sp>
        <p:nvSpPr>
          <p:cNvPr id="549" name="Shape 549"/>
          <p:cNvSpPr/>
          <p:nvPr/>
        </p:nvSpPr>
        <p:spPr>
          <a:xfrm>
            <a:off x="2286000" y="3979325"/>
            <a:ext cx="306899" cy="677325"/>
          </a:xfrm>
          <a:prstGeom prst="rect">
            <a:avLst/>
          </a:prstGeom>
          <a:blipFill>
            <a:blip r:embed="rId27"/>
            <a:stretch>
              <a:fillRect/>
            </a:stretch>
          </a:blipFill>
        </p:spPr>
      </p:sp>
      <p:sp>
        <p:nvSpPr>
          <p:cNvPr id="550" name="Shape 550"/>
          <p:cNvSpPr/>
          <p:nvPr/>
        </p:nvSpPr>
        <p:spPr>
          <a:xfrm>
            <a:off x="2370650" y="4328575"/>
            <a:ext cx="306899" cy="677325"/>
          </a:xfrm>
          <a:prstGeom prst="rect">
            <a:avLst/>
          </a:prstGeom>
          <a:blipFill>
            <a:blip r:embed="rId27"/>
            <a:stretch>
              <a:fillRect/>
            </a:stretch>
          </a:blipFill>
        </p:spPr>
      </p:sp>
      <p:sp>
        <p:nvSpPr>
          <p:cNvPr id="551" name="Shape 551"/>
          <p:cNvSpPr/>
          <p:nvPr/>
        </p:nvSpPr>
        <p:spPr>
          <a:xfrm>
            <a:off x="2614075" y="4900075"/>
            <a:ext cx="4265075" cy="1227649"/>
          </a:xfrm>
          <a:prstGeom prst="rect">
            <a:avLst/>
          </a:prstGeom>
          <a:blipFill>
            <a:blip r:embed="rId29"/>
            <a:stretch>
              <a:fillRect/>
            </a:stretch>
          </a:blipFill>
        </p:spPr>
      </p:sp>
      <p:sp>
        <p:nvSpPr>
          <p:cNvPr id="552" name="Shape 552"/>
          <p:cNvSpPr/>
          <p:nvPr/>
        </p:nvSpPr>
        <p:spPr>
          <a:xfrm>
            <a:off x="6762750" y="5662075"/>
            <a:ext cx="127000" cy="518575"/>
          </a:xfrm>
          <a:prstGeom prst="rect">
            <a:avLst/>
          </a:prstGeom>
          <a:blipFill>
            <a:blip r:embed="rId30"/>
            <a:stretch>
              <a:fillRect/>
            </a:stretch>
          </a:blipFill>
        </p:spPr>
      </p:sp>
      <p:sp>
        <p:nvSpPr>
          <p:cNvPr id="553" name="Shape 553"/>
          <p:cNvSpPr/>
          <p:nvPr/>
        </p:nvSpPr>
        <p:spPr>
          <a:xfrm>
            <a:off x="2529400" y="4900075"/>
            <a:ext cx="4180399" cy="1291150"/>
          </a:xfrm>
          <a:prstGeom prst="rect">
            <a:avLst/>
          </a:prstGeom>
          <a:blipFill>
            <a:blip r:embed="rId31"/>
            <a:stretch>
              <a:fillRect/>
            </a:stretch>
          </a:blipFill>
        </p:spPr>
      </p:sp>
      <p:sp>
        <p:nvSpPr>
          <p:cNvPr id="554" name="Shape 554"/>
          <p:cNvSpPr/>
          <p:nvPr/>
        </p:nvSpPr>
        <p:spPr>
          <a:xfrm>
            <a:off x="6985000" y="4825975"/>
            <a:ext cx="84650" cy="1354650"/>
          </a:xfrm>
          <a:prstGeom prst="rect">
            <a:avLst/>
          </a:prstGeom>
          <a:blipFill>
            <a:blip r:embed="rId32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559"/>
          <p:cNvSpPr txBox="1"/>
          <p:nvPr/>
        </p:nvSpPr>
        <p:spPr>
          <a:xfrm>
            <a:off x="1287625" y="1998475"/>
            <a:ext cx="8253574" cy="52232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Comparison between CDMA and TDMA/FDMA:</a:t>
            </a:r>
          </a:p>
          <a:p>
            <a:pPr marL="381000" marR="0" lvl="0" indent="-220133" algn="l">
              <a:lnSpc>
                <a:spcPct val="107812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164609"/>
              <a:buFont typeface="Arial"/>
              <a:buChar char="•"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TDMA Band width available for transmission is small which leads to compromise in quality of transmission. Whereas in CDMA systems entire spectrum is used which enhances voice quality.</a:t>
            </a:r>
          </a:p>
          <a:p>
            <a:pPr marL="381000" marR="0" lvl="0" indent="-220133" algn="l">
              <a:lnSpc>
                <a:spcPct val="107812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164609"/>
              <a:buFont typeface="Arial"/>
              <a:buChar char="•"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TDMA/FDMA, cell design requires more frequency planning which is tough job. Whereas in CDMA frequency planning is minimal</a:t>
            </a: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81000" marR="0" lvl="0" indent="-220133" algn="l">
              <a:lnSpc>
                <a:spcPct val="107812"/>
              </a:lnSpc>
              <a:spcBef>
                <a:spcPts val="271"/>
              </a:spcBef>
              <a:spcAft>
                <a:spcPts val="0"/>
              </a:spcAft>
              <a:buClr>
                <a:srgbClr val="000000"/>
              </a:buClr>
              <a:buSzPct val="164609"/>
              <a:buFont typeface="Arial"/>
              <a:buChar char="•"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TDMA is Band limited system. CDMA is Power limited system</a:t>
            </a:r>
          </a:p>
          <a:p>
            <a:endParaRPr lang="en-US" sz="2666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666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Shape 560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561" name="Shape 561"/>
          <p:cNvSpPr/>
          <p:nvPr/>
        </p:nvSpPr>
        <p:spPr>
          <a:xfrm>
            <a:off x="211650" y="296325"/>
            <a:ext cx="9450899" cy="12911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566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567" name="Shape 567"/>
          <p:cNvSpPr txBox="1"/>
          <p:nvPr/>
        </p:nvSpPr>
        <p:spPr>
          <a:xfrm>
            <a:off x="948950" y="305150"/>
            <a:ext cx="9015574" cy="12438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88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Some Pics Of BSC</a:t>
            </a:r>
          </a:p>
        </p:txBody>
      </p:sp>
      <p:sp>
        <p:nvSpPr>
          <p:cNvPr id="568" name="Shape 568"/>
          <p:cNvSpPr/>
          <p:nvPr/>
        </p:nvSpPr>
        <p:spPr>
          <a:xfrm>
            <a:off x="762000" y="1386400"/>
            <a:ext cx="4064000" cy="54292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569" name="Shape 569"/>
          <p:cNvSpPr/>
          <p:nvPr/>
        </p:nvSpPr>
        <p:spPr>
          <a:xfrm>
            <a:off x="5926650" y="1386400"/>
            <a:ext cx="4064000" cy="54292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575" name="Shape 575"/>
          <p:cNvSpPr txBox="1"/>
          <p:nvPr/>
        </p:nvSpPr>
        <p:spPr>
          <a:xfrm>
            <a:off x="779625" y="356300"/>
            <a:ext cx="9015574" cy="124387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88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Some Pics Of BTS</a:t>
            </a:r>
          </a:p>
        </p:txBody>
      </p:sp>
      <p:sp>
        <p:nvSpPr>
          <p:cNvPr id="576" name="Shape 576"/>
          <p:cNvSpPr/>
          <p:nvPr/>
        </p:nvSpPr>
        <p:spPr>
          <a:xfrm>
            <a:off x="592650" y="1524000"/>
            <a:ext cx="4064000" cy="54186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577" name="Shape 577"/>
          <p:cNvSpPr/>
          <p:nvPr/>
        </p:nvSpPr>
        <p:spPr>
          <a:xfrm>
            <a:off x="5842000" y="1524000"/>
            <a:ext cx="4064000" cy="54186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582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583" name="Shape 583"/>
          <p:cNvSpPr txBox="1"/>
          <p:nvPr/>
        </p:nvSpPr>
        <p:spPr>
          <a:xfrm>
            <a:off x="1202950" y="305150"/>
            <a:ext cx="8676899" cy="56655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</a:t>
            </a:r>
          </a:p>
        </p:txBody>
      </p:sp>
      <p:sp>
        <p:nvSpPr>
          <p:cNvPr id="584" name="Shape 584"/>
          <p:cNvSpPr txBox="1"/>
          <p:nvPr/>
        </p:nvSpPr>
        <p:spPr>
          <a:xfrm>
            <a:off x="1202950" y="1913800"/>
            <a:ext cx="8930899" cy="505387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 OF CDMA</a:t>
            </a:r>
          </a:p>
          <a:p>
            <a:pPr marL="381000" marR="0" lvl="0" indent="-19191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8350"/>
              <a:buFont typeface="Arial"/>
              <a:buChar char="•"/>
            </a:pPr>
            <a:r>
              <a:rPr lang="en-US" sz="2222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Increased Cellular Communication Security. </a:t>
            </a:r>
          </a:p>
          <a:p>
            <a:endParaRPr lang="en-US" sz="2222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19191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8350"/>
              <a:buFont typeface="Arial"/>
              <a:buChar char="•"/>
            </a:pPr>
            <a:r>
              <a:rPr lang="en-US" sz="2222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 Handoff Because Of Same Carrier Frequency</a:t>
            </a:r>
          </a:p>
          <a:p>
            <a:pPr marL="381000" marR="0" lvl="0" indent="-19191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8350"/>
              <a:buFont typeface="Arial"/>
              <a:buChar char="•"/>
            </a:pPr>
            <a:r>
              <a:rPr lang="en-US" sz="2222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Increased Efficiency, Meaning That The Carrier Can Serve More Subscriber. </a:t>
            </a:r>
          </a:p>
          <a:p>
            <a:endParaRPr lang="en-US" sz="2222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19191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8350"/>
              <a:buFont typeface="Arial"/>
              <a:buChar char="•"/>
            </a:pPr>
            <a:r>
              <a:rPr lang="en-US" sz="2222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Smaller Phones. </a:t>
            </a:r>
          </a:p>
          <a:p>
            <a:endParaRPr lang="en-US" sz="2222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19191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8350"/>
              <a:buFont typeface="Arial"/>
              <a:buChar char="•"/>
            </a:pPr>
            <a:r>
              <a:rPr lang="en-US" sz="2222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Power Requirements And Little Cell-to-Cell Coordination Needed By Operators. </a:t>
            </a:r>
          </a:p>
          <a:p>
            <a:endParaRPr lang="en-US" sz="2222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19191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8350"/>
              <a:buFont typeface="Arial"/>
              <a:buChar char="•"/>
            </a:pPr>
            <a:r>
              <a:rPr lang="en-US" sz="2222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Extended Reach - Beneficial To Rural Users Situated Far F</a:t>
            </a: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rom Cells.</a:t>
            </a: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1202950" y="643800"/>
            <a:ext cx="8676899" cy="56655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ctr">
              <a:lnSpc>
                <a:spcPct val="120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</a:t>
            </a:r>
          </a:p>
        </p:txBody>
      </p:sp>
      <p:sp>
        <p:nvSpPr>
          <p:cNvPr id="591" name="Shape 591"/>
          <p:cNvSpPr txBox="1"/>
          <p:nvPr/>
        </p:nvSpPr>
        <p:spPr>
          <a:xfrm>
            <a:off x="1202950" y="2252475"/>
            <a:ext cx="8930899" cy="505387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0" marR="0" indent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 OF CDMA</a:t>
            </a: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163688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4609"/>
              <a:buFont typeface="Arial"/>
              <a:buChar char="•"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NEAR FAR PROBLEM. </a:t>
            </a: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163688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4609"/>
              <a:buFont typeface="Arial"/>
              <a:buChar char="•"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 IS RELATIVELY NEW, AND THE NETWORK IS NOT AS MATURE AS GSM. </a:t>
            </a: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163688" algn="l">
              <a:lnSpc>
                <a:spcPct val="1203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4609"/>
              <a:buFont typeface="Arial"/>
              <a:buChar char="•"/>
            </a:pPr>
            <a:r>
              <a:rPr lang="en-US" sz="177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 CAN NOT OFFER INTERNATIONAL ROAMING, A LARGE GSM ADVANTAGE. </a:t>
            </a: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177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Shape 596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597" name="Shape 597"/>
          <p:cNvSpPr txBox="1"/>
          <p:nvPr/>
        </p:nvSpPr>
        <p:spPr>
          <a:xfrm>
            <a:off x="1400525" y="481525"/>
            <a:ext cx="7449249" cy="931924"/>
          </a:xfrm>
          <a:prstGeom prst="rect">
            <a:avLst/>
          </a:prstGeom>
        </p:spPr>
        <p:txBody>
          <a:bodyPr lIns="38100" tIns="38100" rIns="38100" bIns="38100" anchor="ctr" anchorCtr="0">
            <a:spAutoFit/>
          </a:bodyPr>
          <a:lstStyle/>
          <a:p>
            <a:pPr marL="0" marR="0" indent="0" algn="ctr">
              <a:lnSpc>
                <a:spcPct val="119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</p:txBody>
      </p:sp>
      <p:sp>
        <p:nvSpPr>
          <p:cNvPr id="598" name="Shape 598"/>
          <p:cNvSpPr txBox="1"/>
          <p:nvPr/>
        </p:nvSpPr>
        <p:spPr>
          <a:xfrm>
            <a:off x="920750" y="1837950"/>
            <a:ext cx="8422900" cy="46199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76577" algn="l">
              <a:lnSpc>
                <a:spcPct val="119921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ct val="177777"/>
              <a:buFont typeface="Arial"/>
              <a:buAutoNum type="arabicPeriod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
</a:t>
            </a:r>
            <a:r>
              <a:rPr lang="en-US" sz="3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CDMA cellular system is deemed superior to the FDMA and TDMA cellular systems for the time being.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indent="0" algn="l">
              <a:lnSpc>
                <a:spcPct val="119921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3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Therefore, CDMA technique becomes more important in radio communication systems.</a:t>
            </a:r>
          </a:p>
          <a:p>
            <a:pPr marL="0" marR="0" indent="0" algn="l">
              <a:lnSpc>
                <a:spcPct val="119921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3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3.CDMA is based on the spread spectrum technique which has been used at military field.</a:t>
            </a:r>
          </a:p>
          <a:p>
            <a:endParaRPr lang="en-US" sz="35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 txBox="1"/>
          <p:nvPr/>
        </p:nvSpPr>
        <p:spPr>
          <a:xfrm>
            <a:off x="7577650" y="7171950"/>
            <a:ext cx="2004124" cy="379574"/>
          </a:xfrm>
          <a:prstGeom prst="rect">
            <a:avLst/>
          </a:prstGeom>
        </p:spPr>
        <p:txBody>
          <a:bodyPr lIns="38100" tIns="38100" rIns="38100" bIns="38100" anchor="b" anchorCtr="0">
            <a:sp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18/11/2009</a:t>
            </a:r>
          </a:p>
        </p:txBody>
      </p:sp>
      <p:sp>
        <p:nvSpPr>
          <p:cNvPr id="604" name="Shape 604"/>
          <p:cNvSpPr/>
          <p:nvPr/>
        </p:nvSpPr>
        <p:spPr>
          <a:xfrm>
            <a:off x="1354650" y="931325"/>
            <a:ext cx="8297325" cy="38417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605" name="Shape 605"/>
          <p:cNvSpPr/>
          <p:nvPr/>
        </p:nvSpPr>
        <p:spPr>
          <a:xfrm>
            <a:off x="1185325" y="5334000"/>
            <a:ext cx="8413750" cy="762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1122</Words>
  <Application>Microsoft Office PowerPoint</Application>
  <PresentationFormat>Custom</PresentationFormat>
  <Paragraphs>375</Paragraphs>
  <Slides>37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/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Dimas</dc:creator>
  <cp:lastModifiedBy>Slameta</cp:lastModifiedBy>
  <cp:revision>4</cp:revision>
  <dcterms:modified xsi:type="dcterms:W3CDTF">2014-03-02T17:03:27Z</dcterms:modified>
</cp:coreProperties>
</file>