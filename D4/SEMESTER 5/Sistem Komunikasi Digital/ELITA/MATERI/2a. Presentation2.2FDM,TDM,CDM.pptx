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7" r:id="rId2"/>
    <p:sldId id="264" r:id="rId3"/>
    <p:sldId id="259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300" r:id="rId16"/>
    <p:sldId id="273" r:id="rId17"/>
    <p:sldId id="295" r:id="rId18"/>
    <p:sldId id="296" r:id="rId19"/>
    <p:sldId id="297" r:id="rId20"/>
    <p:sldId id="298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3" r:id="rId38"/>
    <p:sldId id="291" r:id="rId39"/>
    <p:sldId id="292" r:id="rId40"/>
    <p:sldId id="294" r:id="rId41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39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DE4DF-68CD-4963-8764-1B799D50CBA4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39B2D-5C4E-4153-A1DB-805EBDFD2B1D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F19F67-3EC6-4CDA-A07D-A90D7D413875}" type="slidenum">
              <a:rPr lang="en-GB"/>
              <a:pPr/>
              <a:t>4</a:t>
            </a:fld>
            <a:endParaRPr lang="en-GB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09677-D89A-4860-9EEE-56BC24D4B3DC}" type="datetimeFigureOut">
              <a:rPr lang="id-ID" smtClean="0"/>
              <a:pPr/>
              <a:t>28/09/2021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FC692-57BB-4748-9E92-279A1EBF3CCD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657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4000" b="1" dirty="0">
                <a:latin typeface="Times New Roman" pitchFamily="18" charset="0"/>
                <a:cs typeface="Times New Roman" pitchFamily="18" charset="0"/>
              </a:rPr>
              <a:t>Time Division Multiplexing (TDM)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282" y="1142984"/>
            <a:ext cx="9144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  <a:buFont typeface="Wingdings" pitchFamily="2" charset="2"/>
              <a:buChar char="v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Time Division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Multiplex:A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single carrier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frequency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channel is shared by a number of users, one after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another.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Transmission is organized in repetitive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“time-frames”.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Each frame consists of groups of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0"/>
              </a:spcBef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pulses - time slots.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285720" y="4071942"/>
            <a:ext cx="78082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 typeface="Wingdings" pitchFamily="2" charset="2"/>
              <a:buChar char="v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Each user is assigned a separate time-slot.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85720" y="4929198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All senders use same frequency in at different time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5720" y="6000768"/>
            <a:ext cx="72895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Precise clock synchronisation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39"/>
            <a:ext cx="9144000" cy="6500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144000" cy="6286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214282" y="0"/>
            <a:ext cx="18573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id-ID" sz="3200" b="1" dirty="0">
                <a:latin typeface="Times New Roman" pitchFamily="18" charset="0"/>
                <a:cs typeface="Times New Roman" pitchFamily="18" charset="0"/>
              </a:rPr>
              <a:t>TDM :</a:t>
            </a:r>
            <a:endParaRPr lang="id-ID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GB"/>
              <a:t>28/01/2003</a:t>
            </a:r>
          </a:p>
        </p:txBody>
      </p:sp>
      <p:sp>
        <p:nvSpPr>
          <p:cNvPr id="3584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A218BA-B57A-41EF-8CBA-EB0073B3CAF7}" type="slidenum">
              <a:rPr lang="en-GB"/>
              <a:pPr/>
              <a:t>4</a:t>
            </a:fld>
            <a:endParaRPr lang="en-GB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876800" y="1338263"/>
            <a:ext cx="993775" cy="1006475"/>
            <a:chOff x="3696" y="3312"/>
            <a:chExt cx="732" cy="816"/>
          </a:xfrm>
        </p:grpSpPr>
        <p:sp>
          <p:nvSpPr>
            <p:cNvPr id="35891" name="Freeform 3"/>
            <p:cNvSpPr>
              <a:spLocks/>
            </p:cNvSpPr>
            <p:nvPr/>
          </p:nvSpPr>
          <p:spPr bwMode="auto">
            <a:xfrm>
              <a:off x="3696" y="3312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92" name="Freeform 4"/>
            <p:cNvSpPr>
              <a:spLocks/>
            </p:cNvSpPr>
            <p:nvPr/>
          </p:nvSpPr>
          <p:spPr bwMode="auto">
            <a:xfrm>
              <a:off x="3936" y="3451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93" name="Freeform 5"/>
            <p:cNvSpPr>
              <a:spLocks/>
            </p:cNvSpPr>
            <p:nvPr/>
          </p:nvSpPr>
          <p:spPr bwMode="auto">
            <a:xfrm>
              <a:off x="3696" y="3318"/>
              <a:ext cx="600" cy="810"/>
            </a:xfrm>
            <a:custGeom>
              <a:avLst/>
              <a:gdLst>
                <a:gd name="T0" fmla="*/ 240 w 600"/>
                <a:gd name="T1" fmla="*/ 810 h 810"/>
                <a:gd name="T2" fmla="*/ 0 w 600"/>
                <a:gd name="T3" fmla="*/ 666 h 810"/>
                <a:gd name="T4" fmla="*/ 24 w 600"/>
                <a:gd name="T5" fmla="*/ 489 h 810"/>
                <a:gd name="T6" fmla="*/ 42 w 600"/>
                <a:gd name="T7" fmla="*/ 378 h 810"/>
                <a:gd name="T8" fmla="*/ 60 w 600"/>
                <a:gd name="T9" fmla="*/ 264 h 810"/>
                <a:gd name="T10" fmla="*/ 78 w 600"/>
                <a:gd name="T11" fmla="*/ 201 h 810"/>
                <a:gd name="T12" fmla="*/ 105 w 600"/>
                <a:gd name="T13" fmla="*/ 150 h 810"/>
                <a:gd name="T14" fmla="*/ 201 w 600"/>
                <a:gd name="T15" fmla="*/ 75 h 810"/>
                <a:gd name="T16" fmla="*/ 306 w 600"/>
                <a:gd name="T17" fmla="*/ 9 h 810"/>
                <a:gd name="T18" fmla="*/ 354 w 600"/>
                <a:gd name="T19" fmla="*/ 0 h 810"/>
                <a:gd name="T20" fmla="*/ 600 w 600"/>
                <a:gd name="T21" fmla="*/ 141 h 810"/>
                <a:gd name="T22" fmla="*/ 564 w 600"/>
                <a:gd name="T23" fmla="*/ 141 h 810"/>
                <a:gd name="T24" fmla="*/ 510 w 600"/>
                <a:gd name="T25" fmla="*/ 168 h 810"/>
                <a:gd name="T26" fmla="*/ 453 w 600"/>
                <a:gd name="T27" fmla="*/ 204 h 810"/>
                <a:gd name="T28" fmla="*/ 387 w 600"/>
                <a:gd name="T29" fmla="*/ 255 h 810"/>
                <a:gd name="T30" fmla="*/ 339 w 600"/>
                <a:gd name="T31" fmla="*/ 294 h 810"/>
                <a:gd name="T32" fmla="*/ 318 w 600"/>
                <a:gd name="T33" fmla="*/ 330 h 810"/>
                <a:gd name="T34" fmla="*/ 306 w 600"/>
                <a:gd name="T35" fmla="*/ 384 h 810"/>
                <a:gd name="T36" fmla="*/ 240 w 600"/>
                <a:gd name="T37" fmla="*/ 810 h 81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0"/>
                <a:gd name="T58" fmla="*/ 0 h 810"/>
                <a:gd name="T59" fmla="*/ 600 w 600"/>
                <a:gd name="T60" fmla="*/ 810 h 81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0" h="810">
                  <a:moveTo>
                    <a:pt x="240" y="810"/>
                  </a:moveTo>
                  <a:lnTo>
                    <a:pt x="0" y="666"/>
                  </a:lnTo>
                  <a:lnTo>
                    <a:pt x="24" y="489"/>
                  </a:lnTo>
                  <a:lnTo>
                    <a:pt x="42" y="378"/>
                  </a:lnTo>
                  <a:lnTo>
                    <a:pt x="60" y="264"/>
                  </a:lnTo>
                  <a:lnTo>
                    <a:pt x="78" y="201"/>
                  </a:lnTo>
                  <a:lnTo>
                    <a:pt x="105" y="150"/>
                  </a:lnTo>
                  <a:lnTo>
                    <a:pt x="201" y="75"/>
                  </a:lnTo>
                  <a:lnTo>
                    <a:pt x="306" y="9"/>
                  </a:lnTo>
                  <a:lnTo>
                    <a:pt x="354" y="0"/>
                  </a:lnTo>
                  <a:lnTo>
                    <a:pt x="600" y="141"/>
                  </a:lnTo>
                  <a:lnTo>
                    <a:pt x="564" y="141"/>
                  </a:lnTo>
                  <a:lnTo>
                    <a:pt x="510" y="168"/>
                  </a:lnTo>
                  <a:lnTo>
                    <a:pt x="453" y="204"/>
                  </a:lnTo>
                  <a:lnTo>
                    <a:pt x="387" y="255"/>
                  </a:lnTo>
                  <a:lnTo>
                    <a:pt x="339" y="294"/>
                  </a:lnTo>
                  <a:lnTo>
                    <a:pt x="318" y="330"/>
                  </a:lnTo>
                  <a:lnTo>
                    <a:pt x="306" y="384"/>
                  </a:lnTo>
                  <a:lnTo>
                    <a:pt x="240" y="81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</p:grpSp>
      <p:sp>
        <p:nvSpPr>
          <p:cNvPr id="35845" name="Rectangle 6"/>
          <p:cNvSpPr>
            <a:spLocks noGrp="1" noChangeArrowheads="1"/>
          </p:cNvSpPr>
          <p:nvPr>
            <p:ph type="title"/>
          </p:nvPr>
        </p:nvSpPr>
        <p:spPr>
          <a:xfrm>
            <a:off x="1" y="228600"/>
            <a:ext cx="4495800" cy="271442"/>
          </a:xfrm>
        </p:spPr>
        <p:txBody>
          <a:bodyPr>
            <a:normAutofit fontScale="90000"/>
          </a:bodyPr>
          <a:lstStyle/>
          <a:p>
            <a:pPr algn="l" eaLnBrk="1" hangingPunct="1">
              <a:buFont typeface="Wingdings" pitchFamily="2" charset="2"/>
              <a:buChar char="ü"/>
            </a:pPr>
            <a:r>
              <a:rPr lang="en-US" dirty="0" err="1"/>
              <a:t>TDM</a:t>
            </a:r>
            <a:endParaRPr lang="en-US" dirty="0"/>
          </a:p>
        </p:txBody>
      </p:sp>
      <p:sp>
        <p:nvSpPr>
          <p:cNvPr id="35846" name="Line 7"/>
          <p:cNvSpPr>
            <a:spLocks noChangeShapeType="1"/>
          </p:cNvSpPr>
          <p:nvPr/>
        </p:nvSpPr>
        <p:spPr bwMode="auto">
          <a:xfrm flipV="1">
            <a:off x="914400" y="1590675"/>
            <a:ext cx="0" cy="3048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47" name="Line 8"/>
          <p:cNvSpPr>
            <a:spLocks noChangeShapeType="1"/>
          </p:cNvSpPr>
          <p:nvPr/>
        </p:nvSpPr>
        <p:spPr bwMode="auto">
          <a:xfrm flipV="1">
            <a:off x="930275" y="4572000"/>
            <a:ext cx="3032125" cy="111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48" name="Text Box 9"/>
          <p:cNvSpPr txBox="1">
            <a:spLocks noChangeArrowheads="1"/>
          </p:cNvSpPr>
          <p:nvPr/>
        </p:nvSpPr>
        <p:spPr bwMode="auto">
          <a:xfrm rot="-5400000">
            <a:off x="-125413" y="1946276"/>
            <a:ext cx="1470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Frequency</a:t>
            </a:r>
          </a:p>
        </p:txBody>
      </p:sp>
      <p:sp>
        <p:nvSpPr>
          <p:cNvPr id="35849" name="Text Box 10"/>
          <p:cNvSpPr txBox="1">
            <a:spLocks noChangeArrowheads="1"/>
          </p:cNvSpPr>
          <p:nvPr/>
        </p:nvSpPr>
        <p:spPr bwMode="auto">
          <a:xfrm>
            <a:off x="2971800" y="4572000"/>
            <a:ext cx="825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Time</a:t>
            </a:r>
          </a:p>
        </p:txBody>
      </p:sp>
      <p:sp>
        <p:nvSpPr>
          <p:cNvPr id="35850" name="Text Box 11"/>
          <p:cNvSpPr txBox="1">
            <a:spLocks noChangeArrowheads="1"/>
          </p:cNvSpPr>
          <p:nvPr/>
        </p:nvSpPr>
        <p:spPr bwMode="auto">
          <a:xfrm>
            <a:off x="987425" y="4884738"/>
            <a:ext cx="1054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Time slot</a:t>
            </a:r>
          </a:p>
        </p:txBody>
      </p:sp>
      <p:sp>
        <p:nvSpPr>
          <p:cNvPr id="35851" name="Rectangle 12"/>
          <p:cNvSpPr>
            <a:spLocks noChangeArrowheads="1"/>
          </p:cNvSpPr>
          <p:nvPr/>
        </p:nvSpPr>
        <p:spPr bwMode="auto">
          <a:xfrm rot="-5400000">
            <a:off x="323850" y="2951163"/>
            <a:ext cx="2308225" cy="339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52" name="Rectangle 13"/>
          <p:cNvSpPr>
            <a:spLocks noChangeArrowheads="1"/>
          </p:cNvSpPr>
          <p:nvPr/>
        </p:nvSpPr>
        <p:spPr bwMode="auto">
          <a:xfrm rot="-5400000">
            <a:off x="663575" y="2951163"/>
            <a:ext cx="2308225" cy="3397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53" name="Rectangle 14"/>
          <p:cNvSpPr>
            <a:spLocks noChangeArrowheads="1"/>
          </p:cNvSpPr>
          <p:nvPr/>
        </p:nvSpPr>
        <p:spPr bwMode="auto">
          <a:xfrm rot="-5400000">
            <a:off x="1003300" y="2951163"/>
            <a:ext cx="2308225" cy="339725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54" name="Rectangle 15"/>
          <p:cNvSpPr>
            <a:spLocks noChangeArrowheads="1"/>
          </p:cNvSpPr>
          <p:nvPr/>
        </p:nvSpPr>
        <p:spPr bwMode="auto">
          <a:xfrm rot="-5400000">
            <a:off x="1343025" y="2951163"/>
            <a:ext cx="2308225" cy="339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55" name="Rectangle 16"/>
          <p:cNvSpPr>
            <a:spLocks noChangeArrowheads="1"/>
          </p:cNvSpPr>
          <p:nvPr/>
        </p:nvSpPr>
        <p:spPr bwMode="auto">
          <a:xfrm rot="-5400000">
            <a:off x="1682750" y="2951163"/>
            <a:ext cx="2308225" cy="33972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56" name="Rectangle 17"/>
          <p:cNvSpPr>
            <a:spLocks noChangeArrowheads="1"/>
          </p:cNvSpPr>
          <p:nvPr/>
        </p:nvSpPr>
        <p:spPr bwMode="auto">
          <a:xfrm rot="-5400000">
            <a:off x="2022475" y="2951163"/>
            <a:ext cx="2308225" cy="3397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57" name="Line 18"/>
          <p:cNvSpPr>
            <a:spLocks noChangeShapeType="1"/>
          </p:cNvSpPr>
          <p:nvPr/>
        </p:nvSpPr>
        <p:spPr bwMode="auto">
          <a:xfrm>
            <a:off x="1308100" y="1738313"/>
            <a:ext cx="2038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58" name="Line 19"/>
          <p:cNvSpPr>
            <a:spLocks noChangeShapeType="1"/>
          </p:cNvSpPr>
          <p:nvPr/>
        </p:nvSpPr>
        <p:spPr bwMode="auto">
          <a:xfrm flipV="1">
            <a:off x="1584325" y="4105275"/>
            <a:ext cx="241300" cy="879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59" name="Line 20"/>
          <p:cNvSpPr>
            <a:spLocks noChangeShapeType="1"/>
          </p:cNvSpPr>
          <p:nvPr/>
        </p:nvSpPr>
        <p:spPr bwMode="auto">
          <a:xfrm flipV="1">
            <a:off x="1308100" y="1590675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60" name="Line 21"/>
          <p:cNvSpPr>
            <a:spLocks noChangeShapeType="1"/>
          </p:cNvSpPr>
          <p:nvPr/>
        </p:nvSpPr>
        <p:spPr bwMode="auto">
          <a:xfrm flipV="1">
            <a:off x="3346450" y="1590675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61" name="Text Box 22"/>
          <p:cNvSpPr txBox="1">
            <a:spLocks noChangeArrowheads="1"/>
          </p:cNvSpPr>
          <p:nvPr/>
        </p:nvSpPr>
        <p:spPr bwMode="auto">
          <a:xfrm>
            <a:off x="1647825" y="1371600"/>
            <a:ext cx="1276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Time-frame</a:t>
            </a:r>
          </a:p>
        </p:txBody>
      </p:sp>
      <p:sp>
        <p:nvSpPr>
          <p:cNvPr id="35862" name="Text Box 23"/>
          <p:cNvSpPr txBox="1">
            <a:spLocks noChangeArrowheads="1"/>
          </p:cNvSpPr>
          <p:nvPr/>
        </p:nvSpPr>
        <p:spPr bwMode="auto">
          <a:xfrm>
            <a:off x="4876800" y="4038600"/>
            <a:ext cx="3978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endParaRPr lang="en-US">
              <a:latin typeface="Times New Roman" pitchFamily="18" charset="0"/>
            </a:endParaRPr>
          </a:p>
        </p:txBody>
      </p:sp>
      <p:sp>
        <p:nvSpPr>
          <p:cNvPr id="35863" name="Text Box 24"/>
          <p:cNvSpPr txBox="1">
            <a:spLocks noChangeArrowheads="1"/>
          </p:cNvSpPr>
          <p:nvPr/>
        </p:nvSpPr>
        <p:spPr bwMode="auto">
          <a:xfrm>
            <a:off x="307975" y="5984875"/>
            <a:ext cx="85312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1400">
                <a:latin typeface="Times New Roman" pitchFamily="18" charset="0"/>
              </a:rPr>
              <a:t>Example: DECT (Digital enhanced cordless phone) Frame lasts 10 ms, consists of 24 time slots (each 417</a:t>
            </a:r>
            <a:r>
              <a:rPr lang="en-US" sz="1400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sz="1400">
                <a:latin typeface="Times New Roman" pitchFamily="18" charset="0"/>
              </a:rPr>
              <a:t>s)</a:t>
            </a:r>
          </a:p>
        </p:txBody>
      </p:sp>
      <p:sp>
        <p:nvSpPr>
          <p:cNvPr id="35864" name="Freeform 25"/>
          <p:cNvSpPr>
            <a:spLocks/>
          </p:cNvSpPr>
          <p:nvPr/>
        </p:nvSpPr>
        <p:spPr bwMode="auto">
          <a:xfrm>
            <a:off x="6821488" y="2522538"/>
            <a:ext cx="1042987" cy="704850"/>
          </a:xfrm>
          <a:custGeom>
            <a:avLst/>
            <a:gdLst>
              <a:gd name="T0" fmla="*/ 0 w 1824"/>
              <a:gd name="T1" fmla="*/ 1352 h 1352"/>
              <a:gd name="T2" fmla="*/ 1824 w 1824"/>
              <a:gd name="T3" fmla="*/ 0 h 1352"/>
              <a:gd name="T4" fmla="*/ 0 60000 65536"/>
              <a:gd name="T5" fmla="*/ 0 60000 65536"/>
              <a:gd name="T6" fmla="*/ 0 w 1824"/>
              <a:gd name="T7" fmla="*/ 0 h 1352"/>
              <a:gd name="T8" fmla="*/ 1824 w 1824"/>
              <a:gd name="T9" fmla="*/ 1352 h 13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24" h="1352">
                <a:moveTo>
                  <a:pt x="0" y="1352"/>
                </a:moveTo>
                <a:lnTo>
                  <a:pt x="1824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65" name="Line 26"/>
          <p:cNvSpPr>
            <a:spLocks noChangeShapeType="1"/>
          </p:cNvSpPr>
          <p:nvPr/>
        </p:nvSpPr>
        <p:spPr bwMode="auto">
          <a:xfrm flipH="1" flipV="1">
            <a:off x="4495800" y="1966913"/>
            <a:ext cx="2325688" cy="1260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66" name="Text Box 27"/>
          <p:cNvSpPr txBox="1">
            <a:spLocks noChangeArrowheads="1"/>
          </p:cNvSpPr>
          <p:nvPr/>
        </p:nvSpPr>
        <p:spPr bwMode="auto">
          <a:xfrm rot="1886239">
            <a:off x="4425950" y="2173288"/>
            <a:ext cx="765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Time</a:t>
            </a:r>
          </a:p>
        </p:txBody>
      </p:sp>
      <p:sp>
        <p:nvSpPr>
          <p:cNvPr id="35867" name="Text Box 28"/>
          <p:cNvSpPr txBox="1">
            <a:spLocks noChangeArrowheads="1"/>
          </p:cNvSpPr>
          <p:nvPr/>
        </p:nvSpPr>
        <p:spPr bwMode="auto">
          <a:xfrm>
            <a:off x="6235700" y="838200"/>
            <a:ext cx="1628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Power density</a:t>
            </a:r>
          </a:p>
        </p:txBody>
      </p:sp>
      <p:sp>
        <p:nvSpPr>
          <p:cNvPr id="35868" name="Text Box 29"/>
          <p:cNvSpPr txBox="1">
            <a:spLocks noChangeArrowheads="1"/>
          </p:cNvSpPr>
          <p:nvPr/>
        </p:nvSpPr>
        <p:spPr bwMode="auto">
          <a:xfrm>
            <a:off x="4876800" y="914400"/>
            <a:ext cx="862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 err="1">
                <a:latin typeface="Times New Roman" pitchFamily="18" charset="0"/>
              </a:rPr>
              <a:t>TDM</a:t>
            </a:r>
            <a:endParaRPr lang="en-US" sz="2400" dirty="0">
              <a:latin typeface="Times New Roman" pitchFamily="18" charset="0"/>
            </a:endParaRP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5191125" y="1509713"/>
            <a:ext cx="993775" cy="1006475"/>
            <a:chOff x="3696" y="3312"/>
            <a:chExt cx="732" cy="816"/>
          </a:xfrm>
        </p:grpSpPr>
        <p:sp>
          <p:nvSpPr>
            <p:cNvPr id="35888" name="Freeform 31"/>
            <p:cNvSpPr>
              <a:spLocks/>
            </p:cNvSpPr>
            <p:nvPr/>
          </p:nvSpPr>
          <p:spPr bwMode="auto">
            <a:xfrm>
              <a:off x="3696" y="3312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89" name="Freeform 32"/>
            <p:cNvSpPr>
              <a:spLocks/>
            </p:cNvSpPr>
            <p:nvPr/>
          </p:nvSpPr>
          <p:spPr bwMode="auto">
            <a:xfrm>
              <a:off x="3936" y="3451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90" name="Freeform 33"/>
            <p:cNvSpPr>
              <a:spLocks/>
            </p:cNvSpPr>
            <p:nvPr/>
          </p:nvSpPr>
          <p:spPr bwMode="auto">
            <a:xfrm>
              <a:off x="3696" y="3318"/>
              <a:ext cx="600" cy="810"/>
            </a:xfrm>
            <a:custGeom>
              <a:avLst/>
              <a:gdLst>
                <a:gd name="T0" fmla="*/ 240 w 600"/>
                <a:gd name="T1" fmla="*/ 810 h 810"/>
                <a:gd name="T2" fmla="*/ 0 w 600"/>
                <a:gd name="T3" fmla="*/ 666 h 810"/>
                <a:gd name="T4" fmla="*/ 24 w 600"/>
                <a:gd name="T5" fmla="*/ 489 h 810"/>
                <a:gd name="T6" fmla="*/ 42 w 600"/>
                <a:gd name="T7" fmla="*/ 378 h 810"/>
                <a:gd name="T8" fmla="*/ 60 w 600"/>
                <a:gd name="T9" fmla="*/ 264 h 810"/>
                <a:gd name="T10" fmla="*/ 78 w 600"/>
                <a:gd name="T11" fmla="*/ 201 h 810"/>
                <a:gd name="T12" fmla="*/ 105 w 600"/>
                <a:gd name="T13" fmla="*/ 150 h 810"/>
                <a:gd name="T14" fmla="*/ 201 w 600"/>
                <a:gd name="T15" fmla="*/ 75 h 810"/>
                <a:gd name="T16" fmla="*/ 306 w 600"/>
                <a:gd name="T17" fmla="*/ 9 h 810"/>
                <a:gd name="T18" fmla="*/ 354 w 600"/>
                <a:gd name="T19" fmla="*/ 0 h 810"/>
                <a:gd name="T20" fmla="*/ 600 w 600"/>
                <a:gd name="T21" fmla="*/ 141 h 810"/>
                <a:gd name="T22" fmla="*/ 564 w 600"/>
                <a:gd name="T23" fmla="*/ 141 h 810"/>
                <a:gd name="T24" fmla="*/ 510 w 600"/>
                <a:gd name="T25" fmla="*/ 168 h 810"/>
                <a:gd name="T26" fmla="*/ 453 w 600"/>
                <a:gd name="T27" fmla="*/ 204 h 810"/>
                <a:gd name="T28" fmla="*/ 387 w 600"/>
                <a:gd name="T29" fmla="*/ 255 h 810"/>
                <a:gd name="T30" fmla="*/ 339 w 600"/>
                <a:gd name="T31" fmla="*/ 294 h 810"/>
                <a:gd name="T32" fmla="*/ 318 w 600"/>
                <a:gd name="T33" fmla="*/ 330 h 810"/>
                <a:gd name="T34" fmla="*/ 306 w 600"/>
                <a:gd name="T35" fmla="*/ 384 h 810"/>
                <a:gd name="T36" fmla="*/ 240 w 600"/>
                <a:gd name="T37" fmla="*/ 810 h 81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0"/>
                <a:gd name="T58" fmla="*/ 0 h 810"/>
                <a:gd name="T59" fmla="*/ 600 w 600"/>
                <a:gd name="T60" fmla="*/ 810 h 81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0" h="810">
                  <a:moveTo>
                    <a:pt x="240" y="810"/>
                  </a:moveTo>
                  <a:lnTo>
                    <a:pt x="0" y="666"/>
                  </a:lnTo>
                  <a:lnTo>
                    <a:pt x="24" y="489"/>
                  </a:lnTo>
                  <a:lnTo>
                    <a:pt x="42" y="378"/>
                  </a:lnTo>
                  <a:lnTo>
                    <a:pt x="60" y="264"/>
                  </a:lnTo>
                  <a:lnTo>
                    <a:pt x="78" y="201"/>
                  </a:lnTo>
                  <a:lnTo>
                    <a:pt x="105" y="150"/>
                  </a:lnTo>
                  <a:lnTo>
                    <a:pt x="201" y="75"/>
                  </a:lnTo>
                  <a:lnTo>
                    <a:pt x="306" y="9"/>
                  </a:lnTo>
                  <a:lnTo>
                    <a:pt x="354" y="0"/>
                  </a:lnTo>
                  <a:lnTo>
                    <a:pt x="600" y="141"/>
                  </a:lnTo>
                  <a:lnTo>
                    <a:pt x="564" y="141"/>
                  </a:lnTo>
                  <a:lnTo>
                    <a:pt x="510" y="168"/>
                  </a:lnTo>
                  <a:lnTo>
                    <a:pt x="453" y="204"/>
                  </a:lnTo>
                  <a:lnTo>
                    <a:pt x="387" y="255"/>
                  </a:lnTo>
                  <a:lnTo>
                    <a:pt x="339" y="294"/>
                  </a:lnTo>
                  <a:lnTo>
                    <a:pt x="318" y="330"/>
                  </a:lnTo>
                  <a:lnTo>
                    <a:pt x="306" y="384"/>
                  </a:lnTo>
                  <a:lnTo>
                    <a:pt x="240" y="81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5516563" y="1687513"/>
            <a:ext cx="995362" cy="1006475"/>
            <a:chOff x="3696" y="3312"/>
            <a:chExt cx="732" cy="816"/>
          </a:xfrm>
        </p:grpSpPr>
        <p:sp>
          <p:nvSpPr>
            <p:cNvPr id="35885" name="Freeform 35"/>
            <p:cNvSpPr>
              <a:spLocks/>
            </p:cNvSpPr>
            <p:nvPr/>
          </p:nvSpPr>
          <p:spPr bwMode="auto">
            <a:xfrm>
              <a:off x="3696" y="3312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86" name="Freeform 36"/>
            <p:cNvSpPr>
              <a:spLocks/>
            </p:cNvSpPr>
            <p:nvPr/>
          </p:nvSpPr>
          <p:spPr bwMode="auto">
            <a:xfrm>
              <a:off x="3936" y="3451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87" name="Freeform 37"/>
            <p:cNvSpPr>
              <a:spLocks/>
            </p:cNvSpPr>
            <p:nvPr/>
          </p:nvSpPr>
          <p:spPr bwMode="auto">
            <a:xfrm>
              <a:off x="3696" y="3318"/>
              <a:ext cx="600" cy="810"/>
            </a:xfrm>
            <a:custGeom>
              <a:avLst/>
              <a:gdLst>
                <a:gd name="T0" fmla="*/ 240 w 600"/>
                <a:gd name="T1" fmla="*/ 810 h 810"/>
                <a:gd name="T2" fmla="*/ 0 w 600"/>
                <a:gd name="T3" fmla="*/ 666 h 810"/>
                <a:gd name="T4" fmla="*/ 24 w 600"/>
                <a:gd name="T5" fmla="*/ 489 h 810"/>
                <a:gd name="T6" fmla="*/ 42 w 600"/>
                <a:gd name="T7" fmla="*/ 378 h 810"/>
                <a:gd name="T8" fmla="*/ 60 w 600"/>
                <a:gd name="T9" fmla="*/ 264 h 810"/>
                <a:gd name="T10" fmla="*/ 78 w 600"/>
                <a:gd name="T11" fmla="*/ 201 h 810"/>
                <a:gd name="T12" fmla="*/ 105 w 600"/>
                <a:gd name="T13" fmla="*/ 150 h 810"/>
                <a:gd name="T14" fmla="*/ 201 w 600"/>
                <a:gd name="T15" fmla="*/ 75 h 810"/>
                <a:gd name="T16" fmla="*/ 306 w 600"/>
                <a:gd name="T17" fmla="*/ 9 h 810"/>
                <a:gd name="T18" fmla="*/ 354 w 600"/>
                <a:gd name="T19" fmla="*/ 0 h 810"/>
                <a:gd name="T20" fmla="*/ 600 w 600"/>
                <a:gd name="T21" fmla="*/ 141 h 810"/>
                <a:gd name="T22" fmla="*/ 564 w 600"/>
                <a:gd name="T23" fmla="*/ 141 h 810"/>
                <a:gd name="T24" fmla="*/ 510 w 600"/>
                <a:gd name="T25" fmla="*/ 168 h 810"/>
                <a:gd name="T26" fmla="*/ 453 w 600"/>
                <a:gd name="T27" fmla="*/ 204 h 810"/>
                <a:gd name="T28" fmla="*/ 387 w 600"/>
                <a:gd name="T29" fmla="*/ 255 h 810"/>
                <a:gd name="T30" fmla="*/ 339 w 600"/>
                <a:gd name="T31" fmla="*/ 294 h 810"/>
                <a:gd name="T32" fmla="*/ 318 w 600"/>
                <a:gd name="T33" fmla="*/ 330 h 810"/>
                <a:gd name="T34" fmla="*/ 306 w 600"/>
                <a:gd name="T35" fmla="*/ 384 h 810"/>
                <a:gd name="T36" fmla="*/ 240 w 600"/>
                <a:gd name="T37" fmla="*/ 810 h 81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0"/>
                <a:gd name="T58" fmla="*/ 0 h 810"/>
                <a:gd name="T59" fmla="*/ 600 w 600"/>
                <a:gd name="T60" fmla="*/ 810 h 81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0" h="810">
                  <a:moveTo>
                    <a:pt x="240" y="810"/>
                  </a:moveTo>
                  <a:lnTo>
                    <a:pt x="0" y="666"/>
                  </a:lnTo>
                  <a:lnTo>
                    <a:pt x="24" y="489"/>
                  </a:lnTo>
                  <a:lnTo>
                    <a:pt x="42" y="378"/>
                  </a:lnTo>
                  <a:lnTo>
                    <a:pt x="60" y="264"/>
                  </a:lnTo>
                  <a:lnTo>
                    <a:pt x="78" y="201"/>
                  </a:lnTo>
                  <a:lnTo>
                    <a:pt x="105" y="150"/>
                  </a:lnTo>
                  <a:lnTo>
                    <a:pt x="201" y="75"/>
                  </a:lnTo>
                  <a:lnTo>
                    <a:pt x="306" y="9"/>
                  </a:lnTo>
                  <a:lnTo>
                    <a:pt x="354" y="0"/>
                  </a:lnTo>
                  <a:lnTo>
                    <a:pt x="600" y="141"/>
                  </a:lnTo>
                  <a:lnTo>
                    <a:pt x="564" y="141"/>
                  </a:lnTo>
                  <a:lnTo>
                    <a:pt x="510" y="168"/>
                  </a:lnTo>
                  <a:lnTo>
                    <a:pt x="453" y="204"/>
                  </a:lnTo>
                  <a:lnTo>
                    <a:pt x="387" y="255"/>
                  </a:lnTo>
                  <a:lnTo>
                    <a:pt x="339" y="294"/>
                  </a:lnTo>
                  <a:lnTo>
                    <a:pt x="318" y="330"/>
                  </a:lnTo>
                  <a:lnTo>
                    <a:pt x="306" y="384"/>
                  </a:lnTo>
                  <a:lnTo>
                    <a:pt x="240" y="81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5843588" y="1865313"/>
            <a:ext cx="993775" cy="1006475"/>
            <a:chOff x="3696" y="3312"/>
            <a:chExt cx="732" cy="816"/>
          </a:xfrm>
        </p:grpSpPr>
        <p:sp>
          <p:nvSpPr>
            <p:cNvPr id="35882" name="Freeform 39"/>
            <p:cNvSpPr>
              <a:spLocks/>
            </p:cNvSpPr>
            <p:nvPr/>
          </p:nvSpPr>
          <p:spPr bwMode="auto">
            <a:xfrm>
              <a:off x="3696" y="3312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83" name="Freeform 40"/>
            <p:cNvSpPr>
              <a:spLocks/>
            </p:cNvSpPr>
            <p:nvPr/>
          </p:nvSpPr>
          <p:spPr bwMode="auto">
            <a:xfrm>
              <a:off x="3936" y="3451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84" name="Freeform 41"/>
            <p:cNvSpPr>
              <a:spLocks/>
            </p:cNvSpPr>
            <p:nvPr/>
          </p:nvSpPr>
          <p:spPr bwMode="auto">
            <a:xfrm>
              <a:off x="3696" y="3318"/>
              <a:ext cx="600" cy="810"/>
            </a:xfrm>
            <a:custGeom>
              <a:avLst/>
              <a:gdLst>
                <a:gd name="T0" fmla="*/ 240 w 600"/>
                <a:gd name="T1" fmla="*/ 810 h 810"/>
                <a:gd name="T2" fmla="*/ 0 w 600"/>
                <a:gd name="T3" fmla="*/ 666 h 810"/>
                <a:gd name="T4" fmla="*/ 24 w 600"/>
                <a:gd name="T5" fmla="*/ 489 h 810"/>
                <a:gd name="T6" fmla="*/ 42 w 600"/>
                <a:gd name="T7" fmla="*/ 378 h 810"/>
                <a:gd name="T8" fmla="*/ 60 w 600"/>
                <a:gd name="T9" fmla="*/ 264 h 810"/>
                <a:gd name="T10" fmla="*/ 78 w 600"/>
                <a:gd name="T11" fmla="*/ 201 h 810"/>
                <a:gd name="T12" fmla="*/ 105 w 600"/>
                <a:gd name="T13" fmla="*/ 150 h 810"/>
                <a:gd name="T14" fmla="*/ 201 w 600"/>
                <a:gd name="T15" fmla="*/ 75 h 810"/>
                <a:gd name="T16" fmla="*/ 306 w 600"/>
                <a:gd name="T17" fmla="*/ 9 h 810"/>
                <a:gd name="T18" fmla="*/ 354 w 600"/>
                <a:gd name="T19" fmla="*/ 0 h 810"/>
                <a:gd name="T20" fmla="*/ 600 w 600"/>
                <a:gd name="T21" fmla="*/ 141 h 810"/>
                <a:gd name="T22" fmla="*/ 564 w 600"/>
                <a:gd name="T23" fmla="*/ 141 h 810"/>
                <a:gd name="T24" fmla="*/ 510 w 600"/>
                <a:gd name="T25" fmla="*/ 168 h 810"/>
                <a:gd name="T26" fmla="*/ 453 w 600"/>
                <a:gd name="T27" fmla="*/ 204 h 810"/>
                <a:gd name="T28" fmla="*/ 387 w 600"/>
                <a:gd name="T29" fmla="*/ 255 h 810"/>
                <a:gd name="T30" fmla="*/ 339 w 600"/>
                <a:gd name="T31" fmla="*/ 294 h 810"/>
                <a:gd name="T32" fmla="*/ 318 w 600"/>
                <a:gd name="T33" fmla="*/ 330 h 810"/>
                <a:gd name="T34" fmla="*/ 306 w 600"/>
                <a:gd name="T35" fmla="*/ 384 h 810"/>
                <a:gd name="T36" fmla="*/ 240 w 600"/>
                <a:gd name="T37" fmla="*/ 810 h 81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0"/>
                <a:gd name="T58" fmla="*/ 0 h 810"/>
                <a:gd name="T59" fmla="*/ 600 w 600"/>
                <a:gd name="T60" fmla="*/ 810 h 81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0" h="810">
                  <a:moveTo>
                    <a:pt x="240" y="810"/>
                  </a:moveTo>
                  <a:lnTo>
                    <a:pt x="0" y="666"/>
                  </a:lnTo>
                  <a:lnTo>
                    <a:pt x="24" y="489"/>
                  </a:lnTo>
                  <a:lnTo>
                    <a:pt x="42" y="378"/>
                  </a:lnTo>
                  <a:lnTo>
                    <a:pt x="60" y="264"/>
                  </a:lnTo>
                  <a:lnTo>
                    <a:pt x="78" y="201"/>
                  </a:lnTo>
                  <a:lnTo>
                    <a:pt x="105" y="150"/>
                  </a:lnTo>
                  <a:lnTo>
                    <a:pt x="201" y="75"/>
                  </a:lnTo>
                  <a:lnTo>
                    <a:pt x="306" y="9"/>
                  </a:lnTo>
                  <a:lnTo>
                    <a:pt x="354" y="0"/>
                  </a:lnTo>
                  <a:lnTo>
                    <a:pt x="600" y="141"/>
                  </a:lnTo>
                  <a:lnTo>
                    <a:pt x="564" y="141"/>
                  </a:lnTo>
                  <a:lnTo>
                    <a:pt x="510" y="168"/>
                  </a:lnTo>
                  <a:lnTo>
                    <a:pt x="453" y="204"/>
                  </a:lnTo>
                  <a:lnTo>
                    <a:pt x="387" y="255"/>
                  </a:lnTo>
                  <a:lnTo>
                    <a:pt x="339" y="294"/>
                  </a:lnTo>
                  <a:lnTo>
                    <a:pt x="318" y="330"/>
                  </a:lnTo>
                  <a:lnTo>
                    <a:pt x="306" y="384"/>
                  </a:lnTo>
                  <a:lnTo>
                    <a:pt x="240" y="81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6169025" y="2043113"/>
            <a:ext cx="995363" cy="1006475"/>
            <a:chOff x="3696" y="3312"/>
            <a:chExt cx="732" cy="816"/>
          </a:xfrm>
        </p:grpSpPr>
        <p:sp>
          <p:nvSpPr>
            <p:cNvPr id="35879" name="Freeform 43"/>
            <p:cNvSpPr>
              <a:spLocks/>
            </p:cNvSpPr>
            <p:nvPr/>
          </p:nvSpPr>
          <p:spPr bwMode="auto">
            <a:xfrm>
              <a:off x="3696" y="3312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80" name="Freeform 44"/>
            <p:cNvSpPr>
              <a:spLocks/>
            </p:cNvSpPr>
            <p:nvPr/>
          </p:nvSpPr>
          <p:spPr bwMode="auto">
            <a:xfrm>
              <a:off x="3936" y="3451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81" name="Freeform 45"/>
            <p:cNvSpPr>
              <a:spLocks/>
            </p:cNvSpPr>
            <p:nvPr/>
          </p:nvSpPr>
          <p:spPr bwMode="auto">
            <a:xfrm>
              <a:off x="3696" y="3318"/>
              <a:ext cx="600" cy="810"/>
            </a:xfrm>
            <a:custGeom>
              <a:avLst/>
              <a:gdLst>
                <a:gd name="T0" fmla="*/ 240 w 600"/>
                <a:gd name="T1" fmla="*/ 810 h 810"/>
                <a:gd name="T2" fmla="*/ 0 w 600"/>
                <a:gd name="T3" fmla="*/ 666 h 810"/>
                <a:gd name="T4" fmla="*/ 24 w 600"/>
                <a:gd name="T5" fmla="*/ 489 h 810"/>
                <a:gd name="T6" fmla="*/ 42 w 600"/>
                <a:gd name="T7" fmla="*/ 378 h 810"/>
                <a:gd name="T8" fmla="*/ 60 w 600"/>
                <a:gd name="T9" fmla="*/ 264 h 810"/>
                <a:gd name="T10" fmla="*/ 78 w 600"/>
                <a:gd name="T11" fmla="*/ 201 h 810"/>
                <a:gd name="T12" fmla="*/ 105 w 600"/>
                <a:gd name="T13" fmla="*/ 150 h 810"/>
                <a:gd name="T14" fmla="*/ 201 w 600"/>
                <a:gd name="T15" fmla="*/ 75 h 810"/>
                <a:gd name="T16" fmla="*/ 306 w 600"/>
                <a:gd name="T17" fmla="*/ 9 h 810"/>
                <a:gd name="T18" fmla="*/ 354 w 600"/>
                <a:gd name="T19" fmla="*/ 0 h 810"/>
                <a:gd name="T20" fmla="*/ 600 w 600"/>
                <a:gd name="T21" fmla="*/ 141 h 810"/>
                <a:gd name="T22" fmla="*/ 564 w 600"/>
                <a:gd name="T23" fmla="*/ 141 h 810"/>
                <a:gd name="T24" fmla="*/ 510 w 600"/>
                <a:gd name="T25" fmla="*/ 168 h 810"/>
                <a:gd name="T26" fmla="*/ 453 w 600"/>
                <a:gd name="T27" fmla="*/ 204 h 810"/>
                <a:gd name="T28" fmla="*/ 387 w 600"/>
                <a:gd name="T29" fmla="*/ 255 h 810"/>
                <a:gd name="T30" fmla="*/ 339 w 600"/>
                <a:gd name="T31" fmla="*/ 294 h 810"/>
                <a:gd name="T32" fmla="*/ 318 w 600"/>
                <a:gd name="T33" fmla="*/ 330 h 810"/>
                <a:gd name="T34" fmla="*/ 306 w 600"/>
                <a:gd name="T35" fmla="*/ 384 h 810"/>
                <a:gd name="T36" fmla="*/ 240 w 600"/>
                <a:gd name="T37" fmla="*/ 810 h 81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0"/>
                <a:gd name="T58" fmla="*/ 0 h 810"/>
                <a:gd name="T59" fmla="*/ 600 w 600"/>
                <a:gd name="T60" fmla="*/ 810 h 81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0" h="810">
                  <a:moveTo>
                    <a:pt x="240" y="810"/>
                  </a:moveTo>
                  <a:lnTo>
                    <a:pt x="0" y="666"/>
                  </a:lnTo>
                  <a:lnTo>
                    <a:pt x="24" y="489"/>
                  </a:lnTo>
                  <a:lnTo>
                    <a:pt x="42" y="378"/>
                  </a:lnTo>
                  <a:lnTo>
                    <a:pt x="60" y="264"/>
                  </a:lnTo>
                  <a:lnTo>
                    <a:pt x="78" y="201"/>
                  </a:lnTo>
                  <a:lnTo>
                    <a:pt x="105" y="150"/>
                  </a:lnTo>
                  <a:lnTo>
                    <a:pt x="201" y="75"/>
                  </a:lnTo>
                  <a:lnTo>
                    <a:pt x="306" y="9"/>
                  </a:lnTo>
                  <a:lnTo>
                    <a:pt x="354" y="0"/>
                  </a:lnTo>
                  <a:lnTo>
                    <a:pt x="600" y="141"/>
                  </a:lnTo>
                  <a:lnTo>
                    <a:pt x="564" y="141"/>
                  </a:lnTo>
                  <a:lnTo>
                    <a:pt x="510" y="168"/>
                  </a:lnTo>
                  <a:lnTo>
                    <a:pt x="453" y="204"/>
                  </a:lnTo>
                  <a:lnTo>
                    <a:pt x="387" y="255"/>
                  </a:lnTo>
                  <a:lnTo>
                    <a:pt x="339" y="294"/>
                  </a:lnTo>
                  <a:lnTo>
                    <a:pt x="318" y="330"/>
                  </a:lnTo>
                  <a:lnTo>
                    <a:pt x="306" y="384"/>
                  </a:lnTo>
                  <a:lnTo>
                    <a:pt x="240" y="81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</p:grp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6496050" y="2220913"/>
            <a:ext cx="993775" cy="1006475"/>
            <a:chOff x="3696" y="3312"/>
            <a:chExt cx="732" cy="816"/>
          </a:xfrm>
        </p:grpSpPr>
        <p:sp>
          <p:nvSpPr>
            <p:cNvPr id="35876" name="Freeform 47"/>
            <p:cNvSpPr>
              <a:spLocks/>
            </p:cNvSpPr>
            <p:nvPr/>
          </p:nvSpPr>
          <p:spPr bwMode="auto">
            <a:xfrm>
              <a:off x="3696" y="3312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77" name="Freeform 48"/>
            <p:cNvSpPr>
              <a:spLocks/>
            </p:cNvSpPr>
            <p:nvPr/>
          </p:nvSpPr>
          <p:spPr bwMode="auto">
            <a:xfrm>
              <a:off x="3936" y="3451"/>
              <a:ext cx="492" cy="677"/>
            </a:xfrm>
            <a:custGeom>
              <a:avLst/>
              <a:gdLst>
                <a:gd name="T0" fmla="*/ 0 w 492"/>
                <a:gd name="T1" fmla="*/ 677 h 677"/>
                <a:gd name="T2" fmla="*/ 69 w 492"/>
                <a:gd name="T3" fmla="*/ 242 h 677"/>
                <a:gd name="T4" fmla="*/ 138 w 492"/>
                <a:gd name="T5" fmla="*/ 134 h 677"/>
                <a:gd name="T6" fmla="*/ 318 w 492"/>
                <a:gd name="T7" fmla="*/ 11 h 677"/>
                <a:gd name="T8" fmla="*/ 408 w 492"/>
                <a:gd name="T9" fmla="*/ 65 h 677"/>
                <a:gd name="T10" fmla="*/ 492 w 492"/>
                <a:gd name="T11" fmla="*/ 311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2"/>
                <a:gd name="T19" fmla="*/ 0 h 677"/>
                <a:gd name="T20" fmla="*/ 492 w 492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2" h="677">
                  <a:moveTo>
                    <a:pt x="0" y="677"/>
                  </a:moveTo>
                  <a:cubicBezTo>
                    <a:pt x="11" y="605"/>
                    <a:pt x="46" y="332"/>
                    <a:pt x="69" y="242"/>
                  </a:cubicBezTo>
                  <a:cubicBezTo>
                    <a:pt x="92" y="152"/>
                    <a:pt x="97" y="172"/>
                    <a:pt x="138" y="134"/>
                  </a:cubicBezTo>
                  <a:cubicBezTo>
                    <a:pt x="179" y="96"/>
                    <a:pt x="273" y="22"/>
                    <a:pt x="318" y="11"/>
                  </a:cubicBezTo>
                  <a:cubicBezTo>
                    <a:pt x="363" y="0"/>
                    <a:pt x="379" y="15"/>
                    <a:pt x="408" y="65"/>
                  </a:cubicBezTo>
                  <a:cubicBezTo>
                    <a:pt x="437" y="115"/>
                    <a:pt x="475" y="260"/>
                    <a:pt x="492" y="311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5878" name="Freeform 49"/>
            <p:cNvSpPr>
              <a:spLocks/>
            </p:cNvSpPr>
            <p:nvPr/>
          </p:nvSpPr>
          <p:spPr bwMode="auto">
            <a:xfrm>
              <a:off x="3696" y="3318"/>
              <a:ext cx="600" cy="810"/>
            </a:xfrm>
            <a:custGeom>
              <a:avLst/>
              <a:gdLst>
                <a:gd name="T0" fmla="*/ 240 w 600"/>
                <a:gd name="T1" fmla="*/ 810 h 810"/>
                <a:gd name="T2" fmla="*/ 0 w 600"/>
                <a:gd name="T3" fmla="*/ 666 h 810"/>
                <a:gd name="T4" fmla="*/ 24 w 600"/>
                <a:gd name="T5" fmla="*/ 489 h 810"/>
                <a:gd name="T6" fmla="*/ 42 w 600"/>
                <a:gd name="T7" fmla="*/ 378 h 810"/>
                <a:gd name="T8" fmla="*/ 60 w 600"/>
                <a:gd name="T9" fmla="*/ 264 h 810"/>
                <a:gd name="T10" fmla="*/ 78 w 600"/>
                <a:gd name="T11" fmla="*/ 201 h 810"/>
                <a:gd name="T12" fmla="*/ 105 w 600"/>
                <a:gd name="T13" fmla="*/ 150 h 810"/>
                <a:gd name="T14" fmla="*/ 201 w 600"/>
                <a:gd name="T15" fmla="*/ 75 h 810"/>
                <a:gd name="T16" fmla="*/ 306 w 600"/>
                <a:gd name="T17" fmla="*/ 9 h 810"/>
                <a:gd name="T18" fmla="*/ 354 w 600"/>
                <a:gd name="T19" fmla="*/ 0 h 810"/>
                <a:gd name="T20" fmla="*/ 600 w 600"/>
                <a:gd name="T21" fmla="*/ 141 h 810"/>
                <a:gd name="T22" fmla="*/ 564 w 600"/>
                <a:gd name="T23" fmla="*/ 141 h 810"/>
                <a:gd name="T24" fmla="*/ 510 w 600"/>
                <a:gd name="T25" fmla="*/ 168 h 810"/>
                <a:gd name="T26" fmla="*/ 453 w 600"/>
                <a:gd name="T27" fmla="*/ 204 h 810"/>
                <a:gd name="T28" fmla="*/ 387 w 600"/>
                <a:gd name="T29" fmla="*/ 255 h 810"/>
                <a:gd name="T30" fmla="*/ 339 w 600"/>
                <a:gd name="T31" fmla="*/ 294 h 810"/>
                <a:gd name="T32" fmla="*/ 318 w 600"/>
                <a:gd name="T33" fmla="*/ 330 h 810"/>
                <a:gd name="T34" fmla="*/ 306 w 600"/>
                <a:gd name="T35" fmla="*/ 384 h 810"/>
                <a:gd name="T36" fmla="*/ 240 w 600"/>
                <a:gd name="T37" fmla="*/ 810 h 81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0"/>
                <a:gd name="T58" fmla="*/ 0 h 810"/>
                <a:gd name="T59" fmla="*/ 600 w 600"/>
                <a:gd name="T60" fmla="*/ 810 h 81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0" h="810">
                  <a:moveTo>
                    <a:pt x="240" y="810"/>
                  </a:moveTo>
                  <a:lnTo>
                    <a:pt x="0" y="666"/>
                  </a:lnTo>
                  <a:lnTo>
                    <a:pt x="24" y="489"/>
                  </a:lnTo>
                  <a:lnTo>
                    <a:pt x="42" y="378"/>
                  </a:lnTo>
                  <a:lnTo>
                    <a:pt x="60" y="264"/>
                  </a:lnTo>
                  <a:lnTo>
                    <a:pt x="78" y="201"/>
                  </a:lnTo>
                  <a:lnTo>
                    <a:pt x="105" y="150"/>
                  </a:lnTo>
                  <a:lnTo>
                    <a:pt x="201" y="75"/>
                  </a:lnTo>
                  <a:lnTo>
                    <a:pt x="306" y="9"/>
                  </a:lnTo>
                  <a:lnTo>
                    <a:pt x="354" y="0"/>
                  </a:lnTo>
                  <a:lnTo>
                    <a:pt x="600" y="141"/>
                  </a:lnTo>
                  <a:lnTo>
                    <a:pt x="564" y="141"/>
                  </a:lnTo>
                  <a:lnTo>
                    <a:pt x="510" y="168"/>
                  </a:lnTo>
                  <a:lnTo>
                    <a:pt x="453" y="204"/>
                  </a:lnTo>
                  <a:lnTo>
                    <a:pt x="387" y="255"/>
                  </a:lnTo>
                  <a:lnTo>
                    <a:pt x="339" y="294"/>
                  </a:lnTo>
                  <a:lnTo>
                    <a:pt x="318" y="330"/>
                  </a:lnTo>
                  <a:lnTo>
                    <a:pt x="306" y="384"/>
                  </a:lnTo>
                  <a:lnTo>
                    <a:pt x="240" y="81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</p:grpSp>
      <p:sp>
        <p:nvSpPr>
          <p:cNvPr id="35874" name="Line 50"/>
          <p:cNvSpPr>
            <a:spLocks noChangeShapeType="1"/>
          </p:cNvSpPr>
          <p:nvPr/>
        </p:nvSpPr>
        <p:spPr bwMode="auto">
          <a:xfrm>
            <a:off x="6821488" y="1095375"/>
            <a:ext cx="0" cy="2132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35875" name="Text Box 51"/>
          <p:cNvSpPr txBox="1">
            <a:spLocks noChangeArrowheads="1"/>
          </p:cNvSpPr>
          <p:nvPr/>
        </p:nvSpPr>
        <p:spPr bwMode="auto">
          <a:xfrm rot="-2151216">
            <a:off x="7164388" y="2652713"/>
            <a:ext cx="12557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Frequency</a:t>
            </a:r>
          </a:p>
        </p:txBody>
      </p:sp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600" b="1" dirty="0">
                <a:latin typeface="Times New Roman" pitchFamily="18" charset="0"/>
                <a:cs typeface="Times New Roman" pitchFamily="18" charset="0"/>
              </a:rPr>
              <a:t>Combining FDM/TDM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2910" y="642918"/>
            <a:ext cx="8501090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By allowing a channel to use a certain frequency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for a certain period of time more efficient use of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resource is achieved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More robust against interference and tapping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is the scheme used by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GSM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between the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handset and base station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2910" y="3786190"/>
            <a:ext cx="8643998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Requires coordination between the different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senders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Two senders will interfere if they select the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same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frequency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96" y="571480"/>
            <a:ext cx="89297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To avoid this the senders hop between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frequencies: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600" b="1" dirty="0">
                <a:latin typeface="Times New Roman" pitchFamily="18" charset="0"/>
                <a:cs typeface="Times New Roman" pitchFamily="18" charset="0"/>
              </a:rPr>
              <a:t>Combining FDM/TDM</a:t>
            </a:r>
          </a:p>
        </p:txBody>
      </p:sp>
      <p:sp>
        <p:nvSpPr>
          <p:cNvPr id="4" name="Rectangle 3"/>
          <p:cNvSpPr/>
          <p:nvPr/>
        </p:nvSpPr>
        <p:spPr>
          <a:xfrm>
            <a:off x="857224" y="1214422"/>
            <a:ext cx="828677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 the hop is fast enough the period of interference </a:t>
            </a:r>
            <a:r>
              <a:rPr lang="id-ID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may be so</a:t>
            </a:r>
            <a:endParaRPr lang="id-ID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small that if the coding of the data signal is sufficient to allow</a:t>
            </a:r>
            <a:endParaRPr lang="id-ID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receiver to recover the data the interference is deemed </a:t>
            </a:r>
            <a:endParaRPr lang="id-ID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acceptable</a:t>
            </a:r>
            <a:r>
              <a:rPr lang="id-ID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857496"/>
            <a:ext cx="8286776" cy="4000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233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Synchronous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918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is applied to synchronous networks,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no gap occurs between items; the result is known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as Synchronous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428864"/>
            <a:ext cx="8961189" cy="4429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Framing Used in the Telephone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SystemVersion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TDM</a:t>
            </a:r>
            <a:endParaRPr lang="id-ID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5720" y="733246"/>
            <a:ext cx="9072626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Telephone systems use </a:t>
            </a:r>
            <a:r>
              <a:rPr lang="en-US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synchronous </a:t>
            </a:r>
            <a:r>
              <a:rPr lang="en-US" sz="28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multiplex 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digital streams from multiple phone calls </a:t>
            </a:r>
          </a:p>
          <a:p>
            <a:pPr lvl="1">
              <a:buFont typeface="Wingdings" pitchFamily="2" charset="2"/>
              <a:buChar char="q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they use the acronym </a:t>
            </a:r>
            <a:r>
              <a:rPr lang="en-US" sz="24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to refer to the specific</a:t>
            </a:r>
            <a:endParaRPr lang="id-ID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id-ID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form of </a:t>
            </a:r>
            <a:r>
              <a:rPr lang="en-US" sz="24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used to multiplex digital telephone calls</a:t>
            </a:r>
            <a:r>
              <a:rPr lang="id-ID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phone system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includes an interesting technique </a:t>
            </a:r>
          </a:p>
          <a:p>
            <a:pPr lvl="1">
              <a:buFont typeface="Wingdings" pitchFamily="2" charset="2"/>
              <a:buChar char="q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 insure that a </a:t>
            </a:r>
            <a:r>
              <a:rPr lang="en-US" sz="24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demultiplexer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stays synchronized with the</a:t>
            </a:r>
            <a:endParaRPr lang="id-ID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d-ID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multiplexer</a:t>
            </a:r>
            <a:r>
              <a:rPr lang="id-ID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Why is synchronization needed? </a:t>
            </a:r>
          </a:p>
          <a:p>
            <a:pPr lvl="1">
              <a:buFont typeface="Wingdings" pitchFamily="2" charset="2"/>
              <a:buChar char="q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observe that a synchronous </a:t>
            </a:r>
            <a:r>
              <a:rPr lang="en-US" sz="28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sends one slot after</a:t>
            </a:r>
            <a:endParaRPr lang="id-ID" sz="28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d-ID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another without any indication of the output to which</a:t>
            </a:r>
            <a:endParaRPr lang="id-ID" sz="28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id-ID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 given slot occurs</a:t>
            </a:r>
            <a:r>
              <a:rPr lang="id-ID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demultiplexer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cannot tell where a slot begins– a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slight difference in the </a:t>
            </a:r>
            <a:r>
              <a:rPr lang="en-US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clocks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used to time bits can 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cause a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demultiplexer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misinterpret the bit stream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5794"/>
            <a:ext cx="9144000" cy="5740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To prevent </a:t>
            </a:r>
            <a:r>
              <a:rPr lang="en-US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misinterpretation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the version of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TDM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used in the phone system includes an extra framing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channel as input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Instead of taking a complete slot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framing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inserts a 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single bit in the stream on each round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demultiplexor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extracts data from the framing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channel and checks for alternating 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bits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If an error causes a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demultiplexor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to lose a bit</a:t>
            </a:r>
          </a:p>
          <a:p>
            <a:pPr lvl="1">
              <a:buFont typeface="Wingdings" pitchFamily="2" charset="2"/>
              <a:buChar char="q"/>
            </a:pPr>
            <a:r>
              <a:rPr lang="id-ID" sz="3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 is highly likely that the framing check will </a:t>
            </a:r>
            <a:endParaRPr lang="id-ID" sz="32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d-ID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 the error and allow the transmission to</a:t>
            </a:r>
            <a:endParaRPr lang="id-ID" sz="32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d-ID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id-ID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restarted</a:t>
            </a:r>
            <a:r>
              <a:rPr lang="id-ID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Framing Used in the Telephone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SystemVersion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TDM</a:t>
            </a:r>
            <a:endParaRPr lang="id-ID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000108"/>
            <a:ext cx="8809745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Framing Used in the Telephone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SystemVersion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TDM</a:t>
            </a:r>
            <a:endParaRPr lang="id-ID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4464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Hierarchical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3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11" y="928670"/>
            <a:ext cx="883314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The Problem with Synchronous </a:t>
            </a:r>
            <a:r>
              <a:rPr lang="en-US" sz="3000" b="1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id-ID" sz="3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Unfilled Slots </a:t>
            </a:r>
            <a:endParaRPr lang="id-ID" sz="3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12845"/>
            <a:ext cx="9501222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Synchronous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works well if each source produces data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at a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uniform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fixed rate equal to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1/N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of the capacity of the 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shared medium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Many sources generate data in bursts, with idle time between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bursts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understand why, consider the example in Figure 11.12</a:t>
            </a:r>
          </a:p>
          <a:p>
            <a:pPr lvl="1">
              <a:buFont typeface="Wingdings" pitchFamily="2" charset="2"/>
              <a:buChar char="q"/>
            </a:pPr>
            <a:r>
              <a:rPr lang="id-ID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sources on the left produce data items at random</a:t>
            </a:r>
            <a:r>
              <a:rPr lang="id-ID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id-ID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synchronous multiplexor leaves a slot unfilled </a:t>
            </a:r>
          </a:p>
          <a:p>
            <a:pPr lvl="2"/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 the corresponding source has not produced an item </a:t>
            </a:r>
            <a:endParaRPr lang="id-ID" sz="28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by the time the slot must be sent</a:t>
            </a:r>
            <a:r>
              <a:rPr lang="id-ID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practice, a slot cannot be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empty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because the underlying 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system must continue to transmit data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slot is assigned a value (such as zero)</a:t>
            </a:r>
            <a:r>
              <a:rPr lang="id-ID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id-ID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 extra bit is set to indicate that the value is invalid</a:t>
            </a:r>
            <a:r>
              <a:rPr lang="id-ID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The Problem with Synchronous </a:t>
            </a:r>
            <a:r>
              <a:rPr lang="en-US" sz="3000" b="1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id-ID" sz="3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Unfilled Slots </a:t>
            </a:r>
            <a:endParaRPr lang="id-ID" sz="3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77" y="928670"/>
            <a:ext cx="8899660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253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600" dirty="0"/>
              <a:t>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Statistical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918"/>
            <a:ext cx="9144000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How can a multiplexing system make better use of a shared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medium?</a:t>
            </a:r>
          </a:p>
          <a:p>
            <a:pPr>
              <a:buFont typeface="Wingdings" pitchFamily="2" charset="2"/>
              <a:buChar char="§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One technique to increase the overall data rate is known as 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statistical </a:t>
            </a:r>
            <a:r>
              <a:rPr lang="en-US" sz="28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statistical multiplexing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q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some literature uses the term asynchronous </a:t>
            </a:r>
            <a:r>
              <a:rPr lang="en-US" sz="2800" b="1" i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TDM</a:t>
            </a:r>
            <a:endParaRPr lang="en-US" sz="2800" b="1" i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technique is straightforward:</a:t>
            </a:r>
          </a:p>
          <a:p>
            <a:pPr lvl="1">
              <a:buFont typeface="Wingdings" pitchFamily="2" charset="2"/>
              <a:buChar char="q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select items for transmission in a round-robin fashion</a:t>
            </a:r>
          </a:p>
          <a:p>
            <a:pPr lvl="1">
              <a:buFont typeface="Wingdings" pitchFamily="2" charset="2"/>
              <a:buChar char="q"/>
            </a:pPr>
            <a:r>
              <a:rPr lang="id-ID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but instead of leaving a slot unfilled, skip any source </a:t>
            </a:r>
            <a:endParaRPr lang="id-ID" sz="28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id-ID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that does not have data ready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By eliminating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unused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slots</a:t>
            </a:r>
          </a:p>
          <a:p>
            <a:pPr lvl="1">
              <a:buFont typeface="Wingdings" pitchFamily="2" charset="2"/>
              <a:buChar char="q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statistical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takes less time to send the same amount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of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007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Statistical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85794"/>
            <a:ext cx="9286844" cy="546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Statistical multiplexing incurs extra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overhead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shown below: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600"/>
              </a:spcAft>
              <a:buFont typeface="Wingdings" pitchFamily="2" charset="2"/>
              <a:buChar char="q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Consider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demultiplexing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a synchronous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system a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demultiplexor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knows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spcAft>
                <a:spcPts val="600"/>
              </a:spcAft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that every </a:t>
            </a:r>
            <a:r>
              <a:rPr lang="en-US" sz="2800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slot corresponds to a given receiver</a:t>
            </a:r>
          </a:p>
          <a:p>
            <a:pPr lvl="2"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a statistical multiplexing system, the data in a given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spcAft>
                <a:spcPts val="600"/>
              </a:spcAft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slot can correspond to any receiver</a:t>
            </a:r>
          </a:p>
          <a:p>
            <a:pPr lvl="1">
              <a:buFont typeface="Wingdings" pitchFamily="2" charset="2"/>
              <a:buChar char="q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Each slot must contain the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identification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of the receiver 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which the data is being sent</a:t>
            </a:r>
          </a:p>
          <a:p>
            <a:pPr>
              <a:buFont typeface="Wingdings" pitchFamily="2" charset="2"/>
              <a:buChar char="§"/>
            </a:pPr>
            <a:r>
              <a:rPr lang="id-ID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Later chapters discuss identification mechanisms </a:t>
            </a:r>
          </a:p>
          <a:p>
            <a:pPr lvl="1">
              <a:buFont typeface="Wingdings" pitchFamily="2" charset="2"/>
              <a:buChar char="q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that are used with statistical multiplexing in packet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switching networks and the Internet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007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Statistical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3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77" y="1000106"/>
            <a:ext cx="8862991" cy="5500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85792"/>
            <a:ext cx="8890631" cy="5857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38007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Statistical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9150314" cy="4500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38007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Statistical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14356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3200" dirty="0"/>
              <a:t>  </a:t>
            </a:r>
            <a:r>
              <a:rPr lang="en-US" sz="2800" dirty="0"/>
              <a:t>To identify each piece of data, an address is included.</a:t>
            </a:r>
            <a:endParaRPr lang="id-ID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007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Statistical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14356"/>
            <a:ext cx="95726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§"/>
            </a:pPr>
            <a:r>
              <a:rPr lang="id-ID" sz="3200" dirty="0"/>
              <a:t> </a:t>
            </a:r>
            <a:r>
              <a:rPr lang="en-US" sz="3200" dirty="0"/>
              <a:t>If the data is of variable size, a length is also</a:t>
            </a:r>
            <a:r>
              <a:rPr lang="id-ID" sz="3200" dirty="0"/>
              <a:t> </a:t>
            </a:r>
            <a:r>
              <a:rPr lang="en-US" sz="3200" dirty="0"/>
              <a:t>included.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40"/>
            <a:ext cx="9140034" cy="3500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007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Statistical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TDM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2844" y="714356"/>
            <a:ext cx="92869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id-ID" sz="2800" dirty="0"/>
              <a:t> </a:t>
            </a:r>
            <a:r>
              <a:rPr lang="en-US" sz="2800" dirty="0"/>
              <a:t>More precisely, the transmitted frame contains a </a:t>
            </a:r>
            <a:r>
              <a:rPr lang="id-ID" sz="2800" dirty="0"/>
              <a:t> </a:t>
            </a:r>
            <a:r>
              <a:rPr lang="en-US" sz="2800" dirty="0"/>
              <a:t>collection</a:t>
            </a:r>
            <a:endParaRPr lang="id-ID" sz="2800" dirty="0"/>
          </a:p>
          <a:p>
            <a:pPr>
              <a:spcBef>
                <a:spcPts val="0"/>
              </a:spcBef>
            </a:pPr>
            <a:r>
              <a:rPr lang="id-ID" sz="2800" dirty="0"/>
              <a:t>  </a:t>
            </a:r>
            <a:r>
              <a:rPr lang="en-US" sz="2800" dirty="0"/>
              <a:t> of</a:t>
            </a:r>
            <a:r>
              <a:rPr lang="id-ID" sz="2800" dirty="0"/>
              <a:t> </a:t>
            </a:r>
            <a:r>
              <a:rPr lang="en-US" sz="2800" dirty="0"/>
              <a:t>data groups</a:t>
            </a:r>
            <a:endParaRPr lang="id-ID" sz="2800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57430"/>
            <a:ext cx="9160894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049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600" b="1" dirty="0">
                <a:latin typeface="Times New Roman" pitchFamily="18" charset="0"/>
                <a:cs typeface="Times New Roman" pitchFamily="18" charset="0"/>
              </a:rPr>
              <a:t>Code Division Multiplexing (CDM)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918"/>
            <a:ext cx="9358346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All channels use the same frequency, however,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each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channel is given its own unique code</a:t>
            </a:r>
          </a:p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Each code must be sufficiently orthogonal to allow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appropriate guard spaces</a:t>
            </a:r>
          </a:p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Large range of codes provides significant expansion,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security, etc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071942"/>
            <a:ext cx="9144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Highly complex scheme</a:t>
            </a:r>
          </a:p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Receiver has to know the code &amp; be able to separate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out other traffic on different codes which appear as 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background noise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049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600" b="1" dirty="0">
                <a:latin typeface="Times New Roman" pitchFamily="18" charset="0"/>
                <a:cs typeface="Times New Roman" pitchFamily="18" charset="0"/>
              </a:rPr>
              <a:t>Code Division Multiplexing (CDM)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472" y="642918"/>
            <a:ext cx="857252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Receiver &amp; transmitter must be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synchronised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to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provide correct decoding</a:t>
            </a:r>
          </a:p>
          <a:p>
            <a:pPr>
              <a:buFont typeface="Wingdings" pitchFamily="2" charset="2"/>
              <a:buChar char="§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All signals must reach the receiver with relatively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equal strength or the receiver will not be able to 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distinguish between them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3357560"/>
            <a:ext cx="8257641" cy="3500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0" y="0"/>
            <a:ext cx="4643470" cy="690546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CDMA or SS 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282" y="785794"/>
            <a:ext cx="9644130" cy="880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id-ID" sz="3200" dirty="0"/>
              <a:t> </a:t>
            </a:r>
            <a:r>
              <a:rPr lang="id-ID" dirty="0"/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Code Division Multiple Access or Spread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Spectrum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communication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472" y="1714488"/>
            <a:ext cx="8572528" cy="4078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lnSpc>
                <a:spcPct val="80000"/>
              </a:lnSpc>
              <a:spcAft>
                <a:spcPts val="1200"/>
              </a:spcAft>
              <a:buFont typeface="+mj-lt"/>
              <a:buAutoNum type="alphaLcPeriod"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frequency hoping 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(frequency synthesizer controlled by pseudo-random sequence of numbers)</a:t>
            </a:r>
          </a:p>
          <a:p>
            <a:pPr marL="914400" lvl="1" indent="-457200">
              <a:lnSpc>
                <a:spcPct val="80000"/>
              </a:lnSpc>
              <a:spcAft>
                <a:spcPts val="1200"/>
              </a:spcAft>
              <a:buFont typeface="+mj-lt"/>
              <a:buAutoNum type="alpha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DS: direct sequence 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(pseudo-random sequence of pulses used for spreading)</a:t>
            </a:r>
          </a:p>
          <a:p>
            <a:pPr marL="914400" lvl="1" indent="-457200">
              <a:lnSpc>
                <a:spcPct val="80000"/>
              </a:lnSpc>
              <a:spcAft>
                <a:spcPts val="1200"/>
              </a:spcAft>
              <a:buFont typeface="+mj-lt"/>
              <a:buAutoNum type="alpha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TH: time hoping 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(spreading achieved by randomly spacing transmitted pulses)</a:t>
            </a:r>
          </a:p>
          <a:p>
            <a:pPr marL="914400" lvl="1" indent="-457200">
              <a:lnSpc>
                <a:spcPct val="80000"/>
              </a:lnSpc>
              <a:buFont typeface="+mj-lt"/>
              <a:buAutoNum type="alpha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Other techniques</a:t>
            </a:r>
          </a:p>
          <a:p>
            <a:pPr lvl="2">
              <a:lnSpc>
                <a:spcPct val="80000"/>
              </a:lnSpc>
              <a:buFont typeface="Wingdings" pitchFamily="2" charset="2"/>
              <a:buChar char="v"/>
            </a:pPr>
            <a:r>
              <a:rPr lang="id-ID" sz="28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Hybrid combination of the above techniques</a:t>
            </a:r>
            <a:endParaRPr lang="id-ID" sz="28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80000"/>
              </a:lnSpc>
              <a:spcAft>
                <a:spcPts val="600"/>
              </a:spcAft>
            </a:pPr>
            <a:r>
              <a:rPr lang="id-ID" sz="28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(radar and other applications) </a:t>
            </a:r>
          </a:p>
          <a:p>
            <a:pPr lvl="2">
              <a:lnSpc>
                <a:spcPct val="80000"/>
              </a:lnSpc>
              <a:buFont typeface="Wingdings" pitchFamily="2" charset="2"/>
              <a:buChar char="v"/>
            </a:pPr>
            <a:r>
              <a:rPr lang="id-ID" sz="28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Random noise as carrier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88"/>
            <a:ext cx="8930797" cy="6643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36" y="214288"/>
            <a:ext cx="8889495" cy="6643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14288"/>
            <a:ext cx="8820139" cy="6643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39" y="-2"/>
            <a:ext cx="8875218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796" y="142850"/>
            <a:ext cx="9007953" cy="671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89"/>
            <a:ext cx="8920936" cy="65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42850"/>
            <a:ext cx="8897229" cy="671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28600" y="0"/>
            <a:ext cx="8686800" cy="714356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Code Division Multiplexing (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CDM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714356"/>
            <a:ext cx="9144000" cy="51816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CDM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used in parts of the cellular telephone system and for some satellite communication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specific version of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CDM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used in cell phones is known as Code Division Multi-Access (CDMA)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CDM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does not rely on physical properties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such as frequency or time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CDM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relies on an interesting mathematical idea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values from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orthogonal vector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spaces can be combined and separated without interference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Each sender is assigned a unique binary code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that is known as a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chip sequence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chip sequences are selected to be orthogonal vectors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(i.e., the dot product of any two chip sequences is zero)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28600" y="0"/>
            <a:ext cx="8686800" cy="714356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id-ID" sz="4400" dirty="0">
                <a:latin typeface="+mj-lt"/>
                <a:ea typeface="+mj-ea"/>
                <a:cs typeface="+mj-cs"/>
              </a:rPr>
              <a:t>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Code Division Multiplexing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14282" y="785794"/>
            <a:ext cx="8686800" cy="51816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At any point in time, each sender has a value to transmit,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V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senders each multiply 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x V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 and transmit the results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senders transmit at the same time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and the values are added together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To extract value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V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, a receiver multiplies the sum by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Consider an example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to keep the example easy to understand, use a chip sequence that is only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two bits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long and data values that are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four bits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long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think of the chip sequence as a vector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>
            <a:spLocks/>
          </p:cNvSpPr>
          <p:nvPr/>
        </p:nvSpPr>
        <p:spPr>
          <a:xfrm>
            <a:off x="214282" y="642918"/>
            <a:ext cx="8686800" cy="762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Code Division Multiplexing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857364"/>
            <a:ext cx="7128000" cy="2203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0"/>
            <a:ext cx="8928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0" y="214290"/>
            <a:ext cx="8929719" cy="65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28600" y="0"/>
            <a:ext cx="8915400" cy="1143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Wavelength Division Multiplexing</a:t>
            </a: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(WDM)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200" y="714356"/>
            <a:ext cx="8686800" cy="3357586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Prisms form the basis of optical multiplexing and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demultiplexing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multiplexor accepts beams of light of various wavelengths and uses a prism to combine them into a single beam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demultiplexor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uses a prism to separate the wavelengths.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9144000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357166"/>
            <a:ext cx="99298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/>
              <a:t>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Give each message a different wavelength</a:t>
            </a:r>
            <a:r>
              <a:rPr lang="id-ID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(frequency)</a:t>
            </a:r>
          </a:p>
          <a:p>
            <a:pPr>
              <a:buFont typeface="Wingdings" pitchFamily="2" charset="2"/>
              <a:buChar char="§"/>
            </a:pPr>
            <a:r>
              <a:rPr lang="id-ID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Easy to do with fiber optics and optical sour</a:t>
            </a:r>
            <a:endParaRPr lang="id-ID" sz="3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13" y="214288"/>
            <a:ext cx="8783532" cy="6643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00" y="571480"/>
            <a:ext cx="8811467" cy="600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71472" y="285728"/>
            <a:ext cx="742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d-ID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9132483" cy="62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1388</Words>
  <Application>Microsoft Office PowerPoint</Application>
  <PresentationFormat>On-screen Show (4:3)</PresentationFormat>
  <Paragraphs>177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TDM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-</dc:creator>
  <cp:lastModifiedBy>Dede  Saeful rohman</cp:lastModifiedBy>
  <cp:revision>8</cp:revision>
  <dcterms:created xsi:type="dcterms:W3CDTF">2012-05-29T11:43:09Z</dcterms:created>
  <dcterms:modified xsi:type="dcterms:W3CDTF">2021-09-28T00:29:13Z</dcterms:modified>
</cp:coreProperties>
</file>