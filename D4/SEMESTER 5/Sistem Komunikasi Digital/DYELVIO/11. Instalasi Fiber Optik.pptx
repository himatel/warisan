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  <p:sldMasterId id="2147483672" r:id="rId2"/>
    <p:sldMasterId id="2147483684" r:id="rId3"/>
    <p:sldMasterId id="2147483696" r:id="rId4"/>
    <p:sldMasterId id="2147483708" r:id="rId5"/>
  </p:sldMasterIdLst>
  <p:notesMasterIdLst>
    <p:notesMasterId r:id="rId67"/>
  </p:notesMasterIdLst>
  <p:sldIdLst>
    <p:sldId id="265" r:id="rId6"/>
    <p:sldId id="266" r:id="rId7"/>
    <p:sldId id="267" r:id="rId8"/>
    <p:sldId id="270" r:id="rId9"/>
    <p:sldId id="268" r:id="rId10"/>
    <p:sldId id="269" r:id="rId11"/>
    <p:sldId id="271" r:id="rId12"/>
    <p:sldId id="272" r:id="rId13"/>
    <p:sldId id="259" r:id="rId14"/>
    <p:sldId id="260" r:id="rId15"/>
    <p:sldId id="275" r:id="rId16"/>
    <p:sldId id="276" r:id="rId17"/>
    <p:sldId id="262" r:id="rId18"/>
    <p:sldId id="279" r:id="rId19"/>
    <p:sldId id="277" r:id="rId20"/>
    <p:sldId id="282" r:id="rId21"/>
    <p:sldId id="284" r:id="rId22"/>
    <p:sldId id="285" r:id="rId23"/>
    <p:sldId id="264" r:id="rId24"/>
    <p:sldId id="291" r:id="rId25"/>
    <p:sldId id="286" r:id="rId26"/>
    <p:sldId id="294" r:id="rId27"/>
    <p:sldId id="295" r:id="rId28"/>
    <p:sldId id="290" r:id="rId29"/>
    <p:sldId id="289" r:id="rId30"/>
    <p:sldId id="287" r:id="rId31"/>
    <p:sldId id="288" r:id="rId32"/>
    <p:sldId id="327" r:id="rId33"/>
    <p:sldId id="328" r:id="rId34"/>
    <p:sldId id="329" r:id="rId35"/>
    <p:sldId id="293" r:id="rId36"/>
    <p:sldId id="292" r:id="rId37"/>
    <p:sldId id="296" r:id="rId38"/>
    <p:sldId id="297" r:id="rId39"/>
    <p:sldId id="298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8" r:id="rId57"/>
    <p:sldId id="316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17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presProps" Target="presProps.xml"/><Relationship Id="rId7" Type="http://schemas.openxmlformats.org/officeDocument/2006/relationships/slide" Target="slides/slide2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69B66-E575-4B8D-A1A6-848D4A8FC282}" type="datetimeFigureOut">
              <a:rPr lang="id-ID" smtClean="0"/>
              <a:t>23/05/2022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855F5-388D-4164-BB07-29CF054973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05796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175ACD-2009-438C-891D-95A9A3CE162D}" type="slidenum">
              <a:rPr lang="en-US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Just like how PCB physical design is more complex at high datarates versus DC</a:t>
            </a:r>
          </a:p>
        </p:txBody>
      </p:sp>
    </p:spTree>
    <p:extLst>
      <p:ext uri="{BB962C8B-B14F-4D97-AF65-F5344CB8AC3E}">
        <p14:creationId xmlns:p14="http://schemas.microsoft.com/office/powerpoint/2010/main" val="3493980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81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64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94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9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86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81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927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80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576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76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611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135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222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66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211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58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30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328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8834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610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8044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071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6555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3320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9715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5865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9264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1368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7149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7829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9863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5816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741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6873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6611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660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0780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6531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5069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5372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0556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5806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9108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418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240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738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3770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0372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0038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2151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09159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097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4060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8387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06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440007CC-DD66-4081-8209-F5550F735B4F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 defTabSz="914400"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6E53F03E-064A-414F-AAE5-92F22C48D97B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722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 defTabSz="914400"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37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 defTabSz="914400"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9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 defTabSz="914400"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5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340AD796-C328-4A73-B3F5-9D35742BF093}" type="datetimeFigureOut">
              <a:rPr lang="id-ID" smtClean="0">
                <a:solidFill>
                  <a:prstClr val="black">
                    <a:tint val="75000"/>
                  </a:prstClr>
                </a:solidFill>
              </a:rPr>
              <a:pPr defTabSz="914400"/>
              <a:t>23/05/2022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6918BC8D-E128-481E-AED7-EC9F3151D5F5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07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hyperlink" Target="http://2.bp.blogspot.com/-LxqWK7Kx56Q/VqF20c9-imI/AAAAAAAAAlw/OEq8YBXtQNI/s1600/fiber-optic-cable-269222012.jpg" TargetMode="Externa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hyperlink" Target="http://4.bp.blogspot.com/-Pa4AMH2Q4PY/VqF3PvwwWxI/AAAAAAAAAl4/W5_sc6CMWyE/s1600/kabel-udara4.jpg" TargetMode="Externa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7" Type="http://schemas.openxmlformats.org/officeDocument/2006/relationships/image" Target="../media/image56.jpeg"/><Relationship Id="rId2" Type="http://schemas.openxmlformats.org/officeDocument/2006/relationships/hyperlink" Target="http://4.bp.blogspot.com/-MEAd5is0PJA/VqF11o1PX3I/AAAAAAAAAlo/dmnGgMde2RA/s1600/kabeludara-2.jpg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://3.bp.blogspot.com/-ccWN70I3cOg/VqF3hirab2I/AAAAAAAAAmA/Rz3w9j-C6Oc/s1600/kabeludara.jpg" TargetMode="External"/><Relationship Id="rId5" Type="http://schemas.openxmlformats.org/officeDocument/2006/relationships/image" Target="../media/image55.jpeg"/><Relationship Id="rId4" Type="http://schemas.openxmlformats.org/officeDocument/2006/relationships/hyperlink" Target="http://1.bp.blogspot.com/-DOmAJvWe_e4/VqF3pq47eBI/AAAAAAAAAmI/HTvlE6E4h9g/s1600/kabel-udara3.jpg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hyperlink" Target="http://1.bp.blogspot.com/-iaBhx2uKAjA/VqGL-BNRY0I/AAAAAAAAAmk/m_EuN6GZPWs/s1600/kabeludara-6.jpg" TargetMode="Externa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hyperlink" Target="http://4.bp.blogspot.com/-XDwl_qMh-Po/VqGNKmJCGfI/AAAAAAAAAms/-aRb10Qfb4U/s1600/kabeludara-1.jpg" TargetMode="Externa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0.png"/><Relationship Id="rId5" Type="http://schemas.openxmlformats.org/officeDocument/2006/relationships/image" Target="../media/image59.gif"/><Relationship Id="rId4" Type="http://schemas.openxmlformats.org/officeDocument/2006/relationships/hyperlink" Target="http://4.bp.blogspot.com/-7stRo54xKwg/VqGNRxhCBdI/AAAAAAAAAm0/wZR_PElbDiw/s1600/kabeludara-3.GIF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2" Type="http://schemas.openxmlformats.org/officeDocument/2006/relationships/hyperlink" Target="http://3.bp.blogspot.com/-W5_F7iz15pA/VqVgisinWqI/AAAAAAAAAnY/9Nv0Kf3xdRA/s1600/kabeltanah-1.GIF" TargetMode="Externa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gif"/><Relationship Id="rId2" Type="http://schemas.openxmlformats.org/officeDocument/2006/relationships/hyperlink" Target="http://3.bp.blogspot.com/-wGbabnxIeCY/VqVz75ieTHI/AAAAAAAAAn4/2Qf8iRC8180/s1600/kabeltanah-5.GIF" TargetMode="Externa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gif"/><Relationship Id="rId7" Type="http://schemas.openxmlformats.org/officeDocument/2006/relationships/image" Target="../media/image65.gif"/><Relationship Id="rId2" Type="http://schemas.openxmlformats.org/officeDocument/2006/relationships/hyperlink" Target="http://4.bp.blogspot.com/-Mz1IzbG6rwM/VqbatvqcJSI/AAAAAAAAApU/rnmR5isori0/s1600/kabeltanah-6.gif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://1.bp.blogspot.com/-a6hu8zn9lUA/VqbbN7h4nwI/AAAAAAAAApk/BQog9e-2uQE/s1600/kabeltanah-10.GIF" TargetMode="External"/><Relationship Id="rId5" Type="http://schemas.openxmlformats.org/officeDocument/2006/relationships/image" Target="../media/image64.gif"/><Relationship Id="rId4" Type="http://schemas.openxmlformats.org/officeDocument/2006/relationships/hyperlink" Target="http://4.bp.blogspot.com/-9jbr1KCuw-4/VqbbIRUFYdI/AAAAAAAAApc/LnopEgOmmSY/s1600/kabeltanah10.GIF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hyperlink" Target="http://3.bp.blogspot.com/-cwOqGz88d28/Vq6shK3WW6I/AAAAAAAAArA/SME-j5Cew7M/s1600/fiber-optic.jpg" TargetMode="Externa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hyperlink" Target="http://3.bp.blogspot.com/-faOLwUaz7qQ/Vq7CgWXJb-I/AAAAAAAAAsE/tOmgG0n8EjY/s1600/manhole-5.jpg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2.jpeg"/><Relationship Id="rId4" Type="http://schemas.openxmlformats.org/officeDocument/2006/relationships/hyperlink" Target="http://2.bp.blogspot.com/-xw0TkO98w6E/Vq7CE8DLFYI/AAAAAAAAAr8/agUcoA5ucqQ/s1600/manhole-4.jpg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hyperlink" Target="http://2.bp.blogspot.com/-ZMxYRa_yCFY/UyRIAuFywII/AAAAAAAAACA/WTzZSboSPvA/s1600/DSC07767.JPG" TargetMode="Externa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5.png"/><Relationship Id="rId5" Type="http://schemas.openxmlformats.org/officeDocument/2006/relationships/image" Target="../media/image74.jpeg"/><Relationship Id="rId4" Type="http://schemas.openxmlformats.org/officeDocument/2006/relationships/hyperlink" Target="http://3.bp.blogspot.com/-kVQ_mxgjCjk/UyRIiBVZr_I/AAAAAAAAACI/vEIvm4QpSsI/s1600/lupsheat+cutter.jpg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7" Type="http://schemas.openxmlformats.org/officeDocument/2006/relationships/image" Target="../media/image78.jpeg"/><Relationship Id="rId2" Type="http://schemas.openxmlformats.org/officeDocument/2006/relationships/hyperlink" Target="http://3.bp.blogspot.com/-JQhvRy_1bd0/UyRI4wx4qHI/AAAAAAAAACQ/LKRUJwS9k00/s1600/fiber+stripper.jpg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://4.bp.blogspot.com/-IpsqMr4exXE/UyRJ72scrfI/AAAAAAAAACg/zss7f5P5om4/s1600/2011-11-03+14.14.26_%E5%89%AF%E6%9C%AC.jpg" TargetMode="External"/><Relationship Id="rId5" Type="http://schemas.openxmlformats.org/officeDocument/2006/relationships/image" Target="../media/image77.jpeg"/><Relationship Id="rId4" Type="http://schemas.openxmlformats.org/officeDocument/2006/relationships/hyperlink" Target="http://3.bp.blogspot.com/-ELs9ADzLX4w/UyRJQy-m3zI/AAAAAAAAACY/Z-X0HjQ_2hU/s1600/fiber+cleaver.jpg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hyperlink" Target="http://1.bp.blogspot.com/-p9UcsNQ46js/UyRKQXrEgxI/AAAAAAAAACo/TjepDY1gNZA/s1600/alkohol.jpg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0.jpeg"/><Relationship Id="rId4" Type="http://schemas.openxmlformats.org/officeDocument/2006/relationships/hyperlink" Target="http://3.bp.blogspot.com/-kz_chGbd_7I/UyRKe1c0eGI/AAAAAAAAACw/8kfmczL2Dys/s1600/tissue.jpg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hyperlink" Target="http://1.bp.blogspot.com/-n7i5jr6lt_Q/UyRHXJ9z9UI/AAAAAAAAAB4/u6tDg85QWx0/s1600/lupsheat.png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2.jpeg"/><Relationship Id="rId4" Type="http://schemas.openxmlformats.org/officeDocument/2006/relationships/hyperlink" Target="http://3.bp.blogspot.com/-nHTvTg4lTyE/UyRh1OW8f2I/AAAAAAAAAEU/PUtlOeKUcyQ/s1600/DSC07805.JPG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hyperlink" Target="http://2.bp.blogspot.com/-kl4ZhC69P3I/UyRgbDpxTuI/AAAAAAAAAEI/PkBn66Lf25w/s1600/DSC07757.JPG" TargetMode="Externa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hyperlink" Target="http://1.bp.blogspot.com/-myPFog0R9E8/UyROE-APnuI/AAAAAAAAADU/5CupfPqp5z4/s1600/potong.png" TargetMode="Externa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hyperlink" Target="http://4.bp.blogspot.com/-UFxnw58FV8M/UyRSgSl1X5I/AAAAAAAAADg/KzN89FQTUWc/s1600/hasil.png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5.jpeg"/><Relationship Id="rId4" Type="http://schemas.openxmlformats.org/officeDocument/2006/relationships/hyperlink" Target="http://2.bp.blogspot.com/-wr-LL6fr-po/UyRToHgI7KI/AAAAAAAAADs/nPWfKkhLzkI/s1600/taraaa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506" y="941001"/>
            <a:ext cx="6593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d-ID" sz="3200" b="1" dirty="0" smtClean="0"/>
              <a:t>Teknik Instalasi Kabel Serat Optik</a:t>
            </a:r>
            <a:endParaRPr lang="id-ID" sz="3200" b="1" dirty="0"/>
          </a:p>
        </p:txBody>
      </p:sp>
      <p:sp>
        <p:nvSpPr>
          <p:cNvPr id="3" name="Rectangle 2"/>
          <p:cNvSpPr/>
          <p:nvPr/>
        </p:nvSpPr>
        <p:spPr>
          <a:xfrm>
            <a:off x="689811" y="1599771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id-ID" sz="2800" b="1" kern="0" dirty="0" smtClean="0">
                <a:latin typeface="Trebuchet MS"/>
              </a:rPr>
              <a:t>Konstruksi</a:t>
            </a:r>
            <a:r>
              <a:rPr kumimoji="0" lang="id-ID" sz="2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 Serat Optik :</a:t>
            </a:r>
            <a:endParaRPr kumimoji="0" lang="id-ID" sz="2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2316" y="2163063"/>
            <a:ext cx="11107906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rebuchet MS"/>
              </a:rPr>
              <a:t>Core (Inti)		: gelas tipis ditengah fiber dimana cahaya dilewatkan</a:t>
            </a:r>
          </a:p>
          <a:p>
            <a:pPr marL="342900" indent="-342900" defTabSz="914400"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rebuchet MS"/>
              </a:rPr>
              <a:t>Cladding		: Bagian terluar dari optik yang mengelilingi inti yang</a:t>
            </a:r>
          </a:p>
          <a:p>
            <a:pPr defTabSz="914400">
              <a:spcAft>
                <a:spcPts val="600"/>
              </a:spcAft>
            </a:pPr>
            <a:r>
              <a:rPr lang="id-ID" sz="2400" dirty="0">
                <a:latin typeface="Trebuchet MS"/>
              </a:rPr>
              <a:t> </a:t>
            </a:r>
            <a:r>
              <a:rPr lang="id-ID" sz="2400" dirty="0" smtClean="0">
                <a:latin typeface="Trebuchet MS"/>
              </a:rPr>
              <a:t>                               memantulkan  cahaya kembali ke inti</a:t>
            </a:r>
          </a:p>
          <a:p>
            <a:pPr marL="342900" indent="-342900" defTabSz="914400"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rebuchet MS"/>
              </a:rPr>
              <a:t>Coating(Jaket) 	: Plastik pelapis yang melindungi fiber dari kerusakan dan</a:t>
            </a:r>
          </a:p>
          <a:p>
            <a:pPr defTabSz="914400"/>
            <a:r>
              <a:rPr lang="id-ID" sz="2400" dirty="0">
                <a:latin typeface="Trebuchet MS"/>
              </a:rPr>
              <a:t> </a:t>
            </a:r>
            <a:r>
              <a:rPr lang="id-ID" sz="2400" dirty="0" smtClean="0">
                <a:latin typeface="Trebuchet MS"/>
              </a:rPr>
              <a:t>                               kelembaban</a:t>
            </a:r>
            <a:endParaRPr lang="en-US" sz="2400" dirty="0">
              <a:latin typeface="Trebuchet MS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13912" y="4144079"/>
            <a:ext cx="2372995" cy="2799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https://upload.wikimedia.org/wikipedia/commons/0/02/Optical_fiber_cable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158" y="4594907"/>
            <a:ext cx="4729228" cy="189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7" r="14372"/>
          <a:stretch/>
        </p:blipFill>
        <p:spPr bwMode="auto">
          <a:xfrm rot="5400000">
            <a:off x="8918449" y="3584450"/>
            <a:ext cx="2466347" cy="4080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116179" y="-16056"/>
            <a:ext cx="69301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b="1" dirty="0" smtClean="0"/>
              <a:t>Teknik Instalasi Komunikasi </a:t>
            </a:r>
            <a:endParaRPr lang="id-ID" sz="4000" b="1" dirty="0"/>
          </a:p>
        </p:txBody>
      </p:sp>
    </p:spTree>
    <p:extLst>
      <p:ext uri="{BB962C8B-B14F-4D97-AF65-F5344CB8AC3E}">
        <p14:creationId xmlns:p14="http://schemas.microsoft.com/office/powerpoint/2010/main" val="517086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 descr="4.2.1.4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3" t="3599" r="4071" b="3603"/>
          <a:stretch/>
        </p:blipFill>
        <p:spPr bwMode="auto">
          <a:xfrm>
            <a:off x="770021" y="721895"/>
            <a:ext cx="5873395" cy="358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106905" y="4725035"/>
            <a:ext cx="37048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>
              <a:defRPr/>
            </a:pPr>
            <a:r>
              <a:rPr lang="id-ID" sz="2400" b="1" kern="0" dirty="0" smtClean="0">
                <a:solidFill>
                  <a:prstClr val="black"/>
                </a:solidFill>
                <a:latin typeface="Trebuchet MS"/>
              </a:rPr>
              <a:t>Konstruksi  </a:t>
            </a:r>
            <a:r>
              <a:rPr lang="id-ID" sz="2400" b="1" kern="0" dirty="0">
                <a:solidFill>
                  <a:prstClr val="black"/>
                </a:solidFill>
                <a:latin typeface="Trebuchet MS"/>
              </a:rPr>
              <a:t>Serat Optik </a:t>
            </a:r>
            <a:endParaRPr lang="id-ID" sz="2400" b="1" kern="0" dirty="0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93372" y="4540368"/>
            <a:ext cx="359104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kern="0" dirty="0" smtClean="0">
                <a:solidFill>
                  <a:prstClr val="black"/>
                </a:solidFill>
                <a:latin typeface="Trebuchet MS"/>
              </a:rPr>
              <a:t>Konstruksi  </a:t>
            </a:r>
            <a:r>
              <a:rPr lang="id-ID" sz="2400" b="1" kern="0" dirty="0">
                <a:solidFill>
                  <a:prstClr val="black"/>
                </a:solidFill>
                <a:latin typeface="Trebuchet MS"/>
              </a:rPr>
              <a:t>Serat </a:t>
            </a:r>
            <a:r>
              <a:rPr lang="id-ID" sz="2400" b="1" kern="0" dirty="0" smtClean="0">
                <a:solidFill>
                  <a:prstClr val="black"/>
                </a:solidFill>
                <a:latin typeface="Trebuchet MS"/>
              </a:rPr>
              <a:t>Optik </a:t>
            </a:r>
          </a:p>
          <a:p>
            <a:r>
              <a:rPr lang="id-ID" sz="2400" b="1" kern="0" dirty="0">
                <a:solidFill>
                  <a:prstClr val="black"/>
                </a:solidFill>
                <a:latin typeface="Trebuchet MS"/>
              </a:rPr>
              <a:t> </a:t>
            </a:r>
            <a:r>
              <a:rPr lang="id-ID" sz="2400" b="1" kern="0" dirty="0" smtClean="0">
                <a:solidFill>
                  <a:prstClr val="black"/>
                </a:solidFill>
                <a:latin typeface="Trebuchet MS"/>
              </a:rPr>
              <a:t>   berkapasitas besar </a:t>
            </a:r>
            <a:endParaRPr lang="id-ID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95535" y="105068"/>
            <a:ext cx="3682931" cy="4726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611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8992" y="0"/>
            <a:ext cx="37802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d-ID" sz="3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Tipe Serat</a:t>
            </a:r>
            <a:r>
              <a:rPr kumimoji="0" lang="id-ID" sz="3200" b="1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 </a:t>
            </a:r>
            <a:r>
              <a:rPr kumimoji="0" lang="id-ID" sz="3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Optik</a:t>
            </a:r>
            <a:endParaRPr kumimoji="0" lang="id-ID" sz="32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1236" y="523220"/>
            <a:ext cx="11280764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a-DK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</a:rPr>
              <a:t>G.652 – SMF – Single mode fiber</a:t>
            </a:r>
          </a:p>
          <a:p>
            <a:pPr marL="914400" lvl="1" indent="-4572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id-ID" sz="2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Ber</a:t>
            </a:r>
            <a:r>
              <a:rPr lang="id-ID" sz="2800" kern="0" dirty="0" smtClean="0">
                <a:latin typeface="Trebuchet MS"/>
              </a:rPr>
              <a:t>d</a:t>
            </a:r>
            <a:r>
              <a:rPr kumimoji="0" lang="id-ID" sz="2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iameter inti kecil : 8 – 10 mikron</a:t>
            </a:r>
          </a:p>
          <a:p>
            <a:pPr marL="914400" lvl="1" indent="-4572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id-ID" sz="2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Mengirimkan cahaya laser, dengan panjang gelombang  sebesar </a:t>
            </a:r>
          </a:p>
          <a:p>
            <a:pPr lvl="1" defTabSz="914400">
              <a:spcAft>
                <a:spcPts val="600"/>
              </a:spcAft>
            </a:pPr>
            <a:r>
              <a:rPr lang="id-ID" sz="2800" kern="0" noProof="0" dirty="0" smtClean="0">
                <a:latin typeface="Trebuchet MS"/>
              </a:rPr>
              <a:t>    </a:t>
            </a:r>
            <a:r>
              <a:rPr kumimoji="0" lang="id-ID" sz="2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1.200 s/d 1.600 nm</a:t>
            </a:r>
          </a:p>
          <a:p>
            <a:pPr marL="914400" lvl="1" indent="-4572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800" kern="0" noProof="0" dirty="0" smtClean="0">
                <a:latin typeface="Trebuchet MS"/>
              </a:rPr>
              <a:t>Sebagai m</a:t>
            </a:r>
            <a:r>
              <a:rPr kumimoji="0" lang="id-ID" sz="2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edia transmisi jarak jauh, beberapa km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Trebuchet MS"/>
            </a:endParaRPr>
          </a:p>
          <a:p>
            <a:pPr marL="914400" lvl="1" indent="-457200" defTabSz="914400">
              <a:buFont typeface="Arial" panose="020B0604020202020204" pitchFamily="34" charset="0"/>
              <a:buChar char="•"/>
            </a:pPr>
            <a:r>
              <a:rPr kumimoji="0" lang="id-ID" sz="2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Pembangkitan sinyal</a:t>
            </a:r>
            <a:r>
              <a:rPr kumimoji="0" lang="id-ID" sz="2800" b="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 </a:t>
            </a:r>
            <a:r>
              <a:rPr kumimoji="0" lang="id-ID" sz="2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dengan </a:t>
            </a:r>
            <a:r>
              <a:rPr kumimoji="0" lang="id-ID" sz="2800" b="1" i="1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/>
              </a:rPr>
              <a:t>Dioda Laser</a:t>
            </a:r>
            <a:endParaRPr kumimoji="0" lang="id-ID" sz="2800" b="1" i="1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0998" y="3798539"/>
            <a:ext cx="11311002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914400">
              <a:buFont typeface="Wingdings" panose="05000000000000000000" pitchFamily="2" charset="2"/>
              <a:buChar char="Ø"/>
            </a:pPr>
            <a:r>
              <a:rPr lang="id-ID" sz="2800" dirty="0">
                <a:solidFill>
                  <a:srgbClr val="FF0000"/>
                </a:solidFill>
                <a:latin typeface="Trebuchet MS"/>
              </a:rPr>
              <a:t>G.651 – MMF – Multi-mode fiber</a:t>
            </a:r>
          </a:p>
          <a:p>
            <a:pPr lvl="0" defTabSz="914400">
              <a:spcAft>
                <a:spcPts val="600"/>
              </a:spcAft>
            </a:pPr>
            <a:r>
              <a:rPr lang="id-ID" sz="2800" dirty="0">
                <a:solidFill>
                  <a:srgbClr val="F03C91"/>
                </a:solidFill>
                <a:latin typeface="Trebuchet MS"/>
              </a:rPr>
              <a:t>• </a:t>
            </a:r>
            <a:r>
              <a:rPr lang="id-ID" sz="2800" dirty="0">
                <a:latin typeface="Trebuchet MS"/>
              </a:rPr>
              <a:t>B</a:t>
            </a:r>
            <a:r>
              <a:rPr lang="id-ID" sz="2800" dirty="0" smtClean="0">
                <a:latin typeface="Trebuchet MS"/>
              </a:rPr>
              <a:t>erdiameter </a:t>
            </a:r>
            <a:r>
              <a:rPr lang="id-ID" sz="2800" dirty="0">
                <a:latin typeface="Trebuchet MS"/>
              </a:rPr>
              <a:t>inti besar : 50 - 62,5 </a:t>
            </a:r>
            <a:r>
              <a:rPr lang="id-ID" sz="2800" dirty="0" smtClean="0">
                <a:latin typeface="Trebuchet MS"/>
              </a:rPr>
              <a:t>mikron</a:t>
            </a:r>
            <a:endParaRPr lang="id-ID" sz="2800" dirty="0">
              <a:latin typeface="Trebuchet MS"/>
            </a:endParaRPr>
          </a:p>
          <a:p>
            <a:pPr lvl="0" defTabSz="914400"/>
            <a:r>
              <a:rPr lang="en-US" sz="2800" dirty="0">
                <a:latin typeface="Trebuchet MS"/>
              </a:rPr>
              <a:t>• </a:t>
            </a:r>
            <a:r>
              <a:rPr lang="id-ID" sz="2800" dirty="0">
                <a:latin typeface="Trebuchet MS"/>
              </a:rPr>
              <a:t>M</a:t>
            </a:r>
            <a:r>
              <a:rPr lang="id-ID" sz="2800" dirty="0" smtClean="0">
                <a:latin typeface="Trebuchet MS"/>
              </a:rPr>
              <a:t>engirimkan </a:t>
            </a:r>
            <a:r>
              <a:rPr lang="id-ID" sz="2800" dirty="0">
                <a:latin typeface="Trebuchet MS"/>
              </a:rPr>
              <a:t>cahaya inframerah, </a:t>
            </a:r>
            <a:r>
              <a:rPr lang="id-ID" sz="2800" dirty="0" smtClean="0">
                <a:latin typeface="Trebuchet MS"/>
              </a:rPr>
              <a:t>dengan panjang </a:t>
            </a:r>
            <a:r>
              <a:rPr lang="id-ID" sz="2800" dirty="0">
                <a:latin typeface="Trebuchet MS"/>
              </a:rPr>
              <a:t>gelombang </a:t>
            </a:r>
            <a:endParaRPr lang="id-ID" sz="2800" dirty="0" smtClean="0">
              <a:latin typeface="Trebuchet MS"/>
            </a:endParaRPr>
          </a:p>
          <a:p>
            <a:pPr lvl="0" defTabSz="914400">
              <a:spcAft>
                <a:spcPts val="600"/>
              </a:spcAft>
            </a:pPr>
            <a:r>
              <a:rPr lang="id-ID" sz="2800" dirty="0">
                <a:latin typeface="Trebuchet MS"/>
              </a:rPr>
              <a:t> </a:t>
            </a:r>
            <a:r>
              <a:rPr lang="id-ID" sz="2800" dirty="0" smtClean="0">
                <a:latin typeface="Trebuchet MS"/>
              </a:rPr>
              <a:t>  sebesar 850  s/d </a:t>
            </a:r>
            <a:r>
              <a:rPr lang="id-ID" sz="2800" dirty="0">
                <a:latin typeface="Trebuchet MS"/>
              </a:rPr>
              <a:t>1.300 </a:t>
            </a:r>
            <a:r>
              <a:rPr lang="id-ID" sz="2800" dirty="0" smtClean="0">
                <a:latin typeface="Trebuchet MS"/>
              </a:rPr>
              <a:t>nm</a:t>
            </a:r>
            <a:endParaRPr lang="id-ID" sz="2800" dirty="0">
              <a:latin typeface="Trebuchet MS"/>
            </a:endParaRPr>
          </a:p>
          <a:p>
            <a:pPr lvl="0" defTabSz="914400">
              <a:spcAft>
                <a:spcPts val="1200"/>
              </a:spcAft>
            </a:pPr>
            <a:r>
              <a:rPr lang="id-ID" sz="2800" kern="0" dirty="0" smtClean="0">
                <a:latin typeface="Trebuchet MS" pitchFamily="34" charset="0"/>
                <a:cs typeface="Arial"/>
              </a:rPr>
              <a:t>  sebagai media </a:t>
            </a:r>
            <a:r>
              <a:rPr lang="id-ID" sz="2800" kern="0" dirty="0">
                <a:latin typeface="Trebuchet MS" pitchFamily="34" charset="0"/>
                <a:cs typeface="Arial"/>
              </a:rPr>
              <a:t>transmisi jarak pendek, beberapa ratus </a:t>
            </a:r>
            <a:r>
              <a:rPr lang="id-ID" sz="2800" kern="0" dirty="0" smtClean="0">
                <a:latin typeface="Trebuchet MS" pitchFamily="34" charset="0"/>
                <a:cs typeface="Arial"/>
              </a:rPr>
              <a:t>meter</a:t>
            </a:r>
            <a:endParaRPr lang="en-US" sz="2800" dirty="0">
              <a:latin typeface="Trebuchet MS"/>
            </a:endParaRPr>
          </a:p>
          <a:p>
            <a:pPr lvl="0" defTabSz="914400"/>
            <a:r>
              <a:rPr lang="id-ID" sz="2800" dirty="0">
                <a:latin typeface="Trebuchet MS"/>
              </a:rPr>
              <a:t>• </a:t>
            </a:r>
            <a:r>
              <a:rPr lang="id-ID" sz="2800" dirty="0" smtClean="0">
                <a:latin typeface="Trebuchet MS"/>
              </a:rPr>
              <a:t>Pembangkitan sinyaldengan </a:t>
            </a:r>
            <a:r>
              <a:rPr lang="id-ID" sz="2800" b="1" i="1" dirty="0" smtClean="0">
                <a:solidFill>
                  <a:srgbClr val="0070C0"/>
                </a:solidFill>
                <a:latin typeface="Trebuchet MS"/>
              </a:rPr>
              <a:t>light-emitting </a:t>
            </a:r>
            <a:r>
              <a:rPr lang="id-ID" sz="2800" b="1" i="1" dirty="0">
                <a:solidFill>
                  <a:srgbClr val="0070C0"/>
                </a:solidFill>
                <a:latin typeface="Trebuchet MS"/>
              </a:rPr>
              <a:t>diodes (LED)</a:t>
            </a:r>
          </a:p>
        </p:txBody>
      </p:sp>
    </p:spTree>
    <p:extLst>
      <p:ext uri="{BB962C8B-B14F-4D97-AF65-F5344CB8AC3E}">
        <p14:creationId xmlns:p14="http://schemas.microsoft.com/office/powerpoint/2010/main" val="2431168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1" y="461665"/>
            <a:ext cx="9030121" cy="6396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35565" y="0"/>
            <a:ext cx="299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d-ID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</a:rPr>
              <a:t>Tipe Serat Optik</a:t>
            </a:r>
            <a:endParaRPr kumimoji="0" lang="id-ID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16677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119" y="461665"/>
            <a:ext cx="9373629" cy="3170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659719" y="0"/>
            <a:ext cx="35670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400" b="1" kern="0" dirty="0" smtClean="0">
                <a:solidFill>
                  <a:prstClr val="black"/>
                </a:solidFill>
                <a:latin typeface="Trebuchet MS"/>
              </a:rPr>
              <a:t>Diameter Serat </a:t>
            </a:r>
            <a:r>
              <a:rPr lang="id-ID" sz="2400" b="1" kern="0" dirty="0">
                <a:solidFill>
                  <a:prstClr val="black"/>
                </a:solidFill>
                <a:latin typeface="Trebuchet MS"/>
              </a:rPr>
              <a:t>Optik</a:t>
            </a:r>
            <a:endParaRPr lang="id-ID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648" y="4731292"/>
            <a:ext cx="9806790" cy="186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812119" y="3994885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400" b="1" kern="0" dirty="0" smtClean="0">
                <a:solidFill>
                  <a:prstClr val="black"/>
                </a:solidFill>
                <a:latin typeface="Trebuchet MS"/>
              </a:rPr>
              <a:t>Cahaya dalam Serat </a:t>
            </a:r>
            <a:r>
              <a:rPr lang="id-ID" sz="2400" b="1" kern="0" dirty="0">
                <a:solidFill>
                  <a:prstClr val="black"/>
                </a:solidFill>
                <a:latin typeface="Trebuchet MS"/>
              </a:rPr>
              <a:t>Optik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3076057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917" y="461665"/>
            <a:ext cx="7575360" cy="628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36338" y="0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400" b="1" kern="0" dirty="0" smtClean="0">
                <a:solidFill>
                  <a:prstClr val="black"/>
                </a:solidFill>
                <a:latin typeface="Trebuchet MS"/>
              </a:rPr>
              <a:t>Cahaya dalam Serat </a:t>
            </a:r>
            <a:r>
              <a:rPr lang="id-ID" sz="2400" b="1" kern="0" dirty="0">
                <a:solidFill>
                  <a:prstClr val="black"/>
                </a:solidFill>
                <a:latin typeface="Trebuchet MS"/>
              </a:rPr>
              <a:t>Optik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2656160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55" y="581980"/>
            <a:ext cx="10680772" cy="5830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36338" y="0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400" b="1" kern="0" dirty="0" smtClean="0">
                <a:solidFill>
                  <a:prstClr val="black"/>
                </a:solidFill>
                <a:latin typeface="Trebuchet MS"/>
              </a:rPr>
              <a:t>Cahaya dalam Serat </a:t>
            </a:r>
            <a:r>
              <a:rPr lang="id-ID" sz="2400" b="1" kern="0" dirty="0">
                <a:solidFill>
                  <a:prstClr val="black"/>
                </a:solidFill>
                <a:latin typeface="Trebuchet MS"/>
              </a:rPr>
              <a:t>Optik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87336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7456" y="212943"/>
            <a:ext cx="11964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d-ID" sz="2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/>
              </a:rPr>
              <a:t>Sistem Relay Serat Optik </a:t>
            </a:r>
          </a:p>
          <a:p>
            <a:pPr marL="800100" lvl="1" indent="-3429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id-ID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</a:rPr>
              <a:t>Optical transmitter</a:t>
            </a:r>
            <a:r>
              <a:rPr lang="id-ID" sz="2400" kern="0" dirty="0">
                <a:solidFill>
                  <a:srgbClr val="323232"/>
                </a:solidFill>
                <a:latin typeface="Trebuchet MS"/>
              </a:rPr>
              <a:t>	</a:t>
            </a:r>
            <a:r>
              <a:rPr kumimoji="0" lang="id-ID" sz="2400" b="0" i="0" u="none" strike="noStrike" kern="0" cap="none" spc="0" normalizeH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Trebuchet MS"/>
              </a:rPr>
              <a:t>: menghasilkan dan mengkodekan sinyal cahaya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F03C91"/>
              </a:solidFill>
              <a:effectLst/>
              <a:uLnTx/>
              <a:uFillTx/>
              <a:latin typeface="Trebuchet MS"/>
            </a:endParaRPr>
          </a:p>
          <a:p>
            <a:pPr marL="800100" lvl="1" indent="-3429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id-ID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</a:rPr>
              <a:t>Optical amplifier </a:t>
            </a:r>
            <a:r>
              <a:rPr lang="id-ID" sz="2400" kern="0" dirty="0">
                <a:solidFill>
                  <a:srgbClr val="323232"/>
                </a:solidFill>
                <a:latin typeface="Trebuchet MS"/>
              </a:rPr>
              <a:t>	</a:t>
            </a:r>
            <a:r>
              <a:rPr kumimoji="0" lang="id-ID" sz="2400" b="0" i="0" u="none" strike="noStrike" kern="0" cap="none" spc="0" normalizeH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Trebuchet MS"/>
              </a:rPr>
              <a:t>: menguatkan sinyal cahaya (untuk transmisi jarak jauh)</a:t>
            </a:r>
            <a:r>
              <a:rPr kumimoji="0" lang="id-ID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Trebuchet MS"/>
              </a:rPr>
              <a:t> </a:t>
            </a:r>
          </a:p>
          <a:p>
            <a:pPr marL="800100" lvl="1" indent="-3429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id-ID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</a:rPr>
              <a:t>Optical receiver</a:t>
            </a:r>
            <a:r>
              <a:rPr lang="id-ID" sz="2400" kern="0" dirty="0">
                <a:solidFill>
                  <a:srgbClr val="323232"/>
                </a:solidFill>
                <a:latin typeface="Trebuchet MS"/>
              </a:rPr>
              <a:t>	</a:t>
            </a:r>
            <a:r>
              <a:rPr kumimoji="0" lang="id-ID" sz="2400" b="0" i="0" u="none" strike="noStrike" kern="0" cap="none" spc="0" normalizeH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Trebuchet MS"/>
              </a:rPr>
              <a:t>: menerima dan mengkodekan kembali sinyal cahaya</a:t>
            </a:r>
          </a:p>
          <a:p>
            <a:pPr marL="800100" lvl="1" indent="-342900" defTabSz="914400">
              <a:buFont typeface="Arial" panose="020B0604020202020204" pitchFamily="34" charset="0"/>
              <a:buChar char="•"/>
            </a:pPr>
            <a:r>
              <a:rPr kumimoji="0" lang="id-ID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</a:rPr>
              <a:t>Optical fiber</a:t>
            </a:r>
            <a:r>
              <a:rPr lang="id-ID" sz="2400" kern="0" dirty="0">
                <a:solidFill>
                  <a:srgbClr val="323232"/>
                </a:solidFill>
                <a:latin typeface="Trebuchet MS"/>
              </a:rPr>
              <a:t>	</a:t>
            </a:r>
            <a:r>
              <a:rPr lang="id-ID" sz="2400" kern="0" dirty="0" smtClean="0">
                <a:solidFill>
                  <a:srgbClr val="323232"/>
                </a:solidFill>
                <a:latin typeface="Trebuchet MS"/>
              </a:rPr>
              <a:t>	</a:t>
            </a:r>
            <a:r>
              <a:rPr kumimoji="0" lang="id-ID" sz="2400" b="0" i="0" u="none" strike="noStrike" kern="0" cap="none" spc="0" normalizeH="0" noProof="0" dirty="0" smtClean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Trebuchet MS"/>
              </a:rPr>
              <a:t>: menghantarkan sinyal cahaya pada jarak yang ditentukan</a:t>
            </a:r>
            <a:endParaRPr kumimoji="0" lang="id-ID" sz="2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52" y="3302825"/>
            <a:ext cx="10576751" cy="1381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788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inisar_SFP_Flipp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980148">
            <a:off x="-189366" y="2771651"/>
            <a:ext cx="2689055" cy="178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Finisar_SFP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52209">
            <a:off x="7733639" y="3500581"/>
            <a:ext cx="2644964" cy="1758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82807" y="128262"/>
            <a:ext cx="5036962" cy="543060"/>
          </a:xfrm>
        </p:spPr>
        <p:txBody>
          <a:bodyPr>
            <a:normAutofit/>
          </a:bodyPr>
          <a:lstStyle/>
          <a:p>
            <a:pPr marL="457200" lvl="0" indent="-45720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id-ID" sz="2800" b="1" kern="0" dirty="0" smtClean="0">
                <a:solidFill>
                  <a:prstClr val="black"/>
                </a:solidFill>
                <a:latin typeface="Trebuchet MS"/>
                <a:ea typeface="+mn-ea"/>
                <a:cs typeface="+mn-cs"/>
              </a:rPr>
              <a:t>Konektivitas  </a:t>
            </a:r>
            <a:r>
              <a:rPr lang="id-ID" sz="2800" b="1" kern="0" dirty="0">
                <a:solidFill>
                  <a:prstClr val="black"/>
                </a:solidFill>
                <a:latin typeface="Trebuchet MS"/>
                <a:ea typeface="+mn-ea"/>
                <a:cs typeface="+mn-cs"/>
              </a:rPr>
              <a:t>Serat Optik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21" name="Picture 5" descr="LC_LC_Jumper_Horiz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959" y="3466458"/>
            <a:ext cx="5929823" cy="1826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543677" y="5116083"/>
            <a:ext cx="167415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400" dirty="0">
                <a:solidFill>
                  <a:prstClr val="black"/>
                </a:solidFill>
              </a:rPr>
              <a:t>Electrical</a:t>
            </a:r>
          </a:p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400" dirty="0">
                <a:solidFill>
                  <a:prstClr val="black"/>
                </a:solidFill>
              </a:rPr>
              <a:t>Connector</a:t>
            </a: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 flipH="1" flipV="1">
            <a:off x="949549" y="3765475"/>
            <a:ext cx="182793" cy="135860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defTabSz="914400"/>
            <a:endParaRPr lang="id-ID">
              <a:solidFill>
                <a:prstClr val="black"/>
              </a:solidFill>
            </a:endParaRP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9665009" y="5191509"/>
            <a:ext cx="148649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400" dirty="0">
                <a:solidFill>
                  <a:prstClr val="black"/>
                </a:solidFill>
              </a:rPr>
              <a:t>Electrical</a:t>
            </a:r>
          </a:p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400" dirty="0">
                <a:solidFill>
                  <a:prstClr val="black"/>
                </a:solidFill>
              </a:rPr>
              <a:t>Connector</a:t>
            </a:r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 flipH="1" flipV="1">
            <a:off x="9291858" y="4639456"/>
            <a:ext cx="837258" cy="55205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defTabSz="914400"/>
            <a:endParaRPr lang="id-ID">
              <a:solidFill>
                <a:prstClr val="black"/>
              </a:solidFill>
            </a:endParaRP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8299255" y="3352961"/>
            <a:ext cx="18298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800" dirty="0">
                <a:solidFill>
                  <a:prstClr val="black"/>
                </a:solidFill>
              </a:rPr>
              <a:t>Transceiver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3770202" y="2943238"/>
            <a:ext cx="26773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800" dirty="0">
                <a:solidFill>
                  <a:prstClr val="black"/>
                </a:solidFill>
              </a:rPr>
              <a:t>Fiber Optic Cable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615776" y="5124078"/>
            <a:ext cx="170399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800" dirty="0">
                <a:solidFill>
                  <a:prstClr val="black"/>
                </a:solidFill>
              </a:rPr>
              <a:t>Optical</a:t>
            </a:r>
          </a:p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800" dirty="0">
                <a:solidFill>
                  <a:prstClr val="black"/>
                </a:solidFill>
              </a:rPr>
              <a:t>Connector</a:t>
            </a:r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 flipH="1" flipV="1">
            <a:off x="2309780" y="4409161"/>
            <a:ext cx="1834912" cy="78234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/>
            <a:endParaRPr lang="id-ID">
              <a:solidFill>
                <a:prstClr val="black"/>
              </a:solidFill>
            </a:endParaRP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5892089" y="5129953"/>
            <a:ext cx="170399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800" dirty="0">
                <a:solidFill>
                  <a:prstClr val="black"/>
                </a:solidFill>
              </a:rPr>
              <a:t>Optical</a:t>
            </a:r>
          </a:p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800" dirty="0">
                <a:solidFill>
                  <a:prstClr val="black"/>
                </a:solidFill>
              </a:rPr>
              <a:t>Connector</a:t>
            </a:r>
          </a:p>
        </p:txBody>
      </p:sp>
      <p:sp>
        <p:nvSpPr>
          <p:cNvPr id="9232" name="Line 16"/>
          <p:cNvSpPr>
            <a:spLocks noChangeShapeType="1"/>
          </p:cNvSpPr>
          <p:nvPr/>
        </p:nvSpPr>
        <p:spPr bwMode="auto">
          <a:xfrm flipV="1">
            <a:off x="6920050" y="4569535"/>
            <a:ext cx="1033229" cy="7238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/>
            <a:endParaRPr lang="id-ID">
              <a:solidFill>
                <a:prstClr val="black"/>
              </a:solidFill>
            </a:endParaRPr>
          </a:p>
        </p:txBody>
      </p: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2309780" y="5124077"/>
            <a:ext cx="121405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800" dirty="0">
                <a:solidFill>
                  <a:prstClr val="black"/>
                </a:solidFill>
              </a:rPr>
              <a:t>Optical</a:t>
            </a:r>
          </a:p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800" dirty="0">
                <a:solidFill>
                  <a:prstClr val="black"/>
                </a:solidFill>
              </a:rPr>
              <a:t>Port</a:t>
            </a:r>
          </a:p>
        </p:txBody>
      </p:sp>
      <p:sp>
        <p:nvSpPr>
          <p:cNvPr id="9234" name="Line 18"/>
          <p:cNvSpPr>
            <a:spLocks noChangeShapeType="1"/>
          </p:cNvSpPr>
          <p:nvPr/>
        </p:nvSpPr>
        <p:spPr bwMode="auto">
          <a:xfrm flipH="1" flipV="1">
            <a:off x="1819584" y="4070958"/>
            <a:ext cx="878271" cy="122246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/>
            <a:endParaRPr lang="id-ID">
              <a:solidFill>
                <a:prstClr val="black"/>
              </a:solidFill>
            </a:endParaRP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7837782" y="5191509"/>
            <a:ext cx="121405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800" dirty="0">
                <a:solidFill>
                  <a:prstClr val="black"/>
                </a:solidFill>
              </a:rPr>
              <a:t>Optical</a:t>
            </a:r>
          </a:p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800" dirty="0">
                <a:solidFill>
                  <a:prstClr val="black"/>
                </a:solidFill>
              </a:rPr>
              <a:t>Port</a:t>
            </a:r>
          </a:p>
        </p:txBody>
      </p:sp>
      <p:sp>
        <p:nvSpPr>
          <p:cNvPr id="9236" name="Line 20"/>
          <p:cNvSpPr>
            <a:spLocks noChangeShapeType="1"/>
          </p:cNvSpPr>
          <p:nvPr/>
        </p:nvSpPr>
        <p:spPr bwMode="auto">
          <a:xfrm flipV="1">
            <a:off x="8165727" y="4502994"/>
            <a:ext cx="244542" cy="7904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/>
            <a:endParaRPr lang="id-ID">
              <a:solidFill>
                <a:prstClr val="black"/>
              </a:solidFill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489145" y="2632589"/>
            <a:ext cx="2133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defTabSz="914400">
              <a:buClr>
                <a:srgbClr val="C0504D"/>
              </a:buClr>
              <a:buFont typeface="Wingdings" pitchFamily="2" charset="2"/>
              <a:buNone/>
            </a:pPr>
            <a:r>
              <a:rPr lang="en-US" sz="2800" dirty="0">
                <a:solidFill>
                  <a:prstClr val="black"/>
                </a:solidFill>
              </a:rPr>
              <a:t>Transceiver</a:t>
            </a:r>
          </a:p>
        </p:txBody>
      </p:sp>
      <p:pic>
        <p:nvPicPr>
          <p:cNvPr id="21" name="Picture 20" descr="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64" y="616131"/>
            <a:ext cx="10535547" cy="1870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30921" y="6236126"/>
            <a:ext cx="106136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defTabSz="914400">
              <a:buFont typeface="Arial" panose="020B0604020202020204" pitchFamily="34" charset="0"/>
              <a:buChar char="•"/>
            </a:pPr>
            <a:r>
              <a:rPr lang="id-ID" sz="2400" i="1" dirty="0" smtClean="0">
                <a:solidFill>
                  <a:srgbClr val="FF0000"/>
                </a:solidFill>
                <a:latin typeface="Trebuchet MS"/>
              </a:rPr>
              <a:t>Transceiver : sebuah transmitter dan sebuah reciever dalam satu wadah</a:t>
            </a:r>
            <a:endParaRPr lang="id-ID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57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767" y="0"/>
            <a:ext cx="39821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defTabSz="914400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prstClr val="black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Interkoneksi Serat optik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06" y="1815882"/>
            <a:ext cx="10955863" cy="467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2483" y="461665"/>
            <a:ext cx="1155162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rebuchet MS"/>
              </a:rPr>
              <a:t>Interkoneksi serat optik untuk mendapatkan rugi-rugi yang kecil/rendah.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rebuchet MS"/>
              </a:rPr>
              <a:t>Koneksi permanen digunakan </a:t>
            </a:r>
            <a:r>
              <a:rPr lang="id-ID" sz="2400" b="1" i="1" dirty="0" smtClean="0">
                <a:solidFill>
                  <a:srgbClr val="FF0000"/>
                </a:solidFill>
                <a:latin typeface="Trebuchet MS"/>
              </a:rPr>
              <a:t>splice.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rebuchet MS"/>
              </a:rPr>
              <a:t>Jika dikehendaki koneksi mudah di bongkar pasang, digunakan </a:t>
            </a:r>
            <a:r>
              <a:rPr lang="id-ID" sz="2400" b="1" i="1" dirty="0" smtClean="0">
                <a:solidFill>
                  <a:srgbClr val="FF0000"/>
                </a:solidFill>
                <a:latin typeface="Trebuchet MS"/>
              </a:rPr>
              <a:t>connector.</a:t>
            </a:r>
            <a:endParaRPr lang="id-ID" sz="2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6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0877" y="136812"/>
            <a:ext cx="57871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defTabSz="914400">
              <a:buFont typeface="Wingdings" panose="05000000000000000000" pitchFamily="2" charset="2"/>
              <a:buChar char="§"/>
            </a:pPr>
            <a:r>
              <a:rPr lang="id-ID" sz="2800" b="1" dirty="0" smtClean="0">
                <a:latin typeface="Trebuchet MS"/>
              </a:rPr>
              <a:t>Menyambung Kabel serat optik</a:t>
            </a:r>
            <a:endParaRPr lang="id-ID" sz="2800" b="1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8619" y="1196752"/>
            <a:ext cx="10129381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endParaRPr lang="id-ID" sz="2000" dirty="0">
              <a:solidFill>
                <a:srgbClr val="323232"/>
              </a:solidFill>
              <a:latin typeface="Trebuchet MS"/>
            </a:endParaRPr>
          </a:p>
          <a:p>
            <a:pPr defTabSz="914400"/>
            <a:endParaRPr lang="id-ID" sz="2000" dirty="0">
              <a:solidFill>
                <a:srgbClr val="323232"/>
              </a:solidFill>
              <a:latin typeface="Trebuchet MS"/>
            </a:endParaRPr>
          </a:p>
          <a:p>
            <a:pPr defTabSz="914400"/>
            <a:endParaRPr lang="id-ID" sz="2000" dirty="0">
              <a:solidFill>
                <a:srgbClr val="323232"/>
              </a:solidFill>
              <a:latin typeface="Trebuchet MS"/>
            </a:endParaRPr>
          </a:p>
          <a:p>
            <a:pPr defTabSz="914400">
              <a:spcAft>
                <a:spcPts val="1200"/>
              </a:spcAft>
            </a:pPr>
            <a:endParaRPr lang="id-ID" sz="2000" dirty="0">
              <a:solidFill>
                <a:srgbClr val="323232"/>
              </a:solidFill>
              <a:latin typeface="Trebuchet MS"/>
            </a:endParaRPr>
          </a:p>
          <a:p>
            <a:pPr defTabSz="914400"/>
            <a:endParaRPr lang="id-ID" sz="2800" dirty="0">
              <a:solidFill>
                <a:srgbClr val="FF0000"/>
              </a:solidFill>
              <a:latin typeface="Trebuchet MS"/>
            </a:endParaRPr>
          </a:p>
          <a:p>
            <a:pPr defTabSz="914400"/>
            <a:endParaRPr lang="id-ID" sz="2800" dirty="0">
              <a:solidFill>
                <a:srgbClr val="FF0000"/>
              </a:solidFill>
              <a:latin typeface="Trebuchet MS"/>
            </a:endParaRPr>
          </a:p>
          <a:p>
            <a:pPr defTabSz="914400"/>
            <a:endParaRPr lang="id-ID" sz="2800" dirty="0">
              <a:solidFill>
                <a:srgbClr val="FF0000"/>
              </a:solidFill>
              <a:latin typeface="Trebuchet MS"/>
            </a:endParaRPr>
          </a:p>
          <a:p>
            <a:pPr defTabSz="914400"/>
            <a:endParaRPr lang="id-ID" sz="2800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97" y="4109240"/>
            <a:ext cx="4154428" cy="1436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08" y="1196752"/>
            <a:ext cx="401773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839648" y="1196752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/>
            <a:r>
              <a:rPr lang="id-ID" sz="2800" dirty="0">
                <a:solidFill>
                  <a:srgbClr val="323232"/>
                </a:solidFill>
                <a:latin typeface="Trebuchet MS"/>
              </a:rPr>
              <a:t>Sambungan </a:t>
            </a:r>
            <a:r>
              <a:rPr lang="id-ID" sz="2800" dirty="0" smtClean="0">
                <a:solidFill>
                  <a:srgbClr val="323232"/>
                </a:solidFill>
                <a:latin typeface="Trebuchet MS"/>
              </a:rPr>
              <a:t>bagus (benar)</a:t>
            </a:r>
            <a:endParaRPr lang="id-ID" sz="2800" dirty="0">
              <a:solidFill>
                <a:srgbClr val="323232"/>
              </a:solidFill>
              <a:latin typeface="Trebuchet MS"/>
            </a:endParaRPr>
          </a:p>
          <a:p>
            <a:pPr lvl="0" defTabSz="914400"/>
            <a:r>
              <a:rPr lang="id-ID" sz="2800" dirty="0">
                <a:solidFill>
                  <a:srgbClr val="FF0000"/>
                </a:solidFill>
                <a:latin typeface="Trebuchet MS"/>
              </a:rPr>
              <a:t>• </a:t>
            </a:r>
            <a:r>
              <a:rPr lang="id-ID" sz="2800" dirty="0" smtClean="0">
                <a:solidFill>
                  <a:srgbClr val="FF0000"/>
                </a:solidFill>
                <a:latin typeface="Trebuchet MS"/>
              </a:rPr>
              <a:t>inti </a:t>
            </a:r>
            <a:r>
              <a:rPr lang="id-ID" sz="2800" dirty="0">
                <a:solidFill>
                  <a:srgbClr val="FF0000"/>
                </a:solidFill>
                <a:latin typeface="Trebuchet MS"/>
              </a:rPr>
              <a:t>dengan inti lurus satu poros</a:t>
            </a:r>
          </a:p>
          <a:p>
            <a:pPr lvl="0" defTabSz="914400"/>
            <a:r>
              <a:rPr lang="id-ID" sz="2800" dirty="0">
                <a:solidFill>
                  <a:srgbClr val="FF0000"/>
                </a:solidFill>
                <a:latin typeface="Trebuchet MS"/>
              </a:rPr>
              <a:t>• </a:t>
            </a:r>
            <a:r>
              <a:rPr lang="id-ID" sz="2800" dirty="0" smtClean="0">
                <a:solidFill>
                  <a:srgbClr val="FF0000"/>
                </a:solidFill>
                <a:latin typeface="Trebuchet MS"/>
              </a:rPr>
              <a:t>rugi daya kecil</a:t>
            </a:r>
            <a:endParaRPr lang="id-ID" sz="28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39648" y="4026407"/>
            <a:ext cx="494778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/>
            <a:r>
              <a:rPr lang="id-ID" sz="2800" dirty="0">
                <a:solidFill>
                  <a:srgbClr val="323232"/>
                </a:solidFill>
                <a:latin typeface="Trebuchet MS"/>
              </a:rPr>
              <a:t>Sambungan </a:t>
            </a:r>
            <a:r>
              <a:rPr lang="id-ID" sz="2800" dirty="0" smtClean="0">
                <a:solidFill>
                  <a:srgbClr val="323232"/>
                </a:solidFill>
                <a:latin typeface="Trebuchet MS"/>
              </a:rPr>
              <a:t>jelek (salah)</a:t>
            </a:r>
            <a:endParaRPr lang="id-ID" sz="2800" dirty="0">
              <a:solidFill>
                <a:srgbClr val="323232"/>
              </a:solidFill>
              <a:latin typeface="Trebuchet MS"/>
            </a:endParaRPr>
          </a:p>
          <a:p>
            <a:pPr lvl="0" defTabSz="914400"/>
            <a:r>
              <a:rPr lang="id-ID" sz="2800" dirty="0">
                <a:solidFill>
                  <a:srgbClr val="FF0000"/>
                </a:solidFill>
                <a:latin typeface="Trebuchet MS"/>
              </a:rPr>
              <a:t>• </a:t>
            </a:r>
            <a:r>
              <a:rPr lang="id-ID" sz="2800" dirty="0" smtClean="0">
                <a:solidFill>
                  <a:srgbClr val="FF0000"/>
                </a:solidFill>
                <a:latin typeface="Trebuchet MS"/>
              </a:rPr>
              <a:t>inti </a:t>
            </a:r>
            <a:r>
              <a:rPr lang="id-ID" sz="2800" dirty="0">
                <a:solidFill>
                  <a:srgbClr val="FF0000"/>
                </a:solidFill>
                <a:latin typeface="Trebuchet MS"/>
              </a:rPr>
              <a:t>dengan inti </a:t>
            </a:r>
            <a:r>
              <a:rPr lang="id-ID" sz="2800" dirty="0" smtClean="0">
                <a:solidFill>
                  <a:srgbClr val="FF0000"/>
                </a:solidFill>
                <a:latin typeface="Trebuchet MS"/>
              </a:rPr>
              <a:t>tidak lurus, </a:t>
            </a:r>
          </a:p>
          <a:p>
            <a:pPr lvl="0" defTabSz="914400"/>
            <a:r>
              <a:rPr lang="id-ID" sz="2800" dirty="0">
                <a:solidFill>
                  <a:srgbClr val="FF0000"/>
                </a:solidFill>
                <a:latin typeface="Trebuchet MS"/>
              </a:rPr>
              <a:t> </a:t>
            </a:r>
            <a:r>
              <a:rPr lang="id-ID" sz="2800" dirty="0" smtClean="0">
                <a:solidFill>
                  <a:srgbClr val="FF0000"/>
                </a:solidFill>
                <a:latin typeface="Trebuchet MS"/>
              </a:rPr>
              <a:t>  tidak  </a:t>
            </a:r>
            <a:r>
              <a:rPr lang="id-ID" sz="2800" dirty="0">
                <a:solidFill>
                  <a:srgbClr val="FF0000"/>
                </a:solidFill>
                <a:latin typeface="Trebuchet MS"/>
              </a:rPr>
              <a:t>satu poros</a:t>
            </a:r>
          </a:p>
          <a:p>
            <a:pPr lvl="0" defTabSz="914400"/>
            <a:r>
              <a:rPr lang="id-ID" sz="2800" dirty="0">
                <a:solidFill>
                  <a:srgbClr val="FF0000"/>
                </a:solidFill>
                <a:latin typeface="Trebuchet MS"/>
              </a:rPr>
              <a:t>• </a:t>
            </a:r>
            <a:r>
              <a:rPr lang="id-ID" sz="2800" dirty="0" smtClean="0">
                <a:solidFill>
                  <a:srgbClr val="FF0000"/>
                </a:solidFill>
                <a:latin typeface="Trebuchet MS"/>
              </a:rPr>
              <a:t>rugi daya besar</a:t>
            </a:r>
            <a:endParaRPr lang="id-ID" sz="2800" dirty="0">
              <a:solidFill>
                <a:srgbClr val="FF0000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352199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8767" y="5504935"/>
            <a:ext cx="41044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id-ID" sz="2400" b="1" dirty="0" smtClean="0">
                <a:solidFill>
                  <a:srgbClr val="323232"/>
                </a:solidFill>
                <a:latin typeface="Trebuchet MS"/>
              </a:rPr>
              <a:t>Kontak fisik Lurus </a:t>
            </a:r>
          </a:p>
          <a:p>
            <a:pPr defTabSz="914400"/>
            <a:r>
              <a:rPr lang="id-ID" sz="2400" b="1" dirty="0" smtClean="0">
                <a:solidFill>
                  <a:srgbClr val="FF0000"/>
                </a:solidFill>
                <a:latin typeface="Trebuchet MS"/>
              </a:rPr>
              <a:t>• pantulan kembali kecil</a:t>
            </a:r>
            <a:endParaRPr lang="id-ID" sz="2400" b="1" dirty="0">
              <a:solidFill>
                <a:srgbClr val="FF0000"/>
              </a:solidFill>
              <a:latin typeface="Trebuchet MS"/>
            </a:endParaRPr>
          </a:p>
          <a:p>
            <a:pPr defTabSz="914400"/>
            <a:r>
              <a:rPr lang="id-ID" sz="2400" b="1" dirty="0">
                <a:solidFill>
                  <a:srgbClr val="FF0000"/>
                </a:solidFill>
                <a:latin typeface="Trebuchet MS"/>
              </a:rPr>
              <a:t>• </a:t>
            </a:r>
            <a:r>
              <a:rPr lang="id-ID" sz="2400" b="1" dirty="0" smtClean="0">
                <a:solidFill>
                  <a:srgbClr val="FF0000"/>
                </a:solidFill>
                <a:latin typeface="Trebuchet MS"/>
              </a:rPr>
              <a:t>return loss besar </a:t>
            </a:r>
            <a:endParaRPr lang="id-ID" sz="2400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03412" y="5392202"/>
            <a:ext cx="52714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id-ID" sz="2400" b="1" dirty="0" smtClean="0">
                <a:solidFill>
                  <a:srgbClr val="323232"/>
                </a:solidFill>
                <a:latin typeface="Trebuchet MS"/>
              </a:rPr>
              <a:t>Kontak fisik angular (menyudut)</a:t>
            </a:r>
          </a:p>
          <a:p>
            <a:pPr defTabSz="914400"/>
            <a:r>
              <a:rPr lang="id-ID" sz="2400" b="1" dirty="0" smtClean="0">
                <a:solidFill>
                  <a:srgbClr val="FF0000"/>
                </a:solidFill>
                <a:latin typeface="Trebuchet MS"/>
              </a:rPr>
              <a:t>• pantulan kembalibesar </a:t>
            </a:r>
          </a:p>
          <a:p>
            <a:pPr defTabSz="914400"/>
            <a:r>
              <a:rPr lang="id-ID" sz="2400" b="1" dirty="0" smtClean="0">
                <a:solidFill>
                  <a:srgbClr val="FF0000"/>
                </a:solidFill>
                <a:latin typeface="Trebuchet MS"/>
              </a:rPr>
              <a:t>• return loss kecil</a:t>
            </a:r>
            <a:endParaRPr lang="id-ID" sz="2400" b="1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04" y="858965"/>
            <a:ext cx="9036379" cy="444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563" y="116632"/>
            <a:ext cx="1401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260877" y="136812"/>
            <a:ext cx="57871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defTabSz="914400">
              <a:buFont typeface="Wingdings" panose="05000000000000000000" pitchFamily="2" charset="2"/>
              <a:buChar char="§"/>
            </a:pPr>
            <a:r>
              <a:rPr lang="id-ID" sz="2800" b="1" dirty="0" smtClean="0">
                <a:latin typeface="Trebuchet MS"/>
              </a:rPr>
              <a:t>Menyambung Kabel serat optik</a:t>
            </a:r>
            <a:endParaRPr lang="id-ID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598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17" y="1749244"/>
            <a:ext cx="9982376" cy="352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792017" y="789140"/>
            <a:ext cx="101929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Splicing/ </a:t>
            </a:r>
            <a:r>
              <a:rPr lang="id-ID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penyambungan </a:t>
            </a:r>
            <a:r>
              <a:rPr lang="en-US" sz="2400" dirty="0" err="1" smtClean="0">
                <a:solidFill>
                  <a:prstClr val="black"/>
                </a:solidFill>
                <a:latin typeface="Trebuchet MS" panose="020B0603020202020204" pitchFamily="34" charset="0"/>
              </a:rPr>
              <a:t>kabel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serat optik </a:t>
            </a:r>
            <a:r>
              <a:rPr lang="en-US" sz="2400" dirty="0" err="1" smtClean="0">
                <a:solidFill>
                  <a:prstClr val="black"/>
                </a:solidFill>
                <a:latin typeface="Trebuchet MS" panose="020B0603020202020204" pitchFamily="34" charset="0"/>
              </a:rPr>
              <a:t>dengan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diameter </a:t>
            </a:r>
            <a:r>
              <a:rPr lang="en-US" sz="2400" dirty="0" err="1">
                <a:solidFill>
                  <a:prstClr val="black"/>
                </a:solidFill>
                <a:latin typeface="Trebuchet MS" panose="020B0603020202020204" pitchFamily="34" charset="0"/>
              </a:rPr>
              <a:t>inti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yang </a:t>
            </a:r>
            <a:r>
              <a:rPr lang="en-US" sz="2400" dirty="0" err="1" smtClean="0">
                <a:solidFill>
                  <a:prstClr val="black"/>
                </a:solidFill>
                <a:latin typeface="Trebuchet MS" panose="020B0603020202020204" pitchFamily="34" charset="0"/>
              </a:rPr>
              <a:t>berbeda</a:t>
            </a:r>
            <a:r>
              <a:rPr lang="id-ID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 menyebabkan rugi rugi </a:t>
            </a:r>
            <a:endParaRPr lang="id-ID" sz="24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0877" y="136812"/>
            <a:ext cx="57871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defTabSz="914400">
              <a:buFont typeface="Wingdings" panose="05000000000000000000" pitchFamily="2" charset="2"/>
              <a:buChar char="§"/>
            </a:pPr>
            <a:r>
              <a:rPr lang="id-ID" sz="2800" b="1" dirty="0" smtClean="0">
                <a:latin typeface="Trebuchet MS"/>
              </a:rPr>
              <a:t>Menyambung Kabel serat optik</a:t>
            </a:r>
            <a:endParaRPr lang="id-ID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218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74" y="660032"/>
            <a:ext cx="8770220" cy="6029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60877" y="136812"/>
            <a:ext cx="57871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defTabSz="914400">
              <a:buFont typeface="Wingdings" panose="05000000000000000000" pitchFamily="2" charset="2"/>
              <a:buChar char="§"/>
            </a:pPr>
            <a:r>
              <a:rPr lang="id-ID" sz="2800" b="1" dirty="0" smtClean="0">
                <a:latin typeface="Trebuchet MS"/>
              </a:rPr>
              <a:t>Menyambung Kabel serat optik</a:t>
            </a:r>
            <a:endParaRPr lang="id-ID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585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28" y="2069298"/>
            <a:ext cx="10128891" cy="424382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41497" y="801666"/>
            <a:ext cx="101929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>
              <a:buFont typeface="Wingdings" panose="05000000000000000000" pitchFamily="2" charset="2"/>
              <a:buChar char="§"/>
            </a:pPr>
            <a:r>
              <a:rPr lang="id-ID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Serat optik yang cacat fisik, karena pembengkokan baik yang microbend maupun macrobend menyebabkan rugi rugi </a:t>
            </a:r>
            <a:endParaRPr lang="id-ID" sz="24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0877" y="136812"/>
            <a:ext cx="614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defTabSz="914400">
              <a:buFont typeface="Wingdings" panose="05000000000000000000" pitchFamily="2" charset="2"/>
              <a:buChar char="§"/>
            </a:pPr>
            <a:r>
              <a:rPr lang="id-ID" sz="2800" b="1" dirty="0" smtClean="0">
                <a:latin typeface="Trebuchet MS"/>
              </a:rPr>
              <a:t>Pembengkokan kabel Serat Optik</a:t>
            </a:r>
            <a:endParaRPr lang="id-ID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12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653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defTabSz="914400">
              <a:buFont typeface="Wingdings" panose="05000000000000000000" pitchFamily="2" charset="2"/>
              <a:buChar char="§"/>
            </a:pPr>
            <a:r>
              <a:rPr lang="id-ID" sz="2800" b="1" dirty="0" smtClean="0"/>
              <a:t>Penyambungan kabel serat optik</a:t>
            </a:r>
            <a:endParaRPr lang="id-ID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1081584" y="900416"/>
            <a:ext cx="105168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id-ID" sz="2400" b="1" dirty="0" smtClean="0">
                <a:solidFill>
                  <a:srgbClr val="323232"/>
                </a:solidFill>
                <a:latin typeface="Trebuchet MS"/>
              </a:rPr>
              <a:t>Sifat sifat : </a:t>
            </a:r>
          </a:p>
          <a:p>
            <a:pPr defTabSz="914400"/>
            <a:r>
              <a:rPr lang="id-ID" sz="2400" b="1" dirty="0" smtClean="0">
                <a:solidFill>
                  <a:srgbClr val="FF0000"/>
                </a:solidFill>
                <a:latin typeface="Trebuchet MS"/>
              </a:rPr>
              <a:t>• </a:t>
            </a:r>
            <a:r>
              <a:rPr lang="id-ID" sz="2400" b="1" dirty="0">
                <a:solidFill>
                  <a:srgbClr val="FF0000"/>
                </a:solidFill>
                <a:latin typeface="Trebuchet MS"/>
              </a:rPr>
              <a:t>good alignment/correct </a:t>
            </a:r>
            <a:r>
              <a:rPr lang="id-ID" sz="2400" b="1" dirty="0" smtClean="0">
                <a:solidFill>
                  <a:srgbClr val="FF0000"/>
                </a:solidFill>
                <a:latin typeface="Trebuchet MS"/>
              </a:rPr>
              <a:t>orientation : kelurusan yang baik</a:t>
            </a:r>
            <a:endParaRPr lang="id-ID" sz="2400" b="1" dirty="0">
              <a:solidFill>
                <a:srgbClr val="FF0000"/>
              </a:solidFill>
              <a:latin typeface="Trebuchet MS"/>
            </a:endParaRPr>
          </a:p>
          <a:p>
            <a:pPr defTabSz="914400"/>
            <a:r>
              <a:rPr lang="en-US" sz="2400" b="1" dirty="0">
                <a:solidFill>
                  <a:srgbClr val="FF0000"/>
                </a:solidFill>
                <a:latin typeface="Trebuchet MS"/>
              </a:rPr>
              <a:t>• </a:t>
            </a:r>
            <a:r>
              <a:rPr lang="id-ID" sz="2400" b="1" dirty="0" smtClean="0">
                <a:solidFill>
                  <a:srgbClr val="FF0000"/>
                </a:solidFill>
                <a:latin typeface="Trebuchet MS"/>
              </a:rPr>
              <a:t>munculnya titik terminasi dari kabel </a:t>
            </a:r>
          </a:p>
          <a:p>
            <a:pPr defTabSz="914400"/>
            <a:r>
              <a:rPr lang="id-ID" sz="2400" b="1" dirty="0" smtClean="0">
                <a:solidFill>
                  <a:srgbClr val="FF0000"/>
                </a:solidFill>
                <a:latin typeface="Trebuchet MS"/>
              </a:rPr>
              <a:t>• selalu menimbulkan loss (rugi-rugi), secara teori loss sebesar 0,3 dB</a:t>
            </a:r>
            <a:endParaRPr lang="id-ID" sz="2400" b="1" dirty="0">
              <a:solidFill>
                <a:srgbClr val="FF0000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011195" y="1815716"/>
            <a:ext cx="2438621" cy="461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67158" y="500306"/>
            <a:ext cx="20922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id-ID" sz="2400" b="1" dirty="0">
                <a:solidFill>
                  <a:srgbClr val="323232"/>
                </a:solidFill>
                <a:latin typeface="Trebuchet MS" panose="020B0603020202020204" pitchFamily="34" charset="0"/>
              </a:rPr>
              <a:t>Connectors</a:t>
            </a:r>
            <a:endParaRPr lang="id-ID" sz="24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7194" t="6023" r="11866" b="4778"/>
          <a:stretch/>
        </p:blipFill>
        <p:spPr>
          <a:xfrm rot="5400000">
            <a:off x="7232816" y="1148210"/>
            <a:ext cx="3446016" cy="631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1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20" y="1124201"/>
            <a:ext cx="6296904" cy="3989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9020" y="0"/>
            <a:ext cx="47219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defTabSz="9144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itchFamily="18" charset="0"/>
              </a:rPr>
              <a:t>Fiber-optic cable connectors</a:t>
            </a:r>
            <a:endParaRPr lang="id-ID" sz="2800" dirty="0"/>
          </a:p>
        </p:txBody>
      </p:sp>
      <p:pic>
        <p:nvPicPr>
          <p:cNvPr id="5" name="Picture 4" descr="https://upload.wikimedia.org/wikipedia/commons/thumb/2/2a/ST-optical-fiber-connector-hdr-0a.jpg/800px-ST-optical-fiber-connector-hdr-0a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334705" y="171905"/>
            <a:ext cx="4505980" cy="520860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7611146" y="4195953"/>
            <a:ext cx="37290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2000" b="1" dirty="0">
                <a:solidFill>
                  <a:prstClr val="black"/>
                </a:solidFill>
              </a:rPr>
              <a:t>ST </a:t>
            </a:r>
            <a:r>
              <a:rPr lang="en-US" sz="2000" b="1" dirty="0" err="1">
                <a:solidFill>
                  <a:prstClr val="black"/>
                </a:solidFill>
              </a:rPr>
              <a:t>conector</a:t>
            </a:r>
            <a:r>
              <a:rPr lang="en-US" sz="2000" b="1" dirty="0">
                <a:solidFill>
                  <a:prstClr val="black"/>
                </a:solidFill>
              </a:rPr>
              <a:t> ON  multi mode fiber</a:t>
            </a:r>
            <a:endParaRPr lang="id-ID" sz="2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674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166" y="0"/>
            <a:ext cx="33223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/>
              <a:t>Connectors - Couplers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56" t="20757" r="33942"/>
          <a:stretch/>
        </p:blipFill>
        <p:spPr bwMode="auto">
          <a:xfrm rot="5400000">
            <a:off x="2005700" y="-51316"/>
            <a:ext cx="896034" cy="288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56" r="25973"/>
          <a:stretch/>
        </p:blipFill>
        <p:spPr bwMode="auto">
          <a:xfrm rot="5400000">
            <a:off x="5790811" y="-115886"/>
            <a:ext cx="1017598" cy="2894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5" r="19617"/>
          <a:stretch/>
        </p:blipFill>
        <p:spPr bwMode="auto">
          <a:xfrm rot="5400000">
            <a:off x="9154217" y="133245"/>
            <a:ext cx="1274300" cy="2620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146271" y="1899888"/>
            <a:ext cx="108929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 smtClean="0">
                <a:solidFill>
                  <a:srgbClr val="000000"/>
                </a:solidFill>
                <a:latin typeface="Trebuchet MS"/>
              </a:rPr>
              <a:t>   </a:t>
            </a:r>
            <a:r>
              <a:rPr lang="id-ID" sz="2000" b="1" dirty="0" smtClean="0">
                <a:solidFill>
                  <a:srgbClr val="000000"/>
                </a:solidFill>
                <a:latin typeface="Trebuchet MS"/>
              </a:rPr>
              <a:t>SC/UPC                                         SC/APC                                      ST/APC</a:t>
            </a:r>
            <a:endParaRPr lang="id-ID" sz="2000" b="1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660401" y="2550833"/>
            <a:ext cx="1685873" cy="1685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346483" y="2659273"/>
            <a:ext cx="1523548" cy="152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62074" y="2518322"/>
            <a:ext cx="1774773" cy="1774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852390" y="4086012"/>
            <a:ext cx="18278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dirty="0"/>
              <a:t>Couplers</a:t>
            </a:r>
          </a:p>
        </p:txBody>
      </p:sp>
      <p:pic>
        <p:nvPicPr>
          <p:cNvPr id="11" name="Picture 8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84" t="3492" r="17937" b="3568"/>
          <a:stretch/>
        </p:blipFill>
        <p:spPr bwMode="auto">
          <a:xfrm rot="5400000">
            <a:off x="5738765" y="1459569"/>
            <a:ext cx="1773740" cy="8343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8985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2820" y="-3770"/>
            <a:ext cx="5629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defTabSz="914400">
              <a:buFont typeface="Wingdings" panose="05000000000000000000" pitchFamily="2" charset="2"/>
              <a:buChar char="§"/>
            </a:pPr>
            <a:r>
              <a:rPr lang="id-ID" sz="2800" b="1" dirty="0" smtClean="0"/>
              <a:t>Penyambungan kabel serat optik</a:t>
            </a:r>
            <a:endParaRPr lang="id-ID" sz="2800" b="1" dirty="0"/>
          </a:p>
        </p:txBody>
      </p:sp>
      <p:sp>
        <p:nvSpPr>
          <p:cNvPr id="8" name="Rectangle 7"/>
          <p:cNvSpPr/>
          <p:nvPr/>
        </p:nvSpPr>
        <p:spPr>
          <a:xfrm>
            <a:off x="1331669" y="503288"/>
            <a:ext cx="15167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id-ID" sz="2400" b="1" dirty="0">
                <a:solidFill>
                  <a:srgbClr val="323232"/>
                </a:solidFill>
                <a:latin typeface="Trebuchet MS" panose="020B0603020202020204" pitchFamily="34" charset="0"/>
              </a:rPr>
              <a:t>Splices</a:t>
            </a:r>
            <a:endParaRPr lang="id-ID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1727533" y="949138"/>
            <a:ext cx="104619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id-ID" sz="2400" b="1" dirty="0">
                <a:solidFill>
                  <a:srgbClr val="323232"/>
                </a:solidFill>
                <a:latin typeface="Trebuchet MS" panose="020B0603020202020204" pitchFamily="34" charset="0"/>
              </a:rPr>
              <a:t>Mechanical splicing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meluruskan dan orientasi serat optik , kemudian serat optik di clamp ditempat </a:t>
            </a:r>
            <a:endParaRPr lang="en-US" sz="2400" b="1" dirty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r>
              <a:rPr lang="id-ID" sz="2400" b="1" dirty="0">
                <a:solidFill>
                  <a:srgbClr val="F03C91"/>
                </a:solidFill>
                <a:latin typeface="Trebuchet MS" panose="020B0603020202020204" pitchFamily="34" charset="0"/>
              </a:rPr>
              <a:t> </a:t>
            </a:r>
            <a:r>
              <a:rPr lang="id-ID" sz="2400" b="1" dirty="0" smtClean="0">
                <a:solidFill>
                  <a:srgbClr val="F03C91"/>
                </a:solidFill>
                <a:latin typeface="Trebuchet MS" panose="020B0603020202020204" pitchFamily="34" charset="0"/>
              </a:rPr>
              <a:t>     </a:t>
            </a:r>
            <a:endParaRPr lang="id-ID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1730040" y="2146108"/>
            <a:ext cx="104619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id-ID" sz="2400" b="1" dirty="0">
                <a:solidFill>
                  <a:srgbClr val="323232"/>
                </a:solidFill>
                <a:latin typeface="Trebuchet MS" panose="020B0603020202020204" pitchFamily="34" charset="0"/>
              </a:rPr>
              <a:t>Fusion splicing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 meluruskan dan </a:t>
            </a:r>
            <a:r>
              <a:rPr lang="id-ID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orientasi </a:t>
            </a:r>
            <a:r>
              <a:rPr lang="id-ID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serat, kemudian serat optik  dilelehkan</a:t>
            </a:r>
          </a:p>
          <a:p>
            <a:r>
              <a:rPr lang="id-ID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        dengan alat las listrik.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diterapkan untuk instalasi luar</a:t>
            </a:r>
            <a:endParaRPr lang="id-ID" sz="2400" b="1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815581" y="3541268"/>
            <a:ext cx="2172374" cy="3567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390049" y="3766705"/>
            <a:ext cx="2464373" cy="328583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848431" y="6516458"/>
            <a:ext cx="17524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000" dirty="0">
                <a:solidFill>
                  <a:srgbClr val="000000"/>
                </a:solidFill>
                <a:latin typeface="Trebuchet MS" panose="020B0603020202020204" pitchFamily="34" charset="0"/>
              </a:rPr>
              <a:t>Fusion splicer</a:t>
            </a:r>
            <a:endParaRPr lang="id-ID" sz="2000" dirty="0"/>
          </a:p>
        </p:txBody>
      </p:sp>
      <p:sp>
        <p:nvSpPr>
          <p:cNvPr id="14" name="Rectangle 13"/>
          <p:cNvSpPr/>
          <p:nvPr/>
        </p:nvSpPr>
        <p:spPr>
          <a:xfrm>
            <a:off x="8701352" y="6410975"/>
            <a:ext cx="11288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id-ID" sz="2400" dirty="0">
                <a:solidFill>
                  <a:prstClr val="black"/>
                </a:solidFill>
                <a:latin typeface="Trebuchet MS"/>
              </a:rPr>
              <a:t>Splices</a:t>
            </a:r>
            <a:endParaRPr lang="id-ID" sz="2400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48431" y="491967"/>
            <a:ext cx="5450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dirty="0" smtClean="0"/>
              <a:t>: Secara teori loss = 0,1 dB</a:t>
            </a:r>
            <a:endParaRPr lang="id-ID" sz="2400" b="1" dirty="0"/>
          </a:p>
        </p:txBody>
      </p:sp>
    </p:spTree>
    <p:extLst>
      <p:ext uri="{BB962C8B-B14F-4D97-AF65-F5344CB8AC3E}">
        <p14:creationId xmlns:p14="http://schemas.microsoft.com/office/powerpoint/2010/main" val="1973530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61665"/>
            <a:ext cx="9260028" cy="6131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8915" y="0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dirty="0" smtClean="0"/>
              <a:t>Splice / Connector</a:t>
            </a:r>
            <a:endParaRPr lang="id-ID" sz="2400" b="1" dirty="0"/>
          </a:p>
        </p:txBody>
      </p:sp>
    </p:spTree>
    <p:extLst>
      <p:ext uri="{BB962C8B-B14F-4D97-AF65-F5344CB8AC3E}">
        <p14:creationId xmlns:p14="http://schemas.microsoft.com/office/powerpoint/2010/main" val="1961053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2228" y="92061"/>
            <a:ext cx="6040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srgbClr val="323232"/>
                </a:solidFill>
                <a:latin typeface="Trebuchet MS" panose="020B0603020202020204" pitchFamily="34" charset="0"/>
              </a:rPr>
              <a:t>Optical power </a:t>
            </a:r>
            <a:r>
              <a:rPr lang="id-ID" sz="2400" b="1" dirty="0" smtClean="0">
                <a:solidFill>
                  <a:srgbClr val="323232"/>
                </a:solidFill>
                <a:latin typeface="Trebuchet MS" panose="020B0603020202020204" pitchFamily="34" charset="0"/>
              </a:rPr>
              <a:t>splitters (Pembagi daya)</a:t>
            </a:r>
            <a:endParaRPr lang="id-ID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1038726" y="645258"/>
            <a:ext cx="105837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Membagi sinyal optikal dari satu input ke banyak output yang identik </a:t>
            </a:r>
          </a:p>
          <a:p>
            <a:r>
              <a:rPr lang="id-ID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  <a:r>
              <a:rPr lang="id-ID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  ( contoh 2 output), secara umum  rugirugi (loss) optikal kecil.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528" y="1822785"/>
            <a:ext cx="7323970" cy="288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5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640" y="0"/>
            <a:ext cx="30009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srgbClr val="323232"/>
                </a:solidFill>
                <a:latin typeface="Trebuchet MS" panose="020B0603020202020204" pitchFamily="34" charset="0"/>
              </a:rPr>
              <a:t>Tipe-tipe Splitter</a:t>
            </a:r>
            <a:endParaRPr lang="id-ID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667584" y="461665"/>
            <a:ext cx="496001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AutoNum type="arabicPeriod"/>
            </a:pPr>
            <a:r>
              <a:rPr lang="id-ID" sz="2400" dirty="0" smtClean="0">
                <a:solidFill>
                  <a:srgbClr val="0070C0"/>
                </a:solidFill>
                <a:latin typeface="Helvetica Bold"/>
              </a:rPr>
              <a:t>FBT </a:t>
            </a:r>
            <a:r>
              <a:rPr lang="id-ID" sz="2400" dirty="0">
                <a:solidFill>
                  <a:srgbClr val="0070C0"/>
                </a:solidFill>
                <a:latin typeface="Helvetica Bold"/>
              </a:rPr>
              <a:t>– Fused Biconic </a:t>
            </a:r>
            <a:r>
              <a:rPr lang="id-ID" sz="2400" dirty="0" smtClean="0">
                <a:solidFill>
                  <a:srgbClr val="0070C0"/>
                </a:solidFill>
                <a:latin typeface="Helvetica Bold"/>
              </a:rPr>
              <a:t>Taper</a:t>
            </a:r>
          </a:p>
          <a:p>
            <a:r>
              <a:rPr lang="id-ID" sz="2400" dirty="0" smtClean="0">
                <a:solidFill>
                  <a:srgbClr val="0070C0"/>
                </a:solidFill>
                <a:latin typeface="Helvetica Bold"/>
              </a:rPr>
              <a:t>2.   PLC </a:t>
            </a:r>
            <a:r>
              <a:rPr lang="id-ID" sz="2400" dirty="0">
                <a:solidFill>
                  <a:srgbClr val="0070C0"/>
                </a:solidFill>
                <a:latin typeface="Helvetica Bold"/>
              </a:rPr>
              <a:t>– Planar Lightwave </a:t>
            </a:r>
            <a:r>
              <a:rPr lang="id-ID" sz="2400" dirty="0" smtClean="0">
                <a:solidFill>
                  <a:srgbClr val="0070C0"/>
                </a:solidFill>
                <a:latin typeface="Helvetica Bold"/>
              </a:rPr>
              <a:t>Circuit</a:t>
            </a:r>
            <a:endParaRPr lang="id-ID" sz="2400" dirty="0">
              <a:solidFill>
                <a:srgbClr val="0070C0"/>
              </a:solidFill>
              <a:latin typeface="Helvetica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1849" y="1402079"/>
            <a:ext cx="106920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dirty="0">
                <a:latin typeface="Helvetica Bold"/>
              </a:rPr>
              <a:t>FBT – Fused Biconic Taper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d-ID" sz="2000" dirty="0" smtClean="0">
                <a:solidFill>
                  <a:srgbClr val="002D86"/>
                </a:solidFill>
                <a:latin typeface="Helvetica" panose="020B0604020202020204" pitchFamily="34" charset="0"/>
              </a:rPr>
              <a:t>    </a:t>
            </a:r>
            <a:r>
              <a:rPr lang="id-ID" sz="20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Dua fiber/serat digabung untuk membentuk sebuah split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 </a:t>
            </a:r>
            <a:r>
              <a:rPr lang="id-ID" sz="20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   Gabungantipikal</a:t>
            </a:r>
            <a:r>
              <a:rPr lang="en-US" sz="20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Helvetica" panose="020B0604020202020204" pitchFamily="34" charset="0"/>
              </a:rPr>
              <a:t>2, 3 </a:t>
            </a:r>
            <a:r>
              <a:rPr lang="id-ID" sz="20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atau</a:t>
            </a:r>
            <a:r>
              <a:rPr lang="en-US" sz="20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Helvetica" panose="020B0604020202020204" pitchFamily="34" charset="0"/>
              </a:rPr>
              <a:t>4 </a:t>
            </a:r>
            <a:r>
              <a:rPr lang="en-US" sz="20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fib</a:t>
            </a:r>
            <a:r>
              <a:rPr lang="id-ID" sz="20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er</a:t>
            </a:r>
            <a:endParaRPr lang="en-US" sz="2000" dirty="0">
              <a:solidFill>
                <a:srgbClr val="FF0000"/>
              </a:solidFill>
              <a:latin typeface="Helvetica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rgbClr val="FF0000"/>
                </a:solidFill>
                <a:latin typeface="Helvetica" panose="020B0604020202020204" pitchFamily="34" charset="0"/>
              </a:rPr>
              <a:t> </a:t>
            </a:r>
            <a:r>
              <a:rPr lang="id-ID" sz="20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   Splits dalam kaskade (bertingkat)</a:t>
            </a:r>
            <a:endParaRPr lang="id-ID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756132" y="1188518"/>
            <a:ext cx="1910023" cy="56119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590" y="4305542"/>
            <a:ext cx="1225470" cy="18830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597" y="2937201"/>
            <a:ext cx="4794316" cy="281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01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640" y="0"/>
            <a:ext cx="30009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 smtClean="0">
                <a:solidFill>
                  <a:srgbClr val="323232"/>
                </a:solidFill>
                <a:latin typeface="Trebuchet MS" panose="020B0603020202020204" pitchFamily="34" charset="0"/>
              </a:rPr>
              <a:t>Tipe-tipe Splitter</a:t>
            </a:r>
            <a:endParaRPr lang="id-ID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834189" y="461665"/>
            <a:ext cx="10716127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 Bold"/>
              </a:rPr>
              <a:t>PLC – Planar </a:t>
            </a:r>
            <a:r>
              <a:rPr lang="en-US" sz="2400" dirty="0" err="1">
                <a:latin typeface="Helvetica Bold"/>
              </a:rPr>
              <a:t>Lightwave</a:t>
            </a:r>
            <a:r>
              <a:rPr lang="en-US" sz="2400" dirty="0">
                <a:latin typeface="Helvetica Bold"/>
              </a:rPr>
              <a:t> </a:t>
            </a:r>
            <a:r>
              <a:rPr lang="en-US" sz="2400" dirty="0" err="1" smtClean="0">
                <a:latin typeface="Helvetica Bold"/>
              </a:rPr>
              <a:t>Circu</a:t>
            </a:r>
            <a:r>
              <a:rPr lang="id-ID" sz="2400" dirty="0" smtClean="0">
                <a:latin typeface="Helvetica Bold"/>
              </a:rPr>
              <a:t>it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rgbClr val="FF0000"/>
                </a:solidFill>
                <a:latin typeface="Helvetica" panose="020B0604020202020204" pitchFamily="34" charset="0"/>
              </a:rPr>
              <a:t> </a:t>
            </a:r>
            <a:r>
              <a:rPr lang="id-ID" sz="24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    Dibuat dalam bumbung gelombang gelas (</a:t>
            </a:r>
            <a:r>
              <a:rPr lang="en-US" sz="24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glass waveguides</a:t>
            </a:r>
            <a:r>
              <a:rPr lang="id-ID" sz="24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)</a:t>
            </a:r>
            <a:endParaRPr lang="en-US" sz="2400" dirty="0">
              <a:solidFill>
                <a:srgbClr val="FF0000"/>
              </a:solidFill>
              <a:latin typeface="Helvetica" panose="020B0604020202020204" pitchFamily="34" charset="0"/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rgbClr val="FF0000"/>
                </a:solidFill>
                <a:latin typeface="Helvetica" panose="020B0604020202020204" pitchFamily="34" charset="0"/>
              </a:rPr>
              <a:t> </a:t>
            </a:r>
            <a:r>
              <a:rPr lang="id-ID" sz="24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    Pejal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rgbClr val="FF0000"/>
                </a:solidFill>
                <a:latin typeface="Helvetica" panose="020B0604020202020204" pitchFamily="34" charset="0"/>
              </a:rPr>
              <a:t> </a:t>
            </a:r>
            <a:r>
              <a:rPr lang="id-ID" sz="24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    Tidak ada bagian mekanikal (No </a:t>
            </a:r>
            <a:r>
              <a:rPr lang="id-ID" sz="2400" dirty="0">
                <a:solidFill>
                  <a:srgbClr val="FF0000"/>
                </a:solidFill>
                <a:latin typeface="Helvetica" panose="020B0604020202020204" pitchFamily="34" charset="0"/>
              </a:rPr>
              <a:t>mechanical </a:t>
            </a:r>
            <a:r>
              <a:rPr lang="id-ID" sz="24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parts)</a:t>
            </a:r>
            <a:endParaRPr lang="id-ID" sz="2400" dirty="0">
              <a:solidFill>
                <a:srgbClr val="FF0000"/>
              </a:solidFill>
              <a:latin typeface="Helvetica" panose="020B0604020202020204" pitchFamily="34" charset="0"/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rgbClr val="FF0000"/>
                </a:solidFill>
                <a:latin typeface="Helvetica" panose="020B0604020202020204" pitchFamily="34" charset="0"/>
              </a:rPr>
              <a:t> </a:t>
            </a:r>
            <a:r>
              <a:rPr lang="id-ID" sz="24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    Padat (Compac</a:t>
            </a:r>
            <a:endParaRPr lang="id-ID" sz="2400" dirty="0">
              <a:solidFill>
                <a:srgbClr val="FF0000"/>
              </a:solidFill>
              <a:latin typeface="Helvetica" panose="020B0604020202020204" pitchFamily="34" charset="0"/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     Splits</a:t>
            </a:r>
            <a:r>
              <a:rPr lang="id-ID" sz="2400" dirty="0">
                <a:solidFill>
                  <a:srgbClr val="FF0000"/>
                </a:solidFill>
                <a:latin typeface="Helvetica" panose="020B0604020202020204" pitchFamily="34" charset="0"/>
              </a:rPr>
              <a:t>: 1x4, 1x8, 1x16, 1x32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2400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     Splits</a:t>
            </a:r>
            <a:r>
              <a:rPr lang="id-ID" sz="2400" dirty="0">
                <a:solidFill>
                  <a:srgbClr val="FF0000"/>
                </a:solidFill>
                <a:latin typeface="Helvetica" panose="020B0604020202020204" pitchFamily="34" charset="0"/>
              </a:rPr>
              <a:t>: 2x4, 2x8, etc</a:t>
            </a:r>
            <a:endParaRPr lang="id-ID" sz="24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942502" y="2503229"/>
            <a:ext cx="3114007" cy="540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82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2228" y="92061"/>
            <a:ext cx="6040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srgbClr val="323232"/>
                </a:solidFill>
                <a:latin typeface="Trebuchet MS" panose="020B0603020202020204" pitchFamily="34" charset="0"/>
              </a:rPr>
              <a:t>Optical power </a:t>
            </a:r>
            <a:r>
              <a:rPr lang="id-ID" sz="2400" b="1" dirty="0" smtClean="0">
                <a:solidFill>
                  <a:srgbClr val="323232"/>
                </a:solidFill>
                <a:latin typeface="Trebuchet MS" panose="020B0603020202020204" pitchFamily="34" charset="0"/>
              </a:rPr>
              <a:t>splitters (Pembagi daya)</a:t>
            </a:r>
            <a:endParaRPr lang="id-ID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32" y="1015391"/>
            <a:ext cx="8882171" cy="56019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2211" y="553726"/>
            <a:ext cx="4439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dirty="0" smtClean="0"/>
              <a:t>Contoh : pembagi 1 ke 8 :</a:t>
            </a:r>
            <a:endParaRPr lang="id-ID" sz="2400" b="1" dirty="0"/>
          </a:p>
        </p:txBody>
      </p:sp>
    </p:spTree>
    <p:extLst>
      <p:ext uri="{BB962C8B-B14F-4D97-AF65-F5344CB8AC3E}">
        <p14:creationId xmlns:p14="http://schemas.microsoft.com/office/powerpoint/2010/main" val="3887501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17" y="842210"/>
            <a:ext cx="10686047" cy="495701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2228" y="92061"/>
            <a:ext cx="6040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srgbClr val="323232"/>
                </a:solidFill>
                <a:latin typeface="Trebuchet MS" panose="020B0603020202020204" pitchFamily="34" charset="0"/>
              </a:rPr>
              <a:t>Optical power </a:t>
            </a:r>
            <a:r>
              <a:rPr lang="id-ID" sz="2400" b="1" dirty="0" smtClean="0">
                <a:solidFill>
                  <a:srgbClr val="323232"/>
                </a:solidFill>
                <a:latin typeface="Trebuchet MS" panose="020B0603020202020204" pitchFamily="34" charset="0"/>
              </a:rPr>
              <a:t>splitters (Pembagi daya)</a:t>
            </a:r>
            <a:endParaRPr lang="id-ID" sz="2400" b="1" dirty="0"/>
          </a:p>
        </p:txBody>
      </p:sp>
    </p:spTree>
    <p:extLst>
      <p:ext uri="{BB962C8B-B14F-4D97-AF65-F5344CB8AC3E}">
        <p14:creationId xmlns:p14="http://schemas.microsoft.com/office/powerpoint/2010/main" val="2231764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587" y="104091"/>
            <a:ext cx="6498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sz="2800" b="1" dirty="0" smtClean="0"/>
              <a:t>Menggabungkan Sinyal pada serat optik </a:t>
            </a:r>
            <a:endParaRPr lang="id-ID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1279359" y="827366"/>
            <a:ext cx="10912641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id-ID" sz="2400" b="1" dirty="0">
                <a:solidFill>
                  <a:srgbClr val="323232"/>
                </a:solidFill>
                <a:latin typeface="Trebuchet MS" panose="020B0603020202020204" pitchFamily="34" charset="0"/>
              </a:rPr>
              <a:t>Wavelength Division Multiplexing </a:t>
            </a:r>
            <a:r>
              <a:rPr lang="id-ID" sz="2400" b="1" dirty="0" smtClean="0">
                <a:solidFill>
                  <a:srgbClr val="323232"/>
                </a:solidFill>
                <a:latin typeface="Trebuchet MS" panose="020B0603020202020204" pitchFamily="34" charset="0"/>
              </a:rPr>
              <a:t>…</a:t>
            </a:r>
            <a:endParaRPr lang="id-ID" sz="2400" b="1" dirty="0">
              <a:solidFill>
                <a:srgbClr val="323232"/>
              </a:solidFill>
              <a:latin typeface="Trebuchet MS" panose="020B0603020202020204" pitchFamily="34" charset="0"/>
            </a:endParaRPr>
          </a:p>
          <a:p>
            <a:r>
              <a:rPr lang="id-ID" sz="2400" dirty="0">
                <a:solidFill>
                  <a:srgbClr val="F03C91"/>
                </a:solidFill>
                <a:latin typeface="Trebuchet MS" panose="020B0603020202020204" pitchFamily="34" charset="0"/>
              </a:rPr>
              <a:t>• </a:t>
            </a:r>
            <a:r>
              <a:rPr lang="id-ID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Menggabungkan sinyal-sinyal  cahaya optik dengan panjang gelombang </a:t>
            </a:r>
          </a:p>
          <a:p>
            <a:pPr>
              <a:spcAft>
                <a:spcPts val="1200"/>
              </a:spcAft>
            </a:pPr>
            <a:r>
              <a:rPr lang="id-ID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  <a:r>
              <a:rPr lang="id-ID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  yang multipel berbeda beda ke dalam serat optik tunggal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Rugi-rugi (loss)dari kecil hingga menengah</a:t>
            </a:r>
            <a:endParaRPr lang="id-ID" sz="24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699" y="3193616"/>
            <a:ext cx="7184555" cy="28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81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67" y="661736"/>
            <a:ext cx="11506846" cy="368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28863" y="0"/>
            <a:ext cx="8803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id-ID" sz="24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j-ea"/>
                <a:cs typeface="+mj-cs"/>
              </a:rPr>
              <a:t>Wavelength Division Multiplexing</a:t>
            </a:r>
            <a:endParaRPr kumimoji="0" lang="id-ID" sz="2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 bwMode="auto">
          <a:xfrm>
            <a:off x="445167" y="5105401"/>
            <a:ext cx="10900611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altLang="id-ID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Perangkat </a:t>
            </a:r>
            <a:r>
              <a:rPr lang="id-ID" altLang="id-ID" dirty="0">
                <a:solidFill>
                  <a:sysClr val="windowText" lastClr="000000"/>
                </a:solidFill>
                <a:latin typeface="Calibri"/>
              </a:rPr>
              <a:t>p</a:t>
            </a:r>
            <a:r>
              <a:rPr kumimoji="0" lang="en-US" altLang="id-ID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assive</a:t>
            </a:r>
            <a:r>
              <a:rPr kumimoji="0" lang="en-US" altLang="id-ID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/active </a:t>
            </a:r>
            <a:r>
              <a:rPr kumimoji="0" lang="id-ID" altLang="id-ID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diperlukan</a:t>
            </a:r>
            <a:r>
              <a:rPr kumimoji="0" lang="id-ID" altLang="id-ID" sz="32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untuk menggabungkan, mendistribusikan, mengisolir dan menguatkan daya optikal pada panjang gelombang yang berbeda beda. </a:t>
            </a:r>
            <a:endParaRPr kumimoji="0" lang="en-CA" altLang="id-ID" sz="32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3340" y="4251082"/>
            <a:ext cx="4353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/>
              <a:t>OA =Optical Amplifier</a:t>
            </a:r>
            <a:endParaRPr lang="id-ID" sz="3200" b="1" dirty="0"/>
          </a:p>
        </p:txBody>
      </p:sp>
    </p:spTree>
    <p:extLst>
      <p:ext uri="{BB962C8B-B14F-4D97-AF65-F5344CB8AC3E}">
        <p14:creationId xmlns:p14="http://schemas.microsoft.com/office/powerpoint/2010/main" val="1145228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466" y="172255"/>
            <a:ext cx="9273600" cy="66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37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98" y="316738"/>
            <a:ext cx="8820000" cy="661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38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-228600"/>
            <a:ext cx="8343900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11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6883" y="120315"/>
            <a:ext cx="712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sz="2400" b="1" dirty="0" smtClean="0"/>
              <a:t>Transmisi Voice,  data, dan video pada Serat Optik</a:t>
            </a:r>
            <a:endParaRPr lang="id-ID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1050757" y="581980"/>
            <a:ext cx="102228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d-ID" sz="2400" dirty="0" smtClean="0">
                <a:solidFill>
                  <a:srgbClr val="323232"/>
                </a:solidFill>
                <a:latin typeface="Trebuchet MS" panose="020B0603020202020204" pitchFamily="34" charset="0"/>
              </a:rPr>
              <a:t>Transmisi voice dan data pada serat optik tunggal </a:t>
            </a:r>
          </a:p>
          <a:p>
            <a:r>
              <a:rPr lang="id-ID" dirty="0" smtClean="0">
                <a:solidFill>
                  <a:srgbClr val="F03C91"/>
                </a:solidFill>
                <a:latin typeface="Trebuchet MS" panose="020B0603020202020204" pitchFamily="34" charset="0"/>
              </a:rPr>
              <a:t>    </a:t>
            </a:r>
            <a:r>
              <a:rPr lang="en-US" sz="2000" dirty="0" smtClean="0">
                <a:solidFill>
                  <a:srgbClr val="F03C91"/>
                </a:solidFill>
                <a:latin typeface="Trebuchet MS" panose="020B0603020202020204" pitchFamily="34" charset="0"/>
              </a:rPr>
              <a:t>• </a:t>
            </a:r>
            <a:r>
              <a:rPr lang="id-ID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Dua panjang gelombang pada  arah berlawanan (up stream dan downstream)</a:t>
            </a:r>
            <a:endParaRPr lang="id-ID" sz="20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0758" y="1639327"/>
            <a:ext cx="78646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d-ID" sz="2400" dirty="0" smtClean="0">
                <a:solidFill>
                  <a:srgbClr val="323232"/>
                </a:solidFill>
                <a:latin typeface="Trebuchet MS" panose="020B0603020202020204" pitchFamily="34" charset="0"/>
              </a:rPr>
              <a:t>Video </a:t>
            </a:r>
          </a:p>
          <a:p>
            <a:pPr lvl="0"/>
            <a:r>
              <a:rPr lang="id-ID" dirty="0" smtClean="0">
                <a:solidFill>
                  <a:srgbClr val="F03C91"/>
                </a:solidFill>
                <a:latin typeface="Trebuchet MS" panose="020B0603020202020204" pitchFamily="34" charset="0"/>
              </a:rPr>
              <a:t>     </a:t>
            </a:r>
            <a:r>
              <a:rPr lang="en-US" dirty="0" smtClean="0">
                <a:solidFill>
                  <a:srgbClr val="F03C91"/>
                </a:solidFill>
                <a:latin typeface="Trebuchet MS" panose="020B0603020202020204" pitchFamily="34" charset="0"/>
              </a:rPr>
              <a:t>• </a:t>
            </a:r>
            <a:r>
              <a:rPr lang="id-ID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Satu panjang gelombang pada arah </a:t>
            </a:r>
            <a:r>
              <a:rPr lang="en-US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downstream</a:t>
            </a:r>
            <a:endParaRPr lang="id-ID" sz="2000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35" y="2696673"/>
            <a:ext cx="9030223" cy="401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82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33" y="365722"/>
            <a:ext cx="10723156" cy="62541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4536" y="96253"/>
            <a:ext cx="6148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sz="2400" b="1" dirty="0" smtClean="0"/>
              <a:t>Contoh : Instalasi jaringan serat optik</a:t>
            </a:r>
            <a:endParaRPr lang="id-ID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54078" y="5238378"/>
            <a:ext cx="4662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b="1" dirty="0">
                <a:latin typeface="Roboto"/>
              </a:rPr>
              <a:t>Optical Network Unit (ONU) atau </a:t>
            </a:r>
            <a:endParaRPr lang="id-ID" sz="1600" b="1" dirty="0" smtClean="0">
              <a:latin typeface="Roboto"/>
            </a:endParaRPr>
          </a:p>
          <a:p>
            <a:r>
              <a:rPr lang="id-ID" sz="1600" b="1" dirty="0" smtClean="0">
                <a:latin typeface="Roboto"/>
              </a:rPr>
              <a:t>Optical </a:t>
            </a:r>
            <a:r>
              <a:rPr lang="id-ID" sz="1600" b="1" dirty="0">
                <a:latin typeface="Roboto"/>
              </a:rPr>
              <a:t>Network Terminal (ONT)</a:t>
            </a:r>
            <a:endParaRPr lang="id-ID" sz="1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99720" y="4707005"/>
            <a:ext cx="4857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ADSL (Asymmetric Digital Subscriber Line)</a:t>
            </a:r>
            <a:endParaRPr lang="id-ID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72231" y="4995766"/>
            <a:ext cx="5405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VDSL (Very high bit rate digital subscriber line)</a:t>
            </a:r>
            <a:endParaRPr lang="id-ID" sz="1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940852" y="5719958"/>
            <a:ext cx="4279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OLT (Optical Line Terminal), </a:t>
            </a:r>
            <a:endParaRPr lang="id-ID" sz="1600" b="1" dirty="0" smtClean="0"/>
          </a:p>
          <a:p>
            <a:r>
              <a:rPr lang="en-US" sz="1600" b="1" dirty="0" smtClean="0"/>
              <a:t>ONU</a:t>
            </a:r>
            <a:r>
              <a:rPr lang="en-US" sz="1600" b="1" dirty="0"/>
              <a:t> (Optical Network Unit) </a:t>
            </a:r>
            <a:r>
              <a:rPr lang="en-US" sz="1600" b="1" dirty="0" smtClean="0"/>
              <a:t>and</a:t>
            </a:r>
            <a:endParaRPr lang="id-ID" sz="1600" b="1" dirty="0" smtClean="0"/>
          </a:p>
          <a:p>
            <a:r>
              <a:rPr lang="en-US" sz="1600" b="1" dirty="0" smtClean="0"/>
              <a:t>ODN </a:t>
            </a:r>
            <a:r>
              <a:rPr lang="en-US" sz="1600" b="1" dirty="0"/>
              <a:t>(Optical Distribution Network)</a:t>
            </a:r>
            <a:endParaRPr lang="id-ID" sz="16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53968" y="1910394"/>
            <a:ext cx="32743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 smtClean="0"/>
              <a:t>FTT = Fiber To The,</a:t>
            </a:r>
          </a:p>
          <a:p>
            <a:r>
              <a:rPr lang="id-ID" b="1" dirty="0" smtClean="0"/>
              <a:t>Ex = Exchange (Sentral tlp)</a:t>
            </a:r>
          </a:p>
          <a:p>
            <a:r>
              <a:rPr lang="id-ID" b="1" dirty="0" smtClean="0"/>
              <a:t>Cab = Cabinet</a:t>
            </a:r>
          </a:p>
          <a:p>
            <a:r>
              <a:rPr lang="id-ID" b="1" dirty="0" smtClean="0"/>
              <a:t>C = Curb</a:t>
            </a:r>
          </a:p>
          <a:p>
            <a:r>
              <a:rPr lang="id-ID" b="1" dirty="0" smtClean="0"/>
              <a:t>H/B = Home/Building</a:t>
            </a:r>
            <a:endParaRPr lang="id-ID" b="1" dirty="0"/>
          </a:p>
        </p:txBody>
      </p:sp>
    </p:spTree>
    <p:extLst>
      <p:ext uri="{BB962C8B-B14F-4D97-AF65-F5344CB8AC3E}">
        <p14:creationId xmlns:p14="http://schemas.microsoft.com/office/powerpoint/2010/main" val="3453583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0316"/>
            <a:ext cx="5606715" cy="553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id-ID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Instalasi </a:t>
            </a:r>
            <a:r>
              <a:rPr lang="id-ID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Kabel </a:t>
            </a:r>
            <a:r>
              <a:rPr lang="id-ID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Serat Optik </a:t>
            </a:r>
            <a:endParaRPr lang="id-ID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9336" y="553358"/>
            <a:ext cx="1262914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Ada 6 jenis kabel </a:t>
            </a: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serat  </a:t>
            </a: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Optik, yaitu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b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Kabel Udara atau juga disebut dengan Aerial </a:t>
            </a: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Cables</a:t>
            </a: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Kabel Tanah Tanam lansung atau juga disebut dengan Direct Buried Cables</a:t>
            </a:r>
            <a:b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Kabel Tanah dengan Duct atau juga disebut dengan Duct Cables.</a:t>
            </a:r>
            <a:b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Kabel Laut / Sungai atau juga disebut dengan Submarine Cables</a:t>
            </a:r>
            <a:b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Dropp Optic kabel penaggal yang ditambatkan untuk catuan user.</a:t>
            </a:r>
            <a:b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6. Indoor Optic, yaiu kabel yang konstruksinya untuk didalam </a:t>
            </a: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gedung 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   ( </a:t>
            </a:r>
            <a:r>
              <a:rPr lang="id-ID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patchcord</a:t>
            </a:r>
            <a:r>
              <a:rPr lang="id-ID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48202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9810" y="154576"/>
            <a:ext cx="11847095" cy="6085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Konstruksi Kabel Fiber Optik, terdiri dari</a:t>
            </a:r>
            <a:endParaRPr lang="id-ID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1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Bagian luar disebut juga outer PE Jacket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2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Rip Cord benang pengupas Outer maupun Inner PE Jacket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3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Aramid Yarn berfungsi untuk memperkuat kabel dan melindungi panas.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4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Gel , atau jelly lilin cair yang berfungsi penahan air atau binatang / serangga.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5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Strength Member yang berfungsi untuk penguat pada sambungan di closure.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6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Tube sebagai tempat atau selubung Fiber Optik yang berfungsi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 :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Mengelompokkan urutan Fiber Optik berdasakan warna.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b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Melindungi Fiber Optik.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Ada dua jenis tube yaitu,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a. Loose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Tube atau tube yang beronngga, sehingga fiber dapat fleksibel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b.  Tight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Tube atau Tube yang menyatu dengan Fiber seoerti pada Patchcord.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7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Pita Binder yang berfungsi untuk penahan air.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8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Filler yang berfungsi unuk memperkuat kabel saat penarikan, dan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 penahan puntiran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9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Armouring atau lilitan baja pelindung dalam kabel Fiber Optik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id-ID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21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601487" cy="5305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id-ID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Instalasi Kabel Udara atau aerial cables</a:t>
            </a:r>
            <a:endParaRPr lang="id-ID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742" y="530594"/>
            <a:ext cx="11674258" cy="2858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Kabel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 ditambatkan pada tiang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telepon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Penambatan pada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bearer kabel yang terbuat dari lilitan kawat baja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messenger Wire).</a:t>
            </a:r>
            <a:endParaRPr lang="id-ID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Tiang telepon berupa 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tiang besi dengan panjang 7 meter, 9 meter dan 12 meter.</a:t>
            </a:r>
            <a:endParaRPr lang="id-ID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(dipasang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 didalam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kota)</a:t>
            </a:r>
            <a:endParaRPr lang="id-ID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Tiang telepon terbuat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dari tiang beton dengan panjang 12 meter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(dipasang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 luar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kota).</a:t>
            </a:r>
            <a:endParaRPr lang="id-ID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id-ID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id-ID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https://2.bp.blogspot.com/-LxqWK7Kx56Q/VqF20c9-imI/AAAAAAAAAlw/OEq8YBXtQNI/s400/fiber-optic-cable-269222012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905" y="2695072"/>
            <a:ext cx="8566484" cy="41629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121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4.bp.blogspot.com/-Pa4AMH2Q4PY/VqF3PvwwWxI/AAAAAAAAAl4/W5_sc6CMWyE/s320/kabel-udara4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09" y="1808746"/>
            <a:ext cx="3922796" cy="504925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56795" y="0"/>
            <a:ext cx="11389894" cy="1673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Pemasangan tiang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Ditanam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1/5 bagian yang masuk kedalam tanah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tiang besi di pasang pondasi penguat tiang  dari adukan semen 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setinggi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 cm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Jarak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antar tiang antara 40 - 50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meter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1178" y="1673022"/>
            <a:ext cx="717082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Penggunaan Tiang 7 meter atau T-7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digunakan kabel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yang menuju ke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pelanggan atau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sekitar perumahan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id-ID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Penggunaan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Tiang 9 meter atau T-9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digunakan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untuk jarak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antar tiang 60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meter yang ditempatkan diluar kota,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atau penyeberangan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jalan raya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id-ID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Penggunaan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Tiang 12 meter atau T-12 untuk penyeberangan rel kereta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api, atau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penyeberangan sungai yang kebarnya &gt; 50 meter.</a:t>
            </a:r>
            <a:b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154355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4188" y="160177"/>
            <a:ext cx="11357811" cy="1673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Didekat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sambungan biasanya diberi spare kabel (kabel cadangan ) yang diloop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tidak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terjadi gangguan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bending, hal ini jika terjadi gangguan masih terdapat sisa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kabel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 dapat disambung.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 kabel ini panjangnya antara 4 - 6 meter. </a:t>
            </a:r>
            <a:endParaRPr lang="id-ID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4.bp.blogspot.com/-MEAd5is0PJA/VqF11o1PX3I/AAAAAAAAAlo/dmnGgMde2RA/s400/kabeludara-2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88" y="2216204"/>
            <a:ext cx="4483770" cy="3715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https://1.bp.blogspot.com/-DOmAJvWe_e4/VqF3pq47eBI/AAAAAAAAAmI/HTvlE6E4h9g/s320/kabel-udara3.jpg">
            <a:hlinkClick r:id="rId4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116" y="2216204"/>
            <a:ext cx="4535906" cy="41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https://3.bp.blogspot.com/-ccWN70I3cOg/VqF3hirab2I/AAAAAAAAAmA/Rz3w9j-C6Oc/s1600/kabeludara.jpg">
            <a:hlinkClick r:id="rId6"/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792" y="2507581"/>
            <a:ext cx="2257425" cy="1866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391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325" y="113430"/>
            <a:ext cx="8670759" cy="685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Cara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pemasangan kabel udara pada tiang ada dua metode yaitu :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id-ID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id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9496" y="561581"/>
            <a:ext cx="11726778" cy="206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 Gantung.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Yaitu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kabel digantung pada tiang, dengan tidak memotong bearer, digunakan untuk ;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a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Rute lurus dengan jarak kurang dari 50 meter.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b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Peralatan yang dipasang pada tiang  adalah 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Stainless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steel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band, Suspension Clamps,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Stainless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Steel Band</a:t>
            </a:r>
            <a:endParaRPr lang="id-ID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https://1.bp.blogspot.com/-iaBhx2uKAjA/VqGL-BNRY0I/AAAAAAAAAmk/m_EuN6GZPWs/s640/kabeludara-6.jpg">
            <a:hlinkClick r:id="rId2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3" t="8683" r="5171" b="6474"/>
          <a:stretch/>
        </p:blipFill>
        <p:spPr bwMode="auto">
          <a:xfrm>
            <a:off x="675772" y="2629776"/>
            <a:ext cx="7168817" cy="41199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883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9284" y="0"/>
            <a:ext cx="11510210" cy="1673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 Cara </a:t>
            </a: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Tambat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Cara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tambat digunakan untuk ;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a. Rute Belok atau melengkung dan ujung akhir kabel.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b. Jarak antar tiang lebih dari 50 meter</a:t>
            </a:r>
            <a:endParaRPr lang="id-ID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4.bp.blogspot.com/-XDwl_qMh-Po/VqGNKmJCGfI/AAAAAAAAAms/-aRb10Qfb4U/s1600/kabeludara-1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2" y="1673022"/>
            <a:ext cx="2905627" cy="301929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748039" y="5423671"/>
            <a:ext cx="31381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Rute </a:t>
            </a: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belok atau melengkung</a:t>
            </a:r>
            <a:endParaRPr lang="id-ID" sz="2000" dirty="0"/>
          </a:p>
        </p:txBody>
      </p:sp>
      <p:pic>
        <p:nvPicPr>
          <p:cNvPr id="5" name="Picture 4" descr="https://4.bp.blogspot.com/-7stRo54xKwg/VqGNRxhCBdI/AAAAAAAAAm0/wZR_PElbDiw/s1600/kabeludara-3.GIF">
            <a:hlinkClick r:id="rId4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487" y="1673022"/>
            <a:ext cx="4204670" cy="35246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4892635" y="5623726"/>
            <a:ext cx="29835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Jarak antar tiang lebih </a:t>
            </a:r>
            <a:endParaRPr lang="id-ID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dari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50 meter</a:t>
            </a:r>
            <a:endParaRPr lang="id-ID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157" y="1757751"/>
            <a:ext cx="3752163" cy="31765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340245" y="5624496"/>
            <a:ext cx="1955985" cy="4608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Tambat Akhir </a:t>
            </a:r>
            <a:endParaRPr lang="id-ID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19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2359" y="0"/>
            <a:ext cx="3822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id-ID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Instalasi Kabel Tanah</a:t>
            </a:r>
            <a:endParaRPr lang="id-ID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405064" y="523220"/>
            <a:ext cx="1178693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Harus memenuhi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 dari ITU-T serie G dan Standard Nasional seri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STEL-K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id-ID" sz="1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Kabel </a:t>
            </a: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Tanah Tanam Langsung atau Direct Burried Cables</a:t>
            </a: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 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Ditanam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dibawah permukaan tanah tanpa pelindung pipa baik PVC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atau Galvanis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Memenuhi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d-ID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tandard STEL-QA-K-016 Single Mode Jelly Filled </a:t>
            </a:r>
            <a:r>
              <a:rPr lang="id-ID" sz="24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Loose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Tube </a:t>
            </a:r>
            <a:r>
              <a:rPr lang="id-ID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Direct </a:t>
            </a:r>
            <a:endParaRPr lang="id-ID" sz="2400" i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Burried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id-ID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id-ID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866516" y="2754600"/>
            <a:ext cx="83956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Kabel </a:t>
            </a: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Tanah Tanam Langsung di bahu jalan dan di trotoar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id-ID" sz="2400" dirty="0"/>
          </a:p>
        </p:txBody>
      </p:sp>
      <p:pic>
        <p:nvPicPr>
          <p:cNvPr id="5" name="Picture 4" descr="https://3.bp.blogspot.com/-W5_F7iz15pA/VqVgisinWqI/AAAAAAAAAnY/9Nv0Kf3xdRA/s400/kabeltanah-1.GIF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364" y="3216265"/>
            <a:ext cx="4797520" cy="36417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859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7935" y="280492"/>
            <a:ext cx="11341769" cy="1431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Pemasangan melintas Jalan </a:t>
            </a: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Raya</a:t>
            </a:r>
          </a:p>
          <a:p>
            <a:pPr marL="800100" lvl="1" indent="-34290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Harus dilindungi dengan pipa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Galvanis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menggunakan subduct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harus disediakan satu pipa Galvanis sebagai cadangan.</a:t>
            </a:r>
            <a:endParaRPr lang="id-ID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3.bp.blogspot.com/-wGbabnxIeCY/VqVz75ieTHI/AAAAAAAAAn4/2Qf8iRC8180/s320/kabeltanah-5.GIF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35" y="1615979"/>
            <a:ext cx="4916907" cy="44359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413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2610" y="0"/>
            <a:ext cx="50251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Pemasangan melintas parit</a:t>
            </a: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id-ID" sz="2400" dirty="0"/>
          </a:p>
        </p:txBody>
      </p:sp>
      <p:sp>
        <p:nvSpPr>
          <p:cNvPr id="9" name="Rectangle 8"/>
          <p:cNvSpPr/>
          <p:nvPr/>
        </p:nvSpPr>
        <p:spPr>
          <a:xfrm>
            <a:off x="577516" y="461665"/>
            <a:ext cx="11614484" cy="41979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iberi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pengaman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 melindungi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kabel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menggunakan pipa galvanis ,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 ditempatkan dengan dengan dua cara, yaitu;</a:t>
            </a:r>
            <a:b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a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Dibawah parit, jika kedalaman parit kurang dari 100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</a:t>
            </a: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Pipa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galvanis ditempatkan dibawah parit dengan jarak minimal 20 cm</a:t>
            </a:r>
            <a:endParaRPr lang="id-ID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b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Dipermukaan parit, jika kedalaman parit lebih dari 100 cm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57300" lvl="2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parit terbuka pipa galvanis diusahakan ditempatkan diatas permukaan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air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agar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tidak menghalangi aliran, dan diberi kawat berduri untk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mencegahpencurian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dan perusakan.</a:t>
            </a:r>
          </a:p>
          <a:p>
            <a:pPr marL="1257300" lvl="2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Untuk parit tertutup ditempatkan dibawah penutup dan dipasang rapi agar penutup</a:t>
            </a:r>
            <a:b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tetap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sejajar dengan permukaan semula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https://4.bp.blogspot.com/-Mz1IzbG6rwM/VqbatvqcJSI/AAAAAAAAApU/rnmR5isori0/s320/kabeltanah-6.gif">
            <a:hlinkClick r:id="rId2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44"/>
          <a:stretch/>
        </p:blipFill>
        <p:spPr bwMode="auto">
          <a:xfrm>
            <a:off x="1864895" y="4659609"/>
            <a:ext cx="3477125" cy="2041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https://4.bp.blogspot.com/-9jbr1KCuw-4/VqbbIRUFYdI/AAAAAAAAApc/LnopEgOmmSY/s1600/kabeltanah10.GIF">
            <a:hlinkClick r:id="rId4"/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r="9417" b="16990"/>
          <a:stretch/>
        </p:blipFill>
        <p:spPr bwMode="auto">
          <a:xfrm>
            <a:off x="6054138" y="4659609"/>
            <a:ext cx="2680787" cy="2041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https://1.bp.blogspot.com/-a6hu8zn9lUA/VqbbN7h4nwI/AAAAAAAAApk/BQog9e-2uQE/s1600/kabeltanah-10.GIF">
            <a:hlinkClick r:id="rId6"/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9" r="18517" b="9899"/>
          <a:stretch/>
        </p:blipFill>
        <p:spPr bwMode="auto">
          <a:xfrm>
            <a:off x="9356808" y="4712877"/>
            <a:ext cx="2049129" cy="19887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3802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6988" y="-49352"/>
            <a:ext cx="11570369" cy="2041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Pemasangan melitas Sungai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Ada tiga cara kabel tanah yang melintasi sungai, yaitu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id-ID" sz="24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id-ID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Dengan melalui tiang untuk melintas sungai.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id-ID" sz="24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id-ID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Dengan menumpang pada jemabtan yang sudah ada.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id-ID" sz="24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id-ID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Dengan membuat konstruksi jembatan </a:t>
            </a:r>
            <a:r>
              <a:rPr lang="id-ID" sz="2400" i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kabel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93" y="1937084"/>
            <a:ext cx="4376888" cy="20985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298" y="2014539"/>
            <a:ext cx="4973390" cy="16894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396" y="4239308"/>
            <a:ext cx="6210792" cy="1985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5374" y="6286593"/>
            <a:ext cx="134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        (a)</a:t>
            </a:r>
            <a:endParaRPr lang="id-ID" dirty="0"/>
          </a:p>
        </p:txBody>
      </p:sp>
      <p:sp>
        <p:nvSpPr>
          <p:cNvPr id="12" name="Rectangle 11"/>
          <p:cNvSpPr/>
          <p:nvPr/>
        </p:nvSpPr>
        <p:spPr>
          <a:xfrm>
            <a:off x="8985764" y="3334641"/>
            <a:ext cx="500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prstClr val="black"/>
                </a:solidFill>
              </a:rPr>
              <a:t> </a:t>
            </a:r>
            <a:r>
              <a:rPr lang="id-ID" dirty="0" smtClean="0">
                <a:solidFill>
                  <a:prstClr val="black"/>
                </a:solidFill>
              </a:rPr>
              <a:t>(b)</a:t>
            </a:r>
            <a:endParaRPr lang="id-ID" dirty="0"/>
          </a:p>
        </p:txBody>
      </p:sp>
      <p:sp>
        <p:nvSpPr>
          <p:cNvPr id="13" name="Rectangle 12"/>
          <p:cNvSpPr/>
          <p:nvPr/>
        </p:nvSpPr>
        <p:spPr>
          <a:xfrm>
            <a:off x="7948586" y="6286593"/>
            <a:ext cx="476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prstClr val="black"/>
                </a:solidFill>
              </a:rPr>
              <a:t> </a:t>
            </a:r>
            <a:r>
              <a:rPr lang="id-ID" dirty="0" smtClean="0">
                <a:solidFill>
                  <a:prstClr val="black"/>
                </a:solidFill>
              </a:rPr>
              <a:t>(c)</a:t>
            </a:r>
            <a:endParaRPr lang="id-ID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36" y="4239308"/>
            <a:ext cx="3573995" cy="212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7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4958" y="0"/>
            <a:ext cx="11827042" cy="2463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Kabel Tanah Duct.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Kabel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Duct adalah kabel yang digelar dibawah tanah dengan menggunakan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pelindung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pipa PVC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diameter 4"-5" dan dilapisi dengan cor beton. Sambungan dan penarikan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dilakukan melalui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MANHOLE.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Kabel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duct pada umumnya tidak menggunakan lapisan armouring yang terbuat dari lilitan </a:t>
            </a:r>
            <a:endParaRPr lang="id-ID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baja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atau selubung aluminium.</a:t>
            </a:r>
            <a:endParaRPr lang="id-ID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3.bp.blogspot.com/-cwOqGz88d28/Vq6shK3WW6I/AAAAAAAAArA/SME-j5Cew7M/s1600/fiber-optic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26" y="2822156"/>
            <a:ext cx="4295274" cy="26522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5474369" y="2463367"/>
            <a:ext cx="6894095" cy="2463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Manhole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dipasang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 jarak setiap 250 meter.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Fungsi dari Manhole adalah ;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Tempat penarikan untuk penggelaran kabel duct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b.Tempat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sambungan kabel duct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Tempat percabangan jalur pada kabel duct.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Tempat pemeliharaan kabel duct.</a:t>
            </a:r>
            <a:endParaRPr lang="id-ID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38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399" y="130115"/>
            <a:ext cx="115463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Konstruksi Manhole dengan beton bertulang dengan campuran semen : kerikil : pasir = 1:1,5:2,5 kedap air yang mampu menahan tekanan beban &gt; 50 ton</a:t>
            </a:r>
            <a:endParaRPr lang="id-ID" sz="2400" dirty="0"/>
          </a:p>
        </p:txBody>
      </p:sp>
      <p:pic>
        <p:nvPicPr>
          <p:cNvPr id="3" name="Picture 2" descr="https://3.bp.blogspot.com/-faOLwUaz7qQ/Vq7CgWXJb-I/AAAAAAAAAsE/tOmgG0n8EjY/s400/manhole-5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210678"/>
            <a:ext cx="5338012" cy="45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https://2.bp.blogspot.com/-xw0TkO98w6E/Vq7CE8DLFYI/AAAAAAAAAr8/agUcoA5ucqQ/s400/manhole-4.jpg">
            <a:hlinkClick r:id="rId4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288" y="1210678"/>
            <a:ext cx="5331995" cy="4564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302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263" y="0"/>
            <a:ext cx="8514348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id-ID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Cara </a:t>
            </a:r>
            <a:r>
              <a:rPr lang="id-ID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Penyambungan Kabel S</a:t>
            </a:r>
            <a:r>
              <a:rPr lang="id-ID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erat  Optik (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splicing)</a:t>
            </a:r>
            <a:endParaRPr lang="id-ID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7463" y="530594"/>
            <a:ext cx="11273589" cy="1673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 umum dipakai adalah teknik fusion. </a:t>
            </a:r>
            <a:endParaRPr lang="id-ID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Penyambungan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kabel serat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optik berpengaruh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pada kualitas transmisi sinyal optik,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penyambungan harus dilakukan 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sesempurna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mungkin agar batasan loss transmisi tidak terlampaui, loss maksimum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setelah penyambungan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adalah 0,2 dB per buah. </a:t>
            </a:r>
            <a:endParaRPr lang="id-ID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6988" y="2374737"/>
            <a:ext cx="118150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id-ID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 </a:t>
            </a:r>
            <a:r>
              <a:rPr lang="id-ID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Hal yang Perlu Diperhatikan Dalam  </a:t>
            </a:r>
            <a:r>
              <a:rPr lang="id-ID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Proses  </a:t>
            </a:r>
            <a:r>
              <a:rPr lang="id-ID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Penyambungan </a:t>
            </a:r>
          </a:p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Sebelum melakukan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splicing usahakan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semua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peralatan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 tangan kita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sebersih mungkin</a:t>
            </a: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sebab </a:t>
            </a:r>
            <a:r>
              <a:rPr lang="sv-SE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adanya </a:t>
            </a:r>
            <a:r>
              <a:rPr lang="sv-SE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kotoran pada serat optik </a:t>
            </a:r>
            <a:r>
              <a:rPr lang="sv-SE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menyebabkan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redaman pada serat. </a:t>
            </a:r>
          </a:p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2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Jangan menginjak tube karena dapat merusak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 didalamnya sehingga bisa </a:t>
            </a:r>
            <a:endParaRPr lang="id-ID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menyebabkan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pecah atau retak. </a:t>
            </a:r>
          </a:p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3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Jangan menggulung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dengan ukuran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 </a:t>
            </a:r>
            <a:r>
              <a:rPr lang="sv-SE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sv-SE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kecil karena bisa membuat </a:t>
            </a:r>
            <a:r>
              <a:rPr lang="sv-SE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endParaRPr lang="id-ID" sz="24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sv-S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patah</a:t>
            </a:r>
            <a:r>
              <a:rPr lang="sv-SE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4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Setelah melakukan pemotongan, hasil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pemotongan langsung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dimasukan kedalam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wadah</a:t>
            </a: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khusus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nn-NO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nn-NO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tidak masuk kedalam kulit </a:t>
            </a:r>
            <a:r>
              <a:rPr lang="nn-NO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dikhawatirkan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mengganggu kesehatan. </a:t>
            </a:r>
          </a:p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i-FI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fi-FI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Selalu perhatikan perlindungan pada kaset agar </a:t>
            </a:r>
            <a:r>
              <a:rPr lang="fi-FI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tidak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 masuk kedalam kaset yang </a:t>
            </a:r>
            <a:endParaRPr lang="id-ID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dapat merusak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serat optik. </a:t>
            </a:r>
          </a:p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Ikuti prosedur dan langkah-langkah yang ada.</a:t>
            </a:r>
          </a:p>
        </p:txBody>
      </p:sp>
    </p:spTree>
    <p:extLst>
      <p:ext uri="{BB962C8B-B14F-4D97-AF65-F5344CB8AC3E}">
        <p14:creationId xmlns:p14="http://schemas.microsoft.com/office/powerpoint/2010/main" val="101423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1210" y="161539"/>
            <a:ext cx="7299158" cy="2437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Urutan </a:t>
            </a: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Kegiatan Penyambungan</a:t>
            </a:r>
            <a:endParaRPr lang="id-ID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1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Stripping ( removal of secondary coating )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2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Removal of primary coating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3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Cutting of Fiber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4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Splicing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5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Reinforcement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1209" y="2692245"/>
            <a:ext cx="7166811" cy="1226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Alat </a:t>
            </a: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 bahan yang diperlukan</a:t>
            </a:r>
            <a:endParaRPr lang="id-ID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d-ID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   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Gergaji Besi </a:t>
            </a:r>
            <a:endParaRPr lang="id-ID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  (untuk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memotong kabel serat optik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id-ID" sz="2400" dirty="0"/>
          </a:p>
        </p:txBody>
      </p:sp>
      <p:pic>
        <p:nvPicPr>
          <p:cNvPr id="4" name="Picture 3" descr="http://2.bp.blogspot.com/-ZMxYRa_yCFY/UyRIAuFywII/AAAAAAAAACA/WTzZSboSPvA/s1600/DSC07767.JPG">
            <a:hlinkClick r:id="rId2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13" y="4011594"/>
            <a:ext cx="4357439" cy="28464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7228877" y="3087418"/>
            <a:ext cx="45400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Lupsheat cutter </a:t>
            </a:r>
            <a:endParaRPr lang="id-ID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(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untuk mengupas kulit PE kabel)</a:t>
            </a:r>
            <a:endParaRPr lang="id-ID" sz="2400" dirty="0"/>
          </a:p>
        </p:txBody>
      </p:sp>
      <p:pic>
        <p:nvPicPr>
          <p:cNvPr id="6" name="Picture 5" descr="http://3.bp.blogspot.com/-kVQ_mxgjCjk/UyRIiBVZr_I/AAAAAAAAACI/vEIvm4QpSsI/s1600/lupsheat+cutter.jpg">
            <a:hlinkClick r:id="rId4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904" y="3918415"/>
            <a:ext cx="4081463" cy="2939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8408" y="3918415"/>
            <a:ext cx="2026397" cy="154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1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1505" y="0"/>
            <a:ext cx="53078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id-ID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Fiber Stripper </a:t>
            </a:r>
            <a:endParaRPr lang="id-ID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(untuk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mengupas pelindung serat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optik)</a:t>
            </a:r>
            <a:endParaRPr lang="id-ID" sz="2400" dirty="0"/>
          </a:p>
        </p:txBody>
      </p:sp>
      <p:pic>
        <p:nvPicPr>
          <p:cNvPr id="3" name="Picture 2" descr="http://3.bp.blogspot.com/-JQhvRy_1bd0/UyRI4wx4qHI/AAAAAAAAACQ/LKRUJwS9k00/s1600/fiber+stripper.jpg">
            <a:hlinkClick r:id="rId2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0997"/>
            <a:ext cx="4535905" cy="2273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7232300" y="0"/>
            <a:ext cx="430919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Fiber Cleaver/ Fiber cutter </a:t>
            </a:r>
            <a:endParaRPr lang="id-ID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(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untuk memotong serat optik )</a:t>
            </a:r>
            <a:endParaRPr lang="id-ID" sz="2400" dirty="0"/>
          </a:p>
        </p:txBody>
      </p:sp>
      <p:pic>
        <p:nvPicPr>
          <p:cNvPr id="5" name="Picture 4" descr="http://3.bp.blogspot.com/-ELs9ADzLX4w/UyRJQy-m3zI/AAAAAAAAACY/Z-X0HjQ_2hU/s1600/fiber+cleaver.jpg">
            <a:hlinkClick r:id="rId4"/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548" y="830997"/>
            <a:ext cx="4093945" cy="22731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640711" y="3359043"/>
            <a:ext cx="110299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Fusion Splicer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(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sistem peleburan yang menggunakan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sistem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mekanik )</a:t>
            </a:r>
            <a:endParaRPr lang="id-ID" sz="2400" dirty="0"/>
          </a:p>
        </p:txBody>
      </p:sp>
      <p:pic>
        <p:nvPicPr>
          <p:cNvPr id="7" name="Picture 6" descr="http://4.bp.blogspot.com/-IpsqMr4exXE/UyRJ72scrfI/AAAAAAAAACg/zss7f5P5om4/s1600/2011-11-03+14.14.26_%E5%89%AF%E6%9C%AC.jpg">
            <a:hlinkClick r:id="rId6"/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643" y="3935144"/>
            <a:ext cx="4022558" cy="2953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090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0442" y="146508"/>
            <a:ext cx="11016915" cy="8826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Toolkit ( Tang, Obeng, Pisau, Cutter, Gunting, Palu, Kunci pas, Meteran, dll )</a:t>
            </a:r>
            <a:b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Alkohol 90 %</a:t>
            </a:r>
            <a:endParaRPr lang="id-ID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30442" y="932933"/>
            <a:ext cx="29606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8. Tissue / Kain majun</a:t>
            </a:r>
            <a:endParaRPr lang="id-ID" sz="2400" dirty="0"/>
          </a:p>
        </p:txBody>
      </p:sp>
      <p:pic>
        <p:nvPicPr>
          <p:cNvPr id="4" name="Picture 3" descr="http://1.bp.blogspot.com/-p9UcsNQ46js/UyRKQXrEgxI/AAAAAAAAACo/TjepDY1gNZA/s1600/alkohol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509" y="2181023"/>
            <a:ext cx="3709279" cy="2968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http://3.bp.blogspot.com/-kz_chGbd_7I/UyRKe1c0eGI/AAAAAAAAACw/8kfmczL2Dys/s1600/tissue.jpg">
            <a:hlinkClick r:id="rId4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905" y="2181022"/>
            <a:ext cx="3898232" cy="296849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930442" y="1353946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9. Kabel Fiber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Optik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299696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4993" y="0"/>
            <a:ext cx="43252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Pelaksanaan </a:t>
            </a:r>
            <a:r>
              <a:rPr lang="id-ID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Penyambungan</a:t>
            </a:r>
            <a:endParaRPr lang="id-ID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665747" y="1278174"/>
            <a:ext cx="1134577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  Kupas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kulit kabel menggunakan lupsheat cutter, panjang kupasan disesuaikan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</a:p>
          <a:p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 jenis penyambungan</a:t>
            </a:r>
            <a:r>
              <a:rPr lang="id-ID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id-ID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id-ID" dirty="0"/>
          </a:p>
        </p:txBody>
      </p:sp>
      <p:pic>
        <p:nvPicPr>
          <p:cNvPr id="6" name="Picture 5" descr="http://1.bp.blogspot.com/-n7i5jr6lt_Q/UyRHXJ9z9UI/AAAAAAAAAB4/u6tDg85QWx0/s1600/lupsheat.png">
            <a:hlinkClick r:id="rId2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8" b="10649"/>
          <a:stretch/>
        </p:blipFill>
        <p:spPr bwMode="auto">
          <a:xfrm>
            <a:off x="962523" y="3398920"/>
            <a:ext cx="4776540" cy="28214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665747" y="2124047"/>
            <a:ext cx="11762874" cy="8826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Ambil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salah satu ujung serat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optik, kupas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pelindung serat optik (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secondary coating)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tersebut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 fiber stripper, panjang ujung serat optik yang dikupas kurang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lebih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cm</a:t>
            </a:r>
            <a:endParaRPr lang="id-ID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http://3.bp.blogspot.com/-nHTvTg4lTyE/UyRh1OW8f2I/AAAAAAAAAEU/PUtlOeKUcyQ/s1600/DSC07805.JPG">
            <a:hlinkClick r:id="rId4"/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250" y="3398920"/>
            <a:ext cx="3842087" cy="32786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665747" y="420859"/>
            <a:ext cx="112755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Terlebih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dahulu masukan plastik khusus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disebut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slip protection untuk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melindungi</a:t>
            </a:r>
          </a:p>
          <a:p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bagian core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telah di splice satu persatu. 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33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6551" y="-88686"/>
            <a:ext cx="49600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8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Pelaksanaan </a:t>
            </a:r>
            <a:r>
              <a:rPr lang="id-ID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Penyambungan</a:t>
            </a:r>
            <a:endParaRPr lang="id-ID" sz="2800" b="1" dirty="0"/>
          </a:p>
        </p:txBody>
      </p:sp>
      <p:pic>
        <p:nvPicPr>
          <p:cNvPr id="4" name="Picture 3" descr="http://2.bp.blogspot.com/-kl4ZhC69P3I/UyRgbDpxTuI/AAAAAAAAAEI/PkBn66Lf25w/s1600/DSC07757.JPG">
            <a:hlinkClick r:id="rId2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077" y="2422720"/>
            <a:ext cx="6530976" cy="43510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549776" y="372979"/>
            <a:ext cx="116804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Setelah terkupas bersihkan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dengan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tisue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tanpa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parfum yang sudah dibasahi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alkohol sampai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gesekannya mengeluarkan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bunyi. </a:t>
            </a:r>
            <a:r>
              <a:rPr lang="fi-FI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Lakukan </a:t>
            </a:r>
            <a:r>
              <a:rPr lang="fi-FI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sebanyak 2-3 kali </a:t>
            </a:r>
            <a:r>
              <a:rPr lang="fi-FI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lalu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i-FI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bersihkan</a:t>
            </a:r>
            <a:endParaRPr lang="fi-FI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kembali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tisue kering. Hal ini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sangat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penting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dilakukan karena apabila ada sedikit </a:t>
            </a:r>
            <a:endParaRPr lang="id-ID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saja </a:t>
            </a:r>
            <a:r>
              <a:rPr lang="sv-SE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kotoran </a:t>
            </a:r>
            <a:r>
              <a:rPr lang="sv-SE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menempel pada </a:t>
            </a:r>
            <a:r>
              <a:rPr lang="sv-SE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maka </a:t>
            </a:r>
            <a:r>
              <a:rPr lang="sv-S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mempengaruhi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kualitas redaman pada </a:t>
            </a:r>
            <a:endParaRPr lang="id-ID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saluran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27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3052" y="111941"/>
            <a:ext cx="111754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Potong ujung serat optik tersebut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 fiber cutter/ fiber cleaver.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Masukan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id-ID" sz="24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pemotong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core (fiber </a:t>
            </a:r>
            <a:r>
              <a:rPr lang="en-US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cleaver)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sv-SE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dimana </a:t>
            </a:r>
            <a:r>
              <a:rPr lang="sv-SE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menempatkan ujung </a:t>
            </a:r>
            <a:r>
              <a:rPr lang="sv-SE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coating pada </a:t>
            </a:r>
            <a:r>
              <a:rPr lang="sv-SE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skala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yang </a:t>
            </a: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ada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pada alat antara 15 mm – 20 mm,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lalu  potong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id-ID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938" y="1769469"/>
            <a:ext cx="6599298" cy="492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3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5561" y="95656"/>
            <a:ext cx="7454285" cy="468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Periksa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hasil pemotongan dan serat optik pada mikroskop</a:t>
            </a:r>
            <a:endParaRPr lang="id-ID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://1.bp.blogspot.com/-myPFog0R9E8/UyROE-APnuI/AAAAAAAAADU/5CupfPqp5z4/s1600/potong.png">
            <a:hlinkClick r:id="rId2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" r="4005" b="5156"/>
          <a:stretch/>
        </p:blipFill>
        <p:spPr bwMode="auto">
          <a:xfrm>
            <a:off x="902367" y="563732"/>
            <a:ext cx="6256421" cy="30337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665353" y="3597442"/>
            <a:ext cx="12112184" cy="3253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asil pemotongan,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pembersihan berhasil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proses penyambungan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dapat dilaksanakan.</a:t>
            </a: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hasil potongan dan pembersihan tidak baik maka proses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diatas diulangi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id-ID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Laksanakan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pemotongan dan pembersihan pada ujung serat optik dari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kabel pasangannya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kemudian sambungkan, jangan lupa untuk memasukkan selongsong sambung pada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salah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satu serat sebelum penyambungan serat kabel tersebut. </a:t>
            </a:r>
            <a:endParaRPr lang="id-ID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Pemotongan dan  pembersihan dilaksanakan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satu per satu setelah fiber sebelumnya disambungkan, perhatikan kode warna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dari masing-masing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serat optik jangan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sampai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tertukar. </a:t>
            </a:r>
            <a:endParaRPr lang="id-ID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02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5432" y="122566"/>
            <a:ext cx="116465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6. Setelah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itu masukan ke dalam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fusion splicer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yang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akan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menyambung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core dengan teknik </a:t>
            </a:r>
            <a:endParaRPr lang="id-ID" sz="2400" i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fusion. </a:t>
            </a:r>
            <a:r>
              <a:rPr lang="sv-SE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Penyambungan </a:t>
            </a:r>
            <a:r>
              <a:rPr lang="sv-SE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fiber optik sesuai dengan </a:t>
            </a:r>
            <a:r>
              <a:rPr lang="sv-SE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nomor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core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, artinya core nomor 1 harus </a:t>
            </a:r>
            <a:endParaRPr lang="id-ID" sz="2400" i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disambung 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dengan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core nomor 1 pula. </a:t>
            </a:r>
            <a:endParaRPr lang="id-ID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15" y="1515400"/>
            <a:ext cx="5318235" cy="40191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64" y="1268462"/>
            <a:ext cx="4099083" cy="21124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209" y="3561058"/>
            <a:ext cx="5241910" cy="158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57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222" y="144396"/>
            <a:ext cx="113457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7. Kemudian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tekan tombol berwarna hijau yang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berarti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start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maka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splicer akan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meleburkan</a:t>
            </a:r>
          </a:p>
          <a:p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kedua </a:t>
            </a:r>
            <a:r>
              <a:rPr lang="es-ES" sz="2400" i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core</a:t>
            </a:r>
            <a:r>
              <a:rPr lang="es-ES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s-ES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dan </a:t>
            </a:r>
            <a:r>
              <a:rPr lang="es-ES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menyambugnya</a:t>
            </a:r>
            <a:r>
              <a:rPr lang="es-ES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secara </a:t>
            </a:r>
            <a:r>
              <a:rPr lang="es-ES" sz="2400" i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otomatis</a:t>
            </a:r>
            <a:r>
              <a:rPr lang="es-ES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Tunggu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sampai layar menunjukan </a:t>
            </a:r>
            <a:endParaRPr lang="id-ID" sz="24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bahwa proses penyambungan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telah selesai dan layar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akan </a:t>
            </a:r>
            <a:r>
              <a:rPr lang="fi-FI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memunculkan </a:t>
            </a:r>
            <a:r>
              <a:rPr lang="fi-FI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estimasi </a:t>
            </a:r>
            <a:endParaRPr lang="id-ID" sz="24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fi-FI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redaman </a:t>
            </a:r>
            <a:r>
              <a:rPr lang="fi-FI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saluran </a:t>
            </a:r>
            <a:r>
              <a:rPr lang="fi-FI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yang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dihasilkan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dari kabel. </a:t>
            </a:r>
            <a:endParaRPr lang="id-ID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11" y="2133065"/>
            <a:ext cx="4532763" cy="34255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349" y="2133064"/>
            <a:ext cx="4904880" cy="358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8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0284" y="149152"/>
            <a:ext cx="11321716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8. Keluarkan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core yang telah tersambung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tadi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kemudian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geser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slip protection kearah core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yang tidak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tertutup oleh coating dan masukan kebagiaheater yang berfungsi untuk </a:t>
            </a:r>
            <a:endParaRPr lang="id-ID" sz="2400" i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memanaskan slip protection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agar mampat, kemudian tekan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heat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dan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tunggu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sampai</a:t>
            </a: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proses selesai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dan mengeluarkan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bunyi. </a:t>
            </a:r>
          </a:p>
          <a:p>
            <a:r>
              <a:rPr lang="id-ID" sz="1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id-ID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558" y="1872701"/>
            <a:ext cx="5729689" cy="415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769" y="168442"/>
            <a:ext cx="12015536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id-ID" sz="28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Mengecek Hasil Sambungan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Hasil penyambungan dapat dilihat secara visual.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Berikut adalah beberapa kemungkinan cacat pada </a:t>
            </a:r>
            <a:r>
              <a:rPr lang="sv-SE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sambungan serat optik dengan metode fusi. </a:t>
            </a:r>
          </a:p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1.</a:t>
            </a:r>
            <a:r>
              <a:rPr lang="id-ID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Terlihat adanya gelembung</a:t>
            </a:r>
          </a:p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2. Terlihat adanya garis tebal</a:t>
            </a:r>
          </a:p>
          <a:p>
            <a:pPr>
              <a:spcAft>
                <a:spcPts val="600"/>
              </a:spcAft>
            </a:pP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3. Terlihat bayangan hitam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Bila terjadi hal-hal seperti tersebut diatas maka penyambungan penyambungan harus dilakuakan kembali.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Kualitas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sambungan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yang baik adalah sambungan yang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memiliki redaman &lt; 0,3 dB.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769" y="4176541"/>
            <a:ext cx="1201553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id-ID" sz="28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Penutupan </a:t>
            </a:r>
            <a:r>
              <a:rPr lang="id-ID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Joint Closure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id-ID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Joint </a:t>
            </a:r>
            <a:r>
              <a:rPr lang="id-ID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closure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berfungsi untuk melindungi </a:t>
            </a:r>
            <a:r>
              <a:rPr lang="sv-SE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dan menempatkan </a:t>
            </a:r>
            <a:r>
              <a:rPr lang="sv-SE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tape </a:t>
            </a:r>
            <a:r>
              <a:rPr lang="sv-SE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agar terhindar dari pengaruh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gangguan alam dan gangguan mekanis seperti air, getaran, panas, tekanan</a:t>
            </a:r>
            <a:r>
              <a:rPr lang="fi-FI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, reaksi kimia, dan </a:t>
            </a:r>
            <a:r>
              <a:rPr lang="fi-FI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bending / tekukan.</a:t>
            </a:r>
          </a:p>
          <a:p>
            <a:endParaRPr lang="sv-SE" sz="24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fi-FI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fi-FI" sz="24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42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8810" y="0"/>
            <a:ext cx="118831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Prosedure penanganan </a:t>
            </a:r>
            <a:r>
              <a:rPr lang="id-ID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joint closure </a:t>
            </a:r>
            <a:r>
              <a:rPr lang="id-ID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id-ID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1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Penempatan serat optik setelah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disambung pada </a:t>
            </a:r>
            <a:r>
              <a:rPr lang="nb-NO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kaset </a:t>
            </a:r>
            <a:r>
              <a:rPr lang="nb-N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nb-NO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tape harus memperhatikan </a:t>
            </a:r>
            <a:r>
              <a:rPr lang="nb-NO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mikro</a:t>
            </a:r>
            <a:endParaRPr lang="id-ID" sz="24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nb-NO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banding</a:t>
            </a:r>
            <a:r>
              <a:rPr lang="id-ID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membuat lingkaran sebesar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mungkin pada pinggiran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kaset. 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991" y="2727304"/>
            <a:ext cx="4242823" cy="312004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8252" y="1253010"/>
            <a:ext cx="113337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empatkan </a:t>
            </a:r>
            <a:r>
              <a:rPr lang="id-ID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splice protection pada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penjepit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berada pada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sisi pinggir kaset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id-ID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kemudian serat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optik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 </a:t>
            </a:r>
            <a:r>
              <a:rPr lang="nn-NO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kaset </a:t>
            </a:r>
            <a:r>
              <a:rPr lang="nn-N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 membuat </a:t>
            </a:r>
            <a:r>
              <a:rPr lang="nn-NO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lingkaran-lingkaran sebesar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i-FI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mungkin </a:t>
            </a:r>
            <a:endParaRPr lang="id-ID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i-FI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 </a:t>
            </a:r>
            <a:r>
              <a:rPr lang="fi-FI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sisi pinggir kaset, hindari </a:t>
            </a:r>
            <a:r>
              <a:rPr lang="fi-FI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id-ID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melintirnya </a:t>
            </a:r>
            <a:r>
              <a:rPr lang="id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serat optik. </a:t>
            </a:r>
            <a:endParaRPr lang="id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244" y="2727305"/>
            <a:ext cx="4242822" cy="312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9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5746" y="461665"/>
            <a:ext cx="11526253" cy="377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Fusion Splicing dilaksanakan satu persatu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 </a:t>
            </a:r>
            <a:r>
              <a:rPr lang="fi-FI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serat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optik</a:t>
            </a: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satu </a:t>
            </a: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serat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optik</a:t>
            </a:r>
          </a:p>
          <a:p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selesai disambung,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lalu tempatkan </a:t>
            </a: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 kaset, baru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melakukan penyambungan </a:t>
            </a:r>
          </a:p>
          <a:p>
            <a:pPr>
              <a:spcAft>
                <a:spcPts val="600"/>
              </a:spcAft>
            </a:pP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serat </a:t>
            </a: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optik selanjutnya. </a:t>
            </a:r>
          </a:p>
          <a:p>
            <a:r>
              <a:rPr lang="sv-SE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sv-SE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etelah </a:t>
            </a:r>
            <a:r>
              <a:rPr lang="sv-SE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semua serat optik selesai disambung danditempatkan pada </a:t>
            </a:r>
            <a:r>
              <a:rPr lang="sv-SE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kaset,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spcAft>
                <a:spcPts val="600"/>
              </a:spcAft>
            </a:pP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sv-SE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tutup </a:t>
            </a:r>
            <a:r>
              <a:rPr lang="sv-SE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kaset </a:t>
            </a:r>
            <a:r>
              <a:rPr lang="sv-SE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penutup </a:t>
            </a: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telah disediakan lalu disekrup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agar rapat</a:t>
            </a: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Pasang ring penutup pada alur yang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id-ID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sebelumnya </a:t>
            </a: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telah </a:t>
            </a:r>
          </a:p>
          <a:p>
            <a:pPr>
              <a:spcAft>
                <a:spcPts val="600"/>
              </a:spcAft>
            </a:pP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dilapisi </a:t>
            </a: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 </a:t>
            </a:r>
            <a:r>
              <a:rPr lang="id-ID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selatip hitam</a:t>
            </a:r>
            <a:r>
              <a:rPr lang="id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fr-F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Pasang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tutup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joint </a:t>
            </a:r>
            <a:r>
              <a:rPr lang="fr-FR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clusure</a:t>
            </a:r>
            <a:r>
              <a:rPr lang="fr-FR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sampai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rapat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id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0684" y="0"/>
            <a:ext cx="5469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id-ID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Prosedure penanganan </a:t>
            </a:r>
            <a:r>
              <a:rPr lang="id-ID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joint closure </a:t>
            </a:r>
            <a:r>
              <a:rPr lang="id-ID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id-ID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9931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84221"/>
            <a:ext cx="11887200" cy="7042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id-ID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Penggunaan Fusion Splicer</a:t>
            </a:r>
            <a:endParaRPr lang="id-ID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id-ID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Setelah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penyambungan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dilaksanakan, lakukan set-up pada fusion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splicing  machine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85850" lvl="2" indent="-171450"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Nyalakan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fusion splicing machine dengan memindahkan posisi switch on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sampai</a:t>
            </a:r>
          </a:p>
          <a:p>
            <a:pPr lvl="2">
              <a:spcAft>
                <a:spcPts val="60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lampu pilot 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menyala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85850" lvl="2" indent="-171450"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Buka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canopy sehingga lampu pilot padam, tarik kunci chuck sehingga kedua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>
              <a:spcAft>
                <a:spcPts val="60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mekanik chuck terbuka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85850" lvl="2" indent="-171450"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Tempatkan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kedua serat optik yang akan disambung pada V-groove dari setiap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mekanikal chuck dari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splicing machine.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(Pada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saat penempatan serat optik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</a:p>
          <a:p>
            <a:pPr lvl="2">
              <a:spcAft>
                <a:spcPts val="60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tepat pada lekuk V-groove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 jangan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menyentuh benda apapun )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85850" lvl="2" indent="-171450"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Tutup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mekanikal chuck secara perlahan sehingga serat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terjepit oleh mekanikal chuck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 2. Tutup canopy kemudian tekan tombol set sehingga fusion splicing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melakukan aligmentnya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 secara otomatis dan melaksanakan peleburan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 3. Jika peleburan telah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selesai,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buka canopy dan pindahkan fiber tersebut ke alat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heater  </a:t>
            </a:r>
          </a:p>
          <a:p>
            <a:pPr>
              <a:spcAft>
                <a:spcPts val="120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kemudian geser </a:t>
            </a: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splice protector tepat ditengah-tengah sambungan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id-ID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 4. Periksa hasil penyambungan dengan melihat layar monitor</a:t>
            </a:r>
            <a:endParaRPr lang="id-ID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id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04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8253" y="240632"/>
            <a:ext cx="11221452" cy="12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Bila penyambungan berhasil dengan baik maka periksa redaman yang terjadi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</a:p>
          <a:p>
            <a:pPr lvl="0">
              <a:lnSpc>
                <a:spcPct val="107000"/>
              </a:lnSpc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sambungan, (batas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maksimal redaman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0,3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dB/splice ). </a:t>
            </a:r>
            <a:endParaRPr lang="id-ID" sz="2400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Bila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hasil redaman melebihi </a:t>
            </a:r>
            <a:r>
              <a:rPr lang="id-ID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batas maksimal, penyambungan </a:t>
            </a:r>
            <a:r>
              <a:rPr lang="id-ID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dapat diulang kembali.</a:t>
            </a:r>
            <a:endParaRPr lang="id-ID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http://4.bp.blogspot.com/-UFxnw58FV8M/UyRSgSl1X5I/AAAAAAAAADg/KzN89FQTUWc/s1600/hasil.png">
            <a:hlinkClick r:id="rId2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9" t="3855" r="4600" b="13005"/>
          <a:stretch/>
        </p:blipFill>
        <p:spPr bwMode="auto">
          <a:xfrm>
            <a:off x="1143000" y="1780673"/>
            <a:ext cx="6003758" cy="4090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ttp://2.bp.blogspot.com/-wr-LL6fr-po/UyRToHgI7KI/AAAAAAAAADs/nPWfKkhLzkI/s1600/taraaa.jpg">
            <a:hlinkClick r:id="rId4"/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683" y="1780673"/>
            <a:ext cx="4291263" cy="39222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250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1467</TotalTime>
  <Words>2172</Words>
  <Application>Microsoft Office PowerPoint</Application>
  <PresentationFormat>Widescreen</PresentationFormat>
  <Paragraphs>356</Paragraphs>
  <Slides>61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61</vt:i4>
      </vt:variant>
    </vt:vector>
  </HeadingPairs>
  <TitlesOfParts>
    <vt:vector size="75" baseType="lpstr">
      <vt:lpstr>Arial</vt:lpstr>
      <vt:lpstr>Calibri</vt:lpstr>
      <vt:lpstr>Calibri Light</vt:lpstr>
      <vt:lpstr>Helvetica</vt:lpstr>
      <vt:lpstr>Helvetica Bold</vt:lpstr>
      <vt:lpstr>Roboto</vt:lpstr>
      <vt:lpstr>Times New Roman</vt:lpstr>
      <vt:lpstr>Trebuchet MS</vt:lpstr>
      <vt:lpstr>Wingdings</vt:lpstr>
      <vt:lpstr>1_Office Theme</vt:lpstr>
      <vt:lpstr>2_Office Theme</vt:lpstr>
      <vt:lpstr>Office Theme</vt:lpstr>
      <vt:lpstr>3_Office Theme</vt:lpstr>
      <vt:lpstr>4_Office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Konektivitas  Serat Optik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Slameta</dc:creator>
  <cp:lastModifiedBy>Slameta</cp:lastModifiedBy>
  <cp:revision>95</cp:revision>
  <dcterms:created xsi:type="dcterms:W3CDTF">2016-05-20T00:53:29Z</dcterms:created>
  <dcterms:modified xsi:type="dcterms:W3CDTF">2022-05-23T05:53:47Z</dcterms:modified>
</cp:coreProperties>
</file>