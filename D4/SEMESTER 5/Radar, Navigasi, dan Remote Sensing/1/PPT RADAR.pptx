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Karnchang Bold" charset="1" panose="00000000000000000000"/>
      <p:regular r:id="rId25"/>
    </p:embeddedFont>
    <p:embeddedFont>
      <p:font typeface="Karnchang" charset="1" panose="0000000000000000000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E6EAEF"/>
        </a:solidFill>
      </p:bgPr>
    </p:bg>
    <p:spTree>
      <p:nvGrpSpPr>
        <p:cNvPr id="1" name=""/>
        <p:cNvGrpSpPr/>
        <p:nvPr/>
      </p:nvGrpSpPr>
      <p:grpSpPr>
        <a:xfrm>
          <a:off x="0" y="0"/>
          <a:ext cx="0" cy="0"/>
          <a:chOff x="0" y="0"/>
          <a:chExt cx="0" cy="0"/>
        </a:xfrm>
      </p:grpSpPr>
      <p:sp>
        <p:nvSpPr>
          <p:cNvPr name="TextBox 2" id="2"/>
          <p:cNvSpPr txBox="true"/>
          <p:nvPr/>
        </p:nvSpPr>
        <p:spPr>
          <a:xfrm rot="0">
            <a:off x="559854" y="876300"/>
            <a:ext cx="10194593" cy="4535424"/>
          </a:xfrm>
          <a:prstGeom prst="rect">
            <a:avLst/>
          </a:prstGeom>
        </p:spPr>
        <p:txBody>
          <a:bodyPr anchor="t" rtlCol="false" tIns="0" lIns="0" bIns="0" rIns="0">
            <a:spAutoFit/>
          </a:bodyPr>
          <a:lstStyle/>
          <a:p>
            <a:pPr algn="l">
              <a:lnSpc>
                <a:spcPts val="6624"/>
              </a:lnSpc>
            </a:pPr>
            <a:r>
              <a:rPr lang="en-US" sz="7200" b="true">
                <a:solidFill>
                  <a:srgbClr val="000000"/>
                </a:solidFill>
                <a:latin typeface="Karnchang Bold"/>
                <a:ea typeface="Karnchang Bold"/>
                <a:cs typeface="Karnchang Bold"/>
                <a:sym typeface="Karnchang Bold"/>
              </a:rPr>
              <a:t>THE APPLICATIONS AND FUTURE OF SYNTHETIC IMPULSE AND APERTURE RADAR</a:t>
            </a:r>
          </a:p>
          <a:p>
            <a:pPr algn="l">
              <a:lnSpc>
                <a:spcPts val="3312"/>
              </a:lnSpc>
            </a:pPr>
            <a:r>
              <a:rPr lang="en-US" sz="3600">
                <a:solidFill>
                  <a:srgbClr val="000000"/>
                </a:solidFill>
                <a:latin typeface="Karnchang"/>
                <a:ea typeface="Karnchang"/>
                <a:cs typeface="Karnchang"/>
                <a:sym typeface="Karnchang"/>
              </a:rPr>
              <a:t>APLIKASI DAN MASA DEPAN DARI RADAR IMPULS SINTETIK DAN APERTUR</a:t>
            </a:r>
          </a:p>
        </p:txBody>
      </p:sp>
      <p:sp>
        <p:nvSpPr>
          <p:cNvPr name="TextBox 3" id="3"/>
          <p:cNvSpPr txBox="true"/>
          <p:nvPr/>
        </p:nvSpPr>
        <p:spPr>
          <a:xfrm rot="0">
            <a:off x="559854" y="5221224"/>
            <a:ext cx="9653788" cy="4577080"/>
          </a:xfrm>
          <a:prstGeom prst="rect">
            <a:avLst/>
          </a:prstGeom>
        </p:spPr>
        <p:txBody>
          <a:bodyPr anchor="t" rtlCol="false" tIns="0" lIns="0" bIns="0" rIns="0">
            <a:spAutoFit/>
          </a:bodyPr>
          <a:lstStyle/>
          <a:p>
            <a:pPr algn="l">
              <a:lnSpc>
                <a:spcPts val="3919"/>
              </a:lnSpc>
            </a:pPr>
            <a:r>
              <a:rPr lang="en-US" sz="2799" b="true">
                <a:solidFill>
                  <a:srgbClr val="000000"/>
                </a:solidFill>
                <a:latin typeface="Karnchang Bold"/>
                <a:ea typeface="Karnchang Bold"/>
                <a:cs typeface="Karnchang Bold"/>
                <a:sym typeface="Karnchang Bold"/>
              </a:rPr>
              <a:t>Baixiao Chen, Minglei Yang, Yi Wang, Xiaofang Dang, Bo Wu National Laboratory of Radar Signal Processing, Xidian University, Xi’an, Shaanxi, China, {bxchen, mlyang}@xidian.edu.cn</a:t>
            </a:r>
          </a:p>
          <a:p>
            <a:pPr algn="l">
              <a:lnSpc>
                <a:spcPts val="3919"/>
              </a:lnSpc>
            </a:pPr>
          </a:p>
          <a:p>
            <a:pPr algn="l">
              <a:lnSpc>
                <a:spcPts val="3919"/>
              </a:lnSpc>
            </a:pPr>
            <a:r>
              <a:rPr lang="en-US" sz="2799" b="true">
                <a:solidFill>
                  <a:srgbClr val="000000"/>
                </a:solidFill>
                <a:latin typeface="Karnchang Bold"/>
                <a:ea typeface="Karnchang Bold"/>
                <a:cs typeface="Karnchang Bold"/>
                <a:sym typeface="Karnchang Bold"/>
              </a:rPr>
              <a:t>Presnetasi oleh : </a:t>
            </a:r>
          </a:p>
          <a:p>
            <a:pPr algn="l">
              <a:lnSpc>
                <a:spcPts val="3919"/>
              </a:lnSpc>
            </a:pPr>
            <a:r>
              <a:rPr lang="en-US" sz="2799" b="true">
                <a:solidFill>
                  <a:srgbClr val="000000"/>
                </a:solidFill>
                <a:latin typeface="Karnchang Bold"/>
                <a:ea typeface="Karnchang Bold"/>
                <a:cs typeface="Karnchang Bold"/>
                <a:sym typeface="Karnchang Bold"/>
              </a:rPr>
              <a:t>Abdul Rozak Ainurrofiq (221344033) - 3B TNK</a:t>
            </a:r>
          </a:p>
          <a:p>
            <a:pPr algn="l">
              <a:lnSpc>
                <a:spcPts val="3919"/>
              </a:lnSpc>
            </a:pPr>
            <a:r>
              <a:rPr lang="en-US" sz="2799" b="true">
                <a:solidFill>
                  <a:srgbClr val="000000"/>
                </a:solidFill>
                <a:latin typeface="Karnchang Bold"/>
                <a:ea typeface="Karnchang Bold"/>
                <a:cs typeface="Karnchang Bold"/>
                <a:sym typeface="Karnchang Bold"/>
              </a:rPr>
              <a:t>Radar, Navigasi, dan Remote Sensing</a:t>
            </a:r>
          </a:p>
          <a:p>
            <a:pPr algn="l">
              <a:lnSpc>
                <a:spcPts val="3919"/>
              </a:lnSpc>
            </a:pPr>
            <a:r>
              <a:rPr lang="en-US" sz="2799" b="true">
                <a:solidFill>
                  <a:srgbClr val="000000"/>
                </a:solidFill>
                <a:latin typeface="Karnchang Bold"/>
                <a:ea typeface="Karnchang Bold"/>
                <a:cs typeface="Karnchang Bold"/>
                <a:sym typeface="Karnchang Bold"/>
              </a:rPr>
              <a:t>Teknik Telekomunikasi, Politeknik Negeri Bandung</a:t>
            </a:r>
          </a:p>
        </p:txBody>
      </p:sp>
      <p:grpSp>
        <p:nvGrpSpPr>
          <p:cNvPr name="Group 4" id="4"/>
          <p:cNvGrpSpPr/>
          <p:nvPr/>
        </p:nvGrpSpPr>
        <p:grpSpPr>
          <a:xfrm rot="0">
            <a:off x="10754447" y="-3093732"/>
            <a:ext cx="18901247" cy="17982775"/>
            <a:chOff x="0" y="0"/>
            <a:chExt cx="25201662" cy="23977033"/>
          </a:xfrm>
        </p:grpSpPr>
        <p:grpSp>
          <p:nvGrpSpPr>
            <p:cNvPr name="Group 5" id="5"/>
            <p:cNvGrpSpPr/>
            <p:nvPr/>
          </p:nvGrpSpPr>
          <p:grpSpPr>
            <a:xfrm rot="2252144">
              <a:off x="2887185" y="2861146"/>
              <a:ext cx="14259267" cy="14323066"/>
              <a:chOff x="0" y="0"/>
              <a:chExt cx="2816645" cy="2829248"/>
            </a:xfrm>
          </p:grpSpPr>
          <p:sp>
            <p:nvSpPr>
              <p:cNvPr name="Freeform 6" id="6"/>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243342"/>
              </a:solidFill>
            </p:spPr>
          </p:sp>
          <p:sp>
            <p:nvSpPr>
              <p:cNvPr name="TextBox 7" id="7"/>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2252144">
              <a:off x="4620058" y="6213209"/>
              <a:ext cx="14259267" cy="14323066"/>
              <a:chOff x="0" y="0"/>
              <a:chExt cx="2816645" cy="2829248"/>
            </a:xfrm>
          </p:grpSpPr>
          <p:sp>
            <p:nvSpPr>
              <p:cNvPr name="Freeform 9" id="9"/>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535659"/>
              </a:solidFill>
            </p:spPr>
          </p:sp>
          <p:sp>
            <p:nvSpPr>
              <p:cNvPr name="TextBox 10" id="10"/>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2252144">
              <a:off x="8055210" y="6792821"/>
              <a:ext cx="14259267" cy="14323066"/>
              <a:chOff x="0" y="0"/>
              <a:chExt cx="2816645" cy="2829248"/>
            </a:xfrm>
          </p:grpSpPr>
          <p:sp>
            <p:nvSpPr>
              <p:cNvPr name="Freeform 12" id="12"/>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858789"/>
              </a:solidFill>
            </p:spPr>
          </p:sp>
          <p:sp>
            <p:nvSpPr>
              <p:cNvPr name="TextBox 13" id="13"/>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6EAEF"/>
        </a:solidFill>
      </p:bgPr>
    </p:bg>
    <p:spTree>
      <p:nvGrpSpPr>
        <p:cNvPr id="1" name=""/>
        <p:cNvGrpSpPr/>
        <p:nvPr/>
      </p:nvGrpSpPr>
      <p:grpSpPr>
        <a:xfrm>
          <a:off x="0" y="0"/>
          <a:ext cx="0" cy="0"/>
          <a:chOff x="0" y="0"/>
          <a:chExt cx="0" cy="0"/>
        </a:xfrm>
      </p:grpSpPr>
      <p:grpSp>
        <p:nvGrpSpPr>
          <p:cNvPr name="Group 2" id="2"/>
          <p:cNvGrpSpPr/>
          <p:nvPr/>
        </p:nvGrpSpPr>
        <p:grpSpPr>
          <a:xfrm rot="0">
            <a:off x="787067" y="592941"/>
            <a:ext cx="16713866" cy="9101117"/>
            <a:chOff x="0" y="0"/>
            <a:chExt cx="4402006" cy="2397002"/>
          </a:xfrm>
        </p:grpSpPr>
        <p:sp>
          <p:nvSpPr>
            <p:cNvPr name="Freeform 3" id="3"/>
            <p:cNvSpPr/>
            <p:nvPr/>
          </p:nvSpPr>
          <p:spPr>
            <a:xfrm flipH="false" flipV="false" rot="0">
              <a:off x="0" y="0"/>
              <a:ext cx="4402006" cy="2397002"/>
            </a:xfrm>
            <a:custGeom>
              <a:avLst/>
              <a:gdLst/>
              <a:ahLst/>
              <a:cxnLst/>
              <a:rect r="r" b="b" t="t" l="l"/>
              <a:pathLst>
                <a:path h="2397002" w="4402006">
                  <a:moveTo>
                    <a:pt x="23623" y="0"/>
                  </a:moveTo>
                  <a:lnTo>
                    <a:pt x="4378382" y="0"/>
                  </a:lnTo>
                  <a:cubicBezTo>
                    <a:pt x="4391429" y="0"/>
                    <a:pt x="4402006" y="10577"/>
                    <a:pt x="4402006" y="23623"/>
                  </a:cubicBezTo>
                  <a:lnTo>
                    <a:pt x="4402006" y="2373379"/>
                  </a:lnTo>
                  <a:cubicBezTo>
                    <a:pt x="4402006" y="2379644"/>
                    <a:pt x="4399517" y="2385653"/>
                    <a:pt x="4395087" y="2390083"/>
                  </a:cubicBezTo>
                  <a:cubicBezTo>
                    <a:pt x="4390656" y="2394513"/>
                    <a:pt x="4384647" y="2397002"/>
                    <a:pt x="4378382" y="2397002"/>
                  </a:cubicBezTo>
                  <a:lnTo>
                    <a:pt x="23623" y="2397002"/>
                  </a:lnTo>
                  <a:cubicBezTo>
                    <a:pt x="17358" y="2397002"/>
                    <a:pt x="11349" y="2394513"/>
                    <a:pt x="6919" y="2390083"/>
                  </a:cubicBezTo>
                  <a:cubicBezTo>
                    <a:pt x="2489" y="2385653"/>
                    <a:pt x="0" y="2379644"/>
                    <a:pt x="0" y="2373379"/>
                  </a:cubicBezTo>
                  <a:lnTo>
                    <a:pt x="0" y="23623"/>
                  </a:lnTo>
                  <a:cubicBezTo>
                    <a:pt x="0" y="17358"/>
                    <a:pt x="2489" y="11349"/>
                    <a:pt x="6919" y="6919"/>
                  </a:cubicBezTo>
                  <a:cubicBezTo>
                    <a:pt x="11349" y="2489"/>
                    <a:pt x="17358" y="0"/>
                    <a:pt x="23623" y="0"/>
                  </a:cubicBezTo>
                  <a:close/>
                </a:path>
              </a:pathLst>
            </a:custGeom>
            <a:solidFill>
              <a:srgbClr val="E6EAEF"/>
            </a:solidFill>
            <a:ln w="19050" cap="rnd">
              <a:solidFill>
                <a:srgbClr val="243342"/>
              </a:solidFill>
              <a:prstDash val="solid"/>
              <a:round/>
            </a:ln>
          </p:spPr>
        </p:sp>
        <p:sp>
          <p:nvSpPr>
            <p:cNvPr name="TextBox 4" id="4"/>
            <p:cNvSpPr txBox="true"/>
            <p:nvPr/>
          </p:nvSpPr>
          <p:spPr>
            <a:xfrm>
              <a:off x="0" y="-38100"/>
              <a:ext cx="4402006" cy="2435102"/>
            </a:xfrm>
            <a:prstGeom prst="rect">
              <a:avLst/>
            </a:prstGeom>
          </p:spPr>
          <p:txBody>
            <a:bodyPr anchor="ctr" rtlCol="false" tIns="50800" lIns="50800" bIns="50800" rIns="50800"/>
            <a:lstStyle/>
            <a:p>
              <a:pPr algn="ctr">
                <a:lnSpc>
                  <a:spcPts val="3362"/>
                </a:lnSpc>
              </a:pPr>
            </a:p>
          </p:txBody>
        </p:sp>
      </p:grpSp>
      <p:grpSp>
        <p:nvGrpSpPr>
          <p:cNvPr name="Group 5" id="5"/>
          <p:cNvGrpSpPr/>
          <p:nvPr/>
        </p:nvGrpSpPr>
        <p:grpSpPr>
          <a:xfrm rot="-7538080">
            <a:off x="-7029811" y="-5584933"/>
            <a:ext cx="9808447" cy="9331824"/>
            <a:chOff x="0" y="0"/>
            <a:chExt cx="13077930" cy="12442432"/>
          </a:xfrm>
        </p:grpSpPr>
        <p:grpSp>
          <p:nvGrpSpPr>
            <p:cNvPr name="Group 6" id="6"/>
            <p:cNvGrpSpPr/>
            <p:nvPr/>
          </p:nvGrpSpPr>
          <p:grpSpPr>
            <a:xfrm rot="2252144">
              <a:off x="1498251" y="1484738"/>
              <a:ext cx="7399579" cy="7432687"/>
              <a:chOff x="0" y="0"/>
              <a:chExt cx="2816645" cy="2829248"/>
            </a:xfrm>
          </p:grpSpPr>
          <p:sp>
            <p:nvSpPr>
              <p:cNvPr name="Freeform 7" id="7"/>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243342"/>
              </a:solidFill>
            </p:spPr>
          </p:sp>
          <p:sp>
            <p:nvSpPr>
              <p:cNvPr name="TextBox 8" id="8"/>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2252144">
              <a:off x="2397493" y="3224228"/>
              <a:ext cx="7399579" cy="7432687"/>
              <a:chOff x="0" y="0"/>
              <a:chExt cx="2816645" cy="2829248"/>
            </a:xfrm>
          </p:grpSpPr>
          <p:sp>
            <p:nvSpPr>
              <p:cNvPr name="Freeform 10" id="10"/>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535659"/>
              </a:solidFill>
            </p:spPr>
          </p:sp>
          <p:sp>
            <p:nvSpPr>
              <p:cNvPr name="TextBox 11" id="11"/>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2252144">
              <a:off x="4180100" y="3525007"/>
              <a:ext cx="7399579" cy="7432687"/>
              <a:chOff x="0" y="0"/>
              <a:chExt cx="2816645" cy="2829248"/>
            </a:xfrm>
          </p:grpSpPr>
          <p:sp>
            <p:nvSpPr>
              <p:cNvPr name="Freeform 13" id="13"/>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858789"/>
              </a:solidFill>
            </p:spPr>
          </p:sp>
          <p:sp>
            <p:nvSpPr>
              <p:cNvPr name="TextBox 14" id="14"/>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grpSp>
        <p:nvGrpSpPr>
          <p:cNvPr name="Group 15" id="15"/>
          <p:cNvGrpSpPr/>
          <p:nvPr/>
        </p:nvGrpSpPr>
        <p:grpSpPr>
          <a:xfrm rot="2124477">
            <a:off x="15979122" y="5429903"/>
            <a:ext cx="9808447" cy="9331824"/>
            <a:chOff x="0" y="0"/>
            <a:chExt cx="13077930" cy="12442432"/>
          </a:xfrm>
        </p:grpSpPr>
        <p:grpSp>
          <p:nvGrpSpPr>
            <p:cNvPr name="Group 16" id="16"/>
            <p:cNvGrpSpPr/>
            <p:nvPr/>
          </p:nvGrpSpPr>
          <p:grpSpPr>
            <a:xfrm rot="2252144">
              <a:off x="1498251" y="1484738"/>
              <a:ext cx="7399579" cy="7432687"/>
              <a:chOff x="0" y="0"/>
              <a:chExt cx="2816645" cy="2829248"/>
            </a:xfrm>
          </p:grpSpPr>
          <p:sp>
            <p:nvSpPr>
              <p:cNvPr name="Freeform 17" id="17"/>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243342"/>
              </a:solidFill>
            </p:spPr>
          </p:sp>
          <p:sp>
            <p:nvSpPr>
              <p:cNvPr name="TextBox 18" id="18"/>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19" id="19"/>
            <p:cNvGrpSpPr/>
            <p:nvPr/>
          </p:nvGrpSpPr>
          <p:grpSpPr>
            <a:xfrm rot="2252144">
              <a:off x="2397493" y="3224228"/>
              <a:ext cx="7399579" cy="7432687"/>
              <a:chOff x="0" y="0"/>
              <a:chExt cx="2816645" cy="2829248"/>
            </a:xfrm>
          </p:grpSpPr>
          <p:sp>
            <p:nvSpPr>
              <p:cNvPr name="Freeform 20" id="20"/>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535659"/>
              </a:solidFill>
            </p:spPr>
          </p:sp>
          <p:sp>
            <p:nvSpPr>
              <p:cNvPr name="TextBox 21" id="21"/>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22" id="22"/>
            <p:cNvGrpSpPr/>
            <p:nvPr/>
          </p:nvGrpSpPr>
          <p:grpSpPr>
            <a:xfrm rot="2252144">
              <a:off x="4180100" y="3525007"/>
              <a:ext cx="7399579" cy="7432687"/>
              <a:chOff x="0" y="0"/>
              <a:chExt cx="2816645" cy="2829248"/>
            </a:xfrm>
          </p:grpSpPr>
          <p:sp>
            <p:nvSpPr>
              <p:cNvPr name="Freeform 23" id="23"/>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858789"/>
              </a:solidFill>
            </p:spPr>
          </p:sp>
          <p:sp>
            <p:nvSpPr>
              <p:cNvPr name="TextBox 24" id="24"/>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grpSp>
        <p:nvGrpSpPr>
          <p:cNvPr name="Group 25" id="25"/>
          <p:cNvGrpSpPr>
            <a:grpSpLocks noChangeAspect="true"/>
          </p:cNvGrpSpPr>
          <p:nvPr/>
        </p:nvGrpSpPr>
        <p:grpSpPr>
          <a:xfrm rot="0">
            <a:off x="1490452" y="3745408"/>
            <a:ext cx="6458391" cy="4848531"/>
            <a:chOff x="0" y="0"/>
            <a:chExt cx="8916670" cy="6694043"/>
          </a:xfrm>
        </p:grpSpPr>
        <p:sp>
          <p:nvSpPr>
            <p:cNvPr name="Freeform 26" id="26"/>
            <p:cNvSpPr/>
            <p:nvPr/>
          </p:nvSpPr>
          <p:spPr>
            <a:xfrm flipH="false" flipV="false" rot="0">
              <a:off x="155575" y="155575"/>
              <a:ext cx="8605520" cy="6382893"/>
            </a:xfrm>
            <a:custGeom>
              <a:avLst/>
              <a:gdLst/>
              <a:ahLst/>
              <a:cxnLst/>
              <a:rect r="r" b="b" t="t" l="l"/>
              <a:pathLst>
                <a:path h="6382893" w="8605520">
                  <a:moveTo>
                    <a:pt x="0" y="0"/>
                  </a:moveTo>
                  <a:lnTo>
                    <a:pt x="8605520" y="0"/>
                  </a:lnTo>
                  <a:lnTo>
                    <a:pt x="8605520" y="6382893"/>
                  </a:lnTo>
                  <a:lnTo>
                    <a:pt x="0" y="6382893"/>
                  </a:lnTo>
                  <a:close/>
                </a:path>
              </a:pathLst>
            </a:custGeom>
            <a:blipFill>
              <a:blip r:embed="rId2"/>
              <a:stretch>
                <a:fillRect l="-20808" t="0" r="-20808" b="0"/>
              </a:stretch>
            </a:blipFill>
          </p:spPr>
        </p:sp>
        <p:sp>
          <p:nvSpPr>
            <p:cNvPr name="Freeform 27" id="27"/>
            <p:cNvSpPr/>
            <p:nvPr/>
          </p:nvSpPr>
          <p:spPr>
            <a:xfrm flipH="false" flipV="false" rot="0">
              <a:off x="6350" y="6350"/>
              <a:ext cx="8903970" cy="6681343"/>
            </a:xfrm>
            <a:custGeom>
              <a:avLst/>
              <a:gdLst/>
              <a:ahLst/>
              <a:cxnLst/>
              <a:rect r="r" b="b" t="t" l="l"/>
              <a:pathLst>
                <a:path h="6681343" w="8903970">
                  <a:moveTo>
                    <a:pt x="8903970" y="6681343"/>
                  </a:moveTo>
                  <a:lnTo>
                    <a:pt x="0" y="6681343"/>
                  </a:lnTo>
                  <a:lnTo>
                    <a:pt x="0" y="0"/>
                  </a:lnTo>
                  <a:lnTo>
                    <a:pt x="8903970" y="0"/>
                  </a:lnTo>
                  <a:lnTo>
                    <a:pt x="8903970" y="6681343"/>
                  </a:lnTo>
                  <a:close/>
                  <a:moveTo>
                    <a:pt x="19050" y="6662293"/>
                  </a:moveTo>
                  <a:lnTo>
                    <a:pt x="8884920" y="6662293"/>
                  </a:lnTo>
                  <a:lnTo>
                    <a:pt x="8884920" y="19050"/>
                  </a:lnTo>
                  <a:lnTo>
                    <a:pt x="19050" y="19050"/>
                  </a:lnTo>
                  <a:lnTo>
                    <a:pt x="19050" y="6662293"/>
                  </a:lnTo>
                  <a:close/>
                  <a:moveTo>
                    <a:pt x="8764270" y="6541643"/>
                  </a:moveTo>
                  <a:lnTo>
                    <a:pt x="139700" y="6541643"/>
                  </a:lnTo>
                  <a:lnTo>
                    <a:pt x="139700" y="139700"/>
                  </a:lnTo>
                  <a:lnTo>
                    <a:pt x="8764270" y="139700"/>
                  </a:lnTo>
                  <a:lnTo>
                    <a:pt x="8764270" y="6541643"/>
                  </a:lnTo>
                  <a:close/>
                  <a:moveTo>
                    <a:pt x="158750" y="6522593"/>
                  </a:moveTo>
                  <a:lnTo>
                    <a:pt x="8745220" y="6522593"/>
                  </a:lnTo>
                  <a:lnTo>
                    <a:pt x="8745220" y="158750"/>
                  </a:lnTo>
                  <a:lnTo>
                    <a:pt x="158750" y="158750"/>
                  </a:lnTo>
                  <a:lnTo>
                    <a:pt x="158750" y="6522593"/>
                  </a:lnTo>
                  <a:close/>
                </a:path>
              </a:pathLst>
            </a:custGeom>
            <a:solidFill>
              <a:srgbClr val="535659"/>
            </a:solidFill>
          </p:spPr>
        </p:sp>
      </p:grpSp>
      <p:sp>
        <p:nvSpPr>
          <p:cNvPr name="TextBox 28" id="28"/>
          <p:cNvSpPr txBox="true"/>
          <p:nvPr/>
        </p:nvSpPr>
        <p:spPr>
          <a:xfrm rot="0">
            <a:off x="1490452" y="819150"/>
            <a:ext cx="6584507" cy="1727199"/>
          </a:xfrm>
          <a:prstGeom prst="rect">
            <a:avLst/>
          </a:prstGeom>
        </p:spPr>
        <p:txBody>
          <a:bodyPr anchor="t" rtlCol="false" tIns="0" lIns="0" bIns="0" rIns="0">
            <a:spAutoFit/>
          </a:bodyPr>
          <a:lstStyle/>
          <a:p>
            <a:pPr algn="ctr">
              <a:lnSpc>
                <a:spcPts val="9199"/>
              </a:lnSpc>
            </a:pPr>
            <a:r>
              <a:rPr lang="en-US" b="true" sz="9999">
                <a:solidFill>
                  <a:srgbClr val="243342"/>
                </a:solidFill>
                <a:latin typeface="Karnchang Bold"/>
                <a:ea typeface="Karnchang Bold"/>
                <a:cs typeface="Karnchang Bold"/>
                <a:sym typeface="Karnchang Bold"/>
              </a:rPr>
              <a:t>BAB I</a:t>
            </a:r>
          </a:p>
        </p:txBody>
      </p:sp>
      <p:sp>
        <p:nvSpPr>
          <p:cNvPr name="TextBox 29" id="29"/>
          <p:cNvSpPr txBox="true"/>
          <p:nvPr/>
        </p:nvSpPr>
        <p:spPr>
          <a:xfrm rot="0">
            <a:off x="853742" y="2344002"/>
            <a:ext cx="7731811" cy="1107440"/>
          </a:xfrm>
          <a:prstGeom prst="rect">
            <a:avLst/>
          </a:prstGeom>
        </p:spPr>
        <p:txBody>
          <a:bodyPr anchor="t" rtlCol="false" tIns="0" lIns="0" bIns="0" rIns="0">
            <a:spAutoFit/>
          </a:bodyPr>
          <a:lstStyle/>
          <a:p>
            <a:pPr algn="ctr">
              <a:lnSpc>
                <a:spcPts val="5980"/>
              </a:lnSpc>
            </a:pPr>
            <a:r>
              <a:rPr lang="en-US" sz="6500" b="true">
                <a:solidFill>
                  <a:srgbClr val="000000"/>
                </a:solidFill>
                <a:latin typeface="Karnchang Bold"/>
                <a:ea typeface="Karnchang Bold"/>
                <a:cs typeface="Karnchang Bold"/>
                <a:sym typeface="Karnchang Bold"/>
              </a:rPr>
              <a:t>Introduksi</a:t>
            </a:r>
          </a:p>
        </p:txBody>
      </p:sp>
      <p:sp>
        <p:nvSpPr>
          <p:cNvPr name="TextBox 30" id="30"/>
          <p:cNvSpPr txBox="true"/>
          <p:nvPr/>
        </p:nvSpPr>
        <p:spPr>
          <a:xfrm rot="0">
            <a:off x="9144000" y="1161998"/>
            <a:ext cx="7956185" cy="7732395"/>
          </a:xfrm>
          <a:prstGeom prst="rect">
            <a:avLst/>
          </a:prstGeom>
        </p:spPr>
        <p:txBody>
          <a:bodyPr anchor="t" rtlCol="false" tIns="0" lIns="0" bIns="0" rIns="0">
            <a:spAutoFit/>
          </a:bodyPr>
          <a:lstStyle/>
          <a:p>
            <a:pPr algn="just">
              <a:lnSpc>
                <a:spcPts val="3779"/>
              </a:lnSpc>
            </a:pPr>
            <a:r>
              <a:rPr lang="en-US" sz="2700">
                <a:solidFill>
                  <a:srgbClr val="000000"/>
                </a:solidFill>
                <a:latin typeface="Karnchang"/>
                <a:ea typeface="Karnchang"/>
                <a:cs typeface="Karnchang"/>
                <a:sym typeface="Karnchang"/>
              </a:rPr>
              <a:t>Multiple Input Multiple Output (MIMO) radar merupakan radar yang memiliki beberapa antena transmitter (pengirim) dan beberapa antena reciver (penerima). Hal tersebut dapat memanfaatkan keragaman bentuk gelombang untuk meningkatkan kinerja radar secara signifikan. Walaupun begitu, MIMO radar memiliki kelemahan dalam kehilangan energi tanpa beamforming. </a:t>
            </a:r>
          </a:p>
          <a:p>
            <a:pPr algn="just">
              <a:lnSpc>
                <a:spcPts val="3779"/>
              </a:lnSpc>
            </a:pPr>
          </a:p>
          <a:p>
            <a:pPr algn="just">
              <a:lnSpc>
                <a:spcPts val="3779"/>
              </a:lnSpc>
            </a:pPr>
            <a:r>
              <a:rPr lang="en-US" sz="2700">
                <a:solidFill>
                  <a:srgbClr val="000000"/>
                </a:solidFill>
                <a:latin typeface="Karnchang"/>
                <a:ea typeface="Karnchang"/>
                <a:cs typeface="Karnchang"/>
                <a:sym typeface="Karnchang"/>
              </a:rPr>
              <a:t>Banyak pendekatan yang dicontohkan oleh radar MIMO sudah lama digunakan tanpa menggunakan nomenklatur "MIMO". Radar Impuls dan Apertur Sintetis (SIAR) adalah salah satunya. Faktanya, radar MIMO banyak terinspirasi dari SIAR.</a:t>
            </a:r>
          </a:p>
          <a:p>
            <a:pPr algn="just">
              <a:lnSpc>
                <a:spcPts val="3779"/>
              </a:lnSpc>
            </a:pPr>
          </a:p>
          <a:p>
            <a:pPr algn="just">
              <a:lnSpc>
                <a:spcPts val="3779"/>
              </a:lnSpc>
            </a:pPr>
          </a:p>
        </p:txBody>
      </p:sp>
      <p:grpSp>
        <p:nvGrpSpPr>
          <p:cNvPr name="Group 31" id="31"/>
          <p:cNvGrpSpPr/>
          <p:nvPr/>
        </p:nvGrpSpPr>
        <p:grpSpPr>
          <a:xfrm rot="0">
            <a:off x="15665503" y="317552"/>
            <a:ext cx="2042119" cy="650325"/>
            <a:chOff x="0" y="0"/>
            <a:chExt cx="537842" cy="171279"/>
          </a:xfrm>
        </p:grpSpPr>
        <p:sp>
          <p:nvSpPr>
            <p:cNvPr name="Freeform 32" id="32"/>
            <p:cNvSpPr/>
            <p:nvPr/>
          </p:nvSpPr>
          <p:spPr>
            <a:xfrm flipH="false" flipV="false" rot="0">
              <a:off x="0" y="0"/>
              <a:ext cx="537842" cy="171279"/>
            </a:xfrm>
            <a:custGeom>
              <a:avLst/>
              <a:gdLst/>
              <a:ahLst/>
              <a:cxnLst/>
              <a:rect r="r" b="b" t="t" l="l"/>
              <a:pathLst>
                <a:path h="171279" w="537842">
                  <a:moveTo>
                    <a:pt x="53076" y="0"/>
                  </a:moveTo>
                  <a:lnTo>
                    <a:pt x="484766" y="0"/>
                  </a:lnTo>
                  <a:cubicBezTo>
                    <a:pt x="514079" y="0"/>
                    <a:pt x="537842" y="23763"/>
                    <a:pt x="537842" y="53076"/>
                  </a:cubicBezTo>
                  <a:lnTo>
                    <a:pt x="537842" y="118203"/>
                  </a:lnTo>
                  <a:cubicBezTo>
                    <a:pt x="537842" y="132280"/>
                    <a:pt x="532250" y="145780"/>
                    <a:pt x="522296" y="155734"/>
                  </a:cubicBezTo>
                  <a:cubicBezTo>
                    <a:pt x="512343" y="165687"/>
                    <a:pt x="498843" y="171279"/>
                    <a:pt x="484766" y="171279"/>
                  </a:cubicBezTo>
                  <a:lnTo>
                    <a:pt x="53076" y="171279"/>
                  </a:lnTo>
                  <a:cubicBezTo>
                    <a:pt x="38999" y="171279"/>
                    <a:pt x="25499" y="165687"/>
                    <a:pt x="15546" y="155734"/>
                  </a:cubicBezTo>
                  <a:cubicBezTo>
                    <a:pt x="5592" y="145780"/>
                    <a:pt x="0" y="132280"/>
                    <a:pt x="0" y="118203"/>
                  </a:cubicBezTo>
                  <a:lnTo>
                    <a:pt x="0" y="53076"/>
                  </a:lnTo>
                  <a:cubicBezTo>
                    <a:pt x="0" y="38999"/>
                    <a:pt x="5592" y="25499"/>
                    <a:pt x="15546" y="15546"/>
                  </a:cubicBezTo>
                  <a:cubicBezTo>
                    <a:pt x="25499" y="5592"/>
                    <a:pt x="38999" y="0"/>
                    <a:pt x="53076" y="0"/>
                  </a:cubicBezTo>
                  <a:close/>
                </a:path>
              </a:pathLst>
            </a:custGeom>
            <a:solidFill>
              <a:srgbClr val="535659"/>
            </a:solidFill>
            <a:ln w="19050" cap="sq">
              <a:solidFill>
                <a:srgbClr val="243342"/>
              </a:solidFill>
              <a:prstDash val="solid"/>
              <a:miter/>
            </a:ln>
          </p:spPr>
        </p:sp>
        <p:sp>
          <p:nvSpPr>
            <p:cNvPr name="TextBox 33" id="33"/>
            <p:cNvSpPr txBox="true"/>
            <p:nvPr/>
          </p:nvSpPr>
          <p:spPr>
            <a:xfrm>
              <a:off x="0" y="-38100"/>
              <a:ext cx="537842" cy="209379"/>
            </a:xfrm>
            <a:prstGeom prst="rect">
              <a:avLst/>
            </a:prstGeom>
          </p:spPr>
          <p:txBody>
            <a:bodyPr anchor="ctr" rtlCol="false" tIns="50800" lIns="50800" bIns="50800" rIns="50800"/>
            <a:lstStyle/>
            <a:p>
              <a:pPr algn="ctr">
                <a:lnSpc>
                  <a:spcPts val="3362"/>
                </a:lnSpc>
              </a:pPr>
            </a:p>
          </p:txBody>
        </p:sp>
      </p:grpSp>
      <p:sp>
        <p:nvSpPr>
          <p:cNvPr name="TextBox 34" id="34"/>
          <p:cNvSpPr txBox="true"/>
          <p:nvPr/>
        </p:nvSpPr>
        <p:spPr>
          <a:xfrm rot="0">
            <a:off x="15621459" y="349050"/>
            <a:ext cx="2168307" cy="444500"/>
          </a:xfrm>
          <a:prstGeom prst="rect">
            <a:avLst/>
          </a:prstGeom>
        </p:spPr>
        <p:txBody>
          <a:bodyPr anchor="t" rtlCol="false" tIns="0" lIns="0" bIns="0" rIns="0">
            <a:spAutoFit/>
          </a:bodyPr>
          <a:lstStyle/>
          <a:p>
            <a:pPr algn="ctr">
              <a:lnSpc>
                <a:spcPts val="2800"/>
              </a:lnSpc>
            </a:pPr>
            <a:r>
              <a:rPr lang="en-US" sz="2000" spc="120">
                <a:solidFill>
                  <a:srgbClr val="FFFFFF"/>
                </a:solidFill>
                <a:latin typeface="Karnchang"/>
                <a:ea typeface="Karnchang"/>
                <a:cs typeface="Karnchang"/>
                <a:sym typeface="Karnchang"/>
              </a:rPr>
              <a:t>Halaman 2</a:t>
            </a:r>
          </a:p>
        </p:txBody>
      </p:sp>
      <p:grpSp>
        <p:nvGrpSpPr>
          <p:cNvPr name="Group 35" id="35"/>
          <p:cNvGrpSpPr/>
          <p:nvPr/>
        </p:nvGrpSpPr>
        <p:grpSpPr>
          <a:xfrm rot="0">
            <a:off x="629723" y="9258300"/>
            <a:ext cx="9916004" cy="627749"/>
            <a:chOff x="0" y="0"/>
            <a:chExt cx="2611622" cy="165333"/>
          </a:xfrm>
        </p:grpSpPr>
        <p:sp>
          <p:nvSpPr>
            <p:cNvPr name="Freeform 36" id="36"/>
            <p:cNvSpPr/>
            <p:nvPr/>
          </p:nvSpPr>
          <p:spPr>
            <a:xfrm flipH="false" flipV="false" rot="0">
              <a:off x="0" y="0"/>
              <a:ext cx="2611622" cy="165333"/>
            </a:xfrm>
            <a:custGeom>
              <a:avLst/>
              <a:gdLst/>
              <a:ahLst/>
              <a:cxnLst/>
              <a:rect r="r" b="b" t="t" l="l"/>
              <a:pathLst>
                <a:path h="165333" w="2611622">
                  <a:moveTo>
                    <a:pt x="11711" y="0"/>
                  </a:moveTo>
                  <a:lnTo>
                    <a:pt x="2599911" y="0"/>
                  </a:lnTo>
                  <a:cubicBezTo>
                    <a:pt x="2606379" y="0"/>
                    <a:pt x="2611622" y="5243"/>
                    <a:pt x="2611622" y="11711"/>
                  </a:cubicBezTo>
                  <a:lnTo>
                    <a:pt x="2611622" y="153622"/>
                  </a:lnTo>
                  <a:cubicBezTo>
                    <a:pt x="2611622" y="156728"/>
                    <a:pt x="2610389" y="159707"/>
                    <a:pt x="2608192" y="161903"/>
                  </a:cubicBezTo>
                  <a:cubicBezTo>
                    <a:pt x="2605996" y="164099"/>
                    <a:pt x="2603017" y="165333"/>
                    <a:pt x="2599911" y="165333"/>
                  </a:cubicBezTo>
                  <a:lnTo>
                    <a:pt x="11711" y="165333"/>
                  </a:lnTo>
                  <a:cubicBezTo>
                    <a:pt x="8605" y="165333"/>
                    <a:pt x="5626" y="164099"/>
                    <a:pt x="3430" y="161903"/>
                  </a:cubicBezTo>
                  <a:cubicBezTo>
                    <a:pt x="1234" y="159707"/>
                    <a:pt x="0" y="156728"/>
                    <a:pt x="0" y="153622"/>
                  </a:cubicBezTo>
                  <a:lnTo>
                    <a:pt x="0" y="11711"/>
                  </a:lnTo>
                  <a:cubicBezTo>
                    <a:pt x="0" y="8605"/>
                    <a:pt x="1234" y="5626"/>
                    <a:pt x="3430" y="3430"/>
                  </a:cubicBezTo>
                  <a:cubicBezTo>
                    <a:pt x="5626" y="1234"/>
                    <a:pt x="8605" y="0"/>
                    <a:pt x="11711" y="0"/>
                  </a:cubicBezTo>
                  <a:close/>
                </a:path>
              </a:pathLst>
            </a:custGeom>
            <a:solidFill>
              <a:srgbClr val="535659"/>
            </a:solidFill>
            <a:ln w="19050" cap="sq">
              <a:solidFill>
                <a:srgbClr val="243342"/>
              </a:solidFill>
              <a:prstDash val="solid"/>
              <a:miter/>
            </a:ln>
          </p:spPr>
        </p:sp>
        <p:sp>
          <p:nvSpPr>
            <p:cNvPr name="TextBox 37" id="37"/>
            <p:cNvSpPr txBox="true"/>
            <p:nvPr/>
          </p:nvSpPr>
          <p:spPr>
            <a:xfrm>
              <a:off x="0" y="-38100"/>
              <a:ext cx="2611622" cy="203433"/>
            </a:xfrm>
            <a:prstGeom prst="rect">
              <a:avLst/>
            </a:prstGeom>
          </p:spPr>
          <p:txBody>
            <a:bodyPr anchor="ctr" rtlCol="false" tIns="50800" lIns="50800" bIns="50800" rIns="50800"/>
            <a:lstStyle/>
            <a:p>
              <a:pPr algn="ctr">
                <a:lnSpc>
                  <a:spcPts val="3362"/>
                </a:lnSpc>
              </a:pPr>
            </a:p>
          </p:txBody>
        </p:sp>
      </p:grpSp>
      <p:sp>
        <p:nvSpPr>
          <p:cNvPr name="TextBox 38" id="38"/>
          <p:cNvSpPr txBox="true"/>
          <p:nvPr/>
        </p:nvSpPr>
        <p:spPr>
          <a:xfrm rot="0">
            <a:off x="551143" y="9305925"/>
            <a:ext cx="9994584" cy="444500"/>
          </a:xfrm>
          <a:prstGeom prst="rect">
            <a:avLst/>
          </a:prstGeom>
        </p:spPr>
        <p:txBody>
          <a:bodyPr anchor="t" rtlCol="false" tIns="0" lIns="0" bIns="0" rIns="0">
            <a:spAutoFit/>
          </a:bodyPr>
          <a:lstStyle/>
          <a:p>
            <a:pPr algn="ctr">
              <a:lnSpc>
                <a:spcPts val="2800"/>
              </a:lnSpc>
            </a:pPr>
            <a:r>
              <a:rPr lang="en-US" sz="2000" spc="120">
                <a:solidFill>
                  <a:srgbClr val="FFFFFF"/>
                </a:solidFill>
                <a:latin typeface="Karnchang"/>
                <a:ea typeface="Karnchang"/>
                <a:cs typeface="Karnchang"/>
                <a:sym typeface="Karnchang"/>
              </a:rPr>
              <a:t>Abdul Rozak A |  Politeknik Negeri Bandung | Teknik Telekomuniakasi | 2024</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E6EAEF"/>
        </a:solidFill>
      </p:bgPr>
    </p:bg>
    <p:spTree>
      <p:nvGrpSpPr>
        <p:cNvPr id="1" name=""/>
        <p:cNvGrpSpPr/>
        <p:nvPr/>
      </p:nvGrpSpPr>
      <p:grpSpPr>
        <a:xfrm>
          <a:off x="0" y="0"/>
          <a:ext cx="0" cy="0"/>
          <a:chOff x="0" y="0"/>
          <a:chExt cx="0" cy="0"/>
        </a:xfrm>
      </p:grpSpPr>
      <p:grpSp>
        <p:nvGrpSpPr>
          <p:cNvPr name="Group 2" id="2"/>
          <p:cNvGrpSpPr/>
          <p:nvPr/>
        </p:nvGrpSpPr>
        <p:grpSpPr>
          <a:xfrm rot="0">
            <a:off x="787067" y="592941"/>
            <a:ext cx="16713866" cy="9101117"/>
            <a:chOff x="0" y="0"/>
            <a:chExt cx="4402006" cy="2397002"/>
          </a:xfrm>
        </p:grpSpPr>
        <p:sp>
          <p:nvSpPr>
            <p:cNvPr name="Freeform 3" id="3"/>
            <p:cNvSpPr/>
            <p:nvPr/>
          </p:nvSpPr>
          <p:spPr>
            <a:xfrm flipH="false" flipV="false" rot="0">
              <a:off x="0" y="0"/>
              <a:ext cx="4402006" cy="2397002"/>
            </a:xfrm>
            <a:custGeom>
              <a:avLst/>
              <a:gdLst/>
              <a:ahLst/>
              <a:cxnLst/>
              <a:rect r="r" b="b" t="t" l="l"/>
              <a:pathLst>
                <a:path h="2397002" w="4402006">
                  <a:moveTo>
                    <a:pt x="23623" y="0"/>
                  </a:moveTo>
                  <a:lnTo>
                    <a:pt x="4378382" y="0"/>
                  </a:lnTo>
                  <a:cubicBezTo>
                    <a:pt x="4391429" y="0"/>
                    <a:pt x="4402006" y="10577"/>
                    <a:pt x="4402006" y="23623"/>
                  </a:cubicBezTo>
                  <a:lnTo>
                    <a:pt x="4402006" y="2373379"/>
                  </a:lnTo>
                  <a:cubicBezTo>
                    <a:pt x="4402006" y="2379644"/>
                    <a:pt x="4399517" y="2385653"/>
                    <a:pt x="4395087" y="2390083"/>
                  </a:cubicBezTo>
                  <a:cubicBezTo>
                    <a:pt x="4390656" y="2394513"/>
                    <a:pt x="4384647" y="2397002"/>
                    <a:pt x="4378382" y="2397002"/>
                  </a:cubicBezTo>
                  <a:lnTo>
                    <a:pt x="23623" y="2397002"/>
                  </a:lnTo>
                  <a:cubicBezTo>
                    <a:pt x="17358" y="2397002"/>
                    <a:pt x="11349" y="2394513"/>
                    <a:pt x="6919" y="2390083"/>
                  </a:cubicBezTo>
                  <a:cubicBezTo>
                    <a:pt x="2489" y="2385653"/>
                    <a:pt x="0" y="2379644"/>
                    <a:pt x="0" y="2373379"/>
                  </a:cubicBezTo>
                  <a:lnTo>
                    <a:pt x="0" y="23623"/>
                  </a:lnTo>
                  <a:cubicBezTo>
                    <a:pt x="0" y="17358"/>
                    <a:pt x="2489" y="11349"/>
                    <a:pt x="6919" y="6919"/>
                  </a:cubicBezTo>
                  <a:cubicBezTo>
                    <a:pt x="11349" y="2489"/>
                    <a:pt x="17358" y="0"/>
                    <a:pt x="23623" y="0"/>
                  </a:cubicBezTo>
                  <a:close/>
                </a:path>
              </a:pathLst>
            </a:custGeom>
            <a:solidFill>
              <a:srgbClr val="E6EAEF"/>
            </a:solidFill>
            <a:ln w="19050" cap="rnd">
              <a:solidFill>
                <a:srgbClr val="243342"/>
              </a:solidFill>
              <a:prstDash val="solid"/>
              <a:round/>
            </a:ln>
          </p:spPr>
        </p:sp>
        <p:sp>
          <p:nvSpPr>
            <p:cNvPr name="TextBox 4" id="4"/>
            <p:cNvSpPr txBox="true"/>
            <p:nvPr/>
          </p:nvSpPr>
          <p:spPr>
            <a:xfrm>
              <a:off x="0" y="-38100"/>
              <a:ext cx="4402006" cy="2435102"/>
            </a:xfrm>
            <a:prstGeom prst="rect">
              <a:avLst/>
            </a:prstGeom>
          </p:spPr>
          <p:txBody>
            <a:bodyPr anchor="ctr" rtlCol="false" tIns="50800" lIns="50800" bIns="50800" rIns="50800"/>
            <a:lstStyle/>
            <a:p>
              <a:pPr algn="ctr">
                <a:lnSpc>
                  <a:spcPts val="3362"/>
                </a:lnSpc>
              </a:pPr>
            </a:p>
          </p:txBody>
        </p:sp>
      </p:grpSp>
      <p:grpSp>
        <p:nvGrpSpPr>
          <p:cNvPr name="Group 5" id="5"/>
          <p:cNvGrpSpPr/>
          <p:nvPr/>
        </p:nvGrpSpPr>
        <p:grpSpPr>
          <a:xfrm rot="-7538080">
            <a:off x="-7029811" y="-5584933"/>
            <a:ext cx="9808447" cy="9331824"/>
            <a:chOff x="0" y="0"/>
            <a:chExt cx="13077930" cy="12442432"/>
          </a:xfrm>
        </p:grpSpPr>
        <p:grpSp>
          <p:nvGrpSpPr>
            <p:cNvPr name="Group 6" id="6"/>
            <p:cNvGrpSpPr/>
            <p:nvPr/>
          </p:nvGrpSpPr>
          <p:grpSpPr>
            <a:xfrm rot="2252144">
              <a:off x="1498251" y="1484738"/>
              <a:ext cx="7399579" cy="7432687"/>
              <a:chOff x="0" y="0"/>
              <a:chExt cx="2816645" cy="2829248"/>
            </a:xfrm>
          </p:grpSpPr>
          <p:sp>
            <p:nvSpPr>
              <p:cNvPr name="Freeform 7" id="7"/>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243342"/>
              </a:solidFill>
            </p:spPr>
          </p:sp>
          <p:sp>
            <p:nvSpPr>
              <p:cNvPr name="TextBox 8" id="8"/>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2252144">
              <a:off x="2397493" y="3224228"/>
              <a:ext cx="7399579" cy="7432687"/>
              <a:chOff x="0" y="0"/>
              <a:chExt cx="2816645" cy="2829248"/>
            </a:xfrm>
          </p:grpSpPr>
          <p:sp>
            <p:nvSpPr>
              <p:cNvPr name="Freeform 10" id="10"/>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535659"/>
              </a:solidFill>
            </p:spPr>
          </p:sp>
          <p:sp>
            <p:nvSpPr>
              <p:cNvPr name="TextBox 11" id="11"/>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2252144">
              <a:off x="4180100" y="3525007"/>
              <a:ext cx="7399579" cy="7432687"/>
              <a:chOff x="0" y="0"/>
              <a:chExt cx="2816645" cy="2829248"/>
            </a:xfrm>
          </p:grpSpPr>
          <p:sp>
            <p:nvSpPr>
              <p:cNvPr name="Freeform 13" id="13"/>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858789"/>
              </a:solidFill>
            </p:spPr>
          </p:sp>
          <p:sp>
            <p:nvSpPr>
              <p:cNvPr name="TextBox 14" id="14"/>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grpSp>
        <p:nvGrpSpPr>
          <p:cNvPr name="Group 15" id="15"/>
          <p:cNvGrpSpPr/>
          <p:nvPr/>
        </p:nvGrpSpPr>
        <p:grpSpPr>
          <a:xfrm rot="2124477">
            <a:off x="15979122" y="5429903"/>
            <a:ext cx="9808447" cy="9331824"/>
            <a:chOff x="0" y="0"/>
            <a:chExt cx="13077930" cy="12442432"/>
          </a:xfrm>
        </p:grpSpPr>
        <p:grpSp>
          <p:nvGrpSpPr>
            <p:cNvPr name="Group 16" id="16"/>
            <p:cNvGrpSpPr/>
            <p:nvPr/>
          </p:nvGrpSpPr>
          <p:grpSpPr>
            <a:xfrm rot="2252144">
              <a:off x="1498251" y="1484738"/>
              <a:ext cx="7399579" cy="7432687"/>
              <a:chOff x="0" y="0"/>
              <a:chExt cx="2816645" cy="2829248"/>
            </a:xfrm>
          </p:grpSpPr>
          <p:sp>
            <p:nvSpPr>
              <p:cNvPr name="Freeform 17" id="17"/>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243342"/>
              </a:solidFill>
            </p:spPr>
          </p:sp>
          <p:sp>
            <p:nvSpPr>
              <p:cNvPr name="TextBox 18" id="18"/>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19" id="19"/>
            <p:cNvGrpSpPr/>
            <p:nvPr/>
          </p:nvGrpSpPr>
          <p:grpSpPr>
            <a:xfrm rot="2252144">
              <a:off x="2397493" y="3224228"/>
              <a:ext cx="7399579" cy="7432687"/>
              <a:chOff x="0" y="0"/>
              <a:chExt cx="2816645" cy="2829248"/>
            </a:xfrm>
          </p:grpSpPr>
          <p:sp>
            <p:nvSpPr>
              <p:cNvPr name="Freeform 20" id="20"/>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535659"/>
              </a:solidFill>
            </p:spPr>
          </p:sp>
          <p:sp>
            <p:nvSpPr>
              <p:cNvPr name="TextBox 21" id="21"/>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22" id="22"/>
            <p:cNvGrpSpPr/>
            <p:nvPr/>
          </p:nvGrpSpPr>
          <p:grpSpPr>
            <a:xfrm rot="2252144">
              <a:off x="4180100" y="3525007"/>
              <a:ext cx="7399579" cy="7432687"/>
              <a:chOff x="0" y="0"/>
              <a:chExt cx="2816645" cy="2829248"/>
            </a:xfrm>
          </p:grpSpPr>
          <p:sp>
            <p:nvSpPr>
              <p:cNvPr name="Freeform 23" id="23"/>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858789"/>
              </a:solidFill>
            </p:spPr>
          </p:sp>
          <p:sp>
            <p:nvSpPr>
              <p:cNvPr name="TextBox 24" id="24"/>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sp>
        <p:nvSpPr>
          <p:cNvPr name="TextBox 25" id="25"/>
          <p:cNvSpPr txBox="true"/>
          <p:nvPr/>
        </p:nvSpPr>
        <p:spPr>
          <a:xfrm rot="0">
            <a:off x="4293776" y="1164537"/>
            <a:ext cx="9700448" cy="1107440"/>
          </a:xfrm>
          <a:prstGeom prst="rect">
            <a:avLst/>
          </a:prstGeom>
        </p:spPr>
        <p:txBody>
          <a:bodyPr anchor="t" rtlCol="false" tIns="0" lIns="0" bIns="0" rIns="0">
            <a:spAutoFit/>
          </a:bodyPr>
          <a:lstStyle/>
          <a:p>
            <a:pPr algn="ctr">
              <a:lnSpc>
                <a:spcPts val="5980"/>
              </a:lnSpc>
            </a:pPr>
            <a:r>
              <a:rPr lang="en-US" sz="6500" b="true">
                <a:solidFill>
                  <a:srgbClr val="243342"/>
                </a:solidFill>
                <a:latin typeface="Karnchang Bold"/>
                <a:ea typeface="Karnchang Bold"/>
                <a:cs typeface="Karnchang Bold"/>
                <a:sym typeface="Karnchang Bold"/>
              </a:rPr>
              <a:t>Konsep Dasar SIAR</a:t>
            </a:r>
          </a:p>
        </p:txBody>
      </p:sp>
      <p:sp>
        <p:nvSpPr>
          <p:cNvPr name="TextBox 26" id="26"/>
          <p:cNvSpPr txBox="true"/>
          <p:nvPr/>
        </p:nvSpPr>
        <p:spPr>
          <a:xfrm rot="0">
            <a:off x="1960029" y="2698740"/>
            <a:ext cx="14367942" cy="4874895"/>
          </a:xfrm>
          <a:prstGeom prst="rect">
            <a:avLst/>
          </a:prstGeom>
        </p:spPr>
        <p:txBody>
          <a:bodyPr anchor="t" rtlCol="false" tIns="0" lIns="0" bIns="0" rIns="0">
            <a:spAutoFit/>
          </a:bodyPr>
          <a:lstStyle/>
          <a:p>
            <a:pPr algn="just" marL="582930" indent="-291465" lvl="1">
              <a:lnSpc>
                <a:spcPts val="3779"/>
              </a:lnSpc>
              <a:buAutoNum type="arabicPeriod" startAt="1"/>
            </a:pPr>
            <a:r>
              <a:rPr lang="en-US" sz="2700">
                <a:solidFill>
                  <a:srgbClr val="000000"/>
                </a:solidFill>
                <a:latin typeface="Karnchang"/>
                <a:ea typeface="Karnchang"/>
                <a:cs typeface="Karnchang"/>
                <a:sym typeface="Karnchang"/>
              </a:rPr>
              <a:t>Dengan mengkodekan </a:t>
            </a:r>
            <a:r>
              <a:rPr lang="en-US" sz="2700">
                <a:solidFill>
                  <a:srgbClr val="000000"/>
                </a:solidFill>
                <a:latin typeface="Karnchang"/>
                <a:ea typeface="Karnchang"/>
                <a:cs typeface="Karnchang"/>
                <a:sym typeface="Karnchang"/>
              </a:rPr>
              <a:t>sinyal dari setiap elemen radiasi omnidirectional, radiasi isotropik seluruh volume pengawasan dipastikan dengan susunan antena yang besar; yaitu pola pancaran pancaran sinyal tidak terbentuk dalam domain spasial.</a:t>
            </a:r>
          </a:p>
          <a:p>
            <a:pPr algn="just" marL="582930" indent="-291465" lvl="1">
              <a:lnSpc>
                <a:spcPts val="3779"/>
              </a:lnSpc>
              <a:buAutoNum type="arabicPeriod" startAt="1"/>
            </a:pPr>
            <a:r>
              <a:rPr lang="en-US" sz="2700">
                <a:solidFill>
                  <a:srgbClr val="000000"/>
                </a:solidFill>
                <a:latin typeface="Karnchang"/>
                <a:ea typeface="Karnchang"/>
                <a:cs typeface="Karnchang"/>
                <a:sym typeface="Karnchang"/>
              </a:rPr>
              <a:t>Komponen sinyal yang berhubungan dengan setiap elemen pemancar dipisahkan dalam sistem penerima berdasarkan kodenya. Waktu tunda dikalibrasi pada susunan yang diterima, dan kemudian komponen sinyal digabungkan kembali secara koheren untuk menghasilkan pulsa sempit dari gema target, yaitu pancaran pancaran yang setara.</a:t>
            </a:r>
          </a:p>
          <a:p>
            <a:pPr algn="just">
              <a:lnSpc>
                <a:spcPts val="3779"/>
              </a:lnSpc>
            </a:pPr>
          </a:p>
          <a:p>
            <a:pPr algn="just">
              <a:lnSpc>
                <a:spcPts val="3779"/>
              </a:lnSpc>
            </a:pPr>
            <a:r>
              <a:rPr lang="en-US" sz="2700">
                <a:solidFill>
                  <a:srgbClr val="000000"/>
                </a:solidFill>
                <a:latin typeface="Karnchang"/>
                <a:ea typeface="Karnchang"/>
                <a:cs typeface="Karnchang"/>
                <a:sym typeface="Karnchang"/>
              </a:rPr>
              <a:t>Fitur-fitur ini sama dengan radar MIMO dengan antena kolokasi, dan SIAR umumnya diperlakukan sebagai sistem radar MIMO yang koheren.</a:t>
            </a:r>
          </a:p>
        </p:txBody>
      </p:sp>
      <p:grpSp>
        <p:nvGrpSpPr>
          <p:cNvPr name="Group 27" id="27"/>
          <p:cNvGrpSpPr/>
          <p:nvPr/>
        </p:nvGrpSpPr>
        <p:grpSpPr>
          <a:xfrm rot="0">
            <a:off x="15665503" y="317552"/>
            <a:ext cx="2042119" cy="650325"/>
            <a:chOff x="0" y="0"/>
            <a:chExt cx="537842" cy="171279"/>
          </a:xfrm>
        </p:grpSpPr>
        <p:sp>
          <p:nvSpPr>
            <p:cNvPr name="Freeform 28" id="28"/>
            <p:cNvSpPr/>
            <p:nvPr/>
          </p:nvSpPr>
          <p:spPr>
            <a:xfrm flipH="false" flipV="false" rot="0">
              <a:off x="0" y="0"/>
              <a:ext cx="537842" cy="171279"/>
            </a:xfrm>
            <a:custGeom>
              <a:avLst/>
              <a:gdLst/>
              <a:ahLst/>
              <a:cxnLst/>
              <a:rect r="r" b="b" t="t" l="l"/>
              <a:pathLst>
                <a:path h="171279" w="537842">
                  <a:moveTo>
                    <a:pt x="53076" y="0"/>
                  </a:moveTo>
                  <a:lnTo>
                    <a:pt x="484766" y="0"/>
                  </a:lnTo>
                  <a:cubicBezTo>
                    <a:pt x="514079" y="0"/>
                    <a:pt x="537842" y="23763"/>
                    <a:pt x="537842" y="53076"/>
                  </a:cubicBezTo>
                  <a:lnTo>
                    <a:pt x="537842" y="118203"/>
                  </a:lnTo>
                  <a:cubicBezTo>
                    <a:pt x="537842" y="132280"/>
                    <a:pt x="532250" y="145780"/>
                    <a:pt x="522296" y="155734"/>
                  </a:cubicBezTo>
                  <a:cubicBezTo>
                    <a:pt x="512343" y="165687"/>
                    <a:pt x="498843" y="171279"/>
                    <a:pt x="484766" y="171279"/>
                  </a:cubicBezTo>
                  <a:lnTo>
                    <a:pt x="53076" y="171279"/>
                  </a:lnTo>
                  <a:cubicBezTo>
                    <a:pt x="38999" y="171279"/>
                    <a:pt x="25499" y="165687"/>
                    <a:pt x="15546" y="155734"/>
                  </a:cubicBezTo>
                  <a:cubicBezTo>
                    <a:pt x="5592" y="145780"/>
                    <a:pt x="0" y="132280"/>
                    <a:pt x="0" y="118203"/>
                  </a:cubicBezTo>
                  <a:lnTo>
                    <a:pt x="0" y="53076"/>
                  </a:lnTo>
                  <a:cubicBezTo>
                    <a:pt x="0" y="38999"/>
                    <a:pt x="5592" y="25499"/>
                    <a:pt x="15546" y="15546"/>
                  </a:cubicBezTo>
                  <a:cubicBezTo>
                    <a:pt x="25499" y="5592"/>
                    <a:pt x="38999" y="0"/>
                    <a:pt x="53076" y="0"/>
                  </a:cubicBezTo>
                  <a:close/>
                </a:path>
              </a:pathLst>
            </a:custGeom>
            <a:solidFill>
              <a:srgbClr val="535659"/>
            </a:solidFill>
            <a:ln w="19050" cap="sq">
              <a:solidFill>
                <a:srgbClr val="243342"/>
              </a:solidFill>
              <a:prstDash val="solid"/>
              <a:miter/>
            </a:ln>
          </p:spPr>
        </p:sp>
        <p:sp>
          <p:nvSpPr>
            <p:cNvPr name="TextBox 29" id="29"/>
            <p:cNvSpPr txBox="true"/>
            <p:nvPr/>
          </p:nvSpPr>
          <p:spPr>
            <a:xfrm>
              <a:off x="0" y="-38100"/>
              <a:ext cx="537842" cy="209379"/>
            </a:xfrm>
            <a:prstGeom prst="rect">
              <a:avLst/>
            </a:prstGeom>
          </p:spPr>
          <p:txBody>
            <a:bodyPr anchor="ctr" rtlCol="false" tIns="50800" lIns="50800" bIns="50800" rIns="50800"/>
            <a:lstStyle/>
            <a:p>
              <a:pPr algn="ctr">
                <a:lnSpc>
                  <a:spcPts val="3362"/>
                </a:lnSpc>
              </a:pPr>
            </a:p>
          </p:txBody>
        </p:sp>
      </p:grpSp>
      <p:sp>
        <p:nvSpPr>
          <p:cNvPr name="TextBox 30" id="30"/>
          <p:cNvSpPr txBox="true"/>
          <p:nvPr/>
        </p:nvSpPr>
        <p:spPr>
          <a:xfrm rot="0">
            <a:off x="15621459" y="349050"/>
            <a:ext cx="2168307" cy="444500"/>
          </a:xfrm>
          <a:prstGeom prst="rect">
            <a:avLst/>
          </a:prstGeom>
        </p:spPr>
        <p:txBody>
          <a:bodyPr anchor="t" rtlCol="false" tIns="0" lIns="0" bIns="0" rIns="0">
            <a:spAutoFit/>
          </a:bodyPr>
          <a:lstStyle/>
          <a:p>
            <a:pPr algn="ctr">
              <a:lnSpc>
                <a:spcPts val="2800"/>
              </a:lnSpc>
            </a:pPr>
            <a:r>
              <a:rPr lang="en-US" sz="2000" spc="120">
                <a:solidFill>
                  <a:srgbClr val="FFFFFF"/>
                </a:solidFill>
                <a:latin typeface="Karnchang"/>
                <a:ea typeface="Karnchang"/>
                <a:cs typeface="Karnchang"/>
                <a:sym typeface="Karnchang"/>
              </a:rPr>
              <a:t>Halaman 3</a:t>
            </a:r>
          </a:p>
        </p:txBody>
      </p:sp>
      <p:grpSp>
        <p:nvGrpSpPr>
          <p:cNvPr name="Group 31" id="31"/>
          <p:cNvGrpSpPr/>
          <p:nvPr/>
        </p:nvGrpSpPr>
        <p:grpSpPr>
          <a:xfrm rot="0">
            <a:off x="629723" y="9258300"/>
            <a:ext cx="6961669" cy="627749"/>
            <a:chOff x="0" y="0"/>
            <a:chExt cx="1833526" cy="165333"/>
          </a:xfrm>
        </p:grpSpPr>
        <p:sp>
          <p:nvSpPr>
            <p:cNvPr name="Freeform 32" id="32"/>
            <p:cNvSpPr/>
            <p:nvPr/>
          </p:nvSpPr>
          <p:spPr>
            <a:xfrm flipH="false" flipV="false" rot="0">
              <a:off x="0" y="0"/>
              <a:ext cx="1833526" cy="165333"/>
            </a:xfrm>
            <a:custGeom>
              <a:avLst/>
              <a:gdLst/>
              <a:ahLst/>
              <a:cxnLst/>
              <a:rect r="r" b="b" t="t" l="l"/>
              <a:pathLst>
                <a:path h="165333" w="1833526">
                  <a:moveTo>
                    <a:pt x="16681" y="0"/>
                  </a:moveTo>
                  <a:lnTo>
                    <a:pt x="1816845" y="0"/>
                  </a:lnTo>
                  <a:cubicBezTo>
                    <a:pt x="1821269" y="0"/>
                    <a:pt x="1825512" y="1757"/>
                    <a:pt x="1828640" y="4886"/>
                  </a:cubicBezTo>
                  <a:cubicBezTo>
                    <a:pt x="1831769" y="8014"/>
                    <a:pt x="1833526" y="12257"/>
                    <a:pt x="1833526" y="16681"/>
                  </a:cubicBezTo>
                  <a:lnTo>
                    <a:pt x="1833526" y="148652"/>
                  </a:lnTo>
                  <a:cubicBezTo>
                    <a:pt x="1833526" y="157865"/>
                    <a:pt x="1826058" y="165333"/>
                    <a:pt x="1816845" y="165333"/>
                  </a:cubicBezTo>
                  <a:lnTo>
                    <a:pt x="16681" y="165333"/>
                  </a:lnTo>
                  <a:cubicBezTo>
                    <a:pt x="7468" y="165333"/>
                    <a:pt x="0" y="157865"/>
                    <a:pt x="0" y="148652"/>
                  </a:cubicBezTo>
                  <a:lnTo>
                    <a:pt x="0" y="16681"/>
                  </a:lnTo>
                  <a:cubicBezTo>
                    <a:pt x="0" y="7468"/>
                    <a:pt x="7468" y="0"/>
                    <a:pt x="16681" y="0"/>
                  </a:cubicBezTo>
                  <a:close/>
                </a:path>
              </a:pathLst>
            </a:custGeom>
            <a:solidFill>
              <a:srgbClr val="535659"/>
            </a:solidFill>
            <a:ln w="19050" cap="sq">
              <a:solidFill>
                <a:srgbClr val="243342"/>
              </a:solidFill>
              <a:prstDash val="solid"/>
              <a:miter/>
            </a:ln>
          </p:spPr>
        </p:sp>
        <p:sp>
          <p:nvSpPr>
            <p:cNvPr name="TextBox 33" id="33"/>
            <p:cNvSpPr txBox="true"/>
            <p:nvPr/>
          </p:nvSpPr>
          <p:spPr>
            <a:xfrm>
              <a:off x="0" y="-38100"/>
              <a:ext cx="1833526" cy="203433"/>
            </a:xfrm>
            <a:prstGeom prst="rect">
              <a:avLst/>
            </a:prstGeom>
          </p:spPr>
          <p:txBody>
            <a:bodyPr anchor="ctr" rtlCol="false" tIns="50800" lIns="50800" bIns="50800" rIns="50800"/>
            <a:lstStyle/>
            <a:p>
              <a:pPr algn="ctr">
                <a:lnSpc>
                  <a:spcPts val="3362"/>
                </a:lnSpc>
              </a:pPr>
            </a:p>
          </p:txBody>
        </p:sp>
      </p:grpSp>
      <p:sp>
        <p:nvSpPr>
          <p:cNvPr name="TextBox 34" id="34"/>
          <p:cNvSpPr txBox="true"/>
          <p:nvPr/>
        </p:nvSpPr>
        <p:spPr>
          <a:xfrm rot="0">
            <a:off x="551143" y="9305925"/>
            <a:ext cx="7118830" cy="444454"/>
          </a:xfrm>
          <a:prstGeom prst="rect">
            <a:avLst/>
          </a:prstGeom>
        </p:spPr>
        <p:txBody>
          <a:bodyPr anchor="t" rtlCol="false" tIns="0" lIns="0" bIns="0" rIns="0">
            <a:spAutoFit/>
          </a:bodyPr>
          <a:lstStyle/>
          <a:p>
            <a:pPr algn="ctr">
              <a:lnSpc>
                <a:spcPts val="2800"/>
              </a:lnSpc>
            </a:pPr>
            <a:r>
              <a:rPr lang="en-US" sz="2000" spc="120">
                <a:solidFill>
                  <a:srgbClr val="FFFFFF"/>
                </a:solidFill>
                <a:latin typeface="Karnchang"/>
                <a:ea typeface="Karnchang"/>
                <a:cs typeface="Karnchang"/>
                <a:sym typeface="Karnchang"/>
              </a:rPr>
              <a:t>Murad Naser |  Universitas Fauget | Ekonomi | 2025</a:t>
            </a:r>
          </a:p>
        </p:txBody>
      </p:sp>
      <p:grpSp>
        <p:nvGrpSpPr>
          <p:cNvPr name="Group 35" id="35"/>
          <p:cNvGrpSpPr/>
          <p:nvPr/>
        </p:nvGrpSpPr>
        <p:grpSpPr>
          <a:xfrm rot="0">
            <a:off x="629723" y="9258300"/>
            <a:ext cx="9916004" cy="627749"/>
            <a:chOff x="0" y="0"/>
            <a:chExt cx="2611622" cy="165333"/>
          </a:xfrm>
        </p:grpSpPr>
        <p:sp>
          <p:nvSpPr>
            <p:cNvPr name="Freeform 36" id="36"/>
            <p:cNvSpPr/>
            <p:nvPr/>
          </p:nvSpPr>
          <p:spPr>
            <a:xfrm flipH="false" flipV="false" rot="0">
              <a:off x="0" y="0"/>
              <a:ext cx="2611622" cy="165333"/>
            </a:xfrm>
            <a:custGeom>
              <a:avLst/>
              <a:gdLst/>
              <a:ahLst/>
              <a:cxnLst/>
              <a:rect r="r" b="b" t="t" l="l"/>
              <a:pathLst>
                <a:path h="165333" w="2611622">
                  <a:moveTo>
                    <a:pt x="11711" y="0"/>
                  </a:moveTo>
                  <a:lnTo>
                    <a:pt x="2599911" y="0"/>
                  </a:lnTo>
                  <a:cubicBezTo>
                    <a:pt x="2606379" y="0"/>
                    <a:pt x="2611622" y="5243"/>
                    <a:pt x="2611622" y="11711"/>
                  </a:cubicBezTo>
                  <a:lnTo>
                    <a:pt x="2611622" y="153622"/>
                  </a:lnTo>
                  <a:cubicBezTo>
                    <a:pt x="2611622" y="156728"/>
                    <a:pt x="2610389" y="159707"/>
                    <a:pt x="2608192" y="161903"/>
                  </a:cubicBezTo>
                  <a:cubicBezTo>
                    <a:pt x="2605996" y="164099"/>
                    <a:pt x="2603017" y="165333"/>
                    <a:pt x="2599911" y="165333"/>
                  </a:cubicBezTo>
                  <a:lnTo>
                    <a:pt x="11711" y="165333"/>
                  </a:lnTo>
                  <a:cubicBezTo>
                    <a:pt x="8605" y="165333"/>
                    <a:pt x="5626" y="164099"/>
                    <a:pt x="3430" y="161903"/>
                  </a:cubicBezTo>
                  <a:cubicBezTo>
                    <a:pt x="1234" y="159707"/>
                    <a:pt x="0" y="156728"/>
                    <a:pt x="0" y="153622"/>
                  </a:cubicBezTo>
                  <a:lnTo>
                    <a:pt x="0" y="11711"/>
                  </a:lnTo>
                  <a:cubicBezTo>
                    <a:pt x="0" y="8605"/>
                    <a:pt x="1234" y="5626"/>
                    <a:pt x="3430" y="3430"/>
                  </a:cubicBezTo>
                  <a:cubicBezTo>
                    <a:pt x="5626" y="1234"/>
                    <a:pt x="8605" y="0"/>
                    <a:pt x="11711" y="0"/>
                  </a:cubicBezTo>
                  <a:close/>
                </a:path>
              </a:pathLst>
            </a:custGeom>
            <a:solidFill>
              <a:srgbClr val="535659"/>
            </a:solidFill>
            <a:ln w="19050" cap="sq">
              <a:solidFill>
                <a:srgbClr val="243342"/>
              </a:solidFill>
              <a:prstDash val="solid"/>
              <a:miter/>
            </a:ln>
          </p:spPr>
        </p:sp>
        <p:sp>
          <p:nvSpPr>
            <p:cNvPr name="TextBox 37" id="37"/>
            <p:cNvSpPr txBox="true"/>
            <p:nvPr/>
          </p:nvSpPr>
          <p:spPr>
            <a:xfrm>
              <a:off x="0" y="-38100"/>
              <a:ext cx="2611622" cy="203433"/>
            </a:xfrm>
            <a:prstGeom prst="rect">
              <a:avLst/>
            </a:prstGeom>
          </p:spPr>
          <p:txBody>
            <a:bodyPr anchor="ctr" rtlCol="false" tIns="50800" lIns="50800" bIns="50800" rIns="50800"/>
            <a:lstStyle/>
            <a:p>
              <a:pPr algn="ctr">
                <a:lnSpc>
                  <a:spcPts val="3362"/>
                </a:lnSpc>
              </a:pPr>
            </a:p>
          </p:txBody>
        </p:sp>
      </p:grpSp>
      <p:sp>
        <p:nvSpPr>
          <p:cNvPr name="TextBox 38" id="38"/>
          <p:cNvSpPr txBox="true"/>
          <p:nvPr/>
        </p:nvSpPr>
        <p:spPr>
          <a:xfrm rot="0">
            <a:off x="551143" y="9305925"/>
            <a:ext cx="9994584" cy="444500"/>
          </a:xfrm>
          <a:prstGeom prst="rect">
            <a:avLst/>
          </a:prstGeom>
        </p:spPr>
        <p:txBody>
          <a:bodyPr anchor="t" rtlCol="false" tIns="0" lIns="0" bIns="0" rIns="0">
            <a:spAutoFit/>
          </a:bodyPr>
          <a:lstStyle/>
          <a:p>
            <a:pPr algn="ctr">
              <a:lnSpc>
                <a:spcPts val="2800"/>
              </a:lnSpc>
            </a:pPr>
            <a:r>
              <a:rPr lang="en-US" sz="2000" spc="120">
                <a:solidFill>
                  <a:srgbClr val="FFFFFF"/>
                </a:solidFill>
                <a:latin typeface="Karnchang"/>
                <a:ea typeface="Karnchang"/>
                <a:cs typeface="Karnchang"/>
                <a:sym typeface="Karnchang"/>
              </a:rPr>
              <a:t>Abdul Rozak A |  Politeknik Negeri Bandung | Teknik Telekomuniakasi | 2024</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6EAEF"/>
        </a:solidFill>
      </p:bgPr>
    </p:bg>
    <p:spTree>
      <p:nvGrpSpPr>
        <p:cNvPr id="1" name=""/>
        <p:cNvGrpSpPr/>
        <p:nvPr/>
      </p:nvGrpSpPr>
      <p:grpSpPr>
        <a:xfrm>
          <a:off x="0" y="0"/>
          <a:ext cx="0" cy="0"/>
          <a:chOff x="0" y="0"/>
          <a:chExt cx="0" cy="0"/>
        </a:xfrm>
      </p:grpSpPr>
      <p:grpSp>
        <p:nvGrpSpPr>
          <p:cNvPr name="Group 2" id="2"/>
          <p:cNvGrpSpPr/>
          <p:nvPr/>
        </p:nvGrpSpPr>
        <p:grpSpPr>
          <a:xfrm rot="0">
            <a:off x="787067" y="317552"/>
            <a:ext cx="16713866" cy="9101117"/>
            <a:chOff x="0" y="0"/>
            <a:chExt cx="4402006" cy="2397002"/>
          </a:xfrm>
        </p:grpSpPr>
        <p:sp>
          <p:nvSpPr>
            <p:cNvPr name="Freeform 3" id="3"/>
            <p:cNvSpPr/>
            <p:nvPr/>
          </p:nvSpPr>
          <p:spPr>
            <a:xfrm flipH="false" flipV="false" rot="0">
              <a:off x="0" y="0"/>
              <a:ext cx="4402006" cy="2397002"/>
            </a:xfrm>
            <a:custGeom>
              <a:avLst/>
              <a:gdLst/>
              <a:ahLst/>
              <a:cxnLst/>
              <a:rect r="r" b="b" t="t" l="l"/>
              <a:pathLst>
                <a:path h="2397002" w="4402006">
                  <a:moveTo>
                    <a:pt x="23623" y="0"/>
                  </a:moveTo>
                  <a:lnTo>
                    <a:pt x="4378382" y="0"/>
                  </a:lnTo>
                  <a:cubicBezTo>
                    <a:pt x="4391429" y="0"/>
                    <a:pt x="4402006" y="10577"/>
                    <a:pt x="4402006" y="23623"/>
                  </a:cubicBezTo>
                  <a:lnTo>
                    <a:pt x="4402006" y="2373379"/>
                  </a:lnTo>
                  <a:cubicBezTo>
                    <a:pt x="4402006" y="2379644"/>
                    <a:pt x="4399517" y="2385653"/>
                    <a:pt x="4395087" y="2390083"/>
                  </a:cubicBezTo>
                  <a:cubicBezTo>
                    <a:pt x="4390656" y="2394513"/>
                    <a:pt x="4384647" y="2397002"/>
                    <a:pt x="4378382" y="2397002"/>
                  </a:cubicBezTo>
                  <a:lnTo>
                    <a:pt x="23623" y="2397002"/>
                  </a:lnTo>
                  <a:cubicBezTo>
                    <a:pt x="17358" y="2397002"/>
                    <a:pt x="11349" y="2394513"/>
                    <a:pt x="6919" y="2390083"/>
                  </a:cubicBezTo>
                  <a:cubicBezTo>
                    <a:pt x="2489" y="2385653"/>
                    <a:pt x="0" y="2379644"/>
                    <a:pt x="0" y="2373379"/>
                  </a:cubicBezTo>
                  <a:lnTo>
                    <a:pt x="0" y="23623"/>
                  </a:lnTo>
                  <a:cubicBezTo>
                    <a:pt x="0" y="17358"/>
                    <a:pt x="2489" y="11349"/>
                    <a:pt x="6919" y="6919"/>
                  </a:cubicBezTo>
                  <a:cubicBezTo>
                    <a:pt x="11349" y="2489"/>
                    <a:pt x="17358" y="0"/>
                    <a:pt x="23623" y="0"/>
                  </a:cubicBezTo>
                  <a:close/>
                </a:path>
              </a:pathLst>
            </a:custGeom>
            <a:solidFill>
              <a:srgbClr val="E6EAEF"/>
            </a:solidFill>
            <a:ln w="19050" cap="rnd">
              <a:solidFill>
                <a:srgbClr val="243342"/>
              </a:solidFill>
              <a:prstDash val="solid"/>
              <a:round/>
            </a:ln>
          </p:spPr>
        </p:sp>
        <p:sp>
          <p:nvSpPr>
            <p:cNvPr name="TextBox 4" id="4"/>
            <p:cNvSpPr txBox="true"/>
            <p:nvPr/>
          </p:nvSpPr>
          <p:spPr>
            <a:xfrm>
              <a:off x="0" y="-38100"/>
              <a:ext cx="4402006" cy="2435102"/>
            </a:xfrm>
            <a:prstGeom prst="rect">
              <a:avLst/>
            </a:prstGeom>
          </p:spPr>
          <p:txBody>
            <a:bodyPr anchor="ctr" rtlCol="false" tIns="50800" lIns="50800" bIns="50800" rIns="50800"/>
            <a:lstStyle/>
            <a:p>
              <a:pPr algn="ctr">
                <a:lnSpc>
                  <a:spcPts val="3362"/>
                </a:lnSpc>
              </a:pPr>
            </a:p>
          </p:txBody>
        </p:sp>
      </p:grpSp>
      <p:grpSp>
        <p:nvGrpSpPr>
          <p:cNvPr name="Group 5" id="5"/>
          <p:cNvGrpSpPr/>
          <p:nvPr/>
        </p:nvGrpSpPr>
        <p:grpSpPr>
          <a:xfrm rot="-7538080">
            <a:off x="-7029811" y="-5584933"/>
            <a:ext cx="9808447" cy="9331824"/>
            <a:chOff x="0" y="0"/>
            <a:chExt cx="13077930" cy="12442432"/>
          </a:xfrm>
        </p:grpSpPr>
        <p:grpSp>
          <p:nvGrpSpPr>
            <p:cNvPr name="Group 6" id="6"/>
            <p:cNvGrpSpPr/>
            <p:nvPr/>
          </p:nvGrpSpPr>
          <p:grpSpPr>
            <a:xfrm rot="2252144">
              <a:off x="1498251" y="1484738"/>
              <a:ext cx="7399579" cy="7432687"/>
              <a:chOff x="0" y="0"/>
              <a:chExt cx="2816645" cy="2829248"/>
            </a:xfrm>
          </p:grpSpPr>
          <p:sp>
            <p:nvSpPr>
              <p:cNvPr name="Freeform 7" id="7"/>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243342"/>
              </a:solidFill>
            </p:spPr>
          </p:sp>
          <p:sp>
            <p:nvSpPr>
              <p:cNvPr name="TextBox 8" id="8"/>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2252144">
              <a:off x="2397493" y="3224228"/>
              <a:ext cx="7399579" cy="7432687"/>
              <a:chOff x="0" y="0"/>
              <a:chExt cx="2816645" cy="2829248"/>
            </a:xfrm>
          </p:grpSpPr>
          <p:sp>
            <p:nvSpPr>
              <p:cNvPr name="Freeform 10" id="10"/>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535659"/>
              </a:solidFill>
            </p:spPr>
          </p:sp>
          <p:sp>
            <p:nvSpPr>
              <p:cNvPr name="TextBox 11" id="11"/>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2252144">
              <a:off x="4180100" y="3525007"/>
              <a:ext cx="7399579" cy="7432687"/>
              <a:chOff x="0" y="0"/>
              <a:chExt cx="2816645" cy="2829248"/>
            </a:xfrm>
          </p:grpSpPr>
          <p:sp>
            <p:nvSpPr>
              <p:cNvPr name="Freeform 13" id="13"/>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858789"/>
              </a:solidFill>
            </p:spPr>
          </p:sp>
          <p:sp>
            <p:nvSpPr>
              <p:cNvPr name="TextBox 14" id="14"/>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grpSp>
        <p:nvGrpSpPr>
          <p:cNvPr name="Group 15" id="15"/>
          <p:cNvGrpSpPr/>
          <p:nvPr/>
        </p:nvGrpSpPr>
        <p:grpSpPr>
          <a:xfrm rot="2124477">
            <a:off x="15979122" y="5429903"/>
            <a:ext cx="9808447" cy="9331824"/>
            <a:chOff x="0" y="0"/>
            <a:chExt cx="13077930" cy="12442432"/>
          </a:xfrm>
        </p:grpSpPr>
        <p:grpSp>
          <p:nvGrpSpPr>
            <p:cNvPr name="Group 16" id="16"/>
            <p:cNvGrpSpPr/>
            <p:nvPr/>
          </p:nvGrpSpPr>
          <p:grpSpPr>
            <a:xfrm rot="2252144">
              <a:off x="1498251" y="1484738"/>
              <a:ext cx="7399579" cy="7432687"/>
              <a:chOff x="0" y="0"/>
              <a:chExt cx="2816645" cy="2829248"/>
            </a:xfrm>
          </p:grpSpPr>
          <p:sp>
            <p:nvSpPr>
              <p:cNvPr name="Freeform 17" id="17"/>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243342"/>
              </a:solidFill>
            </p:spPr>
          </p:sp>
          <p:sp>
            <p:nvSpPr>
              <p:cNvPr name="TextBox 18" id="18"/>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19" id="19"/>
            <p:cNvGrpSpPr/>
            <p:nvPr/>
          </p:nvGrpSpPr>
          <p:grpSpPr>
            <a:xfrm rot="2252144">
              <a:off x="2397493" y="3224228"/>
              <a:ext cx="7399579" cy="7432687"/>
              <a:chOff x="0" y="0"/>
              <a:chExt cx="2816645" cy="2829248"/>
            </a:xfrm>
          </p:grpSpPr>
          <p:sp>
            <p:nvSpPr>
              <p:cNvPr name="Freeform 20" id="20"/>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535659"/>
              </a:solidFill>
            </p:spPr>
          </p:sp>
          <p:sp>
            <p:nvSpPr>
              <p:cNvPr name="TextBox 21" id="21"/>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22" id="22"/>
            <p:cNvGrpSpPr/>
            <p:nvPr/>
          </p:nvGrpSpPr>
          <p:grpSpPr>
            <a:xfrm rot="2252144">
              <a:off x="4180100" y="3525007"/>
              <a:ext cx="7399579" cy="7432687"/>
              <a:chOff x="0" y="0"/>
              <a:chExt cx="2816645" cy="2829248"/>
            </a:xfrm>
          </p:grpSpPr>
          <p:sp>
            <p:nvSpPr>
              <p:cNvPr name="Freeform 23" id="23"/>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858789"/>
              </a:solidFill>
            </p:spPr>
          </p:sp>
          <p:sp>
            <p:nvSpPr>
              <p:cNvPr name="TextBox 24" id="24"/>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grpSp>
        <p:nvGrpSpPr>
          <p:cNvPr name="Group 25" id="25"/>
          <p:cNvGrpSpPr>
            <a:grpSpLocks noChangeAspect="true"/>
          </p:cNvGrpSpPr>
          <p:nvPr/>
        </p:nvGrpSpPr>
        <p:grpSpPr>
          <a:xfrm rot="0">
            <a:off x="1490452" y="3745408"/>
            <a:ext cx="6458391" cy="4848531"/>
            <a:chOff x="0" y="0"/>
            <a:chExt cx="8916670" cy="6694043"/>
          </a:xfrm>
        </p:grpSpPr>
        <p:sp>
          <p:nvSpPr>
            <p:cNvPr name="Freeform 26" id="26"/>
            <p:cNvSpPr/>
            <p:nvPr/>
          </p:nvSpPr>
          <p:spPr>
            <a:xfrm flipH="false" flipV="false" rot="0">
              <a:off x="155575" y="155575"/>
              <a:ext cx="8605520" cy="6382893"/>
            </a:xfrm>
            <a:custGeom>
              <a:avLst/>
              <a:gdLst/>
              <a:ahLst/>
              <a:cxnLst/>
              <a:rect r="r" b="b" t="t" l="l"/>
              <a:pathLst>
                <a:path h="6382893" w="8605520">
                  <a:moveTo>
                    <a:pt x="0" y="0"/>
                  </a:moveTo>
                  <a:lnTo>
                    <a:pt x="8605520" y="0"/>
                  </a:lnTo>
                  <a:lnTo>
                    <a:pt x="8605520" y="6382893"/>
                  </a:lnTo>
                  <a:lnTo>
                    <a:pt x="0" y="6382893"/>
                  </a:lnTo>
                  <a:close/>
                </a:path>
              </a:pathLst>
            </a:custGeom>
            <a:blipFill>
              <a:blip r:embed="rId2"/>
              <a:stretch>
                <a:fillRect l="-20808" t="0" r="-20808" b="0"/>
              </a:stretch>
            </a:blipFill>
          </p:spPr>
        </p:sp>
        <p:sp>
          <p:nvSpPr>
            <p:cNvPr name="Freeform 27" id="27"/>
            <p:cNvSpPr/>
            <p:nvPr/>
          </p:nvSpPr>
          <p:spPr>
            <a:xfrm flipH="false" flipV="false" rot="0">
              <a:off x="6350" y="6350"/>
              <a:ext cx="8903970" cy="6681343"/>
            </a:xfrm>
            <a:custGeom>
              <a:avLst/>
              <a:gdLst/>
              <a:ahLst/>
              <a:cxnLst/>
              <a:rect r="r" b="b" t="t" l="l"/>
              <a:pathLst>
                <a:path h="6681343" w="8903970">
                  <a:moveTo>
                    <a:pt x="8903970" y="6681343"/>
                  </a:moveTo>
                  <a:lnTo>
                    <a:pt x="0" y="6681343"/>
                  </a:lnTo>
                  <a:lnTo>
                    <a:pt x="0" y="0"/>
                  </a:lnTo>
                  <a:lnTo>
                    <a:pt x="8903970" y="0"/>
                  </a:lnTo>
                  <a:lnTo>
                    <a:pt x="8903970" y="6681343"/>
                  </a:lnTo>
                  <a:close/>
                  <a:moveTo>
                    <a:pt x="19050" y="6662293"/>
                  </a:moveTo>
                  <a:lnTo>
                    <a:pt x="8884920" y="6662293"/>
                  </a:lnTo>
                  <a:lnTo>
                    <a:pt x="8884920" y="19050"/>
                  </a:lnTo>
                  <a:lnTo>
                    <a:pt x="19050" y="19050"/>
                  </a:lnTo>
                  <a:lnTo>
                    <a:pt x="19050" y="6662293"/>
                  </a:lnTo>
                  <a:close/>
                  <a:moveTo>
                    <a:pt x="8764270" y="6541643"/>
                  </a:moveTo>
                  <a:lnTo>
                    <a:pt x="139700" y="6541643"/>
                  </a:lnTo>
                  <a:lnTo>
                    <a:pt x="139700" y="139700"/>
                  </a:lnTo>
                  <a:lnTo>
                    <a:pt x="8764270" y="139700"/>
                  </a:lnTo>
                  <a:lnTo>
                    <a:pt x="8764270" y="6541643"/>
                  </a:lnTo>
                  <a:close/>
                  <a:moveTo>
                    <a:pt x="158750" y="6522593"/>
                  </a:moveTo>
                  <a:lnTo>
                    <a:pt x="8745220" y="6522593"/>
                  </a:lnTo>
                  <a:lnTo>
                    <a:pt x="8745220" y="158750"/>
                  </a:lnTo>
                  <a:lnTo>
                    <a:pt x="158750" y="158750"/>
                  </a:lnTo>
                  <a:lnTo>
                    <a:pt x="158750" y="6522593"/>
                  </a:lnTo>
                  <a:close/>
                </a:path>
              </a:pathLst>
            </a:custGeom>
            <a:solidFill>
              <a:srgbClr val="535659"/>
            </a:solidFill>
          </p:spPr>
        </p:sp>
      </p:grpSp>
      <p:sp>
        <p:nvSpPr>
          <p:cNvPr name="TextBox 28" id="28"/>
          <p:cNvSpPr txBox="true"/>
          <p:nvPr/>
        </p:nvSpPr>
        <p:spPr>
          <a:xfrm rot="0">
            <a:off x="1490452" y="819150"/>
            <a:ext cx="6584507" cy="1727199"/>
          </a:xfrm>
          <a:prstGeom prst="rect">
            <a:avLst/>
          </a:prstGeom>
        </p:spPr>
        <p:txBody>
          <a:bodyPr anchor="t" rtlCol="false" tIns="0" lIns="0" bIns="0" rIns="0">
            <a:spAutoFit/>
          </a:bodyPr>
          <a:lstStyle/>
          <a:p>
            <a:pPr algn="ctr">
              <a:lnSpc>
                <a:spcPts val="9199"/>
              </a:lnSpc>
            </a:pPr>
            <a:r>
              <a:rPr lang="en-US" b="true" sz="9999">
                <a:solidFill>
                  <a:srgbClr val="243342"/>
                </a:solidFill>
                <a:latin typeface="Karnchang Bold"/>
                <a:ea typeface="Karnchang Bold"/>
                <a:cs typeface="Karnchang Bold"/>
                <a:sym typeface="Karnchang Bold"/>
              </a:rPr>
              <a:t>BAB II</a:t>
            </a:r>
          </a:p>
        </p:txBody>
      </p:sp>
      <p:grpSp>
        <p:nvGrpSpPr>
          <p:cNvPr name="Group 29" id="29"/>
          <p:cNvGrpSpPr/>
          <p:nvPr/>
        </p:nvGrpSpPr>
        <p:grpSpPr>
          <a:xfrm rot="0">
            <a:off x="8585553" y="1236281"/>
            <a:ext cx="8304195" cy="2509127"/>
            <a:chOff x="0" y="0"/>
            <a:chExt cx="2187113" cy="660840"/>
          </a:xfrm>
        </p:grpSpPr>
        <p:sp>
          <p:nvSpPr>
            <p:cNvPr name="Freeform 30" id="30"/>
            <p:cNvSpPr/>
            <p:nvPr/>
          </p:nvSpPr>
          <p:spPr>
            <a:xfrm flipH="false" flipV="false" rot="0">
              <a:off x="0" y="0"/>
              <a:ext cx="2187113" cy="660840"/>
            </a:xfrm>
            <a:custGeom>
              <a:avLst/>
              <a:gdLst/>
              <a:ahLst/>
              <a:cxnLst/>
              <a:rect r="r" b="b" t="t" l="l"/>
              <a:pathLst>
                <a:path h="660840" w="2187113">
                  <a:moveTo>
                    <a:pt x="47547" y="0"/>
                  </a:moveTo>
                  <a:lnTo>
                    <a:pt x="2139566" y="0"/>
                  </a:lnTo>
                  <a:cubicBezTo>
                    <a:pt x="2152177" y="0"/>
                    <a:pt x="2164270" y="5009"/>
                    <a:pt x="2173187" y="13926"/>
                  </a:cubicBezTo>
                  <a:cubicBezTo>
                    <a:pt x="2182104" y="22843"/>
                    <a:pt x="2187113" y="34937"/>
                    <a:pt x="2187113" y="47547"/>
                  </a:cubicBezTo>
                  <a:lnTo>
                    <a:pt x="2187113" y="613293"/>
                  </a:lnTo>
                  <a:cubicBezTo>
                    <a:pt x="2187113" y="625903"/>
                    <a:pt x="2182104" y="637997"/>
                    <a:pt x="2173187" y="646914"/>
                  </a:cubicBezTo>
                  <a:cubicBezTo>
                    <a:pt x="2164270" y="655831"/>
                    <a:pt x="2152177" y="660840"/>
                    <a:pt x="2139566" y="660840"/>
                  </a:cubicBezTo>
                  <a:lnTo>
                    <a:pt x="47547" y="660840"/>
                  </a:lnTo>
                  <a:cubicBezTo>
                    <a:pt x="34937" y="660840"/>
                    <a:pt x="22843" y="655831"/>
                    <a:pt x="13926" y="646914"/>
                  </a:cubicBezTo>
                  <a:cubicBezTo>
                    <a:pt x="5009" y="637997"/>
                    <a:pt x="0" y="625903"/>
                    <a:pt x="0" y="613293"/>
                  </a:cubicBezTo>
                  <a:lnTo>
                    <a:pt x="0" y="47547"/>
                  </a:lnTo>
                  <a:cubicBezTo>
                    <a:pt x="0" y="34937"/>
                    <a:pt x="5009" y="22843"/>
                    <a:pt x="13926" y="13926"/>
                  </a:cubicBezTo>
                  <a:cubicBezTo>
                    <a:pt x="22843" y="5009"/>
                    <a:pt x="34937" y="0"/>
                    <a:pt x="47547" y="0"/>
                  </a:cubicBezTo>
                  <a:close/>
                </a:path>
              </a:pathLst>
            </a:custGeom>
            <a:solidFill>
              <a:srgbClr val="858789">
                <a:alpha val="40000"/>
              </a:srgbClr>
            </a:solidFill>
            <a:ln w="19050" cap="rnd">
              <a:solidFill>
                <a:srgbClr val="243342">
                  <a:alpha val="40000"/>
                </a:srgbClr>
              </a:solidFill>
              <a:prstDash val="solid"/>
              <a:round/>
            </a:ln>
          </p:spPr>
        </p:sp>
        <p:sp>
          <p:nvSpPr>
            <p:cNvPr name="TextBox 31" id="31"/>
            <p:cNvSpPr txBox="true"/>
            <p:nvPr/>
          </p:nvSpPr>
          <p:spPr>
            <a:xfrm>
              <a:off x="0" y="-38100"/>
              <a:ext cx="2187113" cy="698940"/>
            </a:xfrm>
            <a:prstGeom prst="rect">
              <a:avLst/>
            </a:prstGeom>
          </p:spPr>
          <p:txBody>
            <a:bodyPr anchor="ctr" rtlCol="false" tIns="50800" lIns="50800" bIns="50800" rIns="50800"/>
            <a:lstStyle/>
            <a:p>
              <a:pPr algn="ctr">
                <a:lnSpc>
                  <a:spcPts val="3362"/>
                </a:lnSpc>
              </a:pPr>
            </a:p>
          </p:txBody>
        </p:sp>
      </p:grpSp>
      <p:sp>
        <p:nvSpPr>
          <p:cNvPr name="TextBox 32" id="32"/>
          <p:cNvSpPr txBox="true"/>
          <p:nvPr/>
        </p:nvSpPr>
        <p:spPr>
          <a:xfrm rot="0">
            <a:off x="8759558" y="1214840"/>
            <a:ext cx="7956185" cy="2391410"/>
          </a:xfrm>
          <a:prstGeom prst="rect">
            <a:avLst/>
          </a:prstGeom>
        </p:spPr>
        <p:txBody>
          <a:bodyPr anchor="t" rtlCol="false" tIns="0" lIns="0" bIns="0" rIns="0">
            <a:spAutoFit/>
          </a:bodyPr>
          <a:lstStyle/>
          <a:p>
            <a:pPr algn="just">
              <a:lnSpc>
                <a:spcPts val="3640"/>
              </a:lnSpc>
            </a:pPr>
            <a:r>
              <a:rPr lang="en-US" sz="2600">
                <a:solidFill>
                  <a:srgbClr val="000000"/>
                </a:solidFill>
                <a:latin typeface="Karnchang"/>
                <a:ea typeface="Karnchang"/>
                <a:cs typeface="Karnchang"/>
                <a:sym typeface="Karnchang"/>
              </a:rPr>
              <a:t>Radar gelombang meter memiliki beberapa keunggulan dalam mendeteksi target siluman dan anti-ARM dll [5]. Namun, radar gelombang meter tradisional mengalami kesulitan dalam memenuhi persyaratan peperangan modern.</a:t>
            </a:r>
          </a:p>
        </p:txBody>
      </p:sp>
      <p:sp>
        <p:nvSpPr>
          <p:cNvPr name="TextBox 33" id="33"/>
          <p:cNvSpPr txBox="true"/>
          <p:nvPr/>
        </p:nvSpPr>
        <p:spPr>
          <a:xfrm rot="0">
            <a:off x="319161" y="2285344"/>
            <a:ext cx="8409475" cy="1563625"/>
          </a:xfrm>
          <a:prstGeom prst="rect">
            <a:avLst/>
          </a:prstGeom>
        </p:spPr>
        <p:txBody>
          <a:bodyPr anchor="t" rtlCol="false" tIns="0" lIns="0" bIns="0" rIns="0">
            <a:spAutoFit/>
          </a:bodyPr>
          <a:lstStyle/>
          <a:p>
            <a:pPr algn="ctr">
              <a:lnSpc>
                <a:spcPts val="4968"/>
              </a:lnSpc>
            </a:pPr>
            <a:r>
              <a:rPr lang="en-US" sz="5400" b="true">
                <a:solidFill>
                  <a:srgbClr val="000000"/>
                </a:solidFill>
                <a:latin typeface="Karnchang Bold"/>
                <a:ea typeface="Karnchang Bold"/>
                <a:cs typeface="Karnchang Bold"/>
                <a:sym typeface="Karnchang Bold"/>
              </a:rPr>
              <a:t>METER WAVE SPARSE ARRAY SIAR</a:t>
            </a:r>
          </a:p>
        </p:txBody>
      </p:sp>
      <p:sp>
        <p:nvSpPr>
          <p:cNvPr name="TextBox 34" id="34"/>
          <p:cNvSpPr txBox="true"/>
          <p:nvPr/>
        </p:nvSpPr>
        <p:spPr>
          <a:xfrm rot="0">
            <a:off x="8759558" y="3677519"/>
            <a:ext cx="7956185" cy="5134610"/>
          </a:xfrm>
          <a:prstGeom prst="rect">
            <a:avLst/>
          </a:prstGeom>
        </p:spPr>
        <p:txBody>
          <a:bodyPr anchor="t" rtlCol="false" tIns="0" lIns="0" bIns="0" rIns="0">
            <a:spAutoFit/>
          </a:bodyPr>
          <a:lstStyle/>
          <a:p>
            <a:pPr algn="just">
              <a:lnSpc>
                <a:spcPts val="3640"/>
              </a:lnSpc>
            </a:pPr>
            <a:r>
              <a:rPr lang="en-US" sz="2600">
                <a:solidFill>
                  <a:srgbClr val="000000"/>
                </a:solidFill>
                <a:latin typeface="Karnchang"/>
                <a:ea typeface="Karnchang"/>
                <a:cs typeface="Karnchang"/>
                <a:sym typeface="Karnchang"/>
              </a:rPr>
              <a:t>radar gelombang meter tradisional mengalami kesulitan dalam memenuhi persyaratan peperangan modern karena pancarannya yang lebar, akurasi lokasi yang rendah, dan terutama ketidakmampuannya untuk melacak dan membedakan target yang berjarak dekat. Synthetic Impulse and Aperture Radar (SIAR) diusulkan oleh ONERA [6-8] pada tahun 1970an untuk meningkatkan kinerja radar gelombang meter. Itu adalah sistem radar multifungsi (pengawasan dan pelacakan) empat dimensi (jarak, azimuth, kecepatan, dan ketinggian) yang sepenuhnya baru.</a:t>
            </a:r>
          </a:p>
        </p:txBody>
      </p:sp>
      <p:grpSp>
        <p:nvGrpSpPr>
          <p:cNvPr name="Group 35" id="35"/>
          <p:cNvGrpSpPr/>
          <p:nvPr/>
        </p:nvGrpSpPr>
        <p:grpSpPr>
          <a:xfrm rot="0">
            <a:off x="15665503" y="317552"/>
            <a:ext cx="2042119" cy="650325"/>
            <a:chOff x="0" y="0"/>
            <a:chExt cx="537842" cy="171279"/>
          </a:xfrm>
        </p:grpSpPr>
        <p:sp>
          <p:nvSpPr>
            <p:cNvPr name="Freeform 36" id="36"/>
            <p:cNvSpPr/>
            <p:nvPr/>
          </p:nvSpPr>
          <p:spPr>
            <a:xfrm flipH="false" flipV="false" rot="0">
              <a:off x="0" y="0"/>
              <a:ext cx="537842" cy="171279"/>
            </a:xfrm>
            <a:custGeom>
              <a:avLst/>
              <a:gdLst/>
              <a:ahLst/>
              <a:cxnLst/>
              <a:rect r="r" b="b" t="t" l="l"/>
              <a:pathLst>
                <a:path h="171279" w="537842">
                  <a:moveTo>
                    <a:pt x="53076" y="0"/>
                  </a:moveTo>
                  <a:lnTo>
                    <a:pt x="484766" y="0"/>
                  </a:lnTo>
                  <a:cubicBezTo>
                    <a:pt x="514079" y="0"/>
                    <a:pt x="537842" y="23763"/>
                    <a:pt x="537842" y="53076"/>
                  </a:cubicBezTo>
                  <a:lnTo>
                    <a:pt x="537842" y="118203"/>
                  </a:lnTo>
                  <a:cubicBezTo>
                    <a:pt x="537842" y="132280"/>
                    <a:pt x="532250" y="145780"/>
                    <a:pt x="522296" y="155734"/>
                  </a:cubicBezTo>
                  <a:cubicBezTo>
                    <a:pt x="512343" y="165687"/>
                    <a:pt x="498843" y="171279"/>
                    <a:pt x="484766" y="171279"/>
                  </a:cubicBezTo>
                  <a:lnTo>
                    <a:pt x="53076" y="171279"/>
                  </a:lnTo>
                  <a:cubicBezTo>
                    <a:pt x="38999" y="171279"/>
                    <a:pt x="25499" y="165687"/>
                    <a:pt x="15546" y="155734"/>
                  </a:cubicBezTo>
                  <a:cubicBezTo>
                    <a:pt x="5592" y="145780"/>
                    <a:pt x="0" y="132280"/>
                    <a:pt x="0" y="118203"/>
                  </a:cubicBezTo>
                  <a:lnTo>
                    <a:pt x="0" y="53076"/>
                  </a:lnTo>
                  <a:cubicBezTo>
                    <a:pt x="0" y="38999"/>
                    <a:pt x="5592" y="25499"/>
                    <a:pt x="15546" y="15546"/>
                  </a:cubicBezTo>
                  <a:cubicBezTo>
                    <a:pt x="25499" y="5592"/>
                    <a:pt x="38999" y="0"/>
                    <a:pt x="53076" y="0"/>
                  </a:cubicBezTo>
                  <a:close/>
                </a:path>
              </a:pathLst>
            </a:custGeom>
            <a:solidFill>
              <a:srgbClr val="535659"/>
            </a:solidFill>
            <a:ln w="19050" cap="sq">
              <a:solidFill>
                <a:srgbClr val="243342"/>
              </a:solidFill>
              <a:prstDash val="solid"/>
              <a:miter/>
            </a:ln>
          </p:spPr>
        </p:sp>
        <p:sp>
          <p:nvSpPr>
            <p:cNvPr name="TextBox 37" id="37"/>
            <p:cNvSpPr txBox="true"/>
            <p:nvPr/>
          </p:nvSpPr>
          <p:spPr>
            <a:xfrm>
              <a:off x="0" y="-38100"/>
              <a:ext cx="537842" cy="209379"/>
            </a:xfrm>
            <a:prstGeom prst="rect">
              <a:avLst/>
            </a:prstGeom>
          </p:spPr>
          <p:txBody>
            <a:bodyPr anchor="ctr" rtlCol="false" tIns="50800" lIns="50800" bIns="50800" rIns="50800"/>
            <a:lstStyle/>
            <a:p>
              <a:pPr algn="ctr">
                <a:lnSpc>
                  <a:spcPts val="3362"/>
                </a:lnSpc>
              </a:pPr>
            </a:p>
          </p:txBody>
        </p:sp>
      </p:grpSp>
      <p:sp>
        <p:nvSpPr>
          <p:cNvPr name="TextBox 38" id="38"/>
          <p:cNvSpPr txBox="true"/>
          <p:nvPr/>
        </p:nvSpPr>
        <p:spPr>
          <a:xfrm rot="0">
            <a:off x="15621459" y="349050"/>
            <a:ext cx="2168307" cy="444500"/>
          </a:xfrm>
          <a:prstGeom prst="rect">
            <a:avLst/>
          </a:prstGeom>
        </p:spPr>
        <p:txBody>
          <a:bodyPr anchor="t" rtlCol="false" tIns="0" lIns="0" bIns="0" rIns="0">
            <a:spAutoFit/>
          </a:bodyPr>
          <a:lstStyle/>
          <a:p>
            <a:pPr algn="ctr">
              <a:lnSpc>
                <a:spcPts val="2800"/>
              </a:lnSpc>
            </a:pPr>
            <a:r>
              <a:rPr lang="en-US" sz="2000" spc="120">
                <a:solidFill>
                  <a:srgbClr val="FFFFFF"/>
                </a:solidFill>
                <a:latin typeface="Karnchang"/>
                <a:ea typeface="Karnchang"/>
                <a:cs typeface="Karnchang"/>
                <a:sym typeface="Karnchang"/>
              </a:rPr>
              <a:t>Halaman 4</a:t>
            </a:r>
          </a:p>
        </p:txBody>
      </p:sp>
      <p:grpSp>
        <p:nvGrpSpPr>
          <p:cNvPr name="Group 39" id="39"/>
          <p:cNvGrpSpPr/>
          <p:nvPr/>
        </p:nvGrpSpPr>
        <p:grpSpPr>
          <a:xfrm rot="0">
            <a:off x="629723" y="9258300"/>
            <a:ext cx="6961669" cy="627749"/>
            <a:chOff x="0" y="0"/>
            <a:chExt cx="1833526" cy="165333"/>
          </a:xfrm>
        </p:grpSpPr>
        <p:sp>
          <p:nvSpPr>
            <p:cNvPr name="Freeform 40" id="40"/>
            <p:cNvSpPr/>
            <p:nvPr/>
          </p:nvSpPr>
          <p:spPr>
            <a:xfrm flipH="false" flipV="false" rot="0">
              <a:off x="0" y="0"/>
              <a:ext cx="1833526" cy="165333"/>
            </a:xfrm>
            <a:custGeom>
              <a:avLst/>
              <a:gdLst/>
              <a:ahLst/>
              <a:cxnLst/>
              <a:rect r="r" b="b" t="t" l="l"/>
              <a:pathLst>
                <a:path h="165333" w="1833526">
                  <a:moveTo>
                    <a:pt x="16681" y="0"/>
                  </a:moveTo>
                  <a:lnTo>
                    <a:pt x="1816845" y="0"/>
                  </a:lnTo>
                  <a:cubicBezTo>
                    <a:pt x="1821269" y="0"/>
                    <a:pt x="1825512" y="1757"/>
                    <a:pt x="1828640" y="4886"/>
                  </a:cubicBezTo>
                  <a:cubicBezTo>
                    <a:pt x="1831769" y="8014"/>
                    <a:pt x="1833526" y="12257"/>
                    <a:pt x="1833526" y="16681"/>
                  </a:cubicBezTo>
                  <a:lnTo>
                    <a:pt x="1833526" y="148652"/>
                  </a:lnTo>
                  <a:cubicBezTo>
                    <a:pt x="1833526" y="157865"/>
                    <a:pt x="1826058" y="165333"/>
                    <a:pt x="1816845" y="165333"/>
                  </a:cubicBezTo>
                  <a:lnTo>
                    <a:pt x="16681" y="165333"/>
                  </a:lnTo>
                  <a:cubicBezTo>
                    <a:pt x="7468" y="165333"/>
                    <a:pt x="0" y="157865"/>
                    <a:pt x="0" y="148652"/>
                  </a:cubicBezTo>
                  <a:lnTo>
                    <a:pt x="0" y="16681"/>
                  </a:lnTo>
                  <a:cubicBezTo>
                    <a:pt x="0" y="7468"/>
                    <a:pt x="7468" y="0"/>
                    <a:pt x="16681" y="0"/>
                  </a:cubicBezTo>
                  <a:close/>
                </a:path>
              </a:pathLst>
            </a:custGeom>
            <a:solidFill>
              <a:srgbClr val="535659"/>
            </a:solidFill>
            <a:ln w="19050" cap="sq">
              <a:solidFill>
                <a:srgbClr val="243342"/>
              </a:solidFill>
              <a:prstDash val="solid"/>
              <a:miter/>
            </a:ln>
          </p:spPr>
        </p:sp>
        <p:sp>
          <p:nvSpPr>
            <p:cNvPr name="TextBox 41" id="41"/>
            <p:cNvSpPr txBox="true"/>
            <p:nvPr/>
          </p:nvSpPr>
          <p:spPr>
            <a:xfrm>
              <a:off x="0" y="-38100"/>
              <a:ext cx="1833526" cy="203433"/>
            </a:xfrm>
            <a:prstGeom prst="rect">
              <a:avLst/>
            </a:prstGeom>
          </p:spPr>
          <p:txBody>
            <a:bodyPr anchor="ctr" rtlCol="false" tIns="50800" lIns="50800" bIns="50800" rIns="50800"/>
            <a:lstStyle/>
            <a:p>
              <a:pPr algn="ctr">
                <a:lnSpc>
                  <a:spcPts val="3362"/>
                </a:lnSpc>
              </a:pPr>
            </a:p>
          </p:txBody>
        </p:sp>
      </p:grpSp>
      <p:sp>
        <p:nvSpPr>
          <p:cNvPr name="TextBox 42" id="42"/>
          <p:cNvSpPr txBox="true"/>
          <p:nvPr/>
        </p:nvSpPr>
        <p:spPr>
          <a:xfrm rot="0">
            <a:off x="551143" y="9305925"/>
            <a:ext cx="7118830" cy="444454"/>
          </a:xfrm>
          <a:prstGeom prst="rect">
            <a:avLst/>
          </a:prstGeom>
        </p:spPr>
        <p:txBody>
          <a:bodyPr anchor="t" rtlCol="false" tIns="0" lIns="0" bIns="0" rIns="0">
            <a:spAutoFit/>
          </a:bodyPr>
          <a:lstStyle/>
          <a:p>
            <a:pPr algn="ctr">
              <a:lnSpc>
                <a:spcPts val="2800"/>
              </a:lnSpc>
            </a:pPr>
            <a:r>
              <a:rPr lang="en-US" sz="2000" spc="120">
                <a:solidFill>
                  <a:srgbClr val="FFFFFF"/>
                </a:solidFill>
                <a:latin typeface="Karnchang"/>
                <a:ea typeface="Karnchang"/>
                <a:cs typeface="Karnchang"/>
                <a:sym typeface="Karnchang"/>
              </a:rPr>
              <a:t>Murad Naser |  Universitas Fauget | Ekonomi | 2025</a:t>
            </a:r>
          </a:p>
        </p:txBody>
      </p:sp>
      <p:grpSp>
        <p:nvGrpSpPr>
          <p:cNvPr name="Group 43" id="43"/>
          <p:cNvGrpSpPr/>
          <p:nvPr/>
        </p:nvGrpSpPr>
        <p:grpSpPr>
          <a:xfrm rot="0">
            <a:off x="629723" y="9258300"/>
            <a:ext cx="9916004" cy="627749"/>
            <a:chOff x="0" y="0"/>
            <a:chExt cx="2611622" cy="165333"/>
          </a:xfrm>
        </p:grpSpPr>
        <p:sp>
          <p:nvSpPr>
            <p:cNvPr name="Freeform 44" id="44"/>
            <p:cNvSpPr/>
            <p:nvPr/>
          </p:nvSpPr>
          <p:spPr>
            <a:xfrm flipH="false" flipV="false" rot="0">
              <a:off x="0" y="0"/>
              <a:ext cx="2611622" cy="165333"/>
            </a:xfrm>
            <a:custGeom>
              <a:avLst/>
              <a:gdLst/>
              <a:ahLst/>
              <a:cxnLst/>
              <a:rect r="r" b="b" t="t" l="l"/>
              <a:pathLst>
                <a:path h="165333" w="2611622">
                  <a:moveTo>
                    <a:pt x="11711" y="0"/>
                  </a:moveTo>
                  <a:lnTo>
                    <a:pt x="2599911" y="0"/>
                  </a:lnTo>
                  <a:cubicBezTo>
                    <a:pt x="2606379" y="0"/>
                    <a:pt x="2611622" y="5243"/>
                    <a:pt x="2611622" y="11711"/>
                  </a:cubicBezTo>
                  <a:lnTo>
                    <a:pt x="2611622" y="153622"/>
                  </a:lnTo>
                  <a:cubicBezTo>
                    <a:pt x="2611622" y="156728"/>
                    <a:pt x="2610389" y="159707"/>
                    <a:pt x="2608192" y="161903"/>
                  </a:cubicBezTo>
                  <a:cubicBezTo>
                    <a:pt x="2605996" y="164099"/>
                    <a:pt x="2603017" y="165333"/>
                    <a:pt x="2599911" y="165333"/>
                  </a:cubicBezTo>
                  <a:lnTo>
                    <a:pt x="11711" y="165333"/>
                  </a:lnTo>
                  <a:cubicBezTo>
                    <a:pt x="8605" y="165333"/>
                    <a:pt x="5626" y="164099"/>
                    <a:pt x="3430" y="161903"/>
                  </a:cubicBezTo>
                  <a:cubicBezTo>
                    <a:pt x="1234" y="159707"/>
                    <a:pt x="0" y="156728"/>
                    <a:pt x="0" y="153622"/>
                  </a:cubicBezTo>
                  <a:lnTo>
                    <a:pt x="0" y="11711"/>
                  </a:lnTo>
                  <a:cubicBezTo>
                    <a:pt x="0" y="8605"/>
                    <a:pt x="1234" y="5626"/>
                    <a:pt x="3430" y="3430"/>
                  </a:cubicBezTo>
                  <a:cubicBezTo>
                    <a:pt x="5626" y="1234"/>
                    <a:pt x="8605" y="0"/>
                    <a:pt x="11711" y="0"/>
                  </a:cubicBezTo>
                  <a:close/>
                </a:path>
              </a:pathLst>
            </a:custGeom>
            <a:solidFill>
              <a:srgbClr val="535659"/>
            </a:solidFill>
            <a:ln w="19050" cap="sq">
              <a:solidFill>
                <a:srgbClr val="243342"/>
              </a:solidFill>
              <a:prstDash val="solid"/>
              <a:miter/>
            </a:ln>
          </p:spPr>
        </p:sp>
        <p:sp>
          <p:nvSpPr>
            <p:cNvPr name="TextBox 45" id="45"/>
            <p:cNvSpPr txBox="true"/>
            <p:nvPr/>
          </p:nvSpPr>
          <p:spPr>
            <a:xfrm>
              <a:off x="0" y="-38100"/>
              <a:ext cx="2611622" cy="203433"/>
            </a:xfrm>
            <a:prstGeom prst="rect">
              <a:avLst/>
            </a:prstGeom>
          </p:spPr>
          <p:txBody>
            <a:bodyPr anchor="ctr" rtlCol="false" tIns="50800" lIns="50800" bIns="50800" rIns="50800"/>
            <a:lstStyle/>
            <a:p>
              <a:pPr algn="ctr">
                <a:lnSpc>
                  <a:spcPts val="3362"/>
                </a:lnSpc>
              </a:pPr>
            </a:p>
          </p:txBody>
        </p:sp>
      </p:grpSp>
      <p:sp>
        <p:nvSpPr>
          <p:cNvPr name="TextBox 46" id="46"/>
          <p:cNvSpPr txBox="true"/>
          <p:nvPr/>
        </p:nvSpPr>
        <p:spPr>
          <a:xfrm rot="0">
            <a:off x="551143" y="9305925"/>
            <a:ext cx="9994584" cy="444500"/>
          </a:xfrm>
          <a:prstGeom prst="rect">
            <a:avLst/>
          </a:prstGeom>
        </p:spPr>
        <p:txBody>
          <a:bodyPr anchor="t" rtlCol="false" tIns="0" lIns="0" bIns="0" rIns="0">
            <a:spAutoFit/>
          </a:bodyPr>
          <a:lstStyle/>
          <a:p>
            <a:pPr algn="ctr">
              <a:lnSpc>
                <a:spcPts val="2800"/>
              </a:lnSpc>
            </a:pPr>
            <a:r>
              <a:rPr lang="en-US" sz="2000" spc="120">
                <a:solidFill>
                  <a:srgbClr val="FFFFFF"/>
                </a:solidFill>
                <a:latin typeface="Karnchang"/>
                <a:ea typeface="Karnchang"/>
                <a:cs typeface="Karnchang"/>
                <a:sym typeface="Karnchang"/>
              </a:rPr>
              <a:t>Abdul Rozak A |  Politeknik Negeri Bandung | Teknik Telekomuniakasi | 2024</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E6EAEF"/>
        </a:solidFill>
      </p:bgPr>
    </p:bg>
    <p:spTree>
      <p:nvGrpSpPr>
        <p:cNvPr id="1" name=""/>
        <p:cNvGrpSpPr/>
        <p:nvPr/>
      </p:nvGrpSpPr>
      <p:grpSpPr>
        <a:xfrm>
          <a:off x="0" y="0"/>
          <a:ext cx="0" cy="0"/>
          <a:chOff x="0" y="0"/>
          <a:chExt cx="0" cy="0"/>
        </a:xfrm>
      </p:grpSpPr>
      <p:grpSp>
        <p:nvGrpSpPr>
          <p:cNvPr name="Group 2" id="2"/>
          <p:cNvGrpSpPr/>
          <p:nvPr/>
        </p:nvGrpSpPr>
        <p:grpSpPr>
          <a:xfrm rot="0">
            <a:off x="787067" y="592941"/>
            <a:ext cx="16713866" cy="9101117"/>
            <a:chOff x="0" y="0"/>
            <a:chExt cx="4402006" cy="2397002"/>
          </a:xfrm>
        </p:grpSpPr>
        <p:sp>
          <p:nvSpPr>
            <p:cNvPr name="Freeform 3" id="3"/>
            <p:cNvSpPr/>
            <p:nvPr/>
          </p:nvSpPr>
          <p:spPr>
            <a:xfrm flipH="false" flipV="false" rot="0">
              <a:off x="0" y="0"/>
              <a:ext cx="4402006" cy="2397002"/>
            </a:xfrm>
            <a:custGeom>
              <a:avLst/>
              <a:gdLst/>
              <a:ahLst/>
              <a:cxnLst/>
              <a:rect r="r" b="b" t="t" l="l"/>
              <a:pathLst>
                <a:path h="2397002" w="4402006">
                  <a:moveTo>
                    <a:pt x="23623" y="0"/>
                  </a:moveTo>
                  <a:lnTo>
                    <a:pt x="4378382" y="0"/>
                  </a:lnTo>
                  <a:cubicBezTo>
                    <a:pt x="4391429" y="0"/>
                    <a:pt x="4402006" y="10577"/>
                    <a:pt x="4402006" y="23623"/>
                  </a:cubicBezTo>
                  <a:lnTo>
                    <a:pt x="4402006" y="2373379"/>
                  </a:lnTo>
                  <a:cubicBezTo>
                    <a:pt x="4402006" y="2379644"/>
                    <a:pt x="4399517" y="2385653"/>
                    <a:pt x="4395087" y="2390083"/>
                  </a:cubicBezTo>
                  <a:cubicBezTo>
                    <a:pt x="4390656" y="2394513"/>
                    <a:pt x="4384647" y="2397002"/>
                    <a:pt x="4378382" y="2397002"/>
                  </a:cubicBezTo>
                  <a:lnTo>
                    <a:pt x="23623" y="2397002"/>
                  </a:lnTo>
                  <a:cubicBezTo>
                    <a:pt x="17358" y="2397002"/>
                    <a:pt x="11349" y="2394513"/>
                    <a:pt x="6919" y="2390083"/>
                  </a:cubicBezTo>
                  <a:cubicBezTo>
                    <a:pt x="2489" y="2385653"/>
                    <a:pt x="0" y="2379644"/>
                    <a:pt x="0" y="2373379"/>
                  </a:cubicBezTo>
                  <a:lnTo>
                    <a:pt x="0" y="23623"/>
                  </a:lnTo>
                  <a:cubicBezTo>
                    <a:pt x="0" y="17358"/>
                    <a:pt x="2489" y="11349"/>
                    <a:pt x="6919" y="6919"/>
                  </a:cubicBezTo>
                  <a:cubicBezTo>
                    <a:pt x="11349" y="2489"/>
                    <a:pt x="17358" y="0"/>
                    <a:pt x="23623" y="0"/>
                  </a:cubicBezTo>
                  <a:close/>
                </a:path>
              </a:pathLst>
            </a:custGeom>
            <a:solidFill>
              <a:srgbClr val="E6EAEF"/>
            </a:solidFill>
            <a:ln w="19050" cap="rnd">
              <a:solidFill>
                <a:srgbClr val="243342"/>
              </a:solidFill>
              <a:prstDash val="solid"/>
              <a:round/>
            </a:ln>
          </p:spPr>
        </p:sp>
        <p:sp>
          <p:nvSpPr>
            <p:cNvPr name="TextBox 4" id="4"/>
            <p:cNvSpPr txBox="true"/>
            <p:nvPr/>
          </p:nvSpPr>
          <p:spPr>
            <a:xfrm>
              <a:off x="0" y="-38100"/>
              <a:ext cx="4402006" cy="2435102"/>
            </a:xfrm>
            <a:prstGeom prst="rect">
              <a:avLst/>
            </a:prstGeom>
          </p:spPr>
          <p:txBody>
            <a:bodyPr anchor="ctr" rtlCol="false" tIns="50800" lIns="50800" bIns="50800" rIns="50800"/>
            <a:lstStyle/>
            <a:p>
              <a:pPr algn="ctr">
                <a:lnSpc>
                  <a:spcPts val="3362"/>
                </a:lnSpc>
              </a:pPr>
            </a:p>
          </p:txBody>
        </p:sp>
      </p:grpSp>
      <p:grpSp>
        <p:nvGrpSpPr>
          <p:cNvPr name="Group 5" id="5"/>
          <p:cNvGrpSpPr/>
          <p:nvPr/>
        </p:nvGrpSpPr>
        <p:grpSpPr>
          <a:xfrm rot="-7538080">
            <a:off x="-7029811" y="-5584933"/>
            <a:ext cx="9808447" cy="9331824"/>
            <a:chOff x="0" y="0"/>
            <a:chExt cx="13077930" cy="12442432"/>
          </a:xfrm>
        </p:grpSpPr>
        <p:grpSp>
          <p:nvGrpSpPr>
            <p:cNvPr name="Group 6" id="6"/>
            <p:cNvGrpSpPr/>
            <p:nvPr/>
          </p:nvGrpSpPr>
          <p:grpSpPr>
            <a:xfrm rot="2252144">
              <a:off x="1498251" y="1484738"/>
              <a:ext cx="7399579" cy="7432687"/>
              <a:chOff x="0" y="0"/>
              <a:chExt cx="2816645" cy="2829248"/>
            </a:xfrm>
          </p:grpSpPr>
          <p:sp>
            <p:nvSpPr>
              <p:cNvPr name="Freeform 7" id="7"/>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243342"/>
              </a:solidFill>
            </p:spPr>
          </p:sp>
          <p:sp>
            <p:nvSpPr>
              <p:cNvPr name="TextBox 8" id="8"/>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2252144">
              <a:off x="2397493" y="3224228"/>
              <a:ext cx="7399579" cy="7432687"/>
              <a:chOff x="0" y="0"/>
              <a:chExt cx="2816645" cy="2829248"/>
            </a:xfrm>
          </p:grpSpPr>
          <p:sp>
            <p:nvSpPr>
              <p:cNvPr name="Freeform 10" id="10"/>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535659"/>
              </a:solidFill>
            </p:spPr>
          </p:sp>
          <p:sp>
            <p:nvSpPr>
              <p:cNvPr name="TextBox 11" id="11"/>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2252144">
              <a:off x="4180100" y="3525007"/>
              <a:ext cx="7399579" cy="7432687"/>
              <a:chOff x="0" y="0"/>
              <a:chExt cx="2816645" cy="2829248"/>
            </a:xfrm>
          </p:grpSpPr>
          <p:sp>
            <p:nvSpPr>
              <p:cNvPr name="Freeform 13" id="13"/>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858789"/>
              </a:solidFill>
            </p:spPr>
          </p:sp>
          <p:sp>
            <p:nvSpPr>
              <p:cNvPr name="TextBox 14" id="14"/>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grpSp>
        <p:nvGrpSpPr>
          <p:cNvPr name="Group 15" id="15"/>
          <p:cNvGrpSpPr/>
          <p:nvPr/>
        </p:nvGrpSpPr>
        <p:grpSpPr>
          <a:xfrm rot="2124477">
            <a:off x="15979122" y="5429903"/>
            <a:ext cx="9808447" cy="9331824"/>
            <a:chOff x="0" y="0"/>
            <a:chExt cx="13077930" cy="12442432"/>
          </a:xfrm>
        </p:grpSpPr>
        <p:grpSp>
          <p:nvGrpSpPr>
            <p:cNvPr name="Group 16" id="16"/>
            <p:cNvGrpSpPr/>
            <p:nvPr/>
          </p:nvGrpSpPr>
          <p:grpSpPr>
            <a:xfrm rot="2252144">
              <a:off x="1498251" y="1484738"/>
              <a:ext cx="7399579" cy="7432687"/>
              <a:chOff x="0" y="0"/>
              <a:chExt cx="2816645" cy="2829248"/>
            </a:xfrm>
          </p:grpSpPr>
          <p:sp>
            <p:nvSpPr>
              <p:cNvPr name="Freeform 17" id="17"/>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243342"/>
              </a:solidFill>
            </p:spPr>
          </p:sp>
          <p:sp>
            <p:nvSpPr>
              <p:cNvPr name="TextBox 18" id="18"/>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19" id="19"/>
            <p:cNvGrpSpPr/>
            <p:nvPr/>
          </p:nvGrpSpPr>
          <p:grpSpPr>
            <a:xfrm rot="2252144">
              <a:off x="2397493" y="3224228"/>
              <a:ext cx="7399579" cy="7432687"/>
              <a:chOff x="0" y="0"/>
              <a:chExt cx="2816645" cy="2829248"/>
            </a:xfrm>
          </p:grpSpPr>
          <p:sp>
            <p:nvSpPr>
              <p:cNvPr name="Freeform 20" id="20"/>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535659"/>
              </a:solidFill>
            </p:spPr>
          </p:sp>
          <p:sp>
            <p:nvSpPr>
              <p:cNvPr name="TextBox 21" id="21"/>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22" id="22"/>
            <p:cNvGrpSpPr/>
            <p:nvPr/>
          </p:nvGrpSpPr>
          <p:grpSpPr>
            <a:xfrm rot="2252144">
              <a:off x="4180100" y="3525007"/>
              <a:ext cx="7399579" cy="7432687"/>
              <a:chOff x="0" y="0"/>
              <a:chExt cx="2816645" cy="2829248"/>
            </a:xfrm>
          </p:grpSpPr>
          <p:sp>
            <p:nvSpPr>
              <p:cNvPr name="Freeform 23" id="23"/>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858789"/>
              </a:solidFill>
            </p:spPr>
          </p:sp>
          <p:sp>
            <p:nvSpPr>
              <p:cNvPr name="TextBox 24" id="24"/>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sp>
        <p:nvSpPr>
          <p:cNvPr name="TextBox 25" id="25"/>
          <p:cNvSpPr txBox="true"/>
          <p:nvPr/>
        </p:nvSpPr>
        <p:spPr>
          <a:xfrm rot="0">
            <a:off x="4293776" y="1164537"/>
            <a:ext cx="9700448" cy="1107440"/>
          </a:xfrm>
          <a:prstGeom prst="rect">
            <a:avLst/>
          </a:prstGeom>
        </p:spPr>
        <p:txBody>
          <a:bodyPr anchor="t" rtlCol="false" tIns="0" lIns="0" bIns="0" rIns="0">
            <a:spAutoFit/>
          </a:bodyPr>
          <a:lstStyle/>
          <a:p>
            <a:pPr algn="ctr">
              <a:lnSpc>
                <a:spcPts val="5980"/>
              </a:lnSpc>
            </a:pPr>
            <a:r>
              <a:rPr lang="en-US" sz="6500" b="true">
                <a:solidFill>
                  <a:srgbClr val="243342"/>
                </a:solidFill>
                <a:latin typeface="Karnchang Bold"/>
                <a:ea typeface="Karnchang Bold"/>
                <a:cs typeface="Karnchang Bold"/>
                <a:sym typeface="Karnchang Bold"/>
              </a:rPr>
              <a:t>Fitur-fitur SIAR</a:t>
            </a:r>
          </a:p>
        </p:txBody>
      </p:sp>
      <p:sp>
        <p:nvSpPr>
          <p:cNvPr name="TextBox 26" id="26"/>
          <p:cNvSpPr txBox="true"/>
          <p:nvPr/>
        </p:nvSpPr>
        <p:spPr>
          <a:xfrm rot="0">
            <a:off x="1960029" y="2698740"/>
            <a:ext cx="14367942" cy="6303645"/>
          </a:xfrm>
          <a:prstGeom prst="rect">
            <a:avLst/>
          </a:prstGeom>
        </p:spPr>
        <p:txBody>
          <a:bodyPr anchor="t" rtlCol="false" tIns="0" lIns="0" bIns="0" rIns="0">
            <a:spAutoFit/>
          </a:bodyPr>
          <a:lstStyle/>
          <a:p>
            <a:pPr algn="just">
              <a:lnSpc>
                <a:spcPts val="3779"/>
              </a:lnSpc>
            </a:pPr>
            <a:r>
              <a:rPr lang="en-US" sz="2700">
                <a:solidFill>
                  <a:srgbClr val="000000"/>
                </a:solidFill>
                <a:latin typeface="Karnchang"/>
                <a:ea typeface="Karnchang"/>
                <a:cs typeface="Karnchang"/>
                <a:sym typeface="Karnchang"/>
              </a:rPr>
              <a:t>SIAR menggunakan beberapa antena untuk mengirimkan sinyal ortogonal dengan frekuensi multi-carrier. Sinyal-sinyal ini memiliki karakteristik unik dalam pemilihan panjang gelombang, jenis antena, pemrosesan Doppler, dan beamforming. Fitur-fiturnya dapat diringkas sebagai berikut</a:t>
            </a:r>
          </a:p>
          <a:p>
            <a:pPr algn="just">
              <a:lnSpc>
                <a:spcPts val="3779"/>
              </a:lnSpc>
            </a:pPr>
          </a:p>
          <a:p>
            <a:pPr algn="just" marL="582930" indent="-291465" lvl="1">
              <a:lnSpc>
                <a:spcPts val="3779"/>
              </a:lnSpc>
              <a:buFont typeface="Arial"/>
              <a:buChar char="•"/>
            </a:pPr>
            <a:r>
              <a:rPr lang="en-US" sz="2700">
                <a:solidFill>
                  <a:srgbClr val="000000"/>
                </a:solidFill>
                <a:latin typeface="Karnchang"/>
                <a:ea typeface="Karnchang"/>
                <a:cs typeface="Karnchang"/>
                <a:sym typeface="Karnchang"/>
              </a:rPr>
              <a:t>SIAR menggunakan pita gelombang meter dan memiliki keunggulan anti-siluman, gangguan tanah yang lemah, daya transmisi tinggi dengan biaya rendah dan anti-ARM dll.</a:t>
            </a:r>
          </a:p>
          <a:p>
            <a:pPr algn="just" marL="582930" indent="-291465" lvl="1">
              <a:lnSpc>
                <a:spcPts val="3779"/>
              </a:lnSpc>
              <a:buFont typeface="Arial"/>
              <a:buChar char="•"/>
            </a:pPr>
            <a:r>
              <a:rPr lang="en-US" sz="2700">
                <a:solidFill>
                  <a:srgbClr val="000000"/>
                </a:solidFill>
                <a:latin typeface="Karnchang"/>
                <a:ea typeface="Karnchang"/>
                <a:cs typeface="Karnchang"/>
                <a:sym typeface="Karnchang"/>
              </a:rPr>
              <a:t>Menggunakan antena susunan melingkar besar yang jarang untuk meningkatkan resolusi sudut radar gelombang meter. Hal ini dapat mengurangi biaya dan kompleksitas implementasi dan juga memenuhi kebutuhan pendeteksian target di segala arah.</a:t>
            </a:r>
          </a:p>
          <a:p>
            <a:pPr algn="just" marL="582930" indent="-291465" lvl="1">
              <a:lnSpc>
                <a:spcPts val="3779"/>
              </a:lnSpc>
              <a:buFont typeface="Arial"/>
              <a:buChar char="•"/>
            </a:pPr>
            <a:r>
              <a:rPr lang="en-US" sz="2700">
                <a:solidFill>
                  <a:srgbClr val="000000"/>
                </a:solidFill>
                <a:latin typeface="Karnchang"/>
                <a:ea typeface="Karnchang"/>
                <a:cs typeface="Karnchang"/>
                <a:sym typeface="Karnchang"/>
              </a:rPr>
              <a:t>Menggunakan bentuk gelombang orthogonal dengan banyak frekuensi dan bertransmisi secara omnidirectional.</a:t>
            </a:r>
          </a:p>
          <a:p>
            <a:pPr algn="just" marL="582930" indent="-291465" lvl="1">
              <a:lnSpc>
                <a:spcPts val="3779"/>
              </a:lnSpc>
              <a:buFont typeface="Arial"/>
              <a:buChar char="•"/>
            </a:pPr>
            <a:r>
              <a:rPr lang="en-US" sz="2700">
                <a:solidFill>
                  <a:srgbClr val="000000"/>
                </a:solidFill>
                <a:latin typeface="Karnchang"/>
                <a:ea typeface="Karnchang"/>
                <a:cs typeface="Karnchang"/>
                <a:sym typeface="Karnchang"/>
              </a:rPr>
              <a:t>Memiliki resolusi doppler yang tinggi.</a:t>
            </a:r>
          </a:p>
        </p:txBody>
      </p:sp>
      <p:grpSp>
        <p:nvGrpSpPr>
          <p:cNvPr name="Group 27" id="27"/>
          <p:cNvGrpSpPr/>
          <p:nvPr/>
        </p:nvGrpSpPr>
        <p:grpSpPr>
          <a:xfrm rot="0">
            <a:off x="15665503" y="317552"/>
            <a:ext cx="2042119" cy="650325"/>
            <a:chOff x="0" y="0"/>
            <a:chExt cx="537842" cy="171279"/>
          </a:xfrm>
        </p:grpSpPr>
        <p:sp>
          <p:nvSpPr>
            <p:cNvPr name="Freeform 28" id="28"/>
            <p:cNvSpPr/>
            <p:nvPr/>
          </p:nvSpPr>
          <p:spPr>
            <a:xfrm flipH="false" flipV="false" rot="0">
              <a:off x="0" y="0"/>
              <a:ext cx="537842" cy="171279"/>
            </a:xfrm>
            <a:custGeom>
              <a:avLst/>
              <a:gdLst/>
              <a:ahLst/>
              <a:cxnLst/>
              <a:rect r="r" b="b" t="t" l="l"/>
              <a:pathLst>
                <a:path h="171279" w="537842">
                  <a:moveTo>
                    <a:pt x="53076" y="0"/>
                  </a:moveTo>
                  <a:lnTo>
                    <a:pt x="484766" y="0"/>
                  </a:lnTo>
                  <a:cubicBezTo>
                    <a:pt x="514079" y="0"/>
                    <a:pt x="537842" y="23763"/>
                    <a:pt x="537842" y="53076"/>
                  </a:cubicBezTo>
                  <a:lnTo>
                    <a:pt x="537842" y="118203"/>
                  </a:lnTo>
                  <a:cubicBezTo>
                    <a:pt x="537842" y="132280"/>
                    <a:pt x="532250" y="145780"/>
                    <a:pt x="522296" y="155734"/>
                  </a:cubicBezTo>
                  <a:cubicBezTo>
                    <a:pt x="512343" y="165687"/>
                    <a:pt x="498843" y="171279"/>
                    <a:pt x="484766" y="171279"/>
                  </a:cubicBezTo>
                  <a:lnTo>
                    <a:pt x="53076" y="171279"/>
                  </a:lnTo>
                  <a:cubicBezTo>
                    <a:pt x="38999" y="171279"/>
                    <a:pt x="25499" y="165687"/>
                    <a:pt x="15546" y="155734"/>
                  </a:cubicBezTo>
                  <a:cubicBezTo>
                    <a:pt x="5592" y="145780"/>
                    <a:pt x="0" y="132280"/>
                    <a:pt x="0" y="118203"/>
                  </a:cubicBezTo>
                  <a:lnTo>
                    <a:pt x="0" y="53076"/>
                  </a:lnTo>
                  <a:cubicBezTo>
                    <a:pt x="0" y="38999"/>
                    <a:pt x="5592" y="25499"/>
                    <a:pt x="15546" y="15546"/>
                  </a:cubicBezTo>
                  <a:cubicBezTo>
                    <a:pt x="25499" y="5592"/>
                    <a:pt x="38999" y="0"/>
                    <a:pt x="53076" y="0"/>
                  </a:cubicBezTo>
                  <a:close/>
                </a:path>
              </a:pathLst>
            </a:custGeom>
            <a:solidFill>
              <a:srgbClr val="535659"/>
            </a:solidFill>
            <a:ln w="19050" cap="sq">
              <a:solidFill>
                <a:srgbClr val="243342"/>
              </a:solidFill>
              <a:prstDash val="solid"/>
              <a:miter/>
            </a:ln>
          </p:spPr>
        </p:sp>
        <p:sp>
          <p:nvSpPr>
            <p:cNvPr name="TextBox 29" id="29"/>
            <p:cNvSpPr txBox="true"/>
            <p:nvPr/>
          </p:nvSpPr>
          <p:spPr>
            <a:xfrm>
              <a:off x="0" y="-38100"/>
              <a:ext cx="537842" cy="209379"/>
            </a:xfrm>
            <a:prstGeom prst="rect">
              <a:avLst/>
            </a:prstGeom>
          </p:spPr>
          <p:txBody>
            <a:bodyPr anchor="ctr" rtlCol="false" tIns="50800" lIns="50800" bIns="50800" rIns="50800"/>
            <a:lstStyle/>
            <a:p>
              <a:pPr algn="ctr">
                <a:lnSpc>
                  <a:spcPts val="3362"/>
                </a:lnSpc>
              </a:pPr>
            </a:p>
          </p:txBody>
        </p:sp>
      </p:grpSp>
      <p:sp>
        <p:nvSpPr>
          <p:cNvPr name="TextBox 30" id="30"/>
          <p:cNvSpPr txBox="true"/>
          <p:nvPr/>
        </p:nvSpPr>
        <p:spPr>
          <a:xfrm rot="0">
            <a:off x="15621459" y="349050"/>
            <a:ext cx="2168307" cy="444454"/>
          </a:xfrm>
          <a:prstGeom prst="rect">
            <a:avLst/>
          </a:prstGeom>
        </p:spPr>
        <p:txBody>
          <a:bodyPr anchor="t" rtlCol="false" tIns="0" lIns="0" bIns="0" rIns="0">
            <a:spAutoFit/>
          </a:bodyPr>
          <a:lstStyle/>
          <a:p>
            <a:pPr algn="ctr">
              <a:lnSpc>
                <a:spcPts val="2800"/>
              </a:lnSpc>
            </a:pPr>
            <a:r>
              <a:rPr lang="en-US" sz="2000" spc="120">
                <a:solidFill>
                  <a:srgbClr val="FFFFFF"/>
                </a:solidFill>
                <a:latin typeface="Karnchang"/>
                <a:ea typeface="Karnchang"/>
                <a:cs typeface="Karnchang"/>
                <a:sym typeface="Karnchang"/>
              </a:rPr>
              <a:t>Halaman 5</a:t>
            </a:r>
          </a:p>
        </p:txBody>
      </p:sp>
      <p:grpSp>
        <p:nvGrpSpPr>
          <p:cNvPr name="Group 31" id="31"/>
          <p:cNvGrpSpPr/>
          <p:nvPr/>
        </p:nvGrpSpPr>
        <p:grpSpPr>
          <a:xfrm rot="0">
            <a:off x="629723" y="9258300"/>
            <a:ext cx="6961669" cy="627749"/>
            <a:chOff x="0" y="0"/>
            <a:chExt cx="1833526" cy="165333"/>
          </a:xfrm>
        </p:grpSpPr>
        <p:sp>
          <p:nvSpPr>
            <p:cNvPr name="Freeform 32" id="32"/>
            <p:cNvSpPr/>
            <p:nvPr/>
          </p:nvSpPr>
          <p:spPr>
            <a:xfrm flipH="false" flipV="false" rot="0">
              <a:off x="0" y="0"/>
              <a:ext cx="1833526" cy="165333"/>
            </a:xfrm>
            <a:custGeom>
              <a:avLst/>
              <a:gdLst/>
              <a:ahLst/>
              <a:cxnLst/>
              <a:rect r="r" b="b" t="t" l="l"/>
              <a:pathLst>
                <a:path h="165333" w="1833526">
                  <a:moveTo>
                    <a:pt x="16681" y="0"/>
                  </a:moveTo>
                  <a:lnTo>
                    <a:pt x="1816845" y="0"/>
                  </a:lnTo>
                  <a:cubicBezTo>
                    <a:pt x="1821269" y="0"/>
                    <a:pt x="1825512" y="1757"/>
                    <a:pt x="1828640" y="4886"/>
                  </a:cubicBezTo>
                  <a:cubicBezTo>
                    <a:pt x="1831769" y="8014"/>
                    <a:pt x="1833526" y="12257"/>
                    <a:pt x="1833526" y="16681"/>
                  </a:cubicBezTo>
                  <a:lnTo>
                    <a:pt x="1833526" y="148652"/>
                  </a:lnTo>
                  <a:cubicBezTo>
                    <a:pt x="1833526" y="157865"/>
                    <a:pt x="1826058" y="165333"/>
                    <a:pt x="1816845" y="165333"/>
                  </a:cubicBezTo>
                  <a:lnTo>
                    <a:pt x="16681" y="165333"/>
                  </a:lnTo>
                  <a:cubicBezTo>
                    <a:pt x="7468" y="165333"/>
                    <a:pt x="0" y="157865"/>
                    <a:pt x="0" y="148652"/>
                  </a:cubicBezTo>
                  <a:lnTo>
                    <a:pt x="0" y="16681"/>
                  </a:lnTo>
                  <a:cubicBezTo>
                    <a:pt x="0" y="7468"/>
                    <a:pt x="7468" y="0"/>
                    <a:pt x="16681" y="0"/>
                  </a:cubicBezTo>
                  <a:close/>
                </a:path>
              </a:pathLst>
            </a:custGeom>
            <a:solidFill>
              <a:srgbClr val="535659"/>
            </a:solidFill>
            <a:ln w="19050" cap="sq">
              <a:solidFill>
                <a:srgbClr val="243342"/>
              </a:solidFill>
              <a:prstDash val="solid"/>
              <a:miter/>
            </a:ln>
          </p:spPr>
        </p:sp>
        <p:sp>
          <p:nvSpPr>
            <p:cNvPr name="TextBox 33" id="33"/>
            <p:cNvSpPr txBox="true"/>
            <p:nvPr/>
          </p:nvSpPr>
          <p:spPr>
            <a:xfrm>
              <a:off x="0" y="-38100"/>
              <a:ext cx="1833526" cy="203433"/>
            </a:xfrm>
            <a:prstGeom prst="rect">
              <a:avLst/>
            </a:prstGeom>
          </p:spPr>
          <p:txBody>
            <a:bodyPr anchor="ctr" rtlCol="false" tIns="50800" lIns="50800" bIns="50800" rIns="50800"/>
            <a:lstStyle/>
            <a:p>
              <a:pPr algn="ctr">
                <a:lnSpc>
                  <a:spcPts val="3362"/>
                </a:lnSpc>
              </a:pPr>
            </a:p>
          </p:txBody>
        </p:sp>
      </p:grpSp>
      <p:sp>
        <p:nvSpPr>
          <p:cNvPr name="TextBox 34" id="34"/>
          <p:cNvSpPr txBox="true"/>
          <p:nvPr/>
        </p:nvSpPr>
        <p:spPr>
          <a:xfrm rot="0">
            <a:off x="551143" y="9305925"/>
            <a:ext cx="7118830" cy="444454"/>
          </a:xfrm>
          <a:prstGeom prst="rect">
            <a:avLst/>
          </a:prstGeom>
        </p:spPr>
        <p:txBody>
          <a:bodyPr anchor="t" rtlCol="false" tIns="0" lIns="0" bIns="0" rIns="0">
            <a:spAutoFit/>
          </a:bodyPr>
          <a:lstStyle/>
          <a:p>
            <a:pPr algn="ctr">
              <a:lnSpc>
                <a:spcPts val="2800"/>
              </a:lnSpc>
            </a:pPr>
            <a:r>
              <a:rPr lang="en-US" sz="2000" spc="120">
                <a:solidFill>
                  <a:srgbClr val="FFFFFF"/>
                </a:solidFill>
                <a:latin typeface="Karnchang"/>
                <a:ea typeface="Karnchang"/>
                <a:cs typeface="Karnchang"/>
                <a:sym typeface="Karnchang"/>
              </a:rPr>
              <a:t>Murad Naser |  Universitas Fauget | Ekonomi | 2025</a:t>
            </a:r>
          </a:p>
        </p:txBody>
      </p:sp>
      <p:grpSp>
        <p:nvGrpSpPr>
          <p:cNvPr name="Group 35" id="35"/>
          <p:cNvGrpSpPr/>
          <p:nvPr/>
        </p:nvGrpSpPr>
        <p:grpSpPr>
          <a:xfrm rot="0">
            <a:off x="629723" y="9258300"/>
            <a:ext cx="9916004" cy="627749"/>
            <a:chOff x="0" y="0"/>
            <a:chExt cx="2611622" cy="165333"/>
          </a:xfrm>
        </p:grpSpPr>
        <p:sp>
          <p:nvSpPr>
            <p:cNvPr name="Freeform 36" id="36"/>
            <p:cNvSpPr/>
            <p:nvPr/>
          </p:nvSpPr>
          <p:spPr>
            <a:xfrm flipH="false" flipV="false" rot="0">
              <a:off x="0" y="0"/>
              <a:ext cx="2611622" cy="165333"/>
            </a:xfrm>
            <a:custGeom>
              <a:avLst/>
              <a:gdLst/>
              <a:ahLst/>
              <a:cxnLst/>
              <a:rect r="r" b="b" t="t" l="l"/>
              <a:pathLst>
                <a:path h="165333" w="2611622">
                  <a:moveTo>
                    <a:pt x="11711" y="0"/>
                  </a:moveTo>
                  <a:lnTo>
                    <a:pt x="2599911" y="0"/>
                  </a:lnTo>
                  <a:cubicBezTo>
                    <a:pt x="2606379" y="0"/>
                    <a:pt x="2611622" y="5243"/>
                    <a:pt x="2611622" y="11711"/>
                  </a:cubicBezTo>
                  <a:lnTo>
                    <a:pt x="2611622" y="153622"/>
                  </a:lnTo>
                  <a:cubicBezTo>
                    <a:pt x="2611622" y="156728"/>
                    <a:pt x="2610389" y="159707"/>
                    <a:pt x="2608192" y="161903"/>
                  </a:cubicBezTo>
                  <a:cubicBezTo>
                    <a:pt x="2605996" y="164099"/>
                    <a:pt x="2603017" y="165333"/>
                    <a:pt x="2599911" y="165333"/>
                  </a:cubicBezTo>
                  <a:lnTo>
                    <a:pt x="11711" y="165333"/>
                  </a:lnTo>
                  <a:cubicBezTo>
                    <a:pt x="8605" y="165333"/>
                    <a:pt x="5626" y="164099"/>
                    <a:pt x="3430" y="161903"/>
                  </a:cubicBezTo>
                  <a:cubicBezTo>
                    <a:pt x="1234" y="159707"/>
                    <a:pt x="0" y="156728"/>
                    <a:pt x="0" y="153622"/>
                  </a:cubicBezTo>
                  <a:lnTo>
                    <a:pt x="0" y="11711"/>
                  </a:lnTo>
                  <a:cubicBezTo>
                    <a:pt x="0" y="8605"/>
                    <a:pt x="1234" y="5626"/>
                    <a:pt x="3430" y="3430"/>
                  </a:cubicBezTo>
                  <a:cubicBezTo>
                    <a:pt x="5626" y="1234"/>
                    <a:pt x="8605" y="0"/>
                    <a:pt x="11711" y="0"/>
                  </a:cubicBezTo>
                  <a:close/>
                </a:path>
              </a:pathLst>
            </a:custGeom>
            <a:solidFill>
              <a:srgbClr val="535659"/>
            </a:solidFill>
            <a:ln w="19050" cap="sq">
              <a:solidFill>
                <a:srgbClr val="243342"/>
              </a:solidFill>
              <a:prstDash val="solid"/>
              <a:miter/>
            </a:ln>
          </p:spPr>
        </p:sp>
        <p:sp>
          <p:nvSpPr>
            <p:cNvPr name="TextBox 37" id="37"/>
            <p:cNvSpPr txBox="true"/>
            <p:nvPr/>
          </p:nvSpPr>
          <p:spPr>
            <a:xfrm>
              <a:off x="0" y="-38100"/>
              <a:ext cx="2611622" cy="203433"/>
            </a:xfrm>
            <a:prstGeom prst="rect">
              <a:avLst/>
            </a:prstGeom>
          </p:spPr>
          <p:txBody>
            <a:bodyPr anchor="ctr" rtlCol="false" tIns="50800" lIns="50800" bIns="50800" rIns="50800"/>
            <a:lstStyle/>
            <a:p>
              <a:pPr algn="ctr">
                <a:lnSpc>
                  <a:spcPts val="3362"/>
                </a:lnSpc>
              </a:pPr>
            </a:p>
          </p:txBody>
        </p:sp>
      </p:grpSp>
      <p:sp>
        <p:nvSpPr>
          <p:cNvPr name="TextBox 38" id="38"/>
          <p:cNvSpPr txBox="true"/>
          <p:nvPr/>
        </p:nvSpPr>
        <p:spPr>
          <a:xfrm rot="0">
            <a:off x="551143" y="9305925"/>
            <a:ext cx="9994584" cy="444500"/>
          </a:xfrm>
          <a:prstGeom prst="rect">
            <a:avLst/>
          </a:prstGeom>
        </p:spPr>
        <p:txBody>
          <a:bodyPr anchor="t" rtlCol="false" tIns="0" lIns="0" bIns="0" rIns="0">
            <a:spAutoFit/>
          </a:bodyPr>
          <a:lstStyle/>
          <a:p>
            <a:pPr algn="ctr">
              <a:lnSpc>
                <a:spcPts val="2800"/>
              </a:lnSpc>
            </a:pPr>
            <a:r>
              <a:rPr lang="en-US" sz="2000" spc="120">
                <a:solidFill>
                  <a:srgbClr val="FFFFFF"/>
                </a:solidFill>
                <a:latin typeface="Karnchang"/>
                <a:ea typeface="Karnchang"/>
                <a:cs typeface="Karnchang"/>
                <a:sym typeface="Karnchang"/>
              </a:rPr>
              <a:t>Abdul Rozak A |  Politeknik Negeri Bandung | Teknik Telekomuniakasi | 2024</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E6EAEF"/>
        </a:solidFill>
      </p:bgPr>
    </p:bg>
    <p:spTree>
      <p:nvGrpSpPr>
        <p:cNvPr id="1" name=""/>
        <p:cNvGrpSpPr/>
        <p:nvPr/>
      </p:nvGrpSpPr>
      <p:grpSpPr>
        <a:xfrm>
          <a:off x="0" y="0"/>
          <a:ext cx="0" cy="0"/>
          <a:chOff x="0" y="0"/>
          <a:chExt cx="0" cy="0"/>
        </a:xfrm>
      </p:grpSpPr>
      <p:grpSp>
        <p:nvGrpSpPr>
          <p:cNvPr name="Group 2" id="2"/>
          <p:cNvGrpSpPr/>
          <p:nvPr/>
        </p:nvGrpSpPr>
        <p:grpSpPr>
          <a:xfrm rot="0">
            <a:off x="787067" y="592941"/>
            <a:ext cx="16713866" cy="9101117"/>
            <a:chOff x="0" y="0"/>
            <a:chExt cx="4402006" cy="2397002"/>
          </a:xfrm>
        </p:grpSpPr>
        <p:sp>
          <p:nvSpPr>
            <p:cNvPr name="Freeform 3" id="3"/>
            <p:cNvSpPr/>
            <p:nvPr/>
          </p:nvSpPr>
          <p:spPr>
            <a:xfrm flipH="false" flipV="false" rot="0">
              <a:off x="0" y="0"/>
              <a:ext cx="4402006" cy="2397002"/>
            </a:xfrm>
            <a:custGeom>
              <a:avLst/>
              <a:gdLst/>
              <a:ahLst/>
              <a:cxnLst/>
              <a:rect r="r" b="b" t="t" l="l"/>
              <a:pathLst>
                <a:path h="2397002" w="4402006">
                  <a:moveTo>
                    <a:pt x="23623" y="0"/>
                  </a:moveTo>
                  <a:lnTo>
                    <a:pt x="4378382" y="0"/>
                  </a:lnTo>
                  <a:cubicBezTo>
                    <a:pt x="4391429" y="0"/>
                    <a:pt x="4402006" y="10577"/>
                    <a:pt x="4402006" y="23623"/>
                  </a:cubicBezTo>
                  <a:lnTo>
                    <a:pt x="4402006" y="2373379"/>
                  </a:lnTo>
                  <a:cubicBezTo>
                    <a:pt x="4402006" y="2379644"/>
                    <a:pt x="4399517" y="2385653"/>
                    <a:pt x="4395087" y="2390083"/>
                  </a:cubicBezTo>
                  <a:cubicBezTo>
                    <a:pt x="4390656" y="2394513"/>
                    <a:pt x="4384647" y="2397002"/>
                    <a:pt x="4378382" y="2397002"/>
                  </a:cubicBezTo>
                  <a:lnTo>
                    <a:pt x="23623" y="2397002"/>
                  </a:lnTo>
                  <a:cubicBezTo>
                    <a:pt x="17358" y="2397002"/>
                    <a:pt x="11349" y="2394513"/>
                    <a:pt x="6919" y="2390083"/>
                  </a:cubicBezTo>
                  <a:cubicBezTo>
                    <a:pt x="2489" y="2385653"/>
                    <a:pt x="0" y="2379644"/>
                    <a:pt x="0" y="2373379"/>
                  </a:cubicBezTo>
                  <a:lnTo>
                    <a:pt x="0" y="23623"/>
                  </a:lnTo>
                  <a:cubicBezTo>
                    <a:pt x="0" y="17358"/>
                    <a:pt x="2489" y="11349"/>
                    <a:pt x="6919" y="6919"/>
                  </a:cubicBezTo>
                  <a:cubicBezTo>
                    <a:pt x="11349" y="2489"/>
                    <a:pt x="17358" y="0"/>
                    <a:pt x="23623" y="0"/>
                  </a:cubicBezTo>
                  <a:close/>
                </a:path>
              </a:pathLst>
            </a:custGeom>
            <a:solidFill>
              <a:srgbClr val="E6EAEF"/>
            </a:solidFill>
            <a:ln w="19050" cap="rnd">
              <a:solidFill>
                <a:srgbClr val="243342"/>
              </a:solidFill>
              <a:prstDash val="solid"/>
              <a:round/>
            </a:ln>
          </p:spPr>
        </p:sp>
        <p:sp>
          <p:nvSpPr>
            <p:cNvPr name="TextBox 4" id="4"/>
            <p:cNvSpPr txBox="true"/>
            <p:nvPr/>
          </p:nvSpPr>
          <p:spPr>
            <a:xfrm>
              <a:off x="0" y="-38100"/>
              <a:ext cx="4402006" cy="2435102"/>
            </a:xfrm>
            <a:prstGeom prst="rect">
              <a:avLst/>
            </a:prstGeom>
          </p:spPr>
          <p:txBody>
            <a:bodyPr anchor="ctr" rtlCol="false" tIns="50800" lIns="50800" bIns="50800" rIns="50800"/>
            <a:lstStyle/>
            <a:p>
              <a:pPr algn="ctr">
                <a:lnSpc>
                  <a:spcPts val="3362"/>
                </a:lnSpc>
              </a:pPr>
            </a:p>
          </p:txBody>
        </p:sp>
      </p:grpSp>
      <p:grpSp>
        <p:nvGrpSpPr>
          <p:cNvPr name="Group 5" id="5"/>
          <p:cNvGrpSpPr/>
          <p:nvPr/>
        </p:nvGrpSpPr>
        <p:grpSpPr>
          <a:xfrm rot="-7538080">
            <a:off x="-7029811" y="-5584933"/>
            <a:ext cx="9808447" cy="9331824"/>
            <a:chOff x="0" y="0"/>
            <a:chExt cx="13077930" cy="12442432"/>
          </a:xfrm>
        </p:grpSpPr>
        <p:grpSp>
          <p:nvGrpSpPr>
            <p:cNvPr name="Group 6" id="6"/>
            <p:cNvGrpSpPr/>
            <p:nvPr/>
          </p:nvGrpSpPr>
          <p:grpSpPr>
            <a:xfrm rot="2252144">
              <a:off x="1498251" y="1484738"/>
              <a:ext cx="7399579" cy="7432687"/>
              <a:chOff x="0" y="0"/>
              <a:chExt cx="2816645" cy="2829248"/>
            </a:xfrm>
          </p:grpSpPr>
          <p:sp>
            <p:nvSpPr>
              <p:cNvPr name="Freeform 7" id="7"/>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243342"/>
              </a:solidFill>
            </p:spPr>
          </p:sp>
          <p:sp>
            <p:nvSpPr>
              <p:cNvPr name="TextBox 8" id="8"/>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2252144">
              <a:off x="2397493" y="3224228"/>
              <a:ext cx="7399579" cy="7432687"/>
              <a:chOff x="0" y="0"/>
              <a:chExt cx="2816645" cy="2829248"/>
            </a:xfrm>
          </p:grpSpPr>
          <p:sp>
            <p:nvSpPr>
              <p:cNvPr name="Freeform 10" id="10"/>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535659"/>
              </a:solidFill>
            </p:spPr>
          </p:sp>
          <p:sp>
            <p:nvSpPr>
              <p:cNvPr name="TextBox 11" id="11"/>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2252144">
              <a:off x="4180100" y="3525007"/>
              <a:ext cx="7399579" cy="7432687"/>
              <a:chOff x="0" y="0"/>
              <a:chExt cx="2816645" cy="2829248"/>
            </a:xfrm>
          </p:grpSpPr>
          <p:sp>
            <p:nvSpPr>
              <p:cNvPr name="Freeform 13" id="13"/>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858789"/>
              </a:solidFill>
            </p:spPr>
          </p:sp>
          <p:sp>
            <p:nvSpPr>
              <p:cNvPr name="TextBox 14" id="14"/>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grpSp>
        <p:nvGrpSpPr>
          <p:cNvPr name="Group 15" id="15"/>
          <p:cNvGrpSpPr/>
          <p:nvPr/>
        </p:nvGrpSpPr>
        <p:grpSpPr>
          <a:xfrm rot="2124477">
            <a:off x="15979122" y="5429903"/>
            <a:ext cx="9808447" cy="9331824"/>
            <a:chOff x="0" y="0"/>
            <a:chExt cx="13077930" cy="12442432"/>
          </a:xfrm>
        </p:grpSpPr>
        <p:grpSp>
          <p:nvGrpSpPr>
            <p:cNvPr name="Group 16" id="16"/>
            <p:cNvGrpSpPr/>
            <p:nvPr/>
          </p:nvGrpSpPr>
          <p:grpSpPr>
            <a:xfrm rot="2252144">
              <a:off x="1498251" y="1484738"/>
              <a:ext cx="7399579" cy="7432687"/>
              <a:chOff x="0" y="0"/>
              <a:chExt cx="2816645" cy="2829248"/>
            </a:xfrm>
          </p:grpSpPr>
          <p:sp>
            <p:nvSpPr>
              <p:cNvPr name="Freeform 17" id="17"/>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243342"/>
              </a:solidFill>
            </p:spPr>
          </p:sp>
          <p:sp>
            <p:nvSpPr>
              <p:cNvPr name="TextBox 18" id="18"/>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19" id="19"/>
            <p:cNvGrpSpPr/>
            <p:nvPr/>
          </p:nvGrpSpPr>
          <p:grpSpPr>
            <a:xfrm rot="2252144">
              <a:off x="2397493" y="3224228"/>
              <a:ext cx="7399579" cy="7432687"/>
              <a:chOff x="0" y="0"/>
              <a:chExt cx="2816645" cy="2829248"/>
            </a:xfrm>
          </p:grpSpPr>
          <p:sp>
            <p:nvSpPr>
              <p:cNvPr name="Freeform 20" id="20"/>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535659"/>
              </a:solidFill>
            </p:spPr>
          </p:sp>
          <p:sp>
            <p:nvSpPr>
              <p:cNvPr name="TextBox 21" id="21"/>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22" id="22"/>
            <p:cNvGrpSpPr/>
            <p:nvPr/>
          </p:nvGrpSpPr>
          <p:grpSpPr>
            <a:xfrm rot="2252144">
              <a:off x="4180100" y="3525007"/>
              <a:ext cx="7399579" cy="7432687"/>
              <a:chOff x="0" y="0"/>
              <a:chExt cx="2816645" cy="2829248"/>
            </a:xfrm>
          </p:grpSpPr>
          <p:sp>
            <p:nvSpPr>
              <p:cNvPr name="Freeform 23" id="23"/>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858789"/>
              </a:solidFill>
            </p:spPr>
          </p:sp>
          <p:sp>
            <p:nvSpPr>
              <p:cNvPr name="TextBox 24" id="24"/>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sp>
        <p:nvSpPr>
          <p:cNvPr name="TextBox 25" id="25"/>
          <p:cNvSpPr txBox="true"/>
          <p:nvPr/>
        </p:nvSpPr>
        <p:spPr>
          <a:xfrm rot="0">
            <a:off x="4293776" y="1164537"/>
            <a:ext cx="9700448" cy="1107440"/>
          </a:xfrm>
          <a:prstGeom prst="rect">
            <a:avLst/>
          </a:prstGeom>
        </p:spPr>
        <p:txBody>
          <a:bodyPr anchor="t" rtlCol="false" tIns="0" lIns="0" bIns="0" rIns="0">
            <a:spAutoFit/>
          </a:bodyPr>
          <a:lstStyle/>
          <a:p>
            <a:pPr algn="ctr">
              <a:lnSpc>
                <a:spcPts val="5980"/>
              </a:lnSpc>
            </a:pPr>
            <a:r>
              <a:rPr lang="en-US" sz="6500" b="true">
                <a:solidFill>
                  <a:srgbClr val="243342"/>
                </a:solidFill>
                <a:latin typeface="Karnchang Bold"/>
                <a:ea typeface="Karnchang Bold"/>
                <a:cs typeface="Karnchang Bold"/>
                <a:sym typeface="Karnchang Bold"/>
              </a:rPr>
              <a:t>Fitur-fitur SIAR</a:t>
            </a:r>
          </a:p>
        </p:txBody>
      </p:sp>
      <p:sp>
        <p:nvSpPr>
          <p:cNvPr name="TextBox 26" id="26"/>
          <p:cNvSpPr txBox="true"/>
          <p:nvPr/>
        </p:nvSpPr>
        <p:spPr>
          <a:xfrm rot="0">
            <a:off x="1960029" y="2698740"/>
            <a:ext cx="14367942" cy="2969895"/>
          </a:xfrm>
          <a:prstGeom prst="rect">
            <a:avLst/>
          </a:prstGeom>
        </p:spPr>
        <p:txBody>
          <a:bodyPr anchor="t" rtlCol="false" tIns="0" lIns="0" bIns="0" rIns="0">
            <a:spAutoFit/>
          </a:bodyPr>
          <a:lstStyle/>
          <a:p>
            <a:pPr algn="just" marL="582930" indent="-291465" lvl="1">
              <a:lnSpc>
                <a:spcPts val="3779"/>
              </a:lnSpc>
              <a:buFont typeface="Arial"/>
              <a:buChar char="•"/>
            </a:pPr>
            <a:r>
              <a:rPr lang="en-US" sz="2700">
                <a:solidFill>
                  <a:srgbClr val="000000"/>
                </a:solidFill>
                <a:latin typeface="Karnchang"/>
                <a:ea typeface="Karnchang"/>
                <a:cs typeface="Karnchang"/>
                <a:sym typeface="Karnchang"/>
              </a:rPr>
              <a:t>Pembentukan pancaran yang terkirim di sisi penerima (receiver).</a:t>
            </a:r>
          </a:p>
          <a:p>
            <a:pPr algn="just" marL="582930" indent="-291465" lvl="1">
              <a:lnSpc>
                <a:spcPts val="3779"/>
              </a:lnSpc>
              <a:buFont typeface="Arial"/>
              <a:buChar char="•"/>
            </a:pPr>
            <a:r>
              <a:rPr lang="en-US" sz="2700">
                <a:solidFill>
                  <a:srgbClr val="000000"/>
                </a:solidFill>
                <a:latin typeface="Karnchang"/>
                <a:ea typeface="Karnchang"/>
                <a:cs typeface="Karnchang"/>
                <a:sym typeface="Karnchang"/>
              </a:rPr>
              <a:t>mampu secara bersamaan membentuk beberapa sinar pencarian untuk mencakup seluruh domain spasial, dan beberapa sinar pelacakan untuk melakukan pengukuran monopulse untuk setiap target.</a:t>
            </a:r>
          </a:p>
          <a:p>
            <a:pPr algn="just" marL="582930" indent="-291465" lvl="1">
              <a:lnSpc>
                <a:spcPts val="3779"/>
              </a:lnSpc>
              <a:buFont typeface="Arial"/>
              <a:buChar char="•"/>
            </a:pPr>
            <a:r>
              <a:rPr lang="en-US" sz="2700">
                <a:solidFill>
                  <a:srgbClr val="000000"/>
                </a:solidFill>
                <a:latin typeface="Karnchang"/>
                <a:ea typeface="Karnchang"/>
                <a:cs typeface="Karnchang"/>
                <a:sym typeface="Karnchang"/>
              </a:rPr>
              <a:t>SIAR adalah radar empat dimensi (4D). Ini dapat digunakan untuk mendapatkan jangkauan, kecepatan, azimuth, dan ketinggian target.</a:t>
            </a:r>
          </a:p>
        </p:txBody>
      </p:sp>
      <p:grpSp>
        <p:nvGrpSpPr>
          <p:cNvPr name="Group 27" id="27"/>
          <p:cNvGrpSpPr/>
          <p:nvPr/>
        </p:nvGrpSpPr>
        <p:grpSpPr>
          <a:xfrm rot="0">
            <a:off x="15665503" y="317552"/>
            <a:ext cx="2042119" cy="650325"/>
            <a:chOff x="0" y="0"/>
            <a:chExt cx="537842" cy="171279"/>
          </a:xfrm>
        </p:grpSpPr>
        <p:sp>
          <p:nvSpPr>
            <p:cNvPr name="Freeform 28" id="28"/>
            <p:cNvSpPr/>
            <p:nvPr/>
          </p:nvSpPr>
          <p:spPr>
            <a:xfrm flipH="false" flipV="false" rot="0">
              <a:off x="0" y="0"/>
              <a:ext cx="537842" cy="171279"/>
            </a:xfrm>
            <a:custGeom>
              <a:avLst/>
              <a:gdLst/>
              <a:ahLst/>
              <a:cxnLst/>
              <a:rect r="r" b="b" t="t" l="l"/>
              <a:pathLst>
                <a:path h="171279" w="537842">
                  <a:moveTo>
                    <a:pt x="53076" y="0"/>
                  </a:moveTo>
                  <a:lnTo>
                    <a:pt x="484766" y="0"/>
                  </a:lnTo>
                  <a:cubicBezTo>
                    <a:pt x="514079" y="0"/>
                    <a:pt x="537842" y="23763"/>
                    <a:pt x="537842" y="53076"/>
                  </a:cubicBezTo>
                  <a:lnTo>
                    <a:pt x="537842" y="118203"/>
                  </a:lnTo>
                  <a:cubicBezTo>
                    <a:pt x="537842" y="132280"/>
                    <a:pt x="532250" y="145780"/>
                    <a:pt x="522296" y="155734"/>
                  </a:cubicBezTo>
                  <a:cubicBezTo>
                    <a:pt x="512343" y="165687"/>
                    <a:pt x="498843" y="171279"/>
                    <a:pt x="484766" y="171279"/>
                  </a:cubicBezTo>
                  <a:lnTo>
                    <a:pt x="53076" y="171279"/>
                  </a:lnTo>
                  <a:cubicBezTo>
                    <a:pt x="38999" y="171279"/>
                    <a:pt x="25499" y="165687"/>
                    <a:pt x="15546" y="155734"/>
                  </a:cubicBezTo>
                  <a:cubicBezTo>
                    <a:pt x="5592" y="145780"/>
                    <a:pt x="0" y="132280"/>
                    <a:pt x="0" y="118203"/>
                  </a:cubicBezTo>
                  <a:lnTo>
                    <a:pt x="0" y="53076"/>
                  </a:lnTo>
                  <a:cubicBezTo>
                    <a:pt x="0" y="38999"/>
                    <a:pt x="5592" y="25499"/>
                    <a:pt x="15546" y="15546"/>
                  </a:cubicBezTo>
                  <a:cubicBezTo>
                    <a:pt x="25499" y="5592"/>
                    <a:pt x="38999" y="0"/>
                    <a:pt x="53076" y="0"/>
                  </a:cubicBezTo>
                  <a:close/>
                </a:path>
              </a:pathLst>
            </a:custGeom>
            <a:solidFill>
              <a:srgbClr val="535659"/>
            </a:solidFill>
            <a:ln w="19050" cap="sq">
              <a:solidFill>
                <a:srgbClr val="243342"/>
              </a:solidFill>
              <a:prstDash val="solid"/>
              <a:miter/>
            </a:ln>
          </p:spPr>
        </p:sp>
        <p:sp>
          <p:nvSpPr>
            <p:cNvPr name="TextBox 29" id="29"/>
            <p:cNvSpPr txBox="true"/>
            <p:nvPr/>
          </p:nvSpPr>
          <p:spPr>
            <a:xfrm>
              <a:off x="0" y="-38100"/>
              <a:ext cx="537842" cy="209379"/>
            </a:xfrm>
            <a:prstGeom prst="rect">
              <a:avLst/>
            </a:prstGeom>
          </p:spPr>
          <p:txBody>
            <a:bodyPr anchor="ctr" rtlCol="false" tIns="50800" lIns="50800" bIns="50800" rIns="50800"/>
            <a:lstStyle/>
            <a:p>
              <a:pPr algn="ctr">
                <a:lnSpc>
                  <a:spcPts val="3362"/>
                </a:lnSpc>
              </a:pPr>
            </a:p>
          </p:txBody>
        </p:sp>
      </p:grpSp>
      <p:sp>
        <p:nvSpPr>
          <p:cNvPr name="TextBox 30" id="30"/>
          <p:cNvSpPr txBox="true"/>
          <p:nvPr/>
        </p:nvSpPr>
        <p:spPr>
          <a:xfrm rot="0">
            <a:off x="15621459" y="349050"/>
            <a:ext cx="2168307" cy="444500"/>
          </a:xfrm>
          <a:prstGeom prst="rect">
            <a:avLst/>
          </a:prstGeom>
        </p:spPr>
        <p:txBody>
          <a:bodyPr anchor="t" rtlCol="false" tIns="0" lIns="0" bIns="0" rIns="0">
            <a:spAutoFit/>
          </a:bodyPr>
          <a:lstStyle/>
          <a:p>
            <a:pPr algn="ctr">
              <a:lnSpc>
                <a:spcPts val="2800"/>
              </a:lnSpc>
            </a:pPr>
            <a:r>
              <a:rPr lang="en-US" sz="2000" spc="120">
                <a:solidFill>
                  <a:srgbClr val="FFFFFF"/>
                </a:solidFill>
                <a:latin typeface="Karnchang"/>
                <a:ea typeface="Karnchang"/>
                <a:cs typeface="Karnchang"/>
                <a:sym typeface="Karnchang"/>
              </a:rPr>
              <a:t>Halaman 6</a:t>
            </a:r>
          </a:p>
        </p:txBody>
      </p:sp>
      <p:grpSp>
        <p:nvGrpSpPr>
          <p:cNvPr name="Group 31" id="31"/>
          <p:cNvGrpSpPr/>
          <p:nvPr/>
        </p:nvGrpSpPr>
        <p:grpSpPr>
          <a:xfrm rot="0">
            <a:off x="629723" y="9258300"/>
            <a:ext cx="6961669" cy="627749"/>
            <a:chOff x="0" y="0"/>
            <a:chExt cx="1833526" cy="165333"/>
          </a:xfrm>
        </p:grpSpPr>
        <p:sp>
          <p:nvSpPr>
            <p:cNvPr name="Freeform 32" id="32"/>
            <p:cNvSpPr/>
            <p:nvPr/>
          </p:nvSpPr>
          <p:spPr>
            <a:xfrm flipH="false" flipV="false" rot="0">
              <a:off x="0" y="0"/>
              <a:ext cx="1833526" cy="165333"/>
            </a:xfrm>
            <a:custGeom>
              <a:avLst/>
              <a:gdLst/>
              <a:ahLst/>
              <a:cxnLst/>
              <a:rect r="r" b="b" t="t" l="l"/>
              <a:pathLst>
                <a:path h="165333" w="1833526">
                  <a:moveTo>
                    <a:pt x="16681" y="0"/>
                  </a:moveTo>
                  <a:lnTo>
                    <a:pt x="1816845" y="0"/>
                  </a:lnTo>
                  <a:cubicBezTo>
                    <a:pt x="1821269" y="0"/>
                    <a:pt x="1825512" y="1757"/>
                    <a:pt x="1828640" y="4886"/>
                  </a:cubicBezTo>
                  <a:cubicBezTo>
                    <a:pt x="1831769" y="8014"/>
                    <a:pt x="1833526" y="12257"/>
                    <a:pt x="1833526" y="16681"/>
                  </a:cubicBezTo>
                  <a:lnTo>
                    <a:pt x="1833526" y="148652"/>
                  </a:lnTo>
                  <a:cubicBezTo>
                    <a:pt x="1833526" y="157865"/>
                    <a:pt x="1826058" y="165333"/>
                    <a:pt x="1816845" y="165333"/>
                  </a:cubicBezTo>
                  <a:lnTo>
                    <a:pt x="16681" y="165333"/>
                  </a:lnTo>
                  <a:cubicBezTo>
                    <a:pt x="7468" y="165333"/>
                    <a:pt x="0" y="157865"/>
                    <a:pt x="0" y="148652"/>
                  </a:cubicBezTo>
                  <a:lnTo>
                    <a:pt x="0" y="16681"/>
                  </a:lnTo>
                  <a:cubicBezTo>
                    <a:pt x="0" y="7468"/>
                    <a:pt x="7468" y="0"/>
                    <a:pt x="16681" y="0"/>
                  </a:cubicBezTo>
                  <a:close/>
                </a:path>
              </a:pathLst>
            </a:custGeom>
            <a:solidFill>
              <a:srgbClr val="535659"/>
            </a:solidFill>
            <a:ln w="19050" cap="sq">
              <a:solidFill>
                <a:srgbClr val="243342"/>
              </a:solidFill>
              <a:prstDash val="solid"/>
              <a:miter/>
            </a:ln>
          </p:spPr>
        </p:sp>
        <p:sp>
          <p:nvSpPr>
            <p:cNvPr name="TextBox 33" id="33"/>
            <p:cNvSpPr txBox="true"/>
            <p:nvPr/>
          </p:nvSpPr>
          <p:spPr>
            <a:xfrm>
              <a:off x="0" y="-38100"/>
              <a:ext cx="1833526" cy="203433"/>
            </a:xfrm>
            <a:prstGeom prst="rect">
              <a:avLst/>
            </a:prstGeom>
          </p:spPr>
          <p:txBody>
            <a:bodyPr anchor="ctr" rtlCol="false" tIns="50800" lIns="50800" bIns="50800" rIns="50800"/>
            <a:lstStyle/>
            <a:p>
              <a:pPr algn="ctr">
                <a:lnSpc>
                  <a:spcPts val="3362"/>
                </a:lnSpc>
              </a:pPr>
            </a:p>
          </p:txBody>
        </p:sp>
      </p:grpSp>
      <p:sp>
        <p:nvSpPr>
          <p:cNvPr name="TextBox 34" id="34"/>
          <p:cNvSpPr txBox="true"/>
          <p:nvPr/>
        </p:nvSpPr>
        <p:spPr>
          <a:xfrm rot="0">
            <a:off x="551143" y="9305925"/>
            <a:ext cx="7118830" cy="444454"/>
          </a:xfrm>
          <a:prstGeom prst="rect">
            <a:avLst/>
          </a:prstGeom>
        </p:spPr>
        <p:txBody>
          <a:bodyPr anchor="t" rtlCol="false" tIns="0" lIns="0" bIns="0" rIns="0">
            <a:spAutoFit/>
          </a:bodyPr>
          <a:lstStyle/>
          <a:p>
            <a:pPr algn="ctr">
              <a:lnSpc>
                <a:spcPts val="2800"/>
              </a:lnSpc>
            </a:pPr>
            <a:r>
              <a:rPr lang="en-US" sz="2000" spc="120">
                <a:solidFill>
                  <a:srgbClr val="FFFFFF"/>
                </a:solidFill>
                <a:latin typeface="Karnchang"/>
                <a:ea typeface="Karnchang"/>
                <a:cs typeface="Karnchang"/>
                <a:sym typeface="Karnchang"/>
              </a:rPr>
              <a:t>Murad Naser |  Universitas Fauget | Ekonomi | 2025</a:t>
            </a:r>
          </a:p>
        </p:txBody>
      </p:sp>
      <p:grpSp>
        <p:nvGrpSpPr>
          <p:cNvPr name="Group 35" id="35"/>
          <p:cNvGrpSpPr/>
          <p:nvPr/>
        </p:nvGrpSpPr>
        <p:grpSpPr>
          <a:xfrm rot="0">
            <a:off x="629723" y="9258300"/>
            <a:ext cx="9916004" cy="627749"/>
            <a:chOff x="0" y="0"/>
            <a:chExt cx="2611622" cy="165333"/>
          </a:xfrm>
        </p:grpSpPr>
        <p:sp>
          <p:nvSpPr>
            <p:cNvPr name="Freeform 36" id="36"/>
            <p:cNvSpPr/>
            <p:nvPr/>
          </p:nvSpPr>
          <p:spPr>
            <a:xfrm flipH="false" flipV="false" rot="0">
              <a:off x="0" y="0"/>
              <a:ext cx="2611622" cy="165333"/>
            </a:xfrm>
            <a:custGeom>
              <a:avLst/>
              <a:gdLst/>
              <a:ahLst/>
              <a:cxnLst/>
              <a:rect r="r" b="b" t="t" l="l"/>
              <a:pathLst>
                <a:path h="165333" w="2611622">
                  <a:moveTo>
                    <a:pt x="11711" y="0"/>
                  </a:moveTo>
                  <a:lnTo>
                    <a:pt x="2599911" y="0"/>
                  </a:lnTo>
                  <a:cubicBezTo>
                    <a:pt x="2606379" y="0"/>
                    <a:pt x="2611622" y="5243"/>
                    <a:pt x="2611622" y="11711"/>
                  </a:cubicBezTo>
                  <a:lnTo>
                    <a:pt x="2611622" y="153622"/>
                  </a:lnTo>
                  <a:cubicBezTo>
                    <a:pt x="2611622" y="156728"/>
                    <a:pt x="2610389" y="159707"/>
                    <a:pt x="2608192" y="161903"/>
                  </a:cubicBezTo>
                  <a:cubicBezTo>
                    <a:pt x="2605996" y="164099"/>
                    <a:pt x="2603017" y="165333"/>
                    <a:pt x="2599911" y="165333"/>
                  </a:cubicBezTo>
                  <a:lnTo>
                    <a:pt x="11711" y="165333"/>
                  </a:lnTo>
                  <a:cubicBezTo>
                    <a:pt x="8605" y="165333"/>
                    <a:pt x="5626" y="164099"/>
                    <a:pt x="3430" y="161903"/>
                  </a:cubicBezTo>
                  <a:cubicBezTo>
                    <a:pt x="1234" y="159707"/>
                    <a:pt x="0" y="156728"/>
                    <a:pt x="0" y="153622"/>
                  </a:cubicBezTo>
                  <a:lnTo>
                    <a:pt x="0" y="11711"/>
                  </a:lnTo>
                  <a:cubicBezTo>
                    <a:pt x="0" y="8605"/>
                    <a:pt x="1234" y="5626"/>
                    <a:pt x="3430" y="3430"/>
                  </a:cubicBezTo>
                  <a:cubicBezTo>
                    <a:pt x="5626" y="1234"/>
                    <a:pt x="8605" y="0"/>
                    <a:pt x="11711" y="0"/>
                  </a:cubicBezTo>
                  <a:close/>
                </a:path>
              </a:pathLst>
            </a:custGeom>
            <a:solidFill>
              <a:srgbClr val="535659"/>
            </a:solidFill>
            <a:ln w="19050" cap="sq">
              <a:solidFill>
                <a:srgbClr val="243342"/>
              </a:solidFill>
              <a:prstDash val="solid"/>
              <a:miter/>
            </a:ln>
          </p:spPr>
        </p:sp>
        <p:sp>
          <p:nvSpPr>
            <p:cNvPr name="TextBox 37" id="37"/>
            <p:cNvSpPr txBox="true"/>
            <p:nvPr/>
          </p:nvSpPr>
          <p:spPr>
            <a:xfrm>
              <a:off x="0" y="-38100"/>
              <a:ext cx="2611622" cy="203433"/>
            </a:xfrm>
            <a:prstGeom prst="rect">
              <a:avLst/>
            </a:prstGeom>
          </p:spPr>
          <p:txBody>
            <a:bodyPr anchor="ctr" rtlCol="false" tIns="50800" lIns="50800" bIns="50800" rIns="50800"/>
            <a:lstStyle/>
            <a:p>
              <a:pPr algn="ctr">
                <a:lnSpc>
                  <a:spcPts val="3362"/>
                </a:lnSpc>
              </a:pPr>
            </a:p>
          </p:txBody>
        </p:sp>
      </p:grpSp>
      <p:sp>
        <p:nvSpPr>
          <p:cNvPr name="TextBox 38" id="38"/>
          <p:cNvSpPr txBox="true"/>
          <p:nvPr/>
        </p:nvSpPr>
        <p:spPr>
          <a:xfrm rot="0">
            <a:off x="551143" y="9305925"/>
            <a:ext cx="9994584" cy="444500"/>
          </a:xfrm>
          <a:prstGeom prst="rect">
            <a:avLst/>
          </a:prstGeom>
        </p:spPr>
        <p:txBody>
          <a:bodyPr anchor="t" rtlCol="false" tIns="0" lIns="0" bIns="0" rIns="0">
            <a:spAutoFit/>
          </a:bodyPr>
          <a:lstStyle/>
          <a:p>
            <a:pPr algn="ctr">
              <a:lnSpc>
                <a:spcPts val="2800"/>
              </a:lnSpc>
            </a:pPr>
            <a:r>
              <a:rPr lang="en-US" sz="2000" spc="120">
                <a:solidFill>
                  <a:srgbClr val="FFFFFF"/>
                </a:solidFill>
                <a:latin typeface="Karnchang"/>
                <a:ea typeface="Karnchang"/>
                <a:cs typeface="Karnchang"/>
                <a:sym typeface="Karnchang"/>
              </a:rPr>
              <a:t>Abdul Rozak A |  Politeknik Negeri Bandung | Teknik Telekomuniakasi | 2024</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6EAEF"/>
        </a:solidFill>
      </p:bgPr>
    </p:bg>
    <p:spTree>
      <p:nvGrpSpPr>
        <p:cNvPr id="1" name=""/>
        <p:cNvGrpSpPr/>
        <p:nvPr/>
      </p:nvGrpSpPr>
      <p:grpSpPr>
        <a:xfrm>
          <a:off x="0" y="0"/>
          <a:ext cx="0" cy="0"/>
          <a:chOff x="0" y="0"/>
          <a:chExt cx="0" cy="0"/>
        </a:xfrm>
      </p:grpSpPr>
      <p:grpSp>
        <p:nvGrpSpPr>
          <p:cNvPr name="Group 2" id="2"/>
          <p:cNvGrpSpPr/>
          <p:nvPr/>
        </p:nvGrpSpPr>
        <p:grpSpPr>
          <a:xfrm rot="0">
            <a:off x="787067" y="317552"/>
            <a:ext cx="16713866" cy="9101117"/>
            <a:chOff x="0" y="0"/>
            <a:chExt cx="4402006" cy="2397002"/>
          </a:xfrm>
        </p:grpSpPr>
        <p:sp>
          <p:nvSpPr>
            <p:cNvPr name="Freeform 3" id="3"/>
            <p:cNvSpPr/>
            <p:nvPr/>
          </p:nvSpPr>
          <p:spPr>
            <a:xfrm flipH="false" flipV="false" rot="0">
              <a:off x="0" y="0"/>
              <a:ext cx="4402006" cy="2397002"/>
            </a:xfrm>
            <a:custGeom>
              <a:avLst/>
              <a:gdLst/>
              <a:ahLst/>
              <a:cxnLst/>
              <a:rect r="r" b="b" t="t" l="l"/>
              <a:pathLst>
                <a:path h="2397002" w="4402006">
                  <a:moveTo>
                    <a:pt x="23623" y="0"/>
                  </a:moveTo>
                  <a:lnTo>
                    <a:pt x="4378382" y="0"/>
                  </a:lnTo>
                  <a:cubicBezTo>
                    <a:pt x="4391429" y="0"/>
                    <a:pt x="4402006" y="10577"/>
                    <a:pt x="4402006" y="23623"/>
                  </a:cubicBezTo>
                  <a:lnTo>
                    <a:pt x="4402006" y="2373379"/>
                  </a:lnTo>
                  <a:cubicBezTo>
                    <a:pt x="4402006" y="2379644"/>
                    <a:pt x="4399517" y="2385653"/>
                    <a:pt x="4395087" y="2390083"/>
                  </a:cubicBezTo>
                  <a:cubicBezTo>
                    <a:pt x="4390656" y="2394513"/>
                    <a:pt x="4384647" y="2397002"/>
                    <a:pt x="4378382" y="2397002"/>
                  </a:cubicBezTo>
                  <a:lnTo>
                    <a:pt x="23623" y="2397002"/>
                  </a:lnTo>
                  <a:cubicBezTo>
                    <a:pt x="17358" y="2397002"/>
                    <a:pt x="11349" y="2394513"/>
                    <a:pt x="6919" y="2390083"/>
                  </a:cubicBezTo>
                  <a:cubicBezTo>
                    <a:pt x="2489" y="2385653"/>
                    <a:pt x="0" y="2379644"/>
                    <a:pt x="0" y="2373379"/>
                  </a:cubicBezTo>
                  <a:lnTo>
                    <a:pt x="0" y="23623"/>
                  </a:lnTo>
                  <a:cubicBezTo>
                    <a:pt x="0" y="17358"/>
                    <a:pt x="2489" y="11349"/>
                    <a:pt x="6919" y="6919"/>
                  </a:cubicBezTo>
                  <a:cubicBezTo>
                    <a:pt x="11349" y="2489"/>
                    <a:pt x="17358" y="0"/>
                    <a:pt x="23623" y="0"/>
                  </a:cubicBezTo>
                  <a:close/>
                </a:path>
              </a:pathLst>
            </a:custGeom>
            <a:solidFill>
              <a:srgbClr val="E6EAEF"/>
            </a:solidFill>
            <a:ln w="19050" cap="rnd">
              <a:solidFill>
                <a:srgbClr val="243342"/>
              </a:solidFill>
              <a:prstDash val="solid"/>
              <a:round/>
            </a:ln>
          </p:spPr>
        </p:sp>
        <p:sp>
          <p:nvSpPr>
            <p:cNvPr name="TextBox 4" id="4"/>
            <p:cNvSpPr txBox="true"/>
            <p:nvPr/>
          </p:nvSpPr>
          <p:spPr>
            <a:xfrm>
              <a:off x="0" y="-38100"/>
              <a:ext cx="4402006" cy="2435102"/>
            </a:xfrm>
            <a:prstGeom prst="rect">
              <a:avLst/>
            </a:prstGeom>
          </p:spPr>
          <p:txBody>
            <a:bodyPr anchor="ctr" rtlCol="false" tIns="50800" lIns="50800" bIns="50800" rIns="50800"/>
            <a:lstStyle/>
            <a:p>
              <a:pPr algn="ctr">
                <a:lnSpc>
                  <a:spcPts val="3362"/>
                </a:lnSpc>
              </a:pPr>
            </a:p>
          </p:txBody>
        </p:sp>
      </p:grpSp>
      <p:grpSp>
        <p:nvGrpSpPr>
          <p:cNvPr name="Group 5" id="5"/>
          <p:cNvGrpSpPr/>
          <p:nvPr/>
        </p:nvGrpSpPr>
        <p:grpSpPr>
          <a:xfrm rot="-7538080">
            <a:off x="-7029811" y="-5584933"/>
            <a:ext cx="9808447" cy="9331824"/>
            <a:chOff x="0" y="0"/>
            <a:chExt cx="13077930" cy="12442432"/>
          </a:xfrm>
        </p:grpSpPr>
        <p:grpSp>
          <p:nvGrpSpPr>
            <p:cNvPr name="Group 6" id="6"/>
            <p:cNvGrpSpPr/>
            <p:nvPr/>
          </p:nvGrpSpPr>
          <p:grpSpPr>
            <a:xfrm rot="2252144">
              <a:off x="1498251" y="1484738"/>
              <a:ext cx="7399579" cy="7432687"/>
              <a:chOff x="0" y="0"/>
              <a:chExt cx="2816645" cy="2829248"/>
            </a:xfrm>
          </p:grpSpPr>
          <p:sp>
            <p:nvSpPr>
              <p:cNvPr name="Freeform 7" id="7"/>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243342"/>
              </a:solidFill>
            </p:spPr>
          </p:sp>
          <p:sp>
            <p:nvSpPr>
              <p:cNvPr name="TextBox 8" id="8"/>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2252144">
              <a:off x="2397493" y="3224228"/>
              <a:ext cx="7399579" cy="7432687"/>
              <a:chOff x="0" y="0"/>
              <a:chExt cx="2816645" cy="2829248"/>
            </a:xfrm>
          </p:grpSpPr>
          <p:sp>
            <p:nvSpPr>
              <p:cNvPr name="Freeform 10" id="10"/>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535659"/>
              </a:solidFill>
            </p:spPr>
          </p:sp>
          <p:sp>
            <p:nvSpPr>
              <p:cNvPr name="TextBox 11" id="11"/>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2252144">
              <a:off x="4180100" y="3525007"/>
              <a:ext cx="7399579" cy="7432687"/>
              <a:chOff x="0" y="0"/>
              <a:chExt cx="2816645" cy="2829248"/>
            </a:xfrm>
          </p:grpSpPr>
          <p:sp>
            <p:nvSpPr>
              <p:cNvPr name="Freeform 13" id="13"/>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858789"/>
              </a:solidFill>
            </p:spPr>
          </p:sp>
          <p:sp>
            <p:nvSpPr>
              <p:cNvPr name="TextBox 14" id="14"/>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grpSp>
        <p:nvGrpSpPr>
          <p:cNvPr name="Group 15" id="15"/>
          <p:cNvGrpSpPr/>
          <p:nvPr/>
        </p:nvGrpSpPr>
        <p:grpSpPr>
          <a:xfrm rot="2124477">
            <a:off x="15979122" y="5429903"/>
            <a:ext cx="9808447" cy="9331824"/>
            <a:chOff x="0" y="0"/>
            <a:chExt cx="13077930" cy="12442432"/>
          </a:xfrm>
        </p:grpSpPr>
        <p:grpSp>
          <p:nvGrpSpPr>
            <p:cNvPr name="Group 16" id="16"/>
            <p:cNvGrpSpPr/>
            <p:nvPr/>
          </p:nvGrpSpPr>
          <p:grpSpPr>
            <a:xfrm rot="2252144">
              <a:off x="1498251" y="1484738"/>
              <a:ext cx="7399579" cy="7432687"/>
              <a:chOff x="0" y="0"/>
              <a:chExt cx="2816645" cy="2829248"/>
            </a:xfrm>
          </p:grpSpPr>
          <p:sp>
            <p:nvSpPr>
              <p:cNvPr name="Freeform 17" id="17"/>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243342"/>
              </a:solidFill>
            </p:spPr>
          </p:sp>
          <p:sp>
            <p:nvSpPr>
              <p:cNvPr name="TextBox 18" id="18"/>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19" id="19"/>
            <p:cNvGrpSpPr/>
            <p:nvPr/>
          </p:nvGrpSpPr>
          <p:grpSpPr>
            <a:xfrm rot="2252144">
              <a:off x="2397493" y="3224228"/>
              <a:ext cx="7399579" cy="7432687"/>
              <a:chOff x="0" y="0"/>
              <a:chExt cx="2816645" cy="2829248"/>
            </a:xfrm>
          </p:grpSpPr>
          <p:sp>
            <p:nvSpPr>
              <p:cNvPr name="Freeform 20" id="20"/>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535659"/>
              </a:solidFill>
            </p:spPr>
          </p:sp>
          <p:sp>
            <p:nvSpPr>
              <p:cNvPr name="TextBox 21" id="21"/>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22" id="22"/>
            <p:cNvGrpSpPr/>
            <p:nvPr/>
          </p:nvGrpSpPr>
          <p:grpSpPr>
            <a:xfrm rot="2252144">
              <a:off x="4180100" y="3525007"/>
              <a:ext cx="7399579" cy="7432687"/>
              <a:chOff x="0" y="0"/>
              <a:chExt cx="2816645" cy="2829248"/>
            </a:xfrm>
          </p:grpSpPr>
          <p:sp>
            <p:nvSpPr>
              <p:cNvPr name="Freeform 23" id="23"/>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858789"/>
              </a:solidFill>
            </p:spPr>
          </p:sp>
          <p:sp>
            <p:nvSpPr>
              <p:cNvPr name="TextBox 24" id="24"/>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grpSp>
        <p:nvGrpSpPr>
          <p:cNvPr name="Group 25" id="25"/>
          <p:cNvGrpSpPr>
            <a:grpSpLocks noChangeAspect="true"/>
          </p:cNvGrpSpPr>
          <p:nvPr/>
        </p:nvGrpSpPr>
        <p:grpSpPr>
          <a:xfrm rot="0">
            <a:off x="1490452" y="3745408"/>
            <a:ext cx="6458391" cy="4848531"/>
            <a:chOff x="0" y="0"/>
            <a:chExt cx="8916670" cy="6694043"/>
          </a:xfrm>
        </p:grpSpPr>
        <p:sp>
          <p:nvSpPr>
            <p:cNvPr name="Freeform 26" id="26"/>
            <p:cNvSpPr/>
            <p:nvPr/>
          </p:nvSpPr>
          <p:spPr>
            <a:xfrm flipH="false" flipV="false" rot="0">
              <a:off x="155575" y="155575"/>
              <a:ext cx="8605520" cy="6382893"/>
            </a:xfrm>
            <a:custGeom>
              <a:avLst/>
              <a:gdLst/>
              <a:ahLst/>
              <a:cxnLst/>
              <a:rect r="r" b="b" t="t" l="l"/>
              <a:pathLst>
                <a:path h="6382893" w="8605520">
                  <a:moveTo>
                    <a:pt x="0" y="0"/>
                  </a:moveTo>
                  <a:lnTo>
                    <a:pt x="8605520" y="0"/>
                  </a:lnTo>
                  <a:lnTo>
                    <a:pt x="8605520" y="6382893"/>
                  </a:lnTo>
                  <a:lnTo>
                    <a:pt x="0" y="6382893"/>
                  </a:lnTo>
                  <a:close/>
                </a:path>
              </a:pathLst>
            </a:custGeom>
            <a:blipFill>
              <a:blip r:embed="rId2"/>
              <a:stretch>
                <a:fillRect l="-20808" t="0" r="-20808" b="0"/>
              </a:stretch>
            </a:blipFill>
          </p:spPr>
        </p:sp>
        <p:sp>
          <p:nvSpPr>
            <p:cNvPr name="Freeform 27" id="27"/>
            <p:cNvSpPr/>
            <p:nvPr/>
          </p:nvSpPr>
          <p:spPr>
            <a:xfrm flipH="false" flipV="false" rot="0">
              <a:off x="6350" y="6350"/>
              <a:ext cx="8903970" cy="6681343"/>
            </a:xfrm>
            <a:custGeom>
              <a:avLst/>
              <a:gdLst/>
              <a:ahLst/>
              <a:cxnLst/>
              <a:rect r="r" b="b" t="t" l="l"/>
              <a:pathLst>
                <a:path h="6681343" w="8903970">
                  <a:moveTo>
                    <a:pt x="8903970" y="6681343"/>
                  </a:moveTo>
                  <a:lnTo>
                    <a:pt x="0" y="6681343"/>
                  </a:lnTo>
                  <a:lnTo>
                    <a:pt x="0" y="0"/>
                  </a:lnTo>
                  <a:lnTo>
                    <a:pt x="8903970" y="0"/>
                  </a:lnTo>
                  <a:lnTo>
                    <a:pt x="8903970" y="6681343"/>
                  </a:lnTo>
                  <a:close/>
                  <a:moveTo>
                    <a:pt x="19050" y="6662293"/>
                  </a:moveTo>
                  <a:lnTo>
                    <a:pt x="8884920" y="6662293"/>
                  </a:lnTo>
                  <a:lnTo>
                    <a:pt x="8884920" y="19050"/>
                  </a:lnTo>
                  <a:lnTo>
                    <a:pt x="19050" y="19050"/>
                  </a:lnTo>
                  <a:lnTo>
                    <a:pt x="19050" y="6662293"/>
                  </a:lnTo>
                  <a:close/>
                  <a:moveTo>
                    <a:pt x="8764270" y="6541643"/>
                  </a:moveTo>
                  <a:lnTo>
                    <a:pt x="139700" y="6541643"/>
                  </a:lnTo>
                  <a:lnTo>
                    <a:pt x="139700" y="139700"/>
                  </a:lnTo>
                  <a:lnTo>
                    <a:pt x="8764270" y="139700"/>
                  </a:lnTo>
                  <a:lnTo>
                    <a:pt x="8764270" y="6541643"/>
                  </a:lnTo>
                  <a:close/>
                  <a:moveTo>
                    <a:pt x="158750" y="6522593"/>
                  </a:moveTo>
                  <a:lnTo>
                    <a:pt x="8745220" y="6522593"/>
                  </a:lnTo>
                  <a:lnTo>
                    <a:pt x="8745220" y="158750"/>
                  </a:lnTo>
                  <a:lnTo>
                    <a:pt x="158750" y="158750"/>
                  </a:lnTo>
                  <a:lnTo>
                    <a:pt x="158750" y="6522593"/>
                  </a:lnTo>
                  <a:close/>
                </a:path>
              </a:pathLst>
            </a:custGeom>
            <a:solidFill>
              <a:srgbClr val="535659"/>
            </a:solidFill>
          </p:spPr>
        </p:sp>
      </p:grpSp>
      <p:sp>
        <p:nvSpPr>
          <p:cNvPr name="TextBox 28" id="28"/>
          <p:cNvSpPr txBox="true"/>
          <p:nvPr/>
        </p:nvSpPr>
        <p:spPr>
          <a:xfrm rot="0">
            <a:off x="1490452" y="819150"/>
            <a:ext cx="6584507" cy="1727199"/>
          </a:xfrm>
          <a:prstGeom prst="rect">
            <a:avLst/>
          </a:prstGeom>
        </p:spPr>
        <p:txBody>
          <a:bodyPr anchor="t" rtlCol="false" tIns="0" lIns="0" bIns="0" rIns="0">
            <a:spAutoFit/>
          </a:bodyPr>
          <a:lstStyle/>
          <a:p>
            <a:pPr algn="ctr">
              <a:lnSpc>
                <a:spcPts val="9199"/>
              </a:lnSpc>
            </a:pPr>
            <a:r>
              <a:rPr lang="en-US" b="true" sz="9999">
                <a:solidFill>
                  <a:srgbClr val="243342"/>
                </a:solidFill>
                <a:latin typeface="Karnchang Bold"/>
                <a:ea typeface="Karnchang Bold"/>
                <a:cs typeface="Karnchang Bold"/>
                <a:sym typeface="Karnchang Bold"/>
              </a:rPr>
              <a:t>BAB III</a:t>
            </a:r>
          </a:p>
        </p:txBody>
      </p:sp>
      <p:grpSp>
        <p:nvGrpSpPr>
          <p:cNvPr name="Group 29" id="29"/>
          <p:cNvGrpSpPr/>
          <p:nvPr/>
        </p:nvGrpSpPr>
        <p:grpSpPr>
          <a:xfrm rot="0">
            <a:off x="8585553" y="1593290"/>
            <a:ext cx="8304195" cy="2152118"/>
            <a:chOff x="0" y="0"/>
            <a:chExt cx="2187113" cy="566813"/>
          </a:xfrm>
        </p:grpSpPr>
        <p:sp>
          <p:nvSpPr>
            <p:cNvPr name="Freeform 30" id="30"/>
            <p:cNvSpPr/>
            <p:nvPr/>
          </p:nvSpPr>
          <p:spPr>
            <a:xfrm flipH="false" flipV="false" rot="0">
              <a:off x="0" y="0"/>
              <a:ext cx="2187113" cy="566813"/>
            </a:xfrm>
            <a:custGeom>
              <a:avLst/>
              <a:gdLst/>
              <a:ahLst/>
              <a:cxnLst/>
              <a:rect r="r" b="b" t="t" l="l"/>
              <a:pathLst>
                <a:path h="566813" w="2187113">
                  <a:moveTo>
                    <a:pt x="47547" y="0"/>
                  </a:moveTo>
                  <a:lnTo>
                    <a:pt x="2139566" y="0"/>
                  </a:lnTo>
                  <a:cubicBezTo>
                    <a:pt x="2152177" y="0"/>
                    <a:pt x="2164270" y="5009"/>
                    <a:pt x="2173187" y="13926"/>
                  </a:cubicBezTo>
                  <a:cubicBezTo>
                    <a:pt x="2182104" y="22843"/>
                    <a:pt x="2187113" y="34937"/>
                    <a:pt x="2187113" y="47547"/>
                  </a:cubicBezTo>
                  <a:lnTo>
                    <a:pt x="2187113" y="519266"/>
                  </a:lnTo>
                  <a:cubicBezTo>
                    <a:pt x="2187113" y="531876"/>
                    <a:pt x="2182104" y="543970"/>
                    <a:pt x="2173187" y="552887"/>
                  </a:cubicBezTo>
                  <a:cubicBezTo>
                    <a:pt x="2164270" y="561804"/>
                    <a:pt x="2152177" y="566813"/>
                    <a:pt x="2139566" y="566813"/>
                  </a:cubicBezTo>
                  <a:lnTo>
                    <a:pt x="47547" y="566813"/>
                  </a:lnTo>
                  <a:cubicBezTo>
                    <a:pt x="34937" y="566813"/>
                    <a:pt x="22843" y="561804"/>
                    <a:pt x="13926" y="552887"/>
                  </a:cubicBezTo>
                  <a:cubicBezTo>
                    <a:pt x="5009" y="543970"/>
                    <a:pt x="0" y="531876"/>
                    <a:pt x="0" y="519266"/>
                  </a:cubicBezTo>
                  <a:lnTo>
                    <a:pt x="0" y="47547"/>
                  </a:lnTo>
                  <a:cubicBezTo>
                    <a:pt x="0" y="34937"/>
                    <a:pt x="5009" y="22843"/>
                    <a:pt x="13926" y="13926"/>
                  </a:cubicBezTo>
                  <a:cubicBezTo>
                    <a:pt x="22843" y="5009"/>
                    <a:pt x="34937" y="0"/>
                    <a:pt x="47547" y="0"/>
                  </a:cubicBezTo>
                  <a:close/>
                </a:path>
              </a:pathLst>
            </a:custGeom>
            <a:solidFill>
              <a:srgbClr val="858789">
                <a:alpha val="40000"/>
              </a:srgbClr>
            </a:solidFill>
            <a:ln w="19050" cap="rnd">
              <a:solidFill>
                <a:srgbClr val="243342">
                  <a:alpha val="40000"/>
                </a:srgbClr>
              </a:solidFill>
              <a:prstDash val="solid"/>
              <a:round/>
            </a:ln>
          </p:spPr>
        </p:sp>
        <p:sp>
          <p:nvSpPr>
            <p:cNvPr name="TextBox 31" id="31"/>
            <p:cNvSpPr txBox="true"/>
            <p:nvPr/>
          </p:nvSpPr>
          <p:spPr>
            <a:xfrm>
              <a:off x="0" y="-38100"/>
              <a:ext cx="2187113" cy="604913"/>
            </a:xfrm>
            <a:prstGeom prst="rect">
              <a:avLst/>
            </a:prstGeom>
          </p:spPr>
          <p:txBody>
            <a:bodyPr anchor="ctr" rtlCol="false" tIns="50800" lIns="50800" bIns="50800" rIns="50800"/>
            <a:lstStyle/>
            <a:p>
              <a:pPr algn="ctr">
                <a:lnSpc>
                  <a:spcPts val="3362"/>
                </a:lnSpc>
              </a:pPr>
            </a:p>
          </p:txBody>
        </p:sp>
      </p:grpSp>
      <p:sp>
        <p:nvSpPr>
          <p:cNvPr name="TextBox 32" id="32"/>
          <p:cNvSpPr txBox="true"/>
          <p:nvPr/>
        </p:nvSpPr>
        <p:spPr>
          <a:xfrm rot="0">
            <a:off x="8759558" y="1616519"/>
            <a:ext cx="7956185" cy="1934210"/>
          </a:xfrm>
          <a:prstGeom prst="rect">
            <a:avLst/>
          </a:prstGeom>
        </p:spPr>
        <p:txBody>
          <a:bodyPr anchor="t" rtlCol="false" tIns="0" lIns="0" bIns="0" rIns="0">
            <a:spAutoFit/>
          </a:bodyPr>
          <a:lstStyle/>
          <a:p>
            <a:pPr algn="just">
              <a:lnSpc>
                <a:spcPts val="3640"/>
              </a:lnSpc>
            </a:pPr>
            <a:r>
              <a:rPr lang="en-US" sz="2600">
                <a:solidFill>
                  <a:srgbClr val="000000"/>
                </a:solidFill>
                <a:latin typeface="Karnchang"/>
                <a:ea typeface="Karnchang"/>
                <a:cs typeface="Karnchang"/>
                <a:sym typeface="Karnchang"/>
              </a:rPr>
              <a:t>Pancaran pengirim dapat dibentuk pada salah satu antena penerima di SIAR. Fitur ini sangat berguna untuk beberapa aplikasi yang membatasi ukuran antena penerima.</a:t>
            </a:r>
          </a:p>
        </p:txBody>
      </p:sp>
      <p:sp>
        <p:nvSpPr>
          <p:cNvPr name="TextBox 33" id="33"/>
          <p:cNvSpPr txBox="true"/>
          <p:nvPr/>
        </p:nvSpPr>
        <p:spPr>
          <a:xfrm rot="0">
            <a:off x="319161" y="2422524"/>
            <a:ext cx="8409475" cy="1107440"/>
          </a:xfrm>
          <a:prstGeom prst="rect">
            <a:avLst/>
          </a:prstGeom>
        </p:spPr>
        <p:txBody>
          <a:bodyPr anchor="t" rtlCol="false" tIns="0" lIns="0" bIns="0" rIns="0">
            <a:spAutoFit/>
          </a:bodyPr>
          <a:lstStyle/>
          <a:p>
            <a:pPr algn="ctr">
              <a:lnSpc>
                <a:spcPts val="5980"/>
              </a:lnSpc>
            </a:pPr>
            <a:r>
              <a:rPr lang="en-US" sz="6500" b="true">
                <a:solidFill>
                  <a:srgbClr val="000000"/>
                </a:solidFill>
                <a:latin typeface="Karnchang Bold"/>
                <a:ea typeface="Karnchang Bold"/>
                <a:cs typeface="Karnchang Bold"/>
                <a:sym typeface="Karnchang Bold"/>
              </a:rPr>
              <a:t>Aplikasi Lain</a:t>
            </a:r>
          </a:p>
        </p:txBody>
      </p:sp>
      <p:sp>
        <p:nvSpPr>
          <p:cNvPr name="TextBox 34" id="34"/>
          <p:cNvSpPr txBox="true"/>
          <p:nvPr/>
        </p:nvSpPr>
        <p:spPr>
          <a:xfrm rot="0">
            <a:off x="8759558" y="3677519"/>
            <a:ext cx="7956185" cy="4677410"/>
          </a:xfrm>
          <a:prstGeom prst="rect">
            <a:avLst/>
          </a:prstGeom>
        </p:spPr>
        <p:txBody>
          <a:bodyPr anchor="t" rtlCol="false" tIns="0" lIns="0" bIns="0" rIns="0">
            <a:spAutoFit/>
          </a:bodyPr>
          <a:lstStyle/>
          <a:p>
            <a:pPr algn="just">
              <a:lnSpc>
                <a:spcPts val="3640"/>
              </a:lnSpc>
            </a:pPr>
            <a:r>
              <a:rPr lang="en-US" sz="2600">
                <a:solidFill>
                  <a:srgbClr val="000000"/>
                </a:solidFill>
                <a:latin typeface="Karnchang"/>
                <a:ea typeface="Karnchang"/>
                <a:cs typeface="Karnchang"/>
                <a:sym typeface="Karnchang"/>
              </a:rPr>
              <a:t>Kemudian kita dapat menggunakan beberapa pemancar dan hanya satu atau sejumlah kecil penerima untuk membentuk sistem. Ini dapat disebut sebagai radar multiple input dan single output (MISO). Kemudian kita bisa mendapatkan informasi sudut yang sesuai dengan susunan transmisi untuk melokalisasi target. Kami telah mengembangkan dua kemungkinan aplikasi dengan sistem eksperimental menggunakan Gelombang Permukaan Frekuensi Tinggi (HFSW) dan pita gelombang mikro. Selanjutnya akan diperkenalkan.</a:t>
            </a:r>
          </a:p>
        </p:txBody>
      </p:sp>
      <p:grpSp>
        <p:nvGrpSpPr>
          <p:cNvPr name="Group 35" id="35"/>
          <p:cNvGrpSpPr/>
          <p:nvPr/>
        </p:nvGrpSpPr>
        <p:grpSpPr>
          <a:xfrm rot="0">
            <a:off x="15665503" y="317552"/>
            <a:ext cx="2042119" cy="650325"/>
            <a:chOff x="0" y="0"/>
            <a:chExt cx="537842" cy="171279"/>
          </a:xfrm>
        </p:grpSpPr>
        <p:sp>
          <p:nvSpPr>
            <p:cNvPr name="Freeform 36" id="36"/>
            <p:cNvSpPr/>
            <p:nvPr/>
          </p:nvSpPr>
          <p:spPr>
            <a:xfrm flipH="false" flipV="false" rot="0">
              <a:off x="0" y="0"/>
              <a:ext cx="537842" cy="171279"/>
            </a:xfrm>
            <a:custGeom>
              <a:avLst/>
              <a:gdLst/>
              <a:ahLst/>
              <a:cxnLst/>
              <a:rect r="r" b="b" t="t" l="l"/>
              <a:pathLst>
                <a:path h="171279" w="537842">
                  <a:moveTo>
                    <a:pt x="53076" y="0"/>
                  </a:moveTo>
                  <a:lnTo>
                    <a:pt x="484766" y="0"/>
                  </a:lnTo>
                  <a:cubicBezTo>
                    <a:pt x="514079" y="0"/>
                    <a:pt x="537842" y="23763"/>
                    <a:pt x="537842" y="53076"/>
                  </a:cubicBezTo>
                  <a:lnTo>
                    <a:pt x="537842" y="118203"/>
                  </a:lnTo>
                  <a:cubicBezTo>
                    <a:pt x="537842" y="132280"/>
                    <a:pt x="532250" y="145780"/>
                    <a:pt x="522296" y="155734"/>
                  </a:cubicBezTo>
                  <a:cubicBezTo>
                    <a:pt x="512343" y="165687"/>
                    <a:pt x="498843" y="171279"/>
                    <a:pt x="484766" y="171279"/>
                  </a:cubicBezTo>
                  <a:lnTo>
                    <a:pt x="53076" y="171279"/>
                  </a:lnTo>
                  <a:cubicBezTo>
                    <a:pt x="38999" y="171279"/>
                    <a:pt x="25499" y="165687"/>
                    <a:pt x="15546" y="155734"/>
                  </a:cubicBezTo>
                  <a:cubicBezTo>
                    <a:pt x="5592" y="145780"/>
                    <a:pt x="0" y="132280"/>
                    <a:pt x="0" y="118203"/>
                  </a:cubicBezTo>
                  <a:lnTo>
                    <a:pt x="0" y="53076"/>
                  </a:lnTo>
                  <a:cubicBezTo>
                    <a:pt x="0" y="38999"/>
                    <a:pt x="5592" y="25499"/>
                    <a:pt x="15546" y="15546"/>
                  </a:cubicBezTo>
                  <a:cubicBezTo>
                    <a:pt x="25499" y="5592"/>
                    <a:pt x="38999" y="0"/>
                    <a:pt x="53076" y="0"/>
                  </a:cubicBezTo>
                  <a:close/>
                </a:path>
              </a:pathLst>
            </a:custGeom>
            <a:solidFill>
              <a:srgbClr val="535659"/>
            </a:solidFill>
            <a:ln w="19050" cap="sq">
              <a:solidFill>
                <a:srgbClr val="243342"/>
              </a:solidFill>
              <a:prstDash val="solid"/>
              <a:miter/>
            </a:ln>
          </p:spPr>
        </p:sp>
        <p:sp>
          <p:nvSpPr>
            <p:cNvPr name="TextBox 37" id="37"/>
            <p:cNvSpPr txBox="true"/>
            <p:nvPr/>
          </p:nvSpPr>
          <p:spPr>
            <a:xfrm>
              <a:off x="0" y="-38100"/>
              <a:ext cx="537842" cy="209379"/>
            </a:xfrm>
            <a:prstGeom prst="rect">
              <a:avLst/>
            </a:prstGeom>
          </p:spPr>
          <p:txBody>
            <a:bodyPr anchor="ctr" rtlCol="false" tIns="50800" lIns="50800" bIns="50800" rIns="50800"/>
            <a:lstStyle/>
            <a:p>
              <a:pPr algn="ctr">
                <a:lnSpc>
                  <a:spcPts val="3362"/>
                </a:lnSpc>
              </a:pPr>
            </a:p>
          </p:txBody>
        </p:sp>
      </p:grpSp>
      <p:sp>
        <p:nvSpPr>
          <p:cNvPr name="TextBox 38" id="38"/>
          <p:cNvSpPr txBox="true"/>
          <p:nvPr/>
        </p:nvSpPr>
        <p:spPr>
          <a:xfrm rot="0">
            <a:off x="15621459" y="349050"/>
            <a:ext cx="2168307" cy="444500"/>
          </a:xfrm>
          <a:prstGeom prst="rect">
            <a:avLst/>
          </a:prstGeom>
        </p:spPr>
        <p:txBody>
          <a:bodyPr anchor="t" rtlCol="false" tIns="0" lIns="0" bIns="0" rIns="0">
            <a:spAutoFit/>
          </a:bodyPr>
          <a:lstStyle/>
          <a:p>
            <a:pPr algn="ctr">
              <a:lnSpc>
                <a:spcPts val="2800"/>
              </a:lnSpc>
            </a:pPr>
            <a:r>
              <a:rPr lang="en-US" sz="2000" spc="120">
                <a:solidFill>
                  <a:srgbClr val="FFFFFF"/>
                </a:solidFill>
                <a:latin typeface="Karnchang"/>
                <a:ea typeface="Karnchang"/>
                <a:cs typeface="Karnchang"/>
                <a:sym typeface="Karnchang"/>
              </a:rPr>
              <a:t>Halaman 7</a:t>
            </a:r>
          </a:p>
        </p:txBody>
      </p:sp>
      <p:grpSp>
        <p:nvGrpSpPr>
          <p:cNvPr name="Group 39" id="39"/>
          <p:cNvGrpSpPr/>
          <p:nvPr/>
        </p:nvGrpSpPr>
        <p:grpSpPr>
          <a:xfrm rot="0">
            <a:off x="629723" y="9258300"/>
            <a:ext cx="6961669" cy="627749"/>
            <a:chOff x="0" y="0"/>
            <a:chExt cx="1833526" cy="165333"/>
          </a:xfrm>
        </p:grpSpPr>
        <p:sp>
          <p:nvSpPr>
            <p:cNvPr name="Freeform 40" id="40"/>
            <p:cNvSpPr/>
            <p:nvPr/>
          </p:nvSpPr>
          <p:spPr>
            <a:xfrm flipH="false" flipV="false" rot="0">
              <a:off x="0" y="0"/>
              <a:ext cx="1833526" cy="165333"/>
            </a:xfrm>
            <a:custGeom>
              <a:avLst/>
              <a:gdLst/>
              <a:ahLst/>
              <a:cxnLst/>
              <a:rect r="r" b="b" t="t" l="l"/>
              <a:pathLst>
                <a:path h="165333" w="1833526">
                  <a:moveTo>
                    <a:pt x="16681" y="0"/>
                  </a:moveTo>
                  <a:lnTo>
                    <a:pt x="1816845" y="0"/>
                  </a:lnTo>
                  <a:cubicBezTo>
                    <a:pt x="1821269" y="0"/>
                    <a:pt x="1825512" y="1757"/>
                    <a:pt x="1828640" y="4886"/>
                  </a:cubicBezTo>
                  <a:cubicBezTo>
                    <a:pt x="1831769" y="8014"/>
                    <a:pt x="1833526" y="12257"/>
                    <a:pt x="1833526" y="16681"/>
                  </a:cubicBezTo>
                  <a:lnTo>
                    <a:pt x="1833526" y="148652"/>
                  </a:lnTo>
                  <a:cubicBezTo>
                    <a:pt x="1833526" y="157865"/>
                    <a:pt x="1826058" y="165333"/>
                    <a:pt x="1816845" y="165333"/>
                  </a:cubicBezTo>
                  <a:lnTo>
                    <a:pt x="16681" y="165333"/>
                  </a:lnTo>
                  <a:cubicBezTo>
                    <a:pt x="7468" y="165333"/>
                    <a:pt x="0" y="157865"/>
                    <a:pt x="0" y="148652"/>
                  </a:cubicBezTo>
                  <a:lnTo>
                    <a:pt x="0" y="16681"/>
                  </a:lnTo>
                  <a:cubicBezTo>
                    <a:pt x="0" y="7468"/>
                    <a:pt x="7468" y="0"/>
                    <a:pt x="16681" y="0"/>
                  </a:cubicBezTo>
                  <a:close/>
                </a:path>
              </a:pathLst>
            </a:custGeom>
            <a:solidFill>
              <a:srgbClr val="535659"/>
            </a:solidFill>
            <a:ln w="19050" cap="sq">
              <a:solidFill>
                <a:srgbClr val="243342"/>
              </a:solidFill>
              <a:prstDash val="solid"/>
              <a:miter/>
            </a:ln>
          </p:spPr>
        </p:sp>
        <p:sp>
          <p:nvSpPr>
            <p:cNvPr name="TextBox 41" id="41"/>
            <p:cNvSpPr txBox="true"/>
            <p:nvPr/>
          </p:nvSpPr>
          <p:spPr>
            <a:xfrm>
              <a:off x="0" y="-38100"/>
              <a:ext cx="1833526" cy="203433"/>
            </a:xfrm>
            <a:prstGeom prst="rect">
              <a:avLst/>
            </a:prstGeom>
          </p:spPr>
          <p:txBody>
            <a:bodyPr anchor="ctr" rtlCol="false" tIns="50800" lIns="50800" bIns="50800" rIns="50800"/>
            <a:lstStyle/>
            <a:p>
              <a:pPr algn="ctr">
                <a:lnSpc>
                  <a:spcPts val="3362"/>
                </a:lnSpc>
              </a:pPr>
            </a:p>
          </p:txBody>
        </p:sp>
      </p:grpSp>
      <p:sp>
        <p:nvSpPr>
          <p:cNvPr name="TextBox 42" id="42"/>
          <p:cNvSpPr txBox="true"/>
          <p:nvPr/>
        </p:nvSpPr>
        <p:spPr>
          <a:xfrm rot="0">
            <a:off x="551143" y="9305925"/>
            <a:ext cx="7118830" cy="444454"/>
          </a:xfrm>
          <a:prstGeom prst="rect">
            <a:avLst/>
          </a:prstGeom>
        </p:spPr>
        <p:txBody>
          <a:bodyPr anchor="t" rtlCol="false" tIns="0" lIns="0" bIns="0" rIns="0">
            <a:spAutoFit/>
          </a:bodyPr>
          <a:lstStyle/>
          <a:p>
            <a:pPr algn="ctr">
              <a:lnSpc>
                <a:spcPts val="2800"/>
              </a:lnSpc>
            </a:pPr>
            <a:r>
              <a:rPr lang="en-US" sz="2000" spc="120">
                <a:solidFill>
                  <a:srgbClr val="FFFFFF"/>
                </a:solidFill>
                <a:latin typeface="Karnchang"/>
                <a:ea typeface="Karnchang"/>
                <a:cs typeface="Karnchang"/>
                <a:sym typeface="Karnchang"/>
              </a:rPr>
              <a:t>Murad Naser |  Universitas Fauget | Ekonomi | 2025</a:t>
            </a:r>
          </a:p>
        </p:txBody>
      </p:sp>
      <p:grpSp>
        <p:nvGrpSpPr>
          <p:cNvPr name="Group 43" id="43"/>
          <p:cNvGrpSpPr/>
          <p:nvPr/>
        </p:nvGrpSpPr>
        <p:grpSpPr>
          <a:xfrm rot="0">
            <a:off x="629723" y="9258300"/>
            <a:ext cx="9916004" cy="627749"/>
            <a:chOff x="0" y="0"/>
            <a:chExt cx="2611622" cy="165333"/>
          </a:xfrm>
        </p:grpSpPr>
        <p:sp>
          <p:nvSpPr>
            <p:cNvPr name="Freeform 44" id="44"/>
            <p:cNvSpPr/>
            <p:nvPr/>
          </p:nvSpPr>
          <p:spPr>
            <a:xfrm flipH="false" flipV="false" rot="0">
              <a:off x="0" y="0"/>
              <a:ext cx="2611622" cy="165333"/>
            </a:xfrm>
            <a:custGeom>
              <a:avLst/>
              <a:gdLst/>
              <a:ahLst/>
              <a:cxnLst/>
              <a:rect r="r" b="b" t="t" l="l"/>
              <a:pathLst>
                <a:path h="165333" w="2611622">
                  <a:moveTo>
                    <a:pt x="11711" y="0"/>
                  </a:moveTo>
                  <a:lnTo>
                    <a:pt x="2599911" y="0"/>
                  </a:lnTo>
                  <a:cubicBezTo>
                    <a:pt x="2606379" y="0"/>
                    <a:pt x="2611622" y="5243"/>
                    <a:pt x="2611622" y="11711"/>
                  </a:cubicBezTo>
                  <a:lnTo>
                    <a:pt x="2611622" y="153622"/>
                  </a:lnTo>
                  <a:cubicBezTo>
                    <a:pt x="2611622" y="156728"/>
                    <a:pt x="2610389" y="159707"/>
                    <a:pt x="2608192" y="161903"/>
                  </a:cubicBezTo>
                  <a:cubicBezTo>
                    <a:pt x="2605996" y="164099"/>
                    <a:pt x="2603017" y="165333"/>
                    <a:pt x="2599911" y="165333"/>
                  </a:cubicBezTo>
                  <a:lnTo>
                    <a:pt x="11711" y="165333"/>
                  </a:lnTo>
                  <a:cubicBezTo>
                    <a:pt x="8605" y="165333"/>
                    <a:pt x="5626" y="164099"/>
                    <a:pt x="3430" y="161903"/>
                  </a:cubicBezTo>
                  <a:cubicBezTo>
                    <a:pt x="1234" y="159707"/>
                    <a:pt x="0" y="156728"/>
                    <a:pt x="0" y="153622"/>
                  </a:cubicBezTo>
                  <a:lnTo>
                    <a:pt x="0" y="11711"/>
                  </a:lnTo>
                  <a:cubicBezTo>
                    <a:pt x="0" y="8605"/>
                    <a:pt x="1234" y="5626"/>
                    <a:pt x="3430" y="3430"/>
                  </a:cubicBezTo>
                  <a:cubicBezTo>
                    <a:pt x="5626" y="1234"/>
                    <a:pt x="8605" y="0"/>
                    <a:pt x="11711" y="0"/>
                  </a:cubicBezTo>
                  <a:close/>
                </a:path>
              </a:pathLst>
            </a:custGeom>
            <a:solidFill>
              <a:srgbClr val="535659"/>
            </a:solidFill>
            <a:ln w="19050" cap="sq">
              <a:solidFill>
                <a:srgbClr val="243342"/>
              </a:solidFill>
              <a:prstDash val="solid"/>
              <a:miter/>
            </a:ln>
          </p:spPr>
        </p:sp>
        <p:sp>
          <p:nvSpPr>
            <p:cNvPr name="TextBox 45" id="45"/>
            <p:cNvSpPr txBox="true"/>
            <p:nvPr/>
          </p:nvSpPr>
          <p:spPr>
            <a:xfrm>
              <a:off x="0" y="-38100"/>
              <a:ext cx="2611622" cy="203433"/>
            </a:xfrm>
            <a:prstGeom prst="rect">
              <a:avLst/>
            </a:prstGeom>
          </p:spPr>
          <p:txBody>
            <a:bodyPr anchor="ctr" rtlCol="false" tIns="50800" lIns="50800" bIns="50800" rIns="50800"/>
            <a:lstStyle/>
            <a:p>
              <a:pPr algn="ctr">
                <a:lnSpc>
                  <a:spcPts val="3362"/>
                </a:lnSpc>
              </a:pPr>
            </a:p>
          </p:txBody>
        </p:sp>
      </p:grpSp>
      <p:sp>
        <p:nvSpPr>
          <p:cNvPr name="TextBox 46" id="46"/>
          <p:cNvSpPr txBox="true"/>
          <p:nvPr/>
        </p:nvSpPr>
        <p:spPr>
          <a:xfrm rot="0">
            <a:off x="551143" y="9305925"/>
            <a:ext cx="9994584" cy="444500"/>
          </a:xfrm>
          <a:prstGeom prst="rect">
            <a:avLst/>
          </a:prstGeom>
        </p:spPr>
        <p:txBody>
          <a:bodyPr anchor="t" rtlCol="false" tIns="0" lIns="0" bIns="0" rIns="0">
            <a:spAutoFit/>
          </a:bodyPr>
          <a:lstStyle/>
          <a:p>
            <a:pPr algn="ctr">
              <a:lnSpc>
                <a:spcPts val="2800"/>
              </a:lnSpc>
            </a:pPr>
            <a:r>
              <a:rPr lang="en-US" sz="2000" spc="120">
                <a:solidFill>
                  <a:srgbClr val="FFFFFF"/>
                </a:solidFill>
                <a:latin typeface="Karnchang"/>
                <a:ea typeface="Karnchang"/>
                <a:cs typeface="Karnchang"/>
                <a:sym typeface="Karnchang"/>
              </a:rPr>
              <a:t>Abdul Rozak A |  Politeknik Negeri Bandung | Teknik Telekomuniakasi | 2024</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6EAEF"/>
        </a:solidFill>
      </p:bgPr>
    </p:bg>
    <p:spTree>
      <p:nvGrpSpPr>
        <p:cNvPr id="1" name=""/>
        <p:cNvGrpSpPr/>
        <p:nvPr/>
      </p:nvGrpSpPr>
      <p:grpSpPr>
        <a:xfrm>
          <a:off x="0" y="0"/>
          <a:ext cx="0" cy="0"/>
          <a:chOff x="0" y="0"/>
          <a:chExt cx="0" cy="0"/>
        </a:xfrm>
      </p:grpSpPr>
      <p:grpSp>
        <p:nvGrpSpPr>
          <p:cNvPr name="Group 2" id="2"/>
          <p:cNvGrpSpPr/>
          <p:nvPr/>
        </p:nvGrpSpPr>
        <p:grpSpPr>
          <a:xfrm rot="0">
            <a:off x="787067" y="592941"/>
            <a:ext cx="16713866" cy="9101117"/>
            <a:chOff x="0" y="0"/>
            <a:chExt cx="4402006" cy="2397002"/>
          </a:xfrm>
        </p:grpSpPr>
        <p:sp>
          <p:nvSpPr>
            <p:cNvPr name="Freeform 3" id="3"/>
            <p:cNvSpPr/>
            <p:nvPr/>
          </p:nvSpPr>
          <p:spPr>
            <a:xfrm flipH="false" flipV="false" rot="0">
              <a:off x="0" y="0"/>
              <a:ext cx="4402006" cy="2397002"/>
            </a:xfrm>
            <a:custGeom>
              <a:avLst/>
              <a:gdLst/>
              <a:ahLst/>
              <a:cxnLst/>
              <a:rect r="r" b="b" t="t" l="l"/>
              <a:pathLst>
                <a:path h="2397002" w="4402006">
                  <a:moveTo>
                    <a:pt x="23623" y="0"/>
                  </a:moveTo>
                  <a:lnTo>
                    <a:pt x="4378382" y="0"/>
                  </a:lnTo>
                  <a:cubicBezTo>
                    <a:pt x="4391429" y="0"/>
                    <a:pt x="4402006" y="10577"/>
                    <a:pt x="4402006" y="23623"/>
                  </a:cubicBezTo>
                  <a:lnTo>
                    <a:pt x="4402006" y="2373379"/>
                  </a:lnTo>
                  <a:cubicBezTo>
                    <a:pt x="4402006" y="2379644"/>
                    <a:pt x="4399517" y="2385653"/>
                    <a:pt x="4395087" y="2390083"/>
                  </a:cubicBezTo>
                  <a:cubicBezTo>
                    <a:pt x="4390656" y="2394513"/>
                    <a:pt x="4384647" y="2397002"/>
                    <a:pt x="4378382" y="2397002"/>
                  </a:cubicBezTo>
                  <a:lnTo>
                    <a:pt x="23623" y="2397002"/>
                  </a:lnTo>
                  <a:cubicBezTo>
                    <a:pt x="17358" y="2397002"/>
                    <a:pt x="11349" y="2394513"/>
                    <a:pt x="6919" y="2390083"/>
                  </a:cubicBezTo>
                  <a:cubicBezTo>
                    <a:pt x="2489" y="2385653"/>
                    <a:pt x="0" y="2379644"/>
                    <a:pt x="0" y="2373379"/>
                  </a:cubicBezTo>
                  <a:lnTo>
                    <a:pt x="0" y="23623"/>
                  </a:lnTo>
                  <a:cubicBezTo>
                    <a:pt x="0" y="17358"/>
                    <a:pt x="2489" y="11349"/>
                    <a:pt x="6919" y="6919"/>
                  </a:cubicBezTo>
                  <a:cubicBezTo>
                    <a:pt x="11349" y="2489"/>
                    <a:pt x="17358" y="0"/>
                    <a:pt x="23623" y="0"/>
                  </a:cubicBezTo>
                  <a:close/>
                </a:path>
              </a:pathLst>
            </a:custGeom>
            <a:solidFill>
              <a:srgbClr val="E6EAEF"/>
            </a:solidFill>
            <a:ln w="19050" cap="rnd">
              <a:solidFill>
                <a:srgbClr val="243342"/>
              </a:solidFill>
              <a:prstDash val="solid"/>
              <a:round/>
            </a:ln>
          </p:spPr>
        </p:sp>
        <p:sp>
          <p:nvSpPr>
            <p:cNvPr name="TextBox 4" id="4"/>
            <p:cNvSpPr txBox="true"/>
            <p:nvPr/>
          </p:nvSpPr>
          <p:spPr>
            <a:xfrm>
              <a:off x="0" y="-38100"/>
              <a:ext cx="4402006" cy="2435102"/>
            </a:xfrm>
            <a:prstGeom prst="rect">
              <a:avLst/>
            </a:prstGeom>
          </p:spPr>
          <p:txBody>
            <a:bodyPr anchor="ctr" rtlCol="false" tIns="50800" lIns="50800" bIns="50800" rIns="50800"/>
            <a:lstStyle/>
            <a:p>
              <a:pPr algn="ctr">
                <a:lnSpc>
                  <a:spcPts val="3362"/>
                </a:lnSpc>
              </a:pPr>
            </a:p>
          </p:txBody>
        </p:sp>
      </p:grpSp>
      <p:grpSp>
        <p:nvGrpSpPr>
          <p:cNvPr name="Group 5" id="5"/>
          <p:cNvGrpSpPr/>
          <p:nvPr/>
        </p:nvGrpSpPr>
        <p:grpSpPr>
          <a:xfrm rot="-7538080">
            <a:off x="-7029811" y="-5584933"/>
            <a:ext cx="9808447" cy="9331824"/>
            <a:chOff x="0" y="0"/>
            <a:chExt cx="13077930" cy="12442432"/>
          </a:xfrm>
        </p:grpSpPr>
        <p:grpSp>
          <p:nvGrpSpPr>
            <p:cNvPr name="Group 6" id="6"/>
            <p:cNvGrpSpPr/>
            <p:nvPr/>
          </p:nvGrpSpPr>
          <p:grpSpPr>
            <a:xfrm rot="2252144">
              <a:off x="1498251" y="1484738"/>
              <a:ext cx="7399579" cy="7432687"/>
              <a:chOff x="0" y="0"/>
              <a:chExt cx="2816645" cy="2829248"/>
            </a:xfrm>
          </p:grpSpPr>
          <p:sp>
            <p:nvSpPr>
              <p:cNvPr name="Freeform 7" id="7"/>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243342"/>
              </a:solidFill>
            </p:spPr>
          </p:sp>
          <p:sp>
            <p:nvSpPr>
              <p:cNvPr name="TextBox 8" id="8"/>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2252144">
              <a:off x="2397493" y="3224228"/>
              <a:ext cx="7399579" cy="7432687"/>
              <a:chOff x="0" y="0"/>
              <a:chExt cx="2816645" cy="2829248"/>
            </a:xfrm>
          </p:grpSpPr>
          <p:sp>
            <p:nvSpPr>
              <p:cNvPr name="Freeform 10" id="10"/>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535659"/>
              </a:solidFill>
            </p:spPr>
          </p:sp>
          <p:sp>
            <p:nvSpPr>
              <p:cNvPr name="TextBox 11" id="11"/>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2252144">
              <a:off x="4180100" y="3525007"/>
              <a:ext cx="7399579" cy="7432687"/>
              <a:chOff x="0" y="0"/>
              <a:chExt cx="2816645" cy="2829248"/>
            </a:xfrm>
          </p:grpSpPr>
          <p:sp>
            <p:nvSpPr>
              <p:cNvPr name="Freeform 13" id="13"/>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858789"/>
              </a:solidFill>
            </p:spPr>
          </p:sp>
          <p:sp>
            <p:nvSpPr>
              <p:cNvPr name="TextBox 14" id="14"/>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grpSp>
        <p:nvGrpSpPr>
          <p:cNvPr name="Group 15" id="15"/>
          <p:cNvGrpSpPr/>
          <p:nvPr/>
        </p:nvGrpSpPr>
        <p:grpSpPr>
          <a:xfrm rot="2124477">
            <a:off x="15979122" y="5429903"/>
            <a:ext cx="9808447" cy="9331824"/>
            <a:chOff x="0" y="0"/>
            <a:chExt cx="13077930" cy="12442432"/>
          </a:xfrm>
        </p:grpSpPr>
        <p:grpSp>
          <p:nvGrpSpPr>
            <p:cNvPr name="Group 16" id="16"/>
            <p:cNvGrpSpPr/>
            <p:nvPr/>
          </p:nvGrpSpPr>
          <p:grpSpPr>
            <a:xfrm rot="2252144">
              <a:off x="1498251" y="1484738"/>
              <a:ext cx="7399579" cy="7432687"/>
              <a:chOff x="0" y="0"/>
              <a:chExt cx="2816645" cy="2829248"/>
            </a:xfrm>
          </p:grpSpPr>
          <p:sp>
            <p:nvSpPr>
              <p:cNvPr name="Freeform 17" id="17"/>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243342"/>
              </a:solidFill>
            </p:spPr>
          </p:sp>
          <p:sp>
            <p:nvSpPr>
              <p:cNvPr name="TextBox 18" id="18"/>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19" id="19"/>
            <p:cNvGrpSpPr/>
            <p:nvPr/>
          </p:nvGrpSpPr>
          <p:grpSpPr>
            <a:xfrm rot="2252144">
              <a:off x="2397493" y="3224228"/>
              <a:ext cx="7399579" cy="7432687"/>
              <a:chOff x="0" y="0"/>
              <a:chExt cx="2816645" cy="2829248"/>
            </a:xfrm>
          </p:grpSpPr>
          <p:sp>
            <p:nvSpPr>
              <p:cNvPr name="Freeform 20" id="20"/>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535659"/>
              </a:solidFill>
            </p:spPr>
          </p:sp>
          <p:sp>
            <p:nvSpPr>
              <p:cNvPr name="TextBox 21" id="21"/>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22" id="22"/>
            <p:cNvGrpSpPr/>
            <p:nvPr/>
          </p:nvGrpSpPr>
          <p:grpSpPr>
            <a:xfrm rot="2252144">
              <a:off x="4180100" y="3525007"/>
              <a:ext cx="7399579" cy="7432687"/>
              <a:chOff x="0" y="0"/>
              <a:chExt cx="2816645" cy="2829248"/>
            </a:xfrm>
          </p:grpSpPr>
          <p:sp>
            <p:nvSpPr>
              <p:cNvPr name="Freeform 23" id="23"/>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858789"/>
              </a:solidFill>
            </p:spPr>
          </p:sp>
          <p:sp>
            <p:nvSpPr>
              <p:cNvPr name="TextBox 24" id="24"/>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grpSp>
        <p:nvGrpSpPr>
          <p:cNvPr name="Group 25" id="25"/>
          <p:cNvGrpSpPr>
            <a:grpSpLocks noChangeAspect="true"/>
          </p:cNvGrpSpPr>
          <p:nvPr/>
        </p:nvGrpSpPr>
        <p:grpSpPr>
          <a:xfrm rot="0">
            <a:off x="1490452" y="3745408"/>
            <a:ext cx="6458391" cy="4848531"/>
            <a:chOff x="0" y="0"/>
            <a:chExt cx="8916670" cy="6694043"/>
          </a:xfrm>
        </p:grpSpPr>
        <p:sp>
          <p:nvSpPr>
            <p:cNvPr name="Freeform 26" id="26"/>
            <p:cNvSpPr/>
            <p:nvPr/>
          </p:nvSpPr>
          <p:spPr>
            <a:xfrm flipH="false" flipV="false" rot="0">
              <a:off x="155575" y="155575"/>
              <a:ext cx="8605520" cy="6382893"/>
            </a:xfrm>
            <a:custGeom>
              <a:avLst/>
              <a:gdLst/>
              <a:ahLst/>
              <a:cxnLst/>
              <a:rect r="r" b="b" t="t" l="l"/>
              <a:pathLst>
                <a:path h="6382893" w="8605520">
                  <a:moveTo>
                    <a:pt x="0" y="0"/>
                  </a:moveTo>
                  <a:lnTo>
                    <a:pt x="8605520" y="0"/>
                  </a:lnTo>
                  <a:lnTo>
                    <a:pt x="8605520" y="6382893"/>
                  </a:lnTo>
                  <a:lnTo>
                    <a:pt x="0" y="6382893"/>
                  </a:lnTo>
                  <a:close/>
                </a:path>
              </a:pathLst>
            </a:custGeom>
            <a:blipFill>
              <a:blip r:embed="rId2"/>
              <a:stretch>
                <a:fillRect l="-4021" t="0" r="-4021" b="0"/>
              </a:stretch>
            </a:blipFill>
          </p:spPr>
        </p:sp>
        <p:sp>
          <p:nvSpPr>
            <p:cNvPr name="Freeform 27" id="27"/>
            <p:cNvSpPr/>
            <p:nvPr/>
          </p:nvSpPr>
          <p:spPr>
            <a:xfrm flipH="false" flipV="false" rot="0">
              <a:off x="6350" y="6350"/>
              <a:ext cx="8903970" cy="6681343"/>
            </a:xfrm>
            <a:custGeom>
              <a:avLst/>
              <a:gdLst/>
              <a:ahLst/>
              <a:cxnLst/>
              <a:rect r="r" b="b" t="t" l="l"/>
              <a:pathLst>
                <a:path h="6681343" w="8903970">
                  <a:moveTo>
                    <a:pt x="8903970" y="6681343"/>
                  </a:moveTo>
                  <a:lnTo>
                    <a:pt x="0" y="6681343"/>
                  </a:lnTo>
                  <a:lnTo>
                    <a:pt x="0" y="0"/>
                  </a:lnTo>
                  <a:lnTo>
                    <a:pt x="8903970" y="0"/>
                  </a:lnTo>
                  <a:lnTo>
                    <a:pt x="8903970" y="6681343"/>
                  </a:lnTo>
                  <a:close/>
                  <a:moveTo>
                    <a:pt x="19050" y="6662293"/>
                  </a:moveTo>
                  <a:lnTo>
                    <a:pt x="8884920" y="6662293"/>
                  </a:lnTo>
                  <a:lnTo>
                    <a:pt x="8884920" y="19050"/>
                  </a:lnTo>
                  <a:lnTo>
                    <a:pt x="19050" y="19050"/>
                  </a:lnTo>
                  <a:lnTo>
                    <a:pt x="19050" y="6662293"/>
                  </a:lnTo>
                  <a:close/>
                  <a:moveTo>
                    <a:pt x="8764270" y="6541643"/>
                  </a:moveTo>
                  <a:lnTo>
                    <a:pt x="139700" y="6541643"/>
                  </a:lnTo>
                  <a:lnTo>
                    <a:pt x="139700" y="139700"/>
                  </a:lnTo>
                  <a:lnTo>
                    <a:pt x="8764270" y="139700"/>
                  </a:lnTo>
                  <a:lnTo>
                    <a:pt x="8764270" y="6541643"/>
                  </a:lnTo>
                  <a:close/>
                  <a:moveTo>
                    <a:pt x="158750" y="6522593"/>
                  </a:moveTo>
                  <a:lnTo>
                    <a:pt x="8745220" y="6522593"/>
                  </a:lnTo>
                  <a:lnTo>
                    <a:pt x="8745220" y="158750"/>
                  </a:lnTo>
                  <a:lnTo>
                    <a:pt x="158750" y="158750"/>
                  </a:lnTo>
                  <a:lnTo>
                    <a:pt x="158750" y="6522593"/>
                  </a:lnTo>
                  <a:close/>
                </a:path>
              </a:pathLst>
            </a:custGeom>
            <a:solidFill>
              <a:srgbClr val="535659"/>
            </a:solidFill>
          </p:spPr>
        </p:sp>
      </p:grpSp>
      <p:grpSp>
        <p:nvGrpSpPr>
          <p:cNvPr name="Group 28" id="28"/>
          <p:cNvGrpSpPr/>
          <p:nvPr/>
        </p:nvGrpSpPr>
        <p:grpSpPr>
          <a:xfrm rot="0">
            <a:off x="15665503" y="317552"/>
            <a:ext cx="2042119" cy="650325"/>
            <a:chOff x="0" y="0"/>
            <a:chExt cx="537842" cy="171279"/>
          </a:xfrm>
        </p:grpSpPr>
        <p:sp>
          <p:nvSpPr>
            <p:cNvPr name="Freeform 29" id="29"/>
            <p:cNvSpPr/>
            <p:nvPr/>
          </p:nvSpPr>
          <p:spPr>
            <a:xfrm flipH="false" flipV="false" rot="0">
              <a:off x="0" y="0"/>
              <a:ext cx="537842" cy="171279"/>
            </a:xfrm>
            <a:custGeom>
              <a:avLst/>
              <a:gdLst/>
              <a:ahLst/>
              <a:cxnLst/>
              <a:rect r="r" b="b" t="t" l="l"/>
              <a:pathLst>
                <a:path h="171279" w="537842">
                  <a:moveTo>
                    <a:pt x="53076" y="0"/>
                  </a:moveTo>
                  <a:lnTo>
                    <a:pt x="484766" y="0"/>
                  </a:lnTo>
                  <a:cubicBezTo>
                    <a:pt x="514079" y="0"/>
                    <a:pt x="537842" y="23763"/>
                    <a:pt x="537842" y="53076"/>
                  </a:cubicBezTo>
                  <a:lnTo>
                    <a:pt x="537842" y="118203"/>
                  </a:lnTo>
                  <a:cubicBezTo>
                    <a:pt x="537842" y="132280"/>
                    <a:pt x="532250" y="145780"/>
                    <a:pt x="522296" y="155734"/>
                  </a:cubicBezTo>
                  <a:cubicBezTo>
                    <a:pt x="512343" y="165687"/>
                    <a:pt x="498843" y="171279"/>
                    <a:pt x="484766" y="171279"/>
                  </a:cubicBezTo>
                  <a:lnTo>
                    <a:pt x="53076" y="171279"/>
                  </a:lnTo>
                  <a:cubicBezTo>
                    <a:pt x="38999" y="171279"/>
                    <a:pt x="25499" y="165687"/>
                    <a:pt x="15546" y="155734"/>
                  </a:cubicBezTo>
                  <a:cubicBezTo>
                    <a:pt x="5592" y="145780"/>
                    <a:pt x="0" y="132280"/>
                    <a:pt x="0" y="118203"/>
                  </a:cubicBezTo>
                  <a:lnTo>
                    <a:pt x="0" y="53076"/>
                  </a:lnTo>
                  <a:cubicBezTo>
                    <a:pt x="0" y="38999"/>
                    <a:pt x="5592" y="25499"/>
                    <a:pt x="15546" y="15546"/>
                  </a:cubicBezTo>
                  <a:cubicBezTo>
                    <a:pt x="25499" y="5592"/>
                    <a:pt x="38999" y="0"/>
                    <a:pt x="53076" y="0"/>
                  </a:cubicBezTo>
                  <a:close/>
                </a:path>
              </a:pathLst>
            </a:custGeom>
            <a:solidFill>
              <a:srgbClr val="535659"/>
            </a:solidFill>
            <a:ln w="19050" cap="sq">
              <a:solidFill>
                <a:srgbClr val="243342"/>
              </a:solidFill>
              <a:prstDash val="solid"/>
              <a:miter/>
            </a:ln>
          </p:spPr>
        </p:sp>
        <p:sp>
          <p:nvSpPr>
            <p:cNvPr name="TextBox 30" id="30"/>
            <p:cNvSpPr txBox="true"/>
            <p:nvPr/>
          </p:nvSpPr>
          <p:spPr>
            <a:xfrm>
              <a:off x="0" y="-38100"/>
              <a:ext cx="537842" cy="209379"/>
            </a:xfrm>
            <a:prstGeom prst="rect">
              <a:avLst/>
            </a:prstGeom>
          </p:spPr>
          <p:txBody>
            <a:bodyPr anchor="ctr" rtlCol="false" tIns="50800" lIns="50800" bIns="50800" rIns="50800"/>
            <a:lstStyle/>
            <a:p>
              <a:pPr algn="ctr">
                <a:lnSpc>
                  <a:spcPts val="3362"/>
                </a:lnSpc>
              </a:pPr>
            </a:p>
          </p:txBody>
        </p:sp>
      </p:grpSp>
      <p:grpSp>
        <p:nvGrpSpPr>
          <p:cNvPr name="Group 31" id="31"/>
          <p:cNvGrpSpPr/>
          <p:nvPr/>
        </p:nvGrpSpPr>
        <p:grpSpPr>
          <a:xfrm rot="0">
            <a:off x="629723" y="9258300"/>
            <a:ext cx="9916004" cy="627749"/>
            <a:chOff x="0" y="0"/>
            <a:chExt cx="2611622" cy="165333"/>
          </a:xfrm>
        </p:grpSpPr>
        <p:sp>
          <p:nvSpPr>
            <p:cNvPr name="Freeform 32" id="32"/>
            <p:cNvSpPr/>
            <p:nvPr/>
          </p:nvSpPr>
          <p:spPr>
            <a:xfrm flipH="false" flipV="false" rot="0">
              <a:off x="0" y="0"/>
              <a:ext cx="2611622" cy="165333"/>
            </a:xfrm>
            <a:custGeom>
              <a:avLst/>
              <a:gdLst/>
              <a:ahLst/>
              <a:cxnLst/>
              <a:rect r="r" b="b" t="t" l="l"/>
              <a:pathLst>
                <a:path h="165333" w="2611622">
                  <a:moveTo>
                    <a:pt x="11711" y="0"/>
                  </a:moveTo>
                  <a:lnTo>
                    <a:pt x="2599911" y="0"/>
                  </a:lnTo>
                  <a:cubicBezTo>
                    <a:pt x="2606379" y="0"/>
                    <a:pt x="2611622" y="5243"/>
                    <a:pt x="2611622" y="11711"/>
                  </a:cubicBezTo>
                  <a:lnTo>
                    <a:pt x="2611622" y="153622"/>
                  </a:lnTo>
                  <a:cubicBezTo>
                    <a:pt x="2611622" y="156728"/>
                    <a:pt x="2610389" y="159707"/>
                    <a:pt x="2608192" y="161903"/>
                  </a:cubicBezTo>
                  <a:cubicBezTo>
                    <a:pt x="2605996" y="164099"/>
                    <a:pt x="2603017" y="165333"/>
                    <a:pt x="2599911" y="165333"/>
                  </a:cubicBezTo>
                  <a:lnTo>
                    <a:pt x="11711" y="165333"/>
                  </a:lnTo>
                  <a:cubicBezTo>
                    <a:pt x="8605" y="165333"/>
                    <a:pt x="5626" y="164099"/>
                    <a:pt x="3430" y="161903"/>
                  </a:cubicBezTo>
                  <a:cubicBezTo>
                    <a:pt x="1234" y="159707"/>
                    <a:pt x="0" y="156728"/>
                    <a:pt x="0" y="153622"/>
                  </a:cubicBezTo>
                  <a:lnTo>
                    <a:pt x="0" y="11711"/>
                  </a:lnTo>
                  <a:cubicBezTo>
                    <a:pt x="0" y="8605"/>
                    <a:pt x="1234" y="5626"/>
                    <a:pt x="3430" y="3430"/>
                  </a:cubicBezTo>
                  <a:cubicBezTo>
                    <a:pt x="5626" y="1234"/>
                    <a:pt x="8605" y="0"/>
                    <a:pt x="11711" y="0"/>
                  </a:cubicBezTo>
                  <a:close/>
                </a:path>
              </a:pathLst>
            </a:custGeom>
            <a:solidFill>
              <a:srgbClr val="535659"/>
            </a:solidFill>
            <a:ln w="19050" cap="sq">
              <a:solidFill>
                <a:srgbClr val="243342"/>
              </a:solidFill>
              <a:prstDash val="solid"/>
              <a:miter/>
            </a:ln>
          </p:spPr>
        </p:sp>
        <p:sp>
          <p:nvSpPr>
            <p:cNvPr name="TextBox 33" id="33"/>
            <p:cNvSpPr txBox="true"/>
            <p:nvPr/>
          </p:nvSpPr>
          <p:spPr>
            <a:xfrm>
              <a:off x="0" y="-38100"/>
              <a:ext cx="2611622" cy="203433"/>
            </a:xfrm>
            <a:prstGeom prst="rect">
              <a:avLst/>
            </a:prstGeom>
          </p:spPr>
          <p:txBody>
            <a:bodyPr anchor="ctr" rtlCol="false" tIns="50800" lIns="50800" bIns="50800" rIns="50800"/>
            <a:lstStyle/>
            <a:p>
              <a:pPr algn="ctr">
                <a:lnSpc>
                  <a:spcPts val="3362"/>
                </a:lnSpc>
              </a:pPr>
            </a:p>
          </p:txBody>
        </p:sp>
      </p:grpSp>
      <p:sp>
        <p:nvSpPr>
          <p:cNvPr name="TextBox 34" id="34"/>
          <p:cNvSpPr txBox="true"/>
          <p:nvPr/>
        </p:nvSpPr>
        <p:spPr>
          <a:xfrm rot="0">
            <a:off x="941221" y="971093"/>
            <a:ext cx="7556853" cy="2718563"/>
          </a:xfrm>
          <a:prstGeom prst="rect">
            <a:avLst/>
          </a:prstGeom>
        </p:spPr>
        <p:txBody>
          <a:bodyPr anchor="t" rtlCol="false" tIns="0" lIns="0" bIns="0" rIns="0">
            <a:spAutoFit/>
          </a:bodyPr>
          <a:lstStyle/>
          <a:p>
            <a:pPr algn="ctr">
              <a:lnSpc>
                <a:spcPts val="5520"/>
              </a:lnSpc>
            </a:pPr>
            <a:r>
              <a:rPr lang="en-US" sz="6000" b="true">
                <a:solidFill>
                  <a:srgbClr val="000000"/>
                </a:solidFill>
                <a:latin typeface="Karnchang Bold"/>
                <a:ea typeface="Karnchang Bold"/>
                <a:cs typeface="Karnchang Bold"/>
                <a:sym typeface="Karnchang Bold"/>
              </a:rPr>
              <a:t> Coast-ship Bistatic HFSW SIAR radar</a:t>
            </a:r>
          </a:p>
          <a:p>
            <a:pPr algn="ctr">
              <a:lnSpc>
                <a:spcPts val="4048"/>
              </a:lnSpc>
            </a:pPr>
            <a:r>
              <a:rPr lang="en-US" sz="4400">
                <a:solidFill>
                  <a:srgbClr val="000000"/>
                </a:solidFill>
                <a:latin typeface="Karnchang"/>
                <a:ea typeface="Karnchang"/>
                <a:cs typeface="Karnchang"/>
                <a:sym typeface="Karnchang"/>
              </a:rPr>
              <a:t>Radar SIAR Bistatik HFSW kapal pantai</a:t>
            </a:r>
          </a:p>
        </p:txBody>
      </p:sp>
      <p:sp>
        <p:nvSpPr>
          <p:cNvPr name="TextBox 35" id="35"/>
          <p:cNvSpPr txBox="true"/>
          <p:nvPr/>
        </p:nvSpPr>
        <p:spPr>
          <a:xfrm rot="0">
            <a:off x="9144000" y="1161998"/>
            <a:ext cx="7956185" cy="8008620"/>
          </a:xfrm>
          <a:prstGeom prst="rect">
            <a:avLst/>
          </a:prstGeom>
        </p:spPr>
        <p:txBody>
          <a:bodyPr anchor="t" rtlCol="false" tIns="0" lIns="0" bIns="0" rIns="0">
            <a:spAutoFit/>
          </a:bodyPr>
          <a:lstStyle/>
          <a:p>
            <a:pPr algn="just">
              <a:lnSpc>
                <a:spcPts val="3779"/>
              </a:lnSpc>
            </a:pPr>
            <a:r>
              <a:rPr lang="en-US" sz="2700">
                <a:solidFill>
                  <a:srgbClr val="000000"/>
                </a:solidFill>
                <a:latin typeface="Karnchang"/>
                <a:ea typeface="Karnchang"/>
                <a:cs typeface="Karnchang"/>
                <a:sym typeface="Karnchang"/>
              </a:rPr>
              <a:t>Radar HSFWR memiliki beberapa masalah dalam pendeteksian. Coast-ship Bistatic HFSW SIAR radar dapat menyelesaikan masalah tersebut dengan menggabungkan keuntungan radar bistatic, radar HSFW, dan SIAR.</a:t>
            </a:r>
          </a:p>
          <a:p>
            <a:pPr algn="just">
              <a:lnSpc>
                <a:spcPts val="2240"/>
              </a:lnSpc>
            </a:pPr>
          </a:p>
          <a:p>
            <a:pPr algn="just">
              <a:lnSpc>
                <a:spcPts val="3779"/>
              </a:lnSpc>
            </a:pPr>
            <a:r>
              <a:rPr lang="en-US" sz="2700">
                <a:solidFill>
                  <a:srgbClr val="000000"/>
                </a:solidFill>
                <a:latin typeface="Karnchang"/>
                <a:ea typeface="Karnchang"/>
                <a:cs typeface="Karnchang"/>
                <a:sym typeface="Karnchang"/>
              </a:rPr>
              <a:t>Sketsa kerja sistem ditunjukkan pada Gambar. Ini terutama terdiri dari dua subsistem, subsistem pengirim dan subsistem penerima. Mereka beroperasi dalam mode MISO. Subsistem transmisi terutama terdiri dari susunan antena besar yang terletak di pantai, dan masing-masing antena mentransmisikan sinyal dengan frekuensi pembawa berbeda untuk mencakup sektor yang agak besar (cakupan sistem eksperimental dapat mencapai 120°). Subsistem penerima menggunakan antena omnidireksional kecil yang dibawa kapal. </a:t>
            </a:r>
          </a:p>
        </p:txBody>
      </p:sp>
      <p:sp>
        <p:nvSpPr>
          <p:cNvPr name="TextBox 36" id="36"/>
          <p:cNvSpPr txBox="true"/>
          <p:nvPr/>
        </p:nvSpPr>
        <p:spPr>
          <a:xfrm rot="0">
            <a:off x="15621459" y="349050"/>
            <a:ext cx="2168307" cy="444500"/>
          </a:xfrm>
          <a:prstGeom prst="rect">
            <a:avLst/>
          </a:prstGeom>
        </p:spPr>
        <p:txBody>
          <a:bodyPr anchor="t" rtlCol="false" tIns="0" lIns="0" bIns="0" rIns="0">
            <a:spAutoFit/>
          </a:bodyPr>
          <a:lstStyle/>
          <a:p>
            <a:pPr algn="ctr">
              <a:lnSpc>
                <a:spcPts val="2800"/>
              </a:lnSpc>
            </a:pPr>
            <a:r>
              <a:rPr lang="en-US" sz="2000" spc="120">
                <a:solidFill>
                  <a:srgbClr val="FFFFFF"/>
                </a:solidFill>
                <a:latin typeface="Karnchang"/>
                <a:ea typeface="Karnchang"/>
                <a:cs typeface="Karnchang"/>
                <a:sym typeface="Karnchang"/>
              </a:rPr>
              <a:t>Halaman 8</a:t>
            </a:r>
          </a:p>
        </p:txBody>
      </p:sp>
      <p:sp>
        <p:nvSpPr>
          <p:cNvPr name="TextBox 37" id="37"/>
          <p:cNvSpPr txBox="true"/>
          <p:nvPr/>
        </p:nvSpPr>
        <p:spPr>
          <a:xfrm rot="0">
            <a:off x="551143" y="9305925"/>
            <a:ext cx="9994584" cy="444500"/>
          </a:xfrm>
          <a:prstGeom prst="rect">
            <a:avLst/>
          </a:prstGeom>
        </p:spPr>
        <p:txBody>
          <a:bodyPr anchor="t" rtlCol="false" tIns="0" lIns="0" bIns="0" rIns="0">
            <a:spAutoFit/>
          </a:bodyPr>
          <a:lstStyle/>
          <a:p>
            <a:pPr algn="ctr">
              <a:lnSpc>
                <a:spcPts val="2800"/>
              </a:lnSpc>
            </a:pPr>
            <a:r>
              <a:rPr lang="en-US" sz="2000" spc="120">
                <a:solidFill>
                  <a:srgbClr val="FFFFFF"/>
                </a:solidFill>
                <a:latin typeface="Karnchang"/>
                <a:ea typeface="Karnchang"/>
                <a:cs typeface="Karnchang"/>
                <a:sym typeface="Karnchang"/>
              </a:rPr>
              <a:t>Abdul Rozak A |  Politeknik Negeri Bandung | Teknik Telekomuniakasi | 2024</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6EAEF"/>
        </a:solidFill>
      </p:bgPr>
    </p:bg>
    <p:spTree>
      <p:nvGrpSpPr>
        <p:cNvPr id="1" name=""/>
        <p:cNvGrpSpPr/>
        <p:nvPr/>
      </p:nvGrpSpPr>
      <p:grpSpPr>
        <a:xfrm>
          <a:off x="0" y="0"/>
          <a:ext cx="0" cy="0"/>
          <a:chOff x="0" y="0"/>
          <a:chExt cx="0" cy="0"/>
        </a:xfrm>
      </p:grpSpPr>
      <p:grpSp>
        <p:nvGrpSpPr>
          <p:cNvPr name="Group 2" id="2"/>
          <p:cNvGrpSpPr/>
          <p:nvPr/>
        </p:nvGrpSpPr>
        <p:grpSpPr>
          <a:xfrm rot="0">
            <a:off x="787067" y="592941"/>
            <a:ext cx="16713866" cy="9101117"/>
            <a:chOff x="0" y="0"/>
            <a:chExt cx="4402006" cy="2397002"/>
          </a:xfrm>
        </p:grpSpPr>
        <p:sp>
          <p:nvSpPr>
            <p:cNvPr name="Freeform 3" id="3"/>
            <p:cNvSpPr/>
            <p:nvPr/>
          </p:nvSpPr>
          <p:spPr>
            <a:xfrm flipH="false" flipV="false" rot="0">
              <a:off x="0" y="0"/>
              <a:ext cx="4402006" cy="2397002"/>
            </a:xfrm>
            <a:custGeom>
              <a:avLst/>
              <a:gdLst/>
              <a:ahLst/>
              <a:cxnLst/>
              <a:rect r="r" b="b" t="t" l="l"/>
              <a:pathLst>
                <a:path h="2397002" w="4402006">
                  <a:moveTo>
                    <a:pt x="23623" y="0"/>
                  </a:moveTo>
                  <a:lnTo>
                    <a:pt x="4378382" y="0"/>
                  </a:lnTo>
                  <a:cubicBezTo>
                    <a:pt x="4391429" y="0"/>
                    <a:pt x="4402006" y="10577"/>
                    <a:pt x="4402006" y="23623"/>
                  </a:cubicBezTo>
                  <a:lnTo>
                    <a:pt x="4402006" y="2373379"/>
                  </a:lnTo>
                  <a:cubicBezTo>
                    <a:pt x="4402006" y="2379644"/>
                    <a:pt x="4399517" y="2385653"/>
                    <a:pt x="4395087" y="2390083"/>
                  </a:cubicBezTo>
                  <a:cubicBezTo>
                    <a:pt x="4390656" y="2394513"/>
                    <a:pt x="4384647" y="2397002"/>
                    <a:pt x="4378382" y="2397002"/>
                  </a:cubicBezTo>
                  <a:lnTo>
                    <a:pt x="23623" y="2397002"/>
                  </a:lnTo>
                  <a:cubicBezTo>
                    <a:pt x="17358" y="2397002"/>
                    <a:pt x="11349" y="2394513"/>
                    <a:pt x="6919" y="2390083"/>
                  </a:cubicBezTo>
                  <a:cubicBezTo>
                    <a:pt x="2489" y="2385653"/>
                    <a:pt x="0" y="2379644"/>
                    <a:pt x="0" y="2373379"/>
                  </a:cubicBezTo>
                  <a:lnTo>
                    <a:pt x="0" y="23623"/>
                  </a:lnTo>
                  <a:cubicBezTo>
                    <a:pt x="0" y="17358"/>
                    <a:pt x="2489" y="11349"/>
                    <a:pt x="6919" y="6919"/>
                  </a:cubicBezTo>
                  <a:cubicBezTo>
                    <a:pt x="11349" y="2489"/>
                    <a:pt x="17358" y="0"/>
                    <a:pt x="23623" y="0"/>
                  </a:cubicBezTo>
                  <a:close/>
                </a:path>
              </a:pathLst>
            </a:custGeom>
            <a:solidFill>
              <a:srgbClr val="E6EAEF"/>
            </a:solidFill>
            <a:ln w="19050" cap="rnd">
              <a:solidFill>
                <a:srgbClr val="243342"/>
              </a:solidFill>
              <a:prstDash val="solid"/>
              <a:round/>
            </a:ln>
          </p:spPr>
        </p:sp>
        <p:sp>
          <p:nvSpPr>
            <p:cNvPr name="TextBox 4" id="4"/>
            <p:cNvSpPr txBox="true"/>
            <p:nvPr/>
          </p:nvSpPr>
          <p:spPr>
            <a:xfrm>
              <a:off x="0" y="-38100"/>
              <a:ext cx="4402006" cy="2435102"/>
            </a:xfrm>
            <a:prstGeom prst="rect">
              <a:avLst/>
            </a:prstGeom>
          </p:spPr>
          <p:txBody>
            <a:bodyPr anchor="ctr" rtlCol="false" tIns="50800" lIns="50800" bIns="50800" rIns="50800"/>
            <a:lstStyle/>
            <a:p>
              <a:pPr algn="ctr">
                <a:lnSpc>
                  <a:spcPts val="3362"/>
                </a:lnSpc>
              </a:pPr>
            </a:p>
          </p:txBody>
        </p:sp>
      </p:grpSp>
      <p:grpSp>
        <p:nvGrpSpPr>
          <p:cNvPr name="Group 5" id="5"/>
          <p:cNvGrpSpPr/>
          <p:nvPr/>
        </p:nvGrpSpPr>
        <p:grpSpPr>
          <a:xfrm rot="-7538080">
            <a:off x="-7029811" y="-5584933"/>
            <a:ext cx="9808447" cy="9331824"/>
            <a:chOff x="0" y="0"/>
            <a:chExt cx="13077930" cy="12442432"/>
          </a:xfrm>
        </p:grpSpPr>
        <p:grpSp>
          <p:nvGrpSpPr>
            <p:cNvPr name="Group 6" id="6"/>
            <p:cNvGrpSpPr/>
            <p:nvPr/>
          </p:nvGrpSpPr>
          <p:grpSpPr>
            <a:xfrm rot="2252144">
              <a:off x="1498251" y="1484738"/>
              <a:ext cx="7399579" cy="7432687"/>
              <a:chOff x="0" y="0"/>
              <a:chExt cx="2816645" cy="2829248"/>
            </a:xfrm>
          </p:grpSpPr>
          <p:sp>
            <p:nvSpPr>
              <p:cNvPr name="Freeform 7" id="7"/>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243342"/>
              </a:solidFill>
            </p:spPr>
          </p:sp>
          <p:sp>
            <p:nvSpPr>
              <p:cNvPr name="TextBox 8" id="8"/>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2252144">
              <a:off x="2397493" y="3224228"/>
              <a:ext cx="7399579" cy="7432687"/>
              <a:chOff x="0" y="0"/>
              <a:chExt cx="2816645" cy="2829248"/>
            </a:xfrm>
          </p:grpSpPr>
          <p:sp>
            <p:nvSpPr>
              <p:cNvPr name="Freeform 10" id="10"/>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535659"/>
              </a:solidFill>
            </p:spPr>
          </p:sp>
          <p:sp>
            <p:nvSpPr>
              <p:cNvPr name="TextBox 11" id="11"/>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2252144">
              <a:off x="4180100" y="3525007"/>
              <a:ext cx="7399579" cy="7432687"/>
              <a:chOff x="0" y="0"/>
              <a:chExt cx="2816645" cy="2829248"/>
            </a:xfrm>
          </p:grpSpPr>
          <p:sp>
            <p:nvSpPr>
              <p:cNvPr name="Freeform 13" id="13"/>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858789"/>
              </a:solidFill>
            </p:spPr>
          </p:sp>
          <p:sp>
            <p:nvSpPr>
              <p:cNvPr name="TextBox 14" id="14"/>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grpSp>
        <p:nvGrpSpPr>
          <p:cNvPr name="Group 15" id="15"/>
          <p:cNvGrpSpPr/>
          <p:nvPr/>
        </p:nvGrpSpPr>
        <p:grpSpPr>
          <a:xfrm rot="2124477">
            <a:off x="15979122" y="5429903"/>
            <a:ext cx="9808447" cy="9331824"/>
            <a:chOff x="0" y="0"/>
            <a:chExt cx="13077930" cy="12442432"/>
          </a:xfrm>
        </p:grpSpPr>
        <p:grpSp>
          <p:nvGrpSpPr>
            <p:cNvPr name="Group 16" id="16"/>
            <p:cNvGrpSpPr/>
            <p:nvPr/>
          </p:nvGrpSpPr>
          <p:grpSpPr>
            <a:xfrm rot="2252144">
              <a:off x="1498251" y="1484738"/>
              <a:ext cx="7399579" cy="7432687"/>
              <a:chOff x="0" y="0"/>
              <a:chExt cx="2816645" cy="2829248"/>
            </a:xfrm>
          </p:grpSpPr>
          <p:sp>
            <p:nvSpPr>
              <p:cNvPr name="Freeform 17" id="17"/>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243342"/>
              </a:solidFill>
            </p:spPr>
          </p:sp>
          <p:sp>
            <p:nvSpPr>
              <p:cNvPr name="TextBox 18" id="18"/>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19" id="19"/>
            <p:cNvGrpSpPr/>
            <p:nvPr/>
          </p:nvGrpSpPr>
          <p:grpSpPr>
            <a:xfrm rot="2252144">
              <a:off x="2397493" y="3224228"/>
              <a:ext cx="7399579" cy="7432687"/>
              <a:chOff x="0" y="0"/>
              <a:chExt cx="2816645" cy="2829248"/>
            </a:xfrm>
          </p:grpSpPr>
          <p:sp>
            <p:nvSpPr>
              <p:cNvPr name="Freeform 20" id="20"/>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535659"/>
              </a:solidFill>
            </p:spPr>
          </p:sp>
          <p:sp>
            <p:nvSpPr>
              <p:cNvPr name="TextBox 21" id="21"/>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22" id="22"/>
            <p:cNvGrpSpPr/>
            <p:nvPr/>
          </p:nvGrpSpPr>
          <p:grpSpPr>
            <a:xfrm rot="2252144">
              <a:off x="4180100" y="3525007"/>
              <a:ext cx="7399579" cy="7432687"/>
              <a:chOff x="0" y="0"/>
              <a:chExt cx="2816645" cy="2829248"/>
            </a:xfrm>
          </p:grpSpPr>
          <p:sp>
            <p:nvSpPr>
              <p:cNvPr name="Freeform 23" id="23"/>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858789"/>
              </a:solidFill>
            </p:spPr>
          </p:sp>
          <p:sp>
            <p:nvSpPr>
              <p:cNvPr name="TextBox 24" id="24"/>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sp>
        <p:nvSpPr>
          <p:cNvPr name="TextBox 25" id="25"/>
          <p:cNvSpPr txBox="true"/>
          <p:nvPr/>
        </p:nvSpPr>
        <p:spPr>
          <a:xfrm rot="0">
            <a:off x="1960029" y="6279744"/>
            <a:ext cx="14367942" cy="2493645"/>
          </a:xfrm>
          <a:prstGeom prst="rect">
            <a:avLst/>
          </a:prstGeom>
        </p:spPr>
        <p:txBody>
          <a:bodyPr anchor="t" rtlCol="false" tIns="0" lIns="0" bIns="0" rIns="0">
            <a:spAutoFit/>
          </a:bodyPr>
          <a:lstStyle/>
          <a:p>
            <a:pPr algn="just">
              <a:lnSpc>
                <a:spcPts val="3779"/>
              </a:lnSpc>
            </a:pPr>
            <a:r>
              <a:rPr lang="en-US" sz="2700">
                <a:solidFill>
                  <a:srgbClr val="000000"/>
                </a:solidFill>
                <a:latin typeface="Karnchang"/>
                <a:ea typeface="Karnchang"/>
                <a:cs typeface="Karnchang"/>
                <a:sym typeface="Karnchang"/>
              </a:rPr>
              <a:t>Subsistem Ini tidak membentuk pola pancaran dalam pandangan daya tetapi dapat menggunakan digital beamforming (DBF) pada penerima untuk membentuk pola pancaran pancaran. Dan bisa ada beberapa penerima yang diangkut di kapal selama penerima tersebut dapat memperoleh gema target. Dengan cara ini sistem berperilaku seperti radar penyiaran. Mode kerja radar bistatik juga memiliki keuntungan dalam mengurangi gangguan ionosfer.</a:t>
            </a:r>
          </a:p>
        </p:txBody>
      </p:sp>
      <p:grpSp>
        <p:nvGrpSpPr>
          <p:cNvPr name="Group 26" id="26"/>
          <p:cNvGrpSpPr/>
          <p:nvPr/>
        </p:nvGrpSpPr>
        <p:grpSpPr>
          <a:xfrm rot="0">
            <a:off x="15665503" y="317552"/>
            <a:ext cx="2042119" cy="650325"/>
            <a:chOff x="0" y="0"/>
            <a:chExt cx="537842" cy="171279"/>
          </a:xfrm>
        </p:grpSpPr>
        <p:sp>
          <p:nvSpPr>
            <p:cNvPr name="Freeform 27" id="27"/>
            <p:cNvSpPr/>
            <p:nvPr/>
          </p:nvSpPr>
          <p:spPr>
            <a:xfrm flipH="false" flipV="false" rot="0">
              <a:off x="0" y="0"/>
              <a:ext cx="537842" cy="171279"/>
            </a:xfrm>
            <a:custGeom>
              <a:avLst/>
              <a:gdLst/>
              <a:ahLst/>
              <a:cxnLst/>
              <a:rect r="r" b="b" t="t" l="l"/>
              <a:pathLst>
                <a:path h="171279" w="537842">
                  <a:moveTo>
                    <a:pt x="53076" y="0"/>
                  </a:moveTo>
                  <a:lnTo>
                    <a:pt x="484766" y="0"/>
                  </a:lnTo>
                  <a:cubicBezTo>
                    <a:pt x="514079" y="0"/>
                    <a:pt x="537842" y="23763"/>
                    <a:pt x="537842" y="53076"/>
                  </a:cubicBezTo>
                  <a:lnTo>
                    <a:pt x="537842" y="118203"/>
                  </a:lnTo>
                  <a:cubicBezTo>
                    <a:pt x="537842" y="132280"/>
                    <a:pt x="532250" y="145780"/>
                    <a:pt x="522296" y="155734"/>
                  </a:cubicBezTo>
                  <a:cubicBezTo>
                    <a:pt x="512343" y="165687"/>
                    <a:pt x="498843" y="171279"/>
                    <a:pt x="484766" y="171279"/>
                  </a:cubicBezTo>
                  <a:lnTo>
                    <a:pt x="53076" y="171279"/>
                  </a:lnTo>
                  <a:cubicBezTo>
                    <a:pt x="38999" y="171279"/>
                    <a:pt x="25499" y="165687"/>
                    <a:pt x="15546" y="155734"/>
                  </a:cubicBezTo>
                  <a:cubicBezTo>
                    <a:pt x="5592" y="145780"/>
                    <a:pt x="0" y="132280"/>
                    <a:pt x="0" y="118203"/>
                  </a:cubicBezTo>
                  <a:lnTo>
                    <a:pt x="0" y="53076"/>
                  </a:lnTo>
                  <a:cubicBezTo>
                    <a:pt x="0" y="38999"/>
                    <a:pt x="5592" y="25499"/>
                    <a:pt x="15546" y="15546"/>
                  </a:cubicBezTo>
                  <a:cubicBezTo>
                    <a:pt x="25499" y="5592"/>
                    <a:pt x="38999" y="0"/>
                    <a:pt x="53076" y="0"/>
                  </a:cubicBezTo>
                  <a:close/>
                </a:path>
              </a:pathLst>
            </a:custGeom>
            <a:solidFill>
              <a:srgbClr val="535659"/>
            </a:solidFill>
            <a:ln w="19050" cap="sq">
              <a:solidFill>
                <a:srgbClr val="243342"/>
              </a:solidFill>
              <a:prstDash val="solid"/>
              <a:miter/>
            </a:ln>
          </p:spPr>
        </p:sp>
        <p:sp>
          <p:nvSpPr>
            <p:cNvPr name="TextBox 28" id="28"/>
            <p:cNvSpPr txBox="true"/>
            <p:nvPr/>
          </p:nvSpPr>
          <p:spPr>
            <a:xfrm>
              <a:off x="0" y="-38100"/>
              <a:ext cx="537842" cy="209379"/>
            </a:xfrm>
            <a:prstGeom prst="rect">
              <a:avLst/>
            </a:prstGeom>
          </p:spPr>
          <p:txBody>
            <a:bodyPr anchor="ctr" rtlCol="false" tIns="50800" lIns="50800" bIns="50800" rIns="50800"/>
            <a:lstStyle/>
            <a:p>
              <a:pPr algn="ctr">
                <a:lnSpc>
                  <a:spcPts val="3362"/>
                </a:lnSpc>
              </a:pPr>
            </a:p>
          </p:txBody>
        </p:sp>
      </p:grpSp>
      <p:grpSp>
        <p:nvGrpSpPr>
          <p:cNvPr name="Group 29" id="29"/>
          <p:cNvGrpSpPr/>
          <p:nvPr/>
        </p:nvGrpSpPr>
        <p:grpSpPr>
          <a:xfrm rot="0">
            <a:off x="629723" y="9258300"/>
            <a:ext cx="6961669" cy="627749"/>
            <a:chOff x="0" y="0"/>
            <a:chExt cx="1833526" cy="165333"/>
          </a:xfrm>
        </p:grpSpPr>
        <p:sp>
          <p:nvSpPr>
            <p:cNvPr name="Freeform 30" id="30"/>
            <p:cNvSpPr/>
            <p:nvPr/>
          </p:nvSpPr>
          <p:spPr>
            <a:xfrm flipH="false" flipV="false" rot="0">
              <a:off x="0" y="0"/>
              <a:ext cx="1833526" cy="165333"/>
            </a:xfrm>
            <a:custGeom>
              <a:avLst/>
              <a:gdLst/>
              <a:ahLst/>
              <a:cxnLst/>
              <a:rect r="r" b="b" t="t" l="l"/>
              <a:pathLst>
                <a:path h="165333" w="1833526">
                  <a:moveTo>
                    <a:pt x="16681" y="0"/>
                  </a:moveTo>
                  <a:lnTo>
                    <a:pt x="1816845" y="0"/>
                  </a:lnTo>
                  <a:cubicBezTo>
                    <a:pt x="1821269" y="0"/>
                    <a:pt x="1825512" y="1757"/>
                    <a:pt x="1828640" y="4886"/>
                  </a:cubicBezTo>
                  <a:cubicBezTo>
                    <a:pt x="1831769" y="8014"/>
                    <a:pt x="1833526" y="12257"/>
                    <a:pt x="1833526" y="16681"/>
                  </a:cubicBezTo>
                  <a:lnTo>
                    <a:pt x="1833526" y="148652"/>
                  </a:lnTo>
                  <a:cubicBezTo>
                    <a:pt x="1833526" y="157865"/>
                    <a:pt x="1826058" y="165333"/>
                    <a:pt x="1816845" y="165333"/>
                  </a:cubicBezTo>
                  <a:lnTo>
                    <a:pt x="16681" y="165333"/>
                  </a:lnTo>
                  <a:cubicBezTo>
                    <a:pt x="7468" y="165333"/>
                    <a:pt x="0" y="157865"/>
                    <a:pt x="0" y="148652"/>
                  </a:cubicBezTo>
                  <a:lnTo>
                    <a:pt x="0" y="16681"/>
                  </a:lnTo>
                  <a:cubicBezTo>
                    <a:pt x="0" y="7468"/>
                    <a:pt x="7468" y="0"/>
                    <a:pt x="16681" y="0"/>
                  </a:cubicBezTo>
                  <a:close/>
                </a:path>
              </a:pathLst>
            </a:custGeom>
            <a:solidFill>
              <a:srgbClr val="535659"/>
            </a:solidFill>
            <a:ln w="19050" cap="sq">
              <a:solidFill>
                <a:srgbClr val="243342"/>
              </a:solidFill>
              <a:prstDash val="solid"/>
              <a:miter/>
            </a:ln>
          </p:spPr>
        </p:sp>
        <p:sp>
          <p:nvSpPr>
            <p:cNvPr name="TextBox 31" id="31"/>
            <p:cNvSpPr txBox="true"/>
            <p:nvPr/>
          </p:nvSpPr>
          <p:spPr>
            <a:xfrm>
              <a:off x="0" y="-38100"/>
              <a:ext cx="1833526" cy="203433"/>
            </a:xfrm>
            <a:prstGeom prst="rect">
              <a:avLst/>
            </a:prstGeom>
          </p:spPr>
          <p:txBody>
            <a:bodyPr anchor="ctr" rtlCol="false" tIns="50800" lIns="50800" bIns="50800" rIns="50800"/>
            <a:lstStyle/>
            <a:p>
              <a:pPr algn="ctr">
                <a:lnSpc>
                  <a:spcPts val="3362"/>
                </a:lnSpc>
              </a:pPr>
            </a:p>
          </p:txBody>
        </p:sp>
      </p:grpSp>
      <p:sp>
        <p:nvSpPr>
          <p:cNvPr name="TextBox 32" id="32"/>
          <p:cNvSpPr txBox="true"/>
          <p:nvPr/>
        </p:nvSpPr>
        <p:spPr>
          <a:xfrm rot="0">
            <a:off x="551143" y="9305925"/>
            <a:ext cx="7118830" cy="444454"/>
          </a:xfrm>
          <a:prstGeom prst="rect">
            <a:avLst/>
          </a:prstGeom>
        </p:spPr>
        <p:txBody>
          <a:bodyPr anchor="t" rtlCol="false" tIns="0" lIns="0" bIns="0" rIns="0">
            <a:spAutoFit/>
          </a:bodyPr>
          <a:lstStyle/>
          <a:p>
            <a:pPr algn="ctr">
              <a:lnSpc>
                <a:spcPts val="2800"/>
              </a:lnSpc>
            </a:pPr>
            <a:r>
              <a:rPr lang="en-US" sz="2000" spc="120">
                <a:solidFill>
                  <a:srgbClr val="FFFFFF"/>
                </a:solidFill>
                <a:latin typeface="Karnchang"/>
                <a:ea typeface="Karnchang"/>
                <a:cs typeface="Karnchang"/>
                <a:sym typeface="Karnchang"/>
              </a:rPr>
              <a:t>Murad Naser |  Universitas Fauget | Ekonomi | 2025</a:t>
            </a:r>
          </a:p>
        </p:txBody>
      </p:sp>
      <p:grpSp>
        <p:nvGrpSpPr>
          <p:cNvPr name="Group 33" id="33"/>
          <p:cNvGrpSpPr/>
          <p:nvPr/>
        </p:nvGrpSpPr>
        <p:grpSpPr>
          <a:xfrm rot="0">
            <a:off x="629723" y="9258300"/>
            <a:ext cx="9916004" cy="627749"/>
            <a:chOff x="0" y="0"/>
            <a:chExt cx="2611622" cy="165333"/>
          </a:xfrm>
        </p:grpSpPr>
        <p:sp>
          <p:nvSpPr>
            <p:cNvPr name="Freeform 34" id="34"/>
            <p:cNvSpPr/>
            <p:nvPr/>
          </p:nvSpPr>
          <p:spPr>
            <a:xfrm flipH="false" flipV="false" rot="0">
              <a:off x="0" y="0"/>
              <a:ext cx="2611622" cy="165333"/>
            </a:xfrm>
            <a:custGeom>
              <a:avLst/>
              <a:gdLst/>
              <a:ahLst/>
              <a:cxnLst/>
              <a:rect r="r" b="b" t="t" l="l"/>
              <a:pathLst>
                <a:path h="165333" w="2611622">
                  <a:moveTo>
                    <a:pt x="11711" y="0"/>
                  </a:moveTo>
                  <a:lnTo>
                    <a:pt x="2599911" y="0"/>
                  </a:lnTo>
                  <a:cubicBezTo>
                    <a:pt x="2606379" y="0"/>
                    <a:pt x="2611622" y="5243"/>
                    <a:pt x="2611622" y="11711"/>
                  </a:cubicBezTo>
                  <a:lnTo>
                    <a:pt x="2611622" y="153622"/>
                  </a:lnTo>
                  <a:cubicBezTo>
                    <a:pt x="2611622" y="156728"/>
                    <a:pt x="2610389" y="159707"/>
                    <a:pt x="2608192" y="161903"/>
                  </a:cubicBezTo>
                  <a:cubicBezTo>
                    <a:pt x="2605996" y="164099"/>
                    <a:pt x="2603017" y="165333"/>
                    <a:pt x="2599911" y="165333"/>
                  </a:cubicBezTo>
                  <a:lnTo>
                    <a:pt x="11711" y="165333"/>
                  </a:lnTo>
                  <a:cubicBezTo>
                    <a:pt x="8605" y="165333"/>
                    <a:pt x="5626" y="164099"/>
                    <a:pt x="3430" y="161903"/>
                  </a:cubicBezTo>
                  <a:cubicBezTo>
                    <a:pt x="1234" y="159707"/>
                    <a:pt x="0" y="156728"/>
                    <a:pt x="0" y="153622"/>
                  </a:cubicBezTo>
                  <a:lnTo>
                    <a:pt x="0" y="11711"/>
                  </a:lnTo>
                  <a:cubicBezTo>
                    <a:pt x="0" y="8605"/>
                    <a:pt x="1234" y="5626"/>
                    <a:pt x="3430" y="3430"/>
                  </a:cubicBezTo>
                  <a:cubicBezTo>
                    <a:pt x="5626" y="1234"/>
                    <a:pt x="8605" y="0"/>
                    <a:pt x="11711" y="0"/>
                  </a:cubicBezTo>
                  <a:close/>
                </a:path>
              </a:pathLst>
            </a:custGeom>
            <a:solidFill>
              <a:srgbClr val="535659"/>
            </a:solidFill>
            <a:ln w="19050" cap="sq">
              <a:solidFill>
                <a:srgbClr val="243342"/>
              </a:solidFill>
              <a:prstDash val="solid"/>
              <a:miter/>
            </a:ln>
          </p:spPr>
        </p:sp>
        <p:sp>
          <p:nvSpPr>
            <p:cNvPr name="TextBox 35" id="35"/>
            <p:cNvSpPr txBox="true"/>
            <p:nvPr/>
          </p:nvSpPr>
          <p:spPr>
            <a:xfrm>
              <a:off x="0" y="-38100"/>
              <a:ext cx="2611622" cy="203433"/>
            </a:xfrm>
            <a:prstGeom prst="rect">
              <a:avLst/>
            </a:prstGeom>
          </p:spPr>
          <p:txBody>
            <a:bodyPr anchor="ctr" rtlCol="false" tIns="50800" lIns="50800" bIns="50800" rIns="50800"/>
            <a:lstStyle/>
            <a:p>
              <a:pPr algn="ctr">
                <a:lnSpc>
                  <a:spcPts val="3362"/>
                </a:lnSpc>
              </a:pPr>
            </a:p>
          </p:txBody>
        </p:sp>
      </p:grpSp>
      <p:grpSp>
        <p:nvGrpSpPr>
          <p:cNvPr name="Group 36" id="36"/>
          <p:cNvGrpSpPr>
            <a:grpSpLocks noChangeAspect="true"/>
          </p:cNvGrpSpPr>
          <p:nvPr/>
        </p:nvGrpSpPr>
        <p:grpSpPr>
          <a:xfrm rot="0">
            <a:off x="3543797" y="2181229"/>
            <a:ext cx="4641419" cy="3484469"/>
            <a:chOff x="0" y="0"/>
            <a:chExt cx="8916670" cy="6694043"/>
          </a:xfrm>
        </p:grpSpPr>
        <p:sp>
          <p:nvSpPr>
            <p:cNvPr name="Freeform 37" id="37"/>
            <p:cNvSpPr/>
            <p:nvPr/>
          </p:nvSpPr>
          <p:spPr>
            <a:xfrm flipH="false" flipV="false" rot="0">
              <a:off x="155575" y="155575"/>
              <a:ext cx="8605520" cy="6382893"/>
            </a:xfrm>
            <a:custGeom>
              <a:avLst/>
              <a:gdLst/>
              <a:ahLst/>
              <a:cxnLst/>
              <a:rect r="r" b="b" t="t" l="l"/>
              <a:pathLst>
                <a:path h="6382893" w="8605520">
                  <a:moveTo>
                    <a:pt x="0" y="0"/>
                  </a:moveTo>
                  <a:lnTo>
                    <a:pt x="8605520" y="0"/>
                  </a:lnTo>
                  <a:lnTo>
                    <a:pt x="8605520" y="6382893"/>
                  </a:lnTo>
                  <a:lnTo>
                    <a:pt x="0" y="6382893"/>
                  </a:lnTo>
                  <a:close/>
                </a:path>
              </a:pathLst>
            </a:custGeom>
            <a:blipFill>
              <a:blip r:embed="rId2"/>
              <a:stretch>
                <a:fillRect l="-29995" t="0" r="-29995" b="0"/>
              </a:stretch>
            </a:blipFill>
          </p:spPr>
        </p:sp>
        <p:sp>
          <p:nvSpPr>
            <p:cNvPr name="Freeform 38" id="38"/>
            <p:cNvSpPr/>
            <p:nvPr/>
          </p:nvSpPr>
          <p:spPr>
            <a:xfrm flipH="false" flipV="false" rot="0">
              <a:off x="6350" y="6350"/>
              <a:ext cx="8903970" cy="6681343"/>
            </a:xfrm>
            <a:custGeom>
              <a:avLst/>
              <a:gdLst/>
              <a:ahLst/>
              <a:cxnLst/>
              <a:rect r="r" b="b" t="t" l="l"/>
              <a:pathLst>
                <a:path h="6681343" w="8903970">
                  <a:moveTo>
                    <a:pt x="8903970" y="6681343"/>
                  </a:moveTo>
                  <a:lnTo>
                    <a:pt x="0" y="6681343"/>
                  </a:lnTo>
                  <a:lnTo>
                    <a:pt x="0" y="0"/>
                  </a:lnTo>
                  <a:lnTo>
                    <a:pt x="8903970" y="0"/>
                  </a:lnTo>
                  <a:lnTo>
                    <a:pt x="8903970" y="6681343"/>
                  </a:lnTo>
                  <a:close/>
                  <a:moveTo>
                    <a:pt x="19050" y="6662293"/>
                  </a:moveTo>
                  <a:lnTo>
                    <a:pt x="8884920" y="6662293"/>
                  </a:lnTo>
                  <a:lnTo>
                    <a:pt x="8884920" y="19050"/>
                  </a:lnTo>
                  <a:lnTo>
                    <a:pt x="19050" y="19050"/>
                  </a:lnTo>
                  <a:lnTo>
                    <a:pt x="19050" y="6662293"/>
                  </a:lnTo>
                  <a:close/>
                  <a:moveTo>
                    <a:pt x="8764270" y="6541643"/>
                  </a:moveTo>
                  <a:lnTo>
                    <a:pt x="139700" y="6541643"/>
                  </a:lnTo>
                  <a:lnTo>
                    <a:pt x="139700" y="139700"/>
                  </a:lnTo>
                  <a:lnTo>
                    <a:pt x="8764270" y="139700"/>
                  </a:lnTo>
                  <a:lnTo>
                    <a:pt x="8764270" y="6541643"/>
                  </a:lnTo>
                  <a:close/>
                  <a:moveTo>
                    <a:pt x="158750" y="6522593"/>
                  </a:moveTo>
                  <a:lnTo>
                    <a:pt x="8745220" y="6522593"/>
                  </a:lnTo>
                  <a:lnTo>
                    <a:pt x="8745220" y="158750"/>
                  </a:lnTo>
                  <a:lnTo>
                    <a:pt x="158750" y="158750"/>
                  </a:lnTo>
                  <a:lnTo>
                    <a:pt x="158750" y="6522593"/>
                  </a:lnTo>
                  <a:close/>
                </a:path>
              </a:pathLst>
            </a:custGeom>
            <a:solidFill>
              <a:srgbClr val="535659"/>
            </a:solidFill>
          </p:spPr>
        </p:sp>
      </p:grpSp>
      <p:grpSp>
        <p:nvGrpSpPr>
          <p:cNvPr name="Group 39" id="39"/>
          <p:cNvGrpSpPr>
            <a:grpSpLocks noChangeAspect="true"/>
          </p:cNvGrpSpPr>
          <p:nvPr/>
        </p:nvGrpSpPr>
        <p:grpSpPr>
          <a:xfrm rot="0">
            <a:off x="9903264" y="2181229"/>
            <a:ext cx="4643108" cy="3485737"/>
            <a:chOff x="0" y="0"/>
            <a:chExt cx="8916670" cy="6694043"/>
          </a:xfrm>
        </p:grpSpPr>
        <p:sp>
          <p:nvSpPr>
            <p:cNvPr name="Freeform 40" id="40"/>
            <p:cNvSpPr/>
            <p:nvPr/>
          </p:nvSpPr>
          <p:spPr>
            <a:xfrm flipH="false" flipV="false" rot="0">
              <a:off x="155575" y="155575"/>
              <a:ext cx="8605520" cy="6382893"/>
            </a:xfrm>
            <a:custGeom>
              <a:avLst/>
              <a:gdLst/>
              <a:ahLst/>
              <a:cxnLst/>
              <a:rect r="r" b="b" t="t" l="l"/>
              <a:pathLst>
                <a:path h="6382893" w="8605520">
                  <a:moveTo>
                    <a:pt x="0" y="0"/>
                  </a:moveTo>
                  <a:lnTo>
                    <a:pt x="8605520" y="0"/>
                  </a:lnTo>
                  <a:lnTo>
                    <a:pt x="8605520" y="6382893"/>
                  </a:lnTo>
                  <a:lnTo>
                    <a:pt x="0" y="6382893"/>
                  </a:lnTo>
                  <a:close/>
                </a:path>
              </a:pathLst>
            </a:custGeom>
            <a:blipFill>
              <a:blip r:embed="rId3"/>
              <a:stretch>
                <a:fillRect l="0" t="-2318" r="0" b="-2318"/>
              </a:stretch>
            </a:blipFill>
          </p:spPr>
        </p:sp>
        <p:sp>
          <p:nvSpPr>
            <p:cNvPr name="Freeform 41" id="41"/>
            <p:cNvSpPr/>
            <p:nvPr/>
          </p:nvSpPr>
          <p:spPr>
            <a:xfrm flipH="false" flipV="false" rot="0">
              <a:off x="6350" y="6350"/>
              <a:ext cx="8903970" cy="6681343"/>
            </a:xfrm>
            <a:custGeom>
              <a:avLst/>
              <a:gdLst/>
              <a:ahLst/>
              <a:cxnLst/>
              <a:rect r="r" b="b" t="t" l="l"/>
              <a:pathLst>
                <a:path h="6681343" w="8903970">
                  <a:moveTo>
                    <a:pt x="8903970" y="6681343"/>
                  </a:moveTo>
                  <a:lnTo>
                    <a:pt x="0" y="6681343"/>
                  </a:lnTo>
                  <a:lnTo>
                    <a:pt x="0" y="0"/>
                  </a:lnTo>
                  <a:lnTo>
                    <a:pt x="8903970" y="0"/>
                  </a:lnTo>
                  <a:lnTo>
                    <a:pt x="8903970" y="6681343"/>
                  </a:lnTo>
                  <a:close/>
                  <a:moveTo>
                    <a:pt x="19050" y="6662293"/>
                  </a:moveTo>
                  <a:lnTo>
                    <a:pt x="8884920" y="6662293"/>
                  </a:lnTo>
                  <a:lnTo>
                    <a:pt x="8884920" y="19050"/>
                  </a:lnTo>
                  <a:lnTo>
                    <a:pt x="19050" y="19050"/>
                  </a:lnTo>
                  <a:lnTo>
                    <a:pt x="19050" y="6662293"/>
                  </a:lnTo>
                  <a:close/>
                  <a:moveTo>
                    <a:pt x="8764270" y="6541643"/>
                  </a:moveTo>
                  <a:lnTo>
                    <a:pt x="139700" y="6541643"/>
                  </a:lnTo>
                  <a:lnTo>
                    <a:pt x="139700" y="139700"/>
                  </a:lnTo>
                  <a:lnTo>
                    <a:pt x="8764270" y="139700"/>
                  </a:lnTo>
                  <a:lnTo>
                    <a:pt x="8764270" y="6541643"/>
                  </a:lnTo>
                  <a:close/>
                  <a:moveTo>
                    <a:pt x="158750" y="6522593"/>
                  </a:moveTo>
                  <a:lnTo>
                    <a:pt x="8745220" y="6522593"/>
                  </a:lnTo>
                  <a:lnTo>
                    <a:pt x="8745220" y="158750"/>
                  </a:lnTo>
                  <a:lnTo>
                    <a:pt x="158750" y="158750"/>
                  </a:lnTo>
                  <a:lnTo>
                    <a:pt x="158750" y="6522593"/>
                  </a:lnTo>
                  <a:close/>
                </a:path>
              </a:pathLst>
            </a:custGeom>
            <a:solidFill>
              <a:srgbClr val="535659"/>
            </a:solidFill>
          </p:spPr>
        </p:sp>
      </p:grpSp>
      <p:sp>
        <p:nvSpPr>
          <p:cNvPr name="TextBox 42" id="42"/>
          <p:cNvSpPr txBox="true"/>
          <p:nvPr/>
        </p:nvSpPr>
        <p:spPr>
          <a:xfrm rot="0">
            <a:off x="1984374" y="904875"/>
            <a:ext cx="14319253" cy="1107440"/>
          </a:xfrm>
          <a:prstGeom prst="rect">
            <a:avLst/>
          </a:prstGeom>
        </p:spPr>
        <p:txBody>
          <a:bodyPr anchor="t" rtlCol="false" tIns="0" lIns="0" bIns="0" rIns="0">
            <a:spAutoFit/>
          </a:bodyPr>
          <a:lstStyle/>
          <a:p>
            <a:pPr algn="ctr">
              <a:lnSpc>
                <a:spcPts val="5980"/>
              </a:lnSpc>
            </a:pPr>
            <a:r>
              <a:rPr lang="en-US" sz="6500" b="true">
                <a:solidFill>
                  <a:srgbClr val="243342"/>
                </a:solidFill>
                <a:latin typeface="Karnchang Bold"/>
                <a:ea typeface="Karnchang Bold"/>
                <a:cs typeface="Karnchang Bold"/>
                <a:sym typeface="Karnchang Bold"/>
              </a:rPr>
              <a:t>Coast-ship Bistatic HFSW SIAR radar</a:t>
            </a:r>
          </a:p>
        </p:txBody>
      </p:sp>
      <p:sp>
        <p:nvSpPr>
          <p:cNvPr name="TextBox 43" id="43"/>
          <p:cNvSpPr txBox="true"/>
          <p:nvPr/>
        </p:nvSpPr>
        <p:spPr>
          <a:xfrm rot="0">
            <a:off x="15621459" y="349050"/>
            <a:ext cx="2168307" cy="444500"/>
          </a:xfrm>
          <a:prstGeom prst="rect">
            <a:avLst/>
          </a:prstGeom>
        </p:spPr>
        <p:txBody>
          <a:bodyPr anchor="t" rtlCol="false" tIns="0" lIns="0" bIns="0" rIns="0">
            <a:spAutoFit/>
          </a:bodyPr>
          <a:lstStyle/>
          <a:p>
            <a:pPr algn="ctr">
              <a:lnSpc>
                <a:spcPts val="2800"/>
              </a:lnSpc>
            </a:pPr>
            <a:r>
              <a:rPr lang="en-US" sz="2000" spc="120">
                <a:solidFill>
                  <a:srgbClr val="FFFFFF"/>
                </a:solidFill>
                <a:latin typeface="Karnchang"/>
                <a:ea typeface="Karnchang"/>
                <a:cs typeface="Karnchang"/>
                <a:sym typeface="Karnchang"/>
              </a:rPr>
              <a:t>Halaman 9</a:t>
            </a:r>
          </a:p>
        </p:txBody>
      </p:sp>
      <p:sp>
        <p:nvSpPr>
          <p:cNvPr name="TextBox 44" id="44"/>
          <p:cNvSpPr txBox="true"/>
          <p:nvPr/>
        </p:nvSpPr>
        <p:spPr>
          <a:xfrm rot="0">
            <a:off x="551143" y="9305925"/>
            <a:ext cx="9994584" cy="444500"/>
          </a:xfrm>
          <a:prstGeom prst="rect">
            <a:avLst/>
          </a:prstGeom>
        </p:spPr>
        <p:txBody>
          <a:bodyPr anchor="t" rtlCol="false" tIns="0" lIns="0" bIns="0" rIns="0">
            <a:spAutoFit/>
          </a:bodyPr>
          <a:lstStyle/>
          <a:p>
            <a:pPr algn="ctr">
              <a:lnSpc>
                <a:spcPts val="2800"/>
              </a:lnSpc>
            </a:pPr>
            <a:r>
              <a:rPr lang="en-US" sz="2000" spc="120">
                <a:solidFill>
                  <a:srgbClr val="FFFFFF"/>
                </a:solidFill>
                <a:latin typeface="Karnchang"/>
                <a:ea typeface="Karnchang"/>
                <a:cs typeface="Karnchang"/>
                <a:sym typeface="Karnchang"/>
              </a:rPr>
              <a:t>Abdul Rozak A |  Politeknik Negeri Bandung | Teknik Telekomuniakasi | 2024</a:t>
            </a:r>
          </a:p>
        </p:txBody>
      </p:sp>
      <p:sp>
        <p:nvSpPr>
          <p:cNvPr name="TextBox 45" id="45"/>
          <p:cNvSpPr txBox="true"/>
          <p:nvPr/>
        </p:nvSpPr>
        <p:spPr>
          <a:xfrm rot="0">
            <a:off x="3850595" y="5722848"/>
            <a:ext cx="3903113" cy="520065"/>
          </a:xfrm>
          <a:prstGeom prst="rect">
            <a:avLst/>
          </a:prstGeom>
        </p:spPr>
        <p:txBody>
          <a:bodyPr anchor="t" rtlCol="false" tIns="0" lIns="0" bIns="0" rIns="0">
            <a:spAutoFit/>
          </a:bodyPr>
          <a:lstStyle/>
          <a:p>
            <a:pPr algn="just">
              <a:lnSpc>
                <a:spcPts val="3360"/>
              </a:lnSpc>
            </a:pPr>
            <a:r>
              <a:rPr lang="en-US" sz="2400">
                <a:solidFill>
                  <a:srgbClr val="000000"/>
                </a:solidFill>
                <a:latin typeface="Karnchang"/>
                <a:ea typeface="Karnchang"/>
                <a:cs typeface="Karnchang"/>
                <a:sym typeface="Karnchang"/>
              </a:rPr>
              <a:t>Antena pengirim (transmitter)</a:t>
            </a:r>
          </a:p>
        </p:txBody>
      </p:sp>
      <p:sp>
        <p:nvSpPr>
          <p:cNvPr name="TextBox 46" id="46"/>
          <p:cNvSpPr txBox="true"/>
          <p:nvPr/>
        </p:nvSpPr>
        <p:spPr>
          <a:xfrm rot="0">
            <a:off x="9705435" y="5722848"/>
            <a:ext cx="5038768" cy="520065"/>
          </a:xfrm>
          <a:prstGeom prst="rect">
            <a:avLst/>
          </a:prstGeom>
        </p:spPr>
        <p:txBody>
          <a:bodyPr anchor="t" rtlCol="false" tIns="0" lIns="0" bIns="0" rIns="0">
            <a:spAutoFit/>
          </a:bodyPr>
          <a:lstStyle/>
          <a:p>
            <a:pPr algn="just">
              <a:lnSpc>
                <a:spcPts val="3360"/>
              </a:lnSpc>
            </a:pPr>
            <a:r>
              <a:rPr lang="en-US" sz="2400">
                <a:solidFill>
                  <a:srgbClr val="000000"/>
                </a:solidFill>
                <a:latin typeface="Karnchang"/>
                <a:ea typeface="Karnchang"/>
                <a:cs typeface="Karnchang"/>
                <a:sym typeface="Karnchang"/>
              </a:rPr>
              <a:t>Kapal dan antena penerima (receiver)</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6EAEF"/>
        </a:solidFill>
      </p:bgPr>
    </p:bg>
    <p:spTree>
      <p:nvGrpSpPr>
        <p:cNvPr id="1" name=""/>
        <p:cNvGrpSpPr/>
        <p:nvPr/>
      </p:nvGrpSpPr>
      <p:grpSpPr>
        <a:xfrm>
          <a:off x="0" y="0"/>
          <a:ext cx="0" cy="0"/>
          <a:chOff x="0" y="0"/>
          <a:chExt cx="0" cy="0"/>
        </a:xfrm>
      </p:grpSpPr>
      <p:grpSp>
        <p:nvGrpSpPr>
          <p:cNvPr name="Group 2" id="2"/>
          <p:cNvGrpSpPr/>
          <p:nvPr/>
        </p:nvGrpSpPr>
        <p:grpSpPr>
          <a:xfrm rot="0">
            <a:off x="787067" y="592941"/>
            <a:ext cx="16713866" cy="9101117"/>
            <a:chOff x="0" y="0"/>
            <a:chExt cx="4402006" cy="2397002"/>
          </a:xfrm>
        </p:grpSpPr>
        <p:sp>
          <p:nvSpPr>
            <p:cNvPr name="Freeform 3" id="3"/>
            <p:cNvSpPr/>
            <p:nvPr/>
          </p:nvSpPr>
          <p:spPr>
            <a:xfrm flipH="false" flipV="false" rot="0">
              <a:off x="0" y="0"/>
              <a:ext cx="4402006" cy="2397002"/>
            </a:xfrm>
            <a:custGeom>
              <a:avLst/>
              <a:gdLst/>
              <a:ahLst/>
              <a:cxnLst/>
              <a:rect r="r" b="b" t="t" l="l"/>
              <a:pathLst>
                <a:path h="2397002" w="4402006">
                  <a:moveTo>
                    <a:pt x="23623" y="0"/>
                  </a:moveTo>
                  <a:lnTo>
                    <a:pt x="4378382" y="0"/>
                  </a:lnTo>
                  <a:cubicBezTo>
                    <a:pt x="4391429" y="0"/>
                    <a:pt x="4402006" y="10577"/>
                    <a:pt x="4402006" y="23623"/>
                  </a:cubicBezTo>
                  <a:lnTo>
                    <a:pt x="4402006" y="2373379"/>
                  </a:lnTo>
                  <a:cubicBezTo>
                    <a:pt x="4402006" y="2379644"/>
                    <a:pt x="4399517" y="2385653"/>
                    <a:pt x="4395087" y="2390083"/>
                  </a:cubicBezTo>
                  <a:cubicBezTo>
                    <a:pt x="4390656" y="2394513"/>
                    <a:pt x="4384647" y="2397002"/>
                    <a:pt x="4378382" y="2397002"/>
                  </a:cubicBezTo>
                  <a:lnTo>
                    <a:pt x="23623" y="2397002"/>
                  </a:lnTo>
                  <a:cubicBezTo>
                    <a:pt x="17358" y="2397002"/>
                    <a:pt x="11349" y="2394513"/>
                    <a:pt x="6919" y="2390083"/>
                  </a:cubicBezTo>
                  <a:cubicBezTo>
                    <a:pt x="2489" y="2385653"/>
                    <a:pt x="0" y="2379644"/>
                    <a:pt x="0" y="2373379"/>
                  </a:cubicBezTo>
                  <a:lnTo>
                    <a:pt x="0" y="23623"/>
                  </a:lnTo>
                  <a:cubicBezTo>
                    <a:pt x="0" y="17358"/>
                    <a:pt x="2489" y="11349"/>
                    <a:pt x="6919" y="6919"/>
                  </a:cubicBezTo>
                  <a:cubicBezTo>
                    <a:pt x="11349" y="2489"/>
                    <a:pt x="17358" y="0"/>
                    <a:pt x="23623" y="0"/>
                  </a:cubicBezTo>
                  <a:close/>
                </a:path>
              </a:pathLst>
            </a:custGeom>
            <a:solidFill>
              <a:srgbClr val="E6EAEF"/>
            </a:solidFill>
            <a:ln w="19050" cap="rnd">
              <a:solidFill>
                <a:srgbClr val="243342"/>
              </a:solidFill>
              <a:prstDash val="solid"/>
              <a:round/>
            </a:ln>
          </p:spPr>
        </p:sp>
        <p:sp>
          <p:nvSpPr>
            <p:cNvPr name="TextBox 4" id="4"/>
            <p:cNvSpPr txBox="true"/>
            <p:nvPr/>
          </p:nvSpPr>
          <p:spPr>
            <a:xfrm>
              <a:off x="0" y="-38100"/>
              <a:ext cx="4402006" cy="2435102"/>
            </a:xfrm>
            <a:prstGeom prst="rect">
              <a:avLst/>
            </a:prstGeom>
          </p:spPr>
          <p:txBody>
            <a:bodyPr anchor="ctr" rtlCol="false" tIns="50800" lIns="50800" bIns="50800" rIns="50800"/>
            <a:lstStyle/>
            <a:p>
              <a:pPr algn="ctr">
                <a:lnSpc>
                  <a:spcPts val="3362"/>
                </a:lnSpc>
              </a:pPr>
            </a:p>
          </p:txBody>
        </p:sp>
      </p:grpSp>
      <p:grpSp>
        <p:nvGrpSpPr>
          <p:cNvPr name="Group 5" id="5"/>
          <p:cNvGrpSpPr/>
          <p:nvPr/>
        </p:nvGrpSpPr>
        <p:grpSpPr>
          <a:xfrm rot="-7538080">
            <a:off x="-7029811" y="-5584933"/>
            <a:ext cx="9808447" cy="9331824"/>
            <a:chOff x="0" y="0"/>
            <a:chExt cx="13077930" cy="12442432"/>
          </a:xfrm>
        </p:grpSpPr>
        <p:grpSp>
          <p:nvGrpSpPr>
            <p:cNvPr name="Group 6" id="6"/>
            <p:cNvGrpSpPr/>
            <p:nvPr/>
          </p:nvGrpSpPr>
          <p:grpSpPr>
            <a:xfrm rot="2252144">
              <a:off x="1498251" y="1484738"/>
              <a:ext cx="7399579" cy="7432687"/>
              <a:chOff x="0" y="0"/>
              <a:chExt cx="2816645" cy="2829248"/>
            </a:xfrm>
          </p:grpSpPr>
          <p:sp>
            <p:nvSpPr>
              <p:cNvPr name="Freeform 7" id="7"/>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243342"/>
              </a:solidFill>
            </p:spPr>
          </p:sp>
          <p:sp>
            <p:nvSpPr>
              <p:cNvPr name="TextBox 8" id="8"/>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2252144">
              <a:off x="2397493" y="3224228"/>
              <a:ext cx="7399579" cy="7432687"/>
              <a:chOff x="0" y="0"/>
              <a:chExt cx="2816645" cy="2829248"/>
            </a:xfrm>
          </p:grpSpPr>
          <p:sp>
            <p:nvSpPr>
              <p:cNvPr name="Freeform 10" id="10"/>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535659"/>
              </a:solidFill>
            </p:spPr>
          </p:sp>
          <p:sp>
            <p:nvSpPr>
              <p:cNvPr name="TextBox 11" id="11"/>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2252144">
              <a:off x="4180100" y="3525007"/>
              <a:ext cx="7399579" cy="7432687"/>
              <a:chOff x="0" y="0"/>
              <a:chExt cx="2816645" cy="2829248"/>
            </a:xfrm>
          </p:grpSpPr>
          <p:sp>
            <p:nvSpPr>
              <p:cNvPr name="Freeform 13" id="13"/>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858789"/>
              </a:solidFill>
            </p:spPr>
          </p:sp>
          <p:sp>
            <p:nvSpPr>
              <p:cNvPr name="TextBox 14" id="14"/>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grpSp>
        <p:nvGrpSpPr>
          <p:cNvPr name="Group 15" id="15"/>
          <p:cNvGrpSpPr/>
          <p:nvPr/>
        </p:nvGrpSpPr>
        <p:grpSpPr>
          <a:xfrm rot="2124477">
            <a:off x="15979122" y="5429903"/>
            <a:ext cx="9808447" cy="9331824"/>
            <a:chOff x="0" y="0"/>
            <a:chExt cx="13077930" cy="12442432"/>
          </a:xfrm>
        </p:grpSpPr>
        <p:grpSp>
          <p:nvGrpSpPr>
            <p:cNvPr name="Group 16" id="16"/>
            <p:cNvGrpSpPr/>
            <p:nvPr/>
          </p:nvGrpSpPr>
          <p:grpSpPr>
            <a:xfrm rot="2252144">
              <a:off x="1498251" y="1484738"/>
              <a:ext cx="7399579" cy="7432687"/>
              <a:chOff x="0" y="0"/>
              <a:chExt cx="2816645" cy="2829248"/>
            </a:xfrm>
          </p:grpSpPr>
          <p:sp>
            <p:nvSpPr>
              <p:cNvPr name="Freeform 17" id="17"/>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243342"/>
              </a:solidFill>
            </p:spPr>
          </p:sp>
          <p:sp>
            <p:nvSpPr>
              <p:cNvPr name="TextBox 18" id="18"/>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19" id="19"/>
            <p:cNvGrpSpPr/>
            <p:nvPr/>
          </p:nvGrpSpPr>
          <p:grpSpPr>
            <a:xfrm rot="2252144">
              <a:off x="2397493" y="3224228"/>
              <a:ext cx="7399579" cy="7432687"/>
              <a:chOff x="0" y="0"/>
              <a:chExt cx="2816645" cy="2829248"/>
            </a:xfrm>
          </p:grpSpPr>
          <p:sp>
            <p:nvSpPr>
              <p:cNvPr name="Freeform 20" id="20"/>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535659"/>
              </a:solidFill>
            </p:spPr>
          </p:sp>
          <p:sp>
            <p:nvSpPr>
              <p:cNvPr name="TextBox 21" id="21"/>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22" id="22"/>
            <p:cNvGrpSpPr/>
            <p:nvPr/>
          </p:nvGrpSpPr>
          <p:grpSpPr>
            <a:xfrm rot="2252144">
              <a:off x="4180100" y="3525007"/>
              <a:ext cx="7399579" cy="7432687"/>
              <a:chOff x="0" y="0"/>
              <a:chExt cx="2816645" cy="2829248"/>
            </a:xfrm>
          </p:grpSpPr>
          <p:sp>
            <p:nvSpPr>
              <p:cNvPr name="Freeform 23" id="23"/>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858789"/>
              </a:solidFill>
            </p:spPr>
          </p:sp>
          <p:sp>
            <p:nvSpPr>
              <p:cNvPr name="TextBox 24" id="24"/>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grpSp>
        <p:nvGrpSpPr>
          <p:cNvPr name="Group 25" id="25"/>
          <p:cNvGrpSpPr/>
          <p:nvPr/>
        </p:nvGrpSpPr>
        <p:grpSpPr>
          <a:xfrm rot="0">
            <a:off x="15665503" y="317552"/>
            <a:ext cx="2042119" cy="650325"/>
            <a:chOff x="0" y="0"/>
            <a:chExt cx="537842" cy="171279"/>
          </a:xfrm>
        </p:grpSpPr>
        <p:sp>
          <p:nvSpPr>
            <p:cNvPr name="Freeform 26" id="26"/>
            <p:cNvSpPr/>
            <p:nvPr/>
          </p:nvSpPr>
          <p:spPr>
            <a:xfrm flipH="false" flipV="false" rot="0">
              <a:off x="0" y="0"/>
              <a:ext cx="537842" cy="171279"/>
            </a:xfrm>
            <a:custGeom>
              <a:avLst/>
              <a:gdLst/>
              <a:ahLst/>
              <a:cxnLst/>
              <a:rect r="r" b="b" t="t" l="l"/>
              <a:pathLst>
                <a:path h="171279" w="537842">
                  <a:moveTo>
                    <a:pt x="53076" y="0"/>
                  </a:moveTo>
                  <a:lnTo>
                    <a:pt x="484766" y="0"/>
                  </a:lnTo>
                  <a:cubicBezTo>
                    <a:pt x="514079" y="0"/>
                    <a:pt x="537842" y="23763"/>
                    <a:pt x="537842" y="53076"/>
                  </a:cubicBezTo>
                  <a:lnTo>
                    <a:pt x="537842" y="118203"/>
                  </a:lnTo>
                  <a:cubicBezTo>
                    <a:pt x="537842" y="132280"/>
                    <a:pt x="532250" y="145780"/>
                    <a:pt x="522296" y="155734"/>
                  </a:cubicBezTo>
                  <a:cubicBezTo>
                    <a:pt x="512343" y="165687"/>
                    <a:pt x="498843" y="171279"/>
                    <a:pt x="484766" y="171279"/>
                  </a:cubicBezTo>
                  <a:lnTo>
                    <a:pt x="53076" y="171279"/>
                  </a:lnTo>
                  <a:cubicBezTo>
                    <a:pt x="38999" y="171279"/>
                    <a:pt x="25499" y="165687"/>
                    <a:pt x="15546" y="155734"/>
                  </a:cubicBezTo>
                  <a:cubicBezTo>
                    <a:pt x="5592" y="145780"/>
                    <a:pt x="0" y="132280"/>
                    <a:pt x="0" y="118203"/>
                  </a:cubicBezTo>
                  <a:lnTo>
                    <a:pt x="0" y="53076"/>
                  </a:lnTo>
                  <a:cubicBezTo>
                    <a:pt x="0" y="38999"/>
                    <a:pt x="5592" y="25499"/>
                    <a:pt x="15546" y="15546"/>
                  </a:cubicBezTo>
                  <a:cubicBezTo>
                    <a:pt x="25499" y="5592"/>
                    <a:pt x="38999" y="0"/>
                    <a:pt x="53076" y="0"/>
                  </a:cubicBezTo>
                  <a:close/>
                </a:path>
              </a:pathLst>
            </a:custGeom>
            <a:solidFill>
              <a:srgbClr val="535659"/>
            </a:solidFill>
            <a:ln w="19050" cap="sq">
              <a:solidFill>
                <a:srgbClr val="243342"/>
              </a:solidFill>
              <a:prstDash val="solid"/>
              <a:miter/>
            </a:ln>
          </p:spPr>
        </p:sp>
        <p:sp>
          <p:nvSpPr>
            <p:cNvPr name="TextBox 27" id="27"/>
            <p:cNvSpPr txBox="true"/>
            <p:nvPr/>
          </p:nvSpPr>
          <p:spPr>
            <a:xfrm>
              <a:off x="0" y="-38100"/>
              <a:ext cx="537842" cy="209379"/>
            </a:xfrm>
            <a:prstGeom prst="rect">
              <a:avLst/>
            </a:prstGeom>
          </p:spPr>
          <p:txBody>
            <a:bodyPr anchor="ctr" rtlCol="false" tIns="50800" lIns="50800" bIns="50800" rIns="50800"/>
            <a:lstStyle/>
            <a:p>
              <a:pPr algn="ctr">
                <a:lnSpc>
                  <a:spcPts val="3362"/>
                </a:lnSpc>
              </a:pPr>
            </a:p>
          </p:txBody>
        </p:sp>
      </p:grpSp>
      <p:grpSp>
        <p:nvGrpSpPr>
          <p:cNvPr name="Group 28" id="28"/>
          <p:cNvGrpSpPr/>
          <p:nvPr/>
        </p:nvGrpSpPr>
        <p:grpSpPr>
          <a:xfrm rot="0">
            <a:off x="629723" y="9258300"/>
            <a:ext cx="9916004" cy="627749"/>
            <a:chOff x="0" y="0"/>
            <a:chExt cx="2611622" cy="165333"/>
          </a:xfrm>
        </p:grpSpPr>
        <p:sp>
          <p:nvSpPr>
            <p:cNvPr name="Freeform 29" id="29"/>
            <p:cNvSpPr/>
            <p:nvPr/>
          </p:nvSpPr>
          <p:spPr>
            <a:xfrm flipH="false" flipV="false" rot="0">
              <a:off x="0" y="0"/>
              <a:ext cx="2611622" cy="165333"/>
            </a:xfrm>
            <a:custGeom>
              <a:avLst/>
              <a:gdLst/>
              <a:ahLst/>
              <a:cxnLst/>
              <a:rect r="r" b="b" t="t" l="l"/>
              <a:pathLst>
                <a:path h="165333" w="2611622">
                  <a:moveTo>
                    <a:pt x="11711" y="0"/>
                  </a:moveTo>
                  <a:lnTo>
                    <a:pt x="2599911" y="0"/>
                  </a:lnTo>
                  <a:cubicBezTo>
                    <a:pt x="2606379" y="0"/>
                    <a:pt x="2611622" y="5243"/>
                    <a:pt x="2611622" y="11711"/>
                  </a:cubicBezTo>
                  <a:lnTo>
                    <a:pt x="2611622" y="153622"/>
                  </a:lnTo>
                  <a:cubicBezTo>
                    <a:pt x="2611622" y="156728"/>
                    <a:pt x="2610389" y="159707"/>
                    <a:pt x="2608192" y="161903"/>
                  </a:cubicBezTo>
                  <a:cubicBezTo>
                    <a:pt x="2605996" y="164099"/>
                    <a:pt x="2603017" y="165333"/>
                    <a:pt x="2599911" y="165333"/>
                  </a:cubicBezTo>
                  <a:lnTo>
                    <a:pt x="11711" y="165333"/>
                  </a:lnTo>
                  <a:cubicBezTo>
                    <a:pt x="8605" y="165333"/>
                    <a:pt x="5626" y="164099"/>
                    <a:pt x="3430" y="161903"/>
                  </a:cubicBezTo>
                  <a:cubicBezTo>
                    <a:pt x="1234" y="159707"/>
                    <a:pt x="0" y="156728"/>
                    <a:pt x="0" y="153622"/>
                  </a:cubicBezTo>
                  <a:lnTo>
                    <a:pt x="0" y="11711"/>
                  </a:lnTo>
                  <a:cubicBezTo>
                    <a:pt x="0" y="8605"/>
                    <a:pt x="1234" y="5626"/>
                    <a:pt x="3430" y="3430"/>
                  </a:cubicBezTo>
                  <a:cubicBezTo>
                    <a:pt x="5626" y="1234"/>
                    <a:pt x="8605" y="0"/>
                    <a:pt x="11711" y="0"/>
                  </a:cubicBezTo>
                  <a:close/>
                </a:path>
              </a:pathLst>
            </a:custGeom>
            <a:solidFill>
              <a:srgbClr val="535659"/>
            </a:solidFill>
            <a:ln w="19050" cap="sq">
              <a:solidFill>
                <a:srgbClr val="243342"/>
              </a:solidFill>
              <a:prstDash val="solid"/>
              <a:miter/>
            </a:ln>
          </p:spPr>
        </p:sp>
        <p:sp>
          <p:nvSpPr>
            <p:cNvPr name="TextBox 30" id="30"/>
            <p:cNvSpPr txBox="true"/>
            <p:nvPr/>
          </p:nvSpPr>
          <p:spPr>
            <a:xfrm>
              <a:off x="0" y="-38100"/>
              <a:ext cx="2611622" cy="203433"/>
            </a:xfrm>
            <a:prstGeom prst="rect">
              <a:avLst/>
            </a:prstGeom>
          </p:spPr>
          <p:txBody>
            <a:bodyPr anchor="ctr" rtlCol="false" tIns="50800" lIns="50800" bIns="50800" rIns="50800"/>
            <a:lstStyle/>
            <a:p>
              <a:pPr algn="ctr">
                <a:lnSpc>
                  <a:spcPts val="3362"/>
                </a:lnSpc>
              </a:pPr>
            </a:p>
          </p:txBody>
        </p:sp>
      </p:grpSp>
      <p:sp>
        <p:nvSpPr>
          <p:cNvPr name="Freeform 31" id="31"/>
          <p:cNvSpPr/>
          <p:nvPr/>
        </p:nvSpPr>
        <p:spPr>
          <a:xfrm flipH="false" flipV="false" rot="0">
            <a:off x="1679999" y="2840902"/>
            <a:ext cx="5687799" cy="5283932"/>
          </a:xfrm>
          <a:custGeom>
            <a:avLst/>
            <a:gdLst/>
            <a:ahLst/>
            <a:cxnLst/>
            <a:rect r="r" b="b" t="t" l="l"/>
            <a:pathLst>
              <a:path h="5283932" w="5687799">
                <a:moveTo>
                  <a:pt x="0" y="0"/>
                </a:moveTo>
                <a:lnTo>
                  <a:pt x="5687799" y="0"/>
                </a:lnTo>
                <a:lnTo>
                  <a:pt x="5687799" y="5283932"/>
                </a:lnTo>
                <a:lnTo>
                  <a:pt x="0" y="5283932"/>
                </a:lnTo>
                <a:lnTo>
                  <a:pt x="0" y="0"/>
                </a:lnTo>
                <a:close/>
              </a:path>
            </a:pathLst>
          </a:custGeom>
          <a:blipFill>
            <a:blip r:embed="rId2"/>
            <a:stretch>
              <a:fillRect l="0" t="0" r="0" b="0"/>
            </a:stretch>
          </a:blipFill>
        </p:spPr>
      </p:sp>
      <p:sp>
        <p:nvSpPr>
          <p:cNvPr name="TextBox 32" id="32"/>
          <p:cNvSpPr txBox="true"/>
          <p:nvPr/>
        </p:nvSpPr>
        <p:spPr>
          <a:xfrm rot="0">
            <a:off x="1821612" y="847679"/>
            <a:ext cx="14644776" cy="1107440"/>
          </a:xfrm>
          <a:prstGeom prst="rect">
            <a:avLst/>
          </a:prstGeom>
        </p:spPr>
        <p:txBody>
          <a:bodyPr anchor="t" rtlCol="false" tIns="0" lIns="0" bIns="0" rIns="0">
            <a:spAutoFit/>
          </a:bodyPr>
          <a:lstStyle/>
          <a:p>
            <a:pPr algn="ctr">
              <a:lnSpc>
                <a:spcPts val="5980"/>
              </a:lnSpc>
            </a:pPr>
            <a:r>
              <a:rPr lang="en-US" sz="6500" b="true">
                <a:solidFill>
                  <a:srgbClr val="243342"/>
                </a:solidFill>
                <a:latin typeface="Karnchang Bold"/>
                <a:ea typeface="Karnchang Bold"/>
                <a:cs typeface="Karnchang Bold"/>
                <a:sym typeface="Karnchang Bold"/>
              </a:rPr>
              <a:t>Coast-ship Bistatic HFSW SIAR radar</a:t>
            </a:r>
          </a:p>
        </p:txBody>
      </p:sp>
      <p:sp>
        <p:nvSpPr>
          <p:cNvPr name="TextBox 33" id="33"/>
          <p:cNvSpPr txBox="true"/>
          <p:nvPr/>
        </p:nvSpPr>
        <p:spPr>
          <a:xfrm rot="0">
            <a:off x="15621459" y="349050"/>
            <a:ext cx="2168307" cy="444454"/>
          </a:xfrm>
          <a:prstGeom prst="rect">
            <a:avLst/>
          </a:prstGeom>
        </p:spPr>
        <p:txBody>
          <a:bodyPr anchor="t" rtlCol="false" tIns="0" lIns="0" bIns="0" rIns="0">
            <a:spAutoFit/>
          </a:bodyPr>
          <a:lstStyle/>
          <a:p>
            <a:pPr algn="ctr">
              <a:lnSpc>
                <a:spcPts val="2800"/>
              </a:lnSpc>
            </a:pPr>
            <a:r>
              <a:rPr lang="en-US" sz="2000" spc="120">
                <a:solidFill>
                  <a:srgbClr val="FFFFFF"/>
                </a:solidFill>
                <a:latin typeface="Karnchang"/>
                <a:ea typeface="Karnchang"/>
                <a:cs typeface="Karnchang"/>
                <a:sym typeface="Karnchang"/>
              </a:rPr>
              <a:t>Halaman 10</a:t>
            </a:r>
          </a:p>
        </p:txBody>
      </p:sp>
      <p:sp>
        <p:nvSpPr>
          <p:cNvPr name="TextBox 34" id="34"/>
          <p:cNvSpPr txBox="true"/>
          <p:nvPr/>
        </p:nvSpPr>
        <p:spPr>
          <a:xfrm rot="0">
            <a:off x="7689023" y="4171212"/>
            <a:ext cx="9016590" cy="2451861"/>
          </a:xfrm>
          <a:prstGeom prst="rect">
            <a:avLst/>
          </a:prstGeom>
        </p:spPr>
        <p:txBody>
          <a:bodyPr anchor="t" rtlCol="false" tIns="0" lIns="0" bIns="0" rIns="0">
            <a:spAutoFit/>
          </a:bodyPr>
          <a:lstStyle/>
          <a:p>
            <a:pPr algn="just">
              <a:lnSpc>
                <a:spcPts val="3727"/>
              </a:lnSpc>
            </a:pPr>
            <a:r>
              <a:rPr lang="en-US" sz="2662">
                <a:solidFill>
                  <a:srgbClr val="000000"/>
                </a:solidFill>
                <a:latin typeface="Karnchang"/>
                <a:ea typeface="Karnchang"/>
                <a:cs typeface="Karnchang"/>
                <a:sym typeface="Karnchang"/>
              </a:rPr>
              <a:t>Gambar tersebut menunjukkan hasil data sebenarnya masing-masing sebelum dan sesudah penekanan interferensi frekuensi radio (RFI). Dari Gambar tersebut, kita dapat melihat bahwa interferensi frekuensi ditekan setelah RFI.</a:t>
            </a:r>
          </a:p>
        </p:txBody>
      </p:sp>
      <p:sp>
        <p:nvSpPr>
          <p:cNvPr name="TextBox 35" id="35"/>
          <p:cNvSpPr txBox="true"/>
          <p:nvPr/>
        </p:nvSpPr>
        <p:spPr>
          <a:xfrm rot="0">
            <a:off x="551143" y="9305925"/>
            <a:ext cx="9994584" cy="444500"/>
          </a:xfrm>
          <a:prstGeom prst="rect">
            <a:avLst/>
          </a:prstGeom>
        </p:spPr>
        <p:txBody>
          <a:bodyPr anchor="t" rtlCol="false" tIns="0" lIns="0" bIns="0" rIns="0">
            <a:spAutoFit/>
          </a:bodyPr>
          <a:lstStyle/>
          <a:p>
            <a:pPr algn="ctr">
              <a:lnSpc>
                <a:spcPts val="2800"/>
              </a:lnSpc>
            </a:pPr>
            <a:r>
              <a:rPr lang="en-US" sz="2000" spc="120">
                <a:solidFill>
                  <a:srgbClr val="FFFFFF"/>
                </a:solidFill>
                <a:latin typeface="Karnchang"/>
                <a:ea typeface="Karnchang"/>
                <a:cs typeface="Karnchang"/>
                <a:sym typeface="Karnchang"/>
              </a:rPr>
              <a:t>Abdul Rozak A |  Politeknik Negeri Bandung | Teknik Telekomuniakasi | 2024</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1720" r="0" b="-31720"/>
            </a:stretch>
          </a:blipFill>
        </p:spPr>
      </p:sp>
      <p:grpSp>
        <p:nvGrpSpPr>
          <p:cNvPr name="Group 3" id="3"/>
          <p:cNvGrpSpPr/>
          <p:nvPr/>
        </p:nvGrpSpPr>
        <p:grpSpPr>
          <a:xfrm rot="0">
            <a:off x="787067" y="592941"/>
            <a:ext cx="16713866" cy="9101117"/>
            <a:chOff x="0" y="0"/>
            <a:chExt cx="4402006" cy="2397002"/>
          </a:xfrm>
        </p:grpSpPr>
        <p:sp>
          <p:nvSpPr>
            <p:cNvPr name="Freeform 4" id="4"/>
            <p:cNvSpPr/>
            <p:nvPr/>
          </p:nvSpPr>
          <p:spPr>
            <a:xfrm flipH="false" flipV="false" rot="0">
              <a:off x="0" y="0"/>
              <a:ext cx="4402006" cy="2397002"/>
            </a:xfrm>
            <a:custGeom>
              <a:avLst/>
              <a:gdLst/>
              <a:ahLst/>
              <a:cxnLst/>
              <a:rect r="r" b="b" t="t" l="l"/>
              <a:pathLst>
                <a:path h="2397002" w="4402006">
                  <a:moveTo>
                    <a:pt x="23623" y="0"/>
                  </a:moveTo>
                  <a:lnTo>
                    <a:pt x="4378382" y="0"/>
                  </a:lnTo>
                  <a:cubicBezTo>
                    <a:pt x="4391429" y="0"/>
                    <a:pt x="4402006" y="10577"/>
                    <a:pt x="4402006" y="23623"/>
                  </a:cubicBezTo>
                  <a:lnTo>
                    <a:pt x="4402006" y="2373379"/>
                  </a:lnTo>
                  <a:cubicBezTo>
                    <a:pt x="4402006" y="2379644"/>
                    <a:pt x="4399517" y="2385653"/>
                    <a:pt x="4395087" y="2390083"/>
                  </a:cubicBezTo>
                  <a:cubicBezTo>
                    <a:pt x="4390656" y="2394513"/>
                    <a:pt x="4384647" y="2397002"/>
                    <a:pt x="4378382" y="2397002"/>
                  </a:cubicBezTo>
                  <a:lnTo>
                    <a:pt x="23623" y="2397002"/>
                  </a:lnTo>
                  <a:cubicBezTo>
                    <a:pt x="17358" y="2397002"/>
                    <a:pt x="11349" y="2394513"/>
                    <a:pt x="6919" y="2390083"/>
                  </a:cubicBezTo>
                  <a:cubicBezTo>
                    <a:pt x="2489" y="2385653"/>
                    <a:pt x="0" y="2379644"/>
                    <a:pt x="0" y="2373379"/>
                  </a:cubicBezTo>
                  <a:lnTo>
                    <a:pt x="0" y="23623"/>
                  </a:lnTo>
                  <a:cubicBezTo>
                    <a:pt x="0" y="17358"/>
                    <a:pt x="2489" y="11349"/>
                    <a:pt x="6919" y="6919"/>
                  </a:cubicBezTo>
                  <a:cubicBezTo>
                    <a:pt x="11349" y="2489"/>
                    <a:pt x="17358" y="0"/>
                    <a:pt x="23623" y="0"/>
                  </a:cubicBezTo>
                  <a:close/>
                </a:path>
              </a:pathLst>
            </a:custGeom>
            <a:solidFill>
              <a:srgbClr val="E6EAEF"/>
            </a:solidFill>
            <a:ln w="19050" cap="rnd">
              <a:solidFill>
                <a:srgbClr val="243342"/>
              </a:solidFill>
              <a:prstDash val="solid"/>
              <a:round/>
            </a:ln>
          </p:spPr>
        </p:sp>
        <p:sp>
          <p:nvSpPr>
            <p:cNvPr name="TextBox 5" id="5"/>
            <p:cNvSpPr txBox="true"/>
            <p:nvPr/>
          </p:nvSpPr>
          <p:spPr>
            <a:xfrm>
              <a:off x="0" y="-38100"/>
              <a:ext cx="4402006" cy="2435102"/>
            </a:xfrm>
            <a:prstGeom prst="rect">
              <a:avLst/>
            </a:prstGeom>
          </p:spPr>
          <p:txBody>
            <a:bodyPr anchor="ctr" rtlCol="false" tIns="50800" lIns="50800" bIns="50800" rIns="50800"/>
            <a:lstStyle/>
            <a:p>
              <a:pPr algn="ctr">
                <a:lnSpc>
                  <a:spcPts val="3362"/>
                </a:lnSpc>
              </a:pPr>
            </a:p>
          </p:txBody>
        </p:sp>
      </p:grpSp>
      <p:grpSp>
        <p:nvGrpSpPr>
          <p:cNvPr name="Group 6" id="6"/>
          <p:cNvGrpSpPr/>
          <p:nvPr/>
        </p:nvGrpSpPr>
        <p:grpSpPr>
          <a:xfrm rot="-7538080">
            <a:off x="-7029811" y="-5584933"/>
            <a:ext cx="9808447" cy="9331824"/>
            <a:chOff x="0" y="0"/>
            <a:chExt cx="13077930" cy="12442432"/>
          </a:xfrm>
        </p:grpSpPr>
        <p:grpSp>
          <p:nvGrpSpPr>
            <p:cNvPr name="Group 7" id="7"/>
            <p:cNvGrpSpPr/>
            <p:nvPr/>
          </p:nvGrpSpPr>
          <p:grpSpPr>
            <a:xfrm rot="2252144">
              <a:off x="1498251" y="1484738"/>
              <a:ext cx="7399579" cy="7432687"/>
              <a:chOff x="0" y="0"/>
              <a:chExt cx="2816645" cy="2829248"/>
            </a:xfrm>
          </p:grpSpPr>
          <p:sp>
            <p:nvSpPr>
              <p:cNvPr name="Freeform 8" id="8"/>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243342"/>
              </a:solidFill>
            </p:spPr>
          </p:sp>
          <p:sp>
            <p:nvSpPr>
              <p:cNvPr name="TextBox 9" id="9"/>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10" id="10"/>
            <p:cNvGrpSpPr/>
            <p:nvPr/>
          </p:nvGrpSpPr>
          <p:grpSpPr>
            <a:xfrm rot="2252144">
              <a:off x="2397493" y="3224228"/>
              <a:ext cx="7399579" cy="7432687"/>
              <a:chOff x="0" y="0"/>
              <a:chExt cx="2816645" cy="2829248"/>
            </a:xfrm>
          </p:grpSpPr>
          <p:sp>
            <p:nvSpPr>
              <p:cNvPr name="Freeform 11" id="11"/>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535659"/>
              </a:solidFill>
            </p:spPr>
          </p:sp>
          <p:sp>
            <p:nvSpPr>
              <p:cNvPr name="TextBox 12" id="12"/>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13" id="13"/>
            <p:cNvGrpSpPr/>
            <p:nvPr/>
          </p:nvGrpSpPr>
          <p:grpSpPr>
            <a:xfrm rot="2252144">
              <a:off x="4180100" y="3525007"/>
              <a:ext cx="7399579" cy="7432687"/>
              <a:chOff x="0" y="0"/>
              <a:chExt cx="2816645" cy="2829248"/>
            </a:xfrm>
          </p:grpSpPr>
          <p:sp>
            <p:nvSpPr>
              <p:cNvPr name="Freeform 14" id="14"/>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858789"/>
              </a:solidFill>
            </p:spPr>
          </p:sp>
          <p:sp>
            <p:nvSpPr>
              <p:cNvPr name="TextBox 15" id="15"/>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grpSp>
        <p:nvGrpSpPr>
          <p:cNvPr name="Group 16" id="16"/>
          <p:cNvGrpSpPr/>
          <p:nvPr/>
        </p:nvGrpSpPr>
        <p:grpSpPr>
          <a:xfrm rot="2124477">
            <a:off x="15979122" y="5429903"/>
            <a:ext cx="9808447" cy="9331824"/>
            <a:chOff x="0" y="0"/>
            <a:chExt cx="13077930" cy="12442432"/>
          </a:xfrm>
        </p:grpSpPr>
        <p:grpSp>
          <p:nvGrpSpPr>
            <p:cNvPr name="Group 17" id="17"/>
            <p:cNvGrpSpPr/>
            <p:nvPr/>
          </p:nvGrpSpPr>
          <p:grpSpPr>
            <a:xfrm rot="2252144">
              <a:off x="1498251" y="1484738"/>
              <a:ext cx="7399579" cy="7432687"/>
              <a:chOff x="0" y="0"/>
              <a:chExt cx="2816645" cy="2829248"/>
            </a:xfrm>
          </p:grpSpPr>
          <p:sp>
            <p:nvSpPr>
              <p:cNvPr name="Freeform 18" id="18"/>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243342"/>
              </a:solidFill>
            </p:spPr>
          </p:sp>
          <p:sp>
            <p:nvSpPr>
              <p:cNvPr name="TextBox 19" id="19"/>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20" id="20"/>
            <p:cNvGrpSpPr/>
            <p:nvPr/>
          </p:nvGrpSpPr>
          <p:grpSpPr>
            <a:xfrm rot="2252144">
              <a:off x="2397493" y="3224228"/>
              <a:ext cx="7399579" cy="7432687"/>
              <a:chOff x="0" y="0"/>
              <a:chExt cx="2816645" cy="2829248"/>
            </a:xfrm>
          </p:grpSpPr>
          <p:sp>
            <p:nvSpPr>
              <p:cNvPr name="Freeform 21" id="21"/>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535659"/>
              </a:solidFill>
            </p:spPr>
          </p:sp>
          <p:sp>
            <p:nvSpPr>
              <p:cNvPr name="TextBox 22" id="22"/>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23" id="23"/>
            <p:cNvGrpSpPr/>
            <p:nvPr/>
          </p:nvGrpSpPr>
          <p:grpSpPr>
            <a:xfrm rot="2252144">
              <a:off x="4180100" y="3525007"/>
              <a:ext cx="7399579" cy="7432687"/>
              <a:chOff x="0" y="0"/>
              <a:chExt cx="2816645" cy="2829248"/>
            </a:xfrm>
          </p:grpSpPr>
          <p:sp>
            <p:nvSpPr>
              <p:cNvPr name="Freeform 24" id="24"/>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858789"/>
              </a:solidFill>
            </p:spPr>
          </p:sp>
          <p:sp>
            <p:nvSpPr>
              <p:cNvPr name="TextBox 25" id="25"/>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grpSp>
        <p:nvGrpSpPr>
          <p:cNvPr name="Group 26" id="26"/>
          <p:cNvGrpSpPr/>
          <p:nvPr/>
        </p:nvGrpSpPr>
        <p:grpSpPr>
          <a:xfrm rot="0">
            <a:off x="15665503" y="317552"/>
            <a:ext cx="2042119" cy="650325"/>
            <a:chOff x="0" y="0"/>
            <a:chExt cx="537842" cy="171279"/>
          </a:xfrm>
        </p:grpSpPr>
        <p:sp>
          <p:nvSpPr>
            <p:cNvPr name="Freeform 27" id="27"/>
            <p:cNvSpPr/>
            <p:nvPr/>
          </p:nvSpPr>
          <p:spPr>
            <a:xfrm flipH="false" flipV="false" rot="0">
              <a:off x="0" y="0"/>
              <a:ext cx="537842" cy="171279"/>
            </a:xfrm>
            <a:custGeom>
              <a:avLst/>
              <a:gdLst/>
              <a:ahLst/>
              <a:cxnLst/>
              <a:rect r="r" b="b" t="t" l="l"/>
              <a:pathLst>
                <a:path h="171279" w="537842">
                  <a:moveTo>
                    <a:pt x="53076" y="0"/>
                  </a:moveTo>
                  <a:lnTo>
                    <a:pt x="484766" y="0"/>
                  </a:lnTo>
                  <a:cubicBezTo>
                    <a:pt x="514079" y="0"/>
                    <a:pt x="537842" y="23763"/>
                    <a:pt x="537842" y="53076"/>
                  </a:cubicBezTo>
                  <a:lnTo>
                    <a:pt x="537842" y="118203"/>
                  </a:lnTo>
                  <a:cubicBezTo>
                    <a:pt x="537842" y="132280"/>
                    <a:pt x="532250" y="145780"/>
                    <a:pt x="522296" y="155734"/>
                  </a:cubicBezTo>
                  <a:cubicBezTo>
                    <a:pt x="512343" y="165687"/>
                    <a:pt x="498843" y="171279"/>
                    <a:pt x="484766" y="171279"/>
                  </a:cubicBezTo>
                  <a:lnTo>
                    <a:pt x="53076" y="171279"/>
                  </a:lnTo>
                  <a:cubicBezTo>
                    <a:pt x="38999" y="171279"/>
                    <a:pt x="25499" y="165687"/>
                    <a:pt x="15546" y="155734"/>
                  </a:cubicBezTo>
                  <a:cubicBezTo>
                    <a:pt x="5592" y="145780"/>
                    <a:pt x="0" y="132280"/>
                    <a:pt x="0" y="118203"/>
                  </a:cubicBezTo>
                  <a:lnTo>
                    <a:pt x="0" y="53076"/>
                  </a:lnTo>
                  <a:cubicBezTo>
                    <a:pt x="0" y="38999"/>
                    <a:pt x="5592" y="25499"/>
                    <a:pt x="15546" y="15546"/>
                  </a:cubicBezTo>
                  <a:cubicBezTo>
                    <a:pt x="25499" y="5592"/>
                    <a:pt x="38999" y="0"/>
                    <a:pt x="53076" y="0"/>
                  </a:cubicBezTo>
                  <a:close/>
                </a:path>
              </a:pathLst>
            </a:custGeom>
            <a:solidFill>
              <a:srgbClr val="535659"/>
            </a:solidFill>
            <a:ln w="19050" cap="sq">
              <a:solidFill>
                <a:srgbClr val="243342"/>
              </a:solidFill>
              <a:prstDash val="solid"/>
              <a:miter/>
            </a:ln>
          </p:spPr>
        </p:sp>
        <p:sp>
          <p:nvSpPr>
            <p:cNvPr name="TextBox 28" id="28"/>
            <p:cNvSpPr txBox="true"/>
            <p:nvPr/>
          </p:nvSpPr>
          <p:spPr>
            <a:xfrm>
              <a:off x="0" y="-38100"/>
              <a:ext cx="537842" cy="209379"/>
            </a:xfrm>
            <a:prstGeom prst="rect">
              <a:avLst/>
            </a:prstGeom>
          </p:spPr>
          <p:txBody>
            <a:bodyPr anchor="ctr" rtlCol="false" tIns="50800" lIns="50800" bIns="50800" rIns="50800"/>
            <a:lstStyle/>
            <a:p>
              <a:pPr algn="ctr">
                <a:lnSpc>
                  <a:spcPts val="3362"/>
                </a:lnSpc>
              </a:pPr>
            </a:p>
          </p:txBody>
        </p:sp>
      </p:grpSp>
      <p:grpSp>
        <p:nvGrpSpPr>
          <p:cNvPr name="Group 29" id="29"/>
          <p:cNvGrpSpPr/>
          <p:nvPr/>
        </p:nvGrpSpPr>
        <p:grpSpPr>
          <a:xfrm rot="0">
            <a:off x="629723" y="9258300"/>
            <a:ext cx="9916004" cy="627749"/>
            <a:chOff x="0" y="0"/>
            <a:chExt cx="2611622" cy="165333"/>
          </a:xfrm>
        </p:grpSpPr>
        <p:sp>
          <p:nvSpPr>
            <p:cNvPr name="Freeform 30" id="30"/>
            <p:cNvSpPr/>
            <p:nvPr/>
          </p:nvSpPr>
          <p:spPr>
            <a:xfrm flipH="false" flipV="false" rot="0">
              <a:off x="0" y="0"/>
              <a:ext cx="2611622" cy="165333"/>
            </a:xfrm>
            <a:custGeom>
              <a:avLst/>
              <a:gdLst/>
              <a:ahLst/>
              <a:cxnLst/>
              <a:rect r="r" b="b" t="t" l="l"/>
              <a:pathLst>
                <a:path h="165333" w="2611622">
                  <a:moveTo>
                    <a:pt x="11711" y="0"/>
                  </a:moveTo>
                  <a:lnTo>
                    <a:pt x="2599911" y="0"/>
                  </a:lnTo>
                  <a:cubicBezTo>
                    <a:pt x="2606379" y="0"/>
                    <a:pt x="2611622" y="5243"/>
                    <a:pt x="2611622" y="11711"/>
                  </a:cubicBezTo>
                  <a:lnTo>
                    <a:pt x="2611622" y="153622"/>
                  </a:lnTo>
                  <a:cubicBezTo>
                    <a:pt x="2611622" y="156728"/>
                    <a:pt x="2610389" y="159707"/>
                    <a:pt x="2608192" y="161903"/>
                  </a:cubicBezTo>
                  <a:cubicBezTo>
                    <a:pt x="2605996" y="164099"/>
                    <a:pt x="2603017" y="165333"/>
                    <a:pt x="2599911" y="165333"/>
                  </a:cubicBezTo>
                  <a:lnTo>
                    <a:pt x="11711" y="165333"/>
                  </a:lnTo>
                  <a:cubicBezTo>
                    <a:pt x="8605" y="165333"/>
                    <a:pt x="5626" y="164099"/>
                    <a:pt x="3430" y="161903"/>
                  </a:cubicBezTo>
                  <a:cubicBezTo>
                    <a:pt x="1234" y="159707"/>
                    <a:pt x="0" y="156728"/>
                    <a:pt x="0" y="153622"/>
                  </a:cubicBezTo>
                  <a:lnTo>
                    <a:pt x="0" y="11711"/>
                  </a:lnTo>
                  <a:cubicBezTo>
                    <a:pt x="0" y="8605"/>
                    <a:pt x="1234" y="5626"/>
                    <a:pt x="3430" y="3430"/>
                  </a:cubicBezTo>
                  <a:cubicBezTo>
                    <a:pt x="5626" y="1234"/>
                    <a:pt x="8605" y="0"/>
                    <a:pt x="11711" y="0"/>
                  </a:cubicBezTo>
                  <a:close/>
                </a:path>
              </a:pathLst>
            </a:custGeom>
            <a:solidFill>
              <a:srgbClr val="535659"/>
            </a:solidFill>
            <a:ln w="19050" cap="sq">
              <a:solidFill>
                <a:srgbClr val="243342"/>
              </a:solidFill>
              <a:prstDash val="solid"/>
              <a:miter/>
            </a:ln>
          </p:spPr>
        </p:sp>
        <p:sp>
          <p:nvSpPr>
            <p:cNvPr name="TextBox 31" id="31"/>
            <p:cNvSpPr txBox="true"/>
            <p:nvPr/>
          </p:nvSpPr>
          <p:spPr>
            <a:xfrm>
              <a:off x="0" y="-38100"/>
              <a:ext cx="2611622" cy="203433"/>
            </a:xfrm>
            <a:prstGeom prst="rect">
              <a:avLst/>
            </a:prstGeom>
          </p:spPr>
          <p:txBody>
            <a:bodyPr anchor="ctr" rtlCol="false" tIns="50800" lIns="50800" bIns="50800" rIns="50800"/>
            <a:lstStyle/>
            <a:p>
              <a:pPr algn="ctr">
                <a:lnSpc>
                  <a:spcPts val="3362"/>
                </a:lnSpc>
              </a:pPr>
            </a:p>
          </p:txBody>
        </p:sp>
      </p:grpSp>
      <p:sp>
        <p:nvSpPr>
          <p:cNvPr name="Freeform 32" id="32"/>
          <p:cNvSpPr/>
          <p:nvPr/>
        </p:nvSpPr>
        <p:spPr>
          <a:xfrm flipH="false" flipV="false" rot="0">
            <a:off x="1716671" y="2621381"/>
            <a:ext cx="5614455" cy="5044237"/>
          </a:xfrm>
          <a:custGeom>
            <a:avLst/>
            <a:gdLst/>
            <a:ahLst/>
            <a:cxnLst/>
            <a:rect r="r" b="b" t="t" l="l"/>
            <a:pathLst>
              <a:path h="5044237" w="5614455">
                <a:moveTo>
                  <a:pt x="0" y="0"/>
                </a:moveTo>
                <a:lnTo>
                  <a:pt x="5614455" y="0"/>
                </a:lnTo>
                <a:lnTo>
                  <a:pt x="5614455" y="5044238"/>
                </a:lnTo>
                <a:lnTo>
                  <a:pt x="0" y="5044238"/>
                </a:lnTo>
                <a:lnTo>
                  <a:pt x="0" y="0"/>
                </a:lnTo>
                <a:close/>
              </a:path>
            </a:pathLst>
          </a:custGeom>
          <a:blipFill>
            <a:blip r:embed="rId3"/>
            <a:stretch>
              <a:fillRect l="0" t="0" r="0" b="0"/>
            </a:stretch>
          </a:blipFill>
        </p:spPr>
      </p:sp>
      <p:sp>
        <p:nvSpPr>
          <p:cNvPr name="TextBox 33" id="33"/>
          <p:cNvSpPr txBox="true"/>
          <p:nvPr/>
        </p:nvSpPr>
        <p:spPr>
          <a:xfrm rot="0">
            <a:off x="1821612" y="847679"/>
            <a:ext cx="14644776" cy="1107440"/>
          </a:xfrm>
          <a:prstGeom prst="rect">
            <a:avLst/>
          </a:prstGeom>
        </p:spPr>
        <p:txBody>
          <a:bodyPr anchor="t" rtlCol="false" tIns="0" lIns="0" bIns="0" rIns="0">
            <a:spAutoFit/>
          </a:bodyPr>
          <a:lstStyle/>
          <a:p>
            <a:pPr algn="ctr">
              <a:lnSpc>
                <a:spcPts val="5980"/>
              </a:lnSpc>
            </a:pPr>
            <a:r>
              <a:rPr lang="en-US" sz="6500" b="true">
                <a:solidFill>
                  <a:srgbClr val="243342"/>
                </a:solidFill>
                <a:latin typeface="Karnchang Bold"/>
                <a:ea typeface="Karnchang Bold"/>
                <a:cs typeface="Karnchang Bold"/>
                <a:sym typeface="Karnchang Bold"/>
              </a:rPr>
              <a:t>Coast-ship Bistatic HFSW SIAR radar</a:t>
            </a:r>
          </a:p>
        </p:txBody>
      </p:sp>
      <p:sp>
        <p:nvSpPr>
          <p:cNvPr name="TextBox 34" id="34"/>
          <p:cNvSpPr txBox="true"/>
          <p:nvPr/>
        </p:nvSpPr>
        <p:spPr>
          <a:xfrm rot="0">
            <a:off x="15621459" y="349050"/>
            <a:ext cx="2168307" cy="444500"/>
          </a:xfrm>
          <a:prstGeom prst="rect">
            <a:avLst/>
          </a:prstGeom>
        </p:spPr>
        <p:txBody>
          <a:bodyPr anchor="t" rtlCol="false" tIns="0" lIns="0" bIns="0" rIns="0">
            <a:spAutoFit/>
          </a:bodyPr>
          <a:lstStyle/>
          <a:p>
            <a:pPr algn="ctr">
              <a:lnSpc>
                <a:spcPts val="2800"/>
              </a:lnSpc>
            </a:pPr>
            <a:r>
              <a:rPr lang="en-US" sz="2000" spc="120">
                <a:solidFill>
                  <a:srgbClr val="FFFFFF"/>
                </a:solidFill>
                <a:latin typeface="Karnchang"/>
                <a:ea typeface="Karnchang"/>
                <a:cs typeface="Karnchang"/>
                <a:sym typeface="Karnchang"/>
              </a:rPr>
              <a:t>Halaman 11</a:t>
            </a:r>
          </a:p>
        </p:txBody>
      </p:sp>
      <p:sp>
        <p:nvSpPr>
          <p:cNvPr name="TextBox 35" id="35"/>
          <p:cNvSpPr txBox="true"/>
          <p:nvPr/>
        </p:nvSpPr>
        <p:spPr>
          <a:xfrm rot="0">
            <a:off x="7669973" y="3831844"/>
            <a:ext cx="9016590" cy="2451861"/>
          </a:xfrm>
          <a:prstGeom prst="rect">
            <a:avLst/>
          </a:prstGeom>
        </p:spPr>
        <p:txBody>
          <a:bodyPr anchor="t" rtlCol="false" tIns="0" lIns="0" bIns="0" rIns="0">
            <a:spAutoFit/>
          </a:bodyPr>
          <a:lstStyle/>
          <a:p>
            <a:pPr algn="just">
              <a:lnSpc>
                <a:spcPts val="3727"/>
              </a:lnSpc>
            </a:pPr>
            <a:r>
              <a:rPr lang="en-US" sz="2662">
                <a:solidFill>
                  <a:srgbClr val="000000"/>
                </a:solidFill>
                <a:latin typeface="Karnchang"/>
                <a:ea typeface="Karnchang"/>
                <a:cs typeface="Karnchang"/>
                <a:sym typeface="Karnchang"/>
              </a:rPr>
              <a:t>Gambar tersebut memberikan hasil lain ketika antena penerima berada pada kapal yang bergerak, yang jaraknya diukur dalam meter. Data ini dicatat dalam waktu sekitar setengah jam. Dapat dilihat bahwa </a:t>
            </a:r>
            <a:r>
              <a:rPr lang="en-US" sz="2662">
                <a:solidFill>
                  <a:srgbClr val="000000"/>
                </a:solidFill>
                <a:latin typeface="Karnchang"/>
                <a:ea typeface="Karnchang"/>
                <a:cs typeface="Karnchang"/>
                <a:sym typeface="Karnchang"/>
              </a:rPr>
              <a:t>pelacakan target terus menerus dan kesalahannya kecil.</a:t>
            </a:r>
          </a:p>
        </p:txBody>
      </p:sp>
      <p:sp>
        <p:nvSpPr>
          <p:cNvPr name="TextBox 36" id="36"/>
          <p:cNvSpPr txBox="true"/>
          <p:nvPr/>
        </p:nvSpPr>
        <p:spPr>
          <a:xfrm rot="0">
            <a:off x="551143" y="9305925"/>
            <a:ext cx="9994584" cy="444500"/>
          </a:xfrm>
          <a:prstGeom prst="rect">
            <a:avLst/>
          </a:prstGeom>
        </p:spPr>
        <p:txBody>
          <a:bodyPr anchor="t" rtlCol="false" tIns="0" lIns="0" bIns="0" rIns="0">
            <a:spAutoFit/>
          </a:bodyPr>
          <a:lstStyle/>
          <a:p>
            <a:pPr algn="ctr">
              <a:lnSpc>
                <a:spcPts val="2800"/>
              </a:lnSpc>
            </a:pPr>
            <a:r>
              <a:rPr lang="en-US" sz="2000" spc="120">
                <a:solidFill>
                  <a:srgbClr val="FFFFFF"/>
                </a:solidFill>
                <a:latin typeface="Karnchang"/>
                <a:ea typeface="Karnchang"/>
                <a:cs typeface="Karnchang"/>
                <a:sym typeface="Karnchang"/>
              </a:rPr>
              <a:t>Abdul Rozak A |  Politeknik Negeri Bandung | Teknik Telekomuniakasi | 2024</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6EAEF"/>
        </a:solidFill>
      </p:bgPr>
    </p:bg>
    <p:spTree>
      <p:nvGrpSpPr>
        <p:cNvPr id="1" name=""/>
        <p:cNvGrpSpPr/>
        <p:nvPr/>
      </p:nvGrpSpPr>
      <p:grpSpPr>
        <a:xfrm>
          <a:off x="0" y="0"/>
          <a:ext cx="0" cy="0"/>
          <a:chOff x="0" y="0"/>
          <a:chExt cx="0" cy="0"/>
        </a:xfrm>
      </p:grpSpPr>
      <p:grpSp>
        <p:nvGrpSpPr>
          <p:cNvPr name="Group 2" id="2"/>
          <p:cNvGrpSpPr/>
          <p:nvPr/>
        </p:nvGrpSpPr>
        <p:grpSpPr>
          <a:xfrm rot="0">
            <a:off x="787067" y="592941"/>
            <a:ext cx="16713866" cy="9101117"/>
            <a:chOff x="0" y="0"/>
            <a:chExt cx="4402006" cy="2397002"/>
          </a:xfrm>
        </p:grpSpPr>
        <p:sp>
          <p:nvSpPr>
            <p:cNvPr name="Freeform 3" id="3"/>
            <p:cNvSpPr/>
            <p:nvPr/>
          </p:nvSpPr>
          <p:spPr>
            <a:xfrm flipH="false" flipV="false" rot="0">
              <a:off x="0" y="0"/>
              <a:ext cx="4402006" cy="2397002"/>
            </a:xfrm>
            <a:custGeom>
              <a:avLst/>
              <a:gdLst/>
              <a:ahLst/>
              <a:cxnLst/>
              <a:rect r="r" b="b" t="t" l="l"/>
              <a:pathLst>
                <a:path h="2397002" w="4402006">
                  <a:moveTo>
                    <a:pt x="23623" y="0"/>
                  </a:moveTo>
                  <a:lnTo>
                    <a:pt x="4378382" y="0"/>
                  </a:lnTo>
                  <a:cubicBezTo>
                    <a:pt x="4391429" y="0"/>
                    <a:pt x="4402006" y="10577"/>
                    <a:pt x="4402006" y="23623"/>
                  </a:cubicBezTo>
                  <a:lnTo>
                    <a:pt x="4402006" y="2373379"/>
                  </a:lnTo>
                  <a:cubicBezTo>
                    <a:pt x="4402006" y="2379644"/>
                    <a:pt x="4399517" y="2385653"/>
                    <a:pt x="4395087" y="2390083"/>
                  </a:cubicBezTo>
                  <a:cubicBezTo>
                    <a:pt x="4390656" y="2394513"/>
                    <a:pt x="4384647" y="2397002"/>
                    <a:pt x="4378382" y="2397002"/>
                  </a:cubicBezTo>
                  <a:lnTo>
                    <a:pt x="23623" y="2397002"/>
                  </a:lnTo>
                  <a:cubicBezTo>
                    <a:pt x="17358" y="2397002"/>
                    <a:pt x="11349" y="2394513"/>
                    <a:pt x="6919" y="2390083"/>
                  </a:cubicBezTo>
                  <a:cubicBezTo>
                    <a:pt x="2489" y="2385653"/>
                    <a:pt x="0" y="2379644"/>
                    <a:pt x="0" y="2373379"/>
                  </a:cubicBezTo>
                  <a:lnTo>
                    <a:pt x="0" y="23623"/>
                  </a:lnTo>
                  <a:cubicBezTo>
                    <a:pt x="0" y="17358"/>
                    <a:pt x="2489" y="11349"/>
                    <a:pt x="6919" y="6919"/>
                  </a:cubicBezTo>
                  <a:cubicBezTo>
                    <a:pt x="11349" y="2489"/>
                    <a:pt x="17358" y="0"/>
                    <a:pt x="23623" y="0"/>
                  </a:cubicBezTo>
                  <a:close/>
                </a:path>
              </a:pathLst>
            </a:custGeom>
            <a:solidFill>
              <a:srgbClr val="E6EAEF"/>
            </a:solidFill>
            <a:ln w="19050" cap="rnd">
              <a:solidFill>
                <a:srgbClr val="243342"/>
              </a:solidFill>
              <a:prstDash val="solid"/>
              <a:round/>
            </a:ln>
          </p:spPr>
        </p:sp>
        <p:sp>
          <p:nvSpPr>
            <p:cNvPr name="TextBox 4" id="4"/>
            <p:cNvSpPr txBox="true"/>
            <p:nvPr/>
          </p:nvSpPr>
          <p:spPr>
            <a:xfrm>
              <a:off x="0" y="-38100"/>
              <a:ext cx="4402006" cy="2435102"/>
            </a:xfrm>
            <a:prstGeom prst="rect">
              <a:avLst/>
            </a:prstGeom>
          </p:spPr>
          <p:txBody>
            <a:bodyPr anchor="ctr" rtlCol="false" tIns="50800" lIns="50800" bIns="50800" rIns="50800"/>
            <a:lstStyle/>
            <a:p>
              <a:pPr algn="ctr">
                <a:lnSpc>
                  <a:spcPts val="3362"/>
                </a:lnSpc>
              </a:pPr>
            </a:p>
          </p:txBody>
        </p:sp>
      </p:grpSp>
      <p:grpSp>
        <p:nvGrpSpPr>
          <p:cNvPr name="Group 5" id="5"/>
          <p:cNvGrpSpPr/>
          <p:nvPr/>
        </p:nvGrpSpPr>
        <p:grpSpPr>
          <a:xfrm rot="-7538080">
            <a:off x="-7029811" y="-5584933"/>
            <a:ext cx="9808447" cy="9331824"/>
            <a:chOff x="0" y="0"/>
            <a:chExt cx="13077930" cy="12442432"/>
          </a:xfrm>
        </p:grpSpPr>
        <p:grpSp>
          <p:nvGrpSpPr>
            <p:cNvPr name="Group 6" id="6"/>
            <p:cNvGrpSpPr/>
            <p:nvPr/>
          </p:nvGrpSpPr>
          <p:grpSpPr>
            <a:xfrm rot="2252144">
              <a:off x="1498251" y="1484738"/>
              <a:ext cx="7399579" cy="7432687"/>
              <a:chOff x="0" y="0"/>
              <a:chExt cx="2816645" cy="2829248"/>
            </a:xfrm>
          </p:grpSpPr>
          <p:sp>
            <p:nvSpPr>
              <p:cNvPr name="Freeform 7" id="7"/>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243342"/>
              </a:solidFill>
            </p:spPr>
          </p:sp>
          <p:sp>
            <p:nvSpPr>
              <p:cNvPr name="TextBox 8" id="8"/>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2252144">
              <a:off x="2397493" y="3224228"/>
              <a:ext cx="7399579" cy="7432687"/>
              <a:chOff x="0" y="0"/>
              <a:chExt cx="2816645" cy="2829248"/>
            </a:xfrm>
          </p:grpSpPr>
          <p:sp>
            <p:nvSpPr>
              <p:cNvPr name="Freeform 10" id="10"/>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535659"/>
              </a:solidFill>
            </p:spPr>
          </p:sp>
          <p:sp>
            <p:nvSpPr>
              <p:cNvPr name="TextBox 11" id="11"/>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2252144">
              <a:off x="4180100" y="3525007"/>
              <a:ext cx="7399579" cy="7432687"/>
              <a:chOff x="0" y="0"/>
              <a:chExt cx="2816645" cy="2829248"/>
            </a:xfrm>
          </p:grpSpPr>
          <p:sp>
            <p:nvSpPr>
              <p:cNvPr name="Freeform 13" id="13"/>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858789"/>
              </a:solidFill>
            </p:spPr>
          </p:sp>
          <p:sp>
            <p:nvSpPr>
              <p:cNvPr name="TextBox 14" id="14"/>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grpSp>
        <p:nvGrpSpPr>
          <p:cNvPr name="Group 15" id="15"/>
          <p:cNvGrpSpPr/>
          <p:nvPr/>
        </p:nvGrpSpPr>
        <p:grpSpPr>
          <a:xfrm rot="2124477">
            <a:off x="15979122" y="5429903"/>
            <a:ext cx="9808447" cy="9331824"/>
            <a:chOff x="0" y="0"/>
            <a:chExt cx="13077930" cy="12442432"/>
          </a:xfrm>
        </p:grpSpPr>
        <p:grpSp>
          <p:nvGrpSpPr>
            <p:cNvPr name="Group 16" id="16"/>
            <p:cNvGrpSpPr/>
            <p:nvPr/>
          </p:nvGrpSpPr>
          <p:grpSpPr>
            <a:xfrm rot="2252144">
              <a:off x="1498251" y="1484738"/>
              <a:ext cx="7399579" cy="7432687"/>
              <a:chOff x="0" y="0"/>
              <a:chExt cx="2816645" cy="2829248"/>
            </a:xfrm>
          </p:grpSpPr>
          <p:sp>
            <p:nvSpPr>
              <p:cNvPr name="Freeform 17" id="17"/>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243342"/>
              </a:solidFill>
            </p:spPr>
          </p:sp>
          <p:sp>
            <p:nvSpPr>
              <p:cNvPr name="TextBox 18" id="18"/>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19" id="19"/>
            <p:cNvGrpSpPr/>
            <p:nvPr/>
          </p:nvGrpSpPr>
          <p:grpSpPr>
            <a:xfrm rot="2252144">
              <a:off x="2397493" y="3224228"/>
              <a:ext cx="7399579" cy="7432687"/>
              <a:chOff x="0" y="0"/>
              <a:chExt cx="2816645" cy="2829248"/>
            </a:xfrm>
          </p:grpSpPr>
          <p:sp>
            <p:nvSpPr>
              <p:cNvPr name="Freeform 20" id="20"/>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535659"/>
              </a:solidFill>
            </p:spPr>
          </p:sp>
          <p:sp>
            <p:nvSpPr>
              <p:cNvPr name="TextBox 21" id="21"/>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22" id="22"/>
            <p:cNvGrpSpPr/>
            <p:nvPr/>
          </p:nvGrpSpPr>
          <p:grpSpPr>
            <a:xfrm rot="2252144">
              <a:off x="4180100" y="3525007"/>
              <a:ext cx="7399579" cy="7432687"/>
              <a:chOff x="0" y="0"/>
              <a:chExt cx="2816645" cy="2829248"/>
            </a:xfrm>
          </p:grpSpPr>
          <p:sp>
            <p:nvSpPr>
              <p:cNvPr name="Freeform 23" id="23"/>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858789"/>
              </a:solidFill>
            </p:spPr>
          </p:sp>
          <p:sp>
            <p:nvSpPr>
              <p:cNvPr name="TextBox 24" id="24"/>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grpSp>
        <p:nvGrpSpPr>
          <p:cNvPr name="Group 25" id="25"/>
          <p:cNvGrpSpPr>
            <a:grpSpLocks noChangeAspect="true"/>
          </p:cNvGrpSpPr>
          <p:nvPr/>
        </p:nvGrpSpPr>
        <p:grpSpPr>
          <a:xfrm rot="0">
            <a:off x="1490452" y="3745408"/>
            <a:ext cx="6458391" cy="4848531"/>
            <a:chOff x="0" y="0"/>
            <a:chExt cx="8916670" cy="6694043"/>
          </a:xfrm>
        </p:grpSpPr>
        <p:sp>
          <p:nvSpPr>
            <p:cNvPr name="Freeform 26" id="26"/>
            <p:cNvSpPr/>
            <p:nvPr/>
          </p:nvSpPr>
          <p:spPr>
            <a:xfrm flipH="false" flipV="false" rot="0">
              <a:off x="155575" y="155575"/>
              <a:ext cx="8605520" cy="6382893"/>
            </a:xfrm>
            <a:custGeom>
              <a:avLst/>
              <a:gdLst/>
              <a:ahLst/>
              <a:cxnLst/>
              <a:rect r="r" b="b" t="t" l="l"/>
              <a:pathLst>
                <a:path h="6382893" w="8605520">
                  <a:moveTo>
                    <a:pt x="0" y="0"/>
                  </a:moveTo>
                  <a:lnTo>
                    <a:pt x="8605520" y="0"/>
                  </a:lnTo>
                  <a:lnTo>
                    <a:pt x="8605520" y="6382893"/>
                  </a:lnTo>
                  <a:lnTo>
                    <a:pt x="0" y="6382893"/>
                  </a:lnTo>
                  <a:close/>
                </a:path>
              </a:pathLst>
            </a:custGeom>
            <a:blipFill>
              <a:blip r:embed="rId2"/>
              <a:stretch>
                <a:fillRect l="0" t="-692" r="0" b="-692"/>
              </a:stretch>
            </a:blipFill>
          </p:spPr>
        </p:sp>
        <p:sp>
          <p:nvSpPr>
            <p:cNvPr name="Freeform 27" id="27"/>
            <p:cNvSpPr/>
            <p:nvPr/>
          </p:nvSpPr>
          <p:spPr>
            <a:xfrm flipH="false" flipV="false" rot="0">
              <a:off x="6350" y="6350"/>
              <a:ext cx="8903970" cy="6681343"/>
            </a:xfrm>
            <a:custGeom>
              <a:avLst/>
              <a:gdLst/>
              <a:ahLst/>
              <a:cxnLst/>
              <a:rect r="r" b="b" t="t" l="l"/>
              <a:pathLst>
                <a:path h="6681343" w="8903970">
                  <a:moveTo>
                    <a:pt x="8903970" y="6681343"/>
                  </a:moveTo>
                  <a:lnTo>
                    <a:pt x="0" y="6681343"/>
                  </a:lnTo>
                  <a:lnTo>
                    <a:pt x="0" y="0"/>
                  </a:lnTo>
                  <a:lnTo>
                    <a:pt x="8903970" y="0"/>
                  </a:lnTo>
                  <a:lnTo>
                    <a:pt x="8903970" y="6681343"/>
                  </a:lnTo>
                  <a:close/>
                  <a:moveTo>
                    <a:pt x="19050" y="6662293"/>
                  </a:moveTo>
                  <a:lnTo>
                    <a:pt x="8884920" y="6662293"/>
                  </a:lnTo>
                  <a:lnTo>
                    <a:pt x="8884920" y="19050"/>
                  </a:lnTo>
                  <a:lnTo>
                    <a:pt x="19050" y="19050"/>
                  </a:lnTo>
                  <a:lnTo>
                    <a:pt x="19050" y="6662293"/>
                  </a:lnTo>
                  <a:close/>
                  <a:moveTo>
                    <a:pt x="8764270" y="6541643"/>
                  </a:moveTo>
                  <a:lnTo>
                    <a:pt x="139700" y="6541643"/>
                  </a:lnTo>
                  <a:lnTo>
                    <a:pt x="139700" y="139700"/>
                  </a:lnTo>
                  <a:lnTo>
                    <a:pt x="8764270" y="139700"/>
                  </a:lnTo>
                  <a:lnTo>
                    <a:pt x="8764270" y="6541643"/>
                  </a:lnTo>
                  <a:close/>
                  <a:moveTo>
                    <a:pt x="158750" y="6522593"/>
                  </a:moveTo>
                  <a:lnTo>
                    <a:pt x="8745220" y="6522593"/>
                  </a:lnTo>
                  <a:lnTo>
                    <a:pt x="8745220" y="158750"/>
                  </a:lnTo>
                  <a:lnTo>
                    <a:pt x="158750" y="158750"/>
                  </a:lnTo>
                  <a:lnTo>
                    <a:pt x="158750" y="6522593"/>
                  </a:lnTo>
                  <a:close/>
                </a:path>
              </a:pathLst>
            </a:custGeom>
            <a:solidFill>
              <a:srgbClr val="535659"/>
            </a:solidFill>
          </p:spPr>
        </p:sp>
      </p:grpSp>
      <p:grpSp>
        <p:nvGrpSpPr>
          <p:cNvPr name="Group 28" id="28"/>
          <p:cNvGrpSpPr/>
          <p:nvPr/>
        </p:nvGrpSpPr>
        <p:grpSpPr>
          <a:xfrm rot="0">
            <a:off x="15665503" y="317552"/>
            <a:ext cx="2042119" cy="650325"/>
            <a:chOff x="0" y="0"/>
            <a:chExt cx="537842" cy="171279"/>
          </a:xfrm>
        </p:grpSpPr>
        <p:sp>
          <p:nvSpPr>
            <p:cNvPr name="Freeform 29" id="29"/>
            <p:cNvSpPr/>
            <p:nvPr/>
          </p:nvSpPr>
          <p:spPr>
            <a:xfrm flipH="false" flipV="false" rot="0">
              <a:off x="0" y="0"/>
              <a:ext cx="537842" cy="171279"/>
            </a:xfrm>
            <a:custGeom>
              <a:avLst/>
              <a:gdLst/>
              <a:ahLst/>
              <a:cxnLst/>
              <a:rect r="r" b="b" t="t" l="l"/>
              <a:pathLst>
                <a:path h="171279" w="537842">
                  <a:moveTo>
                    <a:pt x="53076" y="0"/>
                  </a:moveTo>
                  <a:lnTo>
                    <a:pt x="484766" y="0"/>
                  </a:lnTo>
                  <a:cubicBezTo>
                    <a:pt x="514079" y="0"/>
                    <a:pt x="537842" y="23763"/>
                    <a:pt x="537842" y="53076"/>
                  </a:cubicBezTo>
                  <a:lnTo>
                    <a:pt x="537842" y="118203"/>
                  </a:lnTo>
                  <a:cubicBezTo>
                    <a:pt x="537842" y="132280"/>
                    <a:pt x="532250" y="145780"/>
                    <a:pt x="522296" y="155734"/>
                  </a:cubicBezTo>
                  <a:cubicBezTo>
                    <a:pt x="512343" y="165687"/>
                    <a:pt x="498843" y="171279"/>
                    <a:pt x="484766" y="171279"/>
                  </a:cubicBezTo>
                  <a:lnTo>
                    <a:pt x="53076" y="171279"/>
                  </a:lnTo>
                  <a:cubicBezTo>
                    <a:pt x="38999" y="171279"/>
                    <a:pt x="25499" y="165687"/>
                    <a:pt x="15546" y="155734"/>
                  </a:cubicBezTo>
                  <a:cubicBezTo>
                    <a:pt x="5592" y="145780"/>
                    <a:pt x="0" y="132280"/>
                    <a:pt x="0" y="118203"/>
                  </a:cubicBezTo>
                  <a:lnTo>
                    <a:pt x="0" y="53076"/>
                  </a:lnTo>
                  <a:cubicBezTo>
                    <a:pt x="0" y="38999"/>
                    <a:pt x="5592" y="25499"/>
                    <a:pt x="15546" y="15546"/>
                  </a:cubicBezTo>
                  <a:cubicBezTo>
                    <a:pt x="25499" y="5592"/>
                    <a:pt x="38999" y="0"/>
                    <a:pt x="53076" y="0"/>
                  </a:cubicBezTo>
                  <a:close/>
                </a:path>
              </a:pathLst>
            </a:custGeom>
            <a:solidFill>
              <a:srgbClr val="535659"/>
            </a:solidFill>
            <a:ln w="19050" cap="sq">
              <a:solidFill>
                <a:srgbClr val="243342"/>
              </a:solidFill>
              <a:prstDash val="solid"/>
              <a:miter/>
            </a:ln>
          </p:spPr>
        </p:sp>
        <p:sp>
          <p:nvSpPr>
            <p:cNvPr name="TextBox 30" id="30"/>
            <p:cNvSpPr txBox="true"/>
            <p:nvPr/>
          </p:nvSpPr>
          <p:spPr>
            <a:xfrm>
              <a:off x="0" y="-38100"/>
              <a:ext cx="537842" cy="209379"/>
            </a:xfrm>
            <a:prstGeom prst="rect">
              <a:avLst/>
            </a:prstGeom>
          </p:spPr>
          <p:txBody>
            <a:bodyPr anchor="ctr" rtlCol="false" tIns="50800" lIns="50800" bIns="50800" rIns="50800"/>
            <a:lstStyle/>
            <a:p>
              <a:pPr algn="ctr">
                <a:lnSpc>
                  <a:spcPts val="3362"/>
                </a:lnSpc>
              </a:pPr>
            </a:p>
          </p:txBody>
        </p:sp>
      </p:grpSp>
      <p:grpSp>
        <p:nvGrpSpPr>
          <p:cNvPr name="Group 31" id="31"/>
          <p:cNvGrpSpPr/>
          <p:nvPr/>
        </p:nvGrpSpPr>
        <p:grpSpPr>
          <a:xfrm rot="0">
            <a:off x="629723" y="9258300"/>
            <a:ext cx="9916004" cy="627749"/>
            <a:chOff x="0" y="0"/>
            <a:chExt cx="2611622" cy="165333"/>
          </a:xfrm>
        </p:grpSpPr>
        <p:sp>
          <p:nvSpPr>
            <p:cNvPr name="Freeform 32" id="32"/>
            <p:cNvSpPr/>
            <p:nvPr/>
          </p:nvSpPr>
          <p:spPr>
            <a:xfrm flipH="false" flipV="false" rot="0">
              <a:off x="0" y="0"/>
              <a:ext cx="2611622" cy="165333"/>
            </a:xfrm>
            <a:custGeom>
              <a:avLst/>
              <a:gdLst/>
              <a:ahLst/>
              <a:cxnLst/>
              <a:rect r="r" b="b" t="t" l="l"/>
              <a:pathLst>
                <a:path h="165333" w="2611622">
                  <a:moveTo>
                    <a:pt x="11711" y="0"/>
                  </a:moveTo>
                  <a:lnTo>
                    <a:pt x="2599911" y="0"/>
                  </a:lnTo>
                  <a:cubicBezTo>
                    <a:pt x="2606379" y="0"/>
                    <a:pt x="2611622" y="5243"/>
                    <a:pt x="2611622" y="11711"/>
                  </a:cubicBezTo>
                  <a:lnTo>
                    <a:pt x="2611622" y="153622"/>
                  </a:lnTo>
                  <a:cubicBezTo>
                    <a:pt x="2611622" y="156728"/>
                    <a:pt x="2610389" y="159707"/>
                    <a:pt x="2608192" y="161903"/>
                  </a:cubicBezTo>
                  <a:cubicBezTo>
                    <a:pt x="2605996" y="164099"/>
                    <a:pt x="2603017" y="165333"/>
                    <a:pt x="2599911" y="165333"/>
                  </a:cubicBezTo>
                  <a:lnTo>
                    <a:pt x="11711" y="165333"/>
                  </a:lnTo>
                  <a:cubicBezTo>
                    <a:pt x="8605" y="165333"/>
                    <a:pt x="5626" y="164099"/>
                    <a:pt x="3430" y="161903"/>
                  </a:cubicBezTo>
                  <a:cubicBezTo>
                    <a:pt x="1234" y="159707"/>
                    <a:pt x="0" y="156728"/>
                    <a:pt x="0" y="153622"/>
                  </a:cubicBezTo>
                  <a:lnTo>
                    <a:pt x="0" y="11711"/>
                  </a:lnTo>
                  <a:cubicBezTo>
                    <a:pt x="0" y="8605"/>
                    <a:pt x="1234" y="5626"/>
                    <a:pt x="3430" y="3430"/>
                  </a:cubicBezTo>
                  <a:cubicBezTo>
                    <a:pt x="5626" y="1234"/>
                    <a:pt x="8605" y="0"/>
                    <a:pt x="11711" y="0"/>
                  </a:cubicBezTo>
                  <a:close/>
                </a:path>
              </a:pathLst>
            </a:custGeom>
            <a:solidFill>
              <a:srgbClr val="535659"/>
            </a:solidFill>
            <a:ln w="19050" cap="sq">
              <a:solidFill>
                <a:srgbClr val="243342"/>
              </a:solidFill>
              <a:prstDash val="solid"/>
              <a:miter/>
            </a:ln>
          </p:spPr>
        </p:sp>
        <p:sp>
          <p:nvSpPr>
            <p:cNvPr name="TextBox 33" id="33"/>
            <p:cNvSpPr txBox="true"/>
            <p:nvPr/>
          </p:nvSpPr>
          <p:spPr>
            <a:xfrm>
              <a:off x="0" y="-38100"/>
              <a:ext cx="2611622" cy="203433"/>
            </a:xfrm>
            <a:prstGeom prst="rect">
              <a:avLst/>
            </a:prstGeom>
          </p:spPr>
          <p:txBody>
            <a:bodyPr anchor="ctr" rtlCol="false" tIns="50800" lIns="50800" bIns="50800" rIns="50800"/>
            <a:lstStyle/>
            <a:p>
              <a:pPr algn="ctr">
                <a:lnSpc>
                  <a:spcPts val="3362"/>
                </a:lnSpc>
              </a:pPr>
            </a:p>
          </p:txBody>
        </p:sp>
      </p:grpSp>
      <p:sp>
        <p:nvSpPr>
          <p:cNvPr name="TextBox 34" id="34"/>
          <p:cNvSpPr txBox="true"/>
          <p:nvPr/>
        </p:nvSpPr>
        <p:spPr>
          <a:xfrm rot="0">
            <a:off x="941221" y="971093"/>
            <a:ext cx="7556853" cy="2718563"/>
          </a:xfrm>
          <a:prstGeom prst="rect">
            <a:avLst/>
          </a:prstGeom>
        </p:spPr>
        <p:txBody>
          <a:bodyPr anchor="t" rtlCol="false" tIns="0" lIns="0" bIns="0" rIns="0">
            <a:spAutoFit/>
          </a:bodyPr>
          <a:lstStyle/>
          <a:p>
            <a:pPr algn="ctr">
              <a:lnSpc>
                <a:spcPts val="5520"/>
              </a:lnSpc>
            </a:pPr>
            <a:r>
              <a:rPr lang="en-US" sz="6000" b="true">
                <a:solidFill>
                  <a:srgbClr val="000000"/>
                </a:solidFill>
                <a:latin typeface="Karnchang Bold"/>
                <a:ea typeface="Karnchang Bold"/>
                <a:cs typeface="Karnchang Bold"/>
                <a:sym typeface="Karnchang Bold"/>
              </a:rPr>
              <a:t> Microwave sparse array SIAR system</a:t>
            </a:r>
          </a:p>
          <a:p>
            <a:pPr algn="ctr">
              <a:lnSpc>
                <a:spcPts val="4048"/>
              </a:lnSpc>
            </a:pPr>
            <a:r>
              <a:rPr lang="en-US" sz="4400">
                <a:solidFill>
                  <a:srgbClr val="000000"/>
                </a:solidFill>
                <a:latin typeface="Karnchang"/>
                <a:ea typeface="Karnchang"/>
                <a:cs typeface="Karnchang"/>
                <a:sym typeface="Karnchang"/>
              </a:rPr>
              <a:t>Sistem SIAR array renggang microwave</a:t>
            </a:r>
          </a:p>
        </p:txBody>
      </p:sp>
      <p:sp>
        <p:nvSpPr>
          <p:cNvPr name="TextBox 35" id="35"/>
          <p:cNvSpPr txBox="true"/>
          <p:nvPr/>
        </p:nvSpPr>
        <p:spPr>
          <a:xfrm rot="0">
            <a:off x="8498074" y="948690"/>
            <a:ext cx="8602111" cy="8208645"/>
          </a:xfrm>
          <a:prstGeom prst="rect">
            <a:avLst/>
          </a:prstGeom>
        </p:spPr>
        <p:txBody>
          <a:bodyPr anchor="t" rtlCol="false" tIns="0" lIns="0" bIns="0" rIns="0">
            <a:spAutoFit/>
          </a:bodyPr>
          <a:lstStyle/>
          <a:p>
            <a:pPr algn="just">
              <a:lnSpc>
                <a:spcPts val="3779"/>
              </a:lnSpc>
            </a:pPr>
            <a:r>
              <a:rPr lang="en-US" sz="2700">
                <a:solidFill>
                  <a:srgbClr val="000000"/>
                </a:solidFill>
                <a:latin typeface="Karnchang"/>
                <a:ea typeface="Karnchang"/>
                <a:cs typeface="Karnchang"/>
                <a:sym typeface="Karnchang"/>
              </a:rPr>
              <a:t>Keuntungan besar dari teknik SIAR telah ditunjukkan melalui keberhasilan penerapannya pada pita gelombang meter dan pita frekuensi tinggi. Untuk meningkatkan jangkauan radar dan resolusi sudut, teknik SIAR diperluas ke pita gelombang mikro, dan SIAR Microwave Sparse Array (MSA) baru diusulkan. Mode kerjanya, yang diilustrasikan pada Gambar, mirip dengan SIAR HFSW. Array transmisi terdiri dari kumpulan subarray besar yang jarang, dan array penerima terdiri dari array padat kecil. Ortogonalitas sinyal yang ditransmisikan diwujudkan melalui keragaman frekuensi dan keragaman spasial. Meskipun antena penerima dengan bukaan kecil digunakan, bukaan besar pada susunan transmisi dapat dimanfaatkan untuk mendapatkan lokalisasi target yang lebih akurat. Sinyal FMCW diadopsi dengan baik karena situs pemancar dan situs penerima dipisahkan dalam MSA-SIAR.</a:t>
            </a:r>
          </a:p>
        </p:txBody>
      </p:sp>
      <p:sp>
        <p:nvSpPr>
          <p:cNvPr name="TextBox 36" id="36"/>
          <p:cNvSpPr txBox="true"/>
          <p:nvPr/>
        </p:nvSpPr>
        <p:spPr>
          <a:xfrm rot="0">
            <a:off x="15621459" y="349050"/>
            <a:ext cx="2168307" cy="444500"/>
          </a:xfrm>
          <a:prstGeom prst="rect">
            <a:avLst/>
          </a:prstGeom>
        </p:spPr>
        <p:txBody>
          <a:bodyPr anchor="t" rtlCol="false" tIns="0" lIns="0" bIns="0" rIns="0">
            <a:spAutoFit/>
          </a:bodyPr>
          <a:lstStyle/>
          <a:p>
            <a:pPr algn="ctr">
              <a:lnSpc>
                <a:spcPts val="2800"/>
              </a:lnSpc>
            </a:pPr>
            <a:r>
              <a:rPr lang="en-US" sz="2000" spc="120">
                <a:solidFill>
                  <a:srgbClr val="FFFFFF"/>
                </a:solidFill>
                <a:latin typeface="Karnchang"/>
                <a:ea typeface="Karnchang"/>
                <a:cs typeface="Karnchang"/>
                <a:sym typeface="Karnchang"/>
              </a:rPr>
              <a:t>Halaman 12</a:t>
            </a:r>
          </a:p>
        </p:txBody>
      </p:sp>
      <p:sp>
        <p:nvSpPr>
          <p:cNvPr name="TextBox 37" id="37"/>
          <p:cNvSpPr txBox="true"/>
          <p:nvPr/>
        </p:nvSpPr>
        <p:spPr>
          <a:xfrm rot="0">
            <a:off x="551143" y="9305925"/>
            <a:ext cx="9994584" cy="444500"/>
          </a:xfrm>
          <a:prstGeom prst="rect">
            <a:avLst/>
          </a:prstGeom>
        </p:spPr>
        <p:txBody>
          <a:bodyPr anchor="t" rtlCol="false" tIns="0" lIns="0" bIns="0" rIns="0">
            <a:spAutoFit/>
          </a:bodyPr>
          <a:lstStyle/>
          <a:p>
            <a:pPr algn="ctr">
              <a:lnSpc>
                <a:spcPts val="2800"/>
              </a:lnSpc>
            </a:pPr>
            <a:r>
              <a:rPr lang="en-US" sz="2000" spc="120">
                <a:solidFill>
                  <a:srgbClr val="FFFFFF"/>
                </a:solidFill>
                <a:latin typeface="Karnchang"/>
                <a:ea typeface="Karnchang"/>
                <a:cs typeface="Karnchang"/>
                <a:sym typeface="Karnchang"/>
              </a:rPr>
              <a:t>Abdul Rozak A |  Politeknik Negeri Bandung | Teknik Telekomuniakasi | 2024</a:t>
            </a: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E6EAEF"/>
        </a:solidFill>
      </p:bgPr>
    </p:bg>
    <p:spTree>
      <p:nvGrpSpPr>
        <p:cNvPr id="1" name=""/>
        <p:cNvGrpSpPr/>
        <p:nvPr/>
      </p:nvGrpSpPr>
      <p:grpSpPr>
        <a:xfrm>
          <a:off x="0" y="0"/>
          <a:ext cx="0" cy="0"/>
          <a:chOff x="0" y="0"/>
          <a:chExt cx="0" cy="0"/>
        </a:xfrm>
      </p:grpSpPr>
      <p:grpSp>
        <p:nvGrpSpPr>
          <p:cNvPr name="Group 2" id="2"/>
          <p:cNvGrpSpPr/>
          <p:nvPr/>
        </p:nvGrpSpPr>
        <p:grpSpPr>
          <a:xfrm rot="0">
            <a:off x="787067" y="592941"/>
            <a:ext cx="16713866" cy="9101117"/>
            <a:chOff x="0" y="0"/>
            <a:chExt cx="4402006" cy="2397002"/>
          </a:xfrm>
        </p:grpSpPr>
        <p:sp>
          <p:nvSpPr>
            <p:cNvPr name="Freeform 3" id="3"/>
            <p:cNvSpPr/>
            <p:nvPr/>
          </p:nvSpPr>
          <p:spPr>
            <a:xfrm flipH="false" flipV="false" rot="0">
              <a:off x="0" y="0"/>
              <a:ext cx="4402006" cy="2397002"/>
            </a:xfrm>
            <a:custGeom>
              <a:avLst/>
              <a:gdLst/>
              <a:ahLst/>
              <a:cxnLst/>
              <a:rect r="r" b="b" t="t" l="l"/>
              <a:pathLst>
                <a:path h="2397002" w="4402006">
                  <a:moveTo>
                    <a:pt x="23623" y="0"/>
                  </a:moveTo>
                  <a:lnTo>
                    <a:pt x="4378382" y="0"/>
                  </a:lnTo>
                  <a:cubicBezTo>
                    <a:pt x="4391429" y="0"/>
                    <a:pt x="4402006" y="10577"/>
                    <a:pt x="4402006" y="23623"/>
                  </a:cubicBezTo>
                  <a:lnTo>
                    <a:pt x="4402006" y="2373379"/>
                  </a:lnTo>
                  <a:cubicBezTo>
                    <a:pt x="4402006" y="2379644"/>
                    <a:pt x="4399517" y="2385653"/>
                    <a:pt x="4395087" y="2390083"/>
                  </a:cubicBezTo>
                  <a:cubicBezTo>
                    <a:pt x="4390656" y="2394513"/>
                    <a:pt x="4384647" y="2397002"/>
                    <a:pt x="4378382" y="2397002"/>
                  </a:cubicBezTo>
                  <a:lnTo>
                    <a:pt x="23623" y="2397002"/>
                  </a:lnTo>
                  <a:cubicBezTo>
                    <a:pt x="17358" y="2397002"/>
                    <a:pt x="11349" y="2394513"/>
                    <a:pt x="6919" y="2390083"/>
                  </a:cubicBezTo>
                  <a:cubicBezTo>
                    <a:pt x="2489" y="2385653"/>
                    <a:pt x="0" y="2379644"/>
                    <a:pt x="0" y="2373379"/>
                  </a:cubicBezTo>
                  <a:lnTo>
                    <a:pt x="0" y="23623"/>
                  </a:lnTo>
                  <a:cubicBezTo>
                    <a:pt x="0" y="17358"/>
                    <a:pt x="2489" y="11349"/>
                    <a:pt x="6919" y="6919"/>
                  </a:cubicBezTo>
                  <a:cubicBezTo>
                    <a:pt x="11349" y="2489"/>
                    <a:pt x="17358" y="0"/>
                    <a:pt x="23623" y="0"/>
                  </a:cubicBezTo>
                  <a:close/>
                </a:path>
              </a:pathLst>
            </a:custGeom>
            <a:solidFill>
              <a:srgbClr val="E6EAEF"/>
            </a:solidFill>
            <a:ln w="19050" cap="rnd">
              <a:solidFill>
                <a:srgbClr val="243342"/>
              </a:solidFill>
              <a:prstDash val="solid"/>
              <a:round/>
            </a:ln>
          </p:spPr>
        </p:sp>
        <p:sp>
          <p:nvSpPr>
            <p:cNvPr name="TextBox 4" id="4"/>
            <p:cNvSpPr txBox="true"/>
            <p:nvPr/>
          </p:nvSpPr>
          <p:spPr>
            <a:xfrm>
              <a:off x="0" y="-38100"/>
              <a:ext cx="4402006" cy="2435102"/>
            </a:xfrm>
            <a:prstGeom prst="rect">
              <a:avLst/>
            </a:prstGeom>
          </p:spPr>
          <p:txBody>
            <a:bodyPr anchor="ctr" rtlCol="false" tIns="50800" lIns="50800" bIns="50800" rIns="50800"/>
            <a:lstStyle/>
            <a:p>
              <a:pPr algn="ctr">
                <a:lnSpc>
                  <a:spcPts val="3362"/>
                </a:lnSpc>
              </a:pPr>
            </a:p>
          </p:txBody>
        </p:sp>
      </p:grpSp>
      <p:grpSp>
        <p:nvGrpSpPr>
          <p:cNvPr name="Group 5" id="5"/>
          <p:cNvGrpSpPr/>
          <p:nvPr/>
        </p:nvGrpSpPr>
        <p:grpSpPr>
          <a:xfrm rot="-7538080">
            <a:off x="-7029811" y="-5584933"/>
            <a:ext cx="9808447" cy="9331824"/>
            <a:chOff x="0" y="0"/>
            <a:chExt cx="13077930" cy="12442432"/>
          </a:xfrm>
        </p:grpSpPr>
        <p:grpSp>
          <p:nvGrpSpPr>
            <p:cNvPr name="Group 6" id="6"/>
            <p:cNvGrpSpPr/>
            <p:nvPr/>
          </p:nvGrpSpPr>
          <p:grpSpPr>
            <a:xfrm rot="2252144">
              <a:off x="1498251" y="1484738"/>
              <a:ext cx="7399579" cy="7432687"/>
              <a:chOff x="0" y="0"/>
              <a:chExt cx="2816645" cy="2829248"/>
            </a:xfrm>
          </p:grpSpPr>
          <p:sp>
            <p:nvSpPr>
              <p:cNvPr name="Freeform 7" id="7"/>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243342"/>
              </a:solidFill>
            </p:spPr>
          </p:sp>
          <p:sp>
            <p:nvSpPr>
              <p:cNvPr name="TextBox 8" id="8"/>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2252144">
              <a:off x="2397493" y="3224228"/>
              <a:ext cx="7399579" cy="7432687"/>
              <a:chOff x="0" y="0"/>
              <a:chExt cx="2816645" cy="2829248"/>
            </a:xfrm>
          </p:grpSpPr>
          <p:sp>
            <p:nvSpPr>
              <p:cNvPr name="Freeform 10" id="10"/>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535659"/>
              </a:solidFill>
            </p:spPr>
          </p:sp>
          <p:sp>
            <p:nvSpPr>
              <p:cNvPr name="TextBox 11" id="11"/>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2252144">
              <a:off x="4180100" y="3525007"/>
              <a:ext cx="7399579" cy="7432687"/>
              <a:chOff x="0" y="0"/>
              <a:chExt cx="2816645" cy="2829248"/>
            </a:xfrm>
          </p:grpSpPr>
          <p:sp>
            <p:nvSpPr>
              <p:cNvPr name="Freeform 13" id="13"/>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858789"/>
              </a:solidFill>
            </p:spPr>
          </p:sp>
          <p:sp>
            <p:nvSpPr>
              <p:cNvPr name="TextBox 14" id="14"/>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grpSp>
        <p:nvGrpSpPr>
          <p:cNvPr name="Group 15" id="15"/>
          <p:cNvGrpSpPr/>
          <p:nvPr/>
        </p:nvGrpSpPr>
        <p:grpSpPr>
          <a:xfrm rot="2124477">
            <a:off x="15979122" y="5429903"/>
            <a:ext cx="9808447" cy="9331824"/>
            <a:chOff x="0" y="0"/>
            <a:chExt cx="13077930" cy="12442432"/>
          </a:xfrm>
        </p:grpSpPr>
        <p:grpSp>
          <p:nvGrpSpPr>
            <p:cNvPr name="Group 16" id="16"/>
            <p:cNvGrpSpPr/>
            <p:nvPr/>
          </p:nvGrpSpPr>
          <p:grpSpPr>
            <a:xfrm rot="2252144">
              <a:off x="1498251" y="1484738"/>
              <a:ext cx="7399579" cy="7432687"/>
              <a:chOff x="0" y="0"/>
              <a:chExt cx="2816645" cy="2829248"/>
            </a:xfrm>
          </p:grpSpPr>
          <p:sp>
            <p:nvSpPr>
              <p:cNvPr name="Freeform 17" id="17"/>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243342"/>
              </a:solidFill>
            </p:spPr>
          </p:sp>
          <p:sp>
            <p:nvSpPr>
              <p:cNvPr name="TextBox 18" id="18"/>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19" id="19"/>
            <p:cNvGrpSpPr/>
            <p:nvPr/>
          </p:nvGrpSpPr>
          <p:grpSpPr>
            <a:xfrm rot="2252144">
              <a:off x="2397493" y="3224228"/>
              <a:ext cx="7399579" cy="7432687"/>
              <a:chOff x="0" y="0"/>
              <a:chExt cx="2816645" cy="2829248"/>
            </a:xfrm>
          </p:grpSpPr>
          <p:sp>
            <p:nvSpPr>
              <p:cNvPr name="Freeform 20" id="20"/>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535659"/>
              </a:solidFill>
            </p:spPr>
          </p:sp>
          <p:sp>
            <p:nvSpPr>
              <p:cNvPr name="TextBox 21" id="21"/>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22" id="22"/>
            <p:cNvGrpSpPr/>
            <p:nvPr/>
          </p:nvGrpSpPr>
          <p:grpSpPr>
            <a:xfrm rot="2252144">
              <a:off x="4180100" y="3525007"/>
              <a:ext cx="7399579" cy="7432687"/>
              <a:chOff x="0" y="0"/>
              <a:chExt cx="2816645" cy="2829248"/>
            </a:xfrm>
          </p:grpSpPr>
          <p:sp>
            <p:nvSpPr>
              <p:cNvPr name="Freeform 23" id="23"/>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858789"/>
              </a:solidFill>
            </p:spPr>
          </p:sp>
          <p:sp>
            <p:nvSpPr>
              <p:cNvPr name="TextBox 24" id="24"/>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sp>
        <p:nvSpPr>
          <p:cNvPr name="TextBox 25" id="25"/>
          <p:cNvSpPr txBox="true"/>
          <p:nvPr/>
        </p:nvSpPr>
        <p:spPr>
          <a:xfrm rot="0">
            <a:off x="4293776" y="1164537"/>
            <a:ext cx="9700448" cy="1107440"/>
          </a:xfrm>
          <a:prstGeom prst="rect">
            <a:avLst/>
          </a:prstGeom>
        </p:spPr>
        <p:txBody>
          <a:bodyPr anchor="t" rtlCol="false" tIns="0" lIns="0" bIns="0" rIns="0">
            <a:spAutoFit/>
          </a:bodyPr>
          <a:lstStyle/>
          <a:p>
            <a:pPr algn="ctr">
              <a:lnSpc>
                <a:spcPts val="5980"/>
              </a:lnSpc>
            </a:pPr>
            <a:r>
              <a:rPr lang="en-US" sz="6500" b="true">
                <a:solidFill>
                  <a:srgbClr val="243342"/>
                </a:solidFill>
                <a:latin typeface="Karnchang Bold"/>
                <a:ea typeface="Karnchang Bold"/>
                <a:cs typeface="Karnchang Bold"/>
                <a:sym typeface="Karnchang Bold"/>
              </a:rPr>
              <a:t>Fitur-fitur MSA-SIAR</a:t>
            </a:r>
          </a:p>
        </p:txBody>
      </p:sp>
      <p:sp>
        <p:nvSpPr>
          <p:cNvPr name="TextBox 26" id="26"/>
          <p:cNvSpPr txBox="true"/>
          <p:nvPr/>
        </p:nvSpPr>
        <p:spPr>
          <a:xfrm rot="0">
            <a:off x="1960029" y="2698740"/>
            <a:ext cx="14367942" cy="4874895"/>
          </a:xfrm>
          <a:prstGeom prst="rect">
            <a:avLst/>
          </a:prstGeom>
        </p:spPr>
        <p:txBody>
          <a:bodyPr anchor="t" rtlCol="false" tIns="0" lIns="0" bIns="0" rIns="0">
            <a:spAutoFit/>
          </a:bodyPr>
          <a:lstStyle/>
          <a:p>
            <a:pPr algn="just" marL="582930" indent="-291465" lvl="1">
              <a:lnSpc>
                <a:spcPts val="3779"/>
              </a:lnSpc>
              <a:buFont typeface="Arial"/>
              <a:buChar char="•"/>
            </a:pPr>
            <a:r>
              <a:rPr lang="en-US" sz="2700">
                <a:solidFill>
                  <a:srgbClr val="000000"/>
                </a:solidFill>
                <a:latin typeface="Karnchang"/>
                <a:ea typeface="Karnchang"/>
                <a:cs typeface="Karnchang"/>
                <a:sym typeface="Karnchang"/>
              </a:rPr>
              <a:t>(1) Ia menggunakan pita gelombang mikro dengan bandwidth lebih tinggi dan bukaan array lebih besar. Oleh karena itu, ia memiliki jangkauan dan resolusi sudut yang lebih tinggi daripada SIAR susunan jarang gelombang meter dan SIAR HFSW bistatik. </a:t>
            </a:r>
          </a:p>
          <a:p>
            <a:pPr algn="just" marL="582930" indent="-291465" lvl="1">
              <a:lnSpc>
                <a:spcPts val="3779"/>
              </a:lnSpc>
              <a:buFont typeface="Arial"/>
              <a:buChar char="•"/>
            </a:pPr>
            <a:r>
              <a:rPr lang="en-US" sz="2700">
                <a:solidFill>
                  <a:srgbClr val="000000"/>
                </a:solidFill>
                <a:latin typeface="Karnchang"/>
                <a:ea typeface="Karnchang"/>
                <a:cs typeface="Karnchang"/>
                <a:sym typeface="Karnchang"/>
              </a:rPr>
              <a:t>(2) Menggunakan teknik SIAR, dan ukuran antena penerimanya kecil. Penerima kecil dapat dipasang pada kendaraan atau tank, atau bahkan dibawa oleh tentara. Oleh karena itu, sistem ini memiliki keunggulan miniaturisasi dan fleksibilitas yang tinggi. </a:t>
            </a:r>
          </a:p>
          <a:p>
            <a:pPr algn="just" marL="582930" indent="-291465" lvl="1">
              <a:lnSpc>
                <a:spcPts val="3779"/>
              </a:lnSpc>
              <a:buFont typeface="Arial"/>
              <a:buChar char="•"/>
            </a:pPr>
            <a:r>
              <a:rPr lang="en-US" sz="2700">
                <a:solidFill>
                  <a:srgbClr val="000000"/>
                </a:solidFill>
                <a:latin typeface="Karnchang"/>
                <a:ea typeface="Karnchang"/>
                <a:cs typeface="Karnchang"/>
                <a:sym typeface="Karnchang"/>
              </a:rPr>
              <a:t>(3) Sinyal transmisi pita sempit dengan frekuensi berbeda disintesis menjadi sinyal pita lebar pada penerima untuk meningkatkan resolusi jangkauan. </a:t>
            </a:r>
          </a:p>
          <a:p>
            <a:pPr algn="just" marL="582930" indent="-291465" lvl="1">
              <a:lnSpc>
                <a:spcPts val="3779"/>
              </a:lnSpc>
              <a:buFont typeface="Arial"/>
              <a:buChar char="•"/>
            </a:pPr>
            <a:r>
              <a:rPr lang="en-US" sz="2700">
                <a:solidFill>
                  <a:srgbClr val="000000"/>
                </a:solidFill>
                <a:latin typeface="Karnchang"/>
                <a:ea typeface="Karnchang"/>
                <a:cs typeface="Karnchang"/>
                <a:sym typeface="Karnchang"/>
              </a:rPr>
              <a:t>(4) Beberapa penerima dapat berbagi sinyal yang dipancarkan oleh susunan transmisi. Ini meningkatkan pemanfaatan energi dan meningkatkan kemungkinan deteksi target.</a:t>
            </a:r>
          </a:p>
        </p:txBody>
      </p:sp>
      <p:grpSp>
        <p:nvGrpSpPr>
          <p:cNvPr name="Group 27" id="27"/>
          <p:cNvGrpSpPr/>
          <p:nvPr/>
        </p:nvGrpSpPr>
        <p:grpSpPr>
          <a:xfrm rot="0">
            <a:off x="15665503" y="317552"/>
            <a:ext cx="2042119" cy="650325"/>
            <a:chOff x="0" y="0"/>
            <a:chExt cx="537842" cy="171279"/>
          </a:xfrm>
        </p:grpSpPr>
        <p:sp>
          <p:nvSpPr>
            <p:cNvPr name="Freeform 28" id="28"/>
            <p:cNvSpPr/>
            <p:nvPr/>
          </p:nvSpPr>
          <p:spPr>
            <a:xfrm flipH="false" flipV="false" rot="0">
              <a:off x="0" y="0"/>
              <a:ext cx="537842" cy="171279"/>
            </a:xfrm>
            <a:custGeom>
              <a:avLst/>
              <a:gdLst/>
              <a:ahLst/>
              <a:cxnLst/>
              <a:rect r="r" b="b" t="t" l="l"/>
              <a:pathLst>
                <a:path h="171279" w="537842">
                  <a:moveTo>
                    <a:pt x="53076" y="0"/>
                  </a:moveTo>
                  <a:lnTo>
                    <a:pt x="484766" y="0"/>
                  </a:lnTo>
                  <a:cubicBezTo>
                    <a:pt x="514079" y="0"/>
                    <a:pt x="537842" y="23763"/>
                    <a:pt x="537842" y="53076"/>
                  </a:cubicBezTo>
                  <a:lnTo>
                    <a:pt x="537842" y="118203"/>
                  </a:lnTo>
                  <a:cubicBezTo>
                    <a:pt x="537842" y="132280"/>
                    <a:pt x="532250" y="145780"/>
                    <a:pt x="522296" y="155734"/>
                  </a:cubicBezTo>
                  <a:cubicBezTo>
                    <a:pt x="512343" y="165687"/>
                    <a:pt x="498843" y="171279"/>
                    <a:pt x="484766" y="171279"/>
                  </a:cubicBezTo>
                  <a:lnTo>
                    <a:pt x="53076" y="171279"/>
                  </a:lnTo>
                  <a:cubicBezTo>
                    <a:pt x="38999" y="171279"/>
                    <a:pt x="25499" y="165687"/>
                    <a:pt x="15546" y="155734"/>
                  </a:cubicBezTo>
                  <a:cubicBezTo>
                    <a:pt x="5592" y="145780"/>
                    <a:pt x="0" y="132280"/>
                    <a:pt x="0" y="118203"/>
                  </a:cubicBezTo>
                  <a:lnTo>
                    <a:pt x="0" y="53076"/>
                  </a:lnTo>
                  <a:cubicBezTo>
                    <a:pt x="0" y="38999"/>
                    <a:pt x="5592" y="25499"/>
                    <a:pt x="15546" y="15546"/>
                  </a:cubicBezTo>
                  <a:cubicBezTo>
                    <a:pt x="25499" y="5592"/>
                    <a:pt x="38999" y="0"/>
                    <a:pt x="53076" y="0"/>
                  </a:cubicBezTo>
                  <a:close/>
                </a:path>
              </a:pathLst>
            </a:custGeom>
            <a:solidFill>
              <a:srgbClr val="535659"/>
            </a:solidFill>
            <a:ln w="19050" cap="sq">
              <a:solidFill>
                <a:srgbClr val="243342"/>
              </a:solidFill>
              <a:prstDash val="solid"/>
              <a:miter/>
            </a:ln>
          </p:spPr>
        </p:sp>
        <p:sp>
          <p:nvSpPr>
            <p:cNvPr name="TextBox 29" id="29"/>
            <p:cNvSpPr txBox="true"/>
            <p:nvPr/>
          </p:nvSpPr>
          <p:spPr>
            <a:xfrm>
              <a:off x="0" y="-38100"/>
              <a:ext cx="537842" cy="209379"/>
            </a:xfrm>
            <a:prstGeom prst="rect">
              <a:avLst/>
            </a:prstGeom>
          </p:spPr>
          <p:txBody>
            <a:bodyPr anchor="ctr" rtlCol="false" tIns="50800" lIns="50800" bIns="50800" rIns="50800"/>
            <a:lstStyle/>
            <a:p>
              <a:pPr algn="ctr">
                <a:lnSpc>
                  <a:spcPts val="3362"/>
                </a:lnSpc>
              </a:pPr>
            </a:p>
          </p:txBody>
        </p:sp>
      </p:grpSp>
      <p:sp>
        <p:nvSpPr>
          <p:cNvPr name="TextBox 30" id="30"/>
          <p:cNvSpPr txBox="true"/>
          <p:nvPr/>
        </p:nvSpPr>
        <p:spPr>
          <a:xfrm rot="0">
            <a:off x="15621459" y="349050"/>
            <a:ext cx="2168307" cy="444500"/>
          </a:xfrm>
          <a:prstGeom prst="rect">
            <a:avLst/>
          </a:prstGeom>
        </p:spPr>
        <p:txBody>
          <a:bodyPr anchor="t" rtlCol="false" tIns="0" lIns="0" bIns="0" rIns="0">
            <a:spAutoFit/>
          </a:bodyPr>
          <a:lstStyle/>
          <a:p>
            <a:pPr algn="ctr">
              <a:lnSpc>
                <a:spcPts val="2800"/>
              </a:lnSpc>
            </a:pPr>
            <a:r>
              <a:rPr lang="en-US" sz="2000" spc="120">
                <a:solidFill>
                  <a:srgbClr val="FFFFFF"/>
                </a:solidFill>
                <a:latin typeface="Karnchang"/>
                <a:ea typeface="Karnchang"/>
                <a:cs typeface="Karnchang"/>
                <a:sym typeface="Karnchang"/>
              </a:rPr>
              <a:t>Halaman 13</a:t>
            </a:r>
          </a:p>
        </p:txBody>
      </p:sp>
      <p:grpSp>
        <p:nvGrpSpPr>
          <p:cNvPr name="Group 31" id="31"/>
          <p:cNvGrpSpPr/>
          <p:nvPr/>
        </p:nvGrpSpPr>
        <p:grpSpPr>
          <a:xfrm rot="0">
            <a:off x="629723" y="9258300"/>
            <a:ext cx="6961669" cy="627749"/>
            <a:chOff x="0" y="0"/>
            <a:chExt cx="1833526" cy="165333"/>
          </a:xfrm>
        </p:grpSpPr>
        <p:sp>
          <p:nvSpPr>
            <p:cNvPr name="Freeform 32" id="32"/>
            <p:cNvSpPr/>
            <p:nvPr/>
          </p:nvSpPr>
          <p:spPr>
            <a:xfrm flipH="false" flipV="false" rot="0">
              <a:off x="0" y="0"/>
              <a:ext cx="1833526" cy="165333"/>
            </a:xfrm>
            <a:custGeom>
              <a:avLst/>
              <a:gdLst/>
              <a:ahLst/>
              <a:cxnLst/>
              <a:rect r="r" b="b" t="t" l="l"/>
              <a:pathLst>
                <a:path h="165333" w="1833526">
                  <a:moveTo>
                    <a:pt x="16681" y="0"/>
                  </a:moveTo>
                  <a:lnTo>
                    <a:pt x="1816845" y="0"/>
                  </a:lnTo>
                  <a:cubicBezTo>
                    <a:pt x="1821269" y="0"/>
                    <a:pt x="1825512" y="1757"/>
                    <a:pt x="1828640" y="4886"/>
                  </a:cubicBezTo>
                  <a:cubicBezTo>
                    <a:pt x="1831769" y="8014"/>
                    <a:pt x="1833526" y="12257"/>
                    <a:pt x="1833526" y="16681"/>
                  </a:cubicBezTo>
                  <a:lnTo>
                    <a:pt x="1833526" y="148652"/>
                  </a:lnTo>
                  <a:cubicBezTo>
                    <a:pt x="1833526" y="157865"/>
                    <a:pt x="1826058" y="165333"/>
                    <a:pt x="1816845" y="165333"/>
                  </a:cubicBezTo>
                  <a:lnTo>
                    <a:pt x="16681" y="165333"/>
                  </a:lnTo>
                  <a:cubicBezTo>
                    <a:pt x="7468" y="165333"/>
                    <a:pt x="0" y="157865"/>
                    <a:pt x="0" y="148652"/>
                  </a:cubicBezTo>
                  <a:lnTo>
                    <a:pt x="0" y="16681"/>
                  </a:lnTo>
                  <a:cubicBezTo>
                    <a:pt x="0" y="7468"/>
                    <a:pt x="7468" y="0"/>
                    <a:pt x="16681" y="0"/>
                  </a:cubicBezTo>
                  <a:close/>
                </a:path>
              </a:pathLst>
            </a:custGeom>
            <a:solidFill>
              <a:srgbClr val="535659"/>
            </a:solidFill>
            <a:ln w="19050" cap="sq">
              <a:solidFill>
                <a:srgbClr val="243342"/>
              </a:solidFill>
              <a:prstDash val="solid"/>
              <a:miter/>
            </a:ln>
          </p:spPr>
        </p:sp>
        <p:sp>
          <p:nvSpPr>
            <p:cNvPr name="TextBox 33" id="33"/>
            <p:cNvSpPr txBox="true"/>
            <p:nvPr/>
          </p:nvSpPr>
          <p:spPr>
            <a:xfrm>
              <a:off x="0" y="-38100"/>
              <a:ext cx="1833526" cy="203433"/>
            </a:xfrm>
            <a:prstGeom prst="rect">
              <a:avLst/>
            </a:prstGeom>
          </p:spPr>
          <p:txBody>
            <a:bodyPr anchor="ctr" rtlCol="false" tIns="50800" lIns="50800" bIns="50800" rIns="50800"/>
            <a:lstStyle/>
            <a:p>
              <a:pPr algn="ctr">
                <a:lnSpc>
                  <a:spcPts val="3362"/>
                </a:lnSpc>
              </a:pPr>
            </a:p>
          </p:txBody>
        </p:sp>
      </p:grpSp>
      <p:sp>
        <p:nvSpPr>
          <p:cNvPr name="TextBox 34" id="34"/>
          <p:cNvSpPr txBox="true"/>
          <p:nvPr/>
        </p:nvSpPr>
        <p:spPr>
          <a:xfrm rot="0">
            <a:off x="551143" y="9305925"/>
            <a:ext cx="7118830" cy="444454"/>
          </a:xfrm>
          <a:prstGeom prst="rect">
            <a:avLst/>
          </a:prstGeom>
        </p:spPr>
        <p:txBody>
          <a:bodyPr anchor="t" rtlCol="false" tIns="0" lIns="0" bIns="0" rIns="0">
            <a:spAutoFit/>
          </a:bodyPr>
          <a:lstStyle/>
          <a:p>
            <a:pPr algn="ctr">
              <a:lnSpc>
                <a:spcPts val="2800"/>
              </a:lnSpc>
            </a:pPr>
            <a:r>
              <a:rPr lang="en-US" sz="2000" spc="120">
                <a:solidFill>
                  <a:srgbClr val="FFFFFF"/>
                </a:solidFill>
                <a:latin typeface="Karnchang"/>
                <a:ea typeface="Karnchang"/>
                <a:cs typeface="Karnchang"/>
                <a:sym typeface="Karnchang"/>
              </a:rPr>
              <a:t>Murad Naser |  Universitas Fauget | Ekonomi | 2025</a:t>
            </a:r>
          </a:p>
        </p:txBody>
      </p:sp>
      <p:grpSp>
        <p:nvGrpSpPr>
          <p:cNvPr name="Group 35" id="35"/>
          <p:cNvGrpSpPr/>
          <p:nvPr/>
        </p:nvGrpSpPr>
        <p:grpSpPr>
          <a:xfrm rot="0">
            <a:off x="629723" y="9258300"/>
            <a:ext cx="9916004" cy="627749"/>
            <a:chOff x="0" y="0"/>
            <a:chExt cx="2611622" cy="165333"/>
          </a:xfrm>
        </p:grpSpPr>
        <p:sp>
          <p:nvSpPr>
            <p:cNvPr name="Freeform 36" id="36"/>
            <p:cNvSpPr/>
            <p:nvPr/>
          </p:nvSpPr>
          <p:spPr>
            <a:xfrm flipH="false" flipV="false" rot="0">
              <a:off x="0" y="0"/>
              <a:ext cx="2611622" cy="165333"/>
            </a:xfrm>
            <a:custGeom>
              <a:avLst/>
              <a:gdLst/>
              <a:ahLst/>
              <a:cxnLst/>
              <a:rect r="r" b="b" t="t" l="l"/>
              <a:pathLst>
                <a:path h="165333" w="2611622">
                  <a:moveTo>
                    <a:pt x="11711" y="0"/>
                  </a:moveTo>
                  <a:lnTo>
                    <a:pt x="2599911" y="0"/>
                  </a:lnTo>
                  <a:cubicBezTo>
                    <a:pt x="2606379" y="0"/>
                    <a:pt x="2611622" y="5243"/>
                    <a:pt x="2611622" y="11711"/>
                  </a:cubicBezTo>
                  <a:lnTo>
                    <a:pt x="2611622" y="153622"/>
                  </a:lnTo>
                  <a:cubicBezTo>
                    <a:pt x="2611622" y="156728"/>
                    <a:pt x="2610389" y="159707"/>
                    <a:pt x="2608192" y="161903"/>
                  </a:cubicBezTo>
                  <a:cubicBezTo>
                    <a:pt x="2605996" y="164099"/>
                    <a:pt x="2603017" y="165333"/>
                    <a:pt x="2599911" y="165333"/>
                  </a:cubicBezTo>
                  <a:lnTo>
                    <a:pt x="11711" y="165333"/>
                  </a:lnTo>
                  <a:cubicBezTo>
                    <a:pt x="8605" y="165333"/>
                    <a:pt x="5626" y="164099"/>
                    <a:pt x="3430" y="161903"/>
                  </a:cubicBezTo>
                  <a:cubicBezTo>
                    <a:pt x="1234" y="159707"/>
                    <a:pt x="0" y="156728"/>
                    <a:pt x="0" y="153622"/>
                  </a:cubicBezTo>
                  <a:lnTo>
                    <a:pt x="0" y="11711"/>
                  </a:lnTo>
                  <a:cubicBezTo>
                    <a:pt x="0" y="8605"/>
                    <a:pt x="1234" y="5626"/>
                    <a:pt x="3430" y="3430"/>
                  </a:cubicBezTo>
                  <a:cubicBezTo>
                    <a:pt x="5626" y="1234"/>
                    <a:pt x="8605" y="0"/>
                    <a:pt x="11711" y="0"/>
                  </a:cubicBezTo>
                  <a:close/>
                </a:path>
              </a:pathLst>
            </a:custGeom>
            <a:solidFill>
              <a:srgbClr val="535659"/>
            </a:solidFill>
            <a:ln w="19050" cap="sq">
              <a:solidFill>
                <a:srgbClr val="243342"/>
              </a:solidFill>
              <a:prstDash val="solid"/>
              <a:miter/>
            </a:ln>
          </p:spPr>
        </p:sp>
        <p:sp>
          <p:nvSpPr>
            <p:cNvPr name="TextBox 37" id="37"/>
            <p:cNvSpPr txBox="true"/>
            <p:nvPr/>
          </p:nvSpPr>
          <p:spPr>
            <a:xfrm>
              <a:off x="0" y="-38100"/>
              <a:ext cx="2611622" cy="203433"/>
            </a:xfrm>
            <a:prstGeom prst="rect">
              <a:avLst/>
            </a:prstGeom>
          </p:spPr>
          <p:txBody>
            <a:bodyPr anchor="ctr" rtlCol="false" tIns="50800" lIns="50800" bIns="50800" rIns="50800"/>
            <a:lstStyle/>
            <a:p>
              <a:pPr algn="ctr">
                <a:lnSpc>
                  <a:spcPts val="3362"/>
                </a:lnSpc>
              </a:pPr>
            </a:p>
          </p:txBody>
        </p:sp>
      </p:grpSp>
      <p:sp>
        <p:nvSpPr>
          <p:cNvPr name="TextBox 38" id="38"/>
          <p:cNvSpPr txBox="true"/>
          <p:nvPr/>
        </p:nvSpPr>
        <p:spPr>
          <a:xfrm rot="0">
            <a:off x="551143" y="9305925"/>
            <a:ext cx="9994584" cy="444500"/>
          </a:xfrm>
          <a:prstGeom prst="rect">
            <a:avLst/>
          </a:prstGeom>
        </p:spPr>
        <p:txBody>
          <a:bodyPr anchor="t" rtlCol="false" tIns="0" lIns="0" bIns="0" rIns="0">
            <a:spAutoFit/>
          </a:bodyPr>
          <a:lstStyle/>
          <a:p>
            <a:pPr algn="ctr">
              <a:lnSpc>
                <a:spcPts val="2800"/>
              </a:lnSpc>
            </a:pPr>
            <a:r>
              <a:rPr lang="en-US" sz="2000" spc="120">
                <a:solidFill>
                  <a:srgbClr val="FFFFFF"/>
                </a:solidFill>
                <a:latin typeface="Karnchang"/>
                <a:ea typeface="Karnchang"/>
                <a:cs typeface="Karnchang"/>
                <a:sym typeface="Karnchang"/>
              </a:rPr>
              <a:t>Abdul Rozak A |  Politeknik Negeri Bandung | Teknik Telekomuniakasi | 2024</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6EAEF"/>
        </a:solidFill>
      </p:bgPr>
    </p:bg>
    <p:spTree>
      <p:nvGrpSpPr>
        <p:cNvPr id="1" name=""/>
        <p:cNvGrpSpPr/>
        <p:nvPr/>
      </p:nvGrpSpPr>
      <p:grpSpPr>
        <a:xfrm>
          <a:off x="0" y="0"/>
          <a:ext cx="0" cy="0"/>
          <a:chOff x="0" y="0"/>
          <a:chExt cx="0" cy="0"/>
        </a:xfrm>
      </p:grpSpPr>
      <p:grpSp>
        <p:nvGrpSpPr>
          <p:cNvPr name="Group 2" id="2"/>
          <p:cNvGrpSpPr/>
          <p:nvPr/>
        </p:nvGrpSpPr>
        <p:grpSpPr>
          <a:xfrm rot="0">
            <a:off x="787067" y="592941"/>
            <a:ext cx="16713866" cy="9101117"/>
            <a:chOff x="0" y="0"/>
            <a:chExt cx="4402006" cy="2397002"/>
          </a:xfrm>
        </p:grpSpPr>
        <p:sp>
          <p:nvSpPr>
            <p:cNvPr name="Freeform 3" id="3"/>
            <p:cNvSpPr/>
            <p:nvPr/>
          </p:nvSpPr>
          <p:spPr>
            <a:xfrm flipH="false" flipV="false" rot="0">
              <a:off x="0" y="0"/>
              <a:ext cx="4402006" cy="2397002"/>
            </a:xfrm>
            <a:custGeom>
              <a:avLst/>
              <a:gdLst/>
              <a:ahLst/>
              <a:cxnLst/>
              <a:rect r="r" b="b" t="t" l="l"/>
              <a:pathLst>
                <a:path h="2397002" w="4402006">
                  <a:moveTo>
                    <a:pt x="23623" y="0"/>
                  </a:moveTo>
                  <a:lnTo>
                    <a:pt x="4378382" y="0"/>
                  </a:lnTo>
                  <a:cubicBezTo>
                    <a:pt x="4391429" y="0"/>
                    <a:pt x="4402006" y="10577"/>
                    <a:pt x="4402006" y="23623"/>
                  </a:cubicBezTo>
                  <a:lnTo>
                    <a:pt x="4402006" y="2373379"/>
                  </a:lnTo>
                  <a:cubicBezTo>
                    <a:pt x="4402006" y="2379644"/>
                    <a:pt x="4399517" y="2385653"/>
                    <a:pt x="4395087" y="2390083"/>
                  </a:cubicBezTo>
                  <a:cubicBezTo>
                    <a:pt x="4390656" y="2394513"/>
                    <a:pt x="4384647" y="2397002"/>
                    <a:pt x="4378382" y="2397002"/>
                  </a:cubicBezTo>
                  <a:lnTo>
                    <a:pt x="23623" y="2397002"/>
                  </a:lnTo>
                  <a:cubicBezTo>
                    <a:pt x="17358" y="2397002"/>
                    <a:pt x="11349" y="2394513"/>
                    <a:pt x="6919" y="2390083"/>
                  </a:cubicBezTo>
                  <a:cubicBezTo>
                    <a:pt x="2489" y="2385653"/>
                    <a:pt x="0" y="2379644"/>
                    <a:pt x="0" y="2373379"/>
                  </a:cubicBezTo>
                  <a:lnTo>
                    <a:pt x="0" y="23623"/>
                  </a:lnTo>
                  <a:cubicBezTo>
                    <a:pt x="0" y="17358"/>
                    <a:pt x="2489" y="11349"/>
                    <a:pt x="6919" y="6919"/>
                  </a:cubicBezTo>
                  <a:cubicBezTo>
                    <a:pt x="11349" y="2489"/>
                    <a:pt x="17358" y="0"/>
                    <a:pt x="23623" y="0"/>
                  </a:cubicBezTo>
                  <a:close/>
                </a:path>
              </a:pathLst>
            </a:custGeom>
            <a:solidFill>
              <a:srgbClr val="E6EAEF"/>
            </a:solidFill>
            <a:ln w="19050" cap="rnd">
              <a:solidFill>
                <a:srgbClr val="243342"/>
              </a:solidFill>
              <a:prstDash val="solid"/>
              <a:round/>
            </a:ln>
          </p:spPr>
        </p:sp>
        <p:sp>
          <p:nvSpPr>
            <p:cNvPr name="TextBox 4" id="4"/>
            <p:cNvSpPr txBox="true"/>
            <p:nvPr/>
          </p:nvSpPr>
          <p:spPr>
            <a:xfrm>
              <a:off x="0" y="-38100"/>
              <a:ext cx="4402006" cy="2435102"/>
            </a:xfrm>
            <a:prstGeom prst="rect">
              <a:avLst/>
            </a:prstGeom>
          </p:spPr>
          <p:txBody>
            <a:bodyPr anchor="ctr" rtlCol="false" tIns="50800" lIns="50800" bIns="50800" rIns="50800"/>
            <a:lstStyle/>
            <a:p>
              <a:pPr algn="ctr">
                <a:lnSpc>
                  <a:spcPts val="3362"/>
                </a:lnSpc>
              </a:pPr>
            </a:p>
          </p:txBody>
        </p:sp>
      </p:grpSp>
      <p:grpSp>
        <p:nvGrpSpPr>
          <p:cNvPr name="Group 5" id="5"/>
          <p:cNvGrpSpPr/>
          <p:nvPr/>
        </p:nvGrpSpPr>
        <p:grpSpPr>
          <a:xfrm rot="-7538080">
            <a:off x="-7029811" y="-5584933"/>
            <a:ext cx="9808447" cy="9331824"/>
            <a:chOff x="0" y="0"/>
            <a:chExt cx="13077930" cy="12442432"/>
          </a:xfrm>
        </p:grpSpPr>
        <p:grpSp>
          <p:nvGrpSpPr>
            <p:cNvPr name="Group 6" id="6"/>
            <p:cNvGrpSpPr/>
            <p:nvPr/>
          </p:nvGrpSpPr>
          <p:grpSpPr>
            <a:xfrm rot="2252144">
              <a:off x="1498251" y="1484738"/>
              <a:ext cx="7399579" cy="7432687"/>
              <a:chOff x="0" y="0"/>
              <a:chExt cx="2816645" cy="2829248"/>
            </a:xfrm>
          </p:grpSpPr>
          <p:sp>
            <p:nvSpPr>
              <p:cNvPr name="Freeform 7" id="7"/>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243342"/>
              </a:solidFill>
            </p:spPr>
          </p:sp>
          <p:sp>
            <p:nvSpPr>
              <p:cNvPr name="TextBox 8" id="8"/>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2252144">
              <a:off x="2397493" y="3224228"/>
              <a:ext cx="7399579" cy="7432687"/>
              <a:chOff x="0" y="0"/>
              <a:chExt cx="2816645" cy="2829248"/>
            </a:xfrm>
          </p:grpSpPr>
          <p:sp>
            <p:nvSpPr>
              <p:cNvPr name="Freeform 10" id="10"/>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535659"/>
              </a:solidFill>
            </p:spPr>
          </p:sp>
          <p:sp>
            <p:nvSpPr>
              <p:cNvPr name="TextBox 11" id="11"/>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2252144">
              <a:off x="4180100" y="3525007"/>
              <a:ext cx="7399579" cy="7432687"/>
              <a:chOff x="0" y="0"/>
              <a:chExt cx="2816645" cy="2829248"/>
            </a:xfrm>
          </p:grpSpPr>
          <p:sp>
            <p:nvSpPr>
              <p:cNvPr name="Freeform 13" id="13"/>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858789"/>
              </a:solidFill>
            </p:spPr>
          </p:sp>
          <p:sp>
            <p:nvSpPr>
              <p:cNvPr name="TextBox 14" id="14"/>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grpSp>
        <p:nvGrpSpPr>
          <p:cNvPr name="Group 15" id="15"/>
          <p:cNvGrpSpPr/>
          <p:nvPr/>
        </p:nvGrpSpPr>
        <p:grpSpPr>
          <a:xfrm rot="2124477">
            <a:off x="15979122" y="5429903"/>
            <a:ext cx="9808447" cy="9331824"/>
            <a:chOff x="0" y="0"/>
            <a:chExt cx="13077930" cy="12442432"/>
          </a:xfrm>
        </p:grpSpPr>
        <p:grpSp>
          <p:nvGrpSpPr>
            <p:cNvPr name="Group 16" id="16"/>
            <p:cNvGrpSpPr/>
            <p:nvPr/>
          </p:nvGrpSpPr>
          <p:grpSpPr>
            <a:xfrm rot="2252144">
              <a:off x="1498251" y="1484738"/>
              <a:ext cx="7399579" cy="7432687"/>
              <a:chOff x="0" y="0"/>
              <a:chExt cx="2816645" cy="2829248"/>
            </a:xfrm>
          </p:grpSpPr>
          <p:sp>
            <p:nvSpPr>
              <p:cNvPr name="Freeform 17" id="17"/>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243342"/>
              </a:solidFill>
            </p:spPr>
          </p:sp>
          <p:sp>
            <p:nvSpPr>
              <p:cNvPr name="TextBox 18" id="18"/>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19" id="19"/>
            <p:cNvGrpSpPr/>
            <p:nvPr/>
          </p:nvGrpSpPr>
          <p:grpSpPr>
            <a:xfrm rot="2252144">
              <a:off x="2397493" y="3224228"/>
              <a:ext cx="7399579" cy="7432687"/>
              <a:chOff x="0" y="0"/>
              <a:chExt cx="2816645" cy="2829248"/>
            </a:xfrm>
          </p:grpSpPr>
          <p:sp>
            <p:nvSpPr>
              <p:cNvPr name="Freeform 20" id="20"/>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535659"/>
              </a:solidFill>
            </p:spPr>
          </p:sp>
          <p:sp>
            <p:nvSpPr>
              <p:cNvPr name="TextBox 21" id="21"/>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22" id="22"/>
            <p:cNvGrpSpPr/>
            <p:nvPr/>
          </p:nvGrpSpPr>
          <p:grpSpPr>
            <a:xfrm rot="2252144">
              <a:off x="4180100" y="3525007"/>
              <a:ext cx="7399579" cy="7432687"/>
              <a:chOff x="0" y="0"/>
              <a:chExt cx="2816645" cy="2829248"/>
            </a:xfrm>
          </p:grpSpPr>
          <p:sp>
            <p:nvSpPr>
              <p:cNvPr name="Freeform 23" id="23"/>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858789"/>
              </a:solidFill>
            </p:spPr>
          </p:sp>
          <p:sp>
            <p:nvSpPr>
              <p:cNvPr name="TextBox 24" id="24"/>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grpSp>
        <p:nvGrpSpPr>
          <p:cNvPr name="Group 25" id="25"/>
          <p:cNvGrpSpPr/>
          <p:nvPr/>
        </p:nvGrpSpPr>
        <p:grpSpPr>
          <a:xfrm rot="0">
            <a:off x="15665503" y="317552"/>
            <a:ext cx="2042119" cy="650325"/>
            <a:chOff x="0" y="0"/>
            <a:chExt cx="537842" cy="171279"/>
          </a:xfrm>
        </p:grpSpPr>
        <p:sp>
          <p:nvSpPr>
            <p:cNvPr name="Freeform 26" id="26"/>
            <p:cNvSpPr/>
            <p:nvPr/>
          </p:nvSpPr>
          <p:spPr>
            <a:xfrm flipH="false" flipV="false" rot="0">
              <a:off x="0" y="0"/>
              <a:ext cx="537842" cy="171279"/>
            </a:xfrm>
            <a:custGeom>
              <a:avLst/>
              <a:gdLst/>
              <a:ahLst/>
              <a:cxnLst/>
              <a:rect r="r" b="b" t="t" l="l"/>
              <a:pathLst>
                <a:path h="171279" w="537842">
                  <a:moveTo>
                    <a:pt x="53076" y="0"/>
                  </a:moveTo>
                  <a:lnTo>
                    <a:pt x="484766" y="0"/>
                  </a:lnTo>
                  <a:cubicBezTo>
                    <a:pt x="514079" y="0"/>
                    <a:pt x="537842" y="23763"/>
                    <a:pt x="537842" y="53076"/>
                  </a:cubicBezTo>
                  <a:lnTo>
                    <a:pt x="537842" y="118203"/>
                  </a:lnTo>
                  <a:cubicBezTo>
                    <a:pt x="537842" y="132280"/>
                    <a:pt x="532250" y="145780"/>
                    <a:pt x="522296" y="155734"/>
                  </a:cubicBezTo>
                  <a:cubicBezTo>
                    <a:pt x="512343" y="165687"/>
                    <a:pt x="498843" y="171279"/>
                    <a:pt x="484766" y="171279"/>
                  </a:cubicBezTo>
                  <a:lnTo>
                    <a:pt x="53076" y="171279"/>
                  </a:lnTo>
                  <a:cubicBezTo>
                    <a:pt x="38999" y="171279"/>
                    <a:pt x="25499" y="165687"/>
                    <a:pt x="15546" y="155734"/>
                  </a:cubicBezTo>
                  <a:cubicBezTo>
                    <a:pt x="5592" y="145780"/>
                    <a:pt x="0" y="132280"/>
                    <a:pt x="0" y="118203"/>
                  </a:cubicBezTo>
                  <a:lnTo>
                    <a:pt x="0" y="53076"/>
                  </a:lnTo>
                  <a:cubicBezTo>
                    <a:pt x="0" y="38999"/>
                    <a:pt x="5592" y="25499"/>
                    <a:pt x="15546" y="15546"/>
                  </a:cubicBezTo>
                  <a:cubicBezTo>
                    <a:pt x="25499" y="5592"/>
                    <a:pt x="38999" y="0"/>
                    <a:pt x="53076" y="0"/>
                  </a:cubicBezTo>
                  <a:close/>
                </a:path>
              </a:pathLst>
            </a:custGeom>
            <a:solidFill>
              <a:srgbClr val="535659"/>
            </a:solidFill>
            <a:ln w="19050" cap="sq">
              <a:solidFill>
                <a:srgbClr val="243342"/>
              </a:solidFill>
              <a:prstDash val="solid"/>
              <a:miter/>
            </a:ln>
          </p:spPr>
        </p:sp>
        <p:sp>
          <p:nvSpPr>
            <p:cNvPr name="TextBox 27" id="27"/>
            <p:cNvSpPr txBox="true"/>
            <p:nvPr/>
          </p:nvSpPr>
          <p:spPr>
            <a:xfrm>
              <a:off x="0" y="-38100"/>
              <a:ext cx="537842" cy="209379"/>
            </a:xfrm>
            <a:prstGeom prst="rect">
              <a:avLst/>
            </a:prstGeom>
          </p:spPr>
          <p:txBody>
            <a:bodyPr anchor="ctr" rtlCol="false" tIns="50800" lIns="50800" bIns="50800" rIns="50800"/>
            <a:lstStyle/>
            <a:p>
              <a:pPr algn="ctr">
                <a:lnSpc>
                  <a:spcPts val="3362"/>
                </a:lnSpc>
              </a:pPr>
            </a:p>
          </p:txBody>
        </p:sp>
      </p:grpSp>
      <p:grpSp>
        <p:nvGrpSpPr>
          <p:cNvPr name="Group 28" id="28"/>
          <p:cNvGrpSpPr/>
          <p:nvPr/>
        </p:nvGrpSpPr>
        <p:grpSpPr>
          <a:xfrm rot="0">
            <a:off x="629723" y="9258300"/>
            <a:ext cx="6961669" cy="627749"/>
            <a:chOff x="0" y="0"/>
            <a:chExt cx="1833526" cy="165333"/>
          </a:xfrm>
        </p:grpSpPr>
        <p:sp>
          <p:nvSpPr>
            <p:cNvPr name="Freeform 29" id="29"/>
            <p:cNvSpPr/>
            <p:nvPr/>
          </p:nvSpPr>
          <p:spPr>
            <a:xfrm flipH="false" flipV="false" rot="0">
              <a:off x="0" y="0"/>
              <a:ext cx="1833526" cy="165333"/>
            </a:xfrm>
            <a:custGeom>
              <a:avLst/>
              <a:gdLst/>
              <a:ahLst/>
              <a:cxnLst/>
              <a:rect r="r" b="b" t="t" l="l"/>
              <a:pathLst>
                <a:path h="165333" w="1833526">
                  <a:moveTo>
                    <a:pt x="16681" y="0"/>
                  </a:moveTo>
                  <a:lnTo>
                    <a:pt x="1816845" y="0"/>
                  </a:lnTo>
                  <a:cubicBezTo>
                    <a:pt x="1821269" y="0"/>
                    <a:pt x="1825512" y="1757"/>
                    <a:pt x="1828640" y="4886"/>
                  </a:cubicBezTo>
                  <a:cubicBezTo>
                    <a:pt x="1831769" y="8014"/>
                    <a:pt x="1833526" y="12257"/>
                    <a:pt x="1833526" y="16681"/>
                  </a:cubicBezTo>
                  <a:lnTo>
                    <a:pt x="1833526" y="148652"/>
                  </a:lnTo>
                  <a:cubicBezTo>
                    <a:pt x="1833526" y="157865"/>
                    <a:pt x="1826058" y="165333"/>
                    <a:pt x="1816845" y="165333"/>
                  </a:cubicBezTo>
                  <a:lnTo>
                    <a:pt x="16681" y="165333"/>
                  </a:lnTo>
                  <a:cubicBezTo>
                    <a:pt x="7468" y="165333"/>
                    <a:pt x="0" y="157865"/>
                    <a:pt x="0" y="148652"/>
                  </a:cubicBezTo>
                  <a:lnTo>
                    <a:pt x="0" y="16681"/>
                  </a:lnTo>
                  <a:cubicBezTo>
                    <a:pt x="0" y="7468"/>
                    <a:pt x="7468" y="0"/>
                    <a:pt x="16681" y="0"/>
                  </a:cubicBezTo>
                  <a:close/>
                </a:path>
              </a:pathLst>
            </a:custGeom>
            <a:solidFill>
              <a:srgbClr val="535659"/>
            </a:solidFill>
            <a:ln w="19050" cap="sq">
              <a:solidFill>
                <a:srgbClr val="243342"/>
              </a:solidFill>
              <a:prstDash val="solid"/>
              <a:miter/>
            </a:ln>
          </p:spPr>
        </p:sp>
        <p:sp>
          <p:nvSpPr>
            <p:cNvPr name="TextBox 30" id="30"/>
            <p:cNvSpPr txBox="true"/>
            <p:nvPr/>
          </p:nvSpPr>
          <p:spPr>
            <a:xfrm>
              <a:off x="0" y="-38100"/>
              <a:ext cx="1833526" cy="203433"/>
            </a:xfrm>
            <a:prstGeom prst="rect">
              <a:avLst/>
            </a:prstGeom>
          </p:spPr>
          <p:txBody>
            <a:bodyPr anchor="ctr" rtlCol="false" tIns="50800" lIns="50800" bIns="50800" rIns="50800"/>
            <a:lstStyle/>
            <a:p>
              <a:pPr algn="ctr">
                <a:lnSpc>
                  <a:spcPts val="3362"/>
                </a:lnSpc>
              </a:pPr>
            </a:p>
          </p:txBody>
        </p:sp>
      </p:grpSp>
      <p:sp>
        <p:nvSpPr>
          <p:cNvPr name="TextBox 31" id="31"/>
          <p:cNvSpPr txBox="true"/>
          <p:nvPr/>
        </p:nvSpPr>
        <p:spPr>
          <a:xfrm rot="0">
            <a:off x="551143" y="9305925"/>
            <a:ext cx="7118830" cy="444454"/>
          </a:xfrm>
          <a:prstGeom prst="rect">
            <a:avLst/>
          </a:prstGeom>
        </p:spPr>
        <p:txBody>
          <a:bodyPr anchor="t" rtlCol="false" tIns="0" lIns="0" bIns="0" rIns="0">
            <a:spAutoFit/>
          </a:bodyPr>
          <a:lstStyle/>
          <a:p>
            <a:pPr algn="ctr">
              <a:lnSpc>
                <a:spcPts val="2800"/>
              </a:lnSpc>
            </a:pPr>
            <a:r>
              <a:rPr lang="en-US" sz="2000" spc="120">
                <a:solidFill>
                  <a:srgbClr val="FFFFFF"/>
                </a:solidFill>
                <a:latin typeface="Karnchang"/>
                <a:ea typeface="Karnchang"/>
                <a:cs typeface="Karnchang"/>
                <a:sym typeface="Karnchang"/>
              </a:rPr>
              <a:t>Murad Naser |  Universitas Fauget | Ekonomi | 2025</a:t>
            </a:r>
          </a:p>
        </p:txBody>
      </p:sp>
      <p:grpSp>
        <p:nvGrpSpPr>
          <p:cNvPr name="Group 32" id="32"/>
          <p:cNvGrpSpPr/>
          <p:nvPr/>
        </p:nvGrpSpPr>
        <p:grpSpPr>
          <a:xfrm rot="0">
            <a:off x="629723" y="9258300"/>
            <a:ext cx="9916004" cy="627749"/>
            <a:chOff x="0" y="0"/>
            <a:chExt cx="2611622" cy="165333"/>
          </a:xfrm>
        </p:grpSpPr>
        <p:sp>
          <p:nvSpPr>
            <p:cNvPr name="Freeform 33" id="33"/>
            <p:cNvSpPr/>
            <p:nvPr/>
          </p:nvSpPr>
          <p:spPr>
            <a:xfrm flipH="false" flipV="false" rot="0">
              <a:off x="0" y="0"/>
              <a:ext cx="2611622" cy="165333"/>
            </a:xfrm>
            <a:custGeom>
              <a:avLst/>
              <a:gdLst/>
              <a:ahLst/>
              <a:cxnLst/>
              <a:rect r="r" b="b" t="t" l="l"/>
              <a:pathLst>
                <a:path h="165333" w="2611622">
                  <a:moveTo>
                    <a:pt x="11711" y="0"/>
                  </a:moveTo>
                  <a:lnTo>
                    <a:pt x="2599911" y="0"/>
                  </a:lnTo>
                  <a:cubicBezTo>
                    <a:pt x="2606379" y="0"/>
                    <a:pt x="2611622" y="5243"/>
                    <a:pt x="2611622" y="11711"/>
                  </a:cubicBezTo>
                  <a:lnTo>
                    <a:pt x="2611622" y="153622"/>
                  </a:lnTo>
                  <a:cubicBezTo>
                    <a:pt x="2611622" y="156728"/>
                    <a:pt x="2610389" y="159707"/>
                    <a:pt x="2608192" y="161903"/>
                  </a:cubicBezTo>
                  <a:cubicBezTo>
                    <a:pt x="2605996" y="164099"/>
                    <a:pt x="2603017" y="165333"/>
                    <a:pt x="2599911" y="165333"/>
                  </a:cubicBezTo>
                  <a:lnTo>
                    <a:pt x="11711" y="165333"/>
                  </a:lnTo>
                  <a:cubicBezTo>
                    <a:pt x="8605" y="165333"/>
                    <a:pt x="5626" y="164099"/>
                    <a:pt x="3430" y="161903"/>
                  </a:cubicBezTo>
                  <a:cubicBezTo>
                    <a:pt x="1234" y="159707"/>
                    <a:pt x="0" y="156728"/>
                    <a:pt x="0" y="153622"/>
                  </a:cubicBezTo>
                  <a:lnTo>
                    <a:pt x="0" y="11711"/>
                  </a:lnTo>
                  <a:cubicBezTo>
                    <a:pt x="0" y="8605"/>
                    <a:pt x="1234" y="5626"/>
                    <a:pt x="3430" y="3430"/>
                  </a:cubicBezTo>
                  <a:cubicBezTo>
                    <a:pt x="5626" y="1234"/>
                    <a:pt x="8605" y="0"/>
                    <a:pt x="11711" y="0"/>
                  </a:cubicBezTo>
                  <a:close/>
                </a:path>
              </a:pathLst>
            </a:custGeom>
            <a:solidFill>
              <a:srgbClr val="535659"/>
            </a:solidFill>
            <a:ln w="19050" cap="sq">
              <a:solidFill>
                <a:srgbClr val="243342"/>
              </a:solidFill>
              <a:prstDash val="solid"/>
              <a:miter/>
            </a:ln>
          </p:spPr>
        </p:sp>
        <p:sp>
          <p:nvSpPr>
            <p:cNvPr name="TextBox 34" id="34"/>
            <p:cNvSpPr txBox="true"/>
            <p:nvPr/>
          </p:nvSpPr>
          <p:spPr>
            <a:xfrm>
              <a:off x="0" y="-38100"/>
              <a:ext cx="2611622" cy="203433"/>
            </a:xfrm>
            <a:prstGeom prst="rect">
              <a:avLst/>
            </a:prstGeom>
          </p:spPr>
          <p:txBody>
            <a:bodyPr anchor="ctr" rtlCol="false" tIns="50800" lIns="50800" bIns="50800" rIns="50800"/>
            <a:lstStyle/>
            <a:p>
              <a:pPr algn="ctr">
                <a:lnSpc>
                  <a:spcPts val="3362"/>
                </a:lnSpc>
              </a:pPr>
            </a:p>
          </p:txBody>
        </p:sp>
      </p:grpSp>
      <p:grpSp>
        <p:nvGrpSpPr>
          <p:cNvPr name="Group 35" id="35"/>
          <p:cNvGrpSpPr>
            <a:grpSpLocks noChangeAspect="true"/>
          </p:cNvGrpSpPr>
          <p:nvPr/>
        </p:nvGrpSpPr>
        <p:grpSpPr>
          <a:xfrm rot="0">
            <a:off x="3543797" y="2181229"/>
            <a:ext cx="4641419" cy="3484469"/>
            <a:chOff x="0" y="0"/>
            <a:chExt cx="8916670" cy="6694043"/>
          </a:xfrm>
        </p:grpSpPr>
        <p:sp>
          <p:nvSpPr>
            <p:cNvPr name="Freeform 36" id="36"/>
            <p:cNvSpPr/>
            <p:nvPr/>
          </p:nvSpPr>
          <p:spPr>
            <a:xfrm flipH="false" flipV="false" rot="0">
              <a:off x="155575" y="155575"/>
              <a:ext cx="8605520" cy="6382893"/>
            </a:xfrm>
            <a:custGeom>
              <a:avLst/>
              <a:gdLst/>
              <a:ahLst/>
              <a:cxnLst/>
              <a:rect r="r" b="b" t="t" l="l"/>
              <a:pathLst>
                <a:path h="6382893" w="8605520">
                  <a:moveTo>
                    <a:pt x="0" y="0"/>
                  </a:moveTo>
                  <a:lnTo>
                    <a:pt x="8605520" y="0"/>
                  </a:lnTo>
                  <a:lnTo>
                    <a:pt x="8605520" y="6382893"/>
                  </a:lnTo>
                  <a:lnTo>
                    <a:pt x="0" y="6382893"/>
                  </a:lnTo>
                  <a:close/>
                </a:path>
              </a:pathLst>
            </a:custGeom>
            <a:blipFill>
              <a:blip r:embed="rId2"/>
              <a:stretch>
                <a:fillRect l="0" t="-2014" r="0" b="-14628"/>
              </a:stretch>
            </a:blipFill>
          </p:spPr>
        </p:sp>
        <p:sp>
          <p:nvSpPr>
            <p:cNvPr name="Freeform 37" id="37"/>
            <p:cNvSpPr/>
            <p:nvPr/>
          </p:nvSpPr>
          <p:spPr>
            <a:xfrm flipH="false" flipV="false" rot="0">
              <a:off x="6350" y="6350"/>
              <a:ext cx="8903970" cy="6681343"/>
            </a:xfrm>
            <a:custGeom>
              <a:avLst/>
              <a:gdLst/>
              <a:ahLst/>
              <a:cxnLst/>
              <a:rect r="r" b="b" t="t" l="l"/>
              <a:pathLst>
                <a:path h="6681343" w="8903970">
                  <a:moveTo>
                    <a:pt x="8903970" y="6681343"/>
                  </a:moveTo>
                  <a:lnTo>
                    <a:pt x="0" y="6681343"/>
                  </a:lnTo>
                  <a:lnTo>
                    <a:pt x="0" y="0"/>
                  </a:lnTo>
                  <a:lnTo>
                    <a:pt x="8903970" y="0"/>
                  </a:lnTo>
                  <a:lnTo>
                    <a:pt x="8903970" y="6681343"/>
                  </a:lnTo>
                  <a:close/>
                  <a:moveTo>
                    <a:pt x="19050" y="6662293"/>
                  </a:moveTo>
                  <a:lnTo>
                    <a:pt x="8884920" y="6662293"/>
                  </a:lnTo>
                  <a:lnTo>
                    <a:pt x="8884920" y="19050"/>
                  </a:lnTo>
                  <a:lnTo>
                    <a:pt x="19050" y="19050"/>
                  </a:lnTo>
                  <a:lnTo>
                    <a:pt x="19050" y="6662293"/>
                  </a:lnTo>
                  <a:close/>
                  <a:moveTo>
                    <a:pt x="8764270" y="6541643"/>
                  </a:moveTo>
                  <a:lnTo>
                    <a:pt x="139700" y="6541643"/>
                  </a:lnTo>
                  <a:lnTo>
                    <a:pt x="139700" y="139700"/>
                  </a:lnTo>
                  <a:lnTo>
                    <a:pt x="8764270" y="139700"/>
                  </a:lnTo>
                  <a:lnTo>
                    <a:pt x="8764270" y="6541643"/>
                  </a:lnTo>
                  <a:close/>
                  <a:moveTo>
                    <a:pt x="158750" y="6522593"/>
                  </a:moveTo>
                  <a:lnTo>
                    <a:pt x="8745220" y="6522593"/>
                  </a:lnTo>
                  <a:lnTo>
                    <a:pt x="8745220" y="158750"/>
                  </a:lnTo>
                  <a:lnTo>
                    <a:pt x="158750" y="158750"/>
                  </a:lnTo>
                  <a:lnTo>
                    <a:pt x="158750" y="6522593"/>
                  </a:lnTo>
                  <a:close/>
                </a:path>
              </a:pathLst>
            </a:custGeom>
            <a:solidFill>
              <a:srgbClr val="535659"/>
            </a:solidFill>
          </p:spPr>
        </p:sp>
      </p:grpSp>
      <p:grpSp>
        <p:nvGrpSpPr>
          <p:cNvPr name="Group 38" id="38"/>
          <p:cNvGrpSpPr>
            <a:grpSpLocks noChangeAspect="true"/>
          </p:cNvGrpSpPr>
          <p:nvPr/>
        </p:nvGrpSpPr>
        <p:grpSpPr>
          <a:xfrm rot="0">
            <a:off x="9903264" y="2181229"/>
            <a:ext cx="4643108" cy="3485737"/>
            <a:chOff x="0" y="0"/>
            <a:chExt cx="8916670" cy="6694043"/>
          </a:xfrm>
        </p:grpSpPr>
        <p:sp>
          <p:nvSpPr>
            <p:cNvPr name="Freeform 39" id="39"/>
            <p:cNvSpPr/>
            <p:nvPr/>
          </p:nvSpPr>
          <p:spPr>
            <a:xfrm flipH="false" flipV="false" rot="0">
              <a:off x="155575" y="155575"/>
              <a:ext cx="8605520" cy="6382893"/>
            </a:xfrm>
            <a:custGeom>
              <a:avLst/>
              <a:gdLst/>
              <a:ahLst/>
              <a:cxnLst/>
              <a:rect r="r" b="b" t="t" l="l"/>
              <a:pathLst>
                <a:path h="6382893" w="8605520">
                  <a:moveTo>
                    <a:pt x="0" y="0"/>
                  </a:moveTo>
                  <a:lnTo>
                    <a:pt x="8605520" y="0"/>
                  </a:lnTo>
                  <a:lnTo>
                    <a:pt x="8605520" y="6382893"/>
                  </a:lnTo>
                  <a:lnTo>
                    <a:pt x="0" y="6382893"/>
                  </a:lnTo>
                  <a:close/>
                </a:path>
              </a:pathLst>
            </a:custGeom>
            <a:blipFill>
              <a:blip r:embed="rId3"/>
              <a:stretch>
                <a:fillRect l="0" t="0" r="0" b="-12931"/>
              </a:stretch>
            </a:blipFill>
          </p:spPr>
        </p:sp>
        <p:sp>
          <p:nvSpPr>
            <p:cNvPr name="Freeform 40" id="40"/>
            <p:cNvSpPr/>
            <p:nvPr/>
          </p:nvSpPr>
          <p:spPr>
            <a:xfrm flipH="false" flipV="false" rot="0">
              <a:off x="6350" y="6350"/>
              <a:ext cx="8903970" cy="6681343"/>
            </a:xfrm>
            <a:custGeom>
              <a:avLst/>
              <a:gdLst/>
              <a:ahLst/>
              <a:cxnLst/>
              <a:rect r="r" b="b" t="t" l="l"/>
              <a:pathLst>
                <a:path h="6681343" w="8903970">
                  <a:moveTo>
                    <a:pt x="8903970" y="6681343"/>
                  </a:moveTo>
                  <a:lnTo>
                    <a:pt x="0" y="6681343"/>
                  </a:lnTo>
                  <a:lnTo>
                    <a:pt x="0" y="0"/>
                  </a:lnTo>
                  <a:lnTo>
                    <a:pt x="8903970" y="0"/>
                  </a:lnTo>
                  <a:lnTo>
                    <a:pt x="8903970" y="6681343"/>
                  </a:lnTo>
                  <a:close/>
                  <a:moveTo>
                    <a:pt x="19050" y="6662293"/>
                  </a:moveTo>
                  <a:lnTo>
                    <a:pt x="8884920" y="6662293"/>
                  </a:lnTo>
                  <a:lnTo>
                    <a:pt x="8884920" y="19050"/>
                  </a:lnTo>
                  <a:lnTo>
                    <a:pt x="19050" y="19050"/>
                  </a:lnTo>
                  <a:lnTo>
                    <a:pt x="19050" y="6662293"/>
                  </a:lnTo>
                  <a:close/>
                  <a:moveTo>
                    <a:pt x="8764270" y="6541643"/>
                  </a:moveTo>
                  <a:lnTo>
                    <a:pt x="139700" y="6541643"/>
                  </a:lnTo>
                  <a:lnTo>
                    <a:pt x="139700" y="139700"/>
                  </a:lnTo>
                  <a:lnTo>
                    <a:pt x="8764270" y="139700"/>
                  </a:lnTo>
                  <a:lnTo>
                    <a:pt x="8764270" y="6541643"/>
                  </a:lnTo>
                  <a:close/>
                  <a:moveTo>
                    <a:pt x="158750" y="6522593"/>
                  </a:moveTo>
                  <a:lnTo>
                    <a:pt x="8745220" y="6522593"/>
                  </a:lnTo>
                  <a:lnTo>
                    <a:pt x="8745220" y="158750"/>
                  </a:lnTo>
                  <a:lnTo>
                    <a:pt x="158750" y="158750"/>
                  </a:lnTo>
                  <a:lnTo>
                    <a:pt x="158750" y="6522593"/>
                  </a:lnTo>
                  <a:close/>
                </a:path>
              </a:pathLst>
            </a:custGeom>
            <a:solidFill>
              <a:srgbClr val="535659"/>
            </a:solidFill>
          </p:spPr>
        </p:sp>
      </p:grpSp>
      <p:sp>
        <p:nvSpPr>
          <p:cNvPr name="TextBox 41" id="41"/>
          <p:cNvSpPr txBox="true"/>
          <p:nvPr/>
        </p:nvSpPr>
        <p:spPr>
          <a:xfrm rot="0">
            <a:off x="1960029" y="6279744"/>
            <a:ext cx="14367942" cy="2017395"/>
          </a:xfrm>
          <a:prstGeom prst="rect">
            <a:avLst/>
          </a:prstGeom>
        </p:spPr>
        <p:txBody>
          <a:bodyPr anchor="t" rtlCol="false" tIns="0" lIns="0" bIns="0" rIns="0">
            <a:spAutoFit/>
          </a:bodyPr>
          <a:lstStyle/>
          <a:p>
            <a:pPr algn="just">
              <a:lnSpc>
                <a:spcPts val="3779"/>
              </a:lnSpc>
            </a:pPr>
            <a:r>
              <a:rPr lang="en-US" sz="2700">
                <a:solidFill>
                  <a:srgbClr val="000000"/>
                </a:solidFill>
                <a:latin typeface="Karnchang"/>
                <a:ea typeface="Karnchang"/>
                <a:cs typeface="Karnchang"/>
                <a:sym typeface="Karnchang"/>
              </a:rPr>
              <a:t>gambar tersebut memberikan posisi subarray transmisi optimal dan pola sintesis array transmisi dan penerimaan yang menunjuk pada (0º, 0º). Pola sintesis ketika menunjuk ke sudut lain serupa. Jumlah subarray ditetapkan sebesar 32. Terlihat bahwa grating lobe dan side lobe di sekitar main lobe ditekan.</a:t>
            </a:r>
          </a:p>
        </p:txBody>
      </p:sp>
      <p:sp>
        <p:nvSpPr>
          <p:cNvPr name="TextBox 42" id="42"/>
          <p:cNvSpPr txBox="true"/>
          <p:nvPr/>
        </p:nvSpPr>
        <p:spPr>
          <a:xfrm rot="0">
            <a:off x="1984374" y="904875"/>
            <a:ext cx="14319253" cy="1107440"/>
          </a:xfrm>
          <a:prstGeom prst="rect">
            <a:avLst/>
          </a:prstGeom>
        </p:spPr>
        <p:txBody>
          <a:bodyPr anchor="t" rtlCol="false" tIns="0" lIns="0" bIns="0" rIns="0">
            <a:spAutoFit/>
          </a:bodyPr>
          <a:lstStyle/>
          <a:p>
            <a:pPr algn="ctr">
              <a:lnSpc>
                <a:spcPts val="5980"/>
              </a:lnSpc>
            </a:pPr>
            <a:r>
              <a:rPr lang="en-US" sz="6500" b="true">
                <a:solidFill>
                  <a:srgbClr val="243342"/>
                </a:solidFill>
                <a:latin typeface="Karnchang Bold"/>
                <a:ea typeface="Karnchang Bold"/>
                <a:cs typeface="Karnchang Bold"/>
                <a:sym typeface="Karnchang Bold"/>
              </a:rPr>
              <a:t>Microwave sparse array SIAR system</a:t>
            </a:r>
          </a:p>
        </p:txBody>
      </p:sp>
      <p:sp>
        <p:nvSpPr>
          <p:cNvPr name="TextBox 43" id="43"/>
          <p:cNvSpPr txBox="true"/>
          <p:nvPr/>
        </p:nvSpPr>
        <p:spPr>
          <a:xfrm rot="0">
            <a:off x="15621459" y="349050"/>
            <a:ext cx="2168307" cy="444500"/>
          </a:xfrm>
          <a:prstGeom prst="rect">
            <a:avLst/>
          </a:prstGeom>
        </p:spPr>
        <p:txBody>
          <a:bodyPr anchor="t" rtlCol="false" tIns="0" lIns="0" bIns="0" rIns="0">
            <a:spAutoFit/>
          </a:bodyPr>
          <a:lstStyle/>
          <a:p>
            <a:pPr algn="ctr">
              <a:lnSpc>
                <a:spcPts val="2800"/>
              </a:lnSpc>
            </a:pPr>
            <a:r>
              <a:rPr lang="en-US" sz="2000" spc="120">
                <a:solidFill>
                  <a:srgbClr val="FFFFFF"/>
                </a:solidFill>
                <a:latin typeface="Karnchang"/>
                <a:ea typeface="Karnchang"/>
                <a:cs typeface="Karnchang"/>
                <a:sym typeface="Karnchang"/>
              </a:rPr>
              <a:t>Halaman 14</a:t>
            </a:r>
          </a:p>
        </p:txBody>
      </p:sp>
      <p:sp>
        <p:nvSpPr>
          <p:cNvPr name="TextBox 44" id="44"/>
          <p:cNvSpPr txBox="true"/>
          <p:nvPr/>
        </p:nvSpPr>
        <p:spPr>
          <a:xfrm rot="0">
            <a:off x="551143" y="9305925"/>
            <a:ext cx="9994584" cy="444500"/>
          </a:xfrm>
          <a:prstGeom prst="rect">
            <a:avLst/>
          </a:prstGeom>
        </p:spPr>
        <p:txBody>
          <a:bodyPr anchor="t" rtlCol="false" tIns="0" lIns="0" bIns="0" rIns="0">
            <a:spAutoFit/>
          </a:bodyPr>
          <a:lstStyle/>
          <a:p>
            <a:pPr algn="ctr">
              <a:lnSpc>
                <a:spcPts val="2800"/>
              </a:lnSpc>
            </a:pPr>
            <a:r>
              <a:rPr lang="en-US" sz="2000" spc="120">
                <a:solidFill>
                  <a:srgbClr val="FFFFFF"/>
                </a:solidFill>
                <a:latin typeface="Karnchang"/>
                <a:ea typeface="Karnchang"/>
                <a:cs typeface="Karnchang"/>
                <a:sym typeface="Karnchang"/>
              </a:rPr>
              <a:t>Abdul Rozak A |  Politeknik Negeri Bandung | Teknik Telekomuniakasi | 2024</a:t>
            </a:r>
          </a:p>
        </p:txBody>
      </p:sp>
      <p:sp>
        <p:nvSpPr>
          <p:cNvPr name="TextBox 45" id="45"/>
          <p:cNvSpPr txBox="true"/>
          <p:nvPr/>
        </p:nvSpPr>
        <p:spPr>
          <a:xfrm rot="0">
            <a:off x="3410906" y="5722848"/>
            <a:ext cx="4907201" cy="520065"/>
          </a:xfrm>
          <a:prstGeom prst="rect">
            <a:avLst/>
          </a:prstGeom>
        </p:spPr>
        <p:txBody>
          <a:bodyPr anchor="t" rtlCol="false" tIns="0" lIns="0" bIns="0" rIns="0">
            <a:spAutoFit/>
          </a:bodyPr>
          <a:lstStyle/>
          <a:p>
            <a:pPr algn="just">
              <a:lnSpc>
                <a:spcPts val="3360"/>
              </a:lnSpc>
            </a:pPr>
            <a:r>
              <a:rPr lang="en-US" sz="2400">
                <a:solidFill>
                  <a:srgbClr val="000000"/>
                </a:solidFill>
                <a:latin typeface="Karnchang"/>
                <a:ea typeface="Karnchang"/>
                <a:cs typeface="Karnchang"/>
                <a:sym typeface="Karnchang"/>
              </a:rPr>
              <a:t>Posisi dari transmit optimal subarray</a:t>
            </a:r>
          </a:p>
        </p:txBody>
      </p:sp>
      <p:sp>
        <p:nvSpPr>
          <p:cNvPr name="TextBox 46" id="46"/>
          <p:cNvSpPr txBox="true"/>
          <p:nvPr/>
        </p:nvSpPr>
        <p:spPr>
          <a:xfrm rot="0">
            <a:off x="9266806" y="5722848"/>
            <a:ext cx="5916025" cy="520065"/>
          </a:xfrm>
          <a:prstGeom prst="rect">
            <a:avLst/>
          </a:prstGeom>
        </p:spPr>
        <p:txBody>
          <a:bodyPr anchor="t" rtlCol="false" tIns="0" lIns="0" bIns="0" rIns="0">
            <a:spAutoFit/>
          </a:bodyPr>
          <a:lstStyle/>
          <a:p>
            <a:pPr algn="just">
              <a:lnSpc>
                <a:spcPts val="3360"/>
              </a:lnSpc>
            </a:pPr>
            <a:r>
              <a:rPr lang="en-US" sz="2400">
                <a:solidFill>
                  <a:srgbClr val="000000"/>
                </a:solidFill>
                <a:latin typeface="Karnchang"/>
                <a:ea typeface="Karnchang"/>
                <a:cs typeface="Karnchang"/>
                <a:sym typeface="Karnchang"/>
              </a:rPr>
              <a:t>Pola dari synthesis array pointing pada (0,0) </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E6EAEF"/>
        </a:solidFill>
      </p:bgPr>
    </p:bg>
    <p:spTree>
      <p:nvGrpSpPr>
        <p:cNvPr id="1" name=""/>
        <p:cNvGrpSpPr/>
        <p:nvPr/>
      </p:nvGrpSpPr>
      <p:grpSpPr>
        <a:xfrm>
          <a:off x="0" y="0"/>
          <a:ext cx="0" cy="0"/>
          <a:chOff x="0" y="0"/>
          <a:chExt cx="0" cy="0"/>
        </a:xfrm>
      </p:grpSpPr>
      <p:grpSp>
        <p:nvGrpSpPr>
          <p:cNvPr name="Group 2" id="2"/>
          <p:cNvGrpSpPr/>
          <p:nvPr/>
        </p:nvGrpSpPr>
        <p:grpSpPr>
          <a:xfrm rot="0">
            <a:off x="787067" y="592941"/>
            <a:ext cx="16713866" cy="9101117"/>
            <a:chOff x="0" y="0"/>
            <a:chExt cx="4402006" cy="2397002"/>
          </a:xfrm>
        </p:grpSpPr>
        <p:sp>
          <p:nvSpPr>
            <p:cNvPr name="Freeform 3" id="3"/>
            <p:cNvSpPr/>
            <p:nvPr/>
          </p:nvSpPr>
          <p:spPr>
            <a:xfrm flipH="false" flipV="false" rot="0">
              <a:off x="0" y="0"/>
              <a:ext cx="4402006" cy="2397002"/>
            </a:xfrm>
            <a:custGeom>
              <a:avLst/>
              <a:gdLst/>
              <a:ahLst/>
              <a:cxnLst/>
              <a:rect r="r" b="b" t="t" l="l"/>
              <a:pathLst>
                <a:path h="2397002" w="4402006">
                  <a:moveTo>
                    <a:pt x="23623" y="0"/>
                  </a:moveTo>
                  <a:lnTo>
                    <a:pt x="4378382" y="0"/>
                  </a:lnTo>
                  <a:cubicBezTo>
                    <a:pt x="4391429" y="0"/>
                    <a:pt x="4402006" y="10577"/>
                    <a:pt x="4402006" y="23623"/>
                  </a:cubicBezTo>
                  <a:lnTo>
                    <a:pt x="4402006" y="2373379"/>
                  </a:lnTo>
                  <a:cubicBezTo>
                    <a:pt x="4402006" y="2379644"/>
                    <a:pt x="4399517" y="2385653"/>
                    <a:pt x="4395087" y="2390083"/>
                  </a:cubicBezTo>
                  <a:cubicBezTo>
                    <a:pt x="4390656" y="2394513"/>
                    <a:pt x="4384647" y="2397002"/>
                    <a:pt x="4378382" y="2397002"/>
                  </a:cubicBezTo>
                  <a:lnTo>
                    <a:pt x="23623" y="2397002"/>
                  </a:lnTo>
                  <a:cubicBezTo>
                    <a:pt x="17358" y="2397002"/>
                    <a:pt x="11349" y="2394513"/>
                    <a:pt x="6919" y="2390083"/>
                  </a:cubicBezTo>
                  <a:cubicBezTo>
                    <a:pt x="2489" y="2385653"/>
                    <a:pt x="0" y="2379644"/>
                    <a:pt x="0" y="2373379"/>
                  </a:cubicBezTo>
                  <a:lnTo>
                    <a:pt x="0" y="23623"/>
                  </a:lnTo>
                  <a:cubicBezTo>
                    <a:pt x="0" y="17358"/>
                    <a:pt x="2489" y="11349"/>
                    <a:pt x="6919" y="6919"/>
                  </a:cubicBezTo>
                  <a:cubicBezTo>
                    <a:pt x="11349" y="2489"/>
                    <a:pt x="17358" y="0"/>
                    <a:pt x="23623" y="0"/>
                  </a:cubicBezTo>
                  <a:close/>
                </a:path>
              </a:pathLst>
            </a:custGeom>
            <a:solidFill>
              <a:srgbClr val="E6EAEF"/>
            </a:solidFill>
            <a:ln w="19050" cap="rnd">
              <a:solidFill>
                <a:srgbClr val="243342"/>
              </a:solidFill>
              <a:prstDash val="solid"/>
              <a:round/>
            </a:ln>
          </p:spPr>
        </p:sp>
        <p:sp>
          <p:nvSpPr>
            <p:cNvPr name="TextBox 4" id="4"/>
            <p:cNvSpPr txBox="true"/>
            <p:nvPr/>
          </p:nvSpPr>
          <p:spPr>
            <a:xfrm>
              <a:off x="0" y="-38100"/>
              <a:ext cx="4402006" cy="2435102"/>
            </a:xfrm>
            <a:prstGeom prst="rect">
              <a:avLst/>
            </a:prstGeom>
          </p:spPr>
          <p:txBody>
            <a:bodyPr anchor="ctr" rtlCol="false" tIns="50800" lIns="50800" bIns="50800" rIns="50800"/>
            <a:lstStyle/>
            <a:p>
              <a:pPr algn="ctr">
                <a:lnSpc>
                  <a:spcPts val="3362"/>
                </a:lnSpc>
              </a:pPr>
            </a:p>
          </p:txBody>
        </p:sp>
      </p:grpSp>
      <p:grpSp>
        <p:nvGrpSpPr>
          <p:cNvPr name="Group 5" id="5"/>
          <p:cNvGrpSpPr/>
          <p:nvPr/>
        </p:nvGrpSpPr>
        <p:grpSpPr>
          <a:xfrm rot="-7538080">
            <a:off x="-7029811" y="-5584933"/>
            <a:ext cx="9808447" cy="9331824"/>
            <a:chOff x="0" y="0"/>
            <a:chExt cx="13077930" cy="12442432"/>
          </a:xfrm>
        </p:grpSpPr>
        <p:grpSp>
          <p:nvGrpSpPr>
            <p:cNvPr name="Group 6" id="6"/>
            <p:cNvGrpSpPr/>
            <p:nvPr/>
          </p:nvGrpSpPr>
          <p:grpSpPr>
            <a:xfrm rot="2252144">
              <a:off x="1498251" y="1484738"/>
              <a:ext cx="7399579" cy="7432687"/>
              <a:chOff x="0" y="0"/>
              <a:chExt cx="2816645" cy="2829248"/>
            </a:xfrm>
          </p:grpSpPr>
          <p:sp>
            <p:nvSpPr>
              <p:cNvPr name="Freeform 7" id="7"/>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243342"/>
              </a:solidFill>
            </p:spPr>
          </p:sp>
          <p:sp>
            <p:nvSpPr>
              <p:cNvPr name="TextBox 8" id="8"/>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2252144">
              <a:off x="2397493" y="3224228"/>
              <a:ext cx="7399579" cy="7432687"/>
              <a:chOff x="0" y="0"/>
              <a:chExt cx="2816645" cy="2829248"/>
            </a:xfrm>
          </p:grpSpPr>
          <p:sp>
            <p:nvSpPr>
              <p:cNvPr name="Freeform 10" id="10"/>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535659"/>
              </a:solidFill>
            </p:spPr>
          </p:sp>
          <p:sp>
            <p:nvSpPr>
              <p:cNvPr name="TextBox 11" id="11"/>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2252144">
              <a:off x="4180100" y="3525007"/>
              <a:ext cx="7399579" cy="7432687"/>
              <a:chOff x="0" y="0"/>
              <a:chExt cx="2816645" cy="2829248"/>
            </a:xfrm>
          </p:grpSpPr>
          <p:sp>
            <p:nvSpPr>
              <p:cNvPr name="Freeform 13" id="13"/>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858789"/>
              </a:solidFill>
            </p:spPr>
          </p:sp>
          <p:sp>
            <p:nvSpPr>
              <p:cNvPr name="TextBox 14" id="14"/>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grpSp>
        <p:nvGrpSpPr>
          <p:cNvPr name="Group 15" id="15"/>
          <p:cNvGrpSpPr/>
          <p:nvPr/>
        </p:nvGrpSpPr>
        <p:grpSpPr>
          <a:xfrm rot="2124477">
            <a:off x="15979122" y="5429903"/>
            <a:ext cx="9808447" cy="9331824"/>
            <a:chOff x="0" y="0"/>
            <a:chExt cx="13077930" cy="12442432"/>
          </a:xfrm>
        </p:grpSpPr>
        <p:grpSp>
          <p:nvGrpSpPr>
            <p:cNvPr name="Group 16" id="16"/>
            <p:cNvGrpSpPr/>
            <p:nvPr/>
          </p:nvGrpSpPr>
          <p:grpSpPr>
            <a:xfrm rot="2252144">
              <a:off x="1498251" y="1484738"/>
              <a:ext cx="7399579" cy="7432687"/>
              <a:chOff x="0" y="0"/>
              <a:chExt cx="2816645" cy="2829248"/>
            </a:xfrm>
          </p:grpSpPr>
          <p:sp>
            <p:nvSpPr>
              <p:cNvPr name="Freeform 17" id="17"/>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243342"/>
              </a:solidFill>
            </p:spPr>
          </p:sp>
          <p:sp>
            <p:nvSpPr>
              <p:cNvPr name="TextBox 18" id="18"/>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19" id="19"/>
            <p:cNvGrpSpPr/>
            <p:nvPr/>
          </p:nvGrpSpPr>
          <p:grpSpPr>
            <a:xfrm rot="2252144">
              <a:off x="2397493" y="3224228"/>
              <a:ext cx="7399579" cy="7432687"/>
              <a:chOff x="0" y="0"/>
              <a:chExt cx="2816645" cy="2829248"/>
            </a:xfrm>
          </p:grpSpPr>
          <p:sp>
            <p:nvSpPr>
              <p:cNvPr name="Freeform 20" id="20"/>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535659"/>
              </a:solidFill>
            </p:spPr>
          </p:sp>
          <p:sp>
            <p:nvSpPr>
              <p:cNvPr name="TextBox 21" id="21"/>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22" id="22"/>
            <p:cNvGrpSpPr/>
            <p:nvPr/>
          </p:nvGrpSpPr>
          <p:grpSpPr>
            <a:xfrm rot="2252144">
              <a:off x="4180100" y="3525007"/>
              <a:ext cx="7399579" cy="7432687"/>
              <a:chOff x="0" y="0"/>
              <a:chExt cx="2816645" cy="2829248"/>
            </a:xfrm>
          </p:grpSpPr>
          <p:sp>
            <p:nvSpPr>
              <p:cNvPr name="Freeform 23" id="23"/>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858789"/>
              </a:solidFill>
            </p:spPr>
          </p:sp>
          <p:sp>
            <p:nvSpPr>
              <p:cNvPr name="TextBox 24" id="24"/>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grpSp>
        <p:nvGrpSpPr>
          <p:cNvPr name="Group 25" id="25"/>
          <p:cNvGrpSpPr/>
          <p:nvPr/>
        </p:nvGrpSpPr>
        <p:grpSpPr>
          <a:xfrm rot="0">
            <a:off x="15665503" y="317552"/>
            <a:ext cx="2042119" cy="650325"/>
            <a:chOff x="0" y="0"/>
            <a:chExt cx="537842" cy="171279"/>
          </a:xfrm>
        </p:grpSpPr>
        <p:sp>
          <p:nvSpPr>
            <p:cNvPr name="Freeform 26" id="26"/>
            <p:cNvSpPr/>
            <p:nvPr/>
          </p:nvSpPr>
          <p:spPr>
            <a:xfrm flipH="false" flipV="false" rot="0">
              <a:off x="0" y="0"/>
              <a:ext cx="537842" cy="171279"/>
            </a:xfrm>
            <a:custGeom>
              <a:avLst/>
              <a:gdLst/>
              <a:ahLst/>
              <a:cxnLst/>
              <a:rect r="r" b="b" t="t" l="l"/>
              <a:pathLst>
                <a:path h="171279" w="537842">
                  <a:moveTo>
                    <a:pt x="53076" y="0"/>
                  </a:moveTo>
                  <a:lnTo>
                    <a:pt x="484766" y="0"/>
                  </a:lnTo>
                  <a:cubicBezTo>
                    <a:pt x="514079" y="0"/>
                    <a:pt x="537842" y="23763"/>
                    <a:pt x="537842" y="53076"/>
                  </a:cubicBezTo>
                  <a:lnTo>
                    <a:pt x="537842" y="118203"/>
                  </a:lnTo>
                  <a:cubicBezTo>
                    <a:pt x="537842" y="132280"/>
                    <a:pt x="532250" y="145780"/>
                    <a:pt x="522296" y="155734"/>
                  </a:cubicBezTo>
                  <a:cubicBezTo>
                    <a:pt x="512343" y="165687"/>
                    <a:pt x="498843" y="171279"/>
                    <a:pt x="484766" y="171279"/>
                  </a:cubicBezTo>
                  <a:lnTo>
                    <a:pt x="53076" y="171279"/>
                  </a:lnTo>
                  <a:cubicBezTo>
                    <a:pt x="38999" y="171279"/>
                    <a:pt x="25499" y="165687"/>
                    <a:pt x="15546" y="155734"/>
                  </a:cubicBezTo>
                  <a:cubicBezTo>
                    <a:pt x="5592" y="145780"/>
                    <a:pt x="0" y="132280"/>
                    <a:pt x="0" y="118203"/>
                  </a:cubicBezTo>
                  <a:lnTo>
                    <a:pt x="0" y="53076"/>
                  </a:lnTo>
                  <a:cubicBezTo>
                    <a:pt x="0" y="38999"/>
                    <a:pt x="5592" y="25499"/>
                    <a:pt x="15546" y="15546"/>
                  </a:cubicBezTo>
                  <a:cubicBezTo>
                    <a:pt x="25499" y="5592"/>
                    <a:pt x="38999" y="0"/>
                    <a:pt x="53076" y="0"/>
                  </a:cubicBezTo>
                  <a:close/>
                </a:path>
              </a:pathLst>
            </a:custGeom>
            <a:solidFill>
              <a:srgbClr val="535659"/>
            </a:solidFill>
            <a:ln w="19050" cap="sq">
              <a:solidFill>
                <a:srgbClr val="243342"/>
              </a:solidFill>
              <a:prstDash val="solid"/>
              <a:miter/>
            </a:ln>
          </p:spPr>
        </p:sp>
        <p:sp>
          <p:nvSpPr>
            <p:cNvPr name="TextBox 27" id="27"/>
            <p:cNvSpPr txBox="true"/>
            <p:nvPr/>
          </p:nvSpPr>
          <p:spPr>
            <a:xfrm>
              <a:off x="0" y="-38100"/>
              <a:ext cx="537842" cy="209379"/>
            </a:xfrm>
            <a:prstGeom prst="rect">
              <a:avLst/>
            </a:prstGeom>
          </p:spPr>
          <p:txBody>
            <a:bodyPr anchor="ctr" rtlCol="false" tIns="50800" lIns="50800" bIns="50800" rIns="50800"/>
            <a:lstStyle/>
            <a:p>
              <a:pPr algn="ctr">
                <a:lnSpc>
                  <a:spcPts val="3362"/>
                </a:lnSpc>
              </a:pPr>
            </a:p>
          </p:txBody>
        </p:sp>
      </p:grpSp>
      <p:grpSp>
        <p:nvGrpSpPr>
          <p:cNvPr name="Group 28" id="28"/>
          <p:cNvGrpSpPr/>
          <p:nvPr/>
        </p:nvGrpSpPr>
        <p:grpSpPr>
          <a:xfrm rot="0">
            <a:off x="629723" y="9258300"/>
            <a:ext cx="6961669" cy="627749"/>
            <a:chOff x="0" y="0"/>
            <a:chExt cx="1833526" cy="165333"/>
          </a:xfrm>
        </p:grpSpPr>
        <p:sp>
          <p:nvSpPr>
            <p:cNvPr name="Freeform 29" id="29"/>
            <p:cNvSpPr/>
            <p:nvPr/>
          </p:nvSpPr>
          <p:spPr>
            <a:xfrm flipH="false" flipV="false" rot="0">
              <a:off x="0" y="0"/>
              <a:ext cx="1833526" cy="165333"/>
            </a:xfrm>
            <a:custGeom>
              <a:avLst/>
              <a:gdLst/>
              <a:ahLst/>
              <a:cxnLst/>
              <a:rect r="r" b="b" t="t" l="l"/>
              <a:pathLst>
                <a:path h="165333" w="1833526">
                  <a:moveTo>
                    <a:pt x="16681" y="0"/>
                  </a:moveTo>
                  <a:lnTo>
                    <a:pt x="1816845" y="0"/>
                  </a:lnTo>
                  <a:cubicBezTo>
                    <a:pt x="1821269" y="0"/>
                    <a:pt x="1825512" y="1757"/>
                    <a:pt x="1828640" y="4886"/>
                  </a:cubicBezTo>
                  <a:cubicBezTo>
                    <a:pt x="1831769" y="8014"/>
                    <a:pt x="1833526" y="12257"/>
                    <a:pt x="1833526" y="16681"/>
                  </a:cubicBezTo>
                  <a:lnTo>
                    <a:pt x="1833526" y="148652"/>
                  </a:lnTo>
                  <a:cubicBezTo>
                    <a:pt x="1833526" y="157865"/>
                    <a:pt x="1826058" y="165333"/>
                    <a:pt x="1816845" y="165333"/>
                  </a:cubicBezTo>
                  <a:lnTo>
                    <a:pt x="16681" y="165333"/>
                  </a:lnTo>
                  <a:cubicBezTo>
                    <a:pt x="7468" y="165333"/>
                    <a:pt x="0" y="157865"/>
                    <a:pt x="0" y="148652"/>
                  </a:cubicBezTo>
                  <a:lnTo>
                    <a:pt x="0" y="16681"/>
                  </a:lnTo>
                  <a:cubicBezTo>
                    <a:pt x="0" y="7468"/>
                    <a:pt x="7468" y="0"/>
                    <a:pt x="16681" y="0"/>
                  </a:cubicBezTo>
                  <a:close/>
                </a:path>
              </a:pathLst>
            </a:custGeom>
            <a:solidFill>
              <a:srgbClr val="535659"/>
            </a:solidFill>
            <a:ln w="19050" cap="sq">
              <a:solidFill>
                <a:srgbClr val="243342"/>
              </a:solidFill>
              <a:prstDash val="solid"/>
              <a:miter/>
            </a:ln>
          </p:spPr>
        </p:sp>
        <p:sp>
          <p:nvSpPr>
            <p:cNvPr name="TextBox 30" id="30"/>
            <p:cNvSpPr txBox="true"/>
            <p:nvPr/>
          </p:nvSpPr>
          <p:spPr>
            <a:xfrm>
              <a:off x="0" y="-38100"/>
              <a:ext cx="1833526" cy="203433"/>
            </a:xfrm>
            <a:prstGeom prst="rect">
              <a:avLst/>
            </a:prstGeom>
          </p:spPr>
          <p:txBody>
            <a:bodyPr anchor="ctr" rtlCol="false" tIns="50800" lIns="50800" bIns="50800" rIns="50800"/>
            <a:lstStyle/>
            <a:p>
              <a:pPr algn="ctr">
                <a:lnSpc>
                  <a:spcPts val="3362"/>
                </a:lnSpc>
              </a:pPr>
            </a:p>
          </p:txBody>
        </p:sp>
      </p:grpSp>
      <p:sp>
        <p:nvSpPr>
          <p:cNvPr name="TextBox 31" id="31"/>
          <p:cNvSpPr txBox="true"/>
          <p:nvPr/>
        </p:nvSpPr>
        <p:spPr>
          <a:xfrm rot="0">
            <a:off x="551143" y="9305925"/>
            <a:ext cx="7118830" cy="444454"/>
          </a:xfrm>
          <a:prstGeom prst="rect">
            <a:avLst/>
          </a:prstGeom>
        </p:spPr>
        <p:txBody>
          <a:bodyPr anchor="t" rtlCol="false" tIns="0" lIns="0" bIns="0" rIns="0">
            <a:spAutoFit/>
          </a:bodyPr>
          <a:lstStyle/>
          <a:p>
            <a:pPr algn="ctr">
              <a:lnSpc>
                <a:spcPts val="2800"/>
              </a:lnSpc>
            </a:pPr>
            <a:r>
              <a:rPr lang="en-US" sz="2000" spc="120">
                <a:solidFill>
                  <a:srgbClr val="FFFFFF"/>
                </a:solidFill>
                <a:latin typeface="Karnchang"/>
                <a:ea typeface="Karnchang"/>
                <a:cs typeface="Karnchang"/>
                <a:sym typeface="Karnchang"/>
              </a:rPr>
              <a:t>Murad Naser |  Universitas Fauget | Ekonomi | 2025</a:t>
            </a:r>
          </a:p>
        </p:txBody>
      </p:sp>
      <p:grpSp>
        <p:nvGrpSpPr>
          <p:cNvPr name="Group 32" id="32"/>
          <p:cNvGrpSpPr/>
          <p:nvPr/>
        </p:nvGrpSpPr>
        <p:grpSpPr>
          <a:xfrm rot="0">
            <a:off x="629723" y="9258300"/>
            <a:ext cx="9916004" cy="627749"/>
            <a:chOff x="0" y="0"/>
            <a:chExt cx="2611622" cy="165333"/>
          </a:xfrm>
        </p:grpSpPr>
        <p:sp>
          <p:nvSpPr>
            <p:cNvPr name="Freeform 33" id="33"/>
            <p:cNvSpPr/>
            <p:nvPr/>
          </p:nvSpPr>
          <p:spPr>
            <a:xfrm flipH="false" flipV="false" rot="0">
              <a:off x="0" y="0"/>
              <a:ext cx="2611622" cy="165333"/>
            </a:xfrm>
            <a:custGeom>
              <a:avLst/>
              <a:gdLst/>
              <a:ahLst/>
              <a:cxnLst/>
              <a:rect r="r" b="b" t="t" l="l"/>
              <a:pathLst>
                <a:path h="165333" w="2611622">
                  <a:moveTo>
                    <a:pt x="11711" y="0"/>
                  </a:moveTo>
                  <a:lnTo>
                    <a:pt x="2599911" y="0"/>
                  </a:lnTo>
                  <a:cubicBezTo>
                    <a:pt x="2606379" y="0"/>
                    <a:pt x="2611622" y="5243"/>
                    <a:pt x="2611622" y="11711"/>
                  </a:cubicBezTo>
                  <a:lnTo>
                    <a:pt x="2611622" y="153622"/>
                  </a:lnTo>
                  <a:cubicBezTo>
                    <a:pt x="2611622" y="156728"/>
                    <a:pt x="2610389" y="159707"/>
                    <a:pt x="2608192" y="161903"/>
                  </a:cubicBezTo>
                  <a:cubicBezTo>
                    <a:pt x="2605996" y="164099"/>
                    <a:pt x="2603017" y="165333"/>
                    <a:pt x="2599911" y="165333"/>
                  </a:cubicBezTo>
                  <a:lnTo>
                    <a:pt x="11711" y="165333"/>
                  </a:lnTo>
                  <a:cubicBezTo>
                    <a:pt x="8605" y="165333"/>
                    <a:pt x="5626" y="164099"/>
                    <a:pt x="3430" y="161903"/>
                  </a:cubicBezTo>
                  <a:cubicBezTo>
                    <a:pt x="1234" y="159707"/>
                    <a:pt x="0" y="156728"/>
                    <a:pt x="0" y="153622"/>
                  </a:cubicBezTo>
                  <a:lnTo>
                    <a:pt x="0" y="11711"/>
                  </a:lnTo>
                  <a:cubicBezTo>
                    <a:pt x="0" y="8605"/>
                    <a:pt x="1234" y="5626"/>
                    <a:pt x="3430" y="3430"/>
                  </a:cubicBezTo>
                  <a:cubicBezTo>
                    <a:pt x="5626" y="1234"/>
                    <a:pt x="8605" y="0"/>
                    <a:pt x="11711" y="0"/>
                  </a:cubicBezTo>
                  <a:close/>
                </a:path>
              </a:pathLst>
            </a:custGeom>
            <a:solidFill>
              <a:srgbClr val="535659"/>
            </a:solidFill>
            <a:ln w="19050" cap="sq">
              <a:solidFill>
                <a:srgbClr val="243342"/>
              </a:solidFill>
              <a:prstDash val="solid"/>
              <a:miter/>
            </a:ln>
          </p:spPr>
        </p:sp>
        <p:sp>
          <p:nvSpPr>
            <p:cNvPr name="TextBox 34" id="34"/>
            <p:cNvSpPr txBox="true"/>
            <p:nvPr/>
          </p:nvSpPr>
          <p:spPr>
            <a:xfrm>
              <a:off x="0" y="-38100"/>
              <a:ext cx="2611622" cy="203433"/>
            </a:xfrm>
            <a:prstGeom prst="rect">
              <a:avLst/>
            </a:prstGeom>
          </p:spPr>
          <p:txBody>
            <a:bodyPr anchor="ctr" rtlCol="false" tIns="50800" lIns="50800" bIns="50800" rIns="50800"/>
            <a:lstStyle/>
            <a:p>
              <a:pPr algn="ctr">
                <a:lnSpc>
                  <a:spcPts val="3362"/>
                </a:lnSpc>
              </a:pPr>
            </a:p>
          </p:txBody>
        </p:sp>
      </p:grpSp>
      <p:sp>
        <p:nvSpPr>
          <p:cNvPr name="Freeform 35" id="35"/>
          <p:cNvSpPr/>
          <p:nvPr/>
        </p:nvSpPr>
        <p:spPr>
          <a:xfrm flipH="false" flipV="false" rot="0">
            <a:off x="1984374" y="2341023"/>
            <a:ext cx="7159626" cy="1960128"/>
          </a:xfrm>
          <a:custGeom>
            <a:avLst/>
            <a:gdLst/>
            <a:ahLst/>
            <a:cxnLst/>
            <a:rect r="r" b="b" t="t" l="l"/>
            <a:pathLst>
              <a:path h="1960128" w="7159626">
                <a:moveTo>
                  <a:pt x="0" y="0"/>
                </a:moveTo>
                <a:lnTo>
                  <a:pt x="7159626" y="0"/>
                </a:lnTo>
                <a:lnTo>
                  <a:pt x="7159626" y="1960128"/>
                </a:lnTo>
                <a:lnTo>
                  <a:pt x="0" y="1960128"/>
                </a:lnTo>
                <a:lnTo>
                  <a:pt x="0" y="0"/>
                </a:lnTo>
                <a:close/>
              </a:path>
            </a:pathLst>
          </a:custGeom>
          <a:blipFill>
            <a:blip r:embed="rId2"/>
            <a:stretch>
              <a:fillRect l="0" t="0" r="0" b="0"/>
            </a:stretch>
          </a:blipFill>
        </p:spPr>
      </p:sp>
      <p:sp>
        <p:nvSpPr>
          <p:cNvPr name="Freeform 36" id="36"/>
          <p:cNvSpPr/>
          <p:nvPr/>
        </p:nvSpPr>
        <p:spPr>
          <a:xfrm flipH="false" flipV="false" rot="0">
            <a:off x="1984374" y="4634526"/>
            <a:ext cx="4242960" cy="3444285"/>
          </a:xfrm>
          <a:custGeom>
            <a:avLst/>
            <a:gdLst/>
            <a:ahLst/>
            <a:cxnLst/>
            <a:rect r="r" b="b" t="t" l="l"/>
            <a:pathLst>
              <a:path h="3444285" w="4242960">
                <a:moveTo>
                  <a:pt x="0" y="0"/>
                </a:moveTo>
                <a:lnTo>
                  <a:pt x="4242960" y="0"/>
                </a:lnTo>
                <a:lnTo>
                  <a:pt x="4242960" y="3444286"/>
                </a:lnTo>
                <a:lnTo>
                  <a:pt x="0" y="3444286"/>
                </a:lnTo>
                <a:lnTo>
                  <a:pt x="0" y="0"/>
                </a:lnTo>
                <a:close/>
              </a:path>
            </a:pathLst>
          </a:custGeom>
          <a:blipFill>
            <a:blip r:embed="rId3"/>
            <a:stretch>
              <a:fillRect l="0" t="0" r="0" b="0"/>
            </a:stretch>
          </a:blipFill>
        </p:spPr>
      </p:sp>
      <p:sp>
        <p:nvSpPr>
          <p:cNvPr name="Freeform 37" id="37"/>
          <p:cNvSpPr/>
          <p:nvPr/>
        </p:nvSpPr>
        <p:spPr>
          <a:xfrm flipH="false" flipV="false" rot="0">
            <a:off x="6547433" y="4634526"/>
            <a:ext cx="4152015" cy="3444285"/>
          </a:xfrm>
          <a:custGeom>
            <a:avLst/>
            <a:gdLst/>
            <a:ahLst/>
            <a:cxnLst/>
            <a:rect r="r" b="b" t="t" l="l"/>
            <a:pathLst>
              <a:path h="3444285" w="4152015">
                <a:moveTo>
                  <a:pt x="0" y="0"/>
                </a:moveTo>
                <a:lnTo>
                  <a:pt x="4152015" y="0"/>
                </a:lnTo>
                <a:lnTo>
                  <a:pt x="4152015" y="3444286"/>
                </a:lnTo>
                <a:lnTo>
                  <a:pt x="0" y="3444286"/>
                </a:lnTo>
                <a:lnTo>
                  <a:pt x="0" y="0"/>
                </a:lnTo>
                <a:close/>
              </a:path>
            </a:pathLst>
          </a:custGeom>
          <a:blipFill>
            <a:blip r:embed="rId4"/>
            <a:stretch>
              <a:fillRect l="0" t="0" r="0" b="0"/>
            </a:stretch>
          </a:blipFill>
        </p:spPr>
      </p:sp>
      <p:sp>
        <p:nvSpPr>
          <p:cNvPr name="Freeform 38" id="38"/>
          <p:cNvSpPr/>
          <p:nvPr/>
        </p:nvSpPr>
        <p:spPr>
          <a:xfrm flipH="false" flipV="false" rot="0">
            <a:off x="11023298" y="2964013"/>
            <a:ext cx="5940416" cy="5114799"/>
          </a:xfrm>
          <a:custGeom>
            <a:avLst/>
            <a:gdLst/>
            <a:ahLst/>
            <a:cxnLst/>
            <a:rect r="r" b="b" t="t" l="l"/>
            <a:pathLst>
              <a:path h="5114799" w="5940416">
                <a:moveTo>
                  <a:pt x="0" y="0"/>
                </a:moveTo>
                <a:lnTo>
                  <a:pt x="5940416" y="0"/>
                </a:lnTo>
                <a:lnTo>
                  <a:pt x="5940416" y="5114799"/>
                </a:lnTo>
                <a:lnTo>
                  <a:pt x="0" y="5114799"/>
                </a:lnTo>
                <a:lnTo>
                  <a:pt x="0" y="0"/>
                </a:lnTo>
                <a:close/>
              </a:path>
            </a:pathLst>
          </a:custGeom>
          <a:blipFill>
            <a:blip r:embed="rId5"/>
            <a:stretch>
              <a:fillRect l="0" t="0" r="0" b="0"/>
            </a:stretch>
          </a:blipFill>
        </p:spPr>
      </p:sp>
      <p:sp>
        <p:nvSpPr>
          <p:cNvPr name="TextBox 39" id="39"/>
          <p:cNvSpPr txBox="true"/>
          <p:nvPr/>
        </p:nvSpPr>
        <p:spPr>
          <a:xfrm rot="0">
            <a:off x="1984374" y="904875"/>
            <a:ext cx="14319253" cy="1107440"/>
          </a:xfrm>
          <a:prstGeom prst="rect">
            <a:avLst/>
          </a:prstGeom>
        </p:spPr>
        <p:txBody>
          <a:bodyPr anchor="t" rtlCol="false" tIns="0" lIns="0" bIns="0" rIns="0">
            <a:spAutoFit/>
          </a:bodyPr>
          <a:lstStyle/>
          <a:p>
            <a:pPr algn="ctr">
              <a:lnSpc>
                <a:spcPts val="5980"/>
              </a:lnSpc>
            </a:pPr>
            <a:r>
              <a:rPr lang="en-US" sz="6500" b="true">
                <a:solidFill>
                  <a:srgbClr val="243342"/>
                </a:solidFill>
                <a:latin typeface="Karnchang Bold"/>
                <a:ea typeface="Karnchang Bold"/>
                <a:cs typeface="Karnchang Bold"/>
                <a:sym typeface="Karnchang Bold"/>
              </a:rPr>
              <a:t>Microwave sparse array SIAR system</a:t>
            </a:r>
          </a:p>
        </p:txBody>
      </p:sp>
      <p:sp>
        <p:nvSpPr>
          <p:cNvPr name="TextBox 40" id="40"/>
          <p:cNvSpPr txBox="true"/>
          <p:nvPr/>
        </p:nvSpPr>
        <p:spPr>
          <a:xfrm rot="0">
            <a:off x="15621459" y="349050"/>
            <a:ext cx="2168307" cy="444500"/>
          </a:xfrm>
          <a:prstGeom prst="rect">
            <a:avLst/>
          </a:prstGeom>
        </p:spPr>
        <p:txBody>
          <a:bodyPr anchor="t" rtlCol="false" tIns="0" lIns="0" bIns="0" rIns="0">
            <a:spAutoFit/>
          </a:bodyPr>
          <a:lstStyle/>
          <a:p>
            <a:pPr algn="ctr">
              <a:lnSpc>
                <a:spcPts val="2800"/>
              </a:lnSpc>
            </a:pPr>
            <a:r>
              <a:rPr lang="en-US" sz="2000" spc="120">
                <a:solidFill>
                  <a:srgbClr val="FFFFFF"/>
                </a:solidFill>
                <a:latin typeface="Karnchang"/>
                <a:ea typeface="Karnchang"/>
                <a:cs typeface="Karnchang"/>
                <a:sym typeface="Karnchang"/>
              </a:rPr>
              <a:t>Halaman 15</a:t>
            </a:r>
          </a:p>
        </p:txBody>
      </p:sp>
      <p:sp>
        <p:nvSpPr>
          <p:cNvPr name="TextBox 41" id="41"/>
          <p:cNvSpPr txBox="true"/>
          <p:nvPr/>
        </p:nvSpPr>
        <p:spPr>
          <a:xfrm rot="0">
            <a:off x="551143" y="9305925"/>
            <a:ext cx="9994584" cy="444500"/>
          </a:xfrm>
          <a:prstGeom prst="rect">
            <a:avLst/>
          </a:prstGeom>
        </p:spPr>
        <p:txBody>
          <a:bodyPr anchor="t" rtlCol="false" tIns="0" lIns="0" bIns="0" rIns="0">
            <a:spAutoFit/>
          </a:bodyPr>
          <a:lstStyle/>
          <a:p>
            <a:pPr algn="ctr">
              <a:lnSpc>
                <a:spcPts val="2800"/>
              </a:lnSpc>
            </a:pPr>
            <a:r>
              <a:rPr lang="en-US" sz="2000" spc="120">
                <a:solidFill>
                  <a:srgbClr val="FFFFFF"/>
                </a:solidFill>
                <a:latin typeface="Karnchang"/>
                <a:ea typeface="Karnchang"/>
                <a:cs typeface="Karnchang"/>
                <a:sym typeface="Karnchang"/>
              </a:rPr>
              <a:t>Abdul Rozak A |  Politeknik Negeri Bandung | Teknik Telekomuniakasi | 2024</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E6EAEF"/>
        </a:solidFill>
      </p:bgPr>
    </p:bg>
    <p:spTree>
      <p:nvGrpSpPr>
        <p:cNvPr id="1" name=""/>
        <p:cNvGrpSpPr/>
        <p:nvPr/>
      </p:nvGrpSpPr>
      <p:grpSpPr>
        <a:xfrm>
          <a:off x="0" y="0"/>
          <a:ext cx="0" cy="0"/>
          <a:chOff x="0" y="0"/>
          <a:chExt cx="0" cy="0"/>
        </a:xfrm>
      </p:grpSpPr>
      <p:grpSp>
        <p:nvGrpSpPr>
          <p:cNvPr name="Group 2" id="2"/>
          <p:cNvGrpSpPr/>
          <p:nvPr/>
        </p:nvGrpSpPr>
        <p:grpSpPr>
          <a:xfrm rot="0">
            <a:off x="787067" y="317552"/>
            <a:ext cx="16713866" cy="9101117"/>
            <a:chOff x="0" y="0"/>
            <a:chExt cx="4402006" cy="2397002"/>
          </a:xfrm>
        </p:grpSpPr>
        <p:sp>
          <p:nvSpPr>
            <p:cNvPr name="Freeform 3" id="3"/>
            <p:cNvSpPr/>
            <p:nvPr/>
          </p:nvSpPr>
          <p:spPr>
            <a:xfrm flipH="false" flipV="false" rot="0">
              <a:off x="0" y="0"/>
              <a:ext cx="4402006" cy="2397002"/>
            </a:xfrm>
            <a:custGeom>
              <a:avLst/>
              <a:gdLst/>
              <a:ahLst/>
              <a:cxnLst/>
              <a:rect r="r" b="b" t="t" l="l"/>
              <a:pathLst>
                <a:path h="2397002" w="4402006">
                  <a:moveTo>
                    <a:pt x="23623" y="0"/>
                  </a:moveTo>
                  <a:lnTo>
                    <a:pt x="4378382" y="0"/>
                  </a:lnTo>
                  <a:cubicBezTo>
                    <a:pt x="4391429" y="0"/>
                    <a:pt x="4402006" y="10577"/>
                    <a:pt x="4402006" y="23623"/>
                  </a:cubicBezTo>
                  <a:lnTo>
                    <a:pt x="4402006" y="2373379"/>
                  </a:lnTo>
                  <a:cubicBezTo>
                    <a:pt x="4402006" y="2379644"/>
                    <a:pt x="4399517" y="2385653"/>
                    <a:pt x="4395087" y="2390083"/>
                  </a:cubicBezTo>
                  <a:cubicBezTo>
                    <a:pt x="4390656" y="2394513"/>
                    <a:pt x="4384647" y="2397002"/>
                    <a:pt x="4378382" y="2397002"/>
                  </a:cubicBezTo>
                  <a:lnTo>
                    <a:pt x="23623" y="2397002"/>
                  </a:lnTo>
                  <a:cubicBezTo>
                    <a:pt x="17358" y="2397002"/>
                    <a:pt x="11349" y="2394513"/>
                    <a:pt x="6919" y="2390083"/>
                  </a:cubicBezTo>
                  <a:cubicBezTo>
                    <a:pt x="2489" y="2385653"/>
                    <a:pt x="0" y="2379644"/>
                    <a:pt x="0" y="2373379"/>
                  </a:cubicBezTo>
                  <a:lnTo>
                    <a:pt x="0" y="23623"/>
                  </a:lnTo>
                  <a:cubicBezTo>
                    <a:pt x="0" y="17358"/>
                    <a:pt x="2489" y="11349"/>
                    <a:pt x="6919" y="6919"/>
                  </a:cubicBezTo>
                  <a:cubicBezTo>
                    <a:pt x="11349" y="2489"/>
                    <a:pt x="17358" y="0"/>
                    <a:pt x="23623" y="0"/>
                  </a:cubicBezTo>
                  <a:close/>
                </a:path>
              </a:pathLst>
            </a:custGeom>
            <a:solidFill>
              <a:srgbClr val="E6EAEF"/>
            </a:solidFill>
            <a:ln w="19050" cap="rnd">
              <a:solidFill>
                <a:srgbClr val="243342"/>
              </a:solidFill>
              <a:prstDash val="solid"/>
              <a:round/>
            </a:ln>
          </p:spPr>
        </p:sp>
        <p:sp>
          <p:nvSpPr>
            <p:cNvPr name="TextBox 4" id="4"/>
            <p:cNvSpPr txBox="true"/>
            <p:nvPr/>
          </p:nvSpPr>
          <p:spPr>
            <a:xfrm>
              <a:off x="0" y="-38100"/>
              <a:ext cx="4402006" cy="2435102"/>
            </a:xfrm>
            <a:prstGeom prst="rect">
              <a:avLst/>
            </a:prstGeom>
          </p:spPr>
          <p:txBody>
            <a:bodyPr anchor="ctr" rtlCol="false" tIns="50800" lIns="50800" bIns="50800" rIns="50800"/>
            <a:lstStyle/>
            <a:p>
              <a:pPr algn="ctr">
                <a:lnSpc>
                  <a:spcPts val="3362"/>
                </a:lnSpc>
              </a:pPr>
            </a:p>
          </p:txBody>
        </p:sp>
      </p:grpSp>
      <p:grpSp>
        <p:nvGrpSpPr>
          <p:cNvPr name="Group 5" id="5"/>
          <p:cNvGrpSpPr/>
          <p:nvPr/>
        </p:nvGrpSpPr>
        <p:grpSpPr>
          <a:xfrm rot="-7538080">
            <a:off x="-7029811" y="-5584933"/>
            <a:ext cx="9808447" cy="9331824"/>
            <a:chOff x="0" y="0"/>
            <a:chExt cx="13077930" cy="12442432"/>
          </a:xfrm>
        </p:grpSpPr>
        <p:grpSp>
          <p:nvGrpSpPr>
            <p:cNvPr name="Group 6" id="6"/>
            <p:cNvGrpSpPr/>
            <p:nvPr/>
          </p:nvGrpSpPr>
          <p:grpSpPr>
            <a:xfrm rot="2252144">
              <a:off x="1498251" y="1484738"/>
              <a:ext cx="7399579" cy="7432687"/>
              <a:chOff x="0" y="0"/>
              <a:chExt cx="2816645" cy="2829248"/>
            </a:xfrm>
          </p:grpSpPr>
          <p:sp>
            <p:nvSpPr>
              <p:cNvPr name="Freeform 7" id="7"/>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243342"/>
              </a:solidFill>
            </p:spPr>
          </p:sp>
          <p:sp>
            <p:nvSpPr>
              <p:cNvPr name="TextBox 8" id="8"/>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2252144">
              <a:off x="2397493" y="3224228"/>
              <a:ext cx="7399579" cy="7432687"/>
              <a:chOff x="0" y="0"/>
              <a:chExt cx="2816645" cy="2829248"/>
            </a:xfrm>
          </p:grpSpPr>
          <p:sp>
            <p:nvSpPr>
              <p:cNvPr name="Freeform 10" id="10"/>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535659"/>
              </a:solidFill>
            </p:spPr>
          </p:sp>
          <p:sp>
            <p:nvSpPr>
              <p:cNvPr name="TextBox 11" id="11"/>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2252144">
              <a:off x="4180100" y="3525007"/>
              <a:ext cx="7399579" cy="7432687"/>
              <a:chOff x="0" y="0"/>
              <a:chExt cx="2816645" cy="2829248"/>
            </a:xfrm>
          </p:grpSpPr>
          <p:sp>
            <p:nvSpPr>
              <p:cNvPr name="Freeform 13" id="13"/>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858789"/>
              </a:solidFill>
            </p:spPr>
          </p:sp>
          <p:sp>
            <p:nvSpPr>
              <p:cNvPr name="TextBox 14" id="14"/>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grpSp>
        <p:nvGrpSpPr>
          <p:cNvPr name="Group 15" id="15"/>
          <p:cNvGrpSpPr/>
          <p:nvPr/>
        </p:nvGrpSpPr>
        <p:grpSpPr>
          <a:xfrm rot="2124477">
            <a:off x="15979122" y="5429903"/>
            <a:ext cx="9808447" cy="9331824"/>
            <a:chOff x="0" y="0"/>
            <a:chExt cx="13077930" cy="12442432"/>
          </a:xfrm>
        </p:grpSpPr>
        <p:grpSp>
          <p:nvGrpSpPr>
            <p:cNvPr name="Group 16" id="16"/>
            <p:cNvGrpSpPr/>
            <p:nvPr/>
          </p:nvGrpSpPr>
          <p:grpSpPr>
            <a:xfrm rot="2252144">
              <a:off x="1498251" y="1484738"/>
              <a:ext cx="7399579" cy="7432687"/>
              <a:chOff x="0" y="0"/>
              <a:chExt cx="2816645" cy="2829248"/>
            </a:xfrm>
          </p:grpSpPr>
          <p:sp>
            <p:nvSpPr>
              <p:cNvPr name="Freeform 17" id="17"/>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243342"/>
              </a:solidFill>
            </p:spPr>
          </p:sp>
          <p:sp>
            <p:nvSpPr>
              <p:cNvPr name="TextBox 18" id="18"/>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19" id="19"/>
            <p:cNvGrpSpPr/>
            <p:nvPr/>
          </p:nvGrpSpPr>
          <p:grpSpPr>
            <a:xfrm rot="2252144">
              <a:off x="2397493" y="3224228"/>
              <a:ext cx="7399579" cy="7432687"/>
              <a:chOff x="0" y="0"/>
              <a:chExt cx="2816645" cy="2829248"/>
            </a:xfrm>
          </p:grpSpPr>
          <p:sp>
            <p:nvSpPr>
              <p:cNvPr name="Freeform 20" id="20"/>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535659"/>
              </a:solidFill>
            </p:spPr>
          </p:sp>
          <p:sp>
            <p:nvSpPr>
              <p:cNvPr name="TextBox 21" id="21"/>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22" id="22"/>
            <p:cNvGrpSpPr/>
            <p:nvPr/>
          </p:nvGrpSpPr>
          <p:grpSpPr>
            <a:xfrm rot="2252144">
              <a:off x="4180100" y="3525007"/>
              <a:ext cx="7399579" cy="7432687"/>
              <a:chOff x="0" y="0"/>
              <a:chExt cx="2816645" cy="2829248"/>
            </a:xfrm>
          </p:grpSpPr>
          <p:sp>
            <p:nvSpPr>
              <p:cNvPr name="Freeform 23" id="23"/>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858789"/>
              </a:solidFill>
            </p:spPr>
          </p:sp>
          <p:sp>
            <p:nvSpPr>
              <p:cNvPr name="TextBox 24" id="24"/>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grpSp>
        <p:nvGrpSpPr>
          <p:cNvPr name="Group 25" id="25"/>
          <p:cNvGrpSpPr>
            <a:grpSpLocks noChangeAspect="true"/>
          </p:cNvGrpSpPr>
          <p:nvPr/>
        </p:nvGrpSpPr>
        <p:grpSpPr>
          <a:xfrm rot="0">
            <a:off x="1490452" y="3745408"/>
            <a:ext cx="6458391" cy="4848531"/>
            <a:chOff x="0" y="0"/>
            <a:chExt cx="8916670" cy="6694043"/>
          </a:xfrm>
        </p:grpSpPr>
        <p:sp>
          <p:nvSpPr>
            <p:cNvPr name="Freeform 26" id="26"/>
            <p:cNvSpPr/>
            <p:nvPr/>
          </p:nvSpPr>
          <p:spPr>
            <a:xfrm flipH="false" flipV="false" rot="0">
              <a:off x="155575" y="155575"/>
              <a:ext cx="8605520" cy="6382893"/>
            </a:xfrm>
            <a:custGeom>
              <a:avLst/>
              <a:gdLst/>
              <a:ahLst/>
              <a:cxnLst/>
              <a:rect r="r" b="b" t="t" l="l"/>
              <a:pathLst>
                <a:path h="6382893" w="8605520">
                  <a:moveTo>
                    <a:pt x="0" y="0"/>
                  </a:moveTo>
                  <a:lnTo>
                    <a:pt x="8605520" y="0"/>
                  </a:lnTo>
                  <a:lnTo>
                    <a:pt x="8605520" y="6382893"/>
                  </a:lnTo>
                  <a:lnTo>
                    <a:pt x="0" y="6382893"/>
                  </a:lnTo>
                  <a:close/>
                </a:path>
              </a:pathLst>
            </a:custGeom>
            <a:blipFill>
              <a:blip r:embed="rId2"/>
              <a:stretch>
                <a:fillRect l="-20808" t="0" r="-20808" b="0"/>
              </a:stretch>
            </a:blipFill>
          </p:spPr>
        </p:sp>
        <p:sp>
          <p:nvSpPr>
            <p:cNvPr name="Freeform 27" id="27"/>
            <p:cNvSpPr/>
            <p:nvPr/>
          </p:nvSpPr>
          <p:spPr>
            <a:xfrm flipH="false" flipV="false" rot="0">
              <a:off x="6350" y="6350"/>
              <a:ext cx="8903970" cy="6681343"/>
            </a:xfrm>
            <a:custGeom>
              <a:avLst/>
              <a:gdLst/>
              <a:ahLst/>
              <a:cxnLst/>
              <a:rect r="r" b="b" t="t" l="l"/>
              <a:pathLst>
                <a:path h="6681343" w="8903970">
                  <a:moveTo>
                    <a:pt x="8903970" y="6681343"/>
                  </a:moveTo>
                  <a:lnTo>
                    <a:pt x="0" y="6681343"/>
                  </a:lnTo>
                  <a:lnTo>
                    <a:pt x="0" y="0"/>
                  </a:lnTo>
                  <a:lnTo>
                    <a:pt x="8903970" y="0"/>
                  </a:lnTo>
                  <a:lnTo>
                    <a:pt x="8903970" y="6681343"/>
                  </a:lnTo>
                  <a:close/>
                  <a:moveTo>
                    <a:pt x="19050" y="6662293"/>
                  </a:moveTo>
                  <a:lnTo>
                    <a:pt x="8884920" y="6662293"/>
                  </a:lnTo>
                  <a:lnTo>
                    <a:pt x="8884920" y="19050"/>
                  </a:lnTo>
                  <a:lnTo>
                    <a:pt x="19050" y="19050"/>
                  </a:lnTo>
                  <a:lnTo>
                    <a:pt x="19050" y="6662293"/>
                  </a:lnTo>
                  <a:close/>
                  <a:moveTo>
                    <a:pt x="8764270" y="6541643"/>
                  </a:moveTo>
                  <a:lnTo>
                    <a:pt x="139700" y="6541643"/>
                  </a:lnTo>
                  <a:lnTo>
                    <a:pt x="139700" y="139700"/>
                  </a:lnTo>
                  <a:lnTo>
                    <a:pt x="8764270" y="139700"/>
                  </a:lnTo>
                  <a:lnTo>
                    <a:pt x="8764270" y="6541643"/>
                  </a:lnTo>
                  <a:close/>
                  <a:moveTo>
                    <a:pt x="158750" y="6522593"/>
                  </a:moveTo>
                  <a:lnTo>
                    <a:pt x="8745220" y="6522593"/>
                  </a:lnTo>
                  <a:lnTo>
                    <a:pt x="8745220" y="158750"/>
                  </a:lnTo>
                  <a:lnTo>
                    <a:pt x="158750" y="158750"/>
                  </a:lnTo>
                  <a:lnTo>
                    <a:pt x="158750" y="6522593"/>
                  </a:lnTo>
                  <a:close/>
                </a:path>
              </a:pathLst>
            </a:custGeom>
            <a:solidFill>
              <a:srgbClr val="535659"/>
            </a:solidFill>
          </p:spPr>
        </p:sp>
      </p:grpSp>
      <p:sp>
        <p:nvSpPr>
          <p:cNvPr name="TextBox 28" id="28"/>
          <p:cNvSpPr txBox="true"/>
          <p:nvPr/>
        </p:nvSpPr>
        <p:spPr>
          <a:xfrm rot="0">
            <a:off x="1490452" y="819150"/>
            <a:ext cx="6584507" cy="1727199"/>
          </a:xfrm>
          <a:prstGeom prst="rect">
            <a:avLst/>
          </a:prstGeom>
        </p:spPr>
        <p:txBody>
          <a:bodyPr anchor="t" rtlCol="false" tIns="0" lIns="0" bIns="0" rIns="0">
            <a:spAutoFit/>
          </a:bodyPr>
          <a:lstStyle/>
          <a:p>
            <a:pPr algn="ctr">
              <a:lnSpc>
                <a:spcPts val="9199"/>
              </a:lnSpc>
            </a:pPr>
            <a:r>
              <a:rPr lang="en-US" b="true" sz="9999">
                <a:solidFill>
                  <a:srgbClr val="243342"/>
                </a:solidFill>
                <a:latin typeface="Karnchang Bold"/>
                <a:ea typeface="Karnchang Bold"/>
                <a:cs typeface="Karnchang Bold"/>
                <a:sym typeface="Karnchang Bold"/>
              </a:rPr>
              <a:t>BAB IV</a:t>
            </a:r>
          </a:p>
        </p:txBody>
      </p:sp>
      <p:grpSp>
        <p:nvGrpSpPr>
          <p:cNvPr name="Group 29" id="29"/>
          <p:cNvGrpSpPr/>
          <p:nvPr/>
        </p:nvGrpSpPr>
        <p:grpSpPr>
          <a:xfrm rot="0">
            <a:off x="8585553" y="1570977"/>
            <a:ext cx="8304195" cy="2174431"/>
            <a:chOff x="0" y="0"/>
            <a:chExt cx="2187113" cy="572690"/>
          </a:xfrm>
        </p:grpSpPr>
        <p:sp>
          <p:nvSpPr>
            <p:cNvPr name="Freeform 30" id="30"/>
            <p:cNvSpPr/>
            <p:nvPr/>
          </p:nvSpPr>
          <p:spPr>
            <a:xfrm flipH="false" flipV="false" rot="0">
              <a:off x="0" y="0"/>
              <a:ext cx="2187113" cy="572690"/>
            </a:xfrm>
            <a:custGeom>
              <a:avLst/>
              <a:gdLst/>
              <a:ahLst/>
              <a:cxnLst/>
              <a:rect r="r" b="b" t="t" l="l"/>
              <a:pathLst>
                <a:path h="572690" w="2187113">
                  <a:moveTo>
                    <a:pt x="47547" y="0"/>
                  </a:moveTo>
                  <a:lnTo>
                    <a:pt x="2139566" y="0"/>
                  </a:lnTo>
                  <a:cubicBezTo>
                    <a:pt x="2152177" y="0"/>
                    <a:pt x="2164270" y="5009"/>
                    <a:pt x="2173187" y="13926"/>
                  </a:cubicBezTo>
                  <a:cubicBezTo>
                    <a:pt x="2182104" y="22843"/>
                    <a:pt x="2187113" y="34937"/>
                    <a:pt x="2187113" y="47547"/>
                  </a:cubicBezTo>
                  <a:lnTo>
                    <a:pt x="2187113" y="525143"/>
                  </a:lnTo>
                  <a:cubicBezTo>
                    <a:pt x="2187113" y="537753"/>
                    <a:pt x="2182104" y="549847"/>
                    <a:pt x="2173187" y="558764"/>
                  </a:cubicBezTo>
                  <a:cubicBezTo>
                    <a:pt x="2164270" y="567680"/>
                    <a:pt x="2152177" y="572690"/>
                    <a:pt x="2139566" y="572690"/>
                  </a:cubicBezTo>
                  <a:lnTo>
                    <a:pt x="47547" y="572690"/>
                  </a:lnTo>
                  <a:cubicBezTo>
                    <a:pt x="34937" y="572690"/>
                    <a:pt x="22843" y="567680"/>
                    <a:pt x="13926" y="558764"/>
                  </a:cubicBezTo>
                  <a:cubicBezTo>
                    <a:pt x="5009" y="549847"/>
                    <a:pt x="0" y="537753"/>
                    <a:pt x="0" y="525143"/>
                  </a:cubicBezTo>
                  <a:lnTo>
                    <a:pt x="0" y="47547"/>
                  </a:lnTo>
                  <a:cubicBezTo>
                    <a:pt x="0" y="34937"/>
                    <a:pt x="5009" y="22843"/>
                    <a:pt x="13926" y="13926"/>
                  </a:cubicBezTo>
                  <a:cubicBezTo>
                    <a:pt x="22843" y="5009"/>
                    <a:pt x="34937" y="0"/>
                    <a:pt x="47547" y="0"/>
                  </a:cubicBezTo>
                  <a:close/>
                </a:path>
              </a:pathLst>
            </a:custGeom>
            <a:solidFill>
              <a:srgbClr val="858789">
                <a:alpha val="40000"/>
              </a:srgbClr>
            </a:solidFill>
            <a:ln w="19050" cap="rnd">
              <a:solidFill>
                <a:srgbClr val="243342">
                  <a:alpha val="40000"/>
                </a:srgbClr>
              </a:solidFill>
              <a:prstDash val="solid"/>
              <a:round/>
            </a:ln>
          </p:spPr>
        </p:sp>
        <p:sp>
          <p:nvSpPr>
            <p:cNvPr name="TextBox 31" id="31"/>
            <p:cNvSpPr txBox="true"/>
            <p:nvPr/>
          </p:nvSpPr>
          <p:spPr>
            <a:xfrm>
              <a:off x="0" y="-38100"/>
              <a:ext cx="2187113" cy="610790"/>
            </a:xfrm>
            <a:prstGeom prst="rect">
              <a:avLst/>
            </a:prstGeom>
          </p:spPr>
          <p:txBody>
            <a:bodyPr anchor="ctr" rtlCol="false" tIns="50800" lIns="50800" bIns="50800" rIns="50800"/>
            <a:lstStyle/>
            <a:p>
              <a:pPr algn="ctr">
                <a:lnSpc>
                  <a:spcPts val="3362"/>
                </a:lnSpc>
              </a:pPr>
            </a:p>
          </p:txBody>
        </p:sp>
      </p:grpSp>
      <p:sp>
        <p:nvSpPr>
          <p:cNvPr name="TextBox 32" id="32"/>
          <p:cNvSpPr txBox="true"/>
          <p:nvPr/>
        </p:nvSpPr>
        <p:spPr>
          <a:xfrm rot="0">
            <a:off x="8759558" y="1616075"/>
            <a:ext cx="7956185" cy="1934210"/>
          </a:xfrm>
          <a:prstGeom prst="rect">
            <a:avLst/>
          </a:prstGeom>
        </p:spPr>
        <p:txBody>
          <a:bodyPr anchor="t" rtlCol="false" tIns="0" lIns="0" bIns="0" rIns="0">
            <a:spAutoFit/>
          </a:bodyPr>
          <a:lstStyle/>
          <a:p>
            <a:pPr algn="just">
              <a:lnSpc>
                <a:spcPts val="3640"/>
              </a:lnSpc>
            </a:pPr>
            <a:r>
              <a:rPr lang="en-US" sz="2600">
                <a:solidFill>
                  <a:srgbClr val="000000"/>
                </a:solidFill>
                <a:latin typeface="Karnchang"/>
                <a:ea typeface="Karnchang"/>
                <a:cs typeface="Karnchang"/>
                <a:sym typeface="Karnchang"/>
              </a:rPr>
              <a:t>Dari pengenalan dan analisis di atas, kita dapat sampai pada kesimpulan bahwa SIAR adalah jenis radar MIMO khusus dengan banyak sinyal transmisi pada frekuensi berbeda.</a:t>
            </a:r>
          </a:p>
        </p:txBody>
      </p:sp>
      <p:sp>
        <p:nvSpPr>
          <p:cNvPr name="TextBox 33" id="33"/>
          <p:cNvSpPr txBox="true"/>
          <p:nvPr/>
        </p:nvSpPr>
        <p:spPr>
          <a:xfrm rot="0">
            <a:off x="1146590" y="2285344"/>
            <a:ext cx="7272231" cy="1563625"/>
          </a:xfrm>
          <a:prstGeom prst="rect">
            <a:avLst/>
          </a:prstGeom>
        </p:spPr>
        <p:txBody>
          <a:bodyPr anchor="t" rtlCol="false" tIns="0" lIns="0" bIns="0" rIns="0">
            <a:spAutoFit/>
          </a:bodyPr>
          <a:lstStyle/>
          <a:p>
            <a:pPr algn="ctr">
              <a:lnSpc>
                <a:spcPts val="4968"/>
              </a:lnSpc>
            </a:pPr>
            <a:r>
              <a:rPr lang="en-US" sz="5400" b="true">
                <a:solidFill>
                  <a:srgbClr val="000000"/>
                </a:solidFill>
                <a:latin typeface="Karnchang Bold"/>
                <a:ea typeface="Karnchang Bold"/>
                <a:cs typeface="Karnchang Bold"/>
                <a:sym typeface="Karnchang Bold"/>
              </a:rPr>
              <a:t>Konklusi dan Masa Depan SIAR</a:t>
            </a:r>
          </a:p>
        </p:txBody>
      </p:sp>
      <p:sp>
        <p:nvSpPr>
          <p:cNvPr name="TextBox 34" id="34"/>
          <p:cNvSpPr txBox="true"/>
          <p:nvPr/>
        </p:nvSpPr>
        <p:spPr>
          <a:xfrm rot="0">
            <a:off x="8759558" y="3677519"/>
            <a:ext cx="7956185" cy="4220210"/>
          </a:xfrm>
          <a:prstGeom prst="rect">
            <a:avLst/>
          </a:prstGeom>
        </p:spPr>
        <p:txBody>
          <a:bodyPr anchor="t" rtlCol="false" tIns="0" lIns="0" bIns="0" rIns="0">
            <a:spAutoFit/>
          </a:bodyPr>
          <a:lstStyle/>
          <a:p>
            <a:pPr algn="just">
              <a:lnSpc>
                <a:spcPts val="3640"/>
              </a:lnSpc>
            </a:pPr>
            <a:r>
              <a:rPr lang="en-US" sz="2600">
                <a:solidFill>
                  <a:srgbClr val="000000"/>
                </a:solidFill>
                <a:latin typeface="Karnchang"/>
                <a:ea typeface="Karnchang"/>
                <a:cs typeface="Karnchang"/>
                <a:sym typeface="Karnchang"/>
              </a:rPr>
              <a:t>Ini memiliki </a:t>
            </a:r>
            <a:r>
              <a:rPr lang="en-US" sz="2600">
                <a:solidFill>
                  <a:srgbClr val="000000"/>
                </a:solidFill>
                <a:latin typeface="Karnchang"/>
                <a:ea typeface="Karnchang"/>
                <a:cs typeface="Karnchang"/>
                <a:sym typeface="Karnchang"/>
              </a:rPr>
              <a:t>keuntungan dari lebih banyak derajat kebebasan, resolusi sudut yang lebih baik dan kinerja deteksi dll. Dan aplikasi MISO-nya pada pita HFSW dan pita gelombang mikro sangat cerdas dan berguna. Data nyata hasil sistem eksperimen menunjukkan keabsahan prinsipnya. Dan teknik ini dapat diperluas ke beberapa aplikasi lain, dan digunakan sebagai mode kerja tertentu dari sistem radar modern. Masa depannya dapat diringkas sebagai berikut.</a:t>
            </a:r>
          </a:p>
        </p:txBody>
      </p:sp>
      <p:grpSp>
        <p:nvGrpSpPr>
          <p:cNvPr name="Group 35" id="35"/>
          <p:cNvGrpSpPr/>
          <p:nvPr/>
        </p:nvGrpSpPr>
        <p:grpSpPr>
          <a:xfrm rot="0">
            <a:off x="15665503" y="317552"/>
            <a:ext cx="2042119" cy="650325"/>
            <a:chOff x="0" y="0"/>
            <a:chExt cx="537842" cy="171279"/>
          </a:xfrm>
        </p:grpSpPr>
        <p:sp>
          <p:nvSpPr>
            <p:cNvPr name="Freeform 36" id="36"/>
            <p:cNvSpPr/>
            <p:nvPr/>
          </p:nvSpPr>
          <p:spPr>
            <a:xfrm flipH="false" flipV="false" rot="0">
              <a:off x="0" y="0"/>
              <a:ext cx="537842" cy="171279"/>
            </a:xfrm>
            <a:custGeom>
              <a:avLst/>
              <a:gdLst/>
              <a:ahLst/>
              <a:cxnLst/>
              <a:rect r="r" b="b" t="t" l="l"/>
              <a:pathLst>
                <a:path h="171279" w="537842">
                  <a:moveTo>
                    <a:pt x="53076" y="0"/>
                  </a:moveTo>
                  <a:lnTo>
                    <a:pt x="484766" y="0"/>
                  </a:lnTo>
                  <a:cubicBezTo>
                    <a:pt x="514079" y="0"/>
                    <a:pt x="537842" y="23763"/>
                    <a:pt x="537842" y="53076"/>
                  </a:cubicBezTo>
                  <a:lnTo>
                    <a:pt x="537842" y="118203"/>
                  </a:lnTo>
                  <a:cubicBezTo>
                    <a:pt x="537842" y="132280"/>
                    <a:pt x="532250" y="145780"/>
                    <a:pt x="522296" y="155734"/>
                  </a:cubicBezTo>
                  <a:cubicBezTo>
                    <a:pt x="512343" y="165687"/>
                    <a:pt x="498843" y="171279"/>
                    <a:pt x="484766" y="171279"/>
                  </a:cubicBezTo>
                  <a:lnTo>
                    <a:pt x="53076" y="171279"/>
                  </a:lnTo>
                  <a:cubicBezTo>
                    <a:pt x="38999" y="171279"/>
                    <a:pt x="25499" y="165687"/>
                    <a:pt x="15546" y="155734"/>
                  </a:cubicBezTo>
                  <a:cubicBezTo>
                    <a:pt x="5592" y="145780"/>
                    <a:pt x="0" y="132280"/>
                    <a:pt x="0" y="118203"/>
                  </a:cubicBezTo>
                  <a:lnTo>
                    <a:pt x="0" y="53076"/>
                  </a:lnTo>
                  <a:cubicBezTo>
                    <a:pt x="0" y="38999"/>
                    <a:pt x="5592" y="25499"/>
                    <a:pt x="15546" y="15546"/>
                  </a:cubicBezTo>
                  <a:cubicBezTo>
                    <a:pt x="25499" y="5592"/>
                    <a:pt x="38999" y="0"/>
                    <a:pt x="53076" y="0"/>
                  </a:cubicBezTo>
                  <a:close/>
                </a:path>
              </a:pathLst>
            </a:custGeom>
            <a:solidFill>
              <a:srgbClr val="535659"/>
            </a:solidFill>
            <a:ln w="19050" cap="sq">
              <a:solidFill>
                <a:srgbClr val="243342"/>
              </a:solidFill>
              <a:prstDash val="solid"/>
              <a:miter/>
            </a:ln>
          </p:spPr>
        </p:sp>
        <p:sp>
          <p:nvSpPr>
            <p:cNvPr name="TextBox 37" id="37"/>
            <p:cNvSpPr txBox="true"/>
            <p:nvPr/>
          </p:nvSpPr>
          <p:spPr>
            <a:xfrm>
              <a:off x="0" y="-38100"/>
              <a:ext cx="537842" cy="209379"/>
            </a:xfrm>
            <a:prstGeom prst="rect">
              <a:avLst/>
            </a:prstGeom>
          </p:spPr>
          <p:txBody>
            <a:bodyPr anchor="ctr" rtlCol="false" tIns="50800" lIns="50800" bIns="50800" rIns="50800"/>
            <a:lstStyle/>
            <a:p>
              <a:pPr algn="ctr">
                <a:lnSpc>
                  <a:spcPts val="3362"/>
                </a:lnSpc>
              </a:pPr>
            </a:p>
          </p:txBody>
        </p:sp>
      </p:grpSp>
      <p:sp>
        <p:nvSpPr>
          <p:cNvPr name="TextBox 38" id="38"/>
          <p:cNvSpPr txBox="true"/>
          <p:nvPr/>
        </p:nvSpPr>
        <p:spPr>
          <a:xfrm rot="0">
            <a:off x="15621459" y="349050"/>
            <a:ext cx="2168307" cy="444500"/>
          </a:xfrm>
          <a:prstGeom prst="rect">
            <a:avLst/>
          </a:prstGeom>
        </p:spPr>
        <p:txBody>
          <a:bodyPr anchor="t" rtlCol="false" tIns="0" lIns="0" bIns="0" rIns="0">
            <a:spAutoFit/>
          </a:bodyPr>
          <a:lstStyle/>
          <a:p>
            <a:pPr algn="ctr">
              <a:lnSpc>
                <a:spcPts val="2800"/>
              </a:lnSpc>
            </a:pPr>
            <a:r>
              <a:rPr lang="en-US" sz="2000" spc="120">
                <a:solidFill>
                  <a:srgbClr val="FFFFFF"/>
                </a:solidFill>
                <a:latin typeface="Karnchang"/>
                <a:ea typeface="Karnchang"/>
                <a:cs typeface="Karnchang"/>
                <a:sym typeface="Karnchang"/>
              </a:rPr>
              <a:t>Halaman 16</a:t>
            </a:r>
          </a:p>
        </p:txBody>
      </p:sp>
      <p:grpSp>
        <p:nvGrpSpPr>
          <p:cNvPr name="Group 39" id="39"/>
          <p:cNvGrpSpPr/>
          <p:nvPr/>
        </p:nvGrpSpPr>
        <p:grpSpPr>
          <a:xfrm rot="0">
            <a:off x="629723" y="9258300"/>
            <a:ext cx="6961669" cy="627749"/>
            <a:chOff x="0" y="0"/>
            <a:chExt cx="1833526" cy="165333"/>
          </a:xfrm>
        </p:grpSpPr>
        <p:sp>
          <p:nvSpPr>
            <p:cNvPr name="Freeform 40" id="40"/>
            <p:cNvSpPr/>
            <p:nvPr/>
          </p:nvSpPr>
          <p:spPr>
            <a:xfrm flipH="false" flipV="false" rot="0">
              <a:off x="0" y="0"/>
              <a:ext cx="1833526" cy="165333"/>
            </a:xfrm>
            <a:custGeom>
              <a:avLst/>
              <a:gdLst/>
              <a:ahLst/>
              <a:cxnLst/>
              <a:rect r="r" b="b" t="t" l="l"/>
              <a:pathLst>
                <a:path h="165333" w="1833526">
                  <a:moveTo>
                    <a:pt x="16681" y="0"/>
                  </a:moveTo>
                  <a:lnTo>
                    <a:pt x="1816845" y="0"/>
                  </a:lnTo>
                  <a:cubicBezTo>
                    <a:pt x="1821269" y="0"/>
                    <a:pt x="1825512" y="1757"/>
                    <a:pt x="1828640" y="4886"/>
                  </a:cubicBezTo>
                  <a:cubicBezTo>
                    <a:pt x="1831769" y="8014"/>
                    <a:pt x="1833526" y="12257"/>
                    <a:pt x="1833526" y="16681"/>
                  </a:cubicBezTo>
                  <a:lnTo>
                    <a:pt x="1833526" y="148652"/>
                  </a:lnTo>
                  <a:cubicBezTo>
                    <a:pt x="1833526" y="157865"/>
                    <a:pt x="1826058" y="165333"/>
                    <a:pt x="1816845" y="165333"/>
                  </a:cubicBezTo>
                  <a:lnTo>
                    <a:pt x="16681" y="165333"/>
                  </a:lnTo>
                  <a:cubicBezTo>
                    <a:pt x="7468" y="165333"/>
                    <a:pt x="0" y="157865"/>
                    <a:pt x="0" y="148652"/>
                  </a:cubicBezTo>
                  <a:lnTo>
                    <a:pt x="0" y="16681"/>
                  </a:lnTo>
                  <a:cubicBezTo>
                    <a:pt x="0" y="7468"/>
                    <a:pt x="7468" y="0"/>
                    <a:pt x="16681" y="0"/>
                  </a:cubicBezTo>
                  <a:close/>
                </a:path>
              </a:pathLst>
            </a:custGeom>
            <a:solidFill>
              <a:srgbClr val="535659"/>
            </a:solidFill>
            <a:ln w="19050" cap="sq">
              <a:solidFill>
                <a:srgbClr val="243342"/>
              </a:solidFill>
              <a:prstDash val="solid"/>
              <a:miter/>
            </a:ln>
          </p:spPr>
        </p:sp>
        <p:sp>
          <p:nvSpPr>
            <p:cNvPr name="TextBox 41" id="41"/>
            <p:cNvSpPr txBox="true"/>
            <p:nvPr/>
          </p:nvSpPr>
          <p:spPr>
            <a:xfrm>
              <a:off x="0" y="-38100"/>
              <a:ext cx="1833526" cy="203433"/>
            </a:xfrm>
            <a:prstGeom prst="rect">
              <a:avLst/>
            </a:prstGeom>
          </p:spPr>
          <p:txBody>
            <a:bodyPr anchor="ctr" rtlCol="false" tIns="50800" lIns="50800" bIns="50800" rIns="50800"/>
            <a:lstStyle/>
            <a:p>
              <a:pPr algn="ctr">
                <a:lnSpc>
                  <a:spcPts val="3362"/>
                </a:lnSpc>
              </a:pPr>
            </a:p>
          </p:txBody>
        </p:sp>
      </p:grpSp>
      <p:sp>
        <p:nvSpPr>
          <p:cNvPr name="TextBox 42" id="42"/>
          <p:cNvSpPr txBox="true"/>
          <p:nvPr/>
        </p:nvSpPr>
        <p:spPr>
          <a:xfrm rot="0">
            <a:off x="551143" y="9305925"/>
            <a:ext cx="7118830" cy="444454"/>
          </a:xfrm>
          <a:prstGeom prst="rect">
            <a:avLst/>
          </a:prstGeom>
        </p:spPr>
        <p:txBody>
          <a:bodyPr anchor="t" rtlCol="false" tIns="0" lIns="0" bIns="0" rIns="0">
            <a:spAutoFit/>
          </a:bodyPr>
          <a:lstStyle/>
          <a:p>
            <a:pPr algn="ctr">
              <a:lnSpc>
                <a:spcPts val="2800"/>
              </a:lnSpc>
            </a:pPr>
            <a:r>
              <a:rPr lang="en-US" sz="2000" spc="120">
                <a:solidFill>
                  <a:srgbClr val="FFFFFF"/>
                </a:solidFill>
                <a:latin typeface="Karnchang"/>
                <a:ea typeface="Karnchang"/>
                <a:cs typeface="Karnchang"/>
                <a:sym typeface="Karnchang"/>
              </a:rPr>
              <a:t>Murad Naser |  Universitas Fauget | Ekonomi | 2025</a:t>
            </a:r>
          </a:p>
        </p:txBody>
      </p:sp>
      <p:grpSp>
        <p:nvGrpSpPr>
          <p:cNvPr name="Group 43" id="43"/>
          <p:cNvGrpSpPr/>
          <p:nvPr/>
        </p:nvGrpSpPr>
        <p:grpSpPr>
          <a:xfrm rot="0">
            <a:off x="629723" y="9258300"/>
            <a:ext cx="9916004" cy="627749"/>
            <a:chOff x="0" y="0"/>
            <a:chExt cx="2611622" cy="165333"/>
          </a:xfrm>
        </p:grpSpPr>
        <p:sp>
          <p:nvSpPr>
            <p:cNvPr name="Freeform 44" id="44"/>
            <p:cNvSpPr/>
            <p:nvPr/>
          </p:nvSpPr>
          <p:spPr>
            <a:xfrm flipH="false" flipV="false" rot="0">
              <a:off x="0" y="0"/>
              <a:ext cx="2611622" cy="165333"/>
            </a:xfrm>
            <a:custGeom>
              <a:avLst/>
              <a:gdLst/>
              <a:ahLst/>
              <a:cxnLst/>
              <a:rect r="r" b="b" t="t" l="l"/>
              <a:pathLst>
                <a:path h="165333" w="2611622">
                  <a:moveTo>
                    <a:pt x="11711" y="0"/>
                  </a:moveTo>
                  <a:lnTo>
                    <a:pt x="2599911" y="0"/>
                  </a:lnTo>
                  <a:cubicBezTo>
                    <a:pt x="2606379" y="0"/>
                    <a:pt x="2611622" y="5243"/>
                    <a:pt x="2611622" y="11711"/>
                  </a:cubicBezTo>
                  <a:lnTo>
                    <a:pt x="2611622" y="153622"/>
                  </a:lnTo>
                  <a:cubicBezTo>
                    <a:pt x="2611622" y="156728"/>
                    <a:pt x="2610389" y="159707"/>
                    <a:pt x="2608192" y="161903"/>
                  </a:cubicBezTo>
                  <a:cubicBezTo>
                    <a:pt x="2605996" y="164099"/>
                    <a:pt x="2603017" y="165333"/>
                    <a:pt x="2599911" y="165333"/>
                  </a:cubicBezTo>
                  <a:lnTo>
                    <a:pt x="11711" y="165333"/>
                  </a:lnTo>
                  <a:cubicBezTo>
                    <a:pt x="8605" y="165333"/>
                    <a:pt x="5626" y="164099"/>
                    <a:pt x="3430" y="161903"/>
                  </a:cubicBezTo>
                  <a:cubicBezTo>
                    <a:pt x="1234" y="159707"/>
                    <a:pt x="0" y="156728"/>
                    <a:pt x="0" y="153622"/>
                  </a:cubicBezTo>
                  <a:lnTo>
                    <a:pt x="0" y="11711"/>
                  </a:lnTo>
                  <a:cubicBezTo>
                    <a:pt x="0" y="8605"/>
                    <a:pt x="1234" y="5626"/>
                    <a:pt x="3430" y="3430"/>
                  </a:cubicBezTo>
                  <a:cubicBezTo>
                    <a:pt x="5626" y="1234"/>
                    <a:pt x="8605" y="0"/>
                    <a:pt x="11711" y="0"/>
                  </a:cubicBezTo>
                  <a:close/>
                </a:path>
              </a:pathLst>
            </a:custGeom>
            <a:solidFill>
              <a:srgbClr val="535659"/>
            </a:solidFill>
            <a:ln w="19050" cap="sq">
              <a:solidFill>
                <a:srgbClr val="243342"/>
              </a:solidFill>
              <a:prstDash val="solid"/>
              <a:miter/>
            </a:ln>
          </p:spPr>
        </p:sp>
        <p:sp>
          <p:nvSpPr>
            <p:cNvPr name="TextBox 45" id="45"/>
            <p:cNvSpPr txBox="true"/>
            <p:nvPr/>
          </p:nvSpPr>
          <p:spPr>
            <a:xfrm>
              <a:off x="0" y="-38100"/>
              <a:ext cx="2611622" cy="203433"/>
            </a:xfrm>
            <a:prstGeom prst="rect">
              <a:avLst/>
            </a:prstGeom>
          </p:spPr>
          <p:txBody>
            <a:bodyPr anchor="ctr" rtlCol="false" tIns="50800" lIns="50800" bIns="50800" rIns="50800"/>
            <a:lstStyle/>
            <a:p>
              <a:pPr algn="ctr">
                <a:lnSpc>
                  <a:spcPts val="3362"/>
                </a:lnSpc>
              </a:pPr>
            </a:p>
          </p:txBody>
        </p:sp>
      </p:grpSp>
      <p:sp>
        <p:nvSpPr>
          <p:cNvPr name="TextBox 46" id="46"/>
          <p:cNvSpPr txBox="true"/>
          <p:nvPr/>
        </p:nvSpPr>
        <p:spPr>
          <a:xfrm rot="0">
            <a:off x="551143" y="9305925"/>
            <a:ext cx="9994584" cy="444500"/>
          </a:xfrm>
          <a:prstGeom prst="rect">
            <a:avLst/>
          </a:prstGeom>
        </p:spPr>
        <p:txBody>
          <a:bodyPr anchor="t" rtlCol="false" tIns="0" lIns="0" bIns="0" rIns="0">
            <a:spAutoFit/>
          </a:bodyPr>
          <a:lstStyle/>
          <a:p>
            <a:pPr algn="ctr">
              <a:lnSpc>
                <a:spcPts val="2800"/>
              </a:lnSpc>
            </a:pPr>
            <a:r>
              <a:rPr lang="en-US" sz="2000" spc="120">
                <a:solidFill>
                  <a:srgbClr val="FFFFFF"/>
                </a:solidFill>
                <a:latin typeface="Karnchang"/>
                <a:ea typeface="Karnchang"/>
                <a:cs typeface="Karnchang"/>
                <a:sym typeface="Karnchang"/>
              </a:rPr>
              <a:t>Abdul Rozak A |  Politeknik Negeri Bandung | Teknik Telekomuniakasi | 2024</a:t>
            </a:r>
          </a:p>
        </p:txBody>
      </p:sp>
    </p:spTree>
  </p:cSld>
  <p:clrMapOvr>
    <a:masterClrMapping/>
  </p:clrMapOvr>
</p:sld>
</file>

<file path=ppt/slides/slide17.xml><?xml version="1.0" encoding="utf-8"?>
<p:sld xmlns:p="http://schemas.openxmlformats.org/presentationml/2006/main" xmlns:a="http://schemas.openxmlformats.org/drawingml/2006/main">
  <p:cSld>
    <p:bg>
      <p:bgPr>
        <a:solidFill>
          <a:srgbClr val="E6EAEF"/>
        </a:solidFill>
      </p:bgPr>
    </p:bg>
    <p:spTree>
      <p:nvGrpSpPr>
        <p:cNvPr id="1" name=""/>
        <p:cNvGrpSpPr/>
        <p:nvPr/>
      </p:nvGrpSpPr>
      <p:grpSpPr>
        <a:xfrm>
          <a:off x="0" y="0"/>
          <a:ext cx="0" cy="0"/>
          <a:chOff x="0" y="0"/>
          <a:chExt cx="0" cy="0"/>
        </a:xfrm>
      </p:grpSpPr>
      <p:grpSp>
        <p:nvGrpSpPr>
          <p:cNvPr name="Group 2" id="2"/>
          <p:cNvGrpSpPr/>
          <p:nvPr/>
        </p:nvGrpSpPr>
        <p:grpSpPr>
          <a:xfrm rot="0">
            <a:off x="787067" y="592941"/>
            <a:ext cx="16713866" cy="9101117"/>
            <a:chOff x="0" y="0"/>
            <a:chExt cx="4402006" cy="2397002"/>
          </a:xfrm>
        </p:grpSpPr>
        <p:sp>
          <p:nvSpPr>
            <p:cNvPr name="Freeform 3" id="3"/>
            <p:cNvSpPr/>
            <p:nvPr/>
          </p:nvSpPr>
          <p:spPr>
            <a:xfrm flipH="false" flipV="false" rot="0">
              <a:off x="0" y="0"/>
              <a:ext cx="4402006" cy="2397002"/>
            </a:xfrm>
            <a:custGeom>
              <a:avLst/>
              <a:gdLst/>
              <a:ahLst/>
              <a:cxnLst/>
              <a:rect r="r" b="b" t="t" l="l"/>
              <a:pathLst>
                <a:path h="2397002" w="4402006">
                  <a:moveTo>
                    <a:pt x="23623" y="0"/>
                  </a:moveTo>
                  <a:lnTo>
                    <a:pt x="4378382" y="0"/>
                  </a:lnTo>
                  <a:cubicBezTo>
                    <a:pt x="4391429" y="0"/>
                    <a:pt x="4402006" y="10577"/>
                    <a:pt x="4402006" y="23623"/>
                  </a:cubicBezTo>
                  <a:lnTo>
                    <a:pt x="4402006" y="2373379"/>
                  </a:lnTo>
                  <a:cubicBezTo>
                    <a:pt x="4402006" y="2379644"/>
                    <a:pt x="4399517" y="2385653"/>
                    <a:pt x="4395087" y="2390083"/>
                  </a:cubicBezTo>
                  <a:cubicBezTo>
                    <a:pt x="4390656" y="2394513"/>
                    <a:pt x="4384647" y="2397002"/>
                    <a:pt x="4378382" y="2397002"/>
                  </a:cubicBezTo>
                  <a:lnTo>
                    <a:pt x="23623" y="2397002"/>
                  </a:lnTo>
                  <a:cubicBezTo>
                    <a:pt x="17358" y="2397002"/>
                    <a:pt x="11349" y="2394513"/>
                    <a:pt x="6919" y="2390083"/>
                  </a:cubicBezTo>
                  <a:cubicBezTo>
                    <a:pt x="2489" y="2385653"/>
                    <a:pt x="0" y="2379644"/>
                    <a:pt x="0" y="2373379"/>
                  </a:cubicBezTo>
                  <a:lnTo>
                    <a:pt x="0" y="23623"/>
                  </a:lnTo>
                  <a:cubicBezTo>
                    <a:pt x="0" y="17358"/>
                    <a:pt x="2489" y="11349"/>
                    <a:pt x="6919" y="6919"/>
                  </a:cubicBezTo>
                  <a:cubicBezTo>
                    <a:pt x="11349" y="2489"/>
                    <a:pt x="17358" y="0"/>
                    <a:pt x="23623" y="0"/>
                  </a:cubicBezTo>
                  <a:close/>
                </a:path>
              </a:pathLst>
            </a:custGeom>
            <a:solidFill>
              <a:srgbClr val="E6EAEF"/>
            </a:solidFill>
            <a:ln w="19050" cap="rnd">
              <a:solidFill>
                <a:srgbClr val="243342"/>
              </a:solidFill>
              <a:prstDash val="solid"/>
              <a:round/>
            </a:ln>
          </p:spPr>
        </p:sp>
        <p:sp>
          <p:nvSpPr>
            <p:cNvPr name="TextBox 4" id="4"/>
            <p:cNvSpPr txBox="true"/>
            <p:nvPr/>
          </p:nvSpPr>
          <p:spPr>
            <a:xfrm>
              <a:off x="0" y="-38100"/>
              <a:ext cx="4402006" cy="2435102"/>
            </a:xfrm>
            <a:prstGeom prst="rect">
              <a:avLst/>
            </a:prstGeom>
          </p:spPr>
          <p:txBody>
            <a:bodyPr anchor="ctr" rtlCol="false" tIns="50800" lIns="50800" bIns="50800" rIns="50800"/>
            <a:lstStyle/>
            <a:p>
              <a:pPr algn="ctr">
                <a:lnSpc>
                  <a:spcPts val="3362"/>
                </a:lnSpc>
              </a:pPr>
            </a:p>
          </p:txBody>
        </p:sp>
      </p:grpSp>
      <p:grpSp>
        <p:nvGrpSpPr>
          <p:cNvPr name="Group 5" id="5"/>
          <p:cNvGrpSpPr/>
          <p:nvPr/>
        </p:nvGrpSpPr>
        <p:grpSpPr>
          <a:xfrm rot="-7538080">
            <a:off x="-7029811" y="-5584933"/>
            <a:ext cx="9808447" cy="9331824"/>
            <a:chOff x="0" y="0"/>
            <a:chExt cx="13077930" cy="12442432"/>
          </a:xfrm>
        </p:grpSpPr>
        <p:grpSp>
          <p:nvGrpSpPr>
            <p:cNvPr name="Group 6" id="6"/>
            <p:cNvGrpSpPr/>
            <p:nvPr/>
          </p:nvGrpSpPr>
          <p:grpSpPr>
            <a:xfrm rot="2252144">
              <a:off x="1498251" y="1484738"/>
              <a:ext cx="7399579" cy="7432687"/>
              <a:chOff x="0" y="0"/>
              <a:chExt cx="2816645" cy="2829248"/>
            </a:xfrm>
          </p:grpSpPr>
          <p:sp>
            <p:nvSpPr>
              <p:cNvPr name="Freeform 7" id="7"/>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243342"/>
              </a:solidFill>
            </p:spPr>
          </p:sp>
          <p:sp>
            <p:nvSpPr>
              <p:cNvPr name="TextBox 8" id="8"/>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2252144">
              <a:off x="2397493" y="3224228"/>
              <a:ext cx="7399579" cy="7432687"/>
              <a:chOff x="0" y="0"/>
              <a:chExt cx="2816645" cy="2829248"/>
            </a:xfrm>
          </p:grpSpPr>
          <p:sp>
            <p:nvSpPr>
              <p:cNvPr name="Freeform 10" id="10"/>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535659"/>
              </a:solidFill>
            </p:spPr>
          </p:sp>
          <p:sp>
            <p:nvSpPr>
              <p:cNvPr name="TextBox 11" id="11"/>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2252144">
              <a:off x="4180100" y="3525007"/>
              <a:ext cx="7399579" cy="7432687"/>
              <a:chOff x="0" y="0"/>
              <a:chExt cx="2816645" cy="2829248"/>
            </a:xfrm>
          </p:grpSpPr>
          <p:sp>
            <p:nvSpPr>
              <p:cNvPr name="Freeform 13" id="13"/>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858789"/>
              </a:solidFill>
            </p:spPr>
          </p:sp>
          <p:sp>
            <p:nvSpPr>
              <p:cNvPr name="TextBox 14" id="14"/>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grpSp>
        <p:nvGrpSpPr>
          <p:cNvPr name="Group 15" id="15"/>
          <p:cNvGrpSpPr/>
          <p:nvPr/>
        </p:nvGrpSpPr>
        <p:grpSpPr>
          <a:xfrm rot="2124477">
            <a:off x="15979122" y="5429903"/>
            <a:ext cx="9808447" cy="9331824"/>
            <a:chOff x="0" y="0"/>
            <a:chExt cx="13077930" cy="12442432"/>
          </a:xfrm>
        </p:grpSpPr>
        <p:grpSp>
          <p:nvGrpSpPr>
            <p:cNvPr name="Group 16" id="16"/>
            <p:cNvGrpSpPr/>
            <p:nvPr/>
          </p:nvGrpSpPr>
          <p:grpSpPr>
            <a:xfrm rot="2252144">
              <a:off x="1498251" y="1484738"/>
              <a:ext cx="7399579" cy="7432687"/>
              <a:chOff x="0" y="0"/>
              <a:chExt cx="2816645" cy="2829248"/>
            </a:xfrm>
          </p:grpSpPr>
          <p:sp>
            <p:nvSpPr>
              <p:cNvPr name="Freeform 17" id="17"/>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243342"/>
              </a:solidFill>
            </p:spPr>
          </p:sp>
          <p:sp>
            <p:nvSpPr>
              <p:cNvPr name="TextBox 18" id="18"/>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19" id="19"/>
            <p:cNvGrpSpPr/>
            <p:nvPr/>
          </p:nvGrpSpPr>
          <p:grpSpPr>
            <a:xfrm rot="2252144">
              <a:off x="2397493" y="3224228"/>
              <a:ext cx="7399579" cy="7432687"/>
              <a:chOff x="0" y="0"/>
              <a:chExt cx="2816645" cy="2829248"/>
            </a:xfrm>
          </p:grpSpPr>
          <p:sp>
            <p:nvSpPr>
              <p:cNvPr name="Freeform 20" id="20"/>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535659"/>
              </a:solidFill>
            </p:spPr>
          </p:sp>
          <p:sp>
            <p:nvSpPr>
              <p:cNvPr name="TextBox 21" id="21"/>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22" id="22"/>
            <p:cNvGrpSpPr/>
            <p:nvPr/>
          </p:nvGrpSpPr>
          <p:grpSpPr>
            <a:xfrm rot="2252144">
              <a:off x="4180100" y="3525007"/>
              <a:ext cx="7399579" cy="7432687"/>
              <a:chOff x="0" y="0"/>
              <a:chExt cx="2816645" cy="2829248"/>
            </a:xfrm>
          </p:grpSpPr>
          <p:sp>
            <p:nvSpPr>
              <p:cNvPr name="Freeform 23" id="23"/>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858789"/>
              </a:solidFill>
            </p:spPr>
          </p:sp>
          <p:sp>
            <p:nvSpPr>
              <p:cNvPr name="TextBox 24" id="24"/>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sp>
        <p:nvSpPr>
          <p:cNvPr name="TextBox 25" id="25"/>
          <p:cNvSpPr txBox="true"/>
          <p:nvPr/>
        </p:nvSpPr>
        <p:spPr>
          <a:xfrm rot="0">
            <a:off x="4293776" y="1164537"/>
            <a:ext cx="9700448" cy="1107440"/>
          </a:xfrm>
          <a:prstGeom prst="rect">
            <a:avLst/>
          </a:prstGeom>
        </p:spPr>
        <p:txBody>
          <a:bodyPr anchor="t" rtlCol="false" tIns="0" lIns="0" bIns="0" rIns="0">
            <a:spAutoFit/>
          </a:bodyPr>
          <a:lstStyle/>
          <a:p>
            <a:pPr algn="ctr">
              <a:lnSpc>
                <a:spcPts val="5980"/>
              </a:lnSpc>
            </a:pPr>
            <a:r>
              <a:rPr lang="en-US" sz="6500" b="true">
                <a:solidFill>
                  <a:srgbClr val="243342"/>
                </a:solidFill>
                <a:latin typeface="Karnchang Bold"/>
                <a:ea typeface="Karnchang Bold"/>
                <a:cs typeface="Karnchang Bold"/>
                <a:sym typeface="Karnchang Bold"/>
              </a:rPr>
              <a:t>Masa depan dari SIAR</a:t>
            </a:r>
          </a:p>
        </p:txBody>
      </p:sp>
      <p:sp>
        <p:nvSpPr>
          <p:cNvPr name="TextBox 26" id="26"/>
          <p:cNvSpPr txBox="true"/>
          <p:nvPr/>
        </p:nvSpPr>
        <p:spPr>
          <a:xfrm rot="0">
            <a:off x="1960029" y="2698740"/>
            <a:ext cx="14367942" cy="3446145"/>
          </a:xfrm>
          <a:prstGeom prst="rect">
            <a:avLst/>
          </a:prstGeom>
        </p:spPr>
        <p:txBody>
          <a:bodyPr anchor="t" rtlCol="false" tIns="0" lIns="0" bIns="0" rIns="0">
            <a:spAutoFit/>
          </a:bodyPr>
          <a:lstStyle/>
          <a:p>
            <a:pPr algn="just" marL="582930" indent="-291465" lvl="1">
              <a:lnSpc>
                <a:spcPts val="3779"/>
              </a:lnSpc>
              <a:buFont typeface="Arial"/>
              <a:buChar char="•"/>
            </a:pPr>
            <a:r>
              <a:rPr lang="en-US" sz="2700">
                <a:solidFill>
                  <a:srgbClr val="000000"/>
                </a:solidFill>
                <a:latin typeface="Karnchang"/>
                <a:ea typeface="Karnchang"/>
                <a:cs typeface="Karnchang"/>
                <a:sym typeface="Karnchang"/>
              </a:rPr>
              <a:t>Teknik SIAR dapat diperluas ke platform lain seperti misil, udara, atau satelit. Dalam mode MIMO, teknik ini meningkatkan resolusi sudut, memperluas cakupan pencarian, dan meningkatkan kemampuan penolakan clutter. Dalam mode MISO, terutama untuk misil, antena pemancar besar dapat ditempatkan di darat, sementara penerima kecil ada di misil, memungkinkan resolusi sudut tinggi dan akurasi lokal yang baik. Tantangan seperti sinkronisasi, metode lokalisasi, dan deteksi target pada platform misil bergerak cepat memerlukan penelitian lebih lanjut.</a:t>
            </a:r>
          </a:p>
        </p:txBody>
      </p:sp>
      <p:grpSp>
        <p:nvGrpSpPr>
          <p:cNvPr name="Group 27" id="27"/>
          <p:cNvGrpSpPr/>
          <p:nvPr/>
        </p:nvGrpSpPr>
        <p:grpSpPr>
          <a:xfrm rot="0">
            <a:off x="15665503" y="317552"/>
            <a:ext cx="2042119" cy="650325"/>
            <a:chOff x="0" y="0"/>
            <a:chExt cx="537842" cy="171279"/>
          </a:xfrm>
        </p:grpSpPr>
        <p:sp>
          <p:nvSpPr>
            <p:cNvPr name="Freeform 28" id="28"/>
            <p:cNvSpPr/>
            <p:nvPr/>
          </p:nvSpPr>
          <p:spPr>
            <a:xfrm flipH="false" flipV="false" rot="0">
              <a:off x="0" y="0"/>
              <a:ext cx="537842" cy="171279"/>
            </a:xfrm>
            <a:custGeom>
              <a:avLst/>
              <a:gdLst/>
              <a:ahLst/>
              <a:cxnLst/>
              <a:rect r="r" b="b" t="t" l="l"/>
              <a:pathLst>
                <a:path h="171279" w="537842">
                  <a:moveTo>
                    <a:pt x="53076" y="0"/>
                  </a:moveTo>
                  <a:lnTo>
                    <a:pt x="484766" y="0"/>
                  </a:lnTo>
                  <a:cubicBezTo>
                    <a:pt x="514079" y="0"/>
                    <a:pt x="537842" y="23763"/>
                    <a:pt x="537842" y="53076"/>
                  </a:cubicBezTo>
                  <a:lnTo>
                    <a:pt x="537842" y="118203"/>
                  </a:lnTo>
                  <a:cubicBezTo>
                    <a:pt x="537842" y="132280"/>
                    <a:pt x="532250" y="145780"/>
                    <a:pt x="522296" y="155734"/>
                  </a:cubicBezTo>
                  <a:cubicBezTo>
                    <a:pt x="512343" y="165687"/>
                    <a:pt x="498843" y="171279"/>
                    <a:pt x="484766" y="171279"/>
                  </a:cubicBezTo>
                  <a:lnTo>
                    <a:pt x="53076" y="171279"/>
                  </a:lnTo>
                  <a:cubicBezTo>
                    <a:pt x="38999" y="171279"/>
                    <a:pt x="25499" y="165687"/>
                    <a:pt x="15546" y="155734"/>
                  </a:cubicBezTo>
                  <a:cubicBezTo>
                    <a:pt x="5592" y="145780"/>
                    <a:pt x="0" y="132280"/>
                    <a:pt x="0" y="118203"/>
                  </a:cubicBezTo>
                  <a:lnTo>
                    <a:pt x="0" y="53076"/>
                  </a:lnTo>
                  <a:cubicBezTo>
                    <a:pt x="0" y="38999"/>
                    <a:pt x="5592" y="25499"/>
                    <a:pt x="15546" y="15546"/>
                  </a:cubicBezTo>
                  <a:cubicBezTo>
                    <a:pt x="25499" y="5592"/>
                    <a:pt x="38999" y="0"/>
                    <a:pt x="53076" y="0"/>
                  </a:cubicBezTo>
                  <a:close/>
                </a:path>
              </a:pathLst>
            </a:custGeom>
            <a:solidFill>
              <a:srgbClr val="535659"/>
            </a:solidFill>
            <a:ln w="19050" cap="sq">
              <a:solidFill>
                <a:srgbClr val="243342"/>
              </a:solidFill>
              <a:prstDash val="solid"/>
              <a:miter/>
            </a:ln>
          </p:spPr>
        </p:sp>
        <p:sp>
          <p:nvSpPr>
            <p:cNvPr name="TextBox 29" id="29"/>
            <p:cNvSpPr txBox="true"/>
            <p:nvPr/>
          </p:nvSpPr>
          <p:spPr>
            <a:xfrm>
              <a:off x="0" y="-38100"/>
              <a:ext cx="537842" cy="209379"/>
            </a:xfrm>
            <a:prstGeom prst="rect">
              <a:avLst/>
            </a:prstGeom>
          </p:spPr>
          <p:txBody>
            <a:bodyPr anchor="ctr" rtlCol="false" tIns="50800" lIns="50800" bIns="50800" rIns="50800"/>
            <a:lstStyle/>
            <a:p>
              <a:pPr algn="ctr">
                <a:lnSpc>
                  <a:spcPts val="3362"/>
                </a:lnSpc>
              </a:pPr>
            </a:p>
          </p:txBody>
        </p:sp>
      </p:grpSp>
      <p:sp>
        <p:nvSpPr>
          <p:cNvPr name="TextBox 30" id="30"/>
          <p:cNvSpPr txBox="true"/>
          <p:nvPr/>
        </p:nvSpPr>
        <p:spPr>
          <a:xfrm rot="0">
            <a:off x="15621459" y="349050"/>
            <a:ext cx="2168307" cy="444500"/>
          </a:xfrm>
          <a:prstGeom prst="rect">
            <a:avLst/>
          </a:prstGeom>
        </p:spPr>
        <p:txBody>
          <a:bodyPr anchor="t" rtlCol="false" tIns="0" lIns="0" bIns="0" rIns="0">
            <a:spAutoFit/>
          </a:bodyPr>
          <a:lstStyle/>
          <a:p>
            <a:pPr algn="ctr">
              <a:lnSpc>
                <a:spcPts val="2800"/>
              </a:lnSpc>
            </a:pPr>
            <a:r>
              <a:rPr lang="en-US" sz="2000" spc="120">
                <a:solidFill>
                  <a:srgbClr val="FFFFFF"/>
                </a:solidFill>
                <a:latin typeface="Karnchang"/>
                <a:ea typeface="Karnchang"/>
                <a:cs typeface="Karnchang"/>
                <a:sym typeface="Karnchang"/>
              </a:rPr>
              <a:t>Halaman 17</a:t>
            </a:r>
          </a:p>
        </p:txBody>
      </p:sp>
      <p:grpSp>
        <p:nvGrpSpPr>
          <p:cNvPr name="Group 31" id="31"/>
          <p:cNvGrpSpPr/>
          <p:nvPr/>
        </p:nvGrpSpPr>
        <p:grpSpPr>
          <a:xfrm rot="0">
            <a:off x="629723" y="9258300"/>
            <a:ext cx="6961669" cy="627749"/>
            <a:chOff x="0" y="0"/>
            <a:chExt cx="1833526" cy="165333"/>
          </a:xfrm>
        </p:grpSpPr>
        <p:sp>
          <p:nvSpPr>
            <p:cNvPr name="Freeform 32" id="32"/>
            <p:cNvSpPr/>
            <p:nvPr/>
          </p:nvSpPr>
          <p:spPr>
            <a:xfrm flipH="false" flipV="false" rot="0">
              <a:off x="0" y="0"/>
              <a:ext cx="1833526" cy="165333"/>
            </a:xfrm>
            <a:custGeom>
              <a:avLst/>
              <a:gdLst/>
              <a:ahLst/>
              <a:cxnLst/>
              <a:rect r="r" b="b" t="t" l="l"/>
              <a:pathLst>
                <a:path h="165333" w="1833526">
                  <a:moveTo>
                    <a:pt x="16681" y="0"/>
                  </a:moveTo>
                  <a:lnTo>
                    <a:pt x="1816845" y="0"/>
                  </a:lnTo>
                  <a:cubicBezTo>
                    <a:pt x="1821269" y="0"/>
                    <a:pt x="1825512" y="1757"/>
                    <a:pt x="1828640" y="4886"/>
                  </a:cubicBezTo>
                  <a:cubicBezTo>
                    <a:pt x="1831769" y="8014"/>
                    <a:pt x="1833526" y="12257"/>
                    <a:pt x="1833526" y="16681"/>
                  </a:cubicBezTo>
                  <a:lnTo>
                    <a:pt x="1833526" y="148652"/>
                  </a:lnTo>
                  <a:cubicBezTo>
                    <a:pt x="1833526" y="157865"/>
                    <a:pt x="1826058" y="165333"/>
                    <a:pt x="1816845" y="165333"/>
                  </a:cubicBezTo>
                  <a:lnTo>
                    <a:pt x="16681" y="165333"/>
                  </a:lnTo>
                  <a:cubicBezTo>
                    <a:pt x="7468" y="165333"/>
                    <a:pt x="0" y="157865"/>
                    <a:pt x="0" y="148652"/>
                  </a:cubicBezTo>
                  <a:lnTo>
                    <a:pt x="0" y="16681"/>
                  </a:lnTo>
                  <a:cubicBezTo>
                    <a:pt x="0" y="7468"/>
                    <a:pt x="7468" y="0"/>
                    <a:pt x="16681" y="0"/>
                  </a:cubicBezTo>
                  <a:close/>
                </a:path>
              </a:pathLst>
            </a:custGeom>
            <a:solidFill>
              <a:srgbClr val="535659"/>
            </a:solidFill>
            <a:ln w="19050" cap="sq">
              <a:solidFill>
                <a:srgbClr val="243342"/>
              </a:solidFill>
              <a:prstDash val="solid"/>
              <a:miter/>
            </a:ln>
          </p:spPr>
        </p:sp>
        <p:sp>
          <p:nvSpPr>
            <p:cNvPr name="TextBox 33" id="33"/>
            <p:cNvSpPr txBox="true"/>
            <p:nvPr/>
          </p:nvSpPr>
          <p:spPr>
            <a:xfrm>
              <a:off x="0" y="-38100"/>
              <a:ext cx="1833526" cy="203433"/>
            </a:xfrm>
            <a:prstGeom prst="rect">
              <a:avLst/>
            </a:prstGeom>
          </p:spPr>
          <p:txBody>
            <a:bodyPr anchor="ctr" rtlCol="false" tIns="50800" lIns="50800" bIns="50800" rIns="50800"/>
            <a:lstStyle/>
            <a:p>
              <a:pPr algn="ctr">
                <a:lnSpc>
                  <a:spcPts val="3362"/>
                </a:lnSpc>
              </a:pPr>
            </a:p>
          </p:txBody>
        </p:sp>
      </p:grpSp>
      <p:sp>
        <p:nvSpPr>
          <p:cNvPr name="TextBox 34" id="34"/>
          <p:cNvSpPr txBox="true"/>
          <p:nvPr/>
        </p:nvSpPr>
        <p:spPr>
          <a:xfrm rot="0">
            <a:off x="551143" y="9305925"/>
            <a:ext cx="7118830" cy="444454"/>
          </a:xfrm>
          <a:prstGeom prst="rect">
            <a:avLst/>
          </a:prstGeom>
        </p:spPr>
        <p:txBody>
          <a:bodyPr anchor="t" rtlCol="false" tIns="0" lIns="0" bIns="0" rIns="0">
            <a:spAutoFit/>
          </a:bodyPr>
          <a:lstStyle/>
          <a:p>
            <a:pPr algn="ctr">
              <a:lnSpc>
                <a:spcPts val="2800"/>
              </a:lnSpc>
            </a:pPr>
            <a:r>
              <a:rPr lang="en-US" sz="2000" spc="120">
                <a:solidFill>
                  <a:srgbClr val="FFFFFF"/>
                </a:solidFill>
                <a:latin typeface="Karnchang"/>
                <a:ea typeface="Karnchang"/>
                <a:cs typeface="Karnchang"/>
                <a:sym typeface="Karnchang"/>
              </a:rPr>
              <a:t>Murad Naser |  Universitas Fauget | Ekonomi | 2025</a:t>
            </a:r>
          </a:p>
        </p:txBody>
      </p:sp>
      <p:grpSp>
        <p:nvGrpSpPr>
          <p:cNvPr name="Group 35" id="35"/>
          <p:cNvGrpSpPr/>
          <p:nvPr/>
        </p:nvGrpSpPr>
        <p:grpSpPr>
          <a:xfrm rot="0">
            <a:off x="629723" y="9258300"/>
            <a:ext cx="9916004" cy="627749"/>
            <a:chOff x="0" y="0"/>
            <a:chExt cx="2611622" cy="165333"/>
          </a:xfrm>
        </p:grpSpPr>
        <p:sp>
          <p:nvSpPr>
            <p:cNvPr name="Freeform 36" id="36"/>
            <p:cNvSpPr/>
            <p:nvPr/>
          </p:nvSpPr>
          <p:spPr>
            <a:xfrm flipH="false" flipV="false" rot="0">
              <a:off x="0" y="0"/>
              <a:ext cx="2611622" cy="165333"/>
            </a:xfrm>
            <a:custGeom>
              <a:avLst/>
              <a:gdLst/>
              <a:ahLst/>
              <a:cxnLst/>
              <a:rect r="r" b="b" t="t" l="l"/>
              <a:pathLst>
                <a:path h="165333" w="2611622">
                  <a:moveTo>
                    <a:pt x="11711" y="0"/>
                  </a:moveTo>
                  <a:lnTo>
                    <a:pt x="2599911" y="0"/>
                  </a:lnTo>
                  <a:cubicBezTo>
                    <a:pt x="2606379" y="0"/>
                    <a:pt x="2611622" y="5243"/>
                    <a:pt x="2611622" y="11711"/>
                  </a:cubicBezTo>
                  <a:lnTo>
                    <a:pt x="2611622" y="153622"/>
                  </a:lnTo>
                  <a:cubicBezTo>
                    <a:pt x="2611622" y="156728"/>
                    <a:pt x="2610389" y="159707"/>
                    <a:pt x="2608192" y="161903"/>
                  </a:cubicBezTo>
                  <a:cubicBezTo>
                    <a:pt x="2605996" y="164099"/>
                    <a:pt x="2603017" y="165333"/>
                    <a:pt x="2599911" y="165333"/>
                  </a:cubicBezTo>
                  <a:lnTo>
                    <a:pt x="11711" y="165333"/>
                  </a:lnTo>
                  <a:cubicBezTo>
                    <a:pt x="8605" y="165333"/>
                    <a:pt x="5626" y="164099"/>
                    <a:pt x="3430" y="161903"/>
                  </a:cubicBezTo>
                  <a:cubicBezTo>
                    <a:pt x="1234" y="159707"/>
                    <a:pt x="0" y="156728"/>
                    <a:pt x="0" y="153622"/>
                  </a:cubicBezTo>
                  <a:lnTo>
                    <a:pt x="0" y="11711"/>
                  </a:lnTo>
                  <a:cubicBezTo>
                    <a:pt x="0" y="8605"/>
                    <a:pt x="1234" y="5626"/>
                    <a:pt x="3430" y="3430"/>
                  </a:cubicBezTo>
                  <a:cubicBezTo>
                    <a:pt x="5626" y="1234"/>
                    <a:pt x="8605" y="0"/>
                    <a:pt x="11711" y="0"/>
                  </a:cubicBezTo>
                  <a:close/>
                </a:path>
              </a:pathLst>
            </a:custGeom>
            <a:solidFill>
              <a:srgbClr val="535659"/>
            </a:solidFill>
            <a:ln w="19050" cap="sq">
              <a:solidFill>
                <a:srgbClr val="243342"/>
              </a:solidFill>
              <a:prstDash val="solid"/>
              <a:miter/>
            </a:ln>
          </p:spPr>
        </p:sp>
        <p:sp>
          <p:nvSpPr>
            <p:cNvPr name="TextBox 37" id="37"/>
            <p:cNvSpPr txBox="true"/>
            <p:nvPr/>
          </p:nvSpPr>
          <p:spPr>
            <a:xfrm>
              <a:off x="0" y="-38100"/>
              <a:ext cx="2611622" cy="203433"/>
            </a:xfrm>
            <a:prstGeom prst="rect">
              <a:avLst/>
            </a:prstGeom>
          </p:spPr>
          <p:txBody>
            <a:bodyPr anchor="ctr" rtlCol="false" tIns="50800" lIns="50800" bIns="50800" rIns="50800"/>
            <a:lstStyle/>
            <a:p>
              <a:pPr algn="ctr">
                <a:lnSpc>
                  <a:spcPts val="3362"/>
                </a:lnSpc>
              </a:pPr>
            </a:p>
          </p:txBody>
        </p:sp>
      </p:grpSp>
      <p:sp>
        <p:nvSpPr>
          <p:cNvPr name="TextBox 38" id="38"/>
          <p:cNvSpPr txBox="true"/>
          <p:nvPr/>
        </p:nvSpPr>
        <p:spPr>
          <a:xfrm rot="0">
            <a:off x="551143" y="9305925"/>
            <a:ext cx="9994584" cy="444500"/>
          </a:xfrm>
          <a:prstGeom prst="rect">
            <a:avLst/>
          </a:prstGeom>
        </p:spPr>
        <p:txBody>
          <a:bodyPr anchor="t" rtlCol="false" tIns="0" lIns="0" bIns="0" rIns="0">
            <a:spAutoFit/>
          </a:bodyPr>
          <a:lstStyle/>
          <a:p>
            <a:pPr algn="ctr">
              <a:lnSpc>
                <a:spcPts val="2800"/>
              </a:lnSpc>
            </a:pPr>
            <a:r>
              <a:rPr lang="en-US" sz="2000" spc="120">
                <a:solidFill>
                  <a:srgbClr val="FFFFFF"/>
                </a:solidFill>
                <a:latin typeface="Karnchang"/>
                <a:ea typeface="Karnchang"/>
                <a:cs typeface="Karnchang"/>
                <a:sym typeface="Karnchang"/>
              </a:rPr>
              <a:t>Abdul Rozak A |  Politeknik Negeri Bandung | Teknik Telekomuniakasi | 2024</a:t>
            </a:r>
          </a:p>
        </p:txBody>
      </p:sp>
    </p:spTree>
  </p:cSld>
  <p:clrMapOvr>
    <a:masterClrMapping/>
  </p:clrMapOvr>
</p:sld>
</file>

<file path=ppt/slides/slide18.xml><?xml version="1.0" encoding="utf-8"?>
<p:sld xmlns:p="http://schemas.openxmlformats.org/presentationml/2006/main" xmlns:a="http://schemas.openxmlformats.org/drawingml/2006/main">
  <p:cSld>
    <p:bg>
      <p:bgPr>
        <a:solidFill>
          <a:srgbClr val="E6EAEF"/>
        </a:solidFill>
      </p:bgPr>
    </p:bg>
    <p:spTree>
      <p:nvGrpSpPr>
        <p:cNvPr id="1" name=""/>
        <p:cNvGrpSpPr/>
        <p:nvPr/>
      </p:nvGrpSpPr>
      <p:grpSpPr>
        <a:xfrm>
          <a:off x="0" y="0"/>
          <a:ext cx="0" cy="0"/>
          <a:chOff x="0" y="0"/>
          <a:chExt cx="0" cy="0"/>
        </a:xfrm>
      </p:grpSpPr>
      <p:grpSp>
        <p:nvGrpSpPr>
          <p:cNvPr name="Group 2" id="2"/>
          <p:cNvGrpSpPr/>
          <p:nvPr/>
        </p:nvGrpSpPr>
        <p:grpSpPr>
          <a:xfrm rot="0">
            <a:off x="787067" y="592941"/>
            <a:ext cx="16713866" cy="9101117"/>
            <a:chOff x="0" y="0"/>
            <a:chExt cx="4402006" cy="2397002"/>
          </a:xfrm>
        </p:grpSpPr>
        <p:sp>
          <p:nvSpPr>
            <p:cNvPr name="Freeform 3" id="3"/>
            <p:cNvSpPr/>
            <p:nvPr/>
          </p:nvSpPr>
          <p:spPr>
            <a:xfrm flipH="false" flipV="false" rot="0">
              <a:off x="0" y="0"/>
              <a:ext cx="4402006" cy="2397002"/>
            </a:xfrm>
            <a:custGeom>
              <a:avLst/>
              <a:gdLst/>
              <a:ahLst/>
              <a:cxnLst/>
              <a:rect r="r" b="b" t="t" l="l"/>
              <a:pathLst>
                <a:path h="2397002" w="4402006">
                  <a:moveTo>
                    <a:pt x="23623" y="0"/>
                  </a:moveTo>
                  <a:lnTo>
                    <a:pt x="4378382" y="0"/>
                  </a:lnTo>
                  <a:cubicBezTo>
                    <a:pt x="4391429" y="0"/>
                    <a:pt x="4402006" y="10577"/>
                    <a:pt x="4402006" y="23623"/>
                  </a:cubicBezTo>
                  <a:lnTo>
                    <a:pt x="4402006" y="2373379"/>
                  </a:lnTo>
                  <a:cubicBezTo>
                    <a:pt x="4402006" y="2379644"/>
                    <a:pt x="4399517" y="2385653"/>
                    <a:pt x="4395087" y="2390083"/>
                  </a:cubicBezTo>
                  <a:cubicBezTo>
                    <a:pt x="4390656" y="2394513"/>
                    <a:pt x="4384647" y="2397002"/>
                    <a:pt x="4378382" y="2397002"/>
                  </a:cubicBezTo>
                  <a:lnTo>
                    <a:pt x="23623" y="2397002"/>
                  </a:lnTo>
                  <a:cubicBezTo>
                    <a:pt x="17358" y="2397002"/>
                    <a:pt x="11349" y="2394513"/>
                    <a:pt x="6919" y="2390083"/>
                  </a:cubicBezTo>
                  <a:cubicBezTo>
                    <a:pt x="2489" y="2385653"/>
                    <a:pt x="0" y="2379644"/>
                    <a:pt x="0" y="2373379"/>
                  </a:cubicBezTo>
                  <a:lnTo>
                    <a:pt x="0" y="23623"/>
                  </a:lnTo>
                  <a:cubicBezTo>
                    <a:pt x="0" y="17358"/>
                    <a:pt x="2489" y="11349"/>
                    <a:pt x="6919" y="6919"/>
                  </a:cubicBezTo>
                  <a:cubicBezTo>
                    <a:pt x="11349" y="2489"/>
                    <a:pt x="17358" y="0"/>
                    <a:pt x="23623" y="0"/>
                  </a:cubicBezTo>
                  <a:close/>
                </a:path>
              </a:pathLst>
            </a:custGeom>
            <a:solidFill>
              <a:srgbClr val="E6EAEF"/>
            </a:solidFill>
            <a:ln w="19050" cap="rnd">
              <a:solidFill>
                <a:srgbClr val="243342"/>
              </a:solidFill>
              <a:prstDash val="solid"/>
              <a:round/>
            </a:ln>
          </p:spPr>
        </p:sp>
        <p:sp>
          <p:nvSpPr>
            <p:cNvPr name="TextBox 4" id="4"/>
            <p:cNvSpPr txBox="true"/>
            <p:nvPr/>
          </p:nvSpPr>
          <p:spPr>
            <a:xfrm>
              <a:off x="0" y="-38100"/>
              <a:ext cx="4402006" cy="2435102"/>
            </a:xfrm>
            <a:prstGeom prst="rect">
              <a:avLst/>
            </a:prstGeom>
          </p:spPr>
          <p:txBody>
            <a:bodyPr anchor="ctr" rtlCol="false" tIns="50800" lIns="50800" bIns="50800" rIns="50800"/>
            <a:lstStyle/>
            <a:p>
              <a:pPr algn="ctr">
                <a:lnSpc>
                  <a:spcPts val="3362"/>
                </a:lnSpc>
              </a:pPr>
            </a:p>
          </p:txBody>
        </p:sp>
      </p:grpSp>
      <p:grpSp>
        <p:nvGrpSpPr>
          <p:cNvPr name="Group 5" id="5"/>
          <p:cNvGrpSpPr/>
          <p:nvPr/>
        </p:nvGrpSpPr>
        <p:grpSpPr>
          <a:xfrm rot="-7538080">
            <a:off x="-7029811" y="-5584933"/>
            <a:ext cx="9808447" cy="9331824"/>
            <a:chOff x="0" y="0"/>
            <a:chExt cx="13077930" cy="12442432"/>
          </a:xfrm>
        </p:grpSpPr>
        <p:grpSp>
          <p:nvGrpSpPr>
            <p:cNvPr name="Group 6" id="6"/>
            <p:cNvGrpSpPr/>
            <p:nvPr/>
          </p:nvGrpSpPr>
          <p:grpSpPr>
            <a:xfrm rot="2252144">
              <a:off x="1498251" y="1484738"/>
              <a:ext cx="7399579" cy="7432687"/>
              <a:chOff x="0" y="0"/>
              <a:chExt cx="2816645" cy="2829248"/>
            </a:xfrm>
          </p:grpSpPr>
          <p:sp>
            <p:nvSpPr>
              <p:cNvPr name="Freeform 7" id="7"/>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243342"/>
              </a:solidFill>
            </p:spPr>
          </p:sp>
          <p:sp>
            <p:nvSpPr>
              <p:cNvPr name="TextBox 8" id="8"/>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2252144">
              <a:off x="2397493" y="3224228"/>
              <a:ext cx="7399579" cy="7432687"/>
              <a:chOff x="0" y="0"/>
              <a:chExt cx="2816645" cy="2829248"/>
            </a:xfrm>
          </p:grpSpPr>
          <p:sp>
            <p:nvSpPr>
              <p:cNvPr name="Freeform 10" id="10"/>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535659"/>
              </a:solidFill>
            </p:spPr>
          </p:sp>
          <p:sp>
            <p:nvSpPr>
              <p:cNvPr name="TextBox 11" id="11"/>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2252144">
              <a:off x="4180100" y="3525007"/>
              <a:ext cx="7399579" cy="7432687"/>
              <a:chOff x="0" y="0"/>
              <a:chExt cx="2816645" cy="2829248"/>
            </a:xfrm>
          </p:grpSpPr>
          <p:sp>
            <p:nvSpPr>
              <p:cNvPr name="Freeform 13" id="13"/>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858789"/>
              </a:solidFill>
            </p:spPr>
          </p:sp>
          <p:sp>
            <p:nvSpPr>
              <p:cNvPr name="TextBox 14" id="14"/>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grpSp>
        <p:nvGrpSpPr>
          <p:cNvPr name="Group 15" id="15"/>
          <p:cNvGrpSpPr/>
          <p:nvPr/>
        </p:nvGrpSpPr>
        <p:grpSpPr>
          <a:xfrm rot="2124477">
            <a:off x="15979122" y="5429903"/>
            <a:ext cx="9808447" cy="9331824"/>
            <a:chOff x="0" y="0"/>
            <a:chExt cx="13077930" cy="12442432"/>
          </a:xfrm>
        </p:grpSpPr>
        <p:grpSp>
          <p:nvGrpSpPr>
            <p:cNvPr name="Group 16" id="16"/>
            <p:cNvGrpSpPr/>
            <p:nvPr/>
          </p:nvGrpSpPr>
          <p:grpSpPr>
            <a:xfrm rot="2252144">
              <a:off x="1498251" y="1484738"/>
              <a:ext cx="7399579" cy="7432687"/>
              <a:chOff x="0" y="0"/>
              <a:chExt cx="2816645" cy="2829248"/>
            </a:xfrm>
          </p:grpSpPr>
          <p:sp>
            <p:nvSpPr>
              <p:cNvPr name="Freeform 17" id="17"/>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243342"/>
              </a:solidFill>
            </p:spPr>
          </p:sp>
          <p:sp>
            <p:nvSpPr>
              <p:cNvPr name="TextBox 18" id="18"/>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19" id="19"/>
            <p:cNvGrpSpPr/>
            <p:nvPr/>
          </p:nvGrpSpPr>
          <p:grpSpPr>
            <a:xfrm rot="2252144">
              <a:off x="2397493" y="3224228"/>
              <a:ext cx="7399579" cy="7432687"/>
              <a:chOff x="0" y="0"/>
              <a:chExt cx="2816645" cy="2829248"/>
            </a:xfrm>
          </p:grpSpPr>
          <p:sp>
            <p:nvSpPr>
              <p:cNvPr name="Freeform 20" id="20"/>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535659"/>
              </a:solidFill>
            </p:spPr>
          </p:sp>
          <p:sp>
            <p:nvSpPr>
              <p:cNvPr name="TextBox 21" id="21"/>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22" id="22"/>
            <p:cNvGrpSpPr/>
            <p:nvPr/>
          </p:nvGrpSpPr>
          <p:grpSpPr>
            <a:xfrm rot="2252144">
              <a:off x="4180100" y="3525007"/>
              <a:ext cx="7399579" cy="7432687"/>
              <a:chOff x="0" y="0"/>
              <a:chExt cx="2816645" cy="2829248"/>
            </a:xfrm>
          </p:grpSpPr>
          <p:sp>
            <p:nvSpPr>
              <p:cNvPr name="Freeform 23" id="23"/>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858789"/>
              </a:solidFill>
            </p:spPr>
          </p:sp>
          <p:sp>
            <p:nvSpPr>
              <p:cNvPr name="TextBox 24" id="24"/>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sp>
        <p:nvSpPr>
          <p:cNvPr name="TextBox 25" id="25"/>
          <p:cNvSpPr txBox="true"/>
          <p:nvPr/>
        </p:nvSpPr>
        <p:spPr>
          <a:xfrm rot="0">
            <a:off x="4293776" y="1164537"/>
            <a:ext cx="9700448" cy="1107440"/>
          </a:xfrm>
          <a:prstGeom prst="rect">
            <a:avLst/>
          </a:prstGeom>
        </p:spPr>
        <p:txBody>
          <a:bodyPr anchor="t" rtlCol="false" tIns="0" lIns="0" bIns="0" rIns="0">
            <a:spAutoFit/>
          </a:bodyPr>
          <a:lstStyle/>
          <a:p>
            <a:pPr algn="ctr">
              <a:lnSpc>
                <a:spcPts val="5980"/>
              </a:lnSpc>
            </a:pPr>
            <a:r>
              <a:rPr lang="en-US" sz="6500" b="true">
                <a:solidFill>
                  <a:srgbClr val="243342"/>
                </a:solidFill>
                <a:latin typeface="Karnchang Bold"/>
                <a:ea typeface="Karnchang Bold"/>
                <a:cs typeface="Karnchang Bold"/>
                <a:sym typeface="Karnchang Bold"/>
              </a:rPr>
              <a:t>Masa depan dari SIAR</a:t>
            </a:r>
          </a:p>
        </p:txBody>
      </p:sp>
      <p:sp>
        <p:nvSpPr>
          <p:cNvPr name="TextBox 26" id="26"/>
          <p:cNvSpPr txBox="true"/>
          <p:nvPr/>
        </p:nvSpPr>
        <p:spPr>
          <a:xfrm rot="0">
            <a:off x="1960029" y="2698740"/>
            <a:ext cx="14367942" cy="4398645"/>
          </a:xfrm>
          <a:prstGeom prst="rect">
            <a:avLst/>
          </a:prstGeom>
        </p:spPr>
        <p:txBody>
          <a:bodyPr anchor="t" rtlCol="false" tIns="0" lIns="0" bIns="0" rIns="0">
            <a:spAutoFit/>
          </a:bodyPr>
          <a:lstStyle/>
          <a:p>
            <a:pPr algn="just" marL="582930" indent="-291465" lvl="1">
              <a:lnSpc>
                <a:spcPts val="3779"/>
              </a:lnSpc>
              <a:buFont typeface="Arial"/>
              <a:buChar char="•"/>
            </a:pPr>
            <a:r>
              <a:rPr lang="en-US" sz="2700">
                <a:solidFill>
                  <a:srgbClr val="000000"/>
                </a:solidFill>
                <a:latin typeface="Karnchang"/>
                <a:ea typeface="Karnchang"/>
                <a:cs typeface="Karnchang"/>
                <a:sym typeface="Karnchang"/>
              </a:rPr>
              <a:t>Penggunaan sinyal multifrekuensi untuk membentuk sinyal pita lebar dapat meningkatkan resolusi jangkauan. SIAR sebelumnya menggunakan sinyal pita sempit, tetapi dengan teknik keragaman frekuensi, sinyal ini dapat disintesis menjadi sinyal pita lebar, mirip dengan sistem OFDM, dan menarik perhatian banyak peneliti.</a:t>
            </a:r>
          </a:p>
          <a:p>
            <a:pPr algn="just" marL="582930" indent="-291465" lvl="1">
              <a:lnSpc>
                <a:spcPts val="3779"/>
              </a:lnSpc>
              <a:buFont typeface="Arial"/>
              <a:buChar char="•"/>
            </a:pPr>
            <a:r>
              <a:rPr lang="en-US" sz="2700">
                <a:solidFill>
                  <a:srgbClr val="000000"/>
                </a:solidFill>
                <a:latin typeface="Karnchang"/>
                <a:ea typeface="Karnchang"/>
                <a:cs typeface="Karnchang"/>
                <a:sym typeface="Karnchang"/>
              </a:rPr>
              <a:t>Meskipun energi pancaran SIAR bersifat omnidirectional dan kurang efisien dibandingkan radar array terfasa, teknik SIAR atau MIMO tetap relevan dalam mode tertentu sistem radar modern. Contohnya, untuk operasi penerimaan koheren, estimasi parameter koherensi pada radar aperture terdistribusi, serta pembentukan beberapa beam dan pelacakan target dalam sistem radar kognitif.</a:t>
            </a:r>
          </a:p>
        </p:txBody>
      </p:sp>
      <p:grpSp>
        <p:nvGrpSpPr>
          <p:cNvPr name="Group 27" id="27"/>
          <p:cNvGrpSpPr/>
          <p:nvPr/>
        </p:nvGrpSpPr>
        <p:grpSpPr>
          <a:xfrm rot="0">
            <a:off x="15665503" y="317552"/>
            <a:ext cx="2042119" cy="650325"/>
            <a:chOff x="0" y="0"/>
            <a:chExt cx="537842" cy="171279"/>
          </a:xfrm>
        </p:grpSpPr>
        <p:sp>
          <p:nvSpPr>
            <p:cNvPr name="Freeform 28" id="28"/>
            <p:cNvSpPr/>
            <p:nvPr/>
          </p:nvSpPr>
          <p:spPr>
            <a:xfrm flipH="false" flipV="false" rot="0">
              <a:off x="0" y="0"/>
              <a:ext cx="537842" cy="171279"/>
            </a:xfrm>
            <a:custGeom>
              <a:avLst/>
              <a:gdLst/>
              <a:ahLst/>
              <a:cxnLst/>
              <a:rect r="r" b="b" t="t" l="l"/>
              <a:pathLst>
                <a:path h="171279" w="537842">
                  <a:moveTo>
                    <a:pt x="53076" y="0"/>
                  </a:moveTo>
                  <a:lnTo>
                    <a:pt x="484766" y="0"/>
                  </a:lnTo>
                  <a:cubicBezTo>
                    <a:pt x="514079" y="0"/>
                    <a:pt x="537842" y="23763"/>
                    <a:pt x="537842" y="53076"/>
                  </a:cubicBezTo>
                  <a:lnTo>
                    <a:pt x="537842" y="118203"/>
                  </a:lnTo>
                  <a:cubicBezTo>
                    <a:pt x="537842" y="132280"/>
                    <a:pt x="532250" y="145780"/>
                    <a:pt x="522296" y="155734"/>
                  </a:cubicBezTo>
                  <a:cubicBezTo>
                    <a:pt x="512343" y="165687"/>
                    <a:pt x="498843" y="171279"/>
                    <a:pt x="484766" y="171279"/>
                  </a:cubicBezTo>
                  <a:lnTo>
                    <a:pt x="53076" y="171279"/>
                  </a:lnTo>
                  <a:cubicBezTo>
                    <a:pt x="38999" y="171279"/>
                    <a:pt x="25499" y="165687"/>
                    <a:pt x="15546" y="155734"/>
                  </a:cubicBezTo>
                  <a:cubicBezTo>
                    <a:pt x="5592" y="145780"/>
                    <a:pt x="0" y="132280"/>
                    <a:pt x="0" y="118203"/>
                  </a:cubicBezTo>
                  <a:lnTo>
                    <a:pt x="0" y="53076"/>
                  </a:lnTo>
                  <a:cubicBezTo>
                    <a:pt x="0" y="38999"/>
                    <a:pt x="5592" y="25499"/>
                    <a:pt x="15546" y="15546"/>
                  </a:cubicBezTo>
                  <a:cubicBezTo>
                    <a:pt x="25499" y="5592"/>
                    <a:pt x="38999" y="0"/>
                    <a:pt x="53076" y="0"/>
                  </a:cubicBezTo>
                  <a:close/>
                </a:path>
              </a:pathLst>
            </a:custGeom>
            <a:solidFill>
              <a:srgbClr val="535659"/>
            </a:solidFill>
            <a:ln w="19050" cap="sq">
              <a:solidFill>
                <a:srgbClr val="243342"/>
              </a:solidFill>
              <a:prstDash val="solid"/>
              <a:miter/>
            </a:ln>
          </p:spPr>
        </p:sp>
        <p:sp>
          <p:nvSpPr>
            <p:cNvPr name="TextBox 29" id="29"/>
            <p:cNvSpPr txBox="true"/>
            <p:nvPr/>
          </p:nvSpPr>
          <p:spPr>
            <a:xfrm>
              <a:off x="0" y="-38100"/>
              <a:ext cx="537842" cy="209379"/>
            </a:xfrm>
            <a:prstGeom prst="rect">
              <a:avLst/>
            </a:prstGeom>
          </p:spPr>
          <p:txBody>
            <a:bodyPr anchor="ctr" rtlCol="false" tIns="50800" lIns="50800" bIns="50800" rIns="50800"/>
            <a:lstStyle/>
            <a:p>
              <a:pPr algn="ctr">
                <a:lnSpc>
                  <a:spcPts val="3362"/>
                </a:lnSpc>
              </a:pPr>
            </a:p>
          </p:txBody>
        </p:sp>
      </p:grpSp>
      <p:sp>
        <p:nvSpPr>
          <p:cNvPr name="TextBox 30" id="30"/>
          <p:cNvSpPr txBox="true"/>
          <p:nvPr/>
        </p:nvSpPr>
        <p:spPr>
          <a:xfrm rot="0">
            <a:off x="15621459" y="349050"/>
            <a:ext cx="2168307" cy="444500"/>
          </a:xfrm>
          <a:prstGeom prst="rect">
            <a:avLst/>
          </a:prstGeom>
        </p:spPr>
        <p:txBody>
          <a:bodyPr anchor="t" rtlCol="false" tIns="0" lIns="0" bIns="0" rIns="0">
            <a:spAutoFit/>
          </a:bodyPr>
          <a:lstStyle/>
          <a:p>
            <a:pPr algn="ctr">
              <a:lnSpc>
                <a:spcPts val="2800"/>
              </a:lnSpc>
            </a:pPr>
            <a:r>
              <a:rPr lang="en-US" sz="2000" spc="120">
                <a:solidFill>
                  <a:srgbClr val="FFFFFF"/>
                </a:solidFill>
                <a:latin typeface="Karnchang"/>
                <a:ea typeface="Karnchang"/>
                <a:cs typeface="Karnchang"/>
                <a:sym typeface="Karnchang"/>
              </a:rPr>
              <a:t>Halaman 18</a:t>
            </a:r>
          </a:p>
        </p:txBody>
      </p:sp>
      <p:grpSp>
        <p:nvGrpSpPr>
          <p:cNvPr name="Group 31" id="31"/>
          <p:cNvGrpSpPr/>
          <p:nvPr/>
        </p:nvGrpSpPr>
        <p:grpSpPr>
          <a:xfrm rot="0">
            <a:off x="629723" y="9258300"/>
            <a:ext cx="6961669" cy="627749"/>
            <a:chOff x="0" y="0"/>
            <a:chExt cx="1833526" cy="165333"/>
          </a:xfrm>
        </p:grpSpPr>
        <p:sp>
          <p:nvSpPr>
            <p:cNvPr name="Freeform 32" id="32"/>
            <p:cNvSpPr/>
            <p:nvPr/>
          </p:nvSpPr>
          <p:spPr>
            <a:xfrm flipH="false" flipV="false" rot="0">
              <a:off x="0" y="0"/>
              <a:ext cx="1833526" cy="165333"/>
            </a:xfrm>
            <a:custGeom>
              <a:avLst/>
              <a:gdLst/>
              <a:ahLst/>
              <a:cxnLst/>
              <a:rect r="r" b="b" t="t" l="l"/>
              <a:pathLst>
                <a:path h="165333" w="1833526">
                  <a:moveTo>
                    <a:pt x="16681" y="0"/>
                  </a:moveTo>
                  <a:lnTo>
                    <a:pt x="1816845" y="0"/>
                  </a:lnTo>
                  <a:cubicBezTo>
                    <a:pt x="1821269" y="0"/>
                    <a:pt x="1825512" y="1757"/>
                    <a:pt x="1828640" y="4886"/>
                  </a:cubicBezTo>
                  <a:cubicBezTo>
                    <a:pt x="1831769" y="8014"/>
                    <a:pt x="1833526" y="12257"/>
                    <a:pt x="1833526" y="16681"/>
                  </a:cubicBezTo>
                  <a:lnTo>
                    <a:pt x="1833526" y="148652"/>
                  </a:lnTo>
                  <a:cubicBezTo>
                    <a:pt x="1833526" y="157865"/>
                    <a:pt x="1826058" y="165333"/>
                    <a:pt x="1816845" y="165333"/>
                  </a:cubicBezTo>
                  <a:lnTo>
                    <a:pt x="16681" y="165333"/>
                  </a:lnTo>
                  <a:cubicBezTo>
                    <a:pt x="7468" y="165333"/>
                    <a:pt x="0" y="157865"/>
                    <a:pt x="0" y="148652"/>
                  </a:cubicBezTo>
                  <a:lnTo>
                    <a:pt x="0" y="16681"/>
                  </a:lnTo>
                  <a:cubicBezTo>
                    <a:pt x="0" y="7468"/>
                    <a:pt x="7468" y="0"/>
                    <a:pt x="16681" y="0"/>
                  </a:cubicBezTo>
                  <a:close/>
                </a:path>
              </a:pathLst>
            </a:custGeom>
            <a:solidFill>
              <a:srgbClr val="535659"/>
            </a:solidFill>
            <a:ln w="19050" cap="sq">
              <a:solidFill>
                <a:srgbClr val="243342"/>
              </a:solidFill>
              <a:prstDash val="solid"/>
              <a:miter/>
            </a:ln>
          </p:spPr>
        </p:sp>
        <p:sp>
          <p:nvSpPr>
            <p:cNvPr name="TextBox 33" id="33"/>
            <p:cNvSpPr txBox="true"/>
            <p:nvPr/>
          </p:nvSpPr>
          <p:spPr>
            <a:xfrm>
              <a:off x="0" y="-38100"/>
              <a:ext cx="1833526" cy="203433"/>
            </a:xfrm>
            <a:prstGeom prst="rect">
              <a:avLst/>
            </a:prstGeom>
          </p:spPr>
          <p:txBody>
            <a:bodyPr anchor="ctr" rtlCol="false" tIns="50800" lIns="50800" bIns="50800" rIns="50800"/>
            <a:lstStyle/>
            <a:p>
              <a:pPr algn="ctr">
                <a:lnSpc>
                  <a:spcPts val="3362"/>
                </a:lnSpc>
              </a:pPr>
            </a:p>
          </p:txBody>
        </p:sp>
      </p:grpSp>
      <p:sp>
        <p:nvSpPr>
          <p:cNvPr name="TextBox 34" id="34"/>
          <p:cNvSpPr txBox="true"/>
          <p:nvPr/>
        </p:nvSpPr>
        <p:spPr>
          <a:xfrm rot="0">
            <a:off x="551143" y="9305925"/>
            <a:ext cx="7118830" cy="444454"/>
          </a:xfrm>
          <a:prstGeom prst="rect">
            <a:avLst/>
          </a:prstGeom>
        </p:spPr>
        <p:txBody>
          <a:bodyPr anchor="t" rtlCol="false" tIns="0" lIns="0" bIns="0" rIns="0">
            <a:spAutoFit/>
          </a:bodyPr>
          <a:lstStyle/>
          <a:p>
            <a:pPr algn="ctr">
              <a:lnSpc>
                <a:spcPts val="2800"/>
              </a:lnSpc>
            </a:pPr>
            <a:r>
              <a:rPr lang="en-US" sz="2000" spc="120">
                <a:solidFill>
                  <a:srgbClr val="FFFFFF"/>
                </a:solidFill>
                <a:latin typeface="Karnchang"/>
                <a:ea typeface="Karnchang"/>
                <a:cs typeface="Karnchang"/>
                <a:sym typeface="Karnchang"/>
              </a:rPr>
              <a:t>Murad Naser |  Universitas Fauget | Ekonomi | 2025</a:t>
            </a:r>
          </a:p>
        </p:txBody>
      </p:sp>
      <p:grpSp>
        <p:nvGrpSpPr>
          <p:cNvPr name="Group 35" id="35"/>
          <p:cNvGrpSpPr/>
          <p:nvPr/>
        </p:nvGrpSpPr>
        <p:grpSpPr>
          <a:xfrm rot="0">
            <a:off x="629723" y="9258300"/>
            <a:ext cx="9916004" cy="627749"/>
            <a:chOff x="0" y="0"/>
            <a:chExt cx="2611622" cy="165333"/>
          </a:xfrm>
        </p:grpSpPr>
        <p:sp>
          <p:nvSpPr>
            <p:cNvPr name="Freeform 36" id="36"/>
            <p:cNvSpPr/>
            <p:nvPr/>
          </p:nvSpPr>
          <p:spPr>
            <a:xfrm flipH="false" flipV="false" rot="0">
              <a:off x="0" y="0"/>
              <a:ext cx="2611622" cy="165333"/>
            </a:xfrm>
            <a:custGeom>
              <a:avLst/>
              <a:gdLst/>
              <a:ahLst/>
              <a:cxnLst/>
              <a:rect r="r" b="b" t="t" l="l"/>
              <a:pathLst>
                <a:path h="165333" w="2611622">
                  <a:moveTo>
                    <a:pt x="11711" y="0"/>
                  </a:moveTo>
                  <a:lnTo>
                    <a:pt x="2599911" y="0"/>
                  </a:lnTo>
                  <a:cubicBezTo>
                    <a:pt x="2606379" y="0"/>
                    <a:pt x="2611622" y="5243"/>
                    <a:pt x="2611622" y="11711"/>
                  </a:cubicBezTo>
                  <a:lnTo>
                    <a:pt x="2611622" y="153622"/>
                  </a:lnTo>
                  <a:cubicBezTo>
                    <a:pt x="2611622" y="156728"/>
                    <a:pt x="2610389" y="159707"/>
                    <a:pt x="2608192" y="161903"/>
                  </a:cubicBezTo>
                  <a:cubicBezTo>
                    <a:pt x="2605996" y="164099"/>
                    <a:pt x="2603017" y="165333"/>
                    <a:pt x="2599911" y="165333"/>
                  </a:cubicBezTo>
                  <a:lnTo>
                    <a:pt x="11711" y="165333"/>
                  </a:lnTo>
                  <a:cubicBezTo>
                    <a:pt x="8605" y="165333"/>
                    <a:pt x="5626" y="164099"/>
                    <a:pt x="3430" y="161903"/>
                  </a:cubicBezTo>
                  <a:cubicBezTo>
                    <a:pt x="1234" y="159707"/>
                    <a:pt x="0" y="156728"/>
                    <a:pt x="0" y="153622"/>
                  </a:cubicBezTo>
                  <a:lnTo>
                    <a:pt x="0" y="11711"/>
                  </a:lnTo>
                  <a:cubicBezTo>
                    <a:pt x="0" y="8605"/>
                    <a:pt x="1234" y="5626"/>
                    <a:pt x="3430" y="3430"/>
                  </a:cubicBezTo>
                  <a:cubicBezTo>
                    <a:pt x="5626" y="1234"/>
                    <a:pt x="8605" y="0"/>
                    <a:pt x="11711" y="0"/>
                  </a:cubicBezTo>
                  <a:close/>
                </a:path>
              </a:pathLst>
            </a:custGeom>
            <a:solidFill>
              <a:srgbClr val="535659"/>
            </a:solidFill>
            <a:ln w="19050" cap="sq">
              <a:solidFill>
                <a:srgbClr val="243342"/>
              </a:solidFill>
              <a:prstDash val="solid"/>
              <a:miter/>
            </a:ln>
          </p:spPr>
        </p:sp>
        <p:sp>
          <p:nvSpPr>
            <p:cNvPr name="TextBox 37" id="37"/>
            <p:cNvSpPr txBox="true"/>
            <p:nvPr/>
          </p:nvSpPr>
          <p:spPr>
            <a:xfrm>
              <a:off x="0" y="-38100"/>
              <a:ext cx="2611622" cy="203433"/>
            </a:xfrm>
            <a:prstGeom prst="rect">
              <a:avLst/>
            </a:prstGeom>
          </p:spPr>
          <p:txBody>
            <a:bodyPr anchor="ctr" rtlCol="false" tIns="50800" lIns="50800" bIns="50800" rIns="50800"/>
            <a:lstStyle/>
            <a:p>
              <a:pPr algn="ctr">
                <a:lnSpc>
                  <a:spcPts val="3362"/>
                </a:lnSpc>
              </a:pPr>
            </a:p>
          </p:txBody>
        </p:sp>
      </p:grpSp>
      <p:sp>
        <p:nvSpPr>
          <p:cNvPr name="TextBox 38" id="38"/>
          <p:cNvSpPr txBox="true"/>
          <p:nvPr/>
        </p:nvSpPr>
        <p:spPr>
          <a:xfrm rot="0">
            <a:off x="551143" y="9305925"/>
            <a:ext cx="9994584" cy="444500"/>
          </a:xfrm>
          <a:prstGeom prst="rect">
            <a:avLst/>
          </a:prstGeom>
        </p:spPr>
        <p:txBody>
          <a:bodyPr anchor="t" rtlCol="false" tIns="0" lIns="0" bIns="0" rIns="0">
            <a:spAutoFit/>
          </a:bodyPr>
          <a:lstStyle/>
          <a:p>
            <a:pPr algn="ctr">
              <a:lnSpc>
                <a:spcPts val="2800"/>
              </a:lnSpc>
            </a:pPr>
            <a:r>
              <a:rPr lang="en-US" sz="2000" spc="120">
                <a:solidFill>
                  <a:srgbClr val="FFFFFF"/>
                </a:solidFill>
                <a:latin typeface="Karnchang"/>
                <a:ea typeface="Karnchang"/>
                <a:cs typeface="Karnchang"/>
                <a:sym typeface="Karnchang"/>
              </a:rPr>
              <a:t>Abdul Rozak A |  Politeknik Negeri Bandung | Teknik Telekomuniakasi | 2024</a:t>
            </a:r>
          </a:p>
        </p:txBody>
      </p:sp>
    </p:spTree>
  </p:cSld>
  <p:clrMapOvr>
    <a:masterClrMapping/>
  </p:clrMapOvr>
</p:sld>
</file>

<file path=ppt/slides/slide19.xml><?xml version="1.0" encoding="utf-8"?>
<p:sld xmlns:p="http://schemas.openxmlformats.org/presentationml/2006/main" xmlns:a="http://schemas.openxmlformats.org/drawingml/2006/main">
  <p:cSld>
    <p:bg>
      <p:bgPr>
        <a:solidFill>
          <a:srgbClr val="E6EAEF"/>
        </a:solidFill>
      </p:bgPr>
    </p:bg>
    <p:spTree>
      <p:nvGrpSpPr>
        <p:cNvPr id="1" name=""/>
        <p:cNvGrpSpPr/>
        <p:nvPr/>
      </p:nvGrpSpPr>
      <p:grpSpPr>
        <a:xfrm>
          <a:off x="0" y="0"/>
          <a:ext cx="0" cy="0"/>
          <a:chOff x="0" y="0"/>
          <a:chExt cx="0" cy="0"/>
        </a:xfrm>
      </p:grpSpPr>
      <p:grpSp>
        <p:nvGrpSpPr>
          <p:cNvPr name="Group 2" id="2"/>
          <p:cNvGrpSpPr/>
          <p:nvPr/>
        </p:nvGrpSpPr>
        <p:grpSpPr>
          <a:xfrm rot="0">
            <a:off x="787067" y="592941"/>
            <a:ext cx="16713866" cy="9101117"/>
            <a:chOff x="0" y="0"/>
            <a:chExt cx="4402006" cy="2397002"/>
          </a:xfrm>
        </p:grpSpPr>
        <p:sp>
          <p:nvSpPr>
            <p:cNvPr name="Freeform 3" id="3"/>
            <p:cNvSpPr/>
            <p:nvPr/>
          </p:nvSpPr>
          <p:spPr>
            <a:xfrm flipH="false" flipV="false" rot="0">
              <a:off x="0" y="0"/>
              <a:ext cx="4402006" cy="2397002"/>
            </a:xfrm>
            <a:custGeom>
              <a:avLst/>
              <a:gdLst/>
              <a:ahLst/>
              <a:cxnLst/>
              <a:rect r="r" b="b" t="t" l="l"/>
              <a:pathLst>
                <a:path h="2397002" w="4402006">
                  <a:moveTo>
                    <a:pt x="23623" y="0"/>
                  </a:moveTo>
                  <a:lnTo>
                    <a:pt x="4378382" y="0"/>
                  </a:lnTo>
                  <a:cubicBezTo>
                    <a:pt x="4391429" y="0"/>
                    <a:pt x="4402006" y="10577"/>
                    <a:pt x="4402006" y="23623"/>
                  </a:cubicBezTo>
                  <a:lnTo>
                    <a:pt x="4402006" y="2373379"/>
                  </a:lnTo>
                  <a:cubicBezTo>
                    <a:pt x="4402006" y="2379644"/>
                    <a:pt x="4399517" y="2385653"/>
                    <a:pt x="4395087" y="2390083"/>
                  </a:cubicBezTo>
                  <a:cubicBezTo>
                    <a:pt x="4390656" y="2394513"/>
                    <a:pt x="4384647" y="2397002"/>
                    <a:pt x="4378382" y="2397002"/>
                  </a:cubicBezTo>
                  <a:lnTo>
                    <a:pt x="23623" y="2397002"/>
                  </a:lnTo>
                  <a:cubicBezTo>
                    <a:pt x="17358" y="2397002"/>
                    <a:pt x="11349" y="2394513"/>
                    <a:pt x="6919" y="2390083"/>
                  </a:cubicBezTo>
                  <a:cubicBezTo>
                    <a:pt x="2489" y="2385653"/>
                    <a:pt x="0" y="2379644"/>
                    <a:pt x="0" y="2373379"/>
                  </a:cubicBezTo>
                  <a:lnTo>
                    <a:pt x="0" y="23623"/>
                  </a:lnTo>
                  <a:cubicBezTo>
                    <a:pt x="0" y="17358"/>
                    <a:pt x="2489" y="11349"/>
                    <a:pt x="6919" y="6919"/>
                  </a:cubicBezTo>
                  <a:cubicBezTo>
                    <a:pt x="11349" y="2489"/>
                    <a:pt x="17358" y="0"/>
                    <a:pt x="23623" y="0"/>
                  </a:cubicBezTo>
                  <a:close/>
                </a:path>
              </a:pathLst>
            </a:custGeom>
            <a:solidFill>
              <a:srgbClr val="E6EAEF"/>
            </a:solidFill>
            <a:ln w="19050" cap="rnd">
              <a:solidFill>
                <a:srgbClr val="243342"/>
              </a:solidFill>
              <a:prstDash val="solid"/>
              <a:round/>
            </a:ln>
          </p:spPr>
        </p:sp>
        <p:sp>
          <p:nvSpPr>
            <p:cNvPr name="TextBox 4" id="4"/>
            <p:cNvSpPr txBox="true"/>
            <p:nvPr/>
          </p:nvSpPr>
          <p:spPr>
            <a:xfrm>
              <a:off x="0" y="-38100"/>
              <a:ext cx="4402006" cy="2435102"/>
            </a:xfrm>
            <a:prstGeom prst="rect">
              <a:avLst/>
            </a:prstGeom>
          </p:spPr>
          <p:txBody>
            <a:bodyPr anchor="ctr" rtlCol="false" tIns="50800" lIns="50800" bIns="50800" rIns="50800"/>
            <a:lstStyle/>
            <a:p>
              <a:pPr algn="ctr">
                <a:lnSpc>
                  <a:spcPts val="3362"/>
                </a:lnSpc>
              </a:pPr>
            </a:p>
          </p:txBody>
        </p:sp>
      </p:grpSp>
      <p:grpSp>
        <p:nvGrpSpPr>
          <p:cNvPr name="Group 5" id="5"/>
          <p:cNvGrpSpPr/>
          <p:nvPr/>
        </p:nvGrpSpPr>
        <p:grpSpPr>
          <a:xfrm rot="-9559999">
            <a:off x="-6690254" y="3123721"/>
            <a:ext cx="9808447" cy="9331824"/>
            <a:chOff x="0" y="0"/>
            <a:chExt cx="13077930" cy="12442432"/>
          </a:xfrm>
        </p:grpSpPr>
        <p:grpSp>
          <p:nvGrpSpPr>
            <p:cNvPr name="Group 6" id="6"/>
            <p:cNvGrpSpPr/>
            <p:nvPr/>
          </p:nvGrpSpPr>
          <p:grpSpPr>
            <a:xfrm rot="2252144">
              <a:off x="1498251" y="1484738"/>
              <a:ext cx="7399579" cy="7432687"/>
              <a:chOff x="0" y="0"/>
              <a:chExt cx="2816645" cy="2829248"/>
            </a:xfrm>
          </p:grpSpPr>
          <p:sp>
            <p:nvSpPr>
              <p:cNvPr name="Freeform 7" id="7"/>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243342"/>
              </a:solidFill>
            </p:spPr>
          </p:sp>
          <p:sp>
            <p:nvSpPr>
              <p:cNvPr name="TextBox 8" id="8"/>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2252144">
              <a:off x="2397493" y="3224228"/>
              <a:ext cx="7399579" cy="7432687"/>
              <a:chOff x="0" y="0"/>
              <a:chExt cx="2816645" cy="2829248"/>
            </a:xfrm>
          </p:grpSpPr>
          <p:sp>
            <p:nvSpPr>
              <p:cNvPr name="Freeform 10" id="10"/>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535659"/>
              </a:solidFill>
            </p:spPr>
          </p:sp>
          <p:sp>
            <p:nvSpPr>
              <p:cNvPr name="TextBox 11" id="11"/>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2252144">
              <a:off x="4180100" y="3525007"/>
              <a:ext cx="7399579" cy="7432687"/>
              <a:chOff x="0" y="0"/>
              <a:chExt cx="2816645" cy="2829248"/>
            </a:xfrm>
          </p:grpSpPr>
          <p:sp>
            <p:nvSpPr>
              <p:cNvPr name="Freeform 13" id="13"/>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858789"/>
              </a:solidFill>
            </p:spPr>
          </p:sp>
          <p:sp>
            <p:nvSpPr>
              <p:cNvPr name="TextBox 14" id="14"/>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grpSp>
        <p:nvGrpSpPr>
          <p:cNvPr name="Group 15" id="15"/>
          <p:cNvGrpSpPr/>
          <p:nvPr/>
        </p:nvGrpSpPr>
        <p:grpSpPr>
          <a:xfrm rot="238117">
            <a:off x="14860579" y="-2339974"/>
            <a:ext cx="9808447" cy="9331824"/>
            <a:chOff x="0" y="0"/>
            <a:chExt cx="13077930" cy="12442432"/>
          </a:xfrm>
        </p:grpSpPr>
        <p:grpSp>
          <p:nvGrpSpPr>
            <p:cNvPr name="Group 16" id="16"/>
            <p:cNvGrpSpPr/>
            <p:nvPr/>
          </p:nvGrpSpPr>
          <p:grpSpPr>
            <a:xfrm rot="2252144">
              <a:off x="1498251" y="1484738"/>
              <a:ext cx="7399579" cy="7432687"/>
              <a:chOff x="0" y="0"/>
              <a:chExt cx="2816645" cy="2829248"/>
            </a:xfrm>
          </p:grpSpPr>
          <p:sp>
            <p:nvSpPr>
              <p:cNvPr name="Freeform 17" id="17"/>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243342"/>
              </a:solidFill>
            </p:spPr>
          </p:sp>
          <p:sp>
            <p:nvSpPr>
              <p:cNvPr name="TextBox 18" id="18"/>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19" id="19"/>
            <p:cNvGrpSpPr/>
            <p:nvPr/>
          </p:nvGrpSpPr>
          <p:grpSpPr>
            <a:xfrm rot="2252144">
              <a:off x="2397493" y="3224228"/>
              <a:ext cx="7399579" cy="7432687"/>
              <a:chOff x="0" y="0"/>
              <a:chExt cx="2816645" cy="2829248"/>
            </a:xfrm>
          </p:grpSpPr>
          <p:sp>
            <p:nvSpPr>
              <p:cNvPr name="Freeform 20" id="20"/>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535659"/>
              </a:solidFill>
            </p:spPr>
          </p:sp>
          <p:sp>
            <p:nvSpPr>
              <p:cNvPr name="TextBox 21" id="21"/>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nvGrpSpPr>
            <p:cNvPr name="Group 22" id="22"/>
            <p:cNvGrpSpPr/>
            <p:nvPr/>
          </p:nvGrpSpPr>
          <p:grpSpPr>
            <a:xfrm rot="2252144">
              <a:off x="4180100" y="3525007"/>
              <a:ext cx="7399579" cy="7432687"/>
              <a:chOff x="0" y="0"/>
              <a:chExt cx="2816645" cy="2829248"/>
            </a:xfrm>
          </p:grpSpPr>
          <p:sp>
            <p:nvSpPr>
              <p:cNvPr name="Freeform 23" id="23"/>
              <p:cNvSpPr/>
              <p:nvPr/>
            </p:nvSpPr>
            <p:spPr>
              <a:xfrm flipH="false" flipV="false" rot="0">
                <a:off x="0" y="0"/>
                <a:ext cx="2816645" cy="2829248"/>
              </a:xfrm>
              <a:custGeom>
                <a:avLst/>
                <a:gdLst/>
                <a:ahLst/>
                <a:cxnLst/>
                <a:rect r="r" b="b" t="t" l="l"/>
                <a:pathLst>
                  <a:path h="2829248" w="2816645">
                    <a:moveTo>
                      <a:pt x="0" y="0"/>
                    </a:moveTo>
                    <a:lnTo>
                      <a:pt x="2816645" y="0"/>
                    </a:lnTo>
                    <a:lnTo>
                      <a:pt x="2816645" y="2829248"/>
                    </a:lnTo>
                    <a:lnTo>
                      <a:pt x="0" y="2829248"/>
                    </a:lnTo>
                    <a:close/>
                  </a:path>
                </a:pathLst>
              </a:custGeom>
              <a:solidFill>
                <a:srgbClr val="858789"/>
              </a:solidFill>
            </p:spPr>
          </p:sp>
          <p:sp>
            <p:nvSpPr>
              <p:cNvPr name="TextBox 24" id="24"/>
              <p:cNvSpPr txBox="true"/>
              <p:nvPr/>
            </p:nvSpPr>
            <p:spPr>
              <a:xfrm>
                <a:off x="0" y="-123825"/>
                <a:ext cx="2816645" cy="2953073"/>
              </a:xfrm>
              <a:prstGeom prst="rect">
                <a:avLst/>
              </a:prstGeom>
            </p:spPr>
            <p:txBody>
              <a:bodyPr anchor="ctr" rtlCol="false" tIns="50800" lIns="50800" bIns="50800" rIns="50800"/>
              <a:lstStyle/>
              <a:p>
                <a:pPr algn="ctr">
                  <a:lnSpc>
                    <a:spcPts val="2659"/>
                  </a:lnSpc>
                  <a:spcBef>
                    <a:spcPct val="0"/>
                  </a:spcBef>
                </a:pPr>
              </a:p>
            </p:txBody>
          </p:sp>
        </p:grpSp>
      </p:grpSp>
      <p:sp>
        <p:nvSpPr>
          <p:cNvPr name="TextBox 25" id="25"/>
          <p:cNvSpPr txBox="true"/>
          <p:nvPr/>
        </p:nvSpPr>
        <p:spPr>
          <a:xfrm rot="0">
            <a:off x="2032038" y="3686198"/>
            <a:ext cx="14223925" cy="2600279"/>
          </a:xfrm>
          <a:prstGeom prst="rect">
            <a:avLst/>
          </a:prstGeom>
        </p:spPr>
        <p:txBody>
          <a:bodyPr anchor="t" rtlCol="false" tIns="0" lIns="0" bIns="0" rIns="0">
            <a:spAutoFit/>
          </a:bodyPr>
          <a:lstStyle/>
          <a:p>
            <a:pPr algn="ctr">
              <a:lnSpc>
                <a:spcPts val="13800"/>
              </a:lnSpc>
            </a:pPr>
            <a:r>
              <a:rPr lang="en-US" sz="15000" b="true">
                <a:solidFill>
                  <a:srgbClr val="243342"/>
                </a:solidFill>
                <a:latin typeface="Karnchang Bold"/>
                <a:ea typeface="Karnchang Bold"/>
                <a:cs typeface="Karnchang Bold"/>
                <a:sym typeface="Karnchang Bold"/>
              </a:rPr>
              <a:t>Terima Kasih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DAGY5bPq_TE</dc:identifier>
  <dcterms:modified xsi:type="dcterms:W3CDTF">2011-08-01T06:04:30Z</dcterms:modified>
  <cp:revision>1</cp:revision>
  <dc:title>PPT RADAR</dc:title>
</cp:coreProperties>
</file>