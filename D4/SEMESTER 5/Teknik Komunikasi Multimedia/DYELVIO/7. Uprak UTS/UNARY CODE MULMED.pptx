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Lst>
  <p:sldSz cx="18288000" cy="10287000"/>
  <p:notesSz cx="6858000" cy="9144000"/>
  <p:embeddedFontLst>
    <p:embeddedFont>
      <p:font typeface="Calibri" panose="020F0502020204030204" pitchFamily="34" charset="0"/>
      <p:regular r:id="rId21"/>
      <p:bold r:id="rId22"/>
      <p:italic r:id="rId23"/>
      <p:boldItalic r:id="rId24"/>
    </p:embeddedFont>
    <p:embeddedFont>
      <p:font typeface="Public Sans" panose="020B0604020202020204" charset="0"/>
      <p:regular r:id="rId25"/>
    </p:embeddedFont>
    <p:embeddedFont>
      <p:font typeface="Public Sans Bold" panose="020B0604020202020204" charset="0"/>
      <p:regular r:id="rId26"/>
    </p:embeddedFont>
    <p:embeddedFont>
      <p:font typeface="Retropix"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29-Oct-23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29-Oct-23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29-Oct-23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29-Oct-23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33" Type="http://schemas.openxmlformats.org/officeDocument/2006/relationships/image" Target="../media/image32.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 Id="rId30" Type="http://schemas.openxmlformats.org/officeDocument/2006/relationships/image" Target="../media/image29.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10.svg"/><Relationship Id="rId18" Type="http://schemas.openxmlformats.org/officeDocument/2006/relationships/image" Target="../media/image13.png"/><Relationship Id="rId3" Type="http://schemas.openxmlformats.org/officeDocument/2006/relationships/image" Target="../media/image34.svg"/><Relationship Id="rId21" Type="http://schemas.openxmlformats.org/officeDocument/2006/relationships/image" Target="../media/image12.svg"/><Relationship Id="rId7" Type="http://schemas.openxmlformats.org/officeDocument/2006/relationships/image" Target="../media/image32.svg"/><Relationship Id="rId12" Type="http://schemas.openxmlformats.org/officeDocument/2006/relationships/image" Target="../media/image9.png"/><Relationship Id="rId17" Type="http://schemas.openxmlformats.org/officeDocument/2006/relationships/image" Target="../media/image6.svg"/><Relationship Id="rId25" Type="http://schemas.openxmlformats.org/officeDocument/2006/relationships/image" Target="../media/image42.svg"/><Relationship Id="rId2" Type="http://schemas.openxmlformats.org/officeDocument/2006/relationships/image" Target="../media/image33.png"/><Relationship Id="rId16" Type="http://schemas.openxmlformats.org/officeDocument/2006/relationships/image" Target="../media/image5.png"/><Relationship Id="rId20"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28.svg"/><Relationship Id="rId24" Type="http://schemas.openxmlformats.org/officeDocument/2006/relationships/image" Target="../media/image41.png"/><Relationship Id="rId5" Type="http://schemas.openxmlformats.org/officeDocument/2006/relationships/image" Target="../media/image36.svg"/><Relationship Id="rId15" Type="http://schemas.openxmlformats.org/officeDocument/2006/relationships/image" Target="../media/image40.svg"/><Relationship Id="rId23" Type="http://schemas.openxmlformats.org/officeDocument/2006/relationships/image" Target="../media/image16.svg"/><Relationship Id="rId10" Type="http://schemas.openxmlformats.org/officeDocument/2006/relationships/image" Target="../media/image27.png"/><Relationship Id="rId19" Type="http://schemas.openxmlformats.org/officeDocument/2006/relationships/image" Target="../media/image14.svg"/><Relationship Id="rId4" Type="http://schemas.openxmlformats.org/officeDocument/2006/relationships/image" Target="../media/image35.png"/><Relationship Id="rId9" Type="http://schemas.openxmlformats.org/officeDocument/2006/relationships/image" Target="../media/image38.svg"/><Relationship Id="rId14" Type="http://schemas.openxmlformats.org/officeDocument/2006/relationships/image" Target="../media/image39.png"/><Relationship Id="rId22"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18" Type="http://schemas.openxmlformats.org/officeDocument/2006/relationships/image" Target="../media/image29.png"/><Relationship Id="rId3" Type="http://schemas.openxmlformats.org/officeDocument/2006/relationships/image" Target="../media/image36.svg"/><Relationship Id="rId21"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 Type="http://schemas.openxmlformats.org/officeDocument/2006/relationships/image" Target="../media/image35.png"/><Relationship Id="rId16" Type="http://schemas.openxmlformats.org/officeDocument/2006/relationships/image" Target="../media/image27.png"/><Relationship Id="rId20"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32.svg"/><Relationship Id="rId15" Type="http://schemas.openxmlformats.org/officeDocument/2006/relationships/image" Target="../media/image26.svg"/><Relationship Id="rId23" Type="http://schemas.openxmlformats.org/officeDocument/2006/relationships/image" Target="../media/image16.sv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31.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7.png"/><Relationship Id="rId3" Type="http://schemas.openxmlformats.org/officeDocument/2006/relationships/image" Target="../media/image44.svg"/><Relationship Id="rId21" Type="http://schemas.openxmlformats.org/officeDocument/2006/relationships/image" Target="../media/image30.svg"/><Relationship Id="rId7" Type="http://schemas.openxmlformats.org/officeDocument/2006/relationships/image" Target="../media/image40.svg"/><Relationship Id="rId12" Type="http://schemas.openxmlformats.org/officeDocument/2006/relationships/image" Target="../media/image21.png"/><Relationship Id="rId17" Type="http://schemas.openxmlformats.org/officeDocument/2006/relationships/image" Target="../media/image26.svg"/><Relationship Id="rId2" Type="http://schemas.openxmlformats.org/officeDocument/2006/relationships/image" Target="../media/image43.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20.svg"/><Relationship Id="rId5" Type="http://schemas.openxmlformats.org/officeDocument/2006/relationships/image" Target="../media/image46.png"/><Relationship Id="rId15" Type="http://schemas.openxmlformats.org/officeDocument/2006/relationships/image" Target="../media/image24.svg"/><Relationship Id="rId10" Type="http://schemas.openxmlformats.org/officeDocument/2006/relationships/image" Target="../media/image19.png"/><Relationship Id="rId19" Type="http://schemas.openxmlformats.org/officeDocument/2006/relationships/image" Target="../media/image28.svg"/><Relationship Id="rId4" Type="http://schemas.openxmlformats.org/officeDocument/2006/relationships/image" Target="../media/image45.png"/><Relationship Id="rId9" Type="http://schemas.openxmlformats.org/officeDocument/2006/relationships/image" Target="../media/image18.sv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18" Type="http://schemas.openxmlformats.org/officeDocument/2006/relationships/image" Target="../media/image29.png"/><Relationship Id="rId3" Type="http://schemas.openxmlformats.org/officeDocument/2006/relationships/image" Target="../media/image36.svg"/><Relationship Id="rId21"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 Type="http://schemas.openxmlformats.org/officeDocument/2006/relationships/image" Target="../media/image35.png"/><Relationship Id="rId16" Type="http://schemas.openxmlformats.org/officeDocument/2006/relationships/image" Target="../media/image27.png"/><Relationship Id="rId20"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32.svg"/><Relationship Id="rId15" Type="http://schemas.openxmlformats.org/officeDocument/2006/relationships/image" Target="../media/image26.svg"/><Relationship Id="rId23" Type="http://schemas.openxmlformats.org/officeDocument/2006/relationships/image" Target="../media/image16.sv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31.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40.sv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image" Target="../media/image39.png"/><Relationship Id="rId16"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18" Type="http://schemas.openxmlformats.org/officeDocument/2006/relationships/image" Target="../media/image29.png"/><Relationship Id="rId3" Type="http://schemas.openxmlformats.org/officeDocument/2006/relationships/image" Target="../media/image36.svg"/><Relationship Id="rId21"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 Type="http://schemas.openxmlformats.org/officeDocument/2006/relationships/image" Target="../media/image35.png"/><Relationship Id="rId16" Type="http://schemas.openxmlformats.org/officeDocument/2006/relationships/image" Target="../media/image27.png"/><Relationship Id="rId20"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32.svg"/><Relationship Id="rId15" Type="http://schemas.openxmlformats.org/officeDocument/2006/relationships/image" Target="../media/image26.sv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31.png"/><Relationship Id="rId9" Type="http://schemas.openxmlformats.org/officeDocument/2006/relationships/image" Target="../media/image20.svg"/><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13" Type="http://schemas.openxmlformats.org/officeDocument/2006/relationships/image" Target="../media/image58.svg"/><Relationship Id="rId18" Type="http://schemas.openxmlformats.org/officeDocument/2006/relationships/image" Target="../media/image63.png"/><Relationship Id="rId26" Type="http://schemas.openxmlformats.org/officeDocument/2006/relationships/image" Target="../media/image69.png"/><Relationship Id="rId3" Type="http://schemas.openxmlformats.org/officeDocument/2006/relationships/image" Target="../media/image48.svg"/><Relationship Id="rId21" Type="http://schemas.openxmlformats.org/officeDocument/2006/relationships/image" Target="../media/image66.svg"/><Relationship Id="rId7" Type="http://schemas.openxmlformats.org/officeDocument/2006/relationships/image" Target="../media/image52.svg"/><Relationship Id="rId12" Type="http://schemas.openxmlformats.org/officeDocument/2006/relationships/image" Target="../media/image57.png"/><Relationship Id="rId17" Type="http://schemas.openxmlformats.org/officeDocument/2006/relationships/image" Target="../media/image62.svg"/><Relationship Id="rId25" Type="http://schemas.openxmlformats.org/officeDocument/2006/relationships/image" Target="../media/image16.svg"/><Relationship Id="rId33" Type="http://schemas.openxmlformats.org/officeDocument/2006/relationships/image" Target="../media/image76.svg"/><Relationship Id="rId2" Type="http://schemas.openxmlformats.org/officeDocument/2006/relationships/image" Target="../media/image47.png"/><Relationship Id="rId16" Type="http://schemas.openxmlformats.org/officeDocument/2006/relationships/image" Target="../media/image61.png"/><Relationship Id="rId20" Type="http://schemas.openxmlformats.org/officeDocument/2006/relationships/image" Target="../media/image65.png"/><Relationship Id="rId29" Type="http://schemas.openxmlformats.org/officeDocument/2006/relationships/image" Target="../media/image72.svg"/><Relationship Id="rId1" Type="http://schemas.openxmlformats.org/officeDocument/2006/relationships/slideLayout" Target="../slideLayouts/slideLayout7.xml"/><Relationship Id="rId6" Type="http://schemas.openxmlformats.org/officeDocument/2006/relationships/image" Target="../media/image51.png"/><Relationship Id="rId11" Type="http://schemas.openxmlformats.org/officeDocument/2006/relationships/image" Target="../media/image56.svg"/><Relationship Id="rId24" Type="http://schemas.openxmlformats.org/officeDocument/2006/relationships/image" Target="../media/image15.png"/><Relationship Id="rId32" Type="http://schemas.openxmlformats.org/officeDocument/2006/relationships/image" Target="../media/image75.png"/><Relationship Id="rId5" Type="http://schemas.openxmlformats.org/officeDocument/2006/relationships/image" Target="../media/image50.svg"/><Relationship Id="rId15" Type="http://schemas.openxmlformats.org/officeDocument/2006/relationships/image" Target="../media/image60.svg"/><Relationship Id="rId23" Type="http://schemas.openxmlformats.org/officeDocument/2006/relationships/image" Target="../media/image68.svg"/><Relationship Id="rId28" Type="http://schemas.openxmlformats.org/officeDocument/2006/relationships/image" Target="../media/image71.png"/><Relationship Id="rId10" Type="http://schemas.openxmlformats.org/officeDocument/2006/relationships/image" Target="../media/image55.png"/><Relationship Id="rId19" Type="http://schemas.openxmlformats.org/officeDocument/2006/relationships/image" Target="../media/image64.svg"/><Relationship Id="rId31" Type="http://schemas.openxmlformats.org/officeDocument/2006/relationships/image" Target="../media/image74.svg"/><Relationship Id="rId4" Type="http://schemas.openxmlformats.org/officeDocument/2006/relationships/image" Target="../media/image49.png"/><Relationship Id="rId9" Type="http://schemas.openxmlformats.org/officeDocument/2006/relationships/image" Target="../media/image54.svg"/><Relationship Id="rId14" Type="http://schemas.openxmlformats.org/officeDocument/2006/relationships/image" Target="../media/image59.png"/><Relationship Id="rId22" Type="http://schemas.openxmlformats.org/officeDocument/2006/relationships/image" Target="../media/image67.png"/><Relationship Id="rId27" Type="http://schemas.openxmlformats.org/officeDocument/2006/relationships/image" Target="../media/image70.svg"/><Relationship Id="rId30" Type="http://schemas.openxmlformats.org/officeDocument/2006/relationships/image" Target="../media/image73.png"/><Relationship Id="rId8" Type="http://schemas.openxmlformats.org/officeDocument/2006/relationships/image" Target="../media/image53.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7.png"/><Relationship Id="rId3" Type="http://schemas.openxmlformats.org/officeDocument/2006/relationships/image" Target="../media/image2.svg"/><Relationship Id="rId21" Type="http://schemas.openxmlformats.org/officeDocument/2006/relationships/image" Target="../media/image30.svg"/><Relationship Id="rId7" Type="http://schemas.openxmlformats.org/officeDocument/2006/relationships/image" Target="../media/image6.svg"/><Relationship Id="rId12" Type="http://schemas.openxmlformats.org/officeDocument/2006/relationships/image" Target="../media/image21.png"/><Relationship Id="rId17" Type="http://schemas.openxmlformats.org/officeDocument/2006/relationships/image" Target="../media/image26.svg"/><Relationship Id="rId2" Type="http://schemas.openxmlformats.org/officeDocument/2006/relationships/image" Target="../media/image1.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0.svg"/><Relationship Id="rId24" Type="http://schemas.openxmlformats.org/officeDocument/2006/relationships/image" Target="../media/image79.png"/><Relationship Id="rId5" Type="http://schemas.openxmlformats.org/officeDocument/2006/relationships/image" Target="../media/image4.svg"/><Relationship Id="rId15" Type="http://schemas.openxmlformats.org/officeDocument/2006/relationships/image" Target="../media/image24.svg"/><Relationship Id="rId23" Type="http://schemas.openxmlformats.org/officeDocument/2006/relationships/image" Target="../media/image78.svg"/><Relationship Id="rId10" Type="http://schemas.openxmlformats.org/officeDocument/2006/relationships/image" Target="../media/image19.png"/><Relationship Id="rId19" Type="http://schemas.openxmlformats.org/officeDocument/2006/relationships/image" Target="../media/image28.svg"/><Relationship Id="rId4" Type="http://schemas.openxmlformats.org/officeDocument/2006/relationships/image" Target="../media/image3.png"/><Relationship Id="rId9" Type="http://schemas.openxmlformats.org/officeDocument/2006/relationships/image" Target="../media/image18.svg"/><Relationship Id="rId14" Type="http://schemas.openxmlformats.org/officeDocument/2006/relationships/image" Target="../media/image23.png"/><Relationship Id="rId22" Type="http://schemas.openxmlformats.org/officeDocument/2006/relationships/image" Target="../media/image77.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7.png"/><Relationship Id="rId3" Type="http://schemas.openxmlformats.org/officeDocument/2006/relationships/image" Target="../media/image2.svg"/><Relationship Id="rId21" Type="http://schemas.openxmlformats.org/officeDocument/2006/relationships/image" Target="../media/image30.svg"/><Relationship Id="rId7" Type="http://schemas.openxmlformats.org/officeDocument/2006/relationships/image" Target="../media/image6.svg"/><Relationship Id="rId12" Type="http://schemas.openxmlformats.org/officeDocument/2006/relationships/image" Target="../media/image21.png"/><Relationship Id="rId17" Type="http://schemas.openxmlformats.org/officeDocument/2006/relationships/image" Target="../media/image26.svg"/><Relationship Id="rId2" Type="http://schemas.openxmlformats.org/officeDocument/2006/relationships/image" Target="../media/image1.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0.svg"/><Relationship Id="rId5" Type="http://schemas.openxmlformats.org/officeDocument/2006/relationships/image" Target="../media/image4.svg"/><Relationship Id="rId15" Type="http://schemas.openxmlformats.org/officeDocument/2006/relationships/image" Target="../media/image24.svg"/><Relationship Id="rId23" Type="http://schemas.openxmlformats.org/officeDocument/2006/relationships/image" Target="../media/image78.svg"/><Relationship Id="rId10" Type="http://schemas.openxmlformats.org/officeDocument/2006/relationships/image" Target="../media/image19.png"/><Relationship Id="rId19" Type="http://schemas.openxmlformats.org/officeDocument/2006/relationships/image" Target="../media/image28.svg"/><Relationship Id="rId4" Type="http://schemas.openxmlformats.org/officeDocument/2006/relationships/image" Target="../media/image3.png"/><Relationship Id="rId9" Type="http://schemas.openxmlformats.org/officeDocument/2006/relationships/image" Target="../media/image18.svg"/><Relationship Id="rId14" Type="http://schemas.openxmlformats.org/officeDocument/2006/relationships/image" Target="../media/image23.png"/><Relationship Id="rId22" Type="http://schemas.openxmlformats.org/officeDocument/2006/relationships/image" Target="../media/image77.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7.png"/><Relationship Id="rId3" Type="http://schemas.openxmlformats.org/officeDocument/2006/relationships/image" Target="../media/image2.svg"/><Relationship Id="rId21" Type="http://schemas.openxmlformats.org/officeDocument/2006/relationships/image" Target="../media/image30.svg"/><Relationship Id="rId7" Type="http://schemas.openxmlformats.org/officeDocument/2006/relationships/image" Target="../media/image6.svg"/><Relationship Id="rId12" Type="http://schemas.openxmlformats.org/officeDocument/2006/relationships/image" Target="../media/image21.png"/><Relationship Id="rId17" Type="http://schemas.openxmlformats.org/officeDocument/2006/relationships/image" Target="../media/image26.svg"/><Relationship Id="rId2" Type="http://schemas.openxmlformats.org/officeDocument/2006/relationships/image" Target="../media/image1.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0.svg"/><Relationship Id="rId24" Type="http://schemas.openxmlformats.org/officeDocument/2006/relationships/image" Target="../media/image78.svg"/><Relationship Id="rId5" Type="http://schemas.openxmlformats.org/officeDocument/2006/relationships/image" Target="../media/image4.svg"/><Relationship Id="rId15" Type="http://schemas.openxmlformats.org/officeDocument/2006/relationships/image" Target="../media/image24.svg"/><Relationship Id="rId23" Type="http://schemas.openxmlformats.org/officeDocument/2006/relationships/image" Target="../media/image77.png"/><Relationship Id="rId10" Type="http://schemas.openxmlformats.org/officeDocument/2006/relationships/image" Target="../media/image19.png"/><Relationship Id="rId19" Type="http://schemas.openxmlformats.org/officeDocument/2006/relationships/image" Target="../media/image28.svg"/><Relationship Id="rId4" Type="http://schemas.openxmlformats.org/officeDocument/2006/relationships/image" Target="../media/image3.png"/><Relationship Id="rId9" Type="http://schemas.openxmlformats.org/officeDocument/2006/relationships/image" Target="../media/image18.svg"/><Relationship Id="rId14" Type="http://schemas.openxmlformats.org/officeDocument/2006/relationships/image" Target="../media/image23.png"/><Relationship Id="rId22" Type="http://schemas.openxmlformats.org/officeDocument/2006/relationships/slide" Target="slide2.xml"/></Relationships>
</file>

<file path=ppt/slides/_rels/slide12.xml.rels><?xml version="1.0" encoding="UTF-8" standalone="yes"?>
<Relationships xmlns="http://schemas.openxmlformats.org/package/2006/relationships"><Relationship Id="rId13" Type="http://schemas.openxmlformats.org/officeDocument/2006/relationships/image" Target="../media/image58.svg"/><Relationship Id="rId18" Type="http://schemas.openxmlformats.org/officeDocument/2006/relationships/image" Target="../media/image63.png"/><Relationship Id="rId26" Type="http://schemas.openxmlformats.org/officeDocument/2006/relationships/image" Target="../media/image69.png"/><Relationship Id="rId3" Type="http://schemas.openxmlformats.org/officeDocument/2006/relationships/image" Target="../media/image48.svg"/><Relationship Id="rId21" Type="http://schemas.openxmlformats.org/officeDocument/2006/relationships/image" Target="../media/image66.svg"/><Relationship Id="rId7" Type="http://schemas.openxmlformats.org/officeDocument/2006/relationships/image" Target="../media/image52.svg"/><Relationship Id="rId12" Type="http://schemas.openxmlformats.org/officeDocument/2006/relationships/image" Target="../media/image57.png"/><Relationship Id="rId17" Type="http://schemas.openxmlformats.org/officeDocument/2006/relationships/image" Target="../media/image62.svg"/><Relationship Id="rId25" Type="http://schemas.openxmlformats.org/officeDocument/2006/relationships/image" Target="../media/image16.svg"/><Relationship Id="rId33" Type="http://schemas.openxmlformats.org/officeDocument/2006/relationships/image" Target="../media/image76.svg"/><Relationship Id="rId2" Type="http://schemas.openxmlformats.org/officeDocument/2006/relationships/image" Target="../media/image47.png"/><Relationship Id="rId16" Type="http://schemas.openxmlformats.org/officeDocument/2006/relationships/image" Target="../media/image61.png"/><Relationship Id="rId20" Type="http://schemas.openxmlformats.org/officeDocument/2006/relationships/image" Target="../media/image65.png"/><Relationship Id="rId29" Type="http://schemas.openxmlformats.org/officeDocument/2006/relationships/image" Target="../media/image72.svg"/><Relationship Id="rId1" Type="http://schemas.openxmlformats.org/officeDocument/2006/relationships/slideLayout" Target="../slideLayouts/slideLayout7.xml"/><Relationship Id="rId6" Type="http://schemas.openxmlformats.org/officeDocument/2006/relationships/image" Target="../media/image51.png"/><Relationship Id="rId11" Type="http://schemas.openxmlformats.org/officeDocument/2006/relationships/image" Target="../media/image56.svg"/><Relationship Id="rId24" Type="http://schemas.openxmlformats.org/officeDocument/2006/relationships/image" Target="../media/image15.png"/><Relationship Id="rId32" Type="http://schemas.openxmlformats.org/officeDocument/2006/relationships/image" Target="../media/image75.png"/><Relationship Id="rId5" Type="http://schemas.openxmlformats.org/officeDocument/2006/relationships/image" Target="../media/image50.svg"/><Relationship Id="rId15" Type="http://schemas.openxmlformats.org/officeDocument/2006/relationships/image" Target="../media/image60.svg"/><Relationship Id="rId23" Type="http://schemas.openxmlformats.org/officeDocument/2006/relationships/image" Target="../media/image68.svg"/><Relationship Id="rId28" Type="http://schemas.openxmlformats.org/officeDocument/2006/relationships/image" Target="../media/image71.png"/><Relationship Id="rId10" Type="http://schemas.openxmlformats.org/officeDocument/2006/relationships/image" Target="../media/image55.png"/><Relationship Id="rId19" Type="http://schemas.openxmlformats.org/officeDocument/2006/relationships/image" Target="../media/image64.svg"/><Relationship Id="rId31" Type="http://schemas.openxmlformats.org/officeDocument/2006/relationships/image" Target="../media/image74.svg"/><Relationship Id="rId4" Type="http://schemas.openxmlformats.org/officeDocument/2006/relationships/image" Target="../media/image49.png"/><Relationship Id="rId9" Type="http://schemas.openxmlformats.org/officeDocument/2006/relationships/image" Target="../media/image54.svg"/><Relationship Id="rId14" Type="http://schemas.openxmlformats.org/officeDocument/2006/relationships/image" Target="../media/image59.png"/><Relationship Id="rId22" Type="http://schemas.openxmlformats.org/officeDocument/2006/relationships/image" Target="../media/image67.png"/><Relationship Id="rId27" Type="http://schemas.openxmlformats.org/officeDocument/2006/relationships/image" Target="../media/image70.svg"/><Relationship Id="rId30" Type="http://schemas.openxmlformats.org/officeDocument/2006/relationships/image" Target="../media/image73.png"/><Relationship Id="rId8" Type="http://schemas.openxmlformats.org/officeDocument/2006/relationships/image" Target="../media/image53.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40.sv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image" Target="../media/image39.png"/><Relationship Id="rId16"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s>
</file>

<file path=ppt/slides/_rels/slide14.xml.rels><?xml version="1.0" encoding="UTF-8" standalone="yes"?>
<Relationships xmlns="http://schemas.openxmlformats.org/package/2006/relationships"><Relationship Id="rId13" Type="http://schemas.openxmlformats.org/officeDocument/2006/relationships/image" Target="../media/image57.png"/><Relationship Id="rId18" Type="http://schemas.openxmlformats.org/officeDocument/2006/relationships/image" Target="../media/image62.svg"/><Relationship Id="rId26" Type="http://schemas.openxmlformats.org/officeDocument/2006/relationships/image" Target="../media/image16.svg"/><Relationship Id="rId3" Type="http://schemas.openxmlformats.org/officeDocument/2006/relationships/image" Target="../media/image48.svg"/><Relationship Id="rId21" Type="http://schemas.openxmlformats.org/officeDocument/2006/relationships/image" Target="../media/image65.png"/><Relationship Id="rId34" Type="http://schemas.openxmlformats.org/officeDocument/2006/relationships/image" Target="../media/image76.svg"/><Relationship Id="rId7" Type="http://schemas.openxmlformats.org/officeDocument/2006/relationships/image" Target="../media/image51.png"/><Relationship Id="rId12" Type="http://schemas.openxmlformats.org/officeDocument/2006/relationships/image" Target="../media/image56.svg"/><Relationship Id="rId17" Type="http://schemas.openxmlformats.org/officeDocument/2006/relationships/image" Target="../media/image61.png"/><Relationship Id="rId25" Type="http://schemas.openxmlformats.org/officeDocument/2006/relationships/image" Target="../media/image15.png"/><Relationship Id="rId33" Type="http://schemas.openxmlformats.org/officeDocument/2006/relationships/image" Target="../media/image75.png"/><Relationship Id="rId2" Type="http://schemas.openxmlformats.org/officeDocument/2006/relationships/image" Target="../media/image47.png"/><Relationship Id="rId16" Type="http://schemas.openxmlformats.org/officeDocument/2006/relationships/image" Target="../media/image60.svg"/><Relationship Id="rId20" Type="http://schemas.openxmlformats.org/officeDocument/2006/relationships/image" Target="../media/image64.svg"/><Relationship Id="rId29"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50.svg"/><Relationship Id="rId11" Type="http://schemas.openxmlformats.org/officeDocument/2006/relationships/image" Target="../media/image55.png"/><Relationship Id="rId24" Type="http://schemas.openxmlformats.org/officeDocument/2006/relationships/image" Target="../media/image68.svg"/><Relationship Id="rId32" Type="http://schemas.openxmlformats.org/officeDocument/2006/relationships/image" Target="../media/image74.svg"/><Relationship Id="rId5" Type="http://schemas.openxmlformats.org/officeDocument/2006/relationships/image" Target="../media/image49.png"/><Relationship Id="rId15" Type="http://schemas.openxmlformats.org/officeDocument/2006/relationships/image" Target="../media/image59.png"/><Relationship Id="rId23" Type="http://schemas.openxmlformats.org/officeDocument/2006/relationships/image" Target="../media/image67.png"/><Relationship Id="rId28" Type="http://schemas.openxmlformats.org/officeDocument/2006/relationships/image" Target="../media/image70.svg"/><Relationship Id="rId10" Type="http://schemas.openxmlformats.org/officeDocument/2006/relationships/image" Target="../media/image54.svg"/><Relationship Id="rId19" Type="http://schemas.openxmlformats.org/officeDocument/2006/relationships/image" Target="../media/image63.png"/><Relationship Id="rId31" Type="http://schemas.openxmlformats.org/officeDocument/2006/relationships/image" Target="../media/image73.png"/><Relationship Id="rId4" Type="http://schemas.openxmlformats.org/officeDocument/2006/relationships/slide" Target="slide2.xml"/><Relationship Id="rId9" Type="http://schemas.openxmlformats.org/officeDocument/2006/relationships/image" Target="../media/image53.png"/><Relationship Id="rId14" Type="http://schemas.openxmlformats.org/officeDocument/2006/relationships/image" Target="../media/image58.svg"/><Relationship Id="rId22" Type="http://schemas.openxmlformats.org/officeDocument/2006/relationships/image" Target="../media/image66.svg"/><Relationship Id="rId27" Type="http://schemas.openxmlformats.org/officeDocument/2006/relationships/image" Target="../media/image69.png"/><Relationship Id="rId30" Type="http://schemas.openxmlformats.org/officeDocument/2006/relationships/image" Target="../media/image72.svg"/><Relationship Id="rId8" Type="http://schemas.openxmlformats.org/officeDocument/2006/relationships/image" Target="../media/image52.sv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slide" Target="slide2.xml"/><Relationship Id="rId3" Type="http://schemas.openxmlformats.org/officeDocument/2006/relationships/image" Target="../media/image40.sv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image" Target="../media/image39.png"/><Relationship Id="rId16"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s>
</file>

<file path=ppt/slides/_rels/slide16.xml.rels><?xml version="1.0" encoding="UTF-8" standalone="yes"?>
<Relationships xmlns="http://schemas.openxmlformats.org/package/2006/relationships"><Relationship Id="rId13" Type="http://schemas.openxmlformats.org/officeDocument/2006/relationships/image" Target="../media/image57.png"/><Relationship Id="rId18" Type="http://schemas.openxmlformats.org/officeDocument/2006/relationships/image" Target="../media/image62.svg"/><Relationship Id="rId26" Type="http://schemas.openxmlformats.org/officeDocument/2006/relationships/image" Target="../media/image16.svg"/><Relationship Id="rId3" Type="http://schemas.openxmlformats.org/officeDocument/2006/relationships/image" Target="../media/image48.svg"/><Relationship Id="rId21" Type="http://schemas.openxmlformats.org/officeDocument/2006/relationships/image" Target="../media/image65.png"/><Relationship Id="rId34" Type="http://schemas.openxmlformats.org/officeDocument/2006/relationships/image" Target="../media/image76.svg"/><Relationship Id="rId7" Type="http://schemas.openxmlformats.org/officeDocument/2006/relationships/image" Target="../media/image51.png"/><Relationship Id="rId12" Type="http://schemas.openxmlformats.org/officeDocument/2006/relationships/image" Target="../media/image56.svg"/><Relationship Id="rId17" Type="http://schemas.openxmlformats.org/officeDocument/2006/relationships/image" Target="../media/image61.png"/><Relationship Id="rId25" Type="http://schemas.openxmlformats.org/officeDocument/2006/relationships/image" Target="../media/image15.png"/><Relationship Id="rId33" Type="http://schemas.openxmlformats.org/officeDocument/2006/relationships/image" Target="../media/image75.png"/><Relationship Id="rId2" Type="http://schemas.openxmlformats.org/officeDocument/2006/relationships/image" Target="../media/image47.png"/><Relationship Id="rId16" Type="http://schemas.openxmlformats.org/officeDocument/2006/relationships/image" Target="../media/image60.svg"/><Relationship Id="rId20" Type="http://schemas.openxmlformats.org/officeDocument/2006/relationships/image" Target="../media/image64.svg"/><Relationship Id="rId29"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50.svg"/><Relationship Id="rId11" Type="http://schemas.openxmlformats.org/officeDocument/2006/relationships/image" Target="../media/image55.png"/><Relationship Id="rId24" Type="http://schemas.openxmlformats.org/officeDocument/2006/relationships/image" Target="../media/image68.svg"/><Relationship Id="rId32" Type="http://schemas.openxmlformats.org/officeDocument/2006/relationships/image" Target="../media/image74.svg"/><Relationship Id="rId5" Type="http://schemas.openxmlformats.org/officeDocument/2006/relationships/image" Target="../media/image49.png"/><Relationship Id="rId15" Type="http://schemas.openxmlformats.org/officeDocument/2006/relationships/image" Target="../media/image59.png"/><Relationship Id="rId23" Type="http://schemas.openxmlformats.org/officeDocument/2006/relationships/image" Target="../media/image67.png"/><Relationship Id="rId28" Type="http://schemas.openxmlformats.org/officeDocument/2006/relationships/image" Target="../media/image70.svg"/><Relationship Id="rId10" Type="http://schemas.openxmlformats.org/officeDocument/2006/relationships/image" Target="../media/image54.svg"/><Relationship Id="rId19" Type="http://schemas.openxmlformats.org/officeDocument/2006/relationships/image" Target="../media/image63.png"/><Relationship Id="rId31" Type="http://schemas.openxmlformats.org/officeDocument/2006/relationships/image" Target="../media/image73.png"/><Relationship Id="rId4" Type="http://schemas.openxmlformats.org/officeDocument/2006/relationships/slide" Target="slide2.xml"/><Relationship Id="rId9" Type="http://schemas.openxmlformats.org/officeDocument/2006/relationships/image" Target="../media/image53.png"/><Relationship Id="rId14" Type="http://schemas.openxmlformats.org/officeDocument/2006/relationships/image" Target="../media/image58.svg"/><Relationship Id="rId22" Type="http://schemas.openxmlformats.org/officeDocument/2006/relationships/image" Target="../media/image66.svg"/><Relationship Id="rId27" Type="http://schemas.openxmlformats.org/officeDocument/2006/relationships/image" Target="../media/image69.png"/><Relationship Id="rId30" Type="http://schemas.openxmlformats.org/officeDocument/2006/relationships/image" Target="../media/image72.svg"/><Relationship Id="rId8" Type="http://schemas.openxmlformats.org/officeDocument/2006/relationships/image" Target="../media/image52.svg"/></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18" Type="http://schemas.openxmlformats.org/officeDocument/2006/relationships/image" Target="../media/image82.png"/><Relationship Id="rId3" Type="http://schemas.openxmlformats.org/officeDocument/2006/relationships/image" Target="../media/image18.svg"/><Relationship Id="rId7" Type="http://schemas.openxmlformats.org/officeDocument/2006/relationships/image" Target="../media/image22.svg"/><Relationship Id="rId12" Type="http://schemas.openxmlformats.org/officeDocument/2006/relationships/image" Target="../media/image27.png"/><Relationship Id="rId17" Type="http://schemas.openxmlformats.org/officeDocument/2006/relationships/image" Target="../media/image81.svg"/><Relationship Id="rId2" Type="http://schemas.openxmlformats.org/officeDocument/2006/relationships/image" Target="../media/image17.png"/><Relationship Id="rId16"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18" Type="http://schemas.openxmlformats.org/officeDocument/2006/relationships/image" Target="../media/image82.png"/><Relationship Id="rId3" Type="http://schemas.openxmlformats.org/officeDocument/2006/relationships/image" Target="../media/image18.svg"/><Relationship Id="rId7" Type="http://schemas.openxmlformats.org/officeDocument/2006/relationships/image" Target="../media/image22.svg"/><Relationship Id="rId12" Type="http://schemas.openxmlformats.org/officeDocument/2006/relationships/image" Target="../media/image27.png"/><Relationship Id="rId17" Type="http://schemas.openxmlformats.org/officeDocument/2006/relationships/image" Target="../media/image81.svg"/><Relationship Id="rId2" Type="http://schemas.openxmlformats.org/officeDocument/2006/relationships/image" Target="../media/image17.png"/><Relationship Id="rId16"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9.png"/><Relationship Id="rId26" Type="http://schemas.openxmlformats.org/officeDocument/2006/relationships/image" Target="../media/image27.png"/><Relationship Id="rId3" Type="http://schemas.openxmlformats.org/officeDocument/2006/relationships/image" Target="../media/image2.svg"/><Relationship Id="rId21" Type="http://schemas.openxmlformats.org/officeDocument/2006/relationships/image" Target="../media/image2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8.svg"/><Relationship Id="rId25" Type="http://schemas.openxmlformats.org/officeDocument/2006/relationships/image" Target="../media/image26.svg"/><Relationship Id="rId2" Type="http://schemas.openxmlformats.org/officeDocument/2006/relationships/image" Target="../media/image1.png"/><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5.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4.svg"/><Relationship Id="rId28" Type="http://schemas.openxmlformats.org/officeDocument/2006/relationships/image" Target="../media/image29.png"/><Relationship Id="rId10" Type="http://schemas.openxmlformats.org/officeDocument/2006/relationships/image" Target="../media/image9.png"/><Relationship Id="rId19" Type="http://schemas.openxmlformats.org/officeDocument/2006/relationships/image" Target="../media/image20.svg"/><Relationship Id="rId31" Type="http://schemas.openxmlformats.org/officeDocument/2006/relationships/image" Target="../media/image32.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3.png"/><Relationship Id="rId27" Type="http://schemas.openxmlformats.org/officeDocument/2006/relationships/image" Target="../media/image28.svg"/><Relationship Id="rId30"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633368" y="3626446"/>
            <a:ext cx="782400" cy="1057297"/>
          </a:xfrm>
          <a:custGeom>
            <a:avLst/>
            <a:gdLst/>
            <a:ahLst/>
            <a:cxnLst/>
            <a:rect l="l" t="t" r="r" b="b"/>
            <a:pathLst>
              <a:path w="782400" h="1057297">
                <a:moveTo>
                  <a:pt x="0" y="0"/>
                </a:moveTo>
                <a:lnTo>
                  <a:pt x="782400" y="0"/>
                </a:lnTo>
                <a:lnTo>
                  <a:pt x="782400" y="1057296"/>
                </a:lnTo>
                <a:lnTo>
                  <a:pt x="0" y="10572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11249" y="2300667"/>
            <a:ext cx="1026639" cy="785846"/>
          </a:xfrm>
          <a:custGeom>
            <a:avLst/>
            <a:gdLst/>
            <a:ahLst/>
            <a:cxnLst/>
            <a:rect l="l" t="t" r="r" b="b"/>
            <a:pathLst>
              <a:path w="1026639" h="785846">
                <a:moveTo>
                  <a:pt x="0" y="0"/>
                </a:moveTo>
                <a:lnTo>
                  <a:pt x="1026639" y="0"/>
                </a:lnTo>
                <a:lnTo>
                  <a:pt x="1026639" y="785845"/>
                </a:lnTo>
                <a:lnTo>
                  <a:pt x="0" y="7858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43623" y="538933"/>
            <a:ext cx="961890" cy="1221800"/>
          </a:xfrm>
          <a:custGeom>
            <a:avLst/>
            <a:gdLst/>
            <a:ahLst/>
            <a:cxnLst/>
            <a:rect l="l" t="t" r="r" b="b"/>
            <a:pathLst>
              <a:path w="961890" h="1221800">
                <a:moveTo>
                  <a:pt x="0" y="0"/>
                </a:moveTo>
                <a:lnTo>
                  <a:pt x="961890" y="0"/>
                </a:lnTo>
                <a:lnTo>
                  <a:pt x="961890" y="1221801"/>
                </a:lnTo>
                <a:lnTo>
                  <a:pt x="0" y="12218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559442" y="5223676"/>
            <a:ext cx="930253" cy="980151"/>
          </a:xfrm>
          <a:custGeom>
            <a:avLst/>
            <a:gdLst/>
            <a:ahLst/>
            <a:cxnLst/>
            <a:rect l="l" t="t" r="r" b="b"/>
            <a:pathLst>
              <a:path w="930253" h="980151">
                <a:moveTo>
                  <a:pt x="0" y="0"/>
                </a:moveTo>
                <a:lnTo>
                  <a:pt x="930253" y="0"/>
                </a:lnTo>
                <a:lnTo>
                  <a:pt x="930253" y="980151"/>
                </a:lnTo>
                <a:lnTo>
                  <a:pt x="0" y="98015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6802844" y="538933"/>
            <a:ext cx="779562" cy="779562"/>
          </a:xfrm>
          <a:custGeom>
            <a:avLst/>
            <a:gdLst/>
            <a:ahLst/>
            <a:cxnLst/>
            <a:rect l="l" t="t" r="r" b="b"/>
            <a:pathLst>
              <a:path w="779562" h="779562">
                <a:moveTo>
                  <a:pt x="0" y="0"/>
                </a:moveTo>
                <a:lnTo>
                  <a:pt x="779562" y="0"/>
                </a:lnTo>
                <a:lnTo>
                  <a:pt x="779562" y="779562"/>
                </a:lnTo>
                <a:lnTo>
                  <a:pt x="0" y="77956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16788145" y="1764975"/>
            <a:ext cx="779562" cy="779562"/>
          </a:xfrm>
          <a:custGeom>
            <a:avLst/>
            <a:gdLst/>
            <a:ahLst/>
            <a:cxnLst/>
            <a:rect l="l" t="t" r="r" b="b"/>
            <a:pathLst>
              <a:path w="779562" h="779562">
                <a:moveTo>
                  <a:pt x="0" y="0"/>
                </a:moveTo>
                <a:lnTo>
                  <a:pt x="779562" y="0"/>
                </a:lnTo>
                <a:lnTo>
                  <a:pt x="779562" y="779562"/>
                </a:lnTo>
                <a:lnTo>
                  <a:pt x="0" y="7795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TextBox 8"/>
          <p:cNvSpPr txBox="1"/>
          <p:nvPr/>
        </p:nvSpPr>
        <p:spPr>
          <a:xfrm>
            <a:off x="3460564" y="2372186"/>
            <a:ext cx="11366873" cy="3216274"/>
          </a:xfrm>
          <a:prstGeom prst="rect">
            <a:avLst/>
          </a:prstGeom>
        </p:spPr>
        <p:txBody>
          <a:bodyPr lIns="0" tIns="0" rIns="0" bIns="0" rtlCol="0" anchor="t">
            <a:spAutoFit/>
          </a:bodyPr>
          <a:lstStyle/>
          <a:p>
            <a:pPr algn="ctr">
              <a:lnSpc>
                <a:spcPts val="11499"/>
              </a:lnSpc>
            </a:pPr>
            <a:r>
              <a:rPr lang="en-US" sz="11499">
                <a:solidFill>
                  <a:srgbClr val="FFFFFF"/>
                </a:solidFill>
                <a:latin typeface="Retropix"/>
              </a:rPr>
              <a:t>Unary</a:t>
            </a:r>
          </a:p>
          <a:p>
            <a:pPr algn="ctr">
              <a:lnSpc>
                <a:spcPts val="11499"/>
              </a:lnSpc>
            </a:pPr>
            <a:r>
              <a:rPr lang="en-US" sz="11499">
                <a:solidFill>
                  <a:srgbClr val="FFFFFF"/>
                </a:solidFill>
                <a:latin typeface="Retropix"/>
              </a:rPr>
              <a:t>Code</a:t>
            </a:r>
          </a:p>
        </p:txBody>
      </p:sp>
      <p:sp>
        <p:nvSpPr>
          <p:cNvPr id="9" name="Freeform 9"/>
          <p:cNvSpPr/>
          <p:nvPr/>
        </p:nvSpPr>
        <p:spPr>
          <a:xfrm>
            <a:off x="13004220" y="5206486"/>
            <a:ext cx="484735" cy="825401"/>
          </a:xfrm>
          <a:custGeom>
            <a:avLst/>
            <a:gdLst/>
            <a:ahLst/>
            <a:cxnLst/>
            <a:rect l="l" t="t" r="r" b="b"/>
            <a:pathLst>
              <a:path w="484735" h="825401">
                <a:moveTo>
                  <a:pt x="0" y="0"/>
                </a:moveTo>
                <a:lnTo>
                  <a:pt x="484736" y="0"/>
                </a:lnTo>
                <a:lnTo>
                  <a:pt x="484736" y="825401"/>
                </a:lnTo>
                <a:lnTo>
                  <a:pt x="0" y="82540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10" name="Group 10"/>
          <p:cNvGrpSpPr/>
          <p:nvPr/>
        </p:nvGrpSpPr>
        <p:grpSpPr>
          <a:xfrm>
            <a:off x="6702878" y="5512001"/>
            <a:ext cx="4882245" cy="2293555"/>
            <a:chOff x="0" y="0"/>
            <a:chExt cx="6509659" cy="3058074"/>
          </a:xfrm>
        </p:grpSpPr>
        <p:grpSp>
          <p:nvGrpSpPr>
            <p:cNvPr id="11" name="Group 11"/>
            <p:cNvGrpSpPr/>
            <p:nvPr/>
          </p:nvGrpSpPr>
          <p:grpSpPr>
            <a:xfrm>
              <a:off x="0" y="0"/>
              <a:ext cx="6509659" cy="3058074"/>
              <a:chOff x="0" y="0"/>
              <a:chExt cx="2180608" cy="1024395"/>
            </a:xfrm>
          </p:grpSpPr>
          <p:sp>
            <p:nvSpPr>
              <p:cNvPr id="12" name="Freeform 12"/>
              <p:cNvSpPr/>
              <p:nvPr/>
            </p:nvSpPr>
            <p:spPr>
              <a:xfrm>
                <a:off x="0" y="0"/>
                <a:ext cx="2180608" cy="1024395"/>
              </a:xfrm>
              <a:custGeom>
                <a:avLst/>
                <a:gdLst/>
                <a:ahLst/>
                <a:cxnLst/>
                <a:rect l="l" t="t" r="r" b="b"/>
                <a:pathLst>
                  <a:path w="2180608" h="1024395">
                    <a:moveTo>
                      <a:pt x="1977408" y="0"/>
                    </a:moveTo>
                    <a:cubicBezTo>
                      <a:pt x="2089632" y="0"/>
                      <a:pt x="2180608" y="229319"/>
                      <a:pt x="2180608" y="512197"/>
                    </a:cubicBezTo>
                    <a:cubicBezTo>
                      <a:pt x="2180608" y="795076"/>
                      <a:pt x="2089632" y="1024395"/>
                      <a:pt x="1977408" y="1024395"/>
                    </a:cubicBezTo>
                    <a:lnTo>
                      <a:pt x="203200" y="1024395"/>
                    </a:lnTo>
                    <a:cubicBezTo>
                      <a:pt x="90976" y="1024395"/>
                      <a:pt x="0" y="795076"/>
                      <a:pt x="0" y="512197"/>
                    </a:cubicBezTo>
                    <a:cubicBezTo>
                      <a:pt x="0" y="229319"/>
                      <a:pt x="90976" y="0"/>
                      <a:pt x="203200" y="0"/>
                    </a:cubicBezTo>
                    <a:close/>
                  </a:path>
                </a:pathLst>
              </a:custGeom>
              <a:solidFill>
                <a:srgbClr val="CCCCCC"/>
              </a:solidFill>
              <a:ln w="28575" cap="sq">
                <a:solidFill>
                  <a:srgbClr val="000000"/>
                </a:solidFill>
                <a:prstDash val="solid"/>
                <a:miter/>
              </a:ln>
            </p:spPr>
          </p:sp>
          <p:sp>
            <p:nvSpPr>
              <p:cNvPr id="13" name="TextBox 13"/>
              <p:cNvSpPr txBox="1"/>
              <p:nvPr/>
            </p:nvSpPr>
            <p:spPr>
              <a:xfrm>
                <a:off x="0" y="-38100"/>
                <a:ext cx="2180608" cy="1062495"/>
              </a:xfrm>
              <a:prstGeom prst="rect">
                <a:avLst/>
              </a:prstGeom>
            </p:spPr>
            <p:txBody>
              <a:bodyPr lIns="50800" tIns="50800" rIns="50800" bIns="50800" rtlCol="0" anchor="ctr"/>
              <a:lstStyle/>
              <a:p>
                <a:pPr algn="ctr">
                  <a:lnSpc>
                    <a:spcPts val="1605"/>
                  </a:lnSpc>
                </a:pPr>
                <a:endParaRPr/>
              </a:p>
            </p:txBody>
          </p:sp>
        </p:grpSp>
        <p:sp>
          <p:nvSpPr>
            <p:cNvPr id="14" name="TextBox 14"/>
            <p:cNvSpPr txBox="1"/>
            <p:nvPr/>
          </p:nvSpPr>
          <p:spPr>
            <a:xfrm>
              <a:off x="1508337" y="252687"/>
              <a:ext cx="4396125" cy="2533650"/>
            </a:xfrm>
            <a:prstGeom prst="rect">
              <a:avLst/>
            </a:prstGeom>
          </p:spPr>
          <p:txBody>
            <a:bodyPr lIns="0" tIns="0" rIns="0" bIns="0" rtlCol="0" anchor="t">
              <a:spAutoFit/>
            </a:bodyPr>
            <a:lstStyle/>
            <a:p>
              <a:pPr marL="453392" lvl="1" indent="-226696">
                <a:lnSpc>
                  <a:spcPts val="2520"/>
                </a:lnSpc>
                <a:buFont typeface="Arial"/>
                <a:buChar char="•"/>
              </a:pPr>
              <a:r>
                <a:rPr lang="en-US" sz="2100">
                  <a:solidFill>
                    <a:srgbClr val="000000"/>
                  </a:solidFill>
                  <a:latin typeface="Public Sans"/>
                </a:rPr>
                <a:t>Adisti Nastiti (211344001)</a:t>
              </a:r>
            </a:p>
            <a:p>
              <a:pPr marL="453392" lvl="1" indent="-226696">
                <a:lnSpc>
                  <a:spcPts val="2520"/>
                </a:lnSpc>
                <a:buFont typeface="Arial"/>
                <a:buChar char="•"/>
              </a:pPr>
              <a:r>
                <a:rPr lang="en-US" sz="2100">
                  <a:solidFill>
                    <a:srgbClr val="000000"/>
                  </a:solidFill>
                  <a:latin typeface="Public Sans"/>
                </a:rPr>
                <a:t>Dyelvio Wijaya (211344012)</a:t>
              </a:r>
            </a:p>
            <a:p>
              <a:pPr marL="453392" lvl="1" indent="-226696">
                <a:lnSpc>
                  <a:spcPts val="2520"/>
                </a:lnSpc>
                <a:buFont typeface="Arial"/>
                <a:buChar char="•"/>
              </a:pPr>
              <a:r>
                <a:rPr lang="en-US" sz="2100">
                  <a:solidFill>
                    <a:srgbClr val="000000"/>
                  </a:solidFill>
                  <a:latin typeface="Public Sans"/>
                </a:rPr>
                <a:t>Rezan Candrawinata (211344025)</a:t>
              </a:r>
            </a:p>
          </p:txBody>
        </p:sp>
        <p:sp>
          <p:nvSpPr>
            <p:cNvPr id="15" name="Freeform 15"/>
            <p:cNvSpPr/>
            <p:nvPr/>
          </p:nvSpPr>
          <p:spPr>
            <a:xfrm>
              <a:off x="605198" y="1194171"/>
              <a:ext cx="689798" cy="669732"/>
            </a:xfrm>
            <a:custGeom>
              <a:avLst/>
              <a:gdLst/>
              <a:ahLst/>
              <a:cxnLst/>
              <a:rect l="l" t="t" r="r" b="b"/>
              <a:pathLst>
                <a:path w="689798" h="669732">
                  <a:moveTo>
                    <a:pt x="0" y="0"/>
                  </a:moveTo>
                  <a:lnTo>
                    <a:pt x="689798" y="0"/>
                  </a:lnTo>
                  <a:lnTo>
                    <a:pt x="689798" y="669732"/>
                  </a:lnTo>
                  <a:lnTo>
                    <a:pt x="0" y="66973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grpSp>
        <p:nvGrpSpPr>
          <p:cNvPr id="16" name="Group 16"/>
          <p:cNvGrpSpPr/>
          <p:nvPr/>
        </p:nvGrpSpPr>
        <p:grpSpPr>
          <a:xfrm>
            <a:off x="0" y="9052698"/>
            <a:ext cx="18288000" cy="1234302"/>
            <a:chOff x="0" y="0"/>
            <a:chExt cx="24384000" cy="1645736"/>
          </a:xfrm>
        </p:grpSpPr>
        <p:grpSp>
          <p:nvGrpSpPr>
            <p:cNvPr id="17" name="Group 17"/>
            <p:cNvGrpSpPr/>
            <p:nvPr/>
          </p:nvGrpSpPr>
          <p:grpSpPr>
            <a:xfrm>
              <a:off x="0" y="0"/>
              <a:ext cx="24384000" cy="1645736"/>
              <a:chOff x="0" y="0"/>
              <a:chExt cx="4816593" cy="325084"/>
            </a:xfrm>
          </p:grpSpPr>
          <p:sp>
            <p:nvSpPr>
              <p:cNvPr id="18" name="Freeform 18"/>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19" name="TextBox 19"/>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sp>
          <p:nvSpPr>
            <p:cNvPr id="20" name="Freeform 20"/>
            <p:cNvSpPr/>
            <p:nvPr/>
          </p:nvSpPr>
          <p:spPr>
            <a:xfrm>
              <a:off x="316552" y="286517"/>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1" name="Freeform 21"/>
            <p:cNvSpPr/>
            <p:nvPr/>
          </p:nvSpPr>
          <p:spPr>
            <a:xfrm>
              <a:off x="474997" y="436533"/>
              <a:ext cx="755811" cy="772669"/>
            </a:xfrm>
            <a:custGeom>
              <a:avLst/>
              <a:gdLst/>
              <a:ahLst/>
              <a:cxnLst/>
              <a:rect l="l" t="t" r="r" b="b"/>
              <a:pathLst>
                <a:path w="755811" h="772669">
                  <a:moveTo>
                    <a:pt x="0" y="0"/>
                  </a:moveTo>
                  <a:lnTo>
                    <a:pt x="755812" y="0"/>
                  </a:lnTo>
                  <a:lnTo>
                    <a:pt x="755812" y="772670"/>
                  </a:lnTo>
                  <a:lnTo>
                    <a:pt x="0" y="77267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2" name="Freeform 22"/>
            <p:cNvSpPr/>
            <p:nvPr/>
          </p:nvSpPr>
          <p:spPr>
            <a:xfrm>
              <a:off x="1897443" y="318086"/>
              <a:ext cx="1076085" cy="1009564"/>
            </a:xfrm>
            <a:custGeom>
              <a:avLst/>
              <a:gdLst/>
              <a:ahLst/>
              <a:cxnLst/>
              <a:rect l="l" t="t" r="r" b="b"/>
              <a:pathLst>
                <a:path w="1076085" h="1009564">
                  <a:moveTo>
                    <a:pt x="0" y="0"/>
                  </a:moveTo>
                  <a:lnTo>
                    <a:pt x="1076085" y="0"/>
                  </a:lnTo>
                  <a:lnTo>
                    <a:pt x="1076085" y="1009564"/>
                  </a:lnTo>
                  <a:lnTo>
                    <a:pt x="0" y="1009564"/>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3" name="Freeform 23"/>
            <p:cNvSpPr/>
            <p:nvPr/>
          </p:nvSpPr>
          <p:spPr>
            <a:xfrm>
              <a:off x="3194335" y="366127"/>
              <a:ext cx="883585" cy="913481"/>
            </a:xfrm>
            <a:custGeom>
              <a:avLst/>
              <a:gdLst/>
              <a:ahLst/>
              <a:cxnLst/>
              <a:rect l="l" t="t" r="r" b="b"/>
              <a:pathLst>
                <a:path w="883585" h="913481">
                  <a:moveTo>
                    <a:pt x="0" y="0"/>
                  </a:moveTo>
                  <a:lnTo>
                    <a:pt x="883585" y="0"/>
                  </a:lnTo>
                  <a:lnTo>
                    <a:pt x="883585" y="913481"/>
                  </a:lnTo>
                  <a:lnTo>
                    <a:pt x="0" y="91348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24" name="Freeform 24"/>
            <p:cNvSpPr/>
            <p:nvPr/>
          </p:nvSpPr>
          <p:spPr>
            <a:xfrm>
              <a:off x="5416372" y="377368"/>
              <a:ext cx="890999" cy="890999"/>
            </a:xfrm>
            <a:custGeom>
              <a:avLst/>
              <a:gdLst/>
              <a:ahLst/>
              <a:cxnLst/>
              <a:rect l="l" t="t" r="r" b="b"/>
              <a:pathLst>
                <a:path w="890999" h="890999">
                  <a:moveTo>
                    <a:pt x="0" y="0"/>
                  </a:moveTo>
                  <a:lnTo>
                    <a:pt x="890999" y="0"/>
                  </a:lnTo>
                  <a:lnTo>
                    <a:pt x="890999" y="890999"/>
                  </a:lnTo>
                  <a:lnTo>
                    <a:pt x="0" y="890999"/>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25" name="Freeform 25"/>
            <p:cNvSpPr/>
            <p:nvPr/>
          </p:nvSpPr>
          <p:spPr>
            <a:xfrm>
              <a:off x="4298727" y="342107"/>
              <a:ext cx="896838" cy="961522"/>
            </a:xfrm>
            <a:custGeom>
              <a:avLst/>
              <a:gdLst/>
              <a:ahLst/>
              <a:cxnLst/>
              <a:rect l="l" t="t" r="r" b="b"/>
              <a:pathLst>
                <a:path w="896838" h="961522">
                  <a:moveTo>
                    <a:pt x="0" y="0"/>
                  </a:moveTo>
                  <a:lnTo>
                    <a:pt x="896838" y="0"/>
                  </a:lnTo>
                  <a:lnTo>
                    <a:pt x="896838" y="961522"/>
                  </a:lnTo>
                  <a:lnTo>
                    <a:pt x="0" y="961522"/>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26" name="Freeform 26"/>
            <p:cNvSpPr/>
            <p:nvPr/>
          </p:nvSpPr>
          <p:spPr>
            <a:xfrm>
              <a:off x="6502778" y="318086"/>
              <a:ext cx="1207087" cy="1009564"/>
            </a:xfrm>
            <a:custGeom>
              <a:avLst/>
              <a:gdLst/>
              <a:ahLst/>
              <a:cxnLst/>
              <a:rect l="l" t="t" r="r" b="b"/>
              <a:pathLst>
                <a:path w="1207087" h="1009564">
                  <a:moveTo>
                    <a:pt x="0" y="0"/>
                  </a:moveTo>
                  <a:lnTo>
                    <a:pt x="1207088" y="0"/>
                  </a:lnTo>
                  <a:lnTo>
                    <a:pt x="1207088" y="1009564"/>
                  </a:lnTo>
                  <a:lnTo>
                    <a:pt x="0" y="1009564"/>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27" name="TextBox 27"/>
            <p:cNvSpPr txBox="1"/>
            <p:nvPr/>
          </p:nvSpPr>
          <p:spPr>
            <a:xfrm>
              <a:off x="22163171" y="429379"/>
              <a:ext cx="1562297" cy="714375"/>
            </a:xfrm>
            <a:prstGeom prst="rect">
              <a:avLst/>
            </a:prstGeom>
          </p:spPr>
          <p:txBody>
            <a:bodyPr lIns="0" tIns="0" rIns="0" bIns="0" rtlCol="0" anchor="t">
              <a:spAutoFit/>
            </a:bodyPr>
            <a:lstStyle/>
            <a:p>
              <a:pPr algn="r">
                <a:lnSpc>
                  <a:spcPts val="3840"/>
                </a:lnSpc>
              </a:pPr>
              <a:r>
                <a:rPr lang="en-US" sz="3200">
                  <a:solidFill>
                    <a:srgbClr val="000000"/>
                  </a:solidFill>
                  <a:latin typeface="Retropix"/>
                </a:rPr>
                <a:t>23:11</a:t>
              </a:r>
            </a:p>
          </p:txBody>
        </p:sp>
      </p:grpSp>
      <p:sp>
        <p:nvSpPr>
          <p:cNvPr id="28" name="Freeform 28"/>
          <p:cNvSpPr/>
          <p:nvPr/>
        </p:nvSpPr>
        <p:spPr>
          <a:xfrm>
            <a:off x="16773447" y="2991016"/>
            <a:ext cx="808959" cy="782484"/>
          </a:xfrm>
          <a:custGeom>
            <a:avLst/>
            <a:gdLst/>
            <a:ahLst/>
            <a:cxnLst/>
            <a:rect l="l" t="t" r="r" b="b"/>
            <a:pathLst>
              <a:path w="808959" h="782484">
                <a:moveTo>
                  <a:pt x="0" y="0"/>
                </a:moveTo>
                <a:lnTo>
                  <a:pt x="808959" y="0"/>
                </a:lnTo>
                <a:lnTo>
                  <a:pt x="808959" y="782484"/>
                </a:lnTo>
                <a:lnTo>
                  <a:pt x="0" y="782484"/>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
        <p:cNvGrpSpPr/>
        <p:nvPr/>
      </p:nvGrpSpPr>
      <p:grpSpPr>
        <a:xfrm>
          <a:off x="0" y="0"/>
          <a:ext cx="0" cy="0"/>
          <a:chOff x="0" y="0"/>
          <a:chExt cx="0" cy="0"/>
        </a:xfrm>
      </p:grpSpPr>
      <p:grpSp>
        <p:nvGrpSpPr>
          <p:cNvPr id="2" name="Group 2"/>
          <p:cNvGrpSpPr/>
          <p:nvPr/>
        </p:nvGrpSpPr>
        <p:grpSpPr>
          <a:xfrm>
            <a:off x="-836598" y="0"/>
            <a:ext cx="19961197" cy="795781"/>
            <a:chOff x="0" y="0"/>
            <a:chExt cx="5257270" cy="209588"/>
          </a:xfrm>
        </p:grpSpPr>
        <p:sp>
          <p:nvSpPr>
            <p:cNvPr id="3" name="Freeform 3"/>
            <p:cNvSpPr/>
            <p:nvPr/>
          </p:nvSpPr>
          <p:spPr>
            <a:xfrm>
              <a:off x="0" y="0"/>
              <a:ext cx="5257270" cy="209588"/>
            </a:xfrm>
            <a:custGeom>
              <a:avLst/>
              <a:gdLst/>
              <a:ahLst/>
              <a:cxnLst/>
              <a:rect l="l" t="t" r="r" b="b"/>
              <a:pathLst>
                <a:path w="5257270" h="209588">
                  <a:moveTo>
                    <a:pt x="0" y="0"/>
                  </a:moveTo>
                  <a:lnTo>
                    <a:pt x="5257270" y="0"/>
                  </a:lnTo>
                  <a:lnTo>
                    <a:pt x="5257270" y="209588"/>
                  </a:lnTo>
                  <a:lnTo>
                    <a:pt x="0" y="209588"/>
                  </a:lnTo>
                  <a:close/>
                </a:path>
              </a:pathLst>
            </a:custGeom>
            <a:solidFill>
              <a:srgbClr val="067A7B"/>
            </a:solidFill>
            <a:ln w="95250" cap="sq">
              <a:solidFill>
                <a:srgbClr val="067A7B"/>
              </a:solidFill>
              <a:prstDash val="solid"/>
              <a:miter/>
            </a:ln>
          </p:spPr>
        </p:sp>
        <p:sp>
          <p:nvSpPr>
            <p:cNvPr id="4" name="TextBox 4"/>
            <p:cNvSpPr txBox="1"/>
            <p:nvPr/>
          </p:nvSpPr>
          <p:spPr>
            <a:xfrm>
              <a:off x="0" y="-47625"/>
              <a:ext cx="5257270" cy="257213"/>
            </a:xfrm>
            <a:prstGeom prst="rect">
              <a:avLst/>
            </a:prstGeom>
          </p:spPr>
          <p:txBody>
            <a:bodyPr lIns="254000" tIns="254000" rIns="254000" bIns="254000" rtlCol="0" anchor="ctr"/>
            <a:lstStyle/>
            <a:p>
              <a:pPr>
                <a:lnSpc>
                  <a:spcPts val="3499"/>
                </a:lnSpc>
              </a:pPr>
              <a:endParaRPr/>
            </a:p>
          </p:txBody>
        </p:sp>
      </p:grpSp>
      <p:sp>
        <p:nvSpPr>
          <p:cNvPr id="5" name="Freeform 5"/>
          <p:cNvSpPr/>
          <p:nvPr/>
        </p:nvSpPr>
        <p:spPr>
          <a:xfrm>
            <a:off x="2327604" y="3899783"/>
            <a:ext cx="5754674" cy="2877337"/>
          </a:xfrm>
          <a:custGeom>
            <a:avLst/>
            <a:gdLst/>
            <a:ahLst/>
            <a:cxnLst/>
            <a:rect l="l" t="t" r="r" b="b"/>
            <a:pathLst>
              <a:path w="5754674" h="2877337">
                <a:moveTo>
                  <a:pt x="0" y="0"/>
                </a:moveTo>
                <a:lnTo>
                  <a:pt x="5754675" y="0"/>
                </a:lnTo>
                <a:lnTo>
                  <a:pt x="5754675" y="2877337"/>
                </a:lnTo>
                <a:lnTo>
                  <a:pt x="0" y="28773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7995813" y="1905226"/>
            <a:ext cx="7295924" cy="7295924"/>
            <a:chOff x="0" y="0"/>
            <a:chExt cx="9727899" cy="9727899"/>
          </a:xfrm>
        </p:grpSpPr>
        <p:sp>
          <p:nvSpPr>
            <p:cNvPr id="7" name="Freeform 7"/>
            <p:cNvSpPr/>
            <p:nvPr/>
          </p:nvSpPr>
          <p:spPr>
            <a:xfrm>
              <a:off x="0" y="0"/>
              <a:ext cx="9727899" cy="9727899"/>
            </a:xfrm>
            <a:custGeom>
              <a:avLst/>
              <a:gdLst/>
              <a:ahLst/>
              <a:cxnLst/>
              <a:rect l="l" t="t" r="r" b="b"/>
              <a:pathLst>
                <a:path w="9727899" h="9727899">
                  <a:moveTo>
                    <a:pt x="0" y="0"/>
                  </a:moveTo>
                  <a:lnTo>
                    <a:pt x="9727899" y="0"/>
                  </a:lnTo>
                  <a:lnTo>
                    <a:pt x="9727899" y="9727899"/>
                  </a:lnTo>
                  <a:lnTo>
                    <a:pt x="0" y="972789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8868443" y="305414"/>
              <a:ext cx="472752" cy="457280"/>
            </a:xfrm>
            <a:custGeom>
              <a:avLst/>
              <a:gdLst/>
              <a:ahLst/>
              <a:cxnLst/>
              <a:rect l="l" t="t" r="r" b="b"/>
              <a:pathLst>
                <a:path w="472752" h="457280">
                  <a:moveTo>
                    <a:pt x="0" y="0"/>
                  </a:moveTo>
                  <a:lnTo>
                    <a:pt x="472751" y="0"/>
                  </a:lnTo>
                  <a:lnTo>
                    <a:pt x="472751" y="457280"/>
                  </a:lnTo>
                  <a:lnTo>
                    <a:pt x="0" y="457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9" name="Freeform 9"/>
          <p:cNvSpPr/>
          <p:nvPr/>
        </p:nvSpPr>
        <p:spPr>
          <a:xfrm>
            <a:off x="2756895" y="4272363"/>
            <a:ext cx="5754674" cy="2877337"/>
          </a:xfrm>
          <a:custGeom>
            <a:avLst/>
            <a:gdLst/>
            <a:ahLst/>
            <a:cxnLst/>
            <a:rect l="l" t="t" r="r" b="b"/>
            <a:pathLst>
              <a:path w="5754674" h="2877337">
                <a:moveTo>
                  <a:pt x="0" y="0"/>
                </a:moveTo>
                <a:lnTo>
                  <a:pt x="5754674" y="0"/>
                </a:lnTo>
                <a:lnTo>
                  <a:pt x="5754674" y="2877337"/>
                </a:lnTo>
                <a:lnTo>
                  <a:pt x="0" y="28773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4281475" y="3380244"/>
            <a:ext cx="2778342" cy="767833"/>
          </a:xfrm>
          <a:custGeom>
            <a:avLst/>
            <a:gdLst/>
            <a:ahLst/>
            <a:cxnLst/>
            <a:rect l="l" t="t" r="r" b="b"/>
            <a:pathLst>
              <a:path w="2778342" h="767833">
                <a:moveTo>
                  <a:pt x="0" y="0"/>
                </a:moveTo>
                <a:lnTo>
                  <a:pt x="2778342" y="0"/>
                </a:lnTo>
                <a:lnTo>
                  <a:pt x="2778342" y="767833"/>
                </a:lnTo>
                <a:lnTo>
                  <a:pt x="0" y="7678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1" name="Group 11"/>
          <p:cNvGrpSpPr/>
          <p:nvPr/>
        </p:nvGrpSpPr>
        <p:grpSpPr>
          <a:xfrm>
            <a:off x="8511569" y="6136420"/>
            <a:ext cx="1890203" cy="1666384"/>
            <a:chOff x="0" y="0"/>
            <a:chExt cx="2520270" cy="2221846"/>
          </a:xfrm>
        </p:grpSpPr>
        <p:sp>
          <p:nvSpPr>
            <p:cNvPr id="12" name="Freeform 12"/>
            <p:cNvSpPr/>
            <p:nvPr/>
          </p:nvSpPr>
          <p:spPr>
            <a:xfrm>
              <a:off x="553833" y="0"/>
              <a:ext cx="1412604" cy="1514488"/>
            </a:xfrm>
            <a:custGeom>
              <a:avLst/>
              <a:gdLst/>
              <a:ahLst/>
              <a:cxnLst/>
              <a:rect l="l" t="t" r="r" b="b"/>
              <a:pathLst>
                <a:path w="1412604" h="1514488">
                  <a:moveTo>
                    <a:pt x="0" y="0"/>
                  </a:moveTo>
                  <a:lnTo>
                    <a:pt x="1412604" y="0"/>
                  </a:lnTo>
                  <a:lnTo>
                    <a:pt x="1412604" y="1514488"/>
                  </a:lnTo>
                  <a:lnTo>
                    <a:pt x="0" y="151448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TextBox 13"/>
            <p:cNvSpPr txBox="1"/>
            <p:nvPr/>
          </p:nvSpPr>
          <p:spPr>
            <a:xfrm>
              <a:off x="0" y="1633624"/>
              <a:ext cx="2520270" cy="588221"/>
            </a:xfrm>
            <a:prstGeom prst="rect">
              <a:avLst/>
            </a:prstGeom>
          </p:spPr>
          <p:txBody>
            <a:bodyPr lIns="0" tIns="0" rIns="0" bIns="0" rtlCol="0" anchor="t">
              <a:spAutoFit/>
            </a:bodyPr>
            <a:lstStyle/>
            <a:p>
              <a:pPr algn="ctr">
                <a:lnSpc>
                  <a:spcPts val="3640"/>
                </a:lnSpc>
              </a:pPr>
              <a:r>
                <a:rPr lang="en-US" sz="2600">
                  <a:solidFill>
                    <a:srgbClr val="000000"/>
                  </a:solidFill>
                  <a:latin typeface="Public Sans"/>
                </a:rPr>
                <a:t>Encoding</a:t>
              </a:r>
            </a:p>
          </p:txBody>
        </p:sp>
      </p:grpSp>
      <p:sp>
        <p:nvSpPr>
          <p:cNvPr id="14" name="TextBox 14"/>
          <p:cNvSpPr txBox="1"/>
          <p:nvPr/>
        </p:nvSpPr>
        <p:spPr>
          <a:xfrm>
            <a:off x="11643775" y="5025108"/>
            <a:ext cx="2100276" cy="457835"/>
          </a:xfrm>
          <a:prstGeom prst="rect">
            <a:avLst/>
          </a:prstGeom>
        </p:spPr>
        <p:txBody>
          <a:bodyPr lIns="0" tIns="0" rIns="0" bIns="0" rtlCol="0" anchor="t">
            <a:spAutoFit/>
          </a:bodyPr>
          <a:lstStyle/>
          <a:p>
            <a:pPr algn="ctr">
              <a:lnSpc>
                <a:spcPts val="3640"/>
              </a:lnSpc>
            </a:pPr>
            <a:r>
              <a:rPr lang="en-US" sz="2600">
                <a:solidFill>
                  <a:srgbClr val="000000"/>
                </a:solidFill>
                <a:latin typeface="Public Sans"/>
              </a:rPr>
              <a:t>Applications</a:t>
            </a:r>
          </a:p>
        </p:txBody>
      </p:sp>
      <p:sp>
        <p:nvSpPr>
          <p:cNvPr id="15" name="Freeform 15"/>
          <p:cNvSpPr/>
          <p:nvPr/>
        </p:nvSpPr>
        <p:spPr>
          <a:xfrm>
            <a:off x="12322013" y="3899783"/>
            <a:ext cx="953875" cy="953875"/>
          </a:xfrm>
          <a:custGeom>
            <a:avLst/>
            <a:gdLst/>
            <a:ahLst/>
            <a:cxnLst/>
            <a:rect l="l" t="t" r="r" b="b"/>
            <a:pathLst>
              <a:path w="953875" h="953875">
                <a:moveTo>
                  <a:pt x="0" y="0"/>
                </a:moveTo>
                <a:lnTo>
                  <a:pt x="953875" y="0"/>
                </a:lnTo>
                <a:lnTo>
                  <a:pt x="953875" y="953875"/>
                </a:lnTo>
                <a:lnTo>
                  <a:pt x="0" y="95387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16" name="Group 16"/>
          <p:cNvGrpSpPr/>
          <p:nvPr/>
        </p:nvGrpSpPr>
        <p:grpSpPr>
          <a:xfrm>
            <a:off x="10698674" y="6136420"/>
            <a:ext cx="1890203" cy="1666384"/>
            <a:chOff x="0" y="0"/>
            <a:chExt cx="2520270" cy="2221846"/>
          </a:xfrm>
        </p:grpSpPr>
        <p:sp>
          <p:nvSpPr>
            <p:cNvPr id="17" name="TextBox 17"/>
            <p:cNvSpPr txBox="1"/>
            <p:nvPr/>
          </p:nvSpPr>
          <p:spPr>
            <a:xfrm>
              <a:off x="0" y="1633624"/>
              <a:ext cx="2520270" cy="588221"/>
            </a:xfrm>
            <a:prstGeom prst="rect">
              <a:avLst/>
            </a:prstGeom>
          </p:spPr>
          <p:txBody>
            <a:bodyPr lIns="0" tIns="0" rIns="0" bIns="0" rtlCol="0" anchor="t">
              <a:spAutoFit/>
            </a:bodyPr>
            <a:lstStyle/>
            <a:p>
              <a:pPr algn="ctr">
                <a:lnSpc>
                  <a:spcPts val="3640"/>
                </a:lnSpc>
              </a:pPr>
              <a:r>
                <a:rPr lang="en-US" sz="2600" u="sng">
                  <a:solidFill>
                    <a:srgbClr val="000000"/>
                  </a:solidFill>
                  <a:latin typeface="Public Sans"/>
                </a:rPr>
                <a:t>Decoding</a:t>
              </a:r>
            </a:p>
          </p:txBody>
        </p:sp>
        <p:sp>
          <p:nvSpPr>
            <p:cNvPr id="18" name="Freeform 18"/>
            <p:cNvSpPr/>
            <p:nvPr/>
          </p:nvSpPr>
          <p:spPr>
            <a:xfrm>
              <a:off x="359944" y="0"/>
              <a:ext cx="1800382" cy="1378111"/>
            </a:xfrm>
            <a:custGeom>
              <a:avLst/>
              <a:gdLst/>
              <a:ahLst/>
              <a:cxnLst/>
              <a:rect l="l" t="t" r="r" b="b"/>
              <a:pathLst>
                <a:path w="1800382" h="1378111">
                  <a:moveTo>
                    <a:pt x="0" y="0"/>
                  </a:moveTo>
                  <a:lnTo>
                    <a:pt x="1800382" y="0"/>
                  </a:lnTo>
                  <a:lnTo>
                    <a:pt x="1800382" y="1378111"/>
                  </a:lnTo>
                  <a:lnTo>
                    <a:pt x="0" y="137811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grpSp>
        <p:nvGrpSpPr>
          <p:cNvPr id="19" name="Group 19"/>
          <p:cNvGrpSpPr/>
          <p:nvPr/>
        </p:nvGrpSpPr>
        <p:grpSpPr>
          <a:xfrm>
            <a:off x="9295849" y="3723307"/>
            <a:ext cx="1890203" cy="1748415"/>
            <a:chOff x="0" y="0"/>
            <a:chExt cx="2520270" cy="2331220"/>
          </a:xfrm>
        </p:grpSpPr>
        <p:sp>
          <p:nvSpPr>
            <p:cNvPr id="20" name="TextBox 20"/>
            <p:cNvSpPr txBox="1"/>
            <p:nvPr/>
          </p:nvSpPr>
          <p:spPr>
            <a:xfrm>
              <a:off x="0" y="1742998"/>
              <a:ext cx="2520270" cy="588221"/>
            </a:xfrm>
            <a:prstGeom prst="rect">
              <a:avLst/>
            </a:prstGeom>
          </p:spPr>
          <p:txBody>
            <a:bodyPr lIns="0" tIns="0" rIns="0" bIns="0" rtlCol="0" anchor="t">
              <a:spAutoFit/>
            </a:bodyPr>
            <a:lstStyle/>
            <a:p>
              <a:pPr algn="ctr">
                <a:lnSpc>
                  <a:spcPts val="3640"/>
                </a:lnSpc>
              </a:pPr>
              <a:r>
                <a:rPr lang="en-US" sz="2600" u="sng">
                  <a:solidFill>
                    <a:srgbClr val="000000"/>
                  </a:solidFill>
                  <a:latin typeface="Public Sans"/>
                </a:rPr>
                <a:t>Background</a:t>
              </a:r>
            </a:p>
          </p:txBody>
        </p:sp>
        <p:sp>
          <p:nvSpPr>
            <p:cNvPr id="21" name="Freeform 21"/>
            <p:cNvSpPr/>
            <p:nvPr/>
          </p:nvSpPr>
          <p:spPr>
            <a:xfrm>
              <a:off x="610294" y="0"/>
              <a:ext cx="1299681" cy="1650865"/>
            </a:xfrm>
            <a:custGeom>
              <a:avLst/>
              <a:gdLst/>
              <a:ahLst/>
              <a:cxnLst/>
              <a:rect l="l" t="t" r="r" b="b"/>
              <a:pathLst>
                <a:path w="1299681" h="1650865">
                  <a:moveTo>
                    <a:pt x="0" y="0"/>
                  </a:moveTo>
                  <a:lnTo>
                    <a:pt x="1299682" y="0"/>
                  </a:lnTo>
                  <a:lnTo>
                    <a:pt x="1299682" y="1650865"/>
                  </a:lnTo>
                  <a:lnTo>
                    <a:pt x="0" y="16508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sp>
        <p:nvSpPr>
          <p:cNvPr id="22" name="Freeform 22"/>
          <p:cNvSpPr/>
          <p:nvPr/>
        </p:nvSpPr>
        <p:spPr>
          <a:xfrm>
            <a:off x="16575081" y="3898982"/>
            <a:ext cx="484735" cy="825401"/>
          </a:xfrm>
          <a:custGeom>
            <a:avLst/>
            <a:gdLst/>
            <a:ahLst/>
            <a:cxnLst/>
            <a:rect l="l" t="t" r="r" b="b"/>
            <a:pathLst>
              <a:path w="484735" h="825401">
                <a:moveTo>
                  <a:pt x="0" y="0"/>
                </a:moveTo>
                <a:lnTo>
                  <a:pt x="484736" y="0"/>
                </a:lnTo>
                <a:lnTo>
                  <a:pt x="484736" y="825401"/>
                </a:lnTo>
                <a:lnTo>
                  <a:pt x="0" y="8254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3" name="Freeform 23"/>
          <p:cNvSpPr/>
          <p:nvPr/>
        </p:nvSpPr>
        <p:spPr>
          <a:xfrm>
            <a:off x="1028700" y="8533974"/>
            <a:ext cx="724326" cy="724326"/>
          </a:xfrm>
          <a:custGeom>
            <a:avLst/>
            <a:gdLst/>
            <a:ahLst/>
            <a:cxnLst/>
            <a:rect l="l" t="t" r="r" b="b"/>
            <a:pathLst>
              <a:path w="724326" h="724326">
                <a:moveTo>
                  <a:pt x="0" y="0"/>
                </a:moveTo>
                <a:lnTo>
                  <a:pt x="724326" y="0"/>
                </a:lnTo>
                <a:lnTo>
                  <a:pt x="724326" y="724326"/>
                </a:lnTo>
                <a:lnTo>
                  <a:pt x="0" y="724326"/>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4" name="Freeform 24"/>
          <p:cNvSpPr/>
          <p:nvPr/>
        </p:nvSpPr>
        <p:spPr>
          <a:xfrm>
            <a:off x="1772076" y="8533974"/>
            <a:ext cx="746029" cy="724326"/>
          </a:xfrm>
          <a:custGeom>
            <a:avLst/>
            <a:gdLst/>
            <a:ahLst/>
            <a:cxnLst/>
            <a:rect l="l" t="t" r="r" b="b"/>
            <a:pathLst>
              <a:path w="746029" h="724326">
                <a:moveTo>
                  <a:pt x="0" y="0"/>
                </a:moveTo>
                <a:lnTo>
                  <a:pt x="746028" y="0"/>
                </a:lnTo>
                <a:lnTo>
                  <a:pt x="746028" y="724326"/>
                </a:lnTo>
                <a:lnTo>
                  <a:pt x="0" y="72432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5" name="TextBox 25"/>
          <p:cNvSpPr txBox="1"/>
          <p:nvPr/>
        </p:nvSpPr>
        <p:spPr>
          <a:xfrm>
            <a:off x="3396192" y="5451591"/>
            <a:ext cx="4399880" cy="1073150"/>
          </a:xfrm>
          <a:prstGeom prst="rect">
            <a:avLst/>
          </a:prstGeom>
        </p:spPr>
        <p:txBody>
          <a:bodyPr lIns="0" tIns="0" rIns="0" bIns="0" rtlCol="0" anchor="t">
            <a:spAutoFit/>
          </a:bodyPr>
          <a:lstStyle/>
          <a:p>
            <a:pPr algn="ctr">
              <a:lnSpc>
                <a:spcPts val="6999"/>
              </a:lnSpc>
            </a:pPr>
            <a:r>
              <a:rPr lang="en-US" sz="6999">
                <a:solidFill>
                  <a:srgbClr val="000000"/>
                </a:solidFill>
                <a:latin typeface="Retropix"/>
              </a:rPr>
              <a:t>contents</a:t>
            </a:r>
          </a:p>
        </p:txBody>
      </p:sp>
      <p:sp>
        <p:nvSpPr>
          <p:cNvPr id="26" name="TextBox 26"/>
          <p:cNvSpPr txBox="1"/>
          <p:nvPr/>
        </p:nvSpPr>
        <p:spPr>
          <a:xfrm>
            <a:off x="8230473" y="1972392"/>
            <a:ext cx="5662432" cy="552450"/>
          </a:xfrm>
          <a:prstGeom prst="rect">
            <a:avLst/>
          </a:prstGeom>
        </p:spPr>
        <p:txBody>
          <a:bodyPr lIns="0" tIns="0" rIns="0" bIns="0" rtlCol="0" anchor="t">
            <a:spAutoFit/>
          </a:bodyPr>
          <a:lstStyle/>
          <a:p>
            <a:pPr marL="0" lvl="0" indent="0" algn="l">
              <a:lnSpc>
                <a:spcPts val="3840"/>
              </a:lnSpc>
            </a:pPr>
            <a:r>
              <a:rPr lang="en-US" sz="3200">
                <a:solidFill>
                  <a:srgbClr val="FFFFFF"/>
                </a:solidFill>
                <a:latin typeface="Retropix"/>
              </a:rPr>
              <a:t>Topic</a:t>
            </a:r>
          </a:p>
        </p:txBody>
      </p:sp>
      <p:sp>
        <p:nvSpPr>
          <p:cNvPr id="27" name="TextBox 27"/>
          <p:cNvSpPr txBox="1"/>
          <p:nvPr/>
        </p:nvSpPr>
        <p:spPr>
          <a:xfrm>
            <a:off x="12884152" y="7344969"/>
            <a:ext cx="1890203" cy="1317625"/>
          </a:xfrm>
          <a:prstGeom prst="rect">
            <a:avLst/>
          </a:prstGeom>
        </p:spPr>
        <p:txBody>
          <a:bodyPr lIns="0" tIns="0" rIns="0" bIns="0" rtlCol="0" anchor="t">
            <a:spAutoFit/>
          </a:bodyPr>
          <a:lstStyle/>
          <a:p>
            <a:pPr algn="ctr">
              <a:lnSpc>
                <a:spcPts val="3500"/>
              </a:lnSpc>
            </a:pPr>
            <a:r>
              <a:rPr lang="en-US" sz="2500">
                <a:solidFill>
                  <a:srgbClr val="000000"/>
                </a:solidFill>
                <a:latin typeface="Public Sans"/>
              </a:rPr>
              <a:t>General</a:t>
            </a:r>
          </a:p>
          <a:p>
            <a:pPr algn="ctr">
              <a:lnSpc>
                <a:spcPts val="3500"/>
              </a:lnSpc>
            </a:pPr>
            <a:r>
              <a:rPr lang="en-US" sz="2500">
                <a:solidFill>
                  <a:srgbClr val="000000"/>
                </a:solidFill>
                <a:latin typeface="Public Sans"/>
              </a:rPr>
              <a:t>Unary</a:t>
            </a:r>
          </a:p>
          <a:p>
            <a:pPr algn="ctr">
              <a:lnSpc>
                <a:spcPts val="3500"/>
              </a:lnSpc>
            </a:pPr>
            <a:r>
              <a:rPr lang="en-US" sz="2500">
                <a:solidFill>
                  <a:srgbClr val="000000"/>
                </a:solidFill>
                <a:latin typeface="Public Sans"/>
              </a:rPr>
              <a:t>Code</a:t>
            </a:r>
          </a:p>
        </p:txBody>
      </p:sp>
      <p:sp>
        <p:nvSpPr>
          <p:cNvPr id="28" name="Freeform 28"/>
          <p:cNvSpPr/>
          <p:nvPr/>
        </p:nvSpPr>
        <p:spPr>
          <a:xfrm>
            <a:off x="13083779" y="6136420"/>
            <a:ext cx="1320546" cy="1320546"/>
          </a:xfrm>
          <a:custGeom>
            <a:avLst/>
            <a:gdLst/>
            <a:ahLst/>
            <a:cxnLst/>
            <a:rect l="l" t="t" r="r" b="b"/>
            <a:pathLst>
              <a:path w="1320546" h="1320546">
                <a:moveTo>
                  <a:pt x="0" y="0"/>
                </a:moveTo>
                <a:lnTo>
                  <a:pt x="1320545" y="0"/>
                </a:lnTo>
                <a:lnTo>
                  <a:pt x="1320545" y="1320546"/>
                </a:lnTo>
                <a:lnTo>
                  <a:pt x="0" y="1320546"/>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9360400" y="838621"/>
            <a:ext cx="6862132" cy="6862132"/>
            <a:chOff x="0" y="0"/>
            <a:chExt cx="9149510" cy="9149510"/>
          </a:xfrm>
        </p:grpSpPr>
        <p:sp>
          <p:nvSpPr>
            <p:cNvPr id="3" name="Freeform 3"/>
            <p:cNvSpPr/>
            <p:nvPr/>
          </p:nvSpPr>
          <p:spPr>
            <a:xfrm>
              <a:off x="0" y="0"/>
              <a:ext cx="9149510" cy="9149510"/>
            </a:xfrm>
            <a:custGeom>
              <a:avLst/>
              <a:gdLst/>
              <a:ahLst/>
              <a:cxnLst/>
              <a:rect l="l" t="t" r="r" b="b"/>
              <a:pathLst>
                <a:path w="9149510" h="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8341154" y="287255"/>
              <a:ext cx="444643" cy="430091"/>
            </a:xfrm>
            <a:custGeom>
              <a:avLst/>
              <a:gdLst/>
              <a:ahLst/>
              <a:cxnLst/>
              <a:rect l="l" t="t" r="r" b="b"/>
              <a:pathLst>
                <a:path w="444643" h="430091">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5" name="Group 5"/>
          <p:cNvGrpSpPr/>
          <p:nvPr/>
        </p:nvGrpSpPr>
        <p:grpSpPr>
          <a:xfrm>
            <a:off x="9512800" y="991021"/>
            <a:ext cx="6862132" cy="6862132"/>
            <a:chOff x="0" y="0"/>
            <a:chExt cx="9149510" cy="9149510"/>
          </a:xfrm>
        </p:grpSpPr>
        <p:sp>
          <p:nvSpPr>
            <p:cNvPr id="6" name="Freeform 6"/>
            <p:cNvSpPr/>
            <p:nvPr/>
          </p:nvSpPr>
          <p:spPr>
            <a:xfrm>
              <a:off x="0" y="0"/>
              <a:ext cx="9149510" cy="9149510"/>
            </a:xfrm>
            <a:custGeom>
              <a:avLst/>
              <a:gdLst/>
              <a:ahLst/>
              <a:cxnLst/>
              <a:rect l="l" t="t" r="r" b="b"/>
              <a:pathLst>
                <a:path w="9149510" h="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8341154" y="287255"/>
              <a:ext cx="444643" cy="430091"/>
            </a:xfrm>
            <a:custGeom>
              <a:avLst/>
              <a:gdLst/>
              <a:ahLst/>
              <a:cxnLst/>
              <a:rect l="l" t="t" r="r" b="b"/>
              <a:pathLst>
                <a:path w="444643" h="430091">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8" name="Group 8"/>
          <p:cNvGrpSpPr/>
          <p:nvPr/>
        </p:nvGrpSpPr>
        <p:grpSpPr>
          <a:xfrm>
            <a:off x="9665200" y="1143421"/>
            <a:ext cx="6862132" cy="6862132"/>
            <a:chOff x="0" y="0"/>
            <a:chExt cx="9149510" cy="9149510"/>
          </a:xfrm>
        </p:grpSpPr>
        <p:sp>
          <p:nvSpPr>
            <p:cNvPr id="9" name="Freeform 9"/>
            <p:cNvSpPr/>
            <p:nvPr/>
          </p:nvSpPr>
          <p:spPr>
            <a:xfrm>
              <a:off x="0" y="0"/>
              <a:ext cx="9149510" cy="9149510"/>
            </a:xfrm>
            <a:custGeom>
              <a:avLst/>
              <a:gdLst/>
              <a:ahLst/>
              <a:cxnLst/>
              <a:rect l="l" t="t" r="r" b="b"/>
              <a:pathLst>
                <a:path w="9149510" h="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8341154" y="287255"/>
              <a:ext cx="444643" cy="430091"/>
            </a:xfrm>
            <a:custGeom>
              <a:avLst/>
              <a:gdLst/>
              <a:ahLst/>
              <a:cxnLst/>
              <a:rect l="l" t="t" r="r" b="b"/>
              <a:pathLst>
                <a:path w="444643" h="430091">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11" name="Group 11"/>
          <p:cNvGrpSpPr/>
          <p:nvPr/>
        </p:nvGrpSpPr>
        <p:grpSpPr>
          <a:xfrm>
            <a:off x="9817600" y="1295821"/>
            <a:ext cx="6862132" cy="6862132"/>
            <a:chOff x="0" y="0"/>
            <a:chExt cx="9149510" cy="9149510"/>
          </a:xfrm>
        </p:grpSpPr>
        <p:sp>
          <p:nvSpPr>
            <p:cNvPr id="12" name="Freeform 12"/>
            <p:cNvSpPr/>
            <p:nvPr/>
          </p:nvSpPr>
          <p:spPr>
            <a:xfrm>
              <a:off x="0" y="0"/>
              <a:ext cx="9149510" cy="9149510"/>
            </a:xfrm>
            <a:custGeom>
              <a:avLst/>
              <a:gdLst/>
              <a:ahLst/>
              <a:cxnLst/>
              <a:rect l="l" t="t" r="r" b="b"/>
              <a:pathLst>
                <a:path w="9149510" h="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8341154" y="287255"/>
              <a:ext cx="444643" cy="430091"/>
            </a:xfrm>
            <a:custGeom>
              <a:avLst/>
              <a:gdLst/>
              <a:ahLst/>
              <a:cxnLst/>
              <a:rect l="l" t="t" r="r" b="b"/>
              <a:pathLst>
                <a:path w="444643" h="430091">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4" name="TextBox 14"/>
          <p:cNvSpPr txBox="1"/>
          <p:nvPr/>
        </p:nvSpPr>
        <p:spPr>
          <a:xfrm>
            <a:off x="1233089" y="1457325"/>
            <a:ext cx="6326630" cy="1073150"/>
          </a:xfrm>
          <a:prstGeom prst="rect">
            <a:avLst/>
          </a:prstGeom>
        </p:spPr>
        <p:txBody>
          <a:bodyPr lIns="0" tIns="0" rIns="0" bIns="0" rtlCol="0" anchor="t">
            <a:spAutoFit/>
          </a:bodyPr>
          <a:lstStyle/>
          <a:p>
            <a:pPr>
              <a:lnSpc>
                <a:spcPts val="6999"/>
              </a:lnSpc>
            </a:pPr>
            <a:r>
              <a:rPr lang="en-US" sz="6999">
                <a:solidFill>
                  <a:srgbClr val="FFFFFF"/>
                </a:solidFill>
                <a:latin typeface="Retropix"/>
              </a:rPr>
              <a:t>Background</a:t>
            </a:r>
          </a:p>
        </p:txBody>
      </p:sp>
      <p:grpSp>
        <p:nvGrpSpPr>
          <p:cNvPr id="15" name="Group 15"/>
          <p:cNvGrpSpPr/>
          <p:nvPr/>
        </p:nvGrpSpPr>
        <p:grpSpPr>
          <a:xfrm>
            <a:off x="0" y="9052698"/>
            <a:ext cx="18288000" cy="1234302"/>
            <a:chOff x="0" y="0"/>
            <a:chExt cx="4816593" cy="325084"/>
          </a:xfrm>
        </p:grpSpPr>
        <p:sp>
          <p:nvSpPr>
            <p:cNvPr id="16" name="Freeform 16"/>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17" name="TextBox 17"/>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18" name="Group 18"/>
          <p:cNvGrpSpPr/>
          <p:nvPr/>
        </p:nvGrpSpPr>
        <p:grpSpPr>
          <a:xfrm>
            <a:off x="237414" y="9267586"/>
            <a:ext cx="804526" cy="804526"/>
            <a:chOff x="0" y="0"/>
            <a:chExt cx="1072702" cy="1072702"/>
          </a:xfrm>
        </p:grpSpPr>
        <p:sp>
          <p:nvSpPr>
            <p:cNvPr id="19" name="Freeform 19"/>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Freeform 20"/>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21" name="Freeform 21"/>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2" name="Freeform 22"/>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3" name="Freeform 23"/>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4" name="Freeform 24"/>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5" name="Freeform 25"/>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6" name="Freeform 26"/>
          <p:cNvSpPr/>
          <p:nvPr/>
        </p:nvSpPr>
        <p:spPr>
          <a:xfrm>
            <a:off x="6919990" y="3149369"/>
            <a:ext cx="484735" cy="825401"/>
          </a:xfrm>
          <a:custGeom>
            <a:avLst/>
            <a:gdLst/>
            <a:ahLst/>
            <a:cxnLst/>
            <a:rect l="l" t="t" r="r" b="b"/>
            <a:pathLst>
              <a:path w="484735" h="825401">
                <a:moveTo>
                  <a:pt x="0" y="0"/>
                </a:moveTo>
                <a:lnTo>
                  <a:pt x="484735" y="0"/>
                </a:lnTo>
                <a:lnTo>
                  <a:pt x="484735" y="825401"/>
                </a:lnTo>
                <a:lnTo>
                  <a:pt x="0" y="825401"/>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7" name="TextBox 27"/>
          <p:cNvSpPr txBox="1"/>
          <p:nvPr/>
        </p:nvSpPr>
        <p:spPr>
          <a:xfrm>
            <a:off x="10700462" y="4230688"/>
            <a:ext cx="5096408" cy="1768475"/>
          </a:xfrm>
          <a:prstGeom prst="rect">
            <a:avLst/>
          </a:prstGeom>
        </p:spPr>
        <p:txBody>
          <a:bodyPr lIns="0" tIns="0" rIns="0" bIns="0" rtlCol="0" anchor="t">
            <a:spAutoFit/>
          </a:bodyPr>
          <a:lstStyle/>
          <a:p>
            <a:pPr algn="ctr">
              <a:lnSpc>
                <a:spcPts val="2800"/>
              </a:lnSpc>
            </a:pPr>
            <a:r>
              <a:rPr lang="en-US" sz="2000" dirty="0">
                <a:solidFill>
                  <a:srgbClr val="000000"/>
                </a:solidFill>
                <a:latin typeface="Public Sans"/>
              </a:rPr>
              <a:t>Unary is the simplest way to represent numbers. It has been used since ancient times and is still used today. </a:t>
            </a:r>
          </a:p>
          <a:p>
            <a:pPr algn="ctr">
              <a:lnSpc>
                <a:spcPts val="2800"/>
              </a:lnSpc>
            </a:pPr>
            <a:endParaRPr lang="en-US" sz="2000" dirty="0">
              <a:solidFill>
                <a:srgbClr val="000000"/>
              </a:solidFill>
              <a:latin typeface="Public Sans"/>
            </a:endParaRPr>
          </a:p>
          <a:p>
            <a:pPr algn="ctr">
              <a:lnSpc>
                <a:spcPts val="2800"/>
              </a:lnSpc>
            </a:pPr>
            <a:endParaRPr lang="en-US" sz="2000" dirty="0">
              <a:solidFill>
                <a:srgbClr val="000000"/>
              </a:solidFill>
              <a:latin typeface="Public Sans"/>
            </a:endParaRPr>
          </a:p>
        </p:txBody>
      </p:sp>
      <p:sp>
        <p:nvSpPr>
          <p:cNvPr id="28" name="Freeform 28"/>
          <p:cNvSpPr/>
          <p:nvPr/>
        </p:nvSpPr>
        <p:spPr>
          <a:xfrm>
            <a:off x="12875652" y="3199906"/>
            <a:ext cx="746029" cy="724326"/>
          </a:xfrm>
          <a:custGeom>
            <a:avLst/>
            <a:gdLst/>
            <a:ahLst/>
            <a:cxnLst/>
            <a:rect l="l" t="t" r="r" b="b"/>
            <a:pathLst>
              <a:path w="746029" h="724326">
                <a:moveTo>
                  <a:pt x="0" y="0"/>
                </a:moveTo>
                <a:lnTo>
                  <a:pt x="746028" y="0"/>
                </a:lnTo>
                <a:lnTo>
                  <a:pt x="746028" y="724326"/>
                </a:lnTo>
                <a:lnTo>
                  <a:pt x="0" y="72432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11824976" y="4992315"/>
            <a:ext cx="3790780" cy="3790780"/>
          </a:xfrm>
          <a:custGeom>
            <a:avLst/>
            <a:gdLst/>
            <a:ahLst/>
            <a:cxnLst/>
            <a:rect l="l" t="t" r="r" b="b"/>
            <a:pathLst>
              <a:path w="3790780" h="3790780">
                <a:moveTo>
                  <a:pt x="0" y="0"/>
                </a:moveTo>
                <a:lnTo>
                  <a:pt x="3790780" y="0"/>
                </a:lnTo>
                <a:lnTo>
                  <a:pt x="3790780" y="3790780"/>
                </a:lnTo>
                <a:lnTo>
                  <a:pt x="0" y="37907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824976" y="5517329"/>
            <a:ext cx="3790780" cy="3062076"/>
            <a:chOff x="0" y="0"/>
            <a:chExt cx="5054373" cy="4082768"/>
          </a:xfrm>
        </p:grpSpPr>
        <p:pic>
          <p:nvPicPr>
            <p:cNvPr id="4" name="Picture 4"/>
            <p:cNvPicPr>
              <a:picLocks noChangeAspect="1"/>
            </p:cNvPicPr>
            <p:nvPr/>
          </p:nvPicPr>
          <p:blipFill>
            <a:blip r:embed="rId4"/>
            <a:srcRect l="4985" r="12336" b="10"/>
            <a:stretch>
              <a:fillRect/>
            </a:stretch>
          </p:blipFill>
          <p:spPr>
            <a:xfrm>
              <a:off x="0" y="0"/>
              <a:ext cx="5054373" cy="4082768"/>
            </a:xfrm>
            <a:prstGeom prst="rect">
              <a:avLst/>
            </a:prstGeom>
          </p:spPr>
        </p:pic>
      </p:grpSp>
      <p:sp>
        <p:nvSpPr>
          <p:cNvPr id="5" name="Freeform 5"/>
          <p:cNvSpPr/>
          <p:nvPr/>
        </p:nvSpPr>
        <p:spPr>
          <a:xfrm>
            <a:off x="12024868" y="952500"/>
            <a:ext cx="3525752" cy="3525752"/>
          </a:xfrm>
          <a:custGeom>
            <a:avLst/>
            <a:gdLst/>
            <a:ahLst/>
            <a:cxnLst/>
            <a:rect l="l" t="t" r="r" b="b"/>
            <a:pathLst>
              <a:path w="3525752" h="3525752">
                <a:moveTo>
                  <a:pt x="0" y="0"/>
                </a:moveTo>
                <a:lnTo>
                  <a:pt x="3525752" y="0"/>
                </a:lnTo>
                <a:lnTo>
                  <a:pt x="3525752" y="3525752"/>
                </a:lnTo>
                <a:lnTo>
                  <a:pt x="0" y="35257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096880" y="1367794"/>
            <a:ext cx="3381728" cy="3022010"/>
            <a:chOff x="0" y="0"/>
            <a:chExt cx="4508970" cy="4029346"/>
          </a:xfrm>
        </p:grpSpPr>
        <p:pic>
          <p:nvPicPr>
            <p:cNvPr id="7" name="Picture 7"/>
            <p:cNvPicPr>
              <a:picLocks noChangeAspect="1"/>
            </p:cNvPicPr>
            <p:nvPr/>
          </p:nvPicPr>
          <p:blipFill>
            <a:blip r:embed="rId5"/>
            <a:srcRect l="3506" r="34242"/>
            <a:stretch>
              <a:fillRect/>
            </a:stretch>
          </p:blipFill>
          <p:spPr>
            <a:xfrm>
              <a:off x="0" y="0"/>
              <a:ext cx="4508970" cy="4029346"/>
            </a:xfrm>
            <a:prstGeom prst="rect">
              <a:avLst/>
            </a:prstGeom>
          </p:spPr>
        </p:pic>
      </p:grpSp>
      <p:sp>
        <p:nvSpPr>
          <p:cNvPr id="8" name="Freeform 8"/>
          <p:cNvSpPr/>
          <p:nvPr/>
        </p:nvSpPr>
        <p:spPr>
          <a:xfrm>
            <a:off x="16285215" y="1187704"/>
            <a:ext cx="974085" cy="745618"/>
          </a:xfrm>
          <a:custGeom>
            <a:avLst/>
            <a:gdLst/>
            <a:ahLst/>
            <a:cxnLst/>
            <a:rect l="l" t="t" r="r" b="b"/>
            <a:pathLst>
              <a:path w="974085" h="745618">
                <a:moveTo>
                  <a:pt x="0" y="0"/>
                </a:moveTo>
                <a:lnTo>
                  <a:pt x="974085" y="0"/>
                </a:lnTo>
                <a:lnTo>
                  <a:pt x="974085" y="745617"/>
                </a:lnTo>
                <a:lnTo>
                  <a:pt x="0" y="74561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9" name="Group 9"/>
          <p:cNvGrpSpPr/>
          <p:nvPr/>
        </p:nvGrpSpPr>
        <p:grpSpPr>
          <a:xfrm>
            <a:off x="0" y="9052698"/>
            <a:ext cx="18288000" cy="1234302"/>
            <a:chOff x="0" y="0"/>
            <a:chExt cx="4816593" cy="325084"/>
          </a:xfrm>
        </p:grpSpPr>
        <p:sp>
          <p:nvSpPr>
            <p:cNvPr id="10" name="Freeform 10"/>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11" name="TextBox 11"/>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12" name="Group 12"/>
          <p:cNvGrpSpPr/>
          <p:nvPr/>
        </p:nvGrpSpPr>
        <p:grpSpPr>
          <a:xfrm>
            <a:off x="237414" y="9267586"/>
            <a:ext cx="804526" cy="804526"/>
            <a:chOff x="0" y="0"/>
            <a:chExt cx="1072702" cy="1072702"/>
          </a:xfrm>
        </p:grpSpPr>
        <p:sp>
          <p:nvSpPr>
            <p:cNvPr id="13" name="Freeform 13"/>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Freeform 14"/>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sp>
        <p:nvSpPr>
          <p:cNvPr id="15" name="Freeform 15"/>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6" name="Freeform 16"/>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7" name="Freeform 17"/>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8" name="Freeform 18"/>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9" name="Freeform 19"/>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20" name="Group 20"/>
          <p:cNvGrpSpPr/>
          <p:nvPr/>
        </p:nvGrpSpPr>
        <p:grpSpPr>
          <a:xfrm>
            <a:off x="1423082" y="1322182"/>
            <a:ext cx="3857003" cy="3937119"/>
            <a:chOff x="0" y="-66675"/>
            <a:chExt cx="5142670" cy="5249492"/>
          </a:xfrm>
        </p:grpSpPr>
        <p:sp>
          <p:nvSpPr>
            <p:cNvPr id="21" name="TextBox 21"/>
            <p:cNvSpPr txBox="1"/>
            <p:nvPr/>
          </p:nvSpPr>
          <p:spPr>
            <a:xfrm>
              <a:off x="0" y="964301"/>
              <a:ext cx="5142670" cy="4218516"/>
            </a:xfrm>
            <a:prstGeom prst="rect">
              <a:avLst/>
            </a:prstGeom>
          </p:spPr>
          <p:txBody>
            <a:bodyPr lIns="0" tIns="0" rIns="0" bIns="0" rtlCol="0" anchor="t">
              <a:spAutoFit/>
            </a:bodyPr>
            <a:lstStyle/>
            <a:p>
              <a:pPr>
                <a:lnSpc>
                  <a:spcPts val="2800"/>
                </a:lnSpc>
              </a:pPr>
              <a:r>
                <a:rPr lang="en-US" sz="2000" dirty="0">
                  <a:solidFill>
                    <a:srgbClr val="FFFFFF"/>
                  </a:solidFill>
                  <a:latin typeface="Public Sans"/>
                </a:rPr>
                <a:t>Unary code, or the unary numeral system, has a very long history and has been used by various ancient civilizations. Examples include the use of stone markings, tally marks, or cuneiform symbols to count and represent numbers.</a:t>
              </a:r>
            </a:p>
            <a:p>
              <a:pPr>
                <a:lnSpc>
                  <a:spcPts val="2800"/>
                </a:lnSpc>
              </a:pPr>
              <a:endParaRPr lang="en-US" sz="2000" dirty="0">
                <a:solidFill>
                  <a:srgbClr val="FFFFFF"/>
                </a:solidFill>
                <a:latin typeface="Public Sans"/>
              </a:endParaRPr>
            </a:p>
          </p:txBody>
        </p:sp>
        <p:sp>
          <p:nvSpPr>
            <p:cNvPr id="22" name="TextBox 22"/>
            <p:cNvSpPr txBox="1"/>
            <p:nvPr/>
          </p:nvSpPr>
          <p:spPr>
            <a:xfrm>
              <a:off x="0" y="-66675"/>
              <a:ext cx="4958386" cy="714375"/>
            </a:xfrm>
            <a:prstGeom prst="rect">
              <a:avLst/>
            </a:prstGeom>
          </p:spPr>
          <p:txBody>
            <a:bodyPr lIns="0" tIns="0" rIns="0" bIns="0" rtlCol="0" anchor="t">
              <a:spAutoFit/>
            </a:bodyPr>
            <a:lstStyle/>
            <a:p>
              <a:pPr marL="0" lvl="0" indent="0" algn="ctr">
                <a:lnSpc>
                  <a:spcPts val="3840"/>
                </a:lnSpc>
              </a:pPr>
              <a:r>
                <a:rPr lang="en-US" sz="3200">
                  <a:solidFill>
                    <a:srgbClr val="FFFFFF"/>
                  </a:solidFill>
                  <a:latin typeface="Retropix"/>
                </a:rPr>
                <a:t>Long History</a:t>
              </a:r>
            </a:p>
          </p:txBody>
        </p:sp>
      </p:grpSp>
      <p:grpSp>
        <p:nvGrpSpPr>
          <p:cNvPr id="23" name="Group 23"/>
          <p:cNvGrpSpPr/>
          <p:nvPr/>
        </p:nvGrpSpPr>
        <p:grpSpPr>
          <a:xfrm>
            <a:off x="6624949" y="1372188"/>
            <a:ext cx="3857003" cy="4239539"/>
            <a:chOff x="0" y="0"/>
            <a:chExt cx="5142670" cy="5652719"/>
          </a:xfrm>
        </p:grpSpPr>
        <p:sp>
          <p:nvSpPr>
            <p:cNvPr id="24" name="TextBox 24"/>
            <p:cNvSpPr txBox="1"/>
            <p:nvPr/>
          </p:nvSpPr>
          <p:spPr>
            <a:xfrm>
              <a:off x="0" y="964302"/>
              <a:ext cx="5142670" cy="4688416"/>
            </a:xfrm>
            <a:prstGeom prst="rect">
              <a:avLst/>
            </a:prstGeom>
          </p:spPr>
          <p:txBody>
            <a:bodyPr lIns="0" tIns="0" rIns="0" bIns="0" rtlCol="0" anchor="t">
              <a:spAutoFit/>
            </a:bodyPr>
            <a:lstStyle/>
            <a:p>
              <a:pPr>
                <a:lnSpc>
                  <a:spcPts val="2800"/>
                </a:lnSpc>
              </a:pPr>
              <a:r>
                <a:rPr lang="en-US" sz="2000" dirty="0">
                  <a:solidFill>
                    <a:srgbClr val="FFFFFF"/>
                  </a:solidFill>
                  <a:latin typeface="Public Sans"/>
                </a:rPr>
                <a:t>While unary code is not used in practical applications to represent numbers in everyday life or modern computing, its basic form is still used in some cases. For example, in some programming languages or very basic computing systems, unary code may be used for simple testing or counting functions.</a:t>
              </a:r>
            </a:p>
          </p:txBody>
        </p:sp>
        <p:sp>
          <p:nvSpPr>
            <p:cNvPr id="25" name="TextBox 25"/>
            <p:cNvSpPr txBox="1"/>
            <p:nvPr/>
          </p:nvSpPr>
          <p:spPr>
            <a:xfrm>
              <a:off x="0" y="-66675"/>
              <a:ext cx="4958386" cy="714375"/>
            </a:xfrm>
            <a:prstGeom prst="rect">
              <a:avLst/>
            </a:prstGeom>
          </p:spPr>
          <p:txBody>
            <a:bodyPr lIns="0" tIns="0" rIns="0" bIns="0" rtlCol="0" anchor="t">
              <a:spAutoFit/>
            </a:bodyPr>
            <a:lstStyle/>
            <a:p>
              <a:pPr marL="0" lvl="0" indent="0" algn="ctr">
                <a:lnSpc>
                  <a:spcPts val="3840"/>
                </a:lnSpc>
              </a:pPr>
              <a:r>
                <a:rPr lang="en-US" sz="3200">
                  <a:solidFill>
                    <a:srgbClr val="FFFFFF"/>
                  </a:solidFill>
                  <a:latin typeface="Retropix"/>
                </a:rPr>
                <a:t>Contemporary Use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9360400" y="838621"/>
            <a:ext cx="6862132" cy="6862132"/>
            <a:chOff x="0" y="0"/>
            <a:chExt cx="9149510" cy="9149510"/>
          </a:xfrm>
        </p:grpSpPr>
        <p:sp>
          <p:nvSpPr>
            <p:cNvPr id="3" name="Freeform 3"/>
            <p:cNvSpPr/>
            <p:nvPr/>
          </p:nvSpPr>
          <p:spPr>
            <a:xfrm>
              <a:off x="0" y="0"/>
              <a:ext cx="9149510" cy="9149510"/>
            </a:xfrm>
            <a:custGeom>
              <a:avLst/>
              <a:gdLst/>
              <a:ahLst/>
              <a:cxnLst/>
              <a:rect l="l" t="t" r="r" b="b"/>
              <a:pathLst>
                <a:path w="9149510" h="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8341154" y="287255"/>
              <a:ext cx="444643" cy="430091"/>
            </a:xfrm>
            <a:custGeom>
              <a:avLst/>
              <a:gdLst/>
              <a:ahLst/>
              <a:cxnLst/>
              <a:rect l="l" t="t" r="r" b="b"/>
              <a:pathLst>
                <a:path w="444643" h="430091">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5" name="Group 5"/>
          <p:cNvGrpSpPr/>
          <p:nvPr/>
        </p:nvGrpSpPr>
        <p:grpSpPr>
          <a:xfrm>
            <a:off x="9512800" y="991021"/>
            <a:ext cx="6862132" cy="6862132"/>
            <a:chOff x="0" y="0"/>
            <a:chExt cx="9149510" cy="9149510"/>
          </a:xfrm>
        </p:grpSpPr>
        <p:sp>
          <p:nvSpPr>
            <p:cNvPr id="6" name="Freeform 6"/>
            <p:cNvSpPr/>
            <p:nvPr/>
          </p:nvSpPr>
          <p:spPr>
            <a:xfrm>
              <a:off x="0" y="0"/>
              <a:ext cx="9149510" cy="9149510"/>
            </a:xfrm>
            <a:custGeom>
              <a:avLst/>
              <a:gdLst/>
              <a:ahLst/>
              <a:cxnLst/>
              <a:rect l="l" t="t" r="r" b="b"/>
              <a:pathLst>
                <a:path w="9149510" h="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8341154" y="287255"/>
              <a:ext cx="444643" cy="430091"/>
            </a:xfrm>
            <a:custGeom>
              <a:avLst/>
              <a:gdLst/>
              <a:ahLst/>
              <a:cxnLst/>
              <a:rect l="l" t="t" r="r" b="b"/>
              <a:pathLst>
                <a:path w="444643" h="430091">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8" name="Group 8"/>
          <p:cNvGrpSpPr/>
          <p:nvPr/>
        </p:nvGrpSpPr>
        <p:grpSpPr>
          <a:xfrm>
            <a:off x="9665200" y="1143421"/>
            <a:ext cx="6862132" cy="6862132"/>
            <a:chOff x="0" y="0"/>
            <a:chExt cx="9149510" cy="9149510"/>
          </a:xfrm>
        </p:grpSpPr>
        <p:sp>
          <p:nvSpPr>
            <p:cNvPr id="9" name="Freeform 9"/>
            <p:cNvSpPr/>
            <p:nvPr/>
          </p:nvSpPr>
          <p:spPr>
            <a:xfrm>
              <a:off x="0" y="0"/>
              <a:ext cx="9149510" cy="9149510"/>
            </a:xfrm>
            <a:custGeom>
              <a:avLst/>
              <a:gdLst/>
              <a:ahLst/>
              <a:cxnLst/>
              <a:rect l="l" t="t" r="r" b="b"/>
              <a:pathLst>
                <a:path w="9149510" h="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8341154" y="287255"/>
              <a:ext cx="444643" cy="430091"/>
            </a:xfrm>
            <a:custGeom>
              <a:avLst/>
              <a:gdLst/>
              <a:ahLst/>
              <a:cxnLst/>
              <a:rect l="l" t="t" r="r" b="b"/>
              <a:pathLst>
                <a:path w="444643" h="430091">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11" name="Group 11"/>
          <p:cNvGrpSpPr/>
          <p:nvPr/>
        </p:nvGrpSpPr>
        <p:grpSpPr>
          <a:xfrm>
            <a:off x="9817600" y="1295821"/>
            <a:ext cx="6862132" cy="6862132"/>
            <a:chOff x="0" y="0"/>
            <a:chExt cx="9149510" cy="9149510"/>
          </a:xfrm>
        </p:grpSpPr>
        <p:sp>
          <p:nvSpPr>
            <p:cNvPr id="12" name="Freeform 12"/>
            <p:cNvSpPr/>
            <p:nvPr/>
          </p:nvSpPr>
          <p:spPr>
            <a:xfrm>
              <a:off x="0" y="0"/>
              <a:ext cx="9149510" cy="9149510"/>
            </a:xfrm>
            <a:custGeom>
              <a:avLst/>
              <a:gdLst/>
              <a:ahLst/>
              <a:cxnLst/>
              <a:rect l="l" t="t" r="r" b="b"/>
              <a:pathLst>
                <a:path w="9149510" h="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8341154" y="287255"/>
              <a:ext cx="444643" cy="430091"/>
            </a:xfrm>
            <a:custGeom>
              <a:avLst/>
              <a:gdLst/>
              <a:ahLst/>
              <a:cxnLst/>
              <a:rect l="l" t="t" r="r" b="b"/>
              <a:pathLst>
                <a:path w="444643" h="430091">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4" name="TextBox 14"/>
          <p:cNvSpPr txBox="1"/>
          <p:nvPr/>
        </p:nvSpPr>
        <p:spPr>
          <a:xfrm>
            <a:off x="1233089" y="1457325"/>
            <a:ext cx="6326630" cy="1073150"/>
          </a:xfrm>
          <a:prstGeom prst="rect">
            <a:avLst/>
          </a:prstGeom>
        </p:spPr>
        <p:txBody>
          <a:bodyPr lIns="0" tIns="0" rIns="0" bIns="0" rtlCol="0" anchor="t">
            <a:spAutoFit/>
          </a:bodyPr>
          <a:lstStyle/>
          <a:p>
            <a:pPr>
              <a:lnSpc>
                <a:spcPts val="6999"/>
              </a:lnSpc>
            </a:pPr>
            <a:r>
              <a:rPr lang="en-US" sz="6999">
                <a:solidFill>
                  <a:srgbClr val="FFFFFF"/>
                </a:solidFill>
                <a:latin typeface="Retropix"/>
              </a:rPr>
              <a:t>Applications</a:t>
            </a:r>
          </a:p>
        </p:txBody>
      </p:sp>
      <p:grpSp>
        <p:nvGrpSpPr>
          <p:cNvPr id="15" name="Group 15"/>
          <p:cNvGrpSpPr/>
          <p:nvPr/>
        </p:nvGrpSpPr>
        <p:grpSpPr>
          <a:xfrm>
            <a:off x="0" y="9052698"/>
            <a:ext cx="18288000" cy="1234302"/>
            <a:chOff x="0" y="0"/>
            <a:chExt cx="4816593" cy="325084"/>
          </a:xfrm>
        </p:grpSpPr>
        <p:sp>
          <p:nvSpPr>
            <p:cNvPr id="16" name="Freeform 16"/>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17" name="TextBox 17"/>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18" name="Group 18"/>
          <p:cNvGrpSpPr/>
          <p:nvPr/>
        </p:nvGrpSpPr>
        <p:grpSpPr>
          <a:xfrm>
            <a:off x="237414" y="9267586"/>
            <a:ext cx="804526" cy="804526"/>
            <a:chOff x="0" y="0"/>
            <a:chExt cx="1072702" cy="1072702"/>
          </a:xfrm>
        </p:grpSpPr>
        <p:sp>
          <p:nvSpPr>
            <p:cNvPr id="19" name="Freeform 19"/>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Freeform 20"/>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21" name="Freeform 21"/>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2" name="Freeform 22"/>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3" name="Freeform 23"/>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4" name="Freeform 24"/>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5" name="Freeform 25"/>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6" name="Freeform 26"/>
          <p:cNvSpPr/>
          <p:nvPr/>
        </p:nvSpPr>
        <p:spPr>
          <a:xfrm>
            <a:off x="6919990" y="3149369"/>
            <a:ext cx="484735" cy="825401"/>
          </a:xfrm>
          <a:custGeom>
            <a:avLst/>
            <a:gdLst/>
            <a:ahLst/>
            <a:cxnLst/>
            <a:rect l="l" t="t" r="r" b="b"/>
            <a:pathLst>
              <a:path w="484735" h="825401">
                <a:moveTo>
                  <a:pt x="0" y="0"/>
                </a:moveTo>
                <a:lnTo>
                  <a:pt x="484735" y="0"/>
                </a:lnTo>
                <a:lnTo>
                  <a:pt x="484735" y="825401"/>
                </a:lnTo>
                <a:lnTo>
                  <a:pt x="0" y="825401"/>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7" name="TextBox 27"/>
          <p:cNvSpPr txBox="1"/>
          <p:nvPr/>
        </p:nvSpPr>
        <p:spPr>
          <a:xfrm>
            <a:off x="10700462" y="4230688"/>
            <a:ext cx="5096408" cy="2473325"/>
          </a:xfrm>
          <a:prstGeom prst="rect">
            <a:avLst/>
          </a:prstGeom>
        </p:spPr>
        <p:txBody>
          <a:bodyPr lIns="0" tIns="0" rIns="0" bIns="0" rtlCol="0" anchor="t">
            <a:spAutoFit/>
          </a:bodyPr>
          <a:lstStyle/>
          <a:p>
            <a:pPr algn="ctr">
              <a:lnSpc>
                <a:spcPts val="2800"/>
              </a:lnSpc>
            </a:pPr>
            <a:r>
              <a:rPr lang="en-US" sz="2000" dirty="0">
                <a:solidFill>
                  <a:srgbClr val="000000"/>
                </a:solidFill>
                <a:latin typeface="Public Sans"/>
              </a:rPr>
              <a:t>Unary code is a very basic and inefficient encoding method for representing numbers. While it is not typically used in practical applications due to its lack of efficiency, it does have some theoretical and educational uses.</a:t>
            </a:r>
          </a:p>
          <a:p>
            <a:pPr algn="ctr">
              <a:lnSpc>
                <a:spcPts val="2800"/>
              </a:lnSpc>
            </a:pPr>
            <a:endParaRPr lang="en-US" sz="2000" dirty="0">
              <a:solidFill>
                <a:srgbClr val="000000"/>
              </a:solidFill>
              <a:latin typeface="Public Sans"/>
            </a:endParaRPr>
          </a:p>
        </p:txBody>
      </p:sp>
      <p:sp>
        <p:nvSpPr>
          <p:cNvPr id="28" name="Freeform 28"/>
          <p:cNvSpPr/>
          <p:nvPr/>
        </p:nvSpPr>
        <p:spPr>
          <a:xfrm>
            <a:off x="12875652" y="3199906"/>
            <a:ext cx="746029" cy="724326"/>
          </a:xfrm>
          <a:custGeom>
            <a:avLst/>
            <a:gdLst/>
            <a:ahLst/>
            <a:cxnLst/>
            <a:rect l="l" t="t" r="r" b="b"/>
            <a:pathLst>
              <a:path w="746029" h="724326">
                <a:moveTo>
                  <a:pt x="0" y="0"/>
                </a:moveTo>
                <a:lnTo>
                  <a:pt x="746028" y="0"/>
                </a:lnTo>
                <a:lnTo>
                  <a:pt x="746028" y="724326"/>
                </a:lnTo>
                <a:lnTo>
                  <a:pt x="0" y="72432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16285215" y="1187704"/>
            <a:ext cx="974085" cy="745618"/>
          </a:xfrm>
          <a:custGeom>
            <a:avLst/>
            <a:gdLst/>
            <a:ahLst/>
            <a:cxnLst/>
            <a:rect l="l" t="t" r="r" b="b"/>
            <a:pathLst>
              <a:path w="974085" h="745618">
                <a:moveTo>
                  <a:pt x="0" y="0"/>
                </a:moveTo>
                <a:lnTo>
                  <a:pt x="974085" y="0"/>
                </a:lnTo>
                <a:lnTo>
                  <a:pt x="974085" y="745617"/>
                </a:lnTo>
                <a:lnTo>
                  <a:pt x="0" y="745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37414" y="9267586"/>
            <a:ext cx="804526" cy="804526"/>
            <a:chOff x="0" y="0"/>
            <a:chExt cx="1072702" cy="1072702"/>
          </a:xfrm>
        </p:grpSpPr>
        <p:sp>
          <p:nvSpPr>
            <p:cNvPr id="4" name="Freeform 4"/>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6" name="Freeform 6"/>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nvGrpSpPr>
          <p:cNvPr id="11" name="Group 11"/>
          <p:cNvGrpSpPr/>
          <p:nvPr/>
        </p:nvGrpSpPr>
        <p:grpSpPr>
          <a:xfrm>
            <a:off x="2199499" y="2957056"/>
            <a:ext cx="3857003" cy="4372889"/>
            <a:chOff x="0" y="0"/>
            <a:chExt cx="5142670" cy="5830519"/>
          </a:xfrm>
        </p:grpSpPr>
        <p:sp>
          <p:nvSpPr>
            <p:cNvPr id="12" name="TextBox 12"/>
            <p:cNvSpPr txBox="1"/>
            <p:nvPr/>
          </p:nvSpPr>
          <p:spPr>
            <a:xfrm>
              <a:off x="0" y="1612002"/>
              <a:ext cx="5142670" cy="4218516"/>
            </a:xfrm>
            <a:prstGeom prst="rect">
              <a:avLst/>
            </a:prstGeom>
          </p:spPr>
          <p:txBody>
            <a:bodyPr lIns="0" tIns="0" rIns="0" bIns="0" rtlCol="0" anchor="t">
              <a:spAutoFit/>
            </a:bodyPr>
            <a:lstStyle/>
            <a:p>
              <a:pPr>
                <a:lnSpc>
                  <a:spcPts val="2800"/>
                </a:lnSpc>
              </a:pPr>
              <a:r>
                <a:rPr lang="en-US" sz="2000" dirty="0">
                  <a:solidFill>
                    <a:srgbClr val="FFFFFF"/>
                  </a:solidFill>
                  <a:latin typeface="Public Sans"/>
                </a:rPr>
                <a:t>Unary code is often used in theoretical computer science and information theory to illustrate concepts related to encoding, decoding, and counting. It serves as a simple example to explain the fundamental principles of numeral systems.</a:t>
              </a:r>
            </a:p>
          </p:txBody>
        </p:sp>
        <p:sp>
          <p:nvSpPr>
            <p:cNvPr id="13" name="TextBox 13"/>
            <p:cNvSpPr txBox="1"/>
            <p:nvPr/>
          </p:nvSpPr>
          <p:spPr>
            <a:xfrm>
              <a:off x="0" y="-66675"/>
              <a:ext cx="4958386" cy="1362075"/>
            </a:xfrm>
            <a:prstGeom prst="rect">
              <a:avLst/>
            </a:prstGeom>
          </p:spPr>
          <p:txBody>
            <a:bodyPr lIns="0" tIns="0" rIns="0" bIns="0" rtlCol="0" anchor="t">
              <a:spAutoFit/>
            </a:bodyPr>
            <a:lstStyle/>
            <a:p>
              <a:pPr marL="0" lvl="0" indent="0" algn="ctr">
                <a:lnSpc>
                  <a:spcPts val="3840"/>
                </a:lnSpc>
              </a:pPr>
              <a:r>
                <a:rPr lang="en-US" sz="3200">
                  <a:solidFill>
                    <a:srgbClr val="FFFFFF"/>
                  </a:solidFill>
                  <a:latin typeface="Retropix"/>
                </a:rPr>
                <a:t>Theoretical Understanding</a:t>
              </a:r>
            </a:p>
          </p:txBody>
        </p:sp>
      </p:grpSp>
      <p:grpSp>
        <p:nvGrpSpPr>
          <p:cNvPr id="14" name="Group 14"/>
          <p:cNvGrpSpPr/>
          <p:nvPr/>
        </p:nvGrpSpPr>
        <p:grpSpPr>
          <a:xfrm>
            <a:off x="7401365" y="2957056"/>
            <a:ext cx="3857003" cy="3668039"/>
            <a:chOff x="0" y="0"/>
            <a:chExt cx="5142670" cy="4890719"/>
          </a:xfrm>
        </p:grpSpPr>
        <p:sp>
          <p:nvSpPr>
            <p:cNvPr id="15" name="TextBox 15"/>
            <p:cNvSpPr txBox="1"/>
            <p:nvPr/>
          </p:nvSpPr>
          <p:spPr>
            <a:xfrm>
              <a:off x="0" y="1612002"/>
              <a:ext cx="5142670" cy="3278716"/>
            </a:xfrm>
            <a:prstGeom prst="rect">
              <a:avLst/>
            </a:prstGeom>
          </p:spPr>
          <p:txBody>
            <a:bodyPr lIns="0" tIns="0" rIns="0" bIns="0" rtlCol="0" anchor="t">
              <a:spAutoFit/>
            </a:bodyPr>
            <a:lstStyle/>
            <a:p>
              <a:pPr>
                <a:lnSpc>
                  <a:spcPts val="2800"/>
                </a:lnSpc>
              </a:pPr>
              <a:r>
                <a:rPr lang="en-US" sz="2000" dirty="0">
                  <a:solidFill>
                    <a:srgbClr val="FFFFFF"/>
                  </a:solidFill>
                  <a:latin typeface="Public Sans"/>
                </a:rPr>
                <a:t>Unary code can be used in teaching algorithms and data structures, especially when explaining concepts like counting, iteration, and loops. It is useful to illustrate basic algorithms and processes.</a:t>
              </a:r>
            </a:p>
          </p:txBody>
        </p:sp>
        <p:sp>
          <p:nvSpPr>
            <p:cNvPr id="16" name="TextBox 16"/>
            <p:cNvSpPr txBox="1"/>
            <p:nvPr/>
          </p:nvSpPr>
          <p:spPr>
            <a:xfrm>
              <a:off x="0" y="-66675"/>
              <a:ext cx="4958386" cy="1362075"/>
            </a:xfrm>
            <a:prstGeom prst="rect">
              <a:avLst/>
            </a:prstGeom>
          </p:spPr>
          <p:txBody>
            <a:bodyPr lIns="0" tIns="0" rIns="0" bIns="0" rtlCol="0" anchor="t">
              <a:spAutoFit/>
            </a:bodyPr>
            <a:lstStyle/>
            <a:p>
              <a:pPr marL="0" lvl="0" indent="0" algn="ctr">
                <a:lnSpc>
                  <a:spcPts val="3840"/>
                </a:lnSpc>
              </a:pPr>
              <a:r>
                <a:rPr lang="en-US" sz="3200" dirty="0">
                  <a:solidFill>
                    <a:srgbClr val="FFFFFF"/>
                  </a:solidFill>
                  <a:latin typeface="Retropix"/>
                </a:rPr>
                <a:t>Counting and Algorithms</a:t>
              </a:r>
            </a:p>
          </p:txBody>
        </p:sp>
      </p:grpSp>
      <p:grpSp>
        <p:nvGrpSpPr>
          <p:cNvPr id="17" name="Group 17"/>
          <p:cNvGrpSpPr/>
          <p:nvPr/>
        </p:nvGrpSpPr>
        <p:grpSpPr>
          <a:xfrm>
            <a:off x="12231498" y="3376156"/>
            <a:ext cx="3857003" cy="2829839"/>
            <a:chOff x="0" y="0"/>
            <a:chExt cx="5142670" cy="3773119"/>
          </a:xfrm>
        </p:grpSpPr>
        <p:sp>
          <p:nvSpPr>
            <p:cNvPr id="18" name="TextBox 18"/>
            <p:cNvSpPr txBox="1"/>
            <p:nvPr/>
          </p:nvSpPr>
          <p:spPr>
            <a:xfrm>
              <a:off x="0" y="964302"/>
              <a:ext cx="5142670" cy="2808816"/>
            </a:xfrm>
            <a:prstGeom prst="rect">
              <a:avLst/>
            </a:prstGeom>
          </p:spPr>
          <p:txBody>
            <a:bodyPr lIns="0" tIns="0" rIns="0" bIns="0" rtlCol="0" anchor="t">
              <a:spAutoFit/>
            </a:bodyPr>
            <a:lstStyle/>
            <a:p>
              <a:pPr>
                <a:lnSpc>
                  <a:spcPts val="2800"/>
                </a:lnSpc>
              </a:pPr>
              <a:r>
                <a:rPr lang="en-US" sz="2000" dirty="0">
                  <a:solidFill>
                    <a:srgbClr val="FFFFFF"/>
                  </a:solidFill>
                  <a:latin typeface="Public Sans"/>
                </a:rPr>
                <a:t>In some error detection and correction algorithms, unary code can be used as a basis for comparison to demonstrate the inefficiency of certain encoding methods.</a:t>
              </a:r>
            </a:p>
          </p:txBody>
        </p:sp>
        <p:sp>
          <p:nvSpPr>
            <p:cNvPr id="19" name="TextBox 19"/>
            <p:cNvSpPr txBox="1"/>
            <p:nvPr/>
          </p:nvSpPr>
          <p:spPr>
            <a:xfrm>
              <a:off x="0" y="-66675"/>
              <a:ext cx="4958386" cy="714375"/>
            </a:xfrm>
            <a:prstGeom prst="rect">
              <a:avLst/>
            </a:prstGeom>
          </p:spPr>
          <p:txBody>
            <a:bodyPr lIns="0" tIns="0" rIns="0" bIns="0" rtlCol="0" anchor="t">
              <a:spAutoFit/>
            </a:bodyPr>
            <a:lstStyle/>
            <a:p>
              <a:pPr marL="0" lvl="0" indent="0" algn="ctr">
                <a:lnSpc>
                  <a:spcPts val="3840"/>
                </a:lnSpc>
              </a:pPr>
              <a:r>
                <a:rPr lang="en-US" sz="3200" dirty="0">
                  <a:solidFill>
                    <a:srgbClr val="FFFFFF"/>
                  </a:solidFill>
                  <a:latin typeface="Retropix"/>
                </a:rPr>
                <a:t>Error Detection</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6683443" y="192783"/>
            <a:ext cx="5700321" cy="5700321"/>
            <a:chOff x="0" y="0"/>
            <a:chExt cx="7600428" cy="7600428"/>
          </a:xfrm>
        </p:grpSpPr>
        <p:sp>
          <p:nvSpPr>
            <p:cNvPr id="3" name="Freeform 3"/>
            <p:cNvSpPr/>
            <p:nvPr/>
          </p:nvSpPr>
          <p:spPr>
            <a:xfrm>
              <a:off x="0" y="0"/>
              <a:ext cx="7600428" cy="7600428"/>
            </a:xfrm>
            <a:custGeom>
              <a:avLst/>
              <a:gdLst/>
              <a:ahLst/>
              <a:cxnLst/>
              <a:rect l="l" t="t" r="r" b="b"/>
              <a:pathLst>
                <a:path w="7600428" h="7600428">
                  <a:moveTo>
                    <a:pt x="0" y="0"/>
                  </a:moveTo>
                  <a:lnTo>
                    <a:pt x="7600428" y="0"/>
                  </a:lnTo>
                  <a:lnTo>
                    <a:pt x="7600428" y="7600428"/>
                  </a:lnTo>
                  <a:lnTo>
                    <a:pt x="0" y="7600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928933" y="238621"/>
              <a:ext cx="369362" cy="357274"/>
            </a:xfrm>
            <a:custGeom>
              <a:avLst/>
              <a:gdLst/>
              <a:ahLst/>
              <a:cxnLst/>
              <a:rect l="l" t="t" r="r" b="b"/>
              <a:pathLst>
                <a:path w="369362" h="357274">
                  <a:moveTo>
                    <a:pt x="0" y="0"/>
                  </a:moveTo>
                  <a:lnTo>
                    <a:pt x="369362" y="0"/>
                  </a:lnTo>
                  <a:lnTo>
                    <a:pt x="369362" y="357273"/>
                  </a:lnTo>
                  <a:lnTo>
                    <a:pt x="0" y="35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402609" y="1499705"/>
              <a:ext cx="6795210" cy="5628216"/>
            </a:xfrm>
            <a:prstGeom prst="rect">
              <a:avLst/>
            </a:prstGeom>
          </p:spPr>
          <p:txBody>
            <a:bodyPr lIns="0" tIns="0" rIns="0" bIns="0" rtlCol="0" anchor="t">
              <a:spAutoFit/>
            </a:bodyPr>
            <a:lstStyle/>
            <a:p>
              <a:pPr>
                <a:lnSpc>
                  <a:spcPts val="2800"/>
                </a:lnSpc>
              </a:pPr>
              <a:r>
                <a:rPr lang="en-US" sz="2000" dirty="0">
                  <a:solidFill>
                    <a:srgbClr val="000000"/>
                  </a:solidFill>
                  <a:latin typeface="Public Sans"/>
                </a:rPr>
                <a:t>Unary code is not a suitable method for data compression; instead, it often results in data expansion. The fundamental idea behind unary code is to represent numbers using a sequence of symbols, typically '1' and '0' for positive integers. Unary code uses a fixed-length representation for each number, where the number itself determines the length of the representation.</a:t>
              </a:r>
            </a:p>
            <a:p>
              <a:pPr>
                <a:lnSpc>
                  <a:spcPts val="2800"/>
                </a:lnSpc>
              </a:pPr>
              <a:endParaRPr lang="en-US" sz="2000" dirty="0">
                <a:solidFill>
                  <a:srgbClr val="000000"/>
                </a:solidFill>
                <a:latin typeface="Public Sans"/>
              </a:endParaRPr>
            </a:p>
            <a:p>
              <a:pPr>
                <a:lnSpc>
                  <a:spcPts val="2800"/>
                </a:lnSpc>
              </a:pPr>
              <a:endParaRPr lang="en-US" sz="2000" dirty="0">
                <a:solidFill>
                  <a:srgbClr val="000000"/>
                </a:solidFill>
                <a:latin typeface="Public Sans"/>
              </a:endParaRPr>
            </a:p>
          </p:txBody>
        </p:sp>
      </p:grpSp>
      <p:sp>
        <p:nvSpPr>
          <p:cNvPr id="6" name="TextBox 6"/>
          <p:cNvSpPr txBox="1"/>
          <p:nvPr/>
        </p:nvSpPr>
        <p:spPr>
          <a:xfrm>
            <a:off x="593359" y="3775673"/>
            <a:ext cx="6326630" cy="2844800"/>
          </a:xfrm>
          <a:prstGeom prst="rect">
            <a:avLst/>
          </a:prstGeom>
        </p:spPr>
        <p:txBody>
          <a:bodyPr lIns="0" tIns="0" rIns="0" bIns="0" rtlCol="0" anchor="t">
            <a:spAutoFit/>
          </a:bodyPr>
          <a:lstStyle/>
          <a:p>
            <a:pPr>
              <a:lnSpc>
                <a:spcPts val="6999"/>
              </a:lnSpc>
            </a:pPr>
            <a:r>
              <a:rPr lang="en-US" sz="6999">
                <a:solidFill>
                  <a:srgbClr val="FFFFFF"/>
                </a:solidFill>
                <a:latin typeface="Retropix"/>
              </a:rPr>
              <a:t>Unary Code is not a Data Compression</a:t>
            </a:r>
          </a:p>
        </p:txBody>
      </p:sp>
      <p:grpSp>
        <p:nvGrpSpPr>
          <p:cNvPr id="7" name="Group 7"/>
          <p:cNvGrpSpPr/>
          <p:nvPr/>
        </p:nvGrpSpPr>
        <p:grpSpPr>
          <a:xfrm>
            <a:off x="0" y="9052698"/>
            <a:ext cx="18288000" cy="1234302"/>
            <a:chOff x="0" y="0"/>
            <a:chExt cx="4816593" cy="325084"/>
          </a:xfrm>
        </p:grpSpPr>
        <p:sp>
          <p:nvSpPr>
            <p:cNvPr id="8" name="Freeform 8"/>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9" name="TextBox 9"/>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10" name="Group 10"/>
          <p:cNvGrpSpPr/>
          <p:nvPr/>
        </p:nvGrpSpPr>
        <p:grpSpPr>
          <a:xfrm>
            <a:off x="237414" y="9267586"/>
            <a:ext cx="804526" cy="804526"/>
            <a:chOff x="0" y="0"/>
            <a:chExt cx="1072702" cy="1072702"/>
          </a:xfrm>
        </p:grpSpPr>
        <p:sp>
          <p:nvSpPr>
            <p:cNvPr id="11" name="Freeform 11"/>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13" name="Freeform 13"/>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5" name="Freeform 15"/>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6" name="Freeform 16"/>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7" name="Freeform 17"/>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8" name="Freeform 18"/>
          <p:cNvSpPr/>
          <p:nvPr/>
        </p:nvSpPr>
        <p:spPr>
          <a:xfrm>
            <a:off x="6198708" y="5893104"/>
            <a:ext cx="484735" cy="825401"/>
          </a:xfrm>
          <a:custGeom>
            <a:avLst/>
            <a:gdLst/>
            <a:ahLst/>
            <a:cxnLst/>
            <a:rect l="l" t="t" r="r" b="b"/>
            <a:pathLst>
              <a:path w="484735" h="825401">
                <a:moveTo>
                  <a:pt x="0" y="0"/>
                </a:moveTo>
                <a:lnTo>
                  <a:pt x="484735" y="0"/>
                </a:lnTo>
                <a:lnTo>
                  <a:pt x="484735" y="825400"/>
                </a:lnTo>
                <a:lnTo>
                  <a:pt x="0" y="8254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19" name="Group 19"/>
          <p:cNvGrpSpPr/>
          <p:nvPr/>
        </p:nvGrpSpPr>
        <p:grpSpPr>
          <a:xfrm>
            <a:off x="11876534" y="3241538"/>
            <a:ext cx="5700321" cy="5700321"/>
            <a:chOff x="0" y="0"/>
            <a:chExt cx="7600428" cy="7600428"/>
          </a:xfrm>
        </p:grpSpPr>
        <p:sp>
          <p:nvSpPr>
            <p:cNvPr id="20" name="Freeform 20"/>
            <p:cNvSpPr/>
            <p:nvPr/>
          </p:nvSpPr>
          <p:spPr>
            <a:xfrm>
              <a:off x="0" y="0"/>
              <a:ext cx="7600428" cy="7600428"/>
            </a:xfrm>
            <a:custGeom>
              <a:avLst/>
              <a:gdLst/>
              <a:ahLst/>
              <a:cxnLst/>
              <a:rect l="l" t="t" r="r" b="b"/>
              <a:pathLst>
                <a:path w="7600428" h="7600428">
                  <a:moveTo>
                    <a:pt x="0" y="0"/>
                  </a:moveTo>
                  <a:lnTo>
                    <a:pt x="7600428" y="0"/>
                  </a:lnTo>
                  <a:lnTo>
                    <a:pt x="7600428" y="7600428"/>
                  </a:lnTo>
                  <a:lnTo>
                    <a:pt x="0" y="7600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318404" y="1972707"/>
              <a:ext cx="6795210" cy="4218516"/>
            </a:xfrm>
            <a:prstGeom prst="rect">
              <a:avLst/>
            </a:prstGeom>
          </p:spPr>
          <p:txBody>
            <a:bodyPr lIns="0" tIns="0" rIns="0" bIns="0" rtlCol="0" anchor="t">
              <a:spAutoFit/>
            </a:bodyPr>
            <a:lstStyle/>
            <a:p>
              <a:pPr>
                <a:lnSpc>
                  <a:spcPts val="2800"/>
                </a:lnSpc>
              </a:pPr>
              <a:r>
                <a:rPr lang="en-US" sz="2000" dirty="0">
                  <a:solidFill>
                    <a:srgbClr val="000000"/>
                  </a:solidFill>
                  <a:latin typeface="Public Sans"/>
                </a:rPr>
                <a:t>Data compression, on the other hand, aims to represent data in a more efficient manner, typically by reducing the number of bits needed to store or transmit information. Unary code doesn't achieve compression because it adds more bits as the numbers get larger, making the representation longer and less efficient.</a:t>
              </a:r>
            </a:p>
            <a:p>
              <a:pPr>
                <a:lnSpc>
                  <a:spcPts val="2800"/>
                </a:lnSpc>
              </a:pPr>
              <a:endParaRPr lang="en-US" sz="2000" dirty="0">
                <a:solidFill>
                  <a:srgbClr val="000000"/>
                </a:solidFill>
                <a:latin typeface="Public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16736" y="-5817236"/>
            <a:ext cx="21921472" cy="21921472"/>
          </a:xfrm>
          <a:custGeom>
            <a:avLst/>
            <a:gdLst/>
            <a:ahLst/>
            <a:cxnLst/>
            <a:rect l="l" t="t" r="r" b="b"/>
            <a:pathLst>
              <a:path w="21921472" h="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036596" y="1839339"/>
            <a:ext cx="14235927" cy="6629441"/>
            <a:chOff x="0" y="0"/>
            <a:chExt cx="3749380" cy="1746026"/>
          </a:xfrm>
        </p:grpSpPr>
        <p:sp>
          <p:nvSpPr>
            <p:cNvPr id="4" name="Freeform 4"/>
            <p:cNvSpPr/>
            <p:nvPr/>
          </p:nvSpPr>
          <p:spPr>
            <a:xfrm>
              <a:off x="0" y="0"/>
              <a:ext cx="3749380" cy="1746026"/>
            </a:xfrm>
            <a:custGeom>
              <a:avLst/>
              <a:gdLst/>
              <a:ahLst/>
              <a:cxnLst/>
              <a:rect l="l" t="t" r="r" b="b"/>
              <a:pathLst>
                <a:path w="3749380" h="1746026">
                  <a:moveTo>
                    <a:pt x="0" y="0"/>
                  </a:moveTo>
                  <a:lnTo>
                    <a:pt x="3749380" y="0"/>
                  </a:lnTo>
                  <a:lnTo>
                    <a:pt x="3749380" y="1746026"/>
                  </a:lnTo>
                  <a:lnTo>
                    <a:pt x="0" y="1746026"/>
                  </a:lnTo>
                  <a:close/>
                </a:path>
              </a:pathLst>
            </a:custGeom>
            <a:solidFill>
              <a:srgbClr val="FEFF99"/>
            </a:solidFill>
            <a:ln w="95250" cap="sq">
              <a:solidFill>
                <a:srgbClr val="CCCCCC"/>
              </a:solidFill>
              <a:prstDash val="sysDot"/>
              <a:miter/>
            </a:ln>
          </p:spPr>
        </p:sp>
        <p:sp>
          <p:nvSpPr>
            <p:cNvPr id="5" name="TextBox 5"/>
            <p:cNvSpPr txBox="1"/>
            <p:nvPr/>
          </p:nvSpPr>
          <p:spPr>
            <a:xfrm>
              <a:off x="0" y="-38100"/>
              <a:ext cx="3749380" cy="1784126"/>
            </a:xfrm>
            <a:prstGeom prst="rect">
              <a:avLst/>
            </a:prstGeom>
          </p:spPr>
          <p:txBody>
            <a:bodyPr lIns="50800" tIns="50800" rIns="50800" bIns="50800" rtlCol="0" anchor="ctr"/>
            <a:lstStyle/>
            <a:p>
              <a:pPr algn="ctr">
                <a:lnSpc>
                  <a:spcPts val="2100"/>
                </a:lnSpc>
              </a:pPr>
              <a:endParaRPr/>
            </a:p>
          </p:txBody>
        </p:sp>
      </p:grpSp>
      <p:grpSp>
        <p:nvGrpSpPr>
          <p:cNvPr id="6" name="Group 6"/>
          <p:cNvGrpSpPr/>
          <p:nvPr/>
        </p:nvGrpSpPr>
        <p:grpSpPr>
          <a:xfrm>
            <a:off x="-1301375" y="0"/>
            <a:ext cx="20890750" cy="795781"/>
            <a:chOff x="0" y="0"/>
            <a:chExt cx="27854334" cy="1061041"/>
          </a:xfrm>
        </p:grpSpPr>
        <p:grpSp>
          <p:nvGrpSpPr>
            <p:cNvPr id="7" name="Group 7"/>
            <p:cNvGrpSpPr/>
            <p:nvPr/>
          </p:nvGrpSpPr>
          <p:grpSpPr>
            <a:xfrm>
              <a:off x="0" y="0"/>
              <a:ext cx="27854334" cy="1061041"/>
              <a:chOff x="0" y="0"/>
              <a:chExt cx="5502091" cy="209588"/>
            </a:xfrm>
          </p:grpSpPr>
          <p:sp>
            <p:nvSpPr>
              <p:cNvPr id="8" name="Freeform 8"/>
              <p:cNvSpPr/>
              <p:nvPr/>
            </p:nvSpPr>
            <p:spPr>
              <a:xfrm>
                <a:off x="0" y="0"/>
                <a:ext cx="5502091" cy="209588"/>
              </a:xfrm>
              <a:custGeom>
                <a:avLst/>
                <a:gdLst/>
                <a:ahLst/>
                <a:cxnLst/>
                <a:rect l="l" t="t" r="r" b="b"/>
                <a:pathLst>
                  <a:path w="5502091" h="209588">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id="9" name="TextBox 9"/>
              <p:cNvSpPr txBox="1"/>
              <p:nvPr/>
            </p:nvSpPr>
            <p:spPr>
              <a:xfrm>
                <a:off x="0" y="-47625"/>
                <a:ext cx="5502091" cy="257213"/>
              </a:xfrm>
              <a:prstGeom prst="rect">
                <a:avLst/>
              </a:prstGeom>
            </p:spPr>
            <p:txBody>
              <a:bodyPr lIns="254000" tIns="254000" rIns="254000" bIns="254000" rtlCol="0" anchor="ctr"/>
              <a:lstStyle/>
              <a:p>
                <a:pPr>
                  <a:lnSpc>
                    <a:spcPts val="3499"/>
                  </a:lnSpc>
                </a:pPr>
                <a:endParaRPr/>
              </a:p>
            </p:txBody>
          </p:sp>
        </p:grpSp>
        <p:sp>
          <p:nvSpPr>
            <p:cNvPr id="10" name="TextBox 10"/>
            <p:cNvSpPr txBox="1"/>
            <p:nvPr/>
          </p:nvSpPr>
          <p:spPr>
            <a:xfrm>
              <a:off x="439275" y="269112"/>
              <a:ext cx="26975784" cy="513292"/>
            </a:xfrm>
            <a:prstGeom prst="rect">
              <a:avLst/>
            </a:prstGeom>
          </p:spPr>
          <p:txBody>
            <a:bodyPr lIns="0" tIns="0" rIns="0" bIns="0" rtlCol="0" anchor="t">
              <a:spAutoFit/>
            </a:bodyPr>
            <a:lstStyle/>
            <a:p>
              <a:pPr algn="ctr">
                <a:lnSpc>
                  <a:spcPts val="2499"/>
                </a:lnSpc>
              </a:pPr>
              <a:r>
                <a:rPr lang="en-US" sz="2499">
                  <a:solidFill>
                    <a:srgbClr val="FFFFFF"/>
                  </a:solidFill>
                  <a:latin typeface="Retropix"/>
                </a:rPr>
                <a:t>Let's Get Started with Unary Code!</a:t>
              </a:r>
            </a:p>
          </p:txBody>
        </p:sp>
      </p:grpSp>
      <p:grpSp>
        <p:nvGrpSpPr>
          <p:cNvPr id="11" name="Group 11"/>
          <p:cNvGrpSpPr/>
          <p:nvPr/>
        </p:nvGrpSpPr>
        <p:grpSpPr>
          <a:xfrm>
            <a:off x="-1301375" y="9491219"/>
            <a:ext cx="20890750" cy="795781"/>
            <a:chOff x="0" y="0"/>
            <a:chExt cx="5502091" cy="209588"/>
          </a:xfrm>
        </p:grpSpPr>
        <p:sp>
          <p:nvSpPr>
            <p:cNvPr id="12" name="Freeform 12"/>
            <p:cNvSpPr/>
            <p:nvPr/>
          </p:nvSpPr>
          <p:spPr>
            <a:xfrm>
              <a:off x="0" y="0"/>
              <a:ext cx="5502091" cy="209588"/>
            </a:xfrm>
            <a:custGeom>
              <a:avLst/>
              <a:gdLst/>
              <a:ahLst/>
              <a:cxnLst/>
              <a:rect l="l" t="t" r="r" b="b"/>
              <a:pathLst>
                <a:path w="5502091" h="209588">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id="13" name="TextBox 13"/>
            <p:cNvSpPr txBox="1"/>
            <p:nvPr/>
          </p:nvSpPr>
          <p:spPr>
            <a:xfrm>
              <a:off x="0" y="-47625"/>
              <a:ext cx="5502091" cy="257213"/>
            </a:xfrm>
            <a:prstGeom prst="rect">
              <a:avLst/>
            </a:prstGeom>
          </p:spPr>
          <p:txBody>
            <a:bodyPr lIns="254000" tIns="254000" rIns="254000" bIns="254000" rtlCol="0" anchor="ctr"/>
            <a:lstStyle/>
            <a:p>
              <a:pPr>
                <a:lnSpc>
                  <a:spcPts val="3499"/>
                </a:lnSpc>
              </a:pPr>
              <a:endParaRPr/>
            </a:p>
          </p:txBody>
        </p:sp>
      </p:grpSp>
      <p:grpSp>
        <p:nvGrpSpPr>
          <p:cNvPr id="14" name="Group 14"/>
          <p:cNvGrpSpPr/>
          <p:nvPr/>
        </p:nvGrpSpPr>
        <p:grpSpPr>
          <a:xfrm>
            <a:off x="15600318" y="4759728"/>
            <a:ext cx="1658982" cy="4147456"/>
            <a:chOff x="0" y="0"/>
            <a:chExt cx="2211976" cy="5529941"/>
          </a:xfrm>
        </p:grpSpPr>
        <p:sp>
          <p:nvSpPr>
            <p:cNvPr id="15" name="Freeform 15"/>
            <p:cNvSpPr/>
            <p:nvPr/>
          </p:nvSpPr>
          <p:spPr>
            <a:xfrm>
              <a:off x="0"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105988"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Freeform 17"/>
            <p:cNvSpPr/>
            <p:nvPr/>
          </p:nvSpPr>
          <p:spPr>
            <a:xfrm>
              <a:off x="0"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Freeform 18"/>
            <p:cNvSpPr/>
            <p:nvPr/>
          </p:nvSpPr>
          <p:spPr>
            <a:xfrm>
              <a:off x="1105988"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9" name="Freeform 19"/>
            <p:cNvSpPr/>
            <p:nvPr/>
          </p:nvSpPr>
          <p:spPr>
            <a:xfrm>
              <a:off x="0"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0" name="Freeform 20"/>
            <p:cNvSpPr/>
            <p:nvPr/>
          </p:nvSpPr>
          <p:spPr>
            <a:xfrm>
              <a:off x="1105988"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1" name="Freeform 21"/>
            <p:cNvSpPr/>
            <p:nvPr/>
          </p:nvSpPr>
          <p:spPr>
            <a:xfrm>
              <a:off x="0"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2" name="Freeform 22"/>
            <p:cNvSpPr/>
            <p:nvPr/>
          </p:nvSpPr>
          <p:spPr>
            <a:xfrm>
              <a:off x="1105988"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3" name="Freeform 23"/>
            <p:cNvSpPr/>
            <p:nvPr/>
          </p:nvSpPr>
          <p:spPr>
            <a:xfrm>
              <a:off x="0"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4" name="Freeform 24"/>
            <p:cNvSpPr/>
            <p:nvPr/>
          </p:nvSpPr>
          <p:spPr>
            <a:xfrm>
              <a:off x="1105988"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5" name="Freeform 25"/>
            <p:cNvSpPr/>
            <p:nvPr/>
          </p:nvSpPr>
          <p:spPr>
            <a:xfrm>
              <a:off x="1284474" y="4613333"/>
              <a:ext cx="749016" cy="727227"/>
            </a:xfrm>
            <a:custGeom>
              <a:avLst/>
              <a:gdLst/>
              <a:ahLst/>
              <a:cxnLst/>
              <a:rect l="l" t="t" r="r" b="b"/>
              <a:pathLst>
                <a:path w="749016" h="727227">
                  <a:moveTo>
                    <a:pt x="0" y="0"/>
                  </a:moveTo>
                  <a:lnTo>
                    <a:pt x="749016" y="0"/>
                  </a:lnTo>
                  <a:lnTo>
                    <a:pt x="749016" y="727227"/>
                  </a:lnTo>
                  <a:lnTo>
                    <a:pt x="0" y="72722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grpSp>
      <p:sp>
        <p:nvSpPr>
          <p:cNvPr id="26" name="Freeform 26"/>
          <p:cNvSpPr/>
          <p:nvPr/>
        </p:nvSpPr>
        <p:spPr>
          <a:xfrm rot="3207690">
            <a:off x="6778520" y="8056080"/>
            <a:ext cx="484735" cy="825401"/>
          </a:xfrm>
          <a:custGeom>
            <a:avLst/>
            <a:gdLst/>
            <a:ahLst/>
            <a:cxnLst/>
            <a:rect l="l" t="t" r="r" b="b"/>
            <a:pathLst>
              <a:path w="484735" h="825401">
                <a:moveTo>
                  <a:pt x="0" y="0"/>
                </a:moveTo>
                <a:lnTo>
                  <a:pt x="484735" y="0"/>
                </a:lnTo>
                <a:lnTo>
                  <a:pt x="484735" y="825401"/>
                </a:lnTo>
                <a:lnTo>
                  <a:pt x="0" y="82540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27" name="Freeform 27"/>
          <p:cNvSpPr/>
          <p:nvPr/>
        </p:nvSpPr>
        <p:spPr>
          <a:xfrm>
            <a:off x="15235587" y="4383955"/>
            <a:ext cx="635693" cy="654740"/>
          </a:xfrm>
          <a:custGeom>
            <a:avLst/>
            <a:gdLst/>
            <a:ahLst/>
            <a:cxnLst/>
            <a:rect l="l" t="t" r="r" b="b"/>
            <a:pathLst>
              <a:path w="635693" h="654740">
                <a:moveTo>
                  <a:pt x="0" y="0"/>
                </a:moveTo>
                <a:lnTo>
                  <a:pt x="635692" y="0"/>
                </a:lnTo>
                <a:lnTo>
                  <a:pt x="635692" y="654740"/>
                </a:lnTo>
                <a:lnTo>
                  <a:pt x="0" y="654740"/>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28" name="Freeform 28"/>
          <p:cNvSpPr/>
          <p:nvPr/>
        </p:nvSpPr>
        <p:spPr>
          <a:xfrm>
            <a:off x="2474728" y="2252104"/>
            <a:ext cx="798979" cy="798979"/>
          </a:xfrm>
          <a:custGeom>
            <a:avLst/>
            <a:gdLst/>
            <a:ahLst/>
            <a:cxnLst/>
            <a:rect l="l" t="t" r="r" b="b"/>
            <a:pathLst>
              <a:path w="798979" h="798979">
                <a:moveTo>
                  <a:pt x="0" y="0"/>
                </a:moveTo>
                <a:lnTo>
                  <a:pt x="798979" y="0"/>
                </a:lnTo>
                <a:lnTo>
                  <a:pt x="798979" y="798979"/>
                </a:lnTo>
                <a:lnTo>
                  <a:pt x="0" y="798979"/>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29" name="TextBox 29"/>
          <p:cNvSpPr txBox="1"/>
          <p:nvPr/>
        </p:nvSpPr>
        <p:spPr>
          <a:xfrm>
            <a:off x="5023547" y="3876675"/>
            <a:ext cx="8240907" cy="2524125"/>
          </a:xfrm>
          <a:prstGeom prst="rect">
            <a:avLst/>
          </a:prstGeom>
        </p:spPr>
        <p:txBody>
          <a:bodyPr lIns="0" tIns="0" rIns="0" bIns="0" rtlCol="0" anchor="t">
            <a:spAutoFit/>
          </a:bodyPr>
          <a:lstStyle/>
          <a:p>
            <a:pPr algn="ctr">
              <a:lnSpc>
                <a:spcPts val="8999"/>
              </a:lnSpc>
            </a:pPr>
            <a:r>
              <a:rPr lang="en-US" sz="8999">
                <a:solidFill>
                  <a:srgbClr val="000000"/>
                </a:solidFill>
                <a:latin typeface="Retropix"/>
              </a:rPr>
              <a:t>Unary</a:t>
            </a:r>
          </a:p>
          <a:p>
            <a:pPr algn="ctr">
              <a:lnSpc>
                <a:spcPts val="8999"/>
              </a:lnSpc>
            </a:pPr>
            <a:r>
              <a:rPr lang="en-US" sz="8999">
                <a:solidFill>
                  <a:srgbClr val="000000"/>
                </a:solidFill>
                <a:latin typeface="Retropix"/>
              </a:rPr>
              <a:t>Code</a:t>
            </a:r>
          </a:p>
        </p:txBody>
      </p:sp>
      <p:sp>
        <p:nvSpPr>
          <p:cNvPr id="30" name="Freeform 30"/>
          <p:cNvSpPr/>
          <p:nvPr/>
        </p:nvSpPr>
        <p:spPr>
          <a:xfrm>
            <a:off x="13344126" y="2353235"/>
            <a:ext cx="2527153" cy="473267"/>
          </a:xfrm>
          <a:custGeom>
            <a:avLst/>
            <a:gdLst/>
            <a:ahLst/>
            <a:cxnLst/>
            <a:rect l="l" t="t" r="r" b="b"/>
            <a:pathLst>
              <a:path w="2527153" h="473267">
                <a:moveTo>
                  <a:pt x="0" y="0"/>
                </a:moveTo>
                <a:lnTo>
                  <a:pt x="2527153" y="0"/>
                </a:lnTo>
                <a:lnTo>
                  <a:pt x="2527153" y="473266"/>
                </a:lnTo>
                <a:lnTo>
                  <a:pt x="0" y="473266"/>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16908410" y="3294667"/>
            <a:ext cx="704718" cy="952322"/>
          </a:xfrm>
          <a:custGeom>
            <a:avLst/>
            <a:gdLst/>
            <a:ahLst/>
            <a:cxnLst/>
            <a:rect l="l" t="t" r="r" b="b"/>
            <a:pathLst>
              <a:path w="704718" h="952322">
                <a:moveTo>
                  <a:pt x="0" y="0"/>
                </a:moveTo>
                <a:lnTo>
                  <a:pt x="704718" y="0"/>
                </a:lnTo>
                <a:lnTo>
                  <a:pt x="704718" y="952321"/>
                </a:lnTo>
                <a:lnTo>
                  <a:pt x="0" y="9523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798415" y="2100520"/>
            <a:ext cx="924708" cy="707822"/>
          </a:xfrm>
          <a:custGeom>
            <a:avLst/>
            <a:gdLst/>
            <a:ahLst/>
            <a:cxnLst/>
            <a:rect l="l" t="t" r="r" b="b"/>
            <a:pathLst>
              <a:path w="924708" h="707822">
                <a:moveTo>
                  <a:pt x="0" y="0"/>
                </a:moveTo>
                <a:lnTo>
                  <a:pt x="924708" y="0"/>
                </a:lnTo>
                <a:lnTo>
                  <a:pt x="924708" y="707821"/>
                </a:lnTo>
                <a:lnTo>
                  <a:pt x="0" y="707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6795477" y="513702"/>
            <a:ext cx="866388" cy="1100492"/>
          </a:xfrm>
          <a:custGeom>
            <a:avLst/>
            <a:gdLst/>
            <a:ahLst/>
            <a:cxnLst/>
            <a:rect l="l" t="t" r="r" b="b"/>
            <a:pathLst>
              <a:path w="866388" h="1100492">
                <a:moveTo>
                  <a:pt x="0" y="0"/>
                </a:moveTo>
                <a:lnTo>
                  <a:pt x="866388" y="0"/>
                </a:lnTo>
                <a:lnTo>
                  <a:pt x="866388" y="1100492"/>
                </a:lnTo>
                <a:lnTo>
                  <a:pt x="0" y="11004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0" y="9052698"/>
            <a:ext cx="18288000" cy="1234302"/>
            <a:chOff x="0" y="0"/>
            <a:chExt cx="4816593" cy="325084"/>
          </a:xfrm>
        </p:grpSpPr>
        <p:sp>
          <p:nvSpPr>
            <p:cNvPr id="6" name="Freeform 6"/>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7" name="TextBox 7"/>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8" name="Group 8"/>
          <p:cNvGrpSpPr/>
          <p:nvPr/>
        </p:nvGrpSpPr>
        <p:grpSpPr>
          <a:xfrm>
            <a:off x="237414" y="9267586"/>
            <a:ext cx="804526" cy="804526"/>
            <a:chOff x="0" y="0"/>
            <a:chExt cx="1072702" cy="1072702"/>
          </a:xfrm>
        </p:grpSpPr>
        <p:sp>
          <p:nvSpPr>
            <p:cNvPr id="9" name="Freeform 9"/>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sp>
        <p:nvSpPr>
          <p:cNvPr id="11" name="Freeform 11"/>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2" name="Freeform 12"/>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3" name="Freeform 13"/>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4" name="Freeform 14"/>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5" name="Freeform 15"/>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16" name="Group 16"/>
          <p:cNvGrpSpPr/>
          <p:nvPr/>
        </p:nvGrpSpPr>
        <p:grpSpPr>
          <a:xfrm>
            <a:off x="1087658" y="1774286"/>
            <a:ext cx="4945404" cy="4945404"/>
            <a:chOff x="0" y="0"/>
            <a:chExt cx="6593872" cy="6593872"/>
          </a:xfrm>
        </p:grpSpPr>
        <p:sp>
          <p:nvSpPr>
            <p:cNvPr id="17" name="Freeform 17"/>
            <p:cNvSpPr/>
            <p:nvPr/>
          </p:nvSpPr>
          <p:spPr>
            <a:xfrm>
              <a:off x="0" y="0"/>
              <a:ext cx="6593872" cy="6593872"/>
            </a:xfrm>
            <a:custGeom>
              <a:avLst/>
              <a:gdLst/>
              <a:ahLst/>
              <a:cxnLst/>
              <a:rect l="l" t="t" r="r" b="b"/>
              <a:pathLst>
                <a:path w="6593872" h="6593872">
                  <a:moveTo>
                    <a:pt x="0" y="0"/>
                  </a:moveTo>
                  <a:lnTo>
                    <a:pt x="6593872" y="0"/>
                  </a:lnTo>
                  <a:lnTo>
                    <a:pt x="6593872" y="6593872"/>
                  </a:lnTo>
                  <a:lnTo>
                    <a:pt x="0" y="659387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8" name="Freeform 18"/>
            <p:cNvSpPr/>
            <p:nvPr/>
          </p:nvSpPr>
          <p:spPr>
            <a:xfrm>
              <a:off x="94345" y="2056260"/>
              <a:ext cx="5879491" cy="3887532"/>
            </a:xfrm>
            <a:custGeom>
              <a:avLst/>
              <a:gdLst/>
              <a:ahLst/>
              <a:cxnLst/>
              <a:rect l="l" t="t" r="r" b="b"/>
              <a:pathLst>
                <a:path w="5879491" h="3887532">
                  <a:moveTo>
                    <a:pt x="0" y="0"/>
                  </a:moveTo>
                  <a:lnTo>
                    <a:pt x="5879491" y="0"/>
                  </a:lnTo>
                  <a:lnTo>
                    <a:pt x="5879491" y="3887532"/>
                  </a:lnTo>
                  <a:lnTo>
                    <a:pt x="0" y="3887532"/>
                  </a:lnTo>
                  <a:lnTo>
                    <a:pt x="0" y="0"/>
                  </a:lnTo>
                  <a:close/>
                </a:path>
              </a:pathLst>
            </a:custGeom>
            <a:blipFill>
              <a:blip r:embed="rId24"/>
              <a:stretch>
                <a:fillRect l="-159935" t="-107869" r="-103323" b="-101163"/>
              </a:stretch>
            </a:blipFill>
          </p:spPr>
        </p:sp>
      </p:grpSp>
      <p:sp>
        <p:nvSpPr>
          <p:cNvPr id="19" name="TextBox 19"/>
          <p:cNvSpPr txBox="1"/>
          <p:nvPr/>
        </p:nvSpPr>
        <p:spPr>
          <a:xfrm>
            <a:off x="7946369" y="2852715"/>
            <a:ext cx="7163498" cy="2712346"/>
          </a:xfrm>
          <a:prstGeom prst="rect">
            <a:avLst/>
          </a:prstGeom>
        </p:spPr>
        <p:txBody>
          <a:bodyPr lIns="0" tIns="0" rIns="0" bIns="0" rtlCol="0" anchor="t">
            <a:spAutoFit/>
          </a:bodyPr>
          <a:lstStyle/>
          <a:p>
            <a:pPr>
              <a:lnSpc>
                <a:spcPts val="4325"/>
              </a:lnSpc>
            </a:pPr>
            <a:r>
              <a:rPr lang="en-US" sz="3089" dirty="0">
                <a:solidFill>
                  <a:srgbClr val="FFFFFF"/>
                </a:solidFill>
                <a:latin typeface="Public Sans"/>
              </a:rPr>
              <a:t>The unary code for a positive integer n is defined as n-1 followed by a single '0' (or alternatively, as n-1 zeros followed by one '1'). The length of the unary code for the integer n is n bits.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16908410" y="3294667"/>
            <a:ext cx="704718" cy="952322"/>
          </a:xfrm>
          <a:custGeom>
            <a:avLst/>
            <a:gdLst/>
            <a:ahLst/>
            <a:cxnLst/>
            <a:rect l="l" t="t" r="r" b="b"/>
            <a:pathLst>
              <a:path w="704718" h="952322">
                <a:moveTo>
                  <a:pt x="0" y="0"/>
                </a:moveTo>
                <a:lnTo>
                  <a:pt x="704718" y="0"/>
                </a:lnTo>
                <a:lnTo>
                  <a:pt x="704718" y="952321"/>
                </a:lnTo>
                <a:lnTo>
                  <a:pt x="0" y="9523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798415" y="2100520"/>
            <a:ext cx="924708" cy="707822"/>
          </a:xfrm>
          <a:custGeom>
            <a:avLst/>
            <a:gdLst/>
            <a:ahLst/>
            <a:cxnLst/>
            <a:rect l="l" t="t" r="r" b="b"/>
            <a:pathLst>
              <a:path w="924708" h="707822">
                <a:moveTo>
                  <a:pt x="0" y="0"/>
                </a:moveTo>
                <a:lnTo>
                  <a:pt x="924708" y="0"/>
                </a:lnTo>
                <a:lnTo>
                  <a:pt x="924708" y="707821"/>
                </a:lnTo>
                <a:lnTo>
                  <a:pt x="0" y="707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6795477" y="513702"/>
            <a:ext cx="866388" cy="1100492"/>
          </a:xfrm>
          <a:custGeom>
            <a:avLst/>
            <a:gdLst/>
            <a:ahLst/>
            <a:cxnLst/>
            <a:rect l="l" t="t" r="r" b="b"/>
            <a:pathLst>
              <a:path w="866388" h="1100492">
                <a:moveTo>
                  <a:pt x="0" y="0"/>
                </a:moveTo>
                <a:lnTo>
                  <a:pt x="866388" y="0"/>
                </a:lnTo>
                <a:lnTo>
                  <a:pt x="866388" y="1100492"/>
                </a:lnTo>
                <a:lnTo>
                  <a:pt x="0" y="11004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0" y="9052698"/>
            <a:ext cx="18288000" cy="1234302"/>
            <a:chOff x="0" y="0"/>
            <a:chExt cx="4816593" cy="325084"/>
          </a:xfrm>
        </p:grpSpPr>
        <p:sp>
          <p:nvSpPr>
            <p:cNvPr id="6" name="Freeform 6"/>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7" name="TextBox 7"/>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8" name="Group 8"/>
          <p:cNvGrpSpPr/>
          <p:nvPr/>
        </p:nvGrpSpPr>
        <p:grpSpPr>
          <a:xfrm>
            <a:off x="237414" y="9267586"/>
            <a:ext cx="804526" cy="804526"/>
            <a:chOff x="0" y="0"/>
            <a:chExt cx="1072702" cy="1072702"/>
          </a:xfrm>
        </p:grpSpPr>
        <p:sp>
          <p:nvSpPr>
            <p:cNvPr id="9" name="Freeform 9"/>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sp>
        <p:nvSpPr>
          <p:cNvPr id="11" name="Freeform 11"/>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2" name="Freeform 12"/>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3" name="Freeform 13"/>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4" name="Freeform 14"/>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5" name="Freeform 15"/>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6" name="Freeform 16"/>
          <p:cNvSpPr/>
          <p:nvPr/>
        </p:nvSpPr>
        <p:spPr>
          <a:xfrm>
            <a:off x="1200740" y="2808341"/>
            <a:ext cx="5414014" cy="5414014"/>
          </a:xfrm>
          <a:custGeom>
            <a:avLst/>
            <a:gdLst/>
            <a:ahLst/>
            <a:cxnLst/>
            <a:rect l="l" t="t" r="r" b="b"/>
            <a:pathLst>
              <a:path w="5414014" h="5414014">
                <a:moveTo>
                  <a:pt x="0" y="0"/>
                </a:moveTo>
                <a:lnTo>
                  <a:pt x="5414015" y="0"/>
                </a:lnTo>
                <a:lnTo>
                  <a:pt x="5414015" y="5414015"/>
                </a:lnTo>
                <a:lnTo>
                  <a:pt x="0" y="541401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7" name="TextBox 17"/>
          <p:cNvSpPr txBox="1"/>
          <p:nvPr/>
        </p:nvSpPr>
        <p:spPr>
          <a:xfrm>
            <a:off x="7946369" y="4563614"/>
            <a:ext cx="7163498" cy="1083571"/>
          </a:xfrm>
          <a:prstGeom prst="rect">
            <a:avLst/>
          </a:prstGeom>
        </p:spPr>
        <p:txBody>
          <a:bodyPr lIns="0" tIns="0" rIns="0" bIns="0" rtlCol="0" anchor="t">
            <a:spAutoFit/>
          </a:bodyPr>
          <a:lstStyle/>
          <a:p>
            <a:pPr>
              <a:lnSpc>
                <a:spcPts val="4325"/>
              </a:lnSpc>
            </a:pPr>
            <a:r>
              <a:rPr lang="en-US" sz="3089" dirty="0">
                <a:solidFill>
                  <a:srgbClr val="FFFFFF"/>
                </a:solidFill>
                <a:latin typeface="Public Sans"/>
              </a:rPr>
              <a:t>Representing an integer n with a '1' followed by a '0' </a:t>
            </a:r>
          </a:p>
        </p:txBody>
      </p:sp>
      <p:sp>
        <p:nvSpPr>
          <p:cNvPr id="18" name="TextBox 18"/>
          <p:cNvSpPr txBox="1"/>
          <p:nvPr/>
        </p:nvSpPr>
        <p:spPr>
          <a:xfrm>
            <a:off x="1028700" y="1019175"/>
            <a:ext cx="12105305" cy="1073150"/>
          </a:xfrm>
          <a:prstGeom prst="rect">
            <a:avLst/>
          </a:prstGeom>
        </p:spPr>
        <p:txBody>
          <a:bodyPr lIns="0" tIns="0" rIns="0" bIns="0" rtlCol="0" anchor="t">
            <a:spAutoFit/>
          </a:bodyPr>
          <a:lstStyle/>
          <a:p>
            <a:pPr>
              <a:lnSpc>
                <a:spcPts val="6999"/>
              </a:lnSpc>
            </a:pPr>
            <a:r>
              <a:rPr lang="en-US" sz="6999">
                <a:solidFill>
                  <a:srgbClr val="FFFFFF"/>
                </a:solidFill>
                <a:latin typeface="Retropix"/>
              </a:rPr>
              <a:t>Example</a:t>
            </a:r>
          </a:p>
        </p:txBody>
      </p:sp>
      <p:sp>
        <p:nvSpPr>
          <p:cNvPr id="19" name="TextBox 19"/>
          <p:cNvSpPr txBox="1"/>
          <p:nvPr/>
        </p:nvSpPr>
        <p:spPr>
          <a:xfrm>
            <a:off x="1684895" y="4773287"/>
            <a:ext cx="4097504" cy="2573119"/>
          </a:xfrm>
          <a:prstGeom prst="rect">
            <a:avLst/>
          </a:prstGeom>
        </p:spPr>
        <p:txBody>
          <a:bodyPr lIns="0" tIns="0" rIns="0" bIns="0" rtlCol="0" anchor="t">
            <a:spAutoFit/>
          </a:bodyPr>
          <a:lstStyle/>
          <a:p>
            <a:pPr>
              <a:lnSpc>
                <a:spcPts val="5174"/>
              </a:lnSpc>
              <a:spcBef>
                <a:spcPct val="0"/>
              </a:spcBef>
            </a:pPr>
            <a:r>
              <a:rPr lang="en-US" sz="3696">
                <a:solidFill>
                  <a:srgbClr val="000000"/>
                </a:solidFill>
                <a:latin typeface="Public Sans"/>
              </a:rPr>
              <a:t>3 = </a:t>
            </a:r>
            <a:r>
              <a:rPr lang="en-US" sz="3696">
                <a:solidFill>
                  <a:srgbClr val="FEFF99"/>
                </a:solidFill>
                <a:latin typeface="Public Sans"/>
              </a:rPr>
              <a:t>111</a:t>
            </a:r>
            <a:r>
              <a:rPr lang="en-US" sz="3696">
                <a:solidFill>
                  <a:srgbClr val="000000"/>
                </a:solidFill>
                <a:latin typeface="Public Sans"/>
              </a:rPr>
              <a:t>0</a:t>
            </a:r>
          </a:p>
          <a:p>
            <a:pPr>
              <a:lnSpc>
                <a:spcPts val="5174"/>
              </a:lnSpc>
              <a:spcBef>
                <a:spcPct val="0"/>
              </a:spcBef>
            </a:pPr>
            <a:r>
              <a:rPr lang="en-US" sz="3696">
                <a:solidFill>
                  <a:srgbClr val="000000"/>
                </a:solidFill>
                <a:latin typeface="Public Sans"/>
              </a:rPr>
              <a:t>5 = </a:t>
            </a:r>
            <a:r>
              <a:rPr lang="en-US" sz="3696">
                <a:solidFill>
                  <a:srgbClr val="FEFF99"/>
                </a:solidFill>
                <a:latin typeface="Public Sans"/>
              </a:rPr>
              <a:t>11111</a:t>
            </a:r>
            <a:r>
              <a:rPr lang="en-US" sz="3696">
                <a:solidFill>
                  <a:srgbClr val="000000"/>
                </a:solidFill>
                <a:latin typeface="Public Sans"/>
              </a:rPr>
              <a:t>0</a:t>
            </a:r>
          </a:p>
          <a:p>
            <a:pPr>
              <a:lnSpc>
                <a:spcPts val="5174"/>
              </a:lnSpc>
              <a:spcBef>
                <a:spcPct val="0"/>
              </a:spcBef>
            </a:pPr>
            <a:r>
              <a:rPr lang="en-US" sz="3696">
                <a:solidFill>
                  <a:srgbClr val="000000"/>
                </a:solidFill>
                <a:latin typeface="Public Sans"/>
              </a:rPr>
              <a:t>2 = </a:t>
            </a:r>
            <a:r>
              <a:rPr lang="en-US" sz="3696">
                <a:solidFill>
                  <a:srgbClr val="FEFF99"/>
                </a:solidFill>
                <a:latin typeface="Public Sans"/>
              </a:rPr>
              <a:t>11</a:t>
            </a:r>
            <a:r>
              <a:rPr lang="en-US" sz="3696">
                <a:solidFill>
                  <a:srgbClr val="000000"/>
                </a:solidFill>
                <a:latin typeface="Public Sans"/>
              </a:rPr>
              <a:t>0</a:t>
            </a:r>
          </a:p>
          <a:p>
            <a:pPr>
              <a:lnSpc>
                <a:spcPts val="5174"/>
              </a:lnSpc>
              <a:spcBef>
                <a:spcPct val="0"/>
              </a:spcBef>
            </a:pPr>
            <a:r>
              <a:rPr lang="en-US" sz="3696">
                <a:solidFill>
                  <a:srgbClr val="000000"/>
                </a:solidFill>
                <a:latin typeface="Public Sans"/>
              </a:rPr>
              <a:t>4 = </a:t>
            </a:r>
            <a:r>
              <a:rPr lang="en-US" sz="3696">
                <a:solidFill>
                  <a:srgbClr val="FEFF99"/>
                </a:solidFill>
                <a:latin typeface="Public Sans"/>
              </a:rPr>
              <a:t>1111</a:t>
            </a:r>
            <a:r>
              <a:rPr lang="en-US" sz="3696">
                <a:solidFill>
                  <a:srgbClr val="000000"/>
                </a:solidFill>
                <a:latin typeface="Public Sans"/>
              </a:rPr>
              <a:t>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16908410" y="3294667"/>
            <a:ext cx="704718" cy="952322"/>
          </a:xfrm>
          <a:custGeom>
            <a:avLst/>
            <a:gdLst/>
            <a:ahLst/>
            <a:cxnLst/>
            <a:rect l="l" t="t" r="r" b="b"/>
            <a:pathLst>
              <a:path w="704718" h="952322">
                <a:moveTo>
                  <a:pt x="0" y="0"/>
                </a:moveTo>
                <a:lnTo>
                  <a:pt x="704718" y="0"/>
                </a:lnTo>
                <a:lnTo>
                  <a:pt x="704718" y="952321"/>
                </a:lnTo>
                <a:lnTo>
                  <a:pt x="0" y="9523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798415" y="2100520"/>
            <a:ext cx="924708" cy="707822"/>
          </a:xfrm>
          <a:custGeom>
            <a:avLst/>
            <a:gdLst/>
            <a:ahLst/>
            <a:cxnLst/>
            <a:rect l="l" t="t" r="r" b="b"/>
            <a:pathLst>
              <a:path w="924708" h="707822">
                <a:moveTo>
                  <a:pt x="0" y="0"/>
                </a:moveTo>
                <a:lnTo>
                  <a:pt x="924708" y="0"/>
                </a:lnTo>
                <a:lnTo>
                  <a:pt x="924708" y="707821"/>
                </a:lnTo>
                <a:lnTo>
                  <a:pt x="0" y="707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6795477" y="513702"/>
            <a:ext cx="866388" cy="1100492"/>
          </a:xfrm>
          <a:custGeom>
            <a:avLst/>
            <a:gdLst/>
            <a:ahLst/>
            <a:cxnLst/>
            <a:rect l="l" t="t" r="r" b="b"/>
            <a:pathLst>
              <a:path w="866388" h="1100492">
                <a:moveTo>
                  <a:pt x="0" y="0"/>
                </a:moveTo>
                <a:lnTo>
                  <a:pt x="866388" y="0"/>
                </a:lnTo>
                <a:lnTo>
                  <a:pt x="866388" y="1100492"/>
                </a:lnTo>
                <a:lnTo>
                  <a:pt x="0" y="11004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0" y="9052698"/>
            <a:ext cx="18288000" cy="1234302"/>
            <a:chOff x="0" y="0"/>
            <a:chExt cx="4816593" cy="325084"/>
          </a:xfrm>
        </p:grpSpPr>
        <p:sp>
          <p:nvSpPr>
            <p:cNvPr id="6" name="Freeform 6"/>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7" name="TextBox 7"/>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8" name="Group 8"/>
          <p:cNvGrpSpPr/>
          <p:nvPr/>
        </p:nvGrpSpPr>
        <p:grpSpPr>
          <a:xfrm>
            <a:off x="237414" y="9267586"/>
            <a:ext cx="804526" cy="804526"/>
            <a:chOff x="0" y="0"/>
            <a:chExt cx="1072702" cy="1072702"/>
          </a:xfrm>
        </p:grpSpPr>
        <p:sp>
          <p:nvSpPr>
            <p:cNvPr id="9" name="Freeform 9"/>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sp>
        <p:nvSpPr>
          <p:cNvPr id="11" name="Freeform 11"/>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2" name="Freeform 12"/>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3" name="Freeform 13"/>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4" name="Freeform 14"/>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5" name="Freeform 15"/>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16" name="Group 16"/>
          <p:cNvGrpSpPr/>
          <p:nvPr/>
        </p:nvGrpSpPr>
        <p:grpSpPr>
          <a:xfrm>
            <a:off x="15109868" y="9297158"/>
            <a:ext cx="2801811" cy="712035"/>
            <a:chOff x="0" y="0"/>
            <a:chExt cx="737925" cy="187532"/>
          </a:xfrm>
        </p:grpSpPr>
        <p:sp>
          <p:nvSpPr>
            <p:cNvPr id="17" name="Freeform 17"/>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id="18" name="TextBox 18"/>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hlinkClick r:id="rId22" action="ppaction://hlinksldjump"/>
                </a:rPr>
                <a:t>Ke Halaman Agenda</a:t>
              </a:r>
            </a:p>
          </p:txBody>
        </p:sp>
      </p:grpSp>
      <p:sp>
        <p:nvSpPr>
          <p:cNvPr id="19" name="Freeform 19"/>
          <p:cNvSpPr/>
          <p:nvPr/>
        </p:nvSpPr>
        <p:spPr>
          <a:xfrm>
            <a:off x="1200740" y="2808341"/>
            <a:ext cx="5414014" cy="5414014"/>
          </a:xfrm>
          <a:custGeom>
            <a:avLst/>
            <a:gdLst/>
            <a:ahLst/>
            <a:cxnLst/>
            <a:rect l="l" t="t" r="r" b="b"/>
            <a:pathLst>
              <a:path w="5414014" h="5414014">
                <a:moveTo>
                  <a:pt x="0" y="0"/>
                </a:moveTo>
                <a:lnTo>
                  <a:pt x="5414015" y="0"/>
                </a:lnTo>
                <a:lnTo>
                  <a:pt x="5414015" y="5414015"/>
                </a:lnTo>
                <a:lnTo>
                  <a:pt x="0" y="541401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0" name="TextBox 20"/>
          <p:cNvSpPr txBox="1"/>
          <p:nvPr/>
        </p:nvSpPr>
        <p:spPr>
          <a:xfrm>
            <a:off x="7946369" y="4563614"/>
            <a:ext cx="7163498" cy="2712346"/>
          </a:xfrm>
          <a:prstGeom prst="rect">
            <a:avLst/>
          </a:prstGeom>
        </p:spPr>
        <p:txBody>
          <a:bodyPr lIns="0" tIns="0" rIns="0" bIns="0" rtlCol="0" anchor="t">
            <a:spAutoFit/>
          </a:bodyPr>
          <a:lstStyle/>
          <a:p>
            <a:pPr>
              <a:lnSpc>
                <a:spcPts val="4325"/>
              </a:lnSpc>
            </a:pPr>
            <a:r>
              <a:rPr lang="en-US" sz="3089" dirty="0">
                <a:solidFill>
                  <a:srgbClr val="FFFFFF"/>
                </a:solidFill>
                <a:latin typeface="Public Sans"/>
              </a:rPr>
              <a:t>Representing an integer n with a '0' followed by a '1' </a:t>
            </a:r>
          </a:p>
          <a:p>
            <a:pPr>
              <a:lnSpc>
                <a:spcPts val="4325"/>
              </a:lnSpc>
            </a:pPr>
            <a:endParaRPr lang="en-US" sz="3089" dirty="0">
              <a:solidFill>
                <a:srgbClr val="FFFFFF"/>
              </a:solidFill>
              <a:latin typeface="Public Sans"/>
            </a:endParaRPr>
          </a:p>
          <a:p>
            <a:pPr>
              <a:lnSpc>
                <a:spcPts val="4325"/>
              </a:lnSpc>
            </a:pPr>
            <a:r>
              <a:rPr lang="en-US" sz="3089" dirty="0">
                <a:solidFill>
                  <a:srgbClr val="FFFFFF"/>
                </a:solidFill>
                <a:latin typeface="Public Sans"/>
              </a:rPr>
              <a:t>At a value of 0, the unary code form remains 0, so 0 = 0</a:t>
            </a:r>
          </a:p>
        </p:txBody>
      </p:sp>
      <p:sp>
        <p:nvSpPr>
          <p:cNvPr id="21" name="TextBox 21"/>
          <p:cNvSpPr txBox="1"/>
          <p:nvPr/>
        </p:nvSpPr>
        <p:spPr>
          <a:xfrm>
            <a:off x="1028700" y="1019175"/>
            <a:ext cx="12105305" cy="1073150"/>
          </a:xfrm>
          <a:prstGeom prst="rect">
            <a:avLst/>
          </a:prstGeom>
        </p:spPr>
        <p:txBody>
          <a:bodyPr lIns="0" tIns="0" rIns="0" bIns="0" rtlCol="0" anchor="t">
            <a:spAutoFit/>
          </a:bodyPr>
          <a:lstStyle/>
          <a:p>
            <a:pPr>
              <a:lnSpc>
                <a:spcPts val="6999"/>
              </a:lnSpc>
            </a:pPr>
            <a:r>
              <a:rPr lang="en-US" sz="6999">
                <a:solidFill>
                  <a:srgbClr val="FFFFFF"/>
                </a:solidFill>
                <a:latin typeface="Retropix"/>
              </a:rPr>
              <a:t>Example</a:t>
            </a:r>
          </a:p>
        </p:txBody>
      </p:sp>
      <p:sp>
        <p:nvSpPr>
          <p:cNvPr id="22" name="TextBox 22"/>
          <p:cNvSpPr txBox="1"/>
          <p:nvPr/>
        </p:nvSpPr>
        <p:spPr>
          <a:xfrm>
            <a:off x="1684895" y="4773287"/>
            <a:ext cx="4097504" cy="2573119"/>
          </a:xfrm>
          <a:prstGeom prst="rect">
            <a:avLst/>
          </a:prstGeom>
        </p:spPr>
        <p:txBody>
          <a:bodyPr lIns="0" tIns="0" rIns="0" bIns="0" rtlCol="0" anchor="t">
            <a:spAutoFit/>
          </a:bodyPr>
          <a:lstStyle/>
          <a:p>
            <a:pPr>
              <a:lnSpc>
                <a:spcPts val="5174"/>
              </a:lnSpc>
            </a:pPr>
            <a:r>
              <a:rPr lang="en-US" sz="3696">
                <a:solidFill>
                  <a:srgbClr val="000000"/>
                </a:solidFill>
                <a:latin typeface="Public Sans"/>
              </a:rPr>
              <a:t>3 = </a:t>
            </a:r>
            <a:r>
              <a:rPr lang="en-US" sz="3696">
                <a:solidFill>
                  <a:srgbClr val="FEFF99"/>
                </a:solidFill>
                <a:latin typeface="Public Sans"/>
              </a:rPr>
              <a:t>000</a:t>
            </a:r>
            <a:r>
              <a:rPr lang="en-US" sz="3696">
                <a:solidFill>
                  <a:srgbClr val="000000"/>
                </a:solidFill>
                <a:latin typeface="Public Sans"/>
              </a:rPr>
              <a:t>1</a:t>
            </a:r>
          </a:p>
          <a:p>
            <a:pPr>
              <a:lnSpc>
                <a:spcPts val="5174"/>
              </a:lnSpc>
            </a:pPr>
            <a:r>
              <a:rPr lang="en-US" sz="3696">
                <a:solidFill>
                  <a:srgbClr val="000000"/>
                </a:solidFill>
                <a:latin typeface="Public Sans"/>
              </a:rPr>
              <a:t>5 = </a:t>
            </a:r>
            <a:r>
              <a:rPr lang="en-US" sz="3696">
                <a:solidFill>
                  <a:srgbClr val="FEFF99"/>
                </a:solidFill>
                <a:latin typeface="Public Sans"/>
              </a:rPr>
              <a:t>00000</a:t>
            </a:r>
            <a:r>
              <a:rPr lang="en-US" sz="3696">
                <a:solidFill>
                  <a:srgbClr val="000000"/>
                </a:solidFill>
                <a:latin typeface="Public Sans"/>
              </a:rPr>
              <a:t>1</a:t>
            </a:r>
          </a:p>
          <a:p>
            <a:pPr>
              <a:lnSpc>
                <a:spcPts val="5174"/>
              </a:lnSpc>
            </a:pPr>
            <a:r>
              <a:rPr lang="en-US" sz="3696">
                <a:solidFill>
                  <a:srgbClr val="000000"/>
                </a:solidFill>
                <a:latin typeface="Public Sans"/>
              </a:rPr>
              <a:t>2 = </a:t>
            </a:r>
            <a:r>
              <a:rPr lang="en-US" sz="3696">
                <a:solidFill>
                  <a:srgbClr val="FEFF99"/>
                </a:solidFill>
                <a:latin typeface="Public Sans"/>
              </a:rPr>
              <a:t>00</a:t>
            </a:r>
            <a:r>
              <a:rPr lang="en-US" sz="3696">
                <a:solidFill>
                  <a:srgbClr val="000000"/>
                </a:solidFill>
                <a:latin typeface="Public Sans"/>
              </a:rPr>
              <a:t>1</a:t>
            </a:r>
          </a:p>
          <a:p>
            <a:pPr>
              <a:lnSpc>
                <a:spcPts val="5174"/>
              </a:lnSpc>
              <a:spcBef>
                <a:spcPct val="0"/>
              </a:spcBef>
            </a:pPr>
            <a:r>
              <a:rPr lang="en-US" sz="3696">
                <a:solidFill>
                  <a:srgbClr val="000000"/>
                </a:solidFill>
                <a:latin typeface="Public Sans"/>
              </a:rPr>
              <a:t>4 = </a:t>
            </a:r>
            <a:r>
              <a:rPr lang="en-US" sz="3696">
                <a:solidFill>
                  <a:srgbClr val="FEFF99"/>
                </a:solidFill>
                <a:latin typeface="Public Sans"/>
              </a:rPr>
              <a:t>0000</a:t>
            </a:r>
            <a:r>
              <a:rPr lang="en-US" sz="3696">
                <a:solidFill>
                  <a:srgbClr val="000000"/>
                </a:solidFill>
                <a:latin typeface="Public Sans"/>
              </a:rPr>
              <a:t>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16736" y="-5817236"/>
            <a:ext cx="21921472" cy="21921472"/>
          </a:xfrm>
          <a:custGeom>
            <a:avLst/>
            <a:gdLst/>
            <a:ahLst/>
            <a:cxnLst/>
            <a:rect l="l" t="t" r="r" b="b"/>
            <a:pathLst>
              <a:path w="21921472" h="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036596" y="1839339"/>
            <a:ext cx="14235927" cy="6629441"/>
            <a:chOff x="0" y="0"/>
            <a:chExt cx="3749380" cy="1746026"/>
          </a:xfrm>
        </p:grpSpPr>
        <p:sp>
          <p:nvSpPr>
            <p:cNvPr id="4" name="Freeform 4"/>
            <p:cNvSpPr/>
            <p:nvPr/>
          </p:nvSpPr>
          <p:spPr>
            <a:xfrm>
              <a:off x="0" y="0"/>
              <a:ext cx="3749380" cy="1746026"/>
            </a:xfrm>
            <a:custGeom>
              <a:avLst/>
              <a:gdLst/>
              <a:ahLst/>
              <a:cxnLst/>
              <a:rect l="l" t="t" r="r" b="b"/>
              <a:pathLst>
                <a:path w="3749380" h="1746026">
                  <a:moveTo>
                    <a:pt x="0" y="0"/>
                  </a:moveTo>
                  <a:lnTo>
                    <a:pt x="3749380" y="0"/>
                  </a:lnTo>
                  <a:lnTo>
                    <a:pt x="3749380" y="1746026"/>
                  </a:lnTo>
                  <a:lnTo>
                    <a:pt x="0" y="1746026"/>
                  </a:lnTo>
                  <a:close/>
                </a:path>
              </a:pathLst>
            </a:custGeom>
            <a:solidFill>
              <a:srgbClr val="FEFF99"/>
            </a:solidFill>
            <a:ln w="95250" cap="sq">
              <a:solidFill>
                <a:srgbClr val="CCCCCC"/>
              </a:solidFill>
              <a:prstDash val="sysDot"/>
              <a:miter/>
            </a:ln>
          </p:spPr>
        </p:sp>
        <p:sp>
          <p:nvSpPr>
            <p:cNvPr id="5" name="TextBox 5"/>
            <p:cNvSpPr txBox="1"/>
            <p:nvPr/>
          </p:nvSpPr>
          <p:spPr>
            <a:xfrm>
              <a:off x="0" y="-38100"/>
              <a:ext cx="3749380" cy="1784126"/>
            </a:xfrm>
            <a:prstGeom prst="rect">
              <a:avLst/>
            </a:prstGeom>
          </p:spPr>
          <p:txBody>
            <a:bodyPr lIns="50800" tIns="50800" rIns="50800" bIns="50800" rtlCol="0" anchor="ctr"/>
            <a:lstStyle/>
            <a:p>
              <a:pPr algn="ctr">
                <a:lnSpc>
                  <a:spcPts val="2100"/>
                </a:lnSpc>
              </a:pPr>
              <a:endParaRPr/>
            </a:p>
          </p:txBody>
        </p:sp>
      </p:grpSp>
      <p:grpSp>
        <p:nvGrpSpPr>
          <p:cNvPr id="6" name="Group 6"/>
          <p:cNvGrpSpPr/>
          <p:nvPr/>
        </p:nvGrpSpPr>
        <p:grpSpPr>
          <a:xfrm>
            <a:off x="-1301375" y="0"/>
            <a:ext cx="20890750" cy="795781"/>
            <a:chOff x="0" y="0"/>
            <a:chExt cx="27854334" cy="1061041"/>
          </a:xfrm>
        </p:grpSpPr>
        <p:grpSp>
          <p:nvGrpSpPr>
            <p:cNvPr id="7" name="Group 7"/>
            <p:cNvGrpSpPr/>
            <p:nvPr/>
          </p:nvGrpSpPr>
          <p:grpSpPr>
            <a:xfrm>
              <a:off x="0" y="0"/>
              <a:ext cx="27854334" cy="1061041"/>
              <a:chOff x="0" y="0"/>
              <a:chExt cx="5502091" cy="209588"/>
            </a:xfrm>
          </p:grpSpPr>
          <p:sp>
            <p:nvSpPr>
              <p:cNvPr id="8" name="Freeform 8"/>
              <p:cNvSpPr/>
              <p:nvPr/>
            </p:nvSpPr>
            <p:spPr>
              <a:xfrm>
                <a:off x="0" y="0"/>
                <a:ext cx="5502091" cy="209588"/>
              </a:xfrm>
              <a:custGeom>
                <a:avLst/>
                <a:gdLst/>
                <a:ahLst/>
                <a:cxnLst/>
                <a:rect l="l" t="t" r="r" b="b"/>
                <a:pathLst>
                  <a:path w="5502091" h="209588">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id="9" name="TextBox 9"/>
              <p:cNvSpPr txBox="1"/>
              <p:nvPr/>
            </p:nvSpPr>
            <p:spPr>
              <a:xfrm>
                <a:off x="0" y="-47625"/>
                <a:ext cx="5502091" cy="257213"/>
              </a:xfrm>
              <a:prstGeom prst="rect">
                <a:avLst/>
              </a:prstGeom>
            </p:spPr>
            <p:txBody>
              <a:bodyPr lIns="254000" tIns="254000" rIns="254000" bIns="254000" rtlCol="0" anchor="ctr"/>
              <a:lstStyle/>
              <a:p>
                <a:pPr>
                  <a:lnSpc>
                    <a:spcPts val="3499"/>
                  </a:lnSpc>
                </a:pPr>
                <a:endParaRPr/>
              </a:p>
            </p:txBody>
          </p:sp>
        </p:grpSp>
        <p:sp>
          <p:nvSpPr>
            <p:cNvPr id="10" name="TextBox 10"/>
            <p:cNvSpPr txBox="1"/>
            <p:nvPr/>
          </p:nvSpPr>
          <p:spPr>
            <a:xfrm>
              <a:off x="439275" y="269112"/>
              <a:ext cx="26975784" cy="513292"/>
            </a:xfrm>
            <a:prstGeom prst="rect">
              <a:avLst/>
            </a:prstGeom>
          </p:spPr>
          <p:txBody>
            <a:bodyPr lIns="0" tIns="0" rIns="0" bIns="0" rtlCol="0" anchor="t">
              <a:spAutoFit/>
            </a:bodyPr>
            <a:lstStyle/>
            <a:p>
              <a:pPr algn="ctr">
                <a:lnSpc>
                  <a:spcPts val="2499"/>
                </a:lnSpc>
              </a:pPr>
              <a:r>
                <a:rPr lang="en-US" sz="2499">
                  <a:solidFill>
                    <a:srgbClr val="FFFFFF"/>
                  </a:solidFill>
                  <a:latin typeface="Retropix"/>
                </a:rPr>
                <a:t>Time to kick off the fun with Unary Code!</a:t>
              </a:r>
            </a:p>
          </p:txBody>
        </p:sp>
      </p:grpSp>
      <p:grpSp>
        <p:nvGrpSpPr>
          <p:cNvPr id="11" name="Group 11"/>
          <p:cNvGrpSpPr/>
          <p:nvPr/>
        </p:nvGrpSpPr>
        <p:grpSpPr>
          <a:xfrm>
            <a:off x="-1301375" y="9491219"/>
            <a:ext cx="20890750" cy="795781"/>
            <a:chOff x="0" y="0"/>
            <a:chExt cx="5502091" cy="209588"/>
          </a:xfrm>
        </p:grpSpPr>
        <p:sp>
          <p:nvSpPr>
            <p:cNvPr id="12" name="Freeform 12"/>
            <p:cNvSpPr/>
            <p:nvPr/>
          </p:nvSpPr>
          <p:spPr>
            <a:xfrm>
              <a:off x="0" y="0"/>
              <a:ext cx="5502091" cy="209588"/>
            </a:xfrm>
            <a:custGeom>
              <a:avLst/>
              <a:gdLst/>
              <a:ahLst/>
              <a:cxnLst/>
              <a:rect l="l" t="t" r="r" b="b"/>
              <a:pathLst>
                <a:path w="5502091" h="209588">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id="13" name="TextBox 13"/>
            <p:cNvSpPr txBox="1"/>
            <p:nvPr/>
          </p:nvSpPr>
          <p:spPr>
            <a:xfrm>
              <a:off x="0" y="-47625"/>
              <a:ext cx="5502091" cy="257213"/>
            </a:xfrm>
            <a:prstGeom prst="rect">
              <a:avLst/>
            </a:prstGeom>
          </p:spPr>
          <p:txBody>
            <a:bodyPr lIns="254000" tIns="254000" rIns="254000" bIns="254000" rtlCol="0" anchor="ctr"/>
            <a:lstStyle/>
            <a:p>
              <a:pPr>
                <a:lnSpc>
                  <a:spcPts val="3499"/>
                </a:lnSpc>
              </a:pPr>
              <a:endParaRPr/>
            </a:p>
          </p:txBody>
        </p:sp>
      </p:grpSp>
      <p:grpSp>
        <p:nvGrpSpPr>
          <p:cNvPr id="14" name="Group 14"/>
          <p:cNvGrpSpPr/>
          <p:nvPr/>
        </p:nvGrpSpPr>
        <p:grpSpPr>
          <a:xfrm>
            <a:off x="15600318" y="4759728"/>
            <a:ext cx="1658982" cy="4147456"/>
            <a:chOff x="0" y="0"/>
            <a:chExt cx="2211976" cy="5529941"/>
          </a:xfrm>
        </p:grpSpPr>
        <p:sp>
          <p:nvSpPr>
            <p:cNvPr id="15" name="Freeform 15"/>
            <p:cNvSpPr/>
            <p:nvPr/>
          </p:nvSpPr>
          <p:spPr>
            <a:xfrm>
              <a:off x="0"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105988"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Freeform 17"/>
            <p:cNvSpPr/>
            <p:nvPr/>
          </p:nvSpPr>
          <p:spPr>
            <a:xfrm>
              <a:off x="0"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Freeform 18"/>
            <p:cNvSpPr/>
            <p:nvPr/>
          </p:nvSpPr>
          <p:spPr>
            <a:xfrm>
              <a:off x="1105988"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9" name="Freeform 19"/>
            <p:cNvSpPr/>
            <p:nvPr/>
          </p:nvSpPr>
          <p:spPr>
            <a:xfrm>
              <a:off x="0"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0" name="Freeform 20"/>
            <p:cNvSpPr/>
            <p:nvPr/>
          </p:nvSpPr>
          <p:spPr>
            <a:xfrm>
              <a:off x="1105988"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1" name="Freeform 21"/>
            <p:cNvSpPr/>
            <p:nvPr/>
          </p:nvSpPr>
          <p:spPr>
            <a:xfrm>
              <a:off x="0"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2" name="Freeform 22"/>
            <p:cNvSpPr/>
            <p:nvPr/>
          </p:nvSpPr>
          <p:spPr>
            <a:xfrm>
              <a:off x="1105988"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3" name="Freeform 23"/>
            <p:cNvSpPr/>
            <p:nvPr/>
          </p:nvSpPr>
          <p:spPr>
            <a:xfrm>
              <a:off x="0"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4" name="Freeform 24"/>
            <p:cNvSpPr/>
            <p:nvPr/>
          </p:nvSpPr>
          <p:spPr>
            <a:xfrm>
              <a:off x="1105988"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5" name="Freeform 25"/>
            <p:cNvSpPr/>
            <p:nvPr/>
          </p:nvSpPr>
          <p:spPr>
            <a:xfrm>
              <a:off x="1284474" y="4613333"/>
              <a:ext cx="749016" cy="727227"/>
            </a:xfrm>
            <a:custGeom>
              <a:avLst/>
              <a:gdLst/>
              <a:ahLst/>
              <a:cxnLst/>
              <a:rect l="l" t="t" r="r" b="b"/>
              <a:pathLst>
                <a:path w="749016" h="727227">
                  <a:moveTo>
                    <a:pt x="0" y="0"/>
                  </a:moveTo>
                  <a:lnTo>
                    <a:pt x="749016" y="0"/>
                  </a:lnTo>
                  <a:lnTo>
                    <a:pt x="749016" y="727227"/>
                  </a:lnTo>
                  <a:lnTo>
                    <a:pt x="0" y="72722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grpSp>
      <p:sp>
        <p:nvSpPr>
          <p:cNvPr id="26" name="Freeform 26"/>
          <p:cNvSpPr/>
          <p:nvPr/>
        </p:nvSpPr>
        <p:spPr>
          <a:xfrm rot="3207690">
            <a:off x="6778520" y="8056080"/>
            <a:ext cx="484735" cy="825401"/>
          </a:xfrm>
          <a:custGeom>
            <a:avLst/>
            <a:gdLst/>
            <a:ahLst/>
            <a:cxnLst/>
            <a:rect l="l" t="t" r="r" b="b"/>
            <a:pathLst>
              <a:path w="484735" h="825401">
                <a:moveTo>
                  <a:pt x="0" y="0"/>
                </a:moveTo>
                <a:lnTo>
                  <a:pt x="484735" y="0"/>
                </a:lnTo>
                <a:lnTo>
                  <a:pt x="484735" y="825401"/>
                </a:lnTo>
                <a:lnTo>
                  <a:pt x="0" y="82540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27" name="Freeform 27"/>
          <p:cNvSpPr/>
          <p:nvPr/>
        </p:nvSpPr>
        <p:spPr>
          <a:xfrm>
            <a:off x="15235587" y="4383955"/>
            <a:ext cx="635693" cy="654740"/>
          </a:xfrm>
          <a:custGeom>
            <a:avLst/>
            <a:gdLst/>
            <a:ahLst/>
            <a:cxnLst/>
            <a:rect l="l" t="t" r="r" b="b"/>
            <a:pathLst>
              <a:path w="635693" h="654740">
                <a:moveTo>
                  <a:pt x="0" y="0"/>
                </a:moveTo>
                <a:lnTo>
                  <a:pt x="635692" y="0"/>
                </a:lnTo>
                <a:lnTo>
                  <a:pt x="635692" y="654740"/>
                </a:lnTo>
                <a:lnTo>
                  <a:pt x="0" y="654740"/>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28" name="Freeform 28"/>
          <p:cNvSpPr/>
          <p:nvPr/>
        </p:nvSpPr>
        <p:spPr>
          <a:xfrm>
            <a:off x="2474728" y="2252104"/>
            <a:ext cx="798979" cy="798979"/>
          </a:xfrm>
          <a:custGeom>
            <a:avLst/>
            <a:gdLst/>
            <a:ahLst/>
            <a:cxnLst/>
            <a:rect l="l" t="t" r="r" b="b"/>
            <a:pathLst>
              <a:path w="798979" h="798979">
                <a:moveTo>
                  <a:pt x="0" y="0"/>
                </a:moveTo>
                <a:lnTo>
                  <a:pt x="798979" y="0"/>
                </a:lnTo>
                <a:lnTo>
                  <a:pt x="798979" y="798979"/>
                </a:lnTo>
                <a:lnTo>
                  <a:pt x="0" y="798979"/>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29" name="TextBox 29"/>
          <p:cNvSpPr txBox="1"/>
          <p:nvPr/>
        </p:nvSpPr>
        <p:spPr>
          <a:xfrm>
            <a:off x="5023547" y="4448175"/>
            <a:ext cx="8240907" cy="1381125"/>
          </a:xfrm>
          <a:prstGeom prst="rect">
            <a:avLst/>
          </a:prstGeom>
        </p:spPr>
        <p:txBody>
          <a:bodyPr lIns="0" tIns="0" rIns="0" bIns="0" rtlCol="0" anchor="t">
            <a:spAutoFit/>
          </a:bodyPr>
          <a:lstStyle/>
          <a:p>
            <a:pPr algn="ctr">
              <a:lnSpc>
                <a:spcPts val="8999"/>
              </a:lnSpc>
            </a:pPr>
            <a:r>
              <a:rPr lang="en-US" sz="8999">
                <a:solidFill>
                  <a:srgbClr val="000000"/>
                </a:solidFill>
                <a:latin typeface="Retropix"/>
              </a:rPr>
              <a:t>Encoding</a:t>
            </a:r>
          </a:p>
        </p:txBody>
      </p:sp>
      <p:sp>
        <p:nvSpPr>
          <p:cNvPr id="30" name="Freeform 30"/>
          <p:cNvSpPr/>
          <p:nvPr/>
        </p:nvSpPr>
        <p:spPr>
          <a:xfrm>
            <a:off x="13344126" y="2353235"/>
            <a:ext cx="2527153" cy="473267"/>
          </a:xfrm>
          <a:custGeom>
            <a:avLst/>
            <a:gdLst/>
            <a:ahLst/>
            <a:cxnLst/>
            <a:rect l="l" t="t" r="r" b="b"/>
            <a:pathLst>
              <a:path w="2527153" h="473267">
                <a:moveTo>
                  <a:pt x="0" y="0"/>
                </a:moveTo>
                <a:lnTo>
                  <a:pt x="2527153" y="0"/>
                </a:lnTo>
                <a:lnTo>
                  <a:pt x="2527153" y="473266"/>
                </a:lnTo>
                <a:lnTo>
                  <a:pt x="0" y="473266"/>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16285215" y="1187704"/>
            <a:ext cx="974085" cy="745618"/>
          </a:xfrm>
          <a:custGeom>
            <a:avLst/>
            <a:gdLst/>
            <a:ahLst/>
            <a:cxnLst/>
            <a:rect l="l" t="t" r="r" b="b"/>
            <a:pathLst>
              <a:path w="974085" h="745618">
                <a:moveTo>
                  <a:pt x="0" y="0"/>
                </a:moveTo>
                <a:lnTo>
                  <a:pt x="974085" y="0"/>
                </a:lnTo>
                <a:lnTo>
                  <a:pt x="974085" y="745617"/>
                </a:lnTo>
                <a:lnTo>
                  <a:pt x="0" y="745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1019175"/>
            <a:ext cx="12105305" cy="1073150"/>
          </a:xfrm>
          <a:prstGeom prst="rect">
            <a:avLst/>
          </a:prstGeom>
        </p:spPr>
        <p:txBody>
          <a:bodyPr lIns="0" tIns="0" rIns="0" bIns="0" rtlCol="0" anchor="t">
            <a:spAutoFit/>
          </a:bodyPr>
          <a:lstStyle/>
          <a:p>
            <a:pPr>
              <a:lnSpc>
                <a:spcPts val="6999"/>
              </a:lnSpc>
            </a:pPr>
            <a:r>
              <a:rPr lang="en-US" sz="6999">
                <a:solidFill>
                  <a:srgbClr val="FFFFFF"/>
                </a:solidFill>
                <a:latin typeface="Retropix"/>
              </a:rPr>
              <a:t>Encode</a:t>
            </a:r>
          </a:p>
        </p:txBody>
      </p:sp>
      <p:grpSp>
        <p:nvGrpSpPr>
          <p:cNvPr id="4" name="Group 4"/>
          <p:cNvGrpSpPr/>
          <p:nvPr/>
        </p:nvGrpSpPr>
        <p:grpSpPr>
          <a:xfrm>
            <a:off x="2426276" y="3056741"/>
            <a:ext cx="3857003" cy="2610764"/>
            <a:chOff x="0" y="0"/>
            <a:chExt cx="5142670" cy="3481019"/>
          </a:xfrm>
        </p:grpSpPr>
        <p:sp>
          <p:nvSpPr>
            <p:cNvPr id="5" name="TextBox 5"/>
            <p:cNvSpPr txBox="1"/>
            <p:nvPr/>
          </p:nvSpPr>
          <p:spPr>
            <a:xfrm>
              <a:off x="0" y="1612002"/>
              <a:ext cx="5142670" cy="1869016"/>
            </a:xfrm>
            <a:prstGeom prst="rect">
              <a:avLst/>
            </a:prstGeom>
          </p:spPr>
          <p:txBody>
            <a:bodyPr lIns="0" tIns="0" rIns="0" bIns="0" rtlCol="0" anchor="t">
              <a:spAutoFit/>
            </a:bodyPr>
            <a:lstStyle/>
            <a:p>
              <a:pPr algn="ctr">
                <a:lnSpc>
                  <a:spcPts val="2800"/>
                </a:lnSpc>
              </a:pPr>
              <a:r>
                <a:rPr lang="en-US" sz="2000" dirty="0">
                  <a:solidFill>
                    <a:srgbClr val="FFFFFF"/>
                  </a:solidFill>
                  <a:latin typeface="Public Sans"/>
                </a:rPr>
                <a:t>Begin with the positive integer you want to encode. Let's say you want to encode the number "3."</a:t>
              </a:r>
            </a:p>
          </p:txBody>
        </p:sp>
        <p:sp>
          <p:nvSpPr>
            <p:cNvPr id="6" name="TextBox 6"/>
            <p:cNvSpPr txBox="1"/>
            <p:nvPr/>
          </p:nvSpPr>
          <p:spPr>
            <a:xfrm>
              <a:off x="0" y="-66675"/>
              <a:ext cx="4958386" cy="1362075"/>
            </a:xfrm>
            <a:prstGeom prst="rect">
              <a:avLst/>
            </a:prstGeom>
          </p:spPr>
          <p:txBody>
            <a:bodyPr lIns="0" tIns="0" rIns="0" bIns="0" rtlCol="0" anchor="t">
              <a:spAutoFit/>
            </a:bodyPr>
            <a:lstStyle/>
            <a:p>
              <a:pPr marL="0" lvl="0" indent="0" algn="ctr">
                <a:lnSpc>
                  <a:spcPts val="3840"/>
                </a:lnSpc>
              </a:pPr>
              <a:r>
                <a:rPr lang="en-US" sz="3200">
                  <a:solidFill>
                    <a:srgbClr val="FFFFFF"/>
                  </a:solidFill>
                  <a:latin typeface="Retropix"/>
                </a:rPr>
                <a:t>Start with the Number</a:t>
              </a:r>
            </a:p>
          </p:txBody>
        </p:sp>
      </p:grpSp>
      <p:grpSp>
        <p:nvGrpSpPr>
          <p:cNvPr id="7" name="Group 7"/>
          <p:cNvGrpSpPr/>
          <p:nvPr/>
        </p:nvGrpSpPr>
        <p:grpSpPr>
          <a:xfrm>
            <a:off x="7215499" y="3056741"/>
            <a:ext cx="3857003" cy="2610764"/>
            <a:chOff x="0" y="0"/>
            <a:chExt cx="5142670" cy="3481019"/>
          </a:xfrm>
        </p:grpSpPr>
        <p:sp>
          <p:nvSpPr>
            <p:cNvPr id="8" name="TextBox 8"/>
            <p:cNvSpPr txBox="1"/>
            <p:nvPr/>
          </p:nvSpPr>
          <p:spPr>
            <a:xfrm>
              <a:off x="0" y="1612002"/>
              <a:ext cx="5142670" cy="1869016"/>
            </a:xfrm>
            <a:prstGeom prst="rect">
              <a:avLst/>
            </a:prstGeom>
          </p:spPr>
          <p:txBody>
            <a:bodyPr lIns="0" tIns="0" rIns="0" bIns="0" rtlCol="0" anchor="t">
              <a:spAutoFit/>
            </a:bodyPr>
            <a:lstStyle/>
            <a:p>
              <a:pPr algn="ctr">
                <a:lnSpc>
                  <a:spcPts val="2800"/>
                </a:lnSpc>
              </a:pPr>
              <a:r>
                <a:rPr lang="en-US" sz="2000" dirty="0">
                  <a:solidFill>
                    <a:srgbClr val="FFFFFF"/>
                  </a:solidFill>
                  <a:latin typeface="Public Sans"/>
                </a:rPr>
                <a:t>The value of the number determines the number of '1's in the unary code. In this case, "3" corresponds to three '1's.</a:t>
              </a:r>
            </a:p>
          </p:txBody>
        </p:sp>
        <p:sp>
          <p:nvSpPr>
            <p:cNvPr id="9" name="TextBox 9"/>
            <p:cNvSpPr txBox="1"/>
            <p:nvPr/>
          </p:nvSpPr>
          <p:spPr>
            <a:xfrm>
              <a:off x="0" y="-66675"/>
              <a:ext cx="4958386" cy="1362075"/>
            </a:xfrm>
            <a:prstGeom prst="rect">
              <a:avLst/>
            </a:prstGeom>
          </p:spPr>
          <p:txBody>
            <a:bodyPr lIns="0" tIns="0" rIns="0" bIns="0" rtlCol="0" anchor="t">
              <a:spAutoFit/>
            </a:bodyPr>
            <a:lstStyle/>
            <a:p>
              <a:pPr marL="0" lvl="0" indent="0" algn="ctr">
                <a:lnSpc>
                  <a:spcPts val="3840"/>
                </a:lnSpc>
              </a:pPr>
              <a:r>
                <a:rPr lang="en-US" sz="3200" dirty="0">
                  <a:solidFill>
                    <a:srgbClr val="FFFFFF"/>
                  </a:solidFill>
                  <a:latin typeface="Retropix"/>
                </a:rPr>
                <a:t>Determine the Value</a:t>
              </a:r>
            </a:p>
          </p:txBody>
        </p:sp>
      </p:grpSp>
      <p:grpSp>
        <p:nvGrpSpPr>
          <p:cNvPr id="10" name="Group 10"/>
          <p:cNvGrpSpPr/>
          <p:nvPr/>
        </p:nvGrpSpPr>
        <p:grpSpPr>
          <a:xfrm>
            <a:off x="12004722" y="3056741"/>
            <a:ext cx="3857003" cy="3315614"/>
            <a:chOff x="0" y="0"/>
            <a:chExt cx="5142670" cy="4420819"/>
          </a:xfrm>
        </p:grpSpPr>
        <p:sp>
          <p:nvSpPr>
            <p:cNvPr id="11" name="TextBox 11"/>
            <p:cNvSpPr txBox="1"/>
            <p:nvPr/>
          </p:nvSpPr>
          <p:spPr>
            <a:xfrm>
              <a:off x="0" y="1612002"/>
              <a:ext cx="5142670" cy="2808816"/>
            </a:xfrm>
            <a:prstGeom prst="rect">
              <a:avLst/>
            </a:prstGeom>
          </p:spPr>
          <p:txBody>
            <a:bodyPr lIns="0" tIns="0" rIns="0" bIns="0" rtlCol="0" anchor="t">
              <a:spAutoFit/>
            </a:bodyPr>
            <a:lstStyle/>
            <a:p>
              <a:pPr algn="ctr">
                <a:lnSpc>
                  <a:spcPts val="2800"/>
                </a:lnSpc>
              </a:pPr>
              <a:r>
                <a:rPr lang="en-US" sz="2000" dirty="0">
                  <a:solidFill>
                    <a:srgbClr val="FFFFFF"/>
                  </a:solidFill>
                  <a:latin typeface="Public Sans"/>
                </a:rPr>
                <a:t> Write the specified number of '1's (in this case, three '1's) followed by a single '0' to represent the end of the number. The unary code for "3" is "1110."</a:t>
              </a:r>
            </a:p>
          </p:txBody>
        </p:sp>
        <p:sp>
          <p:nvSpPr>
            <p:cNvPr id="12" name="TextBox 12"/>
            <p:cNvSpPr txBox="1"/>
            <p:nvPr/>
          </p:nvSpPr>
          <p:spPr>
            <a:xfrm>
              <a:off x="0" y="-66675"/>
              <a:ext cx="4958386" cy="1362075"/>
            </a:xfrm>
            <a:prstGeom prst="rect">
              <a:avLst/>
            </a:prstGeom>
          </p:spPr>
          <p:txBody>
            <a:bodyPr lIns="0" tIns="0" rIns="0" bIns="0" rtlCol="0" anchor="t">
              <a:spAutoFit/>
            </a:bodyPr>
            <a:lstStyle/>
            <a:p>
              <a:pPr marL="0" lvl="0" indent="0" algn="ctr">
                <a:lnSpc>
                  <a:spcPts val="3840"/>
                </a:lnSpc>
              </a:pPr>
              <a:r>
                <a:rPr lang="en-US" sz="3200" dirty="0">
                  <a:solidFill>
                    <a:srgbClr val="FFFFFF"/>
                  </a:solidFill>
                  <a:latin typeface="Retropix"/>
                </a:rPr>
                <a:t>Generate Unary Code</a:t>
              </a:r>
            </a:p>
          </p:txBody>
        </p:sp>
      </p:grpSp>
      <p:grpSp>
        <p:nvGrpSpPr>
          <p:cNvPr id="13" name="Group 13"/>
          <p:cNvGrpSpPr/>
          <p:nvPr/>
        </p:nvGrpSpPr>
        <p:grpSpPr>
          <a:xfrm>
            <a:off x="0" y="9052698"/>
            <a:ext cx="18288000" cy="1234302"/>
            <a:chOff x="0" y="0"/>
            <a:chExt cx="4816593" cy="325084"/>
          </a:xfrm>
        </p:grpSpPr>
        <p:sp>
          <p:nvSpPr>
            <p:cNvPr id="14" name="Freeform 14"/>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15" name="TextBox 15"/>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16" name="Group 16"/>
          <p:cNvGrpSpPr/>
          <p:nvPr/>
        </p:nvGrpSpPr>
        <p:grpSpPr>
          <a:xfrm>
            <a:off x="237414" y="9267586"/>
            <a:ext cx="804526" cy="804526"/>
            <a:chOff x="0" y="0"/>
            <a:chExt cx="1072702" cy="1072702"/>
          </a:xfrm>
        </p:grpSpPr>
        <p:sp>
          <p:nvSpPr>
            <p:cNvPr id="17" name="Freeform 17"/>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19" name="Freeform 19"/>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Freeform 20"/>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1" name="Freeform 21"/>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2" name="Freeform 22"/>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3" name="Freeform 23"/>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16736" y="-5817236"/>
            <a:ext cx="21921472" cy="21921472"/>
          </a:xfrm>
          <a:custGeom>
            <a:avLst/>
            <a:gdLst/>
            <a:ahLst/>
            <a:cxnLst/>
            <a:rect l="l" t="t" r="r" b="b"/>
            <a:pathLst>
              <a:path w="21921472" h="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036596" y="1839339"/>
            <a:ext cx="14235927" cy="6629441"/>
            <a:chOff x="0" y="0"/>
            <a:chExt cx="3749380" cy="1746026"/>
          </a:xfrm>
        </p:grpSpPr>
        <p:sp>
          <p:nvSpPr>
            <p:cNvPr id="4" name="Freeform 4"/>
            <p:cNvSpPr/>
            <p:nvPr/>
          </p:nvSpPr>
          <p:spPr>
            <a:xfrm>
              <a:off x="0" y="0"/>
              <a:ext cx="3749380" cy="1746026"/>
            </a:xfrm>
            <a:custGeom>
              <a:avLst/>
              <a:gdLst/>
              <a:ahLst/>
              <a:cxnLst/>
              <a:rect l="l" t="t" r="r" b="b"/>
              <a:pathLst>
                <a:path w="3749380" h="1746026">
                  <a:moveTo>
                    <a:pt x="0" y="0"/>
                  </a:moveTo>
                  <a:lnTo>
                    <a:pt x="3749380" y="0"/>
                  </a:lnTo>
                  <a:lnTo>
                    <a:pt x="3749380" y="1746026"/>
                  </a:lnTo>
                  <a:lnTo>
                    <a:pt x="0" y="1746026"/>
                  </a:lnTo>
                  <a:close/>
                </a:path>
              </a:pathLst>
            </a:custGeom>
            <a:solidFill>
              <a:srgbClr val="FEFF99"/>
            </a:solidFill>
            <a:ln w="95250" cap="sq">
              <a:solidFill>
                <a:srgbClr val="CCCCCC"/>
              </a:solidFill>
              <a:prstDash val="sysDot"/>
              <a:miter/>
            </a:ln>
          </p:spPr>
        </p:sp>
        <p:sp>
          <p:nvSpPr>
            <p:cNvPr id="5" name="TextBox 5"/>
            <p:cNvSpPr txBox="1"/>
            <p:nvPr/>
          </p:nvSpPr>
          <p:spPr>
            <a:xfrm>
              <a:off x="0" y="-38100"/>
              <a:ext cx="3749380" cy="1784126"/>
            </a:xfrm>
            <a:prstGeom prst="rect">
              <a:avLst/>
            </a:prstGeom>
          </p:spPr>
          <p:txBody>
            <a:bodyPr lIns="50800" tIns="50800" rIns="50800" bIns="50800" rtlCol="0" anchor="ctr"/>
            <a:lstStyle/>
            <a:p>
              <a:pPr algn="ctr">
                <a:lnSpc>
                  <a:spcPts val="2100"/>
                </a:lnSpc>
              </a:pPr>
              <a:endParaRPr/>
            </a:p>
          </p:txBody>
        </p:sp>
      </p:grpSp>
      <p:grpSp>
        <p:nvGrpSpPr>
          <p:cNvPr id="6" name="Group 6"/>
          <p:cNvGrpSpPr/>
          <p:nvPr/>
        </p:nvGrpSpPr>
        <p:grpSpPr>
          <a:xfrm>
            <a:off x="-1301375" y="0"/>
            <a:ext cx="20890750" cy="795781"/>
            <a:chOff x="0" y="0"/>
            <a:chExt cx="27854334" cy="1061041"/>
          </a:xfrm>
        </p:grpSpPr>
        <p:grpSp>
          <p:nvGrpSpPr>
            <p:cNvPr id="7" name="Group 7"/>
            <p:cNvGrpSpPr/>
            <p:nvPr/>
          </p:nvGrpSpPr>
          <p:grpSpPr>
            <a:xfrm>
              <a:off x="0" y="0"/>
              <a:ext cx="27854334" cy="1061041"/>
              <a:chOff x="0" y="0"/>
              <a:chExt cx="5502091" cy="209588"/>
            </a:xfrm>
          </p:grpSpPr>
          <p:sp>
            <p:nvSpPr>
              <p:cNvPr id="8" name="Freeform 8"/>
              <p:cNvSpPr/>
              <p:nvPr/>
            </p:nvSpPr>
            <p:spPr>
              <a:xfrm>
                <a:off x="0" y="0"/>
                <a:ext cx="5502091" cy="209588"/>
              </a:xfrm>
              <a:custGeom>
                <a:avLst/>
                <a:gdLst/>
                <a:ahLst/>
                <a:cxnLst/>
                <a:rect l="l" t="t" r="r" b="b"/>
                <a:pathLst>
                  <a:path w="5502091" h="209588">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id="9" name="TextBox 9"/>
              <p:cNvSpPr txBox="1"/>
              <p:nvPr/>
            </p:nvSpPr>
            <p:spPr>
              <a:xfrm>
                <a:off x="0" y="-47625"/>
                <a:ext cx="5502091" cy="257213"/>
              </a:xfrm>
              <a:prstGeom prst="rect">
                <a:avLst/>
              </a:prstGeom>
            </p:spPr>
            <p:txBody>
              <a:bodyPr lIns="254000" tIns="254000" rIns="254000" bIns="254000" rtlCol="0" anchor="ctr"/>
              <a:lstStyle/>
              <a:p>
                <a:pPr>
                  <a:lnSpc>
                    <a:spcPts val="3499"/>
                  </a:lnSpc>
                </a:pPr>
                <a:endParaRPr/>
              </a:p>
            </p:txBody>
          </p:sp>
        </p:grpSp>
        <p:sp>
          <p:nvSpPr>
            <p:cNvPr id="10" name="TextBox 10"/>
            <p:cNvSpPr txBox="1"/>
            <p:nvPr/>
          </p:nvSpPr>
          <p:spPr>
            <a:xfrm>
              <a:off x="439275" y="269112"/>
              <a:ext cx="26975784" cy="513292"/>
            </a:xfrm>
            <a:prstGeom prst="rect">
              <a:avLst/>
            </a:prstGeom>
          </p:spPr>
          <p:txBody>
            <a:bodyPr lIns="0" tIns="0" rIns="0" bIns="0" rtlCol="0" anchor="t">
              <a:spAutoFit/>
            </a:bodyPr>
            <a:lstStyle/>
            <a:p>
              <a:pPr algn="ctr">
                <a:lnSpc>
                  <a:spcPts val="2499"/>
                </a:lnSpc>
              </a:pPr>
              <a:r>
                <a:rPr lang="en-US" sz="2499">
                  <a:solidFill>
                    <a:srgbClr val="FFFFFF"/>
                  </a:solidFill>
                  <a:latin typeface="Retropix"/>
                </a:rPr>
                <a:t>Let's Dive into the World of Unary Code!</a:t>
              </a:r>
            </a:p>
          </p:txBody>
        </p:sp>
      </p:grpSp>
      <p:grpSp>
        <p:nvGrpSpPr>
          <p:cNvPr id="11" name="Group 11"/>
          <p:cNvGrpSpPr/>
          <p:nvPr/>
        </p:nvGrpSpPr>
        <p:grpSpPr>
          <a:xfrm>
            <a:off x="-1301375" y="9491219"/>
            <a:ext cx="20890750" cy="795781"/>
            <a:chOff x="0" y="0"/>
            <a:chExt cx="5502091" cy="209588"/>
          </a:xfrm>
        </p:grpSpPr>
        <p:sp>
          <p:nvSpPr>
            <p:cNvPr id="12" name="Freeform 12"/>
            <p:cNvSpPr/>
            <p:nvPr/>
          </p:nvSpPr>
          <p:spPr>
            <a:xfrm>
              <a:off x="0" y="0"/>
              <a:ext cx="5502091" cy="209588"/>
            </a:xfrm>
            <a:custGeom>
              <a:avLst/>
              <a:gdLst/>
              <a:ahLst/>
              <a:cxnLst/>
              <a:rect l="l" t="t" r="r" b="b"/>
              <a:pathLst>
                <a:path w="5502091" h="209588">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id="13" name="TextBox 13"/>
            <p:cNvSpPr txBox="1"/>
            <p:nvPr/>
          </p:nvSpPr>
          <p:spPr>
            <a:xfrm>
              <a:off x="0" y="-47625"/>
              <a:ext cx="5502091" cy="257213"/>
            </a:xfrm>
            <a:prstGeom prst="rect">
              <a:avLst/>
            </a:prstGeom>
          </p:spPr>
          <p:txBody>
            <a:bodyPr lIns="254000" tIns="254000" rIns="254000" bIns="254000" rtlCol="0" anchor="ctr"/>
            <a:lstStyle/>
            <a:p>
              <a:pPr>
                <a:lnSpc>
                  <a:spcPts val="3499"/>
                </a:lnSpc>
              </a:pPr>
              <a:endParaRPr/>
            </a:p>
          </p:txBody>
        </p:sp>
      </p:grpSp>
      <p:grpSp>
        <p:nvGrpSpPr>
          <p:cNvPr id="14" name="Group 14"/>
          <p:cNvGrpSpPr/>
          <p:nvPr/>
        </p:nvGrpSpPr>
        <p:grpSpPr>
          <a:xfrm>
            <a:off x="807747" y="7165798"/>
            <a:ext cx="2801811" cy="712035"/>
            <a:chOff x="0" y="0"/>
            <a:chExt cx="737925" cy="187532"/>
          </a:xfrm>
        </p:grpSpPr>
        <p:sp>
          <p:nvSpPr>
            <p:cNvPr id="15" name="Freeform 15"/>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id="16" name="TextBox 16"/>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hlinkClick r:id="rId4" action="ppaction://hlinksldjump"/>
                </a:rPr>
                <a:t>Ke Halaman Agenda</a:t>
              </a:r>
            </a:p>
          </p:txBody>
        </p:sp>
      </p:grpSp>
      <p:grpSp>
        <p:nvGrpSpPr>
          <p:cNvPr id="17" name="Group 17"/>
          <p:cNvGrpSpPr/>
          <p:nvPr/>
        </p:nvGrpSpPr>
        <p:grpSpPr>
          <a:xfrm>
            <a:off x="15600318" y="4759728"/>
            <a:ext cx="1658982" cy="4147456"/>
            <a:chOff x="0" y="0"/>
            <a:chExt cx="2211976" cy="5529941"/>
          </a:xfrm>
        </p:grpSpPr>
        <p:sp>
          <p:nvSpPr>
            <p:cNvPr id="18" name="Freeform 18"/>
            <p:cNvSpPr/>
            <p:nvPr/>
          </p:nvSpPr>
          <p:spPr>
            <a:xfrm>
              <a:off x="0"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9"/>
            <p:cNvSpPr/>
            <p:nvPr/>
          </p:nvSpPr>
          <p:spPr>
            <a:xfrm>
              <a:off x="1105988"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20"/>
            <p:cNvSpPr/>
            <p:nvPr/>
          </p:nvSpPr>
          <p:spPr>
            <a:xfrm>
              <a:off x="0"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1" name="Freeform 21"/>
            <p:cNvSpPr/>
            <p:nvPr/>
          </p:nvSpPr>
          <p:spPr>
            <a:xfrm>
              <a:off x="1105988"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2" name="Freeform 22"/>
            <p:cNvSpPr/>
            <p:nvPr/>
          </p:nvSpPr>
          <p:spPr>
            <a:xfrm>
              <a:off x="0"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3" name="Freeform 23"/>
            <p:cNvSpPr/>
            <p:nvPr/>
          </p:nvSpPr>
          <p:spPr>
            <a:xfrm>
              <a:off x="1105988"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4" name="Freeform 24"/>
            <p:cNvSpPr/>
            <p:nvPr/>
          </p:nvSpPr>
          <p:spPr>
            <a:xfrm>
              <a:off x="0"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5" name="Freeform 25"/>
            <p:cNvSpPr/>
            <p:nvPr/>
          </p:nvSpPr>
          <p:spPr>
            <a:xfrm>
              <a:off x="1105988"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26" name="Freeform 26"/>
            <p:cNvSpPr/>
            <p:nvPr/>
          </p:nvSpPr>
          <p:spPr>
            <a:xfrm>
              <a:off x="0"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7" name="Freeform 27"/>
            <p:cNvSpPr/>
            <p:nvPr/>
          </p:nvSpPr>
          <p:spPr>
            <a:xfrm>
              <a:off x="1105988"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8" name="Freeform 28"/>
            <p:cNvSpPr/>
            <p:nvPr/>
          </p:nvSpPr>
          <p:spPr>
            <a:xfrm>
              <a:off x="1284474" y="4613333"/>
              <a:ext cx="749016" cy="727227"/>
            </a:xfrm>
            <a:custGeom>
              <a:avLst/>
              <a:gdLst/>
              <a:ahLst/>
              <a:cxnLst/>
              <a:rect l="l" t="t" r="r" b="b"/>
              <a:pathLst>
                <a:path w="749016" h="727227">
                  <a:moveTo>
                    <a:pt x="0" y="0"/>
                  </a:moveTo>
                  <a:lnTo>
                    <a:pt x="749016" y="0"/>
                  </a:lnTo>
                  <a:lnTo>
                    <a:pt x="749016" y="727227"/>
                  </a:lnTo>
                  <a:lnTo>
                    <a:pt x="0" y="72722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grpSp>
      <p:sp>
        <p:nvSpPr>
          <p:cNvPr id="29" name="Freeform 29"/>
          <p:cNvSpPr/>
          <p:nvPr/>
        </p:nvSpPr>
        <p:spPr>
          <a:xfrm rot="3207690">
            <a:off x="6778520" y="8056080"/>
            <a:ext cx="484735" cy="825401"/>
          </a:xfrm>
          <a:custGeom>
            <a:avLst/>
            <a:gdLst/>
            <a:ahLst/>
            <a:cxnLst/>
            <a:rect l="l" t="t" r="r" b="b"/>
            <a:pathLst>
              <a:path w="484735" h="825401">
                <a:moveTo>
                  <a:pt x="0" y="0"/>
                </a:moveTo>
                <a:lnTo>
                  <a:pt x="484735" y="0"/>
                </a:lnTo>
                <a:lnTo>
                  <a:pt x="484735" y="825401"/>
                </a:lnTo>
                <a:lnTo>
                  <a:pt x="0" y="825401"/>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30" name="Freeform 30"/>
          <p:cNvSpPr/>
          <p:nvPr/>
        </p:nvSpPr>
        <p:spPr>
          <a:xfrm>
            <a:off x="15235587" y="4383955"/>
            <a:ext cx="635693" cy="654740"/>
          </a:xfrm>
          <a:custGeom>
            <a:avLst/>
            <a:gdLst/>
            <a:ahLst/>
            <a:cxnLst/>
            <a:rect l="l" t="t" r="r" b="b"/>
            <a:pathLst>
              <a:path w="635693" h="654740">
                <a:moveTo>
                  <a:pt x="0" y="0"/>
                </a:moveTo>
                <a:lnTo>
                  <a:pt x="635692" y="0"/>
                </a:lnTo>
                <a:lnTo>
                  <a:pt x="635692" y="654740"/>
                </a:lnTo>
                <a:lnTo>
                  <a:pt x="0" y="654740"/>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31" name="Freeform 31"/>
          <p:cNvSpPr/>
          <p:nvPr/>
        </p:nvSpPr>
        <p:spPr>
          <a:xfrm>
            <a:off x="2474728" y="2252104"/>
            <a:ext cx="798979" cy="798979"/>
          </a:xfrm>
          <a:custGeom>
            <a:avLst/>
            <a:gdLst/>
            <a:ahLst/>
            <a:cxnLst/>
            <a:rect l="l" t="t" r="r" b="b"/>
            <a:pathLst>
              <a:path w="798979" h="798979">
                <a:moveTo>
                  <a:pt x="0" y="0"/>
                </a:moveTo>
                <a:lnTo>
                  <a:pt x="798979" y="0"/>
                </a:lnTo>
                <a:lnTo>
                  <a:pt x="798979" y="798979"/>
                </a:lnTo>
                <a:lnTo>
                  <a:pt x="0" y="798979"/>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32" name="TextBox 32"/>
          <p:cNvSpPr txBox="1"/>
          <p:nvPr/>
        </p:nvSpPr>
        <p:spPr>
          <a:xfrm>
            <a:off x="5023547" y="4448175"/>
            <a:ext cx="8240907" cy="1381125"/>
          </a:xfrm>
          <a:prstGeom prst="rect">
            <a:avLst/>
          </a:prstGeom>
        </p:spPr>
        <p:txBody>
          <a:bodyPr lIns="0" tIns="0" rIns="0" bIns="0" rtlCol="0" anchor="t">
            <a:spAutoFit/>
          </a:bodyPr>
          <a:lstStyle/>
          <a:p>
            <a:pPr algn="ctr">
              <a:lnSpc>
                <a:spcPts val="8999"/>
              </a:lnSpc>
            </a:pPr>
            <a:r>
              <a:rPr lang="en-US" sz="8999">
                <a:solidFill>
                  <a:srgbClr val="000000"/>
                </a:solidFill>
                <a:latin typeface="Retropix"/>
              </a:rPr>
              <a:t>Decode</a:t>
            </a:r>
          </a:p>
        </p:txBody>
      </p:sp>
      <p:sp>
        <p:nvSpPr>
          <p:cNvPr id="33" name="Freeform 33"/>
          <p:cNvSpPr/>
          <p:nvPr/>
        </p:nvSpPr>
        <p:spPr>
          <a:xfrm>
            <a:off x="13344126" y="2353235"/>
            <a:ext cx="2527153" cy="473267"/>
          </a:xfrm>
          <a:custGeom>
            <a:avLst/>
            <a:gdLst/>
            <a:ahLst/>
            <a:cxnLst/>
            <a:rect l="l" t="t" r="r" b="b"/>
            <a:pathLst>
              <a:path w="2527153" h="473267">
                <a:moveTo>
                  <a:pt x="0" y="0"/>
                </a:moveTo>
                <a:lnTo>
                  <a:pt x="2527153" y="0"/>
                </a:lnTo>
                <a:lnTo>
                  <a:pt x="2527153" y="473266"/>
                </a:lnTo>
                <a:lnTo>
                  <a:pt x="0" y="473266"/>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16285215" y="1187704"/>
            <a:ext cx="974085" cy="745618"/>
          </a:xfrm>
          <a:custGeom>
            <a:avLst/>
            <a:gdLst/>
            <a:ahLst/>
            <a:cxnLst/>
            <a:rect l="l" t="t" r="r" b="b"/>
            <a:pathLst>
              <a:path w="974085" h="745618">
                <a:moveTo>
                  <a:pt x="0" y="0"/>
                </a:moveTo>
                <a:lnTo>
                  <a:pt x="974085" y="0"/>
                </a:lnTo>
                <a:lnTo>
                  <a:pt x="974085" y="745617"/>
                </a:lnTo>
                <a:lnTo>
                  <a:pt x="0" y="745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1019175"/>
            <a:ext cx="12105305" cy="1073150"/>
          </a:xfrm>
          <a:prstGeom prst="rect">
            <a:avLst/>
          </a:prstGeom>
        </p:spPr>
        <p:txBody>
          <a:bodyPr lIns="0" tIns="0" rIns="0" bIns="0" rtlCol="0" anchor="t">
            <a:spAutoFit/>
          </a:bodyPr>
          <a:lstStyle/>
          <a:p>
            <a:pPr>
              <a:lnSpc>
                <a:spcPts val="6999"/>
              </a:lnSpc>
            </a:pPr>
            <a:r>
              <a:rPr lang="en-US" sz="6999">
                <a:solidFill>
                  <a:srgbClr val="FFFFFF"/>
                </a:solidFill>
                <a:latin typeface="Retropix"/>
              </a:rPr>
              <a:t>Decode</a:t>
            </a:r>
          </a:p>
        </p:txBody>
      </p:sp>
      <p:grpSp>
        <p:nvGrpSpPr>
          <p:cNvPr id="4" name="Group 4"/>
          <p:cNvGrpSpPr/>
          <p:nvPr/>
        </p:nvGrpSpPr>
        <p:grpSpPr>
          <a:xfrm>
            <a:off x="445333" y="3346833"/>
            <a:ext cx="3857003" cy="2258339"/>
            <a:chOff x="0" y="0"/>
            <a:chExt cx="5142670" cy="3011119"/>
          </a:xfrm>
        </p:grpSpPr>
        <p:sp>
          <p:nvSpPr>
            <p:cNvPr id="5" name="TextBox 5"/>
            <p:cNvSpPr txBox="1"/>
            <p:nvPr/>
          </p:nvSpPr>
          <p:spPr>
            <a:xfrm>
              <a:off x="0" y="1612002"/>
              <a:ext cx="5142670" cy="1399116"/>
            </a:xfrm>
            <a:prstGeom prst="rect">
              <a:avLst/>
            </a:prstGeom>
          </p:spPr>
          <p:txBody>
            <a:bodyPr lIns="0" tIns="0" rIns="0" bIns="0" rtlCol="0" anchor="t">
              <a:spAutoFit/>
            </a:bodyPr>
            <a:lstStyle/>
            <a:p>
              <a:pPr algn="ctr">
                <a:lnSpc>
                  <a:spcPts val="2800"/>
                </a:lnSpc>
              </a:pPr>
              <a:r>
                <a:rPr lang="en-US" sz="2000" dirty="0">
                  <a:solidFill>
                    <a:srgbClr val="FFFFFF"/>
                  </a:solidFill>
                  <a:latin typeface="Public Sans"/>
                </a:rPr>
                <a:t>Begin with the unary code you want to decode. Let's say you have the unary code "1110."</a:t>
              </a:r>
            </a:p>
          </p:txBody>
        </p:sp>
        <p:sp>
          <p:nvSpPr>
            <p:cNvPr id="6" name="TextBox 6"/>
            <p:cNvSpPr txBox="1"/>
            <p:nvPr/>
          </p:nvSpPr>
          <p:spPr>
            <a:xfrm>
              <a:off x="0" y="-66675"/>
              <a:ext cx="4958386" cy="1362075"/>
            </a:xfrm>
            <a:prstGeom prst="rect">
              <a:avLst/>
            </a:prstGeom>
          </p:spPr>
          <p:txBody>
            <a:bodyPr lIns="0" tIns="0" rIns="0" bIns="0" rtlCol="0" anchor="t">
              <a:spAutoFit/>
            </a:bodyPr>
            <a:lstStyle/>
            <a:p>
              <a:pPr marL="0" lvl="0" indent="0" algn="ctr">
                <a:lnSpc>
                  <a:spcPts val="3840"/>
                </a:lnSpc>
              </a:pPr>
              <a:r>
                <a:rPr lang="en-US" sz="3200" dirty="0">
                  <a:solidFill>
                    <a:srgbClr val="FFFFFF"/>
                  </a:solidFill>
                  <a:latin typeface="Retropix"/>
                </a:rPr>
                <a:t>Start with the Unary Code</a:t>
              </a:r>
            </a:p>
          </p:txBody>
        </p:sp>
      </p:grpSp>
      <p:grpSp>
        <p:nvGrpSpPr>
          <p:cNvPr id="7" name="Group 7"/>
          <p:cNvGrpSpPr/>
          <p:nvPr/>
        </p:nvGrpSpPr>
        <p:grpSpPr>
          <a:xfrm>
            <a:off x="4877084" y="3346833"/>
            <a:ext cx="3857003" cy="1905914"/>
            <a:chOff x="0" y="0"/>
            <a:chExt cx="5142670" cy="2541219"/>
          </a:xfrm>
        </p:grpSpPr>
        <p:sp>
          <p:nvSpPr>
            <p:cNvPr id="8" name="TextBox 8"/>
            <p:cNvSpPr txBox="1"/>
            <p:nvPr/>
          </p:nvSpPr>
          <p:spPr>
            <a:xfrm>
              <a:off x="0" y="1612002"/>
              <a:ext cx="5142670" cy="929216"/>
            </a:xfrm>
            <a:prstGeom prst="rect">
              <a:avLst/>
            </a:prstGeom>
          </p:spPr>
          <p:txBody>
            <a:bodyPr lIns="0" tIns="0" rIns="0" bIns="0" rtlCol="0" anchor="t">
              <a:spAutoFit/>
            </a:bodyPr>
            <a:lstStyle/>
            <a:p>
              <a:pPr algn="ctr">
                <a:lnSpc>
                  <a:spcPts val="2800"/>
                </a:lnSpc>
              </a:pPr>
              <a:r>
                <a:rPr lang="en-US" sz="2000" dirty="0">
                  <a:solidFill>
                    <a:srgbClr val="FFFFFF"/>
                  </a:solidFill>
                  <a:latin typeface="Public Sans"/>
                </a:rPr>
                <a:t>Start from the leftmost digit and move to the right.</a:t>
              </a:r>
            </a:p>
          </p:txBody>
        </p:sp>
        <p:sp>
          <p:nvSpPr>
            <p:cNvPr id="9" name="TextBox 9"/>
            <p:cNvSpPr txBox="1"/>
            <p:nvPr/>
          </p:nvSpPr>
          <p:spPr>
            <a:xfrm>
              <a:off x="0" y="-66675"/>
              <a:ext cx="4958386" cy="1362075"/>
            </a:xfrm>
            <a:prstGeom prst="rect">
              <a:avLst/>
            </a:prstGeom>
          </p:spPr>
          <p:txBody>
            <a:bodyPr lIns="0" tIns="0" rIns="0" bIns="0" rtlCol="0" anchor="t">
              <a:spAutoFit/>
            </a:bodyPr>
            <a:lstStyle/>
            <a:p>
              <a:pPr marL="0" lvl="0" indent="0" algn="ctr">
                <a:lnSpc>
                  <a:spcPts val="3840"/>
                </a:lnSpc>
              </a:pPr>
              <a:r>
                <a:rPr lang="en-US" sz="3200" dirty="0">
                  <a:solidFill>
                    <a:srgbClr val="FFFFFF"/>
                  </a:solidFill>
                  <a:latin typeface="Retropix"/>
                </a:rPr>
                <a:t>Read the Code from Left to Right</a:t>
              </a:r>
            </a:p>
          </p:txBody>
        </p:sp>
      </p:grpSp>
      <p:grpSp>
        <p:nvGrpSpPr>
          <p:cNvPr id="10" name="Group 10"/>
          <p:cNvGrpSpPr/>
          <p:nvPr/>
        </p:nvGrpSpPr>
        <p:grpSpPr>
          <a:xfrm>
            <a:off x="9431374" y="3346833"/>
            <a:ext cx="3857003" cy="2258339"/>
            <a:chOff x="0" y="0"/>
            <a:chExt cx="5142670" cy="3011119"/>
          </a:xfrm>
        </p:grpSpPr>
        <p:sp>
          <p:nvSpPr>
            <p:cNvPr id="11" name="TextBox 11"/>
            <p:cNvSpPr txBox="1"/>
            <p:nvPr/>
          </p:nvSpPr>
          <p:spPr>
            <a:xfrm>
              <a:off x="0" y="1612002"/>
              <a:ext cx="5142670" cy="1399116"/>
            </a:xfrm>
            <a:prstGeom prst="rect">
              <a:avLst/>
            </a:prstGeom>
          </p:spPr>
          <p:txBody>
            <a:bodyPr lIns="0" tIns="0" rIns="0" bIns="0" rtlCol="0" anchor="t">
              <a:spAutoFit/>
            </a:bodyPr>
            <a:lstStyle/>
            <a:p>
              <a:pPr algn="ctr">
                <a:lnSpc>
                  <a:spcPts val="2800"/>
                </a:lnSpc>
              </a:pPr>
              <a:r>
                <a:rPr lang="en-US" sz="2000" dirty="0">
                  <a:solidFill>
                    <a:srgbClr val="FFFFFF"/>
                  </a:solidFill>
                  <a:latin typeface="Public Sans"/>
                </a:rPr>
                <a:t> Count the consecutive '1's until you encounter a '0.' In this case, you count three '1's.</a:t>
              </a:r>
            </a:p>
          </p:txBody>
        </p:sp>
        <p:sp>
          <p:nvSpPr>
            <p:cNvPr id="12" name="TextBox 12"/>
            <p:cNvSpPr txBox="1"/>
            <p:nvPr/>
          </p:nvSpPr>
          <p:spPr>
            <a:xfrm>
              <a:off x="0" y="-66675"/>
              <a:ext cx="4958386" cy="1362075"/>
            </a:xfrm>
            <a:prstGeom prst="rect">
              <a:avLst/>
            </a:prstGeom>
          </p:spPr>
          <p:txBody>
            <a:bodyPr lIns="0" tIns="0" rIns="0" bIns="0" rtlCol="0" anchor="t">
              <a:spAutoFit/>
            </a:bodyPr>
            <a:lstStyle/>
            <a:p>
              <a:pPr marL="0" lvl="0" indent="0" algn="ctr">
                <a:lnSpc>
                  <a:spcPts val="3840"/>
                </a:lnSpc>
              </a:pPr>
              <a:r>
                <a:rPr lang="en-US" sz="3200" dirty="0">
                  <a:solidFill>
                    <a:srgbClr val="FFFFFF"/>
                  </a:solidFill>
                  <a:latin typeface="Retropix"/>
                </a:rPr>
                <a:t>Count Consecutive '1's</a:t>
              </a:r>
            </a:p>
          </p:txBody>
        </p:sp>
      </p:grpSp>
      <p:grpSp>
        <p:nvGrpSpPr>
          <p:cNvPr id="13" name="Group 13"/>
          <p:cNvGrpSpPr/>
          <p:nvPr/>
        </p:nvGrpSpPr>
        <p:grpSpPr>
          <a:xfrm>
            <a:off x="0" y="9052698"/>
            <a:ext cx="18288000" cy="1234302"/>
            <a:chOff x="0" y="0"/>
            <a:chExt cx="4816593" cy="325084"/>
          </a:xfrm>
        </p:grpSpPr>
        <p:sp>
          <p:nvSpPr>
            <p:cNvPr id="14" name="Freeform 14"/>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15" name="TextBox 15"/>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16" name="Group 16"/>
          <p:cNvGrpSpPr/>
          <p:nvPr/>
        </p:nvGrpSpPr>
        <p:grpSpPr>
          <a:xfrm>
            <a:off x="237414" y="9267586"/>
            <a:ext cx="804526" cy="804526"/>
            <a:chOff x="0" y="0"/>
            <a:chExt cx="1072702" cy="1072702"/>
          </a:xfrm>
        </p:grpSpPr>
        <p:sp>
          <p:nvSpPr>
            <p:cNvPr id="17" name="Freeform 17"/>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19" name="Freeform 19"/>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Freeform 20"/>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1" name="Freeform 21"/>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2" name="Freeform 22"/>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3" name="Freeform 23"/>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nvGrpSpPr>
          <p:cNvPr id="24" name="Group 24"/>
          <p:cNvGrpSpPr/>
          <p:nvPr/>
        </p:nvGrpSpPr>
        <p:grpSpPr>
          <a:xfrm>
            <a:off x="15109868" y="9297158"/>
            <a:ext cx="2801811" cy="712035"/>
            <a:chOff x="0" y="0"/>
            <a:chExt cx="737925" cy="187532"/>
          </a:xfrm>
        </p:grpSpPr>
        <p:sp>
          <p:nvSpPr>
            <p:cNvPr id="25" name="Freeform 25"/>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id="26" name="TextBox 26"/>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hlinkClick r:id="rId18" action="ppaction://hlinksldjump"/>
                </a:rPr>
                <a:t>Ke Halaman Agenda</a:t>
              </a:r>
            </a:p>
          </p:txBody>
        </p:sp>
      </p:grpSp>
      <p:grpSp>
        <p:nvGrpSpPr>
          <p:cNvPr id="27" name="Group 27"/>
          <p:cNvGrpSpPr/>
          <p:nvPr/>
        </p:nvGrpSpPr>
        <p:grpSpPr>
          <a:xfrm>
            <a:off x="13859877" y="3346833"/>
            <a:ext cx="3857003" cy="2829839"/>
            <a:chOff x="0" y="0"/>
            <a:chExt cx="5142670" cy="3773119"/>
          </a:xfrm>
        </p:grpSpPr>
        <p:sp>
          <p:nvSpPr>
            <p:cNvPr id="28" name="TextBox 28"/>
            <p:cNvSpPr txBox="1"/>
            <p:nvPr/>
          </p:nvSpPr>
          <p:spPr>
            <a:xfrm>
              <a:off x="0" y="964302"/>
              <a:ext cx="5142670" cy="2808816"/>
            </a:xfrm>
            <a:prstGeom prst="rect">
              <a:avLst/>
            </a:prstGeom>
          </p:spPr>
          <p:txBody>
            <a:bodyPr lIns="0" tIns="0" rIns="0" bIns="0" rtlCol="0" anchor="t">
              <a:spAutoFit/>
            </a:bodyPr>
            <a:lstStyle/>
            <a:p>
              <a:pPr algn="ctr">
                <a:lnSpc>
                  <a:spcPts val="2800"/>
                </a:lnSpc>
              </a:pPr>
              <a:r>
                <a:rPr lang="en-US" sz="2000" dirty="0">
                  <a:solidFill>
                    <a:srgbClr val="FFFFFF"/>
                  </a:solidFill>
                  <a:latin typeface="Public Sans"/>
                </a:rPr>
                <a:t>When you reach a '0,' stop counting, and the counted number of '1's represents the value. In this case, you counted three '1's, so the decoded value is 3.</a:t>
              </a:r>
            </a:p>
          </p:txBody>
        </p:sp>
        <p:sp>
          <p:nvSpPr>
            <p:cNvPr id="29" name="TextBox 29"/>
            <p:cNvSpPr txBox="1"/>
            <p:nvPr/>
          </p:nvSpPr>
          <p:spPr>
            <a:xfrm>
              <a:off x="0" y="-66675"/>
              <a:ext cx="4958386" cy="714375"/>
            </a:xfrm>
            <a:prstGeom prst="rect">
              <a:avLst/>
            </a:prstGeom>
          </p:spPr>
          <p:txBody>
            <a:bodyPr lIns="0" tIns="0" rIns="0" bIns="0" rtlCol="0" anchor="t">
              <a:spAutoFit/>
            </a:bodyPr>
            <a:lstStyle/>
            <a:p>
              <a:pPr marL="0" lvl="0" indent="0" algn="ctr">
                <a:lnSpc>
                  <a:spcPts val="3840"/>
                </a:lnSpc>
              </a:pPr>
              <a:r>
                <a:rPr lang="en-US" sz="3200" dirty="0">
                  <a:solidFill>
                    <a:srgbClr val="FFFFFF"/>
                  </a:solidFill>
                  <a:latin typeface="Retropix"/>
                </a:rPr>
                <a:t>Stop at the '0'</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16736" y="-5817236"/>
            <a:ext cx="21921472" cy="21921472"/>
          </a:xfrm>
          <a:custGeom>
            <a:avLst/>
            <a:gdLst/>
            <a:ahLst/>
            <a:cxnLst/>
            <a:rect l="l" t="t" r="r" b="b"/>
            <a:pathLst>
              <a:path w="21921472" h="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036596" y="1839339"/>
            <a:ext cx="14235927" cy="6629441"/>
            <a:chOff x="0" y="0"/>
            <a:chExt cx="3749380" cy="1746026"/>
          </a:xfrm>
        </p:grpSpPr>
        <p:sp>
          <p:nvSpPr>
            <p:cNvPr id="4" name="Freeform 4"/>
            <p:cNvSpPr/>
            <p:nvPr/>
          </p:nvSpPr>
          <p:spPr>
            <a:xfrm>
              <a:off x="0" y="0"/>
              <a:ext cx="3749380" cy="1746026"/>
            </a:xfrm>
            <a:custGeom>
              <a:avLst/>
              <a:gdLst/>
              <a:ahLst/>
              <a:cxnLst/>
              <a:rect l="l" t="t" r="r" b="b"/>
              <a:pathLst>
                <a:path w="3749380" h="1746026">
                  <a:moveTo>
                    <a:pt x="0" y="0"/>
                  </a:moveTo>
                  <a:lnTo>
                    <a:pt x="3749380" y="0"/>
                  </a:lnTo>
                  <a:lnTo>
                    <a:pt x="3749380" y="1746026"/>
                  </a:lnTo>
                  <a:lnTo>
                    <a:pt x="0" y="1746026"/>
                  </a:lnTo>
                  <a:close/>
                </a:path>
              </a:pathLst>
            </a:custGeom>
            <a:solidFill>
              <a:srgbClr val="FEFF99"/>
            </a:solidFill>
            <a:ln w="95250" cap="sq">
              <a:solidFill>
                <a:srgbClr val="CCCCCC"/>
              </a:solidFill>
              <a:prstDash val="sysDot"/>
              <a:miter/>
            </a:ln>
          </p:spPr>
        </p:sp>
        <p:sp>
          <p:nvSpPr>
            <p:cNvPr id="5" name="TextBox 5"/>
            <p:cNvSpPr txBox="1"/>
            <p:nvPr/>
          </p:nvSpPr>
          <p:spPr>
            <a:xfrm>
              <a:off x="0" y="-38100"/>
              <a:ext cx="3749380" cy="1784126"/>
            </a:xfrm>
            <a:prstGeom prst="rect">
              <a:avLst/>
            </a:prstGeom>
          </p:spPr>
          <p:txBody>
            <a:bodyPr lIns="50800" tIns="50800" rIns="50800" bIns="50800" rtlCol="0" anchor="ctr"/>
            <a:lstStyle/>
            <a:p>
              <a:pPr algn="ctr">
                <a:lnSpc>
                  <a:spcPts val="2100"/>
                </a:lnSpc>
              </a:pPr>
              <a:endParaRPr/>
            </a:p>
          </p:txBody>
        </p:sp>
      </p:grpSp>
      <p:grpSp>
        <p:nvGrpSpPr>
          <p:cNvPr id="6" name="Group 6"/>
          <p:cNvGrpSpPr/>
          <p:nvPr/>
        </p:nvGrpSpPr>
        <p:grpSpPr>
          <a:xfrm>
            <a:off x="-1301375" y="0"/>
            <a:ext cx="20890750" cy="795781"/>
            <a:chOff x="0" y="0"/>
            <a:chExt cx="27854334" cy="1061041"/>
          </a:xfrm>
        </p:grpSpPr>
        <p:grpSp>
          <p:nvGrpSpPr>
            <p:cNvPr id="7" name="Group 7"/>
            <p:cNvGrpSpPr/>
            <p:nvPr/>
          </p:nvGrpSpPr>
          <p:grpSpPr>
            <a:xfrm>
              <a:off x="0" y="0"/>
              <a:ext cx="27854334" cy="1061041"/>
              <a:chOff x="0" y="0"/>
              <a:chExt cx="5502091" cy="209588"/>
            </a:xfrm>
          </p:grpSpPr>
          <p:sp>
            <p:nvSpPr>
              <p:cNvPr id="8" name="Freeform 8"/>
              <p:cNvSpPr/>
              <p:nvPr/>
            </p:nvSpPr>
            <p:spPr>
              <a:xfrm>
                <a:off x="0" y="0"/>
                <a:ext cx="5502091" cy="209588"/>
              </a:xfrm>
              <a:custGeom>
                <a:avLst/>
                <a:gdLst/>
                <a:ahLst/>
                <a:cxnLst/>
                <a:rect l="l" t="t" r="r" b="b"/>
                <a:pathLst>
                  <a:path w="5502091" h="209588">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id="9" name="TextBox 9"/>
              <p:cNvSpPr txBox="1"/>
              <p:nvPr/>
            </p:nvSpPr>
            <p:spPr>
              <a:xfrm>
                <a:off x="0" y="-47625"/>
                <a:ext cx="5502091" cy="257213"/>
              </a:xfrm>
              <a:prstGeom prst="rect">
                <a:avLst/>
              </a:prstGeom>
            </p:spPr>
            <p:txBody>
              <a:bodyPr lIns="254000" tIns="254000" rIns="254000" bIns="254000" rtlCol="0" anchor="ctr"/>
              <a:lstStyle/>
              <a:p>
                <a:pPr>
                  <a:lnSpc>
                    <a:spcPts val="3499"/>
                  </a:lnSpc>
                </a:pPr>
                <a:endParaRPr/>
              </a:p>
            </p:txBody>
          </p:sp>
        </p:grpSp>
        <p:sp>
          <p:nvSpPr>
            <p:cNvPr id="10" name="TextBox 10"/>
            <p:cNvSpPr txBox="1"/>
            <p:nvPr/>
          </p:nvSpPr>
          <p:spPr>
            <a:xfrm>
              <a:off x="439275" y="269112"/>
              <a:ext cx="26975784" cy="513292"/>
            </a:xfrm>
            <a:prstGeom prst="rect">
              <a:avLst/>
            </a:prstGeom>
          </p:spPr>
          <p:txBody>
            <a:bodyPr lIns="0" tIns="0" rIns="0" bIns="0" rtlCol="0" anchor="t">
              <a:spAutoFit/>
            </a:bodyPr>
            <a:lstStyle/>
            <a:p>
              <a:pPr algn="ctr">
                <a:lnSpc>
                  <a:spcPts val="2499"/>
                </a:lnSpc>
              </a:pPr>
              <a:r>
                <a:rPr lang="en-US" sz="2499">
                  <a:solidFill>
                    <a:srgbClr val="FFFFFF"/>
                  </a:solidFill>
                  <a:latin typeface="Retropix"/>
                </a:rPr>
                <a:t>Buckle up and let's dive into Unary Code!</a:t>
              </a:r>
            </a:p>
          </p:txBody>
        </p:sp>
      </p:grpSp>
      <p:sp>
        <p:nvSpPr>
          <p:cNvPr id="11" name="TextBox 11"/>
          <p:cNvSpPr txBox="1"/>
          <p:nvPr/>
        </p:nvSpPr>
        <p:spPr>
          <a:xfrm>
            <a:off x="-971919" y="9690672"/>
            <a:ext cx="20231838" cy="387350"/>
          </a:xfrm>
          <a:prstGeom prst="rect">
            <a:avLst/>
          </a:prstGeom>
        </p:spPr>
        <p:txBody>
          <a:bodyPr lIns="0" tIns="0" rIns="0" bIns="0" rtlCol="0" anchor="t">
            <a:spAutoFit/>
          </a:bodyPr>
          <a:lstStyle/>
          <a:p>
            <a:pPr algn="ctr">
              <a:lnSpc>
                <a:spcPts val="2499"/>
              </a:lnSpc>
            </a:pPr>
            <a:r>
              <a:rPr lang="en-US" sz="2499">
                <a:solidFill>
                  <a:srgbClr val="FFFFFF"/>
                </a:solidFill>
                <a:latin typeface="Retropix"/>
              </a:rPr>
              <a:t>Tajuk Bagian • Tajuk Bagian • Tajuk Bagian • Tajuk Bagian • Tajuk Bagian • Tajuk Bagian • Tajuk Bagian • Tajuk Bagian • Tajuk Bagian</a:t>
            </a:r>
          </a:p>
        </p:txBody>
      </p:sp>
      <p:grpSp>
        <p:nvGrpSpPr>
          <p:cNvPr id="12" name="Group 12"/>
          <p:cNvGrpSpPr/>
          <p:nvPr/>
        </p:nvGrpSpPr>
        <p:grpSpPr>
          <a:xfrm>
            <a:off x="807747" y="7165798"/>
            <a:ext cx="2801811" cy="712035"/>
            <a:chOff x="0" y="0"/>
            <a:chExt cx="737925" cy="187532"/>
          </a:xfrm>
        </p:grpSpPr>
        <p:sp>
          <p:nvSpPr>
            <p:cNvPr id="13" name="Freeform 13"/>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id="14" name="TextBox 14"/>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hlinkClick r:id="rId4" action="ppaction://hlinksldjump"/>
                </a:rPr>
                <a:t>Ke Halaman Agenda</a:t>
              </a:r>
            </a:p>
          </p:txBody>
        </p:sp>
      </p:grpSp>
      <p:grpSp>
        <p:nvGrpSpPr>
          <p:cNvPr id="15" name="Group 15"/>
          <p:cNvGrpSpPr/>
          <p:nvPr/>
        </p:nvGrpSpPr>
        <p:grpSpPr>
          <a:xfrm>
            <a:off x="15600318" y="4759728"/>
            <a:ext cx="1658982" cy="4147456"/>
            <a:chOff x="0" y="0"/>
            <a:chExt cx="2211976" cy="5529941"/>
          </a:xfrm>
        </p:grpSpPr>
        <p:sp>
          <p:nvSpPr>
            <p:cNvPr id="16" name="Freeform 16"/>
            <p:cNvSpPr/>
            <p:nvPr/>
          </p:nvSpPr>
          <p:spPr>
            <a:xfrm>
              <a:off x="0"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1105988"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0"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9" name="Freeform 19"/>
            <p:cNvSpPr/>
            <p:nvPr/>
          </p:nvSpPr>
          <p:spPr>
            <a:xfrm>
              <a:off x="1105988"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0" name="Freeform 20"/>
            <p:cNvSpPr/>
            <p:nvPr/>
          </p:nvSpPr>
          <p:spPr>
            <a:xfrm>
              <a:off x="0"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1" name="Freeform 21"/>
            <p:cNvSpPr/>
            <p:nvPr/>
          </p:nvSpPr>
          <p:spPr>
            <a:xfrm>
              <a:off x="1105988"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2" name="Freeform 22"/>
            <p:cNvSpPr/>
            <p:nvPr/>
          </p:nvSpPr>
          <p:spPr>
            <a:xfrm>
              <a:off x="0"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3" name="Freeform 23"/>
            <p:cNvSpPr/>
            <p:nvPr/>
          </p:nvSpPr>
          <p:spPr>
            <a:xfrm>
              <a:off x="1105988"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24" name="Freeform 24"/>
            <p:cNvSpPr/>
            <p:nvPr/>
          </p:nvSpPr>
          <p:spPr>
            <a:xfrm>
              <a:off x="0"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5" name="Freeform 25"/>
            <p:cNvSpPr/>
            <p:nvPr/>
          </p:nvSpPr>
          <p:spPr>
            <a:xfrm>
              <a:off x="1105988"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6" name="Freeform 26"/>
            <p:cNvSpPr/>
            <p:nvPr/>
          </p:nvSpPr>
          <p:spPr>
            <a:xfrm>
              <a:off x="1284474" y="4613333"/>
              <a:ext cx="749016" cy="727227"/>
            </a:xfrm>
            <a:custGeom>
              <a:avLst/>
              <a:gdLst/>
              <a:ahLst/>
              <a:cxnLst/>
              <a:rect l="l" t="t" r="r" b="b"/>
              <a:pathLst>
                <a:path w="749016" h="727227">
                  <a:moveTo>
                    <a:pt x="0" y="0"/>
                  </a:moveTo>
                  <a:lnTo>
                    <a:pt x="749016" y="0"/>
                  </a:lnTo>
                  <a:lnTo>
                    <a:pt x="749016" y="727227"/>
                  </a:lnTo>
                  <a:lnTo>
                    <a:pt x="0" y="72722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grpSp>
      <p:sp>
        <p:nvSpPr>
          <p:cNvPr id="27" name="Freeform 27"/>
          <p:cNvSpPr/>
          <p:nvPr/>
        </p:nvSpPr>
        <p:spPr>
          <a:xfrm rot="3207690">
            <a:off x="6778520" y="8056080"/>
            <a:ext cx="484735" cy="825401"/>
          </a:xfrm>
          <a:custGeom>
            <a:avLst/>
            <a:gdLst/>
            <a:ahLst/>
            <a:cxnLst/>
            <a:rect l="l" t="t" r="r" b="b"/>
            <a:pathLst>
              <a:path w="484735" h="825401">
                <a:moveTo>
                  <a:pt x="0" y="0"/>
                </a:moveTo>
                <a:lnTo>
                  <a:pt x="484735" y="0"/>
                </a:lnTo>
                <a:lnTo>
                  <a:pt x="484735" y="825401"/>
                </a:lnTo>
                <a:lnTo>
                  <a:pt x="0" y="825401"/>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28" name="Freeform 28"/>
          <p:cNvSpPr/>
          <p:nvPr/>
        </p:nvSpPr>
        <p:spPr>
          <a:xfrm>
            <a:off x="15235587" y="4383955"/>
            <a:ext cx="635693" cy="654740"/>
          </a:xfrm>
          <a:custGeom>
            <a:avLst/>
            <a:gdLst/>
            <a:ahLst/>
            <a:cxnLst/>
            <a:rect l="l" t="t" r="r" b="b"/>
            <a:pathLst>
              <a:path w="635693" h="654740">
                <a:moveTo>
                  <a:pt x="0" y="0"/>
                </a:moveTo>
                <a:lnTo>
                  <a:pt x="635692" y="0"/>
                </a:lnTo>
                <a:lnTo>
                  <a:pt x="635692" y="654740"/>
                </a:lnTo>
                <a:lnTo>
                  <a:pt x="0" y="654740"/>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29" name="Freeform 29"/>
          <p:cNvSpPr/>
          <p:nvPr/>
        </p:nvSpPr>
        <p:spPr>
          <a:xfrm>
            <a:off x="2474728" y="2252104"/>
            <a:ext cx="798979" cy="798979"/>
          </a:xfrm>
          <a:custGeom>
            <a:avLst/>
            <a:gdLst/>
            <a:ahLst/>
            <a:cxnLst/>
            <a:rect l="l" t="t" r="r" b="b"/>
            <a:pathLst>
              <a:path w="798979" h="798979">
                <a:moveTo>
                  <a:pt x="0" y="0"/>
                </a:moveTo>
                <a:lnTo>
                  <a:pt x="798979" y="0"/>
                </a:lnTo>
                <a:lnTo>
                  <a:pt x="798979" y="798979"/>
                </a:lnTo>
                <a:lnTo>
                  <a:pt x="0" y="798979"/>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30" name="TextBox 30"/>
          <p:cNvSpPr txBox="1"/>
          <p:nvPr/>
        </p:nvSpPr>
        <p:spPr>
          <a:xfrm>
            <a:off x="5023547" y="3876675"/>
            <a:ext cx="8240907" cy="2524125"/>
          </a:xfrm>
          <a:prstGeom prst="rect">
            <a:avLst/>
          </a:prstGeom>
        </p:spPr>
        <p:txBody>
          <a:bodyPr lIns="0" tIns="0" rIns="0" bIns="0" rtlCol="0" anchor="t">
            <a:spAutoFit/>
          </a:bodyPr>
          <a:lstStyle/>
          <a:p>
            <a:pPr algn="ctr">
              <a:lnSpc>
                <a:spcPts val="8999"/>
              </a:lnSpc>
            </a:pPr>
            <a:r>
              <a:rPr lang="en-US" sz="8999">
                <a:solidFill>
                  <a:srgbClr val="000000"/>
                </a:solidFill>
                <a:latin typeface="Retropix"/>
              </a:rPr>
              <a:t>General Unary</a:t>
            </a:r>
          </a:p>
          <a:p>
            <a:pPr algn="ctr">
              <a:lnSpc>
                <a:spcPts val="8999"/>
              </a:lnSpc>
            </a:pPr>
            <a:r>
              <a:rPr lang="en-US" sz="8999">
                <a:solidFill>
                  <a:srgbClr val="000000"/>
                </a:solidFill>
                <a:latin typeface="Retropix"/>
              </a:rPr>
              <a:t>Code</a:t>
            </a:r>
          </a:p>
        </p:txBody>
      </p:sp>
      <p:sp>
        <p:nvSpPr>
          <p:cNvPr id="31" name="Freeform 31"/>
          <p:cNvSpPr/>
          <p:nvPr/>
        </p:nvSpPr>
        <p:spPr>
          <a:xfrm>
            <a:off x="13344126" y="2353235"/>
            <a:ext cx="2527153" cy="473267"/>
          </a:xfrm>
          <a:custGeom>
            <a:avLst/>
            <a:gdLst/>
            <a:ahLst/>
            <a:cxnLst/>
            <a:rect l="l" t="t" r="r" b="b"/>
            <a:pathLst>
              <a:path w="2527153" h="473267">
                <a:moveTo>
                  <a:pt x="0" y="0"/>
                </a:moveTo>
                <a:lnTo>
                  <a:pt x="2527153" y="0"/>
                </a:lnTo>
                <a:lnTo>
                  <a:pt x="2527153" y="473266"/>
                </a:lnTo>
                <a:lnTo>
                  <a:pt x="0" y="473266"/>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0" y="9052698"/>
            <a:ext cx="18288000" cy="1234302"/>
            <a:chOff x="0" y="0"/>
            <a:chExt cx="4816593" cy="325084"/>
          </a:xfrm>
        </p:grpSpPr>
        <p:sp>
          <p:nvSpPr>
            <p:cNvPr id="3" name="Freeform 3"/>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4" name="TextBox 4"/>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5" name="Group 5"/>
          <p:cNvGrpSpPr/>
          <p:nvPr/>
        </p:nvGrpSpPr>
        <p:grpSpPr>
          <a:xfrm>
            <a:off x="237414" y="9267586"/>
            <a:ext cx="804526" cy="804526"/>
            <a:chOff x="0" y="0"/>
            <a:chExt cx="1072702" cy="1072702"/>
          </a:xfrm>
        </p:grpSpPr>
        <p:sp>
          <p:nvSpPr>
            <p:cNvPr id="6" name="Freeform 6"/>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8" name="Freeform 8"/>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2" name="Freeform 12"/>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3" name="TextBox 13"/>
          <p:cNvSpPr txBox="1"/>
          <p:nvPr/>
        </p:nvSpPr>
        <p:spPr>
          <a:xfrm>
            <a:off x="7994108" y="911102"/>
            <a:ext cx="10131363" cy="8224687"/>
          </a:xfrm>
          <a:prstGeom prst="rect">
            <a:avLst/>
          </a:prstGeom>
        </p:spPr>
        <p:txBody>
          <a:bodyPr lIns="0" tIns="0" rIns="0" bIns="0" rtlCol="0" anchor="t">
            <a:spAutoFit/>
          </a:bodyPr>
          <a:lstStyle/>
          <a:p>
            <a:pPr>
              <a:lnSpc>
                <a:spcPts val="4325"/>
              </a:lnSpc>
            </a:pPr>
            <a:r>
              <a:rPr lang="en-US" sz="3089" dirty="0">
                <a:solidFill>
                  <a:srgbClr val="FFFFFF"/>
                </a:solidFill>
                <a:latin typeface="Public Sans"/>
              </a:rPr>
              <a:t>To convert a number into general unary code with the given parameters (start, step, stop), follow these steps:</a:t>
            </a:r>
          </a:p>
          <a:p>
            <a:pPr marL="667069" lvl="1" indent="-333535">
              <a:lnSpc>
                <a:spcPts val="4325"/>
              </a:lnSpc>
              <a:buFont typeface="Arial"/>
              <a:buChar char="•"/>
            </a:pPr>
            <a:r>
              <a:rPr lang="en-US" sz="3089" dirty="0">
                <a:solidFill>
                  <a:srgbClr val="FFFFFF"/>
                </a:solidFill>
                <a:latin typeface="Public Sans Bold"/>
              </a:rPr>
              <a:t>Select the Number to Convert:</a:t>
            </a:r>
            <a:r>
              <a:rPr lang="en-US" sz="3089" dirty="0">
                <a:solidFill>
                  <a:srgbClr val="FFFFFF"/>
                </a:solidFill>
                <a:latin typeface="Public Sans"/>
              </a:rPr>
              <a:t> For example, let's convert the number 6.</a:t>
            </a:r>
          </a:p>
          <a:p>
            <a:pPr marL="667069" lvl="1" indent="-333535">
              <a:lnSpc>
                <a:spcPts val="4325"/>
              </a:lnSpc>
              <a:buFont typeface="Arial"/>
              <a:buChar char="•"/>
            </a:pPr>
            <a:r>
              <a:rPr lang="en-US" sz="3089" dirty="0">
                <a:solidFill>
                  <a:srgbClr val="FFFFFF"/>
                </a:solidFill>
                <a:latin typeface="Public Sans Bold"/>
              </a:rPr>
              <a:t>Specify the Start Value:</a:t>
            </a:r>
            <a:r>
              <a:rPr lang="en-US" sz="3089" dirty="0">
                <a:solidFill>
                  <a:srgbClr val="FFFFFF"/>
                </a:solidFill>
                <a:latin typeface="Public Sans"/>
              </a:rPr>
              <a:t> The start value is the first number in the range you want to encode. For example, if start = 3, then the start value is 3.</a:t>
            </a:r>
          </a:p>
          <a:p>
            <a:pPr marL="667069" lvl="1" indent="-333535">
              <a:lnSpc>
                <a:spcPts val="4325"/>
              </a:lnSpc>
              <a:buFont typeface="Arial"/>
              <a:buChar char="•"/>
            </a:pPr>
            <a:r>
              <a:rPr lang="en-US" sz="3089" dirty="0">
                <a:solidFill>
                  <a:srgbClr val="FFFFFF"/>
                </a:solidFill>
                <a:latin typeface="Public Sans Bold"/>
              </a:rPr>
              <a:t>Specify the Step Value: </a:t>
            </a:r>
            <a:r>
              <a:rPr lang="en-US" sz="3089" dirty="0">
                <a:solidFill>
                  <a:srgbClr val="FFFFFF"/>
                </a:solidFill>
                <a:latin typeface="Public Sans"/>
              </a:rPr>
              <a:t>The step value represents how much each number in the range increments from the previous one. For example, if step = 2, each number in the range will be 2 units apart.</a:t>
            </a:r>
          </a:p>
          <a:p>
            <a:pPr marL="667069" lvl="1" indent="-333535">
              <a:lnSpc>
                <a:spcPts val="4325"/>
              </a:lnSpc>
              <a:buFont typeface="Arial"/>
              <a:buChar char="•"/>
            </a:pPr>
            <a:r>
              <a:rPr lang="en-US" sz="3089" dirty="0">
                <a:solidFill>
                  <a:srgbClr val="FFFFFF"/>
                </a:solidFill>
                <a:latin typeface="Public Sans Bold"/>
              </a:rPr>
              <a:t>Specify the Stop Value:</a:t>
            </a:r>
            <a:r>
              <a:rPr lang="en-US" sz="3089" dirty="0">
                <a:solidFill>
                  <a:srgbClr val="FFFFFF"/>
                </a:solidFill>
                <a:latin typeface="Public Sans"/>
              </a:rPr>
              <a:t> The stop value is the last number in the range you want to encode. For example, if stop = 9, then the stop value is 9.</a:t>
            </a:r>
          </a:p>
          <a:p>
            <a:pPr>
              <a:lnSpc>
                <a:spcPts val="4325"/>
              </a:lnSpc>
            </a:pPr>
            <a:endParaRPr lang="en-US" sz="3089" dirty="0">
              <a:solidFill>
                <a:srgbClr val="FFFFFF"/>
              </a:solidFill>
              <a:latin typeface="Public Sans"/>
            </a:endParaRPr>
          </a:p>
        </p:txBody>
      </p:sp>
      <p:grpSp>
        <p:nvGrpSpPr>
          <p:cNvPr id="15" name="Group 15"/>
          <p:cNvGrpSpPr/>
          <p:nvPr/>
        </p:nvGrpSpPr>
        <p:grpSpPr>
          <a:xfrm>
            <a:off x="130451" y="1653727"/>
            <a:ext cx="7863657" cy="5193465"/>
            <a:chOff x="0" y="0"/>
            <a:chExt cx="10484876" cy="6924620"/>
          </a:xfrm>
        </p:grpSpPr>
        <p:sp>
          <p:nvSpPr>
            <p:cNvPr id="16" name="Freeform 16"/>
            <p:cNvSpPr/>
            <p:nvPr/>
          </p:nvSpPr>
          <p:spPr>
            <a:xfrm>
              <a:off x="0" y="0"/>
              <a:ext cx="10484876" cy="1794146"/>
            </a:xfrm>
            <a:custGeom>
              <a:avLst/>
              <a:gdLst/>
              <a:ahLst/>
              <a:cxnLst/>
              <a:rect l="l" t="t" r="r" b="b"/>
              <a:pathLst>
                <a:path w="10484876" h="1794146">
                  <a:moveTo>
                    <a:pt x="0" y="0"/>
                  </a:moveTo>
                  <a:lnTo>
                    <a:pt x="10484876" y="0"/>
                  </a:lnTo>
                  <a:lnTo>
                    <a:pt x="10484876" y="1794146"/>
                  </a:lnTo>
                  <a:lnTo>
                    <a:pt x="0" y="1794146"/>
                  </a:lnTo>
                  <a:lnTo>
                    <a:pt x="0" y="0"/>
                  </a:lnTo>
                  <a:close/>
                </a:path>
              </a:pathLst>
            </a:custGeom>
            <a:blipFill>
              <a:blip r:embed="rId16">
                <a:extLst>
                  <a:ext uri="{96DAC541-7B7A-43D3-8B79-37D633B846F1}">
                    <asvg:svgBlip xmlns:asvg="http://schemas.microsoft.com/office/drawing/2016/SVG/main" r:embed="rId17"/>
                  </a:ext>
                </a:extLst>
              </a:blip>
              <a:stretch>
                <a:fillRect b="-484393"/>
              </a:stretch>
            </a:blipFill>
          </p:spPr>
        </p:sp>
        <p:sp>
          <p:nvSpPr>
            <p:cNvPr id="17" name="Freeform 17"/>
            <p:cNvSpPr/>
            <p:nvPr/>
          </p:nvSpPr>
          <p:spPr>
            <a:xfrm>
              <a:off x="0" y="1658224"/>
              <a:ext cx="10484876" cy="4669114"/>
            </a:xfrm>
            <a:custGeom>
              <a:avLst/>
              <a:gdLst/>
              <a:ahLst/>
              <a:cxnLst/>
              <a:rect l="l" t="t" r="r" b="b"/>
              <a:pathLst>
                <a:path w="10484876" h="4669114">
                  <a:moveTo>
                    <a:pt x="0" y="0"/>
                  </a:moveTo>
                  <a:lnTo>
                    <a:pt x="10484876" y="0"/>
                  </a:lnTo>
                  <a:lnTo>
                    <a:pt x="10484876" y="4669115"/>
                  </a:lnTo>
                  <a:lnTo>
                    <a:pt x="0" y="4669115"/>
                  </a:lnTo>
                  <a:lnTo>
                    <a:pt x="0" y="0"/>
                  </a:lnTo>
                  <a:close/>
                </a:path>
              </a:pathLst>
            </a:custGeom>
            <a:blipFill>
              <a:blip r:embed="rId18"/>
              <a:stretch>
                <a:fillRect l="-71255" t="-111963" r="-69660" b="-92346"/>
              </a:stretch>
            </a:blipFill>
          </p:spPr>
        </p:sp>
        <p:sp>
          <p:nvSpPr>
            <p:cNvPr id="18" name="Freeform 18"/>
            <p:cNvSpPr/>
            <p:nvPr/>
          </p:nvSpPr>
          <p:spPr>
            <a:xfrm>
              <a:off x="0" y="6327339"/>
              <a:ext cx="10484876" cy="597282"/>
            </a:xfrm>
            <a:custGeom>
              <a:avLst/>
              <a:gdLst/>
              <a:ahLst/>
              <a:cxnLst/>
              <a:rect l="l" t="t" r="r" b="b"/>
              <a:pathLst>
                <a:path w="10484876" h="597282">
                  <a:moveTo>
                    <a:pt x="0" y="0"/>
                  </a:moveTo>
                  <a:lnTo>
                    <a:pt x="10484876" y="0"/>
                  </a:lnTo>
                  <a:lnTo>
                    <a:pt x="10484876" y="597281"/>
                  </a:lnTo>
                  <a:lnTo>
                    <a:pt x="0" y="597281"/>
                  </a:lnTo>
                  <a:lnTo>
                    <a:pt x="0" y="0"/>
                  </a:lnTo>
                  <a:close/>
                </a:path>
              </a:pathLst>
            </a:custGeom>
            <a:blipFill>
              <a:blip r:embed="rId16">
                <a:extLst>
                  <a:ext uri="{96DAC541-7B7A-43D3-8B79-37D633B846F1}">
                    <asvg:svgBlip xmlns:asvg="http://schemas.microsoft.com/office/drawing/2016/SVG/main" r:embed="rId17"/>
                  </a:ext>
                </a:extLst>
              </a:blip>
              <a:stretch>
                <a:fillRect t="-1655432"/>
              </a:stretch>
            </a:blipFill>
          </p:spPr>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0" y="9052698"/>
            <a:ext cx="18288000" cy="1234302"/>
            <a:chOff x="0" y="0"/>
            <a:chExt cx="4816593" cy="325084"/>
          </a:xfrm>
        </p:grpSpPr>
        <p:sp>
          <p:nvSpPr>
            <p:cNvPr id="3" name="Freeform 3"/>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4" name="TextBox 4"/>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grpSp>
        <p:nvGrpSpPr>
          <p:cNvPr id="5" name="Group 5"/>
          <p:cNvGrpSpPr/>
          <p:nvPr/>
        </p:nvGrpSpPr>
        <p:grpSpPr>
          <a:xfrm>
            <a:off x="237414" y="9267586"/>
            <a:ext cx="804526" cy="804526"/>
            <a:chOff x="0" y="0"/>
            <a:chExt cx="1072702" cy="1072702"/>
          </a:xfrm>
        </p:grpSpPr>
        <p:sp>
          <p:nvSpPr>
            <p:cNvPr id="6" name="Freeform 6"/>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8" name="Freeform 8"/>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2" name="Freeform 12"/>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3" name="TextBox 13"/>
          <p:cNvSpPr txBox="1"/>
          <p:nvPr/>
        </p:nvSpPr>
        <p:spPr>
          <a:xfrm>
            <a:off x="8156637" y="1577527"/>
            <a:ext cx="10131363" cy="6018955"/>
          </a:xfrm>
          <a:prstGeom prst="rect">
            <a:avLst/>
          </a:prstGeom>
        </p:spPr>
        <p:txBody>
          <a:bodyPr lIns="0" tIns="0" rIns="0" bIns="0" rtlCol="0" anchor="t">
            <a:spAutoFit/>
          </a:bodyPr>
          <a:lstStyle/>
          <a:p>
            <a:pPr marL="457200" indent="-457200">
              <a:lnSpc>
                <a:spcPts val="4325"/>
              </a:lnSpc>
              <a:buFont typeface="Arial" panose="020B0604020202020204" pitchFamily="34" charset="0"/>
              <a:buChar char="•"/>
            </a:pPr>
            <a:r>
              <a:rPr lang="en-US" sz="3089" dirty="0">
                <a:solidFill>
                  <a:srgbClr val="FFFFFF"/>
                </a:solidFill>
                <a:latin typeface="Public Sans"/>
              </a:rPr>
              <a:t>    </a:t>
            </a:r>
            <a:r>
              <a:rPr lang="en-US" sz="3089" dirty="0">
                <a:solidFill>
                  <a:srgbClr val="FFFFFF"/>
                </a:solidFill>
                <a:latin typeface="Public Sans Bold"/>
              </a:rPr>
              <a:t>Determine what number will be encoded:</a:t>
            </a:r>
            <a:r>
              <a:rPr lang="en-US" sz="3089" dirty="0">
                <a:solidFill>
                  <a:srgbClr val="FFFFFF"/>
                </a:solidFill>
                <a:latin typeface="Public Sans"/>
              </a:rPr>
              <a:t> for example the number is 6 .</a:t>
            </a:r>
          </a:p>
          <a:p>
            <a:pPr marL="457200" indent="-457200">
              <a:lnSpc>
                <a:spcPts val="4325"/>
              </a:lnSpc>
              <a:buFont typeface="Arial" panose="020B0604020202020204" pitchFamily="34" charset="0"/>
              <a:buChar char="•"/>
            </a:pPr>
            <a:r>
              <a:rPr lang="en-US" sz="3089" dirty="0">
                <a:solidFill>
                  <a:srgbClr val="FFFFFF"/>
                </a:solidFill>
                <a:latin typeface="Public Sans"/>
              </a:rPr>
              <a:t>    </a:t>
            </a:r>
            <a:r>
              <a:rPr lang="en-US" sz="3089" dirty="0">
                <a:solidFill>
                  <a:srgbClr val="FFFFFF"/>
                </a:solidFill>
                <a:latin typeface="Public Sans Bold"/>
              </a:rPr>
              <a:t>Find out what range the number is in</a:t>
            </a:r>
            <a:r>
              <a:rPr lang="en-US" sz="3089" dirty="0">
                <a:solidFill>
                  <a:srgbClr val="FFFFFF"/>
                </a:solidFill>
                <a:latin typeface="Public Sans"/>
              </a:rPr>
              <a:t>: So if you take the previous example, 6 will be in the range 0 - 7 and 6 will be reduced by 0.</a:t>
            </a:r>
          </a:p>
          <a:p>
            <a:pPr marL="457200" indent="-457200">
              <a:lnSpc>
                <a:spcPts val="4325"/>
              </a:lnSpc>
              <a:buFont typeface="Arial" panose="020B0604020202020204" pitchFamily="34" charset="0"/>
              <a:buChar char="•"/>
            </a:pPr>
            <a:r>
              <a:rPr lang="en-US" sz="3089" dirty="0">
                <a:solidFill>
                  <a:srgbClr val="FFFFFF"/>
                </a:solidFill>
                <a:latin typeface="Public Sans"/>
              </a:rPr>
              <a:t>   </a:t>
            </a:r>
            <a:r>
              <a:rPr lang="en-US" sz="3089" dirty="0">
                <a:solidFill>
                  <a:srgbClr val="FFFFFF"/>
                </a:solidFill>
                <a:latin typeface="Public Sans Bold"/>
              </a:rPr>
              <a:t>Use the codeword where the number is, and convert to biner for xxx:</a:t>
            </a:r>
            <a:r>
              <a:rPr lang="en-US" sz="3089" dirty="0">
                <a:solidFill>
                  <a:srgbClr val="FFFFFF"/>
                </a:solidFill>
                <a:latin typeface="Public Sans"/>
              </a:rPr>
              <a:t> If you take the previous example again, the binary of 6 is 110, so for the codeword of 6, namely 0xxx, then xxx is entered in the binary of 6. So the result is 0110</a:t>
            </a:r>
          </a:p>
          <a:p>
            <a:pPr>
              <a:lnSpc>
                <a:spcPts val="4325"/>
              </a:lnSpc>
            </a:pPr>
            <a:endParaRPr lang="en-US" sz="3089" dirty="0">
              <a:solidFill>
                <a:srgbClr val="FFFFFF"/>
              </a:solidFill>
              <a:latin typeface="Public Sans"/>
            </a:endParaRPr>
          </a:p>
        </p:txBody>
      </p:sp>
      <p:grpSp>
        <p:nvGrpSpPr>
          <p:cNvPr id="15" name="Group 15"/>
          <p:cNvGrpSpPr/>
          <p:nvPr/>
        </p:nvGrpSpPr>
        <p:grpSpPr>
          <a:xfrm>
            <a:off x="130451" y="1653727"/>
            <a:ext cx="7863657" cy="5193465"/>
            <a:chOff x="0" y="0"/>
            <a:chExt cx="10484876" cy="6924620"/>
          </a:xfrm>
        </p:grpSpPr>
        <p:sp>
          <p:nvSpPr>
            <p:cNvPr id="16" name="Freeform 16"/>
            <p:cNvSpPr/>
            <p:nvPr/>
          </p:nvSpPr>
          <p:spPr>
            <a:xfrm>
              <a:off x="0" y="0"/>
              <a:ext cx="10484876" cy="1794146"/>
            </a:xfrm>
            <a:custGeom>
              <a:avLst/>
              <a:gdLst/>
              <a:ahLst/>
              <a:cxnLst/>
              <a:rect l="l" t="t" r="r" b="b"/>
              <a:pathLst>
                <a:path w="10484876" h="1794146">
                  <a:moveTo>
                    <a:pt x="0" y="0"/>
                  </a:moveTo>
                  <a:lnTo>
                    <a:pt x="10484876" y="0"/>
                  </a:lnTo>
                  <a:lnTo>
                    <a:pt x="10484876" y="1794146"/>
                  </a:lnTo>
                  <a:lnTo>
                    <a:pt x="0" y="1794146"/>
                  </a:lnTo>
                  <a:lnTo>
                    <a:pt x="0" y="0"/>
                  </a:lnTo>
                  <a:close/>
                </a:path>
              </a:pathLst>
            </a:custGeom>
            <a:blipFill>
              <a:blip r:embed="rId16">
                <a:extLst>
                  <a:ext uri="{96DAC541-7B7A-43D3-8B79-37D633B846F1}">
                    <asvg:svgBlip xmlns:asvg="http://schemas.microsoft.com/office/drawing/2016/SVG/main" r:embed="rId17"/>
                  </a:ext>
                </a:extLst>
              </a:blip>
              <a:stretch>
                <a:fillRect b="-484393"/>
              </a:stretch>
            </a:blipFill>
          </p:spPr>
        </p:sp>
        <p:sp>
          <p:nvSpPr>
            <p:cNvPr id="17" name="Freeform 17"/>
            <p:cNvSpPr/>
            <p:nvPr/>
          </p:nvSpPr>
          <p:spPr>
            <a:xfrm>
              <a:off x="0" y="1658224"/>
              <a:ext cx="10484876" cy="4669114"/>
            </a:xfrm>
            <a:custGeom>
              <a:avLst/>
              <a:gdLst/>
              <a:ahLst/>
              <a:cxnLst/>
              <a:rect l="l" t="t" r="r" b="b"/>
              <a:pathLst>
                <a:path w="10484876" h="4669114">
                  <a:moveTo>
                    <a:pt x="0" y="0"/>
                  </a:moveTo>
                  <a:lnTo>
                    <a:pt x="10484876" y="0"/>
                  </a:lnTo>
                  <a:lnTo>
                    <a:pt x="10484876" y="4669115"/>
                  </a:lnTo>
                  <a:lnTo>
                    <a:pt x="0" y="4669115"/>
                  </a:lnTo>
                  <a:lnTo>
                    <a:pt x="0" y="0"/>
                  </a:lnTo>
                  <a:close/>
                </a:path>
              </a:pathLst>
            </a:custGeom>
            <a:blipFill>
              <a:blip r:embed="rId18"/>
              <a:stretch>
                <a:fillRect l="-71255" t="-111963" r="-69660" b="-92346"/>
              </a:stretch>
            </a:blipFill>
          </p:spPr>
        </p:sp>
        <p:sp>
          <p:nvSpPr>
            <p:cNvPr id="18" name="Freeform 18"/>
            <p:cNvSpPr/>
            <p:nvPr/>
          </p:nvSpPr>
          <p:spPr>
            <a:xfrm>
              <a:off x="0" y="6327339"/>
              <a:ext cx="10484876" cy="597282"/>
            </a:xfrm>
            <a:custGeom>
              <a:avLst/>
              <a:gdLst/>
              <a:ahLst/>
              <a:cxnLst/>
              <a:rect l="l" t="t" r="r" b="b"/>
              <a:pathLst>
                <a:path w="10484876" h="597282">
                  <a:moveTo>
                    <a:pt x="0" y="0"/>
                  </a:moveTo>
                  <a:lnTo>
                    <a:pt x="10484876" y="0"/>
                  </a:lnTo>
                  <a:lnTo>
                    <a:pt x="10484876" y="597281"/>
                  </a:lnTo>
                  <a:lnTo>
                    <a:pt x="0" y="597281"/>
                  </a:lnTo>
                  <a:lnTo>
                    <a:pt x="0" y="0"/>
                  </a:lnTo>
                  <a:close/>
                </a:path>
              </a:pathLst>
            </a:custGeom>
            <a:blipFill>
              <a:blip r:embed="rId16">
                <a:extLst>
                  <a:ext uri="{96DAC541-7B7A-43D3-8B79-37D633B846F1}">
                    <asvg:svgBlip xmlns:asvg="http://schemas.microsoft.com/office/drawing/2016/SVG/main" r:embed="rId17"/>
                  </a:ext>
                </a:extLst>
              </a:blip>
              <a:stretch>
                <a:fillRect t="-1655432"/>
              </a:stretch>
            </a:blipFill>
          </p:spPr>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p:cNvSpPr/>
          <p:nvPr/>
        </p:nvSpPr>
        <p:spPr>
          <a:xfrm>
            <a:off x="633368" y="3626446"/>
            <a:ext cx="782400" cy="1057297"/>
          </a:xfrm>
          <a:custGeom>
            <a:avLst/>
            <a:gdLst/>
            <a:ahLst/>
            <a:cxnLst/>
            <a:rect l="l" t="t" r="r" b="b"/>
            <a:pathLst>
              <a:path w="782400" h="1057297">
                <a:moveTo>
                  <a:pt x="0" y="0"/>
                </a:moveTo>
                <a:lnTo>
                  <a:pt x="782400" y="0"/>
                </a:lnTo>
                <a:lnTo>
                  <a:pt x="782400" y="1057296"/>
                </a:lnTo>
                <a:lnTo>
                  <a:pt x="0" y="10572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11249" y="2300667"/>
            <a:ext cx="1026639" cy="785846"/>
          </a:xfrm>
          <a:custGeom>
            <a:avLst/>
            <a:gdLst/>
            <a:ahLst/>
            <a:cxnLst/>
            <a:rect l="l" t="t" r="r" b="b"/>
            <a:pathLst>
              <a:path w="1026639" h="785846">
                <a:moveTo>
                  <a:pt x="0" y="0"/>
                </a:moveTo>
                <a:lnTo>
                  <a:pt x="1026639" y="0"/>
                </a:lnTo>
                <a:lnTo>
                  <a:pt x="1026639" y="785845"/>
                </a:lnTo>
                <a:lnTo>
                  <a:pt x="0" y="7858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43623" y="538933"/>
            <a:ext cx="961890" cy="1221800"/>
          </a:xfrm>
          <a:custGeom>
            <a:avLst/>
            <a:gdLst/>
            <a:ahLst/>
            <a:cxnLst/>
            <a:rect l="l" t="t" r="r" b="b"/>
            <a:pathLst>
              <a:path w="961890" h="1221800">
                <a:moveTo>
                  <a:pt x="0" y="0"/>
                </a:moveTo>
                <a:lnTo>
                  <a:pt x="961890" y="0"/>
                </a:lnTo>
                <a:lnTo>
                  <a:pt x="961890" y="1221801"/>
                </a:lnTo>
                <a:lnTo>
                  <a:pt x="0" y="12218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559442" y="5223676"/>
            <a:ext cx="930253" cy="980151"/>
          </a:xfrm>
          <a:custGeom>
            <a:avLst/>
            <a:gdLst/>
            <a:ahLst/>
            <a:cxnLst/>
            <a:rect l="l" t="t" r="r" b="b"/>
            <a:pathLst>
              <a:path w="930253" h="980151">
                <a:moveTo>
                  <a:pt x="0" y="0"/>
                </a:moveTo>
                <a:lnTo>
                  <a:pt x="930253" y="0"/>
                </a:lnTo>
                <a:lnTo>
                  <a:pt x="930253" y="980151"/>
                </a:lnTo>
                <a:lnTo>
                  <a:pt x="0" y="98015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6802844" y="538933"/>
            <a:ext cx="779562" cy="779562"/>
          </a:xfrm>
          <a:custGeom>
            <a:avLst/>
            <a:gdLst/>
            <a:ahLst/>
            <a:cxnLst/>
            <a:rect l="l" t="t" r="r" b="b"/>
            <a:pathLst>
              <a:path w="779562" h="779562">
                <a:moveTo>
                  <a:pt x="0" y="0"/>
                </a:moveTo>
                <a:lnTo>
                  <a:pt x="779562" y="0"/>
                </a:lnTo>
                <a:lnTo>
                  <a:pt x="779562" y="779562"/>
                </a:lnTo>
                <a:lnTo>
                  <a:pt x="0" y="77956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16788145" y="1764975"/>
            <a:ext cx="779562" cy="779562"/>
          </a:xfrm>
          <a:custGeom>
            <a:avLst/>
            <a:gdLst/>
            <a:ahLst/>
            <a:cxnLst/>
            <a:rect l="l" t="t" r="r" b="b"/>
            <a:pathLst>
              <a:path w="779562" h="779562">
                <a:moveTo>
                  <a:pt x="0" y="0"/>
                </a:moveTo>
                <a:lnTo>
                  <a:pt x="779562" y="0"/>
                </a:lnTo>
                <a:lnTo>
                  <a:pt x="779562" y="779562"/>
                </a:lnTo>
                <a:lnTo>
                  <a:pt x="0" y="7795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TextBox 8"/>
          <p:cNvSpPr txBox="1"/>
          <p:nvPr/>
        </p:nvSpPr>
        <p:spPr>
          <a:xfrm>
            <a:off x="3460561" y="3312628"/>
            <a:ext cx="11366873" cy="1474763"/>
          </a:xfrm>
          <a:prstGeom prst="rect">
            <a:avLst/>
          </a:prstGeom>
        </p:spPr>
        <p:txBody>
          <a:bodyPr lIns="0" tIns="0" rIns="0" bIns="0" rtlCol="0" anchor="t">
            <a:spAutoFit/>
          </a:bodyPr>
          <a:lstStyle/>
          <a:p>
            <a:pPr algn="ctr">
              <a:lnSpc>
                <a:spcPts val="11499"/>
              </a:lnSpc>
            </a:pPr>
            <a:r>
              <a:rPr lang="en-US" sz="11499" dirty="0">
                <a:solidFill>
                  <a:srgbClr val="FFFFFF"/>
                </a:solidFill>
                <a:latin typeface="Retropix"/>
              </a:rPr>
              <a:t>THANK YOU</a:t>
            </a:r>
          </a:p>
        </p:txBody>
      </p:sp>
      <p:sp>
        <p:nvSpPr>
          <p:cNvPr id="9" name="Freeform 9"/>
          <p:cNvSpPr/>
          <p:nvPr/>
        </p:nvSpPr>
        <p:spPr>
          <a:xfrm>
            <a:off x="13004220" y="5206486"/>
            <a:ext cx="484735" cy="825401"/>
          </a:xfrm>
          <a:custGeom>
            <a:avLst/>
            <a:gdLst/>
            <a:ahLst/>
            <a:cxnLst/>
            <a:rect l="l" t="t" r="r" b="b"/>
            <a:pathLst>
              <a:path w="484735" h="825401">
                <a:moveTo>
                  <a:pt x="0" y="0"/>
                </a:moveTo>
                <a:lnTo>
                  <a:pt x="484736" y="0"/>
                </a:lnTo>
                <a:lnTo>
                  <a:pt x="484736" y="825401"/>
                </a:lnTo>
                <a:lnTo>
                  <a:pt x="0" y="82540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16" name="Group 16"/>
          <p:cNvGrpSpPr/>
          <p:nvPr/>
        </p:nvGrpSpPr>
        <p:grpSpPr>
          <a:xfrm>
            <a:off x="0" y="9052698"/>
            <a:ext cx="18288000" cy="1234302"/>
            <a:chOff x="0" y="0"/>
            <a:chExt cx="24384000" cy="1645736"/>
          </a:xfrm>
        </p:grpSpPr>
        <p:grpSp>
          <p:nvGrpSpPr>
            <p:cNvPr id="17" name="Group 17"/>
            <p:cNvGrpSpPr/>
            <p:nvPr/>
          </p:nvGrpSpPr>
          <p:grpSpPr>
            <a:xfrm>
              <a:off x="0" y="0"/>
              <a:ext cx="24384000" cy="1645736"/>
              <a:chOff x="0" y="0"/>
              <a:chExt cx="4816593" cy="325084"/>
            </a:xfrm>
          </p:grpSpPr>
          <p:sp>
            <p:nvSpPr>
              <p:cNvPr id="18" name="Freeform 18"/>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id="19" name="TextBox 19"/>
              <p:cNvSpPr txBox="1"/>
              <p:nvPr/>
            </p:nvSpPr>
            <p:spPr>
              <a:xfrm>
                <a:off x="0" y="-38100"/>
                <a:ext cx="4816593" cy="363184"/>
              </a:xfrm>
              <a:prstGeom prst="rect">
                <a:avLst/>
              </a:prstGeom>
            </p:spPr>
            <p:txBody>
              <a:bodyPr lIns="254000" tIns="254000" rIns="254000" bIns="254000" rtlCol="0" anchor="ctr"/>
              <a:lstStyle/>
              <a:p>
                <a:pPr>
                  <a:lnSpc>
                    <a:spcPts val="2100"/>
                  </a:lnSpc>
                </a:pPr>
                <a:endParaRPr/>
              </a:p>
            </p:txBody>
          </p:sp>
        </p:grpSp>
        <p:sp>
          <p:nvSpPr>
            <p:cNvPr id="20" name="Freeform 20"/>
            <p:cNvSpPr/>
            <p:nvPr/>
          </p:nvSpPr>
          <p:spPr>
            <a:xfrm>
              <a:off x="316552" y="286517"/>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1" name="Freeform 21"/>
            <p:cNvSpPr/>
            <p:nvPr/>
          </p:nvSpPr>
          <p:spPr>
            <a:xfrm>
              <a:off x="474997" y="436533"/>
              <a:ext cx="755811" cy="772669"/>
            </a:xfrm>
            <a:custGeom>
              <a:avLst/>
              <a:gdLst/>
              <a:ahLst/>
              <a:cxnLst/>
              <a:rect l="l" t="t" r="r" b="b"/>
              <a:pathLst>
                <a:path w="755811" h="772669">
                  <a:moveTo>
                    <a:pt x="0" y="0"/>
                  </a:moveTo>
                  <a:lnTo>
                    <a:pt x="755812" y="0"/>
                  </a:lnTo>
                  <a:lnTo>
                    <a:pt x="755812" y="772670"/>
                  </a:lnTo>
                  <a:lnTo>
                    <a:pt x="0" y="77267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2" name="Freeform 22"/>
            <p:cNvSpPr/>
            <p:nvPr/>
          </p:nvSpPr>
          <p:spPr>
            <a:xfrm>
              <a:off x="1897443" y="318086"/>
              <a:ext cx="1076085" cy="1009564"/>
            </a:xfrm>
            <a:custGeom>
              <a:avLst/>
              <a:gdLst/>
              <a:ahLst/>
              <a:cxnLst/>
              <a:rect l="l" t="t" r="r" b="b"/>
              <a:pathLst>
                <a:path w="1076085" h="1009564">
                  <a:moveTo>
                    <a:pt x="0" y="0"/>
                  </a:moveTo>
                  <a:lnTo>
                    <a:pt x="1076085" y="0"/>
                  </a:lnTo>
                  <a:lnTo>
                    <a:pt x="1076085" y="1009564"/>
                  </a:lnTo>
                  <a:lnTo>
                    <a:pt x="0" y="100956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3" name="Freeform 23"/>
            <p:cNvSpPr/>
            <p:nvPr/>
          </p:nvSpPr>
          <p:spPr>
            <a:xfrm>
              <a:off x="3194335" y="366127"/>
              <a:ext cx="883585" cy="913481"/>
            </a:xfrm>
            <a:custGeom>
              <a:avLst/>
              <a:gdLst/>
              <a:ahLst/>
              <a:cxnLst/>
              <a:rect l="l" t="t" r="r" b="b"/>
              <a:pathLst>
                <a:path w="883585" h="913481">
                  <a:moveTo>
                    <a:pt x="0" y="0"/>
                  </a:moveTo>
                  <a:lnTo>
                    <a:pt x="883585" y="0"/>
                  </a:lnTo>
                  <a:lnTo>
                    <a:pt x="883585" y="913481"/>
                  </a:lnTo>
                  <a:lnTo>
                    <a:pt x="0" y="913481"/>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4" name="Freeform 24"/>
            <p:cNvSpPr/>
            <p:nvPr/>
          </p:nvSpPr>
          <p:spPr>
            <a:xfrm>
              <a:off x="5416372" y="377368"/>
              <a:ext cx="890999" cy="890999"/>
            </a:xfrm>
            <a:custGeom>
              <a:avLst/>
              <a:gdLst/>
              <a:ahLst/>
              <a:cxnLst/>
              <a:rect l="l" t="t" r="r" b="b"/>
              <a:pathLst>
                <a:path w="890999" h="890999">
                  <a:moveTo>
                    <a:pt x="0" y="0"/>
                  </a:moveTo>
                  <a:lnTo>
                    <a:pt x="890999" y="0"/>
                  </a:lnTo>
                  <a:lnTo>
                    <a:pt x="890999" y="890999"/>
                  </a:lnTo>
                  <a:lnTo>
                    <a:pt x="0" y="890999"/>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25" name="Freeform 25"/>
            <p:cNvSpPr/>
            <p:nvPr/>
          </p:nvSpPr>
          <p:spPr>
            <a:xfrm>
              <a:off x="4298727" y="342107"/>
              <a:ext cx="896838" cy="961522"/>
            </a:xfrm>
            <a:custGeom>
              <a:avLst/>
              <a:gdLst/>
              <a:ahLst/>
              <a:cxnLst/>
              <a:rect l="l" t="t" r="r" b="b"/>
              <a:pathLst>
                <a:path w="896838" h="961522">
                  <a:moveTo>
                    <a:pt x="0" y="0"/>
                  </a:moveTo>
                  <a:lnTo>
                    <a:pt x="896838" y="0"/>
                  </a:lnTo>
                  <a:lnTo>
                    <a:pt x="896838" y="961522"/>
                  </a:lnTo>
                  <a:lnTo>
                    <a:pt x="0" y="961522"/>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26" name="Freeform 26"/>
            <p:cNvSpPr/>
            <p:nvPr/>
          </p:nvSpPr>
          <p:spPr>
            <a:xfrm>
              <a:off x="6502778" y="318086"/>
              <a:ext cx="1207087" cy="1009564"/>
            </a:xfrm>
            <a:custGeom>
              <a:avLst/>
              <a:gdLst/>
              <a:ahLst/>
              <a:cxnLst/>
              <a:rect l="l" t="t" r="r" b="b"/>
              <a:pathLst>
                <a:path w="1207087" h="1009564">
                  <a:moveTo>
                    <a:pt x="0" y="0"/>
                  </a:moveTo>
                  <a:lnTo>
                    <a:pt x="1207088" y="0"/>
                  </a:lnTo>
                  <a:lnTo>
                    <a:pt x="1207088" y="1009564"/>
                  </a:lnTo>
                  <a:lnTo>
                    <a:pt x="0" y="1009564"/>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27" name="TextBox 27"/>
            <p:cNvSpPr txBox="1"/>
            <p:nvPr/>
          </p:nvSpPr>
          <p:spPr>
            <a:xfrm>
              <a:off x="22163171" y="429379"/>
              <a:ext cx="1562297" cy="714375"/>
            </a:xfrm>
            <a:prstGeom prst="rect">
              <a:avLst/>
            </a:prstGeom>
          </p:spPr>
          <p:txBody>
            <a:bodyPr lIns="0" tIns="0" rIns="0" bIns="0" rtlCol="0" anchor="t">
              <a:spAutoFit/>
            </a:bodyPr>
            <a:lstStyle/>
            <a:p>
              <a:pPr algn="r">
                <a:lnSpc>
                  <a:spcPts val="3840"/>
                </a:lnSpc>
              </a:pPr>
              <a:r>
                <a:rPr lang="en-US" sz="3200">
                  <a:solidFill>
                    <a:srgbClr val="000000"/>
                  </a:solidFill>
                  <a:latin typeface="Retropix"/>
                </a:rPr>
                <a:t>23:11</a:t>
              </a:r>
            </a:p>
          </p:txBody>
        </p:sp>
      </p:grpSp>
      <p:sp>
        <p:nvSpPr>
          <p:cNvPr id="28" name="Freeform 28"/>
          <p:cNvSpPr/>
          <p:nvPr/>
        </p:nvSpPr>
        <p:spPr>
          <a:xfrm>
            <a:off x="16773447" y="2991016"/>
            <a:ext cx="808959" cy="782484"/>
          </a:xfrm>
          <a:custGeom>
            <a:avLst/>
            <a:gdLst/>
            <a:ahLst/>
            <a:cxnLst/>
            <a:rect l="l" t="t" r="r" b="b"/>
            <a:pathLst>
              <a:path w="808959" h="782484">
                <a:moveTo>
                  <a:pt x="0" y="0"/>
                </a:moveTo>
                <a:lnTo>
                  <a:pt x="808959" y="0"/>
                </a:lnTo>
                <a:lnTo>
                  <a:pt x="808959" y="782484"/>
                </a:lnTo>
                <a:lnTo>
                  <a:pt x="0" y="782484"/>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sp>
    </p:spTree>
    <p:extLst>
      <p:ext uri="{BB962C8B-B14F-4D97-AF65-F5344CB8AC3E}">
        <p14:creationId xmlns:p14="http://schemas.microsoft.com/office/powerpoint/2010/main" val="2589168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1085</Words>
  <Application>Microsoft Office PowerPoint</Application>
  <PresentationFormat>Custom</PresentationFormat>
  <Paragraphs>88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Public Sans Bold</vt:lpstr>
      <vt:lpstr>Arial</vt:lpstr>
      <vt:lpstr>Public Sans</vt:lpstr>
      <vt:lpstr>Retropix</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Teal Abu-Abu Biru Trendi Retro Digitalisme Kreatif</dc:title>
  <cp:lastModifiedBy>Dylan Wijaya</cp:lastModifiedBy>
  <cp:revision>2</cp:revision>
  <dcterms:created xsi:type="dcterms:W3CDTF">2006-08-16T00:00:00Z</dcterms:created>
  <dcterms:modified xsi:type="dcterms:W3CDTF">2023-10-29T14:07:08Z</dcterms:modified>
  <dc:identifier>DAFyiB_sIu8</dc:identifier>
</cp:coreProperties>
</file>