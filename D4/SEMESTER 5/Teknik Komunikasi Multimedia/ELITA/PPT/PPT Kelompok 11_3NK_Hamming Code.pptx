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8" r:id="rId3"/>
    <p:sldId id="258" r:id="rId4"/>
    <p:sldId id="259" r:id="rId5"/>
    <p:sldId id="271" r:id="rId6"/>
    <p:sldId id="281" r:id="rId7"/>
    <p:sldId id="284" r:id="rId8"/>
    <p:sldId id="288" r:id="rId9"/>
    <p:sldId id="298" r:id="rId10"/>
    <p:sldId id="272" r:id="rId11"/>
    <p:sldId id="290" r:id="rId12"/>
    <p:sldId id="321" r:id="rId13"/>
    <p:sldId id="291" r:id="rId14"/>
    <p:sldId id="313" r:id="rId15"/>
    <p:sldId id="314" r:id="rId16"/>
    <p:sldId id="315" r:id="rId17"/>
    <p:sldId id="318" r:id="rId18"/>
    <p:sldId id="317" r:id="rId19"/>
    <p:sldId id="319" r:id="rId20"/>
    <p:sldId id="269" r:id="rId21"/>
    <p:sldId id="32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7AD9"/>
    <a:srgbClr val="9188E5"/>
    <a:srgbClr val="FEBB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2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3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FC9F618-B07A-EA5A-536A-551EE61C3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7098E82E-BC85-CD55-5FB8-EA78B5BECD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FE3EB280-C18A-5C0C-C48D-2FE11813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5DE4BCDD-CF04-B317-FAFE-DC189B57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BD9EA084-B44F-7B1E-7A4C-74C85CEF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022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9ECFC78-6D67-D73B-807D-268CEB1D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A088A040-0900-BDDA-809C-89FB281BC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EEC39D6-47AE-6BF4-140B-816EF0774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4FDFDCD8-827C-B9AA-CF8E-F2C1C2E6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8AEF915B-6C3F-5EC2-C61A-9BE6163E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999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4423AFF-77F5-B627-02D4-8672AC2D2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10CA839E-B670-2575-1E65-62C3CD2DB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29A4974-80E7-C920-6EEA-14FE7909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15D566AB-E09E-436F-50A1-97AECA08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B4325F5A-4514-7E44-7162-34B9C66D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207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1D03A8F-9E13-0267-0D27-D464C0546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062CC47-0FE8-302B-8108-4CAFED61E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F93571E8-20DD-12C9-CB58-F3E3B6A47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3DF3CEEB-7859-21A5-9094-5516156F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86239E8D-D9DA-BA8B-6849-0525201A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76776674-08A0-F12C-21D2-360238C8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640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31506CA-BF23-F393-7960-8E322419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75EA695B-2094-B847-9D0C-DDDA89DD3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1D8B1E5A-5451-EC69-A23C-5D58E2214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B9BC162C-1861-F7E5-7178-2EA364D83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2204AE25-EE38-FC24-E600-430A6009F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333319D8-25A3-6F0E-8D33-0DD5A1DA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461198FF-B289-34F8-B46F-16D6CB01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B28EF4D5-39F4-EF7A-45F0-265AF2C5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093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C94048F-A83E-AC73-7041-A52CAA52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03E2D3B6-A2DB-8B88-F11B-55F6DF30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ED8C560E-6A74-2811-4C84-4D130A49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C1D5C5DF-7DDD-B59F-603C-3D671E11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393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4397EAAE-53E0-F42C-8A13-B40305D79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4DA149BE-547B-DF4C-4298-C440F3CF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75DC2F80-638D-83F8-45CB-25308E407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618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8259AD6-B7A0-CCB0-F42A-CEA220C4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CB95895-F04D-567C-B360-DD982E653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29C5AB7F-6E70-16CC-DF1C-037F0048C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4AE0F7C4-4AD9-82B1-3A6C-2D8CFF8FB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6F88D9B5-5879-CBA7-A6E1-B6618320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83E77F83-0029-0A7F-6B63-F3868DBC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825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70C3339-BDDD-6174-9329-1E2A8849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0B5A036F-3BFD-31B1-10F9-90B6B8CD1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E3143476-3AFB-C5D9-918F-ED22ABD42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F9B76F51-6F5D-9EB8-0056-DA1C63EA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775A6F2F-05BB-DDCC-617B-AFAEB50A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B552A5AE-0C0F-1C97-AA1C-1BF4BFEE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6764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F49F42C-9726-8895-C714-446A06CEE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43233BEF-9344-270B-1CE3-45E472376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B06BAD78-05F2-03B2-3C24-B570344F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FFE86E09-8AB2-8664-F844-0F807C65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EFDBCD8-1D0B-782F-F5EF-6CEF2792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32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80B0B506-4999-BD8A-5BAB-A1949E4A6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633FBD0E-BA93-8C07-3C31-C180B83C8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C36F5DBD-CFD8-9C43-0BF5-714153D3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ECB47323-46BA-6F71-3F47-93D0F0AE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7972BF1A-587E-8386-6410-920ED1F3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6201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686C-4CCC-4A88-BB0D-2A4F27591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CBC1A-6D98-4155-A40D-14A436C2E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33416-3B03-41A2-ADBC-D558ED7F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438D9-8D92-4EBE-A486-C587F5BE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C5B4-75D5-4EDB-B37B-18A0B0CC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96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010D-083C-4C2A-8AED-CD778DBE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FA3F-EC3B-4DFC-BB17-A4C7AF99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1AB11-F4E3-4A68-B726-DBD2EDB2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49355-F09B-43FD-9CB4-953662DA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37CF9-6EF3-4A05-A4FC-02C8FF5E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3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8679-05C6-4CF1-BB4A-64843D635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BD72E-A849-4583-9AA7-566C8C8E8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B084-B758-4E05-822C-0D5A57B0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ADDF4-638B-4815-BB8C-664546A9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40164-1914-4AE2-A9E8-F4E90F2D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18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9475-860F-4448-9950-10FC6D0F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0E9D0-9AC1-4667-B087-22C9256C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1D3C4-B9D6-4E4A-874C-7B7D531D7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9D501-1935-4CA3-BBE4-A30E4019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CEC43-B6F4-4608-BECF-DE523E46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14207-7F1E-4E8A-80E8-70747C79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85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9886-AE19-49AE-ADAB-1E8F96412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F021C-E4EB-4B91-8FE0-788CCC086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60301-35B4-41E6-AA0A-E642A5316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17E52-64D5-4B13-8CD0-9E6314A8D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9B7F0F-57F8-461B-B8DC-1234C3470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38848-DA25-4A2D-9903-D07A25C4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9F565-0B42-4D69-8549-4CE972FB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A75EA-336C-4B8E-A2DC-4C78D575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29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523F-FE11-46A0-8CB1-64B10E09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64767-04FC-46AC-9468-4639B1CC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12E4C-79AF-4D28-9091-5E85AE67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7AC4C-194E-4EF2-944B-B7BFFDF6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93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F34D9-402E-4A54-B9ED-6EBE6A55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30939-C578-4E8D-AB84-8A744773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14FD7-C1D2-4360-9BF3-753F15B4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84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05CD287-BEE4-46C1-AAF3-6B22E1C80D3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62113" y="2273300"/>
            <a:ext cx="2520950" cy="45847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Drag and Drop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4050866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E919-E694-43C1-A2B0-463F978A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8C5201-6E4C-4A9A-AE83-6548EF1D0C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9E7F5-5C1D-4858-962A-88BE45881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E835E-1810-4397-81FE-0D7C205E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8605D-B969-4157-BE3C-9B72C6B6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90612-B942-4CB8-B4A8-EBE3E540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221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4517-C826-4F98-8855-712A4512F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5E985-EC3F-42A1-AF7C-1E4834A2E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55D6-9684-4885-A80F-82ABBFDE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CE032-F32B-4F75-894E-1B8BC9D5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2671F-5A8B-4226-BACC-E47127D8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53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D4DD8-092A-4715-AF85-C133423FD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170BE-F2E9-4C66-985A-54B2E3ED2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F8467-721F-486C-9167-454EC04A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689A9-E3E6-4108-949E-BD10F41F4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BE54-9363-4E22-9C41-5605BB624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7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2115A0AA-8335-7996-C021-0BB969A1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ID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D322F11E-50F3-F511-EA9C-B422C49F6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1CC54C4-26BD-71B5-7230-9C04F9B86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F293E-EB90-41B2-B3CE-E1E22B8E2861}" type="datetimeFigureOut">
              <a:rPr lang="en-ID" smtClean="0"/>
              <a:t>04/04/2023</a:t>
            </a:fld>
            <a:endParaRPr lang="en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5DD97E26-872C-6758-1052-E6F936BD0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6D3E4B5B-1DDC-7753-92BB-984978156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2C171-A2B6-44C9-8707-E1369E95A01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377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1B219-54AC-4A60-8248-EA804C4D8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D78E4-1EB0-48B2-A9CF-2D1FD812A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F0F9F-AC9A-4597-BEDC-D0F4C4606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5B84D-D061-483E-84D4-FDF00078B9A9}" type="datetimeFigureOut">
              <a:rPr lang="en-US" smtClean="0"/>
              <a:t>4/4/2023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EE440-A915-46D6-A7F4-ECAAFB0E0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F1FD0-10EF-4EF8-BBA9-5D46C287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DBBF1-274E-473A-94DF-899C7F88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9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-59871" y="3420835"/>
            <a:ext cx="12311743" cy="1633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33168" y="1229498"/>
            <a:ext cx="4500950" cy="4374292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id-ID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4211" y="1264042"/>
            <a:ext cx="45009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30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3</a:t>
            </a:r>
            <a:endParaRPr lang="id-ID" sz="30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2598452"/>
      </p:ext>
    </p:extLst>
  </p:cSld>
  <p:clrMapOvr>
    <a:masterClrMapping/>
  </p:clrMapOvr>
  <p:transition spd="slow" advClick="0" advTm="1000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3420836"/>
            <a:ext cx="12192000" cy="16328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33168" y="1229498"/>
            <a:ext cx="4500950" cy="4374292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/>
          <p:cNvSpPr txBox="1"/>
          <p:nvPr/>
        </p:nvSpPr>
        <p:spPr>
          <a:xfrm>
            <a:off x="3845525" y="1285104"/>
            <a:ext cx="45009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2</a:t>
            </a:r>
            <a:endParaRPr lang="id-ID" sz="30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0154429"/>
      </p:ext>
    </p:extLst>
  </p:cSld>
  <p:clrMapOvr>
    <a:masterClrMapping/>
  </p:clrMapOvr>
  <p:transition spd="slow" advClick="0" advTm="1000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3412672"/>
            <a:ext cx="12192000" cy="32657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833168" y="1229498"/>
            <a:ext cx="4500950" cy="4374292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/>
          <p:cNvSpPr txBox="1"/>
          <p:nvPr/>
        </p:nvSpPr>
        <p:spPr>
          <a:xfrm>
            <a:off x="3833168" y="1272747"/>
            <a:ext cx="45009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0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1</a:t>
            </a:r>
            <a:endParaRPr lang="id-ID" sz="30000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1020475"/>
      </p:ext>
    </p:extLst>
  </p:cSld>
  <p:clrMapOvr>
    <a:masterClrMapping/>
  </p:clrMapOvr>
  <p:transition spd="slow" advClick="0" advTm="1000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0CACAF8-B889-469D-9D5B-695F85C11B04}"/>
              </a:ext>
            </a:extLst>
          </p:cNvPr>
          <p:cNvSpPr/>
          <p:nvPr/>
        </p:nvSpPr>
        <p:spPr>
          <a:xfrm>
            <a:off x="7336061" y="1436924"/>
            <a:ext cx="3984152" cy="39841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777FED-90F0-4AA5-8BF2-E13431E30BEF}"/>
              </a:ext>
            </a:extLst>
          </p:cNvPr>
          <p:cNvSpPr/>
          <p:nvPr/>
        </p:nvSpPr>
        <p:spPr>
          <a:xfrm>
            <a:off x="7769199" y="1870062"/>
            <a:ext cx="3117876" cy="311787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8045424" y="2146287"/>
            <a:ext cx="2565426" cy="2565426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946C47-4E7D-4AC9-A14B-6312C9EDD132}"/>
              </a:ext>
            </a:extLst>
          </p:cNvPr>
          <p:cNvSpPr txBox="1"/>
          <p:nvPr/>
        </p:nvSpPr>
        <p:spPr>
          <a:xfrm>
            <a:off x="7887605" y="2105561"/>
            <a:ext cx="288106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HC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A77B90-BBEF-485C-A228-1C702F16A5B9}"/>
              </a:ext>
            </a:extLst>
          </p:cNvPr>
          <p:cNvSpPr/>
          <p:nvPr/>
        </p:nvSpPr>
        <p:spPr>
          <a:xfrm>
            <a:off x="2289758" y="5368556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E30F1E-5667-4A5C-9D64-5CD20476EF5A}"/>
              </a:ext>
            </a:extLst>
          </p:cNvPr>
          <p:cNvSpPr/>
          <p:nvPr/>
        </p:nvSpPr>
        <p:spPr>
          <a:xfrm>
            <a:off x="4681892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5174B1-D41B-4C7E-B047-B10BB0ABE416}"/>
              </a:ext>
            </a:extLst>
          </p:cNvPr>
          <p:cNvSpPr/>
          <p:nvPr/>
        </p:nvSpPr>
        <p:spPr>
          <a:xfrm>
            <a:off x="4472762" y="539544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15C9A4-846F-49F8-BF9D-01B538F54DCF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C404ED3-79D5-4532-890E-6E47B37406D9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B32BC37-87D6-483C-9658-108C3FBDFC68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394B79C-BEB7-4469-B989-664EF06AABC8}"/>
              </a:ext>
            </a:extLst>
          </p:cNvPr>
          <p:cNvSpPr/>
          <p:nvPr/>
        </p:nvSpPr>
        <p:spPr>
          <a:xfrm>
            <a:off x="7009145" y="584610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D62E422-4D82-412C-BD67-335770D6EA19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46B0F60-813D-4016-9416-2703AFCF15F3}"/>
              </a:ext>
            </a:extLst>
          </p:cNvPr>
          <p:cNvSpPr/>
          <p:nvPr/>
        </p:nvSpPr>
        <p:spPr>
          <a:xfrm>
            <a:off x="10608615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E8299B2-436D-47D8-A32B-9BFABC2441C9}"/>
              </a:ext>
            </a:extLst>
          </p:cNvPr>
          <p:cNvSpPr/>
          <p:nvPr/>
        </p:nvSpPr>
        <p:spPr>
          <a:xfrm>
            <a:off x="7541962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" name="TextBox 31">
            <a:extLst>
              <a:ext uri="{FF2B5EF4-FFF2-40B4-BE49-F238E27FC236}">
                <a16:creationId xmlns:a16="http://schemas.microsoft.com/office/drawing/2014/main" id="{79997854-6E75-758C-EF31-A39430070FEF}"/>
              </a:ext>
            </a:extLst>
          </p:cNvPr>
          <p:cNvSpPr txBox="1"/>
          <p:nvPr/>
        </p:nvSpPr>
        <p:spPr>
          <a:xfrm>
            <a:off x="965711" y="2533575"/>
            <a:ext cx="5761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white">
                    <a:lumMod val="95000"/>
                  </a:prstClr>
                </a:solidFill>
                <a:latin typeface="Montserrat"/>
              </a:rPr>
              <a:t>HAMMING CODE</a:t>
            </a:r>
          </a:p>
        </p:txBody>
      </p:sp>
      <p:sp>
        <p:nvSpPr>
          <p:cNvPr id="5" name="TextBox 45">
            <a:extLst>
              <a:ext uri="{FF2B5EF4-FFF2-40B4-BE49-F238E27FC236}">
                <a16:creationId xmlns:a16="http://schemas.microsoft.com/office/drawing/2014/main" id="{01053F54-96A6-7EA4-DEF5-03874F944652}"/>
              </a:ext>
            </a:extLst>
          </p:cNvPr>
          <p:cNvSpPr txBox="1"/>
          <p:nvPr/>
        </p:nvSpPr>
        <p:spPr>
          <a:xfrm>
            <a:off x="965711" y="4065382"/>
            <a:ext cx="5535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prstClr val="white">
                    <a:lumMod val="95000"/>
                  </a:prstClr>
                </a:solidFill>
                <a:latin typeface="Montserrat"/>
              </a:rPr>
              <a:t>KELOMPOK 11 – 3NK</a:t>
            </a:r>
          </a:p>
          <a:p>
            <a:r>
              <a:rPr lang="en-US" dirty="0">
                <a:solidFill>
                  <a:prstClr val="white">
                    <a:lumMod val="95000"/>
                  </a:prstClr>
                </a:solidFill>
                <a:latin typeface="Montserrat"/>
              </a:rPr>
              <a:t>Michael Galileo Hasian</a:t>
            </a:r>
          </a:p>
          <a:p>
            <a:r>
              <a:rPr lang="en-US" dirty="0">
                <a:solidFill>
                  <a:prstClr val="white">
                    <a:lumMod val="95000"/>
                  </a:prstClr>
                </a:solidFill>
                <a:latin typeface="Montserrat"/>
              </a:rPr>
              <a:t>Nabila Alia Zahra</a:t>
            </a:r>
          </a:p>
        </p:txBody>
      </p:sp>
    </p:spTree>
    <p:extLst>
      <p:ext uri="{BB962C8B-B14F-4D97-AF65-F5344CB8AC3E}">
        <p14:creationId xmlns:p14="http://schemas.microsoft.com/office/powerpoint/2010/main" val="310745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1" grpId="0" animBg="1"/>
      <p:bldP spid="43" grpId="0" animBg="1"/>
      <p:bldP spid="44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-150422" y="0"/>
            <a:ext cx="10684711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C6562D-805D-4DCF-9F0A-CE0275A17EDE}"/>
              </a:ext>
            </a:extLst>
          </p:cNvPr>
          <p:cNvSpPr/>
          <p:nvPr/>
        </p:nvSpPr>
        <p:spPr>
          <a:xfrm>
            <a:off x="1511300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E02A2-E436-4D00-8F9D-4231677F6A5F}"/>
              </a:ext>
            </a:extLst>
          </p:cNvPr>
          <p:cNvSpPr txBox="1"/>
          <p:nvPr/>
        </p:nvSpPr>
        <p:spPr>
          <a:xfrm>
            <a:off x="1559617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SEJARAH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965238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4719992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16135" y="655017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10403009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0A61356-271A-4F3F-BF03-642010FE8FD2}"/>
              </a:ext>
            </a:extLst>
          </p:cNvPr>
          <p:cNvSpPr/>
          <p:nvPr/>
        </p:nvSpPr>
        <p:spPr>
          <a:xfrm>
            <a:off x="10403009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B3E930-5B54-4098-8DDE-4CA1633F61CE}"/>
              </a:ext>
            </a:extLst>
          </p:cNvPr>
          <p:cNvSpPr/>
          <p:nvPr/>
        </p:nvSpPr>
        <p:spPr>
          <a:xfrm>
            <a:off x="12901273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10538698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349701-D5FE-42FF-9E96-5385942D4CA8}"/>
              </a:ext>
            </a:extLst>
          </p:cNvPr>
          <p:cNvSpPr/>
          <p:nvPr/>
        </p:nvSpPr>
        <p:spPr>
          <a:xfrm>
            <a:off x="10815991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553431" y="62192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3328A9-6195-4AB3-87B6-8EB5F110E2A3}"/>
              </a:ext>
            </a:extLst>
          </p:cNvPr>
          <p:cNvSpPr/>
          <p:nvPr/>
        </p:nvSpPr>
        <p:spPr>
          <a:xfrm>
            <a:off x="535003" y="1941227"/>
            <a:ext cx="5016500" cy="152400"/>
          </a:xfrm>
          <a:prstGeom prst="rect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58E3FB-29E1-45E8-93A4-E6CCE604E1CC}"/>
              </a:ext>
            </a:extLst>
          </p:cNvPr>
          <p:cNvGrpSpPr/>
          <p:nvPr/>
        </p:nvGrpSpPr>
        <p:grpSpPr>
          <a:xfrm>
            <a:off x="-404813" y="1175733"/>
            <a:ext cx="4603262" cy="908658"/>
            <a:chOff x="4983236" y="2355242"/>
            <a:chExt cx="4603262" cy="90865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2437AB-186B-4EDF-89AE-AA9DDD5B2985}"/>
                </a:ext>
              </a:extLst>
            </p:cNvPr>
            <p:cNvSpPr/>
            <p:nvPr/>
          </p:nvSpPr>
          <p:spPr>
            <a:xfrm>
              <a:off x="4983236" y="3111500"/>
              <a:ext cx="4208389" cy="152400"/>
            </a:xfrm>
            <a:prstGeom prst="rect">
              <a:avLst/>
            </a:prstGeom>
            <a:solidFill>
              <a:srgbClr val="FEBB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CC8F59C-B644-47B0-9167-C1709C996A31}"/>
                </a:ext>
              </a:extLst>
            </p:cNvPr>
            <p:cNvSpPr/>
            <p:nvPr/>
          </p:nvSpPr>
          <p:spPr>
            <a:xfrm flipV="1">
              <a:off x="8796751" y="2355242"/>
              <a:ext cx="789747" cy="690300"/>
            </a:xfrm>
            <a:custGeom>
              <a:avLst/>
              <a:gdLst>
                <a:gd name="connsiteX0" fmla="*/ 79515 w 789747"/>
                <a:gd name="connsiteY0" fmla="*/ 690300 h 690300"/>
                <a:gd name="connsiteX1" fmla="*/ 710232 w 789747"/>
                <a:gd name="connsiteY1" fmla="*/ 690300 h 690300"/>
                <a:gd name="connsiteX2" fmla="*/ 789747 w 789747"/>
                <a:gd name="connsiteY2" fmla="*/ 610785 h 690300"/>
                <a:gd name="connsiteX3" fmla="*/ 789747 w 789747"/>
                <a:gd name="connsiteY3" fmla="*/ 292737 h 690300"/>
                <a:gd name="connsiteX4" fmla="*/ 710232 w 789747"/>
                <a:gd name="connsiteY4" fmla="*/ 213222 h 690300"/>
                <a:gd name="connsiteX5" fmla="*/ 504555 w 789747"/>
                <a:gd name="connsiteY5" fmla="*/ 213222 h 690300"/>
                <a:gd name="connsiteX6" fmla="*/ 394873 w 789747"/>
                <a:gd name="connsiteY6" fmla="*/ 0 h 690300"/>
                <a:gd name="connsiteX7" fmla="*/ 285190 w 789747"/>
                <a:gd name="connsiteY7" fmla="*/ 213222 h 690300"/>
                <a:gd name="connsiteX8" fmla="*/ 79515 w 789747"/>
                <a:gd name="connsiteY8" fmla="*/ 213222 h 690300"/>
                <a:gd name="connsiteX9" fmla="*/ 0 w 789747"/>
                <a:gd name="connsiteY9" fmla="*/ 292737 h 690300"/>
                <a:gd name="connsiteX10" fmla="*/ 0 w 789747"/>
                <a:gd name="connsiteY10" fmla="*/ 610785 h 690300"/>
                <a:gd name="connsiteX11" fmla="*/ 79515 w 789747"/>
                <a:gd name="connsiteY11" fmla="*/ 690300 h 69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89747" h="690300">
                  <a:moveTo>
                    <a:pt x="79515" y="690300"/>
                  </a:moveTo>
                  <a:lnTo>
                    <a:pt x="710232" y="690300"/>
                  </a:lnTo>
                  <a:cubicBezTo>
                    <a:pt x="754147" y="690300"/>
                    <a:pt x="789747" y="654700"/>
                    <a:pt x="789747" y="610785"/>
                  </a:cubicBezTo>
                  <a:lnTo>
                    <a:pt x="789747" y="292737"/>
                  </a:lnTo>
                  <a:cubicBezTo>
                    <a:pt x="789747" y="248822"/>
                    <a:pt x="754147" y="213222"/>
                    <a:pt x="710232" y="213222"/>
                  </a:cubicBezTo>
                  <a:lnTo>
                    <a:pt x="504555" y="213222"/>
                  </a:lnTo>
                  <a:lnTo>
                    <a:pt x="394873" y="0"/>
                  </a:lnTo>
                  <a:lnTo>
                    <a:pt x="285190" y="213222"/>
                  </a:lnTo>
                  <a:lnTo>
                    <a:pt x="79515" y="213222"/>
                  </a:lnTo>
                  <a:cubicBezTo>
                    <a:pt x="35600" y="213222"/>
                    <a:pt x="0" y="248822"/>
                    <a:pt x="0" y="292737"/>
                  </a:cubicBezTo>
                  <a:lnTo>
                    <a:pt x="0" y="610785"/>
                  </a:lnTo>
                  <a:cubicBezTo>
                    <a:pt x="0" y="654700"/>
                    <a:pt x="35600" y="690300"/>
                    <a:pt x="79515" y="69030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EE85B71-6C92-4628-9D17-6B4B9FE98E40}"/>
              </a:ext>
            </a:extLst>
          </p:cNvPr>
          <p:cNvSpPr txBox="1"/>
          <p:nvPr/>
        </p:nvSpPr>
        <p:spPr>
          <a:xfrm>
            <a:off x="433052" y="1518298"/>
            <a:ext cx="293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FEBB6E"/>
                </a:solidFill>
                <a:latin typeface="Montserrat"/>
                <a:ea typeface="Tahoma" panose="020B0604030504040204" pitchFamily="34" charset="0"/>
                <a:cs typeface="Arial" panose="020B0604020202020204" pitchFamily="34" charset="0"/>
              </a:rPr>
              <a:t>RICHARD HAMMING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EBB6E"/>
              </a:solidFill>
              <a:effectLst/>
              <a:uLnTx/>
              <a:uFillTx/>
              <a:latin typeface="Montserrat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8E1ECE0-1C05-4695-BD0C-DB056B302A14}"/>
              </a:ext>
            </a:extLst>
          </p:cNvPr>
          <p:cNvGrpSpPr/>
          <p:nvPr/>
        </p:nvGrpSpPr>
        <p:grpSpPr>
          <a:xfrm>
            <a:off x="433051" y="2043764"/>
            <a:ext cx="9827452" cy="3285251"/>
            <a:chOff x="827457" y="2276075"/>
            <a:chExt cx="5016499" cy="328525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DAB2E34-4DD3-4B7C-A62A-087CB981C994}"/>
                </a:ext>
              </a:extLst>
            </p:cNvPr>
            <p:cNvSpPr txBox="1"/>
            <p:nvPr/>
          </p:nvSpPr>
          <p:spPr>
            <a:xfrm>
              <a:off x="827457" y="2699004"/>
              <a:ext cx="5016499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b="1" dirty="0">
                  <a:solidFill>
                    <a:schemeClr val="bg1"/>
                  </a:solidFill>
                </a:rPr>
                <a:t>Hamming Code </a:t>
              </a:r>
              <a:r>
                <a:rPr lang="en-GB" b="1" dirty="0" err="1">
                  <a:solidFill>
                    <a:schemeClr val="bg1"/>
                  </a:solidFill>
                </a:rPr>
                <a:t>diperkenalkan</a:t>
              </a:r>
              <a:r>
                <a:rPr lang="en-GB" b="1" dirty="0">
                  <a:solidFill>
                    <a:schemeClr val="bg1"/>
                  </a:solidFill>
                </a:rPr>
                <a:t> oleh Ricard Hamming pada </a:t>
              </a:r>
              <a:r>
                <a:rPr lang="en-GB" b="1" dirty="0" err="1">
                  <a:solidFill>
                    <a:schemeClr val="bg1"/>
                  </a:solidFill>
                </a:rPr>
                <a:t>tahun</a:t>
              </a:r>
              <a:r>
                <a:rPr lang="en-GB" b="1" dirty="0">
                  <a:solidFill>
                    <a:schemeClr val="bg1"/>
                  </a:solidFill>
                </a:rPr>
                <a:t> 1950 </a:t>
              </a:r>
              <a:r>
                <a:rPr lang="en-GB" b="1" dirty="0" err="1">
                  <a:solidFill>
                    <a:schemeClr val="bg1"/>
                  </a:solidFill>
                </a:rPr>
                <a:t>sebagai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kode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tunggal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pengoreksi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kesalahan</a:t>
              </a:r>
              <a:r>
                <a:rPr lang="en-GB" b="1" dirty="0">
                  <a:solidFill>
                    <a:schemeClr val="bg1"/>
                  </a:solidFill>
                </a:rPr>
                <a:t>. Kode Hamming </a:t>
              </a:r>
              <a:r>
                <a:rPr lang="en-GB" b="1" dirty="0" err="1">
                  <a:solidFill>
                    <a:schemeClr val="bg1"/>
                  </a:solidFill>
                </a:rPr>
                <a:t>adalah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seperangkat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koreksi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kesalahan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kode</a:t>
              </a:r>
              <a:r>
                <a:rPr lang="en-GB" b="1" dirty="0">
                  <a:solidFill>
                    <a:schemeClr val="bg1"/>
                  </a:solidFill>
                </a:rPr>
                <a:t> yang </a:t>
              </a:r>
              <a:r>
                <a:rPr lang="en-GB" b="1" dirty="0" err="1">
                  <a:solidFill>
                    <a:schemeClr val="bg1"/>
                  </a:solidFill>
                </a:rPr>
                <a:t>dapat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digunakan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untuk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mendeteksi</a:t>
              </a:r>
              <a:r>
                <a:rPr lang="en-GB" b="1" dirty="0">
                  <a:solidFill>
                    <a:schemeClr val="bg1"/>
                  </a:solidFill>
                </a:rPr>
                <a:t> dan </a:t>
              </a:r>
              <a:r>
                <a:rPr lang="en-GB" b="1" dirty="0" err="1">
                  <a:solidFill>
                    <a:schemeClr val="bg1"/>
                  </a:solidFill>
                </a:rPr>
                <a:t>memperbaiki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kesalahan</a:t>
              </a:r>
              <a:r>
                <a:rPr lang="en-GB" b="1" dirty="0">
                  <a:solidFill>
                    <a:schemeClr val="bg1"/>
                  </a:solidFill>
                </a:rPr>
                <a:t> bit yang </a:t>
              </a:r>
              <a:r>
                <a:rPr lang="en-GB" b="1" dirty="0" err="1">
                  <a:solidFill>
                    <a:schemeClr val="bg1"/>
                  </a:solidFill>
                </a:rPr>
                <a:t>dapat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terjadi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ketika</a:t>
              </a:r>
              <a:r>
                <a:rPr lang="en-GB" b="1" dirty="0">
                  <a:solidFill>
                    <a:schemeClr val="bg1"/>
                  </a:solidFill>
                </a:rPr>
                <a:t> data </a:t>
              </a:r>
              <a:r>
                <a:rPr lang="en-GB" b="1" dirty="0" err="1">
                  <a:solidFill>
                    <a:schemeClr val="bg1"/>
                  </a:solidFill>
                </a:rPr>
                <a:t>komputer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dipindahkan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atau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disimpan</a:t>
              </a:r>
              <a:r>
                <a:rPr lang="en-GB" b="1" dirty="0">
                  <a:solidFill>
                    <a:schemeClr val="bg1"/>
                  </a:solidFill>
                </a:rPr>
                <a:t>. </a:t>
              </a:r>
              <a:r>
                <a:rPr lang="en-GB" b="1" dirty="0" err="1">
                  <a:solidFill>
                    <a:schemeClr val="bg1"/>
                  </a:solidFill>
                </a:rPr>
                <a:t>Seperti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koreksi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kesalahan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kode</a:t>
              </a:r>
              <a:r>
                <a:rPr lang="en-GB" b="1" dirty="0">
                  <a:solidFill>
                    <a:schemeClr val="bg1"/>
                  </a:solidFill>
                </a:rPr>
                <a:t>, </a:t>
              </a:r>
              <a:r>
                <a:rPr lang="en-GB" b="1" dirty="0" err="1">
                  <a:solidFill>
                    <a:schemeClr val="bg1"/>
                  </a:solidFill>
                </a:rPr>
                <a:t>kode</a:t>
              </a:r>
              <a:r>
                <a:rPr lang="en-GB" b="1" dirty="0">
                  <a:solidFill>
                    <a:schemeClr val="bg1"/>
                  </a:solidFill>
                </a:rPr>
                <a:t> Hamming </a:t>
              </a:r>
              <a:r>
                <a:rPr lang="en-GB" b="1" dirty="0" err="1">
                  <a:solidFill>
                    <a:schemeClr val="bg1"/>
                  </a:solidFill>
                </a:rPr>
                <a:t>memanfaatkan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konsep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paritas</a:t>
              </a:r>
              <a:r>
                <a:rPr lang="en-GB" b="1" dirty="0">
                  <a:solidFill>
                    <a:schemeClr val="bg1"/>
                  </a:solidFill>
                </a:rPr>
                <a:t> dan bit </a:t>
              </a:r>
              <a:r>
                <a:rPr lang="en-GB" b="1" dirty="0" err="1">
                  <a:solidFill>
                    <a:schemeClr val="bg1"/>
                  </a:solidFill>
                </a:rPr>
                <a:t>paritas</a:t>
              </a:r>
              <a:r>
                <a:rPr lang="en-GB" b="1" dirty="0">
                  <a:solidFill>
                    <a:schemeClr val="bg1"/>
                  </a:solidFill>
                </a:rPr>
                <a:t>, yang </a:t>
              </a:r>
              <a:r>
                <a:rPr lang="en-GB" b="1" dirty="0" err="1">
                  <a:solidFill>
                    <a:schemeClr val="bg1"/>
                  </a:solidFill>
                </a:rPr>
                <a:t>merupakan</a:t>
              </a:r>
              <a:r>
                <a:rPr lang="en-GB" b="1" dirty="0">
                  <a:solidFill>
                    <a:schemeClr val="bg1"/>
                  </a:solidFill>
                </a:rPr>
                <a:t> bit yang </a:t>
              </a:r>
              <a:r>
                <a:rPr lang="en-GB" b="1" dirty="0" err="1">
                  <a:solidFill>
                    <a:schemeClr val="bg1"/>
                  </a:solidFill>
                </a:rPr>
                <a:t>ditambahkan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</a:t>
              </a:r>
              <a:r>
                <a:rPr lang="en-GB" b="1" dirty="0">
                  <a:solidFill>
                    <a:schemeClr val="bg1"/>
                  </a:solidFill>
                </a:rPr>
                <a:t> data </a:t>
              </a:r>
              <a:r>
                <a:rPr lang="en-GB" b="1" dirty="0" err="1">
                  <a:solidFill>
                    <a:schemeClr val="bg1"/>
                  </a:solidFill>
                </a:rPr>
                <a:t>sehingga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validitas</a:t>
              </a:r>
              <a:r>
                <a:rPr lang="en-GB" b="1" dirty="0">
                  <a:solidFill>
                    <a:schemeClr val="bg1"/>
                  </a:solidFill>
                </a:rPr>
                <a:t> data </a:t>
              </a:r>
              <a:r>
                <a:rPr lang="en-GB" b="1" dirty="0" err="1">
                  <a:solidFill>
                    <a:schemeClr val="bg1"/>
                  </a:solidFill>
                </a:rPr>
                <a:t>dapat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diperiksa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ketika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dibaca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atau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setelah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diterima</a:t>
              </a:r>
              <a:r>
                <a:rPr lang="en-GB" b="1" dirty="0">
                  <a:solidFill>
                    <a:schemeClr val="bg1"/>
                  </a:solidFill>
                </a:rPr>
                <a:t> di </a:t>
              </a:r>
              <a:r>
                <a:rPr lang="en-GB" b="1" dirty="0" err="1">
                  <a:solidFill>
                    <a:schemeClr val="bg1"/>
                  </a:solidFill>
                </a:rPr>
                <a:t>transmisi</a:t>
              </a:r>
              <a:r>
                <a:rPr lang="en-GB" b="1" dirty="0">
                  <a:solidFill>
                    <a:schemeClr val="bg1"/>
                  </a:solidFill>
                </a:rPr>
                <a:t> data. </a:t>
              </a:r>
              <a:r>
                <a:rPr lang="en-GB" b="1" dirty="0" err="1">
                  <a:solidFill>
                    <a:schemeClr val="bg1"/>
                  </a:solidFill>
                </a:rPr>
                <a:t>Menggunakan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lebih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dari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satu</a:t>
              </a:r>
              <a:r>
                <a:rPr lang="en-GB" b="1" dirty="0">
                  <a:solidFill>
                    <a:schemeClr val="bg1"/>
                  </a:solidFill>
                </a:rPr>
                <a:t> bit </a:t>
              </a:r>
              <a:r>
                <a:rPr lang="en-GB" b="1" dirty="0" err="1">
                  <a:solidFill>
                    <a:schemeClr val="bg1"/>
                  </a:solidFill>
                </a:rPr>
                <a:t>paritas</a:t>
              </a:r>
              <a:r>
                <a:rPr lang="en-GB" b="1" dirty="0">
                  <a:solidFill>
                    <a:schemeClr val="bg1"/>
                  </a:solidFill>
                </a:rPr>
                <a:t>, </a:t>
              </a:r>
              <a:r>
                <a:rPr lang="en-GB" b="1" dirty="0" err="1">
                  <a:solidFill>
                    <a:schemeClr val="bg1"/>
                  </a:solidFill>
                </a:rPr>
                <a:t>kode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koreksi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kesalahan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tidak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bisa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hanya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mengidentifikasi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kesalahan</a:t>
              </a:r>
              <a:r>
                <a:rPr lang="en-GB" b="1" dirty="0">
                  <a:solidFill>
                    <a:schemeClr val="bg1"/>
                  </a:solidFill>
                </a:rPr>
                <a:t> bit </a:t>
              </a:r>
              <a:r>
                <a:rPr lang="en-GB" b="1" dirty="0" err="1">
                  <a:solidFill>
                    <a:schemeClr val="bg1"/>
                  </a:solidFill>
                </a:rPr>
                <a:t>tunggal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dalam</a:t>
              </a:r>
              <a:r>
                <a:rPr lang="en-GB" b="1" dirty="0">
                  <a:solidFill>
                    <a:schemeClr val="bg1"/>
                  </a:solidFill>
                </a:rPr>
                <a:t> unit data, </a:t>
              </a:r>
              <a:r>
                <a:rPr lang="en-GB" b="1" dirty="0" err="1">
                  <a:solidFill>
                    <a:schemeClr val="bg1"/>
                  </a:solidFill>
                </a:rPr>
                <a:t>tetapi</a:t>
              </a:r>
              <a:r>
                <a:rPr lang="en-GB" b="1" dirty="0">
                  <a:solidFill>
                    <a:schemeClr val="bg1"/>
                  </a:solidFill>
                </a:rPr>
                <a:t> juga </a:t>
              </a:r>
              <a:r>
                <a:rPr lang="en-GB" b="1" dirty="0" err="1">
                  <a:solidFill>
                    <a:schemeClr val="bg1"/>
                  </a:solidFill>
                </a:rPr>
                <a:t>lokasi</a:t>
              </a:r>
              <a:r>
                <a:rPr lang="en-GB" b="1" dirty="0">
                  <a:solidFill>
                    <a:schemeClr val="bg1"/>
                  </a:solidFill>
                </a:rPr>
                <a:t> di data unit.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339F3E0-CE06-4C02-ADD7-55FD58EDD3ED}"/>
                </a:ext>
              </a:extLst>
            </p:cNvPr>
            <p:cNvSpPr txBox="1"/>
            <p:nvPr/>
          </p:nvSpPr>
          <p:spPr>
            <a:xfrm>
              <a:off x="827457" y="2276075"/>
              <a:ext cx="3293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ontserrat"/>
                <a:ea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C776215-D5EC-44AC-93A4-86C7A7AC5B10}"/>
              </a:ext>
            </a:extLst>
          </p:cNvPr>
          <p:cNvSpPr/>
          <p:nvPr/>
        </p:nvSpPr>
        <p:spPr>
          <a:xfrm>
            <a:off x="0" y="1248207"/>
            <a:ext cx="535002" cy="1340402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DB22E1C-FC3B-4C0D-9B9C-53631272F70E}"/>
              </a:ext>
            </a:extLst>
          </p:cNvPr>
          <p:cNvSpPr/>
          <p:nvPr/>
        </p:nvSpPr>
        <p:spPr>
          <a:xfrm>
            <a:off x="11657349" y="2472774"/>
            <a:ext cx="535002" cy="13404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765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1809750" y="13412"/>
            <a:ext cx="10399711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946925" y="1368346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568415" y="6298879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1677551" y="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0A61356-271A-4F3F-BF03-642010FE8FD2}"/>
              </a:ext>
            </a:extLst>
          </p:cNvPr>
          <p:cNvSpPr/>
          <p:nvPr/>
        </p:nvSpPr>
        <p:spPr>
          <a:xfrm>
            <a:off x="1677551" y="54232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5EAC5BC0-1F7B-42B2-BDB9-8DD169BDCE3A}"/>
              </a:ext>
            </a:extLst>
          </p:cNvPr>
          <p:cNvSpPr/>
          <p:nvPr/>
        </p:nvSpPr>
        <p:spPr>
          <a:xfrm>
            <a:off x="7611984" y="858192"/>
            <a:ext cx="3092742" cy="466734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3E640F7-B3EE-4178-9429-DCA4B0FEF316}"/>
              </a:ext>
            </a:extLst>
          </p:cNvPr>
          <p:cNvSpPr txBox="1"/>
          <p:nvPr/>
        </p:nvSpPr>
        <p:spPr>
          <a:xfrm>
            <a:off x="7660301" y="859215"/>
            <a:ext cx="2976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j-lt"/>
              </a:rPr>
              <a:t>PENGERTIAN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1813240" y="2338559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349701-D5FE-42FF-9E96-5385942D4CA8}"/>
              </a:ext>
            </a:extLst>
          </p:cNvPr>
          <p:cNvSpPr/>
          <p:nvPr/>
        </p:nvSpPr>
        <p:spPr>
          <a:xfrm>
            <a:off x="10815991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553431" y="62192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D005C2F-3BB1-4700-AF96-B507FFAB2844}"/>
              </a:ext>
            </a:extLst>
          </p:cNvPr>
          <p:cNvSpPr/>
          <p:nvPr/>
        </p:nvSpPr>
        <p:spPr>
          <a:xfrm>
            <a:off x="6639733" y="2026956"/>
            <a:ext cx="5016500" cy="152400"/>
          </a:xfrm>
          <a:prstGeom prst="rect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D463FCF-4178-424F-9678-3D8E21E586A0}"/>
              </a:ext>
            </a:extLst>
          </p:cNvPr>
          <p:cNvGrpSpPr/>
          <p:nvPr/>
        </p:nvGrpSpPr>
        <p:grpSpPr>
          <a:xfrm flipH="1">
            <a:off x="7528362" y="1270698"/>
            <a:ext cx="5120837" cy="908658"/>
            <a:chOff x="4627378" y="2355242"/>
            <a:chExt cx="5120837" cy="908658"/>
          </a:xfrm>
          <a:solidFill>
            <a:schemeClr val="bg1">
              <a:lumMod val="95000"/>
            </a:schemeClr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BA25B6C-5B89-49A7-AD0A-067918C970AE}"/>
                </a:ext>
              </a:extLst>
            </p:cNvPr>
            <p:cNvSpPr/>
            <p:nvPr/>
          </p:nvSpPr>
          <p:spPr>
            <a:xfrm>
              <a:off x="4627378" y="3111500"/>
              <a:ext cx="4564250" cy="152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j-lt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149D2B2-BDAC-4AEA-8131-66BD177B7B31}"/>
                </a:ext>
              </a:extLst>
            </p:cNvPr>
            <p:cNvGrpSpPr/>
            <p:nvPr/>
          </p:nvGrpSpPr>
          <p:grpSpPr>
            <a:xfrm>
              <a:off x="8635033" y="2355242"/>
              <a:ext cx="1113182" cy="690300"/>
              <a:chOff x="8635033" y="2355242"/>
              <a:chExt cx="1113182" cy="690300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9B7CE5A-0C98-4846-B2F3-A96B77781E8D}"/>
                  </a:ext>
                </a:extLst>
              </p:cNvPr>
              <p:cNvSpPr/>
              <p:nvPr/>
            </p:nvSpPr>
            <p:spPr>
              <a:xfrm flipV="1">
                <a:off x="8796751" y="2355242"/>
                <a:ext cx="789747" cy="690300"/>
              </a:xfrm>
              <a:custGeom>
                <a:avLst/>
                <a:gdLst>
                  <a:gd name="connsiteX0" fmla="*/ 79515 w 789747"/>
                  <a:gd name="connsiteY0" fmla="*/ 690300 h 690300"/>
                  <a:gd name="connsiteX1" fmla="*/ 710232 w 789747"/>
                  <a:gd name="connsiteY1" fmla="*/ 690300 h 690300"/>
                  <a:gd name="connsiteX2" fmla="*/ 789747 w 789747"/>
                  <a:gd name="connsiteY2" fmla="*/ 610785 h 690300"/>
                  <a:gd name="connsiteX3" fmla="*/ 789747 w 789747"/>
                  <a:gd name="connsiteY3" fmla="*/ 292737 h 690300"/>
                  <a:gd name="connsiteX4" fmla="*/ 710232 w 789747"/>
                  <a:gd name="connsiteY4" fmla="*/ 213222 h 690300"/>
                  <a:gd name="connsiteX5" fmla="*/ 504555 w 789747"/>
                  <a:gd name="connsiteY5" fmla="*/ 213222 h 690300"/>
                  <a:gd name="connsiteX6" fmla="*/ 394873 w 789747"/>
                  <a:gd name="connsiteY6" fmla="*/ 0 h 690300"/>
                  <a:gd name="connsiteX7" fmla="*/ 285190 w 789747"/>
                  <a:gd name="connsiteY7" fmla="*/ 213222 h 690300"/>
                  <a:gd name="connsiteX8" fmla="*/ 79515 w 789747"/>
                  <a:gd name="connsiteY8" fmla="*/ 213222 h 690300"/>
                  <a:gd name="connsiteX9" fmla="*/ 0 w 789747"/>
                  <a:gd name="connsiteY9" fmla="*/ 292737 h 690300"/>
                  <a:gd name="connsiteX10" fmla="*/ 0 w 789747"/>
                  <a:gd name="connsiteY10" fmla="*/ 610785 h 690300"/>
                  <a:gd name="connsiteX11" fmla="*/ 79515 w 789747"/>
                  <a:gd name="connsiteY11" fmla="*/ 690300 h 690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89747" h="690300">
                    <a:moveTo>
                      <a:pt x="79515" y="690300"/>
                    </a:moveTo>
                    <a:lnTo>
                      <a:pt x="710232" y="690300"/>
                    </a:lnTo>
                    <a:cubicBezTo>
                      <a:pt x="754147" y="690300"/>
                      <a:pt x="789747" y="654700"/>
                      <a:pt x="789747" y="610785"/>
                    </a:cubicBezTo>
                    <a:lnTo>
                      <a:pt x="789747" y="292737"/>
                    </a:lnTo>
                    <a:cubicBezTo>
                      <a:pt x="789747" y="248822"/>
                      <a:pt x="754147" y="213222"/>
                      <a:pt x="710232" y="213222"/>
                    </a:cubicBezTo>
                    <a:lnTo>
                      <a:pt x="504555" y="213222"/>
                    </a:lnTo>
                    <a:lnTo>
                      <a:pt x="394873" y="0"/>
                    </a:lnTo>
                    <a:lnTo>
                      <a:pt x="285190" y="213222"/>
                    </a:lnTo>
                    <a:lnTo>
                      <a:pt x="79515" y="213222"/>
                    </a:lnTo>
                    <a:cubicBezTo>
                      <a:pt x="35600" y="213222"/>
                      <a:pt x="0" y="248822"/>
                      <a:pt x="0" y="292737"/>
                    </a:cubicBezTo>
                    <a:lnTo>
                      <a:pt x="0" y="610785"/>
                    </a:lnTo>
                    <a:cubicBezTo>
                      <a:pt x="0" y="654700"/>
                      <a:pt x="35600" y="690300"/>
                      <a:pt x="79515" y="69030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99A2C0-FA3B-4069-8AA4-202F665EF757}"/>
                  </a:ext>
                </a:extLst>
              </p:cNvPr>
              <p:cNvSpPr txBox="1"/>
              <p:nvPr/>
            </p:nvSpPr>
            <p:spPr>
              <a:xfrm>
                <a:off x="8635033" y="2355242"/>
                <a:ext cx="1113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2400" b="1" dirty="0">
                  <a:solidFill>
                    <a:schemeClr val="bg1"/>
                  </a:solidFill>
                  <a:latin typeface="+mj-lt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C6AB814-323D-4209-AB03-975012F1F9A1}"/>
              </a:ext>
            </a:extLst>
          </p:cNvPr>
          <p:cNvSpPr txBox="1"/>
          <p:nvPr/>
        </p:nvSpPr>
        <p:spPr>
          <a:xfrm>
            <a:off x="8950495" y="1604027"/>
            <a:ext cx="293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Arial" panose="020B0604020202020204" pitchFamily="34" charset="0"/>
              </a:rPr>
              <a:t>HAMMING CODE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F404622-59D6-4FDD-BB19-502BE68D4B4E}"/>
              </a:ext>
            </a:extLst>
          </p:cNvPr>
          <p:cNvGrpSpPr/>
          <p:nvPr/>
        </p:nvGrpSpPr>
        <p:grpSpPr>
          <a:xfrm>
            <a:off x="1944520" y="2239030"/>
            <a:ext cx="9776247" cy="4316889"/>
            <a:chOff x="200704" y="2276075"/>
            <a:chExt cx="5162195" cy="4316889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CCC74B2-2C5E-4F9B-9223-725D4F23E5CF}"/>
                </a:ext>
              </a:extLst>
            </p:cNvPr>
            <p:cNvSpPr txBox="1"/>
            <p:nvPr/>
          </p:nvSpPr>
          <p:spPr>
            <a:xfrm>
              <a:off x="200704" y="2622646"/>
              <a:ext cx="5162195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b="1" dirty="0">
                  <a:solidFill>
                    <a:schemeClr val="bg1"/>
                  </a:solidFill>
                </a:rPr>
                <a:t>Hamming code </a:t>
              </a:r>
              <a:r>
                <a:rPr lang="en-GB" b="1" dirty="0" err="1">
                  <a:solidFill>
                    <a:schemeClr val="bg1"/>
                  </a:solidFill>
                </a:rPr>
                <a:t>adalah</a:t>
              </a:r>
              <a:r>
                <a:rPr lang="en-GB" b="1" dirty="0">
                  <a:solidFill>
                    <a:schemeClr val="bg1"/>
                  </a:solidFill>
                </a:rPr>
                <a:t> salah </a:t>
              </a:r>
              <a:r>
                <a:rPr lang="en-GB" b="1" dirty="0" err="1">
                  <a:solidFill>
                    <a:schemeClr val="bg1"/>
                  </a:solidFill>
                </a:rPr>
                <a:t>satu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kode</a:t>
              </a:r>
              <a:r>
                <a:rPr lang="en-GB" b="1" dirty="0">
                  <a:solidFill>
                    <a:schemeClr val="bg1"/>
                  </a:solidFill>
                </a:rPr>
                <a:t> yang </a:t>
              </a:r>
              <a:r>
                <a:rPr lang="en-GB" b="1" dirty="0" err="1">
                  <a:solidFill>
                    <a:schemeClr val="bg1"/>
                  </a:solidFill>
                </a:rPr>
                <a:t>mendeteksi</a:t>
              </a:r>
              <a:r>
                <a:rPr lang="en-GB" b="1" dirty="0">
                  <a:solidFill>
                    <a:schemeClr val="bg1"/>
                  </a:solidFill>
                </a:rPr>
                <a:t> dan </a:t>
              </a:r>
              <a:r>
                <a:rPr lang="en-GB" b="1" dirty="0" err="1">
                  <a:solidFill>
                    <a:schemeClr val="bg1"/>
                  </a:solidFill>
                </a:rPr>
                <a:t>mengoreksi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kesalahan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tunggal</a:t>
              </a:r>
              <a:r>
                <a:rPr lang="en-GB" b="1" dirty="0">
                  <a:solidFill>
                    <a:schemeClr val="bg1"/>
                  </a:solidFill>
                </a:rPr>
                <a:t> (single bit error) </a:t>
              </a:r>
              <a:r>
                <a:rPr lang="en-GB" b="1" dirty="0" err="1">
                  <a:solidFill>
                    <a:schemeClr val="bg1"/>
                  </a:solidFill>
                </a:rPr>
                <a:t>dalam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setiap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blok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kode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pesan</a:t>
              </a:r>
              <a:r>
                <a:rPr lang="en-GB" b="1" dirty="0">
                  <a:solidFill>
                    <a:schemeClr val="bg1"/>
                  </a:solidFill>
                </a:rPr>
                <a:t> (codeword) </a:t>
              </a:r>
              <a:r>
                <a:rPr lang="en-GB" b="1" dirty="0" err="1">
                  <a:solidFill>
                    <a:schemeClr val="bg1"/>
                  </a:solidFill>
                </a:rPr>
                <a:t>dengan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menyisipkan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beberapa</a:t>
              </a:r>
              <a:r>
                <a:rPr lang="en-GB" b="1" dirty="0">
                  <a:solidFill>
                    <a:schemeClr val="bg1"/>
                  </a:solidFill>
                </a:rPr>
                <a:t> bit </a:t>
              </a:r>
              <a:r>
                <a:rPr lang="en-GB" b="1" dirty="0" err="1">
                  <a:solidFill>
                    <a:schemeClr val="bg1"/>
                  </a:solidFill>
                </a:rPr>
                <a:t>ekstra</a:t>
              </a:r>
              <a:r>
                <a:rPr lang="en-GB" b="1" dirty="0">
                  <a:solidFill>
                    <a:schemeClr val="bg1"/>
                  </a:solidFill>
                </a:rPr>
                <a:t> pada </a:t>
              </a:r>
              <a:r>
                <a:rPr lang="en-GB" b="1" dirty="0" err="1">
                  <a:solidFill>
                    <a:schemeClr val="bg1"/>
                  </a:solidFill>
                </a:rPr>
                <a:t>beberapa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posisi</a:t>
              </a:r>
              <a:r>
                <a:rPr lang="en-GB" b="1" dirty="0">
                  <a:solidFill>
                    <a:schemeClr val="bg1"/>
                  </a:solidFill>
                </a:rPr>
                <a:t> bit </a:t>
              </a:r>
              <a:r>
                <a:rPr lang="en-GB" b="1" dirty="0" err="1">
                  <a:solidFill>
                    <a:schemeClr val="bg1"/>
                  </a:solidFill>
                </a:rPr>
                <a:t>pesan</a:t>
              </a:r>
              <a:r>
                <a:rPr lang="en-GB" b="1" dirty="0">
                  <a:solidFill>
                    <a:schemeClr val="bg1"/>
                  </a:solidFill>
                </a:rPr>
                <a:t> yang </a:t>
              </a:r>
              <a:r>
                <a:rPr lang="en-GB" b="1" dirty="0" err="1">
                  <a:solidFill>
                    <a:schemeClr val="bg1"/>
                  </a:solidFill>
                </a:rPr>
                <a:t>disebut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cek</a:t>
              </a:r>
              <a:r>
                <a:rPr lang="en-GB" b="1" dirty="0">
                  <a:solidFill>
                    <a:schemeClr val="bg1"/>
                  </a:solidFill>
                </a:rPr>
                <a:t> bit (bit parity).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b="1" dirty="0">
                  <a:solidFill>
                    <a:schemeClr val="bg1"/>
                  </a:solidFill>
                </a:rPr>
                <a:t>Hamming code </a:t>
              </a:r>
              <a:r>
                <a:rPr lang="en-GB" b="1" dirty="0" err="1">
                  <a:solidFill>
                    <a:schemeClr val="bg1"/>
                  </a:solidFill>
                </a:rPr>
                <a:t>menggunakan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operasi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logika</a:t>
              </a:r>
              <a:r>
                <a:rPr lang="en-GB" b="1" dirty="0">
                  <a:solidFill>
                    <a:schemeClr val="bg1"/>
                  </a:solidFill>
                </a:rPr>
                <a:t> Ex-OR (Exclusive OR) </a:t>
              </a:r>
              <a:r>
                <a:rPr lang="en-GB" b="1" dirty="0" err="1">
                  <a:solidFill>
                    <a:schemeClr val="bg1"/>
                  </a:solidFill>
                </a:rPr>
                <a:t>untuk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mencari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nilai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cek</a:t>
              </a:r>
              <a:r>
                <a:rPr lang="en-GB" b="1" dirty="0">
                  <a:solidFill>
                    <a:schemeClr val="bg1"/>
                  </a:solidFill>
                </a:rPr>
                <a:t> bit </a:t>
              </a:r>
              <a:r>
                <a:rPr lang="en-GB" b="1" dirty="0" err="1">
                  <a:solidFill>
                    <a:schemeClr val="bg1"/>
                  </a:solidFill>
                </a:rPr>
                <a:t>berdasarkan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nilai</a:t>
              </a:r>
              <a:r>
                <a:rPr lang="en-GB" b="1" dirty="0">
                  <a:solidFill>
                    <a:schemeClr val="bg1"/>
                  </a:solidFill>
                </a:rPr>
                <a:t> bit </a:t>
              </a:r>
              <a:r>
                <a:rPr lang="en-GB" b="1" dirty="0" err="1">
                  <a:solidFill>
                    <a:schemeClr val="bg1"/>
                  </a:solidFill>
                </a:rPr>
                <a:t>pesan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dalam</a:t>
              </a:r>
              <a:r>
                <a:rPr lang="en-GB" b="1" dirty="0">
                  <a:solidFill>
                    <a:schemeClr val="bg1"/>
                  </a:solidFill>
                </a:rPr>
                <a:t> proses </a:t>
              </a:r>
              <a:r>
                <a:rPr lang="en-GB" b="1" dirty="0" err="1">
                  <a:solidFill>
                    <a:schemeClr val="bg1"/>
                  </a:solidFill>
                </a:rPr>
                <a:t>pendeteksian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maupun</a:t>
              </a:r>
              <a:r>
                <a:rPr lang="en-GB" b="1" dirty="0">
                  <a:solidFill>
                    <a:schemeClr val="bg1"/>
                  </a:solidFill>
                </a:rPr>
                <a:t> proses </a:t>
              </a:r>
              <a:r>
                <a:rPr lang="en-GB" b="1" dirty="0" err="1">
                  <a:solidFill>
                    <a:schemeClr val="bg1"/>
                  </a:solidFill>
                </a:rPr>
                <a:t>pengoreksian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error,sedangkan</a:t>
              </a:r>
              <a:r>
                <a:rPr lang="en-GB" b="1" dirty="0">
                  <a:solidFill>
                    <a:schemeClr val="bg1"/>
                  </a:solidFill>
                </a:rPr>
                <a:t> input dan output data </a:t>
              </a:r>
              <a:r>
                <a:rPr lang="en-GB" b="1" dirty="0" err="1">
                  <a:solidFill>
                    <a:schemeClr val="bg1"/>
                  </a:solidFill>
                </a:rPr>
                <a:t>dari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algoritma</a:t>
              </a:r>
              <a:r>
                <a:rPr lang="en-GB" b="1" dirty="0">
                  <a:solidFill>
                    <a:schemeClr val="bg1"/>
                  </a:solidFill>
                </a:rPr>
                <a:t> hamming code </a:t>
              </a:r>
              <a:r>
                <a:rPr lang="en-GB" b="1" dirty="0" err="1">
                  <a:solidFill>
                    <a:schemeClr val="bg1"/>
                  </a:solidFill>
                </a:rPr>
                <a:t>berupa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bilangan</a:t>
              </a:r>
              <a:r>
                <a:rPr lang="en-GB" b="1" dirty="0">
                  <a:solidFill>
                    <a:schemeClr val="bg1"/>
                  </a:solidFill>
                </a:rPr>
                <a:t> binary.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b="1" dirty="0" err="1">
                  <a:solidFill>
                    <a:schemeClr val="bg1"/>
                  </a:solidFill>
                </a:rPr>
                <a:t>Umumnya</a:t>
              </a:r>
              <a:r>
                <a:rPr lang="en-GB" b="1" dirty="0">
                  <a:solidFill>
                    <a:schemeClr val="bg1"/>
                  </a:solidFill>
                </a:rPr>
                <a:t> Hamming code </a:t>
              </a:r>
              <a:r>
                <a:rPr lang="en-GB" b="1" dirty="0" err="1">
                  <a:solidFill>
                    <a:schemeClr val="bg1"/>
                  </a:solidFill>
                </a:rPr>
                <a:t>memiliki</a:t>
              </a:r>
              <a:r>
                <a:rPr lang="en-GB" b="1" dirty="0">
                  <a:solidFill>
                    <a:schemeClr val="bg1"/>
                  </a:solidFill>
                </a:rPr>
                <a:t> 7 bit </a:t>
              </a:r>
              <a:r>
                <a:rPr lang="en-GB" b="1" dirty="0" err="1">
                  <a:solidFill>
                    <a:schemeClr val="bg1"/>
                  </a:solidFill>
                </a:rPr>
                <a:t>pesan</a:t>
              </a:r>
              <a:r>
                <a:rPr lang="en-GB" b="1" dirty="0">
                  <a:solidFill>
                    <a:schemeClr val="bg1"/>
                  </a:solidFill>
                </a:rPr>
                <a:t> dan 4 bit parity, </a:t>
              </a:r>
              <a:r>
                <a:rPr lang="en-GB" b="1" dirty="0" err="1">
                  <a:solidFill>
                    <a:schemeClr val="bg1"/>
                  </a:solidFill>
                </a:rPr>
                <a:t>dimana</a:t>
              </a:r>
              <a:r>
                <a:rPr lang="en-GB" b="1" dirty="0">
                  <a:solidFill>
                    <a:schemeClr val="bg1"/>
                  </a:solidFill>
                </a:rPr>
                <a:t> bit parity </a:t>
              </a:r>
              <a:r>
                <a:rPr lang="en-GB" b="1" dirty="0" err="1">
                  <a:solidFill>
                    <a:schemeClr val="bg1"/>
                  </a:solidFill>
                </a:rPr>
                <a:t>diambil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melalui</a:t>
              </a:r>
              <a:r>
                <a:rPr lang="en-GB" b="1" dirty="0">
                  <a:solidFill>
                    <a:schemeClr val="bg1"/>
                  </a:solidFill>
                </a:rPr>
                <a:t> modulo-2 dan </a:t>
              </a:r>
              <a:r>
                <a:rPr lang="en-GB" b="1" dirty="0" err="1">
                  <a:solidFill>
                    <a:schemeClr val="bg1"/>
                  </a:solidFill>
                </a:rPr>
                <a:t>dicari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dari</a:t>
              </a:r>
              <a:r>
                <a:rPr lang="en-GB" b="1" dirty="0">
                  <a:solidFill>
                    <a:schemeClr val="bg1"/>
                  </a:solidFill>
                </a:rPr>
                <a:t> 2^n (</a:t>
              </a:r>
              <a:r>
                <a:rPr lang="en-GB" b="1" dirty="0" err="1">
                  <a:solidFill>
                    <a:schemeClr val="bg1"/>
                  </a:solidFill>
                </a:rPr>
                <a:t>nilai</a:t>
              </a:r>
              <a:r>
                <a:rPr lang="en-GB" b="1" dirty="0">
                  <a:solidFill>
                    <a:schemeClr val="bg1"/>
                  </a:solidFill>
                </a:rPr>
                <a:t> n </a:t>
              </a:r>
              <a:r>
                <a:rPr lang="en-GB" b="1" dirty="0" err="1">
                  <a:solidFill>
                    <a:schemeClr val="bg1"/>
                  </a:solidFill>
                </a:rPr>
                <a:t>adalah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bilangan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bulat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positif</a:t>
              </a:r>
              <a:r>
                <a:rPr lang="en-GB" b="1" dirty="0">
                  <a:solidFill>
                    <a:schemeClr val="bg1"/>
                  </a:solidFill>
                </a:rPr>
                <a:t>) yang </a:t>
              </a:r>
              <a:r>
                <a:rPr lang="en-GB" b="1" dirty="0" err="1">
                  <a:solidFill>
                    <a:schemeClr val="bg1"/>
                  </a:solidFill>
                </a:rPr>
                <a:t>kemudian</a:t>
              </a:r>
              <a:r>
                <a:rPr lang="en-GB" b="1" dirty="0">
                  <a:solidFill>
                    <a:schemeClr val="bg1"/>
                  </a:solidFill>
                </a:rPr>
                <a:t> di-XOR-</a:t>
              </a:r>
              <a:r>
                <a:rPr lang="en-GB" b="1" dirty="0" err="1">
                  <a:solidFill>
                    <a:schemeClr val="bg1"/>
                  </a:solidFill>
                </a:rPr>
                <a:t>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berdasarkan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letak</a:t>
              </a:r>
              <a:r>
                <a:rPr lang="en-GB" b="1" dirty="0">
                  <a:solidFill>
                    <a:schemeClr val="bg1"/>
                  </a:solidFill>
                </a:rPr>
                <a:t> bit </a:t>
              </a:r>
              <a:r>
                <a:rPr lang="en-GB" b="1" dirty="0" err="1">
                  <a:solidFill>
                    <a:schemeClr val="bg1"/>
                  </a:solidFill>
                </a:rPr>
                <a:t>pesan</a:t>
              </a:r>
              <a:r>
                <a:rPr lang="en-GB" b="1" dirty="0">
                  <a:solidFill>
                    <a:schemeClr val="bg1"/>
                  </a:solidFill>
                </a:rPr>
                <a:t>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b="1" dirty="0">
                  <a:solidFill>
                    <a:schemeClr val="bg1"/>
                  </a:solidFill>
                </a:rPr>
                <a:t>Hamming </a:t>
              </a:r>
              <a:r>
                <a:rPr lang="en-GB" b="1" dirty="0" err="1">
                  <a:solidFill>
                    <a:schemeClr val="bg1"/>
                  </a:solidFill>
                </a:rPr>
                <a:t>kode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telah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banyak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diterapkan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dalam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komunikasi</a:t>
              </a:r>
              <a:r>
                <a:rPr lang="en-GB" b="1" dirty="0">
                  <a:solidFill>
                    <a:schemeClr val="bg1"/>
                  </a:solidFill>
                </a:rPr>
                <a:t> digital dan </a:t>
              </a:r>
              <a:r>
                <a:rPr lang="en-GB" b="1" dirty="0" err="1">
                  <a:solidFill>
                    <a:schemeClr val="bg1"/>
                  </a:solidFill>
                </a:rPr>
                <a:t>sistem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penyimpanan</a:t>
              </a:r>
              <a:r>
                <a:rPr lang="en-GB" b="1" dirty="0">
                  <a:solidFill>
                    <a:schemeClr val="bg1"/>
                  </a:solidFill>
                </a:rPr>
                <a:t> data, </a:t>
              </a:r>
              <a:r>
                <a:rPr lang="en-GB" b="1" dirty="0" err="1">
                  <a:solidFill>
                    <a:schemeClr val="bg1"/>
                  </a:solidFill>
                </a:rPr>
                <a:t>karena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memilki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keberhasilan</a:t>
              </a:r>
              <a:r>
                <a:rPr lang="en-GB" b="1" dirty="0">
                  <a:solidFill>
                    <a:schemeClr val="bg1"/>
                  </a:solidFill>
                </a:rPr>
                <a:t> yang </a:t>
              </a:r>
              <a:r>
                <a:rPr lang="en-GB" b="1" dirty="0" err="1">
                  <a:solidFill>
                    <a:schemeClr val="bg1"/>
                  </a:solidFill>
                </a:rPr>
                <a:t>tinggi</a:t>
              </a:r>
              <a:r>
                <a:rPr lang="en-GB" b="1" dirty="0">
                  <a:solidFill>
                    <a:schemeClr val="bg1"/>
                  </a:solidFill>
                </a:rPr>
                <a:t> dan </a:t>
              </a:r>
              <a:r>
                <a:rPr lang="en-GB" b="1" dirty="0" err="1">
                  <a:solidFill>
                    <a:schemeClr val="bg1"/>
                  </a:solidFill>
                </a:rPr>
                <a:t>sistem</a:t>
              </a:r>
              <a:r>
                <a:rPr lang="en-GB" b="1" dirty="0">
                  <a:solidFill>
                    <a:schemeClr val="bg1"/>
                  </a:solidFill>
                </a:rPr>
                <a:t> encoding dan decoding yang </a:t>
              </a:r>
              <a:r>
                <a:rPr lang="en-GB" b="1" dirty="0" err="1">
                  <a:solidFill>
                    <a:schemeClr val="bg1"/>
                  </a:solidFill>
                </a:rPr>
                <a:t>cepat</a:t>
              </a:r>
              <a:r>
                <a:rPr lang="en-GB" b="1" dirty="0">
                  <a:solidFill>
                    <a:schemeClr val="bg1"/>
                  </a:solidFill>
                </a:rPr>
                <a:t> dan </a:t>
              </a:r>
              <a:r>
                <a:rPr lang="en-GB" b="1" dirty="0" err="1">
                  <a:solidFill>
                    <a:schemeClr val="bg1"/>
                  </a:solidFill>
                </a:rPr>
                <a:t>akurat</a:t>
              </a:r>
              <a:r>
                <a:rPr lang="en-GB" b="1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E924EAA-5595-4F9D-9CB3-678924066996}"/>
                </a:ext>
              </a:extLst>
            </p:cNvPr>
            <p:cNvSpPr txBox="1"/>
            <p:nvPr/>
          </p:nvSpPr>
          <p:spPr>
            <a:xfrm>
              <a:off x="2057256" y="2276075"/>
              <a:ext cx="3293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9188E5"/>
                  </a:solidFill>
                  <a:latin typeface="+mj-lt"/>
                  <a:ea typeface="Tahoma" panose="020B0604030504040204" pitchFamily="34" charset="0"/>
                  <a:cs typeface="Arial" panose="020B0604020202020204" pitchFamily="34" charset="0"/>
                </a:rPr>
                <a:t>Here Add The Tittle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1DB22E1C-FC3B-4C0D-9B9C-53631272F70E}"/>
              </a:ext>
            </a:extLst>
          </p:cNvPr>
          <p:cNvSpPr/>
          <p:nvPr/>
        </p:nvSpPr>
        <p:spPr>
          <a:xfrm>
            <a:off x="11657349" y="2472774"/>
            <a:ext cx="535002" cy="1340402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C10C3F92-D8DE-4434-83AD-BBAAD1B10B0C}"/>
              </a:ext>
            </a:extLst>
          </p:cNvPr>
          <p:cNvSpPr/>
          <p:nvPr/>
        </p:nvSpPr>
        <p:spPr>
          <a:xfrm flipH="1">
            <a:off x="9809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CBF184AF-F4B7-7B08-DE89-9767847F8673}"/>
              </a:ext>
            </a:extLst>
          </p:cNvPr>
          <p:cNvSpPr/>
          <p:nvPr/>
        </p:nvSpPr>
        <p:spPr>
          <a:xfrm flipH="1">
            <a:off x="9809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42245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BFE15A5-799E-421F-BCFE-9C7EAF1C1854}"/>
              </a:ext>
            </a:extLst>
          </p:cNvPr>
          <p:cNvSpPr/>
          <p:nvPr/>
        </p:nvSpPr>
        <p:spPr>
          <a:xfrm>
            <a:off x="2406791" y="138234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4ABBFC-76A7-4FC2-A983-AB55DB1BF542}"/>
              </a:ext>
            </a:extLst>
          </p:cNvPr>
          <p:cNvSpPr/>
          <p:nvPr/>
        </p:nvSpPr>
        <p:spPr>
          <a:xfrm>
            <a:off x="1032025" y="67318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05ED739-895E-49AA-BBA0-0E1AEE15D56F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447901-BA28-476E-94BF-5425985FA436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732762-70FC-44FD-8026-6FC1020853A9}"/>
              </a:ext>
            </a:extLst>
          </p:cNvPr>
          <p:cNvSpPr/>
          <p:nvPr/>
        </p:nvSpPr>
        <p:spPr>
          <a:xfrm>
            <a:off x="10848472" y="334006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EA21643-1E5D-4645-8448-B1E8F9598926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762BF8-9D33-4F22-8C8B-794D95486038}"/>
              </a:ext>
            </a:extLst>
          </p:cNvPr>
          <p:cNvSpPr/>
          <p:nvPr/>
        </p:nvSpPr>
        <p:spPr>
          <a:xfrm>
            <a:off x="11206956" y="5933756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38BC99-AC7D-49D4-B253-9BECC4D02BD7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685EDDA-22C7-44D4-9D0C-9FC0D2D7D692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A9721E0-EABB-414E-915A-D5E788EA85AB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450B8BF-3AF3-4F9E-BF8D-2F89F9BBE510}"/>
              </a:ext>
            </a:extLst>
          </p:cNvPr>
          <p:cNvSpPr/>
          <p:nvPr/>
        </p:nvSpPr>
        <p:spPr>
          <a:xfrm rot="5400000">
            <a:off x="6233560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8C995B-57FD-408C-BF58-EF294E523EC0}"/>
              </a:ext>
            </a:extLst>
          </p:cNvPr>
          <p:cNvSpPr/>
          <p:nvPr/>
        </p:nvSpPr>
        <p:spPr>
          <a:xfrm>
            <a:off x="1669269" y="2666708"/>
            <a:ext cx="1496206" cy="1496206"/>
          </a:xfrm>
          <a:prstGeom prst="roundRect">
            <a:avLst>
              <a:gd name="adj" fmla="val 340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F108364-7CFF-481E-8D27-66D4CB7A0ADD}"/>
              </a:ext>
            </a:extLst>
          </p:cNvPr>
          <p:cNvSpPr/>
          <p:nvPr/>
        </p:nvSpPr>
        <p:spPr>
          <a:xfrm>
            <a:off x="1771955" y="2769394"/>
            <a:ext cx="1290834" cy="1290834"/>
          </a:xfrm>
          <a:prstGeom prst="roundRect">
            <a:avLst>
              <a:gd name="adj" fmla="val 33238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31C48D1-C463-45B3-96B5-D7FEEB0DA355}"/>
              </a:ext>
            </a:extLst>
          </p:cNvPr>
          <p:cNvSpPr/>
          <p:nvPr/>
        </p:nvSpPr>
        <p:spPr>
          <a:xfrm>
            <a:off x="1861198" y="2858856"/>
            <a:ext cx="1111910" cy="1111910"/>
          </a:xfrm>
          <a:prstGeom prst="roundRect">
            <a:avLst>
              <a:gd name="adj" fmla="val 34028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22155B0E-49AC-4951-8FCF-10CBF1B19043}"/>
              </a:ext>
            </a:extLst>
          </p:cNvPr>
          <p:cNvSpPr/>
          <p:nvPr/>
        </p:nvSpPr>
        <p:spPr>
          <a:xfrm>
            <a:off x="1963311" y="2960969"/>
            <a:ext cx="907684" cy="907684"/>
          </a:xfrm>
          <a:prstGeom prst="roundRect">
            <a:avLst>
              <a:gd name="adj" fmla="val 32384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3CF3BE0-499F-4272-831E-04ED3C850937}"/>
              </a:ext>
            </a:extLst>
          </p:cNvPr>
          <p:cNvSpPr/>
          <p:nvPr/>
        </p:nvSpPr>
        <p:spPr>
          <a:xfrm>
            <a:off x="2054081" y="3051739"/>
            <a:ext cx="726144" cy="726144"/>
          </a:xfrm>
          <a:prstGeom prst="roundRect">
            <a:avLst>
              <a:gd name="adj" fmla="val 32384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E1E0EF-3210-4ECE-A163-E916DEFE3C6B}"/>
              </a:ext>
            </a:extLst>
          </p:cNvPr>
          <p:cNvGrpSpPr/>
          <p:nvPr/>
        </p:nvGrpSpPr>
        <p:grpSpPr>
          <a:xfrm>
            <a:off x="2168684" y="3166342"/>
            <a:ext cx="496938" cy="496938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69" name="Circle: Hollow 68">
              <a:extLst>
                <a:ext uri="{FF2B5EF4-FFF2-40B4-BE49-F238E27FC236}">
                  <a16:creationId xmlns:a16="http://schemas.microsoft.com/office/drawing/2014/main" id="{40B12F05-781C-471A-AB13-589B346E8F8D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2E18FAE-C9EB-4FB9-8E42-0E2C9C847CE9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2406312-6406-493D-955C-880C86120CD8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FFD74163-59DB-46C5-8C99-7F3A5C1A615D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880061F-6969-46E2-97EA-E9D6D58B6C16}"/>
              </a:ext>
            </a:extLst>
          </p:cNvPr>
          <p:cNvSpPr txBox="1"/>
          <p:nvPr/>
        </p:nvSpPr>
        <p:spPr>
          <a:xfrm>
            <a:off x="1381516" y="4326351"/>
            <a:ext cx="2067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Satelites</a:t>
            </a:r>
            <a:endParaRPr lang="en-US" sz="28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F61B5FC-A29B-4479-8BD3-32A983E6375E}"/>
              </a:ext>
            </a:extLst>
          </p:cNvPr>
          <p:cNvSpPr/>
          <p:nvPr/>
        </p:nvSpPr>
        <p:spPr>
          <a:xfrm>
            <a:off x="5330531" y="2666708"/>
            <a:ext cx="1496206" cy="1496206"/>
          </a:xfrm>
          <a:prstGeom prst="roundRect">
            <a:avLst>
              <a:gd name="adj" fmla="val 340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7277D74C-726A-41C5-9843-1C3BDAB02FD3}"/>
              </a:ext>
            </a:extLst>
          </p:cNvPr>
          <p:cNvSpPr/>
          <p:nvPr/>
        </p:nvSpPr>
        <p:spPr>
          <a:xfrm>
            <a:off x="5433217" y="2769394"/>
            <a:ext cx="1290834" cy="1290834"/>
          </a:xfrm>
          <a:prstGeom prst="roundRect">
            <a:avLst>
              <a:gd name="adj" fmla="val 33238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11AF74B0-D1D3-4A69-BAAA-B80C72DAAF63}"/>
              </a:ext>
            </a:extLst>
          </p:cNvPr>
          <p:cNvSpPr/>
          <p:nvPr/>
        </p:nvSpPr>
        <p:spPr>
          <a:xfrm>
            <a:off x="5522460" y="2858856"/>
            <a:ext cx="1111910" cy="1111910"/>
          </a:xfrm>
          <a:prstGeom prst="roundRect">
            <a:avLst>
              <a:gd name="adj" fmla="val 34028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94E1EAF7-AE9C-4DD8-A17F-8B2AFD330A1A}"/>
              </a:ext>
            </a:extLst>
          </p:cNvPr>
          <p:cNvSpPr/>
          <p:nvPr/>
        </p:nvSpPr>
        <p:spPr>
          <a:xfrm>
            <a:off x="5624573" y="2960969"/>
            <a:ext cx="907684" cy="907684"/>
          </a:xfrm>
          <a:prstGeom prst="roundRect">
            <a:avLst>
              <a:gd name="adj" fmla="val 32384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46701774-937B-4446-BA3F-D56C62844273}"/>
              </a:ext>
            </a:extLst>
          </p:cNvPr>
          <p:cNvSpPr/>
          <p:nvPr/>
        </p:nvSpPr>
        <p:spPr>
          <a:xfrm>
            <a:off x="5715343" y="3051739"/>
            <a:ext cx="726144" cy="726144"/>
          </a:xfrm>
          <a:prstGeom prst="roundRect">
            <a:avLst>
              <a:gd name="adj" fmla="val 32384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2AC747E-0C4A-44CA-9C24-0807B2AD3410}"/>
              </a:ext>
            </a:extLst>
          </p:cNvPr>
          <p:cNvGrpSpPr/>
          <p:nvPr/>
        </p:nvGrpSpPr>
        <p:grpSpPr>
          <a:xfrm>
            <a:off x="5829946" y="3166342"/>
            <a:ext cx="496938" cy="496938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114" name="Circle: Hollow 113">
              <a:extLst>
                <a:ext uri="{FF2B5EF4-FFF2-40B4-BE49-F238E27FC236}">
                  <a16:creationId xmlns:a16="http://schemas.microsoft.com/office/drawing/2014/main" id="{BDFFB372-A78A-4098-9EC4-E8827B97AA8B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6162A3C-E539-41A1-A495-86A157137991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AFCCCFD4-FDFE-4D81-BB96-18C6B6ECA54A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82E9CD23-3B68-4522-AA00-C0F9CF24AC03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82FECF8C-DEAC-4D28-9C41-1BD3496F9C2B}"/>
              </a:ext>
            </a:extLst>
          </p:cNvPr>
          <p:cNvSpPr txBox="1"/>
          <p:nvPr/>
        </p:nvSpPr>
        <p:spPr>
          <a:xfrm>
            <a:off x="5042777" y="4326351"/>
            <a:ext cx="2154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Computer memory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A61A8E3B-1FB0-4A6E-AE19-93CC3C479BC8}"/>
              </a:ext>
            </a:extLst>
          </p:cNvPr>
          <p:cNvSpPr/>
          <p:nvPr/>
        </p:nvSpPr>
        <p:spPr>
          <a:xfrm>
            <a:off x="8991793" y="2666708"/>
            <a:ext cx="1496206" cy="1496206"/>
          </a:xfrm>
          <a:prstGeom prst="roundRect">
            <a:avLst>
              <a:gd name="adj" fmla="val 3402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8295807-B9ED-46DF-9A99-CC90EE6EEA9A}"/>
              </a:ext>
            </a:extLst>
          </p:cNvPr>
          <p:cNvSpPr/>
          <p:nvPr/>
        </p:nvSpPr>
        <p:spPr>
          <a:xfrm>
            <a:off x="9094479" y="2769394"/>
            <a:ext cx="1290834" cy="1290834"/>
          </a:xfrm>
          <a:prstGeom prst="roundRect">
            <a:avLst>
              <a:gd name="adj" fmla="val 33238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850AF08C-AA19-4DF9-A12C-C2121896ABF8}"/>
              </a:ext>
            </a:extLst>
          </p:cNvPr>
          <p:cNvSpPr/>
          <p:nvPr/>
        </p:nvSpPr>
        <p:spPr>
          <a:xfrm>
            <a:off x="9183722" y="2858856"/>
            <a:ext cx="1111910" cy="1111910"/>
          </a:xfrm>
          <a:prstGeom prst="roundRect">
            <a:avLst>
              <a:gd name="adj" fmla="val 34028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F1319D1D-2DB1-4B2D-A925-7FE25DB88F0C}"/>
              </a:ext>
            </a:extLst>
          </p:cNvPr>
          <p:cNvSpPr/>
          <p:nvPr/>
        </p:nvSpPr>
        <p:spPr>
          <a:xfrm>
            <a:off x="9285835" y="2960969"/>
            <a:ext cx="907684" cy="907684"/>
          </a:xfrm>
          <a:prstGeom prst="roundRect">
            <a:avLst>
              <a:gd name="adj" fmla="val 32384"/>
            </a:avLst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A4BEC84-4B66-4DAD-B0CC-62B100CDC363}"/>
              </a:ext>
            </a:extLst>
          </p:cNvPr>
          <p:cNvSpPr/>
          <p:nvPr/>
        </p:nvSpPr>
        <p:spPr>
          <a:xfrm>
            <a:off x="9376605" y="3051739"/>
            <a:ext cx="726144" cy="726144"/>
          </a:xfrm>
          <a:prstGeom prst="roundRect">
            <a:avLst>
              <a:gd name="adj" fmla="val 32384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A2662CE-CED6-4FAC-A90F-62ADEDC0CA6B}"/>
              </a:ext>
            </a:extLst>
          </p:cNvPr>
          <p:cNvGrpSpPr/>
          <p:nvPr/>
        </p:nvGrpSpPr>
        <p:grpSpPr>
          <a:xfrm>
            <a:off x="9491208" y="3166342"/>
            <a:ext cx="496938" cy="496938"/>
            <a:chOff x="6158672" y="3675083"/>
            <a:chExt cx="787340" cy="787340"/>
          </a:xfrm>
          <a:solidFill>
            <a:schemeClr val="bg1"/>
          </a:solidFill>
        </p:grpSpPr>
        <p:sp>
          <p:nvSpPr>
            <p:cNvPr id="127" name="Circle: Hollow 126">
              <a:extLst>
                <a:ext uri="{FF2B5EF4-FFF2-40B4-BE49-F238E27FC236}">
                  <a16:creationId xmlns:a16="http://schemas.microsoft.com/office/drawing/2014/main" id="{F7FDAD43-E36F-41F3-BB37-F6874322C827}"/>
                </a:ext>
              </a:extLst>
            </p:cNvPr>
            <p:cNvSpPr/>
            <p:nvPr/>
          </p:nvSpPr>
          <p:spPr>
            <a:xfrm>
              <a:off x="6158672" y="3675083"/>
              <a:ext cx="787340" cy="787340"/>
            </a:xfrm>
            <a:prstGeom prst="donut">
              <a:avLst>
                <a:gd name="adj" fmla="val 47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6F8A33DD-4B39-4B90-858E-5FD1EA94806C}"/>
                </a:ext>
              </a:extLst>
            </p:cNvPr>
            <p:cNvGrpSpPr/>
            <p:nvPr/>
          </p:nvGrpSpPr>
          <p:grpSpPr>
            <a:xfrm rot="2700000">
              <a:off x="6448659" y="3791777"/>
              <a:ext cx="184399" cy="468434"/>
              <a:chOff x="6533720" y="3754616"/>
              <a:chExt cx="184399" cy="468434"/>
            </a:xfrm>
            <a:grpFill/>
          </p:grpSpPr>
          <p:sp>
            <p:nvSpPr>
              <p:cNvPr id="129" name="Rectangle: Rounded Corners 128">
                <a:extLst>
                  <a:ext uri="{FF2B5EF4-FFF2-40B4-BE49-F238E27FC236}">
                    <a16:creationId xmlns:a16="http://schemas.microsoft.com/office/drawing/2014/main" id="{B2A86F89-0986-4E0E-9ABC-0AF132085B8D}"/>
                  </a:ext>
                </a:extLst>
              </p:cNvPr>
              <p:cNvSpPr/>
              <p:nvPr/>
            </p:nvSpPr>
            <p:spPr>
              <a:xfrm rot="5400000">
                <a:off x="6602300" y="4108750"/>
                <a:ext cx="45720" cy="18288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02828E7C-96A4-4CCD-B441-5C632F59F815}"/>
                  </a:ext>
                </a:extLst>
              </p:cNvPr>
              <p:cNvSpPr/>
              <p:nvPr/>
            </p:nvSpPr>
            <p:spPr>
              <a:xfrm rot="10800000">
                <a:off x="6672399" y="3754616"/>
                <a:ext cx="45720" cy="457200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+mj-lt"/>
                </a:endParaRPr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A10B7B47-FDE4-473A-AC8A-1274CE242540}"/>
              </a:ext>
            </a:extLst>
          </p:cNvPr>
          <p:cNvSpPr txBox="1"/>
          <p:nvPr/>
        </p:nvSpPr>
        <p:spPr>
          <a:xfrm>
            <a:off x="8704040" y="4326351"/>
            <a:ext cx="20671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Shielding wire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93866C-A9ED-43DE-807A-A9F13875F9F5}"/>
              </a:ext>
            </a:extLst>
          </p:cNvPr>
          <p:cNvSpPr txBox="1"/>
          <p:nvPr/>
        </p:nvSpPr>
        <p:spPr>
          <a:xfrm>
            <a:off x="3677652" y="87814"/>
            <a:ext cx="4836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Penerapan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 Hamming Code</a:t>
            </a:r>
          </a:p>
        </p:txBody>
      </p:sp>
    </p:spTree>
    <p:extLst>
      <p:ext uri="{BB962C8B-B14F-4D97-AF65-F5344CB8AC3E}">
        <p14:creationId xmlns:p14="http://schemas.microsoft.com/office/powerpoint/2010/main" val="334502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5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4" grpId="0" animBg="1"/>
      <p:bldP spid="45" grpId="0" animBg="1"/>
      <p:bldP spid="77" grpId="0" animBg="1"/>
      <p:bldP spid="78" grpId="0" animBg="1"/>
      <p:bldP spid="80" grpId="0"/>
      <p:bldP spid="108" grpId="0" animBg="1"/>
      <p:bldP spid="109" grpId="0" animBg="1"/>
      <p:bldP spid="110" grpId="0" animBg="1"/>
      <p:bldP spid="111" grpId="0" animBg="1"/>
      <p:bldP spid="112" grpId="0" animBg="1"/>
      <p:bldP spid="119" grpId="0"/>
      <p:bldP spid="121" grpId="0" animBg="1"/>
      <p:bldP spid="122" grpId="0" animBg="1"/>
      <p:bldP spid="123" grpId="0" animBg="1"/>
      <p:bldP spid="124" grpId="0" animBg="1"/>
      <p:bldP spid="125" grpId="0" animBg="1"/>
      <p:bldP spid="1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7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1">
            <a:extLst>
              <a:ext uri="{FF2B5EF4-FFF2-40B4-BE49-F238E27FC236}">
                <a16:creationId xmlns:a16="http://schemas.microsoft.com/office/drawing/2014/main" id="{31E44E1C-AA0A-6C93-5F90-218E7DDFF9A0}"/>
              </a:ext>
            </a:extLst>
          </p:cNvPr>
          <p:cNvGrpSpPr/>
          <p:nvPr/>
        </p:nvGrpSpPr>
        <p:grpSpPr>
          <a:xfrm>
            <a:off x="6095999" y="-1654805"/>
            <a:ext cx="6577398" cy="1481533"/>
            <a:chOff x="6096000" y="509193"/>
            <a:chExt cx="6577398" cy="1371600"/>
          </a:xfrm>
          <a:solidFill>
            <a:schemeClr val="bg1"/>
          </a:solidFill>
        </p:grpSpPr>
        <p:sp>
          <p:nvSpPr>
            <p:cNvPr id="52" name="Freeform: Shape 24">
              <a:extLst>
                <a:ext uri="{FF2B5EF4-FFF2-40B4-BE49-F238E27FC236}">
                  <a16:creationId xmlns:a16="http://schemas.microsoft.com/office/drawing/2014/main" id="{1B7EFEF0-4272-FDE7-7977-51ED289FAF7C}"/>
                </a:ext>
              </a:extLst>
            </p:cNvPr>
            <p:cNvSpPr/>
            <p:nvPr/>
          </p:nvSpPr>
          <p:spPr>
            <a:xfrm>
              <a:off x="6096000" y="509193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4B1E841-6EC2-6AB2-A4BD-6642CDE9B35C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54" name="Arc 3">
              <a:extLst>
                <a:ext uri="{FF2B5EF4-FFF2-40B4-BE49-F238E27FC236}">
                  <a16:creationId xmlns:a16="http://schemas.microsoft.com/office/drawing/2014/main" id="{23F3FDE4-86D1-DD1E-9301-CA474AEBC277}"/>
                </a:ext>
              </a:extLst>
            </p:cNvPr>
            <p:cNvSpPr/>
            <p:nvPr/>
          </p:nvSpPr>
          <p:spPr>
            <a:xfrm rot="13500000">
              <a:off x="11763152" y="729897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43" name="Group 1">
            <a:extLst>
              <a:ext uri="{FF2B5EF4-FFF2-40B4-BE49-F238E27FC236}">
                <a16:creationId xmlns:a16="http://schemas.microsoft.com/office/drawing/2014/main" id="{FF7C70E7-383E-7B0A-061A-6CB0DBCBDE37}"/>
              </a:ext>
            </a:extLst>
          </p:cNvPr>
          <p:cNvGrpSpPr/>
          <p:nvPr/>
        </p:nvGrpSpPr>
        <p:grpSpPr>
          <a:xfrm>
            <a:off x="6089208" y="5214246"/>
            <a:ext cx="6577398" cy="1481533"/>
            <a:chOff x="6096000" y="477521"/>
            <a:chExt cx="6577398" cy="1371600"/>
          </a:xfrm>
          <a:solidFill>
            <a:schemeClr val="bg1"/>
          </a:solidFill>
        </p:grpSpPr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428506A0-6B42-7B88-01B5-0C8944F2E9D5}"/>
                </a:ext>
              </a:extLst>
            </p:cNvPr>
            <p:cNvSpPr/>
            <p:nvPr/>
          </p:nvSpPr>
          <p:spPr>
            <a:xfrm>
              <a:off x="6096000" y="477521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8115073-1186-C85D-2510-15E3C18EC9F8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6" name="Arc 3">
              <a:extLst>
                <a:ext uri="{FF2B5EF4-FFF2-40B4-BE49-F238E27FC236}">
                  <a16:creationId xmlns:a16="http://schemas.microsoft.com/office/drawing/2014/main" id="{655F7BA0-2799-E866-DC51-EF476A9BE13A}"/>
                </a:ext>
              </a:extLst>
            </p:cNvPr>
            <p:cNvSpPr/>
            <p:nvPr/>
          </p:nvSpPr>
          <p:spPr>
            <a:xfrm rot="13500000">
              <a:off x="11763152" y="729897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29" name="Group 1">
            <a:extLst>
              <a:ext uri="{FF2B5EF4-FFF2-40B4-BE49-F238E27FC236}">
                <a16:creationId xmlns:a16="http://schemas.microsoft.com/office/drawing/2014/main" id="{D6580005-2462-2CA1-88E9-534DD4DA88DA}"/>
              </a:ext>
            </a:extLst>
          </p:cNvPr>
          <p:cNvGrpSpPr/>
          <p:nvPr/>
        </p:nvGrpSpPr>
        <p:grpSpPr>
          <a:xfrm>
            <a:off x="6095999" y="3589312"/>
            <a:ext cx="6577398" cy="1481533"/>
            <a:chOff x="6096000" y="477521"/>
            <a:chExt cx="6577398" cy="1371600"/>
          </a:xfrm>
          <a:solidFill>
            <a:schemeClr val="bg1"/>
          </a:solidFill>
        </p:grpSpPr>
        <p:sp>
          <p:nvSpPr>
            <p:cNvPr id="39" name="Freeform: Shape 24">
              <a:extLst>
                <a:ext uri="{FF2B5EF4-FFF2-40B4-BE49-F238E27FC236}">
                  <a16:creationId xmlns:a16="http://schemas.microsoft.com/office/drawing/2014/main" id="{A366826E-8222-E344-1C44-D940FC441AD7}"/>
                </a:ext>
              </a:extLst>
            </p:cNvPr>
            <p:cNvSpPr/>
            <p:nvPr/>
          </p:nvSpPr>
          <p:spPr>
            <a:xfrm>
              <a:off x="6096000" y="477521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4C29992-E08D-D3C1-81E3-6BCF5BE6C493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2" name="Arc 3">
              <a:extLst>
                <a:ext uri="{FF2B5EF4-FFF2-40B4-BE49-F238E27FC236}">
                  <a16:creationId xmlns:a16="http://schemas.microsoft.com/office/drawing/2014/main" id="{03BD1A90-F0C2-86AC-6538-D7C2154224E2}"/>
                </a:ext>
              </a:extLst>
            </p:cNvPr>
            <p:cNvSpPr/>
            <p:nvPr/>
          </p:nvSpPr>
          <p:spPr>
            <a:xfrm rot="13500000">
              <a:off x="11763152" y="729897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13" name="Group 1">
            <a:extLst>
              <a:ext uri="{FF2B5EF4-FFF2-40B4-BE49-F238E27FC236}">
                <a16:creationId xmlns:a16="http://schemas.microsoft.com/office/drawing/2014/main" id="{0F178DF8-4CA5-70D6-0592-3340F8C77A29}"/>
              </a:ext>
            </a:extLst>
          </p:cNvPr>
          <p:cNvGrpSpPr/>
          <p:nvPr/>
        </p:nvGrpSpPr>
        <p:grpSpPr>
          <a:xfrm>
            <a:off x="6095999" y="1972301"/>
            <a:ext cx="6577398" cy="1481533"/>
            <a:chOff x="6096000" y="509193"/>
            <a:chExt cx="6577398" cy="1371600"/>
          </a:xfrm>
          <a:solidFill>
            <a:schemeClr val="bg1"/>
          </a:solidFill>
        </p:grpSpPr>
        <p:sp>
          <p:nvSpPr>
            <p:cNvPr id="14" name="Freeform: Shape 24">
              <a:extLst>
                <a:ext uri="{FF2B5EF4-FFF2-40B4-BE49-F238E27FC236}">
                  <a16:creationId xmlns:a16="http://schemas.microsoft.com/office/drawing/2014/main" id="{266843D8-682D-0EE2-A10F-E62AF3F1C5C2}"/>
                </a:ext>
              </a:extLst>
            </p:cNvPr>
            <p:cNvSpPr/>
            <p:nvPr/>
          </p:nvSpPr>
          <p:spPr>
            <a:xfrm>
              <a:off x="6096000" y="509193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B3D6CDA-012B-94DC-D04A-99B3FA1D9EC5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7" name="Arc 3">
              <a:extLst>
                <a:ext uri="{FF2B5EF4-FFF2-40B4-BE49-F238E27FC236}">
                  <a16:creationId xmlns:a16="http://schemas.microsoft.com/office/drawing/2014/main" id="{F3E27C6F-B5F2-41A7-B9E0-FB24ACEBF1DC}"/>
                </a:ext>
              </a:extLst>
            </p:cNvPr>
            <p:cNvSpPr/>
            <p:nvPr/>
          </p:nvSpPr>
          <p:spPr>
            <a:xfrm rot="13500000">
              <a:off x="11763152" y="729897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AC6F7D1-0F7E-4B00-8530-BE8008F0D8B4}"/>
              </a:ext>
            </a:extLst>
          </p:cNvPr>
          <p:cNvGrpSpPr/>
          <p:nvPr/>
        </p:nvGrpSpPr>
        <p:grpSpPr>
          <a:xfrm>
            <a:off x="6088273" y="391941"/>
            <a:ext cx="10925674" cy="1481533"/>
            <a:chOff x="1334345" y="685601"/>
            <a:chExt cx="10925674" cy="1371600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9EBB9C-B9AB-457B-B632-3A13ADA4111F}"/>
                </a:ext>
              </a:extLst>
            </p:cNvPr>
            <p:cNvSpPr/>
            <p:nvPr/>
          </p:nvSpPr>
          <p:spPr>
            <a:xfrm>
              <a:off x="1334345" y="685601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BC10E3C-F700-4013-B472-EE2F36D77D65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8489EB07-DF76-4616-8D72-54C5EF0B821B}"/>
                </a:ext>
              </a:extLst>
            </p:cNvPr>
            <p:cNvSpPr/>
            <p:nvPr/>
          </p:nvSpPr>
          <p:spPr>
            <a:xfrm rot="13500000">
              <a:off x="7002432" y="948385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C6562D-805D-4DCF-9F0A-CE0275A17EDE}"/>
              </a:ext>
            </a:extLst>
          </p:cNvPr>
          <p:cNvSpPr/>
          <p:nvPr/>
        </p:nvSpPr>
        <p:spPr>
          <a:xfrm>
            <a:off x="1747052" y="273992"/>
            <a:ext cx="2667000" cy="461665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2F2E84-2961-4323-B516-36F4BF0812BD}"/>
              </a:ext>
            </a:extLst>
          </p:cNvPr>
          <p:cNvSpPr txBox="1"/>
          <p:nvPr/>
        </p:nvSpPr>
        <p:spPr>
          <a:xfrm>
            <a:off x="592441" y="1688601"/>
            <a:ext cx="49123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9188E5"/>
                </a:solidFill>
                <a:latin typeface="+mj-lt"/>
              </a:rPr>
              <a:t>LANGKAH-LANGKAH ENCODING HAMMING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E02A2-E436-4D00-8F9D-4231677F6A5F}"/>
              </a:ext>
            </a:extLst>
          </p:cNvPr>
          <p:cNvSpPr txBox="1"/>
          <p:nvPr/>
        </p:nvSpPr>
        <p:spPr>
          <a:xfrm>
            <a:off x="787400" y="303590"/>
            <a:ext cx="449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</a:rPr>
              <a:t>ENCODING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1528AB-DBBA-4B0A-9A2B-DBCE63FEAE19}"/>
              </a:ext>
            </a:extLst>
          </p:cNvPr>
          <p:cNvSpPr txBox="1"/>
          <p:nvPr/>
        </p:nvSpPr>
        <p:spPr>
          <a:xfrm>
            <a:off x="6696080" y="399117"/>
            <a:ext cx="47021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Menghitung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jumlah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redundan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(parity bit)</a:t>
            </a:r>
          </a:p>
          <a:p>
            <a:pPr algn="just"/>
            <a:r>
              <a:rPr lang="en-US" sz="1600" b="1" dirty="0">
                <a:solidFill>
                  <a:srgbClr val="837AD9"/>
                </a:solidFill>
                <a:latin typeface="+mj-lt"/>
              </a:rPr>
              <a:t>2^P ≥ k + P + 1	</a:t>
            </a:r>
          </a:p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Keterangan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:</a:t>
            </a:r>
          </a:p>
          <a:p>
            <a:pPr algn="just"/>
            <a:r>
              <a:rPr lang="en-US" sz="1600" b="1" dirty="0">
                <a:solidFill>
                  <a:srgbClr val="837AD9"/>
                </a:solidFill>
                <a:latin typeface="+mj-lt"/>
              </a:rPr>
              <a:t>P =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Jumlah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paritas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/ parity bit	</a:t>
            </a:r>
          </a:p>
          <a:p>
            <a:pPr algn="just"/>
            <a:r>
              <a:rPr lang="en-US" sz="1600" b="1" dirty="0">
                <a:solidFill>
                  <a:srgbClr val="837AD9"/>
                </a:solidFill>
                <a:latin typeface="+mj-lt"/>
              </a:rPr>
              <a:t>k =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Jumlah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pesan</a:t>
            </a:r>
            <a:endParaRPr lang="en-US" sz="1600" b="1" dirty="0">
              <a:solidFill>
                <a:srgbClr val="837AD9"/>
              </a:solidFill>
              <a:latin typeface="+mj-lt"/>
            </a:endParaRPr>
          </a:p>
          <a:p>
            <a:pPr algn="just"/>
            <a:endParaRPr lang="en-US" sz="1600" b="1" dirty="0">
              <a:solidFill>
                <a:srgbClr val="837AD9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123759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B32F4D-AFF4-45C8-BC5C-E148A1D7243E}"/>
              </a:ext>
            </a:extLst>
          </p:cNvPr>
          <p:cNvSpPr/>
          <p:nvPr/>
        </p:nvSpPr>
        <p:spPr>
          <a:xfrm>
            <a:off x="2289758" y="5368556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4681892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5960309" y="2020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A9C94CC-83A1-4C62-91DE-76265189FFF0}"/>
              </a:ext>
            </a:extLst>
          </p:cNvPr>
          <p:cNvSpPr/>
          <p:nvPr/>
        </p:nvSpPr>
        <p:spPr>
          <a:xfrm rot="10800000">
            <a:off x="6089391" y="852226"/>
            <a:ext cx="202098" cy="404196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AC94C54-9FD7-4760-AA60-8DCCCEE1A4A8}"/>
              </a:ext>
            </a:extLst>
          </p:cNvPr>
          <p:cNvSpPr/>
          <p:nvPr/>
        </p:nvSpPr>
        <p:spPr>
          <a:xfrm>
            <a:off x="5957928" y="923043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EFBAC1-D2A6-4BBB-A1CD-8F485617CFA4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25BCDA3-0CF8-4918-88E7-AE8AB76D174D}"/>
              </a:ext>
            </a:extLst>
          </p:cNvPr>
          <p:cNvSpPr/>
          <p:nvPr/>
        </p:nvSpPr>
        <p:spPr>
          <a:xfrm rot="10800000">
            <a:off x="37229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DA95FD6-BA2C-495E-8A18-EF634F90B2B9}"/>
              </a:ext>
            </a:extLst>
          </p:cNvPr>
          <p:cNvSpPr/>
          <p:nvPr/>
        </p:nvSpPr>
        <p:spPr>
          <a:xfrm rot="10800000">
            <a:off x="37229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AB6FDA54-8C12-0A69-A350-8DD6EA435428}"/>
              </a:ext>
            </a:extLst>
          </p:cNvPr>
          <p:cNvSpPr txBox="1"/>
          <p:nvPr/>
        </p:nvSpPr>
        <p:spPr>
          <a:xfrm>
            <a:off x="6693579" y="2277505"/>
            <a:ext cx="4702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Menempatkan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parity bit di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dalam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pesan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pada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posisi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yang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merupakan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pangkat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2.</a:t>
            </a: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FCC1703A-17A4-2C49-F7E0-2B49BE06CE6A}"/>
              </a:ext>
            </a:extLst>
          </p:cNvPr>
          <p:cNvSpPr txBox="1"/>
          <p:nvPr/>
        </p:nvSpPr>
        <p:spPr>
          <a:xfrm>
            <a:off x="6696080" y="3852386"/>
            <a:ext cx="4702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Menentukan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nilai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parity bit yang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akan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disisipkan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pada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posisi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yang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ditentukan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pada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langkah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sebelumnya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.</a:t>
            </a:r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133A46C3-1F19-5409-5C24-7C70A5D42F9F}"/>
              </a:ext>
            </a:extLst>
          </p:cNvPr>
          <p:cNvSpPr txBox="1"/>
          <p:nvPr/>
        </p:nvSpPr>
        <p:spPr>
          <a:xfrm>
            <a:off x="6675105" y="5601678"/>
            <a:ext cx="4702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Gunakan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logika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XOR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untuk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menentukan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nilai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dari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setiap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paritas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4515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85185E-6 L 0.00065 0.3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4.16667E-6 0.23588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0.2356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022E-16 L 0.00182 0.237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1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47" y="2858104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68F6C0-9F8E-4775-915E-28D9E39262F4}"/>
              </a:ext>
            </a:extLst>
          </p:cNvPr>
          <p:cNvCxnSpPr>
            <a:cxnSpLocks/>
          </p:cNvCxnSpPr>
          <p:nvPr/>
        </p:nvCxnSpPr>
        <p:spPr>
          <a:xfrm>
            <a:off x="513858" y="3818182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1" y="2985788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16266" y="3157257"/>
            <a:ext cx="7586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2^P ≥ k + P + 1</a:t>
            </a: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P = 3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  <a:sym typeface="Wingdings" panose="05000000000000000000" pitchFamily="2" charset="2"/>
              </a:rPr>
              <a:t> 2^3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≥ 5 + 3 + 1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 8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≥ 9 (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Pernyataaan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ini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salah)</a:t>
            </a: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P = 4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 2^4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≥ 5 + 4 + 1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 16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≥ 10 (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Pernyataaan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ini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benar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32605" y="3009641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1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B137645-EFCA-46AE-9957-E8CD92BC8BBB}"/>
              </a:ext>
            </a:extLst>
          </p:cNvPr>
          <p:cNvSpPr/>
          <p:nvPr/>
        </p:nvSpPr>
        <p:spPr>
          <a:xfrm>
            <a:off x="1247" y="4855404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0B2A4A5-7B5B-4600-8B9C-202891C8CAD6}"/>
              </a:ext>
            </a:extLst>
          </p:cNvPr>
          <p:cNvCxnSpPr>
            <a:cxnSpLocks/>
          </p:cNvCxnSpPr>
          <p:nvPr/>
        </p:nvCxnSpPr>
        <p:spPr>
          <a:xfrm>
            <a:off x="513858" y="5815482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6D8C657C-DA5D-4CCD-81EA-DE73E10F4FBD}"/>
              </a:ext>
            </a:extLst>
          </p:cNvPr>
          <p:cNvSpPr/>
          <p:nvPr/>
        </p:nvSpPr>
        <p:spPr>
          <a:xfrm>
            <a:off x="128931" y="4983088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5B8AF58-5ECD-47EA-AA83-B442D7826F81}"/>
              </a:ext>
            </a:extLst>
          </p:cNvPr>
          <p:cNvSpPr txBox="1"/>
          <p:nvPr/>
        </p:nvSpPr>
        <p:spPr>
          <a:xfrm>
            <a:off x="232605" y="5006941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1216266" y="4973162"/>
            <a:ext cx="51503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Menempatkan parity bit di dalam bit pesan pada posisi yang merupakan pangkat 2.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382025" y="1335021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3199024" y="225740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1242975" y="489708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8208" y="56879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71C6F1-D94E-4157-8557-C7532C7F680C}"/>
              </a:ext>
            </a:extLst>
          </p:cNvPr>
          <p:cNvSpPr txBox="1"/>
          <p:nvPr/>
        </p:nvSpPr>
        <p:spPr>
          <a:xfrm>
            <a:off x="3389535" y="87814"/>
            <a:ext cx="54129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CONTOH SOAL</a:t>
            </a:r>
          </a:p>
        </p:txBody>
      </p:sp>
      <p:sp>
        <p:nvSpPr>
          <p:cNvPr id="2" name="TextBox 70">
            <a:extLst>
              <a:ext uri="{FF2B5EF4-FFF2-40B4-BE49-F238E27FC236}">
                <a16:creationId xmlns:a16="http://schemas.microsoft.com/office/drawing/2014/main" id="{F7216008-2B38-890B-5720-C0C954466019}"/>
              </a:ext>
            </a:extLst>
          </p:cNvPr>
          <p:cNvSpPr txBox="1"/>
          <p:nvPr/>
        </p:nvSpPr>
        <p:spPr>
          <a:xfrm>
            <a:off x="415611" y="1179199"/>
            <a:ext cx="76148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Diketahui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sebuah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data 5-bit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yakni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11010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akan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dikirimkan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melalui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Hamming Code.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Tentukan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Hamming Code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dari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data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tersebut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!</a:t>
            </a:r>
          </a:p>
        </p:txBody>
      </p:sp>
      <p:sp>
        <p:nvSpPr>
          <p:cNvPr id="4" name="Rectangle 120">
            <a:extLst>
              <a:ext uri="{FF2B5EF4-FFF2-40B4-BE49-F238E27FC236}">
                <a16:creationId xmlns:a16="http://schemas.microsoft.com/office/drawing/2014/main" id="{CE7C1117-6273-9A5D-083D-C29A7712F8F4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8E5DA96F-AE04-555E-DA85-76656BE98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90914"/>
              </p:ext>
            </p:extLst>
          </p:nvPr>
        </p:nvGraphicFramePr>
        <p:xfrm>
          <a:off x="4847171" y="5819056"/>
          <a:ext cx="6883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862">
                  <a:extLst>
                    <a:ext uri="{9D8B030D-6E8A-4147-A177-3AD203B41FA5}">
                      <a16:colId xmlns:a16="http://schemas.microsoft.com/office/drawing/2014/main" val="3842871227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67428732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254457243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45810196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41591025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3349657154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76755234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19111521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692450342"/>
                    </a:ext>
                  </a:extLst>
                </a:gridCol>
              </a:tblGrid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D9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P8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13290"/>
                  </a:ext>
                </a:extLst>
              </a:tr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9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808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14" grpId="0"/>
      <p:bldP spid="115" grpId="0" animBg="1"/>
      <p:bldP spid="117" grpId="0" animBg="1"/>
      <p:bldP spid="118" grpId="0"/>
      <p:bldP spid="119" grpId="0"/>
      <p:bldP spid="29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51" y="10308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5" y="11585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17982" y="831352"/>
            <a:ext cx="48973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Menentukan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nilai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parity bit yang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akan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disisipkan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pada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posisi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yang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ditentukan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pada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langkah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sebelumnya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43708" y="11839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1026473" y="3762754"/>
            <a:ext cx="53354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P1 = D3 ⊕ D5 ⊕ D7 ⊕ D9</a:t>
            </a:r>
          </a:p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Ini diperoleh dengan mempertimbangkan bit data dalam format </a:t>
            </a:r>
            <a:r>
              <a:rPr lang="sv-SE" sz="2200" b="1" dirty="0">
                <a:solidFill>
                  <a:srgbClr val="9188E5"/>
                </a:solidFill>
                <a:latin typeface="+mj-lt"/>
              </a:rPr>
              <a:t>check 1 skip 1 </a:t>
            </a:r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dari susunan kode hamming di atas mulai dari P1 itu sendiri.</a:t>
            </a:r>
          </a:p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P1 = 0 ⊕ 1 ⊕ 1 ⊕ 1</a:t>
            </a:r>
          </a:p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P1 = 1</a:t>
            </a:r>
          </a:p>
          <a:p>
            <a:pPr algn="just"/>
            <a:endParaRPr lang="sv-SE" sz="22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6361914" y="232110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4285673" y="444277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262401" y="376474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2" y="10083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D25BEF-70F3-473C-B81B-9EED301A4F2C}"/>
              </a:ext>
            </a:extLst>
          </p:cNvPr>
          <p:cNvCxnSpPr>
            <a:cxnSpLocks/>
          </p:cNvCxnSpPr>
          <p:nvPr/>
        </p:nvCxnSpPr>
        <p:spPr>
          <a:xfrm>
            <a:off x="513862" y="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410ED0A-18DB-4952-ADB6-1E1C79DE2592}"/>
              </a:ext>
            </a:extLst>
          </p:cNvPr>
          <p:cNvSpPr txBox="1"/>
          <p:nvPr/>
        </p:nvSpPr>
        <p:spPr>
          <a:xfrm>
            <a:off x="6695627" y="3757772"/>
            <a:ext cx="489902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P2 = D3 ⊕ D6 ⊕ D7</a:t>
            </a:r>
          </a:p>
          <a:p>
            <a:pPr algn="just"/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Ini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diperoleh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dengan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mempertimbangkan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bit data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dalam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format </a:t>
            </a:r>
            <a:r>
              <a:rPr lang="en-US" sz="2200" b="1" dirty="0">
                <a:solidFill>
                  <a:srgbClr val="9188E5"/>
                </a:solidFill>
                <a:latin typeface="+mj-lt"/>
              </a:rPr>
              <a:t>check 2 skip 2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susunan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kode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hamming di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atas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mulai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P2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itu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sendiri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.</a:t>
            </a:r>
          </a:p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P2 = 0 ⊕ 0 ⊕ 1</a:t>
            </a:r>
          </a:p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P2 = 1</a:t>
            </a:r>
          </a:p>
        </p:txBody>
      </p:sp>
      <p:graphicFrame>
        <p:nvGraphicFramePr>
          <p:cNvPr id="2" name="Tabel 5">
            <a:extLst>
              <a:ext uri="{FF2B5EF4-FFF2-40B4-BE49-F238E27FC236}">
                <a16:creationId xmlns:a16="http://schemas.microsoft.com/office/drawing/2014/main" id="{AA05F134-03C1-6352-7B05-C2EA8C5B3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750708"/>
              </p:ext>
            </p:extLst>
          </p:nvPr>
        </p:nvGraphicFramePr>
        <p:xfrm>
          <a:off x="3182595" y="2538682"/>
          <a:ext cx="6883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862">
                  <a:extLst>
                    <a:ext uri="{9D8B030D-6E8A-4147-A177-3AD203B41FA5}">
                      <a16:colId xmlns:a16="http://schemas.microsoft.com/office/drawing/2014/main" val="3842871227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67428732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254457243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45810196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41591025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3349657154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76755234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19111521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692450342"/>
                    </a:ext>
                  </a:extLst>
                </a:gridCol>
              </a:tblGrid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D9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P8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13290"/>
                  </a:ext>
                </a:extLst>
              </a:tr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9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7559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75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14" grpId="0"/>
      <p:bldP spid="119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51" y="10308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5" y="11585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17982" y="831352"/>
            <a:ext cx="48973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Menentukan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nilai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parity bit yang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akan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disisipkan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pada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posisi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yang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ditentukan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pada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langkah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sebelumnya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43708" y="11839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1026473" y="3762754"/>
            <a:ext cx="533544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rgbClr val="9188E5"/>
                </a:solidFill>
              </a:rPr>
              <a:t>P4 = D5 ⊕ D6 ⊕ D7</a:t>
            </a:r>
          </a:p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</a:rPr>
              <a:t>Ini diperoleh dengan mempertimbangkan bit data dalam format </a:t>
            </a:r>
            <a:r>
              <a:rPr lang="sv-SE" sz="2200" b="1" dirty="0">
                <a:solidFill>
                  <a:srgbClr val="9188E5"/>
                </a:solidFill>
              </a:rPr>
              <a:t>check 4 skip 4 </a:t>
            </a:r>
            <a:r>
              <a:rPr lang="sv-SE" sz="2200" b="1" dirty="0">
                <a:solidFill>
                  <a:schemeClr val="bg1">
                    <a:lumMod val="95000"/>
                  </a:schemeClr>
                </a:solidFill>
              </a:rPr>
              <a:t>dari susunan kode hamming di atas mulai dari P1 itu sendiri.</a:t>
            </a:r>
          </a:p>
          <a:p>
            <a:pPr algn="just"/>
            <a:r>
              <a:rPr lang="sv-SE" sz="2200" b="1" dirty="0">
                <a:solidFill>
                  <a:srgbClr val="9188E5"/>
                </a:solidFill>
              </a:rPr>
              <a:t>P4 = 1 ⊕ 0 ⊕ 1</a:t>
            </a:r>
          </a:p>
          <a:p>
            <a:pPr algn="just"/>
            <a:r>
              <a:rPr lang="sv-SE" sz="2200" b="1" dirty="0">
                <a:solidFill>
                  <a:srgbClr val="9188E5"/>
                </a:solidFill>
              </a:rPr>
              <a:t>P4 = 0</a:t>
            </a:r>
            <a:endParaRPr lang="sv-SE" sz="22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6361914" y="232110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4285673" y="444277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-105358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2" y="10083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D25BEF-70F3-473C-B81B-9EED301A4F2C}"/>
              </a:ext>
            </a:extLst>
          </p:cNvPr>
          <p:cNvCxnSpPr>
            <a:cxnSpLocks/>
          </p:cNvCxnSpPr>
          <p:nvPr/>
        </p:nvCxnSpPr>
        <p:spPr>
          <a:xfrm>
            <a:off x="513862" y="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410ED0A-18DB-4952-ADB6-1E1C79DE2592}"/>
              </a:ext>
            </a:extLst>
          </p:cNvPr>
          <p:cNvSpPr txBox="1"/>
          <p:nvPr/>
        </p:nvSpPr>
        <p:spPr>
          <a:xfrm>
            <a:off x="6695627" y="3757772"/>
            <a:ext cx="489902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solidFill>
                  <a:srgbClr val="9188E5"/>
                </a:solidFill>
              </a:rPr>
              <a:t>P8 = D9</a:t>
            </a:r>
          </a:p>
          <a:p>
            <a:pPr algn="just"/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Ini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diperoleh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dengan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mempertimbangkan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bit data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dalam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format </a:t>
            </a:r>
            <a:r>
              <a:rPr lang="en-US" sz="2200" b="1" dirty="0">
                <a:solidFill>
                  <a:srgbClr val="9188E5"/>
                </a:solidFill>
              </a:rPr>
              <a:t>check 8 skip 8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dari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susunan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kode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hamming di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atas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mulai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dari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P2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itu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</a:rPr>
              <a:t>sendiri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algn="just"/>
            <a:r>
              <a:rPr lang="en-US" sz="2200" b="1" dirty="0">
                <a:solidFill>
                  <a:srgbClr val="9188E5"/>
                </a:solidFill>
              </a:rPr>
              <a:t>P8 = 1</a:t>
            </a:r>
          </a:p>
        </p:txBody>
      </p:sp>
      <p:graphicFrame>
        <p:nvGraphicFramePr>
          <p:cNvPr id="2" name="Tabel 5">
            <a:extLst>
              <a:ext uri="{FF2B5EF4-FFF2-40B4-BE49-F238E27FC236}">
                <a16:creationId xmlns:a16="http://schemas.microsoft.com/office/drawing/2014/main" id="{AA05F134-03C1-6352-7B05-C2EA8C5B3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30240"/>
              </p:ext>
            </p:extLst>
          </p:nvPr>
        </p:nvGraphicFramePr>
        <p:xfrm>
          <a:off x="3182595" y="2538682"/>
          <a:ext cx="6883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862">
                  <a:extLst>
                    <a:ext uri="{9D8B030D-6E8A-4147-A177-3AD203B41FA5}">
                      <a16:colId xmlns:a16="http://schemas.microsoft.com/office/drawing/2014/main" val="3842871227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67428732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254457243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45810196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41591025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3349657154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76755234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19111521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692450342"/>
                    </a:ext>
                  </a:extLst>
                </a:gridCol>
              </a:tblGrid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D9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P8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13290"/>
                  </a:ext>
                </a:extLst>
              </a:tr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93018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E5F2B72-7515-7FFA-A84C-44D59B6D21D3}"/>
              </a:ext>
            </a:extLst>
          </p:cNvPr>
          <p:cNvCxnSpPr>
            <a:cxnSpLocks/>
          </p:cNvCxnSpPr>
          <p:nvPr/>
        </p:nvCxnSpPr>
        <p:spPr>
          <a:xfrm>
            <a:off x="513862" y="1990950"/>
            <a:ext cx="0" cy="4861754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CE810A7D-895B-0D99-BC1D-131C3664714D}"/>
              </a:ext>
            </a:extLst>
          </p:cNvPr>
          <p:cNvSpPr/>
          <p:nvPr/>
        </p:nvSpPr>
        <p:spPr>
          <a:xfrm>
            <a:off x="262401" y="376474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301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51" y="10308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68F6C0-9F8E-4775-915E-28D9E39262F4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513862" y="1990950"/>
            <a:ext cx="0" cy="1886953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5" y="11585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16270" y="1101801"/>
            <a:ext cx="48157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Menempatkan parity bit di antara bit pesan yang akan dikirimkan.</a:t>
            </a:r>
            <a:endParaRPr lang="en-US" sz="22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43708" y="11839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B137645-EFCA-46AE-9957-E8CD92BC8BBB}"/>
              </a:ext>
            </a:extLst>
          </p:cNvPr>
          <p:cNvSpPr/>
          <p:nvPr/>
        </p:nvSpPr>
        <p:spPr>
          <a:xfrm>
            <a:off x="1251" y="3877903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D8C657C-DA5D-4CCD-81EA-DE73E10F4FBD}"/>
              </a:ext>
            </a:extLst>
          </p:cNvPr>
          <p:cNvSpPr/>
          <p:nvPr/>
        </p:nvSpPr>
        <p:spPr>
          <a:xfrm>
            <a:off x="128935" y="4005587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5B8AF58-5ECD-47EA-AA83-B442D7826F81}"/>
              </a:ext>
            </a:extLst>
          </p:cNvPr>
          <p:cNvSpPr txBox="1"/>
          <p:nvPr/>
        </p:nvSpPr>
        <p:spPr>
          <a:xfrm>
            <a:off x="243708" y="4030987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1216270" y="3604841"/>
            <a:ext cx="606197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Hamming Code yang ditransmisikan dari pengirim adalah </a:t>
            </a:r>
            <a:r>
              <a:rPr lang="sv-SE" sz="2200" b="1" dirty="0">
                <a:solidFill>
                  <a:srgbClr val="9188E5"/>
                </a:solidFill>
                <a:latin typeface="+mj-lt"/>
              </a:rPr>
              <a:t>111010011.</a:t>
            </a:r>
          </a:p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MSB dan LSB dari urutan masing-masing sesuai dengan bit pertama dan terakhir, seperti yang telah ditulis dalam format kiri ke kanan.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6361914" y="232110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4285673" y="444277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-105358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0" y="522531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2" y="10083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D25BEF-70F3-473C-B81B-9EED301A4F2C}"/>
              </a:ext>
            </a:extLst>
          </p:cNvPr>
          <p:cNvCxnSpPr>
            <a:cxnSpLocks/>
          </p:cNvCxnSpPr>
          <p:nvPr/>
        </p:nvCxnSpPr>
        <p:spPr>
          <a:xfrm>
            <a:off x="513862" y="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 5">
            <a:extLst>
              <a:ext uri="{FF2B5EF4-FFF2-40B4-BE49-F238E27FC236}">
                <a16:creationId xmlns:a16="http://schemas.microsoft.com/office/drawing/2014/main" id="{A76146C5-1A26-B050-E51A-42A1449BC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236688"/>
              </p:ext>
            </p:extLst>
          </p:nvPr>
        </p:nvGraphicFramePr>
        <p:xfrm>
          <a:off x="1216270" y="2296652"/>
          <a:ext cx="6883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862">
                  <a:extLst>
                    <a:ext uri="{9D8B030D-6E8A-4147-A177-3AD203B41FA5}">
                      <a16:colId xmlns:a16="http://schemas.microsoft.com/office/drawing/2014/main" val="3842871227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67428732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254457243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45810196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41591025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3349657154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76755234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19111521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692450342"/>
                    </a:ext>
                  </a:extLst>
                </a:gridCol>
              </a:tblGrid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D9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P8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13290"/>
                  </a:ext>
                </a:extLst>
              </a:tr>
              <a:tr h="290707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9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641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14" grpId="0"/>
      <p:bldP spid="115" grpId="0" animBg="1"/>
      <p:bldP spid="117" grpId="0" animBg="1"/>
      <p:bldP spid="118" grpId="0"/>
      <p:bldP spid="1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7A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1">
            <a:extLst>
              <a:ext uri="{FF2B5EF4-FFF2-40B4-BE49-F238E27FC236}">
                <a16:creationId xmlns:a16="http://schemas.microsoft.com/office/drawing/2014/main" id="{31E44E1C-AA0A-6C93-5F90-218E7DDFF9A0}"/>
              </a:ext>
            </a:extLst>
          </p:cNvPr>
          <p:cNvGrpSpPr/>
          <p:nvPr/>
        </p:nvGrpSpPr>
        <p:grpSpPr>
          <a:xfrm>
            <a:off x="6095999" y="-1654805"/>
            <a:ext cx="6577398" cy="1481533"/>
            <a:chOff x="6096000" y="509193"/>
            <a:chExt cx="6577398" cy="1371600"/>
          </a:xfrm>
          <a:solidFill>
            <a:schemeClr val="bg1"/>
          </a:solidFill>
        </p:grpSpPr>
        <p:sp>
          <p:nvSpPr>
            <p:cNvPr id="52" name="Freeform: Shape 24">
              <a:extLst>
                <a:ext uri="{FF2B5EF4-FFF2-40B4-BE49-F238E27FC236}">
                  <a16:creationId xmlns:a16="http://schemas.microsoft.com/office/drawing/2014/main" id="{1B7EFEF0-4272-FDE7-7977-51ED289FAF7C}"/>
                </a:ext>
              </a:extLst>
            </p:cNvPr>
            <p:cNvSpPr/>
            <p:nvPr/>
          </p:nvSpPr>
          <p:spPr>
            <a:xfrm>
              <a:off x="6096000" y="509193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4B1E841-6EC2-6AB2-A4BD-6642CDE9B35C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54" name="Arc 3">
              <a:extLst>
                <a:ext uri="{FF2B5EF4-FFF2-40B4-BE49-F238E27FC236}">
                  <a16:creationId xmlns:a16="http://schemas.microsoft.com/office/drawing/2014/main" id="{23F3FDE4-86D1-DD1E-9301-CA474AEBC277}"/>
                </a:ext>
              </a:extLst>
            </p:cNvPr>
            <p:cNvSpPr/>
            <p:nvPr/>
          </p:nvSpPr>
          <p:spPr>
            <a:xfrm rot="13500000">
              <a:off x="11763152" y="729897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43" name="Group 1">
            <a:extLst>
              <a:ext uri="{FF2B5EF4-FFF2-40B4-BE49-F238E27FC236}">
                <a16:creationId xmlns:a16="http://schemas.microsoft.com/office/drawing/2014/main" id="{FF7C70E7-383E-7B0A-061A-6CB0DBCBDE37}"/>
              </a:ext>
            </a:extLst>
          </p:cNvPr>
          <p:cNvGrpSpPr/>
          <p:nvPr/>
        </p:nvGrpSpPr>
        <p:grpSpPr>
          <a:xfrm>
            <a:off x="6089208" y="5214246"/>
            <a:ext cx="6577398" cy="1481533"/>
            <a:chOff x="6096000" y="477521"/>
            <a:chExt cx="6577398" cy="1371600"/>
          </a:xfrm>
          <a:solidFill>
            <a:schemeClr val="bg1"/>
          </a:solidFill>
        </p:grpSpPr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428506A0-6B42-7B88-01B5-0C8944F2E9D5}"/>
                </a:ext>
              </a:extLst>
            </p:cNvPr>
            <p:cNvSpPr/>
            <p:nvPr/>
          </p:nvSpPr>
          <p:spPr>
            <a:xfrm>
              <a:off x="6096000" y="477521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8115073-1186-C85D-2510-15E3C18EC9F8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6" name="Arc 3">
              <a:extLst>
                <a:ext uri="{FF2B5EF4-FFF2-40B4-BE49-F238E27FC236}">
                  <a16:creationId xmlns:a16="http://schemas.microsoft.com/office/drawing/2014/main" id="{655F7BA0-2799-E866-DC51-EF476A9BE13A}"/>
                </a:ext>
              </a:extLst>
            </p:cNvPr>
            <p:cNvSpPr/>
            <p:nvPr/>
          </p:nvSpPr>
          <p:spPr>
            <a:xfrm rot="13500000">
              <a:off x="11763152" y="729897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29" name="Group 1">
            <a:extLst>
              <a:ext uri="{FF2B5EF4-FFF2-40B4-BE49-F238E27FC236}">
                <a16:creationId xmlns:a16="http://schemas.microsoft.com/office/drawing/2014/main" id="{D6580005-2462-2CA1-88E9-534DD4DA88DA}"/>
              </a:ext>
            </a:extLst>
          </p:cNvPr>
          <p:cNvGrpSpPr/>
          <p:nvPr/>
        </p:nvGrpSpPr>
        <p:grpSpPr>
          <a:xfrm>
            <a:off x="6095999" y="3589312"/>
            <a:ext cx="6577398" cy="1481533"/>
            <a:chOff x="6096000" y="477521"/>
            <a:chExt cx="6577398" cy="1371600"/>
          </a:xfrm>
          <a:solidFill>
            <a:schemeClr val="bg1"/>
          </a:solidFill>
        </p:grpSpPr>
        <p:sp>
          <p:nvSpPr>
            <p:cNvPr id="39" name="Freeform: Shape 24">
              <a:extLst>
                <a:ext uri="{FF2B5EF4-FFF2-40B4-BE49-F238E27FC236}">
                  <a16:creationId xmlns:a16="http://schemas.microsoft.com/office/drawing/2014/main" id="{A366826E-8222-E344-1C44-D940FC441AD7}"/>
                </a:ext>
              </a:extLst>
            </p:cNvPr>
            <p:cNvSpPr/>
            <p:nvPr/>
          </p:nvSpPr>
          <p:spPr>
            <a:xfrm>
              <a:off x="6096000" y="477521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4C29992-E08D-D3C1-81E3-6BCF5BE6C493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2" name="Arc 3">
              <a:extLst>
                <a:ext uri="{FF2B5EF4-FFF2-40B4-BE49-F238E27FC236}">
                  <a16:creationId xmlns:a16="http://schemas.microsoft.com/office/drawing/2014/main" id="{03BD1A90-F0C2-86AC-6538-D7C2154224E2}"/>
                </a:ext>
              </a:extLst>
            </p:cNvPr>
            <p:cNvSpPr/>
            <p:nvPr/>
          </p:nvSpPr>
          <p:spPr>
            <a:xfrm rot="13500000">
              <a:off x="11763152" y="729897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13" name="Group 1">
            <a:extLst>
              <a:ext uri="{FF2B5EF4-FFF2-40B4-BE49-F238E27FC236}">
                <a16:creationId xmlns:a16="http://schemas.microsoft.com/office/drawing/2014/main" id="{0F178DF8-4CA5-70D6-0592-3340F8C77A29}"/>
              </a:ext>
            </a:extLst>
          </p:cNvPr>
          <p:cNvGrpSpPr/>
          <p:nvPr/>
        </p:nvGrpSpPr>
        <p:grpSpPr>
          <a:xfrm>
            <a:off x="6095999" y="1972301"/>
            <a:ext cx="6577398" cy="1481533"/>
            <a:chOff x="6096000" y="509193"/>
            <a:chExt cx="6577398" cy="1371600"/>
          </a:xfrm>
          <a:solidFill>
            <a:schemeClr val="bg1"/>
          </a:solidFill>
        </p:grpSpPr>
        <p:sp>
          <p:nvSpPr>
            <p:cNvPr id="14" name="Freeform: Shape 24">
              <a:extLst>
                <a:ext uri="{FF2B5EF4-FFF2-40B4-BE49-F238E27FC236}">
                  <a16:creationId xmlns:a16="http://schemas.microsoft.com/office/drawing/2014/main" id="{266843D8-682D-0EE2-A10F-E62AF3F1C5C2}"/>
                </a:ext>
              </a:extLst>
            </p:cNvPr>
            <p:cNvSpPr/>
            <p:nvPr/>
          </p:nvSpPr>
          <p:spPr>
            <a:xfrm>
              <a:off x="6096000" y="509193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B3D6CDA-012B-94DC-D04A-99B3FA1D9EC5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27" name="Arc 3">
              <a:extLst>
                <a:ext uri="{FF2B5EF4-FFF2-40B4-BE49-F238E27FC236}">
                  <a16:creationId xmlns:a16="http://schemas.microsoft.com/office/drawing/2014/main" id="{F3E27C6F-B5F2-41A7-B9E0-FB24ACEBF1DC}"/>
                </a:ext>
              </a:extLst>
            </p:cNvPr>
            <p:cNvSpPr/>
            <p:nvPr/>
          </p:nvSpPr>
          <p:spPr>
            <a:xfrm rot="13500000">
              <a:off x="11763152" y="729897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AC6F7D1-0F7E-4B00-8530-BE8008F0D8B4}"/>
              </a:ext>
            </a:extLst>
          </p:cNvPr>
          <p:cNvGrpSpPr/>
          <p:nvPr/>
        </p:nvGrpSpPr>
        <p:grpSpPr>
          <a:xfrm>
            <a:off x="6088273" y="391941"/>
            <a:ext cx="10925674" cy="1481533"/>
            <a:chOff x="1334345" y="685601"/>
            <a:chExt cx="10925674" cy="1371600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9EBB9C-B9AB-457B-B632-3A13ADA4111F}"/>
                </a:ext>
              </a:extLst>
            </p:cNvPr>
            <p:cNvSpPr/>
            <p:nvPr/>
          </p:nvSpPr>
          <p:spPr>
            <a:xfrm>
              <a:off x="1334345" y="685601"/>
              <a:ext cx="6096000" cy="1371600"/>
            </a:xfrm>
            <a:custGeom>
              <a:avLst/>
              <a:gdLst>
                <a:gd name="connsiteX0" fmla="*/ 0 w 5638800"/>
                <a:gd name="connsiteY0" fmla="*/ 0 h 1371600"/>
                <a:gd name="connsiteX1" fmla="*/ 5638800 w 5638800"/>
                <a:gd name="connsiteY1" fmla="*/ 0 h 1371600"/>
                <a:gd name="connsiteX2" fmla="*/ 5638800 w 5638800"/>
                <a:gd name="connsiteY2" fmla="*/ 479422 h 1371600"/>
                <a:gd name="connsiteX3" fmla="*/ 5635266 w 5638800"/>
                <a:gd name="connsiteY3" fmla="*/ 479066 h 1371600"/>
                <a:gd name="connsiteX4" fmla="*/ 5428532 w 5638800"/>
                <a:gd name="connsiteY4" fmla="*/ 685800 h 1371600"/>
                <a:gd name="connsiteX5" fmla="*/ 5635266 w 5638800"/>
                <a:gd name="connsiteY5" fmla="*/ 892534 h 1371600"/>
                <a:gd name="connsiteX6" fmla="*/ 5638800 w 5638800"/>
                <a:gd name="connsiteY6" fmla="*/ 892178 h 1371600"/>
                <a:gd name="connsiteX7" fmla="*/ 5638800 w 5638800"/>
                <a:gd name="connsiteY7" fmla="*/ 1371600 h 1371600"/>
                <a:gd name="connsiteX8" fmla="*/ 0 w 5638800"/>
                <a:gd name="connsiteY8" fmla="*/ 137160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38800" h="1371600">
                  <a:moveTo>
                    <a:pt x="0" y="0"/>
                  </a:moveTo>
                  <a:lnTo>
                    <a:pt x="5638800" y="0"/>
                  </a:lnTo>
                  <a:lnTo>
                    <a:pt x="5638800" y="479422"/>
                  </a:lnTo>
                  <a:lnTo>
                    <a:pt x="5635266" y="479066"/>
                  </a:lnTo>
                  <a:cubicBezTo>
                    <a:pt x="5521090" y="479066"/>
                    <a:pt x="5428532" y="571624"/>
                    <a:pt x="5428532" y="685800"/>
                  </a:cubicBezTo>
                  <a:cubicBezTo>
                    <a:pt x="5428532" y="799976"/>
                    <a:pt x="5521090" y="892534"/>
                    <a:pt x="5635266" y="892534"/>
                  </a:cubicBezTo>
                  <a:lnTo>
                    <a:pt x="5638800" y="892178"/>
                  </a:lnTo>
                  <a:lnTo>
                    <a:pt x="5638800" y="1371600"/>
                  </a:lnTo>
                  <a:lnTo>
                    <a:pt x="0" y="13716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j-lt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BC10E3C-F700-4013-B472-EE2F36D77D65}"/>
                </a:ext>
              </a:extLst>
            </p:cNvPr>
            <p:cNvSpPr/>
            <p:nvPr/>
          </p:nvSpPr>
          <p:spPr>
            <a:xfrm>
              <a:off x="12079777" y="1104872"/>
              <a:ext cx="180242" cy="1802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8489EB07-DF76-4616-8D72-54C5EF0B821B}"/>
                </a:ext>
              </a:extLst>
            </p:cNvPr>
            <p:cNvSpPr/>
            <p:nvPr/>
          </p:nvSpPr>
          <p:spPr>
            <a:xfrm rot="13500000">
              <a:off x="7002432" y="948385"/>
              <a:ext cx="910246" cy="910246"/>
            </a:xfrm>
            <a:prstGeom prst="arc">
              <a:avLst>
                <a:gd name="adj1" fmla="val 13695927"/>
                <a:gd name="adj2" fmla="val 2489019"/>
              </a:avLst>
            </a:prstGeom>
            <a:solidFill>
              <a:srgbClr val="837AD9"/>
            </a:solidFill>
            <a:ln w="38100" cap="rnd">
              <a:solidFill>
                <a:schemeClr val="bg1">
                  <a:lumMod val="95000"/>
                </a:schemeClr>
              </a:solidFill>
              <a:round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+mj-lt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C6562D-805D-4DCF-9F0A-CE0275A17EDE}"/>
              </a:ext>
            </a:extLst>
          </p:cNvPr>
          <p:cNvSpPr/>
          <p:nvPr/>
        </p:nvSpPr>
        <p:spPr>
          <a:xfrm>
            <a:off x="1747052" y="273992"/>
            <a:ext cx="2667000" cy="461665"/>
          </a:xfrm>
          <a:prstGeom prst="roundRect">
            <a:avLst>
              <a:gd name="adj" fmla="val 50000"/>
            </a:avLst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2F2E84-2961-4323-B516-36F4BF0812BD}"/>
              </a:ext>
            </a:extLst>
          </p:cNvPr>
          <p:cNvSpPr txBox="1"/>
          <p:nvPr/>
        </p:nvSpPr>
        <p:spPr>
          <a:xfrm>
            <a:off x="592441" y="1688601"/>
            <a:ext cx="49123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9188E5"/>
                </a:solidFill>
                <a:latin typeface="+mj-lt"/>
              </a:rPr>
              <a:t>LANGKAH-LANGKAH DECODING HAMMING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AE02A2-E436-4D00-8F9D-4231677F6A5F}"/>
              </a:ext>
            </a:extLst>
          </p:cNvPr>
          <p:cNvSpPr txBox="1"/>
          <p:nvPr/>
        </p:nvSpPr>
        <p:spPr>
          <a:xfrm>
            <a:off x="787400" y="303590"/>
            <a:ext cx="449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</a:rPr>
              <a:t>DECODING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1528AB-DBBA-4B0A-9A2B-DBCE63FEAE19}"/>
              </a:ext>
            </a:extLst>
          </p:cNvPr>
          <p:cNvSpPr txBox="1"/>
          <p:nvPr/>
        </p:nvSpPr>
        <p:spPr>
          <a:xfrm>
            <a:off x="6696080" y="399117"/>
            <a:ext cx="47021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Menghitung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jumlah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redundan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(parity bit)</a:t>
            </a:r>
          </a:p>
          <a:p>
            <a:pPr algn="just"/>
            <a:r>
              <a:rPr lang="en-US" sz="1600" b="1" dirty="0">
                <a:solidFill>
                  <a:srgbClr val="837AD9"/>
                </a:solidFill>
                <a:latin typeface="+mj-lt"/>
              </a:rPr>
              <a:t>2^P ≥ k + P + 1	</a:t>
            </a:r>
          </a:p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Keterangan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:</a:t>
            </a:r>
          </a:p>
          <a:p>
            <a:pPr algn="just"/>
            <a:r>
              <a:rPr lang="en-US" sz="1600" b="1" dirty="0">
                <a:solidFill>
                  <a:srgbClr val="837AD9"/>
                </a:solidFill>
                <a:latin typeface="+mj-lt"/>
              </a:rPr>
              <a:t>P =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Jumlah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paritas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/ parity bit	</a:t>
            </a:r>
          </a:p>
          <a:p>
            <a:pPr algn="just"/>
            <a:r>
              <a:rPr lang="en-US" sz="1600" b="1" dirty="0">
                <a:solidFill>
                  <a:srgbClr val="837AD9"/>
                </a:solidFill>
                <a:latin typeface="+mj-lt"/>
              </a:rPr>
              <a:t>k =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Jumlah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pesan</a:t>
            </a:r>
            <a:endParaRPr lang="en-US" sz="1600" b="1" dirty="0">
              <a:solidFill>
                <a:srgbClr val="837AD9"/>
              </a:solidFill>
              <a:latin typeface="+mj-lt"/>
            </a:endParaRPr>
          </a:p>
          <a:p>
            <a:pPr algn="just"/>
            <a:endParaRPr lang="en-US" sz="1600" b="1" dirty="0">
              <a:solidFill>
                <a:srgbClr val="837AD9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123759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B32F4D-AFF4-45C8-BC5C-E148A1D7243E}"/>
              </a:ext>
            </a:extLst>
          </p:cNvPr>
          <p:cNvSpPr/>
          <p:nvPr/>
        </p:nvSpPr>
        <p:spPr>
          <a:xfrm>
            <a:off x="2289758" y="5368556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4681892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344FEB-2281-442D-A72E-BA4F1945E27F}"/>
              </a:ext>
            </a:extLst>
          </p:cNvPr>
          <p:cNvSpPr/>
          <p:nvPr/>
        </p:nvSpPr>
        <p:spPr>
          <a:xfrm>
            <a:off x="4341482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5960309" y="2020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A9C94CC-83A1-4C62-91DE-76265189FFF0}"/>
              </a:ext>
            </a:extLst>
          </p:cNvPr>
          <p:cNvSpPr/>
          <p:nvPr/>
        </p:nvSpPr>
        <p:spPr>
          <a:xfrm rot="10800000">
            <a:off x="6089391" y="852226"/>
            <a:ext cx="202098" cy="404196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AC94C54-9FD7-4760-AA60-8DCCCEE1A4A8}"/>
              </a:ext>
            </a:extLst>
          </p:cNvPr>
          <p:cNvSpPr/>
          <p:nvPr/>
        </p:nvSpPr>
        <p:spPr>
          <a:xfrm>
            <a:off x="5957928" y="923043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EFBAC1-D2A6-4BBB-A1CD-8F485617CFA4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25BCDA3-0CF8-4918-88E7-AE8AB76D174D}"/>
              </a:ext>
            </a:extLst>
          </p:cNvPr>
          <p:cNvSpPr/>
          <p:nvPr/>
        </p:nvSpPr>
        <p:spPr>
          <a:xfrm rot="10800000">
            <a:off x="37229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DA95FD6-BA2C-495E-8A18-EF634F90B2B9}"/>
              </a:ext>
            </a:extLst>
          </p:cNvPr>
          <p:cNvSpPr/>
          <p:nvPr/>
        </p:nvSpPr>
        <p:spPr>
          <a:xfrm rot="10800000">
            <a:off x="37229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AB6FDA54-8C12-0A69-A350-8DD6EA435428}"/>
              </a:ext>
            </a:extLst>
          </p:cNvPr>
          <p:cNvSpPr txBox="1"/>
          <p:nvPr/>
        </p:nvSpPr>
        <p:spPr>
          <a:xfrm>
            <a:off x="6693579" y="2277505"/>
            <a:ext cx="4702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Menempatkan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parity bit di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dalam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pesan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pada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posisi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yang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merupakan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pangkat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2.</a:t>
            </a: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FCC1703A-17A4-2C49-F7E0-2B49BE06CE6A}"/>
              </a:ext>
            </a:extLst>
          </p:cNvPr>
          <p:cNvSpPr txBox="1"/>
          <p:nvPr/>
        </p:nvSpPr>
        <p:spPr>
          <a:xfrm>
            <a:off x="6693579" y="3975411"/>
            <a:ext cx="4702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Melakukan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operasi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XOR pada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setiap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bit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sesuai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dengan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parity bit.</a:t>
            </a:r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133A46C3-1F19-5409-5C24-7C70A5D42F9F}"/>
              </a:ext>
            </a:extLst>
          </p:cNvPr>
          <p:cNvSpPr txBox="1"/>
          <p:nvPr/>
        </p:nvSpPr>
        <p:spPr>
          <a:xfrm>
            <a:off x="6693579" y="5498818"/>
            <a:ext cx="4702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Lakukan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penjumlahan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antara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received code word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dengan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error code word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untuk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mendapatkan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 data yang </a:t>
            </a:r>
            <a:r>
              <a:rPr lang="en-US" sz="1600" b="1" dirty="0" err="1">
                <a:solidFill>
                  <a:srgbClr val="837AD9"/>
                </a:solidFill>
                <a:latin typeface="+mj-lt"/>
              </a:rPr>
              <a:t>sebenarnya</a:t>
            </a:r>
            <a:r>
              <a:rPr lang="en-US" sz="1600" b="1" dirty="0">
                <a:solidFill>
                  <a:srgbClr val="837AD9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9212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85185E-6 L 0.00065 0.3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6 L 4.16667E-6 0.23588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1.45833E-6 0.2356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1.11022E-16 L 0.00182 0.237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1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47" y="2858104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68F6C0-9F8E-4775-915E-28D9E39262F4}"/>
              </a:ext>
            </a:extLst>
          </p:cNvPr>
          <p:cNvCxnSpPr>
            <a:cxnSpLocks/>
          </p:cNvCxnSpPr>
          <p:nvPr/>
        </p:nvCxnSpPr>
        <p:spPr>
          <a:xfrm>
            <a:off x="513858" y="3818182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1" y="2985788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16266" y="2858104"/>
            <a:ext cx="7586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2^P ≥ k + P + 1</a:t>
            </a: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P = 3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  <a:sym typeface="Wingdings" panose="05000000000000000000" pitchFamily="2" charset="2"/>
              </a:rPr>
              <a:t> 2^3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≥ 9 + 3 + 1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 8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≥ 13 (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Pernyataaan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ini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salah)</a:t>
            </a:r>
          </a:p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P = 3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 2^4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≥ 9 + 4 + 1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 16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≥ 14 (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Pernyataaan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ini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</a:rPr>
              <a:t>benar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32605" y="3009641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1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B137645-EFCA-46AE-9957-E8CD92BC8BBB}"/>
              </a:ext>
            </a:extLst>
          </p:cNvPr>
          <p:cNvSpPr/>
          <p:nvPr/>
        </p:nvSpPr>
        <p:spPr>
          <a:xfrm>
            <a:off x="1247" y="4855404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0B2A4A5-7B5B-4600-8B9C-202891C8CAD6}"/>
              </a:ext>
            </a:extLst>
          </p:cNvPr>
          <p:cNvCxnSpPr>
            <a:cxnSpLocks/>
          </p:cNvCxnSpPr>
          <p:nvPr/>
        </p:nvCxnSpPr>
        <p:spPr>
          <a:xfrm>
            <a:off x="513858" y="5815482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6D8C657C-DA5D-4CCD-81EA-DE73E10F4FBD}"/>
              </a:ext>
            </a:extLst>
          </p:cNvPr>
          <p:cNvSpPr/>
          <p:nvPr/>
        </p:nvSpPr>
        <p:spPr>
          <a:xfrm>
            <a:off x="128931" y="4983088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5B8AF58-5ECD-47EA-AA83-B442D7826F81}"/>
              </a:ext>
            </a:extLst>
          </p:cNvPr>
          <p:cNvSpPr txBox="1"/>
          <p:nvPr/>
        </p:nvSpPr>
        <p:spPr>
          <a:xfrm>
            <a:off x="232605" y="5006941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1216266" y="4973162"/>
            <a:ext cx="51503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Menempatkan parity bit di dalam bit pesan pada posisi yang merupakan pangkat 2.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382025" y="1335021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9674978" y="1670162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3199024" y="2257402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1242975" y="489708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8208" y="56879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71C6F1-D94E-4157-8557-C7532C7F680C}"/>
              </a:ext>
            </a:extLst>
          </p:cNvPr>
          <p:cNvSpPr txBox="1"/>
          <p:nvPr/>
        </p:nvSpPr>
        <p:spPr>
          <a:xfrm>
            <a:off x="3389535" y="87814"/>
            <a:ext cx="54129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Tw Cen MT" panose="020B0602020104020603" pitchFamily="34" charset="0"/>
              </a:rPr>
              <a:t>CONTOH SOAL</a:t>
            </a:r>
          </a:p>
        </p:txBody>
      </p:sp>
      <p:sp>
        <p:nvSpPr>
          <p:cNvPr id="2" name="TextBox 70">
            <a:extLst>
              <a:ext uri="{FF2B5EF4-FFF2-40B4-BE49-F238E27FC236}">
                <a16:creationId xmlns:a16="http://schemas.microsoft.com/office/drawing/2014/main" id="{F7216008-2B38-890B-5720-C0C954466019}"/>
              </a:ext>
            </a:extLst>
          </p:cNvPr>
          <p:cNvSpPr txBox="1"/>
          <p:nvPr/>
        </p:nvSpPr>
        <p:spPr>
          <a:xfrm>
            <a:off x="415611" y="1179199"/>
            <a:ext cx="76148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Tentukan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kesalahan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yang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terdapat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pada data yang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diterima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dari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proses Hamming Code = 111000011</a:t>
            </a:r>
          </a:p>
        </p:txBody>
      </p:sp>
      <p:sp>
        <p:nvSpPr>
          <p:cNvPr id="4" name="Rectangle 120">
            <a:extLst>
              <a:ext uri="{FF2B5EF4-FFF2-40B4-BE49-F238E27FC236}">
                <a16:creationId xmlns:a16="http://schemas.microsoft.com/office/drawing/2014/main" id="{CE7C1117-6273-9A5D-083D-C29A7712F8F4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8E5DA96F-AE04-555E-DA85-76656BE98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749274"/>
              </p:ext>
            </p:extLst>
          </p:nvPr>
        </p:nvGraphicFramePr>
        <p:xfrm>
          <a:off x="3118256" y="5793275"/>
          <a:ext cx="6883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862">
                  <a:extLst>
                    <a:ext uri="{9D8B030D-6E8A-4147-A177-3AD203B41FA5}">
                      <a16:colId xmlns:a16="http://schemas.microsoft.com/office/drawing/2014/main" val="3842871227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67428732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254457243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45810196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41591025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3349657154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76755234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19111521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692450342"/>
                    </a:ext>
                  </a:extLst>
                </a:gridCol>
              </a:tblGrid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D9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P8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13290"/>
                  </a:ext>
                </a:extLst>
              </a:tr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9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868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14" grpId="0"/>
      <p:bldP spid="115" grpId="0" animBg="1"/>
      <p:bldP spid="117" grpId="0" animBg="1"/>
      <p:bldP spid="118" grpId="0"/>
      <p:bldP spid="119" grpId="0"/>
      <p:bldP spid="29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51" y="10308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5" y="11585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45539" y="991977"/>
            <a:ext cx="48973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Melakukan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operasi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XOR pada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setiap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bit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sesuai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dengan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parity bit.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43708" y="11839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955320" y="3617938"/>
            <a:ext cx="53354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E1 = P1 ⊕ D3 ⊕D5 ⊕ D7 ⊕ D9</a:t>
            </a:r>
          </a:p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Ini diperoleh dengan mempertimbangkan bit data dalam format </a:t>
            </a:r>
            <a:r>
              <a:rPr lang="sv-SE" sz="2200" b="1" dirty="0">
                <a:solidFill>
                  <a:srgbClr val="837AD9"/>
                </a:solidFill>
                <a:latin typeface="+mj-lt"/>
              </a:rPr>
              <a:t>check 1 skip 1 </a:t>
            </a:r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dari susunan kode hamming di atas mulai dari P1 itu sendiri.</a:t>
            </a:r>
          </a:p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E1 = = 1 ⊕ 0 ⊕ 0 ⊕ 1 ⊕ 1</a:t>
            </a:r>
          </a:p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E1 = 1</a:t>
            </a:r>
          </a:p>
          <a:p>
            <a:pPr algn="just"/>
            <a:endParaRPr lang="sv-SE" sz="22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6361914" y="232110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4285673" y="444277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-105358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2" y="10083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D25BEF-70F3-473C-B81B-9EED301A4F2C}"/>
              </a:ext>
            </a:extLst>
          </p:cNvPr>
          <p:cNvCxnSpPr>
            <a:cxnSpLocks/>
          </p:cNvCxnSpPr>
          <p:nvPr/>
        </p:nvCxnSpPr>
        <p:spPr>
          <a:xfrm>
            <a:off x="513862" y="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410ED0A-18DB-4952-ADB6-1E1C79DE2592}"/>
              </a:ext>
            </a:extLst>
          </p:cNvPr>
          <p:cNvSpPr txBox="1"/>
          <p:nvPr/>
        </p:nvSpPr>
        <p:spPr>
          <a:xfrm>
            <a:off x="6624474" y="3612956"/>
            <a:ext cx="489902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E2 = P2 ⊕ D3 ⊕ D6 ⊕ D7</a:t>
            </a:r>
          </a:p>
          <a:p>
            <a:pPr algn="just"/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Ini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diperoleh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dengan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mempertimbangkan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bit data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dalam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format </a:t>
            </a:r>
            <a:r>
              <a:rPr lang="en-US" sz="2200" b="1" dirty="0">
                <a:solidFill>
                  <a:srgbClr val="9188E5"/>
                </a:solidFill>
                <a:latin typeface="+mj-lt"/>
              </a:rPr>
              <a:t>check 2 skip 2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susunan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kode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hamming di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atas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mulai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P2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itu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sendiri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.</a:t>
            </a:r>
          </a:p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E2 = 1 ⊕ 0 ⊕ 0 ⊕ 1</a:t>
            </a:r>
          </a:p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E2 = 0</a:t>
            </a:r>
          </a:p>
        </p:txBody>
      </p:sp>
      <p:graphicFrame>
        <p:nvGraphicFramePr>
          <p:cNvPr id="3" name="Tabel 5">
            <a:extLst>
              <a:ext uri="{FF2B5EF4-FFF2-40B4-BE49-F238E27FC236}">
                <a16:creationId xmlns:a16="http://schemas.microsoft.com/office/drawing/2014/main" id="{3181B230-F442-5633-44CB-F6000146F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385387"/>
              </p:ext>
            </p:extLst>
          </p:nvPr>
        </p:nvGraphicFramePr>
        <p:xfrm>
          <a:off x="2920035" y="2340321"/>
          <a:ext cx="6883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862">
                  <a:extLst>
                    <a:ext uri="{9D8B030D-6E8A-4147-A177-3AD203B41FA5}">
                      <a16:colId xmlns:a16="http://schemas.microsoft.com/office/drawing/2014/main" val="3842871227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67428732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254457243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45810196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41591025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3349657154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76755234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19111521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692450342"/>
                    </a:ext>
                  </a:extLst>
                </a:gridCol>
              </a:tblGrid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D9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P8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13290"/>
                  </a:ext>
                </a:extLst>
              </a:tr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93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4911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14" grpId="0"/>
      <p:bldP spid="119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51" y="10308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5" y="11585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45539" y="991977"/>
            <a:ext cx="48973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Melakukan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operasi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XOR pada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setiap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bit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sesuai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dengan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parity bit.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43708" y="11839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955320" y="3617938"/>
            <a:ext cx="53354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E4 = P4 ⊕ D5 ⊕ D6 ⊕ D7</a:t>
            </a:r>
          </a:p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Ini diperoleh dengan mempertimbangkan bit data dalam format </a:t>
            </a:r>
            <a:r>
              <a:rPr lang="sv-SE" sz="2200" b="1" dirty="0">
                <a:solidFill>
                  <a:srgbClr val="9188E5"/>
                </a:solidFill>
                <a:latin typeface="+mj-lt"/>
              </a:rPr>
              <a:t>check 4 skip 4 </a:t>
            </a:r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dari susunan kode hamming di atas mulai dari P1 itu sendiri.</a:t>
            </a:r>
          </a:p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E4</a:t>
            </a:r>
            <a:r>
              <a:rPr lang="sv-SE" sz="2200" b="1" dirty="0">
                <a:solidFill>
                  <a:srgbClr val="9188E5"/>
                </a:solidFill>
              </a:rPr>
              <a:t> = 0 ⊕ 0 ⊕ 0 ⊕ 1</a:t>
            </a:r>
          </a:p>
          <a:p>
            <a:pPr algn="just"/>
            <a:r>
              <a:rPr lang="sv-SE" sz="2200" b="1" dirty="0">
                <a:solidFill>
                  <a:srgbClr val="9188E5"/>
                </a:solidFill>
                <a:latin typeface="+mj-lt"/>
              </a:rPr>
              <a:t>E4 = 1</a:t>
            </a:r>
          </a:p>
          <a:p>
            <a:pPr algn="just"/>
            <a:endParaRPr lang="sv-SE" sz="22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6361914" y="232110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4285673" y="444277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-105358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2" y="10083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D25BEF-70F3-473C-B81B-9EED301A4F2C}"/>
              </a:ext>
            </a:extLst>
          </p:cNvPr>
          <p:cNvCxnSpPr>
            <a:cxnSpLocks/>
          </p:cNvCxnSpPr>
          <p:nvPr/>
        </p:nvCxnSpPr>
        <p:spPr>
          <a:xfrm>
            <a:off x="513862" y="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410ED0A-18DB-4952-ADB6-1E1C79DE2592}"/>
              </a:ext>
            </a:extLst>
          </p:cNvPr>
          <p:cNvSpPr txBox="1"/>
          <p:nvPr/>
        </p:nvSpPr>
        <p:spPr>
          <a:xfrm>
            <a:off x="6624474" y="3612956"/>
            <a:ext cx="489902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E8 = P8 ⊕ D9</a:t>
            </a:r>
          </a:p>
          <a:p>
            <a:pPr algn="just"/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Ini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diperoleh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dengan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mempertimbangkan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bit data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dalam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format </a:t>
            </a:r>
            <a:r>
              <a:rPr lang="en-US" sz="2200" b="1" dirty="0">
                <a:solidFill>
                  <a:srgbClr val="9188E5"/>
                </a:solidFill>
                <a:latin typeface="+mj-lt"/>
              </a:rPr>
              <a:t>check 2 skip 2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susunan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kode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hamming di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atas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mulai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dari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P2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itu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sendiri</a:t>
            </a:r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.</a:t>
            </a:r>
          </a:p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E8 = 1 ⊕ 1</a:t>
            </a:r>
          </a:p>
          <a:p>
            <a:pPr algn="just"/>
            <a:r>
              <a:rPr lang="en-US" sz="2200" b="1" dirty="0">
                <a:solidFill>
                  <a:srgbClr val="9188E5"/>
                </a:solidFill>
                <a:latin typeface="+mj-lt"/>
              </a:rPr>
              <a:t>E8 = 0</a:t>
            </a:r>
          </a:p>
        </p:txBody>
      </p:sp>
      <p:graphicFrame>
        <p:nvGraphicFramePr>
          <p:cNvPr id="3" name="Tabel 5">
            <a:extLst>
              <a:ext uri="{FF2B5EF4-FFF2-40B4-BE49-F238E27FC236}">
                <a16:creationId xmlns:a16="http://schemas.microsoft.com/office/drawing/2014/main" id="{3181B230-F442-5633-44CB-F6000146F051}"/>
              </a:ext>
            </a:extLst>
          </p:cNvPr>
          <p:cNvGraphicFramePr>
            <a:graphicFrameLocks noGrp="1"/>
          </p:cNvGraphicFramePr>
          <p:nvPr/>
        </p:nvGraphicFramePr>
        <p:xfrm>
          <a:off x="2920035" y="2340321"/>
          <a:ext cx="6883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862">
                  <a:extLst>
                    <a:ext uri="{9D8B030D-6E8A-4147-A177-3AD203B41FA5}">
                      <a16:colId xmlns:a16="http://schemas.microsoft.com/office/drawing/2014/main" val="3842871227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67428732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254457243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45810196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741591025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3349657154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767552346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191115210"/>
                    </a:ext>
                  </a:extLst>
                </a:gridCol>
                <a:gridCol w="764862">
                  <a:extLst>
                    <a:ext uri="{9D8B030D-6E8A-4147-A177-3AD203B41FA5}">
                      <a16:colId xmlns:a16="http://schemas.microsoft.com/office/drawing/2014/main" val="1692450342"/>
                    </a:ext>
                  </a:extLst>
                </a:gridCol>
              </a:tblGrid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D9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P8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D6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P4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P2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13290"/>
                  </a:ext>
                </a:extLst>
              </a:tr>
              <a:tr h="29070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>
                    <a:solidFill>
                      <a:srgbClr val="FEB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693018"/>
                  </a:ext>
                </a:extLst>
              </a:tr>
            </a:tbl>
          </a:graphicData>
        </a:graphic>
      </p:graphicFrame>
      <p:cxnSp>
        <p:nvCxnSpPr>
          <p:cNvPr id="2" name="Straight Connector 2">
            <a:extLst>
              <a:ext uri="{FF2B5EF4-FFF2-40B4-BE49-F238E27FC236}">
                <a16:creationId xmlns:a16="http://schemas.microsoft.com/office/drawing/2014/main" id="{EC285A0D-615C-C64B-4191-CE9BD5FA78E9}"/>
              </a:ext>
            </a:extLst>
          </p:cNvPr>
          <p:cNvCxnSpPr>
            <a:cxnSpLocks/>
          </p:cNvCxnSpPr>
          <p:nvPr/>
        </p:nvCxnSpPr>
        <p:spPr>
          <a:xfrm>
            <a:off x="513862" y="1990950"/>
            <a:ext cx="0" cy="4861754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84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51" y="10308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368F6C0-9F8E-4775-915E-28D9E39262F4}"/>
              </a:ext>
            </a:extLst>
          </p:cNvPr>
          <p:cNvCxnSpPr>
            <a:cxnSpLocks/>
          </p:cNvCxnSpPr>
          <p:nvPr/>
        </p:nvCxnSpPr>
        <p:spPr>
          <a:xfrm>
            <a:off x="513862" y="199095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5" y="11585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16269" y="1101801"/>
            <a:ext cx="59880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Hasil yang didapatkan yaitu </a:t>
            </a:r>
            <a:r>
              <a:rPr lang="sv-SE" sz="2200" b="1" dirty="0">
                <a:solidFill>
                  <a:srgbClr val="9188E5"/>
                </a:solidFill>
                <a:latin typeface="+mj-lt"/>
              </a:rPr>
              <a:t>E8E4E2E1 = 0101(2) = 5(10)</a:t>
            </a:r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, dapat diketahui bahwa</a:t>
            </a:r>
          </a:p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error/kesalahan terjadi pada indeks ke 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43708" y="11839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B137645-EFCA-46AE-9957-E8CD92BC8BBB}"/>
              </a:ext>
            </a:extLst>
          </p:cNvPr>
          <p:cNvSpPr/>
          <p:nvPr/>
        </p:nvSpPr>
        <p:spPr>
          <a:xfrm>
            <a:off x="1251" y="30281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D8C657C-DA5D-4CCD-81EA-DE73E10F4FBD}"/>
              </a:ext>
            </a:extLst>
          </p:cNvPr>
          <p:cNvSpPr/>
          <p:nvPr/>
        </p:nvSpPr>
        <p:spPr>
          <a:xfrm>
            <a:off x="128935" y="31558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5B8AF58-5ECD-47EA-AA83-B442D7826F81}"/>
              </a:ext>
            </a:extLst>
          </p:cNvPr>
          <p:cNvSpPr txBox="1"/>
          <p:nvPr/>
        </p:nvSpPr>
        <p:spPr>
          <a:xfrm>
            <a:off x="243708" y="31812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3A2531-51AA-4685-8B18-DBFA3E545914}"/>
              </a:ext>
            </a:extLst>
          </p:cNvPr>
          <p:cNvSpPr txBox="1"/>
          <p:nvPr/>
        </p:nvSpPr>
        <p:spPr>
          <a:xfrm>
            <a:off x="1216270" y="2755110"/>
            <a:ext cx="70321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Lakukan penjumlahan antara received code word dengan error code word untuk mendapatkan data yang sebenarnya.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6361914" y="232110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4285673" y="444277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-105358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507479-56E9-4776-8672-C314D31F8208}"/>
              </a:ext>
            </a:extLst>
          </p:cNvPr>
          <p:cNvSpPr/>
          <p:nvPr/>
        </p:nvSpPr>
        <p:spPr>
          <a:xfrm rot="10800000">
            <a:off x="0" y="4375581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2" y="10083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D25BEF-70F3-473C-B81B-9EED301A4F2C}"/>
              </a:ext>
            </a:extLst>
          </p:cNvPr>
          <p:cNvCxnSpPr>
            <a:cxnSpLocks/>
          </p:cNvCxnSpPr>
          <p:nvPr/>
        </p:nvCxnSpPr>
        <p:spPr>
          <a:xfrm>
            <a:off x="513862" y="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el 4">
            <a:extLst>
              <a:ext uri="{FF2B5EF4-FFF2-40B4-BE49-F238E27FC236}">
                <a16:creationId xmlns:a16="http://schemas.microsoft.com/office/drawing/2014/main" id="{5DA751F7-8B83-CF4C-4286-1B3FFC136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02421"/>
              </p:ext>
            </p:extLst>
          </p:nvPr>
        </p:nvGraphicFramePr>
        <p:xfrm>
          <a:off x="1307085" y="3916912"/>
          <a:ext cx="980010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946">
                  <a:extLst>
                    <a:ext uri="{9D8B030D-6E8A-4147-A177-3AD203B41FA5}">
                      <a16:colId xmlns:a16="http://schemas.microsoft.com/office/drawing/2014/main" val="56790740"/>
                    </a:ext>
                  </a:extLst>
                </a:gridCol>
                <a:gridCol w="722318">
                  <a:extLst>
                    <a:ext uri="{9D8B030D-6E8A-4147-A177-3AD203B41FA5}">
                      <a16:colId xmlns:a16="http://schemas.microsoft.com/office/drawing/2014/main" val="378696922"/>
                    </a:ext>
                  </a:extLst>
                </a:gridCol>
                <a:gridCol w="805006">
                  <a:extLst>
                    <a:ext uri="{9D8B030D-6E8A-4147-A177-3AD203B41FA5}">
                      <a16:colId xmlns:a16="http://schemas.microsoft.com/office/drawing/2014/main" val="2056486050"/>
                    </a:ext>
                  </a:extLst>
                </a:gridCol>
                <a:gridCol w="805007">
                  <a:extLst>
                    <a:ext uri="{9D8B030D-6E8A-4147-A177-3AD203B41FA5}">
                      <a16:colId xmlns:a16="http://schemas.microsoft.com/office/drawing/2014/main" val="1315017673"/>
                    </a:ext>
                  </a:extLst>
                </a:gridCol>
                <a:gridCol w="822506">
                  <a:extLst>
                    <a:ext uri="{9D8B030D-6E8A-4147-A177-3AD203B41FA5}">
                      <a16:colId xmlns:a16="http://schemas.microsoft.com/office/drawing/2014/main" val="1194407586"/>
                    </a:ext>
                  </a:extLst>
                </a:gridCol>
                <a:gridCol w="761256">
                  <a:extLst>
                    <a:ext uri="{9D8B030D-6E8A-4147-A177-3AD203B41FA5}">
                      <a16:colId xmlns:a16="http://schemas.microsoft.com/office/drawing/2014/main" val="117025535"/>
                    </a:ext>
                  </a:extLst>
                </a:gridCol>
                <a:gridCol w="862035">
                  <a:extLst>
                    <a:ext uri="{9D8B030D-6E8A-4147-A177-3AD203B41FA5}">
                      <a16:colId xmlns:a16="http://schemas.microsoft.com/office/drawing/2014/main" val="2313472158"/>
                    </a:ext>
                  </a:extLst>
                </a:gridCol>
                <a:gridCol w="980011">
                  <a:extLst>
                    <a:ext uri="{9D8B030D-6E8A-4147-A177-3AD203B41FA5}">
                      <a16:colId xmlns:a16="http://schemas.microsoft.com/office/drawing/2014/main" val="3552872777"/>
                    </a:ext>
                  </a:extLst>
                </a:gridCol>
                <a:gridCol w="980011">
                  <a:extLst>
                    <a:ext uri="{9D8B030D-6E8A-4147-A177-3AD203B41FA5}">
                      <a16:colId xmlns:a16="http://schemas.microsoft.com/office/drawing/2014/main" val="2129248473"/>
                    </a:ext>
                  </a:extLst>
                </a:gridCol>
                <a:gridCol w="980011">
                  <a:extLst>
                    <a:ext uri="{9D8B030D-6E8A-4147-A177-3AD203B41FA5}">
                      <a16:colId xmlns:a16="http://schemas.microsoft.com/office/drawing/2014/main" val="2071729470"/>
                    </a:ext>
                  </a:extLst>
                </a:gridCol>
              </a:tblGrid>
              <a:tr h="472405">
                <a:tc>
                  <a:txBody>
                    <a:bodyPr/>
                    <a:lstStyle/>
                    <a:p>
                      <a:r>
                        <a:rPr lang="en-US" dirty="0"/>
                        <a:t>Received Code Word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478291"/>
                  </a:ext>
                </a:extLst>
              </a:tr>
              <a:tr h="273695">
                <a:tc>
                  <a:txBody>
                    <a:bodyPr/>
                    <a:lstStyle/>
                    <a:p>
                      <a:r>
                        <a:rPr lang="en-US" dirty="0"/>
                        <a:t>Error Code Word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281535"/>
                  </a:ext>
                </a:extLst>
              </a:tr>
            </a:tbl>
          </a:graphicData>
        </a:graphic>
      </p:graphicFrame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156B8E09-A605-CDBC-C632-A533C25A2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696625"/>
              </p:ext>
            </p:extLst>
          </p:nvPr>
        </p:nvGraphicFramePr>
        <p:xfrm>
          <a:off x="1307085" y="5621127"/>
          <a:ext cx="980010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946">
                  <a:extLst>
                    <a:ext uri="{9D8B030D-6E8A-4147-A177-3AD203B41FA5}">
                      <a16:colId xmlns:a16="http://schemas.microsoft.com/office/drawing/2014/main" val="3535087290"/>
                    </a:ext>
                  </a:extLst>
                </a:gridCol>
                <a:gridCol w="722318">
                  <a:extLst>
                    <a:ext uri="{9D8B030D-6E8A-4147-A177-3AD203B41FA5}">
                      <a16:colId xmlns:a16="http://schemas.microsoft.com/office/drawing/2014/main" val="3687572677"/>
                    </a:ext>
                  </a:extLst>
                </a:gridCol>
                <a:gridCol w="805006">
                  <a:extLst>
                    <a:ext uri="{9D8B030D-6E8A-4147-A177-3AD203B41FA5}">
                      <a16:colId xmlns:a16="http://schemas.microsoft.com/office/drawing/2014/main" val="1769669674"/>
                    </a:ext>
                  </a:extLst>
                </a:gridCol>
                <a:gridCol w="805007">
                  <a:extLst>
                    <a:ext uri="{9D8B030D-6E8A-4147-A177-3AD203B41FA5}">
                      <a16:colId xmlns:a16="http://schemas.microsoft.com/office/drawing/2014/main" val="1183333644"/>
                    </a:ext>
                  </a:extLst>
                </a:gridCol>
                <a:gridCol w="822506">
                  <a:extLst>
                    <a:ext uri="{9D8B030D-6E8A-4147-A177-3AD203B41FA5}">
                      <a16:colId xmlns:a16="http://schemas.microsoft.com/office/drawing/2014/main" val="3855923435"/>
                    </a:ext>
                  </a:extLst>
                </a:gridCol>
                <a:gridCol w="761256">
                  <a:extLst>
                    <a:ext uri="{9D8B030D-6E8A-4147-A177-3AD203B41FA5}">
                      <a16:colId xmlns:a16="http://schemas.microsoft.com/office/drawing/2014/main" val="735741724"/>
                    </a:ext>
                  </a:extLst>
                </a:gridCol>
                <a:gridCol w="862035">
                  <a:extLst>
                    <a:ext uri="{9D8B030D-6E8A-4147-A177-3AD203B41FA5}">
                      <a16:colId xmlns:a16="http://schemas.microsoft.com/office/drawing/2014/main" val="4113077905"/>
                    </a:ext>
                  </a:extLst>
                </a:gridCol>
                <a:gridCol w="980011">
                  <a:extLst>
                    <a:ext uri="{9D8B030D-6E8A-4147-A177-3AD203B41FA5}">
                      <a16:colId xmlns:a16="http://schemas.microsoft.com/office/drawing/2014/main" val="1991888545"/>
                    </a:ext>
                  </a:extLst>
                </a:gridCol>
                <a:gridCol w="980011">
                  <a:extLst>
                    <a:ext uri="{9D8B030D-6E8A-4147-A177-3AD203B41FA5}">
                      <a16:colId xmlns:a16="http://schemas.microsoft.com/office/drawing/2014/main" val="1775917233"/>
                    </a:ext>
                  </a:extLst>
                </a:gridCol>
                <a:gridCol w="980011">
                  <a:extLst>
                    <a:ext uri="{9D8B030D-6E8A-4147-A177-3AD203B41FA5}">
                      <a16:colId xmlns:a16="http://schemas.microsoft.com/office/drawing/2014/main" val="1272928122"/>
                    </a:ext>
                  </a:extLst>
                </a:gridCol>
              </a:tblGrid>
              <a:tr h="472405">
                <a:tc>
                  <a:txBody>
                    <a:bodyPr/>
                    <a:lstStyle/>
                    <a:p>
                      <a:r>
                        <a:rPr lang="en-ID" dirty="0"/>
                        <a:t>Transmitted Code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571935"/>
                  </a:ext>
                </a:extLst>
              </a:tr>
            </a:tbl>
          </a:graphicData>
        </a:graphic>
      </p:graphicFrame>
      <p:sp>
        <p:nvSpPr>
          <p:cNvPr id="6" name="TextBox 118">
            <a:extLst>
              <a:ext uri="{FF2B5EF4-FFF2-40B4-BE49-F238E27FC236}">
                <a16:creationId xmlns:a16="http://schemas.microsoft.com/office/drawing/2014/main" id="{F2895F90-7F10-9840-CA9D-FECCE8FECE2D}"/>
              </a:ext>
            </a:extLst>
          </p:cNvPr>
          <p:cNvSpPr txBox="1"/>
          <p:nvPr/>
        </p:nvSpPr>
        <p:spPr>
          <a:xfrm>
            <a:off x="3168073" y="5190240"/>
            <a:ext cx="83298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------------------------------------------------------------------------ +</a:t>
            </a: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FCA73F18-D546-CC45-82C1-D1B761B53B78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513862" y="4053394"/>
            <a:ext cx="0" cy="2799310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9029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14" grpId="0"/>
      <p:bldP spid="115" grpId="0" animBg="1"/>
      <p:bldP spid="117" grpId="0" animBg="1"/>
      <p:bldP spid="118" grpId="0"/>
      <p:bldP spid="119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val 42">
            <a:extLst>
              <a:ext uri="{FF2B5EF4-FFF2-40B4-BE49-F238E27FC236}">
                <a16:creationId xmlns:a16="http://schemas.microsoft.com/office/drawing/2014/main" id="{16FB2ECF-1F32-4D64-9371-17C12225FCDA}"/>
              </a:ext>
            </a:extLst>
          </p:cNvPr>
          <p:cNvSpPr/>
          <p:nvPr/>
        </p:nvSpPr>
        <p:spPr>
          <a:xfrm>
            <a:off x="1251" y="1030872"/>
            <a:ext cx="1025222" cy="1025222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DECB40A-4838-47F9-98B6-1E5FF74A5251}"/>
              </a:ext>
            </a:extLst>
          </p:cNvPr>
          <p:cNvSpPr/>
          <p:nvPr/>
        </p:nvSpPr>
        <p:spPr>
          <a:xfrm>
            <a:off x="128935" y="1158556"/>
            <a:ext cx="769854" cy="769854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E3D059-B595-414F-981D-6E43EAF82DC6}"/>
              </a:ext>
            </a:extLst>
          </p:cNvPr>
          <p:cNvSpPr txBox="1"/>
          <p:nvPr/>
        </p:nvSpPr>
        <p:spPr>
          <a:xfrm>
            <a:off x="1216269" y="1101801"/>
            <a:ext cx="59880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v-SE" sz="2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Maka data bit yang seharusnya dikirimkan adalah </a:t>
            </a:r>
            <a:r>
              <a:rPr lang="sv-SE" sz="2200" b="1" dirty="0">
                <a:solidFill>
                  <a:srgbClr val="9188E5"/>
                </a:solidFill>
                <a:latin typeface="+mj-lt"/>
              </a:rPr>
              <a:t>11101001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294445F-D448-40F3-8F2A-FF2A29D292AC}"/>
              </a:ext>
            </a:extLst>
          </p:cNvPr>
          <p:cNvSpPr txBox="1"/>
          <p:nvPr/>
        </p:nvSpPr>
        <p:spPr>
          <a:xfrm>
            <a:off x="243708" y="1183956"/>
            <a:ext cx="5625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6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EAC92B2-C69B-4AAD-B31B-AD104C7359FB}"/>
              </a:ext>
            </a:extLst>
          </p:cNvPr>
          <p:cNvSpPr/>
          <p:nvPr/>
        </p:nvSpPr>
        <p:spPr>
          <a:xfrm>
            <a:off x="11665807" y="0"/>
            <a:ext cx="2252821" cy="6852704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398D6F-A2B8-447D-88AA-AC91EF224505}"/>
              </a:ext>
            </a:extLst>
          </p:cNvPr>
          <p:cNvSpPr/>
          <p:nvPr/>
        </p:nvSpPr>
        <p:spPr>
          <a:xfrm>
            <a:off x="11651845" y="3737855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7AD266-29F5-4CCC-9EC3-8CBC20B85B53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0308A4-143C-4D03-B6FA-400313EF8BF2}"/>
              </a:ext>
            </a:extLst>
          </p:cNvPr>
          <p:cNvSpPr/>
          <p:nvPr/>
        </p:nvSpPr>
        <p:spPr>
          <a:xfrm>
            <a:off x="10975913" y="6093450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7331E6-A07E-4AF3-89BC-0CE3618AE6B6}"/>
              </a:ext>
            </a:extLst>
          </p:cNvPr>
          <p:cNvSpPr/>
          <p:nvPr/>
        </p:nvSpPr>
        <p:spPr>
          <a:xfrm>
            <a:off x="6361914" y="232110"/>
            <a:ext cx="262560" cy="262560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046250-252C-4105-9D38-D53753CA4474}"/>
              </a:ext>
            </a:extLst>
          </p:cNvPr>
          <p:cNvSpPr/>
          <p:nvPr/>
        </p:nvSpPr>
        <p:spPr>
          <a:xfrm>
            <a:off x="12056564" y="54809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DE73730D-734D-4418-8323-EB687462F0A6}"/>
              </a:ext>
            </a:extLst>
          </p:cNvPr>
          <p:cNvSpPr/>
          <p:nvPr/>
        </p:nvSpPr>
        <p:spPr>
          <a:xfrm>
            <a:off x="12066089" y="11397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351658-6F50-406F-A83F-EDC73159CB39}"/>
              </a:ext>
            </a:extLst>
          </p:cNvPr>
          <p:cNvSpPr/>
          <p:nvPr/>
        </p:nvSpPr>
        <p:spPr>
          <a:xfrm>
            <a:off x="4285673" y="444277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6DFD57-7321-4688-B8C6-ADCD151AB359}"/>
              </a:ext>
            </a:extLst>
          </p:cNvPr>
          <p:cNvSpPr/>
          <p:nvPr/>
        </p:nvSpPr>
        <p:spPr>
          <a:xfrm>
            <a:off x="-105358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079550-F3DF-4A7B-9910-F7ACFD824C34}"/>
              </a:ext>
            </a:extLst>
          </p:cNvPr>
          <p:cNvSpPr/>
          <p:nvPr/>
        </p:nvSpPr>
        <p:spPr>
          <a:xfrm rot="10800000">
            <a:off x="-872" y="10083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D25BEF-70F3-473C-B81B-9EED301A4F2C}"/>
              </a:ext>
            </a:extLst>
          </p:cNvPr>
          <p:cNvCxnSpPr>
            <a:cxnSpLocks/>
          </p:cNvCxnSpPr>
          <p:nvPr/>
        </p:nvCxnSpPr>
        <p:spPr>
          <a:xfrm>
            <a:off x="513862" y="0"/>
            <a:ext cx="0" cy="1037222"/>
          </a:xfrm>
          <a:prstGeom prst="line">
            <a:avLst/>
          </a:prstGeom>
          <a:ln w="57150">
            <a:solidFill>
              <a:srgbClr val="837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7708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7" grpId="0" animBg="1"/>
      <p:bldP spid="71" grpId="0"/>
      <p:bldP spid="1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D09256-2360-4931-A15C-894E2F25F29D}"/>
              </a:ext>
            </a:extLst>
          </p:cNvPr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3947CD-295C-4AA1-BA45-8F4293806D2F}"/>
              </a:ext>
            </a:extLst>
          </p:cNvPr>
          <p:cNvGrpSpPr/>
          <p:nvPr/>
        </p:nvGrpSpPr>
        <p:grpSpPr>
          <a:xfrm>
            <a:off x="1511300" y="858192"/>
            <a:ext cx="3092742" cy="466734"/>
            <a:chOff x="1511300" y="858192"/>
            <a:chExt cx="3092742" cy="46673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4C6562D-805D-4DCF-9F0A-CE0275A17EDE}"/>
                </a:ext>
              </a:extLst>
            </p:cNvPr>
            <p:cNvSpPr/>
            <p:nvPr/>
          </p:nvSpPr>
          <p:spPr>
            <a:xfrm>
              <a:off x="1511300" y="858192"/>
              <a:ext cx="3092742" cy="466734"/>
            </a:xfrm>
            <a:prstGeom prst="roundRect">
              <a:avLst>
                <a:gd name="adj" fmla="val 50000"/>
              </a:avLst>
            </a:prstGeom>
            <a:solidFill>
              <a:srgbClr val="837A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AE02A2-E436-4D00-8F9D-4231677F6A5F}"/>
                </a:ext>
              </a:extLst>
            </p:cNvPr>
            <p:cNvSpPr txBox="1"/>
            <p:nvPr/>
          </p:nvSpPr>
          <p:spPr>
            <a:xfrm>
              <a:off x="1559617" y="904935"/>
              <a:ext cx="2976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SOAL ENCODING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4DAE9F14-010C-43E3-9F96-2358A71F899A}"/>
              </a:ext>
            </a:extLst>
          </p:cNvPr>
          <p:cNvSpPr/>
          <p:nvPr/>
        </p:nvSpPr>
        <p:spPr>
          <a:xfrm>
            <a:off x="656120" y="305385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F8A01AB-3E47-44B0-A7E9-B14464891F80}"/>
              </a:ext>
            </a:extLst>
          </p:cNvPr>
          <p:cNvSpPr/>
          <p:nvPr/>
        </p:nvSpPr>
        <p:spPr>
          <a:xfrm rot="10800000">
            <a:off x="-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C860C2-CCE7-4AB6-9756-A9594B9869E4}"/>
              </a:ext>
            </a:extLst>
          </p:cNvPr>
          <p:cNvSpPr/>
          <p:nvPr/>
        </p:nvSpPr>
        <p:spPr>
          <a:xfrm rot="10800000">
            <a:off x="-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6332C-7924-45F6-8F1B-0029924742E8}"/>
              </a:ext>
            </a:extLst>
          </p:cNvPr>
          <p:cNvSpPr/>
          <p:nvPr/>
        </p:nvSpPr>
        <p:spPr>
          <a:xfrm>
            <a:off x="4719992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3C6562-A7BF-45C4-8F1B-47634E9E4BD2}"/>
              </a:ext>
            </a:extLst>
          </p:cNvPr>
          <p:cNvSpPr/>
          <p:nvPr/>
        </p:nvSpPr>
        <p:spPr>
          <a:xfrm>
            <a:off x="5960309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193EA8F-BC4A-4C71-9BCC-C09677F8A73D}"/>
              </a:ext>
            </a:extLst>
          </p:cNvPr>
          <p:cNvSpPr/>
          <p:nvPr/>
        </p:nvSpPr>
        <p:spPr>
          <a:xfrm>
            <a:off x="1006837" y="2107831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E292DEE-4531-42A7-94E7-BE61FF6D36DC}"/>
              </a:ext>
            </a:extLst>
          </p:cNvPr>
          <p:cNvSpPr/>
          <p:nvPr/>
        </p:nvSpPr>
        <p:spPr>
          <a:xfrm>
            <a:off x="920160" y="2021154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3E0BDFA-97CA-4B2F-A0C2-6253332547FA}"/>
              </a:ext>
            </a:extLst>
          </p:cNvPr>
          <p:cNvCxnSpPr>
            <a:cxnSpLocks/>
          </p:cNvCxnSpPr>
          <p:nvPr/>
        </p:nvCxnSpPr>
        <p:spPr>
          <a:xfrm>
            <a:off x="1049700" y="2280234"/>
            <a:ext cx="0" cy="1126686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DF5D618-7601-4683-B3BF-A155325FDDDF}"/>
              </a:ext>
            </a:extLst>
          </p:cNvPr>
          <p:cNvGrpSpPr/>
          <p:nvPr/>
        </p:nvGrpSpPr>
        <p:grpSpPr>
          <a:xfrm>
            <a:off x="1296952" y="1886930"/>
            <a:ext cx="4159637" cy="948850"/>
            <a:chOff x="6681901" y="1442950"/>
            <a:chExt cx="4159637" cy="94885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4F9D532-385A-41C2-9422-2C92CC173A59}"/>
                </a:ext>
              </a:extLst>
            </p:cNvPr>
            <p:cNvSpPr txBox="1"/>
            <p:nvPr/>
          </p:nvSpPr>
          <p:spPr>
            <a:xfrm>
              <a:off x="6681901" y="1442950"/>
              <a:ext cx="3307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1100101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60135AF-AB8C-4A7A-B3FA-DBE2F74535E0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Tentukan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Hamming Code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dari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data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tersebut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117" name="Oval 116">
            <a:extLst>
              <a:ext uri="{FF2B5EF4-FFF2-40B4-BE49-F238E27FC236}">
                <a16:creationId xmlns:a16="http://schemas.microsoft.com/office/drawing/2014/main" id="{B78728E8-4E2C-4F2C-A5FF-1F738F674ED5}"/>
              </a:ext>
            </a:extLst>
          </p:cNvPr>
          <p:cNvSpPr/>
          <p:nvPr/>
        </p:nvSpPr>
        <p:spPr>
          <a:xfrm>
            <a:off x="1006837" y="3487247"/>
            <a:ext cx="85726" cy="8572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9D80301-A86B-44E3-8C91-BC2F9945C8BD}"/>
              </a:ext>
            </a:extLst>
          </p:cNvPr>
          <p:cNvSpPr/>
          <p:nvPr/>
        </p:nvSpPr>
        <p:spPr>
          <a:xfrm>
            <a:off x="920160" y="3400570"/>
            <a:ext cx="259080" cy="259080"/>
          </a:xfrm>
          <a:prstGeom prst="ellipse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200B673-9142-4B13-8DAD-F8BEEA621A56}"/>
              </a:ext>
            </a:extLst>
          </p:cNvPr>
          <p:cNvGrpSpPr/>
          <p:nvPr/>
        </p:nvGrpSpPr>
        <p:grpSpPr>
          <a:xfrm>
            <a:off x="1296952" y="3265571"/>
            <a:ext cx="4159637" cy="948850"/>
            <a:chOff x="6681901" y="1442950"/>
            <a:chExt cx="4159637" cy="948850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49A20D3-D1E3-48B2-AEB2-FE1E7D57A505}"/>
                </a:ext>
              </a:extLst>
            </p:cNvPr>
            <p:cNvSpPr txBox="1"/>
            <p:nvPr/>
          </p:nvSpPr>
          <p:spPr>
            <a:xfrm>
              <a:off x="6681901" y="1442950"/>
              <a:ext cx="2542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>
                      <a:lumMod val="95000"/>
                    </a:schemeClr>
                  </a:solidFill>
                  <a:latin typeface="Montserrat" panose="00000500000000000000" pitchFamily="2" charset="0"/>
                </a:rPr>
                <a:t>01100111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CDF64C5-151D-481A-8B31-0784219DA281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Tentukan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Hamming Code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dari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data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tersebut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BD0C0E-8513-48E3-891D-E211E35A6661}"/>
              </a:ext>
            </a:extLst>
          </p:cNvPr>
          <p:cNvGrpSpPr/>
          <p:nvPr/>
        </p:nvGrpSpPr>
        <p:grpSpPr>
          <a:xfrm>
            <a:off x="7611984" y="858192"/>
            <a:ext cx="3092742" cy="466734"/>
            <a:chOff x="7611984" y="858192"/>
            <a:chExt cx="3092742" cy="466734"/>
          </a:xfrm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5EAC5BC0-1F7B-42B2-BDB9-8DD169BDCE3A}"/>
                </a:ext>
              </a:extLst>
            </p:cNvPr>
            <p:cNvSpPr/>
            <p:nvPr/>
          </p:nvSpPr>
          <p:spPr>
            <a:xfrm>
              <a:off x="7611984" y="858192"/>
              <a:ext cx="3092742" cy="466734"/>
            </a:xfrm>
            <a:prstGeom prst="roundRect">
              <a:avLst>
                <a:gd name="adj" fmla="val 50000"/>
              </a:avLst>
            </a:prstGeom>
            <a:solidFill>
              <a:srgbClr val="837A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ontserrat" panose="00000500000000000000" pitchFamily="2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3E640F7-B3EE-4178-9429-DCA4B0FEF316}"/>
                </a:ext>
              </a:extLst>
            </p:cNvPr>
            <p:cNvSpPr txBox="1"/>
            <p:nvPr/>
          </p:nvSpPr>
          <p:spPr>
            <a:xfrm>
              <a:off x="7660301" y="904935"/>
              <a:ext cx="29767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SOAL DECODING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5B3E930-5B54-4098-8DDE-4CA1633F61CE}"/>
              </a:ext>
            </a:extLst>
          </p:cNvPr>
          <p:cNvSpPr/>
          <p:nvPr/>
        </p:nvSpPr>
        <p:spPr>
          <a:xfrm>
            <a:off x="8477045" y="5835290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B2068FB-D538-423F-8081-D3F5E2537891}"/>
              </a:ext>
            </a:extLst>
          </p:cNvPr>
          <p:cNvSpPr/>
          <p:nvPr/>
        </p:nvSpPr>
        <p:spPr>
          <a:xfrm rot="5400000">
            <a:off x="6686913" y="6661080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AA200B-56CF-43D6-B662-0A8082F098C0}"/>
              </a:ext>
            </a:extLst>
          </p:cNvPr>
          <p:cNvSpPr/>
          <p:nvPr/>
        </p:nvSpPr>
        <p:spPr>
          <a:xfrm rot="10800000">
            <a:off x="6095998" y="251266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349701-D5FE-42FF-9E96-5385942D4CA8}"/>
              </a:ext>
            </a:extLst>
          </p:cNvPr>
          <p:cNvSpPr/>
          <p:nvPr/>
        </p:nvSpPr>
        <p:spPr>
          <a:xfrm>
            <a:off x="10815991" y="6350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BDD39B-5DEC-4E93-BAC2-E2F0B7C40476}"/>
              </a:ext>
            </a:extLst>
          </p:cNvPr>
          <p:cNvSpPr/>
          <p:nvPr/>
        </p:nvSpPr>
        <p:spPr>
          <a:xfrm>
            <a:off x="10553431" y="6219262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7F1216-3F27-4917-A837-AD367EC70350}"/>
              </a:ext>
            </a:extLst>
          </p:cNvPr>
          <p:cNvSpPr/>
          <p:nvPr/>
        </p:nvSpPr>
        <p:spPr>
          <a:xfrm>
            <a:off x="12056308" y="17410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EB28C1-AB4C-4EC0-8920-BB6DE8083190}"/>
              </a:ext>
            </a:extLst>
          </p:cNvPr>
          <p:cNvSpPr/>
          <p:nvPr/>
        </p:nvSpPr>
        <p:spPr>
          <a:xfrm>
            <a:off x="12056308" y="5597385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EE65680-0676-4143-A7B0-2D4EAB86F045}"/>
              </a:ext>
            </a:extLst>
          </p:cNvPr>
          <p:cNvSpPr/>
          <p:nvPr/>
        </p:nvSpPr>
        <p:spPr>
          <a:xfrm>
            <a:off x="7229256" y="2107831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73873ED-590E-4DA5-B6E1-EADA9EFB5458}"/>
              </a:ext>
            </a:extLst>
          </p:cNvPr>
          <p:cNvSpPr/>
          <p:nvPr/>
        </p:nvSpPr>
        <p:spPr>
          <a:xfrm>
            <a:off x="7142579" y="2021154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C73A631-6CD5-4D4D-98A4-737ED11539F6}"/>
              </a:ext>
            </a:extLst>
          </p:cNvPr>
          <p:cNvCxnSpPr>
            <a:cxnSpLocks/>
          </p:cNvCxnSpPr>
          <p:nvPr/>
        </p:nvCxnSpPr>
        <p:spPr>
          <a:xfrm>
            <a:off x="7272119" y="2280234"/>
            <a:ext cx="0" cy="1126686"/>
          </a:xfrm>
          <a:prstGeom prst="line">
            <a:avLst/>
          </a:prstGeom>
          <a:ln w="28575">
            <a:solidFill>
              <a:srgbClr val="9188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281584A-BE79-4EC0-BA31-AD1D89869FB6}"/>
              </a:ext>
            </a:extLst>
          </p:cNvPr>
          <p:cNvGrpSpPr/>
          <p:nvPr/>
        </p:nvGrpSpPr>
        <p:grpSpPr>
          <a:xfrm>
            <a:off x="7519371" y="1886930"/>
            <a:ext cx="4159637" cy="1195072"/>
            <a:chOff x="6681901" y="1442950"/>
            <a:chExt cx="4159637" cy="119507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A2FAAB5-E833-4CC6-8830-6BEF70570816}"/>
                </a:ext>
              </a:extLst>
            </p:cNvPr>
            <p:cNvSpPr txBox="1"/>
            <p:nvPr/>
          </p:nvSpPr>
          <p:spPr>
            <a:xfrm>
              <a:off x="6681901" y="1442950"/>
              <a:ext cx="33070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11100110110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2630F91-8409-403B-98B7-7A91D7792F79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Tentukan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kesalahan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yang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terdapat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pada data yang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diterima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dari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proses Hamming Code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7D0BE69C-AF71-4CA9-A7FC-0D145B9B2F20}"/>
              </a:ext>
            </a:extLst>
          </p:cNvPr>
          <p:cNvSpPr/>
          <p:nvPr/>
        </p:nvSpPr>
        <p:spPr>
          <a:xfrm>
            <a:off x="7229256" y="3487247"/>
            <a:ext cx="85726" cy="85726"/>
          </a:xfrm>
          <a:prstGeom prst="ellipse">
            <a:avLst/>
          </a:prstGeom>
          <a:solidFill>
            <a:srgbClr val="918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34BAEAE-2A34-401F-B4F8-174F79D6B1AC}"/>
              </a:ext>
            </a:extLst>
          </p:cNvPr>
          <p:cNvSpPr/>
          <p:nvPr/>
        </p:nvSpPr>
        <p:spPr>
          <a:xfrm>
            <a:off x="7142579" y="3400570"/>
            <a:ext cx="259080" cy="259080"/>
          </a:xfrm>
          <a:prstGeom prst="ellipse">
            <a:avLst/>
          </a:prstGeom>
          <a:noFill/>
          <a:ln w="28575">
            <a:solidFill>
              <a:srgbClr val="9188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188E5"/>
              </a:solidFill>
              <a:latin typeface="Montserrat" panose="00000500000000000000" pitchFamily="2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0B1F8B-CDAA-4278-8B32-22F216DBF922}"/>
              </a:ext>
            </a:extLst>
          </p:cNvPr>
          <p:cNvGrpSpPr/>
          <p:nvPr/>
        </p:nvGrpSpPr>
        <p:grpSpPr>
          <a:xfrm>
            <a:off x="7519371" y="3265571"/>
            <a:ext cx="4159637" cy="1195072"/>
            <a:chOff x="6681901" y="1442950"/>
            <a:chExt cx="4159637" cy="119507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40E98A9-6D00-4AF0-9C84-27651352CAD7}"/>
                </a:ext>
              </a:extLst>
            </p:cNvPr>
            <p:cNvSpPr txBox="1"/>
            <p:nvPr/>
          </p:nvSpPr>
          <p:spPr>
            <a:xfrm>
              <a:off x="6681901" y="1442950"/>
              <a:ext cx="2542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9188E5"/>
                  </a:solidFill>
                  <a:latin typeface="Montserrat" panose="00000500000000000000" pitchFamily="2" charset="0"/>
                </a:rPr>
                <a:t>11001101100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CAE11FC-E45D-4171-B126-42E058CBA3F1}"/>
                </a:ext>
              </a:extLst>
            </p:cNvPr>
            <p:cNvSpPr txBox="1"/>
            <p:nvPr/>
          </p:nvSpPr>
          <p:spPr>
            <a:xfrm>
              <a:off x="6681901" y="1807025"/>
              <a:ext cx="41596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Tentukan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kesalahan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yang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terdapat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pada data yang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diterima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</a:t>
              </a:r>
              <a:r>
                <a:rPr lang="en-US" sz="1600" b="1" dirty="0" err="1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dari</a:t>
              </a:r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  <a:latin typeface="+mj-lt"/>
                </a:rPr>
                <a:t> proses Hamming Code</a:t>
              </a: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3019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2" grpId="0" animBg="1"/>
      <p:bldP spid="117" grpId="0" animBg="1"/>
      <p:bldP spid="118" grpId="0" animBg="1"/>
      <p:bldP spid="59" grpId="0" animBg="1"/>
      <p:bldP spid="60" grpId="0" animBg="1"/>
      <p:bldP spid="65" grpId="0" animBg="1"/>
      <p:bldP spid="6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70E377EB-6C1D-436E-B849-651C11860F50}"/>
              </a:ext>
            </a:extLst>
          </p:cNvPr>
          <p:cNvSpPr txBox="1"/>
          <p:nvPr/>
        </p:nvSpPr>
        <p:spPr>
          <a:xfrm>
            <a:off x="965711" y="1541427"/>
            <a:ext cx="5761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Kesimpulan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F42483-C77A-49C4-B88D-D05894D8FEE0}"/>
              </a:ext>
            </a:extLst>
          </p:cNvPr>
          <p:cNvSpPr txBox="1"/>
          <p:nvPr/>
        </p:nvSpPr>
        <p:spPr>
          <a:xfrm>
            <a:off x="965711" y="3160658"/>
            <a:ext cx="55353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Hamming Code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merupakan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sebuah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metode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untuk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mendeteksi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error dan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melakukan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perbaikan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pada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saat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transmisi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pesan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/data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terjadi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sebuah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perubahan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 data.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A77B90-BBEF-485C-A228-1C702F16A5B9}"/>
              </a:ext>
            </a:extLst>
          </p:cNvPr>
          <p:cNvSpPr/>
          <p:nvPr/>
        </p:nvSpPr>
        <p:spPr>
          <a:xfrm>
            <a:off x="2289758" y="5368556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E30F1E-5667-4A5C-9D64-5CD20476EF5A}"/>
              </a:ext>
            </a:extLst>
          </p:cNvPr>
          <p:cNvSpPr/>
          <p:nvPr/>
        </p:nvSpPr>
        <p:spPr>
          <a:xfrm>
            <a:off x="4681892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5174B1-D41B-4C7E-B047-B10BB0ABE416}"/>
              </a:ext>
            </a:extLst>
          </p:cNvPr>
          <p:cNvSpPr/>
          <p:nvPr/>
        </p:nvSpPr>
        <p:spPr>
          <a:xfrm>
            <a:off x="4472762" y="5395444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15C9A4-846F-49F8-BF9D-01B538F54DCF}"/>
              </a:ext>
            </a:extLst>
          </p:cNvPr>
          <p:cNvSpPr/>
          <p:nvPr/>
        </p:nvSpPr>
        <p:spPr>
          <a:xfrm>
            <a:off x="1274829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C404ED3-79D5-4532-890E-6E47B37406D9}"/>
              </a:ext>
            </a:extLst>
          </p:cNvPr>
          <p:cNvSpPr/>
          <p:nvPr/>
        </p:nvSpPr>
        <p:spPr>
          <a:xfrm rot="10800000">
            <a:off x="-871" y="6204894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B32BC37-87D6-483C-9658-108C3FBDFC68}"/>
              </a:ext>
            </a:extLst>
          </p:cNvPr>
          <p:cNvSpPr/>
          <p:nvPr/>
        </p:nvSpPr>
        <p:spPr>
          <a:xfrm rot="10800000">
            <a:off x="-871" y="1863642"/>
            <a:ext cx="131280" cy="262560"/>
          </a:xfrm>
          <a:custGeom>
            <a:avLst/>
            <a:gdLst>
              <a:gd name="connsiteX0" fmla="*/ 131280 w 131280"/>
              <a:gd name="connsiteY0" fmla="*/ 0 h 262560"/>
              <a:gd name="connsiteX1" fmla="*/ 131280 w 131280"/>
              <a:gd name="connsiteY1" fmla="*/ 262560 h 262560"/>
              <a:gd name="connsiteX2" fmla="*/ 0 w 131280"/>
              <a:gd name="connsiteY2" fmla="*/ 131280 h 262560"/>
              <a:gd name="connsiteX3" fmla="*/ 131280 w 131280"/>
              <a:gd name="connsiteY3" fmla="*/ 0 h 262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80" h="262560">
                <a:moveTo>
                  <a:pt x="131280" y="0"/>
                </a:moveTo>
                <a:lnTo>
                  <a:pt x="131280" y="262560"/>
                </a:lnTo>
                <a:cubicBezTo>
                  <a:pt x="58776" y="262560"/>
                  <a:pt x="0" y="203784"/>
                  <a:pt x="0" y="131280"/>
                </a:cubicBezTo>
                <a:cubicBezTo>
                  <a:pt x="0" y="58776"/>
                  <a:pt x="58776" y="0"/>
                  <a:pt x="131280" y="0"/>
                </a:cubicBezTo>
                <a:close/>
              </a:path>
            </a:pathLst>
          </a:cu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394B79C-BEB7-4469-B989-664EF06AABC8}"/>
              </a:ext>
            </a:extLst>
          </p:cNvPr>
          <p:cNvSpPr/>
          <p:nvPr/>
        </p:nvSpPr>
        <p:spPr>
          <a:xfrm>
            <a:off x="7009145" y="584610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D62E422-4D82-412C-BD67-335770D6EA19}"/>
              </a:ext>
            </a:extLst>
          </p:cNvPr>
          <p:cNvSpPr/>
          <p:nvPr/>
        </p:nvSpPr>
        <p:spPr>
          <a:xfrm>
            <a:off x="10949025" y="673184"/>
            <a:ext cx="158168" cy="158168"/>
          </a:xfrm>
          <a:prstGeom prst="ellipse">
            <a:avLst/>
          </a:prstGeom>
          <a:solidFill>
            <a:srgbClr val="837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46B0F60-813D-4016-9416-2703AFCF15F3}"/>
              </a:ext>
            </a:extLst>
          </p:cNvPr>
          <p:cNvSpPr/>
          <p:nvPr/>
        </p:nvSpPr>
        <p:spPr>
          <a:xfrm>
            <a:off x="10608615" y="5565617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E8299B2-436D-47D8-A32B-9BFABC2441C9}"/>
              </a:ext>
            </a:extLst>
          </p:cNvPr>
          <p:cNvSpPr/>
          <p:nvPr/>
        </p:nvSpPr>
        <p:spPr>
          <a:xfrm>
            <a:off x="7541962" y="1147763"/>
            <a:ext cx="262560" cy="2625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452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6" grpId="0"/>
    </p:bldLst>
  </p:timing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1322</Words>
  <Application>Microsoft Office PowerPoint</Application>
  <PresentationFormat>Layar Lebar</PresentationFormat>
  <Paragraphs>268</Paragraphs>
  <Slides>20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7</vt:i4>
      </vt:variant>
      <vt:variant>
        <vt:lpstr>Tema</vt:lpstr>
      </vt:variant>
      <vt:variant>
        <vt:i4>2</vt:i4>
      </vt:variant>
      <vt:variant>
        <vt:lpstr>Judul Slide</vt:lpstr>
      </vt:variant>
      <vt:variant>
        <vt:i4>20</vt:i4>
      </vt:variant>
    </vt:vector>
  </HeadingPairs>
  <TitlesOfParts>
    <vt:vector size="29" baseType="lpstr">
      <vt:lpstr>Adobe Gothic Std B</vt:lpstr>
      <vt:lpstr>Arial</vt:lpstr>
      <vt:lpstr>Calibri</vt:lpstr>
      <vt:lpstr>Calibri Light</vt:lpstr>
      <vt:lpstr>Montserrat</vt:lpstr>
      <vt:lpstr>Montserrat ExtraBold</vt:lpstr>
      <vt:lpstr>Tw Cen MT</vt:lpstr>
      <vt:lpstr>Tema Office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Michael Galileo</dc:creator>
  <cp:lastModifiedBy>Michael Galileo</cp:lastModifiedBy>
  <cp:revision>45</cp:revision>
  <dcterms:created xsi:type="dcterms:W3CDTF">2023-04-02T08:13:28Z</dcterms:created>
  <dcterms:modified xsi:type="dcterms:W3CDTF">2023-04-04T06:31:17Z</dcterms:modified>
</cp:coreProperties>
</file>