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71" r:id="rId5"/>
    <p:sldId id="262" r:id="rId6"/>
    <p:sldId id="274" r:id="rId7"/>
    <p:sldId id="266" r:id="rId8"/>
    <p:sldId id="261" r:id="rId9"/>
    <p:sldId id="264" r:id="rId10"/>
    <p:sldId id="273" r:id="rId11"/>
    <p:sldId id="276" r:id="rId12"/>
    <p:sldId id="265" r:id="rId13"/>
    <p:sldId id="267" r:id="rId14"/>
  </p:sldIdLst>
  <p:sldSz cx="18288000" cy="10287000"/>
  <p:notesSz cx="6858000" cy="9144000"/>
  <p:embeddedFontLst>
    <p:embeddedFont>
      <p:font typeface="Assistant" pitchFamily="2" charset="-79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w Bold" panose="020B0604020202020204" charset="0"/>
      <p:regular r:id="rId22"/>
    </p:embeddedFont>
    <p:embeddedFont>
      <p:font typeface="Public Sans" panose="020B0604020202020204" charset="0"/>
      <p:regular r:id="rId23"/>
    </p:embeddedFont>
    <p:embeddedFont>
      <p:font typeface="Public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368" autoAdjust="0"/>
  </p:normalViewPr>
  <p:slideViewPr>
    <p:cSldViewPr>
      <p:cViewPr>
        <p:scale>
          <a:sx n="52" d="100"/>
          <a:sy n="52" d="100"/>
        </p:scale>
        <p:origin x="850" y="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650A2-F2D7-4C47-9885-1D9C00EEEDC8}" type="datetimeFigureOut">
              <a:rPr lang="en-ID" smtClean="0"/>
              <a:t>21/03/2023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D1C0F-6860-40D1-BE6E-D2BBBFEB683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179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1C0F-6860-40D1-BE6E-D2BBBFEB6831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3344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1C0F-6860-40D1-BE6E-D2BBBFEB6831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441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1C0F-6860-40D1-BE6E-D2BBBFEB6831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0302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D1C0F-6860-40D1-BE6E-D2BBBFEB6831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878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7629" y="1866900"/>
            <a:ext cx="11705510" cy="7301804"/>
            <a:chOff x="0" y="-71543"/>
            <a:chExt cx="15607348" cy="9735738"/>
          </a:xfrm>
        </p:grpSpPr>
        <p:sp>
          <p:nvSpPr>
            <p:cNvPr id="3" name="TextBox 3"/>
            <p:cNvSpPr txBox="1"/>
            <p:nvPr/>
          </p:nvSpPr>
          <p:spPr>
            <a:xfrm>
              <a:off x="0" y="2910713"/>
              <a:ext cx="13923790" cy="2436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35"/>
                </a:lnSpc>
              </a:pPr>
              <a:r>
                <a:rPr lang="en-US" sz="15000" dirty="0">
                  <a:solidFill>
                    <a:srgbClr val="405BBC"/>
                  </a:solidFill>
                  <a:latin typeface="Now Bold"/>
                </a:rPr>
                <a:t>LZSS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3095" y="7171718"/>
              <a:ext cx="13014253" cy="2492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040"/>
                </a:lnSpc>
              </a:pPr>
              <a:r>
                <a:rPr lang="en-US" sz="3600" dirty="0">
                  <a:solidFill>
                    <a:srgbClr val="323232"/>
                  </a:solidFill>
                  <a:latin typeface="Public Sans"/>
                </a:rPr>
                <a:t>Bobby </a:t>
              </a:r>
              <a:r>
                <a:rPr lang="en-US" sz="3600" dirty="0" err="1">
                  <a:solidFill>
                    <a:srgbClr val="323232"/>
                  </a:solidFill>
                  <a:latin typeface="Public Sans"/>
                </a:rPr>
                <a:t>Widiya</a:t>
              </a:r>
              <a:r>
                <a:rPr lang="en-US" sz="3600" dirty="0">
                  <a:solidFill>
                    <a:srgbClr val="323232"/>
                  </a:solidFill>
                  <a:latin typeface="Public Sans"/>
                </a:rPr>
                <a:t> D.E.P		201344005</a:t>
              </a:r>
            </a:p>
            <a:p>
              <a:pPr>
                <a:lnSpc>
                  <a:spcPts val="5040"/>
                </a:lnSpc>
              </a:pPr>
              <a:r>
                <a:rPr lang="en-US" sz="3600" dirty="0" err="1">
                  <a:solidFill>
                    <a:srgbClr val="323232"/>
                  </a:solidFill>
                  <a:latin typeface="Public Sans"/>
                </a:rPr>
                <a:t>Iswatun</a:t>
              </a:r>
              <a:r>
                <a:rPr lang="en-US" sz="3600" dirty="0">
                  <a:solidFill>
                    <a:srgbClr val="323232"/>
                  </a:solidFill>
                  <a:latin typeface="Public Sans"/>
                </a:rPr>
                <a:t> </a:t>
              </a:r>
              <a:r>
                <a:rPr lang="en-US" sz="3600" dirty="0" err="1">
                  <a:solidFill>
                    <a:srgbClr val="323232"/>
                  </a:solidFill>
                  <a:latin typeface="Public Sans"/>
                </a:rPr>
                <a:t>Hasanah</a:t>
              </a:r>
              <a:r>
                <a:rPr lang="en-US" sz="3600" dirty="0">
                  <a:solidFill>
                    <a:srgbClr val="323232"/>
                  </a:solidFill>
                  <a:latin typeface="Public Sans"/>
                </a:rPr>
                <a:t>		201344017</a:t>
              </a:r>
            </a:p>
            <a:p>
              <a:pPr>
                <a:lnSpc>
                  <a:spcPts val="5040"/>
                </a:lnSpc>
              </a:pPr>
              <a:r>
                <a:rPr lang="en-US" sz="3600" dirty="0">
                  <a:solidFill>
                    <a:srgbClr val="323232"/>
                  </a:solidFill>
                  <a:latin typeface="Public Sans"/>
                </a:rPr>
                <a:t>Vanya Annisa Maharani	201344032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4768" y="-71543"/>
              <a:ext cx="13014253" cy="814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54"/>
                </a:lnSpc>
              </a:pPr>
              <a:r>
                <a:rPr lang="en-US" sz="5400" b="1" dirty="0">
                  <a:solidFill>
                    <a:srgbClr val="323232"/>
                  </a:solidFill>
                  <a:latin typeface="Public Sans"/>
                </a:rPr>
                <a:t>Lempel-Ziv-Storer-</a:t>
              </a:r>
              <a:r>
                <a:rPr lang="en-US" sz="5400" b="1" dirty="0" err="1">
                  <a:solidFill>
                    <a:srgbClr val="323232"/>
                  </a:solidFill>
                  <a:latin typeface="Public Sans"/>
                </a:rPr>
                <a:t>Zymanski</a:t>
              </a:r>
              <a:endParaRPr lang="en-US" sz="5400" b="1" dirty="0">
                <a:solidFill>
                  <a:srgbClr val="323232"/>
                </a:solidFill>
                <a:latin typeface="Public Sans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578113">
            <a:off x="14942065" y="-998912"/>
            <a:ext cx="8841218" cy="7635597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-5035429" y="2095663"/>
            <a:ext cx="8623058" cy="10454130"/>
            <a:chOff x="0" y="0"/>
            <a:chExt cx="11497411" cy="13938841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 rot="676309">
              <a:off x="747747" y="4406623"/>
              <a:ext cx="10001918" cy="863802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 rot="391058">
              <a:off x="2368152" y="410074"/>
              <a:ext cx="7675508" cy="7905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09800" y="1790700"/>
            <a:ext cx="9757611" cy="8027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Public Sans Bold"/>
              </a:rPr>
              <a:t>Salah </a:t>
            </a:r>
            <a:r>
              <a:rPr lang="en-US" sz="2800" dirty="0" err="1">
                <a:latin typeface="Public Sans Bold"/>
              </a:rPr>
              <a:t>satu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metode</a:t>
            </a:r>
            <a:r>
              <a:rPr lang="en-US" sz="2800" dirty="0">
                <a:latin typeface="Public Sans Bold"/>
              </a:rPr>
              <a:t> yang </a:t>
            </a:r>
            <a:r>
              <a:rPr lang="en-US" sz="2800" dirty="0" err="1">
                <a:latin typeface="Public Sans Bold"/>
              </a:rPr>
              <a:t>dapat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dipakai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untuk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mengkompresi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ukuran</a:t>
            </a:r>
            <a:r>
              <a:rPr lang="en-US" sz="2800" dirty="0">
                <a:latin typeface="Public Sans Bold"/>
              </a:rPr>
              <a:t> file </a:t>
            </a:r>
            <a:r>
              <a:rPr lang="en-US" sz="2800" dirty="0" err="1">
                <a:latin typeface="Public Sans Bold"/>
              </a:rPr>
              <a:t>adalah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dengan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metode</a:t>
            </a:r>
            <a:r>
              <a:rPr lang="en-US" sz="2800" dirty="0">
                <a:latin typeface="Public Sans Bold"/>
              </a:rPr>
              <a:t> LZSS (Lempel Ziv-Storer-</a:t>
            </a:r>
            <a:r>
              <a:rPr lang="en-US" sz="2800" dirty="0" err="1">
                <a:latin typeface="Public Sans Bold"/>
              </a:rPr>
              <a:t>Szysmanski</a:t>
            </a:r>
            <a:r>
              <a:rPr lang="en-US" sz="2800" dirty="0">
                <a:latin typeface="Public Sans Bold"/>
              </a:rPr>
              <a:t>) yang </a:t>
            </a:r>
            <a:r>
              <a:rPr lang="en-US" sz="2800" dirty="0" err="1">
                <a:latin typeface="Public Sans Bold"/>
              </a:rPr>
              <a:t>bekerja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berdasarkan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penempatan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karakter</a:t>
            </a:r>
            <a:r>
              <a:rPr lang="en-US" sz="2800" dirty="0">
                <a:latin typeface="Public Sans Bold"/>
              </a:rPr>
              <a:t> pada dictionary yang </a:t>
            </a:r>
            <a:r>
              <a:rPr lang="en-US" sz="2800" dirty="0" err="1">
                <a:latin typeface="Public Sans Bold"/>
              </a:rPr>
              <a:t>menggunakan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simbol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baru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untuk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menggantikan</a:t>
            </a:r>
            <a:r>
              <a:rPr lang="en-US" sz="2800" dirty="0">
                <a:latin typeface="Public Sans Bold"/>
              </a:rPr>
              <a:t> string data</a:t>
            </a:r>
          </a:p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endParaRPr lang="en-US" sz="2800" dirty="0">
              <a:latin typeface="Public Sans Bold"/>
            </a:endParaRPr>
          </a:p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r>
              <a:rPr lang="en-US" sz="2800" dirty="0" err="1">
                <a:latin typeface="Public Sans Bold"/>
              </a:rPr>
              <a:t>Algoritma</a:t>
            </a:r>
            <a:r>
              <a:rPr lang="en-US" sz="2800" dirty="0">
                <a:latin typeface="Public Sans Bold"/>
              </a:rPr>
              <a:t> LZSS (Lempel-Ziv-Storer-Szymanski) </a:t>
            </a:r>
            <a:r>
              <a:rPr lang="en-US" sz="2800" dirty="0" err="1">
                <a:latin typeface="Public Sans Bold"/>
              </a:rPr>
              <a:t>merupakan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perubahan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dari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algoritma</a:t>
            </a:r>
            <a:r>
              <a:rPr lang="en-US" sz="2800" dirty="0">
                <a:latin typeface="Public Sans Bold"/>
              </a:rPr>
              <a:t> LZ77 oleh James Storer dan Thomas Szymanski pada </a:t>
            </a:r>
            <a:r>
              <a:rPr lang="en-US" sz="2800" dirty="0" err="1">
                <a:latin typeface="Public Sans Bold"/>
              </a:rPr>
              <a:t>tahun</a:t>
            </a:r>
            <a:r>
              <a:rPr lang="en-US" sz="2800" dirty="0">
                <a:latin typeface="Public Sans Bold"/>
              </a:rPr>
              <a:t> 1982. </a:t>
            </a:r>
          </a:p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endParaRPr lang="en-US" sz="2800" dirty="0">
              <a:latin typeface="Public Sans Bold"/>
            </a:endParaRPr>
          </a:p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Public Sans Bold"/>
              </a:rPr>
              <a:t>LZSS </a:t>
            </a:r>
            <a:r>
              <a:rPr lang="en-US" sz="2800" dirty="0" err="1">
                <a:latin typeface="Public Sans Bold"/>
              </a:rPr>
              <a:t>bertujuan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untuk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mengganti</a:t>
            </a:r>
            <a:r>
              <a:rPr lang="en-US" sz="2800" dirty="0">
                <a:latin typeface="Public Sans Bold"/>
              </a:rPr>
              <a:t> string </a:t>
            </a:r>
            <a:r>
              <a:rPr lang="en-US" sz="2800" dirty="0" err="1">
                <a:latin typeface="Public Sans Bold"/>
              </a:rPr>
              <a:t>simbol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dengan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suatu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referensi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dari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suatu</a:t>
            </a:r>
            <a:r>
              <a:rPr lang="en-US" sz="2800" dirty="0">
                <a:latin typeface="Public Sans Bold"/>
              </a:rPr>
              <a:t> </a:t>
            </a:r>
            <a:r>
              <a:rPr lang="en-US" sz="2800" dirty="0" err="1">
                <a:latin typeface="Public Sans Bold"/>
              </a:rPr>
              <a:t>lokasi</a:t>
            </a:r>
            <a:r>
              <a:rPr lang="en-US" sz="2800" dirty="0">
                <a:latin typeface="Public Sans Bold"/>
              </a:rPr>
              <a:t> dictionary yang </a:t>
            </a:r>
            <a:r>
              <a:rPr lang="en-US" sz="2800" dirty="0" err="1">
                <a:latin typeface="Public Sans Bold"/>
              </a:rPr>
              <a:t>mempunyai</a:t>
            </a:r>
            <a:r>
              <a:rPr lang="en-US" sz="2800" dirty="0">
                <a:latin typeface="Public Sans Bold"/>
              </a:rPr>
              <a:t> string yang </a:t>
            </a:r>
            <a:r>
              <a:rPr lang="en-US" sz="2800" dirty="0" err="1">
                <a:latin typeface="Public Sans Bold"/>
              </a:rPr>
              <a:t>sama</a:t>
            </a:r>
            <a:r>
              <a:rPr lang="en-US" sz="2800" dirty="0">
                <a:latin typeface="Public Sans Bold"/>
              </a:rPr>
              <a:t>. </a:t>
            </a:r>
          </a:p>
          <a:p>
            <a:pPr marL="457200" indent="-457200" algn="just">
              <a:lnSpc>
                <a:spcPts val="4160"/>
              </a:lnSpc>
              <a:buFont typeface="Wingdings" panose="05000000000000000000" pitchFamily="2" charset="2"/>
              <a:buChar char="v"/>
            </a:pPr>
            <a:endParaRPr lang="en-US" sz="2800" dirty="0">
              <a:latin typeface="Public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05400" y="342900"/>
            <a:ext cx="7431143" cy="109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6000" dirty="0" err="1">
                <a:solidFill>
                  <a:srgbClr val="405BBC"/>
                </a:solidFill>
                <a:latin typeface="Now Bold"/>
              </a:rPr>
              <a:t>Pendahuluan</a:t>
            </a:r>
            <a:endParaRPr lang="en-US" sz="6000" dirty="0">
              <a:solidFill>
                <a:srgbClr val="405BBC"/>
              </a:solidFill>
              <a:latin typeface="Now Bold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9F659DE-7DC6-854F-E810-C18AB1E7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3571336" y="7654693"/>
            <a:ext cx="4716664" cy="2555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57113" y="4660217"/>
            <a:ext cx="250581" cy="250581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88545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81723" y="642553"/>
            <a:ext cx="2451126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405BBC"/>
                </a:solidFill>
                <a:latin typeface="Now Bold"/>
              </a:rPr>
              <a:t>LZSS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819910">
            <a:off x="15433556" y="-1635136"/>
            <a:ext cx="4154769" cy="4071673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545712">
            <a:off x="-1288633" y="7203070"/>
            <a:ext cx="4740711" cy="48827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91A13C-5587-DA97-7259-89346D2367E0}"/>
              </a:ext>
            </a:extLst>
          </p:cNvPr>
          <p:cNvSpPr txBox="1"/>
          <p:nvPr/>
        </p:nvSpPr>
        <p:spPr>
          <a:xfrm>
            <a:off x="1143000" y="2100460"/>
            <a:ext cx="15225963" cy="19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800" dirty="0">
                <a:latin typeface="Public Sans" panose="020B0604020202020204" charset="0"/>
              </a:rPr>
              <a:t>Output LZSS </a:t>
            </a:r>
            <a:r>
              <a:rPr lang="en-ID" sz="2800" dirty="0" err="1">
                <a:latin typeface="Public Sans" panose="020B0604020202020204" charset="0"/>
              </a:rPr>
              <a:t>terdiri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dari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sebuah</a:t>
            </a:r>
            <a:r>
              <a:rPr lang="en-ID" sz="2800" dirty="0">
                <a:latin typeface="Public Sans" panose="020B0604020202020204" charset="0"/>
              </a:rPr>
              <a:t> literal byte </a:t>
            </a:r>
            <a:r>
              <a:rPr lang="en-ID" sz="2800" dirty="0" err="1">
                <a:latin typeface="Public Sans" panose="020B0604020202020204" charset="0"/>
              </a:rPr>
              <a:t>atau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pasangan</a:t>
            </a:r>
            <a:r>
              <a:rPr lang="en-ID" sz="2800" dirty="0">
                <a:latin typeface="Public Sans" panose="020B0604020202020204" charset="0"/>
              </a:rPr>
              <a:t> (position, length) </a:t>
            </a:r>
            <a:r>
              <a:rPr lang="en-ID" sz="2800" dirty="0" err="1">
                <a:latin typeface="Public Sans" panose="020B0604020202020204" charset="0"/>
              </a:rPr>
              <a:t>sebagai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representasi</a:t>
            </a:r>
            <a:r>
              <a:rPr lang="en-ID" sz="2800" dirty="0">
                <a:latin typeface="Public Sans" panose="020B0604020202020204" charset="0"/>
              </a:rPr>
              <a:t> string input yang </a:t>
            </a:r>
            <a:r>
              <a:rPr lang="en-ID" sz="2800" dirty="0" err="1">
                <a:latin typeface="Public Sans" panose="020B0604020202020204" charset="0"/>
              </a:rPr>
              <a:t>telah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menjadi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referensi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dari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lokasi</a:t>
            </a:r>
            <a:r>
              <a:rPr lang="en-ID" sz="2800" dirty="0">
                <a:latin typeface="Public Sans" panose="020B0604020202020204" charset="0"/>
              </a:rPr>
              <a:t> dictionary </a:t>
            </a:r>
            <a:r>
              <a:rPr lang="en-ID" sz="2800" dirty="0" err="1">
                <a:latin typeface="Public Sans" panose="020B0604020202020204" charset="0"/>
              </a:rPr>
              <a:t>dengan</a:t>
            </a:r>
            <a:r>
              <a:rPr lang="en-ID" sz="2800" dirty="0">
                <a:latin typeface="Public Sans" panose="020B0604020202020204" charset="0"/>
              </a:rPr>
              <a:t> string yang </a:t>
            </a:r>
            <a:r>
              <a:rPr lang="en-ID" sz="2800" dirty="0" err="1">
                <a:latin typeface="Public Sans" panose="020B0604020202020204" charset="0"/>
              </a:rPr>
              <a:t>sama</a:t>
            </a:r>
            <a:r>
              <a:rPr lang="en-ID" sz="2800" dirty="0">
                <a:latin typeface="Public Sans" panose="020B0604020202020204" charset="0"/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B5CC2-7186-346F-6445-B94D329D8A9E}"/>
              </a:ext>
            </a:extLst>
          </p:cNvPr>
          <p:cNvSpPr txBox="1"/>
          <p:nvPr/>
        </p:nvSpPr>
        <p:spPr>
          <a:xfrm>
            <a:off x="3513221" y="4608120"/>
            <a:ext cx="112615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 err="1">
                <a:latin typeface="Public Sans" panose="020B0604020202020204" charset="0"/>
              </a:rPr>
              <a:t>Variabel</a:t>
            </a:r>
            <a:r>
              <a:rPr lang="en-ID" sz="2800" b="1" dirty="0">
                <a:latin typeface="Public Sans" panose="020B0604020202020204" charset="0"/>
              </a:rPr>
              <a:t> </a:t>
            </a:r>
            <a:r>
              <a:rPr lang="en-ID" sz="2800" b="1" dirty="0" err="1">
                <a:latin typeface="Public Sans" panose="020B0604020202020204" charset="0"/>
              </a:rPr>
              <a:t>Kompresi</a:t>
            </a:r>
            <a:r>
              <a:rPr lang="en-ID" sz="2800" b="1" dirty="0">
                <a:latin typeface="Public Sans" panose="020B0604020202020204" charset="0"/>
              </a:rPr>
              <a:t> LZSS</a:t>
            </a:r>
          </a:p>
          <a:p>
            <a:endParaRPr lang="en-ID" sz="2800" dirty="0">
              <a:latin typeface="Public Sans" panose="020B0604020202020204" charset="0"/>
            </a:endParaRPr>
          </a:p>
          <a:p>
            <a:pPr algn="just">
              <a:lnSpc>
                <a:spcPct val="150000"/>
              </a:lnSpc>
            </a:pPr>
            <a:r>
              <a:rPr lang="en-ID" sz="2800" dirty="0">
                <a:latin typeface="Public Sans" panose="020B0604020202020204" charset="0"/>
              </a:rPr>
              <a:t>Position	: </a:t>
            </a:r>
            <a:r>
              <a:rPr lang="en-ID" sz="2800" dirty="0" err="1">
                <a:latin typeface="Public Sans" panose="020B0604020202020204" charset="0"/>
              </a:rPr>
              <a:t>letak</a:t>
            </a:r>
            <a:r>
              <a:rPr lang="en-ID" sz="2800" dirty="0">
                <a:latin typeface="Public Sans" panose="020B0604020202020204" charset="0"/>
              </a:rPr>
              <a:t> string yang </a:t>
            </a:r>
            <a:r>
              <a:rPr lang="en-ID" sz="2800" dirty="0" err="1">
                <a:latin typeface="Public Sans" panose="020B0604020202020204" charset="0"/>
              </a:rPr>
              <a:t>sama</a:t>
            </a:r>
            <a:r>
              <a:rPr lang="en-ID" sz="2800" dirty="0">
                <a:latin typeface="Public Sans" panose="020B0604020202020204" charset="0"/>
              </a:rPr>
              <a:t> pada dictionary</a:t>
            </a:r>
          </a:p>
          <a:p>
            <a:pPr algn="just">
              <a:lnSpc>
                <a:spcPct val="150000"/>
              </a:lnSpc>
            </a:pPr>
            <a:r>
              <a:rPr lang="en-ID" sz="2800" dirty="0">
                <a:latin typeface="Public Sans" panose="020B0604020202020204" charset="0"/>
              </a:rPr>
              <a:t>Length	: Panjang string yang </a:t>
            </a:r>
            <a:r>
              <a:rPr lang="en-ID" sz="2800" dirty="0" err="1">
                <a:latin typeface="Public Sans" panose="020B0604020202020204" charset="0"/>
              </a:rPr>
              <a:t>sama</a:t>
            </a:r>
            <a:r>
              <a:rPr lang="en-ID" sz="2800" dirty="0">
                <a:latin typeface="Public Sans" panose="020B060402020202020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ID" sz="2800" dirty="0">
                <a:latin typeface="Public Sans" panose="020B0604020202020204" charset="0"/>
              </a:rPr>
              <a:t>Look ahead : batas </a:t>
            </a:r>
            <a:r>
              <a:rPr lang="en-ID" sz="2800" dirty="0" err="1">
                <a:latin typeface="Public Sans" panose="020B0604020202020204" charset="0"/>
              </a:rPr>
              <a:t>membandingkan</a:t>
            </a:r>
            <a:r>
              <a:rPr lang="en-ID" sz="2800" dirty="0">
                <a:latin typeface="Public Sans" panose="020B0604020202020204" charset="0"/>
              </a:rPr>
              <a:t> string </a:t>
            </a:r>
          </a:p>
          <a:p>
            <a:endParaRPr lang="en-ID" sz="2800" dirty="0"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1066800" y="876300"/>
            <a:ext cx="1415177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 dirty="0" err="1">
                <a:solidFill>
                  <a:srgbClr val="405BBC"/>
                </a:solidFill>
                <a:latin typeface="Now Bold"/>
              </a:rPr>
              <a:t>Menentukan</a:t>
            </a:r>
            <a:r>
              <a:rPr lang="en-US" sz="7500" dirty="0">
                <a:solidFill>
                  <a:srgbClr val="405BBC"/>
                </a:solidFill>
                <a:latin typeface="Now Bold"/>
              </a:rPr>
              <a:t> </a:t>
            </a:r>
            <a:r>
              <a:rPr lang="en-US" sz="7500" dirty="0" err="1">
                <a:solidFill>
                  <a:srgbClr val="405BBC"/>
                </a:solidFill>
                <a:latin typeface="Now Bold"/>
              </a:rPr>
              <a:t>Kompresi</a:t>
            </a:r>
            <a:r>
              <a:rPr lang="en-US" sz="7500" dirty="0">
                <a:solidFill>
                  <a:srgbClr val="405BBC"/>
                </a:solidFill>
                <a:latin typeface="Now Bold"/>
              </a:rPr>
              <a:t> LZSS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819910">
            <a:off x="15017594" y="-631424"/>
            <a:ext cx="3810681" cy="373446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545712">
            <a:off x="-1536377" y="7197688"/>
            <a:ext cx="5206355" cy="53623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3DF6366-2121-5966-D7C0-8870F081C23A}"/>
              </a:ext>
            </a:extLst>
          </p:cNvPr>
          <p:cNvSpPr txBox="1"/>
          <p:nvPr/>
        </p:nvSpPr>
        <p:spPr>
          <a:xfrm>
            <a:off x="2403626" y="2453189"/>
            <a:ext cx="1147812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latin typeface="Public Sans" panose="020B0604020202020204" charset="0"/>
              </a:rPr>
              <a:t>Langkah-Langkah </a:t>
            </a:r>
            <a:r>
              <a:rPr lang="en-ID" sz="2800" b="1" dirty="0" err="1">
                <a:latin typeface="Public Sans" panose="020B0604020202020204" charset="0"/>
              </a:rPr>
              <a:t>kompresi</a:t>
            </a:r>
            <a:r>
              <a:rPr lang="en-ID" sz="2800" b="1" dirty="0">
                <a:latin typeface="Public Sans" panose="020B0604020202020204" charset="0"/>
              </a:rPr>
              <a:t> LZSS </a:t>
            </a:r>
          </a:p>
          <a:p>
            <a:endParaRPr lang="en-ID" sz="2800" dirty="0">
              <a:latin typeface="Public Sans" panose="020B060402020202020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800" dirty="0" err="1">
                <a:latin typeface="Public Sans" panose="020B0604020202020204" charset="0"/>
              </a:rPr>
              <a:t>Menentukan</a:t>
            </a:r>
            <a:r>
              <a:rPr lang="en-ID" sz="2800" dirty="0">
                <a:latin typeface="Public Sans" panose="020B0604020202020204" charset="0"/>
              </a:rPr>
              <a:t> look ahead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800" dirty="0" err="1">
                <a:latin typeface="Public Sans" panose="020B0604020202020204" charset="0"/>
              </a:rPr>
              <a:t>Membandingkan</a:t>
            </a:r>
            <a:r>
              <a:rPr lang="en-ID" sz="2800" dirty="0">
                <a:latin typeface="Public Sans" panose="020B0604020202020204" charset="0"/>
              </a:rPr>
              <a:t> symbol pada look ahead </a:t>
            </a:r>
            <a:r>
              <a:rPr lang="en-ID" sz="2800" dirty="0" err="1">
                <a:latin typeface="Public Sans" panose="020B0604020202020204" charset="0"/>
              </a:rPr>
              <a:t>dengan</a:t>
            </a:r>
            <a:r>
              <a:rPr lang="en-ID" sz="2800" dirty="0">
                <a:latin typeface="Public Sans" panose="020B0604020202020204" charset="0"/>
              </a:rPr>
              <a:t> dictionary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800" dirty="0">
                <a:latin typeface="Public Sans" panose="020B0604020202020204" charset="0"/>
              </a:rPr>
              <a:t>Jika </a:t>
            </a:r>
            <a:r>
              <a:rPr lang="en-ID" sz="2800" dirty="0" err="1">
                <a:latin typeface="Public Sans" panose="020B0604020202020204" charset="0"/>
              </a:rPr>
              <a:t>tidak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ada</a:t>
            </a:r>
            <a:r>
              <a:rPr lang="en-ID" sz="2800" dirty="0">
                <a:latin typeface="Public Sans" panose="020B0604020202020204" charset="0"/>
              </a:rPr>
              <a:t> yang </a:t>
            </a:r>
            <a:r>
              <a:rPr lang="en-ID" sz="2800" dirty="0" err="1">
                <a:latin typeface="Public Sans" panose="020B0604020202020204" charset="0"/>
              </a:rPr>
              <a:t>cocok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dengan</a:t>
            </a:r>
            <a:r>
              <a:rPr lang="en-ID" sz="2800" dirty="0">
                <a:latin typeface="Public Sans" panose="020B0604020202020204" charset="0"/>
              </a:rPr>
              <a:t> dictionary </a:t>
            </a:r>
            <a:r>
              <a:rPr lang="en-ID" sz="2800" dirty="0" err="1">
                <a:latin typeface="Public Sans" panose="020B0604020202020204" charset="0"/>
              </a:rPr>
              <a:t>simpan</a:t>
            </a:r>
            <a:r>
              <a:rPr lang="en-ID" sz="2800" dirty="0">
                <a:latin typeface="Public Sans" panose="020B0604020202020204" charset="0"/>
              </a:rPr>
              <a:t> symbol </a:t>
            </a:r>
            <a:r>
              <a:rPr lang="en-ID" sz="2800" dirty="0" err="1">
                <a:latin typeface="Public Sans" panose="020B0604020202020204" charset="0"/>
              </a:rPr>
              <a:t>tanpa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diubah</a:t>
            </a:r>
            <a:r>
              <a:rPr lang="en-ID" sz="2800" dirty="0">
                <a:latin typeface="Public Sans" panose="020B0604020202020204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800" dirty="0" err="1">
                <a:latin typeface="Public Sans" panose="020B0604020202020204" charset="0"/>
              </a:rPr>
              <a:t>Gantikan</a:t>
            </a:r>
            <a:r>
              <a:rPr lang="en-ID" sz="2800" dirty="0">
                <a:latin typeface="Public Sans" panose="020B0604020202020204" charset="0"/>
              </a:rPr>
              <a:t> symbol yang </a:t>
            </a:r>
            <a:r>
              <a:rPr lang="en-ID" sz="2800" dirty="0" err="1">
                <a:latin typeface="Public Sans" panose="020B0604020202020204" charset="0"/>
              </a:rPr>
              <a:t>cocok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dengan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pasangan</a:t>
            </a:r>
            <a:r>
              <a:rPr lang="en-ID" sz="2800" dirty="0">
                <a:latin typeface="Public Sans" panose="020B0604020202020204" charset="0"/>
              </a:rPr>
              <a:t> (position, length)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800" dirty="0">
                <a:latin typeface="Public Sans" panose="020B0604020202020204" charset="0"/>
              </a:rPr>
              <a:t>Jika </a:t>
            </a:r>
            <a:r>
              <a:rPr lang="en-ID" sz="2800" dirty="0" err="1">
                <a:latin typeface="Public Sans" panose="020B0604020202020204" charset="0"/>
              </a:rPr>
              <a:t>hanya</a:t>
            </a:r>
            <a:r>
              <a:rPr lang="en-ID" sz="2800" dirty="0">
                <a:latin typeface="Public Sans" panose="020B0604020202020204" charset="0"/>
              </a:rPr>
              <a:t> 1 symbol yang </a:t>
            </a:r>
            <a:r>
              <a:rPr lang="en-ID" sz="2800" dirty="0" err="1">
                <a:latin typeface="Public Sans" panose="020B0604020202020204" charset="0"/>
              </a:rPr>
              <a:t>sama</a:t>
            </a:r>
            <a:r>
              <a:rPr lang="en-ID" sz="2800" dirty="0">
                <a:latin typeface="Public Sans" panose="020B0604020202020204" charset="0"/>
              </a:rPr>
              <a:t>, </a:t>
            </a:r>
            <a:r>
              <a:rPr lang="en-ID" sz="2800" dirty="0" err="1">
                <a:latin typeface="Public Sans" panose="020B0604020202020204" charset="0"/>
              </a:rPr>
              <a:t>maka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tidak</a:t>
            </a:r>
            <a:r>
              <a:rPr lang="en-ID" sz="2800" dirty="0">
                <a:latin typeface="Public Sans" panose="020B0604020202020204" charset="0"/>
              </a:rPr>
              <a:t> </a:t>
            </a:r>
            <a:r>
              <a:rPr lang="en-ID" sz="2800" dirty="0" err="1">
                <a:latin typeface="Public Sans" panose="020B0604020202020204" charset="0"/>
              </a:rPr>
              <a:t>dikodekan</a:t>
            </a:r>
            <a:endParaRPr lang="en-ID" sz="2800" dirty="0">
              <a:latin typeface="Public Sans" panose="020B0604020202020204" charset="0"/>
            </a:endParaRPr>
          </a:p>
          <a:p>
            <a:endParaRPr lang="en-ID" sz="2800" dirty="0">
              <a:latin typeface="Public Sans" panose="020B0604020202020204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C03A7DC-A2FB-4D14-4EBD-C8A2667290F3}"/>
              </a:ext>
            </a:extLst>
          </p:cNvPr>
          <p:cNvGrpSpPr/>
          <p:nvPr/>
        </p:nvGrpSpPr>
        <p:grpSpPr>
          <a:xfrm>
            <a:off x="1904012" y="2514809"/>
            <a:ext cx="250581" cy="250581"/>
            <a:chOff x="0" y="0"/>
            <a:chExt cx="6350000" cy="63500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69C798F-25CB-F098-7391-8D0BDEF55D8C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88545"/>
            </a:solidFill>
          </p:spPr>
        </p:sp>
      </p:grpSp>
    </p:spTree>
    <p:extLst>
      <p:ext uri="{BB962C8B-B14F-4D97-AF65-F5344CB8AC3E}">
        <p14:creationId xmlns:p14="http://schemas.microsoft.com/office/powerpoint/2010/main" val="154394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5B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F8D65D-3CF7-9DA8-8836-DA14720C27F5}"/>
              </a:ext>
            </a:extLst>
          </p:cNvPr>
          <p:cNvSpPr txBox="1"/>
          <p:nvPr/>
        </p:nvSpPr>
        <p:spPr>
          <a:xfrm>
            <a:off x="1295400" y="621055"/>
            <a:ext cx="1493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D" sz="5400" b="0" i="0" u="none" strike="noStrike" kern="0" cap="none" spc="0" normalizeH="0" baseline="0" noProof="0" dirty="0" err="1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Contoh</a:t>
            </a:r>
            <a:r>
              <a:rPr kumimoji="0" lang="en-ID" sz="5400" b="0" i="0" u="none" strike="noStrike" kern="0" cap="none" spc="0" normalizeH="0" baseline="0" noProof="0" dirty="0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lang="en-ID" sz="5400" kern="0" dirty="0">
                <a:solidFill>
                  <a:srgbClr val="D4EBD0"/>
                </a:solidFill>
                <a:latin typeface="Public Sans" panose="020B0604020202020204" charset="0"/>
                <a:cs typeface="Arial"/>
                <a:sym typeface="Arial"/>
              </a:rPr>
              <a:t>E</a:t>
            </a:r>
            <a:r>
              <a:rPr kumimoji="0" lang="en-ID" sz="5400" b="0" i="0" u="none" strike="noStrike" kern="0" cap="none" spc="0" normalizeH="0" baseline="0" noProof="0" dirty="0" err="1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ncoding</a:t>
            </a:r>
            <a:r>
              <a:rPr kumimoji="0" lang="en-ID" sz="5400" b="0" i="0" u="none" strike="noStrike" kern="0" cap="none" spc="0" normalizeH="0" baseline="0" noProof="0" dirty="0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: </a:t>
            </a:r>
            <a:r>
              <a:rPr kumimoji="0" lang="en-ID" sz="54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ABDAABCBDABCCBDA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09D23-DE49-AECE-CB82-41812CB9C95B}"/>
              </a:ext>
            </a:extLst>
          </p:cNvPr>
          <p:cNvSpPr txBox="1"/>
          <p:nvPr/>
        </p:nvSpPr>
        <p:spPr>
          <a:xfrm>
            <a:off x="1295400" y="1531156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L</a:t>
            </a:r>
            <a:r>
              <a:rPr lang="en-ID" sz="4000" dirty="0" err="1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ook</a:t>
            </a:r>
            <a:r>
              <a:rPr lang="en-ID" sz="4000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 ahead = 6</a:t>
            </a: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B358E248-560A-67E9-C4E2-870375F60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454617"/>
              </p:ext>
            </p:extLst>
          </p:nvPr>
        </p:nvGraphicFramePr>
        <p:xfrm>
          <a:off x="1786019" y="2541391"/>
          <a:ext cx="11625178" cy="2272927"/>
        </p:xfrm>
        <a:graphic>
          <a:graphicData uri="http://schemas.openxmlformats.org/drawingml/2006/table">
            <a:tbl>
              <a:tblPr firstRow="1" bandRow="1"/>
              <a:tblGrid>
                <a:gridCol w="1747577">
                  <a:extLst>
                    <a:ext uri="{9D8B030D-6E8A-4147-A177-3AD203B41FA5}">
                      <a16:colId xmlns:a16="http://schemas.microsoft.com/office/drawing/2014/main" val="1662939896"/>
                    </a:ext>
                  </a:extLst>
                </a:gridCol>
                <a:gridCol w="535728">
                  <a:extLst>
                    <a:ext uri="{9D8B030D-6E8A-4147-A177-3AD203B41FA5}">
                      <a16:colId xmlns:a16="http://schemas.microsoft.com/office/drawing/2014/main" val="3505443220"/>
                    </a:ext>
                  </a:extLst>
                </a:gridCol>
                <a:gridCol w="576963">
                  <a:extLst>
                    <a:ext uri="{9D8B030D-6E8A-4147-A177-3AD203B41FA5}">
                      <a16:colId xmlns:a16="http://schemas.microsoft.com/office/drawing/2014/main" val="1593524534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4019610038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529187571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320057507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446413059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2766935308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44391335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346300875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579424557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241598365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3309386327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1713324704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1961925613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1252841812"/>
                    </a:ext>
                  </a:extLst>
                </a:gridCol>
                <a:gridCol w="626065">
                  <a:extLst>
                    <a:ext uri="{9D8B030D-6E8A-4147-A177-3AD203B41FA5}">
                      <a16:colId xmlns:a16="http://schemas.microsoft.com/office/drawing/2014/main" val="2734774483"/>
                    </a:ext>
                  </a:extLst>
                </a:gridCol>
              </a:tblGrid>
              <a:tr h="759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Position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0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2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3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4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5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6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7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8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9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10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11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12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13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14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15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142649"/>
                  </a:ext>
                </a:extLst>
              </a:tr>
              <a:tr h="753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Simbol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D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C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D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C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C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D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665725"/>
                  </a:ext>
                </a:extLst>
              </a:tr>
              <a:tr h="759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output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B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D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A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0,2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C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1,3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5,2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6,4</a:t>
                      </a:r>
                      <a:endParaRPr lang="en-ID" sz="2800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3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394409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B350065E-A33A-E9B1-556C-AC4CB50F0877}"/>
              </a:ext>
            </a:extLst>
          </p:cNvPr>
          <p:cNvSpPr/>
          <p:nvPr/>
        </p:nvSpPr>
        <p:spPr>
          <a:xfrm>
            <a:off x="4038600" y="2454486"/>
            <a:ext cx="3124200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621B56-A9B9-8F5F-7939-7BE8451FA9C7}"/>
              </a:ext>
            </a:extLst>
          </p:cNvPr>
          <p:cNvSpPr/>
          <p:nvPr/>
        </p:nvSpPr>
        <p:spPr>
          <a:xfrm>
            <a:off x="3505200" y="2454486"/>
            <a:ext cx="2362200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EC3B23-F96A-14AA-CEB0-F776A846F6E9}"/>
              </a:ext>
            </a:extLst>
          </p:cNvPr>
          <p:cNvSpPr/>
          <p:nvPr/>
        </p:nvSpPr>
        <p:spPr>
          <a:xfrm>
            <a:off x="4648200" y="2454486"/>
            <a:ext cx="3124200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3D4A2D-AFE2-0B47-1152-E45A03E9D1C3}"/>
              </a:ext>
            </a:extLst>
          </p:cNvPr>
          <p:cNvSpPr/>
          <p:nvPr/>
        </p:nvSpPr>
        <p:spPr>
          <a:xfrm>
            <a:off x="5288279" y="2454486"/>
            <a:ext cx="4349440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CE0448-09E6-0932-2AE4-95ADBD9672D7}"/>
              </a:ext>
            </a:extLst>
          </p:cNvPr>
          <p:cNvSpPr/>
          <p:nvPr/>
        </p:nvSpPr>
        <p:spPr>
          <a:xfrm>
            <a:off x="7778299" y="2454486"/>
            <a:ext cx="3145970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F8DF53-029C-656E-7285-8DBF60D7531F}"/>
              </a:ext>
            </a:extLst>
          </p:cNvPr>
          <p:cNvSpPr/>
          <p:nvPr/>
        </p:nvSpPr>
        <p:spPr>
          <a:xfrm>
            <a:off x="9637719" y="2470735"/>
            <a:ext cx="3773478" cy="1698416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356C9F-86DD-6AE1-05E5-DDE848268ADA}"/>
              </a:ext>
            </a:extLst>
          </p:cNvPr>
          <p:cNvSpPr txBox="1"/>
          <p:nvPr/>
        </p:nvSpPr>
        <p:spPr>
          <a:xfrm>
            <a:off x="1478280" y="5069781"/>
            <a:ext cx="9144000" cy="1305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800" b="1" dirty="0" err="1">
                <a:latin typeface="Public Sans" panose="020B0604020202020204" charset="0"/>
              </a:rPr>
              <a:t>Outputnya</a:t>
            </a:r>
            <a:r>
              <a:rPr lang="en-ID" sz="2800" b="1" dirty="0">
                <a:latin typeface="Public Sans" panose="020B0604020202020204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ID" sz="2800" b="1" dirty="0">
                <a:latin typeface="Public Sans" panose="020B0604020202020204" charset="0"/>
              </a:rPr>
              <a:t>ABDA(0,2)C(1,3)(5,2)(6,4)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C68CF9-EC54-3289-941F-07E50F93E31D}"/>
              </a:ext>
            </a:extLst>
          </p:cNvPr>
          <p:cNvSpPr txBox="1"/>
          <p:nvPr/>
        </p:nvSpPr>
        <p:spPr>
          <a:xfrm>
            <a:off x="7162800" y="5613427"/>
            <a:ext cx="114781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latin typeface="Public Sans" panose="020B0604020202020204" charset="0"/>
              </a:rPr>
              <a:t>Langkah-Langkah </a:t>
            </a:r>
            <a:r>
              <a:rPr lang="en-ID" sz="2400" b="1" dirty="0" err="1">
                <a:latin typeface="Public Sans" panose="020B0604020202020204" charset="0"/>
              </a:rPr>
              <a:t>kompresi</a:t>
            </a:r>
            <a:r>
              <a:rPr lang="en-ID" sz="2400" b="1" dirty="0">
                <a:latin typeface="Public Sans" panose="020B0604020202020204" charset="0"/>
              </a:rPr>
              <a:t> LZSS </a:t>
            </a:r>
          </a:p>
          <a:p>
            <a:endParaRPr lang="en-ID" sz="2400" dirty="0">
              <a:solidFill>
                <a:schemeClr val="bg1"/>
              </a:solidFill>
              <a:latin typeface="Public Sans" panose="020B060402020202020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Menentukan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look ahead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Membandingkan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symbol pada look ahead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dictionary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Jika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ada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cocok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dictionary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simpan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symbol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tanpa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diubah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Gantikan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symbol yang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cocok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dengan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pasangan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>
                <a:solidFill>
                  <a:srgbClr val="FF0000"/>
                </a:solidFill>
                <a:latin typeface="Public Sans" panose="020B0604020202020204" charset="0"/>
              </a:rPr>
              <a:t>(position, length)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Jika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hanya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1 symbol yang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sama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,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maka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tidak</a:t>
            </a:r>
            <a:r>
              <a:rPr lang="en-ID" sz="2400" dirty="0">
                <a:solidFill>
                  <a:schemeClr val="bg1"/>
                </a:solidFill>
                <a:latin typeface="Public Sans" panose="020B0604020202020204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latin typeface="Public Sans" panose="020B0604020202020204" charset="0"/>
              </a:rPr>
              <a:t>dikodekan</a:t>
            </a:r>
            <a:endParaRPr lang="en-ID" sz="2400" dirty="0">
              <a:solidFill>
                <a:schemeClr val="bg1"/>
              </a:solidFill>
              <a:latin typeface="Public Sans" panose="020B0604020202020204" charset="0"/>
            </a:endParaRPr>
          </a:p>
          <a:p>
            <a:endParaRPr lang="en-ID" sz="2400"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19C27-1C6F-7F9A-0B55-4BF9DD4CB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800100"/>
            <a:ext cx="13645432" cy="9231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EC18D9-A2EB-0736-D331-D1C240325622}"/>
              </a:ext>
            </a:extLst>
          </p:cNvPr>
          <p:cNvSpPr txBox="1"/>
          <p:nvPr/>
        </p:nvSpPr>
        <p:spPr>
          <a:xfrm>
            <a:off x="304800" y="527506"/>
            <a:ext cx="9144000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405BBC"/>
                </a:solidFill>
                <a:effectLst/>
                <a:uLnTx/>
                <a:uFillTx/>
                <a:latin typeface="Now Bold"/>
                <a:ea typeface="+mn-ea"/>
                <a:cs typeface="+mn-cs"/>
              </a:rPr>
              <a:t>Tabel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405BBC"/>
                </a:solidFill>
                <a:effectLst/>
                <a:uLnTx/>
                <a:uFillTx/>
                <a:latin typeface="Now Bold"/>
                <a:ea typeface="+mn-ea"/>
                <a:cs typeface="+mn-cs"/>
              </a:rPr>
              <a:t> ASCII</a:t>
            </a:r>
          </a:p>
        </p:txBody>
      </p:sp>
    </p:spTree>
    <p:extLst>
      <p:ext uri="{BB962C8B-B14F-4D97-AF65-F5344CB8AC3E}">
        <p14:creationId xmlns:p14="http://schemas.microsoft.com/office/powerpoint/2010/main" val="236042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0" y="266700"/>
            <a:ext cx="1158485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6600" dirty="0" err="1">
                <a:solidFill>
                  <a:srgbClr val="405BBC"/>
                </a:solidFill>
                <a:latin typeface="Now Bold"/>
              </a:rPr>
              <a:t>Menentukan</a:t>
            </a:r>
            <a:r>
              <a:rPr lang="en-US" sz="6600" dirty="0">
                <a:solidFill>
                  <a:srgbClr val="405BBC"/>
                </a:solidFill>
                <a:latin typeface="Now Bold"/>
              </a:rPr>
              <a:t> Bit Stream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18877-486D-1EC9-6EE8-4BE34800CD54}"/>
              </a:ext>
            </a:extLst>
          </p:cNvPr>
          <p:cNvSpPr txBox="1"/>
          <p:nvPr/>
        </p:nvSpPr>
        <p:spPr>
          <a:xfrm>
            <a:off x="1828800" y="1802666"/>
            <a:ext cx="108966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Dari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contoh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sebelumnya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diketahui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nilai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position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15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biner 1111).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biner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merepresentasi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position pada output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4 bit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 = 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Diketahui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juga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look ahead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6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string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sama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6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biner 110).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biner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merepresentasi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length pada output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3 bit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 = 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Sedangkan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symbol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tidak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diubah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di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representasikan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membedakan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 dan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hasil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beri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tanda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(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flag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awalan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 dan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awalan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hasil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Outputnya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: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ABDA(0,2)C(1,3)(5,2)(6,4)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Bit stream 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01000100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3730CB-BDCA-4945-EB12-9E155802D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44" t="9924" r="26163" b="71111"/>
          <a:stretch/>
        </p:blipFill>
        <p:spPr>
          <a:xfrm>
            <a:off x="13106400" y="2781300"/>
            <a:ext cx="4686396" cy="3398587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83CD40F-38AD-F70F-25AB-7C9E6E112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4440058" y="6888413"/>
            <a:ext cx="3822542" cy="33985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85E2F68-9978-2C92-2FF5-0B428FDF1CAC}"/>
              </a:ext>
            </a:extLst>
          </p:cNvPr>
          <p:cNvSpPr txBox="1"/>
          <p:nvPr/>
        </p:nvSpPr>
        <p:spPr>
          <a:xfrm>
            <a:off x="533400" y="419100"/>
            <a:ext cx="17449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D" sz="3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Decode</a:t>
            </a:r>
            <a:r>
              <a:rPr kumimoji="0" lang="en-ID" sz="32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01000010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01000100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0000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01000011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0001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0110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Look ahead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nya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: 6</a:t>
            </a:r>
            <a:endParaRPr kumimoji="0" lang="en-ID" sz="3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ublic Sans" panose="020B0604020202020204" charset="0"/>
              <a:cs typeface="Arial"/>
              <a:sym typeface="Arial"/>
            </a:endParaRPr>
          </a:p>
        </p:txBody>
      </p:sp>
      <p:graphicFrame>
        <p:nvGraphicFramePr>
          <p:cNvPr id="17" name="Table 2">
            <a:extLst>
              <a:ext uri="{FF2B5EF4-FFF2-40B4-BE49-F238E27FC236}">
                <a16:creationId xmlns:a16="http://schemas.microsoft.com/office/drawing/2014/main" id="{42A77342-E9C5-2180-5DD9-F31EEEF4C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5128"/>
              </p:ext>
            </p:extLst>
          </p:nvPr>
        </p:nvGraphicFramePr>
        <p:xfrm>
          <a:off x="381000" y="2171701"/>
          <a:ext cx="8000999" cy="7512226"/>
        </p:xfrm>
        <a:graphic>
          <a:graphicData uri="http://schemas.openxmlformats.org/drawingml/2006/table">
            <a:tbl>
              <a:tblPr firstRow="1" bandRow="1"/>
              <a:tblGrid>
                <a:gridCol w="2850843">
                  <a:extLst>
                    <a:ext uri="{9D8B030D-6E8A-4147-A177-3AD203B41FA5}">
                      <a16:colId xmlns:a16="http://schemas.microsoft.com/office/drawing/2014/main" val="556845966"/>
                    </a:ext>
                  </a:extLst>
                </a:gridCol>
                <a:gridCol w="2719871">
                  <a:extLst>
                    <a:ext uri="{9D8B030D-6E8A-4147-A177-3AD203B41FA5}">
                      <a16:colId xmlns:a16="http://schemas.microsoft.com/office/drawing/2014/main" val="1807921101"/>
                    </a:ext>
                  </a:extLst>
                </a:gridCol>
                <a:gridCol w="2430285">
                  <a:extLst>
                    <a:ext uri="{9D8B030D-6E8A-4147-A177-3AD203B41FA5}">
                      <a16:colId xmlns:a16="http://schemas.microsoft.com/office/drawing/2014/main" val="798155452"/>
                    </a:ext>
                  </a:extLst>
                </a:gridCol>
              </a:tblGrid>
              <a:tr h="64868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Search Buffer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Next Codeword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Next Symbol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87805"/>
                  </a:ext>
                </a:extLst>
              </a:tr>
              <a:tr h="2113460">
                <a:tc>
                  <a:txBody>
                    <a:bodyPr/>
                    <a:lstStyle/>
                    <a:p>
                      <a:endParaRPr lang="en-ID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400" b="0" i="0" u="none" strike="noStrike" cap="none" dirty="0">
                          <a:solidFill>
                            <a:schemeClr val="tx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01000001 = 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400" b="0" i="0" u="none" strike="noStrike" cap="none" dirty="0">
                          <a:solidFill>
                            <a:schemeClr val="tx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01000010 = 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400" b="0" i="0" u="none" strike="noStrike" cap="none" dirty="0">
                          <a:solidFill>
                            <a:schemeClr val="tx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01000100 = D </a:t>
                      </a: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400" b="0" i="0" u="none" strike="noStrike" cap="none" dirty="0">
                          <a:solidFill>
                            <a:schemeClr val="tx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01000001 = A</a:t>
                      </a:r>
                      <a:endParaRPr lang="en-ID" sz="2400" b="0" i="0" u="none" strike="noStrike" cap="none" dirty="0">
                        <a:solidFill>
                          <a:schemeClr val="tx1"/>
                        </a:solidFill>
                        <a:latin typeface="Public Sans" panose="020B060402020202020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  <a:p>
                      <a:endParaRPr lang="en-ID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592773"/>
                  </a:ext>
                </a:extLst>
              </a:tr>
              <a:tr h="7021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</a:t>
                      </a:r>
                      <a:r>
                        <a:rPr lang="en-US" sz="2400" b="0" i="0" u="none" strike="noStrike" cap="none" dirty="0">
                          <a:solidFill>
                            <a:srgbClr val="00B05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0000</a:t>
                      </a:r>
                      <a:r>
                        <a:rPr lang="en-US" sz="2400" b="0" i="0" u="none" strike="noStrike" cap="none" dirty="0">
                          <a:solidFill>
                            <a:srgbClr val="0070C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</a:t>
                      </a:r>
                      <a:r>
                        <a:rPr lang="en-US" sz="2400" b="0" i="0" u="none" strike="noStrike" cap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= (0,2)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231672"/>
                  </a:ext>
                </a:extLst>
              </a:tr>
              <a:tr h="64868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ABDAAB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01000011 =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C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C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957729"/>
                  </a:ext>
                </a:extLst>
              </a:tr>
              <a:tr h="64868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ABDAABC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0001</a:t>
                      </a:r>
                      <a:r>
                        <a:rPr lang="en-US" sz="2400" dirty="0">
                          <a:solidFill>
                            <a:srgbClr val="0070C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011</a:t>
                      </a:r>
                      <a:r>
                        <a:rPr lang="en-US" sz="2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=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(1,3)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96718"/>
                  </a:ext>
                </a:extLst>
              </a:tr>
              <a:tr h="64868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ABDAABCBDA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0101</a:t>
                      </a:r>
                      <a:r>
                        <a:rPr lang="en-US" sz="2400" dirty="0">
                          <a:solidFill>
                            <a:srgbClr val="0070C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</a:t>
                      </a:r>
                      <a:r>
                        <a:rPr lang="en-US" sz="2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=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(5,2)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BC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565948"/>
                  </a:ext>
                </a:extLst>
              </a:tr>
              <a:tr h="7021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ABDAABCBDABC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0110</a:t>
                      </a:r>
                      <a:r>
                        <a:rPr lang="en-US" sz="2400" dirty="0">
                          <a:solidFill>
                            <a:srgbClr val="0070C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100</a:t>
                      </a:r>
                      <a:r>
                        <a:rPr lang="en-US" sz="24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=(6,4)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CBDA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80795"/>
                  </a:ext>
                </a:extLst>
              </a:tr>
              <a:tr h="7021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ABDAABCBDAABCCBDA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27506"/>
                  </a:ext>
                </a:extLst>
              </a:tr>
              <a:tr h="57679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Output : ABDAABCBDAABCCBDA</a:t>
                      </a:r>
                      <a:endParaRPr lang="en-ID" sz="24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035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D34B342-728F-B194-32C6-7CA60DFA8818}"/>
              </a:ext>
            </a:extLst>
          </p:cNvPr>
          <p:cNvSpPr txBox="1"/>
          <p:nvPr/>
        </p:nvSpPr>
        <p:spPr>
          <a:xfrm>
            <a:off x="8839200" y="2552700"/>
            <a:ext cx="9144000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None/>
              <a:tabLst/>
              <a:defRPr/>
            </a:pPr>
            <a:r>
              <a:rPr kumimoji="0" lang="en-US" sz="2400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Langkah-Langkah </a:t>
            </a:r>
            <a:r>
              <a:rPr kumimoji="0" lang="en-US" sz="2400" i="0" u="sng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dekompresi</a:t>
            </a:r>
            <a:r>
              <a:rPr kumimoji="0" lang="en-US" sz="2400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LZSS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Lihat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flag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apakah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1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atau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0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1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maka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baca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8 bit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berikutnya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sebagai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ASCII code.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0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maka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baca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p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bit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setelahnya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kemudian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bit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setelahnya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.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Pasangan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tersebut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adalah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codeword.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Ubah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codeword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menjadi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symbol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dengan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melihat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search buffer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Kemudian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tambahkan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symbol pada search buffer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sebelumnya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ublic Sans" panose="020B0604020202020204" charset="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8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D0C583-1919-69F0-AF17-90203850653F}"/>
              </a:ext>
            </a:extLst>
          </p:cNvPr>
          <p:cNvSpPr txBox="1"/>
          <p:nvPr/>
        </p:nvSpPr>
        <p:spPr>
          <a:xfrm>
            <a:off x="1371600" y="495300"/>
            <a:ext cx="1554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D" sz="5400" b="1" i="0" u="none" strike="noStrike" kern="0" cap="none" spc="0" normalizeH="0" baseline="0" noProof="0" dirty="0" err="1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Contoh</a:t>
            </a:r>
            <a:r>
              <a:rPr kumimoji="0" lang="en-ID" sz="5400" b="1" i="0" u="none" strike="noStrike" kern="0" cap="none" spc="0" normalizeH="0" baseline="0" noProof="0" dirty="0">
                <a:ln>
                  <a:noFill/>
                </a:ln>
                <a:solidFill>
                  <a:srgbClr val="D4EBD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encoding : </a:t>
            </a:r>
            <a:r>
              <a:rPr kumimoji="0" lang="en-ID" sz="54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DIA_AKAN_MAKAN_IKAN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58771A-1539-4799-1583-949CD05A889D}"/>
              </a:ext>
            </a:extLst>
          </p:cNvPr>
          <p:cNvSpPr txBox="1"/>
          <p:nvPr/>
        </p:nvSpPr>
        <p:spPr>
          <a:xfrm>
            <a:off x="1371600" y="171450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</a:t>
            </a:r>
            <a:r>
              <a:rPr kumimoji="0" lang="en-ID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ook</a:t>
            </a:r>
            <a:r>
              <a:rPr kumimoji="0" lang="en-ID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ahead = 5</a:t>
            </a:r>
          </a:p>
        </p:txBody>
      </p:sp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471854FE-205E-2F22-C7D7-67135D5F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460584"/>
              </p:ext>
            </p:extLst>
          </p:nvPr>
        </p:nvGraphicFramePr>
        <p:xfrm>
          <a:off x="1600200" y="2671369"/>
          <a:ext cx="14097008" cy="2252217"/>
        </p:xfrm>
        <a:graphic>
          <a:graphicData uri="http://schemas.openxmlformats.org/drawingml/2006/table">
            <a:tbl>
              <a:tblPr firstRow="1" bandRow="1"/>
              <a:tblGrid>
                <a:gridCol w="1781358">
                  <a:extLst>
                    <a:ext uri="{9D8B030D-6E8A-4147-A177-3AD203B41FA5}">
                      <a16:colId xmlns:a16="http://schemas.microsoft.com/office/drawing/2014/main" val="1662939896"/>
                    </a:ext>
                  </a:extLst>
                </a:gridCol>
                <a:gridCol w="602327">
                  <a:extLst>
                    <a:ext uri="{9D8B030D-6E8A-4147-A177-3AD203B41FA5}">
                      <a16:colId xmlns:a16="http://schemas.microsoft.com/office/drawing/2014/main" val="3505443220"/>
                    </a:ext>
                  </a:extLst>
                </a:gridCol>
                <a:gridCol w="602327">
                  <a:extLst>
                    <a:ext uri="{9D8B030D-6E8A-4147-A177-3AD203B41FA5}">
                      <a16:colId xmlns:a16="http://schemas.microsoft.com/office/drawing/2014/main" val="1593524534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4019610038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529187571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320057507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446413059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766935308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44391335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346300875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579424557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41598365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3309386327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1713324704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1961925613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1252841812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734774483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5358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750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Position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2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3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4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5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6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7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8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9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10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11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12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13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14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15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6142649"/>
                  </a:ext>
                </a:extLst>
              </a:tr>
              <a:tr h="750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Simbol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D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400" b="0" i="0" u="none" strike="noStrike" cap="none" dirty="0">
                          <a:solidFill>
                            <a:schemeClr val="bg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400" b="0" i="0" u="none" strike="noStrike" cap="none" dirty="0">
                          <a:solidFill>
                            <a:schemeClr val="bg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2665725"/>
                  </a:ext>
                </a:extLst>
              </a:tr>
              <a:tr h="750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output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D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I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  <a:endParaRPr lang="en-ID" sz="2400" dirty="0">
                        <a:solidFill>
                          <a:schemeClr val="bg1"/>
                        </a:solidFill>
                        <a:latin typeface="Public Sans" panose="020B0604020202020204" charset="0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400" b="0" i="0" u="none" strike="noStrike" cap="none" dirty="0">
                          <a:solidFill>
                            <a:schemeClr val="bg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400" b="0" i="0" u="none" strike="noStrike" cap="none" dirty="0">
                          <a:solidFill>
                            <a:schemeClr val="bg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(4,5)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ssistant" pitchFamily="2" charset="-79"/>
                          <a:sym typeface="Arial"/>
                        </a:rPr>
                        <a:t>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D" sz="2400" dirty="0">
                          <a:solidFill>
                            <a:schemeClr val="bg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(5,3)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bg1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439440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0DFAFA5-C293-AFEA-DBA1-EB6CC38F9333}"/>
              </a:ext>
            </a:extLst>
          </p:cNvPr>
          <p:cNvSpPr txBox="1"/>
          <p:nvPr/>
        </p:nvSpPr>
        <p:spPr>
          <a:xfrm>
            <a:off x="1600200" y="5307442"/>
            <a:ext cx="9144000" cy="113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Outputnya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: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DIA_AKAN_M(4,5)_I(5,3)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51B70-6BAB-31DD-35E0-425968571977}"/>
              </a:ext>
            </a:extLst>
          </p:cNvPr>
          <p:cNvSpPr txBox="1"/>
          <p:nvPr/>
        </p:nvSpPr>
        <p:spPr>
          <a:xfrm>
            <a:off x="7789985" y="5307442"/>
            <a:ext cx="9144000" cy="445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Langkah-Langkah </a:t>
            </a:r>
            <a:r>
              <a:rPr kumimoji="0" lang="en-US" sz="2400" b="1" i="0" u="sng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kompresi</a:t>
            </a: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LZSS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Menentukan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look ahead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Membandingkan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symbol pada look ahead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dictionary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tidak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ada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cocok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dictionary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simpan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symbol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tanpa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diubah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Gantikan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symbol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cocok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pasangan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(position, length)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hanya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1 symbol,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tidak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dikodekan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ublic Sans" panose="020B0604020202020204" charset="0"/>
              <a:cs typeface="Arial"/>
              <a:sym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4E8199-728A-AED3-62AE-B851DA4F37C7}"/>
              </a:ext>
            </a:extLst>
          </p:cNvPr>
          <p:cNvSpPr/>
          <p:nvPr/>
        </p:nvSpPr>
        <p:spPr>
          <a:xfrm>
            <a:off x="3352800" y="2604800"/>
            <a:ext cx="19050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DB2845-52F8-CC3B-3A8D-0CC6CC18C6C8}"/>
              </a:ext>
            </a:extLst>
          </p:cNvPr>
          <p:cNvSpPr/>
          <p:nvPr/>
        </p:nvSpPr>
        <p:spPr>
          <a:xfrm>
            <a:off x="3962400" y="2607839"/>
            <a:ext cx="19050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A978EC-1A1E-FCC8-11EB-6010BE637F9E}"/>
              </a:ext>
            </a:extLst>
          </p:cNvPr>
          <p:cNvSpPr/>
          <p:nvPr/>
        </p:nvSpPr>
        <p:spPr>
          <a:xfrm>
            <a:off x="5867400" y="2604799"/>
            <a:ext cx="20574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FADF748-5910-D6EC-B82C-DD52F2FB7FE8}"/>
              </a:ext>
            </a:extLst>
          </p:cNvPr>
          <p:cNvSpPr/>
          <p:nvPr/>
        </p:nvSpPr>
        <p:spPr>
          <a:xfrm>
            <a:off x="6570406" y="2621556"/>
            <a:ext cx="592394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293EAB1-4E01-2731-0E80-E77715099358}"/>
              </a:ext>
            </a:extLst>
          </p:cNvPr>
          <p:cNvSpPr/>
          <p:nvPr/>
        </p:nvSpPr>
        <p:spPr>
          <a:xfrm>
            <a:off x="7924800" y="2613177"/>
            <a:ext cx="5125072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40A040C-8909-D05C-211E-BE82231B5EE7}"/>
              </a:ext>
            </a:extLst>
          </p:cNvPr>
          <p:cNvSpPr/>
          <p:nvPr/>
        </p:nvSpPr>
        <p:spPr>
          <a:xfrm>
            <a:off x="8534400" y="2634268"/>
            <a:ext cx="6096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008E41B-7EBA-AF48-FC84-B7D0DEC07EF0}"/>
              </a:ext>
            </a:extLst>
          </p:cNvPr>
          <p:cNvSpPr/>
          <p:nvPr/>
        </p:nvSpPr>
        <p:spPr>
          <a:xfrm>
            <a:off x="6553200" y="2602922"/>
            <a:ext cx="25908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D1E046-E3A0-64B2-01F0-CAA4AB769E4D}"/>
              </a:ext>
            </a:extLst>
          </p:cNvPr>
          <p:cNvSpPr/>
          <p:nvPr/>
        </p:nvSpPr>
        <p:spPr>
          <a:xfrm>
            <a:off x="9812598" y="2602922"/>
            <a:ext cx="3237274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3054CF-6C37-BC7B-674A-889D8C9F3839}"/>
              </a:ext>
            </a:extLst>
          </p:cNvPr>
          <p:cNvSpPr/>
          <p:nvPr/>
        </p:nvSpPr>
        <p:spPr>
          <a:xfrm>
            <a:off x="13106408" y="2636529"/>
            <a:ext cx="2590800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4E93C6-9AFC-61B5-7702-D2BDE526CD11}"/>
              </a:ext>
            </a:extLst>
          </p:cNvPr>
          <p:cNvSpPr/>
          <p:nvPr/>
        </p:nvSpPr>
        <p:spPr>
          <a:xfrm>
            <a:off x="13079371" y="2659774"/>
            <a:ext cx="639099" cy="1449903"/>
          </a:xfrm>
          <a:prstGeom prst="rect">
            <a:avLst/>
          </a:prstGeom>
          <a:noFill/>
          <a:ln w="25400" cap="flat" cmpd="sng" algn="ctr">
            <a:solidFill>
              <a:srgbClr val="FFF3C2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445269"/>
            <a:ext cx="1158485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6600" dirty="0" err="1">
                <a:solidFill>
                  <a:srgbClr val="405BBC"/>
                </a:solidFill>
                <a:latin typeface="Now Bold"/>
              </a:rPr>
              <a:t>Menentukan</a:t>
            </a:r>
            <a:r>
              <a:rPr lang="en-US" sz="6600" dirty="0">
                <a:solidFill>
                  <a:srgbClr val="405BBC"/>
                </a:solidFill>
                <a:latin typeface="Now Bold"/>
              </a:rPr>
              <a:t> Bit Stream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18877-486D-1EC9-6EE8-4BE34800CD54}"/>
              </a:ext>
            </a:extLst>
          </p:cNvPr>
          <p:cNvSpPr txBox="1"/>
          <p:nvPr/>
        </p:nvSpPr>
        <p:spPr>
          <a:xfrm>
            <a:off x="2743200" y="2056666"/>
            <a:ext cx="108966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Dari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contoh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sebelumnya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diketahui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nilai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position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18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biner 10010).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biner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merepresentasi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position pada output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5 bit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 = 5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Diketahui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juga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look ahead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5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string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sama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5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biner 101).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maksimal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panjang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biner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merepresentasi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length pada output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3 bit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 = 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Sedangkan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symbol yang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tidak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diubah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di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representasikan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membedakan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 dan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hasil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beri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tanda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(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flag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awalan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ASCII code dan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untuk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awalan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hasil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encoding.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Outputnya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: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DIA_AKAN_M(4,5)_I(5,3)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Bit stream 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01000100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01001110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01001101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00100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00101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94848"/>
              </a:solidFill>
              <a:effectLst/>
              <a:uLnTx/>
              <a:uFillTx/>
              <a:latin typeface="Public Sans" panose="020B0604020202020204" charset="0"/>
              <a:cs typeface="Assistant" pitchFamily="2" charset="-79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BE235-F20A-C737-0970-5B6071950D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43" t="10044" r="25729" b="42909"/>
          <a:stretch/>
        </p:blipFill>
        <p:spPr>
          <a:xfrm>
            <a:off x="14183927" y="2254845"/>
            <a:ext cx="3344757" cy="5777309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2729E44-74D3-7831-D949-360F06DFF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199735" y="2971800"/>
            <a:ext cx="2257135" cy="730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00696C-BF57-6FC8-597B-F758CC79C11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146" t="71828" r="11229" b="4317"/>
          <a:stretch/>
        </p:blipFill>
        <p:spPr>
          <a:xfrm>
            <a:off x="14164262" y="8109980"/>
            <a:ext cx="3344757" cy="4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4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B17F5-C9C5-96FE-25E1-E34B30F7431E}"/>
              </a:ext>
            </a:extLst>
          </p:cNvPr>
          <p:cNvSpPr txBox="1"/>
          <p:nvPr/>
        </p:nvSpPr>
        <p:spPr>
          <a:xfrm>
            <a:off x="914400" y="304801"/>
            <a:ext cx="15544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D" sz="2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Decode: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01000100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01001011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01000001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01001110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01001101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00100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01011111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94848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01001001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EBD0">
                    <a:lumMod val="50000"/>
                  </a:srgbClr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00101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Look ahead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nya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ssistant" pitchFamily="2" charset="-79"/>
                <a:sym typeface="Arial"/>
              </a:rPr>
              <a:t> : 5</a:t>
            </a:r>
            <a:endParaRPr kumimoji="0" lang="en-ID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ublic Sans" panose="020B0604020202020204" charset="0"/>
              <a:cs typeface="Arial"/>
              <a:sym typeface="Arial"/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88AFB2E8-5A0B-B7AC-1D16-E560133DB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779418"/>
              </p:ext>
            </p:extLst>
          </p:nvPr>
        </p:nvGraphicFramePr>
        <p:xfrm>
          <a:off x="762000" y="2095500"/>
          <a:ext cx="7086600" cy="7791711"/>
        </p:xfrm>
        <a:graphic>
          <a:graphicData uri="http://schemas.openxmlformats.org/drawingml/2006/table">
            <a:tbl>
              <a:tblPr firstRow="1" bandRow="1"/>
              <a:tblGrid>
                <a:gridCol w="2037886">
                  <a:extLst>
                    <a:ext uri="{9D8B030D-6E8A-4147-A177-3AD203B41FA5}">
                      <a16:colId xmlns:a16="http://schemas.microsoft.com/office/drawing/2014/main" val="556845966"/>
                    </a:ext>
                  </a:extLst>
                </a:gridCol>
                <a:gridCol w="3167199">
                  <a:extLst>
                    <a:ext uri="{9D8B030D-6E8A-4147-A177-3AD203B41FA5}">
                      <a16:colId xmlns:a16="http://schemas.microsoft.com/office/drawing/2014/main" val="1807921101"/>
                    </a:ext>
                  </a:extLst>
                </a:gridCol>
                <a:gridCol w="1881515">
                  <a:extLst>
                    <a:ext uri="{9D8B030D-6E8A-4147-A177-3AD203B41FA5}">
                      <a16:colId xmlns:a16="http://schemas.microsoft.com/office/drawing/2014/main" val="798155452"/>
                    </a:ext>
                  </a:extLst>
                </a:gridCol>
              </a:tblGrid>
              <a:tr h="83168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ublic Sans" panose="020B0604020202020204" charset="0"/>
                        </a:rPr>
                        <a:t>Search Buffer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ublic Sans" panose="020B0604020202020204" charset="0"/>
                        </a:rPr>
                        <a:t>Next Codeword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ublic Sans" panose="020B0604020202020204" charset="0"/>
                        </a:rPr>
                        <a:t>Next Symbol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87805"/>
                  </a:ext>
                </a:extLst>
              </a:tr>
              <a:tr h="1911514">
                <a:tc>
                  <a:txBody>
                    <a:bodyPr/>
                    <a:lstStyle/>
                    <a:p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01000100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01001001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01000001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01011111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01000001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01001011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01000001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01001110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01011111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01001101</a:t>
                      </a:r>
                      <a:endParaRPr lang="en-ID" sz="20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000" dirty="0">
                          <a:latin typeface="Public Sans" panose="020B0604020202020204" charset="0"/>
                        </a:rPr>
                        <a:t>DIA_AKAN_M</a:t>
                      </a:r>
                    </a:p>
                    <a:p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273941"/>
                  </a:ext>
                </a:extLst>
              </a:tr>
              <a:tr h="586446">
                <a:tc>
                  <a:txBody>
                    <a:bodyPr/>
                    <a:lstStyle/>
                    <a:p>
                      <a:r>
                        <a:rPr lang="en-ID" sz="2000" dirty="0">
                          <a:latin typeface="Public Sans" panose="020B0604020202020204" charset="0"/>
                        </a:rPr>
                        <a:t>DIA_AKAN_M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</a:t>
                      </a:r>
                      <a:r>
                        <a:rPr lang="en-US" sz="2000" dirty="0">
                          <a:solidFill>
                            <a:srgbClr val="00B05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00100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101</a:t>
                      </a:r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= </a:t>
                      </a:r>
                      <a:r>
                        <a:rPr lang="en-ID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</a:rPr>
                        <a:t>(4,4)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latin typeface="Public Sans" panose="020B0604020202020204" charset="0"/>
                        </a:rPr>
                        <a:t>AKAN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96718"/>
                  </a:ext>
                </a:extLst>
              </a:tr>
              <a:tr h="878640">
                <a:tc>
                  <a:txBody>
                    <a:bodyPr/>
                    <a:lstStyle/>
                    <a:p>
                      <a:r>
                        <a:rPr lang="en-ID" sz="2000" dirty="0">
                          <a:latin typeface="Public Sans" panose="020B0604020202020204" charset="0"/>
                        </a:rPr>
                        <a:t>DIA_AKAN_MAKAN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01011111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 = _</a:t>
                      </a:r>
                      <a:endParaRPr lang="en-ID" sz="20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latin typeface="Public Sans" panose="020B0604020202020204" charset="0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565948"/>
                  </a:ext>
                </a:extLst>
              </a:tr>
              <a:tr h="912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000" dirty="0">
                          <a:latin typeface="Public Sans" panose="020B0604020202020204" charset="0"/>
                        </a:rPr>
                        <a:t>DIA_AKAN_MAKAN_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rgbClr val="FF0000"/>
                          </a:solidFill>
                          <a:latin typeface="Public Sans" panose="020B0604020202020204" charset="0"/>
                          <a:ea typeface="Arial"/>
                          <a:cs typeface="Assistant" pitchFamily="2" charset="-79"/>
                          <a:sym typeface="Arial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Public Sans" panose="020B0604020202020204" charset="0"/>
                          <a:cs typeface="Assistant" pitchFamily="2" charset="-79"/>
                        </a:rPr>
                        <a:t>01001001 = I</a:t>
                      </a:r>
                      <a:endParaRPr lang="en-ID" sz="2000" dirty="0">
                        <a:solidFill>
                          <a:schemeClr val="tx1"/>
                        </a:solidFill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ublic Sans" panose="020B0604020202020204" charset="0"/>
                        </a:rPr>
                        <a:t>I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575662"/>
                  </a:ext>
                </a:extLst>
              </a:tr>
              <a:tr h="9120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2000" dirty="0">
                          <a:latin typeface="Public Sans" panose="020B0604020202020204" charset="0"/>
                        </a:rPr>
                        <a:t>DIA_AKAN_MAKAN_I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Public Sans" panose="020B0604020202020204" charset="0"/>
                        </a:rPr>
                        <a:t>0</a:t>
                      </a:r>
                      <a:r>
                        <a:rPr lang="en-US" sz="2000" dirty="0">
                          <a:solidFill>
                            <a:srgbClr val="00B050"/>
                          </a:solidFill>
                          <a:latin typeface="Public Sans" panose="020B0604020202020204" charset="0"/>
                        </a:rPr>
                        <a:t>00101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latin typeface="Public Sans" panose="020B0604020202020204" charset="0"/>
                        </a:rPr>
                        <a:t>011</a:t>
                      </a:r>
                      <a:r>
                        <a:rPr lang="en-US" sz="2000" dirty="0">
                          <a:latin typeface="Public Sans" panose="020B0604020202020204" charset="0"/>
                        </a:rPr>
                        <a:t> = (5,3)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000" dirty="0">
                          <a:latin typeface="Public Sans" panose="020B0604020202020204" charset="0"/>
                        </a:rPr>
                        <a:t>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80795"/>
                  </a:ext>
                </a:extLst>
              </a:tr>
              <a:tr h="99695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ublic Sans" panose="020B0604020202020204" charset="0"/>
                        </a:rPr>
                        <a:t>DIA_AKAN_MAKAN_IKAN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27506"/>
                  </a:ext>
                </a:extLst>
              </a:tr>
              <a:tr h="7623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ublic Sans" panose="020B0604020202020204" charset="0"/>
                        </a:rPr>
                        <a:t>Output : DIA_AKAN_MAKAN_IKAN</a:t>
                      </a:r>
                      <a:endParaRPr lang="en-ID" sz="2000" dirty="0">
                        <a:latin typeface="Public Sans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035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119159-9DEB-7D1B-67F5-42E82054C4AC}"/>
              </a:ext>
            </a:extLst>
          </p:cNvPr>
          <p:cNvSpPr txBox="1"/>
          <p:nvPr/>
        </p:nvSpPr>
        <p:spPr>
          <a:xfrm>
            <a:off x="8229600" y="2552700"/>
            <a:ext cx="9144000" cy="5010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Langkah-Langkah </a:t>
            </a:r>
            <a:r>
              <a:rPr kumimoji="0" lang="en-US" sz="2400" b="1" i="0" u="sng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dekompresi</a:t>
            </a: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LZSS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Lihat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flag </a:t>
            </a:r>
            <a:r>
              <a:rPr kumimoji="0" lang="en-US" sz="24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apakah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1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atau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1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baca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8 bit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berikutnya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sebagai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ASCII code.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Jika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maka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baca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setelahnya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kemudian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bit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setelahnya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.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Pasangan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tersebut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adalah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codeword.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Ubah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codeword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menjadi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symbol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dengan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melihat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search buffer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ssistan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Kemudian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tambahkan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 next symbol pada search buffer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ublic Sans" panose="020B0604020202020204" charset="0"/>
                <a:cs typeface="Arial"/>
                <a:sym typeface="Arial"/>
              </a:rPr>
              <a:t>sebelumnya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ublic Sans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942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1055615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 dirty="0" err="1">
                <a:solidFill>
                  <a:srgbClr val="405BBC"/>
                </a:solidFill>
                <a:latin typeface="Now Bold"/>
              </a:rPr>
              <a:t>Soal</a:t>
            </a:r>
            <a:endParaRPr lang="en-US" sz="7500" dirty="0">
              <a:solidFill>
                <a:srgbClr val="405BBC"/>
              </a:solidFill>
              <a:latin typeface="Now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708593">
            <a:off x="16005749" y="-253415"/>
            <a:ext cx="3116702" cy="5132295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762000" y="3009900"/>
            <a:ext cx="820892" cy="810445"/>
            <a:chOff x="0" y="0"/>
            <a:chExt cx="1094522" cy="108059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94522" cy="1080594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88545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38322" y="197397"/>
              <a:ext cx="617879" cy="690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 dirty="0">
                  <a:solidFill>
                    <a:srgbClr val="FFFFFF"/>
                  </a:solidFill>
                  <a:latin typeface="Now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635" y="4875676"/>
            <a:ext cx="820892" cy="810445"/>
            <a:chOff x="0" y="0"/>
            <a:chExt cx="1094522" cy="1080594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094522" cy="1080594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F88545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38322" y="197397"/>
              <a:ext cx="617879" cy="690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 dirty="0">
                  <a:solidFill>
                    <a:srgbClr val="FFFFFF"/>
                  </a:solidFill>
                  <a:latin typeface="Now Bold"/>
                </a:rPr>
                <a:t>2</a:t>
              </a:r>
            </a:p>
          </p:txBody>
        </p:sp>
      </p:grpSp>
      <p:sp>
        <p:nvSpPr>
          <p:cNvPr id="28" name="TextBox 2">
            <a:extLst>
              <a:ext uri="{FF2B5EF4-FFF2-40B4-BE49-F238E27FC236}">
                <a16:creationId xmlns:a16="http://schemas.microsoft.com/office/drawing/2014/main" id="{634873B2-432F-4177-23FC-97EF97EBF260}"/>
              </a:ext>
            </a:extLst>
          </p:cNvPr>
          <p:cNvSpPr txBox="1"/>
          <p:nvPr/>
        </p:nvSpPr>
        <p:spPr>
          <a:xfrm>
            <a:off x="1998403" y="2848479"/>
            <a:ext cx="10556152" cy="12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Encoding : ZYWZZYXYWZYXXYWZ,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Diketahui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look ahead :6.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Tentukan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Bit stream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nya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.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D0159F80-A91D-95B9-79A2-17AEFCE4225E}"/>
              </a:ext>
            </a:extLst>
          </p:cNvPr>
          <p:cNvSpPr txBox="1"/>
          <p:nvPr/>
        </p:nvSpPr>
        <p:spPr>
          <a:xfrm>
            <a:off x="1973822" y="4661441"/>
            <a:ext cx="11818378" cy="94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Buat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decoding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dari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soal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nomor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1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dengan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 look ahead yang </a:t>
            </a:r>
            <a:r>
              <a:rPr lang="en-US" sz="2800" dirty="0" err="1">
                <a:solidFill>
                  <a:srgbClr val="405BBC"/>
                </a:solidFill>
                <a:latin typeface="Public Sans" panose="020B0604020202020204" charset="0"/>
              </a:rPr>
              <a:t>sama</a:t>
            </a:r>
            <a:r>
              <a:rPr lang="en-US" sz="2800" dirty="0">
                <a:solidFill>
                  <a:srgbClr val="405BBC"/>
                </a:solidFill>
                <a:latin typeface="Public Sans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408500" y="1028700"/>
            <a:ext cx="8850800" cy="775651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28700" y="2645935"/>
            <a:ext cx="5991154" cy="341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0"/>
              </a:lnSpc>
            </a:pPr>
            <a:r>
              <a:rPr lang="en-US" sz="12000">
                <a:solidFill>
                  <a:srgbClr val="405BBC"/>
                </a:solidFill>
                <a:latin typeface="Now Bold"/>
              </a:rPr>
              <a:t>Terima kasih!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10370</TotalTime>
  <Words>1001</Words>
  <Application>Microsoft Office PowerPoint</Application>
  <PresentationFormat>Custom</PresentationFormat>
  <Paragraphs>244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Now Bold</vt:lpstr>
      <vt:lpstr>Arial</vt:lpstr>
      <vt:lpstr>Public Sans</vt:lpstr>
      <vt:lpstr>Calibri</vt:lpstr>
      <vt:lpstr>Public Sans Bold</vt:lpstr>
      <vt:lpstr>Wingdings</vt:lpstr>
      <vt:lpstr>Assistant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Pendidikan Laporan Buku Ilustrasi Biru dan Oranye</dc:title>
  <dc:creator>Anya</dc:creator>
  <cp:lastModifiedBy>Vanya Annisa</cp:lastModifiedBy>
  <cp:revision>6</cp:revision>
  <dcterms:created xsi:type="dcterms:W3CDTF">2006-08-16T00:00:00Z</dcterms:created>
  <dcterms:modified xsi:type="dcterms:W3CDTF">2023-03-28T05:55:33Z</dcterms:modified>
  <dc:identifier>DAFdyFNH1eA</dc:identifier>
</cp:coreProperties>
</file>