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Fredoka One" panose="020B0604020202020204" charset="0"/>
      <p:regular r:id="rId18"/>
    </p:embeddedFont>
    <p:embeddedFont>
      <p:font typeface="Mokoto" panose="020B0604020202020204" charset="0"/>
      <p:regular r:id="rId19"/>
    </p:embeddedFont>
    <p:embeddedFont>
      <p:font typeface="Nunito" pitchFamily="2" charset="0"/>
      <p:regular r:id="rId20"/>
      <p:bold r:id="rId21"/>
      <p:italic r:id="rId22"/>
      <p:boldItalic r:id="rId23"/>
    </p:embeddedFont>
    <p:embeddedFont>
      <p:font typeface="Poppins" panose="00000500000000000000" pitchFamily="2" charset="0"/>
      <p:regular r:id="rId24"/>
      <p:bold r:id="rId25"/>
      <p:italic r:id="rId26"/>
      <p:boldItalic r:id="rId27"/>
    </p:embeddedFont>
    <p:embeddedFont>
      <p:font typeface="Poppins Bold" panose="00000800000000000000" charset="0"/>
      <p:regular r:id="rId28"/>
    </p:embeddedFont>
    <p:embeddedFont>
      <p:font typeface="Poppins Medium" panose="00000600000000000000" pitchFamily="2" charset="0"/>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9T09:26:33.21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1.xml"/><Relationship Id="rId1" Type="http://schemas.openxmlformats.org/officeDocument/2006/relationships/slideLayout" Target="../slideLayouts/slideLayout7.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flipH="1" flipV="1">
            <a:off x="14582965" y="0"/>
            <a:ext cx="3705034" cy="4114800"/>
          </a:xfrm>
          <a:prstGeom prst="rect">
            <a:avLst/>
          </a:prstGeom>
        </p:spPr>
      </p:pic>
      <p:pic>
        <p:nvPicPr>
          <p:cNvPr id="4" name="Picture 4"/>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0" y="6172200"/>
            <a:ext cx="3705034" cy="4114800"/>
          </a:xfrm>
          <a:prstGeom prst="rect">
            <a:avLst/>
          </a:prstGeom>
        </p:spPr>
      </p:pic>
      <p:pic>
        <p:nvPicPr>
          <p:cNvPr id="5" name="Picture 5"/>
          <p:cNvPicPr>
            <a:picLocks noChangeAspect="1"/>
          </p:cNvPicPr>
          <p:nvPr/>
        </p:nvPicPr>
        <p:blipFill>
          <a:blip r:embed="rId5"/>
          <a:srcRect/>
          <a:stretch>
            <a:fillRect/>
          </a:stretch>
        </p:blipFill>
        <p:spPr>
          <a:xfrm>
            <a:off x="16261409" y="7569200"/>
            <a:ext cx="997891" cy="1590265"/>
          </a:xfrm>
          <a:prstGeom prst="rect">
            <a:avLst/>
          </a:prstGeom>
        </p:spPr>
      </p:pic>
      <p:pic>
        <p:nvPicPr>
          <p:cNvPr id="6" name="Picture 6"/>
          <p:cNvPicPr>
            <a:picLocks noChangeAspect="1"/>
          </p:cNvPicPr>
          <p:nvPr/>
        </p:nvPicPr>
        <p:blipFill>
          <a:blip r:embed="rId5"/>
          <a:srcRect/>
          <a:stretch>
            <a:fillRect/>
          </a:stretch>
        </p:blipFill>
        <p:spPr>
          <a:xfrm flipH="1">
            <a:off x="1028700" y="1028700"/>
            <a:ext cx="1083461" cy="1726630"/>
          </a:xfrm>
          <a:prstGeom prst="rect">
            <a:avLst/>
          </a:prstGeom>
        </p:spPr>
      </p:pic>
      <p:sp>
        <p:nvSpPr>
          <p:cNvPr id="7" name="TextBox 7"/>
          <p:cNvSpPr txBox="1"/>
          <p:nvPr/>
        </p:nvSpPr>
        <p:spPr>
          <a:xfrm>
            <a:off x="2553582" y="4114800"/>
            <a:ext cx="13180837" cy="5143500"/>
          </a:xfrm>
          <a:prstGeom prst="rect">
            <a:avLst/>
          </a:prstGeom>
        </p:spPr>
        <p:txBody>
          <a:bodyPr lIns="0" tIns="0" rIns="0" bIns="0" rtlCol="0" anchor="t">
            <a:spAutoFit/>
          </a:bodyPr>
          <a:lstStyle/>
          <a:p>
            <a:pPr algn="ctr">
              <a:lnSpc>
                <a:spcPts val="13499"/>
              </a:lnSpc>
            </a:pPr>
            <a:r>
              <a:rPr lang="en-US" sz="11249">
                <a:solidFill>
                  <a:srgbClr val="FFFFFF"/>
                </a:solidFill>
                <a:latin typeface="Mokoto Bold"/>
              </a:rPr>
              <a:t>VITERBI DECODING</a:t>
            </a:r>
          </a:p>
          <a:p>
            <a:pPr algn="ctr">
              <a:lnSpc>
                <a:spcPts val="13499"/>
              </a:lnSpc>
            </a:pPr>
            <a:endParaRPr lang="en-US" sz="11249">
              <a:solidFill>
                <a:srgbClr val="FFFFFF"/>
              </a:solidFill>
              <a:latin typeface="Mokoto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srcRect/>
          <a:stretch>
            <a:fillRect/>
          </a:stretch>
        </p:blipFill>
        <p:spPr>
          <a:xfrm rot="-10800000">
            <a:off x="765396" y="-2153094"/>
            <a:ext cx="16397922" cy="15475539"/>
          </a:xfrm>
          <a:prstGeom prst="rect">
            <a:avLst/>
          </a:prstGeom>
        </p:spPr>
      </p:pic>
      <p:sp>
        <p:nvSpPr>
          <p:cNvPr id="4" name="TextBox 4"/>
          <p:cNvSpPr txBox="1"/>
          <p:nvPr/>
        </p:nvSpPr>
        <p:spPr>
          <a:xfrm>
            <a:off x="1028700" y="567667"/>
            <a:ext cx="16230600" cy="1130300"/>
          </a:xfrm>
          <a:prstGeom prst="rect">
            <a:avLst/>
          </a:prstGeom>
        </p:spPr>
        <p:txBody>
          <a:bodyPr lIns="0" tIns="0" rIns="0" bIns="0" rtlCol="0" anchor="t">
            <a:spAutoFit/>
          </a:bodyPr>
          <a:lstStyle/>
          <a:p>
            <a:pPr algn="ctr">
              <a:lnSpc>
                <a:spcPts val="9100"/>
              </a:lnSpc>
            </a:pPr>
            <a:r>
              <a:rPr lang="en-US" sz="6500">
                <a:solidFill>
                  <a:srgbClr val="FFFFFF"/>
                </a:solidFill>
                <a:latin typeface="Mokoto"/>
              </a:rPr>
              <a:t>KELOMPOK 12</a:t>
            </a:r>
          </a:p>
        </p:txBody>
      </p:sp>
      <p:pic>
        <p:nvPicPr>
          <p:cNvPr id="5" name="Picture 5"/>
          <p:cNvPicPr>
            <a:picLocks noChangeAspect="1"/>
          </p:cNvPicPr>
          <p:nvPr/>
        </p:nvPicPr>
        <p:blipFill>
          <a:blip r:embed="rId4"/>
          <a:srcRect/>
          <a:stretch>
            <a:fillRect/>
          </a:stretch>
        </p:blipFill>
        <p:spPr>
          <a:xfrm flipH="1">
            <a:off x="1028700" y="1049725"/>
            <a:ext cx="997891" cy="1590265"/>
          </a:xfrm>
          <a:prstGeom prst="rect">
            <a:avLst/>
          </a:prstGeom>
        </p:spPr>
      </p:pic>
      <p:pic>
        <p:nvPicPr>
          <p:cNvPr id="6" name="Picture 6"/>
          <p:cNvPicPr>
            <a:picLocks noChangeAspect="1"/>
          </p:cNvPicPr>
          <p:nvPr/>
        </p:nvPicPr>
        <p:blipFill>
          <a:blip r:embed="rId4"/>
          <a:srcRect/>
          <a:stretch>
            <a:fillRect/>
          </a:stretch>
        </p:blipFill>
        <p:spPr>
          <a:xfrm>
            <a:off x="16261409" y="1028700"/>
            <a:ext cx="997891" cy="1590265"/>
          </a:xfrm>
          <a:prstGeom prst="rect">
            <a:avLst/>
          </a:prstGeom>
        </p:spPr>
      </p:pic>
      <p:pic>
        <p:nvPicPr>
          <p:cNvPr id="7" name="Picture 7"/>
          <p:cNvPicPr>
            <a:picLocks noChangeAspect="1"/>
          </p:cNvPicPr>
          <p:nvPr/>
        </p:nvPicPr>
        <p:blipFill>
          <a:blip r:embed="rId5"/>
          <a:srcRect/>
          <a:stretch>
            <a:fillRect/>
          </a:stretch>
        </p:blipFill>
        <p:spPr>
          <a:xfrm>
            <a:off x="9384753" y="5240274"/>
            <a:ext cx="3861619" cy="4693759"/>
          </a:xfrm>
          <a:prstGeom prst="rect">
            <a:avLst/>
          </a:prstGeom>
        </p:spPr>
      </p:pic>
      <p:pic>
        <p:nvPicPr>
          <p:cNvPr id="8" name="Picture 8"/>
          <p:cNvPicPr>
            <a:picLocks noChangeAspect="1"/>
          </p:cNvPicPr>
          <p:nvPr/>
        </p:nvPicPr>
        <p:blipFill>
          <a:blip r:embed="rId6"/>
          <a:srcRect/>
          <a:stretch>
            <a:fillRect/>
          </a:stretch>
        </p:blipFill>
        <p:spPr>
          <a:xfrm>
            <a:off x="5112246" y="5646809"/>
            <a:ext cx="3984129" cy="4139355"/>
          </a:xfrm>
          <a:prstGeom prst="rect">
            <a:avLst/>
          </a:prstGeom>
        </p:spPr>
      </p:pic>
      <p:pic>
        <p:nvPicPr>
          <p:cNvPr id="9" name="Picture 9"/>
          <p:cNvPicPr>
            <a:picLocks noChangeAspect="1"/>
          </p:cNvPicPr>
          <p:nvPr/>
        </p:nvPicPr>
        <p:blipFill>
          <a:blip r:embed="rId7"/>
          <a:srcRect/>
          <a:stretch>
            <a:fillRect/>
          </a:stretch>
        </p:blipFill>
        <p:spPr>
          <a:xfrm>
            <a:off x="3705866" y="1878385"/>
            <a:ext cx="4722869" cy="3187937"/>
          </a:xfrm>
          <a:prstGeom prst="rect">
            <a:avLst/>
          </a:prstGeom>
        </p:spPr>
      </p:pic>
      <p:pic>
        <p:nvPicPr>
          <p:cNvPr id="10" name="Picture 10"/>
          <p:cNvPicPr>
            <a:picLocks noChangeAspect="1"/>
          </p:cNvPicPr>
          <p:nvPr/>
        </p:nvPicPr>
        <p:blipFill>
          <a:blip r:embed="rId7"/>
          <a:srcRect/>
          <a:stretch>
            <a:fillRect/>
          </a:stretch>
        </p:blipFill>
        <p:spPr>
          <a:xfrm>
            <a:off x="9384753" y="1946038"/>
            <a:ext cx="4722869" cy="3187937"/>
          </a:xfrm>
          <a:prstGeom prst="rect">
            <a:avLst/>
          </a:prstGeom>
        </p:spPr>
      </p:pic>
      <p:sp>
        <p:nvSpPr>
          <p:cNvPr id="11" name="TextBox 11"/>
          <p:cNvSpPr txBox="1"/>
          <p:nvPr/>
        </p:nvSpPr>
        <p:spPr>
          <a:xfrm>
            <a:off x="3667766" y="2267399"/>
            <a:ext cx="4722869" cy="2105108"/>
          </a:xfrm>
          <a:prstGeom prst="rect">
            <a:avLst/>
          </a:prstGeom>
        </p:spPr>
        <p:txBody>
          <a:bodyPr lIns="0" tIns="0" rIns="0" bIns="0" rtlCol="0" anchor="t">
            <a:spAutoFit/>
          </a:bodyPr>
          <a:lstStyle/>
          <a:p>
            <a:pPr algn="ctr">
              <a:lnSpc>
                <a:spcPts val="5662"/>
              </a:lnSpc>
            </a:pPr>
            <a:r>
              <a:rPr lang="en-US" sz="4044" spc="72">
                <a:solidFill>
                  <a:srgbClr val="231980"/>
                </a:solidFill>
                <a:latin typeface="Fredoka One"/>
              </a:rPr>
              <a:t>NAZMA NURFAIDAH </a:t>
            </a:r>
          </a:p>
          <a:p>
            <a:pPr algn="ctr">
              <a:lnSpc>
                <a:spcPts val="5662"/>
              </a:lnSpc>
              <a:spcBef>
                <a:spcPct val="0"/>
              </a:spcBef>
            </a:pPr>
            <a:r>
              <a:rPr lang="en-US" sz="4044" spc="72">
                <a:solidFill>
                  <a:srgbClr val="231980"/>
                </a:solidFill>
                <a:latin typeface="Fredoka One"/>
              </a:rPr>
              <a:t>(201344026)</a:t>
            </a:r>
          </a:p>
        </p:txBody>
      </p:sp>
      <p:sp>
        <p:nvSpPr>
          <p:cNvPr id="12" name="TextBox 12"/>
          <p:cNvSpPr txBox="1"/>
          <p:nvPr/>
        </p:nvSpPr>
        <p:spPr>
          <a:xfrm>
            <a:off x="9356178" y="2295974"/>
            <a:ext cx="4722869" cy="2131546"/>
          </a:xfrm>
          <a:prstGeom prst="rect">
            <a:avLst/>
          </a:prstGeom>
        </p:spPr>
        <p:txBody>
          <a:bodyPr lIns="0" tIns="0" rIns="0" bIns="0" rtlCol="0" anchor="t">
            <a:spAutoFit/>
          </a:bodyPr>
          <a:lstStyle/>
          <a:p>
            <a:pPr algn="ctr">
              <a:lnSpc>
                <a:spcPts val="5662"/>
              </a:lnSpc>
            </a:pPr>
            <a:r>
              <a:rPr lang="en-US" sz="4044" spc="72" dirty="0">
                <a:solidFill>
                  <a:srgbClr val="231980"/>
                </a:solidFill>
                <a:latin typeface="Fredoka One"/>
              </a:rPr>
              <a:t>BAGAS NURHIDAYAT</a:t>
            </a:r>
          </a:p>
          <a:p>
            <a:pPr algn="ctr">
              <a:lnSpc>
                <a:spcPts val="5662"/>
              </a:lnSpc>
              <a:spcBef>
                <a:spcPct val="0"/>
              </a:spcBef>
            </a:pPr>
            <a:r>
              <a:rPr lang="en-US" sz="4044" spc="72" dirty="0">
                <a:solidFill>
                  <a:srgbClr val="231980"/>
                </a:solidFill>
                <a:latin typeface="Fredoka One"/>
              </a:rPr>
              <a:t>(201344004)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srcRect/>
          <a:stretch>
            <a:fillRect/>
          </a:stretch>
        </p:blipFill>
        <p:spPr>
          <a:xfrm flipH="1">
            <a:off x="1028700" y="1049725"/>
            <a:ext cx="997891" cy="1590265"/>
          </a:xfrm>
          <a:prstGeom prst="rect">
            <a:avLst/>
          </a:prstGeom>
        </p:spPr>
      </p:pic>
      <p:pic>
        <p:nvPicPr>
          <p:cNvPr id="4" name="Picture 4"/>
          <p:cNvPicPr>
            <a:picLocks noChangeAspect="1"/>
          </p:cNvPicPr>
          <p:nvPr/>
        </p:nvPicPr>
        <p:blipFill>
          <a:blip r:embed="rId3"/>
          <a:srcRect/>
          <a:stretch>
            <a:fillRect/>
          </a:stretch>
        </p:blipFill>
        <p:spPr>
          <a:xfrm>
            <a:off x="16261409" y="1028700"/>
            <a:ext cx="997891" cy="1590265"/>
          </a:xfrm>
          <a:prstGeom prst="rect">
            <a:avLst/>
          </a:prstGeom>
        </p:spPr>
      </p:pic>
      <p:pic>
        <p:nvPicPr>
          <p:cNvPr id="5" name="Picture 5"/>
          <p:cNvPicPr>
            <a:picLocks noChangeAspect="1"/>
          </p:cNvPicPr>
          <p:nvPr/>
        </p:nvPicPr>
        <p:blipFill>
          <a:blip r:embed="rId4"/>
          <a:srcRect/>
          <a:stretch>
            <a:fillRect/>
          </a:stretch>
        </p:blipFill>
        <p:spPr>
          <a:xfrm>
            <a:off x="10419024" y="2639990"/>
            <a:ext cx="2945344" cy="2282642"/>
          </a:xfrm>
          <a:prstGeom prst="rect">
            <a:avLst/>
          </a:prstGeom>
        </p:spPr>
      </p:pic>
      <p:pic>
        <p:nvPicPr>
          <p:cNvPr id="6" name="Picture 6"/>
          <p:cNvPicPr>
            <a:picLocks noChangeAspect="1"/>
          </p:cNvPicPr>
          <p:nvPr/>
        </p:nvPicPr>
        <p:blipFill>
          <a:blip r:embed="rId5"/>
          <a:srcRect/>
          <a:stretch>
            <a:fillRect/>
          </a:stretch>
        </p:blipFill>
        <p:spPr>
          <a:xfrm>
            <a:off x="4757866" y="2639990"/>
            <a:ext cx="3203708" cy="2282642"/>
          </a:xfrm>
          <a:prstGeom prst="rect">
            <a:avLst/>
          </a:prstGeom>
        </p:spPr>
      </p:pic>
      <p:pic>
        <p:nvPicPr>
          <p:cNvPr id="7" name="Picture 7"/>
          <p:cNvPicPr>
            <a:picLocks noChangeAspect="1"/>
          </p:cNvPicPr>
          <p:nvPr/>
        </p:nvPicPr>
        <p:blipFill>
          <a:blip r:embed="rId6"/>
          <a:srcRect/>
          <a:stretch>
            <a:fillRect/>
          </a:stretch>
        </p:blipFill>
        <p:spPr>
          <a:xfrm>
            <a:off x="4584874" y="6105522"/>
            <a:ext cx="3549692" cy="2396042"/>
          </a:xfrm>
          <a:prstGeom prst="rect">
            <a:avLst/>
          </a:prstGeom>
        </p:spPr>
      </p:pic>
      <p:pic>
        <p:nvPicPr>
          <p:cNvPr id="8" name="Picture 8"/>
          <p:cNvPicPr>
            <a:picLocks noChangeAspect="1"/>
          </p:cNvPicPr>
          <p:nvPr/>
        </p:nvPicPr>
        <p:blipFill>
          <a:blip r:embed="rId7"/>
          <a:srcRect/>
          <a:stretch>
            <a:fillRect/>
          </a:stretch>
        </p:blipFill>
        <p:spPr>
          <a:xfrm>
            <a:off x="10419024" y="6105522"/>
            <a:ext cx="2645167" cy="2377344"/>
          </a:xfrm>
          <a:prstGeom prst="rect">
            <a:avLst/>
          </a:prstGeom>
        </p:spPr>
      </p:pic>
      <p:sp>
        <p:nvSpPr>
          <p:cNvPr id="9" name="TextBox 9"/>
          <p:cNvSpPr txBox="1"/>
          <p:nvPr/>
        </p:nvSpPr>
        <p:spPr>
          <a:xfrm>
            <a:off x="2488840" y="897325"/>
            <a:ext cx="13310320" cy="1318896"/>
          </a:xfrm>
          <a:prstGeom prst="rect">
            <a:avLst/>
          </a:prstGeom>
        </p:spPr>
        <p:txBody>
          <a:bodyPr lIns="0" tIns="0" rIns="0" bIns="0" rtlCol="0" anchor="t">
            <a:spAutoFit/>
          </a:bodyPr>
          <a:lstStyle/>
          <a:p>
            <a:pPr algn="ctr">
              <a:lnSpc>
                <a:spcPts val="10779"/>
              </a:lnSpc>
            </a:pPr>
            <a:r>
              <a:rPr lang="en-US" sz="7699">
                <a:solidFill>
                  <a:srgbClr val="FFFFFF"/>
                </a:solidFill>
                <a:latin typeface="Mokoto"/>
              </a:rPr>
              <a:t>PEMBAHASAN</a:t>
            </a:r>
          </a:p>
        </p:txBody>
      </p:sp>
      <p:sp>
        <p:nvSpPr>
          <p:cNvPr id="10" name="TextBox 10"/>
          <p:cNvSpPr txBox="1"/>
          <p:nvPr/>
        </p:nvSpPr>
        <p:spPr>
          <a:xfrm>
            <a:off x="4071975" y="5060946"/>
            <a:ext cx="4575491" cy="625476"/>
          </a:xfrm>
          <a:prstGeom prst="rect">
            <a:avLst/>
          </a:prstGeom>
        </p:spPr>
        <p:txBody>
          <a:bodyPr lIns="0" tIns="0" rIns="0" bIns="0" rtlCol="0" anchor="t">
            <a:spAutoFit/>
          </a:bodyPr>
          <a:lstStyle/>
          <a:p>
            <a:pPr algn="ctr">
              <a:lnSpc>
                <a:spcPts val="4899"/>
              </a:lnSpc>
            </a:pPr>
            <a:r>
              <a:rPr lang="en-US" sz="3499">
                <a:solidFill>
                  <a:srgbClr val="FFFFFF"/>
                </a:solidFill>
                <a:latin typeface="Poppins Bold"/>
              </a:rPr>
              <a:t>SEJARAH</a:t>
            </a:r>
          </a:p>
        </p:txBody>
      </p:sp>
      <p:sp>
        <p:nvSpPr>
          <p:cNvPr id="11" name="TextBox 11"/>
          <p:cNvSpPr txBox="1"/>
          <p:nvPr/>
        </p:nvSpPr>
        <p:spPr>
          <a:xfrm>
            <a:off x="9640535" y="5060946"/>
            <a:ext cx="4575491" cy="625476"/>
          </a:xfrm>
          <a:prstGeom prst="rect">
            <a:avLst/>
          </a:prstGeom>
        </p:spPr>
        <p:txBody>
          <a:bodyPr lIns="0" tIns="0" rIns="0" bIns="0" rtlCol="0" anchor="t">
            <a:spAutoFit/>
          </a:bodyPr>
          <a:lstStyle/>
          <a:p>
            <a:pPr algn="ctr">
              <a:lnSpc>
                <a:spcPts val="4899"/>
              </a:lnSpc>
            </a:pPr>
            <a:r>
              <a:rPr lang="en-US" sz="3499">
                <a:solidFill>
                  <a:srgbClr val="FFFFFF"/>
                </a:solidFill>
                <a:latin typeface="Poppins Bold"/>
              </a:rPr>
              <a:t>DEFINISI</a:t>
            </a:r>
          </a:p>
        </p:txBody>
      </p:sp>
      <p:sp>
        <p:nvSpPr>
          <p:cNvPr id="12" name="TextBox 12"/>
          <p:cNvSpPr txBox="1"/>
          <p:nvPr/>
        </p:nvSpPr>
        <p:spPr>
          <a:xfrm>
            <a:off x="9603951" y="8617069"/>
            <a:ext cx="4575491" cy="1244362"/>
          </a:xfrm>
          <a:prstGeom prst="rect">
            <a:avLst/>
          </a:prstGeom>
        </p:spPr>
        <p:txBody>
          <a:bodyPr lIns="0" tIns="0" rIns="0" bIns="0" rtlCol="0" anchor="t">
            <a:spAutoFit/>
          </a:bodyPr>
          <a:lstStyle/>
          <a:p>
            <a:pPr algn="ctr">
              <a:lnSpc>
                <a:spcPts val="4899"/>
              </a:lnSpc>
            </a:pPr>
            <a:r>
              <a:rPr lang="en-US" sz="3499">
                <a:solidFill>
                  <a:srgbClr val="FFFFFF"/>
                </a:solidFill>
                <a:latin typeface="Poppins Bold"/>
              </a:rPr>
              <a:t>CONTOH </a:t>
            </a:r>
          </a:p>
          <a:p>
            <a:pPr algn="ctr">
              <a:lnSpc>
                <a:spcPts val="4899"/>
              </a:lnSpc>
            </a:pPr>
            <a:r>
              <a:rPr lang="en-US" sz="3499">
                <a:solidFill>
                  <a:srgbClr val="FFFFFF"/>
                </a:solidFill>
                <a:latin typeface="Poppins Bold"/>
              </a:rPr>
              <a:t>SOAL</a:t>
            </a:r>
          </a:p>
        </p:txBody>
      </p:sp>
      <p:sp>
        <p:nvSpPr>
          <p:cNvPr id="13" name="TextBox 13"/>
          <p:cNvSpPr txBox="1"/>
          <p:nvPr/>
        </p:nvSpPr>
        <p:spPr>
          <a:xfrm>
            <a:off x="4071975" y="8762865"/>
            <a:ext cx="4575491" cy="1863726"/>
          </a:xfrm>
          <a:prstGeom prst="rect">
            <a:avLst/>
          </a:prstGeom>
        </p:spPr>
        <p:txBody>
          <a:bodyPr lIns="0" tIns="0" rIns="0" bIns="0" rtlCol="0" anchor="t">
            <a:spAutoFit/>
          </a:bodyPr>
          <a:lstStyle/>
          <a:p>
            <a:pPr algn="ctr">
              <a:lnSpc>
                <a:spcPts val="4899"/>
              </a:lnSpc>
            </a:pPr>
            <a:r>
              <a:rPr lang="en-US" sz="3499">
                <a:solidFill>
                  <a:srgbClr val="FFFFFF"/>
                </a:solidFill>
                <a:latin typeface="Poppins Bold"/>
              </a:rPr>
              <a:t>VITERBI </a:t>
            </a:r>
          </a:p>
          <a:p>
            <a:pPr algn="ctr">
              <a:lnSpc>
                <a:spcPts val="4899"/>
              </a:lnSpc>
            </a:pPr>
            <a:r>
              <a:rPr lang="en-US" sz="3499">
                <a:solidFill>
                  <a:srgbClr val="FFFFFF"/>
                </a:solidFill>
                <a:latin typeface="Poppins Bold"/>
              </a:rPr>
              <a:t>DECODING</a:t>
            </a:r>
          </a:p>
          <a:p>
            <a:pPr algn="ctr">
              <a:lnSpc>
                <a:spcPts val="4899"/>
              </a:lnSpc>
            </a:pPr>
            <a:endParaRPr lang="en-US" sz="3499">
              <a:solidFill>
                <a:srgbClr val="FFFFFF"/>
              </a:solidFill>
              <a:latin typeface="Poppi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2757198" y="7190549"/>
            <a:ext cx="6114427" cy="7035428"/>
          </a:xfrm>
          <a:prstGeom prst="rect">
            <a:avLst/>
          </a:prstGeom>
        </p:spPr>
      </p:pic>
      <p:pic>
        <p:nvPicPr>
          <p:cNvPr id="4" name="Picture 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7492151" y="-6378599"/>
            <a:ext cx="12757198" cy="12757198"/>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flipV="1">
            <a:off x="14459095" y="-4434396"/>
            <a:ext cx="6114427" cy="7035428"/>
          </a:xfrm>
          <a:prstGeom prst="rect">
            <a:avLst/>
          </a:prstGeom>
        </p:spPr>
      </p:pic>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2841108" y="4139082"/>
            <a:ext cx="12757198" cy="12757198"/>
          </a:xfrm>
          <a:prstGeom prst="rect">
            <a:avLst/>
          </a:prstGeom>
        </p:spPr>
      </p:pic>
      <p:pic>
        <p:nvPicPr>
          <p:cNvPr id="7" name="Picture 7"/>
          <p:cNvPicPr>
            <a:picLocks noChangeAspect="1"/>
          </p:cNvPicPr>
          <p:nvPr/>
        </p:nvPicPr>
        <p:blipFill>
          <a:blip r:embed="rId7"/>
          <a:srcRect/>
          <a:stretch>
            <a:fillRect/>
          </a:stretch>
        </p:blipFill>
        <p:spPr>
          <a:xfrm>
            <a:off x="808855" y="1229780"/>
            <a:ext cx="8229600" cy="8229600"/>
          </a:xfrm>
          <a:prstGeom prst="rect">
            <a:avLst/>
          </a:prstGeom>
        </p:spPr>
      </p:pic>
      <p:grpSp>
        <p:nvGrpSpPr>
          <p:cNvPr id="8" name="Group 8"/>
          <p:cNvGrpSpPr>
            <a:grpSpLocks noChangeAspect="1"/>
          </p:cNvGrpSpPr>
          <p:nvPr/>
        </p:nvGrpSpPr>
        <p:grpSpPr>
          <a:xfrm>
            <a:off x="2300460" y="2721395"/>
            <a:ext cx="5246391" cy="5246370"/>
            <a:chOff x="0" y="0"/>
            <a:chExt cx="6350000" cy="6349975"/>
          </a:xfrm>
        </p:grpSpPr>
        <p:sp>
          <p:nvSpPr>
            <p:cNvPr id="9" name="Freeform 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8"/>
              <a:stretch>
                <a:fillRect r="-11715" b="-61079"/>
              </a:stretch>
            </a:blipFill>
          </p:spPr>
        </p:sp>
      </p:grpSp>
      <p:pic>
        <p:nvPicPr>
          <p:cNvPr id="10" name="Picture 10"/>
          <p:cNvPicPr>
            <a:picLocks noChangeAspect="1"/>
          </p:cNvPicPr>
          <p:nvPr/>
        </p:nvPicPr>
        <p:blipFill>
          <a:blip r:embed="rId7"/>
          <a:srcRect/>
          <a:stretch>
            <a:fillRect/>
          </a:stretch>
        </p:blipFill>
        <p:spPr>
          <a:xfrm>
            <a:off x="15104907" y="7407299"/>
            <a:ext cx="8229600" cy="8229600"/>
          </a:xfrm>
          <a:prstGeom prst="rect">
            <a:avLst/>
          </a:prstGeom>
        </p:spPr>
      </p:pic>
      <p:pic>
        <p:nvPicPr>
          <p:cNvPr id="11" name="Picture 11"/>
          <p:cNvPicPr>
            <a:picLocks noChangeAspect="1"/>
          </p:cNvPicPr>
          <p:nvPr/>
        </p:nvPicPr>
        <p:blipFill>
          <a:blip r:embed="rId7"/>
          <a:srcRect/>
          <a:stretch>
            <a:fillRect/>
          </a:stretch>
        </p:blipFill>
        <p:spPr>
          <a:xfrm>
            <a:off x="-5080720" y="-5320387"/>
            <a:ext cx="8229600" cy="8229600"/>
          </a:xfrm>
          <a:prstGeom prst="rect">
            <a:avLst/>
          </a:prstGeom>
        </p:spPr>
      </p:pic>
      <p:sp>
        <p:nvSpPr>
          <p:cNvPr id="12" name="TextBox 12"/>
          <p:cNvSpPr txBox="1"/>
          <p:nvPr/>
        </p:nvSpPr>
        <p:spPr>
          <a:xfrm>
            <a:off x="9626335" y="3444836"/>
            <a:ext cx="7438535" cy="5061514"/>
          </a:xfrm>
          <a:prstGeom prst="rect">
            <a:avLst/>
          </a:prstGeom>
        </p:spPr>
        <p:txBody>
          <a:bodyPr lIns="0" tIns="0" rIns="0" bIns="0" rtlCol="0" anchor="t">
            <a:spAutoFit/>
          </a:bodyPr>
          <a:lstStyle/>
          <a:p>
            <a:pPr algn="just">
              <a:lnSpc>
                <a:spcPts val="3588"/>
              </a:lnSpc>
            </a:pPr>
            <a:r>
              <a:rPr lang="en-US" sz="2562" dirty="0" err="1">
                <a:solidFill>
                  <a:srgbClr val="FFFFFF"/>
                </a:solidFill>
                <a:latin typeface="Nunito"/>
              </a:rPr>
              <a:t>Algoritma</a:t>
            </a:r>
            <a:r>
              <a:rPr lang="en-US" sz="2562" dirty="0">
                <a:solidFill>
                  <a:srgbClr val="FFFFFF"/>
                </a:solidFill>
                <a:latin typeface="Nunito"/>
              </a:rPr>
              <a:t> Viterbi </a:t>
            </a:r>
            <a:r>
              <a:rPr lang="en-US" sz="2562" dirty="0" err="1">
                <a:solidFill>
                  <a:srgbClr val="FFFFFF"/>
                </a:solidFill>
                <a:latin typeface="Nunito"/>
              </a:rPr>
              <a:t>merupakan</a:t>
            </a:r>
            <a:r>
              <a:rPr lang="en-US" sz="2562" dirty="0">
                <a:solidFill>
                  <a:srgbClr val="FFFFFF"/>
                </a:solidFill>
                <a:latin typeface="Nunito"/>
              </a:rPr>
              <a:t> </a:t>
            </a:r>
            <a:r>
              <a:rPr lang="en-US" sz="2562" dirty="0" err="1">
                <a:solidFill>
                  <a:srgbClr val="FFFFFF"/>
                </a:solidFill>
                <a:latin typeface="Nunito"/>
              </a:rPr>
              <a:t>algoritma</a:t>
            </a:r>
            <a:r>
              <a:rPr lang="en-US" sz="2562" dirty="0">
                <a:solidFill>
                  <a:srgbClr val="FFFFFF"/>
                </a:solidFill>
                <a:latin typeface="Nunito"/>
              </a:rPr>
              <a:t> yang </a:t>
            </a:r>
            <a:r>
              <a:rPr lang="en-US" sz="2562" dirty="0" err="1">
                <a:solidFill>
                  <a:srgbClr val="FFFFFF"/>
                </a:solidFill>
                <a:latin typeface="Nunito"/>
              </a:rPr>
              <a:t>ditemukan</a:t>
            </a:r>
            <a:r>
              <a:rPr lang="en-US" sz="2562" dirty="0">
                <a:solidFill>
                  <a:srgbClr val="FFFFFF"/>
                </a:solidFill>
                <a:latin typeface="Nunito"/>
              </a:rPr>
              <a:t> oleh Andrew Viterbi pada </a:t>
            </a:r>
            <a:r>
              <a:rPr lang="en-US" sz="2562" dirty="0" err="1">
                <a:solidFill>
                  <a:srgbClr val="FFFFFF"/>
                </a:solidFill>
                <a:latin typeface="Nunito"/>
              </a:rPr>
              <a:t>tahun</a:t>
            </a:r>
            <a:r>
              <a:rPr lang="en-US" sz="2562" dirty="0">
                <a:solidFill>
                  <a:srgbClr val="FFFFFF"/>
                </a:solidFill>
                <a:latin typeface="Nunito"/>
              </a:rPr>
              <a:t> 1967. </a:t>
            </a:r>
            <a:r>
              <a:rPr lang="en-US" sz="2562" dirty="0" err="1">
                <a:solidFill>
                  <a:srgbClr val="FFFFFF"/>
                </a:solidFill>
                <a:latin typeface="Nunito"/>
              </a:rPr>
              <a:t>Algoritma</a:t>
            </a:r>
            <a:r>
              <a:rPr lang="en-US" sz="2562" dirty="0">
                <a:solidFill>
                  <a:srgbClr val="FFFFFF"/>
                </a:solidFill>
                <a:latin typeface="Nunito"/>
              </a:rPr>
              <a:t> </a:t>
            </a:r>
            <a:r>
              <a:rPr lang="en-US" sz="2562" dirty="0" err="1">
                <a:solidFill>
                  <a:srgbClr val="FFFFFF"/>
                </a:solidFill>
                <a:latin typeface="Nunito"/>
              </a:rPr>
              <a:t>ini</a:t>
            </a:r>
            <a:r>
              <a:rPr lang="en-US" sz="2562" dirty="0">
                <a:solidFill>
                  <a:srgbClr val="FFFFFF"/>
                </a:solidFill>
                <a:latin typeface="Nunito"/>
              </a:rPr>
              <a:t> </a:t>
            </a:r>
            <a:r>
              <a:rPr lang="en-US" sz="2562" dirty="0" err="1">
                <a:solidFill>
                  <a:srgbClr val="FFFFFF"/>
                </a:solidFill>
                <a:latin typeface="Nunito"/>
              </a:rPr>
              <a:t>merupakan</a:t>
            </a:r>
            <a:r>
              <a:rPr lang="en-US" sz="2562" dirty="0">
                <a:solidFill>
                  <a:srgbClr val="FFFFFF"/>
                </a:solidFill>
                <a:latin typeface="Nunito"/>
              </a:rPr>
              <a:t> salah </a:t>
            </a:r>
            <a:r>
              <a:rPr lang="en-US" sz="2562" dirty="0" err="1">
                <a:solidFill>
                  <a:srgbClr val="FFFFFF"/>
                </a:solidFill>
                <a:latin typeface="Nunito"/>
              </a:rPr>
              <a:t>satu</a:t>
            </a:r>
            <a:r>
              <a:rPr lang="en-US" sz="2562" dirty="0">
                <a:solidFill>
                  <a:srgbClr val="FFFFFF"/>
                </a:solidFill>
                <a:latin typeface="Nunito"/>
              </a:rPr>
              <a:t> </a:t>
            </a:r>
            <a:r>
              <a:rPr lang="en-US" sz="2562" dirty="0" err="1">
                <a:solidFill>
                  <a:srgbClr val="FFFFFF"/>
                </a:solidFill>
                <a:latin typeface="Nunito"/>
              </a:rPr>
              <a:t>jenis</a:t>
            </a:r>
            <a:r>
              <a:rPr lang="en-US" sz="2562" dirty="0">
                <a:solidFill>
                  <a:srgbClr val="FFFFFF"/>
                </a:solidFill>
                <a:latin typeface="Nunito"/>
              </a:rPr>
              <a:t> </a:t>
            </a:r>
            <a:r>
              <a:rPr lang="en-US" sz="2562" dirty="0" err="1">
                <a:solidFill>
                  <a:srgbClr val="FFFFFF"/>
                </a:solidFill>
                <a:latin typeface="Nunito"/>
              </a:rPr>
              <a:t>algoritma</a:t>
            </a:r>
            <a:r>
              <a:rPr lang="en-US" sz="2562" dirty="0">
                <a:solidFill>
                  <a:srgbClr val="FFFFFF"/>
                </a:solidFill>
                <a:latin typeface="Nunito"/>
              </a:rPr>
              <a:t> yang </a:t>
            </a:r>
            <a:r>
              <a:rPr lang="en-US" sz="2562" dirty="0" err="1">
                <a:solidFill>
                  <a:srgbClr val="FFFFFF"/>
                </a:solidFill>
                <a:latin typeface="Nunito"/>
              </a:rPr>
              <a:t>bisa</a:t>
            </a:r>
            <a:r>
              <a:rPr lang="en-US" sz="2562" dirty="0">
                <a:solidFill>
                  <a:srgbClr val="FFFFFF"/>
                </a:solidFill>
                <a:latin typeface="Nunito"/>
              </a:rPr>
              <a:t> </a:t>
            </a:r>
            <a:r>
              <a:rPr lang="en-US" sz="2562" dirty="0" err="1">
                <a:solidFill>
                  <a:srgbClr val="FFFFFF"/>
                </a:solidFill>
                <a:latin typeface="Nunito"/>
              </a:rPr>
              <a:t>digunakan</a:t>
            </a:r>
            <a:r>
              <a:rPr lang="en-US" sz="2562" dirty="0">
                <a:solidFill>
                  <a:srgbClr val="FFFFFF"/>
                </a:solidFill>
                <a:latin typeface="Nunito"/>
              </a:rPr>
              <a:t> </a:t>
            </a:r>
            <a:r>
              <a:rPr lang="en-US" sz="2562" dirty="0" err="1">
                <a:solidFill>
                  <a:srgbClr val="FFFFFF"/>
                </a:solidFill>
                <a:latin typeface="Nunito"/>
              </a:rPr>
              <a:t>untuk</a:t>
            </a:r>
            <a:r>
              <a:rPr lang="en-US" sz="2562" dirty="0">
                <a:solidFill>
                  <a:srgbClr val="FFFFFF"/>
                </a:solidFill>
                <a:latin typeface="Nunito"/>
              </a:rPr>
              <a:t> men-decode </a:t>
            </a:r>
            <a:r>
              <a:rPr lang="en-US" sz="2562" dirty="0" err="1">
                <a:solidFill>
                  <a:srgbClr val="FFFFFF"/>
                </a:solidFill>
                <a:latin typeface="Nunito"/>
              </a:rPr>
              <a:t>kode</a:t>
            </a:r>
            <a:r>
              <a:rPr lang="en-US" sz="2562" dirty="0">
                <a:solidFill>
                  <a:srgbClr val="FFFFFF"/>
                </a:solidFill>
                <a:latin typeface="Nunito"/>
              </a:rPr>
              <a:t> </a:t>
            </a:r>
            <a:r>
              <a:rPr lang="en-US" sz="2562" dirty="0" err="1">
                <a:solidFill>
                  <a:srgbClr val="FFFFFF"/>
                </a:solidFill>
                <a:latin typeface="Nunito"/>
              </a:rPr>
              <a:t>konvolusi</a:t>
            </a:r>
            <a:r>
              <a:rPr lang="en-US" sz="2562" dirty="0">
                <a:solidFill>
                  <a:srgbClr val="FFFFFF"/>
                </a:solidFill>
                <a:latin typeface="Nunito"/>
              </a:rPr>
              <a:t>. </a:t>
            </a:r>
            <a:r>
              <a:rPr lang="en-US" sz="2562" dirty="0" err="1">
                <a:solidFill>
                  <a:srgbClr val="FFFFFF"/>
                </a:solidFill>
                <a:latin typeface="Nunito"/>
              </a:rPr>
              <a:t>Idenya</a:t>
            </a:r>
            <a:r>
              <a:rPr lang="en-US" sz="2562" dirty="0">
                <a:solidFill>
                  <a:srgbClr val="FFFFFF"/>
                </a:solidFill>
                <a:latin typeface="Nunito"/>
              </a:rPr>
              <a:t> </a:t>
            </a:r>
            <a:r>
              <a:rPr lang="en-US" sz="2562" dirty="0" err="1">
                <a:solidFill>
                  <a:srgbClr val="FFFFFF"/>
                </a:solidFill>
                <a:latin typeface="Nunito"/>
              </a:rPr>
              <a:t>adalah</a:t>
            </a:r>
            <a:r>
              <a:rPr lang="en-US" sz="2562" dirty="0">
                <a:solidFill>
                  <a:srgbClr val="FFFFFF"/>
                </a:solidFill>
                <a:latin typeface="Nunito"/>
              </a:rPr>
              <a:t> </a:t>
            </a:r>
            <a:r>
              <a:rPr lang="en-US" sz="2562" dirty="0" err="1">
                <a:solidFill>
                  <a:srgbClr val="FFFFFF"/>
                </a:solidFill>
                <a:latin typeface="Nunito"/>
              </a:rPr>
              <a:t>untuk</a:t>
            </a:r>
            <a:r>
              <a:rPr lang="en-US" sz="2562" dirty="0">
                <a:solidFill>
                  <a:srgbClr val="FFFFFF"/>
                </a:solidFill>
                <a:latin typeface="Nunito"/>
              </a:rPr>
              <a:t> </a:t>
            </a:r>
            <a:r>
              <a:rPr lang="en-US" sz="2562" dirty="0" err="1">
                <a:solidFill>
                  <a:srgbClr val="FFFFFF"/>
                </a:solidFill>
                <a:latin typeface="Nunito"/>
              </a:rPr>
              <a:t>mencari</a:t>
            </a:r>
            <a:r>
              <a:rPr lang="en-US" sz="2562" dirty="0">
                <a:solidFill>
                  <a:srgbClr val="FFFFFF"/>
                </a:solidFill>
                <a:latin typeface="Nunito"/>
              </a:rPr>
              <a:t> </a:t>
            </a:r>
            <a:r>
              <a:rPr lang="en-US" sz="2562" dirty="0" err="1">
                <a:solidFill>
                  <a:srgbClr val="FFFFFF"/>
                </a:solidFill>
                <a:latin typeface="Nunito"/>
              </a:rPr>
              <a:t>kombinasi</a:t>
            </a:r>
            <a:r>
              <a:rPr lang="en-US" sz="2562" dirty="0">
                <a:solidFill>
                  <a:srgbClr val="FFFFFF"/>
                </a:solidFill>
                <a:latin typeface="Nunito"/>
              </a:rPr>
              <a:t> bit paling </a:t>
            </a:r>
            <a:r>
              <a:rPr lang="en-US" sz="2562" dirty="0" err="1">
                <a:solidFill>
                  <a:srgbClr val="FFFFFF"/>
                </a:solidFill>
                <a:latin typeface="Nunito"/>
              </a:rPr>
              <a:t>memungkinkan</a:t>
            </a:r>
            <a:r>
              <a:rPr lang="en-US" sz="2562" dirty="0">
                <a:solidFill>
                  <a:srgbClr val="FFFFFF"/>
                </a:solidFill>
                <a:latin typeface="Nunito"/>
              </a:rPr>
              <a:t> </a:t>
            </a:r>
            <a:r>
              <a:rPr lang="en-US" sz="2562" dirty="0" err="1">
                <a:solidFill>
                  <a:srgbClr val="FFFFFF"/>
                </a:solidFill>
                <a:latin typeface="Nunito"/>
              </a:rPr>
              <a:t>ketika</a:t>
            </a:r>
            <a:r>
              <a:rPr lang="en-US" sz="2562" dirty="0">
                <a:solidFill>
                  <a:srgbClr val="FFFFFF"/>
                </a:solidFill>
                <a:latin typeface="Nunito"/>
              </a:rPr>
              <a:t> </a:t>
            </a:r>
            <a:r>
              <a:rPr lang="en-US" sz="2562" dirty="0" err="1">
                <a:solidFill>
                  <a:srgbClr val="FFFFFF"/>
                </a:solidFill>
                <a:latin typeface="Nunito"/>
              </a:rPr>
              <a:t>diberikan</a:t>
            </a:r>
            <a:r>
              <a:rPr lang="en-US" sz="2562" dirty="0">
                <a:solidFill>
                  <a:srgbClr val="FFFFFF"/>
                </a:solidFill>
                <a:latin typeface="Nunito"/>
              </a:rPr>
              <a:t> </a:t>
            </a:r>
            <a:r>
              <a:rPr lang="en-US" sz="2562" dirty="0" err="1">
                <a:solidFill>
                  <a:srgbClr val="FFFFFF"/>
                </a:solidFill>
                <a:latin typeface="Nunito"/>
              </a:rPr>
              <a:t>sekumpulan</a:t>
            </a:r>
            <a:r>
              <a:rPr lang="en-US" sz="2562" dirty="0">
                <a:solidFill>
                  <a:srgbClr val="FFFFFF"/>
                </a:solidFill>
                <a:latin typeface="Nunito"/>
              </a:rPr>
              <a:t> parity bit </a:t>
            </a:r>
            <a:r>
              <a:rPr lang="en-US" sz="2562" dirty="0" err="1">
                <a:solidFill>
                  <a:srgbClr val="FFFFFF"/>
                </a:solidFill>
                <a:latin typeface="Nunito"/>
              </a:rPr>
              <a:t>dari</a:t>
            </a:r>
            <a:r>
              <a:rPr lang="en-US" sz="2562" dirty="0">
                <a:solidFill>
                  <a:srgbClr val="FFFFFF"/>
                </a:solidFill>
                <a:latin typeface="Nunito"/>
              </a:rPr>
              <a:t> </a:t>
            </a:r>
            <a:r>
              <a:rPr lang="en-US" sz="2562" dirty="0" err="1">
                <a:solidFill>
                  <a:srgbClr val="FFFFFF"/>
                </a:solidFill>
                <a:latin typeface="Nunito"/>
              </a:rPr>
              <a:t>hasil</a:t>
            </a:r>
            <a:r>
              <a:rPr lang="en-US" sz="2562" dirty="0">
                <a:solidFill>
                  <a:srgbClr val="FFFFFF"/>
                </a:solidFill>
                <a:latin typeface="Nunito"/>
              </a:rPr>
              <a:t> </a:t>
            </a:r>
            <a:r>
              <a:rPr lang="en-US" sz="2562" dirty="0" err="1">
                <a:solidFill>
                  <a:srgbClr val="FFFFFF"/>
                </a:solidFill>
                <a:latin typeface="Nunito"/>
              </a:rPr>
              <a:t>kode</a:t>
            </a:r>
            <a:r>
              <a:rPr lang="en-US" sz="2562" dirty="0">
                <a:solidFill>
                  <a:srgbClr val="FFFFFF"/>
                </a:solidFill>
                <a:latin typeface="Nunito"/>
              </a:rPr>
              <a:t> </a:t>
            </a:r>
            <a:r>
              <a:rPr lang="en-US" sz="2562" dirty="0" err="1">
                <a:solidFill>
                  <a:srgbClr val="FFFFFF"/>
                </a:solidFill>
                <a:latin typeface="Nunito"/>
              </a:rPr>
              <a:t>konvolusi</a:t>
            </a:r>
            <a:r>
              <a:rPr lang="en-US" sz="2562" dirty="0">
                <a:solidFill>
                  <a:srgbClr val="FFFFFF"/>
                </a:solidFill>
                <a:latin typeface="Nunito"/>
              </a:rPr>
              <a:t>, </a:t>
            </a:r>
            <a:r>
              <a:rPr lang="en-US" sz="2562" dirty="0" err="1">
                <a:solidFill>
                  <a:srgbClr val="FFFFFF"/>
                </a:solidFill>
                <a:latin typeface="Nunito"/>
              </a:rPr>
              <a:t>atau</a:t>
            </a:r>
            <a:r>
              <a:rPr lang="en-US" sz="2562" dirty="0">
                <a:solidFill>
                  <a:srgbClr val="FFFFFF"/>
                </a:solidFill>
                <a:latin typeface="Nunito"/>
              </a:rPr>
              <a:t> </a:t>
            </a:r>
            <a:r>
              <a:rPr lang="en-US" sz="2562" dirty="0" err="1">
                <a:solidFill>
                  <a:srgbClr val="FFFFFF"/>
                </a:solidFill>
                <a:latin typeface="Nunito"/>
              </a:rPr>
              <a:t>dengan</a:t>
            </a:r>
            <a:r>
              <a:rPr lang="en-US" sz="2562" dirty="0">
                <a:solidFill>
                  <a:srgbClr val="FFFFFF"/>
                </a:solidFill>
                <a:latin typeface="Nunito"/>
              </a:rPr>
              <a:t> kata lain, </a:t>
            </a:r>
            <a:r>
              <a:rPr lang="en-US" sz="2562" dirty="0" err="1">
                <a:solidFill>
                  <a:srgbClr val="FFFFFF"/>
                </a:solidFill>
                <a:latin typeface="Nunito"/>
              </a:rPr>
              <a:t>mencari</a:t>
            </a:r>
            <a:r>
              <a:rPr lang="en-US" sz="2562" dirty="0">
                <a:solidFill>
                  <a:srgbClr val="FFFFFF"/>
                </a:solidFill>
                <a:latin typeface="Nunito"/>
              </a:rPr>
              <a:t> </a:t>
            </a:r>
            <a:r>
              <a:rPr lang="en-US" sz="2562" dirty="0" err="1">
                <a:solidFill>
                  <a:srgbClr val="FFFFFF"/>
                </a:solidFill>
                <a:latin typeface="Nunito"/>
              </a:rPr>
              <a:t>kemungkinan</a:t>
            </a:r>
            <a:r>
              <a:rPr lang="en-US" sz="2562" dirty="0">
                <a:solidFill>
                  <a:srgbClr val="FFFFFF"/>
                </a:solidFill>
                <a:latin typeface="Nunito"/>
              </a:rPr>
              <a:t> state-state </a:t>
            </a:r>
            <a:r>
              <a:rPr lang="en-US" sz="2562" dirty="0" err="1">
                <a:solidFill>
                  <a:srgbClr val="FFFFFF"/>
                </a:solidFill>
                <a:latin typeface="Nunito"/>
              </a:rPr>
              <a:t>terbaik</a:t>
            </a:r>
            <a:r>
              <a:rPr lang="en-US" sz="2562" dirty="0">
                <a:solidFill>
                  <a:srgbClr val="FFFFFF"/>
                </a:solidFill>
                <a:latin typeface="Nunito"/>
              </a:rPr>
              <a:t> yang </a:t>
            </a:r>
            <a:r>
              <a:rPr lang="en-US" sz="2562" dirty="0" err="1">
                <a:solidFill>
                  <a:srgbClr val="FFFFFF"/>
                </a:solidFill>
                <a:latin typeface="Nunito"/>
              </a:rPr>
              <a:t>pernah</a:t>
            </a:r>
            <a:r>
              <a:rPr lang="en-US" sz="2562" dirty="0">
                <a:solidFill>
                  <a:srgbClr val="FFFFFF"/>
                </a:solidFill>
                <a:latin typeface="Nunito"/>
              </a:rPr>
              <a:t> </a:t>
            </a:r>
            <a:r>
              <a:rPr lang="en-US" sz="2562" dirty="0" err="1">
                <a:solidFill>
                  <a:srgbClr val="FFFFFF"/>
                </a:solidFill>
                <a:latin typeface="Nunito"/>
              </a:rPr>
              <a:t>dilalui</a:t>
            </a:r>
            <a:r>
              <a:rPr lang="en-US" sz="2562" dirty="0">
                <a:solidFill>
                  <a:srgbClr val="FFFFFF"/>
                </a:solidFill>
                <a:latin typeface="Nunito"/>
              </a:rPr>
              <a:t> pada proses encoding </a:t>
            </a:r>
            <a:r>
              <a:rPr lang="en-US" sz="2562" dirty="0" err="1">
                <a:solidFill>
                  <a:srgbClr val="FFFFFF"/>
                </a:solidFill>
                <a:latin typeface="Nunito"/>
              </a:rPr>
              <a:t>dengan</a:t>
            </a:r>
            <a:r>
              <a:rPr lang="en-US" sz="2562" dirty="0">
                <a:solidFill>
                  <a:srgbClr val="FFFFFF"/>
                </a:solidFill>
                <a:latin typeface="Nunito"/>
              </a:rPr>
              <a:t> </a:t>
            </a:r>
            <a:r>
              <a:rPr lang="en-US" sz="2562" dirty="0" err="1">
                <a:solidFill>
                  <a:srgbClr val="FFFFFF"/>
                </a:solidFill>
                <a:latin typeface="Nunito"/>
              </a:rPr>
              <a:t>kode</a:t>
            </a:r>
            <a:r>
              <a:rPr lang="en-US" sz="2562" dirty="0">
                <a:solidFill>
                  <a:srgbClr val="FFFFFF"/>
                </a:solidFill>
                <a:latin typeface="Nunito"/>
              </a:rPr>
              <a:t> </a:t>
            </a:r>
            <a:r>
              <a:rPr lang="en-US" sz="2562" dirty="0" err="1">
                <a:solidFill>
                  <a:srgbClr val="FFFFFF"/>
                </a:solidFill>
                <a:latin typeface="Nunito"/>
              </a:rPr>
              <a:t>konvolusi</a:t>
            </a:r>
            <a:r>
              <a:rPr lang="en-US" sz="2562" dirty="0">
                <a:solidFill>
                  <a:srgbClr val="FFFFFF"/>
                </a:solidFill>
                <a:latin typeface="Nunito"/>
              </a:rPr>
              <a:t>.</a:t>
            </a:r>
          </a:p>
          <a:p>
            <a:pPr algn="just">
              <a:lnSpc>
                <a:spcPts val="3588"/>
              </a:lnSpc>
              <a:spcBef>
                <a:spcPct val="0"/>
              </a:spcBef>
            </a:pPr>
            <a:endParaRPr lang="en-US" sz="2562" dirty="0">
              <a:solidFill>
                <a:srgbClr val="FFFFFF"/>
              </a:solidFill>
              <a:latin typeface="Nunito"/>
            </a:endParaRPr>
          </a:p>
        </p:txBody>
      </p:sp>
      <p:sp>
        <p:nvSpPr>
          <p:cNvPr id="13" name="TextBox 13"/>
          <p:cNvSpPr txBox="1"/>
          <p:nvPr/>
        </p:nvSpPr>
        <p:spPr>
          <a:xfrm>
            <a:off x="6023927" y="2173565"/>
            <a:ext cx="13310320" cy="1318896"/>
          </a:xfrm>
          <a:prstGeom prst="rect">
            <a:avLst/>
          </a:prstGeom>
        </p:spPr>
        <p:txBody>
          <a:bodyPr lIns="0" tIns="0" rIns="0" bIns="0" rtlCol="0" anchor="t">
            <a:spAutoFit/>
          </a:bodyPr>
          <a:lstStyle/>
          <a:p>
            <a:pPr algn="ctr">
              <a:lnSpc>
                <a:spcPts val="10779"/>
              </a:lnSpc>
            </a:pPr>
            <a:r>
              <a:rPr lang="en-US" sz="7699">
                <a:solidFill>
                  <a:srgbClr val="FFFFFF"/>
                </a:solidFill>
                <a:latin typeface="Mokoto"/>
              </a:rPr>
              <a:t>SEJARAH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srcRect/>
          <a:stretch>
            <a:fillRect/>
          </a:stretch>
        </p:blipFill>
        <p:spPr>
          <a:xfrm flipH="1">
            <a:off x="-2304408" y="6596953"/>
            <a:ext cx="5752993" cy="4796558"/>
          </a:xfrm>
          <a:prstGeom prst="rect">
            <a:avLst/>
          </a:prstGeom>
        </p:spPr>
      </p:pic>
      <p:pic>
        <p:nvPicPr>
          <p:cNvPr id="4" name="Picture 4"/>
          <p:cNvPicPr>
            <a:picLocks noChangeAspect="1"/>
          </p:cNvPicPr>
          <p:nvPr/>
        </p:nvPicPr>
        <p:blipFill>
          <a:blip r:embed="rId3"/>
          <a:srcRect/>
          <a:stretch>
            <a:fillRect/>
          </a:stretch>
        </p:blipFill>
        <p:spPr>
          <a:xfrm>
            <a:off x="15344530" y="0"/>
            <a:ext cx="4542751" cy="3787519"/>
          </a:xfrm>
          <a:prstGeom prst="rect">
            <a:avLst/>
          </a:prstGeom>
        </p:spPr>
      </p:pic>
      <p:pic>
        <p:nvPicPr>
          <p:cNvPr id="5" name="Picture 5"/>
          <p:cNvPicPr>
            <a:picLocks noChangeAspect="1"/>
          </p:cNvPicPr>
          <p:nvPr/>
        </p:nvPicPr>
        <p:blipFill>
          <a:blip r:embed="rId4"/>
          <a:srcRect/>
          <a:stretch>
            <a:fillRect/>
          </a:stretch>
        </p:blipFill>
        <p:spPr>
          <a:xfrm flipH="1">
            <a:off x="770566" y="3867308"/>
            <a:ext cx="878276" cy="1188868"/>
          </a:xfrm>
          <a:prstGeom prst="rect">
            <a:avLst/>
          </a:prstGeom>
        </p:spPr>
      </p:pic>
      <p:pic>
        <p:nvPicPr>
          <p:cNvPr id="6" name="Picture 6"/>
          <p:cNvPicPr>
            <a:picLocks noChangeAspect="1"/>
          </p:cNvPicPr>
          <p:nvPr/>
        </p:nvPicPr>
        <p:blipFill>
          <a:blip r:embed="rId4"/>
          <a:srcRect/>
          <a:stretch>
            <a:fillRect/>
          </a:stretch>
        </p:blipFill>
        <p:spPr>
          <a:xfrm flipH="1">
            <a:off x="14466254" y="704892"/>
            <a:ext cx="878276" cy="1188868"/>
          </a:xfrm>
          <a:prstGeom prst="rect">
            <a:avLst/>
          </a:prstGeom>
        </p:spPr>
      </p:pic>
      <p:sp>
        <p:nvSpPr>
          <p:cNvPr id="7" name="TextBox 7"/>
          <p:cNvSpPr txBox="1"/>
          <p:nvPr/>
        </p:nvSpPr>
        <p:spPr>
          <a:xfrm>
            <a:off x="3248637" y="828219"/>
            <a:ext cx="11790726" cy="1132757"/>
          </a:xfrm>
          <a:prstGeom prst="rect">
            <a:avLst/>
          </a:prstGeom>
        </p:spPr>
        <p:txBody>
          <a:bodyPr lIns="0" tIns="0" rIns="0" bIns="0" rtlCol="0" anchor="t">
            <a:spAutoFit/>
          </a:bodyPr>
          <a:lstStyle/>
          <a:p>
            <a:pPr algn="ctr">
              <a:lnSpc>
                <a:spcPts val="8849"/>
              </a:lnSpc>
            </a:pPr>
            <a:r>
              <a:rPr lang="en-US" sz="7374">
                <a:solidFill>
                  <a:srgbClr val="FFFFFF"/>
                </a:solidFill>
                <a:latin typeface="Mokoto Bold"/>
              </a:rPr>
              <a:t>DEFINISI</a:t>
            </a:r>
          </a:p>
        </p:txBody>
      </p:sp>
      <p:sp>
        <p:nvSpPr>
          <p:cNvPr id="8" name="TextBox 8"/>
          <p:cNvSpPr txBox="1"/>
          <p:nvPr/>
        </p:nvSpPr>
        <p:spPr>
          <a:xfrm>
            <a:off x="5498315" y="4989501"/>
            <a:ext cx="7291371" cy="2632075"/>
          </a:xfrm>
          <a:prstGeom prst="rect">
            <a:avLst/>
          </a:prstGeom>
        </p:spPr>
        <p:txBody>
          <a:bodyPr lIns="0" tIns="0" rIns="0" bIns="0" rtlCol="0" anchor="t">
            <a:spAutoFit/>
          </a:bodyPr>
          <a:lstStyle/>
          <a:p>
            <a:pPr algn="ctr">
              <a:lnSpc>
                <a:spcPts val="3499"/>
              </a:lnSpc>
            </a:pPr>
            <a:r>
              <a:rPr lang="en-US" sz="2499">
                <a:solidFill>
                  <a:srgbClr val="FFFFFF"/>
                </a:solidFill>
                <a:latin typeface="Poppins"/>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id="9" name="Group 9"/>
          <p:cNvGrpSpPr/>
          <p:nvPr/>
        </p:nvGrpSpPr>
        <p:grpSpPr>
          <a:xfrm>
            <a:off x="2812194" y="2528046"/>
            <a:ext cx="12822554" cy="6467185"/>
            <a:chOff x="0" y="0"/>
            <a:chExt cx="3282573" cy="1655599"/>
          </a:xfrm>
        </p:grpSpPr>
        <p:sp>
          <p:nvSpPr>
            <p:cNvPr id="10" name="Freeform 10"/>
            <p:cNvSpPr/>
            <p:nvPr/>
          </p:nvSpPr>
          <p:spPr>
            <a:xfrm>
              <a:off x="0" y="0"/>
              <a:ext cx="3282573" cy="1655599"/>
            </a:xfrm>
            <a:custGeom>
              <a:avLst/>
              <a:gdLst/>
              <a:ahLst/>
              <a:cxnLst/>
              <a:rect l="l" t="t" r="r" b="b"/>
              <a:pathLst>
                <a:path w="3282573" h="1655599">
                  <a:moveTo>
                    <a:pt x="42264" y="0"/>
                  </a:moveTo>
                  <a:lnTo>
                    <a:pt x="3240308" y="0"/>
                  </a:lnTo>
                  <a:cubicBezTo>
                    <a:pt x="3251517" y="0"/>
                    <a:pt x="3262268" y="4453"/>
                    <a:pt x="3270194" y="12379"/>
                  </a:cubicBezTo>
                  <a:cubicBezTo>
                    <a:pt x="3278120" y="20305"/>
                    <a:pt x="3282573" y="31055"/>
                    <a:pt x="3282573" y="42264"/>
                  </a:cubicBezTo>
                  <a:lnTo>
                    <a:pt x="3282573" y="1613335"/>
                  </a:lnTo>
                  <a:cubicBezTo>
                    <a:pt x="3282573" y="1624544"/>
                    <a:pt x="3278120" y="1635294"/>
                    <a:pt x="3270194" y="1643220"/>
                  </a:cubicBezTo>
                  <a:cubicBezTo>
                    <a:pt x="3262268" y="1651146"/>
                    <a:pt x="3251517" y="1655599"/>
                    <a:pt x="3240308" y="1655599"/>
                  </a:cubicBezTo>
                  <a:lnTo>
                    <a:pt x="42264" y="1655599"/>
                  </a:lnTo>
                  <a:cubicBezTo>
                    <a:pt x="31055" y="1655599"/>
                    <a:pt x="20305" y="1651146"/>
                    <a:pt x="12379" y="1643220"/>
                  </a:cubicBezTo>
                  <a:cubicBezTo>
                    <a:pt x="4453" y="1635294"/>
                    <a:pt x="0" y="1624544"/>
                    <a:pt x="0" y="1613335"/>
                  </a:cubicBezTo>
                  <a:lnTo>
                    <a:pt x="0" y="42264"/>
                  </a:lnTo>
                  <a:cubicBezTo>
                    <a:pt x="0" y="31055"/>
                    <a:pt x="4453" y="20305"/>
                    <a:pt x="12379" y="12379"/>
                  </a:cubicBezTo>
                  <a:cubicBezTo>
                    <a:pt x="20305" y="4453"/>
                    <a:pt x="31055" y="0"/>
                    <a:pt x="42264" y="0"/>
                  </a:cubicBezTo>
                  <a:close/>
                </a:path>
              </a:pathLst>
            </a:custGeom>
            <a:solidFill>
              <a:srgbClr val="231980"/>
            </a:solidFill>
            <a:ln w="76200">
              <a:solidFill>
                <a:srgbClr val="FFFFFF"/>
              </a:solidFill>
            </a:ln>
          </p:spPr>
        </p:sp>
        <p:sp>
          <p:nvSpPr>
            <p:cNvPr id="11" name="TextBox 11"/>
            <p:cNvSpPr txBox="1"/>
            <p:nvPr/>
          </p:nvSpPr>
          <p:spPr>
            <a:xfrm>
              <a:off x="0" y="-28575"/>
              <a:ext cx="812800" cy="841375"/>
            </a:xfrm>
            <a:prstGeom prst="rect">
              <a:avLst/>
            </a:prstGeom>
          </p:spPr>
          <p:txBody>
            <a:bodyPr lIns="50800" tIns="50800" rIns="50800" bIns="50800" rtlCol="0" anchor="ctr"/>
            <a:lstStyle/>
            <a:p>
              <a:pPr algn="ctr">
                <a:lnSpc>
                  <a:spcPts val="2799"/>
                </a:lnSpc>
              </a:pPr>
              <a:endParaRPr/>
            </a:p>
          </p:txBody>
        </p:sp>
      </p:grpSp>
      <p:sp>
        <p:nvSpPr>
          <p:cNvPr id="12" name="TextBox 12"/>
          <p:cNvSpPr txBox="1"/>
          <p:nvPr/>
        </p:nvSpPr>
        <p:spPr>
          <a:xfrm>
            <a:off x="3623905" y="3931335"/>
            <a:ext cx="11835523" cy="4587346"/>
          </a:xfrm>
          <a:prstGeom prst="rect">
            <a:avLst/>
          </a:prstGeom>
        </p:spPr>
        <p:txBody>
          <a:bodyPr lIns="0" tIns="0" rIns="0" bIns="0" rtlCol="0" anchor="t">
            <a:spAutoFit/>
          </a:bodyPr>
          <a:lstStyle/>
          <a:p>
            <a:pPr>
              <a:lnSpc>
                <a:spcPts val="3561"/>
              </a:lnSpc>
            </a:pPr>
            <a:r>
              <a:rPr lang="en-US" sz="2544" dirty="0">
                <a:solidFill>
                  <a:srgbClr val="FFFFFF"/>
                </a:solidFill>
                <a:latin typeface="Nunito Italics"/>
              </a:rPr>
              <a:t>• </a:t>
            </a:r>
            <a:r>
              <a:rPr lang="en-US" sz="2544" dirty="0" err="1">
                <a:solidFill>
                  <a:srgbClr val="FFFFFF"/>
                </a:solidFill>
                <a:latin typeface="Nunito Italics"/>
              </a:rPr>
              <a:t>Merupakan</a:t>
            </a:r>
            <a:r>
              <a:rPr lang="en-US" sz="2544" dirty="0">
                <a:solidFill>
                  <a:srgbClr val="FFFFFF"/>
                </a:solidFill>
                <a:latin typeface="Nunito Italics"/>
              </a:rPr>
              <a:t> </a:t>
            </a:r>
            <a:r>
              <a:rPr lang="en-US" sz="2544" dirty="0" err="1">
                <a:solidFill>
                  <a:srgbClr val="FFFFFF"/>
                </a:solidFill>
                <a:latin typeface="Nunito Italics"/>
              </a:rPr>
              <a:t>teknik</a:t>
            </a:r>
            <a:r>
              <a:rPr lang="en-US" sz="2544" dirty="0">
                <a:solidFill>
                  <a:srgbClr val="FFFFFF"/>
                </a:solidFill>
                <a:latin typeface="Nunito Italics"/>
              </a:rPr>
              <a:t> men-decode data yang </a:t>
            </a:r>
            <a:r>
              <a:rPr lang="en-US" sz="2544" dirty="0" err="1">
                <a:solidFill>
                  <a:srgbClr val="FFFFFF"/>
                </a:solidFill>
                <a:latin typeface="Nunito Italics"/>
              </a:rPr>
              <a:t>diterima</a:t>
            </a:r>
            <a:r>
              <a:rPr lang="en-US" sz="2544" dirty="0">
                <a:solidFill>
                  <a:srgbClr val="FFFFFF"/>
                </a:solidFill>
                <a:latin typeface="Nunito Italics"/>
              </a:rPr>
              <a:t> (</a:t>
            </a:r>
            <a:r>
              <a:rPr lang="en-US" sz="2544" dirty="0" err="1">
                <a:solidFill>
                  <a:srgbClr val="FFFFFF"/>
                </a:solidFill>
                <a:latin typeface="Nunito Italics"/>
              </a:rPr>
              <a:t>yaitu</a:t>
            </a:r>
            <a:r>
              <a:rPr lang="en-US" sz="2544" dirty="0">
                <a:solidFill>
                  <a:srgbClr val="FFFFFF"/>
                </a:solidFill>
                <a:latin typeface="Nunito Italics"/>
              </a:rPr>
              <a:t> data </a:t>
            </a:r>
            <a:r>
              <a:rPr lang="en-US" sz="2544" dirty="0" err="1">
                <a:solidFill>
                  <a:srgbClr val="FFFFFF"/>
                </a:solidFill>
                <a:latin typeface="Nunito Italics"/>
              </a:rPr>
              <a:t>hasil</a:t>
            </a:r>
            <a:r>
              <a:rPr lang="en-US" sz="2544" dirty="0">
                <a:solidFill>
                  <a:srgbClr val="FFFFFF"/>
                </a:solidFill>
                <a:latin typeface="Nunito Italics"/>
              </a:rPr>
              <a:t>/encoder  convolutional codes).</a:t>
            </a:r>
          </a:p>
          <a:p>
            <a:pPr>
              <a:lnSpc>
                <a:spcPts val="3561"/>
              </a:lnSpc>
            </a:pPr>
            <a:endParaRPr lang="en-US" sz="2544" dirty="0">
              <a:solidFill>
                <a:srgbClr val="FFFFFF"/>
              </a:solidFill>
              <a:latin typeface="Nunito Italics"/>
            </a:endParaRPr>
          </a:p>
          <a:p>
            <a:pPr>
              <a:lnSpc>
                <a:spcPts val="3561"/>
              </a:lnSpc>
            </a:pPr>
            <a:r>
              <a:rPr lang="en-US" sz="2544" dirty="0">
                <a:solidFill>
                  <a:srgbClr val="FFFFFF"/>
                </a:solidFill>
                <a:latin typeface="Nunito Italics"/>
              </a:rPr>
              <a:t>• </a:t>
            </a:r>
            <a:r>
              <a:rPr lang="en-US" sz="2544" dirty="0" err="1">
                <a:solidFill>
                  <a:srgbClr val="FFFFFF"/>
                </a:solidFill>
                <a:latin typeface="Nunito Italics"/>
              </a:rPr>
              <a:t>Sebelum</a:t>
            </a:r>
            <a:r>
              <a:rPr lang="en-US" sz="2544" dirty="0">
                <a:solidFill>
                  <a:srgbClr val="FFFFFF"/>
                </a:solidFill>
                <a:latin typeface="Nunito Italics"/>
              </a:rPr>
              <a:t> data yang </a:t>
            </a:r>
            <a:r>
              <a:rPr lang="en-US" sz="2544" dirty="0" err="1">
                <a:solidFill>
                  <a:srgbClr val="FFFFFF"/>
                </a:solidFill>
                <a:latin typeface="Nunito Italics"/>
              </a:rPr>
              <a:t>diterima</a:t>
            </a:r>
            <a:r>
              <a:rPr lang="en-US" sz="2544" dirty="0">
                <a:solidFill>
                  <a:srgbClr val="FFFFFF"/>
                </a:solidFill>
                <a:latin typeface="Nunito Italics"/>
              </a:rPr>
              <a:t> di-decode-</a:t>
            </a:r>
            <a:r>
              <a:rPr lang="en-US" sz="2544" dirty="0" err="1">
                <a:solidFill>
                  <a:srgbClr val="FFFFFF"/>
                </a:solidFill>
                <a:latin typeface="Nunito Italics"/>
              </a:rPr>
              <a:t>kan</a:t>
            </a:r>
            <a:r>
              <a:rPr lang="en-US" sz="2544" dirty="0">
                <a:solidFill>
                  <a:srgbClr val="FFFFFF"/>
                </a:solidFill>
                <a:latin typeface="Nunito Italics"/>
              </a:rPr>
              <a:t>, data </a:t>
            </a:r>
            <a:r>
              <a:rPr lang="en-US" sz="2544" dirty="0" err="1">
                <a:solidFill>
                  <a:srgbClr val="FFFFFF"/>
                </a:solidFill>
                <a:latin typeface="Nunito Italics"/>
              </a:rPr>
              <a:t>tersebut</a:t>
            </a:r>
            <a:r>
              <a:rPr lang="en-US" sz="2544" dirty="0">
                <a:solidFill>
                  <a:srgbClr val="FFFFFF"/>
                </a:solidFill>
                <a:latin typeface="Nunito Italics"/>
              </a:rPr>
              <a:t> </a:t>
            </a:r>
            <a:r>
              <a:rPr lang="en-US" sz="2544" dirty="0" err="1">
                <a:solidFill>
                  <a:srgbClr val="FFFFFF"/>
                </a:solidFill>
                <a:latin typeface="Nunito Italics"/>
              </a:rPr>
              <a:t>akan</a:t>
            </a:r>
            <a:r>
              <a:rPr lang="en-US" sz="2544" dirty="0">
                <a:solidFill>
                  <a:srgbClr val="FFFFFF"/>
                </a:solidFill>
                <a:latin typeface="Nunito Italics"/>
              </a:rPr>
              <a:t> </a:t>
            </a:r>
            <a:r>
              <a:rPr lang="en-US" sz="2544" dirty="0" err="1">
                <a:solidFill>
                  <a:srgbClr val="FFFFFF"/>
                </a:solidFill>
                <a:latin typeface="Nunito Italics"/>
              </a:rPr>
              <a:t>melalui</a:t>
            </a:r>
            <a:r>
              <a:rPr lang="en-US" sz="2544" dirty="0">
                <a:solidFill>
                  <a:srgbClr val="FFFFFF"/>
                </a:solidFill>
                <a:latin typeface="Nunito Italics"/>
              </a:rPr>
              <a:t> Hamming Distance Matrix </a:t>
            </a:r>
            <a:r>
              <a:rPr lang="en-US" sz="2544" dirty="0" err="1">
                <a:solidFill>
                  <a:srgbClr val="FFFFFF"/>
                </a:solidFill>
                <a:latin typeface="Nunito Italics"/>
              </a:rPr>
              <a:t>terlebih</a:t>
            </a:r>
            <a:r>
              <a:rPr lang="en-US" sz="2544" dirty="0">
                <a:solidFill>
                  <a:srgbClr val="FFFFFF"/>
                </a:solidFill>
                <a:latin typeface="Nunito Italics"/>
              </a:rPr>
              <a:t> </a:t>
            </a:r>
            <a:r>
              <a:rPr lang="en-US" sz="2544" dirty="0" err="1">
                <a:solidFill>
                  <a:srgbClr val="FFFFFF"/>
                </a:solidFill>
                <a:latin typeface="Nunito Italics"/>
              </a:rPr>
              <a:t>dahulu</a:t>
            </a:r>
            <a:r>
              <a:rPr lang="en-US" sz="2544" dirty="0">
                <a:solidFill>
                  <a:srgbClr val="FFFFFF"/>
                </a:solidFill>
                <a:latin typeface="Nunito Italics"/>
              </a:rPr>
              <a:t>. </a:t>
            </a:r>
          </a:p>
          <a:p>
            <a:pPr>
              <a:lnSpc>
                <a:spcPts val="3561"/>
              </a:lnSpc>
            </a:pPr>
            <a:endParaRPr lang="en-US" sz="2544" dirty="0">
              <a:solidFill>
                <a:srgbClr val="FFFFFF"/>
              </a:solidFill>
              <a:latin typeface="Nunito Italics"/>
            </a:endParaRPr>
          </a:p>
          <a:p>
            <a:pPr>
              <a:lnSpc>
                <a:spcPts val="3561"/>
              </a:lnSpc>
            </a:pPr>
            <a:r>
              <a:rPr lang="en-US" sz="2544" dirty="0">
                <a:solidFill>
                  <a:srgbClr val="FFFFFF"/>
                </a:solidFill>
                <a:latin typeface="Nunito Italics"/>
              </a:rPr>
              <a:t>• </a:t>
            </a:r>
            <a:r>
              <a:rPr lang="en-US" sz="2544" dirty="0" err="1">
                <a:solidFill>
                  <a:srgbClr val="FFFFFF"/>
                </a:solidFill>
                <a:latin typeface="Nunito Italics"/>
              </a:rPr>
              <a:t>Yaitu</a:t>
            </a:r>
            <a:r>
              <a:rPr lang="en-US" sz="2544" dirty="0">
                <a:solidFill>
                  <a:srgbClr val="FFFFFF"/>
                </a:solidFill>
                <a:latin typeface="Nunito Italics"/>
              </a:rPr>
              <a:t> matrix </a:t>
            </a:r>
            <a:r>
              <a:rPr lang="en-US" sz="2544" dirty="0" err="1">
                <a:solidFill>
                  <a:srgbClr val="FFFFFF"/>
                </a:solidFill>
                <a:latin typeface="Nunito Italics"/>
              </a:rPr>
              <a:t>untuk</a:t>
            </a:r>
            <a:r>
              <a:rPr lang="en-US" sz="2544" dirty="0">
                <a:solidFill>
                  <a:srgbClr val="FFFFFF"/>
                </a:solidFill>
                <a:latin typeface="Nunito Italics"/>
              </a:rPr>
              <a:t> </a:t>
            </a:r>
            <a:r>
              <a:rPr lang="en-US" sz="2544" dirty="0" err="1">
                <a:solidFill>
                  <a:srgbClr val="FFFFFF"/>
                </a:solidFill>
                <a:latin typeface="Nunito Italics"/>
              </a:rPr>
              <a:t>memeriksa</a:t>
            </a:r>
            <a:r>
              <a:rPr lang="en-US" sz="2544" dirty="0">
                <a:solidFill>
                  <a:srgbClr val="FFFFFF"/>
                </a:solidFill>
                <a:latin typeface="Nunito Italics"/>
              </a:rPr>
              <a:t> </a:t>
            </a:r>
            <a:r>
              <a:rPr lang="en-US" sz="2544" dirty="0" err="1">
                <a:solidFill>
                  <a:srgbClr val="FFFFFF"/>
                </a:solidFill>
                <a:latin typeface="Nunito Italics"/>
              </a:rPr>
              <a:t>urutan</a:t>
            </a:r>
            <a:r>
              <a:rPr lang="en-US" sz="2544" dirty="0">
                <a:solidFill>
                  <a:srgbClr val="FFFFFF"/>
                </a:solidFill>
                <a:latin typeface="Nunito Italics"/>
              </a:rPr>
              <a:t> bit yang </a:t>
            </a:r>
            <a:r>
              <a:rPr lang="en-US" sz="2544" dirty="0" err="1">
                <a:solidFill>
                  <a:srgbClr val="FFFFFF"/>
                </a:solidFill>
                <a:latin typeface="Nunito Italics"/>
              </a:rPr>
              <a:t>diterima</a:t>
            </a:r>
            <a:r>
              <a:rPr lang="en-US" sz="2544" dirty="0">
                <a:solidFill>
                  <a:srgbClr val="FFFFFF"/>
                </a:solidFill>
                <a:latin typeface="Nunito Italics"/>
              </a:rPr>
              <a:t>, </a:t>
            </a:r>
            <a:r>
              <a:rPr lang="en-US" sz="2544" dirty="0" err="1">
                <a:solidFill>
                  <a:srgbClr val="FFFFFF"/>
                </a:solidFill>
                <a:latin typeface="Nunito Italics"/>
              </a:rPr>
              <a:t>dengan</a:t>
            </a:r>
            <a:r>
              <a:rPr lang="en-US" sz="2544" dirty="0">
                <a:solidFill>
                  <a:srgbClr val="FFFFFF"/>
                </a:solidFill>
                <a:latin typeface="Nunito Italics"/>
              </a:rPr>
              <a:t> </a:t>
            </a:r>
            <a:r>
              <a:rPr lang="en-US" sz="2544" dirty="0" err="1">
                <a:solidFill>
                  <a:srgbClr val="FFFFFF"/>
                </a:solidFill>
                <a:latin typeface="Nunito Italics"/>
              </a:rPr>
              <a:t>memperkirakan</a:t>
            </a:r>
            <a:r>
              <a:rPr lang="en-US" sz="2544" dirty="0">
                <a:solidFill>
                  <a:srgbClr val="FFFFFF"/>
                </a:solidFill>
                <a:latin typeface="Nunito Italics"/>
              </a:rPr>
              <a:t> data yang paling </a:t>
            </a:r>
            <a:r>
              <a:rPr lang="en-US" sz="2544" dirty="0" err="1">
                <a:solidFill>
                  <a:srgbClr val="FFFFFF"/>
                </a:solidFill>
                <a:latin typeface="Nunito Italics"/>
              </a:rPr>
              <a:t>mungkin</a:t>
            </a:r>
            <a:r>
              <a:rPr lang="en-US" sz="2544" dirty="0">
                <a:solidFill>
                  <a:srgbClr val="FFFFFF"/>
                </a:solidFill>
                <a:latin typeface="Nunito Italics"/>
              </a:rPr>
              <a:t> </a:t>
            </a:r>
            <a:r>
              <a:rPr lang="en-US" sz="2544" dirty="0" err="1">
                <a:solidFill>
                  <a:srgbClr val="FFFFFF"/>
                </a:solidFill>
                <a:latin typeface="Nunito Italics"/>
              </a:rPr>
              <a:t>diterima</a:t>
            </a:r>
            <a:r>
              <a:rPr lang="en-US" sz="2544" dirty="0">
                <a:solidFill>
                  <a:srgbClr val="FFFFFF"/>
                </a:solidFill>
                <a:latin typeface="Nunito Italics"/>
              </a:rPr>
              <a:t> </a:t>
            </a:r>
            <a:r>
              <a:rPr lang="en-US" sz="2544" dirty="0" err="1">
                <a:solidFill>
                  <a:srgbClr val="FFFFFF"/>
                </a:solidFill>
                <a:latin typeface="Nunito Italics"/>
              </a:rPr>
              <a:t>berdasarkan</a:t>
            </a:r>
            <a:r>
              <a:rPr lang="en-US" sz="2544" dirty="0">
                <a:solidFill>
                  <a:srgbClr val="FFFFFF"/>
                </a:solidFill>
                <a:latin typeface="Nunito Italics"/>
              </a:rPr>
              <a:t> distance/</a:t>
            </a:r>
            <a:r>
              <a:rPr lang="en-US" sz="2544" dirty="0" err="1">
                <a:solidFill>
                  <a:srgbClr val="FFFFFF"/>
                </a:solidFill>
                <a:latin typeface="Nunito Italics"/>
              </a:rPr>
              <a:t>jarak</a:t>
            </a:r>
            <a:r>
              <a:rPr lang="en-US" sz="2544" dirty="0">
                <a:solidFill>
                  <a:srgbClr val="FFFFFF"/>
                </a:solidFill>
                <a:latin typeface="Nunito Italics"/>
              </a:rPr>
              <a:t> matrix yang paling </a:t>
            </a:r>
            <a:r>
              <a:rPr lang="en-US" sz="2544" dirty="0" err="1">
                <a:solidFill>
                  <a:srgbClr val="FFFFFF"/>
                </a:solidFill>
                <a:latin typeface="Nunito Italics"/>
              </a:rPr>
              <a:t>rendah</a:t>
            </a:r>
            <a:r>
              <a:rPr lang="en-US" sz="2544" dirty="0">
                <a:solidFill>
                  <a:srgbClr val="FFFFFF"/>
                </a:solidFill>
                <a:latin typeface="Nunito Italics"/>
              </a:rPr>
              <a:t>.</a:t>
            </a:r>
          </a:p>
          <a:p>
            <a:pPr>
              <a:lnSpc>
                <a:spcPts val="3561"/>
              </a:lnSpc>
            </a:pPr>
            <a:endParaRPr lang="en-US" sz="2544" dirty="0">
              <a:solidFill>
                <a:srgbClr val="FFFFFF"/>
              </a:solidFill>
              <a:latin typeface="Nunito Italics"/>
            </a:endParaRPr>
          </a:p>
          <a:p>
            <a:pPr>
              <a:lnSpc>
                <a:spcPts val="3561"/>
              </a:lnSpc>
              <a:spcBef>
                <a:spcPct val="0"/>
              </a:spcBef>
            </a:pPr>
            <a:endParaRPr lang="en-US" sz="2544" dirty="0">
              <a:solidFill>
                <a:srgbClr val="FFFFFF"/>
              </a:solidFill>
              <a:latin typeface="Nunito Italics"/>
            </a:endParaRPr>
          </a:p>
        </p:txBody>
      </p:sp>
      <p:pic>
        <p:nvPicPr>
          <p:cNvPr id="13" name="Picture 13"/>
          <p:cNvPicPr>
            <a:picLocks noChangeAspect="1"/>
          </p:cNvPicPr>
          <p:nvPr/>
        </p:nvPicPr>
        <p:blipFill>
          <a:blip r:embed="rId5"/>
          <a:srcRect/>
          <a:stretch>
            <a:fillRect/>
          </a:stretch>
        </p:blipFill>
        <p:spPr>
          <a:xfrm>
            <a:off x="2441772" y="1993794"/>
            <a:ext cx="1222659" cy="1384759"/>
          </a:xfrm>
          <a:prstGeom prst="rect">
            <a:avLst/>
          </a:prstGeom>
        </p:spPr>
      </p:pic>
      <p:pic>
        <p:nvPicPr>
          <p:cNvPr id="14" name="Picture 14"/>
          <p:cNvPicPr>
            <a:picLocks noChangeAspect="1"/>
          </p:cNvPicPr>
          <p:nvPr/>
        </p:nvPicPr>
        <p:blipFill>
          <a:blip r:embed="rId5"/>
          <a:srcRect/>
          <a:stretch>
            <a:fillRect/>
          </a:stretch>
        </p:blipFill>
        <p:spPr>
          <a:xfrm flipH="1">
            <a:off x="14733201" y="7997788"/>
            <a:ext cx="1222659" cy="13847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grpSp>
        <p:nvGrpSpPr>
          <p:cNvPr id="3" name="Group 3"/>
          <p:cNvGrpSpPr/>
          <p:nvPr/>
        </p:nvGrpSpPr>
        <p:grpSpPr>
          <a:xfrm>
            <a:off x="1507671" y="2674603"/>
            <a:ext cx="8427529" cy="6697488"/>
            <a:chOff x="0" y="0"/>
            <a:chExt cx="2157446" cy="1714556"/>
          </a:xfrm>
        </p:grpSpPr>
        <p:sp>
          <p:nvSpPr>
            <p:cNvPr id="4" name="Freeform 4"/>
            <p:cNvSpPr/>
            <p:nvPr/>
          </p:nvSpPr>
          <p:spPr>
            <a:xfrm>
              <a:off x="0" y="0"/>
              <a:ext cx="2157446" cy="1714556"/>
            </a:xfrm>
            <a:custGeom>
              <a:avLst/>
              <a:gdLst/>
              <a:ahLst/>
              <a:cxnLst/>
              <a:rect l="l" t="t" r="r" b="b"/>
              <a:pathLst>
                <a:path w="2157446" h="1714556">
                  <a:moveTo>
                    <a:pt x="64305" y="0"/>
                  </a:moveTo>
                  <a:lnTo>
                    <a:pt x="2093141" y="0"/>
                  </a:lnTo>
                  <a:cubicBezTo>
                    <a:pt x="2110196" y="0"/>
                    <a:pt x="2126552" y="6775"/>
                    <a:pt x="2138612" y="18835"/>
                  </a:cubicBezTo>
                  <a:cubicBezTo>
                    <a:pt x="2150671" y="30894"/>
                    <a:pt x="2157446" y="47250"/>
                    <a:pt x="2157446" y="64305"/>
                  </a:cubicBezTo>
                  <a:lnTo>
                    <a:pt x="2157446" y="1650251"/>
                  </a:lnTo>
                  <a:cubicBezTo>
                    <a:pt x="2157446" y="1667306"/>
                    <a:pt x="2150671" y="1683662"/>
                    <a:pt x="2138612" y="1695722"/>
                  </a:cubicBezTo>
                  <a:cubicBezTo>
                    <a:pt x="2126552" y="1707781"/>
                    <a:pt x="2110196" y="1714556"/>
                    <a:pt x="2093141" y="1714556"/>
                  </a:cubicBezTo>
                  <a:lnTo>
                    <a:pt x="64305" y="1714556"/>
                  </a:lnTo>
                  <a:cubicBezTo>
                    <a:pt x="28790" y="1714556"/>
                    <a:pt x="0" y="1685766"/>
                    <a:pt x="0" y="1650251"/>
                  </a:cubicBezTo>
                  <a:lnTo>
                    <a:pt x="0" y="64305"/>
                  </a:lnTo>
                  <a:cubicBezTo>
                    <a:pt x="0" y="47250"/>
                    <a:pt x="6775" y="30894"/>
                    <a:pt x="18835" y="18835"/>
                  </a:cubicBezTo>
                  <a:cubicBezTo>
                    <a:pt x="30894" y="6775"/>
                    <a:pt x="47250" y="0"/>
                    <a:pt x="64305" y="0"/>
                  </a:cubicBezTo>
                  <a:close/>
                </a:path>
              </a:pathLst>
            </a:custGeom>
            <a:solidFill>
              <a:srgbClr val="FFFFFF"/>
            </a:solidFill>
            <a:ln w="76200">
              <a:solidFill>
                <a:srgbClr val="AB81FF"/>
              </a:solidFill>
            </a:ln>
          </p:spPr>
        </p:sp>
        <p:sp>
          <p:nvSpPr>
            <p:cNvPr id="5" name="TextBox 5"/>
            <p:cNvSpPr txBox="1"/>
            <p:nvPr/>
          </p:nvSpPr>
          <p:spPr>
            <a:xfrm>
              <a:off x="0" y="-28575"/>
              <a:ext cx="812800" cy="841375"/>
            </a:xfrm>
            <a:prstGeom prst="rect">
              <a:avLst/>
            </a:prstGeom>
          </p:spPr>
          <p:txBody>
            <a:bodyPr lIns="50800" tIns="50800" rIns="50800" bIns="50800" rtlCol="0" anchor="ctr"/>
            <a:lstStyle/>
            <a:p>
              <a:pPr algn="ctr">
                <a:lnSpc>
                  <a:spcPts val="2799"/>
                </a:lnSpc>
              </a:pPr>
              <a:endParaRPr/>
            </a:p>
          </p:txBody>
        </p:sp>
      </p:grpSp>
      <p:pic>
        <p:nvPicPr>
          <p:cNvPr id="6" name="Picture 6"/>
          <p:cNvPicPr>
            <a:picLocks noChangeAspect="1"/>
          </p:cNvPicPr>
          <p:nvPr/>
        </p:nvPicPr>
        <p:blipFill>
          <a:blip r:embed="rId3"/>
          <a:srcRect/>
          <a:stretch>
            <a:fillRect/>
          </a:stretch>
        </p:blipFill>
        <p:spPr>
          <a:xfrm>
            <a:off x="1926149" y="3126911"/>
            <a:ext cx="7436998" cy="5778062"/>
          </a:xfrm>
          <a:prstGeom prst="rect">
            <a:avLst/>
          </a:prstGeom>
        </p:spPr>
      </p:pic>
      <p:pic>
        <p:nvPicPr>
          <p:cNvPr id="7" name="Picture 7"/>
          <p:cNvPicPr>
            <a:picLocks noChangeAspect="1"/>
          </p:cNvPicPr>
          <p:nvPr/>
        </p:nvPicPr>
        <p:blipFill>
          <a:blip r:embed="rId4"/>
          <a:srcRect/>
          <a:stretch>
            <a:fillRect/>
          </a:stretch>
        </p:blipFill>
        <p:spPr>
          <a:xfrm rot="1402979">
            <a:off x="973785" y="8916481"/>
            <a:ext cx="2057128" cy="701995"/>
          </a:xfrm>
          <a:prstGeom prst="rect">
            <a:avLst/>
          </a:prstGeom>
        </p:spPr>
      </p:pic>
      <p:pic>
        <p:nvPicPr>
          <p:cNvPr id="8" name="Picture 8"/>
          <p:cNvPicPr>
            <a:picLocks noChangeAspect="1"/>
          </p:cNvPicPr>
          <p:nvPr/>
        </p:nvPicPr>
        <p:blipFill>
          <a:blip r:embed="rId4"/>
          <a:srcRect/>
          <a:stretch>
            <a:fillRect/>
          </a:stretch>
        </p:blipFill>
        <p:spPr>
          <a:xfrm rot="2255467" flipH="1" flipV="1">
            <a:off x="8515057" y="2510000"/>
            <a:ext cx="2057128" cy="701995"/>
          </a:xfrm>
          <a:prstGeom prst="rect">
            <a:avLst/>
          </a:prstGeom>
        </p:spPr>
      </p:pic>
      <p:sp>
        <p:nvSpPr>
          <p:cNvPr id="9" name="TextBox 9"/>
          <p:cNvSpPr txBox="1"/>
          <p:nvPr/>
        </p:nvSpPr>
        <p:spPr>
          <a:xfrm>
            <a:off x="1411044" y="743225"/>
            <a:ext cx="11835673" cy="1057275"/>
          </a:xfrm>
          <a:prstGeom prst="rect">
            <a:avLst/>
          </a:prstGeom>
        </p:spPr>
        <p:txBody>
          <a:bodyPr lIns="0" tIns="0" rIns="0" bIns="0" rtlCol="0" anchor="t">
            <a:spAutoFit/>
          </a:bodyPr>
          <a:lstStyle/>
          <a:p>
            <a:pPr>
              <a:lnSpc>
                <a:spcPts val="8399"/>
              </a:lnSpc>
            </a:pPr>
            <a:r>
              <a:rPr lang="en-US" sz="6999">
                <a:solidFill>
                  <a:srgbClr val="FFFFFF"/>
                </a:solidFill>
                <a:latin typeface="Mokoto"/>
              </a:rPr>
              <a:t>DIAGRAM TRELLIS</a:t>
            </a:r>
          </a:p>
        </p:txBody>
      </p:sp>
      <p:pic>
        <p:nvPicPr>
          <p:cNvPr id="10" name="Picture 10"/>
          <p:cNvPicPr>
            <a:picLocks noChangeAspect="1"/>
          </p:cNvPicPr>
          <p:nvPr/>
        </p:nvPicPr>
        <p:blipFill>
          <a:blip r:embed="rId5"/>
          <a:srcRect/>
          <a:stretch>
            <a:fillRect/>
          </a:stretch>
        </p:blipFill>
        <p:spPr>
          <a:xfrm>
            <a:off x="10959486" y="2191349"/>
            <a:ext cx="6014907" cy="7363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grpSp>
        <p:nvGrpSpPr>
          <p:cNvPr id="3" name="Group 3"/>
          <p:cNvGrpSpPr/>
          <p:nvPr/>
        </p:nvGrpSpPr>
        <p:grpSpPr>
          <a:xfrm>
            <a:off x="2002349" y="2097399"/>
            <a:ext cx="7299209" cy="7444503"/>
            <a:chOff x="0" y="0"/>
            <a:chExt cx="1652531" cy="1685426"/>
          </a:xfrm>
        </p:grpSpPr>
        <p:sp>
          <p:nvSpPr>
            <p:cNvPr id="4" name="Freeform 4"/>
            <p:cNvSpPr/>
            <p:nvPr/>
          </p:nvSpPr>
          <p:spPr>
            <a:xfrm>
              <a:off x="0" y="0"/>
              <a:ext cx="1652531" cy="1685426"/>
            </a:xfrm>
            <a:custGeom>
              <a:avLst/>
              <a:gdLst/>
              <a:ahLst/>
              <a:cxnLst/>
              <a:rect l="l" t="t" r="r" b="b"/>
              <a:pathLst>
                <a:path w="1652531" h="1685426">
                  <a:moveTo>
                    <a:pt x="74246" y="0"/>
                  </a:moveTo>
                  <a:lnTo>
                    <a:pt x="1578286" y="0"/>
                  </a:lnTo>
                  <a:cubicBezTo>
                    <a:pt x="1619290" y="0"/>
                    <a:pt x="1652531" y="33241"/>
                    <a:pt x="1652531" y="74246"/>
                  </a:cubicBezTo>
                  <a:lnTo>
                    <a:pt x="1652531" y="1611180"/>
                  </a:lnTo>
                  <a:cubicBezTo>
                    <a:pt x="1652531" y="1652185"/>
                    <a:pt x="1619290" y="1685426"/>
                    <a:pt x="1578286" y="1685426"/>
                  </a:cubicBezTo>
                  <a:lnTo>
                    <a:pt x="74246" y="1685426"/>
                  </a:lnTo>
                  <a:cubicBezTo>
                    <a:pt x="33241" y="1685426"/>
                    <a:pt x="0" y="1652185"/>
                    <a:pt x="0" y="1611180"/>
                  </a:cubicBezTo>
                  <a:lnTo>
                    <a:pt x="0" y="74246"/>
                  </a:lnTo>
                  <a:cubicBezTo>
                    <a:pt x="0" y="33241"/>
                    <a:pt x="33241" y="0"/>
                    <a:pt x="74246" y="0"/>
                  </a:cubicBezTo>
                  <a:close/>
                </a:path>
              </a:pathLst>
            </a:custGeom>
            <a:solidFill>
              <a:srgbClr val="FFFFFF"/>
            </a:solidFill>
            <a:ln w="76200">
              <a:solidFill>
                <a:srgbClr val="AB81FF"/>
              </a:solidFill>
            </a:ln>
          </p:spPr>
        </p:sp>
        <p:sp>
          <p:nvSpPr>
            <p:cNvPr id="5" name="TextBox 5"/>
            <p:cNvSpPr txBox="1"/>
            <p:nvPr/>
          </p:nvSpPr>
          <p:spPr>
            <a:xfrm>
              <a:off x="0" y="-28575"/>
              <a:ext cx="812800" cy="841375"/>
            </a:xfrm>
            <a:prstGeom prst="rect">
              <a:avLst/>
            </a:prstGeom>
          </p:spPr>
          <p:txBody>
            <a:bodyPr lIns="50800" tIns="50800" rIns="50800" bIns="50800" rtlCol="0" anchor="ctr"/>
            <a:lstStyle/>
            <a:p>
              <a:pPr algn="ctr">
                <a:lnSpc>
                  <a:spcPts val="2799"/>
                </a:lnSpc>
              </a:pPr>
              <a:endParaRPr/>
            </a:p>
          </p:txBody>
        </p:sp>
      </p:grpSp>
      <p:pic>
        <p:nvPicPr>
          <p:cNvPr id="6" name="Picture 6"/>
          <p:cNvPicPr>
            <a:picLocks noChangeAspect="1"/>
          </p:cNvPicPr>
          <p:nvPr/>
        </p:nvPicPr>
        <p:blipFill>
          <a:blip r:embed="rId3"/>
          <a:srcRect/>
          <a:stretch>
            <a:fillRect/>
          </a:stretch>
        </p:blipFill>
        <p:spPr>
          <a:xfrm rot="1402979">
            <a:off x="1465873" y="9109846"/>
            <a:ext cx="2057128" cy="701995"/>
          </a:xfrm>
          <a:prstGeom prst="rect">
            <a:avLst/>
          </a:prstGeom>
        </p:spPr>
      </p:pic>
      <p:pic>
        <p:nvPicPr>
          <p:cNvPr id="7" name="Picture 7"/>
          <p:cNvPicPr>
            <a:picLocks noChangeAspect="1"/>
          </p:cNvPicPr>
          <p:nvPr/>
        </p:nvPicPr>
        <p:blipFill>
          <a:blip r:embed="rId3"/>
          <a:srcRect/>
          <a:stretch>
            <a:fillRect/>
          </a:stretch>
        </p:blipFill>
        <p:spPr>
          <a:xfrm rot="2255467" flipH="1" flipV="1">
            <a:off x="7986526" y="1981469"/>
            <a:ext cx="2057128" cy="701995"/>
          </a:xfrm>
          <a:prstGeom prst="rect">
            <a:avLst/>
          </a:prstGeom>
        </p:spPr>
      </p:pic>
      <p:pic>
        <p:nvPicPr>
          <p:cNvPr id="8" name="Picture 8"/>
          <p:cNvPicPr>
            <a:picLocks noChangeAspect="1"/>
          </p:cNvPicPr>
          <p:nvPr/>
        </p:nvPicPr>
        <p:blipFill>
          <a:blip r:embed="rId4"/>
          <a:srcRect/>
          <a:stretch>
            <a:fillRect/>
          </a:stretch>
        </p:blipFill>
        <p:spPr>
          <a:xfrm>
            <a:off x="2604270" y="2389616"/>
            <a:ext cx="6228718" cy="7053714"/>
          </a:xfrm>
          <a:prstGeom prst="rect">
            <a:avLst/>
          </a:prstGeom>
        </p:spPr>
      </p:pic>
      <p:sp>
        <p:nvSpPr>
          <p:cNvPr id="9" name="TextBox 9"/>
          <p:cNvSpPr txBox="1"/>
          <p:nvPr/>
        </p:nvSpPr>
        <p:spPr>
          <a:xfrm>
            <a:off x="1411044" y="733700"/>
            <a:ext cx="9939923" cy="897454"/>
          </a:xfrm>
          <a:prstGeom prst="rect">
            <a:avLst/>
          </a:prstGeom>
        </p:spPr>
        <p:txBody>
          <a:bodyPr lIns="0" tIns="0" rIns="0" bIns="0" rtlCol="0" anchor="t">
            <a:spAutoFit/>
          </a:bodyPr>
          <a:lstStyle/>
          <a:p>
            <a:pPr>
              <a:lnSpc>
                <a:spcPts val="7054"/>
              </a:lnSpc>
            </a:pPr>
            <a:r>
              <a:rPr lang="en-US" sz="5878">
                <a:solidFill>
                  <a:srgbClr val="FFFFFF"/>
                </a:solidFill>
                <a:latin typeface="Mokoto"/>
              </a:rPr>
              <a:t>DIAGRAM TRELLIS</a:t>
            </a:r>
          </a:p>
        </p:txBody>
      </p:sp>
      <p:pic>
        <p:nvPicPr>
          <p:cNvPr id="10" name="Picture 10"/>
          <p:cNvPicPr>
            <a:picLocks noChangeAspect="1"/>
          </p:cNvPicPr>
          <p:nvPr/>
        </p:nvPicPr>
        <p:blipFill>
          <a:blip r:embed="rId5"/>
          <a:srcRect/>
          <a:stretch>
            <a:fillRect/>
          </a:stretch>
        </p:blipFill>
        <p:spPr>
          <a:xfrm>
            <a:off x="10675884" y="2178458"/>
            <a:ext cx="6014907" cy="7363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srcRect t="1540" b="1540"/>
          <a:stretch>
            <a:fillRect/>
          </a:stretch>
        </p:blipFill>
        <p:spPr>
          <a:xfrm>
            <a:off x="12020311" y="769007"/>
            <a:ext cx="5873794" cy="8240468"/>
          </a:xfrm>
          <a:prstGeom prst="rect">
            <a:avLst/>
          </a:prstGeom>
        </p:spPr>
      </p:pic>
      <p:sp>
        <p:nvSpPr>
          <p:cNvPr id="4" name="TextBox 4"/>
          <p:cNvSpPr txBox="1"/>
          <p:nvPr/>
        </p:nvSpPr>
        <p:spPr>
          <a:xfrm>
            <a:off x="869621" y="769007"/>
            <a:ext cx="10456334" cy="2114550"/>
          </a:xfrm>
          <a:prstGeom prst="rect">
            <a:avLst/>
          </a:prstGeom>
        </p:spPr>
        <p:txBody>
          <a:bodyPr lIns="0" tIns="0" rIns="0" bIns="0" rtlCol="0" anchor="t">
            <a:spAutoFit/>
          </a:bodyPr>
          <a:lstStyle/>
          <a:p>
            <a:pPr>
              <a:lnSpc>
                <a:spcPts val="8399"/>
              </a:lnSpc>
            </a:pPr>
            <a:r>
              <a:rPr lang="en-US" sz="6999">
                <a:solidFill>
                  <a:srgbClr val="FFFFFF"/>
                </a:solidFill>
                <a:latin typeface="Mokoto"/>
              </a:rPr>
              <a:t>KONSEP VITERBI DECODING</a:t>
            </a:r>
          </a:p>
        </p:txBody>
      </p:sp>
      <p:grpSp>
        <p:nvGrpSpPr>
          <p:cNvPr id="5" name="Group 5"/>
          <p:cNvGrpSpPr/>
          <p:nvPr/>
        </p:nvGrpSpPr>
        <p:grpSpPr>
          <a:xfrm>
            <a:off x="869621" y="3040634"/>
            <a:ext cx="11150690" cy="6467185"/>
            <a:chOff x="0" y="0"/>
            <a:chExt cx="2854575" cy="1655599"/>
          </a:xfrm>
        </p:grpSpPr>
        <p:sp>
          <p:nvSpPr>
            <p:cNvPr id="6" name="Freeform 6"/>
            <p:cNvSpPr/>
            <p:nvPr/>
          </p:nvSpPr>
          <p:spPr>
            <a:xfrm>
              <a:off x="0" y="0"/>
              <a:ext cx="2854575" cy="1655599"/>
            </a:xfrm>
            <a:custGeom>
              <a:avLst/>
              <a:gdLst/>
              <a:ahLst/>
              <a:cxnLst/>
              <a:rect l="l" t="t" r="r" b="b"/>
              <a:pathLst>
                <a:path w="2854575" h="1655599">
                  <a:moveTo>
                    <a:pt x="48601" y="0"/>
                  </a:moveTo>
                  <a:lnTo>
                    <a:pt x="2805974" y="0"/>
                  </a:lnTo>
                  <a:cubicBezTo>
                    <a:pt x="2818864" y="0"/>
                    <a:pt x="2831226" y="5120"/>
                    <a:pt x="2840340" y="14235"/>
                  </a:cubicBezTo>
                  <a:cubicBezTo>
                    <a:pt x="2849455" y="23349"/>
                    <a:pt x="2854575" y="35711"/>
                    <a:pt x="2854575" y="48601"/>
                  </a:cubicBezTo>
                  <a:lnTo>
                    <a:pt x="2854575" y="1606998"/>
                  </a:lnTo>
                  <a:cubicBezTo>
                    <a:pt x="2854575" y="1619888"/>
                    <a:pt x="2849455" y="1632249"/>
                    <a:pt x="2840340" y="1641364"/>
                  </a:cubicBezTo>
                  <a:cubicBezTo>
                    <a:pt x="2831226" y="1650478"/>
                    <a:pt x="2818864" y="1655599"/>
                    <a:pt x="2805974" y="1655599"/>
                  </a:cubicBezTo>
                  <a:lnTo>
                    <a:pt x="48601" y="1655599"/>
                  </a:lnTo>
                  <a:cubicBezTo>
                    <a:pt x="35711" y="1655599"/>
                    <a:pt x="23349" y="1650478"/>
                    <a:pt x="14235" y="1641364"/>
                  </a:cubicBezTo>
                  <a:cubicBezTo>
                    <a:pt x="5120" y="1632249"/>
                    <a:pt x="0" y="1619888"/>
                    <a:pt x="0" y="1606998"/>
                  </a:cubicBezTo>
                  <a:lnTo>
                    <a:pt x="0" y="48601"/>
                  </a:lnTo>
                  <a:cubicBezTo>
                    <a:pt x="0" y="35711"/>
                    <a:pt x="5120" y="23349"/>
                    <a:pt x="14235" y="14235"/>
                  </a:cubicBezTo>
                  <a:cubicBezTo>
                    <a:pt x="23349" y="5120"/>
                    <a:pt x="35711" y="0"/>
                    <a:pt x="48601" y="0"/>
                  </a:cubicBezTo>
                  <a:close/>
                </a:path>
              </a:pathLst>
            </a:custGeom>
            <a:solidFill>
              <a:srgbClr val="231980"/>
            </a:solidFill>
            <a:ln w="76200">
              <a:solidFill>
                <a:srgbClr val="FFFFFF"/>
              </a:solidFill>
            </a:ln>
          </p:spPr>
        </p:sp>
        <p:sp>
          <p:nvSpPr>
            <p:cNvPr id="7" name="TextBox 7"/>
            <p:cNvSpPr txBox="1"/>
            <p:nvPr/>
          </p:nvSpPr>
          <p:spPr>
            <a:xfrm>
              <a:off x="0" y="-28575"/>
              <a:ext cx="812800" cy="841375"/>
            </a:xfrm>
            <a:prstGeom prst="rect">
              <a:avLst/>
            </a:prstGeom>
          </p:spPr>
          <p:txBody>
            <a:bodyPr lIns="50800" tIns="50800" rIns="50800" bIns="50800" rtlCol="0" anchor="ctr"/>
            <a:lstStyle/>
            <a:p>
              <a:pPr algn="ctr">
                <a:lnSpc>
                  <a:spcPts val="2799"/>
                </a:lnSpc>
              </a:pPr>
              <a:endParaRPr/>
            </a:p>
          </p:txBody>
        </p:sp>
      </p:grpSp>
      <p:pic>
        <p:nvPicPr>
          <p:cNvPr id="8" name="Picture 8"/>
          <p:cNvPicPr>
            <a:picLocks noChangeAspect="1"/>
          </p:cNvPicPr>
          <p:nvPr/>
        </p:nvPicPr>
        <p:blipFill>
          <a:blip r:embed="rId4"/>
          <a:srcRect/>
          <a:stretch>
            <a:fillRect/>
          </a:stretch>
        </p:blipFill>
        <p:spPr>
          <a:xfrm flipH="1" flipV="1">
            <a:off x="10553703" y="2475020"/>
            <a:ext cx="2105498" cy="2102866"/>
          </a:xfrm>
          <a:prstGeom prst="rect">
            <a:avLst/>
          </a:prstGeom>
        </p:spPr>
      </p:pic>
      <p:pic>
        <p:nvPicPr>
          <p:cNvPr id="9" name="Picture 9"/>
          <p:cNvPicPr>
            <a:picLocks noChangeAspect="1"/>
          </p:cNvPicPr>
          <p:nvPr/>
        </p:nvPicPr>
        <p:blipFill>
          <a:blip r:embed="rId4"/>
          <a:srcRect/>
          <a:stretch>
            <a:fillRect/>
          </a:stretch>
        </p:blipFill>
        <p:spPr>
          <a:xfrm>
            <a:off x="406535" y="8064861"/>
            <a:ext cx="1891592" cy="1889228"/>
          </a:xfrm>
          <a:prstGeom prst="rect">
            <a:avLst/>
          </a:prstGeom>
        </p:spPr>
      </p:pic>
      <p:sp>
        <p:nvSpPr>
          <p:cNvPr id="10" name="TextBox 10"/>
          <p:cNvSpPr txBox="1"/>
          <p:nvPr/>
        </p:nvSpPr>
        <p:spPr>
          <a:xfrm>
            <a:off x="1241868" y="3740359"/>
            <a:ext cx="10431265" cy="5685971"/>
          </a:xfrm>
          <a:prstGeom prst="rect">
            <a:avLst/>
          </a:prstGeom>
        </p:spPr>
        <p:txBody>
          <a:bodyPr lIns="0" tIns="0" rIns="0" bIns="0" rtlCol="0" anchor="t">
            <a:spAutoFit/>
          </a:bodyPr>
          <a:lstStyle/>
          <a:p>
            <a:pPr marL="581070" lvl="1" indent="-290535">
              <a:lnSpc>
                <a:spcPts val="3767"/>
              </a:lnSpc>
              <a:buFont typeface="Arial"/>
              <a:buChar char="•"/>
            </a:pPr>
            <a:r>
              <a:rPr lang="en-US" sz="2691" dirty="0">
                <a:solidFill>
                  <a:srgbClr val="FFFFFF"/>
                </a:solidFill>
                <a:latin typeface="Nunito Italics"/>
              </a:rPr>
              <a:t>Cari </a:t>
            </a:r>
            <a:r>
              <a:rPr lang="en-US" sz="2691" dirty="0" err="1">
                <a:solidFill>
                  <a:srgbClr val="FFFFFF"/>
                </a:solidFill>
                <a:latin typeface="Nunito Italics"/>
              </a:rPr>
              <a:t>nilai</a:t>
            </a:r>
            <a:r>
              <a:rPr lang="en-US" sz="2691" dirty="0">
                <a:solidFill>
                  <a:srgbClr val="FFFFFF"/>
                </a:solidFill>
                <a:latin typeface="Nunito Italics"/>
              </a:rPr>
              <a:t> Hamming Distance </a:t>
            </a:r>
            <a:r>
              <a:rPr lang="en-US" sz="2691" dirty="0" err="1">
                <a:solidFill>
                  <a:srgbClr val="FFFFFF"/>
                </a:solidFill>
                <a:latin typeface="Nunito Italics"/>
              </a:rPr>
              <a:t>dengan</a:t>
            </a:r>
            <a:r>
              <a:rPr lang="en-US" sz="2691" dirty="0">
                <a:solidFill>
                  <a:srgbClr val="FFFFFF"/>
                </a:solidFill>
                <a:latin typeface="Nunito Italics"/>
              </a:rPr>
              <a:t> </a:t>
            </a:r>
            <a:r>
              <a:rPr lang="en-US" sz="2691" dirty="0" err="1">
                <a:solidFill>
                  <a:srgbClr val="FFFFFF"/>
                </a:solidFill>
                <a:latin typeface="Nunito Italics"/>
              </a:rPr>
              <a:t>menghitung</a:t>
            </a:r>
            <a:r>
              <a:rPr lang="en-US" sz="2691" dirty="0">
                <a:solidFill>
                  <a:srgbClr val="FFFFFF"/>
                </a:solidFill>
                <a:latin typeface="Nunito Italics"/>
              </a:rPr>
              <a:t> </a:t>
            </a:r>
            <a:r>
              <a:rPr lang="en-US" sz="2691" dirty="0" err="1">
                <a:solidFill>
                  <a:srgbClr val="FFFFFF"/>
                </a:solidFill>
                <a:latin typeface="Nunito Italics"/>
              </a:rPr>
              <a:t>perbedaan</a:t>
            </a:r>
            <a:r>
              <a:rPr lang="en-US" sz="2691" dirty="0">
                <a:solidFill>
                  <a:srgbClr val="FFFFFF"/>
                </a:solidFill>
                <a:latin typeface="Nunito Italics"/>
              </a:rPr>
              <a:t> bit </a:t>
            </a:r>
            <a:r>
              <a:rPr lang="en-US" sz="2691" dirty="0" err="1">
                <a:solidFill>
                  <a:srgbClr val="FFFFFF"/>
                </a:solidFill>
                <a:latin typeface="Nunito Italics"/>
              </a:rPr>
              <a:t>antara</a:t>
            </a:r>
            <a:r>
              <a:rPr lang="en-US" sz="2691" dirty="0">
                <a:solidFill>
                  <a:srgbClr val="FFFFFF"/>
                </a:solidFill>
                <a:latin typeface="Nunito Italics"/>
              </a:rPr>
              <a:t> encoder input dan output. </a:t>
            </a:r>
          </a:p>
          <a:p>
            <a:pPr marL="581070" lvl="1" indent="-290535">
              <a:lnSpc>
                <a:spcPts val="3767"/>
              </a:lnSpc>
              <a:buFont typeface="Arial"/>
              <a:buChar char="•"/>
            </a:pPr>
            <a:r>
              <a:rPr lang="en-US" sz="2691" dirty="0">
                <a:solidFill>
                  <a:srgbClr val="FFFFFF"/>
                </a:solidFill>
                <a:latin typeface="Nunito Italics"/>
              </a:rPr>
              <a:t>Isi </a:t>
            </a:r>
            <a:r>
              <a:rPr lang="en-US" sz="2691" dirty="0" err="1">
                <a:solidFill>
                  <a:srgbClr val="FFFFFF"/>
                </a:solidFill>
                <a:latin typeface="Nunito Italics"/>
              </a:rPr>
              <a:t>nilai</a:t>
            </a:r>
            <a:r>
              <a:rPr lang="en-US" sz="2691" dirty="0">
                <a:solidFill>
                  <a:srgbClr val="FFFFFF"/>
                </a:solidFill>
                <a:latin typeface="Nunito Italics"/>
              </a:rPr>
              <a:t> node </a:t>
            </a:r>
            <a:r>
              <a:rPr lang="en-US" sz="2691" dirty="0" err="1">
                <a:solidFill>
                  <a:srgbClr val="FFFFFF"/>
                </a:solidFill>
                <a:latin typeface="Nunito Italics"/>
              </a:rPr>
              <a:t>sekarang</a:t>
            </a:r>
            <a:r>
              <a:rPr lang="en-US" sz="2691" dirty="0">
                <a:solidFill>
                  <a:srgbClr val="FFFFFF"/>
                </a:solidFill>
                <a:latin typeface="Nunito Italics"/>
              </a:rPr>
              <a:t> </a:t>
            </a:r>
            <a:r>
              <a:rPr lang="en-US" sz="2691" dirty="0" err="1">
                <a:solidFill>
                  <a:srgbClr val="FFFFFF"/>
                </a:solidFill>
                <a:latin typeface="Nunito Italics"/>
              </a:rPr>
              <a:t>dengan</a:t>
            </a:r>
            <a:r>
              <a:rPr lang="en-US" sz="2691" dirty="0">
                <a:solidFill>
                  <a:srgbClr val="FFFFFF"/>
                </a:solidFill>
                <a:latin typeface="Nunito Italics"/>
              </a:rPr>
              <a:t> </a:t>
            </a:r>
            <a:r>
              <a:rPr lang="en-US" sz="2691" dirty="0" err="1">
                <a:solidFill>
                  <a:srgbClr val="FFFFFF"/>
                </a:solidFill>
                <a:latin typeface="Nunito Italics"/>
              </a:rPr>
              <a:t>nilai</a:t>
            </a:r>
            <a:r>
              <a:rPr lang="en-US" sz="2691" dirty="0">
                <a:solidFill>
                  <a:srgbClr val="FFFFFF"/>
                </a:solidFill>
                <a:latin typeface="Nunito Italics"/>
              </a:rPr>
              <a:t> Hamming Distance </a:t>
            </a:r>
            <a:r>
              <a:rPr lang="en-US" sz="2691" dirty="0" err="1">
                <a:solidFill>
                  <a:srgbClr val="FFFFFF"/>
                </a:solidFill>
                <a:latin typeface="Nunito Italics"/>
              </a:rPr>
              <a:t>sebelumnya</a:t>
            </a:r>
            <a:r>
              <a:rPr lang="en-US" sz="2691" dirty="0">
                <a:solidFill>
                  <a:srgbClr val="FFFFFF"/>
                </a:solidFill>
                <a:latin typeface="Nunito Italics"/>
              </a:rPr>
              <a:t> </a:t>
            </a:r>
            <a:r>
              <a:rPr lang="en-US" sz="2691" dirty="0" err="1">
                <a:solidFill>
                  <a:srgbClr val="FFFFFF"/>
                </a:solidFill>
                <a:latin typeface="Nunito Italics"/>
              </a:rPr>
              <a:t>kemudian</a:t>
            </a:r>
            <a:r>
              <a:rPr lang="en-US" sz="2691" dirty="0">
                <a:solidFill>
                  <a:srgbClr val="FFFFFF"/>
                </a:solidFill>
                <a:latin typeface="Nunito Italics"/>
              </a:rPr>
              <a:t> </a:t>
            </a:r>
            <a:r>
              <a:rPr lang="en-US" sz="2691" dirty="0" err="1">
                <a:solidFill>
                  <a:srgbClr val="FFFFFF"/>
                </a:solidFill>
                <a:latin typeface="Nunito Italics"/>
              </a:rPr>
              <a:t>ditambah</a:t>
            </a:r>
            <a:r>
              <a:rPr lang="en-US" sz="2691" dirty="0">
                <a:solidFill>
                  <a:srgbClr val="FFFFFF"/>
                </a:solidFill>
                <a:latin typeface="Nunito Italics"/>
              </a:rPr>
              <a:t> </a:t>
            </a:r>
            <a:r>
              <a:rPr lang="en-US" sz="2691" dirty="0" err="1">
                <a:solidFill>
                  <a:srgbClr val="FFFFFF"/>
                </a:solidFill>
                <a:latin typeface="Nunito Italics"/>
              </a:rPr>
              <a:t>dengan</a:t>
            </a:r>
            <a:r>
              <a:rPr lang="en-US" sz="2691" dirty="0">
                <a:solidFill>
                  <a:srgbClr val="FFFFFF"/>
                </a:solidFill>
                <a:latin typeface="Nunito Italics"/>
              </a:rPr>
              <a:t> </a:t>
            </a:r>
            <a:r>
              <a:rPr lang="en-US" sz="2691" dirty="0" err="1">
                <a:solidFill>
                  <a:srgbClr val="FFFFFF"/>
                </a:solidFill>
                <a:latin typeface="Nunito Italics"/>
              </a:rPr>
              <a:t>nilai</a:t>
            </a:r>
            <a:r>
              <a:rPr lang="en-US" sz="2691" dirty="0">
                <a:solidFill>
                  <a:srgbClr val="FFFFFF"/>
                </a:solidFill>
                <a:latin typeface="Nunito Italics"/>
              </a:rPr>
              <a:t> Hamming Distance yang </a:t>
            </a:r>
            <a:r>
              <a:rPr lang="en-US" sz="2691" dirty="0" err="1">
                <a:solidFill>
                  <a:srgbClr val="FFFFFF"/>
                </a:solidFill>
                <a:latin typeface="Nunito Italics"/>
              </a:rPr>
              <a:t>baru</a:t>
            </a:r>
            <a:r>
              <a:rPr lang="en-US" sz="2691" dirty="0">
                <a:solidFill>
                  <a:srgbClr val="FFFFFF"/>
                </a:solidFill>
                <a:latin typeface="Nunito Italics"/>
              </a:rPr>
              <a:t>. </a:t>
            </a:r>
          </a:p>
          <a:p>
            <a:pPr marL="581070" lvl="1" indent="-290535">
              <a:lnSpc>
                <a:spcPts val="3767"/>
              </a:lnSpc>
              <a:buFont typeface="Arial"/>
              <a:buChar char="•"/>
            </a:pPr>
            <a:r>
              <a:rPr lang="en-US" sz="2691" dirty="0" err="1">
                <a:solidFill>
                  <a:srgbClr val="FFFFFF"/>
                </a:solidFill>
                <a:latin typeface="Nunito Italics"/>
              </a:rPr>
              <a:t>Pilih</a:t>
            </a:r>
            <a:r>
              <a:rPr lang="en-US" sz="2691" dirty="0">
                <a:solidFill>
                  <a:srgbClr val="FFFFFF"/>
                </a:solidFill>
                <a:latin typeface="Nunito Italics"/>
              </a:rPr>
              <a:t> </a:t>
            </a:r>
            <a:r>
              <a:rPr lang="en-US" sz="2691" dirty="0" err="1">
                <a:solidFill>
                  <a:srgbClr val="FFFFFF"/>
                </a:solidFill>
                <a:latin typeface="Nunito Italics"/>
              </a:rPr>
              <a:t>jalur</a:t>
            </a:r>
            <a:r>
              <a:rPr lang="en-US" sz="2691" dirty="0">
                <a:solidFill>
                  <a:srgbClr val="FFFFFF"/>
                </a:solidFill>
                <a:latin typeface="Nunito Italics"/>
              </a:rPr>
              <a:t> </a:t>
            </a:r>
            <a:r>
              <a:rPr lang="en-US" sz="2691" dirty="0" err="1">
                <a:solidFill>
                  <a:srgbClr val="FFFFFF"/>
                </a:solidFill>
                <a:latin typeface="Nunito Italics"/>
              </a:rPr>
              <a:t>dengan</a:t>
            </a:r>
            <a:r>
              <a:rPr lang="en-US" sz="2691" dirty="0">
                <a:solidFill>
                  <a:srgbClr val="FFFFFF"/>
                </a:solidFill>
                <a:latin typeface="Nunito Italics"/>
              </a:rPr>
              <a:t> </a:t>
            </a:r>
            <a:r>
              <a:rPr lang="en-US" sz="2691" dirty="0" err="1">
                <a:solidFill>
                  <a:srgbClr val="FFFFFF"/>
                </a:solidFill>
                <a:latin typeface="Nunito Italics"/>
              </a:rPr>
              <a:t>nilai</a:t>
            </a:r>
            <a:r>
              <a:rPr lang="en-US" sz="2691" dirty="0">
                <a:solidFill>
                  <a:srgbClr val="FFFFFF"/>
                </a:solidFill>
                <a:latin typeface="Nunito Italics"/>
              </a:rPr>
              <a:t> node yang </a:t>
            </a:r>
            <a:r>
              <a:rPr lang="en-US" sz="2691" dirty="0" err="1">
                <a:solidFill>
                  <a:srgbClr val="FFFFFF"/>
                </a:solidFill>
                <a:latin typeface="Nunito Italics"/>
              </a:rPr>
              <a:t>terkecil</a:t>
            </a:r>
            <a:r>
              <a:rPr lang="en-US" sz="2691" dirty="0">
                <a:solidFill>
                  <a:srgbClr val="FFFFFF"/>
                </a:solidFill>
                <a:latin typeface="Nunito Italics"/>
              </a:rPr>
              <a:t>. </a:t>
            </a:r>
          </a:p>
          <a:p>
            <a:pPr marL="581070" lvl="1" indent="-290535">
              <a:lnSpc>
                <a:spcPts val="3767"/>
              </a:lnSpc>
              <a:buFont typeface="Arial"/>
              <a:buChar char="•"/>
            </a:pPr>
            <a:r>
              <a:rPr lang="en-US" sz="2691" dirty="0">
                <a:solidFill>
                  <a:srgbClr val="FFFFFF"/>
                </a:solidFill>
                <a:latin typeface="Nunito Italics"/>
              </a:rPr>
              <a:t>Jika </a:t>
            </a:r>
            <a:r>
              <a:rPr lang="en-US" sz="2691" dirty="0" err="1">
                <a:solidFill>
                  <a:srgbClr val="FFFFFF"/>
                </a:solidFill>
                <a:latin typeface="Nunito Italics"/>
              </a:rPr>
              <a:t>nilainya</a:t>
            </a:r>
            <a:r>
              <a:rPr lang="en-US" sz="2691" dirty="0">
                <a:solidFill>
                  <a:srgbClr val="FFFFFF"/>
                </a:solidFill>
                <a:latin typeface="Nunito Italics"/>
              </a:rPr>
              <a:t> </a:t>
            </a:r>
            <a:r>
              <a:rPr lang="en-US" sz="2691" dirty="0" err="1">
                <a:solidFill>
                  <a:srgbClr val="FFFFFF"/>
                </a:solidFill>
                <a:latin typeface="Nunito Italics"/>
              </a:rPr>
              <a:t>sama</a:t>
            </a:r>
            <a:r>
              <a:rPr lang="en-US" sz="2691" dirty="0">
                <a:solidFill>
                  <a:srgbClr val="FFFFFF"/>
                </a:solidFill>
                <a:latin typeface="Nunito Italics"/>
              </a:rPr>
              <a:t> </a:t>
            </a:r>
            <a:r>
              <a:rPr lang="en-US" sz="2691" dirty="0" err="1">
                <a:solidFill>
                  <a:srgbClr val="FFFFFF"/>
                </a:solidFill>
                <a:latin typeface="Nunito Italics"/>
              </a:rPr>
              <a:t>besar</a:t>
            </a:r>
            <a:r>
              <a:rPr lang="en-US" sz="2691" dirty="0">
                <a:solidFill>
                  <a:srgbClr val="FFFFFF"/>
                </a:solidFill>
                <a:latin typeface="Nunito Italics"/>
              </a:rPr>
              <a:t> </a:t>
            </a:r>
            <a:r>
              <a:rPr lang="en-US" sz="2691" dirty="0" err="1">
                <a:solidFill>
                  <a:srgbClr val="FFFFFF"/>
                </a:solidFill>
                <a:latin typeface="Nunito Italics"/>
              </a:rPr>
              <a:t>maka</a:t>
            </a:r>
            <a:r>
              <a:rPr lang="en-US" sz="2691" dirty="0">
                <a:solidFill>
                  <a:srgbClr val="FFFFFF"/>
                </a:solidFill>
                <a:latin typeface="Nunito Italics"/>
              </a:rPr>
              <a:t> </a:t>
            </a:r>
            <a:r>
              <a:rPr lang="en-US" sz="2691" dirty="0" err="1">
                <a:solidFill>
                  <a:srgbClr val="FFFFFF"/>
                </a:solidFill>
                <a:latin typeface="Nunito Italics"/>
              </a:rPr>
              <a:t>ulangi</a:t>
            </a:r>
            <a:r>
              <a:rPr lang="en-US" sz="2691" dirty="0">
                <a:solidFill>
                  <a:srgbClr val="FFFFFF"/>
                </a:solidFill>
                <a:latin typeface="Nunito Italics"/>
              </a:rPr>
              <a:t> proses 1 dan 2 pada node </a:t>
            </a:r>
            <a:r>
              <a:rPr lang="en-US" sz="2691" dirty="0" err="1">
                <a:solidFill>
                  <a:srgbClr val="FFFFFF"/>
                </a:solidFill>
                <a:latin typeface="Nunito Italics"/>
              </a:rPr>
              <a:t>selanjutnya</a:t>
            </a:r>
            <a:r>
              <a:rPr lang="en-US" sz="2691" dirty="0">
                <a:solidFill>
                  <a:srgbClr val="FFFFFF"/>
                </a:solidFill>
                <a:latin typeface="Nunito Italics"/>
              </a:rPr>
              <a:t> </a:t>
            </a:r>
            <a:r>
              <a:rPr lang="en-US" sz="2691" dirty="0" err="1">
                <a:solidFill>
                  <a:srgbClr val="FFFFFF"/>
                </a:solidFill>
                <a:latin typeface="Nunito Italics"/>
              </a:rPr>
              <a:t>hingga</a:t>
            </a:r>
            <a:r>
              <a:rPr lang="en-US" sz="2691" dirty="0">
                <a:solidFill>
                  <a:srgbClr val="FFFFFF"/>
                </a:solidFill>
                <a:latin typeface="Nunito Italics"/>
              </a:rPr>
              <a:t> </a:t>
            </a:r>
            <a:r>
              <a:rPr lang="en-US" sz="2691" dirty="0" err="1">
                <a:solidFill>
                  <a:srgbClr val="FFFFFF"/>
                </a:solidFill>
                <a:latin typeface="Nunito Italics"/>
              </a:rPr>
              <a:t>didapat</a:t>
            </a:r>
            <a:r>
              <a:rPr lang="en-US" sz="2691" dirty="0">
                <a:solidFill>
                  <a:srgbClr val="FFFFFF"/>
                </a:solidFill>
                <a:latin typeface="Nunito Italics"/>
              </a:rPr>
              <a:t> </a:t>
            </a:r>
            <a:r>
              <a:rPr lang="en-US" sz="2691" dirty="0" err="1">
                <a:solidFill>
                  <a:srgbClr val="FFFFFF"/>
                </a:solidFill>
                <a:latin typeface="Nunito Italics"/>
              </a:rPr>
              <a:t>nilai</a:t>
            </a:r>
            <a:r>
              <a:rPr lang="en-US" sz="2691" dirty="0">
                <a:solidFill>
                  <a:srgbClr val="FFFFFF"/>
                </a:solidFill>
                <a:latin typeface="Nunito Italics"/>
              </a:rPr>
              <a:t> </a:t>
            </a:r>
            <a:r>
              <a:rPr lang="en-US" sz="2691" dirty="0" err="1">
                <a:solidFill>
                  <a:srgbClr val="FFFFFF"/>
                </a:solidFill>
                <a:latin typeface="Nunito Italics"/>
              </a:rPr>
              <a:t>terkecil</a:t>
            </a:r>
            <a:r>
              <a:rPr lang="en-US" sz="2691" dirty="0">
                <a:solidFill>
                  <a:srgbClr val="FFFFFF"/>
                </a:solidFill>
                <a:latin typeface="Nunito Italics"/>
              </a:rPr>
              <a:t>. </a:t>
            </a:r>
          </a:p>
          <a:p>
            <a:pPr marL="581070" lvl="1" indent="-290535">
              <a:lnSpc>
                <a:spcPts val="3767"/>
              </a:lnSpc>
              <a:buFont typeface="Arial"/>
              <a:buChar char="•"/>
            </a:pPr>
            <a:r>
              <a:rPr lang="en-US" sz="2691" dirty="0" err="1">
                <a:solidFill>
                  <a:srgbClr val="FFFFFF"/>
                </a:solidFill>
                <a:latin typeface="Nunito Italics"/>
              </a:rPr>
              <a:t>Ulangi</a:t>
            </a:r>
            <a:r>
              <a:rPr lang="en-US" sz="2691" dirty="0">
                <a:solidFill>
                  <a:srgbClr val="FFFFFF"/>
                </a:solidFill>
                <a:latin typeface="Nunito Italics"/>
              </a:rPr>
              <a:t> proses </a:t>
            </a:r>
            <a:r>
              <a:rPr lang="en-US" sz="2691" dirty="0" err="1">
                <a:solidFill>
                  <a:srgbClr val="FFFFFF"/>
                </a:solidFill>
                <a:latin typeface="Nunito Italics"/>
              </a:rPr>
              <a:t>ini</a:t>
            </a:r>
            <a:r>
              <a:rPr lang="en-US" sz="2691" dirty="0">
                <a:solidFill>
                  <a:srgbClr val="FFFFFF"/>
                </a:solidFill>
                <a:latin typeface="Nunito Italics"/>
              </a:rPr>
              <a:t> </a:t>
            </a:r>
            <a:r>
              <a:rPr lang="en-US" sz="2691" dirty="0" err="1">
                <a:solidFill>
                  <a:srgbClr val="FFFFFF"/>
                </a:solidFill>
                <a:latin typeface="Nunito Italics"/>
              </a:rPr>
              <a:t>hingga</a:t>
            </a:r>
            <a:r>
              <a:rPr lang="en-US" sz="2691" dirty="0">
                <a:solidFill>
                  <a:srgbClr val="FFFFFF"/>
                </a:solidFill>
                <a:latin typeface="Nunito Italics"/>
              </a:rPr>
              <a:t> data encoder </a:t>
            </a:r>
            <a:r>
              <a:rPr lang="en-US" sz="2691" dirty="0" err="1">
                <a:solidFill>
                  <a:srgbClr val="FFFFFF"/>
                </a:solidFill>
                <a:latin typeface="Nunito Italics"/>
              </a:rPr>
              <a:t>habis</a:t>
            </a:r>
            <a:r>
              <a:rPr lang="en-US" sz="2691" dirty="0">
                <a:solidFill>
                  <a:srgbClr val="FFFFFF"/>
                </a:solidFill>
                <a:latin typeface="Nunito Italics"/>
              </a:rPr>
              <a:t>. </a:t>
            </a:r>
          </a:p>
          <a:p>
            <a:pPr marL="581070" lvl="1" indent="-290535">
              <a:lnSpc>
                <a:spcPts val="3767"/>
              </a:lnSpc>
              <a:buFont typeface="Arial"/>
              <a:buChar char="•"/>
            </a:pPr>
            <a:r>
              <a:rPr lang="en-US" sz="2691" dirty="0" err="1">
                <a:solidFill>
                  <a:srgbClr val="FFFFFF"/>
                </a:solidFill>
                <a:latin typeface="Nunito Italics"/>
              </a:rPr>
              <a:t>Bandingkan</a:t>
            </a:r>
            <a:r>
              <a:rPr lang="en-US" sz="2691" dirty="0">
                <a:solidFill>
                  <a:srgbClr val="FFFFFF"/>
                </a:solidFill>
                <a:latin typeface="Nunito Italics"/>
              </a:rPr>
              <a:t> output dan input decoder </a:t>
            </a:r>
            <a:r>
              <a:rPr lang="en-US" sz="2691" dirty="0" err="1">
                <a:solidFill>
                  <a:srgbClr val="FFFFFF"/>
                </a:solidFill>
                <a:latin typeface="Nunito Italics"/>
              </a:rPr>
              <a:t>untuk</a:t>
            </a:r>
            <a:r>
              <a:rPr lang="en-US" sz="2691" dirty="0">
                <a:solidFill>
                  <a:srgbClr val="FFFFFF"/>
                </a:solidFill>
                <a:latin typeface="Nunito Italics"/>
              </a:rPr>
              <a:t> </a:t>
            </a:r>
            <a:r>
              <a:rPr lang="en-US" sz="2691" dirty="0" err="1">
                <a:solidFill>
                  <a:srgbClr val="FFFFFF"/>
                </a:solidFill>
                <a:latin typeface="Nunito Italics"/>
              </a:rPr>
              <a:t>mendeteksi</a:t>
            </a:r>
            <a:r>
              <a:rPr lang="en-US" sz="2691" dirty="0">
                <a:solidFill>
                  <a:srgbClr val="FFFFFF"/>
                </a:solidFill>
                <a:latin typeface="Nunito Italics"/>
              </a:rPr>
              <a:t> bit error. </a:t>
            </a:r>
          </a:p>
          <a:p>
            <a:pPr marL="581070" lvl="1" indent="-290535">
              <a:lnSpc>
                <a:spcPts val="3767"/>
              </a:lnSpc>
              <a:spcBef>
                <a:spcPct val="0"/>
              </a:spcBef>
              <a:buFont typeface="Arial"/>
              <a:buChar char="•"/>
            </a:pPr>
            <a:r>
              <a:rPr lang="en-US" sz="2691" dirty="0" err="1">
                <a:solidFill>
                  <a:srgbClr val="FFFFFF"/>
                </a:solidFill>
                <a:latin typeface="Nunito Italics"/>
              </a:rPr>
              <a:t>Untuk</a:t>
            </a:r>
            <a:r>
              <a:rPr lang="en-US" sz="2691" dirty="0">
                <a:solidFill>
                  <a:srgbClr val="FFFFFF"/>
                </a:solidFill>
                <a:latin typeface="Nunito Italics"/>
              </a:rPr>
              <a:t> </a:t>
            </a:r>
            <a:r>
              <a:rPr lang="en-US" sz="2691" dirty="0" err="1">
                <a:solidFill>
                  <a:srgbClr val="FFFFFF"/>
                </a:solidFill>
                <a:latin typeface="Nunito Italics"/>
              </a:rPr>
              <a:t>nilai</a:t>
            </a:r>
            <a:r>
              <a:rPr lang="en-US" sz="2691" dirty="0">
                <a:solidFill>
                  <a:srgbClr val="FFFFFF"/>
                </a:solidFill>
                <a:latin typeface="Nunito Italics"/>
              </a:rPr>
              <a:t> pada output </a:t>
            </a:r>
            <a:r>
              <a:rPr lang="en-US" sz="2691" dirty="0" err="1">
                <a:solidFill>
                  <a:srgbClr val="FFFFFF"/>
                </a:solidFill>
                <a:latin typeface="Nunito Italics"/>
              </a:rPr>
              <a:t>diambil</a:t>
            </a:r>
            <a:r>
              <a:rPr lang="en-US" sz="2691" dirty="0">
                <a:solidFill>
                  <a:srgbClr val="FFFFFF"/>
                </a:solidFill>
                <a:latin typeface="Nunito Italics"/>
              </a:rPr>
              <a:t> </a:t>
            </a:r>
            <a:r>
              <a:rPr lang="en-US" sz="2691" dirty="0" err="1">
                <a:solidFill>
                  <a:srgbClr val="FFFFFF"/>
                </a:solidFill>
                <a:latin typeface="Nunito Italics"/>
              </a:rPr>
              <a:t>dari</a:t>
            </a:r>
            <a:r>
              <a:rPr lang="en-US" sz="2691" dirty="0">
                <a:solidFill>
                  <a:srgbClr val="FFFFFF"/>
                </a:solidFill>
                <a:latin typeface="Nunito Italics"/>
              </a:rPr>
              <a:t> </a:t>
            </a:r>
            <a:r>
              <a:rPr lang="en-US" sz="2691" dirty="0" err="1">
                <a:solidFill>
                  <a:srgbClr val="FFFFFF"/>
                </a:solidFill>
                <a:latin typeface="Nunito Italics"/>
              </a:rPr>
              <a:t>jalur</a:t>
            </a:r>
            <a:r>
              <a:rPr lang="en-US" sz="2691" dirty="0">
                <a:solidFill>
                  <a:srgbClr val="FFFFFF"/>
                </a:solidFill>
                <a:latin typeface="Nunito Italics"/>
              </a:rPr>
              <a:t> bit yang </a:t>
            </a:r>
            <a:r>
              <a:rPr lang="en-US" sz="2691" dirty="0" err="1">
                <a:solidFill>
                  <a:srgbClr val="FFFFFF"/>
                </a:solidFill>
                <a:latin typeface="Nunito Italics"/>
              </a:rPr>
              <a:t>dilalui</a:t>
            </a:r>
            <a:endParaRPr lang="en-US" sz="2691" dirty="0">
              <a:solidFill>
                <a:srgbClr val="FFFFFF"/>
              </a:solidFill>
              <a:latin typeface="Nunito Itali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grpSp>
        <p:nvGrpSpPr>
          <p:cNvPr id="3" name="Group 3"/>
          <p:cNvGrpSpPr/>
          <p:nvPr/>
        </p:nvGrpSpPr>
        <p:grpSpPr>
          <a:xfrm>
            <a:off x="2715464" y="1300692"/>
            <a:ext cx="12857071" cy="6257913"/>
            <a:chOff x="0" y="0"/>
            <a:chExt cx="3563288" cy="1734357"/>
          </a:xfrm>
        </p:grpSpPr>
        <p:sp>
          <p:nvSpPr>
            <p:cNvPr id="4" name="Freeform 4"/>
            <p:cNvSpPr/>
            <p:nvPr/>
          </p:nvSpPr>
          <p:spPr>
            <a:xfrm>
              <a:off x="0" y="0"/>
              <a:ext cx="3563288" cy="1734357"/>
            </a:xfrm>
            <a:custGeom>
              <a:avLst/>
              <a:gdLst/>
              <a:ahLst/>
              <a:cxnLst/>
              <a:rect l="l" t="t" r="r" b="b"/>
              <a:pathLst>
                <a:path w="3563288" h="1734357">
                  <a:moveTo>
                    <a:pt x="42151" y="0"/>
                  </a:moveTo>
                  <a:lnTo>
                    <a:pt x="3521138" y="0"/>
                  </a:lnTo>
                  <a:cubicBezTo>
                    <a:pt x="3532317" y="0"/>
                    <a:pt x="3543038" y="4441"/>
                    <a:pt x="3550943" y="12346"/>
                  </a:cubicBezTo>
                  <a:cubicBezTo>
                    <a:pt x="3558848" y="20250"/>
                    <a:pt x="3563288" y="30972"/>
                    <a:pt x="3563288" y="42151"/>
                  </a:cubicBezTo>
                  <a:lnTo>
                    <a:pt x="3563288" y="1692206"/>
                  </a:lnTo>
                  <a:cubicBezTo>
                    <a:pt x="3563288" y="1715485"/>
                    <a:pt x="3544417" y="1734357"/>
                    <a:pt x="3521138" y="1734357"/>
                  </a:cubicBezTo>
                  <a:lnTo>
                    <a:pt x="42151" y="1734357"/>
                  </a:lnTo>
                  <a:cubicBezTo>
                    <a:pt x="18872" y="1734357"/>
                    <a:pt x="0" y="1715485"/>
                    <a:pt x="0" y="1692206"/>
                  </a:cubicBezTo>
                  <a:lnTo>
                    <a:pt x="0" y="42151"/>
                  </a:lnTo>
                  <a:cubicBezTo>
                    <a:pt x="0" y="18872"/>
                    <a:pt x="18872" y="0"/>
                    <a:pt x="42151" y="0"/>
                  </a:cubicBezTo>
                  <a:close/>
                </a:path>
              </a:pathLst>
            </a:custGeom>
            <a:solidFill>
              <a:srgbClr val="FFFFFF"/>
            </a:solidFill>
            <a:ln w="76200">
              <a:solidFill>
                <a:srgbClr val="AB81FF"/>
              </a:solidFill>
            </a:ln>
          </p:spPr>
        </p:sp>
        <p:sp>
          <p:nvSpPr>
            <p:cNvPr id="5" name="TextBox 5"/>
            <p:cNvSpPr txBox="1"/>
            <p:nvPr/>
          </p:nvSpPr>
          <p:spPr>
            <a:xfrm>
              <a:off x="0" y="-28575"/>
              <a:ext cx="812800" cy="841375"/>
            </a:xfrm>
            <a:prstGeom prst="rect">
              <a:avLst/>
            </a:prstGeom>
          </p:spPr>
          <p:txBody>
            <a:bodyPr lIns="50800" tIns="50800" rIns="50800" bIns="50800" rtlCol="0" anchor="ctr"/>
            <a:lstStyle/>
            <a:p>
              <a:pPr algn="ctr">
                <a:lnSpc>
                  <a:spcPts val="2799"/>
                </a:lnSpc>
              </a:pPr>
              <a:endParaRPr/>
            </a:p>
          </p:txBody>
        </p:sp>
      </p:grpSp>
      <p:pic>
        <p:nvPicPr>
          <p:cNvPr id="6" name="Picture 6"/>
          <p:cNvPicPr>
            <a:picLocks noChangeAspect="1"/>
          </p:cNvPicPr>
          <p:nvPr/>
        </p:nvPicPr>
        <p:blipFill>
          <a:blip r:embed="rId3"/>
          <a:srcRect/>
          <a:stretch>
            <a:fillRect/>
          </a:stretch>
        </p:blipFill>
        <p:spPr>
          <a:xfrm>
            <a:off x="3379061" y="1457953"/>
            <a:ext cx="11660859" cy="5931484"/>
          </a:xfrm>
          <a:prstGeom prst="rect">
            <a:avLst/>
          </a:prstGeom>
        </p:spPr>
      </p:pic>
      <p:sp>
        <p:nvSpPr>
          <p:cNvPr id="7" name="TextBox 7"/>
          <p:cNvSpPr txBox="1"/>
          <p:nvPr/>
        </p:nvSpPr>
        <p:spPr>
          <a:xfrm>
            <a:off x="5322126" y="7640273"/>
            <a:ext cx="7774730" cy="2866728"/>
          </a:xfrm>
          <a:prstGeom prst="rect">
            <a:avLst/>
          </a:prstGeom>
        </p:spPr>
        <p:txBody>
          <a:bodyPr lIns="0" tIns="0" rIns="0" bIns="0" rtlCol="0" anchor="t">
            <a:spAutoFit/>
          </a:bodyPr>
          <a:lstStyle/>
          <a:p>
            <a:pPr algn="just">
              <a:lnSpc>
                <a:spcPts val="3283"/>
              </a:lnSpc>
            </a:pPr>
            <a:r>
              <a:rPr lang="en-US" sz="2174" spc="413">
                <a:solidFill>
                  <a:srgbClr val="FFFFFF"/>
                </a:solidFill>
                <a:latin typeface="Poppins Bold"/>
              </a:rPr>
              <a:t>Input</a:t>
            </a:r>
            <a:r>
              <a:rPr lang="en-US" sz="2174" spc="413">
                <a:solidFill>
                  <a:srgbClr val="FFFFFF"/>
                </a:solidFill>
                <a:latin typeface="Poppins"/>
              </a:rPr>
              <a:t>                            =  11  11  00  10</a:t>
            </a:r>
          </a:p>
          <a:p>
            <a:pPr algn="just">
              <a:lnSpc>
                <a:spcPts val="3283"/>
              </a:lnSpc>
            </a:pPr>
            <a:r>
              <a:rPr lang="en-US" sz="2174" spc="413">
                <a:solidFill>
                  <a:srgbClr val="FFFFFF"/>
                </a:solidFill>
                <a:latin typeface="Poppins Bold"/>
              </a:rPr>
              <a:t>Output Error Detection</a:t>
            </a:r>
            <a:r>
              <a:rPr lang="en-US" sz="2174" spc="413">
                <a:solidFill>
                  <a:srgbClr val="FFFFFF"/>
                </a:solidFill>
                <a:latin typeface="Poppins"/>
              </a:rPr>
              <a:t>  =  11  1</a:t>
            </a:r>
            <a:r>
              <a:rPr lang="en-US" sz="2174" spc="413">
                <a:solidFill>
                  <a:srgbClr val="FD0704"/>
                </a:solidFill>
                <a:latin typeface="Poppins Bold"/>
              </a:rPr>
              <a:t>0</a:t>
            </a:r>
            <a:r>
              <a:rPr lang="en-US" sz="2174" spc="413">
                <a:solidFill>
                  <a:srgbClr val="FFFFFF"/>
                </a:solidFill>
                <a:latin typeface="Poppins"/>
              </a:rPr>
              <a:t> 00  10</a:t>
            </a:r>
          </a:p>
          <a:p>
            <a:pPr algn="just">
              <a:lnSpc>
                <a:spcPts val="3283"/>
              </a:lnSpc>
            </a:pPr>
            <a:r>
              <a:rPr lang="en-US" sz="2174" spc="413">
                <a:solidFill>
                  <a:srgbClr val="FFFFFF"/>
                </a:solidFill>
                <a:latin typeface="Poppins Bold"/>
              </a:rPr>
              <a:t>Output Bitstream          </a:t>
            </a:r>
            <a:r>
              <a:rPr lang="en-US" sz="2174" spc="413">
                <a:solidFill>
                  <a:srgbClr val="FFFFFF"/>
                </a:solidFill>
                <a:latin typeface="Poppins"/>
              </a:rPr>
              <a:t> =   1   0   1    0</a:t>
            </a:r>
          </a:p>
          <a:p>
            <a:pPr algn="just">
              <a:lnSpc>
                <a:spcPts val="3283"/>
              </a:lnSpc>
            </a:pPr>
            <a:endParaRPr lang="en-US" sz="2174" spc="413">
              <a:solidFill>
                <a:srgbClr val="FFFFFF"/>
              </a:solidFill>
              <a:latin typeface="Poppins"/>
            </a:endParaRPr>
          </a:p>
          <a:p>
            <a:pPr algn="just">
              <a:lnSpc>
                <a:spcPts val="3283"/>
              </a:lnSpc>
            </a:pPr>
            <a:r>
              <a:rPr lang="en-US" sz="2174" spc="413">
                <a:solidFill>
                  <a:srgbClr val="FFFFFF"/>
                </a:solidFill>
                <a:latin typeface="Poppins"/>
              </a:rPr>
              <a:t>keterangan : garis lurus input 0</a:t>
            </a:r>
          </a:p>
          <a:p>
            <a:pPr algn="just">
              <a:lnSpc>
                <a:spcPts val="3283"/>
              </a:lnSpc>
            </a:pPr>
            <a:r>
              <a:rPr lang="en-US" sz="2174" spc="413">
                <a:solidFill>
                  <a:srgbClr val="FFFFFF"/>
                </a:solidFill>
                <a:latin typeface="Poppins"/>
              </a:rPr>
              <a:t>                    garis putus putus input 1</a:t>
            </a:r>
          </a:p>
          <a:p>
            <a:pPr algn="just">
              <a:lnSpc>
                <a:spcPts val="3283"/>
              </a:lnSpc>
            </a:pPr>
            <a:endParaRPr lang="en-US" sz="2174" spc="413">
              <a:solidFill>
                <a:srgbClr val="FFFFFF"/>
              </a:solidFill>
              <a:latin typeface="Poppins"/>
            </a:endParaRPr>
          </a:p>
        </p:txBody>
      </p:sp>
      <p:sp>
        <p:nvSpPr>
          <p:cNvPr id="8" name="TextBox 8"/>
          <p:cNvSpPr txBox="1"/>
          <p:nvPr/>
        </p:nvSpPr>
        <p:spPr>
          <a:xfrm>
            <a:off x="3822291" y="359245"/>
            <a:ext cx="10774399" cy="1243660"/>
          </a:xfrm>
          <a:prstGeom prst="rect">
            <a:avLst/>
          </a:prstGeom>
        </p:spPr>
        <p:txBody>
          <a:bodyPr lIns="0" tIns="0" rIns="0" bIns="0" rtlCol="0" anchor="t">
            <a:spAutoFit/>
          </a:bodyPr>
          <a:lstStyle/>
          <a:p>
            <a:pPr algn="just">
              <a:lnSpc>
                <a:spcPts val="4938"/>
              </a:lnSpc>
            </a:pPr>
            <a:r>
              <a:rPr lang="en-US" sz="3527">
                <a:solidFill>
                  <a:srgbClr val="FFFFFF"/>
                </a:solidFill>
                <a:latin typeface="Poppins"/>
              </a:rPr>
              <a:t>Dari sebuah encoder didapatkan data = 11110010</a:t>
            </a:r>
          </a:p>
          <a:p>
            <a:pPr algn="just">
              <a:lnSpc>
                <a:spcPts val="4938"/>
              </a:lnSpc>
            </a:pPr>
            <a:endParaRPr lang="en-US" sz="3527">
              <a:solidFill>
                <a:srgbClr val="FFFFFF"/>
              </a:solidFill>
              <a:latin typeface="Poppins"/>
            </a:endParaRPr>
          </a:p>
        </p:txBody>
      </p:sp>
      <p:sp>
        <p:nvSpPr>
          <p:cNvPr id="9" name="TextBox 9"/>
          <p:cNvSpPr txBox="1"/>
          <p:nvPr/>
        </p:nvSpPr>
        <p:spPr>
          <a:xfrm rot="-5400000">
            <a:off x="-3946024" y="3244044"/>
            <a:ext cx="9939923" cy="897454"/>
          </a:xfrm>
          <a:prstGeom prst="rect">
            <a:avLst/>
          </a:prstGeom>
        </p:spPr>
        <p:txBody>
          <a:bodyPr lIns="0" tIns="0" rIns="0" bIns="0" rtlCol="0" anchor="t">
            <a:spAutoFit/>
          </a:bodyPr>
          <a:lstStyle/>
          <a:p>
            <a:pPr>
              <a:lnSpc>
                <a:spcPts val="7054"/>
              </a:lnSpc>
            </a:pPr>
            <a:r>
              <a:rPr lang="en-US" sz="5878">
                <a:solidFill>
                  <a:srgbClr val="FFFFFF"/>
                </a:solidFill>
                <a:latin typeface="Mokoto"/>
              </a:rPr>
              <a:t>CONTOH SOAL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srcRect/>
          <a:stretch>
            <a:fillRect/>
          </a:stretch>
        </p:blipFill>
        <p:spPr>
          <a:xfrm flipH="1">
            <a:off x="1028700" y="1049725"/>
            <a:ext cx="997891" cy="1590265"/>
          </a:xfrm>
          <a:prstGeom prst="rect">
            <a:avLst/>
          </a:prstGeom>
        </p:spPr>
      </p:pic>
      <p:pic>
        <p:nvPicPr>
          <p:cNvPr id="4" name="Picture 4"/>
          <p:cNvPicPr>
            <a:picLocks noChangeAspect="1"/>
          </p:cNvPicPr>
          <p:nvPr/>
        </p:nvPicPr>
        <p:blipFill>
          <a:blip r:embed="rId3"/>
          <a:srcRect/>
          <a:stretch>
            <a:fillRect/>
          </a:stretch>
        </p:blipFill>
        <p:spPr>
          <a:xfrm>
            <a:off x="16261409" y="1028700"/>
            <a:ext cx="997891" cy="1590265"/>
          </a:xfrm>
          <a:prstGeom prst="rect">
            <a:avLst/>
          </a:prstGeom>
        </p:spPr>
      </p:pic>
      <p:sp>
        <p:nvSpPr>
          <p:cNvPr id="9" name="TextBox 9"/>
          <p:cNvSpPr txBox="1"/>
          <p:nvPr/>
        </p:nvSpPr>
        <p:spPr>
          <a:xfrm>
            <a:off x="2095310" y="952500"/>
            <a:ext cx="13310320" cy="1038746"/>
          </a:xfrm>
          <a:prstGeom prst="rect">
            <a:avLst/>
          </a:prstGeom>
        </p:spPr>
        <p:txBody>
          <a:bodyPr lIns="0" tIns="0" rIns="0" bIns="0" rtlCol="0" anchor="t">
            <a:spAutoFit/>
          </a:bodyPr>
          <a:lstStyle/>
          <a:p>
            <a:pPr algn="ctr">
              <a:lnSpc>
                <a:spcPts val="10779"/>
              </a:lnSpc>
            </a:pPr>
            <a:r>
              <a:rPr lang="en-US" sz="7699" dirty="0" err="1">
                <a:solidFill>
                  <a:srgbClr val="FFFFFF"/>
                </a:solidFill>
                <a:latin typeface="Mokoto"/>
              </a:rPr>
              <a:t>kesimpulan</a:t>
            </a:r>
            <a:endParaRPr lang="en-US" sz="7699" dirty="0">
              <a:solidFill>
                <a:srgbClr val="FFFFFF"/>
              </a:solidFill>
              <a:latin typeface="Mokoto"/>
            </a:endParaRPr>
          </a:p>
        </p:txBody>
      </p:sp>
      <p:grpSp>
        <p:nvGrpSpPr>
          <p:cNvPr id="14" name="Group 5">
            <a:extLst>
              <a:ext uri="{FF2B5EF4-FFF2-40B4-BE49-F238E27FC236}">
                <a16:creationId xmlns:a16="http://schemas.microsoft.com/office/drawing/2014/main" id="{95CB9672-A7D7-4348-91FA-DBEE4506BA06}"/>
              </a:ext>
            </a:extLst>
          </p:cNvPr>
          <p:cNvGrpSpPr/>
          <p:nvPr/>
        </p:nvGrpSpPr>
        <p:grpSpPr>
          <a:xfrm>
            <a:off x="3369268" y="2701147"/>
            <a:ext cx="11150690" cy="6467185"/>
            <a:chOff x="0" y="0"/>
            <a:chExt cx="2854575" cy="1655599"/>
          </a:xfrm>
        </p:grpSpPr>
        <p:sp>
          <p:nvSpPr>
            <p:cNvPr id="15" name="Freeform 6">
              <a:extLst>
                <a:ext uri="{FF2B5EF4-FFF2-40B4-BE49-F238E27FC236}">
                  <a16:creationId xmlns:a16="http://schemas.microsoft.com/office/drawing/2014/main" id="{EEC73A2F-2E83-46E3-8B8D-2A08339426C3}"/>
                </a:ext>
              </a:extLst>
            </p:cNvPr>
            <p:cNvSpPr/>
            <p:nvPr/>
          </p:nvSpPr>
          <p:spPr>
            <a:xfrm>
              <a:off x="0" y="0"/>
              <a:ext cx="2854575" cy="1655599"/>
            </a:xfrm>
            <a:custGeom>
              <a:avLst/>
              <a:gdLst/>
              <a:ahLst/>
              <a:cxnLst/>
              <a:rect l="l" t="t" r="r" b="b"/>
              <a:pathLst>
                <a:path w="2854575" h="1655599">
                  <a:moveTo>
                    <a:pt x="48601" y="0"/>
                  </a:moveTo>
                  <a:lnTo>
                    <a:pt x="2805974" y="0"/>
                  </a:lnTo>
                  <a:cubicBezTo>
                    <a:pt x="2818864" y="0"/>
                    <a:pt x="2831226" y="5120"/>
                    <a:pt x="2840340" y="14235"/>
                  </a:cubicBezTo>
                  <a:cubicBezTo>
                    <a:pt x="2849455" y="23349"/>
                    <a:pt x="2854575" y="35711"/>
                    <a:pt x="2854575" y="48601"/>
                  </a:cubicBezTo>
                  <a:lnTo>
                    <a:pt x="2854575" y="1606998"/>
                  </a:lnTo>
                  <a:cubicBezTo>
                    <a:pt x="2854575" y="1619888"/>
                    <a:pt x="2849455" y="1632249"/>
                    <a:pt x="2840340" y="1641364"/>
                  </a:cubicBezTo>
                  <a:cubicBezTo>
                    <a:pt x="2831226" y="1650478"/>
                    <a:pt x="2818864" y="1655599"/>
                    <a:pt x="2805974" y="1655599"/>
                  </a:cubicBezTo>
                  <a:lnTo>
                    <a:pt x="48601" y="1655599"/>
                  </a:lnTo>
                  <a:cubicBezTo>
                    <a:pt x="35711" y="1655599"/>
                    <a:pt x="23349" y="1650478"/>
                    <a:pt x="14235" y="1641364"/>
                  </a:cubicBezTo>
                  <a:cubicBezTo>
                    <a:pt x="5120" y="1632249"/>
                    <a:pt x="0" y="1619888"/>
                    <a:pt x="0" y="1606998"/>
                  </a:cubicBezTo>
                  <a:lnTo>
                    <a:pt x="0" y="48601"/>
                  </a:lnTo>
                  <a:cubicBezTo>
                    <a:pt x="0" y="35711"/>
                    <a:pt x="5120" y="23349"/>
                    <a:pt x="14235" y="14235"/>
                  </a:cubicBezTo>
                  <a:cubicBezTo>
                    <a:pt x="23349" y="5120"/>
                    <a:pt x="35711" y="0"/>
                    <a:pt x="48601" y="0"/>
                  </a:cubicBezTo>
                  <a:close/>
                </a:path>
              </a:pathLst>
            </a:custGeom>
            <a:solidFill>
              <a:srgbClr val="231980"/>
            </a:solidFill>
            <a:ln w="76200">
              <a:solidFill>
                <a:srgbClr val="FFFFFF"/>
              </a:solidFill>
            </a:ln>
          </p:spPr>
        </p:sp>
        <p:sp>
          <p:nvSpPr>
            <p:cNvPr id="16" name="TextBox 7">
              <a:extLst>
                <a:ext uri="{FF2B5EF4-FFF2-40B4-BE49-F238E27FC236}">
                  <a16:creationId xmlns:a16="http://schemas.microsoft.com/office/drawing/2014/main" id="{C90D45AA-CB27-42CA-802D-9FACDE6E14A5}"/>
                </a:ext>
              </a:extLst>
            </p:cNvPr>
            <p:cNvSpPr txBox="1"/>
            <p:nvPr/>
          </p:nvSpPr>
          <p:spPr>
            <a:xfrm>
              <a:off x="0" y="-28575"/>
              <a:ext cx="812800" cy="841375"/>
            </a:xfrm>
            <a:prstGeom prst="rect">
              <a:avLst/>
            </a:prstGeom>
          </p:spPr>
          <p:txBody>
            <a:bodyPr lIns="50800" tIns="50800" rIns="50800" bIns="50800" rtlCol="0" anchor="ctr"/>
            <a:lstStyle/>
            <a:p>
              <a:pPr algn="ctr">
                <a:lnSpc>
                  <a:spcPts val="2799"/>
                </a:lnSpc>
              </a:pPr>
              <a:endParaRPr/>
            </a:p>
          </p:txBody>
        </p:sp>
      </p:grpSp>
      <p:pic>
        <p:nvPicPr>
          <p:cNvPr id="17" name="Picture 8">
            <a:extLst>
              <a:ext uri="{FF2B5EF4-FFF2-40B4-BE49-F238E27FC236}">
                <a16:creationId xmlns:a16="http://schemas.microsoft.com/office/drawing/2014/main" id="{4F0E75CF-6031-4EBC-8B0A-E998D7D53004}"/>
              </a:ext>
            </a:extLst>
          </p:cNvPr>
          <p:cNvPicPr>
            <a:picLocks noChangeAspect="1"/>
          </p:cNvPicPr>
          <p:nvPr/>
        </p:nvPicPr>
        <p:blipFill>
          <a:blip r:embed="rId4"/>
          <a:srcRect/>
          <a:stretch>
            <a:fillRect/>
          </a:stretch>
        </p:blipFill>
        <p:spPr>
          <a:xfrm flipH="1" flipV="1">
            <a:off x="13053350" y="2135533"/>
            <a:ext cx="2105498" cy="2102866"/>
          </a:xfrm>
          <a:prstGeom prst="rect">
            <a:avLst/>
          </a:prstGeom>
        </p:spPr>
      </p:pic>
      <p:pic>
        <p:nvPicPr>
          <p:cNvPr id="18" name="Picture 9">
            <a:extLst>
              <a:ext uri="{FF2B5EF4-FFF2-40B4-BE49-F238E27FC236}">
                <a16:creationId xmlns:a16="http://schemas.microsoft.com/office/drawing/2014/main" id="{CE41157B-7A06-4697-B086-DE32F707E5E4}"/>
              </a:ext>
            </a:extLst>
          </p:cNvPr>
          <p:cNvPicPr>
            <a:picLocks noChangeAspect="1"/>
          </p:cNvPicPr>
          <p:nvPr/>
        </p:nvPicPr>
        <p:blipFill>
          <a:blip r:embed="rId4"/>
          <a:srcRect/>
          <a:stretch>
            <a:fillRect/>
          </a:stretch>
        </p:blipFill>
        <p:spPr>
          <a:xfrm>
            <a:off x="2906182" y="7725374"/>
            <a:ext cx="1891592" cy="1889228"/>
          </a:xfrm>
          <a:prstGeom prst="rect">
            <a:avLst/>
          </a:prstGeom>
        </p:spPr>
      </p:pic>
      <p:sp>
        <p:nvSpPr>
          <p:cNvPr id="19" name="TextBox 10">
            <a:extLst>
              <a:ext uri="{FF2B5EF4-FFF2-40B4-BE49-F238E27FC236}">
                <a16:creationId xmlns:a16="http://schemas.microsoft.com/office/drawing/2014/main" id="{D7A2ABA7-93C0-4786-8AB3-D1CE3874E6BD}"/>
              </a:ext>
            </a:extLst>
          </p:cNvPr>
          <p:cNvSpPr txBox="1"/>
          <p:nvPr/>
        </p:nvSpPr>
        <p:spPr>
          <a:xfrm>
            <a:off x="3654542" y="3224019"/>
            <a:ext cx="10431265" cy="3447098"/>
          </a:xfrm>
          <a:prstGeom prst="rect">
            <a:avLst/>
          </a:prstGeom>
        </p:spPr>
        <p:txBody>
          <a:bodyPr lIns="0" tIns="0" rIns="0" bIns="0" rtlCol="0" anchor="t">
            <a:spAutoFit/>
          </a:bodyPr>
          <a:lstStyle/>
          <a:p>
            <a:pPr marL="152400" algn="just"/>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Pada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pembahasan</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kali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ini</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dapat</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disimpulkan</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bahwa</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algoritma</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decoding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ini</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digunakan</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untuk</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mendeteksi</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error pada data yang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dikirim</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dan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mengembalikan</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data </a:t>
            </a:r>
            <a:r>
              <a:rPr lang="en-ID" sz="2800" dirty="0" err="1">
                <a:solidFill>
                  <a:schemeClr val="bg1"/>
                </a:solidFill>
                <a:latin typeface="Poppins Medium" panose="00000600000000000000" pitchFamily="2" charset="0"/>
                <a:ea typeface="Calibri" panose="020F0502020204030204" pitchFamily="34" charset="0"/>
                <a:cs typeface="Poppins Medium" panose="00000600000000000000" pitchFamily="2" charset="0"/>
              </a:rPr>
              <a:t>aslinya</a:t>
            </a:r>
            <a:r>
              <a:rPr lang="en-ID" sz="2800" dirty="0">
                <a:solidFill>
                  <a:schemeClr val="bg1"/>
                </a:solidFill>
                <a:latin typeface="Poppins Medium" panose="00000600000000000000" pitchFamily="2" charset="0"/>
                <a:ea typeface="Calibri" panose="020F0502020204030204" pitchFamily="34"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Sehingga</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dengan</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teknik</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ini</a:t>
            </a:r>
            <a:r>
              <a:rPr lang="en-US" sz="2800" dirty="0">
                <a:solidFill>
                  <a:srgbClr val="FFFFFF"/>
                </a:solidFill>
                <a:latin typeface="Poppins Medium" panose="00000600000000000000" pitchFamily="2" charset="0"/>
                <a:cs typeface="Poppins Medium" panose="00000600000000000000" pitchFamily="2" charset="0"/>
              </a:rPr>
              <a:t>, bit yang </a:t>
            </a:r>
            <a:r>
              <a:rPr lang="en-US" sz="2800" dirty="0" err="1">
                <a:solidFill>
                  <a:srgbClr val="FFFFFF"/>
                </a:solidFill>
                <a:latin typeface="Poppins Medium" panose="00000600000000000000" pitchFamily="2" charset="0"/>
                <a:cs typeface="Poppins Medium" panose="00000600000000000000" pitchFamily="2" charset="0"/>
              </a:rPr>
              <a:t>mengalami</a:t>
            </a:r>
            <a:r>
              <a:rPr lang="en-US" sz="2800" dirty="0">
                <a:solidFill>
                  <a:srgbClr val="FFFFFF"/>
                </a:solidFill>
                <a:latin typeface="Poppins Medium" panose="00000600000000000000" pitchFamily="2" charset="0"/>
                <a:cs typeface="Poppins Medium" panose="00000600000000000000" pitchFamily="2" charset="0"/>
              </a:rPr>
              <a:t> error pada </a:t>
            </a:r>
            <a:r>
              <a:rPr lang="en-US" sz="2800" dirty="0" err="1">
                <a:solidFill>
                  <a:srgbClr val="FFFFFF"/>
                </a:solidFill>
                <a:latin typeface="Poppins Medium" panose="00000600000000000000" pitchFamily="2" charset="0"/>
                <a:cs typeface="Poppins Medium" panose="00000600000000000000" pitchFamily="2" charset="0"/>
              </a:rPr>
              <a:t>saluran</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transmisi</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dapat</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terdeteksi</a:t>
            </a:r>
            <a:r>
              <a:rPr lang="en-US" sz="2800" dirty="0">
                <a:solidFill>
                  <a:srgbClr val="FFFFFF"/>
                </a:solidFill>
                <a:latin typeface="Poppins Medium" panose="00000600000000000000" pitchFamily="2" charset="0"/>
                <a:cs typeface="Poppins Medium" panose="00000600000000000000" pitchFamily="2" charset="0"/>
              </a:rPr>
              <a:t> dan </a:t>
            </a:r>
            <a:r>
              <a:rPr lang="en-US" sz="2800" dirty="0" err="1">
                <a:solidFill>
                  <a:srgbClr val="FFFFFF"/>
                </a:solidFill>
                <a:latin typeface="Poppins Medium" panose="00000600000000000000" pitchFamily="2" charset="0"/>
                <a:cs typeface="Poppins Medium" panose="00000600000000000000" pitchFamily="2" charset="0"/>
              </a:rPr>
              <a:t>diperbaiki</a:t>
            </a:r>
            <a:r>
              <a:rPr lang="en-US" sz="2800" dirty="0">
                <a:solidFill>
                  <a:srgbClr val="FFFFFF"/>
                </a:solidFill>
                <a:latin typeface="Poppins Medium" panose="00000600000000000000" pitchFamily="2" charset="0"/>
                <a:cs typeface="Poppins Medium" panose="00000600000000000000" pitchFamily="2" charset="0"/>
              </a:rPr>
              <a:t>. Dan </a:t>
            </a:r>
            <a:r>
              <a:rPr lang="en-US" sz="2800" dirty="0" err="1">
                <a:solidFill>
                  <a:srgbClr val="FFFFFF"/>
                </a:solidFill>
                <a:latin typeface="Poppins Medium" panose="00000600000000000000" pitchFamily="2" charset="0"/>
                <a:cs typeface="Poppins Medium" panose="00000600000000000000" pitchFamily="2" charset="0"/>
              </a:rPr>
              <a:t>dengan</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demikian</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tidak</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akan</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terjadi</a:t>
            </a:r>
            <a:r>
              <a:rPr lang="en-US" sz="2800" dirty="0">
                <a:solidFill>
                  <a:srgbClr val="FFFFFF"/>
                </a:solidFill>
                <a:latin typeface="Poppins Medium" panose="00000600000000000000" pitchFamily="2" charset="0"/>
                <a:cs typeface="Poppins Medium" panose="00000600000000000000" pitchFamily="2" charset="0"/>
              </a:rPr>
              <a:t> error di </a:t>
            </a:r>
            <a:r>
              <a:rPr lang="en-US" sz="2800" dirty="0" err="1">
                <a:solidFill>
                  <a:srgbClr val="FFFFFF"/>
                </a:solidFill>
                <a:latin typeface="Poppins Medium" panose="00000600000000000000" pitchFamily="2" charset="0"/>
                <a:cs typeface="Poppins Medium" panose="00000600000000000000" pitchFamily="2" charset="0"/>
              </a:rPr>
              <a:t>sisi</a:t>
            </a:r>
            <a:r>
              <a:rPr lang="en-US" sz="2800" dirty="0">
                <a:solidFill>
                  <a:srgbClr val="FFFFFF"/>
                </a:solidFill>
                <a:latin typeface="Poppins Medium" panose="00000600000000000000" pitchFamily="2" charset="0"/>
                <a:cs typeface="Poppins Medium" panose="00000600000000000000" pitchFamily="2" charset="0"/>
              </a:rPr>
              <a:t> </a:t>
            </a:r>
            <a:r>
              <a:rPr lang="en-US" sz="2800" dirty="0" err="1">
                <a:solidFill>
                  <a:srgbClr val="FFFFFF"/>
                </a:solidFill>
                <a:latin typeface="Poppins Medium" panose="00000600000000000000" pitchFamily="2" charset="0"/>
                <a:cs typeface="Poppins Medium" panose="00000600000000000000" pitchFamily="2" charset="0"/>
              </a:rPr>
              <a:t>penerima</a:t>
            </a:r>
            <a:r>
              <a:rPr lang="en-US" sz="2800" dirty="0">
                <a:solidFill>
                  <a:srgbClr val="FFFFFF"/>
                </a:solidFill>
                <a:latin typeface="Poppins Medium" panose="00000600000000000000" pitchFamily="2" charset="0"/>
                <a:cs typeface="Poppins Medium" panose="00000600000000000000" pitchFamily="2" charset="0"/>
              </a:rPr>
              <a:t>.</a:t>
            </a:r>
          </a:p>
          <a:p>
            <a:pPr marL="152400" indent="0" algn="just">
              <a:buNone/>
            </a:pPr>
            <a:endParaRPr lang="en-ID" sz="2800" dirty="0">
              <a:solidFill>
                <a:schemeClr val="bg1"/>
              </a:solidFill>
              <a:effectLst/>
              <a:latin typeface="Poppins Medium" panose="00000600000000000000" pitchFamily="2" charset="0"/>
              <a:ea typeface="Calibri" panose="020F0502020204030204" pitchFamily="34" charset="0"/>
              <a:cs typeface="Poppins Medium" panose="00000600000000000000" pitchFamily="2" charset="0"/>
            </a:endParaRPr>
          </a:p>
        </p:txBody>
      </p:sp>
    </p:spTree>
    <p:extLst>
      <p:ext uri="{BB962C8B-B14F-4D97-AF65-F5344CB8AC3E}">
        <p14:creationId xmlns:p14="http://schemas.microsoft.com/office/powerpoint/2010/main" val="838080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7812" b="7812"/>
          <a:stretch>
            <a:fillRect/>
          </a:stretch>
        </p:blipFill>
        <p:spPr>
          <a:xfrm>
            <a:off x="0" y="0"/>
            <a:ext cx="18288000" cy="10287000"/>
          </a:xfrm>
          <a:prstGeom prst="rect">
            <a:avLst/>
          </a:prstGeom>
        </p:spPr>
      </p:pic>
      <p:pic>
        <p:nvPicPr>
          <p:cNvPr id="3" name="Picture 3"/>
          <p:cNvPicPr>
            <a:picLocks noChangeAspect="1"/>
          </p:cNvPicPr>
          <p:nvPr/>
        </p:nvPicPr>
        <p:blipFill>
          <a:blip r:embed="rId3"/>
          <a:srcRect/>
          <a:stretch>
            <a:fillRect/>
          </a:stretch>
        </p:blipFill>
        <p:spPr>
          <a:xfrm rot="-10800000">
            <a:off x="746346" y="-2679995"/>
            <a:ext cx="16397922" cy="15475539"/>
          </a:xfrm>
          <a:prstGeom prst="rect">
            <a:avLst/>
          </a:prstGeom>
        </p:spPr>
      </p:pic>
      <p:pic>
        <p:nvPicPr>
          <p:cNvPr id="4" name="Picture 4"/>
          <p:cNvPicPr>
            <a:picLocks noChangeAspect="1"/>
          </p:cNvPicPr>
          <p:nvPr/>
        </p:nvPicPr>
        <p:blipFill>
          <a:blip r:embed="rId4"/>
          <a:srcRect/>
          <a:stretch>
            <a:fillRect/>
          </a:stretch>
        </p:blipFill>
        <p:spPr>
          <a:xfrm flipH="1">
            <a:off x="2513437" y="6582136"/>
            <a:ext cx="997891" cy="1590265"/>
          </a:xfrm>
          <a:prstGeom prst="rect">
            <a:avLst/>
          </a:prstGeom>
        </p:spPr>
      </p:pic>
      <p:pic>
        <p:nvPicPr>
          <p:cNvPr id="5" name="Picture 5"/>
          <p:cNvPicPr>
            <a:picLocks noChangeAspect="1"/>
          </p:cNvPicPr>
          <p:nvPr/>
        </p:nvPicPr>
        <p:blipFill>
          <a:blip r:embed="rId4"/>
          <a:srcRect/>
          <a:stretch>
            <a:fillRect/>
          </a:stretch>
        </p:blipFill>
        <p:spPr>
          <a:xfrm>
            <a:off x="15147856" y="3650009"/>
            <a:ext cx="997891" cy="1590265"/>
          </a:xfrm>
          <a:prstGeom prst="rect">
            <a:avLst/>
          </a:prstGeom>
        </p:spPr>
      </p:pic>
      <p:pic>
        <p:nvPicPr>
          <p:cNvPr id="6" name="Picture 6"/>
          <p:cNvPicPr>
            <a:picLocks noChangeAspect="1"/>
          </p:cNvPicPr>
          <p:nvPr/>
        </p:nvPicPr>
        <p:blipFill>
          <a:blip r:embed="rId5"/>
          <a:srcRect/>
          <a:stretch>
            <a:fillRect/>
          </a:stretch>
        </p:blipFill>
        <p:spPr>
          <a:xfrm>
            <a:off x="9384753" y="5240274"/>
            <a:ext cx="3861619" cy="4693759"/>
          </a:xfrm>
          <a:prstGeom prst="rect">
            <a:avLst/>
          </a:prstGeom>
        </p:spPr>
      </p:pic>
      <p:pic>
        <p:nvPicPr>
          <p:cNvPr id="7" name="Picture 7"/>
          <p:cNvPicPr>
            <a:picLocks noChangeAspect="1"/>
          </p:cNvPicPr>
          <p:nvPr/>
        </p:nvPicPr>
        <p:blipFill>
          <a:blip r:embed="rId6"/>
          <a:srcRect/>
          <a:stretch>
            <a:fillRect/>
          </a:stretch>
        </p:blipFill>
        <p:spPr>
          <a:xfrm>
            <a:off x="5112246" y="5646809"/>
            <a:ext cx="3984129" cy="4139355"/>
          </a:xfrm>
          <a:prstGeom prst="rect">
            <a:avLst/>
          </a:prstGeom>
        </p:spPr>
      </p:pic>
      <p:pic>
        <p:nvPicPr>
          <p:cNvPr id="8" name="Picture 8"/>
          <p:cNvPicPr>
            <a:picLocks noChangeAspect="1"/>
          </p:cNvPicPr>
          <p:nvPr/>
        </p:nvPicPr>
        <p:blipFill>
          <a:blip r:embed="rId7"/>
          <a:srcRect/>
          <a:stretch>
            <a:fillRect/>
          </a:stretch>
        </p:blipFill>
        <p:spPr>
          <a:xfrm>
            <a:off x="4396449" y="1429724"/>
            <a:ext cx="9097717" cy="3024991"/>
          </a:xfrm>
          <a:prstGeom prst="rect">
            <a:avLst/>
          </a:prstGeom>
        </p:spPr>
      </p:pic>
      <p:sp>
        <p:nvSpPr>
          <p:cNvPr id="9" name="TextBox 9"/>
          <p:cNvSpPr txBox="1"/>
          <p:nvPr/>
        </p:nvSpPr>
        <p:spPr>
          <a:xfrm>
            <a:off x="830008" y="2305633"/>
            <a:ext cx="16230600" cy="1130300"/>
          </a:xfrm>
          <a:prstGeom prst="rect">
            <a:avLst/>
          </a:prstGeom>
        </p:spPr>
        <p:txBody>
          <a:bodyPr lIns="0" tIns="0" rIns="0" bIns="0" rtlCol="0" anchor="t">
            <a:spAutoFit/>
          </a:bodyPr>
          <a:lstStyle/>
          <a:p>
            <a:pPr algn="ctr">
              <a:lnSpc>
                <a:spcPts val="9100"/>
              </a:lnSpc>
            </a:pPr>
            <a:r>
              <a:rPr lang="en-US" sz="6500">
                <a:solidFill>
                  <a:srgbClr val="1B1464"/>
                </a:solidFill>
                <a:latin typeface="Mokoto"/>
              </a:rPr>
              <a:t>TERIMAKASIH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428376-E08F-4D0D-B09C-5EE6AA68C54E}"/>
              </a:ext>
            </a:extLst>
          </p:cNvPr>
          <p:cNvSpPr txBox="1"/>
          <p:nvPr/>
        </p:nvSpPr>
        <p:spPr>
          <a:xfrm flipH="1">
            <a:off x="4312919" y="800100"/>
            <a:ext cx="11231881" cy="584775"/>
          </a:xfrm>
          <a:prstGeom prst="rect">
            <a:avLst/>
          </a:prstGeom>
          <a:noFill/>
        </p:spPr>
        <p:txBody>
          <a:bodyPr wrap="square" rtlCol="0">
            <a:spAutoFit/>
          </a:bodyPr>
          <a:lstStyle/>
          <a:p>
            <a:r>
              <a:rPr lang="en-ID" sz="3200" b="0" i="0" u="none" strike="noStrike" dirty="0">
                <a:effectLst/>
              </a:rPr>
              <a:t>Dari </a:t>
            </a:r>
            <a:r>
              <a:rPr lang="en-ID" sz="3200" b="0" i="0" u="none" strike="noStrike" dirty="0" err="1">
                <a:effectLst/>
              </a:rPr>
              <a:t>sebuah</a:t>
            </a:r>
            <a:r>
              <a:rPr lang="en-ID" sz="3200" b="0" i="0" u="none" strike="noStrike" dirty="0">
                <a:effectLst/>
              </a:rPr>
              <a:t> encoder </a:t>
            </a:r>
            <a:r>
              <a:rPr lang="en-ID" sz="3200" b="0" i="0" u="none" strike="noStrike" dirty="0" err="1">
                <a:effectLst/>
              </a:rPr>
              <a:t>didapatkan</a:t>
            </a:r>
            <a:r>
              <a:rPr lang="en-ID" sz="3200" b="0" i="0" u="none" strike="noStrike" dirty="0">
                <a:effectLst/>
              </a:rPr>
              <a:t> data = 111011000110</a:t>
            </a:r>
            <a:endParaRPr lang="en-ID" sz="32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F4997B4-7F81-4C41-9E08-1F7B04169C4D}"/>
                  </a:ext>
                </a:extLst>
              </p14:cNvPr>
              <p14:cNvContentPartPr/>
              <p14:nvPr/>
            </p14:nvContentPartPr>
            <p14:xfrm>
              <a:off x="7629502" y="4843350"/>
              <a:ext cx="360" cy="360"/>
            </p14:xfrm>
          </p:contentPart>
        </mc:Choice>
        <mc:Fallback>
          <p:pic>
            <p:nvPicPr>
              <p:cNvPr id="3" name="Ink 2">
                <a:extLst>
                  <a:ext uri="{FF2B5EF4-FFF2-40B4-BE49-F238E27FC236}">
                    <a16:creationId xmlns:a16="http://schemas.microsoft.com/office/drawing/2014/main" id="{9F4997B4-7F81-4C41-9E08-1F7B04169C4D}"/>
                  </a:ext>
                </a:extLst>
              </p:cNvPr>
              <p:cNvPicPr/>
              <p:nvPr/>
            </p:nvPicPr>
            <p:blipFill>
              <a:blip r:embed="rId3"/>
              <a:stretch>
                <a:fillRect/>
              </a:stretch>
            </p:blipFill>
            <p:spPr>
              <a:xfrm>
                <a:off x="7620502" y="4834350"/>
                <a:ext cx="18000" cy="18000"/>
              </a:xfrm>
              <a:prstGeom prst="rect">
                <a:avLst/>
              </a:prstGeom>
            </p:spPr>
          </p:pic>
        </mc:Fallback>
      </mc:AlternateContent>
      <p:pic>
        <p:nvPicPr>
          <p:cNvPr id="5" name="Picture 4">
            <a:extLst>
              <a:ext uri="{FF2B5EF4-FFF2-40B4-BE49-F238E27FC236}">
                <a16:creationId xmlns:a16="http://schemas.microsoft.com/office/drawing/2014/main" id="{3AAA64A8-29E0-47DB-9D80-11DCA8A81F85}"/>
              </a:ext>
            </a:extLst>
          </p:cNvPr>
          <p:cNvPicPr>
            <a:picLocks noChangeAspect="1"/>
          </p:cNvPicPr>
          <p:nvPr/>
        </p:nvPicPr>
        <p:blipFill>
          <a:blip r:embed="rId4"/>
          <a:stretch>
            <a:fillRect/>
          </a:stretch>
        </p:blipFill>
        <p:spPr>
          <a:xfrm>
            <a:off x="0" y="0"/>
            <a:ext cx="18288000" cy="10287000"/>
          </a:xfrm>
          <a:prstGeom prst="rect">
            <a:avLst/>
          </a:prstGeom>
        </p:spPr>
      </p:pic>
    </p:spTree>
    <p:extLst>
      <p:ext uri="{BB962C8B-B14F-4D97-AF65-F5344CB8AC3E}">
        <p14:creationId xmlns:p14="http://schemas.microsoft.com/office/powerpoint/2010/main" val="15949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384</Words>
  <Application>Microsoft Office PowerPoint</Application>
  <PresentationFormat>Custom</PresentationFormat>
  <Paragraphs>44</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Mokoto Bold</vt:lpstr>
      <vt:lpstr>Fredoka One</vt:lpstr>
      <vt:lpstr>Poppins Medium</vt:lpstr>
      <vt:lpstr>Calibri</vt:lpstr>
      <vt:lpstr>Mokoto</vt:lpstr>
      <vt:lpstr>Arial</vt:lpstr>
      <vt:lpstr>Nunito Italics</vt:lpstr>
      <vt:lpstr>Nunito</vt:lpstr>
      <vt:lpstr>Poppins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Pendidikan Kisi dan Garis Keterampilan Peta</dc:title>
  <dc:creator>Nazma Nurfaidah</dc:creator>
  <cp:lastModifiedBy>NAZMA NURFAIDAH SHIYAMI</cp:lastModifiedBy>
  <cp:revision>3</cp:revision>
  <dcterms:created xsi:type="dcterms:W3CDTF">2006-08-16T00:00:00Z</dcterms:created>
  <dcterms:modified xsi:type="dcterms:W3CDTF">2023-05-09T09:30:14Z</dcterms:modified>
  <dc:identifier>DAFhrvy-GBI</dc:identifier>
</cp:coreProperties>
</file>