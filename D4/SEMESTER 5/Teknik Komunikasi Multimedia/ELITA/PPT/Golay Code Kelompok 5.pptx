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Poppins Light" charset="1" panose="02000000000000000000"/>
      <p:regular r:id="rId10"/>
    </p:embeddedFont>
    <p:embeddedFont>
      <p:font typeface="Poppins Light Bold" charset="1" panose="02000000000000000000"/>
      <p:regular r:id="rId11"/>
    </p:embeddedFont>
    <p:embeddedFont>
      <p:font typeface="Poppins Medium" charset="1" panose="02000000000000000000"/>
      <p:regular r:id="rId12"/>
    </p:embeddedFont>
    <p:embeddedFont>
      <p:font typeface="Poppins Medium Bold" charset="1" panose="020000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slides/slide1.xml" Type="http://schemas.openxmlformats.org/officeDocument/2006/relationships/slide"/><Relationship Id="rId15" Target="slides/slide2.xml" Type="http://schemas.openxmlformats.org/officeDocument/2006/relationships/slide"/><Relationship Id="rId16" Target="slides/slide3.xml" Type="http://schemas.openxmlformats.org/officeDocument/2006/relationships/slide"/><Relationship Id="rId17" Target="slides/slide4.xml" Type="http://schemas.openxmlformats.org/officeDocument/2006/relationships/slide"/><Relationship Id="rId18" Target="slides/slide5.xml" Type="http://schemas.openxmlformats.org/officeDocument/2006/relationships/slide"/><Relationship Id="rId19" Target="slides/slide6.xml" Type="http://schemas.openxmlformats.org/officeDocument/2006/relationships/slide"/><Relationship Id="rId2" Target="presProps.xml" Type="http://schemas.openxmlformats.org/officeDocument/2006/relationships/presProps"/><Relationship Id="rId20" Target="slides/slide7.xml" Type="http://schemas.openxmlformats.org/officeDocument/2006/relationships/slide"/><Relationship Id="rId21" Target="slides/slide8.xml" Type="http://schemas.openxmlformats.org/officeDocument/2006/relationships/slide"/><Relationship Id="rId22" Target="slides/slide9.xml" Type="http://schemas.openxmlformats.org/officeDocument/2006/relationships/slide"/><Relationship Id="rId23" Target="slides/slide10.xml" Type="http://schemas.openxmlformats.org/officeDocument/2006/relationships/slide"/><Relationship Id="rId24" Target="slides/slide11.xml" Type="http://schemas.openxmlformats.org/officeDocument/2006/relationships/slide"/><Relationship Id="rId25" Target="slides/slide12.xml" Type="http://schemas.openxmlformats.org/officeDocument/2006/relationships/slide"/><Relationship Id="rId26" Target="slides/slide13.xml" Type="http://schemas.openxmlformats.org/officeDocument/2006/relationships/slide"/><Relationship Id="rId27" Target="slides/slide14.xml" Type="http://schemas.openxmlformats.org/officeDocument/2006/relationships/slide"/><Relationship Id="rId28" Target="slides/slide15.xml" Type="http://schemas.openxmlformats.org/officeDocument/2006/relationships/slide"/><Relationship Id="rId29" Target="slides/slide16.xml" Type="http://schemas.openxmlformats.org/officeDocument/2006/relationships/slide"/><Relationship Id="rId3" Target="viewProps.xml" Type="http://schemas.openxmlformats.org/officeDocument/2006/relationships/viewProps"/><Relationship Id="rId30" Target="slides/slide17.xml" Type="http://schemas.openxmlformats.org/officeDocument/2006/relationships/slide"/><Relationship Id="rId31" Target="slides/slide18.xml" Type="http://schemas.openxmlformats.org/officeDocument/2006/relationships/slide"/><Relationship Id="rId32" Target="slides/slide19.xml" Type="http://schemas.openxmlformats.org/officeDocument/2006/relationships/slide"/><Relationship Id="rId33" Target="slides/slide20.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 Id="rId4" Target="../media/image7.png" Type="http://schemas.openxmlformats.org/officeDocument/2006/relationships/image"/></Relationships>
</file>

<file path=ppt/slides/_rels/slide1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5.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8.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2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true" flipV="true" rot="0">
            <a:off x="12005738" y="2260462"/>
            <a:ext cx="7641615" cy="5845836"/>
          </a:xfrm>
          <a:prstGeom prst="rect">
            <a:avLst/>
          </a:prstGeom>
        </p:spPr>
      </p:pic>
      <p:grpSp>
        <p:nvGrpSpPr>
          <p:cNvPr name="Group 3" id="3"/>
          <p:cNvGrpSpPr/>
          <p:nvPr/>
        </p:nvGrpSpPr>
        <p:grpSpPr>
          <a:xfrm rot="0">
            <a:off x="1028700" y="1028700"/>
            <a:ext cx="12092431" cy="6828522"/>
            <a:chOff x="0" y="0"/>
            <a:chExt cx="16123241" cy="9104696"/>
          </a:xfrm>
        </p:grpSpPr>
        <p:sp>
          <p:nvSpPr>
            <p:cNvPr name="TextBox 4" id="4"/>
            <p:cNvSpPr txBox="true"/>
            <p:nvPr/>
          </p:nvSpPr>
          <p:spPr>
            <a:xfrm rot="0">
              <a:off x="0" y="-9525"/>
              <a:ext cx="5246601" cy="619125"/>
            </a:xfrm>
            <a:prstGeom prst="rect">
              <a:avLst/>
            </a:prstGeom>
          </p:spPr>
          <p:txBody>
            <a:bodyPr anchor="t" rtlCol="false" tIns="0" lIns="0" bIns="0" rIns="0">
              <a:spAutoFit/>
            </a:bodyPr>
            <a:lstStyle/>
            <a:p>
              <a:pPr>
                <a:lnSpc>
                  <a:spcPts val="3600"/>
                </a:lnSpc>
              </a:pPr>
            </a:p>
          </p:txBody>
        </p:sp>
        <p:sp>
          <p:nvSpPr>
            <p:cNvPr name="TextBox 5" id="5"/>
            <p:cNvSpPr txBox="true"/>
            <p:nvPr/>
          </p:nvSpPr>
          <p:spPr>
            <a:xfrm rot="0">
              <a:off x="0" y="2023731"/>
              <a:ext cx="16123241" cy="2707217"/>
            </a:xfrm>
            <a:prstGeom prst="rect">
              <a:avLst/>
            </a:prstGeom>
          </p:spPr>
          <p:txBody>
            <a:bodyPr anchor="t" rtlCol="false" tIns="0" lIns="0" bIns="0" rIns="0">
              <a:spAutoFit/>
            </a:bodyPr>
            <a:lstStyle/>
            <a:p>
              <a:pPr>
                <a:lnSpc>
                  <a:spcPts val="15400"/>
                </a:lnSpc>
              </a:pPr>
              <a:r>
                <a:rPr lang="en-US" sz="14000">
                  <a:solidFill>
                    <a:srgbClr val="FFFFFF"/>
                  </a:solidFill>
                  <a:latin typeface="Poppins Medium"/>
                </a:rPr>
                <a:t>Golay Code </a:t>
              </a:r>
            </a:p>
          </p:txBody>
        </p:sp>
        <p:sp>
          <p:nvSpPr>
            <p:cNvPr name="TextBox 6" id="6"/>
            <p:cNvSpPr txBox="true"/>
            <p:nvPr/>
          </p:nvSpPr>
          <p:spPr>
            <a:xfrm rot="0">
              <a:off x="0" y="5383807"/>
              <a:ext cx="16123241" cy="3722582"/>
            </a:xfrm>
            <a:prstGeom prst="rect">
              <a:avLst/>
            </a:prstGeom>
          </p:spPr>
          <p:txBody>
            <a:bodyPr anchor="t" rtlCol="false" tIns="0" lIns="0" bIns="0" rIns="0">
              <a:spAutoFit/>
            </a:bodyPr>
            <a:lstStyle/>
            <a:p>
              <a:pPr>
                <a:lnSpc>
                  <a:spcPts val="4619"/>
                </a:lnSpc>
              </a:pPr>
              <a:r>
                <a:rPr lang="en-US" sz="3299" spc="65">
                  <a:solidFill>
                    <a:srgbClr val="FFFFFF"/>
                  </a:solidFill>
                  <a:latin typeface="Poppins Medium"/>
                </a:rPr>
                <a:t>  </a:t>
              </a:r>
              <a:r>
                <a:rPr lang="en-US" sz="3299" spc="65">
                  <a:solidFill>
                    <a:srgbClr val="10B5BF"/>
                  </a:solidFill>
                  <a:latin typeface="Poppins Medium"/>
                </a:rPr>
                <a:t>KELOMPOK 5</a:t>
              </a:r>
            </a:p>
            <a:p>
              <a:pPr marL="712467" indent="-356233" lvl="1">
                <a:lnSpc>
                  <a:spcPts val="4619"/>
                </a:lnSpc>
                <a:buFont typeface="Arial"/>
                <a:buChar char="•"/>
              </a:pPr>
              <a:r>
                <a:rPr lang="en-US" sz="3299" spc="65">
                  <a:solidFill>
                    <a:srgbClr val="10B5BF"/>
                  </a:solidFill>
                  <a:latin typeface="Poppins Medium"/>
                </a:rPr>
                <a:t> Ardi Anugrah</a:t>
              </a:r>
            </a:p>
            <a:p>
              <a:pPr marL="712467" indent="-356233" lvl="1">
                <a:lnSpc>
                  <a:spcPts val="4619"/>
                </a:lnSpc>
                <a:buFont typeface="Arial"/>
                <a:buChar char="•"/>
              </a:pPr>
              <a:r>
                <a:rPr lang="en-US" sz="3299" spc="65">
                  <a:solidFill>
                    <a:srgbClr val="10B5BF"/>
                  </a:solidFill>
                  <a:latin typeface="Poppins Medium"/>
                </a:rPr>
                <a:t> Elita Lestari Setianto</a:t>
              </a:r>
            </a:p>
            <a:p>
              <a:pPr marL="712467" indent="-356233" lvl="1">
                <a:lnSpc>
                  <a:spcPts val="4619"/>
                </a:lnSpc>
                <a:buFont typeface="Arial"/>
                <a:buChar char="•"/>
              </a:pPr>
              <a:r>
                <a:rPr lang="en-US" sz="3299" spc="65">
                  <a:solidFill>
                    <a:srgbClr val="10B5BF"/>
                  </a:solidFill>
                  <a:latin typeface="Poppins Medium"/>
                </a:rPr>
                <a:t> Fauzan Dwipriyandi</a:t>
              </a:r>
            </a:p>
            <a:p>
              <a:pPr>
                <a:lnSpc>
                  <a:spcPts val="3919"/>
                </a:lnSpc>
              </a:pPr>
            </a:p>
          </p:txBody>
        </p:sp>
      </p:grpSp>
      <p:pic>
        <p:nvPicPr>
          <p:cNvPr name="Picture 7" id="7"/>
          <p:cNvPicPr>
            <a:picLocks noChangeAspect="true"/>
          </p:cNvPicPr>
          <p:nvPr/>
        </p:nvPicPr>
        <p:blipFill>
          <a:blip r:embed="rId3"/>
          <a:srcRect l="0" t="0" r="0" b="0"/>
          <a:stretch>
            <a:fillRect/>
          </a:stretch>
        </p:blipFill>
        <p:spPr>
          <a:xfrm flipH="false" flipV="false" rot="0">
            <a:off x="8120896" y="-716402"/>
            <a:ext cx="3586584" cy="2976864"/>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248098" y="2580135"/>
            <a:ext cx="3832919" cy="4771414"/>
          </a:xfrm>
          <a:prstGeom prst="rect">
            <a:avLst/>
          </a:prstGeom>
        </p:spPr>
      </p:pic>
      <p:sp>
        <p:nvSpPr>
          <p:cNvPr name="TextBox 3" id="3"/>
          <p:cNvSpPr txBox="true"/>
          <p:nvPr/>
        </p:nvSpPr>
        <p:spPr>
          <a:xfrm rot="0">
            <a:off x="1428959" y="8126621"/>
            <a:ext cx="10897493" cy="600075"/>
          </a:xfrm>
          <a:prstGeom prst="rect">
            <a:avLst/>
          </a:prstGeom>
        </p:spPr>
        <p:txBody>
          <a:bodyPr anchor="t" rtlCol="false" tIns="0" lIns="0" bIns="0" rIns="0">
            <a:spAutoFit/>
          </a:bodyPr>
          <a:lstStyle/>
          <a:p>
            <a:pPr algn="ctr">
              <a:lnSpc>
                <a:spcPts val="4799"/>
              </a:lnSpc>
              <a:spcBef>
                <a:spcPct val="0"/>
              </a:spcBef>
            </a:pPr>
            <a:r>
              <a:rPr lang="en-US" sz="3999">
                <a:solidFill>
                  <a:srgbClr val="FFFFFF"/>
                </a:solidFill>
                <a:latin typeface="Poppins Medium"/>
              </a:rPr>
              <a:t>GOLAY CODE -&gt; MARCEL J E GOLAY -&gt; 1949</a:t>
            </a:r>
          </a:p>
        </p:txBody>
      </p:sp>
      <p:sp>
        <p:nvSpPr>
          <p:cNvPr name="TextBox 4" id="4"/>
          <p:cNvSpPr txBox="true"/>
          <p:nvPr/>
        </p:nvSpPr>
        <p:spPr>
          <a:xfrm rot="0">
            <a:off x="5525475" y="2855749"/>
            <a:ext cx="11971517" cy="4495800"/>
          </a:xfrm>
          <a:prstGeom prst="rect">
            <a:avLst/>
          </a:prstGeom>
        </p:spPr>
        <p:txBody>
          <a:bodyPr anchor="t" rtlCol="false" tIns="0" lIns="0" bIns="0" rIns="0">
            <a:spAutoFit/>
          </a:bodyPr>
          <a:lstStyle/>
          <a:p>
            <a:pPr algn="just">
              <a:lnSpc>
                <a:spcPts val="3249"/>
              </a:lnSpc>
            </a:pPr>
            <a:r>
              <a:rPr lang="en-US" sz="2707">
                <a:solidFill>
                  <a:srgbClr val="FFFFFF"/>
                </a:solidFill>
                <a:latin typeface="Poppins Medium"/>
              </a:rPr>
              <a:t>PADA WAKTU MISI VOYAGER MILIK NASA PADA ABAD KE-20 TELAH MENCAPAI JUPITER DAN SATURNUS, GAMBAR-GAMBAR YANG DIAMBIL OLEH DUA PESAWAT RUANG ANGKASA DAN DIBAWA OLEH SINYAL RADIO YANG ITU TERGANGGU OLEH INTERFERENSI. </a:t>
            </a:r>
          </a:p>
          <a:p>
            <a:pPr algn="just">
              <a:lnSpc>
                <a:spcPts val="3249"/>
              </a:lnSpc>
            </a:pPr>
            <a:r>
              <a:rPr lang="en-US" sz="2707">
                <a:solidFill>
                  <a:srgbClr val="FFFFFF"/>
                </a:solidFill>
                <a:latin typeface="Poppins Medium"/>
              </a:rPr>
              <a:t>Untuk mengatasi masalah ini, digunakan metode koreksi kesalahan, sehingga penerima (receivers) yang berada di Bumi mampu memulihkan gambar aslinya yaitu gambar yang belum rusak (uncorrupted). Metode koreksi kesalahan yang digunakan adalah Golay Code yang ditemukan oleh M.J Golay pada tahun 1949.</a:t>
            </a:r>
          </a:p>
          <a:p>
            <a:pPr algn="just">
              <a:lnSpc>
                <a:spcPts val="3249"/>
              </a:lnSpc>
              <a:spcBef>
                <a:spcPct val="0"/>
              </a:spcBef>
            </a:pPr>
          </a:p>
        </p:txBody>
      </p:sp>
      <p:grpSp>
        <p:nvGrpSpPr>
          <p:cNvPr name="Group 5" id="5"/>
          <p:cNvGrpSpPr/>
          <p:nvPr/>
        </p:nvGrpSpPr>
        <p:grpSpPr>
          <a:xfrm rot="0">
            <a:off x="7253691" y="1028700"/>
            <a:ext cx="5072761" cy="2507871"/>
            <a:chOff x="0" y="0"/>
            <a:chExt cx="6763681" cy="3343829"/>
          </a:xfrm>
        </p:grpSpPr>
        <p:sp>
          <p:nvSpPr>
            <p:cNvPr name="TextBox 6" id="6"/>
            <p:cNvSpPr txBox="true"/>
            <p:nvPr/>
          </p:nvSpPr>
          <p:spPr>
            <a:xfrm rot="0">
              <a:off x="0" y="1890619"/>
              <a:ext cx="6763681" cy="504490"/>
            </a:xfrm>
            <a:prstGeom prst="rect">
              <a:avLst/>
            </a:prstGeom>
          </p:spPr>
          <p:txBody>
            <a:bodyPr anchor="t" rtlCol="false" tIns="0" lIns="0" bIns="0" rIns="0">
              <a:spAutoFit/>
            </a:bodyPr>
            <a:lstStyle/>
            <a:p>
              <a:pPr>
                <a:lnSpc>
                  <a:spcPts val="3033"/>
                </a:lnSpc>
              </a:pPr>
            </a:p>
          </p:txBody>
        </p:sp>
        <p:sp>
          <p:nvSpPr>
            <p:cNvPr name="TextBox 7" id="7"/>
            <p:cNvSpPr txBox="true"/>
            <p:nvPr/>
          </p:nvSpPr>
          <p:spPr>
            <a:xfrm rot="0">
              <a:off x="0" y="-4234"/>
              <a:ext cx="6763681" cy="1400175"/>
            </a:xfrm>
            <a:prstGeom prst="rect">
              <a:avLst/>
            </a:prstGeom>
          </p:spPr>
          <p:txBody>
            <a:bodyPr anchor="t" rtlCol="false" tIns="0" lIns="0" bIns="0" rIns="0">
              <a:spAutoFit/>
            </a:bodyPr>
            <a:lstStyle/>
            <a:p>
              <a:pPr>
                <a:lnSpc>
                  <a:spcPts val="8399"/>
                </a:lnSpc>
              </a:pPr>
              <a:r>
                <a:rPr lang="en-US" sz="6999">
                  <a:solidFill>
                    <a:srgbClr val="FFFFFF"/>
                  </a:solidFill>
                  <a:latin typeface="Poppins Medium"/>
                </a:rPr>
                <a:t>SEJARAH</a:t>
              </a:r>
            </a:p>
          </p:txBody>
        </p:sp>
        <p:sp>
          <p:nvSpPr>
            <p:cNvPr name="TextBox 8" id="8"/>
            <p:cNvSpPr txBox="true"/>
            <p:nvPr/>
          </p:nvSpPr>
          <p:spPr>
            <a:xfrm rot="0">
              <a:off x="0" y="2865446"/>
              <a:ext cx="6763681" cy="478383"/>
            </a:xfrm>
            <a:prstGeom prst="rect">
              <a:avLst/>
            </a:prstGeom>
          </p:spPr>
          <p:txBody>
            <a:bodyPr anchor="t" rtlCol="false" tIns="0" lIns="0" bIns="0" rIns="0">
              <a:spAutoFit/>
            </a:bodyPr>
            <a:lstStyle/>
            <a:p>
              <a:pPr>
                <a:lnSpc>
                  <a:spcPts val="3033"/>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4436964" y="410048"/>
            <a:ext cx="3282359" cy="3383875"/>
          </a:xfrm>
          <a:prstGeom prst="rect">
            <a:avLst/>
          </a:prstGeom>
        </p:spPr>
      </p:pic>
      <p:sp>
        <p:nvSpPr>
          <p:cNvPr name="TextBox 3" id="3"/>
          <p:cNvSpPr txBox="true"/>
          <p:nvPr/>
        </p:nvSpPr>
        <p:spPr>
          <a:xfrm rot="0">
            <a:off x="1862014" y="3455231"/>
            <a:ext cx="11971517" cy="2879223"/>
          </a:xfrm>
          <a:prstGeom prst="rect">
            <a:avLst/>
          </a:prstGeom>
        </p:spPr>
        <p:txBody>
          <a:bodyPr anchor="t" rtlCol="false" tIns="0" lIns="0" bIns="0" rIns="0">
            <a:spAutoFit/>
          </a:bodyPr>
          <a:lstStyle/>
          <a:p>
            <a:pPr algn="just">
              <a:lnSpc>
                <a:spcPts val="3249"/>
              </a:lnSpc>
              <a:spcBef>
                <a:spcPct val="0"/>
              </a:spcBef>
            </a:pPr>
          </a:p>
          <a:p>
            <a:pPr algn="just">
              <a:lnSpc>
                <a:spcPts val="3249"/>
              </a:lnSpc>
              <a:spcBef>
                <a:spcPct val="0"/>
              </a:spcBef>
            </a:pPr>
            <a:r>
              <a:rPr lang="en-US" sz="2707">
                <a:solidFill>
                  <a:srgbClr val="FFFFFF"/>
                </a:solidFill>
                <a:latin typeface="Poppins Medium"/>
              </a:rPr>
              <a:t>BINARY G23 (23,12,7)</a:t>
            </a:r>
          </a:p>
          <a:p>
            <a:pPr algn="just">
              <a:lnSpc>
                <a:spcPts val="3249"/>
              </a:lnSpc>
              <a:spcBef>
                <a:spcPct val="0"/>
              </a:spcBef>
            </a:pPr>
            <a:r>
              <a:rPr lang="en-US" sz="2707">
                <a:solidFill>
                  <a:srgbClr val="FFFFFF"/>
                </a:solidFill>
                <a:latin typeface="Poppins Medium"/>
              </a:rPr>
              <a:t>BINARY G24 (24,12,8)</a:t>
            </a:r>
          </a:p>
          <a:p>
            <a:pPr algn="just">
              <a:lnSpc>
                <a:spcPts val="3249"/>
              </a:lnSpc>
              <a:spcBef>
                <a:spcPct val="0"/>
              </a:spcBef>
            </a:pPr>
          </a:p>
          <a:p>
            <a:pPr algn="just">
              <a:lnSpc>
                <a:spcPts val="3249"/>
              </a:lnSpc>
              <a:spcBef>
                <a:spcPct val="0"/>
              </a:spcBef>
            </a:pPr>
            <a:r>
              <a:rPr lang="en-US" sz="2707">
                <a:solidFill>
                  <a:srgbClr val="FFFFFF"/>
                </a:solidFill>
                <a:latin typeface="Poppins Medium"/>
              </a:rPr>
              <a:t>BINARY GOLAY CODE G23 (23,12,7) DAN G24 (24,12,8) BIASANYA DIGUNAKAN SEBAGAI ERROR-CORRECTING CODE DALAM KOMUNIKASI DIGITAL.</a:t>
            </a:r>
          </a:p>
        </p:txBody>
      </p:sp>
      <p:sp>
        <p:nvSpPr>
          <p:cNvPr name="TextBox 4" id="4"/>
          <p:cNvSpPr txBox="true"/>
          <p:nvPr/>
        </p:nvSpPr>
        <p:spPr>
          <a:xfrm rot="0">
            <a:off x="1862014" y="1820998"/>
            <a:ext cx="7113836" cy="561975"/>
          </a:xfrm>
          <a:prstGeom prst="rect">
            <a:avLst/>
          </a:prstGeom>
        </p:spPr>
        <p:txBody>
          <a:bodyPr anchor="t" rtlCol="false" tIns="0" lIns="0" bIns="0" rIns="0">
            <a:spAutoFit/>
          </a:bodyPr>
          <a:lstStyle/>
          <a:p>
            <a:pPr algn="ctr">
              <a:lnSpc>
                <a:spcPts val="4439"/>
              </a:lnSpc>
              <a:spcBef>
                <a:spcPct val="0"/>
              </a:spcBef>
            </a:pPr>
            <a:r>
              <a:rPr lang="en-US" sz="3699">
                <a:solidFill>
                  <a:srgbClr val="FFFFFF"/>
                </a:solidFill>
                <a:latin typeface="Poppins Medium"/>
              </a:rPr>
              <a:t>MACAM-MACAM GOLAY CODE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true" flipV="false" rot="0">
            <a:off x="12533827" y="7555022"/>
            <a:ext cx="4024687" cy="4528480"/>
          </a:xfrm>
          <a:prstGeom prst="rect">
            <a:avLst/>
          </a:prstGeom>
        </p:spPr>
      </p:pic>
      <p:grpSp>
        <p:nvGrpSpPr>
          <p:cNvPr name="Group 3" id="3"/>
          <p:cNvGrpSpPr/>
          <p:nvPr/>
        </p:nvGrpSpPr>
        <p:grpSpPr>
          <a:xfrm rot="0">
            <a:off x="1970534" y="467738"/>
            <a:ext cx="5887373" cy="7927220"/>
            <a:chOff x="0" y="0"/>
            <a:chExt cx="7849830" cy="10569626"/>
          </a:xfrm>
        </p:grpSpPr>
        <p:sp>
          <p:nvSpPr>
            <p:cNvPr name="TextBox 4" id="4"/>
            <p:cNvSpPr txBox="true"/>
            <p:nvPr/>
          </p:nvSpPr>
          <p:spPr>
            <a:xfrm rot="0">
              <a:off x="0" y="-9525"/>
              <a:ext cx="7849830" cy="2778125"/>
            </a:xfrm>
            <a:prstGeom prst="rect">
              <a:avLst/>
            </a:prstGeom>
          </p:spPr>
          <p:txBody>
            <a:bodyPr anchor="t" rtlCol="false" tIns="0" lIns="0" bIns="0" rIns="0">
              <a:spAutoFit/>
            </a:bodyPr>
            <a:lstStyle/>
            <a:p>
              <a:pPr>
                <a:lnSpc>
                  <a:spcPts val="8220"/>
                </a:lnSpc>
              </a:pPr>
              <a:r>
                <a:rPr lang="en-US" sz="6850">
                  <a:solidFill>
                    <a:srgbClr val="FFFFFF"/>
                  </a:solidFill>
                  <a:latin typeface="Poppins Medium Bold"/>
                </a:rPr>
                <a:t>Binary Golay Code</a:t>
              </a:r>
            </a:p>
          </p:txBody>
        </p:sp>
        <p:sp>
          <p:nvSpPr>
            <p:cNvPr name="TextBox 5" id="5"/>
            <p:cNvSpPr txBox="true"/>
            <p:nvPr/>
          </p:nvSpPr>
          <p:spPr>
            <a:xfrm rot="0">
              <a:off x="0" y="4420921"/>
              <a:ext cx="7849830" cy="6067425"/>
            </a:xfrm>
            <a:prstGeom prst="rect">
              <a:avLst/>
            </a:prstGeom>
          </p:spPr>
          <p:txBody>
            <a:bodyPr anchor="t" rtlCol="false" tIns="0" lIns="0" bIns="0" rIns="0">
              <a:spAutoFit/>
            </a:bodyPr>
            <a:lstStyle/>
            <a:p>
              <a:pPr>
                <a:lnSpc>
                  <a:spcPts val="3674"/>
                </a:lnSpc>
              </a:pPr>
              <a:r>
                <a:rPr lang="en-US" sz="2624">
                  <a:solidFill>
                    <a:srgbClr val="FFFFFF"/>
                  </a:solidFill>
                  <a:latin typeface="Poppins Light"/>
                </a:rPr>
                <a:t>Binary Code = [n,k,d]</a:t>
              </a:r>
            </a:p>
            <a:p>
              <a:pPr>
                <a:lnSpc>
                  <a:spcPts val="3674"/>
                </a:lnSpc>
              </a:pPr>
            </a:p>
            <a:p>
              <a:pPr>
                <a:lnSpc>
                  <a:spcPts val="3674"/>
                </a:lnSpc>
              </a:pPr>
              <a:r>
                <a:rPr lang="en-US" sz="2624">
                  <a:solidFill>
                    <a:srgbClr val="FFFFFF"/>
                  </a:solidFill>
                  <a:latin typeface="Poppins Light"/>
                </a:rPr>
                <a:t>n : total bits tiap codeword</a:t>
              </a:r>
            </a:p>
            <a:p>
              <a:pPr>
                <a:lnSpc>
                  <a:spcPts val="3674"/>
                </a:lnSpc>
              </a:pPr>
              <a:r>
                <a:rPr lang="en-US" sz="2624">
                  <a:solidFill>
                    <a:srgbClr val="FFFFFF"/>
                  </a:solidFill>
                  <a:latin typeface="Poppins Light"/>
                </a:rPr>
                <a:t>k : informations bit</a:t>
              </a:r>
            </a:p>
            <a:p>
              <a:pPr>
                <a:lnSpc>
                  <a:spcPts val="3674"/>
                </a:lnSpc>
              </a:pPr>
              <a:r>
                <a:rPr lang="en-US" sz="2624">
                  <a:solidFill>
                    <a:srgbClr val="FFFFFF"/>
                  </a:solidFill>
                  <a:latin typeface="Poppins Light"/>
                </a:rPr>
                <a:t>d : minimum hamming distance</a:t>
              </a:r>
            </a:p>
            <a:p>
              <a:pPr>
                <a:lnSpc>
                  <a:spcPts val="3674"/>
                </a:lnSpc>
              </a:pPr>
              <a:r>
                <a:rPr lang="en-US" sz="2624">
                  <a:solidFill>
                    <a:srgbClr val="FFFFFF"/>
                  </a:solidFill>
                  <a:latin typeface="Poppins Light"/>
                </a:rPr>
                <a:t>Jumlah bit yang dapat dideteksi dan dikoreksi oleh Golay Code adalah sebanyak (d-1)/2. </a:t>
              </a:r>
            </a:p>
            <a:p>
              <a:pPr>
                <a:lnSpc>
                  <a:spcPts val="3674"/>
                </a:lnSpc>
              </a:pPr>
            </a:p>
            <a:p>
              <a:pPr>
                <a:lnSpc>
                  <a:spcPts val="3675"/>
                </a:lnSpc>
              </a:pPr>
            </a:p>
          </p:txBody>
        </p:sp>
        <p:sp>
          <p:nvSpPr>
            <p:cNvPr name="AutoShape 6" id="6"/>
            <p:cNvSpPr/>
            <p:nvPr/>
          </p:nvSpPr>
          <p:spPr>
            <a:xfrm>
              <a:off x="0" y="3636353"/>
              <a:ext cx="7849830" cy="0"/>
            </a:xfrm>
            <a:prstGeom prst="line">
              <a:avLst/>
            </a:prstGeom>
            <a:ln cap="rnd" w="25400">
              <a:solidFill>
                <a:srgbClr val="10B5BF"/>
              </a:solidFill>
              <a:prstDash val="solid"/>
              <a:headEnd type="none" len="sm" w="sm"/>
              <a:tailEnd type="none" len="sm" w="sm"/>
            </a:ln>
          </p:spPr>
        </p:sp>
      </p:grpSp>
      <p:sp>
        <p:nvSpPr>
          <p:cNvPr name="TextBox 7" id="7"/>
          <p:cNvSpPr txBox="true"/>
          <p:nvPr/>
        </p:nvSpPr>
        <p:spPr>
          <a:xfrm rot="0">
            <a:off x="9769250" y="3416935"/>
            <a:ext cx="6161323" cy="2038350"/>
          </a:xfrm>
          <a:prstGeom prst="rect">
            <a:avLst/>
          </a:prstGeom>
        </p:spPr>
        <p:txBody>
          <a:bodyPr anchor="t" rtlCol="false" tIns="0" lIns="0" bIns="0" rIns="0">
            <a:spAutoFit/>
          </a:bodyPr>
          <a:lstStyle/>
          <a:p>
            <a:pPr algn="just">
              <a:lnSpc>
                <a:spcPts val="3240"/>
              </a:lnSpc>
              <a:spcBef>
                <a:spcPct val="0"/>
              </a:spcBef>
            </a:pPr>
            <a:r>
              <a:rPr lang="en-US" sz="2700">
                <a:solidFill>
                  <a:srgbClr val="FFFFFF"/>
                </a:solidFill>
                <a:latin typeface="Poppins Medium"/>
              </a:rPr>
              <a:t>NOTE:</a:t>
            </a:r>
          </a:p>
          <a:p>
            <a:pPr algn="just">
              <a:lnSpc>
                <a:spcPts val="3240"/>
              </a:lnSpc>
              <a:spcBef>
                <a:spcPct val="0"/>
              </a:spcBef>
            </a:pPr>
            <a:r>
              <a:rPr lang="en-US" sz="2700">
                <a:solidFill>
                  <a:srgbClr val="FFFFFF"/>
                </a:solidFill>
                <a:latin typeface="Poppins Medium"/>
              </a:rPr>
              <a:t>D PADA GOLAY CODE ADALAH 7. MAKA MAKSIMUM KESALAHAN YANG DAPAT DIDETEKSI DAN DIKOREKSI ADALAH (7-1)/2 = 3 BIT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143798" y="7231358"/>
            <a:ext cx="6751715" cy="2026942"/>
          </a:xfrm>
          <a:prstGeom prst="rect">
            <a:avLst/>
          </a:prstGeom>
        </p:spPr>
      </p:pic>
      <p:pic>
        <p:nvPicPr>
          <p:cNvPr name="Picture 3" id="3"/>
          <p:cNvPicPr>
            <a:picLocks noChangeAspect="true"/>
          </p:cNvPicPr>
          <p:nvPr/>
        </p:nvPicPr>
        <p:blipFill>
          <a:blip r:embed="rId3"/>
          <a:srcRect l="2185" t="0" r="179" b="0"/>
          <a:stretch>
            <a:fillRect/>
          </a:stretch>
        </p:blipFill>
        <p:spPr>
          <a:xfrm flipH="false" flipV="false" rot="0">
            <a:off x="9561682" y="7231358"/>
            <a:ext cx="8389876" cy="2026942"/>
          </a:xfrm>
          <a:prstGeom prst="rect">
            <a:avLst/>
          </a:prstGeom>
        </p:spPr>
      </p:pic>
      <p:sp>
        <p:nvSpPr>
          <p:cNvPr name="TextBox 4" id="4"/>
          <p:cNvSpPr txBox="true"/>
          <p:nvPr/>
        </p:nvSpPr>
        <p:spPr>
          <a:xfrm rot="0">
            <a:off x="1375885" y="1666763"/>
            <a:ext cx="15536230" cy="1152525"/>
          </a:xfrm>
          <a:prstGeom prst="rect">
            <a:avLst/>
          </a:prstGeom>
        </p:spPr>
        <p:txBody>
          <a:bodyPr anchor="t" rtlCol="false" tIns="0" lIns="0" bIns="0" rIns="0">
            <a:spAutoFit/>
          </a:bodyPr>
          <a:lstStyle/>
          <a:p>
            <a:pPr>
              <a:lnSpc>
                <a:spcPts val="9000"/>
              </a:lnSpc>
            </a:pPr>
            <a:r>
              <a:rPr lang="en-US" sz="7500">
                <a:solidFill>
                  <a:srgbClr val="FFFFFF"/>
                </a:solidFill>
                <a:latin typeface="Poppins Medium Bold"/>
              </a:rPr>
              <a:t>G23 (23,12,7)           G24 (24,12,8)</a:t>
            </a:r>
          </a:p>
        </p:txBody>
      </p:sp>
      <p:sp>
        <p:nvSpPr>
          <p:cNvPr name="TextBox 5" id="5"/>
          <p:cNvSpPr txBox="true"/>
          <p:nvPr/>
        </p:nvSpPr>
        <p:spPr>
          <a:xfrm rot="0">
            <a:off x="1375885" y="4153860"/>
            <a:ext cx="6414641" cy="2305050"/>
          </a:xfrm>
          <a:prstGeom prst="rect">
            <a:avLst/>
          </a:prstGeom>
        </p:spPr>
        <p:txBody>
          <a:bodyPr anchor="t" rtlCol="false" tIns="0" lIns="0" bIns="0" rIns="0">
            <a:spAutoFit/>
          </a:bodyPr>
          <a:lstStyle/>
          <a:p>
            <a:pPr algn="just">
              <a:lnSpc>
                <a:spcPts val="3600"/>
              </a:lnSpc>
              <a:spcBef>
                <a:spcPct val="0"/>
              </a:spcBef>
            </a:pPr>
            <a:r>
              <a:rPr lang="en-US" sz="3000">
                <a:solidFill>
                  <a:srgbClr val="FFFFFF"/>
                </a:solidFill>
                <a:latin typeface="Arimo"/>
              </a:rPr>
              <a:t>TOTAL BITS TIAP CODEWORD : 23</a:t>
            </a:r>
          </a:p>
          <a:p>
            <a:pPr algn="just">
              <a:lnSpc>
                <a:spcPts val="3600"/>
              </a:lnSpc>
              <a:spcBef>
                <a:spcPct val="0"/>
              </a:spcBef>
            </a:pPr>
            <a:r>
              <a:rPr lang="en-US" sz="3000">
                <a:solidFill>
                  <a:srgbClr val="FFFFFF"/>
                </a:solidFill>
                <a:latin typeface="Arimo"/>
              </a:rPr>
              <a:t>INFORMATION BITS : 12</a:t>
            </a:r>
          </a:p>
          <a:p>
            <a:pPr algn="just">
              <a:lnSpc>
                <a:spcPts val="3600"/>
              </a:lnSpc>
              <a:spcBef>
                <a:spcPct val="0"/>
              </a:spcBef>
            </a:pPr>
            <a:r>
              <a:rPr lang="en-US" sz="3000">
                <a:solidFill>
                  <a:srgbClr val="FFFFFF"/>
                </a:solidFill>
                <a:latin typeface="Arimo"/>
              </a:rPr>
              <a:t>CHECK BITS : 11</a:t>
            </a:r>
          </a:p>
          <a:p>
            <a:pPr algn="just">
              <a:lnSpc>
                <a:spcPts val="3600"/>
              </a:lnSpc>
              <a:spcBef>
                <a:spcPct val="0"/>
              </a:spcBef>
            </a:pPr>
            <a:r>
              <a:rPr lang="en-US" sz="3000">
                <a:solidFill>
                  <a:srgbClr val="FFFFFF"/>
                </a:solidFill>
                <a:latin typeface="Arimo"/>
              </a:rPr>
              <a:t>TOTAL CODEWORDS : 2^12 = 4096 </a:t>
            </a:r>
          </a:p>
          <a:p>
            <a:pPr algn="just">
              <a:lnSpc>
                <a:spcPts val="3600"/>
              </a:lnSpc>
              <a:spcBef>
                <a:spcPct val="0"/>
              </a:spcBef>
            </a:pPr>
            <a:r>
              <a:rPr lang="en-US" sz="3000">
                <a:solidFill>
                  <a:srgbClr val="FFFFFF"/>
                </a:solidFill>
                <a:latin typeface="Arimo"/>
              </a:rPr>
              <a:t>MINIMUM HAMMING DISTANCE : 7</a:t>
            </a:r>
          </a:p>
        </p:txBody>
      </p:sp>
      <p:sp>
        <p:nvSpPr>
          <p:cNvPr name="TextBox 6" id="6"/>
          <p:cNvSpPr txBox="true"/>
          <p:nvPr/>
        </p:nvSpPr>
        <p:spPr>
          <a:xfrm rot="0">
            <a:off x="10707950" y="4163385"/>
            <a:ext cx="6097339" cy="2638425"/>
          </a:xfrm>
          <a:prstGeom prst="rect">
            <a:avLst/>
          </a:prstGeom>
        </p:spPr>
        <p:txBody>
          <a:bodyPr anchor="t" rtlCol="false" tIns="0" lIns="0" bIns="0" rIns="0">
            <a:spAutoFit/>
          </a:bodyPr>
          <a:lstStyle/>
          <a:p>
            <a:pPr algn="just">
              <a:lnSpc>
                <a:spcPts val="3480"/>
              </a:lnSpc>
              <a:spcBef>
                <a:spcPct val="0"/>
              </a:spcBef>
            </a:pPr>
            <a:r>
              <a:rPr lang="en-US" sz="2900">
                <a:solidFill>
                  <a:srgbClr val="FFFFFF"/>
                </a:solidFill>
                <a:latin typeface="Arimo"/>
              </a:rPr>
              <a:t>TOTAL BITS TIAP CODEWORD : 24</a:t>
            </a:r>
          </a:p>
          <a:p>
            <a:pPr algn="just">
              <a:lnSpc>
                <a:spcPts val="3480"/>
              </a:lnSpc>
              <a:spcBef>
                <a:spcPct val="0"/>
              </a:spcBef>
            </a:pPr>
            <a:r>
              <a:rPr lang="en-US" sz="2900">
                <a:solidFill>
                  <a:srgbClr val="FFFFFF"/>
                </a:solidFill>
                <a:latin typeface="Arimo"/>
              </a:rPr>
              <a:t>INFORMATION BITS : 12</a:t>
            </a:r>
          </a:p>
          <a:p>
            <a:pPr algn="just">
              <a:lnSpc>
                <a:spcPts val="3480"/>
              </a:lnSpc>
              <a:spcBef>
                <a:spcPct val="0"/>
              </a:spcBef>
            </a:pPr>
            <a:r>
              <a:rPr lang="en-US" sz="2900">
                <a:solidFill>
                  <a:srgbClr val="FFFFFF"/>
                </a:solidFill>
                <a:latin typeface="Arimo"/>
              </a:rPr>
              <a:t>CHECK BITS : 11</a:t>
            </a:r>
          </a:p>
          <a:p>
            <a:pPr algn="just">
              <a:lnSpc>
                <a:spcPts val="3480"/>
              </a:lnSpc>
              <a:spcBef>
                <a:spcPct val="0"/>
              </a:spcBef>
            </a:pPr>
            <a:r>
              <a:rPr lang="en-US" sz="2900">
                <a:solidFill>
                  <a:srgbClr val="FFFFFF"/>
                </a:solidFill>
                <a:latin typeface="Arimo"/>
              </a:rPr>
              <a:t>PARITY BIT : 1</a:t>
            </a:r>
          </a:p>
          <a:p>
            <a:pPr algn="just">
              <a:lnSpc>
                <a:spcPts val="3480"/>
              </a:lnSpc>
              <a:spcBef>
                <a:spcPct val="0"/>
              </a:spcBef>
            </a:pPr>
            <a:r>
              <a:rPr lang="en-US" sz="2900">
                <a:solidFill>
                  <a:srgbClr val="FFFFFF"/>
                </a:solidFill>
                <a:latin typeface="Arimo"/>
              </a:rPr>
              <a:t>TOTAL CODEWORDS : 2^12 = 4096</a:t>
            </a:r>
          </a:p>
          <a:p>
            <a:pPr algn="just">
              <a:lnSpc>
                <a:spcPts val="3480"/>
              </a:lnSpc>
              <a:spcBef>
                <a:spcPct val="0"/>
              </a:spcBef>
            </a:pPr>
            <a:r>
              <a:rPr lang="en-US" sz="2900">
                <a:solidFill>
                  <a:srgbClr val="FFFFFF"/>
                </a:solidFill>
                <a:latin typeface="Arimo"/>
              </a:rPr>
              <a:t>MINIMUM HAMMING DISTANCE : 8</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714500" y="3042779"/>
            <a:ext cx="7023569" cy="3065721"/>
            <a:chOff x="0" y="0"/>
            <a:chExt cx="9364759" cy="4087627"/>
          </a:xfrm>
        </p:grpSpPr>
        <p:sp>
          <p:nvSpPr>
            <p:cNvPr name="TextBox 3" id="3"/>
            <p:cNvSpPr txBox="true"/>
            <p:nvPr/>
          </p:nvSpPr>
          <p:spPr>
            <a:xfrm rot="0">
              <a:off x="0" y="2075564"/>
              <a:ext cx="9364759" cy="698500"/>
            </a:xfrm>
            <a:prstGeom prst="rect">
              <a:avLst/>
            </a:prstGeom>
          </p:spPr>
          <p:txBody>
            <a:bodyPr anchor="t" rtlCol="false" tIns="0" lIns="0" bIns="0" rIns="0">
              <a:spAutoFit/>
            </a:bodyPr>
            <a:lstStyle/>
            <a:p>
              <a:pPr>
                <a:lnSpc>
                  <a:spcPts val="4200"/>
                </a:lnSpc>
              </a:pPr>
            </a:p>
          </p:txBody>
        </p:sp>
        <p:sp>
          <p:nvSpPr>
            <p:cNvPr name="TextBox 4" id="4"/>
            <p:cNvSpPr txBox="true"/>
            <p:nvPr/>
          </p:nvSpPr>
          <p:spPr>
            <a:xfrm rot="0">
              <a:off x="0" y="-19050"/>
              <a:ext cx="9364759" cy="1409700"/>
            </a:xfrm>
            <a:prstGeom prst="rect">
              <a:avLst/>
            </a:prstGeom>
          </p:spPr>
          <p:txBody>
            <a:bodyPr anchor="t" rtlCol="false" tIns="0" lIns="0" bIns="0" rIns="0">
              <a:spAutoFit/>
            </a:bodyPr>
            <a:lstStyle/>
            <a:p>
              <a:pPr>
                <a:lnSpc>
                  <a:spcPts val="8400"/>
                </a:lnSpc>
              </a:pPr>
              <a:r>
                <a:rPr lang="en-US" sz="7000">
                  <a:solidFill>
                    <a:srgbClr val="FFFFFF"/>
                  </a:solidFill>
                  <a:latin typeface="Poppins Medium Bold"/>
                </a:rPr>
                <a:t>ENCODING</a:t>
              </a:r>
            </a:p>
          </p:txBody>
        </p:sp>
        <p:sp>
          <p:nvSpPr>
            <p:cNvPr name="TextBox 5" id="5"/>
            <p:cNvSpPr txBox="true"/>
            <p:nvPr/>
          </p:nvSpPr>
          <p:spPr>
            <a:xfrm rot="0">
              <a:off x="0" y="3411352"/>
              <a:ext cx="9364759" cy="676275"/>
            </a:xfrm>
            <a:prstGeom prst="rect">
              <a:avLst/>
            </a:prstGeom>
          </p:spPr>
          <p:txBody>
            <a:bodyPr anchor="t" rtlCol="false" tIns="0" lIns="0" bIns="0" rIns="0">
              <a:spAutoFit/>
            </a:bodyPr>
            <a:lstStyle/>
            <a:p>
              <a:pPr>
                <a:lnSpc>
                  <a:spcPts val="4200"/>
                </a:lnSpc>
              </a:pPr>
            </a:p>
          </p:txBody>
        </p:sp>
      </p:grpSp>
      <p:grpSp>
        <p:nvGrpSpPr>
          <p:cNvPr name="Group 6" id="6"/>
          <p:cNvGrpSpPr/>
          <p:nvPr/>
        </p:nvGrpSpPr>
        <p:grpSpPr>
          <a:xfrm rot="0">
            <a:off x="13688677" y="763250"/>
            <a:ext cx="3570623" cy="4559057"/>
            <a:chOff x="0" y="0"/>
            <a:chExt cx="4760830" cy="6078743"/>
          </a:xfrm>
        </p:grpSpPr>
        <p:sp>
          <p:nvSpPr>
            <p:cNvPr name="TextBox 7" id="7"/>
            <p:cNvSpPr txBox="true"/>
            <p:nvPr/>
          </p:nvSpPr>
          <p:spPr>
            <a:xfrm rot="0">
              <a:off x="386964" y="5841374"/>
              <a:ext cx="787296" cy="237369"/>
            </a:xfrm>
            <a:prstGeom prst="rect">
              <a:avLst/>
            </a:prstGeom>
          </p:spPr>
          <p:txBody>
            <a:bodyPr anchor="t" rtlCol="false" tIns="0" lIns="0" bIns="0" rIns="0">
              <a:spAutoFit/>
            </a:bodyPr>
            <a:lstStyle/>
            <a:p>
              <a:pPr algn="ctr">
                <a:lnSpc>
                  <a:spcPts val="1551"/>
                </a:lnSpc>
              </a:pPr>
              <a:r>
                <a:rPr lang="en-US" sz="1108">
                  <a:solidFill>
                    <a:srgbClr val="FFFFFF"/>
                  </a:solidFill>
                  <a:latin typeface="Poppins Light"/>
                </a:rPr>
                <a:t>Item 1</a:t>
              </a:r>
            </a:p>
          </p:txBody>
        </p:sp>
        <p:sp>
          <p:nvSpPr>
            <p:cNvPr name="TextBox 8" id="8"/>
            <p:cNvSpPr txBox="true"/>
            <p:nvPr/>
          </p:nvSpPr>
          <p:spPr>
            <a:xfrm rot="0">
              <a:off x="1283606" y="5841374"/>
              <a:ext cx="787296" cy="237369"/>
            </a:xfrm>
            <a:prstGeom prst="rect">
              <a:avLst/>
            </a:prstGeom>
          </p:spPr>
          <p:txBody>
            <a:bodyPr anchor="t" rtlCol="false" tIns="0" lIns="0" bIns="0" rIns="0">
              <a:spAutoFit/>
            </a:bodyPr>
            <a:lstStyle/>
            <a:p>
              <a:pPr algn="ctr">
                <a:lnSpc>
                  <a:spcPts val="1551"/>
                </a:lnSpc>
              </a:pPr>
              <a:r>
                <a:rPr lang="en-US" sz="1108">
                  <a:solidFill>
                    <a:srgbClr val="FFFFFF"/>
                  </a:solidFill>
                  <a:latin typeface="Poppins Light"/>
                </a:rPr>
                <a:t>Item 2</a:t>
              </a:r>
            </a:p>
          </p:txBody>
        </p:sp>
        <p:sp>
          <p:nvSpPr>
            <p:cNvPr name="TextBox 9" id="9"/>
            <p:cNvSpPr txBox="true"/>
            <p:nvPr/>
          </p:nvSpPr>
          <p:spPr>
            <a:xfrm rot="0">
              <a:off x="2180249" y="5841374"/>
              <a:ext cx="787296" cy="237369"/>
            </a:xfrm>
            <a:prstGeom prst="rect">
              <a:avLst/>
            </a:prstGeom>
          </p:spPr>
          <p:txBody>
            <a:bodyPr anchor="t" rtlCol="false" tIns="0" lIns="0" bIns="0" rIns="0">
              <a:spAutoFit/>
            </a:bodyPr>
            <a:lstStyle/>
            <a:p>
              <a:pPr algn="ctr">
                <a:lnSpc>
                  <a:spcPts val="1551"/>
                </a:lnSpc>
              </a:pPr>
              <a:r>
                <a:rPr lang="en-US" sz="1108">
                  <a:solidFill>
                    <a:srgbClr val="FFFFFF"/>
                  </a:solidFill>
                  <a:latin typeface="Poppins Light"/>
                </a:rPr>
                <a:t>Item 3</a:t>
              </a:r>
            </a:p>
          </p:txBody>
        </p:sp>
        <p:sp>
          <p:nvSpPr>
            <p:cNvPr name="TextBox 10" id="10"/>
            <p:cNvSpPr txBox="true"/>
            <p:nvPr/>
          </p:nvSpPr>
          <p:spPr>
            <a:xfrm rot="0">
              <a:off x="3076892" y="5841374"/>
              <a:ext cx="787296" cy="237369"/>
            </a:xfrm>
            <a:prstGeom prst="rect">
              <a:avLst/>
            </a:prstGeom>
          </p:spPr>
          <p:txBody>
            <a:bodyPr anchor="t" rtlCol="false" tIns="0" lIns="0" bIns="0" rIns="0">
              <a:spAutoFit/>
            </a:bodyPr>
            <a:lstStyle/>
            <a:p>
              <a:pPr algn="ctr">
                <a:lnSpc>
                  <a:spcPts val="1551"/>
                </a:lnSpc>
              </a:pPr>
              <a:r>
                <a:rPr lang="en-US" sz="1108">
                  <a:solidFill>
                    <a:srgbClr val="FFFFFF"/>
                  </a:solidFill>
                  <a:latin typeface="Poppins Light"/>
                </a:rPr>
                <a:t>Item 4</a:t>
              </a:r>
            </a:p>
          </p:txBody>
        </p:sp>
        <p:sp>
          <p:nvSpPr>
            <p:cNvPr name="TextBox 11" id="11"/>
            <p:cNvSpPr txBox="true"/>
            <p:nvPr/>
          </p:nvSpPr>
          <p:spPr>
            <a:xfrm rot="0">
              <a:off x="3973534" y="5841374"/>
              <a:ext cx="787296" cy="237369"/>
            </a:xfrm>
            <a:prstGeom prst="rect">
              <a:avLst/>
            </a:prstGeom>
          </p:spPr>
          <p:txBody>
            <a:bodyPr anchor="t" rtlCol="false" tIns="0" lIns="0" bIns="0" rIns="0">
              <a:spAutoFit/>
            </a:bodyPr>
            <a:lstStyle/>
            <a:p>
              <a:pPr algn="ctr">
                <a:lnSpc>
                  <a:spcPts val="1551"/>
                </a:lnSpc>
              </a:pPr>
              <a:r>
                <a:rPr lang="en-US" sz="1108">
                  <a:solidFill>
                    <a:srgbClr val="FFFFFF"/>
                  </a:solidFill>
                  <a:latin typeface="Poppins Light"/>
                </a:rPr>
                <a:t>Item 5</a:t>
              </a:r>
            </a:p>
          </p:txBody>
        </p:sp>
        <p:grpSp>
          <p:nvGrpSpPr>
            <p:cNvPr name="Group 12" id="12"/>
            <p:cNvGrpSpPr>
              <a:grpSpLocks noChangeAspect="true"/>
            </p:cNvGrpSpPr>
            <p:nvPr/>
          </p:nvGrpSpPr>
          <p:grpSpPr>
            <a:xfrm rot="0">
              <a:off x="386964" y="109159"/>
              <a:ext cx="4373866" cy="5657428"/>
              <a:chOff x="0" y="0"/>
              <a:chExt cx="7381704" cy="9547950"/>
            </a:xfrm>
          </p:grpSpPr>
          <p:sp>
            <p:nvSpPr>
              <p:cNvPr name="Freeform 13" id="13"/>
              <p:cNvSpPr/>
              <p:nvPr/>
            </p:nvSpPr>
            <p:spPr>
              <a:xfrm flipH="false" flipV="false">
                <a:off x="0" y="-6350"/>
                <a:ext cx="7381704" cy="12700"/>
              </a:xfrm>
              <a:custGeom>
                <a:avLst/>
                <a:gdLst/>
                <a:ahLst/>
                <a:cxnLst/>
                <a:rect r="r" b="b" t="t" l="l"/>
                <a:pathLst>
                  <a:path h="12700" w="7381704">
                    <a:moveTo>
                      <a:pt x="0" y="0"/>
                    </a:moveTo>
                    <a:lnTo>
                      <a:pt x="7381704" y="0"/>
                    </a:lnTo>
                    <a:lnTo>
                      <a:pt x="7381704" y="12700"/>
                    </a:lnTo>
                    <a:lnTo>
                      <a:pt x="0" y="12700"/>
                    </a:lnTo>
                    <a:close/>
                  </a:path>
                </a:pathLst>
              </a:custGeom>
              <a:solidFill>
                <a:srgbClr val="FFFFFF">
                  <a:alpha val="24706"/>
                </a:srgbClr>
              </a:solidFill>
            </p:spPr>
          </p:sp>
          <p:sp>
            <p:nvSpPr>
              <p:cNvPr name="Freeform 14" id="14"/>
              <p:cNvSpPr/>
              <p:nvPr/>
            </p:nvSpPr>
            <p:spPr>
              <a:xfrm flipH="false" flipV="false">
                <a:off x="0" y="1903240"/>
                <a:ext cx="7381704" cy="12700"/>
              </a:xfrm>
              <a:custGeom>
                <a:avLst/>
                <a:gdLst/>
                <a:ahLst/>
                <a:cxnLst/>
                <a:rect r="r" b="b" t="t" l="l"/>
                <a:pathLst>
                  <a:path h="12700" w="7381704">
                    <a:moveTo>
                      <a:pt x="0" y="0"/>
                    </a:moveTo>
                    <a:lnTo>
                      <a:pt x="7381704" y="0"/>
                    </a:lnTo>
                    <a:lnTo>
                      <a:pt x="7381704" y="12700"/>
                    </a:lnTo>
                    <a:lnTo>
                      <a:pt x="0" y="12700"/>
                    </a:lnTo>
                    <a:close/>
                  </a:path>
                </a:pathLst>
              </a:custGeom>
              <a:solidFill>
                <a:srgbClr val="FFFFFF">
                  <a:alpha val="24706"/>
                </a:srgbClr>
              </a:solidFill>
            </p:spPr>
          </p:sp>
          <p:sp>
            <p:nvSpPr>
              <p:cNvPr name="Freeform 15" id="15"/>
              <p:cNvSpPr/>
              <p:nvPr/>
            </p:nvSpPr>
            <p:spPr>
              <a:xfrm flipH="false" flipV="false">
                <a:off x="0" y="3812830"/>
                <a:ext cx="7381704" cy="12700"/>
              </a:xfrm>
              <a:custGeom>
                <a:avLst/>
                <a:gdLst/>
                <a:ahLst/>
                <a:cxnLst/>
                <a:rect r="r" b="b" t="t" l="l"/>
                <a:pathLst>
                  <a:path h="12700" w="7381704">
                    <a:moveTo>
                      <a:pt x="0" y="0"/>
                    </a:moveTo>
                    <a:lnTo>
                      <a:pt x="7381704" y="0"/>
                    </a:lnTo>
                    <a:lnTo>
                      <a:pt x="7381704" y="12700"/>
                    </a:lnTo>
                    <a:lnTo>
                      <a:pt x="0" y="12700"/>
                    </a:lnTo>
                    <a:close/>
                  </a:path>
                </a:pathLst>
              </a:custGeom>
              <a:solidFill>
                <a:srgbClr val="FFFFFF">
                  <a:alpha val="24706"/>
                </a:srgbClr>
              </a:solidFill>
            </p:spPr>
          </p:sp>
          <p:sp>
            <p:nvSpPr>
              <p:cNvPr name="Freeform 16" id="16"/>
              <p:cNvSpPr/>
              <p:nvPr/>
            </p:nvSpPr>
            <p:spPr>
              <a:xfrm flipH="false" flipV="false">
                <a:off x="0" y="5722420"/>
                <a:ext cx="7381704" cy="12700"/>
              </a:xfrm>
              <a:custGeom>
                <a:avLst/>
                <a:gdLst/>
                <a:ahLst/>
                <a:cxnLst/>
                <a:rect r="r" b="b" t="t" l="l"/>
                <a:pathLst>
                  <a:path h="12700" w="7381704">
                    <a:moveTo>
                      <a:pt x="0" y="0"/>
                    </a:moveTo>
                    <a:lnTo>
                      <a:pt x="7381704" y="0"/>
                    </a:lnTo>
                    <a:lnTo>
                      <a:pt x="7381704" y="12700"/>
                    </a:lnTo>
                    <a:lnTo>
                      <a:pt x="0" y="12700"/>
                    </a:lnTo>
                    <a:close/>
                  </a:path>
                </a:pathLst>
              </a:custGeom>
              <a:solidFill>
                <a:srgbClr val="FFFFFF">
                  <a:alpha val="24706"/>
                </a:srgbClr>
              </a:solidFill>
            </p:spPr>
          </p:sp>
          <p:sp>
            <p:nvSpPr>
              <p:cNvPr name="Freeform 17" id="17"/>
              <p:cNvSpPr/>
              <p:nvPr/>
            </p:nvSpPr>
            <p:spPr>
              <a:xfrm flipH="false" flipV="false">
                <a:off x="0" y="7632010"/>
                <a:ext cx="7381704" cy="12700"/>
              </a:xfrm>
              <a:custGeom>
                <a:avLst/>
                <a:gdLst/>
                <a:ahLst/>
                <a:cxnLst/>
                <a:rect r="r" b="b" t="t" l="l"/>
                <a:pathLst>
                  <a:path h="12700" w="7381704">
                    <a:moveTo>
                      <a:pt x="0" y="0"/>
                    </a:moveTo>
                    <a:lnTo>
                      <a:pt x="7381704" y="0"/>
                    </a:lnTo>
                    <a:lnTo>
                      <a:pt x="7381704" y="12700"/>
                    </a:lnTo>
                    <a:lnTo>
                      <a:pt x="0" y="12700"/>
                    </a:lnTo>
                    <a:close/>
                  </a:path>
                </a:pathLst>
              </a:custGeom>
              <a:solidFill>
                <a:srgbClr val="FFFFFF">
                  <a:alpha val="24706"/>
                </a:srgbClr>
              </a:solidFill>
            </p:spPr>
          </p:sp>
          <p:sp>
            <p:nvSpPr>
              <p:cNvPr name="Freeform 18" id="18"/>
              <p:cNvSpPr/>
              <p:nvPr/>
            </p:nvSpPr>
            <p:spPr>
              <a:xfrm flipH="false" flipV="false">
                <a:off x="0" y="9541600"/>
                <a:ext cx="7381704" cy="12700"/>
              </a:xfrm>
              <a:custGeom>
                <a:avLst/>
                <a:gdLst/>
                <a:ahLst/>
                <a:cxnLst/>
                <a:rect r="r" b="b" t="t" l="l"/>
                <a:pathLst>
                  <a:path h="12700" w="7381704">
                    <a:moveTo>
                      <a:pt x="0" y="0"/>
                    </a:moveTo>
                    <a:lnTo>
                      <a:pt x="7381704" y="0"/>
                    </a:lnTo>
                    <a:lnTo>
                      <a:pt x="7381704" y="12700"/>
                    </a:lnTo>
                    <a:lnTo>
                      <a:pt x="0" y="12700"/>
                    </a:lnTo>
                    <a:close/>
                  </a:path>
                </a:pathLst>
              </a:custGeom>
              <a:solidFill>
                <a:srgbClr val="FFFFFF">
                  <a:alpha val="60000"/>
                </a:srgbClr>
              </a:solidFill>
            </p:spPr>
          </p:sp>
        </p:grpSp>
        <p:sp>
          <p:nvSpPr>
            <p:cNvPr name="TextBox 19" id="19"/>
            <p:cNvSpPr txBox="true"/>
            <p:nvPr/>
          </p:nvSpPr>
          <p:spPr>
            <a:xfrm rot="0">
              <a:off x="0" y="-19050"/>
              <a:ext cx="293126" cy="237369"/>
            </a:xfrm>
            <a:prstGeom prst="rect">
              <a:avLst/>
            </a:prstGeom>
          </p:spPr>
          <p:txBody>
            <a:bodyPr anchor="t" rtlCol="false" tIns="0" lIns="0" bIns="0" rIns="0">
              <a:spAutoFit/>
            </a:bodyPr>
            <a:lstStyle/>
            <a:p>
              <a:pPr algn="r">
                <a:lnSpc>
                  <a:spcPts val="1551"/>
                </a:lnSpc>
              </a:pPr>
              <a:r>
                <a:rPr lang="en-US" sz="1108">
                  <a:solidFill>
                    <a:srgbClr val="FFFFFF"/>
                  </a:solidFill>
                  <a:latin typeface="Poppins Light"/>
                </a:rPr>
                <a:t>50 </a:t>
              </a:r>
            </a:p>
          </p:txBody>
        </p:sp>
        <p:sp>
          <p:nvSpPr>
            <p:cNvPr name="TextBox 20" id="20"/>
            <p:cNvSpPr txBox="true"/>
            <p:nvPr/>
          </p:nvSpPr>
          <p:spPr>
            <a:xfrm rot="0">
              <a:off x="1293" y="1112436"/>
              <a:ext cx="291833" cy="237369"/>
            </a:xfrm>
            <a:prstGeom prst="rect">
              <a:avLst/>
            </a:prstGeom>
          </p:spPr>
          <p:txBody>
            <a:bodyPr anchor="t" rtlCol="false" tIns="0" lIns="0" bIns="0" rIns="0">
              <a:spAutoFit/>
            </a:bodyPr>
            <a:lstStyle/>
            <a:p>
              <a:pPr algn="r">
                <a:lnSpc>
                  <a:spcPts val="1551"/>
                </a:lnSpc>
              </a:pPr>
              <a:r>
                <a:rPr lang="en-US" sz="1108">
                  <a:solidFill>
                    <a:srgbClr val="FFFFFF"/>
                  </a:solidFill>
                  <a:latin typeface="Poppins Light"/>
                </a:rPr>
                <a:t>40 </a:t>
              </a:r>
            </a:p>
          </p:txBody>
        </p:sp>
        <p:sp>
          <p:nvSpPr>
            <p:cNvPr name="TextBox 21" id="21"/>
            <p:cNvSpPr txBox="true"/>
            <p:nvPr/>
          </p:nvSpPr>
          <p:spPr>
            <a:xfrm rot="0">
              <a:off x="8466" y="2243921"/>
              <a:ext cx="284661" cy="237369"/>
            </a:xfrm>
            <a:prstGeom prst="rect">
              <a:avLst/>
            </a:prstGeom>
          </p:spPr>
          <p:txBody>
            <a:bodyPr anchor="t" rtlCol="false" tIns="0" lIns="0" bIns="0" rIns="0">
              <a:spAutoFit/>
            </a:bodyPr>
            <a:lstStyle/>
            <a:p>
              <a:pPr algn="r">
                <a:lnSpc>
                  <a:spcPts val="1551"/>
                </a:lnSpc>
              </a:pPr>
              <a:r>
                <a:rPr lang="en-US" sz="1108">
                  <a:solidFill>
                    <a:srgbClr val="FFFFFF"/>
                  </a:solidFill>
                  <a:latin typeface="Poppins Light"/>
                </a:rPr>
                <a:t>30 </a:t>
              </a:r>
            </a:p>
          </p:txBody>
        </p:sp>
        <p:sp>
          <p:nvSpPr>
            <p:cNvPr name="TextBox 22" id="22"/>
            <p:cNvSpPr txBox="true"/>
            <p:nvPr/>
          </p:nvSpPr>
          <p:spPr>
            <a:xfrm rot="0">
              <a:off x="9171" y="3375407"/>
              <a:ext cx="283955" cy="237369"/>
            </a:xfrm>
            <a:prstGeom prst="rect">
              <a:avLst/>
            </a:prstGeom>
          </p:spPr>
          <p:txBody>
            <a:bodyPr anchor="t" rtlCol="false" tIns="0" lIns="0" bIns="0" rIns="0">
              <a:spAutoFit/>
            </a:bodyPr>
            <a:lstStyle/>
            <a:p>
              <a:pPr algn="r">
                <a:lnSpc>
                  <a:spcPts val="1551"/>
                </a:lnSpc>
              </a:pPr>
              <a:r>
                <a:rPr lang="en-US" sz="1108">
                  <a:solidFill>
                    <a:srgbClr val="FFFFFF"/>
                  </a:solidFill>
                  <a:latin typeface="Poppins Light"/>
                </a:rPr>
                <a:t>20 </a:t>
              </a:r>
            </a:p>
          </p:txBody>
        </p:sp>
        <p:sp>
          <p:nvSpPr>
            <p:cNvPr name="TextBox 23" id="23"/>
            <p:cNvSpPr txBox="true"/>
            <p:nvPr/>
          </p:nvSpPr>
          <p:spPr>
            <a:xfrm rot="0">
              <a:off x="62788" y="4506892"/>
              <a:ext cx="230339" cy="237369"/>
            </a:xfrm>
            <a:prstGeom prst="rect">
              <a:avLst/>
            </a:prstGeom>
          </p:spPr>
          <p:txBody>
            <a:bodyPr anchor="t" rtlCol="false" tIns="0" lIns="0" bIns="0" rIns="0">
              <a:spAutoFit/>
            </a:bodyPr>
            <a:lstStyle/>
            <a:p>
              <a:pPr algn="r">
                <a:lnSpc>
                  <a:spcPts val="1551"/>
                </a:lnSpc>
              </a:pPr>
              <a:r>
                <a:rPr lang="en-US" sz="1108">
                  <a:solidFill>
                    <a:srgbClr val="FFFFFF"/>
                  </a:solidFill>
                  <a:latin typeface="Poppins Light"/>
                </a:rPr>
                <a:t>10 </a:t>
              </a:r>
            </a:p>
          </p:txBody>
        </p:sp>
        <p:sp>
          <p:nvSpPr>
            <p:cNvPr name="TextBox 24" id="24"/>
            <p:cNvSpPr txBox="true"/>
            <p:nvPr/>
          </p:nvSpPr>
          <p:spPr>
            <a:xfrm rot="0">
              <a:off x="118168" y="5638378"/>
              <a:ext cx="174959" cy="237369"/>
            </a:xfrm>
            <a:prstGeom prst="rect">
              <a:avLst/>
            </a:prstGeom>
          </p:spPr>
          <p:txBody>
            <a:bodyPr anchor="t" rtlCol="false" tIns="0" lIns="0" bIns="0" rIns="0">
              <a:spAutoFit/>
            </a:bodyPr>
            <a:lstStyle/>
            <a:p>
              <a:pPr algn="r">
                <a:lnSpc>
                  <a:spcPts val="1551"/>
                </a:lnSpc>
              </a:pPr>
              <a:r>
                <a:rPr lang="en-US" sz="1108">
                  <a:solidFill>
                    <a:srgbClr val="FFFFFF"/>
                  </a:solidFill>
                  <a:latin typeface="Poppins Light"/>
                </a:rPr>
                <a:t>0 </a:t>
              </a:r>
            </a:p>
          </p:txBody>
        </p:sp>
        <p:grpSp>
          <p:nvGrpSpPr>
            <p:cNvPr name="Group 25" id="25"/>
            <p:cNvGrpSpPr>
              <a:grpSpLocks noChangeAspect="true"/>
            </p:cNvGrpSpPr>
            <p:nvPr/>
          </p:nvGrpSpPr>
          <p:grpSpPr>
            <a:xfrm rot="0">
              <a:off x="386964" y="109159"/>
              <a:ext cx="4373866" cy="5657428"/>
              <a:chOff x="0" y="0"/>
              <a:chExt cx="7381704" cy="9547950"/>
            </a:xfrm>
          </p:grpSpPr>
          <p:sp>
            <p:nvSpPr>
              <p:cNvPr name="Freeform 26" id="26"/>
              <p:cNvSpPr/>
              <p:nvPr/>
            </p:nvSpPr>
            <p:spPr>
              <a:xfrm flipH="false" flipV="false">
                <a:off x="-1752" y="7625607"/>
                <a:ext cx="1332211" cy="1922342"/>
              </a:xfrm>
              <a:custGeom>
                <a:avLst/>
                <a:gdLst/>
                <a:ahLst/>
                <a:cxnLst/>
                <a:rect r="r" b="b" t="t" l="l"/>
                <a:pathLst>
                  <a:path h="1922342" w="1332211">
                    <a:moveTo>
                      <a:pt x="1752" y="1922343"/>
                    </a:moveTo>
                    <a:lnTo>
                      <a:pt x="1752" y="112700"/>
                    </a:lnTo>
                    <a:lnTo>
                      <a:pt x="1752" y="112700"/>
                    </a:lnTo>
                    <a:cubicBezTo>
                      <a:pt x="0" y="83425"/>
                      <a:pt x="10421" y="54727"/>
                      <a:pt x="30548" y="33397"/>
                    </a:cubicBezTo>
                    <a:cubicBezTo>
                      <a:pt x="50676" y="12067"/>
                      <a:pt x="78721" y="0"/>
                      <a:pt x="108049" y="53"/>
                    </a:cubicBezTo>
                    <a:lnTo>
                      <a:pt x="1224162" y="53"/>
                    </a:lnTo>
                    <a:cubicBezTo>
                      <a:pt x="1253489" y="0"/>
                      <a:pt x="1281535" y="12067"/>
                      <a:pt x="1301662" y="33397"/>
                    </a:cubicBezTo>
                    <a:cubicBezTo>
                      <a:pt x="1321790" y="54727"/>
                      <a:pt x="1332211" y="83425"/>
                      <a:pt x="1330459" y="112700"/>
                    </a:cubicBezTo>
                    <a:lnTo>
                      <a:pt x="1330459" y="1922343"/>
                    </a:lnTo>
                    <a:close/>
                  </a:path>
                </a:pathLst>
              </a:custGeom>
              <a:solidFill>
                <a:srgbClr val="FFFFFF"/>
              </a:solidFill>
            </p:spPr>
          </p:sp>
          <p:sp>
            <p:nvSpPr>
              <p:cNvPr name="Freeform 27" id="27"/>
              <p:cNvSpPr/>
              <p:nvPr/>
            </p:nvSpPr>
            <p:spPr>
              <a:xfrm flipH="false" flipV="false">
                <a:off x="1513249" y="5722420"/>
                <a:ext cx="1328707" cy="3825530"/>
              </a:xfrm>
              <a:custGeom>
                <a:avLst/>
                <a:gdLst/>
                <a:ahLst/>
                <a:cxnLst/>
                <a:rect r="r" b="b" t="t" l="l"/>
                <a:pathLst>
                  <a:path h="3825530" w="1328707">
                    <a:moveTo>
                      <a:pt x="0" y="3825530"/>
                    </a:moveTo>
                    <a:lnTo>
                      <a:pt x="0" y="106297"/>
                    </a:lnTo>
                    <a:cubicBezTo>
                      <a:pt x="0" y="78105"/>
                      <a:pt x="11199" y="51068"/>
                      <a:pt x="31134" y="31134"/>
                    </a:cubicBezTo>
                    <a:cubicBezTo>
                      <a:pt x="51068" y="11199"/>
                      <a:pt x="78105" y="0"/>
                      <a:pt x="106297" y="0"/>
                    </a:cubicBezTo>
                    <a:lnTo>
                      <a:pt x="1222410" y="0"/>
                    </a:lnTo>
                    <a:cubicBezTo>
                      <a:pt x="1250602" y="0"/>
                      <a:pt x="1277639" y="11199"/>
                      <a:pt x="1297573" y="31133"/>
                    </a:cubicBezTo>
                    <a:cubicBezTo>
                      <a:pt x="1317508" y="51068"/>
                      <a:pt x="1328707" y="78105"/>
                      <a:pt x="1328707" y="106297"/>
                    </a:cubicBezTo>
                    <a:lnTo>
                      <a:pt x="1328707" y="3825530"/>
                    </a:lnTo>
                    <a:close/>
                  </a:path>
                </a:pathLst>
              </a:custGeom>
              <a:solidFill>
                <a:srgbClr val="FFFFFF"/>
              </a:solidFill>
            </p:spPr>
          </p:sp>
          <p:sp>
            <p:nvSpPr>
              <p:cNvPr name="Freeform 28" id="28"/>
              <p:cNvSpPr/>
              <p:nvPr/>
            </p:nvSpPr>
            <p:spPr>
              <a:xfrm flipH="false" flipV="false">
                <a:off x="3026499" y="3812830"/>
                <a:ext cx="1328706" cy="5735120"/>
              </a:xfrm>
              <a:custGeom>
                <a:avLst/>
                <a:gdLst/>
                <a:ahLst/>
                <a:cxnLst/>
                <a:rect r="r" b="b" t="t" l="l"/>
                <a:pathLst>
                  <a:path h="5735120" w="1328706">
                    <a:moveTo>
                      <a:pt x="0" y="5735120"/>
                    </a:moveTo>
                    <a:lnTo>
                      <a:pt x="0" y="106297"/>
                    </a:lnTo>
                    <a:cubicBezTo>
                      <a:pt x="0" y="78105"/>
                      <a:pt x="11199" y="51068"/>
                      <a:pt x="31133" y="31133"/>
                    </a:cubicBezTo>
                    <a:cubicBezTo>
                      <a:pt x="51068" y="11199"/>
                      <a:pt x="78105" y="0"/>
                      <a:pt x="106296" y="0"/>
                    </a:cubicBezTo>
                    <a:lnTo>
                      <a:pt x="1222410" y="0"/>
                    </a:lnTo>
                    <a:cubicBezTo>
                      <a:pt x="1281116" y="0"/>
                      <a:pt x="1328706" y="47591"/>
                      <a:pt x="1328706" y="106297"/>
                    </a:cubicBezTo>
                    <a:lnTo>
                      <a:pt x="1328706" y="5735120"/>
                    </a:lnTo>
                    <a:close/>
                  </a:path>
                </a:pathLst>
              </a:custGeom>
              <a:solidFill>
                <a:srgbClr val="FFFFFF"/>
              </a:solidFill>
            </p:spPr>
          </p:sp>
          <p:sp>
            <p:nvSpPr>
              <p:cNvPr name="Freeform 29" id="29"/>
              <p:cNvSpPr/>
              <p:nvPr/>
            </p:nvSpPr>
            <p:spPr>
              <a:xfrm flipH="false" flipV="false">
                <a:off x="4539748" y="1903240"/>
                <a:ext cx="1328707" cy="7644710"/>
              </a:xfrm>
              <a:custGeom>
                <a:avLst/>
                <a:gdLst/>
                <a:ahLst/>
                <a:cxnLst/>
                <a:rect r="r" b="b" t="t" l="l"/>
                <a:pathLst>
                  <a:path h="7644710" w="1328707">
                    <a:moveTo>
                      <a:pt x="0" y="7644710"/>
                    </a:moveTo>
                    <a:lnTo>
                      <a:pt x="0" y="106296"/>
                    </a:lnTo>
                    <a:cubicBezTo>
                      <a:pt x="0" y="47591"/>
                      <a:pt x="47590" y="0"/>
                      <a:pt x="106296" y="0"/>
                    </a:cubicBezTo>
                    <a:lnTo>
                      <a:pt x="1222410" y="0"/>
                    </a:lnTo>
                    <a:cubicBezTo>
                      <a:pt x="1281116" y="0"/>
                      <a:pt x="1328707" y="47591"/>
                      <a:pt x="1328707" y="106296"/>
                    </a:cubicBezTo>
                    <a:lnTo>
                      <a:pt x="1328707" y="7644710"/>
                    </a:lnTo>
                    <a:close/>
                  </a:path>
                </a:pathLst>
              </a:custGeom>
              <a:solidFill>
                <a:srgbClr val="FFFFFF"/>
              </a:solidFill>
            </p:spPr>
          </p:sp>
          <p:sp>
            <p:nvSpPr>
              <p:cNvPr name="Freeform 30" id="30"/>
              <p:cNvSpPr/>
              <p:nvPr/>
            </p:nvSpPr>
            <p:spPr>
              <a:xfrm flipH="false" flipV="false">
                <a:off x="6052997" y="-6350"/>
                <a:ext cx="1328706" cy="9554300"/>
              </a:xfrm>
              <a:custGeom>
                <a:avLst/>
                <a:gdLst/>
                <a:ahLst/>
                <a:cxnLst/>
                <a:rect r="r" b="b" t="t" l="l"/>
                <a:pathLst>
                  <a:path h="9554300" w="1328706">
                    <a:moveTo>
                      <a:pt x="0" y="9554300"/>
                    </a:moveTo>
                    <a:lnTo>
                      <a:pt x="0" y="106297"/>
                    </a:lnTo>
                    <a:cubicBezTo>
                      <a:pt x="0" y="78105"/>
                      <a:pt x="11199" y="51068"/>
                      <a:pt x="31134" y="31134"/>
                    </a:cubicBezTo>
                    <a:cubicBezTo>
                      <a:pt x="51068" y="11199"/>
                      <a:pt x="78105" y="0"/>
                      <a:pt x="106297" y="0"/>
                    </a:cubicBezTo>
                    <a:lnTo>
                      <a:pt x="1222410" y="0"/>
                    </a:lnTo>
                    <a:cubicBezTo>
                      <a:pt x="1250601" y="0"/>
                      <a:pt x="1277638" y="11199"/>
                      <a:pt x="1297573" y="31134"/>
                    </a:cubicBezTo>
                    <a:cubicBezTo>
                      <a:pt x="1317507" y="51068"/>
                      <a:pt x="1328707" y="78105"/>
                      <a:pt x="1328707" y="106297"/>
                    </a:cubicBezTo>
                    <a:lnTo>
                      <a:pt x="1328707" y="9554300"/>
                    </a:lnTo>
                    <a:close/>
                  </a:path>
                </a:pathLst>
              </a:custGeom>
              <a:solidFill>
                <a:srgbClr val="FFFFFF"/>
              </a:solidFill>
            </p:spPr>
          </p:sp>
          <p:sp>
            <p:nvSpPr>
              <p:cNvPr name="Freeform 31" id="31"/>
              <p:cNvSpPr/>
              <p:nvPr/>
            </p:nvSpPr>
            <p:spPr>
              <a:xfrm flipH="false" flipV="false">
                <a:off x="0" y="8586805"/>
                <a:ext cx="1328707" cy="961144"/>
              </a:xfrm>
              <a:custGeom>
                <a:avLst/>
                <a:gdLst/>
                <a:ahLst/>
                <a:cxnLst/>
                <a:rect r="r" b="b" t="t" l="l"/>
                <a:pathLst>
                  <a:path h="961144" w="1328707">
                    <a:moveTo>
                      <a:pt x="0" y="0"/>
                    </a:moveTo>
                    <a:lnTo>
                      <a:pt x="1328707" y="0"/>
                    </a:lnTo>
                    <a:lnTo>
                      <a:pt x="1328707" y="961145"/>
                    </a:lnTo>
                    <a:lnTo>
                      <a:pt x="0" y="961145"/>
                    </a:lnTo>
                    <a:close/>
                  </a:path>
                </a:pathLst>
              </a:custGeom>
              <a:solidFill>
                <a:srgbClr val="FFFFFF"/>
              </a:solidFill>
            </p:spPr>
          </p:sp>
          <p:sp>
            <p:nvSpPr>
              <p:cNvPr name="Freeform 32" id="32"/>
              <p:cNvSpPr/>
              <p:nvPr/>
            </p:nvSpPr>
            <p:spPr>
              <a:xfrm flipH="false" flipV="false">
                <a:off x="1513249" y="6487526"/>
                <a:ext cx="1328707" cy="3060424"/>
              </a:xfrm>
              <a:custGeom>
                <a:avLst/>
                <a:gdLst/>
                <a:ahLst/>
                <a:cxnLst/>
                <a:rect r="r" b="b" t="t" l="l"/>
                <a:pathLst>
                  <a:path h="3060424" w="1328707">
                    <a:moveTo>
                      <a:pt x="0" y="0"/>
                    </a:moveTo>
                    <a:lnTo>
                      <a:pt x="1328707" y="0"/>
                    </a:lnTo>
                    <a:lnTo>
                      <a:pt x="1328707" y="3060424"/>
                    </a:lnTo>
                    <a:lnTo>
                      <a:pt x="0" y="3060424"/>
                    </a:lnTo>
                    <a:close/>
                  </a:path>
                </a:pathLst>
              </a:custGeom>
              <a:solidFill>
                <a:srgbClr val="FFFFFF"/>
              </a:solidFill>
            </p:spPr>
          </p:sp>
          <p:sp>
            <p:nvSpPr>
              <p:cNvPr name="Freeform 33" id="33"/>
              <p:cNvSpPr/>
              <p:nvPr/>
            </p:nvSpPr>
            <p:spPr>
              <a:xfrm flipH="false" flipV="false">
                <a:off x="3026499" y="4768683"/>
                <a:ext cx="1328706" cy="4779266"/>
              </a:xfrm>
              <a:custGeom>
                <a:avLst/>
                <a:gdLst/>
                <a:ahLst/>
                <a:cxnLst/>
                <a:rect r="r" b="b" t="t" l="l"/>
                <a:pathLst>
                  <a:path h="4779266" w="1328706">
                    <a:moveTo>
                      <a:pt x="0" y="0"/>
                    </a:moveTo>
                    <a:lnTo>
                      <a:pt x="1328706" y="0"/>
                    </a:lnTo>
                    <a:lnTo>
                      <a:pt x="1328706" y="4779267"/>
                    </a:lnTo>
                    <a:lnTo>
                      <a:pt x="0" y="4779267"/>
                    </a:lnTo>
                    <a:close/>
                  </a:path>
                </a:pathLst>
              </a:custGeom>
              <a:solidFill>
                <a:srgbClr val="FFFFFF"/>
              </a:solidFill>
            </p:spPr>
          </p:sp>
          <p:sp>
            <p:nvSpPr>
              <p:cNvPr name="Freeform 34" id="34"/>
              <p:cNvSpPr/>
              <p:nvPr/>
            </p:nvSpPr>
            <p:spPr>
              <a:xfrm flipH="false" flipV="false">
                <a:off x="4539748" y="3432182"/>
                <a:ext cx="1328707" cy="6115768"/>
              </a:xfrm>
              <a:custGeom>
                <a:avLst/>
                <a:gdLst/>
                <a:ahLst/>
                <a:cxnLst/>
                <a:rect r="r" b="b" t="t" l="l"/>
                <a:pathLst>
                  <a:path h="6115768" w="1328707">
                    <a:moveTo>
                      <a:pt x="0" y="0"/>
                    </a:moveTo>
                    <a:lnTo>
                      <a:pt x="1328707" y="0"/>
                    </a:lnTo>
                    <a:lnTo>
                      <a:pt x="1328707" y="6115768"/>
                    </a:lnTo>
                    <a:lnTo>
                      <a:pt x="0" y="6115768"/>
                    </a:lnTo>
                    <a:close/>
                  </a:path>
                </a:pathLst>
              </a:custGeom>
              <a:solidFill>
                <a:srgbClr val="FFFFFF"/>
              </a:solidFill>
            </p:spPr>
          </p:sp>
          <p:sp>
            <p:nvSpPr>
              <p:cNvPr name="Freeform 35" id="35"/>
              <p:cNvSpPr/>
              <p:nvPr/>
            </p:nvSpPr>
            <p:spPr>
              <a:xfrm flipH="false" flipV="false">
                <a:off x="6052997" y="1522338"/>
                <a:ext cx="1328706" cy="8025612"/>
              </a:xfrm>
              <a:custGeom>
                <a:avLst/>
                <a:gdLst/>
                <a:ahLst/>
                <a:cxnLst/>
                <a:rect r="r" b="b" t="t" l="l"/>
                <a:pathLst>
                  <a:path h="8025612" w="1328706">
                    <a:moveTo>
                      <a:pt x="0" y="0"/>
                    </a:moveTo>
                    <a:lnTo>
                      <a:pt x="1328707" y="0"/>
                    </a:lnTo>
                    <a:lnTo>
                      <a:pt x="1328707" y="8025612"/>
                    </a:lnTo>
                    <a:lnTo>
                      <a:pt x="0" y="8025612"/>
                    </a:lnTo>
                    <a:close/>
                  </a:path>
                </a:pathLst>
              </a:custGeom>
              <a:solidFill>
                <a:srgbClr val="FFFFFF"/>
              </a:solidFill>
            </p:spPr>
          </p:sp>
          <p:sp>
            <p:nvSpPr>
              <p:cNvPr name="Freeform 36" id="36"/>
              <p:cNvSpPr/>
              <p:nvPr/>
            </p:nvSpPr>
            <p:spPr>
              <a:xfrm flipH="false" flipV="false">
                <a:off x="0" y="9547950"/>
                <a:ext cx="1328707" cy="0"/>
              </a:xfrm>
              <a:custGeom>
                <a:avLst/>
                <a:gdLst/>
                <a:ahLst/>
                <a:cxnLst/>
                <a:rect r="r" b="b" t="t" l="l"/>
                <a:pathLst>
                  <a:path h="0" w="1328707">
                    <a:moveTo>
                      <a:pt x="0" y="0"/>
                    </a:moveTo>
                    <a:lnTo>
                      <a:pt x="1328707" y="0"/>
                    </a:lnTo>
                    <a:lnTo>
                      <a:pt x="1328707" y="0"/>
                    </a:lnTo>
                    <a:lnTo>
                      <a:pt x="0" y="0"/>
                    </a:lnTo>
                    <a:close/>
                  </a:path>
                </a:pathLst>
              </a:custGeom>
              <a:solidFill>
                <a:srgbClr val="10B5BF"/>
              </a:solidFill>
            </p:spPr>
          </p:sp>
          <p:sp>
            <p:nvSpPr>
              <p:cNvPr name="Freeform 37" id="37"/>
              <p:cNvSpPr/>
              <p:nvPr/>
            </p:nvSpPr>
            <p:spPr>
              <a:xfrm flipH="false" flipV="false">
                <a:off x="1513249" y="8017738"/>
                <a:ext cx="1328707" cy="1530212"/>
              </a:xfrm>
              <a:custGeom>
                <a:avLst/>
                <a:gdLst/>
                <a:ahLst/>
                <a:cxnLst/>
                <a:rect r="r" b="b" t="t" l="l"/>
                <a:pathLst>
                  <a:path h="1530212" w="1328707">
                    <a:moveTo>
                      <a:pt x="0" y="0"/>
                    </a:moveTo>
                    <a:lnTo>
                      <a:pt x="1328707" y="0"/>
                    </a:lnTo>
                    <a:lnTo>
                      <a:pt x="1328707" y="1530212"/>
                    </a:lnTo>
                    <a:lnTo>
                      <a:pt x="0" y="1530212"/>
                    </a:lnTo>
                    <a:close/>
                  </a:path>
                </a:pathLst>
              </a:custGeom>
              <a:solidFill>
                <a:srgbClr val="10B5BF"/>
              </a:solidFill>
            </p:spPr>
          </p:sp>
          <p:sp>
            <p:nvSpPr>
              <p:cNvPr name="Freeform 38" id="38"/>
              <p:cNvSpPr/>
              <p:nvPr/>
            </p:nvSpPr>
            <p:spPr>
              <a:xfrm flipH="false" flipV="false">
                <a:off x="3026499" y="6680390"/>
                <a:ext cx="1328706" cy="2867560"/>
              </a:xfrm>
              <a:custGeom>
                <a:avLst/>
                <a:gdLst/>
                <a:ahLst/>
                <a:cxnLst/>
                <a:rect r="r" b="b" t="t" l="l"/>
                <a:pathLst>
                  <a:path h="2867560" w="1328706">
                    <a:moveTo>
                      <a:pt x="0" y="0"/>
                    </a:moveTo>
                    <a:lnTo>
                      <a:pt x="1328706" y="0"/>
                    </a:lnTo>
                    <a:lnTo>
                      <a:pt x="1328706" y="2867560"/>
                    </a:lnTo>
                    <a:lnTo>
                      <a:pt x="0" y="2867560"/>
                    </a:lnTo>
                    <a:close/>
                  </a:path>
                </a:pathLst>
              </a:custGeom>
              <a:solidFill>
                <a:srgbClr val="10B5BF"/>
              </a:solidFill>
            </p:spPr>
          </p:sp>
          <p:sp>
            <p:nvSpPr>
              <p:cNvPr name="Freeform 39" id="39"/>
              <p:cNvSpPr/>
              <p:nvPr/>
            </p:nvSpPr>
            <p:spPr>
              <a:xfrm flipH="false" flipV="false">
                <a:off x="4539748" y="6107831"/>
                <a:ext cx="1328707" cy="3440119"/>
              </a:xfrm>
              <a:custGeom>
                <a:avLst/>
                <a:gdLst/>
                <a:ahLst/>
                <a:cxnLst/>
                <a:rect r="r" b="b" t="t" l="l"/>
                <a:pathLst>
                  <a:path h="3440119" w="1328707">
                    <a:moveTo>
                      <a:pt x="0" y="0"/>
                    </a:moveTo>
                    <a:lnTo>
                      <a:pt x="1328707" y="0"/>
                    </a:lnTo>
                    <a:lnTo>
                      <a:pt x="1328707" y="3440119"/>
                    </a:lnTo>
                    <a:lnTo>
                      <a:pt x="0" y="3440119"/>
                    </a:lnTo>
                    <a:close/>
                  </a:path>
                </a:pathLst>
              </a:custGeom>
              <a:solidFill>
                <a:srgbClr val="10B5BF"/>
              </a:solidFill>
            </p:spPr>
          </p:sp>
          <p:sp>
            <p:nvSpPr>
              <p:cNvPr name="Freeform 40" id="40"/>
              <p:cNvSpPr/>
              <p:nvPr/>
            </p:nvSpPr>
            <p:spPr>
              <a:xfrm flipH="false" flipV="false">
                <a:off x="6052997" y="5344058"/>
                <a:ext cx="1328706" cy="4203892"/>
              </a:xfrm>
              <a:custGeom>
                <a:avLst/>
                <a:gdLst/>
                <a:ahLst/>
                <a:cxnLst/>
                <a:rect r="r" b="b" t="t" l="l"/>
                <a:pathLst>
                  <a:path h="4203892" w="1328706">
                    <a:moveTo>
                      <a:pt x="0" y="0"/>
                    </a:moveTo>
                    <a:lnTo>
                      <a:pt x="1328707" y="0"/>
                    </a:lnTo>
                    <a:lnTo>
                      <a:pt x="1328707" y="4203892"/>
                    </a:lnTo>
                    <a:lnTo>
                      <a:pt x="0" y="4203892"/>
                    </a:lnTo>
                    <a:close/>
                  </a:path>
                </a:pathLst>
              </a:custGeom>
              <a:solidFill>
                <a:srgbClr val="10B5BF"/>
              </a:solidFill>
            </p:spPr>
          </p:sp>
        </p:grpSp>
      </p:grpSp>
      <p:sp>
        <p:nvSpPr>
          <p:cNvPr name="TextBox 41" id="41"/>
          <p:cNvSpPr txBox="true"/>
          <p:nvPr/>
        </p:nvSpPr>
        <p:spPr>
          <a:xfrm rot="0">
            <a:off x="1714500" y="5303258"/>
            <a:ext cx="13815120" cy="2066925"/>
          </a:xfrm>
          <a:prstGeom prst="rect">
            <a:avLst/>
          </a:prstGeom>
        </p:spPr>
        <p:txBody>
          <a:bodyPr anchor="t" rtlCol="false" tIns="0" lIns="0" bIns="0" rIns="0">
            <a:spAutoFit/>
          </a:bodyPr>
          <a:lstStyle/>
          <a:p>
            <a:pPr algn="just" marL="582932" indent="-291466" lvl="1">
              <a:lnSpc>
                <a:spcPts val="3240"/>
              </a:lnSpc>
              <a:buFont typeface="Arial"/>
              <a:buChar char="•"/>
            </a:pPr>
            <a:r>
              <a:rPr lang="en-US" sz="2700">
                <a:solidFill>
                  <a:srgbClr val="FFFFFF"/>
                </a:solidFill>
                <a:latin typeface="Arimo"/>
              </a:rPr>
              <a:t>PROSES ENCODING MENGGUNAKAN MODULO-2 DIVISON.</a:t>
            </a:r>
          </a:p>
          <a:p>
            <a:pPr algn="just" marL="582932" indent="-291466" lvl="1">
              <a:lnSpc>
                <a:spcPts val="3240"/>
              </a:lnSpc>
              <a:buFont typeface="Arial"/>
              <a:buChar char="•"/>
            </a:pPr>
            <a:r>
              <a:rPr lang="en-US" sz="2700">
                <a:solidFill>
                  <a:srgbClr val="FFFFFF"/>
                </a:solidFill>
                <a:latin typeface="Arimo"/>
              </a:rPr>
              <a:t>KARAKTERISTIK POLYNOMIAL UNTUK GOLAY CODE :</a:t>
            </a:r>
          </a:p>
          <a:p>
            <a:pPr algn="just">
              <a:lnSpc>
                <a:spcPts val="3240"/>
              </a:lnSpc>
              <a:spcBef>
                <a:spcPct val="0"/>
              </a:spcBef>
            </a:pPr>
            <a:r>
              <a:rPr lang="en-US" sz="2700">
                <a:solidFill>
                  <a:srgbClr val="FFFFFF"/>
                </a:solidFill>
                <a:latin typeface="Arimo"/>
              </a:rPr>
              <a:t>      </a:t>
            </a:r>
            <a:r>
              <a:rPr lang="en-US" sz="2700">
                <a:solidFill>
                  <a:srgbClr val="FFFFFF"/>
                </a:solidFill>
                <a:latin typeface="Arimo"/>
              </a:rPr>
              <a:t>X^11 + X^9 + X^7 + X^6 + X^5 + X + 1, COEFFICIENTS AE3H (101011100011).</a:t>
            </a:r>
          </a:p>
          <a:p>
            <a:pPr algn="just">
              <a:lnSpc>
                <a:spcPts val="3240"/>
              </a:lnSpc>
              <a:spcBef>
                <a:spcPct val="0"/>
              </a:spcBef>
            </a:pPr>
            <a:r>
              <a:rPr lang="en-US" sz="2700">
                <a:solidFill>
                  <a:srgbClr val="FFFFFF"/>
                </a:solidFill>
                <a:latin typeface="Arimo"/>
              </a:rPr>
              <a:t>      X^11 + X^10 + X^6 + X^5 + X^4 + X^2 + 1, COEFFICIENTS C75H (110001110101).</a:t>
            </a:r>
          </a:p>
          <a:p>
            <a:pPr algn="just">
              <a:lnSpc>
                <a:spcPts val="3240"/>
              </a:lnSpc>
              <a:spcBef>
                <a:spcPct val="0"/>
              </a:spcBef>
            </a:pPr>
            <a:r>
              <a:rPr lang="en-US" sz="2700">
                <a:solidFill>
                  <a:srgbClr val="FFFFFF"/>
                </a:solidFill>
                <a:latin typeface="Arimo"/>
              </a:rPr>
              <a:t>      AE3H ADALAH BIT-REVERSED DARI C75H JADI CUKUP PILIH SALAH SATU SAJA.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7812" r="0" b="7812"/>
          <a:stretch>
            <a:fillRect/>
          </a:stretch>
        </p:blipFill>
        <p:spPr>
          <a:xfrm flipH="false" flipV="false">
            <a:off x="0" y="0"/>
            <a:ext cx="18288000" cy="10287000"/>
          </a:xfrm>
          <a:prstGeom prst="rect">
            <a:avLst/>
          </a:prstGeom>
        </p:spPr>
      </p:pic>
      <p:grpSp>
        <p:nvGrpSpPr>
          <p:cNvPr name="Group 3" id="3"/>
          <p:cNvGrpSpPr/>
          <p:nvPr/>
        </p:nvGrpSpPr>
        <p:grpSpPr>
          <a:xfrm rot="0">
            <a:off x="1295668" y="2637502"/>
            <a:ext cx="15696664" cy="5011995"/>
            <a:chOff x="0" y="0"/>
            <a:chExt cx="20928886" cy="6682660"/>
          </a:xfrm>
        </p:grpSpPr>
        <p:sp>
          <p:nvSpPr>
            <p:cNvPr name="TextBox 4" id="4"/>
            <p:cNvSpPr txBox="true"/>
            <p:nvPr/>
          </p:nvSpPr>
          <p:spPr>
            <a:xfrm rot="0">
              <a:off x="0" y="2321944"/>
              <a:ext cx="20928886" cy="698500"/>
            </a:xfrm>
            <a:prstGeom prst="rect">
              <a:avLst/>
            </a:prstGeom>
          </p:spPr>
          <p:txBody>
            <a:bodyPr anchor="t" rtlCol="false" tIns="0" lIns="0" bIns="0" rIns="0">
              <a:spAutoFit/>
            </a:bodyPr>
            <a:lstStyle/>
            <a:p>
              <a:pPr algn="ctr">
                <a:lnSpc>
                  <a:spcPts val="4200"/>
                </a:lnSpc>
              </a:pPr>
            </a:p>
          </p:txBody>
        </p:sp>
        <p:sp>
          <p:nvSpPr>
            <p:cNvPr name="TextBox 5" id="5"/>
            <p:cNvSpPr txBox="true"/>
            <p:nvPr/>
          </p:nvSpPr>
          <p:spPr>
            <a:xfrm rot="0">
              <a:off x="0" y="129540"/>
              <a:ext cx="20928886" cy="1358900"/>
            </a:xfrm>
            <a:prstGeom prst="rect">
              <a:avLst/>
            </a:prstGeom>
          </p:spPr>
          <p:txBody>
            <a:bodyPr anchor="t" rtlCol="false" tIns="0" lIns="0" bIns="0" rIns="0">
              <a:spAutoFit/>
            </a:bodyPr>
            <a:lstStyle/>
            <a:p>
              <a:pPr algn="ctr">
                <a:lnSpc>
                  <a:spcPts val="8070"/>
                </a:lnSpc>
              </a:pPr>
              <a:r>
                <a:rPr lang="en-US" sz="6725">
                  <a:solidFill>
                    <a:srgbClr val="FFFFFF"/>
                  </a:solidFill>
                  <a:latin typeface="Poppins Medium Bold"/>
                </a:rPr>
                <a:t>LANGKAH ENCODING</a:t>
              </a:r>
            </a:p>
          </p:txBody>
        </p:sp>
        <p:sp>
          <p:nvSpPr>
            <p:cNvPr name="TextBox 6" id="6"/>
            <p:cNvSpPr txBox="true"/>
            <p:nvPr/>
          </p:nvSpPr>
          <p:spPr>
            <a:xfrm rot="0">
              <a:off x="0" y="3900937"/>
              <a:ext cx="20928886" cy="2567093"/>
            </a:xfrm>
            <a:prstGeom prst="rect">
              <a:avLst/>
            </a:prstGeom>
          </p:spPr>
          <p:txBody>
            <a:bodyPr anchor="t" rtlCol="false" tIns="0" lIns="0" bIns="0" rIns="0">
              <a:spAutoFit/>
            </a:bodyPr>
            <a:lstStyle/>
            <a:p>
              <a:pPr algn="just">
                <a:lnSpc>
                  <a:spcPts val="2555"/>
                </a:lnSpc>
              </a:pPr>
              <a:r>
                <a:rPr lang="en-US" sz="1825">
                  <a:solidFill>
                    <a:srgbClr val="FFFFFF"/>
                  </a:solidFill>
                  <a:latin typeface="Poppins Light"/>
                </a:rPr>
                <a:t>1.Data yang akan di-encode (information bit) dibalik (reverse), sehingga LSB menjadi di depan.</a:t>
              </a:r>
            </a:p>
            <a:p>
              <a:pPr algn="just">
                <a:lnSpc>
                  <a:spcPts val="2555"/>
                </a:lnSpc>
              </a:pPr>
              <a:r>
                <a:rPr lang="en-US" sz="1825">
                  <a:solidFill>
                    <a:srgbClr val="FFFFFF"/>
                  </a:solidFill>
                  <a:latin typeface="Poppins Light"/>
                </a:rPr>
                <a:t>2.Tambahkan 11 bit 0 di paling kanan dari information bit.</a:t>
              </a:r>
            </a:p>
            <a:p>
              <a:pPr algn="just">
                <a:lnSpc>
                  <a:spcPts val="2555"/>
                </a:lnSpc>
              </a:pPr>
              <a:r>
                <a:rPr lang="en-US" sz="1825">
                  <a:solidFill>
                    <a:srgbClr val="FFFFFF"/>
                  </a:solidFill>
                  <a:latin typeface="Poppins Light"/>
                </a:rPr>
                <a:t>3.Lakukan pembagian pada polynomial menggunakan operasi exclusive-OR atau XOR. Sisa dari pembagian ini merupakan check bits.</a:t>
              </a:r>
            </a:p>
            <a:p>
              <a:pPr algn="just">
                <a:lnSpc>
                  <a:spcPts val="2555"/>
                </a:lnSpc>
              </a:pPr>
              <a:r>
                <a:rPr lang="en-US" sz="1825">
                  <a:solidFill>
                    <a:srgbClr val="FFFFFF"/>
                  </a:solidFill>
                  <a:latin typeface="Poppins Light"/>
                </a:rPr>
                <a:t>4.Check bit dan information bit dibalik.</a:t>
              </a:r>
            </a:p>
            <a:p>
              <a:pPr algn="just">
                <a:lnSpc>
                  <a:spcPts val="2555"/>
                </a:lnSpc>
              </a:pPr>
              <a:r>
                <a:rPr lang="en-US" sz="1825">
                  <a:solidFill>
                    <a:srgbClr val="FFFFFF"/>
                  </a:solidFill>
                  <a:latin typeface="Poppins Light"/>
                </a:rPr>
                <a:t>5.Tambahkan bit parity di paling kiri (untuk g24). </a:t>
              </a:r>
            </a:p>
            <a:p>
              <a:pPr algn="just">
                <a:lnSpc>
                  <a:spcPts val="2555"/>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333500" y="4920320"/>
            <a:ext cx="5172523" cy="3956980"/>
          </a:xfrm>
          <a:prstGeom prst="rect">
            <a:avLst/>
          </a:prstGeom>
        </p:spPr>
      </p:pic>
      <p:sp>
        <p:nvSpPr>
          <p:cNvPr name="TextBox 3" id="3"/>
          <p:cNvSpPr txBox="true"/>
          <p:nvPr/>
        </p:nvSpPr>
        <p:spPr>
          <a:xfrm rot="0">
            <a:off x="3320933" y="561975"/>
            <a:ext cx="11646135" cy="923925"/>
          </a:xfrm>
          <a:prstGeom prst="rect">
            <a:avLst/>
          </a:prstGeom>
        </p:spPr>
        <p:txBody>
          <a:bodyPr anchor="t" rtlCol="false" tIns="0" lIns="0" bIns="0" rIns="0">
            <a:spAutoFit/>
          </a:bodyPr>
          <a:lstStyle/>
          <a:p>
            <a:pPr algn="ctr">
              <a:lnSpc>
                <a:spcPts val="7201"/>
              </a:lnSpc>
            </a:pPr>
            <a:r>
              <a:rPr lang="en-US" sz="6001">
                <a:solidFill>
                  <a:srgbClr val="FFFFFF"/>
                </a:solidFill>
                <a:latin typeface="Poppins Medium Bold"/>
              </a:rPr>
              <a:t>CONTOH ENCODING (1)</a:t>
            </a:r>
          </a:p>
        </p:txBody>
      </p:sp>
      <p:pic>
        <p:nvPicPr>
          <p:cNvPr name="Picture 4" id="4"/>
          <p:cNvPicPr>
            <a:picLocks noChangeAspect="true"/>
          </p:cNvPicPr>
          <p:nvPr/>
        </p:nvPicPr>
        <p:blipFill>
          <a:blip r:embed="rId3"/>
          <a:srcRect l="0" t="0" r="0" b="0"/>
          <a:stretch>
            <a:fillRect/>
          </a:stretch>
        </p:blipFill>
        <p:spPr>
          <a:xfrm flipH="false" flipV="false" rot="-479821">
            <a:off x="15150916" y="-1443024"/>
            <a:ext cx="3477167" cy="2886049"/>
          </a:xfrm>
          <a:prstGeom prst="rect">
            <a:avLst/>
          </a:prstGeom>
        </p:spPr>
      </p:pic>
      <p:sp>
        <p:nvSpPr>
          <p:cNvPr name="TextBox 5" id="5"/>
          <p:cNvSpPr txBox="true"/>
          <p:nvPr/>
        </p:nvSpPr>
        <p:spPr>
          <a:xfrm rot="0">
            <a:off x="1259235" y="2091395"/>
            <a:ext cx="7884765" cy="3143250"/>
          </a:xfrm>
          <a:prstGeom prst="rect">
            <a:avLst/>
          </a:prstGeom>
        </p:spPr>
        <p:txBody>
          <a:bodyPr anchor="t" rtlCol="false" tIns="0" lIns="0" bIns="0" rIns="0">
            <a:spAutoFit/>
          </a:bodyPr>
          <a:lstStyle/>
          <a:p>
            <a:pPr>
              <a:lnSpc>
                <a:spcPts val="2520"/>
              </a:lnSpc>
              <a:spcBef>
                <a:spcPct val="0"/>
              </a:spcBef>
            </a:pPr>
            <a:r>
              <a:rPr lang="en-US" sz="2100">
                <a:solidFill>
                  <a:srgbClr val="FFFFFF"/>
                </a:solidFill>
                <a:latin typeface="Poppins Medium Bold"/>
              </a:rPr>
              <a:t>Soal encoding :</a:t>
            </a:r>
          </a:p>
          <a:p>
            <a:pPr>
              <a:lnSpc>
                <a:spcPts val="2520"/>
              </a:lnSpc>
              <a:spcBef>
                <a:spcPct val="0"/>
              </a:spcBef>
            </a:pPr>
            <a:r>
              <a:rPr lang="en-US" sz="2100">
                <a:solidFill>
                  <a:srgbClr val="FFFFFF"/>
                </a:solidFill>
                <a:latin typeface="Poppins Medium Bold"/>
              </a:rPr>
              <a:t>Lakukan proses encoding pada data 555h = 010101010101</a:t>
            </a:r>
          </a:p>
          <a:p>
            <a:pPr>
              <a:lnSpc>
                <a:spcPts val="2520"/>
              </a:lnSpc>
              <a:spcBef>
                <a:spcPct val="0"/>
              </a:spcBef>
            </a:pPr>
          </a:p>
          <a:p>
            <a:pPr>
              <a:lnSpc>
                <a:spcPts val="2520"/>
              </a:lnSpc>
              <a:spcBef>
                <a:spcPct val="0"/>
              </a:spcBef>
            </a:pPr>
          </a:p>
          <a:p>
            <a:pPr>
              <a:lnSpc>
                <a:spcPts val="2520"/>
              </a:lnSpc>
              <a:spcBef>
                <a:spcPct val="0"/>
              </a:spcBef>
            </a:pPr>
            <a:r>
              <a:rPr lang="en-US" sz="2100">
                <a:solidFill>
                  <a:srgbClr val="FFFFFF"/>
                </a:solidFill>
                <a:latin typeface="Poppins Medium Bold"/>
              </a:rPr>
              <a:t>Jawab:</a:t>
            </a:r>
          </a:p>
          <a:p>
            <a:pPr>
              <a:lnSpc>
                <a:spcPts val="2520"/>
              </a:lnSpc>
              <a:spcBef>
                <a:spcPct val="0"/>
              </a:spcBef>
            </a:pPr>
            <a:r>
              <a:rPr lang="en-US" sz="2100">
                <a:solidFill>
                  <a:srgbClr val="FFFFFF"/>
                </a:solidFill>
                <a:latin typeface="Poppins Medium Bold"/>
              </a:rPr>
              <a:t>1.Reverse data</a:t>
            </a:r>
          </a:p>
          <a:p>
            <a:pPr>
              <a:lnSpc>
                <a:spcPts val="2520"/>
              </a:lnSpc>
              <a:spcBef>
                <a:spcPct val="0"/>
              </a:spcBef>
            </a:pPr>
            <a:r>
              <a:rPr lang="en-US" sz="2100">
                <a:solidFill>
                  <a:srgbClr val="FFFFFF"/>
                </a:solidFill>
                <a:latin typeface="Poppins Medium Bold"/>
              </a:rPr>
              <a:t>  010101010101 -&gt; </a:t>
            </a:r>
            <a:r>
              <a:rPr lang="en-US" sz="2100">
                <a:solidFill>
                  <a:srgbClr val="10B5BF"/>
                </a:solidFill>
                <a:latin typeface="Poppins Medium Bold"/>
              </a:rPr>
              <a:t>101010101010</a:t>
            </a:r>
          </a:p>
          <a:p>
            <a:pPr>
              <a:lnSpc>
                <a:spcPts val="2520"/>
              </a:lnSpc>
              <a:spcBef>
                <a:spcPct val="0"/>
              </a:spcBef>
            </a:pPr>
          </a:p>
          <a:p>
            <a:pPr>
              <a:lnSpc>
                <a:spcPts val="2520"/>
              </a:lnSpc>
              <a:spcBef>
                <a:spcPct val="0"/>
              </a:spcBef>
            </a:pPr>
            <a:r>
              <a:rPr lang="en-US" sz="2100">
                <a:solidFill>
                  <a:srgbClr val="FFFFFF"/>
                </a:solidFill>
                <a:latin typeface="Poppins Medium Bold"/>
              </a:rPr>
              <a:t>2.Tambah 11 bit 0 di kanan data</a:t>
            </a:r>
          </a:p>
          <a:p>
            <a:pPr>
              <a:lnSpc>
                <a:spcPts val="2520"/>
              </a:lnSpc>
              <a:spcBef>
                <a:spcPct val="0"/>
              </a:spcBef>
            </a:pPr>
            <a:r>
              <a:rPr lang="en-US" sz="2100">
                <a:solidFill>
                  <a:srgbClr val="FFFFFF"/>
                </a:solidFill>
                <a:latin typeface="Poppins Medium Bold"/>
              </a:rPr>
              <a:t>   101010101010 </a:t>
            </a:r>
            <a:r>
              <a:rPr lang="en-US" sz="2100">
                <a:solidFill>
                  <a:srgbClr val="FF3131"/>
                </a:solidFill>
                <a:latin typeface="Poppins Medium Bold"/>
              </a:rPr>
              <a:t>00000000000</a:t>
            </a:r>
          </a:p>
        </p:txBody>
      </p:sp>
      <p:sp>
        <p:nvSpPr>
          <p:cNvPr name="TextBox 6" id="6"/>
          <p:cNvSpPr txBox="true"/>
          <p:nvPr/>
        </p:nvSpPr>
        <p:spPr>
          <a:xfrm rot="0">
            <a:off x="9145471" y="3505858"/>
            <a:ext cx="6931521" cy="5657850"/>
          </a:xfrm>
          <a:prstGeom prst="rect">
            <a:avLst/>
          </a:prstGeom>
        </p:spPr>
        <p:txBody>
          <a:bodyPr anchor="t" rtlCol="false" tIns="0" lIns="0" bIns="0" rIns="0">
            <a:spAutoFit/>
          </a:bodyPr>
          <a:lstStyle/>
          <a:p>
            <a:pPr algn="ctr">
              <a:lnSpc>
                <a:spcPts val="2520"/>
              </a:lnSpc>
              <a:spcBef>
                <a:spcPct val="0"/>
              </a:spcBef>
            </a:pPr>
            <a:r>
              <a:rPr lang="en-US" sz="2100">
                <a:solidFill>
                  <a:srgbClr val="FFFFFF"/>
                </a:solidFill>
                <a:latin typeface="Poppins Medium Bold"/>
              </a:rPr>
              <a:t>3.</a:t>
            </a:r>
            <a:r>
              <a:rPr lang="en-US" sz="2100">
                <a:solidFill>
                  <a:srgbClr val="FFFFFF"/>
                </a:solidFill>
                <a:latin typeface="Poppins Medium Bold"/>
              </a:rPr>
              <a:t>Pembagian XOR (Hanya butuh sisa bagi)</a:t>
            </a:r>
          </a:p>
          <a:p>
            <a:pPr algn="ctr">
              <a:lnSpc>
                <a:spcPts val="2520"/>
              </a:lnSpc>
              <a:spcBef>
                <a:spcPct val="0"/>
              </a:spcBef>
            </a:pP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101010101010</a:t>
            </a:r>
            <a:r>
              <a:rPr lang="en-US" sz="2100">
                <a:solidFill>
                  <a:srgbClr val="FF3131"/>
                </a:solidFill>
                <a:latin typeface="Poppins Medium Bold"/>
              </a:rPr>
              <a:t>00000000000 </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a:t>
            </a:r>
            <a:r>
              <a:rPr lang="en-US" sz="2100">
                <a:solidFill>
                  <a:srgbClr val="CB6CE6"/>
                </a:solidFill>
                <a:latin typeface="Poppins Medium Bold"/>
              </a:rPr>
              <a:t>101011100011 </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 XOR         </a:t>
            </a:r>
          </a:p>
          <a:p>
            <a:pPr algn="ctr">
              <a:lnSpc>
                <a:spcPts val="2520"/>
              </a:lnSpc>
              <a:spcBef>
                <a:spcPct val="0"/>
              </a:spcBef>
            </a:pPr>
            <a:r>
              <a:rPr lang="en-US" sz="2100">
                <a:solidFill>
                  <a:srgbClr val="FFFFFF"/>
                </a:solidFill>
                <a:latin typeface="Poppins Medium Bold"/>
              </a:rPr>
              <a:t>        1001001</a:t>
            </a:r>
            <a:r>
              <a:rPr lang="en-US" sz="2100">
                <a:solidFill>
                  <a:srgbClr val="FF3131"/>
                </a:solidFill>
                <a:latin typeface="Poppins Medium Bold"/>
              </a:rPr>
              <a:t>00000</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a:t>
            </a:r>
            <a:r>
              <a:rPr lang="en-US" sz="2100">
                <a:solidFill>
                  <a:srgbClr val="CB6CE6"/>
                </a:solidFill>
                <a:latin typeface="Poppins Medium Bold"/>
              </a:rPr>
              <a:t>101011100011                             </a:t>
            </a:r>
          </a:p>
          <a:p>
            <a:pPr algn="ctr">
              <a:lnSpc>
                <a:spcPts val="2520"/>
              </a:lnSpc>
              <a:spcBef>
                <a:spcPct val="0"/>
              </a:spcBef>
            </a:pPr>
            <a:r>
              <a:rPr lang="en-US" sz="2100">
                <a:solidFill>
                  <a:srgbClr val="FFFFFF"/>
                </a:solidFill>
                <a:latin typeface="Poppins Medium Bold"/>
              </a:rPr>
              <a:t>         ------------                             </a:t>
            </a:r>
          </a:p>
          <a:p>
            <a:pPr algn="ctr">
              <a:lnSpc>
                <a:spcPts val="2520"/>
              </a:lnSpc>
              <a:spcBef>
                <a:spcPct val="0"/>
              </a:spcBef>
            </a:pPr>
            <a:r>
              <a:rPr lang="en-US" sz="2100">
                <a:solidFill>
                  <a:srgbClr val="FFFFFF"/>
                </a:solidFill>
                <a:latin typeface="Poppins Medium Bold"/>
              </a:rPr>
              <a:t>             1111000011</a:t>
            </a:r>
            <a:r>
              <a:rPr lang="en-US" sz="2100">
                <a:solidFill>
                  <a:srgbClr val="FF3131"/>
                </a:solidFill>
                <a:latin typeface="Poppins Medium Bold"/>
              </a:rPr>
              <a:t>00</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a:t>
            </a:r>
            <a:r>
              <a:rPr lang="en-US" sz="2100">
                <a:solidFill>
                  <a:srgbClr val="CB6CE6"/>
                </a:solidFill>
                <a:latin typeface="Poppins Medium Bold"/>
              </a:rPr>
              <a:t>101011100011 </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                           </a:t>
            </a:r>
          </a:p>
          <a:p>
            <a:pPr algn="ctr">
              <a:lnSpc>
                <a:spcPts val="2520"/>
              </a:lnSpc>
              <a:spcBef>
                <a:spcPct val="0"/>
              </a:spcBef>
            </a:pPr>
            <a:r>
              <a:rPr lang="en-US" sz="2100">
                <a:solidFill>
                  <a:srgbClr val="FFFFFF"/>
                </a:solidFill>
                <a:latin typeface="Poppins Medium Bold"/>
              </a:rPr>
              <a:t>                 10111101111</a:t>
            </a:r>
            <a:r>
              <a:rPr lang="en-US" sz="2100">
                <a:solidFill>
                  <a:srgbClr val="FF3131"/>
                </a:solidFill>
                <a:latin typeface="Poppins Medium Bold"/>
              </a:rPr>
              <a:t>0</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a:t>
            </a:r>
            <a:r>
              <a:rPr lang="en-US" sz="2100">
                <a:solidFill>
                  <a:srgbClr val="CB6CE6"/>
                </a:solidFill>
                <a:latin typeface="Poppins Medium Bold"/>
              </a:rPr>
              <a:t>101011100011      </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                          </a:t>
            </a:r>
          </a:p>
          <a:p>
            <a:pPr algn="ctr">
              <a:lnSpc>
                <a:spcPts val="2520"/>
              </a:lnSpc>
              <a:spcBef>
                <a:spcPct val="0"/>
              </a:spcBef>
            </a:pPr>
            <a:r>
              <a:rPr lang="en-US" sz="2100">
                <a:solidFill>
                  <a:srgbClr val="FFFFFF"/>
                </a:solidFill>
                <a:latin typeface="Poppins Medium Bold"/>
              </a:rPr>
              <a:t>                    100111101</a:t>
            </a:r>
            <a:r>
              <a:rPr lang="en-US" sz="2100">
                <a:solidFill>
                  <a:srgbClr val="FF3131"/>
                </a:solidFill>
                <a:latin typeface="Poppins Medium Bold"/>
              </a:rPr>
              <a:t>000</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a:t>
            </a:r>
            <a:r>
              <a:rPr lang="en-US" sz="2100">
                <a:solidFill>
                  <a:srgbClr val="CB6CE6"/>
                </a:solidFill>
                <a:latin typeface="Poppins Medium Bold"/>
              </a:rPr>
              <a:t>101011100011     </a:t>
            </a:r>
            <a:r>
              <a:rPr lang="en-US" sz="2100">
                <a:solidFill>
                  <a:srgbClr val="FFFFFF"/>
                </a:solidFill>
                <a:latin typeface="Poppins Medium Bold"/>
              </a:rPr>
              <a:t>                  </a:t>
            </a:r>
          </a:p>
          <a:p>
            <a:pPr algn="ctr">
              <a:lnSpc>
                <a:spcPts val="2520"/>
              </a:lnSpc>
              <a:spcBef>
                <a:spcPct val="0"/>
              </a:spcBef>
            </a:pPr>
            <a:r>
              <a:rPr lang="en-US" sz="2100">
                <a:solidFill>
                  <a:srgbClr val="FFFFFF"/>
                </a:solidFill>
                <a:latin typeface="Poppins Medium Bold"/>
              </a:rPr>
              <a:t>                       ------------                       </a:t>
            </a:r>
          </a:p>
          <a:p>
            <a:pPr algn="ctr">
              <a:lnSpc>
                <a:spcPts val="2520"/>
              </a:lnSpc>
              <a:spcBef>
                <a:spcPct val="0"/>
              </a:spcBef>
            </a:pPr>
            <a:r>
              <a:rPr lang="en-US" sz="2100">
                <a:solidFill>
                  <a:srgbClr val="FFFFFF"/>
                </a:solidFill>
                <a:latin typeface="Poppins Medium Bold"/>
              </a:rPr>
              <a:t>                         01100001011 &lt;-- checkbits </a:t>
            </a:r>
          </a:p>
        </p:txBody>
      </p:sp>
      <p:sp>
        <p:nvSpPr>
          <p:cNvPr name="TextBox 7" id="7"/>
          <p:cNvSpPr txBox="true"/>
          <p:nvPr/>
        </p:nvSpPr>
        <p:spPr>
          <a:xfrm rot="0">
            <a:off x="1252761" y="2690278"/>
            <a:ext cx="4975324" cy="314325"/>
          </a:xfrm>
          <a:prstGeom prst="rect">
            <a:avLst/>
          </a:prstGeom>
        </p:spPr>
        <p:txBody>
          <a:bodyPr anchor="t" rtlCol="false" tIns="0" lIns="0" bIns="0" rIns="0">
            <a:spAutoFit/>
          </a:bodyPr>
          <a:lstStyle/>
          <a:p>
            <a:pPr algn="ctr">
              <a:lnSpc>
                <a:spcPts val="2520"/>
              </a:lnSpc>
              <a:spcBef>
                <a:spcPct val="0"/>
              </a:spcBef>
            </a:pPr>
            <a:r>
              <a:rPr lang="en-US" sz="2100">
                <a:solidFill>
                  <a:srgbClr val="FFFFFF"/>
                </a:solidFill>
                <a:latin typeface="Poppins Medium Bold"/>
              </a:rPr>
              <a:t>dengan division </a:t>
            </a:r>
            <a:r>
              <a:rPr lang="en-US" sz="2100">
                <a:solidFill>
                  <a:srgbClr val="FFFFFF"/>
                </a:solidFill>
                <a:latin typeface="Poppins Medium Bold"/>
              </a:rPr>
              <a:t>AE3h (101011100011).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291768" y="1619911"/>
            <a:ext cx="14835430" cy="3471198"/>
            <a:chOff x="0" y="0"/>
            <a:chExt cx="19780573" cy="4628264"/>
          </a:xfrm>
        </p:grpSpPr>
        <p:sp>
          <p:nvSpPr>
            <p:cNvPr name="TextBox 3" id="3"/>
            <p:cNvSpPr txBox="true"/>
            <p:nvPr/>
          </p:nvSpPr>
          <p:spPr>
            <a:xfrm rot="0">
              <a:off x="0" y="4009139"/>
              <a:ext cx="19780573" cy="619125"/>
            </a:xfrm>
            <a:prstGeom prst="rect">
              <a:avLst/>
            </a:prstGeom>
          </p:spPr>
          <p:txBody>
            <a:bodyPr anchor="t" rtlCol="false" tIns="0" lIns="0" bIns="0" rIns="0">
              <a:spAutoFit/>
            </a:bodyPr>
            <a:lstStyle/>
            <a:p>
              <a:pPr>
                <a:lnSpc>
                  <a:spcPts val="3600"/>
                </a:lnSpc>
              </a:pPr>
            </a:p>
          </p:txBody>
        </p:sp>
        <p:sp>
          <p:nvSpPr>
            <p:cNvPr name="TextBox 4" id="4"/>
            <p:cNvSpPr txBox="true"/>
            <p:nvPr/>
          </p:nvSpPr>
          <p:spPr>
            <a:xfrm rot="0">
              <a:off x="0" y="-9525"/>
              <a:ext cx="19780573" cy="3578225"/>
            </a:xfrm>
            <a:prstGeom prst="rect">
              <a:avLst/>
            </a:prstGeom>
          </p:spPr>
          <p:txBody>
            <a:bodyPr anchor="t" rtlCol="false" tIns="0" lIns="0" bIns="0" rIns="0">
              <a:spAutoFit/>
            </a:bodyPr>
            <a:lstStyle/>
            <a:p>
              <a:pPr>
                <a:lnSpc>
                  <a:spcPts val="6840"/>
                </a:lnSpc>
              </a:pPr>
              <a:r>
                <a:rPr lang="en-US" sz="5700">
                  <a:solidFill>
                    <a:srgbClr val="FFFFFF"/>
                  </a:solidFill>
                  <a:latin typeface="Poppins Medium Bold"/>
                </a:rPr>
                <a:t>Reverse data informasi dan check bit</a:t>
              </a:r>
            </a:p>
            <a:p>
              <a:pPr>
                <a:lnSpc>
                  <a:spcPts val="4799"/>
                </a:lnSpc>
              </a:pPr>
              <a:r>
                <a:rPr lang="en-US" sz="3999">
                  <a:solidFill>
                    <a:srgbClr val="FFFFFF"/>
                  </a:solidFill>
                  <a:latin typeface="Poppins Medium Bold"/>
                </a:rPr>
                <a:t>Informasi : </a:t>
              </a:r>
              <a:r>
                <a:rPr lang="en-US" sz="3999">
                  <a:solidFill>
                    <a:srgbClr val="10B5BF"/>
                  </a:solidFill>
                  <a:latin typeface="Poppins Medium Bold"/>
                </a:rPr>
                <a:t>101010101010</a:t>
              </a:r>
              <a:r>
                <a:rPr lang="en-US" sz="3999">
                  <a:solidFill>
                    <a:srgbClr val="FFFFFF"/>
                  </a:solidFill>
                  <a:latin typeface="Poppins Medium Bold"/>
                </a:rPr>
                <a:t> -&gt; </a:t>
              </a:r>
              <a:r>
                <a:rPr lang="en-US" sz="3999">
                  <a:solidFill>
                    <a:srgbClr val="10B5BF"/>
                  </a:solidFill>
                  <a:latin typeface="Poppins Medium Bold"/>
                </a:rPr>
                <a:t>010101010101</a:t>
              </a:r>
            </a:p>
            <a:p>
              <a:pPr>
                <a:lnSpc>
                  <a:spcPts val="4800"/>
                </a:lnSpc>
              </a:pPr>
              <a:r>
                <a:rPr lang="en-US" sz="4000">
                  <a:solidFill>
                    <a:srgbClr val="FFFFFF"/>
                  </a:solidFill>
                  <a:latin typeface="Poppins Medium Bold"/>
                </a:rPr>
                <a:t>Check Bit : </a:t>
              </a:r>
              <a:r>
                <a:rPr lang="en-US" sz="4000">
                  <a:solidFill>
                    <a:srgbClr val="FF3131"/>
                  </a:solidFill>
                  <a:latin typeface="Poppins Medium Bold"/>
                </a:rPr>
                <a:t>01100001011 </a:t>
              </a:r>
              <a:r>
                <a:rPr lang="en-US" sz="4000">
                  <a:solidFill>
                    <a:srgbClr val="FFFFFF"/>
                  </a:solidFill>
                  <a:latin typeface="Poppins Medium Bold"/>
                </a:rPr>
                <a:t>-&gt; </a:t>
              </a:r>
              <a:r>
                <a:rPr lang="en-US" sz="4000">
                  <a:solidFill>
                    <a:srgbClr val="FF3131"/>
                  </a:solidFill>
                  <a:latin typeface="Poppins Medium Bold"/>
                </a:rPr>
                <a:t>11010000110</a:t>
              </a:r>
            </a:p>
            <a:p>
              <a:pPr>
                <a:lnSpc>
                  <a:spcPts val="4799"/>
                </a:lnSpc>
              </a:pPr>
            </a:p>
          </p:txBody>
        </p:sp>
      </p:grpSp>
      <p:grpSp>
        <p:nvGrpSpPr>
          <p:cNvPr name="Group 5" id="5"/>
          <p:cNvGrpSpPr/>
          <p:nvPr/>
        </p:nvGrpSpPr>
        <p:grpSpPr>
          <a:xfrm rot="0">
            <a:off x="1291768" y="4529347"/>
            <a:ext cx="5698484" cy="1958922"/>
            <a:chOff x="0" y="0"/>
            <a:chExt cx="7597978" cy="2611896"/>
          </a:xfrm>
        </p:grpSpPr>
        <p:sp>
          <p:nvSpPr>
            <p:cNvPr name="TextBox 6" id="6"/>
            <p:cNvSpPr txBox="true"/>
            <p:nvPr/>
          </p:nvSpPr>
          <p:spPr>
            <a:xfrm rot="0">
              <a:off x="0" y="0"/>
              <a:ext cx="7597978" cy="802947"/>
            </a:xfrm>
            <a:prstGeom prst="rect">
              <a:avLst/>
            </a:prstGeom>
          </p:spPr>
          <p:txBody>
            <a:bodyPr anchor="t" rtlCol="false" tIns="0" lIns="0" bIns="0" rIns="0">
              <a:spAutoFit/>
            </a:bodyPr>
            <a:lstStyle/>
            <a:p>
              <a:pPr>
                <a:lnSpc>
                  <a:spcPts val="4741"/>
                </a:lnSpc>
              </a:pPr>
              <a:r>
                <a:rPr lang="en-US" sz="3951">
                  <a:solidFill>
                    <a:srgbClr val="FFFFFF"/>
                  </a:solidFill>
                  <a:latin typeface="Poppins Medium"/>
                </a:rPr>
                <a:t>MAKA:</a:t>
              </a:r>
            </a:p>
          </p:txBody>
        </p:sp>
        <p:sp>
          <p:nvSpPr>
            <p:cNvPr name="TextBox 7" id="7"/>
            <p:cNvSpPr txBox="true"/>
            <p:nvPr/>
          </p:nvSpPr>
          <p:spPr>
            <a:xfrm rot="0">
              <a:off x="0" y="1996632"/>
              <a:ext cx="7597978" cy="547236"/>
            </a:xfrm>
            <a:prstGeom prst="rect">
              <a:avLst/>
            </a:prstGeom>
          </p:spPr>
          <p:txBody>
            <a:bodyPr anchor="t" rtlCol="false" tIns="0" lIns="0" bIns="0" rIns="0">
              <a:spAutoFit/>
            </a:bodyPr>
            <a:lstStyle/>
            <a:p>
              <a:pPr>
                <a:lnSpc>
                  <a:spcPts val="3549"/>
                </a:lnSpc>
              </a:pPr>
            </a:p>
          </p:txBody>
        </p:sp>
        <p:sp>
          <p:nvSpPr>
            <p:cNvPr name="AutoShape 8" id="8"/>
            <p:cNvSpPr/>
            <p:nvPr/>
          </p:nvSpPr>
          <p:spPr>
            <a:xfrm>
              <a:off x="0" y="1423602"/>
              <a:ext cx="7597978" cy="0"/>
            </a:xfrm>
            <a:prstGeom prst="line">
              <a:avLst/>
            </a:prstGeom>
            <a:ln cap="rnd" w="33456">
              <a:solidFill>
                <a:srgbClr val="10B5BF"/>
              </a:solidFill>
              <a:prstDash val="solid"/>
              <a:headEnd type="none" len="sm" w="sm"/>
              <a:tailEnd type="none" len="sm" w="sm"/>
            </a:ln>
          </p:spPr>
        </p:sp>
      </p:grpSp>
      <p:pic>
        <p:nvPicPr>
          <p:cNvPr name="Picture 9" id="9"/>
          <p:cNvPicPr>
            <a:picLocks noChangeAspect="true"/>
          </p:cNvPicPr>
          <p:nvPr/>
        </p:nvPicPr>
        <p:blipFill>
          <a:blip r:embed="rId2"/>
          <a:srcRect l="0" t="0" r="0" b="0"/>
          <a:stretch>
            <a:fillRect/>
          </a:stretch>
        </p:blipFill>
        <p:spPr>
          <a:xfrm flipH="false" flipV="false" rot="0">
            <a:off x="1291768" y="7055559"/>
            <a:ext cx="6471427" cy="1933202"/>
          </a:xfrm>
          <a:prstGeom prst="rect">
            <a:avLst/>
          </a:prstGeom>
        </p:spPr>
      </p:pic>
      <p:pic>
        <p:nvPicPr>
          <p:cNvPr name="Picture 10" id="10"/>
          <p:cNvPicPr>
            <a:picLocks noChangeAspect="true"/>
          </p:cNvPicPr>
          <p:nvPr/>
        </p:nvPicPr>
        <p:blipFill>
          <a:blip r:embed="rId3"/>
          <a:srcRect l="0" t="0" r="0" b="0"/>
          <a:stretch>
            <a:fillRect/>
          </a:stretch>
        </p:blipFill>
        <p:spPr>
          <a:xfrm flipH="false" flipV="false" rot="0">
            <a:off x="9316543" y="7569978"/>
            <a:ext cx="7208299" cy="1688322"/>
          </a:xfrm>
          <a:prstGeom prst="rect">
            <a:avLst/>
          </a:prstGeom>
        </p:spPr>
      </p:pic>
      <p:sp>
        <p:nvSpPr>
          <p:cNvPr name="TextBox 11" id="11"/>
          <p:cNvSpPr txBox="true"/>
          <p:nvPr/>
        </p:nvSpPr>
        <p:spPr>
          <a:xfrm rot="0">
            <a:off x="1291768" y="6356888"/>
            <a:ext cx="15368885" cy="923925"/>
          </a:xfrm>
          <a:prstGeom prst="rect">
            <a:avLst/>
          </a:prstGeom>
        </p:spPr>
        <p:txBody>
          <a:bodyPr anchor="t" rtlCol="false" tIns="0" lIns="0" bIns="0" rIns="0">
            <a:spAutoFit/>
          </a:bodyPr>
          <a:lstStyle/>
          <a:p>
            <a:pPr>
              <a:lnSpc>
                <a:spcPts val="3600"/>
              </a:lnSpc>
              <a:spcBef>
                <a:spcPct val="0"/>
              </a:spcBef>
            </a:pPr>
            <a:r>
              <a:rPr lang="en-US" sz="3000">
                <a:solidFill>
                  <a:srgbClr val="FFFFFF"/>
                </a:solidFill>
                <a:latin typeface="Poppins Medium Bold"/>
              </a:rPr>
              <a:t>G[23,12,11] = 11010000110010101010101</a:t>
            </a:r>
          </a:p>
          <a:p>
            <a:pPr>
              <a:lnSpc>
                <a:spcPts val="3600"/>
              </a:lnSpc>
              <a:spcBef>
                <a:spcPct val="0"/>
              </a:spcBef>
            </a:pPr>
            <a:r>
              <a:rPr lang="en-US" sz="3000">
                <a:solidFill>
                  <a:srgbClr val="FFFFFF"/>
                </a:solidFill>
                <a:latin typeface="Poppins Medium Bold"/>
              </a:rPr>
              <a:t>                                                                      G[24,12,12] = 011010000110010101010101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653131" y="8585325"/>
            <a:ext cx="7863789" cy="672975"/>
            <a:chOff x="0" y="0"/>
            <a:chExt cx="10485051" cy="897299"/>
          </a:xfrm>
        </p:grpSpPr>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0" y="0"/>
              <a:ext cx="517171" cy="897299"/>
            </a:xfrm>
            <a:prstGeom prst="rect">
              <a:avLst/>
            </a:prstGeom>
          </p:spPr>
        </p:pic>
        <p:pic>
          <p:nvPicPr>
            <p:cNvPr name="Picture 4" id="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913875" y="0"/>
              <a:ext cx="626478" cy="897299"/>
            </a:xfrm>
            <a:prstGeom prst="rect">
              <a:avLst/>
            </a:prstGeom>
          </p:spPr>
        </p:pic>
        <p:pic>
          <p:nvPicPr>
            <p:cNvPr name="Picture 5" id="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3821618" y="0"/>
              <a:ext cx="673790" cy="897299"/>
            </a:xfrm>
            <a:prstGeom prst="rect">
              <a:avLst/>
            </a:prstGeom>
          </p:spPr>
        </p:pic>
        <p:pic>
          <p:nvPicPr>
            <p:cNvPr name="Picture 6" id="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0">
              <a:off x="7813408" y="0"/>
              <a:ext cx="691736" cy="897299"/>
            </a:xfrm>
            <a:prstGeom prst="rect">
              <a:avLst/>
            </a:prstGeom>
          </p:spPr>
        </p:pic>
        <p:pic>
          <p:nvPicPr>
            <p:cNvPr name="Picture 7" id="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0" t="0" r="0" b="0"/>
            <a:stretch>
              <a:fillRect/>
            </a:stretch>
          </p:blipFill>
          <p:spPr>
            <a:xfrm flipH="false" flipV="false" rot="0">
              <a:off x="5964957" y="0"/>
              <a:ext cx="394812" cy="897299"/>
            </a:xfrm>
            <a:prstGeom prst="rect">
              <a:avLst/>
            </a:prstGeom>
          </p:spPr>
        </p:pic>
        <p:pic>
          <p:nvPicPr>
            <p:cNvPr name="Picture 8" id="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0" t="0" r="0" b="0"/>
            <a:stretch>
              <a:fillRect/>
            </a:stretch>
          </p:blipFill>
          <p:spPr>
            <a:xfrm flipH="false" flipV="false" rot="0">
              <a:off x="9786046" y="99147"/>
              <a:ext cx="699006" cy="699006"/>
            </a:xfrm>
            <a:prstGeom prst="rect">
              <a:avLst/>
            </a:prstGeom>
          </p:spPr>
        </p:pic>
      </p:grpSp>
      <p:sp>
        <p:nvSpPr>
          <p:cNvPr name="TextBox 9" id="9"/>
          <p:cNvSpPr txBox="true"/>
          <p:nvPr/>
        </p:nvSpPr>
        <p:spPr>
          <a:xfrm rot="0">
            <a:off x="1691353" y="860109"/>
            <a:ext cx="10652522" cy="1047750"/>
          </a:xfrm>
          <a:prstGeom prst="rect">
            <a:avLst/>
          </a:prstGeom>
        </p:spPr>
        <p:txBody>
          <a:bodyPr anchor="t" rtlCol="false" tIns="0" lIns="0" bIns="0" rIns="0">
            <a:spAutoFit/>
          </a:bodyPr>
          <a:lstStyle/>
          <a:p>
            <a:pPr algn="ctr">
              <a:lnSpc>
                <a:spcPts val="8399"/>
              </a:lnSpc>
              <a:spcBef>
                <a:spcPct val="0"/>
              </a:spcBef>
            </a:pPr>
            <a:r>
              <a:rPr lang="en-US" sz="6999">
                <a:solidFill>
                  <a:srgbClr val="FFFFFF"/>
                </a:solidFill>
                <a:latin typeface="Poppins Medium Bold"/>
              </a:rPr>
              <a:t>CONTOH ENCODING (2)</a:t>
            </a:r>
          </a:p>
        </p:txBody>
      </p:sp>
      <p:sp>
        <p:nvSpPr>
          <p:cNvPr name="TextBox 10" id="10"/>
          <p:cNvSpPr txBox="true"/>
          <p:nvPr/>
        </p:nvSpPr>
        <p:spPr>
          <a:xfrm rot="0">
            <a:off x="1691353" y="2172820"/>
            <a:ext cx="8259366" cy="2000250"/>
          </a:xfrm>
          <a:prstGeom prst="rect">
            <a:avLst/>
          </a:prstGeom>
        </p:spPr>
        <p:txBody>
          <a:bodyPr anchor="t" rtlCol="false" tIns="0" lIns="0" bIns="0" rIns="0">
            <a:spAutoFit/>
          </a:bodyPr>
          <a:lstStyle/>
          <a:p>
            <a:pPr algn="just">
              <a:lnSpc>
                <a:spcPts val="2640"/>
              </a:lnSpc>
              <a:spcBef>
                <a:spcPct val="0"/>
              </a:spcBef>
            </a:pPr>
            <a:r>
              <a:rPr lang="en-US" sz="2200">
                <a:solidFill>
                  <a:srgbClr val="FFFFFF"/>
                </a:solidFill>
                <a:latin typeface="Poppins Medium Bold"/>
              </a:rPr>
              <a:t>Soal encoding :</a:t>
            </a:r>
          </a:p>
          <a:p>
            <a:pPr algn="just">
              <a:lnSpc>
                <a:spcPts val="2640"/>
              </a:lnSpc>
              <a:spcBef>
                <a:spcPct val="0"/>
              </a:spcBef>
            </a:pPr>
            <a:r>
              <a:rPr lang="en-US" sz="2200">
                <a:solidFill>
                  <a:srgbClr val="FFFFFF"/>
                </a:solidFill>
                <a:latin typeface="Poppins Medium Bold"/>
              </a:rPr>
              <a:t>Lakukan proses encoding pada data 555h = 010101010101</a:t>
            </a:r>
          </a:p>
          <a:p>
            <a:pPr algn="just">
              <a:lnSpc>
                <a:spcPts val="2640"/>
              </a:lnSpc>
              <a:spcBef>
                <a:spcPct val="0"/>
              </a:spcBef>
            </a:pPr>
          </a:p>
          <a:p>
            <a:pPr algn="just">
              <a:lnSpc>
                <a:spcPts val="2640"/>
              </a:lnSpc>
              <a:spcBef>
                <a:spcPct val="0"/>
              </a:spcBef>
            </a:pPr>
            <a:r>
              <a:rPr lang="en-US" sz="2200">
                <a:solidFill>
                  <a:srgbClr val="FFFFFF"/>
                </a:solidFill>
                <a:latin typeface="Poppins Medium Bold"/>
              </a:rPr>
              <a:t>Jawab:</a:t>
            </a:r>
          </a:p>
          <a:p>
            <a:pPr algn="just">
              <a:lnSpc>
                <a:spcPts val="2640"/>
              </a:lnSpc>
              <a:spcBef>
                <a:spcPct val="0"/>
              </a:spcBef>
            </a:pPr>
            <a:r>
              <a:rPr lang="en-US" sz="2200">
                <a:solidFill>
                  <a:srgbClr val="FFFFFF"/>
                </a:solidFill>
                <a:latin typeface="Poppins Medium Bold"/>
              </a:rPr>
              <a:t>1. Tambah 11 bit 0 di kanan data</a:t>
            </a:r>
          </a:p>
          <a:p>
            <a:pPr algn="just">
              <a:lnSpc>
                <a:spcPts val="2640"/>
              </a:lnSpc>
              <a:spcBef>
                <a:spcPct val="0"/>
              </a:spcBef>
            </a:pPr>
            <a:r>
              <a:rPr lang="en-US" sz="2200">
                <a:solidFill>
                  <a:srgbClr val="FFFFFF"/>
                </a:solidFill>
                <a:latin typeface="Poppins Medium Bold"/>
              </a:rPr>
              <a:t>010101010101 </a:t>
            </a:r>
            <a:r>
              <a:rPr lang="en-US" sz="2200">
                <a:solidFill>
                  <a:srgbClr val="FF3131"/>
                </a:solidFill>
                <a:latin typeface="Poppins Medium Bold"/>
              </a:rPr>
              <a:t>00000000000</a:t>
            </a:r>
          </a:p>
        </p:txBody>
      </p:sp>
      <p:sp>
        <p:nvSpPr>
          <p:cNvPr name="TextBox 11" id="11"/>
          <p:cNvSpPr txBox="true"/>
          <p:nvPr/>
        </p:nvSpPr>
        <p:spPr>
          <a:xfrm rot="0">
            <a:off x="1691353" y="4173070"/>
            <a:ext cx="5245745" cy="333375"/>
          </a:xfrm>
          <a:prstGeom prst="rect">
            <a:avLst/>
          </a:prstGeom>
        </p:spPr>
        <p:txBody>
          <a:bodyPr anchor="t" rtlCol="false" tIns="0" lIns="0" bIns="0" rIns="0">
            <a:spAutoFit/>
          </a:bodyPr>
          <a:lstStyle/>
          <a:p>
            <a:pPr algn="ctr">
              <a:lnSpc>
                <a:spcPts val="2640"/>
              </a:lnSpc>
              <a:spcBef>
                <a:spcPct val="0"/>
              </a:spcBef>
            </a:pPr>
            <a:r>
              <a:rPr lang="en-US" sz="2200">
                <a:solidFill>
                  <a:srgbClr val="FFFFFF"/>
                </a:solidFill>
                <a:latin typeface="Poppins Medium Bold"/>
              </a:rPr>
              <a:t>dengan division </a:t>
            </a:r>
            <a:r>
              <a:rPr lang="en-US" sz="2200">
                <a:solidFill>
                  <a:srgbClr val="FFFFFF"/>
                </a:solidFill>
                <a:latin typeface="Poppins Medium Bold"/>
              </a:rPr>
              <a:t>C75h (110001110101).</a:t>
            </a:r>
          </a:p>
        </p:txBody>
      </p:sp>
      <p:sp>
        <p:nvSpPr>
          <p:cNvPr name="TextBox 12" id="12"/>
          <p:cNvSpPr txBox="true"/>
          <p:nvPr/>
        </p:nvSpPr>
        <p:spPr>
          <a:xfrm rot="0">
            <a:off x="10995929" y="2182345"/>
            <a:ext cx="6096595" cy="7724775"/>
          </a:xfrm>
          <a:prstGeom prst="rect">
            <a:avLst/>
          </a:prstGeom>
        </p:spPr>
        <p:txBody>
          <a:bodyPr anchor="t" rtlCol="false" tIns="0" lIns="0" bIns="0" rIns="0">
            <a:spAutoFit/>
          </a:bodyPr>
          <a:lstStyle/>
          <a:p>
            <a:pPr algn="just">
              <a:lnSpc>
                <a:spcPts val="2160"/>
              </a:lnSpc>
              <a:spcBef>
                <a:spcPct val="0"/>
              </a:spcBef>
            </a:pPr>
            <a:r>
              <a:rPr lang="en-US" sz="1800">
                <a:solidFill>
                  <a:srgbClr val="FFFFFF"/>
                </a:solidFill>
                <a:latin typeface="Poppins Medium Bold"/>
              </a:rPr>
              <a:t>Pembagian XOR (Hanya butuh sisa bagi)                 </a:t>
            </a:r>
          </a:p>
          <a:p>
            <a:pPr algn="just">
              <a:lnSpc>
                <a:spcPts val="2160"/>
              </a:lnSpc>
              <a:spcBef>
                <a:spcPct val="0"/>
              </a:spcBef>
            </a:pPr>
            <a:r>
              <a:rPr lang="en-US" sz="1800">
                <a:solidFill>
                  <a:srgbClr val="FFFFFF"/>
                </a:solidFill>
                <a:latin typeface="Poppins Medium Bold"/>
              </a:rPr>
              <a:t> 010101010101</a:t>
            </a:r>
            <a:r>
              <a:rPr lang="en-US" sz="1800">
                <a:solidFill>
                  <a:srgbClr val="FF3131"/>
                </a:solidFill>
                <a:latin typeface="Poppins Medium Bold"/>
              </a:rPr>
              <a:t>00000000000</a:t>
            </a:r>
          </a:p>
          <a:p>
            <a:pPr algn="just">
              <a:lnSpc>
                <a:spcPts val="2160"/>
              </a:lnSpc>
              <a:spcBef>
                <a:spcPct val="0"/>
              </a:spcBef>
            </a:pPr>
            <a:r>
              <a:rPr lang="en-US" sz="1800">
                <a:solidFill>
                  <a:srgbClr val="FFFFFF"/>
                </a:solidFill>
                <a:latin typeface="Poppins Medium Bold"/>
              </a:rPr>
              <a:t> 110001110101    </a:t>
            </a:r>
          </a:p>
          <a:p>
            <a:pPr algn="just">
              <a:lnSpc>
                <a:spcPts val="2160"/>
              </a:lnSpc>
              <a:spcBef>
                <a:spcPct val="0"/>
              </a:spcBef>
            </a:pPr>
            <a:r>
              <a:rPr lang="en-US" sz="1800">
                <a:solidFill>
                  <a:srgbClr val="FFFFFF"/>
                </a:solidFill>
                <a:latin typeface="Poppins Medium Bold"/>
              </a:rPr>
              <a:t>  ---------------------------------------- </a:t>
            </a:r>
          </a:p>
          <a:p>
            <a:pPr algn="just">
              <a:lnSpc>
                <a:spcPts val="2160"/>
              </a:lnSpc>
              <a:spcBef>
                <a:spcPct val="0"/>
              </a:spcBef>
            </a:pPr>
            <a:r>
              <a:rPr lang="en-US" sz="1800">
                <a:solidFill>
                  <a:srgbClr val="FFFFFF"/>
                </a:solidFill>
                <a:latin typeface="Poppins Medium Bold"/>
              </a:rPr>
              <a:t> 100100100000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10101010101</a:t>
            </a:r>
            <a:r>
              <a:rPr lang="en-US" sz="1800">
                <a:solidFill>
                  <a:srgbClr val="FF3131"/>
                </a:solidFill>
                <a:latin typeface="Poppins Medium Bold"/>
              </a:rPr>
              <a:t>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11011011111</a:t>
            </a:r>
            <a:r>
              <a:rPr lang="en-US" sz="1800">
                <a:solidFill>
                  <a:srgbClr val="FF3131"/>
                </a:solidFill>
                <a:latin typeface="Poppins Medium Bold"/>
              </a:rPr>
              <a:t>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111001011</a:t>
            </a:r>
            <a:r>
              <a:rPr lang="en-US" sz="1800">
                <a:solidFill>
                  <a:srgbClr val="FF3131"/>
                </a:solidFill>
                <a:latin typeface="Poppins Medium Bold"/>
              </a:rPr>
              <a:t>000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1000101101</a:t>
            </a:r>
            <a:r>
              <a:rPr lang="en-US" sz="1800">
                <a:solidFill>
                  <a:srgbClr val="FF3131"/>
                </a:solidFill>
                <a:latin typeface="Poppins Medium Bold"/>
              </a:rPr>
              <a:t>00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10011000001</a:t>
            </a:r>
            <a:r>
              <a:rPr lang="en-US" sz="1800">
                <a:solidFill>
                  <a:srgbClr val="FF3131"/>
                </a:solidFill>
                <a:latin typeface="Poppins Medium Bold"/>
              </a:rPr>
              <a:t>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10111110111</a:t>
            </a:r>
            <a:r>
              <a:rPr lang="en-US" sz="1800">
                <a:solidFill>
                  <a:srgbClr val="FF3131"/>
                </a:solidFill>
                <a:latin typeface="Poppins Medium Bold"/>
              </a:rPr>
              <a:t>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11110011011</a:t>
            </a:r>
            <a:r>
              <a:rPr lang="en-US" sz="1800">
                <a:solidFill>
                  <a:srgbClr val="FF3131"/>
                </a:solidFill>
                <a:latin typeface="Poppins Medium Bold"/>
              </a:rPr>
              <a:t>0</a:t>
            </a:r>
          </a:p>
          <a:p>
            <a:pPr algn="just">
              <a:lnSpc>
                <a:spcPts val="2160"/>
              </a:lnSpc>
              <a:spcBef>
                <a:spcPct val="0"/>
              </a:spcBef>
            </a:pPr>
            <a:r>
              <a:rPr lang="en-US" sz="1800">
                <a:solidFill>
                  <a:srgbClr val="FFFFFF"/>
                </a:solidFill>
                <a:latin typeface="Poppins Medium Bold"/>
              </a:rPr>
              <a:t>                    110001110101</a:t>
            </a:r>
          </a:p>
          <a:p>
            <a:pPr algn="just">
              <a:lnSpc>
                <a:spcPts val="2160"/>
              </a:lnSpc>
              <a:spcBef>
                <a:spcPct val="0"/>
              </a:spcBef>
            </a:pPr>
            <a:r>
              <a:rPr lang="en-US" sz="1800">
                <a:solidFill>
                  <a:srgbClr val="FFFFFF"/>
                </a:solidFill>
                <a:latin typeface="Poppins Medium Bold"/>
              </a:rPr>
              <a:t> ----------------------------------------</a:t>
            </a:r>
          </a:p>
          <a:p>
            <a:pPr algn="just">
              <a:lnSpc>
                <a:spcPts val="2160"/>
              </a:lnSpc>
              <a:spcBef>
                <a:spcPct val="0"/>
              </a:spcBef>
            </a:pPr>
            <a:r>
              <a:rPr lang="en-US" sz="1800">
                <a:solidFill>
                  <a:srgbClr val="FFFFFF"/>
                </a:solidFill>
                <a:latin typeface="Poppins Medium Bold"/>
              </a:rPr>
              <a:t>                        11010000110  CheckBit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true" flipV="true" rot="0">
            <a:off x="12865622" y="1028700"/>
            <a:ext cx="7641615" cy="5845836"/>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453077" y="5039408"/>
            <a:ext cx="6099861" cy="1835128"/>
          </a:xfrm>
          <a:prstGeom prst="rect">
            <a:avLst/>
          </a:prstGeom>
        </p:spPr>
      </p:pic>
      <p:pic>
        <p:nvPicPr>
          <p:cNvPr name="Picture 4" id="4"/>
          <p:cNvPicPr>
            <a:picLocks noChangeAspect="true"/>
          </p:cNvPicPr>
          <p:nvPr/>
        </p:nvPicPr>
        <p:blipFill>
          <a:blip r:embed="rId4"/>
          <a:srcRect l="0" t="0" r="0" b="0"/>
          <a:stretch>
            <a:fillRect/>
          </a:stretch>
        </p:blipFill>
        <p:spPr>
          <a:xfrm flipH="false" flipV="false" rot="0">
            <a:off x="7088720" y="5084224"/>
            <a:ext cx="7589912" cy="1790311"/>
          </a:xfrm>
          <a:prstGeom prst="rect">
            <a:avLst/>
          </a:prstGeom>
        </p:spPr>
      </p:pic>
      <p:sp>
        <p:nvSpPr>
          <p:cNvPr name="TextBox 5" id="5"/>
          <p:cNvSpPr txBox="true"/>
          <p:nvPr/>
        </p:nvSpPr>
        <p:spPr>
          <a:xfrm rot="0">
            <a:off x="1028700" y="1028700"/>
            <a:ext cx="7057275" cy="3492844"/>
          </a:xfrm>
          <a:prstGeom prst="rect">
            <a:avLst/>
          </a:prstGeom>
        </p:spPr>
        <p:txBody>
          <a:bodyPr anchor="t" rtlCol="false" tIns="0" lIns="0" bIns="0" rIns="0">
            <a:spAutoFit/>
          </a:bodyPr>
          <a:lstStyle/>
          <a:p>
            <a:pPr algn="ctr">
              <a:lnSpc>
                <a:spcPts val="5550"/>
              </a:lnSpc>
              <a:spcBef>
                <a:spcPct val="0"/>
              </a:spcBef>
            </a:pPr>
            <a:r>
              <a:rPr lang="en-US" sz="4625">
                <a:solidFill>
                  <a:srgbClr val="FFFFFF"/>
                </a:solidFill>
                <a:latin typeface="Poppins Medium Bold"/>
              </a:rPr>
              <a:t>Informasi : 010101010101</a:t>
            </a:r>
          </a:p>
          <a:p>
            <a:pPr algn="ctr">
              <a:lnSpc>
                <a:spcPts val="5550"/>
              </a:lnSpc>
              <a:spcBef>
                <a:spcPct val="0"/>
              </a:spcBef>
            </a:pPr>
            <a:r>
              <a:rPr lang="en-US" sz="4625">
                <a:solidFill>
                  <a:srgbClr val="FFFFFF"/>
                </a:solidFill>
                <a:latin typeface="Poppins Medium Bold"/>
              </a:rPr>
              <a:t>Check Bit : 11010000110</a:t>
            </a:r>
          </a:p>
          <a:p>
            <a:pPr algn="ctr">
              <a:lnSpc>
                <a:spcPts val="5550"/>
              </a:lnSpc>
              <a:spcBef>
                <a:spcPct val="0"/>
              </a:spcBef>
            </a:pPr>
          </a:p>
          <a:p>
            <a:pPr algn="ctr">
              <a:lnSpc>
                <a:spcPts val="5550"/>
              </a:lnSpc>
              <a:spcBef>
                <a:spcPct val="0"/>
              </a:spcBef>
            </a:pPr>
            <a:r>
              <a:rPr lang="en-US" sz="4625">
                <a:solidFill>
                  <a:srgbClr val="FFFFFF"/>
                </a:solidFill>
                <a:latin typeface="Poppins Medium Bold"/>
              </a:rPr>
              <a:t>Maka: </a:t>
            </a:r>
          </a:p>
          <a:p>
            <a:pPr algn="ctr">
              <a:lnSpc>
                <a:spcPts val="5550"/>
              </a:lnSpc>
              <a:spcBef>
                <a:spcPct val="0"/>
              </a:spcBef>
            </a:pPr>
          </a:p>
        </p:txBody>
      </p:sp>
      <p:sp>
        <p:nvSpPr>
          <p:cNvPr name="TextBox 6" id="6"/>
          <p:cNvSpPr txBox="true"/>
          <p:nvPr/>
        </p:nvSpPr>
        <p:spPr>
          <a:xfrm rot="0">
            <a:off x="7274222" y="7168405"/>
            <a:ext cx="7218909" cy="887950"/>
          </a:xfrm>
          <a:prstGeom prst="rect">
            <a:avLst/>
          </a:prstGeom>
        </p:spPr>
        <p:txBody>
          <a:bodyPr anchor="t" rtlCol="false" tIns="0" lIns="0" bIns="0" rIns="0">
            <a:spAutoFit/>
          </a:bodyPr>
          <a:lstStyle/>
          <a:p>
            <a:pPr algn="just">
              <a:lnSpc>
                <a:spcPts val="3527"/>
              </a:lnSpc>
              <a:spcBef>
                <a:spcPct val="0"/>
              </a:spcBef>
            </a:pPr>
          </a:p>
          <a:p>
            <a:pPr algn="just">
              <a:lnSpc>
                <a:spcPts val="3527"/>
              </a:lnSpc>
              <a:spcBef>
                <a:spcPct val="0"/>
              </a:spcBef>
            </a:pPr>
            <a:r>
              <a:rPr lang="en-US" sz="2939">
                <a:solidFill>
                  <a:srgbClr val="FFFFFF"/>
                </a:solidFill>
                <a:latin typeface="Poppins Medium Bold"/>
              </a:rPr>
              <a:t>G[24,12,12] = 011010000110010101010101</a:t>
            </a:r>
          </a:p>
        </p:txBody>
      </p:sp>
      <p:sp>
        <p:nvSpPr>
          <p:cNvPr name="TextBox 7" id="7"/>
          <p:cNvSpPr txBox="true"/>
          <p:nvPr/>
        </p:nvSpPr>
        <p:spPr>
          <a:xfrm rot="0">
            <a:off x="317059" y="7654891"/>
            <a:ext cx="6371897" cy="401464"/>
          </a:xfrm>
          <a:prstGeom prst="rect">
            <a:avLst/>
          </a:prstGeom>
        </p:spPr>
        <p:txBody>
          <a:bodyPr anchor="t" rtlCol="false" tIns="0" lIns="0" bIns="0" rIns="0">
            <a:spAutoFit/>
          </a:bodyPr>
          <a:lstStyle/>
          <a:p>
            <a:pPr algn="just">
              <a:lnSpc>
                <a:spcPts val="3265"/>
              </a:lnSpc>
              <a:spcBef>
                <a:spcPct val="0"/>
              </a:spcBef>
            </a:pPr>
            <a:r>
              <a:rPr lang="en-US" sz="2721">
                <a:solidFill>
                  <a:srgbClr val="FFFFFF"/>
                </a:solidFill>
                <a:latin typeface="Poppins Medium Bold"/>
              </a:rPr>
              <a:t>G[23,12,11] = 11010000110010101010101</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361950" y="322246"/>
            <a:ext cx="6167680" cy="2114550"/>
          </a:xfrm>
          <a:prstGeom prst="rect">
            <a:avLst/>
          </a:prstGeom>
        </p:spPr>
        <p:txBody>
          <a:bodyPr anchor="t" rtlCol="false" tIns="0" lIns="0" bIns="0" rIns="0">
            <a:spAutoFit/>
          </a:bodyPr>
          <a:lstStyle/>
          <a:p>
            <a:pPr>
              <a:lnSpc>
                <a:spcPts val="8400"/>
              </a:lnSpc>
            </a:pPr>
            <a:r>
              <a:rPr lang="en-US" sz="7000">
                <a:solidFill>
                  <a:srgbClr val="FFFFFF"/>
                </a:solidFill>
                <a:latin typeface="Poppins Medium Bold"/>
              </a:rPr>
              <a:t>Langkah Decoding</a:t>
            </a:r>
          </a:p>
        </p:txBody>
      </p:sp>
      <p:sp>
        <p:nvSpPr>
          <p:cNvPr name="TextBox 3" id="3"/>
          <p:cNvSpPr txBox="true"/>
          <p:nvPr/>
        </p:nvSpPr>
        <p:spPr>
          <a:xfrm rot="0">
            <a:off x="5370303" y="379569"/>
            <a:ext cx="12655223" cy="10034906"/>
          </a:xfrm>
          <a:prstGeom prst="rect">
            <a:avLst/>
          </a:prstGeom>
        </p:spPr>
        <p:txBody>
          <a:bodyPr anchor="t" rtlCol="false" tIns="0" lIns="0" bIns="0" rIns="0">
            <a:spAutoFit/>
          </a:bodyPr>
          <a:lstStyle/>
          <a:p>
            <a:pPr algn="just" marL="766436" indent="-383218" lvl="1">
              <a:lnSpc>
                <a:spcPts val="4969"/>
              </a:lnSpc>
              <a:buFont typeface="Arial"/>
              <a:buChar char="•"/>
            </a:pPr>
            <a:r>
              <a:rPr lang="en-US" sz="3549">
                <a:solidFill>
                  <a:srgbClr val="FFFFFF"/>
                </a:solidFill>
                <a:latin typeface="Poppins Light"/>
              </a:rPr>
              <a:t>Lakukan bit-reversed pada codeword / data dan check bit yang akan didecode. Balikan posisi antara codeword / data dengan check bit.</a:t>
            </a:r>
          </a:p>
          <a:p>
            <a:pPr algn="just" marL="766436" indent="-383218" lvl="1">
              <a:lnSpc>
                <a:spcPts val="4969"/>
              </a:lnSpc>
              <a:buFont typeface="Arial"/>
              <a:buChar char="•"/>
            </a:pPr>
            <a:r>
              <a:rPr lang="en-US" sz="3549">
                <a:solidFill>
                  <a:srgbClr val="FFFFFF"/>
                </a:solidFill>
                <a:latin typeface="Poppins Light"/>
              </a:rPr>
              <a:t>Lakukan pembagian pada polynomial menggunakan operasi exclusive-OR atau XOR. Sisa dari pembagian ini disebut syndrome.</a:t>
            </a:r>
          </a:p>
          <a:p>
            <a:pPr algn="just" marL="766436" indent="-383218" lvl="1">
              <a:lnSpc>
                <a:spcPts val="4969"/>
              </a:lnSpc>
              <a:buFont typeface="Arial"/>
              <a:buChar char="•"/>
            </a:pPr>
            <a:r>
              <a:rPr lang="en-US" sz="3549">
                <a:solidFill>
                  <a:srgbClr val="FFFFFF"/>
                </a:solidFill>
                <a:latin typeface="Poppins Light"/>
              </a:rPr>
              <a:t>Jika syndrome adalah 0 maka tidak terdapat error pada codeword tersebut dan merupakan Golay codeword yang valid. Jika syndrome tidak bernilai 0 maka terdapat error.</a:t>
            </a:r>
          </a:p>
          <a:p>
            <a:pPr algn="just" marL="766436" indent="-383218" lvl="1">
              <a:lnSpc>
                <a:spcPts val="4969"/>
              </a:lnSpc>
              <a:buFont typeface="Arial"/>
              <a:buChar char="•"/>
            </a:pPr>
            <a:r>
              <a:rPr lang="en-US" sz="3549">
                <a:solidFill>
                  <a:srgbClr val="FFFFFF"/>
                </a:solidFill>
                <a:latin typeface="Poppins Light"/>
              </a:rPr>
              <a:t>Jika syndrome adalah kurang dari atau sama dengan 3 maka dapat dilakukan error correction.</a:t>
            </a:r>
          </a:p>
          <a:p>
            <a:pPr algn="just" marL="766436" indent="-383218" lvl="1">
              <a:lnSpc>
                <a:spcPts val="4969"/>
              </a:lnSpc>
              <a:buFont typeface="Arial"/>
              <a:buChar char="•"/>
            </a:pPr>
            <a:r>
              <a:rPr lang="en-US" sz="3549">
                <a:solidFill>
                  <a:srgbClr val="FFFFFF"/>
                </a:solidFill>
                <a:latin typeface="Poppins Light"/>
              </a:rPr>
              <a:t>Jika pada syndrome TERDAPAT NILAI, MAKA Periksa bit syndrome yang didapatkan pada table berikut untuk MENGETAHUI bit mana yang menjadi error.</a:t>
            </a:r>
          </a:p>
          <a:p>
            <a:pPr algn="just">
              <a:lnSpc>
                <a:spcPts val="4969"/>
              </a:lnSpc>
            </a:pPr>
          </a:p>
        </p:txBody>
      </p:sp>
      <p:sp>
        <p:nvSpPr>
          <p:cNvPr name="AutoShape 4" id="4"/>
          <p:cNvSpPr/>
          <p:nvPr/>
        </p:nvSpPr>
        <p:spPr>
          <a:xfrm flipH="true" flipV="true">
            <a:off x="5115648" y="617773"/>
            <a:ext cx="71109" cy="8640449"/>
          </a:xfrm>
          <a:prstGeom prst="line">
            <a:avLst/>
          </a:prstGeom>
          <a:ln cap="rnd" w="19050">
            <a:solidFill>
              <a:srgbClr val="10B5BF"/>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true" flipV="true" rot="0">
            <a:off x="12865622" y="1028700"/>
            <a:ext cx="7641615" cy="5845836"/>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13581385" y="3951618"/>
            <a:ext cx="1343326" cy="4734190"/>
          </a:xfrm>
          <a:prstGeom prst="rect">
            <a:avLst/>
          </a:prstGeom>
        </p:spPr>
      </p:pic>
      <p:pic>
        <p:nvPicPr>
          <p:cNvPr name="Picture 4" id="4"/>
          <p:cNvPicPr>
            <a:picLocks noChangeAspect="true"/>
          </p:cNvPicPr>
          <p:nvPr/>
        </p:nvPicPr>
        <p:blipFill>
          <a:blip r:embed="rId4"/>
          <a:srcRect l="0" t="0" r="0" b="0"/>
          <a:stretch>
            <a:fillRect/>
          </a:stretch>
        </p:blipFill>
        <p:spPr>
          <a:xfrm flipH="false" flipV="false" rot="0">
            <a:off x="1254665" y="1773555"/>
            <a:ext cx="11473137" cy="5615940"/>
          </a:xfrm>
          <a:prstGeom prst="rect">
            <a:avLst/>
          </a:prstGeom>
        </p:spPr>
      </p:pic>
      <p:sp>
        <p:nvSpPr>
          <p:cNvPr name="TextBox 5" id="5"/>
          <p:cNvSpPr txBox="true"/>
          <p:nvPr/>
        </p:nvSpPr>
        <p:spPr>
          <a:xfrm rot="0">
            <a:off x="1509056" y="576263"/>
            <a:ext cx="10964355" cy="914400"/>
          </a:xfrm>
          <a:prstGeom prst="rect">
            <a:avLst/>
          </a:prstGeom>
        </p:spPr>
        <p:txBody>
          <a:bodyPr anchor="t" rtlCol="false" tIns="0" lIns="0" bIns="0" rIns="0">
            <a:spAutoFit/>
          </a:bodyPr>
          <a:lstStyle/>
          <a:p>
            <a:pPr algn="ctr">
              <a:lnSpc>
                <a:spcPts val="7320"/>
              </a:lnSpc>
            </a:pPr>
            <a:r>
              <a:rPr lang="en-US" sz="6100">
                <a:solidFill>
                  <a:srgbClr val="FFFFFF"/>
                </a:solidFill>
                <a:latin typeface="Poppins Medium"/>
              </a:rPr>
              <a:t>Tabel Syndrome</a:t>
            </a:r>
          </a:p>
        </p:txBody>
      </p:sp>
      <p:sp>
        <p:nvSpPr>
          <p:cNvPr name="TextBox 6" id="6"/>
          <p:cNvSpPr txBox="true"/>
          <p:nvPr/>
        </p:nvSpPr>
        <p:spPr>
          <a:xfrm rot="0">
            <a:off x="1509056" y="6351240"/>
            <a:ext cx="10964355" cy="314960"/>
          </a:xfrm>
          <a:prstGeom prst="rect">
            <a:avLst/>
          </a:prstGeom>
        </p:spPr>
        <p:txBody>
          <a:bodyPr anchor="t" rtlCol="false" tIns="0" lIns="0" bIns="0" rIns="0">
            <a:spAutoFit/>
          </a:bodyPr>
          <a:lstStyle/>
          <a:p>
            <a:pPr>
              <a:lnSpc>
                <a:spcPts val="2590"/>
              </a:lnSpc>
            </a:pPr>
          </a:p>
        </p:txBody>
      </p:sp>
      <p:sp>
        <p:nvSpPr>
          <p:cNvPr name="TextBox 7" id="7"/>
          <p:cNvSpPr txBox="true"/>
          <p:nvPr/>
        </p:nvSpPr>
        <p:spPr>
          <a:xfrm rot="0">
            <a:off x="1509056" y="7675245"/>
            <a:ext cx="10964355" cy="1485900"/>
          </a:xfrm>
          <a:prstGeom prst="rect">
            <a:avLst/>
          </a:prstGeom>
        </p:spPr>
        <p:txBody>
          <a:bodyPr anchor="t" rtlCol="false" tIns="0" lIns="0" bIns="0" rIns="0">
            <a:spAutoFit/>
          </a:bodyPr>
          <a:lstStyle/>
          <a:p>
            <a:pPr algn="just">
              <a:lnSpc>
                <a:spcPts val="3960"/>
              </a:lnSpc>
              <a:spcBef>
                <a:spcPct val="0"/>
              </a:spcBef>
            </a:pPr>
            <a:r>
              <a:rPr lang="en-US" sz="3300">
                <a:solidFill>
                  <a:srgbClr val="FFFFFF"/>
                </a:solidFill>
                <a:latin typeface="Poppins Light"/>
              </a:rPr>
              <a:t>angka setelah S menujukan letak kesalahan bit error yang terjadi saat pengkodean sehingga dapat diperbaiki error yang terjadi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a:off x="1738415" y="1457325"/>
            <a:ext cx="14811170" cy="0"/>
          </a:xfrm>
          <a:prstGeom prst="line">
            <a:avLst/>
          </a:prstGeom>
          <a:ln cap="rnd" w="19050">
            <a:solidFill>
              <a:srgbClr val="10B5BF"/>
            </a:solidFill>
            <a:prstDash val="solid"/>
            <a:headEnd type="none" len="sm" w="sm"/>
            <a:tailEnd type="none" len="sm" w="sm"/>
          </a:ln>
        </p:spPr>
      </p:sp>
      <p:sp>
        <p:nvSpPr>
          <p:cNvPr name="TextBox 3" id="3"/>
          <p:cNvSpPr txBox="true"/>
          <p:nvPr/>
        </p:nvSpPr>
        <p:spPr>
          <a:xfrm rot="0">
            <a:off x="1738415" y="1650855"/>
            <a:ext cx="14811170" cy="6537325"/>
          </a:xfrm>
          <a:prstGeom prst="rect">
            <a:avLst/>
          </a:prstGeom>
        </p:spPr>
        <p:txBody>
          <a:bodyPr anchor="t" rtlCol="false" tIns="0" lIns="0" bIns="0" rIns="0">
            <a:spAutoFit/>
          </a:bodyPr>
          <a:lstStyle/>
          <a:p>
            <a:pPr>
              <a:lnSpc>
                <a:spcPts val="4024"/>
              </a:lnSpc>
            </a:pPr>
            <a:r>
              <a:rPr lang="en-US" sz="2874">
                <a:solidFill>
                  <a:srgbClr val="FFFFFF"/>
                </a:solidFill>
                <a:latin typeface="Poppins Light"/>
              </a:rPr>
              <a:t>Soal Decoding :</a:t>
            </a:r>
          </a:p>
          <a:p>
            <a:pPr>
              <a:lnSpc>
                <a:spcPts val="4024"/>
              </a:lnSpc>
            </a:pPr>
            <a:r>
              <a:rPr lang="en-US" sz="2874">
                <a:solidFill>
                  <a:srgbClr val="FFFFFF"/>
                </a:solidFill>
                <a:latin typeface="Poppins Light"/>
              </a:rPr>
              <a:t>Lakukan proses encoding pada data 11010000110010101010101</a:t>
            </a:r>
          </a:p>
          <a:p>
            <a:pPr>
              <a:lnSpc>
                <a:spcPts val="4024"/>
              </a:lnSpc>
            </a:pPr>
          </a:p>
          <a:p>
            <a:pPr>
              <a:lnSpc>
                <a:spcPts val="4024"/>
              </a:lnSpc>
            </a:pPr>
            <a:r>
              <a:rPr lang="en-US" sz="2874">
                <a:solidFill>
                  <a:srgbClr val="FFFFFF"/>
                </a:solidFill>
                <a:latin typeface="Poppins Light"/>
              </a:rPr>
              <a:t>Jawab :</a:t>
            </a:r>
          </a:p>
          <a:p>
            <a:pPr>
              <a:lnSpc>
                <a:spcPts val="4024"/>
              </a:lnSpc>
            </a:pPr>
            <a:r>
              <a:rPr lang="en-US" sz="2874">
                <a:solidFill>
                  <a:srgbClr val="FFFFFF"/>
                </a:solidFill>
                <a:latin typeface="Poppins Light"/>
              </a:rPr>
              <a:t>reverse dan balikan data</a:t>
            </a:r>
          </a:p>
          <a:p>
            <a:pPr>
              <a:lnSpc>
                <a:spcPts val="4024"/>
              </a:lnSpc>
            </a:pPr>
          </a:p>
          <a:p>
            <a:pPr>
              <a:lnSpc>
                <a:spcPts val="4024"/>
              </a:lnSpc>
            </a:pPr>
          </a:p>
          <a:p>
            <a:pPr>
              <a:lnSpc>
                <a:spcPts val="4024"/>
              </a:lnSpc>
            </a:pPr>
          </a:p>
          <a:p>
            <a:pPr>
              <a:lnSpc>
                <a:spcPts val="4024"/>
              </a:lnSpc>
            </a:pPr>
          </a:p>
          <a:p>
            <a:pPr marL="620712" indent="-310356" lvl="1">
              <a:lnSpc>
                <a:spcPts val="4024"/>
              </a:lnSpc>
              <a:buFont typeface="Arial"/>
              <a:buChar char="•"/>
            </a:pPr>
            <a:r>
              <a:rPr lang="en-US" sz="2874">
                <a:solidFill>
                  <a:srgbClr val="FFFFFF"/>
                </a:solidFill>
                <a:latin typeface="Poppins Light"/>
              </a:rPr>
              <a:t>Check Bit               : 11010000110</a:t>
            </a:r>
          </a:p>
          <a:p>
            <a:pPr marL="620712" indent="-310356" lvl="1">
              <a:lnSpc>
                <a:spcPts val="4024"/>
              </a:lnSpc>
              <a:buFont typeface="Arial"/>
              <a:buChar char="•"/>
            </a:pPr>
            <a:r>
              <a:rPr lang="en-US" sz="2874">
                <a:solidFill>
                  <a:srgbClr val="FFFFFF"/>
                </a:solidFill>
                <a:latin typeface="Poppins Light"/>
              </a:rPr>
              <a:t>Check Bit Reverse : 01100001011 (LSB to MSB)</a:t>
            </a:r>
          </a:p>
          <a:p>
            <a:pPr marL="620712" indent="-310356" lvl="1">
              <a:lnSpc>
                <a:spcPts val="4024"/>
              </a:lnSpc>
              <a:buFont typeface="Arial"/>
              <a:buChar char="•"/>
            </a:pPr>
            <a:r>
              <a:rPr lang="en-US" sz="2874">
                <a:solidFill>
                  <a:srgbClr val="FFFFFF"/>
                </a:solidFill>
                <a:latin typeface="Poppins Light"/>
              </a:rPr>
              <a:t>Data                      : 010101010101 </a:t>
            </a:r>
          </a:p>
          <a:p>
            <a:pPr algn="l" marL="620712" indent="-310356" lvl="1">
              <a:lnSpc>
                <a:spcPts val="4025"/>
              </a:lnSpc>
              <a:spcBef>
                <a:spcPct val="0"/>
              </a:spcBef>
              <a:buFont typeface="Arial"/>
              <a:buChar char="•"/>
            </a:pPr>
            <a:r>
              <a:rPr lang="en-US" sz="2875">
                <a:solidFill>
                  <a:srgbClr val="FFFFFF"/>
                </a:solidFill>
                <a:latin typeface="Poppins Light"/>
              </a:rPr>
              <a:t>Data Reverse         : 101010101010 (LSB to MSB)</a:t>
            </a:r>
          </a:p>
        </p:txBody>
      </p:sp>
      <p:sp>
        <p:nvSpPr>
          <p:cNvPr name="TextBox 4" id="4"/>
          <p:cNvSpPr txBox="true"/>
          <p:nvPr/>
        </p:nvSpPr>
        <p:spPr>
          <a:xfrm rot="0">
            <a:off x="1738415" y="600075"/>
            <a:ext cx="14811170" cy="847725"/>
          </a:xfrm>
          <a:prstGeom prst="rect">
            <a:avLst/>
          </a:prstGeom>
        </p:spPr>
        <p:txBody>
          <a:bodyPr anchor="t" rtlCol="false" tIns="0" lIns="0" bIns="0" rIns="0">
            <a:spAutoFit/>
          </a:bodyPr>
          <a:lstStyle/>
          <a:p>
            <a:pPr>
              <a:lnSpc>
                <a:spcPts val="6600"/>
              </a:lnSpc>
            </a:pPr>
            <a:r>
              <a:rPr lang="en-US" sz="5500">
                <a:solidFill>
                  <a:srgbClr val="FFFFFF"/>
                </a:solidFill>
                <a:latin typeface="Poppins Medium Bold"/>
              </a:rPr>
              <a:t>Contoh Decoding</a:t>
            </a:r>
          </a:p>
        </p:txBody>
      </p:sp>
      <p:pic>
        <p:nvPicPr>
          <p:cNvPr name="Picture 5" id="5"/>
          <p:cNvPicPr>
            <a:picLocks noChangeAspect="true"/>
          </p:cNvPicPr>
          <p:nvPr/>
        </p:nvPicPr>
        <p:blipFill>
          <a:blip r:embed="rId2"/>
          <a:srcRect l="0" t="0" r="0" b="0"/>
          <a:stretch>
            <a:fillRect/>
          </a:stretch>
        </p:blipFill>
        <p:spPr>
          <a:xfrm flipH="false" flipV="false" rot="0">
            <a:off x="1738415" y="4378071"/>
            <a:ext cx="5133614" cy="148961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738415" y="641205"/>
            <a:ext cx="14811170" cy="8556625"/>
          </a:xfrm>
          <a:prstGeom prst="rect">
            <a:avLst/>
          </a:prstGeom>
        </p:spPr>
        <p:txBody>
          <a:bodyPr anchor="t" rtlCol="false" tIns="0" lIns="0" bIns="0" rIns="0">
            <a:spAutoFit/>
          </a:bodyPr>
          <a:lstStyle/>
          <a:p>
            <a:pPr>
              <a:lnSpc>
                <a:spcPts val="4024"/>
              </a:lnSpc>
            </a:pPr>
            <a:r>
              <a:rPr lang="en-US" sz="2874">
                <a:solidFill>
                  <a:srgbClr val="FFFFFF"/>
                </a:solidFill>
                <a:latin typeface="Poppins Light"/>
              </a:rPr>
              <a:t>Pembagian XOR                </a:t>
            </a:r>
          </a:p>
          <a:p>
            <a:pPr>
              <a:lnSpc>
                <a:spcPts val="4024"/>
              </a:lnSpc>
            </a:pPr>
            <a:r>
              <a:rPr lang="en-US" sz="2874">
                <a:solidFill>
                  <a:srgbClr val="FFFFFF"/>
                </a:solidFill>
                <a:latin typeface="Poppins Light"/>
              </a:rPr>
              <a:t>                  101010101010</a:t>
            </a:r>
            <a:r>
              <a:rPr lang="en-US" sz="2874">
                <a:solidFill>
                  <a:srgbClr val="10B5BF"/>
                </a:solidFill>
                <a:latin typeface="Poppins Light"/>
              </a:rPr>
              <a:t>01100001011</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Exclusive-OR        </a:t>
            </a:r>
          </a:p>
          <a:p>
            <a:pPr>
              <a:lnSpc>
                <a:spcPts val="4024"/>
              </a:lnSpc>
            </a:pPr>
            <a:r>
              <a:rPr lang="en-US" sz="2874">
                <a:solidFill>
                  <a:srgbClr val="FFFFFF"/>
                </a:solidFill>
                <a:latin typeface="Poppins Light"/>
              </a:rPr>
              <a:t>                  </a:t>
            </a:r>
            <a:r>
              <a:rPr lang="en-US" sz="2874">
                <a:solidFill>
                  <a:srgbClr val="FF3131"/>
                </a:solidFill>
                <a:latin typeface="Poppins Light"/>
              </a:rPr>
              <a:t>00000</a:t>
            </a:r>
            <a:r>
              <a:rPr lang="en-US" sz="2874">
                <a:solidFill>
                  <a:srgbClr val="FFFFFF"/>
                </a:solidFill>
                <a:latin typeface="Poppins Light"/>
              </a:rPr>
              <a:t>1001001</a:t>
            </a:r>
            <a:r>
              <a:rPr lang="en-US" sz="2874">
                <a:solidFill>
                  <a:srgbClr val="10B5BF"/>
                </a:solidFill>
                <a:latin typeface="Poppins Light"/>
              </a:rPr>
              <a:t>01100</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nSpc>
                <a:spcPts val="4024"/>
              </a:lnSpc>
            </a:pPr>
            <a:r>
              <a:rPr lang="en-US" sz="2874">
                <a:solidFill>
                  <a:srgbClr val="FFFFFF"/>
                </a:solidFill>
                <a:latin typeface="Poppins Light"/>
              </a:rPr>
              <a:t>                             </a:t>
            </a:r>
            <a:r>
              <a:rPr lang="en-US" sz="2874">
                <a:solidFill>
                  <a:srgbClr val="FF3131"/>
                </a:solidFill>
                <a:latin typeface="Poppins Light"/>
              </a:rPr>
              <a:t>00</a:t>
            </a:r>
            <a:r>
              <a:rPr lang="en-US" sz="2874">
                <a:solidFill>
                  <a:srgbClr val="FFFFFF"/>
                </a:solidFill>
                <a:latin typeface="Poppins Light"/>
              </a:rPr>
              <a:t>1111001111</a:t>
            </a:r>
            <a:r>
              <a:rPr lang="en-US" sz="2874">
                <a:solidFill>
                  <a:srgbClr val="10B5BF"/>
                </a:solidFill>
                <a:latin typeface="Poppins Light"/>
              </a:rPr>
              <a:t>00</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nSpc>
                <a:spcPts val="4024"/>
              </a:lnSpc>
            </a:pPr>
            <a:r>
              <a:rPr lang="en-US" sz="2874">
                <a:solidFill>
                  <a:srgbClr val="FFFFFF"/>
                </a:solidFill>
                <a:latin typeface="Poppins Light"/>
              </a:rPr>
              <a:t>                                  </a:t>
            </a:r>
            <a:r>
              <a:rPr lang="en-US" sz="2874">
                <a:solidFill>
                  <a:srgbClr val="FF3131"/>
                </a:solidFill>
                <a:latin typeface="Poppins Light"/>
              </a:rPr>
              <a:t>0</a:t>
            </a:r>
            <a:r>
              <a:rPr lang="en-US" sz="2874">
                <a:solidFill>
                  <a:srgbClr val="FFFFFF"/>
                </a:solidFill>
                <a:latin typeface="Poppins Light"/>
              </a:rPr>
              <a:t>10111011111</a:t>
            </a:r>
            <a:r>
              <a:rPr lang="en-US" sz="2874">
                <a:solidFill>
                  <a:srgbClr val="10B5BF"/>
                </a:solidFill>
                <a:latin typeface="Poppins Light"/>
              </a:rPr>
              <a:t>1</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nSpc>
                <a:spcPts val="4024"/>
              </a:lnSpc>
            </a:pPr>
            <a:r>
              <a:rPr lang="en-US" sz="2874">
                <a:solidFill>
                  <a:srgbClr val="FFFFFF"/>
                </a:solidFill>
                <a:latin typeface="Poppins Light"/>
              </a:rPr>
              <a:t>                                    </a:t>
            </a:r>
            <a:r>
              <a:rPr lang="en-US" sz="2874">
                <a:solidFill>
                  <a:srgbClr val="FF3131"/>
                </a:solidFill>
                <a:latin typeface="Poppins Light"/>
              </a:rPr>
              <a:t>000</a:t>
            </a:r>
            <a:r>
              <a:rPr lang="en-US" sz="2874">
                <a:solidFill>
                  <a:srgbClr val="FFFFFF"/>
                </a:solidFill>
                <a:latin typeface="Poppins Light"/>
              </a:rPr>
              <a:t>101011100</a:t>
            </a:r>
            <a:r>
              <a:rPr lang="en-US" sz="2874">
                <a:solidFill>
                  <a:srgbClr val="10B5BF"/>
                </a:solidFill>
                <a:latin typeface="Poppins Light"/>
              </a:rPr>
              <a:t>011</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gn="l">
              <a:lnSpc>
                <a:spcPts val="4025"/>
              </a:lnSpc>
              <a:spcBef>
                <a:spcPct val="0"/>
              </a:spcBef>
            </a:pPr>
            <a:r>
              <a:rPr lang="en-US" sz="2875">
                <a:solidFill>
                  <a:srgbClr val="FFFFFF"/>
                </a:solidFill>
                <a:latin typeface="Poppins Light"/>
              </a:rPr>
              <a:t>                                         00000000000&lt;-- Syndrome </a:t>
            </a:r>
          </a:p>
        </p:txBody>
      </p:sp>
      <p:sp>
        <p:nvSpPr>
          <p:cNvPr name="TextBox 3" id="3"/>
          <p:cNvSpPr txBox="true"/>
          <p:nvPr/>
        </p:nvSpPr>
        <p:spPr>
          <a:xfrm rot="0">
            <a:off x="12923848" y="7878618"/>
            <a:ext cx="4335452" cy="1571625"/>
          </a:xfrm>
          <a:prstGeom prst="rect">
            <a:avLst/>
          </a:prstGeom>
        </p:spPr>
        <p:txBody>
          <a:bodyPr anchor="t" rtlCol="false" tIns="0" lIns="0" bIns="0" rIns="0">
            <a:spAutoFit/>
          </a:bodyPr>
          <a:lstStyle/>
          <a:p>
            <a:pPr algn="just">
              <a:lnSpc>
                <a:spcPts val="2520"/>
              </a:lnSpc>
            </a:pPr>
            <a:r>
              <a:rPr lang="en-US" sz="2100">
                <a:solidFill>
                  <a:srgbClr val="FFFFFF"/>
                </a:solidFill>
                <a:latin typeface="Poppins Light Bold"/>
              </a:rPr>
              <a:t>Syndrome = 000000000000</a:t>
            </a:r>
          </a:p>
          <a:p>
            <a:pPr algn="just">
              <a:lnSpc>
                <a:spcPts val="2520"/>
              </a:lnSpc>
            </a:pPr>
            <a:r>
              <a:rPr lang="en-US" sz="2100">
                <a:solidFill>
                  <a:srgbClr val="FFFFFF"/>
                </a:solidFill>
                <a:latin typeface="Poppins Light Bold"/>
              </a:rPr>
              <a:t>Maka Codeword yang diterima benar dan tidak mengalami error</a:t>
            </a:r>
          </a:p>
          <a:p>
            <a:pPr algn="just">
              <a:lnSpc>
                <a:spcPts val="252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a:off x="1738415" y="1457325"/>
            <a:ext cx="14811170" cy="0"/>
          </a:xfrm>
          <a:prstGeom prst="line">
            <a:avLst/>
          </a:prstGeom>
          <a:ln cap="rnd" w="19050">
            <a:solidFill>
              <a:srgbClr val="10B5BF"/>
            </a:solidFill>
            <a:prstDash val="solid"/>
            <a:headEnd type="none" len="sm" w="sm"/>
            <a:tailEnd type="none" len="sm" w="sm"/>
          </a:ln>
        </p:spPr>
      </p:sp>
      <p:sp>
        <p:nvSpPr>
          <p:cNvPr name="TextBox 3" id="3"/>
          <p:cNvSpPr txBox="true"/>
          <p:nvPr/>
        </p:nvSpPr>
        <p:spPr>
          <a:xfrm rot="0">
            <a:off x="1738415" y="1650855"/>
            <a:ext cx="14811170" cy="6537325"/>
          </a:xfrm>
          <a:prstGeom prst="rect">
            <a:avLst/>
          </a:prstGeom>
        </p:spPr>
        <p:txBody>
          <a:bodyPr anchor="t" rtlCol="false" tIns="0" lIns="0" bIns="0" rIns="0">
            <a:spAutoFit/>
          </a:bodyPr>
          <a:lstStyle/>
          <a:p>
            <a:pPr>
              <a:lnSpc>
                <a:spcPts val="4024"/>
              </a:lnSpc>
            </a:pPr>
            <a:r>
              <a:rPr lang="en-US" sz="2874">
                <a:solidFill>
                  <a:srgbClr val="FFFFFF"/>
                </a:solidFill>
                <a:latin typeface="Poppins Light"/>
              </a:rPr>
              <a:t>Soal Decoding :</a:t>
            </a:r>
          </a:p>
          <a:p>
            <a:pPr>
              <a:lnSpc>
                <a:spcPts val="4024"/>
              </a:lnSpc>
            </a:pPr>
            <a:r>
              <a:rPr lang="en-US" sz="2874">
                <a:solidFill>
                  <a:srgbClr val="FFFFFF"/>
                </a:solidFill>
                <a:latin typeface="Poppins Light"/>
              </a:rPr>
              <a:t>Lakukan proses encoding pada data 11010000110010001010101</a:t>
            </a:r>
          </a:p>
          <a:p>
            <a:pPr>
              <a:lnSpc>
                <a:spcPts val="4024"/>
              </a:lnSpc>
            </a:pPr>
          </a:p>
          <a:p>
            <a:pPr>
              <a:lnSpc>
                <a:spcPts val="4024"/>
              </a:lnSpc>
            </a:pPr>
            <a:r>
              <a:rPr lang="en-US" sz="2874">
                <a:solidFill>
                  <a:srgbClr val="FFFFFF"/>
                </a:solidFill>
                <a:latin typeface="Poppins Light"/>
              </a:rPr>
              <a:t>Jawab :</a:t>
            </a:r>
          </a:p>
          <a:p>
            <a:pPr>
              <a:lnSpc>
                <a:spcPts val="4024"/>
              </a:lnSpc>
            </a:pPr>
            <a:r>
              <a:rPr lang="en-US" sz="2874">
                <a:solidFill>
                  <a:srgbClr val="FFFFFF"/>
                </a:solidFill>
                <a:latin typeface="Poppins Light"/>
              </a:rPr>
              <a:t>reverse dan balikan data</a:t>
            </a:r>
          </a:p>
          <a:p>
            <a:pPr>
              <a:lnSpc>
                <a:spcPts val="4024"/>
              </a:lnSpc>
            </a:pPr>
          </a:p>
          <a:p>
            <a:pPr>
              <a:lnSpc>
                <a:spcPts val="4024"/>
              </a:lnSpc>
            </a:pPr>
          </a:p>
          <a:p>
            <a:pPr>
              <a:lnSpc>
                <a:spcPts val="4024"/>
              </a:lnSpc>
            </a:pPr>
          </a:p>
          <a:p>
            <a:pPr>
              <a:lnSpc>
                <a:spcPts val="4024"/>
              </a:lnSpc>
            </a:pPr>
          </a:p>
          <a:p>
            <a:pPr marL="620712" indent="-310356" lvl="1">
              <a:lnSpc>
                <a:spcPts val="4024"/>
              </a:lnSpc>
              <a:buFont typeface="Arial"/>
              <a:buChar char="•"/>
            </a:pPr>
            <a:r>
              <a:rPr lang="en-US" sz="2874">
                <a:solidFill>
                  <a:srgbClr val="FFFFFF"/>
                </a:solidFill>
                <a:latin typeface="Poppins Light"/>
              </a:rPr>
              <a:t>Check Bit               : 11010000110</a:t>
            </a:r>
          </a:p>
          <a:p>
            <a:pPr marL="620712" indent="-310356" lvl="1">
              <a:lnSpc>
                <a:spcPts val="4024"/>
              </a:lnSpc>
              <a:buFont typeface="Arial"/>
              <a:buChar char="•"/>
            </a:pPr>
            <a:r>
              <a:rPr lang="en-US" sz="2874">
                <a:solidFill>
                  <a:srgbClr val="FFFFFF"/>
                </a:solidFill>
                <a:latin typeface="Poppins Light"/>
              </a:rPr>
              <a:t>Check Bit Reverse : 01100001011 (LSB to MSB)</a:t>
            </a:r>
          </a:p>
          <a:p>
            <a:pPr marL="620712" indent="-310356" lvl="1">
              <a:lnSpc>
                <a:spcPts val="4024"/>
              </a:lnSpc>
              <a:buFont typeface="Arial"/>
              <a:buChar char="•"/>
            </a:pPr>
            <a:r>
              <a:rPr lang="en-US" sz="2874">
                <a:solidFill>
                  <a:srgbClr val="FFFFFF"/>
                </a:solidFill>
                <a:latin typeface="Poppins Light"/>
              </a:rPr>
              <a:t>Data                      : 010001010101 </a:t>
            </a:r>
          </a:p>
          <a:p>
            <a:pPr algn="l" marL="620712" indent="-310356" lvl="1">
              <a:lnSpc>
                <a:spcPts val="4025"/>
              </a:lnSpc>
              <a:spcBef>
                <a:spcPct val="0"/>
              </a:spcBef>
              <a:buFont typeface="Arial"/>
              <a:buChar char="•"/>
            </a:pPr>
            <a:r>
              <a:rPr lang="en-US" sz="2875">
                <a:solidFill>
                  <a:srgbClr val="FFFFFF"/>
                </a:solidFill>
                <a:latin typeface="Poppins Light"/>
              </a:rPr>
              <a:t>Data Reverse         : 101010100010 (LSB to MSB)</a:t>
            </a:r>
          </a:p>
        </p:txBody>
      </p:sp>
      <p:sp>
        <p:nvSpPr>
          <p:cNvPr name="TextBox 4" id="4"/>
          <p:cNvSpPr txBox="true"/>
          <p:nvPr/>
        </p:nvSpPr>
        <p:spPr>
          <a:xfrm rot="0">
            <a:off x="1738415" y="600075"/>
            <a:ext cx="14811170" cy="847725"/>
          </a:xfrm>
          <a:prstGeom prst="rect">
            <a:avLst/>
          </a:prstGeom>
        </p:spPr>
        <p:txBody>
          <a:bodyPr anchor="t" rtlCol="false" tIns="0" lIns="0" bIns="0" rIns="0">
            <a:spAutoFit/>
          </a:bodyPr>
          <a:lstStyle/>
          <a:p>
            <a:pPr>
              <a:lnSpc>
                <a:spcPts val="6600"/>
              </a:lnSpc>
            </a:pPr>
            <a:r>
              <a:rPr lang="en-US" sz="5500">
                <a:solidFill>
                  <a:srgbClr val="FFFFFF"/>
                </a:solidFill>
                <a:latin typeface="Poppins Medium Bold"/>
              </a:rPr>
              <a:t>Contoh Decoding</a:t>
            </a:r>
          </a:p>
        </p:txBody>
      </p:sp>
      <p:pic>
        <p:nvPicPr>
          <p:cNvPr name="Picture 5" id="5"/>
          <p:cNvPicPr>
            <a:picLocks noChangeAspect="true"/>
          </p:cNvPicPr>
          <p:nvPr/>
        </p:nvPicPr>
        <p:blipFill>
          <a:blip r:embed="rId2"/>
          <a:srcRect l="0" t="0" r="0" b="0"/>
          <a:stretch>
            <a:fillRect/>
          </a:stretch>
        </p:blipFill>
        <p:spPr>
          <a:xfrm flipH="false" flipV="false" rot="0">
            <a:off x="1738415" y="4378071"/>
            <a:ext cx="5133614" cy="1489610"/>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738415" y="701675"/>
            <a:ext cx="14811170" cy="8556625"/>
          </a:xfrm>
          <a:prstGeom prst="rect">
            <a:avLst/>
          </a:prstGeom>
        </p:spPr>
        <p:txBody>
          <a:bodyPr anchor="t" rtlCol="false" tIns="0" lIns="0" bIns="0" rIns="0">
            <a:spAutoFit/>
          </a:bodyPr>
          <a:lstStyle/>
          <a:p>
            <a:pPr>
              <a:lnSpc>
                <a:spcPts val="4024"/>
              </a:lnSpc>
            </a:pPr>
            <a:r>
              <a:rPr lang="en-US" sz="2874">
                <a:solidFill>
                  <a:srgbClr val="FFFFFF"/>
                </a:solidFill>
                <a:latin typeface="Poppins Light"/>
              </a:rPr>
              <a:t>Pembagian XOR           </a:t>
            </a:r>
          </a:p>
          <a:p>
            <a:pPr>
              <a:lnSpc>
                <a:spcPts val="4024"/>
              </a:lnSpc>
            </a:pPr>
            <a:r>
              <a:rPr lang="en-US" sz="2874">
                <a:solidFill>
                  <a:srgbClr val="FFFFFF"/>
                </a:solidFill>
                <a:latin typeface="Poppins Light"/>
              </a:rPr>
              <a:t>                  101010100010</a:t>
            </a:r>
            <a:r>
              <a:rPr lang="en-US" sz="2874">
                <a:solidFill>
                  <a:srgbClr val="10B5BF"/>
                </a:solidFill>
                <a:latin typeface="Poppins Light"/>
              </a:rPr>
              <a:t>01100001011   </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Exclusive-OR        </a:t>
            </a:r>
          </a:p>
          <a:p>
            <a:pPr>
              <a:lnSpc>
                <a:spcPts val="4024"/>
              </a:lnSpc>
            </a:pPr>
            <a:r>
              <a:rPr lang="en-US" sz="2874">
                <a:solidFill>
                  <a:srgbClr val="FFFFFF"/>
                </a:solidFill>
                <a:latin typeface="Poppins Light"/>
              </a:rPr>
              <a:t>                  </a:t>
            </a:r>
            <a:r>
              <a:rPr lang="en-US" sz="2874">
                <a:solidFill>
                  <a:srgbClr val="FF3131"/>
                </a:solidFill>
                <a:latin typeface="Poppins Light"/>
              </a:rPr>
              <a:t>00000</a:t>
            </a:r>
            <a:r>
              <a:rPr lang="en-US" sz="2874">
                <a:solidFill>
                  <a:srgbClr val="FFFFFF"/>
                </a:solidFill>
                <a:latin typeface="Poppins Light"/>
              </a:rPr>
              <a:t>1000001</a:t>
            </a:r>
            <a:r>
              <a:rPr lang="en-US" sz="2874">
                <a:solidFill>
                  <a:srgbClr val="10B5BF"/>
                </a:solidFill>
                <a:latin typeface="Poppins Light"/>
              </a:rPr>
              <a:t>01100</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nSpc>
                <a:spcPts val="4024"/>
              </a:lnSpc>
            </a:pPr>
            <a:r>
              <a:rPr lang="en-US" sz="2874">
                <a:solidFill>
                  <a:srgbClr val="FFFFFF"/>
                </a:solidFill>
                <a:latin typeface="Poppins Light"/>
              </a:rPr>
              <a:t>                             </a:t>
            </a:r>
            <a:r>
              <a:rPr lang="en-US" sz="2874">
                <a:solidFill>
                  <a:srgbClr val="FF3131"/>
                </a:solidFill>
                <a:latin typeface="Poppins Light"/>
              </a:rPr>
              <a:t>00</a:t>
            </a:r>
            <a:r>
              <a:rPr lang="en-US" sz="2874">
                <a:solidFill>
                  <a:srgbClr val="FFFFFF"/>
                </a:solidFill>
                <a:latin typeface="Poppins Light"/>
              </a:rPr>
              <a:t>1011001111</a:t>
            </a:r>
            <a:r>
              <a:rPr lang="en-US" sz="2874">
                <a:solidFill>
                  <a:srgbClr val="10B5BF"/>
                </a:solidFill>
                <a:latin typeface="Poppins Light"/>
              </a:rPr>
              <a:t>00</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nSpc>
                <a:spcPts val="4024"/>
              </a:lnSpc>
            </a:pPr>
            <a:r>
              <a:rPr lang="en-US" sz="2874">
                <a:solidFill>
                  <a:srgbClr val="FFFFFF"/>
                </a:solidFill>
                <a:latin typeface="Poppins Light"/>
              </a:rPr>
              <a:t>                                  </a:t>
            </a:r>
            <a:r>
              <a:rPr lang="en-US" sz="2874">
                <a:solidFill>
                  <a:srgbClr val="FF3131"/>
                </a:solidFill>
                <a:latin typeface="Poppins Light"/>
              </a:rPr>
              <a:t>000</a:t>
            </a:r>
            <a:r>
              <a:rPr lang="en-US" sz="2874">
                <a:solidFill>
                  <a:srgbClr val="FFFFFF"/>
                </a:solidFill>
                <a:latin typeface="Poppins Light"/>
              </a:rPr>
              <a:t>11101111</a:t>
            </a:r>
            <a:r>
              <a:rPr lang="en-US" sz="2874">
                <a:solidFill>
                  <a:srgbClr val="10B5BF"/>
                </a:solidFill>
                <a:latin typeface="Poppins Light"/>
              </a:rPr>
              <a:t>101</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nSpc>
                <a:spcPts val="4024"/>
              </a:lnSpc>
            </a:pPr>
            <a:r>
              <a:rPr lang="en-US" sz="2874">
                <a:solidFill>
                  <a:srgbClr val="FFFFFF"/>
                </a:solidFill>
                <a:latin typeface="Poppins Light"/>
              </a:rPr>
              <a:t>                                    </a:t>
            </a:r>
            <a:r>
              <a:rPr lang="en-US" sz="2874">
                <a:solidFill>
                  <a:srgbClr val="FF3131"/>
                </a:solidFill>
                <a:latin typeface="Poppins Light"/>
              </a:rPr>
              <a:t>0</a:t>
            </a:r>
            <a:r>
              <a:rPr lang="en-US" sz="2874">
                <a:solidFill>
                  <a:srgbClr val="FFFFFF"/>
                </a:solidFill>
                <a:latin typeface="Poppins Light"/>
              </a:rPr>
              <a:t>10000011110</a:t>
            </a:r>
            <a:r>
              <a:rPr lang="en-US" sz="2874">
                <a:solidFill>
                  <a:srgbClr val="10B5BF"/>
                </a:solidFill>
                <a:latin typeface="Poppins Light"/>
              </a:rPr>
              <a:t>1</a:t>
            </a:r>
            <a:r>
              <a:rPr lang="en-US" sz="2874">
                <a:solidFill>
                  <a:srgbClr val="FFFFFF"/>
                </a:solidFill>
                <a:latin typeface="Poppins Light"/>
              </a:rPr>
              <a:t>                      </a:t>
            </a:r>
          </a:p>
          <a:p>
            <a:pPr>
              <a:lnSpc>
                <a:spcPts val="4024"/>
              </a:lnSpc>
            </a:pPr>
            <a:r>
              <a:rPr lang="en-US" sz="2874">
                <a:solidFill>
                  <a:srgbClr val="FFFFFF"/>
                </a:solidFill>
                <a:latin typeface="Poppins Light"/>
              </a:rPr>
              <a:t>                                      101011100011                      </a:t>
            </a:r>
          </a:p>
          <a:p>
            <a:pPr>
              <a:lnSpc>
                <a:spcPts val="4024"/>
              </a:lnSpc>
            </a:pPr>
            <a:r>
              <a:rPr lang="en-US" sz="2874">
                <a:solidFill>
                  <a:srgbClr val="FFFFFF"/>
                </a:solidFill>
                <a:latin typeface="Poppins Light"/>
              </a:rPr>
              <a:t>                     -------------------------                      </a:t>
            </a:r>
          </a:p>
          <a:p>
            <a:pPr algn="l">
              <a:lnSpc>
                <a:spcPts val="4025"/>
              </a:lnSpc>
              <a:spcBef>
                <a:spcPct val="0"/>
              </a:spcBef>
            </a:pPr>
            <a:r>
              <a:rPr lang="en-US" sz="2875">
                <a:solidFill>
                  <a:srgbClr val="FFFFFF"/>
                </a:solidFill>
                <a:latin typeface="Poppins Light"/>
              </a:rPr>
              <a:t>                                     001011011110&lt;-- Syndrome 7</a:t>
            </a:r>
          </a:p>
        </p:txBody>
      </p:sp>
      <p:pic>
        <p:nvPicPr>
          <p:cNvPr name="Picture 3" id="3"/>
          <p:cNvPicPr>
            <a:picLocks noChangeAspect="true"/>
          </p:cNvPicPr>
          <p:nvPr/>
        </p:nvPicPr>
        <p:blipFill>
          <a:blip r:embed="rId2"/>
          <a:srcRect l="0" t="0" r="0" b="0"/>
          <a:stretch>
            <a:fillRect/>
          </a:stretch>
        </p:blipFill>
        <p:spPr>
          <a:xfrm flipH="false" flipV="false" rot="0">
            <a:off x="12339610" y="3684766"/>
            <a:ext cx="5400575" cy="2638069"/>
          </a:xfrm>
          <a:prstGeom prst="rect">
            <a:avLst/>
          </a:prstGeom>
        </p:spPr>
      </p:pic>
      <p:sp>
        <p:nvSpPr>
          <p:cNvPr name="TextBox 4" id="4"/>
          <p:cNvSpPr txBox="true"/>
          <p:nvPr/>
        </p:nvSpPr>
        <p:spPr>
          <a:xfrm rot="0">
            <a:off x="12540090" y="7182255"/>
            <a:ext cx="5435559" cy="2828925"/>
          </a:xfrm>
          <a:prstGeom prst="rect">
            <a:avLst/>
          </a:prstGeom>
        </p:spPr>
        <p:txBody>
          <a:bodyPr anchor="t" rtlCol="false" tIns="0" lIns="0" bIns="0" rIns="0">
            <a:spAutoFit/>
          </a:bodyPr>
          <a:lstStyle/>
          <a:p>
            <a:pPr algn="just">
              <a:lnSpc>
                <a:spcPts val="2520"/>
              </a:lnSpc>
            </a:pPr>
            <a:r>
              <a:rPr lang="en-US" sz="2100">
                <a:solidFill>
                  <a:srgbClr val="FFFFFF"/>
                </a:solidFill>
                <a:latin typeface="Poppins Light Bold"/>
              </a:rPr>
              <a:t>Syndrome = 01011011110</a:t>
            </a:r>
          </a:p>
          <a:p>
            <a:pPr algn="just">
              <a:lnSpc>
                <a:spcPts val="2520"/>
              </a:lnSpc>
            </a:pPr>
          </a:p>
          <a:p>
            <a:pPr algn="just">
              <a:lnSpc>
                <a:spcPts val="2520"/>
              </a:lnSpc>
            </a:pPr>
            <a:r>
              <a:rPr lang="en-US" sz="2100">
                <a:solidFill>
                  <a:srgbClr val="FFFFFF"/>
                </a:solidFill>
                <a:latin typeface="Poppins Light"/>
              </a:rPr>
              <a:t>bernilai 7 (Dari jumlah bit 1) yang berarti ada error pada data. Lihat di table, syndrome = 01011011110 adalah nilaidari s4. maka bit yang error berada pada bit ke-4 dari informasi bit.</a:t>
            </a:r>
          </a:p>
          <a:p>
            <a:pPr algn="just">
              <a:lnSpc>
                <a:spcPts val="2520"/>
              </a:lnSpc>
            </a:pPr>
          </a:p>
          <a:p>
            <a:pPr algn="just">
              <a:lnSpc>
                <a:spcPts val="252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449057" y="642937"/>
            <a:ext cx="15389885" cy="9010650"/>
          </a:xfrm>
          <a:prstGeom prst="rect">
            <a:avLst/>
          </a:prstGeom>
        </p:spPr>
        <p:txBody>
          <a:bodyPr anchor="t" rtlCol="false" tIns="0" lIns="0" bIns="0" rIns="0">
            <a:spAutoFit/>
          </a:bodyPr>
          <a:lstStyle/>
          <a:p>
            <a:pPr algn="ctr">
              <a:lnSpc>
                <a:spcPts val="6685"/>
              </a:lnSpc>
            </a:pPr>
            <a:r>
              <a:rPr lang="en-US" sz="5571">
                <a:solidFill>
                  <a:srgbClr val="FFFFFF"/>
                </a:solidFill>
                <a:latin typeface="Poppins Medium"/>
              </a:rPr>
              <a:t>Kesimpulan </a:t>
            </a:r>
          </a:p>
          <a:p>
            <a:pPr algn="just">
              <a:lnSpc>
                <a:spcPts val="5089"/>
              </a:lnSpc>
            </a:pPr>
          </a:p>
          <a:p>
            <a:pPr algn="just" marL="732508" indent="-366254" lvl="1">
              <a:lnSpc>
                <a:spcPts val="5089"/>
              </a:lnSpc>
              <a:buFont typeface="Arial"/>
              <a:buChar char="•"/>
            </a:pPr>
            <a:r>
              <a:rPr lang="en-US" sz="3392">
                <a:solidFill>
                  <a:srgbClr val="FFFFFF"/>
                </a:solidFill>
                <a:latin typeface="Poppins Medium"/>
              </a:rPr>
              <a:t>Terdapat 2 Polinom yang dapat digunakan untuk encoding dan decoding Golay Code. </a:t>
            </a:r>
          </a:p>
          <a:p>
            <a:pPr algn="just" marL="732508" indent="-366254" lvl="1">
              <a:lnSpc>
                <a:spcPts val="5089"/>
              </a:lnSpc>
              <a:buFont typeface="Arial"/>
              <a:buChar char="•"/>
            </a:pPr>
            <a:r>
              <a:rPr lang="en-US" sz="3392">
                <a:solidFill>
                  <a:srgbClr val="FFFFFF"/>
                </a:solidFill>
                <a:latin typeface="Poppins Medium"/>
              </a:rPr>
              <a:t>Polinom bit-reversed Golay Code digunakan untuk   encoding dan decoding dengan cara reverse. </a:t>
            </a:r>
          </a:p>
          <a:p>
            <a:pPr algn="just" marL="732508" indent="-366254" lvl="1">
              <a:lnSpc>
                <a:spcPts val="5089"/>
              </a:lnSpc>
              <a:buFont typeface="Arial"/>
              <a:buChar char="•"/>
            </a:pPr>
            <a:r>
              <a:rPr lang="en-US" sz="3392">
                <a:solidFill>
                  <a:srgbClr val="FFFFFF"/>
                </a:solidFill>
                <a:latin typeface="Poppins Medium"/>
              </a:rPr>
              <a:t>Polinom Golay Code digunakan untuk encoding dan decoding dengan cara tanpa reverse.</a:t>
            </a:r>
          </a:p>
          <a:p>
            <a:pPr algn="just" marL="732508" indent="-366254" lvl="1">
              <a:lnSpc>
                <a:spcPts val="5089"/>
              </a:lnSpc>
              <a:buFont typeface="Arial"/>
              <a:buChar char="•"/>
            </a:pPr>
            <a:r>
              <a:rPr lang="en-US" sz="3392">
                <a:solidFill>
                  <a:srgbClr val="FFFFFF"/>
                </a:solidFill>
                <a:latin typeface="Poppins Medium"/>
              </a:rPr>
              <a:t>Maksimum kesalahan yang dapat dideteksi dan dikoreksi adalah 3 bit. </a:t>
            </a:r>
          </a:p>
          <a:p>
            <a:pPr algn="just" marL="732508" indent="-366254" lvl="1">
              <a:lnSpc>
                <a:spcPts val="5089"/>
              </a:lnSpc>
              <a:buFont typeface="Arial"/>
              <a:buChar char="•"/>
            </a:pPr>
            <a:r>
              <a:rPr lang="en-US" sz="3392">
                <a:solidFill>
                  <a:srgbClr val="FFFFFF"/>
                </a:solidFill>
                <a:latin typeface="Poppins Medium"/>
              </a:rPr>
              <a:t>Golay Code bukan merupakan teknik kompressi data melainkan merupakan metode pentransmisian data yang dapar menentukan kesalahan yang terjadi pada penerima</a:t>
            </a:r>
          </a:p>
          <a:p>
            <a:pPr algn="ctr" marL="0" indent="0" lvl="0">
              <a:lnSpc>
                <a:spcPts val="4071"/>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639388" y="4814863"/>
            <a:ext cx="10336162" cy="3828138"/>
            <a:chOff x="0" y="0"/>
            <a:chExt cx="13781550" cy="5104183"/>
          </a:xfrm>
        </p:grpSpPr>
        <p:sp>
          <p:nvSpPr>
            <p:cNvPr name="TextBox 3" id="3"/>
            <p:cNvSpPr txBox="true"/>
            <p:nvPr/>
          </p:nvSpPr>
          <p:spPr>
            <a:xfrm rot="0">
              <a:off x="0" y="4672383"/>
              <a:ext cx="13781550" cy="431800"/>
            </a:xfrm>
            <a:prstGeom prst="rect">
              <a:avLst/>
            </a:prstGeom>
          </p:spPr>
          <p:txBody>
            <a:bodyPr anchor="t" rtlCol="false" tIns="0" lIns="0" bIns="0" rIns="0">
              <a:spAutoFit/>
            </a:bodyPr>
            <a:lstStyle/>
            <a:p>
              <a:pPr>
                <a:lnSpc>
                  <a:spcPts val="2610"/>
                </a:lnSpc>
              </a:pPr>
            </a:p>
          </p:txBody>
        </p:sp>
        <p:sp>
          <p:nvSpPr>
            <p:cNvPr name="TextBox 4" id="4"/>
            <p:cNvSpPr txBox="true"/>
            <p:nvPr/>
          </p:nvSpPr>
          <p:spPr>
            <a:xfrm rot="0">
              <a:off x="0" y="0"/>
              <a:ext cx="13781550" cy="3657600"/>
            </a:xfrm>
            <a:prstGeom prst="rect">
              <a:avLst/>
            </a:prstGeom>
          </p:spPr>
          <p:txBody>
            <a:bodyPr anchor="t" rtlCol="false" tIns="0" lIns="0" bIns="0" rIns="0">
              <a:spAutoFit/>
            </a:bodyPr>
            <a:lstStyle/>
            <a:p>
              <a:pPr>
                <a:lnSpc>
                  <a:spcPts val="10800"/>
                </a:lnSpc>
              </a:pPr>
              <a:r>
                <a:rPr lang="en-US" sz="9000">
                  <a:solidFill>
                    <a:srgbClr val="FFFFFF"/>
                  </a:solidFill>
                  <a:latin typeface="Poppins Medium Bold"/>
                </a:rPr>
                <a:t>Ada pertanyaan?</a:t>
              </a:r>
            </a:p>
          </p:txBody>
        </p:sp>
      </p:grpSp>
      <p:pic>
        <p:nvPicPr>
          <p:cNvPr name="Picture 5" id="5"/>
          <p:cNvPicPr>
            <a:picLocks noChangeAspect="true"/>
          </p:cNvPicPr>
          <p:nvPr/>
        </p:nvPicPr>
        <p:blipFill>
          <a:blip r:embed="rId2"/>
          <a:srcRect l="0" t="0" r="0" b="0"/>
          <a:stretch>
            <a:fillRect/>
          </a:stretch>
        </p:blipFill>
        <p:spPr>
          <a:xfrm flipH="false" flipV="false" rot="0">
            <a:off x="9144000" y="-1400753"/>
            <a:ext cx="7160084" cy="5477464"/>
          </a:xfrm>
          <a:prstGeom prst="rect">
            <a:avLst/>
          </a:prstGeom>
        </p:spPr>
      </p:pic>
      <p:pic>
        <p:nvPicPr>
          <p:cNvPr name="Picture 6" id="6"/>
          <p:cNvPicPr>
            <a:picLocks noChangeAspect="true"/>
          </p:cNvPicPr>
          <p:nvPr/>
        </p:nvPicPr>
        <p:blipFill>
          <a:blip r:embed="rId3"/>
          <a:srcRect l="0" t="0" r="0" b="0"/>
          <a:stretch>
            <a:fillRect/>
          </a:stretch>
        </p:blipFill>
        <p:spPr>
          <a:xfrm flipH="true" flipV="false" rot="-7698346">
            <a:off x="14309952" y="2598981"/>
            <a:ext cx="2866797" cy="2955461"/>
          </a:xfrm>
          <a:prstGeom prst="rect">
            <a:avLst/>
          </a:prstGeom>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6585397">
            <a:off x="832773" y="6606933"/>
            <a:ext cx="2525842" cy="2603961"/>
          </a:xfrm>
          <a:prstGeom prst="rect">
            <a:avLst/>
          </a:prstGeom>
        </p:spPr>
      </p:pic>
      <p:pic>
        <p:nvPicPr>
          <p:cNvPr name="Picture 3" id="3"/>
          <p:cNvPicPr>
            <a:picLocks noChangeAspect="true"/>
          </p:cNvPicPr>
          <p:nvPr/>
        </p:nvPicPr>
        <p:blipFill>
          <a:blip r:embed="rId3"/>
          <a:srcRect l="0" t="0" r="0" b="0"/>
          <a:stretch>
            <a:fillRect/>
          </a:stretch>
        </p:blipFill>
        <p:spPr>
          <a:xfrm flipH="true" flipV="false" rot="64222">
            <a:off x="14889577" y="-228205"/>
            <a:ext cx="3028686" cy="2513809"/>
          </a:xfrm>
          <a:prstGeom prst="rect">
            <a:avLst/>
          </a:prstGeom>
        </p:spPr>
      </p:pic>
      <p:sp>
        <p:nvSpPr>
          <p:cNvPr name="TextBox 4" id="4"/>
          <p:cNvSpPr txBox="true"/>
          <p:nvPr/>
        </p:nvSpPr>
        <p:spPr>
          <a:xfrm rot="0">
            <a:off x="1028700" y="703878"/>
            <a:ext cx="13298943" cy="1057275"/>
          </a:xfrm>
          <a:prstGeom prst="rect">
            <a:avLst/>
          </a:prstGeom>
        </p:spPr>
        <p:txBody>
          <a:bodyPr anchor="t" rtlCol="false" tIns="0" lIns="0" bIns="0" rIns="0">
            <a:spAutoFit/>
          </a:bodyPr>
          <a:lstStyle/>
          <a:p>
            <a:pPr algn="ctr">
              <a:lnSpc>
                <a:spcPts val="8400"/>
              </a:lnSpc>
            </a:pPr>
            <a:r>
              <a:rPr lang="en-US" sz="7000">
                <a:solidFill>
                  <a:srgbClr val="FFFFFF"/>
                </a:solidFill>
                <a:latin typeface="Poppins Medium Bold"/>
              </a:rPr>
              <a:t>Soal Latihan</a:t>
            </a:r>
          </a:p>
        </p:txBody>
      </p:sp>
      <p:sp>
        <p:nvSpPr>
          <p:cNvPr name="TextBox 5" id="5"/>
          <p:cNvSpPr txBox="true"/>
          <p:nvPr/>
        </p:nvSpPr>
        <p:spPr>
          <a:xfrm rot="0">
            <a:off x="727341" y="1901704"/>
            <a:ext cx="17214137" cy="4133850"/>
          </a:xfrm>
          <a:prstGeom prst="rect">
            <a:avLst/>
          </a:prstGeom>
        </p:spPr>
        <p:txBody>
          <a:bodyPr anchor="t" rtlCol="false" tIns="0" lIns="0" bIns="0" rIns="0">
            <a:spAutoFit/>
          </a:bodyPr>
          <a:lstStyle/>
          <a:p>
            <a:pPr algn="just">
              <a:lnSpc>
                <a:spcPts val="4680"/>
              </a:lnSpc>
            </a:pPr>
            <a:r>
              <a:rPr lang="en-US" sz="3900">
                <a:solidFill>
                  <a:srgbClr val="FFFFFF"/>
                </a:solidFill>
                <a:latin typeface="Poppins Medium Bold"/>
              </a:rPr>
              <a:t>Soal Encoding dengan data </a:t>
            </a:r>
          </a:p>
          <a:p>
            <a:pPr algn="just" marL="842026" indent="-421013" lvl="1">
              <a:lnSpc>
                <a:spcPts val="4680"/>
              </a:lnSpc>
              <a:buFont typeface="Arial"/>
              <a:buChar char="•"/>
            </a:pPr>
            <a:r>
              <a:rPr lang="en-US" sz="3900">
                <a:solidFill>
                  <a:srgbClr val="FFFFFF"/>
                </a:solidFill>
                <a:latin typeface="Poppins Medium Bold"/>
              </a:rPr>
              <a:t>Tidak di reverse, FCA(h) (1111 1100 1010)dengan division AE3(h) (1010 1110 0011) </a:t>
            </a:r>
          </a:p>
          <a:p>
            <a:pPr algn="just" marL="842026" indent="-421013" lvl="1">
              <a:lnSpc>
                <a:spcPts val="4680"/>
              </a:lnSpc>
              <a:buFont typeface="Arial"/>
              <a:buChar char="•"/>
            </a:pPr>
            <a:r>
              <a:rPr lang="en-US" sz="3900">
                <a:solidFill>
                  <a:srgbClr val="FFFFFF"/>
                </a:solidFill>
                <a:latin typeface="Poppins Medium"/>
              </a:rPr>
              <a:t>Reverse, 333(h) dengan division C75h (1100 0111 0101)</a:t>
            </a:r>
          </a:p>
          <a:p>
            <a:pPr algn="just">
              <a:lnSpc>
                <a:spcPts val="4680"/>
              </a:lnSpc>
            </a:pPr>
            <a:r>
              <a:rPr lang="en-US" sz="3900">
                <a:solidFill>
                  <a:srgbClr val="FFFFFF"/>
                </a:solidFill>
                <a:latin typeface="Poppins Medium Bold"/>
              </a:rPr>
              <a:t>Soal Decoding dengan data</a:t>
            </a:r>
          </a:p>
          <a:p>
            <a:pPr algn="just" marL="842026" indent="-421013" lvl="1">
              <a:lnSpc>
                <a:spcPts val="4680"/>
              </a:lnSpc>
              <a:buFont typeface="Arial"/>
              <a:buChar char="•"/>
            </a:pPr>
            <a:r>
              <a:rPr lang="en-US" sz="3900">
                <a:solidFill>
                  <a:srgbClr val="FFFFFF"/>
                </a:solidFill>
                <a:latin typeface="Poppins Medium"/>
              </a:rPr>
              <a:t>apakah data yang diterima benar (1011 0100 111 1111 1101 1010)</a:t>
            </a:r>
          </a:p>
          <a:p>
            <a:pPr algn="just" marL="842026" indent="-421013" lvl="1">
              <a:lnSpc>
                <a:spcPts val="4680"/>
              </a:lnSpc>
              <a:buFont typeface="Arial"/>
              <a:buChar char="•"/>
            </a:pPr>
            <a:r>
              <a:rPr lang="en-US" sz="3900">
                <a:solidFill>
                  <a:srgbClr val="FFFFFF"/>
                </a:solidFill>
                <a:latin typeface="Poppins Medium"/>
              </a:rPr>
              <a:t>apakah data yang diterima benar (1001 0101 001 1001 1010 1111)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DAFfrzLvKwQ</dc:identifier>
  <dcterms:modified xsi:type="dcterms:W3CDTF">2011-08-01T06:04:30Z</dcterms:modified>
  <cp:revision>1</cp:revision>
  <dc:title>Presentasi Teknologi 5G Elemen 3D Biru</dc:title>
</cp:coreProperties>
</file>