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Zen Dots"/>
      <p:regular r:id="rId24"/>
    </p:embeddedFont>
    <p:embeddedFont>
      <p:font typeface="Arim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26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HZeQItllGA2HcF8wYgDpE4vF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6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ZenDot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ickwork-HD-R1a.jpg" id="17" name="Google Shape;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/>
          <p:nvPr/>
        </p:nvSpPr>
        <p:spPr>
          <a:xfrm>
            <a:off x="-11907" y="0"/>
            <a:ext cx="8762858" cy="4941094"/>
          </a:xfrm>
          <a:custGeom>
            <a:rect b="b" l="l" r="r" t="t"/>
            <a:pathLst>
              <a:path extrusionOk="0" h="6588125" w="11683810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01600" rotWithShape="0" algn="tl" dir="4380000" dist="152400">
              <a:srgbClr val="000000">
                <a:alpha val="4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0"/>
          <p:cNvSpPr/>
          <p:nvPr/>
        </p:nvSpPr>
        <p:spPr>
          <a:xfrm>
            <a:off x="0" y="3211693"/>
            <a:ext cx="8496943" cy="1521634"/>
          </a:xfrm>
          <a:custGeom>
            <a:rect b="b" l="l" r="r" t="t"/>
            <a:pathLst>
              <a:path extrusionOk="0" h="2028845" w="11329257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4000">
                <a:schemeClr val="accent1"/>
              </a:gs>
              <a:gs pos="100000">
                <a:srgbClr val="5C06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20" name="Google Shape;20;p20"/>
          <p:cNvSpPr/>
          <p:nvPr/>
        </p:nvSpPr>
        <p:spPr>
          <a:xfrm>
            <a:off x="1" y="0"/>
            <a:ext cx="6539684" cy="342658"/>
          </a:xfrm>
          <a:custGeom>
            <a:rect b="b" l="l" r="r" t="t"/>
            <a:pathLst>
              <a:path extrusionOk="0" h="456877" w="8719579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4000">
                <a:schemeClr val="accent1"/>
              </a:gs>
              <a:gs pos="100000">
                <a:srgbClr val="5C06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21" name="Google Shape;21;p20"/>
          <p:cNvSpPr/>
          <p:nvPr/>
        </p:nvSpPr>
        <p:spPr>
          <a:xfrm rot="-180000">
            <a:off x="-121350" y="219988"/>
            <a:ext cx="8525337" cy="4313853"/>
          </a:xfrm>
          <a:custGeom>
            <a:rect b="b" l="l" r="r" t="t"/>
            <a:pathLst>
              <a:path extrusionOk="0" h="5751804" w="11367116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noFill/>
          <a:ln cap="flat" cmpd="sng" w="825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0"/>
          <p:cNvSpPr txBox="1"/>
          <p:nvPr>
            <p:ph type="ctrTitle"/>
          </p:nvPr>
        </p:nvSpPr>
        <p:spPr>
          <a:xfrm rot="-180000">
            <a:off x="668401" y="496992"/>
            <a:ext cx="7316390" cy="2074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subTitle"/>
          </p:nvPr>
        </p:nvSpPr>
        <p:spPr>
          <a:xfrm rot="-180000">
            <a:off x="737297" y="2628907"/>
            <a:ext cx="731639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3360"/>
              <a:buNone/>
              <a:defRPr sz="21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sz="150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 rot="-180000">
            <a:off x="3711406" y="3433847"/>
            <a:ext cx="4607740" cy="872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50">
                <a:solidFill>
                  <a:srgbClr val="5C060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 rot="-180000">
            <a:off x="-4170" y="3662268"/>
            <a:ext cx="3035429" cy="896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5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 rot="-180000">
            <a:off x="7388818" y="2874486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algn="ctr">
              <a:spcBef>
                <a:spcPts val="0"/>
              </a:spcBef>
              <a:buNone/>
              <a:defRPr b="0" i="0" sz="18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20"/>
          <p:cNvSpPr/>
          <p:nvPr/>
        </p:nvSpPr>
        <p:spPr>
          <a:xfrm rot="-180000">
            <a:off x="3166039" y="3833517"/>
            <a:ext cx="386540" cy="386540"/>
          </a:xfrm>
          <a:prstGeom prst="star5">
            <a:avLst>
              <a:gd fmla="val 26693" name="adj"/>
              <a:gd fmla="val 105146" name="hf"/>
              <a:gd fmla="val 110557" name="vf"/>
            </a:avLst>
          </a:prstGeom>
          <a:solidFill>
            <a:schemeClr val="dk1">
              <a:alpha val="4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379685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7" name="Google Shape;37;p23"/>
          <p:cNvSpPr txBox="1"/>
          <p:nvPr>
            <p:ph idx="1" type="subTitle"/>
          </p:nvPr>
        </p:nvSpPr>
        <p:spPr>
          <a:xfrm rot="237">
            <a:off x="2391900" y="351191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2" type="title"/>
          </p:nvPr>
        </p:nvSpPr>
        <p:spPr>
          <a:xfrm>
            <a:off x="2391900" y="2840075"/>
            <a:ext cx="4360200" cy="6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type="title"/>
          </p:nvPr>
        </p:nvSpPr>
        <p:spPr>
          <a:xfrm>
            <a:off x="7200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 rot="237">
            <a:off x="720000" y="3340875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2" type="title"/>
          </p:nvPr>
        </p:nvSpPr>
        <p:spPr>
          <a:xfrm>
            <a:off x="720000" y="2789701"/>
            <a:ext cx="43602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 rot="-842">
            <a:off x="2121450" y="3086120"/>
            <a:ext cx="4901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mpac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1298100" y="1628625"/>
            <a:ext cx="6547800" cy="14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type="title"/>
          </p:nvPr>
        </p:nvSpPr>
        <p:spPr>
          <a:xfrm rot="1973">
            <a:off x="13656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p26"/>
          <p:cNvSpPr txBox="1"/>
          <p:nvPr>
            <p:ph idx="2" type="title"/>
          </p:nvPr>
        </p:nvSpPr>
        <p:spPr>
          <a:xfrm>
            <a:off x="7200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26"/>
          <p:cNvSpPr txBox="1"/>
          <p:nvPr>
            <p:ph idx="1" type="subTitle"/>
          </p:nvPr>
        </p:nvSpPr>
        <p:spPr>
          <a:xfrm>
            <a:off x="720000" y="22863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3" type="title"/>
          </p:nvPr>
        </p:nvSpPr>
        <p:spPr>
          <a:xfrm rot="1973">
            <a:off x="13656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" name="Google Shape;51;p26"/>
          <p:cNvSpPr txBox="1"/>
          <p:nvPr>
            <p:ph idx="4" type="title"/>
          </p:nvPr>
        </p:nvSpPr>
        <p:spPr>
          <a:xfrm>
            <a:off x="7200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26"/>
          <p:cNvSpPr txBox="1"/>
          <p:nvPr>
            <p:ph idx="5" type="subTitle"/>
          </p:nvPr>
        </p:nvSpPr>
        <p:spPr>
          <a:xfrm>
            <a:off x="720000" y="39246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6" type="title"/>
          </p:nvPr>
        </p:nvSpPr>
        <p:spPr>
          <a:xfrm rot="1973">
            <a:off x="40494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26"/>
          <p:cNvSpPr txBox="1"/>
          <p:nvPr>
            <p:ph idx="7" type="title"/>
          </p:nvPr>
        </p:nvSpPr>
        <p:spPr>
          <a:xfrm>
            <a:off x="34038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26"/>
          <p:cNvSpPr txBox="1"/>
          <p:nvPr>
            <p:ph idx="8" type="subTitle"/>
          </p:nvPr>
        </p:nvSpPr>
        <p:spPr>
          <a:xfrm>
            <a:off x="3403800" y="22863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9" type="title"/>
          </p:nvPr>
        </p:nvSpPr>
        <p:spPr>
          <a:xfrm rot="1973">
            <a:off x="40494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" name="Google Shape;57;p26"/>
          <p:cNvSpPr txBox="1"/>
          <p:nvPr>
            <p:ph idx="13" type="title"/>
          </p:nvPr>
        </p:nvSpPr>
        <p:spPr>
          <a:xfrm>
            <a:off x="34038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26"/>
          <p:cNvSpPr txBox="1"/>
          <p:nvPr>
            <p:ph idx="14" type="subTitle"/>
          </p:nvPr>
        </p:nvSpPr>
        <p:spPr>
          <a:xfrm>
            <a:off x="3403800" y="39246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5" type="title"/>
          </p:nvPr>
        </p:nvSpPr>
        <p:spPr>
          <a:xfrm rot="1973">
            <a:off x="6733200" y="14578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" name="Google Shape;60;p26"/>
          <p:cNvSpPr txBox="1"/>
          <p:nvPr>
            <p:ph idx="16" type="title"/>
          </p:nvPr>
        </p:nvSpPr>
        <p:spPr>
          <a:xfrm>
            <a:off x="6087600" y="19709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26"/>
          <p:cNvSpPr txBox="1"/>
          <p:nvPr>
            <p:ph idx="17" type="subTitle"/>
          </p:nvPr>
        </p:nvSpPr>
        <p:spPr>
          <a:xfrm>
            <a:off x="6087600" y="22863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8" type="title"/>
          </p:nvPr>
        </p:nvSpPr>
        <p:spPr>
          <a:xfrm rot="1973">
            <a:off x="6733200" y="3172396"/>
            <a:ext cx="1045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26"/>
          <p:cNvSpPr txBox="1"/>
          <p:nvPr>
            <p:ph idx="19" type="title"/>
          </p:nvPr>
        </p:nvSpPr>
        <p:spPr>
          <a:xfrm>
            <a:off x="6087600" y="3609295"/>
            <a:ext cx="23364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26"/>
          <p:cNvSpPr txBox="1"/>
          <p:nvPr>
            <p:ph idx="20" type="subTitle"/>
          </p:nvPr>
        </p:nvSpPr>
        <p:spPr>
          <a:xfrm>
            <a:off x="6087600" y="3924603"/>
            <a:ext cx="23364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21" type="title"/>
          </p:nvPr>
        </p:nvSpPr>
        <p:spPr>
          <a:xfrm>
            <a:off x="720000" y="558473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title"/>
          </p:nvPr>
        </p:nvSpPr>
        <p:spPr>
          <a:xfrm>
            <a:off x="1634400" y="1536148"/>
            <a:ext cx="5875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27"/>
          <p:cNvSpPr txBox="1"/>
          <p:nvPr>
            <p:ph idx="1" type="subTitle"/>
          </p:nvPr>
        </p:nvSpPr>
        <p:spPr>
          <a:xfrm>
            <a:off x="2159925" y="2537100"/>
            <a:ext cx="48240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6873900" y="1403638"/>
            <a:ext cx="15501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  <a:defRPr sz="75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1" name="Google Shape;71;p28"/>
          <p:cNvSpPr txBox="1"/>
          <p:nvPr>
            <p:ph idx="1" type="subTitle"/>
          </p:nvPr>
        </p:nvSpPr>
        <p:spPr>
          <a:xfrm rot="237">
            <a:off x="4026487" y="336196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2" type="title"/>
          </p:nvPr>
        </p:nvSpPr>
        <p:spPr>
          <a:xfrm>
            <a:off x="4026488" y="2520000"/>
            <a:ext cx="4360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4300"/>
            </a:lvl1pPr>
            <a:lvl2pPr lvl="1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 and tex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 txBox="1"/>
          <p:nvPr>
            <p:ph idx="1" type="subTitle"/>
          </p:nvPr>
        </p:nvSpPr>
        <p:spPr>
          <a:xfrm>
            <a:off x="808500" y="2344975"/>
            <a:ext cx="37611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type="title"/>
          </p:nvPr>
        </p:nvSpPr>
        <p:spPr>
          <a:xfrm>
            <a:off x="808500" y="1462100"/>
            <a:ext cx="3763500" cy="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Title and four 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type="title"/>
          </p:nvPr>
        </p:nvSpPr>
        <p:spPr>
          <a:xfrm>
            <a:off x="1265918" y="157977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30"/>
          <p:cNvSpPr txBox="1"/>
          <p:nvPr>
            <p:ph idx="1" type="subTitle"/>
          </p:nvPr>
        </p:nvSpPr>
        <p:spPr>
          <a:xfrm>
            <a:off x="1265918" y="1879475"/>
            <a:ext cx="3175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2" type="title"/>
          </p:nvPr>
        </p:nvSpPr>
        <p:spPr>
          <a:xfrm>
            <a:off x="5225430" y="1578425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30"/>
          <p:cNvSpPr txBox="1"/>
          <p:nvPr>
            <p:ph idx="3" type="subTitle"/>
          </p:nvPr>
        </p:nvSpPr>
        <p:spPr>
          <a:xfrm>
            <a:off x="5225429" y="1878125"/>
            <a:ext cx="3175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4" type="title"/>
          </p:nvPr>
        </p:nvSpPr>
        <p:spPr>
          <a:xfrm>
            <a:off x="1265890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30"/>
          <p:cNvSpPr txBox="1"/>
          <p:nvPr>
            <p:ph idx="5" type="subTitle"/>
          </p:nvPr>
        </p:nvSpPr>
        <p:spPr>
          <a:xfrm>
            <a:off x="1265918" y="3594000"/>
            <a:ext cx="3175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6" type="title"/>
          </p:nvPr>
        </p:nvSpPr>
        <p:spPr>
          <a:xfrm>
            <a:off x="5225426" y="3294250"/>
            <a:ext cx="3175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30"/>
          <p:cNvSpPr txBox="1"/>
          <p:nvPr>
            <p:ph idx="7" type="subTitle"/>
          </p:nvPr>
        </p:nvSpPr>
        <p:spPr>
          <a:xfrm>
            <a:off x="5225429" y="3594000"/>
            <a:ext cx="31758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8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1125900" y="1365900"/>
            <a:ext cx="6892200" cy="24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mpact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" type="body"/>
          </p:nvPr>
        </p:nvSpPr>
        <p:spPr>
          <a:xfrm>
            <a:off x="514351" y="1547547"/>
            <a:ext cx="7796030" cy="248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3"/>
          <p:cNvSpPr txBox="1"/>
          <p:nvPr>
            <p:ph type="title"/>
          </p:nvPr>
        </p:nvSpPr>
        <p:spPr>
          <a:xfrm>
            <a:off x="514351" y="514351"/>
            <a:ext cx="7796030" cy="23951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 sz="4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3"/>
          <p:cNvSpPr txBox="1"/>
          <p:nvPr>
            <p:ph idx="1" type="body"/>
          </p:nvPr>
        </p:nvSpPr>
        <p:spPr>
          <a:xfrm>
            <a:off x="514351" y="2806700"/>
            <a:ext cx="7796030" cy="1229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3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/>
          <p:nvPr>
            <p:ph type="title"/>
          </p:nvPr>
        </p:nvSpPr>
        <p:spPr>
          <a:xfrm>
            <a:off x="514351" y="514350"/>
            <a:ext cx="7797662" cy="86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" type="body"/>
          </p:nvPr>
        </p:nvSpPr>
        <p:spPr>
          <a:xfrm>
            <a:off x="514350" y="1547547"/>
            <a:ext cx="3816536" cy="248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2" type="body"/>
          </p:nvPr>
        </p:nvSpPr>
        <p:spPr>
          <a:xfrm>
            <a:off x="4495478" y="1547547"/>
            <a:ext cx="3814904" cy="248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04" name="Google Shape;104;p34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4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4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5"/>
          <p:cNvSpPr txBox="1"/>
          <p:nvPr>
            <p:ph type="title"/>
          </p:nvPr>
        </p:nvSpPr>
        <p:spPr>
          <a:xfrm>
            <a:off x="514351" y="514350"/>
            <a:ext cx="7796030" cy="868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" type="body"/>
          </p:nvPr>
        </p:nvSpPr>
        <p:spPr>
          <a:xfrm>
            <a:off x="688767" y="1547547"/>
            <a:ext cx="3642119" cy="509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120"/>
              <a:buNone/>
              <a:defRPr b="0" sz="19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10" name="Google Shape;110;p35"/>
          <p:cNvSpPr txBox="1"/>
          <p:nvPr>
            <p:ph idx="2" type="body"/>
          </p:nvPr>
        </p:nvSpPr>
        <p:spPr>
          <a:xfrm>
            <a:off x="514352" y="2146300"/>
            <a:ext cx="3816534" cy="1884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3" type="body"/>
          </p:nvPr>
        </p:nvSpPr>
        <p:spPr>
          <a:xfrm>
            <a:off x="4663644" y="1547547"/>
            <a:ext cx="3648368" cy="509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120"/>
              <a:buNone/>
              <a:defRPr b="0" sz="19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12" name="Google Shape;112;p35"/>
          <p:cNvSpPr txBox="1"/>
          <p:nvPr>
            <p:ph idx="4" type="body"/>
          </p:nvPr>
        </p:nvSpPr>
        <p:spPr>
          <a:xfrm>
            <a:off x="4495477" y="2146300"/>
            <a:ext cx="3816535" cy="1884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13" name="Google Shape;113;p35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"/>
          <p:cNvSpPr txBox="1"/>
          <p:nvPr>
            <p:ph type="title"/>
          </p:nvPr>
        </p:nvSpPr>
        <p:spPr>
          <a:xfrm>
            <a:off x="520232" y="514350"/>
            <a:ext cx="3095145" cy="1517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Impact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idx="1" type="body"/>
          </p:nvPr>
        </p:nvSpPr>
        <p:spPr>
          <a:xfrm>
            <a:off x="3784600" y="514350"/>
            <a:ext cx="4525781" cy="35165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23" name="Google Shape;123;p37"/>
          <p:cNvSpPr txBox="1"/>
          <p:nvPr>
            <p:ph idx="2" type="body"/>
          </p:nvPr>
        </p:nvSpPr>
        <p:spPr>
          <a:xfrm>
            <a:off x="520232" y="2031789"/>
            <a:ext cx="3095146" cy="199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6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24" name="Google Shape;124;p37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7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/>
          <p:nvPr>
            <p:ph type="title"/>
          </p:nvPr>
        </p:nvSpPr>
        <p:spPr>
          <a:xfrm>
            <a:off x="514350" y="514350"/>
            <a:ext cx="4758977" cy="15174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Impact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/>
          <p:nvPr>
            <p:ph idx="2" type="pic"/>
          </p:nvPr>
        </p:nvSpPr>
        <p:spPr>
          <a:xfrm>
            <a:off x="5611771" y="0"/>
            <a:ext cx="2698610" cy="3803650"/>
          </a:xfrm>
          <a:prstGeom prst="rect">
            <a:avLst/>
          </a:prstGeom>
          <a:noFill/>
          <a:ln cap="flat" cmpd="thinThick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38"/>
          <p:cNvSpPr txBox="1"/>
          <p:nvPr>
            <p:ph idx="1" type="body"/>
          </p:nvPr>
        </p:nvSpPr>
        <p:spPr>
          <a:xfrm>
            <a:off x="514351" y="2031789"/>
            <a:ext cx="4758976" cy="1771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6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31" name="Google Shape;131;p38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8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9"/>
          <p:cNvSpPr txBox="1"/>
          <p:nvPr>
            <p:ph type="title"/>
          </p:nvPr>
        </p:nvSpPr>
        <p:spPr>
          <a:xfrm>
            <a:off x="514350" y="3079749"/>
            <a:ext cx="7796031" cy="4416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mpac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9"/>
          <p:cNvSpPr/>
          <p:nvPr>
            <p:ph idx="2" type="pic"/>
          </p:nvPr>
        </p:nvSpPr>
        <p:spPr>
          <a:xfrm>
            <a:off x="514351" y="514350"/>
            <a:ext cx="7794385" cy="2396177"/>
          </a:xfrm>
          <a:prstGeom prst="rect">
            <a:avLst/>
          </a:prstGeom>
          <a:noFill/>
          <a:ln cap="flat" cmpd="thinThick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7" name="Google Shape;137;p39"/>
          <p:cNvSpPr txBox="1"/>
          <p:nvPr>
            <p:ph idx="1" type="body"/>
          </p:nvPr>
        </p:nvSpPr>
        <p:spPr>
          <a:xfrm>
            <a:off x="514335" y="3527192"/>
            <a:ext cx="7796046" cy="5118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92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38" name="Google Shape;138;p39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0"/>
          <p:cNvSpPr txBox="1"/>
          <p:nvPr>
            <p:ph type="title"/>
          </p:nvPr>
        </p:nvSpPr>
        <p:spPr>
          <a:xfrm>
            <a:off x="514351" y="514351"/>
            <a:ext cx="7797677" cy="23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40"/>
          <p:cNvSpPr txBox="1"/>
          <p:nvPr>
            <p:ph idx="1" type="body"/>
          </p:nvPr>
        </p:nvSpPr>
        <p:spPr>
          <a:xfrm>
            <a:off x="514335" y="3079750"/>
            <a:ext cx="7796047" cy="955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6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44" name="Google Shape;144;p40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0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0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1"/>
          <p:cNvSpPr txBox="1"/>
          <p:nvPr>
            <p:ph type="title"/>
          </p:nvPr>
        </p:nvSpPr>
        <p:spPr>
          <a:xfrm>
            <a:off x="841299" y="514350"/>
            <a:ext cx="7143765" cy="218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1"/>
          <p:cNvSpPr txBox="1"/>
          <p:nvPr>
            <p:ph idx="1" type="body"/>
          </p:nvPr>
        </p:nvSpPr>
        <p:spPr>
          <a:xfrm>
            <a:off x="1162698" y="2707524"/>
            <a:ext cx="6500967" cy="283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50" name="Google Shape;150;p41"/>
          <p:cNvSpPr txBox="1"/>
          <p:nvPr>
            <p:ph idx="2" type="body"/>
          </p:nvPr>
        </p:nvSpPr>
        <p:spPr>
          <a:xfrm>
            <a:off x="514351" y="3079751"/>
            <a:ext cx="7797662" cy="951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6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51" name="Google Shape;151;p41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1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1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41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“</a:t>
            </a:r>
            <a:endParaRPr/>
          </a:p>
        </p:txBody>
      </p:sp>
      <p:sp>
        <p:nvSpPr>
          <p:cNvPr id="155" name="Google Shape;155;p41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mpact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2"/>
          <p:cNvSpPr txBox="1"/>
          <p:nvPr>
            <p:ph type="title"/>
          </p:nvPr>
        </p:nvSpPr>
        <p:spPr>
          <a:xfrm>
            <a:off x="514351" y="1292891"/>
            <a:ext cx="7796030" cy="18838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2"/>
          <p:cNvSpPr txBox="1"/>
          <p:nvPr>
            <p:ph idx="1" type="body"/>
          </p:nvPr>
        </p:nvSpPr>
        <p:spPr>
          <a:xfrm>
            <a:off x="514351" y="3185601"/>
            <a:ext cx="7796030" cy="855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16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68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9pPr>
          </a:lstStyle>
          <a:p/>
        </p:txBody>
      </p:sp>
      <p:sp>
        <p:nvSpPr>
          <p:cNvPr id="159" name="Google Shape;159;p42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2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2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/>
          <p:nvPr>
            <p:ph type="title"/>
          </p:nvPr>
        </p:nvSpPr>
        <p:spPr>
          <a:xfrm>
            <a:off x="514351" y="514350"/>
            <a:ext cx="7796030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3"/>
          <p:cNvSpPr txBox="1"/>
          <p:nvPr>
            <p:ph idx="1" type="body"/>
          </p:nvPr>
        </p:nvSpPr>
        <p:spPr>
          <a:xfrm>
            <a:off x="514352" y="1547546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80"/>
              <a:buNone/>
              <a:defRPr b="0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65" name="Google Shape;165;p43"/>
          <p:cNvSpPr txBox="1"/>
          <p:nvPr>
            <p:ph idx="2" type="body"/>
          </p:nvPr>
        </p:nvSpPr>
        <p:spPr>
          <a:xfrm>
            <a:off x="514352" y="1979744"/>
            <a:ext cx="2482596" cy="205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66" name="Google Shape;166;p43"/>
          <p:cNvSpPr txBox="1"/>
          <p:nvPr>
            <p:ph idx="3" type="body"/>
          </p:nvPr>
        </p:nvSpPr>
        <p:spPr>
          <a:xfrm>
            <a:off x="3175967" y="1547546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80"/>
              <a:buNone/>
              <a:defRPr b="0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67" name="Google Shape;167;p43"/>
          <p:cNvSpPr txBox="1"/>
          <p:nvPr>
            <p:ph idx="4" type="body"/>
          </p:nvPr>
        </p:nvSpPr>
        <p:spPr>
          <a:xfrm>
            <a:off x="3175966" y="1979744"/>
            <a:ext cx="2482596" cy="205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68" name="Google Shape;168;p43"/>
          <p:cNvSpPr txBox="1"/>
          <p:nvPr>
            <p:ph idx="5" type="body"/>
          </p:nvPr>
        </p:nvSpPr>
        <p:spPr>
          <a:xfrm>
            <a:off x="5827785" y="1547546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80"/>
              <a:buNone/>
              <a:defRPr b="0"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69" name="Google Shape;169;p43"/>
          <p:cNvSpPr txBox="1"/>
          <p:nvPr>
            <p:ph idx="6" type="body"/>
          </p:nvPr>
        </p:nvSpPr>
        <p:spPr>
          <a:xfrm>
            <a:off x="5827785" y="1979744"/>
            <a:ext cx="2482596" cy="205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70" name="Google Shape;170;p43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3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3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4"/>
          <p:cNvSpPr txBox="1"/>
          <p:nvPr>
            <p:ph idx="1" type="body"/>
          </p:nvPr>
        </p:nvSpPr>
        <p:spPr>
          <a:xfrm>
            <a:off x="518880" y="2859769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640"/>
              <a:buNone/>
              <a:defRPr b="0" sz="16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76" name="Google Shape;176;p44"/>
          <p:cNvSpPr/>
          <p:nvPr>
            <p:ph idx="2" type="pic"/>
          </p:nvPr>
        </p:nvSpPr>
        <p:spPr>
          <a:xfrm>
            <a:off x="514335" y="1547547"/>
            <a:ext cx="2482596" cy="1152544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44"/>
          <p:cNvSpPr txBox="1"/>
          <p:nvPr>
            <p:ph idx="3" type="body"/>
          </p:nvPr>
        </p:nvSpPr>
        <p:spPr>
          <a:xfrm>
            <a:off x="518880" y="3291966"/>
            <a:ext cx="2482596" cy="738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78" name="Google Shape;178;p44"/>
          <p:cNvSpPr txBox="1"/>
          <p:nvPr>
            <p:ph idx="4" type="body"/>
          </p:nvPr>
        </p:nvSpPr>
        <p:spPr>
          <a:xfrm>
            <a:off x="3178058" y="2859769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640"/>
              <a:buNone/>
              <a:defRPr b="0" sz="16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79" name="Google Shape;179;p44"/>
          <p:cNvSpPr/>
          <p:nvPr>
            <p:ph idx="5" type="pic"/>
          </p:nvPr>
        </p:nvSpPr>
        <p:spPr>
          <a:xfrm>
            <a:off x="3176999" y="1547547"/>
            <a:ext cx="2482596" cy="1151428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44"/>
          <p:cNvSpPr txBox="1"/>
          <p:nvPr>
            <p:ph idx="6" type="body"/>
          </p:nvPr>
        </p:nvSpPr>
        <p:spPr>
          <a:xfrm>
            <a:off x="3176999" y="3291965"/>
            <a:ext cx="2482596" cy="738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81" name="Google Shape;181;p44"/>
          <p:cNvSpPr txBox="1"/>
          <p:nvPr>
            <p:ph idx="7" type="body"/>
          </p:nvPr>
        </p:nvSpPr>
        <p:spPr>
          <a:xfrm>
            <a:off x="5826708" y="2859769"/>
            <a:ext cx="2482596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640"/>
              <a:buNone/>
              <a:defRPr b="0" sz="165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4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16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920"/>
              <a:buNone/>
              <a:defRPr b="1" sz="1200"/>
            </a:lvl9pPr>
          </a:lstStyle>
          <a:p/>
        </p:txBody>
      </p:sp>
      <p:sp>
        <p:nvSpPr>
          <p:cNvPr id="182" name="Google Shape;182;p44"/>
          <p:cNvSpPr/>
          <p:nvPr>
            <p:ph idx="8" type="pic"/>
          </p:nvPr>
        </p:nvSpPr>
        <p:spPr>
          <a:xfrm>
            <a:off x="5826614" y="1547546"/>
            <a:ext cx="2482596" cy="1152897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3" name="Google Shape;183;p44"/>
          <p:cNvSpPr txBox="1"/>
          <p:nvPr>
            <p:ph idx="9" type="body"/>
          </p:nvPr>
        </p:nvSpPr>
        <p:spPr>
          <a:xfrm>
            <a:off x="5826614" y="3291963"/>
            <a:ext cx="2482596" cy="738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680"/>
              <a:buNone/>
              <a:defRPr sz="10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9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7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80"/>
              <a:buNone/>
              <a:defRPr sz="675"/>
            </a:lvl9pPr>
          </a:lstStyle>
          <a:p/>
        </p:txBody>
      </p:sp>
      <p:sp>
        <p:nvSpPr>
          <p:cNvPr id="184" name="Google Shape;184;p44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4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4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5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idx="1" type="body"/>
          </p:nvPr>
        </p:nvSpPr>
        <p:spPr>
          <a:xfrm rot="5400000">
            <a:off x="3170669" y="-1108772"/>
            <a:ext cx="2483393" cy="7796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5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5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6"/>
          <p:cNvSpPr txBox="1"/>
          <p:nvPr>
            <p:ph type="title"/>
          </p:nvPr>
        </p:nvSpPr>
        <p:spPr>
          <a:xfrm rot="5400000">
            <a:off x="5702844" y="1423402"/>
            <a:ext cx="3516589" cy="1698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6"/>
          <p:cNvSpPr txBox="1"/>
          <p:nvPr>
            <p:ph idx="1" type="body"/>
          </p:nvPr>
        </p:nvSpPr>
        <p:spPr>
          <a:xfrm rot="5400000">
            <a:off x="1720218" y="-691517"/>
            <a:ext cx="3516589" cy="5928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4pPr>
            <a:lvl5pPr indent="-411479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5pPr>
            <a:lvl6pPr indent="-411479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6pPr>
            <a:lvl7pPr indent="-411479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7pPr>
            <a:lvl8pPr indent="-411479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8pPr>
            <a:lvl9pPr indent="-411479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96" name="Google Shape;196;p46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6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3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slideLayout" Target="../slideLayouts/slideLayout27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ickwork-HD-R1a.jpg" id="6" name="Google Shape;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>
          <p:nvSpPr>
            <p:cNvPr id="8" name="Google Shape;8;p19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98425" rotWithShape="0" algn="tl" dir="4380000" dist="76200">
                <a:srgbClr val="000000">
                  <a:alpha val="6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9"/>
            <p:cNvSpPr/>
            <p:nvPr/>
          </p:nvSpPr>
          <p:spPr>
            <a:xfrm>
              <a:off x="-25397" y="0"/>
              <a:ext cx="11773291" cy="6419514"/>
            </a:xfrm>
            <a:custGeom>
              <a:rect b="b" l="l" r="r" t="t"/>
              <a:pathLst>
                <a:path extrusionOk="0" h="6419514" w="11773291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cap="flat" cmpd="sng" w="825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0" name="Google Shape;10;p19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4000">
                  <a:schemeClr val="accent1"/>
                </a:gs>
                <a:gs pos="100000">
                  <a:srgbClr val="5C0607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" name="Google Shape;11;p19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Impact"/>
              <a:buNone/>
              <a:defRPr b="0" i="0" sz="405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-365760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-350519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-335280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-335279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-335279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-335279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-335279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-335279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0" type="dt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400" u="none" cap="none" strike="noStrike">
                <a:solidFill>
                  <a:srgbClr val="5C06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jp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hyperlink" Target="https://www.academia.edu/11814232/A_Brief_Study_of_Data_Compression_Algorithm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"/>
          <p:cNvSpPr txBox="1"/>
          <p:nvPr>
            <p:ph type="ctrTitle"/>
          </p:nvPr>
        </p:nvSpPr>
        <p:spPr>
          <a:xfrm rot="-180000">
            <a:off x="668401" y="496992"/>
            <a:ext cx="7316390" cy="207489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2000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SISTEM DAN TEKNOLOGI KOMUNIKASI MULTIMEDIA</a:t>
            </a:r>
            <a:br>
              <a:rPr i="0" lang="en-US" sz="2000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b="1" i="1" lang="en-US" sz="3400">
                <a:solidFill>
                  <a:schemeClr val="dk1"/>
                </a:solidFill>
                <a:latin typeface="Zen Dots"/>
                <a:ea typeface="Zen Dots"/>
                <a:cs typeface="Zen Dots"/>
                <a:sym typeface="Zen Dots"/>
              </a:rPr>
              <a:t>LEMPEL ZIV ALL PREFIXES</a:t>
            </a:r>
            <a:br>
              <a:rPr lang="en-US" sz="3400"/>
            </a:br>
            <a:r>
              <a:rPr lang="en-US" sz="3400"/>
              <a:t>LZAP</a:t>
            </a:r>
            <a:endParaRPr b="1" i="1" sz="3400">
              <a:solidFill>
                <a:schemeClr val="dk2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04" name="Google Shape;204;p1"/>
          <p:cNvSpPr txBox="1"/>
          <p:nvPr>
            <p:ph idx="1" type="subTitle"/>
          </p:nvPr>
        </p:nvSpPr>
        <p:spPr>
          <a:xfrm rot="-180000">
            <a:off x="737297" y="2628907"/>
            <a:ext cx="7316390" cy="4127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>
                <a:solidFill>
                  <a:schemeClr val="dk1"/>
                </a:solidFill>
              </a:rPr>
              <a:t>KELOMPOK 8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05" name="Google Shape;205;p1"/>
          <p:cNvGrpSpPr/>
          <p:nvPr/>
        </p:nvGrpSpPr>
        <p:grpSpPr>
          <a:xfrm>
            <a:off x="804440" y="3531599"/>
            <a:ext cx="667682" cy="667682"/>
            <a:chOff x="9011850" y="1484962"/>
            <a:chExt cx="552900" cy="552900"/>
          </a:xfrm>
        </p:grpSpPr>
        <p:pic>
          <p:nvPicPr>
            <p:cNvPr id="206" name="Google Shape;20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"/>
          <p:cNvSpPr/>
          <p:nvPr/>
        </p:nvSpPr>
        <p:spPr>
          <a:xfrm>
            <a:off x="2908825" y="3011700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5836350" y="3011700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212" name="Google Shape;212;p1"/>
          <p:cNvGrpSpPr/>
          <p:nvPr/>
        </p:nvGrpSpPr>
        <p:grpSpPr>
          <a:xfrm>
            <a:off x="2011449" y="225750"/>
            <a:ext cx="790214" cy="667702"/>
            <a:chOff x="2011449" y="225750"/>
            <a:chExt cx="790214" cy="667702"/>
          </a:xfrm>
        </p:grpSpPr>
        <p:pic>
          <p:nvPicPr>
            <p:cNvPr id="213" name="Google Shape;213;p1"/>
            <p:cNvPicPr preferRelativeResize="0"/>
            <p:nvPr/>
          </p:nvPicPr>
          <p:blipFill rotWithShape="1">
            <a:blip r:embed="rId4">
              <a:alphaModFix/>
            </a:blip>
            <a:srcRect b="0" l="0" r="0" t="4915"/>
            <a:stretch/>
          </p:blipFill>
          <p:spPr>
            <a:xfrm>
              <a:off x="2099438" y="225750"/>
              <a:ext cx="702225" cy="667702"/>
            </a:xfrm>
            <a:prstGeom prst="rect">
              <a:avLst/>
            </a:prstGeom>
            <a:noFill/>
            <a:ln>
              <a:noFill/>
            </a:ln>
            <a:effectLst>
              <a:outerShdw blurRad="157163" rotWithShape="0" algn="bl" dir="3180000" dist="104775">
                <a:srgbClr val="0E6790">
                  <a:alpha val="61960"/>
                </a:srgbClr>
              </a:outerShdw>
            </a:effectLst>
          </p:spPr>
        </p:pic>
        <p:grpSp>
          <p:nvGrpSpPr>
            <p:cNvPr id="214" name="Google Shape;214;p1"/>
            <p:cNvGrpSpPr/>
            <p:nvPr/>
          </p:nvGrpSpPr>
          <p:grpSpPr>
            <a:xfrm>
              <a:off x="2011449" y="446025"/>
              <a:ext cx="785500" cy="283075"/>
              <a:chOff x="2011449" y="446025"/>
              <a:chExt cx="785500" cy="283075"/>
            </a:xfrm>
          </p:grpSpPr>
          <p:sp>
            <p:nvSpPr>
              <p:cNvPr id="215" name="Google Shape;215;p1"/>
              <p:cNvSpPr/>
              <p:nvPr/>
            </p:nvSpPr>
            <p:spPr>
              <a:xfrm>
                <a:off x="2011449" y="446025"/>
                <a:ext cx="785500" cy="169975"/>
              </a:xfrm>
              <a:custGeom>
                <a:rect b="b" l="l" r="r" t="t"/>
                <a:pathLst>
                  <a:path extrusionOk="0" h="6799" w="31420">
                    <a:moveTo>
                      <a:pt x="5219" y="0"/>
                    </a:moveTo>
                    <a:cubicBezTo>
                      <a:pt x="4696" y="65"/>
                      <a:pt x="2948" y="65"/>
                      <a:pt x="2082" y="392"/>
                    </a:cubicBezTo>
                    <a:cubicBezTo>
                      <a:pt x="1216" y="719"/>
                      <a:pt x="154" y="1422"/>
                      <a:pt x="23" y="1961"/>
                    </a:cubicBezTo>
                    <a:cubicBezTo>
                      <a:pt x="-108" y="2500"/>
                      <a:pt x="318" y="3055"/>
                      <a:pt x="1298" y="3627"/>
                    </a:cubicBezTo>
                    <a:cubicBezTo>
                      <a:pt x="2278" y="4199"/>
                      <a:pt x="3667" y="4869"/>
                      <a:pt x="5905" y="5392"/>
                    </a:cubicBezTo>
                    <a:cubicBezTo>
                      <a:pt x="8143" y="5915"/>
                      <a:pt x="11508" y="6633"/>
                      <a:pt x="14727" y="6764"/>
                    </a:cubicBezTo>
                    <a:cubicBezTo>
                      <a:pt x="17946" y="6895"/>
                      <a:pt x="22521" y="6650"/>
                      <a:pt x="25217" y="6176"/>
                    </a:cubicBezTo>
                    <a:cubicBezTo>
                      <a:pt x="27913" y="5702"/>
                      <a:pt x="29971" y="4607"/>
                      <a:pt x="30902" y="3921"/>
                    </a:cubicBezTo>
                    <a:cubicBezTo>
                      <a:pt x="31833" y="3235"/>
                      <a:pt x="31327" y="2500"/>
                      <a:pt x="30804" y="2059"/>
                    </a:cubicBezTo>
                    <a:cubicBezTo>
                      <a:pt x="30281" y="1618"/>
                      <a:pt x="28272" y="1406"/>
                      <a:pt x="27765" y="1275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2011449" y="509750"/>
                <a:ext cx="784925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2011450" y="563475"/>
                <a:ext cx="765773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8" name="Google Shape;218;p1"/>
          <p:cNvGrpSpPr/>
          <p:nvPr/>
        </p:nvGrpSpPr>
        <p:grpSpPr>
          <a:xfrm flipH="1">
            <a:off x="6332306" y="2649036"/>
            <a:ext cx="1769064" cy="1795580"/>
            <a:chOff x="7374943" y="493061"/>
            <a:chExt cx="1769064" cy="1795580"/>
          </a:xfrm>
        </p:grpSpPr>
        <p:pic>
          <p:nvPicPr>
            <p:cNvPr id="219" name="Google Shape;219;p1"/>
            <p:cNvPicPr preferRelativeResize="0"/>
            <p:nvPr/>
          </p:nvPicPr>
          <p:blipFill rotWithShape="1">
            <a:blip r:embed="rId5">
              <a:alphaModFix/>
            </a:blip>
            <a:srcRect b="8687" l="0" r="0" t="6061"/>
            <a:stretch/>
          </p:blipFill>
          <p:spPr>
            <a:xfrm rot="7611348">
              <a:off x="7589821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220" name="Google Shape;220;p1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221" name="Google Shape;221;p1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24" name="Google Shape;224;p1"/>
          <p:cNvPicPr preferRelativeResize="0"/>
          <p:nvPr/>
        </p:nvPicPr>
        <p:blipFill rotWithShape="1">
          <a:blip r:embed="rId5">
            <a:alphaModFix/>
          </a:blip>
          <a:srcRect b="8687" l="0" r="0" t="6061"/>
          <a:stretch/>
        </p:blipFill>
        <p:spPr>
          <a:xfrm rot="7611348">
            <a:off x="7589821" y="787373"/>
            <a:ext cx="1339308" cy="120695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"/>
          <p:cNvSpPr txBox="1"/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Impact"/>
              <a:buNone/>
            </a:pPr>
            <a:r>
              <a:rPr lang="en-US"/>
              <a:t>OUR TEAM</a:t>
            </a:r>
            <a:endParaRPr/>
          </a:p>
        </p:txBody>
      </p:sp>
      <p:sp>
        <p:nvSpPr>
          <p:cNvPr id="230" name="Google Shape;230;p2"/>
          <p:cNvSpPr txBox="1"/>
          <p:nvPr/>
        </p:nvSpPr>
        <p:spPr>
          <a:xfrm>
            <a:off x="785562" y="3568559"/>
            <a:ext cx="3054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Zen Dots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Farhan Abbas </a:t>
            </a:r>
            <a:endParaRPr b="1" i="0" sz="1600" u="none" cap="none" strike="noStrike">
              <a:solidFill>
                <a:schemeClr val="dk2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231" name="Google Shape;231;p2"/>
          <p:cNvSpPr txBox="1"/>
          <p:nvPr/>
        </p:nvSpPr>
        <p:spPr>
          <a:xfrm>
            <a:off x="5488799" y="3505348"/>
            <a:ext cx="3054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Zen Dots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Firdaus Surya Paloh</a:t>
            </a:r>
            <a:endParaRPr b="1" i="0" sz="1600" u="none" cap="none" strike="noStrike">
              <a:solidFill>
                <a:schemeClr val="dk2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pic>
        <p:nvPicPr>
          <p:cNvPr id="232" name="Google Shape;232;p2"/>
          <p:cNvPicPr preferRelativeResize="0"/>
          <p:nvPr/>
        </p:nvPicPr>
        <p:blipFill rotWithShape="1">
          <a:blip r:embed="rId3">
            <a:alphaModFix/>
          </a:blip>
          <a:srcRect b="5861" l="0" r="0" t="12710"/>
          <a:stretch/>
        </p:blipFill>
        <p:spPr>
          <a:xfrm rot="3796233">
            <a:off x="7934127" y="1194249"/>
            <a:ext cx="1792124" cy="1459249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60000" dist="95250">
              <a:schemeClr val="dk1">
                <a:alpha val="62745"/>
              </a:schemeClr>
            </a:outerShdw>
          </a:effectLst>
        </p:spPr>
      </p:pic>
      <p:pic>
        <p:nvPicPr>
          <p:cNvPr id="233" name="Google Shape;233;p2"/>
          <p:cNvPicPr preferRelativeResize="0"/>
          <p:nvPr/>
        </p:nvPicPr>
        <p:blipFill rotWithShape="1">
          <a:blip r:embed="rId4">
            <a:alphaModFix/>
          </a:blip>
          <a:srcRect b="0" l="16818" r="16818" t="0"/>
          <a:stretch/>
        </p:blipFill>
        <p:spPr>
          <a:xfrm>
            <a:off x="5752002" y="1370006"/>
            <a:ext cx="2023500" cy="2023500"/>
          </a:xfrm>
          <a:prstGeom prst="flowChartConnector">
            <a:avLst/>
          </a:prstGeom>
          <a:noFill/>
          <a:ln>
            <a:noFill/>
          </a:ln>
        </p:spPr>
      </p:pic>
      <p:pic>
        <p:nvPicPr>
          <p:cNvPr id="234" name="Google Shape;234;p2"/>
          <p:cNvPicPr preferRelativeResize="0"/>
          <p:nvPr/>
        </p:nvPicPr>
        <p:blipFill rotWithShape="1">
          <a:blip r:embed="rId5">
            <a:alphaModFix/>
          </a:blip>
          <a:srcRect b="12004" l="12492" r="12342" t="18400"/>
          <a:stretch/>
        </p:blipFill>
        <p:spPr>
          <a:xfrm>
            <a:off x="-693300" y="1384183"/>
            <a:ext cx="1452025" cy="134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"/>
          <p:cNvGrpSpPr/>
          <p:nvPr/>
        </p:nvGrpSpPr>
        <p:grpSpPr>
          <a:xfrm>
            <a:off x="4703874" y="463375"/>
            <a:ext cx="790214" cy="667702"/>
            <a:chOff x="2011449" y="225750"/>
            <a:chExt cx="790214" cy="667702"/>
          </a:xfrm>
        </p:grpSpPr>
        <p:pic>
          <p:nvPicPr>
            <p:cNvPr id="236" name="Google Shape;236;p2"/>
            <p:cNvPicPr preferRelativeResize="0"/>
            <p:nvPr/>
          </p:nvPicPr>
          <p:blipFill rotWithShape="1">
            <a:blip r:embed="rId6">
              <a:alphaModFix/>
            </a:blip>
            <a:srcRect b="0" l="0" r="0" t="4915"/>
            <a:stretch/>
          </p:blipFill>
          <p:spPr>
            <a:xfrm>
              <a:off x="2099438" y="225750"/>
              <a:ext cx="702225" cy="667702"/>
            </a:xfrm>
            <a:prstGeom prst="rect">
              <a:avLst/>
            </a:prstGeom>
            <a:noFill/>
            <a:ln>
              <a:noFill/>
            </a:ln>
            <a:effectLst>
              <a:outerShdw blurRad="157163" rotWithShape="0" algn="bl" dir="3180000" dist="104775">
                <a:srgbClr val="0E6790">
                  <a:alpha val="61960"/>
                </a:srgbClr>
              </a:outerShdw>
            </a:effectLst>
          </p:spPr>
        </p:pic>
        <p:grpSp>
          <p:nvGrpSpPr>
            <p:cNvPr id="237" name="Google Shape;237;p2"/>
            <p:cNvGrpSpPr/>
            <p:nvPr/>
          </p:nvGrpSpPr>
          <p:grpSpPr>
            <a:xfrm>
              <a:off x="2011449" y="446025"/>
              <a:ext cx="785500" cy="283075"/>
              <a:chOff x="2011449" y="446025"/>
              <a:chExt cx="785500" cy="283075"/>
            </a:xfrm>
          </p:grpSpPr>
          <p:sp>
            <p:nvSpPr>
              <p:cNvPr id="238" name="Google Shape;238;p2"/>
              <p:cNvSpPr/>
              <p:nvPr/>
            </p:nvSpPr>
            <p:spPr>
              <a:xfrm>
                <a:off x="2011449" y="446025"/>
                <a:ext cx="785500" cy="169975"/>
              </a:xfrm>
              <a:custGeom>
                <a:rect b="b" l="l" r="r" t="t"/>
                <a:pathLst>
                  <a:path extrusionOk="0" h="6799" w="31420">
                    <a:moveTo>
                      <a:pt x="5219" y="0"/>
                    </a:moveTo>
                    <a:cubicBezTo>
                      <a:pt x="4696" y="65"/>
                      <a:pt x="2948" y="65"/>
                      <a:pt x="2082" y="392"/>
                    </a:cubicBezTo>
                    <a:cubicBezTo>
                      <a:pt x="1216" y="719"/>
                      <a:pt x="154" y="1422"/>
                      <a:pt x="23" y="1961"/>
                    </a:cubicBezTo>
                    <a:cubicBezTo>
                      <a:pt x="-108" y="2500"/>
                      <a:pt x="318" y="3055"/>
                      <a:pt x="1298" y="3627"/>
                    </a:cubicBezTo>
                    <a:cubicBezTo>
                      <a:pt x="2278" y="4199"/>
                      <a:pt x="3667" y="4869"/>
                      <a:pt x="5905" y="5392"/>
                    </a:cubicBezTo>
                    <a:cubicBezTo>
                      <a:pt x="8143" y="5915"/>
                      <a:pt x="11508" y="6633"/>
                      <a:pt x="14727" y="6764"/>
                    </a:cubicBezTo>
                    <a:cubicBezTo>
                      <a:pt x="17946" y="6895"/>
                      <a:pt x="22521" y="6650"/>
                      <a:pt x="25217" y="6176"/>
                    </a:cubicBezTo>
                    <a:cubicBezTo>
                      <a:pt x="27913" y="5702"/>
                      <a:pt x="29971" y="4607"/>
                      <a:pt x="30902" y="3921"/>
                    </a:cubicBezTo>
                    <a:cubicBezTo>
                      <a:pt x="31833" y="3235"/>
                      <a:pt x="31327" y="2500"/>
                      <a:pt x="30804" y="2059"/>
                    </a:cubicBezTo>
                    <a:cubicBezTo>
                      <a:pt x="30281" y="1618"/>
                      <a:pt x="28272" y="1406"/>
                      <a:pt x="27765" y="1275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2011449" y="509750"/>
                <a:ext cx="784925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2011450" y="563475"/>
                <a:ext cx="765773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1" name="Google Shape;241;p2"/>
          <p:cNvGrpSpPr/>
          <p:nvPr/>
        </p:nvGrpSpPr>
        <p:grpSpPr>
          <a:xfrm rot="4659644">
            <a:off x="3465844" y="3981554"/>
            <a:ext cx="1769065" cy="1795581"/>
            <a:chOff x="7374943" y="493061"/>
            <a:chExt cx="1769064" cy="1795580"/>
          </a:xfrm>
        </p:grpSpPr>
        <p:pic>
          <p:nvPicPr>
            <p:cNvPr id="242" name="Google Shape;242;p2"/>
            <p:cNvPicPr preferRelativeResize="0"/>
            <p:nvPr/>
          </p:nvPicPr>
          <p:blipFill rotWithShape="1">
            <a:blip r:embed="rId7">
              <a:alphaModFix/>
            </a:blip>
            <a:srcRect b="8687" l="0" r="0" t="6061"/>
            <a:stretch/>
          </p:blipFill>
          <p:spPr>
            <a:xfrm rot="7611348">
              <a:off x="7589821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243" name="Google Shape;243;p2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244" name="Google Shape;244;p2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247" name="Google Shape;247;p2"/>
          <p:cNvPicPr preferRelativeResize="0"/>
          <p:nvPr/>
        </p:nvPicPr>
        <p:blipFill rotWithShape="1">
          <a:blip r:embed="rId8">
            <a:alphaModFix/>
          </a:blip>
          <a:srcRect b="0" l="21409" r="21409" t="0"/>
          <a:stretch/>
        </p:blipFill>
        <p:spPr>
          <a:xfrm>
            <a:off x="1231863" y="1370006"/>
            <a:ext cx="2023500" cy="1990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8" name="Google Shape;248;p2"/>
          <p:cNvSpPr txBox="1"/>
          <p:nvPr/>
        </p:nvSpPr>
        <p:spPr>
          <a:xfrm>
            <a:off x="1383916" y="3718409"/>
            <a:ext cx="1719393" cy="4255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201344011</a:t>
            </a:r>
            <a:endParaRPr b="1" i="0" sz="18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9" name="Google Shape;249;p2"/>
          <p:cNvSpPr txBox="1"/>
          <p:nvPr/>
        </p:nvSpPr>
        <p:spPr>
          <a:xfrm>
            <a:off x="6056109" y="3707653"/>
            <a:ext cx="1719393" cy="4255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201344013</a:t>
            </a:r>
            <a:endParaRPr b="1" i="0" sz="18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"/>
          <p:cNvSpPr txBox="1"/>
          <p:nvPr>
            <p:ph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lang="en-US"/>
              <a:t>TABLE OF </a:t>
            </a:r>
            <a:r>
              <a:rPr lang="en-US">
                <a:solidFill>
                  <a:schemeClr val="lt2"/>
                </a:solidFill>
              </a:rPr>
              <a:t>CONTENTS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55" name="Google Shape;255;p3"/>
          <p:cNvSpPr txBox="1"/>
          <p:nvPr>
            <p:ph idx="4294967295" type="title"/>
          </p:nvPr>
        </p:nvSpPr>
        <p:spPr>
          <a:xfrm>
            <a:off x="1214673" y="3084512"/>
            <a:ext cx="32194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mpact"/>
              <a:buNone/>
            </a:pPr>
            <a:r>
              <a:rPr lang="en-US" sz="2100"/>
              <a:t>KESIMPULAN</a:t>
            </a:r>
            <a:endParaRPr sz="2100"/>
          </a:p>
        </p:txBody>
      </p:sp>
      <p:sp>
        <p:nvSpPr>
          <p:cNvPr id="256" name="Google Shape;256;p3"/>
          <p:cNvSpPr txBox="1"/>
          <p:nvPr>
            <p:ph idx="4294967295" type="title"/>
          </p:nvPr>
        </p:nvSpPr>
        <p:spPr>
          <a:xfrm>
            <a:off x="2476569" y="2301542"/>
            <a:ext cx="32178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mpact"/>
              <a:buNone/>
            </a:pPr>
            <a:r>
              <a:rPr lang="en-US" sz="2100"/>
              <a:t>DECODING</a:t>
            </a:r>
            <a:endParaRPr sz="2100"/>
          </a:p>
        </p:txBody>
      </p:sp>
      <p:sp>
        <p:nvSpPr>
          <p:cNvPr id="257" name="Google Shape;257;p3"/>
          <p:cNvSpPr txBox="1"/>
          <p:nvPr>
            <p:ph idx="4294967295" type="title"/>
          </p:nvPr>
        </p:nvSpPr>
        <p:spPr>
          <a:xfrm>
            <a:off x="3418208" y="1465906"/>
            <a:ext cx="3219450" cy="411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mpact"/>
              <a:buNone/>
            </a:pPr>
            <a:r>
              <a:rPr lang="en-US" sz="2100"/>
              <a:t>ENCODING</a:t>
            </a:r>
            <a:endParaRPr sz="2100"/>
          </a:p>
        </p:txBody>
      </p:sp>
      <p:sp>
        <p:nvSpPr>
          <p:cNvPr id="258" name="Google Shape;258;p3"/>
          <p:cNvSpPr txBox="1"/>
          <p:nvPr>
            <p:ph idx="4294967295" type="title"/>
          </p:nvPr>
        </p:nvSpPr>
        <p:spPr>
          <a:xfrm>
            <a:off x="4109289" y="705696"/>
            <a:ext cx="3573462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Impact"/>
              <a:buNone/>
            </a:pPr>
            <a:r>
              <a:rPr lang="en-US" sz="2100"/>
              <a:t>HISTORY &amp; DEFINITION</a:t>
            </a:r>
            <a:endParaRPr sz="2100"/>
          </a:p>
        </p:txBody>
      </p:sp>
      <p:grpSp>
        <p:nvGrpSpPr>
          <p:cNvPr id="259" name="Google Shape;259;p3"/>
          <p:cNvGrpSpPr/>
          <p:nvPr/>
        </p:nvGrpSpPr>
        <p:grpSpPr>
          <a:xfrm>
            <a:off x="994392" y="1156567"/>
            <a:ext cx="4719444" cy="3137779"/>
            <a:chOff x="1734600" y="1254828"/>
            <a:chExt cx="4569562" cy="2664102"/>
          </a:xfrm>
        </p:grpSpPr>
        <p:cxnSp>
          <p:nvCxnSpPr>
            <p:cNvPr id="260" name="Google Shape;260;p3"/>
            <p:cNvCxnSpPr/>
            <p:nvPr/>
          </p:nvCxnSpPr>
          <p:spPr>
            <a:xfrm flipH="1" rot="10800000">
              <a:off x="1734600" y="3252330"/>
              <a:ext cx="1755000" cy="666600"/>
            </a:xfrm>
            <a:prstGeom prst="bentConnector3">
              <a:avLst>
                <a:gd fmla="val 8925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1" name="Google Shape;261;p3"/>
            <p:cNvCxnSpPr/>
            <p:nvPr/>
          </p:nvCxnSpPr>
          <p:spPr>
            <a:xfrm flipH="1" rot="10800000">
              <a:off x="2753893" y="2585393"/>
              <a:ext cx="1755000" cy="666600"/>
            </a:xfrm>
            <a:prstGeom prst="bentConnector3">
              <a:avLst>
                <a:gd fmla="val 8740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3"/>
            <p:cNvCxnSpPr/>
            <p:nvPr/>
          </p:nvCxnSpPr>
          <p:spPr>
            <a:xfrm flipH="1" rot="10800000">
              <a:off x="3638187" y="1921459"/>
              <a:ext cx="1755000" cy="666600"/>
            </a:xfrm>
            <a:prstGeom prst="bentConnector3">
              <a:avLst>
                <a:gd fmla="val 85805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3"/>
            <p:cNvCxnSpPr/>
            <p:nvPr/>
          </p:nvCxnSpPr>
          <p:spPr>
            <a:xfrm flipH="1" rot="10800000">
              <a:off x="4549162" y="1254828"/>
              <a:ext cx="1755000" cy="666600"/>
            </a:xfrm>
            <a:prstGeom prst="bentConnector3">
              <a:avLst>
                <a:gd fmla="val 8415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64" name="Google Shape;264;p3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 flipH="1">
            <a:off x="8255570" y="3274570"/>
            <a:ext cx="1452025" cy="134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3"/>
          <p:cNvGrpSpPr/>
          <p:nvPr/>
        </p:nvGrpSpPr>
        <p:grpSpPr>
          <a:xfrm rot="-1669547">
            <a:off x="5648138" y="1037363"/>
            <a:ext cx="1769122" cy="1795639"/>
            <a:chOff x="7374943" y="493061"/>
            <a:chExt cx="1769064" cy="1795580"/>
          </a:xfrm>
        </p:grpSpPr>
        <p:pic>
          <p:nvPicPr>
            <p:cNvPr id="266" name="Google Shape;266;p3"/>
            <p:cNvPicPr preferRelativeResize="0"/>
            <p:nvPr/>
          </p:nvPicPr>
          <p:blipFill rotWithShape="1">
            <a:blip r:embed="rId4">
              <a:alphaModFix/>
            </a:blip>
            <a:srcRect b="8687" l="0" r="0" t="6061"/>
            <a:stretch/>
          </p:blipFill>
          <p:spPr>
            <a:xfrm rot="7611348">
              <a:off x="7589821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267" name="Google Shape;267;p3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268" name="Google Shape;268;p3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1" name="Google Shape;271;p3"/>
          <p:cNvSpPr/>
          <p:nvPr/>
        </p:nvSpPr>
        <p:spPr>
          <a:xfrm>
            <a:off x="2735388" y="2857004"/>
            <a:ext cx="441000" cy="5028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3644500" y="2083246"/>
            <a:ext cx="441000" cy="5028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3" name="Google Shape;273;p3"/>
          <p:cNvSpPr/>
          <p:nvPr/>
        </p:nvSpPr>
        <p:spPr>
          <a:xfrm>
            <a:off x="4586933" y="1311734"/>
            <a:ext cx="441000" cy="5028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1679968" y="3712476"/>
            <a:ext cx="441000" cy="5028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75" name="Google Shape;275;p3"/>
          <p:cNvPicPr preferRelativeResize="0"/>
          <p:nvPr/>
        </p:nvPicPr>
        <p:blipFill rotWithShape="1">
          <a:blip r:embed="rId5">
            <a:alphaModFix/>
          </a:blip>
          <a:srcRect b="0" l="0" r="0" t="4915"/>
          <a:stretch/>
        </p:blipFill>
        <p:spPr>
          <a:xfrm>
            <a:off x="7015478" y="3880150"/>
            <a:ext cx="667273" cy="6345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60000" dist="76200">
              <a:schemeClr val="dk1">
                <a:alpha val="74901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"/>
          <p:cNvSpPr txBox="1"/>
          <p:nvPr>
            <p:ph type="title"/>
          </p:nvPr>
        </p:nvSpPr>
        <p:spPr>
          <a:xfrm>
            <a:off x="2391900" y="2840075"/>
            <a:ext cx="4360200" cy="103017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mpact"/>
              <a:buNone/>
            </a:pPr>
            <a:r>
              <a:rPr lang="en-US"/>
              <a:t>HISTORY &amp; DEFINITION</a:t>
            </a:r>
            <a:endParaRPr/>
          </a:p>
        </p:txBody>
      </p:sp>
      <p:pic>
        <p:nvPicPr>
          <p:cNvPr id="281" name="Google Shape;281;p4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912000" y="363983"/>
            <a:ext cx="1452025" cy="134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"/>
          <p:cNvPicPr preferRelativeResize="0"/>
          <p:nvPr/>
        </p:nvPicPr>
        <p:blipFill rotWithShape="1">
          <a:blip r:embed="rId4">
            <a:alphaModFix/>
          </a:blip>
          <a:srcRect b="0" l="0" r="0" t="4915"/>
          <a:stretch/>
        </p:blipFill>
        <p:spPr>
          <a:xfrm>
            <a:off x="6898375" y="3654225"/>
            <a:ext cx="1996701" cy="18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"/>
          <p:cNvSpPr/>
          <p:nvPr/>
        </p:nvSpPr>
        <p:spPr>
          <a:xfrm>
            <a:off x="3730699" y="784156"/>
            <a:ext cx="1682601" cy="8714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Zen Dots"/>
              </a:rPr>
              <a:t>01</a:t>
            </a:r>
          </a:p>
        </p:txBody>
      </p:sp>
      <p:sp>
        <p:nvSpPr>
          <p:cNvPr id="284" name="Google Shape;284;p4"/>
          <p:cNvSpPr/>
          <p:nvPr/>
        </p:nvSpPr>
        <p:spPr>
          <a:xfrm>
            <a:off x="1937125" y="292121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6845200" y="2921225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86" name="Google Shape;286;p4"/>
          <p:cNvPicPr preferRelativeResize="0"/>
          <p:nvPr/>
        </p:nvPicPr>
        <p:blipFill rotWithShape="1">
          <a:blip r:embed="rId5">
            <a:alphaModFix/>
          </a:blip>
          <a:srcRect b="8687" l="0" r="0" t="6061"/>
          <a:stretch/>
        </p:blipFill>
        <p:spPr>
          <a:xfrm rot="7617556">
            <a:off x="6865587" y="163128"/>
            <a:ext cx="1525128" cy="137441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/>
          <p:nvPr>
            <p:ph type="title"/>
          </p:nvPr>
        </p:nvSpPr>
        <p:spPr>
          <a:xfrm>
            <a:off x="437474" y="376705"/>
            <a:ext cx="7797662" cy="8639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Impact"/>
              <a:buNone/>
            </a:pPr>
            <a:r>
              <a:rPr lang="en-US"/>
              <a:t>HISTORY &amp; </a:t>
            </a:r>
            <a:r>
              <a:rPr lang="en-US">
                <a:solidFill>
                  <a:srgbClr val="F6898A"/>
                </a:solidFill>
              </a:rPr>
              <a:t>DEFINITION</a:t>
            </a:r>
            <a:endParaRPr>
              <a:solidFill>
                <a:srgbClr val="F6898A"/>
              </a:solidFill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639248" y="1059129"/>
            <a:ext cx="3751772" cy="3631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Zen Dots"/>
              </a:rPr>
              <a:t>Lempel Ziv All  Prefixes (LZAP)</a:t>
            </a:r>
          </a:p>
        </p:txBody>
      </p:sp>
      <p:sp>
        <p:nvSpPr>
          <p:cNvPr id="293" name="Google Shape;293;p5"/>
          <p:cNvSpPr txBox="1"/>
          <p:nvPr/>
        </p:nvSpPr>
        <p:spPr>
          <a:xfrm>
            <a:off x="3437191" y="1227582"/>
            <a:ext cx="5084219" cy="2688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LZAP diciptakan pada tahun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1988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oleh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James Storer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sebagai modifikasi pada algoritma LZMW.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AP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adalah singkatan dari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“all prefixes"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dimana pada prosesnya kamus akan menyimpan setiap permutasi, dibandingkan dengan menyimpan satu frase dalam kamus setiap iterasi. Misalnya, jika frasa terakhir adalah “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last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" dan frasa saat ini adalah “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next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" kamus akan menyimpan "lastn", "lastne", "lastnex", dan "lastnext".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LZAP beradaptasi terhadap inputnya dengan cepat, dengan menghilangkan backtracking pada proses penambahan pada dictionary, fitur yang membuatnya lebih cepat daripada LZMW.</a:t>
            </a:r>
            <a:endParaRPr/>
          </a:p>
        </p:txBody>
      </p:sp>
      <p:pic>
        <p:nvPicPr>
          <p:cNvPr id="294" name="Google Shape;294;p5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8521410" y="1269269"/>
            <a:ext cx="1452025" cy="134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5"/>
          <p:cNvGrpSpPr/>
          <p:nvPr/>
        </p:nvGrpSpPr>
        <p:grpSpPr>
          <a:xfrm>
            <a:off x="530578" y="1629459"/>
            <a:ext cx="1357904" cy="1147378"/>
            <a:chOff x="2011449" y="225750"/>
            <a:chExt cx="790214" cy="667702"/>
          </a:xfrm>
        </p:grpSpPr>
        <p:pic>
          <p:nvPicPr>
            <p:cNvPr id="296" name="Google Shape;296;p5"/>
            <p:cNvPicPr preferRelativeResize="0"/>
            <p:nvPr/>
          </p:nvPicPr>
          <p:blipFill rotWithShape="1">
            <a:blip r:embed="rId4">
              <a:alphaModFix/>
            </a:blip>
            <a:srcRect b="0" l="0" r="0" t="4915"/>
            <a:stretch/>
          </p:blipFill>
          <p:spPr>
            <a:xfrm>
              <a:off x="2099438" y="225750"/>
              <a:ext cx="702225" cy="667702"/>
            </a:xfrm>
            <a:prstGeom prst="rect">
              <a:avLst/>
            </a:prstGeom>
            <a:noFill/>
            <a:ln>
              <a:noFill/>
            </a:ln>
            <a:effectLst>
              <a:outerShdw blurRad="157163" rotWithShape="0" algn="bl" dir="3180000" dist="104775">
                <a:srgbClr val="0E6790">
                  <a:alpha val="61960"/>
                </a:srgbClr>
              </a:outerShdw>
            </a:effectLst>
          </p:spPr>
        </p:pic>
        <p:grpSp>
          <p:nvGrpSpPr>
            <p:cNvPr id="297" name="Google Shape;297;p5"/>
            <p:cNvGrpSpPr/>
            <p:nvPr/>
          </p:nvGrpSpPr>
          <p:grpSpPr>
            <a:xfrm>
              <a:off x="2011449" y="446025"/>
              <a:ext cx="785500" cy="283075"/>
              <a:chOff x="2011449" y="446025"/>
              <a:chExt cx="785500" cy="283075"/>
            </a:xfrm>
          </p:grpSpPr>
          <p:sp>
            <p:nvSpPr>
              <p:cNvPr id="298" name="Google Shape;298;p5"/>
              <p:cNvSpPr/>
              <p:nvPr/>
            </p:nvSpPr>
            <p:spPr>
              <a:xfrm>
                <a:off x="2011449" y="446025"/>
                <a:ext cx="785500" cy="169975"/>
              </a:xfrm>
              <a:custGeom>
                <a:rect b="b" l="l" r="r" t="t"/>
                <a:pathLst>
                  <a:path extrusionOk="0" h="6799" w="31420">
                    <a:moveTo>
                      <a:pt x="5219" y="0"/>
                    </a:moveTo>
                    <a:cubicBezTo>
                      <a:pt x="4696" y="65"/>
                      <a:pt x="2948" y="65"/>
                      <a:pt x="2082" y="392"/>
                    </a:cubicBezTo>
                    <a:cubicBezTo>
                      <a:pt x="1216" y="719"/>
                      <a:pt x="154" y="1422"/>
                      <a:pt x="23" y="1961"/>
                    </a:cubicBezTo>
                    <a:cubicBezTo>
                      <a:pt x="-108" y="2500"/>
                      <a:pt x="318" y="3055"/>
                      <a:pt x="1298" y="3627"/>
                    </a:cubicBezTo>
                    <a:cubicBezTo>
                      <a:pt x="2278" y="4199"/>
                      <a:pt x="3667" y="4869"/>
                      <a:pt x="5905" y="5392"/>
                    </a:cubicBezTo>
                    <a:cubicBezTo>
                      <a:pt x="8143" y="5915"/>
                      <a:pt x="11508" y="6633"/>
                      <a:pt x="14727" y="6764"/>
                    </a:cubicBezTo>
                    <a:cubicBezTo>
                      <a:pt x="17946" y="6895"/>
                      <a:pt x="22521" y="6650"/>
                      <a:pt x="25217" y="6176"/>
                    </a:cubicBezTo>
                    <a:cubicBezTo>
                      <a:pt x="27913" y="5702"/>
                      <a:pt x="29971" y="4607"/>
                      <a:pt x="30902" y="3921"/>
                    </a:cubicBezTo>
                    <a:cubicBezTo>
                      <a:pt x="31833" y="3235"/>
                      <a:pt x="31327" y="2500"/>
                      <a:pt x="30804" y="2059"/>
                    </a:cubicBezTo>
                    <a:cubicBezTo>
                      <a:pt x="30281" y="1618"/>
                      <a:pt x="28272" y="1406"/>
                      <a:pt x="27765" y="1275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2011449" y="509750"/>
                <a:ext cx="784925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2011450" y="563475"/>
                <a:ext cx="765773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>
            <p:ph type="title"/>
          </p:nvPr>
        </p:nvSpPr>
        <p:spPr>
          <a:xfrm>
            <a:off x="765164" y="1579325"/>
            <a:ext cx="3036752" cy="6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ENCODING</a:t>
            </a:r>
            <a:endParaRPr sz="5400"/>
          </a:p>
        </p:txBody>
      </p:sp>
      <p:sp>
        <p:nvSpPr>
          <p:cNvPr id="306" name="Google Shape;306;p6"/>
          <p:cNvSpPr/>
          <p:nvPr/>
        </p:nvSpPr>
        <p:spPr>
          <a:xfrm>
            <a:off x="949800" y="293766"/>
            <a:ext cx="2190449" cy="8714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Zen Dots"/>
              </a:rPr>
              <a:t>02</a:t>
            </a:r>
          </a:p>
        </p:txBody>
      </p:sp>
      <p:pic>
        <p:nvPicPr>
          <p:cNvPr id="307" name="Google Shape;307;p6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8552275" y="3029175"/>
            <a:ext cx="1377700" cy="1275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>
            <a:off x="-732025" y="493058"/>
            <a:ext cx="1452025" cy="134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6"/>
          <p:cNvGrpSpPr/>
          <p:nvPr/>
        </p:nvGrpSpPr>
        <p:grpSpPr>
          <a:xfrm>
            <a:off x="5516977" y="1892975"/>
            <a:ext cx="2190445" cy="1861953"/>
            <a:chOff x="2011449" y="225750"/>
            <a:chExt cx="785500" cy="667702"/>
          </a:xfrm>
        </p:grpSpPr>
        <p:pic>
          <p:nvPicPr>
            <p:cNvPr id="310" name="Google Shape;310;p6"/>
            <p:cNvPicPr preferRelativeResize="0"/>
            <p:nvPr/>
          </p:nvPicPr>
          <p:blipFill rotWithShape="1">
            <a:blip r:embed="rId5">
              <a:alphaModFix/>
            </a:blip>
            <a:srcRect b="0" l="0" r="0" t="4915"/>
            <a:stretch/>
          </p:blipFill>
          <p:spPr>
            <a:xfrm>
              <a:off x="2086600" y="225750"/>
              <a:ext cx="702225" cy="667702"/>
            </a:xfrm>
            <a:prstGeom prst="rect">
              <a:avLst/>
            </a:prstGeom>
            <a:noFill/>
            <a:ln>
              <a:noFill/>
            </a:ln>
            <a:effectLst>
              <a:outerShdw blurRad="157163" rotWithShape="0" algn="bl" dir="3180000" dist="104775">
                <a:srgbClr val="0E6790">
                  <a:alpha val="61960"/>
                </a:srgbClr>
              </a:outerShdw>
            </a:effectLst>
          </p:spPr>
        </p:pic>
        <p:grpSp>
          <p:nvGrpSpPr>
            <p:cNvPr id="311" name="Google Shape;311;p6"/>
            <p:cNvGrpSpPr/>
            <p:nvPr/>
          </p:nvGrpSpPr>
          <p:grpSpPr>
            <a:xfrm>
              <a:off x="2011449" y="446025"/>
              <a:ext cx="785500" cy="283075"/>
              <a:chOff x="2011449" y="446025"/>
              <a:chExt cx="785500" cy="283075"/>
            </a:xfrm>
          </p:grpSpPr>
          <p:sp>
            <p:nvSpPr>
              <p:cNvPr id="312" name="Google Shape;312;p6"/>
              <p:cNvSpPr/>
              <p:nvPr/>
            </p:nvSpPr>
            <p:spPr>
              <a:xfrm>
                <a:off x="2011449" y="446025"/>
                <a:ext cx="785500" cy="169975"/>
              </a:xfrm>
              <a:custGeom>
                <a:rect b="b" l="l" r="r" t="t"/>
                <a:pathLst>
                  <a:path extrusionOk="0" h="6799" w="31420">
                    <a:moveTo>
                      <a:pt x="5219" y="0"/>
                    </a:moveTo>
                    <a:cubicBezTo>
                      <a:pt x="4696" y="65"/>
                      <a:pt x="2948" y="65"/>
                      <a:pt x="2082" y="392"/>
                    </a:cubicBezTo>
                    <a:cubicBezTo>
                      <a:pt x="1216" y="719"/>
                      <a:pt x="154" y="1422"/>
                      <a:pt x="23" y="1961"/>
                    </a:cubicBezTo>
                    <a:cubicBezTo>
                      <a:pt x="-108" y="2500"/>
                      <a:pt x="318" y="3055"/>
                      <a:pt x="1298" y="3627"/>
                    </a:cubicBezTo>
                    <a:cubicBezTo>
                      <a:pt x="2278" y="4199"/>
                      <a:pt x="3667" y="4869"/>
                      <a:pt x="5905" y="5392"/>
                    </a:cubicBezTo>
                    <a:cubicBezTo>
                      <a:pt x="8143" y="5915"/>
                      <a:pt x="11508" y="6633"/>
                      <a:pt x="14727" y="6764"/>
                    </a:cubicBezTo>
                    <a:cubicBezTo>
                      <a:pt x="17946" y="6895"/>
                      <a:pt x="22521" y="6650"/>
                      <a:pt x="25217" y="6176"/>
                    </a:cubicBezTo>
                    <a:cubicBezTo>
                      <a:pt x="27913" y="5702"/>
                      <a:pt x="29971" y="4607"/>
                      <a:pt x="30902" y="3921"/>
                    </a:cubicBezTo>
                    <a:cubicBezTo>
                      <a:pt x="31833" y="3235"/>
                      <a:pt x="31327" y="2500"/>
                      <a:pt x="30804" y="2059"/>
                    </a:cubicBezTo>
                    <a:cubicBezTo>
                      <a:pt x="30281" y="1618"/>
                      <a:pt x="28272" y="1406"/>
                      <a:pt x="27765" y="1275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>
                <a:off x="2011449" y="509750"/>
                <a:ext cx="784925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2011450" y="563475"/>
                <a:ext cx="765773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15" name="Google Shape;315;p6"/>
          <p:cNvPicPr preferRelativeResize="0"/>
          <p:nvPr/>
        </p:nvPicPr>
        <p:blipFill rotWithShape="1">
          <a:blip r:embed="rId6">
            <a:alphaModFix/>
          </a:blip>
          <a:srcRect b="8687" l="0" r="0" t="6061"/>
          <a:stretch/>
        </p:blipFill>
        <p:spPr>
          <a:xfrm rot="1077995">
            <a:off x="4316697" y="720598"/>
            <a:ext cx="1339308" cy="120695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  <p:sp>
        <p:nvSpPr>
          <p:cNvPr id="316" name="Google Shape;316;p6"/>
          <p:cNvSpPr/>
          <p:nvPr/>
        </p:nvSpPr>
        <p:spPr>
          <a:xfrm>
            <a:off x="3801916" y="2891991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247936" y="2852602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"/>
          <p:cNvSpPr txBox="1"/>
          <p:nvPr>
            <p:ph idx="1" type="subTitle"/>
          </p:nvPr>
        </p:nvSpPr>
        <p:spPr>
          <a:xfrm>
            <a:off x="1573235" y="626668"/>
            <a:ext cx="6393806" cy="38901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Arimo"/>
                <a:ea typeface="Arimo"/>
                <a:cs typeface="Arimo"/>
                <a:sym typeface="Arimo"/>
              </a:rPr>
              <a:t>TUJUAN UTAMA DALAM TEKNIK KOMPRESI ADALAH UNTUK MENGEMBANGKAN ALGORITMA PENGKODEAN DAN ALGORITMA DECODING UNTUK KOMPRESI DATA LOSSLESS. SEBELUM BERGERAK UNTUK MENGEMBANGKAN ALGORITMA ENCODING DAN DECODING.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latin typeface="Arimo"/>
                <a:ea typeface="Arimo"/>
                <a:cs typeface="Arimo"/>
                <a:sym typeface="Arimo"/>
              </a:rPr>
              <a:t>TERDAPAT BEBERAPA ISTILAH DALAM TEKNIK KOMPRESI LZAP YAITU :</a:t>
            </a:r>
            <a:endParaRPr/>
          </a:p>
          <a:p>
            <a:pPr indent="-17145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❑"/>
            </a:pPr>
            <a:r>
              <a:rPr i="1" lang="en-US" sz="1200">
                <a:latin typeface="Arimo"/>
                <a:ea typeface="Arimo"/>
                <a:cs typeface="Arimo"/>
                <a:sym typeface="Arimo"/>
              </a:rPr>
              <a:t>MATCH HEURISTIC </a:t>
            </a:r>
            <a:r>
              <a:rPr lang="en-US" sz="1200">
                <a:latin typeface="Arimo"/>
                <a:ea typeface="Arimo"/>
                <a:cs typeface="Arimo"/>
                <a:sym typeface="Arimo"/>
              </a:rPr>
              <a:t>(MH), BERFUNGSI UNTUK MENGEMBALIKAN MATCH TERPANJANG DARI TEKS INPUT.</a:t>
            </a:r>
            <a:endParaRPr/>
          </a:p>
          <a:p>
            <a:pPr indent="-17145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❑"/>
            </a:pPr>
            <a:r>
              <a:rPr i="1" lang="en-US" sz="1200">
                <a:latin typeface="Arimo"/>
                <a:ea typeface="Arimo"/>
                <a:cs typeface="Arimo"/>
                <a:sym typeface="Arimo"/>
              </a:rPr>
              <a:t>INDEX HEURISTIC </a:t>
            </a:r>
            <a:r>
              <a:rPr lang="en-US" sz="1200">
                <a:latin typeface="Arimo"/>
                <a:ea typeface="Arimo"/>
                <a:cs typeface="Arimo"/>
                <a:sym typeface="Arimo"/>
              </a:rPr>
              <a:t>(IH), BERFUNGSI MENGAMBIL STRING SEBAGAI INPUT DAN MENGEMBALIKAN INDEKS STRING DARI DICTIONARY LOKAL.</a:t>
            </a:r>
            <a:endParaRPr/>
          </a:p>
          <a:p>
            <a:pPr indent="-17145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❑"/>
            </a:pPr>
            <a:r>
              <a:rPr i="1" lang="en-US" sz="1200">
                <a:latin typeface="Arimo"/>
                <a:ea typeface="Arimo"/>
                <a:cs typeface="Arimo"/>
                <a:sym typeface="Arimo"/>
              </a:rPr>
              <a:t>LENGHT HEURISTIC </a:t>
            </a:r>
            <a:r>
              <a:rPr lang="en-US" sz="1200">
                <a:latin typeface="Arimo"/>
                <a:ea typeface="Arimo"/>
                <a:cs typeface="Arimo"/>
                <a:sym typeface="Arimo"/>
              </a:rPr>
              <a:t>(LH), SELALU MENGEMBALIKAN PANJANG KODE INDEKS DARI INDEKS DICTIONARY MAKSIMAL.</a:t>
            </a:r>
            <a:endParaRPr/>
          </a:p>
          <a:p>
            <a:pPr indent="-171450" lvl="0" marL="1714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Noto Sans Symbols"/>
              <a:buChar char="❑"/>
            </a:pPr>
            <a:r>
              <a:rPr i="1" lang="en-US" sz="1200">
                <a:latin typeface="Arimo"/>
                <a:ea typeface="Arimo"/>
                <a:cs typeface="Arimo"/>
                <a:sym typeface="Arimo"/>
              </a:rPr>
              <a:t>DELETE HEURISTIC </a:t>
            </a:r>
            <a:r>
              <a:rPr lang="en-US" sz="1200">
                <a:latin typeface="Arimo"/>
                <a:ea typeface="Arimo"/>
                <a:cs typeface="Arimo"/>
                <a:sym typeface="Arimo"/>
              </a:rPr>
              <a:t>(DH), BERFUNGSI UNTUK MENGHAPUS SELURUH DICTIONARY.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2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23" name="Google Shape;3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14" y="159942"/>
            <a:ext cx="1556101" cy="1556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4" name="Google Shape;324;p7"/>
          <p:cNvGrpSpPr/>
          <p:nvPr/>
        </p:nvGrpSpPr>
        <p:grpSpPr>
          <a:xfrm flipH="1" rot="-6992135">
            <a:off x="7013973" y="3153207"/>
            <a:ext cx="1538390" cy="1561449"/>
            <a:chOff x="7374943" y="493061"/>
            <a:chExt cx="1769064" cy="1795580"/>
          </a:xfrm>
        </p:grpSpPr>
        <p:pic>
          <p:nvPicPr>
            <p:cNvPr id="325" name="Google Shape;325;p7"/>
            <p:cNvPicPr preferRelativeResize="0"/>
            <p:nvPr/>
          </p:nvPicPr>
          <p:blipFill rotWithShape="1">
            <a:blip r:embed="rId4">
              <a:alphaModFix/>
            </a:blip>
            <a:srcRect b="8687" l="0" r="0" t="6061"/>
            <a:stretch/>
          </p:blipFill>
          <p:spPr>
            <a:xfrm rot="7611348">
              <a:off x="7589821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326" name="Google Shape;326;p7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30" name="Google Shape;330;p7"/>
          <p:cNvPicPr preferRelativeResize="0"/>
          <p:nvPr/>
        </p:nvPicPr>
        <p:blipFill rotWithShape="1">
          <a:blip r:embed="rId5">
            <a:alphaModFix/>
          </a:blip>
          <a:srcRect b="12004" l="12492" r="12342" t="18400"/>
          <a:stretch/>
        </p:blipFill>
        <p:spPr>
          <a:xfrm>
            <a:off x="8183925" y="1030408"/>
            <a:ext cx="1452025" cy="134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7"/>
          <p:cNvGrpSpPr/>
          <p:nvPr/>
        </p:nvGrpSpPr>
        <p:grpSpPr>
          <a:xfrm>
            <a:off x="2424133" y="4367487"/>
            <a:ext cx="775996" cy="775996"/>
            <a:chOff x="9011850" y="1484962"/>
            <a:chExt cx="552900" cy="552900"/>
          </a:xfrm>
        </p:grpSpPr>
        <p:pic>
          <p:nvPicPr>
            <p:cNvPr id="332" name="Google Shape;33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  <a:effectLst>
              <a:outerShdw blurRad="100013" rotWithShape="0" algn="bl" dir="5460000" dist="76200">
                <a:schemeClr val="dk1">
                  <a:alpha val="44705"/>
                </a:schemeClr>
              </a:outerShdw>
            </a:effectLst>
          </p:spPr>
        </p:pic>
        <p:pic>
          <p:nvPicPr>
            <p:cNvPr id="333" name="Google Shape;33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  <a:effectLst>
              <a:outerShdw blurRad="100013" rotWithShape="0" algn="bl" dir="5460000" dist="76200">
                <a:schemeClr val="dk1">
                  <a:alpha val="44705"/>
                </a:schemeClr>
              </a:outerShdw>
            </a:effectLst>
          </p:spPr>
        </p:pic>
        <p:pic>
          <p:nvPicPr>
            <p:cNvPr id="334" name="Google Shape;33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  <a:effectLst>
              <a:outerShdw blurRad="100013" rotWithShape="0" algn="bl" dir="5460000" dist="76200">
                <a:schemeClr val="dk1">
                  <a:alpha val="44705"/>
                </a:schemeClr>
              </a:outerShdw>
            </a:effectLst>
          </p:spPr>
        </p:pic>
        <p:pic>
          <p:nvPicPr>
            <p:cNvPr id="335" name="Google Shape;33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11850" y="1484962"/>
              <a:ext cx="552900" cy="552900"/>
            </a:xfrm>
            <a:prstGeom prst="rect">
              <a:avLst/>
            </a:prstGeom>
            <a:noFill/>
            <a:ln>
              <a:noFill/>
            </a:ln>
            <a:effectLst>
              <a:outerShdw blurRad="100013" rotWithShape="0" algn="bl" dir="5460000" dist="76200">
                <a:schemeClr val="dk1">
                  <a:alpha val="44705"/>
                </a:schemeClr>
              </a:outerShdw>
            </a:effec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"/>
          <p:cNvSpPr txBox="1"/>
          <p:nvPr>
            <p:ph type="title"/>
          </p:nvPr>
        </p:nvSpPr>
        <p:spPr>
          <a:xfrm>
            <a:off x="319020" y="194473"/>
            <a:ext cx="5416395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98A"/>
              </a:buClr>
              <a:buSzPts val="4000"/>
              <a:buFont typeface="Impact"/>
              <a:buNone/>
            </a:pPr>
            <a:r>
              <a:rPr lang="en-US">
                <a:solidFill>
                  <a:srgbClr val="F6898A"/>
                </a:solidFill>
              </a:rPr>
              <a:t>PROSES</a:t>
            </a:r>
            <a:r>
              <a:rPr lang="en-US">
                <a:solidFill>
                  <a:schemeClr val="lt2"/>
                </a:solidFill>
              </a:rPr>
              <a:t> ENCODING </a:t>
            </a:r>
            <a:r>
              <a:rPr lang="en-US"/>
              <a:t>LZAP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41" name="Google Shape;3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7975" y="4087625"/>
            <a:ext cx="552900" cy="5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8"/>
          <p:cNvPicPr preferRelativeResize="0"/>
          <p:nvPr/>
        </p:nvPicPr>
        <p:blipFill rotWithShape="1">
          <a:blip r:embed="rId4">
            <a:alphaModFix/>
          </a:blip>
          <a:srcRect b="0" l="0" r="0" t="4915"/>
          <a:stretch/>
        </p:blipFill>
        <p:spPr>
          <a:xfrm>
            <a:off x="8692975" y="2203425"/>
            <a:ext cx="1867399" cy="177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8"/>
          <p:cNvPicPr preferRelativeResize="0"/>
          <p:nvPr/>
        </p:nvPicPr>
        <p:blipFill rotWithShape="1">
          <a:blip r:embed="rId5">
            <a:alphaModFix/>
          </a:blip>
          <a:srcRect b="12004" l="12492" r="12342" t="18400"/>
          <a:stretch/>
        </p:blipFill>
        <p:spPr>
          <a:xfrm>
            <a:off x="-551900" y="1174500"/>
            <a:ext cx="1186025" cy="109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8"/>
          <p:cNvSpPr/>
          <p:nvPr/>
        </p:nvSpPr>
        <p:spPr>
          <a:xfrm>
            <a:off x="-1570098" y="4560991"/>
            <a:ext cx="10957275" cy="761000"/>
          </a:xfrm>
          <a:custGeom>
            <a:rect b="b" l="l" r="r" t="t"/>
            <a:pathLst>
              <a:path extrusionOk="0" h="30440" w="438291">
                <a:moveTo>
                  <a:pt x="4705" y="1314"/>
                </a:moveTo>
                <a:cubicBezTo>
                  <a:pt x="18603" y="-250"/>
                  <a:pt x="76749" y="258"/>
                  <a:pt x="96639" y="106"/>
                </a:cubicBezTo>
                <a:cubicBezTo>
                  <a:pt x="116529" y="-46"/>
                  <a:pt x="117867" y="-101"/>
                  <a:pt x="124043" y="401"/>
                </a:cubicBezTo>
                <a:cubicBezTo>
                  <a:pt x="130219" y="903"/>
                  <a:pt x="129533" y="982"/>
                  <a:pt x="133697" y="3116"/>
                </a:cubicBezTo>
                <a:cubicBezTo>
                  <a:pt x="137861" y="5250"/>
                  <a:pt x="142426" y="11432"/>
                  <a:pt x="149029" y="13204"/>
                </a:cubicBezTo>
                <a:cubicBezTo>
                  <a:pt x="155632" y="14976"/>
                  <a:pt x="164901" y="13659"/>
                  <a:pt x="173314" y="13750"/>
                </a:cubicBezTo>
                <a:cubicBezTo>
                  <a:pt x="181727" y="13841"/>
                  <a:pt x="189640" y="13841"/>
                  <a:pt x="199509" y="13750"/>
                </a:cubicBezTo>
                <a:cubicBezTo>
                  <a:pt x="209378" y="13659"/>
                  <a:pt x="217200" y="13295"/>
                  <a:pt x="232526" y="13204"/>
                </a:cubicBezTo>
                <a:cubicBezTo>
                  <a:pt x="247852" y="13113"/>
                  <a:pt x="259404" y="13204"/>
                  <a:pt x="291465" y="13204"/>
                </a:cubicBezTo>
                <a:cubicBezTo>
                  <a:pt x="323527" y="13204"/>
                  <a:pt x="401023" y="14259"/>
                  <a:pt x="424895" y="13204"/>
                </a:cubicBezTo>
                <a:cubicBezTo>
                  <a:pt x="448768" y="12149"/>
                  <a:pt x="433130" y="6931"/>
                  <a:pt x="434700" y="6873"/>
                </a:cubicBezTo>
                <a:cubicBezTo>
                  <a:pt x="436270" y="6816"/>
                  <a:pt x="434636" y="9305"/>
                  <a:pt x="434314" y="12859"/>
                </a:cubicBezTo>
                <a:cubicBezTo>
                  <a:pt x="433992" y="16413"/>
                  <a:pt x="437815" y="25412"/>
                  <a:pt x="432769" y="28199"/>
                </a:cubicBezTo>
                <a:cubicBezTo>
                  <a:pt x="427723" y="30986"/>
                  <a:pt x="415680" y="29491"/>
                  <a:pt x="404040" y="29581"/>
                </a:cubicBezTo>
                <a:cubicBezTo>
                  <a:pt x="392401" y="29672"/>
                  <a:pt x="386912" y="28882"/>
                  <a:pt x="362932" y="28742"/>
                </a:cubicBezTo>
                <a:cubicBezTo>
                  <a:pt x="338952" y="28602"/>
                  <a:pt x="299408" y="28462"/>
                  <a:pt x="260162" y="28742"/>
                </a:cubicBezTo>
                <a:cubicBezTo>
                  <a:pt x="220916" y="29022"/>
                  <a:pt x="168042" y="30280"/>
                  <a:pt x="127455" y="30420"/>
                </a:cubicBezTo>
                <a:cubicBezTo>
                  <a:pt x="86868" y="30560"/>
                  <a:pt x="35929" y="29931"/>
                  <a:pt x="16641" y="29581"/>
                </a:cubicBezTo>
                <a:cubicBezTo>
                  <a:pt x="-2647" y="29232"/>
                  <a:pt x="12472" y="30001"/>
                  <a:pt x="11727" y="28323"/>
                </a:cubicBezTo>
                <a:cubicBezTo>
                  <a:pt x="10982" y="26645"/>
                  <a:pt x="11919" y="22651"/>
                  <a:pt x="12173" y="19512"/>
                </a:cubicBezTo>
                <a:cubicBezTo>
                  <a:pt x="12427" y="16373"/>
                  <a:pt x="14494" y="12521"/>
                  <a:pt x="13249" y="9488"/>
                </a:cubicBezTo>
                <a:cubicBezTo>
                  <a:pt x="12004" y="6455"/>
                  <a:pt x="-9193" y="2878"/>
                  <a:pt x="4705" y="13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-1391600" y="4642483"/>
            <a:ext cx="11344350" cy="350950"/>
          </a:xfrm>
          <a:custGeom>
            <a:rect b="b" l="l" r="r" t="t"/>
            <a:pathLst>
              <a:path extrusionOk="0" h="14038" w="453774">
                <a:moveTo>
                  <a:pt x="0" y="395"/>
                </a:moveTo>
                <a:cubicBezTo>
                  <a:pt x="13416" y="350"/>
                  <a:pt x="61122" y="122"/>
                  <a:pt x="80495" y="122"/>
                </a:cubicBezTo>
                <a:cubicBezTo>
                  <a:pt x="99868" y="122"/>
                  <a:pt x="108463" y="-287"/>
                  <a:pt x="116240" y="395"/>
                </a:cubicBezTo>
                <a:cubicBezTo>
                  <a:pt x="124017" y="1077"/>
                  <a:pt x="123517" y="2214"/>
                  <a:pt x="127155" y="4215"/>
                </a:cubicBezTo>
                <a:cubicBezTo>
                  <a:pt x="130793" y="6216"/>
                  <a:pt x="132112" y="10855"/>
                  <a:pt x="138069" y="12401"/>
                </a:cubicBezTo>
                <a:cubicBezTo>
                  <a:pt x="144027" y="13947"/>
                  <a:pt x="153213" y="13310"/>
                  <a:pt x="162900" y="13492"/>
                </a:cubicBezTo>
                <a:cubicBezTo>
                  <a:pt x="172587" y="13674"/>
                  <a:pt x="166310" y="13401"/>
                  <a:pt x="196189" y="13492"/>
                </a:cubicBezTo>
                <a:cubicBezTo>
                  <a:pt x="226068" y="13583"/>
                  <a:pt x="299241" y="14038"/>
                  <a:pt x="342172" y="14038"/>
                </a:cubicBezTo>
                <a:cubicBezTo>
                  <a:pt x="385103" y="14038"/>
                  <a:pt x="435174" y="13583"/>
                  <a:pt x="453774" y="1349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-1426870" y="4692558"/>
            <a:ext cx="11344350" cy="350950"/>
          </a:xfrm>
          <a:custGeom>
            <a:rect b="b" l="l" r="r" t="t"/>
            <a:pathLst>
              <a:path extrusionOk="0" h="14038" w="453774">
                <a:moveTo>
                  <a:pt x="0" y="395"/>
                </a:moveTo>
                <a:cubicBezTo>
                  <a:pt x="13416" y="350"/>
                  <a:pt x="61122" y="122"/>
                  <a:pt x="80495" y="122"/>
                </a:cubicBezTo>
                <a:cubicBezTo>
                  <a:pt x="99868" y="122"/>
                  <a:pt x="108463" y="-287"/>
                  <a:pt x="116240" y="395"/>
                </a:cubicBezTo>
                <a:cubicBezTo>
                  <a:pt x="124017" y="1077"/>
                  <a:pt x="123517" y="2214"/>
                  <a:pt x="127155" y="4215"/>
                </a:cubicBezTo>
                <a:cubicBezTo>
                  <a:pt x="130793" y="6216"/>
                  <a:pt x="132112" y="10855"/>
                  <a:pt x="138069" y="12401"/>
                </a:cubicBezTo>
                <a:cubicBezTo>
                  <a:pt x="144027" y="13947"/>
                  <a:pt x="153213" y="13310"/>
                  <a:pt x="162900" y="13492"/>
                </a:cubicBezTo>
                <a:cubicBezTo>
                  <a:pt x="172587" y="13674"/>
                  <a:pt x="166310" y="13401"/>
                  <a:pt x="196189" y="13492"/>
                </a:cubicBezTo>
                <a:cubicBezTo>
                  <a:pt x="226068" y="13583"/>
                  <a:pt x="299241" y="14038"/>
                  <a:pt x="342172" y="14038"/>
                </a:cubicBezTo>
                <a:cubicBezTo>
                  <a:pt x="385103" y="14038"/>
                  <a:pt x="435174" y="13583"/>
                  <a:pt x="453774" y="1349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105570" y="24099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672329" y="288301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713424" y="746066"/>
            <a:ext cx="6798131" cy="20139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Masukkan aliran karakter sebagai string 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Inisialisasi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lokal (D) dengan entri nol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Inisialisasi indeks saat ini dengan nol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Ulangi proses dibawah {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Setiap kali encoder akan memanggil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Heuristic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(MH)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untuk mendapatkan match saat ini dan 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akan terdapat dua kasus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48DBD"/>
              </a:buClr>
              <a:buSzPts val="1200"/>
              <a:buFont typeface="Impac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158109" y="2785424"/>
            <a:ext cx="4271618" cy="16802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Keluarkan bit (0) untuk tag dan 8 bit untuk karakter ASCII berikutnya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karakter sebagai kecocokan saat ini ke 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 match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current match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 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indeks saat ini = indeks saat ini + 1 </a:t>
            </a:r>
            <a:endParaRPr/>
          </a:p>
          <a:p>
            <a:pPr indent="-2667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mpac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 txBox="1"/>
          <p:nvPr/>
        </p:nvSpPr>
        <p:spPr>
          <a:xfrm>
            <a:off x="4194883" y="1989732"/>
            <a:ext cx="4498092" cy="25009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-27305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mpact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Impact"/>
              <a:buAutoNum type="arabicPeriod" startAt="6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Dapatkan indeks kecocokan saat ini dengan memanggil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 Heuristic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(IH).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Impact"/>
              <a:buAutoNum type="arabicPeriod" startAt="6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Indeks saat ini += panjang match saat ini.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Impact"/>
              <a:buAutoNum type="arabicPeriod" startAt="6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Keluarkan satu bit (1) untuk tag dan aliran bit untuk indeks kecocokan saat ini di mana panjang aliran bit ditentukan oleh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Lenght Heuristic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(LH).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Impact"/>
              <a:buAutoNum type="arabicPeriod" startAt="6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sebelumnya + semua awalan </a:t>
            </a:r>
            <a:r>
              <a:rPr b="0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saat ini ke D</a:t>
            </a:r>
            <a:endParaRPr/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Impact"/>
              <a:buAutoNum type="arabicPeriod" startAt="6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Tetapkan </a:t>
            </a:r>
            <a:r>
              <a:rPr b="1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saat ini ke </a:t>
            </a:r>
            <a:r>
              <a:rPr b="1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sebelumnya dan null ke </a:t>
            </a:r>
            <a:r>
              <a:rPr b="1" i="1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saat ini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109174" y="2390947"/>
            <a:ext cx="3799365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Kasus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rgbClr val="F6898A"/>
                </a:solidFill>
                <a:latin typeface="Zen Dots"/>
                <a:ea typeface="Zen Dots"/>
                <a:cs typeface="Zen Dots"/>
                <a:sym typeface="Zen Dots"/>
              </a:rPr>
              <a:t>(tidak ditemukan kecocokan)</a:t>
            </a:r>
            <a:endParaRPr/>
          </a:p>
        </p:txBody>
      </p:sp>
      <p:sp>
        <p:nvSpPr>
          <p:cNvPr id="353" name="Google Shape;353;p8"/>
          <p:cNvSpPr txBox="1"/>
          <p:nvPr/>
        </p:nvSpPr>
        <p:spPr>
          <a:xfrm>
            <a:off x="4374896" y="2058045"/>
            <a:ext cx="3799365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Kasus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rgbClr val="F6898A"/>
                </a:solidFill>
                <a:latin typeface="Zen Dots"/>
                <a:ea typeface="Zen Dots"/>
                <a:cs typeface="Zen Dots"/>
                <a:sym typeface="Zen Dots"/>
              </a:rPr>
              <a:t>(ditemukan kecocokan)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"/>
          <p:cNvSpPr txBox="1"/>
          <p:nvPr>
            <p:ph type="title"/>
          </p:nvPr>
        </p:nvSpPr>
        <p:spPr>
          <a:xfrm>
            <a:off x="720000" y="558473"/>
            <a:ext cx="513854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lang="en-US"/>
              <a:t>CONTOH SOAL </a:t>
            </a:r>
            <a:r>
              <a:rPr lang="en-US">
                <a:solidFill>
                  <a:schemeClr val="lt2"/>
                </a:solidFill>
              </a:rPr>
              <a:t>ENCODING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59" name="Google Shape;359;p9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-481831" y="2929499"/>
            <a:ext cx="1201834" cy="11126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293100" y="645538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858540" y="66227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62" name="Google Shape;362;p9"/>
          <p:cNvPicPr preferRelativeResize="0"/>
          <p:nvPr/>
        </p:nvPicPr>
        <p:blipFill rotWithShape="1">
          <a:blip r:embed="rId4">
            <a:alphaModFix/>
          </a:blip>
          <a:srcRect b="8687" l="0" r="0" t="6061"/>
          <a:stretch/>
        </p:blipFill>
        <p:spPr>
          <a:xfrm rot="5728707">
            <a:off x="7399196" y="255523"/>
            <a:ext cx="1339308" cy="120695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  <p:sp>
        <p:nvSpPr>
          <p:cNvPr id="363" name="Google Shape;363;p9"/>
          <p:cNvSpPr txBox="1"/>
          <p:nvPr/>
        </p:nvSpPr>
        <p:spPr>
          <a:xfrm>
            <a:off x="355411" y="916589"/>
            <a:ext cx="8072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48DBD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6898A"/>
                </a:solidFill>
                <a:latin typeface="Arimo"/>
                <a:ea typeface="Arimo"/>
                <a:cs typeface="Arimo"/>
                <a:sym typeface="Arimo"/>
              </a:rPr>
              <a:t>Diketahui string S = “ababcdeabbcd”. Tentukan hasil Kompresi menggunakan metode LZAP</a:t>
            </a:r>
            <a:endParaRPr b="1" i="0" sz="1200" u="none" cap="none" strike="noStrike">
              <a:solidFill>
                <a:srgbClr val="F6898A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48DBD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248DBD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64" name="Google Shape;364;p9"/>
          <p:cNvPicPr preferRelativeResize="0"/>
          <p:nvPr/>
        </p:nvPicPr>
        <p:blipFill rotWithShape="1">
          <a:blip r:embed="rId5">
            <a:alphaModFix/>
          </a:blip>
          <a:srcRect b="12858" l="20000" r="16162" t="15900"/>
          <a:stretch/>
        </p:blipFill>
        <p:spPr>
          <a:xfrm>
            <a:off x="1937103" y="1435504"/>
            <a:ext cx="5269794" cy="330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7975" y="4087625"/>
            <a:ext cx="552900" cy="5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8650" y="216625"/>
            <a:ext cx="1556101" cy="155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0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>
            <a:off x="681025" y="3233299"/>
            <a:ext cx="1004049" cy="9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/>
          <p:nvPr/>
        </p:nvSpPr>
        <p:spPr>
          <a:xfrm>
            <a:off x="1253653" y="380500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945995" y="423032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4" name="Google Shape;374;p10"/>
          <p:cNvSpPr txBox="1"/>
          <p:nvPr>
            <p:ph type="title"/>
          </p:nvPr>
        </p:nvSpPr>
        <p:spPr>
          <a:xfrm>
            <a:off x="1543387" y="278290"/>
            <a:ext cx="3379489" cy="7163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</a:pPr>
            <a:r>
              <a:rPr lang="en-US"/>
              <a:t>ENCODING</a:t>
            </a:r>
            <a:endParaRPr/>
          </a:p>
        </p:txBody>
      </p:sp>
      <p:pic>
        <p:nvPicPr>
          <p:cNvPr descr="Table&#10;&#10;Description automatically generated" id="375" name="Google Shape;3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2843" y="1002650"/>
            <a:ext cx="3340132" cy="354390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0"/>
          <p:cNvSpPr txBox="1"/>
          <p:nvPr/>
        </p:nvSpPr>
        <p:spPr>
          <a:xfrm>
            <a:off x="1543387" y="1436581"/>
            <a:ext cx="3579456" cy="24935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48D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6898A"/>
                </a:solidFill>
                <a:latin typeface="Arial"/>
                <a:ea typeface="Arial"/>
                <a:cs typeface="Arial"/>
                <a:sym typeface="Arial"/>
              </a:rPr>
              <a:t>Hasil encoding: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48DBD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01100001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01100010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01100011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01100100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01100101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0011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0010</a:t>
            </a:r>
            <a:r>
              <a:rPr b="1" i="0" lang="en-US" sz="14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400" u="none" cap="none" strike="noStrike">
                <a:solidFill>
                  <a:srgbClr val="F24F51"/>
                </a:solidFill>
                <a:latin typeface="Arial"/>
                <a:ea typeface="Arial"/>
                <a:cs typeface="Arial"/>
                <a:sym typeface="Arial"/>
              </a:rPr>
              <a:t>1001</a:t>
            </a:r>
            <a:r>
              <a:rPr b="0" i="0" lang="en-US" sz="1400" u="none" cap="none" strike="noStrike">
                <a:solidFill>
                  <a:srgbClr val="248DBD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48D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Ukuran data sebelum dikompresi: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jumlah string * 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12*8 = 96 bit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Ukuran data setelah dikompresi: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9+9+3+9+9+9+5+5+5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63 bit</a:t>
            </a:r>
            <a:endParaRPr/>
          </a:p>
          <a:p>
            <a:pPr indent="-2540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mpact"/>
              <a:buNone/>
            </a:pPr>
            <a:r>
              <a:t/>
            </a:r>
            <a:endParaRPr b="0" i="0" sz="1400" u="none" cap="none" strike="noStrike">
              <a:solidFill>
                <a:srgbClr val="248DB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48DB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"/>
          <p:cNvSpPr txBox="1"/>
          <p:nvPr>
            <p:ph type="title"/>
          </p:nvPr>
        </p:nvSpPr>
        <p:spPr>
          <a:xfrm>
            <a:off x="3458343" y="301800"/>
            <a:ext cx="3518189" cy="103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DECODING</a:t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5110225" y="1473325"/>
            <a:ext cx="2192721" cy="8714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1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1"/>
                </a:solidFill>
                <a:latin typeface="Zen Dots"/>
              </a:rPr>
              <a:t>03</a:t>
            </a:r>
          </a:p>
        </p:txBody>
      </p:sp>
      <p:pic>
        <p:nvPicPr>
          <p:cNvPr id="383" name="Google Shape;383;p11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-444425" y="1000433"/>
            <a:ext cx="1452025" cy="1344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1"/>
          <p:cNvPicPr preferRelativeResize="0"/>
          <p:nvPr/>
        </p:nvPicPr>
        <p:blipFill rotWithShape="1">
          <a:blip r:embed="rId4">
            <a:alphaModFix/>
          </a:blip>
          <a:srcRect b="0" l="0" r="0" t="4915"/>
          <a:stretch/>
        </p:blipFill>
        <p:spPr>
          <a:xfrm>
            <a:off x="7841000" y="819750"/>
            <a:ext cx="702225" cy="667702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3180000" dist="104775">
              <a:srgbClr val="0E6790">
                <a:alpha val="61960"/>
              </a:srgbClr>
            </a:outerShdw>
          </a:effectLst>
        </p:spPr>
      </p:pic>
      <p:sp>
        <p:nvSpPr>
          <p:cNvPr id="385" name="Google Shape;385;p11"/>
          <p:cNvSpPr/>
          <p:nvPr/>
        </p:nvSpPr>
        <p:spPr>
          <a:xfrm>
            <a:off x="3929059" y="2721456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192112" y="2732811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387" name="Google Shape;387;p11"/>
          <p:cNvGrpSpPr/>
          <p:nvPr/>
        </p:nvGrpSpPr>
        <p:grpSpPr>
          <a:xfrm flipH="1" rot="1637987">
            <a:off x="1237531" y="920425"/>
            <a:ext cx="2856600" cy="2899418"/>
            <a:chOff x="7374943" y="493061"/>
            <a:chExt cx="1769064" cy="1795580"/>
          </a:xfrm>
        </p:grpSpPr>
        <p:pic>
          <p:nvPicPr>
            <p:cNvPr id="388" name="Google Shape;388;p11"/>
            <p:cNvPicPr preferRelativeResize="0"/>
            <p:nvPr/>
          </p:nvPicPr>
          <p:blipFill rotWithShape="1">
            <a:blip r:embed="rId5">
              <a:alphaModFix/>
            </a:blip>
            <a:srcRect b="8687" l="0" r="0" t="6061"/>
            <a:stretch/>
          </p:blipFill>
          <p:spPr>
            <a:xfrm rot="7611348">
              <a:off x="7589821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389" name="Google Shape;389;p11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390" name="Google Shape;390;p11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1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93" name="Google Shape;393;p11"/>
          <p:cNvPicPr preferRelativeResize="0"/>
          <p:nvPr/>
        </p:nvPicPr>
        <p:blipFill rotWithShape="1">
          <a:blip r:embed="rId4">
            <a:alphaModFix/>
          </a:blip>
          <a:srcRect b="0" l="0" r="0" t="4915"/>
          <a:stretch/>
        </p:blipFill>
        <p:spPr>
          <a:xfrm>
            <a:off x="660703" y="3617275"/>
            <a:ext cx="667273" cy="6345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60000" dist="76200">
              <a:schemeClr val="dk1">
                <a:alpha val="74901"/>
              </a:scheme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 txBox="1"/>
          <p:nvPr>
            <p:ph type="title"/>
          </p:nvPr>
        </p:nvSpPr>
        <p:spPr>
          <a:xfrm>
            <a:off x="319020" y="194473"/>
            <a:ext cx="5416395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898A"/>
              </a:buClr>
              <a:buSzPts val="4000"/>
              <a:buFont typeface="Impact"/>
              <a:buNone/>
            </a:pPr>
            <a:r>
              <a:rPr lang="en-US">
                <a:solidFill>
                  <a:srgbClr val="F6898A"/>
                </a:solidFill>
              </a:rPr>
              <a:t>PROSES</a:t>
            </a:r>
            <a:r>
              <a:rPr lang="en-US">
                <a:solidFill>
                  <a:schemeClr val="lt2"/>
                </a:solidFill>
              </a:rPr>
              <a:t> DECODING </a:t>
            </a:r>
            <a:r>
              <a:rPr lang="en-US"/>
              <a:t>LZAP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99" name="Google Shape;3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7975" y="4087625"/>
            <a:ext cx="552900" cy="5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2"/>
          <p:cNvPicPr preferRelativeResize="0"/>
          <p:nvPr/>
        </p:nvPicPr>
        <p:blipFill rotWithShape="1">
          <a:blip r:embed="rId4">
            <a:alphaModFix/>
          </a:blip>
          <a:srcRect b="0" l="0" r="0" t="4915"/>
          <a:stretch/>
        </p:blipFill>
        <p:spPr>
          <a:xfrm>
            <a:off x="8692975" y="2203425"/>
            <a:ext cx="1867399" cy="177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2"/>
          <p:cNvPicPr preferRelativeResize="0"/>
          <p:nvPr/>
        </p:nvPicPr>
        <p:blipFill rotWithShape="1">
          <a:blip r:embed="rId5">
            <a:alphaModFix/>
          </a:blip>
          <a:srcRect b="12004" l="12492" r="12342" t="18400"/>
          <a:stretch/>
        </p:blipFill>
        <p:spPr>
          <a:xfrm>
            <a:off x="-551900" y="1174500"/>
            <a:ext cx="1186025" cy="109810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2"/>
          <p:cNvSpPr/>
          <p:nvPr/>
        </p:nvSpPr>
        <p:spPr>
          <a:xfrm>
            <a:off x="-1570098" y="4560991"/>
            <a:ext cx="10957275" cy="761000"/>
          </a:xfrm>
          <a:custGeom>
            <a:rect b="b" l="l" r="r" t="t"/>
            <a:pathLst>
              <a:path extrusionOk="0" h="30440" w="438291">
                <a:moveTo>
                  <a:pt x="4705" y="1314"/>
                </a:moveTo>
                <a:cubicBezTo>
                  <a:pt x="18603" y="-250"/>
                  <a:pt x="76749" y="258"/>
                  <a:pt x="96639" y="106"/>
                </a:cubicBezTo>
                <a:cubicBezTo>
                  <a:pt x="116529" y="-46"/>
                  <a:pt x="117867" y="-101"/>
                  <a:pt x="124043" y="401"/>
                </a:cubicBezTo>
                <a:cubicBezTo>
                  <a:pt x="130219" y="903"/>
                  <a:pt x="129533" y="982"/>
                  <a:pt x="133697" y="3116"/>
                </a:cubicBezTo>
                <a:cubicBezTo>
                  <a:pt x="137861" y="5250"/>
                  <a:pt x="142426" y="11432"/>
                  <a:pt x="149029" y="13204"/>
                </a:cubicBezTo>
                <a:cubicBezTo>
                  <a:pt x="155632" y="14976"/>
                  <a:pt x="164901" y="13659"/>
                  <a:pt x="173314" y="13750"/>
                </a:cubicBezTo>
                <a:cubicBezTo>
                  <a:pt x="181727" y="13841"/>
                  <a:pt x="189640" y="13841"/>
                  <a:pt x="199509" y="13750"/>
                </a:cubicBezTo>
                <a:cubicBezTo>
                  <a:pt x="209378" y="13659"/>
                  <a:pt x="217200" y="13295"/>
                  <a:pt x="232526" y="13204"/>
                </a:cubicBezTo>
                <a:cubicBezTo>
                  <a:pt x="247852" y="13113"/>
                  <a:pt x="259404" y="13204"/>
                  <a:pt x="291465" y="13204"/>
                </a:cubicBezTo>
                <a:cubicBezTo>
                  <a:pt x="323527" y="13204"/>
                  <a:pt x="401023" y="14259"/>
                  <a:pt x="424895" y="13204"/>
                </a:cubicBezTo>
                <a:cubicBezTo>
                  <a:pt x="448768" y="12149"/>
                  <a:pt x="433130" y="6931"/>
                  <a:pt x="434700" y="6873"/>
                </a:cubicBezTo>
                <a:cubicBezTo>
                  <a:pt x="436270" y="6816"/>
                  <a:pt x="434636" y="9305"/>
                  <a:pt x="434314" y="12859"/>
                </a:cubicBezTo>
                <a:cubicBezTo>
                  <a:pt x="433992" y="16413"/>
                  <a:pt x="437815" y="25412"/>
                  <a:pt x="432769" y="28199"/>
                </a:cubicBezTo>
                <a:cubicBezTo>
                  <a:pt x="427723" y="30986"/>
                  <a:pt x="415680" y="29491"/>
                  <a:pt x="404040" y="29581"/>
                </a:cubicBezTo>
                <a:cubicBezTo>
                  <a:pt x="392401" y="29672"/>
                  <a:pt x="386912" y="28882"/>
                  <a:pt x="362932" y="28742"/>
                </a:cubicBezTo>
                <a:cubicBezTo>
                  <a:pt x="338952" y="28602"/>
                  <a:pt x="299408" y="28462"/>
                  <a:pt x="260162" y="28742"/>
                </a:cubicBezTo>
                <a:cubicBezTo>
                  <a:pt x="220916" y="29022"/>
                  <a:pt x="168042" y="30280"/>
                  <a:pt x="127455" y="30420"/>
                </a:cubicBezTo>
                <a:cubicBezTo>
                  <a:pt x="86868" y="30560"/>
                  <a:pt x="35929" y="29931"/>
                  <a:pt x="16641" y="29581"/>
                </a:cubicBezTo>
                <a:cubicBezTo>
                  <a:pt x="-2647" y="29232"/>
                  <a:pt x="12472" y="30001"/>
                  <a:pt x="11727" y="28323"/>
                </a:cubicBezTo>
                <a:cubicBezTo>
                  <a:pt x="10982" y="26645"/>
                  <a:pt x="11919" y="22651"/>
                  <a:pt x="12173" y="19512"/>
                </a:cubicBezTo>
                <a:cubicBezTo>
                  <a:pt x="12427" y="16373"/>
                  <a:pt x="14494" y="12521"/>
                  <a:pt x="13249" y="9488"/>
                </a:cubicBezTo>
                <a:cubicBezTo>
                  <a:pt x="12004" y="6455"/>
                  <a:pt x="-9193" y="2878"/>
                  <a:pt x="4705" y="13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-1391600" y="4642483"/>
            <a:ext cx="11344350" cy="350950"/>
          </a:xfrm>
          <a:custGeom>
            <a:rect b="b" l="l" r="r" t="t"/>
            <a:pathLst>
              <a:path extrusionOk="0" h="14038" w="453774">
                <a:moveTo>
                  <a:pt x="0" y="395"/>
                </a:moveTo>
                <a:cubicBezTo>
                  <a:pt x="13416" y="350"/>
                  <a:pt x="61122" y="122"/>
                  <a:pt x="80495" y="122"/>
                </a:cubicBezTo>
                <a:cubicBezTo>
                  <a:pt x="99868" y="122"/>
                  <a:pt x="108463" y="-287"/>
                  <a:pt x="116240" y="395"/>
                </a:cubicBezTo>
                <a:cubicBezTo>
                  <a:pt x="124017" y="1077"/>
                  <a:pt x="123517" y="2214"/>
                  <a:pt x="127155" y="4215"/>
                </a:cubicBezTo>
                <a:cubicBezTo>
                  <a:pt x="130793" y="6216"/>
                  <a:pt x="132112" y="10855"/>
                  <a:pt x="138069" y="12401"/>
                </a:cubicBezTo>
                <a:cubicBezTo>
                  <a:pt x="144027" y="13947"/>
                  <a:pt x="153213" y="13310"/>
                  <a:pt x="162900" y="13492"/>
                </a:cubicBezTo>
                <a:cubicBezTo>
                  <a:pt x="172587" y="13674"/>
                  <a:pt x="166310" y="13401"/>
                  <a:pt x="196189" y="13492"/>
                </a:cubicBezTo>
                <a:cubicBezTo>
                  <a:pt x="226068" y="13583"/>
                  <a:pt x="299241" y="14038"/>
                  <a:pt x="342172" y="14038"/>
                </a:cubicBezTo>
                <a:cubicBezTo>
                  <a:pt x="385103" y="14038"/>
                  <a:pt x="435174" y="13583"/>
                  <a:pt x="453774" y="1349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-1426870" y="4692558"/>
            <a:ext cx="11344350" cy="350950"/>
          </a:xfrm>
          <a:custGeom>
            <a:rect b="b" l="l" r="r" t="t"/>
            <a:pathLst>
              <a:path extrusionOk="0" h="14038" w="453774">
                <a:moveTo>
                  <a:pt x="0" y="395"/>
                </a:moveTo>
                <a:cubicBezTo>
                  <a:pt x="13416" y="350"/>
                  <a:pt x="61122" y="122"/>
                  <a:pt x="80495" y="122"/>
                </a:cubicBezTo>
                <a:cubicBezTo>
                  <a:pt x="99868" y="122"/>
                  <a:pt x="108463" y="-287"/>
                  <a:pt x="116240" y="395"/>
                </a:cubicBezTo>
                <a:cubicBezTo>
                  <a:pt x="124017" y="1077"/>
                  <a:pt x="123517" y="2214"/>
                  <a:pt x="127155" y="4215"/>
                </a:cubicBezTo>
                <a:cubicBezTo>
                  <a:pt x="130793" y="6216"/>
                  <a:pt x="132112" y="10855"/>
                  <a:pt x="138069" y="12401"/>
                </a:cubicBezTo>
                <a:cubicBezTo>
                  <a:pt x="144027" y="13947"/>
                  <a:pt x="153213" y="13310"/>
                  <a:pt x="162900" y="13492"/>
                </a:cubicBezTo>
                <a:cubicBezTo>
                  <a:pt x="172587" y="13674"/>
                  <a:pt x="166310" y="13401"/>
                  <a:pt x="196189" y="13492"/>
                </a:cubicBezTo>
                <a:cubicBezTo>
                  <a:pt x="226068" y="13583"/>
                  <a:pt x="299241" y="14038"/>
                  <a:pt x="342172" y="14038"/>
                </a:cubicBezTo>
                <a:cubicBezTo>
                  <a:pt x="385103" y="14038"/>
                  <a:pt x="435174" y="13583"/>
                  <a:pt x="453774" y="1349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105570" y="24099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672329" y="288301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693372" y="646247"/>
            <a:ext cx="6798131" cy="132071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Masukkan aliran bit sebagai string 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Inisialisasi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lokal (D) dengan entri nol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Tergantung pada bit berikutnya akan ada dua kasus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134072" y="2331901"/>
            <a:ext cx="4271618" cy="16802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Baca 8 bit berikutnya dan ubah menjadi nilai ASCII yang sesuai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Karakter keluaran untuk nilai ASCII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karakter sebagai match saat ini ke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sebelumnya + </a:t>
            </a: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saat ini ke 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mpac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4379988" y="1751986"/>
            <a:ext cx="4312987" cy="278100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-2667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mpac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Panggil Lenght Heuristic (LH) untuk menentukan jumlah bit yang akan dibaca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Ubah bit-bit ini menjadi decimal yang sesuai, nilai bernama sebagai indeks dictionary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Dapatkan string sebagai match saat ini dari D untuk indeks kamus yang sesuai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Keluaran match saat ini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Tambahkan match sebelumnya + semua awalan saat ini cocok dengan 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Impact"/>
              <a:buAutoNum type="arabicPeriod" startAt="6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Tetapkan match saat ini ke match sebelumnya dan null ke match saat ini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593474" y="2026262"/>
            <a:ext cx="3799365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Kasus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rgbClr val="F6898A"/>
                </a:solidFill>
                <a:latin typeface="Zen Dots"/>
                <a:ea typeface="Zen Dots"/>
                <a:cs typeface="Zen Dots"/>
                <a:sym typeface="Zen Dots"/>
              </a:rPr>
              <a:t>(Bit berikutnya adalah 0)</a:t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4572000" y="1727163"/>
            <a:ext cx="3799365" cy="2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Kasus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</a:pPr>
            <a:r>
              <a:rPr b="1" i="1" lang="en-US" sz="1400" u="none" cap="none" strike="noStrike">
                <a:solidFill>
                  <a:srgbClr val="F6898A"/>
                </a:solidFill>
                <a:latin typeface="Zen Dots"/>
                <a:ea typeface="Zen Dots"/>
                <a:cs typeface="Zen Dots"/>
                <a:sym typeface="Zen Dots"/>
              </a:rPr>
              <a:t>(Bit berikutnya adalah 1)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 txBox="1"/>
          <p:nvPr>
            <p:ph type="title"/>
          </p:nvPr>
        </p:nvSpPr>
        <p:spPr>
          <a:xfrm>
            <a:off x="720000" y="558473"/>
            <a:ext cx="513854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lang="en-US"/>
              <a:t>CONTOH SOAL </a:t>
            </a:r>
            <a:r>
              <a:rPr lang="en-US">
                <a:solidFill>
                  <a:schemeClr val="lt2"/>
                </a:solidFill>
              </a:rPr>
              <a:t>DECODING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417" name="Google Shape;417;p13"/>
          <p:cNvPicPr preferRelativeResize="0"/>
          <p:nvPr/>
        </p:nvPicPr>
        <p:blipFill rotWithShape="1">
          <a:blip r:embed="rId3">
            <a:alphaModFix/>
          </a:blip>
          <a:srcRect b="12004" l="12492" r="12342" t="18400"/>
          <a:stretch/>
        </p:blipFill>
        <p:spPr>
          <a:xfrm>
            <a:off x="-481831" y="2929499"/>
            <a:ext cx="1201834" cy="111269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3"/>
          <p:cNvSpPr/>
          <p:nvPr/>
        </p:nvSpPr>
        <p:spPr>
          <a:xfrm>
            <a:off x="293100" y="645538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5858540" y="66227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20" name="Google Shape;420;p13"/>
          <p:cNvPicPr preferRelativeResize="0"/>
          <p:nvPr/>
        </p:nvPicPr>
        <p:blipFill rotWithShape="1">
          <a:blip r:embed="rId4">
            <a:alphaModFix/>
          </a:blip>
          <a:srcRect b="8687" l="0" r="0" t="6061"/>
          <a:stretch/>
        </p:blipFill>
        <p:spPr>
          <a:xfrm rot="5728707">
            <a:off x="7399196" y="255523"/>
            <a:ext cx="1339308" cy="1206956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  <p:sp>
        <p:nvSpPr>
          <p:cNvPr id="421" name="Google Shape;421;p13"/>
          <p:cNvSpPr txBox="1"/>
          <p:nvPr/>
        </p:nvSpPr>
        <p:spPr>
          <a:xfrm>
            <a:off x="767367" y="1284085"/>
            <a:ext cx="8072493" cy="8086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Diketahui string S = “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001100001001100010111001100011001100100001100101100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111001011001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”. Tentukan hasil decoding menggunakan metode LZAP</a:t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22" name="Google Shape;422;p13"/>
          <p:cNvPicPr preferRelativeResize="0"/>
          <p:nvPr/>
        </p:nvPicPr>
        <p:blipFill rotWithShape="1">
          <a:blip r:embed="rId5">
            <a:alphaModFix/>
          </a:blip>
          <a:srcRect b="14400" l="15930" r="19027" t="18176"/>
          <a:stretch/>
        </p:blipFill>
        <p:spPr>
          <a:xfrm>
            <a:off x="1914551" y="1583212"/>
            <a:ext cx="5314898" cy="309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7975" y="4087625"/>
            <a:ext cx="552900" cy="5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8650" y="216625"/>
            <a:ext cx="1556101" cy="155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4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>
            <a:off x="681025" y="3233299"/>
            <a:ext cx="1004049" cy="9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1253653" y="380500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945995" y="423032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2" name="Google Shape;432;p14"/>
          <p:cNvSpPr txBox="1"/>
          <p:nvPr>
            <p:ph type="title"/>
          </p:nvPr>
        </p:nvSpPr>
        <p:spPr>
          <a:xfrm>
            <a:off x="1543387" y="278290"/>
            <a:ext cx="3379489" cy="7163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</a:pPr>
            <a:r>
              <a:rPr lang="en-US"/>
              <a:t>DECODING</a:t>
            </a:r>
            <a:endParaRPr/>
          </a:p>
        </p:txBody>
      </p:sp>
      <p:pic>
        <p:nvPicPr>
          <p:cNvPr descr="Table&#10;&#10;Description automatically generated" id="433" name="Google Shape;4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4833" y="1002650"/>
            <a:ext cx="3168142" cy="33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 txBox="1"/>
          <p:nvPr/>
        </p:nvSpPr>
        <p:spPr>
          <a:xfrm>
            <a:off x="1579989" y="1096885"/>
            <a:ext cx="3579456" cy="24935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Diketahui hasil string: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898A"/>
                </a:solidFill>
                <a:latin typeface="Arial"/>
                <a:ea typeface="Arial"/>
                <a:cs typeface="Arial"/>
                <a:sym typeface="Arial"/>
              </a:rPr>
              <a:t>“001100001001100010111001100011001100100001100101100111001011001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Decompresi data string diatas menjadi data semula menggunakan LZAP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Hasil decoding: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“ababcdeabbcd”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 txBox="1"/>
          <p:nvPr>
            <p:ph idx="1" type="subTitle"/>
          </p:nvPr>
        </p:nvSpPr>
        <p:spPr>
          <a:xfrm>
            <a:off x="480980" y="292051"/>
            <a:ext cx="4752381" cy="35431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-US" sz="1300">
                <a:latin typeface="Arimo"/>
                <a:ea typeface="Arimo"/>
                <a:cs typeface="Arimo"/>
                <a:sym typeface="Arimo"/>
              </a:rPr>
              <a:t>PADA TEKNIK KOMPRESI LZAP (LEMPEL ZIV ALL PREFIXES) MENGACU PADA KARAKTER YANG ADA PADA DATA INPUT YANG NANTINYA AKAN DIMASUKKAN KE DALAM DICTIONARY SEBAGAI ACUAN. SETIAP DATA AKAN DI-SCAN SATU PER SATU, APABILA TIDAK MATCH DENGAN DICTIONARY MAKA DATA TERSEBUT AKAN DIKENALKAN ATAU DITAMBAHKAN KE DALAM DICTIONARY, LALU AKAN DIHASILKAN OUTPUT BIT ()) PADA AWAL BITSREAM-NYA, SEDANGKAN APABILA MATCH DENGAN DICTIONARY OUTPUT YANG DIHASILKAN AKAN DIAWALI DENGAN BIT (1) DILANJUTKAN DENGAN NILAI INDEKS KARAKTER YANG TERDAPAT PADA DICTIONARY-NYA.</a:t>
            </a:r>
            <a:endParaRPr sz="13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0" name="Google Shape;440;p15"/>
          <p:cNvSpPr txBox="1"/>
          <p:nvPr>
            <p:ph type="title"/>
          </p:nvPr>
        </p:nvSpPr>
        <p:spPr>
          <a:xfrm>
            <a:off x="1025993" y="590765"/>
            <a:ext cx="3763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lang="en-US"/>
              <a:t>KESIMPULAN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441" name="Google Shape;441;p15"/>
          <p:cNvGrpSpPr/>
          <p:nvPr/>
        </p:nvGrpSpPr>
        <p:grpSpPr>
          <a:xfrm>
            <a:off x="5233361" y="1383000"/>
            <a:ext cx="3190644" cy="2422107"/>
            <a:chOff x="8811376" y="2"/>
            <a:chExt cx="3846467" cy="2703848"/>
          </a:xfrm>
        </p:grpSpPr>
        <p:sp>
          <p:nvSpPr>
            <p:cNvPr id="442" name="Google Shape;442;p15"/>
            <p:cNvSpPr/>
            <p:nvPr/>
          </p:nvSpPr>
          <p:spPr>
            <a:xfrm>
              <a:off x="10272077" y="2231136"/>
              <a:ext cx="1003515" cy="472701"/>
            </a:xfrm>
            <a:custGeom>
              <a:rect b="b" l="l" r="r" t="t"/>
              <a:pathLst>
                <a:path extrusionOk="0" h="6902" w="14652">
                  <a:moveTo>
                    <a:pt x="1570" y="1"/>
                  </a:moveTo>
                  <a:lnTo>
                    <a:pt x="1258" y="1372"/>
                  </a:lnTo>
                  <a:lnTo>
                    <a:pt x="0" y="6902"/>
                  </a:lnTo>
                  <a:lnTo>
                    <a:pt x="14651" y="6902"/>
                  </a:lnTo>
                  <a:lnTo>
                    <a:pt x="13394" y="1372"/>
                  </a:lnTo>
                  <a:lnTo>
                    <a:pt x="130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mpac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10360965" y="2235638"/>
              <a:ext cx="827743" cy="101336"/>
            </a:xfrm>
            <a:custGeom>
              <a:rect b="b" l="l" r="r" t="t"/>
              <a:pathLst>
                <a:path extrusionOk="0" h="1372" w="12137">
                  <a:moveTo>
                    <a:pt x="313" y="1"/>
                  </a:moveTo>
                  <a:lnTo>
                    <a:pt x="1" y="1372"/>
                  </a:lnTo>
                  <a:lnTo>
                    <a:pt x="12137" y="1372"/>
                  </a:lnTo>
                  <a:lnTo>
                    <a:pt x="11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mpac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9995443" y="2568998"/>
              <a:ext cx="1556709" cy="134852"/>
            </a:xfrm>
            <a:custGeom>
              <a:rect b="b" l="l" r="r" t="t"/>
              <a:pathLst>
                <a:path extrusionOk="0" h="1969" w="22729">
                  <a:moveTo>
                    <a:pt x="10" y="0"/>
                  </a:moveTo>
                  <a:cubicBezTo>
                    <a:pt x="5" y="0"/>
                    <a:pt x="1" y="4"/>
                    <a:pt x="1" y="10"/>
                  </a:cubicBezTo>
                  <a:lnTo>
                    <a:pt x="1" y="1961"/>
                  </a:lnTo>
                  <a:cubicBezTo>
                    <a:pt x="1" y="1965"/>
                    <a:pt x="5" y="1969"/>
                    <a:pt x="10" y="1969"/>
                  </a:cubicBezTo>
                  <a:lnTo>
                    <a:pt x="22719" y="1969"/>
                  </a:lnTo>
                  <a:cubicBezTo>
                    <a:pt x="22725" y="1969"/>
                    <a:pt x="22729" y="1965"/>
                    <a:pt x="22729" y="1961"/>
                  </a:cubicBezTo>
                  <a:lnTo>
                    <a:pt x="22729" y="10"/>
                  </a:lnTo>
                  <a:cubicBezTo>
                    <a:pt x="22728" y="4"/>
                    <a:pt x="22725" y="0"/>
                    <a:pt x="227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mpac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9995443" y="2582109"/>
              <a:ext cx="1556709" cy="105745"/>
            </a:xfrm>
            <a:custGeom>
              <a:rect b="b" l="l" r="r" t="t"/>
              <a:pathLst>
                <a:path extrusionOk="0" h="1544" w="22729">
                  <a:moveTo>
                    <a:pt x="10" y="0"/>
                  </a:moveTo>
                  <a:cubicBezTo>
                    <a:pt x="5" y="0"/>
                    <a:pt x="1" y="4"/>
                    <a:pt x="1" y="10"/>
                  </a:cubicBezTo>
                  <a:lnTo>
                    <a:pt x="1" y="1535"/>
                  </a:lnTo>
                  <a:cubicBezTo>
                    <a:pt x="1" y="1540"/>
                    <a:pt x="5" y="1543"/>
                    <a:pt x="10" y="1543"/>
                  </a:cubicBezTo>
                  <a:lnTo>
                    <a:pt x="22719" y="1543"/>
                  </a:lnTo>
                  <a:cubicBezTo>
                    <a:pt x="22725" y="1543"/>
                    <a:pt x="22729" y="1540"/>
                    <a:pt x="22729" y="1535"/>
                  </a:cubicBezTo>
                  <a:lnTo>
                    <a:pt x="22729" y="10"/>
                  </a:lnTo>
                  <a:cubicBezTo>
                    <a:pt x="22728" y="4"/>
                    <a:pt x="22725" y="0"/>
                    <a:pt x="22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mpac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8811376" y="2"/>
              <a:ext cx="3846467" cy="2261800"/>
            </a:xfrm>
            <a:custGeom>
              <a:rect b="b" l="l" r="r" t="t"/>
              <a:pathLst>
                <a:path extrusionOk="0" h="33025" w="56161">
                  <a:moveTo>
                    <a:pt x="1905" y="0"/>
                  </a:moveTo>
                  <a:cubicBezTo>
                    <a:pt x="854" y="0"/>
                    <a:pt x="1" y="854"/>
                    <a:pt x="1" y="1906"/>
                  </a:cubicBezTo>
                  <a:lnTo>
                    <a:pt x="1" y="31120"/>
                  </a:lnTo>
                  <a:cubicBezTo>
                    <a:pt x="1" y="32171"/>
                    <a:pt x="854" y="33025"/>
                    <a:pt x="1905" y="33025"/>
                  </a:cubicBezTo>
                  <a:lnTo>
                    <a:pt x="54255" y="33025"/>
                  </a:lnTo>
                  <a:cubicBezTo>
                    <a:pt x="55306" y="33025"/>
                    <a:pt x="56161" y="32171"/>
                    <a:pt x="56161" y="31120"/>
                  </a:cubicBezTo>
                  <a:lnTo>
                    <a:pt x="56161" y="1906"/>
                  </a:lnTo>
                  <a:cubicBezTo>
                    <a:pt x="56161" y="854"/>
                    <a:pt x="55306" y="0"/>
                    <a:pt x="542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Impact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sp>
        <p:nvSpPr>
          <p:cNvPr id="447" name="Google Shape;447;p15"/>
          <p:cNvSpPr/>
          <p:nvPr/>
        </p:nvSpPr>
        <p:spPr>
          <a:xfrm>
            <a:off x="1283392" y="550363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4067285" y="564965"/>
            <a:ext cx="426900" cy="426900"/>
          </a:xfrm>
          <a:prstGeom prst="star4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49" name="Google Shape;4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73975" y="52450"/>
            <a:ext cx="1556101" cy="155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5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>
            <a:off x="8535075" y="3612525"/>
            <a:ext cx="1212049" cy="1122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p15"/>
          <p:cNvGrpSpPr/>
          <p:nvPr/>
        </p:nvGrpSpPr>
        <p:grpSpPr>
          <a:xfrm flipH="1" rot="-6992135">
            <a:off x="3186722" y="2994830"/>
            <a:ext cx="1538390" cy="1561448"/>
            <a:chOff x="7374941" y="493061"/>
            <a:chExt cx="1769064" cy="1795580"/>
          </a:xfrm>
        </p:grpSpPr>
        <p:pic>
          <p:nvPicPr>
            <p:cNvPr id="452" name="Google Shape;452;p15"/>
            <p:cNvPicPr preferRelativeResize="0"/>
            <p:nvPr/>
          </p:nvPicPr>
          <p:blipFill rotWithShape="1">
            <a:blip r:embed="rId5">
              <a:alphaModFix/>
            </a:blip>
            <a:srcRect b="8687" l="0" r="0" t="6061"/>
            <a:stretch/>
          </p:blipFill>
          <p:spPr>
            <a:xfrm rot="7611348">
              <a:off x="7589819" y="787373"/>
              <a:ext cx="1339308" cy="1206956"/>
            </a:xfrm>
            <a:prstGeom prst="rect">
              <a:avLst/>
            </a:prstGeom>
            <a:noFill/>
            <a:ln>
              <a:noFill/>
            </a:ln>
            <a:effectLst>
              <a:outerShdw blurRad="142875" rotWithShape="0" algn="bl" dir="5400000" dist="76200">
                <a:srgbClr val="0E6790">
                  <a:alpha val="81960"/>
                </a:srgbClr>
              </a:outerShdw>
            </a:effectLst>
          </p:spPr>
        </p:pic>
        <p:grpSp>
          <p:nvGrpSpPr>
            <p:cNvPr id="453" name="Google Shape;453;p15"/>
            <p:cNvGrpSpPr/>
            <p:nvPr/>
          </p:nvGrpSpPr>
          <p:grpSpPr>
            <a:xfrm>
              <a:off x="8164220" y="1199575"/>
              <a:ext cx="615290" cy="284475"/>
              <a:chOff x="1791515" y="444625"/>
              <a:chExt cx="963346" cy="284475"/>
            </a:xfrm>
          </p:grpSpPr>
          <p:sp>
            <p:nvSpPr>
              <p:cNvPr id="454" name="Google Shape;454;p15"/>
              <p:cNvSpPr/>
              <p:nvPr/>
            </p:nvSpPr>
            <p:spPr>
              <a:xfrm>
                <a:off x="1791515" y="444625"/>
                <a:ext cx="952475" cy="171400"/>
              </a:xfrm>
              <a:custGeom>
                <a:rect b="b" l="l" r="r" t="t"/>
                <a:pathLst>
                  <a:path extrusionOk="0" h="6856" w="38099">
                    <a:moveTo>
                      <a:pt x="4866" y="0"/>
                    </a:moveTo>
                    <a:cubicBezTo>
                      <a:pt x="4374" y="106"/>
                      <a:pt x="2724" y="299"/>
                      <a:pt x="1914" y="635"/>
                    </a:cubicBezTo>
                    <a:cubicBezTo>
                      <a:pt x="1104" y="971"/>
                      <a:pt x="72" y="1509"/>
                      <a:pt x="7" y="2017"/>
                    </a:cubicBezTo>
                    <a:cubicBezTo>
                      <a:pt x="-58" y="2525"/>
                      <a:pt x="356" y="3111"/>
                      <a:pt x="1522" y="3683"/>
                    </a:cubicBezTo>
                    <a:cubicBezTo>
                      <a:pt x="2688" y="4255"/>
                      <a:pt x="4341" y="4925"/>
                      <a:pt x="7004" y="5448"/>
                    </a:cubicBezTo>
                    <a:cubicBezTo>
                      <a:pt x="9667" y="5971"/>
                      <a:pt x="13671" y="6689"/>
                      <a:pt x="17501" y="6820"/>
                    </a:cubicBezTo>
                    <a:cubicBezTo>
                      <a:pt x="21331" y="6951"/>
                      <a:pt x="26638" y="6713"/>
                      <a:pt x="29983" y="6232"/>
                    </a:cubicBezTo>
                    <a:cubicBezTo>
                      <a:pt x="33328" y="5751"/>
                      <a:pt x="36399" y="4608"/>
                      <a:pt x="37572" y="3933"/>
                    </a:cubicBezTo>
                    <a:cubicBezTo>
                      <a:pt x="38746" y="3259"/>
                      <a:pt x="37686" y="2578"/>
                      <a:pt x="37024" y="2185"/>
                    </a:cubicBezTo>
                    <a:cubicBezTo>
                      <a:pt x="36363" y="1792"/>
                      <a:pt x="34173" y="1675"/>
                      <a:pt x="33603" y="1573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5"/>
              <p:cNvSpPr/>
              <p:nvPr/>
            </p:nvSpPr>
            <p:spPr>
              <a:xfrm>
                <a:off x="1916285" y="509750"/>
                <a:ext cx="831400" cy="165625"/>
              </a:xfrm>
              <a:custGeom>
                <a:rect b="b" l="l" r="r" t="t"/>
                <a:pathLst>
                  <a:path extrusionOk="0" h="6625" w="33256">
                    <a:moveTo>
                      <a:pt x="5019" y="0"/>
                    </a:moveTo>
                    <a:cubicBezTo>
                      <a:pt x="4595" y="90"/>
                      <a:pt x="3305" y="244"/>
                      <a:pt x="2475" y="542"/>
                    </a:cubicBezTo>
                    <a:cubicBezTo>
                      <a:pt x="1645" y="840"/>
                      <a:pt x="218" y="1302"/>
                      <a:pt x="37" y="1787"/>
                    </a:cubicBezTo>
                    <a:cubicBezTo>
                      <a:pt x="-144" y="2272"/>
                      <a:pt x="349" y="2881"/>
                      <a:pt x="1387" y="3453"/>
                    </a:cubicBezTo>
                    <a:cubicBezTo>
                      <a:pt x="2425" y="4025"/>
                      <a:pt x="3895" y="4695"/>
                      <a:pt x="6265" y="5218"/>
                    </a:cubicBezTo>
                    <a:cubicBezTo>
                      <a:pt x="8635" y="5741"/>
                      <a:pt x="12198" y="6459"/>
                      <a:pt x="15606" y="6590"/>
                    </a:cubicBezTo>
                    <a:cubicBezTo>
                      <a:pt x="19014" y="6721"/>
                      <a:pt x="23860" y="6476"/>
                      <a:pt x="26715" y="6002"/>
                    </a:cubicBezTo>
                    <a:cubicBezTo>
                      <a:pt x="29570" y="5528"/>
                      <a:pt x="31749" y="4433"/>
                      <a:pt x="32735" y="3747"/>
                    </a:cubicBezTo>
                    <a:cubicBezTo>
                      <a:pt x="33721" y="3061"/>
                      <a:pt x="33089" y="2274"/>
                      <a:pt x="32630" y="1885"/>
                    </a:cubicBezTo>
                    <a:cubicBezTo>
                      <a:pt x="32171" y="1497"/>
                      <a:pt x="30423" y="1494"/>
                      <a:pt x="29981" y="141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5"/>
              <p:cNvSpPr/>
              <p:nvPr/>
            </p:nvSpPr>
            <p:spPr>
              <a:xfrm>
                <a:off x="1989061" y="553875"/>
                <a:ext cx="765800" cy="175225"/>
              </a:xfrm>
              <a:custGeom>
                <a:rect b="b" l="l" r="r" t="t"/>
                <a:pathLst>
                  <a:path extrusionOk="0" h="7009" w="30632">
                    <a:moveTo>
                      <a:pt x="4765" y="0"/>
                    </a:moveTo>
                    <a:cubicBezTo>
                      <a:pt x="4309" y="100"/>
                      <a:pt x="2822" y="240"/>
                      <a:pt x="2031" y="602"/>
                    </a:cubicBezTo>
                    <a:cubicBezTo>
                      <a:pt x="1241" y="964"/>
                      <a:pt x="149" y="1632"/>
                      <a:pt x="22" y="2171"/>
                    </a:cubicBezTo>
                    <a:cubicBezTo>
                      <a:pt x="-105" y="2710"/>
                      <a:pt x="311" y="3265"/>
                      <a:pt x="1267" y="3837"/>
                    </a:cubicBezTo>
                    <a:cubicBezTo>
                      <a:pt x="2224" y="4409"/>
                      <a:pt x="3577" y="5079"/>
                      <a:pt x="5761" y="5602"/>
                    </a:cubicBezTo>
                    <a:cubicBezTo>
                      <a:pt x="7945" y="6125"/>
                      <a:pt x="11229" y="6843"/>
                      <a:pt x="14369" y="6974"/>
                    </a:cubicBezTo>
                    <a:cubicBezTo>
                      <a:pt x="17509" y="7105"/>
                      <a:pt x="21972" y="6860"/>
                      <a:pt x="24602" y="6386"/>
                    </a:cubicBezTo>
                    <a:cubicBezTo>
                      <a:pt x="27232" y="5912"/>
                      <a:pt x="29241" y="4817"/>
                      <a:pt x="30149" y="4131"/>
                    </a:cubicBezTo>
                    <a:cubicBezTo>
                      <a:pt x="31057" y="3445"/>
                      <a:pt x="30483" y="2698"/>
                      <a:pt x="30052" y="2269"/>
                    </a:cubicBezTo>
                    <a:cubicBezTo>
                      <a:pt x="29622" y="1841"/>
                      <a:pt x="27980" y="1678"/>
                      <a:pt x="27566" y="1560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57" name="Google Shape;4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8097" y="1574844"/>
            <a:ext cx="2947578" cy="164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16"/>
          <p:cNvPicPr preferRelativeResize="0"/>
          <p:nvPr/>
        </p:nvPicPr>
        <p:blipFill rotWithShape="1">
          <a:blip r:embed="rId3">
            <a:alphaModFix/>
          </a:blip>
          <a:srcRect b="0" l="0" r="0" t="4915"/>
          <a:stretch/>
        </p:blipFill>
        <p:spPr>
          <a:xfrm>
            <a:off x="2280400" y="4459800"/>
            <a:ext cx="1276536" cy="12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6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>
            <a:off x="8423975" y="837258"/>
            <a:ext cx="1452025" cy="134436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 txBox="1"/>
          <p:nvPr>
            <p:ph type="title"/>
          </p:nvPr>
        </p:nvSpPr>
        <p:spPr>
          <a:xfrm>
            <a:off x="2291787" y="410358"/>
            <a:ext cx="3763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mpact"/>
              <a:buNone/>
            </a:pPr>
            <a:r>
              <a:rPr lang="en-US">
                <a:solidFill>
                  <a:schemeClr val="lt2"/>
                </a:solidFill>
              </a:rPr>
              <a:t>SUMBER REFERENSI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465" name="Google Shape;465;p16"/>
          <p:cNvGrpSpPr/>
          <p:nvPr/>
        </p:nvGrpSpPr>
        <p:grpSpPr>
          <a:xfrm>
            <a:off x="45200" y="976292"/>
            <a:ext cx="8347075" cy="2123587"/>
            <a:chOff x="0" y="1037"/>
            <a:chExt cx="8347075" cy="2123587"/>
          </a:xfrm>
        </p:grpSpPr>
        <p:cxnSp>
          <p:nvCxnSpPr>
            <p:cNvPr id="466" name="Google Shape;466;p16"/>
            <p:cNvCxnSpPr/>
            <p:nvPr/>
          </p:nvCxnSpPr>
          <p:spPr>
            <a:xfrm>
              <a:off x="0" y="1037"/>
              <a:ext cx="8347075" cy="0"/>
            </a:xfrm>
            <a:prstGeom prst="straightConnector1">
              <a:avLst/>
            </a:prstGeom>
            <a:solidFill>
              <a:srgbClr val="B80B0F"/>
            </a:solidFill>
            <a:ln cap="flat" cmpd="sng" w="19050">
              <a:solidFill>
                <a:srgbClr val="B80B0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7" name="Google Shape;467;p16"/>
            <p:cNvSpPr/>
            <p:nvPr/>
          </p:nvSpPr>
          <p:spPr>
            <a:xfrm>
              <a:off x="0" y="1037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0" y="1037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Salomon, D., 2007. Data Compression. London: British Library Cataloguing.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" name="Google Shape;469;p16"/>
            <p:cNvCxnSpPr/>
            <p:nvPr/>
          </p:nvCxnSpPr>
          <p:spPr>
            <a:xfrm>
              <a:off x="0" y="708899"/>
              <a:ext cx="8347075" cy="0"/>
            </a:xfrm>
            <a:prstGeom prst="straightConnector1">
              <a:avLst/>
            </a:prstGeom>
            <a:solidFill>
              <a:srgbClr val="B80B0F"/>
            </a:solidFill>
            <a:ln cap="flat" cmpd="sng" w="19050">
              <a:solidFill>
                <a:srgbClr val="B80B0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0" name="Google Shape;470;p16"/>
            <p:cNvSpPr/>
            <p:nvPr/>
          </p:nvSpPr>
          <p:spPr>
            <a:xfrm>
              <a:off x="0" y="708899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 txBox="1"/>
            <p:nvPr/>
          </p:nvSpPr>
          <p:spPr>
            <a:xfrm>
              <a:off x="0" y="708899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Tajul, T. K., Bhuiyan, S. R. &amp; Habib, A., 2018. Enhancement of LZAP (Lempel Ziv All Prefixes) Compression Algorithm. s.l., s.n., p. 69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16"/>
            <p:cNvCxnSpPr/>
            <p:nvPr/>
          </p:nvCxnSpPr>
          <p:spPr>
            <a:xfrm>
              <a:off x="0" y="1416762"/>
              <a:ext cx="8347075" cy="0"/>
            </a:xfrm>
            <a:prstGeom prst="straightConnector1">
              <a:avLst/>
            </a:prstGeom>
            <a:solidFill>
              <a:srgbClr val="B80B0F"/>
            </a:solidFill>
            <a:ln cap="flat" cmpd="sng" w="19050">
              <a:solidFill>
                <a:srgbClr val="B80B0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3" name="Google Shape;473;p16"/>
            <p:cNvSpPr/>
            <p:nvPr/>
          </p:nvSpPr>
          <p:spPr>
            <a:xfrm>
              <a:off x="0" y="1416762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 txBox="1"/>
            <p:nvPr/>
          </p:nvSpPr>
          <p:spPr>
            <a:xfrm>
              <a:off x="0" y="1416762"/>
              <a:ext cx="8347075" cy="70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(PDF) A Brief Study of Data Compression Algorithms | Journal of Computer Science IJCSIS - Academia.edu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"/>
          <p:cNvSpPr txBox="1"/>
          <p:nvPr>
            <p:ph idx="8" type="title"/>
          </p:nvPr>
        </p:nvSpPr>
        <p:spPr>
          <a:xfrm>
            <a:off x="720000" y="557784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lang="en-US"/>
              <a:t>CONTOH SOAL ENCODING</a:t>
            </a:r>
            <a:br>
              <a:rPr lang="en-US"/>
            </a:br>
            <a:br>
              <a:rPr lang="en-US"/>
            </a:br>
            <a:r>
              <a:rPr lang="en-US" sz="1800"/>
              <a:t>STRING ; ‘BACABUKU’</a:t>
            </a:r>
            <a:endParaRPr/>
          </a:p>
        </p:txBody>
      </p:sp>
      <p:sp>
        <p:nvSpPr>
          <p:cNvPr id="480" name="Google Shape;480;p17"/>
          <p:cNvSpPr txBox="1"/>
          <p:nvPr/>
        </p:nvSpPr>
        <p:spPr>
          <a:xfrm>
            <a:off x="720000" y="1926017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CONTOH SOAL ENCODING</a:t>
            </a:r>
            <a:br>
              <a:rPr b="0" i="0" lang="en-US" sz="28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</a:br>
            <a:br>
              <a:rPr b="0" i="0" lang="en-US" sz="28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b="0" i="0" lang="en-US" sz="18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STRING ; ’ 0011000100011000010011000111010100100111010100110101111000’.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Impact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DECOMPRESI DATA STRING DIATAS MENJADI DATA SEMULA MENGGUNAKAN LZAP</a:t>
            </a:r>
            <a:endParaRPr b="0" i="0" sz="2800" u="none" cap="none" strike="noStrike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18"/>
          <p:cNvGrpSpPr/>
          <p:nvPr/>
        </p:nvGrpSpPr>
        <p:grpSpPr>
          <a:xfrm flipH="1">
            <a:off x="256988" y="3008450"/>
            <a:ext cx="1235670" cy="1050349"/>
            <a:chOff x="7598377" y="3330050"/>
            <a:chExt cx="1235670" cy="1050349"/>
          </a:xfrm>
        </p:grpSpPr>
        <p:pic>
          <p:nvPicPr>
            <p:cNvPr id="486" name="Google Shape;486;p18"/>
            <p:cNvPicPr preferRelativeResize="0"/>
            <p:nvPr/>
          </p:nvPicPr>
          <p:blipFill rotWithShape="1">
            <a:blip r:embed="rId3">
              <a:alphaModFix/>
            </a:blip>
            <a:srcRect b="0" l="0" r="0" t="4915"/>
            <a:stretch/>
          </p:blipFill>
          <p:spPr>
            <a:xfrm>
              <a:off x="7716543" y="3330050"/>
              <a:ext cx="1104651" cy="1050349"/>
            </a:xfrm>
            <a:prstGeom prst="rect">
              <a:avLst/>
            </a:prstGeom>
            <a:noFill/>
            <a:ln>
              <a:noFill/>
            </a:ln>
            <a:effectLst>
              <a:outerShdw blurRad="157163" rotWithShape="0" algn="bl" dir="3180000" dist="104775">
                <a:srgbClr val="0E6790">
                  <a:alpha val="61960"/>
                </a:srgbClr>
              </a:outerShdw>
            </a:effectLst>
          </p:spPr>
        </p:pic>
        <p:grpSp>
          <p:nvGrpSpPr>
            <p:cNvPr id="487" name="Google Shape;487;p18"/>
            <p:cNvGrpSpPr/>
            <p:nvPr/>
          </p:nvGrpSpPr>
          <p:grpSpPr>
            <a:xfrm>
              <a:off x="7598377" y="3676569"/>
              <a:ext cx="1235670" cy="445305"/>
              <a:chOff x="2011449" y="446025"/>
              <a:chExt cx="785500" cy="283075"/>
            </a:xfrm>
          </p:grpSpPr>
          <p:sp>
            <p:nvSpPr>
              <p:cNvPr id="488" name="Google Shape;488;p18"/>
              <p:cNvSpPr/>
              <p:nvPr/>
            </p:nvSpPr>
            <p:spPr>
              <a:xfrm>
                <a:off x="2011449" y="446025"/>
                <a:ext cx="785500" cy="169975"/>
              </a:xfrm>
              <a:custGeom>
                <a:rect b="b" l="l" r="r" t="t"/>
                <a:pathLst>
                  <a:path extrusionOk="0" h="6799" w="31420">
                    <a:moveTo>
                      <a:pt x="5219" y="0"/>
                    </a:moveTo>
                    <a:cubicBezTo>
                      <a:pt x="4696" y="65"/>
                      <a:pt x="2948" y="65"/>
                      <a:pt x="2082" y="392"/>
                    </a:cubicBezTo>
                    <a:cubicBezTo>
                      <a:pt x="1216" y="719"/>
                      <a:pt x="154" y="1422"/>
                      <a:pt x="23" y="1961"/>
                    </a:cubicBezTo>
                    <a:cubicBezTo>
                      <a:pt x="-108" y="2500"/>
                      <a:pt x="318" y="3055"/>
                      <a:pt x="1298" y="3627"/>
                    </a:cubicBezTo>
                    <a:cubicBezTo>
                      <a:pt x="2278" y="4199"/>
                      <a:pt x="3667" y="4869"/>
                      <a:pt x="5905" y="5392"/>
                    </a:cubicBezTo>
                    <a:cubicBezTo>
                      <a:pt x="8143" y="5915"/>
                      <a:pt x="11508" y="6633"/>
                      <a:pt x="14727" y="6764"/>
                    </a:cubicBezTo>
                    <a:cubicBezTo>
                      <a:pt x="17946" y="6895"/>
                      <a:pt x="22521" y="6650"/>
                      <a:pt x="25217" y="6176"/>
                    </a:cubicBezTo>
                    <a:cubicBezTo>
                      <a:pt x="27913" y="5702"/>
                      <a:pt x="29971" y="4607"/>
                      <a:pt x="30902" y="3921"/>
                    </a:cubicBezTo>
                    <a:cubicBezTo>
                      <a:pt x="31833" y="3235"/>
                      <a:pt x="31327" y="2500"/>
                      <a:pt x="30804" y="2059"/>
                    </a:cubicBezTo>
                    <a:cubicBezTo>
                      <a:pt x="30281" y="1618"/>
                      <a:pt x="28272" y="1406"/>
                      <a:pt x="27765" y="1275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2011449" y="509750"/>
                <a:ext cx="784925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2011450" y="563475"/>
                <a:ext cx="765773" cy="165625"/>
              </a:xfrm>
              <a:custGeom>
                <a:rect b="b" l="l" r="r" t="t"/>
                <a:pathLst>
                  <a:path extrusionOk="0" h="6625" w="31397">
                    <a:moveTo>
                      <a:pt x="4729" y="0"/>
                    </a:moveTo>
                    <a:cubicBezTo>
                      <a:pt x="4288" y="36"/>
                      <a:pt x="2866" y="-80"/>
                      <a:pt x="2082" y="218"/>
                    </a:cubicBezTo>
                    <a:cubicBezTo>
                      <a:pt x="1298" y="516"/>
                      <a:pt x="154" y="1248"/>
                      <a:pt x="23" y="1787"/>
                    </a:cubicBezTo>
                    <a:cubicBezTo>
                      <a:pt x="-108" y="2326"/>
                      <a:pt x="318" y="2881"/>
                      <a:pt x="1298" y="3453"/>
                    </a:cubicBezTo>
                    <a:cubicBezTo>
                      <a:pt x="2278" y="4025"/>
                      <a:pt x="3667" y="4695"/>
                      <a:pt x="5905" y="5218"/>
                    </a:cubicBezTo>
                    <a:cubicBezTo>
                      <a:pt x="8143" y="5741"/>
                      <a:pt x="11508" y="6459"/>
                      <a:pt x="14727" y="6590"/>
                    </a:cubicBezTo>
                    <a:cubicBezTo>
                      <a:pt x="17946" y="6721"/>
                      <a:pt x="22521" y="6476"/>
                      <a:pt x="25217" y="6002"/>
                    </a:cubicBezTo>
                    <a:cubicBezTo>
                      <a:pt x="27913" y="5528"/>
                      <a:pt x="29971" y="4433"/>
                      <a:pt x="30902" y="3747"/>
                    </a:cubicBezTo>
                    <a:cubicBezTo>
                      <a:pt x="31833" y="3061"/>
                      <a:pt x="31245" y="2314"/>
                      <a:pt x="30804" y="1885"/>
                    </a:cubicBezTo>
                    <a:cubicBezTo>
                      <a:pt x="30363" y="1457"/>
                      <a:pt x="28680" y="1294"/>
                      <a:pt x="28255" y="1176"/>
                    </a:cubicBezTo>
                  </a:path>
                </a:pathLst>
              </a:custGeom>
              <a:noFill/>
              <a:ln cap="flat" cmpd="sng" w="9525">
                <a:solidFill>
                  <a:srgbClr val="0E679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91" name="Google Shape;491;p18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 flipH="1">
            <a:off x="8457111" y="3440599"/>
            <a:ext cx="1004049" cy="9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8"/>
          <p:cNvPicPr preferRelativeResize="0"/>
          <p:nvPr/>
        </p:nvPicPr>
        <p:blipFill rotWithShape="1">
          <a:blip r:embed="rId5">
            <a:alphaModFix/>
          </a:blip>
          <a:srcRect b="8687" l="0" r="0" t="6061"/>
          <a:stretch/>
        </p:blipFill>
        <p:spPr>
          <a:xfrm rot="6313940">
            <a:off x="7580101" y="281619"/>
            <a:ext cx="1269401" cy="114396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76200">
              <a:srgbClr val="0E6790">
                <a:alpha val="81960"/>
              </a:srgbClr>
            </a:outerShdw>
          </a:effectLst>
        </p:spPr>
      </p:pic>
      <p:pic>
        <p:nvPicPr>
          <p:cNvPr id="493" name="Google Shape;493;p18"/>
          <p:cNvPicPr preferRelativeResize="0"/>
          <p:nvPr/>
        </p:nvPicPr>
        <p:blipFill rotWithShape="1">
          <a:blip r:embed="rId4">
            <a:alphaModFix/>
          </a:blip>
          <a:srcRect b="12004" l="12492" r="12342" t="18400"/>
          <a:stretch/>
        </p:blipFill>
        <p:spPr>
          <a:xfrm flipH="1">
            <a:off x="-296353" y="539998"/>
            <a:ext cx="1235651" cy="11440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8"/>
          <p:cNvSpPr txBox="1"/>
          <p:nvPr>
            <p:ph type="title"/>
          </p:nvPr>
        </p:nvSpPr>
        <p:spPr>
          <a:xfrm>
            <a:off x="2066345" y="1787601"/>
            <a:ext cx="5429813" cy="10910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mpact"/>
              <a:buNone/>
            </a:pPr>
            <a:r>
              <a:rPr lang="en-US">
                <a:solidFill>
                  <a:schemeClr val="lt2"/>
                </a:solidFill>
              </a:rPr>
              <a:t>TERIMA KASIH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in Event">
  <a:themeElements>
    <a:clrScheme name="Main Event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