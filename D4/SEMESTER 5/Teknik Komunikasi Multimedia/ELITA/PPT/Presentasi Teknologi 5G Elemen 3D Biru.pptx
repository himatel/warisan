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Poppins Light" charset="1" panose="02000000000000000000"/>
      <p:regular r:id="rId10"/>
    </p:embeddedFont>
    <p:embeddedFont>
      <p:font typeface="Poppins Light Bold" charset="1" panose="02000000000000000000"/>
      <p:regular r:id="rId11"/>
    </p:embeddedFont>
    <p:embeddedFont>
      <p:font typeface="Poppins Medium" charset="1" panose="02000000000000000000"/>
      <p:regular r:id="rId12"/>
    </p:embeddedFont>
    <p:embeddedFont>
      <p:font typeface="Poppins Medium Bold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slides/slide1.xml" Type="http://schemas.openxmlformats.org/officeDocument/2006/relationships/slide"/><Relationship Id="rId15" Target="slides/slide2.xml" Type="http://schemas.openxmlformats.org/officeDocument/2006/relationships/slide"/><Relationship Id="rId16" Target="slides/slide3.xml" Type="http://schemas.openxmlformats.org/officeDocument/2006/relationships/slide"/><Relationship Id="rId17" Target="slides/slide4.xml" Type="http://schemas.openxmlformats.org/officeDocument/2006/relationships/slide"/><Relationship Id="rId18" Target="slides/slide5.xml" Type="http://schemas.openxmlformats.org/officeDocument/2006/relationships/slide"/><Relationship Id="rId19" Target="slides/slide6.xml" Type="http://schemas.openxmlformats.org/officeDocument/2006/relationships/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slides/slide8.xml" Type="http://schemas.openxmlformats.org/officeDocument/2006/relationships/slide"/><Relationship Id="rId22" Target="slides/slide9.xml" Type="http://schemas.openxmlformats.org/officeDocument/2006/relationships/slide"/><Relationship Id="rId23" Target="slides/slide10.xml" Type="http://schemas.openxmlformats.org/officeDocument/2006/relationships/slide"/><Relationship Id="rId24" Target="slides/slide11.xml" Type="http://schemas.openxmlformats.org/officeDocument/2006/relationships/slide"/><Relationship Id="rId25" Target="slides/slide12.xml" Type="http://schemas.openxmlformats.org/officeDocument/2006/relationships/slide"/><Relationship Id="rId26" Target="slides/slide13.xml" Type="http://schemas.openxmlformats.org/officeDocument/2006/relationships/slide"/><Relationship Id="rId27" Target="slides/slide14.xml" Type="http://schemas.openxmlformats.org/officeDocument/2006/relationships/slide"/><Relationship Id="rId28" Target="slides/slide15.xml" Type="http://schemas.openxmlformats.org/officeDocument/2006/relationships/slide"/><Relationship Id="rId29" Target="slides/slide16.xml" Type="http://schemas.openxmlformats.org/officeDocument/2006/relationships/slide"/><Relationship Id="rId3" Target="viewProps.xml" Type="http://schemas.openxmlformats.org/officeDocument/2006/relationships/viewProps"/><Relationship Id="rId30" Target="slides/slide17.xml" Type="http://schemas.openxmlformats.org/officeDocument/2006/relationships/slide"/><Relationship Id="rId31" Target="slides/slide18.xml" Type="http://schemas.openxmlformats.org/officeDocument/2006/relationships/slide"/><Relationship Id="rId32" Target="slides/slide19.xml" Type="http://schemas.openxmlformats.org/officeDocument/2006/relationships/slide"/><Relationship Id="rId33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14" Target="../media/image42.png" Type="http://schemas.openxmlformats.org/officeDocument/2006/relationships/image"/><Relationship Id="rId15" Target="../media/image43.svg" Type="http://schemas.openxmlformats.org/officeDocument/2006/relationships/image"/><Relationship Id="rId16" Target="../media/image44.png" Type="http://schemas.openxmlformats.org/officeDocument/2006/relationships/image"/><Relationship Id="rId17" Target="../media/image45.svg" Type="http://schemas.openxmlformats.org/officeDocument/2006/relationships/image"/><Relationship Id="rId18" Target="../media/image46.png" Type="http://schemas.openxmlformats.org/officeDocument/2006/relationships/image"/><Relationship Id="rId19" Target="../media/image47.svg" Type="http://schemas.openxmlformats.org/officeDocument/2006/relationships/image"/><Relationship Id="rId2" Target="../media/image30.png" Type="http://schemas.openxmlformats.org/officeDocument/2006/relationships/image"/><Relationship Id="rId20" Target="../media/image48.png" Type="http://schemas.openxmlformats.org/officeDocument/2006/relationships/image"/><Relationship Id="rId21" Target="../media/image49.svg" Type="http://schemas.openxmlformats.org/officeDocument/2006/relationships/image"/><Relationship Id="rId22" Target="../media/image50.png" Type="http://schemas.openxmlformats.org/officeDocument/2006/relationships/image"/><Relationship Id="rId23" Target="../media/image51.svg" Type="http://schemas.openxmlformats.org/officeDocument/2006/relationships/image"/><Relationship Id="rId24" Target="../media/image52.png" Type="http://schemas.openxmlformats.org/officeDocument/2006/relationships/image"/><Relationship Id="rId25" Target="../media/image53.svg" Type="http://schemas.openxmlformats.org/officeDocument/2006/relationships/image"/><Relationship Id="rId26" Target="../media/image12.png" Type="http://schemas.openxmlformats.org/officeDocument/2006/relationships/image"/><Relationship Id="rId27" Target="../media/image13.svg" Type="http://schemas.openxmlformats.org/officeDocument/2006/relationships/image"/><Relationship Id="rId28" Target="../media/image14.png" Type="http://schemas.openxmlformats.org/officeDocument/2006/relationships/image"/><Relationship Id="rId29" Target="../media/image15.svg" Type="http://schemas.openxmlformats.org/officeDocument/2006/relationships/image"/><Relationship Id="rId3" Target="../media/image31.svg" Type="http://schemas.openxmlformats.org/officeDocument/2006/relationships/image"/><Relationship Id="rId30" Target="../media/image16.png" Type="http://schemas.openxmlformats.org/officeDocument/2006/relationships/image"/><Relationship Id="rId31" Target="../media/image17.svg" Type="http://schemas.openxmlformats.org/officeDocument/2006/relationships/image"/><Relationship Id="rId32" Target="../media/image18.png" Type="http://schemas.openxmlformats.org/officeDocument/2006/relationships/image"/><Relationship Id="rId33" Target="../media/image19.svg" Type="http://schemas.openxmlformats.org/officeDocument/2006/relationships/image"/><Relationship Id="rId34" Target="../media/image20.png" Type="http://schemas.openxmlformats.org/officeDocument/2006/relationships/image"/><Relationship Id="rId35" Target="../media/image21.svg" Type="http://schemas.openxmlformats.org/officeDocument/2006/relationships/image"/><Relationship Id="rId36" Target="../media/image22.png" Type="http://schemas.openxmlformats.org/officeDocument/2006/relationships/image"/><Relationship Id="rId37" Target="../media/image23.svg" Type="http://schemas.openxmlformats.org/officeDocument/2006/relationships/image"/><Relationship Id="rId38" Target="../media/image54.png" Type="http://schemas.openxmlformats.org/officeDocument/2006/relationships/image"/><Relationship Id="rId39" Target="../media/image55.svg" Type="http://schemas.openxmlformats.org/officeDocument/2006/relationships/image"/><Relationship Id="rId4" Target="../media/image32.png" Type="http://schemas.openxmlformats.org/officeDocument/2006/relationships/image"/><Relationship Id="rId40" Target="../media/image56.png" Type="http://schemas.openxmlformats.org/officeDocument/2006/relationships/image"/><Relationship Id="rId41" Target="../media/image57.svg" Type="http://schemas.openxmlformats.org/officeDocument/2006/relationships/image"/><Relationship Id="rId42" Target="../media/image58.png" Type="http://schemas.openxmlformats.org/officeDocument/2006/relationships/image"/><Relationship Id="rId43" Target="../media/image59.svg" Type="http://schemas.openxmlformats.org/officeDocument/2006/relationships/image"/><Relationship Id="rId44" Target="../media/image60.png" Type="http://schemas.openxmlformats.org/officeDocument/2006/relationships/image"/><Relationship Id="rId45" Target="../media/image61.svg" Type="http://schemas.openxmlformats.org/officeDocument/2006/relationships/image"/><Relationship Id="rId46" Target="../media/image62.png" Type="http://schemas.openxmlformats.org/officeDocument/2006/relationships/image"/><Relationship Id="rId47" Target="../media/image63.svg" Type="http://schemas.openxmlformats.org/officeDocument/2006/relationships/image"/><Relationship Id="rId48" Target="../media/image64.png" Type="http://schemas.openxmlformats.org/officeDocument/2006/relationships/image"/><Relationship Id="rId49" Target="../media/image65.svg" Type="http://schemas.openxmlformats.org/officeDocument/2006/relationships/image"/><Relationship Id="rId5" Target="../media/image33.svg" Type="http://schemas.openxmlformats.org/officeDocument/2006/relationships/image"/><Relationship Id="rId50" Target="../media/image66.png" Type="http://schemas.openxmlformats.org/officeDocument/2006/relationships/image"/><Relationship Id="rId51" Target="../media/image67.svg" Type="http://schemas.openxmlformats.org/officeDocument/2006/relationships/image"/><Relationship Id="rId52" Target="../media/image68.png" Type="http://schemas.openxmlformats.org/officeDocument/2006/relationships/image"/><Relationship Id="rId53" Target="../media/image69.svg" Type="http://schemas.openxmlformats.org/officeDocument/2006/relationships/image"/><Relationship Id="rId54" Target="../media/image70.png" Type="http://schemas.openxmlformats.org/officeDocument/2006/relationships/image"/><Relationship Id="rId55" Target="../media/image71.svg" Type="http://schemas.openxmlformats.org/officeDocument/2006/relationships/image"/><Relationship Id="rId56" Target="../media/image72.png" Type="http://schemas.openxmlformats.org/officeDocument/2006/relationships/image"/><Relationship Id="rId57" Target="../media/image73.svg" Type="http://schemas.openxmlformats.org/officeDocument/2006/relationships/image"/><Relationship Id="rId58" Target="../media/image74.png" Type="http://schemas.openxmlformats.org/officeDocument/2006/relationships/image"/><Relationship Id="rId59" Target="../media/image75.svg" Type="http://schemas.openxmlformats.org/officeDocument/2006/relationships/image"/><Relationship Id="rId6" Target="../media/image34.png" Type="http://schemas.openxmlformats.org/officeDocument/2006/relationships/image"/><Relationship Id="rId60" Target="../media/image76.png" Type="http://schemas.openxmlformats.org/officeDocument/2006/relationships/image"/><Relationship Id="rId61" Target="../media/image77.sv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005738" y="2260462"/>
            <a:ext cx="7641615" cy="5845836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028700" y="1028700"/>
            <a:ext cx="12092431" cy="6828522"/>
            <a:chOff x="0" y="0"/>
            <a:chExt cx="16123241" cy="910469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524660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60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23731"/>
              <a:ext cx="16123241" cy="2707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15400"/>
                </a:lnSpc>
              </a:pPr>
              <a:r>
                <a:rPr lang="en-US" sz="14000">
                  <a:solidFill>
                    <a:srgbClr val="FFFFFF"/>
                  </a:solidFill>
                  <a:latin typeface="Poppins Medium"/>
                </a:rPr>
                <a:t>Golay Code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383807"/>
              <a:ext cx="16123241" cy="3722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619"/>
                </a:lnSpc>
              </a:pPr>
              <a:r>
                <a:rPr lang="en-US" sz="3299" spc="65">
                  <a:solidFill>
                    <a:srgbClr val="FFFFFF"/>
                  </a:solidFill>
                  <a:latin typeface="Poppins Medium"/>
                </a:rPr>
                <a:t>  </a:t>
              </a:r>
              <a:r>
                <a:rPr lang="en-US" sz="3299" spc="65">
                  <a:solidFill>
                    <a:srgbClr val="10B5BF"/>
                  </a:solidFill>
                  <a:latin typeface="Poppins Medium"/>
                </a:rPr>
                <a:t>KELOMPOK 5</a:t>
              </a:r>
            </a:p>
            <a:p>
              <a:pPr marL="712467" indent="-356233" lvl="1">
                <a:lnSpc>
                  <a:spcPts val="4619"/>
                </a:lnSpc>
                <a:buFont typeface="Arial"/>
                <a:buChar char="•"/>
              </a:pPr>
              <a:r>
                <a:rPr lang="en-US" sz="3299" spc="65">
                  <a:solidFill>
                    <a:srgbClr val="10B5BF"/>
                  </a:solidFill>
                  <a:latin typeface="Poppins Medium"/>
                </a:rPr>
                <a:t> Ardi Anugrah</a:t>
              </a:r>
            </a:p>
            <a:p>
              <a:pPr marL="712467" indent="-356233" lvl="1">
                <a:lnSpc>
                  <a:spcPts val="4619"/>
                </a:lnSpc>
                <a:buFont typeface="Arial"/>
                <a:buChar char="•"/>
              </a:pPr>
              <a:r>
                <a:rPr lang="en-US" sz="3299" spc="65">
                  <a:solidFill>
                    <a:srgbClr val="10B5BF"/>
                  </a:solidFill>
                  <a:latin typeface="Poppins Medium"/>
                </a:rPr>
                <a:t> Elita Lestari Setianto</a:t>
              </a:r>
            </a:p>
            <a:p>
              <a:pPr marL="712467" indent="-356233" lvl="1">
                <a:lnSpc>
                  <a:spcPts val="4619"/>
                </a:lnSpc>
                <a:buFont typeface="Arial"/>
                <a:buChar char="•"/>
              </a:pPr>
              <a:r>
                <a:rPr lang="en-US" sz="3299" spc="65">
                  <a:solidFill>
                    <a:srgbClr val="10B5BF"/>
                  </a:solidFill>
                  <a:latin typeface="Poppins Medium"/>
                </a:rPr>
                <a:t> Fauzan Dwipriyandi</a:t>
              </a:r>
            </a:p>
            <a:p>
              <a:pPr>
                <a:lnSpc>
                  <a:spcPts val="391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8120896" y="-716402"/>
            <a:ext cx="3586584" cy="2976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717021" y="1508927"/>
            <a:ext cx="4699235" cy="584984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6712423" y="4433851"/>
            <a:ext cx="1089749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oppins Medium"/>
              </a:rPr>
              <a:t>GOLAY CODE -&gt; MARCEL J E GOLAY -&gt; 1949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4436964" y="410048"/>
            <a:ext cx="3282359" cy="338387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862014" y="3455231"/>
            <a:ext cx="11971517" cy="2879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9"/>
              </a:lnSpc>
              <a:spcBef>
                <a:spcPct val="0"/>
              </a:spcBef>
            </a:pPr>
          </a:p>
          <a:p>
            <a:pPr algn="just">
              <a:lnSpc>
                <a:spcPts val="3249"/>
              </a:lnSpc>
              <a:spcBef>
                <a:spcPct val="0"/>
              </a:spcBef>
            </a:pPr>
            <a:r>
              <a:rPr lang="en-US" sz="2707">
                <a:solidFill>
                  <a:srgbClr val="FFFFFF"/>
                </a:solidFill>
                <a:latin typeface="Poppins Medium"/>
              </a:rPr>
              <a:t>BINARY G23 (23,12,7)</a:t>
            </a:r>
          </a:p>
          <a:p>
            <a:pPr algn="just">
              <a:lnSpc>
                <a:spcPts val="3249"/>
              </a:lnSpc>
              <a:spcBef>
                <a:spcPct val="0"/>
              </a:spcBef>
            </a:pPr>
            <a:r>
              <a:rPr lang="en-US" sz="2707">
                <a:solidFill>
                  <a:srgbClr val="FFFFFF"/>
                </a:solidFill>
                <a:latin typeface="Poppins Medium"/>
              </a:rPr>
              <a:t>BINARY G24 (24,12,8)</a:t>
            </a:r>
          </a:p>
          <a:p>
            <a:pPr algn="just">
              <a:lnSpc>
                <a:spcPts val="3249"/>
              </a:lnSpc>
              <a:spcBef>
                <a:spcPct val="0"/>
              </a:spcBef>
            </a:pPr>
          </a:p>
          <a:p>
            <a:pPr algn="just">
              <a:lnSpc>
                <a:spcPts val="3249"/>
              </a:lnSpc>
              <a:spcBef>
                <a:spcPct val="0"/>
              </a:spcBef>
            </a:pPr>
            <a:r>
              <a:rPr lang="en-US" sz="2707">
                <a:solidFill>
                  <a:srgbClr val="FFFFFF"/>
                </a:solidFill>
                <a:latin typeface="Poppins Medium"/>
              </a:rPr>
              <a:t>BINARY GOLAY CODE G23 (23,12,7) DAN G24 (24,12,8) BIASANYA DIGUNAKAN SEBAGAI ERROR-CORRECTING CODE DALAM KOMUNIKASI DIGITAL.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62014" y="1820998"/>
            <a:ext cx="711383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FFFFFF"/>
                </a:solidFill>
                <a:latin typeface="Poppins Medium"/>
              </a:rPr>
              <a:t>MACAM-MACAM GOLAY CODE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533827" y="7555022"/>
            <a:ext cx="4024687" cy="452848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70534" y="467738"/>
            <a:ext cx="5887373" cy="7927220"/>
            <a:chOff x="0" y="0"/>
            <a:chExt cx="7849830" cy="1056962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7849830" cy="2778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220"/>
                </a:lnSpc>
              </a:pPr>
              <a:r>
                <a:rPr lang="en-US" sz="6850">
                  <a:solidFill>
                    <a:srgbClr val="FFFFFF"/>
                  </a:solidFill>
                  <a:latin typeface="Poppins Medium Bold"/>
                </a:rPr>
                <a:t>Binary Golay Code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420921"/>
              <a:ext cx="7849830" cy="6067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674"/>
                </a:lnSpc>
              </a:pPr>
              <a:r>
                <a:rPr lang="en-US" sz="2624">
                  <a:solidFill>
                    <a:srgbClr val="FFFFFF"/>
                  </a:solidFill>
                  <a:latin typeface="Poppins Light"/>
                </a:rPr>
                <a:t>Binary Code = [n,k,d]</a:t>
              </a:r>
            </a:p>
            <a:p>
              <a:pPr>
                <a:lnSpc>
                  <a:spcPts val="3674"/>
                </a:lnSpc>
              </a:pPr>
            </a:p>
            <a:p>
              <a:pPr>
                <a:lnSpc>
                  <a:spcPts val="3674"/>
                </a:lnSpc>
              </a:pPr>
              <a:r>
                <a:rPr lang="en-US" sz="2624">
                  <a:solidFill>
                    <a:srgbClr val="FFFFFF"/>
                  </a:solidFill>
                  <a:latin typeface="Poppins Light"/>
                </a:rPr>
                <a:t>n : total bits tiap codeword</a:t>
              </a:r>
            </a:p>
            <a:p>
              <a:pPr>
                <a:lnSpc>
                  <a:spcPts val="3674"/>
                </a:lnSpc>
              </a:pPr>
              <a:r>
                <a:rPr lang="en-US" sz="2624">
                  <a:solidFill>
                    <a:srgbClr val="FFFFFF"/>
                  </a:solidFill>
                  <a:latin typeface="Poppins Light"/>
                </a:rPr>
                <a:t>k : informations bit</a:t>
              </a:r>
            </a:p>
            <a:p>
              <a:pPr>
                <a:lnSpc>
                  <a:spcPts val="3674"/>
                </a:lnSpc>
              </a:pPr>
              <a:r>
                <a:rPr lang="en-US" sz="2624">
                  <a:solidFill>
                    <a:srgbClr val="FFFFFF"/>
                  </a:solidFill>
                  <a:latin typeface="Poppins Light"/>
                </a:rPr>
                <a:t>d : minimum hamming distance</a:t>
              </a:r>
            </a:p>
            <a:p>
              <a:pPr>
                <a:lnSpc>
                  <a:spcPts val="3674"/>
                </a:lnSpc>
              </a:pPr>
              <a:r>
                <a:rPr lang="en-US" sz="2624">
                  <a:solidFill>
                    <a:srgbClr val="FFFFFF"/>
                  </a:solidFill>
                  <a:latin typeface="Poppins Light"/>
                </a:rPr>
                <a:t>Jumlah bit yang dapat dideteksi dan dikoreksi oleh Golay Code adalah sebanyak (d-1)/2. </a:t>
              </a:r>
            </a:p>
            <a:p>
              <a:pPr>
                <a:lnSpc>
                  <a:spcPts val="3674"/>
                </a:lnSpc>
              </a:pPr>
            </a:p>
            <a:p>
              <a:pPr>
                <a:lnSpc>
                  <a:spcPts val="3675"/>
                </a:lnSpc>
              </a:pPr>
            </a:p>
          </p:txBody>
        </p:sp>
        <p:sp>
          <p:nvSpPr>
            <p:cNvPr name="AutoShape 6" id="6"/>
            <p:cNvSpPr/>
            <p:nvPr/>
          </p:nvSpPr>
          <p:spPr>
            <a:xfrm rot="0">
              <a:off x="0" y="3623653"/>
              <a:ext cx="7849830" cy="0"/>
            </a:xfrm>
            <a:prstGeom prst="line">
              <a:avLst/>
            </a:prstGeom>
            <a:ln cap="rnd" w="25400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9769250" y="3416935"/>
            <a:ext cx="6161323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 Medium"/>
              </a:rPr>
              <a:t>NOTE:</a:t>
            </a:r>
          </a:p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 Medium"/>
              </a:rPr>
              <a:t>D PADA GOLAY CODE ADALAH 7. MAKA MAKSIMUM KESALAHAN YANG DAPAT DIDETEKSI DAN DIKOREKSI ADALAH (7-1)/2 = 3 BIT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43798" y="7231358"/>
            <a:ext cx="6751715" cy="2026942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2185" t="0" r="179" b="0"/>
          <a:stretch>
            <a:fillRect/>
          </a:stretch>
        </p:blipFill>
        <p:spPr>
          <a:xfrm flipH="false" flipV="false" rot="0">
            <a:off x="9561682" y="7231358"/>
            <a:ext cx="8389876" cy="202694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75885" y="1666763"/>
            <a:ext cx="1553623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000"/>
              </a:lnSpc>
            </a:pPr>
            <a:r>
              <a:rPr lang="en-US" sz="7500">
                <a:solidFill>
                  <a:srgbClr val="FFFFFF"/>
                </a:solidFill>
                <a:latin typeface="Poppins Medium Bold"/>
              </a:rPr>
              <a:t>G23 (23,12,7)           G24 (24,12,8)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5885" y="4153860"/>
            <a:ext cx="6414641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rimo"/>
              </a:rPr>
              <a:t>TOTAL BITS TIAP CODEWORD : 23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rimo"/>
              </a:rPr>
              <a:t>INFORMATION BITS : 12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rimo"/>
              </a:rPr>
              <a:t>CHECK BITS : 11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rimo"/>
              </a:rPr>
              <a:t>TOTAL CODEWORDS : 2^12 = 4096 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rimo"/>
              </a:rPr>
              <a:t>MINIMUM HAMMING DISTANCE : 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07950" y="4163385"/>
            <a:ext cx="6097339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Arimo"/>
              </a:rPr>
              <a:t>TOTAL BITS TIAP CODEWORD : 24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Arimo"/>
              </a:rPr>
              <a:t>INFORMATION BITS : 12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Arimo"/>
              </a:rPr>
              <a:t>CHECK BITS : 11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Arimo"/>
              </a:rPr>
              <a:t>PARITY BIT : 1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Arimo"/>
              </a:rPr>
              <a:t>TOTAL CODEWORDS : 2^12 = 4096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Arimo"/>
              </a:rPr>
              <a:t>MINIMUM HAMMING DISTANCE : 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14500" y="3042779"/>
            <a:ext cx="7023569" cy="3065721"/>
            <a:chOff x="0" y="0"/>
            <a:chExt cx="9364759" cy="408762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075564"/>
              <a:ext cx="9364759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0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9364759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8400"/>
                </a:lnSpc>
              </a:pPr>
              <a:r>
                <a:rPr lang="en-US" sz="7000">
                  <a:solidFill>
                    <a:srgbClr val="FFFFFF"/>
                  </a:solidFill>
                  <a:latin typeface="Poppins Medium Bold"/>
                </a:rPr>
                <a:t>ENCODING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411352"/>
              <a:ext cx="9364759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688677" y="763250"/>
            <a:ext cx="3570623" cy="4559057"/>
            <a:chOff x="0" y="0"/>
            <a:chExt cx="4760830" cy="607874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386964" y="5841374"/>
              <a:ext cx="787296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Item 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83606" y="5841374"/>
              <a:ext cx="787296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Item 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180249" y="5841374"/>
              <a:ext cx="787296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Item 3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076892" y="5841374"/>
              <a:ext cx="787296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Item 4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973534" y="5841374"/>
              <a:ext cx="787296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Item 5</a:t>
              </a:r>
            </a:p>
          </p:txBody>
        </p:sp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0">
              <a:off x="386964" y="109159"/>
              <a:ext cx="4373866" cy="5657428"/>
              <a:chOff x="0" y="0"/>
              <a:chExt cx="7381704" cy="9547950"/>
            </a:xfrm>
          </p:grpSpPr>
          <p:sp>
            <p:nvSpPr>
              <p:cNvPr name="Freeform 13" id="13"/>
              <p:cNvSpPr/>
              <p:nvPr/>
            </p:nvSpPr>
            <p:spPr>
              <a:xfrm>
                <a:off x="0" y="-6350"/>
                <a:ext cx="7381704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7381704">
                    <a:moveTo>
                      <a:pt x="0" y="0"/>
                    </a:moveTo>
                    <a:lnTo>
                      <a:pt x="7381704" y="0"/>
                    </a:lnTo>
                    <a:lnTo>
                      <a:pt x="7381704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FFFF">
                  <a:alpha val="24706"/>
                </a:srgbClr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>
                <a:off x="0" y="1903240"/>
                <a:ext cx="7381704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7381704">
                    <a:moveTo>
                      <a:pt x="0" y="0"/>
                    </a:moveTo>
                    <a:lnTo>
                      <a:pt x="7381704" y="0"/>
                    </a:lnTo>
                    <a:lnTo>
                      <a:pt x="7381704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FFFF">
                  <a:alpha val="24706"/>
                </a:srgbClr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>
                <a:off x="0" y="3812830"/>
                <a:ext cx="7381704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7381704">
                    <a:moveTo>
                      <a:pt x="0" y="0"/>
                    </a:moveTo>
                    <a:lnTo>
                      <a:pt x="7381704" y="0"/>
                    </a:lnTo>
                    <a:lnTo>
                      <a:pt x="7381704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FFFF">
                  <a:alpha val="24706"/>
                </a:srgbClr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>
                <a:off x="0" y="5722420"/>
                <a:ext cx="7381704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7381704">
                    <a:moveTo>
                      <a:pt x="0" y="0"/>
                    </a:moveTo>
                    <a:lnTo>
                      <a:pt x="7381704" y="0"/>
                    </a:lnTo>
                    <a:lnTo>
                      <a:pt x="7381704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FFFF">
                  <a:alpha val="24706"/>
                </a:srgbClr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>
                <a:off x="0" y="7632010"/>
                <a:ext cx="7381704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7381704">
                    <a:moveTo>
                      <a:pt x="0" y="0"/>
                    </a:moveTo>
                    <a:lnTo>
                      <a:pt x="7381704" y="0"/>
                    </a:lnTo>
                    <a:lnTo>
                      <a:pt x="7381704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FFFF">
                  <a:alpha val="24706"/>
                </a:srgbClr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>
                <a:off x="0" y="9541600"/>
                <a:ext cx="7381704" cy="12700"/>
              </a:xfrm>
              <a:custGeom>
                <a:avLst/>
                <a:gdLst/>
                <a:ahLst/>
                <a:cxnLst/>
                <a:rect r="r" b="b" t="t" l="l"/>
                <a:pathLst>
                  <a:path h="12700" w="7381704">
                    <a:moveTo>
                      <a:pt x="0" y="0"/>
                    </a:moveTo>
                    <a:lnTo>
                      <a:pt x="7381704" y="0"/>
                    </a:lnTo>
                    <a:lnTo>
                      <a:pt x="7381704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-19050"/>
              <a:ext cx="293126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50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293" y="1112436"/>
              <a:ext cx="291833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40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466" y="2243921"/>
              <a:ext cx="284661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30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171" y="3375407"/>
              <a:ext cx="283955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20 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2788" y="4506892"/>
              <a:ext cx="230339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10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18168" y="5638378"/>
              <a:ext cx="174959" cy="237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51"/>
                </a:lnSpc>
              </a:pPr>
              <a:r>
                <a:rPr lang="en-US" sz="1108">
                  <a:solidFill>
                    <a:srgbClr val="FFFFFF"/>
                  </a:solidFill>
                  <a:latin typeface="Poppins Light"/>
                </a:rPr>
                <a:t>0 </a:t>
              </a:r>
            </a:p>
          </p:txBody>
        </p:sp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386964" y="109159"/>
              <a:ext cx="4373866" cy="5657428"/>
              <a:chOff x="0" y="0"/>
              <a:chExt cx="7381704" cy="9547950"/>
            </a:xfrm>
          </p:grpSpPr>
          <p:sp>
            <p:nvSpPr>
              <p:cNvPr name="Freeform 26" id="26"/>
              <p:cNvSpPr/>
              <p:nvPr/>
            </p:nvSpPr>
            <p:spPr>
              <a:xfrm>
                <a:off x="-1752" y="7625607"/>
                <a:ext cx="1332211" cy="1922342"/>
              </a:xfrm>
              <a:custGeom>
                <a:avLst/>
                <a:gdLst/>
                <a:ahLst/>
                <a:cxnLst/>
                <a:rect r="r" b="b" t="t" l="l"/>
                <a:pathLst>
                  <a:path h="1922342" w="1332211">
                    <a:moveTo>
                      <a:pt x="1752" y="1922343"/>
                    </a:moveTo>
                    <a:lnTo>
                      <a:pt x="1752" y="112700"/>
                    </a:lnTo>
                    <a:lnTo>
                      <a:pt x="1752" y="112700"/>
                    </a:lnTo>
                    <a:cubicBezTo>
                      <a:pt x="0" y="83425"/>
                      <a:pt x="10421" y="54727"/>
                      <a:pt x="30548" y="33397"/>
                    </a:cubicBezTo>
                    <a:cubicBezTo>
                      <a:pt x="50676" y="12067"/>
                      <a:pt x="78721" y="0"/>
                      <a:pt x="108049" y="53"/>
                    </a:cubicBezTo>
                    <a:lnTo>
                      <a:pt x="1224162" y="53"/>
                    </a:lnTo>
                    <a:cubicBezTo>
                      <a:pt x="1253489" y="0"/>
                      <a:pt x="1281535" y="12067"/>
                      <a:pt x="1301662" y="33397"/>
                    </a:cubicBezTo>
                    <a:cubicBezTo>
                      <a:pt x="1321790" y="54727"/>
                      <a:pt x="1332211" y="83425"/>
                      <a:pt x="1330459" y="112700"/>
                    </a:cubicBezTo>
                    <a:lnTo>
                      <a:pt x="1330459" y="19223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>
                <a:off x="1513249" y="5722420"/>
                <a:ext cx="1328707" cy="3825530"/>
              </a:xfrm>
              <a:custGeom>
                <a:avLst/>
                <a:gdLst/>
                <a:ahLst/>
                <a:cxnLst/>
                <a:rect r="r" b="b" t="t" l="l"/>
                <a:pathLst>
                  <a:path h="3825530" w="1328707">
                    <a:moveTo>
                      <a:pt x="0" y="3825530"/>
                    </a:moveTo>
                    <a:lnTo>
                      <a:pt x="0" y="106297"/>
                    </a:lnTo>
                    <a:cubicBezTo>
                      <a:pt x="0" y="78105"/>
                      <a:pt x="11199" y="51068"/>
                      <a:pt x="31134" y="31134"/>
                    </a:cubicBezTo>
                    <a:cubicBezTo>
                      <a:pt x="51068" y="11199"/>
                      <a:pt x="78105" y="0"/>
                      <a:pt x="106297" y="0"/>
                    </a:cubicBezTo>
                    <a:lnTo>
                      <a:pt x="1222410" y="0"/>
                    </a:lnTo>
                    <a:cubicBezTo>
                      <a:pt x="1250602" y="0"/>
                      <a:pt x="1277639" y="11199"/>
                      <a:pt x="1297573" y="31133"/>
                    </a:cubicBezTo>
                    <a:cubicBezTo>
                      <a:pt x="1317508" y="51068"/>
                      <a:pt x="1328707" y="78105"/>
                      <a:pt x="1328707" y="106297"/>
                    </a:cubicBezTo>
                    <a:lnTo>
                      <a:pt x="1328707" y="38255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>
                <a:off x="3026499" y="3812830"/>
                <a:ext cx="1328706" cy="5735120"/>
              </a:xfrm>
              <a:custGeom>
                <a:avLst/>
                <a:gdLst/>
                <a:ahLst/>
                <a:cxnLst/>
                <a:rect r="r" b="b" t="t" l="l"/>
                <a:pathLst>
                  <a:path h="5735120" w="1328706">
                    <a:moveTo>
                      <a:pt x="0" y="5735120"/>
                    </a:moveTo>
                    <a:lnTo>
                      <a:pt x="0" y="106297"/>
                    </a:lnTo>
                    <a:cubicBezTo>
                      <a:pt x="0" y="78105"/>
                      <a:pt x="11199" y="51068"/>
                      <a:pt x="31133" y="31133"/>
                    </a:cubicBezTo>
                    <a:cubicBezTo>
                      <a:pt x="51068" y="11199"/>
                      <a:pt x="78105" y="0"/>
                      <a:pt x="106296" y="0"/>
                    </a:cubicBezTo>
                    <a:lnTo>
                      <a:pt x="1222410" y="0"/>
                    </a:lnTo>
                    <a:cubicBezTo>
                      <a:pt x="1281116" y="0"/>
                      <a:pt x="1328706" y="47591"/>
                      <a:pt x="1328706" y="106297"/>
                    </a:cubicBezTo>
                    <a:lnTo>
                      <a:pt x="1328706" y="573512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>
                <a:off x="4539748" y="1903240"/>
                <a:ext cx="1328707" cy="7644710"/>
              </a:xfrm>
              <a:custGeom>
                <a:avLst/>
                <a:gdLst/>
                <a:ahLst/>
                <a:cxnLst/>
                <a:rect r="r" b="b" t="t" l="l"/>
                <a:pathLst>
                  <a:path h="7644710" w="1328707">
                    <a:moveTo>
                      <a:pt x="0" y="7644710"/>
                    </a:moveTo>
                    <a:lnTo>
                      <a:pt x="0" y="106296"/>
                    </a:lnTo>
                    <a:cubicBezTo>
                      <a:pt x="0" y="47591"/>
                      <a:pt x="47590" y="0"/>
                      <a:pt x="106296" y="0"/>
                    </a:cubicBezTo>
                    <a:lnTo>
                      <a:pt x="1222410" y="0"/>
                    </a:lnTo>
                    <a:cubicBezTo>
                      <a:pt x="1281116" y="0"/>
                      <a:pt x="1328707" y="47591"/>
                      <a:pt x="1328707" y="106296"/>
                    </a:cubicBezTo>
                    <a:lnTo>
                      <a:pt x="1328707" y="764471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>
                <a:off x="6052997" y="-6350"/>
                <a:ext cx="1328706" cy="9554300"/>
              </a:xfrm>
              <a:custGeom>
                <a:avLst/>
                <a:gdLst/>
                <a:ahLst/>
                <a:cxnLst/>
                <a:rect r="r" b="b" t="t" l="l"/>
                <a:pathLst>
                  <a:path h="9554300" w="1328706">
                    <a:moveTo>
                      <a:pt x="0" y="9554300"/>
                    </a:moveTo>
                    <a:lnTo>
                      <a:pt x="0" y="106297"/>
                    </a:lnTo>
                    <a:cubicBezTo>
                      <a:pt x="0" y="78105"/>
                      <a:pt x="11199" y="51068"/>
                      <a:pt x="31134" y="31134"/>
                    </a:cubicBezTo>
                    <a:cubicBezTo>
                      <a:pt x="51068" y="11199"/>
                      <a:pt x="78105" y="0"/>
                      <a:pt x="106297" y="0"/>
                    </a:cubicBezTo>
                    <a:lnTo>
                      <a:pt x="1222410" y="0"/>
                    </a:lnTo>
                    <a:cubicBezTo>
                      <a:pt x="1250601" y="0"/>
                      <a:pt x="1277638" y="11199"/>
                      <a:pt x="1297573" y="31134"/>
                    </a:cubicBezTo>
                    <a:cubicBezTo>
                      <a:pt x="1317507" y="51068"/>
                      <a:pt x="1328707" y="78105"/>
                      <a:pt x="1328707" y="106297"/>
                    </a:cubicBezTo>
                    <a:lnTo>
                      <a:pt x="1328707" y="95543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>
                <a:off x="0" y="8586805"/>
                <a:ext cx="1328707" cy="961144"/>
              </a:xfrm>
              <a:custGeom>
                <a:avLst/>
                <a:gdLst/>
                <a:ahLst/>
                <a:cxnLst/>
                <a:rect r="r" b="b" t="t" l="l"/>
                <a:pathLst>
                  <a:path h="961144" w="1328707">
                    <a:moveTo>
                      <a:pt x="0" y="0"/>
                    </a:moveTo>
                    <a:lnTo>
                      <a:pt x="1328707" y="0"/>
                    </a:lnTo>
                    <a:lnTo>
                      <a:pt x="1328707" y="961145"/>
                    </a:lnTo>
                    <a:lnTo>
                      <a:pt x="0" y="96114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>
                <a:off x="1513249" y="6487526"/>
                <a:ext cx="1328707" cy="3060424"/>
              </a:xfrm>
              <a:custGeom>
                <a:avLst/>
                <a:gdLst/>
                <a:ahLst/>
                <a:cxnLst/>
                <a:rect r="r" b="b" t="t" l="l"/>
                <a:pathLst>
                  <a:path h="3060424" w="1328707">
                    <a:moveTo>
                      <a:pt x="0" y="0"/>
                    </a:moveTo>
                    <a:lnTo>
                      <a:pt x="1328707" y="0"/>
                    </a:lnTo>
                    <a:lnTo>
                      <a:pt x="1328707" y="3060424"/>
                    </a:lnTo>
                    <a:lnTo>
                      <a:pt x="0" y="306042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3" id="33"/>
              <p:cNvSpPr/>
              <p:nvPr/>
            </p:nvSpPr>
            <p:spPr>
              <a:xfrm>
                <a:off x="3026499" y="4768683"/>
                <a:ext cx="1328706" cy="4779266"/>
              </a:xfrm>
              <a:custGeom>
                <a:avLst/>
                <a:gdLst/>
                <a:ahLst/>
                <a:cxnLst/>
                <a:rect r="r" b="b" t="t" l="l"/>
                <a:pathLst>
                  <a:path h="4779266" w="1328706">
                    <a:moveTo>
                      <a:pt x="0" y="0"/>
                    </a:moveTo>
                    <a:lnTo>
                      <a:pt x="1328706" y="0"/>
                    </a:lnTo>
                    <a:lnTo>
                      <a:pt x="1328706" y="4779267"/>
                    </a:lnTo>
                    <a:lnTo>
                      <a:pt x="0" y="477926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4" id="34"/>
              <p:cNvSpPr/>
              <p:nvPr/>
            </p:nvSpPr>
            <p:spPr>
              <a:xfrm>
                <a:off x="4539748" y="3432182"/>
                <a:ext cx="1328707" cy="6115768"/>
              </a:xfrm>
              <a:custGeom>
                <a:avLst/>
                <a:gdLst/>
                <a:ahLst/>
                <a:cxnLst/>
                <a:rect r="r" b="b" t="t" l="l"/>
                <a:pathLst>
                  <a:path h="6115768" w="1328707">
                    <a:moveTo>
                      <a:pt x="0" y="0"/>
                    </a:moveTo>
                    <a:lnTo>
                      <a:pt x="1328707" y="0"/>
                    </a:lnTo>
                    <a:lnTo>
                      <a:pt x="1328707" y="6115768"/>
                    </a:lnTo>
                    <a:lnTo>
                      <a:pt x="0" y="611576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5" id="35"/>
              <p:cNvSpPr/>
              <p:nvPr/>
            </p:nvSpPr>
            <p:spPr>
              <a:xfrm>
                <a:off x="6052997" y="1522338"/>
                <a:ext cx="1328706" cy="8025612"/>
              </a:xfrm>
              <a:custGeom>
                <a:avLst/>
                <a:gdLst/>
                <a:ahLst/>
                <a:cxnLst/>
                <a:rect r="r" b="b" t="t" l="l"/>
                <a:pathLst>
                  <a:path h="8025612" w="1328706">
                    <a:moveTo>
                      <a:pt x="0" y="0"/>
                    </a:moveTo>
                    <a:lnTo>
                      <a:pt x="1328707" y="0"/>
                    </a:lnTo>
                    <a:lnTo>
                      <a:pt x="1328707" y="8025612"/>
                    </a:lnTo>
                    <a:lnTo>
                      <a:pt x="0" y="802561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>
                <a:off x="0" y="9547950"/>
                <a:ext cx="1328707" cy="0"/>
              </a:xfrm>
              <a:custGeom>
                <a:avLst/>
                <a:gdLst/>
                <a:ahLst/>
                <a:cxnLst/>
                <a:rect r="r" b="b" t="t" l="l"/>
                <a:pathLst>
                  <a:path h="0" w="1328707">
                    <a:moveTo>
                      <a:pt x="0" y="0"/>
                    </a:moveTo>
                    <a:lnTo>
                      <a:pt x="1328707" y="0"/>
                    </a:lnTo>
                    <a:lnTo>
                      <a:pt x="13287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0B5BF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>
                <a:off x="1513249" y="8017738"/>
                <a:ext cx="1328707" cy="1530212"/>
              </a:xfrm>
              <a:custGeom>
                <a:avLst/>
                <a:gdLst/>
                <a:ahLst/>
                <a:cxnLst/>
                <a:rect r="r" b="b" t="t" l="l"/>
                <a:pathLst>
                  <a:path h="1530212" w="1328707">
                    <a:moveTo>
                      <a:pt x="0" y="0"/>
                    </a:moveTo>
                    <a:lnTo>
                      <a:pt x="1328707" y="0"/>
                    </a:lnTo>
                    <a:lnTo>
                      <a:pt x="1328707" y="1530212"/>
                    </a:lnTo>
                    <a:lnTo>
                      <a:pt x="0" y="1530212"/>
                    </a:lnTo>
                    <a:close/>
                  </a:path>
                </a:pathLst>
              </a:custGeom>
              <a:solidFill>
                <a:srgbClr val="10B5BF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>
                <a:off x="3026499" y="6680390"/>
                <a:ext cx="1328706" cy="2867560"/>
              </a:xfrm>
              <a:custGeom>
                <a:avLst/>
                <a:gdLst/>
                <a:ahLst/>
                <a:cxnLst/>
                <a:rect r="r" b="b" t="t" l="l"/>
                <a:pathLst>
                  <a:path h="2867560" w="1328706">
                    <a:moveTo>
                      <a:pt x="0" y="0"/>
                    </a:moveTo>
                    <a:lnTo>
                      <a:pt x="1328706" y="0"/>
                    </a:lnTo>
                    <a:lnTo>
                      <a:pt x="1328706" y="2867560"/>
                    </a:lnTo>
                    <a:lnTo>
                      <a:pt x="0" y="2867560"/>
                    </a:lnTo>
                    <a:close/>
                  </a:path>
                </a:pathLst>
              </a:custGeom>
              <a:solidFill>
                <a:srgbClr val="10B5BF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>
                <a:off x="4539748" y="6107831"/>
                <a:ext cx="1328707" cy="3440119"/>
              </a:xfrm>
              <a:custGeom>
                <a:avLst/>
                <a:gdLst/>
                <a:ahLst/>
                <a:cxnLst/>
                <a:rect r="r" b="b" t="t" l="l"/>
                <a:pathLst>
                  <a:path h="3440119" w="1328707">
                    <a:moveTo>
                      <a:pt x="0" y="0"/>
                    </a:moveTo>
                    <a:lnTo>
                      <a:pt x="1328707" y="0"/>
                    </a:lnTo>
                    <a:lnTo>
                      <a:pt x="1328707" y="3440119"/>
                    </a:lnTo>
                    <a:lnTo>
                      <a:pt x="0" y="3440119"/>
                    </a:lnTo>
                    <a:close/>
                  </a:path>
                </a:pathLst>
              </a:custGeom>
              <a:solidFill>
                <a:srgbClr val="10B5BF"/>
              </a:solidFill>
            </p:spPr>
          </p:sp>
          <p:sp>
            <p:nvSpPr>
              <p:cNvPr name="Freeform 40" id="40"/>
              <p:cNvSpPr/>
              <p:nvPr/>
            </p:nvSpPr>
            <p:spPr>
              <a:xfrm>
                <a:off x="6052997" y="5344058"/>
                <a:ext cx="1328706" cy="4203892"/>
              </a:xfrm>
              <a:custGeom>
                <a:avLst/>
                <a:gdLst/>
                <a:ahLst/>
                <a:cxnLst/>
                <a:rect r="r" b="b" t="t" l="l"/>
                <a:pathLst>
                  <a:path h="4203892" w="1328706">
                    <a:moveTo>
                      <a:pt x="0" y="0"/>
                    </a:moveTo>
                    <a:lnTo>
                      <a:pt x="1328707" y="0"/>
                    </a:lnTo>
                    <a:lnTo>
                      <a:pt x="1328707" y="4203892"/>
                    </a:lnTo>
                    <a:lnTo>
                      <a:pt x="0" y="4203892"/>
                    </a:lnTo>
                    <a:close/>
                  </a:path>
                </a:pathLst>
              </a:custGeom>
              <a:solidFill>
                <a:srgbClr val="10B5BF"/>
              </a:solidFill>
            </p:spPr>
          </p:sp>
        </p:grpSp>
      </p:grpSp>
      <p:sp>
        <p:nvSpPr>
          <p:cNvPr name="TextBox 41" id="41"/>
          <p:cNvSpPr txBox="true"/>
          <p:nvPr/>
        </p:nvSpPr>
        <p:spPr>
          <a:xfrm rot="0">
            <a:off x="1714500" y="5303258"/>
            <a:ext cx="1381512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Arimo"/>
              </a:rPr>
              <a:t>PROSES ENCODING MENGGUNAKAN MODULO-2 DIVISON.</a:t>
            </a:r>
          </a:p>
          <a:p>
            <a:pPr algn="just" marL="582932" indent="-29146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Arimo"/>
              </a:rPr>
              <a:t>KARAKTERISTIK POLYNOMIAL UNTUK GOLAY CODE :</a:t>
            </a:r>
          </a:p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Arimo"/>
              </a:rPr>
              <a:t>      </a:t>
            </a:r>
            <a:r>
              <a:rPr lang="en-US" sz="2700">
                <a:solidFill>
                  <a:srgbClr val="FFFFFF"/>
                </a:solidFill>
                <a:latin typeface="Arimo"/>
              </a:rPr>
              <a:t>X^11 + X^9 + X^7 + X^6 + X^5 + X + 1, COEFFICIENTS AE3H (101011100011).</a:t>
            </a:r>
          </a:p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Arimo"/>
              </a:rPr>
              <a:t>      X^11 + X^10 + X^6 + X^5 + X^4 + X^2 + 1, COEFFICIENTS C75H (110001110101).</a:t>
            </a:r>
          </a:p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Arimo"/>
              </a:rPr>
              <a:t>      AE3H ADALAH BIT-REVERSED DARI C75H JADI CUKUP PILIH SALAH SATU SAJA.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7812" r="0" b="78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295668" y="2637502"/>
            <a:ext cx="15696664" cy="5011995"/>
            <a:chOff x="0" y="0"/>
            <a:chExt cx="20928886" cy="668266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321944"/>
              <a:ext cx="20928886" cy="69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9540"/>
              <a:ext cx="20928886" cy="135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70"/>
                </a:lnSpc>
              </a:pPr>
              <a:r>
                <a:rPr lang="en-US" sz="6725">
                  <a:solidFill>
                    <a:srgbClr val="FFFFFF"/>
                  </a:solidFill>
                  <a:latin typeface="Poppins Medium Bold"/>
                </a:rPr>
                <a:t>LANGKAH ENCODING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00937"/>
              <a:ext cx="20928886" cy="256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55"/>
                </a:lnSpc>
              </a:pPr>
              <a:r>
                <a:rPr lang="en-US" sz="1825">
                  <a:solidFill>
                    <a:srgbClr val="FFFFFF"/>
                  </a:solidFill>
                  <a:latin typeface="Poppins Light"/>
                </a:rPr>
                <a:t>1.Data yang akan di-encode (information bit) dibalik (reverse), sehingga LSB menjadi di depan.</a:t>
              </a:r>
            </a:p>
            <a:p>
              <a:pPr algn="just">
                <a:lnSpc>
                  <a:spcPts val="2555"/>
                </a:lnSpc>
              </a:pPr>
              <a:r>
                <a:rPr lang="en-US" sz="1825">
                  <a:solidFill>
                    <a:srgbClr val="FFFFFF"/>
                  </a:solidFill>
                  <a:latin typeface="Poppins Light"/>
                </a:rPr>
                <a:t>2.Tambahkan 11 bit 0 di paling kanan dari information bit.</a:t>
              </a:r>
            </a:p>
            <a:p>
              <a:pPr algn="just">
                <a:lnSpc>
                  <a:spcPts val="2555"/>
                </a:lnSpc>
              </a:pPr>
              <a:r>
                <a:rPr lang="en-US" sz="1825">
                  <a:solidFill>
                    <a:srgbClr val="FFFFFF"/>
                  </a:solidFill>
                  <a:latin typeface="Poppins Light"/>
                </a:rPr>
                <a:t>3.Lakukan pembagian pada polynomial menggunakan operasi exclusive-OR atau XOR. Sisa dari pembagian ini merupakan check bits.</a:t>
              </a:r>
            </a:p>
            <a:p>
              <a:pPr algn="just">
                <a:lnSpc>
                  <a:spcPts val="2555"/>
                </a:lnSpc>
              </a:pPr>
              <a:r>
                <a:rPr lang="en-US" sz="1825">
                  <a:solidFill>
                    <a:srgbClr val="FFFFFF"/>
                  </a:solidFill>
                  <a:latin typeface="Poppins Light"/>
                </a:rPr>
                <a:t>4.Check bit dan information bit dibalik.</a:t>
              </a:r>
            </a:p>
            <a:p>
              <a:pPr algn="just">
                <a:lnSpc>
                  <a:spcPts val="2555"/>
                </a:lnSpc>
              </a:pPr>
              <a:r>
                <a:rPr lang="en-US" sz="1825">
                  <a:solidFill>
                    <a:srgbClr val="FFFFFF"/>
                  </a:solidFill>
                  <a:latin typeface="Poppins Light"/>
                </a:rPr>
                <a:t>5.Tambahkan bit parity di paling kiri (untuk g24). </a:t>
              </a:r>
            </a:p>
            <a:p>
              <a:pPr algn="just">
                <a:lnSpc>
                  <a:spcPts val="2555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-1333500" y="4920320"/>
            <a:ext cx="5172523" cy="395698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320933" y="561975"/>
            <a:ext cx="1164613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1"/>
              </a:lnSpc>
            </a:pPr>
            <a:r>
              <a:rPr lang="en-US" sz="6001">
                <a:solidFill>
                  <a:srgbClr val="FFFFFF"/>
                </a:solidFill>
                <a:latin typeface="Poppins Medium Bold"/>
              </a:rPr>
              <a:t>CONTOH ENCODING (1)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479821">
            <a:off x="15150916" y="-1443024"/>
            <a:ext cx="3477167" cy="2886049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59235" y="2091395"/>
            <a:ext cx="7884765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Soal encoding :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Lakukan proses encoding pada data 555h = 010101010101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</a:p>
          <a:p>
            <a:pPr>
              <a:lnSpc>
                <a:spcPts val="2520"/>
              </a:lnSpc>
              <a:spcBef>
                <a:spcPct val="0"/>
              </a:spcBef>
            </a:pP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Jawab: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1.Reverse data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010101010101 -&gt; </a:t>
            </a:r>
            <a:r>
              <a:rPr lang="en-US" sz="2100">
                <a:solidFill>
                  <a:srgbClr val="10B5BF"/>
                </a:solidFill>
                <a:latin typeface="Poppins Medium Bold"/>
              </a:rPr>
              <a:t>101010101010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2.Tambah 11 bit 0 di kanan data</a:t>
            </a:r>
          </a:p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101010101010 </a:t>
            </a:r>
            <a:r>
              <a:rPr lang="en-US" sz="2100">
                <a:solidFill>
                  <a:srgbClr val="FF3131"/>
                </a:solidFill>
                <a:latin typeface="Poppins Medium Bold"/>
              </a:rPr>
              <a:t>00000000000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5471" y="3505858"/>
            <a:ext cx="6931521" cy="565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3.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Pembagian XOR (Hanya butuh sisa bagi)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101010101010</a:t>
            </a:r>
            <a:r>
              <a:rPr lang="en-US" sz="2100">
                <a:solidFill>
                  <a:srgbClr val="FF3131"/>
                </a:solidFill>
                <a:latin typeface="Poppins Medium Bold"/>
              </a:rPr>
              <a:t>00000000000 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</a:t>
            </a:r>
            <a:r>
              <a:rPr lang="en-US" sz="2100">
                <a:solidFill>
                  <a:srgbClr val="CB6CE6"/>
                </a:solidFill>
                <a:latin typeface="Poppins Medium Bold"/>
              </a:rPr>
              <a:t>101011100011 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-------------------------- XOR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1001001</a:t>
            </a:r>
            <a:r>
              <a:rPr lang="en-US" sz="2100">
                <a:solidFill>
                  <a:srgbClr val="FF3131"/>
                </a:solidFill>
                <a:latin typeface="Poppins Medium Bold"/>
              </a:rPr>
              <a:t>00000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</a:t>
            </a:r>
            <a:r>
              <a:rPr lang="en-US" sz="2100">
                <a:solidFill>
                  <a:srgbClr val="CB6CE6"/>
                </a:solidFill>
                <a:latin typeface="Poppins Medium Bold"/>
              </a:rPr>
              <a:t>101011100011      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------------      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1111000011</a:t>
            </a:r>
            <a:r>
              <a:rPr lang="en-US" sz="2100">
                <a:solidFill>
                  <a:srgbClr val="FF3131"/>
                </a:solidFill>
                <a:latin typeface="Poppins Medium Bold"/>
              </a:rPr>
              <a:t>00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</a:t>
            </a:r>
            <a:r>
              <a:rPr lang="en-US" sz="2100">
                <a:solidFill>
                  <a:srgbClr val="CB6CE6"/>
                </a:solidFill>
                <a:latin typeface="Poppins Medium Bold"/>
              </a:rPr>
              <a:t>101011100011 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------------    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10111101111</a:t>
            </a:r>
            <a:r>
              <a:rPr lang="en-US" sz="2100">
                <a:solidFill>
                  <a:srgbClr val="FF3131"/>
                </a:solidFill>
                <a:latin typeface="Poppins Medium Bold"/>
              </a:rPr>
              <a:t>0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</a:t>
            </a:r>
            <a:r>
              <a:rPr lang="en-US" sz="2100">
                <a:solidFill>
                  <a:srgbClr val="CB6CE6"/>
                </a:solidFill>
                <a:latin typeface="Poppins Medium Bold"/>
              </a:rPr>
              <a:t>101011100011      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------------   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100111101</a:t>
            </a:r>
            <a:r>
              <a:rPr lang="en-US" sz="2100">
                <a:solidFill>
                  <a:srgbClr val="FF3131"/>
                </a:solidFill>
                <a:latin typeface="Poppins Medium Bold"/>
              </a:rPr>
              <a:t>000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</a:t>
            </a:r>
            <a:r>
              <a:rPr lang="en-US" sz="2100">
                <a:solidFill>
                  <a:srgbClr val="CB6CE6"/>
                </a:solidFill>
                <a:latin typeface="Poppins Medium Bold"/>
              </a:rPr>
              <a:t>101011100011     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   ------------                      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                         01100001011 &lt;-- checkbits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2761" y="2690278"/>
            <a:ext cx="497532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 Medium Bold"/>
              </a:rPr>
              <a:t>dengan division </a:t>
            </a:r>
            <a:r>
              <a:rPr lang="en-US" sz="2100">
                <a:solidFill>
                  <a:srgbClr val="FFFFFF"/>
                </a:solidFill>
                <a:latin typeface="Poppins Medium Bold"/>
              </a:rPr>
              <a:t>AE3h (101011100011).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768" y="1619911"/>
            <a:ext cx="14835430" cy="3471198"/>
            <a:chOff x="0" y="0"/>
            <a:chExt cx="19780573" cy="462826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009139"/>
              <a:ext cx="19780573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60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9780573" cy="3578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6840"/>
                </a:lnSpc>
              </a:pPr>
              <a:r>
                <a:rPr lang="en-US" sz="5700">
                  <a:solidFill>
                    <a:srgbClr val="FFFFFF"/>
                  </a:solidFill>
                  <a:latin typeface="Poppins Medium Bold"/>
                </a:rPr>
                <a:t>Reverse data informasi dan check bit</a:t>
              </a:r>
            </a:p>
            <a:p>
              <a:pPr>
                <a:lnSpc>
                  <a:spcPts val="4799"/>
                </a:lnSpc>
              </a:pPr>
              <a:r>
                <a:rPr lang="en-US" sz="3999">
                  <a:solidFill>
                    <a:srgbClr val="FFFFFF"/>
                  </a:solidFill>
                  <a:latin typeface="Poppins Medium Bold"/>
                </a:rPr>
                <a:t>Informasi : </a:t>
              </a:r>
              <a:r>
                <a:rPr lang="en-US" sz="3999">
                  <a:solidFill>
                    <a:srgbClr val="10B5BF"/>
                  </a:solidFill>
                  <a:latin typeface="Poppins Medium Bold"/>
                </a:rPr>
                <a:t>101010101010</a:t>
              </a:r>
              <a:r>
                <a:rPr lang="en-US" sz="3999">
                  <a:solidFill>
                    <a:srgbClr val="FFFFFF"/>
                  </a:solidFill>
                  <a:latin typeface="Poppins Medium Bold"/>
                </a:rPr>
                <a:t> -&gt; </a:t>
              </a:r>
              <a:r>
                <a:rPr lang="en-US" sz="3999">
                  <a:solidFill>
                    <a:srgbClr val="10B5BF"/>
                  </a:solidFill>
                  <a:latin typeface="Poppins Medium Bold"/>
                </a:rPr>
                <a:t>010101010101</a:t>
              </a:r>
            </a:p>
            <a:p>
              <a:pPr>
                <a:lnSpc>
                  <a:spcPts val="4800"/>
                </a:lnSpc>
              </a:pPr>
              <a:r>
                <a:rPr lang="en-US" sz="4000">
                  <a:solidFill>
                    <a:srgbClr val="FFFFFF"/>
                  </a:solidFill>
                  <a:latin typeface="Poppins Medium Bold"/>
                </a:rPr>
                <a:t>Check Bit : </a:t>
              </a:r>
              <a:r>
                <a:rPr lang="en-US" sz="4000">
                  <a:solidFill>
                    <a:srgbClr val="FF3131"/>
                  </a:solidFill>
                  <a:latin typeface="Poppins Medium Bold"/>
                </a:rPr>
                <a:t>01100001011 </a:t>
              </a:r>
              <a:r>
                <a:rPr lang="en-US" sz="4000">
                  <a:solidFill>
                    <a:srgbClr val="FFFFFF"/>
                  </a:solidFill>
                  <a:latin typeface="Poppins Medium Bold"/>
                </a:rPr>
                <a:t>-&gt; </a:t>
              </a:r>
              <a:r>
                <a:rPr lang="en-US" sz="4000">
                  <a:solidFill>
                    <a:srgbClr val="FF3131"/>
                  </a:solidFill>
                  <a:latin typeface="Poppins Medium Bold"/>
                </a:rPr>
                <a:t>11010000110</a:t>
              </a:r>
            </a:p>
            <a:p>
              <a:pPr>
                <a:lnSpc>
                  <a:spcPts val="4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91768" y="4529347"/>
            <a:ext cx="5698484" cy="1958922"/>
            <a:chOff x="0" y="0"/>
            <a:chExt cx="7597978" cy="261189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7597978" cy="8029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741"/>
                </a:lnSpc>
              </a:pPr>
              <a:r>
                <a:rPr lang="en-US" sz="3951">
                  <a:solidFill>
                    <a:srgbClr val="FFFFFF"/>
                  </a:solidFill>
                  <a:latin typeface="Poppins Medium"/>
                </a:rPr>
                <a:t>MAKA: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96632"/>
              <a:ext cx="7597978" cy="547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549"/>
                </a:lnSpc>
              </a:pPr>
            </a:p>
          </p:txBody>
        </p:sp>
        <p:sp>
          <p:nvSpPr>
            <p:cNvPr name="AutoShape 8" id="8"/>
            <p:cNvSpPr/>
            <p:nvPr/>
          </p:nvSpPr>
          <p:spPr>
            <a:xfrm rot="0">
              <a:off x="0" y="1406874"/>
              <a:ext cx="7597978" cy="0"/>
            </a:xfrm>
            <a:prstGeom prst="line">
              <a:avLst/>
            </a:prstGeom>
            <a:ln cap="rnd" w="33456">
              <a:solidFill>
                <a:srgbClr val="10B5BF"/>
              </a:solidFill>
              <a:prstDash val="solid"/>
              <a:headEnd type="none" len="sm" w="sm"/>
              <a:tailEnd type="none" len="sm" w="sm"/>
            </a:ln>
          </p:spPr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91768" y="7055559"/>
            <a:ext cx="6471427" cy="1933202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9316543" y="7569978"/>
            <a:ext cx="7208299" cy="1688322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291768" y="6356888"/>
            <a:ext cx="1536888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 Medium Bold"/>
              </a:rPr>
              <a:t>G[23,12,11] = 11010000110010101010101</a:t>
            </a:r>
          </a:p>
          <a:p>
            <a:pPr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 Medium Bold"/>
              </a:rPr>
              <a:t>                                                                      G[24,12,12] = 011010000110010101010101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3131" y="8585325"/>
            <a:ext cx="7863789" cy="672975"/>
            <a:chOff x="0" y="0"/>
            <a:chExt cx="10485051" cy="89729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0" y="0"/>
              <a:ext cx="517171" cy="897299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1913875" y="0"/>
              <a:ext cx="626478" cy="897299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3821618" y="0"/>
              <a:ext cx="673790" cy="897299"/>
            </a:xfrm>
            <a:prstGeom prst="rect">
              <a:avLst/>
            </a:prstGeom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7813408" y="0"/>
              <a:ext cx="691736" cy="897299"/>
            </a:xfrm>
            <a:prstGeom prst="rect">
              <a:avLst/>
            </a:prstGeom>
          </p:spPr>
        </p:pic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5964957" y="0"/>
              <a:ext cx="394812" cy="897299"/>
            </a:xfrm>
            <a:prstGeom prst="rect">
              <a:avLst/>
            </a:prstGeom>
          </p:spPr>
        </p:pic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9786046" y="99147"/>
              <a:ext cx="699006" cy="699006"/>
            </a:xfrm>
            <a:prstGeom prst="rect">
              <a:avLst/>
            </a:prstGeom>
          </p:spPr>
        </p:pic>
      </p:grpSp>
      <p:sp>
        <p:nvSpPr>
          <p:cNvPr name="TextBox 9" id="9"/>
          <p:cNvSpPr txBox="true"/>
          <p:nvPr/>
        </p:nvSpPr>
        <p:spPr>
          <a:xfrm rot="0">
            <a:off x="1691353" y="860109"/>
            <a:ext cx="1065252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Poppins Medium Bold"/>
              </a:rPr>
              <a:t>CONTOH ENCODING (2)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353" y="2172820"/>
            <a:ext cx="8259366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 Medium Bold"/>
              </a:rPr>
              <a:t>Soal encoding :</a:t>
            </a:r>
          </a:p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 Medium Bold"/>
              </a:rPr>
              <a:t>Lakukan proses encoding pada data 555h = 010101010101</a:t>
            </a:r>
          </a:p>
          <a:p>
            <a:pPr algn="just">
              <a:lnSpc>
                <a:spcPts val="2640"/>
              </a:lnSpc>
              <a:spcBef>
                <a:spcPct val="0"/>
              </a:spcBef>
            </a:pPr>
          </a:p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 Medium Bold"/>
              </a:rPr>
              <a:t>Jawab:</a:t>
            </a:r>
          </a:p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 Medium Bold"/>
              </a:rPr>
              <a:t>1. Tambah 11 bit 0 di kanan data</a:t>
            </a:r>
          </a:p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 Medium Bold"/>
              </a:rPr>
              <a:t>010101010101 </a:t>
            </a:r>
            <a:r>
              <a:rPr lang="en-US" sz="2200">
                <a:solidFill>
                  <a:srgbClr val="FF3131"/>
                </a:solidFill>
                <a:latin typeface="Poppins Medium Bold"/>
              </a:rPr>
              <a:t>00000000000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1353" y="4173070"/>
            <a:ext cx="524574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 Medium Bold"/>
              </a:rPr>
              <a:t>dengan division </a:t>
            </a:r>
            <a:r>
              <a:rPr lang="en-US" sz="2200">
                <a:solidFill>
                  <a:srgbClr val="FFFFFF"/>
                </a:solidFill>
                <a:latin typeface="Poppins Medium Bold"/>
              </a:rPr>
              <a:t>C75h (110001110101).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5929" y="2182345"/>
            <a:ext cx="6096595" cy="772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Pembagian XOR (Hanya butuh sisa bagi)                 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010101010101</a:t>
            </a:r>
            <a:r>
              <a:rPr lang="en-US" sz="1800">
                <a:solidFill>
                  <a:srgbClr val="FF3131"/>
                </a:solidFill>
                <a:latin typeface="Poppins Medium Bold"/>
              </a:rPr>
              <a:t>00000000000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110001110101    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---------------------------------------- 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100100100000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110001110101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----------------------------------------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10101010101</a:t>
            </a:r>
            <a:r>
              <a:rPr lang="en-US" sz="1800">
                <a:solidFill>
                  <a:srgbClr val="FF3131"/>
                </a:solidFill>
                <a:latin typeface="Poppins Medium Bold"/>
              </a:rPr>
              <a:t>0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110001110101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----------------------------------------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11011011111</a:t>
            </a:r>
            <a:r>
              <a:rPr lang="en-US" sz="1800">
                <a:solidFill>
                  <a:srgbClr val="FF3131"/>
                </a:solidFill>
                <a:latin typeface="Poppins Medium Bold"/>
              </a:rPr>
              <a:t>0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110001110101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----------------------------------------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111001011</a:t>
            </a:r>
            <a:r>
              <a:rPr lang="en-US" sz="1800">
                <a:solidFill>
                  <a:srgbClr val="FF3131"/>
                </a:solidFill>
                <a:latin typeface="Poppins Medium Bold"/>
              </a:rPr>
              <a:t>000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110001110101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----------------------------------------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    1000101101</a:t>
            </a:r>
            <a:r>
              <a:rPr lang="en-US" sz="1800">
                <a:solidFill>
                  <a:srgbClr val="FF3131"/>
                </a:solidFill>
                <a:latin typeface="Poppins Medium Bold"/>
              </a:rPr>
              <a:t>00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    110001110101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----------------------------------------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      10011000001</a:t>
            </a:r>
            <a:r>
              <a:rPr lang="en-US" sz="1800">
                <a:solidFill>
                  <a:srgbClr val="FF3131"/>
                </a:solidFill>
                <a:latin typeface="Poppins Medium Bold"/>
              </a:rPr>
              <a:t>0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      110001110101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----------------------------------------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        101111101110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        110001110101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----------------------------------------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          111100110110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          110001110101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----------------------------------------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 Medium Bold"/>
              </a:rPr>
              <a:t>                        11010000110  CheckBit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1950" y="322246"/>
            <a:ext cx="616768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Poppins Medium Bold"/>
              </a:rPr>
              <a:t>Langkah Decoding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70303" y="379569"/>
            <a:ext cx="12655223" cy="1003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6436" indent="-383218" lvl="1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FFFFFF"/>
                </a:solidFill>
                <a:latin typeface="Poppins Light"/>
              </a:rPr>
              <a:t>Lakukan bit-reversed pada codeword / data dan check bit yang akan didecode. Balikan posisi antara codeword / data dengan check bit.</a:t>
            </a:r>
          </a:p>
          <a:p>
            <a:pPr algn="just" marL="766436" indent="-383218" lvl="1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FFFFFF"/>
                </a:solidFill>
                <a:latin typeface="Poppins Light"/>
              </a:rPr>
              <a:t>Lakukan pembagian pada polynomial menggunakan operasi exclusive-OR atau XOR. Sisa dari pembagian ini disebut syndrome.</a:t>
            </a:r>
          </a:p>
          <a:p>
            <a:pPr algn="just" marL="766436" indent="-383218" lvl="1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FFFFFF"/>
                </a:solidFill>
                <a:latin typeface="Poppins Light"/>
              </a:rPr>
              <a:t>Jika syndrome adalah 0 maka tidak terdapat error pada codeword tersebut dan merupakan Golay codeword yang valid. Jika syndrome tidak bernilai 0 maka terdapat error.</a:t>
            </a:r>
          </a:p>
          <a:p>
            <a:pPr algn="just" marL="766436" indent="-383218" lvl="1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FFFFFF"/>
                </a:solidFill>
                <a:latin typeface="Poppins Light"/>
              </a:rPr>
              <a:t>Jika syndrome adalah kurang dari atau sama dengan 3 maka dapat dilakukan error correction.</a:t>
            </a:r>
          </a:p>
          <a:p>
            <a:pPr algn="just" marL="766436" indent="-383218" lvl="1">
              <a:lnSpc>
                <a:spcPts val="4969"/>
              </a:lnSpc>
              <a:buFont typeface="Arial"/>
              <a:buChar char="•"/>
            </a:pPr>
            <a:r>
              <a:rPr lang="en-US" sz="3549">
                <a:solidFill>
                  <a:srgbClr val="FFFFFF"/>
                </a:solidFill>
                <a:latin typeface="Poppins Light"/>
              </a:rPr>
              <a:t>Jika pada syndrome TERDAPAT NILAI, MAKA Periksa bit syndrome yang didapatkan pada table berikut untuk MENGETAHUI bit mana yang menjadi error.</a:t>
            </a:r>
          </a:p>
          <a:p>
            <a:pPr algn="just">
              <a:lnSpc>
                <a:spcPts val="4969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-5428291">
            <a:off x="830831" y="4928472"/>
            <a:ext cx="8640742" cy="0"/>
          </a:xfrm>
          <a:prstGeom prst="line">
            <a:avLst/>
          </a:prstGeom>
          <a:ln cap="rnd" w="19050">
            <a:solidFill>
              <a:srgbClr val="10B5B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865622" y="1028700"/>
            <a:ext cx="7641615" cy="584583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3581385" y="3951618"/>
            <a:ext cx="1343326" cy="473419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254665" y="1773555"/>
            <a:ext cx="11473137" cy="561594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09056" y="576263"/>
            <a:ext cx="1096435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sz="6100">
                <a:solidFill>
                  <a:srgbClr val="FFFFFF"/>
                </a:solidFill>
                <a:latin typeface="Poppins Medium"/>
              </a:rPr>
              <a:t>Tabel Syndrome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9056" y="6351240"/>
            <a:ext cx="10964355" cy="31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59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09056" y="7675245"/>
            <a:ext cx="1096435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Poppins Light"/>
              </a:rPr>
              <a:t>angka setelah S menujukan letak kesalahan bit error yang terjadi saat pengkodean sehingga dapat diperbaiki error yang terjadi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38415" y="1447800"/>
            <a:ext cx="14811170" cy="0"/>
          </a:xfrm>
          <a:prstGeom prst="line">
            <a:avLst/>
          </a:prstGeom>
          <a:ln cap="rnd" w="19050">
            <a:solidFill>
              <a:srgbClr val="10B5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738415" y="1650855"/>
            <a:ext cx="14811170" cy="653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Soal Decoding :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Lakukan proses encoding pada data 11010000110010101010101</a:t>
            </a:r>
          </a:p>
          <a:p>
            <a:pPr>
              <a:lnSpc>
                <a:spcPts val="4024"/>
              </a:lnSpc>
            </a:pP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Jawab :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reverse dan balikan data</a:t>
            </a:r>
          </a:p>
          <a:p>
            <a:pPr>
              <a:lnSpc>
                <a:spcPts val="4024"/>
              </a:lnSpc>
            </a:pPr>
          </a:p>
          <a:p>
            <a:pPr>
              <a:lnSpc>
                <a:spcPts val="4024"/>
              </a:lnSpc>
            </a:pPr>
          </a:p>
          <a:p>
            <a:pPr>
              <a:lnSpc>
                <a:spcPts val="4024"/>
              </a:lnSpc>
            </a:pPr>
          </a:p>
          <a:p>
            <a:pPr>
              <a:lnSpc>
                <a:spcPts val="4024"/>
              </a:lnSpc>
            </a:pPr>
          </a:p>
          <a:p>
            <a:pPr marL="620712" indent="-310356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Check Bit               : 11010000110</a:t>
            </a:r>
          </a:p>
          <a:p>
            <a:pPr marL="620712" indent="-310356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Check Bit Reverse : 01100001011 (LSB to MSB)</a:t>
            </a:r>
          </a:p>
          <a:p>
            <a:pPr marL="620712" indent="-310356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Data                      : 010101010101 </a:t>
            </a:r>
          </a:p>
          <a:p>
            <a:pPr algn="l" marL="620712" indent="-310356" lvl="1">
              <a:lnSpc>
                <a:spcPts val="4025"/>
              </a:lnSpc>
              <a:spcBef>
                <a:spcPct val="0"/>
              </a:spcBef>
              <a:buFont typeface="Arial"/>
              <a:buChar char="•"/>
            </a:pPr>
            <a:r>
              <a:rPr lang="en-US" sz="2875">
                <a:solidFill>
                  <a:srgbClr val="FFFFFF"/>
                </a:solidFill>
                <a:latin typeface="Poppins Light"/>
              </a:rPr>
              <a:t>Data Reverse         : 101010101010 (LSB to MSB)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8415" y="600075"/>
            <a:ext cx="148111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600"/>
              </a:lnSpc>
            </a:pPr>
            <a:r>
              <a:rPr lang="en-US" sz="5500">
                <a:solidFill>
                  <a:srgbClr val="FFFFFF"/>
                </a:solidFill>
                <a:latin typeface="Poppins Medium Bold"/>
              </a:rPr>
              <a:t>Contoh Decoding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738415" y="4378071"/>
            <a:ext cx="5133614" cy="14896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8415" y="641205"/>
            <a:ext cx="14811170" cy="855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Pembagian XOR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101010101010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01100001011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101011100011      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-------------------------- Exclusive-OR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</a:t>
            </a:r>
            <a:r>
              <a:rPr lang="en-US" sz="2874">
                <a:solidFill>
                  <a:srgbClr val="FF3131"/>
                </a:solidFill>
                <a:latin typeface="Poppins Light"/>
              </a:rPr>
              <a:t>00000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1001001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01100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101011100011 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------------------------- 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</a:t>
            </a:r>
            <a:r>
              <a:rPr lang="en-US" sz="2874">
                <a:solidFill>
                  <a:srgbClr val="FF3131"/>
                </a:solidFill>
                <a:latin typeface="Poppins Light"/>
              </a:rPr>
              <a:t>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1111001111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101011100011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-------------------------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</a:t>
            </a:r>
            <a:r>
              <a:rPr lang="en-US" sz="2874">
                <a:solidFill>
                  <a:srgbClr val="FF3131"/>
                </a:solidFill>
                <a:latin typeface="Poppins Light"/>
              </a:rPr>
              <a:t>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10111011111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1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  101011100011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-------------------------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  </a:t>
            </a:r>
            <a:r>
              <a:rPr lang="en-US" sz="2874">
                <a:solidFill>
                  <a:srgbClr val="FF3131"/>
                </a:solidFill>
                <a:latin typeface="Poppins Light"/>
              </a:rPr>
              <a:t>000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101011100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011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        101011100011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-------------------------                      </a:t>
            </a:r>
          </a:p>
          <a:p>
            <a:pPr algn="l">
              <a:lnSpc>
                <a:spcPts val="4025"/>
              </a:lnSpc>
              <a:spcBef>
                <a:spcPct val="0"/>
              </a:spcBef>
            </a:pPr>
            <a:r>
              <a:rPr lang="en-US" sz="2875">
                <a:solidFill>
                  <a:srgbClr val="FFFFFF"/>
                </a:solidFill>
                <a:latin typeface="Poppins Light"/>
              </a:rPr>
              <a:t>                                         00000000000&lt;-- Syndrome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23848" y="7878618"/>
            <a:ext cx="4335452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Poppins Light Bold"/>
              </a:rPr>
              <a:t>Syndrome = 000000000000</a:t>
            </a:r>
          </a:p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Poppins Light Bold"/>
              </a:rPr>
              <a:t>Maka Codeword yang diterima benar dan tidak mengalami error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38415" y="1447800"/>
            <a:ext cx="14811170" cy="0"/>
          </a:xfrm>
          <a:prstGeom prst="line">
            <a:avLst/>
          </a:prstGeom>
          <a:ln cap="rnd" w="19050">
            <a:solidFill>
              <a:srgbClr val="10B5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738415" y="1650855"/>
            <a:ext cx="14811170" cy="653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Soal Decoding :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Lakukan proses encoding pada data 11010000110010001010101</a:t>
            </a:r>
          </a:p>
          <a:p>
            <a:pPr>
              <a:lnSpc>
                <a:spcPts val="4024"/>
              </a:lnSpc>
            </a:pP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Jawab :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reverse dan balikan data</a:t>
            </a:r>
          </a:p>
          <a:p>
            <a:pPr>
              <a:lnSpc>
                <a:spcPts val="4024"/>
              </a:lnSpc>
            </a:pPr>
          </a:p>
          <a:p>
            <a:pPr>
              <a:lnSpc>
                <a:spcPts val="4024"/>
              </a:lnSpc>
            </a:pPr>
          </a:p>
          <a:p>
            <a:pPr>
              <a:lnSpc>
                <a:spcPts val="4024"/>
              </a:lnSpc>
            </a:pPr>
          </a:p>
          <a:p>
            <a:pPr>
              <a:lnSpc>
                <a:spcPts val="4024"/>
              </a:lnSpc>
            </a:pPr>
          </a:p>
          <a:p>
            <a:pPr marL="620712" indent="-310356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Check Bit               : 11010000110</a:t>
            </a:r>
          </a:p>
          <a:p>
            <a:pPr marL="620712" indent="-310356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Check Bit Reverse : 01100001011 (LSB to MSB)</a:t>
            </a:r>
          </a:p>
          <a:p>
            <a:pPr marL="620712" indent="-310356" lvl="1">
              <a:lnSpc>
                <a:spcPts val="4024"/>
              </a:lnSpc>
              <a:buFont typeface="Arial"/>
              <a:buChar char="•"/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Data                      : 010001010101 </a:t>
            </a:r>
          </a:p>
          <a:p>
            <a:pPr algn="l" marL="620712" indent="-310356" lvl="1">
              <a:lnSpc>
                <a:spcPts val="4025"/>
              </a:lnSpc>
              <a:spcBef>
                <a:spcPct val="0"/>
              </a:spcBef>
              <a:buFont typeface="Arial"/>
              <a:buChar char="•"/>
            </a:pPr>
            <a:r>
              <a:rPr lang="en-US" sz="2875">
                <a:solidFill>
                  <a:srgbClr val="FFFFFF"/>
                </a:solidFill>
                <a:latin typeface="Poppins Light"/>
              </a:rPr>
              <a:t>Data Reverse         : 101010100010 (LSB to MSB)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8415" y="600075"/>
            <a:ext cx="148111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600"/>
              </a:lnSpc>
            </a:pPr>
            <a:r>
              <a:rPr lang="en-US" sz="5500">
                <a:solidFill>
                  <a:srgbClr val="FFFFFF"/>
                </a:solidFill>
                <a:latin typeface="Poppins Medium Bold"/>
              </a:rPr>
              <a:t>Contoh Decoding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738415" y="4378071"/>
            <a:ext cx="5133614" cy="14896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8415" y="701675"/>
            <a:ext cx="14811170" cy="855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Pembagian XOR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101010100010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01100001011   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101011100011      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-------------------------- Exclusive-OR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</a:t>
            </a:r>
            <a:r>
              <a:rPr lang="en-US" sz="2874">
                <a:solidFill>
                  <a:srgbClr val="FF3131"/>
                </a:solidFill>
                <a:latin typeface="Poppins Light"/>
              </a:rPr>
              <a:t>00000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1000001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01100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101011100011 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------------------------- 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</a:t>
            </a:r>
            <a:r>
              <a:rPr lang="en-US" sz="2874">
                <a:solidFill>
                  <a:srgbClr val="FF3131"/>
                </a:solidFill>
                <a:latin typeface="Poppins Light"/>
              </a:rPr>
              <a:t>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1011001111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101011100011 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-------------------------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</a:t>
            </a:r>
            <a:r>
              <a:rPr lang="en-US" sz="2874">
                <a:solidFill>
                  <a:srgbClr val="FF3131"/>
                </a:solidFill>
                <a:latin typeface="Poppins Light"/>
              </a:rPr>
              <a:t>000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11101111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101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  101011100011 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-------------------------   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  </a:t>
            </a:r>
            <a:r>
              <a:rPr lang="en-US" sz="2874">
                <a:solidFill>
                  <a:srgbClr val="FF3131"/>
                </a:solidFill>
                <a:latin typeface="Poppins Light"/>
              </a:rPr>
              <a:t>0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10000011110</a:t>
            </a:r>
            <a:r>
              <a:rPr lang="en-US" sz="2874">
                <a:solidFill>
                  <a:srgbClr val="10B5BF"/>
                </a:solidFill>
                <a:latin typeface="Poppins Light"/>
              </a:rPr>
              <a:t>1</a:t>
            </a: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                 101011100011                      </a:t>
            </a:r>
          </a:p>
          <a:p>
            <a:pPr>
              <a:lnSpc>
                <a:spcPts val="4024"/>
              </a:lnSpc>
            </a:pPr>
            <a:r>
              <a:rPr lang="en-US" sz="2874">
                <a:solidFill>
                  <a:srgbClr val="FFFFFF"/>
                </a:solidFill>
                <a:latin typeface="Poppins Light"/>
              </a:rPr>
              <a:t>                     -------------------------                      </a:t>
            </a:r>
          </a:p>
          <a:p>
            <a:pPr algn="l">
              <a:lnSpc>
                <a:spcPts val="4025"/>
              </a:lnSpc>
              <a:spcBef>
                <a:spcPct val="0"/>
              </a:spcBef>
            </a:pPr>
            <a:r>
              <a:rPr lang="en-US" sz="2875">
                <a:solidFill>
                  <a:srgbClr val="FFFFFF"/>
                </a:solidFill>
                <a:latin typeface="Poppins Light"/>
              </a:rPr>
              <a:t>                                     001011011110&lt;-- Syndrome 7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2339610" y="3684766"/>
            <a:ext cx="5400575" cy="2638069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540090" y="7182255"/>
            <a:ext cx="5435559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Poppins Light Bold"/>
              </a:rPr>
              <a:t>Syndrome = 01011011110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Poppins Light"/>
              </a:rPr>
              <a:t>bernilai 7 (Dari jumlah bit 1) yang berarti ada error pada data. Lihat di table, syndrome = 01011011110 adalah nilaidari s4. maka bit yang error berada pada bit ke-4 dari informasi bit.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3844" y="2079633"/>
            <a:ext cx="15120312" cy="6127734"/>
            <a:chOff x="0" y="0"/>
            <a:chExt cx="20160416" cy="817031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30175"/>
              <a:ext cx="20160416" cy="5368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330"/>
                </a:lnSpc>
                <a:spcBef>
                  <a:spcPct val="0"/>
                </a:spcBef>
              </a:pPr>
              <a:r>
                <a:rPr lang="en-US" sz="5275" u="none">
                  <a:solidFill>
                    <a:srgbClr val="FFFFFF"/>
                  </a:solidFill>
                  <a:latin typeface="Poppins Medium Bold"/>
                </a:rPr>
                <a:t>Kemajuan teknologi didasarkan pada cara membuatnya terasa pas sehingga Anda bahka tidak menyadari keberadaannya, sehingga teknologi tersebut menjadi bagian dari hidup sehari-hari.</a:t>
              </a:r>
            </a:p>
          </p:txBody>
        </p:sp>
        <p:sp>
          <p:nvSpPr>
            <p:cNvPr name="AutoShape 4" id="4"/>
            <p:cNvSpPr/>
            <p:nvPr/>
          </p:nvSpPr>
          <p:spPr>
            <a:xfrm rot="0">
              <a:off x="7988057" y="6909401"/>
              <a:ext cx="4184303" cy="1260911"/>
            </a:xfrm>
            <a:prstGeom prst="rect">
              <a:avLst/>
            </a:prstGeom>
            <a:solidFill>
              <a:srgbClr val="10B5BF"/>
            </a:solidFill>
          </p:spPr>
        </p:sp>
        <p:sp>
          <p:nvSpPr>
            <p:cNvPr name="TextBox 5" id="5"/>
            <p:cNvSpPr txBox="true"/>
            <p:nvPr/>
          </p:nvSpPr>
          <p:spPr>
            <a:xfrm rot="0">
              <a:off x="8229771" y="7225532"/>
              <a:ext cx="3700874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Poppins Medium"/>
                </a:rPr>
                <a:t>BILL GATES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9388" y="4807243"/>
            <a:ext cx="10336162" cy="3835758"/>
            <a:chOff x="0" y="0"/>
            <a:chExt cx="13781550" cy="511434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672383"/>
              <a:ext cx="1378155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2610"/>
                </a:lnSpc>
              </a:pPr>
              <a:r>
                <a:rPr lang="en-US" sz="2175">
                  <a:solidFill>
                    <a:srgbClr val="10B5BF"/>
                  </a:solidFill>
                  <a:latin typeface="Poppins Medium"/>
                </a:rPr>
                <a:t>Kirimkan kepada kami! Semoga Anda mempelajari sesuatu yang baru.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3781550" cy="365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10800"/>
                </a:lnSpc>
              </a:pPr>
              <a:r>
                <a:rPr lang="en-US" sz="9000">
                  <a:solidFill>
                    <a:srgbClr val="FFFFFF"/>
                  </a:solidFill>
                  <a:latin typeface="Poppins Medium Bold"/>
                </a:rPr>
                <a:t>Ada pertanyaan?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144000" y="-1400753"/>
            <a:ext cx="7160084" cy="547746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698346">
            <a:off x="14309952" y="2598981"/>
            <a:ext cx="2866797" cy="295546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6585397">
            <a:off x="832773" y="6606933"/>
            <a:ext cx="2525842" cy="260396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64222">
            <a:off x="14279129" y="1474375"/>
            <a:ext cx="3028686" cy="2513809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94528" y="2476500"/>
            <a:ext cx="13298943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>
                <a:solidFill>
                  <a:srgbClr val="FFFFFF"/>
                </a:solidFill>
                <a:latin typeface="Poppins Medium Bold"/>
              </a:rPr>
              <a:t>5G dapat mengubah segalanya, tetapi harus ada kampanye informasi yang komprehensif untuk bisnis dan konsumen.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9056" y="1589623"/>
            <a:ext cx="5772230" cy="1889684"/>
            <a:chOff x="0" y="0"/>
            <a:chExt cx="7696306" cy="251957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7696306" cy="11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6600"/>
                </a:lnSpc>
              </a:pPr>
              <a:r>
                <a:rPr lang="en-US" sz="5500">
                  <a:solidFill>
                    <a:srgbClr val="FFFFFF"/>
                  </a:solidFill>
                  <a:latin typeface="Poppins Medium Bold"/>
                </a:rPr>
                <a:t>Materi Gratis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492572"/>
              <a:ext cx="7696306" cy="918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 Light"/>
                </a:rPr>
                <a:t>Gunakan ikon dan ilustrasi gratis yang dapat diwarnai ulang ini dalam desain Canva Anda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8784048" y="1693007"/>
            <a:ext cx="645878" cy="466206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0327042" y="1589623"/>
            <a:ext cx="512684" cy="672975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1741326" y="1641315"/>
            <a:ext cx="581215" cy="56959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4807977" y="1589623"/>
            <a:ext cx="449058" cy="672975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261297" y="1637362"/>
            <a:ext cx="547046" cy="577496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6214930" y="1589623"/>
            <a:ext cx="599559" cy="672975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8778228" y="8024403"/>
            <a:ext cx="8036261" cy="672975"/>
            <a:chOff x="0" y="0"/>
            <a:chExt cx="10715015" cy="897299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0" y="110557"/>
              <a:ext cx="868930" cy="676186"/>
            </a:xfrm>
            <a:prstGeom prst="rect">
              <a:avLst/>
            </a:prstGeom>
          </p:spPr>
        </p:pic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2227414" y="0"/>
              <a:ext cx="358920" cy="897299"/>
            </a:xfrm>
            <a:prstGeom prst="rect">
              <a:avLst/>
            </a:prstGeom>
          </p:spPr>
        </p:pic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3876903" y="133240"/>
              <a:ext cx="922740" cy="630819"/>
            </a:xfrm>
            <a:prstGeom prst="rect">
              <a:avLst/>
            </a:prstGeom>
          </p:spPr>
        </p:pic>
        <p:pic>
          <p:nvPicPr>
            <p:cNvPr name="Picture 15" id="15"/>
            <p:cNvPicPr>
              <a:picLocks noChangeAspect="true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7957101" y="68798"/>
              <a:ext cx="763871" cy="759704"/>
            </a:xfrm>
            <a:prstGeom prst="rect">
              <a:avLst/>
            </a:prstGeom>
          </p:spPr>
        </p:pic>
        <p:pic>
          <p:nvPicPr>
            <p:cNvPr name="Picture 16" id="16"/>
            <p:cNvPicPr>
              <a:picLocks noChangeAspect="true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6178162" y="0"/>
              <a:ext cx="327922" cy="897299"/>
            </a:xfrm>
            <a:prstGeom prst="rect">
              <a:avLst/>
            </a:prstGeom>
          </p:spPr>
        </p:pic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9915602" y="64205"/>
              <a:ext cx="799412" cy="768889"/>
            </a:xfrm>
            <a:prstGeom prst="rect">
              <a:avLst/>
            </a:prstGeom>
          </p:spPr>
        </p:pic>
      </p:grpSp>
      <p:grpSp>
        <p:nvGrpSpPr>
          <p:cNvPr name="Group 18" id="18"/>
          <p:cNvGrpSpPr/>
          <p:nvPr/>
        </p:nvGrpSpPr>
        <p:grpSpPr>
          <a:xfrm rot="0">
            <a:off x="8913048" y="6415708"/>
            <a:ext cx="7863789" cy="672975"/>
            <a:chOff x="0" y="0"/>
            <a:chExt cx="10485051" cy="897299"/>
          </a:xfrm>
        </p:grpSpPr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0" y="0"/>
              <a:ext cx="517171" cy="897299"/>
            </a:xfrm>
            <a:prstGeom prst="rect">
              <a:avLst/>
            </a:prstGeom>
          </p:spPr>
        </p:pic>
        <p:pic>
          <p:nvPicPr>
            <p:cNvPr name="Picture 20" id="20"/>
            <p:cNvPicPr>
              <a:picLocks noChangeAspect="true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1913875" y="0"/>
              <a:ext cx="626478" cy="897299"/>
            </a:xfrm>
            <a:prstGeom prst="rect">
              <a:avLst/>
            </a:prstGeom>
          </p:spPr>
        </p:pic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3821618" y="0"/>
              <a:ext cx="673790" cy="897299"/>
            </a:xfrm>
            <a:prstGeom prst="rect">
              <a:avLst/>
            </a:prstGeom>
          </p:spPr>
        </p:pic>
        <p:pic>
          <p:nvPicPr>
            <p:cNvPr name="Picture 22" id="22"/>
            <p:cNvPicPr>
              <a:picLocks noChangeAspect="true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7813408" y="0"/>
              <a:ext cx="691736" cy="897299"/>
            </a:xfrm>
            <a:prstGeom prst="rect">
              <a:avLst/>
            </a:prstGeom>
          </p:spPr>
        </p:pic>
        <p:pic>
          <p:nvPicPr>
            <p:cNvPr name="Picture 23" id="23"/>
            <p:cNvPicPr>
              <a:picLocks noChangeAspect="true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5964957" y="0"/>
              <a:ext cx="394812" cy="897299"/>
            </a:xfrm>
            <a:prstGeom prst="rect">
              <a:avLst/>
            </a:prstGeom>
          </p:spPr>
        </p:pic>
        <p:pic>
          <p:nvPicPr>
            <p:cNvPr name="Picture 24" id="24"/>
            <p:cNvPicPr>
              <a:picLocks noChangeAspect="true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9786046" y="99147"/>
              <a:ext cx="699006" cy="699006"/>
            </a:xfrm>
            <a:prstGeom prst="rect">
              <a:avLst/>
            </a:prstGeom>
          </p:spPr>
        </p:pic>
      </p:grpSp>
      <p:grpSp>
        <p:nvGrpSpPr>
          <p:cNvPr name="Group 25" id="25"/>
          <p:cNvGrpSpPr/>
          <p:nvPr/>
        </p:nvGrpSpPr>
        <p:grpSpPr>
          <a:xfrm rot="0">
            <a:off x="8803511" y="4807013"/>
            <a:ext cx="8044902" cy="672975"/>
            <a:chOff x="0" y="0"/>
            <a:chExt cx="10726536" cy="897299"/>
          </a:xfrm>
        </p:grpSpPr>
        <p:pic>
          <p:nvPicPr>
            <p:cNvPr name="Picture 26" id="26"/>
            <p:cNvPicPr>
              <a:picLocks noChangeAspect="true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0" y="54314"/>
              <a:ext cx="809270" cy="788671"/>
            </a:xfrm>
            <a:prstGeom prst="rect">
              <a:avLst/>
            </a:prstGeom>
          </p:spPr>
        </p:pic>
        <p:pic>
          <p:nvPicPr>
            <p:cNvPr name="Picture 27" id="27"/>
            <p:cNvPicPr>
              <a:picLocks noChangeAspect="true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2043610" y="0"/>
              <a:ext cx="659107" cy="897299"/>
            </a:xfrm>
            <a:prstGeom prst="rect">
              <a:avLst/>
            </a:prstGeom>
          </p:spPr>
        </p:pic>
        <p:pic>
          <p:nvPicPr>
            <p:cNvPr name="Picture 28" id="28"/>
            <p:cNvPicPr>
              <a:picLocks noChangeAspect="true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3905673" y="0"/>
              <a:ext cx="797781" cy="897299"/>
            </a:xfrm>
            <a:prstGeom prst="rect">
              <a:avLst/>
            </a:prstGeom>
          </p:spPr>
        </p:pic>
        <p:pic>
          <p:nvPicPr>
            <p:cNvPr name="Picture 29" id="29"/>
            <p:cNvPicPr>
              <a:picLocks noChangeAspect="true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7954564" y="0"/>
              <a:ext cx="701525" cy="897299"/>
            </a:xfrm>
            <a:prstGeom prst="rect">
              <a:avLst/>
            </a:prstGeom>
          </p:spPr>
        </p:pic>
        <p:pic>
          <p:nvPicPr>
            <p:cNvPr name="Picture 30" id="30"/>
            <p:cNvPicPr>
              <a:picLocks noChangeAspect="true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5842835" y="72801"/>
              <a:ext cx="931157" cy="751698"/>
            </a:xfrm>
            <a:prstGeom prst="rect">
              <a:avLst/>
            </a:prstGeom>
          </p:spPr>
        </p:pic>
        <p:pic>
          <p:nvPicPr>
            <p:cNvPr name="Picture 31" id="31"/>
            <p:cNvPicPr>
              <a:picLocks noChangeAspect="true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9836661" y="133149"/>
              <a:ext cx="889874" cy="631002"/>
            </a:xfrm>
            <a:prstGeom prst="rect">
              <a:avLst/>
            </a:prstGeom>
          </p:spPr>
        </p:pic>
      </p:grpSp>
      <p:grpSp>
        <p:nvGrpSpPr>
          <p:cNvPr name="Group 32" id="32"/>
          <p:cNvGrpSpPr/>
          <p:nvPr/>
        </p:nvGrpSpPr>
        <p:grpSpPr>
          <a:xfrm rot="0">
            <a:off x="8733112" y="3198318"/>
            <a:ext cx="8002455" cy="672975"/>
            <a:chOff x="0" y="0"/>
            <a:chExt cx="10669940" cy="897299"/>
          </a:xfrm>
        </p:grpSpPr>
        <p:pic>
          <p:nvPicPr>
            <p:cNvPr name="Picture 33" id="33"/>
            <p:cNvPicPr>
              <a:picLocks noChangeAspect="true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0" y="0"/>
              <a:ext cx="996999" cy="897299"/>
            </a:xfrm>
            <a:prstGeom prst="rect">
              <a:avLst/>
            </a:prstGeom>
          </p:spPr>
        </p:pic>
        <p:pic>
          <p:nvPicPr>
            <p:cNvPr name="Picture 34" id="34"/>
            <p:cNvPicPr>
              <a:picLocks noChangeAspect="true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2073901" y="44500"/>
              <a:ext cx="786255" cy="808300"/>
            </a:xfrm>
            <a:prstGeom prst="rect">
              <a:avLst/>
            </a:prstGeom>
          </p:spPr>
        </p:pic>
        <p:pic>
          <p:nvPicPr>
            <p:cNvPr name="Picture 35" id="35"/>
            <p:cNvPicPr>
              <a:picLocks noChangeAspect="true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3981387" y="44500"/>
              <a:ext cx="834080" cy="808300"/>
            </a:xfrm>
            <a:prstGeom prst="rect">
              <a:avLst/>
            </a:prstGeom>
          </p:spPr>
        </p:pic>
        <p:pic>
          <p:nvPicPr>
            <p:cNvPr name="Picture 36" id="36"/>
            <p:cNvPicPr>
              <a:picLocks noChangeAspect="true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7944757" y="0"/>
              <a:ext cx="908867" cy="897299"/>
            </a:xfrm>
            <a:prstGeom prst="rect">
              <a:avLst/>
            </a:prstGeom>
          </p:spPr>
        </p:pic>
        <p:pic>
          <p:nvPicPr>
            <p:cNvPr name="Picture 37" id="37"/>
            <p:cNvPicPr>
              <a:picLocks noChangeAspect="true"/>
            </p:cNvPicPr>
            <p:nvPr/>
          </p:nvPicPr>
          <p:blipFill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6066198" y="0"/>
              <a:ext cx="672159" cy="897299"/>
            </a:xfrm>
            <a:prstGeom prst="rect">
              <a:avLst/>
            </a:prstGeom>
          </p:spPr>
        </p:pic>
        <p:pic>
          <p:nvPicPr>
            <p:cNvPr name="Picture 38" id="38"/>
            <p:cNvPicPr>
              <a:picLocks noChangeAspect="true"/>
            </p:cNvPicPr>
            <p:nvPr/>
          </p:nvPicPr>
          <p:blipFill>
            <a:blip r:embed="rId6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10080985" y="0"/>
              <a:ext cx="588955" cy="897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DAFfrzLvKwQ</dc:identifier>
  <dcterms:modified xsi:type="dcterms:W3CDTF">2011-08-01T06:04:30Z</dcterms:modified>
  <cp:revision>1</cp:revision>
  <dc:title>Presentasi Teknologi 5G Elemen 3D Biru</dc:title>
</cp:coreProperties>
</file>