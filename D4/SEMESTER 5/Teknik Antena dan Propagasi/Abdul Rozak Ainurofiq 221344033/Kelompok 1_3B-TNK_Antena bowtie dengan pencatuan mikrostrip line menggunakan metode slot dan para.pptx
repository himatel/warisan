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Pluma" charset="1" panose="00000000000000000000"/>
      <p:regular r:id="rId43"/>
    </p:embeddedFont>
    <p:embeddedFont>
      <p:font typeface="Anonymous Pro Bold" charset="1" panose="02060809030202000504"/>
      <p:regular r:id="rId44"/>
    </p:embeddedFont>
    <p:embeddedFont>
      <p:font typeface="Anonymous Pro" charset="1" panose="02060609030202000504"/>
      <p:regular r:id="rId45"/>
    </p:embeddedFont>
    <p:embeddedFont>
      <p:font typeface="Anonymous Pro Bold Italics" charset="1" panose="02060809030202000504"/>
      <p:regular r:id="rId46"/>
    </p:embeddedFont>
    <p:embeddedFont>
      <p:font typeface="Canva Sans" charset="1" panose="020B0503030501040103"/>
      <p:regular r:id="rId47"/>
    </p:embeddedFont>
    <p:embeddedFont>
      <p:font typeface="Canva Sans Bold" charset="1" panose="020B0803030501040103"/>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2" Target="../media/image1.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13" Target="../media/image3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png" Type="http://schemas.openxmlformats.org/officeDocument/2006/relationships/image"/><Relationship Id="rId12" Target="../media/image60.png" Type="http://schemas.openxmlformats.org/officeDocument/2006/relationships/image"/><Relationship Id="rId13" Target="../media/image61.png" Type="http://schemas.openxmlformats.org/officeDocument/2006/relationships/image"/><Relationship Id="rId14" Target="../media/image62.png" Type="http://schemas.openxmlformats.org/officeDocument/2006/relationships/image"/><Relationship Id="rId15" Target="../media/image63.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9.png" Type="http://schemas.openxmlformats.org/officeDocument/2006/relationships/image"/><Relationship Id="rId7" Target="../media/image64.png" Type="http://schemas.openxmlformats.org/officeDocument/2006/relationships/image"/><Relationship Id="rId8" Target="../media/image6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7.png" Type="http://schemas.openxmlformats.org/officeDocument/2006/relationships/image"/><Relationship Id="rId12" Target="../media/image68.png" Type="http://schemas.openxmlformats.org/officeDocument/2006/relationships/image"/><Relationship Id="rId13" Target="../media/image69.png" Type="http://schemas.openxmlformats.org/officeDocument/2006/relationships/image"/><Relationship Id="rId14" Target="../media/image70.png" Type="http://schemas.openxmlformats.org/officeDocument/2006/relationships/image"/><Relationship Id="rId15" Target="../media/image71.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72.png" Type="http://schemas.openxmlformats.org/officeDocument/2006/relationships/image"/><Relationship Id="rId7" Target="../media/image49.png" Type="http://schemas.openxmlformats.org/officeDocument/2006/relationships/image"/><Relationship Id="rId8" Target="../media/image7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png" Type="http://schemas.openxmlformats.org/officeDocument/2006/relationships/image"/><Relationship Id="rId12" Target="../media/image76.png" Type="http://schemas.openxmlformats.org/officeDocument/2006/relationships/image"/><Relationship Id="rId13" Target="../media/image77.png" Type="http://schemas.openxmlformats.org/officeDocument/2006/relationships/image"/><Relationship Id="rId14" Target="../media/image78.png" Type="http://schemas.openxmlformats.org/officeDocument/2006/relationships/image"/><Relationship Id="rId15" Target="../media/image79.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80.png" Type="http://schemas.openxmlformats.org/officeDocument/2006/relationships/image"/><Relationship Id="rId7" Target="../media/image49.png" Type="http://schemas.openxmlformats.org/officeDocument/2006/relationships/image"/><Relationship Id="rId8" Target="../media/image8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png" Type="http://schemas.openxmlformats.org/officeDocument/2006/relationships/image"/><Relationship Id="rId12" Target="../media/image84.png" Type="http://schemas.openxmlformats.org/officeDocument/2006/relationships/image"/><Relationship Id="rId13" Target="../media/image85.png" Type="http://schemas.openxmlformats.org/officeDocument/2006/relationships/image"/><Relationship Id="rId14" Target="../media/image86.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9.png" Type="http://schemas.openxmlformats.org/officeDocument/2006/relationships/image"/><Relationship Id="rId7" Target="../media/image87.png" Type="http://schemas.openxmlformats.org/officeDocument/2006/relationships/image"/><Relationship Id="rId8" Target="../media/image8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png" Type="http://schemas.openxmlformats.org/officeDocument/2006/relationships/image"/><Relationship Id="rId11" Target="../media/image90.png" Type="http://schemas.openxmlformats.org/officeDocument/2006/relationships/image"/><Relationship Id="rId12" Target="../media/image91.png" Type="http://schemas.openxmlformats.org/officeDocument/2006/relationships/image"/><Relationship Id="rId13" Target="../media/image92.png" Type="http://schemas.openxmlformats.org/officeDocument/2006/relationships/image"/><Relationship Id="rId14" Target="../media/image93.png" Type="http://schemas.openxmlformats.org/officeDocument/2006/relationships/image"/><Relationship Id="rId15" Target="../media/image94.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9.png" Type="http://schemas.openxmlformats.org/officeDocument/2006/relationships/image"/><Relationship Id="rId7" Target="../media/image95.png" Type="http://schemas.openxmlformats.org/officeDocument/2006/relationships/image"/><Relationship Id="rId8" Target="../media/image9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7.png" Type="http://schemas.openxmlformats.org/officeDocument/2006/relationships/image"/><Relationship Id="rId11" Target="../media/image98.png" Type="http://schemas.openxmlformats.org/officeDocument/2006/relationships/image"/><Relationship Id="rId12" Target="../media/image99.png" Type="http://schemas.openxmlformats.org/officeDocument/2006/relationships/image"/><Relationship Id="rId13" Target="../media/image100.png" Type="http://schemas.openxmlformats.org/officeDocument/2006/relationships/image"/><Relationship Id="rId14" Target="../media/image101.png" Type="http://schemas.openxmlformats.org/officeDocument/2006/relationships/image"/><Relationship Id="rId15" Target="../media/image102.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9.png" Type="http://schemas.openxmlformats.org/officeDocument/2006/relationships/image"/><Relationship Id="rId7" Target="../media/image103.png" Type="http://schemas.openxmlformats.org/officeDocument/2006/relationships/image"/><Relationship Id="rId8" Target="../media/image10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png" Type="http://schemas.openxmlformats.org/officeDocument/2006/relationships/image"/><Relationship Id="rId12" Target="../media/image84.png" Type="http://schemas.openxmlformats.org/officeDocument/2006/relationships/image"/><Relationship Id="rId13" Target="../media/image105.png" Type="http://schemas.openxmlformats.org/officeDocument/2006/relationships/image"/><Relationship Id="rId14" Target="../media/image106.pn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42.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107.png" Type="http://schemas.openxmlformats.org/officeDocument/2006/relationships/image"/><Relationship Id="rId7" Target="../media/image10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5.png" Type="http://schemas.openxmlformats.org/officeDocument/2006/relationships/image"/><Relationship Id="rId4" Target="../media/image109.png" Type="http://schemas.openxmlformats.org/officeDocument/2006/relationships/image"/><Relationship Id="rId5" Target="../media/image110.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media/image111.png" Type="http://schemas.openxmlformats.org/officeDocument/2006/relationships/image"/><Relationship Id="rId9" Target="../media/image4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112.png" Type="http://schemas.openxmlformats.org/officeDocument/2006/relationships/image"/><Relationship Id="rId8" Target="../media/image113.svg" Type="http://schemas.openxmlformats.org/officeDocument/2006/relationships/image"/><Relationship Id="rId9" Target="../media/image11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svg" Type="http://schemas.openxmlformats.org/officeDocument/2006/relationships/image"/><Relationship Id="rId11" Target="../media/image118.png" Type="http://schemas.openxmlformats.org/officeDocument/2006/relationships/image"/><Relationship Id="rId12" Target="../media/image119.pn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115.png" Type="http://schemas.openxmlformats.org/officeDocument/2006/relationships/image"/><Relationship Id="rId5" Target="../media/image116.pn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117.png" Type="http://schemas.openxmlformats.org/officeDocument/2006/relationships/image"/><Relationship Id="rId9" Target="../media/image5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42.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107.png" Type="http://schemas.openxmlformats.org/officeDocument/2006/relationships/image"/><Relationship Id="rId7" Target="../media/image120.png" Type="http://schemas.openxmlformats.org/officeDocument/2006/relationships/image"/><Relationship Id="rId8" Target="../media/image12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4.jpeg" Type="http://schemas.openxmlformats.org/officeDocument/2006/relationships/image"/><Relationship Id="rId11" Target="../media/image125.jpeg" Type="http://schemas.openxmlformats.org/officeDocument/2006/relationships/image"/><Relationship Id="rId2" Target="../media/image1.png" Type="http://schemas.openxmlformats.org/officeDocument/2006/relationships/image"/><Relationship Id="rId3" Target="../media/image45.png" Type="http://schemas.openxmlformats.org/officeDocument/2006/relationships/image"/><Relationship Id="rId4" Target="../media/image122.png" Type="http://schemas.openxmlformats.org/officeDocument/2006/relationships/image"/><Relationship Id="rId5" Target="../media/image123.svg" Type="http://schemas.openxmlformats.org/officeDocument/2006/relationships/image"/><Relationship Id="rId6" Target="../media/image109.png" Type="http://schemas.openxmlformats.org/officeDocument/2006/relationships/image"/><Relationship Id="rId7" Target="../media/image110.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126.png" Type="http://schemas.openxmlformats.org/officeDocument/2006/relationships/image"/><Relationship Id="rId8" Target="../media/image127.png" Type="http://schemas.openxmlformats.org/officeDocument/2006/relationships/image"/><Relationship Id="rId9" Target="../media/image12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29.png" Type="http://schemas.openxmlformats.org/officeDocument/2006/relationships/image"/><Relationship Id="rId4" Target="../media/image130.svg" Type="http://schemas.openxmlformats.org/officeDocument/2006/relationships/image"/><Relationship Id="rId5" Target="../media/image131.png" Type="http://schemas.openxmlformats.org/officeDocument/2006/relationships/image"/><Relationship Id="rId6" Target="../media/image13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133.png" Type="http://schemas.openxmlformats.org/officeDocument/2006/relationships/image"/><Relationship Id="rId5" Target="../media/image134.svg" Type="http://schemas.openxmlformats.org/officeDocument/2006/relationships/image"/><Relationship Id="rId6" Target="../media/image135.png" Type="http://schemas.openxmlformats.org/officeDocument/2006/relationships/image"/><Relationship Id="rId7" Target="../media/image13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13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7.png" Type="http://schemas.openxmlformats.org/officeDocument/2006/relationships/image"/><Relationship Id="rId4" Target="../media/image138.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0.png" Type="http://schemas.openxmlformats.org/officeDocument/2006/relationships/image"/><Relationship Id="rId4" Target="../media/image107.pn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14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0.png" Type="http://schemas.openxmlformats.org/officeDocument/2006/relationships/image"/><Relationship Id="rId4" Target="../media/image107.pn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40.png" Type="http://schemas.openxmlformats.org/officeDocument/2006/relationships/image"/><Relationship Id="rId12" Target="../media/image107.pn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46.png" Type="http://schemas.openxmlformats.org/officeDocument/2006/relationships/image"/><Relationship Id="rId16" Target="../media/image47.svg" Type="http://schemas.openxmlformats.org/officeDocument/2006/relationships/image"/><Relationship Id="rId17" Target="../media/image33.png" Type="http://schemas.openxmlformats.org/officeDocument/2006/relationships/image"/><Relationship Id="rId18" Target="../media/image34.svg" Type="http://schemas.openxmlformats.org/officeDocument/2006/relationships/image"/><Relationship Id="rId2" Target="../media/image1.png" Type="http://schemas.openxmlformats.org/officeDocument/2006/relationships/image"/><Relationship Id="rId3" Target="../media/image51.png" Type="http://schemas.openxmlformats.org/officeDocument/2006/relationships/image"/><Relationship Id="rId4" Target="../media/image142.png" Type="http://schemas.openxmlformats.org/officeDocument/2006/relationships/image"/><Relationship Id="rId5" Target="../media/image143.svg" Type="http://schemas.openxmlformats.org/officeDocument/2006/relationships/image"/><Relationship Id="rId6" Target="../media/image144.png" Type="http://schemas.openxmlformats.org/officeDocument/2006/relationships/image"/><Relationship Id="rId7" Target="../media/image145.png" Type="http://schemas.openxmlformats.org/officeDocument/2006/relationships/image"/><Relationship Id="rId8" Target="../media/image133.png" Type="http://schemas.openxmlformats.org/officeDocument/2006/relationships/image"/><Relationship Id="rId9" Target="../media/image13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2450">
            <a:off x="1801913" y="340880"/>
            <a:ext cx="14737197" cy="9540177"/>
          </a:xfrm>
          <a:custGeom>
            <a:avLst/>
            <a:gdLst/>
            <a:ahLst/>
            <a:cxnLst/>
            <a:rect r="r" b="b" t="t" l="l"/>
            <a:pathLst>
              <a:path h="9540177" w="14737197">
                <a:moveTo>
                  <a:pt x="0" y="0"/>
                </a:moveTo>
                <a:lnTo>
                  <a:pt x="14737196" y="0"/>
                </a:lnTo>
                <a:lnTo>
                  <a:pt x="14737196" y="9540177"/>
                </a:lnTo>
                <a:lnTo>
                  <a:pt x="0" y="9540177"/>
                </a:lnTo>
                <a:lnTo>
                  <a:pt x="0" y="0"/>
                </a:lnTo>
                <a:close/>
              </a:path>
            </a:pathLst>
          </a:custGeom>
          <a:blipFill>
            <a:blip r:embed="rId3">
              <a:extLst>
                <a:ext uri="{96DAC541-7B7A-43D3-8B79-37D633B846F1}">
                  <asvg:svgBlip xmlns:asvg="http://schemas.microsoft.com/office/drawing/2016/SVG/main" r:embed="rId4"/>
                </a:ext>
              </a:extLst>
            </a:blip>
            <a:stretch>
              <a:fillRect l="0" t="0" r="0" b="-42889"/>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15348524" y="247160"/>
            <a:ext cx="2632371" cy="6104048"/>
          </a:xfrm>
          <a:custGeom>
            <a:avLst/>
            <a:gdLst/>
            <a:ahLst/>
            <a:cxnLst/>
            <a:rect r="r" b="b" t="t" l="l"/>
            <a:pathLst>
              <a:path h="6104048" w="2632371">
                <a:moveTo>
                  <a:pt x="0" y="0"/>
                </a:moveTo>
                <a:lnTo>
                  <a:pt x="2632371" y="0"/>
                </a:lnTo>
                <a:lnTo>
                  <a:pt x="2632371" y="6104048"/>
                </a:lnTo>
                <a:lnTo>
                  <a:pt x="0" y="6104048"/>
                </a:lnTo>
                <a:lnTo>
                  <a:pt x="0" y="0"/>
                </a:lnTo>
                <a:close/>
              </a:path>
            </a:pathLst>
          </a:custGeom>
          <a:blipFill>
            <a:blip r:embed="rId5"/>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0">
            <a:off x="1028700" y="9078631"/>
            <a:ext cx="4277412" cy="1208369"/>
          </a:xfrm>
          <a:custGeom>
            <a:avLst/>
            <a:gdLst/>
            <a:ahLst/>
            <a:cxnLst/>
            <a:rect r="r" b="b" t="t" l="l"/>
            <a:pathLst>
              <a:path h="1208369" w="4277412">
                <a:moveTo>
                  <a:pt x="0" y="0"/>
                </a:moveTo>
                <a:lnTo>
                  <a:pt x="4277412" y="0"/>
                </a:lnTo>
                <a:lnTo>
                  <a:pt x="4277412" y="1208369"/>
                </a:lnTo>
                <a:lnTo>
                  <a:pt x="0" y="1208369"/>
                </a:lnTo>
                <a:lnTo>
                  <a:pt x="0" y="0"/>
                </a:lnTo>
                <a:close/>
              </a:path>
            </a:pathLst>
          </a:custGeom>
          <a:blipFill>
            <a:blip r:embed="rId6"/>
            <a:stretch>
              <a:fillRect l="0" t="0" r="0" b="0"/>
            </a:stretch>
          </a:blipFill>
        </p:spPr>
      </p:sp>
      <p:sp>
        <p:nvSpPr>
          <p:cNvPr name="TextBox 6" id="6"/>
          <p:cNvSpPr txBox="true"/>
          <p:nvPr/>
        </p:nvSpPr>
        <p:spPr>
          <a:xfrm rot="0">
            <a:off x="4518390" y="3411769"/>
            <a:ext cx="9251220" cy="2981325"/>
          </a:xfrm>
          <a:prstGeom prst="rect">
            <a:avLst/>
          </a:prstGeom>
        </p:spPr>
        <p:txBody>
          <a:bodyPr anchor="t" rtlCol="false" tIns="0" lIns="0" bIns="0" rIns="0">
            <a:spAutoFit/>
          </a:bodyPr>
          <a:lstStyle/>
          <a:p>
            <a:pPr algn="ctr">
              <a:lnSpc>
                <a:spcPts val="3900"/>
              </a:lnSpc>
            </a:pPr>
            <a:r>
              <a:rPr lang="en-US" sz="3000">
                <a:solidFill>
                  <a:srgbClr val="233731"/>
                </a:solidFill>
                <a:latin typeface="Pluma"/>
                <a:ea typeface="Pluma"/>
                <a:cs typeface="Pluma"/>
                <a:sym typeface="Pluma"/>
              </a:rPr>
              <a:t>Disusun oleh:</a:t>
            </a:r>
            <a:r>
              <a:rPr lang="en-US" sz="3000">
                <a:solidFill>
                  <a:srgbClr val="233731"/>
                </a:solidFill>
                <a:latin typeface="Pluma"/>
                <a:ea typeface="Pluma"/>
                <a:cs typeface="Pluma"/>
                <a:sym typeface="Pluma"/>
              </a:rPr>
              <a:t> </a:t>
            </a:r>
          </a:p>
          <a:p>
            <a:pPr algn="ctr">
              <a:lnSpc>
                <a:spcPts val="3900"/>
              </a:lnSpc>
            </a:pPr>
            <a:r>
              <a:rPr lang="en-US" sz="3000">
                <a:solidFill>
                  <a:srgbClr val="233731"/>
                </a:solidFill>
                <a:latin typeface="Pluma"/>
                <a:ea typeface="Pluma"/>
                <a:cs typeface="Pluma"/>
                <a:sym typeface="Pluma"/>
              </a:rPr>
              <a:t>kelompok 1/3B-TNK</a:t>
            </a:r>
          </a:p>
          <a:p>
            <a:pPr algn="ctr">
              <a:lnSpc>
                <a:spcPts val="3900"/>
              </a:lnSpc>
            </a:pPr>
            <a:r>
              <a:rPr lang="en-US" sz="3000">
                <a:solidFill>
                  <a:srgbClr val="233731"/>
                </a:solidFill>
                <a:latin typeface="Pluma"/>
                <a:ea typeface="Pluma"/>
                <a:cs typeface="Pluma"/>
                <a:sym typeface="Pluma"/>
              </a:rPr>
              <a:t>1. abdul rozak (221344033)</a:t>
            </a:r>
          </a:p>
          <a:p>
            <a:pPr algn="ctr">
              <a:lnSpc>
                <a:spcPts val="3900"/>
              </a:lnSpc>
            </a:pPr>
            <a:r>
              <a:rPr lang="en-US" sz="3000">
                <a:solidFill>
                  <a:srgbClr val="233731"/>
                </a:solidFill>
                <a:latin typeface="Pluma"/>
                <a:ea typeface="Pluma"/>
                <a:cs typeface="Pluma"/>
                <a:sym typeface="Pluma"/>
              </a:rPr>
              <a:t>2. adelia puspita (221344034)</a:t>
            </a:r>
          </a:p>
          <a:p>
            <a:pPr algn="ctr">
              <a:lnSpc>
                <a:spcPts val="3900"/>
              </a:lnSpc>
            </a:pPr>
            <a:r>
              <a:rPr lang="en-US" sz="3000">
                <a:solidFill>
                  <a:srgbClr val="233731"/>
                </a:solidFill>
                <a:latin typeface="Pluma"/>
                <a:ea typeface="Pluma"/>
                <a:cs typeface="Pluma"/>
                <a:sym typeface="Pluma"/>
              </a:rPr>
              <a:t>3. aldizan putra s  (221344035)</a:t>
            </a:r>
          </a:p>
          <a:p>
            <a:pPr algn="ctr">
              <a:lnSpc>
                <a:spcPts val="3900"/>
              </a:lnSpc>
            </a:pPr>
            <a:r>
              <a:rPr lang="en-US" sz="3000">
                <a:solidFill>
                  <a:srgbClr val="233731"/>
                </a:solidFill>
                <a:latin typeface="Pluma"/>
                <a:ea typeface="Pluma"/>
                <a:cs typeface="Pluma"/>
                <a:sym typeface="Pluma"/>
              </a:rPr>
              <a:t>4. Annisa juliani d (221344036)</a:t>
            </a:r>
          </a:p>
        </p:txBody>
      </p:sp>
      <p:sp>
        <p:nvSpPr>
          <p:cNvPr name="TextBox 7" id="7"/>
          <p:cNvSpPr txBox="true"/>
          <p:nvPr/>
        </p:nvSpPr>
        <p:spPr>
          <a:xfrm rot="0">
            <a:off x="2765277" y="1015431"/>
            <a:ext cx="12810467" cy="2152650"/>
          </a:xfrm>
          <a:prstGeom prst="rect">
            <a:avLst/>
          </a:prstGeom>
        </p:spPr>
        <p:txBody>
          <a:bodyPr anchor="t" rtlCol="false" tIns="0" lIns="0" bIns="0" rIns="0">
            <a:spAutoFit/>
          </a:bodyPr>
          <a:lstStyle/>
          <a:p>
            <a:pPr algn="ctr">
              <a:lnSpc>
                <a:spcPts val="5640"/>
              </a:lnSpc>
            </a:pPr>
            <a:r>
              <a:rPr lang="en-US" sz="4700">
                <a:solidFill>
                  <a:srgbClr val="233731"/>
                </a:solidFill>
                <a:latin typeface="Pluma"/>
                <a:ea typeface="Pluma"/>
                <a:cs typeface="Pluma"/>
                <a:sym typeface="Pluma"/>
              </a:rPr>
              <a:t>ANTENA BOWTIE DENGAN PENCATUAN MIKROSTRIP LINE MENGGUNAKAN METODE SLOT DAN PARASITIC</a:t>
            </a:r>
          </a:p>
          <a:p>
            <a:pPr algn="ctr">
              <a:lnSpc>
                <a:spcPts val="5640"/>
              </a:lnSpc>
            </a:pPr>
            <a:r>
              <a:rPr lang="en-US" sz="4700">
                <a:solidFill>
                  <a:srgbClr val="233731"/>
                </a:solidFill>
                <a:latin typeface="Pluma"/>
                <a:ea typeface="Pluma"/>
                <a:cs typeface="Pluma"/>
                <a:sym typeface="Pluma"/>
              </a:rPr>
              <a:t>PADA FREKUENSI KERJA 2.65 GHZ – 3.2 GHZ</a:t>
            </a:r>
          </a:p>
        </p:txBody>
      </p:sp>
      <p:sp>
        <p:nvSpPr>
          <p:cNvPr name="Freeform 8" id="8"/>
          <p:cNvSpPr/>
          <p:nvPr/>
        </p:nvSpPr>
        <p:spPr>
          <a:xfrm flipH="false" flipV="false" rot="0">
            <a:off x="383471" y="187335"/>
            <a:ext cx="1849521" cy="1909183"/>
          </a:xfrm>
          <a:custGeom>
            <a:avLst/>
            <a:gdLst/>
            <a:ahLst/>
            <a:cxnLst/>
            <a:rect r="r" b="b" t="t" l="l"/>
            <a:pathLst>
              <a:path h="1909183" w="1849521">
                <a:moveTo>
                  <a:pt x="0" y="0"/>
                </a:moveTo>
                <a:lnTo>
                  <a:pt x="1849522" y="0"/>
                </a:lnTo>
                <a:lnTo>
                  <a:pt x="1849522" y="1909183"/>
                </a:lnTo>
                <a:lnTo>
                  <a:pt x="0" y="1909183"/>
                </a:lnTo>
                <a:lnTo>
                  <a:pt x="0" y="0"/>
                </a:lnTo>
                <a:close/>
              </a:path>
            </a:pathLst>
          </a:custGeom>
          <a:blipFill>
            <a:blip r:embed="rId7"/>
            <a:stretch>
              <a:fillRect l="-28826" t="-28445" r="-28826" b="-24280"/>
            </a:stretch>
          </a:blipFill>
        </p:spPr>
      </p:sp>
      <p:sp>
        <p:nvSpPr>
          <p:cNvPr name="TextBox 9" id="9"/>
          <p:cNvSpPr txBox="true"/>
          <p:nvPr/>
        </p:nvSpPr>
        <p:spPr>
          <a:xfrm rot="0">
            <a:off x="4544901" y="7089220"/>
            <a:ext cx="9251220" cy="3476625"/>
          </a:xfrm>
          <a:prstGeom prst="rect">
            <a:avLst/>
          </a:prstGeom>
        </p:spPr>
        <p:txBody>
          <a:bodyPr anchor="t" rtlCol="false" tIns="0" lIns="0" bIns="0" rIns="0">
            <a:spAutoFit/>
          </a:bodyPr>
          <a:lstStyle/>
          <a:p>
            <a:pPr algn="ctr">
              <a:lnSpc>
                <a:spcPts val="3900"/>
              </a:lnSpc>
            </a:pPr>
            <a:r>
              <a:rPr lang="en-US" sz="3000">
                <a:solidFill>
                  <a:srgbClr val="233731"/>
                </a:solidFill>
                <a:latin typeface="Pluma"/>
                <a:ea typeface="Pluma"/>
                <a:cs typeface="Pluma"/>
                <a:sym typeface="Pluma"/>
              </a:rPr>
              <a:t>Dosen pengampu : </a:t>
            </a:r>
          </a:p>
          <a:p>
            <a:pPr algn="ctr">
              <a:lnSpc>
                <a:spcPts val="3900"/>
              </a:lnSpc>
            </a:pPr>
            <a:r>
              <a:rPr lang="en-US" sz="3000">
                <a:solidFill>
                  <a:srgbClr val="233731"/>
                </a:solidFill>
                <a:latin typeface="Pluma"/>
                <a:ea typeface="Pluma"/>
                <a:cs typeface="Pluma"/>
                <a:sym typeface="Pluma"/>
              </a:rPr>
              <a:t>1. Dr. Hepi Ludiyati, S.T., M.T.</a:t>
            </a:r>
          </a:p>
          <a:p>
            <a:pPr algn="ctr">
              <a:lnSpc>
                <a:spcPts val="3900"/>
              </a:lnSpc>
            </a:pPr>
            <a:r>
              <a:rPr lang="en-US" sz="3000">
                <a:solidFill>
                  <a:srgbClr val="233731"/>
                </a:solidFill>
                <a:latin typeface="Pluma"/>
                <a:ea typeface="Pluma"/>
                <a:cs typeface="Pluma"/>
                <a:sym typeface="Pluma"/>
              </a:rPr>
              <a:t>NIP. 197204262001122001</a:t>
            </a:r>
          </a:p>
          <a:p>
            <a:pPr algn="ctr">
              <a:lnSpc>
                <a:spcPts val="3900"/>
              </a:lnSpc>
            </a:pPr>
            <a:r>
              <a:rPr lang="en-US" sz="3000">
                <a:solidFill>
                  <a:srgbClr val="233731"/>
                </a:solidFill>
                <a:latin typeface="Pluma"/>
                <a:ea typeface="Pluma"/>
                <a:cs typeface="Pluma"/>
                <a:sym typeface="Pluma"/>
              </a:rPr>
              <a:t>2. Hanny Mediawati, S.T, M.T.</a:t>
            </a:r>
          </a:p>
          <a:p>
            <a:pPr algn="ctr">
              <a:lnSpc>
                <a:spcPts val="3900"/>
              </a:lnSpc>
            </a:pPr>
            <a:r>
              <a:rPr lang="en-US" sz="3000">
                <a:solidFill>
                  <a:srgbClr val="233731"/>
                </a:solidFill>
                <a:latin typeface="Pluma"/>
                <a:ea typeface="Pluma"/>
                <a:cs typeface="Pluma"/>
                <a:sym typeface="Pluma"/>
              </a:rPr>
              <a:t>NIP. 198803192019032009</a:t>
            </a:r>
          </a:p>
          <a:p>
            <a:pPr algn="ctr">
              <a:lnSpc>
                <a:spcPts val="3900"/>
              </a:lnSpc>
            </a:pPr>
          </a:p>
          <a:p>
            <a:pPr algn="ctr">
              <a:lnSpc>
                <a:spcPts val="39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5508571">
            <a:off x="-366161" y="3371544"/>
            <a:ext cx="7114299" cy="5086724"/>
          </a:xfrm>
          <a:custGeom>
            <a:avLst/>
            <a:gdLst/>
            <a:ahLst/>
            <a:cxnLst/>
            <a:rect r="r" b="b" t="t" l="l"/>
            <a:pathLst>
              <a:path h="5086724" w="7114299">
                <a:moveTo>
                  <a:pt x="0" y="0"/>
                </a:moveTo>
                <a:lnTo>
                  <a:pt x="7114299" y="0"/>
                </a:lnTo>
                <a:lnTo>
                  <a:pt x="7114299" y="5086724"/>
                </a:lnTo>
                <a:lnTo>
                  <a:pt x="0" y="5086724"/>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2717901" y="602912"/>
            <a:ext cx="14231341" cy="8947681"/>
          </a:xfrm>
          <a:custGeom>
            <a:avLst/>
            <a:gdLst/>
            <a:ahLst/>
            <a:cxnLst/>
            <a:rect r="r" b="b" t="t" l="l"/>
            <a:pathLst>
              <a:path h="8947681" w="14231341">
                <a:moveTo>
                  <a:pt x="0" y="0"/>
                </a:moveTo>
                <a:lnTo>
                  <a:pt x="14231341" y="0"/>
                </a:lnTo>
                <a:lnTo>
                  <a:pt x="14231341" y="8947682"/>
                </a:lnTo>
                <a:lnTo>
                  <a:pt x="0" y="8947682"/>
                </a:lnTo>
                <a:lnTo>
                  <a:pt x="0" y="0"/>
                </a:lnTo>
                <a:close/>
              </a:path>
            </a:pathLst>
          </a:custGeom>
          <a:blipFill>
            <a:blip r:embed="rId4">
              <a:extLst>
                <a:ext uri="{96DAC541-7B7A-43D3-8B79-37D633B846F1}">
                  <asvg:svgBlip xmlns:asvg="http://schemas.microsoft.com/office/drawing/2016/SVG/main" r:embed="rId5"/>
                </a:ext>
              </a:extLst>
            </a:blip>
            <a:stretch>
              <a:fillRect l="-54764"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3285868">
            <a:off x="1578155" y="7508283"/>
            <a:ext cx="2279492" cy="2464316"/>
          </a:xfrm>
          <a:custGeom>
            <a:avLst/>
            <a:gdLst/>
            <a:ahLst/>
            <a:cxnLst/>
            <a:rect r="r" b="b" t="t" l="l"/>
            <a:pathLst>
              <a:path h="2464316" w="2279492">
                <a:moveTo>
                  <a:pt x="0" y="0"/>
                </a:moveTo>
                <a:lnTo>
                  <a:pt x="2279492" y="0"/>
                </a:lnTo>
                <a:lnTo>
                  <a:pt x="2279492" y="2464315"/>
                </a:lnTo>
                <a:lnTo>
                  <a:pt x="0" y="2464315"/>
                </a:lnTo>
                <a:lnTo>
                  <a:pt x="0" y="0"/>
                </a:lnTo>
                <a:close/>
              </a:path>
            </a:pathLst>
          </a:custGeom>
          <a:blipFill>
            <a:blip r:embed="rId6"/>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false" flipV="false" rot="254147">
            <a:off x="3657970" y="-429651"/>
            <a:ext cx="4141221" cy="1863549"/>
          </a:xfrm>
          <a:custGeom>
            <a:avLst/>
            <a:gdLst/>
            <a:ahLst/>
            <a:cxnLst/>
            <a:rect r="r" b="b" t="t" l="l"/>
            <a:pathLst>
              <a:path h="1863549" w="4141221">
                <a:moveTo>
                  <a:pt x="0" y="0"/>
                </a:moveTo>
                <a:lnTo>
                  <a:pt x="4141221" y="0"/>
                </a:lnTo>
                <a:lnTo>
                  <a:pt x="4141221" y="1863550"/>
                </a:lnTo>
                <a:lnTo>
                  <a:pt x="0" y="1863550"/>
                </a:lnTo>
                <a:lnTo>
                  <a:pt x="0" y="0"/>
                </a:lnTo>
                <a:close/>
              </a:path>
            </a:pathLst>
          </a:custGeom>
          <a:blipFill>
            <a:blip r:embed="rId7"/>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0">
            <a:off x="14004692" y="8192643"/>
            <a:ext cx="3254608" cy="1201246"/>
          </a:xfrm>
          <a:custGeom>
            <a:avLst/>
            <a:gdLst/>
            <a:ahLst/>
            <a:cxnLst/>
            <a:rect r="r" b="b" t="t" l="l"/>
            <a:pathLst>
              <a:path h="1201246" w="3254608">
                <a:moveTo>
                  <a:pt x="0" y="0"/>
                </a:moveTo>
                <a:lnTo>
                  <a:pt x="3254608" y="0"/>
                </a:lnTo>
                <a:lnTo>
                  <a:pt x="3254608" y="1201246"/>
                </a:lnTo>
                <a:lnTo>
                  <a:pt x="0" y="12012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828800" y="1019175"/>
            <a:ext cx="7315200" cy="1057275"/>
          </a:xfrm>
          <a:prstGeom prst="rect">
            <a:avLst/>
          </a:prstGeom>
        </p:spPr>
        <p:txBody>
          <a:bodyPr anchor="t" rtlCol="false" tIns="0" lIns="0" bIns="0" rIns="0">
            <a:spAutoFit/>
          </a:bodyPr>
          <a:lstStyle/>
          <a:p>
            <a:pPr algn="ctr" marL="0" indent="0" lvl="0">
              <a:lnSpc>
                <a:spcPts val="8279"/>
              </a:lnSpc>
              <a:spcBef>
                <a:spcPct val="0"/>
              </a:spcBef>
            </a:pPr>
            <a:r>
              <a:rPr lang="en-US" sz="6899">
                <a:solidFill>
                  <a:srgbClr val="233731"/>
                </a:solidFill>
                <a:latin typeface="Pluma"/>
                <a:ea typeface="Pluma"/>
                <a:cs typeface="Pluma"/>
                <a:sym typeface="Pluma"/>
              </a:rPr>
              <a:t>TUJUAN</a:t>
            </a:r>
          </a:p>
        </p:txBody>
      </p:sp>
      <p:sp>
        <p:nvSpPr>
          <p:cNvPr name="Freeform 9" id="9">
            <a:extLst>
              <a:ext uri="{C183D7F6-B498-43B3-948B-1728B52AA6E4}">
                <adec:decorative xmlns:adec="http://schemas.microsoft.com/office/drawing/2017/decorative" val="1"/>
              </a:ext>
            </a:extLst>
          </p:cNvPr>
          <p:cNvSpPr/>
          <p:nvPr/>
        </p:nvSpPr>
        <p:spPr>
          <a:xfrm flipH="false" flipV="false" rot="-605226">
            <a:off x="1161153" y="1776600"/>
            <a:ext cx="1702928" cy="1374728"/>
          </a:xfrm>
          <a:custGeom>
            <a:avLst/>
            <a:gdLst/>
            <a:ahLst/>
            <a:cxnLst/>
            <a:rect r="r" b="b" t="t" l="l"/>
            <a:pathLst>
              <a:path h="1374728" w="1702928">
                <a:moveTo>
                  <a:pt x="0" y="0"/>
                </a:moveTo>
                <a:lnTo>
                  <a:pt x="1702929" y="0"/>
                </a:lnTo>
                <a:lnTo>
                  <a:pt x="1702929" y="1374728"/>
                </a:lnTo>
                <a:lnTo>
                  <a:pt x="0" y="13747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971309" y="2269694"/>
            <a:ext cx="13183289" cy="6943725"/>
          </a:xfrm>
          <a:prstGeom prst="rect">
            <a:avLst/>
          </a:prstGeom>
        </p:spPr>
        <p:txBody>
          <a:bodyPr anchor="t" rtlCol="false" tIns="0" lIns="0" bIns="0" rIns="0">
            <a:spAutoFit/>
          </a:bodyPr>
          <a:lstStyle/>
          <a:p>
            <a:pPr algn="l" marL="755651" indent="-377825" lvl="1">
              <a:lnSpc>
                <a:spcPts val="4200"/>
              </a:lnSpc>
              <a:spcBef>
                <a:spcPct val="0"/>
              </a:spcBef>
              <a:buFont typeface="Arial"/>
              <a:buChar char="•"/>
            </a:pPr>
            <a:r>
              <a:rPr lang="en-US" b="true" sz="3500">
                <a:solidFill>
                  <a:srgbClr val="233731"/>
                </a:solidFill>
                <a:latin typeface="Anonymous Pro Bold"/>
                <a:ea typeface="Anonymous Pro Bold"/>
                <a:cs typeface="Anonymous Pro Bold"/>
                <a:sym typeface="Anonymous Pro Bold"/>
              </a:rPr>
              <a:t>M</a:t>
            </a:r>
            <a:r>
              <a:rPr lang="en-US" b="true" sz="3500">
                <a:solidFill>
                  <a:srgbClr val="233731"/>
                </a:solidFill>
                <a:latin typeface="Anonymous Pro Bold"/>
                <a:ea typeface="Anonymous Pro Bold"/>
                <a:cs typeface="Anonymous Pro Bold"/>
                <a:sym typeface="Anonymous Pro Bold"/>
              </a:rPr>
              <a:t>ERANCANG ANTENA BOWTIE DENGAN PENCATUAN MIKROSTRIP MENGGUNAKAN METODE SLOT DAN PARASITIC SDR 12 PADA SIMULATOR CST BERDASARKAN PERHITUNGAN MANUAL.</a:t>
            </a:r>
          </a:p>
          <a:p>
            <a:pPr algn="l" marL="755651" indent="-377825" lvl="1">
              <a:lnSpc>
                <a:spcPts val="4200"/>
              </a:lnSpc>
              <a:spcBef>
                <a:spcPct val="0"/>
              </a:spcBef>
              <a:buFont typeface="Arial"/>
              <a:buChar char="•"/>
            </a:pPr>
            <a:r>
              <a:rPr lang="en-US" b="true" sz="3500">
                <a:solidFill>
                  <a:srgbClr val="233731"/>
                </a:solidFill>
                <a:latin typeface="Anonymous Pro Bold"/>
                <a:ea typeface="Anonymous Pro Bold"/>
                <a:cs typeface="Anonymous Pro Bold"/>
                <a:sym typeface="Anonymous Pro Bold"/>
              </a:rPr>
              <a:t>MENGOPTIMALKAN DESAIN ANTENA MIKROSTRIP UNTUK BEKERJA PADA FREKUENSI 2.65 GHZ – 3.2 GHZ DENGAN GAIN 1–5 DB.</a:t>
            </a:r>
          </a:p>
          <a:p>
            <a:pPr algn="l" marL="755651" indent="-377825" lvl="1">
              <a:lnSpc>
                <a:spcPts val="4200"/>
              </a:lnSpc>
              <a:spcBef>
                <a:spcPct val="0"/>
              </a:spcBef>
              <a:buFont typeface="Arial"/>
              <a:buChar char="•"/>
            </a:pPr>
            <a:r>
              <a:rPr lang="en-US" b="true" sz="3500">
                <a:solidFill>
                  <a:srgbClr val="233731"/>
                </a:solidFill>
                <a:latin typeface="Anonymous Pro Bold"/>
                <a:ea typeface="Anonymous Pro Bold"/>
                <a:cs typeface="Anonymous Pro Bold"/>
                <a:sym typeface="Anonymous Pro Bold"/>
              </a:rPr>
              <a:t>MENGANALISIS RETURN LOSS, VSWR, BANDWIDTH, DAN POLA RADIASI ANTENA.</a:t>
            </a:r>
          </a:p>
          <a:p>
            <a:pPr algn="l" marL="755651" indent="-377825" lvl="1">
              <a:lnSpc>
                <a:spcPts val="4200"/>
              </a:lnSpc>
              <a:spcBef>
                <a:spcPct val="0"/>
              </a:spcBef>
              <a:buFont typeface="Arial"/>
              <a:buChar char="•"/>
            </a:pPr>
            <a:r>
              <a:rPr lang="en-US" b="true" sz="3500">
                <a:solidFill>
                  <a:srgbClr val="233731"/>
                </a:solidFill>
                <a:latin typeface="Anonymous Pro Bold"/>
                <a:ea typeface="Anonymous Pro Bold"/>
                <a:cs typeface="Anonymous Pro Bold"/>
                <a:sym typeface="Anonymous Pro Bold"/>
              </a:rPr>
              <a:t>MENENTUKAN PARAMETER DESAIN ANTENA BOWTIE, TERMASUK LEBAR DAN PANJANG PATCH, LEBAR DAN PANJANG GROUND, LEBAR DAN PANJANG FEED, SERTA TEBAL INDUCTOR DAN SUBSTRAT.</a:t>
            </a:r>
          </a:p>
          <a:p>
            <a:pPr algn="l">
              <a:lnSpc>
                <a:spcPts val="42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true" flipV="false" rot="0">
            <a:off x="14187795" y="-599597"/>
            <a:ext cx="5111215" cy="11486194"/>
          </a:xfrm>
          <a:custGeom>
            <a:avLst/>
            <a:gdLst/>
            <a:ahLst/>
            <a:cxnLst/>
            <a:rect r="r" b="b" t="t" l="l"/>
            <a:pathLst>
              <a:path h="11486194" w="5111215">
                <a:moveTo>
                  <a:pt x="5111215" y="0"/>
                </a:moveTo>
                <a:lnTo>
                  <a:pt x="0" y="0"/>
                </a:lnTo>
                <a:lnTo>
                  <a:pt x="0" y="11486194"/>
                </a:lnTo>
                <a:lnTo>
                  <a:pt x="5111215" y="11486194"/>
                </a:lnTo>
                <a:lnTo>
                  <a:pt x="5111215" y="0"/>
                </a:lnTo>
                <a:close/>
              </a:path>
            </a:pathLst>
          </a:custGeom>
          <a:blipFill>
            <a:blip r:embed="rId3"/>
            <a:stretch>
              <a:fillRect l="-94668"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649819">
            <a:off x="13611876" y="889110"/>
            <a:ext cx="3738326" cy="972969"/>
          </a:xfrm>
          <a:custGeom>
            <a:avLst/>
            <a:gdLst/>
            <a:ahLst/>
            <a:cxnLst/>
            <a:rect r="r" b="b" t="t" l="l"/>
            <a:pathLst>
              <a:path h="972969" w="3738326">
                <a:moveTo>
                  <a:pt x="0" y="0"/>
                </a:moveTo>
                <a:lnTo>
                  <a:pt x="3738326" y="0"/>
                </a:lnTo>
                <a:lnTo>
                  <a:pt x="3738326" y="972969"/>
                </a:lnTo>
                <a:lnTo>
                  <a:pt x="0" y="972969"/>
                </a:lnTo>
                <a:lnTo>
                  <a:pt x="0" y="0"/>
                </a:lnTo>
                <a:close/>
              </a:path>
            </a:pathLst>
          </a:custGeom>
          <a:blipFill>
            <a:blip r:embed="rId4">
              <a:extLst>
                <a:ext uri="{96DAC541-7B7A-43D3-8B79-37D633B846F1}">
                  <asvg:svgBlip xmlns:asvg="http://schemas.microsoft.com/office/drawing/2016/SVG/main" r:embed="rId5"/>
                </a:ext>
              </a:extLst>
            </a:blip>
            <a:stretch>
              <a:fillRect l="0" t="-54722" r="0" b="-1366"/>
            </a:stretch>
          </a:blipFill>
        </p:spPr>
      </p:sp>
      <p:sp>
        <p:nvSpPr>
          <p:cNvPr name="Freeform 5" id="5">
            <a:extLst>
              <a:ext uri="{C183D7F6-B498-43B3-948B-1728B52AA6E4}">
                <adec:decorative xmlns:adec="http://schemas.microsoft.com/office/drawing/2017/decorative" val="1"/>
              </a:ext>
            </a:extLst>
          </p:cNvPr>
          <p:cNvSpPr/>
          <p:nvPr/>
        </p:nvSpPr>
        <p:spPr>
          <a:xfrm flipH="false" flipV="false" rot="8721522">
            <a:off x="-965046" y="-1265127"/>
            <a:ext cx="4236011" cy="2885783"/>
          </a:xfrm>
          <a:custGeom>
            <a:avLst/>
            <a:gdLst/>
            <a:ahLst/>
            <a:cxnLst/>
            <a:rect r="r" b="b" t="t" l="l"/>
            <a:pathLst>
              <a:path h="2885783" w="4236011">
                <a:moveTo>
                  <a:pt x="0" y="0"/>
                </a:moveTo>
                <a:lnTo>
                  <a:pt x="4236011" y="0"/>
                </a:lnTo>
                <a:lnTo>
                  <a:pt x="4236011" y="2885783"/>
                </a:lnTo>
                <a:lnTo>
                  <a:pt x="0" y="2885783"/>
                </a:lnTo>
                <a:lnTo>
                  <a:pt x="0" y="0"/>
                </a:lnTo>
                <a:close/>
              </a:path>
            </a:pathLst>
          </a:custGeom>
          <a:blipFill>
            <a:blip r:embed="rId6"/>
            <a:stretch>
              <a:fillRect l="0" t="0" r="0" b="0"/>
            </a:stretch>
          </a:blipFill>
        </p:spPr>
      </p:sp>
      <p:grpSp>
        <p:nvGrpSpPr>
          <p:cNvPr name="Group 6" id="6"/>
          <p:cNvGrpSpPr/>
          <p:nvPr/>
        </p:nvGrpSpPr>
        <p:grpSpPr>
          <a:xfrm rot="-2001269">
            <a:off x="1592399" y="2138154"/>
            <a:ext cx="708114" cy="684176"/>
            <a:chOff x="0" y="0"/>
            <a:chExt cx="944153" cy="912235"/>
          </a:xfrm>
        </p:grpSpPr>
        <p:grpSp>
          <p:nvGrpSpPr>
            <p:cNvPr name="Group 7" id="7"/>
            <p:cNvGrpSpPr/>
            <p:nvPr/>
          </p:nvGrpSpPr>
          <p:grpSpPr>
            <a:xfrm rot="0">
              <a:off x="0" y="661010"/>
              <a:ext cx="428318" cy="251225"/>
              <a:chOff x="0" y="0"/>
              <a:chExt cx="528320" cy="309880"/>
            </a:xfrm>
          </p:grpSpPr>
          <p:sp>
            <p:nvSpPr>
              <p:cNvPr name="Freeform 8" id="8"/>
              <p:cNvSpPr/>
              <p:nvPr/>
            </p:nvSpPr>
            <p:spPr>
              <a:xfrm flipH="false" flipV="false" rot="0">
                <a:off x="46990" y="48260"/>
                <a:ext cx="433070" cy="213360"/>
              </a:xfrm>
              <a:custGeom>
                <a:avLst/>
                <a:gdLst/>
                <a:ahLst/>
                <a:cxnLst/>
                <a:rect r="r" b="b" t="t" l="l"/>
                <a:pathLst>
                  <a:path h="213360" w="433070">
                    <a:moveTo>
                      <a:pt x="76200" y="2540"/>
                    </a:moveTo>
                    <a:cubicBezTo>
                      <a:pt x="419100" y="119380"/>
                      <a:pt x="422910" y="127000"/>
                      <a:pt x="426720" y="137160"/>
                    </a:cubicBezTo>
                    <a:cubicBezTo>
                      <a:pt x="430530" y="147320"/>
                      <a:pt x="431800" y="161290"/>
                      <a:pt x="427990" y="172720"/>
                    </a:cubicBezTo>
                    <a:cubicBezTo>
                      <a:pt x="422910" y="186690"/>
                      <a:pt x="405130" y="204470"/>
                      <a:pt x="392430" y="209550"/>
                    </a:cubicBezTo>
                    <a:cubicBezTo>
                      <a:pt x="382270" y="213360"/>
                      <a:pt x="368300" y="213360"/>
                      <a:pt x="358140" y="208280"/>
                    </a:cubicBezTo>
                    <a:cubicBezTo>
                      <a:pt x="345440" y="201930"/>
                      <a:pt x="327660" y="184150"/>
                      <a:pt x="322580" y="171450"/>
                    </a:cubicBezTo>
                    <a:cubicBezTo>
                      <a:pt x="318770" y="160020"/>
                      <a:pt x="321310" y="146050"/>
                      <a:pt x="325120" y="135890"/>
                    </a:cubicBezTo>
                    <a:cubicBezTo>
                      <a:pt x="328930" y="125730"/>
                      <a:pt x="337820" y="114300"/>
                      <a:pt x="347980" y="109220"/>
                    </a:cubicBezTo>
                    <a:cubicBezTo>
                      <a:pt x="360680" y="102870"/>
                      <a:pt x="384810" y="100330"/>
                      <a:pt x="398780" y="106680"/>
                    </a:cubicBezTo>
                    <a:cubicBezTo>
                      <a:pt x="412750" y="113030"/>
                      <a:pt x="426720" y="134620"/>
                      <a:pt x="430530" y="148590"/>
                    </a:cubicBezTo>
                    <a:cubicBezTo>
                      <a:pt x="433070" y="160020"/>
                      <a:pt x="429260" y="172720"/>
                      <a:pt x="424180" y="182880"/>
                    </a:cubicBezTo>
                    <a:cubicBezTo>
                      <a:pt x="419100" y="193040"/>
                      <a:pt x="408940" y="201930"/>
                      <a:pt x="398780" y="207010"/>
                    </a:cubicBezTo>
                    <a:cubicBezTo>
                      <a:pt x="388620" y="212090"/>
                      <a:pt x="379730" y="212090"/>
                      <a:pt x="363220" y="210820"/>
                    </a:cubicBezTo>
                    <a:cubicBezTo>
                      <a:pt x="323850" y="205740"/>
                      <a:pt x="229870" y="160020"/>
                      <a:pt x="170180" y="143510"/>
                    </a:cubicBezTo>
                    <a:cubicBezTo>
                      <a:pt x="120650" y="129540"/>
                      <a:pt x="58420" y="129540"/>
                      <a:pt x="31750" y="113030"/>
                    </a:cubicBezTo>
                    <a:cubicBezTo>
                      <a:pt x="16510" y="104140"/>
                      <a:pt x="7620" y="92710"/>
                      <a:pt x="3810" y="80010"/>
                    </a:cubicBezTo>
                    <a:cubicBezTo>
                      <a:pt x="0" y="67310"/>
                      <a:pt x="0" y="50800"/>
                      <a:pt x="5080" y="38100"/>
                    </a:cubicBezTo>
                    <a:cubicBezTo>
                      <a:pt x="10160" y="25400"/>
                      <a:pt x="21590" y="12700"/>
                      <a:pt x="33020" y="6350"/>
                    </a:cubicBezTo>
                    <a:cubicBezTo>
                      <a:pt x="44450" y="0"/>
                      <a:pt x="76200" y="2540"/>
                      <a:pt x="76200" y="2540"/>
                    </a:cubicBezTo>
                  </a:path>
                </a:pathLst>
              </a:custGeom>
              <a:solidFill>
                <a:srgbClr val="DDAA2B"/>
              </a:solidFill>
              <a:ln cap="sq">
                <a:noFill/>
                <a:prstDash val="solid"/>
                <a:miter/>
              </a:ln>
            </p:spPr>
          </p:sp>
        </p:grpSp>
        <p:grpSp>
          <p:nvGrpSpPr>
            <p:cNvPr name="Group 9" id="9"/>
            <p:cNvGrpSpPr/>
            <p:nvPr/>
          </p:nvGrpSpPr>
          <p:grpSpPr>
            <a:xfrm rot="0">
              <a:off x="355216" y="299617"/>
              <a:ext cx="294469" cy="363452"/>
              <a:chOff x="0" y="0"/>
              <a:chExt cx="363220" cy="448310"/>
            </a:xfrm>
          </p:grpSpPr>
          <p:sp>
            <p:nvSpPr>
              <p:cNvPr name="Freeform 10" id="10"/>
              <p:cNvSpPr/>
              <p:nvPr/>
            </p:nvSpPr>
            <p:spPr>
              <a:xfrm flipH="false" flipV="false" rot="0">
                <a:off x="45720" y="46990"/>
                <a:ext cx="267970" cy="354330"/>
              </a:xfrm>
              <a:custGeom>
                <a:avLst/>
                <a:gdLst/>
                <a:ahLst/>
                <a:cxnLst/>
                <a:rect r="r" b="b" t="t" l="l"/>
                <a:pathLst>
                  <a:path h="354330" w="267970">
                    <a:moveTo>
                      <a:pt x="118110" y="29210"/>
                    </a:moveTo>
                    <a:cubicBezTo>
                      <a:pt x="266700" y="285750"/>
                      <a:pt x="265430" y="304800"/>
                      <a:pt x="259080" y="320040"/>
                    </a:cubicBezTo>
                    <a:cubicBezTo>
                      <a:pt x="254000" y="332740"/>
                      <a:pt x="241300" y="342900"/>
                      <a:pt x="228600" y="346710"/>
                    </a:cubicBezTo>
                    <a:cubicBezTo>
                      <a:pt x="213360" y="351790"/>
                      <a:pt x="184150" y="350520"/>
                      <a:pt x="170180" y="342900"/>
                    </a:cubicBezTo>
                    <a:cubicBezTo>
                      <a:pt x="158750" y="336550"/>
                      <a:pt x="148590" y="322580"/>
                      <a:pt x="144780" y="311150"/>
                    </a:cubicBezTo>
                    <a:cubicBezTo>
                      <a:pt x="140970" y="299720"/>
                      <a:pt x="139700" y="283210"/>
                      <a:pt x="143510" y="271780"/>
                    </a:cubicBezTo>
                    <a:cubicBezTo>
                      <a:pt x="147320" y="259080"/>
                      <a:pt x="156210" y="246380"/>
                      <a:pt x="166370" y="238760"/>
                    </a:cubicBezTo>
                    <a:cubicBezTo>
                      <a:pt x="176530" y="231140"/>
                      <a:pt x="190500" y="224790"/>
                      <a:pt x="204470" y="226060"/>
                    </a:cubicBezTo>
                    <a:cubicBezTo>
                      <a:pt x="220980" y="227330"/>
                      <a:pt x="246380" y="242570"/>
                      <a:pt x="256540" y="255270"/>
                    </a:cubicBezTo>
                    <a:cubicBezTo>
                      <a:pt x="264160" y="265430"/>
                      <a:pt x="267970" y="280670"/>
                      <a:pt x="266700" y="293370"/>
                    </a:cubicBezTo>
                    <a:cubicBezTo>
                      <a:pt x="265430" y="306070"/>
                      <a:pt x="260350" y="321310"/>
                      <a:pt x="251460" y="330200"/>
                    </a:cubicBezTo>
                    <a:cubicBezTo>
                      <a:pt x="242570" y="340360"/>
                      <a:pt x="228600" y="347980"/>
                      <a:pt x="215900" y="350520"/>
                    </a:cubicBezTo>
                    <a:cubicBezTo>
                      <a:pt x="203200" y="353060"/>
                      <a:pt x="191770" y="354330"/>
                      <a:pt x="176530" y="345440"/>
                    </a:cubicBezTo>
                    <a:cubicBezTo>
                      <a:pt x="134620" y="318770"/>
                      <a:pt x="20320" y="138430"/>
                      <a:pt x="5080" y="86360"/>
                    </a:cubicBezTo>
                    <a:cubicBezTo>
                      <a:pt x="0" y="66040"/>
                      <a:pt x="1270" y="54610"/>
                      <a:pt x="6350" y="41910"/>
                    </a:cubicBezTo>
                    <a:cubicBezTo>
                      <a:pt x="11430" y="29210"/>
                      <a:pt x="24130" y="13970"/>
                      <a:pt x="36830" y="7620"/>
                    </a:cubicBezTo>
                    <a:cubicBezTo>
                      <a:pt x="49530" y="1270"/>
                      <a:pt x="67310" y="0"/>
                      <a:pt x="81280" y="3810"/>
                    </a:cubicBezTo>
                    <a:cubicBezTo>
                      <a:pt x="95250" y="7620"/>
                      <a:pt x="118110" y="29210"/>
                      <a:pt x="118110" y="29210"/>
                    </a:cubicBezTo>
                  </a:path>
                </a:pathLst>
              </a:custGeom>
              <a:solidFill>
                <a:srgbClr val="DDAA2B"/>
              </a:solidFill>
              <a:ln cap="sq">
                <a:noFill/>
                <a:prstDash val="solid"/>
                <a:miter/>
              </a:ln>
            </p:spPr>
          </p:sp>
        </p:grpSp>
        <p:grpSp>
          <p:nvGrpSpPr>
            <p:cNvPr name="Group 11" id="11"/>
            <p:cNvGrpSpPr/>
            <p:nvPr/>
          </p:nvGrpSpPr>
          <p:grpSpPr>
            <a:xfrm rot="0">
              <a:off x="724846" y="0"/>
              <a:ext cx="219307" cy="407726"/>
              <a:chOff x="0" y="0"/>
              <a:chExt cx="270510" cy="502920"/>
            </a:xfrm>
          </p:grpSpPr>
          <p:sp>
            <p:nvSpPr>
              <p:cNvPr name="Freeform 12" id="12"/>
              <p:cNvSpPr/>
              <p:nvPr/>
            </p:nvSpPr>
            <p:spPr>
              <a:xfrm flipH="false" flipV="false" rot="0">
                <a:off x="44450" y="50800"/>
                <a:ext cx="176530" cy="402590"/>
              </a:xfrm>
              <a:custGeom>
                <a:avLst/>
                <a:gdLst/>
                <a:ahLst/>
                <a:cxnLst/>
                <a:rect r="r" b="b" t="t" l="l"/>
                <a:pathLst>
                  <a:path h="402590" w="176530">
                    <a:moveTo>
                      <a:pt x="125730" y="50800"/>
                    </a:moveTo>
                    <a:cubicBezTo>
                      <a:pt x="170180" y="375920"/>
                      <a:pt x="160020" y="389890"/>
                      <a:pt x="146050" y="396240"/>
                    </a:cubicBezTo>
                    <a:cubicBezTo>
                      <a:pt x="132080" y="402590"/>
                      <a:pt x="106680" y="402590"/>
                      <a:pt x="93980" y="394970"/>
                    </a:cubicBezTo>
                    <a:cubicBezTo>
                      <a:pt x="81280" y="387350"/>
                      <a:pt x="68580" y="367030"/>
                      <a:pt x="67310" y="351790"/>
                    </a:cubicBezTo>
                    <a:cubicBezTo>
                      <a:pt x="66040" y="336550"/>
                      <a:pt x="74930" y="314960"/>
                      <a:pt x="86360" y="304800"/>
                    </a:cubicBezTo>
                    <a:cubicBezTo>
                      <a:pt x="97790" y="294640"/>
                      <a:pt x="123190" y="289560"/>
                      <a:pt x="137160" y="294640"/>
                    </a:cubicBezTo>
                    <a:cubicBezTo>
                      <a:pt x="151130" y="299720"/>
                      <a:pt x="168910" y="317500"/>
                      <a:pt x="172720" y="331470"/>
                    </a:cubicBezTo>
                    <a:cubicBezTo>
                      <a:pt x="176530" y="345440"/>
                      <a:pt x="172720" y="369570"/>
                      <a:pt x="163830" y="381000"/>
                    </a:cubicBezTo>
                    <a:cubicBezTo>
                      <a:pt x="154940" y="392430"/>
                      <a:pt x="130810" y="401320"/>
                      <a:pt x="116840" y="401320"/>
                    </a:cubicBezTo>
                    <a:cubicBezTo>
                      <a:pt x="105410" y="401320"/>
                      <a:pt x="93980" y="394970"/>
                      <a:pt x="85090" y="387350"/>
                    </a:cubicBezTo>
                    <a:cubicBezTo>
                      <a:pt x="77470" y="379730"/>
                      <a:pt x="73660" y="373380"/>
                      <a:pt x="67310" y="358140"/>
                    </a:cubicBezTo>
                    <a:cubicBezTo>
                      <a:pt x="48260" y="311150"/>
                      <a:pt x="0" y="109220"/>
                      <a:pt x="6350" y="55880"/>
                    </a:cubicBezTo>
                    <a:cubicBezTo>
                      <a:pt x="8890" y="35560"/>
                      <a:pt x="15240" y="25400"/>
                      <a:pt x="25400" y="16510"/>
                    </a:cubicBezTo>
                    <a:cubicBezTo>
                      <a:pt x="35560" y="7620"/>
                      <a:pt x="52070" y="0"/>
                      <a:pt x="64770" y="0"/>
                    </a:cubicBezTo>
                    <a:cubicBezTo>
                      <a:pt x="77470" y="0"/>
                      <a:pt x="93980" y="5080"/>
                      <a:pt x="104140" y="13970"/>
                    </a:cubicBezTo>
                    <a:cubicBezTo>
                      <a:pt x="114300" y="22860"/>
                      <a:pt x="125730" y="50800"/>
                      <a:pt x="125730" y="50800"/>
                    </a:cubicBezTo>
                  </a:path>
                </a:pathLst>
              </a:custGeom>
              <a:solidFill>
                <a:srgbClr val="DDAA2B"/>
              </a:solidFill>
              <a:ln cap="sq">
                <a:noFill/>
                <a:prstDash val="solid"/>
                <a:miter/>
              </a:ln>
            </p:spPr>
          </p:sp>
        </p:grpSp>
      </p:grpSp>
      <p:grpSp>
        <p:nvGrpSpPr>
          <p:cNvPr name="Group 13" id="13"/>
          <p:cNvGrpSpPr/>
          <p:nvPr/>
        </p:nvGrpSpPr>
        <p:grpSpPr>
          <a:xfrm rot="7841044">
            <a:off x="8198845" y="2087016"/>
            <a:ext cx="708114" cy="684176"/>
            <a:chOff x="0" y="0"/>
            <a:chExt cx="944153" cy="912235"/>
          </a:xfrm>
        </p:grpSpPr>
        <p:grpSp>
          <p:nvGrpSpPr>
            <p:cNvPr name="Group 14" id="14"/>
            <p:cNvGrpSpPr/>
            <p:nvPr/>
          </p:nvGrpSpPr>
          <p:grpSpPr>
            <a:xfrm rot="0">
              <a:off x="0" y="661010"/>
              <a:ext cx="428318" cy="251225"/>
              <a:chOff x="0" y="0"/>
              <a:chExt cx="528320" cy="309880"/>
            </a:xfrm>
          </p:grpSpPr>
          <p:sp>
            <p:nvSpPr>
              <p:cNvPr name="Freeform 15" id="15"/>
              <p:cNvSpPr/>
              <p:nvPr/>
            </p:nvSpPr>
            <p:spPr>
              <a:xfrm flipH="false" flipV="false" rot="0">
                <a:off x="46990" y="48260"/>
                <a:ext cx="433070" cy="213360"/>
              </a:xfrm>
              <a:custGeom>
                <a:avLst/>
                <a:gdLst/>
                <a:ahLst/>
                <a:cxnLst/>
                <a:rect r="r" b="b" t="t" l="l"/>
                <a:pathLst>
                  <a:path h="213360" w="433070">
                    <a:moveTo>
                      <a:pt x="76200" y="2540"/>
                    </a:moveTo>
                    <a:cubicBezTo>
                      <a:pt x="419100" y="119380"/>
                      <a:pt x="422910" y="127000"/>
                      <a:pt x="426720" y="137160"/>
                    </a:cubicBezTo>
                    <a:cubicBezTo>
                      <a:pt x="430530" y="147320"/>
                      <a:pt x="431800" y="161290"/>
                      <a:pt x="427990" y="172720"/>
                    </a:cubicBezTo>
                    <a:cubicBezTo>
                      <a:pt x="422910" y="186690"/>
                      <a:pt x="405130" y="204470"/>
                      <a:pt x="392430" y="209550"/>
                    </a:cubicBezTo>
                    <a:cubicBezTo>
                      <a:pt x="382270" y="213360"/>
                      <a:pt x="368300" y="213360"/>
                      <a:pt x="358140" y="208280"/>
                    </a:cubicBezTo>
                    <a:cubicBezTo>
                      <a:pt x="345440" y="201930"/>
                      <a:pt x="327660" y="184150"/>
                      <a:pt x="322580" y="171450"/>
                    </a:cubicBezTo>
                    <a:cubicBezTo>
                      <a:pt x="318770" y="160020"/>
                      <a:pt x="321310" y="146050"/>
                      <a:pt x="325120" y="135890"/>
                    </a:cubicBezTo>
                    <a:cubicBezTo>
                      <a:pt x="328930" y="125730"/>
                      <a:pt x="337820" y="114300"/>
                      <a:pt x="347980" y="109220"/>
                    </a:cubicBezTo>
                    <a:cubicBezTo>
                      <a:pt x="360680" y="102870"/>
                      <a:pt x="384810" y="100330"/>
                      <a:pt x="398780" y="106680"/>
                    </a:cubicBezTo>
                    <a:cubicBezTo>
                      <a:pt x="412750" y="113030"/>
                      <a:pt x="426720" y="134620"/>
                      <a:pt x="430530" y="148590"/>
                    </a:cubicBezTo>
                    <a:cubicBezTo>
                      <a:pt x="433070" y="160020"/>
                      <a:pt x="429260" y="172720"/>
                      <a:pt x="424180" y="182880"/>
                    </a:cubicBezTo>
                    <a:cubicBezTo>
                      <a:pt x="419100" y="193040"/>
                      <a:pt x="408940" y="201930"/>
                      <a:pt x="398780" y="207010"/>
                    </a:cubicBezTo>
                    <a:cubicBezTo>
                      <a:pt x="388620" y="212090"/>
                      <a:pt x="379730" y="212090"/>
                      <a:pt x="363220" y="210820"/>
                    </a:cubicBezTo>
                    <a:cubicBezTo>
                      <a:pt x="323850" y="205740"/>
                      <a:pt x="229870" y="160020"/>
                      <a:pt x="170180" y="143510"/>
                    </a:cubicBezTo>
                    <a:cubicBezTo>
                      <a:pt x="120650" y="129540"/>
                      <a:pt x="58420" y="129540"/>
                      <a:pt x="31750" y="113030"/>
                    </a:cubicBezTo>
                    <a:cubicBezTo>
                      <a:pt x="16510" y="104140"/>
                      <a:pt x="7620" y="92710"/>
                      <a:pt x="3810" y="80010"/>
                    </a:cubicBezTo>
                    <a:cubicBezTo>
                      <a:pt x="0" y="67310"/>
                      <a:pt x="0" y="50800"/>
                      <a:pt x="5080" y="38100"/>
                    </a:cubicBezTo>
                    <a:cubicBezTo>
                      <a:pt x="10160" y="25400"/>
                      <a:pt x="21590" y="12700"/>
                      <a:pt x="33020" y="6350"/>
                    </a:cubicBezTo>
                    <a:cubicBezTo>
                      <a:pt x="44450" y="0"/>
                      <a:pt x="76200" y="2540"/>
                      <a:pt x="76200" y="2540"/>
                    </a:cubicBezTo>
                  </a:path>
                </a:pathLst>
              </a:custGeom>
              <a:solidFill>
                <a:srgbClr val="DDAA2B"/>
              </a:solidFill>
              <a:ln cap="sq">
                <a:noFill/>
                <a:prstDash val="solid"/>
                <a:miter/>
              </a:ln>
            </p:spPr>
          </p:sp>
        </p:grpSp>
        <p:grpSp>
          <p:nvGrpSpPr>
            <p:cNvPr name="Group 16" id="16"/>
            <p:cNvGrpSpPr/>
            <p:nvPr/>
          </p:nvGrpSpPr>
          <p:grpSpPr>
            <a:xfrm rot="0">
              <a:off x="355216" y="299617"/>
              <a:ext cx="294469" cy="363452"/>
              <a:chOff x="0" y="0"/>
              <a:chExt cx="363220" cy="448310"/>
            </a:xfrm>
          </p:grpSpPr>
          <p:sp>
            <p:nvSpPr>
              <p:cNvPr name="Freeform 17" id="17"/>
              <p:cNvSpPr/>
              <p:nvPr/>
            </p:nvSpPr>
            <p:spPr>
              <a:xfrm flipH="false" flipV="false" rot="0">
                <a:off x="45720" y="46990"/>
                <a:ext cx="267970" cy="354330"/>
              </a:xfrm>
              <a:custGeom>
                <a:avLst/>
                <a:gdLst/>
                <a:ahLst/>
                <a:cxnLst/>
                <a:rect r="r" b="b" t="t" l="l"/>
                <a:pathLst>
                  <a:path h="354330" w="267970">
                    <a:moveTo>
                      <a:pt x="118110" y="29210"/>
                    </a:moveTo>
                    <a:cubicBezTo>
                      <a:pt x="266700" y="285750"/>
                      <a:pt x="265430" y="304800"/>
                      <a:pt x="259080" y="320040"/>
                    </a:cubicBezTo>
                    <a:cubicBezTo>
                      <a:pt x="254000" y="332740"/>
                      <a:pt x="241300" y="342900"/>
                      <a:pt x="228600" y="346710"/>
                    </a:cubicBezTo>
                    <a:cubicBezTo>
                      <a:pt x="213360" y="351790"/>
                      <a:pt x="184150" y="350520"/>
                      <a:pt x="170180" y="342900"/>
                    </a:cubicBezTo>
                    <a:cubicBezTo>
                      <a:pt x="158750" y="336550"/>
                      <a:pt x="148590" y="322580"/>
                      <a:pt x="144780" y="311150"/>
                    </a:cubicBezTo>
                    <a:cubicBezTo>
                      <a:pt x="140970" y="299720"/>
                      <a:pt x="139700" y="283210"/>
                      <a:pt x="143510" y="271780"/>
                    </a:cubicBezTo>
                    <a:cubicBezTo>
                      <a:pt x="147320" y="259080"/>
                      <a:pt x="156210" y="246380"/>
                      <a:pt x="166370" y="238760"/>
                    </a:cubicBezTo>
                    <a:cubicBezTo>
                      <a:pt x="176530" y="231140"/>
                      <a:pt x="190500" y="224790"/>
                      <a:pt x="204470" y="226060"/>
                    </a:cubicBezTo>
                    <a:cubicBezTo>
                      <a:pt x="220980" y="227330"/>
                      <a:pt x="246380" y="242570"/>
                      <a:pt x="256540" y="255270"/>
                    </a:cubicBezTo>
                    <a:cubicBezTo>
                      <a:pt x="264160" y="265430"/>
                      <a:pt x="267970" y="280670"/>
                      <a:pt x="266700" y="293370"/>
                    </a:cubicBezTo>
                    <a:cubicBezTo>
                      <a:pt x="265430" y="306070"/>
                      <a:pt x="260350" y="321310"/>
                      <a:pt x="251460" y="330200"/>
                    </a:cubicBezTo>
                    <a:cubicBezTo>
                      <a:pt x="242570" y="340360"/>
                      <a:pt x="228600" y="347980"/>
                      <a:pt x="215900" y="350520"/>
                    </a:cubicBezTo>
                    <a:cubicBezTo>
                      <a:pt x="203200" y="353060"/>
                      <a:pt x="191770" y="354330"/>
                      <a:pt x="176530" y="345440"/>
                    </a:cubicBezTo>
                    <a:cubicBezTo>
                      <a:pt x="134620" y="318770"/>
                      <a:pt x="20320" y="138430"/>
                      <a:pt x="5080" y="86360"/>
                    </a:cubicBezTo>
                    <a:cubicBezTo>
                      <a:pt x="0" y="66040"/>
                      <a:pt x="1270" y="54610"/>
                      <a:pt x="6350" y="41910"/>
                    </a:cubicBezTo>
                    <a:cubicBezTo>
                      <a:pt x="11430" y="29210"/>
                      <a:pt x="24130" y="13970"/>
                      <a:pt x="36830" y="7620"/>
                    </a:cubicBezTo>
                    <a:cubicBezTo>
                      <a:pt x="49530" y="1270"/>
                      <a:pt x="67310" y="0"/>
                      <a:pt x="81280" y="3810"/>
                    </a:cubicBezTo>
                    <a:cubicBezTo>
                      <a:pt x="95250" y="7620"/>
                      <a:pt x="118110" y="29210"/>
                      <a:pt x="118110" y="29210"/>
                    </a:cubicBezTo>
                  </a:path>
                </a:pathLst>
              </a:custGeom>
              <a:solidFill>
                <a:srgbClr val="DDAA2B"/>
              </a:solidFill>
              <a:ln cap="sq">
                <a:noFill/>
                <a:prstDash val="solid"/>
                <a:miter/>
              </a:ln>
            </p:spPr>
          </p:sp>
        </p:grpSp>
        <p:grpSp>
          <p:nvGrpSpPr>
            <p:cNvPr name="Group 18" id="18"/>
            <p:cNvGrpSpPr/>
            <p:nvPr/>
          </p:nvGrpSpPr>
          <p:grpSpPr>
            <a:xfrm rot="0">
              <a:off x="724846" y="0"/>
              <a:ext cx="219307" cy="407726"/>
              <a:chOff x="0" y="0"/>
              <a:chExt cx="270510" cy="502920"/>
            </a:xfrm>
          </p:grpSpPr>
          <p:sp>
            <p:nvSpPr>
              <p:cNvPr name="Freeform 19" id="19"/>
              <p:cNvSpPr/>
              <p:nvPr/>
            </p:nvSpPr>
            <p:spPr>
              <a:xfrm flipH="false" flipV="false" rot="0">
                <a:off x="44450" y="50800"/>
                <a:ext cx="176530" cy="402590"/>
              </a:xfrm>
              <a:custGeom>
                <a:avLst/>
                <a:gdLst/>
                <a:ahLst/>
                <a:cxnLst/>
                <a:rect r="r" b="b" t="t" l="l"/>
                <a:pathLst>
                  <a:path h="402590" w="176530">
                    <a:moveTo>
                      <a:pt x="125730" y="50800"/>
                    </a:moveTo>
                    <a:cubicBezTo>
                      <a:pt x="170180" y="375920"/>
                      <a:pt x="160020" y="389890"/>
                      <a:pt x="146050" y="396240"/>
                    </a:cubicBezTo>
                    <a:cubicBezTo>
                      <a:pt x="132080" y="402590"/>
                      <a:pt x="106680" y="402590"/>
                      <a:pt x="93980" y="394970"/>
                    </a:cubicBezTo>
                    <a:cubicBezTo>
                      <a:pt x="81280" y="387350"/>
                      <a:pt x="68580" y="367030"/>
                      <a:pt x="67310" y="351790"/>
                    </a:cubicBezTo>
                    <a:cubicBezTo>
                      <a:pt x="66040" y="336550"/>
                      <a:pt x="74930" y="314960"/>
                      <a:pt x="86360" y="304800"/>
                    </a:cubicBezTo>
                    <a:cubicBezTo>
                      <a:pt x="97790" y="294640"/>
                      <a:pt x="123190" y="289560"/>
                      <a:pt x="137160" y="294640"/>
                    </a:cubicBezTo>
                    <a:cubicBezTo>
                      <a:pt x="151130" y="299720"/>
                      <a:pt x="168910" y="317500"/>
                      <a:pt x="172720" y="331470"/>
                    </a:cubicBezTo>
                    <a:cubicBezTo>
                      <a:pt x="176530" y="345440"/>
                      <a:pt x="172720" y="369570"/>
                      <a:pt x="163830" y="381000"/>
                    </a:cubicBezTo>
                    <a:cubicBezTo>
                      <a:pt x="154940" y="392430"/>
                      <a:pt x="130810" y="401320"/>
                      <a:pt x="116840" y="401320"/>
                    </a:cubicBezTo>
                    <a:cubicBezTo>
                      <a:pt x="105410" y="401320"/>
                      <a:pt x="93980" y="394970"/>
                      <a:pt x="85090" y="387350"/>
                    </a:cubicBezTo>
                    <a:cubicBezTo>
                      <a:pt x="77470" y="379730"/>
                      <a:pt x="73660" y="373380"/>
                      <a:pt x="67310" y="358140"/>
                    </a:cubicBezTo>
                    <a:cubicBezTo>
                      <a:pt x="48260" y="311150"/>
                      <a:pt x="0" y="109220"/>
                      <a:pt x="6350" y="55880"/>
                    </a:cubicBezTo>
                    <a:cubicBezTo>
                      <a:pt x="8890" y="35560"/>
                      <a:pt x="15240" y="25400"/>
                      <a:pt x="25400" y="16510"/>
                    </a:cubicBezTo>
                    <a:cubicBezTo>
                      <a:pt x="35560" y="7620"/>
                      <a:pt x="52070" y="0"/>
                      <a:pt x="64770" y="0"/>
                    </a:cubicBezTo>
                    <a:cubicBezTo>
                      <a:pt x="77470" y="0"/>
                      <a:pt x="93980" y="5080"/>
                      <a:pt x="104140" y="13970"/>
                    </a:cubicBezTo>
                    <a:cubicBezTo>
                      <a:pt x="114300" y="22860"/>
                      <a:pt x="125730" y="50800"/>
                      <a:pt x="125730" y="50800"/>
                    </a:cubicBezTo>
                  </a:path>
                </a:pathLst>
              </a:custGeom>
              <a:solidFill>
                <a:srgbClr val="DDAA2B"/>
              </a:solidFill>
              <a:ln cap="sq">
                <a:noFill/>
                <a:prstDash val="solid"/>
                <a:miter/>
              </a:ln>
            </p:spPr>
          </p:sp>
        </p:grpSp>
      </p:grpSp>
      <p:sp>
        <p:nvSpPr>
          <p:cNvPr name="TextBox 20" id="20"/>
          <p:cNvSpPr txBox="true"/>
          <p:nvPr/>
        </p:nvSpPr>
        <p:spPr>
          <a:xfrm rot="0">
            <a:off x="1462631" y="1366070"/>
            <a:ext cx="7495956" cy="1614212"/>
          </a:xfrm>
          <a:prstGeom prst="rect">
            <a:avLst/>
          </a:prstGeom>
        </p:spPr>
        <p:txBody>
          <a:bodyPr anchor="t" rtlCol="false" tIns="0" lIns="0" bIns="0" rIns="0">
            <a:spAutoFit/>
          </a:bodyPr>
          <a:lstStyle/>
          <a:p>
            <a:pPr algn="ctr" marL="0" indent="0" lvl="0">
              <a:lnSpc>
                <a:spcPts val="6390"/>
              </a:lnSpc>
              <a:spcBef>
                <a:spcPct val="0"/>
              </a:spcBef>
            </a:pPr>
            <a:r>
              <a:rPr lang="en-US" sz="5325">
                <a:solidFill>
                  <a:srgbClr val="233731"/>
                </a:solidFill>
                <a:latin typeface="Pluma"/>
                <a:ea typeface="Pluma"/>
                <a:cs typeface="Pluma"/>
                <a:sym typeface="Pluma"/>
              </a:rPr>
              <a:t>APA ITU</a:t>
            </a:r>
          </a:p>
          <a:p>
            <a:pPr algn="ctr" marL="0" indent="0" lvl="0">
              <a:lnSpc>
                <a:spcPts val="6390"/>
              </a:lnSpc>
              <a:spcBef>
                <a:spcPct val="0"/>
              </a:spcBef>
            </a:pPr>
            <a:r>
              <a:rPr lang="en-US" sz="5325" strike="noStrike" u="none">
                <a:solidFill>
                  <a:srgbClr val="233731"/>
                </a:solidFill>
                <a:latin typeface="Pluma"/>
                <a:ea typeface="Pluma"/>
                <a:cs typeface="Pluma"/>
                <a:sym typeface="Pluma"/>
              </a:rPr>
              <a:t>ANTENA MICROSTRIP?</a:t>
            </a:r>
          </a:p>
        </p:txBody>
      </p:sp>
      <p:grpSp>
        <p:nvGrpSpPr>
          <p:cNvPr name="Group 21" id="21"/>
          <p:cNvGrpSpPr/>
          <p:nvPr/>
        </p:nvGrpSpPr>
        <p:grpSpPr>
          <a:xfrm rot="0">
            <a:off x="4460312" y="2920594"/>
            <a:ext cx="3108851" cy="182602"/>
            <a:chOff x="0" y="0"/>
            <a:chExt cx="4281170" cy="251460"/>
          </a:xfrm>
        </p:grpSpPr>
        <p:sp>
          <p:nvSpPr>
            <p:cNvPr name="Freeform 22" id="22" descr="an underline doodle"/>
            <p:cNvSpPr/>
            <p:nvPr/>
          </p:nvSpPr>
          <p:spPr>
            <a:xfrm flipH="false" flipV="false" rot="0">
              <a:off x="46990" y="31750"/>
              <a:ext cx="4184650" cy="170180"/>
            </a:xfrm>
            <a:custGeom>
              <a:avLst/>
              <a:gdLst/>
              <a:ahLst/>
              <a:cxnLst/>
              <a:rect r="r" b="b" t="t" l="l"/>
              <a:pathLst>
                <a:path h="170180" w="4184650">
                  <a:moveTo>
                    <a:pt x="43180" y="59690"/>
                  </a:moveTo>
                  <a:cubicBezTo>
                    <a:pt x="720090" y="110490"/>
                    <a:pt x="925830" y="110490"/>
                    <a:pt x="1116330" y="109220"/>
                  </a:cubicBezTo>
                  <a:cubicBezTo>
                    <a:pt x="1299210" y="107950"/>
                    <a:pt x="1457960" y="102870"/>
                    <a:pt x="1654810" y="95250"/>
                  </a:cubicBezTo>
                  <a:cubicBezTo>
                    <a:pt x="1894840" y="85090"/>
                    <a:pt x="2137410" y="60960"/>
                    <a:pt x="2452370" y="49530"/>
                  </a:cubicBezTo>
                  <a:cubicBezTo>
                    <a:pt x="2909570" y="31750"/>
                    <a:pt x="4009390" y="0"/>
                    <a:pt x="4137660" y="19050"/>
                  </a:cubicBezTo>
                  <a:cubicBezTo>
                    <a:pt x="4154170" y="21590"/>
                    <a:pt x="4157980" y="21590"/>
                    <a:pt x="4165600" y="27940"/>
                  </a:cubicBezTo>
                  <a:cubicBezTo>
                    <a:pt x="4174490" y="35560"/>
                    <a:pt x="4183380" y="54610"/>
                    <a:pt x="4183380" y="67310"/>
                  </a:cubicBezTo>
                  <a:cubicBezTo>
                    <a:pt x="4183380" y="77470"/>
                    <a:pt x="4179570" y="87630"/>
                    <a:pt x="4173220" y="95250"/>
                  </a:cubicBezTo>
                  <a:cubicBezTo>
                    <a:pt x="4166870" y="102870"/>
                    <a:pt x="4157980" y="109220"/>
                    <a:pt x="4147820" y="110490"/>
                  </a:cubicBezTo>
                  <a:cubicBezTo>
                    <a:pt x="4136390" y="111760"/>
                    <a:pt x="4114800" y="107950"/>
                    <a:pt x="4105910" y="99060"/>
                  </a:cubicBezTo>
                  <a:cubicBezTo>
                    <a:pt x="4097020" y="90170"/>
                    <a:pt x="4088130" y="69850"/>
                    <a:pt x="4091940" y="57150"/>
                  </a:cubicBezTo>
                  <a:cubicBezTo>
                    <a:pt x="4095750" y="43180"/>
                    <a:pt x="4118610" y="22860"/>
                    <a:pt x="4132580" y="19050"/>
                  </a:cubicBezTo>
                  <a:cubicBezTo>
                    <a:pt x="4142740" y="16510"/>
                    <a:pt x="4154170" y="19050"/>
                    <a:pt x="4161790" y="25400"/>
                  </a:cubicBezTo>
                  <a:cubicBezTo>
                    <a:pt x="4171950" y="31750"/>
                    <a:pt x="4182110" y="50800"/>
                    <a:pt x="4183380" y="62230"/>
                  </a:cubicBezTo>
                  <a:cubicBezTo>
                    <a:pt x="4184650" y="72390"/>
                    <a:pt x="4182110" y="83820"/>
                    <a:pt x="4175760" y="91440"/>
                  </a:cubicBezTo>
                  <a:cubicBezTo>
                    <a:pt x="4168140" y="100330"/>
                    <a:pt x="4157980" y="106680"/>
                    <a:pt x="4137660" y="111760"/>
                  </a:cubicBezTo>
                  <a:cubicBezTo>
                    <a:pt x="4077970" y="125730"/>
                    <a:pt x="3919220" y="99060"/>
                    <a:pt x="3757930" y="96520"/>
                  </a:cubicBezTo>
                  <a:cubicBezTo>
                    <a:pt x="3472180" y="91440"/>
                    <a:pt x="2962910" y="92710"/>
                    <a:pt x="2573020" y="104140"/>
                  </a:cubicBezTo>
                  <a:cubicBezTo>
                    <a:pt x="2192020" y="115570"/>
                    <a:pt x="1746250" y="152400"/>
                    <a:pt x="1445260" y="162560"/>
                  </a:cubicBezTo>
                  <a:cubicBezTo>
                    <a:pt x="1244600" y="168910"/>
                    <a:pt x="1101090" y="168910"/>
                    <a:pt x="942340" y="168910"/>
                  </a:cubicBezTo>
                  <a:cubicBezTo>
                    <a:pt x="798830" y="168910"/>
                    <a:pt x="675640" y="170180"/>
                    <a:pt x="532130" y="165100"/>
                  </a:cubicBezTo>
                  <a:cubicBezTo>
                    <a:pt x="374650" y="158750"/>
                    <a:pt x="93980" y="146050"/>
                    <a:pt x="35560" y="130810"/>
                  </a:cubicBezTo>
                  <a:cubicBezTo>
                    <a:pt x="22860" y="127000"/>
                    <a:pt x="17780" y="125730"/>
                    <a:pt x="12700" y="119380"/>
                  </a:cubicBezTo>
                  <a:cubicBezTo>
                    <a:pt x="6350" y="111760"/>
                    <a:pt x="0" y="95250"/>
                    <a:pt x="3810" y="86360"/>
                  </a:cubicBezTo>
                  <a:cubicBezTo>
                    <a:pt x="7620" y="74930"/>
                    <a:pt x="43180" y="59690"/>
                    <a:pt x="43180" y="59690"/>
                  </a:cubicBezTo>
                </a:path>
              </a:pathLst>
            </a:custGeom>
            <a:solidFill>
              <a:srgbClr val="DDAA2B"/>
            </a:solidFill>
            <a:ln cap="sq">
              <a:noFill/>
              <a:prstDash val="solid"/>
              <a:miter/>
            </a:ln>
          </p:spPr>
        </p:sp>
      </p:grpSp>
      <p:sp>
        <p:nvSpPr>
          <p:cNvPr name="Freeform 23" id="23"/>
          <p:cNvSpPr/>
          <p:nvPr/>
        </p:nvSpPr>
        <p:spPr>
          <a:xfrm flipH="false" flipV="false" rot="10597125">
            <a:off x="10468240" y="2521871"/>
            <a:ext cx="2294154" cy="2528626"/>
          </a:xfrm>
          <a:custGeom>
            <a:avLst/>
            <a:gdLst/>
            <a:ahLst/>
            <a:cxnLst/>
            <a:rect r="r" b="b" t="t" l="l"/>
            <a:pathLst>
              <a:path h="2528626" w="2294154">
                <a:moveTo>
                  <a:pt x="0" y="0"/>
                </a:moveTo>
                <a:lnTo>
                  <a:pt x="2294154" y="0"/>
                </a:lnTo>
                <a:lnTo>
                  <a:pt x="2294154" y="2528627"/>
                </a:lnTo>
                <a:lnTo>
                  <a:pt x="0" y="25286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11063939" y="2960650"/>
            <a:ext cx="6978016" cy="4365701"/>
          </a:xfrm>
          <a:custGeom>
            <a:avLst/>
            <a:gdLst/>
            <a:ahLst/>
            <a:cxnLst/>
            <a:rect r="r" b="b" t="t" l="l"/>
            <a:pathLst>
              <a:path h="4365701" w="6978016">
                <a:moveTo>
                  <a:pt x="0" y="0"/>
                </a:moveTo>
                <a:lnTo>
                  <a:pt x="6978016" y="0"/>
                </a:lnTo>
                <a:lnTo>
                  <a:pt x="6978016" y="4365700"/>
                </a:lnTo>
                <a:lnTo>
                  <a:pt x="0" y="4365700"/>
                </a:lnTo>
                <a:lnTo>
                  <a:pt x="0" y="0"/>
                </a:lnTo>
                <a:close/>
              </a:path>
            </a:pathLst>
          </a:custGeom>
          <a:blipFill>
            <a:blip r:embed="rId9"/>
            <a:stretch>
              <a:fillRect l="-5127" t="0" r="-9920" b="-18214"/>
            </a:stretch>
          </a:blipFill>
        </p:spPr>
      </p:sp>
      <p:sp>
        <p:nvSpPr>
          <p:cNvPr name="Freeform 25" id="25"/>
          <p:cNvSpPr/>
          <p:nvPr/>
        </p:nvSpPr>
        <p:spPr>
          <a:xfrm flipH="false" flipV="false" rot="0">
            <a:off x="16743403" y="6427173"/>
            <a:ext cx="2807280" cy="1148433"/>
          </a:xfrm>
          <a:custGeom>
            <a:avLst/>
            <a:gdLst/>
            <a:ahLst/>
            <a:cxnLst/>
            <a:rect r="r" b="b" t="t" l="l"/>
            <a:pathLst>
              <a:path h="1148433" w="2807280">
                <a:moveTo>
                  <a:pt x="0" y="0"/>
                </a:moveTo>
                <a:lnTo>
                  <a:pt x="2807279" y="0"/>
                </a:lnTo>
                <a:lnTo>
                  <a:pt x="2807279" y="1148432"/>
                </a:lnTo>
                <a:lnTo>
                  <a:pt x="0" y="11484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6" id="26"/>
          <p:cNvSpPr txBox="true"/>
          <p:nvPr/>
        </p:nvSpPr>
        <p:spPr>
          <a:xfrm rot="576365">
            <a:off x="14110418" y="1092780"/>
            <a:ext cx="2751534" cy="504825"/>
          </a:xfrm>
          <a:prstGeom prst="rect">
            <a:avLst/>
          </a:prstGeom>
        </p:spPr>
        <p:txBody>
          <a:bodyPr anchor="t" rtlCol="false" tIns="0" lIns="0" bIns="0" rIns="0">
            <a:spAutoFit/>
          </a:bodyPr>
          <a:lstStyle/>
          <a:p>
            <a:pPr algn="ctr" marL="0" indent="0" lvl="0">
              <a:lnSpc>
                <a:spcPts val="3955"/>
              </a:lnSpc>
              <a:spcBef>
                <a:spcPct val="0"/>
              </a:spcBef>
            </a:pPr>
            <a:r>
              <a:rPr lang="en-US" b="true" sz="3296">
                <a:solidFill>
                  <a:srgbClr val="233731"/>
                </a:solidFill>
                <a:latin typeface="Anonymous Pro Bold"/>
                <a:ea typeface="Anonymous Pro Bold"/>
                <a:cs typeface="Anonymous Pro Bold"/>
                <a:sym typeface="Anonymous Pro Bold"/>
              </a:rPr>
              <a:t>STRUKTUR:</a:t>
            </a:r>
          </a:p>
        </p:txBody>
      </p:sp>
      <p:sp>
        <p:nvSpPr>
          <p:cNvPr name="TextBox 27" id="27"/>
          <p:cNvSpPr txBox="true"/>
          <p:nvPr/>
        </p:nvSpPr>
        <p:spPr>
          <a:xfrm rot="0">
            <a:off x="1152959" y="3439398"/>
            <a:ext cx="8115300" cy="6191250"/>
          </a:xfrm>
          <a:prstGeom prst="rect">
            <a:avLst/>
          </a:prstGeom>
        </p:spPr>
        <p:txBody>
          <a:bodyPr anchor="t" rtlCol="false" tIns="0" lIns="0" bIns="0" rIns="0">
            <a:spAutoFit/>
          </a:bodyPr>
          <a:lstStyle/>
          <a:p>
            <a:pPr algn="ctr">
              <a:lnSpc>
                <a:spcPts val="4460"/>
              </a:lnSpc>
            </a:pPr>
            <a:r>
              <a:rPr lang="en-US" sz="3717">
                <a:solidFill>
                  <a:srgbClr val="233731"/>
                </a:solidFill>
                <a:latin typeface="Anonymous Pro"/>
                <a:ea typeface="Anonymous Pro"/>
                <a:cs typeface="Anonymous Pro"/>
                <a:sym typeface="Anonymous Pro"/>
              </a:rPr>
              <a:t>Antena mikrostrip adalah jenis antena planar yang terdiri dari lapisan konduktor tipis (patch) yang diletakkan di atas substrat dielektrik, dengan lapisan ground plane di bagian bawah substrat. Antena ini sering digunakan dalam aplikasi komunikasi karena memiliki ukuran yang kecil, bobot ringan, dan mudah diproduksi.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1571482" y="1581616"/>
            <a:ext cx="11375442" cy="7363933"/>
          </a:xfrm>
          <a:custGeom>
            <a:avLst/>
            <a:gdLst/>
            <a:ahLst/>
            <a:cxnLst/>
            <a:rect r="r" b="b" t="t" l="l"/>
            <a:pathLst>
              <a:path h="7363933" w="11375442">
                <a:moveTo>
                  <a:pt x="0" y="0"/>
                </a:moveTo>
                <a:lnTo>
                  <a:pt x="11375442" y="0"/>
                </a:lnTo>
                <a:lnTo>
                  <a:pt x="11375442" y="7363933"/>
                </a:lnTo>
                <a:lnTo>
                  <a:pt x="0" y="7363933"/>
                </a:lnTo>
                <a:lnTo>
                  <a:pt x="0" y="0"/>
                </a:lnTo>
                <a:close/>
              </a:path>
            </a:pathLst>
          </a:custGeom>
          <a:blipFill>
            <a:blip r:embed="rId3">
              <a:extLst>
                <a:ext uri="{96DAC541-7B7A-43D3-8B79-37D633B846F1}">
                  <asvg:svgBlip xmlns:asvg="http://schemas.microsoft.com/office/drawing/2016/SVG/main" r:embed="rId4"/>
                </a:ext>
              </a:extLst>
            </a:blip>
            <a:stretch>
              <a:fillRect l="0" t="0" r="0" b="-42889"/>
            </a:stretch>
          </a:blipFill>
        </p:spPr>
      </p:sp>
      <p:sp>
        <p:nvSpPr>
          <p:cNvPr name="Freeform 4" id="4">
            <a:extLst>
              <a:ext uri="{C183D7F6-B498-43B3-948B-1728B52AA6E4}">
                <adec:decorative xmlns:adec="http://schemas.microsoft.com/office/drawing/2017/decorative" val="1"/>
              </a:ext>
            </a:extLst>
          </p:cNvPr>
          <p:cNvSpPr/>
          <p:nvPr/>
        </p:nvSpPr>
        <p:spPr>
          <a:xfrm flipH="false" flipV="false" rot="96436">
            <a:off x="10130767" y="1028700"/>
            <a:ext cx="6471609" cy="8229600"/>
          </a:xfrm>
          <a:custGeom>
            <a:avLst/>
            <a:gdLst/>
            <a:ahLst/>
            <a:cxnLst/>
            <a:rect r="r" b="b" t="t" l="l"/>
            <a:pathLst>
              <a:path h="8229600" w="6471609">
                <a:moveTo>
                  <a:pt x="0" y="0"/>
                </a:moveTo>
                <a:lnTo>
                  <a:pt x="6471609" y="0"/>
                </a:lnTo>
                <a:lnTo>
                  <a:pt x="6471609" y="8229600"/>
                </a:lnTo>
                <a:lnTo>
                  <a:pt x="0" y="8229600"/>
                </a:lnTo>
                <a:lnTo>
                  <a:pt x="0" y="0"/>
                </a:lnTo>
                <a:close/>
              </a:path>
            </a:pathLst>
          </a:custGeom>
          <a:blipFill>
            <a:blip r:embed="rId5"/>
            <a:stretch>
              <a:fillRect l="-89087" t="-6782" r="0" b="-6782"/>
            </a:stretch>
          </a:blipFill>
        </p:spPr>
      </p:sp>
      <p:sp>
        <p:nvSpPr>
          <p:cNvPr name="Freeform 5" id="5">
            <a:extLst>
              <a:ext uri="{C183D7F6-B498-43B3-948B-1728B52AA6E4}">
                <adec:decorative xmlns:adec="http://schemas.microsoft.com/office/drawing/2017/decorative" val="1"/>
              </a:ext>
            </a:extLst>
          </p:cNvPr>
          <p:cNvSpPr/>
          <p:nvPr/>
        </p:nvSpPr>
        <p:spPr>
          <a:xfrm flipH="false" flipV="false" rot="333215">
            <a:off x="1188674" y="8342699"/>
            <a:ext cx="4398872" cy="1105217"/>
          </a:xfrm>
          <a:custGeom>
            <a:avLst/>
            <a:gdLst/>
            <a:ahLst/>
            <a:cxnLst/>
            <a:rect r="r" b="b" t="t" l="l"/>
            <a:pathLst>
              <a:path h="1105217" w="4398872">
                <a:moveTo>
                  <a:pt x="0" y="0"/>
                </a:moveTo>
                <a:lnTo>
                  <a:pt x="4398872" y="0"/>
                </a:lnTo>
                <a:lnTo>
                  <a:pt x="4398872" y="1105217"/>
                </a:lnTo>
                <a:lnTo>
                  <a:pt x="0" y="11052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false" flipV="false" rot="-6479969">
            <a:off x="15176198" y="697581"/>
            <a:ext cx="1650936" cy="1768070"/>
          </a:xfrm>
          <a:custGeom>
            <a:avLst/>
            <a:gdLst/>
            <a:ahLst/>
            <a:cxnLst/>
            <a:rect r="r" b="b" t="t" l="l"/>
            <a:pathLst>
              <a:path h="1768070" w="1650936">
                <a:moveTo>
                  <a:pt x="0" y="0"/>
                </a:moveTo>
                <a:lnTo>
                  <a:pt x="1650936" y="0"/>
                </a:lnTo>
                <a:lnTo>
                  <a:pt x="1650936" y="1768070"/>
                </a:lnTo>
                <a:lnTo>
                  <a:pt x="0" y="17680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155114">
            <a:off x="12648963" y="8822446"/>
            <a:ext cx="4052822" cy="744706"/>
          </a:xfrm>
          <a:custGeom>
            <a:avLst/>
            <a:gdLst/>
            <a:ahLst/>
            <a:cxnLst/>
            <a:rect r="r" b="b" t="t" l="l"/>
            <a:pathLst>
              <a:path h="744706" w="4052822">
                <a:moveTo>
                  <a:pt x="0" y="0"/>
                </a:moveTo>
                <a:lnTo>
                  <a:pt x="4052822" y="0"/>
                </a:lnTo>
                <a:lnTo>
                  <a:pt x="4052822" y="744706"/>
                </a:lnTo>
                <a:lnTo>
                  <a:pt x="0" y="7447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2126742" y="2105949"/>
            <a:ext cx="7640152" cy="6075103"/>
            <a:chOff x="0" y="0"/>
            <a:chExt cx="10186870" cy="8100137"/>
          </a:xfrm>
        </p:grpSpPr>
        <p:sp>
          <p:nvSpPr>
            <p:cNvPr name="TextBox 9" id="9"/>
            <p:cNvSpPr txBox="true"/>
            <p:nvPr/>
          </p:nvSpPr>
          <p:spPr>
            <a:xfrm rot="0">
              <a:off x="0" y="-9525"/>
              <a:ext cx="10186870" cy="1114425"/>
            </a:xfrm>
            <a:prstGeom prst="rect">
              <a:avLst/>
            </a:prstGeom>
          </p:spPr>
          <p:txBody>
            <a:bodyPr anchor="t" rtlCol="false" tIns="0" lIns="0" bIns="0" rIns="0">
              <a:spAutoFit/>
            </a:bodyPr>
            <a:lstStyle/>
            <a:p>
              <a:pPr algn="ctr" marL="0" indent="0" lvl="0">
                <a:lnSpc>
                  <a:spcPts val="6599"/>
                </a:lnSpc>
                <a:spcBef>
                  <a:spcPct val="0"/>
                </a:spcBef>
              </a:pPr>
              <a:r>
                <a:rPr lang="en-US" sz="5499">
                  <a:solidFill>
                    <a:srgbClr val="233731"/>
                  </a:solidFill>
                  <a:latin typeface="Pluma"/>
                  <a:ea typeface="Pluma"/>
                  <a:cs typeface="Pluma"/>
                  <a:sym typeface="Pluma"/>
                </a:rPr>
                <a:t>METODE SLOT</a:t>
              </a:r>
            </a:p>
          </p:txBody>
        </p:sp>
        <p:sp>
          <p:nvSpPr>
            <p:cNvPr name="TextBox 10" id="10"/>
            <p:cNvSpPr txBox="true"/>
            <p:nvPr/>
          </p:nvSpPr>
          <p:spPr>
            <a:xfrm rot="0">
              <a:off x="0" y="1486612"/>
              <a:ext cx="10186870" cy="6613525"/>
            </a:xfrm>
            <a:prstGeom prst="rect">
              <a:avLst/>
            </a:prstGeom>
          </p:spPr>
          <p:txBody>
            <a:bodyPr anchor="t" rtlCol="false" tIns="0" lIns="0" bIns="0" rIns="0">
              <a:spAutoFit/>
            </a:bodyPr>
            <a:lstStyle/>
            <a:p>
              <a:pPr algn="ctr" marL="0" indent="0" lvl="0">
                <a:lnSpc>
                  <a:spcPts val="3959"/>
                </a:lnSpc>
                <a:spcBef>
                  <a:spcPct val="0"/>
                </a:spcBef>
              </a:pPr>
              <a:r>
                <a:rPr lang="en-US" sz="3299">
                  <a:solidFill>
                    <a:srgbClr val="233731"/>
                  </a:solidFill>
                  <a:latin typeface="Anonymous Pro"/>
                  <a:ea typeface="Anonymous Pro"/>
                  <a:cs typeface="Anonymous Pro"/>
                  <a:sym typeface="Anonymous Pro"/>
                </a:rPr>
                <a:t>Penambahan celah (slot) pada patch antena mikrostrip adalah teknik yang digunakan untuk meningkatkan performa antena. Metode slot melibatkan pembuatan celah atau lubang tertentu pada elemen konduktor (patch), yang memengaruhi distribusi medan elektromagnetik dan arus listrik di dalam antena.</a:t>
              </a:r>
            </a:p>
          </p:txBody>
        </p:sp>
      </p:grpSp>
      <p:grpSp>
        <p:nvGrpSpPr>
          <p:cNvPr name="Group 11" id="11"/>
          <p:cNvGrpSpPr/>
          <p:nvPr/>
        </p:nvGrpSpPr>
        <p:grpSpPr>
          <a:xfrm rot="0">
            <a:off x="10843320" y="2994654"/>
            <a:ext cx="4795749" cy="4992752"/>
            <a:chOff x="0" y="0"/>
            <a:chExt cx="6394332" cy="6657003"/>
          </a:xfrm>
        </p:grpSpPr>
        <p:sp>
          <p:nvSpPr>
            <p:cNvPr name="TextBox 12" id="12"/>
            <p:cNvSpPr txBox="true"/>
            <p:nvPr/>
          </p:nvSpPr>
          <p:spPr>
            <a:xfrm rot="101575">
              <a:off x="230750" y="80862"/>
              <a:ext cx="6141989" cy="1571625"/>
            </a:xfrm>
            <a:prstGeom prst="rect">
              <a:avLst/>
            </a:prstGeom>
          </p:spPr>
          <p:txBody>
            <a:bodyPr anchor="t" rtlCol="false" tIns="0" lIns="0" bIns="0" rIns="0">
              <a:spAutoFit/>
            </a:bodyPr>
            <a:lstStyle/>
            <a:p>
              <a:pPr algn="ctr">
                <a:lnSpc>
                  <a:spcPts val="3120"/>
                </a:lnSpc>
              </a:pPr>
              <a:r>
                <a:rPr lang="en-US" b="true" sz="2600">
                  <a:solidFill>
                    <a:srgbClr val="233731"/>
                  </a:solidFill>
                  <a:latin typeface="Anonymous Pro Bold"/>
                  <a:ea typeface="Anonymous Pro Bold"/>
                  <a:cs typeface="Anonymous Pro Bold"/>
                  <a:sym typeface="Anonymous Pro Bold"/>
                </a:rPr>
                <a:t>FUNGSI UTAMA SLOT DALAM DESAIN INI DIANTARA LAIN:</a:t>
              </a:r>
            </a:p>
            <a:p>
              <a:pPr algn="ctr" marL="0" indent="0" lvl="0">
                <a:lnSpc>
                  <a:spcPts val="3120"/>
                </a:lnSpc>
                <a:spcBef>
                  <a:spcPct val="0"/>
                </a:spcBef>
              </a:pPr>
            </a:p>
          </p:txBody>
        </p:sp>
        <p:sp>
          <p:nvSpPr>
            <p:cNvPr name="TextBox 13" id="13"/>
            <p:cNvSpPr txBox="true"/>
            <p:nvPr/>
          </p:nvSpPr>
          <p:spPr>
            <a:xfrm rot="101575">
              <a:off x="87534" y="2773692"/>
              <a:ext cx="6141989" cy="530225"/>
            </a:xfrm>
            <a:prstGeom prst="rect">
              <a:avLst/>
            </a:prstGeom>
          </p:spPr>
          <p:txBody>
            <a:bodyPr anchor="t" rtlCol="false" tIns="0" lIns="0" bIns="0" rIns="0">
              <a:spAutoFit/>
            </a:bodyPr>
            <a:lstStyle/>
            <a:p>
              <a:pPr algn="ctr" marL="0" indent="0" lvl="0">
                <a:lnSpc>
                  <a:spcPts val="3120"/>
                </a:lnSpc>
                <a:spcBef>
                  <a:spcPct val="0"/>
                </a:spcBef>
              </a:pPr>
              <a:r>
                <a:rPr lang="en-US" b="true" sz="2600" strike="noStrike" u="none">
                  <a:solidFill>
                    <a:srgbClr val="FFFFFF"/>
                  </a:solidFill>
                  <a:latin typeface="Anonymous Pro Bold"/>
                  <a:ea typeface="Anonymous Pro Bold"/>
                  <a:cs typeface="Anonymous Pro Bold"/>
                  <a:sym typeface="Anonymous Pro Bold"/>
                </a:rPr>
                <a:t>1 MENINGKATKAN BANDWIDTH</a:t>
              </a:r>
            </a:p>
          </p:txBody>
        </p:sp>
        <p:sp>
          <p:nvSpPr>
            <p:cNvPr name="TextBox 14" id="14"/>
            <p:cNvSpPr txBox="true"/>
            <p:nvPr/>
          </p:nvSpPr>
          <p:spPr>
            <a:xfrm rot="101575">
              <a:off x="52829" y="3687693"/>
              <a:ext cx="6141989" cy="1050925"/>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FFFFFF"/>
                  </a:solidFill>
                  <a:latin typeface="Anonymous Pro Bold"/>
                  <a:ea typeface="Anonymous Pro Bold"/>
                  <a:cs typeface="Anonymous Pro Bold"/>
                  <a:sym typeface="Anonymous Pro Bold"/>
                </a:rPr>
                <a:t>2 FREKUENSI OPERASI MULTIBAND</a:t>
              </a:r>
            </a:p>
          </p:txBody>
        </p:sp>
        <p:sp>
          <p:nvSpPr>
            <p:cNvPr name="TextBox 15" id="15"/>
            <p:cNvSpPr txBox="true"/>
            <p:nvPr/>
          </p:nvSpPr>
          <p:spPr>
            <a:xfrm rot="101575">
              <a:off x="33506" y="5122167"/>
              <a:ext cx="6141989" cy="530225"/>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FFFFFF"/>
                  </a:solidFill>
                  <a:latin typeface="Anonymous Pro Bold"/>
                  <a:ea typeface="Anonymous Pro Bold"/>
                  <a:cs typeface="Anonymous Pro Bold"/>
                  <a:sym typeface="Anonymous Pro Bold"/>
                </a:rPr>
                <a:t>3 MENGHASILKAN POLARISASI</a:t>
              </a:r>
            </a:p>
          </p:txBody>
        </p:sp>
        <p:sp>
          <p:nvSpPr>
            <p:cNvPr name="TextBox 16" id="16"/>
            <p:cNvSpPr txBox="true"/>
            <p:nvPr/>
          </p:nvSpPr>
          <p:spPr>
            <a:xfrm rot="101575">
              <a:off x="6492" y="6036167"/>
              <a:ext cx="6141989" cy="530225"/>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FFFFFF"/>
                  </a:solidFill>
                  <a:latin typeface="Anonymous Pro Bold"/>
                  <a:ea typeface="Anonymous Pro Bold"/>
                  <a:cs typeface="Anonymous Pro Bold"/>
                  <a:sym typeface="Anonymous Pro Bold"/>
                </a:rPr>
                <a:t>4 IMPEDANSI MATCHING</a:t>
              </a:r>
            </a:p>
          </p:txBody>
        </p:sp>
        <p:sp>
          <p:nvSpPr>
            <p:cNvPr name="Freeform 17" id="17"/>
            <p:cNvSpPr/>
            <p:nvPr/>
          </p:nvSpPr>
          <p:spPr>
            <a:xfrm flipH="false" flipV="false" rot="0">
              <a:off x="1630877" y="1915921"/>
              <a:ext cx="3055021" cy="194410"/>
            </a:xfrm>
            <a:custGeom>
              <a:avLst/>
              <a:gdLst/>
              <a:ahLst/>
              <a:cxnLst/>
              <a:rect r="r" b="b" t="t" l="l"/>
              <a:pathLst>
                <a:path h="194410" w="3055021">
                  <a:moveTo>
                    <a:pt x="0" y="0"/>
                  </a:moveTo>
                  <a:lnTo>
                    <a:pt x="3055021" y="0"/>
                  </a:lnTo>
                  <a:lnTo>
                    <a:pt x="3055021" y="194410"/>
                  </a:lnTo>
                  <a:lnTo>
                    <a:pt x="0" y="1944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1813892" y="398328"/>
            <a:ext cx="14660215" cy="9490343"/>
          </a:xfrm>
          <a:custGeom>
            <a:avLst/>
            <a:gdLst/>
            <a:ahLst/>
            <a:cxnLst/>
            <a:rect r="r" b="b" t="t" l="l"/>
            <a:pathLst>
              <a:path h="9490343" w="14660215">
                <a:moveTo>
                  <a:pt x="0" y="0"/>
                </a:moveTo>
                <a:lnTo>
                  <a:pt x="14660216" y="0"/>
                </a:lnTo>
                <a:lnTo>
                  <a:pt x="14660216" y="9490344"/>
                </a:lnTo>
                <a:lnTo>
                  <a:pt x="0" y="9490344"/>
                </a:lnTo>
                <a:lnTo>
                  <a:pt x="0" y="0"/>
                </a:lnTo>
                <a:close/>
              </a:path>
            </a:pathLst>
          </a:custGeom>
          <a:blipFill>
            <a:blip r:embed="rId3">
              <a:extLst>
                <a:ext uri="{96DAC541-7B7A-43D3-8B79-37D633B846F1}">
                  <asvg:svgBlip xmlns:asvg="http://schemas.microsoft.com/office/drawing/2016/SVG/main" r:embed="rId4"/>
                </a:ext>
              </a:extLst>
            </a:blip>
            <a:stretch>
              <a:fillRect l="0" t="0" r="0" b="-42889"/>
            </a:stretch>
          </a:blipFill>
        </p:spPr>
      </p:sp>
      <p:sp>
        <p:nvSpPr>
          <p:cNvPr name="Freeform 4" id="4"/>
          <p:cNvSpPr/>
          <p:nvPr/>
        </p:nvSpPr>
        <p:spPr>
          <a:xfrm flipH="false" flipV="false" rot="0">
            <a:off x="7508449" y="4884365"/>
            <a:ext cx="5744186" cy="4689344"/>
          </a:xfrm>
          <a:custGeom>
            <a:avLst/>
            <a:gdLst/>
            <a:ahLst/>
            <a:cxnLst/>
            <a:rect r="r" b="b" t="t" l="l"/>
            <a:pathLst>
              <a:path h="4689344" w="5744186">
                <a:moveTo>
                  <a:pt x="0" y="0"/>
                </a:moveTo>
                <a:lnTo>
                  <a:pt x="5744186" y="0"/>
                </a:lnTo>
                <a:lnTo>
                  <a:pt x="5744186" y="4689344"/>
                </a:lnTo>
                <a:lnTo>
                  <a:pt x="0" y="46893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476956" y="847182"/>
            <a:ext cx="6691736" cy="838200"/>
          </a:xfrm>
          <a:prstGeom prst="rect">
            <a:avLst/>
          </a:prstGeom>
        </p:spPr>
        <p:txBody>
          <a:bodyPr anchor="t" rtlCol="false" tIns="0" lIns="0" bIns="0" rIns="0">
            <a:spAutoFit/>
          </a:bodyPr>
          <a:lstStyle/>
          <a:p>
            <a:pPr algn="ctr" marL="0" indent="0" lvl="0">
              <a:lnSpc>
                <a:spcPts val="6599"/>
              </a:lnSpc>
              <a:spcBef>
                <a:spcPct val="0"/>
              </a:spcBef>
            </a:pPr>
            <a:r>
              <a:rPr lang="en-US" sz="5499">
                <a:solidFill>
                  <a:srgbClr val="FFFFFF"/>
                </a:solidFill>
                <a:latin typeface="Pluma"/>
                <a:ea typeface="Pluma"/>
                <a:cs typeface="Pluma"/>
                <a:sym typeface="Pluma"/>
              </a:rPr>
              <a:t>METODE PARASITIK</a:t>
            </a:r>
          </a:p>
        </p:txBody>
      </p:sp>
      <p:sp>
        <p:nvSpPr>
          <p:cNvPr name="TextBox 6" id="6"/>
          <p:cNvSpPr txBox="true"/>
          <p:nvPr/>
        </p:nvSpPr>
        <p:spPr>
          <a:xfrm rot="0">
            <a:off x="2983769" y="1818461"/>
            <a:ext cx="12604678" cy="3133725"/>
          </a:xfrm>
          <a:prstGeom prst="rect">
            <a:avLst/>
          </a:prstGeom>
        </p:spPr>
        <p:txBody>
          <a:bodyPr anchor="t" rtlCol="false" tIns="0" lIns="0" bIns="0" rIns="0">
            <a:spAutoFit/>
          </a:bodyPr>
          <a:lstStyle/>
          <a:p>
            <a:pPr algn="ctr">
              <a:lnSpc>
                <a:spcPts val="3599"/>
              </a:lnSpc>
            </a:pPr>
            <a:r>
              <a:rPr lang="en-US" b="true" sz="2999">
                <a:solidFill>
                  <a:srgbClr val="FEFEFE"/>
                </a:solidFill>
                <a:latin typeface="Anonymous Pro Bold"/>
                <a:ea typeface="Anonymous Pro Bold"/>
                <a:cs typeface="Anonymous Pro Bold"/>
                <a:sym typeface="Anonymous Pro Bold"/>
              </a:rPr>
              <a:t>DENGAN PENAMBAHAN ELEMEN PARASITIC ARTINYA MENAMBAHKAN BEBAN PADA ANTENA MIKROSTRIP YANG AKAN MEMBERI DAMPAK MENINGKATNYA NILAI LEBAR PITA PADA ANTENA. METODE ELEMEN PARASITIK MELIBATKAN PENAMBAHAN ELEMEN LOGAM TAMBAHAN DI DEKAT ELEMEN UTAMA TANPA DIUMPAN LANGSUNG. ELEMEN INI BERFUNGSI SEBAGAI REFLEKTOR ATAU DIREKTUR DENGAN TUJUAN BERIKUT:</a:t>
            </a:r>
          </a:p>
          <a:p>
            <a:pPr algn="ctr">
              <a:lnSpc>
                <a:spcPts val="3599"/>
              </a:lnSpc>
              <a:spcBef>
                <a:spcPct val="0"/>
              </a:spcBef>
            </a:pPr>
          </a:p>
        </p:txBody>
      </p:sp>
      <p:sp>
        <p:nvSpPr>
          <p:cNvPr name="TextBox 7" id="7"/>
          <p:cNvSpPr txBox="true"/>
          <p:nvPr/>
        </p:nvSpPr>
        <p:spPr>
          <a:xfrm rot="0">
            <a:off x="5799214" y="5523415"/>
            <a:ext cx="6715347" cy="447675"/>
          </a:xfrm>
          <a:prstGeom prst="rect">
            <a:avLst/>
          </a:prstGeom>
        </p:spPr>
        <p:txBody>
          <a:bodyPr anchor="t" rtlCol="false" tIns="0" lIns="0" bIns="0" rIns="0">
            <a:spAutoFit/>
          </a:bodyPr>
          <a:lstStyle/>
          <a:p>
            <a:pPr algn="ctr">
              <a:lnSpc>
                <a:spcPts val="3479"/>
              </a:lnSpc>
              <a:spcBef>
                <a:spcPct val="0"/>
              </a:spcBef>
            </a:pPr>
            <a:r>
              <a:rPr lang="en-US" sz="2899">
                <a:solidFill>
                  <a:srgbClr val="233731"/>
                </a:solidFill>
                <a:latin typeface="Anonymous Pro"/>
                <a:ea typeface="Anonymous Pro"/>
                <a:cs typeface="Anonymous Pro"/>
                <a:sym typeface="Anonymous Pro"/>
              </a:rPr>
              <a:t>Meningkatkan Gain</a:t>
            </a:r>
          </a:p>
        </p:txBody>
      </p:sp>
      <p:sp>
        <p:nvSpPr>
          <p:cNvPr name="TextBox 8" id="8"/>
          <p:cNvSpPr txBox="true"/>
          <p:nvPr/>
        </p:nvSpPr>
        <p:spPr>
          <a:xfrm rot="0">
            <a:off x="5804573" y="7065014"/>
            <a:ext cx="6691736" cy="447675"/>
          </a:xfrm>
          <a:prstGeom prst="rect">
            <a:avLst/>
          </a:prstGeom>
        </p:spPr>
        <p:txBody>
          <a:bodyPr anchor="t" rtlCol="false" tIns="0" lIns="0" bIns="0" rIns="0">
            <a:spAutoFit/>
          </a:bodyPr>
          <a:lstStyle/>
          <a:p>
            <a:pPr algn="ctr" marL="0" indent="0" lvl="0">
              <a:lnSpc>
                <a:spcPts val="3479"/>
              </a:lnSpc>
              <a:spcBef>
                <a:spcPct val="0"/>
              </a:spcBef>
            </a:pPr>
            <a:r>
              <a:rPr lang="en-US" sz="2899">
                <a:solidFill>
                  <a:srgbClr val="233731"/>
                </a:solidFill>
                <a:latin typeface="Anonymous Pro"/>
                <a:ea typeface="Anonymous Pro"/>
                <a:cs typeface="Anonymous Pro"/>
                <a:sym typeface="Anonymous Pro"/>
              </a:rPr>
              <a:t>Pola Radiasi Terarah</a:t>
            </a:r>
          </a:p>
        </p:txBody>
      </p:sp>
      <p:sp>
        <p:nvSpPr>
          <p:cNvPr name="TextBox 9" id="9"/>
          <p:cNvSpPr txBox="true"/>
          <p:nvPr/>
        </p:nvSpPr>
        <p:spPr>
          <a:xfrm rot="0">
            <a:off x="5822825" y="6293489"/>
            <a:ext cx="6691736" cy="447675"/>
          </a:xfrm>
          <a:prstGeom prst="rect">
            <a:avLst/>
          </a:prstGeom>
        </p:spPr>
        <p:txBody>
          <a:bodyPr anchor="t" rtlCol="false" tIns="0" lIns="0" bIns="0" rIns="0">
            <a:spAutoFit/>
          </a:bodyPr>
          <a:lstStyle/>
          <a:p>
            <a:pPr algn="ctr" marL="0" indent="0" lvl="0">
              <a:lnSpc>
                <a:spcPts val="3479"/>
              </a:lnSpc>
              <a:spcBef>
                <a:spcPct val="0"/>
              </a:spcBef>
            </a:pPr>
            <a:r>
              <a:rPr lang="en-US" sz="2899">
                <a:solidFill>
                  <a:srgbClr val="233731"/>
                </a:solidFill>
                <a:latin typeface="Anonymous Pro"/>
                <a:ea typeface="Anonymous Pro"/>
                <a:cs typeface="Anonymous Pro"/>
                <a:sym typeface="Anonymous Pro"/>
              </a:rPr>
              <a:t>Memperluas Bandwidth</a:t>
            </a:r>
          </a:p>
        </p:txBody>
      </p:sp>
      <p:sp>
        <p:nvSpPr>
          <p:cNvPr name="TextBox 10" id="10"/>
          <p:cNvSpPr txBox="true"/>
          <p:nvPr/>
        </p:nvSpPr>
        <p:spPr>
          <a:xfrm rot="0">
            <a:off x="5780963" y="7836539"/>
            <a:ext cx="6715347" cy="447675"/>
          </a:xfrm>
          <a:prstGeom prst="rect">
            <a:avLst/>
          </a:prstGeom>
        </p:spPr>
        <p:txBody>
          <a:bodyPr anchor="t" rtlCol="false" tIns="0" lIns="0" bIns="0" rIns="0">
            <a:spAutoFit/>
          </a:bodyPr>
          <a:lstStyle/>
          <a:p>
            <a:pPr algn="ctr">
              <a:lnSpc>
                <a:spcPts val="3479"/>
              </a:lnSpc>
              <a:spcBef>
                <a:spcPct val="0"/>
              </a:spcBef>
            </a:pPr>
            <a:r>
              <a:rPr lang="en-US" sz="2899">
                <a:solidFill>
                  <a:srgbClr val="233731"/>
                </a:solidFill>
                <a:latin typeface="Anonymous Pro"/>
                <a:ea typeface="Anonymous Pro"/>
                <a:cs typeface="Anonymous Pro"/>
                <a:sym typeface="Anonymous Pro"/>
              </a:rPr>
              <a:t>Fungsi Multiband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true" flipV="true" rot="0">
            <a:off x="-450346" y="597180"/>
            <a:ext cx="14739483" cy="9541657"/>
          </a:xfrm>
          <a:custGeom>
            <a:avLst/>
            <a:gdLst/>
            <a:ahLst/>
            <a:cxnLst/>
            <a:rect r="r" b="b" t="t" l="l"/>
            <a:pathLst>
              <a:path h="9541657" w="14739483">
                <a:moveTo>
                  <a:pt x="14739482" y="9541657"/>
                </a:moveTo>
                <a:lnTo>
                  <a:pt x="0" y="9541657"/>
                </a:lnTo>
                <a:lnTo>
                  <a:pt x="0" y="0"/>
                </a:lnTo>
                <a:lnTo>
                  <a:pt x="14739482" y="0"/>
                </a:lnTo>
                <a:lnTo>
                  <a:pt x="14739482" y="9541657"/>
                </a:lnTo>
                <a:close/>
              </a:path>
            </a:pathLst>
          </a:custGeom>
          <a:blipFill>
            <a:blip r:embed="rId3">
              <a:extLst>
                <a:ext uri="{96DAC541-7B7A-43D3-8B79-37D633B846F1}">
                  <asvg:svgBlip xmlns:asvg="http://schemas.microsoft.com/office/drawing/2016/SVG/main" r:embed="rId4"/>
                </a:ext>
              </a:extLst>
            </a:blip>
            <a:stretch>
              <a:fillRect l="0" t="0" r="0" b="-42889"/>
            </a:stretch>
          </a:blipFill>
        </p:spPr>
      </p:sp>
      <p:sp>
        <p:nvSpPr>
          <p:cNvPr name="TextBox 4" id="4"/>
          <p:cNvSpPr txBox="true"/>
          <p:nvPr/>
        </p:nvSpPr>
        <p:spPr>
          <a:xfrm rot="0">
            <a:off x="2029721" y="798034"/>
            <a:ext cx="6561465" cy="922060"/>
          </a:xfrm>
          <a:prstGeom prst="rect">
            <a:avLst/>
          </a:prstGeom>
        </p:spPr>
        <p:txBody>
          <a:bodyPr anchor="t" rtlCol="false" tIns="0" lIns="0" bIns="0" rIns="0">
            <a:spAutoFit/>
          </a:bodyPr>
          <a:lstStyle/>
          <a:p>
            <a:pPr algn="ctr" marL="0" indent="0" lvl="0">
              <a:lnSpc>
                <a:spcPts val="7192"/>
              </a:lnSpc>
              <a:spcBef>
                <a:spcPct val="0"/>
              </a:spcBef>
            </a:pPr>
            <a:r>
              <a:rPr lang="en-US" sz="5993">
                <a:solidFill>
                  <a:srgbClr val="FFFFFF"/>
                </a:solidFill>
                <a:latin typeface="Pluma"/>
                <a:ea typeface="Pluma"/>
                <a:cs typeface="Pluma"/>
                <a:sym typeface="Pluma"/>
              </a:rPr>
              <a:t>METODOLOGI</a:t>
            </a:r>
          </a:p>
        </p:txBody>
      </p:sp>
      <p:grpSp>
        <p:nvGrpSpPr>
          <p:cNvPr name="Group 5" id="5"/>
          <p:cNvGrpSpPr/>
          <p:nvPr/>
        </p:nvGrpSpPr>
        <p:grpSpPr>
          <a:xfrm rot="0">
            <a:off x="2559908" y="1477215"/>
            <a:ext cx="5501093" cy="485757"/>
            <a:chOff x="0" y="0"/>
            <a:chExt cx="6731000" cy="594360"/>
          </a:xfrm>
        </p:grpSpPr>
        <p:sp>
          <p:nvSpPr>
            <p:cNvPr name="Freeform 6" id="6" descr="a squiggly doodle"/>
            <p:cNvSpPr/>
            <p:nvPr/>
          </p:nvSpPr>
          <p:spPr>
            <a:xfrm flipH="false" flipV="false" rot="0">
              <a:off x="44450" y="48260"/>
              <a:ext cx="6637020" cy="501650"/>
            </a:xfrm>
            <a:custGeom>
              <a:avLst/>
              <a:gdLst/>
              <a:ahLst/>
              <a:cxnLst/>
              <a:rect r="r" b="b" t="t" l="l"/>
              <a:pathLst>
                <a:path h="501650" w="6637020">
                  <a:moveTo>
                    <a:pt x="16510" y="320040"/>
                  </a:moveTo>
                  <a:cubicBezTo>
                    <a:pt x="195580" y="177800"/>
                    <a:pt x="227330" y="167640"/>
                    <a:pt x="273050" y="158750"/>
                  </a:cubicBezTo>
                  <a:cubicBezTo>
                    <a:pt x="332740" y="146050"/>
                    <a:pt x="431800" y="135890"/>
                    <a:pt x="486410" y="142240"/>
                  </a:cubicBezTo>
                  <a:cubicBezTo>
                    <a:pt x="520700" y="146050"/>
                    <a:pt x="544830" y="153670"/>
                    <a:pt x="570230" y="168910"/>
                  </a:cubicBezTo>
                  <a:cubicBezTo>
                    <a:pt x="598170" y="185420"/>
                    <a:pt x="626110" y="213360"/>
                    <a:pt x="646430" y="237490"/>
                  </a:cubicBezTo>
                  <a:cubicBezTo>
                    <a:pt x="664210" y="259080"/>
                    <a:pt x="678180" y="279400"/>
                    <a:pt x="688340" y="303530"/>
                  </a:cubicBezTo>
                  <a:cubicBezTo>
                    <a:pt x="698500" y="327660"/>
                    <a:pt x="697230" y="377190"/>
                    <a:pt x="709930" y="381000"/>
                  </a:cubicBezTo>
                  <a:cubicBezTo>
                    <a:pt x="723900" y="384810"/>
                    <a:pt x="749300" y="336550"/>
                    <a:pt x="772160" y="317500"/>
                  </a:cubicBezTo>
                  <a:cubicBezTo>
                    <a:pt x="796290" y="297180"/>
                    <a:pt x="826770" y="278130"/>
                    <a:pt x="854710" y="264160"/>
                  </a:cubicBezTo>
                  <a:cubicBezTo>
                    <a:pt x="881380" y="251460"/>
                    <a:pt x="902970" y="243840"/>
                    <a:pt x="938530" y="237490"/>
                  </a:cubicBezTo>
                  <a:cubicBezTo>
                    <a:pt x="1000760" y="226060"/>
                    <a:pt x="1132840" y="210820"/>
                    <a:pt x="1197610" y="223520"/>
                  </a:cubicBezTo>
                  <a:cubicBezTo>
                    <a:pt x="1239520" y="231140"/>
                    <a:pt x="1263650" y="247650"/>
                    <a:pt x="1295400" y="269240"/>
                  </a:cubicBezTo>
                  <a:cubicBezTo>
                    <a:pt x="1333500" y="294640"/>
                    <a:pt x="1380490" y="378460"/>
                    <a:pt x="1407160" y="374650"/>
                  </a:cubicBezTo>
                  <a:cubicBezTo>
                    <a:pt x="1426210" y="372110"/>
                    <a:pt x="1428750" y="330200"/>
                    <a:pt x="1449070" y="308610"/>
                  </a:cubicBezTo>
                  <a:cubicBezTo>
                    <a:pt x="1478280" y="278130"/>
                    <a:pt x="1527810" y="240030"/>
                    <a:pt x="1577340" y="220980"/>
                  </a:cubicBezTo>
                  <a:cubicBezTo>
                    <a:pt x="1631950" y="200660"/>
                    <a:pt x="1711960" y="196850"/>
                    <a:pt x="1762760" y="195580"/>
                  </a:cubicBezTo>
                  <a:cubicBezTo>
                    <a:pt x="1797050" y="194310"/>
                    <a:pt x="1822450" y="194310"/>
                    <a:pt x="1850390" y="201930"/>
                  </a:cubicBezTo>
                  <a:cubicBezTo>
                    <a:pt x="1879600" y="209550"/>
                    <a:pt x="1906270" y="223520"/>
                    <a:pt x="1934210" y="242570"/>
                  </a:cubicBezTo>
                  <a:cubicBezTo>
                    <a:pt x="1968500" y="265430"/>
                    <a:pt x="1993900" y="330200"/>
                    <a:pt x="2034540" y="335280"/>
                  </a:cubicBezTo>
                  <a:cubicBezTo>
                    <a:pt x="2084070" y="341630"/>
                    <a:pt x="2150110" y="262890"/>
                    <a:pt x="2212340" y="242570"/>
                  </a:cubicBezTo>
                  <a:cubicBezTo>
                    <a:pt x="2273300" y="222250"/>
                    <a:pt x="2353310" y="209550"/>
                    <a:pt x="2402840" y="214630"/>
                  </a:cubicBezTo>
                  <a:cubicBezTo>
                    <a:pt x="2435860" y="218440"/>
                    <a:pt x="2452370" y="224790"/>
                    <a:pt x="2481580" y="242570"/>
                  </a:cubicBezTo>
                  <a:cubicBezTo>
                    <a:pt x="2529840" y="271780"/>
                    <a:pt x="2623820" y="403860"/>
                    <a:pt x="2647950" y="396240"/>
                  </a:cubicBezTo>
                  <a:cubicBezTo>
                    <a:pt x="2660650" y="392430"/>
                    <a:pt x="2650490" y="355600"/>
                    <a:pt x="2660650" y="339090"/>
                  </a:cubicBezTo>
                  <a:cubicBezTo>
                    <a:pt x="2672080" y="321310"/>
                    <a:pt x="2692400" y="309880"/>
                    <a:pt x="2713990" y="295910"/>
                  </a:cubicBezTo>
                  <a:cubicBezTo>
                    <a:pt x="2740660" y="278130"/>
                    <a:pt x="2777490" y="256540"/>
                    <a:pt x="2813050" y="247650"/>
                  </a:cubicBezTo>
                  <a:cubicBezTo>
                    <a:pt x="2851150" y="237490"/>
                    <a:pt x="2887980" y="232410"/>
                    <a:pt x="2936240" y="240030"/>
                  </a:cubicBezTo>
                  <a:cubicBezTo>
                    <a:pt x="3013710" y="252730"/>
                    <a:pt x="3159760" y="373380"/>
                    <a:pt x="3223260" y="358140"/>
                  </a:cubicBezTo>
                  <a:cubicBezTo>
                    <a:pt x="3262630" y="347980"/>
                    <a:pt x="3271520" y="292100"/>
                    <a:pt x="3303270" y="264160"/>
                  </a:cubicBezTo>
                  <a:cubicBezTo>
                    <a:pt x="3336290" y="234950"/>
                    <a:pt x="3385820" y="204470"/>
                    <a:pt x="3418840" y="186690"/>
                  </a:cubicBezTo>
                  <a:cubicBezTo>
                    <a:pt x="3441700" y="173990"/>
                    <a:pt x="3455670" y="167640"/>
                    <a:pt x="3481070" y="161290"/>
                  </a:cubicBezTo>
                  <a:cubicBezTo>
                    <a:pt x="3516630" y="152400"/>
                    <a:pt x="3569970" y="137160"/>
                    <a:pt x="3614420" y="146050"/>
                  </a:cubicBezTo>
                  <a:cubicBezTo>
                    <a:pt x="3666490" y="154940"/>
                    <a:pt x="3731260" y="200660"/>
                    <a:pt x="3770630" y="227330"/>
                  </a:cubicBezTo>
                  <a:cubicBezTo>
                    <a:pt x="3797300" y="246380"/>
                    <a:pt x="3808730" y="280670"/>
                    <a:pt x="3834130" y="283210"/>
                  </a:cubicBezTo>
                  <a:cubicBezTo>
                    <a:pt x="3864610" y="287020"/>
                    <a:pt x="3907790" y="237490"/>
                    <a:pt x="3942080" y="223520"/>
                  </a:cubicBezTo>
                  <a:cubicBezTo>
                    <a:pt x="3971290" y="212090"/>
                    <a:pt x="3991610" y="207010"/>
                    <a:pt x="4027170" y="201930"/>
                  </a:cubicBezTo>
                  <a:cubicBezTo>
                    <a:pt x="4084320" y="193040"/>
                    <a:pt x="4201160" y="184150"/>
                    <a:pt x="4254500" y="189230"/>
                  </a:cubicBezTo>
                  <a:cubicBezTo>
                    <a:pt x="4283710" y="191770"/>
                    <a:pt x="4300220" y="196850"/>
                    <a:pt x="4320540" y="205740"/>
                  </a:cubicBezTo>
                  <a:cubicBezTo>
                    <a:pt x="4342130" y="214630"/>
                    <a:pt x="4359910" y="226060"/>
                    <a:pt x="4380230" y="243840"/>
                  </a:cubicBezTo>
                  <a:cubicBezTo>
                    <a:pt x="4408170" y="269240"/>
                    <a:pt x="4451350" y="358140"/>
                    <a:pt x="4467860" y="354330"/>
                  </a:cubicBezTo>
                  <a:cubicBezTo>
                    <a:pt x="4480560" y="351790"/>
                    <a:pt x="4472940" y="302260"/>
                    <a:pt x="4485640" y="281940"/>
                  </a:cubicBezTo>
                  <a:cubicBezTo>
                    <a:pt x="4498340" y="261620"/>
                    <a:pt x="4521200" y="247650"/>
                    <a:pt x="4547870" y="232410"/>
                  </a:cubicBezTo>
                  <a:cubicBezTo>
                    <a:pt x="4585970" y="210820"/>
                    <a:pt x="4648200" y="185420"/>
                    <a:pt x="4701540" y="175260"/>
                  </a:cubicBezTo>
                  <a:cubicBezTo>
                    <a:pt x="4757420" y="165100"/>
                    <a:pt x="4832350" y="162560"/>
                    <a:pt x="4878070" y="171450"/>
                  </a:cubicBezTo>
                  <a:cubicBezTo>
                    <a:pt x="4909820" y="176530"/>
                    <a:pt x="4928870" y="185420"/>
                    <a:pt x="4955540" y="201930"/>
                  </a:cubicBezTo>
                  <a:cubicBezTo>
                    <a:pt x="4992370" y="223520"/>
                    <a:pt x="5045710" y="306070"/>
                    <a:pt x="5074920" y="299720"/>
                  </a:cubicBezTo>
                  <a:cubicBezTo>
                    <a:pt x="5100320" y="294640"/>
                    <a:pt x="5102860" y="227330"/>
                    <a:pt x="5129530" y="198120"/>
                  </a:cubicBezTo>
                  <a:cubicBezTo>
                    <a:pt x="5160010" y="165100"/>
                    <a:pt x="5212080" y="133350"/>
                    <a:pt x="5255260" y="116840"/>
                  </a:cubicBezTo>
                  <a:cubicBezTo>
                    <a:pt x="5293360" y="102870"/>
                    <a:pt x="5336540" y="100330"/>
                    <a:pt x="5372100" y="100330"/>
                  </a:cubicBezTo>
                  <a:cubicBezTo>
                    <a:pt x="5402580" y="100330"/>
                    <a:pt x="5429250" y="102870"/>
                    <a:pt x="5454650" y="110490"/>
                  </a:cubicBezTo>
                  <a:cubicBezTo>
                    <a:pt x="5478780" y="118110"/>
                    <a:pt x="5500370" y="127000"/>
                    <a:pt x="5523230" y="144780"/>
                  </a:cubicBezTo>
                  <a:cubicBezTo>
                    <a:pt x="5554980" y="170180"/>
                    <a:pt x="5621020" y="256540"/>
                    <a:pt x="5621020" y="256540"/>
                  </a:cubicBezTo>
                  <a:cubicBezTo>
                    <a:pt x="5621020" y="256540"/>
                    <a:pt x="5585460" y="228600"/>
                    <a:pt x="5584190" y="212090"/>
                  </a:cubicBezTo>
                  <a:cubicBezTo>
                    <a:pt x="5582920" y="194310"/>
                    <a:pt x="5601970" y="172720"/>
                    <a:pt x="5619750" y="152400"/>
                  </a:cubicBezTo>
                  <a:cubicBezTo>
                    <a:pt x="5645150" y="123190"/>
                    <a:pt x="5699760" y="82550"/>
                    <a:pt x="5732780" y="66040"/>
                  </a:cubicBezTo>
                  <a:cubicBezTo>
                    <a:pt x="5754370" y="55880"/>
                    <a:pt x="5769610" y="53340"/>
                    <a:pt x="5789930" y="49530"/>
                  </a:cubicBezTo>
                  <a:cubicBezTo>
                    <a:pt x="5811520" y="45720"/>
                    <a:pt x="5836920" y="40640"/>
                    <a:pt x="5861050" y="43180"/>
                  </a:cubicBezTo>
                  <a:cubicBezTo>
                    <a:pt x="5887720" y="45720"/>
                    <a:pt x="5916930" y="58420"/>
                    <a:pt x="5942330" y="69850"/>
                  </a:cubicBezTo>
                  <a:cubicBezTo>
                    <a:pt x="5967730" y="80010"/>
                    <a:pt x="5986780" y="90170"/>
                    <a:pt x="6013450" y="107950"/>
                  </a:cubicBezTo>
                  <a:cubicBezTo>
                    <a:pt x="6050280" y="132080"/>
                    <a:pt x="6130290" y="215900"/>
                    <a:pt x="6140450" y="209550"/>
                  </a:cubicBezTo>
                  <a:cubicBezTo>
                    <a:pt x="6146800" y="205740"/>
                    <a:pt x="6117590" y="166370"/>
                    <a:pt x="6121400" y="147320"/>
                  </a:cubicBezTo>
                  <a:cubicBezTo>
                    <a:pt x="6125210" y="127000"/>
                    <a:pt x="6145530" y="109220"/>
                    <a:pt x="6164580" y="92710"/>
                  </a:cubicBezTo>
                  <a:cubicBezTo>
                    <a:pt x="6186170" y="73660"/>
                    <a:pt x="6217920" y="57150"/>
                    <a:pt x="6245860" y="44450"/>
                  </a:cubicBezTo>
                  <a:cubicBezTo>
                    <a:pt x="6271260" y="33020"/>
                    <a:pt x="6292850" y="25400"/>
                    <a:pt x="6323330" y="19050"/>
                  </a:cubicBezTo>
                  <a:cubicBezTo>
                    <a:pt x="6363970" y="10160"/>
                    <a:pt x="6422390" y="0"/>
                    <a:pt x="6470650" y="2540"/>
                  </a:cubicBezTo>
                  <a:cubicBezTo>
                    <a:pt x="6518910" y="5080"/>
                    <a:pt x="6586220" y="16510"/>
                    <a:pt x="6611620" y="33020"/>
                  </a:cubicBezTo>
                  <a:cubicBezTo>
                    <a:pt x="6624320" y="40640"/>
                    <a:pt x="6629400" y="50800"/>
                    <a:pt x="6633210" y="62230"/>
                  </a:cubicBezTo>
                  <a:cubicBezTo>
                    <a:pt x="6637020" y="72390"/>
                    <a:pt x="6637020" y="87630"/>
                    <a:pt x="6633210" y="97790"/>
                  </a:cubicBezTo>
                  <a:cubicBezTo>
                    <a:pt x="6629400" y="109220"/>
                    <a:pt x="6620510" y="120650"/>
                    <a:pt x="6610350" y="127000"/>
                  </a:cubicBezTo>
                  <a:cubicBezTo>
                    <a:pt x="6601460" y="133350"/>
                    <a:pt x="6587490" y="137160"/>
                    <a:pt x="6576060" y="135890"/>
                  </a:cubicBezTo>
                  <a:cubicBezTo>
                    <a:pt x="6562090" y="133350"/>
                    <a:pt x="6539230" y="120650"/>
                    <a:pt x="6530340" y="107950"/>
                  </a:cubicBezTo>
                  <a:cubicBezTo>
                    <a:pt x="6523990" y="97790"/>
                    <a:pt x="6522720" y="83820"/>
                    <a:pt x="6523990" y="72390"/>
                  </a:cubicBezTo>
                  <a:cubicBezTo>
                    <a:pt x="6525260" y="60960"/>
                    <a:pt x="6530340" y="48260"/>
                    <a:pt x="6539230" y="40640"/>
                  </a:cubicBezTo>
                  <a:cubicBezTo>
                    <a:pt x="6550660" y="30480"/>
                    <a:pt x="6574790" y="22860"/>
                    <a:pt x="6588760" y="24130"/>
                  </a:cubicBezTo>
                  <a:cubicBezTo>
                    <a:pt x="6600190" y="25400"/>
                    <a:pt x="6612890" y="33020"/>
                    <a:pt x="6620510" y="40640"/>
                  </a:cubicBezTo>
                  <a:cubicBezTo>
                    <a:pt x="6628130" y="49530"/>
                    <a:pt x="6634480" y="62230"/>
                    <a:pt x="6635750" y="73660"/>
                  </a:cubicBezTo>
                  <a:cubicBezTo>
                    <a:pt x="6637020" y="85090"/>
                    <a:pt x="6633210" y="99060"/>
                    <a:pt x="6626860" y="109220"/>
                  </a:cubicBezTo>
                  <a:cubicBezTo>
                    <a:pt x="6620510" y="119380"/>
                    <a:pt x="6614160" y="127000"/>
                    <a:pt x="6600190" y="132080"/>
                  </a:cubicBezTo>
                  <a:cubicBezTo>
                    <a:pt x="6567170" y="142240"/>
                    <a:pt x="6477000" y="109220"/>
                    <a:pt x="6418580" y="115570"/>
                  </a:cubicBezTo>
                  <a:cubicBezTo>
                    <a:pt x="6361430" y="121920"/>
                    <a:pt x="6290310" y="139700"/>
                    <a:pt x="6253480" y="167640"/>
                  </a:cubicBezTo>
                  <a:cubicBezTo>
                    <a:pt x="6225540" y="189230"/>
                    <a:pt x="6223000" y="227330"/>
                    <a:pt x="6200140" y="251460"/>
                  </a:cubicBezTo>
                  <a:cubicBezTo>
                    <a:pt x="6177280" y="275590"/>
                    <a:pt x="6153150" y="311150"/>
                    <a:pt x="6117590" y="312420"/>
                  </a:cubicBezTo>
                  <a:cubicBezTo>
                    <a:pt x="6056630" y="314960"/>
                    <a:pt x="5925820" y="171450"/>
                    <a:pt x="5864860" y="157480"/>
                  </a:cubicBezTo>
                  <a:cubicBezTo>
                    <a:pt x="5833110" y="151130"/>
                    <a:pt x="5812790" y="157480"/>
                    <a:pt x="5788660" y="166370"/>
                  </a:cubicBezTo>
                  <a:cubicBezTo>
                    <a:pt x="5763260" y="175260"/>
                    <a:pt x="5737860" y="190500"/>
                    <a:pt x="5717540" y="212090"/>
                  </a:cubicBezTo>
                  <a:cubicBezTo>
                    <a:pt x="5693410" y="237490"/>
                    <a:pt x="5684520" y="295910"/>
                    <a:pt x="5656580" y="317500"/>
                  </a:cubicBezTo>
                  <a:cubicBezTo>
                    <a:pt x="5631180" y="336550"/>
                    <a:pt x="5590540" y="350520"/>
                    <a:pt x="5561330" y="341630"/>
                  </a:cubicBezTo>
                  <a:cubicBezTo>
                    <a:pt x="5527040" y="330200"/>
                    <a:pt x="5505450" y="259080"/>
                    <a:pt x="5472430" y="234950"/>
                  </a:cubicBezTo>
                  <a:cubicBezTo>
                    <a:pt x="5445760" y="215900"/>
                    <a:pt x="5414010" y="204470"/>
                    <a:pt x="5386070" y="200660"/>
                  </a:cubicBezTo>
                  <a:cubicBezTo>
                    <a:pt x="5359400" y="198120"/>
                    <a:pt x="5330190" y="204470"/>
                    <a:pt x="5307330" y="212090"/>
                  </a:cubicBezTo>
                  <a:cubicBezTo>
                    <a:pt x="5288280" y="218440"/>
                    <a:pt x="5276850" y="227330"/>
                    <a:pt x="5256530" y="242570"/>
                  </a:cubicBezTo>
                  <a:cubicBezTo>
                    <a:pt x="5215890" y="273050"/>
                    <a:pt x="5140960" y="378460"/>
                    <a:pt x="5090160" y="392430"/>
                  </a:cubicBezTo>
                  <a:cubicBezTo>
                    <a:pt x="5057140" y="401320"/>
                    <a:pt x="5021580" y="388620"/>
                    <a:pt x="4998720" y="375920"/>
                  </a:cubicBezTo>
                  <a:cubicBezTo>
                    <a:pt x="4979670" y="364490"/>
                    <a:pt x="4974590" y="341630"/>
                    <a:pt x="4956810" y="326390"/>
                  </a:cubicBezTo>
                  <a:cubicBezTo>
                    <a:pt x="4933950" y="307340"/>
                    <a:pt x="4899660" y="280670"/>
                    <a:pt x="4870450" y="271780"/>
                  </a:cubicBezTo>
                  <a:cubicBezTo>
                    <a:pt x="4845050" y="264160"/>
                    <a:pt x="4817110" y="269240"/>
                    <a:pt x="4792980" y="270510"/>
                  </a:cubicBezTo>
                  <a:cubicBezTo>
                    <a:pt x="4771390" y="271780"/>
                    <a:pt x="4754880" y="271780"/>
                    <a:pt x="4732020" y="276860"/>
                  </a:cubicBezTo>
                  <a:cubicBezTo>
                    <a:pt x="4699000" y="284480"/>
                    <a:pt x="4653280" y="295910"/>
                    <a:pt x="4616450" y="317500"/>
                  </a:cubicBezTo>
                  <a:cubicBezTo>
                    <a:pt x="4574540" y="342900"/>
                    <a:pt x="4538980" y="410210"/>
                    <a:pt x="4498340" y="427990"/>
                  </a:cubicBezTo>
                  <a:cubicBezTo>
                    <a:pt x="4465320" y="441960"/>
                    <a:pt x="4428490" y="448310"/>
                    <a:pt x="4396740" y="435610"/>
                  </a:cubicBezTo>
                  <a:cubicBezTo>
                    <a:pt x="4356100" y="419100"/>
                    <a:pt x="4325620" y="328930"/>
                    <a:pt x="4287520" y="307340"/>
                  </a:cubicBezTo>
                  <a:cubicBezTo>
                    <a:pt x="4259580" y="292100"/>
                    <a:pt x="4234180" y="294640"/>
                    <a:pt x="4201160" y="293370"/>
                  </a:cubicBezTo>
                  <a:cubicBezTo>
                    <a:pt x="4159250" y="292100"/>
                    <a:pt x="4107180" y="294640"/>
                    <a:pt x="4055110" y="307340"/>
                  </a:cubicBezTo>
                  <a:cubicBezTo>
                    <a:pt x="3992880" y="322580"/>
                    <a:pt x="3910330" y="379730"/>
                    <a:pt x="3854450" y="384810"/>
                  </a:cubicBezTo>
                  <a:cubicBezTo>
                    <a:pt x="3816350" y="387350"/>
                    <a:pt x="3782060" y="378460"/>
                    <a:pt x="3757930" y="364490"/>
                  </a:cubicBezTo>
                  <a:cubicBezTo>
                    <a:pt x="3738880" y="353060"/>
                    <a:pt x="3735070" y="332740"/>
                    <a:pt x="3716020" y="317500"/>
                  </a:cubicBezTo>
                  <a:cubicBezTo>
                    <a:pt x="3690620" y="295910"/>
                    <a:pt x="3647440" y="261620"/>
                    <a:pt x="3613150" y="254000"/>
                  </a:cubicBezTo>
                  <a:cubicBezTo>
                    <a:pt x="3582670" y="246380"/>
                    <a:pt x="3550920" y="254000"/>
                    <a:pt x="3520440" y="262890"/>
                  </a:cubicBezTo>
                  <a:cubicBezTo>
                    <a:pt x="3487420" y="271780"/>
                    <a:pt x="3455670" y="284480"/>
                    <a:pt x="3422650" y="308610"/>
                  </a:cubicBezTo>
                  <a:cubicBezTo>
                    <a:pt x="3379470" y="340360"/>
                    <a:pt x="3338830" y="426720"/>
                    <a:pt x="3293110" y="445770"/>
                  </a:cubicBezTo>
                  <a:cubicBezTo>
                    <a:pt x="3258820" y="461010"/>
                    <a:pt x="3227070" y="452120"/>
                    <a:pt x="3183890" y="444500"/>
                  </a:cubicBezTo>
                  <a:cubicBezTo>
                    <a:pt x="3117850" y="433070"/>
                    <a:pt x="3001010" y="364490"/>
                    <a:pt x="2937510" y="355600"/>
                  </a:cubicBezTo>
                  <a:cubicBezTo>
                    <a:pt x="2899410" y="350520"/>
                    <a:pt x="2870200" y="355600"/>
                    <a:pt x="2843530" y="361950"/>
                  </a:cubicBezTo>
                  <a:cubicBezTo>
                    <a:pt x="2821940" y="367030"/>
                    <a:pt x="2809240" y="372110"/>
                    <a:pt x="2786380" y="384810"/>
                  </a:cubicBezTo>
                  <a:cubicBezTo>
                    <a:pt x="2748280" y="406400"/>
                    <a:pt x="2683510" y="485140"/>
                    <a:pt x="2644140" y="495300"/>
                  </a:cubicBezTo>
                  <a:cubicBezTo>
                    <a:pt x="2620010" y="501650"/>
                    <a:pt x="2603500" y="497840"/>
                    <a:pt x="2580640" y="486410"/>
                  </a:cubicBezTo>
                  <a:cubicBezTo>
                    <a:pt x="2540000" y="466090"/>
                    <a:pt x="2481580" y="369570"/>
                    <a:pt x="2437130" y="345440"/>
                  </a:cubicBezTo>
                  <a:cubicBezTo>
                    <a:pt x="2407920" y="330200"/>
                    <a:pt x="2381250" y="327660"/>
                    <a:pt x="2352040" y="327660"/>
                  </a:cubicBezTo>
                  <a:cubicBezTo>
                    <a:pt x="2321560" y="327660"/>
                    <a:pt x="2296160" y="330200"/>
                    <a:pt x="2260600" y="342900"/>
                  </a:cubicBezTo>
                  <a:cubicBezTo>
                    <a:pt x="2202180" y="363220"/>
                    <a:pt x="2092960" y="458470"/>
                    <a:pt x="2040890" y="458470"/>
                  </a:cubicBezTo>
                  <a:cubicBezTo>
                    <a:pt x="2012950" y="458470"/>
                    <a:pt x="1993900" y="440690"/>
                    <a:pt x="1976120" y="425450"/>
                  </a:cubicBezTo>
                  <a:cubicBezTo>
                    <a:pt x="1958340" y="408940"/>
                    <a:pt x="1953260" y="382270"/>
                    <a:pt x="1934210" y="363220"/>
                  </a:cubicBezTo>
                  <a:cubicBezTo>
                    <a:pt x="1910080" y="339090"/>
                    <a:pt x="1877060" y="308610"/>
                    <a:pt x="1840230" y="297180"/>
                  </a:cubicBezTo>
                  <a:cubicBezTo>
                    <a:pt x="1797050" y="284480"/>
                    <a:pt x="1727200" y="297180"/>
                    <a:pt x="1687830" y="300990"/>
                  </a:cubicBezTo>
                  <a:cubicBezTo>
                    <a:pt x="1663700" y="303530"/>
                    <a:pt x="1652270" y="299720"/>
                    <a:pt x="1629410" y="309880"/>
                  </a:cubicBezTo>
                  <a:cubicBezTo>
                    <a:pt x="1587500" y="327660"/>
                    <a:pt x="1516380" y="406400"/>
                    <a:pt x="1473200" y="433070"/>
                  </a:cubicBezTo>
                  <a:cubicBezTo>
                    <a:pt x="1446530" y="449580"/>
                    <a:pt x="1424940" y="463550"/>
                    <a:pt x="1402080" y="466090"/>
                  </a:cubicBezTo>
                  <a:cubicBezTo>
                    <a:pt x="1383030" y="467360"/>
                    <a:pt x="1362710" y="462280"/>
                    <a:pt x="1346200" y="452120"/>
                  </a:cubicBezTo>
                  <a:cubicBezTo>
                    <a:pt x="1328420" y="440690"/>
                    <a:pt x="1322070" y="412750"/>
                    <a:pt x="1303020" y="393700"/>
                  </a:cubicBezTo>
                  <a:cubicBezTo>
                    <a:pt x="1276350" y="367030"/>
                    <a:pt x="1236980" y="327660"/>
                    <a:pt x="1195070" y="314960"/>
                  </a:cubicBezTo>
                  <a:cubicBezTo>
                    <a:pt x="1150620" y="302260"/>
                    <a:pt x="1093470" y="316230"/>
                    <a:pt x="1045210" y="321310"/>
                  </a:cubicBezTo>
                  <a:cubicBezTo>
                    <a:pt x="998220" y="326390"/>
                    <a:pt x="948690" y="325120"/>
                    <a:pt x="906780" y="344170"/>
                  </a:cubicBezTo>
                  <a:cubicBezTo>
                    <a:pt x="862330" y="364490"/>
                    <a:pt x="826770" y="416560"/>
                    <a:pt x="788670" y="443230"/>
                  </a:cubicBezTo>
                  <a:cubicBezTo>
                    <a:pt x="756920" y="464820"/>
                    <a:pt x="722630" y="499110"/>
                    <a:pt x="695960" y="494030"/>
                  </a:cubicBezTo>
                  <a:cubicBezTo>
                    <a:pt x="668020" y="487680"/>
                    <a:pt x="641350" y="434340"/>
                    <a:pt x="623570" y="400050"/>
                  </a:cubicBezTo>
                  <a:cubicBezTo>
                    <a:pt x="605790" y="367030"/>
                    <a:pt x="604520" y="322580"/>
                    <a:pt x="588010" y="295910"/>
                  </a:cubicBezTo>
                  <a:cubicBezTo>
                    <a:pt x="575310" y="274320"/>
                    <a:pt x="557530" y="257810"/>
                    <a:pt x="539750" y="245110"/>
                  </a:cubicBezTo>
                  <a:cubicBezTo>
                    <a:pt x="523240" y="233680"/>
                    <a:pt x="508000" y="224790"/>
                    <a:pt x="483870" y="220980"/>
                  </a:cubicBezTo>
                  <a:cubicBezTo>
                    <a:pt x="440690" y="214630"/>
                    <a:pt x="351790" y="224790"/>
                    <a:pt x="302260" y="236220"/>
                  </a:cubicBezTo>
                  <a:cubicBezTo>
                    <a:pt x="266700" y="245110"/>
                    <a:pt x="245110" y="252730"/>
                    <a:pt x="212090" y="271780"/>
                  </a:cubicBezTo>
                  <a:cubicBezTo>
                    <a:pt x="165100" y="299720"/>
                    <a:pt x="91440" y="398780"/>
                    <a:pt x="53340" y="401320"/>
                  </a:cubicBezTo>
                  <a:cubicBezTo>
                    <a:pt x="34290" y="402590"/>
                    <a:pt x="12700" y="387350"/>
                    <a:pt x="6350" y="373380"/>
                  </a:cubicBezTo>
                  <a:cubicBezTo>
                    <a:pt x="0" y="359410"/>
                    <a:pt x="16510" y="320040"/>
                    <a:pt x="16510" y="320040"/>
                  </a:cubicBezTo>
                </a:path>
              </a:pathLst>
            </a:custGeom>
            <a:solidFill>
              <a:srgbClr val="DDAA2B"/>
            </a:solidFill>
            <a:ln cap="sq">
              <a:noFill/>
              <a:prstDash val="solid"/>
              <a:miter/>
            </a:ln>
          </p:spPr>
        </p:sp>
      </p:grpSp>
      <p:sp>
        <p:nvSpPr>
          <p:cNvPr name="Freeform 7" id="7">
            <a:extLst>
              <a:ext uri="{C183D7F6-B498-43B3-948B-1728B52AA6E4}">
                <adec:decorative xmlns:adec="http://schemas.microsoft.com/office/drawing/2017/decorative" val="1"/>
              </a:ext>
            </a:extLst>
          </p:cNvPr>
          <p:cNvSpPr/>
          <p:nvPr/>
        </p:nvSpPr>
        <p:spPr>
          <a:xfrm flipH="false" flipV="false" rot="0">
            <a:off x="0" y="0"/>
            <a:ext cx="2002043" cy="1634168"/>
          </a:xfrm>
          <a:custGeom>
            <a:avLst/>
            <a:gdLst/>
            <a:ahLst/>
            <a:cxnLst/>
            <a:rect r="r" b="b" t="t" l="l"/>
            <a:pathLst>
              <a:path h="1634168" w="2002043">
                <a:moveTo>
                  <a:pt x="0" y="0"/>
                </a:moveTo>
                <a:lnTo>
                  <a:pt x="2002043" y="0"/>
                </a:lnTo>
                <a:lnTo>
                  <a:pt x="2002043" y="1634168"/>
                </a:lnTo>
                <a:lnTo>
                  <a:pt x="0" y="16341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118782" y="0"/>
            <a:ext cx="5169218" cy="10287000"/>
          </a:xfrm>
          <a:custGeom>
            <a:avLst/>
            <a:gdLst/>
            <a:ahLst/>
            <a:cxnLst/>
            <a:rect r="r" b="b" t="t" l="l"/>
            <a:pathLst>
              <a:path h="10287000" w="5169218">
                <a:moveTo>
                  <a:pt x="0" y="0"/>
                </a:moveTo>
                <a:lnTo>
                  <a:pt x="5169218" y="0"/>
                </a:lnTo>
                <a:lnTo>
                  <a:pt x="5169218" y="10287000"/>
                </a:lnTo>
                <a:lnTo>
                  <a:pt x="0" y="10287000"/>
                </a:lnTo>
                <a:lnTo>
                  <a:pt x="0" y="0"/>
                </a:lnTo>
                <a:close/>
              </a:path>
            </a:pathLst>
          </a:custGeom>
          <a:blipFill>
            <a:blip r:embed="rId7"/>
            <a:stretch>
              <a:fillRect l="0" t="0" r="0" b="0"/>
            </a:stretch>
          </a:blipFill>
        </p:spPr>
      </p:sp>
      <p:sp>
        <p:nvSpPr>
          <p:cNvPr name="TextBox 9" id="9"/>
          <p:cNvSpPr txBox="true"/>
          <p:nvPr/>
        </p:nvSpPr>
        <p:spPr>
          <a:xfrm rot="0">
            <a:off x="485205" y="1982022"/>
            <a:ext cx="12633578" cy="7800975"/>
          </a:xfrm>
          <a:prstGeom prst="rect">
            <a:avLst/>
          </a:prstGeom>
        </p:spPr>
        <p:txBody>
          <a:bodyPr anchor="t" rtlCol="false" tIns="0" lIns="0" bIns="0" rIns="0">
            <a:spAutoFit/>
          </a:bodyPr>
          <a:lstStyle/>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1. B</a:t>
            </a:r>
            <a:r>
              <a:rPr lang="en-US" sz="2733" i="true" b="true">
                <a:solidFill>
                  <a:srgbClr val="FFFFFF"/>
                </a:solidFill>
                <a:latin typeface="Anonymous Pro Bold Italics"/>
                <a:ea typeface="Anonymous Pro Bold Italics"/>
                <a:cs typeface="Anonymous Pro Bold Italics"/>
                <a:sym typeface="Anonymous Pro Bold Italics"/>
              </a:rPr>
              <a:t>agian Awal</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Mulai: Menentukan tujuan dan ruang lingkup penelitian.</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Studi Literatur: empelajari literatur yang relevan tentang antena microstrip bowtie</a:t>
            </a:r>
          </a:p>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2. Bagian Desain</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Spesifikasi: Menetapkan frekuensi, gain, bandwidth, VSWR, dan ukuran.</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Perancangan: Menghitung parameter desain antena.</a:t>
            </a:r>
          </a:p>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3. </a:t>
            </a:r>
            <a:r>
              <a:rPr lang="en-US" sz="2733" i="true" b="true">
                <a:solidFill>
                  <a:srgbClr val="FFFFFF"/>
                </a:solidFill>
                <a:latin typeface="Anonymous Pro Bold Italics"/>
                <a:ea typeface="Anonymous Pro Bold Italics"/>
                <a:cs typeface="Anonymous Pro Bold Italics"/>
                <a:sym typeface="Anonymous Pro Bold Italics"/>
              </a:rPr>
              <a:t>Bagian Simulasi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Simulasi: Analisis desain menggunakan CST Suite 2019.</a:t>
            </a:r>
          </a:p>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4. </a:t>
            </a:r>
            <a:r>
              <a:rPr lang="en-US" sz="2733" i="true" b="true">
                <a:solidFill>
                  <a:srgbClr val="FFFFFF"/>
                </a:solidFill>
                <a:latin typeface="Anonymous Pro Bold Italics"/>
                <a:ea typeface="Anonymous Pro Bold Italics"/>
                <a:cs typeface="Anonymous Pro Bold Italics"/>
                <a:sym typeface="Anonymous Pro Bold Italics"/>
              </a:rPr>
              <a:t>Bagian Optimalisasi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Evaluasi: Bandingkan hasil simulasi dengan spesifikasi.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Optimasi: Perbaikan desain jika diperlukan.</a:t>
            </a:r>
          </a:p>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5. </a:t>
            </a:r>
            <a:r>
              <a:rPr lang="en-US" sz="2733" i="true" b="true">
                <a:solidFill>
                  <a:srgbClr val="FFFFFF"/>
                </a:solidFill>
                <a:latin typeface="Anonymous Pro Bold Italics"/>
                <a:ea typeface="Anonymous Pro Bold Italics"/>
                <a:cs typeface="Anonymous Pro Bold Italics"/>
                <a:sym typeface="Anonymous Pro Bold Italics"/>
              </a:rPr>
              <a:t>Bagian Realisasi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Pembuatan: Produksi antena dalam bentuk PCB.</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Pengujian: Mengukur kinerja antena.</a:t>
            </a:r>
          </a:p>
          <a:p>
            <a:pPr algn="l">
              <a:lnSpc>
                <a:spcPts val="3279"/>
              </a:lnSpc>
            </a:pPr>
            <a:r>
              <a:rPr lang="en-US" sz="2733" i="true" b="true">
                <a:solidFill>
                  <a:srgbClr val="FFFFFF"/>
                </a:solidFill>
                <a:latin typeface="Anonymous Pro Bold Italics"/>
                <a:ea typeface="Anonymous Pro Bold Italics"/>
                <a:cs typeface="Anonymous Pro Bold Italics"/>
                <a:sym typeface="Anonymous Pro Bold Italics"/>
              </a:rPr>
              <a:t>6. </a:t>
            </a:r>
            <a:r>
              <a:rPr lang="en-US" sz="2733" i="true" b="true">
                <a:solidFill>
                  <a:srgbClr val="FFFFFF"/>
                </a:solidFill>
                <a:latin typeface="Anonymous Pro Bold Italics"/>
                <a:ea typeface="Anonymous Pro Bold Italics"/>
                <a:cs typeface="Anonymous Pro Bold Italics"/>
                <a:sym typeface="Anonymous Pro Bold Italics"/>
              </a:rPr>
              <a:t>Bagian Evaluasi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Verifikasi: Bandingkan hasil pengukuran dengan spesifikasi.</a:t>
            </a:r>
          </a:p>
          <a:p>
            <a:pPr algn="l" marL="546926" indent="-273463" lvl="1">
              <a:lnSpc>
                <a:spcPts val="3039"/>
              </a:lnSpc>
              <a:buFont typeface="Arial"/>
              <a:buChar char="•"/>
            </a:pPr>
            <a:r>
              <a:rPr lang="en-US" sz="2533">
                <a:solidFill>
                  <a:srgbClr val="FFFFFF"/>
                </a:solidFill>
                <a:latin typeface="Anonymous Pro"/>
                <a:ea typeface="Anonymous Pro"/>
                <a:cs typeface="Anonymous Pro"/>
                <a:sym typeface="Anonymous Pro"/>
              </a:rPr>
              <a:t>Laporan: Dokumentasi hasil penelitian.</a:t>
            </a:r>
          </a:p>
          <a:p>
            <a:pPr algn="l" marL="0" indent="0" lvl="0">
              <a:lnSpc>
                <a:spcPts val="303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730438">
            <a:off x="13520363" y="-1823225"/>
            <a:ext cx="14686397" cy="14668039"/>
          </a:xfrm>
          <a:custGeom>
            <a:avLst/>
            <a:gdLst/>
            <a:ahLst/>
            <a:cxnLst/>
            <a:rect r="r" b="b" t="t" l="l"/>
            <a:pathLst>
              <a:path h="14668039" w="14686397">
                <a:moveTo>
                  <a:pt x="0" y="0"/>
                </a:moveTo>
                <a:lnTo>
                  <a:pt x="14686398" y="0"/>
                </a:lnTo>
                <a:lnTo>
                  <a:pt x="14686398" y="14668039"/>
                </a:lnTo>
                <a:lnTo>
                  <a:pt x="0" y="14668039"/>
                </a:lnTo>
                <a:lnTo>
                  <a:pt x="0" y="0"/>
                </a:lnTo>
                <a:close/>
              </a:path>
            </a:pathLst>
          </a:custGeom>
          <a:blipFill>
            <a:blip r:embed="rId3"/>
            <a:stretch>
              <a:fillRect l="0" t="0" r="0" b="0"/>
            </a:stretch>
          </a:blipFill>
        </p:spPr>
      </p:sp>
      <p:sp>
        <p:nvSpPr>
          <p:cNvPr name="Freeform 4" id="4"/>
          <p:cNvSpPr/>
          <p:nvPr/>
        </p:nvSpPr>
        <p:spPr>
          <a:xfrm flipH="false" flipV="false" rot="0">
            <a:off x="1028700" y="3174623"/>
            <a:ext cx="7302859" cy="5285444"/>
          </a:xfrm>
          <a:custGeom>
            <a:avLst/>
            <a:gdLst/>
            <a:ahLst/>
            <a:cxnLst/>
            <a:rect r="r" b="b" t="t" l="l"/>
            <a:pathLst>
              <a:path h="5285444" w="7302859">
                <a:moveTo>
                  <a:pt x="0" y="0"/>
                </a:moveTo>
                <a:lnTo>
                  <a:pt x="7302859" y="0"/>
                </a:lnTo>
                <a:lnTo>
                  <a:pt x="7302859" y="5285445"/>
                </a:lnTo>
                <a:lnTo>
                  <a:pt x="0" y="5285445"/>
                </a:lnTo>
                <a:lnTo>
                  <a:pt x="0" y="0"/>
                </a:lnTo>
                <a:close/>
              </a:path>
            </a:pathLst>
          </a:custGeom>
          <a:blipFill>
            <a:blip r:embed="rId4"/>
            <a:stretch>
              <a:fillRect l="0" t="0" r="0" b="0"/>
            </a:stretch>
          </a:blipFill>
        </p:spPr>
      </p:sp>
      <p:sp>
        <p:nvSpPr>
          <p:cNvPr name="Freeform 5" id="5"/>
          <p:cNvSpPr/>
          <p:nvPr/>
        </p:nvSpPr>
        <p:spPr>
          <a:xfrm flipH="false" flipV="false" rot="0">
            <a:off x="13696568" y="1637222"/>
            <a:ext cx="4102874" cy="6531668"/>
          </a:xfrm>
          <a:custGeom>
            <a:avLst/>
            <a:gdLst/>
            <a:ahLst/>
            <a:cxnLst/>
            <a:rect r="r" b="b" t="t" l="l"/>
            <a:pathLst>
              <a:path h="6531668" w="4102874">
                <a:moveTo>
                  <a:pt x="0" y="0"/>
                </a:moveTo>
                <a:lnTo>
                  <a:pt x="4102873" y="0"/>
                </a:lnTo>
                <a:lnTo>
                  <a:pt x="4102873" y="6531668"/>
                </a:lnTo>
                <a:lnTo>
                  <a:pt x="0" y="6531668"/>
                </a:lnTo>
                <a:lnTo>
                  <a:pt x="0" y="0"/>
                </a:lnTo>
                <a:close/>
              </a:path>
            </a:pathLst>
          </a:custGeom>
          <a:blipFill>
            <a:blip r:embed="rId5"/>
            <a:stretch>
              <a:fillRect l="-110620" t="-12539" r="-228" b="0"/>
            </a:stretch>
          </a:blipFill>
        </p:spPr>
      </p:sp>
      <p:sp>
        <p:nvSpPr>
          <p:cNvPr name="TextBox 6" id="6"/>
          <p:cNvSpPr txBox="true"/>
          <p:nvPr/>
        </p:nvSpPr>
        <p:spPr>
          <a:xfrm rot="0">
            <a:off x="1028700" y="1019175"/>
            <a:ext cx="7302859" cy="1557308"/>
          </a:xfrm>
          <a:prstGeom prst="rect">
            <a:avLst/>
          </a:prstGeom>
        </p:spPr>
        <p:txBody>
          <a:bodyPr anchor="t" rtlCol="false" tIns="0" lIns="0" bIns="0" rIns="0">
            <a:spAutoFit/>
          </a:bodyPr>
          <a:lstStyle/>
          <a:p>
            <a:pPr algn="ctr" marL="0" indent="0" lvl="0">
              <a:lnSpc>
                <a:spcPts val="6134"/>
              </a:lnSpc>
              <a:spcBef>
                <a:spcPct val="0"/>
              </a:spcBef>
            </a:pPr>
            <a:r>
              <a:rPr lang="en-US" sz="5112">
                <a:solidFill>
                  <a:srgbClr val="2E2C2B"/>
                </a:solidFill>
                <a:latin typeface="Pluma"/>
                <a:ea typeface="Pluma"/>
                <a:cs typeface="Pluma"/>
                <a:sym typeface="Pluma"/>
              </a:rPr>
              <a:t>PERHITUNGAN NILAI PARAMETER ANTENA</a:t>
            </a:r>
          </a:p>
        </p:txBody>
      </p:sp>
      <p:sp>
        <p:nvSpPr>
          <p:cNvPr name="Freeform 7" id="7"/>
          <p:cNvSpPr/>
          <p:nvPr/>
        </p:nvSpPr>
        <p:spPr>
          <a:xfrm flipH="false" flipV="false" rot="0">
            <a:off x="9296400" y="1637222"/>
            <a:ext cx="4162653" cy="6531668"/>
          </a:xfrm>
          <a:custGeom>
            <a:avLst/>
            <a:gdLst/>
            <a:ahLst/>
            <a:cxnLst/>
            <a:rect r="r" b="b" t="t" l="l"/>
            <a:pathLst>
              <a:path h="6531668" w="4162653">
                <a:moveTo>
                  <a:pt x="0" y="0"/>
                </a:moveTo>
                <a:lnTo>
                  <a:pt x="4162653" y="0"/>
                </a:lnTo>
                <a:lnTo>
                  <a:pt x="4162653" y="6531668"/>
                </a:lnTo>
                <a:lnTo>
                  <a:pt x="0" y="6531668"/>
                </a:lnTo>
                <a:lnTo>
                  <a:pt x="0" y="0"/>
                </a:lnTo>
                <a:close/>
              </a:path>
            </a:pathLst>
          </a:custGeom>
          <a:blipFill>
            <a:blip r:embed="rId5"/>
            <a:stretch>
              <a:fillRect l="0" t="0" r="-106877" b="-12028"/>
            </a:stretch>
          </a:blipFill>
        </p:spPr>
      </p:sp>
      <p:grpSp>
        <p:nvGrpSpPr>
          <p:cNvPr name="Group 8" id="8"/>
          <p:cNvGrpSpPr/>
          <p:nvPr/>
        </p:nvGrpSpPr>
        <p:grpSpPr>
          <a:xfrm rot="0">
            <a:off x="13874254" y="2249918"/>
            <a:ext cx="192405" cy="197167"/>
            <a:chOff x="0" y="0"/>
            <a:chExt cx="256540" cy="262890"/>
          </a:xfrm>
        </p:grpSpPr>
        <p:sp>
          <p:nvSpPr>
            <p:cNvPr name="Freeform 9" id="9"/>
            <p:cNvSpPr/>
            <p:nvPr/>
          </p:nvSpPr>
          <p:spPr>
            <a:xfrm flipH="false" flipV="false" rot="0">
              <a:off x="44450" y="48260"/>
              <a:ext cx="161290" cy="166370"/>
            </a:xfrm>
            <a:custGeom>
              <a:avLst/>
              <a:gdLst/>
              <a:ahLst/>
              <a:cxnLst/>
              <a:rect r="r" b="b" t="t" l="l"/>
              <a:pathLst>
                <a:path h="166370" w="161290">
                  <a:moveTo>
                    <a:pt x="161290" y="57150"/>
                  </a:moveTo>
                  <a:cubicBezTo>
                    <a:pt x="139700" y="144780"/>
                    <a:pt x="128270" y="152400"/>
                    <a:pt x="115570" y="157480"/>
                  </a:cubicBezTo>
                  <a:cubicBezTo>
                    <a:pt x="104140" y="162560"/>
                    <a:pt x="91440" y="166370"/>
                    <a:pt x="77470" y="163830"/>
                  </a:cubicBezTo>
                  <a:cubicBezTo>
                    <a:pt x="57150" y="160020"/>
                    <a:pt x="22860" y="143510"/>
                    <a:pt x="11430" y="124460"/>
                  </a:cubicBezTo>
                  <a:cubicBezTo>
                    <a:pt x="0" y="105410"/>
                    <a:pt x="1270" y="67310"/>
                    <a:pt x="6350" y="48260"/>
                  </a:cubicBezTo>
                  <a:cubicBezTo>
                    <a:pt x="11430" y="34290"/>
                    <a:pt x="19050" y="24130"/>
                    <a:pt x="31750" y="16510"/>
                  </a:cubicBezTo>
                  <a:cubicBezTo>
                    <a:pt x="48260" y="6350"/>
                    <a:pt x="87630" y="0"/>
                    <a:pt x="106680" y="2540"/>
                  </a:cubicBezTo>
                  <a:cubicBezTo>
                    <a:pt x="120650" y="5080"/>
                    <a:pt x="140970" y="22860"/>
                    <a:pt x="140970" y="22860"/>
                  </a:cubicBezTo>
                </a:path>
              </a:pathLst>
            </a:custGeom>
            <a:solidFill>
              <a:srgbClr val="FFFFFF"/>
            </a:solidFill>
            <a:ln cap="sq">
              <a:noFill/>
              <a:prstDash val="solid"/>
              <a:miter/>
            </a:ln>
          </p:spPr>
        </p:sp>
      </p:grpSp>
      <p:grpSp>
        <p:nvGrpSpPr>
          <p:cNvPr name="Group 10" id="10"/>
          <p:cNvGrpSpPr/>
          <p:nvPr/>
        </p:nvGrpSpPr>
        <p:grpSpPr>
          <a:xfrm rot="0">
            <a:off x="13842822" y="2141810"/>
            <a:ext cx="255270" cy="206692"/>
            <a:chOff x="0" y="0"/>
            <a:chExt cx="340360" cy="275590"/>
          </a:xfrm>
        </p:grpSpPr>
        <p:sp>
          <p:nvSpPr>
            <p:cNvPr name="Freeform 11" id="11"/>
            <p:cNvSpPr/>
            <p:nvPr/>
          </p:nvSpPr>
          <p:spPr>
            <a:xfrm flipH="false" flipV="false" rot="0">
              <a:off x="50800" y="46990"/>
              <a:ext cx="242570" cy="180340"/>
            </a:xfrm>
            <a:custGeom>
              <a:avLst/>
              <a:gdLst/>
              <a:ahLst/>
              <a:cxnLst/>
              <a:rect r="r" b="b" t="t" l="l"/>
              <a:pathLst>
                <a:path h="180340" w="242570">
                  <a:moveTo>
                    <a:pt x="71120" y="15240"/>
                  </a:moveTo>
                  <a:cubicBezTo>
                    <a:pt x="196850" y="11430"/>
                    <a:pt x="223520" y="30480"/>
                    <a:pt x="232410" y="52070"/>
                  </a:cubicBezTo>
                  <a:cubicBezTo>
                    <a:pt x="242570" y="72390"/>
                    <a:pt x="237490" y="109220"/>
                    <a:pt x="227330" y="128270"/>
                  </a:cubicBezTo>
                  <a:cubicBezTo>
                    <a:pt x="219710" y="144780"/>
                    <a:pt x="201930" y="156210"/>
                    <a:pt x="186690" y="162560"/>
                  </a:cubicBezTo>
                  <a:cubicBezTo>
                    <a:pt x="171450" y="168910"/>
                    <a:pt x="149860" y="168910"/>
                    <a:pt x="134620" y="165100"/>
                  </a:cubicBezTo>
                  <a:cubicBezTo>
                    <a:pt x="118110" y="160020"/>
                    <a:pt x="100330" y="147320"/>
                    <a:pt x="91440" y="134620"/>
                  </a:cubicBezTo>
                  <a:cubicBezTo>
                    <a:pt x="81280" y="120650"/>
                    <a:pt x="73660" y="101600"/>
                    <a:pt x="74930" y="83820"/>
                  </a:cubicBezTo>
                  <a:cubicBezTo>
                    <a:pt x="77470" y="62230"/>
                    <a:pt x="92710" y="29210"/>
                    <a:pt x="111760" y="16510"/>
                  </a:cubicBezTo>
                  <a:cubicBezTo>
                    <a:pt x="130810" y="3810"/>
                    <a:pt x="167640" y="0"/>
                    <a:pt x="189230" y="8890"/>
                  </a:cubicBezTo>
                  <a:cubicBezTo>
                    <a:pt x="209550" y="17780"/>
                    <a:pt x="233680" y="46990"/>
                    <a:pt x="238760" y="68580"/>
                  </a:cubicBezTo>
                  <a:cubicBezTo>
                    <a:pt x="242570" y="91440"/>
                    <a:pt x="229870" y="127000"/>
                    <a:pt x="215900" y="143510"/>
                  </a:cubicBezTo>
                  <a:cubicBezTo>
                    <a:pt x="205740" y="156210"/>
                    <a:pt x="187960" y="161290"/>
                    <a:pt x="168910" y="166370"/>
                  </a:cubicBezTo>
                  <a:cubicBezTo>
                    <a:pt x="148590" y="173990"/>
                    <a:pt x="119380" y="180340"/>
                    <a:pt x="95250" y="177800"/>
                  </a:cubicBezTo>
                  <a:cubicBezTo>
                    <a:pt x="71120" y="175260"/>
                    <a:pt x="38100" y="167640"/>
                    <a:pt x="22860" y="152400"/>
                  </a:cubicBezTo>
                  <a:cubicBezTo>
                    <a:pt x="8890" y="139700"/>
                    <a:pt x="1270" y="116840"/>
                    <a:pt x="0" y="99060"/>
                  </a:cubicBezTo>
                  <a:cubicBezTo>
                    <a:pt x="0" y="80010"/>
                    <a:pt x="7620" y="57150"/>
                    <a:pt x="20320" y="43180"/>
                  </a:cubicBezTo>
                  <a:cubicBezTo>
                    <a:pt x="31750" y="29210"/>
                    <a:pt x="71120" y="15240"/>
                    <a:pt x="71120" y="15240"/>
                  </a:cubicBezTo>
                </a:path>
              </a:pathLst>
            </a:custGeom>
            <a:solidFill>
              <a:srgbClr val="FFFFFF"/>
            </a:solidFill>
            <a:ln cap="sq">
              <a:noFill/>
              <a:prstDash val="solid"/>
              <a:miter/>
            </a:ln>
          </p:spPr>
        </p:sp>
      </p:grpSp>
      <p:grpSp>
        <p:nvGrpSpPr>
          <p:cNvPr name="Group 12" id="12"/>
          <p:cNvGrpSpPr/>
          <p:nvPr/>
        </p:nvGrpSpPr>
        <p:grpSpPr>
          <a:xfrm rot="0">
            <a:off x="13788529" y="2141810"/>
            <a:ext cx="300990" cy="249555"/>
            <a:chOff x="0" y="0"/>
            <a:chExt cx="401320" cy="332740"/>
          </a:xfrm>
        </p:grpSpPr>
        <p:sp>
          <p:nvSpPr>
            <p:cNvPr name="Freeform 13" id="13"/>
            <p:cNvSpPr/>
            <p:nvPr/>
          </p:nvSpPr>
          <p:spPr>
            <a:xfrm flipH="false" flipV="false" rot="0">
              <a:off x="43180" y="45720"/>
              <a:ext cx="311150" cy="238760"/>
            </a:xfrm>
            <a:custGeom>
              <a:avLst/>
              <a:gdLst/>
              <a:ahLst/>
              <a:cxnLst/>
              <a:rect r="r" b="b" t="t" l="l"/>
              <a:pathLst>
                <a:path h="238760" w="311150">
                  <a:moveTo>
                    <a:pt x="121920" y="11430"/>
                  </a:moveTo>
                  <a:cubicBezTo>
                    <a:pt x="284480" y="99060"/>
                    <a:pt x="302260" y="123190"/>
                    <a:pt x="307340" y="143510"/>
                  </a:cubicBezTo>
                  <a:cubicBezTo>
                    <a:pt x="311150" y="161290"/>
                    <a:pt x="304800" y="180340"/>
                    <a:pt x="297180" y="195580"/>
                  </a:cubicBezTo>
                  <a:cubicBezTo>
                    <a:pt x="288290" y="209550"/>
                    <a:pt x="273050" y="223520"/>
                    <a:pt x="257810" y="229870"/>
                  </a:cubicBezTo>
                  <a:cubicBezTo>
                    <a:pt x="242570" y="237490"/>
                    <a:pt x="220980" y="238760"/>
                    <a:pt x="205740" y="234950"/>
                  </a:cubicBezTo>
                  <a:cubicBezTo>
                    <a:pt x="189230" y="231140"/>
                    <a:pt x="170180" y="220980"/>
                    <a:pt x="161290" y="205740"/>
                  </a:cubicBezTo>
                  <a:cubicBezTo>
                    <a:pt x="148590" y="189230"/>
                    <a:pt x="139700" y="152400"/>
                    <a:pt x="146050" y="130810"/>
                  </a:cubicBezTo>
                  <a:cubicBezTo>
                    <a:pt x="152400" y="109220"/>
                    <a:pt x="179070" y="82550"/>
                    <a:pt x="200660" y="76200"/>
                  </a:cubicBezTo>
                  <a:cubicBezTo>
                    <a:pt x="222250" y="68580"/>
                    <a:pt x="259080" y="78740"/>
                    <a:pt x="276860" y="90170"/>
                  </a:cubicBezTo>
                  <a:cubicBezTo>
                    <a:pt x="292100" y="100330"/>
                    <a:pt x="300990" y="118110"/>
                    <a:pt x="304800" y="134620"/>
                  </a:cubicBezTo>
                  <a:cubicBezTo>
                    <a:pt x="309880" y="151130"/>
                    <a:pt x="307340" y="171450"/>
                    <a:pt x="300990" y="186690"/>
                  </a:cubicBezTo>
                  <a:cubicBezTo>
                    <a:pt x="294640" y="201930"/>
                    <a:pt x="280670" y="218440"/>
                    <a:pt x="265430" y="226060"/>
                  </a:cubicBezTo>
                  <a:cubicBezTo>
                    <a:pt x="251460" y="234950"/>
                    <a:pt x="234950" y="238760"/>
                    <a:pt x="213360" y="236220"/>
                  </a:cubicBezTo>
                  <a:cubicBezTo>
                    <a:pt x="173990" y="231140"/>
                    <a:pt x="83820" y="184150"/>
                    <a:pt x="48260" y="158750"/>
                  </a:cubicBezTo>
                  <a:cubicBezTo>
                    <a:pt x="29210" y="144780"/>
                    <a:pt x="15240" y="133350"/>
                    <a:pt x="8890" y="116840"/>
                  </a:cubicBezTo>
                  <a:cubicBezTo>
                    <a:pt x="1270" y="99060"/>
                    <a:pt x="0" y="74930"/>
                    <a:pt x="7620" y="58420"/>
                  </a:cubicBezTo>
                  <a:cubicBezTo>
                    <a:pt x="15240" y="38100"/>
                    <a:pt x="43180" y="12700"/>
                    <a:pt x="63500" y="5080"/>
                  </a:cubicBezTo>
                  <a:cubicBezTo>
                    <a:pt x="81280" y="0"/>
                    <a:pt x="121920" y="11430"/>
                    <a:pt x="121920" y="11430"/>
                  </a:cubicBezTo>
                </a:path>
              </a:pathLst>
            </a:custGeom>
            <a:solidFill>
              <a:srgbClr val="FFFFFF"/>
            </a:solidFill>
            <a:ln cap="sq">
              <a:noFill/>
              <a:prstDash val="solid"/>
              <a:miter/>
            </a:ln>
          </p:spPr>
        </p:sp>
      </p:grpSp>
      <p:grpSp>
        <p:nvGrpSpPr>
          <p:cNvPr name="Group 14" id="14"/>
          <p:cNvGrpSpPr/>
          <p:nvPr/>
        </p:nvGrpSpPr>
        <p:grpSpPr>
          <a:xfrm rot="0">
            <a:off x="13746619" y="2194197"/>
            <a:ext cx="192405" cy="197167"/>
            <a:chOff x="0" y="0"/>
            <a:chExt cx="256540" cy="262890"/>
          </a:xfrm>
        </p:grpSpPr>
        <p:sp>
          <p:nvSpPr>
            <p:cNvPr name="Freeform 15" id="15"/>
            <p:cNvSpPr/>
            <p:nvPr/>
          </p:nvSpPr>
          <p:spPr>
            <a:xfrm flipH="false" flipV="false" rot="0">
              <a:off x="43180" y="46990"/>
              <a:ext cx="161290" cy="167640"/>
            </a:xfrm>
            <a:custGeom>
              <a:avLst/>
              <a:gdLst/>
              <a:ahLst/>
              <a:cxnLst/>
              <a:rect r="r" b="b" t="t" l="l"/>
              <a:pathLst>
                <a:path h="167640" w="161290">
                  <a:moveTo>
                    <a:pt x="161290" y="58420"/>
                  </a:moveTo>
                  <a:cubicBezTo>
                    <a:pt x="139700" y="146050"/>
                    <a:pt x="128270" y="152400"/>
                    <a:pt x="116840" y="157480"/>
                  </a:cubicBezTo>
                  <a:cubicBezTo>
                    <a:pt x="105410" y="163830"/>
                    <a:pt x="91440" y="167640"/>
                    <a:pt x="77470" y="165100"/>
                  </a:cubicBezTo>
                  <a:cubicBezTo>
                    <a:pt x="58420" y="161290"/>
                    <a:pt x="24130" y="144780"/>
                    <a:pt x="11430" y="125730"/>
                  </a:cubicBezTo>
                  <a:cubicBezTo>
                    <a:pt x="0" y="106680"/>
                    <a:pt x="1270" y="68580"/>
                    <a:pt x="7620" y="49530"/>
                  </a:cubicBezTo>
                  <a:cubicBezTo>
                    <a:pt x="11430" y="35560"/>
                    <a:pt x="19050" y="25400"/>
                    <a:pt x="31750" y="17780"/>
                  </a:cubicBezTo>
                  <a:cubicBezTo>
                    <a:pt x="48260" y="7620"/>
                    <a:pt x="87630" y="0"/>
                    <a:pt x="106680" y="3810"/>
                  </a:cubicBezTo>
                  <a:cubicBezTo>
                    <a:pt x="121920" y="6350"/>
                    <a:pt x="140970" y="24130"/>
                    <a:pt x="140970" y="24130"/>
                  </a:cubicBezTo>
                </a:path>
              </a:pathLst>
            </a:custGeom>
            <a:solidFill>
              <a:srgbClr val="FFFFFF"/>
            </a:solidFill>
            <a:ln cap="sq">
              <a:noFill/>
              <a:prstDash val="solid"/>
              <a:miter/>
            </a:ln>
          </p:spPr>
        </p:sp>
      </p:grpSp>
      <p:grpSp>
        <p:nvGrpSpPr>
          <p:cNvPr name="Group 16" id="16"/>
          <p:cNvGrpSpPr/>
          <p:nvPr/>
        </p:nvGrpSpPr>
        <p:grpSpPr>
          <a:xfrm rot="0">
            <a:off x="13746619" y="2095613"/>
            <a:ext cx="192405" cy="197167"/>
            <a:chOff x="0" y="0"/>
            <a:chExt cx="256540" cy="262890"/>
          </a:xfrm>
        </p:grpSpPr>
        <p:sp>
          <p:nvSpPr>
            <p:cNvPr name="Freeform 17" id="17"/>
            <p:cNvSpPr/>
            <p:nvPr/>
          </p:nvSpPr>
          <p:spPr>
            <a:xfrm flipH="false" flipV="false" rot="0">
              <a:off x="43180" y="46990"/>
              <a:ext cx="161290" cy="167640"/>
            </a:xfrm>
            <a:custGeom>
              <a:avLst/>
              <a:gdLst/>
              <a:ahLst/>
              <a:cxnLst/>
              <a:rect r="r" b="b" t="t" l="l"/>
              <a:pathLst>
                <a:path h="167640" w="161290">
                  <a:moveTo>
                    <a:pt x="161290" y="58420"/>
                  </a:moveTo>
                  <a:cubicBezTo>
                    <a:pt x="139700" y="146050"/>
                    <a:pt x="128270" y="152400"/>
                    <a:pt x="116840" y="157480"/>
                  </a:cubicBezTo>
                  <a:cubicBezTo>
                    <a:pt x="104140" y="163830"/>
                    <a:pt x="91440" y="167640"/>
                    <a:pt x="77470" y="165100"/>
                  </a:cubicBezTo>
                  <a:cubicBezTo>
                    <a:pt x="58420" y="161290"/>
                    <a:pt x="24130" y="144780"/>
                    <a:pt x="11430" y="125730"/>
                  </a:cubicBezTo>
                  <a:cubicBezTo>
                    <a:pt x="0" y="106680"/>
                    <a:pt x="1270" y="68580"/>
                    <a:pt x="7620" y="49530"/>
                  </a:cubicBezTo>
                  <a:cubicBezTo>
                    <a:pt x="11430" y="35560"/>
                    <a:pt x="19050" y="25400"/>
                    <a:pt x="31750" y="17780"/>
                  </a:cubicBezTo>
                  <a:cubicBezTo>
                    <a:pt x="48260" y="7620"/>
                    <a:pt x="87630" y="0"/>
                    <a:pt x="106680" y="3810"/>
                  </a:cubicBezTo>
                  <a:cubicBezTo>
                    <a:pt x="120650" y="6350"/>
                    <a:pt x="140970" y="24130"/>
                    <a:pt x="140970" y="24130"/>
                  </a:cubicBezTo>
                </a:path>
              </a:pathLst>
            </a:custGeom>
            <a:solidFill>
              <a:srgbClr val="FFFFFF"/>
            </a:solidFill>
            <a:ln cap="sq">
              <a:noFill/>
              <a:prstDash val="solid"/>
              <a:miter/>
            </a:ln>
          </p:spPr>
        </p:sp>
      </p:grpSp>
      <p:grpSp>
        <p:nvGrpSpPr>
          <p:cNvPr name="Group 18" id="18"/>
          <p:cNvGrpSpPr/>
          <p:nvPr/>
        </p:nvGrpSpPr>
        <p:grpSpPr>
          <a:xfrm rot="0">
            <a:off x="13842822" y="2194197"/>
            <a:ext cx="192405" cy="197167"/>
            <a:chOff x="0" y="0"/>
            <a:chExt cx="256540" cy="262890"/>
          </a:xfrm>
        </p:grpSpPr>
        <p:sp>
          <p:nvSpPr>
            <p:cNvPr name="Freeform 19" id="19"/>
            <p:cNvSpPr/>
            <p:nvPr/>
          </p:nvSpPr>
          <p:spPr>
            <a:xfrm flipH="false" flipV="false" rot="0">
              <a:off x="43180" y="46990"/>
              <a:ext cx="161290" cy="167640"/>
            </a:xfrm>
            <a:custGeom>
              <a:avLst/>
              <a:gdLst/>
              <a:ahLst/>
              <a:cxnLst/>
              <a:rect r="r" b="b" t="t" l="l"/>
              <a:pathLst>
                <a:path h="167640" w="161290">
                  <a:moveTo>
                    <a:pt x="161290" y="58420"/>
                  </a:moveTo>
                  <a:cubicBezTo>
                    <a:pt x="139700" y="146050"/>
                    <a:pt x="128270" y="152400"/>
                    <a:pt x="116840" y="157480"/>
                  </a:cubicBezTo>
                  <a:cubicBezTo>
                    <a:pt x="104140" y="162560"/>
                    <a:pt x="91440" y="167640"/>
                    <a:pt x="77470" y="165100"/>
                  </a:cubicBezTo>
                  <a:cubicBezTo>
                    <a:pt x="58420" y="161290"/>
                    <a:pt x="24130" y="144780"/>
                    <a:pt x="11430" y="125730"/>
                  </a:cubicBezTo>
                  <a:cubicBezTo>
                    <a:pt x="0" y="105410"/>
                    <a:pt x="1270" y="67310"/>
                    <a:pt x="7620" y="48260"/>
                  </a:cubicBezTo>
                  <a:cubicBezTo>
                    <a:pt x="11430" y="34290"/>
                    <a:pt x="19050" y="25400"/>
                    <a:pt x="31750" y="17780"/>
                  </a:cubicBezTo>
                  <a:cubicBezTo>
                    <a:pt x="48260" y="7620"/>
                    <a:pt x="87630" y="0"/>
                    <a:pt x="106680" y="3810"/>
                  </a:cubicBezTo>
                  <a:cubicBezTo>
                    <a:pt x="120650" y="6350"/>
                    <a:pt x="140970" y="24130"/>
                    <a:pt x="140970" y="24130"/>
                  </a:cubicBezTo>
                </a:path>
              </a:pathLst>
            </a:custGeom>
            <a:solidFill>
              <a:srgbClr val="FFFFFF"/>
            </a:solidFill>
            <a:ln cap="sq">
              <a:noFill/>
              <a:prstDash val="solid"/>
              <a:miter/>
            </a:ln>
          </p:spPr>
        </p:sp>
      </p:grpSp>
      <p:sp>
        <p:nvSpPr>
          <p:cNvPr name="TextBox 20" id="20"/>
          <p:cNvSpPr txBox="true"/>
          <p:nvPr/>
        </p:nvSpPr>
        <p:spPr>
          <a:xfrm rot="0">
            <a:off x="13756096" y="2111137"/>
            <a:ext cx="279131" cy="239462"/>
          </a:xfrm>
          <a:prstGeom prst="rect">
            <a:avLst/>
          </a:prstGeom>
        </p:spPr>
        <p:txBody>
          <a:bodyPr anchor="t" rtlCol="false" tIns="0" lIns="0" bIns="0" rIns="0">
            <a:spAutoFit/>
          </a:bodyPr>
          <a:lstStyle/>
          <a:p>
            <a:pPr algn="ctr">
              <a:lnSpc>
                <a:spcPts val="1954"/>
              </a:lnSpc>
            </a:pPr>
            <a:r>
              <a:rPr lang="en-US" sz="1395">
                <a:solidFill>
                  <a:srgbClr val="2E2C2B"/>
                </a:solidFill>
                <a:latin typeface="Canva Sans"/>
                <a:ea typeface="Canva Sans"/>
                <a:cs typeface="Canva Sans"/>
                <a:sym typeface="Canva Sans"/>
              </a:rPr>
              <a:t>Wp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884381" y="5369287"/>
            <a:ext cx="14525370" cy="4520651"/>
          </a:xfrm>
          <a:custGeom>
            <a:avLst/>
            <a:gdLst/>
            <a:ahLst/>
            <a:cxnLst/>
            <a:rect r="r" b="b" t="t" l="l"/>
            <a:pathLst>
              <a:path h="4520651" w="14525370">
                <a:moveTo>
                  <a:pt x="0" y="0"/>
                </a:moveTo>
                <a:lnTo>
                  <a:pt x="14525370" y="0"/>
                </a:lnTo>
                <a:lnTo>
                  <a:pt x="14525370" y="4520651"/>
                </a:lnTo>
                <a:lnTo>
                  <a:pt x="0" y="4520651"/>
                </a:lnTo>
                <a:lnTo>
                  <a:pt x="0" y="0"/>
                </a:lnTo>
                <a:close/>
              </a:path>
            </a:pathLst>
          </a:custGeom>
          <a:blipFill>
            <a:blip r:embed="rId6"/>
            <a:stretch>
              <a:fillRect l="0" t="0" r="0" b="0"/>
            </a:stretch>
          </a:blipFill>
        </p:spPr>
      </p:sp>
      <p:sp>
        <p:nvSpPr>
          <p:cNvPr name="TextBox 8" id="8"/>
          <p:cNvSpPr txBox="true"/>
          <p:nvPr/>
        </p:nvSpPr>
        <p:spPr>
          <a:xfrm rot="0">
            <a:off x="1028700" y="1222088"/>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grpSp>
        <p:nvGrpSpPr>
          <p:cNvPr name="Group 9" id="9"/>
          <p:cNvGrpSpPr/>
          <p:nvPr/>
        </p:nvGrpSpPr>
        <p:grpSpPr>
          <a:xfrm rot="0">
            <a:off x="7736888" y="780114"/>
            <a:ext cx="7712409" cy="4293898"/>
            <a:chOff x="0" y="0"/>
            <a:chExt cx="10283212" cy="5725197"/>
          </a:xfrm>
        </p:grpSpPr>
        <p:sp>
          <p:nvSpPr>
            <p:cNvPr name="Freeform 10" id="10"/>
            <p:cNvSpPr/>
            <p:nvPr/>
          </p:nvSpPr>
          <p:spPr>
            <a:xfrm flipH="false" flipV="false" rot="0">
              <a:off x="5292087" y="104549"/>
              <a:ext cx="4991125" cy="5071834"/>
            </a:xfrm>
            <a:custGeom>
              <a:avLst/>
              <a:gdLst/>
              <a:ahLst/>
              <a:cxnLst/>
              <a:rect r="r" b="b" t="t" l="l"/>
              <a:pathLst>
                <a:path h="5071834" w="4991125">
                  <a:moveTo>
                    <a:pt x="0" y="0"/>
                  </a:moveTo>
                  <a:lnTo>
                    <a:pt x="4991125" y="0"/>
                  </a:lnTo>
                  <a:lnTo>
                    <a:pt x="4991125" y="5071835"/>
                  </a:lnTo>
                  <a:lnTo>
                    <a:pt x="0" y="5071835"/>
                  </a:lnTo>
                  <a:lnTo>
                    <a:pt x="0" y="0"/>
                  </a:lnTo>
                  <a:close/>
                </a:path>
              </a:pathLst>
            </a:custGeom>
            <a:blipFill>
              <a:blip r:embed="rId7"/>
              <a:stretch>
                <a:fillRect l="-2497" t="-4017" r="-1869" b="0"/>
              </a:stretch>
            </a:blipFill>
          </p:spPr>
        </p:sp>
        <p:sp>
          <p:nvSpPr>
            <p:cNvPr name="Freeform 11" id="11"/>
            <p:cNvSpPr/>
            <p:nvPr/>
          </p:nvSpPr>
          <p:spPr>
            <a:xfrm flipH="false" flipV="false" rot="0">
              <a:off x="0" y="0"/>
              <a:ext cx="5176384" cy="5176384"/>
            </a:xfrm>
            <a:custGeom>
              <a:avLst/>
              <a:gdLst/>
              <a:ahLst/>
              <a:cxnLst/>
              <a:rect r="r" b="b" t="t" l="l"/>
              <a:pathLst>
                <a:path h="5176384" w="5176384">
                  <a:moveTo>
                    <a:pt x="0" y="0"/>
                  </a:moveTo>
                  <a:lnTo>
                    <a:pt x="5176384" y="0"/>
                  </a:lnTo>
                  <a:lnTo>
                    <a:pt x="5176384" y="5176384"/>
                  </a:lnTo>
                  <a:lnTo>
                    <a:pt x="0" y="5176384"/>
                  </a:lnTo>
                  <a:lnTo>
                    <a:pt x="0" y="0"/>
                  </a:lnTo>
                  <a:close/>
                </a:path>
              </a:pathLst>
            </a:custGeom>
            <a:blipFill>
              <a:blip r:embed="rId8"/>
              <a:stretch>
                <a:fillRect l="0" t="0" r="0" b="0"/>
              </a:stretch>
            </a:blipFill>
          </p:spPr>
        </p:sp>
        <p:sp>
          <p:nvSpPr>
            <p:cNvPr name="TextBox 12" id="12"/>
            <p:cNvSpPr txBox="true"/>
            <p:nvPr/>
          </p:nvSpPr>
          <p:spPr>
            <a:xfrm rot="0">
              <a:off x="1238819" y="5237732"/>
              <a:ext cx="2609070" cy="487466"/>
            </a:xfrm>
            <a:prstGeom prst="rect">
              <a:avLst/>
            </a:prstGeom>
          </p:spPr>
          <p:txBody>
            <a:bodyPr anchor="t" rtlCol="false" tIns="0" lIns="0" bIns="0" rIns="0">
              <a:spAutoFit/>
            </a:bodyPr>
            <a:lstStyle/>
            <a:p>
              <a:pPr algn="ctr">
                <a:lnSpc>
                  <a:spcPts val="2822"/>
                </a:lnSpc>
                <a:spcBef>
                  <a:spcPct val="0"/>
                </a:spcBef>
              </a:pPr>
              <a:r>
                <a:rPr lang="en-US" sz="2352">
                  <a:solidFill>
                    <a:srgbClr val="3553A0"/>
                  </a:solidFill>
                  <a:latin typeface="Anonymous Pro"/>
                  <a:ea typeface="Anonymous Pro"/>
                  <a:cs typeface="Anonymous Pro"/>
                  <a:sym typeface="Anonymous Pro"/>
                </a:rPr>
                <a:t>TAMPAK DEPAN</a:t>
              </a:r>
            </a:p>
          </p:txBody>
        </p:sp>
        <p:sp>
          <p:nvSpPr>
            <p:cNvPr name="TextBox 13" id="13"/>
            <p:cNvSpPr txBox="true"/>
            <p:nvPr/>
          </p:nvSpPr>
          <p:spPr>
            <a:xfrm rot="0">
              <a:off x="6083939" y="5237732"/>
              <a:ext cx="3261415" cy="487466"/>
            </a:xfrm>
            <a:prstGeom prst="rect">
              <a:avLst/>
            </a:prstGeom>
          </p:spPr>
          <p:txBody>
            <a:bodyPr anchor="t" rtlCol="false" tIns="0" lIns="0" bIns="0" rIns="0">
              <a:spAutoFit/>
            </a:bodyPr>
            <a:lstStyle/>
            <a:p>
              <a:pPr algn="ctr">
                <a:lnSpc>
                  <a:spcPts val="2822"/>
                </a:lnSpc>
                <a:spcBef>
                  <a:spcPct val="0"/>
                </a:spcBef>
              </a:pPr>
              <a:r>
                <a:rPr lang="en-US" sz="2352">
                  <a:solidFill>
                    <a:srgbClr val="3553A0"/>
                  </a:solidFill>
                  <a:latin typeface="Anonymous Pro"/>
                  <a:ea typeface="Anonymous Pro"/>
                  <a:cs typeface="Anonymous Pro"/>
                  <a:sym typeface="Anonymous Pro"/>
                </a:rPr>
                <a:t>TAMPAK BELAKANG</a:t>
              </a:r>
            </a:p>
          </p:txBody>
        </p:sp>
      </p:grpSp>
      <p:sp>
        <p:nvSpPr>
          <p:cNvPr name="TextBox 14" id="14"/>
          <p:cNvSpPr txBox="true"/>
          <p:nvPr/>
        </p:nvSpPr>
        <p:spPr>
          <a:xfrm rot="0">
            <a:off x="1028700" y="2985758"/>
            <a:ext cx="2579092"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TANPA METODE</a:t>
            </a:r>
          </a:p>
        </p:txBody>
      </p:sp>
      <p:sp>
        <p:nvSpPr>
          <p:cNvPr name="TextBox 15" id="15"/>
          <p:cNvSpPr txBox="true"/>
          <p:nvPr/>
        </p:nvSpPr>
        <p:spPr>
          <a:xfrm rot="-258351">
            <a:off x="623200" y="522810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grpSp>
        <p:nvGrpSpPr>
          <p:cNvPr name="Group 8" id="8"/>
          <p:cNvGrpSpPr/>
          <p:nvPr/>
        </p:nvGrpSpPr>
        <p:grpSpPr>
          <a:xfrm rot="0">
            <a:off x="912774" y="2382256"/>
            <a:ext cx="7801731" cy="3215113"/>
            <a:chOff x="0" y="0"/>
            <a:chExt cx="10402308" cy="4286818"/>
          </a:xfrm>
        </p:grpSpPr>
        <p:sp>
          <p:nvSpPr>
            <p:cNvPr name="Freeform 9" id="9"/>
            <p:cNvSpPr/>
            <p:nvPr/>
          </p:nvSpPr>
          <p:spPr>
            <a:xfrm flipH="false" flipV="false" rot="0">
              <a:off x="0" y="0"/>
              <a:ext cx="5755529" cy="4286818"/>
            </a:xfrm>
            <a:custGeom>
              <a:avLst/>
              <a:gdLst/>
              <a:ahLst/>
              <a:cxnLst/>
              <a:rect r="r" b="b" t="t" l="l"/>
              <a:pathLst>
                <a:path h="4286818" w="5755529">
                  <a:moveTo>
                    <a:pt x="0" y="0"/>
                  </a:moveTo>
                  <a:lnTo>
                    <a:pt x="5755529" y="0"/>
                  </a:lnTo>
                  <a:lnTo>
                    <a:pt x="5755529" y="4286818"/>
                  </a:lnTo>
                  <a:lnTo>
                    <a:pt x="0" y="4286818"/>
                  </a:lnTo>
                  <a:lnTo>
                    <a:pt x="0" y="0"/>
                  </a:lnTo>
                  <a:close/>
                </a:path>
              </a:pathLst>
            </a:custGeom>
            <a:blipFill>
              <a:blip r:embed="rId10"/>
              <a:stretch>
                <a:fillRect l="-2855" t="0" r="0" b="0"/>
              </a:stretch>
            </a:blipFill>
          </p:spPr>
        </p:sp>
        <p:sp>
          <p:nvSpPr>
            <p:cNvPr name="Freeform 10" id="10"/>
            <p:cNvSpPr/>
            <p:nvPr/>
          </p:nvSpPr>
          <p:spPr>
            <a:xfrm flipH="false" flipV="false" rot="0">
              <a:off x="5755529" y="0"/>
              <a:ext cx="4646779" cy="4286818"/>
            </a:xfrm>
            <a:custGeom>
              <a:avLst/>
              <a:gdLst/>
              <a:ahLst/>
              <a:cxnLst/>
              <a:rect r="r" b="b" t="t" l="l"/>
              <a:pathLst>
                <a:path h="4286818" w="4646779">
                  <a:moveTo>
                    <a:pt x="0" y="0"/>
                  </a:moveTo>
                  <a:lnTo>
                    <a:pt x="4646779" y="0"/>
                  </a:lnTo>
                  <a:lnTo>
                    <a:pt x="4646779" y="4286818"/>
                  </a:lnTo>
                  <a:lnTo>
                    <a:pt x="0" y="4286818"/>
                  </a:lnTo>
                  <a:lnTo>
                    <a:pt x="0" y="0"/>
                  </a:lnTo>
                  <a:close/>
                </a:path>
              </a:pathLst>
            </a:custGeom>
            <a:blipFill>
              <a:blip r:embed="rId11"/>
              <a:stretch>
                <a:fillRect l="0" t="0" r="0" b="0"/>
              </a:stretch>
            </a:blipFill>
          </p:spPr>
        </p:sp>
      </p:grpSp>
      <p:grpSp>
        <p:nvGrpSpPr>
          <p:cNvPr name="Group 11" id="11"/>
          <p:cNvGrpSpPr/>
          <p:nvPr/>
        </p:nvGrpSpPr>
        <p:grpSpPr>
          <a:xfrm rot="0">
            <a:off x="9414949" y="2382256"/>
            <a:ext cx="7680446" cy="3215113"/>
            <a:chOff x="0" y="0"/>
            <a:chExt cx="10240595" cy="4286818"/>
          </a:xfrm>
        </p:grpSpPr>
        <p:sp>
          <p:nvSpPr>
            <p:cNvPr name="Freeform 12" id="12"/>
            <p:cNvSpPr/>
            <p:nvPr/>
          </p:nvSpPr>
          <p:spPr>
            <a:xfrm flipH="false" flipV="false" rot="0">
              <a:off x="0" y="0"/>
              <a:ext cx="5673729" cy="4286818"/>
            </a:xfrm>
            <a:custGeom>
              <a:avLst/>
              <a:gdLst/>
              <a:ahLst/>
              <a:cxnLst/>
              <a:rect r="r" b="b" t="t" l="l"/>
              <a:pathLst>
                <a:path h="4286818" w="5673729">
                  <a:moveTo>
                    <a:pt x="0" y="0"/>
                  </a:moveTo>
                  <a:lnTo>
                    <a:pt x="5673729" y="0"/>
                  </a:lnTo>
                  <a:lnTo>
                    <a:pt x="5673729" y="4286818"/>
                  </a:lnTo>
                  <a:lnTo>
                    <a:pt x="0" y="4286818"/>
                  </a:lnTo>
                  <a:lnTo>
                    <a:pt x="0" y="0"/>
                  </a:lnTo>
                  <a:close/>
                </a:path>
              </a:pathLst>
            </a:custGeom>
            <a:blipFill>
              <a:blip r:embed="rId12"/>
              <a:stretch>
                <a:fillRect l="0" t="0" r="0" b="0"/>
              </a:stretch>
            </a:blipFill>
          </p:spPr>
        </p:sp>
        <p:sp>
          <p:nvSpPr>
            <p:cNvPr name="Freeform 13" id="13"/>
            <p:cNvSpPr/>
            <p:nvPr/>
          </p:nvSpPr>
          <p:spPr>
            <a:xfrm flipH="false" flipV="false" rot="0">
              <a:off x="5673729" y="0"/>
              <a:ext cx="4566865" cy="4286818"/>
            </a:xfrm>
            <a:custGeom>
              <a:avLst/>
              <a:gdLst/>
              <a:ahLst/>
              <a:cxnLst/>
              <a:rect r="r" b="b" t="t" l="l"/>
              <a:pathLst>
                <a:path h="4286818" w="4566865">
                  <a:moveTo>
                    <a:pt x="0" y="0"/>
                  </a:moveTo>
                  <a:lnTo>
                    <a:pt x="4566866" y="0"/>
                  </a:lnTo>
                  <a:lnTo>
                    <a:pt x="4566866" y="4286818"/>
                  </a:lnTo>
                  <a:lnTo>
                    <a:pt x="0" y="4286818"/>
                  </a:lnTo>
                  <a:lnTo>
                    <a:pt x="0" y="0"/>
                  </a:lnTo>
                  <a:close/>
                </a:path>
              </a:pathLst>
            </a:custGeom>
            <a:blipFill>
              <a:blip r:embed="rId13"/>
              <a:stretch>
                <a:fillRect l="0" t="-11098" r="0" b="0"/>
              </a:stretch>
            </a:blipFill>
          </p:spPr>
        </p:sp>
      </p:grpSp>
      <p:sp>
        <p:nvSpPr>
          <p:cNvPr name="Freeform 14" id="14"/>
          <p:cNvSpPr/>
          <p:nvPr/>
        </p:nvSpPr>
        <p:spPr>
          <a:xfrm flipH="false" flipV="false" rot="0">
            <a:off x="3271317" y="5846951"/>
            <a:ext cx="3931153" cy="4168207"/>
          </a:xfrm>
          <a:custGeom>
            <a:avLst/>
            <a:gdLst/>
            <a:ahLst/>
            <a:cxnLst/>
            <a:rect r="r" b="b" t="t" l="l"/>
            <a:pathLst>
              <a:path h="4168207" w="3931153">
                <a:moveTo>
                  <a:pt x="0" y="0"/>
                </a:moveTo>
                <a:lnTo>
                  <a:pt x="3931153" y="0"/>
                </a:lnTo>
                <a:lnTo>
                  <a:pt x="3931153" y="4168207"/>
                </a:lnTo>
                <a:lnTo>
                  <a:pt x="0" y="4168207"/>
                </a:lnTo>
                <a:lnTo>
                  <a:pt x="0" y="0"/>
                </a:lnTo>
                <a:close/>
              </a:path>
            </a:pathLst>
          </a:custGeom>
          <a:blipFill>
            <a:blip r:embed="rId14"/>
            <a:stretch>
              <a:fillRect l="0" t="0" r="0" b="0"/>
            </a:stretch>
          </a:blipFill>
        </p:spPr>
      </p:sp>
      <p:sp>
        <p:nvSpPr>
          <p:cNvPr name="Freeform 15" id="15"/>
          <p:cNvSpPr/>
          <p:nvPr/>
        </p:nvSpPr>
        <p:spPr>
          <a:xfrm flipH="false" flipV="false" rot="0">
            <a:off x="12111198" y="5846951"/>
            <a:ext cx="4424712" cy="4168207"/>
          </a:xfrm>
          <a:custGeom>
            <a:avLst/>
            <a:gdLst/>
            <a:ahLst/>
            <a:cxnLst/>
            <a:rect r="r" b="b" t="t" l="l"/>
            <a:pathLst>
              <a:path h="4168207" w="4424712">
                <a:moveTo>
                  <a:pt x="0" y="0"/>
                </a:moveTo>
                <a:lnTo>
                  <a:pt x="4424712" y="0"/>
                </a:lnTo>
                <a:lnTo>
                  <a:pt x="4424712" y="4168207"/>
                </a:lnTo>
                <a:lnTo>
                  <a:pt x="0" y="4168207"/>
                </a:lnTo>
                <a:lnTo>
                  <a:pt x="0" y="0"/>
                </a:lnTo>
                <a:close/>
              </a:path>
            </a:pathLst>
          </a:custGeom>
          <a:blipFill>
            <a:blip r:embed="rId15"/>
            <a:stretch>
              <a:fillRect l="0" t="0" r="0" b="0"/>
            </a:stretch>
          </a:blipFill>
        </p:spPr>
      </p:sp>
      <p:sp>
        <p:nvSpPr>
          <p:cNvPr name="TextBox 16" id="16"/>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7" id="17"/>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8" id="18"/>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9" id="19"/>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0" id="20"/>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1" id="21"/>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4" id="24"/>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5" id="25"/>
          <p:cNvSpPr txBox="true"/>
          <p:nvPr/>
        </p:nvSpPr>
        <p:spPr>
          <a:xfrm rot="0">
            <a:off x="6683456" y="120019"/>
            <a:ext cx="2579092"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TANPA METODE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7700334" y="815938"/>
            <a:ext cx="7785518" cy="4222250"/>
            <a:chOff x="0" y="0"/>
            <a:chExt cx="10380690" cy="5629666"/>
          </a:xfrm>
        </p:grpSpPr>
        <p:sp>
          <p:nvSpPr>
            <p:cNvPr name="Freeform 8" id="8"/>
            <p:cNvSpPr/>
            <p:nvPr/>
          </p:nvSpPr>
          <p:spPr>
            <a:xfrm flipH="false" flipV="false" rot="0">
              <a:off x="5381557" y="0"/>
              <a:ext cx="4999133" cy="5079972"/>
            </a:xfrm>
            <a:custGeom>
              <a:avLst/>
              <a:gdLst/>
              <a:ahLst/>
              <a:cxnLst/>
              <a:rect r="r" b="b" t="t" l="l"/>
              <a:pathLst>
                <a:path h="5079972" w="4999133">
                  <a:moveTo>
                    <a:pt x="0" y="0"/>
                  </a:moveTo>
                  <a:lnTo>
                    <a:pt x="4999133" y="0"/>
                  </a:lnTo>
                  <a:lnTo>
                    <a:pt x="4999133" y="5079972"/>
                  </a:lnTo>
                  <a:lnTo>
                    <a:pt x="0" y="5079972"/>
                  </a:lnTo>
                  <a:lnTo>
                    <a:pt x="0" y="0"/>
                  </a:lnTo>
                  <a:close/>
                </a:path>
              </a:pathLst>
            </a:custGeom>
            <a:blipFill>
              <a:blip r:embed="rId6"/>
              <a:stretch>
                <a:fillRect l="-2497" t="-4017" r="-1869" b="0"/>
              </a:stretch>
            </a:blipFill>
          </p:spPr>
        </p:sp>
        <p:sp>
          <p:nvSpPr>
            <p:cNvPr name="Freeform 9" id="9"/>
            <p:cNvSpPr/>
            <p:nvPr/>
          </p:nvSpPr>
          <p:spPr>
            <a:xfrm flipH="false" flipV="false" rot="0">
              <a:off x="0" y="0"/>
              <a:ext cx="5214363" cy="5079972"/>
            </a:xfrm>
            <a:custGeom>
              <a:avLst/>
              <a:gdLst/>
              <a:ahLst/>
              <a:cxnLst/>
              <a:rect r="r" b="b" t="t" l="l"/>
              <a:pathLst>
                <a:path h="5079972" w="5214363">
                  <a:moveTo>
                    <a:pt x="0" y="0"/>
                  </a:moveTo>
                  <a:lnTo>
                    <a:pt x="5214363" y="0"/>
                  </a:lnTo>
                  <a:lnTo>
                    <a:pt x="5214363" y="5079972"/>
                  </a:lnTo>
                  <a:lnTo>
                    <a:pt x="0" y="5079972"/>
                  </a:lnTo>
                  <a:lnTo>
                    <a:pt x="0" y="0"/>
                  </a:lnTo>
                  <a:close/>
                </a:path>
              </a:pathLst>
            </a:custGeom>
            <a:blipFill>
              <a:blip r:embed="rId7"/>
              <a:stretch>
                <a:fillRect l="0" t="0" r="0" b="0"/>
              </a:stretch>
            </a:blipFill>
          </p:spPr>
        </p:sp>
        <p:sp>
          <p:nvSpPr>
            <p:cNvPr name="TextBox 10" id="10"/>
            <p:cNvSpPr txBox="true"/>
            <p:nvPr/>
          </p:nvSpPr>
          <p:spPr>
            <a:xfrm rot="0">
              <a:off x="1321786" y="5141434"/>
              <a:ext cx="2613256" cy="488232"/>
            </a:xfrm>
            <a:prstGeom prst="rect">
              <a:avLst/>
            </a:prstGeom>
          </p:spPr>
          <p:txBody>
            <a:bodyPr anchor="t" rtlCol="false" tIns="0" lIns="0" bIns="0" rIns="0">
              <a:spAutoFit/>
            </a:bodyPr>
            <a:lstStyle/>
            <a:p>
              <a:pPr algn="ctr">
                <a:lnSpc>
                  <a:spcPts val="2827"/>
                </a:lnSpc>
                <a:spcBef>
                  <a:spcPct val="0"/>
                </a:spcBef>
              </a:pPr>
              <a:r>
                <a:rPr lang="en-US" sz="2355">
                  <a:solidFill>
                    <a:srgbClr val="3553A0"/>
                  </a:solidFill>
                  <a:latin typeface="Anonymous Pro"/>
                  <a:ea typeface="Anonymous Pro"/>
                  <a:cs typeface="Anonymous Pro"/>
                  <a:sym typeface="Anonymous Pro"/>
                </a:rPr>
                <a:t>TAMPAK DEPAN</a:t>
              </a:r>
            </a:p>
          </p:txBody>
        </p:sp>
        <p:sp>
          <p:nvSpPr>
            <p:cNvPr name="TextBox 11" id="11"/>
            <p:cNvSpPr txBox="true"/>
            <p:nvPr/>
          </p:nvSpPr>
          <p:spPr>
            <a:xfrm rot="0">
              <a:off x="6174680" y="5141434"/>
              <a:ext cx="3266648" cy="488232"/>
            </a:xfrm>
            <a:prstGeom prst="rect">
              <a:avLst/>
            </a:prstGeom>
          </p:spPr>
          <p:txBody>
            <a:bodyPr anchor="t" rtlCol="false" tIns="0" lIns="0" bIns="0" rIns="0">
              <a:spAutoFit/>
            </a:bodyPr>
            <a:lstStyle/>
            <a:p>
              <a:pPr algn="ctr">
                <a:lnSpc>
                  <a:spcPts val="2827"/>
                </a:lnSpc>
                <a:spcBef>
                  <a:spcPct val="0"/>
                </a:spcBef>
              </a:pPr>
              <a:r>
                <a:rPr lang="en-US" sz="2355">
                  <a:solidFill>
                    <a:srgbClr val="3553A0"/>
                  </a:solidFill>
                  <a:latin typeface="Anonymous Pro"/>
                  <a:ea typeface="Anonymous Pro"/>
                  <a:cs typeface="Anonymous Pro"/>
                  <a:sym typeface="Anonymous Pro"/>
                </a:rPr>
                <a:t>TAMPAK BELAKANG</a:t>
              </a:r>
            </a:p>
          </p:txBody>
        </p:sp>
      </p:grpSp>
      <p:sp>
        <p:nvSpPr>
          <p:cNvPr name="Freeform 12" id="12"/>
          <p:cNvSpPr/>
          <p:nvPr/>
        </p:nvSpPr>
        <p:spPr>
          <a:xfrm flipH="false" flipV="false" rot="0">
            <a:off x="1795784" y="5333463"/>
            <a:ext cx="14436541" cy="4456919"/>
          </a:xfrm>
          <a:custGeom>
            <a:avLst/>
            <a:gdLst/>
            <a:ahLst/>
            <a:cxnLst/>
            <a:rect r="r" b="b" t="t" l="l"/>
            <a:pathLst>
              <a:path h="4456919" w="14436541">
                <a:moveTo>
                  <a:pt x="0" y="0"/>
                </a:moveTo>
                <a:lnTo>
                  <a:pt x="14436540" y="0"/>
                </a:lnTo>
                <a:lnTo>
                  <a:pt x="14436540" y="4456918"/>
                </a:lnTo>
                <a:lnTo>
                  <a:pt x="0" y="4456918"/>
                </a:lnTo>
                <a:lnTo>
                  <a:pt x="0" y="0"/>
                </a:lnTo>
                <a:close/>
              </a:path>
            </a:pathLst>
          </a:custGeom>
          <a:blipFill>
            <a:blip r:embed="rId8"/>
            <a:stretch>
              <a:fillRect l="0" t="0" r="0" b="0"/>
            </a:stretch>
          </a:blipFill>
        </p:spPr>
      </p:sp>
      <p:sp>
        <p:nvSpPr>
          <p:cNvPr name="TextBox 13" id="13"/>
          <p:cNvSpPr txBox="true"/>
          <p:nvPr/>
        </p:nvSpPr>
        <p:spPr>
          <a:xfrm rot="0">
            <a:off x="1028700" y="1222088"/>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14" id="14"/>
          <p:cNvSpPr txBox="true"/>
          <p:nvPr/>
        </p:nvSpPr>
        <p:spPr>
          <a:xfrm rot="0">
            <a:off x="1028700" y="2985758"/>
            <a:ext cx="3868638"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METODE SLOT BATANG</a:t>
            </a:r>
          </a:p>
        </p:txBody>
      </p:sp>
      <p:sp>
        <p:nvSpPr>
          <p:cNvPr name="TextBox 15" id="15"/>
          <p:cNvSpPr txBox="true"/>
          <p:nvPr/>
        </p:nvSpPr>
        <p:spPr>
          <a:xfrm rot="-258351">
            <a:off x="1039444" y="5122788"/>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grpSp>
        <p:nvGrpSpPr>
          <p:cNvPr name="Group 8" id="8"/>
          <p:cNvGrpSpPr/>
          <p:nvPr/>
        </p:nvGrpSpPr>
        <p:grpSpPr>
          <a:xfrm rot="0">
            <a:off x="1271925" y="2430847"/>
            <a:ext cx="7329559" cy="3185573"/>
            <a:chOff x="0" y="0"/>
            <a:chExt cx="9772745" cy="4247430"/>
          </a:xfrm>
        </p:grpSpPr>
        <p:sp>
          <p:nvSpPr>
            <p:cNvPr name="Freeform 9" id="9"/>
            <p:cNvSpPr/>
            <p:nvPr/>
          </p:nvSpPr>
          <p:spPr>
            <a:xfrm flipH="false" flipV="false" rot="0">
              <a:off x="0" y="0"/>
              <a:ext cx="5431992" cy="4222030"/>
            </a:xfrm>
            <a:custGeom>
              <a:avLst/>
              <a:gdLst/>
              <a:ahLst/>
              <a:cxnLst/>
              <a:rect r="r" b="b" t="t" l="l"/>
              <a:pathLst>
                <a:path h="4222030" w="5431992">
                  <a:moveTo>
                    <a:pt x="0" y="0"/>
                  </a:moveTo>
                  <a:lnTo>
                    <a:pt x="5431992" y="0"/>
                  </a:lnTo>
                  <a:lnTo>
                    <a:pt x="5431992" y="4222030"/>
                  </a:lnTo>
                  <a:lnTo>
                    <a:pt x="0" y="4222030"/>
                  </a:lnTo>
                  <a:lnTo>
                    <a:pt x="0" y="0"/>
                  </a:lnTo>
                  <a:close/>
                </a:path>
              </a:pathLst>
            </a:custGeom>
            <a:blipFill>
              <a:blip r:embed="rId10"/>
              <a:stretch>
                <a:fillRect l="0" t="0" r="0" b="-5864"/>
              </a:stretch>
            </a:blipFill>
          </p:spPr>
        </p:sp>
        <p:sp>
          <p:nvSpPr>
            <p:cNvPr name="Freeform 10" id="10"/>
            <p:cNvSpPr/>
            <p:nvPr/>
          </p:nvSpPr>
          <p:spPr>
            <a:xfrm flipH="false" flipV="false" rot="0">
              <a:off x="5431992" y="25400"/>
              <a:ext cx="4340753" cy="4222030"/>
            </a:xfrm>
            <a:custGeom>
              <a:avLst/>
              <a:gdLst/>
              <a:ahLst/>
              <a:cxnLst/>
              <a:rect r="r" b="b" t="t" l="l"/>
              <a:pathLst>
                <a:path h="4222030" w="4340753">
                  <a:moveTo>
                    <a:pt x="0" y="0"/>
                  </a:moveTo>
                  <a:lnTo>
                    <a:pt x="4340753" y="0"/>
                  </a:lnTo>
                  <a:lnTo>
                    <a:pt x="4340753" y="4222030"/>
                  </a:lnTo>
                  <a:lnTo>
                    <a:pt x="0" y="4222030"/>
                  </a:lnTo>
                  <a:lnTo>
                    <a:pt x="0" y="0"/>
                  </a:lnTo>
                  <a:close/>
                </a:path>
              </a:pathLst>
            </a:custGeom>
            <a:blipFill>
              <a:blip r:embed="rId11"/>
              <a:stretch>
                <a:fillRect l="0" t="-6143" r="0" b="0"/>
              </a:stretch>
            </a:blipFill>
          </p:spPr>
        </p:sp>
      </p:grpSp>
      <p:grpSp>
        <p:nvGrpSpPr>
          <p:cNvPr name="Group 11" id="11"/>
          <p:cNvGrpSpPr/>
          <p:nvPr/>
        </p:nvGrpSpPr>
        <p:grpSpPr>
          <a:xfrm rot="0">
            <a:off x="9296400" y="2430847"/>
            <a:ext cx="7304459" cy="3185573"/>
            <a:chOff x="0" y="0"/>
            <a:chExt cx="9739279" cy="4247430"/>
          </a:xfrm>
        </p:grpSpPr>
        <p:sp>
          <p:nvSpPr>
            <p:cNvPr name="Freeform 12" id="12"/>
            <p:cNvSpPr/>
            <p:nvPr/>
          </p:nvSpPr>
          <p:spPr>
            <a:xfrm flipH="false" flipV="false" rot="0">
              <a:off x="0" y="0"/>
              <a:ext cx="5320235" cy="4247430"/>
            </a:xfrm>
            <a:custGeom>
              <a:avLst/>
              <a:gdLst/>
              <a:ahLst/>
              <a:cxnLst/>
              <a:rect r="r" b="b" t="t" l="l"/>
              <a:pathLst>
                <a:path h="4247430" w="5320235">
                  <a:moveTo>
                    <a:pt x="0" y="0"/>
                  </a:moveTo>
                  <a:lnTo>
                    <a:pt x="5320235" y="0"/>
                  </a:lnTo>
                  <a:lnTo>
                    <a:pt x="5320235" y="4247430"/>
                  </a:lnTo>
                  <a:lnTo>
                    <a:pt x="0" y="4247430"/>
                  </a:lnTo>
                  <a:lnTo>
                    <a:pt x="0" y="0"/>
                  </a:lnTo>
                  <a:close/>
                </a:path>
              </a:pathLst>
            </a:custGeom>
            <a:blipFill>
              <a:blip r:embed="rId12"/>
              <a:stretch>
                <a:fillRect l="0" t="0" r="0" b="0"/>
              </a:stretch>
            </a:blipFill>
          </p:spPr>
        </p:sp>
        <p:sp>
          <p:nvSpPr>
            <p:cNvPr name="Freeform 13" id="13"/>
            <p:cNvSpPr/>
            <p:nvPr/>
          </p:nvSpPr>
          <p:spPr>
            <a:xfrm flipH="false" flipV="false" rot="0">
              <a:off x="5320235" y="0"/>
              <a:ext cx="4419044" cy="4247430"/>
            </a:xfrm>
            <a:custGeom>
              <a:avLst/>
              <a:gdLst/>
              <a:ahLst/>
              <a:cxnLst/>
              <a:rect r="r" b="b" t="t" l="l"/>
              <a:pathLst>
                <a:path h="4247430" w="4419044">
                  <a:moveTo>
                    <a:pt x="0" y="0"/>
                  </a:moveTo>
                  <a:lnTo>
                    <a:pt x="4419044" y="0"/>
                  </a:lnTo>
                  <a:lnTo>
                    <a:pt x="4419044" y="4247430"/>
                  </a:lnTo>
                  <a:lnTo>
                    <a:pt x="0" y="4247430"/>
                  </a:lnTo>
                  <a:lnTo>
                    <a:pt x="0" y="0"/>
                  </a:lnTo>
                  <a:close/>
                </a:path>
              </a:pathLst>
            </a:custGeom>
            <a:blipFill>
              <a:blip r:embed="rId13"/>
              <a:stretch>
                <a:fillRect l="0" t="0" r="0" b="0"/>
              </a:stretch>
            </a:blipFill>
          </p:spPr>
        </p:sp>
      </p:grpSp>
      <p:sp>
        <p:nvSpPr>
          <p:cNvPr name="Freeform 14" id="14"/>
          <p:cNvSpPr/>
          <p:nvPr/>
        </p:nvSpPr>
        <p:spPr>
          <a:xfrm flipH="false" flipV="false" rot="0">
            <a:off x="3134580" y="5846951"/>
            <a:ext cx="4090151" cy="4168207"/>
          </a:xfrm>
          <a:custGeom>
            <a:avLst/>
            <a:gdLst/>
            <a:ahLst/>
            <a:cxnLst/>
            <a:rect r="r" b="b" t="t" l="l"/>
            <a:pathLst>
              <a:path h="4168207" w="4090151">
                <a:moveTo>
                  <a:pt x="0" y="0"/>
                </a:moveTo>
                <a:lnTo>
                  <a:pt x="4090151" y="0"/>
                </a:lnTo>
                <a:lnTo>
                  <a:pt x="4090151" y="4168207"/>
                </a:lnTo>
                <a:lnTo>
                  <a:pt x="0" y="4168207"/>
                </a:lnTo>
                <a:lnTo>
                  <a:pt x="0" y="0"/>
                </a:lnTo>
                <a:close/>
              </a:path>
            </a:pathLst>
          </a:custGeom>
          <a:blipFill>
            <a:blip r:embed="rId14"/>
            <a:stretch>
              <a:fillRect l="0" t="0" r="0" b="0"/>
            </a:stretch>
          </a:blipFill>
        </p:spPr>
      </p:sp>
      <p:sp>
        <p:nvSpPr>
          <p:cNvPr name="Freeform 15" id="15"/>
          <p:cNvSpPr/>
          <p:nvPr/>
        </p:nvSpPr>
        <p:spPr>
          <a:xfrm flipH="false" flipV="false" rot="0">
            <a:off x="11787348" y="5867177"/>
            <a:ext cx="3906643" cy="4147980"/>
          </a:xfrm>
          <a:custGeom>
            <a:avLst/>
            <a:gdLst/>
            <a:ahLst/>
            <a:cxnLst/>
            <a:rect r="r" b="b" t="t" l="l"/>
            <a:pathLst>
              <a:path h="4147980" w="3906643">
                <a:moveTo>
                  <a:pt x="0" y="0"/>
                </a:moveTo>
                <a:lnTo>
                  <a:pt x="3906643" y="0"/>
                </a:lnTo>
                <a:lnTo>
                  <a:pt x="3906643" y="4147981"/>
                </a:lnTo>
                <a:lnTo>
                  <a:pt x="0" y="4147981"/>
                </a:lnTo>
                <a:lnTo>
                  <a:pt x="0" y="0"/>
                </a:lnTo>
                <a:close/>
              </a:path>
            </a:pathLst>
          </a:custGeom>
          <a:blipFill>
            <a:blip r:embed="rId15"/>
            <a:stretch>
              <a:fillRect l="0" t="0" r="0" b="0"/>
            </a:stretch>
          </a:blipFill>
        </p:spPr>
      </p:sp>
      <p:sp>
        <p:nvSpPr>
          <p:cNvPr name="TextBox 16" id="16"/>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7" id="17"/>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8" id="18"/>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9" id="19"/>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0" id="20"/>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1" id="21"/>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4" id="24"/>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5" id="25"/>
          <p:cNvSpPr txBox="true"/>
          <p:nvPr/>
        </p:nvSpPr>
        <p:spPr>
          <a:xfrm rot="0">
            <a:off x="6496350" y="127107"/>
            <a:ext cx="3868638"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METODE SLOT BATANG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916499" y="5383486"/>
            <a:ext cx="14455001" cy="4418140"/>
          </a:xfrm>
          <a:custGeom>
            <a:avLst/>
            <a:gdLst/>
            <a:ahLst/>
            <a:cxnLst/>
            <a:rect r="r" b="b" t="t" l="l"/>
            <a:pathLst>
              <a:path h="4418140" w="14455001">
                <a:moveTo>
                  <a:pt x="0" y="0"/>
                </a:moveTo>
                <a:lnTo>
                  <a:pt x="14455002" y="0"/>
                </a:lnTo>
                <a:lnTo>
                  <a:pt x="14455002" y="4418140"/>
                </a:lnTo>
                <a:lnTo>
                  <a:pt x="0" y="4418140"/>
                </a:lnTo>
                <a:lnTo>
                  <a:pt x="0" y="0"/>
                </a:lnTo>
                <a:close/>
              </a:path>
            </a:pathLst>
          </a:custGeom>
          <a:blipFill>
            <a:blip r:embed="rId6"/>
            <a:stretch>
              <a:fillRect l="0" t="0" r="0" b="0"/>
            </a:stretch>
          </a:blipFill>
        </p:spPr>
      </p:sp>
      <p:sp>
        <p:nvSpPr>
          <p:cNvPr name="TextBox 8" id="8"/>
          <p:cNvSpPr txBox="true"/>
          <p:nvPr/>
        </p:nvSpPr>
        <p:spPr>
          <a:xfrm rot="0">
            <a:off x="1028700" y="1222088"/>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9" id="9"/>
          <p:cNvSpPr txBox="true"/>
          <p:nvPr/>
        </p:nvSpPr>
        <p:spPr>
          <a:xfrm rot="0">
            <a:off x="1028700" y="2917538"/>
            <a:ext cx="4513461" cy="942975"/>
          </a:xfrm>
          <a:prstGeom prst="rect">
            <a:avLst/>
          </a:prstGeom>
        </p:spPr>
        <p:txBody>
          <a:bodyPr anchor="t" rtlCol="false" tIns="0" lIns="0" bIns="0" rIns="0">
            <a:spAutoFit/>
          </a:bodyPr>
          <a:lstStyle/>
          <a:p>
            <a:pPr algn="ctr">
              <a:lnSpc>
                <a:spcPts val="3720"/>
              </a:lnSpc>
            </a:pPr>
            <a:r>
              <a:rPr lang="en-US" b="true" sz="3100">
                <a:solidFill>
                  <a:srgbClr val="3553A0"/>
                </a:solidFill>
                <a:latin typeface="Anonymous Pro Bold"/>
                <a:ea typeface="Anonymous Pro Bold"/>
                <a:cs typeface="Anonymous Pro Bold"/>
                <a:sym typeface="Anonymous Pro Bold"/>
              </a:rPr>
              <a:t>METODE SLOT SEGITIGA </a:t>
            </a:r>
          </a:p>
          <a:p>
            <a:pPr algn="ctr">
              <a:lnSpc>
                <a:spcPts val="3720"/>
              </a:lnSpc>
              <a:spcBef>
                <a:spcPct val="0"/>
              </a:spcBef>
            </a:pPr>
          </a:p>
        </p:txBody>
      </p:sp>
      <p:sp>
        <p:nvSpPr>
          <p:cNvPr name="TextBox 10" id="10"/>
          <p:cNvSpPr txBox="true"/>
          <p:nvPr/>
        </p:nvSpPr>
        <p:spPr>
          <a:xfrm rot="-258351">
            <a:off x="1039444" y="5122788"/>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
        <p:nvSpPr>
          <p:cNvPr name="Freeform 11" id="11"/>
          <p:cNvSpPr/>
          <p:nvPr/>
        </p:nvSpPr>
        <p:spPr>
          <a:xfrm flipH="false" flipV="false" rot="0">
            <a:off x="11705006" y="765914"/>
            <a:ext cx="3838191" cy="3900257"/>
          </a:xfrm>
          <a:custGeom>
            <a:avLst/>
            <a:gdLst/>
            <a:ahLst/>
            <a:cxnLst/>
            <a:rect r="r" b="b" t="t" l="l"/>
            <a:pathLst>
              <a:path h="3900257" w="3838191">
                <a:moveTo>
                  <a:pt x="0" y="0"/>
                </a:moveTo>
                <a:lnTo>
                  <a:pt x="3838191" y="0"/>
                </a:lnTo>
                <a:lnTo>
                  <a:pt x="3838191" y="3900258"/>
                </a:lnTo>
                <a:lnTo>
                  <a:pt x="0" y="3900258"/>
                </a:lnTo>
                <a:lnTo>
                  <a:pt x="0" y="0"/>
                </a:lnTo>
                <a:close/>
              </a:path>
            </a:pathLst>
          </a:custGeom>
          <a:blipFill>
            <a:blip r:embed="rId7"/>
            <a:stretch>
              <a:fillRect l="-2497" t="-4017" r="-1869" b="0"/>
            </a:stretch>
          </a:blipFill>
        </p:spPr>
      </p:sp>
      <p:sp>
        <p:nvSpPr>
          <p:cNvPr name="Freeform 12" id="12"/>
          <p:cNvSpPr/>
          <p:nvPr/>
        </p:nvSpPr>
        <p:spPr>
          <a:xfrm flipH="false" flipV="false" rot="0">
            <a:off x="7642988" y="765914"/>
            <a:ext cx="3941749" cy="3900257"/>
          </a:xfrm>
          <a:custGeom>
            <a:avLst/>
            <a:gdLst/>
            <a:ahLst/>
            <a:cxnLst/>
            <a:rect r="r" b="b" t="t" l="l"/>
            <a:pathLst>
              <a:path h="3900257" w="3941749">
                <a:moveTo>
                  <a:pt x="0" y="0"/>
                </a:moveTo>
                <a:lnTo>
                  <a:pt x="3941750" y="0"/>
                </a:lnTo>
                <a:lnTo>
                  <a:pt x="3941750" y="3900258"/>
                </a:lnTo>
                <a:lnTo>
                  <a:pt x="0" y="3900258"/>
                </a:lnTo>
                <a:lnTo>
                  <a:pt x="0" y="0"/>
                </a:lnTo>
                <a:close/>
              </a:path>
            </a:pathLst>
          </a:custGeom>
          <a:blipFill>
            <a:blip r:embed="rId8"/>
            <a:stretch>
              <a:fillRect l="0" t="0" r="0" b="0"/>
            </a:stretch>
          </a:blipFill>
        </p:spPr>
      </p:sp>
      <p:sp>
        <p:nvSpPr>
          <p:cNvPr name="TextBox 13" id="13"/>
          <p:cNvSpPr txBox="true"/>
          <p:nvPr/>
        </p:nvSpPr>
        <p:spPr>
          <a:xfrm rot="0">
            <a:off x="8588030" y="4711148"/>
            <a:ext cx="2006383" cy="377063"/>
          </a:xfrm>
          <a:prstGeom prst="rect">
            <a:avLst/>
          </a:prstGeom>
        </p:spPr>
        <p:txBody>
          <a:bodyPr anchor="t" rtlCol="false" tIns="0" lIns="0" bIns="0" rIns="0">
            <a:spAutoFit/>
          </a:bodyPr>
          <a:lstStyle/>
          <a:p>
            <a:pPr algn="ctr">
              <a:lnSpc>
                <a:spcPts val="2894"/>
              </a:lnSpc>
              <a:spcBef>
                <a:spcPct val="0"/>
              </a:spcBef>
            </a:pPr>
            <a:r>
              <a:rPr lang="en-US" sz="2411">
                <a:solidFill>
                  <a:srgbClr val="3553A0"/>
                </a:solidFill>
                <a:latin typeface="Anonymous Pro"/>
                <a:ea typeface="Anonymous Pro"/>
                <a:cs typeface="Anonymous Pro"/>
                <a:sym typeface="Anonymous Pro"/>
              </a:rPr>
              <a:t>TAMPAK DEPAN</a:t>
            </a:r>
          </a:p>
        </p:txBody>
      </p:sp>
      <p:sp>
        <p:nvSpPr>
          <p:cNvPr name="TextBox 14" id="14"/>
          <p:cNvSpPr txBox="true"/>
          <p:nvPr/>
        </p:nvSpPr>
        <p:spPr>
          <a:xfrm rot="0">
            <a:off x="12313943" y="4711148"/>
            <a:ext cx="2508039" cy="377063"/>
          </a:xfrm>
          <a:prstGeom prst="rect">
            <a:avLst/>
          </a:prstGeom>
        </p:spPr>
        <p:txBody>
          <a:bodyPr anchor="t" rtlCol="false" tIns="0" lIns="0" bIns="0" rIns="0">
            <a:spAutoFit/>
          </a:bodyPr>
          <a:lstStyle/>
          <a:p>
            <a:pPr algn="ctr">
              <a:lnSpc>
                <a:spcPts val="2894"/>
              </a:lnSpc>
              <a:spcBef>
                <a:spcPct val="0"/>
              </a:spcBef>
            </a:pPr>
            <a:r>
              <a:rPr lang="en-US" sz="2411">
                <a:solidFill>
                  <a:srgbClr val="3553A0"/>
                </a:solidFill>
                <a:latin typeface="Anonymous Pro"/>
                <a:ea typeface="Anonymous Pro"/>
                <a:cs typeface="Anonymous Pro"/>
                <a:sym typeface="Anonymous Pro"/>
              </a:rPr>
              <a:t>TAMPAK BELAKANG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sp>
        <p:nvSpPr>
          <p:cNvPr name="Freeform 8" id="8"/>
          <p:cNvSpPr/>
          <p:nvPr/>
        </p:nvSpPr>
        <p:spPr>
          <a:xfrm flipH="false" flipV="false" rot="0">
            <a:off x="4884358" y="2398580"/>
            <a:ext cx="3166834" cy="3185573"/>
          </a:xfrm>
          <a:custGeom>
            <a:avLst/>
            <a:gdLst/>
            <a:ahLst/>
            <a:cxnLst/>
            <a:rect r="r" b="b" t="t" l="l"/>
            <a:pathLst>
              <a:path h="3185573" w="3166834">
                <a:moveTo>
                  <a:pt x="0" y="0"/>
                </a:moveTo>
                <a:lnTo>
                  <a:pt x="3166834" y="0"/>
                </a:lnTo>
                <a:lnTo>
                  <a:pt x="3166834" y="3185573"/>
                </a:lnTo>
                <a:lnTo>
                  <a:pt x="0" y="3185573"/>
                </a:lnTo>
                <a:lnTo>
                  <a:pt x="0" y="0"/>
                </a:lnTo>
                <a:close/>
              </a:path>
            </a:pathLst>
          </a:custGeom>
          <a:blipFill>
            <a:blip r:embed="rId10"/>
            <a:stretch>
              <a:fillRect l="0" t="0" r="0" b="0"/>
            </a:stretch>
          </a:blipFill>
        </p:spPr>
      </p:sp>
      <p:sp>
        <p:nvSpPr>
          <p:cNvPr name="Freeform 9" id="9"/>
          <p:cNvSpPr/>
          <p:nvPr/>
        </p:nvSpPr>
        <p:spPr>
          <a:xfrm flipH="false" flipV="false" rot="0">
            <a:off x="9296400" y="2398580"/>
            <a:ext cx="4199475" cy="3185573"/>
          </a:xfrm>
          <a:custGeom>
            <a:avLst/>
            <a:gdLst/>
            <a:ahLst/>
            <a:cxnLst/>
            <a:rect r="r" b="b" t="t" l="l"/>
            <a:pathLst>
              <a:path h="3185573" w="4199475">
                <a:moveTo>
                  <a:pt x="0" y="0"/>
                </a:moveTo>
                <a:lnTo>
                  <a:pt x="4199475" y="0"/>
                </a:lnTo>
                <a:lnTo>
                  <a:pt x="4199475" y="3185573"/>
                </a:lnTo>
                <a:lnTo>
                  <a:pt x="0" y="3185573"/>
                </a:lnTo>
                <a:lnTo>
                  <a:pt x="0" y="0"/>
                </a:lnTo>
                <a:close/>
              </a:path>
            </a:pathLst>
          </a:custGeom>
          <a:blipFill>
            <a:blip r:embed="rId11"/>
            <a:stretch>
              <a:fillRect l="0" t="0" r="0" b="-5955"/>
            </a:stretch>
          </a:blipFill>
        </p:spPr>
      </p:sp>
      <p:sp>
        <p:nvSpPr>
          <p:cNvPr name="Freeform 10" id="10"/>
          <p:cNvSpPr/>
          <p:nvPr/>
        </p:nvSpPr>
        <p:spPr>
          <a:xfrm flipH="false" flipV="false" rot="0">
            <a:off x="1028700" y="2398580"/>
            <a:ext cx="3849234" cy="3185573"/>
          </a:xfrm>
          <a:custGeom>
            <a:avLst/>
            <a:gdLst/>
            <a:ahLst/>
            <a:cxnLst/>
            <a:rect r="r" b="b" t="t" l="l"/>
            <a:pathLst>
              <a:path h="3185573" w="3849234">
                <a:moveTo>
                  <a:pt x="0" y="0"/>
                </a:moveTo>
                <a:lnTo>
                  <a:pt x="3849234" y="0"/>
                </a:lnTo>
                <a:lnTo>
                  <a:pt x="3849234" y="3185573"/>
                </a:lnTo>
                <a:lnTo>
                  <a:pt x="0" y="3185573"/>
                </a:lnTo>
                <a:lnTo>
                  <a:pt x="0" y="0"/>
                </a:lnTo>
                <a:close/>
              </a:path>
            </a:pathLst>
          </a:custGeom>
          <a:blipFill>
            <a:blip r:embed="rId12"/>
            <a:stretch>
              <a:fillRect l="0" t="0" r="0" b="0"/>
            </a:stretch>
          </a:blipFill>
        </p:spPr>
      </p:sp>
      <p:sp>
        <p:nvSpPr>
          <p:cNvPr name="Freeform 11" id="11"/>
          <p:cNvSpPr/>
          <p:nvPr/>
        </p:nvSpPr>
        <p:spPr>
          <a:xfrm flipH="false" flipV="false" rot="0">
            <a:off x="13495875" y="2398580"/>
            <a:ext cx="3260971" cy="3185573"/>
          </a:xfrm>
          <a:custGeom>
            <a:avLst/>
            <a:gdLst/>
            <a:ahLst/>
            <a:cxnLst/>
            <a:rect r="r" b="b" t="t" l="l"/>
            <a:pathLst>
              <a:path h="3185573" w="3260971">
                <a:moveTo>
                  <a:pt x="0" y="0"/>
                </a:moveTo>
                <a:lnTo>
                  <a:pt x="3260971" y="0"/>
                </a:lnTo>
                <a:lnTo>
                  <a:pt x="3260971" y="3185573"/>
                </a:lnTo>
                <a:lnTo>
                  <a:pt x="0" y="3185573"/>
                </a:lnTo>
                <a:lnTo>
                  <a:pt x="0" y="0"/>
                </a:lnTo>
                <a:close/>
              </a:path>
            </a:pathLst>
          </a:custGeom>
          <a:blipFill>
            <a:blip r:embed="rId13"/>
            <a:stretch>
              <a:fillRect l="0" t="0" r="0" b="0"/>
            </a:stretch>
          </a:blipFill>
        </p:spPr>
      </p:sp>
      <p:sp>
        <p:nvSpPr>
          <p:cNvPr name="Freeform 12" id="12"/>
          <p:cNvSpPr/>
          <p:nvPr/>
        </p:nvSpPr>
        <p:spPr>
          <a:xfrm flipH="false" flipV="false" rot="0">
            <a:off x="3134580" y="5857064"/>
            <a:ext cx="4358895" cy="4147980"/>
          </a:xfrm>
          <a:custGeom>
            <a:avLst/>
            <a:gdLst/>
            <a:ahLst/>
            <a:cxnLst/>
            <a:rect r="r" b="b" t="t" l="l"/>
            <a:pathLst>
              <a:path h="4147980" w="4358895">
                <a:moveTo>
                  <a:pt x="0" y="0"/>
                </a:moveTo>
                <a:lnTo>
                  <a:pt x="4358894" y="0"/>
                </a:lnTo>
                <a:lnTo>
                  <a:pt x="4358894" y="4147980"/>
                </a:lnTo>
                <a:lnTo>
                  <a:pt x="0" y="4147980"/>
                </a:lnTo>
                <a:lnTo>
                  <a:pt x="0" y="0"/>
                </a:lnTo>
                <a:close/>
              </a:path>
            </a:pathLst>
          </a:custGeom>
          <a:blipFill>
            <a:blip r:embed="rId14"/>
            <a:stretch>
              <a:fillRect l="0" t="0" r="0" b="0"/>
            </a:stretch>
          </a:blipFill>
        </p:spPr>
      </p:sp>
      <p:sp>
        <p:nvSpPr>
          <p:cNvPr name="Freeform 13" id="13"/>
          <p:cNvSpPr/>
          <p:nvPr/>
        </p:nvSpPr>
        <p:spPr>
          <a:xfrm flipH="false" flipV="false" rot="0">
            <a:off x="11977848" y="5857064"/>
            <a:ext cx="4390681" cy="4147980"/>
          </a:xfrm>
          <a:custGeom>
            <a:avLst/>
            <a:gdLst/>
            <a:ahLst/>
            <a:cxnLst/>
            <a:rect r="r" b="b" t="t" l="l"/>
            <a:pathLst>
              <a:path h="4147980" w="4390681">
                <a:moveTo>
                  <a:pt x="0" y="0"/>
                </a:moveTo>
                <a:lnTo>
                  <a:pt x="4390681" y="0"/>
                </a:lnTo>
                <a:lnTo>
                  <a:pt x="4390681" y="4147980"/>
                </a:lnTo>
                <a:lnTo>
                  <a:pt x="0" y="4147980"/>
                </a:lnTo>
                <a:lnTo>
                  <a:pt x="0" y="0"/>
                </a:lnTo>
                <a:close/>
              </a:path>
            </a:pathLst>
          </a:custGeom>
          <a:blipFill>
            <a:blip r:embed="rId15"/>
            <a:stretch>
              <a:fillRect l="0" t="0" r="0" b="0"/>
            </a:stretch>
          </a:blipFill>
        </p:spPr>
      </p:sp>
      <p:sp>
        <p:nvSpPr>
          <p:cNvPr name="TextBox 14" id="14"/>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5" id="15"/>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6" id="16"/>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7" id="17"/>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8" id="18"/>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9" id="19"/>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0" id="20"/>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1" id="21"/>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0">
            <a:off x="6496350" y="68722"/>
            <a:ext cx="4298454"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METODE SLOT SEGITIGA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973266" y="5374675"/>
            <a:ext cx="14341468" cy="4448286"/>
          </a:xfrm>
          <a:custGeom>
            <a:avLst/>
            <a:gdLst/>
            <a:ahLst/>
            <a:cxnLst/>
            <a:rect r="r" b="b" t="t" l="l"/>
            <a:pathLst>
              <a:path h="4448286" w="14341468">
                <a:moveTo>
                  <a:pt x="0" y="0"/>
                </a:moveTo>
                <a:lnTo>
                  <a:pt x="14341468" y="0"/>
                </a:lnTo>
                <a:lnTo>
                  <a:pt x="14341468" y="4448286"/>
                </a:lnTo>
                <a:lnTo>
                  <a:pt x="0" y="4448286"/>
                </a:lnTo>
                <a:lnTo>
                  <a:pt x="0" y="0"/>
                </a:lnTo>
                <a:close/>
              </a:path>
            </a:pathLst>
          </a:custGeom>
          <a:blipFill>
            <a:blip r:embed="rId6"/>
            <a:stretch>
              <a:fillRect l="0" t="0" r="0" b="0"/>
            </a:stretch>
          </a:blipFill>
        </p:spPr>
      </p:sp>
      <p:sp>
        <p:nvSpPr>
          <p:cNvPr name="TextBox 8" id="8"/>
          <p:cNvSpPr txBox="true"/>
          <p:nvPr/>
        </p:nvSpPr>
        <p:spPr>
          <a:xfrm rot="0">
            <a:off x="701341" y="1056946"/>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9" id="9"/>
          <p:cNvSpPr txBox="true"/>
          <p:nvPr/>
        </p:nvSpPr>
        <p:spPr>
          <a:xfrm rot="0">
            <a:off x="701341" y="2754866"/>
            <a:ext cx="7268778" cy="473779"/>
          </a:xfrm>
          <a:prstGeom prst="rect">
            <a:avLst/>
          </a:prstGeom>
        </p:spPr>
        <p:txBody>
          <a:bodyPr anchor="t" rtlCol="false" tIns="0" lIns="0" bIns="0" rIns="0">
            <a:spAutoFit/>
          </a:bodyPr>
          <a:lstStyle/>
          <a:p>
            <a:pPr algn="ctr">
              <a:lnSpc>
                <a:spcPts val="3700"/>
              </a:lnSpc>
              <a:spcBef>
                <a:spcPct val="0"/>
              </a:spcBef>
            </a:pPr>
            <a:r>
              <a:rPr lang="en-US" b="true" sz="3083">
                <a:solidFill>
                  <a:srgbClr val="3553A0"/>
                </a:solidFill>
                <a:latin typeface="Anonymous Pro Bold"/>
                <a:ea typeface="Anonymous Pro Bold"/>
                <a:cs typeface="Anonymous Pro Bold"/>
                <a:sym typeface="Anonymous Pro Bold"/>
              </a:rPr>
              <a:t>GABUNGAN SLOT BATANG DAN SEGITIGA </a:t>
            </a:r>
          </a:p>
        </p:txBody>
      </p:sp>
      <p:sp>
        <p:nvSpPr>
          <p:cNvPr name="TextBox 10" id="10"/>
          <p:cNvSpPr txBox="true"/>
          <p:nvPr/>
        </p:nvSpPr>
        <p:spPr>
          <a:xfrm rot="-258351">
            <a:off x="712085" y="5169901"/>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
        <p:nvSpPr>
          <p:cNvPr name="Freeform 11" id="11"/>
          <p:cNvSpPr/>
          <p:nvPr/>
        </p:nvSpPr>
        <p:spPr>
          <a:xfrm flipH="false" flipV="false" rot="0">
            <a:off x="12428308" y="647723"/>
            <a:ext cx="4008902" cy="4073729"/>
          </a:xfrm>
          <a:custGeom>
            <a:avLst/>
            <a:gdLst/>
            <a:ahLst/>
            <a:cxnLst/>
            <a:rect r="r" b="b" t="t" l="l"/>
            <a:pathLst>
              <a:path h="4073729" w="4008902">
                <a:moveTo>
                  <a:pt x="0" y="0"/>
                </a:moveTo>
                <a:lnTo>
                  <a:pt x="4008902" y="0"/>
                </a:lnTo>
                <a:lnTo>
                  <a:pt x="4008902" y="4073729"/>
                </a:lnTo>
                <a:lnTo>
                  <a:pt x="0" y="4073729"/>
                </a:lnTo>
                <a:lnTo>
                  <a:pt x="0" y="0"/>
                </a:lnTo>
                <a:close/>
              </a:path>
            </a:pathLst>
          </a:custGeom>
          <a:blipFill>
            <a:blip r:embed="rId7"/>
            <a:stretch>
              <a:fillRect l="-2497" t="-4017" r="-1869" b="0"/>
            </a:stretch>
          </a:blipFill>
        </p:spPr>
      </p:sp>
      <p:sp>
        <p:nvSpPr>
          <p:cNvPr name="Freeform 12" id="12"/>
          <p:cNvSpPr/>
          <p:nvPr/>
        </p:nvSpPr>
        <p:spPr>
          <a:xfrm flipH="false" flipV="false" rot="0">
            <a:off x="8297478" y="647723"/>
            <a:ext cx="4052400" cy="4073729"/>
          </a:xfrm>
          <a:custGeom>
            <a:avLst/>
            <a:gdLst/>
            <a:ahLst/>
            <a:cxnLst/>
            <a:rect r="r" b="b" t="t" l="l"/>
            <a:pathLst>
              <a:path h="4073729" w="4052400">
                <a:moveTo>
                  <a:pt x="0" y="0"/>
                </a:moveTo>
                <a:lnTo>
                  <a:pt x="4052401" y="0"/>
                </a:lnTo>
                <a:lnTo>
                  <a:pt x="4052401" y="4073729"/>
                </a:lnTo>
                <a:lnTo>
                  <a:pt x="0" y="4073729"/>
                </a:lnTo>
                <a:lnTo>
                  <a:pt x="0" y="0"/>
                </a:lnTo>
                <a:close/>
              </a:path>
            </a:pathLst>
          </a:custGeom>
          <a:blipFill>
            <a:blip r:embed="rId8"/>
            <a:stretch>
              <a:fillRect l="0" t="0" r="0" b="0"/>
            </a:stretch>
          </a:blipFill>
        </p:spPr>
      </p:sp>
      <p:sp>
        <p:nvSpPr>
          <p:cNvPr name="TextBox 13" id="13"/>
          <p:cNvSpPr txBox="true"/>
          <p:nvPr/>
        </p:nvSpPr>
        <p:spPr>
          <a:xfrm rot="0">
            <a:off x="9172698" y="4768852"/>
            <a:ext cx="2095621" cy="393410"/>
          </a:xfrm>
          <a:prstGeom prst="rect">
            <a:avLst/>
          </a:prstGeom>
        </p:spPr>
        <p:txBody>
          <a:bodyPr anchor="t" rtlCol="false" tIns="0" lIns="0" bIns="0" rIns="0">
            <a:spAutoFit/>
          </a:bodyPr>
          <a:lstStyle/>
          <a:p>
            <a:pPr algn="ctr">
              <a:lnSpc>
                <a:spcPts val="3022"/>
              </a:lnSpc>
              <a:spcBef>
                <a:spcPct val="0"/>
              </a:spcBef>
            </a:pPr>
            <a:r>
              <a:rPr lang="en-US" sz="2518">
                <a:solidFill>
                  <a:srgbClr val="3553A0"/>
                </a:solidFill>
                <a:latin typeface="Anonymous Pro"/>
                <a:ea typeface="Anonymous Pro"/>
                <a:cs typeface="Anonymous Pro"/>
                <a:sym typeface="Anonymous Pro"/>
              </a:rPr>
              <a:t>TAMPAK DEPAN</a:t>
            </a:r>
          </a:p>
        </p:txBody>
      </p:sp>
      <p:sp>
        <p:nvSpPr>
          <p:cNvPr name="TextBox 14" id="14"/>
          <p:cNvSpPr txBox="true"/>
          <p:nvPr/>
        </p:nvSpPr>
        <p:spPr>
          <a:xfrm rot="0">
            <a:off x="13064328" y="4768852"/>
            <a:ext cx="2619589" cy="393410"/>
          </a:xfrm>
          <a:prstGeom prst="rect">
            <a:avLst/>
          </a:prstGeom>
        </p:spPr>
        <p:txBody>
          <a:bodyPr anchor="t" rtlCol="false" tIns="0" lIns="0" bIns="0" rIns="0">
            <a:spAutoFit/>
          </a:bodyPr>
          <a:lstStyle/>
          <a:p>
            <a:pPr algn="ctr">
              <a:lnSpc>
                <a:spcPts val="3022"/>
              </a:lnSpc>
              <a:spcBef>
                <a:spcPct val="0"/>
              </a:spcBef>
            </a:pPr>
            <a:r>
              <a:rPr lang="en-US" sz="2518">
                <a:solidFill>
                  <a:srgbClr val="3553A0"/>
                </a:solidFill>
                <a:latin typeface="Anonymous Pro"/>
                <a:ea typeface="Anonymous Pro"/>
                <a:cs typeface="Anonymous Pro"/>
                <a:sym typeface="Anonymous Pro"/>
              </a:rPr>
              <a:t>TAMPAK BELAKANG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sp>
        <p:nvSpPr>
          <p:cNvPr name="Freeform 8" id="8"/>
          <p:cNvSpPr/>
          <p:nvPr/>
        </p:nvSpPr>
        <p:spPr>
          <a:xfrm flipH="false" flipV="false" rot="0">
            <a:off x="1028700" y="2398580"/>
            <a:ext cx="4024885" cy="3185573"/>
          </a:xfrm>
          <a:custGeom>
            <a:avLst/>
            <a:gdLst/>
            <a:ahLst/>
            <a:cxnLst/>
            <a:rect r="r" b="b" t="t" l="l"/>
            <a:pathLst>
              <a:path h="3185573" w="4024885">
                <a:moveTo>
                  <a:pt x="0" y="0"/>
                </a:moveTo>
                <a:lnTo>
                  <a:pt x="4024885" y="0"/>
                </a:lnTo>
                <a:lnTo>
                  <a:pt x="4024885" y="3185573"/>
                </a:lnTo>
                <a:lnTo>
                  <a:pt x="0" y="3185573"/>
                </a:lnTo>
                <a:lnTo>
                  <a:pt x="0" y="0"/>
                </a:lnTo>
                <a:close/>
              </a:path>
            </a:pathLst>
          </a:custGeom>
          <a:blipFill>
            <a:blip r:embed="rId10"/>
            <a:stretch>
              <a:fillRect l="0" t="0" r="0" b="0"/>
            </a:stretch>
          </a:blipFill>
        </p:spPr>
      </p:sp>
      <p:sp>
        <p:nvSpPr>
          <p:cNvPr name="Freeform 9" id="9"/>
          <p:cNvSpPr/>
          <p:nvPr/>
        </p:nvSpPr>
        <p:spPr>
          <a:xfrm flipH="false" flipV="false" rot="0">
            <a:off x="5053585" y="2401306"/>
            <a:ext cx="3427681" cy="3182847"/>
          </a:xfrm>
          <a:custGeom>
            <a:avLst/>
            <a:gdLst/>
            <a:ahLst/>
            <a:cxnLst/>
            <a:rect r="r" b="b" t="t" l="l"/>
            <a:pathLst>
              <a:path h="3182847" w="3427681">
                <a:moveTo>
                  <a:pt x="0" y="0"/>
                </a:moveTo>
                <a:lnTo>
                  <a:pt x="3427682" y="0"/>
                </a:lnTo>
                <a:lnTo>
                  <a:pt x="3427682" y="3182847"/>
                </a:lnTo>
                <a:lnTo>
                  <a:pt x="0" y="3182847"/>
                </a:lnTo>
                <a:lnTo>
                  <a:pt x="0" y="0"/>
                </a:lnTo>
                <a:close/>
              </a:path>
            </a:pathLst>
          </a:custGeom>
          <a:blipFill>
            <a:blip r:embed="rId11"/>
            <a:stretch>
              <a:fillRect l="0" t="0" r="0" b="0"/>
            </a:stretch>
          </a:blipFill>
        </p:spPr>
      </p:sp>
      <p:sp>
        <p:nvSpPr>
          <p:cNvPr name="Freeform 10" id="10"/>
          <p:cNvSpPr/>
          <p:nvPr/>
        </p:nvSpPr>
        <p:spPr>
          <a:xfrm flipH="false" flipV="false" rot="0">
            <a:off x="9414949" y="2398580"/>
            <a:ext cx="3710255" cy="3185573"/>
          </a:xfrm>
          <a:custGeom>
            <a:avLst/>
            <a:gdLst/>
            <a:ahLst/>
            <a:cxnLst/>
            <a:rect r="r" b="b" t="t" l="l"/>
            <a:pathLst>
              <a:path h="3185573" w="3710255">
                <a:moveTo>
                  <a:pt x="0" y="0"/>
                </a:moveTo>
                <a:lnTo>
                  <a:pt x="3710255" y="0"/>
                </a:lnTo>
                <a:lnTo>
                  <a:pt x="3710255" y="3185573"/>
                </a:lnTo>
                <a:lnTo>
                  <a:pt x="0" y="3185573"/>
                </a:lnTo>
                <a:lnTo>
                  <a:pt x="0" y="0"/>
                </a:lnTo>
                <a:close/>
              </a:path>
            </a:pathLst>
          </a:custGeom>
          <a:blipFill>
            <a:blip r:embed="rId12"/>
            <a:stretch>
              <a:fillRect l="0" t="0" r="0" b="0"/>
            </a:stretch>
          </a:blipFill>
        </p:spPr>
      </p:sp>
      <p:sp>
        <p:nvSpPr>
          <p:cNvPr name="Freeform 11" id="11"/>
          <p:cNvSpPr/>
          <p:nvPr/>
        </p:nvSpPr>
        <p:spPr>
          <a:xfrm flipH="false" flipV="false" rot="0">
            <a:off x="13144254" y="2401306"/>
            <a:ext cx="3427681" cy="3182847"/>
          </a:xfrm>
          <a:custGeom>
            <a:avLst/>
            <a:gdLst/>
            <a:ahLst/>
            <a:cxnLst/>
            <a:rect r="r" b="b" t="t" l="l"/>
            <a:pathLst>
              <a:path h="3182847" w="3427681">
                <a:moveTo>
                  <a:pt x="0" y="0"/>
                </a:moveTo>
                <a:lnTo>
                  <a:pt x="3427681" y="0"/>
                </a:lnTo>
                <a:lnTo>
                  <a:pt x="3427681" y="3182847"/>
                </a:lnTo>
                <a:lnTo>
                  <a:pt x="0" y="3182847"/>
                </a:lnTo>
                <a:lnTo>
                  <a:pt x="0" y="0"/>
                </a:lnTo>
                <a:close/>
              </a:path>
            </a:pathLst>
          </a:custGeom>
          <a:blipFill>
            <a:blip r:embed="rId11"/>
            <a:stretch>
              <a:fillRect l="0" t="0" r="0" b="0"/>
            </a:stretch>
          </a:blipFill>
        </p:spPr>
      </p:sp>
      <p:sp>
        <p:nvSpPr>
          <p:cNvPr name="Freeform 12" id="12"/>
          <p:cNvSpPr/>
          <p:nvPr/>
        </p:nvSpPr>
        <p:spPr>
          <a:xfrm flipH="false" flipV="false" rot="0">
            <a:off x="3134580" y="5857064"/>
            <a:ext cx="3990711" cy="4147980"/>
          </a:xfrm>
          <a:custGeom>
            <a:avLst/>
            <a:gdLst/>
            <a:ahLst/>
            <a:cxnLst/>
            <a:rect r="r" b="b" t="t" l="l"/>
            <a:pathLst>
              <a:path h="4147980" w="3990711">
                <a:moveTo>
                  <a:pt x="0" y="0"/>
                </a:moveTo>
                <a:lnTo>
                  <a:pt x="3990711" y="0"/>
                </a:lnTo>
                <a:lnTo>
                  <a:pt x="3990711" y="4147980"/>
                </a:lnTo>
                <a:lnTo>
                  <a:pt x="0" y="4147980"/>
                </a:lnTo>
                <a:lnTo>
                  <a:pt x="0" y="0"/>
                </a:lnTo>
                <a:close/>
              </a:path>
            </a:pathLst>
          </a:custGeom>
          <a:blipFill>
            <a:blip r:embed="rId13"/>
            <a:stretch>
              <a:fillRect l="0" t="0" r="0" b="0"/>
            </a:stretch>
          </a:blipFill>
        </p:spPr>
      </p:sp>
      <p:sp>
        <p:nvSpPr>
          <p:cNvPr name="Freeform 13" id="13"/>
          <p:cNvSpPr/>
          <p:nvPr/>
        </p:nvSpPr>
        <p:spPr>
          <a:xfrm flipH="false" flipV="false" rot="0">
            <a:off x="12092148" y="5857064"/>
            <a:ext cx="4030028" cy="4147980"/>
          </a:xfrm>
          <a:custGeom>
            <a:avLst/>
            <a:gdLst/>
            <a:ahLst/>
            <a:cxnLst/>
            <a:rect r="r" b="b" t="t" l="l"/>
            <a:pathLst>
              <a:path h="4147980" w="4030028">
                <a:moveTo>
                  <a:pt x="0" y="0"/>
                </a:moveTo>
                <a:lnTo>
                  <a:pt x="4030028" y="0"/>
                </a:lnTo>
                <a:lnTo>
                  <a:pt x="4030028" y="4147980"/>
                </a:lnTo>
                <a:lnTo>
                  <a:pt x="0" y="4147980"/>
                </a:lnTo>
                <a:lnTo>
                  <a:pt x="0" y="0"/>
                </a:lnTo>
                <a:close/>
              </a:path>
            </a:pathLst>
          </a:custGeom>
          <a:blipFill>
            <a:blip r:embed="rId14"/>
            <a:stretch>
              <a:fillRect l="0" t="0" r="0" b="0"/>
            </a:stretch>
          </a:blipFill>
        </p:spPr>
      </p:sp>
      <p:sp>
        <p:nvSpPr>
          <p:cNvPr name="TextBox 14" id="14"/>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5" id="15"/>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6" id="16"/>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7" id="17"/>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8" id="18"/>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9" id="19"/>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0" id="20"/>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1" id="21"/>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0">
            <a:off x="6496350" y="68722"/>
            <a:ext cx="7307461"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GABUNGAN SLOT BATANG DAN SEGITIGA</a:t>
            </a:r>
            <a:r>
              <a:rPr lang="en-US" b="true" sz="3100">
                <a:solidFill>
                  <a:srgbClr val="3553A0"/>
                </a:solidFill>
                <a:latin typeface="Anonymous Pro Bold"/>
                <a:ea typeface="Anonymous Pro Bold"/>
                <a:cs typeface="Anonymous Pro Bold"/>
                <a:sym typeface="Anonymous Pro Bold"/>
              </a:rPr>
              <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1648330" y="646195"/>
            <a:ext cx="3690440" cy="3750116"/>
          </a:xfrm>
          <a:custGeom>
            <a:avLst/>
            <a:gdLst/>
            <a:ahLst/>
            <a:cxnLst/>
            <a:rect r="r" b="b" t="t" l="l"/>
            <a:pathLst>
              <a:path h="3750116" w="3690440">
                <a:moveTo>
                  <a:pt x="0" y="0"/>
                </a:moveTo>
                <a:lnTo>
                  <a:pt x="3690439" y="0"/>
                </a:lnTo>
                <a:lnTo>
                  <a:pt x="3690439" y="3750117"/>
                </a:lnTo>
                <a:lnTo>
                  <a:pt x="0" y="3750117"/>
                </a:lnTo>
                <a:lnTo>
                  <a:pt x="0" y="0"/>
                </a:lnTo>
                <a:close/>
              </a:path>
            </a:pathLst>
          </a:custGeom>
          <a:blipFill>
            <a:blip r:embed="rId6"/>
            <a:stretch>
              <a:fillRect l="-2497" t="-4017" r="-1869" b="0"/>
            </a:stretch>
          </a:blipFill>
        </p:spPr>
      </p:sp>
      <p:sp>
        <p:nvSpPr>
          <p:cNvPr name="Freeform 8" id="8"/>
          <p:cNvSpPr/>
          <p:nvPr/>
        </p:nvSpPr>
        <p:spPr>
          <a:xfrm flipH="false" flipV="false" rot="0">
            <a:off x="7847416" y="646195"/>
            <a:ext cx="3711455" cy="3750116"/>
          </a:xfrm>
          <a:custGeom>
            <a:avLst/>
            <a:gdLst/>
            <a:ahLst/>
            <a:cxnLst/>
            <a:rect r="r" b="b" t="t" l="l"/>
            <a:pathLst>
              <a:path h="3750116" w="3711455">
                <a:moveTo>
                  <a:pt x="0" y="0"/>
                </a:moveTo>
                <a:lnTo>
                  <a:pt x="3711455" y="0"/>
                </a:lnTo>
                <a:lnTo>
                  <a:pt x="3711455" y="3750117"/>
                </a:lnTo>
                <a:lnTo>
                  <a:pt x="0" y="3750117"/>
                </a:lnTo>
                <a:lnTo>
                  <a:pt x="0" y="0"/>
                </a:lnTo>
                <a:close/>
              </a:path>
            </a:pathLst>
          </a:custGeom>
          <a:blipFill>
            <a:blip r:embed="rId7"/>
            <a:stretch>
              <a:fillRect l="0" t="0" r="0" b="0"/>
            </a:stretch>
          </a:blipFill>
        </p:spPr>
      </p:sp>
      <p:sp>
        <p:nvSpPr>
          <p:cNvPr name="Freeform 9" id="9"/>
          <p:cNvSpPr/>
          <p:nvPr/>
        </p:nvSpPr>
        <p:spPr>
          <a:xfrm flipH="false" flipV="false" rot="0">
            <a:off x="1865210" y="5308000"/>
            <a:ext cx="14557580" cy="4502344"/>
          </a:xfrm>
          <a:custGeom>
            <a:avLst/>
            <a:gdLst/>
            <a:ahLst/>
            <a:cxnLst/>
            <a:rect r="r" b="b" t="t" l="l"/>
            <a:pathLst>
              <a:path h="4502344" w="14557580">
                <a:moveTo>
                  <a:pt x="0" y="0"/>
                </a:moveTo>
                <a:lnTo>
                  <a:pt x="14557580" y="0"/>
                </a:lnTo>
                <a:lnTo>
                  <a:pt x="14557580" y="4502344"/>
                </a:lnTo>
                <a:lnTo>
                  <a:pt x="0" y="4502344"/>
                </a:lnTo>
                <a:lnTo>
                  <a:pt x="0" y="0"/>
                </a:lnTo>
                <a:close/>
              </a:path>
            </a:pathLst>
          </a:custGeom>
          <a:blipFill>
            <a:blip r:embed="rId8"/>
            <a:stretch>
              <a:fillRect l="0" t="0" r="0" b="0"/>
            </a:stretch>
          </a:blipFill>
        </p:spPr>
      </p:sp>
      <p:sp>
        <p:nvSpPr>
          <p:cNvPr name="TextBox 10" id="10"/>
          <p:cNvSpPr txBox="true"/>
          <p:nvPr/>
        </p:nvSpPr>
        <p:spPr>
          <a:xfrm rot="0">
            <a:off x="1028700" y="1019175"/>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11" id="11"/>
          <p:cNvSpPr txBox="true"/>
          <p:nvPr/>
        </p:nvSpPr>
        <p:spPr>
          <a:xfrm rot="-258351">
            <a:off x="712085" y="5169901"/>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
        <p:nvSpPr>
          <p:cNvPr name="TextBox 12" id="12"/>
          <p:cNvSpPr txBox="true"/>
          <p:nvPr/>
        </p:nvSpPr>
        <p:spPr>
          <a:xfrm rot="0">
            <a:off x="8651342" y="4439190"/>
            <a:ext cx="1929147" cy="362914"/>
          </a:xfrm>
          <a:prstGeom prst="rect">
            <a:avLst/>
          </a:prstGeom>
        </p:spPr>
        <p:txBody>
          <a:bodyPr anchor="t" rtlCol="false" tIns="0" lIns="0" bIns="0" rIns="0">
            <a:spAutoFit/>
          </a:bodyPr>
          <a:lstStyle/>
          <a:p>
            <a:pPr algn="ctr">
              <a:lnSpc>
                <a:spcPts val="2782"/>
              </a:lnSpc>
              <a:spcBef>
                <a:spcPct val="0"/>
              </a:spcBef>
            </a:pPr>
            <a:r>
              <a:rPr lang="en-US" sz="2318">
                <a:solidFill>
                  <a:srgbClr val="3553A0"/>
                </a:solidFill>
                <a:latin typeface="Anonymous Pro"/>
                <a:ea typeface="Anonymous Pro"/>
                <a:cs typeface="Anonymous Pro"/>
                <a:sym typeface="Anonymous Pro"/>
              </a:rPr>
              <a:t>TAMPAK DEPAN</a:t>
            </a:r>
          </a:p>
        </p:txBody>
      </p:sp>
      <p:sp>
        <p:nvSpPr>
          <p:cNvPr name="TextBox 13" id="13"/>
          <p:cNvSpPr txBox="true"/>
          <p:nvPr/>
        </p:nvSpPr>
        <p:spPr>
          <a:xfrm rot="0">
            <a:off x="12233826" y="4439190"/>
            <a:ext cx="2411492" cy="362914"/>
          </a:xfrm>
          <a:prstGeom prst="rect">
            <a:avLst/>
          </a:prstGeom>
        </p:spPr>
        <p:txBody>
          <a:bodyPr anchor="t" rtlCol="false" tIns="0" lIns="0" bIns="0" rIns="0">
            <a:spAutoFit/>
          </a:bodyPr>
          <a:lstStyle/>
          <a:p>
            <a:pPr algn="ctr">
              <a:lnSpc>
                <a:spcPts val="2782"/>
              </a:lnSpc>
              <a:spcBef>
                <a:spcPct val="0"/>
              </a:spcBef>
            </a:pPr>
            <a:r>
              <a:rPr lang="en-US" sz="2318">
                <a:solidFill>
                  <a:srgbClr val="3553A0"/>
                </a:solidFill>
                <a:latin typeface="Anonymous Pro"/>
                <a:ea typeface="Anonymous Pro"/>
                <a:cs typeface="Anonymous Pro"/>
                <a:sym typeface="Anonymous Pro"/>
              </a:rPr>
              <a:t>TAMPAK BELAKANG</a:t>
            </a:r>
          </a:p>
        </p:txBody>
      </p:sp>
      <p:sp>
        <p:nvSpPr>
          <p:cNvPr name="TextBox 14" id="14"/>
          <p:cNvSpPr txBox="true"/>
          <p:nvPr/>
        </p:nvSpPr>
        <p:spPr>
          <a:xfrm rot="0">
            <a:off x="1028700" y="2714625"/>
            <a:ext cx="4942384" cy="476250"/>
          </a:xfrm>
          <a:prstGeom prst="rect">
            <a:avLst/>
          </a:prstGeom>
        </p:spPr>
        <p:txBody>
          <a:bodyPr anchor="t" rtlCol="false" tIns="0" lIns="0" bIns="0" rIns="0">
            <a:spAutoFit/>
          </a:bodyPr>
          <a:lstStyle/>
          <a:p>
            <a:pPr algn="ctr">
              <a:lnSpc>
                <a:spcPts val="3719"/>
              </a:lnSpc>
              <a:spcBef>
                <a:spcPct val="0"/>
              </a:spcBef>
            </a:pPr>
            <a:r>
              <a:rPr lang="en-US" b="true" sz="3099">
                <a:solidFill>
                  <a:srgbClr val="3553A0"/>
                </a:solidFill>
                <a:latin typeface="Anonymous Pro Bold"/>
                <a:ea typeface="Anonymous Pro Bold"/>
                <a:cs typeface="Anonymous Pro Bold"/>
                <a:sym typeface="Anonymous Pro Bold"/>
              </a:rPr>
              <a:t>METODE PARASITIK BATANG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sp>
        <p:nvSpPr>
          <p:cNvPr name="Freeform 8" id="8"/>
          <p:cNvSpPr/>
          <p:nvPr/>
        </p:nvSpPr>
        <p:spPr>
          <a:xfrm flipH="false" flipV="false" rot="0">
            <a:off x="1019962" y="2398580"/>
            <a:ext cx="3955241" cy="3185573"/>
          </a:xfrm>
          <a:custGeom>
            <a:avLst/>
            <a:gdLst/>
            <a:ahLst/>
            <a:cxnLst/>
            <a:rect r="r" b="b" t="t" l="l"/>
            <a:pathLst>
              <a:path h="3185573" w="3955241">
                <a:moveTo>
                  <a:pt x="0" y="0"/>
                </a:moveTo>
                <a:lnTo>
                  <a:pt x="3955241" y="0"/>
                </a:lnTo>
                <a:lnTo>
                  <a:pt x="3955241" y="3185573"/>
                </a:lnTo>
                <a:lnTo>
                  <a:pt x="0" y="3185573"/>
                </a:lnTo>
                <a:lnTo>
                  <a:pt x="0" y="0"/>
                </a:lnTo>
                <a:close/>
              </a:path>
            </a:pathLst>
          </a:custGeom>
          <a:blipFill>
            <a:blip r:embed="rId10"/>
            <a:stretch>
              <a:fillRect l="0" t="0" r="0" b="0"/>
            </a:stretch>
          </a:blipFill>
        </p:spPr>
      </p:sp>
      <p:sp>
        <p:nvSpPr>
          <p:cNvPr name="Freeform 9" id="9"/>
          <p:cNvSpPr/>
          <p:nvPr/>
        </p:nvSpPr>
        <p:spPr>
          <a:xfrm flipH="false" flipV="false" rot="0">
            <a:off x="4975203" y="2398580"/>
            <a:ext cx="3202992" cy="3182847"/>
          </a:xfrm>
          <a:custGeom>
            <a:avLst/>
            <a:gdLst/>
            <a:ahLst/>
            <a:cxnLst/>
            <a:rect r="r" b="b" t="t" l="l"/>
            <a:pathLst>
              <a:path h="3182847" w="3202992">
                <a:moveTo>
                  <a:pt x="0" y="0"/>
                </a:moveTo>
                <a:lnTo>
                  <a:pt x="3202991" y="0"/>
                </a:lnTo>
                <a:lnTo>
                  <a:pt x="3202991" y="3182847"/>
                </a:lnTo>
                <a:lnTo>
                  <a:pt x="0" y="3182847"/>
                </a:lnTo>
                <a:lnTo>
                  <a:pt x="0" y="0"/>
                </a:lnTo>
                <a:close/>
              </a:path>
            </a:pathLst>
          </a:custGeom>
          <a:blipFill>
            <a:blip r:embed="rId11"/>
            <a:stretch>
              <a:fillRect l="0" t="0" r="0" b="0"/>
            </a:stretch>
          </a:blipFill>
        </p:spPr>
      </p:sp>
      <p:sp>
        <p:nvSpPr>
          <p:cNvPr name="Freeform 10" id="10"/>
          <p:cNvSpPr/>
          <p:nvPr/>
        </p:nvSpPr>
        <p:spPr>
          <a:xfrm flipH="false" flipV="false" rot="0">
            <a:off x="9296400" y="2398580"/>
            <a:ext cx="4107712" cy="3185573"/>
          </a:xfrm>
          <a:custGeom>
            <a:avLst/>
            <a:gdLst/>
            <a:ahLst/>
            <a:cxnLst/>
            <a:rect r="r" b="b" t="t" l="l"/>
            <a:pathLst>
              <a:path h="3185573" w="4107712">
                <a:moveTo>
                  <a:pt x="0" y="0"/>
                </a:moveTo>
                <a:lnTo>
                  <a:pt x="4107712" y="0"/>
                </a:lnTo>
                <a:lnTo>
                  <a:pt x="4107712" y="3185573"/>
                </a:lnTo>
                <a:lnTo>
                  <a:pt x="0" y="3185573"/>
                </a:lnTo>
                <a:lnTo>
                  <a:pt x="0" y="0"/>
                </a:lnTo>
                <a:close/>
              </a:path>
            </a:pathLst>
          </a:custGeom>
          <a:blipFill>
            <a:blip r:embed="rId12"/>
            <a:stretch>
              <a:fillRect l="0" t="0" r="0" b="0"/>
            </a:stretch>
          </a:blipFill>
        </p:spPr>
      </p:sp>
      <p:sp>
        <p:nvSpPr>
          <p:cNvPr name="Freeform 11" id="11"/>
          <p:cNvSpPr/>
          <p:nvPr/>
        </p:nvSpPr>
        <p:spPr>
          <a:xfrm flipH="false" flipV="false" rot="0">
            <a:off x="13404112" y="2395855"/>
            <a:ext cx="3226413" cy="3185573"/>
          </a:xfrm>
          <a:custGeom>
            <a:avLst/>
            <a:gdLst/>
            <a:ahLst/>
            <a:cxnLst/>
            <a:rect r="r" b="b" t="t" l="l"/>
            <a:pathLst>
              <a:path h="3185573" w="3226413">
                <a:moveTo>
                  <a:pt x="0" y="0"/>
                </a:moveTo>
                <a:lnTo>
                  <a:pt x="3226414" y="0"/>
                </a:lnTo>
                <a:lnTo>
                  <a:pt x="3226414" y="3185572"/>
                </a:lnTo>
                <a:lnTo>
                  <a:pt x="0" y="3185572"/>
                </a:lnTo>
                <a:lnTo>
                  <a:pt x="0" y="0"/>
                </a:lnTo>
                <a:close/>
              </a:path>
            </a:pathLst>
          </a:custGeom>
          <a:blipFill>
            <a:blip r:embed="rId13"/>
            <a:stretch>
              <a:fillRect l="0" t="0" r="0" b="0"/>
            </a:stretch>
          </a:blipFill>
        </p:spPr>
      </p:sp>
      <p:sp>
        <p:nvSpPr>
          <p:cNvPr name="Freeform 12" id="12"/>
          <p:cNvSpPr/>
          <p:nvPr/>
        </p:nvSpPr>
        <p:spPr>
          <a:xfrm flipH="false" flipV="false" rot="0">
            <a:off x="3134580" y="5857064"/>
            <a:ext cx="3816142" cy="4147980"/>
          </a:xfrm>
          <a:custGeom>
            <a:avLst/>
            <a:gdLst/>
            <a:ahLst/>
            <a:cxnLst/>
            <a:rect r="r" b="b" t="t" l="l"/>
            <a:pathLst>
              <a:path h="4147980" w="3816142">
                <a:moveTo>
                  <a:pt x="0" y="0"/>
                </a:moveTo>
                <a:lnTo>
                  <a:pt x="3816142" y="0"/>
                </a:lnTo>
                <a:lnTo>
                  <a:pt x="3816142" y="4147980"/>
                </a:lnTo>
                <a:lnTo>
                  <a:pt x="0" y="4147980"/>
                </a:lnTo>
                <a:lnTo>
                  <a:pt x="0" y="0"/>
                </a:lnTo>
                <a:close/>
              </a:path>
            </a:pathLst>
          </a:custGeom>
          <a:blipFill>
            <a:blip r:embed="rId14"/>
            <a:stretch>
              <a:fillRect l="0" t="0" r="0" b="0"/>
            </a:stretch>
          </a:blipFill>
        </p:spPr>
      </p:sp>
      <p:sp>
        <p:nvSpPr>
          <p:cNvPr name="Freeform 13" id="13"/>
          <p:cNvSpPr/>
          <p:nvPr/>
        </p:nvSpPr>
        <p:spPr>
          <a:xfrm flipH="false" flipV="false" rot="0">
            <a:off x="11939748" y="5857064"/>
            <a:ext cx="3847402" cy="4147980"/>
          </a:xfrm>
          <a:custGeom>
            <a:avLst/>
            <a:gdLst/>
            <a:ahLst/>
            <a:cxnLst/>
            <a:rect r="r" b="b" t="t" l="l"/>
            <a:pathLst>
              <a:path h="4147980" w="3847402">
                <a:moveTo>
                  <a:pt x="0" y="0"/>
                </a:moveTo>
                <a:lnTo>
                  <a:pt x="3847402" y="0"/>
                </a:lnTo>
                <a:lnTo>
                  <a:pt x="3847402" y="4147980"/>
                </a:lnTo>
                <a:lnTo>
                  <a:pt x="0" y="4147980"/>
                </a:lnTo>
                <a:lnTo>
                  <a:pt x="0" y="0"/>
                </a:lnTo>
                <a:close/>
              </a:path>
            </a:pathLst>
          </a:custGeom>
          <a:blipFill>
            <a:blip r:embed="rId15"/>
            <a:stretch>
              <a:fillRect l="0" t="0" r="0" b="0"/>
            </a:stretch>
          </a:blipFill>
        </p:spPr>
      </p:sp>
      <p:sp>
        <p:nvSpPr>
          <p:cNvPr name="TextBox 14" id="14"/>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5" id="15"/>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6" id="16"/>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7" id="17"/>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8" id="18"/>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9" id="19"/>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0" id="20"/>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1" id="21"/>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0">
            <a:off x="6496350" y="68722"/>
            <a:ext cx="7307461"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GABUNGAN SLOT BATANG DAN SEGITIGA</a:t>
            </a:r>
            <a:r>
              <a:rPr lang="en-US" b="true" sz="3100">
                <a:solidFill>
                  <a:srgbClr val="3553A0"/>
                </a:solidFill>
                <a:latin typeface="Anonymous Pro Bold"/>
                <a:ea typeface="Anonymous Pro Bold"/>
                <a:cs typeface="Anonymous Pro Bold"/>
                <a:sym typeface="Anonymous Pro Bold"/>
              </a:rPr>
              <a: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1680250" y="607188"/>
            <a:ext cx="3759716" cy="3820513"/>
          </a:xfrm>
          <a:custGeom>
            <a:avLst/>
            <a:gdLst/>
            <a:ahLst/>
            <a:cxnLst/>
            <a:rect r="r" b="b" t="t" l="l"/>
            <a:pathLst>
              <a:path h="3820513" w="3759716">
                <a:moveTo>
                  <a:pt x="0" y="0"/>
                </a:moveTo>
                <a:lnTo>
                  <a:pt x="3759716" y="0"/>
                </a:lnTo>
                <a:lnTo>
                  <a:pt x="3759716" y="3820513"/>
                </a:lnTo>
                <a:lnTo>
                  <a:pt x="0" y="3820513"/>
                </a:lnTo>
                <a:lnTo>
                  <a:pt x="0" y="0"/>
                </a:lnTo>
                <a:close/>
              </a:path>
            </a:pathLst>
          </a:custGeom>
          <a:blipFill>
            <a:blip r:embed="rId6"/>
            <a:stretch>
              <a:fillRect l="-2497" t="-4017" r="-1869" b="0"/>
            </a:stretch>
          </a:blipFill>
        </p:spPr>
      </p:sp>
      <p:sp>
        <p:nvSpPr>
          <p:cNvPr name="Freeform 8" id="8"/>
          <p:cNvSpPr/>
          <p:nvPr/>
        </p:nvSpPr>
        <p:spPr>
          <a:xfrm flipH="false" flipV="false" rot="0">
            <a:off x="7746220" y="607188"/>
            <a:ext cx="3840943" cy="3820513"/>
          </a:xfrm>
          <a:custGeom>
            <a:avLst/>
            <a:gdLst/>
            <a:ahLst/>
            <a:cxnLst/>
            <a:rect r="r" b="b" t="t" l="l"/>
            <a:pathLst>
              <a:path h="3820513" w="3840943">
                <a:moveTo>
                  <a:pt x="0" y="0"/>
                </a:moveTo>
                <a:lnTo>
                  <a:pt x="3840943" y="0"/>
                </a:lnTo>
                <a:lnTo>
                  <a:pt x="3840943" y="3820513"/>
                </a:lnTo>
                <a:lnTo>
                  <a:pt x="0" y="3820513"/>
                </a:lnTo>
                <a:lnTo>
                  <a:pt x="0" y="0"/>
                </a:lnTo>
                <a:close/>
              </a:path>
            </a:pathLst>
          </a:custGeom>
          <a:blipFill>
            <a:blip r:embed="rId7"/>
            <a:stretch>
              <a:fillRect l="0" t="0" r="0" b="0"/>
            </a:stretch>
          </a:blipFill>
        </p:spPr>
      </p:sp>
      <p:sp>
        <p:nvSpPr>
          <p:cNvPr name="Freeform 9" id="9"/>
          <p:cNvSpPr/>
          <p:nvPr/>
        </p:nvSpPr>
        <p:spPr>
          <a:xfrm flipH="false" flipV="false" rot="0">
            <a:off x="1996414" y="5374675"/>
            <a:ext cx="14295171" cy="4404192"/>
          </a:xfrm>
          <a:custGeom>
            <a:avLst/>
            <a:gdLst/>
            <a:ahLst/>
            <a:cxnLst/>
            <a:rect r="r" b="b" t="t" l="l"/>
            <a:pathLst>
              <a:path h="4404192" w="14295171">
                <a:moveTo>
                  <a:pt x="0" y="0"/>
                </a:moveTo>
                <a:lnTo>
                  <a:pt x="14295172" y="0"/>
                </a:lnTo>
                <a:lnTo>
                  <a:pt x="14295172" y="4404192"/>
                </a:lnTo>
                <a:lnTo>
                  <a:pt x="0" y="4404192"/>
                </a:lnTo>
                <a:lnTo>
                  <a:pt x="0" y="0"/>
                </a:lnTo>
                <a:close/>
              </a:path>
            </a:pathLst>
          </a:custGeom>
          <a:blipFill>
            <a:blip r:embed="rId8"/>
            <a:stretch>
              <a:fillRect l="0" t="0" r="0" b="0"/>
            </a:stretch>
          </a:blipFill>
        </p:spPr>
      </p:sp>
      <p:sp>
        <p:nvSpPr>
          <p:cNvPr name="TextBox 10" id="10"/>
          <p:cNvSpPr txBox="true"/>
          <p:nvPr/>
        </p:nvSpPr>
        <p:spPr>
          <a:xfrm rot="0">
            <a:off x="1028700" y="1019175"/>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11" id="11"/>
          <p:cNvSpPr txBox="true"/>
          <p:nvPr/>
        </p:nvSpPr>
        <p:spPr>
          <a:xfrm rot="-258351">
            <a:off x="712085" y="5169901"/>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
        <p:nvSpPr>
          <p:cNvPr name="TextBox 12" id="12"/>
          <p:cNvSpPr txBox="true"/>
          <p:nvPr/>
        </p:nvSpPr>
        <p:spPr>
          <a:xfrm rot="0">
            <a:off x="1028700" y="2714625"/>
            <a:ext cx="5372199" cy="476250"/>
          </a:xfrm>
          <a:prstGeom prst="rect">
            <a:avLst/>
          </a:prstGeom>
        </p:spPr>
        <p:txBody>
          <a:bodyPr anchor="t" rtlCol="false" tIns="0" lIns="0" bIns="0" rIns="0">
            <a:spAutoFit/>
          </a:bodyPr>
          <a:lstStyle/>
          <a:p>
            <a:pPr algn="ctr">
              <a:lnSpc>
                <a:spcPts val="3719"/>
              </a:lnSpc>
              <a:spcBef>
                <a:spcPct val="0"/>
              </a:spcBef>
            </a:pPr>
            <a:r>
              <a:rPr lang="en-US" b="true" sz="3099">
                <a:solidFill>
                  <a:srgbClr val="3553A0"/>
                </a:solidFill>
                <a:latin typeface="Anonymous Pro Bold"/>
                <a:ea typeface="Anonymous Pro Bold"/>
                <a:cs typeface="Anonymous Pro Bold"/>
                <a:sym typeface="Anonymous Pro Bold"/>
              </a:rPr>
              <a:t>METODE PARASITIK SEGITIGA</a:t>
            </a:r>
          </a:p>
        </p:txBody>
      </p:sp>
      <p:sp>
        <p:nvSpPr>
          <p:cNvPr name="TextBox 13" id="13"/>
          <p:cNvSpPr txBox="true"/>
          <p:nvPr/>
        </p:nvSpPr>
        <p:spPr>
          <a:xfrm rot="0">
            <a:off x="8627003" y="4471563"/>
            <a:ext cx="1965361" cy="369548"/>
          </a:xfrm>
          <a:prstGeom prst="rect">
            <a:avLst/>
          </a:prstGeom>
        </p:spPr>
        <p:txBody>
          <a:bodyPr anchor="t" rtlCol="false" tIns="0" lIns="0" bIns="0" rIns="0">
            <a:spAutoFit/>
          </a:bodyPr>
          <a:lstStyle/>
          <a:p>
            <a:pPr algn="ctr">
              <a:lnSpc>
                <a:spcPts val="2834"/>
              </a:lnSpc>
              <a:spcBef>
                <a:spcPct val="0"/>
              </a:spcBef>
            </a:pPr>
            <a:r>
              <a:rPr lang="en-US" sz="2362">
                <a:solidFill>
                  <a:srgbClr val="3553A0"/>
                </a:solidFill>
                <a:latin typeface="Anonymous Pro"/>
                <a:ea typeface="Anonymous Pro"/>
                <a:cs typeface="Anonymous Pro"/>
                <a:sym typeface="Anonymous Pro"/>
              </a:rPr>
              <a:t>TAMPAK DEPAN</a:t>
            </a:r>
          </a:p>
        </p:txBody>
      </p:sp>
      <p:sp>
        <p:nvSpPr>
          <p:cNvPr name="TextBox 14" id="14"/>
          <p:cNvSpPr txBox="true"/>
          <p:nvPr/>
        </p:nvSpPr>
        <p:spPr>
          <a:xfrm rot="0">
            <a:off x="12276737" y="4471563"/>
            <a:ext cx="2456760" cy="369548"/>
          </a:xfrm>
          <a:prstGeom prst="rect">
            <a:avLst/>
          </a:prstGeom>
        </p:spPr>
        <p:txBody>
          <a:bodyPr anchor="t" rtlCol="false" tIns="0" lIns="0" bIns="0" rIns="0">
            <a:spAutoFit/>
          </a:bodyPr>
          <a:lstStyle/>
          <a:p>
            <a:pPr algn="ctr">
              <a:lnSpc>
                <a:spcPts val="2834"/>
              </a:lnSpc>
              <a:spcBef>
                <a:spcPct val="0"/>
              </a:spcBef>
            </a:pPr>
            <a:r>
              <a:rPr lang="en-US" sz="2362">
                <a:solidFill>
                  <a:srgbClr val="3553A0"/>
                </a:solidFill>
                <a:latin typeface="Anonymous Pro"/>
                <a:ea typeface="Anonymous Pro"/>
                <a:cs typeface="Anonymous Pro"/>
                <a:sym typeface="Anonymous Pro"/>
              </a:rPr>
              <a:t>TAMPAK BELAKANG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sp>
        <p:nvSpPr>
          <p:cNvPr name="Freeform 8" id="8"/>
          <p:cNvSpPr/>
          <p:nvPr/>
        </p:nvSpPr>
        <p:spPr>
          <a:xfrm flipH="false" flipV="false" rot="0">
            <a:off x="5053585" y="2401306"/>
            <a:ext cx="2996625" cy="3182847"/>
          </a:xfrm>
          <a:custGeom>
            <a:avLst/>
            <a:gdLst/>
            <a:ahLst/>
            <a:cxnLst/>
            <a:rect r="r" b="b" t="t" l="l"/>
            <a:pathLst>
              <a:path h="3182847" w="2996625">
                <a:moveTo>
                  <a:pt x="0" y="0"/>
                </a:moveTo>
                <a:lnTo>
                  <a:pt x="2996626" y="0"/>
                </a:lnTo>
                <a:lnTo>
                  <a:pt x="2996626" y="3182847"/>
                </a:lnTo>
                <a:lnTo>
                  <a:pt x="0" y="3182847"/>
                </a:lnTo>
                <a:lnTo>
                  <a:pt x="0" y="0"/>
                </a:lnTo>
                <a:close/>
              </a:path>
            </a:pathLst>
          </a:custGeom>
          <a:blipFill>
            <a:blip r:embed="rId10"/>
            <a:stretch>
              <a:fillRect l="0" t="-2161" r="0" b="0"/>
            </a:stretch>
          </a:blipFill>
        </p:spPr>
      </p:sp>
      <p:sp>
        <p:nvSpPr>
          <p:cNvPr name="Freeform 9" id="9"/>
          <p:cNvSpPr/>
          <p:nvPr/>
        </p:nvSpPr>
        <p:spPr>
          <a:xfrm flipH="false" flipV="false" rot="0">
            <a:off x="8918061" y="2393524"/>
            <a:ext cx="4226193" cy="3185573"/>
          </a:xfrm>
          <a:custGeom>
            <a:avLst/>
            <a:gdLst/>
            <a:ahLst/>
            <a:cxnLst/>
            <a:rect r="r" b="b" t="t" l="l"/>
            <a:pathLst>
              <a:path h="3185573" w="4226193">
                <a:moveTo>
                  <a:pt x="0" y="0"/>
                </a:moveTo>
                <a:lnTo>
                  <a:pt x="4226193" y="0"/>
                </a:lnTo>
                <a:lnTo>
                  <a:pt x="4226193" y="3185573"/>
                </a:lnTo>
                <a:lnTo>
                  <a:pt x="0" y="3185573"/>
                </a:lnTo>
                <a:lnTo>
                  <a:pt x="0" y="0"/>
                </a:lnTo>
                <a:close/>
              </a:path>
            </a:pathLst>
          </a:custGeom>
          <a:blipFill>
            <a:blip r:embed="rId11"/>
            <a:stretch>
              <a:fillRect l="0" t="0" r="0" b="0"/>
            </a:stretch>
          </a:blipFill>
        </p:spPr>
      </p:sp>
      <p:sp>
        <p:nvSpPr>
          <p:cNvPr name="Freeform 10" id="10"/>
          <p:cNvSpPr/>
          <p:nvPr/>
        </p:nvSpPr>
        <p:spPr>
          <a:xfrm flipH="false" flipV="false" rot="0">
            <a:off x="13144254" y="2393524"/>
            <a:ext cx="3016801" cy="3185573"/>
          </a:xfrm>
          <a:custGeom>
            <a:avLst/>
            <a:gdLst/>
            <a:ahLst/>
            <a:cxnLst/>
            <a:rect r="r" b="b" t="t" l="l"/>
            <a:pathLst>
              <a:path h="3185573" w="3016801">
                <a:moveTo>
                  <a:pt x="0" y="0"/>
                </a:moveTo>
                <a:lnTo>
                  <a:pt x="3016801" y="0"/>
                </a:lnTo>
                <a:lnTo>
                  <a:pt x="3016801" y="3185573"/>
                </a:lnTo>
                <a:lnTo>
                  <a:pt x="0" y="3185573"/>
                </a:lnTo>
                <a:lnTo>
                  <a:pt x="0" y="0"/>
                </a:lnTo>
                <a:close/>
              </a:path>
            </a:pathLst>
          </a:custGeom>
          <a:blipFill>
            <a:blip r:embed="rId12"/>
            <a:stretch>
              <a:fillRect l="0" t="0" r="0" b="0"/>
            </a:stretch>
          </a:blipFill>
        </p:spPr>
      </p:sp>
      <p:sp>
        <p:nvSpPr>
          <p:cNvPr name="Freeform 11" id="11"/>
          <p:cNvSpPr/>
          <p:nvPr/>
        </p:nvSpPr>
        <p:spPr>
          <a:xfrm flipH="false" flipV="false" rot="0">
            <a:off x="697802" y="2393524"/>
            <a:ext cx="4355783" cy="3185573"/>
          </a:xfrm>
          <a:custGeom>
            <a:avLst/>
            <a:gdLst/>
            <a:ahLst/>
            <a:cxnLst/>
            <a:rect r="r" b="b" t="t" l="l"/>
            <a:pathLst>
              <a:path h="3185573" w="4355783">
                <a:moveTo>
                  <a:pt x="0" y="0"/>
                </a:moveTo>
                <a:lnTo>
                  <a:pt x="4355783" y="0"/>
                </a:lnTo>
                <a:lnTo>
                  <a:pt x="4355783" y="3185573"/>
                </a:lnTo>
                <a:lnTo>
                  <a:pt x="0" y="3185573"/>
                </a:lnTo>
                <a:lnTo>
                  <a:pt x="0" y="0"/>
                </a:lnTo>
                <a:close/>
              </a:path>
            </a:pathLst>
          </a:custGeom>
          <a:blipFill>
            <a:blip r:embed="rId13"/>
            <a:stretch>
              <a:fillRect l="0" t="0" r="0" b="0"/>
            </a:stretch>
          </a:blipFill>
        </p:spPr>
      </p:sp>
      <p:sp>
        <p:nvSpPr>
          <p:cNvPr name="Freeform 12" id="12"/>
          <p:cNvSpPr/>
          <p:nvPr/>
        </p:nvSpPr>
        <p:spPr>
          <a:xfrm flipH="false" flipV="false" rot="0">
            <a:off x="3134580" y="5857064"/>
            <a:ext cx="4125680" cy="4147980"/>
          </a:xfrm>
          <a:custGeom>
            <a:avLst/>
            <a:gdLst/>
            <a:ahLst/>
            <a:cxnLst/>
            <a:rect r="r" b="b" t="t" l="l"/>
            <a:pathLst>
              <a:path h="4147980" w="4125680">
                <a:moveTo>
                  <a:pt x="0" y="0"/>
                </a:moveTo>
                <a:lnTo>
                  <a:pt x="4125679" y="0"/>
                </a:lnTo>
                <a:lnTo>
                  <a:pt x="4125679" y="4147980"/>
                </a:lnTo>
                <a:lnTo>
                  <a:pt x="0" y="4147980"/>
                </a:lnTo>
                <a:lnTo>
                  <a:pt x="0" y="0"/>
                </a:lnTo>
                <a:close/>
              </a:path>
            </a:pathLst>
          </a:custGeom>
          <a:blipFill>
            <a:blip r:embed="rId14"/>
            <a:stretch>
              <a:fillRect l="0" t="0" r="0" b="0"/>
            </a:stretch>
          </a:blipFill>
        </p:spPr>
      </p:sp>
      <p:sp>
        <p:nvSpPr>
          <p:cNvPr name="Freeform 13" id="13"/>
          <p:cNvSpPr/>
          <p:nvPr/>
        </p:nvSpPr>
        <p:spPr>
          <a:xfrm flipH="false" flipV="false" rot="0">
            <a:off x="11939748" y="5857064"/>
            <a:ext cx="3954150" cy="4147980"/>
          </a:xfrm>
          <a:custGeom>
            <a:avLst/>
            <a:gdLst/>
            <a:ahLst/>
            <a:cxnLst/>
            <a:rect r="r" b="b" t="t" l="l"/>
            <a:pathLst>
              <a:path h="4147980" w="3954150">
                <a:moveTo>
                  <a:pt x="0" y="0"/>
                </a:moveTo>
                <a:lnTo>
                  <a:pt x="3954150" y="0"/>
                </a:lnTo>
                <a:lnTo>
                  <a:pt x="3954150" y="4147980"/>
                </a:lnTo>
                <a:lnTo>
                  <a:pt x="0" y="4147980"/>
                </a:lnTo>
                <a:lnTo>
                  <a:pt x="0" y="0"/>
                </a:lnTo>
                <a:close/>
              </a:path>
            </a:pathLst>
          </a:custGeom>
          <a:blipFill>
            <a:blip r:embed="rId15"/>
            <a:stretch>
              <a:fillRect l="0" t="0" r="0" b="0"/>
            </a:stretch>
          </a:blipFill>
        </p:spPr>
      </p:sp>
      <p:sp>
        <p:nvSpPr>
          <p:cNvPr name="TextBox 14" id="14"/>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5" id="15"/>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6" id="16"/>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7" id="17"/>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8" id="18"/>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9" id="19"/>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0" id="20"/>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1" id="21"/>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0">
            <a:off x="6496350" y="68722"/>
            <a:ext cx="7307461"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GABUNGAN SLOT BATANG DAN SEGITIGA</a:t>
            </a:r>
            <a:r>
              <a:rPr lang="en-US" b="true" sz="3100">
                <a:solidFill>
                  <a:srgbClr val="3553A0"/>
                </a:solidFill>
                <a:latin typeface="Anonymous Pro Bold"/>
                <a:ea typeface="Anonymous Pro Bold"/>
                <a:cs typeface="Anonymous Pro Bold"/>
                <a:sym typeface="Anonymous Pro Bold"/>
              </a:rPr>
              <a:t>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grpSp>
        <p:nvGrpSpPr>
          <p:cNvPr name="Group 4" id="4"/>
          <p:cNvGrpSpPr/>
          <p:nvPr/>
        </p:nvGrpSpPr>
        <p:grpSpPr>
          <a:xfrm rot="0">
            <a:off x="16232324" y="363665"/>
            <a:ext cx="2600971" cy="568116"/>
            <a:chOff x="0" y="0"/>
            <a:chExt cx="3467961" cy="757488"/>
          </a:xfrm>
        </p:grpSpPr>
        <p:sp>
          <p:nvSpPr>
            <p:cNvPr name="Freeform 5" id="5"/>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1702143" y="656061"/>
            <a:ext cx="3739999" cy="3800477"/>
          </a:xfrm>
          <a:custGeom>
            <a:avLst/>
            <a:gdLst/>
            <a:ahLst/>
            <a:cxnLst/>
            <a:rect r="r" b="b" t="t" l="l"/>
            <a:pathLst>
              <a:path h="3800477" w="3739999">
                <a:moveTo>
                  <a:pt x="0" y="0"/>
                </a:moveTo>
                <a:lnTo>
                  <a:pt x="3739999" y="0"/>
                </a:lnTo>
                <a:lnTo>
                  <a:pt x="3739999" y="3800477"/>
                </a:lnTo>
                <a:lnTo>
                  <a:pt x="0" y="3800477"/>
                </a:lnTo>
                <a:lnTo>
                  <a:pt x="0" y="0"/>
                </a:lnTo>
                <a:close/>
              </a:path>
            </a:pathLst>
          </a:custGeom>
          <a:blipFill>
            <a:blip r:embed="rId6"/>
            <a:stretch>
              <a:fillRect l="-2497" t="-4017" r="-1869" b="0"/>
            </a:stretch>
          </a:blipFill>
        </p:spPr>
      </p:sp>
      <p:sp>
        <p:nvSpPr>
          <p:cNvPr name="Freeform 8" id="8"/>
          <p:cNvSpPr/>
          <p:nvPr/>
        </p:nvSpPr>
        <p:spPr>
          <a:xfrm flipH="false" flipV="false" rot="0">
            <a:off x="7744044" y="656061"/>
            <a:ext cx="3842471" cy="3800477"/>
          </a:xfrm>
          <a:custGeom>
            <a:avLst/>
            <a:gdLst/>
            <a:ahLst/>
            <a:cxnLst/>
            <a:rect r="r" b="b" t="t" l="l"/>
            <a:pathLst>
              <a:path h="3800477" w="3842471">
                <a:moveTo>
                  <a:pt x="0" y="0"/>
                </a:moveTo>
                <a:lnTo>
                  <a:pt x="3842471" y="0"/>
                </a:lnTo>
                <a:lnTo>
                  <a:pt x="3842471" y="3800477"/>
                </a:lnTo>
                <a:lnTo>
                  <a:pt x="0" y="3800477"/>
                </a:lnTo>
                <a:lnTo>
                  <a:pt x="0" y="0"/>
                </a:lnTo>
                <a:close/>
              </a:path>
            </a:pathLst>
          </a:custGeom>
          <a:blipFill>
            <a:blip r:embed="rId7"/>
            <a:stretch>
              <a:fillRect l="0" t="0" r="0" b="0"/>
            </a:stretch>
          </a:blipFill>
        </p:spPr>
      </p:sp>
      <p:sp>
        <p:nvSpPr>
          <p:cNvPr name="Freeform 9" id="9"/>
          <p:cNvSpPr/>
          <p:nvPr/>
        </p:nvSpPr>
        <p:spPr>
          <a:xfrm flipH="false" flipV="false" rot="0">
            <a:off x="1973266" y="5374675"/>
            <a:ext cx="14386112" cy="4407013"/>
          </a:xfrm>
          <a:custGeom>
            <a:avLst/>
            <a:gdLst/>
            <a:ahLst/>
            <a:cxnLst/>
            <a:rect r="r" b="b" t="t" l="l"/>
            <a:pathLst>
              <a:path h="4407013" w="14386112">
                <a:moveTo>
                  <a:pt x="0" y="0"/>
                </a:moveTo>
                <a:lnTo>
                  <a:pt x="14386112" y="0"/>
                </a:lnTo>
                <a:lnTo>
                  <a:pt x="14386112" y="4407013"/>
                </a:lnTo>
                <a:lnTo>
                  <a:pt x="0" y="4407013"/>
                </a:lnTo>
                <a:lnTo>
                  <a:pt x="0" y="0"/>
                </a:lnTo>
                <a:close/>
              </a:path>
            </a:pathLst>
          </a:custGeom>
          <a:blipFill>
            <a:blip r:embed="rId8"/>
            <a:stretch>
              <a:fillRect l="0" t="0" r="0" b="0"/>
            </a:stretch>
          </a:blipFill>
        </p:spPr>
      </p:sp>
      <p:sp>
        <p:nvSpPr>
          <p:cNvPr name="TextBox 10" id="10"/>
          <p:cNvSpPr txBox="true"/>
          <p:nvPr/>
        </p:nvSpPr>
        <p:spPr>
          <a:xfrm rot="0">
            <a:off x="1028700" y="1019175"/>
            <a:ext cx="5925161" cy="1704975"/>
          </a:xfrm>
          <a:prstGeom prst="rect">
            <a:avLst/>
          </a:prstGeom>
        </p:spPr>
        <p:txBody>
          <a:bodyPr anchor="t" rtlCol="false" tIns="0" lIns="0" bIns="0" rIns="0">
            <a:spAutoFit/>
          </a:bodyPr>
          <a:lstStyle/>
          <a:p>
            <a:pPr algn="l">
              <a:lnSpc>
                <a:spcPts val="6700"/>
              </a:lnSpc>
            </a:pPr>
            <a:r>
              <a:rPr lang="en-US" sz="5583">
                <a:solidFill>
                  <a:srgbClr val="3553A0"/>
                </a:solidFill>
                <a:latin typeface="Pluma"/>
                <a:ea typeface="Pluma"/>
                <a:cs typeface="Pluma"/>
                <a:sym typeface="Pluma"/>
              </a:rPr>
              <a:t>DESAIN ANTENA </a:t>
            </a:r>
          </a:p>
          <a:p>
            <a:pPr algn="l" marL="0" indent="0" lvl="0">
              <a:lnSpc>
                <a:spcPts val="6700"/>
              </a:lnSpc>
              <a:spcBef>
                <a:spcPct val="0"/>
              </a:spcBef>
            </a:pPr>
            <a:r>
              <a:rPr lang="en-US" sz="5583">
                <a:solidFill>
                  <a:srgbClr val="3553A0"/>
                </a:solidFill>
                <a:latin typeface="Pluma"/>
                <a:ea typeface="Pluma"/>
                <a:cs typeface="Pluma"/>
                <a:sym typeface="Pluma"/>
              </a:rPr>
              <a:t>OPTIMASI</a:t>
            </a:r>
            <a:r>
              <a:rPr lang="en-US" sz="5583">
                <a:solidFill>
                  <a:srgbClr val="3553A0"/>
                </a:solidFill>
                <a:latin typeface="Pluma"/>
                <a:ea typeface="Pluma"/>
                <a:cs typeface="Pluma"/>
                <a:sym typeface="Pluma"/>
              </a:rPr>
              <a:t> (Simulasi)</a:t>
            </a:r>
          </a:p>
        </p:txBody>
      </p:sp>
      <p:sp>
        <p:nvSpPr>
          <p:cNvPr name="TextBox 11" id="11"/>
          <p:cNvSpPr txBox="true"/>
          <p:nvPr/>
        </p:nvSpPr>
        <p:spPr>
          <a:xfrm rot="-258351">
            <a:off x="712085" y="5169901"/>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
        <p:nvSpPr>
          <p:cNvPr name="TextBox 12" id="12"/>
          <p:cNvSpPr txBox="true"/>
          <p:nvPr/>
        </p:nvSpPr>
        <p:spPr>
          <a:xfrm rot="0">
            <a:off x="8664908" y="4500120"/>
            <a:ext cx="1955054" cy="367660"/>
          </a:xfrm>
          <a:prstGeom prst="rect">
            <a:avLst/>
          </a:prstGeom>
        </p:spPr>
        <p:txBody>
          <a:bodyPr anchor="t" rtlCol="false" tIns="0" lIns="0" bIns="0" rIns="0">
            <a:spAutoFit/>
          </a:bodyPr>
          <a:lstStyle/>
          <a:p>
            <a:pPr algn="ctr">
              <a:lnSpc>
                <a:spcPts val="2819"/>
              </a:lnSpc>
              <a:spcBef>
                <a:spcPct val="0"/>
              </a:spcBef>
            </a:pPr>
            <a:r>
              <a:rPr lang="en-US" sz="2349">
                <a:solidFill>
                  <a:srgbClr val="3553A0"/>
                </a:solidFill>
                <a:latin typeface="Anonymous Pro"/>
                <a:ea typeface="Anonymous Pro"/>
                <a:cs typeface="Anonymous Pro"/>
                <a:sym typeface="Anonymous Pro"/>
              </a:rPr>
              <a:t>TAMPAK DEPAN</a:t>
            </a:r>
          </a:p>
        </p:txBody>
      </p:sp>
      <p:sp>
        <p:nvSpPr>
          <p:cNvPr name="TextBox 13" id="13"/>
          <p:cNvSpPr txBox="true"/>
          <p:nvPr/>
        </p:nvSpPr>
        <p:spPr>
          <a:xfrm rot="0">
            <a:off x="12295502" y="4500120"/>
            <a:ext cx="2443876" cy="367660"/>
          </a:xfrm>
          <a:prstGeom prst="rect">
            <a:avLst/>
          </a:prstGeom>
        </p:spPr>
        <p:txBody>
          <a:bodyPr anchor="t" rtlCol="false" tIns="0" lIns="0" bIns="0" rIns="0">
            <a:spAutoFit/>
          </a:bodyPr>
          <a:lstStyle/>
          <a:p>
            <a:pPr algn="ctr">
              <a:lnSpc>
                <a:spcPts val="2819"/>
              </a:lnSpc>
              <a:spcBef>
                <a:spcPct val="0"/>
              </a:spcBef>
            </a:pPr>
            <a:r>
              <a:rPr lang="en-US" sz="2349">
                <a:solidFill>
                  <a:srgbClr val="3553A0"/>
                </a:solidFill>
                <a:latin typeface="Anonymous Pro"/>
                <a:ea typeface="Anonymous Pro"/>
                <a:cs typeface="Anonymous Pro"/>
                <a:sym typeface="Anonymous Pro"/>
              </a:rPr>
              <a:t>TAMPAK BELAKANG</a:t>
            </a:r>
          </a:p>
        </p:txBody>
      </p:sp>
      <p:sp>
        <p:nvSpPr>
          <p:cNvPr name="TextBox 14" id="14"/>
          <p:cNvSpPr txBox="true"/>
          <p:nvPr/>
        </p:nvSpPr>
        <p:spPr>
          <a:xfrm rot="0">
            <a:off x="1028700" y="2752396"/>
            <a:ext cx="5587107" cy="942975"/>
          </a:xfrm>
          <a:prstGeom prst="rect">
            <a:avLst/>
          </a:prstGeom>
        </p:spPr>
        <p:txBody>
          <a:bodyPr anchor="t" rtlCol="false" tIns="0" lIns="0" bIns="0" rIns="0">
            <a:spAutoFit/>
          </a:bodyPr>
          <a:lstStyle/>
          <a:p>
            <a:pPr algn="ctr">
              <a:lnSpc>
                <a:spcPts val="3719"/>
              </a:lnSpc>
            </a:pPr>
            <a:r>
              <a:rPr lang="en-US" b="true" sz="3099">
                <a:solidFill>
                  <a:srgbClr val="3553A0"/>
                </a:solidFill>
                <a:latin typeface="Anonymous Pro Bold"/>
                <a:ea typeface="Anonymous Pro Bold"/>
                <a:cs typeface="Anonymous Pro Bold"/>
                <a:sym typeface="Anonymous Pro Bold"/>
              </a:rPr>
              <a:t>GABUNGAN PARASITIK BATANG </a:t>
            </a:r>
          </a:p>
          <a:p>
            <a:pPr algn="l">
              <a:lnSpc>
                <a:spcPts val="3719"/>
              </a:lnSpc>
              <a:spcBef>
                <a:spcPct val="0"/>
              </a:spcBef>
            </a:pPr>
            <a:r>
              <a:rPr lang="en-US" b="true" sz="3099">
                <a:solidFill>
                  <a:srgbClr val="3553A0"/>
                </a:solidFill>
                <a:latin typeface="Anonymous Pro Bold"/>
                <a:ea typeface="Anonymous Pro Bold"/>
                <a:cs typeface="Anonymous Pro Bold"/>
                <a:sym typeface="Anonymous Pro Bold"/>
              </a:rPr>
              <a:t>DAN PARASITIK SEGITIGA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8">
              <a:extLst>
                <a:ext uri="{96DAC541-7B7A-43D3-8B79-37D633B846F1}">
                  <asvg:svgBlip xmlns:asvg="http://schemas.microsoft.com/office/drawing/2016/SVG/main" r:embed="rId9"/>
                </a:ext>
              </a:extLst>
            </a:blip>
            <a:stretch>
              <a:fillRect l="0" t="-54722" r="0" b="-1366"/>
            </a:stretch>
          </a:blipFill>
        </p:spPr>
      </p:sp>
      <p:sp>
        <p:nvSpPr>
          <p:cNvPr name="Freeform 8" id="8"/>
          <p:cNvSpPr/>
          <p:nvPr/>
        </p:nvSpPr>
        <p:spPr>
          <a:xfrm flipH="false" flipV="false" rot="0">
            <a:off x="1028700" y="2398580"/>
            <a:ext cx="4024885" cy="3185573"/>
          </a:xfrm>
          <a:custGeom>
            <a:avLst/>
            <a:gdLst/>
            <a:ahLst/>
            <a:cxnLst/>
            <a:rect r="r" b="b" t="t" l="l"/>
            <a:pathLst>
              <a:path h="3185573" w="4024885">
                <a:moveTo>
                  <a:pt x="0" y="0"/>
                </a:moveTo>
                <a:lnTo>
                  <a:pt x="4024885" y="0"/>
                </a:lnTo>
                <a:lnTo>
                  <a:pt x="4024885" y="3185573"/>
                </a:lnTo>
                <a:lnTo>
                  <a:pt x="0" y="3185573"/>
                </a:lnTo>
                <a:lnTo>
                  <a:pt x="0" y="0"/>
                </a:lnTo>
                <a:close/>
              </a:path>
            </a:pathLst>
          </a:custGeom>
          <a:blipFill>
            <a:blip r:embed="rId10"/>
            <a:stretch>
              <a:fillRect l="0" t="0" r="0" b="0"/>
            </a:stretch>
          </a:blipFill>
        </p:spPr>
      </p:sp>
      <p:sp>
        <p:nvSpPr>
          <p:cNvPr name="Freeform 9" id="9"/>
          <p:cNvSpPr/>
          <p:nvPr/>
        </p:nvSpPr>
        <p:spPr>
          <a:xfrm flipH="false" flipV="false" rot="0">
            <a:off x="5053585" y="2401306"/>
            <a:ext cx="3427681" cy="3182847"/>
          </a:xfrm>
          <a:custGeom>
            <a:avLst/>
            <a:gdLst/>
            <a:ahLst/>
            <a:cxnLst/>
            <a:rect r="r" b="b" t="t" l="l"/>
            <a:pathLst>
              <a:path h="3182847" w="3427681">
                <a:moveTo>
                  <a:pt x="0" y="0"/>
                </a:moveTo>
                <a:lnTo>
                  <a:pt x="3427682" y="0"/>
                </a:lnTo>
                <a:lnTo>
                  <a:pt x="3427682" y="3182847"/>
                </a:lnTo>
                <a:lnTo>
                  <a:pt x="0" y="3182847"/>
                </a:lnTo>
                <a:lnTo>
                  <a:pt x="0" y="0"/>
                </a:lnTo>
                <a:close/>
              </a:path>
            </a:pathLst>
          </a:custGeom>
          <a:blipFill>
            <a:blip r:embed="rId11"/>
            <a:stretch>
              <a:fillRect l="0" t="0" r="0" b="0"/>
            </a:stretch>
          </a:blipFill>
        </p:spPr>
      </p:sp>
      <p:sp>
        <p:nvSpPr>
          <p:cNvPr name="Freeform 10" id="10"/>
          <p:cNvSpPr/>
          <p:nvPr/>
        </p:nvSpPr>
        <p:spPr>
          <a:xfrm flipH="false" flipV="false" rot="0">
            <a:off x="9414949" y="2398580"/>
            <a:ext cx="3710255" cy="3185573"/>
          </a:xfrm>
          <a:custGeom>
            <a:avLst/>
            <a:gdLst/>
            <a:ahLst/>
            <a:cxnLst/>
            <a:rect r="r" b="b" t="t" l="l"/>
            <a:pathLst>
              <a:path h="3185573" w="3710255">
                <a:moveTo>
                  <a:pt x="0" y="0"/>
                </a:moveTo>
                <a:lnTo>
                  <a:pt x="3710255" y="0"/>
                </a:lnTo>
                <a:lnTo>
                  <a:pt x="3710255" y="3185573"/>
                </a:lnTo>
                <a:lnTo>
                  <a:pt x="0" y="3185573"/>
                </a:lnTo>
                <a:lnTo>
                  <a:pt x="0" y="0"/>
                </a:lnTo>
                <a:close/>
              </a:path>
            </a:pathLst>
          </a:custGeom>
          <a:blipFill>
            <a:blip r:embed="rId12"/>
            <a:stretch>
              <a:fillRect l="0" t="0" r="0" b="0"/>
            </a:stretch>
          </a:blipFill>
        </p:spPr>
      </p:sp>
      <p:sp>
        <p:nvSpPr>
          <p:cNvPr name="Freeform 11" id="11"/>
          <p:cNvSpPr/>
          <p:nvPr/>
        </p:nvSpPr>
        <p:spPr>
          <a:xfrm flipH="false" flipV="false" rot="0">
            <a:off x="13144254" y="2401306"/>
            <a:ext cx="3427681" cy="3182847"/>
          </a:xfrm>
          <a:custGeom>
            <a:avLst/>
            <a:gdLst/>
            <a:ahLst/>
            <a:cxnLst/>
            <a:rect r="r" b="b" t="t" l="l"/>
            <a:pathLst>
              <a:path h="3182847" w="3427681">
                <a:moveTo>
                  <a:pt x="0" y="0"/>
                </a:moveTo>
                <a:lnTo>
                  <a:pt x="3427681" y="0"/>
                </a:lnTo>
                <a:lnTo>
                  <a:pt x="3427681" y="3182847"/>
                </a:lnTo>
                <a:lnTo>
                  <a:pt x="0" y="3182847"/>
                </a:lnTo>
                <a:lnTo>
                  <a:pt x="0" y="0"/>
                </a:lnTo>
                <a:close/>
              </a:path>
            </a:pathLst>
          </a:custGeom>
          <a:blipFill>
            <a:blip r:embed="rId11"/>
            <a:stretch>
              <a:fillRect l="0" t="0" r="0" b="0"/>
            </a:stretch>
          </a:blipFill>
        </p:spPr>
      </p:sp>
      <p:sp>
        <p:nvSpPr>
          <p:cNvPr name="Freeform 12" id="12"/>
          <p:cNvSpPr/>
          <p:nvPr/>
        </p:nvSpPr>
        <p:spPr>
          <a:xfrm flipH="false" flipV="false" rot="0">
            <a:off x="3118917" y="5857064"/>
            <a:ext cx="3897095" cy="4147980"/>
          </a:xfrm>
          <a:custGeom>
            <a:avLst/>
            <a:gdLst/>
            <a:ahLst/>
            <a:cxnLst/>
            <a:rect r="r" b="b" t="t" l="l"/>
            <a:pathLst>
              <a:path h="4147980" w="3897095">
                <a:moveTo>
                  <a:pt x="0" y="0"/>
                </a:moveTo>
                <a:lnTo>
                  <a:pt x="3897095" y="0"/>
                </a:lnTo>
                <a:lnTo>
                  <a:pt x="3897095" y="4147980"/>
                </a:lnTo>
                <a:lnTo>
                  <a:pt x="0" y="4147980"/>
                </a:lnTo>
                <a:lnTo>
                  <a:pt x="0" y="0"/>
                </a:lnTo>
                <a:close/>
              </a:path>
            </a:pathLst>
          </a:custGeom>
          <a:blipFill>
            <a:blip r:embed="rId13"/>
            <a:stretch>
              <a:fillRect l="0" t="0" r="0" b="0"/>
            </a:stretch>
          </a:blipFill>
        </p:spPr>
      </p:sp>
      <p:sp>
        <p:nvSpPr>
          <p:cNvPr name="Freeform 13" id="13"/>
          <p:cNvSpPr/>
          <p:nvPr/>
        </p:nvSpPr>
        <p:spPr>
          <a:xfrm flipH="false" flipV="false" rot="0">
            <a:off x="11840249" y="5857064"/>
            <a:ext cx="3880943" cy="4147980"/>
          </a:xfrm>
          <a:custGeom>
            <a:avLst/>
            <a:gdLst/>
            <a:ahLst/>
            <a:cxnLst/>
            <a:rect r="r" b="b" t="t" l="l"/>
            <a:pathLst>
              <a:path h="4147980" w="3880943">
                <a:moveTo>
                  <a:pt x="0" y="0"/>
                </a:moveTo>
                <a:lnTo>
                  <a:pt x="3880944" y="0"/>
                </a:lnTo>
                <a:lnTo>
                  <a:pt x="3880944" y="4147980"/>
                </a:lnTo>
                <a:lnTo>
                  <a:pt x="0" y="4147980"/>
                </a:lnTo>
                <a:lnTo>
                  <a:pt x="0" y="0"/>
                </a:lnTo>
                <a:close/>
              </a:path>
            </a:pathLst>
          </a:custGeom>
          <a:blipFill>
            <a:blip r:embed="rId14"/>
            <a:stretch>
              <a:fillRect l="0" t="0" r="0" b="0"/>
            </a:stretch>
          </a:blipFill>
        </p:spPr>
      </p:sp>
      <p:sp>
        <p:nvSpPr>
          <p:cNvPr name="TextBox 14" id="14"/>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5" id="15"/>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6" id="16"/>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7" id="17"/>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8" id="18"/>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19" id="19"/>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0" id="20"/>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1" id="21"/>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0">
            <a:off x="6496350" y="68722"/>
            <a:ext cx="7307461" cy="476250"/>
          </a:xfrm>
          <a:prstGeom prst="rect">
            <a:avLst/>
          </a:prstGeom>
        </p:spPr>
        <p:txBody>
          <a:bodyPr anchor="t" rtlCol="false" tIns="0" lIns="0" bIns="0" rIns="0">
            <a:spAutoFit/>
          </a:bodyPr>
          <a:lstStyle/>
          <a:p>
            <a:pPr algn="ctr">
              <a:lnSpc>
                <a:spcPts val="3720"/>
              </a:lnSpc>
              <a:spcBef>
                <a:spcPct val="0"/>
              </a:spcBef>
            </a:pPr>
            <a:r>
              <a:rPr lang="en-US" b="true" sz="3100">
                <a:solidFill>
                  <a:srgbClr val="3553A0"/>
                </a:solidFill>
                <a:latin typeface="Anonymous Pro Bold"/>
                <a:ea typeface="Anonymous Pro Bold"/>
                <a:cs typeface="Anonymous Pro Bold"/>
                <a:sym typeface="Anonymous Pro Bold"/>
              </a:rPr>
              <a:t>GABUNGAN SLOT BATANG DAN SEGITIGA</a:t>
            </a:r>
            <a:r>
              <a:rPr lang="en-US" b="true" sz="3100">
                <a:solidFill>
                  <a:srgbClr val="3553A0"/>
                </a:solidFill>
                <a:latin typeface="Anonymous Pro Bold"/>
                <a:ea typeface="Anonymous Pro Bold"/>
                <a:cs typeface="Anonymous Pro Bold"/>
                <a:sym typeface="Anonymous Pro Bold"/>
              </a:rPr>
              <a:t>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730438">
            <a:off x="-329193" y="5660562"/>
            <a:ext cx="7830233" cy="7443546"/>
          </a:xfrm>
          <a:custGeom>
            <a:avLst/>
            <a:gdLst/>
            <a:ahLst/>
            <a:cxnLst/>
            <a:rect r="r" b="b" t="t" l="l"/>
            <a:pathLst>
              <a:path h="7443546" w="7830233">
                <a:moveTo>
                  <a:pt x="0" y="0"/>
                </a:moveTo>
                <a:lnTo>
                  <a:pt x="7830232" y="0"/>
                </a:lnTo>
                <a:lnTo>
                  <a:pt x="7830232" y="7443546"/>
                </a:lnTo>
                <a:lnTo>
                  <a:pt x="0" y="7443546"/>
                </a:lnTo>
                <a:lnTo>
                  <a:pt x="0" y="0"/>
                </a:lnTo>
                <a:close/>
              </a:path>
            </a:pathLst>
          </a:custGeom>
          <a:blipFill>
            <a:blip r:embed="rId3"/>
            <a:stretch>
              <a:fillRect l="0" t="-2531" r="0" b="-2531"/>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0" y="303900"/>
            <a:ext cx="18288000" cy="10914695"/>
          </a:xfrm>
          <a:custGeom>
            <a:avLst/>
            <a:gdLst/>
            <a:ahLst/>
            <a:cxnLst/>
            <a:rect r="r" b="b" t="t" l="l"/>
            <a:pathLst>
              <a:path h="10914695" w="18288000">
                <a:moveTo>
                  <a:pt x="0" y="0"/>
                </a:moveTo>
                <a:lnTo>
                  <a:pt x="18288000" y="0"/>
                </a:lnTo>
                <a:lnTo>
                  <a:pt x="18288000" y="10914695"/>
                </a:lnTo>
                <a:lnTo>
                  <a:pt x="0" y="10914695"/>
                </a:lnTo>
                <a:lnTo>
                  <a:pt x="0" y="0"/>
                </a:lnTo>
                <a:close/>
              </a:path>
            </a:pathLst>
          </a:custGeom>
          <a:blipFill>
            <a:blip r:embed="rId4">
              <a:extLst>
                <a:ext uri="{96DAC541-7B7A-43D3-8B79-37D633B846F1}">
                  <asvg:svgBlip xmlns:asvg="http://schemas.microsoft.com/office/drawing/2016/SVG/main" r:embed="rId5"/>
                </a:ext>
              </a:extLst>
            </a:blip>
            <a:stretch>
              <a:fillRect l="0" t="-9365" r="-828" b="-46906"/>
            </a:stretch>
          </a:blipFill>
        </p:spPr>
      </p:sp>
      <p:sp>
        <p:nvSpPr>
          <p:cNvPr name="Freeform 5" id="5">
            <a:extLst>
              <a:ext uri="{C183D7F6-B498-43B3-948B-1728B52AA6E4}">
                <adec:decorative xmlns:adec="http://schemas.microsoft.com/office/drawing/2017/decorative" val="1"/>
              </a:ext>
            </a:extLst>
          </p:cNvPr>
          <p:cNvSpPr/>
          <p:nvPr/>
        </p:nvSpPr>
        <p:spPr>
          <a:xfrm flipH="true" flipV="false" rot="-1273849">
            <a:off x="16275602" y="6828136"/>
            <a:ext cx="2549554" cy="3565810"/>
          </a:xfrm>
          <a:custGeom>
            <a:avLst/>
            <a:gdLst/>
            <a:ahLst/>
            <a:cxnLst/>
            <a:rect r="r" b="b" t="t" l="l"/>
            <a:pathLst>
              <a:path h="3565810" w="2549554">
                <a:moveTo>
                  <a:pt x="2549554" y="0"/>
                </a:moveTo>
                <a:lnTo>
                  <a:pt x="0" y="0"/>
                </a:lnTo>
                <a:lnTo>
                  <a:pt x="0" y="3565810"/>
                </a:lnTo>
                <a:lnTo>
                  <a:pt x="2549554" y="3565810"/>
                </a:lnTo>
                <a:lnTo>
                  <a:pt x="2549554" y="0"/>
                </a:lnTo>
                <a:close/>
              </a:path>
            </a:pathLst>
          </a:custGeom>
          <a:blipFill>
            <a:blip r:embed="rId6"/>
            <a:stretch>
              <a:fillRect l="0" t="0" r="0" b="0"/>
            </a:stretch>
          </a:blipFill>
        </p:spPr>
      </p:sp>
      <p:sp>
        <p:nvSpPr>
          <p:cNvPr name="Freeform 6" id="6"/>
          <p:cNvSpPr/>
          <p:nvPr/>
        </p:nvSpPr>
        <p:spPr>
          <a:xfrm flipH="false" flipV="false" rot="0">
            <a:off x="1397804" y="1365938"/>
            <a:ext cx="13600083" cy="8456106"/>
          </a:xfrm>
          <a:custGeom>
            <a:avLst/>
            <a:gdLst/>
            <a:ahLst/>
            <a:cxnLst/>
            <a:rect r="r" b="b" t="t" l="l"/>
            <a:pathLst>
              <a:path h="8456106" w="13600083">
                <a:moveTo>
                  <a:pt x="0" y="0"/>
                </a:moveTo>
                <a:lnTo>
                  <a:pt x="13600083" y="0"/>
                </a:lnTo>
                <a:lnTo>
                  <a:pt x="13600083" y="8456106"/>
                </a:lnTo>
                <a:lnTo>
                  <a:pt x="0" y="8456106"/>
                </a:lnTo>
                <a:lnTo>
                  <a:pt x="0" y="0"/>
                </a:lnTo>
                <a:close/>
              </a:path>
            </a:pathLst>
          </a:custGeom>
          <a:blipFill>
            <a:blip r:embed="rId7"/>
            <a:stretch>
              <a:fillRect l="0" t="0" r="0" b="0"/>
            </a:stretch>
          </a:blipFill>
        </p:spPr>
      </p:sp>
      <p:sp>
        <p:nvSpPr>
          <p:cNvPr name="TextBox 7" id="7"/>
          <p:cNvSpPr txBox="true"/>
          <p:nvPr/>
        </p:nvSpPr>
        <p:spPr>
          <a:xfrm rot="0">
            <a:off x="1028700" y="546788"/>
            <a:ext cx="12848138" cy="819150"/>
          </a:xfrm>
          <a:prstGeom prst="rect">
            <a:avLst/>
          </a:prstGeom>
        </p:spPr>
        <p:txBody>
          <a:bodyPr anchor="t" rtlCol="false" tIns="0" lIns="0" bIns="0" rIns="0">
            <a:spAutoFit/>
          </a:bodyPr>
          <a:lstStyle/>
          <a:p>
            <a:pPr algn="just" marL="0" indent="0" lvl="0">
              <a:lnSpc>
                <a:spcPts val="6388"/>
              </a:lnSpc>
              <a:spcBef>
                <a:spcPct val="0"/>
              </a:spcBef>
            </a:pPr>
            <a:r>
              <a:rPr lang="en-US" sz="5323">
                <a:solidFill>
                  <a:srgbClr val="FFFFFF"/>
                </a:solidFill>
                <a:latin typeface="Pluma"/>
                <a:ea typeface="Pluma"/>
                <a:cs typeface="Pluma"/>
                <a:sym typeface="Pluma"/>
              </a:rPr>
              <a:t>TABEL HASIL OPTIMASI SIMULASI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3458093" y="-222997"/>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368199">
            <a:off x="-1113387" y="9204977"/>
            <a:ext cx="3121741" cy="1521849"/>
          </a:xfrm>
          <a:custGeom>
            <a:avLst/>
            <a:gdLst/>
            <a:ahLst/>
            <a:cxnLst/>
            <a:rect r="r" b="b" t="t" l="l"/>
            <a:pathLst>
              <a:path h="1521849" w="3121741">
                <a:moveTo>
                  <a:pt x="0" y="0"/>
                </a:moveTo>
                <a:lnTo>
                  <a:pt x="3121740" y="0"/>
                </a:lnTo>
                <a:lnTo>
                  <a:pt x="3121740" y="1521849"/>
                </a:lnTo>
                <a:lnTo>
                  <a:pt x="0" y="1521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6232324" y="363665"/>
            <a:ext cx="2600971" cy="568116"/>
            <a:chOff x="0" y="0"/>
            <a:chExt cx="3467961" cy="757488"/>
          </a:xfrm>
        </p:grpSpPr>
        <p:sp>
          <p:nvSpPr>
            <p:cNvPr name="Freeform 6" id="6"/>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8" id="8"/>
          <p:cNvSpPr/>
          <p:nvPr/>
        </p:nvSpPr>
        <p:spPr>
          <a:xfrm flipH="false" flipV="false" rot="0">
            <a:off x="2467760" y="3719391"/>
            <a:ext cx="5074840" cy="5053152"/>
          </a:xfrm>
          <a:custGeom>
            <a:avLst/>
            <a:gdLst/>
            <a:ahLst/>
            <a:cxnLst/>
            <a:rect r="r" b="b" t="t" l="l"/>
            <a:pathLst>
              <a:path h="5053152" w="5074840">
                <a:moveTo>
                  <a:pt x="0" y="0"/>
                </a:moveTo>
                <a:lnTo>
                  <a:pt x="5074839" y="0"/>
                </a:lnTo>
                <a:lnTo>
                  <a:pt x="5074839" y="5053152"/>
                </a:lnTo>
                <a:lnTo>
                  <a:pt x="0" y="5053152"/>
                </a:lnTo>
                <a:lnTo>
                  <a:pt x="0" y="0"/>
                </a:lnTo>
                <a:close/>
              </a:path>
            </a:pathLst>
          </a:custGeom>
          <a:blipFill>
            <a:blip r:embed="rId8"/>
            <a:stretch>
              <a:fillRect l="0" t="0" r="0" b="0"/>
            </a:stretch>
          </a:blipFill>
        </p:spPr>
      </p:sp>
      <p:sp>
        <p:nvSpPr>
          <p:cNvPr name="Freeform 9" id="9"/>
          <p:cNvSpPr/>
          <p:nvPr/>
        </p:nvSpPr>
        <p:spPr>
          <a:xfrm flipH="false" flipV="false" rot="0">
            <a:off x="10870706" y="3719391"/>
            <a:ext cx="5004069" cy="5067950"/>
          </a:xfrm>
          <a:custGeom>
            <a:avLst/>
            <a:gdLst/>
            <a:ahLst/>
            <a:cxnLst/>
            <a:rect r="r" b="b" t="t" l="l"/>
            <a:pathLst>
              <a:path h="5067950" w="5004069">
                <a:moveTo>
                  <a:pt x="0" y="0"/>
                </a:moveTo>
                <a:lnTo>
                  <a:pt x="5004069" y="0"/>
                </a:lnTo>
                <a:lnTo>
                  <a:pt x="5004069" y="5067950"/>
                </a:lnTo>
                <a:lnTo>
                  <a:pt x="0" y="5067950"/>
                </a:lnTo>
                <a:lnTo>
                  <a:pt x="0" y="0"/>
                </a:lnTo>
                <a:close/>
              </a:path>
            </a:pathLst>
          </a:custGeom>
          <a:blipFill>
            <a:blip r:embed="rId9"/>
            <a:stretch>
              <a:fillRect l="0" t="0" r="0" b="0"/>
            </a:stretch>
          </a:blipFill>
        </p:spPr>
      </p:sp>
      <p:sp>
        <p:nvSpPr>
          <p:cNvPr name="TextBox 10" id="10"/>
          <p:cNvSpPr txBox="true"/>
          <p:nvPr/>
        </p:nvSpPr>
        <p:spPr>
          <a:xfrm rot="0">
            <a:off x="2410375" y="508125"/>
            <a:ext cx="12932106" cy="1031626"/>
          </a:xfrm>
          <a:prstGeom prst="rect">
            <a:avLst/>
          </a:prstGeom>
        </p:spPr>
        <p:txBody>
          <a:bodyPr anchor="t" rtlCol="false" tIns="0" lIns="0" bIns="0" rIns="0">
            <a:spAutoFit/>
          </a:bodyPr>
          <a:lstStyle/>
          <a:p>
            <a:pPr algn="ctr" marL="0" indent="0" lvl="0">
              <a:lnSpc>
                <a:spcPts val="8140"/>
              </a:lnSpc>
              <a:spcBef>
                <a:spcPct val="0"/>
              </a:spcBef>
            </a:pPr>
            <a:r>
              <a:rPr lang="en-US" sz="6783">
                <a:solidFill>
                  <a:srgbClr val="3553A0"/>
                </a:solidFill>
                <a:latin typeface="Pluma"/>
                <a:ea typeface="Pluma"/>
                <a:cs typeface="Pluma"/>
                <a:sym typeface="Pluma"/>
              </a:rPr>
              <a:t>DESAIN AKHIR ANTENA (SIMULASI)</a:t>
            </a:r>
          </a:p>
        </p:txBody>
      </p:sp>
      <p:sp>
        <p:nvSpPr>
          <p:cNvPr name="TextBox 11" id="11"/>
          <p:cNvSpPr txBox="true"/>
          <p:nvPr/>
        </p:nvSpPr>
        <p:spPr>
          <a:xfrm rot="0">
            <a:off x="2717493" y="2692467"/>
            <a:ext cx="4575374" cy="828675"/>
          </a:xfrm>
          <a:prstGeom prst="rect">
            <a:avLst/>
          </a:prstGeom>
        </p:spPr>
        <p:txBody>
          <a:bodyPr anchor="t" rtlCol="false" tIns="0" lIns="0" bIns="0" rIns="0">
            <a:spAutoFit/>
          </a:bodyPr>
          <a:lstStyle/>
          <a:p>
            <a:pPr algn="ctr">
              <a:lnSpc>
                <a:spcPts val="6599"/>
              </a:lnSpc>
              <a:spcBef>
                <a:spcPct val="0"/>
              </a:spcBef>
            </a:pPr>
            <a:r>
              <a:rPr lang="en-US" sz="5499">
                <a:solidFill>
                  <a:srgbClr val="3553A0"/>
                </a:solidFill>
                <a:latin typeface="Anonymous Pro"/>
                <a:ea typeface="Anonymous Pro"/>
                <a:cs typeface="Anonymous Pro"/>
                <a:sym typeface="Anonymous Pro"/>
              </a:rPr>
              <a:t>TAMPAK DEPAN</a:t>
            </a:r>
          </a:p>
        </p:txBody>
      </p:sp>
      <p:sp>
        <p:nvSpPr>
          <p:cNvPr name="TextBox 12" id="12"/>
          <p:cNvSpPr txBox="true"/>
          <p:nvPr/>
        </p:nvSpPr>
        <p:spPr>
          <a:xfrm rot="0">
            <a:off x="10737602" y="2662116"/>
            <a:ext cx="5719167" cy="828675"/>
          </a:xfrm>
          <a:prstGeom prst="rect">
            <a:avLst/>
          </a:prstGeom>
        </p:spPr>
        <p:txBody>
          <a:bodyPr anchor="t" rtlCol="false" tIns="0" lIns="0" bIns="0" rIns="0">
            <a:spAutoFit/>
          </a:bodyPr>
          <a:lstStyle/>
          <a:p>
            <a:pPr algn="ctr">
              <a:lnSpc>
                <a:spcPts val="6599"/>
              </a:lnSpc>
              <a:spcBef>
                <a:spcPct val="0"/>
              </a:spcBef>
            </a:pPr>
            <a:r>
              <a:rPr lang="en-US" sz="5499">
                <a:solidFill>
                  <a:srgbClr val="3553A0"/>
                </a:solidFill>
                <a:latin typeface="Anonymous Pro"/>
                <a:ea typeface="Anonymous Pro"/>
                <a:cs typeface="Anonymous Pro"/>
                <a:sym typeface="Anonymous Pro"/>
              </a:rPr>
              <a:t>TAMPAK BELAKANG</a:t>
            </a:r>
          </a:p>
        </p:txBody>
      </p:sp>
      <p:sp>
        <p:nvSpPr>
          <p:cNvPr name="TextBox 13" id="13"/>
          <p:cNvSpPr txBox="true"/>
          <p:nvPr/>
        </p:nvSpPr>
        <p:spPr>
          <a:xfrm rot="0">
            <a:off x="5421400" y="1530225"/>
            <a:ext cx="9921082" cy="828675"/>
          </a:xfrm>
          <a:prstGeom prst="rect">
            <a:avLst/>
          </a:prstGeom>
        </p:spPr>
        <p:txBody>
          <a:bodyPr anchor="t" rtlCol="false" tIns="0" lIns="0" bIns="0" rIns="0">
            <a:spAutoFit/>
          </a:bodyPr>
          <a:lstStyle/>
          <a:p>
            <a:pPr algn="ctr">
              <a:lnSpc>
                <a:spcPts val="3240"/>
              </a:lnSpc>
            </a:pPr>
            <a:r>
              <a:rPr lang="en-US" sz="2700">
                <a:solidFill>
                  <a:srgbClr val="3553A0"/>
                </a:solidFill>
                <a:latin typeface="Anonymous Pro"/>
                <a:ea typeface="Anonymous Pro"/>
                <a:cs typeface="Anonymous Pro"/>
                <a:sym typeface="Anonymous Pro"/>
              </a:rPr>
              <a:t>ANTENA BOWTIE DENGAN METODE SLOT BATANG DAN SEGITIGA </a:t>
            </a:r>
          </a:p>
          <a:p>
            <a:pPr algn="ctr">
              <a:lnSpc>
                <a:spcPts val="3240"/>
              </a:lnSpc>
              <a:spcBef>
                <a:spcPct val="0"/>
              </a:spcBef>
            </a:pPr>
            <a:r>
              <a:rPr lang="en-US" sz="2700">
                <a:solidFill>
                  <a:srgbClr val="3553A0"/>
                </a:solidFill>
                <a:latin typeface="Anonymous Pro"/>
                <a:ea typeface="Anonymous Pro"/>
                <a:cs typeface="Anonymous Pro"/>
                <a:sym typeface="Anonymous Pro"/>
              </a:rPr>
              <a:t>SERTA METODE PARASITIK BATANG DAN SEGITIGA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true" flipV="false" rot="0">
            <a:off x="14187795" y="-599597"/>
            <a:ext cx="5111215" cy="11486194"/>
          </a:xfrm>
          <a:custGeom>
            <a:avLst/>
            <a:gdLst/>
            <a:ahLst/>
            <a:cxnLst/>
            <a:rect r="r" b="b" t="t" l="l"/>
            <a:pathLst>
              <a:path h="11486194" w="5111215">
                <a:moveTo>
                  <a:pt x="5111215" y="0"/>
                </a:moveTo>
                <a:lnTo>
                  <a:pt x="0" y="0"/>
                </a:lnTo>
                <a:lnTo>
                  <a:pt x="0" y="11486194"/>
                </a:lnTo>
                <a:lnTo>
                  <a:pt x="5111215" y="11486194"/>
                </a:lnTo>
                <a:lnTo>
                  <a:pt x="5111215" y="0"/>
                </a:lnTo>
                <a:close/>
              </a:path>
            </a:pathLst>
          </a:custGeom>
          <a:blipFill>
            <a:blip r:embed="rId3"/>
            <a:stretch>
              <a:fillRect l="-94668"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4"/>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1298161">
            <a:off x="13572625" y="368986"/>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false" flipV="false" rot="0">
            <a:off x="7047091" y="8791300"/>
            <a:ext cx="2809023" cy="934000"/>
          </a:xfrm>
          <a:custGeom>
            <a:avLst/>
            <a:gdLst/>
            <a:ahLst/>
            <a:cxnLst/>
            <a:rect r="r" b="b" t="t" l="l"/>
            <a:pathLst>
              <a:path h="934000" w="2809023">
                <a:moveTo>
                  <a:pt x="0" y="0"/>
                </a:moveTo>
                <a:lnTo>
                  <a:pt x="2809023" y="0"/>
                </a:lnTo>
                <a:lnTo>
                  <a:pt x="2809023" y="934000"/>
                </a:lnTo>
                <a:lnTo>
                  <a:pt x="0" y="9340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4639" y="2843263"/>
            <a:ext cx="16578723" cy="5002388"/>
          </a:xfrm>
          <a:custGeom>
            <a:avLst/>
            <a:gdLst/>
            <a:ahLst/>
            <a:cxnLst/>
            <a:rect r="r" b="b" t="t" l="l"/>
            <a:pathLst>
              <a:path h="5002388" w="16578723">
                <a:moveTo>
                  <a:pt x="0" y="0"/>
                </a:moveTo>
                <a:lnTo>
                  <a:pt x="16578722" y="0"/>
                </a:lnTo>
                <a:lnTo>
                  <a:pt x="16578722" y="5002388"/>
                </a:lnTo>
                <a:lnTo>
                  <a:pt x="0" y="5002388"/>
                </a:lnTo>
                <a:lnTo>
                  <a:pt x="0" y="0"/>
                </a:lnTo>
                <a:close/>
              </a:path>
            </a:pathLst>
          </a:custGeom>
          <a:blipFill>
            <a:blip r:embed="rId9"/>
            <a:stretch>
              <a:fillRect l="0" t="-2979" r="0" b="0"/>
            </a:stretch>
          </a:blipFill>
        </p:spPr>
      </p:sp>
      <p:sp>
        <p:nvSpPr>
          <p:cNvPr name="TextBox 8" id="8"/>
          <p:cNvSpPr txBox="true"/>
          <p:nvPr/>
        </p:nvSpPr>
        <p:spPr>
          <a:xfrm rot="0">
            <a:off x="854639" y="431429"/>
            <a:ext cx="4863180" cy="838200"/>
          </a:xfrm>
          <a:prstGeom prst="rect">
            <a:avLst/>
          </a:prstGeom>
        </p:spPr>
        <p:txBody>
          <a:bodyPr anchor="t" rtlCol="false" tIns="0" lIns="0" bIns="0" rIns="0">
            <a:spAutoFit/>
          </a:bodyPr>
          <a:lstStyle/>
          <a:p>
            <a:pPr algn="ctr" marL="0" indent="0" lvl="0">
              <a:lnSpc>
                <a:spcPts val="6599"/>
              </a:lnSpc>
              <a:spcBef>
                <a:spcPct val="0"/>
              </a:spcBef>
            </a:pPr>
            <a:r>
              <a:rPr lang="en-US" sz="5499">
                <a:solidFill>
                  <a:srgbClr val="233731"/>
                </a:solidFill>
                <a:latin typeface="Pluma"/>
                <a:ea typeface="Pluma"/>
                <a:cs typeface="Pluma"/>
                <a:sym typeface="Pluma"/>
              </a:rPr>
              <a:t>HASIL SIMULASI</a:t>
            </a:r>
          </a:p>
        </p:txBody>
      </p:sp>
      <p:sp>
        <p:nvSpPr>
          <p:cNvPr name="TextBox 9" id="9"/>
          <p:cNvSpPr txBox="true"/>
          <p:nvPr/>
        </p:nvSpPr>
        <p:spPr>
          <a:xfrm rot="-258351">
            <a:off x="491665" y="1849529"/>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Bandwidth</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grpSp>
        <p:nvGrpSpPr>
          <p:cNvPr name="Group 4" id="4"/>
          <p:cNvGrpSpPr/>
          <p:nvPr/>
        </p:nvGrpSpPr>
        <p:grpSpPr>
          <a:xfrm rot="0">
            <a:off x="575068" y="2382256"/>
            <a:ext cx="7433886" cy="3215113"/>
            <a:chOff x="0" y="0"/>
            <a:chExt cx="9911848" cy="4286818"/>
          </a:xfrm>
        </p:grpSpPr>
        <p:sp>
          <p:nvSpPr>
            <p:cNvPr name="Freeform 5" id="5"/>
            <p:cNvSpPr/>
            <p:nvPr/>
          </p:nvSpPr>
          <p:spPr>
            <a:xfrm flipH="false" flipV="false" rot="0">
              <a:off x="0" y="0"/>
              <a:ext cx="5625031" cy="4286818"/>
            </a:xfrm>
            <a:custGeom>
              <a:avLst/>
              <a:gdLst/>
              <a:ahLst/>
              <a:cxnLst/>
              <a:rect r="r" b="b" t="t" l="l"/>
              <a:pathLst>
                <a:path h="4286818" w="5625031">
                  <a:moveTo>
                    <a:pt x="0" y="0"/>
                  </a:moveTo>
                  <a:lnTo>
                    <a:pt x="5625031" y="0"/>
                  </a:lnTo>
                  <a:lnTo>
                    <a:pt x="5625031" y="4286818"/>
                  </a:lnTo>
                  <a:lnTo>
                    <a:pt x="0" y="4286818"/>
                  </a:lnTo>
                  <a:lnTo>
                    <a:pt x="0" y="0"/>
                  </a:lnTo>
                  <a:close/>
                </a:path>
              </a:pathLst>
            </a:custGeom>
            <a:blipFill>
              <a:blip r:embed="rId4"/>
              <a:stretch>
                <a:fillRect l="0" t="0" r="0" b="0"/>
              </a:stretch>
            </a:blipFill>
          </p:spPr>
        </p:sp>
        <p:sp>
          <p:nvSpPr>
            <p:cNvPr name="Freeform 6" id="6"/>
            <p:cNvSpPr/>
            <p:nvPr/>
          </p:nvSpPr>
          <p:spPr>
            <a:xfrm flipH="false" flipV="false" rot="0">
              <a:off x="5625031" y="0"/>
              <a:ext cx="4286818" cy="4286818"/>
            </a:xfrm>
            <a:custGeom>
              <a:avLst/>
              <a:gdLst/>
              <a:ahLst/>
              <a:cxnLst/>
              <a:rect r="r" b="b" t="t" l="l"/>
              <a:pathLst>
                <a:path h="4286818" w="4286818">
                  <a:moveTo>
                    <a:pt x="0" y="0"/>
                  </a:moveTo>
                  <a:lnTo>
                    <a:pt x="4286817" y="0"/>
                  </a:lnTo>
                  <a:lnTo>
                    <a:pt x="4286817" y="4286818"/>
                  </a:lnTo>
                  <a:lnTo>
                    <a:pt x="0" y="4286818"/>
                  </a:lnTo>
                  <a:lnTo>
                    <a:pt x="0" y="0"/>
                  </a:lnTo>
                  <a:close/>
                </a:path>
              </a:pathLst>
            </a:custGeom>
            <a:blipFill>
              <a:blip r:embed="rId5"/>
              <a:stretch>
                <a:fillRect l="0" t="0" r="0" b="0"/>
              </a:stretch>
            </a:blipFill>
          </p:spPr>
        </p:sp>
      </p:grpSp>
      <p:sp>
        <p:nvSpPr>
          <p:cNvPr name="Freeform 7" id="7">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9110149" y="2382256"/>
            <a:ext cx="7204547" cy="3215113"/>
            <a:chOff x="0" y="0"/>
            <a:chExt cx="9606063" cy="4286818"/>
          </a:xfrm>
        </p:grpSpPr>
        <p:sp>
          <p:nvSpPr>
            <p:cNvPr name="Freeform 9" id="9"/>
            <p:cNvSpPr/>
            <p:nvPr/>
          </p:nvSpPr>
          <p:spPr>
            <a:xfrm flipH="false" flipV="false" rot="0">
              <a:off x="0" y="0"/>
              <a:ext cx="5319245" cy="4286818"/>
            </a:xfrm>
            <a:custGeom>
              <a:avLst/>
              <a:gdLst/>
              <a:ahLst/>
              <a:cxnLst/>
              <a:rect r="r" b="b" t="t" l="l"/>
              <a:pathLst>
                <a:path h="4286818" w="5319245">
                  <a:moveTo>
                    <a:pt x="0" y="0"/>
                  </a:moveTo>
                  <a:lnTo>
                    <a:pt x="5319245" y="0"/>
                  </a:lnTo>
                  <a:lnTo>
                    <a:pt x="5319245" y="4286818"/>
                  </a:lnTo>
                  <a:lnTo>
                    <a:pt x="0" y="4286818"/>
                  </a:lnTo>
                  <a:lnTo>
                    <a:pt x="0" y="0"/>
                  </a:lnTo>
                  <a:close/>
                </a:path>
              </a:pathLst>
            </a:custGeom>
            <a:blipFill>
              <a:blip r:embed="rId8"/>
              <a:stretch>
                <a:fillRect l="0" t="0" r="0" b="0"/>
              </a:stretch>
            </a:blipFill>
          </p:spPr>
        </p:sp>
        <p:sp>
          <p:nvSpPr>
            <p:cNvPr name="Freeform 10" id="10"/>
            <p:cNvSpPr/>
            <p:nvPr/>
          </p:nvSpPr>
          <p:spPr>
            <a:xfrm flipH="false" flipV="false" rot="0">
              <a:off x="5319245" y="0"/>
              <a:ext cx="4286818" cy="4286818"/>
            </a:xfrm>
            <a:custGeom>
              <a:avLst/>
              <a:gdLst/>
              <a:ahLst/>
              <a:cxnLst/>
              <a:rect r="r" b="b" t="t" l="l"/>
              <a:pathLst>
                <a:path h="4286818" w="4286818">
                  <a:moveTo>
                    <a:pt x="0" y="0"/>
                  </a:moveTo>
                  <a:lnTo>
                    <a:pt x="4286818" y="0"/>
                  </a:lnTo>
                  <a:lnTo>
                    <a:pt x="4286818" y="4286818"/>
                  </a:lnTo>
                  <a:lnTo>
                    <a:pt x="0" y="4286818"/>
                  </a:lnTo>
                  <a:lnTo>
                    <a:pt x="0" y="0"/>
                  </a:lnTo>
                  <a:close/>
                </a:path>
              </a:pathLst>
            </a:custGeom>
            <a:blipFill>
              <a:blip r:embed="rId5"/>
              <a:stretch>
                <a:fillRect l="0" t="0" r="0" b="0"/>
              </a:stretch>
            </a:blipFill>
          </p:spPr>
        </p:sp>
      </p:grpSp>
      <p:sp>
        <p:nvSpPr>
          <p:cNvPr name="Freeform 11" id="11"/>
          <p:cNvSpPr/>
          <p:nvPr/>
        </p:nvSpPr>
        <p:spPr>
          <a:xfrm flipH="false" flipV="false" rot="0">
            <a:off x="2204399" y="6823819"/>
            <a:ext cx="793183" cy="1107235"/>
          </a:xfrm>
          <a:custGeom>
            <a:avLst/>
            <a:gdLst/>
            <a:ahLst/>
            <a:cxnLst/>
            <a:rect r="r" b="b" t="t" l="l"/>
            <a:pathLst>
              <a:path h="1107235" w="793183">
                <a:moveTo>
                  <a:pt x="0" y="0"/>
                </a:moveTo>
                <a:lnTo>
                  <a:pt x="793183" y="0"/>
                </a:lnTo>
                <a:lnTo>
                  <a:pt x="793183" y="1107235"/>
                </a:lnTo>
                <a:lnTo>
                  <a:pt x="0" y="11072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3538015" y="5846951"/>
            <a:ext cx="4203234" cy="4168207"/>
          </a:xfrm>
          <a:custGeom>
            <a:avLst/>
            <a:gdLst/>
            <a:ahLst/>
            <a:cxnLst/>
            <a:rect r="r" b="b" t="t" l="l"/>
            <a:pathLst>
              <a:path h="4168207" w="4203234">
                <a:moveTo>
                  <a:pt x="0" y="0"/>
                </a:moveTo>
                <a:lnTo>
                  <a:pt x="4203234" y="0"/>
                </a:lnTo>
                <a:lnTo>
                  <a:pt x="4203234" y="4168207"/>
                </a:lnTo>
                <a:lnTo>
                  <a:pt x="0" y="4168207"/>
                </a:lnTo>
                <a:lnTo>
                  <a:pt x="0" y="0"/>
                </a:lnTo>
                <a:close/>
              </a:path>
            </a:pathLst>
          </a:custGeom>
          <a:blipFill>
            <a:blip r:embed="rId11"/>
            <a:stretch>
              <a:fillRect l="0" t="0" r="0" b="0"/>
            </a:stretch>
          </a:blipFill>
        </p:spPr>
      </p:sp>
      <p:sp>
        <p:nvSpPr>
          <p:cNvPr name="Freeform 13" id="13"/>
          <p:cNvSpPr/>
          <p:nvPr/>
        </p:nvSpPr>
        <p:spPr>
          <a:xfrm flipH="false" flipV="false" rot="0">
            <a:off x="10867479" y="7113194"/>
            <a:ext cx="786519" cy="1097933"/>
          </a:xfrm>
          <a:custGeom>
            <a:avLst/>
            <a:gdLst/>
            <a:ahLst/>
            <a:cxnLst/>
            <a:rect r="r" b="b" t="t" l="l"/>
            <a:pathLst>
              <a:path h="1097933" w="786519">
                <a:moveTo>
                  <a:pt x="0" y="0"/>
                </a:moveTo>
                <a:lnTo>
                  <a:pt x="786519" y="0"/>
                </a:lnTo>
                <a:lnTo>
                  <a:pt x="786519" y="1097933"/>
                </a:lnTo>
                <a:lnTo>
                  <a:pt x="0" y="10979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1973289" y="5846951"/>
            <a:ext cx="4417303" cy="4168207"/>
          </a:xfrm>
          <a:custGeom>
            <a:avLst/>
            <a:gdLst/>
            <a:ahLst/>
            <a:cxnLst/>
            <a:rect r="r" b="b" t="t" l="l"/>
            <a:pathLst>
              <a:path h="4168207" w="4417303">
                <a:moveTo>
                  <a:pt x="0" y="0"/>
                </a:moveTo>
                <a:lnTo>
                  <a:pt x="4417303" y="0"/>
                </a:lnTo>
                <a:lnTo>
                  <a:pt x="4417303" y="4168207"/>
                </a:lnTo>
                <a:lnTo>
                  <a:pt x="0" y="4168207"/>
                </a:lnTo>
                <a:lnTo>
                  <a:pt x="0" y="0"/>
                </a:lnTo>
                <a:close/>
              </a:path>
            </a:pathLst>
          </a:custGeom>
          <a:blipFill>
            <a:blip r:embed="rId12"/>
            <a:stretch>
              <a:fillRect l="0" t="0" r="0" b="0"/>
            </a:stretch>
          </a:blipFill>
        </p:spPr>
      </p:sp>
      <p:sp>
        <p:nvSpPr>
          <p:cNvPr name="Freeform 15" id="15">
            <a:extLst>
              <a:ext uri="{C183D7F6-B498-43B3-948B-1728B52AA6E4}">
                <adec:decorative xmlns:adec="http://schemas.microsoft.com/office/drawing/2017/decorative" val="1"/>
              </a:ext>
            </a:extLst>
          </p:cNvPr>
          <p:cNvSpPr/>
          <p:nvPr/>
        </p:nvSpPr>
        <p:spPr>
          <a:xfrm flipH="false" flipV="false" rot="-328208">
            <a:off x="-45529" y="-694062"/>
            <a:ext cx="6328893" cy="1647212"/>
          </a:xfrm>
          <a:custGeom>
            <a:avLst/>
            <a:gdLst/>
            <a:ahLst/>
            <a:cxnLst/>
            <a:rect r="r" b="b" t="t" l="l"/>
            <a:pathLst>
              <a:path h="1647212" w="6328893">
                <a:moveTo>
                  <a:pt x="0" y="0"/>
                </a:moveTo>
                <a:lnTo>
                  <a:pt x="6328893" y="0"/>
                </a:lnTo>
                <a:lnTo>
                  <a:pt x="6328893" y="1647212"/>
                </a:lnTo>
                <a:lnTo>
                  <a:pt x="0" y="1647212"/>
                </a:lnTo>
                <a:lnTo>
                  <a:pt x="0" y="0"/>
                </a:lnTo>
                <a:close/>
              </a:path>
            </a:pathLst>
          </a:custGeom>
          <a:blipFill>
            <a:blip r:embed="rId13">
              <a:extLst>
                <a:ext uri="{96DAC541-7B7A-43D3-8B79-37D633B846F1}">
                  <asvg:svgBlip xmlns:asvg="http://schemas.microsoft.com/office/drawing/2016/SVG/main" r:embed="rId14"/>
                </a:ext>
              </a:extLst>
            </a:blip>
            <a:stretch>
              <a:fillRect l="0" t="-54722" r="0" b="-1366"/>
            </a:stretch>
          </a:blipFill>
        </p:spPr>
      </p:sp>
      <p:sp>
        <p:nvSpPr>
          <p:cNvPr name="TextBox 16" id="16"/>
          <p:cNvSpPr txBox="true"/>
          <p:nvPr/>
        </p:nvSpPr>
        <p:spPr>
          <a:xfrm rot="0">
            <a:off x="-227191" y="7581"/>
            <a:ext cx="6723540" cy="704850"/>
          </a:xfrm>
          <a:prstGeom prst="rect">
            <a:avLst/>
          </a:prstGeom>
        </p:spPr>
        <p:txBody>
          <a:bodyPr anchor="t" rtlCol="false" tIns="0" lIns="0" bIns="0" rIns="0">
            <a:spAutoFit/>
          </a:bodyPr>
          <a:lstStyle/>
          <a:p>
            <a:pPr algn="ctr" marL="0" indent="0" lvl="0">
              <a:lnSpc>
                <a:spcPts val="5520"/>
              </a:lnSpc>
              <a:spcBef>
                <a:spcPct val="0"/>
              </a:spcBef>
            </a:pPr>
            <a:r>
              <a:rPr lang="en-US" sz="4600">
                <a:solidFill>
                  <a:srgbClr val="FFFFFF"/>
                </a:solidFill>
                <a:latin typeface="Pluma"/>
                <a:ea typeface="Pluma"/>
                <a:cs typeface="Pluma"/>
                <a:sym typeface="Pluma"/>
              </a:rPr>
              <a:t>PARAMETER MEDAN JAUH</a:t>
            </a:r>
          </a:p>
        </p:txBody>
      </p:sp>
      <p:sp>
        <p:nvSpPr>
          <p:cNvPr name="TextBox 17" id="17"/>
          <p:cNvSpPr txBox="true"/>
          <p:nvPr/>
        </p:nvSpPr>
        <p:spPr>
          <a:xfrm rot="-258351">
            <a:off x="10744" y="15833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8" id="18"/>
          <p:cNvSpPr txBox="true"/>
          <p:nvPr/>
        </p:nvSpPr>
        <p:spPr>
          <a:xfrm rot="-258351">
            <a:off x="163144" y="17357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Gain</a:t>
            </a:r>
          </a:p>
        </p:txBody>
      </p:sp>
      <p:sp>
        <p:nvSpPr>
          <p:cNvPr name="TextBox 19" id="19"/>
          <p:cNvSpPr txBox="true"/>
          <p:nvPr/>
        </p:nvSpPr>
        <p:spPr>
          <a:xfrm rot="-258351">
            <a:off x="9154744" y="14690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0" id="20"/>
          <p:cNvSpPr txBox="true"/>
          <p:nvPr/>
        </p:nvSpPr>
        <p:spPr>
          <a:xfrm rot="-258351">
            <a:off x="9307144" y="1621407"/>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Directivity</a:t>
            </a:r>
          </a:p>
        </p:txBody>
      </p:sp>
      <p:sp>
        <p:nvSpPr>
          <p:cNvPr name="TextBox 21" id="21"/>
          <p:cNvSpPr txBox="true"/>
          <p:nvPr/>
        </p:nvSpPr>
        <p:spPr>
          <a:xfrm rot="-258351">
            <a:off x="585812" y="61772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2" id="22"/>
          <p:cNvSpPr txBox="true"/>
          <p:nvPr/>
        </p:nvSpPr>
        <p:spPr>
          <a:xfrm rot="-258351">
            <a:off x="9273292" y="64666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
        <p:nvSpPr>
          <p:cNvPr name="TextBox 23" id="23"/>
          <p:cNvSpPr txBox="true"/>
          <p:nvPr/>
        </p:nvSpPr>
        <p:spPr>
          <a:xfrm rot="-258351">
            <a:off x="738212" y="6329670"/>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HPBW(H)</a:t>
            </a:r>
          </a:p>
        </p:txBody>
      </p:sp>
      <p:sp>
        <p:nvSpPr>
          <p:cNvPr name="TextBox 24" id="24"/>
          <p:cNvSpPr txBox="true"/>
          <p:nvPr/>
        </p:nvSpPr>
        <p:spPr>
          <a:xfrm rot="-258351">
            <a:off x="9425692" y="6619045"/>
            <a:ext cx="2521646"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HPBW(E)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730438">
            <a:off x="-329193" y="5660562"/>
            <a:ext cx="7830233" cy="7443546"/>
          </a:xfrm>
          <a:custGeom>
            <a:avLst/>
            <a:gdLst/>
            <a:ahLst/>
            <a:cxnLst/>
            <a:rect r="r" b="b" t="t" l="l"/>
            <a:pathLst>
              <a:path h="7443546" w="7830233">
                <a:moveTo>
                  <a:pt x="0" y="0"/>
                </a:moveTo>
                <a:lnTo>
                  <a:pt x="7830232" y="0"/>
                </a:lnTo>
                <a:lnTo>
                  <a:pt x="7830232" y="7443546"/>
                </a:lnTo>
                <a:lnTo>
                  <a:pt x="0" y="7443546"/>
                </a:lnTo>
                <a:lnTo>
                  <a:pt x="0" y="0"/>
                </a:lnTo>
                <a:close/>
              </a:path>
            </a:pathLst>
          </a:custGeom>
          <a:blipFill>
            <a:blip r:embed="rId3"/>
            <a:stretch>
              <a:fillRect l="0" t="-2531" r="0" b="-2531"/>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0" y="303900"/>
            <a:ext cx="18288000" cy="10914695"/>
          </a:xfrm>
          <a:custGeom>
            <a:avLst/>
            <a:gdLst/>
            <a:ahLst/>
            <a:cxnLst/>
            <a:rect r="r" b="b" t="t" l="l"/>
            <a:pathLst>
              <a:path h="10914695" w="18288000">
                <a:moveTo>
                  <a:pt x="0" y="0"/>
                </a:moveTo>
                <a:lnTo>
                  <a:pt x="18288000" y="0"/>
                </a:lnTo>
                <a:lnTo>
                  <a:pt x="18288000" y="10914695"/>
                </a:lnTo>
                <a:lnTo>
                  <a:pt x="0" y="10914695"/>
                </a:lnTo>
                <a:lnTo>
                  <a:pt x="0" y="0"/>
                </a:lnTo>
                <a:close/>
              </a:path>
            </a:pathLst>
          </a:custGeom>
          <a:blipFill>
            <a:blip r:embed="rId4">
              <a:extLst>
                <a:ext uri="{96DAC541-7B7A-43D3-8B79-37D633B846F1}">
                  <asvg:svgBlip xmlns:asvg="http://schemas.microsoft.com/office/drawing/2016/SVG/main" r:embed="rId5"/>
                </a:ext>
              </a:extLst>
            </a:blip>
            <a:stretch>
              <a:fillRect l="0" t="-9365" r="-828" b="-46906"/>
            </a:stretch>
          </a:blipFill>
        </p:spPr>
      </p:sp>
      <p:sp>
        <p:nvSpPr>
          <p:cNvPr name="Freeform 5" id="5">
            <a:extLst>
              <a:ext uri="{C183D7F6-B498-43B3-948B-1728B52AA6E4}">
                <adec:decorative xmlns:adec="http://schemas.microsoft.com/office/drawing/2017/decorative" val="1"/>
              </a:ext>
            </a:extLst>
          </p:cNvPr>
          <p:cNvSpPr/>
          <p:nvPr/>
        </p:nvSpPr>
        <p:spPr>
          <a:xfrm flipH="true" flipV="false" rot="-1273849">
            <a:off x="16275602" y="6828136"/>
            <a:ext cx="2549554" cy="3565810"/>
          </a:xfrm>
          <a:custGeom>
            <a:avLst/>
            <a:gdLst/>
            <a:ahLst/>
            <a:cxnLst/>
            <a:rect r="r" b="b" t="t" l="l"/>
            <a:pathLst>
              <a:path h="3565810" w="2549554">
                <a:moveTo>
                  <a:pt x="2549554" y="0"/>
                </a:moveTo>
                <a:lnTo>
                  <a:pt x="0" y="0"/>
                </a:lnTo>
                <a:lnTo>
                  <a:pt x="0" y="3565810"/>
                </a:lnTo>
                <a:lnTo>
                  <a:pt x="2549554" y="3565810"/>
                </a:lnTo>
                <a:lnTo>
                  <a:pt x="2549554" y="0"/>
                </a:lnTo>
                <a:close/>
              </a:path>
            </a:pathLst>
          </a:custGeom>
          <a:blipFill>
            <a:blip r:embed="rId6"/>
            <a:stretch>
              <a:fillRect l="0" t="0" r="0" b="0"/>
            </a:stretch>
          </a:blipFill>
        </p:spPr>
      </p:sp>
      <p:sp>
        <p:nvSpPr>
          <p:cNvPr name="Freeform 6" id="6"/>
          <p:cNvSpPr/>
          <p:nvPr/>
        </p:nvSpPr>
        <p:spPr>
          <a:xfrm flipH="false" flipV="false" rot="0">
            <a:off x="8737022" y="1844116"/>
            <a:ext cx="8155551" cy="7875343"/>
          </a:xfrm>
          <a:custGeom>
            <a:avLst/>
            <a:gdLst/>
            <a:ahLst/>
            <a:cxnLst/>
            <a:rect r="r" b="b" t="t" l="l"/>
            <a:pathLst>
              <a:path h="7875343" w="8155551">
                <a:moveTo>
                  <a:pt x="0" y="0"/>
                </a:moveTo>
                <a:lnTo>
                  <a:pt x="8155552" y="0"/>
                </a:lnTo>
                <a:lnTo>
                  <a:pt x="8155552" y="7875343"/>
                </a:lnTo>
                <a:lnTo>
                  <a:pt x="0" y="7875343"/>
                </a:lnTo>
                <a:lnTo>
                  <a:pt x="0" y="0"/>
                </a:lnTo>
                <a:close/>
              </a:path>
            </a:pathLst>
          </a:custGeom>
          <a:blipFill>
            <a:blip r:embed="rId7"/>
            <a:stretch>
              <a:fillRect l="0" t="0" r="0" b="0"/>
            </a:stretch>
          </a:blipFill>
        </p:spPr>
      </p:sp>
      <p:sp>
        <p:nvSpPr>
          <p:cNvPr name="Freeform 7" id="7"/>
          <p:cNvSpPr/>
          <p:nvPr/>
        </p:nvSpPr>
        <p:spPr>
          <a:xfrm flipH="false" flipV="false" rot="0">
            <a:off x="2088015" y="3046923"/>
            <a:ext cx="6046705" cy="5469730"/>
          </a:xfrm>
          <a:custGeom>
            <a:avLst/>
            <a:gdLst/>
            <a:ahLst/>
            <a:cxnLst/>
            <a:rect r="r" b="b" t="t" l="l"/>
            <a:pathLst>
              <a:path h="5469730" w="6046705">
                <a:moveTo>
                  <a:pt x="0" y="0"/>
                </a:moveTo>
                <a:lnTo>
                  <a:pt x="6046705" y="0"/>
                </a:lnTo>
                <a:lnTo>
                  <a:pt x="6046705" y="5469729"/>
                </a:lnTo>
                <a:lnTo>
                  <a:pt x="0" y="5469729"/>
                </a:lnTo>
                <a:lnTo>
                  <a:pt x="0" y="0"/>
                </a:lnTo>
                <a:close/>
              </a:path>
            </a:pathLst>
          </a:custGeom>
          <a:blipFill>
            <a:blip r:embed="rId8"/>
            <a:stretch>
              <a:fillRect l="0" t="0" r="0" b="0"/>
            </a:stretch>
          </a:blipFill>
        </p:spPr>
      </p:sp>
      <p:sp>
        <p:nvSpPr>
          <p:cNvPr name="TextBox 8" id="8"/>
          <p:cNvSpPr txBox="true"/>
          <p:nvPr/>
        </p:nvSpPr>
        <p:spPr>
          <a:xfrm rot="0">
            <a:off x="1028700" y="546788"/>
            <a:ext cx="6588034" cy="1628775"/>
          </a:xfrm>
          <a:prstGeom prst="rect">
            <a:avLst/>
          </a:prstGeom>
        </p:spPr>
        <p:txBody>
          <a:bodyPr anchor="t" rtlCol="false" tIns="0" lIns="0" bIns="0" rIns="0">
            <a:spAutoFit/>
          </a:bodyPr>
          <a:lstStyle/>
          <a:p>
            <a:pPr algn="just" marL="0" indent="0" lvl="0">
              <a:lnSpc>
                <a:spcPts val="6388"/>
              </a:lnSpc>
              <a:spcBef>
                <a:spcPct val="0"/>
              </a:spcBef>
            </a:pPr>
            <a:r>
              <a:rPr lang="en-US" sz="5323">
                <a:solidFill>
                  <a:srgbClr val="FFFFFF"/>
                </a:solidFill>
                <a:latin typeface="Pluma"/>
                <a:ea typeface="Pluma"/>
                <a:cs typeface="Pluma"/>
                <a:sym typeface="Pluma"/>
              </a:rPr>
              <a:t>TABEL HASIL OPTIMASI  AKHIR SIMULASI</a:t>
            </a:r>
          </a:p>
        </p:txBody>
      </p:sp>
      <p:sp>
        <p:nvSpPr>
          <p:cNvPr name="TextBox 9" id="9"/>
          <p:cNvSpPr txBox="true"/>
          <p:nvPr/>
        </p:nvSpPr>
        <p:spPr>
          <a:xfrm rot="0">
            <a:off x="2088015" y="2646873"/>
            <a:ext cx="5948146" cy="400050"/>
          </a:xfrm>
          <a:prstGeom prst="rect">
            <a:avLst/>
          </a:prstGeom>
        </p:spPr>
        <p:txBody>
          <a:bodyPr anchor="t" rtlCol="false" tIns="0" lIns="0" bIns="0" rIns="0">
            <a:spAutoFit/>
          </a:bodyPr>
          <a:lstStyle/>
          <a:p>
            <a:pPr algn="ctr">
              <a:lnSpc>
                <a:spcPts val="3120"/>
              </a:lnSpc>
              <a:spcBef>
                <a:spcPct val="0"/>
              </a:spcBef>
            </a:pPr>
            <a:r>
              <a:rPr lang="en-US" b="true" sz="2600">
                <a:solidFill>
                  <a:srgbClr val="FFFFFF"/>
                </a:solidFill>
                <a:latin typeface="Anonymous Pro Bold"/>
                <a:ea typeface="Anonymous Pro Bold"/>
                <a:cs typeface="Anonymous Pro Bold"/>
                <a:sym typeface="Anonymous Pro Bold"/>
              </a:rPr>
              <a:t>Hasil Optimasi Akhir Perancangan </a:t>
            </a:r>
          </a:p>
        </p:txBody>
      </p:sp>
      <p:sp>
        <p:nvSpPr>
          <p:cNvPr name="TextBox 10" id="10"/>
          <p:cNvSpPr txBox="true"/>
          <p:nvPr/>
        </p:nvSpPr>
        <p:spPr>
          <a:xfrm rot="0">
            <a:off x="8737022" y="546788"/>
            <a:ext cx="8522278" cy="1181100"/>
          </a:xfrm>
          <a:prstGeom prst="rect">
            <a:avLst/>
          </a:prstGeom>
        </p:spPr>
        <p:txBody>
          <a:bodyPr anchor="t" rtlCol="false" tIns="0" lIns="0" bIns="0" rIns="0">
            <a:spAutoFit/>
          </a:bodyPr>
          <a:lstStyle/>
          <a:p>
            <a:pPr algn="l">
              <a:lnSpc>
                <a:spcPts val="3120"/>
              </a:lnSpc>
              <a:spcBef>
                <a:spcPct val="0"/>
              </a:spcBef>
            </a:pPr>
            <a:r>
              <a:rPr lang="en-US" b="true" sz="2600">
                <a:solidFill>
                  <a:srgbClr val="FFFFFF"/>
                </a:solidFill>
                <a:latin typeface="Anonymous Pro Bold"/>
                <a:ea typeface="Anonymous Pro Bold"/>
                <a:cs typeface="Anonymous Pro Bold"/>
                <a:sym typeface="Anonymous Pro Bold"/>
              </a:rPr>
              <a:t>Setelah melakukan perhitungan dan optimasi maka didapatkan hasil optimasi  dengan parameter sebagai berikut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0614804">
            <a:off x="12774016" y="-462898"/>
            <a:ext cx="5267943" cy="3312219"/>
          </a:xfrm>
          <a:custGeom>
            <a:avLst/>
            <a:gdLst/>
            <a:ahLst/>
            <a:cxnLst/>
            <a:rect r="r" b="b" t="t" l="l"/>
            <a:pathLst>
              <a:path h="3312219" w="5267943">
                <a:moveTo>
                  <a:pt x="0" y="0"/>
                </a:moveTo>
                <a:lnTo>
                  <a:pt x="5267943" y="0"/>
                </a:lnTo>
                <a:lnTo>
                  <a:pt x="5267943" y="3312219"/>
                </a:lnTo>
                <a:lnTo>
                  <a:pt x="0" y="3312219"/>
                </a:lnTo>
                <a:lnTo>
                  <a:pt x="0" y="0"/>
                </a:lnTo>
                <a:close/>
              </a:path>
            </a:pathLst>
          </a:custGeom>
          <a:blipFill>
            <a:blip r:embed="rId3"/>
            <a:stretch>
              <a:fillRect l="0" t="0" r="0" b="0"/>
            </a:stretch>
          </a:blipFill>
        </p:spPr>
      </p:sp>
      <p:sp>
        <p:nvSpPr>
          <p:cNvPr name="Freeform 4" id="4" descr="a squiggle doodle"/>
          <p:cNvSpPr/>
          <p:nvPr/>
        </p:nvSpPr>
        <p:spPr>
          <a:xfrm flipH="false" flipV="false" rot="0">
            <a:off x="7347714" y="1028700"/>
            <a:ext cx="2727716" cy="501218"/>
          </a:xfrm>
          <a:custGeom>
            <a:avLst/>
            <a:gdLst/>
            <a:ahLst/>
            <a:cxnLst/>
            <a:rect r="r" b="b" t="t" l="l"/>
            <a:pathLst>
              <a:path h="501218" w="2727716">
                <a:moveTo>
                  <a:pt x="0" y="0"/>
                </a:moveTo>
                <a:lnTo>
                  <a:pt x="2727716" y="0"/>
                </a:lnTo>
                <a:lnTo>
                  <a:pt x="2727716" y="501218"/>
                </a:lnTo>
                <a:lnTo>
                  <a:pt x="0" y="5012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368199">
            <a:off x="-1113387" y="9204977"/>
            <a:ext cx="3121741" cy="1521849"/>
          </a:xfrm>
          <a:custGeom>
            <a:avLst/>
            <a:gdLst/>
            <a:ahLst/>
            <a:cxnLst/>
            <a:rect r="r" b="b" t="t" l="l"/>
            <a:pathLst>
              <a:path h="1521849" w="3121741">
                <a:moveTo>
                  <a:pt x="0" y="0"/>
                </a:moveTo>
                <a:lnTo>
                  <a:pt x="3121740" y="0"/>
                </a:lnTo>
                <a:lnTo>
                  <a:pt x="3121740" y="1521849"/>
                </a:lnTo>
                <a:lnTo>
                  <a:pt x="0" y="15218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232324" y="363665"/>
            <a:ext cx="2600971" cy="829546"/>
            <a:chOff x="0" y="0"/>
            <a:chExt cx="3467961" cy="1106061"/>
          </a:xfrm>
        </p:grpSpPr>
        <p:sp>
          <p:nvSpPr>
            <p:cNvPr name="Freeform 7" id="7"/>
            <p:cNvSpPr/>
            <p:nvPr/>
          </p:nvSpPr>
          <p:spPr>
            <a:xfrm flipH="false" flipV="false" rot="0">
              <a:off x="56626" y="0"/>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0" y="304710"/>
              <a:ext cx="3411335" cy="452777"/>
            </a:xfrm>
            <a:custGeom>
              <a:avLst/>
              <a:gdLst/>
              <a:ahLst/>
              <a:cxnLst/>
              <a:rect r="r" b="b" t="t" l="l"/>
              <a:pathLst>
                <a:path h="452777" w="3411335">
                  <a:moveTo>
                    <a:pt x="0" y="0"/>
                  </a:moveTo>
                  <a:lnTo>
                    <a:pt x="3411335" y="0"/>
                  </a:lnTo>
                  <a:lnTo>
                    <a:pt x="3411335" y="452778"/>
                  </a:lnTo>
                  <a:lnTo>
                    <a:pt x="0" y="4527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653284"/>
              <a:ext cx="3411335" cy="452777"/>
            </a:xfrm>
            <a:custGeom>
              <a:avLst/>
              <a:gdLst/>
              <a:ahLst/>
              <a:cxnLst/>
              <a:rect r="r" b="b" t="t" l="l"/>
              <a:pathLst>
                <a:path h="452777" w="3411335">
                  <a:moveTo>
                    <a:pt x="0" y="0"/>
                  </a:moveTo>
                  <a:lnTo>
                    <a:pt x="3411335" y="0"/>
                  </a:lnTo>
                  <a:lnTo>
                    <a:pt x="3411335" y="452777"/>
                  </a:lnTo>
                  <a:lnTo>
                    <a:pt x="0" y="4527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0" id="10"/>
          <p:cNvSpPr/>
          <p:nvPr/>
        </p:nvSpPr>
        <p:spPr>
          <a:xfrm flipH="false" flipV="false" rot="0">
            <a:off x="2080752" y="3149153"/>
            <a:ext cx="6109147" cy="6109147"/>
          </a:xfrm>
          <a:custGeom>
            <a:avLst/>
            <a:gdLst/>
            <a:ahLst/>
            <a:cxnLst/>
            <a:rect r="r" b="b" t="t" l="l"/>
            <a:pathLst>
              <a:path h="6109147" w="6109147">
                <a:moveTo>
                  <a:pt x="0" y="0"/>
                </a:moveTo>
                <a:lnTo>
                  <a:pt x="6109147" y="0"/>
                </a:lnTo>
                <a:lnTo>
                  <a:pt x="6109147" y="6109147"/>
                </a:lnTo>
                <a:lnTo>
                  <a:pt x="0" y="6109147"/>
                </a:lnTo>
                <a:lnTo>
                  <a:pt x="0" y="0"/>
                </a:lnTo>
                <a:close/>
              </a:path>
            </a:pathLst>
          </a:custGeom>
          <a:blipFill>
            <a:blip r:embed="rId10"/>
            <a:stretch>
              <a:fillRect l="0" t="0" r="0" b="0"/>
            </a:stretch>
          </a:blipFill>
        </p:spPr>
      </p:sp>
      <p:sp>
        <p:nvSpPr>
          <p:cNvPr name="Freeform 11" id="11"/>
          <p:cNvSpPr/>
          <p:nvPr/>
        </p:nvSpPr>
        <p:spPr>
          <a:xfrm flipH="false" flipV="false" rot="0">
            <a:off x="10075430" y="3149153"/>
            <a:ext cx="6109147" cy="6109147"/>
          </a:xfrm>
          <a:custGeom>
            <a:avLst/>
            <a:gdLst/>
            <a:ahLst/>
            <a:cxnLst/>
            <a:rect r="r" b="b" t="t" l="l"/>
            <a:pathLst>
              <a:path h="6109147" w="6109147">
                <a:moveTo>
                  <a:pt x="0" y="0"/>
                </a:moveTo>
                <a:lnTo>
                  <a:pt x="6109146" y="0"/>
                </a:lnTo>
                <a:lnTo>
                  <a:pt x="6109146" y="6109147"/>
                </a:lnTo>
                <a:lnTo>
                  <a:pt x="0" y="6109147"/>
                </a:lnTo>
                <a:lnTo>
                  <a:pt x="0" y="0"/>
                </a:lnTo>
                <a:close/>
              </a:path>
            </a:pathLst>
          </a:custGeom>
          <a:blipFill>
            <a:blip r:embed="rId11"/>
            <a:stretch>
              <a:fillRect l="0" t="0" r="0" b="0"/>
            </a:stretch>
          </a:blipFill>
        </p:spPr>
      </p:sp>
      <p:sp>
        <p:nvSpPr>
          <p:cNvPr name="TextBox 12" id="12"/>
          <p:cNvSpPr txBox="true"/>
          <p:nvPr/>
        </p:nvSpPr>
        <p:spPr>
          <a:xfrm rot="0">
            <a:off x="447483" y="161585"/>
            <a:ext cx="10949193" cy="1031626"/>
          </a:xfrm>
          <a:prstGeom prst="rect">
            <a:avLst/>
          </a:prstGeom>
        </p:spPr>
        <p:txBody>
          <a:bodyPr anchor="t" rtlCol="false" tIns="0" lIns="0" bIns="0" rIns="0">
            <a:spAutoFit/>
          </a:bodyPr>
          <a:lstStyle/>
          <a:p>
            <a:pPr algn="ctr" marL="0" indent="0" lvl="0">
              <a:lnSpc>
                <a:spcPts val="8140"/>
              </a:lnSpc>
              <a:spcBef>
                <a:spcPct val="0"/>
              </a:spcBef>
            </a:pPr>
            <a:r>
              <a:rPr lang="en-US" sz="6783">
                <a:solidFill>
                  <a:srgbClr val="3553A0"/>
                </a:solidFill>
                <a:latin typeface="Pluma"/>
                <a:ea typeface="Pluma"/>
                <a:cs typeface="Pluma"/>
                <a:sym typeface="Pluma"/>
              </a:rPr>
              <a:t>DESAIN ANTENA (REALISASI)</a:t>
            </a:r>
          </a:p>
        </p:txBody>
      </p:sp>
      <p:sp>
        <p:nvSpPr>
          <p:cNvPr name="TextBox 13" id="13"/>
          <p:cNvSpPr txBox="true"/>
          <p:nvPr/>
        </p:nvSpPr>
        <p:spPr>
          <a:xfrm rot="0">
            <a:off x="2847566" y="2160070"/>
            <a:ext cx="4575518" cy="828675"/>
          </a:xfrm>
          <a:prstGeom prst="rect">
            <a:avLst/>
          </a:prstGeom>
        </p:spPr>
        <p:txBody>
          <a:bodyPr anchor="t" rtlCol="false" tIns="0" lIns="0" bIns="0" rIns="0">
            <a:spAutoFit/>
          </a:bodyPr>
          <a:lstStyle/>
          <a:p>
            <a:pPr algn="ctr">
              <a:lnSpc>
                <a:spcPts val="6599"/>
              </a:lnSpc>
              <a:spcBef>
                <a:spcPct val="0"/>
              </a:spcBef>
            </a:pPr>
            <a:r>
              <a:rPr lang="en-US" sz="5499">
                <a:solidFill>
                  <a:srgbClr val="3553A0"/>
                </a:solidFill>
                <a:latin typeface="Anonymous Pro"/>
                <a:ea typeface="Anonymous Pro"/>
                <a:cs typeface="Anonymous Pro"/>
                <a:sym typeface="Anonymous Pro"/>
              </a:rPr>
              <a:t>TAMPAK DEPAN</a:t>
            </a:r>
          </a:p>
        </p:txBody>
      </p:sp>
      <p:sp>
        <p:nvSpPr>
          <p:cNvPr name="TextBox 14" id="14"/>
          <p:cNvSpPr txBox="true"/>
          <p:nvPr/>
        </p:nvSpPr>
        <p:spPr>
          <a:xfrm rot="0">
            <a:off x="10270311" y="2160070"/>
            <a:ext cx="5719384" cy="828675"/>
          </a:xfrm>
          <a:prstGeom prst="rect">
            <a:avLst/>
          </a:prstGeom>
        </p:spPr>
        <p:txBody>
          <a:bodyPr anchor="t" rtlCol="false" tIns="0" lIns="0" bIns="0" rIns="0">
            <a:spAutoFit/>
          </a:bodyPr>
          <a:lstStyle/>
          <a:p>
            <a:pPr algn="ctr">
              <a:lnSpc>
                <a:spcPts val="6599"/>
              </a:lnSpc>
              <a:spcBef>
                <a:spcPct val="0"/>
              </a:spcBef>
            </a:pPr>
            <a:r>
              <a:rPr lang="en-US" sz="5499">
                <a:solidFill>
                  <a:srgbClr val="3553A0"/>
                </a:solidFill>
                <a:latin typeface="Anonymous Pro"/>
                <a:ea typeface="Anonymous Pro"/>
                <a:cs typeface="Anonymous Pro"/>
                <a:sym typeface="Anonymous Pro"/>
              </a:rPr>
              <a:t>TAMPAK BELAKANG</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FD7CA"/>
        </a:solidFill>
      </p:bgPr>
    </p:bg>
    <p:spTree>
      <p:nvGrpSpPr>
        <p:cNvPr id="1" name=""/>
        <p:cNvGrpSpPr/>
        <p:nvPr/>
      </p:nvGrpSpPr>
      <p:grpSpPr>
        <a:xfrm>
          <a:off x="0" y="0"/>
          <a:ext cx="0" cy="0"/>
          <a:chOff x="0" y="0"/>
          <a:chExt cx="0" cy="0"/>
        </a:xfrm>
      </p:grpSpPr>
      <p:sp>
        <p:nvSpPr>
          <p:cNvPr name="Freeform 2" id="2">
            <a:extLst>
              <a:ext uri="{C183D7F6-B498-43B3-948B-1728B52AA6E4}">
                <adec:decorative xmlns:adec="http://schemas.microsoft.com/office/drawing/2017/decorative" val="1"/>
              </a:ext>
            </a:extLst>
          </p:cNvPr>
          <p:cNvSpPr/>
          <p:nvPr/>
        </p:nvSpPr>
        <p:spPr>
          <a:xfrm flipH="false" flipV="false" rot="989356">
            <a:off x="-1692023" y="9410278"/>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2"/>
            <a:stretch>
              <a:fillRect l="0" t="0" r="0" b="0"/>
            </a:stretch>
          </a:blipFill>
        </p:spPr>
      </p:sp>
      <p:sp>
        <p:nvSpPr>
          <p:cNvPr name="Freeform 3" id="3">
            <a:extLst>
              <a:ext uri="{C183D7F6-B498-43B3-948B-1728B52AA6E4}">
                <adec:decorative xmlns:adec="http://schemas.microsoft.com/office/drawing/2017/decorative" val="1"/>
              </a:ext>
            </a:extLst>
          </p:cNvPr>
          <p:cNvSpPr/>
          <p:nvPr/>
        </p:nvSpPr>
        <p:spPr>
          <a:xfrm flipH="false" flipV="false" rot="-1298161">
            <a:off x="15319442" y="506439"/>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328208">
            <a:off x="-104136" y="-224407"/>
            <a:ext cx="4490843" cy="1168825"/>
          </a:xfrm>
          <a:custGeom>
            <a:avLst/>
            <a:gdLst/>
            <a:ahLst/>
            <a:cxnLst/>
            <a:rect r="r" b="b" t="t" l="l"/>
            <a:pathLst>
              <a:path h="1168825" w="4490843">
                <a:moveTo>
                  <a:pt x="0" y="0"/>
                </a:moveTo>
                <a:lnTo>
                  <a:pt x="4490843" y="0"/>
                </a:lnTo>
                <a:lnTo>
                  <a:pt x="4490843" y="1168826"/>
                </a:lnTo>
                <a:lnTo>
                  <a:pt x="0" y="1168826"/>
                </a:lnTo>
                <a:lnTo>
                  <a:pt x="0" y="0"/>
                </a:lnTo>
                <a:close/>
              </a:path>
            </a:pathLst>
          </a:custGeom>
          <a:blipFill>
            <a:blip r:embed="rId5">
              <a:extLst>
                <a:ext uri="{96DAC541-7B7A-43D3-8B79-37D633B846F1}">
                  <asvg:svgBlip xmlns:asvg="http://schemas.microsoft.com/office/drawing/2016/SVG/main" r:embed="rId6"/>
                </a:ext>
              </a:extLst>
            </a:blip>
            <a:stretch>
              <a:fillRect l="0" t="-54722" r="0" b="-1366"/>
            </a:stretch>
          </a:blipFill>
        </p:spPr>
      </p:sp>
      <p:sp>
        <p:nvSpPr>
          <p:cNvPr name="Freeform 5" id="5"/>
          <p:cNvSpPr/>
          <p:nvPr/>
        </p:nvSpPr>
        <p:spPr>
          <a:xfrm flipH="false" flipV="false" rot="0">
            <a:off x="727016" y="1282911"/>
            <a:ext cx="11238926" cy="7975389"/>
          </a:xfrm>
          <a:custGeom>
            <a:avLst/>
            <a:gdLst/>
            <a:ahLst/>
            <a:cxnLst/>
            <a:rect r="r" b="b" t="t" l="l"/>
            <a:pathLst>
              <a:path h="7975389" w="11238926">
                <a:moveTo>
                  <a:pt x="0" y="0"/>
                </a:moveTo>
                <a:lnTo>
                  <a:pt x="11238926" y="0"/>
                </a:lnTo>
                <a:lnTo>
                  <a:pt x="11238926" y="7975389"/>
                </a:lnTo>
                <a:lnTo>
                  <a:pt x="0" y="7975389"/>
                </a:lnTo>
                <a:lnTo>
                  <a:pt x="0" y="0"/>
                </a:lnTo>
                <a:close/>
              </a:path>
            </a:pathLst>
          </a:custGeom>
          <a:blipFill>
            <a:blip r:embed="rId7"/>
            <a:stretch>
              <a:fillRect l="0" t="0" r="0" b="0"/>
            </a:stretch>
          </a:blipFill>
        </p:spPr>
      </p:sp>
      <p:sp>
        <p:nvSpPr>
          <p:cNvPr name="TextBox 6" id="6"/>
          <p:cNvSpPr txBox="true"/>
          <p:nvPr/>
        </p:nvSpPr>
        <p:spPr>
          <a:xfrm rot="0">
            <a:off x="-227191" y="17106"/>
            <a:ext cx="4863180" cy="685800"/>
          </a:xfrm>
          <a:prstGeom prst="rect">
            <a:avLst/>
          </a:prstGeom>
        </p:spPr>
        <p:txBody>
          <a:bodyPr anchor="t" rtlCol="false" tIns="0" lIns="0" bIns="0" rIns="0">
            <a:spAutoFit/>
          </a:bodyPr>
          <a:lstStyle/>
          <a:p>
            <a:pPr algn="ctr" marL="0" indent="0" lvl="0">
              <a:lnSpc>
                <a:spcPts val="5400"/>
              </a:lnSpc>
              <a:spcBef>
                <a:spcPct val="0"/>
              </a:spcBef>
            </a:pPr>
            <a:r>
              <a:rPr lang="en-US" sz="4500">
                <a:solidFill>
                  <a:srgbClr val="FFFFFF"/>
                </a:solidFill>
                <a:latin typeface="Pluma"/>
                <a:ea typeface="Pluma"/>
                <a:cs typeface="Pluma"/>
                <a:sym typeface="Pluma"/>
              </a:rPr>
              <a:t>HASIL REALISASI</a:t>
            </a:r>
          </a:p>
        </p:txBody>
      </p:sp>
      <p:sp>
        <p:nvSpPr>
          <p:cNvPr name="Freeform 7" id="7">
            <a:extLst>
              <a:ext uri="{C183D7F6-B498-43B3-948B-1728B52AA6E4}">
                <adec:decorative xmlns:adec="http://schemas.microsoft.com/office/drawing/2017/decorative" val="1"/>
              </a:ext>
            </a:extLst>
          </p:cNvPr>
          <p:cNvSpPr/>
          <p:nvPr/>
        </p:nvSpPr>
        <p:spPr>
          <a:xfrm flipH="false" flipV="false" rot="174594">
            <a:off x="12969907" y="3133052"/>
            <a:ext cx="4346838" cy="4487809"/>
          </a:xfrm>
          <a:custGeom>
            <a:avLst/>
            <a:gdLst/>
            <a:ahLst/>
            <a:cxnLst/>
            <a:rect r="r" b="b" t="t" l="l"/>
            <a:pathLst>
              <a:path h="4487809" w="4346838">
                <a:moveTo>
                  <a:pt x="0" y="0"/>
                </a:moveTo>
                <a:lnTo>
                  <a:pt x="4346838" y="0"/>
                </a:lnTo>
                <a:lnTo>
                  <a:pt x="4346838" y="4487810"/>
                </a:lnTo>
                <a:lnTo>
                  <a:pt x="0" y="4487810"/>
                </a:lnTo>
                <a:lnTo>
                  <a:pt x="0" y="0"/>
                </a:lnTo>
                <a:close/>
              </a:path>
            </a:pathLst>
          </a:custGeom>
          <a:blipFill>
            <a:blip r:embed="rId8">
              <a:extLst>
                <a:ext uri="{96DAC541-7B7A-43D3-8B79-37D633B846F1}">
                  <asvg:svgBlip xmlns:asvg="http://schemas.microsoft.com/office/drawing/2016/SVG/main" r:embed="rId9"/>
                </a:ext>
              </a:extLst>
            </a:blip>
            <a:stretch>
              <a:fillRect l="-17095" t="0" r="-17144" b="0"/>
            </a:stretch>
          </a:blipFill>
        </p:spPr>
      </p:sp>
      <p:sp>
        <p:nvSpPr>
          <p:cNvPr name="TextBox 8" id="8"/>
          <p:cNvSpPr txBox="true"/>
          <p:nvPr/>
        </p:nvSpPr>
        <p:spPr>
          <a:xfrm rot="174594">
            <a:off x="13457199" y="4344327"/>
            <a:ext cx="3353983" cy="2466975"/>
          </a:xfrm>
          <a:prstGeom prst="rect">
            <a:avLst/>
          </a:prstGeom>
        </p:spPr>
        <p:txBody>
          <a:bodyPr anchor="t" rtlCol="false" tIns="0" lIns="0" bIns="0" rIns="0">
            <a:spAutoFit/>
          </a:bodyPr>
          <a:lstStyle/>
          <a:p>
            <a:pPr algn="just">
              <a:lnSpc>
                <a:spcPts val="3253"/>
              </a:lnSpc>
            </a:pPr>
            <a:r>
              <a:rPr lang="en-US" sz="2711">
                <a:solidFill>
                  <a:srgbClr val="FFFFFF"/>
                </a:solidFill>
                <a:latin typeface="Anonymous Pro"/>
                <a:ea typeface="Anonymous Pro"/>
                <a:cs typeface="Anonymous Pro"/>
                <a:sym typeface="Anonymous Pro"/>
              </a:rPr>
              <a:t>Keterangan :</a:t>
            </a:r>
          </a:p>
          <a:p>
            <a:pPr algn="just">
              <a:lnSpc>
                <a:spcPts val="3253"/>
              </a:lnSpc>
            </a:pPr>
            <a:r>
              <a:rPr lang="en-US" sz="2711">
                <a:solidFill>
                  <a:srgbClr val="FFFFFF"/>
                </a:solidFill>
                <a:latin typeface="Anonymous Pro"/>
                <a:ea typeface="Anonymous Pro"/>
                <a:cs typeface="Anonymous Pro"/>
                <a:sym typeface="Anonymous Pro"/>
              </a:rPr>
              <a:t>Frekuensi Start : 2 GHz</a:t>
            </a:r>
          </a:p>
          <a:p>
            <a:pPr algn="just">
              <a:lnSpc>
                <a:spcPts val="3253"/>
              </a:lnSpc>
            </a:pPr>
            <a:r>
              <a:rPr lang="en-US" sz="2711">
                <a:solidFill>
                  <a:srgbClr val="FFFFFF"/>
                </a:solidFill>
                <a:latin typeface="Anonymous Pro"/>
                <a:ea typeface="Anonymous Pro"/>
                <a:cs typeface="Anonymous Pro"/>
                <a:sym typeface="Anonymous Pro"/>
              </a:rPr>
              <a:t>Frekuensi Stop : 4 GHz</a:t>
            </a:r>
          </a:p>
          <a:p>
            <a:pPr algn="just" marL="0" indent="0" lvl="0">
              <a:lnSpc>
                <a:spcPts val="3253"/>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1511620">
            <a:off x="15617464" y="606948"/>
            <a:ext cx="854181" cy="843503"/>
          </a:xfrm>
          <a:custGeom>
            <a:avLst/>
            <a:gdLst/>
            <a:ahLst/>
            <a:cxnLst/>
            <a:rect r="r" b="b" t="t" l="l"/>
            <a:pathLst>
              <a:path h="843503" w="854181">
                <a:moveTo>
                  <a:pt x="0" y="0"/>
                </a:moveTo>
                <a:lnTo>
                  <a:pt x="854181" y="0"/>
                </a:lnTo>
                <a:lnTo>
                  <a:pt x="854181" y="843504"/>
                </a:lnTo>
                <a:lnTo>
                  <a:pt x="0" y="843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48291" y="4328839"/>
            <a:ext cx="7305525" cy="5182357"/>
          </a:xfrm>
          <a:custGeom>
            <a:avLst/>
            <a:gdLst/>
            <a:ahLst/>
            <a:cxnLst/>
            <a:rect r="r" b="b" t="t" l="l"/>
            <a:pathLst>
              <a:path h="5182357" w="7305525">
                <a:moveTo>
                  <a:pt x="0" y="0"/>
                </a:moveTo>
                <a:lnTo>
                  <a:pt x="7305525" y="0"/>
                </a:lnTo>
                <a:lnTo>
                  <a:pt x="7305525" y="5182356"/>
                </a:lnTo>
                <a:lnTo>
                  <a:pt x="0" y="5182356"/>
                </a:lnTo>
                <a:lnTo>
                  <a:pt x="0" y="0"/>
                </a:lnTo>
                <a:close/>
              </a:path>
            </a:pathLst>
          </a:custGeom>
          <a:blipFill>
            <a:blip r:embed="rId5"/>
            <a:stretch>
              <a:fillRect l="0" t="0" r="0" b="0"/>
            </a:stretch>
          </a:blipFill>
        </p:spPr>
      </p:sp>
      <p:sp>
        <p:nvSpPr>
          <p:cNvPr name="Freeform 5" id="5"/>
          <p:cNvSpPr/>
          <p:nvPr/>
        </p:nvSpPr>
        <p:spPr>
          <a:xfrm flipH="false" flipV="false" rot="0">
            <a:off x="9459735" y="4328839"/>
            <a:ext cx="7305525" cy="5182357"/>
          </a:xfrm>
          <a:custGeom>
            <a:avLst/>
            <a:gdLst/>
            <a:ahLst/>
            <a:cxnLst/>
            <a:rect r="r" b="b" t="t" l="l"/>
            <a:pathLst>
              <a:path h="5182357" w="7305525">
                <a:moveTo>
                  <a:pt x="0" y="0"/>
                </a:moveTo>
                <a:lnTo>
                  <a:pt x="7305525" y="0"/>
                </a:lnTo>
                <a:lnTo>
                  <a:pt x="7305525" y="5182356"/>
                </a:lnTo>
                <a:lnTo>
                  <a:pt x="0" y="5182356"/>
                </a:lnTo>
                <a:lnTo>
                  <a:pt x="0" y="0"/>
                </a:lnTo>
                <a:close/>
              </a:path>
            </a:pathLst>
          </a:custGeom>
          <a:blipFill>
            <a:blip r:embed="rId6"/>
            <a:stretch>
              <a:fillRect l="0" t="0" r="0" b="0"/>
            </a:stretch>
          </a:blipFill>
        </p:spPr>
      </p:sp>
      <p:sp>
        <p:nvSpPr>
          <p:cNvPr name="TextBox 6" id="6"/>
          <p:cNvSpPr txBox="true"/>
          <p:nvPr/>
        </p:nvSpPr>
        <p:spPr>
          <a:xfrm rot="0">
            <a:off x="665430" y="455739"/>
            <a:ext cx="11316327" cy="838200"/>
          </a:xfrm>
          <a:prstGeom prst="rect">
            <a:avLst/>
          </a:prstGeom>
        </p:spPr>
        <p:txBody>
          <a:bodyPr anchor="t" rtlCol="false" tIns="0" lIns="0" bIns="0" rIns="0">
            <a:spAutoFit/>
          </a:bodyPr>
          <a:lstStyle/>
          <a:p>
            <a:pPr algn="ctr" marL="0" indent="0" lvl="0">
              <a:lnSpc>
                <a:spcPts val="6599"/>
              </a:lnSpc>
              <a:spcBef>
                <a:spcPct val="0"/>
              </a:spcBef>
            </a:pPr>
            <a:r>
              <a:rPr lang="en-US" sz="5499">
                <a:solidFill>
                  <a:srgbClr val="000000"/>
                </a:solidFill>
                <a:latin typeface="Pluma"/>
                <a:ea typeface="Pluma"/>
                <a:cs typeface="Pluma"/>
                <a:sym typeface="Pluma"/>
              </a:rPr>
              <a:t>PARAMETER MEDAN JAUH REALISASI</a:t>
            </a:r>
          </a:p>
        </p:txBody>
      </p:sp>
      <p:sp>
        <p:nvSpPr>
          <p:cNvPr name="TextBox 7" id="7"/>
          <p:cNvSpPr txBox="true"/>
          <p:nvPr/>
        </p:nvSpPr>
        <p:spPr>
          <a:xfrm rot="0">
            <a:off x="2906169" y="1755336"/>
            <a:ext cx="6953807" cy="400050"/>
          </a:xfrm>
          <a:prstGeom prst="rect">
            <a:avLst/>
          </a:prstGeom>
        </p:spPr>
        <p:txBody>
          <a:bodyPr anchor="t" rtlCol="false" tIns="0" lIns="0" bIns="0" rIns="0">
            <a:spAutoFit/>
          </a:bodyPr>
          <a:lstStyle/>
          <a:p>
            <a:pPr algn="l">
              <a:lnSpc>
                <a:spcPts val="3120"/>
              </a:lnSpc>
            </a:pPr>
            <a:r>
              <a:rPr lang="en-US" b="true" sz="2600">
                <a:solidFill>
                  <a:srgbClr val="000000"/>
                </a:solidFill>
                <a:latin typeface="Anonymous Pro Bold"/>
                <a:ea typeface="Anonymous Pro Bold"/>
                <a:cs typeface="Anonymous Pro Bold"/>
                <a:sym typeface="Anonymous Pro Bold"/>
              </a:rPr>
              <a:t>Gain</a:t>
            </a:r>
          </a:p>
        </p:txBody>
      </p:sp>
      <p:sp>
        <p:nvSpPr>
          <p:cNvPr name="Freeform 8" id="8">
            <a:extLst>
              <a:ext uri="{C183D7F6-B498-43B3-948B-1728B52AA6E4}">
                <adec:decorative xmlns:adec="http://schemas.microsoft.com/office/drawing/2017/decorative" val="1"/>
              </a:ext>
            </a:extLst>
          </p:cNvPr>
          <p:cNvSpPr/>
          <p:nvPr/>
        </p:nvSpPr>
        <p:spPr>
          <a:xfrm flipH="false" flipV="false" rot="-1511620">
            <a:off x="1811686" y="1343109"/>
            <a:ext cx="854181" cy="843503"/>
          </a:xfrm>
          <a:custGeom>
            <a:avLst/>
            <a:gdLst/>
            <a:ahLst/>
            <a:cxnLst/>
            <a:rect r="r" b="b" t="t" l="l"/>
            <a:pathLst>
              <a:path h="843503" w="854181">
                <a:moveTo>
                  <a:pt x="0" y="0"/>
                </a:moveTo>
                <a:lnTo>
                  <a:pt x="854181" y="0"/>
                </a:lnTo>
                <a:lnTo>
                  <a:pt x="854181" y="843504"/>
                </a:lnTo>
                <a:lnTo>
                  <a:pt x="0" y="8435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a:extLst>
              <a:ext uri="{C183D7F6-B498-43B3-948B-1728B52AA6E4}">
                <adec:decorative xmlns:adec="http://schemas.microsoft.com/office/drawing/2017/decorative" val="1"/>
              </a:ext>
            </a:extLst>
          </p:cNvPr>
          <p:cNvSpPr/>
          <p:nvPr/>
        </p:nvSpPr>
        <p:spPr>
          <a:xfrm flipH="false" flipV="false" rot="-1511620">
            <a:off x="1613392" y="1722649"/>
            <a:ext cx="854181" cy="843503"/>
          </a:xfrm>
          <a:custGeom>
            <a:avLst/>
            <a:gdLst/>
            <a:ahLst/>
            <a:cxnLst/>
            <a:rect r="r" b="b" t="t" l="l"/>
            <a:pathLst>
              <a:path h="843503" w="854181">
                <a:moveTo>
                  <a:pt x="0" y="0"/>
                </a:moveTo>
                <a:lnTo>
                  <a:pt x="854181" y="0"/>
                </a:lnTo>
                <a:lnTo>
                  <a:pt x="854181" y="843503"/>
                </a:lnTo>
                <a:lnTo>
                  <a:pt x="0" y="843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853663" y="1755336"/>
            <a:ext cx="752813" cy="400050"/>
          </a:xfrm>
          <a:prstGeom prst="rect">
            <a:avLst/>
          </a:prstGeom>
        </p:spPr>
        <p:txBody>
          <a:bodyPr anchor="t" rtlCol="false" tIns="0" lIns="0" bIns="0" rIns="0">
            <a:spAutoFit/>
          </a:bodyPr>
          <a:lstStyle/>
          <a:p>
            <a:pPr algn="ctr" marL="0" indent="0" lvl="0">
              <a:lnSpc>
                <a:spcPts val="3120"/>
              </a:lnSpc>
              <a:spcBef>
                <a:spcPct val="0"/>
              </a:spcBef>
            </a:pPr>
            <a:r>
              <a:rPr lang="en-US" b="true" sz="2600">
                <a:solidFill>
                  <a:srgbClr val="233731"/>
                </a:solidFill>
                <a:latin typeface="Anonymous Pro Bold"/>
                <a:ea typeface="Anonymous Pro Bold"/>
                <a:cs typeface="Anonymous Pro Bold"/>
                <a:sym typeface="Anonymous Pro Bold"/>
              </a:rPr>
              <a:t>1</a:t>
            </a:r>
          </a:p>
        </p:txBody>
      </p:sp>
      <p:sp>
        <p:nvSpPr>
          <p:cNvPr name="TextBox 11" id="11"/>
          <p:cNvSpPr txBox="true"/>
          <p:nvPr/>
        </p:nvSpPr>
        <p:spPr>
          <a:xfrm rot="0">
            <a:off x="2906169" y="2134875"/>
            <a:ext cx="14134078" cy="1495425"/>
          </a:xfrm>
          <a:prstGeom prst="rect">
            <a:avLst/>
          </a:prstGeom>
        </p:spPr>
        <p:txBody>
          <a:bodyPr anchor="t" rtlCol="false" tIns="0" lIns="0" bIns="0" rIns="0">
            <a:spAutoFit/>
          </a:bodyPr>
          <a:lstStyle/>
          <a:p>
            <a:pPr algn="just">
              <a:lnSpc>
                <a:spcPts val="2880"/>
              </a:lnSpc>
              <a:spcBef>
                <a:spcPct val="0"/>
              </a:spcBef>
            </a:pPr>
            <a:r>
              <a:rPr lang="en-US" b="true" sz="2400">
                <a:solidFill>
                  <a:srgbClr val="000000"/>
                </a:solidFill>
                <a:latin typeface="Anonymous Pro Bold"/>
                <a:ea typeface="Anonymous Pro Bold"/>
                <a:cs typeface="Anonymous Pro Bold"/>
                <a:sym typeface="Anonymous Pro Bold"/>
              </a:rPr>
              <a:t>Rumus untuk menghitung gain realisasi (realisational gain) dari antena yang diuji (DUT - Device Under Test):</a:t>
            </a:r>
          </a:p>
          <a:p>
            <a:pPr algn="just">
              <a:lnSpc>
                <a:spcPts val="3000"/>
              </a:lnSpc>
              <a:spcBef>
                <a:spcPct val="0"/>
              </a:spcBef>
            </a:pPr>
            <a:r>
              <a:rPr lang="en-US" b="true" sz="2500">
                <a:solidFill>
                  <a:srgbClr val="000000"/>
                </a:solidFill>
                <a:latin typeface="Anonymous Pro Bold"/>
                <a:ea typeface="Anonymous Pro Bold"/>
                <a:cs typeface="Anonymous Pro Bold"/>
                <a:sym typeface="Anonymous Pro Bold"/>
              </a:rPr>
              <a:t>Gain= Daya antenna DUT – Daya Referensi horn + 12 </a:t>
            </a:r>
          </a:p>
          <a:p>
            <a:pPr algn="just">
              <a:lnSpc>
                <a:spcPts val="3000"/>
              </a:lnSpc>
              <a:spcBef>
                <a:spcPct val="0"/>
              </a:spcBef>
            </a:pPr>
            <a:r>
              <a:rPr lang="en-US" b="true" sz="2500">
                <a:solidFill>
                  <a:srgbClr val="000000"/>
                </a:solidFill>
                <a:latin typeface="Anonymous Pro Bold"/>
                <a:ea typeface="Anonymous Pro Bold"/>
                <a:cs typeface="Anonymous Pro Bold"/>
                <a:sym typeface="Anonymous Pro Bold"/>
              </a:rPr>
              <a:t>    = -51,8dBm-(-44,25dBm)+12 = 4,45dBi</a:t>
            </a:r>
          </a:p>
        </p:txBody>
      </p:sp>
      <p:sp>
        <p:nvSpPr>
          <p:cNvPr name="TextBox 12" id="12"/>
          <p:cNvSpPr txBox="true"/>
          <p:nvPr/>
        </p:nvSpPr>
        <p:spPr>
          <a:xfrm rot="0">
            <a:off x="3645904" y="3928789"/>
            <a:ext cx="3110298" cy="400050"/>
          </a:xfrm>
          <a:prstGeom prst="rect">
            <a:avLst/>
          </a:prstGeom>
        </p:spPr>
        <p:txBody>
          <a:bodyPr anchor="t" rtlCol="false" tIns="0" lIns="0" bIns="0" rIns="0">
            <a:spAutoFit/>
          </a:bodyPr>
          <a:lstStyle/>
          <a:p>
            <a:pPr algn="l">
              <a:lnSpc>
                <a:spcPts val="3120"/>
              </a:lnSpc>
            </a:pPr>
            <a:r>
              <a:rPr lang="en-US" b="true" sz="2600">
                <a:solidFill>
                  <a:srgbClr val="000000"/>
                </a:solidFill>
                <a:latin typeface="Anonymous Pro Bold"/>
                <a:ea typeface="Anonymous Pro Bold"/>
                <a:cs typeface="Anonymous Pro Bold"/>
                <a:sym typeface="Anonymous Pro Bold"/>
              </a:rPr>
              <a:t>Daya antena DUT</a:t>
            </a:r>
          </a:p>
        </p:txBody>
      </p:sp>
      <p:sp>
        <p:nvSpPr>
          <p:cNvPr name="TextBox 13" id="13"/>
          <p:cNvSpPr txBox="true"/>
          <p:nvPr/>
        </p:nvSpPr>
        <p:spPr>
          <a:xfrm rot="0">
            <a:off x="11170038" y="3928789"/>
            <a:ext cx="3884919" cy="400050"/>
          </a:xfrm>
          <a:prstGeom prst="rect">
            <a:avLst/>
          </a:prstGeom>
        </p:spPr>
        <p:txBody>
          <a:bodyPr anchor="t" rtlCol="false" tIns="0" lIns="0" bIns="0" rIns="0">
            <a:spAutoFit/>
          </a:bodyPr>
          <a:lstStyle/>
          <a:p>
            <a:pPr algn="l">
              <a:lnSpc>
                <a:spcPts val="3120"/>
              </a:lnSpc>
            </a:pPr>
            <a:r>
              <a:rPr lang="en-US" b="true" sz="2600">
                <a:solidFill>
                  <a:srgbClr val="000000"/>
                </a:solidFill>
                <a:latin typeface="Anonymous Pro Bold"/>
                <a:ea typeface="Anonymous Pro Bold"/>
                <a:cs typeface="Anonymous Pro Bold"/>
                <a:sym typeface="Anonymous Pro Bold"/>
              </a:rPr>
              <a:t>Daya antena Referensi</a:t>
            </a:r>
          </a:p>
        </p:txBody>
      </p:sp>
      <p:sp>
        <p:nvSpPr>
          <p:cNvPr name="Freeform 14" id="14">
            <a:extLst>
              <a:ext uri="{C183D7F6-B498-43B3-948B-1728B52AA6E4}">
                <adec:decorative xmlns:adec="http://schemas.microsoft.com/office/drawing/2017/decorative" val="1"/>
              </a:ext>
            </a:extLst>
          </p:cNvPr>
          <p:cNvSpPr/>
          <p:nvPr/>
        </p:nvSpPr>
        <p:spPr>
          <a:xfrm flipH="false" flipV="false" rot="-1511620">
            <a:off x="16511758" y="457850"/>
            <a:ext cx="854181" cy="843503"/>
          </a:xfrm>
          <a:custGeom>
            <a:avLst/>
            <a:gdLst/>
            <a:ahLst/>
            <a:cxnLst/>
            <a:rect r="r" b="b" t="t" l="l"/>
            <a:pathLst>
              <a:path h="843503" w="854181">
                <a:moveTo>
                  <a:pt x="0" y="0"/>
                </a:moveTo>
                <a:lnTo>
                  <a:pt x="854181" y="0"/>
                </a:lnTo>
                <a:lnTo>
                  <a:pt x="854181" y="843503"/>
                </a:lnTo>
                <a:lnTo>
                  <a:pt x="0" y="8435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0">
            <a:off x="0" y="312136"/>
            <a:ext cx="17756619" cy="9974864"/>
          </a:xfrm>
          <a:custGeom>
            <a:avLst/>
            <a:gdLst/>
            <a:ahLst/>
            <a:cxnLst/>
            <a:rect r="r" b="b" t="t" l="l"/>
            <a:pathLst>
              <a:path h="9974864" w="17756619">
                <a:moveTo>
                  <a:pt x="0" y="0"/>
                </a:moveTo>
                <a:lnTo>
                  <a:pt x="17756619" y="0"/>
                </a:lnTo>
                <a:lnTo>
                  <a:pt x="17756619" y="9974864"/>
                </a:lnTo>
                <a:lnTo>
                  <a:pt x="0" y="9974864"/>
                </a:lnTo>
                <a:lnTo>
                  <a:pt x="0" y="0"/>
                </a:lnTo>
                <a:close/>
              </a:path>
            </a:pathLst>
          </a:custGeom>
          <a:blipFill>
            <a:blip r:embed="rId3"/>
            <a:stretch>
              <a:fillRect l="0" t="-32994" r="-11721" b="-18899"/>
            </a:stretch>
          </a:blipFill>
        </p:spPr>
      </p:sp>
      <p:grpSp>
        <p:nvGrpSpPr>
          <p:cNvPr name="Group 4" id="4"/>
          <p:cNvGrpSpPr/>
          <p:nvPr/>
        </p:nvGrpSpPr>
        <p:grpSpPr>
          <a:xfrm rot="0">
            <a:off x="9962152" y="345445"/>
            <a:ext cx="558165" cy="729615"/>
            <a:chOff x="0" y="0"/>
            <a:chExt cx="744220" cy="972820"/>
          </a:xfrm>
        </p:grpSpPr>
        <p:grpSp>
          <p:nvGrpSpPr>
            <p:cNvPr name="Group 5" id="5"/>
            <p:cNvGrpSpPr/>
            <p:nvPr/>
          </p:nvGrpSpPr>
          <p:grpSpPr>
            <a:xfrm rot="0">
              <a:off x="0" y="0"/>
              <a:ext cx="419100" cy="396240"/>
              <a:chOff x="0" y="0"/>
              <a:chExt cx="419100" cy="396240"/>
            </a:xfrm>
          </p:grpSpPr>
          <p:sp>
            <p:nvSpPr>
              <p:cNvPr name="Freeform 6" id="6"/>
              <p:cNvSpPr/>
              <p:nvPr/>
            </p:nvSpPr>
            <p:spPr>
              <a:xfrm flipH="false" flipV="false" rot="0">
                <a:off x="49530" y="48260"/>
                <a:ext cx="320040" cy="299720"/>
              </a:xfrm>
              <a:custGeom>
                <a:avLst/>
                <a:gdLst/>
                <a:ahLst/>
                <a:cxnLst/>
                <a:rect r="r" b="b" t="t" l="l"/>
                <a:pathLst>
                  <a:path h="299720" w="320040">
                    <a:moveTo>
                      <a:pt x="16510" y="212090"/>
                    </a:moveTo>
                    <a:cubicBezTo>
                      <a:pt x="269240" y="0"/>
                      <a:pt x="284480" y="1270"/>
                      <a:pt x="295910" y="8890"/>
                    </a:cubicBezTo>
                    <a:cubicBezTo>
                      <a:pt x="307340" y="16510"/>
                      <a:pt x="318770" y="34290"/>
                      <a:pt x="318770" y="48260"/>
                    </a:cubicBezTo>
                    <a:cubicBezTo>
                      <a:pt x="318770" y="60960"/>
                      <a:pt x="309880" y="81280"/>
                      <a:pt x="299720" y="88900"/>
                    </a:cubicBezTo>
                    <a:cubicBezTo>
                      <a:pt x="289560" y="96520"/>
                      <a:pt x="267970" y="100330"/>
                      <a:pt x="255270" y="96520"/>
                    </a:cubicBezTo>
                    <a:cubicBezTo>
                      <a:pt x="242570" y="92710"/>
                      <a:pt x="228600" y="76200"/>
                      <a:pt x="224790" y="63500"/>
                    </a:cubicBezTo>
                    <a:cubicBezTo>
                      <a:pt x="220980" y="50800"/>
                      <a:pt x="224790" y="29210"/>
                      <a:pt x="233680" y="19050"/>
                    </a:cubicBezTo>
                    <a:cubicBezTo>
                      <a:pt x="242570" y="8890"/>
                      <a:pt x="262890" y="1270"/>
                      <a:pt x="275590" y="2540"/>
                    </a:cubicBezTo>
                    <a:cubicBezTo>
                      <a:pt x="289560" y="3810"/>
                      <a:pt x="307340" y="17780"/>
                      <a:pt x="313690" y="27940"/>
                    </a:cubicBezTo>
                    <a:cubicBezTo>
                      <a:pt x="318770" y="36830"/>
                      <a:pt x="320040" y="48260"/>
                      <a:pt x="318770" y="58420"/>
                    </a:cubicBezTo>
                    <a:cubicBezTo>
                      <a:pt x="317500" y="67310"/>
                      <a:pt x="313690" y="73660"/>
                      <a:pt x="304800" y="85090"/>
                    </a:cubicBezTo>
                    <a:cubicBezTo>
                      <a:pt x="275590" y="123190"/>
                      <a:pt x="121920" y="269240"/>
                      <a:pt x="77470" y="290830"/>
                    </a:cubicBezTo>
                    <a:cubicBezTo>
                      <a:pt x="62230" y="298450"/>
                      <a:pt x="53340" y="299720"/>
                      <a:pt x="41910" y="297180"/>
                    </a:cubicBezTo>
                    <a:cubicBezTo>
                      <a:pt x="30480" y="294640"/>
                      <a:pt x="17780" y="288290"/>
                      <a:pt x="11430" y="279400"/>
                    </a:cubicBezTo>
                    <a:cubicBezTo>
                      <a:pt x="5080" y="270510"/>
                      <a:pt x="0" y="256540"/>
                      <a:pt x="1270" y="245110"/>
                    </a:cubicBezTo>
                    <a:cubicBezTo>
                      <a:pt x="2540" y="233680"/>
                      <a:pt x="16510" y="212090"/>
                      <a:pt x="16510" y="212090"/>
                    </a:cubicBezTo>
                  </a:path>
                </a:pathLst>
              </a:custGeom>
              <a:solidFill>
                <a:srgbClr val="DDAA2B"/>
              </a:solidFill>
              <a:ln cap="sq">
                <a:noFill/>
                <a:prstDash val="solid"/>
                <a:miter/>
              </a:ln>
            </p:spPr>
          </p:sp>
        </p:grpSp>
        <p:grpSp>
          <p:nvGrpSpPr>
            <p:cNvPr name="Group 7" id="7"/>
            <p:cNvGrpSpPr/>
            <p:nvPr/>
          </p:nvGrpSpPr>
          <p:grpSpPr>
            <a:xfrm rot="0">
              <a:off x="179070" y="309880"/>
              <a:ext cx="499110" cy="259080"/>
              <a:chOff x="0" y="0"/>
              <a:chExt cx="499110" cy="259080"/>
            </a:xfrm>
          </p:grpSpPr>
          <p:sp>
            <p:nvSpPr>
              <p:cNvPr name="Freeform 8" id="8"/>
              <p:cNvSpPr/>
              <p:nvPr/>
            </p:nvSpPr>
            <p:spPr>
              <a:xfrm flipH="false" flipV="false" rot="0">
                <a:off x="49530" y="48260"/>
                <a:ext cx="402590" cy="163830"/>
              </a:xfrm>
              <a:custGeom>
                <a:avLst/>
                <a:gdLst/>
                <a:ahLst/>
                <a:cxnLst/>
                <a:rect r="r" b="b" t="t" l="l"/>
                <a:pathLst>
                  <a:path h="163830" w="402590">
                    <a:moveTo>
                      <a:pt x="39370" y="60960"/>
                    </a:moveTo>
                    <a:cubicBezTo>
                      <a:pt x="381000" y="8890"/>
                      <a:pt x="391160" y="21590"/>
                      <a:pt x="396240" y="33020"/>
                    </a:cubicBezTo>
                    <a:cubicBezTo>
                      <a:pt x="401320" y="41910"/>
                      <a:pt x="402590" y="54610"/>
                      <a:pt x="397510" y="63500"/>
                    </a:cubicBezTo>
                    <a:cubicBezTo>
                      <a:pt x="391160" y="76200"/>
                      <a:pt x="365760" y="97790"/>
                      <a:pt x="350520" y="99060"/>
                    </a:cubicBezTo>
                    <a:cubicBezTo>
                      <a:pt x="336550" y="100330"/>
                      <a:pt x="317500" y="87630"/>
                      <a:pt x="309880" y="77470"/>
                    </a:cubicBezTo>
                    <a:cubicBezTo>
                      <a:pt x="303530" y="69850"/>
                      <a:pt x="300990" y="57150"/>
                      <a:pt x="302260" y="46990"/>
                    </a:cubicBezTo>
                    <a:cubicBezTo>
                      <a:pt x="303530" y="36830"/>
                      <a:pt x="307340" y="26670"/>
                      <a:pt x="313690" y="19050"/>
                    </a:cubicBezTo>
                    <a:cubicBezTo>
                      <a:pt x="320040" y="11430"/>
                      <a:pt x="330200" y="5080"/>
                      <a:pt x="340360" y="2540"/>
                    </a:cubicBezTo>
                    <a:cubicBezTo>
                      <a:pt x="349250" y="0"/>
                      <a:pt x="361950" y="1270"/>
                      <a:pt x="370840" y="6350"/>
                    </a:cubicBezTo>
                    <a:cubicBezTo>
                      <a:pt x="382270" y="12700"/>
                      <a:pt x="397510" y="29210"/>
                      <a:pt x="398780" y="43180"/>
                    </a:cubicBezTo>
                    <a:cubicBezTo>
                      <a:pt x="400050" y="58420"/>
                      <a:pt x="391160" y="78740"/>
                      <a:pt x="370840" y="93980"/>
                    </a:cubicBezTo>
                    <a:cubicBezTo>
                      <a:pt x="323850" y="128270"/>
                      <a:pt x="102870" y="163830"/>
                      <a:pt x="50800" y="160020"/>
                    </a:cubicBezTo>
                    <a:cubicBezTo>
                      <a:pt x="34290" y="158750"/>
                      <a:pt x="25400" y="154940"/>
                      <a:pt x="17780" y="147320"/>
                    </a:cubicBezTo>
                    <a:cubicBezTo>
                      <a:pt x="8890" y="139700"/>
                      <a:pt x="2540" y="127000"/>
                      <a:pt x="1270" y="115570"/>
                    </a:cubicBezTo>
                    <a:cubicBezTo>
                      <a:pt x="0" y="104140"/>
                      <a:pt x="3810" y="90170"/>
                      <a:pt x="10160" y="81280"/>
                    </a:cubicBezTo>
                    <a:cubicBezTo>
                      <a:pt x="16510" y="72390"/>
                      <a:pt x="39370" y="60960"/>
                      <a:pt x="39370" y="60960"/>
                    </a:cubicBezTo>
                  </a:path>
                </a:pathLst>
              </a:custGeom>
              <a:solidFill>
                <a:srgbClr val="DDAA2B"/>
              </a:solidFill>
              <a:ln cap="sq">
                <a:noFill/>
                <a:prstDash val="solid"/>
                <a:miter/>
              </a:ln>
            </p:spPr>
          </p:sp>
        </p:grpSp>
        <p:grpSp>
          <p:nvGrpSpPr>
            <p:cNvPr name="Group 9" id="9"/>
            <p:cNvGrpSpPr/>
            <p:nvPr/>
          </p:nvGrpSpPr>
          <p:grpSpPr>
            <a:xfrm rot="0">
              <a:off x="256540" y="681990"/>
              <a:ext cx="487680" cy="290830"/>
              <a:chOff x="0" y="0"/>
              <a:chExt cx="487680" cy="290830"/>
            </a:xfrm>
          </p:grpSpPr>
          <p:sp>
            <p:nvSpPr>
              <p:cNvPr name="Freeform 10" id="10"/>
              <p:cNvSpPr/>
              <p:nvPr/>
            </p:nvSpPr>
            <p:spPr>
              <a:xfrm flipH="false" flipV="false" rot="0">
                <a:off x="46990" y="48260"/>
                <a:ext cx="392430" cy="193040"/>
              </a:xfrm>
              <a:custGeom>
                <a:avLst/>
                <a:gdLst/>
                <a:ahLst/>
                <a:cxnLst/>
                <a:rect r="r" b="b" t="t" l="l"/>
                <a:pathLst>
                  <a:path h="193040" w="392430">
                    <a:moveTo>
                      <a:pt x="64770" y="2540"/>
                    </a:moveTo>
                    <a:cubicBezTo>
                      <a:pt x="382270" y="118110"/>
                      <a:pt x="388620" y="130810"/>
                      <a:pt x="389890" y="142240"/>
                    </a:cubicBezTo>
                    <a:cubicBezTo>
                      <a:pt x="391160" y="152400"/>
                      <a:pt x="388620" y="163830"/>
                      <a:pt x="382270" y="171450"/>
                    </a:cubicBezTo>
                    <a:cubicBezTo>
                      <a:pt x="374650" y="180340"/>
                      <a:pt x="356870" y="191770"/>
                      <a:pt x="344170" y="191770"/>
                    </a:cubicBezTo>
                    <a:cubicBezTo>
                      <a:pt x="331470" y="191770"/>
                      <a:pt x="313690" y="182880"/>
                      <a:pt x="306070" y="172720"/>
                    </a:cubicBezTo>
                    <a:cubicBezTo>
                      <a:pt x="298450" y="162560"/>
                      <a:pt x="294640" y="140970"/>
                      <a:pt x="299720" y="129540"/>
                    </a:cubicBezTo>
                    <a:cubicBezTo>
                      <a:pt x="306070" y="115570"/>
                      <a:pt x="332740" y="99060"/>
                      <a:pt x="347980" y="99060"/>
                    </a:cubicBezTo>
                    <a:cubicBezTo>
                      <a:pt x="360680" y="99060"/>
                      <a:pt x="378460" y="113030"/>
                      <a:pt x="384810" y="123190"/>
                    </a:cubicBezTo>
                    <a:cubicBezTo>
                      <a:pt x="389890" y="132080"/>
                      <a:pt x="392430" y="142240"/>
                      <a:pt x="389890" y="152400"/>
                    </a:cubicBezTo>
                    <a:cubicBezTo>
                      <a:pt x="387350" y="163830"/>
                      <a:pt x="374650" y="181610"/>
                      <a:pt x="364490" y="187960"/>
                    </a:cubicBezTo>
                    <a:cubicBezTo>
                      <a:pt x="355600" y="193040"/>
                      <a:pt x="349250" y="193040"/>
                      <a:pt x="334010" y="191770"/>
                    </a:cubicBezTo>
                    <a:cubicBezTo>
                      <a:pt x="284480" y="186690"/>
                      <a:pt x="67310" y="121920"/>
                      <a:pt x="25400" y="92710"/>
                    </a:cubicBezTo>
                    <a:cubicBezTo>
                      <a:pt x="11430" y="82550"/>
                      <a:pt x="7620" y="74930"/>
                      <a:pt x="3810" y="64770"/>
                    </a:cubicBezTo>
                    <a:cubicBezTo>
                      <a:pt x="0" y="54610"/>
                      <a:pt x="1270" y="40640"/>
                      <a:pt x="5080" y="30480"/>
                    </a:cubicBezTo>
                    <a:cubicBezTo>
                      <a:pt x="8890" y="20320"/>
                      <a:pt x="20320" y="10160"/>
                      <a:pt x="30480" y="5080"/>
                    </a:cubicBezTo>
                    <a:cubicBezTo>
                      <a:pt x="40640" y="0"/>
                      <a:pt x="64770" y="2540"/>
                      <a:pt x="64770" y="2540"/>
                    </a:cubicBezTo>
                  </a:path>
                </a:pathLst>
              </a:custGeom>
              <a:solidFill>
                <a:srgbClr val="DDAA2B"/>
              </a:solidFill>
              <a:ln cap="sq">
                <a:noFill/>
                <a:prstDash val="solid"/>
                <a:miter/>
              </a:ln>
            </p:spPr>
          </p:sp>
        </p:grpSp>
      </p:grpSp>
      <p:sp>
        <p:nvSpPr>
          <p:cNvPr name="Freeform 11" id="11">
            <a:extLst>
              <a:ext uri="{C183D7F6-B498-43B3-948B-1728B52AA6E4}">
                <adec:decorative xmlns:adec="http://schemas.microsoft.com/office/drawing/2017/decorative" val="1"/>
              </a:ext>
            </a:extLst>
          </p:cNvPr>
          <p:cNvSpPr/>
          <p:nvPr/>
        </p:nvSpPr>
        <p:spPr>
          <a:xfrm flipH="false" flipV="false" rot="1849696">
            <a:off x="16623409" y="1077321"/>
            <a:ext cx="1472442" cy="1155867"/>
          </a:xfrm>
          <a:custGeom>
            <a:avLst/>
            <a:gdLst/>
            <a:ahLst/>
            <a:cxnLst/>
            <a:rect r="r" b="b" t="t" l="l"/>
            <a:pathLst>
              <a:path h="1155867" w="1472442">
                <a:moveTo>
                  <a:pt x="0" y="0"/>
                </a:moveTo>
                <a:lnTo>
                  <a:pt x="1472442" y="0"/>
                </a:lnTo>
                <a:lnTo>
                  <a:pt x="1472442" y="1155868"/>
                </a:lnTo>
                <a:lnTo>
                  <a:pt x="0" y="11558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4518436" y="1429665"/>
            <a:ext cx="9251128" cy="4909044"/>
          </a:xfrm>
          <a:custGeom>
            <a:avLst/>
            <a:gdLst/>
            <a:ahLst/>
            <a:cxnLst/>
            <a:rect r="r" b="b" t="t" l="l"/>
            <a:pathLst>
              <a:path h="4909044" w="9251128">
                <a:moveTo>
                  <a:pt x="0" y="0"/>
                </a:moveTo>
                <a:lnTo>
                  <a:pt x="9251128" y="0"/>
                </a:lnTo>
                <a:lnTo>
                  <a:pt x="9251128" y="4909043"/>
                </a:lnTo>
                <a:lnTo>
                  <a:pt x="0" y="4909043"/>
                </a:lnTo>
                <a:lnTo>
                  <a:pt x="0" y="0"/>
                </a:lnTo>
                <a:close/>
              </a:path>
            </a:pathLst>
          </a:custGeom>
          <a:blipFill>
            <a:blip r:embed="rId6"/>
            <a:stretch>
              <a:fillRect l="0" t="0" r="0" b="0"/>
            </a:stretch>
          </a:blipFill>
        </p:spPr>
      </p:sp>
      <p:sp>
        <p:nvSpPr>
          <p:cNvPr name="Freeform 13" id="13"/>
          <p:cNvSpPr/>
          <p:nvPr/>
        </p:nvSpPr>
        <p:spPr>
          <a:xfrm flipH="false" flipV="false" rot="0">
            <a:off x="8163484" y="6719708"/>
            <a:ext cx="9196146" cy="3225127"/>
          </a:xfrm>
          <a:custGeom>
            <a:avLst/>
            <a:gdLst/>
            <a:ahLst/>
            <a:cxnLst/>
            <a:rect r="r" b="b" t="t" l="l"/>
            <a:pathLst>
              <a:path h="3225127" w="9196146">
                <a:moveTo>
                  <a:pt x="0" y="0"/>
                </a:moveTo>
                <a:lnTo>
                  <a:pt x="9196146" y="0"/>
                </a:lnTo>
                <a:lnTo>
                  <a:pt x="9196146" y="3225128"/>
                </a:lnTo>
                <a:lnTo>
                  <a:pt x="0" y="3225128"/>
                </a:lnTo>
                <a:lnTo>
                  <a:pt x="0" y="0"/>
                </a:lnTo>
                <a:close/>
              </a:path>
            </a:pathLst>
          </a:custGeom>
          <a:blipFill>
            <a:blip r:embed="rId7"/>
            <a:stretch>
              <a:fillRect l="0" t="0" r="0" b="0"/>
            </a:stretch>
          </a:blipFill>
        </p:spPr>
      </p:sp>
      <p:sp>
        <p:nvSpPr>
          <p:cNvPr name="TextBox 14" id="14"/>
          <p:cNvSpPr txBox="true"/>
          <p:nvPr/>
        </p:nvSpPr>
        <p:spPr>
          <a:xfrm rot="0">
            <a:off x="406350" y="615003"/>
            <a:ext cx="9717726" cy="703569"/>
          </a:xfrm>
          <a:prstGeom prst="rect">
            <a:avLst/>
          </a:prstGeom>
        </p:spPr>
        <p:txBody>
          <a:bodyPr anchor="t" rtlCol="false" tIns="0" lIns="0" bIns="0" rIns="0">
            <a:spAutoFit/>
          </a:bodyPr>
          <a:lstStyle/>
          <a:p>
            <a:pPr algn="ctr" marL="0" indent="0" lvl="0">
              <a:lnSpc>
                <a:spcPts val="5527"/>
              </a:lnSpc>
              <a:spcBef>
                <a:spcPct val="0"/>
              </a:spcBef>
            </a:pPr>
            <a:r>
              <a:rPr lang="en-US" sz="4606">
                <a:solidFill>
                  <a:srgbClr val="DDAA2B"/>
                </a:solidFill>
                <a:latin typeface="Pluma"/>
                <a:ea typeface="Pluma"/>
                <a:cs typeface="Pluma"/>
                <a:sym typeface="Pluma"/>
              </a:rPr>
              <a:t>PERBANDINGAN SIMULASI DAN REALISASI</a:t>
            </a:r>
          </a:p>
        </p:txBody>
      </p:sp>
      <p:sp>
        <p:nvSpPr>
          <p:cNvPr name="TextBox 15" id="15"/>
          <p:cNvSpPr txBox="true"/>
          <p:nvPr/>
        </p:nvSpPr>
        <p:spPr>
          <a:xfrm rot="0">
            <a:off x="971550" y="6765410"/>
            <a:ext cx="6856141" cy="3133725"/>
          </a:xfrm>
          <a:prstGeom prst="rect">
            <a:avLst/>
          </a:prstGeom>
        </p:spPr>
        <p:txBody>
          <a:bodyPr anchor="t" rtlCol="false" tIns="0" lIns="0" bIns="0" rIns="0">
            <a:spAutoFit/>
          </a:bodyPr>
          <a:lstStyle/>
          <a:p>
            <a:pPr algn="just">
              <a:lnSpc>
                <a:spcPts val="3599"/>
              </a:lnSpc>
            </a:pPr>
            <a:r>
              <a:rPr lang="en-US" sz="2999">
                <a:solidFill>
                  <a:srgbClr val="545454"/>
                </a:solidFill>
                <a:latin typeface="Anonymous Pro"/>
                <a:ea typeface="Anonymous Pro"/>
                <a:cs typeface="Anonymous Pro"/>
                <a:sym typeface="Anonymous Pro"/>
              </a:rPr>
              <a:t>Dari gambar di atas yaitu perbandingan s parameter dari hasil simulasi dan realisasi terlihat bahwa terdapat sedikit perbedaan nilai parameter yaitu sebagai berikut:</a:t>
            </a:r>
          </a:p>
          <a:p>
            <a:pPr algn="just" marL="0" indent="0" lvl="0">
              <a:lnSpc>
                <a:spcPts val="3599"/>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5114069">
            <a:off x="-1766787" y="-2852367"/>
            <a:ext cx="3533573" cy="6950604"/>
          </a:xfrm>
          <a:custGeom>
            <a:avLst/>
            <a:gdLst/>
            <a:ahLst/>
            <a:cxnLst/>
            <a:rect r="r" b="b" t="t" l="l"/>
            <a:pathLst>
              <a:path h="6950604" w="3533573">
                <a:moveTo>
                  <a:pt x="0" y="0"/>
                </a:moveTo>
                <a:lnTo>
                  <a:pt x="3533574" y="0"/>
                </a:lnTo>
                <a:lnTo>
                  <a:pt x="3533574" y="6950604"/>
                </a:lnTo>
                <a:lnTo>
                  <a:pt x="0" y="6950604"/>
                </a:lnTo>
                <a:lnTo>
                  <a:pt x="0" y="0"/>
                </a:lnTo>
                <a:close/>
              </a:path>
            </a:pathLst>
          </a:custGeom>
          <a:blipFill>
            <a:blip r:embed="rId3">
              <a:extLst>
                <a:ext uri="{96DAC541-7B7A-43D3-8B79-37D633B846F1}">
                  <asvg:svgBlip xmlns:asvg="http://schemas.microsoft.com/office/drawing/2016/SVG/main" r:embed="rId4"/>
                </a:ext>
              </a:extLst>
            </a:blip>
            <a:stretch>
              <a:fillRect l="-43773" t="-4058" r="-30464"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6206492" y="-375314"/>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1298161">
            <a:off x="17025775" y="420071"/>
            <a:ext cx="1286333" cy="1201113"/>
          </a:xfrm>
          <a:custGeom>
            <a:avLst/>
            <a:gdLst/>
            <a:ahLst/>
            <a:cxnLst/>
            <a:rect r="r" b="b" t="t" l="l"/>
            <a:pathLst>
              <a:path h="1201113" w="1286333">
                <a:moveTo>
                  <a:pt x="0" y="0"/>
                </a:moveTo>
                <a:lnTo>
                  <a:pt x="1286333" y="0"/>
                </a:lnTo>
                <a:lnTo>
                  <a:pt x="1286333" y="1201114"/>
                </a:lnTo>
                <a:lnTo>
                  <a:pt x="0" y="12011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true" flipV="false" rot="2806658">
            <a:off x="17244867" y="8130520"/>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true" flipV="false" rot="2806658">
            <a:off x="16806683" y="9184966"/>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641385" y="4675977"/>
            <a:ext cx="7707846" cy="4935056"/>
          </a:xfrm>
          <a:custGeom>
            <a:avLst/>
            <a:gdLst/>
            <a:ahLst/>
            <a:cxnLst/>
            <a:rect r="r" b="b" t="t" l="l"/>
            <a:pathLst>
              <a:path h="4935056" w="7707846">
                <a:moveTo>
                  <a:pt x="0" y="0"/>
                </a:moveTo>
                <a:lnTo>
                  <a:pt x="7707846" y="0"/>
                </a:lnTo>
                <a:lnTo>
                  <a:pt x="7707846" y="4935056"/>
                </a:lnTo>
                <a:lnTo>
                  <a:pt x="0" y="4935056"/>
                </a:lnTo>
                <a:lnTo>
                  <a:pt x="0" y="0"/>
                </a:lnTo>
                <a:close/>
              </a:path>
            </a:pathLst>
          </a:custGeom>
          <a:blipFill>
            <a:blip r:embed="rId7"/>
            <a:stretch>
              <a:fillRect l="0" t="0" r="0" b="0"/>
            </a:stretch>
          </a:blipFill>
        </p:spPr>
      </p:sp>
      <p:sp>
        <p:nvSpPr>
          <p:cNvPr name="TextBox 9" id="9"/>
          <p:cNvSpPr txBox="true"/>
          <p:nvPr/>
        </p:nvSpPr>
        <p:spPr>
          <a:xfrm rot="0">
            <a:off x="391528" y="236220"/>
            <a:ext cx="3723156" cy="849630"/>
          </a:xfrm>
          <a:prstGeom prst="rect">
            <a:avLst/>
          </a:prstGeom>
        </p:spPr>
        <p:txBody>
          <a:bodyPr anchor="t" rtlCol="false" tIns="0" lIns="0" bIns="0" rIns="0">
            <a:spAutoFit/>
          </a:bodyPr>
          <a:lstStyle/>
          <a:p>
            <a:pPr algn="l" marL="0" indent="0" lvl="0">
              <a:lnSpc>
                <a:spcPts val="6404"/>
              </a:lnSpc>
            </a:pPr>
            <a:r>
              <a:rPr lang="en-US" sz="6099">
                <a:solidFill>
                  <a:srgbClr val="FFFFFF"/>
                </a:solidFill>
                <a:latin typeface="Pluma"/>
                <a:ea typeface="Pluma"/>
                <a:cs typeface="Pluma"/>
                <a:sym typeface="Pluma"/>
              </a:rPr>
              <a:t>ANALISIS</a:t>
            </a:r>
          </a:p>
        </p:txBody>
      </p:sp>
      <p:sp>
        <p:nvSpPr>
          <p:cNvPr name="TextBox 10" id="10"/>
          <p:cNvSpPr txBox="true"/>
          <p:nvPr/>
        </p:nvSpPr>
        <p:spPr>
          <a:xfrm rot="0">
            <a:off x="2976113" y="1806489"/>
            <a:ext cx="13595649" cy="2809875"/>
          </a:xfrm>
          <a:prstGeom prst="rect">
            <a:avLst/>
          </a:prstGeom>
        </p:spPr>
        <p:txBody>
          <a:bodyPr anchor="t" rtlCol="false" tIns="0" lIns="0" bIns="0" rIns="0">
            <a:spAutoFit/>
          </a:bodyPr>
          <a:lstStyle/>
          <a:p>
            <a:pPr algn="ctr">
              <a:lnSpc>
                <a:spcPts val="3728"/>
              </a:lnSpc>
            </a:pPr>
            <a:r>
              <a:rPr lang="en-US" b="true" sz="3106">
                <a:solidFill>
                  <a:srgbClr val="000000"/>
                </a:solidFill>
                <a:latin typeface="Anonymous Pro Bold"/>
                <a:ea typeface="Anonymous Pro Bold"/>
                <a:cs typeface="Anonymous Pro Bold"/>
                <a:sym typeface="Anonymous Pro Bold"/>
              </a:rPr>
              <a:t>PERHITUNGAN PERMITIVITAS DAN KONSTANTA REDAMAN PADA SIMULASI </a:t>
            </a:r>
          </a:p>
          <a:p>
            <a:pPr algn="ctr">
              <a:lnSpc>
                <a:spcPts val="3728"/>
              </a:lnSpc>
              <a:spcBef>
                <a:spcPct val="0"/>
              </a:spcBef>
            </a:pPr>
            <a:r>
              <a:rPr lang="en-US" sz="3106">
                <a:solidFill>
                  <a:srgbClr val="000000"/>
                </a:solidFill>
                <a:latin typeface="Anonymous Pro"/>
                <a:ea typeface="Anonymous Pro"/>
                <a:cs typeface="Anonymous Pro"/>
                <a:sym typeface="Anonymous Pro"/>
              </a:rPr>
              <a:t>Pada simulasi, telah diketahui dimensi-dimensi antena yang digunakan untuk mendapat hasil yang diinginkan. Menggunakan rumus mencari dimensi antena, dapat dibalikkan menjadi mencari permitivitas relatif (𝜀)dan konstanta redaman (𝛼) bila diketahui dimensi-dimensi antena.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5114069">
            <a:off x="-1766787" y="-2852367"/>
            <a:ext cx="3533573" cy="6950604"/>
          </a:xfrm>
          <a:custGeom>
            <a:avLst/>
            <a:gdLst/>
            <a:ahLst/>
            <a:cxnLst/>
            <a:rect r="r" b="b" t="t" l="l"/>
            <a:pathLst>
              <a:path h="6950604" w="3533573">
                <a:moveTo>
                  <a:pt x="0" y="0"/>
                </a:moveTo>
                <a:lnTo>
                  <a:pt x="3533574" y="0"/>
                </a:lnTo>
                <a:lnTo>
                  <a:pt x="3533574" y="6950604"/>
                </a:lnTo>
                <a:lnTo>
                  <a:pt x="0" y="6950604"/>
                </a:lnTo>
                <a:lnTo>
                  <a:pt x="0" y="0"/>
                </a:lnTo>
                <a:close/>
              </a:path>
            </a:pathLst>
          </a:custGeom>
          <a:blipFill>
            <a:blip r:embed="rId3">
              <a:extLst>
                <a:ext uri="{96DAC541-7B7A-43D3-8B79-37D633B846F1}">
                  <asvg:svgBlip xmlns:asvg="http://schemas.microsoft.com/office/drawing/2016/SVG/main" r:embed="rId4"/>
                </a:ext>
              </a:extLst>
            </a:blip>
            <a:stretch>
              <a:fillRect l="-43773" t="-4058" r="-30464"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6206492" y="-375314"/>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1298161">
            <a:off x="17025775" y="420071"/>
            <a:ext cx="1286333" cy="1201113"/>
          </a:xfrm>
          <a:custGeom>
            <a:avLst/>
            <a:gdLst/>
            <a:ahLst/>
            <a:cxnLst/>
            <a:rect r="r" b="b" t="t" l="l"/>
            <a:pathLst>
              <a:path h="1201113" w="1286333">
                <a:moveTo>
                  <a:pt x="0" y="0"/>
                </a:moveTo>
                <a:lnTo>
                  <a:pt x="1286333" y="0"/>
                </a:lnTo>
                <a:lnTo>
                  <a:pt x="1286333" y="1201114"/>
                </a:lnTo>
                <a:lnTo>
                  <a:pt x="0" y="12011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true" flipV="false" rot="2806658">
            <a:off x="17244867" y="8130520"/>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true" flipV="false" rot="2806658">
            <a:off x="16806683" y="9184966"/>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91528" y="236220"/>
            <a:ext cx="3723156" cy="849630"/>
          </a:xfrm>
          <a:prstGeom prst="rect">
            <a:avLst/>
          </a:prstGeom>
        </p:spPr>
        <p:txBody>
          <a:bodyPr anchor="t" rtlCol="false" tIns="0" lIns="0" bIns="0" rIns="0">
            <a:spAutoFit/>
          </a:bodyPr>
          <a:lstStyle/>
          <a:p>
            <a:pPr algn="l" marL="0" indent="0" lvl="0">
              <a:lnSpc>
                <a:spcPts val="6404"/>
              </a:lnSpc>
            </a:pPr>
            <a:r>
              <a:rPr lang="en-US" sz="6099">
                <a:solidFill>
                  <a:srgbClr val="FFFFFF"/>
                </a:solidFill>
                <a:latin typeface="Pluma"/>
                <a:ea typeface="Pluma"/>
                <a:cs typeface="Pluma"/>
                <a:sym typeface="Pluma"/>
              </a:rPr>
              <a:t>ANALISIS</a:t>
            </a:r>
          </a:p>
        </p:txBody>
      </p:sp>
      <p:sp>
        <p:nvSpPr>
          <p:cNvPr name="TextBox 9" id="9"/>
          <p:cNvSpPr txBox="true"/>
          <p:nvPr/>
        </p:nvSpPr>
        <p:spPr>
          <a:xfrm rot="0">
            <a:off x="2161168" y="1076325"/>
            <a:ext cx="14688491" cy="8353425"/>
          </a:xfrm>
          <a:prstGeom prst="rect">
            <a:avLst/>
          </a:prstGeom>
        </p:spPr>
        <p:txBody>
          <a:bodyPr anchor="t" rtlCol="false" tIns="0" lIns="0" bIns="0" rIns="0">
            <a:spAutoFit/>
          </a:bodyPr>
          <a:lstStyle/>
          <a:p>
            <a:pPr algn="just">
              <a:lnSpc>
                <a:spcPts val="3703"/>
              </a:lnSpc>
            </a:pPr>
            <a:r>
              <a:rPr lang="en-US" b="true" sz="3085">
                <a:solidFill>
                  <a:srgbClr val="000000"/>
                </a:solidFill>
                <a:latin typeface="Anonymous Pro Bold"/>
                <a:ea typeface="Anonymous Pro Bold"/>
                <a:cs typeface="Anonymous Pro Bold"/>
                <a:sym typeface="Anonymous Pro Bold"/>
              </a:rPr>
              <a:t>PENGARUH SLOT</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SLOT PERSEGI: FREKUENSI TENGAH BERGESER (2,788 MHZ → 3106 MHZ), BW = 200 MHZ, RL = 21,338 DB, GAIN &amp; DIREKTIVITAS LEBIH KECIL, POLA RADIASI LEBIH UNIDIRECTIONAL, HPBW(E) = 45,1°, HPBW(H) = 56,6°.</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SLOT SEGITIGA: FREKUENSI KERJA BERGESER, BW &amp; RL LEBIH BESAR, GAIN MENURUN (3,82 → 3,08), POLA RADIASI LEBIH UNIDIRECTION</a:t>
            </a:r>
            <a:r>
              <a:rPr lang="en-US" sz="3085">
                <a:solidFill>
                  <a:srgbClr val="000000"/>
                </a:solidFill>
                <a:latin typeface="Anonymous Pro"/>
                <a:ea typeface="Anonymous Pro"/>
                <a:cs typeface="Anonymous Pro"/>
                <a:sym typeface="Anonymous Pro"/>
              </a:rPr>
              <a:t>al dengan HPBW lebih sempit.</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Kombinasi Slot: BW &amp; RL lebih baik, pola radiasi unidirectional, HPBW lebih sempit, gain cukup tinggi.</a:t>
            </a:r>
          </a:p>
          <a:p>
            <a:pPr algn="just">
              <a:lnSpc>
                <a:spcPts val="3703"/>
              </a:lnSpc>
            </a:pPr>
            <a:r>
              <a:rPr lang="en-US" sz="3085" b="true">
                <a:solidFill>
                  <a:srgbClr val="000000"/>
                </a:solidFill>
                <a:latin typeface="Anonymous Pro Bold"/>
                <a:ea typeface="Anonymous Pro Bold"/>
                <a:cs typeface="Anonymous Pro Bold"/>
                <a:sym typeface="Anonymous Pro Bold"/>
              </a:rPr>
              <a:t>Pengaruh Parasitic</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Parasitic Persegi: BW kecil, gain &amp; direktivitas menurun, pola radiasi belum unidirectional.</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Parasitic Segitiga: BW lebih besar, gain = 4, direktivitas = 7,33, pola radiasi mendekati unidirectional.</a:t>
            </a:r>
          </a:p>
          <a:p>
            <a:pPr algn="just" marL="666237" indent="-333118" lvl="1">
              <a:lnSpc>
                <a:spcPts val="3703"/>
              </a:lnSpc>
              <a:buFont typeface="Arial"/>
              <a:buChar char="•"/>
            </a:pPr>
            <a:r>
              <a:rPr lang="en-US" sz="3085">
                <a:solidFill>
                  <a:srgbClr val="000000"/>
                </a:solidFill>
                <a:latin typeface="Anonymous Pro"/>
                <a:ea typeface="Anonymous Pro"/>
                <a:cs typeface="Anonymous Pro"/>
                <a:sym typeface="Anonymous Pro"/>
              </a:rPr>
              <a:t>Kombinasi Parasitic: BW lebih besar, gain cukup tinggi, pola radiasi unidirectional dengan HPBW lebih sempit.</a:t>
            </a:r>
          </a:p>
          <a:p>
            <a:pPr algn="just">
              <a:lnSpc>
                <a:spcPts val="3703"/>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5114069">
            <a:off x="-1766787" y="-2852367"/>
            <a:ext cx="3533573" cy="6950604"/>
          </a:xfrm>
          <a:custGeom>
            <a:avLst/>
            <a:gdLst/>
            <a:ahLst/>
            <a:cxnLst/>
            <a:rect r="r" b="b" t="t" l="l"/>
            <a:pathLst>
              <a:path h="6950604" w="3533573">
                <a:moveTo>
                  <a:pt x="0" y="0"/>
                </a:moveTo>
                <a:lnTo>
                  <a:pt x="3533574" y="0"/>
                </a:lnTo>
                <a:lnTo>
                  <a:pt x="3533574" y="6950604"/>
                </a:lnTo>
                <a:lnTo>
                  <a:pt x="0" y="6950604"/>
                </a:lnTo>
                <a:lnTo>
                  <a:pt x="0" y="0"/>
                </a:lnTo>
                <a:close/>
              </a:path>
            </a:pathLst>
          </a:custGeom>
          <a:blipFill>
            <a:blip r:embed="rId3">
              <a:extLst>
                <a:ext uri="{96DAC541-7B7A-43D3-8B79-37D633B846F1}">
                  <asvg:svgBlip xmlns:asvg="http://schemas.microsoft.com/office/drawing/2016/SVG/main" r:embed="rId4"/>
                </a:ext>
              </a:extLst>
            </a:blip>
            <a:stretch>
              <a:fillRect l="-43773" t="-4058" r="-30464"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1298161">
            <a:off x="16206492" y="-375314"/>
            <a:ext cx="1286333" cy="1201113"/>
          </a:xfrm>
          <a:custGeom>
            <a:avLst/>
            <a:gdLst/>
            <a:ahLst/>
            <a:cxnLst/>
            <a:rect r="r" b="b" t="t" l="l"/>
            <a:pathLst>
              <a:path h="1201113" w="1286333">
                <a:moveTo>
                  <a:pt x="0" y="0"/>
                </a:moveTo>
                <a:lnTo>
                  <a:pt x="1286333" y="0"/>
                </a:lnTo>
                <a:lnTo>
                  <a:pt x="1286333" y="1201113"/>
                </a:lnTo>
                <a:lnTo>
                  <a:pt x="0" y="1201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1298161">
            <a:off x="17025775" y="420071"/>
            <a:ext cx="1286333" cy="1201113"/>
          </a:xfrm>
          <a:custGeom>
            <a:avLst/>
            <a:gdLst/>
            <a:ahLst/>
            <a:cxnLst/>
            <a:rect r="r" b="b" t="t" l="l"/>
            <a:pathLst>
              <a:path h="1201113" w="1286333">
                <a:moveTo>
                  <a:pt x="0" y="0"/>
                </a:moveTo>
                <a:lnTo>
                  <a:pt x="1286333" y="0"/>
                </a:lnTo>
                <a:lnTo>
                  <a:pt x="1286333" y="1201114"/>
                </a:lnTo>
                <a:lnTo>
                  <a:pt x="0" y="12011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true" flipV="false" rot="2806658">
            <a:off x="17244867" y="8130520"/>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true" flipV="false" rot="2806658">
            <a:off x="16806683" y="9184966"/>
            <a:ext cx="1286333" cy="1201113"/>
          </a:xfrm>
          <a:custGeom>
            <a:avLst/>
            <a:gdLst/>
            <a:ahLst/>
            <a:cxnLst/>
            <a:rect r="r" b="b" t="t" l="l"/>
            <a:pathLst>
              <a:path h="1201113" w="1286333">
                <a:moveTo>
                  <a:pt x="1286333" y="0"/>
                </a:moveTo>
                <a:lnTo>
                  <a:pt x="0" y="0"/>
                </a:lnTo>
                <a:lnTo>
                  <a:pt x="0" y="1201114"/>
                </a:lnTo>
                <a:lnTo>
                  <a:pt x="1286333" y="1201114"/>
                </a:lnTo>
                <a:lnTo>
                  <a:pt x="128633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91528" y="236220"/>
            <a:ext cx="3723156" cy="849630"/>
          </a:xfrm>
          <a:prstGeom prst="rect">
            <a:avLst/>
          </a:prstGeom>
        </p:spPr>
        <p:txBody>
          <a:bodyPr anchor="t" rtlCol="false" tIns="0" lIns="0" bIns="0" rIns="0">
            <a:spAutoFit/>
          </a:bodyPr>
          <a:lstStyle/>
          <a:p>
            <a:pPr algn="l" marL="0" indent="0" lvl="0">
              <a:lnSpc>
                <a:spcPts val="6404"/>
              </a:lnSpc>
            </a:pPr>
            <a:r>
              <a:rPr lang="en-US" sz="6099">
                <a:solidFill>
                  <a:srgbClr val="FFFFFF"/>
                </a:solidFill>
                <a:latin typeface="Pluma"/>
                <a:ea typeface="Pluma"/>
                <a:cs typeface="Pluma"/>
                <a:sym typeface="Pluma"/>
              </a:rPr>
              <a:t>ANALISIS</a:t>
            </a:r>
          </a:p>
        </p:txBody>
      </p:sp>
      <p:sp>
        <p:nvSpPr>
          <p:cNvPr name="TextBox 9" id="9"/>
          <p:cNvSpPr txBox="true"/>
          <p:nvPr/>
        </p:nvSpPr>
        <p:spPr>
          <a:xfrm rot="0">
            <a:off x="1028700" y="2581583"/>
            <a:ext cx="16230600" cy="7029450"/>
          </a:xfrm>
          <a:prstGeom prst="rect">
            <a:avLst/>
          </a:prstGeom>
        </p:spPr>
        <p:txBody>
          <a:bodyPr anchor="t" rtlCol="false" tIns="0" lIns="0" bIns="0" rIns="0">
            <a:spAutoFit/>
          </a:bodyPr>
          <a:lstStyle/>
          <a:p>
            <a:pPr algn="just">
              <a:lnSpc>
                <a:spcPts val="5048"/>
              </a:lnSpc>
            </a:pPr>
            <a:r>
              <a:rPr lang="en-US" b="true" sz="4206">
                <a:solidFill>
                  <a:srgbClr val="000000"/>
                </a:solidFill>
                <a:latin typeface="Anonymous Pro Bold"/>
                <a:ea typeface="Anonymous Pro Bold"/>
                <a:cs typeface="Anonymous Pro Bold"/>
                <a:sym typeface="Anonymous Pro Bold"/>
              </a:rPr>
              <a:t>PENGARUH SLOT &amp; PARASITIC BERSAMAAN</a:t>
            </a:r>
          </a:p>
          <a:p>
            <a:pPr algn="just" marL="908284" indent="-454142" lvl="1">
              <a:lnSpc>
                <a:spcPts val="5048"/>
              </a:lnSpc>
              <a:buFont typeface="Arial"/>
              <a:buChar char="•"/>
            </a:pPr>
            <a:r>
              <a:rPr lang="en-US" sz="4206">
                <a:solidFill>
                  <a:srgbClr val="000000"/>
                </a:solidFill>
                <a:latin typeface="Anonymous Pro"/>
                <a:ea typeface="Anonymous Pro"/>
                <a:cs typeface="Anonymous Pro"/>
                <a:sym typeface="Anonymous Pro"/>
              </a:rPr>
              <a:t>KOMBINASI MENGHASILKAN BW LEBAR (583 MHZ), GAIN CUKUP TINGGI (3,575 DBI), POLA RADIASI UNIDIRECTIONAL (MAIN LOBE 0°), HPBW SEMPIT.</a:t>
            </a:r>
          </a:p>
          <a:p>
            <a:pPr algn="just">
              <a:lnSpc>
                <a:spcPts val="5048"/>
              </a:lnSpc>
            </a:pPr>
            <a:r>
              <a:rPr lang="en-US" b="true" sz="4206">
                <a:solidFill>
                  <a:srgbClr val="000000"/>
                </a:solidFill>
                <a:latin typeface="Anonymous Pro Bold"/>
                <a:ea typeface="Anonymous Pro Bold"/>
                <a:cs typeface="Anonymous Pro Bold"/>
                <a:sym typeface="Anonymous Pro Bold"/>
              </a:rPr>
              <a:t>HASIL REALISASI</a:t>
            </a:r>
          </a:p>
          <a:p>
            <a:pPr algn="just" marL="908284" indent="-454142" lvl="1">
              <a:lnSpc>
                <a:spcPts val="5048"/>
              </a:lnSpc>
              <a:buFont typeface="Arial"/>
              <a:buChar char="•"/>
            </a:pPr>
            <a:r>
              <a:rPr lang="en-US" sz="4206">
                <a:solidFill>
                  <a:srgbClr val="000000"/>
                </a:solidFill>
                <a:latin typeface="Anonymous Pro"/>
                <a:ea typeface="Anonymous Pro"/>
                <a:cs typeface="Anonymous Pro"/>
                <a:sym typeface="Anonymous Pro"/>
              </a:rPr>
              <a:t>PERBEDAAN SIMULASI VS RE</a:t>
            </a:r>
            <a:r>
              <a:rPr lang="en-US" sz="4206">
                <a:solidFill>
                  <a:srgbClr val="000000"/>
                </a:solidFill>
                <a:latin typeface="Anonymous Pro"/>
                <a:ea typeface="Anonymous Pro"/>
                <a:cs typeface="Anonymous Pro"/>
                <a:sym typeface="Anonymous Pro"/>
              </a:rPr>
              <a:t>alisasi: BW &amp; RL lebih buruk, frekuensi kerja lebih tinggi, tetapi gain lebih baik.</a:t>
            </a:r>
          </a:p>
          <a:p>
            <a:pPr algn="just" marL="908284" indent="-454142" lvl="1">
              <a:lnSpc>
                <a:spcPts val="5048"/>
              </a:lnSpc>
              <a:buFont typeface="Arial"/>
              <a:buChar char="•"/>
            </a:pPr>
            <a:r>
              <a:rPr lang="en-US" sz="4206">
                <a:solidFill>
                  <a:srgbClr val="000000"/>
                </a:solidFill>
                <a:latin typeface="Anonymous Pro"/>
                <a:ea typeface="Anonymous Pro"/>
                <a:cs typeface="Anonymous Pro"/>
                <a:sym typeface="Anonymous Pro"/>
              </a:rPr>
              <a:t>Faktor penyebab: kualitas komponen (PCB, konektor) dan proses produksi.</a:t>
            </a:r>
          </a:p>
          <a:p>
            <a:pPr algn="just">
              <a:lnSpc>
                <a:spcPts val="5048"/>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grpSp>
        <p:nvGrpSpPr>
          <p:cNvPr name="Group 3" id="3"/>
          <p:cNvGrpSpPr/>
          <p:nvPr/>
        </p:nvGrpSpPr>
        <p:grpSpPr>
          <a:xfrm rot="0">
            <a:off x="0" y="773610"/>
            <a:ext cx="18441840" cy="8852409"/>
            <a:chOff x="0" y="0"/>
            <a:chExt cx="24589121" cy="11803212"/>
          </a:xfrm>
        </p:grpSpPr>
        <p:sp>
          <p:nvSpPr>
            <p:cNvPr name="AutoShape 4" id="4"/>
            <p:cNvSpPr/>
            <p:nvPr/>
          </p:nvSpPr>
          <p:spPr>
            <a:xfrm rot="0">
              <a:off x="0" y="0"/>
              <a:ext cx="24589121" cy="11803212"/>
            </a:xfrm>
            <a:prstGeom prst="rect">
              <a:avLst/>
            </a:prstGeom>
            <a:solidFill>
              <a:srgbClr val="EDECED"/>
            </a:solidFill>
          </p:spPr>
        </p:sp>
        <p:sp>
          <p:nvSpPr>
            <p:cNvPr name="TextBox 5" id="5"/>
            <p:cNvSpPr txBox="true"/>
            <p:nvPr/>
          </p:nvSpPr>
          <p:spPr>
            <a:xfrm rot="0">
              <a:off x="2027431" y="693567"/>
              <a:ext cx="20534259" cy="1172132"/>
            </a:xfrm>
            <a:prstGeom prst="rect">
              <a:avLst/>
            </a:prstGeom>
          </p:spPr>
          <p:txBody>
            <a:bodyPr anchor="t" rtlCol="false" tIns="0" lIns="0" bIns="0" rIns="0">
              <a:spAutoFit/>
            </a:bodyPr>
            <a:lstStyle/>
            <a:p>
              <a:pPr algn="ctr" marL="0" indent="0" lvl="1">
                <a:lnSpc>
                  <a:spcPts val="6905"/>
                </a:lnSpc>
              </a:pPr>
              <a:r>
                <a:rPr lang="en-US" b="true" sz="5754" spc="-201">
                  <a:solidFill>
                    <a:srgbClr val="2E2C2B"/>
                  </a:solidFill>
                  <a:latin typeface="Anonymous Pro Bold"/>
                  <a:ea typeface="Anonymous Pro Bold"/>
                  <a:cs typeface="Anonymous Pro Bold"/>
                  <a:sym typeface="Anonymous Pro Bold"/>
                </a:rPr>
                <a:t>KESIMPULAN</a:t>
              </a:r>
            </a:p>
          </p:txBody>
        </p:sp>
        <p:sp>
          <p:nvSpPr>
            <p:cNvPr name="TextBox 6" id="6"/>
            <p:cNvSpPr txBox="true"/>
            <p:nvPr/>
          </p:nvSpPr>
          <p:spPr>
            <a:xfrm rot="0">
              <a:off x="2027431" y="2188348"/>
              <a:ext cx="20534259" cy="8845337"/>
            </a:xfrm>
            <a:prstGeom prst="rect">
              <a:avLst/>
            </a:prstGeom>
          </p:spPr>
          <p:txBody>
            <a:bodyPr anchor="t" rtlCol="false" tIns="0" lIns="0" bIns="0" rIns="0">
              <a:spAutoFit/>
            </a:bodyPr>
            <a:lstStyle/>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marL="0" indent="0" lvl="1">
                <a:lnSpc>
                  <a:spcPts val="3766"/>
                </a:lnSpc>
              </a:pPr>
            </a:p>
          </p:txBody>
        </p:sp>
      </p:grpSp>
      <p:sp>
        <p:nvSpPr>
          <p:cNvPr name="Freeform 7" id="7">
            <a:extLst>
              <a:ext uri="{C183D7F6-B498-43B3-948B-1728B52AA6E4}">
                <adec:decorative xmlns:adec="http://schemas.microsoft.com/office/drawing/2017/decorative" val="1"/>
              </a:ext>
            </a:extLst>
          </p:cNvPr>
          <p:cNvSpPr/>
          <p:nvPr/>
        </p:nvSpPr>
        <p:spPr>
          <a:xfrm flipH="false" flipV="false" rot="-444513">
            <a:off x="16814113" y="3149705"/>
            <a:ext cx="4494239" cy="6621346"/>
          </a:xfrm>
          <a:custGeom>
            <a:avLst/>
            <a:gdLst/>
            <a:ahLst/>
            <a:cxnLst/>
            <a:rect r="r" b="b" t="t" l="l"/>
            <a:pathLst>
              <a:path h="6621346" w="4494239">
                <a:moveTo>
                  <a:pt x="0" y="0"/>
                </a:moveTo>
                <a:lnTo>
                  <a:pt x="4494239" y="0"/>
                </a:lnTo>
                <a:lnTo>
                  <a:pt x="4494239" y="6621347"/>
                </a:lnTo>
                <a:lnTo>
                  <a:pt x="0" y="6621347"/>
                </a:lnTo>
                <a:lnTo>
                  <a:pt x="0" y="0"/>
                </a:lnTo>
                <a:close/>
              </a:path>
            </a:pathLst>
          </a:custGeom>
          <a:blipFill>
            <a:blip r:embed="rId3"/>
            <a:stretch>
              <a:fillRect l="0" t="0" r="0" b="0"/>
            </a:stretch>
          </a:blipFill>
        </p:spPr>
      </p:sp>
      <p:sp>
        <p:nvSpPr>
          <p:cNvPr name="Freeform 8" id="8">
            <a:extLst>
              <a:ext uri="{C183D7F6-B498-43B3-948B-1728B52AA6E4}">
                <adec:decorative xmlns:adec="http://schemas.microsoft.com/office/drawing/2017/decorative" val="1"/>
              </a:ext>
            </a:extLst>
          </p:cNvPr>
          <p:cNvSpPr/>
          <p:nvPr/>
        </p:nvSpPr>
        <p:spPr>
          <a:xfrm flipH="true" flipV="false" rot="-1825774">
            <a:off x="15361748" y="2186006"/>
            <a:ext cx="2549554" cy="3565810"/>
          </a:xfrm>
          <a:custGeom>
            <a:avLst/>
            <a:gdLst/>
            <a:ahLst/>
            <a:cxnLst/>
            <a:rect r="r" b="b" t="t" l="l"/>
            <a:pathLst>
              <a:path h="3565810" w="2549554">
                <a:moveTo>
                  <a:pt x="2549554" y="0"/>
                </a:moveTo>
                <a:lnTo>
                  <a:pt x="0" y="0"/>
                </a:lnTo>
                <a:lnTo>
                  <a:pt x="0" y="3565810"/>
                </a:lnTo>
                <a:lnTo>
                  <a:pt x="2549554" y="3565810"/>
                </a:lnTo>
                <a:lnTo>
                  <a:pt x="2549554" y="0"/>
                </a:lnTo>
                <a:close/>
              </a:path>
            </a:pathLst>
          </a:custGeom>
          <a:blipFill>
            <a:blip r:embed="rId4"/>
            <a:stretch>
              <a:fillRect l="0" t="0" r="0" b="0"/>
            </a:stretch>
          </a:blipFill>
        </p:spPr>
      </p:sp>
      <p:sp>
        <p:nvSpPr>
          <p:cNvPr name="Freeform 9" id="9">
            <a:extLst>
              <a:ext uri="{C183D7F6-B498-43B3-948B-1728B52AA6E4}">
                <adec:decorative xmlns:adec="http://schemas.microsoft.com/office/drawing/2017/decorative" val="1"/>
              </a:ext>
            </a:extLst>
          </p:cNvPr>
          <p:cNvSpPr/>
          <p:nvPr/>
        </p:nvSpPr>
        <p:spPr>
          <a:xfrm flipH="false" flipV="false" rot="845171">
            <a:off x="15906502" y="8013281"/>
            <a:ext cx="1939582" cy="1811084"/>
          </a:xfrm>
          <a:custGeom>
            <a:avLst/>
            <a:gdLst/>
            <a:ahLst/>
            <a:cxnLst/>
            <a:rect r="r" b="b" t="t" l="l"/>
            <a:pathLst>
              <a:path h="1811084" w="1939582">
                <a:moveTo>
                  <a:pt x="0" y="0"/>
                </a:moveTo>
                <a:lnTo>
                  <a:pt x="1939582" y="0"/>
                </a:lnTo>
                <a:lnTo>
                  <a:pt x="1939582" y="1811085"/>
                </a:lnTo>
                <a:lnTo>
                  <a:pt x="0" y="18110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5414768" y="6617866"/>
            <a:ext cx="2108754" cy="672560"/>
            <a:chOff x="0" y="0"/>
            <a:chExt cx="2811672" cy="896746"/>
          </a:xfrm>
        </p:grpSpPr>
        <p:sp>
          <p:nvSpPr>
            <p:cNvPr name="Freeform 11" id="11"/>
            <p:cNvSpPr/>
            <p:nvPr/>
          </p:nvSpPr>
          <p:spPr>
            <a:xfrm flipH="false" flipV="false" rot="0">
              <a:off x="45910" y="0"/>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247046"/>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0" y="529654"/>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4" id="14"/>
          <p:cNvSpPr/>
          <p:nvPr/>
        </p:nvSpPr>
        <p:spPr>
          <a:xfrm flipH="false" flipV="false" rot="0">
            <a:off x="4115306" y="2262458"/>
            <a:ext cx="10057388" cy="6995842"/>
          </a:xfrm>
          <a:custGeom>
            <a:avLst/>
            <a:gdLst/>
            <a:ahLst/>
            <a:cxnLst/>
            <a:rect r="r" b="b" t="t" l="l"/>
            <a:pathLst>
              <a:path h="6995842" w="10057388">
                <a:moveTo>
                  <a:pt x="0" y="0"/>
                </a:moveTo>
                <a:lnTo>
                  <a:pt x="10057388" y="0"/>
                </a:lnTo>
                <a:lnTo>
                  <a:pt x="10057388" y="6995842"/>
                </a:lnTo>
                <a:lnTo>
                  <a:pt x="0" y="6995842"/>
                </a:lnTo>
                <a:lnTo>
                  <a:pt x="0" y="0"/>
                </a:lnTo>
                <a:close/>
              </a:path>
            </a:pathLst>
          </a:custGeom>
          <a:blipFill>
            <a:blip r:embed="rId9"/>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grpSp>
        <p:nvGrpSpPr>
          <p:cNvPr name="Group 3" id="3"/>
          <p:cNvGrpSpPr/>
          <p:nvPr/>
        </p:nvGrpSpPr>
        <p:grpSpPr>
          <a:xfrm rot="0">
            <a:off x="0" y="773610"/>
            <a:ext cx="18441840" cy="8852409"/>
            <a:chOff x="0" y="0"/>
            <a:chExt cx="24589121" cy="11803212"/>
          </a:xfrm>
        </p:grpSpPr>
        <p:sp>
          <p:nvSpPr>
            <p:cNvPr name="AutoShape 4" id="4"/>
            <p:cNvSpPr/>
            <p:nvPr/>
          </p:nvSpPr>
          <p:spPr>
            <a:xfrm rot="0">
              <a:off x="0" y="0"/>
              <a:ext cx="24589121" cy="11803212"/>
            </a:xfrm>
            <a:prstGeom prst="rect">
              <a:avLst/>
            </a:prstGeom>
            <a:solidFill>
              <a:srgbClr val="EDECED"/>
            </a:solidFill>
          </p:spPr>
        </p:sp>
        <p:sp>
          <p:nvSpPr>
            <p:cNvPr name="TextBox 5" id="5"/>
            <p:cNvSpPr txBox="true"/>
            <p:nvPr/>
          </p:nvSpPr>
          <p:spPr>
            <a:xfrm rot="0">
              <a:off x="2027431" y="693567"/>
              <a:ext cx="20534259" cy="1172132"/>
            </a:xfrm>
            <a:prstGeom prst="rect">
              <a:avLst/>
            </a:prstGeom>
          </p:spPr>
          <p:txBody>
            <a:bodyPr anchor="t" rtlCol="false" tIns="0" lIns="0" bIns="0" rIns="0">
              <a:spAutoFit/>
            </a:bodyPr>
            <a:lstStyle/>
            <a:p>
              <a:pPr algn="ctr" marL="0" indent="0" lvl="1">
                <a:lnSpc>
                  <a:spcPts val="6905"/>
                </a:lnSpc>
              </a:pPr>
              <a:r>
                <a:rPr lang="en-US" b="true" sz="5754" spc="-201">
                  <a:solidFill>
                    <a:srgbClr val="2E2C2B"/>
                  </a:solidFill>
                  <a:latin typeface="Anonymous Pro Bold"/>
                  <a:ea typeface="Anonymous Pro Bold"/>
                  <a:cs typeface="Anonymous Pro Bold"/>
                  <a:sym typeface="Anonymous Pro Bold"/>
                </a:rPr>
                <a:t>KESIMPULAN</a:t>
              </a:r>
            </a:p>
          </p:txBody>
        </p:sp>
        <p:sp>
          <p:nvSpPr>
            <p:cNvPr name="TextBox 6" id="6"/>
            <p:cNvSpPr txBox="true"/>
            <p:nvPr/>
          </p:nvSpPr>
          <p:spPr>
            <a:xfrm rot="0">
              <a:off x="2027431" y="2188348"/>
              <a:ext cx="20534259" cy="8845337"/>
            </a:xfrm>
            <a:prstGeom prst="rect">
              <a:avLst/>
            </a:prstGeom>
          </p:spPr>
          <p:txBody>
            <a:bodyPr anchor="t" rtlCol="false" tIns="0" lIns="0" bIns="0" rIns="0">
              <a:spAutoFit/>
            </a:bodyPr>
            <a:lstStyle/>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a:lnSpc>
                  <a:spcPts val="3766"/>
                </a:lnSpc>
              </a:pPr>
            </a:p>
            <a:p>
              <a:pPr algn="ctr" marL="0" indent="0" lvl="1">
                <a:lnSpc>
                  <a:spcPts val="3766"/>
                </a:lnSpc>
              </a:pPr>
            </a:p>
          </p:txBody>
        </p:sp>
      </p:grpSp>
      <p:sp>
        <p:nvSpPr>
          <p:cNvPr name="Freeform 7" id="7">
            <a:extLst>
              <a:ext uri="{C183D7F6-B498-43B3-948B-1728B52AA6E4}">
                <adec:decorative xmlns:adec="http://schemas.microsoft.com/office/drawing/2017/decorative" val="1"/>
              </a:ext>
            </a:extLst>
          </p:cNvPr>
          <p:cNvSpPr/>
          <p:nvPr/>
        </p:nvSpPr>
        <p:spPr>
          <a:xfrm flipH="false" flipV="false" rot="-444513">
            <a:off x="16814113" y="3149705"/>
            <a:ext cx="4494239" cy="6621346"/>
          </a:xfrm>
          <a:custGeom>
            <a:avLst/>
            <a:gdLst/>
            <a:ahLst/>
            <a:cxnLst/>
            <a:rect r="r" b="b" t="t" l="l"/>
            <a:pathLst>
              <a:path h="6621346" w="4494239">
                <a:moveTo>
                  <a:pt x="0" y="0"/>
                </a:moveTo>
                <a:lnTo>
                  <a:pt x="4494239" y="0"/>
                </a:lnTo>
                <a:lnTo>
                  <a:pt x="4494239" y="6621347"/>
                </a:lnTo>
                <a:lnTo>
                  <a:pt x="0" y="6621347"/>
                </a:lnTo>
                <a:lnTo>
                  <a:pt x="0" y="0"/>
                </a:lnTo>
                <a:close/>
              </a:path>
            </a:pathLst>
          </a:custGeom>
          <a:blipFill>
            <a:blip r:embed="rId3"/>
            <a:stretch>
              <a:fillRect l="0" t="0" r="0" b="0"/>
            </a:stretch>
          </a:blipFill>
        </p:spPr>
      </p:sp>
      <p:sp>
        <p:nvSpPr>
          <p:cNvPr name="Freeform 8" id="8">
            <a:extLst>
              <a:ext uri="{C183D7F6-B498-43B3-948B-1728B52AA6E4}">
                <adec:decorative xmlns:adec="http://schemas.microsoft.com/office/drawing/2017/decorative" val="1"/>
              </a:ext>
            </a:extLst>
          </p:cNvPr>
          <p:cNvSpPr/>
          <p:nvPr/>
        </p:nvSpPr>
        <p:spPr>
          <a:xfrm flipH="true" flipV="false" rot="-1825774">
            <a:off x="15361748" y="2186006"/>
            <a:ext cx="2549554" cy="3565810"/>
          </a:xfrm>
          <a:custGeom>
            <a:avLst/>
            <a:gdLst/>
            <a:ahLst/>
            <a:cxnLst/>
            <a:rect r="r" b="b" t="t" l="l"/>
            <a:pathLst>
              <a:path h="3565810" w="2549554">
                <a:moveTo>
                  <a:pt x="2549554" y="0"/>
                </a:moveTo>
                <a:lnTo>
                  <a:pt x="0" y="0"/>
                </a:lnTo>
                <a:lnTo>
                  <a:pt x="0" y="3565810"/>
                </a:lnTo>
                <a:lnTo>
                  <a:pt x="2549554" y="3565810"/>
                </a:lnTo>
                <a:lnTo>
                  <a:pt x="2549554" y="0"/>
                </a:lnTo>
                <a:close/>
              </a:path>
            </a:pathLst>
          </a:custGeom>
          <a:blipFill>
            <a:blip r:embed="rId4"/>
            <a:stretch>
              <a:fillRect l="0" t="0" r="0" b="0"/>
            </a:stretch>
          </a:blipFill>
        </p:spPr>
      </p:sp>
      <p:sp>
        <p:nvSpPr>
          <p:cNvPr name="Freeform 9" id="9">
            <a:extLst>
              <a:ext uri="{C183D7F6-B498-43B3-948B-1728B52AA6E4}">
                <adec:decorative xmlns:adec="http://schemas.microsoft.com/office/drawing/2017/decorative" val="1"/>
              </a:ext>
            </a:extLst>
          </p:cNvPr>
          <p:cNvSpPr/>
          <p:nvPr/>
        </p:nvSpPr>
        <p:spPr>
          <a:xfrm flipH="false" flipV="false" rot="845171">
            <a:off x="15906502" y="8013281"/>
            <a:ext cx="1939582" cy="1811084"/>
          </a:xfrm>
          <a:custGeom>
            <a:avLst/>
            <a:gdLst/>
            <a:ahLst/>
            <a:cxnLst/>
            <a:rect r="r" b="b" t="t" l="l"/>
            <a:pathLst>
              <a:path h="1811084" w="1939582">
                <a:moveTo>
                  <a:pt x="0" y="0"/>
                </a:moveTo>
                <a:lnTo>
                  <a:pt x="1939582" y="0"/>
                </a:lnTo>
                <a:lnTo>
                  <a:pt x="1939582" y="1811085"/>
                </a:lnTo>
                <a:lnTo>
                  <a:pt x="0" y="18110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5414768" y="6617866"/>
            <a:ext cx="2108754" cy="672560"/>
            <a:chOff x="0" y="0"/>
            <a:chExt cx="2811672" cy="896746"/>
          </a:xfrm>
        </p:grpSpPr>
        <p:sp>
          <p:nvSpPr>
            <p:cNvPr name="Freeform 11" id="11"/>
            <p:cNvSpPr/>
            <p:nvPr/>
          </p:nvSpPr>
          <p:spPr>
            <a:xfrm flipH="false" flipV="false" rot="0">
              <a:off x="45910" y="0"/>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0" y="247046"/>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0" y="529654"/>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TextBox 14" id="14"/>
          <p:cNvSpPr txBox="true"/>
          <p:nvPr/>
        </p:nvSpPr>
        <p:spPr>
          <a:xfrm rot="0">
            <a:off x="2094279" y="2066925"/>
            <a:ext cx="14099442" cy="7191375"/>
          </a:xfrm>
          <a:prstGeom prst="rect">
            <a:avLst/>
          </a:prstGeom>
        </p:spPr>
        <p:txBody>
          <a:bodyPr anchor="t" rtlCol="false" tIns="0" lIns="0" bIns="0" rIns="0">
            <a:spAutoFit/>
          </a:bodyPr>
          <a:lstStyle/>
          <a:p>
            <a:pPr algn="ctr">
              <a:lnSpc>
                <a:spcPts val="4366"/>
              </a:lnSpc>
              <a:spcBef>
                <a:spcPct val="0"/>
              </a:spcBef>
            </a:pPr>
            <a:r>
              <a:rPr lang="en-US" sz="3638">
                <a:solidFill>
                  <a:srgbClr val="2E2C2B"/>
                </a:solidFill>
                <a:latin typeface="Anonymous Pro"/>
                <a:ea typeface="Anonymous Pro"/>
                <a:cs typeface="Anonymous Pro"/>
                <a:sym typeface="Anonymous Pro"/>
              </a:rPr>
              <a:t>Ketidaksesuaian hasil simulasi maupun realisasi disebabkan oleh perbedaan parameter seperti permitivitas dan konstanta redaman secara teori, simulasi, dan realisasi. Hal tersebut dapat disebabkan oleh komponen yang digunakan dan proses pembuatan realisasinya itu sendiri. </a:t>
            </a:r>
          </a:p>
          <a:p>
            <a:pPr algn="ctr">
              <a:lnSpc>
                <a:spcPts val="4366"/>
              </a:lnSpc>
              <a:spcBef>
                <a:spcPct val="0"/>
              </a:spcBef>
            </a:pPr>
            <a:r>
              <a:rPr lang="en-US" sz="3638">
                <a:solidFill>
                  <a:srgbClr val="2E2C2B"/>
                </a:solidFill>
                <a:latin typeface="Anonymous Pro"/>
                <a:ea typeface="Anonymous Pro"/>
                <a:cs typeface="Anonymous Pro"/>
                <a:sym typeface="Anonymous Pro"/>
              </a:rPr>
              <a:t>Metode-metode pada perancangan antena dapat memengaruhi respon antena. Metode slot dapat memperbagus pola radiasi menjadi unidirectional sedangakan metode parasitic membuat bandwith dan gain antena menjadi lebih bagus. Penggabungan kedua metode tersebut dapat menghasilkan antena bowtie dengan spesifikasi yang diinginkan.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grpSp>
        <p:nvGrpSpPr>
          <p:cNvPr name="Group 3" id="3"/>
          <p:cNvGrpSpPr/>
          <p:nvPr/>
        </p:nvGrpSpPr>
        <p:grpSpPr>
          <a:xfrm rot="0">
            <a:off x="514350" y="321441"/>
            <a:ext cx="17259300" cy="10615668"/>
            <a:chOff x="0" y="0"/>
            <a:chExt cx="23012400" cy="14154224"/>
          </a:xfrm>
        </p:grpSpPr>
        <p:sp>
          <p:nvSpPr>
            <p:cNvPr name="AutoShape 4" id="4"/>
            <p:cNvSpPr/>
            <p:nvPr/>
          </p:nvSpPr>
          <p:spPr>
            <a:xfrm rot="0">
              <a:off x="0" y="0"/>
              <a:ext cx="23012400" cy="14154224"/>
            </a:xfrm>
            <a:prstGeom prst="rect">
              <a:avLst/>
            </a:prstGeom>
            <a:solidFill>
              <a:srgbClr val="EDECED"/>
            </a:solidFill>
          </p:spPr>
        </p:sp>
        <p:sp>
          <p:nvSpPr>
            <p:cNvPr name="TextBox 5" id="5"/>
            <p:cNvSpPr txBox="true"/>
            <p:nvPr/>
          </p:nvSpPr>
          <p:spPr>
            <a:xfrm rot="0">
              <a:off x="1897426" y="648483"/>
              <a:ext cx="19217547" cy="11884025"/>
            </a:xfrm>
            <a:prstGeom prst="rect">
              <a:avLst/>
            </a:prstGeom>
          </p:spPr>
          <p:txBody>
            <a:bodyPr anchor="t" rtlCol="false" tIns="0" lIns="0" bIns="0" rIns="0">
              <a:spAutoFit/>
            </a:bodyPr>
            <a:lstStyle/>
            <a:p>
              <a:pPr algn="ctr">
                <a:lnSpc>
                  <a:spcPts val="5615"/>
                </a:lnSpc>
              </a:pPr>
              <a:r>
                <a:rPr lang="en-US" b="true" sz="4679" spc="-163">
                  <a:solidFill>
                    <a:srgbClr val="2E2C2B"/>
                  </a:solidFill>
                  <a:latin typeface="Anonymous Pro Bold"/>
                  <a:ea typeface="Anonymous Pro Bold"/>
                  <a:cs typeface="Anonymous Pro Bold"/>
                  <a:sym typeface="Anonymous Pro Bold"/>
                </a:rPr>
                <a:t>REFERENSI</a:t>
              </a:r>
            </a:p>
            <a:p>
              <a:pPr algn="just">
                <a:lnSpc>
                  <a:spcPts val="2486"/>
                </a:lnSpc>
              </a:pPr>
            </a:p>
            <a:p>
              <a:pPr algn="just">
                <a:lnSpc>
                  <a:spcPts val="2726"/>
                </a:lnSpc>
              </a:pPr>
              <a:r>
                <a:rPr lang="en-US" b="true" sz="2271" spc="-79">
                  <a:solidFill>
                    <a:srgbClr val="2E2C2B"/>
                  </a:solidFill>
                  <a:latin typeface="Anonymous Pro Bold"/>
                  <a:ea typeface="Anonymous Pro Bold"/>
                  <a:cs typeface="Anonymous Pro Bold"/>
                  <a:sym typeface="Anonymous Pro Bold"/>
                </a:rPr>
                <a:t>Hartono, B. (2020). Dasar-dasar sistem komunikasi. Yogyakarta: Andi.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Kraus, J. D., &amp; Marhefka, R. J. (2002). Antennas for all applications. McGraw-Hill. (Terjemahan).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Prasetya, H. (2021). Teknologi antena untuk komunikasi modern. Jakarta: Kompas Gramedia.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Priyanto, D. (2019). Dasar-dasar teknik antena dan propagasi. Bandung: ITB Press.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Rahmat, A. (2020). "Desain antena bowtie untuk frekuensi UHF." Jurnal Teknik Elektro Indonesia, 12(3), 45–52.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Santoso, W., &amp; Kurniawan, A. (2021). "Modifikasi antena bowtie menggunakan elemen parasit." Jurnal Elektronika, 15(2), 89–95.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Setiawan, R. (2018). Prinsip kerja antena dan aplikasinya. Bandung: Informatika.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Siswanto, D. (2016). Pengantar teknik telekomunikasi. Surabaya: Graha Ilmu.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Surya, A. (2019). Antena dan propagasi gelombang elektromagnetik. Malang: Universitas Negeri Malang Press. Diakses pada 15 Desember 2024.</a:t>
              </a:r>
            </a:p>
            <a:p>
              <a:pPr algn="just">
                <a:lnSpc>
                  <a:spcPts val="2726"/>
                </a:lnSpc>
              </a:pPr>
              <a:r>
                <a:rPr lang="en-US" b="true" sz="2271" spc="-79">
                  <a:solidFill>
                    <a:srgbClr val="2E2C2B"/>
                  </a:solidFill>
                  <a:latin typeface="Anonymous Pro Bold"/>
                  <a:ea typeface="Anonymous Pro Bold"/>
                  <a:cs typeface="Anonymous Pro Bold"/>
                  <a:sym typeface="Anonymous Pro Bold"/>
                </a:rPr>
                <a:t>Syafii, M., &amp; Susilo, S. (2018). Pengantar komunikasi gelombang mikro dan antena. Yogyakarta: Andi Offset. Diakses pada 15 Desember 2024.</a:t>
              </a:r>
            </a:p>
            <a:p>
              <a:pPr algn="just" marL="0" indent="0" lvl="1">
                <a:lnSpc>
                  <a:spcPts val="2726"/>
                </a:lnSpc>
              </a:pPr>
              <a:r>
                <a:rPr lang="en-US" b="true" sz="2271" spc="-79">
                  <a:solidFill>
                    <a:srgbClr val="2E2C2B"/>
                  </a:solidFill>
                  <a:latin typeface="Anonymous Pro Bold"/>
                  <a:ea typeface="Anonymous Pro Bold"/>
                  <a:cs typeface="Anonymous Pro Bold"/>
                  <a:sym typeface="Anonymous Pro Bold"/>
                </a:rPr>
                <a:t>Rubens, S. (2014). "Bab II: Tinjauan Teoritis." Politeknik Negeri Bandung. Diakses pada 16 Desember 2024, dari https://digilib.polban.ac.id/files/disk1/151/jbptppolban-gdl-rubensarag-7512-3-bab2--8.pdf</a:t>
              </a:r>
            </a:p>
          </p:txBody>
        </p:sp>
        <p:sp>
          <p:nvSpPr>
            <p:cNvPr name="TextBox 6" id="6"/>
            <p:cNvSpPr txBox="true"/>
            <p:nvPr/>
          </p:nvSpPr>
          <p:spPr>
            <a:xfrm rot="0">
              <a:off x="1897426" y="12833857"/>
              <a:ext cx="19217547" cy="600185"/>
            </a:xfrm>
            <a:prstGeom prst="rect">
              <a:avLst/>
            </a:prstGeom>
          </p:spPr>
          <p:txBody>
            <a:bodyPr anchor="t" rtlCol="false" tIns="0" lIns="0" bIns="0" rIns="0">
              <a:spAutoFit/>
            </a:bodyPr>
            <a:lstStyle/>
            <a:p>
              <a:pPr algn="ctr" marL="0" indent="0" lvl="1">
                <a:lnSpc>
                  <a:spcPts val="3524"/>
                </a:lnSpc>
              </a:pP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074" r="0" b="-33074"/>
            </a:stretch>
          </a:blipFill>
        </p:spPr>
      </p:sp>
      <p:sp>
        <p:nvSpPr>
          <p:cNvPr name="Freeform 3" id="3">
            <a:extLst>
              <a:ext uri="{C183D7F6-B498-43B3-948B-1728B52AA6E4}">
                <adec:decorative xmlns:adec="http://schemas.microsoft.com/office/drawing/2017/decorative" val="1"/>
              </a:ext>
            </a:extLst>
          </p:cNvPr>
          <p:cNvSpPr/>
          <p:nvPr/>
        </p:nvSpPr>
        <p:spPr>
          <a:xfrm flipH="false" flipV="false" rot="989356">
            <a:off x="-1246687" y="8783832"/>
            <a:ext cx="7932460" cy="2952638"/>
          </a:xfrm>
          <a:custGeom>
            <a:avLst/>
            <a:gdLst/>
            <a:ahLst/>
            <a:cxnLst/>
            <a:rect r="r" b="b" t="t" l="l"/>
            <a:pathLst>
              <a:path h="2952638" w="7932460">
                <a:moveTo>
                  <a:pt x="0" y="0"/>
                </a:moveTo>
                <a:lnTo>
                  <a:pt x="7932460" y="0"/>
                </a:lnTo>
                <a:lnTo>
                  <a:pt x="7932460" y="2952638"/>
                </a:lnTo>
                <a:lnTo>
                  <a:pt x="0" y="2952638"/>
                </a:lnTo>
                <a:lnTo>
                  <a:pt x="0" y="0"/>
                </a:lnTo>
                <a:close/>
              </a:path>
            </a:pathLst>
          </a:custGeom>
          <a:blipFill>
            <a:blip r:embed="rId3"/>
            <a:stretch>
              <a:fillRect l="0" t="0" r="0" b="0"/>
            </a:stretch>
          </a:blipFill>
        </p:spPr>
      </p:sp>
      <p:sp>
        <p:nvSpPr>
          <p:cNvPr name="Freeform 4" id="4">
            <a:extLst>
              <a:ext uri="{C183D7F6-B498-43B3-948B-1728B52AA6E4}">
                <adec:decorative xmlns:adec="http://schemas.microsoft.com/office/drawing/2017/decorative" val="1"/>
              </a:ext>
            </a:extLst>
          </p:cNvPr>
          <p:cNvSpPr/>
          <p:nvPr/>
        </p:nvSpPr>
        <p:spPr>
          <a:xfrm flipH="false" flipV="false" rot="0">
            <a:off x="-2025213" y="1317386"/>
            <a:ext cx="4050426" cy="7967263"/>
          </a:xfrm>
          <a:custGeom>
            <a:avLst/>
            <a:gdLst/>
            <a:ahLst/>
            <a:cxnLst/>
            <a:rect r="r" b="b" t="t" l="l"/>
            <a:pathLst>
              <a:path h="7967263" w="4050426">
                <a:moveTo>
                  <a:pt x="0" y="0"/>
                </a:moveTo>
                <a:lnTo>
                  <a:pt x="4050426" y="0"/>
                </a:lnTo>
                <a:lnTo>
                  <a:pt x="4050426" y="7967263"/>
                </a:lnTo>
                <a:lnTo>
                  <a:pt x="0" y="7967263"/>
                </a:lnTo>
                <a:lnTo>
                  <a:pt x="0" y="0"/>
                </a:lnTo>
                <a:close/>
              </a:path>
            </a:pathLst>
          </a:custGeom>
          <a:blipFill>
            <a:blip r:embed="rId4">
              <a:extLst>
                <a:ext uri="{96DAC541-7B7A-43D3-8B79-37D633B846F1}">
                  <asvg:svgBlip xmlns:asvg="http://schemas.microsoft.com/office/drawing/2016/SVG/main" r:embed="rId5"/>
                </a:ext>
              </a:extLst>
            </a:blip>
            <a:stretch>
              <a:fillRect l="-43773" t="-4058" r="-30464" b="0"/>
            </a:stretch>
          </a:blipFill>
        </p:spPr>
      </p:sp>
      <p:sp>
        <p:nvSpPr>
          <p:cNvPr name="Freeform 5" id="5">
            <a:extLst>
              <a:ext uri="{C183D7F6-B498-43B3-948B-1728B52AA6E4}">
                <adec:decorative xmlns:adec="http://schemas.microsoft.com/office/drawing/2017/decorative" val="1"/>
              </a:ext>
            </a:extLst>
          </p:cNvPr>
          <p:cNvSpPr/>
          <p:nvPr/>
        </p:nvSpPr>
        <p:spPr>
          <a:xfrm flipH="false" flipV="false" rot="0">
            <a:off x="353544" y="6954146"/>
            <a:ext cx="4254259" cy="3079020"/>
          </a:xfrm>
          <a:custGeom>
            <a:avLst/>
            <a:gdLst/>
            <a:ahLst/>
            <a:cxnLst/>
            <a:rect r="r" b="b" t="t" l="l"/>
            <a:pathLst>
              <a:path h="3079020" w="4254259">
                <a:moveTo>
                  <a:pt x="0" y="0"/>
                </a:moveTo>
                <a:lnTo>
                  <a:pt x="4254259" y="0"/>
                </a:lnTo>
                <a:lnTo>
                  <a:pt x="4254259" y="3079020"/>
                </a:lnTo>
                <a:lnTo>
                  <a:pt x="0" y="3079020"/>
                </a:lnTo>
                <a:lnTo>
                  <a:pt x="0" y="0"/>
                </a:lnTo>
                <a:close/>
              </a:path>
            </a:pathLst>
          </a:custGeom>
          <a:blipFill>
            <a:blip r:embed="rId6"/>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false" flipV="false" rot="1445252">
            <a:off x="345675" y="542645"/>
            <a:ext cx="2129478" cy="2148275"/>
          </a:xfrm>
          <a:custGeom>
            <a:avLst/>
            <a:gdLst/>
            <a:ahLst/>
            <a:cxnLst/>
            <a:rect r="r" b="b" t="t" l="l"/>
            <a:pathLst>
              <a:path h="2148275" w="2129478">
                <a:moveTo>
                  <a:pt x="0" y="0"/>
                </a:moveTo>
                <a:lnTo>
                  <a:pt x="2129478" y="0"/>
                </a:lnTo>
                <a:lnTo>
                  <a:pt x="2129478" y="2148275"/>
                </a:lnTo>
                <a:lnTo>
                  <a:pt x="0" y="2148275"/>
                </a:lnTo>
                <a:lnTo>
                  <a:pt x="0" y="0"/>
                </a:lnTo>
                <a:close/>
              </a:path>
            </a:pathLst>
          </a:custGeom>
          <a:blipFill>
            <a:blip r:embed="rId7"/>
            <a:stretch>
              <a:fillRect l="0" t="0" r="0" b="0"/>
            </a:stretch>
          </a:blipFill>
        </p:spPr>
      </p:sp>
      <p:sp>
        <p:nvSpPr>
          <p:cNvPr name="Freeform 7" id="7">
            <a:extLst>
              <a:ext uri="{C183D7F6-B498-43B3-948B-1728B52AA6E4}">
                <adec:decorative xmlns:adec="http://schemas.microsoft.com/office/drawing/2017/decorative" val="1"/>
              </a:ext>
            </a:extLst>
          </p:cNvPr>
          <p:cNvSpPr/>
          <p:nvPr/>
        </p:nvSpPr>
        <p:spPr>
          <a:xfrm flipH="false" flipV="false" rot="-1007651">
            <a:off x="1586982" y="1562305"/>
            <a:ext cx="1917520" cy="1505253"/>
          </a:xfrm>
          <a:custGeom>
            <a:avLst/>
            <a:gdLst/>
            <a:ahLst/>
            <a:cxnLst/>
            <a:rect r="r" b="b" t="t" l="l"/>
            <a:pathLst>
              <a:path h="1505253" w="1917520">
                <a:moveTo>
                  <a:pt x="0" y="0"/>
                </a:moveTo>
                <a:lnTo>
                  <a:pt x="1917520" y="0"/>
                </a:lnTo>
                <a:lnTo>
                  <a:pt x="1917520" y="1505253"/>
                </a:lnTo>
                <a:lnTo>
                  <a:pt x="0" y="15052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a:extLst>
              <a:ext uri="{C183D7F6-B498-43B3-948B-1728B52AA6E4}">
                <adec:decorative xmlns:adec="http://schemas.microsoft.com/office/drawing/2017/decorative" val="1"/>
              </a:ext>
            </a:extLst>
          </p:cNvPr>
          <p:cNvSpPr/>
          <p:nvPr/>
        </p:nvSpPr>
        <p:spPr>
          <a:xfrm flipH="true" flipV="false" rot="-2073930">
            <a:off x="14080917" y="-4968185"/>
            <a:ext cx="5111215" cy="11486194"/>
          </a:xfrm>
          <a:custGeom>
            <a:avLst/>
            <a:gdLst/>
            <a:ahLst/>
            <a:cxnLst/>
            <a:rect r="r" b="b" t="t" l="l"/>
            <a:pathLst>
              <a:path h="11486194" w="5111215">
                <a:moveTo>
                  <a:pt x="5111215" y="0"/>
                </a:moveTo>
                <a:lnTo>
                  <a:pt x="0" y="0"/>
                </a:lnTo>
                <a:lnTo>
                  <a:pt x="0" y="11486194"/>
                </a:lnTo>
                <a:lnTo>
                  <a:pt x="5111215" y="11486194"/>
                </a:lnTo>
                <a:lnTo>
                  <a:pt x="5111215" y="0"/>
                </a:lnTo>
                <a:close/>
              </a:path>
            </a:pathLst>
          </a:custGeom>
          <a:blipFill>
            <a:blip r:embed="rId10"/>
            <a:stretch>
              <a:fillRect l="-94668" t="0" r="0" b="0"/>
            </a:stretch>
          </a:blipFill>
        </p:spPr>
      </p:sp>
      <p:sp>
        <p:nvSpPr>
          <p:cNvPr name="Freeform 9" id="9">
            <a:extLst>
              <a:ext uri="{C183D7F6-B498-43B3-948B-1728B52AA6E4}">
                <adec:decorative xmlns:adec="http://schemas.microsoft.com/office/drawing/2017/decorative" val="1"/>
              </a:ext>
            </a:extLst>
          </p:cNvPr>
          <p:cNvSpPr/>
          <p:nvPr/>
        </p:nvSpPr>
        <p:spPr>
          <a:xfrm flipH="false" flipV="false" rot="-444513">
            <a:off x="16814113" y="3149705"/>
            <a:ext cx="4494239" cy="6621346"/>
          </a:xfrm>
          <a:custGeom>
            <a:avLst/>
            <a:gdLst/>
            <a:ahLst/>
            <a:cxnLst/>
            <a:rect r="r" b="b" t="t" l="l"/>
            <a:pathLst>
              <a:path h="6621346" w="4494239">
                <a:moveTo>
                  <a:pt x="0" y="0"/>
                </a:moveTo>
                <a:lnTo>
                  <a:pt x="4494239" y="0"/>
                </a:lnTo>
                <a:lnTo>
                  <a:pt x="4494239" y="6621347"/>
                </a:lnTo>
                <a:lnTo>
                  <a:pt x="0" y="6621347"/>
                </a:lnTo>
                <a:lnTo>
                  <a:pt x="0" y="0"/>
                </a:lnTo>
                <a:close/>
              </a:path>
            </a:pathLst>
          </a:custGeom>
          <a:blipFill>
            <a:blip r:embed="rId11"/>
            <a:stretch>
              <a:fillRect l="0" t="0" r="0" b="0"/>
            </a:stretch>
          </a:blipFill>
        </p:spPr>
      </p:sp>
      <p:sp>
        <p:nvSpPr>
          <p:cNvPr name="Freeform 10" id="10">
            <a:extLst>
              <a:ext uri="{C183D7F6-B498-43B3-948B-1728B52AA6E4}">
                <adec:decorative xmlns:adec="http://schemas.microsoft.com/office/drawing/2017/decorative" val="1"/>
              </a:ext>
            </a:extLst>
          </p:cNvPr>
          <p:cNvSpPr/>
          <p:nvPr/>
        </p:nvSpPr>
        <p:spPr>
          <a:xfrm flipH="true" flipV="false" rot="-1825774">
            <a:off x="15361748" y="2186006"/>
            <a:ext cx="2549554" cy="3565810"/>
          </a:xfrm>
          <a:custGeom>
            <a:avLst/>
            <a:gdLst/>
            <a:ahLst/>
            <a:cxnLst/>
            <a:rect r="r" b="b" t="t" l="l"/>
            <a:pathLst>
              <a:path h="3565810" w="2549554">
                <a:moveTo>
                  <a:pt x="2549554" y="0"/>
                </a:moveTo>
                <a:lnTo>
                  <a:pt x="0" y="0"/>
                </a:lnTo>
                <a:lnTo>
                  <a:pt x="0" y="3565810"/>
                </a:lnTo>
                <a:lnTo>
                  <a:pt x="2549554" y="3565810"/>
                </a:lnTo>
                <a:lnTo>
                  <a:pt x="2549554" y="0"/>
                </a:lnTo>
                <a:close/>
              </a:path>
            </a:pathLst>
          </a:custGeom>
          <a:blipFill>
            <a:blip r:embed="rId12"/>
            <a:stretch>
              <a:fillRect l="0" t="0" r="0" b="0"/>
            </a:stretch>
          </a:blipFill>
        </p:spPr>
      </p:sp>
      <p:sp>
        <p:nvSpPr>
          <p:cNvPr name="Freeform 11" id="11">
            <a:extLst>
              <a:ext uri="{C183D7F6-B498-43B3-948B-1728B52AA6E4}">
                <adec:decorative xmlns:adec="http://schemas.microsoft.com/office/drawing/2017/decorative" val="1"/>
              </a:ext>
            </a:extLst>
          </p:cNvPr>
          <p:cNvSpPr/>
          <p:nvPr/>
        </p:nvSpPr>
        <p:spPr>
          <a:xfrm flipH="false" flipV="false" rot="845171">
            <a:off x="15906502" y="8013281"/>
            <a:ext cx="1939582" cy="1811084"/>
          </a:xfrm>
          <a:custGeom>
            <a:avLst/>
            <a:gdLst/>
            <a:ahLst/>
            <a:cxnLst/>
            <a:rect r="r" b="b" t="t" l="l"/>
            <a:pathLst>
              <a:path h="1811084" w="1939582">
                <a:moveTo>
                  <a:pt x="0" y="0"/>
                </a:moveTo>
                <a:lnTo>
                  <a:pt x="1939582" y="0"/>
                </a:lnTo>
                <a:lnTo>
                  <a:pt x="1939582" y="1811085"/>
                </a:lnTo>
                <a:lnTo>
                  <a:pt x="0" y="181108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2" id="12"/>
          <p:cNvGrpSpPr/>
          <p:nvPr/>
        </p:nvGrpSpPr>
        <p:grpSpPr>
          <a:xfrm rot="0">
            <a:off x="15414768" y="6617866"/>
            <a:ext cx="2108754" cy="672560"/>
            <a:chOff x="0" y="0"/>
            <a:chExt cx="2811672" cy="896746"/>
          </a:xfrm>
        </p:grpSpPr>
        <p:sp>
          <p:nvSpPr>
            <p:cNvPr name="Freeform 13" id="13"/>
            <p:cNvSpPr/>
            <p:nvPr/>
          </p:nvSpPr>
          <p:spPr>
            <a:xfrm flipH="false" flipV="false" rot="0">
              <a:off x="45910" y="0"/>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4" id="14"/>
            <p:cNvSpPr/>
            <p:nvPr/>
          </p:nvSpPr>
          <p:spPr>
            <a:xfrm flipH="false" flipV="false" rot="0">
              <a:off x="0" y="247046"/>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0" y="529654"/>
              <a:ext cx="2765762" cy="367092"/>
            </a:xfrm>
            <a:custGeom>
              <a:avLst/>
              <a:gdLst/>
              <a:ahLst/>
              <a:cxnLst/>
              <a:rect r="r" b="b" t="t" l="l"/>
              <a:pathLst>
                <a:path h="367092" w="2765762">
                  <a:moveTo>
                    <a:pt x="0" y="0"/>
                  </a:moveTo>
                  <a:lnTo>
                    <a:pt x="2765762" y="0"/>
                  </a:lnTo>
                  <a:lnTo>
                    <a:pt x="2765762" y="367092"/>
                  </a:lnTo>
                  <a:lnTo>
                    <a:pt x="0" y="36709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6" id="16"/>
          <p:cNvGrpSpPr/>
          <p:nvPr/>
        </p:nvGrpSpPr>
        <p:grpSpPr>
          <a:xfrm rot="0">
            <a:off x="879580" y="4806210"/>
            <a:ext cx="2291265" cy="674579"/>
            <a:chOff x="0" y="0"/>
            <a:chExt cx="3055021" cy="899439"/>
          </a:xfrm>
        </p:grpSpPr>
        <p:sp>
          <p:nvSpPr>
            <p:cNvPr name="Freeform 17" id="17"/>
            <p:cNvSpPr/>
            <p:nvPr/>
          </p:nvSpPr>
          <p:spPr>
            <a:xfrm flipH="false" flipV="false" rot="0">
              <a:off x="0" y="0"/>
              <a:ext cx="3055021" cy="194410"/>
            </a:xfrm>
            <a:custGeom>
              <a:avLst/>
              <a:gdLst/>
              <a:ahLst/>
              <a:cxnLst/>
              <a:rect r="r" b="b" t="t" l="l"/>
              <a:pathLst>
                <a:path h="194410" w="3055021">
                  <a:moveTo>
                    <a:pt x="0" y="0"/>
                  </a:moveTo>
                  <a:lnTo>
                    <a:pt x="3055021" y="0"/>
                  </a:lnTo>
                  <a:lnTo>
                    <a:pt x="3055021" y="194410"/>
                  </a:lnTo>
                  <a:lnTo>
                    <a:pt x="0" y="19441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0" y="325232"/>
              <a:ext cx="3055021" cy="194410"/>
            </a:xfrm>
            <a:custGeom>
              <a:avLst/>
              <a:gdLst/>
              <a:ahLst/>
              <a:cxnLst/>
              <a:rect r="r" b="b" t="t" l="l"/>
              <a:pathLst>
                <a:path h="194410" w="3055021">
                  <a:moveTo>
                    <a:pt x="0" y="0"/>
                  </a:moveTo>
                  <a:lnTo>
                    <a:pt x="3055021" y="0"/>
                  </a:lnTo>
                  <a:lnTo>
                    <a:pt x="3055021" y="194410"/>
                  </a:lnTo>
                  <a:lnTo>
                    <a:pt x="0" y="19441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0" y="705029"/>
              <a:ext cx="3055021" cy="194410"/>
            </a:xfrm>
            <a:custGeom>
              <a:avLst/>
              <a:gdLst/>
              <a:ahLst/>
              <a:cxnLst/>
              <a:rect r="r" b="b" t="t" l="l"/>
              <a:pathLst>
                <a:path h="194410" w="3055021">
                  <a:moveTo>
                    <a:pt x="0" y="0"/>
                  </a:moveTo>
                  <a:lnTo>
                    <a:pt x="3055021" y="0"/>
                  </a:lnTo>
                  <a:lnTo>
                    <a:pt x="3055021" y="194410"/>
                  </a:lnTo>
                  <a:lnTo>
                    <a:pt x="0" y="19441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sp>
        <p:nvSpPr>
          <p:cNvPr name="TextBox 20" id="20"/>
          <p:cNvSpPr txBox="true"/>
          <p:nvPr/>
        </p:nvSpPr>
        <p:spPr>
          <a:xfrm rot="0">
            <a:off x="4974729" y="4274503"/>
            <a:ext cx="8338542"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DAGZckcofOQ</dc:identifier>
  <dcterms:modified xsi:type="dcterms:W3CDTF">2011-08-01T06:04:30Z</dcterms:modified>
  <cp:revision>1</cp:revision>
  <dc:title>Antena bowtie dengan pencatuan mikrostrip line menggunakan metode slot dan parasitic</dc:title>
</cp:coreProperties>
</file>