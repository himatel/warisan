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74" r:id="rId3"/>
    <p:sldId id="259" r:id="rId4"/>
    <p:sldId id="264" r:id="rId5"/>
    <p:sldId id="275" r:id="rId6"/>
    <p:sldId id="276" r:id="rId7"/>
    <p:sldId id="277" r:id="rId8"/>
    <p:sldId id="265" r:id="rId9"/>
    <p:sldId id="260" r:id="rId10"/>
    <p:sldId id="263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434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99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5A064-A419-4147-9B92-904D52D8E40D}" type="datetimeFigureOut">
              <a:rPr lang="id-ID" smtClean="0"/>
              <a:t>22/08/2023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A8A4B-D65F-4F62-A4AC-B5879F38B73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39925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A8A4B-D65F-4F62-A4AC-B5879F38B73D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43634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2C667-C70D-4275-8BEF-FB947F8965DD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29B52-B466-4F05-9572-C5E47EC36E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832648"/>
          </a:xfrm>
        </p:spPr>
        <p:txBody>
          <a:bodyPr>
            <a:normAutofit fontScale="47500" lnSpcReduction="20000"/>
          </a:bodyPr>
          <a:lstStyle/>
          <a:p>
            <a:pPr algn="ctr">
              <a:buNone/>
            </a:pPr>
            <a:r>
              <a:rPr lang="id-ID" sz="6500" b="1" dirty="0"/>
              <a:t>LAB TEKNIK PENGUKURAN FREKUENSI TINGGI</a:t>
            </a:r>
            <a:endParaRPr lang="en-US" sz="6500" dirty="0"/>
          </a:p>
          <a:p>
            <a:pPr algn="ctr">
              <a:buNone/>
            </a:pPr>
            <a:r>
              <a:rPr lang="id-ID" sz="4000" dirty="0"/>
              <a:t> </a:t>
            </a:r>
            <a:endParaRPr lang="en-US" sz="4000" dirty="0"/>
          </a:p>
          <a:p>
            <a:pPr algn="ctr">
              <a:buNone/>
            </a:pPr>
            <a:r>
              <a:rPr lang="id-ID" sz="3800" dirty="0"/>
              <a:t> </a:t>
            </a:r>
            <a:r>
              <a:rPr lang="en-US" sz="3800" dirty="0" err="1"/>
              <a:t>Panduan</a:t>
            </a:r>
            <a:r>
              <a:rPr lang="en-US" sz="3800" dirty="0"/>
              <a:t> </a:t>
            </a:r>
            <a:r>
              <a:rPr lang="en-US" sz="3800" dirty="0" err="1"/>
              <a:t>pelaksanaan</a:t>
            </a:r>
            <a:r>
              <a:rPr lang="en-US" sz="3800" dirty="0"/>
              <a:t> </a:t>
            </a:r>
            <a:r>
              <a:rPr lang="en-US" sz="3800" dirty="0" err="1"/>
              <a:t>praktikum</a:t>
            </a:r>
            <a:endParaRPr lang="en-US" sz="3800" dirty="0"/>
          </a:p>
          <a:p>
            <a:pPr>
              <a:buNone/>
            </a:pPr>
            <a:r>
              <a:rPr lang="id-ID" sz="3800" dirty="0"/>
              <a:t> </a:t>
            </a:r>
            <a:endParaRPr lang="en-US" sz="38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id-ID" dirty="0"/>
          </a:p>
          <a:p>
            <a:pPr>
              <a:buNone/>
            </a:pPr>
            <a:r>
              <a:rPr lang="id-ID" dirty="0"/>
              <a:t>					</a:t>
            </a:r>
          </a:p>
          <a:p>
            <a:pPr>
              <a:buNone/>
            </a:pPr>
            <a:r>
              <a:rPr lang="id-ID" dirty="0"/>
              <a:t>					Oleh</a:t>
            </a:r>
            <a:endParaRPr lang="en-US" dirty="0"/>
          </a:p>
          <a:p>
            <a:pPr marL="3200400" lvl="7" indent="0">
              <a:buNone/>
            </a:pPr>
            <a:r>
              <a:rPr lang="id-ID" dirty="0"/>
              <a:t>	</a:t>
            </a:r>
            <a:r>
              <a:rPr lang="id-ID" sz="2500" dirty="0"/>
              <a:t>Kelompok : 1 (Satu)</a:t>
            </a:r>
            <a:endParaRPr lang="en-US" sz="2500" dirty="0"/>
          </a:p>
          <a:p>
            <a:pPr marL="3543300" lvl="7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d-ID" sz="2500" dirty="0"/>
              <a:t>Andry</a:t>
            </a:r>
          </a:p>
          <a:p>
            <a:pPr marL="3543300" lvl="7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d-ID" sz="2500" dirty="0"/>
              <a:t>Suci</a:t>
            </a:r>
          </a:p>
          <a:p>
            <a:pPr marL="3543300" lvl="7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d-ID" sz="2500" dirty="0"/>
              <a:t>Mirna</a:t>
            </a:r>
          </a:p>
          <a:p>
            <a:pPr marL="3543300" lvl="7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arenR"/>
            </a:pPr>
            <a:r>
              <a:rPr lang="id-ID" sz="2500" dirty="0"/>
              <a:t>Budi</a:t>
            </a:r>
            <a:endParaRPr lang="en-US" sz="2500" dirty="0"/>
          </a:p>
          <a:p>
            <a:pPr marL="0" indent="0" algn="ctr">
              <a:buNone/>
            </a:pPr>
            <a:endParaRPr lang="en-US" sz="3000" dirty="0"/>
          </a:p>
          <a:p>
            <a:pPr marL="0" indent="0" algn="ctr">
              <a:buNone/>
            </a:pPr>
            <a:r>
              <a:rPr lang="id-ID" sz="3000" dirty="0"/>
              <a:t> 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  </a:t>
            </a:r>
          </a:p>
          <a:p>
            <a:pPr algn="ctr">
              <a:buNone/>
            </a:pPr>
            <a:r>
              <a:rPr lang="id-ID" sz="3500" b="1" dirty="0"/>
              <a:t>PRODI TELEKOMUNIKASI – TEKNIK ELEKTRO</a:t>
            </a:r>
            <a:endParaRPr lang="en-US" sz="3500" dirty="0"/>
          </a:p>
          <a:p>
            <a:pPr algn="ctr">
              <a:buNone/>
            </a:pPr>
            <a:r>
              <a:rPr lang="id-ID" sz="3500" b="1" dirty="0"/>
              <a:t>POLITEKNIK NEGERI BANDUNG</a:t>
            </a:r>
            <a:endParaRPr lang="en-US" sz="3500" dirty="0"/>
          </a:p>
          <a:p>
            <a:pPr algn="ctr">
              <a:buNone/>
            </a:pPr>
            <a:r>
              <a:rPr lang="en-US" sz="3500" b="1" dirty="0"/>
              <a:t>AGUSTUS </a:t>
            </a:r>
            <a:r>
              <a:rPr lang="id-ID" sz="3500" b="1" dirty="0"/>
              <a:t>20</a:t>
            </a:r>
            <a:r>
              <a:rPr lang="en-US" sz="3500" b="1" dirty="0"/>
              <a:t>23</a:t>
            </a:r>
            <a:r>
              <a:rPr lang="id-ID" sz="3500" b="1" dirty="0"/>
              <a:t>/20</a:t>
            </a:r>
            <a:r>
              <a:rPr lang="en-US" sz="3500" b="1" dirty="0"/>
              <a:t>24</a:t>
            </a:r>
            <a:endParaRPr lang="en-US" sz="3500" dirty="0"/>
          </a:p>
        </p:txBody>
      </p:sp>
      <p:pic>
        <p:nvPicPr>
          <p:cNvPr id="4" name="Pictur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1700808"/>
            <a:ext cx="792088" cy="1188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204" y="53752"/>
            <a:ext cx="8229600" cy="494928"/>
          </a:xfrm>
        </p:spPr>
        <p:txBody>
          <a:bodyPr>
            <a:normAutofit fontScale="90000"/>
          </a:bodyPr>
          <a:lstStyle/>
          <a:p>
            <a:r>
              <a:rPr lang="af-ZA" sz="2800" b="1" dirty="0"/>
              <a:t>Peraturan dan Tata tertib  Praktikum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204" y="692696"/>
            <a:ext cx="8229600" cy="5760640"/>
          </a:xfrm>
        </p:spPr>
        <p:txBody>
          <a:bodyPr>
            <a:normAutofit fontScale="77500" lnSpcReduction="20000"/>
          </a:bodyPr>
          <a:lstStyle/>
          <a:p>
            <a:r>
              <a:rPr lang="af-ZA" sz="3400" dirty="0"/>
              <a:t>Hadir pada waktunya sesuai jadwal (apabila dosen belum datang, mahasiswa dapat memulai kegiatan praktikumnya tanpa menunggu dosen)</a:t>
            </a:r>
          </a:p>
          <a:p>
            <a:r>
              <a:rPr lang="af-ZA" sz="3400" dirty="0"/>
              <a:t>Apabila Dosen berhalangan hadir (Dosen ybs akan memberitahukan dan mahasiswa tetap menjalankan praktikumnya dan absen seperti biasa. Kegiatan praktikum akan diawasi oleh Dosen lainnya.</a:t>
            </a:r>
          </a:p>
          <a:p>
            <a:r>
              <a:rPr lang="af-ZA" sz="3400" dirty="0"/>
              <a:t>Dilarang membawa minuman/makanan ke dalam lab</a:t>
            </a:r>
          </a:p>
          <a:p>
            <a:r>
              <a:rPr lang="af-ZA" sz="3400" dirty="0"/>
              <a:t>Setiap selesai praktikum semua peralatan yang digunakan dibereskan/dirapihkan kembali seperti semula.</a:t>
            </a:r>
          </a:p>
          <a:p>
            <a:r>
              <a:rPr lang="af-ZA" sz="3400" dirty="0"/>
              <a:t>Setiap selesai praktikum kursi-kursi dirapihkan dan bersihkan meja kerja dari sampah, kertas2, plastic dll.</a:t>
            </a:r>
          </a:p>
          <a:p>
            <a:r>
              <a:rPr lang="af-ZA" sz="3400" dirty="0"/>
              <a:t>Bahan/alat untuk keperluan praktikum dapat menghubungi teknisi </a:t>
            </a:r>
            <a:r>
              <a:rPr lang="af-ZA" sz="3400" strike="sngStrike" dirty="0"/>
              <a:t>Pak Badu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649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af-ZA" sz="3600" b="1" dirty="0"/>
              <a:t>Ketentuan tentang laporan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LAPORAN DIKUMPUL 1 (SATU) MINGGU SETELAH PERCOBAAN</a:t>
            </a:r>
          </a:p>
          <a:p>
            <a:r>
              <a:rPr lang="en-US" sz="2400" dirty="0"/>
              <a:t>LAPORAN DIBUAT SESUAI FORMAT YANG DITENTUKAN</a:t>
            </a:r>
          </a:p>
          <a:p>
            <a:r>
              <a:rPr lang="en-US" sz="2400" dirty="0"/>
              <a:t>LAPORAN DIBUAT PADA KERTAS UKURAN A4</a:t>
            </a:r>
          </a:p>
          <a:p>
            <a:r>
              <a:rPr lang="en-US" sz="2400" dirty="0"/>
              <a:t>MARGIN : NORMAL, FONT: TIME NEW ROMANS 12 PT</a:t>
            </a:r>
          </a:p>
          <a:p>
            <a:r>
              <a:rPr lang="en-US" sz="2400" dirty="0"/>
              <a:t>JUDUL PERCOBAAN SESUAI DENGAN YANG DIINSTRUKSIKAN</a:t>
            </a:r>
          </a:p>
          <a:p>
            <a:r>
              <a:rPr lang="en-US" sz="2400" dirty="0"/>
              <a:t>BAGI YANG ABSEN PADA WAKTU PRAKTIKUM, TIDAK DIPERBOLEHKAN MENCANTUMKAN NAMANYA PADA LAPORAN</a:t>
            </a:r>
          </a:p>
          <a:p>
            <a:r>
              <a:rPr lang="en-US" sz="2400" dirty="0"/>
              <a:t>ABSEN/TIDAK HADIR LEBIH DARI 2X DIANGGAP TIDAK MASUK 1 SEMESTER DAN TIDAK LULUS MATA KULIAH PRAKTIKUM TEKNIK PENG FREK TI NGGI</a:t>
            </a:r>
          </a:p>
          <a:p>
            <a:r>
              <a:rPr lang="en-US" sz="2400" dirty="0"/>
              <a:t>DILARANG MENCOPY PASTE LAPORAN KELOMPOK LAIN/KELAS ANGKATAN SEBELUMNYA (KETAHUAN AKAN DICORET DARI LAB T.PENGUKURAN!!!)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Format </a:t>
            </a:r>
            <a:r>
              <a:rPr lang="en-US" sz="3600" b="1" dirty="0" err="1"/>
              <a:t>Laporan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3569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600" b="1" dirty="0"/>
              <a:t>1</a:t>
            </a:r>
            <a:r>
              <a:rPr lang="en-US" sz="2600" dirty="0"/>
              <a:t>. </a:t>
            </a:r>
            <a:r>
              <a:rPr lang="id-ID" sz="2600" b="1" dirty="0"/>
              <a:t>P</a:t>
            </a:r>
            <a:r>
              <a:rPr lang="en-US" sz="2600" b="1" dirty="0" err="1"/>
              <a:t>ercobaan</a:t>
            </a:r>
            <a:r>
              <a:rPr lang="en-US" sz="2600" b="1" dirty="0"/>
              <a:t> </a:t>
            </a:r>
            <a:r>
              <a:rPr lang="id-ID" sz="2600" b="1" dirty="0"/>
              <a:t>No :</a:t>
            </a:r>
            <a:r>
              <a:rPr lang="en-US" sz="2600" b="1" dirty="0"/>
              <a:t> 1</a:t>
            </a:r>
          </a:p>
          <a:p>
            <a:pPr>
              <a:buNone/>
            </a:pPr>
            <a:r>
              <a:rPr lang="id-ID" sz="2600" b="1" dirty="0"/>
              <a:t>2. </a:t>
            </a:r>
            <a:r>
              <a:rPr lang="en-US" sz="2600" b="1" dirty="0" err="1"/>
              <a:t>Judul</a:t>
            </a:r>
            <a:r>
              <a:rPr lang="en-US" sz="2600" b="1" dirty="0"/>
              <a:t> </a:t>
            </a:r>
            <a:r>
              <a:rPr lang="id-ID" sz="2600" b="1" dirty="0"/>
              <a:t>P</a:t>
            </a:r>
            <a:r>
              <a:rPr lang="en-US" sz="2600" b="1" dirty="0" err="1"/>
              <a:t>ercobaan</a:t>
            </a:r>
            <a:r>
              <a:rPr lang="en-US" sz="2600" dirty="0"/>
              <a:t>: </a:t>
            </a:r>
            <a:r>
              <a:rPr lang="en-US" sz="2600" dirty="0" err="1"/>
              <a:t>Pengukuran</a:t>
            </a:r>
            <a:r>
              <a:rPr lang="en-US" sz="2600" dirty="0"/>
              <a:t> </a:t>
            </a:r>
            <a:r>
              <a:rPr lang="en-US" sz="2600" dirty="0" err="1"/>
              <a:t>karakteristik</a:t>
            </a:r>
            <a:r>
              <a:rPr lang="en-US" sz="2600" dirty="0"/>
              <a:t> Directional Coupler</a:t>
            </a:r>
          </a:p>
          <a:p>
            <a:pPr>
              <a:buNone/>
            </a:pPr>
            <a:r>
              <a:rPr lang="id-ID" sz="2600" b="1" dirty="0"/>
              <a:t> 3. T</a:t>
            </a:r>
            <a:r>
              <a:rPr lang="en-US" sz="2600" b="1" dirty="0" err="1"/>
              <a:t>ujuan</a:t>
            </a:r>
            <a:r>
              <a:rPr lang="en-US" sz="2600" b="1" dirty="0"/>
              <a:t>: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tentang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,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kegunaan</a:t>
            </a:r>
            <a:r>
              <a:rPr lang="en-US" sz="2400" dirty="0"/>
              <a:t> Directional Coupler</a:t>
            </a:r>
          </a:p>
          <a:p>
            <a:r>
              <a:rPr lang="en-US" sz="2400" dirty="0" err="1"/>
              <a:t>mengukur</a:t>
            </a:r>
            <a:r>
              <a:rPr lang="en-US" sz="2400" dirty="0"/>
              <a:t> main loss, </a:t>
            </a:r>
            <a:r>
              <a:rPr lang="en-US" sz="2400" dirty="0" err="1"/>
              <a:t>daya</a:t>
            </a:r>
            <a:r>
              <a:rPr lang="en-US" sz="2400" dirty="0"/>
              <a:t> forward (Pf), </a:t>
            </a:r>
            <a:r>
              <a:rPr lang="en-US" sz="2400" dirty="0" err="1"/>
              <a:t>daya</a:t>
            </a:r>
            <a:r>
              <a:rPr lang="en-US" sz="2400" dirty="0"/>
              <a:t> </a:t>
            </a:r>
            <a:r>
              <a:rPr lang="en-US" sz="2400" dirty="0" err="1"/>
              <a:t>pantul</a:t>
            </a:r>
            <a:r>
              <a:rPr lang="en-US" sz="2400" dirty="0"/>
              <a:t> (</a:t>
            </a:r>
            <a:r>
              <a:rPr lang="en-US" sz="2400" dirty="0" err="1"/>
              <a:t>Pr</a:t>
            </a:r>
            <a:r>
              <a:rPr lang="en-US" sz="2400" dirty="0"/>
              <a:t>), coupling factor (</a:t>
            </a:r>
            <a:r>
              <a:rPr lang="en-US" sz="2400" dirty="0" err="1"/>
              <a:t>Cf</a:t>
            </a:r>
            <a:r>
              <a:rPr lang="en-US" sz="2400" dirty="0"/>
              <a:t>), Directivity (</a:t>
            </a:r>
            <a:r>
              <a:rPr lang="en-US" sz="2400" dirty="0" err="1"/>
              <a:t>Dir</a:t>
            </a:r>
            <a:r>
              <a:rPr lang="en-US" sz="2400" dirty="0"/>
              <a:t>).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id-ID" sz="2600" b="1" dirty="0"/>
              <a:t>4. T</a:t>
            </a:r>
            <a:r>
              <a:rPr lang="en-US" sz="2600" b="1" dirty="0" err="1"/>
              <a:t>eori</a:t>
            </a:r>
            <a:r>
              <a:rPr lang="id-ID" sz="2600" b="1" dirty="0"/>
              <a:t> P</a:t>
            </a:r>
            <a:r>
              <a:rPr lang="en-US" sz="2600" b="1" dirty="0" err="1"/>
              <a:t>endahuluan</a:t>
            </a:r>
            <a:r>
              <a:rPr lang="en-US" sz="2600" b="1" dirty="0"/>
              <a:t>:</a:t>
            </a:r>
          </a:p>
          <a:p>
            <a:pPr>
              <a:buNone/>
            </a:pPr>
            <a:r>
              <a:rPr lang="en-US" sz="2400" dirty="0"/>
              <a:t>Directional Coupler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perangkat</a:t>
            </a:r>
            <a:r>
              <a:rPr lang="en-US" sz="2400" dirty="0"/>
              <a:t> </a:t>
            </a:r>
            <a:r>
              <a:rPr lang="en-US" sz="2400" dirty="0" err="1"/>
              <a:t>frekuensi</a:t>
            </a:r>
            <a:r>
              <a:rPr lang="en-US" sz="2400" dirty="0"/>
              <a:t> </a:t>
            </a:r>
            <a:r>
              <a:rPr lang="en-US" sz="2400" dirty="0" err="1"/>
              <a:t>ntinggi</a:t>
            </a:r>
            <a:r>
              <a:rPr lang="en-US" sz="2400" dirty="0"/>
              <a:t> (RF) yang </a:t>
            </a:r>
            <a:r>
              <a:rPr lang="en-US" sz="2400" dirty="0" err="1"/>
              <a:t>mampu</a:t>
            </a:r>
            <a:r>
              <a:rPr lang="en-US" sz="2400" dirty="0"/>
              <a:t> </a:t>
            </a:r>
            <a:r>
              <a:rPr lang="en-US" sz="2400" dirty="0" err="1"/>
              <a:t>memisahkan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datang</a:t>
            </a:r>
            <a:r>
              <a:rPr lang="en-US" sz="2400" dirty="0"/>
              <a:t> (incident wave)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gelombang</a:t>
            </a:r>
            <a:r>
              <a:rPr lang="en-US" sz="2400" dirty="0"/>
              <a:t> </a:t>
            </a:r>
            <a:r>
              <a:rPr lang="en-US" sz="2400" dirty="0" err="1"/>
              <a:t>pantul</a:t>
            </a:r>
            <a:r>
              <a:rPr lang="en-US" sz="2400" dirty="0"/>
              <a:t> (reflected wave). </a:t>
            </a:r>
            <a:r>
              <a:rPr lang="en-US" sz="2400" dirty="0" err="1"/>
              <a:t>Perangkat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khususnya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</a:t>
            </a:r>
            <a:r>
              <a:rPr lang="en-US" sz="2400" dirty="0" err="1"/>
              <a:t>impedansi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beban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Return Loss </a:t>
            </a:r>
            <a:r>
              <a:rPr lang="en-US" sz="2400" dirty="0" err="1"/>
              <a:t>dsb</a:t>
            </a:r>
            <a:r>
              <a:rPr lang="en-US" sz="2400" dirty="0"/>
              <a:t>. . . . . . . </a:t>
            </a:r>
            <a:r>
              <a:rPr lang="en-US" sz="2400" dirty="0" err="1"/>
              <a:t>dst</a:t>
            </a: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474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5976664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9600" dirty="0"/>
              <a:t>5 </a:t>
            </a:r>
            <a:r>
              <a:rPr lang="id-ID" sz="9600" dirty="0"/>
              <a:t>. S</a:t>
            </a:r>
            <a:r>
              <a:rPr lang="en-US" sz="9600" dirty="0" err="1"/>
              <a:t>etup</a:t>
            </a:r>
            <a:r>
              <a:rPr lang="id-ID" sz="9600" dirty="0"/>
              <a:t> P</a:t>
            </a:r>
            <a:r>
              <a:rPr lang="en-US" sz="9600" dirty="0" err="1"/>
              <a:t>engukuran</a:t>
            </a:r>
            <a:r>
              <a:rPr lang="en-US" sz="9600" dirty="0"/>
              <a:t>:</a:t>
            </a:r>
          </a:p>
          <a:p>
            <a:pPr>
              <a:buNone/>
            </a:pPr>
            <a:r>
              <a:rPr lang="en-US" sz="9600" dirty="0"/>
              <a:t>     </a:t>
            </a:r>
            <a:r>
              <a:rPr lang="en-US" sz="8800" dirty="0" err="1"/>
              <a:t>Gambar</a:t>
            </a:r>
            <a:r>
              <a:rPr lang="en-US" sz="8800" dirty="0"/>
              <a:t> setup </a:t>
            </a:r>
            <a:r>
              <a:rPr lang="en-US" sz="8800" dirty="0" err="1"/>
              <a:t>pengukuran</a:t>
            </a:r>
            <a:r>
              <a:rPr lang="en-US" sz="8800" dirty="0"/>
              <a:t> </a:t>
            </a:r>
            <a:r>
              <a:rPr lang="en-US" sz="8800" dirty="0" err="1"/>
              <a:t>dibawah</a:t>
            </a:r>
            <a:r>
              <a:rPr lang="en-US" sz="8800" dirty="0"/>
              <a:t> </a:t>
            </a:r>
            <a:r>
              <a:rPr lang="en-US" sz="8800" dirty="0" err="1"/>
              <a:t>hanya</a:t>
            </a:r>
            <a:r>
              <a:rPr lang="en-US" sz="8800" dirty="0"/>
              <a:t> </a:t>
            </a:r>
            <a:r>
              <a:rPr lang="en-US" sz="8800" dirty="0" err="1"/>
              <a:t>contoh</a:t>
            </a:r>
            <a:r>
              <a:rPr lang="en-US" sz="8800" dirty="0"/>
              <a:t>. </a:t>
            </a:r>
            <a:r>
              <a:rPr lang="en-US" sz="8800" dirty="0" err="1"/>
              <a:t>Gambar</a:t>
            </a:r>
            <a:r>
              <a:rPr lang="en-US" sz="8800" dirty="0"/>
              <a:t> setup </a:t>
            </a:r>
            <a:r>
              <a:rPr lang="en-US" sz="8800" dirty="0" err="1"/>
              <a:t>pengukuran</a:t>
            </a:r>
            <a:r>
              <a:rPr lang="en-US" sz="8800" dirty="0"/>
              <a:t> yang </a:t>
            </a:r>
            <a:r>
              <a:rPr lang="en-US" sz="8800" dirty="0" err="1"/>
              <a:t>benar</a:t>
            </a:r>
            <a:r>
              <a:rPr lang="en-US" sz="8800" dirty="0"/>
              <a:t> </a:t>
            </a:r>
            <a:r>
              <a:rPr lang="en-US" sz="8800" dirty="0" err="1"/>
              <a:t>adalah</a:t>
            </a:r>
            <a:r>
              <a:rPr lang="en-US" sz="8800" dirty="0"/>
              <a:t> setup </a:t>
            </a:r>
            <a:r>
              <a:rPr lang="en-US" sz="8800" dirty="0" err="1"/>
              <a:t>pengukuran</a:t>
            </a:r>
            <a:r>
              <a:rPr lang="en-US" sz="8800" dirty="0"/>
              <a:t> yang </a:t>
            </a:r>
            <a:r>
              <a:rPr lang="en-US" sz="8800" dirty="0" err="1"/>
              <a:t>sesuai</a:t>
            </a:r>
            <a:r>
              <a:rPr lang="en-US" sz="8800" dirty="0"/>
              <a:t> </a:t>
            </a:r>
            <a:r>
              <a:rPr lang="en-US" sz="8800" dirty="0" err="1"/>
              <a:t>dengan</a:t>
            </a:r>
            <a:r>
              <a:rPr lang="en-US" sz="8800" dirty="0"/>
              <a:t> setup </a:t>
            </a:r>
            <a:r>
              <a:rPr lang="en-US" sz="8800" dirty="0" err="1"/>
              <a:t>pengukuran</a:t>
            </a:r>
            <a:r>
              <a:rPr lang="en-US" sz="8800" dirty="0"/>
              <a:t> yang </a:t>
            </a:r>
            <a:r>
              <a:rPr lang="en-US" sz="8800" dirty="0" err="1"/>
              <a:t>anda</a:t>
            </a:r>
            <a:r>
              <a:rPr lang="en-US" sz="8800" dirty="0"/>
              <a:t> </a:t>
            </a:r>
            <a:r>
              <a:rPr lang="en-US" sz="8800" dirty="0" err="1"/>
              <a:t>buat</a:t>
            </a:r>
            <a:r>
              <a:rPr lang="en-US" sz="8800" dirty="0"/>
              <a:t> </a:t>
            </a:r>
            <a:r>
              <a:rPr lang="en-US" sz="8800" dirty="0" err="1"/>
              <a:t>sendiri</a:t>
            </a:r>
            <a:r>
              <a:rPr lang="en-US" sz="8800" dirty="0"/>
              <a:t>. 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endParaRPr lang="en-US" sz="6000" dirty="0"/>
          </a:p>
          <a:p>
            <a:pPr>
              <a:buNone/>
            </a:pPr>
            <a:r>
              <a:rPr lang="en-US" sz="6000" b="1" dirty="0"/>
              <a:t>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949155"/>
            <a:ext cx="4616733" cy="4434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979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60648"/>
            <a:ext cx="8229600" cy="640871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/>
              <a:t>6. </a:t>
            </a:r>
            <a:r>
              <a:rPr lang="id-ID" sz="2600" b="1" dirty="0"/>
              <a:t>A</a:t>
            </a:r>
            <a:r>
              <a:rPr lang="en-US" sz="2600" b="1" dirty="0" err="1"/>
              <a:t>lat</a:t>
            </a:r>
            <a:r>
              <a:rPr lang="id-ID" sz="2600" b="1" dirty="0"/>
              <a:t>/</a:t>
            </a:r>
            <a:r>
              <a:rPr lang="en-US" sz="2600" b="1" dirty="0" err="1"/>
              <a:t>bahan</a:t>
            </a:r>
            <a:r>
              <a:rPr lang="en-US" sz="2600" b="1" dirty="0"/>
              <a:t> yang</a:t>
            </a:r>
            <a:r>
              <a:rPr lang="id-ID" sz="2600" b="1" dirty="0"/>
              <a:t> </a:t>
            </a:r>
            <a:r>
              <a:rPr lang="en-US" sz="2600" b="1" dirty="0" err="1"/>
              <a:t>diperlukan</a:t>
            </a:r>
            <a:r>
              <a:rPr lang="en-US" sz="2600" b="1" dirty="0"/>
              <a:t>: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Scalar Network Analyzer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Dual Directional Coupler 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RF Detector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Open/Short, 50 Ohm termination</a:t>
            </a:r>
          </a:p>
          <a:p>
            <a:pPr>
              <a:lnSpc>
                <a:spcPct val="110000"/>
              </a:lnSpc>
              <a:buNone/>
            </a:pPr>
            <a:r>
              <a:rPr lang="en-US" sz="2600" b="1" dirty="0"/>
              <a:t>7</a:t>
            </a:r>
            <a:r>
              <a:rPr lang="id-ID" sz="2600" b="1" dirty="0"/>
              <a:t>. </a:t>
            </a:r>
            <a:r>
              <a:rPr lang="en-US" sz="2600" b="1" dirty="0" err="1"/>
              <a:t>Metode</a:t>
            </a:r>
            <a:r>
              <a:rPr lang="en-US" sz="2600" b="1" dirty="0"/>
              <a:t> </a:t>
            </a:r>
            <a:r>
              <a:rPr lang="en-US" sz="2600" b="1" dirty="0" err="1"/>
              <a:t>percobaan</a:t>
            </a:r>
            <a:r>
              <a:rPr lang="en-US" sz="2600" b="1" dirty="0"/>
              <a:t>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dirty="0"/>
              <a:t>a). </a:t>
            </a:r>
            <a:r>
              <a:rPr lang="en-US" sz="2400" dirty="0" err="1"/>
              <a:t>Pengukuran</a:t>
            </a:r>
            <a:r>
              <a:rPr lang="en-US" sz="2400" dirty="0"/>
              <a:t> Insertion Loss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</a:t>
            </a:r>
            <a:r>
              <a:rPr lang="en-US" sz="2400" dirty="0" err="1"/>
              <a:t>Jelaskan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/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pengukuran</a:t>
            </a:r>
            <a:r>
              <a:rPr lang="en-US" sz="2400" dirty="0"/>
              <a:t> insertion loss </a:t>
            </a:r>
            <a:r>
              <a:rPr lang="en-US" sz="2400" dirty="0" err="1"/>
              <a:t>dilengkapi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diagram </a:t>
            </a:r>
            <a:r>
              <a:rPr lang="en-US" sz="2400" dirty="0" err="1"/>
              <a:t>pengukurannya</a:t>
            </a:r>
            <a:r>
              <a:rPr lang="en-US" sz="2400" dirty="0"/>
              <a:t>.</a:t>
            </a:r>
            <a:r>
              <a:rPr lang="id-ID" sz="2400" dirty="0"/>
              <a:t> (Bukan langkah kerja!!!!!)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b).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kopling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</a:t>
            </a:r>
            <a:r>
              <a:rPr lang="en-US" sz="2400" dirty="0" err="1"/>
              <a:t>Jelaskan</a:t>
            </a:r>
            <a:r>
              <a:rPr lang="en-US" sz="2400" dirty="0"/>
              <a:t> </a:t>
            </a:r>
            <a:r>
              <a:rPr lang="en-US" sz="2400" dirty="0" err="1"/>
              <a:t>metode</a:t>
            </a:r>
            <a:r>
              <a:rPr lang="en-US" sz="2400" dirty="0"/>
              <a:t>/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pemgukuran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kopling</a:t>
            </a:r>
            <a:r>
              <a:rPr lang="en-US" sz="2400" dirty="0"/>
              <a:t> </a:t>
            </a:r>
            <a:r>
              <a:rPr lang="en-US" sz="2400" dirty="0" err="1"/>
              <a:t>dilengkapi</a:t>
            </a:r>
            <a:r>
              <a:rPr lang="en-US" sz="2400" dirty="0"/>
              <a:t>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</a:t>
            </a:r>
            <a:r>
              <a:rPr lang="en-US" sz="2400" dirty="0" err="1"/>
              <a:t>dengan</a:t>
            </a:r>
            <a:r>
              <a:rPr lang="en-US" sz="2400" dirty="0"/>
              <a:t> diagram </a:t>
            </a:r>
            <a:r>
              <a:rPr lang="en-US" sz="2400" dirty="0" err="1"/>
              <a:t>pengukurannya</a:t>
            </a:r>
            <a:r>
              <a:rPr lang="en-US" sz="24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c). </a:t>
            </a:r>
            <a:r>
              <a:rPr lang="en-US" sz="2400" dirty="0" err="1"/>
              <a:t>Pengukuran</a:t>
            </a:r>
            <a:r>
              <a:rPr lang="en-US" sz="2400" dirty="0"/>
              <a:t> Dynamic range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spt</a:t>
            </a:r>
            <a:r>
              <a:rPr lang="en-US" sz="2400" dirty="0"/>
              <a:t> </a:t>
            </a:r>
            <a:r>
              <a:rPr lang="en-US" sz="2400" dirty="0" err="1"/>
              <a:t>diatas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d). </a:t>
            </a:r>
            <a:r>
              <a:rPr lang="en-US" sz="2400" dirty="0" err="1"/>
              <a:t>Pengukuran</a:t>
            </a:r>
            <a:r>
              <a:rPr lang="en-US" sz="2400" dirty="0"/>
              <a:t> Directivity</a:t>
            </a:r>
          </a:p>
          <a:p>
            <a:pPr>
              <a:buNone/>
            </a:pPr>
            <a:r>
              <a:rPr lang="en-US" sz="2400" dirty="0"/>
              <a:t>      </a:t>
            </a:r>
            <a:r>
              <a:rPr lang="en-US" sz="2400" dirty="0" err="1"/>
              <a:t>sama</a:t>
            </a:r>
            <a:r>
              <a:rPr lang="en-US" sz="2400" dirty="0"/>
              <a:t> </a:t>
            </a:r>
            <a:r>
              <a:rPr lang="en-US" sz="2400" dirty="0" err="1"/>
              <a:t>spt</a:t>
            </a:r>
            <a:r>
              <a:rPr lang="en-US" sz="2400" dirty="0"/>
              <a:t> </a:t>
            </a:r>
            <a:r>
              <a:rPr lang="en-US" sz="2400" dirty="0" err="1"/>
              <a:t>diatas</a:t>
            </a: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521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8</a:t>
            </a:r>
            <a:r>
              <a:rPr lang="id-ID" sz="2400" b="1" dirty="0"/>
              <a:t>. H</a:t>
            </a:r>
            <a:r>
              <a:rPr lang="en-US" sz="2400" b="1" dirty="0" err="1"/>
              <a:t>asil</a:t>
            </a:r>
            <a:r>
              <a:rPr lang="en-US" sz="2400" b="1" dirty="0"/>
              <a:t> </a:t>
            </a:r>
            <a:r>
              <a:rPr lang="en-US" sz="2400" b="1" dirty="0" err="1"/>
              <a:t>dan</a:t>
            </a:r>
            <a:r>
              <a:rPr lang="en-US" sz="2400" b="1" dirty="0"/>
              <a:t> </a:t>
            </a:r>
            <a:r>
              <a:rPr lang="id-ID" sz="2400" b="1"/>
              <a:t>pembahasan</a:t>
            </a:r>
            <a:r>
              <a:rPr lang="en-US" sz="2400" b="1"/>
              <a:t>:</a:t>
            </a:r>
            <a:endParaRPr lang="en-US" sz="2400" b="1" dirty="0"/>
          </a:p>
          <a:p>
            <a:pPr>
              <a:spcBef>
                <a:spcPts val="0"/>
              </a:spcBef>
              <a:buNone/>
            </a:pPr>
            <a:r>
              <a:rPr lang="en-US" dirty="0"/>
              <a:t>     </a:t>
            </a:r>
            <a:r>
              <a:rPr lang="en-US" sz="2200" dirty="0" err="1"/>
              <a:t>Berikan</a:t>
            </a:r>
            <a:r>
              <a:rPr lang="en-US" sz="2200" dirty="0"/>
              <a:t> data </a:t>
            </a:r>
            <a:r>
              <a:rPr lang="en-US" sz="2200" dirty="0" err="1"/>
              <a:t>hasil</a:t>
            </a:r>
            <a:r>
              <a:rPr lang="en-US" sz="2200" dirty="0"/>
              <a:t> </a:t>
            </a:r>
            <a:r>
              <a:rPr lang="en-US" sz="2200" dirty="0" err="1"/>
              <a:t>pengukuran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parameter yang </a:t>
            </a:r>
            <a:r>
              <a:rPr lang="en-US" sz="2200" dirty="0" err="1"/>
              <a:t>diukur</a:t>
            </a:r>
            <a:r>
              <a:rPr lang="en-US" sz="2200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    </a:t>
            </a:r>
            <a:r>
              <a:rPr lang="en-US" sz="2200" dirty="0" err="1"/>
              <a:t>beserta</a:t>
            </a:r>
            <a:r>
              <a:rPr lang="en-US" sz="2200" dirty="0"/>
              <a:t> </a:t>
            </a:r>
            <a:r>
              <a:rPr lang="en-US" sz="2200" dirty="0" err="1"/>
              <a:t>analisisnya</a:t>
            </a:r>
            <a:r>
              <a:rPr lang="en-US" sz="2200" dirty="0"/>
              <a:t>.</a:t>
            </a:r>
          </a:p>
          <a:p>
            <a:pPr>
              <a:spcBef>
                <a:spcPts val="0"/>
              </a:spcBef>
              <a:buNone/>
            </a:pPr>
            <a:endParaRPr lang="en-US" sz="2200" dirty="0"/>
          </a:p>
          <a:p>
            <a:pPr>
              <a:buNone/>
            </a:pPr>
            <a:r>
              <a:rPr lang="en-US" sz="2400" b="1" dirty="0"/>
              <a:t>9</a:t>
            </a:r>
            <a:r>
              <a:rPr lang="id-ID" sz="2400" b="1" dirty="0"/>
              <a:t>. K</a:t>
            </a:r>
            <a:r>
              <a:rPr lang="en-US" sz="2400" b="1" dirty="0" err="1"/>
              <a:t>esimpulan</a:t>
            </a:r>
            <a:r>
              <a:rPr lang="en-US" sz="2400" b="1" dirty="0"/>
              <a:t>:</a:t>
            </a:r>
          </a:p>
          <a:p>
            <a:pPr marL="0" indent="0">
              <a:buNone/>
            </a:pPr>
            <a:r>
              <a:rPr lang="en-US" sz="2400" b="1" dirty="0"/>
              <a:t>    </a:t>
            </a:r>
            <a:r>
              <a:rPr lang="en-US" sz="2200" dirty="0" err="1"/>
              <a:t>Berikan</a:t>
            </a:r>
            <a:r>
              <a:rPr lang="en-US" sz="2200" dirty="0"/>
              <a:t> </a:t>
            </a:r>
            <a:r>
              <a:rPr lang="en-US" sz="2200" dirty="0" err="1"/>
              <a:t>kesimpulan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hasil</a:t>
            </a:r>
            <a:r>
              <a:rPr lang="en-US" sz="2200" dirty="0"/>
              <a:t> </a:t>
            </a:r>
            <a:r>
              <a:rPr lang="en-US" sz="2200" dirty="0" err="1"/>
              <a:t>percobaan</a:t>
            </a:r>
            <a:r>
              <a:rPr lang="en-US" sz="2200" dirty="0"/>
              <a:t> </a:t>
            </a: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menyeluruh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9293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en-US" sz="3600" b="1" dirty="0" err="1"/>
              <a:t>Sampul</a:t>
            </a:r>
            <a:r>
              <a:rPr lang="en-US" sz="3600" b="1" dirty="0"/>
              <a:t> </a:t>
            </a:r>
            <a:r>
              <a:rPr lang="en-US" sz="3600" b="1" dirty="0" err="1"/>
              <a:t>Laporan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Autofit/>
          </a:bodyPr>
          <a:lstStyle/>
          <a:p>
            <a:pPr lvl="0" algn="ctr">
              <a:buNone/>
            </a:pPr>
            <a:r>
              <a:rPr lang="id-ID" sz="1400" b="1" dirty="0">
                <a:solidFill>
                  <a:prstClr val="black"/>
                </a:solidFill>
              </a:rPr>
              <a:t>LAPORAN LAB TEKNIK PENGUKURAN FREKUENSI TINGGI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 </a:t>
            </a:r>
            <a:r>
              <a:rPr lang="en-US" sz="1400" b="1" dirty="0">
                <a:solidFill>
                  <a:prstClr val="black"/>
                </a:solidFill>
              </a:rPr>
              <a:t>REV : 00</a:t>
            </a: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 </a:t>
            </a:r>
            <a:endParaRPr lang="en-US" sz="1400" dirty="0">
              <a:solidFill>
                <a:prstClr val="black"/>
              </a:solidFill>
            </a:endParaRPr>
          </a:p>
          <a:p>
            <a:pPr lvl="0">
              <a:buNone/>
            </a:pPr>
            <a:r>
              <a:rPr lang="id-ID" sz="1400" dirty="0">
                <a:solidFill>
                  <a:prstClr val="black"/>
                </a:solidFill>
              </a:rPr>
              <a:t> </a:t>
            </a:r>
            <a:endParaRPr lang="en-US" sz="1400" dirty="0">
              <a:solidFill>
                <a:prstClr val="black"/>
              </a:solidFill>
            </a:endParaRPr>
          </a:p>
          <a:p>
            <a:pPr lvl="0">
              <a:buNone/>
            </a:pPr>
            <a:endParaRPr lang="en-US" sz="1400" dirty="0">
              <a:solidFill>
                <a:prstClr val="black"/>
              </a:solidFill>
            </a:endParaRPr>
          </a:p>
          <a:p>
            <a:pPr lvl="0">
              <a:buNone/>
            </a:pPr>
            <a:endParaRPr lang="en-US" sz="1400" dirty="0">
              <a:solidFill>
                <a:prstClr val="black"/>
              </a:solidFill>
            </a:endParaRPr>
          </a:p>
          <a:p>
            <a:pPr lvl="0">
              <a:buNone/>
            </a:pP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Percobaan No.1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Pengukuran Karakteristik Directional Coupler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en-US" sz="1400" dirty="0">
                <a:solidFill>
                  <a:prstClr val="black"/>
                </a:solidFill>
              </a:rPr>
              <a:t> </a:t>
            </a:r>
            <a:r>
              <a:rPr lang="id-ID" sz="1400" dirty="0">
                <a:solidFill>
                  <a:prstClr val="black"/>
                </a:solidFill>
              </a:rPr>
              <a:t>Oleh: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Kelompok I/Kelas 3A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1. Nama/Nim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2.Nama/Nim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3.Nama/Nim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4.Nama/Nim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 Tanggal </a:t>
            </a:r>
            <a:r>
              <a:rPr lang="en-US" sz="1400" dirty="0" err="1">
                <a:solidFill>
                  <a:prstClr val="black"/>
                </a:solidFill>
              </a:rPr>
              <a:t>percobaan</a:t>
            </a:r>
            <a:r>
              <a:rPr lang="id-ID" sz="1400" dirty="0">
                <a:solidFill>
                  <a:prstClr val="black"/>
                </a:solidFill>
              </a:rPr>
              <a:t> : </a:t>
            </a:r>
            <a:r>
              <a:rPr lang="en-US" sz="1400" dirty="0">
                <a:solidFill>
                  <a:prstClr val="black"/>
                </a:solidFill>
              </a:rPr>
              <a:t>05</a:t>
            </a:r>
            <a:r>
              <a:rPr lang="id-ID" sz="1400" dirty="0">
                <a:solidFill>
                  <a:prstClr val="black"/>
                </a:solidFill>
              </a:rPr>
              <a:t>/</a:t>
            </a:r>
            <a:r>
              <a:rPr lang="en-US" sz="1400" dirty="0">
                <a:solidFill>
                  <a:prstClr val="black"/>
                </a:solidFill>
              </a:rPr>
              <a:t>09</a:t>
            </a:r>
            <a:r>
              <a:rPr lang="id-ID" sz="1400" dirty="0">
                <a:solidFill>
                  <a:prstClr val="black"/>
                </a:solidFill>
              </a:rPr>
              <a:t>/201</a:t>
            </a:r>
            <a:r>
              <a:rPr lang="en-US" sz="1400" dirty="0">
                <a:solidFill>
                  <a:prstClr val="black"/>
                </a:solidFill>
              </a:rPr>
              <a:t>6</a:t>
            </a:r>
          </a:p>
          <a:p>
            <a:pPr lvl="0" algn="ctr">
              <a:buNone/>
            </a:pPr>
            <a:r>
              <a:rPr lang="en-US" sz="1400" dirty="0" err="1">
                <a:solidFill>
                  <a:prstClr val="black"/>
                </a:solidFill>
              </a:rPr>
              <a:t>Tanggal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en-US" sz="1400" dirty="0" err="1">
                <a:solidFill>
                  <a:prstClr val="black"/>
                </a:solidFill>
              </a:rPr>
              <a:t>pengumpulan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en-US" sz="1400" dirty="0" err="1">
                <a:solidFill>
                  <a:prstClr val="black"/>
                </a:solidFill>
              </a:rPr>
              <a:t>laporan</a:t>
            </a:r>
            <a:r>
              <a:rPr lang="en-US" sz="1400" dirty="0">
                <a:solidFill>
                  <a:prstClr val="black"/>
                </a:solidFill>
              </a:rPr>
              <a:t>: 12/09/2016</a:t>
            </a:r>
          </a:p>
          <a:p>
            <a:pPr lvl="0" algn="ctr">
              <a:buNone/>
            </a:pPr>
            <a:r>
              <a:rPr lang="id-ID" sz="1400" dirty="0">
                <a:solidFill>
                  <a:prstClr val="black"/>
                </a:solidFill>
              </a:rPr>
              <a:t> </a:t>
            </a:r>
            <a:r>
              <a:rPr lang="en-US" sz="1400" dirty="0">
                <a:solidFill>
                  <a:prstClr val="black"/>
                </a:solidFill>
              </a:rPr>
              <a:t> </a:t>
            </a:r>
          </a:p>
          <a:p>
            <a:pPr lvl="0" algn="ctr">
              <a:buNone/>
            </a:pPr>
            <a:r>
              <a:rPr lang="en-US" sz="1400" dirty="0">
                <a:solidFill>
                  <a:prstClr val="black"/>
                </a:solidFill>
              </a:rPr>
              <a:t> </a:t>
            </a:r>
          </a:p>
          <a:p>
            <a:pPr lvl="0" algn="ctr">
              <a:buNone/>
            </a:pPr>
            <a:r>
              <a:rPr lang="id-ID" sz="1400" b="1" dirty="0">
                <a:solidFill>
                  <a:prstClr val="black"/>
                </a:solidFill>
              </a:rPr>
              <a:t>PRODI TELEKOMUNIKASIKASI – TEKNIK ELEKTRO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b="1" dirty="0">
                <a:solidFill>
                  <a:prstClr val="black"/>
                </a:solidFill>
              </a:rPr>
              <a:t>POLITEKNIK NEGERI BANDUNG</a:t>
            </a:r>
            <a:endParaRPr lang="en-US" sz="1400" dirty="0">
              <a:solidFill>
                <a:prstClr val="black"/>
              </a:solidFill>
            </a:endParaRPr>
          </a:p>
          <a:p>
            <a:pPr lvl="0" algn="ctr">
              <a:buNone/>
            </a:pPr>
            <a:r>
              <a:rPr lang="id-ID" sz="1400" b="1" dirty="0">
                <a:solidFill>
                  <a:prstClr val="black"/>
                </a:solidFill>
              </a:rPr>
              <a:t>OKTOBER 201</a:t>
            </a:r>
            <a:r>
              <a:rPr lang="en-US" sz="1400" b="1" dirty="0">
                <a:solidFill>
                  <a:prstClr val="black"/>
                </a:solidFill>
              </a:rPr>
              <a:t>6</a:t>
            </a:r>
            <a:endParaRPr lang="en-US" sz="1400" dirty="0">
              <a:solidFill>
                <a:prstClr val="black"/>
              </a:solidFill>
            </a:endParaRPr>
          </a:p>
          <a:p>
            <a:endParaRPr lang="en-US" sz="1400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3807" y="1844824"/>
            <a:ext cx="648072" cy="774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63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en-US" sz="3600" b="1" dirty="0" err="1"/>
              <a:t>Judul</a:t>
            </a:r>
            <a:r>
              <a:rPr lang="en-US" sz="3600" b="1" dirty="0"/>
              <a:t> </a:t>
            </a:r>
            <a:r>
              <a:rPr lang="en-US" sz="3600" b="1" dirty="0" err="1"/>
              <a:t>Percobaan</a:t>
            </a:r>
            <a:r>
              <a:rPr lang="en-US" sz="3600" b="1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474" y="1412776"/>
            <a:ext cx="8464006" cy="4896544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sq-AL" sz="2400" dirty="0">
                <a:solidFill>
                  <a:srgbClr val="C00000"/>
                </a:solidFill>
              </a:rPr>
              <a:t>Pengukuran Karakteristik Directional Coupler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sq-AL" sz="2400" dirty="0">
                <a:solidFill>
                  <a:srgbClr val="C00000"/>
                </a:solidFill>
              </a:rPr>
              <a:t>Pengukuran karaktristik kabel koaksial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sq-AL" sz="2400" dirty="0">
                <a:solidFill>
                  <a:srgbClr val="C00000"/>
                </a:solidFill>
              </a:rPr>
              <a:t>Pengukuran karakteristik </a:t>
            </a:r>
            <a:r>
              <a:rPr lang="en-US" sz="2400" dirty="0">
                <a:solidFill>
                  <a:srgbClr val="C00000"/>
                </a:solidFill>
              </a:rPr>
              <a:t>Filter(LPF&amp;BPF)</a:t>
            </a:r>
            <a:endParaRPr lang="sq-AL" sz="2400" dirty="0">
              <a:solidFill>
                <a:srgbClr val="C0000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sq-AL" sz="2400" dirty="0">
                <a:solidFill>
                  <a:srgbClr val="C00000"/>
                </a:solidFill>
              </a:rPr>
              <a:t>Pengukuran </a:t>
            </a:r>
            <a:r>
              <a:rPr lang="sq-AL" sz="2400" dirty="0">
                <a:solidFill>
                  <a:schemeClr val="accent2"/>
                </a:solidFill>
              </a:rPr>
              <a:t>pengaruh saluran transmisi terhadap VSWR antena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sq-AL" sz="2400" dirty="0">
                <a:solidFill>
                  <a:srgbClr val="0070C0"/>
                </a:solidFill>
              </a:rPr>
              <a:t>Pengukuran karakteristik RF Amplifier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sq-AL" sz="2400" dirty="0">
                <a:solidFill>
                  <a:srgbClr val="0070C0"/>
                </a:solidFill>
              </a:rPr>
              <a:t>Pengukuran karakteristik </a:t>
            </a:r>
            <a:r>
              <a:rPr lang="en-US" sz="2400" dirty="0">
                <a:solidFill>
                  <a:srgbClr val="0070C0"/>
                </a:solidFill>
              </a:rPr>
              <a:t>RF Mixer</a:t>
            </a:r>
            <a:endParaRPr lang="sq-AL" sz="2400" dirty="0">
              <a:solidFill>
                <a:srgbClr val="0070C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sq-AL" sz="2400" dirty="0">
                <a:solidFill>
                  <a:srgbClr val="0070C0"/>
                </a:solidFill>
              </a:rPr>
              <a:t>Pengukuran karakteristik </a:t>
            </a:r>
            <a:r>
              <a:rPr lang="sq-AL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VHF Yagi antenna</a:t>
            </a:r>
            <a:endParaRPr lang="en-US" sz="2400" dirty="0">
              <a:solidFill>
                <a:srgbClr val="0070C0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sq-AL" sz="2400" dirty="0">
                <a:solidFill>
                  <a:srgbClr val="0070C0"/>
                </a:solidFill>
              </a:rPr>
              <a:t>Pengukuran karakteristik Noise Figure</a:t>
            </a:r>
            <a:endParaRPr lang="sq-AL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en-US" sz="3600" b="1" dirty="0" err="1"/>
              <a:t>Tujuan</a:t>
            </a:r>
            <a:r>
              <a:rPr lang="en-US" sz="3600" b="1" dirty="0"/>
              <a:t> </a:t>
            </a:r>
            <a:r>
              <a:rPr lang="en-US" sz="3600" b="1" dirty="0" err="1"/>
              <a:t>Percobaan</a:t>
            </a:r>
            <a:r>
              <a:rPr lang="en-US" sz="3600" b="1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475" y="927084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/>
              <a:t>1.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Directional Coupler</a:t>
            </a:r>
          </a:p>
          <a:p>
            <a:pPr marL="0" indent="0" algn="just">
              <a:buNone/>
            </a:pPr>
            <a:r>
              <a:rPr lang="en-US" sz="2400" dirty="0" err="1">
                <a:solidFill>
                  <a:srgbClr val="C00000"/>
                </a:solidFill>
              </a:rPr>
              <a:t>Diakhir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percobaan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mahasiswa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dapat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memahami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tentang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cara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kerja</a:t>
            </a:r>
            <a:r>
              <a:rPr lang="en-US" sz="2400" dirty="0">
                <a:solidFill>
                  <a:srgbClr val="C00000"/>
                </a:solidFill>
              </a:rPr>
              <a:t>, </a:t>
            </a:r>
            <a:r>
              <a:rPr lang="en-US" sz="2400" dirty="0" err="1">
                <a:solidFill>
                  <a:srgbClr val="C00000"/>
                </a:solidFill>
              </a:rPr>
              <a:t>fungsi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kegunaan</a:t>
            </a:r>
            <a:r>
              <a:rPr lang="en-US" sz="2400" dirty="0">
                <a:solidFill>
                  <a:srgbClr val="C00000"/>
                </a:solidFill>
              </a:rPr>
              <a:t> Directional Coupler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main loss, </a:t>
            </a:r>
            <a:r>
              <a:rPr lang="en-US" sz="2400" dirty="0" err="1">
                <a:solidFill>
                  <a:srgbClr val="C00000"/>
                </a:solidFill>
              </a:rPr>
              <a:t>daya</a:t>
            </a:r>
            <a:r>
              <a:rPr lang="en-US" sz="2400" dirty="0">
                <a:solidFill>
                  <a:srgbClr val="C00000"/>
                </a:solidFill>
              </a:rPr>
              <a:t> forward (Pf), </a:t>
            </a:r>
            <a:r>
              <a:rPr lang="en-US" sz="2400" dirty="0" err="1">
                <a:solidFill>
                  <a:srgbClr val="C00000"/>
                </a:solidFill>
              </a:rPr>
              <a:t>daya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pantul</a:t>
            </a:r>
            <a:r>
              <a:rPr lang="en-US" sz="2400" dirty="0">
                <a:solidFill>
                  <a:srgbClr val="C00000"/>
                </a:solidFill>
              </a:rPr>
              <a:t> (</a:t>
            </a:r>
            <a:r>
              <a:rPr lang="en-US" sz="2400" dirty="0" err="1">
                <a:solidFill>
                  <a:srgbClr val="C00000"/>
                </a:solidFill>
              </a:rPr>
              <a:t>Pr</a:t>
            </a:r>
            <a:r>
              <a:rPr lang="en-US" sz="2400" dirty="0">
                <a:solidFill>
                  <a:srgbClr val="C00000"/>
                </a:solidFill>
              </a:rPr>
              <a:t>), coupling factor (</a:t>
            </a:r>
            <a:r>
              <a:rPr lang="en-US" sz="2400" dirty="0" err="1">
                <a:solidFill>
                  <a:srgbClr val="C00000"/>
                </a:solidFill>
              </a:rPr>
              <a:t>Cf</a:t>
            </a:r>
            <a:r>
              <a:rPr lang="en-US" sz="2400" dirty="0">
                <a:solidFill>
                  <a:srgbClr val="C00000"/>
                </a:solidFill>
              </a:rPr>
              <a:t>), Directivity (</a:t>
            </a:r>
            <a:r>
              <a:rPr lang="en-US" sz="2400" dirty="0" err="1">
                <a:solidFill>
                  <a:srgbClr val="C00000"/>
                </a:solidFill>
              </a:rPr>
              <a:t>Dir</a:t>
            </a:r>
            <a:r>
              <a:rPr lang="en-US" sz="2400" dirty="0">
                <a:solidFill>
                  <a:srgbClr val="C00000"/>
                </a:solidFill>
              </a:rPr>
              <a:t>).</a:t>
            </a:r>
          </a:p>
          <a:p>
            <a:pPr marL="0" indent="0" algn="just">
              <a:buNone/>
            </a:pPr>
            <a:r>
              <a:rPr lang="en-US" sz="2400" dirty="0"/>
              <a:t>2.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karaktristik</a:t>
            </a:r>
            <a:r>
              <a:rPr lang="en-US" sz="2400" dirty="0"/>
              <a:t> </a:t>
            </a:r>
            <a:r>
              <a:rPr lang="en-US" sz="2400" dirty="0" err="1"/>
              <a:t>kabel</a:t>
            </a:r>
            <a:r>
              <a:rPr lang="en-US" sz="2400" dirty="0"/>
              <a:t> </a:t>
            </a:r>
            <a:r>
              <a:rPr lang="en-US" sz="2400" dirty="0" err="1"/>
              <a:t>koaksial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 err="1">
                <a:solidFill>
                  <a:srgbClr val="C00000"/>
                </a:solidFill>
              </a:rPr>
              <a:t>Diakhir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percobaan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mahasiswa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dapat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memahami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tentang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karakteristik</a:t>
            </a:r>
            <a:r>
              <a:rPr lang="en-US" sz="2400" dirty="0">
                <a:solidFill>
                  <a:srgbClr val="C00000"/>
                </a:solidFill>
              </a:rPr>
              <a:t>, </a:t>
            </a:r>
            <a:r>
              <a:rPr lang="en-US" sz="2400" dirty="0" err="1">
                <a:solidFill>
                  <a:srgbClr val="C00000"/>
                </a:solidFill>
              </a:rPr>
              <a:t>sifat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konstruksi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kabel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koaksial</a:t>
            </a:r>
            <a:endParaRPr lang="en-US" sz="2400" dirty="0">
              <a:solidFill>
                <a:srgbClr val="C00000"/>
              </a:solidFill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96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496944" cy="53285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impedansi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karaktristik</a:t>
            </a:r>
            <a:r>
              <a:rPr lang="en-US" sz="2400" dirty="0">
                <a:solidFill>
                  <a:srgbClr val="C00000"/>
                </a:solidFill>
              </a:rPr>
              <a:t> (Zo) </a:t>
            </a:r>
            <a:r>
              <a:rPr lang="en-US" sz="2400" dirty="0" err="1">
                <a:solidFill>
                  <a:srgbClr val="C00000"/>
                </a:solidFill>
              </a:rPr>
              <a:t>kabel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faktor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redaman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kabel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koaksial</a:t>
            </a:r>
            <a:r>
              <a:rPr lang="en-US" sz="2400" dirty="0">
                <a:solidFill>
                  <a:srgbClr val="C00000"/>
                </a:solidFill>
              </a:rPr>
              <a:t> (at)</a:t>
            </a:r>
          </a:p>
          <a:p>
            <a:pPr marL="0" indent="0">
              <a:buNone/>
            </a:pPr>
            <a:r>
              <a:rPr lang="en-US" sz="2400" dirty="0"/>
              <a:t>3.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LPF&amp;BPF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Diakhir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percobaan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mahasiswa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dapat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Memahami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karakteristik</a:t>
            </a:r>
            <a:r>
              <a:rPr lang="en-US" sz="2400" dirty="0">
                <a:solidFill>
                  <a:srgbClr val="C00000"/>
                </a:solidFill>
              </a:rPr>
              <a:t> Low Pass Filter dan Band Pass Filter (LPF&amp;BPF)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response </a:t>
            </a:r>
            <a:r>
              <a:rPr lang="en-US" sz="2400" dirty="0" err="1">
                <a:solidFill>
                  <a:srgbClr val="C00000"/>
                </a:solidFill>
              </a:rPr>
              <a:t>frekuensi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insertion loss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Mengukkur</a:t>
            </a:r>
            <a:r>
              <a:rPr lang="en-US" sz="2400" dirty="0">
                <a:solidFill>
                  <a:srgbClr val="C00000"/>
                </a:solidFill>
              </a:rPr>
              <a:t> flatness pada </a:t>
            </a:r>
            <a:r>
              <a:rPr lang="en-US" sz="2400" dirty="0" err="1">
                <a:solidFill>
                  <a:srgbClr val="C00000"/>
                </a:solidFill>
              </a:rPr>
              <a:t>daerah</a:t>
            </a:r>
            <a:r>
              <a:rPr lang="en-US" sz="2400" dirty="0">
                <a:solidFill>
                  <a:srgbClr val="C00000"/>
                </a:solidFill>
              </a:rPr>
              <a:t> pass band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pass band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3dB Bandwidth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C00000"/>
                </a:solidFill>
              </a:rPr>
              <a:t>Shape Factor 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0666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548680"/>
            <a:ext cx="9721080" cy="63093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4. </a:t>
            </a:r>
            <a:r>
              <a:rPr lang="sq-AL" sz="2400" dirty="0"/>
              <a:t>Pengukuran pengaruh saluran transmisi terhadap VSWR antena 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Diakhir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percobaan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mahasiswa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dapat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chemeClr val="accent2"/>
                </a:solidFill>
              </a:rPr>
              <a:t>Memahami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sq-AL" sz="2400" dirty="0">
                <a:solidFill>
                  <a:schemeClr val="accent2"/>
                </a:solidFill>
              </a:rPr>
              <a:t>pengaruh saluran transmisi terhadap VSWR antena </a:t>
            </a:r>
            <a:endParaRPr lang="en-US" sz="2400" dirty="0">
              <a:solidFill>
                <a:schemeClr val="accent2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Daya </a:t>
            </a:r>
            <a:r>
              <a:rPr lang="en-US" sz="2400" dirty="0" err="1">
                <a:solidFill>
                  <a:srgbClr val="C00000"/>
                </a:solidFill>
              </a:rPr>
              <a:t>Pancar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VSWR </a:t>
            </a:r>
            <a:r>
              <a:rPr lang="en-US" sz="2400" dirty="0" err="1">
                <a:solidFill>
                  <a:srgbClr val="C00000"/>
                </a:solidFill>
              </a:rPr>
              <a:t>diujung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kabel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VSWR </a:t>
            </a:r>
            <a:r>
              <a:rPr lang="en-US" sz="2400" dirty="0" err="1">
                <a:solidFill>
                  <a:srgbClr val="C00000"/>
                </a:solidFill>
              </a:rPr>
              <a:t>diujung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antena</a:t>
            </a: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/>
              <a:t>5.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RF Mixer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Diakhir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percobaan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mahasiswa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dapat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Memahami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karakteristik</a:t>
            </a:r>
            <a:r>
              <a:rPr lang="en-US" sz="2400" dirty="0">
                <a:solidFill>
                  <a:srgbClr val="C00000"/>
                </a:solidFill>
              </a:rPr>
              <a:t> RF Mixer, </a:t>
            </a:r>
            <a:r>
              <a:rPr lang="en-US" sz="2400" dirty="0" err="1">
                <a:solidFill>
                  <a:srgbClr val="C00000"/>
                </a:solidFill>
              </a:rPr>
              <a:t>sifat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pengunaannya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spectrum </a:t>
            </a:r>
            <a:r>
              <a:rPr lang="en-US" sz="2400" dirty="0" err="1">
                <a:solidFill>
                  <a:srgbClr val="C00000"/>
                </a:solidFill>
              </a:rPr>
              <a:t>frekuensi</a:t>
            </a:r>
            <a:r>
              <a:rPr lang="en-US" sz="2400" dirty="0">
                <a:solidFill>
                  <a:srgbClr val="C00000"/>
                </a:solidFill>
              </a:rPr>
              <a:t> mixer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conversion loss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isolasi</a:t>
            </a:r>
            <a:r>
              <a:rPr lang="en-US" sz="2400" dirty="0">
                <a:solidFill>
                  <a:srgbClr val="C00000"/>
                </a:solidFill>
              </a:rPr>
              <a:t> RF – LO, IF - LO</a:t>
            </a:r>
          </a:p>
        </p:txBody>
      </p:sp>
    </p:spTree>
    <p:extLst>
      <p:ext uri="{BB962C8B-B14F-4D97-AF65-F5344CB8AC3E}">
        <p14:creationId xmlns:p14="http://schemas.microsoft.com/office/powerpoint/2010/main" val="3395649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5.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VHF Yagi antenna (1)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Diakhir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percobaan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mahasiswa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dapat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Pola </a:t>
            </a:r>
            <a:r>
              <a:rPr lang="en-US" sz="2400" dirty="0" err="1">
                <a:solidFill>
                  <a:srgbClr val="C00000"/>
                </a:solidFill>
              </a:rPr>
              <a:t>radiasi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mengujur</a:t>
            </a:r>
            <a:r>
              <a:rPr lang="en-US" sz="2400" dirty="0">
                <a:solidFill>
                  <a:srgbClr val="C00000"/>
                </a:solidFill>
              </a:rPr>
              <a:t> Gain antenna </a:t>
            </a:r>
            <a:r>
              <a:rPr lang="en-US" sz="2400" dirty="0" err="1">
                <a:solidFill>
                  <a:srgbClr val="C00000"/>
                </a:solidFill>
              </a:rPr>
              <a:t>terhadap</a:t>
            </a:r>
            <a:r>
              <a:rPr lang="en-US" sz="2400" dirty="0">
                <a:solidFill>
                  <a:srgbClr val="C00000"/>
                </a:solidFill>
              </a:rPr>
              <a:t> Dipole Ref </a:t>
            </a:r>
            <a:r>
              <a:rPr lang="en-US" sz="2400" dirty="0" err="1">
                <a:solidFill>
                  <a:srgbClr val="C00000"/>
                </a:solidFill>
              </a:rPr>
              <a:t>antena</a:t>
            </a: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/>
              <a:t>6.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RF Amplifier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Diakhir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percobaan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mahasiswa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dapat</a:t>
            </a:r>
            <a:r>
              <a:rPr lang="en-US" sz="2400" dirty="0">
                <a:solidFill>
                  <a:srgbClr val="C00000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memahami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karakteristik</a:t>
            </a:r>
            <a:r>
              <a:rPr lang="en-US" sz="2400" dirty="0">
                <a:solidFill>
                  <a:srgbClr val="C00000"/>
                </a:solidFill>
              </a:rPr>
              <a:t>, </a:t>
            </a:r>
            <a:r>
              <a:rPr lang="en-US" sz="2400" dirty="0" err="1">
                <a:solidFill>
                  <a:srgbClr val="C00000"/>
                </a:solidFill>
              </a:rPr>
              <a:t>fungsi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dan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tugas</a:t>
            </a:r>
            <a:r>
              <a:rPr lang="en-US" sz="2400" dirty="0">
                <a:solidFill>
                  <a:srgbClr val="C00000"/>
                </a:solidFill>
              </a:rPr>
              <a:t> RF amplifier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frekuensi</a:t>
            </a:r>
            <a:r>
              <a:rPr lang="en-US" sz="2400" dirty="0">
                <a:solidFill>
                  <a:srgbClr val="C00000"/>
                </a:solidFill>
              </a:rPr>
              <a:t> response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 err="1">
                <a:solidFill>
                  <a:srgbClr val="C00000"/>
                </a:solidFill>
              </a:rPr>
              <a:t>mengukur</a:t>
            </a:r>
            <a:r>
              <a:rPr lang="en-US" sz="2400" dirty="0">
                <a:solidFill>
                  <a:srgbClr val="C00000"/>
                </a:solidFill>
              </a:rPr>
              <a:t> Gain (f), Gain Flatness, 3dB Bandwidth</a:t>
            </a:r>
          </a:p>
          <a:p>
            <a:pPr marL="0" indent="0">
              <a:buNone/>
            </a:pPr>
            <a:r>
              <a:rPr lang="en-US" sz="2400" dirty="0"/>
              <a:t>7. </a:t>
            </a:r>
            <a:r>
              <a:rPr lang="en-US" sz="2400" dirty="0" err="1"/>
              <a:t>Pengukuran</a:t>
            </a:r>
            <a:r>
              <a:rPr lang="en-US" sz="2400" dirty="0"/>
              <a:t> </a:t>
            </a:r>
            <a:r>
              <a:rPr lang="en-US" sz="2400" dirty="0" err="1"/>
              <a:t>karakteristik</a:t>
            </a:r>
            <a:r>
              <a:rPr lang="en-US" sz="2400" dirty="0"/>
              <a:t> Noise Figure</a:t>
            </a:r>
          </a:p>
        </p:txBody>
      </p:sp>
    </p:spTree>
    <p:extLst>
      <p:ext uri="{BB962C8B-B14F-4D97-AF65-F5344CB8AC3E}">
        <p14:creationId xmlns:p14="http://schemas.microsoft.com/office/powerpoint/2010/main" val="421915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895</Words>
  <Application>Microsoft Office PowerPoint</Application>
  <PresentationFormat>On-screen Show (4:3)</PresentationFormat>
  <Paragraphs>198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Peraturan dan Tata tertib  Praktikum</vt:lpstr>
      <vt:lpstr>Ketentuan tentang laporan</vt:lpstr>
      <vt:lpstr>Format Laporan</vt:lpstr>
      <vt:lpstr>PowerPoint Presentation</vt:lpstr>
      <vt:lpstr>PowerPoint Presentation</vt:lpstr>
      <vt:lpstr>PowerPoint Presentation</vt:lpstr>
      <vt:lpstr>Sampul Laporan</vt:lpstr>
      <vt:lpstr>Judul Percobaan  </vt:lpstr>
      <vt:lpstr>Tujuan Percobaan 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 LAPORAN  LAB. TEKNIK PENGUKURAN HF</dc:title>
  <dc:creator>Sugih</dc:creator>
  <cp:lastModifiedBy>Hanny Madiawati</cp:lastModifiedBy>
  <cp:revision>82</cp:revision>
  <dcterms:created xsi:type="dcterms:W3CDTF">2014-10-06T13:17:29Z</dcterms:created>
  <dcterms:modified xsi:type="dcterms:W3CDTF">2023-08-22T04:22:33Z</dcterms:modified>
</cp:coreProperties>
</file>