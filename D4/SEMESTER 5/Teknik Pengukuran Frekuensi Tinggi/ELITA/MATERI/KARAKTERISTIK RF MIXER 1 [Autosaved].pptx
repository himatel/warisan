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6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Tanpa Gaya, Tanpa Kis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Tanpa Gaya, Kisi Tabel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10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80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81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4738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04030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115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499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78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3489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539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228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5075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39148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660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68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74511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83891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578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53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CB3C4F6-DB39-45A3-9B41-B8F2ED2F6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KARAKTERISTIK RF MIXER</a:t>
            </a:r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C198164D-E4EA-4F9D-9C71-B45DD2245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294988"/>
          </a:xfrm>
        </p:spPr>
        <p:txBody>
          <a:bodyPr>
            <a:normAutofit/>
          </a:bodyPr>
          <a:lstStyle/>
          <a:p>
            <a:r>
              <a:rPr lang="en-US" dirty="0" err="1"/>
              <a:t>Kelompok</a:t>
            </a:r>
            <a:r>
              <a:rPr lang="en-US" dirty="0"/>
              <a:t> 1:</a:t>
            </a:r>
          </a:p>
        </p:txBody>
      </p:sp>
    </p:spTree>
    <p:extLst>
      <p:ext uri="{BB962C8B-B14F-4D97-AF65-F5344CB8AC3E}">
        <p14:creationId xmlns:p14="http://schemas.microsoft.com/office/powerpoint/2010/main" val="59876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59CD3F3-1AD6-42DD-850C-F2A22800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1337B39-A605-4714-867F-64BFF8C24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RF Mixer, </a:t>
            </a:r>
            <a:r>
              <a:rPr lang="en-US" dirty="0" err="1"/>
              <a:t>sifat</a:t>
            </a:r>
            <a:r>
              <a:rPr lang="en-US" dirty="0"/>
              <a:t> dan </a:t>
            </a:r>
            <a:r>
              <a:rPr lang="en-US" dirty="0" err="1"/>
              <a:t>penggunaannya</a:t>
            </a:r>
            <a:r>
              <a:rPr lang="en-US" dirty="0"/>
              <a:t> </a:t>
            </a:r>
          </a:p>
          <a:p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spektrum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mixer </a:t>
            </a:r>
          </a:p>
          <a:p>
            <a:r>
              <a:rPr lang="en-US" dirty="0" err="1"/>
              <a:t>Mengukur</a:t>
            </a:r>
            <a:r>
              <a:rPr lang="en-US" dirty="0"/>
              <a:t> conversion loss </a:t>
            </a:r>
          </a:p>
          <a:p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isolasi</a:t>
            </a:r>
            <a:r>
              <a:rPr lang="en-US" dirty="0"/>
              <a:t> RF – LO, IF – LO</a:t>
            </a:r>
          </a:p>
        </p:txBody>
      </p:sp>
    </p:spTree>
    <p:extLst>
      <p:ext uri="{BB962C8B-B14F-4D97-AF65-F5344CB8AC3E}">
        <p14:creationId xmlns:p14="http://schemas.microsoft.com/office/powerpoint/2010/main" val="99311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B65881B-9155-4889-91D8-B8A8556B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Pengertian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E5815CB-ED9F-4730-A106-97170FB9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Mixer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non-liner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mencampur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rangka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selisih</a:t>
            </a:r>
            <a:r>
              <a:rPr lang="en-US" dirty="0"/>
              <a:t>. Mixer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tiga</a:t>
            </a:r>
            <a:r>
              <a:rPr lang="en-US" dirty="0"/>
              <a:t> </a:t>
            </a:r>
            <a:r>
              <a:rPr lang="en-US" dirty="0" err="1"/>
              <a:t>buah</a:t>
            </a:r>
            <a:r>
              <a:rPr lang="en-US" dirty="0"/>
              <a:t> port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kanal</a:t>
            </a:r>
            <a:r>
              <a:rPr lang="en-US" dirty="0"/>
              <a:t> RF, IF dan LO. RF </a:t>
            </a:r>
            <a:r>
              <a:rPr lang="en-US" dirty="0" err="1"/>
              <a:t>atau</a:t>
            </a:r>
            <a:r>
              <a:rPr lang="en-US" dirty="0"/>
              <a:t> radio frequency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pemancar</a:t>
            </a:r>
            <a:r>
              <a:rPr lang="en-US" dirty="0"/>
              <a:t> radio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dicampurkan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LO </a:t>
            </a:r>
            <a:r>
              <a:rPr lang="en-US" dirty="0" err="1"/>
              <a:t>atau</a:t>
            </a:r>
            <a:r>
              <a:rPr lang="en-US" dirty="0"/>
              <a:t> Local Frequency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IF </a:t>
            </a:r>
            <a:r>
              <a:rPr lang="en-US" dirty="0" err="1"/>
              <a:t>atau</a:t>
            </a:r>
            <a:r>
              <a:rPr lang="en-US" dirty="0"/>
              <a:t> intermediate frequency. LO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membangkitkan</a:t>
            </a:r>
            <a:r>
              <a:rPr lang="en-US" dirty="0"/>
              <a:t> </a:t>
            </a:r>
            <a:r>
              <a:rPr lang="en-US" dirty="0" err="1"/>
              <a:t>gelombang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kontinu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8755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0A8C0931-8074-4050-8D06-A7B1C5682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Alat</a:t>
            </a:r>
            <a:r>
              <a:rPr lang="en-US" dirty="0"/>
              <a:t> &amp; </a:t>
            </a:r>
            <a:r>
              <a:rPr lang="en-US" dirty="0" err="1"/>
              <a:t>bahan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6C3283FE-CE23-4747-B85F-C38557FFF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Signal Generator </a:t>
            </a:r>
          </a:p>
          <a:p>
            <a:r>
              <a:rPr lang="en-US" dirty="0"/>
              <a:t>2. Mixer ZAD-1 15542 </a:t>
            </a:r>
          </a:p>
          <a:p>
            <a:r>
              <a:rPr lang="en-US" dirty="0"/>
              <a:t>3. Digital Spectrum Analyzer </a:t>
            </a:r>
          </a:p>
          <a:p>
            <a:r>
              <a:rPr lang="en-US" dirty="0"/>
              <a:t>4. Kabel Coaxial </a:t>
            </a:r>
          </a:p>
          <a:p>
            <a:r>
              <a:rPr lang="en-US" dirty="0"/>
              <a:t>5. Terminator 50</a:t>
            </a:r>
            <a:r>
              <a:rPr lang="el-GR" dirty="0"/>
              <a:t>Ω </a:t>
            </a:r>
            <a:endParaRPr lang="en-US" dirty="0"/>
          </a:p>
          <a:p>
            <a:r>
              <a:rPr lang="el-GR" dirty="0"/>
              <a:t>6. </a:t>
            </a:r>
            <a:r>
              <a:rPr lang="en-US" dirty="0" err="1"/>
              <a:t>Komputer</a:t>
            </a:r>
            <a:r>
              <a:rPr lang="en-US" dirty="0"/>
              <a:t> </a:t>
            </a:r>
          </a:p>
          <a:p>
            <a:r>
              <a:rPr lang="en-US" dirty="0"/>
              <a:t>7. Software Signal Hound</a:t>
            </a:r>
          </a:p>
        </p:txBody>
      </p:sp>
    </p:spTree>
    <p:extLst>
      <p:ext uri="{BB962C8B-B14F-4D97-AF65-F5344CB8AC3E}">
        <p14:creationId xmlns:p14="http://schemas.microsoft.com/office/powerpoint/2010/main" val="141341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51A98C0-6A30-45C6-81EB-19D6DC79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yang </a:t>
            </a:r>
            <a:r>
              <a:rPr lang="en-US" dirty="0" err="1"/>
              <a:t>diukur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4E82FA6E-0813-4D66-AF41-5C0479801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Conversion Loss</a:t>
            </a:r>
          </a:p>
          <a:p>
            <a:r>
              <a:rPr lang="en-US" dirty="0"/>
              <a:t>LO – RF</a:t>
            </a:r>
          </a:p>
          <a:p>
            <a:r>
              <a:rPr lang="en-US" dirty="0"/>
              <a:t>LO – IF</a:t>
            </a:r>
          </a:p>
          <a:p>
            <a:r>
              <a:rPr lang="en-US" dirty="0"/>
              <a:t>Imaginary Frequency</a:t>
            </a:r>
          </a:p>
        </p:txBody>
      </p:sp>
    </p:spTree>
    <p:extLst>
      <p:ext uri="{BB962C8B-B14F-4D97-AF65-F5344CB8AC3E}">
        <p14:creationId xmlns:p14="http://schemas.microsoft.com/office/powerpoint/2010/main" val="39757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7DEF6E0-F4A7-434D-9EE8-A1DADD05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MENENTUKAN NILAI RF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BB4FE7-9868-4A8B-A5EC-46B5B83AB1F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2106260" y="2193925"/>
            <a:ext cx="7979479" cy="40243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0138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15B80BC-D4B9-4E04-8531-C3805BA9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MENGHITUNG FREKUENSI </a:t>
            </a:r>
            <a:r>
              <a:rPr lang="en-ID" dirty="0"/>
              <a:t>LO</a:t>
            </a:r>
            <a:r>
              <a:rPr lang="en-ID" baseline="-25000" dirty="0"/>
              <a:t>1</a:t>
            </a:r>
            <a:r>
              <a:rPr lang="en-ID" dirty="0"/>
              <a:t> dan LO</a:t>
            </a:r>
            <a:r>
              <a:rPr lang="en-ID" baseline="-25000" dirty="0"/>
              <a:t>2 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96F592B-E8D8-468B-A9E7-D46807BEF6C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3" t="12416" r="10361" b="10910"/>
          <a:stretch/>
        </p:blipFill>
        <p:spPr bwMode="auto">
          <a:xfrm>
            <a:off x="4833347" y="2093976"/>
            <a:ext cx="2525305" cy="20492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Persegi Panjang 4">
            <a:extLst>
              <a:ext uri="{FF2B5EF4-FFF2-40B4-BE49-F238E27FC236}">
                <a16:creationId xmlns:a16="http://schemas.microsoft.com/office/drawing/2014/main" id="{50C83A1C-1F7D-4852-A34E-4631FA56DF04}"/>
              </a:ext>
            </a:extLst>
          </p:cNvPr>
          <p:cNvSpPr/>
          <p:nvPr/>
        </p:nvSpPr>
        <p:spPr>
          <a:xfrm>
            <a:off x="626076" y="4327239"/>
            <a:ext cx="6096000" cy="8735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821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LO1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</a:rPr>
              <a:t>= 106.30+10.7=117MHz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91821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ID" baseline="-25000" dirty="0">
                <a:latin typeface="Times New Roman" panose="02020603050405020304" pitchFamily="18" charset="0"/>
                <a:ea typeface="Calibri" panose="020F0502020204030204" pitchFamily="34" charset="0"/>
              </a:rPr>
              <a:t>LO2</a:t>
            </a:r>
            <a:r>
              <a:rPr lang="en-ID" dirty="0">
                <a:latin typeface="Times New Roman" panose="02020603050405020304" pitchFamily="18" charset="0"/>
                <a:ea typeface="Calibri" panose="020F0502020204030204" pitchFamily="34" charset="0"/>
              </a:rPr>
              <a:t>= 106.30-10.7=95,6MHz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43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DD3759A-F23E-42F3-A309-8F8524F0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AD159FB1-83B7-45FA-BC66-C924D7AB8E8E}"/>
                  </a:ext>
                </a:extLst>
              </p:cNvPr>
              <p:cNvSpPr txBox="1"/>
              <p:nvPr/>
            </p:nvSpPr>
            <p:spPr>
              <a:xfrm>
                <a:off x="3223053" y="5107542"/>
                <a:ext cx="5745892" cy="476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1200" i="1" smtClean="0">
                          <a:latin typeface="Cambria Math" panose="02040503050406030204" pitchFamily="18" charset="0"/>
                        </a:rPr>
                        <m:t>𝐶𝑜𝑛𝑣𝑒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𝑡𝑖𝑜𝑛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ID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𝑃𝑜𝑢𝑡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𝑃𝑖𝑛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D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−38,5  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num>
                        <m:den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−30 </m:t>
                          </m:r>
                          <m:r>
                            <a:rPr lang="en-ID" sz="12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den>
                      </m:f>
                      <m:r>
                        <a:rPr lang="en-ID" sz="1200" i="1">
                          <a:latin typeface="Cambria Math" panose="02040503050406030204" pitchFamily="18" charset="0"/>
                        </a:rPr>
                        <m:t> =8,5 </m:t>
                      </m:r>
                      <m:r>
                        <a:rPr lang="en-ID" sz="1200" i="1">
                          <a:latin typeface="Cambria Math" panose="02040503050406030204" pitchFamily="18" charset="0"/>
                        </a:rPr>
                        <m:t>𝑑𝐵𝑚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AD159FB1-83B7-45FA-BC66-C924D7AB8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053" y="5107542"/>
                <a:ext cx="5745892" cy="476797"/>
              </a:xfrm>
              <a:prstGeom prst="rect">
                <a:avLst/>
              </a:prstGeom>
              <a:blipFill>
                <a:blip r:embed="rId2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3D726EBC-1DF8-4F29-9F74-934747DD1D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2" y="1984375"/>
            <a:ext cx="5324475" cy="2889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640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907ED20-3A69-4005-B447-58D59718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Pengukuran</a:t>
            </a:r>
            <a:r>
              <a:rPr lang="en-US" dirty="0"/>
              <a:t> lo - rf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F990254-0EFB-4BE2-8FAA-5277B5688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36D0E2CA-B8A1-443F-830F-3C070A2602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952" y="2324781"/>
            <a:ext cx="5731510" cy="291147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B7CE419F-207A-4C4F-BEA8-2F67DD0394E7}"/>
                  </a:ext>
                </a:extLst>
              </p:cNvPr>
              <p:cNvSpPr txBox="1"/>
              <p:nvPr/>
            </p:nvSpPr>
            <p:spPr>
              <a:xfrm>
                <a:off x="605695" y="4146804"/>
                <a:ext cx="6759147" cy="1204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smtClean="0">
                          <a:latin typeface="Cambria Math" panose="02040503050406030204" pitchFamily="18" charset="0"/>
                        </a:rPr>
                        <m:t>LO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RF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𝐼𝑠𝑜𝑙𝑎𝑠𝑖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𝑑𝑒𝑛𝑔𝑎𝑛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400" baseline="-25000">
                          <a:latin typeface="Cambria Math" panose="02040503050406030204" pitchFamily="18" charset="0"/>
                        </a:rPr>
                        <m:t>LO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𝐿𝑂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𝑃𝑖𝑛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e>
                          </m:d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−63 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 =63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𝑑𝐵𝑚</m:t>
                      </m:r>
                    </m:oMath>
                  </m:oMathPara>
                </a14:m>
                <a:endParaRPr lang="en-US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RF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𝐼𝑠𝑜𝑙𝑎𝑠𝑖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𝑑𝑒𝑛𝑔𝑎𝑛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400" baseline="-25000">
                          <a:latin typeface="Cambria Math" panose="02040503050406030204" pitchFamily="18" charset="0"/>
                        </a:rPr>
                        <m:t>LO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𝐿𝑂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e>
                          </m:d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𝑃𝑖𝑛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e>
                          </m:d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−57,7 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 =57,7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𝑑𝐵𝑚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B7CE419F-207A-4C4F-BEA8-2F67DD039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95" y="4146804"/>
                <a:ext cx="6759147" cy="12049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0840BFC0-24FC-47AE-950F-80080AFEF9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5425"/>
              </p:ext>
            </p:extLst>
          </p:nvPr>
        </p:nvGraphicFramePr>
        <p:xfrm>
          <a:off x="1065727" y="2530667"/>
          <a:ext cx="4352925" cy="96393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896620">
                  <a:extLst>
                    <a:ext uri="{9D8B030D-6E8A-4147-A177-3AD203B41FA5}">
                      <a16:colId xmlns:a16="http://schemas.microsoft.com/office/drawing/2014/main" val="2938800249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3310721017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107788093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514712378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254053973"/>
                    </a:ext>
                  </a:extLst>
                </a:gridCol>
              </a:tblGrid>
              <a:tr h="240030">
                <a:tc rowSpan="2">
                  <a:txBody>
                    <a:bodyPr/>
                    <a:lstStyle/>
                    <a:p>
                      <a:pPr marL="191770" marR="0" algn="l">
                        <a:lnSpc>
                          <a:spcPct val="106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 err="1">
                          <a:effectLst/>
                        </a:rPr>
                        <a:t>Frek</a:t>
                      </a:r>
                      <a:r>
                        <a:rPr lang="id-ID" sz="1100" dirty="0">
                          <a:effectLst/>
                        </a:rPr>
                        <a:t>. LO</a:t>
                      </a:r>
                      <a:endParaRPr lang="en-US" sz="1100" dirty="0">
                        <a:effectLst/>
                      </a:endParaRPr>
                    </a:p>
                    <a:p>
                      <a:pPr marL="257810" marR="0" algn="l">
                        <a:lnSpc>
                          <a:spcPct val="106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(</a:t>
                      </a:r>
                      <a:r>
                        <a:rPr lang="id-ID" sz="1100" dirty="0" err="1">
                          <a:effectLst/>
                        </a:rPr>
                        <a:t>MHz</a:t>
                      </a:r>
                      <a:r>
                        <a:rPr lang="id-ID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Daya</a:t>
                      </a:r>
                      <a:r>
                        <a:rPr lang="id-ID" sz="1100" spc="-10">
                          <a:effectLst/>
                        </a:rPr>
                        <a:t> </a:t>
                      </a:r>
                      <a:r>
                        <a:rPr lang="id-ID" sz="1100">
                          <a:effectLst/>
                        </a:rPr>
                        <a:t>sinyal</a:t>
                      </a:r>
                      <a:r>
                        <a:rPr lang="id-ID" sz="1100" spc="-5">
                          <a:effectLst/>
                        </a:rPr>
                        <a:t> </a:t>
                      </a:r>
                      <a:r>
                        <a:rPr lang="id-ID" sz="1100">
                          <a:effectLst/>
                        </a:rPr>
                        <a:t>(dBm)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481965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Faktor</a:t>
                      </a:r>
                      <a:r>
                        <a:rPr lang="id-ID" sz="1100" spc="-10">
                          <a:effectLst/>
                        </a:rPr>
                        <a:t> </a:t>
                      </a:r>
                      <a:r>
                        <a:rPr lang="id-ID" sz="1100">
                          <a:effectLst/>
                        </a:rPr>
                        <a:t>osilasi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491463"/>
                  </a:ext>
                </a:extLst>
              </a:tr>
              <a:tr h="240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LO-RF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2095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4630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LO-RF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2725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36201369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3690" marR="30607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-</a:t>
                      </a:r>
                      <a:r>
                        <a:rPr lang="en-GB" sz="11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 marR="0" algn="l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-</a:t>
                      </a:r>
                      <a:r>
                        <a:rPr lang="en-GB" sz="1100">
                          <a:effectLst/>
                        </a:rPr>
                        <a:t>53,8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145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082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53,8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53002178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3690" marR="30607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95,6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-57,7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 marR="0" algn="l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-48,2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145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57,7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082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48,2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601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5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149693D0-81F2-40D2-8F44-A865F5C0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Pengukuran</a:t>
            </a:r>
            <a:r>
              <a:rPr lang="en-US" dirty="0"/>
              <a:t> lo - if</a:t>
            </a:r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2C4090A2-E891-4E58-8353-7DB660E7D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CD9BFF34-66E9-48A0-B1C6-6FB7519114A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14653"/>
            <a:ext cx="5731510" cy="26339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7CFDF09B-367A-4C74-B1BF-2127F909721C}"/>
                  </a:ext>
                </a:extLst>
              </p:cNvPr>
              <p:cNvSpPr txBox="1"/>
              <p:nvPr/>
            </p:nvSpPr>
            <p:spPr>
              <a:xfrm>
                <a:off x="1209415" y="4679006"/>
                <a:ext cx="6845643" cy="994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𝐼𝑠𝑜𝑙𝑎𝑠𝑖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𝑑𝑒𝑛𝑔𝑎𝑛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400" baseline="-25000">
                        <a:latin typeface="Cambria Math" panose="02040503050406030204" pitchFamily="18" charset="0"/>
                      </a:rPr>
                      <m:t>LO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𝐿𝑂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e>
                        </m:d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𝑃𝑖𝑛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e>
                        </m:d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𝑑𝐵𝑚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−53,8 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𝑑𝐵𝑚</m:t>
                        </m:r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</a:rPr>
                      <m:t> =53,8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𝑑𝐵𝑚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LO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IF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𝐼𝑠𝑜𝑙𝑎𝑠𝑖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𝑑𝑒𝑛𝑔𝑎𝑛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sty m:val="p"/>
                      </m:rPr>
                      <a:rPr lang="en-US" sz="1400" baseline="-25000">
                        <a:latin typeface="Cambria Math" panose="02040503050406030204" pitchFamily="18" charset="0"/>
                      </a:rPr>
                      <m:t>LO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𝐿𝑂</m:t>
                            </m:r>
                          </m:sub>
                        </m:s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e>
                        </m:d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𝑃𝑖𝑛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e>
                        </m:d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𝑑𝐵𝑚</m:t>
                        </m:r>
                      </m:num>
                      <m:den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−48,2 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𝑑𝐵𝑚</m:t>
                        </m:r>
                      </m:den>
                    </m:f>
                    <m:r>
                      <a:rPr lang="en-US" sz="1400" i="1">
                        <a:latin typeface="Cambria Math" panose="02040503050406030204" pitchFamily="18" charset="0"/>
                      </a:rPr>
                      <m:t> =48,2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𝑑𝐵𝑚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5" name="Kotak Teks 4">
                <a:extLst>
                  <a:ext uri="{FF2B5EF4-FFF2-40B4-BE49-F238E27FC236}">
                    <a16:creationId xmlns:a16="http://schemas.microsoft.com/office/drawing/2014/main" id="{7CFDF09B-367A-4C74-B1BF-2127F909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415" y="4679006"/>
                <a:ext cx="6845643" cy="994118"/>
              </a:xfrm>
              <a:prstGeom prst="rect">
                <a:avLst/>
              </a:prstGeom>
              <a:blipFill>
                <a:blip r:embed="rId3"/>
                <a:stretch>
                  <a:fillRect l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0AF28387-07EA-42B7-B90B-3F09AAE4B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121928"/>
              </p:ext>
            </p:extLst>
          </p:nvPr>
        </p:nvGraphicFramePr>
        <p:xfrm>
          <a:off x="1209415" y="2867713"/>
          <a:ext cx="4352925" cy="96393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896620">
                  <a:extLst>
                    <a:ext uri="{9D8B030D-6E8A-4147-A177-3AD203B41FA5}">
                      <a16:colId xmlns:a16="http://schemas.microsoft.com/office/drawing/2014/main" val="2938800249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3310721017"/>
                    </a:ext>
                  </a:extLst>
                </a:gridCol>
                <a:gridCol w="864870">
                  <a:extLst>
                    <a:ext uri="{9D8B030D-6E8A-4147-A177-3AD203B41FA5}">
                      <a16:colId xmlns:a16="http://schemas.microsoft.com/office/drawing/2014/main" val="107788093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514712378"/>
                    </a:ext>
                  </a:extLst>
                </a:gridCol>
                <a:gridCol w="862965">
                  <a:extLst>
                    <a:ext uri="{9D8B030D-6E8A-4147-A177-3AD203B41FA5}">
                      <a16:colId xmlns:a16="http://schemas.microsoft.com/office/drawing/2014/main" val="2254053973"/>
                    </a:ext>
                  </a:extLst>
                </a:gridCol>
              </a:tblGrid>
              <a:tr h="240030">
                <a:tc rowSpan="2">
                  <a:txBody>
                    <a:bodyPr/>
                    <a:lstStyle/>
                    <a:p>
                      <a:pPr marL="191770" marR="0" algn="l">
                        <a:lnSpc>
                          <a:spcPct val="106000"/>
                        </a:lnSpc>
                        <a:spcBef>
                          <a:spcPts val="2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 err="1">
                          <a:effectLst/>
                        </a:rPr>
                        <a:t>Frek</a:t>
                      </a:r>
                      <a:r>
                        <a:rPr lang="id-ID" sz="1100" dirty="0">
                          <a:effectLst/>
                        </a:rPr>
                        <a:t>. LO</a:t>
                      </a:r>
                      <a:endParaRPr lang="en-US" sz="1100" dirty="0">
                        <a:effectLst/>
                      </a:endParaRPr>
                    </a:p>
                    <a:p>
                      <a:pPr marL="257810" marR="0" algn="l">
                        <a:lnSpc>
                          <a:spcPct val="106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(</a:t>
                      </a:r>
                      <a:r>
                        <a:rPr lang="id-ID" sz="1100" dirty="0" err="1">
                          <a:effectLst/>
                        </a:rPr>
                        <a:t>MHz</a:t>
                      </a:r>
                      <a:r>
                        <a:rPr lang="id-ID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Daya</a:t>
                      </a:r>
                      <a:r>
                        <a:rPr lang="id-ID" sz="1100" spc="-10">
                          <a:effectLst/>
                        </a:rPr>
                        <a:t> </a:t>
                      </a:r>
                      <a:r>
                        <a:rPr lang="id-ID" sz="1100">
                          <a:effectLst/>
                        </a:rPr>
                        <a:t>sinyal</a:t>
                      </a:r>
                      <a:r>
                        <a:rPr lang="id-ID" sz="1100" spc="-5">
                          <a:effectLst/>
                        </a:rPr>
                        <a:t> </a:t>
                      </a:r>
                      <a:r>
                        <a:rPr lang="id-ID" sz="1100">
                          <a:effectLst/>
                        </a:rPr>
                        <a:t>(dBm)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481965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Faktor</a:t>
                      </a:r>
                      <a:r>
                        <a:rPr lang="id-ID" sz="1100" spc="-10" dirty="0">
                          <a:effectLst/>
                        </a:rPr>
                        <a:t> </a:t>
                      </a:r>
                      <a:r>
                        <a:rPr lang="id-ID" sz="1100" dirty="0">
                          <a:effectLst/>
                        </a:rPr>
                        <a:t>osilasi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491463"/>
                  </a:ext>
                </a:extLst>
              </a:tr>
              <a:tr h="240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LO-RF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2095" marR="0" algn="l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4630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LO-RF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2725" algn="ctr">
                        <a:lnSpc>
                          <a:spcPct val="106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LO-IF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36201369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3690" marR="30607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117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-</a:t>
                      </a:r>
                      <a:r>
                        <a:rPr lang="en-GB" sz="1100" dirty="0">
                          <a:effectLst/>
                        </a:rPr>
                        <a:t>63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 marR="0" algn="l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-</a:t>
                      </a:r>
                      <a:r>
                        <a:rPr lang="en-GB" sz="1100">
                          <a:effectLst/>
                        </a:rPr>
                        <a:t>53,8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145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082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53,8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53002178"/>
                  </a:ext>
                </a:extLst>
              </a:tr>
              <a:tr h="241935">
                <a:tc>
                  <a:txBody>
                    <a:bodyPr/>
                    <a:lstStyle/>
                    <a:p>
                      <a:pPr marL="313690" marR="30607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95,6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272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-57,7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0" marR="0" algn="l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-48,2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 marR="211455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57,7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30" marR="210820" algn="ctr">
                        <a:lnSpc>
                          <a:spcPct val="106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48,2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6016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581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BC84E7A-108D-45F4-896E-1C037E723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Imaginary Frequency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B74A242F-57D7-4D72-9D65-18D499DA5DD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52" y="1651255"/>
            <a:ext cx="5731510" cy="311277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5F6A8F33-69E6-43AB-8DD8-82B56C68EB16}"/>
                  </a:ext>
                </a:extLst>
              </p:cNvPr>
              <p:cNvSpPr txBox="1"/>
              <p:nvPr/>
            </p:nvSpPr>
            <p:spPr>
              <a:xfrm>
                <a:off x="7481929" y="1591056"/>
                <a:ext cx="25207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𝐼𝑀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±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 ×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Kotak Teks 5">
                <a:extLst>
                  <a:ext uri="{FF2B5EF4-FFF2-40B4-BE49-F238E27FC236}">
                    <a16:creationId xmlns:a16="http://schemas.microsoft.com/office/drawing/2014/main" id="{5F6A8F33-69E6-43AB-8DD8-82B56C68E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929" y="1591056"/>
                <a:ext cx="252077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ersegi Panjang 7">
                <a:extLst>
                  <a:ext uri="{FF2B5EF4-FFF2-40B4-BE49-F238E27FC236}">
                    <a16:creationId xmlns:a16="http://schemas.microsoft.com/office/drawing/2014/main" id="{19D23EEE-6B67-41D5-B807-B6EDABD78598}"/>
                  </a:ext>
                </a:extLst>
              </p:cNvPr>
              <p:cNvSpPr/>
              <p:nvPr/>
            </p:nvSpPr>
            <p:spPr>
              <a:xfrm>
                <a:off x="5694318" y="1887864"/>
                <a:ext cx="6096000" cy="84125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270510" marR="0">
                  <a:lnSpc>
                    <a:spcPct val="150000"/>
                  </a:lnSpc>
                  <a:spcBef>
                    <a:spcPts val="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𝐼𝑀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=106,3+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 × 10,7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=127,7 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𝑀𝐻𝑧</m:t>
                      </m:r>
                    </m:oMath>
                  </m:oMathPara>
                </a14:m>
                <a:endParaRPr lang="en-US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0510" marR="0" algn="just">
                  <a:lnSpc>
                    <a:spcPct val="1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ID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ID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𝐼𝑀</m:t>
                          </m:r>
                          <m:r>
                            <a:rPr lang="en-ID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ID" sz="1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=106,3−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ID" sz="1400" i="1"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 × 10,7</m:t>
                          </m:r>
                        </m:e>
                      </m:d>
                      <m:r>
                        <a:rPr lang="en-ID" sz="1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=84,9 </m:t>
                      </m:r>
                      <m:r>
                        <a:rPr lang="en-ID" sz="1400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𝑀𝐻𝑧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Persegi Panjang 7">
                <a:extLst>
                  <a:ext uri="{FF2B5EF4-FFF2-40B4-BE49-F238E27FC236}">
                    <a16:creationId xmlns:a16="http://schemas.microsoft.com/office/drawing/2014/main" id="{19D23EEE-6B67-41D5-B807-B6EDABD78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318" y="1887864"/>
                <a:ext cx="6096000" cy="8412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mpungan Konten 3">
                <a:extLst>
                  <a:ext uri="{FF2B5EF4-FFF2-40B4-BE49-F238E27FC236}">
                    <a16:creationId xmlns:a16="http://schemas.microsoft.com/office/drawing/2014/main" id="{F99DCD9F-9CD8-465D-A093-0D93F892B4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5855210"/>
                  </p:ext>
                </p:extLst>
              </p:nvPr>
            </p:nvGraphicFramePr>
            <p:xfrm>
              <a:off x="7721727" y="3429000"/>
              <a:ext cx="3400425" cy="1837627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1207770">
                      <a:extLst>
                        <a:ext uri="{9D8B030D-6E8A-4147-A177-3AD203B41FA5}">
                          <a16:colId xmlns:a16="http://schemas.microsoft.com/office/drawing/2014/main" val="3477812327"/>
                        </a:ext>
                      </a:extLst>
                    </a:gridCol>
                    <a:gridCol w="1096010">
                      <a:extLst>
                        <a:ext uri="{9D8B030D-6E8A-4147-A177-3AD203B41FA5}">
                          <a16:colId xmlns:a16="http://schemas.microsoft.com/office/drawing/2014/main" val="2658581736"/>
                        </a:ext>
                      </a:extLst>
                    </a:gridCol>
                    <a:gridCol w="1096645">
                      <a:extLst>
                        <a:ext uri="{9D8B030D-6E8A-4147-A177-3AD203B41FA5}">
                          <a16:colId xmlns:a16="http://schemas.microsoft.com/office/drawing/2014/main" val="4262279082"/>
                        </a:ext>
                      </a:extLst>
                    </a:gridCol>
                  </a:tblGrid>
                  <a:tr h="721995">
                    <a:tc>
                      <a:txBody>
                        <a:bodyPr/>
                        <a:lstStyle/>
                        <a:p>
                          <a:pPr marL="349250" marR="120015" indent="-212725" algn="l">
                            <a:lnSpc>
                              <a:spcPct val="150000"/>
                            </a:lnSpc>
                            <a:spcBef>
                              <a:spcPts val="95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Frekuensi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D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𝐼𝑀</m:t>
                                  </m:r>
                                </m:sub>
                              </m:sSub>
                            </m:oMath>
                          </a14:m>
                          <a:r>
                            <a:rPr lang="id-ID" sz="1100">
                              <a:effectLst/>
                            </a:rPr>
                            <a:t> (MHz)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48615" marR="113665" indent="-219710" algn="l">
                            <a:lnSpc>
                              <a:spcPct val="150000"/>
                            </a:lnSpc>
                            <a:spcBef>
                              <a:spcPts val="95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Frekuensi LO</a:t>
                          </a:r>
                          <a:r>
                            <a:rPr lang="id-ID" sz="1100" spc="-260">
                              <a:effectLst/>
                            </a:rPr>
                            <a:t> </a:t>
                          </a:r>
                          <a:r>
                            <a:rPr lang="id-ID" sz="1100">
                              <a:effectLst/>
                            </a:rPr>
                            <a:t>(MHz)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136525" marR="0" indent="215265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Selisih</a:t>
                          </a:r>
                          <a:endParaRPr lang="en-US" sz="1100">
                            <a:effectLst/>
                          </a:endParaRPr>
                        </a:p>
                        <a:p>
                          <a:pPr marL="99695" marR="93980" indent="36195" algn="l">
                            <a:lnSpc>
                              <a:spcPts val="19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Frekuensi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D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ID" sz="1200">
                                      <a:effectLst/>
                                      <a:latin typeface="Cambria Math" panose="02040503050406030204" pitchFamily="18" charset="0"/>
                                    </a:rPr>
                                    <m:t>𝐼𝑀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100" spc="5">
                              <a:effectLst/>
                            </a:rPr>
                            <a:t> </a:t>
                          </a:r>
                          <a:r>
                            <a:rPr lang="id-ID" sz="1100">
                              <a:effectLst/>
                            </a:rPr>
                            <a:t>dan</a:t>
                          </a:r>
                          <a:r>
                            <a:rPr lang="id-ID" sz="1100" spc="-40">
                              <a:effectLst/>
                            </a:rPr>
                            <a:t> </a:t>
                          </a:r>
                          <a:r>
                            <a:rPr lang="id-ID" sz="1100">
                              <a:effectLst/>
                            </a:rPr>
                            <a:t>LO</a:t>
                          </a:r>
                          <a:r>
                            <a:rPr lang="id-ID" sz="1100" spc="-30">
                              <a:effectLst/>
                            </a:rPr>
                            <a:t> </a:t>
                          </a:r>
                          <a:r>
                            <a:rPr lang="id-ID" sz="1100">
                              <a:effectLst/>
                            </a:rPr>
                            <a:t>(MHz)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818919824"/>
                      </a:ext>
                    </a:extLst>
                  </a:tr>
                  <a:tr h="241935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D" sz="1200">
                                    <a:effectLst/>
                                    <a:latin typeface="Cambria Math" panose="02040503050406030204" pitchFamily="18" charset="0"/>
                                  </a:rPr>
                                  <m:t>127,7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11</a:t>
                          </a: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10,7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719627610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D" sz="1200">
                                    <a:effectLst/>
                                    <a:latin typeface="Cambria Math" panose="02040503050406030204" pitchFamily="18" charset="0"/>
                                  </a:rPr>
                                  <m:t>127,7</m:t>
                                </m:r>
                              </m:oMath>
                            </m:oMathPara>
                          </a14:m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9</a:t>
                          </a:r>
                          <a:r>
                            <a:rPr lang="en-GB" sz="1100">
                              <a:effectLst/>
                            </a:rPr>
                            <a:t>5,6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32,1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45367546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8</a:t>
                          </a:r>
                          <a:r>
                            <a:rPr lang="en-GB" sz="1100">
                              <a:effectLst/>
                            </a:rPr>
                            <a:t>4,9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11</a:t>
                          </a: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32,1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901585144"/>
                      </a:ext>
                    </a:extLst>
                  </a:tr>
                  <a:tr h="241935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 dirty="0">
                              <a:effectLst/>
                            </a:rPr>
                            <a:t>8</a:t>
                          </a:r>
                          <a:r>
                            <a:rPr lang="en-GB" sz="1100" dirty="0">
                              <a:effectLst/>
                            </a:rPr>
                            <a:t>4,9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9</a:t>
                          </a:r>
                          <a:r>
                            <a:rPr lang="en-GB" sz="1100">
                              <a:effectLst/>
                            </a:rPr>
                            <a:t>5,6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 dirty="0">
                              <a:effectLst/>
                            </a:rPr>
                            <a:t>10,7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41046071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mpungan Konten 3">
                <a:extLst>
                  <a:ext uri="{FF2B5EF4-FFF2-40B4-BE49-F238E27FC236}">
                    <a16:creationId xmlns:a16="http://schemas.microsoft.com/office/drawing/2014/main" id="{F99DCD9F-9CD8-465D-A093-0D93F892B46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705855210"/>
                  </p:ext>
                </p:extLst>
              </p:nvPr>
            </p:nvGraphicFramePr>
            <p:xfrm>
              <a:off x="7721727" y="3429000"/>
              <a:ext cx="3400425" cy="183794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{5940675A-B579-460E-94D1-54222C63F5DA}</a:tableStyleId>
                  </a:tblPr>
                  <a:tblGrid>
                    <a:gridCol w="1207770">
                      <a:extLst>
                        <a:ext uri="{9D8B030D-6E8A-4147-A177-3AD203B41FA5}">
                          <a16:colId xmlns:a16="http://schemas.microsoft.com/office/drawing/2014/main" val="3477812327"/>
                        </a:ext>
                      </a:extLst>
                    </a:gridCol>
                    <a:gridCol w="1096010">
                      <a:extLst>
                        <a:ext uri="{9D8B030D-6E8A-4147-A177-3AD203B41FA5}">
                          <a16:colId xmlns:a16="http://schemas.microsoft.com/office/drawing/2014/main" val="2658581736"/>
                        </a:ext>
                      </a:extLst>
                    </a:gridCol>
                    <a:gridCol w="1096645">
                      <a:extLst>
                        <a:ext uri="{9D8B030D-6E8A-4147-A177-3AD203B41FA5}">
                          <a16:colId xmlns:a16="http://schemas.microsoft.com/office/drawing/2014/main" val="4262279082"/>
                        </a:ext>
                      </a:extLst>
                    </a:gridCol>
                  </a:tblGrid>
                  <a:tr h="8740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503" t="-5556" r="-181910" b="-111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48615" marR="113665" indent="-219710" algn="l">
                            <a:lnSpc>
                              <a:spcPct val="150000"/>
                            </a:lnSpc>
                            <a:spcBef>
                              <a:spcPts val="95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Frekuensi LO</a:t>
                          </a:r>
                          <a:r>
                            <a:rPr lang="id-ID" sz="1100" spc="-260">
                              <a:effectLst/>
                            </a:rPr>
                            <a:t> </a:t>
                          </a:r>
                          <a:r>
                            <a:rPr lang="id-ID" sz="1100">
                              <a:effectLst/>
                            </a:rPr>
                            <a:t>(MHz)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211111" t="-5556" r="-1111" b="-111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919824"/>
                      </a:ext>
                    </a:extLst>
                  </a:tr>
                  <a:tr h="2419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503" t="-389744" r="-181910" b="-3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11</a:t>
                          </a: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10,7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719627610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5"/>
                          <a:stretch>
                            <a:fillRect l="-503" t="-477500" r="-181910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9</a:t>
                          </a:r>
                          <a:r>
                            <a:rPr lang="en-GB" sz="1100">
                              <a:effectLst/>
                            </a:rPr>
                            <a:t>5,6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32,1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2453675469"/>
                      </a:ext>
                    </a:extLst>
                  </a:tr>
                  <a:tr h="240030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8</a:t>
                          </a:r>
                          <a:r>
                            <a:rPr lang="en-GB" sz="1100">
                              <a:effectLst/>
                            </a:rPr>
                            <a:t>4,9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11</a:t>
                          </a:r>
                          <a:r>
                            <a:rPr lang="en-GB" sz="1100">
                              <a:effectLst/>
                            </a:rPr>
                            <a:t>7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32,1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3901585144"/>
                      </a:ext>
                    </a:extLst>
                  </a:tr>
                  <a:tr h="241935">
                    <a:tc>
                      <a:txBody>
                        <a:bodyPr/>
                        <a:lstStyle/>
                        <a:p>
                          <a:pPr marL="377825" marR="370205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 dirty="0">
                              <a:effectLst/>
                            </a:rPr>
                            <a:t>8</a:t>
                          </a:r>
                          <a:r>
                            <a:rPr lang="en-GB" sz="1100" dirty="0">
                              <a:effectLst/>
                            </a:rPr>
                            <a:t>4,9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377190" marR="372110" algn="ctr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>
                              <a:effectLst/>
                            </a:rPr>
                            <a:t>9</a:t>
                          </a:r>
                          <a:r>
                            <a:rPr lang="en-GB" sz="1100">
                              <a:effectLst/>
                            </a:rPr>
                            <a:t>5,6</a:t>
                          </a:r>
                          <a:endParaRPr lang="en-US" sz="11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L="424815" marR="0" algn="l">
                            <a:lnSpc>
                              <a:spcPct val="106000"/>
                            </a:lnSpc>
                            <a:spcBef>
                              <a:spcPts val="5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id-ID" sz="1100" dirty="0">
                              <a:effectLst/>
                            </a:rPr>
                            <a:t>10,7</a:t>
                          </a:r>
                          <a:endParaRPr lang="en-US" sz="11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/>
                    </a:tc>
                    <a:extLst>
                      <a:ext uri="{0D108BD9-81ED-4DB2-BD59-A6C34878D82A}">
                        <a16:rowId xmlns:a16="http://schemas.microsoft.com/office/drawing/2014/main" val="410460713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20">
            <a:extLst>
              <a:ext uri="{FF2B5EF4-FFF2-40B4-BE49-F238E27FC236}">
                <a16:creationId xmlns:a16="http://schemas.microsoft.com/office/drawing/2014/main" id="{8CE89164-7517-4246-8770-BF73930D81DE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5" t="16604" r="8099" b="15471"/>
          <a:stretch/>
        </p:blipFill>
        <p:spPr bwMode="auto">
          <a:xfrm>
            <a:off x="1088466" y="4764025"/>
            <a:ext cx="4905375" cy="17145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72621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8E973966-C891-4676-8812-E23B0486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kesimpulan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51AE2040-EB1B-4F88-B5F7-A99714EA53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id-ID" i="1" dirty="0" err="1"/>
                  <a:t>Conversion</a:t>
                </a:r>
                <a:r>
                  <a:rPr lang="id-ID" i="1" dirty="0"/>
                  <a:t> </a:t>
                </a:r>
                <a:r>
                  <a:rPr lang="id-ID" i="1" dirty="0" err="1"/>
                  <a:t>Loss</a:t>
                </a:r>
                <a:r>
                  <a:rPr lang="id-ID" i="1" dirty="0"/>
                  <a:t> </a:t>
                </a:r>
                <a:r>
                  <a:rPr lang="id-ID" dirty="0"/>
                  <a:t>merupakan nilai dari sebuah perbandingan antara daya </a:t>
                </a:r>
                <a:r>
                  <a:rPr lang="id-ID" dirty="0" err="1"/>
                  <a:t>output</a:t>
                </a:r>
                <a:r>
                  <a:rPr lang="id-ID" dirty="0"/>
                  <a:t> </a:t>
                </a:r>
                <a:r>
                  <a:rPr lang="id-ID" dirty="0" err="1"/>
                  <a:t>mixer</a:t>
                </a:r>
                <a:r>
                  <a:rPr lang="id-ID" dirty="0"/>
                  <a:t> (Daya IF) terhadap daya </a:t>
                </a:r>
                <a:r>
                  <a:rPr lang="id-ID" dirty="0" err="1"/>
                  <a:t>input</a:t>
                </a:r>
                <a:r>
                  <a:rPr lang="id-ID" dirty="0"/>
                  <a:t> </a:t>
                </a:r>
                <a:r>
                  <a:rPr lang="id-ID" dirty="0" err="1"/>
                  <a:t>mixer</a:t>
                </a:r>
                <a:r>
                  <a:rPr lang="id-ID" dirty="0"/>
                  <a:t> (Daya RF). </a:t>
                </a:r>
                <a:r>
                  <a:rPr lang="en-ID" dirty="0"/>
                  <a:t>Pada parameter </a:t>
                </a:r>
                <a:r>
                  <a:rPr lang="en-ID" dirty="0" err="1"/>
                  <a:t>convertion</a:t>
                </a:r>
                <a:r>
                  <a:rPr lang="en-ID" dirty="0"/>
                  <a:t> loss, </a:t>
                </a:r>
                <a:r>
                  <a:rPr lang="en-ID" dirty="0" err="1"/>
                  <a:t>dapat</a:t>
                </a:r>
                <a:r>
                  <a:rPr lang="en-ID" dirty="0"/>
                  <a:t> </a:t>
                </a:r>
                <a:r>
                  <a:rPr lang="en-ID" dirty="0" err="1"/>
                  <a:t>diketahui</a:t>
                </a:r>
                <a:r>
                  <a:rPr lang="en-ID" dirty="0"/>
                  <a:t> </a:t>
                </a:r>
                <a:r>
                  <a:rPr lang="en-ID" dirty="0" err="1"/>
                  <a:t>bahwa</a:t>
                </a:r>
                <a:r>
                  <a:rPr lang="en-ID" dirty="0"/>
                  <a:t> </a:t>
                </a:r>
                <a:r>
                  <a:rPr lang="en-ID" dirty="0" err="1"/>
                  <a:t>semakin</a:t>
                </a:r>
                <a:r>
                  <a:rPr lang="en-ID" dirty="0"/>
                  <a:t> </a:t>
                </a:r>
                <a:r>
                  <a:rPr lang="en-ID" dirty="0" err="1"/>
                  <a:t>kecil</a:t>
                </a:r>
                <a:r>
                  <a:rPr lang="en-ID" dirty="0"/>
                  <a:t> </a:t>
                </a:r>
                <a:r>
                  <a:rPr lang="en-ID" dirty="0" err="1"/>
                  <a:t>convertion</a:t>
                </a:r>
                <a:r>
                  <a:rPr lang="en-ID" dirty="0"/>
                  <a:t> loss </a:t>
                </a:r>
                <a:r>
                  <a:rPr lang="en-ID" dirty="0" err="1"/>
                  <a:t>maka</a:t>
                </a:r>
                <a:r>
                  <a:rPr lang="en-ID" dirty="0"/>
                  <a:t> </a:t>
                </a:r>
                <a:r>
                  <a:rPr lang="en-ID" dirty="0" err="1"/>
                  <a:t>semakin</a:t>
                </a:r>
                <a:r>
                  <a:rPr lang="en-ID" dirty="0"/>
                  <a:t> </a:t>
                </a:r>
                <a:r>
                  <a:rPr lang="en-ID" dirty="0" err="1"/>
                  <a:t>baik</a:t>
                </a:r>
                <a:r>
                  <a:rPr lang="en-ID" dirty="0"/>
                  <a:t> </a:t>
                </a:r>
                <a:r>
                  <a:rPr lang="en-ID" dirty="0" err="1"/>
                  <a:t>kualitas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sinyal</a:t>
                </a:r>
                <a:r>
                  <a:rPr lang="en-ID" dirty="0"/>
                  <a:t> yang </a:t>
                </a:r>
                <a:r>
                  <a:rPr lang="en-ID" dirty="0" err="1"/>
                  <a:t>diterima</a:t>
                </a:r>
                <a:r>
                  <a:rPr lang="en-ID" dirty="0"/>
                  <a:t>.</a:t>
                </a:r>
                <a:endParaRPr lang="en-US" dirty="0"/>
              </a:p>
              <a:p>
                <a:pPr lvl="0"/>
                <a:r>
                  <a:rPr lang="id-ID" dirty="0"/>
                  <a:t>Faktor isolasi merupakan kemampuan tiap </a:t>
                </a:r>
                <a:r>
                  <a:rPr lang="id-ID" dirty="0" err="1"/>
                  <a:t>port</a:t>
                </a:r>
                <a:r>
                  <a:rPr lang="id-ID" dirty="0"/>
                  <a:t> </a:t>
                </a:r>
                <a:r>
                  <a:rPr lang="id-ID" dirty="0" err="1"/>
                  <a:t>mixer</a:t>
                </a:r>
                <a:r>
                  <a:rPr lang="id-ID" dirty="0"/>
                  <a:t> untuk mengisolasi atau membatasi kontak antar </a:t>
                </a:r>
                <a:r>
                  <a:rPr lang="id-ID" dirty="0" err="1"/>
                  <a:t>port</a:t>
                </a:r>
                <a:r>
                  <a:rPr lang="id-ID" dirty="0"/>
                  <a:t> yang satu dengan yang lain</a:t>
                </a:r>
                <a:r>
                  <a:rPr lang="en-GB" dirty="0"/>
                  <a:t>. </a:t>
                </a:r>
                <a:r>
                  <a:rPr lang="en-GB" dirty="0" err="1"/>
                  <a:t>Dapat</a:t>
                </a:r>
                <a:r>
                  <a:rPr lang="en-GB" dirty="0"/>
                  <a:t> </a:t>
                </a:r>
                <a:r>
                  <a:rPr lang="en-GB" dirty="0" err="1"/>
                  <a:t>diketahui</a:t>
                </a:r>
                <a:r>
                  <a:rPr lang="en-GB" dirty="0"/>
                  <a:t> </a:t>
                </a:r>
                <a:r>
                  <a:rPr lang="en-GB" dirty="0" err="1"/>
                  <a:t>bahwa</a:t>
                </a:r>
                <a:r>
                  <a:rPr lang="en-GB" dirty="0"/>
                  <a:t> </a:t>
                </a:r>
                <a:r>
                  <a:rPr lang="en-ID" dirty="0" err="1"/>
                  <a:t>semakin</a:t>
                </a:r>
                <a:r>
                  <a:rPr lang="en-ID" dirty="0"/>
                  <a:t> </a:t>
                </a:r>
                <a:r>
                  <a:rPr lang="en-ID" dirty="0" err="1"/>
                  <a:t>besar</a:t>
                </a:r>
                <a:r>
                  <a:rPr lang="en-ID" dirty="0"/>
                  <a:t> </a:t>
                </a:r>
                <a:r>
                  <a:rPr lang="en-ID" dirty="0" err="1"/>
                  <a:t>nilai</a:t>
                </a:r>
                <a:r>
                  <a:rPr lang="en-ID" dirty="0"/>
                  <a:t> </a:t>
                </a:r>
                <a:r>
                  <a:rPr lang="en-ID" dirty="0" err="1"/>
                  <a:t>isolasi</a:t>
                </a:r>
                <a:r>
                  <a:rPr lang="en-ID" dirty="0"/>
                  <a:t> </a:t>
                </a:r>
                <a:r>
                  <a:rPr lang="en-ID" dirty="0" err="1"/>
                  <a:t>antar</a:t>
                </a:r>
                <a:r>
                  <a:rPr lang="en-ID" dirty="0"/>
                  <a:t> port mixer </a:t>
                </a:r>
                <a:r>
                  <a:rPr lang="en-ID" dirty="0" err="1"/>
                  <a:t>maka</a:t>
                </a:r>
                <a:r>
                  <a:rPr lang="en-ID" dirty="0"/>
                  <a:t> </a:t>
                </a:r>
                <a:r>
                  <a:rPr lang="en-ID" dirty="0" err="1"/>
                  <a:t>semakin</a:t>
                </a:r>
                <a:r>
                  <a:rPr lang="en-ID" dirty="0"/>
                  <a:t> </a:t>
                </a:r>
                <a:r>
                  <a:rPr lang="en-ID" dirty="0" err="1"/>
                  <a:t>baik</a:t>
                </a:r>
                <a:r>
                  <a:rPr lang="en-ID" dirty="0"/>
                  <a:t> </a:t>
                </a:r>
                <a:r>
                  <a:rPr lang="en-ID" dirty="0" err="1"/>
                  <a:t>kualitas</a:t>
                </a:r>
                <a:r>
                  <a:rPr lang="en-ID" dirty="0"/>
                  <a:t> mixer </a:t>
                </a:r>
                <a:r>
                  <a:rPr lang="en-ID" dirty="0" err="1"/>
                  <a:t>tersebut</a:t>
                </a:r>
                <a:r>
                  <a:rPr lang="en-ID" dirty="0"/>
                  <a:t>.</a:t>
                </a:r>
                <a:endParaRPr lang="en-US" dirty="0"/>
              </a:p>
              <a:p>
                <a:pPr lvl="0"/>
                <a:r>
                  <a:rPr lang="en-ID" dirty="0" err="1"/>
                  <a:t>Frekuensi</a:t>
                </a:r>
                <a:r>
                  <a:rPr lang="en-ID" dirty="0"/>
                  <a:t> </a:t>
                </a:r>
                <a:r>
                  <a:rPr lang="en-ID" dirty="0" err="1"/>
                  <a:t>bayangan</a:t>
                </a:r>
                <a:r>
                  <a:rPr lang="en-ID" dirty="0"/>
                  <a:t> </a:t>
                </a:r>
                <a:r>
                  <a:rPr lang="en-ID" dirty="0" err="1"/>
                  <a:t>dapat</a:t>
                </a:r>
                <a:r>
                  <a:rPr lang="en-ID" dirty="0"/>
                  <a:t> </a:t>
                </a:r>
                <a:r>
                  <a:rPr lang="en-ID" dirty="0" err="1"/>
                  <a:t>menyebabkan</a:t>
                </a:r>
                <a:r>
                  <a:rPr lang="en-ID" dirty="0"/>
                  <a:t> </a:t>
                </a:r>
                <a:r>
                  <a:rPr lang="en-ID" dirty="0" err="1"/>
                  <a:t>adanya</a:t>
                </a:r>
                <a:r>
                  <a:rPr lang="en-ID" dirty="0"/>
                  <a:t> </a:t>
                </a:r>
                <a:r>
                  <a:rPr lang="en-ID" dirty="0" err="1"/>
                  <a:t>interferensi</a:t>
                </a:r>
                <a:r>
                  <a:rPr lang="en-ID" dirty="0"/>
                  <a:t> </a:t>
                </a:r>
                <a:r>
                  <a:rPr lang="en-ID" dirty="0" err="1"/>
                  <a:t>antara</a:t>
                </a:r>
                <a:r>
                  <a:rPr lang="en-ID" dirty="0"/>
                  <a:t> </a:t>
                </a:r>
                <a:r>
                  <a:rPr lang="en-ID" dirty="0" err="1"/>
                  <a:t>sinyal</a:t>
                </a:r>
                <a:r>
                  <a:rPr lang="en-ID" dirty="0"/>
                  <a:t> radio pada </a:t>
                </a:r>
                <a:r>
                  <a:rPr lang="en-ID" dirty="0" err="1"/>
                  <a:t>frekuensu</a:t>
                </a:r>
                <a:r>
                  <a:rPr lang="en-ID" dirty="0"/>
                  <a:t> </a:t>
                </a:r>
                <a:r>
                  <a:rPr lang="en-ID" dirty="0" err="1"/>
                  <a:t>tertentu</a:t>
                </a:r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sinyal</a:t>
                </a:r>
                <a:r>
                  <a:rPr lang="en-ID" dirty="0"/>
                  <a:t> radio </a:t>
                </a:r>
                <a:r>
                  <a:rPr lang="en-ID" dirty="0" err="1"/>
                  <a:t>berbeda</a:t>
                </a:r>
                <a:r>
                  <a:rPr lang="en-ID" dirty="0"/>
                  <a:t>. </a:t>
                </a:r>
                <a:r>
                  <a:rPr lang="en-ID" dirty="0" err="1"/>
                  <a:t>Untuk</a:t>
                </a:r>
                <a:r>
                  <a:rPr lang="en-ID" dirty="0"/>
                  <a:t> </a:t>
                </a:r>
                <a:r>
                  <a:rPr lang="en-ID" dirty="0" err="1"/>
                  <a:t>menghilangkan</a:t>
                </a:r>
                <a:r>
                  <a:rPr lang="en-ID" dirty="0"/>
                  <a:t> </a:t>
                </a:r>
                <a:r>
                  <a:rPr lang="en-ID" dirty="0" err="1"/>
                  <a:t>sinyal</a:t>
                </a:r>
                <a:r>
                  <a:rPr lang="en-ID" dirty="0"/>
                  <a:t> IF pada </a:t>
                </a:r>
                <a:r>
                  <a:rPr lang="en-ID" dirty="0" err="1"/>
                  <a:t>frekuensi</a:t>
                </a:r>
                <a:r>
                  <a:rPr lang="en-ID" dirty="0"/>
                  <a:t> </a:t>
                </a:r>
                <a:r>
                  <a:rPr lang="en-ID" dirty="0" err="1"/>
                  <a:t>bayangan</a:t>
                </a:r>
                <a:r>
                  <a:rPr lang="en-ID" dirty="0"/>
                  <a:t> </a:t>
                </a:r>
                <a:r>
                  <a:rPr lang="en-ID" dirty="0" err="1"/>
                  <a:t>nilai</a:t>
                </a:r>
                <a:r>
                  <a:rPr lang="en-ID" dirty="0"/>
                  <a:t> </a:t>
                </a:r>
                <a:r>
                  <a:rPr lang="en-ID" dirty="0" err="1"/>
                  <a:t>penjumlahan</a:t>
                </a:r>
                <a:r>
                  <a:rPr lang="en-ID" dirty="0"/>
                  <a:t> </a:t>
                </a:r>
                <a:r>
                  <a:rPr lang="en-ID" dirty="0" err="1"/>
                  <a:t>atau</a:t>
                </a:r>
                <a:r>
                  <a:rPr lang="en-ID" dirty="0"/>
                  <a:t> </a:t>
                </a:r>
                <a:r>
                  <a:rPr lang="en-ID" dirty="0" err="1"/>
                  <a:t>pengurangan</a:t>
                </a:r>
                <a:r>
                  <a:rPr lang="en-ID" dirty="0"/>
                  <a:t> </a:t>
                </a:r>
                <a:r>
                  <a:rPr lang="en-ID" dirty="0" err="1"/>
                  <a:t>dari</a:t>
                </a:r>
                <a:r>
                  <a:rPr lang="en-ID" dirty="0"/>
                  <a:t> RF dan LO </a:t>
                </a:r>
                <a:r>
                  <a:rPr lang="en-ID" dirty="0" err="1"/>
                  <a:t>harus</a:t>
                </a:r>
                <a:r>
                  <a:rPr lang="en-ID" dirty="0"/>
                  <a:t> </a:t>
                </a:r>
                <a:r>
                  <a:rPr lang="en-ID" dirty="0" err="1"/>
                  <a:t>menghasilkan</a:t>
                </a:r>
                <a:r>
                  <a:rPr lang="en-ID" dirty="0"/>
                  <a:t> </a:t>
                </a:r>
                <a:r>
                  <a:rPr lang="en-ID" dirty="0" err="1"/>
                  <a:t>frekuensi</a:t>
                </a:r>
                <a:r>
                  <a:rPr lang="en-ID" dirty="0"/>
                  <a:t> IF. </a:t>
                </a:r>
                <a:endParaRPr lang="en-US" dirty="0"/>
              </a:p>
              <a:p>
                <a:r>
                  <a:rPr lang="en-ID" dirty="0"/>
                  <a:t>Hasil </a:t>
                </a:r>
                <a:r>
                  <a:rPr lang="en-ID" dirty="0" err="1"/>
                  <a:t>praktikum</a:t>
                </a:r>
                <a:r>
                  <a:rPr lang="en-ID" dirty="0"/>
                  <a:t> yang </a:t>
                </a:r>
                <a:r>
                  <a:rPr lang="en-ID" dirty="0" err="1"/>
                  <a:t>didapatkan</a:t>
                </a:r>
                <a:r>
                  <a:rPr lang="en-ID" dirty="0"/>
                  <a:t> </a:t>
                </a:r>
                <a:r>
                  <a:rPr lang="en-ID" dirty="0" err="1"/>
                  <a:t>yaitu</a:t>
                </a:r>
                <a:r>
                  <a:rPr lang="en-ID" dirty="0"/>
                  <a:t> </a:t>
                </a:r>
                <a:r>
                  <a:rPr lang="en-ID" i="1" dirty="0"/>
                  <a:t>Conversion Loss</a:t>
                </a:r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D">
                        <a:latin typeface="Cambria Math" panose="02040503050406030204" pitchFamily="18" charset="0"/>
                      </a:rPr>
                      <m:t>LO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D">
                        <a:latin typeface="Cambria Math" panose="02040503050406030204" pitchFamily="18" charset="0"/>
                      </a:rPr>
                      <m:t>RF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𝐼𝑠𝑜𝑙𝑎𝑠𝑖</m:t>
                    </m:r>
                  </m:oMath>
                </a14:m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D">
                        <a:latin typeface="Cambria Math" panose="02040503050406030204" pitchFamily="18" charset="0"/>
                      </a:rPr>
                      <m:t>LO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D">
                        <a:latin typeface="Cambria Math" panose="02040503050406030204" pitchFamily="18" charset="0"/>
                      </a:rPr>
                      <m:t>IF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D" i="1">
                        <a:latin typeface="Cambria Math" panose="02040503050406030204" pitchFamily="18" charset="0"/>
                      </a:rPr>
                      <m:t>𝐼𝑠𝑜𝑙𝑎𝑠𝑖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memiliki</a:t>
                </a:r>
                <a:r>
                  <a:rPr lang="en-ID" dirty="0"/>
                  <a:t> </a:t>
                </a:r>
                <a:r>
                  <a:rPr lang="en-ID" dirty="0" err="1"/>
                  <a:t>hasil</a:t>
                </a:r>
                <a:r>
                  <a:rPr lang="en-ID" dirty="0"/>
                  <a:t> </a:t>
                </a:r>
                <a:r>
                  <a:rPr lang="en-ID" dirty="0" err="1"/>
                  <a:t>sedikit</a:t>
                </a:r>
                <a:r>
                  <a:rPr lang="en-ID" dirty="0"/>
                  <a:t> </a:t>
                </a:r>
                <a:r>
                  <a:rPr lang="en-ID" dirty="0" err="1"/>
                  <a:t>berbeda</a:t>
                </a:r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datasheet Mixer ZAD-1 15542. </a:t>
                </a:r>
                <a:r>
                  <a:rPr lang="en-ID" dirty="0" err="1"/>
                  <a:t>Menurut</a:t>
                </a:r>
                <a:r>
                  <a:rPr lang="en-ID" dirty="0"/>
                  <a:t> kami </a:t>
                </a:r>
                <a:r>
                  <a:rPr lang="en-ID" dirty="0" err="1"/>
                  <a:t>dikarenakan</a:t>
                </a:r>
                <a:r>
                  <a:rPr lang="en-ID" dirty="0"/>
                  <a:t> </a:t>
                </a:r>
                <a:r>
                  <a:rPr lang="en-ID" dirty="0" err="1"/>
                  <a:t>faktor</a:t>
                </a:r>
                <a:r>
                  <a:rPr lang="en-ID" dirty="0"/>
                  <a:t> </a:t>
                </a:r>
                <a:r>
                  <a:rPr lang="en-ID" dirty="0" err="1"/>
                  <a:t>seperti</a:t>
                </a:r>
                <a:r>
                  <a:rPr lang="en-ID" dirty="0"/>
                  <a:t> </a:t>
                </a:r>
                <a:r>
                  <a:rPr lang="en-ID" dirty="0" err="1"/>
                  <a:t>beberapa</a:t>
                </a:r>
                <a:r>
                  <a:rPr lang="en-ID" dirty="0"/>
                  <a:t> </a:t>
                </a:r>
                <a:r>
                  <a:rPr lang="en-ID" dirty="0" err="1"/>
                  <a:t>alat</a:t>
                </a:r>
                <a:r>
                  <a:rPr lang="en-ID" dirty="0"/>
                  <a:t> yang </a:t>
                </a:r>
                <a:r>
                  <a:rPr lang="en-ID" dirty="0" err="1"/>
                  <a:t>sudah</a:t>
                </a:r>
                <a:r>
                  <a:rPr lang="en-ID" dirty="0"/>
                  <a:t> </a:t>
                </a:r>
                <a:r>
                  <a:rPr lang="en-ID" dirty="0" err="1"/>
                  <a:t>tidak</a:t>
                </a:r>
                <a:r>
                  <a:rPr lang="en-ID" dirty="0"/>
                  <a:t> </a:t>
                </a:r>
                <a:r>
                  <a:rPr lang="en-ID" dirty="0" err="1"/>
                  <a:t>bekerja</a:t>
                </a:r>
                <a:r>
                  <a:rPr lang="en-ID" dirty="0"/>
                  <a:t> ideal</a:t>
                </a:r>
                <a:endParaRPr lang="en-US" dirty="0"/>
              </a:p>
            </p:txBody>
          </p:sp>
        </mc:Choice>
        <mc:Fallback xmlns="">
          <p:sp>
            <p:nvSpPr>
              <p:cNvPr id="3" name="Tampungan Konten 2">
                <a:extLst>
                  <a:ext uri="{FF2B5EF4-FFF2-40B4-BE49-F238E27FC236}">
                    <a16:creationId xmlns:a16="http://schemas.microsoft.com/office/drawing/2014/main" id="{51AE2040-EB1B-4F88-B5F7-A99714EA53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7" t="-2273" r="-5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3358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113</TotalTime>
  <Words>521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Century Gothic</vt:lpstr>
      <vt:lpstr>Times New Roman</vt:lpstr>
      <vt:lpstr>Vapor Trail</vt:lpstr>
      <vt:lpstr>KARAKTERISTIK RF MIXER</vt:lpstr>
      <vt:lpstr>TUJUAN</vt:lpstr>
      <vt:lpstr>Pengertian</vt:lpstr>
      <vt:lpstr>Alat &amp; bahan</vt:lpstr>
      <vt:lpstr>Parameter yang diukur</vt:lpstr>
      <vt:lpstr>MENENTUKAN NILAI RF</vt:lpstr>
      <vt:lpstr>MENGHITUNG FREKUENSI LO1 dan LO2 </vt:lpstr>
      <vt:lpstr>Conversion Loss</vt:lpstr>
      <vt:lpstr>Pengukuran lo - rf</vt:lpstr>
      <vt:lpstr>Pengukuran lo - if</vt:lpstr>
      <vt:lpstr>Imaginary Frequency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KARAKTERISTIK RF MIXER</dc:title>
  <dc:creator>Firdaus Surya P</dc:creator>
  <cp:lastModifiedBy>ELITA LESTARI SETIANTO</cp:lastModifiedBy>
  <cp:revision>10</cp:revision>
  <dcterms:created xsi:type="dcterms:W3CDTF">2022-11-20T10:35:41Z</dcterms:created>
  <dcterms:modified xsi:type="dcterms:W3CDTF">2022-11-27T03:03:56Z</dcterms:modified>
</cp:coreProperties>
</file>