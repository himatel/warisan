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4" r:id="rId4"/>
    <p:sldId id="259" r:id="rId5"/>
    <p:sldId id="261" r:id="rId6"/>
    <p:sldId id="262" r:id="rId7"/>
    <p:sldId id="263" r:id="rId8"/>
    <p:sldId id="264" r:id="rId9"/>
    <p:sldId id="275" r:id="rId10"/>
    <p:sldId id="265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30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280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7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63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31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01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254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6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7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7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20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AA4D0-8185-40A4-8FF9-B5DEE94ABB65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3EA29-1C6D-4DD9-9435-89190AD53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93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Prategangan Common Emitter Voltage Divider Bias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40726"/>
            <a:ext cx="9144000" cy="151707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04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931" y="1825625"/>
            <a:ext cx="2174414" cy="42201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Soal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3474" y="1825625"/>
            <a:ext cx="622032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Diketahui: rangkaian prategangan berikut:</a:t>
            </a:r>
          </a:p>
          <a:p>
            <a:r>
              <a:rPr lang="en-US"/>
              <a:t>Vcc=12V</a:t>
            </a:r>
          </a:p>
          <a:p>
            <a:r>
              <a:rPr lang="en-US"/>
              <a:t>Ic=2mA</a:t>
            </a:r>
          </a:p>
          <a:p>
            <a:r>
              <a:rPr lang="en-US"/>
              <a:t>Vce=5V</a:t>
            </a:r>
          </a:p>
          <a:p>
            <a:r>
              <a:rPr lang="en-US">
                <a:solidFill>
                  <a:srgbClr val="FF0000"/>
                </a:solidFill>
              </a:rPr>
              <a:t>asumsikan Ve=Vcc/10 dan IR2=10Ib </a:t>
            </a:r>
            <a:r>
              <a:rPr lang="en-US"/>
              <a:t>untuk menjaga stabilitas bias.</a:t>
            </a:r>
          </a:p>
          <a:p>
            <a:r>
              <a:rPr lang="en-US"/>
              <a:t>Jenis transistor dan Betanya ambil dari “tugas mencari Beta dgn grafik Ic=f(Ib).pptx”.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111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Ditanya: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Berapakah Tegangan Emitor (Ve) dan nilai Resistor Emitor (Re)?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Berapakah Tegangan Kolektor (Vc) dan nilai Resistor Kolektor (Rc)?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Berapakah nilai Resistor R2?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Berapakah nilai Resistor R1?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Gambarkan Garis Beban teori.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/>
              <a:t>Gambarkan posisi Titik Kerja teori.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53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1. Menentukan Tegangan Emitor (Ve) dan Resistor Emitor (Re)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en-US" b="1" dirty="0" err="1">
                <a:solidFill>
                  <a:srgbClr val="FF0000"/>
                </a:solidFill>
              </a:rPr>
              <a:t>Pilih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tegangan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emitor</a:t>
            </a:r>
            <a:r>
              <a:rPr lang="en-US" b="1" dirty="0">
                <a:solidFill>
                  <a:srgbClr val="FF0000"/>
                </a:solidFill>
              </a:rPr>
              <a:t> (Ve) yang </a:t>
            </a:r>
            <a:r>
              <a:rPr lang="en-US" b="1" dirty="0" err="1">
                <a:solidFill>
                  <a:srgbClr val="FF0000"/>
                </a:solidFill>
              </a:rPr>
              <a:t>biasanya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sekitar</a:t>
            </a:r>
            <a:r>
              <a:rPr lang="en-US" b="1" dirty="0">
                <a:solidFill>
                  <a:srgbClr val="FF0000"/>
                </a:solidFill>
              </a:rPr>
              <a:t> 10% </a:t>
            </a:r>
            <a:r>
              <a:rPr lang="en-US" b="1" dirty="0" err="1">
                <a:solidFill>
                  <a:srgbClr val="FF0000"/>
                </a:solidFill>
              </a:rPr>
              <a:t>dari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tegangan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suplai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Vcc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untuk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memberikan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stabilitas</a:t>
            </a:r>
            <a:r>
              <a:rPr lang="en-US" b="1" dirty="0">
                <a:solidFill>
                  <a:srgbClr val="FF0000"/>
                </a:solidFill>
              </a:rPr>
              <a:t> bias: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Ve=0.1×VCC​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Misalnya</a:t>
            </a:r>
            <a:r>
              <a:rPr lang="en-US" dirty="0"/>
              <a:t>,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b="1" dirty="0" err="1"/>
              <a:t>Vcc</a:t>
            </a:r>
            <a:r>
              <a:rPr lang="en-US" b="1" dirty="0"/>
              <a:t> = 12 V 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Ve​=0,1 x 12 V = 1,2 V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b="1" dirty="0"/>
              <a:t>Ve</a:t>
            </a:r>
            <a:r>
              <a:rPr lang="en-US" dirty="0"/>
              <a:t>, resistor </a:t>
            </a:r>
            <a:r>
              <a:rPr lang="en-US" dirty="0" err="1"/>
              <a:t>emitor</a:t>
            </a:r>
            <a:r>
              <a:rPr lang="en-US" dirty="0"/>
              <a:t> </a:t>
            </a:r>
            <a:r>
              <a:rPr lang="en-US" b="1" dirty="0"/>
              <a:t>Re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dihitung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kolektor</a:t>
            </a:r>
            <a:r>
              <a:rPr lang="en-US" dirty="0"/>
              <a:t> yang </a:t>
            </a:r>
            <a:r>
              <a:rPr lang="en-US" dirty="0" err="1"/>
              <a:t>diinginkan</a:t>
            </a:r>
            <a:r>
              <a:rPr lang="en-US" dirty="0"/>
              <a:t> </a:t>
            </a:r>
            <a:r>
              <a:rPr lang="en-US" b="1" dirty="0" err="1"/>
              <a:t>Ic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Re​=Ve​​/</a:t>
            </a:r>
            <a:r>
              <a:rPr lang="en-US" dirty="0" err="1"/>
              <a:t>Ic</a:t>
            </a:r>
            <a:r>
              <a:rPr lang="en-US" dirty="0"/>
              <a:t> = 1,2 V/ 2mA = 600 Ohm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pl-PL" dirty="0"/>
              <a:t>Sebagai contoh, jika </a:t>
            </a:r>
            <a:r>
              <a:rPr lang="pl-PL" b="1" dirty="0"/>
              <a:t>Ic = </a:t>
            </a:r>
            <a:r>
              <a:rPr lang="en-US" b="1" dirty="0"/>
              <a:t>2</a:t>
            </a:r>
            <a:r>
              <a:rPr lang="pl-PL" b="1" dirty="0"/>
              <a:t> mA</a:t>
            </a:r>
            <a:r>
              <a:rPr lang="pl-PL" dirty="0"/>
              <a:t>, maka: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Re= 600 Ohm</a:t>
            </a:r>
          </a:p>
        </p:txBody>
      </p:sp>
    </p:spTree>
    <p:extLst>
      <p:ext uri="{BB962C8B-B14F-4D97-AF65-F5344CB8AC3E}">
        <p14:creationId xmlns:p14="http://schemas.microsoft.com/office/powerpoint/2010/main" val="2334732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2. Menentukan Tegangan Kolektor (Vc) dan Resistor Kolektor (Rc)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/>
              <a:t>kolektor</a:t>
            </a:r>
            <a:r>
              <a:rPr lang="en-US" dirty="0"/>
              <a:t> </a:t>
            </a:r>
            <a:r>
              <a:rPr lang="en-US" b="1" dirty="0" err="1"/>
              <a:t>Vc</a:t>
            </a:r>
            <a:r>
              <a:rPr lang="en-US" dirty="0"/>
              <a:t> </a:t>
            </a:r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dipilih</a:t>
            </a:r>
            <a:r>
              <a:rPr lang="en-US" dirty="0"/>
              <a:t> </a:t>
            </a:r>
            <a:r>
              <a:rPr lang="en-US" dirty="0" err="1"/>
              <a:t>sedemikian</a:t>
            </a:r>
            <a:r>
              <a:rPr lang="en-US" dirty="0"/>
              <a:t> </a:t>
            </a:r>
            <a:r>
              <a:rPr lang="en-US" dirty="0" err="1"/>
              <a:t>rupa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/>
              <a:t>kolektor-emitor</a:t>
            </a:r>
            <a:r>
              <a:rPr lang="en-US" dirty="0"/>
              <a:t> </a:t>
            </a:r>
            <a:r>
              <a:rPr lang="en-US" b="1" dirty="0" err="1"/>
              <a:t>Vce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aktif</a:t>
            </a:r>
            <a:r>
              <a:rPr lang="en-US" dirty="0"/>
              <a:t> transistor: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Vc</a:t>
            </a:r>
            <a:r>
              <a:rPr lang="en-US" dirty="0"/>
              <a:t>​=</a:t>
            </a:r>
            <a:r>
              <a:rPr lang="en-US" dirty="0" err="1"/>
              <a:t>Vce+Ve</a:t>
            </a:r>
            <a:r>
              <a:rPr lang="en-US" dirty="0"/>
              <a:t>​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Jika </a:t>
            </a:r>
            <a:r>
              <a:rPr lang="nl-NL" b="1" dirty="0"/>
              <a:t>Vce = 5 V</a:t>
            </a:r>
            <a:r>
              <a:rPr lang="nl-NL" dirty="0"/>
              <a:t> dan </a:t>
            </a:r>
            <a:r>
              <a:rPr lang="nl-NL" b="1" dirty="0"/>
              <a:t>Ve = 1,2 V</a:t>
            </a:r>
            <a:r>
              <a:rPr lang="nl-NL" dirty="0"/>
              <a:t>, maka: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Vc</a:t>
            </a:r>
            <a:r>
              <a:rPr lang="en-US" dirty="0"/>
              <a:t>​= 5 V + 1,2 V = 6,2 V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b="1" dirty="0" err="1"/>
              <a:t>Vc</a:t>
            </a:r>
            <a:r>
              <a:rPr lang="en-US" dirty="0"/>
              <a:t>, resistor </a:t>
            </a:r>
            <a:r>
              <a:rPr lang="en-US" dirty="0" err="1"/>
              <a:t>kolektor</a:t>
            </a:r>
            <a:r>
              <a:rPr lang="en-US" dirty="0"/>
              <a:t> </a:t>
            </a:r>
            <a:r>
              <a:rPr lang="en-US" b="1" dirty="0" err="1"/>
              <a:t>Rc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dihitung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Rc</a:t>
            </a:r>
            <a:r>
              <a:rPr lang="en-US" dirty="0"/>
              <a:t>=(</a:t>
            </a:r>
            <a:r>
              <a:rPr lang="en-US" dirty="0" err="1"/>
              <a:t>Vcc</a:t>
            </a:r>
            <a:r>
              <a:rPr lang="en-US" dirty="0"/>
              <a:t>−V​c)/</a:t>
            </a:r>
            <a:r>
              <a:rPr lang="en-US" dirty="0" err="1"/>
              <a:t>Ic</a:t>
            </a:r>
            <a:r>
              <a:rPr lang="en-US" dirty="0"/>
              <a:t> = (12 V – 6,2 V)/ 2mA = 2,9K Ohm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nn-NO" dirty="0"/>
              <a:t>Dengan </a:t>
            </a:r>
            <a:r>
              <a:rPr lang="nn-NO" b="1" dirty="0"/>
              <a:t>Vcc = 12 V</a:t>
            </a:r>
            <a:r>
              <a:rPr lang="nn-NO" dirty="0"/>
              <a:t> dan </a:t>
            </a:r>
            <a:r>
              <a:rPr lang="nn-NO" b="1" dirty="0"/>
              <a:t>Vc = 6,2 V</a:t>
            </a:r>
            <a:r>
              <a:rPr lang="nn-NO" dirty="0"/>
              <a:t>, serta </a:t>
            </a:r>
            <a:r>
              <a:rPr lang="nn-NO" b="1" dirty="0"/>
              <a:t>Ic = 2 mA</a:t>
            </a:r>
            <a:r>
              <a:rPr lang="nn-NO"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Rc</a:t>
            </a:r>
            <a:r>
              <a:rPr lang="en-US" dirty="0"/>
              <a:t>​= 2,9K Ohm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065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3. Menentukan R2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b="1" dirty="0"/>
              <a:t>R1</a:t>
            </a:r>
            <a:r>
              <a:rPr lang="en-US" dirty="0"/>
              <a:t> dan </a:t>
            </a:r>
            <a:r>
              <a:rPr lang="en-US" b="1" dirty="0"/>
              <a:t>R2</a:t>
            </a:r>
            <a:r>
              <a:rPr lang="en-US" dirty="0"/>
              <a:t>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menetapkan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basis </a:t>
            </a:r>
            <a:r>
              <a:rPr lang="en-US" b="1" dirty="0"/>
              <a:t>Vb</a:t>
            </a:r>
            <a:r>
              <a:rPr lang="en-US" dirty="0"/>
              <a:t>. </a:t>
            </a:r>
            <a:r>
              <a:rPr lang="en-US" dirty="0" err="1"/>
              <a:t>Tegangan</a:t>
            </a:r>
            <a:r>
              <a:rPr lang="en-US" dirty="0"/>
              <a:t> basis </a:t>
            </a:r>
            <a:r>
              <a:rPr lang="en-US" b="1" dirty="0" err="1"/>
              <a:t>Vb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Vb</a:t>
            </a:r>
            <a:r>
              <a:rPr lang="en-US" dirty="0"/>
              <a:t>​=Ve​+</a:t>
            </a:r>
            <a:r>
              <a:rPr lang="en-US" dirty="0" err="1"/>
              <a:t>Vbe</a:t>
            </a:r>
            <a:r>
              <a:rPr lang="en-US" dirty="0"/>
              <a:t>​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Dengan </a:t>
            </a:r>
            <a:r>
              <a:rPr lang="nl-NL" b="1" dirty="0"/>
              <a:t>Ve = 1,2 V</a:t>
            </a:r>
            <a:r>
              <a:rPr lang="nl-NL" dirty="0"/>
              <a:t> dan </a:t>
            </a:r>
            <a:r>
              <a:rPr lang="nl-NL" b="1" dirty="0"/>
              <a:t>Vbe = 0,7V</a:t>
            </a:r>
            <a:r>
              <a:rPr lang="nl-NL"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Vb</a:t>
            </a:r>
            <a:r>
              <a:rPr lang="en-US" dirty="0"/>
              <a:t>​= 1,2 V + 0,7 V = 1,9 V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003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Kita </a:t>
            </a:r>
            <a:r>
              <a:rPr lang="en-US" b="1" dirty="0" err="1">
                <a:solidFill>
                  <a:srgbClr val="FF0000"/>
                </a:solidFill>
              </a:rPr>
              <a:t>menggunakan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aturan</a:t>
            </a:r>
            <a:r>
              <a:rPr lang="en-US" b="1" dirty="0">
                <a:solidFill>
                  <a:srgbClr val="FF0000"/>
                </a:solidFill>
              </a:rPr>
              <a:t> thumb </a:t>
            </a:r>
            <a:r>
              <a:rPr lang="en-US" b="1" dirty="0" err="1">
                <a:solidFill>
                  <a:srgbClr val="FF0000"/>
                </a:solidFill>
              </a:rPr>
              <a:t>untuk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memilih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arus</a:t>
            </a:r>
            <a:r>
              <a:rPr lang="en-US" b="1" dirty="0">
                <a:solidFill>
                  <a:srgbClr val="FF0000"/>
                </a:solidFill>
              </a:rPr>
              <a:t> yang </a:t>
            </a:r>
            <a:r>
              <a:rPr lang="en-US" b="1" dirty="0" err="1">
                <a:solidFill>
                  <a:srgbClr val="FF0000"/>
                </a:solidFill>
              </a:rPr>
              <a:t>mengalir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melalui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pembagi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tegangan</a:t>
            </a:r>
            <a:r>
              <a:rPr lang="en-US" b="1" dirty="0">
                <a:solidFill>
                  <a:srgbClr val="FF0000"/>
                </a:solidFill>
              </a:rPr>
              <a:t>, </a:t>
            </a:r>
            <a:r>
              <a:rPr lang="en-US" b="1" dirty="0" err="1">
                <a:solidFill>
                  <a:srgbClr val="FF0000"/>
                </a:solidFill>
              </a:rPr>
              <a:t>biasanya</a:t>
            </a:r>
            <a:r>
              <a:rPr lang="en-US" b="1" dirty="0">
                <a:solidFill>
                  <a:srgbClr val="FF0000"/>
                </a:solidFill>
              </a:rPr>
              <a:t> 10 kali </a:t>
            </a:r>
            <a:r>
              <a:rPr lang="en-US" b="1" dirty="0" err="1">
                <a:solidFill>
                  <a:srgbClr val="FF0000"/>
                </a:solidFill>
              </a:rPr>
              <a:t>lebih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besar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dari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arus</a:t>
            </a:r>
            <a:r>
              <a:rPr lang="en-US" b="1" dirty="0">
                <a:solidFill>
                  <a:srgbClr val="FF0000"/>
                </a:solidFill>
              </a:rPr>
              <a:t> basis </a:t>
            </a:r>
            <a:r>
              <a:rPr lang="en-US" b="1" dirty="0" err="1">
                <a:solidFill>
                  <a:srgbClr val="FF0000"/>
                </a:solidFill>
              </a:rPr>
              <a:t>Ib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untuk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menjaga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stabilitas</a:t>
            </a:r>
            <a:r>
              <a:rPr lang="en-US" b="1" dirty="0">
                <a:solidFill>
                  <a:srgbClr val="FF0000"/>
                </a:solidFill>
              </a:rPr>
              <a:t> bias. </a:t>
            </a:r>
            <a:r>
              <a:rPr lang="en-US" b="1" dirty="0" err="1">
                <a:solidFill>
                  <a:srgbClr val="FF0000"/>
                </a:solidFill>
              </a:rPr>
              <a:t>Arus</a:t>
            </a:r>
            <a:r>
              <a:rPr lang="en-US" b="1" dirty="0">
                <a:solidFill>
                  <a:srgbClr val="FF0000"/>
                </a:solidFill>
              </a:rPr>
              <a:t> basis </a:t>
            </a:r>
            <a:r>
              <a:rPr lang="en-US" b="1" dirty="0" err="1">
                <a:solidFill>
                  <a:srgbClr val="FF0000"/>
                </a:solidFill>
              </a:rPr>
              <a:t>Ib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adalah</a:t>
            </a:r>
            <a:r>
              <a:rPr lang="en-US" b="1" dirty="0">
                <a:solidFill>
                  <a:srgbClr val="FF0000"/>
                </a:solidFill>
              </a:rPr>
              <a:t>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Ib</a:t>
            </a:r>
            <a:r>
              <a:rPr lang="en-US" dirty="0"/>
              <a:t>=</a:t>
            </a:r>
            <a:r>
              <a:rPr lang="en-US" dirty="0" err="1"/>
              <a:t>Ic</a:t>
            </a:r>
            <a:r>
              <a:rPr lang="en-US" dirty="0"/>
              <a:t>​​/</a:t>
            </a:r>
            <a:r>
              <a:rPr lang="el-GR" dirty="0"/>
              <a:t>β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b="1" dirty="0" err="1"/>
              <a:t>Ic</a:t>
            </a:r>
            <a:r>
              <a:rPr lang="en-US" b="1" dirty="0"/>
              <a:t> = 2mA </a:t>
            </a:r>
            <a:r>
              <a:rPr lang="en-US" dirty="0"/>
              <a:t>dan </a:t>
            </a:r>
            <a:r>
              <a:rPr lang="el-GR" b="1" dirty="0"/>
              <a:t>β = </a:t>
            </a:r>
            <a:r>
              <a:rPr lang="en-US" b="1" dirty="0"/>
              <a:t>45,6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Ib</a:t>
            </a:r>
            <a:r>
              <a:rPr lang="en-US" dirty="0"/>
              <a:t>= 2mA/45,6​= 43,8 </a:t>
            </a:r>
            <a:r>
              <a:rPr lang="el-GR" dirty="0"/>
              <a:t>μ</a:t>
            </a:r>
            <a:r>
              <a:rPr lang="en-US" dirty="0"/>
              <a:t>A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Arus</a:t>
            </a:r>
            <a:r>
              <a:rPr lang="en-US" dirty="0"/>
              <a:t> yang </a:t>
            </a:r>
            <a:r>
              <a:rPr lang="en-US" dirty="0" err="1"/>
              <a:t>melalui</a:t>
            </a:r>
            <a:r>
              <a:rPr lang="en-US" dirty="0"/>
              <a:t> </a:t>
            </a:r>
            <a:r>
              <a:rPr lang="en-US" dirty="0" err="1"/>
              <a:t>pembagi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/>
              <a:t>biasanya</a:t>
            </a:r>
            <a:r>
              <a:rPr lang="en-US" dirty="0"/>
              <a:t> </a:t>
            </a:r>
            <a:r>
              <a:rPr lang="en-US" dirty="0" err="1"/>
              <a:t>dipilih</a:t>
            </a:r>
            <a:r>
              <a:rPr lang="en-US" dirty="0"/>
              <a:t> 10 kali </a:t>
            </a:r>
            <a:r>
              <a:rPr lang="en-US" b="1" dirty="0" err="1"/>
              <a:t>Ib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IR2​=10×Ib= 10 x 43,8</a:t>
            </a:r>
            <a:r>
              <a:rPr lang="el-GR" sz="2800" i="0" dirty="0">
                <a:solidFill>
                  <a:srgbClr val="4D5156"/>
                </a:solidFill>
                <a:effectLst/>
              </a:rPr>
              <a:t> </a:t>
            </a:r>
            <a:r>
              <a:rPr lang="el-GR" sz="2800" i="0" dirty="0">
                <a:effectLst/>
              </a:rPr>
              <a:t>μ</a:t>
            </a:r>
            <a:r>
              <a:rPr lang="en-US" sz="2800" i="0" dirty="0">
                <a:effectLst/>
              </a:rPr>
              <a:t>A  = 0,43 mA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sv-SE" dirty="0"/>
              <a:t>Dengan </a:t>
            </a:r>
            <a:r>
              <a:rPr lang="sv-SE" b="1" dirty="0"/>
              <a:t>IR2</a:t>
            </a:r>
            <a:r>
              <a:rPr lang="sv-SE" dirty="0"/>
              <a:t> diketahui, kita bisa menghitung nilai </a:t>
            </a:r>
            <a:r>
              <a:rPr lang="sv-SE" b="1" dirty="0"/>
              <a:t>R2</a:t>
            </a:r>
            <a:r>
              <a:rPr lang="sv-SE" dirty="0"/>
              <a:t> sebagai:</a:t>
            </a:r>
          </a:p>
          <a:p>
            <a:pPr marL="0" indent="0">
              <a:buNone/>
            </a:pPr>
            <a:r>
              <a:rPr lang="pt-BR" dirty="0"/>
              <a:t>	R2​=​Vb​​/IR2 = 1,9V / 0,43mA ​= 4,42K Ohm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566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4. Menentukan R1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b="1" dirty="0"/>
              <a:t>R1</a:t>
            </a:r>
            <a:r>
              <a:rPr lang="en-US" dirty="0"/>
              <a:t>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dirty="0" err="1"/>
              <a:t>pembagi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b="1" dirty="0" err="1"/>
              <a:t>Vcc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Vb</a:t>
            </a:r>
            <a:r>
              <a:rPr lang="en-US" dirty="0"/>
              <a:t>=</a:t>
            </a:r>
            <a:r>
              <a:rPr lang="en-US" dirty="0" err="1"/>
              <a:t>Vcc</a:t>
            </a:r>
            <a:r>
              <a:rPr lang="en-US" dirty="0"/>
              <a:t> ​× R2​/(R1+R2)</a:t>
            </a:r>
          </a:p>
          <a:p>
            <a:pPr marL="0" indent="0">
              <a:buNone/>
            </a:pPr>
            <a:endParaRPr lang="fi-FI" dirty="0"/>
          </a:p>
          <a:p>
            <a:pPr marL="0" indent="0">
              <a:buNone/>
            </a:pPr>
            <a:r>
              <a:rPr lang="fi-FI" dirty="0"/>
              <a:t>Dari sini, kita bisa menyusun ulang untuk mendapatkan </a:t>
            </a:r>
            <a:r>
              <a:rPr lang="fi-FI" b="1" dirty="0"/>
              <a:t>R1</a:t>
            </a:r>
            <a:r>
              <a:rPr lang="fi-FI" dirty="0"/>
              <a:t>:</a:t>
            </a:r>
          </a:p>
          <a:p>
            <a:pPr marL="0" indent="0">
              <a:buNone/>
            </a:pPr>
            <a:r>
              <a:rPr lang="pt-BR" dirty="0"/>
              <a:t>	R1​=R2​×((Vcc/Vb​​)−1)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b="1" dirty="0" err="1"/>
              <a:t>Vcc</a:t>
            </a:r>
            <a:r>
              <a:rPr lang="en-US" b="1" dirty="0"/>
              <a:t> = 12</a:t>
            </a:r>
            <a:r>
              <a:rPr lang="en-US" dirty="0"/>
              <a:t> dan </a:t>
            </a:r>
            <a:r>
              <a:rPr lang="en-US" b="1" dirty="0" err="1"/>
              <a:t>Vb</a:t>
            </a:r>
            <a:r>
              <a:rPr lang="en-US" b="1" dirty="0"/>
              <a:t> = 1,9 V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b="1" dirty="0"/>
              <a:t>R2 = 4,42K Ohm</a:t>
            </a:r>
            <a:endParaRPr lang="en-US" dirty="0"/>
          </a:p>
          <a:p>
            <a:pPr marL="0" indent="0">
              <a:buNone/>
            </a:pPr>
            <a:r>
              <a:rPr lang="pt-BR" dirty="0"/>
              <a:t>	R1​= 4,42K ×((12​/1,9)−1)= 23,5K Ohm</a:t>
            </a:r>
          </a:p>
        </p:txBody>
      </p:sp>
    </p:spTree>
    <p:extLst>
      <p:ext uri="{BB962C8B-B14F-4D97-AF65-F5344CB8AC3E}">
        <p14:creationId xmlns:p14="http://schemas.microsoft.com/office/powerpoint/2010/main" val="4034395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710" y="144028"/>
            <a:ext cx="10515600" cy="1325563"/>
          </a:xfrm>
        </p:spPr>
        <p:txBody>
          <a:bodyPr/>
          <a:lstStyle/>
          <a:p>
            <a:r>
              <a:rPr lang="en-US"/>
              <a:t>5 dan 6. </a:t>
            </a:r>
            <a:r>
              <a:rPr lang="en-US" b="1"/>
              <a:t>Titik Kerja dan Garis Beban</a:t>
            </a:r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574868" y="1690688"/>
            <a:ext cx="5375564" cy="3697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b="1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574868" y="2525136"/>
            <a:ext cx="0" cy="2863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574868" y="5388408"/>
            <a:ext cx="47290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9F10EAE-CCD6-486A-8FC1-262205A507B2}"/>
              </a:ext>
            </a:extLst>
          </p:cNvPr>
          <p:cNvCxnSpPr/>
          <p:nvPr/>
        </p:nvCxnSpPr>
        <p:spPr>
          <a:xfrm flipV="1">
            <a:off x="3574868" y="2525136"/>
            <a:ext cx="0" cy="2863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BE1BB22-A3F5-F17C-C939-12812E6F72B5}"/>
              </a:ext>
            </a:extLst>
          </p:cNvPr>
          <p:cNvCxnSpPr/>
          <p:nvPr/>
        </p:nvCxnSpPr>
        <p:spPr>
          <a:xfrm>
            <a:off x="3574868" y="5388408"/>
            <a:ext cx="47290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523B663-2188-88CD-6F4B-FD44FF327825}"/>
              </a:ext>
            </a:extLst>
          </p:cNvPr>
          <p:cNvSpPr txBox="1"/>
          <p:nvPr/>
        </p:nvSpPr>
        <p:spPr>
          <a:xfrm>
            <a:off x="7636559" y="5327134"/>
            <a:ext cx="66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VCC12V</a:t>
            </a:r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198CDF-324A-E90F-849C-2815BF997384}"/>
              </a:ext>
            </a:extLst>
          </p:cNvPr>
          <p:cNvSpPr txBox="1"/>
          <p:nvPr/>
        </p:nvSpPr>
        <p:spPr>
          <a:xfrm>
            <a:off x="5292448" y="5327134"/>
            <a:ext cx="6265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VCE5V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F46A5-13B7-C94B-9C17-7821CF7CE59C}"/>
              </a:ext>
            </a:extLst>
          </p:cNvPr>
          <p:cNvSpPr txBox="1"/>
          <p:nvPr/>
        </p:nvSpPr>
        <p:spPr>
          <a:xfrm>
            <a:off x="2968534" y="3779944"/>
            <a:ext cx="66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Ic</a:t>
            </a:r>
            <a:endParaRPr lang="en-US" b="1" dirty="0"/>
          </a:p>
          <a:p>
            <a:r>
              <a:rPr lang="en-US" b="1" dirty="0"/>
              <a:t>2mA</a:t>
            </a:r>
            <a:endParaRPr lang="en-ID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A4E74A-43FD-4040-F7D6-78C0D64E6FC1}"/>
              </a:ext>
            </a:extLst>
          </p:cNvPr>
          <p:cNvSpPr txBox="1"/>
          <p:nvPr/>
        </p:nvSpPr>
        <p:spPr>
          <a:xfrm>
            <a:off x="2709333" y="2693085"/>
            <a:ext cx="9196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Ic</a:t>
            </a:r>
            <a:r>
              <a:rPr lang="en-US" b="1" dirty="0"/>
              <a:t> </a:t>
            </a:r>
            <a:r>
              <a:rPr lang="en-US" b="1" dirty="0" err="1"/>
              <a:t>maks</a:t>
            </a:r>
            <a:endParaRPr lang="en-US" b="1" dirty="0"/>
          </a:p>
          <a:p>
            <a:r>
              <a:rPr lang="en-US" b="1" dirty="0"/>
              <a:t>3.2mA</a:t>
            </a:r>
            <a:endParaRPr lang="en-ID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A2F9250-AFDF-380D-4B89-AB6AC127F051}"/>
              </a:ext>
            </a:extLst>
          </p:cNvPr>
          <p:cNvCxnSpPr>
            <a:cxnSpLocks/>
          </p:cNvCxnSpPr>
          <p:nvPr/>
        </p:nvCxnSpPr>
        <p:spPr>
          <a:xfrm flipH="1" flipV="1">
            <a:off x="3586737" y="2985614"/>
            <a:ext cx="4337824" cy="2372157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EBB3ABD-3715-689E-2780-3F0213D2E163}"/>
              </a:ext>
            </a:extLst>
          </p:cNvPr>
          <p:cNvCxnSpPr>
            <a:cxnSpLocks/>
          </p:cNvCxnSpPr>
          <p:nvPr/>
        </p:nvCxnSpPr>
        <p:spPr>
          <a:xfrm>
            <a:off x="5559518" y="4103109"/>
            <a:ext cx="0" cy="128529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42B9161-E087-4409-811B-1072789E5BC4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3628934" y="4103109"/>
            <a:ext cx="1930584" cy="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199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Resume </a:t>
            </a:r>
            <a:r>
              <a:rPr lang="en-US" dirty="0" err="1"/>
              <a:t>Jawaban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72209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Prategangan</a:t>
            </a:r>
            <a:r>
              <a:rPr lang="en-US" b="1" dirty="0"/>
              <a:t> (</a:t>
            </a:r>
            <a:r>
              <a:rPr lang="en-US" b="1" dirty="0" err="1"/>
              <a:t>Teori</a:t>
            </a:r>
            <a:r>
              <a:rPr lang="en-US" b="1" dirty="0"/>
              <a:t>):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	Ve= 1,2V, Re = 600 </a:t>
            </a:r>
            <a:r>
              <a:rPr lang="el-GR" b="1" dirty="0"/>
              <a:t>Ω</a:t>
            </a:r>
            <a:endParaRPr lang="el-GR" dirty="0"/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err="1"/>
              <a:t>Vc</a:t>
            </a:r>
            <a:r>
              <a:rPr lang="en-US" b="1" dirty="0"/>
              <a:t>= 6,2V, </a:t>
            </a:r>
            <a:r>
              <a:rPr lang="en-US" b="1" dirty="0" err="1"/>
              <a:t>Rc</a:t>
            </a:r>
            <a:r>
              <a:rPr lang="en-US" b="1" dirty="0"/>
              <a:t> = 2,9K</a:t>
            </a:r>
            <a:r>
              <a:rPr lang="el-GR" b="1" dirty="0"/>
              <a:t>Ω</a:t>
            </a:r>
            <a:endParaRPr lang="el-GR" dirty="0"/>
          </a:p>
          <a:p>
            <a:pPr marL="0" indent="0">
              <a:buNone/>
            </a:pPr>
            <a:r>
              <a:rPr lang="en-US" b="1" dirty="0"/>
              <a:t>	R2= 4,42K</a:t>
            </a:r>
            <a:r>
              <a:rPr lang="el-GR" b="1" dirty="0"/>
              <a:t>Ω</a:t>
            </a:r>
            <a:endParaRPr lang="el-GR" dirty="0"/>
          </a:p>
          <a:p>
            <a:pPr marL="0" indent="0">
              <a:buNone/>
            </a:pPr>
            <a:r>
              <a:rPr lang="en-US" b="1" dirty="0"/>
              <a:t>	R1= 23,5K</a:t>
            </a:r>
            <a:r>
              <a:rPr lang="el-GR" b="1" dirty="0"/>
              <a:t>Ω</a:t>
            </a:r>
            <a:endParaRPr lang="el-GR" dirty="0"/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0" y="1825625"/>
            <a:ext cx="5375564" cy="3697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Garis Beban dan </a:t>
            </a:r>
            <a:r>
              <a:rPr lang="en-US" b="1" dirty="0" err="1"/>
              <a:t>Titik</a:t>
            </a:r>
            <a:r>
              <a:rPr lang="en-US" b="1" dirty="0"/>
              <a:t> </a:t>
            </a:r>
            <a:r>
              <a:rPr lang="en-US" b="1" dirty="0" err="1"/>
              <a:t>Kerja</a:t>
            </a:r>
            <a:r>
              <a:rPr lang="en-US" b="1" dirty="0"/>
              <a:t> (</a:t>
            </a:r>
            <a:r>
              <a:rPr lang="en-US" b="1" dirty="0" err="1"/>
              <a:t>Teori</a:t>
            </a:r>
            <a:r>
              <a:rPr lang="en-US" b="1" dirty="0"/>
              <a:t>):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255CF1E-E6EC-45C3-F359-D00B813BB7E9}"/>
              </a:ext>
            </a:extLst>
          </p:cNvPr>
          <p:cNvCxnSpPr/>
          <p:nvPr/>
        </p:nvCxnSpPr>
        <p:spPr>
          <a:xfrm flipV="1">
            <a:off x="6619842" y="2412595"/>
            <a:ext cx="0" cy="2863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229BCB-CE69-4E64-7173-91819D289363}"/>
              </a:ext>
            </a:extLst>
          </p:cNvPr>
          <p:cNvCxnSpPr/>
          <p:nvPr/>
        </p:nvCxnSpPr>
        <p:spPr>
          <a:xfrm>
            <a:off x="6619842" y="5275867"/>
            <a:ext cx="47290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81C497-EEB1-744F-F0CE-BA806DE6D914}"/>
              </a:ext>
            </a:extLst>
          </p:cNvPr>
          <p:cNvCxnSpPr/>
          <p:nvPr/>
        </p:nvCxnSpPr>
        <p:spPr>
          <a:xfrm flipV="1">
            <a:off x="6619842" y="2412595"/>
            <a:ext cx="0" cy="2863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5AD6B7-F5A2-8CE8-214F-5EBBCFA8FB17}"/>
              </a:ext>
            </a:extLst>
          </p:cNvPr>
          <p:cNvCxnSpPr/>
          <p:nvPr/>
        </p:nvCxnSpPr>
        <p:spPr>
          <a:xfrm>
            <a:off x="6619842" y="5275867"/>
            <a:ext cx="47290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E00B72B-B1CD-04CD-82C7-63633D3B775D}"/>
              </a:ext>
            </a:extLst>
          </p:cNvPr>
          <p:cNvSpPr txBox="1"/>
          <p:nvPr/>
        </p:nvSpPr>
        <p:spPr>
          <a:xfrm>
            <a:off x="10681533" y="5214593"/>
            <a:ext cx="66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VCC12V</a:t>
            </a:r>
            <a:endParaRPr lang="en-ID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C9B5FB-93FC-DA3F-AD58-F33C65299FF2}"/>
              </a:ext>
            </a:extLst>
          </p:cNvPr>
          <p:cNvSpPr txBox="1"/>
          <p:nvPr/>
        </p:nvSpPr>
        <p:spPr>
          <a:xfrm>
            <a:off x="8337422" y="5214593"/>
            <a:ext cx="6265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VCE5V</a:t>
            </a:r>
            <a:endParaRPr lang="en-ID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5D7145-E8C1-8462-20C4-70C16EE60352}"/>
              </a:ext>
            </a:extLst>
          </p:cNvPr>
          <p:cNvSpPr txBox="1"/>
          <p:nvPr/>
        </p:nvSpPr>
        <p:spPr>
          <a:xfrm>
            <a:off x="6013508" y="3667403"/>
            <a:ext cx="66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Ic</a:t>
            </a:r>
            <a:endParaRPr lang="en-US" b="1" dirty="0"/>
          </a:p>
          <a:p>
            <a:r>
              <a:rPr lang="en-US" b="1" dirty="0"/>
              <a:t>2mA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38F154-3E05-3276-1B5B-79B872FFBEE6}"/>
              </a:ext>
            </a:extLst>
          </p:cNvPr>
          <p:cNvSpPr txBox="1"/>
          <p:nvPr/>
        </p:nvSpPr>
        <p:spPr>
          <a:xfrm>
            <a:off x="5754307" y="2580544"/>
            <a:ext cx="9196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Ic</a:t>
            </a:r>
            <a:r>
              <a:rPr lang="en-US" b="1" dirty="0"/>
              <a:t> </a:t>
            </a:r>
            <a:r>
              <a:rPr lang="en-US" b="1" dirty="0" err="1"/>
              <a:t>maks</a:t>
            </a:r>
            <a:endParaRPr lang="en-US" b="1" dirty="0"/>
          </a:p>
          <a:p>
            <a:r>
              <a:rPr lang="en-US" b="1" dirty="0"/>
              <a:t>3.2mA</a:t>
            </a:r>
            <a:endParaRPr lang="en-ID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F24985-0C0D-5724-96A0-AEE9BE999EC4}"/>
              </a:ext>
            </a:extLst>
          </p:cNvPr>
          <p:cNvCxnSpPr>
            <a:cxnSpLocks/>
          </p:cNvCxnSpPr>
          <p:nvPr/>
        </p:nvCxnSpPr>
        <p:spPr>
          <a:xfrm flipH="1" flipV="1">
            <a:off x="6631711" y="2873073"/>
            <a:ext cx="4337824" cy="2372157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AF02EA0-42A2-9727-C077-535B8B26C5E3}"/>
              </a:ext>
            </a:extLst>
          </p:cNvPr>
          <p:cNvCxnSpPr>
            <a:cxnSpLocks/>
          </p:cNvCxnSpPr>
          <p:nvPr/>
        </p:nvCxnSpPr>
        <p:spPr>
          <a:xfrm>
            <a:off x="8604492" y="3990568"/>
            <a:ext cx="0" cy="128529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3844F8-16DB-A30A-9ED1-410585AE9B2A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6673908" y="3990568"/>
            <a:ext cx="1930584" cy="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368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Pengumpulan Tugas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Buatlah</a:t>
            </a:r>
            <a:r>
              <a:rPr lang="en-US" dirty="0"/>
              <a:t> </a:t>
            </a:r>
            <a:r>
              <a:rPr lang="en-US" dirty="0" err="1"/>
              <a:t>jawaban</a:t>
            </a:r>
            <a:r>
              <a:rPr lang="en-US" dirty="0"/>
              <a:t> di file ppt</a:t>
            </a:r>
          </a:p>
          <a:p>
            <a:r>
              <a:rPr lang="en-US" dirty="0" err="1"/>
              <a:t>Penamaan</a:t>
            </a:r>
            <a:r>
              <a:rPr lang="en-US" dirty="0"/>
              <a:t> file: NIM_NamaDepan_Kelas_Prodi_PrateganganCE_VDB.pptx</a:t>
            </a:r>
          </a:p>
          <a:p>
            <a:r>
              <a:rPr lang="en-US" dirty="0" err="1"/>
              <a:t>Kirim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Gdrive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link </a:t>
            </a:r>
            <a:r>
              <a:rPr lang="en-US" dirty="0" err="1"/>
              <a:t>akan</a:t>
            </a:r>
            <a:r>
              <a:rPr lang="en-US" dirty="0"/>
              <a:t> di share di WAG.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774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2018</TotalTime>
  <Words>686</Words>
  <Application>Microsoft Office PowerPoint</Application>
  <PresentationFormat>Widescreen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Prategangan Common Emitter Voltage Divider Bias</vt:lpstr>
      <vt:lpstr>Soal 2</vt:lpstr>
      <vt:lpstr>PowerPoint Presentation</vt:lpstr>
      <vt:lpstr>1. Menentukan Tegangan Emitor (Ve) dan Resistor Emitor (Re)</vt:lpstr>
      <vt:lpstr>2. Menentukan Tegangan Kolektor (Vc) dan Resistor Kolektor (Rc)</vt:lpstr>
      <vt:lpstr>3. Menentukan R2</vt:lpstr>
      <vt:lpstr>PowerPoint Presentation</vt:lpstr>
      <vt:lpstr>4. Menentukan R1</vt:lpstr>
      <vt:lpstr>5 dan 6. Titik Kerja dan Garis Beban</vt:lpstr>
      <vt:lpstr>Resume Jawaban</vt:lpstr>
      <vt:lpstr>Pengumpulan Tugas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ASUS</cp:lastModifiedBy>
  <cp:revision>48</cp:revision>
  <dcterms:created xsi:type="dcterms:W3CDTF">2024-09-01T23:50:21Z</dcterms:created>
  <dcterms:modified xsi:type="dcterms:W3CDTF">2024-09-11T22:24:11Z</dcterms:modified>
</cp:coreProperties>
</file>