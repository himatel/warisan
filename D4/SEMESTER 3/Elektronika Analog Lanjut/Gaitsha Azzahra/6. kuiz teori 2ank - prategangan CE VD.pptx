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57" r:id="rId5"/>
    <p:sldId id="274" r:id="rId6"/>
    <p:sldId id="259" r:id="rId7"/>
    <p:sldId id="261" r:id="rId8"/>
    <p:sldId id="262" r:id="rId9"/>
    <p:sldId id="263" r:id="rId10"/>
    <p:sldId id="264" r:id="rId11"/>
    <p:sldId id="275" r:id="rId12"/>
    <p:sldId id="265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3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8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6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5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A4D0-8185-40A4-8FF9-B5DEE94ABB65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9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Kuiz Teori - Prategangan Common Emitter Voltage Divider Bias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40726"/>
            <a:ext cx="9144000" cy="15170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Tata Tertib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Buatlah jawaban di atas kertas dengan mengikuti langkah-langkah pada file ini dan kumpulkan.</a:t>
            </a:r>
          </a:p>
          <a:p>
            <a:r>
              <a:rPr lang="en-US" smtClean="0"/>
              <a:t>Bukalah gform yang diberikan dan </a:t>
            </a:r>
            <a:r>
              <a:rPr lang="en-US" smtClean="0"/>
              <a:t>isikan jawaban </a:t>
            </a:r>
            <a:r>
              <a:rPr lang="en-US" smtClean="0"/>
              <a:t>di atas kertas tersebut kesitu (link akan di share di WAG).</a:t>
            </a:r>
          </a:p>
        </p:txBody>
      </p:sp>
    </p:spTree>
    <p:extLst>
      <p:ext uri="{BB962C8B-B14F-4D97-AF65-F5344CB8AC3E}">
        <p14:creationId xmlns:p14="http://schemas.microsoft.com/office/powerpoint/2010/main" val="35345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Carilah Beta BC108BP (bukan BC108).</a:t>
            </a:r>
          </a:p>
          <a:p>
            <a:r>
              <a:rPr lang="en-US" smtClean="0"/>
              <a:t>Gunakan Proteus untuk mendapatkan grafik Ic=f(Ib) seperti pada tutorial.</a:t>
            </a:r>
          </a:p>
          <a:p>
            <a:r>
              <a:rPr lang="en-US" smtClean="0"/>
              <a:t>Salin grafik tersebut </a:t>
            </a:r>
            <a:r>
              <a:rPr lang="en-US"/>
              <a:t>di </a:t>
            </a:r>
            <a:r>
              <a:rPr lang="en-US" smtClean="0"/>
              <a:t>kertas jawaban kalian dan hitunglah Betanya.</a:t>
            </a:r>
          </a:p>
          <a:p>
            <a:r>
              <a:rPr lang="en-US" smtClean="0"/>
              <a:t>Kumpulkan file Proteusnya ke gform dengan nama NIM_NamaDepan_Beta108BP.pdsrj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4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31" y="1825625"/>
            <a:ext cx="2174414" cy="42201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Soal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3474" y="1825625"/>
            <a:ext cx="622032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mtClean="0"/>
              <a:t>Diketahui: rangkaian prategangan berikut:</a:t>
            </a:r>
          </a:p>
          <a:p>
            <a:r>
              <a:rPr lang="en-US" smtClean="0"/>
              <a:t>Vcc=12V</a:t>
            </a:r>
          </a:p>
          <a:p>
            <a:r>
              <a:rPr lang="en-US" smtClean="0"/>
              <a:t>Ic=1,5mA</a:t>
            </a:r>
            <a:endParaRPr lang="en-US" smtClean="0"/>
          </a:p>
          <a:p>
            <a:r>
              <a:rPr lang="en-US" smtClean="0"/>
              <a:t>Vce=5V</a:t>
            </a:r>
            <a:endParaRPr lang="en-US" smtClean="0"/>
          </a:p>
          <a:p>
            <a:r>
              <a:rPr lang="en-US" smtClean="0">
                <a:solidFill>
                  <a:srgbClr val="FF0000"/>
                </a:solidFill>
              </a:rPr>
              <a:t>Ve biasanya diasumsikan antara10%-20% Vcc </a:t>
            </a:r>
            <a:r>
              <a:rPr lang="en-US">
                <a:solidFill>
                  <a:srgbClr val="FF0000"/>
                </a:solidFill>
              </a:rPr>
              <a:t>untuk menjaga stabilitas </a:t>
            </a:r>
            <a:r>
              <a:rPr lang="en-US" smtClean="0">
                <a:solidFill>
                  <a:srgbClr val="FF0000"/>
                </a:solidFill>
              </a:rPr>
              <a:t>bias </a:t>
            </a:r>
          </a:p>
          <a:p>
            <a:r>
              <a:rPr lang="en-US" smtClean="0">
                <a:solidFill>
                  <a:srgbClr val="FF0000"/>
                </a:solidFill>
              </a:rPr>
              <a:t>Pada soal ini kita asumsikan </a:t>
            </a:r>
            <a:r>
              <a:rPr lang="en-US" smtClean="0">
                <a:solidFill>
                  <a:srgbClr val="FF0000"/>
                </a:solidFill>
              </a:rPr>
              <a:t>Ve=15%Vcc</a:t>
            </a:r>
            <a:endParaRPr lang="en-US" smtClean="0">
              <a:solidFill>
                <a:srgbClr val="FF0000"/>
              </a:solidFill>
            </a:endParaRPr>
          </a:p>
          <a:p>
            <a:r>
              <a:rPr lang="en-US" smtClean="0">
                <a:solidFill>
                  <a:srgbClr val="FF0000"/>
                </a:solidFill>
              </a:rPr>
              <a:t>IR2 kita asumsikan =10Ib</a:t>
            </a:r>
            <a:r>
              <a:rPr lang="en-US" smtClean="0"/>
              <a:t>.</a:t>
            </a:r>
          </a:p>
          <a:p>
            <a:r>
              <a:rPr lang="en-US" smtClean="0"/>
              <a:t>Transistor BC108</a:t>
            </a:r>
          </a:p>
          <a:p>
            <a:r>
              <a:rPr lang="en-US" smtClean="0"/>
              <a:t>Beta 260</a:t>
            </a:r>
            <a:endParaRPr lang="en-US" smtClean="0"/>
          </a:p>
          <a:p>
            <a:endParaRPr lang="en-US"/>
          </a:p>
          <a:p>
            <a:endParaRPr lang="en-US" smtClean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1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mtClean="0"/>
              <a:t>Ditanya: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Berapakah Tegangan </a:t>
            </a:r>
            <a:r>
              <a:rPr lang="en-US" b="1"/>
              <a:t>Emitor (Ve</a:t>
            </a:r>
            <a:r>
              <a:rPr lang="en-US" b="1" smtClean="0"/>
              <a:t>) dan nilai Resistor </a:t>
            </a:r>
            <a:r>
              <a:rPr lang="en-US" b="1"/>
              <a:t>Emitor (Re</a:t>
            </a:r>
            <a:r>
              <a:rPr lang="en-US" b="1" smtClean="0"/>
              <a:t>)?</a:t>
            </a:r>
            <a:endParaRPr lang="en-US" b="1"/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Berapakah Tegangan </a:t>
            </a:r>
            <a:r>
              <a:rPr lang="en-US" b="1"/>
              <a:t>Kolektor (</a:t>
            </a:r>
            <a:r>
              <a:rPr lang="en-US" b="1" smtClean="0"/>
              <a:t>Vc) dan </a:t>
            </a:r>
            <a:r>
              <a:rPr lang="en-US" b="1"/>
              <a:t>nilai </a:t>
            </a:r>
            <a:r>
              <a:rPr lang="en-US" b="1" smtClean="0"/>
              <a:t>Resistor </a:t>
            </a:r>
            <a:r>
              <a:rPr lang="en-US" b="1"/>
              <a:t>Kolektor (Rc</a:t>
            </a:r>
            <a:r>
              <a:rPr lang="en-US" b="1" smtClean="0"/>
              <a:t>)?</a:t>
            </a:r>
            <a:endParaRPr lang="en-US" b="1"/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Berapakah </a:t>
            </a:r>
            <a:r>
              <a:rPr lang="en-US" b="1"/>
              <a:t>nilai </a:t>
            </a:r>
            <a:r>
              <a:rPr lang="en-US" b="1" smtClean="0"/>
              <a:t>Resistor R2?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Berapakah </a:t>
            </a:r>
            <a:r>
              <a:rPr lang="en-US" b="1"/>
              <a:t>nilai </a:t>
            </a:r>
            <a:r>
              <a:rPr lang="en-US" b="1" smtClean="0"/>
              <a:t>Resistor R1?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Gambarkan Garis Beban </a:t>
            </a:r>
            <a:r>
              <a:rPr lang="en-US" b="1" smtClean="0"/>
              <a:t>teori dan Titik Kerja </a:t>
            </a:r>
            <a:r>
              <a:rPr lang="en-US" b="1" smtClean="0"/>
              <a:t>teori</a:t>
            </a:r>
            <a:r>
              <a:rPr lang="en-US" b="1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Simulasikan rangkaian prategangannya di Proteus.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5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1</a:t>
            </a:r>
            <a:r>
              <a:rPr lang="en-US" b="1" smtClean="0"/>
              <a:t>. Menentukan Tegangan Emitor (Ve) dan Resistor Emitor (Re)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mtClean="0"/>
              <a:t>	</a:t>
            </a:r>
            <a:r>
              <a:rPr lang="en-US" smtClean="0"/>
              <a:t>Ve=...×VCC</a:t>
            </a:r>
            <a:r>
              <a:rPr lang="en-US" smtClean="0"/>
              <a:t>​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Misalnya, jika </a:t>
            </a:r>
            <a:r>
              <a:rPr lang="en-US" b="1" smtClean="0"/>
              <a:t>Vcc = </a:t>
            </a:r>
            <a:r>
              <a:rPr lang="en-US" b="1" smtClean="0"/>
              <a:t>...</a:t>
            </a:r>
            <a:r>
              <a:rPr lang="en-US" smtClean="0"/>
              <a:t>, </a:t>
            </a:r>
            <a:r>
              <a:rPr lang="en-US" smtClean="0"/>
              <a:t>maka:</a:t>
            </a:r>
          </a:p>
          <a:p>
            <a:pPr marL="0" indent="0">
              <a:buNone/>
            </a:pPr>
            <a:r>
              <a:rPr lang="en-US" smtClean="0"/>
              <a:t>	Ve​</a:t>
            </a:r>
            <a:r>
              <a:rPr lang="en-US" smtClean="0"/>
              <a:t>=... x ... = </a:t>
            </a:r>
            <a:r>
              <a:rPr lang="en-US" smtClean="0">
                <a:solidFill>
                  <a:srgbClr val="FF0000"/>
                </a:solidFill>
              </a:rPr>
              <a:t>...</a:t>
            </a:r>
            <a:endParaRPr lang="en-US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mtClean="0"/>
              <a:t>Setelah mengetahui </a:t>
            </a:r>
            <a:r>
              <a:rPr lang="en-US" b="1" smtClean="0"/>
              <a:t>Ve</a:t>
            </a:r>
            <a:r>
              <a:rPr lang="en-US" smtClean="0"/>
              <a:t>, resistor emitor </a:t>
            </a:r>
            <a:r>
              <a:rPr lang="en-US" b="1" smtClean="0"/>
              <a:t>Re</a:t>
            </a:r>
            <a:r>
              <a:rPr lang="en-US" smtClean="0"/>
              <a:t> dapat dihitung menggunakan arus kolektor yang diinginkan </a:t>
            </a:r>
            <a:r>
              <a:rPr lang="en-US" b="1" smtClean="0"/>
              <a:t>Ic</a:t>
            </a:r>
            <a:r>
              <a:rPr lang="en-US" smtClean="0"/>
              <a:t>:</a:t>
            </a:r>
          </a:p>
          <a:p>
            <a:pPr marL="0" indent="0">
              <a:buNone/>
            </a:pPr>
            <a:r>
              <a:rPr lang="en-US" smtClean="0"/>
              <a:t>	Re​=Ve​​/Ic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pl-PL" smtClean="0"/>
              <a:t>Sebagai contoh, jika </a:t>
            </a:r>
            <a:r>
              <a:rPr lang="pl-PL" b="1" smtClean="0"/>
              <a:t>Ic = </a:t>
            </a:r>
            <a:r>
              <a:rPr lang="en-US" b="1" smtClean="0"/>
              <a:t>... ,</a:t>
            </a:r>
            <a:r>
              <a:rPr lang="pl-PL" smtClean="0"/>
              <a:t> </a:t>
            </a:r>
            <a:r>
              <a:rPr lang="pl-PL" smtClean="0"/>
              <a:t>maka:</a:t>
            </a:r>
            <a:endParaRPr lang="en-US" smtClean="0"/>
          </a:p>
          <a:p>
            <a:pPr marL="0" indent="0">
              <a:buNone/>
            </a:pPr>
            <a:r>
              <a:rPr lang="en-US" smtClean="0"/>
              <a:t>	Re= </a:t>
            </a:r>
            <a:r>
              <a:rPr lang="en-US" smtClean="0"/>
              <a:t>... / ... = </a:t>
            </a:r>
            <a:r>
              <a:rPr lang="en-US" smtClean="0">
                <a:solidFill>
                  <a:srgbClr val="FF0000"/>
                </a:solidFill>
              </a:rPr>
              <a:t>.... </a:t>
            </a:r>
            <a:r>
              <a:rPr lang="en-US" smtClean="0"/>
              <a:t>Ohm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3473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2</a:t>
            </a:r>
            <a:r>
              <a:rPr lang="en-US" b="1" smtClean="0"/>
              <a:t>. Menentukan Tegangan Kolektor (Vc) dan Resistor Kolektor (Rc)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mtClean="0"/>
              <a:t>Tegangan kolektor </a:t>
            </a:r>
            <a:r>
              <a:rPr lang="en-US" b="1" smtClean="0"/>
              <a:t>Vc</a:t>
            </a:r>
            <a:r>
              <a:rPr lang="en-US" smtClean="0"/>
              <a:t> biasanya dipilih sedemikian rupa sehingga tegangan kolektor-emitor </a:t>
            </a:r>
            <a:r>
              <a:rPr lang="en-US" b="1" smtClean="0"/>
              <a:t>Vce</a:t>
            </a:r>
            <a:r>
              <a:rPr lang="en-US" smtClean="0"/>
              <a:t> sesuai dengan daerah aktif transistor:</a:t>
            </a:r>
          </a:p>
          <a:p>
            <a:pPr marL="0" indent="0">
              <a:buNone/>
            </a:pPr>
            <a:r>
              <a:rPr lang="en-US" smtClean="0"/>
              <a:t>	Vc​=Vce+Ve​</a:t>
            </a:r>
          </a:p>
          <a:p>
            <a:pPr marL="0" indent="0">
              <a:buNone/>
            </a:pPr>
            <a:endParaRPr lang="nl-NL" smtClean="0"/>
          </a:p>
          <a:p>
            <a:pPr marL="0" indent="0">
              <a:buNone/>
            </a:pPr>
            <a:r>
              <a:rPr lang="nl-NL" smtClean="0"/>
              <a:t>Jika </a:t>
            </a:r>
            <a:r>
              <a:rPr lang="nl-NL" b="1" smtClean="0"/>
              <a:t>Vce = </a:t>
            </a:r>
            <a:r>
              <a:rPr lang="nl-NL" b="1" smtClean="0"/>
              <a:t>... </a:t>
            </a:r>
            <a:r>
              <a:rPr lang="nl-NL" smtClean="0"/>
              <a:t>dan </a:t>
            </a:r>
            <a:r>
              <a:rPr lang="nl-NL" b="1" smtClean="0"/>
              <a:t>Ve </a:t>
            </a:r>
            <a:r>
              <a:rPr lang="nl-NL" b="1" smtClean="0"/>
              <a:t>= ... </a:t>
            </a:r>
            <a:r>
              <a:rPr lang="nl-NL" smtClean="0"/>
              <a:t>, </a:t>
            </a:r>
            <a:r>
              <a:rPr lang="nl-NL" smtClean="0"/>
              <a:t>maka:</a:t>
            </a:r>
          </a:p>
          <a:p>
            <a:pPr marL="0" indent="0">
              <a:buNone/>
            </a:pPr>
            <a:r>
              <a:rPr lang="en-US" smtClean="0"/>
              <a:t>	Vc​=</a:t>
            </a:r>
            <a:r>
              <a:rPr lang="en-US"/>
              <a:t> </a:t>
            </a:r>
            <a:r>
              <a:rPr lang="en-US" smtClean="0"/>
              <a:t>... + </a:t>
            </a:r>
            <a:r>
              <a:rPr lang="en-US" smtClean="0"/>
              <a:t>... </a:t>
            </a:r>
            <a:r>
              <a:rPr lang="en-US" smtClean="0"/>
              <a:t>= </a:t>
            </a:r>
            <a:r>
              <a:rPr lang="en-US" smtClean="0">
                <a:solidFill>
                  <a:srgbClr val="FF0000"/>
                </a:solidFill>
              </a:rPr>
              <a:t>... </a:t>
            </a:r>
            <a:endParaRPr lang="en-US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Setelah mengetahui </a:t>
            </a:r>
            <a:r>
              <a:rPr lang="en-US" b="1" smtClean="0"/>
              <a:t>Vc</a:t>
            </a:r>
            <a:r>
              <a:rPr lang="en-US" smtClean="0"/>
              <a:t>, resistor kolektor </a:t>
            </a:r>
            <a:r>
              <a:rPr lang="en-US" b="1" smtClean="0"/>
              <a:t>Rc</a:t>
            </a:r>
            <a:r>
              <a:rPr lang="en-US" smtClean="0"/>
              <a:t> dapat dihitung sebagai berikut:</a:t>
            </a:r>
          </a:p>
          <a:p>
            <a:pPr marL="0" indent="0">
              <a:buNone/>
            </a:pPr>
            <a:r>
              <a:rPr lang="en-US" smtClean="0"/>
              <a:t>	Rc=(Vcc−V​c)/Ic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nn-NO" smtClean="0"/>
              <a:t>Dengan </a:t>
            </a:r>
            <a:r>
              <a:rPr lang="nn-NO" b="1" smtClean="0"/>
              <a:t>Vcc = </a:t>
            </a:r>
            <a:r>
              <a:rPr lang="nn-NO" b="1" smtClean="0"/>
              <a:t>...</a:t>
            </a:r>
            <a:r>
              <a:rPr lang="nn-NO" smtClean="0"/>
              <a:t> </a:t>
            </a:r>
            <a:r>
              <a:rPr lang="nn-NO" smtClean="0"/>
              <a:t>dan </a:t>
            </a:r>
            <a:r>
              <a:rPr lang="nn-NO" b="1" smtClean="0"/>
              <a:t>Vc = </a:t>
            </a:r>
            <a:r>
              <a:rPr lang="nn-NO" b="1" smtClean="0"/>
              <a:t>...</a:t>
            </a:r>
            <a:r>
              <a:rPr lang="nn-NO" smtClean="0"/>
              <a:t>, </a:t>
            </a:r>
            <a:r>
              <a:rPr lang="nn-NO" smtClean="0"/>
              <a:t>serta </a:t>
            </a:r>
            <a:r>
              <a:rPr lang="nn-NO" b="1" smtClean="0"/>
              <a:t>Ic = </a:t>
            </a:r>
            <a:r>
              <a:rPr lang="nn-NO" b="1"/>
              <a:t> </a:t>
            </a:r>
            <a:r>
              <a:rPr lang="nn-NO" b="1" smtClean="0"/>
              <a:t>...</a:t>
            </a:r>
            <a:r>
              <a:rPr lang="nn-NO" smtClean="0"/>
              <a:t>:</a:t>
            </a:r>
            <a:endParaRPr lang="nn-NO" smtClean="0"/>
          </a:p>
          <a:p>
            <a:pPr marL="0" indent="0">
              <a:buNone/>
            </a:pPr>
            <a:r>
              <a:rPr lang="en-US" smtClean="0"/>
              <a:t>	Rc​= </a:t>
            </a:r>
            <a:r>
              <a:rPr lang="en-US" smtClean="0"/>
              <a:t>(</a:t>
            </a:r>
            <a:r>
              <a:rPr lang="en-US" smtClean="0"/>
              <a:t>... </a:t>
            </a:r>
            <a:r>
              <a:rPr lang="en-US" smtClean="0"/>
              <a:t>- ...)/ ... </a:t>
            </a:r>
            <a:r>
              <a:rPr lang="en-US" smtClean="0"/>
              <a:t>= </a:t>
            </a:r>
            <a:r>
              <a:rPr lang="en-US" smtClean="0">
                <a:solidFill>
                  <a:srgbClr val="FF0000"/>
                </a:solidFill>
              </a:rPr>
              <a:t>... </a:t>
            </a:r>
            <a:endParaRPr lang="en-US" smtClean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6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3</a:t>
            </a:r>
            <a:r>
              <a:rPr lang="en-US" b="1" smtClean="0"/>
              <a:t>. Menentukan R2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Untuk menentukan </a:t>
            </a:r>
            <a:r>
              <a:rPr lang="en-US" b="1" smtClean="0"/>
              <a:t>R1</a:t>
            </a:r>
            <a:r>
              <a:rPr lang="en-US" smtClean="0"/>
              <a:t> dan </a:t>
            </a:r>
            <a:r>
              <a:rPr lang="en-US" b="1" smtClean="0"/>
              <a:t>R2</a:t>
            </a:r>
            <a:r>
              <a:rPr lang="en-US" smtClean="0"/>
              <a:t>, kita perlu menetapkan tegangan basis </a:t>
            </a:r>
            <a:r>
              <a:rPr lang="en-US" b="1" smtClean="0"/>
              <a:t>Vb</a:t>
            </a:r>
            <a:r>
              <a:rPr lang="en-US" smtClean="0"/>
              <a:t>. Tegangan basis </a:t>
            </a:r>
            <a:r>
              <a:rPr lang="en-US" b="1" smtClean="0"/>
              <a:t>Vb</a:t>
            </a:r>
            <a:r>
              <a:rPr lang="en-US" smtClean="0"/>
              <a:t> adalah:</a:t>
            </a:r>
          </a:p>
          <a:p>
            <a:pPr marL="0" indent="0">
              <a:buNone/>
            </a:pPr>
            <a:r>
              <a:rPr lang="en-US" smtClean="0"/>
              <a:t>	Vb​=Ve​+Vbe​</a:t>
            </a:r>
          </a:p>
          <a:p>
            <a:pPr marL="0" indent="0">
              <a:buNone/>
            </a:pPr>
            <a:endParaRPr lang="nl-NL" smtClean="0"/>
          </a:p>
          <a:p>
            <a:pPr marL="0" indent="0">
              <a:buNone/>
            </a:pPr>
            <a:r>
              <a:rPr lang="nl-NL" smtClean="0"/>
              <a:t>Dengan </a:t>
            </a:r>
            <a:r>
              <a:rPr lang="nl-NL" b="1" smtClean="0"/>
              <a:t>Ve = </a:t>
            </a:r>
            <a:r>
              <a:rPr lang="nl-NL" b="1" smtClean="0"/>
              <a:t>... </a:t>
            </a:r>
            <a:r>
              <a:rPr lang="nl-NL" smtClean="0"/>
              <a:t>dan </a:t>
            </a:r>
            <a:r>
              <a:rPr lang="nl-NL" b="1" smtClean="0"/>
              <a:t>Vbe = </a:t>
            </a:r>
            <a:r>
              <a:rPr lang="nl-NL" b="1" smtClean="0"/>
              <a:t>... </a:t>
            </a:r>
            <a:r>
              <a:rPr lang="nl-NL" smtClean="0"/>
              <a:t>:</a:t>
            </a:r>
            <a:endParaRPr lang="nl-NL" smtClean="0"/>
          </a:p>
          <a:p>
            <a:pPr marL="0" indent="0">
              <a:buNone/>
            </a:pPr>
            <a:r>
              <a:rPr lang="en-US" smtClean="0"/>
              <a:t>	Vb​= </a:t>
            </a:r>
            <a:r>
              <a:rPr lang="en-US" smtClean="0"/>
              <a:t>... </a:t>
            </a:r>
            <a:r>
              <a:rPr lang="en-US" smtClean="0"/>
              <a:t>+ ... = </a:t>
            </a:r>
            <a:r>
              <a:rPr lang="en-US" smtClean="0">
                <a:solidFill>
                  <a:srgbClr val="FF0000"/>
                </a:solidFill>
              </a:rPr>
              <a:t>...</a:t>
            </a:r>
            <a:endParaRPr lang="en-US" smtClean="0">
              <a:solidFill>
                <a:srgbClr val="FF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03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Kita menggunakan aturan thumb untuk memilih arus yang mengalir melalui pembagi tegangan, biasanya 10 kali lebih besar dari arus basis Ib untuk menjaga stabilitas bias. Arus basis Ib adalah:</a:t>
            </a:r>
          </a:p>
          <a:p>
            <a:endParaRPr lang="en-US" smtClean="0"/>
          </a:p>
          <a:p>
            <a:pPr marL="0" indent="0">
              <a:buNone/>
            </a:pPr>
            <a:r>
              <a:rPr lang="en-US" smtClean="0"/>
              <a:t>	Ib=Ic​​/</a:t>
            </a:r>
            <a:r>
              <a:rPr lang="el-GR" smtClean="0"/>
              <a:t>β</a:t>
            </a:r>
            <a:endParaRPr lang="en-US" smtClean="0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Dengan </a:t>
            </a:r>
            <a:r>
              <a:rPr lang="en-US" b="1" smtClean="0"/>
              <a:t>Ic = </a:t>
            </a:r>
            <a:r>
              <a:rPr lang="en-US" b="1" smtClean="0"/>
              <a:t>... </a:t>
            </a:r>
            <a:r>
              <a:rPr lang="en-US" smtClean="0"/>
              <a:t>dan </a:t>
            </a:r>
            <a:r>
              <a:rPr lang="el-GR" b="1" smtClean="0"/>
              <a:t>β = </a:t>
            </a:r>
            <a:r>
              <a:rPr lang="en-US" b="1" smtClean="0"/>
              <a:t>...</a:t>
            </a:r>
            <a:endParaRPr lang="en-US" smtClean="0"/>
          </a:p>
          <a:p>
            <a:pPr marL="0" indent="0">
              <a:buNone/>
            </a:pPr>
            <a:r>
              <a:rPr lang="en-US" smtClean="0"/>
              <a:t>	Ib= </a:t>
            </a:r>
            <a:r>
              <a:rPr lang="en-US" smtClean="0"/>
              <a:t>... </a:t>
            </a:r>
            <a:r>
              <a:rPr lang="en-US" smtClean="0"/>
              <a:t>/ ... </a:t>
            </a:r>
            <a:r>
              <a:rPr lang="en-US" smtClean="0"/>
              <a:t>​= </a:t>
            </a:r>
            <a:r>
              <a:rPr lang="en-US" smtClean="0">
                <a:solidFill>
                  <a:srgbClr val="FF0000"/>
                </a:solidFill>
              </a:rPr>
              <a:t>...</a:t>
            </a:r>
            <a:endParaRPr lang="en-US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mtClean="0"/>
              <a:t>Arus yang melalui pembagi tegangan biasanya dipilih </a:t>
            </a:r>
            <a:r>
              <a:rPr lang="en-US" smtClean="0"/>
              <a:t>... kali </a:t>
            </a:r>
            <a:r>
              <a:rPr lang="en-US" b="1" smtClean="0"/>
              <a:t>Ib</a:t>
            </a:r>
            <a:r>
              <a:rPr lang="en-US" smtClean="0"/>
              <a:t>:</a:t>
            </a:r>
          </a:p>
          <a:p>
            <a:pPr marL="0" indent="0">
              <a:buNone/>
            </a:pPr>
            <a:r>
              <a:rPr lang="en-US" smtClean="0"/>
              <a:t>	IR2​</a:t>
            </a:r>
            <a:r>
              <a:rPr lang="en-US" smtClean="0"/>
              <a:t>=</a:t>
            </a:r>
            <a:r>
              <a:rPr lang="en-US" smtClean="0"/>
              <a:t>... </a:t>
            </a:r>
            <a:r>
              <a:rPr lang="en-US" smtClean="0"/>
              <a:t>×Ib</a:t>
            </a:r>
            <a:r>
              <a:rPr lang="en-US" smtClean="0"/>
              <a:t>= </a:t>
            </a:r>
            <a:r>
              <a:rPr lang="en-US" smtClean="0"/>
              <a:t>... </a:t>
            </a:r>
            <a:r>
              <a:rPr lang="en-US" smtClean="0"/>
              <a:t>X ... </a:t>
            </a:r>
            <a:r>
              <a:rPr lang="en-US" smtClean="0"/>
              <a:t>= </a:t>
            </a:r>
            <a:r>
              <a:rPr lang="en-US" smtClean="0">
                <a:solidFill>
                  <a:srgbClr val="FF0000"/>
                </a:solidFill>
              </a:rPr>
              <a:t>...</a:t>
            </a:r>
            <a:endParaRPr lang="en-US" smtClean="0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sv-SE" smtClean="0"/>
              <a:t>Dengan </a:t>
            </a:r>
            <a:r>
              <a:rPr lang="sv-SE" b="1" smtClean="0"/>
              <a:t>IR2</a:t>
            </a:r>
            <a:r>
              <a:rPr lang="sv-SE" smtClean="0"/>
              <a:t> diketahui, kita bisa menghitung nilai </a:t>
            </a:r>
            <a:r>
              <a:rPr lang="sv-SE" b="1" smtClean="0"/>
              <a:t>R2</a:t>
            </a:r>
            <a:r>
              <a:rPr lang="sv-SE" smtClean="0"/>
              <a:t> sebagai:</a:t>
            </a:r>
          </a:p>
          <a:p>
            <a:pPr marL="0" indent="0">
              <a:buNone/>
            </a:pPr>
            <a:r>
              <a:rPr lang="pt-BR" smtClean="0"/>
              <a:t>	R2​=​Vb​​/IR2 = </a:t>
            </a:r>
            <a:r>
              <a:rPr lang="pt-BR" smtClean="0"/>
              <a:t>... </a:t>
            </a:r>
            <a:r>
              <a:rPr lang="pt-BR" smtClean="0"/>
              <a:t>/ ... ​</a:t>
            </a:r>
            <a:r>
              <a:rPr lang="pt-BR" smtClean="0"/>
              <a:t>= </a:t>
            </a:r>
            <a:r>
              <a:rPr lang="pt-BR" smtClean="0">
                <a:solidFill>
                  <a:srgbClr val="FF0000"/>
                </a:solidFill>
              </a:rPr>
              <a:t>... </a:t>
            </a:r>
            <a:r>
              <a:rPr lang="pt-BR" smtClean="0"/>
              <a:t>Ohm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66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4. </a:t>
            </a:r>
            <a:r>
              <a:rPr lang="en-US" b="1"/>
              <a:t>Menentukan </a:t>
            </a:r>
            <a:r>
              <a:rPr lang="en-US" b="1" smtClean="0"/>
              <a:t>R1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mtClean="0"/>
              <a:t>Untuk menghitung </a:t>
            </a:r>
            <a:r>
              <a:rPr lang="en-US" b="1" smtClean="0"/>
              <a:t>R1</a:t>
            </a:r>
            <a:r>
              <a:rPr lang="en-US" smtClean="0"/>
              <a:t>, kita gunakan pembagi tegangan dengan </a:t>
            </a:r>
            <a:r>
              <a:rPr lang="en-US" b="1" smtClean="0"/>
              <a:t>Vcc</a:t>
            </a:r>
            <a:r>
              <a:rPr lang="en-US" smtClean="0"/>
              <a:t>:</a:t>
            </a:r>
          </a:p>
          <a:p>
            <a:pPr marL="0" indent="0">
              <a:buNone/>
            </a:pPr>
            <a:r>
              <a:rPr lang="en-US" smtClean="0"/>
              <a:t>	Vb=Vcc ​× R2​/(R1+R2)</a:t>
            </a:r>
          </a:p>
          <a:p>
            <a:pPr marL="0" indent="0">
              <a:buNone/>
            </a:pPr>
            <a:endParaRPr lang="fi-FI" smtClean="0"/>
          </a:p>
          <a:p>
            <a:pPr marL="0" indent="0">
              <a:buNone/>
            </a:pPr>
            <a:r>
              <a:rPr lang="fi-FI" smtClean="0"/>
              <a:t>Dari sini, kita bisa menyusun ulang untuk mendapatkan </a:t>
            </a:r>
            <a:r>
              <a:rPr lang="fi-FI" b="1" smtClean="0"/>
              <a:t>R1</a:t>
            </a:r>
            <a:r>
              <a:rPr lang="fi-FI" smtClean="0"/>
              <a:t>:</a:t>
            </a:r>
          </a:p>
          <a:p>
            <a:pPr marL="0" indent="0">
              <a:buNone/>
            </a:pPr>
            <a:r>
              <a:rPr lang="pt-BR" smtClean="0"/>
              <a:t>	R1​=R2​×((Vcc/Vb​​)−1)</a:t>
            </a:r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Dengan </a:t>
            </a:r>
            <a:r>
              <a:rPr lang="en-US" b="1" smtClean="0"/>
              <a:t>Vcc = </a:t>
            </a:r>
            <a:r>
              <a:rPr lang="en-US" b="1" smtClean="0"/>
              <a:t>... </a:t>
            </a:r>
            <a:r>
              <a:rPr lang="en-US" smtClean="0"/>
              <a:t>dan </a:t>
            </a:r>
            <a:r>
              <a:rPr lang="en-US" b="1" smtClean="0"/>
              <a:t>Vb = </a:t>
            </a:r>
            <a:r>
              <a:rPr lang="en-US" b="1" smtClean="0"/>
              <a:t>... </a:t>
            </a:r>
            <a:r>
              <a:rPr lang="en-US" smtClean="0"/>
              <a:t>serta </a:t>
            </a:r>
            <a:r>
              <a:rPr lang="en-US" b="1" smtClean="0"/>
              <a:t>R2 = </a:t>
            </a:r>
            <a:r>
              <a:rPr lang="en-US" b="1" smtClean="0"/>
              <a:t>... Ohm </a:t>
            </a:r>
            <a:endParaRPr lang="en-US" smtClean="0"/>
          </a:p>
          <a:p>
            <a:pPr marL="0" indent="0">
              <a:buNone/>
            </a:pPr>
            <a:r>
              <a:rPr lang="pt-BR" smtClean="0"/>
              <a:t>	R1​= </a:t>
            </a:r>
            <a:r>
              <a:rPr lang="pt-BR" smtClean="0"/>
              <a:t>... ×((... /</a:t>
            </a:r>
            <a:r>
              <a:rPr lang="pt-BR"/>
              <a:t> </a:t>
            </a:r>
            <a:r>
              <a:rPr lang="pt-BR" smtClean="0"/>
              <a:t>... )</a:t>
            </a:r>
            <a:r>
              <a:rPr lang="pt-BR" smtClean="0"/>
              <a:t>−1)= </a:t>
            </a:r>
            <a:r>
              <a:rPr lang="pt-BR" smtClean="0">
                <a:solidFill>
                  <a:srgbClr val="FF0000"/>
                </a:solidFill>
              </a:rPr>
              <a:t>... </a:t>
            </a:r>
            <a:r>
              <a:rPr lang="pt-BR" smtClean="0"/>
              <a:t>Ohm</a:t>
            </a:r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03439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5. </a:t>
            </a:r>
            <a:r>
              <a:rPr lang="en-US" b="1"/>
              <a:t>Titik Kerja </a:t>
            </a:r>
            <a:r>
              <a:rPr lang="en-US" b="1" smtClean="0"/>
              <a:t>dan Garis Beban</a:t>
            </a:r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574868" y="1690688"/>
            <a:ext cx="5375564" cy="3697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smtClean="0"/>
          </a:p>
          <a:p>
            <a:pPr marL="0" indent="0">
              <a:buFont typeface="Arial" panose="020B0604020202020204" pitchFamily="34" charset="0"/>
              <a:buNone/>
            </a:pPr>
            <a:endParaRPr lang="en-US" smtClean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74868" y="2525136"/>
            <a:ext cx="0" cy="286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74868" y="5388408"/>
            <a:ext cx="4729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199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Resume Jawaban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220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smtClean="0"/>
              <a:t>Prategangan (Teori):</a:t>
            </a:r>
          </a:p>
          <a:p>
            <a:pPr marL="0" indent="0">
              <a:buNone/>
            </a:pPr>
            <a:endParaRPr lang="en-US" b="1" smtClean="0"/>
          </a:p>
          <a:p>
            <a:pPr marL="0" indent="0">
              <a:buNone/>
            </a:pPr>
            <a:r>
              <a:rPr lang="en-US" b="1" smtClean="0"/>
              <a:t>	Ve= </a:t>
            </a:r>
            <a:r>
              <a:rPr lang="en-US" b="1" smtClean="0">
                <a:solidFill>
                  <a:srgbClr val="FF0000"/>
                </a:solidFill>
              </a:rPr>
              <a:t>... </a:t>
            </a:r>
            <a:r>
              <a:rPr lang="en-US" b="1" smtClean="0"/>
              <a:t>, </a:t>
            </a:r>
            <a:r>
              <a:rPr lang="en-US" b="1" smtClean="0"/>
              <a:t>Re = </a:t>
            </a:r>
            <a:r>
              <a:rPr lang="en-US" b="1" smtClean="0">
                <a:solidFill>
                  <a:srgbClr val="FF0000"/>
                </a:solidFill>
              </a:rPr>
              <a:t>... </a:t>
            </a:r>
            <a:r>
              <a:rPr lang="el-GR" b="1" smtClean="0"/>
              <a:t>Ω</a:t>
            </a:r>
            <a:endParaRPr lang="el-GR" smtClean="0"/>
          </a:p>
          <a:p>
            <a:pPr marL="0" indent="0">
              <a:buNone/>
            </a:pPr>
            <a:r>
              <a:rPr lang="en-US" b="1" smtClean="0"/>
              <a:t>	Vc= </a:t>
            </a:r>
            <a:r>
              <a:rPr lang="en-US" b="1" smtClean="0">
                <a:solidFill>
                  <a:srgbClr val="FF0000"/>
                </a:solidFill>
              </a:rPr>
              <a:t>... </a:t>
            </a:r>
            <a:r>
              <a:rPr lang="en-US" b="1" smtClean="0"/>
              <a:t>, </a:t>
            </a:r>
            <a:r>
              <a:rPr lang="en-US" b="1" smtClean="0"/>
              <a:t>Rc = </a:t>
            </a:r>
            <a:r>
              <a:rPr lang="en-US" smtClean="0">
                <a:solidFill>
                  <a:srgbClr val="FF0000"/>
                </a:solidFill>
              </a:rPr>
              <a:t>... </a:t>
            </a:r>
            <a:r>
              <a:rPr lang="el-GR" b="1" smtClean="0"/>
              <a:t>Ω</a:t>
            </a:r>
            <a:endParaRPr lang="en-US" b="1" smtClean="0"/>
          </a:p>
          <a:p>
            <a:pPr marL="0" indent="0">
              <a:buNone/>
            </a:pPr>
            <a:r>
              <a:rPr lang="en-US" b="1"/>
              <a:t>	</a:t>
            </a:r>
            <a:r>
              <a:rPr lang="en-US" b="1" smtClean="0"/>
              <a:t>Vb= </a:t>
            </a:r>
            <a:r>
              <a:rPr lang="en-US" b="1" smtClean="0">
                <a:solidFill>
                  <a:srgbClr val="FF0000"/>
                </a:solidFill>
              </a:rPr>
              <a:t>...</a:t>
            </a:r>
            <a:endParaRPr lang="el-GR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smtClean="0"/>
              <a:t>	R2= </a:t>
            </a:r>
            <a:r>
              <a:rPr lang="en-US" b="1" smtClean="0">
                <a:solidFill>
                  <a:srgbClr val="FF0000"/>
                </a:solidFill>
              </a:rPr>
              <a:t>... </a:t>
            </a:r>
            <a:r>
              <a:rPr lang="el-GR" b="1" smtClean="0"/>
              <a:t>Ω</a:t>
            </a:r>
            <a:endParaRPr lang="el-GR" smtClean="0"/>
          </a:p>
          <a:p>
            <a:pPr marL="0" indent="0">
              <a:buNone/>
            </a:pPr>
            <a:r>
              <a:rPr lang="en-US" b="1" smtClean="0"/>
              <a:t>	R1= </a:t>
            </a:r>
            <a:r>
              <a:rPr lang="pt-BR" smtClean="0">
                <a:solidFill>
                  <a:srgbClr val="FF0000"/>
                </a:solidFill>
              </a:rPr>
              <a:t>... </a:t>
            </a:r>
            <a:r>
              <a:rPr lang="el-GR" b="1" smtClean="0"/>
              <a:t>Ω</a:t>
            </a:r>
            <a:endParaRPr lang="el-GR" smtClean="0"/>
          </a:p>
          <a:p>
            <a:endParaRPr lang="en-US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825625"/>
            <a:ext cx="5375564" cy="3697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mtClean="0"/>
              <a:t>Garis Beban dan Titik Kerja (Teori):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smtClean="0"/>
          </a:p>
          <a:p>
            <a:pPr marL="0" indent="0">
              <a:buFont typeface="Arial" panose="020B0604020202020204" pitchFamily="34" charset="0"/>
              <a:buNone/>
            </a:pPr>
            <a:endParaRPr lang="en-US" smtClean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096000" y="2660073"/>
            <a:ext cx="0" cy="286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096000" y="5523345"/>
            <a:ext cx="4729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6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6</a:t>
            </a:r>
            <a:r>
              <a:rPr lang="en-US" b="1" smtClean="0"/>
              <a:t>. Simulasikan </a:t>
            </a:r>
            <a:r>
              <a:rPr lang="en-US" b="1"/>
              <a:t>rangkaian </a:t>
            </a:r>
            <a:r>
              <a:rPr lang="en-US" b="1" smtClean="0"/>
              <a:t>prategangan </a:t>
            </a:r>
            <a:r>
              <a:rPr lang="en-US" b="1"/>
              <a:t>Proteus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Buat simulasinya</a:t>
            </a:r>
          </a:p>
          <a:p>
            <a:r>
              <a:rPr lang="en-US" smtClean="0"/>
              <a:t>Kirim filenya ke gform dengan nama: NIM_NamaDepan_Prategangan.pdsrj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7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327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Kuiz Teori - Prategangan Common Emitter Voltage Divider Bias</vt:lpstr>
      <vt:lpstr>Tata Tertib</vt:lpstr>
      <vt:lpstr>Soal 1</vt:lpstr>
      <vt:lpstr>Soal 2</vt:lpstr>
      <vt:lpstr>PowerPoint Presentation</vt:lpstr>
      <vt:lpstr>1. Menentukan Tegangan Emitor (Ve) dan Resistor Emitor (Re)</vt:lpstr>
      <vt:lpstr>2. Menentukan Tegangan Kolektor (Vc) dan Resistor Kolektor (Rc)</vt:lpstr>
      <vt:lpstr>3. Menentukan R2</vt:lpstr>
      <vt:lpstr>PowerPoint Presentation</vt:lpstr>
      <vt:lpstr>4. Menentukan R1</vt:lpstr>
      <vt:lpstr>5. Titik Kerja dan Garis Beban</vt:lpstr>
      <vt:lpstr>Resume Jawaban</vt:lpstr>
      <vt:lpstr>6. Simulasikan rangkaian prategangan Proteus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66</cp:revision>
  <dcterms:created xsi:type="dcterms:W3CDTF">2024-09-01T23:50:21Z</dcterms:created>
  <dcterms:modified xsi:type="dcterms:W3CDTF">2024-09-12T01:57:13Z</dcterms:modified>
</cp:coreProperties>
</file>