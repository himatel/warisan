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14"/>
  </p:handoutMasterIdLst>
  <p:sldIdLst>
    <p:sldId id="256" r:id="rId2"/>
    <p:sldId id="259" r:id="rId3"/>
    <p:sldId id="260" r:id="rId4"/>
    <p:sldId id="261" r:id="rId5"/>
    <p:sldId id="258" r:id="rId6"/>
    <p:sldId id="268" r:id="rId7"/>
    <p:sldId id="289" r:id="rId8"/>
    <p:sldId id="290" r:id="rId9"/>
    <p:sldId id="273" r:id="rId10"/>
    <p:sldId id="276" r:id="rId11"/>
    <p:sldId id="291" r:id="rId12"/>
    <p:sldId id="27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72"/>
  </p:normalViewPr>
  <p:slideViewPr>
    <p:cSldViewPr snapToGrid="0" snapToObjects="1">
      <p:cViewPr varScale="1">
        <p:scale>
          <a:sx n="99" d="100"/>
          <a:sy n="99" d="100"/>
        </p:scale>
        <p:origin x="5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82" d="100"/>
          <a:sy n="82" d="100"/>
        </p:scale>
        <p:origin x="3352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68A577D-5457-F54A-AC58-521A916EC40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4FFD80-539B-3740-BCF0-C195F6D7B83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7882BE-8767-9940-9C73-0944E2083E20}" type="datetimeFigureOut">
              <a:rPr lang="en-US" smtClean="0"/>
              <a:t>10/25/22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0F567-6E42-8A4A-A22F-4C5BEFBA9D9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DF05D5-7F24-DD40-A3A6-9CEB9E4D6CF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E38FCF-196A-7F47-A8FC-52FB2A57C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4279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BFA09-C5B6-D94C-8CD0-402D5F755A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AF4FB2-8174-2043-8509-145DEBE8E1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7298F9-8956-1A47-89D8-C9B8AD8DC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8A6DD-D26E-E745-B9A8-720516E66F0A}" type="datetimeFigureOut">
              <a:rPr lang="en-US" smtClean="0"/>
              <a:t>10/25/22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63FFB-F850-0045-8DC3-FE61B7E92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B8973-04F9-F94B-9483-13C95E234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7F6CB-04E6-3141-AF94-A9D7AEB8C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039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9C298-E0A3-E349-BB13-52E00CE96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AD8FB-6DD0-DC4E-8B01-B11AAF0BC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BB4935-18B6-B746-B613-D0224F2E9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8A6DD-D26E-E745-B9A8-720516E66F0A}" type="datetimeFigureOut">
              <a:rPr lang="en-US" smtClean="0"/>
              <a:t>10/25/22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C4821-9D3D-EA4C-B1CE-622A6D0AC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E8884-6F61-8340-BFDF-5F723E0AF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7F6CB-04E6-3141-AF94-A9D7AEB8C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595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F049E-B4CD-D247-AAE3-4A3609F2B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F4CEC5-A0C0-FD44-8D2E-751F57DE36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6CC27-96B6-BE4C-B6BE-15A17ECCF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8A6DD-D26E-E745-B9A8-720516E66F0A}" type="datetimeFigureOut">
              <a:rPr lang="en-US" smtClean="0"/>
              <a:t>10/25/22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2AEB0-7911-7444-A422-9C8507D0E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A1380-3EEC-FA42-B0A4-66B1609D0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7F6CB-04E6-3141-AF94-A9D7AEB8C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236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80917-3BC2-3743-8293-C7152D23A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199FD-38E6-E049-B996-5133EE3EC5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7C79CA-CB3E-414B-9394-E60E43CD21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99849E-6052-D145-9D60-988D376D9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8A6DD-D26E-E745-B9A8-720516E66F0A}" type="datetimeFigureOut">
              <a:rPr lang="en-US" smtClean="0"/>
              <a:t>10/25/22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0FF74D-8BA5-C44B-89CA-FDFE84A47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DC027-DDE4-1749-B606-DFB866545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7F6CB-04E6-3141-AF94-A9D7AEB8C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657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5AFD7-3926-9542-8F63-51FD05136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B93CAE-3E46-5F46-80D5-1CF10F0BA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790BA0-6411-B34A-82B5-10B861378F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74ED0B-5CA1-914A-AFE6-51BFDE61E4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3E8A13-2A4D-AD49-9515-EC6DEB9651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DE9FFB-110A-A546-A745-E08320862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8A6DD-D26E-E745-B9A8-720516E66F0A}" type="datetimeFigureOut">
              <a:rPr lang="en-US" smtClean="0"/>
              <a:t>10/25/22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7EF4BA-E0BF-DB46-939F-16CBEA329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979334-F123-7540-96C5-56885F2ED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7F6CB-04E6-3141-AF94-A9D7AEB8C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819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4F1E9-9D0F-4447-99F3-50656170E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BB1AF4-9FC8-9F4C-A1D9-3BD3191BA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8A6DD-D26E-E745-B9A8-720516E66F0A}" type="datetimeFigureOut">
              <a:rPr lang="en-US" smtClean="0"/>
              <a:t>10/25/22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44C323-C33A-184F-AD5D-DDC7FB375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BE7A86-F484-124A-868B-E6D125699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7F6CB-04E6-3141-AF94-A9D7AEB8C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1033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D35194-759C-9A42-AAC8-FE1870C45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8A6DD-D26E-E745-B9A8-720516E66F0A}" type="datetimeFigureOut">
              <a:rPr lang="en-US" smtClean="0"/>
              <a:t>10/25/22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B3CC8D-35DE-B243-AEF9-A30D9539A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B71F93-144C-ED42-AC44-9A95CB9E7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7F6CB-04E6-3141-AF94-A9D7AEB8C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256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E51D3-4F3D-0240-82BB-7E925F34A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76023-9F2A-BB49-A906-A3CC9944F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57BBB9-9C92-A244-A568-3831748034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B46E09-E6C3-2145-9BDA-DD2ECACD8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8A6DD-D26E-E745-B9A8-720516E66F0A}" type="datetimeFigureOut">
              <a:rPr lang="en-US" smtClean="0"/>
              <a:t>10/25/22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CADCD3-7195-814F-A673-EFFB72F8B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81B54B-0797-D044-BA3B-BA0B40D64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7F6CB-04E6-3141-AF94-A9D7AEB8C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609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DF34B-6276-9C4E-85C0-7723E7C79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F0AE4E-BD25-AE44-B9B3-07945D9CC8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6C14DF-6FE6-CA4A-88FF-F427421521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797B7-9325-B549-8121-1165702F9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8A6DD-D26E-E745-B9A8-720516E66F0A}" type="datetimeFigureOut">
              <a:rPr lang="en-US" smtClean="0"/>
              <a:t>10/25/22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6EF63-85C6-9C4D-87FE-31C63F93B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90E974-8E18-D246-BDE2-C478A4F89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7F6CB-04E6-3141-AF94-A9D7AEB8C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743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8DA36-2CCD-BF4D-9910-0AE0DB022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E0BC9C-DF52-D44D-8429-54C25304E9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082FB-6E33-AF4F-834E-71A6310DF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8A6DD-D26E-E745-B9A8-720516E66F0A}" type="datetimeFigureOut">
              <a:rPr lang="en-US" smtClean="0"/>
              <a:t>10/25/22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BF8A0-9DB6-1A45-956C-58DE886FC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60261-1354-BF41-9E91-A5BCFAB85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7F6CB-04E6-3141-AF94-A9D7AEB8C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650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2FB0E0-8662-8B40-A00F-92871EFD30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5112BE-D73E-1642-9C99-8B92579276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1EC20-6115-0F4D-A686-D84A6F39A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8A6DD-D26E-E745-B9A8-720516E66F0A}" type="datetimeFigureOut">
              <a:rPr lang="en-US" smtClean="0"/>
              <a:t>10/25/22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33570-D89B-7B40-BACF-49280C573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648DC-30B3-7743-9B57-340D4DC4F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7F6CB-04E6-3141-AF94-A9D7AEB8C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680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B2D448-D3D7-9947-A036-238D5C2EE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65B88-41FB-504F-8AC0-BE2C87F5C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22C3DF-7F31-764B-8888-05E90C1026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88A6DD-D26E-E745-B9A8-720516E66F0A}" type="datetimeFigureOut">
              <a:rPr lang="en-US" smtClean="0"/>
              <a:t>10/25/22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C27BC9-14D7-4F41-BC6E-3FBAAE4A95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D6695-C883-034B-B601-F69038866E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77F6CB-04E6-3141-AF94-A9D7AEB8CA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546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D9DFE-88C3-F14F-B45F-24D7843111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Praktikum</a:t>
            </a:r>
            <a:r>
              <a:rPr lang="en-US" dirty="0"/>
              <a:t> </a:t>
            </a:r>
            <a:r>
              <a:rPr lang="en-US" dirty="0" err="1"/>
              <a:t>Elektronika</a:t>
            </a:r>
            <a:r>
              <a:rPr lang="en-US" dirty="0"/>
              <a:t> Analog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C4C6BC-F08C-3349-9C4A-F869632E7E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Op-Amp </a:t>
            </a:r>
            <a:r>
              <a:rPr lang="en-US" dirty="0" err="1"/>
              <a:t>Rangkaian</a:t>
            </a:r>
            <a:r>
              <a:rPr lang="en-US" dirty="0"/>
              <a:t> Inverting dan Non-Inverting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 err="1"/>
              <a:t>Ginanjar</a:t>
            </a:r>
            <a:r>
              <a:rPr lang="en-US" dirty="0"/>
              <a:t> S. Adi &amp; </a:t>
            </a:r>
            <a:r>
              <a:rPr lang="en-US" dirty="0" err="1"/>
              <a:t>Eril</a:t>
            </a:r>
            <a:r>
              <a:rPr lang="en-US" dirty="0"/>
              <a:t> </a:t>
            </a:r>
            <a:r>
              <a:rPr lang="en-US" dirty="0" err="1"/>
              <a:t>Mozef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234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55BE5-A645-2F41-84F7-30684C7B7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Tujuan</a:t>
            </a:r>
            <a:r>
              <a:rPr lang="en-US" dirty="0"/>
              <a:t> </a:t>
            </a:r>
            <a:r>
              <a:rPr lang="en-US" dirty="0" err="1"/>
              <a:t>Praktikum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174C6-13DC-F04F-A47A-7BA0AB0BC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Mampu </a:t>
            </a:r>
            <a:r>
              <a:rPr lang="en-US" dirty="0" err="1"/>
              <a:t>merangkai</a:t>
            </a:r>
            <a:r>
              <a:rPr lang="en-US" dirty="0"/>
              <a:t> </a:t>
            </a:r>
            <a:r>
              <a:rPr lang="en-US" dirty="0" err="1"/>
              <a:t>rangkaian</a:t>
            </a:r>
            <a:r>
              <a:rPr lang="en-US" dirty="0"/>
              <a:t> feedback voltage-shunt pada </a:t>
            </a:r>
            <a:r>
              <a:rPr lang="en-US" dirty="0" err="1"/>
              <a:t>konfigurasi</a:t>
            </a:r>
            <a:r>
              <a:rPr lang="en-US" dirty="0"/>
              <a:t> inverting dan non-inverting di protoboard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Mampu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perhitungan</a:t>
            </a:r>
            <a:r>
              <a:rPr lang="en-US" dirty="0"/>
              <a:t> </a:t>
            </a:r>
            <a:r>
              <a:rPr lang="en-US" dirty="0" err="1"/>
              <a:t>penguatan</a:t>
            </a:r>
            <a:r>
              <a:rPr lang="en-US" dirty="0"/>
              <a:t> feedback pada </a:t>
            </a:r>
            <a:r>
              <a:rPr lang="en-US" dirty="0" err="1"/>
              <a:t>rangkaian</a:t>
            </a:r>
            <a:r>
              <a:rPr lang="en-US" dirty="0"/>
              <a:t> Op-Amp inverting dan non-Inverting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Mampu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pengukuran</a:t>
            </a:r>
            <a:r>
              <a:rPr lang="en-US" dirty="0"/>
              <a:t> parameter yang </a:t>
            </a:r>
            <a:r>
              <a:rPr lang="en-US" dirty="0" err="1"/>
              <a:t>dibutuhkan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pembuktian</a:t>
            </a:r>
            <a:r>
              <a:rPr lang="en-US" dirty="0"/>
              <a:t> </a:t>
            </a:r>
            <a:r>
              <a:rPr lang="en-US" dirty="0" err="1"/>
              <a:t>rangkaian</a:t>
            </a:r>
            <a:r>
              <a:rPr lang="en-US" dirty="0"/>
              <a:t> feedback Op-Amp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97754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584E4-C75E-4849-8C55-A9B2BAD65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Peralatan</a:t>
            </a:r>
            <a:r>
              <a:rPr lang="en-US" dirty="0"/>
              <a:t> yang </a:t>
            </a:r>
            <a:r>
              <a:rPr lang="en-US" dirty="0" err="1"/>
              <a:t>dibutuhkan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B4F31B-23F3-6F4D-A647-291DBDCF3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DC Power Supply (2)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Function Generator (1)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Oscilloscope (1)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Op-Amp 741 (1)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</a:t>
            </a:r>
            <a:r>
              <a:rPr lang="en-US" baseline="-25000" dirty="0"/>
              <a:t>1</a:t>
            </a:r>
            <a:r>
              <a:rPr lang="en-US" dirty="0"/>
              <a:t>= R</a:t>
            </a:r>
            <a:r>
              <a:rPr lang="en-US" baseline="-25000" dirty="0"/>
              <a:t>2</a:t>
            </a:r>
            <a:r>
              <a:rPr lang="en-US" dirty="0"/>
              <a:t> = 10KOhm; R</a:t>
            </a:r>
            <a:r>
              <a:rPr lang="en-US" baseline="-25000" dirty="0"/>
              <a:t>f</a:t>
            </a:r>
            <a:r>
              <a:rPr lang="en-US" dirty="0"/>
              <a:t>= 100KOhm;</a:t>
            </a:r>
          </a:p>
          <a:p>
            <a:pPr marL="514350" indent="-514350">
              <a:buFont typeface="+mj-lt"/>
              <a:buAutoNum type="arabicPeriod"/>
            </a:pPr>
            <a:r>
              <a:rPr lang="en-ID" dirty="0" err="1"/>
              <a:t>Multimeter</a:t>
            </a:r>
            <a:r>
              <a:rPr lang="en-ID" dirty="0"/>
              <a:t> (1)</a:t>
            </a:r>
          </a:p>
          <a:p>
            <a:pPr marL="514350" indent="-514350">
              <a:buFont typeface="+mj-lt"/>
              <a:buAutoNum type="arabicPeriod"/>
            </a:pPr>
            <a:r>
              <a:rPr lang="en-ID" dirty="0"/>
              <a:t>Kabel Jumper (</a:t>
            </a:r>
            <a:r>
              <a:rPr lang="en-ID" dirty="0" err="1"/>
              <a:t>secukupnya</a:t>
            </a:r>
            <a:r>
              <a:rPr lang="en-ID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ID" dirty="0" err="1"/>
              <a:t>Konektor</a:t>
            </a:r>
            <a:r>
              <a:rPr lang="en-ID" dirty="0"/>
              <a:t> Jumper (</a:t>
            </a:r>
            <a:r>
              <a:rPr lang="en-ID" dirty="0" err="1"/>
              <a:t>secukupnya</a:t>
            </a:r>
            <a:r>
              <a:rPr lang="en-ID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ID" dirty="0" err="1"/>
              <a:t>Kertas</a:t>
            </a:r>
            <a:r>
              <a:rPr lang="en-ID" dirty="0"/>
              <a:t> HVS dan </a:t>
            </a:r>
            <a:r>
              <a:rPr lang="en-ID" dirty="0" err="1"/>
              <a:t>millimeter</a:t>
            </a:r>
            <a:r>
              <a:rPr lang="en-ID" dirty="0"/>
              <a:t> block (masing-masing 1 </a:t>
            </a:r>
            <a:r>
              <a:rPr lang="en-ID" dirty="0" err="1"/>
              <a:t>lembar</a:t>
            </a:r>
            <a:r>
              <a:rPr lang="en-ID" dirty="0"/>
              <a:t>/</a:t>
            </a:r>
            <a:r>
              <a:rPr lang="en-ID" dirty="0" err="1"/>
              <a:t>kelompok</a:t>
            </a:r>
            <a:r>
              <a:rPr lang="en-ID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8032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C62AB-F010-1C4D-A534-318A1963B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Persiapan</a:t>
            </a:r>
            <a:r>
              <a:rPr lang="en-US" dirty="0"/>
              <a:t> </a:t>
            </a:r>
            <a:r>
              <a:rPr lang="en-US" dirty="0" err="1"/>
              <a:t>praktikum</a:t>
            </a:r>
            <a:r>
              <a:rPr lang="en-US" dirty="0"/>
              <a:t> yang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dilakukan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86254-5F5C-424C-8776-E9A7953491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pengecekan</a:t>
            </a:r>
            <a:r>
              <a:rPr lang="en-US" dirty="0"/>
              <a:t> </a:t>
            </a:r>
            <a:r>
              <a:rPr lang="en-US" dirty="0" err="1"/>
              <a:t>kabel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pengecekan</a:t>
            </a:r>
            <a:r>
              <a:rPr lang="en-US" dirty="0"/>
              <a:t> Op-Amp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Merangkai</a:t>
            </a:r>
            <a:r>
              <a:rPr lang="en-US" dirty="0"/>
              <a:t> </a:t>
            </a:r>
            <a:r>
              <a:rPr lang="en-US" dirty="0" err="1"/>
              <a:t>rangkaian</a:t>
            </a:r>
            <a:r>
              <a:rPr lang="en-US" dirty="0"/>
              <a:t> </a:t>
            </a:r>
            <a:r>
              <a:rPr lang="en-US" dirty="0" err="1"/>
              <a:t>percobaan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benar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desain</a:t>
            </a:r>
            <a:r>
              <a:rPr lang="en-US" dirty="0"/>
              <a:t> yang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dibuat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Memperhatikan</a:t>
            </a:r>
            <a:r>
              <a:rPr lang="en-US" dirty="0"/>
              <a:t> dan </a:t>
            </a:r>
            <a:r>
              <a:rPr lang="en-US" dirty="0" err="1"/>
              <a:t>menerapkan</a:t>
            </a:r>
            <a:r>
              <a:rPr lang="en-US" dirty="0"/>
              <a:t> K3</a:t>
            </a:r>
          </a:p>
        </p:txBody>
      </p:sp>
    </p:spTree>
    <p:extLst>
      <p:ext uri="{BB962C8B-B14F-4D97-AF65-F5344CB8AC3E}">
        <p14:creationId xmlns:p14="http://schemas.microsoft.com/office/powerpoint/2010/main" val="313444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CF7089-8259-8B43-A942-2E36ACA37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Pengenalan</a:t>
            </a:r>
            <a:r>
              <a:rPr lang="en-US" dirty="0"/>
              <a:t> Protoboard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5AC7A31-2B13-1848-A206-24AD15079A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7123" y="2310596"/>
            <a:ext cx="6844693" cy="43513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9459A7-1034-0F49-A8F8-F2D835DA51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1579" y="3563894"/>
            <a:ext cx="3985206" cy="2423573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A39D4DC7-8DE5-C840-9BB2-B029A6D40C06}"/>
              </a:ext>
            </a:extLst>
          </p:cNvPr>
          <p:cNvGrpSpPr/>
          <p:nvPr/>
        </p:nvGrpSpPr>
        <p:grpSpPr>
          <a:xfrm>
            <a:off x="5692462" y="2434108"/>
            <a:ext cx="5221588" cy="1275008"/>
            <a:chOff x="5692462" y="2034862"/>
            <a:chExt cx="5221588" cy="1275008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4525723E-0ADE-2C47-A8D5-B738C4696F52}"/>
                </a:ext>
              </a:extLst>
            </p:cNvPr>
            <p:cNvSpPr/>
            <p:nvPr/>
          </p:nvSpPr>
          <p:spPr>
            <a:xfrm>
              <a:off x="5692462" y="2034862"/>
              <a:ext cx="1493949" cy="1275008"/>
            </a:xfrm>
            <a:prstGeom prst="roundRect">
              <a:avLst/>
            </a:prstGeom>
            <a:noFill/>
            <a:ln w="762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4213A4CB-79C8-C843-B5EE-4167D6C50E5A}"/>
                </a:ext>
              </a:extLst>
            </p:cNvPr>
            <p:cNvCxnSpPr>
              <a:stCxn id="7" idx="3"/>
            </p:cNvCxnSpPr>
            <p:nvPr/>
          </p:nvCxnSpPr>
          <p:spPr>
            <a:xfrm>
              <a:off x="7186411" y="2672366"/>
              <a:ext cx="798490" cy="0"/>
            </a:xfrm>
            <a:prstGeom prst="straightConnector1">
              <a:avLst/>
            </a:prstGeom>
            <a:ln w="762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2163BB7-BA13-FB43-B2DE-F1161C5DDC3C}"/>
                </a:ext>
              </a:extLst>
            </p:cNvPr>
            <p:cNvSpPr txBox="1"/>
            <p:nvPr/>
          </p:nvSpPr>
          <p:spPr>
            <a:xfrm>
              <a:off x="8043649" y="2487700"/>
              <a:ext cx="2870401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Semua</a:t>
              </a:r>
              <a:r>
                <a:rPr lang="en-US" dirty="0"/>
                <a:t> </a:t>
              </a:r>
              <a:r>
                <a:rPr lang="en-US" dirty="0" err="1"/>
                <a:t>titik</a:t>
              </a:r>
              <a:r>
                <a:rPr lang="en-US" dirty="0"/>
                <a:t> </a:t>
              </a:r>
              <a:r>
                <a:rPr lang="en-US" dirty="0" err="1"/>
                <a:t>saling</a:t>
              </a:r>
              <a:r>
                <a:rPr lang="en-US" dirty="0"/>
                <a:t> </a:t>
              </a:r>
              <a:r>
                <a:rPr lang="en-US" dirty="0" err="1"/>
                <a:t>terhubung</a:t>
              </a:r>
              <a:endParaRPr lang="en-US" dirty="0"/>
            </a:p>
          </p:txBody>
        </p:sp>
      </p:grp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4520D2C-26C9-F241-9312-3053773003B3}"/>
              </a:ext>
            </a:extLst>
          </p:cNvPr>
          <p:cNvSpPr/>
          <p:nvPr/>
        </p:nvSpPr>
        <p:spPr>
          <a:xfrm>
            <a:off x="2347818" y="2383803"/>
            <a:ext cx="1493949" cy="1275008"/>
          </a:xfrm>
          <a:prstGeom prst="round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DA1D8DC-B62B-4C49-847C-8F01AD437DB0}"/>
              </a:ext>
            </a:extLst>
          </p:cNvPr>
          <p:cNvSpPr/>
          <p:nvPr/>
        </p:nvSpPr>
        <p:spPr>
          <a:xfrm>
            <a:off x="654030" y="2362112"/>
            <a:ext cx="1493949" cy="1275008"/>
          </a:xfrm>
          <a:prstGeom prst="round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FC3EEA7-197A-5043-83D4-D687EACE049D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1401005" y="1879006"/>
            <a:ext cx="946813" cy="483106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C11EF31-40FB-DE46-AC56-433744E3B99A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2347818" y="1879006"/>
            <a:ext cx="746975" cy="504797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910F347-18E3-4A43-91A4-66E667DB5AD5}"/>
              </a:ext>
            </a:extLst>
          </p:cNvPr>
          <p:cNvSpPr txBox="1"/>
          <p:nvPr/>
        </p:nvSpPr>
        <p:spPr>
          <a:xfrm>
            <a:off x="1189135" y="1451066"/>
            <a:ext cx="231736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saling</a:t>
            </a:r>
            <a:r>
              <a:rPr lang="en-US" dirty="0"/>
              <a:t> </a:t>
            </a:r>
            <a:r>
              <a:rPr lang="en-US" dirty="0" err="1"/>
              <a:t>terhubung</a:t>
            </a:r>
            <a:endParaRPr lang="en-US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21B6E72-9863-9349-8C07-92B62C5AFAA4}"/>
              </a:ext>
            </a:extLst>
          </p:cNvPr>
          <p:cNvCxnSpPr>
            <a:cxnSpLocks/>
          </p:cNvCxnSpPr>
          <p:nvPr/>
        </p:nvCxnSpPr>
        <p:spPr>
          <a:xfrm>
            <a:off x="9968248" y="4915917"/>
            <a:ext cx="170001" cy="124066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03255A7-9C02-C544-8455-1F70B9CFF605}"/>
              </a:ext>
            </a:extLst>
          </p:cNvPr>
          <p:cNvSpPr txBox="1"/>
          <p:nvPr/>
        </p:nvSpPr>
        <p:spPr>
          <a:xfrm>
            <a:off x="7701567" y="6156582"/>
            <a:ext cx="4333879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menghubungkan</a:t>
            </a:r>
            <a:r>
              <a:rPr lang="en-US" dirty="0"/>
              <a:t> </a:t>
            </a:r>
          </a:p>
          <a:p>
            <a:r>
              <a:rPr lang="en-US" dirty="0"/>
              <a:t>2 </a:t>
            </a:r>
            <a:r>
              <a:rPr lang="en-US" dirty="0" err="1"/>
              <a:t>kelompok</a:t>
            </a:r>
            <a:r>
              <a:rPr lang="en-US" dirty="0"/>
              <a:t> matrix </a:t>
            </a:r>
            <a:r>
              <a:rPr lang="en-US" dirty="0" err="1"/>
              <a:t>dengan</a:t>
            </a:r>
            <a:r>
              <a:rPr lang="en-US" dirty="0"/>
              <a:t> jumper/</a:t>
            </a:r>
            <a:r>
              <a:rPr lang="en-US" dirty="0" err="1"/>
              <a:t>konektor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3687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AA725-41E9-9946-89F0-58B723A99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Datasheets IC uA741 (1/3)</a:t>
            </a:r>
          </a:p>
        </p:txBody>
      </p:sp>
      <p:pic>
        <p:nvPicPr>
          <p:cNvPr id="10" name="Picture 9" descr="Diagram&#10;&#10;Description automatically generated">
            <a:extLst>
              <a:ext uri="{FF2B5EF4-FFF2-40B4-BE49-F238E27FC236}">
                <a16:creationId xmlns:a16="http://schemas.microsoft.com/office/drawing/2014/main" id="{458D4E06-A4D2-DF3D-2FC4-987EA7F25F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88"/>
          <a:stretch/>
        </p:blipFill>
        <p:spPr>
          <a:xfrm>
            <a:off x="209818" y="2853461"/>
            <a:ext cx="5410200" cy="28414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13F8E03-AD2A-1E1C-E900-93460056C09D}"/>
              </a:ext>
            </a:extLst>
          </p:cNvPr>
          <p:cNvSpPr txBox="1"/>
          <p:nvPr/>
        </p:nvSpPr>
        <p:spPr>
          <a:xfrm>
            <a:off x="838200" y="1906073"/>
            <a:ext cx="27045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Pin Configuration</a:t>
            </a:r>
          </a:p>
        </p:txBody>
      </p:sp>
      <p:pic>
        <p:nvPicPr>
          <p:cNvPr id="13" name="Picture 12" descr="Table&#10;&#10;Description automatically generated">
            <a:extLst>
              <a:ext uri="{FF2B5EF4-FFF2-40B4-BE49-F238E27FC236}">
                <a16:creationId xmlns:a16="http://schemas.microsoft.com/office/drawing/2014/main" id="{D130CBFA-4036-5238-0011-DC450C4526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9982" y="2699556"/>
            <a:ext cx="6172200" cy="248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347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AA725-41E9-9946-89F0-58B723A99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Datasheets IC uA741 (2/3)</a:t>
            </a:r>
          </a:p>
        </p:txBody>
      </p:sp>
      <p:pic>
        <p:nvPicPr>
          <p:cNvPr id="4" name="Picture 3" descr="Chart&#10;&#10;Description automatically generated">
            <a:extLst>
              <a:ext uri="{FF2B5EF4-FFF2-40B4-BE49-F238E27FC236}">
                <a16:creationId xmlns:a16="http://schemas.microsoft.com/office/drawing/2014/main" id="{79780F14-8D6E-0439-9CD6-99BFFCE3A3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450" y="2339573"/>
            <a:ext cx="6515100" cy="34925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B06D0A-0567-EAC5-47C2-02FDD930F318}"/>
              </a:ext>
            </a:extLst>
          </p:cNvPr>
          <p:cNvSpPr txBox="1"/>
          <p:nvPr/>
        </p:nvSpPr>
        <p:spPr>
          <a:xfrm>
            <a:off x="1287887" y="1906073"/>
            <a:ext cx="25575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Op-Amp Symbol</a:t>
            </a:r>
          </a:p>
        </p:txBody>
      </p:sp>
    </p:spTree>
    <p:extLst>
      <p:ext uri="{BB962C8B-B14F-4D97-AF65-F5344CB8AC3E}">
        <p14:creationId xmlns:p14="http://schemas.microsoft.com/office/powerpoint/2010/main" val="2399215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AA725-41E9-9946-89F0-58B723A99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Datasheets IC uA741 (3/3)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632432-47C7-2259-1FF0-E88FB784A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750" y="1924050"/>
            <a:ext cx="9080500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804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Table&#10;&#10;Description automatically generated">
            <a:extLst>
              <a:ext uri="{FF2B5EF4-FFF2-40B4-BE49-F238E27FC236}">
                <a16:creationId xmlns:a16="http://schemas.microsoft.com/office/drawing/2014/main" id="{1A9F41B4-568C-E148-8C99-8E2EA7B18E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39556" y="89728"/>
            <a:ext cx="8712888" cy="6678543"/>
          </a:xfrm>
        </p:spPr>
      </p:pic>
    </p:spTree>
    <p:extLst>
      <p:ext uri="{BB962C8B-B14F-4D97-AF65-F5344CB8AC3E}">
        <p14:creationId xmlns:p14="http://schemas.microsoft.com/office/powerpoint/2010/main" val="3802427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7E17-8AA3-4040-947A-BECA1171E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Rangkaian</a:t>
            </a:r>
            <a:r>
              <a:rPr lang="en-US" dirty="0"/>
              <a:t> </a:t>
            </a:r>
            <a:r>
              <a:rPr lang="en-US" dirty="0" err="1"/>
              <a:t>Skematik</a:t>
            </a:r>
            <a:r>
              <a:rPr lang="en-US" dirty="0"/>
              <a:t> </a:t>
            </a:r>
            <a:r>
              <a:rPr lang="en-US" dirty="0" err="1"/>
              <a:t>Percobaan</a:t>
            </a:r>
            <a:r>
              <a:rPr lang="en-US" dirty="0"/>
              <a:t> 1 Inverting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0915A7F-79CC-1F0C-CB22-C188FB87E0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35635" y="1825625"/>
            <a:ext cx="512072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356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7E17-8AA3-4040-947A-BECA1171E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065" y="365125"/>
            <a:ext cx="11011436" cy="1325563"/>
          </a:xfrm>
        </p:spPr>
        <p:txBody>
          <a:bodyPr/>
          <a:lstStyle/>
          <a:p>
            <a:r>
              <a:rPr lang="en-US" dirty="0" err="1"/>
              <a:t>Rangkaian</a:t>
            </a:r>
            <a:r>
              <a:rPr lang="en-US" dirty="0"/>
              <a:t> </a:t>
            </a:r>
            <a:r>
              <a:rPr lang="en-US" dirty="0" err="1"/>
              <a:t>Skematik</a:t>
            </a:r>
            <a:r>
              <a:rPr lang="en-US" dirty="0"/>
              <a:t> </a:t>
            </a:r>
            <a:r>
              <a:rPr lang="en-US" dirty="0" err="1"/>
              <a:t>Percobaan</a:t>
            </a:r>
            <a:r>
              <a:rPr lang="en-US" dirty="0"/>
              <a:t> 2 Non-Inverting</a:t>
            </a:r>
          </a:p>
        </p:txBody>
      </p:sp>
      <p:pic>
        <p:nvPicPr>
          <p:cNvPr id="8" name="Content Placeholder 7" descr="Diagram, schematic&#10;&#10;Description automatically generated">
            <a:extLst>
              <a:ext uri="{FF2B5EF4-FFF2-40B4-BE49-F238E27FC236}">
                <a16:creationId xmlns:a16="http://schemas.microsoft.com/office/drawing/2014/main" id="{4A44D3BD-FE46-4DE2-FA4B-0594086765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90198" y="1825625"/>
            <a:ext cx="461160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628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72732-F643-8D48-8CA7-AF73F560B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Langkah dan </a:t>
            </a:r>
            <a:r>
              <a:rPr lang="en-US" dirty="0" err="1"/>
              <a:t>Tugas</a:t>
            </a:r>
            <a:r>
              <a:rPr lang="en-US" dirty="0"/>
              <a:t> </a:t>
            </a:r>
            <a:r>
              <a:rPr lang="en-US" dirty="0" err="1"/>
              <a:t>Percobaan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65EE0-A945-5846-AC1A-97D656F24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Rangkaialah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 dan </a:t>
            </a:r>
            <a:r>
              <a:rPr lang="en-US" dirty="0" err="1"/>
              <a:t>perangkat</a:t>
            </a:r>
            <a:r>
              <a:rPr lang="en-US" dirty="0"/>
              <a:t> yang </a:t>
            </a:r>
            <a:r>
              <a:rPr lang="en-US" dirty="0" err="1"/>
              <a:t>dibutuhkan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rangkaian</a:t>
            </a:r>
            <a:r>
              <a:rPr lang="en-US" dirty="0"/>
              <a:t> </a:t>
            </a:r>
            <a:r>
              <a:rPr lang="en-US" dirty="0" err="1"/>
              <a:t>percobaan</a:t>
            </a:r>
            <a:r>
              <a:rPr lang="en-US" dirty="0"/>
              <a:t> 1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Atur</a:t>
            </a:r>
            <a:r>
              <a:rPr lang="en-US" dirty="0"/>
              <a:t> +V</a:t>
            </a:r>
            <a:r>
              <a:rPr lang="en-US" baseline="-25000" dirty="0"/>
              <a:t>CC</a:t>
            </a:r>
            <a:r>
              <a:rPr lang="en-US" dirty="0"/>
              <a:t> = +15V, -V</a:t>
            </a:r>
            <a:r>
              <a:rPr lang="en-US" baseline="-25000" dirty="0"/>
              <a:t>CC</a:t>
            </a:r>
            <a:r>
              <a:rPr lang="en-US" dirty="0"/>
              <a:t> = -15V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Berikan</a:t>
            </a:r>
            <a:r>
              <a:rPr lang="en-US" dirty="0"/>
              <a:t> input AC </a:t>
            </a:r>
            <a:r>
              <a:rPr lang="en-US" dirty="0" err="1"/>
              <a:t>sebesar</a:t>
            </a:r>
            <a:r>
              <a:rPr lang="en-US" dirty="0"/>
              <a:t> 10mVpp dan f = 1KHz </a:t>
            </a:r>
            <a:r>
              <a:rPr lang="en-US" dirty="0" err="1"/>
              <a:t>amati</a:t>
            </a:r>
            <a:r>
              <a:rPr lang="en-US" dirty="0"/>
              <a:t> </a:t>
            </a:r>
            <a:r>
              <a:rPr lang="en-US" dirty="0" err="1"/>
              <a:t>sinyal</a:t>
            </a:r>
            <a:r>
              <a:rPr lang="en-US" dirty="0"/>
              <a:t> input dan output </a:t>
            </a:r>
            <a:r>
              <a:rPr lang="en-US" dirty="0" err="1"/>
              <a:t>menggunakan</a:t>
            </a:r>
            <a:r>
              <a:rPr lang="en-US" dirty="0"/>
              <a:t> oscilloscope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Gambarkan</a:t>
            </a:r>
            <a:r>
              <a:rPr lang="en-US" dirty="0"/>
              <a:t> </a:t>
            </a:r>
            <a:r>
              <a:rPr lang="en-US" dirty="0" err="1"/>
              <a:t>sinyal</a:t>
            </a:r>
            <a:r>
              <a:rPr lang="en-US" dirty="0"/>
              <a:t> input dan </a:t>
            </a:r>
            <a:r>
              <a:rPr lang="en-US" dirty="0" err="1"/>
              <a:t>sinyal</a:t>
            </a:r>
            <a:r>
              <a:rPr lang="en-US" dirty="0"/>
              <a:t> output pada </a:t>
            </a:r>
            <a:r>
              <a:rPr lang="en-US" dirty="0" err="1"/>
              <a:t>kertas</a:t>
            </a:r>
            <a:r>
              <a:rPr lang="en-US" dirty="0"/>
              <a:t> </a:t>
            </a:r>
            <a:r>
              <a:rPr lang="en-US" dirty="0" err="1"/>
              <a:t>milimeter</a:t>
            </a:r>
            <a:r>
              <a:rPr lang="en-US" dirty="0"/>
              <a:t> block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Hitunglah</a:t>
            </a:r>
            <a:r>
              <a:rPr lang="en-US" dirty="0"/>
              <a:t> </a:t>
            </a:r>
            <a:r>
              <a:rPr lang="en-US" dirty="0" err="1"/>
              <a:t>penguatan</a:t>
            </a:r>
            <a:r>
              <a:rPr lang="en-US" dirty="0"/>
              <a:t> yang </a:t>
            </a:r>
            <a:r>
              <a:rPr lang="en-US" dirty="0" err="1"/>
              <a:t>terjadi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pengukuran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Bandingkan</a:t>
            </a:r>
            <a:r>
              <a:rPr lang="en-US" dirty="0"/>
              <a:t> </a:t>
            </a:r>
            <a:r>
              <a:rPr lang="en-US" dirty="0" err="1"/>
              <a:t>pengutan</a:t>
            </a:r>
            <a:r>
              <a:rPr lang="en-US" dirty="0"/>
              <a:t> </a:t>
            </a:r>
            <a:r>
              <a:rPr lang="en-US" dirty="0" err="1"/>
              <a:t>tegangan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perhitungan</a:t>
            </a:r>
            <a:r>
              <a:rPr lang="en-US" dirty="0"/>
              <a:t> dan </a:t>
            </a:r>
            <a:r>
              <a:rPr lang="en-US" dirty="0" err="1"/>
              <a:t>pengukuran</a:t>
            </a:r>
            <a:r>
              <a:rPr lang="en-US" dirty="0"/>
              <a:t>; </a:t>
            </a:r>
            <a:r>
              <a:rPr lang="en-US" dirty="0" err="1"/>
              <a:t>hitunglah</a:t>
            </a:r>
            <a:r>
              <a:rPr lang="en-US" dirty="0"/>
              <a:t> %error yang </a:t>
            </a:r>
            <a:r>
              <a:rPr lang="en-US" dirty="0" err="1"/>
              <a:t>terjadi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Rangkaialah</a:t>
            </a:r>
            <a:r>
              <a:rPr lang="en-US" dirty="0"/>
              <a:t> </a:t>
            </a:r>
            <a:r>
              <a:rPr lang="en-US" dirty="0" err="1"/>
              <a:t>komponen</a:t>
            </a:r>
            <a:r>
              <a:rPr lang="en-US" dirty="0"/>
              <a:t> dan </a:t>
            </a:r>
            <a:r>
              <a:rPr lang="en-US" dirty="0" err="1"/>
              <a:t>perangkat</a:t>
            </a:r>
            <a:r>
              <a:rPr lang="en-US" dirty="0"/>
              <a:t> yang </a:t>
            </a:r>
            <a:r>
              <a:rPr lang="en-US" dirty="0" err="1"/>
              <a:t>dibutuhkan</a:t>
            </a:r>
            <a:r>
              <a:rPr lang="en-US" dirty="0"/>
              <a:t> </a:t>
            </a:r>
            <a:r>
              <a:rPr lang="en-US" dirty="0" err="1"/>
              <a:t>sesuai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rangkaian</a:t>
            </a:r>
            <a:r>
              <a:rPr lang="en-US" dirty="0"/>
              <a:t> </a:t>
            </a:r>
            <a:r>
              <a:rPr lang="en-US" dirty="0" err="1"/>
              <a:t>percobaan</a:t>
            </a:r>
            <a:r>
              <a:rPr lang="en-US" dirty="0"/>
              <a:t> 2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Ulangi</a:t>
            </a:r>
            <a:r>
              <a:rPr lang="en-US" dirty="0"/>
              <a:t> dan </a:t>
            </a:r>
            <a:r>
              <a:rPr lang="en-US" dirty="0" err="1"/>
              <a:t>lakukan</a:t>
            </a:r>
            <a:r>
              <a:rPr lang="en-US" dirty="0"/>
              <a:t> </a:t>
            </a:r>
            <a:r>
              <a:rPr lang="en-US" dirty="0" err="1"/>
              <a:t>percobaan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/>
              <a:t>Langkah 2-6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439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854</TotalTime>
  <Words>276</Words>
  <Application>Microsoft Macintosh PowerPoint</Application>
  <PresentationFormat>Widescreen</PresentationFormat>
  <Paragraphs>45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Praktikum Elektronika Analog </vt:lpstr>
      <vt:lpstr>Tujuan Praktikum</vt:lpstr>
      <vt:lpstr>Peralatan yang dibutuhkan</vt:lpstr>
      <vt:lpstr>Persiapan praktikum yang harus dilakukan</vt:lpstr>
      <vt:lpstr>Pengenalan Protoboard</vt:lpstr>
      <vt:lpstr>Datasheets IC uA741 (1/3)</vt:lpstr>
      <vt:lpstr>Datasheets IC uA741 (2/3)</vt:lpstr>
      <vt:lpstr>Datasheets IC uA741 (3/3)</vt:lpstr>
      <vt:lpstr>PowerPoint Presentation</vt:lpstr>
      <vt:lpstr>Rangkaian Skematik Percobaan 1 Inverting</vt:lpstr>
      <vt:lpstr>Rangkaian Skematik Percobaan 2 Non-Inverting</vt:lpstr>
      <vt:lpstr>Langkah dan Tugas Percobaan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Praktikum Elektronika Analog </dc:title>
  <dc:creator>Ginanjar Suwasono Adi</dc:creator>
  <cp:lastModifiedBy>Ginanjar Suwasono Adi</cp:lastModifiedBy>
  <cp:revision>129</cp:revision>
  <dcterms:created xsi:type="dcterms:W3CDTF">2021-11-14T18:58:41Z</dcterms:created>
  <dcterms:modified xsi:type="dcterms:W3CDTF">2022-10-25T07:00:43Z</dcterms:modified>
</cp:coreProperties>
</file>