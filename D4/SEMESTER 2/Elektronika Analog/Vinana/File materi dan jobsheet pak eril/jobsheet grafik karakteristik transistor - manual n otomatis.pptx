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63" r:id="rId4"/>
    <p:sldId id="264" r:id="rId5"/>
    <p:sldId id="258" r:id="rId6"/>
    <p:sldId id="261" r:id="rId7"/>
    <p:sldId id="259" r:id="rId8"/>
    <p:sldId id="262" r:id="rId9"/>
    <p:sldId id="260" r:id="rId10"/>
    <p:sldId id="25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9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4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6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5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6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1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3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2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3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58DC9-6650-431C-B965-8F7DD5C4B993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4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Jobsheet Grafik Karakteristik Transistor BJT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Mode Manual dan Otomatis</a:t>
            </a:r>
          </a:p>
        </p:txBody>
      </p:sp>
    </p:spTree>
    <p:extLst>
      <p:ext uri="{BB962C8B-B14F-4D97-AF65-F5344CB8AC3E}">
        <p14:creationId xmlns:p14="http://schemas.microsoft.com/office/powerpoint/2010/main" val="83480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Alat dan Bahan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4550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Komponen:</a:t>
            </a:r>
          </a:p>
          <a:p>
            <a:pPr marL="0" indent="0">
              <a:buNone/>
            </a:pPr>
            <a:r>
              <a:rPr lang="en-US"/>
              <a:t>R: 10K (1x)</a:t>
            </a:r>
          </a:p>
          <a:p>
            <a:pPr marL="0" indent="0">
              <a:buNone/>
            </a:pPr>
            <a:r>
              <a:rPr lang="en-US"/>
              <a:t>Potensiometer: 10K (1x)</a:t>
            </a:r>
          </a:p>
          <a:p>
            <a:pPr marL="0" indent="0">
              <a:buNone/>
            </a:pPr>
            <a:r>
              <a:rPr lang="en-US"/>
              <a:t>Potensiometer: 1K (1x)</a:t>
            </a:r>
          </a:p>
          <a:p>
            <a:pPr marL="0" indent="0">
              <a:buNone/>
            </a:pPr>
            <a:r>
              <a:rPr lang="en-US"/>
              <a:t>Transistor: BC108 (1x)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825625"/>
            <a:ext cx="53420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Peralatan:</a:t>
            </a:r>
          </a:p>
          <a:p>
            <a:r>
              <a:rPr lang="en-US"/>
              <a:t>Multimeter Analog (1x)</a:t>
            </a:r>
          </a:p>
          <a:p>
            <a:r>
              <a:rPr lang="en-US"/>
              <a:t>Multimeter Digital (1x)</a:t>
            </a:r>
          </a:p>
          <a:p>
            <a:r>
              <a:rPr lang="en-US" strike="sngStrike"/>
              <a:t>Function Generator (1x)</a:t>
            </a:r>
          </a:p>
          <a:p>
            <a:r>
              <a:rPr lang="en-US" strike="sngStrike"/>
              <a:t>Osiloskop (1x)</a:t>
            </a:r>
          </a:p>
          <a:p>
            <a:r>
              <a:rPr lang="en-US"/>
              <a:t>DC Power Supply (1x)</a:t>
            </a:r>
          </a:p>
          <a:p>
            <a:r>
              <a:rPr lang="en-US"/>
              <a:t>Protoboard (1x)</a:t>
            </a:r>
          </a:p>
          <a:p>
            <a:r>
              <a:rPr lang="en-US"/>
              <a:t>Kabel Jumper (secukupnya)</a:t>
            </a:r>
          </a:p>
          <a:p>
            <a:r>
              <a:rPr lang="en-US"/>
              <a:t>Konektor Jumper (secukupnya)</a:t>
            </a:r>
          </a:p>
        </p:txBody>
      </p:sp>
    </p:spTree>
    <p:extLst>
      <p:ext uri="{BB962C8B-B14F-4D97-AF65-F5344CB8AC3E}">
        <p14:creationId xmlns:p14="http://schemas.microsoft.com/office/powerpoint/2010/main" val="863699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B0EA-2316-481D-ACE1-E76B126F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Langkah Kerja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219ED-81C9-99E9-EB92-FF50BB5D3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Buatlah grafik karakteristik transistor (input, output dan transfer) dengan menggunakan mode manual. Pada mode ini pengambilan data dan ploting grafik dilakukan secara manual.</a:t>
            </a:r>
            <a:endParaRPr lang="en-ID"/>
          </a:p>
          <a:p>
            <a:r>
              <a:rPr lang="en-US"/>
              <a:t>Buatlah grafik karakteristik transistor (input, output dan transfer) dengan menggunakan mode otomatis. Pada mode ini pengambilan data dan ploting grafik dilakukan otomatis oleh Proteus menggunakan mode Graph.</a:t>
            </a:r>
          </a:p>
          <a:p>
            <a:r>
              <a:rPr lang="en-US"/>
              <a:t>Bandingkan hasilnya.</a:t>
            </a:r>
            <a:endParaRPr lang="en-ID"/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6206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0A40-1288-256E-4065-78A044E7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 Manual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088DA-A770-AF85-2BB6-991AF80EE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443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CEE3F-A10C-B898-FAB1-3A98AD36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Grafik Karakteristik Input</a:t>
            </a:r>
            <a:endParaRPr lang="en-ID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7D5FFA-C115-ACD6-067B-972AD17F2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745" y="2315582"/>
            <a:ext cx="5851470" cy="298197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Tentukan Vce=0v sesuai tabel (hal berikut) dengan mengatur RV2.</a:t>
            </a:r>
          </a:p>
          <a:p>
            <a:pPr lvl="1"/>
            <a:r>
              <a:rPr lang="en-US" sz="1600"/>
              <a:t>Atur RV1 sedemikian sehingga Vbe=0v lalu ukur Ib dan catat hasilnya dalam tabel.</a:t>
            </a:r>
            <a:endParaRPr lang="en-ID" sz="1600"/>
          </a:p>
          <a:p>
            <a:pPr lvl="1"/>
            <a:r>
              <a:rPr lang="en-US" sz="1600"/>
              <a:t>Lakukan hal yang sama untuk Vbe=0,1 , 0,2 , dst hingga 0,9v</a:t>
            </a:r>
          </a:p>
          <a:p>
            <a:pPr lvl="1"/>
            <a:r>
              <a:rPr lang="en-US" sz="1600"/>
              <a:t>Plotlah data ini ke dalam kurva Ib vs Vbe.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Tentukan Vce=2v lalu lakukan hal yang sama seperti pada butir 1 . Selanjutnya lakukan hal yang sama untuk Vce=4v, 6v, …, 10v.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Catatan: Langkah butir 1 dan 2 bila dikerjakan akan menghasilkan 6 kurva. Gabungkan kurva-kurva tersebut dalam 1 grafik.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10E17-DBF6-8538-2EB7-955A78E1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5" y="1987826"/>
            <a:ext cx="5574960" cy="343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6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B584-F7D1-EB80-1083-404E021C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Tabel Pengukuran Grafik Karakteristik Input</a:t>
            </a:r>
            <a:endParaRPr lang="en-ID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14FD547-829D-09C1-15A5-9A75115322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38400" y="2904014"/>
          <a:ext cx="73152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710296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528317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3706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6843828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666213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21816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942618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754874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754574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475169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881936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4162299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Vce=0v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417094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914192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Vce=2v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810788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46670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Vce=4v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423723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8452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Vce=6v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13927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5883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Vce=8v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79997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29045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Vce=10v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Vbe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0,9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87711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7908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043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B9B3-EC62-78E9-016D-075AE1A9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Grafik Karakteristik Output</a:t>
            </a:r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E4AD9D-AB44-1373-BAE9-F1E432F40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5" y="1987826"/>
            <a:ext cx="5574960" cy="3437434"/>
          </a:xfrm>
          <a:prstGeom prst="rect">
            <a:avLst/>
          </a:prstGeom>
        </p:spPr>
      </p:pic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68CC00CF-098E-D228-0F27-70E6A11D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745" y="2315582"/>
            <a:ext cx="5750485" cy="2781921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Tentukan Ib=0uA sesuai tabel (hal berikut) dengan mengatur RV1.</a:t>
            </a:r>
          </a:p>
          <a:p>
            <a:pPr lvl="1"/>
            <a:r>
              <a:rPr lang="en-US" sz="1600"/>
              <a:t>Atur RV2 sedemikian sehingga Vce=0v lalu ukur Ic dan catat hasilnya dalam tabel.</a:t>
            </a:r>
            <a:endParaRPr lang="en-ID" sz="1600"/>
          </a:p>
          <a:p>
            <a:pPr lvl="1"/>
            <a:r>
              <a:rPr lang="en-US" sz="1600"/>
              <a:t>Lakukan hal yang sama untuk Vce=1 , 2 , dst hingga 10v</a:t>
            </a:r>
          </a:p>
          <a:p>
            <a:pPr lvl="1"/>
            <a:r>
              <a:rPr lang="en-US" sz="1600"/>
              <a:t>Plotlah data ini ke dalam kurva Ic vs Vce.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Tentukan Ib=20uA lalu lakukan hal yang sama seperti pada butir 1 . Selanjutnya lakukan hal yang sama untuk Ib=40uA, 60uA, …, 100uA.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Catatan: Langkah butir 1 dan 2 bila dikerjakan akan menghasilkan 6 kurva. Gabungkan kurva-kurva tersebut dalam 1 grafik.</a:t>
            </a:r>
          </a:p>
          <a:p>
            <a:pPr marL="457200" indent="-457200">
              <a:buFont typeface="+mj-lt"/>
              <a:buAutoNum type="arabicPeriod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96629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544D-5ABF-DF12-C634-8B15540C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Tabel Pengukuran Grafik Karakteristik Output</a:t>
            </a:r>
            <a:endParaRPr lang="en-I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D66CF0-B697-4410-4F27-9228224FC80F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2332038"/>
          <a:ext cx="79248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3841628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03179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407890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323555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497846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92650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337699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0346949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143722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19888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426569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084915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5436119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539288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83424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Ib=20uA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11663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687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Ib=40uA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1462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30107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Ib=60uA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50619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80320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Ib=80uA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27233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24534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Ib=100uA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 (V)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727933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96558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75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D219-7542-9956-0BF0-9EA230C4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Grafik Karakteristik Transfer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1F0F9-F60C-0A41-9A27-B0A1D4CF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5" y="1987826"/>
            <a:ext cx="5574960" cy="3437434"/>
          </a:xfrm>
          <a:prstGeom prst="rect">
            <a:avLst/>
          </a:prstGeom>
        </p:spPr>
      </p:pic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61DF670-7E26-E0AB-FD80-E0F8E5217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745" y="2315582"/>
            <a:ext cx="5750485" cy="2781921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Tentukan Vce=0v sesuai tabel (hal berikut) dengan mengatur RV2.</a:t>
            </a:r>
          </a:p>
          <a:p>
            <a:pPr lvl="1"/>
            <a:r>
              <a:rPr lang="en-US" sz="1600"/>
              <a:t>Atur RV1 sedemikian sehingga Ib=0uA lalu ukur Ic dan catat hasilnya dalam tabel.</a:t>
            </a:r>
            <a:endParaRPr lang="en-ID" sz="1600"/>
          </a:p>
          <a:p>
            <a:pPr lvl="1"/>
            <a:r>
              <a:rPr lang="en-US" sz="1600"/>
              <a:t>Lakukan hal yang sama untuk Ib=10 , 20 , dst hingga 100uA</a:t>
            </a:r>
          </a:p>
          <a:p>
            <a:pPr lvl="1"/>
            <a:r>
              <a:rPr lang="en-US" sz="1600"/>
              <a:t>Plotlah data ini ke dalam kurva Ic vs Ib.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Tentukan Vce=2v lalu lakukan hal yang sama seperti pada butir 1 . Selanjutnya lakukan hal yang sama untuk Vce=4v, 6v, …, 10v.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Catatan: Langkah butir 1 dan 2 bila dikerjakan akan menghasilkan 6 kurva. Gabungkan kurva-kurva tersebut dalam 1 grafik.</a:t>
            </a:r>
          </a:p>
          <a:p>
            <a:pPr marL="457200" indent="-457200">
              <a:buFont typeface="+mj-lt"/>
              <a:buAutoNum type="arabicPeriod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59565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03FD24-94DD-2A5A-5C27-AB478FCB828F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2332038"/>
          <a:ext cx="79248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1458601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88343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665029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714838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754513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520672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274592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842388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593373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493312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051632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932678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5778464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Vce=0v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04511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10333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Vce=2v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59678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33917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Vce=4v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540307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00464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Vce=6v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02103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110952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Vce=8v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07893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947930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Vce=10v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Ib (uA)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30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100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65094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Ic (mA)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 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3409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2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A066-0A74-4FB9-B5D9-6D2F3C30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B8D4-1789-A35A-9D43-FB9A9747D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 Otomatis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ED62-FF57-9939-D550-F9B011895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Ikuti tutorial yang telah diberikan untuk pembuatan grafik karakteristik transistor menggunakan mode Graph untuk:</a:t>
            </a:r>
          </a:p>
          <a:p>
            <a:r>
              <a:rPr lang="en-US"/>
              <a:t>-Karakteristik Input</a:t>
            </a:r>
          </a:p>
          <a:p>
            <a:r>
              <a:rPr lang="en-US"/>
              <a:t>-Karakteristik Output</a:t>
            </a:r>
            <a:endParaRPr lang="en-ID"/>
          </a:p>
          <a:p>
            <a:r>
              <a:rPr lang="en-US"/>
              <a:t>-Karakteristik Transfer</a:t>
            </a:r>
            <a:endParaRPr lang="en-ID"/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941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1104</Words>
  <Application>Microsoft Office PowerPoint</Application>
  <PresentationFormat>Widescreen</PresentationFormat>
  <Paragraphs>506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Jobsheet Grafik Karakteristik Transistor BJT</vt:lpstr>
      <vt:lpstr>Alat dan Bahan </vt:lpstr>
      <vt:lpstr>Langkah Kerja</vt:lpstr>
      <vt:lpstr>Mode Manual</vt:lpstr>
      <vt:lpstr>Grafik Karakteristik Input</vt:lpstr>
      <vt:lpstr>Tabel Pengukuran Grafik Karakteristik Input</vt:lpstr>
      <vt:lpstr>Grafik Karakteristik Output</vt:lpstr>
      <vt:lpstr>Tabel Pengukuran Grafik Karakteristik Output</vt:lpstr>
      <vt:lpstr>Grafik Karakteristik Transfer</vt:lpstr>
      <vt:lpstr>PowerPoint Presentation</vt:lpstr>
      <vt:lpstr>Mode Otomatis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erilmozef@yahoo.com</cp:lastModifiedBy>
  <cp:revision>33</cp:revision>
  <dcterms:created xsi:type="dcterms:W3CDTF">2024-04-25T05:33:30Z</dcterms:created>
  <dcterms:modified xsi:type="dcterms:W3CDTF">2025-04-25T06:21:02Z</dcterms:modified>
</cp:coreProperties>
</file>