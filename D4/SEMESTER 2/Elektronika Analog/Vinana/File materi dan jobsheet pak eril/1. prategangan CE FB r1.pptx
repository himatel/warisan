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581" r:id="rId2"/>
    <p:sldId id="582" r:id="rId3"/>
    <p:sldId id="590" r:id="rId4"/>
    <p:sldId id="531" r:id="rId5"/>
    <p:sldId id="586" r:id="rId6"/>
    <p:sldId id="592" r:id="rId7"/>
    <p:sldId id="587" r:id="rId8"/>
    <p:sldId id="588" r:id="rId9"/>
    <p:sldId id="589" r:id="rId10"/>
    <p:sldId id="593" r:id="rId11"/>
    <p:sldId id="583" r:id="rId12"/>
    <p:sldId id="591" r:id="rId13"/>
    <p:sldId id="58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0000CC"/>
    <a:srgbClr val="003399"/>
    <a:srgbClr val="0000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99" autoAdjust="0"/>
    <p:restoredTop sz="94095" autoAdjust="0"/>
  </p:normalViewPr>
  <p:slideViewPr>
    <p:cSldViewPr snapToGrid="0">
      <p:cViewPr>
        <p:scale>
          <a:sx n="90" d="100"/>
          <a:sy n="90" d="100"/>
        </p:scale>
        <p:origin x="917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4FDDA-911B-48F6-8BA3-35EF8A11B59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36D3-FA24-4739-B47E-2142C1D55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8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2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3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0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0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14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68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7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0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38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511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B8750-F07A-4D82-9819-420E9167C937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54220-2382-47CB-A254-A149820A5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6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/>
              <a:t>Perancangan Prategangan CE FB (Common Emitter Fixed-Bias)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11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727121" cy="12189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Diketahui sebuah rangkaian Common Emitter Fixed-Bias (CE FB) dengan spesifikasi sbb: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BJT=BC108, Beta=B=267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Vcc=10v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Icmax=2mA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Vceq=1/2 Vcc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Vbe=0.7V (Vbe ON)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/>
              <a:t>Vbeq=0,67V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/>
          </a:p>
        </p:txBody>
      </p:sp>
      <p:sp>
        <p:nvSpPr>
          <p:cNvPr id="4" name="Content Placeholder 6"/>
          <p:cNvSpPr txBox="1">
            <a:spLocks/>
          </p:cNvSpPr>
          <p:nvPr/>
        </p:nvSpPr>
        <p:spPr>
          <a:xfrm>
            <a:off x="628650" y="3328944"/>
            <a:ext cx="4561823" cy="2436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F21552-3512-4B61-BCF7-9870A71A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326" y="1661836"/>
            <a:ext cx="2133898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05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C570-3346-441C-98A7-B6D0ACE6A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ABA0-DFB5-40D9-8F7C-0C6B256E2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8044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Ditanya:</a:t>
            </a:r>
          </a:p>
          <a:p>
            <a:pPr marL="0" indent="0">
              <a:buNone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Vcemax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Buatlah Garis Beban.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Vceq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Rc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Icq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Ibq dengan rumus 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Ibq dengan grafik karakteristik outout BJT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Tentukan Rb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Buatlah skema lengkap prategangan dengan nilai-nilai yang didapat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Buatlah simulasinya di Proteus dan buktikan dengan pengukuran Vceq, Icq, Ibq sama dengan perhitungan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3198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Membuat </a:t>
            </a:r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dirty="0" err="1"/>
              <a:t>Beban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420890"/>
            <a:ext cx="8071213" cy="1568567"/>
          </a:xfrm>
        </p:spPr>
        <p:txBody>
          <a:bodyPr>
            <a:normAutofit/>
          </a:bodyPr>
          <a:lstStyle/>
          <a:p>
            <a:r>
              <a:rPr lang="en-US" sz="2400" err="1"/>
              <a:t>Buat</a:t>
            </a:r>
            <a:r>
              <a:rPr lang="en-US" sz="2400"/>
              <a:t> titik pada sumbu Vce dimana Vce = Vcemaks = </a:t>
            </a:r>
            <a:r>
              <a:rPr lang="en-US" sz="2400" dirty="0" err="1"/>
              <a:t>Vcc</a:t>
            </a:r>
            <a:r>
              <a:rPr lang="en-US" sz="2400" dirty="0"/>
              <a:t> </a:t>
            </a:r>
            <a:r>
              <a:rPr lang="en-US" sz="2400"/>
              <a:t>= 10v</a:t>
            </a:r>
            <a:endParaRPr lang="en-US" sz="2400" dirty="0"/>
          </a:p>
          <a:p>
            <a:r>
              <a:rPr lang="en-US" sz="2400" dirty="0" err="1"/>
              <a:t>Buat</a:t>
            </a:r>
            <a:r>
              <a:rPr lang="en-US" sz="2400" dirty="0"/>
              <a:t> </a:t>
            </a:r>
            <a:r>
              <a:rPr lang="en-US" sz="2400" err="1"/>
              <a:t>titik</a:t>
            </a:r>
            <a:r>
              <a:rPr lang="en-US" sz="2400"/>
              <a:t> pada sumbu Ic dimana Ic = Ic</a:t>
            </a:r>
            <a:r>
              <a:rPr lang="en-US" sz="2400" err="1"/>
              <a:t>_</a:t>
            </a:r>
            <a:r>
              <a:rPr lang="en-US" sz="2400"/>
              <a:t>maks = 2mA</a:t>
            </a:r>
            <a:endParaRPr lang="en-US" sz="2400" dirty="0"/>
          </a:p>
          <a:p>
            <a:r>
              <a:rPr lang="en-US" sz="2400" dirty="0"/>
              <a:t>Tarik </a:t>
            </a:r>
            <a:r>
              <a:rPr lang="en-US" sz="2400" dirty="0" err="1"/>
              <a:t>garis</a:t>
            </a:r>
            <a:r>
              <a:rPr lang="en-US" sz="2400" dirty="0"/>
              <a:t> </a:t>
            </a:r>
            <a:r>
              <a:rPr lang="en-US" sz="2400" dirty="0" err="1"/>
              <a:t>lurus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 </a:t>
            </a:r>
            <a:r>
              <a:rPr lang="en-US" sz="2400" dirty="0" err="1"/>
              <a:t>titik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1CCF01-F9AB-441C-86F4-030CCF9B256D}"/>
              </a:ext>
            </a:extLst>
          </p:cNvPr>
          <p:cNvGrpSpPr/>
          <p:nvPr/>
        </p:nvGrpSpPr>
        <p:grpSpPr>
          <a:xfrm>
            <a:off x="4686299" y="3152442"/>
            <a:ext cx="4167704" cy="3428386"/>
            <a:chOff x="2422183" y="3089358"/>
            <a:chExt cx="4167704" cy="342838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36F077A-C34B-4982-8B3A-C0020D8F8766}"/>
                </a:ext>
              </a:extLst>
            </p:cNvPr>
            <p:cNvCxnSpPr/>
            <p:nvPr/>
          </p:nvCxnSpPr>
          <p:spPr>
            <a:xfrm flipH="1" flipV="1">
              <a:off x="3140699" y="3741394"/>
              <a:ext cx="1872941" cy="1917641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8EB1EAF-3CA2-4310-AA19-D3BE5187DD71}"/>
                </a:ext>
              </a:extLst>
            </p:cNvPr>
            <p:cNvSpPr/>
            <p:nvPr/>
          </p:nvSpPr>
          <p:spPr>
            <a:xfrm>
              <a:off x="4973874" y="5636096"/>
              <a:ext cx="104585" cy="14777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F07C72D-83B8-4DC9-ABE5-88E08379179F}"/>
                </a:ext>
              </a:extLst>
            </p:cNvPr>
            <p:cNvSpPr/>
            <p:nvPr/>
          </p:nvSpPr>
          <p:spPr>
            <a:xfrm>
              <a:off x="3108606" y="3708182"/>
              <a:ext cx="104585" cy="14777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ECAEAE9-F891-4A0C-B994-DE31AB82C202}"/>
                </a:ext>
              </a:extLst>
            </p:cNvPr>
            <p:cNvGrpSpPr/>
            <p:nvPr/>
          </p:nvGrpSpPr>
          <p:grpSpPr>
            <a:xfrm>
              <a:off x="2688179" y="3089358"/>
              <a:ext cx="3901708" cy="3008107"/>
              <a:chOff x="6901368" y="448649"/>
              <a:chExt cx="3901708" cy="3008107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E60B826-2260-4267-99B6-0B93B76D81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3156" y="791008"/>
                <a:ext cx="0" cy="253699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1449666-AE11-46BC-8B83-C2DEFE430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0298" y="3069273"/>
                <a:ext cx="3140726" cy="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FE12483-DE09-4B8D-8698-6951521FB7DB}"/>
                  </a:ext>
                </a:extLst>
              </p:cNvPr>
              <p:cNvSpPr txBox="1"/>
              <p:nvPr/>
            </p:nvSpPr>
            <p:spPr>
              <a:xfrm>
                <a:off x="6901368" y="448649"/>
                <a:ext cx="10685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Ic (mA)</a:t>
                </a:r>
                <a:endParaRPr lang="en-US" sz="20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DE559DB-DFFE-4129-833D-C0525AAD4A2C}"/>
                  </a:ext>
                </a:extLst>
              </p:cNvPr>
              <p:cNvSpPr txBox="1"/>
              <p:nvPr/>
            </p:nvSpPr>
            <p:spPr>
              <a:xfrm>
                <a:off x="9532080" y="3056646"/>
                <a:ext cx="12709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/>
                  <a:t>Vce (volts)</a:t>
                </a:r>
                <a:endParaRPr lang="en-US" sz="2000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EA5526-A9D2-4227-8D66-AC0A6A4E9C4A}"/>
                </a:ext>
              </a:extLst>
            </p:cNvPr>
            <p:cNvSpPr txBox="1"/>
            <p:nvPr/>
          </p:nvSpPr>
          <p:spPr>
            <a:xfrm>
              <a:off x="4562287" y="5779080"/>
              <a:ext cx="82317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Vcemaks</a:t>
              </a:r>
            </a:p>
            <a:p>
              <a:r>
                <a:rPr lang="en-US" sz="1400"/>
                <a:t>=Vcc</a:t>
              </a:r>
            </a:p>
            <a:p>
              <a:r>
                <a:rPr lang="en-US" sz="1400"/>
                <a:t>=10v</a:t>
              </a:r>
              <a:endParaRPr lang="en-US" sz="1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4C8C2E8-F39B-4316-9B22-AD5C255973EC}"/>
                </a:ext>
              </a:extLst>
            </p:cNvPr>
            <p:cNvSpPr txBox="1"/>
            <p:nvPr/>
          </p:nvSpPr>
          <p:spPr>
            <a:xfrm>
              <a:off x="2422183" y="3638817"/>
              <a:ext cx="7910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/>
                <a:t>Icmaks</a:t>
              </a:r>
            </a:p>
            <a:p>
              <a:r>
                <a:rPr lang="en-US" sz="1400"/>
                <a:t>=2mA</a:t>
              </a:r>
              <a:endParaRPr lang="en-US" sz="1400" dirty="0"/>
            </a:p>
          </p:txBody>
        </p:sp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24ECA58-2A31-4839-B157-701567CD0029}"/>
              </a:ext>
            </a:extLst>
          </p:cNvPr>
          <p:cNvSpPr txBox="1">
            <a:spLocks/>
          </p:cNvSpPr>
          <p:nvPr/>
        </p:nvSpPr>
        <p:spPr>
          <a:xfrm>
            <a:off x="594147" y="3547800"/>
            <a:ext cx="3737422" cy="222434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Analisis:</a:t>
            </a:r>
          </a:p>
          <a:p>
            <a:r>
              <a:rPr lang="en-US"/>
              <a:t>Ketika Ic=0 maka</a:t>
            </a:r>
          </a:p>
          <a:p>
            <a:pPr lvl="1"/>
            <a:r>
              <a:rPr lang="en-US"/>
              <a:t>Vce = Vcemaks = Vcc = 10V</a:t>
            </a:r>
          </a:p>
          <a:p>
            <a:pPr lvl="1"/>
            <a:r>
              <a:rPr lang="en-US"/>
              <a:t>Vcemaks = 10V</a:t>
            </a:r>
          </a:p>
          <a:p>
            <a:r>
              <a:rPr lang="en-US"/>
              <a:t>Ketika Vce=0 maka</a:t>
            </a:r>
          </a:p>
          <a:p>
            <a:pPr lvl="1"/>
            <a:r>
              <a:rPr lang="en-US"/>
              <a:t>Ic = Icmaks = 2mA</a:t>
            </a:r>
          </a:p>
          <a:p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654B2-2067-4E64-89A3-DE9ED57BF770}"/>
              </a:ext>
            </a:extLst>
          </p:cNvPr>
          <p:cNvSpPr txBox="1"/>
          <p:nvPr/>
        </p:nvSpPr>
        <p:spPr>
          <a:xfrm>
            <a:off x="5148976" y="576163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0</a:t>
            </a:r>
            <a:endParaRPr lang="en-ID" sz="1400"/>
          </a:p>
        </p:txBody>
      </p:sp>
    </p:spTree>
    <p:extLst>
      <p:ext uri="{BB962C8B-B14F-4D97-AF65-F5344CB8AC3E}">
        <p14:creationId xmlns:p14="http://schemas.microsoft.com/office/powerpoint/2010/main" val="339966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Menentukan Vceq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3053"/>
            <a:ext cx="7886700" cy="9026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/>
              <a:t>Vceq merupakan fungsi dari Vcc, </a:t>
            </a:r>
          </a:p>
          <a:p>
            <a:pPr marL="0" indent="0">
              <a:buNone/>
            </a:pPr>
            <a:r>
              <a:rPr lang="en-US" sz="2000"/>
              <a:t>Biasanya Vceq = ½ Vcc (agar perubahan tegangan output di Kolektor maksimal)</a:t>
            </a:r>
          </a:p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 </a:t>
            </a:r>
            <a:r>
              <a:rPr lang="en-US" sz="2000"/>
              <a:t>Vceq= ½ Vcc = ½ 10V = 5V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D0D26D-1FD1-4F13-8074-2A5F98D83EC7}"/>
              </a:ext>
            </a:extLst>
          </p:cNvPr>
          <p:cNvCxnSpPr/>
          <p:nvPr/>
        </p:nvCxnSpPr>
        <p:spPr>
          <a:xfrm flipH="1" flipV="1">
            <a:off x="1211685" y="3490771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17CAD17-4FDC-450C-A8FB-A24F6F56658A}"/>
              </a:ext>
            </a:extLst>
          </p:cNvPr>
          <p:cNvSpPr/>
          <p:nvPr/>
        </p:nvSpPr>
        <p:spPr>
          <a:xfrm>
            <a:off x="3044860" y="5385473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C88EE0-57A1-4EDE-BA92-CA7AB5C18B28}"/>
              </a:ext>
            </a:extLst>
          </p:cNvPr>
          <p:cNvCxnSpPr>
            <a:cxnSpLocks/>
          </p:cNvCxnSpPr>
          <p:nvPr/>
        </p:nvCxnSpPr>
        <p:spPr>
          <a:xfrm flipV="1">
            <a:off x="2062430" y="4509011"/>
            <a:ext cx="0" cy="975778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48B479A-C036-4B67-B955-5CF41728C506}"/>
              </a:ext>
            </a:extLst>
          </p:cNvPr>
          <p:cNvSpPr/>
          <p:nvPr/>
        </p:nvSpPr>
        <p:spPr>
          <a:xfrm>
            <a:off x="1179592" y="3457559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84634F-AC2E-4329-8463-2F4BB75A8CE0}"/>
              </a:ext>
            </a:extLst>
          </p:cNvPr>
          <p:cNvSpPr txBox="1"/>
          <p:nvPr/>
        </p:nvSpPr>
        <p:spPr>
          <a:xfrm>
            <a:off x="1719778" y="5459358"/>
            <a:ext cx="6789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Vceq</a:t>
            </a:r>
          </a:p>
          <a:p>
            <a:r>
              <a:rPr lang="en-US" sz="1400"/>
              <a:t>=½ Vcc</a:t>
            </a:r>
          </a:p>
          <a:p>
            <a:r>
              <a:rPr lang="en-US" sz="1400"/>
              <a:t>=5V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0B8797-F5BC-48AC-A57F-D0C876A01C36}"/>
              </a:ext>
            </a:extLst>
          </p:cNvPr>
          <p:cNvSpPr txBox="1"/>
          <p:nvPr/>
        </p:nvSpPr>
        <p:spPr>
          <a:xfrm>
            <a:off x="529348" y="3387983"/>
            <a:ext cx="684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Icmaks</a:t>
            </a:r>
          </a:p>
          <a:p>
            <a:r>
              <a:rPr lang="en-US" sz="1400"/>
              <a:t>=2mA</a:t>
            </a:r>
            <a:endParaRPr 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DABBFC-B025-45FA-9784-EC7BE6F4D862}"/>
              </a:ext>
            </a:extLst>
          </p:cNvPr>
          <p:cNvSpPr txBox="1"/>
          <p:nvPr/>
        </p:nvSpPr>
        <p:spPr>
          <a:xfrm>
            <a:off x="2557097" y="5510308"/>
            <a:ext cx="8231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Vcemaks</a:t>
            </a:r>
          </a:p>
          <a:p>
            <a:r>
              <a:rPr lang="en-US" sz="1400"/>
              <a:t>=Vcc</a:t>
            </a:r>
          </a:p>
          <a:p>
            <a:r>
              <a:rPr lang="en-US" sz="1400"/>
              <a:t>=10V</a:t>
            </a:r>
            <a:endParaRPr lang="en-US" sz="140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8101113-2B36-4F91-A1B9-5C870BAB924D}"/>
              </a:ext>
            </a:extLst>
          </p:cNvPr>
          <p:cNvSpPr/>
          <p:nvPr/>
        </p:nvSpPr>
        <p:spPr>
          <a:xfrm>
            <a:off x="1977534" y="4273411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6EF54A-1347-49B2-AABA-140535493763}"/>
              </a:ext>
            </a:extLst>
          </p:cNvPr>
          <p:cNvCxnSpPr>
            <a:cxnSpLocks/>
          </p:cNvCxnSpPr>
          <p:nvPr/>
        </p:nvCxnSpPr>
        <p:spPr>
          <a:xfrm flipV="1">
            <a:off x="1211685" y="3181094"/>
            <a:ext cx="0" cy="25369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69DDF88-9ED0-4CA4-AC80-E816074983A8}"/>
              </a:ext>
            </a:extLst>
          </p:cNvPr>
          <p:cNvCxnSpPr>
            <a:cxnSpLocks/>
          </p:cNvCxnSpPr>
          <p:nvPr/>
        </p:nvCxnSpPr>
        <p:spPr>
          <a:xfrm>
            <a:off x="878827" y="5459359"/>
            <a:ext cx="3140726" cy="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111C4A3-5FFA-45D1-A90A-17D81DBCCD7C}"/>
              </a:ext>
            </a:extLst>
          </p:cNvPr>
          <p:cNvSpPr txBox="1"/>
          <p:nvPr/>
        </p:nvSpPr>
        <p:spPr>
          <a:xfrm>
            <a:off x="749897" y="2838735"/>
            <a:ext cx="1068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Ic (mA)</a:t>
            </a:r>
            <a:endParaRPr lang="en-US" sz="2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024275-1E73-4743-A4C6-4784863FBE7B}"/>
              </a:ext>
            </a:extLst>
          </p:cNvPr>
          <p:cNvSpPr txBox="1"/>
          <p:nvPr/>
        </p:nvSpPr>
        <p:spPr>
          <a:xfrm>
            <a:off x="3380609" y="5446732"/>
            <a:ext cx="1270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Vce (volts)</a:t>
            </a:r>
            <a:endParaRPr lang="en-US" sz="20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FC5177E-3EC8-4CE8-8179-33E416ECCCD8}"/>
              </a:ext>
            </a:extLst>
          </p:cNvPr>
          <p:cNvCxnSpPr/>
          <p:nvPr/>
        </p:nvCxnSpPr>
        <p:spPr>
          <a:xfrm flipV="1">
            <a:off x="7436331" y="4623377"/>
            <a:ext cx="0" cy="1370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AE1E72-0A9C-48B0-8A3B-70CC7A12A23A}"/>
              </a:ext>
            </a:extLst>
          </p:cNvPr>
          <p:cNvSpPr txBox="1"/>
          <p:nvPr/>
        </p:nvSpPr>
        <p:spPr>
          <a:xfrm>
            <a:off x="907598" y="540841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0</a:t>
            </a:r>
            <a:endParaRPr lang="en-ID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7983E5AE-1D20-4CC9-8593-988CBD770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48" y="2914757"/>
            <a:ext cx="2133898" cy="333421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F5C81044-97A7-4884-ACB4-DEAE9E91C5FB}"/>
              </a:ext>
            </a:extLst>
          </p:cNvPr>
          <p:cNvSpPr txBox="1"/>
          <p:nvPr/>
        </p:nvSpPr>
        <p:spPr>
          <a:xfrm>
            <a:off x="6694277" y="2895771"/>
            <a:ext cx="5597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=10V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8D02A7-BD73-4E55-9DE0-10BC7F328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964" y="3401931"/>
            <a:ext cx="400050" cy="221415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F1C626F-2E13-4210-A6C2-BEA748E94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12549" y="5534456"/>
            <a:ext cx="369326" cy="1844231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28DDDA06-08AC-4C1F-85C9-42E6DF29BD4A}"/>
              </a:ext>
            </a:extLst>
          </p:cNvPr>
          <p:cNvSpPr txBox="1"/>
          <p:nvPr/>
        </p:nvSpPr>
        <p:spPr>
          <a:xfrm>
            <a:off x="6792222" y="4939080"/>
            <a:ext cx="67896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Vceq</a:t>
            </a:r>
          </a:p>
          <a:p>
            <a:r>
              <a:rPr lang="en-US" sz="1400"/>
              <a:t>=½ Vcc</a:t>
            </a:r>
          </a:p>
          <a:p>
            <a:r>
              <a:rPr lang="en-US" sz="1400"/>
              <a:t>=5V</a:t>
            </a:r>
            <a:endParaRPr lang="en-US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39605B-6E64-4391-B8C5-016F4C3B148E}"/>
              </a:ext>
            </a:extLst>
          </p:cNvPr>
          <p:cNvCxnSpPr/>
          <p:nvPr/>
        </p:nvCxnSpPr>
        <p:spPr>
          <a:xfrm flipH="1">
            <a:off x="-1257300" y="5459358"/>
            <a:ext cx="24323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F010FA-42F1-4322-A432-5167304D48EB}"/>
              </a:ext>
            </a:extLst>
          </p:cNvPr>
          <p:cNvCxnSpPr>
            <a:cxnSpLocks/>
          </p:cNvCxnSpPr>
          <p:nvPr/>
        </p:nvCxnSpPr>
        <p:spPr>
          <a:xfrm flipH="1" flipV="1">
            <a:off x="-314631" y="3486591"/>
            <a:ext cx="864230" cy="19703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80E0008-1839-43CD-B278-021B50F3E888}"/>
              </a:ext>
            </a:extLst>
          </p:cNvPr>
          <p:cNvSpPr txBox="1"/>
          <p:nvPr/>
        </p:nvSpPr>
        <p:spPr>
          <a:xfrm>
            <a:off x="-1374848" y="5477689"/>
            <a:ext cx="897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Ib (uA)</a:t>
            </a:r>
            <a:endParaRPr lang="en-US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DE6D35-AA90-4BB7-8002-BE88BD1B24AE}"/>
              </a:ext>
            </a:extLst>
          </p:cNvPr>
          <p:cNvCxnSpPr>
            <a:cxnSpLocks/>
          </p:cNvCxnSpPr>
          <p:nvPr/>
        </p:nvCxnSpPr>
        <p:spPr>
          <a:xfrm flipH="1" flipV="1">
            <a:off x="-336277" y="3508106"/>
            <a:ext cx="1536630" cy="23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25E23D-9430-4C18-8EA6-ECDFC12BF2AB}"/>
              </a:ext>
            </a:extLst>
          </p:cNvPr>
          <p:cNvCxnSpPr/>
          <p:nvPr/>
        </p:nvCxnSpPr>
        <p:spPr>
          <a:xfrm>
            <a:off x="-336277" y="3485138"/>
            <a:ext cx="0" cy="19615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4661EBC-BA3A-4368-8B5C-0720F9AF71C2}"/>
              </a:ext>
            </a:extLst>
          </p:cNvPr>
          <p:cNvCxnSpPr>
            <a:stCxn id="55" idx="2"/>
          </p:cNvCxnSpPr>
          <p:nvPr/>
        </p:nvCxnSpPr>
        <p:spPr>
          <a:xfrm flipH="1">
            <a:off x="0" y="4361501"/>
            <a:ext cx="19775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C2DE5E6-028A-4072-814B-796B2ADDDC91}"/>
              </a:ext>
            </a:extLst>
          </p:cNvPr>
          <p:cNvSpPr txBox="1"/>
          <p:nvPr/>
        </p:nvSpPr>
        <p:spPr>
          <a:xfrm>
            <a:off x="784843" y="4350992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Icq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17F135-0E09-4710-9F9C-9004A33DE78D}"/>
              </a:ext>
            </a:extLst>
          </p:cNvPr>
          <p:cNvSpPr txBox="1"/>
          <p:nvPr/>
        </p:nvSpPr>
        <p:spPr>
          <a:xfrm>
            <a:off x="-195399" y="5423142"/>
            <a:ext cx="418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Ibq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0397B80-0E77-4A6E-8654-2E7C2FA6C129}"/>
              </a:ext>
            </a:extLst>
          </p:cNvPr>
          <p:cNvCxnSpPr>
            <a:cxnSpLocks/>
          </p:cNvCxnSpPr>
          <p:nvPr/>
        </p:nvCxnSpPr>
        <p:spPr>
          <a:xfrm>
            <a:off x="35198" y="4350992"/>
            <a:ext cx="0" cy="111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66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298155"/>
            <a:ext cx="8339519" cy="940839"/>
          </a:xfrm>
        </p:spPr>
        <p:txBody>
          <a:bodyPr>
            <a:normAutofit/>
          </a:bodyPr>
          <a:lstStyle/>
          <a:p>
            <a:r>
              <a:rPr lang="en-US" sz="3600"/>
              <a:t>Menentukan Rc</a:t>
            </a:r>
            <a:endParaRPr lang="en-US" sz="3600" dirty="0"/>
          </a:p>
        </p:txBody>
      </p:sp>
      <p:sp>
        <p:nvSpPr>
          <p:cNvPr id="72" name="TextBox 71"/>
          <p:cNvSpPr txBox="1"/>
          <p:nvPr/>
        </p:nvSpPr>
        <p:spPr>
          <a:xfrm>
            <a:off x="1125314" y="1557227"/>
            <a:ext cx="64661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Rc</a:t>
            </a:r>
            <a:r>
              <a:rPr lang="en-US" sz="2800" dirty="0"/>
              <a:t> = </a:t>
            </a:r>
            <a:r>
              <a:rPr lang="en-US" sz="2800" dirty="0" err="1"/>
              <a:t>Vcc</a:t>
            </a:r>
            <a:r>
              <a:rPr lang="en-US" sz="2800"/>
              <a:t>/Icmax =10v/2mA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è"/>
            </a:pPr>
            <a:r>
              <a:rPr lang="en-US" sz="2800"/>
              <a:t>Rc=5000 ohm</a:t>
            </a:r>
          </a:p>
        </p:txBody>
      </p:sp>
    </p:spTree>
    <p:extLst>
      <p:ext uri="{BB962C8B-B14F-4D97-AF65-F5344CB8AC3E}">
        <p14:creationId xmlns:p14="http://schemas.microsoft.com/office/powerpoint/2010/main" val="781856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Menentukan Icq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3112"/>
            <a:ext cx="7886700" cy="165252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 </a:t>
            </a:r>
            <a:r>
              <a:rPr lang="en-US" sz="2000"/>
              <a:t>Icq tergantung Vceq dengan persamaan berikut.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>
                <a:sym typeface="Wingdings" panose="05000000000000000000" pitchFamily="2" charset="2"/>
              </a:rPr>
              <a:t>Icq=(Vcc-</a:t>
            </a:r>
            <a:r>
              <a:rPr lang="en-US" sz="2000"/>
              <a:t>Vceq)/Rc = (10V-5V)/5000 = 0,001A = 1mA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/>
              <a:t>Ingat Icq tidak selalu ½ Icmaks tapi Icq tergantung Vceq dan selalu berada pada garis beban dengan mengikuti persamaan </a:t>
            </a:r>
            <a:r>
              <a:rPr lang="en-US" sz="2000">
                <a:sym typeface="Wingdings" panose="05000000000000000000" pitchFamily="2" charset="2"/>
              </a:rPr>
              <a:t>Icq=(Vcc-</a:t>
            </a:r>
            <a:r>
              <a:rPr lang="en-US" sz="2000"/>
              <a:t>Vceq)/Rc.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/>
              <a:t>Dengan persamaan ini maka bila di soal Vceq tidak sama dengan ½ Vcc maka kita bisa tetap mencari nilai Icq.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D0D26D-1FD1-4F13-8074-2A5F98D83EC7}"/>
              </a:ext>
            </a:extLst>
          </p:cNvPr>
          <p:cNvCxnSpPr/>
          <p:nvPr/>
        </p:nvCxnSpPr>
        <p:spPr>
          <a:xfrm flipH="1" flipV="1">
            <a:off x="1122812" y="4081036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17CAD17-4FDC-450C-A8FB-A24F6F56658A}"/>
              </a:ext>
            </a:extLst>
          </p:cNvPr>
          <p:cNvSpPr/>
          <p:nvPr/>
        </p:nvSpPr>
        <p:spPr>
          <a:xfrm>
            <a:off x="2955987" y="5975738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C88EE0-57A1-4EDE-BA92-CA7AB5C18B28}"/>
              </a:ext>
            </a:extLst>
          </p:cNvPr>
          <p:cNvCxnSpPr>
            <a:cxnSpLocks/>
          </p:cNvCxnSpPr>
          <p:nvPr/>
        </p:nvCxnSpPr>
        <p:spPr>
          <a:xfrm flipV="1">
            <a:off x="1973557" y="5099276"/>
            <a:ext cx="0" cy="975778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48B479A-C036-4B67-B955-5CF41728C506}"/>
              </a:ext>
            </a:extLst>
          </p:cNvPr>
          <p:cNvSpPr/>
          <p:nvPr/>
        </p:nvSpPr>
        <p:spPr>
          <a:xfrm>
            <a:off x="1090719" y="4047824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84634F-AC2E-4329-8463-2F4BB75A8CE0}"/>
              </a:ext>
            </a:extLst>
          </p:cNvPr>
          <p:cNvSpPr txBox="1"/>
          <p:nvPr/>
        </p:nvSpPr>
        <p:spPr>
          <a:xfrm>
            <a:off x="1630905" y="6049623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Vceq</a:t>
            </a: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6464A0-5569-4D7E-9175-7569E39354CC}"/>
              </a:ext>
            </a:extLst>
          </p:cNvPr>
          <p:cNvCxnSpPr/>
          <p:nvPr/>
        </p:nvCxnSpPr>
        <p:spPr>
          <a:xfrm flipH="1" flipV="1">
            <a:off x="5275777" y="4081036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8047A192-B0E3-4803-B7F7-DC62CBCDCA46}"/>
              </a:ext>
            </a:extLst>
          </p:cNvPr>
          <p:cNvSpPr/>
          <p:nvPr/>
        </p:nvSpPr>
        <p:spPr>
          <a:xfrm>
            <a:off x="7108952" y="5975738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F81166-C68B-4699-BEA5-1D5BBDBAFD6F}"/>
              </a:ext>
            </a:extLst>
          </p:cNvPr>
          <p:cNvSpPr txBox="1"/>
          <p:nvPr/>
        </p:nvSpPr>
        <p:spPr>
          <a:xfrm>
            <a:off x="6847502" y="61003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952EAF-CF64-4CC8-AE7B-798CCE4CAC75}"/>
              </a:ext>
            </a:extLst>
          </p:cNvPr>
          <p:cNvCxnSpPr>
            <a:cxnSpLocks/>
          </p:cNvCxnSpPr>
          <p:nvPr/>
        </p:nvCxnSpPr>
        <p:spPr>
          <a:xfrm flipV="1">
            <a:off x="6212247" y="5099276"/>
            <a:ext cx="0" cy="1081044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3E95973-6B77-4825-8D26-0211D599C2AF}"/>
              </a:ext>
            </a:extLst>
          </p:cNvPr>
          <p:cNvSpPr txBox="1"/>
          <p:nvPr/>
        </p:nvSpPr>
        <p:spPr>
          <a:xfrm>
            <a:off x="4967277" y="3952432"/>
            <a:ext cx="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US" sz="16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BE7DF8B-D3AB-416E-8CCB-6473D49552B5}"/>
              </a:ext>
            </a:extLst>
          </p:cNvPr>
          <p:cNvSpPr/>
          <p:nvPr/>
        </p:nvSpPr>
        <p:spPr>
          <a:xfrm>
            <a:off x="5243684" y="4047824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70A276-1F8F-4F32-A2B2-0D5654206B3E}"/>
              </a:ext>
            </a:extLst>
          </p:cNvPr>
          <p:cNvSpPr txBox="1"/>
          <p:nvPr/>
        </p:nvSpPr>
        <p:spPr>
          <a:xfrm>
            <a:off x="6056395" y="61003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7A1601-A287-4188-A0C6-AA9924E2CDE4}"/>
              </a:ext>
            </a:extLst>
          </p:cNvPr>
          <p:cNvSpPr txBox="1"/>
          <p:nvPr/>
        </p:nvSpPr>
        <p:spPr>
          <a:xfrm>
            <a:off x="1646802" y="6308608"/>
            <a:ext cx="8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 ½ Vcc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0B8797-F5BC-48AC-A57F-D0C876A01C36}"/>
              </a:ext>
            </a:extLst>
          </p:cNvPr>
          <p:cNvSpPr txBox="1"/>
          <p:nvPr/>
        </p:nvSpPr>
        <p:spPr>
          <a:xfrm>
            <a:off x="327971" y="3986253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Icmaks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DABBFC-B025-45FA-9784-EC7BE6F4D862}"/>
              </a:ext>
            </a:extLst>
          </p:cNvPr>
          <p:cNvSpPr txBox="1"/>
          <p:nvPr/>
        </p:nvSpPr>
        <p:spPr>
          <a:xfrm>
            <a:off x="2599499" y="6049623"/>
            <a:ext cx="50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Vcc</a:t>
            </a:r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8101113-2B36-4F91-A1B9-5C870BAB924D}"/>
              </a:ext>
            </a:extLst>
          </p:cNvPr>
          <p:cNvSpPr/>
          <p:nvPr/>
        </p:nvSpPr>
        <p:spPr>
          <a:xfrm>
            <a:off x="1888661" y="4863676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04AA00D-1468-4CFE-A481-5F053A319AF6}"/>
              </a:ext>
            </a:extLst>
          </p:cNvPr>
          <p:cNvSpPr/>
          <p:nvPr/>
        </p:nvSpPr>
        <p:spPr>
          <a:xfrm>
            <a:off x="6122343" y="4923096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3D4B2D-61DD-49A1-BCAA-CEA493639BD7}"/>
              </a:ext>
            </a:extLst>
          </p:cNvPr>
          <p:cNvCxnSpPr>
            <a:cxnSpLocks/>
          </p:cNvCxnSpPr>
          <p:nvPr/>
        </p:nvCxnSpPr>
        <p:spPr>
          <a:xfrm flipH="1">
            <a:off x="1195304" y="5036131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FBB38E-B0ED-4E33-BE0F-B8A6AF91B79D}"/>
              </a:ext>
            </a:extLst>
          </p:cNvPr>
          <p:cNvSpPr txBox="1"/>
          <p:nvPr/>
        </p:nvSpPr>
        <p:spPr>
          <a:xfrm>
            <a:off x="630465" y="4826520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Icq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1E7F6-8E65-4810-A20F-B1C65C12CAAB}"/>
              </a:ext>
            </a:extLst>
          </p:cNvPr>
          <p:cNvSpPr/>
          <p:nvPr/>
        </p:nvSpPr>
        <p:spPr>
          <a:xfrm>
            <a:off x="12416" y="5075175"/>
            <a:ext cx="11828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/>
              <a:t>=(Vcc-Vce)/Rc</a:t>
            </a:r>
            <a:endParaRPr lang="en-US" sz="1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88BC05-DB21-4BEE-A42E-45BB067D0D83}"/>
              </a:ext>
            </a:extLst>
          </p:cNvPr>
          <p:cNvCxnSpPr>
            <a:cxnSpLocks/>
          </p:cNvCxnSpPr>
          <p:nvPr/>
        </p:nvCxnSpPr>
        <p:spPr>
          <a:xfrm flipH="1">
            <a:off x="5348269" y="5033079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3167D7-2E52-4250-A73A-85C58546B905}"/>
              </a:ext>
            </a:extLst>
          </p:cNvPr>
          <p:cNvSpPr txBox="1"/>
          <p:nvPr/>
        </p:nvSpPr>
        <p:spPr>
          <a:xfrm>
            <a:off x="4952843" y="4841909"/>
            <a:ext cx="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US" sz="1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62FBA2-1C08-4DF6-BB1C-52C84047FEF6}"/>
              </a:ext>
            </a:extLst>
          </p:cNvPr>
          <p:cNvGrpSpPr/>
          <p:nvPr/>
        </p:nvGrpSpPr>
        <p:grpSpPr>
          <a:xfrm>
            <a:off x="4832919" y="3429000"/>
            <a:ext cx="3901708" cy="3008107"/>
            <a:chOff x="6901368" y="448649"/>
            <a:chExt cx="3901708" cy="3008107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BEA67C2-8B8B-4FAF-9D65-D3B60457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3156" y="791008"/>
              <a:ext cx="0" cy="2536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12D1CB5-8E1C-405F-8050-F08D1008C37D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98" y="3069273"/>
              <a:ext cx="3140726" cy="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3991B77-1E7F-4282-BA94-CF1F04CD7B55}"/>
                </a:ext>
              </a:extLst>
            </p:cNvPr>
            <p:cNvSpPr txBox="1"/>
            <p:nvPr/>
          </p:nvSpPr>
          <p:spPr>
            <a:xfrm>
              <a:off x="6901368" y="448649"/>
              <a:ext cx="10685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Ic (mA)</a:t>
              </a:r>
              <a:endParaRPr lang="en-US" sz="2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AF59B7C-7385-4EEA-83D1-86F6B8F24815}"/>
                </a:ext>
              </a:extLst>
            </p:cNvPr>
            <p:cNvSpPr txBox="1"/>
            <p:nvPr/>
          </p:nvSpPr>
          <p:spPr>
            <a:xfrm>
              <a:off x="9532080" y="3056646"/>
              <a:ext cx="12709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Vce (volts)</a:t>
              </a:r>
              <a:endParaRPr lang="en-US" sz="20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E41ACB6-B40E-495B-8B5D-6C3A26F392C2}"/>
              </a:ext>
            </a:extLst>
          </p:cNvPr>
          <p:cNvGrpSpPr/>
          <p:nvPr/>
        </p:nvGrpSpPr>
        <p:grpSpPr>
          <a:xfrm>
            <a:off x="670292" y="3429000"/>
            <a:ext cx="3901708" cy="3008107"/>
            <a:chOff x="6901368" y="448649"/>
            <a:chExt cx="3901708" cy="3008107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2B2C93D-9B69-4DEF-A910-EE4ABDB62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3156" y="791008"/>
              <a:ext cx="0" cy="2536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FB127EB2-CC0D-45AC-BCDA-122D298448E0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98" y="3069273"/>
              <a:ext cx="3140726" cy="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560DB28-61B9-4CA7-B539-91FA703D001D}"/>
                </a:ext>
              </a:extLst>
            </p:cNvPr>
            <p:cNvSpPr txBox="1"/>
            <p:nvPr/>
          </p:nvSpPr>
          <p:spPr>
            <a:xfrm>
              <a:off x="6901368" y="448649"/>
              <a:ext cx="10685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Ic (mA)</a:t>
              </a:r>
              <a:endParaRPr lang="en-US" sz="20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5B97F0F-B93A-49A5-85DD-AD55E6B19B79}"/>
                </a:ext>
              </a:extLst>
            </p:cNvPr>
            <p:cNvSpPr txBox="1"/>
            <p:nvPr/>
          </p:nvSpPr>
          <p:spPr>
            <a:xfrm>
              <a:off x="9532080" y="3056646"/>
              <a:ext cx="12709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Vce (volts)</a:t>
              </a:r>
              <a:endParaRPr lang="en-US" sz="2000" dirty="0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D3C196A-A2B0-4048-93CF-EE371F0C70FA}"/>
              </a:ext>
            </a:extLst>
          </p:cNvPr>
          <p:cNvSpPr txBox="1"/>
          <p:nvPr/>
        </p:nvSpPr>
        <p:spPr>
          <a:xfrm>
            <a:off x="4303728" y="5078576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Icq=1mA</a:t>
            </a:r>
          </a:p>
        </p:txBody>
      </p:sp>
    </p:spTree>
    <p:extLst>
      <p:ext uri="{BB962C8B-B14F-4D97-AF65-F5344CB8AC3E}">
        <p14:creationId xmlns:p14="http://schemas.microsoft.com/office/powerpoint/2010/main" val="36393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Menentukan Ibq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1784"/>
            <a:ext cx="7886700" cy="11530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>
                <a:sym typeface="Wingdings" panose="05000000000000000000" pitchFamily="2" charset="2"/>
              </a:rPr>
              <a:t></a:t>
            </a:r>
            <a:r>
              <a:rPr lang="en-US" sz="2000"/>
              <a:t>Ibq tergantung Icq dan Beta dengan persamaan berikut.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>
                <a:sym typeface="Wingdings" panose="05000000000000000000" pitchFamily="2" charset="2"/>
              </a:rPr>
              <a:t>Ibq=Icq/B</a:t>
            </a:r>
            <a:r>
              <a:rPr lang="en-US" sz="2000"/>
              <a:t> = 0,001/267 = 0,0000037453 A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/>
              <a:t>Ibq=3,7453 uA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D0D26D-1FD1-4F13-8074-2A5F98D83EC7}"/>
              </a:ext>
            </a:extLst>
          </p:cNvPr>
          <p:cNvCxnSpPr/>
          <p:nvPr/>
        </p:nvCxnSpPr>
        <p:spPr>
          <a:xfrm flipH="1" flipV="1">
            <a:off x="1211685" y="3490771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17CAD17-4FDC-450C-A8FB-A24F6F56658A}"/>
              </a:ext>
            </a:extLst>
          </p:cNvPr>
          <p:cNvSpPr/>
          <p:nvPr/>
        </p:nvSpPr>
        <p:spPr>
          <a:xfrm>
            <a:off x="3044860" y="5385473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C88EE0-57A1-4EDE-BA92-CA7AB5C18B28}"/>
              </a:ext>
            </a:extLst>
          </p:cNvPr>
          <p:cNvCxnSpPr>
            <a:cxnSpLocks/>
          </p:cNvCxnSpPr>
          <p:nvPr/>
        </p:nvCxnSpPr>
        <p:spPr>
          <a:xfrm flipV="1">
            <a:off x="2062430" y="4509011"/>
            <a:ext cx="0" cy="975778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48B479A-C036-4B67-B955-5CF41728C506}"/>
              </a:ext>
            </a:extLst>
          </p:cNvPr>
          <p:cNvSpPr/>
          <p:nvPr/>
        </p:nvSpPr>
        <p:spPr>
          <a:xfrm>
            <a:off x="1179592" y="3457559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84634F-AC2E-4329-8463-2F4BB75A8CE0}"/>
              </a:ext>
            </a:extLst>
          </p:cNvPr>
          <p:cNvSpPr txBox="1"/>
          <p:nvPr/>
        </p:nvSpPr>
        <p:spPr>
          <a:xfrm>
            <a:off x="1719778" y="5459358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Vceq</a:t>
            </a:r>
            <a:endParaRPr 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6464A0-5569-4D7E-9175-7569E39354CC}"/>
              </a:ext>
            </a:extLst>
          </p:cNvPr>
          <p:cNvCxnSpPr/>
          <p:nvPr/>
        </p:nvCxnSpPr>
        <p:spPr>
          <a:xfrm flipH="1" flipV="1">
            <a:off x="5364650" y="3490771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8047A192-B0E3-4803-B7F7-DC62CBCDCA46}"/>
              </a:ext>
            </a:extLst>
          </p:cNvPr>
          <p:cNvSpPr/>
          <p:nvPr/>
        </p:nvSpPr>
        <p:spPr>
          <a:xfrm>
            <a:off x="7197825" y="5385473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F81166-C68B-4699-BEA5-1D5BBDBAFD6F}"/>
              </a:ext>
            </a:extLst>
          </p:cNvPr>
          <p:cNvSpPr txBox="1"/>
          <p:nvPr/>
        </p:nvSpPr>
        <p:spPr>
          <a:xfrm>
            <a:off x="6936375" y="551006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952EAF-CF64-4CC8-AE7B-798CCE4CAC75}"/>
              </a:ext>
            </a:extLst>
          </p:cNvPr>
          <p:cNvCxnSpPr>
            <a:cxnSpLocks/>
          </p:cNvCxnSpPr>
          <p:nvPr/>
        </p:nvCxnSpPr>
        <p:spPr>
          <a:xfrm flipV="1">
            <a:off x="6301120" y="4509011"/>
            <a:ext cx="0" cy="1081044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3E95973-6B77-4825-8D26-0211D599C2AF}"/>
              </a:ext>
            </a:extLst>
          </p:cNvPr>
          <p:cNvSpPr txBox="1"/>
          <p:nvPr/>
        </p:nvSpPr>
        <p:spPr>
          <a:xfrm>
            <a:off x="5056150" y="3362167"/>
            <a:ext cx="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US" sz="16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BE7DF8B-D3AB-416E-8CCB-6473D49552B5}"/>
              </a:ext>
            </a:extLst>
          </p:cNvPr>
          <p:cNvSpPr/>
          <p:nvPr/>
        </p:nvSpPr>
        <p:spPr>
          <a:xfrm>
            <a:off x="5332557" y="3457559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70A276-1F8F-4F32-A2B2-0D5654206B3E}"/>
              </a:ext>
            </a:extLst>
          </p:cNvPr>
          <p:cNvSpPr txBox="1"/>
          <p:nvPr/>
        </p:nvSpPr>
        <p:spPr>
          <a:xfrm>
            <a:off x="6145268" y="55100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7A1601-A287-4188-A0C6-AA9924E2CDE4}"/>
              </a:ext>
            </a:extLst>
          </p:cNvPr>
          <p:cNvSpPr txBox="1"/>
          <p:nvPr/>
        </p:nvSpPr>
        <p:spPr>
          <a:xfrm>
            <a:off x="1735675" y="5718343"/>
            <a:ext cx="8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 ½ Vcc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0B8797-F5BC-48AC-A57F-D0C876A01C36}"/>
              </a:ext>
            </a:extLst>
          </p:cNvPr>
          <p:cNvSpPr txBox="1"/>
          <p:nvPr/>
        </p:nvSpPr>
        <p:spPr>
          <a:xfrm>
            <a:off x="416844" y="3395988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Icmaks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DABBFC-B025-45FA-9784-EC7BE6F4D862}"/>
              </a:ext>
            </a:extLst>
          </p:cNvPr>
          <p:cNvSpPr txBox="1"/>
          <p:nvPr/>
        </p:nvSpPr>
        <p:spPr>
          <a:xfrm>
            <a:off x="2688372" y="5459358"/>
            <a:ext cx="50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Vcc</a:t>
            </a:r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8101113-2B36-4F91-A1B9-5C870BAB924D}"/>
              </a:ext>
            </a:extLst>
          </p:cNvPr>
          <p:cNvSpPr/>
          <p:nvPr/>
        </p:nvSpPr>
        <p:spPr>
          <a:xfrm>
            <a:off x="1977534" y="4273411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04AA00D-1468-4CFE-A481-5F053A319AF6}"/>
              </a:ext>
            </a:extLst>
          </p:cNvPr>
          <p:cNvSpPr/>
          <p:nvPr/>
        </p:nvSpPr>
        <p:spPr>
          <a:xfrm>
            <a:off x="6211216" y="4332831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3D4B2D-61DD-49A1-BCAA-CEA493639BD7}"/>
              </a:ext>
            </a:extLst>
          </p:cNvPr>
          <p:cNvCxnSpPr>
            <a:cxnSpLocks/>
          </p:cNvCxnSpPr>
          <p:nvPr/>
        </p:nvCxnSpPr>
        <p:spPr>
          <a:xfrm flipH="1">
            <a:off x="1284177" y="4445866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FBB38E-B0ED-4E33-BE0F-B8A6AF91B79D}"/>
              </a:ext>
            </a:extLst>
          </p:cNvPr>
          <p:cNvSpPr txBox="1"/>
          <p:nvPr/>
        </p:nvSpPr>
        <p:spPr>
          <a:xfrm>
            <a:off x="719338" y="4236255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Icq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1E7F6-8E65-4810-A20F-B1C65C12CAAB}"/>
              </a:ext>
            </a:extLst>
          </p:cNvPr>
          <p:cNvSpPr/>
          <p:nvPr/>
        </p:nvSpPr>
        <p:spPr>
          <a:xfrm>
            <a:off x="101289" y="4484910"/>
            <a:ext cx="11828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/>
              <a:t>=(Vcc-Vce)/Rc</a:t>
            </a:r>
            <a:endParaRPr lang="en-US" sz="1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88BC05-DB21-4BEE-A42E-45BB067D0D83}"/>
              </a:ext>
            </a:extLst>
          </p:cNvPr>
          <p:cNvCxnSpPr>
            <a:cxnSpLocks/>
          </p:cNvCxnSpPr>
          <p:nvPr/>
        </p:nvCxnSpPr>
        <p:spPr>
          <a:xfrm flipH="1">
            <a:off x="5437142" y="4442814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3167D7-2E52-4250-A73A-85C58546B905}"/>
              </a:ext>
            </a:extLst>
          </p:cNvPr>
          <p:cNvSpPr txBox="1"/>
          <p:nvPr/>
        </p:nvSpPr>
        <p:spPr>
          <a:xfrm>
            <a:off x="5041716" y="4251644"/>
            <a:ext cx="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US" sz="16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455EE5-8312-4FC8-8DDD-66BAFE41C20F}"/>
              </a:ext>
            </a:extLst>
          </p:cNvPr>
          <p:cNvGrpSpPr/>
          <p:nvPr/>
        </p:nvGrpSpPr>
        <p:grpSpPr>
          <a:xfrm>
            <a:off x="4921792" y="2838735"/>
            <a:ext cx="3901708" cy="3008107"/>
            <a:chOff x="6901368" y="448649"/>
            <a:chExt cx="3901708" cy="3008107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1183A4B-8487-440C-821C-64AF7111D9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3156" y="791008"/>
              <a:ext cx="0" cy="2536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D152A84-6049-494E-9BCA-CE5052F12BE5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98" y="3069273"/>
              <a:ext cx="3140726" cy="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24C8E5-718B-4715-B632-EC279F0B2529}"/>
                </a:ext>
              </a:extLst>
            </p:cNvPr>
            <p:cNvSpPr txBox="1"/>
            <p:nvPr/>
          </p:nvSpPr>
          <p:spPr>
            <a:xfrm>
              <a:off x="6901368" y="448649"/>
              <a:ext cx="10685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Ic (mA)</a:t>
              </a:r>
              <a:endParaRPr lang="en-US" sz="2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8A11DED-0A7F-450C-8B66-162FCA7F2440}"/>
                </a:ext>
              </a:extLst>
            </p:cNvPr>
            <p:cNvSpPr txBox="1"/>
            <p:nvPr/>
          </p:nvSpPr>
          <p:spPr>
            <a:xfrm>
              <a:off x="9532080" y="3056646"/>
              <a:ext cx="12709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Vce (volts)</a:t>
              </a:r>
              <a:endParaRPr lang="en-US" sz="20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5C2C65-BFB8-4219-A52E-03F4FB4C20A7}"/>
              </a:ext>
            </a:extLst>
          </p:cNvPr>
          <p:cNvGrpSpPr/>
          <p:nvPr/>
        </p:nvGrpSpPr>
        <p:grpSpPr>
          <a:xfrm>
            <a:off x="789190" y="2838735"/>
            <a:ext cx="3901708" cy="3008107"/>
            <a:chOff x="6901368" y="448649"/>
            <a:chExt cx="3901708" cy="3008107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93D667EC-784E-4666-8158-F677E4D73C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3156" y="791008"/>
              <a:ext cx="0" cy="2536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1D13BA8-0D8D-42AE-97AE-389548896B25}"/>
                </a:ext>
              </a:extLst>
            </p:cNvPr>
            <p:cNvCxnSpPr>
              <a:cxnSpLocks/>
            </p:cNvCxnSpPr>
            <p:nvPr/>
          </p:nvCxnSpPr>
          <p:spPr>
            <a:xfrm>
              <a:off x="7030298" y="3069273"/>
              <a:ext cx="3140726" cy="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7013DD-CADE-4BB1-A67C-8190C6D02B62}"/>
                </a:ext>
              </a:extLst>
            </p:cNvPr>
            <p:cNvSpPr txBox="1"/>
            <p:nvPr/>
          </p:nvSpPr>
          <p:spPr>
            <a:xfrm>
              <a:off x="6901368" y="448649"/>
              <a:ext cx="10685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Ic (mA)</a:t>
              </a:r>
              <a:endParaRPr lang="en-US" sz="2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63D63AB-C3B2-44D0-8E27-B66C3022C196}"/>
                </a:ext>
              </a:extLst>
            </p:cNvPr>
            <p:cNvSpPr txBox="1"/>
            <p:nvPr/>
          </p:nvSpPr>
          <p:spPr>
            <a:xfrm>
              <a:off x="9532080" y="3056646"/>
              <a:ext cx="12709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/>
                <a:t>Vce (volts)</a:t>
              </a:r>
              <a:endParaRPr lang="en-US" sz="2000" dirty="0"/>
            </a:p>
          </p:txBody>
        </p:sp>
      </p:grp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99EE7F-3441-4DED-94FA-099763B2BAC9}"/>
              </a:ext>
            </a:extLst>
          </p:cNvPr>
          <p:cNvSpPr/>
          <p:nvPr/>
        </p:nvSpPr>
        <p:spPr>
          <a:xfrm>
            <a:off x="1247775" y="4314825"/>
            <a:ext cx="1819275" cy="1114425"/>
          </a:xfrm>
          <a:custGeom>
            <a:avLst/>
            <a:gdLst>
              <a:gd name="connsiteX0" fmla="*/ 0 w 1819275"/>
              <a:gd name="connsiteY0" fmla="*/ 1114425 h 1114425"/>
              <a:gd name="connsiteX1" fmla="*/ 361950 w 1819275"/>
              <a:gd name="connsiteY1" fmla="*/ 190500 h 1114425"/>
              <a:gd name="connsiteX2" fmla="*/ 1819275 w 1819275"/>
              <a:gd name="connsiteY2" fmla="*/ 0 h 111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9275" h="1114425">
                <a:moveTo>
                  <a:pt x="0" y="1114425"/>
                </a:moveTo>
                <a:cubicBezTo>
                  <a:pt x="29369" y="745331"/>
                  <a:pt x="58738" y="376237"/>
                  <a:pt x="361950" y="190500"/>
                </a:cubicBezTo>
                <a:cubicBezTo>
                  <a:pt x="665162" y="4763"/>
                  <a:pt x="1242218" y="2381"/>
                  <a:pt x="18192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3CE0566-4740-414E-8C4F-D2910F9272FA}"/>
              </a:ext>
            </a:extLst>
          </p:cNvPr>
          <p:cNvSpPr/>
          <p:nvPr/>
        </p:nvSpPr>
        <p:spPr>
          <a:xfrm>
            <a:off x="5374054" y="4370364"/>
            <a:ext cx="1819275" cy="1114425"/>
          </a:xfrm>
          <a:custGeom>
            <a:avLst/>
            <a:gdLst>
              <a:gd name="connsiteX0" fmla="*/ 0 w 1819275"/>
              <a:gd name="connsiteY0" fmla="*/ 1114425 h 1114425"/>
              <a:gd name="connsiteX1" fmla="*/ 361950 w 1819275"/>
              <a:gd name="connsiteY1" fmla="*/ 190500 h 1114425"/>
              <a:gd name="connsiteX2" fmla="*/ 1819275 w 1819275"/>
              <a:gd name="connsiteY2" fmla="*/ 0 h 111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9275" h="1114425">
                <a:moveTo>
                  <a:pt x="0" y="1114425"/>
                </a:moveTo>
                <a:cubicBezTo>
                  <a:pt x="29369" y="745331"/>
                  <a:pt x="58738" y="376237"/>
                  <a:pt x="361950" y="190500"/>
                </a:cubicBezTo>
                <a:cubicBezTo>
                  <a:pt x="665162" y="4763"/>
                  <a:pt x="1242218" y="2381"/>
                  <a:pt x="1819275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4BD778-3A1B-465B-B827-9AA2C6015EF6}"/>
              </a:ext>
            </a:extLst>
          </p:cNvPr>
          <p:cNvSpPr txBox="1"/>
          <p:nvPr/>
        </p:nvSpPr>
        <p:spPr>
          <a:xfrm>
            <a:off x="2372560" y="3984621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Ibq=Icq/B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43608B-1C4F-4763-9218-D33505B067F2}"/>
              </a:ext>
            </a:extLst>
          </p:cNvPr>
          <p:cNvSpPr/>
          <p:nvPr/>
        </p:nvSpPr>
        <p:spPr>
          <a:xfrm>
            <a:off x="6683310" y="4049786"/>
            <a:ext cx="1552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Ibq=3,7453 uA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5751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Menentukan Ibq Menggunakan Grafik Karakteristik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88219"/>
            <a:ext cx="7886700" cy="147400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è"/>
            </a:pPr>
            <a:r>
              <a:rPr lang="en-US" sz="2000">
                <a:sym typeface="Wingdings" panose="05000000000000000000" pitchFamily="2" charset="2"/>
              </a:rPr>
              <a:t>Bila kita punya grafik karakteristik output maka kita bisa menentukan Ibq.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000"/>
              <a:t>Tumpangkan garis beban dan titik kerja pada grafik karakteristik output yang telah dibuat. </a:t>
            </a:r>
            <a:r>
              <a:rPr lang="en-US" sz="2000">
                <a:sym typeface="Wingdings" panose="05000000000000000000" pitchFamily="2" charset="2"/>
              </a:rPr>
              <a:t>Lalu l</a:t>
            </a:r>
            <a:r>
              <a:rPr lang="en-US" sz="2000"/>
              <a:t>ihat nilai Ib yang berpotongan dengan titik kerja tsb (titik merah). Contoh dalam gambar adalah garis lengkung Ib2. Cari tahu nilai Ib2 dari data grafik tsb maka itu adalah Ibq.</a:t>
            </a:r>
          </a:p>
        </p:txBody>
      </p:sp>
      <p:pic>
        <p:nvPicPr>
          <p:cNvPr id="22" name="Picture 2" descr="Hasil gambar untuk output characteristic transistor">
            <a:extLst>
              <a:ext uri="{FF2B5EF4-FFF2-40B4-BE49-F238E27FC236}">
                <a16:creationId xmlns:a16="http://schemas.microsoft.com/office/drawing/2014/main" id="{8319668F-F1DF-4EE7-9CCB-8B9D63B05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35" y="3429000"/>
            <a:ext cx="4198384" cy="319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6D0D26D-1FD1-4F13-8074-2A5F98D83EC7}"/>
              </a:ext>
            </a:extLst>
          </p:cNvPr>
          <p:cNvCxnSpPr/>
          <p:nvPr/>
        </p:nvCxnSpPr>
        <p:spPr>
          <a:xfrm flipH="1" flipV="1">
            <a:off x="1257104" y="4072730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17CAD17-4FDC-450C-A8FB-A24F6F56658A}"/>
              </a:ext>
            </a:extLst>
          </p:cNvPr>
          <p:cNvSpPr/>
          <p:nvPr/>
        </p:nvSpPr>
        <p:spPr>
          <a:xfrm>
            <a:off x="3090279" y="5967432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AC88EE0-57A1-4EDE-BA92-CA7AB5C18B28}"/>
              </a:ext>
            </a:extLst>
          </p:cNvPr>
          <p:cNvCxnSpPr>
            <a:cxnSpLocks/>
          </p:cNvCxnSpPr>
          <p:nvPr/>
        </p:nvCxnSpPr>
        <p:spPr>
          <a:xfrm flipV="1">
            <a:off x="2107849" y="5090970"/>
            <a:ext cx="0" cy="975778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48B479A-C036-4B67-B955-5CF41728C506}"/>
              </a:ext>
            </a:extLst>
          </p:cNvPr>
          <p:cNvSpPr/>
          <p:nvPr/>
        </p:nvSpPr>
        <p:spPr>
          <a:xfrm>
            <a:off x="1225011" y="4039518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84634F-AC2E-4329-8463-2F4BB75A8CE0}"/>
              </a:ext>
            </a:extLst>
          </p:cNvPr>
          <p:cNvSpPr txBox="1"/>
          <p:nvPr/>
        </p:nvSpPr>
        <p:spPr>
          <a:xfrm>
            <a:off x="1765197" y="6041317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Vceq</a:t>
            </a:r>
            <a:endParaRPr lang="en-US" dirty="0"/>
          </a:p>
        </p:txBody>
      </p:sp>
      <p:pic>
        <p:nvPicPr>
          <p:cNvPr id="38" name="Picture 2" descr="Hasil gambar untuk output characteristic transistor">
            <a:extLst>
              <a:ext uri="{FF2B5EF4-FFF2-40B4-BE49-F238E27FC236}">
                <a16:creationId xmlns:a16="http://schemas.microsoft.com/office/drawing/2014/main" id="{5899423C-3DA1-4BDF-8EDF-3FB5CF4EB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29000"/>
            <a:ext cx="4198384" cy="319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6464A0-5569-4D7E-9175-7569E39354CC}"/>
              </a:ext>
            </a:extLst>
          </p:cNvPr>
          <p:cNvCxnSpPr/>
          <p:nvPr/>
        </p:nvCxnSpPr>
        <p:spPr>
          <a:xfrm flipH="1" flipV="1">
            <a:off x="5410069" y="4072730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8047A192-B0E3-4803-B7F7-DC62CBCDCA46}"/>
              </a:ext>
            </a:extLst>
          </p:cNvPr>
          <p:cNvSpPr/>
          <p:nvPr/>
        </p:nvSpPr>
        <p:spPr>
          <a:xfrm>
            <a:off x="7243244" y="5967432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F81166-C68B-4699-BEA5-1D5BBDBAFD6F}"/>
              </a:ext>
            </a:extLst>
          </p:cNvPr>
          <p:cNvSpPr txBox="1"/>
          <p:nvPr/>
        </p:nvSpPr>
        <p:spPr>
          <a:xfrm>
            <a:off x="6981794" y="609202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952EAF-CF64-4CC8-AE7B-798CCE4CAC75}"/>
              </a:ext>
            </a:extLst>
          </p:cNvPr>
          <p:cNvCxnSpPr>
            <a:cxnSpLocks/>
          </p:cNvCxnSpPr>
          <p:nvPr/>
        </p:nvCxnSpPr>
        <p:spPr>
          <a:xfrm flipV="1">
            <a:off x="6346539" y="5090970"/>
            <a:ext cx="0" cy="1081044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3E95973-6B77-4825-8D26-0211D599C2AF}"/>
              </a:ext>
            </a:extLst>
          </p:cNvPr>
          <p:cNvSpPr txBox="1"/>
          <p:nvPr/>
        </p:nvSpPr>
        <p:spPr>
          <a:xfrm>
            <a:off x="5101569" y="3944126"/>
            <a:ext cx="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2</a:t>
            </a:r>
            <a:endParaRPr lang="en-US" sz="16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BE7DF8B-D3AB-416E-8CCB-6473D49552B5}"/>
              </a:ext>
            </a:extLst>
          </p:cNvPr>
          <p:cNvSpPr/>
          <p:nvPr/>
        </p:nvSpPr>
        <p:spPr>
          <a:xfrm>
            <a:off x="5377976" y="4039518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70A276-1F8F-4F32-A2B2-0D5654206B3E}"/>
              </a:ext>
            </a:extLst>
          </p:cNvPr>
          <p:cNvSpPr txBox="1"/>
          <p:nvPr/>
        </p:nvSpPr>
        <p:spPr>
          <a:xfrm>
            <a:off x="6190687" y="60920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7A1601-A287-4188-A0C6-AA9924E2CDE4}"/>
              </a:ext>
            </a:extLst>
          </p:cNvPr>
          <p:cNvSpPr txBox="1"/>
          <p:nvPr/>
        </p:nvSpPr>
        <p:spPr>
          <a:xfrm>
            <a:off x="1781094" y="6300302"/>
            <a:ext cx="8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 ½ Vcc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0B8797-F5BC-48AC-A57F-D0C876A01C36}"/>
              </a:ext>
            </a:extLst>
          </p:cNvPr>
          <p:cNvSpPr txBox="1"/>
          <p:nvPr/>
        </p:nvSpPr>
        <p:spPr>
          <a:xfrm>
            <a:off x="462263" y="3977947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Icmaks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DABBFC-B025-45FA-9784-EC7BE6F4D862}"/>
              </a:ext>
            </a:extLst>
          </p:cNvPr>
          <p:cNvSpPr txBox="1"/>
          <p:nvPr/>
        </p:nvSpPr>
        <p:spPr>
          <a:xfrm>
            <a:off x="2733791" y="6041317"/>
            <a:ext cx="50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Vcc</a:t>
            </a:r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8101113-2B36-4F91-A1B9-5C870BAB924D}"/>
              </a:ext>
            </a:extLst>
          </p:cNvPr>
          <p:cNvSpPr/>
          <p:nvPr/>
        </p:nvSpPr>
        <p:spPr>
          <a:xfrm>
            <a:off x="2022953" y="4855370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04AA00D-1468-4CFE-A481-5F053A319AF6}"/>
              </a:ext>
            </a:extLst>
          </p:cNvPr>
          <p:cNvSpPr/>
          <p:nvPr/>
        </p:nvSpPr>
        <p:spPr>
          <a:xfrm>
            <a:off x="6256635" y="4914790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3D4B2D-61DD-49A1-BCAA-CEA493639BD7}"/>
              </a:ext>
            </a:extLst>
          </p:cNvPr>
          <p:cNvCxnSpPr>
            <a:cxnSpLocks/>
          </p:cNvCxnSpPr>
          <p:nvPr/>
        </p:nvCxnSpPr>
        <p:spPr>
          <a:xfrm flipH="1">
            <a:off x="1329596" y="5027825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FBB38E-B0ED-4E33-BE0F-B8A6AF91B79D}"/>
              </a:ext>
            </a:extLst>
          </p:cNvPr>
          <p:cNvSpPr txBox="1"/>
          <p:nvPr/>
        </p:nvSpPr>
        <p:spPr>
          <a:xfrm>
            <a:off x="764757" y="4818214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Icq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1E7F6-8E65-4810-A20F-B1C65C12CAAB}"/>
              </a:ext>
            </a:extLst>
          </p:cNvPr>
          <p:cNvSpPr/>
          <p:nvPr/>
        </p:nvSpPr>
        <p:spPr>
          <a:xfrm>
            <a:off x="146708" y="5066869"/>
            <a:ext cx="118288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/>
              <a:t>=(Vcc-Vce)/Rc</a:t>
            </a:r>
            <a:endParaRPr lang="en-US" sz="14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88BC05-DB21-4BEE-A42E-45BB067D0D83}"/>
              </a:ext>
            </a:extLst>
          </p:cNvPr>
          <p:cNvCxnSpPr>
            <a:cxnSpLocks/>
          </p:cNvCxnSpPr>
          <p:nvPr/>
        </p:nvCxnSpPr>
        <p:spPr>
          <a:xfrm flipH="1">
            <a:off x="5482561" y="5024773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A3167D7-2E52-4250-A73A-85C58546B905}"/>
              </a:ext>
            </a:extLst>
          </p:cNvPr>
          <p:cNvSpPr txBox="1"/>
          <p:nvPr/>
        </p:nvSpPr>
        <p:spPr>
          <a:xfrm>
            <a:off x="5087135" y="4833603"/>
            <a:ext cx="290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1</a:t>
            </a:r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4F8D07-CDFB-49D3-A928-40FF48844060}"/>
              </a:ext>
            </a:extLst>
          </p:cNvPr>
          <p:cNvSpPr/>
          <p:nvPr/>
        </p:nvSpPr>
        <p:spPr>
          <a:xfrm>
            <a:off x="6369847" y="4628474"/>
            <a:ext cx="1552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Ibq=3,7453 uA</a:t>
            </a:r>
            <a:endParaRPr lang="en-ID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19BF85B-EBBE-427B-B4E5-BBBEFDA19354}"/>
              </a:ext>
            </a:extLst>
          </p:cNvPr>
          <p:cNvSpPr/>
          <p:nvPr/>
        </p:nvSpPr>
        <p:spPr>
          <a:xfrm>
            <a:off x="2488724" y="3786628"/>
            <a:ext cx="486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Ibq</a:t>
            </a:r>
            <a:endParaRPr lang="en-ID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7243BF7-D98C-491E-A361-CB1A1DA972E5}"/>
              </a:ext>
            </a:extLst>
          </p:cNvPr>
          <p:cNvCxnSpPr>
            <a:stCxn id="32" idx="2"/>
          </p:cNvCxnSpPr>
          <p:nvPr/>
        </p:nvCxnSpPr>
        <p:spPr>
          <a:xfrm flipH="1">
            <a:off x="2469860" y="4155960"/>
            <a:ext cx="261879" cy="768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83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298155"/>
            <a:ext cx="8339519" cy="940839"/>
          </a:xfrm>
        </p:spPr>
        <p:txBody>
          <a:bodyPr>
            <a:normAutofit/>
          </a:bodyPr>
          <a:lstStyle/>
          <a:p>
            <a:r>
              <a:rPr lang="en-US" sz="3600"/>
              <a:t>Menentukan Rb</a:t>
            </a:r>
            <a:endParaRPr lang="en-US" sz="3600" dirty="0"/>
          </a:p>
        </p:txBody>
      </p:sp>
      <p:sp>
        <p:nvSpPr>
          <p:cNvPr id="72" name="TextBox 71"/>
          <p:cNvSpPr txBox="1"/>
          <p:nvPr/>
        </p:nvSpPr>
        <p:spPr>
          <a:xfrm>
            <a:off x="1125314" y="1557227"/>
            <a:ext cx="64661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VRb=Vcc-0,67V</a:t>
            </a:r>
          </a:p>
          <a:p>
            <a:endParaRPr lang="en-US" sz="2800"/>
          </a:p>
          <a:p>
            <a:r>
              <a:rPr lang="en-US" sz="2800"/>
              <a:t>Rb=VRb/Ibq = (10-0,67)/0,0000037453</a:t>
            </a:r>
          </a:p>
          <a:p>
            <a:pPr marL="457200" indent="-457200">
              <a:buFont typeface="Wingdings" panose="05000000000000000000" pitchFamily="2" charset="2"/>
              <a:buChar char="è"/>
            </a:pPr>
            <a:r>
              <a:rPr lang="en-US" sz="2800" strike="sngStrike"/>
              <a:t>Rb=2483112 Ohm</a:t>
            </a:r>
          </a:p>
          <a:p>
            <a:pPr marL="457200" indent="-457200">
              <a:buFont typeface="Wingdings" panose="05000000000000000000" pitchFamily="2" charset="2"/>
              <a:buChar char="è"/>
            </a:pPr>
            <a:r>
              <a:rPr lang="en-US" sz="2800"/>
              <a:t>Rb=2491122 Ohm</a:t>
            </a:r>
          </a:p>
        </p:txBody>
      </p:sp>
    </p:spTree>
    <p:extLst>
      <p:ext uri="{BB962C8B-B14F-4D97-AF65-F5344CB8AC3E}">
        <p14:creationId xmlns:p14="http://schemas.microsoft.com/office/powerpoint/2010/main" val="419791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A706-5B1C-430E-A1FB-477BF108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Skema Lengkap Rangkaian Prategangan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96A91-AB9F-404D-ACBE-86056294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1831167" cy="539869"/>
          </a:xfrm>
        </p:spPr>
        <p:txBody>
          <a:bodyPr/>
          <a:lstStyle/>
          <a:p>
            <a:endParaRPr lang="en-ID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BD6BF50-2CFC-42F4-82A4-C16E9494D12E}"/>
              </a:ext>
            </a:extLst>
          </p:cNvPr>
          <p:cNvGrpSpPr/>
          <p:nvPr/>
        </p:nvGrpSpPr>
        <p:grpSpPr>
          <a:xfrm>
            <a:off x="2547738" y="2365495"/>
            <a:ext cx="3741414" cy="3708280"/>
            <a:chOff x="4351352" y="2774766"/>
            <a:chExt cx="2568961" cy="281072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C05D492-50DA-44B8-86AC-A41002CAD238}"/>
                </a:ext>
              </a:extLst>
            </p:cNvPr>
            <p:cNvGrpSpPr/>
            <p:nvPr/>
          </p:nvGrpSpPr>
          <p:grpSpPr>
            <a:xfrm>
              <a:off x="4724469" y="2774766"/>
              <a:ext cx="1750317" cy="2810720"/>
              <a:chOff x="6099928" y="2901103"/>
              <a:chExt cx="1750317" cy="281072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3D39159-D071-4B3B-BD28-272E097F31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01788" y="3218003"/>
                <a:ext cx="1648457" cy="2493819"/>
              </a:xfrm>
              <a:prstGeom prst="rect">
                <a:avLst/>
              </a:prstGeom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9DCFADC6-7CC3-4EC0-91AB-67D3B3EDB0E2}"/>
                  </a:ext>
                </a:extLst>
              </p:cNvPr>
              <p:cNvCxnSpPr/>
              <p:nvPr/>
            </p:nvCxnSpPr>
            <p:spPr>
              <a:xfrm>
                <a:off x="6518929" y="3365350"/>
                <a:ext cx="913499" cy="0"/>
              </a:xfrm>
              <a:prstGeom prst="line">
                <a:avLst/>
              </a:prstGeom>
              <a:ln w="28575">
                <a:solidFill>
                  <a:srgbClr val="00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29555C-B5A5-438C-8713-D21020E2D2D9}"/>
                  </a:ext>
                </a:extLst>
              </p:cNvPr>
              <p:cNvSpPr txBox="1"/>
              <p:nvPr/>
            </p:nvSpPr>
            <p:spPr>
              <a:xfrm>
                <a:off x="6793773" y="2901103"/>
                <a:ext cx="343364" cy="279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Vcc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F59392E-A1D8-42F2-B661-79D02710C19D}"/>
                  </a:ext>
                </a:extLst>
              </p:cNvPr>
              <p:cNvCxnSpPr/>
              <p:nvPr/>
            </p:nvCxnSpPr>
            <p:spPr>
              <a:xfrm flipV="1">
                <a:off x="7013776" y="3218003"/>
                <a:ext cx="0" cy="169277"/>
              </a:xfrm>
              <a:prstGeom prst="line">
                <a:avLst/>
              </a:prstGeom>
              <a:ln w="28575">
                <a:solidFill>
                  <a:srgbClr val="0000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330D8C2-E1E3-4D8C-9F47-F4C744D070AA}"/>
                  </a:ext>
                </a:extLst>
              </p:cNvPr>
              <p:cNvSpPr/>
              <p:nvPr/>
            </p:nvSpPr>
            <p:spPr>
              <a:xfrm>
                <a:off x="6245444" y="4530988"/>
                <a:ext cx="730233" cy="922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195FE7C-2773-4F88-A84B-A1BA621E01FD}"/>
                  </a:ext>
                </a:extLst>
              </p:cNvPr>
              <p:cNvSpPr/>
              <p:nvPr/>
            </p:nvSpPr>
            <p:spPr>
              <a:xfrm>
                <a:off x="6801341" y="5046061"/>
                <a:ext cx="815196" cy="6657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918771B-7095-48FB-8D3C-B35E8615AA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3242" y="5062921"/>
                <a:ext cx="257211" cy="1810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1DF303-6459-48A4-B7E8-3C88BED3D71D}"/>
                  </a:ext>
                </a:extLst>
              </p:cNvPr>
              <p:cNvSpPr txBox="1"/>
              <p:nvPr/>
            </p:nvSpPr>
            <p:spPr>
              <a:xfrm>
                <a:off x="6099928" y="3727030"/>
                <a:ext cx="357116" cy="27993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Rb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207BC3-C3FC-472A-8DD5-BA0C677F3F2F}"/>
                  </a:ext>
                </a:extLst>
              </p:cNvPr>
              <p:cNvSpPr/>
              <p:nvPr/>
            </p:nvSpPr>
            <p:spPr>
              <a:xfrm>
                <a:off x="6305093" y="4470382"/>
                <a:ext cx="322890" cy="2254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69D247-5BCB-4ADD-A5B0-D895DF5D0C32}"/>
                </a:ext>
              </a:extLst>
            </p:cNvPr>
            <p:cNvSpPr/>
            <p:nvPr/>
          </p:nvSpPr>
          <p:spPr>
            <a:xfrm>
              <a:off x="5376323" y="3859740"/>
              <a:ext cx="538446" cy="2799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BC108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4777F14-1AE2-4B5C-B12F-E64981FEF741}"/>
                </a:ext>
              </a:extLst>
            </p:cNvPr>
            <p:cNvSpPr/>
            <p:nvPr/>
          </p:nvSpPr>
          <p:spPr>
            <a:xfrm>
              <a:off x="5666396" y="2779988"/>
              <a:ext cx="6655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=10V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F3AAA03-424E-4ADA-A66C-79F204E4528F}"/>
                </a:ext>
              </a:extLst>
            </p:cNvPr>
            <p:cNvSpPr/>
            <p:nvPr/>
          </p:nvSpPr>
          <p:spPr>
            <a:xfrm>
              <a:off x="6140139" y="3091665"/>
              <a:ext cx="297731" cy="2758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05BB62-6ECA-423F-9B21-8E8EEADD3113}"/>
                </a:ext>
              </a:extLst>
            </p:cNvPr>
            <p:cNvSpPr/>
            <p:nvPr/>
          </p:nvSpPr>
          <p:spPr>
            <a:xfrm>
              <a:off x="4789658" y="3145184"/>
              <a:ext cx="297731" cy="2758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D87D0D-4921-4381-9B4D-4CC15FA46D01}"/>
                </a:ext>
              </a:extLst>
            </p:cNvPr>
            <p:cNvSpPr/>
            <p:nvPr/>
          </p:nvSpPr>
          <p:spPr>
            <a:xfrm>
              <a:off x="4351352" y="3846339"/>
              <a:ext cx="730233" cy="699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trike="sngStrike"/>
                <a:t>2483112</a:t>
              </a:r>
            </a:p>
            <a:p>
              <a:r>
                <a:rPr lang="en-US"/>
                <a:t>2491122 Ohm</a:t>
              </a:r>
              <a:endParaRPr lang="en-ID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F5E9D2-A9A6-4282-BC5B-C0DE95BF095C}"/>
                </a:ext>
              </a:extLst>
            </p:cNvPr>
            <p:cNvSpPr/>
            <p:nvPr/>
          </p:nvSpPr>
          <p:spPr>
            <a:xfrm>
              <a:off x="6121008" y="3444119"/>
              <a:ext cx="799305" cy="27993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5000 Ohm</a:t>
              </a:r>
              <a:endParaRPr lang="en-ID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EBF4501-11EA-4D55-84CA-2D973A13BBC4}"/>
              </a:ext>
            </a:extLst>
          </p:cNvPr>
          <p:cNvSpPr/>
          <p:nvPr/>
        </p:nvSpPr>
        <p:spPr>
          <a:xfrm>
            <a:off x="3186083" y="4492875"/>
            <a:ext cx="1552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Ibq=3,7453 uA</a:t>
            </a:r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CEDE7F-4599-42FE-B05D-C9FD652F7CF7}"/>
              </a:ext>
            </a:extLst>
          </p:cNvPr>
          <p:cNvSpPr txBox="1"/>
          <p:nvPr/>
        </p:nvSpPr>
        <p:spPr>
          <a:xfrm>
            <a:off x="5152913" y="3704132"/>
            <a:ext cx="101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Icq=1mA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626152-D645-4B69-92AA-67F286FB5E9A}"/>
              </a:ext>
            </a:extLst>
          </p:cNvPr>
          <p:cNvSpPr txBox="1"/>
          <p:nvPr/>
        </p:nvSpPr>
        <p:spPr>
          <a:xfrm>
            <a:off x="5391773" y="4215262"/>
            <a:ext cx="100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Vceq=5V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F2B21F-0CA4-4BB5-886B-D4ED7DBE3DF5}"/>
              </a:ext>
            </a:extLst>
          </p:cNvPr>
          <p:cNvSpPr/>
          <p:nvPr/>
        </p:nvSpPr>
        <p:spPr>
          <a:xfrm>
            <a:off x="3493871" y="4875228"/>
            <a:ext cx="1330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/>
              <a:t>Vbeq=0,67V</a:t>
            </a:r>
          </a:p>
        </p:txBody>
      </p:sp>
    </p:spTree>
    <p:extLst>
      <p:ext uri="{BB962C8B-B14F-4D97-AF65-F5344CB8AC3E}">
        <p14:creationId xmlns:p14="http://schemas.microsoft.com/office/powerpoint/2010/main" val="6096495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91F0-E2AB-49EA-B979-6E839A8AD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Hasil Simulasi</a:t>
            </a:r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C0017-9D31-460B-AAC2-B3CB14B6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515" y="832037"/>
            <a:ext cx="3531869" cy="51939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E28CB1-BAF2-483B-9D49-DE890F9079EC}"/>
              </a:ext>
            </a:extLst>
          </p:cNvPr>
          <p:cNvSpPr/>
          <p:nvPr/>
        </p:nvSpPr>
        <p:spPr>
          <a:xfrm>
            <a:off x="4749735" y="4049600"/>
            <a:ext cx="15520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Ibq=3,7453 uA</a:t>
            </a:r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4DA69-FBB9-4476-BAA8-87320F645943}"/>
              </a:ext>
            </a:extLst>
          </p:cNvPr>
          <p:cNvSpPr txBox="1"/>
          <p:nvPr/>
        </p:nvSpPr>
        <p:spPr>
          <a:xfrm>
            <a:off x="7652384" y="3590368"/>
            <a:ext cx="100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Vceq=5V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BAFFE-0231-4D0F-AE3A-3D5472B9AA87}"/>
              </a:ext>
            </a:extLst>
          </p:cNvPr>
          <p:cNvSpPr txBox="1"/>
          <p:nvPr/>
        </p:nvSpPr>
        <p:spPr>
          <a:xfrm>
            <a:off x="6636370" y="2420915"/>
            <a:ext cx="1011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Icq=1mA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81055-B5AE-424A-BEA4-92E92351024B}"/>
              </a:ext>
            </a:extLst>
          </p:cNvPr>
          <p:cNvSpPr txBox="1"/>
          <p:nvPr/>
        </p:nvSpPr>
        <p:spPr>
          <a:xfrm>
            <a:off x="628650" y="6123542"/>
            <a:ext cx="562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Kesimpulan: Hasil simulasi sama dengan hasil perhitungan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7783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A4A2-34D0-4B4C-BAF0-A89EDF15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Garis Beban, Titik Kerja Vceq, Icq dan Ibq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3F7FE-040E-4FBB-88C7-68746D7D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25141"/>
          </a:xfrm>
        </p:spPr>
        <p:txBody>
          <a:bodyPr>
            <a:normAutofit fontScale="70000" lnSpcReduction="20000"/>
          </a:bodyPr>
          <a:lstStyle/>
          <a:p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CBEAC8-779F-4EA2-9975-E72AC4C2058C}"/>
              </a:ext>
            </a:extLst>
          </p:cNvPr>
          <p:cNvGrpSpPr/>
          <p:nvPr/>
        </p:nvGrpSpPr>
        <p:grpSpPr>
          <a:xfrm>
            <a:off x="326737" y="2807000"/>
            <a:ext cx="2456976" cy="3800469"/>
            <a:chOff x="6152381" y="2901103"/>
            <a:chExt cx="1697864" cy="2810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E649BC5-C589-4DE7-AAA4-2A008BF1D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01788" y="3218003"/>
              <a:ext cx="1648457" cy="2493819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924C9E1-29AA-4CCB-8B45-C794DEB44168}"/>
                </a:ext>
              </a:extLst>
            </p:cNvPr>
            <p:cNvCxnSpPr/>
            <p:nvPr/>
          </p:nvCxnSpPr>
          <p:spPr>
            <a:xfrm>
              <a:off x="6518929" y="3365350"/>
              <a:ext cx="913499" cy="0"/>
            </a:xfrm>
            <a:prstGeom prst="line">
              <a:avLst/>
            </a:prstGeom>
            <a:ln w="28575"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AE9842-29D4-4E7D-9690-C00928E06D80}"/>
                </a:ext>
              </a:extLst>
            </p:cNvPr>
            <p:cNvSpPr txBox="1"/>
            <p:nvPr/>
          </p:nvSpPr>
          <p:spPr>
            <a:xfrm>
              <a:off x="6793773" y="2901103"/>
              <a:ext cx="4644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/>
                <a:t>Vcc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B900E51-35AA-4B8C-B05F-99A5D70D616B}"/>
                </a:ext>
              </a:extLst>
            </p:cNvPr>
            <p:cNvCxnSpPr/>
            <p:nvPr/>
          </p:nvCxnSpPr>
          <p:spPr>
            <a:xfrm flipV="1">
              <a:off x="7013776" y="3218003"/>
              <a:ext cx="0" cy="169277"/>
            </a:xfrm>
            <a:prstGeom prst="line">
              <a:avLst/>
            </a:prstGeom>
            <a:ln w="28575">
              <a:solidFill>
                <a:srgbClr val="0000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1FAC7EA-E470-4957-BA26-4DD8AA10BB6A}"/>
                </a:ext>
              </a:extLst>
            </p:cNvPr>
            <p:cNvGrpSpPr/>
            <p:nvPr/>
          </p:nvGrpSpPr>
          <p:grpSpPr>
            <a:xfrm>
              <a:off x="6680090" y="4189807"/>
              <a:ext cx="416837" cy="308317"/>
              <a:chOff x="1116141" y="3464673"/>
              <a:chExt cx="416837" cy="30831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DFA8FD-F3D8-4408-948E-6EDB05B57A13}"/>
                  </a:ext>
                </a:extLst>
              </p:cNvPr>
              <p:cNvSpPr txBox="1"/>
              <p:nvPr/>
            </p:nvSpPr>
            <p:spPr>
              <a:xfrm>
                <a:off x="1155253" y="3464673"/>
                <a:ext cx="340297" cy="273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>
                    <a:solidFill>
                      <a:srgbClr val="FF0000"/>
                    </a:solidFill>
                  </a:rPr>
                  <a:t>Ibq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39C24AF-62A5-4732-A67E-60F414DD5A27}"/>
                  </a:ext>
                </a:extLst>
              </p:cNvPr>
              <p:cNvCxnSpPr/>
              <p:nvPr/>
            </p:nvCxnSpPr>
            <p:spPr>
              <a:xfrm>
                <a:off x="1116141" y="3772990"/>
                <a:ext cx="416837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85F7BC-938D-4CF2-8B8A-EC495436622D}"/>
                </a:ext>
              </a:extLst>
            </p:cNvPr>
            <p:cNvSpPr/>
            <p:nvPr/>
          </p:nvSpPr>
          <p:spPr>
            <a:xfrm>
              <a:off x="6245444" y="4530988"/>
              <a:ext cx="730233" cy="9226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86D376-5BD8-41E3-BF93-8772109841DF}"/>
                </a:ext>
              </a:extLst>
            </p:cNvPr>
            <p:cNvSpPr/>
            <p:nvPr/>
          </p:nvSpPr>
          <p:spPr>
            <a:xfrm>
              <a:off x="6801341" y="5046061"/>
              <a:ext cx="815196" cy="665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A0AB08-8B5E-4D59-AADE-BCD39B0CD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3242" y="5062921"/>
              <a:ext cx="257211" cy="181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C51022-ECAB-4636-842B-B246D6ED115D}"/>
                </a:ext>
              </a:extLst>
            </p:cNvPr>
            <p:cNvSpPr txBox="1"/>
            <p:nvPr/>
          </p:nvSpPr>
          <p:spPr>
            <a:xfrm>
              <a:off x="6152381" y="3815172"/>
              <a:ext cx="357116" cy="2503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/>
                <a:t>Rb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8CFA23-1239-449B-B934-F05DB8A48F50}"/>
                </a:ext>
              </a:extLst>
            </p:cNvPr>
            <p:cNvSpPr/>
            <p:nvPr/>
          </p:nvSpPr>
          <p:spPr>
            <a:xfrm>
              <a:off x="6305093" y="4470382"/>
              <a:ext cx="322890" cy="2254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822162C-2584-4839-96E8-2A2F9DBE29DA}"/>
              </a:ext>
            </a:extLst>
          </p:cNvPr>
          <p:cNvSpPr txBox="1"/>
          <p:nvPr/>
        </p:nvSpPr>
        <p:spPr>
          <a:xfrm>
            <a:off x="2550264" y="4832062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Vceq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C6D95D-71FE-4E32-9FE7-C9597F524626}"/>
              </a:ext>
            </a:extLst>
          </p:cNvPr>
          <p:cNvSpPr/>
          <p:nvPr/>
        </p:nvSpPr>
        <p:spPr>
          <a:xfrm>
            <a:off x="1774063" y="3692820"/>
            <a:ext cx="405028" cy="538605"/>
          </a:xfrm>
          <a:prstGeom prst="ellipse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58C7D3-37C2-4043-B9E9-849AC5473992}"/>
              </a:ext>
            </a:extLst>
          </p:cNvPr>
          <p:cNvCxnSpPr>
            <a:cxnSpLocks/>
          </p:cNvCxnSpPr>
          <p:nvPr/>
        </p:nvCxnSpPr>
        <p:spPr>
          <a:xfrm flipH="1">
            <a:off x="1992147" y="2807000"/>
            <a:ext cx="334347" cy="885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074D217-1329-4A9F-B6B5-DA3AD7699007}"/>
              </a:ext>
            </a:extLst>
          </p:cNvPr>
          <p:cNvSpPr txBox="1"/>
          <p:nvPr/>
        </p:nvSpPr>
        <p:spPr>
          <a:xfrm>
            <a:off x="2349106" y="2459775"/>
            <a:ext cx="14270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Icmaks=Vcc/Rc</a:t>
            </a:r>
          </a:p>
          <a:p>
            <a:r>
              <a:rPr lang="en-US" sz="1600"/>
              <a:t>(saat Vce=0)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6D0CF0-9193-4360-BAA5-51F64F81093A}"/>
              </a:ext>
            </a:extLst>
          </p:cNvPr>
          <p:cNvCxnSpPr>
            <a:cxnSpLocks/>
          </p:cNvCxnSpPr>
          <p:nvPr/>
        </p:nvCxnSpPr>
        <p:spPr>
          <a:xfrm>
            <a:off x="2349106" y="4231425"/>
            <a:ext cx="0" cy="348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27DB5E-D21C-42C7-B9CD-C28B07810874}"/>
              </a:ext>
            </a:extLst>
          </p:cNvPr>
          <p:cNvCxnSpPr/>
          <p:nvPr/>
        </p:nvCxnSpPr>
        <p:spPr>
          <a:xfrm flipV="1">
            <a:off x="2602738" y="4625439"/>
            <a:ext cx="0" cy="724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60BE90C-C847-4C45-BCAE-F79DBFD7C8DB}"/>
              </a:ext>
            </a:extLst>
          </p:cNvPr>
          <p:cNvSpPr txBox="1"/>
          <p:nvPr/>
        </p:nvSpPr>
        <p:spPr>
          <a:xfrm>
            <a:off x="2293777" y="4172381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Icq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1A7776-3528-4DB0-8CCB-57D11F87A704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2677976" y="4084826"/>
            <a:ext cx="255266" cy="159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D87CF7-09B5-441A-A790-C343F9162C6E}"/>
              </a:ext>
            </a:extLst>
          </p:cNvPr>
          <p:cNvSpPr txBox="1"/>
          <p:nvPr/>
        </p:nvSpPr>
        <p:spPr>
          <a:xfrm>
            <a:off x="2933242" y="3915549"/>
            <a:ext cx="1926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Icq = (Vcc-Vceq)/Rc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0AEF4CD-238F-4B6C-A2C8-4976E6132432}"/>
              </a:ext>
            </a:extLst>
          </p:cNvPr>
          <p:cNvCxnSpPr>
            <a:cxnSpLocks/>
            <a:endCxn id="17" idx="2"/>
          </p:cNvCxnSpPr>
          <p:nvPr/>
        </p:nvCxnSpPr>
        <p:spPr>
          <a:xfrm flipH="1" flipV="1">
            <a:off x="2870031" y="5201394"/>
            <a:ext cx="297882" cy="505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0B2E926-5B37-4DE9-8E88-83ABDE4E50F2}"/>
              </a:ext>
            </a:extLst>
          </p:cNvPr>
          <p:cNvSpPr txBox="1"/>
          <p:nvPr/>
        </p:nvSpPr>
        <p:spPr>
          <a:xfrm>
            <a:off x="3134756" y="5454332"/>
            <a:ext cx="1663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Biasanya di asumsikan ½ VCC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96A59F-AC2F-467C-B0DC-A2B4C09AFE39}"/>
              </a:ext>
            </a:extLst>
          </p:cNvPr>
          <p:cNvSpPr txBox="1"/>
          <p:nvPr/>
        </p:nvSpPr>
        <p:spPr>
          <a:xfrm>
            <a:off x="1659458" y="422550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/>
              <a:t>β</a:t>
            </a:r>
            <a:endParaRPr lang="en-US" sz="240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D4CA66-1653-4DC7-B181-621662812608}"/>
              </a:ext>
            </a:extLst>
          </p:cNvPr>
          <p:cNvCxnSpPr>
            <a:cxnSpLocks/>
            <a:stCxn id="43" idx="0"/>
          </p:cNvCxnSpPr>
          <p:nvPr/>
        </p:nvCxnSpPr>
        <p:spPr>
          <a:xfrm flipV="1">
            <a:off x="879134" y="4761086"/>
            <a:ext cx="337617" cy="693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441F982-261F-442C-88D9-827CB1993BB0}"/>
              </a:ext>
            </a:extLst>
          </p:cNvPr>
          <p:cNvSpPr txBox="1"/>
          <p:nvPr/>
        </p:nvSpPr>
        <p:spPr>
          <a:xfrm>
            <a:off x="350774" y="5454244"/>
            <a:ext cx="10567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Ibq = Ic/B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B8D360-4FF8-4C53-A641-DBB57EB204D7}"/>
              </a:ext>
            </a:extLst>
          </p:cNvPr>
          <p:cNvSpPr txBox="1"/>
          <p:nvPr/>
        </p:nvSpPr>
        <p:spPr>
          <a:xfrm>
            <a:off x="2832946" y="3132306"/>
            <a:ext cx="1427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Ingat Icq ≠ Icmaks !</a:t>
            </a:r>
          </a:p>
        </p:txBody>
      </p:sp>
      <p:pic>
        <p:nvPicPr>
          <p:cNvPr id="45" name="Picture 2" descr="Hasil gambar untuk output characteristic transistor">
            <a:extLst>
              <a:ext uri="{FF2B5EF4-FFF2-40B4-BE49-F238E27FC236}">
                <a16:creationId xmlns:a16="http://schemas.microsoft.com/office/drawing/2014/main" id="{2E804385-1084-4A06-8A63-438A37186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73" y="2718582"/>
            <a:ext cx="4198384" cy="319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58DBD9D-7575-4876-9BF5-82FFF1B5919B}"/>
              </a:ext>
            </a:extLst>
          </p:cNvPr>
          <p:cNvCxnSpPr/>
          <p:nvPr/>
        </p:nvCxnSpPr>
        <p:spPr>
          <a:xfrm flipH="1" flipV="1">
            <a:off x="5636242" y="3362312"/>
            <a:ext cx="1872941" cy="191764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768EF67-66DF-4667-B5AA-8FDD770FF42F}"/>
              </a:ext>
            </a:extLst>
          </p:cNvPr>
          <p:cNvSpPr/>
          <p:nvPr/>
        </p:nvSpPr>
        <p:spPr>
          <a:xfrm>
            <a:off x="7469417" y="5257014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088525E-38F5-4533-B0C6-470E5D84AB73}"/>
              </a:ext>
            </a:extLst>
          </p:cNvPr>
          <p:cNvCxnSpPr>
            <a:cxnSpLocks/>
          </p:cNvCxnSpPr>
          <p:nvPr/>
        </p:nvCxnSpPr>
        <p:spPr>
          <a:xfrm flipV="1">
            <a:off x="6486987" y="4380552"/>
            <a:ext cx="0" cy="975778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97410CEF-2AA1-4D26-A8FF-16378335D96B}"/>
              </a:ext>
            </a:extLst>
          </p:cNvPr>
          <p:cNvSpPr/>
          <p:nvPr/>
        </p:nvSpPr>
        <p:spPr>
          <a:xfrm>
            <a:off x="5604149" y="3329100"/>
            <a:ext cx="104585" cy="1477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F6683D-110C-480B-980A-D66A819A6AA8}"/>
              </a:ext>
            </a:extLst>
          </p:cNvPr>
          <p:cNvSpPr txBox="1"/>
          <p:nvPr/>
        </p:nvSpPr>
        <p:spPr>
          <a:xfrm>
            <a:off x="6144335" y="5330899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Vceq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8E96E3-7C3D-4B4E-BEAD-763A01600B24}"/>
              </a:ext>
            </a:extLst>
          </p:cNvPr>
          <p:cNvSpPr txBox="1"/>
          <p:nvPr/>
        </p:nvSpPr>
        <p:spPr>
          <a:xfrm>
            <a:off x="6160232" y="5589884"/>
            <a:ext cx="87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= ½ Vcc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3BE6810-85E1-4E49-BB69-F06DE689342B}"/>
              </a:ext>
            </a:extLst>
          </p:cNvPr>
          <p:cNvSpPr txBox="1"/>
          <p:nvPr/>
        </p:nvSpPr>
        <p:spPr>
          <a:xfrm>
            <a:off x="4841401" y="3267529"/>
            <a:ext cx="826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Icmaks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3D4608-AD9B-40E9-BB65-E48639757470}"/>
              </a:ext>
            </a:extLst>
          </p:cNvPr>
          <p:cNvSpPr txBox="1"/>
          <p:nvPr/>
        </p:nvSpPr>
        <p:spPr>
          <a:xfrm>
            <a:off x="7112929" y="5330899"/>
            <a:ext cx="500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Vcc</a:t>
            </a:r>
            <a:endParaRPr lang="en-US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619752-B18A-4EEE-949E-1411EAF9FB47}"/>
              </a:ext>
            </a:extLst>
          </p:cNvPr>
          <p:cNvSpPr/>
          <p:nvPr/>
        </p:nvSpPr>
        <p:spPr>
          <a:xfrm>
            <a:off x="6402091" y="4144952"/>
            <a:ext cx="169790" cy="1761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D721644-3038-4B9E-B6F2-ADDF189D7777}"/>
              </a:ext>
            </a:extLst>
          </p:cNvPr>
          <p:cNvCxnSpPr>
            <a:cxnSpLocks/>
          </p:cNvCxnSpPr>
          <p:nvPr/>
        </p:nvCxnSpPr>
        <p:spPr>
          <a:xfrm flipH="1">
            <a:off x="5708734" y="4317407"/>
            <a:ext cx="693357" cy="0"/>
          </a:xfrm>
          <a:prstGeom prst="line">
            <a:avLst/>
          </a:prstGeom>
          <a:ln w="28575">
            <a:solidFill>
              <a:srgbClr val="00006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AA2FA07-13D7-4AE9-8278-86D21CD94ECC}"/>
              </a:ext>
            </a:extLst>
          </p:cNvPr>
          <p:cNvSpPr txBox="1"/>
          <p:nvPr/>
        </p:nvSpPr>
        <p:spPr>
          <a:xfrm>
            <a:off x="5143895" y="4107796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Icq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48F95C-84D9-4BCF-8A6D-553DAEC90BE5}"/>
              </a:ext>
            </a:extLst>
          </p:cNvPr>
          <p:cNvSpPr txBox="1"/>
          <p:nvPr/>
        </p:nvSpPr>
        <p:spPr>
          <a:xfrm>
            <a:off x="6870522" y="3949356"/>
            <a:ext cx="492443" cy="369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Ibq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19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7856</TotalTime>
  <Words>650</Words>
  <Application>Microsoft Office PowerPoint</Application>
  <PresentationFormat>On-screen Show (4:3)</PresentationFormat>
  <Paragraphs>162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Perancangan Prategangan CE FB (Common Emitter Fixed-Bias)</vt:lpstr>
      <vt:lpstr>Soal</vt:lpstr>
      <vt:lpstr>PowerPoint Presentation</vt:lpstr>
      <vt:lpstr>Membuat Garis Beban</vt:lpstr>
      <vt:lpstr>Menentukan Vceq</vt:lpstr>
      <vt:lpstr>Menentukan Rc</vt:lpstr>
      <vt:lpstr>Menentukan Icq</vt:lpstr>
      <vt:lpstr>Menentukan Ibq</vt:lpstr>
      <vt:lpstr>Menentukan Ibq Menggunakan Grafik Karakteristik Output</vt:lpstr>
      <vt:lpstr>Menentukan Rb</vt:lpstr>
      <vt:lpstr>Skema Lengkap Rangkaian Prategangan</vt:lpstr>
      <vt:lpstr>Hasil Simulasi</vt:lpstr>
      <vt:lpstr>Garis Beban, Titik Kerja Vceq, Icq dan Ibq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erilmozef@yahoo.com</cp:lastModifiedBy>
  <cp:revision>411</cp:revision>
  <dcterms:created xsi:type="dcterms:W3CDTF">2019-05-06T01:23:15Z</dcterms:created>
  <dcterms:modified xsi:type="dcterms:W3CDTF">2025-05-27T00:33:57Z</dcterms:modified>
</cp:coreProperties>
</file>