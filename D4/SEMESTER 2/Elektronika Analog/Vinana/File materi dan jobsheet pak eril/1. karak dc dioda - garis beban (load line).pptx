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20" r:id="rId2"/>
    <p:sldId id="287" r:id="rId3"/>
    <p:sldId id="288" r:id="rId4"/>
    <p:sldId id="318" r:id="rId5"/>
    <p:sldId id="289" r:id="rId6"/>
    <p:sldId id="290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4" autoAdjust="0"/>
    <p:restoredTop sz="95337" autoAdjust="0"/>
  </p:normalViewPr>
  <p:slideViewPr>
    <p:cSldViewPr snapToGrid="0">
      <p:cViewPr varScale="1">
        <p:scale>
          <a:sx n="85" d="100"/>
          <a:sy n="85" d="100"/>
        </p:scale>
        <p:origin x="36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D6139-BB5F-4C76-9FDA-B20F9DA4B82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66062-ABF2-46D5-9276-CC8A79A1F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1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D0D0D"/>
                </a:solidFill>
                <a:latin typeface="Söhne"/>
              </a:rPr>
              <a:t>Garis beban dioda adalah kurva yang menggambarkan hubungan antara tegangan dan arus pada suatu rangkaian yang terdiri dari dioda dan elemen-elemen lain seperti resistor atau komponen lainnya.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D0D0D"/>
                </a:solidFill>
                <a:latin typeface="Söhne"/>
              </a:rPr>
              <a:t>Garis beban ini biasanya digunakan dalam analisis rangkaian penyearah (rectifier) atau rangkaian dioda yang lain.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D0D0D"/>
                </a:solidFill>
                <a:latin typeface="Söhne"/>
              </a:rPr>
              <a:t>Dalam rangkaian penyearah, garis beban dioda menunjukkan cara di mana tegangan dan arus berubah pada beban (misalnya resistor) yang terhubung dengan dioda.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D0D0D"/>
                </a:solidFill>
                <a:latin typeface="Söhne"/>
              </a:rPr>
              <a:t>Hubungan antara tegangan dan arus pada garis beban dioda dapat memberikan gambaran tentang bagaimana penyearah bekerja dalam mengubah tegangan AC menjadi tegangan DC.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D0D0D"/>
                </a:solidFill>
                <a:latin typeface="Söhne"/>
              </a:rPr>
              <a:t>Garis beban dioda umumnya bersifat linier untuk dioda ideal, namun dapat bervariasi tergantung pada sifat-sifat dioda dan beban yang terhubung.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D0D0D"/>
                </a:solidFill>
                <a:latin typeface="Söhne"/>
              </a:rPr>
              <a:t>Pada garis beban, Anda dapat melihat bagaimana dioda bereaksi terhadap tegangan dan arus yang diterapkan pada rangkaian tersebut.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D0D0D"/>
                </a:solidFill>
                <a:latin typeface="Söhne"/>
              </a:rPr>
              <a:t>Analisis garis beban dioda penting untuk memahami kinerja dan karakteristik rangkaian dioda. Ini membantu dalam memilih komponen yang tepat dan merancang rangkaian yang efisien sesuai dengan kebutuhan aplikasi tertentu.</a:t>
            </a:r>
            <a:endParaRPr lang="en-US" sz="1200" b="0" i="0">
              <a:solidFill>
                <a:srgbClr val="0D0D0D"/>
              </a:solidFill>
              <a:effectLst/>
              <a:latin typeface="Söhne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266062-ABF2-46D5-9276-CC8A79A1FB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33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22512-9AFE-4614-AEC5-5E6621D83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A2C78-5F66-4AE5-B40E-3EF5B7C2C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608DE-032D-44AB-8538-7CF808A9B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17FA-906F-415F-B358-64BC0430E512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7664E-3C1D-4156-9C05-A2ECE3979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F7B3F-9C39-4BDE-970C-238514CD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6252-1460-4AF5-863E-A19BF8BA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84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B245-9D21-47EF-94BE-EF3FC1BCB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1A5FC-F575-4FA1-93B1-16393FCB3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43F9B-0693-48B9-A82F-3A909D95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17FA-906F-415F-B358-64BC0430E512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BC74C-783A-4155-99E6-B02B9DF5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4274B-4C47-48B3-B0F0-2C0F94FC0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6252-1460-4AF5-863E-A19BF8BA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48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389D7-193F-43A7-82DC-9633A1DE1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E7249-520F-4F22-8837-ECF212A3B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B25DA-78F2-4752-9C57-16CA8994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17FA-906F-415F-B358-64BC0430E512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BB140-2D55-423D-BD32-0D1BE452C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7CFDB-0A94-443C-B962-71F464DD3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6252-1460-4AF5-863E-A19BF8BA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901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E5E4-1237-4028-9807-D3C09487F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79B76-2724-4ABE-A77F-9598ECC27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E37AB-38AB-4832-92C5-ECA8F0351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6FDF6-B7F1-4939-9A44-A57CEED92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17FA-906F-415F-B358-64BC0430E512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E95A1-A2CA-4FEE-A92F-33EE5EE9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6A5B3-E90A-466F-A58E-6630AE10D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6252-1460-4AF5-863E-A19BF8BA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1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3E34-5FD2-4A5F-8A41-0D236A38C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3633C-02D2-4FF6-AD5A-20363F890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47C70-D43C-484F-BC01-AD047F5DF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DFBC86-7B52-4663-A937-B8C8F2CF1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528D0-43C0-4627-B5B9-78991EE78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F8C71D-21DB-45D4-BAC9-5F110B46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17FA-906F-415F-B358-64BC0430E512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BAAB69-EE91-4FFA-A3B9-0AA247E8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B44239-C03A-4D00-B289-20A760F9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6252-1460-4AF5-863E-A19BF8BA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E1D05-4ADE-44C8-BE88-D06952543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2F233-1FBF-473A-BC48-BAF538004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17FA-906F-415F-B358-64BC0430E512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E26BC-F747-46E0-92C3-647619036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12849-B316-4D15-AF10-8EA8A05B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6252-1460-4AF5-863E-A19BF8BA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96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8B8B0-2313-498C-AE5E-A3252B5B6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17FA-906F-415F-B358-64BC0430E512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0CF50-293F-4DEA-A33E-842E9989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74DE6-2A72-48D3-8523-FDFC8080A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6252-1460-4AF5-863E-A19BF8BA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5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F8B6-F119-4E7F-9F58-D31B08A9F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EA39A-9BE8-43AA-8383-0E8A6FD41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97CE3-4938-4DB4-AD7F-AF4A6AB58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386CF-910B-49CB-9E6D-D8970BF1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17FA-906F-415F-B358-64BC0430E512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CD522-7E8D-4430-A180-D581AEC9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EE13D-0DA3-4BA8-A3A6-2A982274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6252-1460-4AF5-863E-A19BF8BA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32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BA8FA-5BC2-46FE-8FCE-1650784EE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52415-EB2A-42C2-B8C9-2BF9BF35DF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FA3DA-ABBE-4ADF-89F4-A40F58475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FA5F6-9A36-4217-B4BE-660FCA0B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17FA-906F-415F-B358-64BC0430E512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90CC4-B4CF-4880-8DCA-4C74181B3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DC64A-0F9A-4B5D-B9C4-957EB4B3A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6252-1460-4AF5-863E-A19BF8BA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147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9F154-3179-400D-96CA-B05D116C4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13B945-4A4C-42C9-B91C-B6752C662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CAD6E-3F88-4E6C-82BF-E8A766482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17FA-906F-415F-B358-64BC0430E512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8E37A-6DBC-4465-98C1-DFA86B7FF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61076-D11D-41D9-A11A-79EEA173C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6252-1460-4AF5-863E-A19BF8BA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0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F877BD-B42E-4E21-8F85-02AA0BDD4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1C5E2-960D-4D8F-94D9-88CB6FB8B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76AC8-8DD1-4C3D-8E34-E3D0C36E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17FA-906F-415F-B358-64BC0430E512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1C34C-6A8C-4615-82B0-6779E179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BB430-2C8F-4B79-9AF9-A6C3F05A1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6252-1460-4AF5-863E-A19BF8BA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64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DA55D8-811E-49F6-BDB9-D7D598341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17885-3301-4EE7-8D03-BFCC1829F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6C9BB-45A3-4040-A370-54B3062FA9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A17FA-906F-415F-B358-64BC0430E512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276C3-FD87-4140-8F6F-72F7139FB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3545E-9232-4CE2-A916-659525EDB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F6252-1460-4AF5-863E-A19BF8BA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312A1-177D-13C3-770E-ABA10377F0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Garis Beban (Load Line) Dioda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39F1C-1594-F443-C5FA-1B1EBD0B72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8036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CA7D67-DDE7-489E-AD2A-614D18AECD05}"/>
              </a:ext>
            </a:extLst>
          </p:cNvPr>
          <p:cNvSpPr txBox="1"/>
          <p:nvPr/>
        </p:nvSpPr>
        <p:spPr>
          <a:xfrm>
            <a:off x="938463" y="505327"/>
            <a:ext cx="2231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 err="1">
                <a:solidFill>
                  <a:srgbClr val="00B050"/>
                </a:solidFill>
              </a:rPr>
              <a:t>Aplikasi</a:t>
            </a:r>
            <a:r>
              <a:rPr lang="en-US" sz="2800" u="sng" dirty="0">
                <a:solidFill>
                  <a:srgbClr val="00B050"/>
                </a:solidFill>
              </a:rPr>
              <a:t> </a:t>
            </a:r>
            <a:r>
              <a:rPr lang="en-US" sz="2800" u="sng" dirty="0" err="1">
                <a:solidFill>
                  <a:srgbClr val="00B050"/>
                </a:solidFill>
              </a:rPr>
              <a:t>Dioda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38CFC5-160E-4E3F-B5CE-DFDB6A299E3D}"/>
              </a:ext>
            </a:extLst>
          </p:cNvPr>
          <p:cNvSpPr txBox="1"/>
          <p:nvPr/>
        </p:nvSpPr>
        <p:spPr>
          <a:xfrm>
            <a:off x="1916029" y="1573745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56152-C5F2-497D-AC2B-915CA54E0A23}"/>
              </a:ext>
            </a:extLst>
          </p:cNvPr>
          <p:cNvGrpSpPr/>
          <p:nvPr/>
        </p:nvGrpSpPr>
        <p:grpSpPr>
          <a:xfrm>
            <a:off x="840161" y="1809975"/>
            <a:ext cx="7169862" cy="4542698"/>
            <a:chOff x="1025692" y="1326975"/>
            <a:chExt cx="6093994" cy="323805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669A197-E890-4C69-B4A1-DF504169A7EC}"/>
                </a:ext>
              </a:extLst>
            </p:cNvPr>
            <p:cNvSpPr txBox="1"/>
            <p:nvPr/>
          </p:nvSpPr>
          <p:spPr>
            <a:xfrm>
              <a:off x="1025692" y="1326975"/>
              <a:ext cx="60939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LOAD-LINE ANALYSIS/ Analisa Garis Beban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04DCED3-06E9-48F8-8A79-4120190B8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5692" y="2012919"/>
              <a:ext cx="2114550" cy="168592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53628F-7072-498C-9657-6BBE6971FF02}"/>
                </a:ext>
              </a:extLst>
            </p:cNvPr>
            <p:cNvSpPr txBox="1"/>
            <p:nvPr/>
          </p:nvSpPr>
          <p:spPr>
            <a:xfrm>
              <a:off x="1025692" y="3918694"/>
              <a:ext cx="60939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/>
                <a:t>Figure 2.1 </a:t>
              </a:r>
              <a:r>
                <a:rPr lang="fr-FR" dirty="0" err="1"/>
                <a:t>Series</a:t>
              </a:r>
              <a:r>
                <a:rPr lang="fr-FR" dirty="0"/>
                <a:t> diode configuration: (a) circuit; (b) </a:t>
              </a:r>
              <a:r>
                <a:rPr lang="fr-FR" dirty="0" err="1"/>
                <a:t>characterist</a:t>
              </a:r>
              <a:endParaRPr lang="en-US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378A1FA-AEF9-4968-9BBF-51FF9413D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5358" y="1756519"/>
              <a:ext cx="1981200" cy="2162175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0E00664-0B04-405E-8DD3-4667959AD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28" y="1637943"/>
            <a:ext cx="1747224" cy="8064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86BD77-B65E-4E5B-8D29-C928C7BB7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339" y="2495919"/>
            <a:ext cx="1706963" cy="12584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F0DE85-EA91-4381-83E2-F448BBCCD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0740" y="3729435"/>
            <a:ext cx="1566163" cy="1091179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CC1442-C7D7-E4AD-DE1B-04829EA8C35D}"/>
              </a:ext>
            </a:extLst>
          </p:cNvPr>
          <p:cNvSpPr/>
          <p:nvPr/>
        </p:nvSpPr>
        <p:spPr>
          <a:xfrm>
            <a:off x="1497106" y="2772294"/>
            <a:ext cx="1353670" cy="957141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765FC8-85E0-E97A-0A71-8D9ED9207D9B}"/>
              </a:ext>
            </a:extLst>
          </p:cNvPr>
          <p:cNvSpPr/>
          <p:nvPr/>
        </p:nvSpPr>
        <p:spPr>
          <a:xfrm>
            <a:off x="3765177" y="2412586"/>
            <a:ext cx="2550882" cy="2871669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1897D24-1147-9A05-087D-1A4773759579}"/>
              </a:ext>
            </a:extLst>
          </p:cNvPr>
          <p:cNvSpPr/>
          <p:nvPr/>
        </p:nvSpPr>
        <p:spPr>
          <a:xfrm>
            <a:off x="2635624" y="2480950"/>
            <a:ext cx="1111623" cy="199497"/>
          </a:xfrm>
          <a:custGeom>
            <a:avLst/>
            <a:gdLst>
              <a:gd name="connsiteX0" fmla="*/ 0 w 1111623"/>
              <a:gd name="connsiteY0" fmla="*/ 199497 h 199497"/>
              <a:gd name="connsiteX1" fmla="*/ 681317 w 1111623"/>
              <a:gd name="connsiteY1" fmla="*/ 2274 h 199497"/>
              <a:gd name="connsiteX2" fmla="*/ 1111623 w 1111623"/>
              <a:gd name="connsiteY2" fmla="*/ 109850 h 199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1623" h="199497">
                <a:moveTo>
                  <a:pt x="0" y="199497"/>
                </a:moveTo>
                <a:cubicBezTo>
                  <a:pt x="248023" y="108356"/>
                  <a:pt x="496047" y="17215"/>
                  <a:pt x="681317" y="2274"/>
                </a:cubicBezTo>
                <a:cubicBezTo>
                  <a:pt x="866587" y="-12667"/>
                  <a:pt x="989105" y="48591"/>
                  <a:pt x="1111623" y="109850"/>
                </a:cubicBezTo>
              </a:path>
            </a:pathLst>
          </a:custGeom>
          <a:noFill/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0215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2DADCC-4BAC-43B5-8314-963AA0575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298" y="1023536"/>
            <a:ext cx="7017331" cy="45928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E00664-0B04-405E-8DD3-4667959AD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321" y="508956"/>
            <a:ext cx="1747224" cy="806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86BD77-B65E-4E5B-8D29-C928C7BB7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20" y="1754646"/>
            <a:ext cx="1706963" cy="12584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F0DE85-EA91-4381-83E2-F448BBCCD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4739" y="1754646"/>
            <a:ext cx="1566163" cy="1091179"/>
          </a:xfrm>
          <a:prstGeom prst="rect">
            <a:avLst/>
          </a:prstGeom>
        </p:spPr>
      </p:pic>
      <p:cxnSp>
        <p:nvCxnSpPr>
          <p:cNvPr id="7" name="Straight Arrow Connector 6"/>
          <p:cNvCxnSpPr>
            <a:stCxn id="4" idx="2"/>
          </p:cNvCxnSpPr>
          <p:nvPr/>
        </p:nvCxnSpPr>
        <p:spPr>
          <a:xfrm flipH="1">
            <a:off x="8654473" y="1315367"/>
            <a:ext cx="682460" cy="4392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2"/>
          </p:cNvCxnSpPr>
          <p:nvPr/>
        </p:nvCxnSpPr>
        <p:spPr>
          <a:xfrm>
            <a:off x="9336933" y="1315367"/>
            <a:ext cx="656812" cy="4392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1921164" y="2558473"/>
            <a:ext cx="5416856" cy="83127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</p:cNvCxnSpPr>
          <p:nvPr/>
        </p:nvCxnSpPr>
        <p:spPr>
          <a:xfrm flipH="1">
            <a:off x="6683400" y="2845825"/>
            <a:ext cx="3634421" cy="1716939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57428" y="130695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VD=0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7301" y="128314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ID=0</a:t>
            </a:r>
          </a:p>
        </p:txBody>
      </p:sp>
    </p:spTree>
    <p:extLst>
      <p:ext uri="{BB962C8B-B14F-4D97-AF65-F5344CB8AC3E}">
        <p14:creationId xmlns:p14="http://schemas.microsoft.com/office/powerpoint/2010/main" val="907986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5915" y="686168"/>
            <a:ext cx="981739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D0D0D"/>
                </a:solidFill>
                <a:latin typeface="Söhne"/>
              </a:rPr>
              <a:t>Garis beban dioda adalah kurva yang menggambarkan hubungan antara tegangan dan arus pada suatu rangkaian yang terdiri dari dioda dan elemen-elemen lain seperti resistor atau komponen lainnya.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D0D0D"/>
                </a:solidFill>
                <a:latin typeface="Söhne"/>
              </a:rPr>
              <a:t>Garis beban ini biasanya digunakan dalam analisis rangkaian penyearah (rectifier) atau rangkaian dioda yang lain.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D0D0D"/>
                </a:solidFill>
                <a:latin typeface="Söhne"/>
              </a:rPr>
              <a:t>Dalam rangkaian penyearah, garis beban dioda menunjukkan cara di mana tegangan dan arus berubah pada beban (misalnya resistor) yang terhubung dengan dioda.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D0D0D"/>
                </a:solidFill>
                <a:latin typeface="Söhne"/>
              </a:rPr>
              <a:t>Hubungan antara tegangan dan arus pada garis beban dioda dapat memberikan gambaran tentang bagaimana penyearah bekerja dalam mengubah tegangan AC menjadi tegangan DC.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D0D0D"/>
                </a:solidFill>
                <a:latin typeface="Söhne"/>
              </a:rPr>
              <a:t>Garis beban dioda umumnya bersifat linier untuk dioda ideal, namun dapat bervariasi tergantung pada sifat-sifat dioda dan beban yang terhubung.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D0D0D"/>
                </a:solidFill>
                <a:latin typeface="Söhne"/>
              </a:rPr>
              <a:t>Pada garis beban, Anda dapat melihat bagaimana dioda bereaksi terhadap tegangan dan arus yang diterapkan pada rangkaian tersebut.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D0D0D"/>
                </a:solidFill>
                <a:latin typeface="Söhne"/>
              </a:rPr>
              <a:t>Analisis garis beban dioda penting untuk memahami kinerja dan karakteristik rangkaian dioda. Ini membantu dalam memilih komponen yang tepat dan merancang rangkaian yang efisien sesuai dengan kebutuhan aplikasi tertentu.</a:t>
            </a:r>
            <a:endParaRPr lang="en-US" sz="1600" b="0" i="0">
              <a:solidFill>
                <a:srgbClr val="0D0D0D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358317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60139D-FFA6-4BD1-8146-43057C9237C5}"/>
              </a:ext>
            </a:extLst>
          </p:cNvPr>
          <p:cNvSpPr txBox="1"/>
          <p:nvPr/>
        </p:nvSpPr>
        <p:spPr>
          <a:xfrm>
            <a:off x="712871" y="664486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DIODE APPROXIMATIONS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D61AC9-1EAE-4606-977C-61F660D47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845" y="1270609"/>
            <a:ext cx="5428749" cy="530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0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36EF69-E767-4DF5-BB70-F9320B109296}"/>
              </a:ext>
            </a:extLst>
          </p:cNvPr>
          <p:cNvSpPr txBox="1"/>
          <p:nvPr/>
        </p:nvSpPr>
        <p:spPr>
          <a:xfrm>
            <a:off x="1121944" y="615299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SERIES DIODE CONFIGURATIONS WITH DC INPUTS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B4C7A-87C7-4BF1-AB54-C490E36258A9}"/>
              </a:ext>
            </a:extLst>
          </p:cNvPr>
          <p:cNvSpPr txBox="1"/>
          <p:nvPr/>
        </p:nvSpPr>
        <p:spPr>
          <a:xfrm>
            <a:off x="1121944" y="1300553"/>
            <a:ext cx="80220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, </a:t>
            </a:r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keadaan</a:t>
            </a:r>
            <a:r>
              <a:rPr lang="en-US" dirty="0"/>
              <a:t> “on”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yang </a:t>
            </a:r>
            <a:r>
              <a:rPr lang="en-US" dirty="0" err="1"/>
              <a:t>dibangkitkan</a:t>
            </a:r>
            <a:r>
              <a:rPr lang="en-US" dirty="0"/>
              <a:t> oleh</a:t>
            </a:r>
          </a:p>
          <a:p>
            <a:r>
              <a:rPr lang="en-US" dirty="0" err="1"/>
              <a:t>sumber</a:t>
            </a:r>
            <a:r>
              <a:rPr lang="en-US" dirty="0"/>
              <a:t> yang </a:t>
            </a:r>
            <a:r>
              <a:rPr lang="en-US" dirty="0" err="1"/>
              <a:t>diterapkan</a:t>
            </a:r>
            <a:r>
              <a:rPr lang="en-US" dirty="0"/>
              <a:t> </a:t>
            </a:r>
            <a:r>
              <a:rPr lang="en-US" dirty="0" err="1"/>
              <a:t>sedemikian</a:t>
            </a:r>
            <a:r>
              <a:rPr lang="en-US" dirty="0"/>
              <a:t> </a:t>
            </a:r>
            <a:r>
              <a:rPr lang="en-US" dirty="0" err="1"/>
              <a:t>rupa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arahnya</a:t>
            </a:r>
            <a:r>
              <a:rPr lang="en-US" dirty="0"/>
              <a:t> </a:t>
            </a:r>
            <a:r>
              <a:rPr lang="en-US" dirty="0" err="1"/>
              <a:t>cocok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di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, dan VD =0,7 V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silikon</a:t>
            </a:r>
            <a:r>
              <a:rPr lang="en-US" dirty="0"/>
              <a:t> dan VD= 0,3 V </a:t>
            </a:r>
            <a:r>
              <a:rPr lang="en-US" dirty="0" err="1"/>
              <a:t>untuk</a:t>
            </a:r>
            <a:r>
              <a:rPr lang="en-US" dirty="0"/>
              <a:t> germanium.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D3262D-C2F2-46F2-8DA2-ECCE066F8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01" y="2811688"/>
            <a:ext cx="2616671" cy="2566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2AA928-231F-46F4-9288-9995BBB60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754" y="2811688"/>
            <a:ext cx="2582930" cy="25669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A81658-DC42-45DB-B9F6-2699D15A2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247" y="2653862"/>
            <a:ext cx="2582929" cy="28922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8C386D-B261-48A6-82FC-D8CD1D6454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9510" y="2811688"/>
            <a:ext cx="2601485" cy="2563228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1222744" y="2724472"/>
            <a:ext cx="173310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77655" y="2355139"/>
            <a:ext cx="1364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VD (atau VT)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15707" y="2724471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IR</a:t>
            </a:r>
          </a:p>
        </p:txBody>
      </p:sp>
    </p:spTree>
    <p:extLst>
      <p:ext uri="{BB962C8B-B14F-4D97-AF65-F5344CB8AC3E}">
        <p14:creationId xmlns:p14="http://schemas.microsoft.com/office/powerpoint/2010/main" val="2403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324A20-5720-4827-B09A-5A7EBB79393E}"/>
              </a:ext>
            </a:extLst>
          </p:cNvPr>
          <p:cNvSpPr txBox="1"/>
          <p:nvPr/>
        </p:nvSpPr>
        <p:spPr>
          <a:xfrm>
            <a:off x="631064" y="3429000"/>
            <a:ext cx="107281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Pada Gambar 2.13 </a:t>
            </a:r>
            <a:r>
              <a:rPr lang="en-US" dirty="0" err="1"/>
              <a:t>dioda</a:t>
            </a:r>
            <a:r>
              <a:rPr lang="en-US" dirty="0"/>
              <a:t> pada Gambar 2.10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dibalik</a:t>
            </a:r>
            <a:r>
              <a:rPr lang="en-US" dirty="0"/>
              <a:t>. </a:t>
            </a:r>
            <a:r>
              <a:rPr lang="en-US" dirty="0" err="1"/>
              <a:t>Mengganti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resistif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yang </a:t>
            </a:r>
            <a:r>
              <a:rPr lang="en-US" dirty="0" err="1"/>
              <a:t>ditunjukkan</a:t>
            </a:r>
            <a:r>
              <a:rPr lang="en-US" dirty="0"/>
              <a:t> pada Gambar 2.14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mengungkapkan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yang </a:t>
            </a:r>
            <a:r>
              <a:rPr lang="en-US" dirty="0" err="1"/>
              <a:t>dihasilkan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pada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. </a:t>
            </a:r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keadaan</a:t>
            </a:r>
            <a:r>
              <a:rPr lang="en-US" dirty="0"/>
              <a:t> “</a:t>
            </a:r>
            <a:r>
              <a:rPr lang="en-US" dirty="0" err="1"/>
              <a:t>mati</a:t>
            </a:r>
            <a:r>
              <a:rPr lang="en-US" dirty="0"/>
              <a:t>”,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ekivalen</a:t>
            </a:r>
            <a:r>
              <a:rPr lang="en-US" dirty="0"/>
              <a:t> pada Gambar 2.15. Karena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terbuka</a:t>
            </a:r>
            <a:r>
              <a:rPr lang="en-US" dirty="0"/>
              <a:t>,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0 A dan </a:t>
            </a:r>
            <a:r>
              <a:rPr lang="en-US" dirty="0" err="1"/>
              <a:t>tegangan</a:t>
            </a:r>
            <a:r>
              <a:rPr lang="en-US" dirty="0"/>
              <a:t> pada resistor R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0B993-D190-4A00-8831-AD769A57D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47" y="463912"/>
            <a:ext cx="9980017" cy="28165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64A0FF-E74C-4102-AF4D-37B58F13D3C9}"/>
              </a:ext>
            </a:extLst>
          </p:cNvPr>
          <p:cNvSpPr txBox="1"/>
          <p:nvPr/>
        </p:nvSpPr>
        <p:spPr>
          <a:xfrm>
            <a:off x="3319530" y="5308173"/>
            <a:ext cx="6098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VR</a:t>
            </a:r>
            <a:r>
              <a:rPr lang="pt-BR" sz="2800"/>
              <a:t>=  IR x R = ID x R </a:t>
            </a:r>
            <a:r>
              <a:rPr lang="pt-BR" sz="2800" dirty="0"/>
              <a:t>= (0 </a:t>
            </a:r>
            <a:r>
              <a:rPr lang="pt-BR" sz="2800"/>
              <a:t>A) x R </a:t>
            </a:r>
            <a:r>
              <a:rPr lang="pt-BR" sz="2800" dirty="0"/>
              <a:t>= 0 V</a:t>
            </a: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0152993" y="567559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IR</a:t>
            </a:r>
          </a:p>
        </p:txBody>
      </p:sp>
    </p:spTree>
    <p:extLst>
      <p:ext uri="{BB962C8B-B14F-4D97-AF65-F5344CB8AC3E}">
        <p14:creationId xmlns:p14="http://schemas.microsoft.com/office/powerpoint/2010/main" val="2411483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72BAA9-C49D-4E34-A72D-BF9A7C5AD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373" y="646744"/>
            <a:ext cx="9358029" cy="593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81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0AD379-02CD-4BD4-B599-7466DFA1D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639" y="631065"/>
            <a:ext cx="7687710" cy="6014434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2407640" y="1585519"/>
            <a:ext cx="1191237" cy="2516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6631" y="1193976"/>
            <a:ext cx="16027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Bila lebih kecil dari tegangan dioda E &lt; 0,7v</a:t>
            </a:r>
          </a:p>
        </p:txBody>
      </p:sp>
    </p:spTree>
    <p:extLst>
      <p:ext uri="{BB962C8B-B14F-4D97-AF65-F5344CB8AC3E}">
        <p14:creationId xmlns:p14="http://schemas.microsoft.com/office/powerpoint/2010/main" val="1689169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5FA60B-73EE-4496-BDC3-EFC4311EB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123" y="450761"/>
            <a:ext cx="8839480" cy="618185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578679" y="1862356"/>
            <a:ext cx="567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0,7V</a:t>
            </a:r>
          </a:p>
        </p:txBody>
      </p:sp>
      <p:cxnSp>
        <p:nvCxnSpPr>
          <p:cNvPr id="4" name="Straight Arrow Connector 3"/>
          <p:cNvCxnSpPr>
            <a:stCxn id="2" idx="0"/>
          </p:cNvCxnSpPr>
          <p:nvPr/>
        </p:nvCxnSpPr>
        <p:spPr>
          <a:xfrm flipV="1">
            <a:off x="5862571" y="1375795"/>
            <a:ext cx="546618" cy="4865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6430355" y="1375795"/>
            <a:ext cx="546618" cy="4865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35880" y="1862356"/>
            <a:ext cx="567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0,3V</a:t>
            </a:r>
          </a:p>
        </p:txBody>
      </p:sp>
    </p:spTree>
    <p:extLst>
      <p:ext uri="{BB962C8B-B14F-4D97-AF65-F5344CB8AC3E}">
        <p14:creationId xmlns:p14="http://schemas.microsoft.com/office/powerpoint/2010/main" val="1808039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5345BE-C8FE-4A27-9595-39FC07893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993" y="666413"/>
            <a:ext cx="8771255" cy="578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72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BEF54A-778C-45F7-AEF7-8AB853187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234" y="914400"/>
            <a:ext cx="7267584" cy="454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173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ABC6F2-AC04-4C4D-9FE3-B5C89AEFE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968" y="722826"/>
            <a:ext cx="6685820" cy="2463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72609C-ADFD-41BE-8D17-40A6B801D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47" y="1044798"/>
            <a:ext cx="1488451" cy="5103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D078C7-9BDA-438B-8A6E-B2FDF47F2626}"/>
              </a:ext>
            </a:extLst>
          </p:cNvPr>
          <p:cNvSpPr txBox="1"/>
          <p:nvPr/>
        </p:nvSpPr>
        <p:spPr>
          <a:xfrm>
            <a:off x="748509" y="3059668"/>
            <a:ext cx="1488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/>
              <a:t>Solution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AD8213-14FD-42A1-B48A-60E39152B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740" y="3671978"/>
            <a:ext cx="7071259" cy="230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32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96BE84-7537-4A3B-8A9E-7B92D96A9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727" y="1390919"/>
            <a:ext cx="8592545" cy="494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51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98D2B5-C428-4478-8C85-99724859C7E3}"/>
              </a:ext>
            </a:extLst>
          </p:cNvPr>
          <p:cNvSpPr txBox="1"/>
          <p:nvPr/>
        </p:nvSpPr>
        <p:spPr>
          <a:xfrm>
            <a:off x="885422" y="456006"/>
            <a:ext cx="6098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PARALLEL AND SERIES–PARALLEL</a:t>
            </a:r>
          </a:p>
          <a:p>
            <a:r>
              <a:rPr lang="en-US" dirty="0"/>
              <a:t>CONFIGURATIONS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E43CAE-7DFA-46F6-8326-DF5ECF738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361" y="1297245"/>
            <a:ext cx="7721278" cy="26922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85422" y="2181724"/>
            <a:ext cx="1887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00B0F0"/>
                </a:solidFill>
              </a:rPr>
              <a:t>Exemple 2.12</a:t>
            </a:r>
          </a:p>
        </p:txBody>
      </p:sp>
    </p:spTree>
    <p:extLst>
      <p:ext uri="{BB962C8B-B14F-4D97-AF65-F5344CB8AC3E}">
        <p14:creationId xmlns:p14="http://schemas.microsoft.com/office/powerpoint/2010/main" val="933068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D4F65-E577-401F-BDE3-5E75EC6B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853" y="1352283"/>
            <a:ext cx="7013523" cy="413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71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1A319F-782A-4D2D-80EC-C147A44EE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645" y="1186816"/>
            <a:ext cx="5717106" cy="18973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DA867A-20BA-4391-8ACC-04CE3CEEF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82" y="873442"/>
            <a:ext cx="1626251" cy="349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6DD23F-C652-41A5-AEA5-AF5170566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645" y="3084196"/>
            <a:ext cx="5494891" cy="31108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9C0D42-0FDB-48B4-B0B9-08E370E2107A}"/>
              </a:ext>
            </a:extLst>
          </p:cNvPr>
          <p:cNvSpPr txBox="1"/>
          <p:nvPr/>
        </p:nvSpPr>
        <p:spPr>
          <a:xfrm>
            <a:off x="1048703" y="3095626"/>
            <a:ext cx="1500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833420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2C47A-6104-4C30-9F02-C6C013E40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1817369"/>
            <a:ext cx="1977390" cy="30384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C31D71-4B8A-4A38-A60D-E24B25019C63}"/>
              </a:ext>
            </a:extLst>
          </p:cNvPr>
          <p:cNvSpPr txBox="1"/>
          <p:nvPr/>
        </p:nvSpPr>
        <p:spPr>
          <a:xfrm>
            <a:off x="704850" y="1070788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Determine the voltage Vo for the network of Fig. 2.34.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D49A86-5829-49B2-88AD-7E8BD0638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682109"/>
            <a:ext cx="1426386" cy="369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10C9D9-CEC6-4162-830E-222E8A126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862" y="2607706"/>
            <a:ext cx="4722884" cy="34423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D0CF36-43FB-473B-ADF2-3B93B378B6AC}"/>
              </a:ext>
            </a:extLst>
          </p:cNvPr>
          <p:cNvSpPr txBox="1"/>
          <p:nvPr/>
        </p:nvSpPr>
        <p:spPr>
          <a:xfrm>
            <a:off x="5026343" y="2076688"/>
            <a:ext cx="1977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844341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90DFAB-C5B8-4D24-A45D-3B12DE34C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09" y="604837"/>
            <a:ext cx="1521046" cy="4010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ABA22E-4A8B-411C-8540-CEE7C1CAF61E}"/>
              </a:ext>
            </a:extLst>
          </p:cNvPr>
          <p:cNvSpPr txBox="1"/>
          <p:nvPr/>
        </p:nvSpPr>
        <p:spPr>
          <a:xfrm>
            <a:off x="595409" y="1005840"/>
            <a:ext cx="6506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Determine the currents I1, I2, and ID2 for the network of Fig. 2.36.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6E8A92-899F-4BE8-B870-9ED2876A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49" y="1311490"/>
            <a:ext cx="2080680" cy="20570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DE77FC-9F4E-40AD-BD99-879655718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1" y="3368526"/>
            <a:ext cx="4370035" cy="24265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792887-71FD-4D95-AD80-0E4A72E9AA21}"/>
              </a:ext>
            </a:extLst>
          </p:cNvPr>
          <p:cNvSpPr txBox="1"/>
          <p:nvPr/>
        </p:nvSpPr>
        <p:spPr>
          <a:xfrm>
            <a:off x="471474" y="3304844"/>
            <a:ext cx="4394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Solution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2758F4-9F84-4337-9A85-0284A64E3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6311" y="2621994"/>
            <a:ext cx="6593866" cy="28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20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DEDC27-D0AF-4FF7-A7AB-0825EF4E34F7}"/>
              </a:ext>
            </a:extLst>
          </p:cNvPr>
          <p:cNvSpPr txBox="1"/>
          <p:nvPr/>
        </p:nvSpPr>
        <p:spPr>
          <a:xfrm>
            <a:off x="1140143" y="329684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AND/OR GATES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72AC0D-D694-4C13-8372-527CEB36E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557" y="1581150"/>
            <a:ext cx="2645004" cy="2773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AED555-C427-4337-9A1D-E0232F25C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666" y="1509166"/>
            <a:ext cx="2428875" cy="28456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00F1F8-3C59-4061-855F-AA81EDE70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646" y="1303426"/>
            <a:ext cx="3272110" cy="24227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889253-A495-4B7C-A2D5-6EDD17B0A3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046" y="3806189"/>
            <a:ext cx="2226837" cy="5486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4FBB4D-5E5B-4F8C-950B-42B5B1572C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1186" y="4531924"/>
            <a:ext cx="4851812" cy="116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29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DC9081-4073-469F-87C0-C3052FB84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1304925"/>
            <a:ext cx="2019300" cy="2524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3EB978-E1A2-4601-A29D-9E31E8032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681990"/>
            <a:ext cx="1028700" cy="30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1ED22B-7B31-491D-99E7-ADAFB5B56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2927" y="2543174"/>
            <a:ext cx="6548002" cy="3297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2F9545-0FE3-4525-A1B7-8ACDE325F11D}"/>
              </a:ext>
            </a:extLst>
          </p:cNvPr>
          <p:cNvSpPr txBox="1"/>
          <p:nvPr/>
        </p:nvSpPr>
        <p:spPr>
          <a:xfrm>
            <a:off x="4031933" y="1552694"/>
            <a:ext cx="1271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745155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27383" y="2726422"/>
            <a:ext cx="41126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/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1387249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4571</TotalTime>
  <Words>580</Words>
  <Application>Microsoft Office PowerPoint</Application>
  <PresentationFormat>Widescreen</PresentationFormat>
  <Paragraphs>58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Söhne</vt:lpstr>
      <vt:lpstr>Office Theme</vt:lpstr>
      <vt:lpstr>Garis Beban (Load Line) Dioda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Dioda Semikonduktor dan Rangkaian  aplikasi dioda 21NK1006/21TC1004</dc:title>
  <dc:creator>Ridwan Solihin</dc:creator>
  <cp:lastModifiedBy>erilmozef@yahoo.com</cp:lastModifiedBy>
  <cp:revision>49</cp:revision>
  <dcterms:created xsi:type="dcterms:W3CDTF">2022-02-12T04:43:45Z</dcterms:created>
  <dcterms:modified xsi:type="dcterms:W3CDTF">2025-02-25T00:27:22Z</dcterms:modified>
</cp:coreProperties>
</file>