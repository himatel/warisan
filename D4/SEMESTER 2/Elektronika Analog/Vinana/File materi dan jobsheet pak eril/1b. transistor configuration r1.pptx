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9" r:id="rId2"/>
    <p:sldId id="259" r:id="rId3"/>
    <p:sldId id="305" r:id="rId4"/>
    <p:sldId id="264" r:id="rId5"/>
    <p:sldId id="325" r:id="rId6"/>
    <p:sldId id="322" r:id="rId7"/>
    <p:sldId id="267" r:id="rId8"/>
    <p:sldId id="268" r:id="rId9"/>
    <p:sldId id="269" r:id="rId10"/>
    <p:sldId id="271" r:id="rId11"/>
    <p:sldId id="272" r:id="rId12"/>
    <p:sldId id="308" r:id="rId13"/>
    <p:sldId id="287" r:id="rId14"/>
    <p:sldId id="323" r:id="rId15"/>
    <p:sldId id="314" r:id="rId16"/>
    <p:sldId id="315" r:id="rId17"/>
    <p:sldId id="288" r:id="rId18"/>
    <p:sldId id="289" r:id="rId19"/>
    <p:sldId id="307" r:id="rId20"/>
    <p:sldId id="273" r:id="rId21"/>
    <p:sldId id="301" r:id="rId22"/>
    <p:sldId id="326" r:id="rId23"/>
    <p:sldId id="275" r:id="rId24"/>
    <p:sldId id="276" r:id="rId25"/>
    <p:sldId id="279" r:id="rId26"/>
    <p:sldId id="280" r:id="rId27"/>
    <p:sldId id="283" r:id="rId28"/>
    <p:sldId id="324" r:id="rId29"/>
    <p:sldId id="285" r:id="rId30"/>
    <p:sldId id="286" r:id="rId31"/>
    <p:sldId id="31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6" autoAdjust="0"/>
    <p:restoredTop sz="94660"/>
  </p:normalViewPr>
  <p:slideViewPr>
    <p:cSldViewPr snapToGrid="0">
      <p:cViewPr varScale="1">
        <p:scale>
          <a:sx n="82" d="100"/>
          <a:sy n="82" d="100"/>
        </p:scale>
        <p:origin x="610" y="62"/>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38A12-ABB6-42AD-B209-91CEF93A2A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09FAE6-52B5-4E62-9EDC-29BC2F9868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00B6CB-4D64-4B9A-B2E4-22DD952FB709}"/>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5" name="Footer Placeholder 4">
            <a:extLst>
              <a:ext uri="{FF2B5EF4-FFF2-40B4-BE49-F238E27FC236}">
                <a16:creationId xmlns:a16="http://schemas.microsoft.com/office/drawing/2014/main" id="{D7853DF2-8883-4534-B811-F9157F275F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16A512-D512-4073-96F4-8355454EF5A6}"/>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3861238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445C-96F5-460C-862C-EE074A3B61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843CFF-DCAA-4EED-A028-DEFFB8E38F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F61A52-5C19-4CD7-960A-D67930FAEF4B}"/>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5" name="Footer Placeholder 4">
            <a:extLst>
              <a:ext uri="{FF2B5EF4-FFF2-40B4-BE49-F238E27FC236}">
                <a16:creationId xmlns:a16="http://schemas.microsoft.com/office/drawing/2014/main" id="{E39885E2-0B68-44E1-8D1F-DA000257B1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81B85C-583F-483F-AE3B-C5EF102B45C5}"/>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1902596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BB67D-4FFB-4CC1-94DB-BAF3FFBDCA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C3987F-0936-4D32-AD20-48C3986ABD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2668FA-8642-40F7-A4E4-00990512E1E5}"/>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5" name="Footer Placeholder 4">
            <a:extLst>
              <a:ext uri="{FF2B5EF4-FFF2-40B4-BE49-F238E27FC236}">
                <a16:creationId xmlns:a16="http://schemas.microsoft.com/office/drawing/2014/main" id="{C6ABDEAB-F3D2-44EA-A78F-43BD91B68F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91C2A7-D1F2-4C59-A9BC-3F728CC6BBBD}"/>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2751155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77FE9-4A54-4E3F-81B4-5732B87CAB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03249A-A7B9-4DA7-ADAE-C678E406D5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8B7B23-948A-4276-BA83-98FC7A8027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916DF8-E989-44C3-AFED-9FAD2B342C93}"/>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6" name="Footer Placeholder 5">
            <a:extLst>
              <a:ext uri="{FF2B5EF4-FFF2-40B4-BE49-F238E27FC236}">
                <a16:creationId xmlns:a16="http://schemas.microsoft.com/office/drawing/2014/main" id="{1F708C30-7B55-462C-A279-65EA652152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71EE1A-5DD2-41FD-B54B-B232DBE0B950}"/>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1496427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3CA24-3116-41E1-966A-4B73D54B75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647B9A-88FF-4809-8903-A9E51E9662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BCD85B-4D4F-4EFD-9D5B-B1E793F02A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7C5A48-7767-4732-8ABB-06BEB7C5AE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43E9D9-38F7-496F-AC79-B045FF1E2C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7D9FDB-EE72-422E-8FC1-E05102522E13}"/>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8" name="Footer Placeholder 7">
            <a:extLst>
              <a:ext uri="{FF2B5EF4-FFF2-40B4-BE49-F238E27FC236}">
                <a16:creationId xmlns:a16="http://schemas.microsoft.com/office/drawing/2014/main" id="{D8FC4228-678C-4F38-8FBE-8633050836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929D11-F949-4F60-98AA-B9148BD10870}"/>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2360121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27535-A01D-493A-B652-4416F0DD79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BB13CF-C546-4117-857E-ED33BB4ED760}"/>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4" name="Footer Placeholder 3">
            <a:extLst>
              <a:ext uri="{FF2B5EF4-FFF2-40B4-BE49-F238E27FC236}">
                <a16:creationId xmlns:a16="http://schemas.microsoft.com/office/drawing/2014/main" id="{3EB00A19-251A-4B37-8CD1-30E183D99C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7554EB-CDE6-4435-9B57-73DFEADD4FF2}"/>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3646687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D87C02-518B-4624-80F7-7CF14FDED4DE}"/>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3" name="Footer Placeholder 2">
            <a:extLst>
              <a:ext uri="{FF2B5EF4-FFF2-40B4-BE49-F238E27FC236}">
                <a16:creationId xmlns:a16="http://schemas.microsoft.com/office/drawing/2014/main" id="{72EABA5C-0DD4-422C-8D16-9675196D02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F2107B-184E-4351-8F8A-F4F8140CCEBD}"/>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2841110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A36A2-FF31-4FF1-96CF-34E099DEEF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091B4C-456B-4079-9598-7D1A292D7C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18BEAD-0EE8-469F-A15B-B63AD2D114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577F38-9866-4371-87B4-9DF5379F44D6}"/>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6" name="Footer Placeholder 5">
            <a:extLst>
              <a:ext uri="{FF2B5EF4-FFF2-40B4-BE49-F238E27FC236}">
                <a16:creationId xmlns:a16="http://schemas.microsoft.com/office/drawing/2014/main" id="{C0154818-F379-4A81-B954-CB95BB60A6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DE089-539F-4CD7-923A-FB3FF07B6452}"/>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3439003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983D7-A19E-42C9-BCDB-BAAA914090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135F99-D7E0-4599-B2E0-97BE7C7F72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D0812F-97F0-4DB1-A3B0-D25FF23C00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E136DB-93ED-41E5-9425-6D0056F00BC1}"/>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6" name="Footer Placeholder 5">
            <a:extLst>
              <a:ext uri="{FF2B5EF4-FFF2-40B4-BE49-F238E27FC236}">
                <a16:creationId xmlns:a16="http://schemas.microsoft.com/office/drawing/2014/main" id="{D3C6AA97-9A0E-45D5-9E18-A3B085ABF9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441320-DEF9-4344-8EC2-B4E16E9DF06D}"/>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2948756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25F9-8B44-4AEE-95BD-05F13D4E0C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9F1273-4744-45E4-B211-538268BC42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DAB387-64EE-47E7-B650-F464F9284336}"/>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5" name="Footer Placeholder 4">
            <a:extLst>
              <a:ext uri="{FF2B5EF4-FFF2-40B4-BE49-F238E27FC236}">
                <a16:creationId xmlns:a16="http://schemas.microsoft.com/office/drawing/2014/main" id="{D5998DB8-0992-4D5F-A121-34529B6EF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7E9972-ED98-4C45-A7D4-547004EF6E08}"/>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1849702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97EEEF-B3E3-460C-A59C-352D2A4B62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013D69-9240-4825-BCC6-F177F29F8D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52CD4D-38C9-4111-9966-B107F94A1CBF}"/>
              </a:ext>
            </a:extLst>
          </p:cNvPr>
          <p:cNvSpPr>
            <a:spLocks noGrp="1"/>
          </p:cNvSpPr>
          <p:nvPr>
            <p:ph type="dt" sz="half" idx="10"/>
          </p:nvPr>
        </p:nvSpPr>
        <p:spPr/>
        <p:txBody>
          <a:bodyPr/>
          <a:lstStyle/>
          <a:p>
            <a:fld id="{FC120807-6092-4667-BB52-29819F7CF300}" type="datetimeFigureOut">
              <a:rPr lang="en-US" smtClean="0"/>
              <a:t>4/29/2025</a:t>
            </a:fld>
            <a:endParaRPr lang="en-US"/>
          </a:p>
        </p:txBody>
      </p:sp>
      <p:sp>
        <p:nvSpPr>
          <p:cNvPr id="5" name="Footer Placeholder 4">
            <a:extLst>
              <a:ext uri="{FF2B5EF4-FFF2-40B4-BE49-F238E27FC236}">
                <a16:creationId xmlns:a16="http://schemas.microsoft.com/office/drawing/2014/main" id="{51BD4196-97CA-4459-A1AF-EAE7645978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3F01D-FC54-4301-85F7-BD9D0B3BA71A}"/>
              </a:ext>
            </a:extLst>
          </p:cNvPr>
          <p:cNvSpPr>
            <a:spLocks noGrp="1"/>
          </p:cNvSpPr>
          <p:nvPr>
            <p:ph type="sldNum" sz="quarter" idx="12"/>
          </p:nvPr>
        </p:nvSpPr>
        <p:spPr/>
        <p:txBody>
          <a:bodyPr/>
          <a:lstStyle/>
          <a:p>
            <a:fld id="{5CCE0585-FD51-4FA1-847D-A79735D6225A}" type="slidenum">
              <a:rPr lang="en-US" smtClean="0"/>
              <a:t>‹#›</a:t>
            </a:fld>
            <a:endParaRPr lang="en-US"/>
          </a:p>
        </p:txBody>
      </p:sp>
    </p:spTree>
    <p:extLst>
      <p:ext uri="{BB962C8B-B14F-4D97-AF65-F5344CB8AC3E}">
        <p14:creationId xmlns:p14="http://schemas.microsoft.com/office/powerpoint/2010/main" val="2860147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9E859E-5129-4206-A0F2-96100A9123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C4E0CE-385B-4A6D-B4EF-DF2A98AD3E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5E9A9-320E-47CC-A541-7717C9DF24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120807-6092-4667-BB52-29819F7CF300}" type="datetimeFigureOut">
              <a:rPr lang="en-US" smtClean="0"/>
              <a:t>4/29/2025</a:t>
            </a:fld>
            <a:endParaRPr lang="en-US"/>
          </a:p>
        </p:txBody>
      </p:sp>
      <p:sp>
        <p:nvSpPr>
          <p:cNvPr id="5" name="Footer Placeholder 4">
            <a:extLst>
              <a:ext uri="{FF2B5EF4-FFF2-40B4-BE49-F238E27FC236}">
                <a16:creationId xmlns:a16="http://schemas.microsoft.com/office/drawing/2014/main" id="{0583E0FD-E2CE-45F2-9593-2FD1158CA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406864C-05A2-4DFB-8EEF-F5D2594BAE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CE0585-FD51-4FA1-847D-A79735D6225A}" type="slidenum">
              <a:rPr lang="en-US" smtClean="0"/>
              <a:t>‹#›</a:t>
            </a:fld>
            <a:endParaRPr lang="en-US"/>
          </a:p>
        </p:txBody>
      </p:sp>
    </p:spTree>
    <p:extLst>
      <p:ext uri="{BB962C8B-B14F-4D97-AF65-F5344CB8AC3E}">
        <p14:creationId xmlns:p14="http://schemas.microsoft.com/office/powerpoint/2010/main" val="3713175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Apa yang dimaksud dengan konfigurasi transistor?</a:t>
            </a:r>
          </a:p>
        </p:txBody>
      </p:sp>
      <p:sp>
        <p:nvSpPr>
          <p:cNvPr id="3" name="Content Placeholder 2"/>
          <p:cNvSpPr>
            <a:spLocks noGrp="1"/>
          </p:cNvSpPr>
          <p:nvPr>
            <p:ph idx="1"/>
          </p:nvPr>
        </p:nvSpPr>
        <p:spPr/>
        <p:txBody>
          <a:bodyPr>
            <a:normAutofit fontScale="62500" lnSpcReduction="20000"/>
          </a:bodyPr>
          <a:lstStyle/>
          <a:p>
            <a:r>
              <a:rPr lang="en-US"/>
              <a:t>Konfigurasi transistor mengacu pada cara transistor dihubungkan dalam suatu rangkaian elektronik. Terdapat tiga konfigurasi transistor yang paling umum digunakan, yaitu:</a:t>
            </a:r>
          </a:p>
          <a:p>
            <a:r>
              <a:rPr lang="en-US" b="1"/>
              <a:t>Common Emitter (CE)</a:t>
            </a:r>
            <a:r>
              <a:rPr lang="en-US"/>
              <a:t>: Dalam konfigurasi ini, terminal emitter transistor dihubungkan ke ground (titik referensi tegangan), terminal kolektor dihubungkan ke sumber daya positif, dan sinyal input diberikan ke terminal basis. Konfigurasi ini memberikan penguatan arus dan tegangan, dan banyak digunakan dalam aplikasi penguat tegangan (amplifier) dan switch.</a:t>
            </a:r>
          </a:p>
          <a:p>
            <a:r>
              <a:rPr lang="en-US" b="1"/>
              <a:t>Common Collector (CC) atau Emitter Follower</a:t>
            </a:r>
            <a:r>
              <a:rPr lang="en-US"/>
              <a:t>: Dalam konfigurasi ini, terminal kolektor transistor dihubungkan ke ground, terminal emitter dihubungkan ke sumber daya positif, dan sinyal output diambil dari terminal emitter. Konfigurasi ini memberikan penguatan tegangan dan impedansi input yang rendah, dan sering digunakan sebagai buffer antara sirkuit dengan impedansi output tinggi dan sirkuit dengan impedansi input rendah.</a:t>
            </a:r>
          </a:p>
          <a:p>
            <a:r>
              <a:rPr lang="en-US" b="1"/>
              <a:t>Common Base (CB)</a:t>
            </a:r>
            <a:r>
              <a:rPr lang="en-US"/>
              <a:t>: Dalam konfigurasi ini, terminal basis transistor dihubungkan ke ground, terminal kolektor dihubungkan ke sumber daya positif, dan sinyal input diberikan ke terminal emitter. Konfigurasi ini memberikan penguatan arus, dan sering digunakan dalam aplikasi penguat frekuensi tinggi.</a:t>
            </a:r>
          </a:p>
          <a:p>
            <a:r>
              <a:rPr lang="en-US"/>
              <a:t>Pemilihan konfigurasi transistor tergantung pada kebutuhan spesifik dari suatu rangkaian elektronik, termasuk penguatan, impedansi input/output, stabilitas, dan karakteristik frekuensi. Setiap konfigurasi memiliki kelebihan dan kelemahan tertentu yang harus dipertimbangkan dalam desain rangkaian.</a:t>
            </a:r>
          </a:p>
          <a:p>
            <a:endParaRPr lang="en-US"/>
          </a:p>
        </p:txBody>
      </p:sp>
    </p:spTree>
    <p:extLst>
      <p:ext uri="{BB962C8B-B14F-4D97-AF65-F5344CB8AC3E}">
        <p14:creationId xmlns:p14="http://schemas.microsoft.com/office/powerpoint/2010/main" val="1769588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8565"/>
          </a:xfrm>
        </p:spPr>
        <p:txBody>
          <a:bodyPr/>
          <a:lstStyle/>
          <a:p>
            <a:r>
              <a:rPr lang="en-US" b="1"/>
              <a:t>Konfigurasi Transistor BJT</a:t>
            </a:r>
            <a:endParaRPr lang="en-US" dirty="0"/>
          </a:p>
        </p:txBody>
      </p:sp>
      <p:sp>
        <p:nvSpPr>
          <p:cNvPr id="3" name="Content Placeholder 2"/>
          <p:cNvSpPr>
            <a:spLocks noGrp="1"/>
          </p:cNvSpPr>
          <p:nvPr>
            <p:ph idx="1"/>
          </p:nvPr>
        </p:nvSpPr>
        <p:spPr>
          <a:xfrm>
            <a:off x="2255287" y="5510476"/>
            <a:ext cx="7886700" cy="1226554"/>
          </a:xfrm>
        </p:spPr>
        <p:txBody>
          <a:bodyPr>
            <a:normAutofit/>
          </a:bodyPr>
          <a:lstStyle/>
          <a:p>
            <a:pPr fontAlgn="base"/>
            <a:r>
              <a:rPr lang="en-US" sz="2000" i="1" dirty="0"/>
              <a:t>Common Base</a:t>
            </a:r>
            <a:r>
              <a:rPr lang="en-US" sz="2000" dirty="0"/>
              <a:t> </a:t>
            </a:r>
            <a:r>
              <a:rPr lang="en-US" sz="2000"/>
              <a:t>(CB</a:t>
            </a:r>
            <a:r>
              <a:rPr lang="en-US" sz="2000" dirty="0"/>
              <a:t>), basis yang </a:t>
            </a:r>
            <a:r>
              <a:rPr lang="en-US" sz="2000" dirty="0" err="1"/>
              <a:t>digroundkan</a:t>
            </a:r>
            <a:endParaRPr lang="en-US" sz="2000" dirty="0"/>
          </a:p>
          <a:p>
            <a:pPr fontAlgn="base"/>
            <a:r>
              <a:rPr lang="en-US" sz="2000" i="1" dirty="0"/>
              <a:t>Common Collector</a:t>
            </a:r>
            <a:r>
              <a:rPr lang="en-US" sz="2000" dirty="0"/>
              <a:t> </a:t>
            </a:r>
            <a:r>
              <a:rPr lang="en-US" sz="2000"/>
              <a:t>(CC</a:t>
            </a:r>
            <a:r>
              <a:rPr lang="en-US" sz="2000" dirty="0"/>
              <a:t>), </a:t>
            </a:r>
            <a:r>
              <a:rPr lang="en-US" sz="2000" dirty="0" err="1"/>
              <a:t>kolektor</a:t>
            </a:r>
            <a:r>
              <a:rPr lang="en-US" sz="2000" dirty="0"/>
              <a:t> yang </a:t>
            </a:r>
            <a:r>
              <a:rPr lang="en-US" sz="2000" dirty="0" err="1"/>
              <a:t>digroundkan</a:t>
            </a:r>
            <a:endParaRPr lang="en-US" sz="2000" dirty="0"/>
          </a:p>
          <a:p>
            <a:pPr lvl="0" fontAlgn="base"/>
            <a:r>
              <a:rPr lang="en-US" sz="2000" i="1" dirty="0"/>
              <a:t>Common Emitter</a:t>
            </a:r>
            <a:r>
              <a:rPr lang="en-US" sz="2000" dirty="0"/>
              <a:t> </a:t>
            </a:r>
            <a:r>
              <a:rPr lang="en-US" sz="2000"/>
              <a:t>(CE</a:t>
            </a:r>
            <a:r>
              <a:rPr lang="en-US" sz="2000" dirty="0"/>
              <a:t>), </a:t>
            </a:r>
            <a:r>
              <a:rPr lang="en-US" sz="2000" dirty="0" err="1"/>
              <a:t>emitor</a:t>
            </a:r>
            <a:r>
              <a:rPr lang="en-US" sz="2000" dirty="0"/>
              <a:t> yang </a:t>
            </a:r>
            <a:r>
              <a:rPr lang="en-US" sz="2000" dirty="0" err="1"/>
              <a:t>digroundkan</a:t>
            </a:r>
            <a:endParaRPr lang="en-US" sz="2000" dirty="0"/>
          </a:p>
          <a:p>
            <a:endParaRPr lang="en-US" sz="2000" dirty="0"/>
          </a:p>
        </p:txBody>
      </p:sp>
      <p:pic>
        <p:nvPicPr>
          <p:cNvPr id="6" name="Picture 5"/>
          <p:cNvPicPr>
            <a:picLocks noChangeAspect="1"/>
          </p:cNvPicPr>
          <p:nvPr/>
        </p:nvPicPr>
        <p:blipFill>
          <a:blip r:embed="rId2"/>
          <a:stretch>
            <a:fillRect/>
          </a:stretch>
        </p:blipFill>
        <p:spPr>
          <a:xfrm>
            <a:off x="4902987" y="2715228"/>
            <a:ext cx="2253561" cy="1918539"/>
          </a:xfrm>
          <a:prstGeom prst="rect">
            <a:avLst/>
          </a:prstGeom>
        </p:spPr>
      </p:pic>
      <p:grpSp>
        <p:nvGrpSpPr>
          <p:cNvPr id="8" name="Group 7"/>
          <p:cNvGrpSpPr/>
          <p:nvPr/>
        </p:nvGrpSpPr>
        <p:grpSpPr>
          <a:xfrm>
            <a:off x="1868130" y="2763838"/>
            <a:ext cx="2358816" cy="2314178"/>
            <a:chOff x="463758" y="2197861"/>
            <a:chExt cx="2358816" cy="2314178"/>
          </a:xfrm>
        </p:grpSpPr>
        <p:pic>
          <p:nvPicPr>
            <p:cNvPr id="10242" name="Picture 2" descr="Hasil gambar untuk jenis konfigurasi common transis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174" y="2197861"/>
              <a:ext cx="2057400" cy="1914525"/>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p:cNvSpPr/>
            <p:nvPr/>
          </p:nvSpPr>
          <p:spPr>
            <a:xfrm>
              <a:off x="1514006" y="3462729"/>
              <a:ext cx="584617" cy="359763"/>
            </a:xfrm>
            <a:prstGeom prst="ellipse">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Callout 4"/>
            <p:cNvSpPr/>
            <p:nvPr/>
          </p:nvSpPr>
          <p:spPr>
            <a:xfrm>
              <a:off x="463758" y="4127375"/>
              <a:ext cx="1165224" cy="384664"/>
            </a:xfrm>
            <a:prstGeom prst="wedgeEllipseCallout">
              <a:avLst>
                <a:gd name="adj1" fmla="val 52705"/>
                <a:gd name="adj2" fmla="val -13894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Common Base</a:t>
              </a:r>
            </a:p>
          </p:txBody>
        </p:sp>
      </p:grpSp>
      <p:sp>
        <p:nvSpPr>
          <p:cNvPr id="9" name="Oval Callout 8"/>
          <p:cNvSpPr/>
          <p:nvPr/>
        </p:nvSpPr>
        <p:spPr>
          <a:xfrm>
            <a:off x="4629746" y="2249944"/>
            <a:ext cx="1165224" cy="384664"/>
          </a:xfrm>
          <a:prstGeom prst="wedgeEllipseCallout">
            <a:avLst>
              <a:gd name="adj1" fmla="val 28262"/>
              <a:gd name="adj2" fmla="val 102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Common Collector</a:t>
            </a:r>
          </a:p>
        </p:txBody>
      </p:sp>
      <p:sp>
        <p:nvSpPr>
          <p:cNvPr id="10" name="Oval 9"/>
          <p:cNvSpPr/>
          <p:nvPr/>
        </p:nvSpPr>
        <p:spPr>
          <a:xfrm>
            <a:off x="5445151" y="2826567"/>
            <a:ext cx="584617" cy="359763"/>
          </a:xfrm>
          <a:prstGeom prst="ellipse">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p:nvGrpSpPr>
        <p:grpSpPr>
          <a:xfrm>
            <a:off x="7370794" y="2715226"/>
            <a:ext cx="2544226" cy="2357009"/>
            <a:chOff x="-2804419" y="1907967"/>
            <a:chExt cx="2544226" cy="2357009"/>
          </a:xfrm>
        </p:grpSpPr>
        <p:pic>
          <p:nvPicPr>
            <p:cNvPr id="10244" name="Picture 4" descr="Hasil gambar untuk jenis konfigurasi common transis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7443" y="1907967"/>
              <a:ext cx="2127250" cy="1914525"/>
            </a:xfrm>
            <a:prstGeom prst="rect">
              <a:avLst/>
            </a:prstGeom>
            <a:noFill/>
            <a:extLst>
              <a:ext uri="{909E8E84-426E-40DD-AFC4-6F175D3DCCD1}">
                <a14:hiddenFill xmlns:a14="http://schemas.microsoft.com/office/drawing/2010/main">
                  <a:solidFill>
                    <a:srgbClr val="FFFFFF"/>
                  </a:solidFill>
                </a14:hiddenFill>
              </a:ext>
            </a:extLst>
          </p:spPr>
        </p:pic>
        <p:sp>
          <p:nvSpPr>
            <p:cNvPr id="11" name="Oval Callout 10"/>
            <p:cNvSpPr/>
            <p:nvPr/>
          </p:nvSpPr>
          <p:spPr>
            <a:xfrm>
              <a:off x="-2804419" y="3880312"/>
              <a:ext cx="1165224" cy="384664"/>
            </a:xfrm>
            <a:prstGeom prst="wedgeEllipseCallout">
              <a:avLst>
                <a:gd name="adj1" fmla="val 52705"/>
                <a:gd name="adj2" fmla="val -13894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Common Emitter</a:t>
              </a:r>
            </a:p>
          </p:txBody>
        </p:sp>
        <p:sp>
          <p:nvSpPr>
            <p:cNvPr id="12" name="Oval 11"/>
            <p:cNvSpPr/>
            <p:nvPr/>
          </p:nvSpPr>
          <p:spPr>
            <a:xfrm>
              <a:off x="-1790116" y="3145962"/>
              <a:ext cx="584617" cy="359763"/>
            </a:xfrm>
            <a:prstGeom prst="ellipse">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Content Placeholder 2">
            <a:extLst>
              <a:ext uri="{FF2B5EF4-FFF2-40B4-BE49-F238E27FC236}">
                <a16:creationId xmlns:a16="http://schemas.microsoft.com/office/drawing/2014/main" id="{E6DBB743-3A2F-0F94-2654-DAB86D550338}"/>
              </a:ext>
            </a:extLst>
          </p:cNvPr>
          <p:cNvSpPr txBox="1">
            <a:spLocks/>
          </p:cNvSpPr>
          <p:nvPr/>
        </p:nvSpPr>
        <p:spPr>
          <a:xfrm>
            <a:off x="862771" y="1165707"/>
            <a:ext cx="105156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Common-Base Configuration</a:t>
            </a:r>
          </a:p>
          <a:p>
            <a:r>
              <a:rPr lang="en-US" sz="2000"/>
              <a:t>Common-Collector Configuration</a:t>
            </a:r>
          </a:p>
          <a:p>
            <a:r>
              <a:rPr lang="en-US" sz="2000"/>
              <a:t>Common-Emitter Configuration</a:t>
            </a:r>
          </a:p>
        </p:txBody>
      </p:sp>
    </p:spTree>
    <p:extLst>
      <p:ext uri="{BB962C8B-B14F-4D97-AF65-F5344CB8AC3E}">
        <p14:creationId xmlns:p14="http://schemas.microsoft.com/office/powerpoint/2010/main" val="1535540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Common-Base Configuration</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907188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3B5DA8-A07F-4D1E-BB38-908DFB80683E}"/>
              </a:ext>
            </a:extLst>
          </p:cNvPr>
          <p:cNvSpPr txBox="1"/>
          <p:nvPr/>
        </p:nvSpPr>
        <p:spPr>
          <a:xfrm>
            <a:off x="1086679" y="676726"/>
            <a:ext cx="6096000" cy="461665"/>
          </a:xfrm>
          <a:prstGeom prst="rect">
            <a:avLst/>
          </a:prstGeom>
          <a:noFill/>
        </p:spPr>
        <p:txBody>
          <a:bodyPr wrap="square">
            <a:spAutoFit/>
          </a:bodyPr>
          <a:lstStyle/>
          <a:p>
            <a:r>
              <a:rPr lang="en-US" sz="2400" b="1" dirty="0"/>
              <a:t>3.4 COMMON-BASE CONFIGURATION</a:t>
            </a:r>
          </a:p>
        </p:txBody>
      </p:sp>
      <p:pic>
        <p:nvPicPr>
          <p:cNvPr id="5" name="Picture 4">
            <a:extLst>
              <a:ext uri="{FF2B5EF4-FFF2-40B4-BE49-F238E27FC236}">
                <a16:creationId xmlns:a16="http://schemas.microsoft.com/office/drawing/2014/main" id="{C0A8200E-62DF-4C01-95AF-EA95972FE226}"/>
              </a:ext>
            </a:extLst>
          </p:cNvPr>
          <p:cNvPicPr>
            <a:picLocks noChangeAspect="1"/>
          </p:cNvPicPr>
          <p:nvPr/>
        </p:nvPicPr>
        <p:blipFill>
          <a:blip r:embed="rId2"/>
          <a:stretch>
            <a:fillRect/>
          </a:stretch>
        </p:blipFill>
        <p:spPr>
          <a:xfrm>
            <a:off x="877127" y="1696485"/>
            <a:ext cx="2263637" cy="3908722"/>
          </a:xfrm>
          <a:prstGeom prst="rect">
            <a:avLst/>
          </a:prstGeom>
        </p:spPr>
      </p:pic>
      <p:pic>
        <p:nvPicPr>
          <p:cNvPr id="7" name="Picture 6">
            <a:extLst>
              <a:ext uri="{FF2B5EF4-FFF2-40B4-BE49-F238E27FC236}">
                <a16:creationId xmlns:a16="http://schemas.microsoft.com/office/drawing/2014/main" id="{046CCACC-4431-4247-9F9B-5E28D5610B68}"/>
              </a:ext>
            </a:extLst>
          </p:cNvPr>
          <p:cNvPicPr>
            <a:picLocks noChangeAspect="1"/>
          </p:cNvPicPr>
          <p:nvPr/>
        </p:nvPicPr>
        <p:blipFill>
          <a:blip r:embed="rId3"/>
          <a:stretch>
            <a:fillRect/>
          </a:stretch>
        </p:blipFill>
        <p:spPr>
          <a:xfrm>
            <a:off x="4147931" y="1519518"/>
            <a:ext cx="2263636" cy="3869237"/>
          </a:xfrm>
          <a:prstGeom prst="rect">
            <a:avLst/>
          </a:prstGeom>
        </p:spPr>
      </p:pic>
      <p:sp>
        <p:nvSpPr>
          <p:cNvPr id="9" name="TextBox 8">
            <a:extLst>
              <a:ext uri="{FF2B5EF4-FFF2-40B4-BE49-F238E27FC236}">
                <a16:creationId xmlns:a16="http://schemas.microsoft.com/office/drawing/2014/main" id="{10B230ED-2985-49E6-A0F9-42ABD9156C16}"/>
              </a:ext>
            </a:extLst>
          </p:cNvPr>
          <p:cNvSpPr txBox="1"/>
          <p:nvPr/>
        </p:nvSpPr>
        <p:spPr>
          <a:xfrm>
            <a:off x="954157" y="5516970"/>
            <a:ext cx="6228522" cy="646331"/>
          </a:xfrm>
          <a:prstGeom prst="rect">
            <a:avLst/>
          </a:prstGeom>
          <a:noFill/>
        </p:spPr>
        <p:txBody>
          <a:bodyPr wrap="square">
            <a:spAutoFit/>
          </a:bodyPr>
          <a:lstStyle/>
          <a:p>
            <a:r>
              <a:rPr lang="en-US" dirty="0"/>
              <a:t>Figure 3.6 Notation and symbols used with the common-base</a:t>
            </a:r>
          </a:p>
          <a:p>
            <a:r>
              <a:rPr lang="en-US" dirty="0"/>
              <a:t>configuration: (a) </a:t>
            </a:r>
            <a:r>
              <a:rPr lang="en-US" dirty="0" err="1"/>
              <a:t>pnp</a:t>
            </a:r>
            <a:r>
              <a:rPr lang="en-US" dirty="0"/>
              <a:t> transistor; (b) </a:t>
            </a:r>
            <a:r>
              <a:rPr lang="en-US" dirty="0" err="1"/>
              <a:t>npn</a:t>
            </a:r>
            <a:r>
              <a:rPr lang="en-US" dirty="0"/>
              <a:t> transistor</a:t>
            </a:r>
          </a:p>
        </p:txBody>
      </p:sp>
      <p:sp>
        <p:nvSpPr>
          <p:cNvPr id="11" name="TextBox 10">
            <a:extLst>
              <a:ext uri="{FF2B5EF4-FFF2-40B4-BE49-F238E27FC236}">
                <a16:creationId xmlns:a16="http://schemas.microsoft.com/office/drawing/2014/main" id="{A26C32B2-BA7F-414A-B727-03FD4E63E724}"/>
              </a:ext>
            </a:extLst>
          </p:cNvPr>
          <p:cNvSpPr txBox="1"/>
          <p:nvPr/>
        </p:nvSpPr>
        <p:spPr>
          <a:xfrm>
            <a:off x="7182679" y="2022675"/>
            <a:ext cx="3670852" cy="1200329"/>
          </a:xfrm>
          <a:prstGeom prst="rect">
            <a:avLst/>
          </a:prstGeom>
          <a:noFill/>
        </p:spPr>
        <p:txBody>
          <a:bodyPr wrap="square">
            <a:spAutoFit/>
          </a:bodyPr>
          <a:lstStyle/>
          <a:p>
            <a:r>
              <a:rPr lang="en-US" dirty="0"/>
              <a:t>The arrow in the graphic symbol defines the direction of emitter current (conventional flow) through the device</a:t>
            </a:r>
          </a:p>
        </p:txBody>
      </p:sp>
    </p:spTree>
    <p:extLst>
      <p:ext uri="{BB962C8B-B14F-4D97-AF65-F5344CB8AC3E}">
        <p14:creationId xmlns:p14="http://schemas.microsoft.com/office/powerpoint/2010/main" val="1283072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Karakteristik Input dan Output Transistor Common-Base</a:t>
            </a:r>
          </a:p>
        </p:txBody>
      </p:sp>
      <p:sp>
        <p:nvSpPr>
          <p:cNvPr id="4" name="TextBox 3">
            <a:extLst>
              <a:ext uri="{FF2B5EF4-FFF2-40B4-BE49-F238E27FC236}">
                <a16:creationId xmlns:a16="http://schemas.microsoft.com/office/drawing/2014/main" id="{F2D26586-B4FF-4C84-ADC2-D2D13486CDC6}"/>
              </a:ext>
            </a:extLst>
          </p:cNvPr>
          <p:cNvSpPr txBox="1"/>
          <p:nvPr/>
        </p:nvSpPr>
        <p:spPr>
          <a:xfrm>
            <a:off x="1132035" y="4947952"/>
            <a:ext cx="3364868" cy="1200329"/>
          </a:xfrm>
          <a:prstGeom prst="rect">
            <a:avLst/>
          </a:prstGeom>
          <a:noFill/>
        </p:spPr>
        <p:txBody>
          <a:bodyPr wrap="square">
            <a:spAutoFit/>
          </a:bodyPr>
          <a:lstStyle/>
          <a:p>
            <a:r>
              <a:rPr lang="en-US" dirty="0"/>
              <a:t>Figure 3.7 Input or driving</a:t>
            </a:r>
          </a:p>
          <a:p>
            <a:r>
              <a:rPr lang="en-US" dirty="0"/>
              <a:t>point characteristics for a </a:t>
            </a:r>
          </a:p>
          <a:p>
            <a:r>
              <a:rPr lang="en-US" dirty="0"/>
              <a:t>common-base silicon transistor</a:t>
            </a:r>
          </a:p>
          <a:p>
            <a:r>
              <a:rPr lang="en-US" dirty="0"/>
              <a:t>amplifier</a:t>
            </a:r>
          </a:p>
        </p:txBody>
      </p:sp>
      <p:pic>
        <p:nvPicPr>
          <p:cNvPr id="5" name="Picture 4">
            <a:extLst>
              <a:ext uri="{FF2B5EF4-FFF2-40B4-BE49-F238E27FC236}">
                <a16:creationId xmlns:a16="http://schemas.microsoft.com/office/drawing/2014/main" id="{DD594BBF-0E57-49E9-A783-4C2739107DD0}"/>
              </a:ext>
            </a:extLst>
          </p:cNvPr>
          <p:cNvPicPr>
            <a:picLocks noChangeAspect="1"/>
          </p:cNvPicPr>
          <p:nvPr/>
        </p:nvPicPr>
        <p:blipFill>
          <a:blip r:embed="rId2"/>
          <a:stretch>
            <a:fillRect/>
          </a:stretch>
        </p:blipFill>
        <p:spPr>
          <a:xfrm>
            <a:off x="948875" y="1565981"/>
            <a:ext cx="3231160" cy="3249450"/>
          </a:xfrm>
          <a:prstGeom prst="rect">
            <a:avLst/>
          </a:prstGeom>
        </p:spPr>
      </p:pic>
      <p:sp>
        <p:nvSpPr>
          <p:cNvPr id="7" name="TextBox 6">
            <a:extLst>
              <a:ext uri="{FF2B5EF4-FFF2-40B4-BE49-F238E27FC236}">
                <a16:creationId xmlns:a16="http://schemas.microsoft.com/office/drawing/2014/main" id="{0474E67B-3868-45D2-AFD8-D83B3BC4A42C}"/>
              </a:ext>
            </a:extLst>
          </p:cNvPr>
          <p:cNvSpPr txBox="1"/>
          <p:nvPr/>
        </p:nvSpPr>
        <p:spPr>
          <a:xfrm>
            <a:off x="5549671" y="5501950"/>
            <a:ext cx="5613630" cy="646331"/>
          </a:xfrm>
          <a:prstGeom prst="rect">
            <a:avLst/>
          </a:prstGeom>
          <a:noFill/>
        </p:spPr>
        <p:txBody>
          <a:bodyPr wrap="square">
            <a:spAutoFit/>
          </a:bodyPr>
          <a:lstStyle/>
          <a:p>
            <a:r>
              <a:rPr lang="en-US" dirty="0"/>
              <a:t>Figure 3.8 Output </a:t>
            </a:r>
            <a:r>
              <a:rPr lang="en-US"/>
              <a:t>or collector characteristics </a:t>
            </a:r>
            <a:r>
              <a:rPr lang="en-US" dirty="0"/>
              <a:t>for </a:t>
            </a:r>
            <a:r>
              <a:rPr lang="en-US"/>
              <a:t>a common-base transistor </a:t>
            </a:r>
            <a:r>
              <a:rPr lang="en-US" dirty="0"/>
              <a:t>amplifier</a:t>
            </a:r>
          </a:p>
        </p:txBody>
      </p:sp>
      <p:pic>
        <p:nvPicPr>
          <p:cNvPr id="6" name="Picture 5">
            <a:extLst>
              <a:ext uri="{FF2B5EF4-FFF2-40B4-BE49-F238E27FC236}">
                <a16:creationId xmlns:a16="http://schemas.microsoft.com/office/drawing/2014/main" id="{46EB1934-1E21-469D-AC5F-F68D7F63D5BA}"/>
              </a:ext>
            </a:extLst>
          </p:cNvPr>
          <p:cNvPicPr>
            <a:picLocks noChangeAspect="1"/>
          </p:cNvPicPr>
          <p:nvPr/>
        </p:nvPicPr>
        <p:blipFill>
          <a:blip r:embed="rId3"/>
          <a:stretch>
            <a:fillRect/>
          </a:stretch>
        </p:blipFill>
        <p:spPr>
          <a:xfrm>
            <a:off x="5289500" y="1394531"/>
            <a:ext cx="5873800" cy="4052763"/>
          </a:xfrm>
          <a:prstGeom prst="rect">
            <a:avLst/>
          </a:prstGeom>
        </p:spPr>
      </p:pic>
    </p:spTree>
    <p:extLst>
      <p:ext uri="{BB962C8B-B14F-4D97-AF65-F5344CB8AC3E}">
        <p14:creationId xmlns:p14="http://schemas.microsoft.com/office/powerpoint/2010/main" val="3276439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Regions of Transistor: Active Region, Cut-off Region dan Saturation Region</a:t>
            </a:r>
          </a:p>
        </p:txBody>
      </p:sp>
      <p:sp>
        <p:nvSpPr>
          <p:cNvPr id="4" name="TextBox 3">
            <a:extLst>
              <a:ext uri="{FF2B5EF4-FFF2-40B4-BE49-F238E27FC236}">
                <a16:creationId xmlns:a16="http://schemas.microsoft.com/office/drawing/2014/main" id="{FD908B15-346A-46E0-958A-41462B318309}"/>
              </a:ext>
            </a:extLst>
          </p:cNvPr>
          <p:cNvSpPr txBox="1"/>
          <p:nvPr/>
        </p:nvSpPr>
        <p:spPr>
          <a:xfrm>
            <a:off x="600076" y="1792487"/>
            <a:ext cx="5600700" cy="1938992"/>
          </a:xfrm>
          <a:prstGeom prst="rect">
            <a:avLst/>
          </a:prstGeom>
          <a:noFill/>
        </p:spPr>
        <p:txBody>
          <a:bodyPr wrap="square">
            <a:spAutoFit/>
          </a:bodyPr>
          <a:lstStyle/>
          <a:p>
            <a:r>
              <a:rPr lang="en-US" sz="1200" dirty="0"/>
              <a:t>To fully describe the behavior of a three-terminal device such as the </a:t>
            </a:r>
            <a:r>
              <a:rPr lang="en-US" sz="1200" dirty="0" err="1"/>
              <a:t>commonbase</a:t>
            </a:r>
            <a:r>
              <a:rPr lang="en-US" sz="1200" dirty="0"/>
              <a:t> amplifiers of Fig. 3.6 requires two sets of characteristics—one for the driving</a:t>
            </a:r>
          </a:p>
          <a:p>
            <a:r>
              <a:rPr lang="en-US" sz="1200" dirty="0"/>
              <a:t>point or input parameters and the other for the output side. The input set for the </a:t>
            </a:r>
          </a:p>
          <a:p>
            <a:r>
              <a:rPr lang="en-US" sz="1200" dirty="0"/>
              <a:t>common-base amplifier as shown in Fig. 3.7 will relate an input current (IE) to an input voltage (VBE) for various levels of output voltage (VCB).</a:t>
            </a:r>
          </a:p>
          <a:p>
            <a:r>
              <a:rPr lang="en-US" sz="1200" dirty="0"/>
              <a:t>The output set will relate an output current (IC) to an output voltage (VCB) for various levels of input current (IE) as shown in Fig. 3.8. The output or collector set of</a:t>
            </a:r>
          </a:p>
          <a:p>
            <a:r>
              <a:rPr lang="en-US" sz="1200" dirty="0"/>
              <a:t>characteristics has three basic regions of interest, as indicated in Fig. 3.8: the active, cutoff, and saturation regions. The active region is the region normally employed for linear (undistorted) amplifiers.</a:t>
            </a:r>
          </a:p>
        </p:txBody>
      </p:sp>
      <p:sp>
        <p:nvSpPr>
          <p:cNvPr id="5" name="TextBox 4">
            <a:extLst>
              <a:ext uri="{FF2B5EF4-FFF2-40B4-BE49-F238E27FC236}">
                <a16:creationId xmlns:a16="http://schemas.microsoft.com/office/drawing/2014/main" id="{02A464D9-2C28-4DD0-9BEA-E55EBE47595D}"/>
              </a:ext>
            </a:extLst>
          </p:cNvPr>
          <p:cNvSpPr txBox="1"/>
          <p:nvPr/>
        </p:nvSpPr>
        <p:spPr>
          <a:xfrm>
            <a:off x="600077" y="4218254"/>
            <a:ext cx="6019801" cy="523220"/>
          </a:xfrm>
          <a:prstGeom prst="rect">
            <a:avLst/>
          </a:prstGeom>
          <a:noFill/>
        </p:spPr>
        <p:txBody>
          <a:bodyPr wrap="square">
            <a:spAutoFit/>
          </a:bodyPr>
          <a:lstStyle/>
          <a:p>
            <a:r>
              <a:rPr lang="en-US" sz="1400" i="1" dirty="0">
                <a:solidFill>
                  <a:srgbClr val="0070C0"/>
                </a:solidFill>
              </a:rPr>
              <a:t>In the active region the collector-base junction is reverse-biased, while the</a:t>
            </a:r>
          </a:p>
          <a:p>
            <a:r>
              <a:rPr lang="en-US" sz="1400" i="1" dirty="0">
                <a:solidFill>
                  <a:srgbClr val="0070C0"/>
                </a:solidFill>
              </a:rPr>
              <a:t>base-emitter junction is forward-biased</a:t>
            </a:r>
          </a:p>
        </p:txBody>
      </p:sp>
      <p:sp>
        <p:nvSpPr>
          <p:cNvPr id="6" name="TextBox 5">
            <a:extLst>
              <a:ext uri="{FF2B5EF4-FFF2-40B4-BE49-F238E27FC236}">
                <a16:creationId xmlns:a16="http://schemas.microsoft.com/office/drawing/2014/main" id="{A07F2C86-88C1-45AC-ADF6-E720227CA900}"/>
              </a:ext>
            </a:extLst>
          </p:cNvPr>
          <p:cNvSpPr txBox="1"/>
          <p:nvPr/>
        </p:nvSpPr>
        <p:spPr>
          <a:xfrm>
            <a:off x="600076" y="4883516"/>
            <a:ext cx="5867399" cy="523220"/>
          </a:xfrm>
          <a:prstGeom prst="rect">
            <a:avLst/>
          </a:prstGeom>
          <a:noFill/>
        </p:spPr>
        <p:txBody>
          <a:bodyPr wrap="square">
            <a:spAutoFit/>
          </a:bodyPr>
          <a:lstStyle/>
          <a:p>
            <a:r>
              <a:rPr lang="en-US" sz="1400" i="1" dirty="0">
                <a:solidFill>
                  <a:srgbClr val="0070C0"/>
                </a:solidFill>
              </a:rPr>
              <a:t>In the cutoff region the collector-base and base-emitter junctions of a transistor are both reverse-bias</a:t>
            </a:r>
          </a:p>
        </p:txBody>
      </p:sp>
      <p:sp>
        <p:nvSpPr>
          <p:cNvPr id="7" name="TextBox 6">
            <a:extLst>
              <a:ext uri="{FF2B5EF4-FFF2-40B4-BE49-F238E27FC236}">
                <a16:creationId xmlns:a16="http://schemas.microsoft.com/office/drawing/2014/main" id="{62A1B793-5BCB-44BA-A13C-5B02FA502A83}"/>
              </a:ext>
            </a:extLst>
          </p:cNvPr>
          <p:cNvSpPr txBox="1"/>
          <p:nvPr/>
        </p:nvSpPr>
        <p:spPr>
          <a:xfrm>
            <a:off x="600076" y="5612714"/>
            <a:ext cx="6096000" cy="523220"/>
          </a:xfrm>
          <a:prstGeom prst="rect">
            <a:avLst/>
          </a:prstGeom>
          <a:noFill/>
        </p:spPr>
        <p:txBody>
          <a:bodyPr wrap="square">
            <a:spAutoFit/>
          </a:bodyPr>
          <a:lstStyle/>
          <a:p>
            <a:r>
              <a:rPr lang="en-US" sz="1400" i="1" dirty="0">
                <a:solidFill>
                  <a:srgbClr val="0070C0"/>
                </a:solidFill>
              </a:rPr>
              <a:t>In the saturation region the collector-base and base-emitter junctions are  forward-biased.</a:t>
            </a:r>
          </a:p>
        </p:txBody>
      </p:sp>
      <p:grpSp>
        <p:nvGrpSpPr>
          <p:cNvPr id="8" name="Group 7"/>
          <p:cNvGrpSpPr/>
          <p:nvPr/>
        </p:nvGrpSpPr>
        <p:grpSpPr>
          <a:xfrm>
            <a:off x="6565850" y="1896666"/>
            <a:ext cx="5530900" cy="3847207"/>
            <a:chOff x="4984700" y="99897"/>
            <a:chExt cx="7640298" cy="5518847"/>
          </a:xfrm>
        </p:grpSpPr>
        <p:pic>
          <p:nvPicPr>
            <p:cNvPr id="9" name="Picture 8">
              <a:extLst>
                <a:ext uri="{FF2B5EF4-FFF2-40B4-BE49-F238E27FC236}">
                  <a16:creationId xmlns:a16="http://schemas.microsoft.com/office/drawing/2014/main" id="{46EB1934-1E21-469D-AC5F-F68D7F63D5BA}"/>
                </a:ext>
              </a:extLst>
            </p:cNvPr>
            <p:cNvPicPr>
              <a:picLocks noChangeAspect="1"/>
            </p:cNvPicPr>
            <p:nvPr/>
          </p:nvPicPr>
          <p:blipFill>
            <a:blip r:embed="rId2"/>
            <a:stretch>
              <a:fillRect/>
            </a:stretch>
          </p:blipFill>
          <p:spPr>
            <a:xfrm>
              <a:off x="4984700" y="99897"/>
              <a:ext cx="7640298" cy="5518847"/>
            </a:xfrm>
            <a:prstGeom prst="rect">
              <a:avLst/>
            </a:prstGeom>
          </p:spPr>
        </p:pic>
        <p:sp>
          <p:nvSpPr>
            <p:cNvPr id="10" name="Rounded Rectangle 9"/>
            <p:cNvSpPr/>
            <p:nvPr/>
          </p:nvSpPr>
          <p:spPr>
            <a:xfrm>
              <a:off x="7358743" y="805543"/>
              <a:ext cx="2895600" cy="446930"/>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7565571" y="5148942"/>
              <a:ext cx="2046515" cy="293915"/>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5323114" y="2307770"/>
              <a:ext cx="457200" cy="1665515"/>
            </a:xfrm>
            <a:prstGeom prst="round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9189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A86D93-D952-456E-8A31-5451FECE02F2}"/>
              </a:ext>
            </a:extLst>
          </p:cNvPr>
          <p:cNvSpPr txBox="1"/>
          <p:nvPr/>
        </p:nvSpPr>
        <p:spPr>
          <a:xfrm>
            <a:off x="851486" y="1374410"/>
            <a:ext cx="7050156" cy="646331"/>
          </a:xfrm>
          <a:prstGeom prst="rect">
            <a:avLst/>
          </a:prstGeom>
          <a:noFill/>
        </p:spPr>
        <p:txBody>
          <a:bodyPr wrap="square">
            <a:spAutoFit/>
          </a:bodyPr>
          <a:lstStyle/>
          <a:p>
            <a:r>
              <a:rPr lang="en-US" dirty="0"/>
              <a:t>The curves clearly indicate that a first approximation to the relationship between IE and IC in the active region is given by</a:t>
            </a:r>
          </a:p>
        </p:txBody>
      </p:sp>
      <p:pic>
        <p:nvPicPr>
          <p:cNvPr id="5" name="Picture 4">
            <a:extLst>
              <a:ext uri="{FF2B5EF4-FFF2-40B4-BE49-F238E27FC236}">
                <a16:creationId xmlns:a16="http://schemas.microsoft.com/office/drawing/2014/main" id="{6B8A7E29-83C6-453D-AA26-A2582DF87627}"/>
              </a:ext>
            </a:extLst>
          </p:cNvPr>
          <p:cNvPicPr>
            <a:picLocks noChangeAspect="1"/>
          </p:cNvPicPr>
          <p:nvPr/>
        </p:nvPicPr>
        <p:blipFill>
          <a:blip r:embed="rId2"/>
          <a:stretch>
            <a:fillRect/>
          </a:stretch>
        </p:blipFill>
        <p:spPr>
          <a:xfrm>
            <a:off x="1837737" y="2133807"/>
            <a:ext cx="4587374" cy="646331"/>
          </a:xfrm>
          <a:prstGeom prst="rect">
            <a:avLst/>
          </a:prstGeom>
        </p:spPr>
      </p:pic>
      <p:sp>
        <p:nvSpPr>
          <p:cNvPr id="7" name="TextBox 6">
            <a:extLst>
              <a:ext uri="{FF2B5EF4-FFF2-40B4-BE49-F238E27FC236}">
                <a16:creationId xmlns:a16="http://schemas.microsoft.com/office/drawing/2014/main" id="{0A578E6B-C46C-41D7-B0E3-57F8759235A3}"/>
              </a:ext>
            </a:extLst>
          </p:cNvPr>
          <p:cNvSpPr txBox="1"/>
          <p:nvPr/>
        </p:nvSpPr>
        <p:spPr>
          <a:xfrm>
            <a:off x="851486" y="2893204"/>
            <a:ext cx="7182678" cy="646331"/>
          </a:xfrm>
          <a:prstGeom prst="rect">
            <a:avLst/>
          </a:prstGeom>
          <a:noFill/>
        </p:spPr>
        <p:txBody>
          <a:bodyPr wrap="square">
            <a:spAutoFit/>
          </a:bodyPr>
          <a:lstStyle/>
          <a:p>
            <a:r>
              <a:rPr lang="en-US" dirty="0"/>
              <a:t>That is, once a transistor is in the “on” state, the base-to-emitter voltage will be assumed to be the following:</a:t>
            </a:r>
          </a:p>
        </p:txBody>
      </p:sp>
      <p:pic>
        <p:nvPicPr>
          <p:cNvPr id="9" name="Picture 8">
            <a:extLst>
              <a:ext uri="{FF2B5EF4-FFF2-40B4-BE49-F238E27FC236}">
                <a16:creationId xmlns:a16="http://schemas.microsoft.com/office/drawing/2014/main" id="{5837F6F6-F2B9-4F72-863F-41EE3C78211D}"/>
              </a:ext>
            </a:extLst>
          </p:cNvPr>
          <p:cNvPicPr>
            <a:picLocks noChangeAspect="1"/>
          </p:cNvPicPr>
          <p:nvPr/>
        </p:nvPicPr>
        <p:blipFill>
          <a:blip r:embed="rId3"/>
          <a:stretch>
            <a:fillRect/>
          </a:stretch>
        </p:blipFill>
        <p:spPr>
          <a:xfrm>
            <a:off x="1840670" y="3765667"/>
            <a:ext cx="4584441" cy="646331"/>
          </a:xfrm>
          <a:prstGeom prst="rect">
            <a:avLst/>
          </a:prstGeom>
        </p:spPr>
      </p:pic>
      <p:pic>
        <p:nvPicPr>
          <p:cNvPr id="11" name="Picture 10">
            <a:extLst>
              <a:ext uri="{FF2B5EF4-FFF2-40B4-BE49-F238E27FC236}">
                <a16:creationId xmlns:a16="http://schemas.microsoft.com/office/drawing/2014/main" id="{F5B2A825-DCAA-48CF-834C-C2AF23796D8B}"/>
              </a:ext>
            </a:extLst>
          </p:cNvPr>
          <p:cNvPicPr>
            <a:picLocks noChangeAspect="1"/>
          </p:cNvPicPr>
          <p:nvPr/>
        </p:nvPicPr>
        <p:blipFill>
          <a:blip r:embed="rId4"/>
          <a:stretch>
            <a:fillRect/>
          </a:stretch>
        </p:blipFill>
        <p:spPr>
          <a:xfrm>
            <a:off x="8388178" y="1374410"/>
            <a:ext cx="3270389" cy="2448420"/>
          </a:xfrm>
          <a:prstGeom prst="rect">
            <a:avLst/>
          </a:prstGeom>
        </p:spPr>
      </p:pic>
    </p:spTree>
    <p:extLst>
      <p:ext uri="{BB962C8B-B14F-4D97-AF65-F5344CB8AC3E}">
        <p14:creationId xmlns:p14="http://schemas.microsoft.com/office/powerpoint/2010/main" val="1233561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2AE968-03D8-4106-A1BC-A3EECCECAE05}"/>
              </a:ext>
            </a:extLst>
          </p:cNvPr>
          <p:cNvPicPr>
            <a:picLocks noChangeAspect="1"/>
          </p:cNvPicPr>
          <p:nvPr/>
        </p:nvPicPr>
        <p:blipFill>
          <a:blip r:embed="rId2"/>
          <a:stretch>
            <a:fillRect/>
          </a:stretch>
        </p:blipFill>
        <p:spPr>
          <a:xfrm>
            <a:off x="1346657" y="726418"/>
            <a:ext cx="2736347" cy="921717"/>
          </a:xfrm>
          <a:prstGeom prst="rect">
            <a:avLst/>
          </a:prstGeom>
        </p:spPr>
      </p:pic>
      <p:pic>
        <p:nvPicPr>
          <p:cNvPr id="7" name="Picture 6">
            <a:extLst>
              <a:ext uri="{FF2B5EF4-FFF2-40B4-BE49-F238E27FC236}">
                <a16:creationId xmlns:a16="http://schemas.microsoft.com/office/drawing/2014/main" id="{49F06D78-A3D5-4C8A-87D2-FFDF421D90CD}"/>
              </a:ext>
            </a:extLst>
          </p:cNvPr>
          <p:cNvPicPr>
            <a:picLocks noChangeAspect="1"/>
          </p:cNvPicPr>
          <p:nvPr/>
        </p:nvPicPr>
        <p:blipFill>
          <a:blip r:embed="rId3"/>
          <a:stretch>
            <a:fillRect/>
          </a:stretch>
        </p:blipFill>
        <p:spPr>
          <a:xfrm>
            <a:off x="2264257" y="2146645"/>
            <a:ext cx="4910240" cy="921717"/>
          </a:xfrm>
          <a:prstGeom prst="rect">
            <a:avLst/>
          </a:prstGeom>
        </p:spPr>
      </p:pic>
      <p:pic>
        <p:nvPicPr>
          <p:cNvPr id="9" name="Picture 8">
            <a:extLst>
              <a:ext uri="{FF2B5EF4-FFF2-40B4-BE49-F238E27FC236}">
                <a16:creationId xmlns:a16="http://schemas.microsoft.com/office/drawing/2014/main" id="{9449F57E-2192-49D1-B57A-419D2A73B650}"/>
              </a:ext>
            </a:extLst>
          </p:cNvPr>
          <p:cNvPicPr>
            <a:picLocks noChangeAspect="1"/>
          </p:cNvPicPr>
          <p:nvPr/>
        </p:nvPicPr>
        <p:blipFill>
          <a:blip r:embed="rId4"/>
          <a:stretch>
            <a:fillRect/>
          </a:stretch>
        </p:blipFill>
        <p:spPr>
          <a:xfrm>
            <a:off x="2264257" y="3213929"/>
            <a:ext cx="5719487" cy="705886"/>
          </a:xfrm>
          <a:prstGeom prst="rect">
            <a:avLst/>
          </a:prstGeom>
        </p:spPr>
      </p:pic>
      <p:pic>
        <p:nvPicPr>
          <p:cNvPr id="11" name="Picture 10">
            <a:extLst>
              <a:ext uri="{FF2B5EF4-FFF2-40B4-BE49-F238E27FC236}">
                <a16:creationId xmlns:a16="http://schemas.microsoft.com/office/drawing/2014/main" id="{5C499FBA-79EA-4E9D-AB6E-6D5D083E0C88}"/>
              </a:ext>
            </a:extLst>
          </p:cNvPr>
          <p:cNvPicPr>
            <a:picLocks noChangeAspect="1"/>
          </p:cNvPicPr>
          <p:nvPr/>
        </p:nvPicPr>
        <p:blipFill>
          <a:blip r:embed="rId5"/>
          <a:stretch>
            <a:fillRect/>
          </a:stretch>
        </p:blipFill>
        <p:spPr>
          <a:xfrm>
            <a:off x="2172436" y="4065382"/>
            <a:ext cx="5903128" cy="1027388"/>
          </a:xfrm>
          <a:prstGeom prst="rect">
            <a:avLst/>
          </a:prstGeom>
        </p:spPr>
      </p:pic>
    </p:spTree>
    <p:extLst>
      <p:ext uri="{BB962C8B-B14F-4D97-AF65-F5344CB8AC3E}">
        <p14:creationId xmlns:p14="http://schemas.microsoft.com/office/powerpoint/2010/main" val="3430066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D278C4-FB06-497C-9E86-ECED6E36BD12}"/>
              </a:ext>
            </a:extLst>
          </p:cNvPr>
          <p:cNvSpPr txBox="1"/>
          <p:nvPr/>
        </p:nvSpPr>
        <p:spPr>
          <a:xfrm>
            <a:off x="1007165" y="638266"/>
            <a:ext cx="6096000" cy="923330"/>
          </a:xfrm>
          <a:prstGeom prst="rect">
            <a:avLst/>
          </a:prstGeom>
          <a:noFill/>
        </p:spPr>
        <p:txBody>
          <a:bodyPr wrap="square">
            <a:spAutoFit/>
          </a:bodyPr>
          <a:lstStyle/>
          <a:p>
            <a:r>
              <a:rPr lang="en-US" dirty="0"/>
              <a:t>The proper biasing of the common-base configuration in the active region can be determined quickly using the approximation IC = IE and assume IB = 0 </a:t>
            </a:r>
            <a:r>
              <a:rPr lang="en-US" dirty="0">
                <a:latin typeface="Symbol" panose="05050102010706020507" pitchFamily="18" charset="2"/>
              </a:rPr>
              <a:t>mA</a:t>
            </a:r>
            <a:r>
              <a:rPr lang="en-US" dirty="0"/>
              <a:t>. </a:t>
            </a:r>
          </a:p>
        </p:txBody>
      </p:sp>
      <p:pic>
        <p:nvPicPr>
          <p:cNvPr id="7" name="Picture 6">
            <a:extLst>
              <a:ext uri="{FF2B5EF4-FFF2-40B4-BE49-F238E27FC236}">
                <a16:creationId xmlns:a16="http://schemas.microsoft.com/office/drawing/2014/main" id="{7A97CE39-F7D6-4D0D-999D-BCD04122E360}"/>
              </a:ext>
            </a:extLst>
          </p:cNvPr>
          <p:cNvPicPr>
            <a:picLocks noChangeAspect="1"/>
          </p:cNvPicPr>
          <p:nvPr/>
        </p:nvPicPr>
        <p:blipFill>
          <a:blip r:embed="rId2"/>
          <a:stretch>
            <a:fillRect/>
          </a:stretch>
        </p:blipFill>
        <p:spPr>
          <a:xfrm>
            <a:off x="1007165" y="1561596"/>
            <a:ext cx="4335603" cy="2962662"/>
          </a:xfrm>
          <a:prstGeom prst="rect">
            <a:avLst/>
          </a:prstGeom>
        </p:spPr>
      </p:pic>
      <p:pic>
        <p:nvPicPr>
          <p:cNvPr id="9" name="Picture 8">
            <a:extLst>
              <a:ext uri="{FF2B5EF4-FFF2-40B4-BE49-F238E27FC236}">
                <a16:creationId xmlns:a16="http://schemas.microsoft.com/office/drawing/2014/main" id="{B6B8F05A-3093-40DB-BF61-D3BC097EEF3D}"/>
              </a:ext>
            </a:extLst>
          </p:cNvPr>
          <p:cNvPicPr>
            <a:picLocks noChangeAspect="1"/>
          </p:cNvPicPr>
          <p:nvPr/>
        </p:nvPicPr>
        <p:blipFill>
          <a:blip r:embed="rId3"/>
          <a:stretch>
            <a:fillRect/>
          </a:stretch>
        </p:blipFill>
        <p:spPr>
          <a:xfrm>
            <a:off x="1302233" y="4524258"/>
            <a:ext cx="4209441" cy="1544292"/>
          </a:xfrm>
          <a:prstGeom prst="rect">
            <a:avLst/>
          </a:prstGeom>
        </p:spPr>
      </p:pic>
    </p:spTree>
    <p:extLst>
      <p:ext uri="{BB962C8B-B14F-4D97-AF65-F5344CB8AC3E}">
        <p14:creationId xmlns:p14="http://schemas.microsoft.com/office/powerpoint/2010/main" val="2489113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BCCD3D-4F6F-4D99-8ADC-5B57D808088B}"/>
              </a:ext>
            </a:extLst>
          </p:cNvPr>
          <p:cNvSpPr txBox="1"/>
          <p:nvPr/>
        </p:nvSpPr>
        <p:spPr>
          <a:xfrm>
            <a:off x="1179443" y="729734"/>
            <a:ext cx="6096000" cy="461665"/>
          </a:xfrm>
          <a:prstGeom prst="rect">
            <a:avLst/>
          </a:prstGeom>
          <a:noFill/>
        </p:spPr>
        <p:txBody>
          <a:bodyPr wrap="square">
            <a:spAutoFit/>
          </a:bodyPr>
          <a:lstStyle/>
          <a:p>
            <a:r>
              <a:rPr lang="en-US" sz="2400" b="1" dirty="0"/>
              <a:t>3.5 TRANSISTOR AMPLIFYING ACTION</a:t>
            </a:r>
          </a:p>
        </p:txBody>
      </p:sp>
      <p:sp>
        <p:nvSpPr>
          <p:cNvPr id="5" name="TextBox 4">
            <a:extLst>
              <a:ext uri="{FF2B5EF4-FFF2-40B4-BE49-F238E27FC236}">
                <a16:creationId xmlns:a16="http://schemas.microsoft.com/office/drawing/2014/main" id="{C79F20F5-57B0-473A-9B45-A1641FCE6952}"/>
              </a:ext>
            </a:extLst>
          </p:cNvPr>
          <p:cNvSpPr txBox="1"/>
          <p:nvPr/>
        </p:nvSpPr>
        <p:spPr>
          <a:xfrm>
            <a:off x="1179443" y="1505635"/>
            <a:ext cx="7156174" cy="369332"/>
          </a:xfrm>
          <a:prstGeom prst="rect">
            <a:avLst/>
          </a:prstGeom>
          <a:noFill/>
        </p:spPr>
        <p:txBody>
          <a:bodyPr wrap="square">
            <a:spAutoFit/>
          </a:bodyPr>
          <a:lstStyle/>
          <a:p>
            <a:r>
              <a:rPr lang="en-US" dirty="0"/>
              <a:t> Using a common value of 20  for the input resistance, we find that</a:t>
            </a:r>
          </a:p>
        </p:txBody>
      </p:sp>
      <p:pic>
        <p:nvPicPr>
          <p:cNvPr id="7" name="Picture 6">
            <a:extLst>
              <a:ext uri="{FF2B5EF4-FFF2-40B4-BE49-F238E27FC236}">
                <a16:creationId xmlns:a16="http://schemas.microsoft.com/office/drawing/2014/main" id="{A6A47E39-864D-49DB-8BE3-D7D03BE39DA2}"/>
              </a:ext>
            </a:extLst>
          </p:cNvPr>
          <p:cNvPicPr>
            <a:picLocks noChangeAspect="1"/>
          </p:cNvPicPr>
          <p:nvPr/>
        </p:nvPicPr>
        <p:blipFill>
          <a:blip r:embed="rId2"/>
          <a:stretch>
            <a:fillRect/>
          </a:stretch>
        </p:blipFill>
        <p:spPr>
          <a:xfrm>
            <a:off x="1740917" y="2187102"/>
            <a:ext cx="4467378" cy="3274518"/>
          </a:xfrm>
          <a:prstGeom prst="rect">
            <a:avLst/>
          </a:prstGeom>
        </p:spPr>
      </p:pic>
      <p:sp>
        <p:nvSpPr>
          <p:cNvPr id="9" name="TextBox 8">
            <a:extLst>
              <a:ext uri="{FF2B5EF4-FFF2-40B4-BE49-F238E27FC236}">
                <a16:creationId xmlns:a16="http://schemas.microsoft.com/office/drawing/2014/main" id="{DF173CBD-DC64-4FE0-B97F-DBD891EDA0C3}"/>
              </a:ext>
            </a:extLst>
          </p:cNvPr>
          <p:cNvSpPr txBox="1"/>
          <p:nvPr/>
        </p:nvSpPr>
        <p:spPr>
          <a:xfrm>
            <a:off x="1285460" y="5720185"/>
            <a:ext cx="7050157" cy="646331"/>
          </a:xfrm>
          <a:prstGeom prst="rect">
            <a:avLst/>
          </a:prstGeom>
          <a:noFill/>
        </p:spPr>
        <p:txBody>
          <a:bodyPr wrap="square">
            <a:spAutoFit/>
          </a:bodyPr>
          <a:lstStyle/>
          <a:p>
            <a:r>
              <a:rPr lang="en-US" dirty="0"/>
              <a:t>Figure 3.12 Basic voltage amplification action of the common-base</a:t>
            </a:r>
          </a:p>
          <a:p>
            <a:r>
              <a:rPr lang="en-US" dirty="0"/>
              <a:t>configuration.</a:t>
            </a:r>
          </a:p>
        </p:txBody>
      </p:sp>
    </p:spTree>
    <p:extLst>
      <p:ext uri="{BB962C8B-B14F-4D97-AF65-F5344CB8AC3E}">
        <p14:creationId xmlns:p14="http://schemas.microsoft.com/office/powerpoint/2010/main" val="2734196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B0F1BF-C07E-4566-8A41-6E55CDE4E03D}"/>
              </a:ext>
            </a:extLst>
          </p:cNvPr>
          <p:cNvPicPr>
            <a:picLocks noChangeAspect="1"/>
          </p:cNvPicPr>
          <p:nvPr/>
        </p:nvPicPr>
        <p:blipFill>
          <a:blip r:embed="rId2"/>
          <a:stretch>
            <a:fillRect/>
          </a:stretch>
        </p:blipFill>
        <p:spPr>
          <a:xfrm>
            <a:off x="858068" y="1159357"/>
            <a:ext cx="10216986" cy="4393304"/>
          </a:xfrm>
          <a:prstGeom prst="rect">
            <a:avLst/>
          </a:prstGeom>
        </p:spPr>
      </p:pic>
    </p:spTree>
    <p:extLst>
      <p:ext uri="{BB962C8B-B14F-4D97-AF65-F5344CB8AC3E}">
        <p14:creationId xmlns:p14="http://schemas.microsoft.com/office/powerpoint/2010/main" val="1682459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Common-Collector Configuration</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365955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A928D2-64CB-40DE-9F5A-9AED7A357956}"/>
              </a:ext>
            </a:extLst>
          </p:cNvPr>
          <p:cNvSpPr txBox="1"/>
          <p:nvPr/>
        </p:nvSpPr>
        <p:spPr>
          <a:xfrm>
            <a:off x="931193" y="704576"/>
            <a:ext cx="6096000" cy="461665"/>
          </a:xfrm>
          <a:prstGeom prst="rect">
            <a:avLst/>
          </a:prstGeom>
          <a:noFill/>
        </p:spPr>
        <p:txBody>
          <a:bodyPr wrap="square">
            <a:spAutoFit/>
          </a:bodyPr>
          <a:lstStyle/>
          <a:p>
            <a:r>
              <a:rPr lang="en-US" sz="2400" dirty="0"/>
              <a:t>3.7 COMMON-COLLECTOR CONFIGURATION</a:t>
            </a:r>
          </a:p>
        </p:txBody>
      </p:sp>
      <p:pic>
        <p:nvPicPr>
          <p:cNvPr id="5" name="Picture 4">
            <a:extLst>
              <a:ext uri="{FF2B5EF4-FFF2-40B4-BE49-F238E27FC236}">
                <a16:creationId xmlns:a16="http://schemas.microsoft.com/office/drawing/2014/main" id="{61E7A3CC-6BF7-4C4D-B934-9106D269961E}"/>
              </a:ext>
            </a:extLst>
          </p:cNvPr>
          <p:cNvPicPr>
            <a:picLocks noChangeAspect="1"/>
          </p:cNvPicPr>
          <p:nvPr/>
        </p:nvPicPr>
        <p:blipFill>
          <a:blip r:embed="rId2"/>
          <a:stretch>
            <a:fillRect/>
          </a:stretch>
        </p:blipFill>
        <p:spPr>
          <a:xfrm>
            <a:off x="931193" y="1442787"/>
            <a:ext cx="6496302" cy="4629788"/>
          </a:xfrm>
          <a:prstGeom prst="rect">
            <a:avLst/>
          </a:prstGeom>
        </p:spPr>
      </p:pic>
      <p:sp>
        <p:nvSpPr>
          <p:cNvPr id="7" name="TextBox 6">
            <a:extLst>
              <a:ext uri="{FF2B5EF4-FFF2-40B4-BE49-F238E27FC236}">
                <a16:creationId xmlns:a16="http://schemas.microsoft.com/office/drawing/2014/main" id="{B792E789-FE27-495E-B52F-663B9B4697DE}"/>
              </a:ext>
            </a:extLst>
          </p:cNvPr>
          <p:cNvSpPr txBox="1"/>
          <p:nvPr/>
        </p:nvSpPr>
        <p:spPr>
          <a:xfrm>
            <a:off x="7684169" y="4426803"/>
            <a:ext cx="3128210" cy="1477328"/>
          </a:xfrm>
          <a:prstGeom prst="rect">
            <a:avLst/>
          </a:prstGeom>
          <a:noFill/>
        </p:spPr>
        <p:txBody>
          <a:bodyPr wrap="square">
            <a:spAutoFit/>
          </a:bodyPr>
          <a:lstStyle/>
          <a:p>
            <a:r>
              <a:rPr lang="en-US" dirty="0"/>
              <a:t>Figure 3.20 Notation and symbols used with the common-collector configuration: (a) </a:t>
            </a:r>
            <a:r>
              <a:rPr lang="en-US" dirty="0" err="1"/>
              <a:t>pnp</a:t>
            </a:r>
            <a:r>
              <a:rPr lang="en-US" dirty="0"/>
              <a:t> transistor; (b) </a:t>
            </a:r>
            <a:r>
              <a:rPr lang="en-US" dirty="0" err="1"/>
              <a:t>npn</a:t>
            </a:r>
            <a:r>
              <a:rPr lang="en-US" dirty="0"/>
              <a:t> transistor</a:t>
            </a:r>
          </a:p>
        </p:txBody>
      </p:sp>
      <p:sp>
        <p:nvSpPr>
          <p:cNvPr id="2" name="TextBox 1"/>
          <p:cNvSpPr txBox="1"/>
          <p:nvPr/>
        </p:nvSpPr>
        <p:spPr>
          <a:xfrm>
            <a:off x="2124075" y="3388349"/>
            <a:ext cx="622286" cy="369332"/>
          </a:xfrm>
          <a:prstGeom prst="rect">
            <a:avLst/>
          </a:prstGeom>
          <a:noFill/>
        </p:spPr>
        <p:txBody>
          <a:bodyPr wrap="none" rtlCol="0">
            <a:spAutoFit/>
          </a:bodyPr>
          <a:lstStyle/>
          <a:p>
            <a:r>
              <a:rPr lang="en-US">
                <a:solidFill>
                  <a:srgbClr val="FF0000"/>
                </a:solidFill>
              </a:rPr>
              <a:t>GND</a:t>
            </a:r>
          </a:p>
        </p:txBody>
      </p:sp>
      <p:sp>
        <p:nvSpPr>
          <p:cNvPr id="6" name="TextBox 5"/>
          <p:cNvSpPr txBox="1"/>
          <p:nvPr/>
        </p:nvSpPr>
        <p:spPr>
          <a:xfrm>
            <a:off x="5419725" y="3388349"/>
            <a:ext cx="622286" cy="369332"/>
          </a:xfrm>
          <a:prstGeom prst="rect">
            <a:avLst/>
          </a:prstGeom>
          <a:noFill/>
        </p:spPr>
        <p:txBody>
          <a:bodyPr wrap="none" rtlCol="0">
            <a:spAutoFit/>
          </a:bodyPr>
          <a:lstStyle/>
          <a:p>
            <a:r>
              <a:rPr lang="en-US">
                <a:solidFill>
                  <a:srgbClr val="FF0000"/>
                </a:solidFill>
              </a:rPr>
              <a:t>GND</a:t>
            </a:r>
          </a:p>
        </p:txBody>
      </p:sp>
    </p:spTree>
    <p:extLst>
      <p:ext uri="{BB962C8B-B14F-4D97-AF65-F5344CB8AC3E}">
        <p14:creationId xmlns:p14="http://schemas.microsoft.com/office/powerpoint/2010/main" val="3064316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EB1934-1E21-469D-AC5F-F68D7F63D5BA}"/>
              </a:ext>
            </a:extLst>
          </p:cNvPr>
          <p:cNvPicPr>
            <a:picLocks noChangeAspect="1"/>
          </p:cNvPicPr>
          <p:nvPr/>
        </p:nvPicPr>
        <p:blipFill>
          <a:blip r:embed="rId2"/>
          <a:stretch>
            <a:fillRect/>
          </a:stretch>
        </p:blipFill>
        <p:spPr>
          <a:xfrm>
            <a:off x="741185" y="4001294"/>
            <a:ext cx="2862260" cy="2067508"/>
          </a:xfrm>
          <a:prstGeom prst="rect">
            <a:avLst/>
          </a:prstGeom>
        </p:spPr>
      </p:pic>
      <p:pic>
        <p:nvPicPr>
          <p:cNvPr id="6" name="Picture 5"/>
          <p:cNvPicPr>
            <a:picLocks noChangeAspect="1"/>
          </p:cNvPicPr>
          <p:nvPr/>
        </p:nvPicPr>
        <p:blipFill>
          <a:blip r:embed="rId3"/>
          <a:stretch>
            <a:fillRect/>
          </a:stretch>
        </p:blipFill>
        <p:spPr>
          <a:xfrm>
            <a:off x="4459754" y="1111640"/>
            <a:ext cx="2786338" cy="2689227"/>
          </a:xfrm>
          <a:prstGeom prst="rect">
            <a:avLst/>
          </a:prstGeom>
        </p:spPr>
      </p:pic>
      <p:pic>
        <p:nvPicPr>
          <p:cNvPr id="7" name="Picture 6"/>
          <p:cNvPicPr>
            <a:picLocks noChangeAspect="1"/>
          </p:cNvPicPr>
          <p:nvPr/>
        </p:nvPicPr>
        <p:blipFill>
          <a:blip r:embed="rId4"/>
          <a:stretch>
            <a:fillRect/>
          </a:stretch>
        </p:blipFill>
        <p:spPr>
          <a:xfrm>
            <a:off x="3937124" y="3919542"/>
            <a:ext cx="3308968" cy="2574808"/>
          </a:xfrm>
          <a:prstGeom prst="rect">
            <a:avLst/>
          </a:prstGeom>
        </p:spPr>
      </p:pic>
      <p:pic>
        <p:nvPicPr>
          <p:cNvPr id="8" name="Picture 7">
            <a:extLst>
              <a:ext uri="{FF2B5EF4-FFF2-40B4-BE49-F238E27FC236}">
                <a16:creationId xmlns:a16="http://schemas.microsoft.com/office/drawing/2014/main" id="{DD594BBF-0E57-49E9-A783-4C2739107DD0}"/>
              </a:ext>
            </a:extLst>
          </p:cNvPr>
          <p:cNvPicPr>
            <a:picLocks noChangeAspect="1"/>
          </p:cNvPicPr>
          <p:nvPr/>
        </p:nvPicPr>
        <p:blipFill>
          <a:blip r:embed="rId5"/>
          <a:stretch>
            <a:fillRect/>
          </a:stretch>
        </p:blipFill>
        <p:spPr>
          <a:xfrm>
            <a:off x="741185" y="1111641"/>
            <a:ext cx="2674090" cy="2689227"/>
          </a:xfrm>
          <a:prstGeom prst="rect">
            <a:avLst/>
          </a:prstGeom>
        </p:spPr>
      </p:pic>
      <p:sp>
        <p:nvSpPr>
          <p:cNvPr id="9" name="Rectangle 8"/>
          <p:cNvSpPr/>
          <p:nvPr/>
        </p:nvSpPr>
        <p:spPr>
          <a:xfrm>
            <a:off x="741185" y="530038"/>
            <a:ext cx="2883931" cy="369332"/>
          </a:xfrm>
          <a:prstGeom prst="rect">
            <a:avLst/>
          </a:prstGeom>
        </p:spPr>
        <p:txBody>
          <a:bodyPr wrap="none">
            <a:spAutoFit/>
          </a:bodyPr>
          <a:lstStyle/>
          <a:p>
            <a:r>
              <a:rPr lang="en-US"/>
              <a:t>Common-Base Configuration</a:t>
            </a:r>
          </a:p>
        </p:txBody>
      </p:sp>
      <p:sp>
        <p:nvSpPr>
          <p:cNvPr id="10" name="Rectangle 9"/>
          <p:cNvSpPr/>
          <p:nvPr/>
        </p:nvSpPr>
        <p:spPr>
          <a:xfrm>
            <a:off x="4459754" y="530038"/>
            <a:ext cx="3136243" cy="369332"/>
          </a:xfrm>
          <a:prstGeom prst="rect">
            <a:avLst/>
          </a:prstGeom>
        </p:spPr>
        <p:txBody>
          <a:bodyPr wrap="none">
            <a:spAutoFit/>
          </a:bodyPr>
          <a:lstStyle/>
          <a:p>
            <a:r>
              <a:rPr lang="en-US"/>
              <a:t>Common-Emitter Configuration</a:t>
            </a:r>
          </a:p>
        </p:txBody>
      </p:sp>
    </p:spTree>
    <p:extLst>
      <p:ext uri="{BB962C8B-B14F-4D97-AF65-F5344CB8AC3E}">
        <p14:creationId xmlns:p14="http://schemas.microsoft.com/office/powerpoint/2010/main" val="3588322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Cara Menggambarkan Konfigurasi Transistor</a:t>
            </a:r>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a:t>Gambarkan simbol transistor yang ingin digambar konfigurasinya.</a:t>
            </a:r>
          </a:p>
          <a:p>
            <a:pPr marL="514350" indent="-514350">
              <a:buFont typeface="+mj-lt"/>
              <a:buAutoNum type="arabicPeriod"/>
            </a:pPr>
            <a:r>
              <a:rPr lang="en-US"/>
              <a:t>Gambarkan arah arus yang mengalir pada kaki-kaki Basis, Emitor dan Kolektor. </a:t>
            </a:r>
          </a:p>
          <a:p>
            <a:pPr marL="514350" indent="-514350">
              <a:buFont typeface="+mj-lt"/>
              <a:buAutoNum type="arabicPeriod"/>
            </a:pPr>
            <a:r>
              <a:rPr lang="en-US"/>
              <a:t>Cantumkan notasi arus-arus tsb.</a:t>
            </a:r>
          </a:p>
          <a:p>
            <a:pPr marL="514350" indent="-514350">
              <a:buFont typeface="+mj-lt"/>
              <a:buAutoNum type="arabicPeriod"/>
            </a:pPr>
            <a:r>
              <a:rPr lang="en-US"/>
              <a:t>Berikan tanda Ground pada kaki yang akan dijadikan “Common” sesuai nama konfigurasinya (misal untuk Common-Base berarti kaki Basis yang dijadikan titik temu ground).</a:t>
            </a:r>
          </a:p>
          <a:p>
            <a:pPr marL="514350" indent="-514350">
              <a:buFont typeface="+mj-lt"/>
              <a:buAutoNum type="arabicPeriod"/>
            </a:pPr>
            <a:r>
              <a:rPr lang="en-US"/>
              <a:t>Berikan catu daya (baterai) antara kaki-kaki lainnya ke Ground (polaritas baterai sesuaikan dengan arah arus pada butir 2). </a:t>
            </a:r>
          </a:p>
          <a:p>
            <a:pPr marL="514350" indent="-514350">
              <a:buFont typeface="+mj-lt"/>
              <a:buAutoNum type="arabicPeriod"/>
            </a:pPr>
            <a:r>
              <a:rPr lang="en-US"/>
              <a:t>Cantumkan notasi tegangan-tegangan tsb.</a:t>
            </a:r>
          </a:p>
          <a:p>
            <a:pPr marL="514350" indent="-514350">
              <a:buFont typeface="+mj-lt"/>
              <a:buAutoNum type="arabicPeriod"/>
            </a:pPr>
            <a:endParaRPr lang="en-US"/>
          </a:p>
          <a:p>
            <a:endParaRPr lang="en-US"/>
          </a:p>
        </p:txBody>
      </p:sp>
    </p:spTree>
    <p:extLst>
      <p:ext uri="{BB962C8B-B14F-4D97-AF65-F5344CB8AC3E}">
        <p14:creationId xmlns:p14="http://schemas.microsoft.com/office/powerpoint/2010/main" val="424110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Latihan</a:t>
            </a:r>
          </a:p>
        </p:txBody>
      </p:sp>
      <p:sp>
        <p:nvSpPr>
          <p:cNvPr id="3" name="Content Placeholder 2"/>
          <p:cNvSpPr>
            <a:spLocks noGrp="1"/>
          </p:cNvSpPr>
          <p:nvPr>
            <p:ph idx="1"/>
          </p:nvPr>
        </p:nvSpPr>
        <p:spPr/>
        <p:txBody>
          <a:bodyPr>
            <a:normAutofit/>
          </a:bodyPr>
          <a:lstStyle/>
          <a:p>
            <a:r>
              <a:rPr lang="en-US"/>
              <a:t>Gambarkan konfigurasi transistor berikut:</a:t>
            </a:r>
          </a:p>
          <a:p>
            <a:pPr lvl="1"/>
            <a:r>
              <a:rPr lang="en-US"/>
              <a:t>Common-Base transistor PNP.</a:t>
            </a:r>
          </a:p>
          <a:p>
            <a:pPr lvl="1"/>
            <a:r>
              <a:rPr lang="en-US"/>
              <a:t>Common-Base transistor NPN.</a:t>
            </a:r>
          </a:p>
          <a:p>
            <a:pPr lvl="1"/>
            <a:r>
              <a:rPr lang="en-US"/>
              <a:t>Common-Emitor transistor PNP.</a:t>
            </a:r>
          </a:p>
          <a:p>
            <a:pPr lvl="1"/>
            <a:r>
              <a:rPr lang="en-US"/>
              <a:t>Common-Emitor transistor NPN.</a:t>
            </a:r>
          </a:p>
          <a:p>
            <a:pPr lvl="1"/>
            <a:r>
              <a:rPr lang="en-US"/>
              <a:t>Common-Kolektor transistor PNP.</a:t>
            </a:r>
          </a:p>
          <a:p>
            <a:pPr lvl="1"/>
            <a:r>
              <a:rPr lang="en-US"/>
              <a:t>Common-Kolektor transistor NPN.</a:t>
            </a:r>
          </a:p>
          <a:p>
            <a:pPr lvl="1"/>
            <a:endParaRPr lang="en-US"/>
          </a:p>
          <a:p>
            <a:r>
              <a:rPr lang="en-US"/>
              <a:t>Tuliskan persamaan Ie dan Ic nya untuk masing-masing konfigurasi</a:t>
            </a:r>
          </a:p>
          <a:p>
            <a:endParaRPr lang="en-US"/>
          </a:p>
        </p:txBody>
      </p:sp>
    </p:spTree>
    <p:extLst>
      <p:ext uri="{BB962C8B-B14F-4D97-AF65-F5344CB8AC3E}">
        <p14:creationId xmlns:p14="http://schemas.microsoft.com/office/powerpoint/2010/main" val="2958104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37C797-5720-44B4-94D0-9AB2AAC8DE21}"/>
              </a:ext>
            </a:extLst>
          </p:cNvPr>
          <p:cNvSpPr txBox="1"/>
          <p:nvPr/>
        </p:nvSpPr>
        <p:spPr>
          <a:xfrm>
            <a:off x="1042737" y="729734"/>
            <a:ext cx="6096000" cy="461665"/>
          </a:xfrm>
          <a:prstGeom prst="rect">
            <a:avLst/>
          </a:prstGeom>
          <a:noFill/>
        </p:spPr>
        <p:txBody>
          <a:bodyPr wrap="square">
            <a:spAutoFit/>
          </a:bodyPr>
          <a:lstStyle/>
          <a:p>
            <a:r>
              <a:rPr lang="en-US" sz="2400" b="1" dirty="0"/>
              <a:t>3.8 LIMITS OF OPERATION</a:t>
            </a:r>
          </a:p>
        </p:txBody>
      </p:sp>
      <p:pic>
        <p:nvPicPr>
          <p:cNvPr id="5" name="Picture 4">
            <a:extLst>
              <a:ext uri="{FF2B5EF4-FFF2-40B4-BE49-F238E27FC236}">
                <a16:creationId xmlns:a16="http://schemas.microsoft.com/office/drawing/2014/main" id="{E24C5ECA-CD1F-454E-87D9-596264617640}"/>
              </a:ext>
            </a:extLst>
          </p:cNvPr>
          <p:cNvPicPr>
            <a:picLocks noChangeAspect="1"/>
          </p:cNvPicPr>
          <p:nvPr/>
        </p:nvPicPr>
        <p:blipFill>
          <a:blip r:embed="rId2"/>
          <a:stretch>
            <a:fillRect/>
          </a:stretch>
        </p:blipFill>
        <p:spPr>
          <a:xfrm>
            <a:off x="1042737" y="1915208"/>
            <a:ext cx="5934075" cy="4305300"/>
          </a:xfrm>
          <a:prstGeom prst="rect">
            <a:avLst/>
          </a:prstGeom>
        </p:spPr>
      </p:pic>
      <p:sp>
        <p:nvSpPr>
          <p:cNvPr id="7" name="TextBox 6">
            <a:extLst>
              <a:ext uri="{FF2B5EF4-FFF2-40B4-BE49-F238E27FC236}">
                <a16:creationId xmlns:a16="http://schemas.microsoft.com/office/drawing/2014/main" id="{84FDABF5-E7BF-47DE-849D-BD6BF0C91212}"/>
              </a:ext>
            </a:extLst>
          </p:cNvPr>
          <p:cNvSpPr txBox="1"/>
          <p:nvPr/>
        </p:nvSpPr>
        <p:spPr>
          <a:xfrm>
            <a:off x="7363326" y="4816187"/>
            <a:ext cx="3336758" cy="923330"/>
          </a:xfrm>
          <a:prstGeom prst="rect">
            <a:avLst/>
          </a:prstGeom>
          <a:noFill/>
        </p:spPr>
        <p:txBody>
          <a:bodyPr wrap="square">
            <a:spAutoFit/>
          </a:bodyPr>
          <a:lstStyle/>
          <a:p>
            <a:r>
              <a:rPr lang="en-US" dirty="0"/>
              <a:t>Figure 3.22 Defining the linear</a:t>
            </a:r>
          </a:p>
          <a:p>
            <a:r>
              <a:rPr lang="en-US" dirty="0"/>
              <a:t>(undistorted) region of operation</a:t>
            </a:r>
          </a:p>
          <a:p>
            <a:r>
              <a:rPr lang="en-US" dirty="0"/>
              <a:t>for a </a:t>
            </a:r>
            <a:r>
              <a:rPr lang="en-US" dirty="0" err="1"/>
              <a:t>transisto</a:t>
            </a:r>
            <a:endParaRPr lang="en-US" dirty="0"/>
          </a:p>
        </p:txBody>
      </p:sp>
    </p:spTree>
    <p:extLst>
      <p:ext uri="{BB962C8B-B14F-4D97-AF65-F5344CB8AC3E}">
        <p14:creationId xmlns:p14="http://schemas.microsoft.com/office/powerpoint/2010/main" val="611822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5A8710-3F0F-415E-9D0C-4C41F0515E13}"/>
              </a:ext>
            </a:extLst>
          </p:cNvPr>
          <p:cNvPicPr>
            <a:picLocks noChangeAspect="1"/>
          </p:cNvPicPr>
          <p:nvPr/>
        </p:nvPicPr>
        <p:blipFill>
          <a:blip r:embed="rId2"/>
          <a:stretch>
            <a:fillRect/>
          </a:stretch>
        </p:blipFill>
        <p:spPr>
          <a:xfrm>
            <a:off x="843045" y="1273342"/>
            <a:ext cx="9511299" cy="1149016"/>
          </a:xfrm>
          <a:prstGeom prst="rect">
            <a:avLst/>
          </a:prstGeom>
        </p:spPr>
      </p:pic>
      <p:pic>
        <p:nvPicPr>
          <p:cNvPr id="5" name="Picture 4">
            <a:extLst>
              <a:ext uri="{FF2B5EF4-FFF2-40B4-BE49-F238E27FC236}">
                <a16:creationId xmlns:a16="http://schemas.microsoft.com/office/drawing/2014/main" id="{A30E96F7-A1D4-4F4A-BB2C-5824E6FBB255}"/>
              </a:ext>
            </a:extLst>
          </p:cNvPr>
          <p:cNvPicPr>
            <a:picLocks noChangeAspect="1"/>
          </p:cNvPicPr>
          <p:nvPr/>
        </p:nvPicPr>
        <p:blipFill>
          <a:blip r:embed="rId3"/>
          <a:stretch>
            <a:fillRect/>
          </a:stretch>
        </p:blipFill>
        <p:spPr>
          <a:xfrm>
            <a:off x="3422751" y="2422358"/>
            <a:ext cx="7540143" cy="2048376"/>
          </a:xfrm>
          <a:prstGeom prst="rect">
            <a:avLst/>
          </a:prstGeom>
        </p:spPr>
      </p:pic>
      <p:pic>
        <p:nvPicPr>
          <p:cNvPr id="7" name="Picture 6">
            <a:extLst>
              <a:ext uri="{FF2B5EF4-FFF2-40B4-BE49-F238E27FC236}">
                <a16:creationId xmlns:a16="http://schemas.microsoft.com/office/drawing/2014/main" id="{E9406571-99D8-4BD3-8D67-05893093927A}"/>
              </a:ext>
            </a:extLst>
          </p:cNvPr>
          <p:cNvPicPr>
            <a:picLocks noChangeAspect="1"/>
          </p:cNvPicPr>
          <p:nvPr/>
        </p:nvPicPr>
        <p:blipFill>
          <a:blip r:embed="rId4"/>
          <a:stretch>
            <a:fillRect/>
          </a:stretch>
        </p:blipFill>
        <p:spPr>
          <a:xfrm>
            <a:off x="3776013" y="4784307"/>
            <a:ext cx="7500686" cy="901617"/>
          </a:xfrm>
          <a:prstGeom prst="rect">
            <a:avLst/>
          </a:prstGeom>
        </p:spPr>
      </p:pic>
    </p:spTree>
    <p:extLst>
      <p:ext uri="{BB962C8B-B14F-4D97-AF65-F5344CB8AC3E}">
        <p14:creationId xmlns:p14="http://schemas.microsoft.com/office/powerpoint/2010/main" val="2146350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Common-Emitter Configuration</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976735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22E90E-6A2D-4977-A371-DD337675F0BD}"/>
              </a:ext>
            </a:extLst>
          </p:cNvPr>
          <p:cNvSpPr txBox="1"/>
          <p:nvPr/>
        </p:nvSpPr>
        <p:spPr>
          <a:xfrm>
            <a:off x="1245705" y="849003"/>
            <a:ext cx="6096000" cy="461665"/>
          </a:xfrm>
          <a:prstGeom prst="rect">
            <a:avLst/>
          </a:prstGeom>
          <a:noFill/>
        </p:spPr>
        <p:txBody>
          <a:bodyPr wrap="square">
            <a:spAutoFit/>
          </a:bodyPr>
          <a:lstStyle/>
          <a:p>
            <a:r>
              <a:rPr lang="en-US" sz="2400" b="1" dirty="0"/>
              <a:t>3.6 COMMON-EMITTER CONFIGURATION</a:t>
            </a:r>
          </a:p>
        </p:txBody>
      </p:sp>
      <p:pic>
        <p:nvPicPr>
          <p:cNvPr id="5" name="Picture 4">
            <a:extLst>
              <a:ext uri="{FF2B5EF4-FFF2-40B4-BE49-F238E27FC236}">
                <a16:creationId xmlns:a16="http://schemas.microsoft.com/office/drawing/2014/main" id="{BFEF0B14-0A80-45F8-B020-1CE10365CBAB}"/>
              </a:ext>
            </a:extLst>
          </p:cNvPr>
          <p:cNvPicPr>
            <a:picLocks noChangeAspect="1"/>
          </p:cNvPicPr>
          <p:nvPr/>
        </p:nvPicPr>
        <p:blipFill>
          <a:blip r:embed="rId2"/>
          <a:stretch>
            <a:fillRect/>
          </a:stretch>
        </p:blipFill>
        <p:spPr>
          <a:xfrm>
            <a:off x="1380504" y="1646806"/>
            <a:ext cx="5890755" cy="4288773"/>
          </a:xfrm>
          <a:prstGeom prst="rect">
            <a:avLst/>
          </a:prstGeom>
        </p:spPr>
      </p:pic>
      <p:sp>
        <p:nvSpPr>
          <p:cNvPr id="7" name="TextBox 6">
            <a:extLst>
              <a:ext uri="{FF2B5EF4-FFF2-40B4-BE49-F238E27FC236}">
                <a16:creationId xmlns:a16="http://schemas.microsoft.com/office/drawing/2014/main" id="{4F8FF6F6-C20A-41C0-B113-CE9935FA9313}"/>
              </a:ext>
            </a:extLst>
          </p:cNvPr>
          <p:cNvSpPr txBox="1"/>
          <p:nvPr/>
        </p:nvSpPr>
        <p:spPr>
          <a:xfrm>
            <a:off x="1245705" y="5935579"/>
            <a:ext cx="6096000" cy="646331"/>
          </a:xfrm>
          <a:prstGeom prst="rect">
            <a:avLst/>
          </a:prstGeom>
          <a:noFill/>
        </p:spPr>
        <p:txBody>
          <a:bodyPr wrap="square">
            <a:spAutoFit/>
          </a:bodyPr>
          <a:lstStyle/>
          <a:p>
            <a:r>
              <a:rPr lang="en-US" dirty="0"/>
              <a:t>Figure 3.13 Notation and symbols used with the common-emitter configuration: (a) </a:t>
            </a:r>
            <a:r>
              <a:rPr lang="en-US" dirty="0" err="1"/>
              <a:t>npn</a:t>
            </a:r>
            <a:r>
              <a:rPr lang="en-US" dirty="0"/>
              <a:t> transistor; (b) </a:t>
            </a:r>
            <a:r>
              <a:rPr lang="en-US" dirty="0" err="1"/>
              <a:t>pnp</a:t>
            </a:r>
            <a:r>
              <a:rPr lang="en-US" dirty="0"/>
              <a:t> transistor.</a:t>
            </a:r>
          </a:p>
        </p:txBody>
      </p:sp>
      <p:sp>
        <p:nvSpPr>
          <p:cNvPr id="2" name="TextBox 1"/>
          <p:cNvSpPr txBox="1"/>
          <p:nvPr/>
        </p:nvSpPr>
        <p:spPr>
          <a:xfrm>
            <a:off x="2426934" y="3545815"/>
            <a:ext cx="622286" cy="369332"/>
          </a:xfrm>
          <a:prstGeom prst="rect">
            <a:avLst/>
          </a:prstGeom>
          <a:noFill/>
        </p:spPr>
        <p:txBody>
          <a:bodyPr wrap="none" rtlCol="0">
            <a:spAutoFit/>
          </a:bodyPr>
          <a:lstStyle/>
          <a:p>
            <a:r>
              <a:rPr lang="en-US">
                <a:solidFill>
                  <a:srgbClr val="FF0000"/>
                </a:solidFill>
              </a:rPr>
              <a:t>GND</a:t>
            </a:r>
          </a:p>
        </p:txBody>
      </p:sp>
      <p:sp>
        <p:nvSpPr>
          <p:cNvPr id="65" name="TextBox 64"/>
          <p:cNvSpPr txBox="1"/>
          <p:nvPr/>
        </p:nvSpPr>
        <p:spPr>
          <a:xfrm>
            <a:off x="5320541" y="3545815"/>
            <a:ext cx="622286" cy="369332"/>
          </a:xfrm>
          <a:prstGeom prst="rect">
            <a:avLst/>
          </a:prstGeom>
          <a:noFill/>
        </p:spPr>
        <p:txBody>
          <a:bodyPr wrap="none" rtlCol="0">
            <a:spAutoFit/>
          </a:bodyPr>
          <a:lstStyle/>
          <a:p>
            <a:r>
              <a:rPr lang="en-US">
                <a:solidFill>
                  <a:srgbClr val="FF0000"/>
                </a:solidFill>
              </a:rPr>
              <a:t>GND</a:t>
            </a:r>
          </a:p>
        </p:txBody>
      </p:sp>
    </p:spTree>
    <p:extLst>
      <p:ext uri="{BB962C8B-B14F-4D97-AF65-F5344CB8AC3E}">
        <p14:creationId xmlns:p14="http://schemas.microsoft.com/office/powerpoint/2010/main" val="548814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6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2133" y="981316"/>
            <a:ext cx="6514958" cy="4891325"/>
          </a:xfrm>
          <a:prstGeom prst="rect">
            <a:avLst/>
          </a:prstGeom>
        </p:spPr>
      </p:pic>
    </p:spTree>
    <p:extLst>
      <p:ext uri="{BB962C8B-B14F-4D97-AF65-F5344CB8AC3E}">
        <p14:creationId xmlns:p14="http://schemas.microsoft.com/office/powerpoint/2010/main" val="419879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Karakteristik Input dan Output Transistor Common-Emitter</a:t>
            </a:r>
          </a:p>
        </p:txBody>
      </p:sp>
      <p:sp>
        <p:nvSpPr>
          <p:cNvPr id="4" name="TextBox 3">
            <a:extLst>
              <a:ext uri="{FF2B5EF4-FFF2-40B4-BE49-F238E27FC236}">
                <a16:creationId xmlns:a16="http://schemas.microsoft.com/office/drawing/2014/main" id="{C61A2861-00A8-4096-9C88-4495FBD19187}"/>
              </a:ext>
            </a:extLst>
          </p:cNvPr>
          <p:cNvSpPr txBox="1"/>
          <p:nvPr/>
        </p:nvSpPr>
        <p:spPr>
          <a:xfrm>
            <a:off x="2482165" y="5861969"/>
            <a:ext cx="8083825" cy="646331"/>
          </a:xfrm>
          <a:prstGeom prst="rect">
            <a:avLst/>
          </a:prstGeom>
          <a:noFill/>
        </p:spPr>
        <p:txBody>
          <a:bodyPr wrap="square">
            <a:spAutoFit/>
          </a:bodyPr>
          <a:lstStyle/>
          <a:p>
            <a:r>
              <a:rPr lang="en-US" dirty="0"/>
              <a:t>Figure 3.14 Characteristics of a silicon transistor in the common-emitter configuration: (a) collector characteristics; (b) base characteristics.</a:t>
            </a:r>
          </a:p>
        </p:txBody>
      </p:sp>
      <p:pic>
        <p:nvPicPr>
          <p:cNvPr id="5" name="Picture 4"/>
          <p:cNvPicPr>
            <a:picLocks noChangeAspect="1"/>
          </p:cNvPicPr>
          <p:nvPr/>
        </p:nvPicPr>
        <p:blipFill>
          <a:blip r:embed="rId2"/>
          <a:stretch>
            <a:fillRect/>
          </a:stretch>
        </p:blipFill>
        <p:spPr>
          <a:xfrm>
            <a:off x="1220166" y="1690688"/>
            <a:ext cx="3718406" cy="3588810"/>
          </a:xfrm>
          <a:prstGeom prst="rect">
            <a:avLst/>
          </a:prstGeom>
        </p:spPr>
      </p:pic>
      <p:pic>
        <p:nvPicPr>
          <p:cNvPr id="6" name="Picture 5"/>
          <p:cNvPicPr>
            <a:picLocks noChangeAspect="1"/>
          </p:cNvPicPr>
          <p:nvPr/>
        </p:nvPicPr>
        <p:blipFill>
          <a:blip r:embed="rId3"/>
          <a:stretch>
            <a:fillRect/>
          </a:stretch>
        </p:blipFill>
        <p:spPr>
          <a:xfrm>
            <a:off x="5661421" y="1503326"/>
            <a:ext cx="5093663" cy="3963533"/>
          </a:xfrm>
          <a:prstGeom prst="rect">
            <a:avLst/>
          </a:prstGeom>
        </p:spPr>
      </p:pic>
      <p:sp>
        <p:nvSpPr>
          <p:cNvPr id="7" name="TextBox 6"/>
          <p:cNvSpPr txBox="1"/>
          <p:nvPr/>
        </p:nvSpPr>
        <p:spPr>
          <a:xfrm>
            <a:off x="2631811" y="5225079"/>
            <a:ext cx="447558" cy="369332"/>
          </a:xfrm>
          <a:prstGeom prst="rect">
            <a:avLst/>
          </a:prstGeom>
          <a:noFill/>
        </p:spPr>
        <p:txBody>
          <a:bodyPr wrap="none" rtlCol="0">
            <a:spAutoFit/>
          </a:bodyPr>
          <a:lstStyle/>
          <a:p>
            <a:r>
              <a:rPr lang="en-US"/>
              <a:t>(b)</a:t>
            </a:r>
          </a:p>
        </p:txBody>
      </p:sp>
      <p:sp>
        <p:nvSpPr>
          <p:cNvPr id="8" name="TextBox 7"/>
          <p:cNvSpPr txBox="1"/>
          <p:nvPr/>
        </p:nvSpPr>
        <p:spPr>
          <a:xfrm>
            <a:off x="8322863" y="5422216"/>
            <a:ext cx="436338" cy="369332"/>
          </a:xfrm>
          <a:prstGeom prst="rect">
            <a:avLst/>
          </a:prstGeom>
          <a:noFill/>
        </p:spPr>
        <p:txBody>
          <a:bodyPr wrap="none" rtlCol="0">
            <a:spAutoFit/>
          </a:bodyPr>
          <a:lstStyle/>
          <a:p>
            <a:r>
              <a:rPr lang="en-US"/>
              <a:t>(a)</a:t>
            </a:r>
          </a:p>
        </p:txBody>
      </p:sp>
    </p:spTree>
    <p:extLst>
      <p:ext uri="{BB962C8B-B14F-4D97-AF65-F5344CB8AC3E}">
        <p14:creationId xmlns:p14="http://schemas.microsoft.com/office/powerpoint/2010/main" val="4033367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2F40D8-DE6A-4DB1-A132-E351D3B0E21C}"/>
              </a:ext>
            </a:extLst>
          </p:cNvPr>
          <p:cNvSpPr txBox="1"/>
          <p:nvPr/>
        </p:nvSpPr>
        <p:spPr>
          <a:xfrm>
            <a:off x="1325217" y="499766"/>
            <a:ext cx="8534399" cy="646331"/>
          </a:xfrm>
          <a:prstGeom prst="rect">
            <a:avLst/>
          </a:prstGeom>
          <a:noFill/>
        </p:spPr>
        <p:txBody>
          <a:bodyPr wrap="square">
            <a:spAutoFit/>
          </a:bodyPr>
          <a:lstStyle/>
          <a:p>
            <a:r>
              <a:rPr lang="en-US" i="1" dirty="0">
                <a:solidFill>
                  <a:srgbClr val="0070C0"/>
                </a:solidFill>
              </a:rPr>
              <a:t>In the active region of a common-emitter amplifier the collector-base junction</a:t>
            </a:r>
          </a:p>
          <a:p>
            <a:r>
              <a:rPr lang="en-US" i="1" dirty="0">
                <a:solidFill>
                  <a:srgbClr val="0070C0"/>
                </a:solidFill>
              </a:rPr>
              <a:t>is reverse-biased, while the base-emitter junction is forward-biased</a:t>
            </a:r>
          </a:p>
        </p:txBody>
      </p:sp>
      <p:pic>
        <p:nvPicPr>
          <p:cNvPr id="5" name="Picture 4">
            <a:extLst>
              <a:ext uri="{FF2B5EF4-FFF2-40B4-BE49-F238E27FC236}">
                <a16:creationId xmlns:a16="http://schemas.microsoft.com/office/drawing/2014/main" id="{C48A07E7-FD91-4F61-A3D3-70409F2977B1}"/>
              </a:ext>
            </a:extLst>
          </p:cNvPr>
          <p:cNvPicPr>
            <a:picLocks noChangeAspect="1"/>
          </p:cNvPicPr>
          <p:nvPr/>
        </p:nvPicPr>
        <p:blipFill>
          <a:blip r:embed="rId2"/>
          <a:stretch>
            <a:fillRect/>
          </a:stretch>
        </p:blipFill>
        <p:spPr>
          <a:xfrm>
            <a:off x="1325217" y="1524000"/>
            <a:ext cx="9392636" cy="2317888"/>
          </a:xfrm>
          <a:prstGeom prst="rect">
            <a:avLst/>
          </a:prstGeom>
        </p:spPr>
      </p:pic>
      <p:pic>
        <p:nvPicPr>
          <p:cNvPr id="7" name="Picture 6">
            <a:extLst>
              <a:ext uri="{FF2B5EF4-FFF2-40B4-BE49-F238E27FC236}">
                <a16:creationId xmlns:a16="http://schemas.microsoft.com/office/drawing/2014/main" id="{331B8541-72E3-4C40-B2BD-B81C830D0950}"/>
              </a:ext>
            </a:extLst>
          </p:cNvPr>
          <p:cNvPicPr>
            <a:picLocks noChangeAspect="1"/>
          </p:cNvPicPr>
          <p:nvPr/>
        </p:nvPicPr>
        <p:blipFill>
          <a:blip r:embed="rId3"/>
          <a:stretch>
            <a:fillRect/>
          </a:stretch>
        </p:blipFill>
        <p:spPr>
          <a:xfrm>
            <a:off x="1325217" y="4065104"/>
            <a:ext cx="8876728" cy="2176669"/>
          </a:xfrm>
          <a:prstGeom prst="rect">
            <a:avLst/>
          </a:prstGeom>
        </p:spPr>
      </p:pic>
    </p:spTree>
    <p:extLst>
      <p:ext uri="{BB962C8B-B14F-4D97-AF65-F5344CB8AC3E}">
        <p14:creationId xmlns:p14="http://schemas.microsoft.com/office/powerpoint/2010/main" val="3958583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18F0F3-3C89-42BA-B739-C3394775F4CE}"/>
              </a:ext>
            </a:extLst>
          </p:cNvPr>
          <p:cNvPicPr>
            <a:picLocks noChangeAspect="1"/>
          </p:cNvPicPr>
          <p:nvPr/>
        </p:nvPicPr>
        <p:blipFill>
          <a:blip r:embed="rId2"/>
          <a:stretch>
            <a:fillRect/>
          </a:stretch>
        </p:blipFill>
        <p:spPr>
          <a:xfrm>
            <a:off x="1397458" y="1166191"/>
            <a:ext cx="8839097" cy="2262809"/>
          </a:xfrm>
          <a:prstGeom prst="rect">
            <a:avLst/>
          </a:prstGeom>
        </p:spPr>
      </p:pic>
      <p:sp>
        <p:nvSpPr>
          <p:cNvPr id="5" name="TextBox 4">
            <a:extLst>
              <a:ext uri="{FF2B5EF4-FFF2-40B4-BE49-F238E27FC236}">
                <a16:creationId xmlns:a16="http://schemas.microsoft.com/office/drawing/2014/main" id="{D4CD7A0C-DCA5-40D5-AF21-2E6733B04DA6}"/>
              </a:ext>
            </a:extLst>
          </p:cNvPr>
          <p:cNvSpPr txBox="1"/>
          <p:nvPr/>
        </p:nvSpPr>
        <p:spPr>
          <a:xfrm>
            <a:off x="1729060" y="4247148"/>
            <a:ext cx="6096000" cy="646331"/>
          </a:xfrm>
          <a:prstGeom prst="rect">
            <a:avLst/>
          </a:prstGeom>
          <a:noFill/>
        </p:spPr>
        <p:txBody>
          <a:bodyPr wrap="square">
            <a:spAutoFit/>
          </a:bodyPr>
          <a:lstStyle/>
          <a:p>
            <a:r>
              <a:rPr lang="en-US" i="1" dirty="0">
                <a:solidFill>
                  <a:srgbClr val="0070C0"/>
                </a:solidFill>
              </a:rPr>
              <a:t>For linear (least distortion) amplification purposes, cutoff for the </a:t>
            </a:r>
            <a:r>
              <a:rPr lang="en-US" i="1" dirty="0" err="1">
                <a:solidFill>
                  <a:srgbClr val="0070C0"/>
                </a:solidFill>
              </a:rPr>
              <a:t>commonemitter</a:t>
            </a:r>
            <a:r>
              <a:rPr lang="en-US" i="1" dirty="0">
                <a:solidFill>
                  <a:srgbClr val="0070C0"/>
                </a:solidFill>
              </a:rPr>
              <a:t> configuration will be defined by IC =  ICEO.</a:t>
            </a:r>
          </a:p>
        </p:txBody>
      </p:sp>
    </p:spTree>
    <p:extLst>
      <p:ext uri="{BB962C8B-B14F-4D97-AF65-F5344CB8AC3E}">
        <p14:creationId xmlns:p14="http://schemas.microsoft.com/office/powerpoint/2010/main" val="24350623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EBF231-3529-457A-8779-02F30EBBF6C4}"/>
              </a:ext>
            </a:extLst>
          </p:cNvPr>
          <p:cNvPicPr>
            <a:picLocks noChangeAspect="1"/>
          </p:cNvPicPr>
          <p:nvPr/>
        </p:nvPicPr>
        <p:blipFill>
          <a:blip r:embed="rId2"/>
          <a:stretch>
            <a:fillRect/>
          </a:stretch>
        </p:blipFill>
        <p:spPr>
          <a:xfrm>
            <a:off x="1312194" y="1014661"/>
            <a:ext cx="2244642" cy="798095"/>
          </a:xfrm>
          <a:prstGeom prst="rect">
            <a:avLst/>
          </a:prstGeom>
        </p:spPr>
      </p:pic>
      <p:pic>
        <p:nvPicPr>
          <p:cNvPr id="5" name="Picture 4">
            <a:extLst>
              <a:ext uri="{FF2B5EF4-FFF2-40B4-BE49-F238E27FC236}">
                <a16:creationId xmlns:a16="http://schemas.microsoft.com/office/drawing/2014/main" id="{E5E2331E-2C4F-47E3-8ADC-EFB2E226AA31}"/>
              </a:ext>
            </a:extLst>
          </p:cNvPr>
          <p:cNvPicPr>
            <a:picLocks noChangeAspect="1"/>
          </p:cNvPicPr>
          <p:nvPr/>
        </p:nvPicPr>
        <p:blipFill>
          <a:blip r:embed="rId3"/>
          <a:stretch>
            <a:fillRect/>
          </a:stretch>
        </p:blipFill>
        <p:spPr>
          <a:xfrm>
            <a:off x="1493920" y="1941095"/>
            <a:ext cx="5214044" cy="1023186"/>
          </a:xfrm>
          <a:prstGeom prst="rect">
            <a:avLst/>
          </a:prstGeom>
        </p:spPr>
      </p:pic>
      <p:pic>
        <p:nvPicPr>
          <p:cNvPr id="7" name="Picture 6">
            <a:extLst>
              <a:ext uri="{FF2B5EF4-FFF2-40B4-BE49-F238E27FC236}">
                <a16:creationId xmlns:a16="http://schemas.microsoft.com/office/drawing/2014/main" id="{96398F63-1B56-420B-8A8C-9BC367DDDA94}"/>
              </a:ext>
            </a:extLst>
          </p:cNvPr>
          <p:cNvPicPr>
            <a:picLocks noChangeAspect="1"/>
          </p:cNvPicPr>
          <p:nvPr/>
        </p:nvPicPr>
        <p:blipFill>
          <a:blip r:embed="rId4"/>
          <a:stretch>
            <a:fillRect/>
          </a:stretch>
        </p:blipFill>
        <p:spPr>
          <a:xfrm>
            <a:off x="1493920" y="3095625"/>
            <a:ext cx="6080648" cy="1023186"/>
          </a:xfrm>
          <a:prstGeom prst="rect">
            <a:avLst/>
          </a:prstGeom>
        </p:spPr>
      </p:pic>
      <p:sp>
        <p:nvSpPr>
          <p:cNvPr id="2" name="TextBox 1"/>
          <p:cNvSpPr txBox="1"/>
          <p:nvPr/>
        </p:nvSpPr>
        <p:spPr>
          <a:xfrm>
            <a:off x="1493920" y="4563035"/>
            <a:ext cx="9732088" cy="646331"/>
          </a:xfrm>
          <a:prstGeom prst="rect">
            <a:avLst/>
          </a:prstGeom>
          <a:noFill/>
        </p:spPr>
        <p:txBody>
          <a:bodyPr wrap="none" rtlCol="0">
            <a:spAutoFit/>
          </a:bodyPr>
          <a:lstStyle/>
          <a:p>
            <a:r>
              <a:rPr lang="en-US"/>
              <a:t>Bila Ic yang dihasilkan pada grafik tidak “datar” (tidak konstan) maka kita bisa gunakan persamaan ini. </a:t>
            </a:r>
          </a:p>
          <a:p>
            <a:r>
              <a:rPr lang="en-US"/>
              <a:t>Lihat cara penerapannya pada slide berikut.</a:t>
            </a:r>
          </a:p>
        </p:txBody>
      </p:sp>
      <p:cxnSp>
        <p:nvCxnSpPr>
          <p:cNvPr id="6" name="Straight Arrow Connector 5"/>
          <p:cNvCxnSpPr/>
          <p:nvPr/>
        </p:nvCxnSpPr>
        <p:spPr>
          <a:xfrm flipH="1" flipV="1">
            <a:off x="3962400" y="4118811"/>
            <a:ext cx="421341" cy="444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8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BC9A5A-A908-4BAB-BB10-A39D63049104}"/>
              </a:ext>
            </a:extLst>
          </p:cNvPr>
          <p:cNvPicPr>
            <a:picLocks noChangeAspect="1"/>
          </p:cNvPicPr>
          <p:nvPr/>
        </p:nvPicPr>
        <p:blipFill>
          <a:blip r:embed="rId2"/>
          <a:stretch>
            <a:fillRect/>
          </a:stretch>
        </p:blipFill>
        <p:spPr>
          <a:xfrm>
            <a:off x="701488" y="386603"/>
            <a:ext cx="5726206" cy="4747677"/>
          </a:xfrm>
          <a:prstGeom prst="rect">
            <a:avLst/>
          </a:prstGeom>
        </p:spPr>
      </p:pic>
      <p:sp>
        <p:nvSpPr>
          <p:cNvPr id="2" name="TextBox 1"/>
          <p:cNvSpPr txBox="1"/>
          <p:nvPr/>
        </p:nvSpPr>
        <p:spPr>
          <a:xfrm>
            <a:off x="701488" y="5268773"/>
            <a:ext cx="6902823" cy="923330"/>
          </a:xfrm>
          <a:prstGeom prst="rect">
            <a:avLst/>
          </a:prstGeom>
          <a:noFill/>
        </p:spPr>
        <p:txBody>
          <a:bodyPr wrap="square" rtlCol="0">
            <a:spAutoFit/>
          </a:bodyPr>
          <a:lstStyle/>
          <a:p>
            <a:r>
              <a:rPr lang="en-US"/>
              <a:t>Disini terlihat Ic ada kecenderungan menaik sedikit, maka kita tentukan Delta Ic dengan 2 garis, lalu dapatkan delta Ib </a:t>
            </a:r>
            <a:r>
              <a:rPr lang="en-US">
                <a:sym typeface="Wingdings" panose="05000000000000000000" pitchFamily="2" charset="2"/>
              </a:rPr>
              <a:t>maka beta = delta Ic / delta Ib</a:t>
            </a:r>
            <a:endParaRPr lang="en-US"/>
          </a:p>
        </p:txBody>
      </p:sp>
      <p:pic>
        <p:nvPicPr>
          <p:cNvPr id="4" name="Picture 3">
            <a:extLst>
              <a:ext uri="{FF2B5EF4-FFF2-40B4-BE49-F238E27FC236}">
                <a16:creationId xmlns:a16="http://schemas.microsoft.com/office/drawing/2014/main" id="{BE80E53B-42A1-4D0E-87FD-D91A8DBAF8DC}"/>
              </a:ext>
            </a:extLst>
          </p:cNvPr>
          <p:cNvPicPr>
            <a:picLocks noChangeAspect="1"/>
          </p:cNvPicPr>
          <p:nvPr/>
        </p:nvPicPr>
        <p:blipFill>
          <a:blip r:embed="rId3"/>
          <a:stretch>
            <a:fillRect/>
          </a:stretch>
        </p:blipFill>
        <p:spPr>
          <a:xfrm>
            <a:off x="6664122" y="987031"/>
            <a:ext cx="5090404" cy="2085976"/>
          </a:xfrm>
          <a:prstGeom prst="rect">
            <a:avLst/>
          </a:prstGeom>
        </p:spPr>
      </p:pic>
      <p:pic>
        <p:nvPicPr>
          <p:cNvPr id="5" name="Picture 4">
            <a:extLst>
              <a:ext uri="{FF2B5EF4-FFF2-40B4-BE49-F238E27FC236}">
                <a16:creationId xmlns:a16="http://schemas.microsoft.com/office/drawing/2014/main" id="{7F26B738-B2C8-4A33-A2A9-1B97811CDDF9}"/>
              </a:ext>
            </a:extLst>
          </p:cNvPr>
          <p:cNvPicPr>
            <a:picLocks noChangeAspect="1"/>
          </p:cNvPicPr>
          <p:nvPr/>
        </p:nvPicPr>
        <p:blipFill>
          <a:blip r:embed="rId4"/>
          <a:stretch>
            <a:fillRect/>
          </a:stretch>
        </p:blipFill>
        <p:spPr>
          <a:xfrm>
            <a:off x="7134462" y="3568310"/>
            <a:ext cx="4425198" cy="1205160"/>
          </a:xfrm>
          <a:prstGeom prst="rect">
            <a:avLst/>
          </a:prstGeom>
        </p:spPr>
      </p:pic>
    </p:spTree>
    <p:extLst>
      <p:ext uri="{BB962C8B-B14F-4D97-AF65-F5344CB8AC3E}">
        <p14:creationId xmlns:p14="http://schemas.microsoft.com/office/powerpoint/2010/main" val="2095486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5E1F98-E252-47E6-BE61-D36547871D45}"/>
              </a:ext>
            </a:extLst>
          </p:cNvPr>
          <p:cNvPicPr>
            <a:picLocks noChangeAspect="1"/>
          </p:cNvPicPr>
          <p:nvPr/>
        </p:nvPicPr>
        <p:blipFill>
          <a:blip r:embed="rId2"/>
          <a:stretch>
            <a:fillRect/>
          </a:stretch>
        </p:blipFill>
        <p:spPr>
          <a:xfrm>
            <a:off x="1042766" y="466165"/>
            <a:ext cx="5220075" cy="3361766"/>
          </a:xfrm>
          <a:prstGeom prst="rect">
            <a:avLst/>
          </a:prstGeom>
        </p:spPr>
      </p:pic>
      <p:pic>
        <p:nvPicPr>
          <p:cNvPr id="5" name="Picture 4">
            <a:extLst>
              <a:ext uri="{FF2B5EF4-FFF2-40B4-BE49-F238E27FC236}">
                <a16:creationId xmlns:a16="http://schemas.microsoft.com/office/drawing/2014/main" id="{22C2FBF5-93E2-4F91-BBF3-F3BCA6317F06}"/>
              </a:ext>
            </a:extLst>
          </p:cNvPr>
          <p:cNvPicPr>
            <a:picLocks noChangeAspect="1"/>
          </p:cNvPicPr>
          <p:nvPr/>
        </p:nvPicPr>
        <p:blipFill>
          <a:blip r:embed="rId3"/>
          <a:stretch>
            <a:fillRect/>
          </a:stretch>
        </p:blipFill>
        <p:spPr>
          <a:xfrm>
            <a:off x="764387" y="4059260"/>
            <a:ext cx="7097659" cy="449036"/>
          </a:xfrm>
          <a:prstGeom prst="rect">
            <a:avLst/>
          </a:prstGeom>
        </p:spPr>
      </p:pic>
      <p:pic>
        <p:nvPicPr>
          <p:cNvPr id="4" name="Picture 3">
            <a:extLst>
              <a:ext uri="{FF2B5EF4-FFF2-40B4-BE49-F238E27FC236}">
                <a16:creationId xmlns:a16="http://schemas.microsoft.com/office/drawing/2014/main" id="{D078102A-24C8-4292-BE90-3D1693696508}"/>
              </a:ext>
            </a:extLst>
          </p:cNvPr>
          <p:cNvPicPr>
            <a:picLocks noChangeAspect="1"/>
          </p:cNvPicPr>
          <p:nvPr/>
        </p:nvPicPr>
        <p:blipFill>
          <a:blip r:embed="rId4"/>
          <a:stretch>
            <a:fillRect/>
          </a:stretch>
        </p:blipFill>
        <p:spPr>
          <a:xfrm>
            <a:off x="2640772" y="4833392"/>
            <a:ext cx="6870781" cy="1542420"/>
          </a:xfrm>
          <a:prstGeom prst="rect">
            <a:avLst/>
          </a:prstGeom>
        </p:spPr>
      </p:pic>
    </p:spTree>
    <p:extLst>
      <p:ext uri="{BB962C8B-B14F-4D97-AF65-F5344CB8AC3E}">
        <p14:creationId xmlns:p14="http://schemas.microsoft.com/office/powerpoint/2010/main" val="4025229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Hubungan antara Beta dan Alpha</a:t>
            </a:r>
          </a:p>
        </p:txBody>
      </p:sp>
      <p:pic>
        <p:nvPicPr>
          <p:cNvPr id="4" name="Picture 3">
            <a:extLst>
              <a:ext uri="{FF2B5EF4-FFF2-40B4-BE49-F238E27FC236}">
                <a16:creationId xmlns:a16="http://schemas.microsoft.com/office/drawing/2014/main" id="{8AE6D41B-E8CE-471E-9AC9-322D9F6608DA}"/>
              </a:ext>
            </a:extLst>
          </p:cNvPr>
          <p:cNvPicPr>
            <a:picLocks noChangeAspect="1"/>
          </p:cNvPicPr>
          <p:nvPr/>
        </p:nvPicPr>
        <p:blipFill>
          <a:blip r:embed="rId2"/>
          <a:stretch>
            <a:fillRect/>
          </a:stretch>
        </p:blipFill>
        <p:spPr>
          <a:xfrm>
            <a:off x="1294385" y="1806862"/>
            <a:ext cx="9741167" cy="3917480"/>
          </a:xfrm>
          <a:prstGeom prst="rect">
            <a:avLst/>
          </a:prstGeom>
        </p:spPr>
      </p:pic>
    </p:spTree>
    <p:extLst>
      <p:ext uri="{BB962C8B-B14F-4D97-AF65-F5344CB8AC3E}">
        <p14:creationId xmlns:p14="http://schemas.microsoft.com/office/powerpoint/2010/main" val="3309670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92F4F3-0D2C-4C4F-B8E6-595523B1E183}"/>
              </a:ext>
            </a:extLst>
          </p:cNvPr>
          <p:cNvPicPr>
            <a:picLocks noChangeAspect="1"/>
          </p:cNvPicPr>
          <p:nvPr/>
        </p:nvPicPr>
        <p:blipFill>
          <a:blip r:embed="rId2"/>
          <a:stretch>
            <a:fillRect/>
          </a:stretch>
        </p:blipFill>
        <p:spPr>
          <a:xfrm>
            <a:off x="1363579" y="1173289"/>
            <a:ext cx="9991155" cy="4762290"/>
          </a:xfrm>
          <a:prstGeom prst="rect">
            <a:avLst/>
          </a:prstGeom>
        </p:spPr>
      </p:pic>
    </p:spTree>
    <p:extLst>
      <p:ext uri="{BB962C8B-B14F-4D97-AF65-F5344CB8AC3E}">
        <p14:creationId xmlns:p14="http://schemas.microsoft.com/office/powerpoint/2010/main" val="899105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B6912E-C740-4262-B125-ADB4B2F989DF}"/>
              </a:ext>
            </a:extLst>
          </p:cNvPr>
          <p:cNvPicPr>
            <a:picLocks noChangeAspect="1"/>
          </p:cNvPicPr>
          <p:nvPr/>
        </p:nvPicPr>
        <p:blipFill>
          <a:blip r:embed="rId2"/>
          <a:stretch>
            <a:fillRect/>
          </a:stretch>
        </p:blipFill>
        <p:spPr>
          <a:xfrm>
            <a:off x="1343752" y="721895"/>
            <a:ext cx="9575955" cy="5374105"/>
          </a:xfrm>
          <a:prstGeom prst="rect">
            <a:avLst/>
          </a:prstGeom>
        </p:spPr>
      </p:pic>
    </p:spTree>
    <p:extLst>
      <p:ext uri="{BB962C8B-B14F-4D97-AF65-F5344CB8AC3E}">
        <p14:creationId xmlns:p14="http://schemas.microsoft.com/office/powerpoint/2010/main" val="2177298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Resume Konfigurasi Transistor</a:t>
            </a:r>
          </a:p>
        </p:txBody>
      </p:sp>
      <p:pic>
        <p:nvPicPr>
          <p:cNvPr id="4" name="Picture 3"/>
          <p:cNvPicPr>
            <a:picLocks noChangeAspect="1"/>
          </p:cNvPicPr>
          <p:nvPr/>
        </p:nvPicPr>
        <p:blipFill>
          <a:blip r:embed="rId2"/>
          <a:stretch>
            <a:fillRect/>
          </a:stretch>
        </p:blipFill>
        <p:spPr>
          <a:xfrm>
            <a:off x="391395" y="2384813"/>
            <a:ext cx="1488375" cy="2413250"/>
          </a:xfrm>
          <a:prstGeom prst="rect">
            <a:avLst/>
          </a:prstGeom>
        </p:spPr>
      </p:pic>
      <p:pic>
        <p:nvPicPr>
          <p:cNvPr id="5" name="Picture 4"/>
          <p:cNvPicPr>
            <a:picLocks noChangeAspect="1"/>
          </p:cNvPicPr>
          <p:nvPr/>
        </p:nvPicPr>
        <p:blipFill>
          <a:blip r:embed="rId3"/>
          <a:stretch>
            <a:fillRect/>
          </a:stretch>
        </p:blipFill>
        <p:spPr>
          <a:xfrm>
            <a:off x="2090242" y="2384812"/>
            <a:ext cx="1551376" cy="2413251"/>
          </a:xfrm>
          <a:prstGeom prst="rect">
            <a:avLst/>
          </a:prstGeom>
        </p:spPr>
      </p:pic>
      <p:sp>
        <p:nvSpPr>
          <p:cNvPr id="9" name="TextBox 8"/>
          <p:cNvSpPr txBox="1"/>
          <p:nvPr/>
        </p:nvSpPr>
        <p:spPr>
          <a:xfrm>
            <a:off x="913513" y="3590152"/>
            <a:ext cx="444138" cy="246221"/>
          </a:xfrm>
          <a:prstGeom prst="rect">
            <a:avLst/>
          </a:prstGeom>
          <a:noFill/>
        </p:spPr>
        <p:txBody>
          <a:bodyPr wrap="square" rtlCol="0">
            <a:spAutoFit/>
          </a:bodyPr>
          <a:lstStyle/>
          <a:p>
            <a:r>
              <a:rPr lang="en-US" sz="1000">
                <a:solidFill>
                  <a:srgbClr val="FF0000"/>
                </a:solidFill>
              </a:rPr>
              <a:t>GND</a:t>
            </a:r>
          </a:p>
        </p:txBody>
      </p:sp>
      <p:sp>
        <p:nvSpPr>
          <p:cNvPr id="10" name="TextBox 9"/>
          <p:cNvSpPr txBox="1"/>
          <p:nvPr/>
        </p:nvSpPr>
        <p:spPr>
          <a:xfrm>
            <a:off x="2627499" y="3590152"/>
            <a:ext cx="444138" cy="246221"/>
          </a:xfrm>
          <a:prstGeom prst="rect">
            <a:avLst/>
          </a:prstGeom>
          <a:noFill/>
        </p:spPr>
        <p:txBody>
          <a:bodyPr wrap="square" rtlCol="0">
            <a:spAutoFit/>
          </a:bodyPr>
          <a:lstStyle/>
          <a:p>
            <a:r>
              <a:rPr lang="en-US" sz="1000">
                <a:solidFill>
                  <a:srgbClr val="FF0000"/>
                </a:solidFill>
              </a:rPr>
              <a:t>GND</a:t>
            </a:r>
          </a:p>
        </p:txBody>
      </p:sp>
      <p:sp>
        <p:nvSpPr>
          <p:cNvPr id="15" name="Rectangle 14"/>
          <p:cNvSpPr/>
          <p:nvPr/>
        </p:nvSpPr>
        <p:spPr>
          <a:xfrm>
            <a:off x="648276" y="1811817"/>
            <a:ext cx="2883931" cy="369332"/>
          </a:xfrm>
          <a:prstGeom prst="rect">
            <a:avLst/>
          </a:prstGeom>
        </p:spPr>
        <p:txBody>
          <a:bodyPr wrap="none">
            <a:spAutoFit/>
          </a:bodyPr>
          <a:lstStyle/>
          <a:p>
            <a:r>
              <a:rPr lang="en-US"/>
              <a:t>Common-Base Configuration</a:t>
            </a:r>
          </a:p>
        </p:txBody>
      </p:sp>
      <p:sp>
        <p:nvSpPr>
          <p:cNvPr id="25" name="TextBox 24"/>
          <p:cNvSpPr txBox="1"/>
          <p:nvPr/>
        </p:nvSpPr>
        <p:spPr>
          <a:xfrm>
            <a:off x="1440864" y="5013078"/>
            <a:ext cx="1298753" cy="738664"/>
          </a:xfrm>
          <a:prstGeom prst="rect">
            <a:avLst/>
          </a:prstGeom>
          <a:noFill/>
        </p:spPr>
        <p:txBody>
          <a:bodyPr wrap="none" rtlCol="0">
            <a:spAutoFit/>
          </a:bodyPr>
          <a:lstStyle/>
          <a:p>
            <a:r>
              <a:rPr lang="en-US" sz="1400"/>
              <a:t>Ie = Ic + Ib =&gt; Ic</a:t>
            </a:r>
          </a:p>
          <a:p>
            <a:r>
              <a:rPr lang="en-US" sz="1400"/>
              <a:t>Veb</a:t>
            </a:r>
          </a:p>
          <a:p>
            <a:r>
              <a:rPr lang="en-US" sz="1400"/>
              <a:t>Vcb</a:t>
            </a:r>
          </a:p>
        </p:txBody>
      </p:sp>
      <p:grpSp>
        <p:nvGrpSpPr>
          <p:cNvPr id="19" name="Group 18">
            <a:extLst>
              <a:ext uri="{FF2B5EF4-FFF2-40B4-BE49-F238E27FC236}">
                <a16:creationId xmlns:a16="http://schemas.microsoft.com/office/drawing/2014/main" id="{87AE0DB6-303F-075B-7DF4-A5B531883F0D}"/>
              </a:ext>
            </a:extLst>
          </p:cNvPr>
          <p:cNvGrpSpPr/>
          <p:nvPr/>
        </p:nvGrpSpPr>
        <p:grpSpPr>
          <a:xfrm>
            <a:off x="8325196" y="1852094"/>
            <a:ext cx="3405369" cy="3968558"/>
            <a:chOff x="4161417" y="1811817"/>
            <a:chExt cx="3405369" cy="3968558"/>
          </a:xfrm>
        </p:grpSpPr>
        <p:pic>
          <p:nvPicPr>
            <p:cNvPr id="3" name="Picture 2"/>
            <p:cNvPicPr>
              <a:picLocks noChangeAspect="1"/>
            </p:cNvPicPr>
            <p:nvPr/>
          </p:nvPicPr>
          <p:blipFill>
            <a:blip r:embed="rId4"/>
            <a:stretch>
              <a:fillRect/>
            </a:stretch>
          </p:blipFill>
          <p:spPr>
            <a:xfrm>
              <a:off x="5875403" y="2384810"/>
              <a:ext cx="1691383" cy="2413251"/>
            </a:xfrm>
            <a:prstGeom prst="rect">
              <a:avLst/>
            </a:prstGeom>
          </p:spPr>
        </p:pic>
        <p:pic>
          <p:nvPicPr>
            <p:cNvPr id="6" name="Picture 5"/>
            <p:cNvPicPr>
              <a:picLocks noChangeAspect="1"/>
            </p:cNvPicPr>
            <p:nvPr/>
          </p:nvPicPr>
          <p:blipFill>
            <a:blip r:embed="rId5"/>
            <a:stretch>
              <a:fillRect/>
            </a:stretch>
          </p:blipFill>
          <p:spPr>
            <a:xfrm>
              <a:off x="4161417" y="2384811"/>
              <a:ext cx="1713986" cy="2413251"/>
            </a:xfrm>
            <a:prstGeom prst="rect">
              <a:avLst/>
            </a:prstGeom>
          </p:spPr>
        </p:pic>
        <p:sp>
          <p:nvSpPr>
            <p:cNvPr id="11" name="TextBox 10"/>
            <p:cNvSpPr txBox="1"/>
            <p:nvPr/>
          </p:nvSpPr>
          <p:spPr>
            <a:xfrm>
              <a:off x="4673942" y="3590151"/>
              <a:ext cx="444138" cy="246221"/>
            </a:xfrm>
            <a:prstGeom prst="rect">
              <a:avLst/>
            </a:prstGeom>
            <a:noFill/>
          </p:spPr>
          <p:txBody>
            <a:bodyPr wrap="square" rtlCol="0">
              <a:spAutoFit/>
            </a:bodyPr>
            <a:lstStyle/>
            <a:p>
              <a:r>
                <a:rPr lang="en-US" sz="1000">
                  <a:solidFill>
                    <a:srgbClr val="FF0000"/>
                  </a:solidFill>
                </a:rPr>
                <a:t>GND</a:t>
              </a:r>
            </a:p>
          </p:txBody>
        </p:sp>
        <p:sp>
          <p:nvSpPr>
            <p:cNvPr id="12" name="TextBox 11"/>
            <p:cNvSpPr txBox="1"/>
            <p:nvPr/>
          </p:nvSpPr>
          <p:spPr>
            <a:xfrm>
              <a:off x="6363238" y="3590150"/>
              <a:ext cx="444138" cy="246221"/>
            </a:xfrm>
            <a:prstGeom prst="rect">
              <a:avLst/>
            </a:prstGeom>
            <a:noFill/>
          </p:spPr>
          <p:txBody>
            <a:bodyPr wrap="square" rtlCol="0">
              <a:spAutoFit/>
            </a:bodyPr>
            <a:lstStyle/>
            <a:p>
              <a:r>
                <a:rPr lang="en-US" sz="1000">
                  <a:solidFill>
                    <a:srgbClr val="FF0000"/>
                  </a:solidFill>
                </a:rPr>
                <a:t>GND</a:t>
              </a:r>
            </a:p>
          </p:txBody>
        </p:sp>
        <p:sp>
          <p:nvSpPr>
            <p:cNvPr id="16" name="Rectangle 15"/>
            <p:cNvSpPr/>
            <p:nvPr/>
          </p:nvSpPr>
          <p:spPr>
            <a:xfrm>
              <a:off x="4161417" y="1811817"/>
              <a:ext cx="3136243" cy="369332"/>
            </a:xfrm>
            <a:prstGeom prst="rect">
              <a:avLst/>
            </a:prstGeom>
          </p:spPr>
          <p:txBody>
            <a:bodyPr wrap="none">
              <a:spAutoFit/>
            </a:bodyPr>
            <a:lstStyle/>
            <a:p>
              <a:r>
                <a:rPr lang="en-US"/>
                <a:t>Common-Emitter Configuration</a:t>
              </a:r>
            </a:p>
          </p:txBody>
        </p:sp>
        <p:sp>
          <p:nvSpPr>
            <p:cNvPr id="27" name="TextBox 26"/>
            <p:cNvSpPr txBox="1"/>
            <p:nvPr/>
          </p:nvSpPr>
          <p:spPr>
            <a:xfrm>
              <a:off x="5226026" y="5041711"/>
              <a:ext cx="1298753" cy="738664"/>
            </a:xfrm>
            <a:prstGeom prst="rect">
              <a:avLst/>
            </a:prstGeom>
            <a:noFill/>
          </p:spPr>
          <p:txBody>
            <a:bodyPr wrap="none" rtlCol="0">
              <a:spAutoFit/>
            </a:bodyPr>
            <a:lstStyle/>
            <a:p>
              <a:r>
                <a:rPr lang="en-US" sz="1400"/>
                <a:t>Ie = Ic + Ib =&gt; Ic</a:t>
              </a:r>
            </a:p>
            <a:p>
              <a:r>
                <a:rPr lang="en-US" sz="1400"/>
                <a:t>Vbe</a:t>
              </a:r>
            </a:p>
            <a:p>
              <a:r>
                <a:rPr lang="en-US" sz="1400"/>
                <a:t>Vce</a:t>
              </a:r>
            </a:p>
          </p:txBody>
        </p:sp>
      </p:grpSp>
      <p:grpSp>
        <p:nvGrpSpPr>
          <p:cNvPr id="18" name="Group 17">
            <a:extLst>
              <a:ext uri="{FF2B5EF4-FFF2-40B4-BE49-F238E27FC236}">
                <a16:creationId xmlns:a16="http://schemas.microsoft.com/office/drawing/2014/main" id="{1294B74A-9873-3A1C-4CEC-0BF805E0AB10}"/>
              </a:ext>
            </a:extLst>
          </p:cNvPr>
          <p:cNvGrpSpPr/>
          <p:nvPr/>
        </p:nvGrpSpPr>
        <p:grpSpPr>
          <a:xfrm>
            <a:off x="4178875" y="1852094"/>
            <a:ext cx="3534360" cy="3968558"/>
            <a:chOff x="8154418" y="1811817"/>
            <a:chExt cx="3534360" cy="3968558"/>
          </a:xfrm>
        </p:grpSpPr>
        <p:pic>
          <p:nvPicPr>
            <p:cNvPr id="7" name="Picture 6"/>
            <p:cNvPicPr>
              <a:picLocks noChangeAspect="1"/>
            </p:cNvPicPr>
            <p:nvPr/>
          </p:nvPicPr>
          <p:blipFill>
            <a:blip r:embed="rId6"/>
            <a:stretch>
              <a:fillRect/>
            </a:stretch>
          </p:blipFill>
          <p:spPr>
            <a:xfrm>
              <a:off x="8154418" y="2382243"/>
              <a:ext cx="1741877" cy="2415818"/>
            </a:xfrm>
            <a:prstGeom prst="rect">
              <a:avLst/>
            </a:prstGeom>
          </p:spPr>
        </p:pic>
        <p:pic>
          <p:nvPicPr>
            <p:cNvPr id="8" name="Picture 7"/>
            <p:cNvPicPr>
              <a:picLocks noChangeAspect="1"/>
            </p:cNvPicPr>
            <p:nvPr/>
          </p:nvPicPr>
          <p:blipFill>
            <a:blip r:embed="rId7"/>
            <a:stretch>
              <a:fillRect/>
            </a:stretch>
          </p:blipFill>
          <p:spPr>
            <a:xfrm>
              <a:off x="9936396" y="2382243"/>
              <a:ext cx="1752382" cy="2421191"/>
            </a:xfrm>
            <a:prstGeom prst="rect">
              <a:avLst/>
            </a:prstGeom>
          </p:spPr>
        </p:pic>
        <p:sp>
          <p:nvSpPr>
            <p:cNvPr id="13" name="TextBox 12"/>
            <p:cNvSpPr txBox="1"/>
            <p:nvPr/>
          </p:nvSpPr>
          <p:spPr>
            <a:xfrm>
              <a:off x="8722378" y="3467041"/>
              <a:ext cx="444138" cy="246221"/>
            </a:xfrm>
            <a:prstGeom prst="rect">
              <a:avLst/>
            </a:prstGeom>
            <a:noFill/>
          </p:spPr>
          <p:txBody>
            <a:bodyPr wrap="square" rtlCol="0">
              <a:spAutoFit/>
            </a:bodyPr>
            <a:lstStyle/>
            <a:p>
              <a:r>
                <a:rPr lang="en-US" sz="1000">
                  <a:solidFill>
                    <a:srgbClr val="FF0000"/>
                  </a:solidFill>
                </a:rPr>
                <a:t>GND</a:t>
              </a:r>
            </a:p>
          </p:txBody>
        </p:sp>
        <p:sp>
          <p:nvSpPr>
            <p:cNvPr id="14" name="TextBox 13"/>
            <p:cNvSpPr txBox="1"/>
            <p:nvPr/>
          </p:nvSpPr>
          <p:spPr>
            <a:xfrm>
              <a:off x="10487317" y="3467041"/>
              <a:ext cx="444138" cy="246221"/>
            </a:xfrm>
            <a:prstGeom prst="rect">
              <a:avLst/>
            </a:prstGeom>
            <a:noFill/>
          </p:spPr>
          <p:txBody>
            <a:bodyPr wrap="square" rtlCol="0">
              <a:spAutoFit/>
            </a:bodyPr>
            <a:lstStyle/>
            <a:p>
              <a:r>
                <a:rPr lang="en-US" sz="1000">
                  <a:solidFill>
                    <a:srgbClr val="FF0000"/>
                  </a:solidFill>
                </a:rPr>
                <a:t>GND</a:t>
              </a:r>
            </a:p>
          </p:txBody>
        </p:sp>
        <p:sp>
          <p:nvSpPr>
            <p:cNvPr id="17" name="Rectangle 16"/>
            <p:cNvSpPr/>
            <p:nvPr/>
          </p:nvSpPr>
          <p:spPr>
            <a:xfrm>
              <a:off x="8254274" y="1811817"/>
              <a:ext cx="3284041" cy="369332"/>
            </a:xfrm>
            <a:prstGeom prst="rect">
              <a:avLst/>
            </a:prstGeom>
          </p:spPr>
          <p:txBody>
            <a:bodyPr wrap="none">
              <a:spAutoFit/>
            </a:bodyPr>
            <a:lstStyle/>
            <a:p>
              <a:r>
                <a:rPr lang="en-US"/>
                <a:t>Common-Collector Configuration</a:t>
              </a:r>
            </a:p>
          </p:txBody>
        </p:sp>
        <p:sp>
          <p:nvSpPr>
            <p:cNvPr id="28" name="TextBox 27"/>
            <p:cNvSpPr txBox="1"/>
            <p:nvPr/>
          </p:nvSpPr>
          <p:spPr>
            <a:xfrm>
              <a:off x="9287019" y="5041711"/>
              <a:ext cx="1298753" cy="738664"/>
            </a:xfrm>
            <a:prstGeom prst="rect">
              <a:avLst/>
            </a:prstGeom>
            <a:noFill/>
          </p:spPr>
          <p:txBody>
            <a:bodyPr wrap="none" rtlCol="0">
              <a:spAutoFit/>
            </a:bodyPr>
            <a:lstStyle/>
            <a:p>
              <a:r>
                <a:rPr lang="en-US" sz="1400"/>
                <a:t>Ie = Ic + Ib =&gt; Ic</a:t>
              </a:r>
            </a:p>
            <a:p>
              <a:r>
                <a:rPr lang="en-US" sz="1400"/>
                <a:t>Vbc</a:t>
              </a:r>
            </a:p>
            <a:p>
              <a:r>
                <a:rPr lang="en-US" sz="1400"/>
                <a:t>Vec</a:t>
              </a:r>
            </a:p>
          </p:txBody>
        </p:sp>
      </p:grpSp>
    </p:spTree>
    <p:extLst>
      <p:ext uri="{BB962C8B-B14F-4D97-AF65-F5344CB8AC3E}">
        <p14:creationId xmlns:p14="http://schemas.microsoft.com/office/powerpoint/2010/main" val="79066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2070</TotalTime>
  <Words>1056</Words>
  <Application>Microsoft Office PowerPoint</Application>
  <PresentationFormat>Widescreen</PresentationFormat>
  <Paragraphs>107</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Symbol</vt:lpstr>
      <vt:lpstr>Wingdings</vt:lpstr>
      <vt:lpstr>Office Theme</vt:lpstr>
      <vt:lpstr>Apa yang dimaksud dengan konfigurasi transistor?</vt:lpstr>
      <vt:lpstr>Konfigurasi Transistor BJT</vt:lpstr>
      <vt:lpstr>Common-Base Configuration</vt:lpstr>
      <vt:lpstr>PowerPoint Presentation</vt:lpstr>
      <vt:lpstr>Karakteristik Input dan Output Transistor Common-Base</vt:lpstr>
      <vt:lpstr>Regions of Transistor: Active Region, Cut-off Region dan Saturation Region</vt:lpstr>
      <vt:lpstr>PowerPoint Presentation</vt:lpstr>
      <vt:lpstr>PowerPoint Presentation</vt:lpstr>
      <vt:lpstr>PowerPoint Presentation</vt:lpstr>
      <vt:lpstr>PowerPoint Presentation</vt:lpstr>
      <vt:lpstr>PowerPoint Presentation</vt:lpstr>
      <vt:lpstr>Common-Collector Configuration</vt:lpstr>
      <vt:lpstr>PowerPoint Presentation</vt:lpstr>
      <vt:lpstr>PowerPoint Presentation</vt:lpstr>
      <vt:lpstr>Cara Menggambarkan Konfigurasi Transistor</vt:lpstr>
      <vt:lpstr>Latihan</vt:lpstr>
      <vt:lpstr>PowerPoint Presentation</vt:lpstr>
      <vt:lpstr>PowerPoint Presentation</vt:lpstr>
      <vt:lpstr>Common-Emitter Configuration</vt:lpstr>
      <vt:lpstr>PowerPoint Presentation</vt:lpstr>
      <vt:lpstr>PowerPoint Presentation</vt:lpstr>
      <vt:lpstr>Karakteristik Input dan Output Transistor Common-Emitter</vt:lpstr>
      <vt:lpstr>PowerPoint Presentation</vt:lpstr>
      <vt:lpstr>PowerPoint Presentation</vt:lpstr>
      <vt:lpstr>PowerPoint Presentation</vt:lpstr>
      <vt:lpstr>PowerPoint Presentation</vt:lpstr>
      <vt:lpstr>PowerPoint Presentation</vt:lpstr>
      <vt:lpstr>Hubungan antara Beta dan Alpha</vt:lpstr>
      <vt:lpstr>PowerPoint Presentation</vt:lpstr>
      <vt:lpstr>PowerPoint Presentation</vt:lpstr>
      <vt:lpstr>Resume Konfigurasi Transistor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Transistor Bipolar (BJT) 1. Dasar kerja transistor BJT 2. Kurva Karakteristik BJT 3. Data Transistor  4. Testing Transistor</dc:title>
  <dc:creator>Ridwan Solihin</dc:creator>
  <cp:lastModifiedBy>erilmozef@yahoo.com</cp:lastModifiedBy>
  <cp:revision>72</cp:revision>
  <dcterms:created xsi:type="dcterms:W3CDTF">2022-03-08T01:57:59Z</dcterms:created>
  <dcterms:modified xsi:type="dcterms:W3CDTF">2025-04-29T11:27:36Z</dcterms:modified>
</cp:coreProperties>
</file>