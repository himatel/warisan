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86" r:id="rId3"/>
    <p:sldId id="314" r:id="rId4"/>
    <p:sldId id="290" r:id="rId5"/>
    <p:sldId id="313" r:id="rId6"/>
    <p:sldId id="287" r:id="rId7"/>
    <p:sldId id="312" r:id="rId8"/>
    <p:sldId id="305" r:id="rId9"/>
    <p:sldId id="306" r:id="rId10"/>
    <p:sldId id="307" r:id="rId11"/>
    <p:sldId id="308" r:id="rId12"/>
    <p:sldId id="309" r:id="rId13"/>
    <p:sldId id="310" r:id="rId14"/>
    <p:sldId id="291" r:id="rId15"/>
    <p:sldId id="29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5196" autoAdjust="0"/>
  </p:normalViewPr>
  <p:slideViewPr>
    <p:cSldViewPr snapToGrid="0">
      <p:cViewPr varScale="1">
        <p:scale>
          <a:sx n="81" d="100"/>
          <a:sy n="81" d="100"/>
        </p:scale>
        <p:origin x="754" y="62"/>
      </p:cViewPr>
      <p:guideLst/>
    </p:cSldViewPr>
  </p:slideViewPr>
  <p:notesTextViewPr>
    <p:cViewPr>
      <p:scale>
        <a:sx n="1" d="1"/>
        <a:sy n="1" d="1"/>
      </p:scale>
      <p:origin x="0" y="0"/>
    </p:cViewPr>
  </p:notesTextViewPr>
  <p:gridSpacing cx="91439" cy="91439"/>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510C07-338C-4CE1-94D5-B595E37FE6AB}" type="datetimeFigureOut">
              <a:rPr lang="en-US" smtClean="0"/>
              <a:t>3/7/2025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419459-8FD6-47F0-9A3F-653623863C8C}" type="slidenum">
              <a:rPr lang="en-US" smtClean="0"/>
              <a:t>‹#›</a:t>
            </a:fld>
            <a:endParaRPr lang="en-US"/>
          </a:p>
        </p:txBody>
      </p:sp>
    </p:spTree>
    <p:extLst>
      <p:ext uri="{BB962C8B-B14F-4D97-AF65-F5344CB8AC3E}">
        <p14:creationId xmlns:p14="http://schemas.microsoft.com/office/powerpoint/2010/main" val="12499486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sz="quarter" idx="5"/>
          </p:nvPr>
        </p:nvSpPr>
        <p:spPr/>
        <p:txBody>
          <a:bodyPr/>
          <a:lstStyle/>
          <a:p>
            <a:fld id="{6E419459-8FD6-47F0-9A3F-653623863C8C}" type="slidenum">
              <a:rPr lang="en-US" smtClean="0"/>
              <a:t>5</a:t>
            </a:fld>
            <a:endParaRPr lang="en-US"/>
          </a:p>
        </p:txBody>
      </p:sp>
    </p:spTree>
    <p:extLst>
      <p:ext uri="{BB962C8B-B14F-4D97-AF65-F5344CB8AC3E}">
        <p14:creationId xmlns:p14="http://schemas.microsoft.com/office/powerpoint/2010/main" val="107896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9F18B-FEFD-4D30-85DF-1A28850C3E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D25DF2E-6F7E-4A47-B2DF-89AB96D9A0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C8607ED-F36A-43F6-8AEA-B4A4664CDB46}"/>
              </a:ext>
            </a:extLst>
          </p:cNvPr>
          <p:cNvSpPr>
            <a:spLocks noGrp="1"/>
          </p:cNvSpPr>
          <p:nvPr>
            <p:ph type="dt" sz="half" idx="10"/>
          </p:nvPr>
        </p:nvSpPr>
        <p:spPr/>
        <p:txBody>
          <a:bodyPr/>
          <a:lstStyle/>
          <a:p>
            <a:fld id="{632B2334-333B-48F0-AFD2-8D0201D72261}" type="datetimeFigureOut">
              <a:rPr lang="en-US" smtClean="0"/>
              <a:t>3/7/2025</a:t>
            </a:fld>
            <a:endParaRPr lang="en-US"/>
          </a:p>
        </p:txBody>
      </p:sp>
      <p:sp>
        <p:nvSpPr>
          <p:cNvPr id="5" name="Footer Placeholder 4">
            <a:extLst>
              <a:ext uri="{FF2B5EF4-FFF2-40B4-BE49-F238E27FC236}">
                <a16:creationId xmlns:a16="http://schemas.microsoft.com/office/drawing/2014/main" id="{C7B9CC6C-8677-422B-9EF8-71594139EB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101E09-5FC2-43DE-984C-CF8BC696D77F}"/>
              </a:ext>
            </a:extLst>
          </p:cNvPr>
          <p:cNvSpPr>
            <a:spLocks noGrp="1"/>
          </p:cNvSpPr>
          <p:nvPr>
            <p:ph type="sldNum" sz="quarter" idx="12"/>
          </p:nvPr>
        </p:nvSpPr>
        <p:spPr/>
        <p:txBody>
          <a:bodyPr/>
          <a:lstStyle/>
          <a:p>
            <a:fld id="{2ED981B7-72AF-40BA-9332-C8F274A4F932}" type="slidenum">
              <a:rPr lang="en-US" smtClean="0"/>
              <a:t>‹#›</a:t>
            </a:fld>
            <a:endParaRPr lang="en-US"/>
          </a:p>
        </p:txBody>
      </p:sp>
    </p:spTree>
    <p:extLst>
      <p:ext uri="{BB962C8B-B14F-4D97-AF65-F5344CB8AC3E}">
        <p14:creationId xmlns:p14="http://schemas.microsoft.com/office/powerpoint/2010/main" val="1175765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F2D83-BB6F-4126-A524-73CA75AC0F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2A8F53-FA31-4485-A585-5BBDF6C839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6C247A-3EE9-4AA9-A0D6-D6C8986BA8F2}"/>
              </a:ext>
            </a:extLst>
          </p:cNvPr>
          <p:cNvSpPr>
            <a:spLocks noGrp="1"/>
          </p:cNvSpPr>
          <p:nvPr>
            <p:ph type="dt" sz="half" idx="10"/>
          </p:nvPr>
        </p:nvSpPr>
        <p:spPr/>
        <p:txBody>
          <a:bodyPr/>
          <a:lstStyle/>
          <a:p>
            <a:fld id="{632B2334-333B-48F0-AFD2-8D0201D72261}" type="datetimeFigureOut">
              <a:rPr lang="en-US" smtClean="0"/>
              <a:t>3/7/2025</a:t>
            </a:fld>
            <a:endParaRPr lang="en-US"/>
          </a:p>
        </p:txBody>
      </p:sp>
      <p:sp>
        <p:nvSpPr>
          <p:cNvPr id="5" name="Footer Placeholder 4">
            <a:extLst>
              <a:ext uri="{FF2B5EF4-FFF2-40B4-BE49-F238E27FC236}">
                <a16:creationId xmlns:a16="http://schemas.microsoft.com/office/drawing/2014/main" id="{657FE26D-468A-4492-8973-21D4191BBD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485B6A-3582-4DE6-A06F-0DC0B77F5693}"/>
              </a:ext>
            </a:extLst>
          </p:cNvPr>
          <p:cNvSpPr>
            <a:spLocks noGrp="1"/>
          </p:cNvSpPr>
          <p:nvPr>
            <p:ph type="sldNum" sz="quarter" idx="12"/>
          </p:nvPr>
        </p:nvSpPr>
        <p:spPr/>
        <p:txBody>
          <a:bodyPr/>
          <a:lstStyle/>
          <a:p>
            <a:fld id="{2ED981B7-72AF-40BA-9332-C8F274A4F932}" type="slidenum">
              <a:rPr lang="en-US" smtClean="0"/>
              <a:t>‹#›</a:t>
            </a:fld>
            <a:endParaRPr lang="en-US"/>
          </a:p>
        </p:txBody>
      </p:sp>
    </p:spTree>
    <p:extLst>
      <p:ext uri="{BB962C8B-B14F-4D97-AF65-F5344CB8AC3E}">
        <p14:creationId xmlns:p14="http://schemas.microsoft.com/office/powerpoint/2010/main" val="26333337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5A409-E51A-4AEC-A6D2-8C146121F22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4E4CFE9-CE48-4D76-8C34-9EEB41DE360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44150C-042E-4D88-8ED4-77AEC3343C76}"/>
              </a:ext>
            </a:extLst>
          </p:cNvPr>
          <p:cNvSpPr>
            <a:spLocks noGrp="1"/>
          </p:cNvSpPr>
          <p:nvPr>
            <p:ph type="dt" sz="half" idx="10"/>
          </p:nvPr>
        </p:nvSpPr>
        <p:spPr/>
        <p:txBody>
          <a:bodyPr/>
          <a:lstStyle/>
          <a:p>
            <a:fld id="{632B2334-333B-48F0-AFD2-8D0201D72261}" type="datetimeFigureOut">
              <a:rPr lang="en-US" smtClean="0"/>
              <a:t>3/7/2025</a:t>
            </a:fld>
            <a:endParaRPr lang="en-US"/>
          </a:p>
        </p:txBody>
      </p:sp>
      <p:sp>
        <p:nvSpPr>
          <p:cNvPr id="5" name="Footer Placeholder 4">
            <a:extLst>
              <a:ext uri="{FF2B5EF4-FFF2-40B4-BE49-F238E27FC236}">
                <a16:creationId xmlns:a16="http://schemas.microsoft.com/office/drawing/2014/main" id="{89DF6734-3181-4D38-AFC0-ACF269C64C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497EFC-443A-448A-8CDC-12F82FF47506}"/>
              </a:ext>
            </a:extLst>
          </p:cNvPr>
          <p:cNvSpPr>
            <a:spLocks noGrp="1"/>
          </p:cNvSpPr>
          <p:nvPr>
            <p:ph type="sldNum" sz="quarter" idx="12"/>
          </p:nvPr>
        </p:nvSpPr>
        <p:spPr/>
        <p:txBody>
          <a:bodyPr/>
          <a:lstStyle/>
          <a:p>
            <a:fld id="{2ED981B7-72AF-40BA-9332-C8F274A4F932}" type="slidenum">
              <a:rPr lang="en-US" smtClean="0"/>
              <a:t>‹#›</a:t>
            </a:fld>
            <a:endParaRPr lang="en-US"/>
          </a:p>
        </p:txBody>
      </p:sp>
    </p:spTree>
    <p:extLst>
      <p:ext uri="{BB962C8B-B14F-4D97-AF65-F5344CB8AC3E}">
        <p14:creationId xmlns:p14="http://schemas.microsoft.com/office/powerpoint/2010/main" val="5602362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2ECB0-F235-4628-B4D6-D04E596650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BCF7B9-67BD-47F5-B456-752792A6ED6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6BDCEC-7DB8-4524-9FAA-F93C530931E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296D174-65A4-4DFF-AF07-747E50C7BDA5}"/>
              </a:ext>
            </a:extLst>
          </p:cNvPr>
          <p:cNvSpPr>
            <a:spLocks noGrp="1"/>
          </p:cNvSpPr>
          <p:nvPr>
            <p:ph type="dt" sz="half" idx="10"/>
          </p:nvPr>
        </p:nvSpPr>
        <p:spPr/>
        <p:txBody>
          <a:bodyPr/>
          <a:lstStyle/>
          <a:p>
            <a:fld id="{632B2334-333B-48F0-AFD2-8D0201D72261}" type="datetimeFigureOut">
              <a:rPr lang="en-US" smtClean="0"/>
              <a:t>3/7/2025</a:t>
            </a:fld>
            <a:endParaRPr lang="en-US"/>
          </a:p>
        </p:txBody>
      </p:sp>
      <p:sp>
        <p:nvSpPr>
          <p:cNvPr id="6" name="Footer Placeholder 5">
            <a:extLst>
              <a:ext uri="{FF2B5EF4-FFF2-40B4-BE49-F238E27FC236}">
                <a16:creationId xmlns:a16="http://schemas.microsoft.com/office/drawing/2014/main" id="{4F0C03A7-3C1B-4E18-B7D1-4BC98114B6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B00573-D971-4612-9FFB-CA395D4402C1}"/>
              </a:ext>
            </a:extLst>
          </p:cNvPr>
          <p:cNvSpPr>
            <a:spLocks noGrp="1"/>
          </p:cNvSpPr>
          <p:nvPr>
            <p:ph type="sldNum" sz="quarter" idx="12"/>
          </p:nvPr>
        </p:nvSpPr>
        <p:spPr/>
        <p:txBody>
          <a:bodyPr/>
          <a:lstStyle/>
          <a:p>
            <a:fld id="{2ED981B7-72AF-40BA-9332-C8F274A4F932}" type="slidenum">
              <a:rPr lang="en-US" smtClean="0"/>
              <a:t>‹#›</a:t>
            </a:fld>
            <a:endParaRPr lang="en-US"/>
          </a:p>
        </p:txBody>
      </p:sp>
    </p:spTree>
    <p:extLst>
      <p:ext uri="{BB962C8B-B14F-4D97-AF65-F5344CB8AC3E}">
        <p14:creationId xmlns:p14="http://schemas.microsoft.com/office/powerpoint/2010/main" val="1862139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70005-4A55-4EF0-B38D-B42579D961A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10CEB95-7B90-4840-B595-06307A82D2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DDD2EF-B2B1-41EE-9326-2BA2FE513E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9DE086D-126A-4F6D-89E4-C0FBF8FE9E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D0AB44-E823-4A71-8E89-7E6024BDB93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84C69D4-7E27-42E1-875A-EE646CDBC330}"/>
              </a:ext>
            </a:extLst>
          </p:cNvPr>
          <p:cNvSpPr>
            <a:spLocks noGrp="1"/>
          </p:cNvSpPr>
          <p:nvPr>
            <p:ph type="dt" sz="half" idx="10"/>
          </p:nvPr>
        </p:nvSpPr>
        <p:spPr/>
        <p:txBody>
          <a:bodyPr/>
          <a:lstStyle/>
          <a:p>
            <a:fld id="{632B2334-333B-48F0-AFD2-8D0201D72261}" type="datetimeFigureOut">
              <a:rPr lang="en-US" smtClean="0"/>
              <a:t>3/7/2025</a:t>
            </a:fld>
            <a:endParaRPr lang="en-US"/>
          </a:p>
        </p:txBody>
      </p:sp>
      <p:sp>
        <p:nvSpPr>
          <p:cNvPr id="8" name="Footer Placeholder 7">
            <a:extLst>
              <a:ext uri="{FF2B5EF4-FFF2-40B4-BE49-F238E27FC236}">
                <a16:creationId xmlns:a16="http://schemas.microsoft.com/office/drawing/2014/main" id="{F7227338-7C30-4B63-9009-0A1931CF2CD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519ED14-102D-4E33-B4D4-331E83592F36}"/>
              </a:ext>
            </a:extLst>
          </p:cNvPr>
          <p:cNvSpPr>
            <a:spLocks noGrp="1"/>
          </p:cNvSpPr>
          <p:nvPr>
            <p:ph type="sldNum" sz="quarter" idx="12"/>
          </p:nvPr>
        </p:nvSpPr>
        <p:spPr/>
        <p:txBody>
          <a:bodyPr/>
          <a:lstStyle/>
          <a:p>
            <a:fld id="{2ED981B7-72AF-40BA-9332-C8F274A4F932}" type="slidenum">
              <a:rPr lang="en-US" smtClean="0"/>
              <a:t>‹#›</a:t>
            </a:fld>
            <a:endParaRPr lang="en-US"/>
          </a:p>
        </p:txBody>
      </p:sp>
    </p:spTree>
    <p:extLst>
      <p:ext uri="{BB962C8B-B14F-4D97-AF65-F5344CB8AC3E}">
        <p14:creationId xmlns:p14="http://schemas.microsoft.com/office/powerpoint/2010/main" val="12839269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3332B-86D6-4A62-8295-5BC73F10EAB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8A5F8D4-C9C8-4065-9871-8433BA66E5DA}"/>
              </a:ext>
            </a:extLst>
          </p:cNvPr>
          <p:cNvSpPr>
            <a:spLocks noGrp="1"/>
          </p:cNvSpPr>
          <p:nvPr>
            <p:ph type="dt" sz="half" idx="10"/>
          </p:nvPr>
        </p:nvSpPr>
        <p:spPr/>
        <p:txBody>
          <a:bodyPr/>
          <a:lstStyle/>
          <a:p>
            <a:fld id="{632B2334-333B-48F0-AFD2-8D0201D72261}" type="datetimeFigureOut">
              <a:rPr lang="en-US" smtClean="0"/>
              <a:t>3/7/2025</a:t>
            </a:fld>
            <a:endParaRPr lang="en-US"/>
          </a:p>
        </p:txBody>
      </p:sp>
      <p:sp>
        <p:nvSpPr>
          <p:cNvPr id="4" name="Footer Placeholder 3">
            <a:extLst>
              <a:ext uri="{FF2B5EF4-FFF2-40B4-BE49-F238E27FC236}">
                <a16:creationId xmlns:a16="http://schemas.microsoft.com/office/drawing/2014/main" id="{83E4B864-0A10-4F56-BF05-41467A5A6B0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6253CEA-8D55-478A-B792-3D7020973CE3}"/>
              </a:ext>
            </a:extLst>
          </p:cNvPr>
          <p:cNvSpPr>
            <a:spLocks noGrp="1"/>
          </p:cNvSpPr>
          <p:nvPr>
            <p:ph type="sldNum" sz="quarter" idx="12"/>
          </p:nvPr>
        </p:nvSpPr>
        <p:spPr/>
        <p:txBody>
          <a:bodyPr/>
          <a:lstStyle/>
          <a:p>
            <a:fld id="{2ED981B7-72AF-40BA-9332-C8F274A4F932}" type="slidenum">
              <a:rPr lang="en-US" smtClean="0"/>
              <a:t>‹#›</a:t>
            </a:fld>
            <a:endParaRPr lang="en-US"/>
          </a:p>
        </p:txBody>
      </p:sp>
    </p:spTree>
    <p:extLst>
      <p:ext uri="{BB962C8B-B14F-4D97-AF65-F5344CB8AC3E}">
        <p14:creationId xmlns:p14="http://schemas.microsoft.com/office/powerpoint/2010/main" val="34605962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511EBC-2736-47D7-B673-24E6C571C5B0}"/>
              </a:ext>
            </a:extLst>
          </p:cNvPr>
          <p:cNvSpPr>
            <a:spLocks noGrp="1"/>
          </p:cNvSpPr>
          <p:nvPr>
            <p:ph type="dt" sz="half" idx="10"/>
          </p:nvPr>
        </p:nvSpPr>
        <p:spPr/>
        <p:txBody>
          <a:bodyPr/>
          <a:lstStyle/>
          <a:p>
            <a:fld id="{632B2334-333B-48F0-AFD2-8D0201D72261}" type="datetimeFigureOut">
              <a:rPr lang="en-US" smtClean="0"/>
              <a:t>3/7/2025</a:t>
            </a:fld>
            <a:endParaRPr lang="en-US"/>
          </a:p>
        </p:txBody>
      </p:sp>
      <p:sp>
        <p:nvSpPr>
          <p:cNvPr id="3" name="Footer Placeholder 2">
            <a:extLst>
              <a:ext uri="{FF2B5EF4-FFF2-40B4-BE49-F238E27FC236}">
                <a16:creationId xmlns:a16="http://schemas.microsoft.com/office/drawing/2014/main" id="{1D9A6211-4C57-4B9A-8EED-673959A71E2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D934A31-5B3B-4E90-A703-E3AB9A1F546E}"/>
              </a:ext>
            </a:extLst>
          </p:cNvPr>
          <p:cNvSpPr>
            <a:spLocks noGrp="1"/>
          </p:cNvSpPr>
          <p:nvPr>
            <p:ph type="sldNum" sz="quarter" idx="12"/>
          </p:nvPr>
        </p:nvSpPr>
        <p:spPr/>
        <p:txBody>
          <a:bodyPr/>
          <a:lstStyle/>
          <a:p>
            <a:fld id="{2ED981B7-72AF-40BA-9332-C8F274A4F932}" type="slidenum">
              <a:rPr lang="en-US" smtClean="0"/>
              <a:t>‹#›</a:t>
            </a:fld>
            <a:endParaRPr lang="en-US"/>
          </a:p>
        </p:txBody>
      </p:sp>
    </p:spTree>
    <p:extLst>
      <p:ext uri="{BB962C8B-B14F-4D97-AF65-F5344CB8AC3E}">
        <p14:creationId xmlns:p14="http://schemas.microsoft.com/office/powerpoint/2010/main" val="36402564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B9D3C-0A8D-48C5-93DF-2EB1F722D0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08ADC0F-9ED7-4C79-AB74-5EC1BBBE63B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32C2E19-BCD7-4FEC-BA3D-36D5877841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AD3330-A72C-44FB-B606-7727AEE7FA6D}"/>
              </a:ext>
            </a:extLst>
          </p:cNvPr>
          <p:cNvSpPr>
            <a:spLocks noGrp="1"/>
          </p:cNvSpPr>
          <p:nvPr>
            <p:ph type="dt" sz="half" idx="10"/>
          </p:nvPr>
        </p:nvSpPr>
        <p:spPr/>
        <p:txBody>
          <a:bodyPr/>
          <a:lstStyle/>
          <a:p>
            <a:fld id="{632B2334-333B-48F0-AFD2-8D0201D72261}" type="datetimeFigureOut">
              <a:rPr lang="en-US" smtClean="0"/>
              <a:t>3/7/2025</a:t>
            </a:fld>
            <a:endParaRPr lang="en-US"/>
          </a:p>
        </p:txBody>
      </p:sp>
      <p:sp>
        <p:nvSpPr>
          <p:cNvPr id="6" name="Footer Placeholder 5">
            <a:extLst>
              <a:ext uri="{FF2B5EF4-FFF2-40B4-BE49-F238E27FC236}">
                <a16:creationId xmlns:a16="http://schemas.microsoft.com/office/drawing/2014/main" id="{6C09FEE8-4C88-4714-8F7A-E338BCD331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F0C762-5EC0-4B46-B9B6-717D0324C248}"/>
              </a:ext>
            </a:extLst>
          </p:cNvPr>
          <p:cNvSpPr>
            <a:spLocks noGrp="1"/>
          </p:cNvSpPr>
          <p:nvPr>
            <p:ph type="sldNum" sz="quarter" idx="12"/>
          </p:nvPr>
        </p:nvSpPr>
        <p:spPr/>
        <p:txBody>
          <a:bodyPr/>
          <a:lstStyle/>
          <a:p>
            <a:fld id="{2ED981B7-72AF-40BA-9332-C8F274A4F932}" type="slidenum">
              <a:rPr lang="en-US" smtClean="0"/>
              <a:t>‹#›</a:t>
            </a:fld>
            <a:endParaRPr lang="en-US"/>
          </a:p>
        </p:txBody>
      </p:sp>
    </p:spTree>
    <p:extLst>
      <p:ext uri="{BB962C8B-B14F-4D97-AF65-F5344CB8AC3E}">
        <p14:creationId xmlns:p14="http://schemas.microsoft.com/office/powerpoint/2010/main" val="1861080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D71AF-1967-4C63-9A43-F21451EB76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CD30A0-C2EF-4698-90B6-E159241719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E09BDD6-0829-42DF-B074-0B261DDE26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717545-CC59-462E-91BC-663895C9493B}"/>
              </a:ext>
            </a:extLst>
          </p:cNvPr>
          <p:cNvSpPr>
            <a:spLocks noGrp="1"/>
          </p:cNvSpPr>
          <p:nvPr>
            <p:ph type="dt" sz="half" idx="10"/>
          </p:nvPr>
        </p:nvSpPr>
        <p:spPr/>
        <p:txBody>
          <a:bodyPr/>
          <a:lstStyle/>
          <a:p>
            <a:fld id="{632B2334-333B-48F0-AFD2-8D0201D72261}" type="datetimeFigureOut">
              <a:rPr lang="en-US" smtClean="0"/>
              <a:t>3/7/2025</a:t>
            </a:fld>
            <a:endParaRPr lang="en-US"/>
          </a:p>
        </p:txBody>
      </p:sp>
      <p:sp>
        <p:nvSpPr>
          <p:cNvPr id="6" name="Footer Placeholder 5">
            <a:extLst>
              <a:ext uri="{FF2B5EF4-FFF2-40B4-BE49-F238E27FC236}">
                <a16:creationId xmlns:a16="http://schemas.microsoft.com/office/drawing/2014/main" id="{3E901A16-7695-474D-A047-BE508FC4D9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98E090-6993-49B6-8B75-99C8E1FFAA54}"/>
              </a:ext>
            </a:extLst>
          </p:cNvPr>
          <p:cNvSpPr>
            <a:spLocks noGrp="1"/>
          </p:cNvSpPr>
          <p:nvPr>
            <p:ph type="sldNum" sz="quarter" idx="12"/>
          </p:nvPr>
        </p:nvSpPr>
        <p:spPr/>
        <p:txBody>
          <a:bodyPr/>
          <a:lstStyle/>
          <a:p>
            <a:fld id="{2ED981B7-72AF-40BA-9332-C8F274A4F932}" type="slidenum">
              <a:rPr lang="en-US" smtClean="0"/>
              <a:t>‹#›</a:t>
            </a:fld>
            <a:endParaRPr lang="en-US"/>
          </a:p>
        </p:txBody>
      </p:sp>
    </p:spTree>
    <p:extLst>
      <p:ext uri="{BB962C8B-B14F-4D97-AF65-F5344CB8AC3E}">
        <p14:creationId xmlns:p14="http://schemas.microsoft.com/office/powerpoint/2010/main" val="295145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6427B-99AF-47E9-9AB9-A820989804A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0CCBCD8-8C85-4D24-9317-362F7528EE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619A5D-A72B-4677-B800-58B58F497F28}"/>
              </a:ext>
            </a:extLst>
          </p:cNvPr>
          <p:cNvSpPr>
            <a:spLocks noGrp="1"/>
          </p:cNvSpPr>
          <p:nvPr>
            <p:ph type="dt" sz="half" idx="10"/>
          </p:nvPr>
        </p:nvSpPr>
        <p:spPr/>
        <p:txBody>
          <a:bodyPr/>
          <a:lstStyle/>
          <a:p>
            <a:fld id="{632B2334-333B-48F0-AFD2-8D0201D72261}" type="datetimeFigureOut">
              <a:rPr lang="en-US" smtClean="0"/>
              <a:t>3/7/2025</a:t>
            </a:fld>
            <a:endParaRPr lang="en-US"/>
          </a:p>
        </p:txBody>
      </p:sp>
      <p:sp>
        <p:nvSpPr>
          <p:cNvPr id="5" name="Footer Placeholder 4">
            <a:extLst>
              <a:ext uri="{FF2B5EF4-FFF2-40B4-BE49-F238E27FC236}">
                <a16:creationId xmlns:a16="http://schemas.microsoft.com/office/drawing/2014/main" id="{C56B3804-21BD-49C5-B773-C3CDDE0AEF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554A5B-51CC-4B3D-B729-2F7F11767CCC}"/>
              </a:ext>
            </a:extLst>
          </p:cNvPr>
          <p:cNvSpPr>
            <a:spLocks noGrp="1"/>
          </p:cNvSpPr>
          <p:nvPr>
            <p:ph type="sldNum" sz="quarter" idx="12"/>
          </p:nvPr>
        </p:nvSpPr>
        <p:spPr/>
        <p:txBody>
          <a:bodyPr/>
          <a:lstStyle/>
          <a:p>
            <a:fld id="{2ED981B7-72AF-40BA-9332-C8F274A4F932}" type="slidenum">
              <a:rPr lang="en-US" smtClean="0"/>
              <a:t>‹#›</a:t>
            </a:fld>
            <a:endParaRPr lang="en-US"/>
          </a:p>
        </p:txBody>
      </p:sp>
    </p:spTree>
    <p:extLst>
      <p:ext uri="{BB962C8B-B14F-4D97-AF65-F5344CB8AC3E}">
        <p14:creationId xmlns:p14="http://schemas.microsoft.com/office/powerpoint/2010/main" val="17093456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F25C36-D277-4B93-ABB7-F95E5CFA99D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8314E3A-7F23-417C-9AF5-C63DE8042F5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3052EC-5249-4A5C-8D4E-CC486E897B32}"/>
              </a:ext>
            </a:extLst>
          </p:cNvPr>
          <p:cNvSpPr>
            <a:spLocks noGrp="1"/>
          </p:cNvSpPr>
          <p:nvPr>
            <p:ph type="dt" sz="half" idx="10"/>
          </p:nvPr>
        </p:nvSpPr>
        <p:spPr/>
        <p:txBody>
          <a:bodyPr/>
          <a:lstStyle/>
          <a:p>
            <a:fld id="{632B2334-333B-48F0-AFD2-8D0201D72261}" type="datetimeFigureOut">
              <a:rPr lang="en-US" smtClean="0"/>
              <a:t>3/7/2025</a:t>
            </a:fld>
            <a:endParaRPr lang="en-US"/>
          </a:p>
        </p:txBody>
      </p:sp>
      <p:sp>
        <p:nvSpPr>
          <p:cNvPr id="5" name="Footer Placeholder 4">
            <a:extLst>
              <a:ext uri="{FF2B5EF4-FFF2-40B4-BE49-F238E27FC236}">
                <a16:creationId xmlns:a16="http://schemas.microsoft.com/office/drawing/2014/main" id="{A9EA09E6-D86A-4458-9D78-B975482357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55744B-89D6-4B67-A012-76CB276FA992}"/>
              </a:ext>
            </a:extLst>
          </p:cNvPr>
          <p:cNvSpPr>
            <a:spLocks noGrp="1"/>
          </p:cNvSpPr>
          <p:nvPr>
            <p:ph type="sldNum" sz="quarter" idx="12"/>
          </p:nvPr>
        </p:nvSpPr>
        <p:spPr/>
        <p:txBody>
          <a:bodyPr/>
          <a:lstStyle/>
          <a:p>
            <a:fld id="{2ED981B7-72AF-40BA-9332-C8F274A4F932}" type="slidenum">
              <a:rPr lang="en-US" smtClean="0"/>
              <a:t>‹#›</a:t>
            </a:fld>
            <a:endParaRPr lang="en-US"/>
          </a:p>
        </p:txBody>
      </p:sp>
    </p:spTree>
    <p:extLst>
      <p:ext uri="{BB962C8B-B14F-4D97-AF65-F5344CB8AC3E}">
        <p14:creationId xmlns:p14="http://schemas.microsoft.com/office/powerpoint/2010/main" val="27989698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0C9E7D-FCAC-46E5-A73C-43961E5CF0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A7199C8-CE43-4A0D-808E-F770E53552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2774AC-62A9-44EB-9E2C-42C1E2307E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2B2334-333B-48F0-AFD2-8D0201D72261}" type="datetimeFigureOut">
              <a:rPr lang="en-US" smtClean="0"/>
              <a:t>3/7/2025</a:t>
            </a:fld>
            <a:endParaRPr lang="en-US"/>
          </a:p>
        </p:txBody>
      </p:sp>
      <p:sp>
        <p:nvSpPr>
          <p:cNvPr id="5" name="Footer Placeholder 4">
            <a:extLst>
              <a:ext uri="{FF2B5EF4-FFF2-40B4-BE49-F238E27FC236}">
                <a16:creationId xmlns:a16="http://schemas.microsoft.com/office/drawing/2014/main" id="{AD5D697F-9698-40B2-B58D-88EBE278FC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D36A18E-CE87-42E7-9D02-5EF25FB43C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D981B7-72AF-40BA-9332-C8F274A4F932}" type="slidenum">
              <a:rPr lang="en-US" smtClean="0"/>
              <a:t>‹#›</a:t>
            </a:fld>
            <a:endParaRPr lang="en-US"/>
          </a:p>
        </p:txBody>
      </p:sp>
    </p:spTree>
    <p:extLst>
      <p:ext uri="{BB962C8B-B14F-4D97-AF65-F5344CB8AC3E}">
        <p14:creationId xmlns:p14="http://schemas.microsoft.com/office/powerpoint/2010/main" val="12353180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53892-65BE-4A1F-B35A-1167D73C8CAB}"/>
              </a:ext>
            </a:extLst>
          </p:cNvPr>
          <p:cNvSpPr>
            <a:spLocks noGrp="1"/>
          </p:cNvSpPr>
          <p:nvPr>
            <p:ph type="ctrTitle"/>
          </p:nvPr>
        </p:nvSpPr>
        <p:spPr>
          <a:xfrm>
            <a:off x="1366887" y="1214438"/>
            <a:ext cx="9605913" cy="2387600"/>
          </a:xfrm>
        </p:spPr>
        <p:txBody>
          <a:bodyPr>
            <a:normAutofit/>
          </a:bodyPr>
          <a:lstStyle/>
          <a:p>
            <a:r>
              <a:rPr lang="en-US" sz="3200"/>
              <a:t>Definisi Tegangan-Tegangan AC</a:t>
            </a:r>
            <a:br>
              <a:rPr lang="en-US" sz="3200"/>
            </a:br>
            <a:r>
              <a:rPr lang="en-US" sz="3200"/>
              <a:t>Vpp, Vm (Vp), Vrata-rata (Vdc), Vrms (V efektif)</a:t>
            </a:r>
            <a:br>
              <a:rPr lang="en-US" sz="3200"/>
            </a:br>
            <a:endParaRPr lang="en-US" sz="2000" b="1" dirty="0"/>
          </a:p>
        </p:txBody>
      </p:sp>
      <p:sp>
        <p:nvSpPr>
          <p:cNvPr id="3" name="Subtitle 2">
            <a:extLst>
              <a:ext uri="{FF2B5EF4-FFF2-40B4-BE49-F238E27FC236}">
                <a16:creationId xmlns:a16="http://schemas.microsoft.com/office/drawing/2014/main" id="{125A7A2F-E757-4C23-8CA4-BD903353FA21}"/>
              </a:ext>
            </a:extLst>
          </p:cNvPr>
          <p:cNvSpPr>
            <a:spLocks noGrp="1"/>
          </p:cNvSpPr>
          <p:nvPr>
            <p:ph type="subTitle" idx="1"/>
          </p:nvPr>
        </p:nvSpPr>
        <p:spPr>
          <a:xfrm>
            <a:off x="1524000" y="4383917"/>
            <a:ext cx="9144000" cy="1655762"/>
          </a:xfrm>
        </p:spPr>
        <p:txBody>
          <a:bodyPr/>
          <a:lstStyle/>
          <a:p>
            <a:endParaRPr lang="en-US" dirty="0"/>
          </a:p>
        </p:txBody>
      </p:sp>
    </p:spTree>
    <p:extLst>
      <p:ext uri="{BB962C8B-B14F-4D97-AF65-F5344CB8AC3E}">
        <p14:creationId xmlns:p14="http://schemas.microsoft.com/office/powerpoint/2010/main" val="19370822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Materi</a:t>
            </a:r>
          </a:p>
        </p:txBody>
      </p:sp>
      <p:sp>
        <p:nvSpPr>
          <p:cNvPr id="3" name="Content Placeholder 2"/>
          <p:cNvSpPr>
            <a:spLocks noGrp="1"/>
          </p:cNvSpPr>
          <p:nvPr>
            <p:ph idx="1"/>
          </p:nvPr>
        </p:nvSpPr>
        <p:spPr/>
        <p:txBody>
          <a:bodyPr/>
          <a:lstStyle/>
          <a:p>
            <a:pPr marL="0" indent="0">
              <a:buNone/>
            </a:pPr>
            <a:r>
              <a:rPr lang="en-US" b="1"/>
              <a:t>Definisi tegangan-tegangan AC</a:t>
            </a:r>
          </a:p>
          <a:p>
            <a:r>
              <a:rPr lang="en-US" b="1"/>
              <a:t>Vpp</a:t>
            </a:r>
          </a:p>
          <a:p>
            <a:r>
              <a:rPr lang="en-US" b="1"/>
              <a:t>Vm (Vp)</a:t>
            </a:r>
          </a:p>
          <a:p>
            <a:r>
              <a:rPr lang="en-US" b="1"/>
              <a:t>Vrata-rata (Vdc)</a:t>
            </a:r>
          </a:p>
          <a:p>
            <a:r>
              <a:rPr lang="en-US" b="1"/>
              <a:t>Vrms (Vefektif, Vripple)</a:t>
            </a:r>
          </a:p>
          <a:p>
            <a:r>
              <a:rPr lang="en-US" b="1"/>
              <a:t>dll</a:t>
            </a:r>
          </a:p>
          <a:p>
            <a:endParaRPr lang="en-US"/>
          </a:p>
        </p:txBody>
      </p:sp>
    </p:spTree>
    <p:extLst>
      <p:ext uri="{BB962C8B-B14F-4D97-AF65-F5344CB8AC3E}">
        <p14:creationId xmlns:p14="http://schemas.microsoft.com/office/powerpoint/2010/main" val="3743031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359E5-A1E0-58AD-1070-DC17B011B2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26469F-124A-8572-1CE2-A8765D4644A1}"/>
              </a:ext>
            </a:extLst>
          </p:cNvPr>
          <p:cNvSpPr>
            <a:spLocks noGrp="1"/>
          </p:cNvSpPr>
          <p:nvPr>
            <p:ph type="title"/>
          </p:nvPr>
        </p:nvSpPr>
        <p:spPr/>
        <p:txBody>
          <a:bodyPr/>
          <a:lstStyle/>
          <a:p>
            <a:r>
              <a:rPr lang="en-US" b="1"/>
              <a:t>Definisi tegangan-tegangan AC</a:t>
            </a:r>
            <a:endParaRPr lang="en-US"/>
          </a:p>
        </p:txBody>
      </p:sp>
      <p:sp>
        <p:nvSpPr>
          <p:cNvPr id="3" name="Content Placeholder 2">
            <a:extLst>
              <a:ext uri="{FF2B5EF4-FFF2-40B4-BE49-F238E27FC236}">
                <a16:creationId xmlns:a16="http://schemas.microsoft.com/office/drawing/2014/main" id="{035A36E9-283C-167A-EF4D-123413CEDF0C}"/>
              </a:ext>
            </a:extLst>
          </p:cNvPr>
          <p:cNvSpPr>
            <a:spLocks noGrp="1"/>
          </p:cNvSpPr>
          <p:nvPr>
            <p:ph idx="1"/>
          </p:nvPr>
        </p:nvSpPr>
        <p:spPr>
          <a:xfrm>
            <a:off x="838200" y="1825625"/>
            <a:ext cx="10515600" cy="2020511"/>
          </a:xfrm>
        </p:spPr>
        <p:txBody>
          <a:bodyPr/>
          <a:lstStyle/>
          <a:p>
            <a:r>
              <a:rPr lang="en-US" b="1"/>
              <a:t>Vpp: Vpeak-to-peak</a:t>
            </a:r>
          </a:p>
          <a:p>
            <a:r>
              <a:rPr lang="en-US" b="1"/>
              <a:t>Vm (Vp): V amplitudo</a:t>
            </a:r>
          </a:p>
          <a:p>
            <a:r>
              <a:rPr lang="en-US" b="1"/>
              <a:t>Vrata-rata (Vdc): V yang terukur di voltmeter DC</a:t>
            </a:r>
          </a:p>
          <a:p>
            <a:r>
              <a:rPr lang="en-US" b="1"/>
              <a:t>Vrms (Vefektif, Vripple): V yang terukur di voltmeter AC</a:t>
            </a:r>
          </a:p>
        </p:txBody>
      </p:sp>
    </p:spTree>
    <p:extLst>
      <p:ext uri="{BB962C8B-B14F-4D97-AF65-F5344CB8AC3E}">
        <p14:creationId xmlns:p14="http://schemas.microsoft.com/office/powerpoint/2010/main" val="23336562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EA5939-B6D1-4863-AB8E-752DE7AF974F}"/>
              </a:ext>
            </a:extLst>
          </p:cNvPr>
          <p:cNvSpPr txBox="1"/>
          <p:nvPr/>
        </p:nvSpPr>
        <p:spPr>
          <a:xfrm>
            <a:off x="959303" y="664420"/>
            <a:ext cx="10399995" cy="830997"/>
          </a:xfrm>
          <a:prstGeom prst="rect">
            <a:avLst/>
          </a:prstGeom>
          <a:noFill/>
        </p:spPr>
        <p:txBody>
          <a:bodyPr wrap="square">
            <a:spAutoFit/>
          </a:bodyPr>
          <a:lstStyle/>
          <a:p>
            <a:r>
              <a:rPr lang="en-US" sz="2400"/>
              <a:t>Definisi Tegangan-Tegangan pada Penyearah Setengah Gelombang dan Gelombang Penuh</a:t>
            </a:r>
          </a:p>
        </p:txBody>
      </p:sp>
      <p:sp>
        <p:nvSpPr>
          <p:cNvPr id="9" name="TextBox 8">
            <a:extLst>
              <a:ext uri="{FF2B5EF4-FFF2-40B4-BE49-F238E27FC236}">
                <a16:creationId xmlns:a16="http://schemas.microsoft.com/office/drawing/2014/main" id="{39746599-DA55-46F8-AF0F-0E9C24DB9A8F}"/>
              </a:ext>
            </a:extLst>
          </p:cNvPr>
          <p:cNvSpPr txBox="1"/>
          <p:nvPr/>
        </p:nvSpPr>
        <p:spPr>
          <a:xfrm>
            <a:off x="7337588" y="3229808"/>
            <a:ext cx="3229087" cy="1200329"/>
          </a:xfrm>
          <a:prstGeom prst="rect">
            <a:avLst/>
          </a:prstGeom>
          <a:noFill/>
        </p:spPr>
        <p:txBody>
          <a:bodyPr wrap="square">
            <a:spAutoFit/>
          </a:bodyPr>
          <a:lstStyle/>
          <a:p>
            <a:pPr marL="342900" indent="-342900">
              <a:buFont typeface="Wingdings" panose="05000000000000000000" pitchFamily="2" charset="2"/>
              <a:buChar char="è"/>
            </a:pPr>
            <a:r>
              <a:rPr lang="sv-SE" sz="2400" b="1">
                <a:solidFill>
                  <a:srgbClr val="FF0000"/>
                </a:solidFill>
              </a:rPr>
              <a:t>= Tegangan rata-rata</a:t>
            </a:r>
          </a:p>
          <a:p>
            <a:r>
              <a:rPr lang="sv-SE" sz="2400" b="1">
                <a:solidFill>
                  <a:srgbClr val="FF0000"/>
                </a:solidFill>
              </a:rPr>
              <a:t>     = Vdc = Vm/pi</a:t>
            </a:r>
          </a:p>
          <a:p>
            <a:r>
              <a:rPr lang="sv-SE" sz="2400" b="1">
                <a:solidFill>
                  <a:srgbClr val="FF0000"/>
                </a:solidFill>
              </a:rPr>
              <a:t>     = 0.318 </a:t>
            </a:r>
            <a:r>
              <a:rPr lang="sv-SE" sz="2400" b="1" dirty="0">
                <a:solidFill>
                  <a:srgbClr val="FF0000"/>
                </a:solidFill>
              </a:rPr>
              <a:t>Vm</a:t>
            </a:r>
            <a:endParaRPr lang="en-US" sz="2400" b="1" dirty="0">
              <a:solidFill>
                <a:srgbClr val="FF0000"/>
              </a:solidFill>
            </a:endParaRPr>
          </a:p>
        </p:txBody>
      </p:sp>
      <p:sp>
        <p:nvSpPr>
          <p:cNvPr id="2" name="TextBox 1"/>
          <p:cNvSpPr txBox="1"/>
          <p:nvPr/>
        </p:nvSpPr>
        <p:spPr>
          <a:xfrm>
            <a:off x="7337588" y="4906107"/>
            <a:ext cx="2945230" cy="830997"/>
          </a:xfrm>
          <a:prstGeom prst="rect">
            <a:avLst/>
          </a:prstGeom>
          <a:noFill/>
        </p:spPr>
        <p:txBody>
          <a:bodyPr wrap="none" rtlCol="0">
            <a:spAutoFit/>
          </a:bodyPr>
          <a:lstStyle/>
          <a:p>
            <a:pPr marL="342900" indent="-342900">
              <a:buFont typeface="Wingdings" panose="05000000000000000000" pitchFamily="2" charset="2"/>
              <a:buChar char="è"/>
            </a:pPr>
            <a:r>
              <a:rPr lang="en-US" sz="2400" b="1">
                <a:solidFill>
                  <a:srgbClr val="FF0000"/>
                </a:solidFill>
                <a:sym typeface="Wingdings" panose="05000000000000000000" pitchFamily="2" charset="2"/>
              </a:rPr>
              <a:t>= Tegangan Efektif</a:t>
            </a:r>
          </a:p>
          <a:p>
            <a:pPr marL="342900" indent="-342900">
              <a:buFont typeface="Wingdings" panose="05000000000000000000" pitchFamily="2" charset="2"/>
              <a:buChar char="è"/>
            </a:pPr>
            <a:r>
              <a:rPr lang="en-US" sz="2400" b="1">
                <a:solidFill>
                  <a:srgbClr val="FF0000"/>
                </a:solidFill>
                <a:sym typeface="Wingdings" panose="05000000000000000000" pitchFamily="2" charset="2"/>
              </a:rPr>
              <a:t>= Vrms = Vm/(V2)</a:t>
            </a:r>
            <a:endParaRPr lang="en-US" sz="2400" b="1">
              <a:solidFill>
                <a:srgbClr val="FF0000"/>
              </a:solidFill>
            </a:endParaRPr>
          </a:p>
        </p:txBody>
      </p:sp>
      <p:sp>
        <p:nvSpPr>
          <p:cNvPr id="8" name="Content Placeholder 2">
            <a:extLst>
              <a:ext uri="{FF2B5EF4-FFF2-40B4-BE49-F238E27FC236}">
                <a16:creationId xmlns:a16="http://schemas.microsoft.com/office/drawing/2014/main" id="{751AA436-88AA-BF32-9133-3A83D80F4E35}"/>
              </a:ext>
            </a:extLst>
          </p:cNvPr>
          <p:cNvSpPr txBox="1">
            <a:spLocks/>
          </p:cNvSpPr>
          <p:nvPr/>
        </p:nvSpPr>
        <p:spPr>
          <a:xfrm>
            <a:off x="959303" y="1636123"/>
            <a:ext cx="10145472" cy="12402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a:t>Vpp: Vpeak-to-peak = tegangan yang diukur dari puncak paling atas ke puncak paling bawah suatu gelombang </a:t>
            </a:r>
          </a:p>
          <a:p>
            <a:pPr marL="0" indent="0">
              <a:buNone/>
            </a:pPr>
            <a:r>
              <a:rPr lang="en-US" sz="2000"/>
              <a:t>Vm (Vp): V amplitudo = tegangan maksimum/puncak diukur dari 0 = Vpp/2</a:t>
            </a:r>
          </a:p>
        </p:txBody>
      </p:sp>
      <p:sp>
        <p:nvSpPr>
          <p:cNvPr id="11" name="TextBox 10">
            <a:extLst>
              <a:ext uri="{FF2B5EF4-FFF2-40B4-BE49-F238E27FC236}">
                <a16:creationId xmlns:a16="http://schemas.microsoft.com/office/drawing/2014/main" id="{DBDD57FC-02D8-6F28-55B2-395DE2787E5E}"/>
              </a:ext>
            </a:extLst>
          </p:cNvPr>
          <p:cNvSpPr txBox="1"/>
          <p:nvPr/>
        </p:nvSpPr>
        <p:spPr>
          <a:xfrm>
            <a:off x="959303" y="3229808"/>
            <a:ext cx="6094428" cy="400110"/>
          </a:xfrm>
          <a:prstGeom prst="rect">
            <a:avLst/>
          </a:prstGeom>
          <a:noFill/>
        </p:spPr>
        <p:txBody>
          <a:bodyPr wrap="square">
            <a:spAutoFit/>
          </a:bodyPr>
          <a:lstStyle/>
          <a:p>
            <a:pPr marL="0" indent="0">
              <a:buNone/>
            </a:pPr>
            <a:r>
              <a:rPr lang="en-US" sz="2000"/>
              <a:t>Vrata-rata (Vdc): V yang terukur di voltmeter DC</a:t>
            </a:r>
          </a:p>
        </p:txBody>
      </p:sp>
      <p:sp>
        <p:nvSpPr>
          <p:cNvPr id="14" name="TextBox 13">
            <a:extLst>
              <a:ext uri="{FF2B5EF4-FFF2-40B4-BE49-F238E27FC236}">
                <a16:creationId xmlns:a16="http://schemas.microsoft.com/office/drawing/2014/main" id="{4BF798B0-7F9C-0A91-419D-F045DBD187AA}"/>
              </a:ext>
            </a:extLst>
          </p:cNvPr>
          <p:cNvSpPr txBox="1"/>
          <p:nvPr/>
        </p:nvSpPr>
        <p:spPr>
          <a:xfrm>
            <a:off x="921596" y="4906107"/>
            <a:ext cx="6094428" cy="400110"/>
          </a:xfrm>
          <a:prstGeom prst="rect">
            <a:avLst/>
          </a:prstGeom>
          <a:noFill/>
        </p:spPr>
        <p:txBody>
          <a:bodyPr wrap="square">
            <a:spAutoFit/>
          </a:bodyPr>
          <a:lstStyle/>
          <a:p>
            <a:pPr marL="0" indent="0">
              <a:buNone/>
            </a:pPr>
            <a:r>
              <a:rPr lang="en-US" sz="2000"/>
              <a:t>Vrms (Vefektif, Vripple): V yang terukur di voltmeter AC</a:t>
            </a:r>
          </a:p>
        </p:txBody>
      </p:sp>
      <p:pic>
        <p:nvPicPr>
          <p:cNvPr id="16" name="Picture 15">
            <a:extLst>
              <a:ext uri="{FF2B5EF4-FFF2-40B4-BE49-F238E27FC236}">
                <a16:creationId xmlns:a16="http://schemas.microsoft.com/office/drawing/2014/main" id="{8C28CE14-5DCF-583C-9E89-8010C85E1B29}"/>
              </a:ext>
            </a:extLst>
          </p:cNvPr>
          <p:cNvPicPr>
            <a:picLocks noChangeAspect="1"/>
          </p:cNvPicPr>
          <p:nvPr/>
        </p:nvPicPr>
        <p:blipFill>
          <a:blip r:embed="rId2"/>
          <a:stretch>
            <a:fillRect/>
          </a:stretch>
        </p:blipFill>
        <p:spPr>
          <a:xfrm>
            <a:off x="959303" y="3704828"/>
            <a:ext cx="5296639" cy="771633"/>
          </a:xfrm>
          <a:prstGeom prst="rect">
            <a:avLst/>
          </a:prstGeom>
        </p:spPr>
      </p:pic>
      <p:pic>
        <p:nvPicPr>
          <p:cNvPr id="18" name="Picture 17">
            <a:extLst>
              <a:ext uri="{FF2B5EF4-FFF2-40B4-BE49-F238E27FC236}">
                <a16:creationId xmlns:a16="http://schemas.microsoft.com/office/drawing/2014/main" id="{40EC9DE6-7B44-0CFA-BBB8-6ECDA0C62BA7}"/>
              </a:ext>
            </a:extLst>
          </p:cNvPr>
          <p:cNvPicPr>
            <a:picLocks noChangeAspect="1"/>
          </p:cNvPicPr>
          <p:nvPr/>
        </p:nvPicPr>
        <p:blipFill>
          <a:blip r:embed="rId3"/>
          <a:stretch>
            <a:fillRect/>
          </a:stretch>
        </p:blipFill>
        <p:spPr>
          <a:xfrm>
            <a:off x="921596" y="5381127"/>
            <a:ext cx="5591955" cy="885949"/>
          </a:xfrm>
          <a:prstGeom prst="rect">
            <a:avLst/>
          </a:prstGeom>
        </p:spPr>
      </p:pic>
    </p:spTree>
    <p:extLst>
      <p:ext uri="{BB962C8B-B14F-4D97-AF65-F5344CB8AC3E}">
        <p14:creationId xmlns:p14="http://schemas.microsoft.com/office/powerpoint/2010/main" val="787445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54715DDB-6C7D-D63F-0F1F-3A2115C80F2E}"/>
              </a:ext>
            </a:extLst>
          </p:cNvPr>
          <p:cNvSpPr txBox="1"/>
          <p:nvPr/>
        </p:nvSpPr>
        <p:spPr>
          <a:xfrm>
            <a:off x="942975" y="1114292"/>
            <a:ext cx="3826988" cy="400110"/>
          </a:xfrm>
          <a:prstGeom prst="rect">
            <a:avLst/>
          </a:prstGeom>
          <a:noFill/>
        </p:spPr>
        <p:txBody>
          <a:bodyPr wrap="square">
            <a:spAutoFit/>
          </a:bodyPr>
          <a:lstStyle/>
          <a:p>
            <a:r>
              <a:rPr lang="en-US" sz="2000">
                <a:solidFill>
                  <a:srgbClr val="FF0000"/>
                </a:solidFill>
              </a:rPr>
              <a:t>Tegangan rata-rata (Vdc, Vavg)</a:t>
            </a:r>
          </a:p>
        </p:txBody>
      </p:sp>
      <p:sp>
        <p:nvSpPr>
          <p:cNvPr id="3" name="TextBox 2">
            <a:extLst>
              <a:ext uri="{FF2B5EF4-FFF2-40B4-BE49-F238E27FC236}">
                <a16:creationId xmlns:a16="http://schemas.microsoft.com/office/drawing/2014/main" id="{D29FF3CE-6A3A-4C4E-9316-2FC77923D8D5}"/>
              </a:ext>
            </a:extLst>
          </p:cNvPr>
          <p:cNvSpPr txBox="1"/>
          <p:nvPr/>
        </p:nvSpPr>
        <p:spPr>
          <a:xfrm>
            <a:off x="6292359" y="1114292"/>
            <a:ext cx="4340715" cy="400110"/>
          </a:xfrm>
          <a:prstGeom prst="rect">
            <a:avLst/>
          </a:prstGeom>
          <a:noFill/>
        </p:spPr>
        <p:txBody>
          <a:bodyPr wrap="square">
            <a:spAutoFit/>
          </a:bodyPr>
          <a:lstStyle/>
          <a:p>
            <a:r>
              <a:rPr lang="en-US" sz="2000">
                <a:solidFill>
                  <a:srgbClr val="FF0000"/>
                </a:solidFill>
              </a:rPr>
              <a:t>Tegangan Vrms (V efektif, Vripple) </a:t>
            </a:r>
            <a:endParaRPr lang="en-US" sz="2000" dirty="0">
              <a:solidFill>
                <a:srgbClr val="FF0000"/>
              </a:solidFill>
            </a:endParaRPr>
          </a:p>
        </p:txBody>
      </p:sp>
      <p:sp>
        <p:nvSpPr>
          <p:cNvPr id="9" name="TextBox 8">
            <a:extLst>
              <a:ext uri="{FF2B5EF4-FFF2-40B4-BE49-F238E27FC236}">
                <a16:creationId xmlns:a16="http://schemas.microsoft.com/office/drawing/2014/main" id="{0AB6524F-E814-50C1-835D-7BCF1C3480A0}"/>
              </a:ext>
            </a:extLst>
          </p:cNvPr>
          <p:cNvSpPr txBox="1"/>
          <p:nvPr/>
        </p:nvSpPr>
        <p:spPr>
          <a:xfrm>
            <a:off x="942975" y="307464"/>
            <a:ext cx="10158268" cy="400110"/>
          </a:xfrm>
          <a:prstGeom prst="rect">
            <a:avLst/>
          </a:prstGeom>
          <a:noFill/>
        </p:spPr>
        <p:txBody>
          <a:bodyPr wrap="square">
            <a:spAutoFit/>
          </a:bodyPr>
          <a:lstStyle/>
          <a:p>
            <a:r>
              <a:rPr lang="en-US" sz="2000"/>
              <a:t>Filosofi Asal Mula Tegangan rata-rata (Vdc) dan Tegangan Vrms (Veffektif)</a:t>
            </a:r>
            <a:endParaRPr lang="en-ID" sz="2000"/>
          </a:p>
        </p:txBody>
      </p:sp>
      <p:sp>
        <p:nvSpPr>
          <p:cNvPr id="11" name="TextBox 10">
            <a:extLst>
              <a:ext uri="{FF2B5EF4-FFF2-40B4-BE49-F238E27FC236}">
                <a16:creationId xmlns:a16="http://schemas.microsoft.com/office/drawing/2014/main" id="{34335F08-2786-01B2-2FC5-CC1FED48ED87}"/>
              </a:ext>
            </a:extLst>
          </p:cNvPr>
          <p:cNvSpPr txBox="1"/>
          <p:nvPr/>
        </p:nvSpPr>
        <p:spPr>
          <a:xfrm>
            <a:off x="3911265" y="5676398"/>
            <a:ext cx="1573444" cy="369332"/>
          </a:xfrm>
          <a:prstGeom prst="rect">
            <a:avLst/>
          </a:prstGeom>
          <a:noFill/>
        </p:spPr>
        <p:txBody>
          <a:bodyPr wrap="none" rtlCol="0">
            <a:spAutoFit/>
          </a:bodyPr>
          <a:lstStyle/>
          <a:p>
            <a:r>
              <a:rPr lang="en-US">
                <a:solidFill>
                  <a:srgbClr val="FF0000"/>
                </a:solidFill>
              </a:rPr>
              <a:t>Vdc = 0,318 Vp</a:t>
            </a:r>
            <a:endParaRPr lang="en-ID">
              <a:solidFill>
                <a:srgbClr val="FF0000"/>
              </a:solidFill>
            </a:endParaRPr>
          </a:p>
        </p:txBody>
      </p:sp>
      <p:sp>
        <p:nvSpPr>
          <p:cNvPr id="16" name="TextBox 15">
            <a:extLst>
              <a:ext uri="{FF2B5EF4-FFF2-40B4-BE49-F238E27FC236}">
                <a16:creationId xmlns:a16="http://schemas.microsoft.com/office/drawing/2014/main" id="{CE392736-3928-8800-83F6-41A72335F997}"/>
              </a:ext>
            </a:extLst>
          </p:cNvPr>
          <p:cNvSpPr txBox="1"/>
          <p:nvPr/>
        </p:nvSpPr>
        <p:spPr>
          <a:xfrm>
            <a:off x="8726566" y="6422386"/>
            <a:ext cx="1712264" cy="369332"/>
          </a:xfrm>
          <a:prstGeom prst="rect">
            <a:avLst/>
          </a:prstGeom>
          <a:noFill/>
        </p:spPr>
        <p:txBody>
          <a:bodyPr wrap="none" rtlCol="0">
            <a:spAutoFit/>
          </a:bodyPr>
          <a:lstStyle/>
          <a:p>
            <a:r>
              <a:rPr lang="en-US">
                <a:solidFill>
                  <a:srgbClr val="FF0000"/>
                </a:solidFill>
              </a:rPr>
              <a:t>Vrms = 0,707 Vp</a:t>
            </a:r>
            <a:endParaRPr lang="en-ID">
              <a:solidFill>
                <a:srgbClr val="FF0000"/>
              </a:solidFill>
            </a:endParaRPr>
          </a:p>
        </p:txBody>
      </p:sp>
      <p:pic>
        <p:nvPicPr>
          <p:cNvPr id="18" name="Picture 17">
            <a:extLst>
              <a:ext uri="{FF2B5EF4-FFF2-40B4-BE49-F238E27FC236}">
                <a16:creationId xmlns:a16="http://schemas.microsoft.com/office/drawing/2014/main" id="{2F3EE80C-C84E-D75C-B93E-30113BD4D885}"/>
              </a:ext>
            </a:extLst>
          </p:cNvPr>
          <p:cNvPicPr>
            <a:picLocks noChangeAspect="1"/>
          </p:cNvPicPr>
          <p:nvPr/>
        </p:nvPicPr>
        <p:blipFill>
          <a:blip r:embed="rId3"/>
          <a:stretch>
            <a:fillRect/>
          </a:stretch>
        </p:blipFill>
        <p:spPr>
          <a:xfrm>
            <a:off x="1110262" y="1476236"/>
            <a:ext cx="2980166" cy="2848373"/>
          </a:xfrm>
          <a:prstGeom prst="rect">
            <a:avLst/>
          </a:prstGeom>
        </p:spPr>
      </p:pic>
      <p:pic>
        <p:nvPicPr>
          <p:cNvPr id="6" name="Picture 5">
            <a:extLst>
              <a:ext uri="{FF2B5EF4-FFF2-40B4-BE49-F238E27FC236}">
                <a16:creationId xmlns:a16="http://schemas.microsoft.com/office/drawing/2014/main" id="{2168D1C1-605B-13A0-289E-78A9338EBA21}"/>
              </a:ext>
            </a:extLst>
          </p:cNvPr>
          <p:cNvPicPr>
            <a:picLocks noChangeAspect="1"/>
          </p:cNvPicPr>
          <p:nvPr/>
        </p:nvPicPr>
        <p:blipFill>
          <a:blip r:embed="rId4"/>
          <a:stretch>
            <a:fillRect/>
          </a:stretch>
        </p:blipFill>
        <p:spPr>
          <a:xfrm>
            <a:off x="6972846" y="1549708"/>
            <a:ext cx="1225883" cy="1215841"/>
          </a:xfrm>
          <a:prstGeom prst="rect">
            <a:avLst/>
          </a:prstGeom>
        </p:spPr>
      </p:pic>
      <p:pic>
        <p:nvPicPr>
          <p:cNvPr id="8" name="Picture 7">
            <a:extLst>
              <a:ext uri="{FF2B5EF4-FFF2-40B4-BE49-F238E27FC236}">
                <a16:creationId xmlns:a16="http://schemas.microsoft.com/office/drawing/2014/main" id="{E97C2C9D-EBB5-0425-4055-E5F52CB86C28}"/>
              </a:ext>
            </a:extLst>
          </p:cNvPr>
          <p:cNvPicPr>
            <a:picLocks noChangeAspect="1"/>
          </p:cNvPicPr>
          <p:nvPr/>
        </p:nvPicPr>
        <p:blipFill>
          <a:blip r:embed="rId5"/>
          <a:stretch>
            <a:fillRect/>
          </a:stretch>
        </p:blipFill>
        <p:spPr>
          <a:xfrm>
            <a:off x="6972846" y="2701135"/>
            <a:ext cx="1560454" cy="1359410"/>
          </a:xfrm>
          <a:prstGeom prst="rect">
            <a:avLst/>
          </a:prstGeom>
        </p:spPr>
      </p:pic>
      <p:sp>
        <p:nvSpPr>
          <p:cNvPr id="20" name="TextBox 19">
            <a:extLst>
              <a:ext uri="{FF2B5EF4-FFF2-40B4-BE49-F238E27FC236}">
                <a16:creationId xmlns:a16="http://schemas.microsoft.com/office/drawing/2014/main" id="{C4C7EC2C-4099-B8CB-508B-A8CCA42AB47E}"/>
              </a:ext>
            </a:extLst>
          </p:cNvPr>
          <p:cNvSpPr txBox="1"/>
          <p:nvPr/>
        </p:nvSpPr>
        <p:spPr>
          <a:xfrm>
            <a:off x="9037380" y="2365439"/>
            <a:ext cx="2201931" cy="400110"/>
          </a:xfrm>
          <a:prstGeom prst="rect">
            <a:avLst/>
          </a:prstGeom>
          <a:noFill/>
        </p:spPr>
        <p:txBody>
          <a:bodyPr wrap="square">
            <a:spAutoFit/>
          </a:bodyPr>
          <a:lstStyle/>
          <a:p>
            <a:r>
              <a:rPr lang="en-US" sz="2000">
                <a:solidFill>
                  <a:srgbClr val="FF0000"/>
                </a:solidFill>
              </a:rPr>
              <a:t>f(t) dikuadratkan</a:t>
            </a:r>
            <a:endParaRPr lang="en-US" sz="2000" dirty="0">
              <a:solidFill>
                <a:srgbClr val="FF0000"/>
              </a:solidFill>
            </a:endParaRPr>
          </a:p>
        </p:txBody>
      </p:sp>
      <p:sp>
        <p:nvSpPr>
          <p:cNvPr id="21" name="TextBox 20">
            <a:extLst>
              <a:ext uri="{FF2B5EF4-FFF2-40B4-BE49-F238E27FC236}">
                <a16:creationId xmlns:a16="http://schemas.microsoft.com/office/drawing/2014/main" id="{32157577-F13B-7D32-629F-AB1A759E4D3D}"/>
              </a:ext>
            </a:extLst>
          </p:cNvPr>
          <p:cNvSpPr txBox="1"/>
          <p:nvPr/>
        </p:nvSpPr>
        <p:spPr>
          <a:xfrm>
            <a:off x="4018251" y="3745718"/>
            <a:ext cx="1707644" cy="400110"/>
          </a:xfrm>
          <a:prstGeom prst="rect">
            <a:avLst/>
          </a:prstGeom>
          <a:noFill/>
        </p:spPr>
        <p:txBody>
          <a:bodyPr wrap="square">
            <a:spAutoFit/>
          </a:bodyPr>
          <a:lstStyle/>
          <a:p>
            <a:r>
              <a:rPr lang="en-US" sz="2000">
                <a:solidFill>
                  <a:srgbClr val="FF0000"/>
                </a:solidFill>
              </a:rPr>
              <a:t>Dirata-ratakan</a:t>
            </a:r>
            <a:endParaRPr lang="en-US" sz="2000" dirty="0">
              <a:solidFill>
                <a:srgbClr val="FF0000"/>
              </a:solidFill>
            </a:endParaRPr>
          </a:p>
        </p:txBody>
      </p:sp>
      <p:sp>
        <p:nvSpPr>
          <p:cNvPr id="22" name="Rectangle 21">
            <a:extLst>
              <a:ext uri="{FF2B5EF4-FFF2-40B4-BE49-F238E27FC236}">
                <a16:creationId xmlns:a16="http://schemas.microsoft.com/office/drawing/2014/main" id="{A5D3DE73-1CEC-A7A9-03E6-D532F2986372}"/>
              </a:ext>
            </a:extLst>
          </p:cNvPr>
          <p:cNvSpPr/>
          <p:nvPr/>
        </p:nvSpPr>
        <p:spPr>
          <a:xfrm>
            <a:off x="1409006" y="1748637"/>
            <a:ext cx="701963" cy="982943"/>
          </a:xfrm>
          <a:prstGeom prst="rect">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22">
            <a:extLst>
              <a:ext uri="{FF2B5EF4-FFF2-40B4-BE49-F238E27FC236}">
                <a16:creationId xmlns:a16="http://schemas.microsoft.com/office/drawing/2014/main" id="{8603652F-203E-3B35-B4F5-E69B4A30B806}"/>
              </a:ext>
            </a:extLst>
          </p:cNvPr>
          <p:cNvSpPr/>
          <p:nvPr/>
        </p:nvSpPr>
        <p:spPr>
          <a:xfrm>
            <a:off x="7136480" y="1799078"/>
            <a:ext cx="701963" cy="982943"/>
          </a:xfrm>
          <a:prstGeom prst="rect">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25" name="Straight Arrow Connector 24">
            <a:extLst>
              <a:ext uri="{FF2B5EF4-FFF2-40B4-BE49-F238E27FC236}">
                <a16:creationId xmlns:a16="http://schemas.microsoft.com/office/drawing/2014/main" id="{8FE3EFE3-19A1-EF72-D47C-D3D7054E818B}"/>
              </a:ext>
            </a:extLst>
          </p:cNvPr>
          <p:cNvCxnSpPr>
            <a:cxnSpLocks/>
          </p:cNvCxnSpPr>
          <p:nvPr/>
        </p:nvCxnSpPr>
        <p:spPr>
          <a:xfrm>
            <a:off x="2121815" y="3528415"/>
            <a:ext cx="1939545" cy="45644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E7FEC752-A4F9-BB92-B6B5-5CD85E7F049F}"/>
              </a:ext>
            </a:extLst>
          </p:cNvPr>
          <p:cNvCxnSpPr>
            <a:cxnSpLocks/>
          </p:cNvCxnSpPr>
          <p:nvPr/>
        </p:nvCxnSpPr>
        <p:spPr>
          <a:xfrm>
            <a:off x="7916632" y="2066816"/>
            <a:ext cx="1120748" cy="34964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698A5E1-4BA1-A0F0-7ED9-EEC1EC9C7EA9}"/>
              </a:ext>
            </a:extLst>
          </p:cNvPr>
          <p:cNvCxnSpPr>
            <a:cxnSpLocks/>
          </p:cNvCxnSpPr>
          <p:nvPr/>
        </p:nvCxnSpPr>
        <p:spPr>
          <a:xfrm flipH="1">
            <a:off x="7817727" y="2741083"/>
            <a:ext cx="1164002" cy="45513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CA6E7BEF-A568-B632-3D21-F17195FFF45C}"/>
              </a:ext>
            </a:extLst>
          </p:cNvPr>
          <p:cNvSpPr txBox="1"/>
          <p:nvPr/>
        </p:nvSpPr>
        <p:spPr>
          <a:xfrm>
            <a:off x="8726566" y="4454218"/>
            <a:ext cx="1871737" cy="369332"/>
          </a:xfrm>
          <a:prstGeom prst="rect">
            <a:avLst/>
          </a:prstGeom>
          <a:noFill/>
        </p:spPr>
        <p:txBody>
          <a:bodyPr wrap="square">
            <a:spAutoFit/>
          </a:bodyPr>
          <a:lstStyle/>
          <a:p>
            <a:r>
              <a:rPr lang="en-US" sz="1800">
                <a:solidFill>
                  <a:srgbClr val="FF0000"/>
                </a:solidFill>
              </a:rPr>
              <a:t>lalu diakarkan</a:t>
            </a:r>
            <a:endParaRPr lang="en-ID"/>
          </a:p>
        </p:txBody>
      </p:sp>
      <p:cxnSp>
        <p:nvCxnSpPr>
          <p:cNvPr id="33" name="Straight Arrow Connector 32">
            <a:extLst>
              <a:ext uri="{FF2B5EF4-FFF2-40B4-BE49-F238E27FC236}">
                <a16:creationId xmlns:a16="http://schemas.microsoft.com/office/drawing/2014/main" id="{F7CDF6CF-E330-B72D-C7A6-1EEE14581FBB}"/>
              </a:ext>
            </a:extLst>
          </p:cNvPr>
          <p:cNvCxnSpPr>
            <a:cxnSpLocks/>
          </p:cNvCxnSpPr>
          <p:nvPr/>
        </p:nvCxnSpPr>
        <p:spPr>
          <a:xfrm>
            <a:off x="8038052" y="3389917"/>
            <a:ext cx="1187842" cy="17796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F10376AF-AAF3-6B1A-8868-0B421D21DB88}"/>
              </a:ext>
            </a:extLst>
          </p:cNvPr>
          <p:cNvCxnSpPr>
            <a:cxnSpLocks/>
          </p:cNvCxnSpPr>
          <p:nvPr/>
        </p:nvCxnSpPr>
        <p:spPr>
          <a:xfrm>
            <a:off x="9268835" y="3909070"/>
            <a:ext cx="5840" cy="5451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2F62D117-0E4B-6097-BF05-68F7A729BDD5}"/>
              </a:ext>
            </a:extLst>
          </p:cNvPr>
          <p:cNvPicPr>
            <a:picLocks noChangeAspect="1"/>
          </p:cNvPicPr>
          <p:nvPr/>
        </p:nvPicPr>
        <p:blipFill>
          <a:blip r:embed="rId6"/>
          <a:stretch>
            <a:fillRect/>
          </a:stretch>
        </p:blipFill>
        <p:spPr>
          <a:xfrm>
            <a:off x="3911265" y="4103108"/>
            <a:ext cx="2098773" cy="644436"/>
          </a:xfrm>
          <a:prstGeom prst="rect">
            <a:avLst/>
          </a:prstGeom>
        </p:spPr>
      </p:pic>
      <p:pic>
        <p:nvPicPr>
          <p:cNvPr id="7" name="Picture 6">
            <a:extLst>
              <a:ext uri="{FF2B5EF4-FFF2-40B4-BE49-F238E27FC236}">
                <a16:creationId xmlns:a16="http://schemas.microsoft.com/office/drawing/2014/main" id="{477F6036-797A-C540-D762-967A12BDD3FA}"/>
              </a:ext>
            </a:extLst>
          </p:cNvPr>
          <p:cNvPicPr>
            <a:picLocks noChangeAspect="1"/>
          </p:cNvPicPr>
          <p:nvPr/>
        </p:nvPicPr>
        <p:blipFill>
          <a:blip r:embed="rId7"/>
          <a:stretch>
            <a:fillRect/>
          </a:stretch>
        </p:blipFill>
        <p:spPr>
          <a:xfrm>
            <a:off x="8738206" y="4778178"/>
            <a:ext cx="2426275" cy="775748"/>
          </a:xfrm>
          <a:prstGeom prst="rect">
            <a:avLst/>
          </a:prstGeom>
        </p:spPr>
      </p:pic>
      <p:sp>
        <p:nvSpPr>
          <p:cNvPr id="24" name="TextBox 23">
            <a:extLst>
              <a:ext uri="{FF2B5EF4-FFF2-40B4-BE49-F238E27FC236}">
                <a16:creationId xmlns:a16="http://schemas.microsoft.com/office/drawing/2014/main" id="{474D944B-A924-00CF-B317-B4FBD5CC5AB8}"/>
              </a:ext>
            </a:extLst>
          </p:cNvPr>
          <p:cNvSpPr txBox="1"/>
          <p:nvPr/>
        </p:nvSpPr>
        <p:spPr>
          <a:xfrm>
            <a:off x="4125308" y="2436026"/>
            <a:ext cx="2106163" cy="707886"/>
          </a:xfrm>
          <a:prstGeom prst="rect">
            <a:avLst/>
          </a:prstGeom>
          <a:noFill/>
        </p:spPr>
        <p:txBody>
          <a:bodyPr wrap="square">
            <a:spAutoFit/>
          </a:bodyPr>
          <a:lstStyle/>
          <a:p>
            <a:r>
              <a:rPr lang="en-US" sz="2000">
                <a:solidFill>
                  <a:srgbClr val="FF0000"/>
                </a:solidFill>
              </a:rPr>
              <a:t>Ambil bagian positifnya saja</a:t>
            </a:r>
            <a:endParaRPr lang="en-US" sz="2000" dirty="0">
              <a:solidFill>
                <a:srgbClr val="FF0000"/>
              </a:solidFill>
            </a:endParaRPr>
          </a:p>
        </p:txBody>
      </p:sp>
      <p:cxnSp>
        <p:nvCxnSpPr>
          <p:cNvPr id="27" name="Straight Arrow Connector 26">
            <a:extLst>
              <a:ext uri="{FF2B5EF4-FFF2-40B4-BE49-F238E27FC236}">
                <a16:creationId xmlns:a16="http://schemas.microsoft.com/office/drawing/2014/main" id="{E7F4A087-76BB-72A7-141B-416CDFC19DC2}"/>
              </a:ext>
            </a:extLst>
          </p:cNvPr>
          <p:cNvCxnSpPr>
            <a:cxnSpLocks/>
          </p:cNvCxnSpPr>
          <p:nvPr/>
        </p:nvCxnSpPr>
        <p:spPr>
          <a:xfrm>
            <a:off x="2158773" y="1827620"/>
            <a:ext cx="2136711" cy="68435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F7E554E-7143-209E-21A2-8C68C6DD95BE}"/>
              </a:ext>
            </a:extLst>
          </p:cNvPr>
          <p:cNvCxnSpPr>
            <a:cxnSpLocks/>
          </p:cNvCxnSpPr>
          <p:nvPr/>
        </p:nvCxnSpPr>
        <p:spPr>
          <a:xfrm flipH="1">
            <a:off x="2176490" y="3017359"/>
            <a:ext cx="2046098" cy="36791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44" name="Picture 43">
            <a:extLst>
              <a:ext uri="{FF2B5EF4-FFF2-40B4-BE49-F238E27FC236}">
                <a16:creationId xmlns:a16="http://schemas.microsoft.com/office/drawing/2014/main" id="{9934E87B-C8D5-E4E6-337D-127E9525FEDD}"/>
              </a:ext>
            </a:extLst>
          </p:cNvPr>
          <p:cNvPicPr>
            <a:picLocks noChangeAspect="1"/>
          </p:cNvPicPr>
          <p:nvPr/>
        </p:nvPicPr>
        <p:blipFill>
          <a:blip r:embed="rId8"/>
          <a:stretch>
            <a:fillRect/>
          </a:stretch>
        </p:blipFill>
        <p:spPr>
          <a:xfrm>
            <a:off x="9225894" y="3385278"/>
            <a:ext cx="1337533" cy="612479"/>
          </a:xfrm>
          <a:prstGeom prst="rect">
            <a:avLst/>
          </a:prstGeom>
        </p:spPr>
      </p:pic>
      <p:sp>
        <p:nvSpPr>
          <p:cNvPr id="46" name="TextBox 45">
            <a:extLst>
              <a:ext uri="{FF2B5EF4-FFF2-40B4-BE49-F238E27FC236}">
                <a16:creationId xmlns:a16="http://schemas.microsoft.com/office/drawing/2014/main" id="{75F910C0-9EED-0188-9C8A-FAF2A43D98F7}"/>
              </a:ext>
            </a:extLst>
          </p:cNvPr>
          <p:cNvSpPr txBox="1"/>
          <p:nvPr/>
        </p:nvSpPr>
        <p:spPr>
          <a:xfrm>
            <a:off x="10205893" y="3311092"/>
            <a:ext cx="286202" cy="354412"/>
          </a:xfrm>
          <a:prstGeom prst="rect">
            <a:avLst/>
          </a:prstGeom>
          <a:noFill/>
        </p:spPr>
        <p:txBody>
          <a:bodyPr wrap="none" rtlCol="0">
            <a:spAutoFit/>
          </a:bodyPr>
          <a:lstStyle/>
          <a:p>
            <a:r>
              <a:rPr lang="en-US">
                <a:solidFill>
                  <a:srgbClr val="FF0000"/>
                </a:solidFill>
              </a:rPr>
              <a:t>2</a:t>
            </a:r>
            <a:endParaRPr lang="en-ID">
              <a:solidFill>
                <a:srgbClr val="FF0000"/>
              </a:solidFill>
            </a:endParaRPr>
          </a:p>
        </p:txBody>
      </p:sp>
      <p:sp>
        <p:nvSpPr>
          <p:cNvPr id="54" name="Rectangle 53">
            <a:extLst>
              <a:ext uri="{FF2B5EF4-FFF2-40B4-BE49-F238E27FC236}">
                <a16:creationId xmlns:a16="http://schemas.microsoft.com/office/drawing/2014/main" id="{D222E3BB-C150-0BA3-BFFF-2CBE79021C6A}"/>
              </a:ext>
            </a:extLst>
          </p:cNvPr>
          <p:cNvSpPr/>
          <p:nvPr/>
        </p:nvSpPr>
        <p:spPr>
          <a:xfrm>
            <a:off x="7154468" y="3017359"/>
            <a:ext cx="701963" cy="982943"/>
          </a:xfrm>
          <a:prstGeom prst="rect">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8" name="TextBox 57">
            <a:extLst>
              <a:ext uri="{FF2B5EF4-FFF2-40B4-BE49-F238E27FC236}">
                <a16:creationId xmlns:a16="http://schemas.microsoft.com/office/drawing/2014/main" id="{91EE7E8D-3C23-8ACD-4369-E0620CC50B8B}"/>
              </a:ext>
            </a:extLst>
          </p:cNvPr>
          <p:cNvSpPr txBox="1"/>
          <p:nvPr/>
        </p:nvSpPr>
        <p:spPr>
          <a:xfrm>
            <a:off x="9171219" y="3088188"/>
            <a:ext cx="2106163" cy="400110"/>
          </a:xfrm>
          <a:prstGeom prst="rect">
            <a:avLst/>
          </a:prstGeom>
          <a:noFill/>
        </p:spPr>
        <p:txBody>
          <a:bodyPr wrap="square">
            <a:spAutoFit/>
          </a:bodyPr>
          <a:lstStyle/>
          <a:p>
            <a:r>
              <a:rPr lang="en-US" sz="2000">
                <a:solidFill>
                  <a:srgbClr val="FF0000"/>
                </a:solidFill>
              </a:rPr>
              <a:t>Dirata-ratakan</a:t>
            </a:r>
            <a:endParaRPr lang="en-US" sz="2000" dirty="0">
              <a:solidFill>
                <a:srgbClr val="FF0000"/>
              </a:solidFill>
            </a:endParaRPr>
          </a:p>
        </p:txBody>
      </p:sp>
      <p:sp>
        <p:nvSpPr>
          <p:cNvPr id="60" name="Rectangle 59">
            <a:extLst>
              <a:ext uri="{FF2B5EF4-FFF2-40B4-BE49-F238E27FC236}">
                <a16:creationId xmlns:a16="http://schemas.microsoft.com/office/drawing/2014/main" id="{7748C129-11C2-68B7-356D-9F83A2D00492}"/>
              </a:ext>
            </a:extLst>
          </p:cNvPr>
          <p:cNvSpPr/>
          <p:nvPr/>
        </p:nvSpPr>
        <p:spPr>
          <a:xfrm>
            <a:off x="1419852" y="3307234"/>
            <a:ext cx="701963" cy="982943"/>
          </a:xfrm>
          <a:prstGeom prst="rect">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74" name="Group 73">
            <a:extLst>
              <a:ext uri="{FF2B5EF4-FFF2-40B4-BE49-F238E27FC236}">
                <a16:creationId xmlns:a16="http://schemas.microsoft.com/office/drawing/2014/main" id="{02991398-2054-68DB-6F43-48DFBD273B59}"/>
              </a:ext>
            </a:extLst>
          </p:cNvPr>
          <p:cNvGrpSpPr/>
          <p:nvPr/>
        </p:nvGrpSpPr>
        <p:grpSpPr>
          <a:xfrm>
            <a:off x="8765888" y="5691307"/>
            <a:ext cx="1185455" cy="650086"/>
            <a:chOff x="6619528" y="5268646"/>
            <a:chExt cx="1185455" cy="650086"/>
          </a:xfrm>
        </p:grpSpPr>
        <p:pic>
          <p:nvPicPr>
            <p:cNvPr id="14" name="Picture 13">
              <a:extLst>
                <a:ext uri="{FF2B5EF4-FFF2-40B4-BE49-F238E27FC236}">
                  <a16:creationId xmlns:a16="http://schemas.microsoft.com/office/drawing/2014/main" id="{AA760CC5-F968-3BFA-912C-0C2A85256128}"/>
                </a:ext>
              </a:extLst>
            </p:cNvPr>
            <p:cNvPicPr>
              <a:picLocks noChangeAspect="1"/>
            </p:cNvPicPr>
            <p:nvPr/>
          </p:nvPicPr>
          <p:blipFill>
            <a:blip r:embed="rId9"/>
            <a:stretch>
              <a:fillRect/>
            </a:stretch>
          </p:blipFill>
          <p:spPr>
            <a:xfrm>
              <a:off x="7302250" y="5268646"/>
              <a:ext cx="502733" cy="650086"/>
            </a:xfrm>
            <a:prstGeom prst="rect">
              <a:avLst/>
            </a:prstGeom>
          </p:spPr>
        </p:pic>
        <p:sp>
          <p:nvSpPr>
            <p:cNvPr id="69" name="TextBox 68">
              <a:extLst>
                <a:ext uri="{FF2B5EF4-FFF2-40B4-BE49-F238E27FC236}">
                  <a16:creationId xmlns:a16="http://schemas.microsoft.com/office/drawing/2014/main" id="{35F9EB54-EB1D-0F2E-7BC4-58FC8AC3320C}"/>
                </a:ext>
              </a:extLst>
            </p:cNvPr>
            <p:cNvSpPr txBox="1"/>
            <p:nvPr/>
          </p:nvSpPr>
          <p:spPr>
            <a:xfrm>
              <a:off x="6619528" y="5380829"/>
              <a:ext cx="664734" cy="369332"/>
            </a:xfrm>
            <a:prstGeom prst="rect">
              <a:avLst/>
            </a:prstGeom>
            <a:noFill/>
          </p:spPr>
          <p:txBody>
            <a:bodyPr wrap="none" rtlCol="0">
              <a:spAutoFit/>
            </a:bodyPr>
            <a:lstStyle/>
            <a:p>
              <a:r>
                <a:rPr lang="en-US"/>
                <a:t>Vrms</a:t>
              </a:r>
              <a:endParaRPr lang="en-ID"/>
            </a:p>
          </p:txBody>
        </p:sp>
      </p:grpSp>
      <p:grpSp>
        <p:nvGrpSpPr>
          <p:cNvPr id="73" name="Group 72">
            <a:extLst>
              <a:ext uri="{FF2B5EF4-FFF2-40B4-BE49-F238E27FC236}">
                <a16:creationId xmlns:a16="http://schemas.microsoft.com/office/drawing/2014/main" id="{FE432B9F-B101-A2E7-EE54-EB3DF1CE3A06}"/>
              </a:ext>
            </a:extLst>
          </p:cNvPr>
          <p:cNvGrpSpPr/>
          <p:nvPr/>
        </p:nvGrpSpPr>
        <p:grpSpPr>
          <a:xfrm>
            <a:off x="3911265" y="4926415"/>
            <a:ext cx="999385" cy="752580"/>
            <a:chOff x="1213540" y="5023001"/>
            <a:chExt cx="999385" cy="752580"/>
          </a:xfrm>
        </p:grpSpPr>
        <p:pic>
          <p:nvPicPr>
            <p:cNvPr id="71" name="Picture 70">
              <a:extLst>
                <a:ext uri="{FF2B5EF4-FFF2-40B4-BE49-F238E27FC236}">
                  <a16:creationId xmlns:a16="http://schemas.microsoft.com/office/drawing/2014/main" id="{B23DDBD3-D0E0-FD55-EDA6-82CE03999373}"/>
                </a:ext>
              </a:extLst>
            </p:cNvPr>
            <p:cNvPicPr>
              <a:picLocks noChangeAspect="1"/>
            </p:cNvPicPr>
            <p:nvPr/>
          </p:nvPicPr>
          <p:blipFill>
            <a:blip r:embed="rId10"/>
            <a:stretch>
              <a:fillRect/>
            </a:stretch>
          </p:blipFill>
          <p:spPr>
            <a:xfrm>
              <a:off x="1889030" y="5023001"/>
              <a:ext cx="323895" cy="752580"/>
            </a:xfrm>
            <a:prstGeom prst="rect">
              <a:avLst/>
            </a:prstGeom>
          </p:spPr>
        </p:pic>
        <p:sp>
          <p:nvSpPr>
            <p:cNvPr id="72" name="TextBox 71">
              <a:extLst>
                <a:ext uri="{FF2B5EF4-FFF2-40B4-BE49-F238E27FC236}">
                  <a16:creationId xmlns:a16="http://schemas.microsoft.com/office/drawing/2014/main" id="{F965B703-5A51-3CD5-48BB-3642599F1738}"/>
                </a:ext>
              </a:extLst>
            </p:cNvPr>
            <p:cNvSpPr txBox="1"/>
            <p:nvPr/>
          </p:nvSpPr>
          <p:spPr>
            <a:xfrm>
              <a:off x="1213540" y="5196163"/>
              <a:ext cx="694229" cy="369332"/>
            </a:xfrm>
            <a:prstGeom prst="rect">
              <a:avLst/>
            </a:prstGeom>
            <a:noFill/>
          </p:spPr>
          <p:txBody>
            <a:bodyPr wrap="none" rtlCol="0">
              <a:spAutoFit/>
            </a:bodyPr>
            <a:lstStyle/>
            <a:p>
              <a:r>
                <a:rPr lang="en-US"/>
                <a:t>Vdc =</a:t>
              </a:r>
              <a:endParaRPr lang="en-ID"/>
            </a:p>
          </p:txBody>
        </p:sp>
      </p:grpSp>
    </p:spTree>
    <p:extLst>
      <p:ext uri="{BB962C8B-B14F-4D97-AF65-F5344CB8AC3E}">
        <p14:creationId xmlns:p14="http://schemas.microsoft.com/office/powerpoint/2010/main" val="29090200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46484" y="1016585"/>
            <a:ext cx="4539916" cy="4524315"/>
          </a:xfrm>
          <a:prstGeom prst="rect">
            <a:avLst/>
          </a:prstGeom>
        </p:spPr>
        <p:txBody>
          <a:bodyPr wrap="square">
            <a:spAutoFit/>
          </a:bodyPr>
          <a:lstStyle/>
          <a:p>
            <a:r>
              <a:rPr lang="en-US" sz="1600">
                <a:solidFill>
                  <a:srgbClr val="0D0D0D"/>
                </a:solidFill>
                <a:latin typeface="Söhne"/>
              </a:rPr>
              <a:t>Vrms (Root Mean Square Voltage) adalah nilai rata-rata kuadrat dari tegangan AC (Alternating Current) yang digunakan untuk mengukur atau menggambarkan nilai efektif dari tegangan bolak-balik. </a:t>
            </a:r>
          </a:p>
          <a:p>
            <a:endParaRPr lang="en-US" sz="1600">
              <a:solidFill>
                <a:srgbClr val="0D0D0D"/>
              </a:solidFill>
              <a:latin typeface="Söhne"/>
            </a:endParaRPr>
          </a:p>
          <a:p>
            <a:r>
              <a:rPr lang="en-US" sz="1600">
                <a:solidFill>
                  <a:srgbClr val="0D0D0D"/>
                </a:solidFill>
                <a:latin typeface="Söhne"/>
              </a:rPr>
              <a:t>Ini adalah metode standar untuk mengekspresikan tegangan AC dalam satu nilai tunggal yang setara dengan tegangan DC (Direct Current) yang akan menghasilkan daya yang sama pada beban resistif.</a:t>
            </a:r>
          </a:p>
          <a:p>
            <a:endParaRPr lang="en-US" sz="1600">
              <a:solidFill>
                <a:srgbClr val="0D0D0D"/>
              </a:solidFill>
              <a:latin typeface="Söhne"/>
            </a:endParaRPr>
          </a:p>
          <a:p>
            <a:r>
              <a:rPr lang="en-US" sz="1600">
                <a:solidFill>
                  <a:srgbClr val="0D0D0D"/>
                </a:solidFill>
                <a:latin typeface="Söhne"/>
              </a:rPr>
              <a:t>Vrms dihitung dengan cara berikut:</a:t>
            </a:r>
          </a:p>
          <a:p>
            <a:pPr>
              <a:buFont typeface="+mj-lt"/>
              <a:buAutoNum type="arabicPeriod"/>
            </a:pPr>
            <a:r>
              <a:rPr lang="en-US" sz="1600">
                <a:solidFill>
                  <a:srgbClr val="0D0D0D"/>
                </a:solidFill>
                <a:latin typeface="Söhne"/>
              </a:rPr>
              <a:t> Kuadratkan semua nilai tegangan dalam satu siklus AC.</a:t>
            </a:r>
          </a:p>
          <a:p>
            <a:pPr>
              <a:buFont typeface="+mj-lt"/>
              <a:buAutoNum type="arabicPeriod"/>
            </a:pPr>
            <a:r>
              <a:rPr lang="en-US" sz="1600">
                <a:solidFill>
                  <a:srgbClr val="0D0D0D"/>
                </a:solidFill>
                <a:latin typeface="Söhne"/>
              </a:rPr>
              <a:t> Ambil rata-rata aritmatika dari semua nilai tegangan yang telah dikuadratkan.</a:t>
            </a:r>
          </a:p>
          <a:p>
            <a:pPr>
              <a:buFont typeface="+mj-lt"/>
              <a:buAutoNum type="arabicPeriod"/>
            </a:pPr>
            <a:r>
              <a:rPr lang="en-US" sz="1600">
                <a:solidFill>
                  <a:srgbClr val="0D0D0D"/>
                </a:solidFill>
                <a:latin typeface="Söhne"/>
              </a:rPr>
              <a:t> Akar kuadratkan hasil rata-rata tersebut.</a:t>
            </a:r>
          </a:p>
        </p:txBody>
      </p:sp>
      <p:pic>
        <p:nvPicPr>
          <p:cNvPr id="4" name="Picture 3"/>
          <p:cNvPicPr>
            <a:picLocks noChangeAspect="1"/>
          </p:cNvPicPr>
          <p:nvPr/>
        </p:nvPicPr>
        <p:blipFill>
          <a:blip r:embed="rId2"/>
          <a:stretch>
            <a:fillRect/>
          </a:stretch>
        </p:blipFill>
        <p:spPr>
          <a:xfrm>
            <a:off x="6719796" y="1827579"/>
            <a:ext cx="3479066" cy="953721"/>
          </a:xfrm>
          <a:prstGeom prst="rect">
            <a:avLst/>
          </a:prstGeom>
        </p:spPr>
      </p:pic>
      <p:sp>
        <p:nvSpPr>
          <p:cNvPr id="5" name="Rectangle 4"/>
          <p:cNvSpPr/>
          <p:nvPr/>
        </p:nvSpPr>
        <p:spPr>
          <a:xfrm>
            <a:off x="5893969" y="3155632"/>
            <a:ext cx="5550853" cy="2308324"/>
          </a:xfrm>
          <a:prstGeom prst="rect">
            <a:avLst/>
          </a:prstGeom>
        </p:spPr>
        <p:txBody>
          <a:bodyPr wrap="square">
            <a:spAutoFit/>
          </a:bodyPr>
          <a:lstStyle/>
          <a:p>
            <a:r>
              <a:rPr lang="en-US" sz="1600">
                <a:solidFill>
                  <a:srgbClr val="0D0D0D"/>
                </a:solidFill>
                <a:latin typeface="Söhne"/>
              </a:rPr>
              <a:t>Nilai Vrms memberikan representasi yang akurat dari nilai efektif dari tegangan AC, yang berarti tegangan ini akan memberikan daya yang sama pada beban resistif seperti tegangan DC dengan nilai yang sama. </a:t>
            </a:r>
          </a:p>
          <a:p>
            <a:endParaRPr lang="en-US" sz="1600">
              <a:solidFill>
                <a:srgbClr val="0D0D0D"/>
              </a:solidFill>
              <a:latin typeface="Söhne"/>
            </a:endParaRPr>
          </a:p>
          <a:p>
            <a:r>
              <a:rPr lang="en-US" sz="1600">
                <a:solidFill>
                  <a:srgbClr val="0D0D0D"/>
                </a:solidFill>
                <a:latin typeface="Söhne"/>
              </a:rPr>
              <a:t>Dalam banyak kasus, nilai Vrms lebih penting untuk diperhatikan daripada nilai puncak tegangan AC karena mencerminkan daya sebenarnya yang dikirimkan oleh sumber AC ke beban.</a:t>
            </a:r>
            <a:endParaRPr lang="en-US" sz="1600"/>
          </a:p>
        </p:txBody>
      </p:sp>
      <p:sp>
        <p:nvSpPr>
          <p:cNvPr id="6" name="Rectangle 5"/>
          <p:cNvSpPr/>
          <p:nvPr/>
        </p:nvSpPr>
        <p:spPr>
          <a:xfrm>
            <a:off x="5893969" y="1016585"/>
            <a:ext cx="4945481" cy="584775"/>
          </a:xfrm>
          <a:prstGeom prst="rect">
            <a:avLst/>
          </a:prstGeom>
        </p:spPr>
        <p:txBody>
          <a:bodyPr wrap="square">
            <a:spAutoFit/>
          </a:bodyPr>
          <a:lstStyle/>
          <a:p>
            <a:r>
              <a:rPr lang="en-US" sz="1600">
                <a:solidFill>
                  <a:srgbClr val="0D0D0D"/>
                </a:solidFill>
                <a:latin typeface="Söhne"/>
              </a:rPr>
              <a:t>Rumus matematisnya adalah sebagai berikut, dengan T adalah periode siklus AC:</a:t>
            </a:r>
          </a:p>
        </p:txBody>
      </p:sp>
      <p:sp>
        <p:nvSpPr>
          <p:cNvPr id="7" name="Rectangle 6"/>
          <p:cNvSpPr/>
          <p:nvPr/>
        </p:nvSpPr>
        <p:spPr>
          <a:xfrm>
            <a:off x="5893968" y="5639485"/>
            <a:ext cx="5550853" cy="584775"/>
          </a:xfrm>
          <a:prstGeom prst="rect">
            <a:avLst/>
          </a:prstGeom>
        </p:spPr>
        <p:txBody>
          <a:bodyPr wrap="square">
            <a:spAutoFit/>
          </a:bodyPr>
          <a:lstStyle/>
          <a:p>
            <a:r>
              <a:rPr lang="en-US" sz="1600"/>
              <a:t>Vp = Vpeak = Vpuncak</a:t>
            </a:r>
          </a:p>
          <a:p>
            <a:r>
              <a:rPr lang="en-US" sz="1600"/>
              <a:t>1/Pi = 0,318</a:t>
            </a:r>
          </a:p>
        </p:txBody>
      </p:sp>
      <p:sp>
        <p:nvSpPr>
          <p:cNvPr id="8" name="TextBox 7">
            <a:extLst>
              <a:ext uri="{FF2B5EF4-FFF2-40B4-BE49-F238E27FC236}">
                <a16:creationId xmlns:a16="http://schemas.microsoft.com/office/drawing/2014/main" id="{9F8CDDEB-EADC-8CDB-39F7-A21758A78E4E}"/>
              </a:ext>
            </a:extLst>
          </p:cNvPr>
          <p:cNvSpPr txBox="1"/>
          <p:nvPr/>
        </p:nvSpPr>
        <p:spPr>
          <a:xfrm>
            <a:off x="946484" y="349478"/>
            <a:ext cx="6096000" cy="369332"/>
          </a:xfrm>
          <a:prstGeom prst="rect">
            <a:avLst/>
          </a:prstGeom>
          <a:noFill/>
        </p:spPr>
        <p:txBody>
          <a:bodyPr wrap="square">
            <a:spAutoFit/>
          </a:bodyPr>
          <a:lstStyle/>
          <a:p>
            <a:r>
              <a:rPr lang="en-US" sz="1800">
                <a:solidFill>
                  <a:srgbClr val="0D0D0D"/>
                </a:solidFill>
                <a:latin typeface="Söhne"/>
              </a:rPr>
              <a:t>Vrms (Root Mean Square Voltage) (V Efektif)</a:t>
            </a:r>
            <a:endParaRPr lang="en-ID"/>
          </a:p>
        </p:txBody>
      </p:sp>
    </p:spTree>
    <p:extLst>
      <p:ext uri="{BB962C8B-B14F-4D97-AF65-F5344CB8AC3E}">
        <p14:creationId xmlns:p14="http://schemas.microsoft.com/office/powerpoint/2010/main" val="4183257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Apa beda tegangan RMS (Vrms) dan tegangan Efektif (Veff)?</a:t>
            </a:r>
          </a:p>
        </p:txBody>
      </p:sp>
      <p:sp>
        <p:nvSpPr>
          <p:cNvPr id="3" name="Content Placeholder 2"/>
          <p:cNvSpPr>
            <a:spLocks noGrp="1"/>
          </p:cNvSpPr>
          <p:nvPr>
            <p:ph idx="1"/>
          </p:nvPr>
        </p:nvSpPr>
        <p:spPr/>
        <p:txBody>
          <a:bodyPr/>
          <a:lstStyle/>
          <a:p>
            <a:r>
              <a:rPr lang="en-US"/>
              <a:t>Tidak ada perbedaan antara "V rms" dan "V efektif", keduanya merujuk pada tegangan efektif dari sebuah sinyal AC. "Vrms" dan "Vefektif" adalah istilah yang sering digunakan secara bergantian dan memiliki arti yang sama, yaitu tegangan efektif dari sinyal AC.</a:t>
            </a:r>
          </a:p>
          <a:p>
            <a:r>
              <a:rPr lang="en-US"/>
              <a:t>Dalam konteks elektronika dan listrik, "Vrms" dan "Vefektif" merujuk pada nilai tegangan AC yang setara dengan tegangan DC yang akan memberikan energi yang sama pada beban resistif. </a:t>
            </a:r>
          </a:p>
          <a:p>
            <a:r>
              <a:rPr lang="en-US"/>
              <a:t>Ini adalah nilai yang digunakan untuk mewakili besar tegangan AC dalam perhitungan daya, analisis sirkuit, dan pengukuran listrik lainnya.</a:t>
            </a:r>
          </a:p>
          <a:p>
            <a:endParaRPr lang="en-US"/>
          </a:p>
        </p:txBody>
      </p:sp>
    </p:spTree>
    <p:extLst>
      <p:ext uri="{BB962C8B-B14F-4D97-AF65-F5344CB8AC3E}">
        <p14:creationId xmlns:p14="http://schemas.microsoft.com/office/powerpoint/2010/main" val="37855669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a:t>Bila kita mengukur tegangan jala2 listrik dengan voltmeter AC sebenarnya tegangan apa yang diukurnya?</a:t>
            </a:r>
          </a:p>
        </p:txBody>
      </p:sp>
      <p:sp>
        <p:nvSpPr>
          <p:cNvPr id="3" name="Content Placeholder 2"/>
          <p:cNvSpPr>
            <a:spLocks noGrp="1"/>
          </p:cNvSpPr>
          <p:nvPr>
            <p:ph idx="1"/>
          </p:nvPr>
        </p:nvSpPr>
        <p:spPr/>
        <p:txBody>
          <a:bodyPr>
            <a:normAutofit fontScale="92500" lnSpcReduction="20000"/>
          </a:bodyPr>
          <a:lstStyle/>
          <a:p>
            <a:r>
              <a:rPr lang="en-US"/>
              <a:t>Voltmeter AC sebenarnya mengukur tegangan efektif (Vrms) dari sinyal listrik yang diukur. </a:t>
            </a:r>
          </a:p>
          <a:p>
            <a:r>
              <a:rPr lang="en-US"/>
              <a:t>Tegangan efektif adalah nilai tegangan AC yang setara dengan tegangan DC yang akan memberikan energi yang sama dalam beban resistif. </a:t>
            </a:r>
          </a:p>
          <a:p>
            <a:r>
              <a:rPr lang="en-US"/>
              <a:t>Dalam konteks listrik rumah tangga, tegangan AC yang diukur oleh voltmeter AC biasanya adalah tegangan efektif dari aliran listrik yang masuk ke rumah Anda.</a:t>
            </a:r>
          </a:p>
          <a:p>
            <a:r>
              <a:rPr lang="en-US"/>
              <a:t>Jadi, saat Anda mengukur tegangan jala-jala listrik dengan voltmeter AC, Anda mengukur tegangan efektif dari sinyal AC yang diberikan oleh jala-jala tersebut. </a:t>
            </a:r>
          </a:p>
          <a:p>
            <a:r>
              <a:rPr lang="en-US"/>
              <a:t>Tegangan efektif ini menunjukkan besaran tegangan yang akan memberikan efek yang sama pada beban listrik seperti tegangan DC dengan nilai yang sama.</a:t>
            </a:r>
          </a:p>
          <a:p>
            <a:endParaRPr lang="en-US"/>
          </a:p>
        </p:txBody>
      </p:sp>
    </p:spTree>
    <p:extLst>
      <p:ext uri="{BB962C8B-B14F-4D97-AF65-F5344CB8AC3E}">
        <p14:creationId xmlns:p14="http://schemas.microsoft.com/office/powerpoint/2010/main" val="39721303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Apa rumus tegangan efektif (Vrms) ini?</a:t>
            </a:r>
          </a:p>
        </p:txBody>
      </p:sp>
      <p:sp>
        <p:nvSpPr>
          <p:cNvPr id="3" name="Content Placeholder 2"/>
          <p:cNvSpPr>
            <a:spLocks noGrp="1"/>
          </p:cNvSpPr>
          <p:nvPr>
            <p:ph idx="1"/>
          </p:nvPr>
        </p:nvSpPr>
        <p:spPr>
          <a:xfrm>
            <a:off x="838200" y="1825625"/>
            <a:ext cx="10515600" cy="728389"/>
          </a:xfrm>
        </p:spPr>
        <p:txBody>
          <a:bodyPr>
            <a:normAutofit fontScale="92500" lnSpcReduction="20000"/>
          </a:bodyPr>
          <a:lstStyle/>
          <a:p>
            <a:r>
              <a:rPr lang="en-US"/>
              <a:t>Rumus untuk menghitung tegangan efektif (Vrms) dari sebuah sinyal AC adalah:</a:t>
            </a:r>
          </a:p>
        </p:txBody>
      </p:sp>
      <p:pic>
        <p:nvPicPr>
          <p:cNvPr id="4" name="Picture 3"/>
          <p:cNvPicPr>
            <a:picLocks noChangeAspect="1"/>
          </p:cNvPicPr>
          <p:nvPr/>
        </p:nvPicPr>
        <p:blipFill>
          <a:blip r:embed="rId2"/>
          <a:stretch>
            <a:fillRect/>
          </a:stretch>
        </p:blipFill>
        <p:spPr>
          <a:xfrm>
            <a:off x="2796025" y="2404686"/>
            <a:ext cx="6884909" cy="2198845"/>
          </a:xfrm>
          <a:prstGeom prst="rect">
            <a:avLst/>
          </a:prstGeom>
        </p:spPr>
      </p:pic>
      <p:sp>
        <p:nvSpPr>
          <p:cNvPr id="5" name="Rectangle 4"/>
          <p:cNvSpPr/>
          <p:nvPr/>
        </p:nvSpPr>
        <p:spPr>
          <a:xfrm>
            <a:off x="1292774" y="4759003"/>
            <a:ext cx="8618482" cy="369332"/>
          </a:xfrm>
          <a:prstGeom prst="rect">
            <a:avLst/>
          </a:prstGeom>
        </p:spPr>
        <p:txBody>
          <a:bodyPr wrap="square">
            <a:spAutoFit/>
          </a:bodyPr>
          <a:lstStyle/>
          <a:p>
            <a:r>
              <a:rPr lang="en-US">
                <a:solidFill>
                  <a:srgbClr val="0D0D0D"/>
                </a:solidFill>
                <a:latin typeface="Söhne"/>
              </a:rPr>
              <a:t>Dalam kasus gelombang sinusoidal murni, rumusnya menjadi lebih sederhana:</a:t>
            </a:r>
            <a:endParaRPr lang="en-US"/>
          </a:p>
        </p:txBody>
      </p:sp>
      <p:pic>
        <p:nvPicPr>
          <p:cNvPr id="6" name="Picture 5"/>
          <p:cNvPicPr>
            <a:picLocks noChangeAspect="1"/>
          </p:cNvPicPr>
          <p:nvPr/>
        </p:nvPicPr>
        <p:blipFill>
          <a:blip r:embed="rId3"/>
          <a:stretch>
            <a:fillRect/>
          </a:stretch>
        </p:blipFill>
        <p:spPr>
          <a:xfrm>
            <a:off x="2796025" y="5283807"/>
            <a:ext cx="6650121" cy="1022400"/>
          </a:xfrm>
          <a:prstGeom prst="rect">
            <a:avLst/>
          </a:prstGeom>
        </p:spPr>
      </p:pic>
    </p:spTree>
    <p:extLst>
      <p:ext uri="{BB962C8B-B14F-4D97-AF65-F5344CB8AC3E}">
        <p14:creationId xmlns:p14="http://schemas.microsoft.com/office/powerpoint/2010/main" val="22465538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1800"/>
              <a:t>Untuk gelombang yang tidak sinusoidal atau gelombang yang memiliki bentuk gelombang yang kompleks, kita menggunakan rumus pertama yang melibatkan integral untuk menghitung tegangan efektif (Vrms). Rumus ini menghitung akar kuadrat dari rata-rata kuadrat nilai tegangan dalam satu periode gelombang.</a:t>
            </a:r>
          </a:p>
          <a:p>
            <a:r>
              <a:rPr lang="en-US" sz="1800"/>
              <a:t>Namun, untuk kebanyakan aplikasi listrik rumah tangga di mana kita berurusan dengan sumber daya AC yang stabil, gelombangnya biasanya bersifat sinusoidal, sehingga rumus kedua seringkali lebih dari cukup untuk menghitung tegangan efektif (Vrms)</a:t>
            </a:r>
          </a:p>
          <a:p>
            <a:endParaRPr lang="en-US" sz="1800"/>
          </a:p>
        </p:txBody>
      </p:sp>
    </p:spTree>
    <p:extLst>
      <p:ext uri="{BB962C8B-B14F-4D97-AF65-F5344CB8AC3E}">
        <p14:creationId xmlns:p14="http://schemas.microsoft.com/office/powerpoint/2010/main" val="3977425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Mengapa dalam rumus V(t) dikuadratkan dan hasil integral diakarkan?</a:t>
            </a:r>
          </a:p>
        </p:txBody>
      </p:sp>
      <p:sp>
        <p:nvSpPr>
          <p:cNvPr id="3" name="Content Placeholder 2"/>
          <p:cNvSpPr>
            <a:spLocks noGrp="1"/>
          </p:cNvSpPr>
          <p:nvPr>
            <p:ph idx="1"/>
          </p:nvPr>
        </p:nvSpPr>
        <p:spPr/>
        <p:txBody>
          <a:bodyPr>
            <a:normAutofit fontScale="70000" lnSpcReduction="20000"/>
          </a:bodyPr>
          <a:lstStyle/>
          <a:p>
            <a:r>
              <a:rPr lang="en-US"/>
              <a:t>Dalam rumus untuk menghitung tegangan efektif (RMS) dari sebuah sinyal AC, �(�)</a:t>
            </a:r>
            <a:r>
              <a:rPr lang="en-US" i="1"/>
              <a:t>V</a:t>
            </a:r>
            <a:r>
              <a:rPr lang="en-US"/>
              <a:t>(</a:t>
            </a:r>
            <a:r>
              <a:rPr lang="en-US" i="1"/>
              <a:t>t</a:t>
            </a:r>
            <a:r>
              <a:rPr lang="en-US"/>
              <a:t>) dikuadratkan dan hasilnya diintegrasikan untuk menangkap besarnya amplitudo sinyal AC pada setiap titik waktu selama satu siklus gelombang. Proses ini dilakukan untuk menyesuaikan kontribusi energi dari sinyal AC yang terus berubah terhadap beban resistif.</a:t>
            </a:r>
          </a:p>
          <a:p>
            <a:r>
              <a:rPr lang="en-US"/>
              <a:t>Ketika kita mengukur tegangan atau arus pada sinyal AC yang tidak stabil, sinyal tersebut berubah nilainya dari waktu ke waktu. Mengkuadratkan sinyal (�(�)2</a:t>
            </a:r>
            <a:r>
              <a:rPr lang="en-US" i="1"/>
              <a:t>V</a:t>
            </a:r>
            <a:r>
              <a:rPr lang="en-US"/>
              <a:t>(</a:t>
            </a:r>
            <a:r>
              <a:rPr lang="en-US" i="1"/>
              <a:t>t</a:t>
            </a:r>
            <a:r>
              <a:rPr lang="en-US"/>
              <a:t>)2) memungkinkan kita untuk menangkap amplitudo yang positif dan negatif dari sinyal tersebut tanpa menimbulkan efek dari polaritas. Dengan kata lain, ini menghilangkan pengaruh arah dari sinyal, sehingga proses integral mengakumulasi energi yang setara dari semua bagian sinyal tanpa memperhatikan polaritasnya.</a:t>
            </a:r>
          </a:p>
          <a:p>
            <a:r>
              <a:rPr lang="en-US"/>
              <a:t>Kemudian, hasil dari kuadrat ini diintegrasikan selama satu periode gelombang (dari �=0</a:t>
            </a:r>
            <a:r>
              <a:rPr lang="en-US" i="1"/>
              <a:t>t</a:t>
            </a:r>
            <a:r>
              <a:rPr lang="en-US"/>
              <a:t>=0 hingga �=�</a:t>
            </a:r>
            <a:r>
              <a:rPr lang="en-US" i="1"/>
              <a:t>t</a:t>
            </a:r>
            <a:r>
              <a:rPr lang="en-US"/>
              <a:t>=</a:t>
            </a:r>
            <a:r>
              <a:rPr lang="en-US" i="1"/>
              <a:t>T</a:t>
            </a:r>
            <a:r>
              <a:rPr lang="en-US"/>
              <a:t>, di mana �</a:t>
            </a:r>
            <a:r>
              <a:rPr lang="en-US" i="1"/>
              <a:t>T</a:t>
            </a:r>
            <a:r>
              <a:rPr lang="en-US"/>
              <a:t> adalah periode gelombang) untuk menghitung total energi yang dipasok oleh sinyal AC selama satu siklus. Akar kuadrat dari hasil integral kemudian diambil untuk mengembalikan hasil ke dalam satuan tegangan asli.</a:t>
            </a:r>
          </a:p>
          <a:p>
            <a:r>
              <a:rPr lang="en-US"/>
              <a:t>Proses ini pada dasarnya adalah penggabungan langkah-langkah yang memungkinkan kita untuk menghitung nilai RMS yang mewakili besarnya tegangan AC yang setara dengan tegangan DC yang akan memberikan energi yang sama pada beban resistif. Ini memungkinkan kita untuk membandingkan atau mengekivalensikan sinyal AC dengan tegangan DC dalam konteks pengaruh mereka terhadap beban listrik</a:t>
            </a:r>
          </a:p>
          <a:p>
            <a:endParaRPr lang="en-US"/>
          </a:p>
        </p:txBody>
      </p:sp>
    </p:spTree>
    <p:extLst>
      <p:ext uri="{BB962C8B-B14F-4D97-AF65-F5344CB8AC3E}">
        <p14:creationId xmlns:p14="http://schemas.microsoft.com/office/powerpoint/2010/main" val="19502423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berapa seharusnya tegangan yang didapatkan oleh voltmeter AC bila mengukur tegangan AC 10 Vpp?</a:t>
            </a:r>
          </a:p>
        </p:txBody>
      </p:sp>
      <p:sp>
        <p:nvSpPr>
          <p:cNvPr id="3" name="Content Placeholder 2"/>
          <p:cNvSpPr>
            <a:spLocks noGrp="1"/>
          </p:cNvSpPr>
          <p:nvPr>
            <p:ph idx="1"/>
          </p:nvPr>
        </p:nvSpPr>
        <p:spPr/>
        <p:txBody>
          <a:bodyPr/>
          <a:lstStyle/>
          <a:p>
            <a:r>
              <a:rPr lang="en-US"/>
              <a:t>Berdasarkan rumus tegangan efektif (RMS) untuk sinyal sinusoidal, tegangan efektif (</a:t>
            </a:r>
            <a:r>
              <a:rPr lang="en-US" i="1"/>
              <a:t>V</a:t>
            </a:r>
            <a:r>
              <a:rPr lang="en-US"/>
              <a:t>rms​) dari sebuah sinyal AC dengan amplitudo (peak-to-peak) 10 Vpp (volt peak-to-peak) adalah sekitar 3,54 volt.</a:t>
            </a:r>
          </a:p>
          <a:p>
            <a:r>
              <a:rPr lang="en-US"/>
              <a:t>Jadi, jika voltmeter AC diatur dengan benar dan memiliki karakteristik yang sesuai, maka tegangan yang seharusnya diukur oleh voltmeter AC saat mengukur sinyal AC dengan 10 Vpp adalah sekitar 3,54 volt</a:t>
            </a:r>
          </a:p>
          <a:p>
            <a:endParaRPr lang="en-US"/>
          </a:p>
        </p:txBody>
      </p:sp>
    </p:spTree>
    <p:extLst>
      <p:ext uri="{BB962C8B-B14F-4D97-AF65-F5344CB8AC3E}">
        <p14:creationId xmlns:p14="http://schemas.microsoft.com/office/powerpoint/2010/main" val="393823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9618233" cy="605603"/>
          </a:xfrm>
        </p:spPr>
        <p:txBody>
          <a:bodyPr>
            <a:normAutofit/>
          </a:bodyPr>
          <a:lstStyle/>
          <a:p>
            <a:r>
              <a:rPr lang="en-US" sz="2000" b="1"/>
              <a:t>Bila terukur di voltmeter AC tegangan 220VAC, berapa V peak to peak tegangan tersebut?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199" y="970728"/>
                <a:ext cx="7542008" cy="352463"/>
              </a:xfrm>
            </p:spPr>
            <p:txBody>
              <a:bodyPr>
                <a:normAutofit lnSpcReduction="10000"/>
              </a:bodyPr>
              <a:lstStyle/>
              <a:p>
                <a:r>
                  <a:rPr lang="en-US" sz="1800"/>
                  <a:t>Terapkan rumus:	Vrms = </a:t>
                </a:r>
                <a14:m>
                  <m:oMath xmlns:m="http://schemas.openxmlformats.org/officeDocument/2006/math">
                    <m:r>
                      <m:rPr>
                        <m:sty m:val="p"/>
                      </m:rPr>
                      <a:rPr lang="en-US" sz="1800" b="0" i="0" smtClean="0">
                        <a:latin typeface="Cambria Math" panose="02040503050406030204" pitchFamily="18" charset="0"/>
                      </a:rPr>
                      <m:t>V</m:t>
                    </m:r>
                    <m:r>
                      <a:rPr lang="en-US" sz="1800" b="0" i="1" smtClean="0">
                        <a:latin typeface="Cambria Math" panose="02040503050406030204" pitchFamily="18" charset="0"/>
                      </a:rPr>
                      <m:t>𝑚</m:t>
                    </m:r>
                    <m:r>
                      <a:rPr lang="en-US" sz="1800" b="0" i="1" smtClean="0">
                        <a:latin typeface="Cambria Math" panose="02040503050406030204" pitchFamily="18" charset="0"/>
                      </a:rPr>
                      <m:t>/</m:t>
                    </m:r>
                    <m:rad>
                      <m:radPr>
                        <m:degHide m:val="on"/>
                        <m:ctrlPr>
                          <a:rPr lang="en-US" sz="1800" b="0" i="1" smtClean="0">
                            <a:latin typeface="Cambria Math" panose="02040503050406030204" pitchFamily="18" charset="0"/>
                          </a:rPr>
                        </m:ctrlPr>
                      </m:radPr>
                      <m:deg/>
                      <m:e>
                        <m:r>
                          <a:rPr lang="en-US" sz="1800" b="0" i="1" smtClean="0">
                            <a:latin typeface="Cambria Math" panose="02040503050406030204" pitchFamily="18" charset="0"/>
                          </a:rPr>
                          <m:t>2</m:t>
                        </m:r>
                      </m:e>
                    </m:rad>
                  </m:oMath>
                </a14:m>
                <a:r>
                  <a:rPr lang="en-US" sz="1800"/>
                  <a:t> dan Vm=Vpp/2</a:t>
                </a:r>
              </a:p>
              <a:p>
                <a:endParaRPr lang="en-US" sz="180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199" y="970728"/>
                <a:ext cx="7542008" cy="352463"/>
              </a:xfrm>
              <a:blipFill>
                <a:blip r:embed="rId2"/>
                <a:stretch>
                  <a:fillRect l="-485" t="-17241" b="-22414"/>
                </a:stretch>
              </a:blipFill>
            </p:spPr>
            <p:txBody>
              <a:bodyPr/>
              <a:lstStyle/>
              <a:p>
                <a:r>
                  <a:rPr lang="en-ID">
                    <a:noFill/>
                  </a:rPr>
                  <a:t> </a:t>
                </a:r>
              </a:p>
            </p:txBody>
          </p:sp>
        </mc:Fallback>
      </mc:AlternateContent>
      <p:pic>
        <p:nvPicPr>
          <p:cNvPr id="4" name="Picture 3"/>
          <p:cNvPicPr>
            <a:picLocks noChangeAspect="1"/>
          </p:cNvPicPr>
          <p:nvPr/>
        </p:nvPicPr>
        <p:blipFill>
          <a:blip r:embed="rId3"/>
          <a:stretch>
            <a:fillRect/>
          </a:stretch>
        </p:blipFill>
        <p:spPr>
          <a:xfrm>
            <a:off x="1108469" y="1491490"/>
            <a:ext cx="7355138" cy="5089417"/>
          </a:xfrm>
          <a:prstGeom prst="rect">
            <a:avLst/>
          </a:prstGeom>
        </p:spPr>
      </p:pic>
    </p:spTree>
    <p:extLst>
      <p:ext uri="{BB962C8B-B14F-4D97-AF65-F5344CB8AC3E}">
        <p14:creationId xmlns:p14="http://schemas.microsoft.com/office/powerpoint/2010/main" val="12241229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Berapa nilai yang terukur di </a:t>
            </a:r>
            <a:r>
              <a:rPr lang="en-US" b="1">
                <a:solidFill>
                  <a:srgbClr val="FF0000"/>
                </a:solidFill>
              </a:rPr>
              <a:t>voltmeter DC</a:t>
            </a:r>
            <a:r>
              <a:rPr lang="en-US"/>
              <a:t> untuk output rangkaian penyearah 1/2 gelombang?</a:t>
            </a:r>
          </a:p>
        </p:txBody>
      </p:sp>
      <p:sp>
        <p:nvSpPr>
          <p:cNvPr id="3" name="Content Placeholder 2"/>
          <p:cNvSpPr>
            <a:spLocks noGrp="1"/>
          </p:cNvSpPr>
          <p:nvPr>
            <p:ph idx="1"/>
          </p:nvPr>
        </p:nvSpPr>
        <p:spPr/>
        <p:txBody>
          <a:bodyPr>
            <a:normAutofit fontScale="62500" lnSpcReduction="20000"/>
          </a:bodyPr>
          <a:lstStyle/>
          <a:p>
            <a:r>
              <a:rPr lang="en-US"/>
              <a:t>Untuk memperkirakan nilai yang terukur di voltmeter DC untuk output rangkaian penyearah setengah gelombang, kita perlu mempertimbangkan beberapa faktor. </a:t>
            </a:r>
          </a:p>
          <a:p>
            <a:r>
              <a:rPr lang="en-US"/>
              <a:t>Rangkaian penyearah setengah gelombang biasanya menghasilkan output berbentuk gelombang yang tidak beraturan, dan tegangan rata-ratanya tergantung pada karakteristik sinyal masukan dan beban yang terhubung.</a:t>
            </a:r>
          </a:p>
          <a:p>
            <a:r>
              <a:rPr lang="en-US"/>
              <a:t>Namun, kita bisa menggunakan beberapa asumsi untuk memberikan perkiraan kasar tentang tegangan DC yang terukur. Untuk rangkaian penyearah setengah gelombang, tegangan rata-ratanya sekitar setengah dari tegangan puncak gelombang yang dihasilkan.</a:t>
            </a:r>
          </a:p>
          <a:p>
            <a:r>
              <a:rPr lang="en-US"/>
              <a:t>Jika kita memiliki tegangan puncak gelombang sebagai masukan (Vp), kita bisa menghitung tegangan rata-rata (Vdc) yang diukur oleh voltmeter DC dengan menggunakan rumus berikut:</a:t>
            </a:r>
          </a:p>
          <a:p>
            <a:pPr lvl="1"/>
            <a:r>
              <a:rPr lang="en-US"/>
              <a:t>Vdc=</a:t>
            </a:r>
            <a:r>
              <a:rPr lang="en-US" i="1"/>
              <a:t>V</a:t>
            </a:r>
            <a:r>
              <a:rPr lang="en-US"/>
              <a:t>p​​/pi </a:t>
            </a:r>
            <a:r>
              <a:rPr lang="en-US">
                <a:sym typeface="Wingdings" panose="05000000000000000000" pitchFamily="2" charset="2"/>
              </a:rPr>
              <a:t> Vdc=0,318Vp</a:t>
            </a:r>
            <a:endParaRPr lang="en-US"/>
          </a:p>
          <a:p>
            <a:r>
              <a:rPr lang="en-US"/>
              <a:t>Di mana:</a:t>
            </a:r>
          </a:p>
          <a:p>
            <a:pPr lvl="1"/>
            <a:r>
              <a:rPr lang="en-US"/>
              <a:t>Vdc​ adalah tegangan rata-rata yang diukur oleh voltmeter DC,</a:t>
            </a:r>
          </a:p>
          <a:p>
            <a:pPr lvl="1"/>
            <a:r>
              <a:rPr lang="en-US" i="1"/>
              <a:t>V</a:t>
            </a:r>
            <a:r>
              <a:rPr lang="en-US"/>
              <a:t>p​ adalah tegangan puncak gelombang yang dihasilkan oleh rangkaian penyearah.</a:t>
            </a:r>
          </a:p>
          <a:p>
            <a:r>
              <a:rPr lang="en-US"/>
              <a:t>Perlu diingat bahwa nilai ini hanya perkiraan kasar dan mungkin akan sedikit berbeda tergantung pada faktor-faktor seperti kecepatan perubahan sinyal masukan, tahanan beban, dan variasi lain dalam rangkaian. Selalu penting untuk memahami karakteristik dan kondisi operasi spesifik dari rangkaian penyearah yang Anda gunakan</a:t>
            </a:r>
          </a:p>
          <a:p>
            <a:endParaRPr lang="en-US"/>
          </a:p>
        </p:txBody>
      </p:sp>
    </p:spTree>
    <p:extLst>
      <p:ext uri="{BB962C8B-B14F-4D97-AF65-F5344CB8AC3E}">
        <p14:creationId xmlns:p14="http://schemas.microsoft.com/office/powerpoint/2010/main" val="1426990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Berapa nilai yang terukur di </a:t>
            </a:r>
            <a:r>
              <a:rPr lang="en-US" b="1">
                <a:solidFill>
                  <a:srgbClr val="FF0000"/>
                </a:solidFill>
              </a:rPr>
              <a:t>voltmeter AC </a:t>
            </a:r>
            <a:r>
              <a:rPr lang="en-US"/>
              <a:t>untuk output rangkaian penyearah 1/2 gelombang?</a:t>
            </a:r>
          </a:p>
        </p:txBody>
      </p:sp>
      <p:sp>
        <p:nvSpPr>
          <p:cNvPr id="3" name="Content Placeholder 2"/>
          <p:cNvSpPr>
            <a:spLocks noGrp="1"/>
          </p:cNvSpPr>
          <p:nvPr>
            <p:ph idx="1"/>
          </p:nvPr>
        </p:nvSpPr>
        <p:spPr/>
        <p:txBody>
          <a:bodyPr>
            <a:normAutofit fontScale="47500" lnSpcReduction="20000"/>
          </a:bodyPr>
          <a:lstStyle/>
          <a:p>
            <a:r>
              <a:rPr lang="en-US"/>
              <a:t>Untuk menghitung nilai yang terukur di voltmeter AC untuk output dari rangkaian penyearah setengah gelombang, kita perlu mempertimbangkan karakteristik gelombang output dari rangkaian penyearah tersebut. Rangkaian penyearah setengah gelombang menghasilkan output dalam bentuk gelombang yang tidak beraturan, di mana sinyal hanya memiliki setengah periode dari sinyal masukan.</a:t>
            </a:r>
          </a:p>
          <a:p>
            <a:r>
              <a:rPr lang="en-US"/>
              <a:t>Untuk menghitung nilai efektif atau RMS (Root Mean Square) dari gelombang setengah gelombang, kita dapat menggunakan rumus berikut:</a:t>
            </a:r>
          </a:p>
          <a:p>
            <a:r>
              <a:rPr lang="en-US" i="1"/>
              <a:t>V</a:t>
            </a:r>
            <a:r>
              <a:rPr lang="en-US"/>
              <a:t>rms​=</a:t>
            </a:r>
            <a:r>
              <a:rPr lang="en-US" i="1"/>
              <a:t>V</a:t>
            </a:r>
            <a:r>
              <a:rPr lang="en-US"/>
              <a:t>p/v2 </a:t>
            </a:r>
            <a:r>
              <a:rPr lang="en-US">
                <a:sym typeface="Wingdings" panose="05000000000000000000" pitchFamily="2" charset="2"/>
              </a:rPr>
              <a:t> Vrms=0,707 Vp</a:t>
            </a:r>
            <a:endParaRPr lang="en-US"/>
          </a:p>
          <a:p>
            <a:r>
              <a:rPr lang="en-US"/>
              <a:t>Di mana:</a:t>
            </a:r>
          </a:p>
          <a:p>
            <a:r>
              <a:rPr lang="en-US" i="1"/>
              <a:t>V</a:t>
            </a:r>
            <a:r>
              <a:rPr lang="en-US"/>
              <a:t>rms​ adalah nilai efektif atau RMS dari gelombang setengah gelombang,</a:t>
            </a:r>
          </a:p>
          <a:p>
            <a:r>
              <a:rPr lang="en-US" i="1"/>
              <a:t>V</a:t>
            </a:r>
            <a:r>
              <a:rPr lang="en-US"/>
              <a:t>pk adalah nilai puncak (peak) dari gelombang setengah gelombang.</a:t>
            </a:r>
          </a:p>
          <a:p>
            <a:r>
              <a:rPr lang="en-US"/>
              <a:t>Nilai ini merepresentasikan tegangan AC yang setara dengan tegangan efektif dari gelombang setengah gelombang.</a:t>
            </a:r>
          </a:p>
          <a:p>
            <a:r>
              <a:rPr lang="en-US"/>
              <a:t>Voltmeter AC akan membaca nilai efektif ini.</a:t>
            </a:r>
          </a:p>
          <a:p>
            <a:r>
              <a:rPr lang="en-US"/>
              <a:t>Namun, perlu dicatat bahwa dalam prakteknya, voltmeter AC biasanya akan menunjukkan nilai yang lebih rendah dari nilai efektif gelombang setengah gelombang karena faktor crest factor (faktor puncak). Crest factor adalah rasio antara nilai puncak dan nilai efektif dari gelombang, dan untuk gelombang setengah gelombang, crest factornya adalah √2. Oleh karena itu, untuk mendapatkan nilai yang terukur di voltmeter AC, kita juga perlu mempertimbangkan faktor crest tersebut.</a:t>
            </a:r>
          </a:p>
          <a:p>
            <a:r>
              <a:rPr lang="en-US"/>
              <a:t>Dengan demikian, nilai yang terukur di voltmeter AC untuk output dari rangkaian penyearah setengah gelombang dapat dihitung menggunakan rumus:</a:t>
            </a:r>
          </a:p>
          <a:p>
            <a:r>
              <a:rPr lang="en-US" i="1"/>
              <a:t>V</a:t>
            </a:r>
            <a:r>
              <a:rPr lang="en-US"/>
              <a:t>measured​=</a:t>
            </a:r>
            <a:r>
              <a:rPr lang="en-US" i="1"/>
              <a:t>V</a:t>
            </a:r>
            <a:r>
              <a:rPr lang="en-US"/>
              <a:t>rms​×CF</a:t>
            </a:r>
          </a:p>
          <a:p>
            <a:r>
              <a:rPr lang="en-US"/>
              <a:t>Di mana CF adalah crest factor (biasanya sekitar 1.414 untuk gelombang setengah gelombang)</a:t>
            </a:r>
          </a:p>
          <a:p>
            <a:endParaRPr lang="en-US"/>
          </a:p>
        </p:txBody>
      </p:sp>
    </p:spTree>
    <p:extLst>
      <p:ext uri="{BB962C8B-B14F-4D97-AF65-F5344CB8AC3E}">
        <p14:creationId xmlns:p14="http://schemas.microsoft.com/office/powerpoint/2010/main" val="13323811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788</TotalTime>
  <Words>1624</Words>
  <Application>Microsoft Office PowerPoint</Application>
  <PresentationFormat>Widescreen</PresentationFormat>
  <Paragraphs>100</Paragraphs>
  <Slides>15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Calibri Light</vt:lpstr>
      <vt:lpstr>Cambria Math</vt:lpstr>
      <vt:lpstr>Söhne</vt:lpstr>
      <vt:lpstr>Wingdings</vt:lpstr>
      <vt:lpstr>Office Theme</vt:lpstr>
      <vt:lpstr>Definisi Tegangan-Tegangan AC Vpp, Vm (Vp), Vrata-rata (Vdc), Vrms (V efektif) </vt:lpstr>
      <vt:lpstr>Materi</vt:lpstr>
      <vt:lpstr>Definisi tegangan-tegangan AC</vt:lpstr>
      <vt:lpstr>PowerPoint Presentation</vt:lpstr>
      <vt:lpstr>PowerPoint Presentation</vt:lpstr>
      <vt:lpstr>PowerPoint Presentation</vt:lpstr>
      <vt:lpstr>Apa beda tegangan RMS (Vrms) dan tegangan Efektif (Veff)?</vt:lpstr>
      <vt:lpstr>Bila kita mengukur tegangan jala2 listrik dengan voltmeter AC sebenarnya tegangan apa yang diukurnya?</vt:lpstr>
      <vt:lpstr>Apa rumus tegangan efektif (Vrms) ini?</vt:lpstr>
      <vt:lpstr>PowerPoint Presentation</vt:lpstr>
      <vt:lpstr>Mengapa dalam rumus V(t) dikuadratkan dan hasil integral diakarkan?</vt:lpstr>
      <vt:lpstr>berapa seharusnya tegangan yang didapatkan oleh voltmeter AC bila mengukur tegangan AC 10 Vpp?</vt:lpstr>
      <vt:lpstr>Bila terukur di voltmeter AC tegangan 220VAC, berapa V peak to peak tegangan tersebut?</vt:lpstr>
      <vt:lpstr>Berapa nilai yang terukur di voltmeter DC untuk output rangkaian penyearah 1/2 gelombang?</vt:lpstr>
      <vt:lpstr>Berapa nilai yang terukur di voltmeter AC untuk output rangkaian penyearah 1/2 gelombang?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Rangkaian Aplikasi Dioda  RANGKAIAN PENYEARAH GELOMBANG (RECTIFIER) &amp; catu daya  21NK1006</dc:title>
  <dc:creator>Ridwan Solihin</dc:creator>
  <cp:lastModifiedBy>erilmozef@yahoo.com</cp:lastModifiedBy>
  <cp:revision>60</cp:revision>
  <dcterms:created xsi:type="dcterms:W3CDTF">2022-02-20T16:12:27Z</dcterms:created>
  <dcterms:modified xsi:type="dcterms:W3CDTF">2025-03-06T21:46:26Z</dcterms:modified>
</cp:coreProperties>
</file>