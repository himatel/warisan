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3B40-D30B-8513-8850-3C209659E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AC3DF-1C29-3EE7-B462-2B4642261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9D0FA-375B-ACFA-A950-A74C9F6B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2793-404B-C60C-C33C-D7483AA3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D1D6B-2AFB-4912-CD60-43523A60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311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89B9-A2C6-758E-7E3D-50590850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3E93A-BAC0-2745-BD50-AC62384A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B9423-F737-5A22-1F43-B11067AF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68489-215A-F42C-CE7C-2AB9F9BE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FB1E-F57D-3ED7-6469-313DE6DA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606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CC98-F843-CE61-4A51-400D4F94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FD427-E965-F2E5-A292-C9D597659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E806-5E8A-7D84-4130-659A2C60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77F1C-830B-F292-5BE1-74683F56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B69C1-F883-C997-5195-67935B4B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192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FF77-F77D-550C-45BA-082131A1E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E7E5E-094D-ACC9-9F2E-D1228F82C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2349E-8437-5E2C-56FF-9247C03A7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8F47C-45C0-6729-5AE9-B7B465A5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89FD9-60E2-C45C-D0F0-30F144BE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2D4DB-EA85-0DF0-23A0-740A5529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710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F2F4-A448-9CC5-AC40-4550D3D7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19948-CCA9-2FEE-F03E-F616B08EE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99F36-A04A-8C01-B8F7-80BFEBBC7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23636-13E9-7608-88F2-268661CA8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373A0-B7A2-FB11-466A-25118B265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26CFC-27D4-230F-FB8C-BEC1BED4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80129-F20D-98AD-6A80-3D10273F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2B628-318B-AABF-6E60-3B8A7E86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615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D47C-EA5A-4F27-80C8-E0D7C30E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C3743-C266-0857-4929-DD518BE9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CB31E-A0B7-8E9C-7AEC-A3E9C62D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C8601-5A7A-EB72-6294-13701ECE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25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B698F-E510-A227-C534-A717D01F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E016B-F633-FAF3-18E6-0F95F01E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0607-CEE2-5581-9C01-D4F1EE4C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8630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E7CC-BFB2-3672-7F8C-3FFB4856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46AC-D81F-017A-BA7E-228B5F8E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4D0FB-3256-CA76-1B48-5FC50484E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C39C1-9C11-B9C8-CAE5-6FD55113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2C6D8-3C35-7F68-0319-DD5D4CF7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6217B-4B27-6A91-7F89-C113A4D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446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06CD-180B-E13F-E9FE-3879BFB6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F4A86-1C4F-D97C-7227-327D7A68D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4B1C7-2A35-B30B-5EB9-D7459A826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CF030-3678-AF76-8DBF-93043CF6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B0304-890A-4E62-B5F0-FF9907D7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66CB3-783F-72C3-145D-9D54B18D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624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CF44-EC61-BAFE-D0E4-F4C98075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22C61-61D6-5CD4-2136-02CC0E462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B7054-8177-AC7A-1B77-DF152622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6D878-AAC5-0B97-B296-29E4B095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5376-1CA4-0F64-7AE5-19D5FF3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492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8D633-A60B-D9DF-8305-1F8273B49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6C6ED-143F-358D-66DD-F444FFDE4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310B9-BA4F-66FE-C8F4-33EA1637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4E9BB-0796-F165-1079-6AA9ADD6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95B57-38F6-A8B4-E3D6-D6CD52BC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348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DE339-C270-EB49-3B86-BE20BE86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65D13-193A-9377-3A6C-196E6865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29F03-3F23-3BF0-25F1-95135F13A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A83BC-0562-4023-9B14-C79A379F1B42}" type="datetimeFigureOut">
              <a:rPr lang="en-ID" smtClean="0"/>
              <a:t>25/03/2025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DC0B8-9974-A726-7D72-8C1F2FBA9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75A3-A47B-6123-5309-C92FFA20E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795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F284-440C-673B-78F3-36A798691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spc="-2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R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ang</a:t>
            </a:r>
            <a:r>
              <a:rPr lang="en-US" sz="4000" b="1" spc="-7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k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a</a:t>
            </a:r>
            <a:r>
              <a:rPr lang="en-US" sz="4000" b="1" spc="1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i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an</a:t>
            </a:r>
            <a:r>
              <a:rPr lang="en-US" sz="4000" b="1" spc="2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 </a:t>
            </a:r>
            <a:r>
              <a:rPr lang="en-US" sz="4000" b="1" spc="25">
                <a:latin typeface="Calibri Light" panose="020F0302020204030204" pitchFamily="34" charset="0"/>
                <a:ea typeface="Calibri Light" panose="020F0302020204030204" pitchFamily="34" charset="0"/>
              </a:rPr>
              <a:t>Multiplier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 (</a:t>
            </a:r>
            <a:r>
              <a:rPr lang="en-US" sz="4000" b="1" spc="1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Pengganda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) </a:t>
            </a:r>
            <a:br>
              <a:rPr lang="en-ID" sz="40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D" sz="4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DA081-ED8A-B5E6-D826-1A78E0D21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29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94F7-F7E9-8771-3E1F-E9EEFBFF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A6D358BD-A285-A014-4C0F-82378C979F24}"/>
              </a:ext>
            </a:extLst>
          </p:cNvPr>
          <p:cNvGrpSpPr/>
          <p:nvPr/>
        </p:nvGrpSpPr>
        <p:grpSpPr>
          <a:xfrm>
            <a:off x="702679" y="1245799"/>
            <a:ext cx="3917362" cy="1781905"/>
            <a:chOff x="5170957" y="0"/>
            <a:chExt cx="3917362" cy="17819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02B157-3968-D9BD-86A3-162D864D4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0957" y="0"/>
              <a:ext cx="3917362" cy="178190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C4273A-60A4-0330-891A-358F8858B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7004" y="801795"/>
              <a:ext cx="485903" cy="727267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0FAB3C8-FACD-3396-D863-F2C060690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298" y="4430070"/>
            <a:ext cx="1668820" cy="112016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2903914D-8FE8-EF87-120F-D93AA13F33C1}"/>
              </a:ext>
            </a:extLst>
          </p:cNvPr>
          <p:cNvGrpSpPr/>
          <p:nvPr/>
        </p:nvGrpSpPr>
        <p:grpSpPr>
          <a:xfrm>
            <a:off x="5384970" y="1150885"/>
            <a:ext cx="3600953" cy="2305372"/>
            <a:chOff x="7180519" y="577245"/>
            <a:chExt cx="3600953" cy="230537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AD03EE5-8797-EB79-33EE-DA847CBD9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0519" y="577245"/>
              <a:ext cx="3600953" cy="230537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8AA5E3D-D4B2-E029-F548-213F7EC161E6}"/>
                </a:ext>
              </a:extLst>
            </p:cNvPr>
            <p:cNvSpPr/>
            <p:nvPr/>
          </p:nvSpPr>
          <p:spPr>
            <a:xfrm>
              <a:off x="9133181" y="657676"/>
              <a:ext cx="618565" cy="753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64BD108-5DCE-704B-6C09-0E2CD176F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63802" y="1563112"/>
              <a:ext cx="317197" cy="463321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71F9BB-28A5-0133-4653-7FAFA878A606}"/>
                </a:ext>
              </a:extLst>
            </p:cNvPr>
            <p:cNvSpPr/>
            <p:nvPr/>
          </p:nvSpPr>
          <p:spPr>
            <a:xfrm>
              <a:off x="8710378" y="1441660"/>
              <a:ext cx="541237" cy="618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2EAEEE-2E12-EE7B-A27C-201E9A5D8906}"/>
                </a:ext>
              </a:extLst>
            </p:cNvPr>
            <p:cNvCxnSpPr>
              <a:cxnSpLocks/>
            </p:cNvCxnSpPr>
            <p:nvPr/>
          </p:nvCxnSpPr>
          <p:spPr>
            <a:xfrm>
              <a:off x="8891134" y="1229647"/>
              <a:ext cx="0" cy="871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0BA75E0-B63E-366E-8F1D-691750740F71}"/>
                </a:ext>
              </a:extLst>
            </p:cNvPr>
            <p:cNvCxnSpPr/>
            <p:nvPr/>
          </p:nvCxnSpPr>
          <p:spPr>
            <a:xfrm flipH="1">
              <a:off x="7976734" y="758087"/>
              <a:ext cx="73364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C3F343-5E14-3CCF-C2E9-8EEF360DE5F2}"/>
              </a:ext>
            </a:extLst>
          </p:cNvPr>
          <p:cNvGrpSpPr/>
          <p:nvPr/>
        </p:nvGrpSpPr>
        <p:grpSpPr>
          <a:xfrm>
            <a:off x="5533998" y="3971486"/>
            <a:ext cx="3324689" cy="2162477"/>
            <a:chOff x="5385689" y="4180316"/>
            <a:chExt cx="3324689" cy="216247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5323B24-3675-BC35-2427-9F10EC5A5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85689" y="4180316"/>
              <a:ext cx="3324689" cy="216247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1167AF-8773-9AFF-A6C3-DC2D5B4B31A5}"/>
                </a:ext>
              </a:extLst>
            </p:cNvPr>
            <p:cNvSpPr/>
            <p:nvPr/>
          </p:nvSpPr>
          <p:spPr>
            <a:xfrm>
              <a:off x="6636079" y="4952272"/>
              <a:ext cx="616655" cy="618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B96B852-E6F1-041C-68E6-5241525FA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55872" y="5072404"/>
              <a:ext cx="375458" cy="47340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5D6A3DB-E8EC-1330-DD93-8C3182B069C5}"/>
                </a:ext>
              </a:extLst>
            </p:cNvPr>
            <p:cNvSpPr/>
            <p:nvPr/>
          </p:nvSpPr>
          <p:spPr>
            <a:xfrm>
              <a:off x="7122710" y="4348701"/>
              <a:ext cx="616655" cy="397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AE782-F961-181B-B485-9E7CF9EDF8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72812" y="4190237"/>
              <a:ext cx="0" cy="871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4B90266-2676-F45F-AA1F-BA17EF1593C5}"/>
                </a:ext>
              </a:extLst>
            </p:cNvPr>
            <p:cNvSpPr/>
            <p:nvPr/>
          </p:nvSpPr>
          <p:spPr>
            <a:xfrm>
              <a:off x="6213276" y="4699490"/>
              <a:ext cx="330325" cy="32338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108472E-58EB-F2A0-1FA3-41B542716E08}"/>
                </a:ext>
              </a:extLst>
            </p:cNvPr>
            <p:cNvSpPr/>
            <p:nvPr/>
          </p:nvSpPr>
          <p:spPr>
            <a:xfrm>
              <a:off x="5890994" y="5037293"/>
              <a:ext cx="330325" cy="32338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AC93D2A5-2DE0-A038-5086-C63DC2BE4836}"/>
              </a:ext>
            </a:extLst>
          </p:cNvPr>
          <p:cNvSpPr/>
          <p:nvPr/>
        </p:nvSpPr>
        <p:spPr>
          <a:xfrm>
            <a:off x="9986682" y="5151845"/>
            <a:ext cx="1165412" cy="398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CB6A7485-2003-ECBD-EEE5-551121209A48}"/>
              </a:ext>
            </a:extLst>
          </p:cNvPr>
          <p:cNvSpPr/>
          <p:nvPr/>
        </p:nvSpPr>
        <p:spPr>
          <a:xfrm>
            <a:off x="9216496" y="4812005"/>
            <a:ext cx="412376" cy="2882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D8FFEC-527B-6951-098A-9258DDEBF213}"/>
              </a:ext>
            </a:extLst>
          </p:cNvPr>
          <p:cNvSpPr txBox="1"/>
          <p:nvPr/>
        </p:nvSpPr>
        <p:spPr>
          <a:xfrm>
            <a:off x="887895" y="442914"/>
            <a:ext cx="7068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Teori Pendahuluan: Analisis Rangkaian Multiplier (Setengah Gelombang)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1457C-B507-6E6E-AFF6-055CEA385EC5}"/>
              </a:ext>
            </a:extLst>
          </p:cNvPr>
          <p:cNvSpPr txBox="1"/>
          <p:nvPr/>
        </p:nvSpPr>
        <p:spPr>
          <a:xfrm>
            <a:off x="9396329" y="1398087"/>
            <a:ext cx="25360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Ketika ½ gelombang positif muncul maka arus akan mengalir ke arah kanan sambil mengisi kapasitor yang nantinya akan menjadi Vm.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Pada kondisi ini, D1 akan konduksi sedangkan D2 akan terputus.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CD43A-E5E8-27C4-A25F-140AFD04EA84}"/>
              </a:ext>
            </a:extLst>
          </p:cNvPr>
          <p:cNvSpPr txBox="1"/>
          <p:nvPr/>
        </p:nvSpPr>
        <p:spPr>
          <a:xfrm>
            <a:off x="1671220" y="4151203"/>
            <a:ext cx="34323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Ketika ½ gelombang negatif muncul maka arus akan mengalir ke arah kiri.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D1 OFF dan D2 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Di kapasitor akan terjadi proses pengosongan dan memberikan tegangan Vm yang telah tersimpan sebelumnya.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Dengan hukum KVL maka kita dapatkan Vo=Vc2=2Vm.</a:t>
            </a:r>
          </a:p>
        </p:txBody>
      </p:sp>
    </p:spTree>
    <p:extLst>
      <p:ext uri="{BB962C8B-B14F-4D97-AF65-F5344CB8AC3E}">
        <p14:creationId xmlns:p14="http://schemas.microsoft.com/office/powerpoint/2010/main" val="5033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8DD6-470F-6542-6294-906B165E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13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44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uj</a:t>
            </a:r>
            <a:r>
              <a:rPr lang="en-US" sz="4400" spc="-1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44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48271-64D6-2F04-CD62-063E2C96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6040">
              <a:lnSpc>
                <a:spcPts val="2800"/>
              </a:lnSpc>
            </a:pPr>
            <a:r>
              <a:rPr lang="en-US" sz="20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20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2000" spc="-3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2000" spc="-3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20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20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20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Multiplier setengah gelombang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</a:p>
          <a:p>
            <a:pPr marL="66040">
              <a:lnSpc>
                <a:spcPts val="2800"/>
              </a:lnSpc>
            </a:pP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20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20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2000" spc="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</a:t>
            </a:r>
            <a:r>
              <a:rPr lang="en-US" sz="20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2000" spc="-1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0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20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npu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20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20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20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</a:t>
            </a:r>
            <a: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tnya.</a:t>
            </a:r>
            <a:br>
              <a: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27671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C4E184-DCA6-4E72-8670-60BCF61FA93B}"/>
              </a:ext>
            </a:extLst>
          </p:cNvPr>
          <p:cNvSpPr txBox="1"/>
          <p:nvPr/>
        </p:nvSpPr>
        <p:spPr>
          <a:xfrm>
            <a:off x="1398814" y="1728711"/>
            <a:ext cx="107931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ALAT DAN BAHAN</a:t>
            </a:r>
          </a:p>
          <a:p>
            <a:pPr marL="457200" indent="-457200">
              <a:buAutoNum type="arabicPeriod"/>
            </a:pPr>
            <a:r>
              <a:rPr lang="en-US" sz="2400"/>
              <a:t>Komponen</a:t>
            </a:r>
          </a:p>
          <a:p>
            <a:r>
              <a:rPr lang="en-US" sz="2400"/>
              <a:t>	Transformator step down center tap 220VAC/6VAC 1x</a:t>
            </a:r>
          </a:p>
          <a:p>
            <a:r>
              <a:rPr lang="en-US" sz="2400"/>
              <a:t>	Kapasitor : 100µF 2x</a:t>
            </a:r>
          </a:p>
          <a:p>
            <a:r>
              <a:rPr lang="en-US" sz="2400"/>
              <a:t>	Dioda: 1N4001 (atau 1N4007) 2x</a:t>
            </a:r>
          </a:p>
          <a:p>
            <a:r>
              <a:rPr lang="en-US" sz="2400"/>
              <a:t>2. Multimeter</a:t>
            </a:r>
          </a:p>
          <a:p>
            <a:r>
              <a:rPr lang="en-US" sz="2400"/>
              <a:t>3. Osiloskop</a:t>
            </a:r>
          </a:p>
        </p:txBody>
      </p:sp>
    </p:spTree>
    <p:extLst>
      <p:ext uri="{BB962C8B-B14F-4D97-AF65-F5344CB8AC3E}">
        <p14:creationId xmlns:p14="http://schemas.microsoft.com/office/powerpoint/2010/main" val="170300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D045-1E03-8139-BAAA-06747167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36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36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36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36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rc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36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600" spc="5">
                <a:latin typeface="Calibri" panose="020F0502020204030204" pitchFamily="34" charset="0"/>
                <a:ea typeface="Calibri" panose="020F0502020204030204" pitchFamily="34" charset="0"/>
              </a:rPr>
              <a:t>Multiplier</a:t>
            </a:r>
            <a:endParaRPr lang="en-ID" sz="36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6A4DD8-14A2-84F2-5144-512390E19B79}"/>
              </a:ext>
            </a:extLst>
          </p:cNvPr>
          <p:cNvGrpSpPr/>
          <p:nvPr/>
        </p:nvGrpSpPr>
        <p:grpSpPr>
          <a:xfrm>
            <a:off x="741981" y="2505363"/>
            <a:ext cx="4123336" cy="2521618"/>
            <a:chOff x="3576493" y="3752165"/>
            <a:chExt cx="4123336" cy="25216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2695F9-8F66-CD0B-4FED-2A506E1DB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6493" y="3752165"/>
              <a:ext cx="4123336" cy="187559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5EEB79-FDC3-C4F9-31F3-34B0A8618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3315" y="5486935"/>
              <a:ext cx="3636514" cy="786848"/>
            </a:xfrm>
            <a:prstGeom prst="rect">
              <a:avLst/>
            </a:prstGeom>
          </p:spPr>
        </p:pic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A17EAA-D43A-82A6-FC3D-B1EA3D5AB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68" y="2586235"/>
            <a:ext cx="6674963" cy="2276067"/>
          </a:xfrm>
        </p:spPr>
        <p:txBody>
          <a:bodyPr>
            <a:normAutofit/>
          </a:bodyPr>
          <a:lstStyle/>
          <a:p>
            <a:pPr marL="53149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Langkah Kerja:</a:t>
            </a:r>
          </a:p>
          <a:p>
            <a:pPr marL="531495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60095">
              <a:lnSpc>
                <a:spcPct val="110000"/>
              </a:lnSpc>
              <a:spcBef>
                <a:spcPts val="0"/>
              </a:spcBef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</a:t>
            </a:r>
            <a:r>
              <a:rPr lang="en-US" sz="1800" spc="32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berikut</a:t>
            </a:r>
            <a:r>
              <a:rPr lang="en-US" sz="1800" spc="-1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0095">
              <a:lnSpc>
                <a:spcPct val="110000"/>
              </a:lnSpc>
              <a:spcBef>
                <a:spcPts val="0"/>
              </a:spcBef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</a:t>
            </a:r>
            <a:r>
              <a:rPr lang="en-US" sz="1800" spc="3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 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ut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5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0095">
              <a:lnSpc>
                <a:spcPct val="110000"/>
              </a:lnSpc>
              <a:spcBef>
                <a:spcPts val="0"/>
              </a:spcBef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6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0095">
              <a:lnSpc>
                <a:spcPct val="110000"/>
              </a:lnSpc>
              <a:spcBef>
                <a:spcPts val="0"/>
              </a:spcBef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</a:t>
            </a:r>
            <a:r>
              <a:rPr lang="en-US" sz="1800" spc="32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9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ah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an.</a:t>
            </a:r>
          </a:p>
        </p:txBody>
      </p:sp>
    </p:spTree>
    <p:extLst>
      <p:ext uri="{BB962C8B-B14F-4D97-AF65-F5344CB8AC3E}">
        <p14:creationId xmlns:p14="http://schemas.microsoft.com/office/powerpoint/2010/main" val="234114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Rangkaian Multiplier (Pengganda)  </vt:lpstr>
      <vt:lpstr>PowerPoint Presentation</vt:lpstr>
      <vt:lpstr>Tujuan</vt:lpstr>
      <vt:lpstr>PowerPoint Presentation</vt:lpstr>
      <vt:lpstr>Rangkaian Percobaan Multiplier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18</cp:revision>
  <dcterms:created xsi:type="dcterms:W3CDTF">2025-03-10T22:27:27Z</dcterms:created>
  <dcterms:modified xsi:type="dcterms:W3CDTF">2025-03-25T00:35:10Z</dcterms:modified>
</cp:coreProperties>
</file>