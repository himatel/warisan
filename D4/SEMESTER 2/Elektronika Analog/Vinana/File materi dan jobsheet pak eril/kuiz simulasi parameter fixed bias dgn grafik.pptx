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9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4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6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5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6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1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3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2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58DC9-6650-431C-B965-8F7DD5C4B99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908DD-F72B-45CD-A843-A0A67DEB6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4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BC73-339E-C8B0-6926-8B011B32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7026" cy="1325563"/>
          </a:xfrm>
        </p:spPr>
        <p:txBody>
          <a:bodyPr/>
          <a:lstStyle/>
          <a:p>
            <a:r>
              <a:rPr lang="en-US"/>
              <a:t>Soal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D78B-7EA3-7297-7408-DB1EC02D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174"/>
            <a:ext cx="5073001" cy="522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/>
              <a:t>Diketahui:</a:t>
            </a:r>
          </a:p>
          <a:p>
            <a:r>
              <a:rPr lang="en-US" sz="1200"/>
              <a:t>Jenis Transistor: BFY51</a:t>
            </a:r>
          </a:p>
          <a:p>
            <a:r>
              <a:rPr lang="en-US" sz="1200"/>
              <a:t>Vce(cutoff)= Vcemax=0,25*Vcemax_datasheet = 0,25*Vceo</a:t>
            </a:r>
          </a:p>
          <a:p>
            <a:r>
              <a:rPr lang="en-US" sz="1200"/>
              <a:t> </a:t>
            </a:r>
            <a:r>
              <a:rPr lang="en-US" sz="1200" strike="sngStrike"/>
              <a:t>Ic(sat)=</a:t>
            </a:r>
            <a:r>
              <a:rPr lang="en-US" sz="1200"/>
              <a:t> Icmax= 0,1*Icmax_datasheet</a:t>
            </a:r>
          </a:p>
          <a:p>
            <a:r>
              <a:rPr lang="en-US" sz="1200"/>
              <a:t>Vcc=Vcemax=Vce(cutoff)</a:t>
            </a:r>
          </a:p>
          <a:p>
            <a:r>
              <a:rPr lang="en-US" sz="1200"/>
              <a:t>Titik Kerja:</a:t>
            </a:r>
          </a:p>
          <a:p>
            <a:pPr lvl="1"/>
            <a:r>
              <a:rPr lang="en-US" sz="1200"/>
              <a:t>Vceq=1/2 Vcc</a:t>
            </a:r>
          </a:p>
          <a:p>
            <a:pPr lvl="1"/>
            <a:r>
              <a:rPr lang="en-US" sz="1200"/>
              <a:t>Icq </a:t>
            </a:r>
            <a:r>
              <a:rPr lang="en-US" sz="1200" strike="sngStrike"/>
              <a:t>= ½ Ic(sat)</a:t>
            </a:r>
            <a:r>
              <a:rPr lang="en-US" sz="1200"/>
              <a:t> = ½ Icmax</a:t>
            </a:r>
          </a:p>
          <a:p>
            <a:r>
              <a:rPr lang="en-US" sz="1200"/>
              <a:t>Jenis Prategangan: Fixed Bias</a:t>
            </a:r>
          </a:p>
          <a:p>
            <a:endParaRPr lang="en-US" sz="1200"/>
          </a:p>
          <a:p>
            <a:pPr marL="0" indent="0">
              <a:buNone/>
            </a:pPr>
            <a:r>
              <a:rPr lang="en-US" sz="1200"/>
              <a:t>Ditanya:</a:t>
            </a:r>
          </a:p>
          <a:p>
            <a:r>
              <a:rPr lang="en-US" sz="1200"/>
              <a:t>1. Vcemax_datasheet?, 2. Icmax_datasheet?</a:t>
            </a:r>
          </a:p>
          <a:p>
            <a:r>
              <a:rPr lang="en-US" sz="1200"/>
              <a:t>3. </a:t>
            </a:r>
            <a:r>
              <a:rPr lang="en-US" sz="1200">
                <a:solidFill>
                  <a:srgbClr val="FF0000"/>
                </a:solidFill>
              </a:rPr>
              <a:t>Vce(cutoff)?, </a:t>
            </a:r>
            <a:r>
              <a:rPr lang="en-US" sz="1200"/>
              <a:t>4</a:t>
            </a:r>
            <a:r>
              <a:rPr lang="en-US" sz="1200">
                <a:solidFill>
                  <a:srgbClr val="FF0000"/>
                </a:solidFill>
              </a:rPr>
              <a:t>. </a:t>
            </a:r>
            <a:r>
              <a:rPr lang="en-US" sz="1200" strike="sngStrike">
                <a:solidFill>
                  <a:srgbClr val="FF0000"/>
                </a:solidFill>
              </a:rPr>
              <a:t>Ic(sat)=? </a:t>
            </a:r>
            <a:r>
              <a:rPr lang="en-US" sz="1200">
                <a:solidFill>
                  <a:srgbClr val="FF0000"/>
                </a:solidFill>
              </a:rPr>
              <a:t>Icmax=?, </a:t>
            </a:r>
            <a:r>
              <a:rPr lang="en-US" sz="1200"/>
              <a:t>5. Vcc?, 6. Rc?, 7. Vceq?, 8. Icq?</a:t>
            </a:r>
          </a:p>
          <a:p>
            <a:r>
              <a:rPr lang="en-US" sz="1200"/>
              <a:t>9. Garis Beban?, 10. Titik Kerja?, 11. Vbeq?, 12. Beta?, 13. Ibq? dan 14. Rb?</a:t>
            </a:r>
          </a:p>
          <a:p>
            <a:r>
              <a:rPr lang="en-US" sz="1200"/>
              <a:t>15. Gambarkan skema rangkaian lengkap dengan nilai-nilainya.</a:t>
            </a:r>
          </a:p>
          <a:p>
            <a:r>
              <a:rPr lang="en-US" sz="1200"/>
              <a:t>16. Cobakan hasil rancangan tersebut di Proteus (Screenshot skema pengukuran berikut nilai2 yg terbaca di alat ukurnya).</a:t>
            </a:r>
          </a:p>
          <a:p>
            <a:r>
              <a:rPr lang="en-US" sz="1200"/>
              <a:t>17. Bandingkan hasil yang terukur di simulasi dgn yang di teori dalam bentuk tabel.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933A6-66D4-F843-7087-B1044ED7D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704" y="2232623"/>
            <a:ext cx="3769606" cy="3313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86ED43-8D8C-5358-0FFF-3D366BEBEDBD}"/>
              </a:ext>
            </a:extLst>
          </p:cNvPr>
          <p:cNvSpPr txBox="1"/>
          <p:nvPr/>
        </p:nvSpPr>
        <p:spPr>
          <a:xfrm>
            <a:off x="7128768" y="2405848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q</a:t>
            </a:r>
            <a:endParaRPr lang="en-ID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28EFF-AEF6-9727-3E99-C20D54ECFEA8}"/>
              </a:ext>
            </a:extLst>
          </p:cNvPr>
          <p:cNvSpPr txBox="1"/>
          <p:nvPr/>
        </p:nvSpPr>
        <p:spPr>
          <a:xfrm>
            <a:off x="7352190" y="3720052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q</a:t>
            </a:r>
            <a:endParaRPr lang="en-ID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7C582-7604-2404-B1AA-B86B218D7728}"/>
              </a:ext>
            </a:extLst>
          </p:cNvPr>
          <p:cNvSpPr txBox="1"/>
          <p:nvPr/>
        </p:nvSpPr>
        <p:spPr>
          <a:xfrm>
            <a:off x="8799249" y="30904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q</a:t>
            </a:r>
            <a:endParaRPr lang="en-ID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FD93A-C237-F868-F31B-D1A78B83B22A}"/>
              </a:ext>
            </a:extLst>
          </p:cNvPr>
          <p:cNvSpPr txBox="1"/>
          <p:nvPr/>
        </p:nvSpPr>
        <p:spPr>
          <a:xfrm>
            <a:off x="9154356" y="424500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q</a:t>
            </a:r>
            <a:endParaRPr lang="en-ID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D33BD2-4610-33F0-FAFD-528B4738A21E}"/>
              </a:ext>
            </a:extLst>
          </p:cNvPr>
          <p:cNvSpPr txBox="1"/>
          <p:nvPr/>
        </p:nvSpPr>
        <p:spPr>
          <a:xfrm>
            <a:off x="7644258" y="458355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q</a:t>
            </a:r>
            <a:endParaRPr lang="en-ID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BB313B-D551-502E-F932-D7ADD8EE34F5}"/>
              </a:ext>
            </a:extLst>
          </p:cNvPr>
          <p:cNvCxnSpPr>
            <a:cxnSpLocks/>
          </p:cNvCxnSpPr>
          <p:nvPr/>
        </p:nvCxnSpPr>
        <p:spPr>
          <a:xfrm>
            <a:off x="8577470" y="5416826"/>
            <a:ext cx="0" cy="1987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E4CC7A-C82A-B311-4DDE-70FEB3E724E4}"/>
              </a:ext>
            </a:extLst>
          </p:cNvPr>
          <p:cNvCxnSpPr>
            <a:cxnSpLocks/>
          </p:cNvCxnSpPr>
          <p:nvPr/>
        </p:nvCxnSpPr>
        <p:spPr>
          <a:xfrm flipH="1" flipV="1">
            <a:off x="8399491" y="5625550"/>
            <a:ext cx="355958" cy="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7430CA-D397-F27C-FDD3-29A7C74C029C}"/>
              </a:ext>
            </a:extLst>
          </p:cNvPr>
          <p:cNvCxnSpPr>
            <a:cxnSpLocks/>
          </p:cNvCxnSpPr>
          <p:nvPr/>
        </p:nvCxnSpPr>
        <p:spPr>
          <a:xfrm flipH="1">
            <a:off x="8475691" y="5695124"/>
            <a:ext cx="20355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656765-A5DD-9FE3-D164-5E751E890879}"/>
              </a:ext>
            </a:extLst>
          </p:cNvPr>
          <p:cNvCxnSpPr>
            <a:cxnSpLocks/>
          </p:cNvCxnSpPr>
          <p:nvPr/>
        </p:nvCxnSpPr>
        <p:spPr>
          <a:xfrm flipH="1">
            <a:off x="8513791" y="5761494"/>
            <a:ext cx="12735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3381EA-008C-08F4-BF6C-FDA01D0CEB79}"/>
              </a:ext>
            </a:extLst>
          </p:cNvPr>
          <p:cNvSpPr txBox="1"/>
          <p:nvPr/>
        </p:nvSpPr>
        <p:spPr>
          <a:xfrm>
            <a:off x="8679249" y="4489755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q</a:t>
            </a:r>
            <a:endParaRPr lang="en-ID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15409C-AE7E-01D3-8BD8-3BD07D870904}"/>
              </a:ext>
            </a:extLst>
          </p:cNvPr>
          <p:cNvSpPr txBox="1"/>
          <p:nvPr/>
        </p:nvSpPr>
        <p:spPr>
          <a:xfrm>
            <a:off x="10314237" y="517766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0</a:t>
            </a:r>
            <a:endParaRPr lang="en-ID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9587-298D-16C6-87D5-9DC353BB1933}"/>
              </a:ext>
            </a:extLst>
          </p:cNvPr>
          <p:cNvSpPr txBox="1"/>
          <p:nvPr/>
        </p:nvSpPr>
        <p:spPr>
          <a:xfrm>
            <a:off x="5464963" y="503157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Dlm soal ini:</a:t>
            </a:r>
          </a:p>
          <a:p>
            <a:r>
              <a:rPr lang="en-US" sz="1800"/>
              <a:t>Vcemax </a:t>
            </a:r>
            <a:r>
              <a:rPr lang="en-US" sz="1800">
                <a:sym typeface="Wingdings" panose="05000000000000000000" pitchFamily="2" charset="2"/>
              </a:rPr>
              <a:t> </a:t>
            </a:r>
            <a:r>
              <a:rPr lang="en-US" sz="1800"/>
              <a:t>Vce(cutoff)</a:t>
            </a:r>
          </a:p>
          <a:p>
            <a:r>
              <a:rPr lang="en-US" sz="1800" strike="sngStrike"/>
              <a:t>Icmax </a:t>
            </a:r>
            <a:r>
              <a:rPr lang="en-US" sz="1800" strike="sngStrike">
                <a:sym typeface="Wingdings" panose="05000000000000000000" pitchFamily="2" charset="2"/>
              </a:rPr>
              <a:t> </a:t>
            </a:r>
            <a:r>
              <a:rPr lang="en-US" sz="1800" strike="sngStrike"/>
              <a:t>Ic(sat)</a:t>
            </a:r>
          </a:p>
          <a:p>
            <a:r>
              <a:rPr lang="en-US" sz="1800"/>
              <a:t>Vcemax_datasheet</a:t>
            </a:r>
            <a:r>
              <a:rPr lang="en-US"/>
              <a:t> </a:t>
            </a:r>
            <a:r>
              <a:rPr lang="en-US">
                <a:sym typeface="Wingdings" panose="05000000000000000000" pitchFamily="2" charset="2"/>
              </a:rPr>
              <a:t> Vceo</a:t>
            </a:r>
          </a:p>
        </p:txBody>
      </p:sp>
    </p:spTree>
    <p:extLst>
      <p:ext uri="{BB962C8B-B14F-4D97-AF65-F5344CB8AC3E}">
        <p14:creationId xmlns:p14="http://schemas.microsoft.com/office/powerpoint/2010/main" val="229312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30C3-D2AC-E3FC-1C97-41879358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3267" cy="1325563"/>
          </a:xfrm>
        </p:spPr>
        <p:txBody>
          <a:bodyPr/>
          <a:lstStyle/>
          <a:p>
            <a:r>
              <a:rPr lang="en-US"/>
              <a:t>Datasheet BFY51</a:t>
            </a:r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7E2F8-3D1C-3EEA-DEE8-6227D9F7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534" y="0"/>
            <a:ext cx="6021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5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6202</TotalTime>
  <Words>210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Soal</vt:lpstr>
      <vt:lpstr>Datasheet BFY51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erilmozef@yahoo.com</cp:lastModifiedBy>
  <cp:revision>204</cp:revision>
  <dcterms:created xsi:type="dcterms:W3CDTF">2024-04-25T05:33:30Z</dcterms:created>
  <dcterms:modified xsi:type="dcterms:W3CDTF">2025-05-21T21:41:10Z</dcterms:modified>
</cp:coreProperties>
</file>