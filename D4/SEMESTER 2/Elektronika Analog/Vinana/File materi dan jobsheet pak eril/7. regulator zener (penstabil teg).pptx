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1" r:id="rId2"/>
    <p:sldId id="296" r:id="rId3"/>
    <p:sldId id="306" r:id="rId4"/>
    <p:sldId id="305" r:id="rId5"/>
    <p:sldId id="303" r:id="rId6"/>
    <p:sldId id="307"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05" autoAdjust="0"/>
    <p:restoredTop sz="94660"/>
  </p:normalViewPr>
  <p:slideViewPr>
    <p:cSldViewPr snapToGrid="0">
      <p:cViewPr varScale="1">
        <p:scale>
          <a:sx n="85" d="100"/>
          <a:sy n="85" d="100"/>
        </p:scale>
        <p:origin x="451" y="62"/>
      </p:cViewPr>
      <p:guideLst/>
    </p:cSldViewPr>
  </p:slideViewPr>
  <p:notesTextViewPr>
    <p:cViewPr>
      <p:scale>
        <a:sx n="1" d="1"/>
        <a:sy n="1" d="1"/>
      </p:scale>
      <p:origin x="0" y="0"/>
    </p:cViewPr>
  </p:notesTextViewPr>
  <p:gridSpacing cx="91439" cy="91439"/>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403ED-366E-4B95-B432-8F77526DD9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2C0A1B3-B8F0-4CA1-8BE6-D833220DAA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1C85341-18EE-466B-9803-EA2D807D2E73}"/>
              </a:ext>
            </a:extLst>
          </p:cNvPr>
          <p:cNvSpPr>
            <a:spLocks noGrp="1"/>
          </p:cNvSpPr>
          <p:nvPr>
            <p:ph type="dt" sz="half" idx="10"/>
          </p:nvPr>
        </p:nvSpPr>
        <p:spPr/>
        <p:txBody>
          <a:bodyPr/>
          <a:lstStyle/>
          <a:p>
            <a:fld id="{6D6D0BD7-795D-4E37-B208-2A01539E556F}" type="datetimeFigureOut">
              <a:rPr lang="en-US" smtClean="0"/>
              <a:t>3/18/2025</a:t>
            </a:fld>
            <a:endParaRPr lang="en-US"/>
          </a:p>
        </p:txBody>
      </p:sp>
      <p:sp>
        <p:nvSpPr>
          <p:cNvPr id="5" name="Footer Placeholder 4">
            <a:extLst>
              <a:ext uri="{FF2B5EF4-FFF2-40B4-BE49-F238E27FC236}">
                <a16:creationId xmlns:a16="http://schemas.microsoft.com/office/drawing/2014/main" id="{925C88B4-8F50-493E-A9D9-428DDA99D2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676EA6-8C1A-443F-B4CE-0F7384994A92}"/>
              </a:ext>
            </a:extLst>
          </p:cNvPr>
          <p:cNvSpPr>
            <a:spLocks noGrp="1"/>
          </p:cNvSpPr>
          <p:nvPr>
            <p:ph type="sldNum" sz="quarter" idx="12"/>
          </p:nvPr>
        </p:nvSpPr>
        <p:spPr/>
        <p:txBody>
          <a:bodyPr/>
          <a:lstStyle/>
          <a:p>
            <a:fld id="{C0E7F43B-2BF8-45ED-9059-0E0C38E1C6D7}" type="slidenum">
              <a:rPr lang="en-US" smtClean="0"/>
              <a:t>‹#›</a:t>
            </a:fld>
            <a:endParaRPr lang="en-US"/>
          </a:p>
        </p:txBody>
      </p:sp>
    </p:spTree>
    <p:extLst>
      <p:ext uri="{BB962C8B-B14F-4D97-AF65-F5344CB8AC3E}">
        <p14:creationId xmlns:p14="http://schemas.microsoft.com/office/powerpoint/2010/main" val="3851706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65300-7256-4D98-B0B6-4E2CD6850E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1DF4B0F-6558-4461-9218-4119A5FC56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B93716-D69C-4FF6-9BE2-53D36CB0EE2F}"/>
              </a:ext>
            </a:extLst>
          </p:cNvPr>
          <p:cNvSpPr>
            <a:spLocks noGrp="1"/>
          </p:cNvSpPr>
          <p:nvPr>
            <p:ph type="dt" sz="half" idx="10"/>
          </p:nvPr>
        </p:nvSpPr>
        <p:spPr/>
        <p:txBody>
          <a:bodyPr/>
          <a:lstStyle/>
          <a:p>
            <a:fld id="{6D6D0BD7-795D-4E37-B208-2A01539E556F}" type="datetimeFigureOut">
              <a:rPr lang="en-US" smtClean="0"/>
              <a:t>3/18/2025</a:t>
            </a:fld>
            <a:endParaRPr lang="en-US"/>
          </a:p>
        </p:txBody>
      </p:sp>
      <p:sp>
        <p:nvSpPr>
          <p:cNvPr id="5" name="Footer Placeholder 4">
            <a:extLst>
              <a:ext uri="{FF2B5EF4-FFF2-40B4-BE49-F238E27FC236}">
                <a16:creationId xmlns:a16="http://schemas.microsoft.com/office/drawing/2014/main" id="{A48708A0-25E4-43ED-81A4-7A3C37BEC5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8B1D69-DFA9-4D0F-914C-8E73733F4936}"/>
              </a:ext>
            </a:extLst>
          </p:cNvPr>
          <p:cNvSpPr>
            <a:spLocks noGrp="1"/>
          </p:cNvSpPr>
          <p:nvPr>
            <p:ph type="sldNum" sz="quarter" idx="12"/>
          </p:nvPr>
        </p:nvSpPr>
        <p:spPr/>
        <p:txBody>
          <a:bodyPr/>
          <a:lstStyle/>
          <a:p>
            <a:fld id="{C0E7F43B-2BF8-45ED-9059-0E0C38E1C6D7}" type="slidenum">
              <a:rPr lang="en-US" smtClean="0"/>
              <a:t>‹#›</a:t>
            </a:fld>
            <a:endParaRPr lang="en-US"/>
          </a:p>
        </p:txBody>
      </p:sp>
    </p:spTree>
    <p:extLst>
      <p:ext uri="{BB962C8B-B14F-4D97-AF65-F5344CB8AC3E}">
        <p14:creationId xmlns:p14="http://schemas.microsoft.com/office/powerpoint/2010/main" val="4027772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D7115-366E-4280-9EE9-02841C0719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3A7B3CC-B236-47ED-9240-FA4CE499A9D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A9F16F-D229-49B3-B73D-F290626DFA0E}"/>
              </a:ext>
            </a:extLst>
          </p:cNvPr>
          <p:cNvSpPr>
            <a:spLocks noGrp="1"/>
          </p:cNvSpPr>
          <p:nvPr>
            <p:ph type="dt" sz="half" idx="10"/>
          </p:nvPr>
        </p:nvSpPr>
        <p:spPr/>
        <p:txBody>
          <a:bodyPr/>
          <a:lstStyle/>
          <a:p>
            <a:fld id="{6D6D0BD7-795D-4E37-B208-2A01539E556F}" type="datetimeFigureOut">
              <a:rPr lang="en-US" smtClean="0"/>
              <a:t>3/18/2025</a:t>
            </a:fld>
            <a:endParaRPr lang="en-US"/>
          </a:p>
        </p:txBody>
      </p:sp>
      <p:sp>
        <p:nvSpPr>
          <p:cNvPr id="5" name="Footer Placeholder 4">
            <a:extLst>
              <a:ext uri="{FF2B5EF4-FFF2-40B4-BE49-F238E27FC236}">
                <a16:creationId xmlns:a16="http://schemas.microsoft.com/office/drawing/2014/main" id="{980FCDED-381D-4A57-BD1A-01454E39CB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F927B2-B5AA-46DC-A5A4-EB9BE67CEE18}"/>
              </a:ext>
            </a:extLst>
          </p:cNvPr>
          <p:cNvSpPr>
            <a:spLocks noGrp="1"/>
          </p:cNvSpPr>
          <p:nvPr>
            <p:ph type="sldNum" sz="quarter" idx="12"/>
          </p:nvPr>
        </p:nvSpPr>
        <p:spPr/>
        <p:txBody>
          <a:bodyPr/>
          <a:lstStyle/>
          <a:p>
            <a:fld id="{C0E7F43B-2BF8-45ED-9059-0E0C38E1C6D7}" type="slidenum">
              <a:rPr lang="en-US" smtClean="0"/>
              <a:t>‹#›</a:t>
            </a:fld>
            <a:endParaRPr lang="en-US"/>
          </a:p>
        </p:txBody>
      </p:sp>
    </p:spTree>
    <p:extLst>
      <p:ext uri="{BB962C8B-B14F-4D97-AF65-F5344CB8AC3E}">
        <p14:creationId xmlns:p14="http://schemas.microsoft.com/office/powerpoint/2010/main" val="18480420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579FD-2A12-40A0-A396-4D3A3A9A09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34E41F-B7A6-42CB-8469-0C5DEBF0FC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353EEC-EB4F-4F5D-86CE-4A22695609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3478B05-E0E4-41C9-9A72-E519E6B26C75}"/>
              </a:ext>
            </a:extLst>
          </p:cNvPr>
          <p:cNvSpPr>
            <a:spLocks noGrp="1"/>
          </p:cNvSpPr>
          <p:nvPr>
            <p:ph type="dt" sz="half" idx="10"/>
          </p:nvPr>
        </p:nvSpPr>
        <p:spPr/>
        <p:txBody>
          <a:bodyPr/>
          <a:lstStyle/>
          <a:p>
            <a:fld id="{6D6D0BD7-795D-4E37-B208-2A01539E556F}" type="datetimeFigureOut">
              <a:rPr lang="en-US" smtClean="0"/>
              <a:t>3/18/2025</a:t>
            </a:fld>
            <a:endParaRPr lang="en-US"/>
          </a:p>
        </p:txBody>
      </p:sp>
      <p:sp>
        <p:nvSpPr>
          <p:cNvPr id="6" name="Footer Placeholder 5">
            <a:extLst>
              <a:ext uri="{FF2B5EF4-FFF2-40B4-BE49-F238E27FC236}">
                <a16:creationId xmlns:a16="http://schemas.microsoft.com/office/drawing/2014/main" id="{66AF3BEE-1A26-4CC4-9A30-69E4239412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5AA4C0-2035-41D4-8BD1-7DBC04AE2FD3}"/>
              </a:ext>
            </a:extLst>
          </p:cNvPr>
          <p:cNvSpPr>
            <a:spLocks noGrp="1"/>
          </p:cNvSpPr>
          <p:nvPr>
            <p:ph type="sldNum" sz="quarter" idx="12"/>
          </p:nvPr>
        </p:nvSpPr>
        <p:spPr/>
        <p:txBody>
          <a:bodyPr/>
          <a:lstStyle/>
          <a:p>
            <a:fld id="{C0E7F43B-2BF8-45ED-9059-0E0C38E1C6D7}" type="slidenum">
              <a:rPr lang="en-US" smtClean="0"/>
              <a:t>‹#›</a:t>
            </a:fld>
            <a:endParaRPr lang="en-US"/>
          </a:p>
        </p:txBody>
      </p:sp>
    </p:spTree>
    <p:extLst>
      <p:ext uri="{BB962C8B-B14F-4D97-AF65-F5344CB8AC3E}">
        <p14:creationId xmlns:p14="http://schemas.microsoft.com/office/powerpoint/2010/main" val="2513060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3C207-3A38-423D-B12D-8AB1CF00EDC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1586440-2397-4581-89A9-A729D237D9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F59AC0-0251-4E89-A7CD-D2BD9D95B8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E6B544-8430-4C88-A024-5F84DB56A4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EA353FF-E18A-40BA-8FC9-4B157127879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71E7A99-3150-44FF-AEF4-A17C5C1FDD5F}"/>
              </a:ext>
            </a:extLst>
          </p:cNvPr>
          <p:cNvSpPr>
            <a:spLocks noGrp="1"/>
          </p:cNvSpPr>
          <p:nvPr>
            <p:ph type="dt" sz="half" idx="10"/>
          </p:nvPr>
        </p:nvSpPr>
        <p:spPr/>
        <p:txBody>
          <a:bodyPr/>
          <a:lstStyle/>
          <a:p>
            <a:fld id="{6D6D0BD7-795D-4E37-B208-2A01539E556F}" type="datetimeFigureOut">
              <a:rPr lang="en-US" smtClean="0"/>
              <a:t>3/18/2025</a:t>
            </a:fld>
            <a:endParaRPr lang="en-US"/>
          </a:p>
        </p:txBody>
      </p:sp>
      <p:sp>
        <p:nvSpPr>
          <p:cNvPr id="8" name="Footer Placeholder 7">
            <a:extLst>
              <a:ext uri="{FF2B5EF4-FFF2-40B4-BE49-F238E27FC236}">
                <a16:creationId xmlns:a16="http://schemas.microsoft.com/office/drawing/2014/main" id="{EE252EDF-E2AF-4DD9-A565-46C1008B8F3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256DE5F-23A0-4CD9-BB7B-B4842D29353C}"/>
              </a:ext>
            </a:extLst>
          </p:cNvPr>
          <p:cNvSpPr>
            <a:spLocks noGrp="1"/>
          </p:cNvSpPr>
          <p:nvPr>
            <p:ph type="sldNum" sz="quarter" idx="12"/>
          </p:nvPr>
        </p:nvSpPr>
        <p:spPr/>
        <p:txBody>
          <a:bodyPr/>
          <a:lstStyle/>
          <a:p>
            <a:fld id="{C0E7F43B-2BF8-45ED-9059-0E0C38E1C6D7}" type="slidenum">
              <a:rPr lang="en-US" smtClean="0"/>
              <a:t>‹#›</a:t>
            </a:fld>
            <a:endParaRPr lang="en-US"/>
          </a:p>
        </p:txBody>
      </p:sp>
    </p:spTree>
    <p:extLst>
      <p:ext uri="{BB962C8B-B14F-4D97-AF65-F5344CB8AC3E}">
        <p14:creationId xmlns:p14="http://schemas.microsoft.com/office/powerpoint/2010/main" val="4009782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FC6F2-4CA4-40A3-A509-B1B179FEDEF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4A8E82-13D0-4193-991A-33957CE7D297}"/>
              </a:ext>
            </a:extLst>
          </p:cNvPr>
          <p:cNvSpPr>
            <a:spLocks noGrp="1"/>
          </p:cNvSpPr>
          <p:nvPr>
            <p:ph type="dt" sz="half" idx="10"/>
          </p:nvPr>
        </p:nvSpPr>
        <p:spPr/>
        <p:txBody>
          <a:bodyPr/>
          <a:lstStyle/>
          <a:p>
            <a:fld id="{6D6D0BD7-795D-4E37-B208-2A01539E556F}" type="datetimeFigureOut">
              <a:rPr lang="en-US" smtClean="0"/>
              <a:t>3/18/2025</a:t>
            </a:fld>
            <a:endParaRPr lang="en-US"/>
          </a:p>
        </p:txBody>
      </p:sp>
      <p:sp>
        <p:nvSpPr>
          <p:cNvPr id="4" name="Footer Placeholder 3">
            <a:extLst>
              <a:ext uri="{FF2B5EF4-FFF2-40B4-BE49-F238E27FC236}">
                <a16:creationId xmlns:a16="http://schemas.microsoft.com/office/drawing/2014/main" id="{8CE2CD9B-0C12-4051-B381-9FADE0BDEC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03A074-9CC5-4B7D-B01F-56851DCE42B1}"/>
              </a:ext>
            </a:extLst>
          </p:cNvPr>
          <p:cNvSpPr>
            <a:spLocks noGrp="1"/>
          </p:cNvSpPr>
          <p:nvPr>
            <p:ph type="sldNum" sz="quarter" idx="12"/>
          </p:nvPr>
        </p:nvSpPr>
        <p:spPr/>
        <p:txBody>
          <a:bodyPr/>
          <a:lstStyle/>
          <a:p>
            <a:fld id="{C0E7F43B-2BF8-45ED-9059-0E0C38E1C6D7}" type="slidenum">
              <a:rPr lang="en-US" smtClean="0"/>
              <a:t>‹#›</a:t>
            </a:fld>
            <a:endParaRPr lang="en-US"/>
          </a:p>
        </p:txBody>
      </p:sp>
    </p:spTree>
    <p:extLst>
      <p:ext uri="{BB962C8B-B14F-4D97-AF65-F5344CB8AC3E}">
        <p14:creationId xmlns:p14="http://schemas.microsoft.com/office/powerpoint/2010/main" val="998255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CBFD0D-E37D-41F5-9290-5628AA1C6812}"/>
              </a:ext>
            </a:extLst>
          </p:cNvPr>
          <p:cNvSpPr>
            <a:spLocks noGrp="1"/>
          </p:cNvSpPr>
          <p:nvPr>
            <p:ph type="dt" sz="half" idx="10"/>
          </p:nvPr>
        </p:nvSpPr>
        <p:spPr/>
        <p:txBody>
          <a:bodyPr/>
          <a:lstStyle/>
          <a:p>
            <a:fld id="{6D6D0BD7-795D-4E37-B208-2A01539E556F}" type="datetimeFigureOut">
              <a:rPr lang="en-US" smtClean="0"/>
              <a:t>3/18/2025</a:t>
            </a:fld>
            <a:endParaRPr lang="en-US"/>
          </a:p>
        </p:txBody>
      </p:sp>
      <p:sp>
        <p:nvSpPr>
          <p:cNvPr id="3" name="Footer Placeholder 2">
            <a:extLst>
              <a:ext uri="{FF2B5EF4-FFF2-40B4-BE49-F238E27FC236}">
                <a16:creationId xmlns:a16="http://schemas.microsoft.com/office/drawing/2014/main" id="{208F90A4-5676-4AF5-B561-9BEB2C1773A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BBD96BF-C3A7-418B-9805-29EB05B5010C}"/>
              </a:ext>
            </a:extLst>
          </p:cNvPr>
          <p:cNvSpPr>
            <a:spLocks noGrp="1"/>
          </p:cNvSpPr>
          <p:nvPr>
            <p:ph type="sldNum" sz="quarter" idx="12"/>
          </p:nvPr>
        </p:nvSpPr>
        <p:spPr/>
        <p:txBody>
          <a:bodyPr/>
          <a:lstStyle/>
          <a:p>
            <a:fld id="{C0E7F43B-2BF8-45ED-9059-0E0C38E1C6D7}" type="slidenum">
              <a:rPr lang="en-US" smtClean="0"/>
              <a:t>‹#›</a:t>
            </a:fld>
            <a:endParaRPr lang="en-US"/>
          </a:p>
        </p:txBody>
      </p:sp>
    </p:spTree>
    <p:extLst>
      <p:ext uri="{BB962C8B-B14F-4D97-AF65-F5344CB8AC3E}">
        <p14:creationId xmlns:p14="http://schemas.microsoft.com/office/powerpoint/2010/main" val="21687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B301C-AE70-4B26-86F8-78CBEBC734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8C4B1F3-3AE8-4F69-9822-06F2133064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43E9AC-58FF-4B09-B365-63F6523F91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5D5218-57F7-4700-B3F9-44B29EACB06C}"/>
              </a:ext>
            </a:extLst>
          </p:cNvPr>
          <p:cNvSpPr>
            <a:spLocks noGrp="1"/>
          </p:cNvSpPr>
          <p:nvPr>
            <p:ph type="dt" sz="half" idx="10"/>
          </p:nvPr>
        </p:nvSpPr>
        <p:spPr/>
        <p:txBody>
          <a:bodyPr/>
          <a:lstStyle/>
          <a:p>
            <a:fld id="{6D6D0BD7-795D-4E37-B208-2A01539E556F}" type="datetimeFigureOut">
              <a:rPr lang="en-US" smtClean="0"/>
              <a:t>3/18/2025</a:t>
            </a:fld>
            <a:endParaRPr lang="en-US"/>
          </a:p>
        </p:txBody>
      </p:sp>
      <p:sp>
        <p:nvSpPr>
          <p:cNvPr id="6" name="Footer Placeholder 5">
            <a:extLst>
              <a:ext uri="{FF2B5EF4-FFF2-40B4-BE49-F238E27FC236}">
                <a16:creationId xmlns:a16="http://schemas.microsoft.com/office/drawing/2014/main" id="{C39CE977-8D8D-4695-BC16-C15D83C37F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841329-7D35-4222-AB0D-2D9D4773B873}"/>
              </a:ext>
            </a:extLst>
          </p:cNvPr>
          <p:cNvSpPr>
            <a:spLocks noGrp="1"/>
          </p:cNvSpPr>
          <p:nvPr>
            <p:ph type="sldNum" sz="quarter" idx="12"/>
          </p:nvPr>
        </p:nvSpPr>
        <p:spPr/>
        <p:txBody>
          <a:bodyPr/>
          <a:lstStyle/>
          <a:p>
            <a:fld id="{C0E7F43B-2BF8-45ED-9059-0E0C38E1C6D7}" type="slidenum">
              <a:rPr lang="en-US" smtClean="0"/>
              <a:t>‹#›</a:t>
            </a:fld>
            <a:endParaRPr lang="en-US"/>
          </a:p>
        </p:txBody>
      </p:sp>
    </p:spTree>
    <p:extLst>
      <p:ext uri="{BB962C8B-B14F-4D97-AF65-F5344CB8AC3E}">
        <p14:creationId xmlns:p14="http://schemas.microsoft.com/office/powerpoint/2010/main" val="42605626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3FF4B-495F-4671-B9FF-E0133D44BE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D10BE73-AB1F-4A54-A2E5-C2127D3E44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A5772F2-80D0-467E-874B-024BCA869C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B6A046-2C0B-4F32-B759-F884169F5AB5}"/>
              </a:ext>
            </a:extLst>
          </p:cNvPr>
          <p:cNvSpPr>
            <a:spLocks noGrp="1"/>
          </p:cNvSpPr>
          <p:nvPr>
            <p:ph type="dt" sz="half" idx="10"/>
          </p:nvPr>
        </p:nvSpPr>
        <p:spPr/>
        <p:txBody>
          <a:bodyPr/>
          <a:lstStyle/>
          <a:p>
            <a:fld id="{6D6D0BD7-795D-4E37-B208-2A01539E556F}" type="datetimeFigureOut">
              <a:rPr lang="en-US" smtClean="0"/>
              <a:t>3/18/2025</a:t>
            </a:fld>
            <a:endParaRPr lang="en-US"/>
          </a:p>
        </p:txBody>
      </p:sp>
      <p:sp>
        <p:nvSpPr>
          <p:cNvPr id="6" name="Footer Placeholder 5">
            <a:extLst>
              <a:ext uri="{FF2B5EF4-FFF2-40B4-BE49-F238E27FC236}">
                <a16:creationId xmlns:a16="http://schemas.microsoft.com/office/drawing/2014/main" id="{47464CDA-B900-4ED8-9E0A-3D7AACFF4E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83AAF2-EF1B-4899-86FA-5DC2710075E7}"/>
              </a:ext>
            </a:extLst>
          </p:cNvPr>
          <p:cNvSpPr>
            <a:spLocks noGrp="1"/>
          </p:cNvSpPr>
          <p:nvPr>
            <p:ph type="sldNum" sz="quarter" idx="12"/>
          </p:nvPr>
        </p:nvSpPr>
        <p:spPr/>
        <p:txBody>
          <a:bodyPr/>
          <a:lstStyle/>
          <a:p>
            <a:fld id="{C0E7F43B-2BF8-45ED-9059-0E0C38E1C6D7}" type="slidenum">
              <a:rPr lang="en-US" smtClean="0"/>
              <a:t>‹#›</a:t>
            </a:fld>
            <a:endParaRPr lang="en-US"/>
          </a:p>
        </p:txBody>
      </p:sp>
    </p:spTree>
    <p:extLst>
      <p:ext uri="{BB962C8B-B14F-4D97-AF65-F5344CB8AC3E}">
        <p14:creationId xmlns:p14="http://schemas.microsoft.com/office/powerpoint/2010/main" val="38936370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9D25B-5F85-431D-B5A4-48DC645A7E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61169D0-07CA-4B94-9DA2-2094BB83AC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8FE414-269A-4281-B39E-F78D39D2F47D}"/>
              </a:ext>
            </a:extLst>
          </p:cNvPr>
          <p:cNvSpPr>
            <a:spLocks noGrp="1"/>
          </p:cNvSpPr>
          <p:nvPr>
            <p:ph type="dt" sz="half" idx="10"/>
          </p:nvPr>
        </p:nvSpPr>
        <p:spPr/>
        <p:txBody>
          <a:bodyPr/>
          <a:lstStyle/>
          <a:p>
            <a:fld id="{6D6D0BD7-795D-4E37-B208-2A01539E556F}" type="datetimeFigureOut">
              <a:rPr lang="en-US" smtClean="0"/>
              <a:t>3/18/2025</a:t>
            </a:fld>
            <a:endParaRPr lang="en-US"/>
          </a:p>
        </p:txBody>
      </p:sp>
      <p:sp>
        <p:nvSpPr>
          <p:cNvPr id="5" name="Footer Placeholder 4">
            <a:extLst>
              <a:ext uri="{FF2B5EF4-FFF2-40B4-BE49-F238E27FC236}">
                <a16:creationId xmlns:a16="http://schemas.microsoft.com/office/drawing/2014/main" id="{70AC0F77-F027-44F4-9463-1108A6DE65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E5D163-0ACA-41B3-94F2-A001F0CA0915}"/>
              </a:ext>
            </a:extLst>
          </p:cNvPr>
          <p:cNvSpPr>
            <a:spLocks noGrp="1"/>
          </p:cNvSpPr>
          <p:nvPr>
            <p:ph type="sldNum" sz="quarter" idx="12"/>
          </p:nvPr>
        </p:nvSpPr>
        <p:spPr/>
        <p:txBody>
          <a:bodyPr/>
          <a:lstStyle/>
          <a:p>
            <a:fld id="{C0E7F43B-2BF8-45ED-9059-0E0C38E1C6D7}" type="slidenum">
              <a:rPr lang="en-US" smtClean="0"/>
              <a:t>‹#›</a:t>
            </a:fld>
            <a:endParaRPr lang="en-US"/>
          </a:p>
        </p:txBody>
      </p:sp>
    </p:spTree>
    <p:extLst>
      <p:ext uri="{BB962C8B-B14F-4D97-AF65-F5344CB8AC3E}">
        <p14:creationId xmlns:p14="http://schemas.microsoft.com/office/powerpoint/2010/main" val="31917697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B54E62-4CD5-4EBD-A0C6-9F39096AAAA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4A8D048-41E3-4C4D-8EEE-8B4EF064A9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A1FA18-10D7-4D76-91B3-27A7A8DB0440}"/>
              </a:ext>
            </a:extLst>
          </p:cNvPr>
          <p:cNvSpPr>
            <a:spLocks noGrp="1"/>
          </p:cNvSpPr>
          <p:nvPr>
            <p:ph type="dt" sz="half" idx="10"/>
          </p:nvPr>
        </p:nvSpPr>
        <p:spPr/>
        <p:txBody>
          <a:bodyPr/>
          <a:lstStyle/>
          <a:p>
            <a:fld id="{6D6D0BD7-795D-4E37-B208-2A01539E556F}" type="datetimeFigureOut">
              <a:rPr lang="en-US" smtClean="0"/>
              <a:t>3/18/2025</a:t>
            </a:fld>
            <a:endParaRPr lang="en-US"/>
          </a:p>
        </p:txBody>
      </p:sp>
      <p:sp>
        <p:nvSpPr>
          <p:cNvPr id="5" name="Footer Placeholder 4">
            <a:extLst>
              <a:ext uri="{FF2B5EF4-FFF2-40B4-BE49-F238E27FC236}">
                <a16:creationId xmlns:a16="http://schemas.microsoft.com/office/drawing/2014/main" id="{9132B232-A5AE-435E-8143-40A1182717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D62038-4E9D-468B-AD23-73006900C9F9}"/>
              </a:ext>
            </a:extLst>
          </p:cNvPr>
          <p:cNvSpPr>
            <a:spLocks noGrp="1"/>
          </p:cNvSpPr>
          <p:nvPr>
            <p:ph type="sldNum" sz="quarter" idx="12"/>
          </p:nvPr>
        </p:nvSpPr>
        <p:spPr/>
        <p:txBody>
          <a:bodyPr/>
          <a:lstStyle/>
          <a:p>
            <a:fld id="{C0E7F43B-2BF8-45ED-9059-0E0C38E1C6D7}" type="slidenum">
              <a:rPr lang="en-US" smtClean="0"/>
              <a:t>‹#›</a:t>
            </a:fld>
            <a:endParaRPr lang="en-US"/>
          </a:p>
        </p:txBody>
      </p:sp>
    </p:spTree>
    <p:extLst>
      <p:ext uri="{BB962C8B-B14F-4D97-AF65-F5344CB8AC3E}">
        <p14:creationId xmlns:p14="http://schemas.microsoft.com/office/powerpoint/2010/main" val="768881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F3EEBB-21D6-4523-A09C-71768CC54D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0C14C9-E452-4F70-9AFF-F5B33FB884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929518-71CB-45D2-8730-87BDD12E76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6D0BD7-795D-4E37-B208-2A01539E556F}" type="datetimeFigureOut">
              <a:rPr lang="en-US" smtClean="0"/>
              <a:t>3/18/2025</a:t>
            </a:fld>
            <a:endParaRPr lang="en-US"/>
          </a:p>
        </p:txBody>
      </p:sp>
      <p:sp>
        <p:nvSpPr>
          <p:cNvPr id="5" name="Footer Placeholder 4">
            <a:extLst>
              <a:ext uri="{FF2B5EF4-FFF2-40B4-BE49-F238E27FC236}">
                <a16:creationId xmlns:a16="http://schemas.microsoft.com/office/drawing/2014/main" id="{65C7FDC0-2EB3-429B-A97D-7DCA37FD04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6E4A992-90A0-457B-BBE2-2CA97D3722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E7F43B-2BF8-45ED-9059-0E0C38E1C6D7}" type="slidenum">
              <a:rPr lang="en-US" smtClean="0"/>
              <a:t>‹#›</a:t>
            </a:fld>
            <a:endParaRPr lang="en-US"/>
          </a:p>
        </p:txBody>
      </p:sp>
    </p:spTree>
    <p:extLst>
      <p:ext uri="{BB962C8B-B14F-4D97-AF65-F5344CB8AC3E}">
        <p14:creationId xmlns:p14="http://schemas.microsoft.com/office/powerpoint/2010/main" val="22158502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33FE6-9EC3-F0B6-866B-3768F6CBA595}"/>
              </a:ext>
            </a:extLst>
          </p:cNvPr>
          <p:cNvSpPr>
            <a:spLocks noGrp="1"/>
          </p:cNvSpPr>
          <p:nvPr>
            <p:ph type="ctrTitle"/>
          </p:nvPr>
        </p:nvSpPr>
        <p:spPr/>
        <p:txBody>
          <a:bodyPr/>
          <a:lstStyle/>
          <a:p>
            <a:r>
              <a:rPr lang="en-US"/>
              <a:t>Regulator Zener</a:t>
            </a:r>
            <a:endParaRPr lang="en-ID"/>
          </a:p>
        </p:txBody>
      </p:sp>
      <p:sp>
        <p:nvSpPr>
          <p:cNvPr id="3" name="Subtitle 2">
            <a:extLst>
              <a:ext uri="{FF2B5EF4-FFF2-40B4-BE49-F238E27FC236}">
                <a16:creationId xmlns:a16="http://schemas.microsoft.com/office/drawing/2014/main" id="{56DB6CEC-4B15-84BC-944D-C188BF1DB785}"/>
              </a:ext>
            </a:extLst>
          </p:cNvPr>
          <p:cNvSpPr>
            <a:spLocks noGrp="1"/>
          </p:cNvSpPr>
          <p:nvPr>
            <p:ph type="subTitle" idx="1"/>
          </p:nvPr>
        </p:nvSpPr>
        <p:spPr/>
        <p:txBody>
          <a:bodyPr/>
          <a:lstStyle/>
          <a:p>
            <a:endParaRPr lang="en-ID"/>
          </a:p>
        </p:txBody>
      </p:sp>
    </p:spTree>
    <p:extLst>
      <p:ext uri="{BB962C8B-B14F-4D97-AF65-F5344CB8AC3E}">
        <p14:creationId xmlns:p14="http://schemas.microsoft.com/office/powerpoint/2010/main" val="404889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Apa itu Regulator Zener?</a:t>
            </a:r>
          </a:p>
        </p:txBody>
      </p:sp>
      <p:sp>
        <p:nvSpPr>
          <p:cNvPr id="3" name="Content Placeholder 2"/>
          <p:cNvSpPr>
            <a:spLocks noGrp="1"/>
          </p:cNvSpPr>
          <p:nvPr>
            <p:ph idx="1"/>
          </p:nvPr>
        </p:nvSpPr>
        <p:spPr/>
        <p:txBody>
          <a:bodyPr>
            <a:normAutofit fontScale="62500" lnSpcReduction="20000"/>
          </a:bodyPr>
          <a:lstStyle/>
          <a:p>
            <a:r>
              <a:rPr lang="en-US"/>
              <a:t>Rangkaian regulator Zener adalah jenis rangkaian yang menggunakan dioda Zener untuk mempertahankan tegangan keluaran pada tingkat yang tetap, terlepas dari perubahan tegangan masukan atau perubahan beban. </a:t>
            </a:r>
          </a:p>
          <a:p>
            <a:r>
              <a:rPr lang="en-US"/>
              <a:t>Tujuan utama dari rangkaian regulator Zener adalah untuk menyediakan tegangan yang stabil di berbagai kondisi operasi.</a:t>
            </a:r>
          </a:p>
          <a:p>
            <a:r>
              <a:rPr lang="en-US"/>
              <a:t>Dalam rangkaian regulator Zener, dioda Zener ditempatkan dalam kebalikan (reverse bias) dan dioperasikan di daerah breakdown terbaliknya. </a:t>
            </a:r>
          </a:p>
          <a:p>
            <a:r>
              <a:rPr lang="en-US"/>
              <a:t>Saat tegangan masukan melebihi tegangan Zener (tegangan breakdown dioda Zener), dioda Zener akan mulai mengalirkan arus besar dan mempertahankan tegangan di titik tegangan Zener yang telah ditentukan.</a:t>
            </a:r>
          </a:p>
          <a:p>
            <a:r>
              <a:rPr lang="en-US"/>
              <a:t>Dengan menggabungkan dioda Zener dengan resistor pembatas arus (current-limiting resistor) dalam sebuah rangkaian, kita dapat menciptakan sirkuit regulator Zener yang efektif. </a:t>
            </a:r>
          </a:p>
          <a:p>
            <a:r>
              <a:rPr lang="en-US"/>
              <a:t>Ketika beban pada rangkaian berubah, dioda Zener akan menyesuaikan arusnya untuk mempertahankan tegangan keluaran sebanyak mungkin tetap stabil.</a:t>
            </a:r>
          </a:p>
          <a:p>
            <a:r>
              <a:rPr lang="en-US"/>
              <a:t>Rangkaian regulator Zener sering digunakan dalam berbagai aplikasi elektronik, seperti dalam regulator tegangan linier untuk sirkuit daya, pembangkit sinyal referensi tegangan, dan dalam berbagai aplikasi elektronik lainnya di mana stabilisasi tegangan diperlukan</a:t>
            </a:r>
          </a:p>
          <a:p>
            <a:endParaRPr lang="en-US"/>
          </a:p>
        </p:txBody>
      </p:sp>
    </p:spTree>
    <p:extLst>
      <p:ext uri="{BB962C8B-B14F-4D97-AF65-F5344CB8AC3E}">
        <p14:creationId xmlns:p14="http://schemas.microsoft.com/office/powerpoint/2010/main" val="856882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328B3-7239-DC36-C73E-E4954FB85A46}"/>
              </a:ext>
            </a:extLst>
          </p:cNvPr>
          <p:cNvSpPr>
            <a:spLocks noGrp="1"/>
          </p:cNvSpPr>
          <p:nvPr>
            <p:ph type="title"/>
          </p:nvPr>
        </p:nvSpPr>
        <p:spPr/>
        <p:txBody>
          <a:bodyPr/>
          <a:lstStyle/>
          <a:p>
            <a:r>
              <a:rPr lang="en-US" sz="4400" b="1"/>
              <a:t>Prinsip Kerja ZENER</a:t>
            </a:r>
            <a:endParaRPr lang="en-ID"/>
          </a:p>
        </p:txBody>
      </p:sp>
      <p:pic>
        <p:nvPicPr>
          <p:cNvPr id="6" name="Picture 5">
            <a:extLst>
              <a:ext uri="{FF2B5EF4-FFF2-40B4-BE49-F238E27FC236}">
                <a16:creationId xmlns:a16="http://schemas.microsoft.com/office/drawing/2014/main" id="{D1636921-A5F4-0491-85BE-C9EEAF701333}"/>
              </a:ext>
            </a:extLst>
          </p:cNvPr>
          <p:cNvPicPr>
            <a:picLocks noChangeAspect="1"/>
          </p:cNvPicPr>
          <p:nvPr/>
        </p:nvPicPr>
        <p:blipFill>
          <a:blip r:embed="rId2"/>
          <a:stretch>
            <a:fillRect/>
          </a:stretch>
        </p:blipFill>
        <p:spPr>
          <a:xfrm>
            <a:off x="3786650" y="3130937"/>
            <a:ext cx="1362265" cy="1686160"/>
          </a:xfrm>
          <a:prstGeom prst="rect">
            <a:avLst/>
          </a:prstGeom>
        </p:spPr>
      </p:pic>
      <p:pic>
        <p:nvPicPr>
          <p:cNvPr id="14" name="Picture 13">
            <a:extLst>
              <a:ext uri="{FF2B5EF4-FFF2-40B4-BE49-F238E27FC236}">
                <a16:creationId xmlns:a16="http://schemas.microsoft.com/office/drawing/2014/main" id="{97499417-EE17-BD9A-F805-74061903EE5E}"/>
              </a:ext>
            </a:extLst>
          </p:cNvPr>
          <p:cNvPicPr>
            <a:picLocks noChangeAspect="1"/>
          </p:cNvPicPr>
          <p:nvPr/>
        </p:nvPicPr>
        <p:blipFill>
          <a:blip r:embed="rId3"/>
          <a:stretch>
            <a:fillRect/>
          </a:stretch>
        </p:blipFill>
        <p:spPr>
          <a:xfrm>
            <a:off x="6521794" y="3188095"/>
            <a:ext cx="1867161" cy="1629002"/>
          </a:xfrm>
          <a:prstGeom prst="rect">
            <a:avLst/>
          </a:prstGeom>
        </p:spPr>
      </p:pic>
      <p:sp>
        <p:nvSpPr>
          <p:cNvPr id="16" name="TextBox 15">
            <a:extLst>
              <a:ext uri="{FF2B5EF4-FFF2-40B4-BE49-F238E27FC236}">
                <a16:creationId xmlns:a16="http://schemas.microsoft.com/office/drawing/2014/main" id="{18B4B0DA-269F-66DD-9BC7-DFB065498A8C}"/>
              </a:ext>
            </a:extLst>
          </p:cNvPr>
          <p:cNvSpPr txBox="1"/>
          <p:nvPr/>
        </p:nvSpPr>
        <p:spPr>
          <a:xfrm>
            <a:off x="3852320" y="2290490"/>
            <a:ext cx="1278555" cy="369332"/>
          </a:xfrm>
          <a:prstGeom prst="rect">
            <a:avLst/>
          </a:prstGeom>
          <a:noFill/>
        </p:spPr>
        <p:txBody>
          <a:bodyPr wrap="none" rtlCol="0">
            <a:spAutoFit/>
          </a:bodyPr>
          <a:lstStyle/>
          <a:p>
            <a:r>
              <a:rPr lang="en-US"/>
              <a:t>Kondisi OFF</a:t>
            </a:r>
            <a:endParaRPr lang="en-ID"/>
          </a:p>
        </p:txBody>
      </p:sp>
      <p:sp>
        <p:nvSpPr>
          <p:cNvPr id="18" name="TextBox 17">
            <a:extLst>
              <a:ext uri="{FF2B5EF4-FFF2-40B4-BE49-F238E27FC236}">
                <a16:creationId xmlns:a16="http://schemas.microsoft.com/office/drawing/2014/main" id="{BDA61350-367C-AF35-9564-6F0582CA8682}"/>
              </a:ext>
            </a:extLst>
          </p:cNvPr>
          <p:cNvSpPr txBox="1"/>
          <p:nvPr/>
        </p:nvSpPr>
        <p:spPr>
          <a:xfrm>
            <a:off x="6816096" y="2301449"/>
            <a:ext cx="1216039" cy="369332"/>
          </a:xfrm>
          <a:prstGeom prst="rect">
            <a:avLst/>
          </a:prstGeom>
          <a:noFill/>
        </p:spPr>
        <p:txBody>
          <a:bodyPr wrap="none" rtlCol="0">
            <a:spAutoFit/>
          </a:bodyPr>
          <a:lstStyle/>
          <a:p>
            <a:r>
              <a:rPr lang="en-US"/>
              <a:t>Kondisi ON</a:t>
            </a:r>
            <a:endParaRPr lang="en-ID"/>
          </a:p>
        </p:txBody>
      </p:sp>
      <p:sp>
        <p:nvSpPr>
          <p:cNvPr id="19" name="TextBox 18">
            <a:extLst>
              <a:ext uri="{FF2B5EF4-FFF2-40B4-BE49-F238E27FC236}">
                <a16:creationId xmlns:a16="http://schemas.microsoft.com/office/drawing/2014/main" id="{B58404D5-7362-DE40-A097-AC43073AEDD9}"/>
              </a:ext>
            </a:extLst>
          </p:cNvPr>
          <p:cNvSpPr txBox="1"/>
          <p:nvPr/>
        </p:nvSpPr>
        <p:spPr>
          <a:xfrm>
            <a:off x="3894927" y="2670781"/>
            <a:ext cx="1193340" cy="369332"/>
          </a:xfrm>
          <a:prstGeom prst="rect">
            <a:avLst/>
          </a:prstGeom>
          <a:noFill/>
        </p:spPr>
        <p:txBody>
          <a:bodyPr wrap="none" rtlCol="0">
            <a:spAutoFit/>
          </a:bodyPr>
          <a:lstStyle/>
          <a:p>
            <a:r>
              <a:rPr lang="en-US"/>
              <a:t>Vz &gt; V &gt; 0v</a:t>
            </a:r>
            <a:endParaRPr lang="en-ID"/>
          </a:p>
        </p:txBody>
      </p:sp>
      <p:sp>
        <p:nvSpPr>
          <p:cNvPr id="20" name="TextBox 19">
            <a:extLst>
              <a:ext uri="{FF2B5EF4-FFF2-40B4-BE49-F238E27FC236}">
                <a16:creationId xmlns:a16="http://schemas.microsoft.com/office/drawing/2014/main" id="{3C044A9F-71B8-00FB-2E2F-501CF080A67D}"/>
              </a:ext>
            </a:extLst>
          </p:cNvPr>
          <p:cNvSpPr txBox="1"/>
          <p:nvPr/>
        </p:nvSpPr>
        <p:spPr>
          <a:xfrm>
            <a:off x="7048659" y="2659822"/>
            <a:ext cx="750911" cy="369332"/>
          </a:xfrm>
          <a:prstGeom prst="rect">
            <a:avLst/>
          </a:prstGeom>
          <a:noFill/>
        </p:spPr>
        <p:txBody>
          <a:bodyPr wrap="none" rtlCol="0">
            <a:spAutoFit/>
          </a:bodyPr>
          <a:lstStyle/>
          <a:p>
            <a:r>
              <a:rPr lang="en-US"/>
              <a:t>V = Vz</a:t>
            </a:r>
            <a:endParaRPr lang="en-ID"/>
          </a:p>
        </p:txBody>
      </p:sp>
    </p:spTree>
    <p:extLst>
      <p:ext uri="{BB962C8B-B14F-4D97-AF65-F5344CB8AC3E}">
        <p14:creationId xmlns:p14="http://schemas.microsoft.com/office/powerpoint/2010/main" val="13401178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26D38-4E80-C0B3-A3F0-01A07861EF59}"/>
              </a:ext>
            </a:extLst>
          </p:cNvPr>
          <p:cNvSpPr>
            <a:spLocks noGrp="1"/>
          </p:cNvSpPr>
          <p:nvPr>
            <p:ph type="title"/>
          </p:nvPr>
        </p:nvSpPr>
        <p:spPr/>
        <p:txBody>
          <a:bodyPr/>
          <a:lstStyle/>
          <a:p>
            <a:r>
              <a:rPr lang="en-US"/>
              <a:t>Prinsip Kerja Rangkaian Regulator Zener</a:t>
            </a:r>
            <a:endParaRPr lang="en-ID"/>
          </a:p>
        </p:txBody>
      </p:sp>
      <p:pic>
        <p:nvPicPr>
          <p:cNvPr id="21" name="Picture 20">
            <a:extLst>
              <a:ext uri="{FF2B5EF4-FFF2-40B4-BE49-F238E27FC236}">
                <a16:creationId xmlns:a16="http://schemas.microsoft.com/office/drawing/2014/main" id="{D8A0B9B8-C52D-A284-6912-1C0E882DAE6B}"/>
              </a:ext>
            </a:extLst>
          </p:cNvPr>
          <p:cNvPicPr>
            <a:picLocks noChangeAspect="1"/>
          </p:cNvPicPr>
          <p:nvPr/>
        </p:nvPicPr>
        <p:blipFill>
          <a:blip r:embed="rId2"/>
          <a:stretch>
            <a:fillRect/>
          </a:stretch>
        </p:blipFill>
        <p:spPr>
          <a:xfrm>
            <a:off x="1718449" y="2291322"/>
            <a:ext cx="3300960" cy="2666160"/>
          </a:xfrm>
          <a:prstGeom prst="rect">
            <a:avLst/>
          </a:prstGeom>
        </p:spPr>
      </p:pic>
      <p:sp>
        <p:nvSpPr>
          <p:cNvPr id="22" name="TextBox 21">
            <a:extLst>
              <a:ext uri="{FF2B5EF4-FFF2-40B4-BE49-F238E27FC236}">
                <a16:creationId xmlns:a16="http://schemas.microsoft.com/office/drawing/2014/main" id="{8CCC0C10-F508-D454-9373-D2378D22DA6F}"/>
              </a:ext>
            </a:extLst>
          </p:cNvPr>
          <p:cNvSpPr txBox="1"/>
          <p:nvPr/>
        </p:nvSpPr>
        <p:spPr>
          <a:xfrm>
            <a:off x="5656729" y="2690336"/>
            <a:ext cx="5511679" cy="1754326"/>
          </a:xfrm>
          <a:prstGeom prst="rect">
            <a:avLst/>
          </a:prstGeom>
          <a:noFill/>
        </p:spPr>
        <p:txBody>
          <a:bodyPr wrap="square" rtlCol="0">
            <a:spAutoFit/>
          </a:bodyPr>
          <a:lstStyle/>
          <a:p>
            <a:pPr marL="285750" indent="-285750">
              <a:buFont typeface="Arial" panose="020B0604020202020204" pitchFamily="34" charset="0"/>
              <a:buChar char="•"/>
            </a:pPr>
            <a:r>
              <a:rPr lang="en-US"/>
              <a:t>Agar perubahan tegangan Vi yang lebih besar dari Vz tidak merusak Zener maka kelebihan tegangan pada Vz akan dialihkan ke R.</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Saat Vi berubah-ubah di atas Vz dan/atau nilai beban RL berubah-ubah maka V output (Vo) akan tetap.</a:t>
            </a:r>
            <a:endParaRPr lang="en-ID"/>
          </a:p>
        </p:txBody>
      </p:sp>
      <p:sp>
        <p:nvSpPr>
          <p:cNvPr id="4" name="TextBox 3">
            <a:extLst>
              <a:ext uri="{FF2B5EF4-FFF2-40B4-BE49-F238E27FC236}">
                <a16:creationId xmlns:a16="http://schemas.microsoft.com/office/drawing/2014/main" id="{930B947E-F9E2-FB95-6812-20F9E522207E}"/>
              </a:ext>
            </a:extLst>
          </p:cNvPr>
          <p:cNvSpPr txBox="1"/>
          <p:nvPr/>
        </p:nvSpPr>
        <p:spPr>
          <a:xfrm>
            <a:off x="5019409" y="3059668"/>
            <a:ext cx="428259" cy="369332"/>
          </a:xfrm>
          <a:prstGeom prst="rect">
            <a:avLst/>
          </a:prstGeom>
          <a:noFill/>
        </p:spPr>
        <p:txBody>
          <a:bodyPr wrap="none" rtlCol="0">
            <a:spAutoFit/>
          </a:bodyPr>
          <a:lstStyle/>
          <a:p>
            <a:r>
              <a:rPr lang="en-US">
                <a:solidFill>
                  <a:srgbClr val="FF0000"/>
                </a:solidFill>
              </a:rPr>
              <a:t>Vo</a:t>
            </a:r>
            <a:endParaRPr lang="en-ID">
              <a:solidFill>
                <a:srgbClr val="FF0000"/>
              </a:solidFill>
            </a:endParaRPr>
          </a:p>
        </p:txBody>
      </p:sp>
      <p:cxnSp>
        <p:nvCxnSpPr>
          <p:cNvPr id="6" name="Straight Arrow Connector 5">
            <a:extLst>
              <a:ext uri="{FF2B5EF4-FFF2-40B4-BE49-F238E27FC236}">
                <a16:creationId xmlns:a16="http://schemas.microsoft.com/office/drawing/2014/main" id="{132A3317-BFAF-BAAA-606F-8CB1E1D29B6D}"/>
              </a:ext>
            </a:extLst>
          </p:cNvPr>
          <p:cNvCxnSpPr/>
          <p:nvPr/>
        </p:nvCxnSpPr>
        <p:spPr>
          <a:xfrm flipV="1">
            <a:off x="5019409" y="2690336"/>
            <a:ext cx="0" cy="126309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3072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072CB-ADFB-BD18-C40A-BD61C3186944}"/>
              </a:ext>
            </a:extLst>
          </p:cNvPr>
          <p:cNvSpPr>
            <a:spLocks noGrp="1"/>
          </p:cNvSpPr>
          <p:nvPr>
            <p:ph type="title"/>
          </p:nvPr>
        </p:nvSpPr>
        <p:spPr/>
        <p:txBody>
          <a:bodyPr/>
          <a:lstStyle/>
          <a:p>
            <a:r>
              <a:rPr lang="en-US"/>
              <a:t>Analisis Rangkaian Regulator Zener </a:t>
            </a:r>
            <a:endParaRPr lang="en-ID"/>
          </a:p>
        </p:txBody>
      </p:sp>
      <p:pic>
        <p:nvPicPr>
          <p:cNvPr id="15" name="Picture 14">
            <a:extLst>
              <a:ext uri="{FF2B5EF4-FFF2-40B4-BE49-F238E27FC236}">
                <a16:creationId xmlns:a16="http://schemas.microsoft.com/office/drawing/2014/main" id="{4651F230-ACE7-3178-2ADB-7F388DF42A81}"/>
              </a:ext>
            </a:extLst>
          </p:cNvPr>
          <p:cNvPicPr>
            <a:picLocks noChangeAspect="1"/>
          </p:cNvPicPr>
          <p:nvPr/>
        </p:nvPicPr>
        <p:blipFill>
          <a:blip r:embed="rId2"/>
          <a:stretch>
            <a:fillRect/>
          </a:stretch>
        </p:blipFill>
        <p:spPr>
          <a:xfrm>
            <a:off x="1970491" y="2681580"/>
            <a:ext cx="2670484" cy="2149104"/>
          </a:xfrm>
          <a:prstGeom prst="rect">
            <a:avLst/>
          </a:prstGeom>
        </p:spPr>
      </p:pic>
      <p:pic>
        <p:nvPicPr>
          <p:cNvPr id="17" name="Picture 16">
            <a:extLst>
              <a:ext uri="{FF2B5EF4-FFF2-40B4-BE49-F238E27FC236}">
                <a16:creationId xmlns:a16="http://schemas.microsoft.com/office/drawing/2014/main" id="{145EC154-C31F-9FB0-E84A-A65B0A322991}"/>
              </a:ext>
            </a:extLst>
          </p:cNvPr>
          <p:cNvPicPr>
            <a:picLocks noChangeAspect="1"/>
          </p:cNvPicPr>
          <p:nvPr/>
        </p:nvPicPr>
        <p:blipFill>
          <a:blip r:embed="rId3"/>
          <a:stretch>
            <a:fillRect/>
          </a:stretch>
        </p:blipFill>
        <p:spPr>
          <a:xfrm>
            <a:off x="2105584" y="5237694"/>
            <a:ext cx="2203074" cy="802444"/>
          </a:xfrm>
          <a:prstGeom prst="rect">
            <a:avLst/>
          </a:prstGeom>
        </p:spPr>
      </p:pic>
      <p:sp>
        <p:nvSpPr>
          <p:cNvPr id="4" name="TextBox 3">
            <a:extLst>
              <a:ext uri="{FF2B5EF4-FFF2-40B4-BE49-F238E27FC236}">
                <a16:creationId xmlns:a16="http://schemas.microsoft.com/office/drawing/2014/main" id="{E742ED6E-69B7-BE0F-482A-0223DCB879F8}"/>
              </a:ext>
            </a:extLst>
          </p:cNvPr>
          <p:cNvSpPr txBox="1"/>
          <p:nvPr/>
        </p:nvSpPr>
        <p:spPr>
          <a:xfrm>
            <a:off x="1047886" y="1548548"/>
            <a:ext cx="4823996" cy="923330"/>
          </a:xfrm>
          <a:prstGeom prst="rect">
            <a:avLst/>
          </a:prstGeom>
          <a:noFill/>
        </p:spPr>
        <p:txBody>
          <a:bodyPr wrap="square">
            <a:spAutoFit/>
          </a:bodyPr>
          <a:lstStyle/>
          <a:p>
            <a:pPr marL="285750" indent="-285750">
              <a:buFont typeface="Arial" panose="020B0604020202020204" pitchFamily="34" charset="0"/>
              <a:buChar char="•"/>
            </a:pPr>
            <a:r>
              <a:rPr lang="en-US"/>
              <a:t>Saat Zener OFF, diode tidak konduksi maka lepaskan dioda dari rangkaian.</a:t>
            </a:r>
          </a:p>
          <a:p>
            <a:pPr marL="285750" indent="-285750">
              <a:buFont typeface="Arial" panose="020B0604020202020204" pitchFamily="34" charset="0"/>
              <a:buChar char="•"/>
            </a:pPr>
            <a:r>
              <a:rPr lang="en-US"/>
              <a:t>Hitung VL.</a:t>
            </a:r>
          </a:p>
        </p:txBody>
      </p:sp>
      <p:pic>
        <p:nvPicPr>
          <p:cNvPr id="5" name="Picture 4">
            <a:extLst>
              <a:ext uri="{FF2B5EF4-FFF2-40B4-BE49-F238E27FC236}">
                <a16:creationId xmlns:a16="http://schemas.microsoft.com/office/drawing/2014/main" id="{5D2EC9DB-B5A1-418A-860F-6210660BF91F}"/>
              </a:ext>
            </a:extLst>
          </p:cNvPr>
          <p:cNvPicPr>
            <a:picLocks noChangeAspect="1"/>
          </p:cNvPicPr>
          <p:nvPr/>
        </p:nvPicPr>
        <p:blipFill>
          <a:blip r:embed="rId4"/>
          <a:stretch>
            <a:fillRect/>
          </a:stretch>
        </p:blipFill>
        <p:spPr>
          <a:xfrm>
            <a:off x="7813335" y="2471878"/>
            <a:ext cx="2539433" cy="2224916"/>
          </a:xfrm>
          <a:prstGeom prst="rect">
            <a:avLst/>
          </a:prstGeom>
        </p:spPr>
      </p:pic>
      <p:sp>
        <p:nvSpPr>
          <p:cNvPr id="6" name="TextBox 5">
            <a:extLst>
              <a:ext uri="{FF2B5EF4-FFF2-40B4-BE49-F238E27FC236}">
                <a16:creationId xmlns:a16="http://schemas.microsoft.com/office/drawing/2014/main" id="{24F6726D-E886-2C0C-603A-3DF71F0897AC}"/>
              </a:ext>
            </a:extLst>
          </p:cNvPr>
          <p:cNvSpPr txBox="1"/>
          <p:nvPr/>
        </p:nvSpPr>
        <p:spPr>
          <a:xfrm>
            <a:off x="6804212" y="1499953"/>
            <a:ext cx="4339902" cy="923330"/>
          </a:xfrm>
          <a:prstGeom prst="rect">
            <a:avLst/>
          </a:prstGeom>
          <a:noFill/>
        </p:spPr>
        <p:txBody>
          <a:bodyPr wrap="square">
            <a:spAutoFit/>
          </a:bodyPr>
          <a:lstStyle/>
          <a:p>
            <a:pPr marL="285750" indent="-285750">
              <a:buFont typeface="Arial" panose="020B0604020202020204" pitchFamily="34" charset="0"/>
              <a:buChar char="•"/>
            </a:pPr>
            <a:r>
              <a:rPr lang="en-US"/>
              <a:t>Saat Zener ON, dioda konduksi maka pasangkan Vz.</a:t>
            </a:r>
          </a:p>
          <a:p>
            <a:pPr marL="285750" indent="-285750">
              <a:buFont typeface="Arial" panose="020B0604020202020204" pitchFamily="34" charset="0"/>
              <a:buChar char="•"/>
            </a:pPr>
            <a:r>
              <a:rPr lang="en-US"/>
              <a:t>Hitung VL.</a:t>
            </a:r>
          </a:p>
        </p:txBody>
      </p:sp>
      <p:pic>
        <p:nvPicPr>
          <p:cNvPr id="7" name="Picture 6">
            <a:extLst>
              <a:ext uri="{FF2B5EF4-FFF2-40B4-BE49-F238E27FC236}">
                <a16:creationId xmlns:a16="http://schemas.microsoft.com/office/drawing/2014/main" id="{01D704E0-AD53-4910-A8AC-A927F28394DF}"/>
              </a:ext>
            </a:extLst>
          </p:cNvPr>
          <p:cNvPicPr>
            <a:picLocks noChangeAspect="1"/>
          </p:cNvPicPr>
          <p:nvPr/>
        </p:nvPicPr>
        <p:blipFill>
          <a:blip r:embed="rId5"/>
          <a:stretch>
            <a:fillRect/>
          </a:stretch>
        </p:blipFill>
        <p:spPr>
          <a:xfrm>
            <a:off x="7020943" y="4896633"/>
            <a:ext cx="1880447" cy="682123"/>
          </a:xfrm>
          <a:prstGeom prst="rect">
            <a:avLst/>
          </a:prstGeom>
        </p:spPr>
      </p:pic>
      <p:pic>
        <p:nvPicPr>
          <p:cNvPr id="8" name="Picture 7">
            <a:extLst>
              <a:ext uri="{FF2B5EF4-FFF2-40B4-BE49-F238E27FC236}">
                <a16:creationId xmlns:a16="http://schemas.microsoft.com/office/drawing/2014/main" id="{124BC742-F936-41FC-9F97-5A9C3EBE65DA}"/>
              </a:ext>
            </a:extLst>
          </p:cNvPr>
          <p:cNvPicPr>
            <a:picLocks noChangeAspect="1"/>
          </p:cNvPicPr>
          <p:nvPr/>
        </p:nvPicPr>
        <p:blipFill>
          <a:blip r:embed="rId6"/>
          <a:stretch>
            <a:fillRect/>
          </a:stretch>
        </p:blipFill>
        <p:spPr>
          <a:xfrm>
            <a:off x="9351737" y="4502016"/>
            <a:ext cx="2002063" cy="1076740"/>
          </a:xfrm>
          <a:prstGeom prst="rect">
            <a:avLst/>
          </a:prstGeom>
        </p:spPr>
      </p:pic>
      <p:pic>
        <p:nvPicPr>
          <p:cNvPr id="9" name="Picture 8">
            <a:extLst>
              <a:ext uri="{FF2B5EF4-FFF2-40B4-BE49-F238E27FC236}">
                <a16:creationId xmlns:a16="http://schemas.microsoft.com/office/drawing/2014/main" id="{D91FDFB2-02B5-485C-8C33-74233C921880}"/>
              </a:ext>
            </a:extLst>
          </p:cNvPr>
          <p:cNvPicPr>
            <a:picLocks noChangeAspect="1"/>
          </p:cNvPicPr>
          <p:nvPr/>
        </p:nvPicPr>
        <p:blipFill>
          <a:blip r:embed="rId7"/>
          <a:stretch>
            <a:fillRect/>
          </a:stretch>
        </p:blipFill>
        <p:spPr>
          <a:xfrm>
            <a:off x="7151027" y="5711187"/>
            <a:ext cx="4077635" cy="855800"/>
          </a:xfrm>
          <a:prstGeom prst="rect">
            <a:avLst/>
          </a:prstGeom>
        </p:spPr>
      </p:pic>
      <p:sp>
        <p:nvSpPr>
          <p:cNvPr id="3" name="TextBox 2">
            <a:extLst>
              <a:ext uri="{FF2B5EF4-FFF2-40B4-BE49-F238E27FC236}">
                <a16:creationId xmlns:a16="http://schemas.microsoft.com/office/drawing/2014/main" id="{E54CBED0-D064-D355-9EB7-A8D6FD769333}"/>
              </a:ext>
            </a:extLst>
          </p:cNvPr>
          <p:cNvSpPr txBox="1"/>
          <p:nvPr/>
        </p:nvSpPr>
        <p:spPr>
          <a:xfrm>
            <a:off x="2897421" y="2609863"/>
            <a:ext cx="309700" cy="369332"/>
          </a:xfrm>
          <a:prstGeom prst="rect">
            <a:avLst/>
          </a:prstGeom>
          <a:noFill/>
        </p:spPr>
        <p:txBody>
          <a:bodyPr wrap="none" rtlCol="0">
            <a:spAutoFit/>
          </a:bodyPr>
          <a:lstStyle/>
          <a:p>
            <a:r>
              <a:rPr lang="en-US"/>
              <a:t>R</a:t>
            </a:r>
            <a:endParaRPr lang="en-ID"/>
          </a:p>
        </p:txBody>
      </p:sp>
      <p:cxnSp>
        <p:nvCxnSpPr>
          <p:cNvPr id="11" name="Straight Arrow Connector 10">
            <a:extLst>
              <a:ext uri="{FF2B5EF4-FFF2-40B4-BE49-F238E27FC236}">
                <a16:creationId xmlns:a16="http://schemas.microsoft.com/office/drawing/2014/main" id="{DE107F4A-EF17-C680-D454-AF8D70D6EB86}"/>
              </a:ext>
            </a:extLst>
          </p:cNvPr>
          <p:cNvCxnSpPr>
            <a:cxnSpLocks/>
          </p:cNvCxnSpPr>
          <p:nvPr/>
        </p:nvCxnSpPr>
        <p:spPr>
          <a:xfrm flipV="1">
            <a:off x="4706470" y="2979195"/>
            <a:ext cx="0" cy="10488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C8135D4-57EA-7CAC-FE77-C0A6D23FDE43}"/>
              </a:ext>
            </a:extLst>
          </p:cNvPr>
          <p:cNvSpPr txBox="1"/>
          <p:nvPr/>
        </p:nvSpPr>
        <p:spPr>
          <a:xfrm>
            <a:off x="4706470" y="3318964"/>
            <a:ext cx="316112" cy="369332"/>
          </a:xfrm>
          <a:prstGeom prst="rect">
            <a:avLst/>
          </a:prstGeom>
          <a:noFill/>
        </p:spPr>
        <p:txBody>
          <a:bodyPr wrap="none" rtlCol="0">
            <a:spAutoFit/>
          </a:bodyPr>
          <a:lstStyle/>
          <a:p>
            <a:r>
              <a:rPr lang="en-US"/>
              <a:t>V</a:t>
            </a:r>
            <a:endParaRPr lang="en-ID"/>
          </a:p>
        </p:txBody>
      </p:sp>
      <p:cxnSp>
        <p:nvCxnSpPr>
          <p:cNvPr id="14" name="Straight Arrow Connector 13">
            <a:extLst>
              <a:ext uri="{FF2B5EF4-FFF2-40B4-BE49-F238E27FC236}">
                <a16:creationId xmlns:a16="http://schemas.microsoft.com/office/drawing/2014/main" id="{8EBC7873-07CD-C549-14DE-1B00AC20CEBA}"/>
              </a:ext>
            </a:extLst>
          </p:cNvPr>
          <p:cNvCxnSpPr>
            <a:cxnSpLocks/>
          </p:cNvCxnSpPr>
          <p:nvPr/>
        </p:nvCxnSpPr>
        <p:spPr>
          <a:xfrm flipV="1">
            <a:off x="10537172" y="2753548"/>
            <a:ext cx="0" cy="10488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C25822F8-FE44-619E-63E6-04FEC6CF9AB7}"/>
              </a:ext>
            </a:extLst>
          </p:cNvPr>
          <p:cNvSpPr txBox="1"/>
          <p:nvPr/>
        </p:nvSpPr>
        <p:spPr>
          <a:xfrm>
            <a:off x="10537172" y="3093317"/>
            <a:ext cx="316112" cy="369332"/>
          </a:xfrm>
          <a:prstGeom prst="rect">
            <a:avLst/>
          </a:prstGeom>
          <a:noFill/>
        </p:spPr>
        <p:txBody>
          <a:bodyPr wrap="none" rtlCol="0">
            <a:spAutoFit/>
          </a:bodyPr>
          <a:lstStyle/>
          <a:p>
            <a:r>
              <a:rPr lang="en-US"/>
              <a:t>V</a:t>
            </a:r>
            <a:endParaRPr lang="en-ID"/>
          </a:p>
        </p:txBody>
      </p:sp>
      <p:sp>
        <p:nvSpPr>
          <p:cNvPr id="18" name="TextBox 17">
            <a:extLst>
              <a:ext uri="{FF2B5EF4-FFF2-40B4-BE49-F238E27FC236}">
                <a16:creationId xmlns:a16="http://schemas.microsoft.com/office/drawing/2014/main" id="{926876E4-A3E9-D3B7-1F61-EAB9603960A9}"/>
              </a:ext>
            </a:extLst>
          </p:cNvPr>
          <p:cNvSpPr txBox="1"/>
          <p:nvPr/>
        </p:nvSpPr>
        <p:spPr>
          <a:xfrm>
            <a:off x="6612445" y="5053028"/>
            <a:ext cx="484428" cy="369332"/>
          </a:xfrm>
          <a:prstGeom prst="rect">
            <a:avLst/>
          </a:prstGeom>
          <a:noFill/>
        </p:spPr>
        <p:txBody>
          <a:bodyPr wrap="none" rtlCol="0">
            <a:spAutoFit/>
          </a:bodyPr>
          <a:lstStyle/>
          <a:p>
            <a:r>
              <a:rPr lang="en-US"/>
              <a:t>V =</a:t>
            </a:r>
            <a:endParaRPr lang="en-ID"/>
          </a:p>
        </p:txBody>
      </p:sp>
    </p:spTree>
    <p:extLst>
      <p:ext uri="{BB962C8B-B14F-4D97-AF65-F5344CB8AC3E}">
        <p14:creationId xmlns:p14="http://schemas.microsoft.com/office/powerpoint/2010/main" val="885869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F6B59-A8AA-D8A5-4527-812614B5D73D}"/>
              </a:ext>
            </a:extLst>
          </p:cNvPr>
          <p:cNvSpPr>
            <a:spLocks noGrp="1"/>
          </p:cNvSpPr>
          <p:nvPr>
            <p:ph type="title"/>
          </p:nvPr>
        </p:nvSpPr>
        <p:spPr/>
        <p:txBody>
          <a:bodyPr/>
          <a:lstStyle/>
          <a:p>
            <a:r>
              <a:rPr lang="en-US"/>
              <a:t>Daya Zener</a:t>
            </a:r>
            <a:endParaRPr lang="en-ID"/>
          </a:p>
        </p:txBody>
      </p:sp>
      <p:sp>
        <p:nvSpPr>
          <p:cNvPr id="11" name="TextBox 10">
            <a:extLst>
              <a:ext uri="{FF2B5EF4-FFF2-40B4-BE49-F238E27FC236}">
                <a16:creationId xmlns:a16="http://schemas.microsoft.com/office/drawing/2014/main" id="{0D5C8F3A-2BF4-4F23-BFE4-947A18AB32F1}"/>
              </a:ext>
            </a:extLst>
          </p:cNvPr>
          <p:cNvSpPr txBox="1"/>
          <p:nvPr/>
        </p:nvSpPr>
        <p:spPr>
          <a:xfrm>
            <a:off x="2859291" y="2551907"/>
            <a:ext cx="6096000" cy="369332"/>
          </a:xfrm>
          <a:prstGeom prst="rect">
            <a:avLst/>
          </a:prstGeom>
          <a:noFill/>
        </p:spPr>
        <p:txBody>
          <a:bodyPr wrap="square">
            <a:spAutoFit/>
          </a:bodyPr>
          <a:lstStyle/>
          <a:p>
            <a:r>
              <a:rPr lang="en-US" dirty="0" err="1"/>
              <a:t>Daya</a:t>
            </a:r>
            <a:r>
              <a:rPr lang="en-US" dirty="0"/>
              <a:t> yang </a:t>
            </a:r>
            <a:r>
              <a:rPr lang="en-US" dirty="0" err="1"/>
              <a:t>diserap</a:t>
            </a:r>
            <a:r>
              <a:rPr lang="en-US" dirty="0"/>
              <a:t> oleh </a:t>
            </a:r>
            <a:r>
              <a:rPr lang="en-US" dirty="0" err="1"/>
              <a:t>dioda</a:t>
            </a:r>
            <a:r>
              <a:rPr lang="en-US" dirty="0"/>
              <a:t> Zener </a:t>
            </a:r>
            <a:r>
              <a:rPr lang="en-US" dirty="0" err="1"/>
              <a:t>ditentukan</a:t>
            </a:r>
            <a:r>
              <a:rPr lang="en-US" dirty="0"/>
              <a:t> oleh</a:t>
            </a:r>
          </a:p>
        </p:txBody>
      </p:sp>
      <p:pic>
        <p:nvPicPr>
          <p:cNvPr id="13" name="Picture 12">
            <a:extLst>
              <a:ext uri="{FF2B5EF4-FFF2-40B4-BE49-F238E27FC236}">
                <a16:creationId xmlns:a16="http://schemas.microsoft.com/office/drawing/2014/main" id="{D2B32E92-2EA9-4547-B4EF-6494DDB775DB}"/>
              </a:ext>
            </a:extLst>
          </p:cNvPr>
          <p:cNvPicPr>
            <a:picLocks noChangeAspect="1"/>
          </p:cNvPicPr>
          <p:nvPr/>
        </p:nvPicPr>
        <p:blipFill>
          <a:blip r:embed="rId2"/>
          <a:stretch>
            <a:fillRect/>
          </a:stretch>
        </p:blipFill>
        <p:spPr>
          <a:xfrm>
            <a:off x="4355183" y="3238500"/>
            <a:ext cx="2582828" cy="815630"/>
          </a:xfrm>
          <a:prstGeom prst="rect">
            <a:avLst/>
          </a:prstGeom>
        </p:spPr>
      </p:pic>
    </p:spTree>
    <p:extLst>
      <p:ext uri="{BB962C8B-B14F-4D97-AF65-F5344CB8AC3E}">
        <p14:creationId xmlns:p14="http://schemas.microsoft.com/office/powerpoint/2010/main" val="41424598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1147</TotalTime>
  <Words>296</Words>
  <Application>Microsoft Office PowerPoint</Application>
  <PresentationFormat>Widescreen</PresentationFormat>
  <Paragraphs>30</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Regulator Zener</vt:lpstr>
      <vt:lpstr>Apa itu Regulator Zener?</vt:lpstr>
      <vt:lpstr>Prinsip Kerja ZENER</vt:lpstr>
      <vt:lpstr>Prinsip Kerja Rangkaian Regulator Zener</vt:lpstr>
      <vt:lpstr>Analisis Rangkaian Regulator Zener </vt:lpstr>
      <vt:lpstr>Daya Zener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Aplikasi Dioda  Rangkaian Pemotong (Clipper) Rangkaian Pengapit (Clampers) Rangkaian Pengganda Tegangan Rangkaian Dioda Zener </dc:title>
  <dc:creator>Ridwan Solihin</dc:creator>
  <cp:lastModifiedBy>erilmozef@yahoo.com</cp:lastModifiedBy>
  <cp:revision>41</cp:revision>
  <dcterms:created xsi:type="dcterms:W3CDTF">2022-02-27T04:50:30Z</dcterms:created>
  <dcterms:modified xsi:type="dcterms:W3CDTF">2025-03-18T02:19:35Z</dcterms:modified>
</cp:coreProperties>
</file>