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93" r:id="rId3"/>
    <p:sldId id="295" r:id="rId4"/>
    <p:sldId id="296" r:id="rId5"/>
    <p:sldId id="297" r:id="rId6"/>
    <p:sldId id="308" r:id="rId7"/>
    <p:sldId id="265" r:id="rId8"/>
    <p:sldId id="306" r:id="rId9"/>
    <p:sldId id="309" r:id="rId10"/>
    <p:sldId id="310" r:id="rId11"/>
    <p:sldId id="312" r:id="rId12"/>
    <p:sldId id="307" r:id="rId13"/>
    <p:sldId id="314" r:id="rId14"/>
    <p:sldId id="301" r:id="rId15"/>
    <p:sldId id="316" r:id="rId16"/>
    <p:sldId id="303" r:id="rId17"/>
    <p:sldId id="317"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46" d="100"/>
          <a:sy n="46" d="100"/>
        </p:scale>
        <p:origin x="43" y="73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0558DC9-6650-431C-B965-8F7DD5C4B993}" type="datetimeFigureOut">
              <a:rPr lang="en-US" smtClean="0"/>
              <a:t>5/14/2025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D908DD-F72B-45CD-A843-A0A67DEB6BD5}" type="slidenum">
              <a:rPr lang="en-US" smtClean="0"/>
              <a:t>‹#›</a:t>
            </a:fld>
            <a:endParaRPr lang="en-US"/>
          </a:p>
        </p:txBody>
      </p:sp>
    </p:spTree>
    <p:extLst>
      <p:ext uri="{BB962C8B-B14F-4D97-AF65-F5344CB8AC3E}">
        <p14:creationId xmlns:p14="http://schemas.microsoft.com/office/powerpoint/2010/main" val="24246912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0558DC9-6650-431C-B965-8F7DD5C4B993}" type="datetimeFigureOut">
              <a:rPr lang="en-US" smtClean="0"/>
              <a:t>5/14/2025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D908DD-F72B-45CD-A843-A0A67DEB6BD5}" type="slidenum">
              <a:rPr lang="en-US" smtClean="0"/>
              <a:t>‹#›</a:t>
            </a:fld>
            <a:endParaRPr lang="en-US"/>
          </a:p>
        </p:txBody>
      </p:sp>
    </p:spTree>
    <p:extLst>
      <p:ext uri="{BB962C8B-B14F-4D97-AF65-F5344CB8AC3E}">
        <p14:creationId xmlns:p14="http://schemas.microsoft.com/office/powerpoint/2010/main" val="42465406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0558DC9-6650-431C-B965-8F7DD5C4B993}" type="datetimeFigureOut">
              <a:rPr lang="en-US" smtClean="0"/>
              <a:t>5/14/2025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D908DD-F72B-45CD-A843-A0A67DEB6BD5}" type="slidenum">
              <a:rPr lang="en-US" smtClean="0"/>
              <a:t>‹#›</a:t>
            </a:fld>
            <a:endParaRPr lang="en-US"/>
          </a:p>
        </p:txBody>
      </p:sp>
    </p:spTree>
    <p:extLst>
      <p:ext uri="{BB962C8B-B14F-4D97-AF65-F5344CB8AC3E}">
        <p14:creationId xmlns:p14="http://schemas.microsoft.com/office/powerpoint/2010/main" val="12331412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0558DC9-6650-431C-B965-8F7DD5C4B993}" type="datetimeFigureOut">
              <a:rPr lang="en-US" smtClean="0"/>
              <a:t>5/14/2025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D908DD-F72B-45CD-A843-A0A67DEB6BD5}" type="slidenum">
              <a:rPr lang="en-US" smtClean="0"/>
              <a:t>‹#›</a:t>
            </a:fld>
            <a:endParaRPr lang="en-US"/>
          </a:p>
        </p:txBody>
      </p:sp>
    </p:spTree>
    <p:extLst>
      <p:ext uri="{BB962C8B-B14F-4D97-AF65-F5344CB8AC3E}">
        <p14:creationId xmlns:p14="http://schemas.microsoft.com/office/powerpoint/2010/main" val="38072625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0558DC9-6650-431C-B965-8F7DD5C4B993}" type="datetimeFigureOut">
              <a:rPr lang="en-US" smtClean="0"/>
              <a:t>5/14/2025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6D908DD-F72B-45CD-A843-A0A67DEB6BD5}" type="slidenum">
              <a:rPr lang="en-US" smtClean="0"/>
              <a:t>‹#›</a:t>
            </a:fld>
            <a:endParaRPr lang="en-US"/>
          </a:p>
        </p:txBody>
      </p:sp>
    </p:spTree>
    <p:extLst>
      <p:ext uri="{BB962C8B-B14F-4D97-AF65-F5344CB8AC3E}">
        <p14:creationId xmlns:p14="http://schemas.microsoft.com/office/powerpoint/2010/main" val="28365570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0558DC9-6650-431C-B965-8F7DD5C4B993}" type="datetimeFigureOut">
              <a:rPr lang="en-US" smtClean="0"/>
              <a:t>5/14/2025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6D908DD-F72B-45CD-A843-A0A67DEB6BD5}" type="slidenum">
              <a:rPr lang="en-US" smtClean="0"/>
              <a:t>‹#›</a:t>
            </a:fld>
            <a:endParaRPr lang="en-US"/>
          </a:p>
        </p:txBody>
      </p:sp>
    </p:spTree>
    <p:extLst>
      <p:ext uri="{BB962C8B-B14F-4D97-AF65-F5344CB8AC3E}">
        <p14:creationId xmlns:p14="http://schemas.microsoft.com/office/powerpoint/2010/main" val="31054667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0558DC9-6650-431C-B965-8F7DD5C4B993}" type="datetimeFigureOut">
              <a:rPr lang="en-US" smtClean="0"/>
              <a:t>5/14/2025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6D908DD-F72B-45CD-A843-A0A67DEB6BD5}" type="slidenum">
              <a:rPr lang="en-US" smtClean="0"/>
              <a:t>‹#›</a:t>
            </a:fld>
            <a:endParaRPr lang="en-US"/>
          </a:p>
        </p:txBody>
      </p:sp>
    </p:spTree>
    <p:extLst>
      <p:ext uri="{BB962C8B-B14F-4D97-AF65-F5344CB8AC3E}">
        <p14:creationId xmlns:p14="http://schemas.microsoft.com/office/powerpoint/2010/main" val="19970127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0558DC9-6650-431C-B965-8F7DD5C4B993}" type="datetimeFigureOut">
              <a:rPr lang="en-US" smtClean="0"/>
              <a:t>5/14/2025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D908DD-F72B-45CD-A843-A0A67DEB6BD5}" type="slidenum">
              <a:rPr lang="en-US" smtClean="0"/>
              <a:t>‹#›</a:t>
            </a:fld>
            <a:endParaRPr lang="en-US"/>
          </a:p>
        </p:txBody>
      </p:sp>
    </p:spTree>
    <p:extLst>
      <p:ext uri="{BB962C8B-B14F-4D97-AF65-F5344CB8AC3E}">
        <p14:creationId xmlns:p14="http://schemas.microsoft.com/office/powerpoint/2010/main" val="3808138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0558DC9-6650-431C-B965-8F7DD5C4B993}" type="datetimeFigureOut">
              <a:rPr lang="en-US" smtClean="0"/>
              <a:t>5/14/2025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D908DD-F72B-45CD-A843-A0A67DEB6BD5}" type="slidenum">
              <a:rPr lang="en-US" smtClean="0"/>
              <a:t>‹#›</a:t>
            </a:fld>
            <a:endParaRPr lang="en-US"/>
          </a:p>
        </p:txBody>
      </p:sp>
    </p:spTree>
    <p:extLst>
      <p:ext uri="{BB962C8B-B14F-4D97-AF65-F5344CB8AC3E}">
        <p14:creationId xmlns:p14="http://schemas.microsoft.com/office/powerpoint/2010/main" val="12612243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0558DC9-6650-431C-B965-8F7DD5C4B993}" type="datetimeFigureOut">
              <a:rPr lang="en-US" smtClean="0"/>
              <a:t>5/14/2025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D908DD-F72B-45CD-A843-A0A67DEB6BD5}" type="slidenum">
              <a:rPr lang="en-US" smtClean="0"/>
              <a:t>‹#›</a:t>
            </a:fld>
            <a:endParaRPr lang="en-US"/>
          </a:p>
        </p:txBody>
      </p:sp>
    </p:spTree>
    <p:extLst>
      <p:ext uri="{BB962C8B-B14F-4D97-AF65-F5344CB8AC3E}">
        <p14:creationId xmlns:p14="http://schemas.microsoft.com/office/powerpoint/2010/main" val="1172889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0558DC9-6650-431C-B965-8F7DD5C4B993}" type="datetimeFigureOut">
              <a:rPr lang="en-US" smtClean="0"/>
              <a:t>5/14/2025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D908DD-F72B-45CD-A843-A0A67DEB6BD5}" type="slidenum">
              <a:rPr lang="en-US" smtClean="0"/>
              <a:t>‹#›</a:t>
            </a:fld>
            <a:endParaRPr lang="en-US"/>
          </a:p>
        </p:txBody>
      </p:sp>
    </p:spTree>
    <p:extLst>
      <p:ext uri="{BB962C8B-B14F-4D97-AF65-F5344CB8AC3E}">
        <p14:creationId xmlns:p14="http://schemas.microsoft.com/office/powerpoint/2010/main" val="12024391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endParaRPr lang="id-ID"/>
          </a:p>
        </p:txBody>
      </p:sp>
      <p:sp>
        <p:nvSpPr>
          <p:cNvPr id="3" name="Table Placeholder 2"/>
          <p:cNvSpPr>
            <a:spLocks noGrp="1"/>
          </p:cNvSpPr>
          <p:nvPr>
            <p:ph type="tbl" idx="1"/>
          </p:nvPr>
        </p:nvSpPr>
        <p:spPr>
          <a:xfrm>
            <a:off x="609600" y="1600201"/>
            <a:ext cx="10972800" cy="4525963"/>
          </a:xfrm>
        </p:spPr>
        <p:txBody>
          <a:bodyPr/>
          <a:lstStyle/>
          <a:p>
            <a:pPr lvl="0"/>
            <a:endParaRPr lang="id-ID" noProof="0"/>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ABC8CC7B-D9B2-4064-8E88-A5BDFFE2DA7E}" type="slidenum">
              <a:rPr lang="en-GB"/>
              <a:pPr>
                <a:defRPr/>
              </a:pPr>
              <a:t>‹#›</a:t>
            </a:fld>
            <a:endParaRPr lang="en-GB"/>
          </a:p>
        </p:txBody>
      </p:sp>
    </p:spTree>
    <p:extLst>
      <p:ext uri="{BB962C8B-B14F-4D97-AF65-F5344CB8AC3E}">
        <p14:creationId xmlns:p14="http://schemas.microsoft.com/office/powerpoint/2010/main" val="5933575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558DC9-6650-431C-B965-8F7DD5C4B993}" type="datetimeFigureOut">
              <a:rPr lang="en-US" smtClean="0"/>
              <a:t>5/14/2025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D908DD-F72B-45CD-A843-A0A67DEB6BD5}" type="slidenum">
              <a:rPr lang="en-US" smtClean="0"/>
              <a:t>‹#›</a:t>
            </a:fld>
            <a:endParaRPr lang="en-US"/>
          </a:p>
        </p:txBody>
      </p:sp>
    </p:spTree>
    <p:extLst>
      <p:ext uri="{BB962C8B-B14F-4D97-AF65-F5344CB8AC3E}">
        <p14:creationId xmlns:p14="http://schemas.microsoft.com/office/powerpoint/2010/main" val="28181471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sz="4800"/>
              <a:t>Mencari Ibq, Vbeq, Icq, Vceq, Beta, Rc dan Rb Fixed Bias dengan Metoda Grafik</a:t>
            </a:r>
          </a:p>
        </p:txBody>
      </p:sp>
      <p:sp>
        <p:nvSpPr>
          <p:cNvPr id="3" name="Subtitle 2"/>
          <p:cNvSpPr>
            <a:spLocks noGrp="1"/>
          </p:cNvSpPr>
          <p:nvPr>
            <p:ph type="subTitle" idx="1"/>
          </p:nvPr>
        </p:nvSpPr>
        <p:spPr/>
        <p:txBody>
          <a:bodyPr/>
          <a:lstStyle/>
          <a:p>
            <a:r>
              <a:rPr lang="en-US"/>
              <a:t>(Untuk Transistor 2N3055)</a:t>
            </a:r>
          </a:p>
        </p:txBody>
      </p:sp>
    </p:spTree>
    <p:extLst>
      <p:ext uri="{BB962C8B-B14F-4D97-AF65-F5344CB8AC3E}">
        <p14:creationId xmlns:p14="http://schemas.microsoft.com/office/powerpoint/2010/main" val="8348040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D0B63-2ED5-E2E4-C3E6-3E51391B0E1B}"/>
              </a:ext>
            </a:extLst>
          </p:cNvPr>
          <p:cNvSpPr>
            <a:spLocks noGrp="1"/>
          </p:cNvSpPr>
          <p:nvPr>
            <p:ph type="title"/>
          </p:nvPr>
        </p:nvSpPr>
        <p:spPr/>
        <p:txBody>
          <a:bodyPr/>
          <a:lstStyle/>
          <a:p>
            <a:r>
              <a:rPr lang="en-US"/>
              <a:t>Pendahuluan</a:t>
            </a:r>
            <a:endParaRPr lang="en-ID"/>
          </a:p>
        </p:txBody>
      </p:sp>
      <p:sp>
        <p:nvSpPr>
          <p:cNvPr id="3" name="Content Placeholder 2">
            <a:extLst>
              <a:ext uri="{FF2B5EF4-FFF2-40B4-BE49-F238E27FC236}">
                <a16:creationId xmlns:a16="http://schemas.microsoft.com/office/drawing/2014/main" id="{A686E51C-855B-49D4-6A7F-81635E1B3899}"/>
              </a:ext>
            </a:extLst>
          </p:cNvPr>
          <p:cNvSpPr>
            <a:spLocks noGrp="1"/>
          </p:cNvSpPr>
          <p:nvPr>
            <p:ph idx="1"/>
          </p:nvPr>
        </p:nvSpPr>
        <p:spPr/>
        <p:txBody>
          <a:bodyPr>
            <a:normAutofit fontScale="92500" lnSpcReduction="10000"/>
          </a:bodyPr>
          <a:lstStyle/>
          <a:p>
            <a:r>
              <a:rPr lang="en-US"/>
              <a:t>Penentuan Ibq, Vbeq dan Beta (Hfe) dengan mengetahui Icq dan Vceq sangatlah penting dalam merancang rangkaian Prategangan (Biasing) transistor.</a:t>
            </a:r>
          </a:p>
          <a:p>
            <a:r>
              <a:rPr lang="en-US"/>
              <a:t>Biasanya rangkaian Prategangan dirancang dengan mengetahui terlebih dahulu parameter output seperti arus kolektor maksimum (Icmax), tegangan Vce maksimum (Vcemax) dan R beban atau R kolektor (Rc).</a:t>
            </a:r>
          </a:p>
          <a:p>
            <a:r>
              <a:rPr lang="en-US"/>
              <a:t>Kemudian ditentukan titik kerja output (Qpoint) yaitu Icq dan Vceq.</a:t>
            </a:r>
          </a:p>
          <a:p>
            <a:r>
              <a:rPr lang="en-US"/>
              <a:t>Dengan mengetahui parameter-parameter tersebut kemudian dapat dicari parameter-parameter inputnya Ibq dan Vbeq baik dengan asumsi (misal Vbeq=0,7v) maupun dengan melihat grafik karakteristik.</a:t>
            </a:r>
          </a:p>
          <a:p>
            <a:r>
              <a:rPr lang="en-US"/>
              <a:t>Selanjutnya dapat dicari Rb.</a:t>
            </a:r>
          </a:p>
        </p:txBody>
      </p:sp>
    </p:spTree>
    <p:extLst>
      <p:ext uri="{BB962C8B-B14F-4D97-AF65-F5344CB8AC3E}">
        <p14:creationId xmlns:p14="http://schemas.microsoft.com/office/powerpoint/2010/main" val="27543959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F3362-CD7E-EF41-89AC-4D869247C1A0}"/>
              </a:ext>
            </a:extLst>
          </p:cNvPr>
          <p:cNvSpPr>
            <a:spLocks noGrp="1"/>
          </p:cNvSpPr>
          <p:nvPr>
            <p:ph type="title"/>
          </p:nvPr>
        </p:nvSpPr>
        <p:spPr/>
        <p:txBody>
          <a:bodyPr/>
          <a:lstStyle/>
          <a:p>
            <a:r>
              <a:rPr lang="en-US"/>
              <a:t>Tujuan</a:t>
            </a:r>
            <a:endParaRPr lang="en-ID"/>
          </a:p>
        </p:txBody>
      </p:sp>
      <p:sp>
        <p:nvSpPr>
          <p:cNvPr id="3" name="Content Placeholder 2">
            <a:extLst>
              <a:ext uri="{FF2B5EF4-FFF2-40B4-BE49-F238E27FC236}">
                <a16:creationId xmlns:a16="http://schemas.microsoft.com/office/drawing/2014/main" id="{E0016C50-B791-05C1-5D76-1790CA088B34}"/>
              </a:ext>
            </a:extLst>
          </p:cNvPr>
          <p:cNvSpPr>
            <a:spLocks noGrp="1"/>
          </p:cNvSpPr>
          <p:nvPr>
            <p:ph idx="1"/>
          </p:nvPr>
        </p:nvSpPr>
        <p:spPr/>
        <p:txBody>
          <a:bodyPr/>
          <a:lstStyle/>
          <a:p>
            <a:r>
              <a:rPr lang="en-US"/>
              <a:t>Menentukan Ibq, Vbeq dan Beta (Hfe) dari rangkaian Prategangan Fixed Bias 2N3055 dengan mengetahui Icq dan Vceq menggunakan 3 grafik karakteristik dasar transistor.</a:t>
            </a:r>
          </a:p>
          <a:p>
            <a:endParaRPr lang="en-ID"/>
          </a:p>
        </p:txBody>
      </p:sp>
    </p:spTree>
    <p:extLst>
      <p:ext uri="{BB962C8B-B14F-4D97-AF65-F5344CB8AC3E}">
        <p14:creationId xmlns:p14="http://schemas.microsoft.com/office/powerpoint/2010/main" val="3260160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5947C-4D1F-C2F3-7D49-D57E5BE54E24}"/>
              </a:ext>
            </a:extLst>
          </p:cNvPr>
          <p:cNvSpPr>
            <a:spLocks noGrp="1"/>
          </p:cNvSpPr>
          <p:nvPr>
            <p:ph type="title"/>
          </p:nvPr>
        </p:nvSpPr>
        <p:spPr/>
        <p:txBody>
          <a:bodyPr/>
          <a:lstStyle/>
          <a:p>
            <a:r>
              <a:rPr lang="en-US"/>
              <a:t>Persyaratan yang harus dipenuhi Mahasiswa</a:t>
            </a:r>
            <a:endParaRPr lang="en-ID"/>
          </a:p>
        </p:txBody>
      </p:sp>
      <p:sp>
        <p:nvSpPr>
          <p:cNvPr id="3" name="Content Placeholder 2">
            <a:extLst>
              <a:ext uri="{FF2B5EF4-FFF2-40B4-BE49-F238E27FC236}">
                <a16:creationId xmlns:a16="http://schemas.microsoft.com/office/drawing/2014/main" id="{B042A821-0434-6553-DB5D-3DAF3D23CF11}"/>
              </a:ext>
            </a:extLst>
          </p:cNvPr>
          <p:cNvSpPr>
            <a:spLocks noGrp="1"/>
          </p:cNvSpPr>
          <p:nvPr>
            <p:ph idx="1"/>
          </p:nvPr>
        </p:nvSpPr>
        <p:spPr/>
        <p:txBody>
          <a:bodyPr/>
          <a:lstStyle/>
          <a:p>
            <a:r>
              <a:rPr lang="en-ID"/>
              <a:t>Mahasiswa sudah pernah melakukan percobaan “</a:t>
            </a:r>
            <a:r>
              <a:rPr lang="en-US"/>
              <a:t>M</a:t>
            </a:r>
            <a:r>
              <a:rPr lang="en-US" sz="2800"/>
              <a:t>enentukan Ib, Vbe dan Beta (Hfe) dengan mengetahui Ic dan Vce dari grafik</a:t>
            </a:r>
            <a:r>
              <a:rPr lang="en-US"/>
              <a:t>”</a:t>
            </a:r>
            <a:r>
              <a:rPr lang="en-ID"/>
              <a:t>.</a:t>
            </a:r>
          </a:p>
          <a:p>
            <a:endParaRPr lang="en-ID"/>
          </a:p>
        </p:txBody>
      </p:sp>
    </p:spTree>
    <p:extLst>
      <p:ext uri="{BB962C8B-B14F-4D97-AF65-F5344CB8AC3E}">
        <p14:creationId xmlns:p14="http://schemas.microsoft.com/office/powerpoint/2010/main" val="2040792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Alat dan Bahan</a:t>
            </a:r>
          </a:p>
        </p:txBody>
      </p:sp>
      <p:sp>
        <p:nvSpPr>
          <p:cNvPr id="4" name="Content Placeholder 2"/>
          <p:cNvSpPr txBox="1">
            <a:spLocks/>
          </p:cNvSpPr>
          <p:nvPr/>
        </p:nvSpPr>
        <p:spPr>
          <a:xfrm>
            <a:off x="1139673" y="1690688"/>
            <a:ext cx="3476284"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t>Transistor: </a:t>
            </a:r>
          </a:p>
          <a:p>
            <a:pPr marL="514350" indent="-514350">
              <a:buAutoNum type="arabicPeriod"/>
            </a:pPr>
            <a:r>
              <a:rPr lang="en-US"/>
              <a:t>2N3055</a:t>
            </a:r>
          </a:p>
          <a:p>
            <a:pPr marL="514350" indent="-514350">
              <a:buFont typeface="+mj-lt"/>
              <a:buAutoNum type="arabicPeriod" startAt="11"/>
            </a:pPr>
            <a:endParaRPr lang="en-US"/>
          </a:p>
          <a:p>
            <a:pPr marL="514350" indent="-514350">
              <a:buFont typeface="+mj-lt"/>
              <a:buAutoNum type="arabicPeriod" startAt="11"/>
            </a:pPr>
            <a:endParaRPr lang="en-US"/>
          </a:p>
        </p:txBody>
      </p:sp>
    </p:spTree>
    <p:extLst>
      <p:ext uri="{BB962C8B-B14F-4D97-AF65-F5344CB8AC3E}">
        <p14:creationId xmlns:p14="http://schemas.microsoft.com/office/powerpoint/2010/main" val="2299713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8BC73-339E-C8B0-6926-8B011B32EC35}"/>
              </a:ext>
            </a:extLst>
          </p:cNvPr>
          <p:cNvSpPr>
            <a:spLocks noGrp="1"/>
          </p:cNvSpPr>
          <p:nvPr>
            <p:ph type="title"/>
          </p:nvPr>
        </p:nvSpPr>
        <p:spPr/>
        <p:txBody>
          <a:bodyPr/>
          <a:lstStyle/>
          <a:p>
            <a:r>
              <a:rPr lang="en-US"/>
              <a:t>Soal</a:t>
            </a:r>
            <a:endParaRPr lang="en-ID"/>
          </a:p>
        </p:txBody>
      </p:sp>
      <p:sp>
        <p:nvSpPr>
          <p:cNvPr id="3" name="Content Placeholder 2">
            <a:extLst>
              <a:ext uri="{FF2B5EF4-FFF2-40B4-BE49-F238E27FC236}">
                <a16:creationId xmlns:a16="http://schemas.microsoft.com/office/drawing/2014/main" id="{B639D78B-7EA3-7297-7408-DB1EC02DE40B}"/>
              </a:ext>
            </a:extLst>
          </p:cNvPr>
          <p:cNvSpPr>
            <a:spLocks noGrp="1"/>
          </p:cNvSpPr>
          <p:nvPr>
            <p:ph idx="1"/>
          </p:nvPr>
        </p:nvSpPr>
        <p:spPr>
          <a:xfrm>
            <a:off x="838200" y="1446420"/>
            <a:ext cx="5073001" cy="5322128"/>
          </a:xfrm>
        </p:spPr>
        <p:txBody>
          <a:bodyPr>
            <a:normAutofit/>
          </a:bodyPr>
          <a:lstStyle/>
          <a:p>
            <a:pPr marL="0" indent="0">
              <a:buNone/>
            </a:pPr>
            <a:r>
              <a:rPr lang="en-US" sz="1200"/>
              <a:t>Diketahui:</a:t>
            </a:r>
          </a:p>
          <a:p>
            <a:r>
              <a:rPr lang="en-US" sz="1200"/>
              <a:t>Jenis Transistor: 2N3055</a:t>
            </a:r>
          </a:p>
          <a:p>
            <a:r>
              <a:rPr lang="en-US" sz="1200"/>
              <a:t>Vcemax=0,2*Vcemax_datasheet</a:t>
            </a:r>
          </a:p>
          <a:p>
            <a:r>
              <a:rPr lang="en-US" sz="1200"/>
              <a:t>Icmax=0,07*Icmax_datasheet</a:t>
            </a:r>
          </a:p>
          <a:p>
            <a:r>
              <a:rPr lang="en-US" sz="1200"/>
              <a:t>Vcc=Vcemax</a:t>
            </a:r>
          </a:p>
          <a:p>
            <a:r>
              <a:rPr lang="en-US" sz="1200"/>
              <a:t>Titik Kerja:</a:t>
            </a:r>
          </a:p>
          <a:p>
            <a:pPr lvl="1"/>
            <a:r>
              <a:rPr lang="en-US" sz="1200"/>
              <a:t>Vceq=1/2 Vcc</a:t>
            </a:r>
          </a:p>
          <a:p>
            <a:pPr lvl="1"/>
            <a:r>
              <a:rPr lang="en-US" sz="1200"/>
              <a:t>Icq=1/2 Icmax</a:t>
            </a:r>
          </a:p>
          <a:p>
            <a:r>
              <a:rPr lang="en-US" sz="1200"/>
              <a:t>Jenis Prategangan: Fixed Bias</a:t>
            </a:r>
          </a:p>
          <a:p>
            <a:endParaRPr lang="en-US" sz="1200"/>
          </a:p>
          <a:p>
            <a:pPr marL="0" indent="0">
              <a:buNone/>
            </a:pPr>
            <a:r>
              <a:rPr lang="en-US" sz="1200"/>
              <a:t>Ditanya:</a:t>
            </a:r>
          </a:p>
          <a:p>
            <a:r>
              <a:rPr lang="en-US" sz="1200"/>
              <a:t>1. Vcemax_datasheet?, 2. Icmax_datasheet?</a:t>
            </a:r>
          </a:p>
          <a:p>
            <a:r>
              <a:rPr lang="en-US" sz="1200"/>
              <a:t>3. Vcemax?, 4. Icmax?, 5. Vcc?, 6. Rc?, 7. Vceq?, 8. Icq?</a:t>
            </a:r>
          </a:p>
          <a:p>
            <a:r>
              <a:rPr lang="en-US" sz="1200"/>
              <a:t>9. Garis Beban?, 10. Titik Kerja?, 11. Vbeq?, 12. Beta?, 13. Ibq? dan 14. Rb?</a:t>
            </a:r>
          </a:p>
          <a:p>
            <a:r>
              <a:rPr lang="en-US" sz="1200"/>
              <a:t>15. Gambarkan skema rangkaian lengkap dengan nilai-nilainya.</a:t>
            </a:r>
          </a:p>
          <a:p>
            <a:r>
              <a:rPr lang="en-US" sz="1200"/>
              <a:t>16. Cobakan hasil rancangan tersebut di simulator.</a:t>
            </a:r>
          </a:p>
          <a:p>
            <a:r>
              <a:rPr lang="en-US" sz="1200"/>
              <a:t>17. Cobakan hasil rancangan tersebut di rangkaian riil.</a:t>
            </a:r>
          </a:p>
        </p:txBody>
      </p:sp>
      <p:grpSp>
        <p:nvGrpSpPr>
          <p:cNvPr id="22" name="Group 21">
            <a:extLst>
              <a:ext uri="{FF2B5EF4-FFF2-40B4-BE49-F238E27FC236}">
                <a16:creationId xmlns:a16="http://schemas.microsoft.com/office/drawing/2014/main" id="{EB18A420-9677-EAF3-B51E-86CADAA580ED}"/>
              </a:ext>
            </a:extLst>
          </p:cNvPr>
          <p:cNvGrpSpPr/>
          <p:nvPr/>
        </p:nvGrpSpPr>
        <p:grpSpPr>
          <a:xfrm>
            <a:off x="6840704" y="2232623"/>
            <a:ext cx="3769606" cy="3528871"/>
            <a:chOff x="6840704" y="2232623"/>
            <a:chExt cx="3769606" cy="3528871"/>
          </a:xfrm>
        </p:grpSpPr>
        <p:pic>
          <p:nvPicPr>
            <p:cNvPr id="6" name="Picture 5">
              <a:extLst>
                <a:ext uri="{FF2B5EF4-FFF2-40B4-BE49-F238E27FC236}">
                  <a16:creationId xmlns:a16="http://schemas.microsoft.com/office/drawing/2014/main" id="{67D933A6-66D4-F843-7087-B1044ED7D677}"/>
                </a:ext>
              </a:extLst>
            </p:cNvPr>
            <p:cNvPicPr>
              <a:picLocks noChangeAspect="1"/>
            </p:cNvPicPr>
            <p:nvPr/>
          </p:nvPicPr>
          <p:blipFill>
            <a:blip r:embed="rId2"/>
            <a:stretch>
              <a:fillRect/>
            </a:stretch>
          </p:blipFill>
          <p:spPr>
            <a:xfrm>
              <a:off x="6840704" y="2232623"/>
              <a:ext cx="3769606" cy="3313412"/>
            </a:xfrm>
            <a:prstGeom prst="rect">
              <a:avLst/>
            </a:prstGeom>
          </p:spPr>
        </p:pic>
        <p:sp>
          <p:nvSpPr>
            <p:cNvPr id="7" name="TextBox 6">
              <a:extLst>
                <a:ext uri="{FF2B5EF4-FFF2-40B4-BE49-F238E27FC236}">
                  <a16:creationId xmlns:a16="http://schemas.microsoft.com/office/drawing/2014/main" id="{0B86ED43-8D8C-5358-0FFF-3D366BEBEDBD}"/>
                </a:ext>
              </a:extLst>
            </p:cNvPr>
            <p:cNvSpPr txBox="1"/>
            <p:nvPr/>
          </p:nvSpPr>
          <p:spPr>
            <a:xfrm>
              <a:off x="7128768" y="2405848"/>
              <a:ext cx="292068" cy="338554"/>
            </a:xfrm>
            <a:prstGeom prst="rect">
              <a:avLst/>
            </a:prstGeom>
            <a:noFill/>
          </p:spPr>
          <p:txBody>
            <a:bodyPr wrap="none" rtlCol="0">
              <a:spAutoFit/>
            </a:bodyPr>
            <a:lstStyle/>
            <a:p>
              <a:r>
                <a:rPr lang="en-US" sz="1600"/>
                <a:t>q</a:t>
              </a:r>
              <a:endParaRPr lang="en-ID" sz="1600"/>
            </a:p>
          </p:txBody>
        </p:sp>
        <p:sp>
          <p:nvSpPr>
            <p:cNvPr id="8" name="TextBox 7">
              <a:extLst>
                <a:ext uri="{FF2B5EF4-FFF2-40B4-BE49-F238E27FC236}">
                  <a16:creationId xmlns:a16="http://schemas.microsoft.com/office/drawing/2014/main" id="{96228EFF-AEF6-9727-3E99-C20D54ECFEA8}"/>
                </a:ext>
              </a:extLst>
            </p:cNvPr>
            <p:cNvSpPr txBox="1"/>
            <p:nvPr/>
          </p:nvSpPr>
          <p:spPr>
            <a:xfrm>
              <a:off x="7352190" y="3720052"/>
              <a:ext cx="292068" cy="338554"/>
            </a:xfrm>
            <a:prstGeom prst="rect">
              <a:avLst/>
            </a:prstGeom>
            <a:noFill/>
          </p:spPr>
          <p:txBody>
            <a:bodyPr wrap="none" rtlCol="0">
              <a:spAutoFit/>
            </a:bodyPr>
            <a:lstStyle/>
            <a:p>
              <a:r>
                <a:rPr lang="en-US" sz="1600"/>
                <a:t>q</a:t>
              </a:r>
              <a:endParaRPr lang="en-ID" sz="1600"/>
            </a:p>
          </p:txBody>
        </p:sp>
        <p:sp>
          <p:nvSpPr>
            <p:cNvPr id="9" name="TextBox 8">
              <a:extLst>
                <a:ext uri="{FF2B5EF4-FFF2-40B4-BE49-F238E27FC236}">
                  <a16:creationId xmlns:a16="http://schemas.microsoft.com/office/drawing/2014/main" id="{72F7C582-7604-2404-B1AA-B86B218D7728}"/>
                </a:ext>
              </a:extLst>
            </p:cNvPr>
            <p:cNvSpPr txBox="1"/>
            <p:nvPr/>
          </p:nvSpPr>
          <p:spPr>
            <a:xfrm>
              <a:off x="8799249" y="3090446"/>
              <a:ext cx="292068" cy="338554"/>
            </a:xfrm>
            <a:prstGeom prst="rect">
              <a:avLst/>
            </a:prstGeom>
            <a:noFill/>
          </p:spPr>
          <p:txBody>
            <a:bodyPr wrap="none" rtlCol="0">
              <a:spAutoFit/>
            </a:bodyPr>
            <a:lstStyle/>
            <a:p>
              <a:r>
                <a:rPr lang="en-US" sz="1600"/>
                <a:t>q</a:t>
              </a:r>
              <a:endParaRPr lang="en-ID" sz="1600"/>
            </a:p>
          </p:txBody>
        </p:sp>
        <p:sp>
          <p:nvSpPr>
            <p:cNvPr id="10" name="TextBox 9">
              <a:extLst>
                <a:ext uri="{FF2B5EF4-FFF2-40B4-BE49-F238E27FC236}">
                  <a16:creationId xmlns:a16="http://schemas.microsoft.com/office/drawing/2014/main" id="{844FD93A-C237-F868-F31B-D1A78B83B22A}"/>
                </a:ext>
              </a:extLst>
            </p:cNvPr>
            <p:cNvSpPr txBox="1"/>
            <p:nvPr/>
          </p:nvSpPr>
          <p:spPr>
            <a:xfrm>
              <a:off x="9154356" y="4245005"/>
              <a:ext cx="292068" cy="338554"/>
            </a:xfrm>
            <a:prstGeom prst="rect">
              <a:avLst/>
            </a:prstGeom>
            <a:noFill/>
          </p:spPr>
          <p:txBody>
            <a:bodyPr wrap="none" rtlCol="0">
              <a:spAutoFit/>
            </a:bodyPr>
            <a:lstStyle/>
            <a:p>
              <a:r>
                <a:rPr lang="en-US" sz="1600"/>
                <a:t>q</a:t>
              </a:r>
              <a:endParaRPr lang="en-ID" sz="1600"/>
            </a:p>
          </p:txBody>
        </p:sp>
        <p:sp>
          <p:nvSpPr>
            <p:cNvPr id="11" name="TextBox 10">
              <a:extLst>
                <a:ext uri="{FF2B5EF4-FFF2-40B4-BE49-F238E27FC236}">
                  <a16:creationId xmlns:a16="http://schemas.microsoft.com/office/drawing/2014/main" id="{78D33BD2-4610-33F0-FAFD-528B4738A21E}"/>
                </a:ext>
              </a:extLst>
            </p:cNvPr>
            <p:cNvSpPr txBox="1"/>
            <p:nvPr/>
          </p:nvSpPr>
          <p:spPr>
            <a:xfrm>
              <a:off x="7644258" y="4583559"/>
              <a:ext cx="292068" cy="338554"/>
            </a:xfrm>
            <a:prstGeom prst="rect">
              <a:avLst/>
            </a:prstGeom>
            <a:noFill/>
          </p:spPr>
          <p:txBody>
            <a:bodyPr wrap="none" rtlCol="0">
              <a:spAutoFit/>
            </a:bodyPr>
            <a:lstStyle/>
            <a:p>
              <a:r>
                <a:rPr lang="en-US" sz="1600"/>
                <a:t>q</a:t>
              </a:r>
              <a:endParaRPr lang="en-ID" sz="1600"/>
            </a:p>
          </p:txBody>
        </p:sp>
        <p:cxnSp>
          <p:nvCxnSpPr>
            <p:cNvPr id="12" name="Straight Connector 11">
              <a:extLst>
                <a:ext uri="{FF2B5EF4-FFF2-40B4-BE49-F238E27FC236}">
                  <a16:creationId xmlns:a16="http://schemas.microsoft.com/office/drawing/2014/main" id="{86BB313B-D551-502E-F932-D7ADD8EE34F5}"/>
                </a:ext>
              </a:extLst>
            </p:cNvPr>
            <p:cNvCxnSpPr>
              <a:cxnSpLocks/>
            </p:cNvCxnSpPr>
            <p:nvPr/>
          </p:nvCxnSpPr>
          <p:spPr>
            <a:xfrm>
              <a:off x="8577470" y="5416826"/>
              <a:ext cx="0" cy="19878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DE4CC7A-C82A-B311-4DDE-70FEB3E724E4}"/>
                </a:ext>
              </a:extLst>
            </p:cNvPr>
            <p:cNvCxnSpPr>
              <a:cxnSpLocks/>
            </p:cNvCxnSpPr>
            <p:nvPr/>
          </p:nvCxnSpPr>
          <p:spPr>
            <a:xfrm flipH="1" flipV="1">
              <a:off x="8399491" y="5625550"/>
              <a:ext cx="355958" cy="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27430CA-D397-F27C-FDD3-29A7C74C029C}"/>
                </a:ext>
              </a:extLst>
            </p:cNvPr>
            <p:cNvCxnSpPr>
              <a:cxnSpLocks/>
            </p:cNvCxnSpPr>
            <p:nvPr/>
          </p:nvCxnSpPr>
          <p:spPr>
            <a:xfrm flipH="1">
              <a:off x="8475691" y="5695124"/>
              <a:ext cx="20355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2656765-A5DD-9FE3-D164-5E751E890879}"/>
                </a:ext>
              </a:extLst>
            </p:cNvPr>
            <p:cNvCxnSpPr>
              <a:cxnSpLocks/>
            </p:cNvCxnSpPr>
            <p:nvPr/>
          </p:nvCxnSpPr>
          <p:spPr>
            <a:xfrm flipH="1">
              <a:off x="8513791" y="5761494"/>
              <a:ext cx="12735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5E3381EA-008C-08F4-BF6C-FDA01D0CEB79}"/>
                </a:ext>
              </a:extLst>
            </p:cNvPr>
            <p:cNvSpPr txBox="1"/>
            <p:nvPr/>
          </p:nvSpPr>
          <p:spPr>
            <a:xfrm>
              <a:off x="8679249" y="4489755"/>
              <a:ext cx="292068" cy="338554"/>
            </a:xfrm>
            <a:prstGeom prst="rect">
              <a:avLst/>
            </a:prstGeom>
            <a:noFill/>
          </p:spPr>
          <p:txBody>
            <a:bodyPr wrap="none" rtlCol="0">
              <a:spAutoFit/>
            </a:bodyPr>
            <a:lstStyle/>
            <a:p>
              <a:r>
                <a:rPr lang="en-US" sz="1600"/>
                <a:t>q</a:t>
              </a:r>
              <a:endParaRPr lang="en-ID" sz="1600"/>
            </a:p>
          </p:txBody>
        </p:sp>
        <p:sp>
          <p:nvSpPr>
            <p:cNvPr id="21" name="TextBox 20">
              <a:extLst>
                <a:ext uri="{FF2B5EF4-FFF2-40B4-BE49-F238E27FC236}">
                  <a16:creationId xmlns:a16="http://schemas.microsoft.com/office/drawing/2014/main" id="{AB15409C-AE7E-01D3-8BD8-3BD07D870904}"/>
                </a:ext>
              </a:extLst>
            </p:cNvPr>
            <p:cNvSpPr txBox="1"/>
            <p:nvPr/>
          </p:nvSpPr>
          <p:spPr>
            <a:xfrm>
              <a:off x="10314237" y="5177663"/>
              <a:ext cx="288862" cy="338554"/>
            </a:xfrm>
            <a:prstGeom prst="rect">
              <a:avLst/>
            </a:prstGeom>
            <a:noFill/>
          </p:spPr>
          <p:txBody>
            <a:bodyPr wrap="none" rtlCol="0">
              <a:spAutoFit/>
            </a:bodyPr>
            <a:lstStyle/>
            <a:p>
              <a:r>
                <a:rPr lang="en-US" sz="1600"/>
                <a:t>0</a:t>
              </a:r>
              <a:endParaRPr lang="en-ID" sz="1600"/>
            </a:p>
          </p:txBody>
        </p:sp>
      </p:grpSp>
    </p:spTree>
    <p:extLst>
      <p:ext uri="{BB962C8B-B14F-4D97-AF65-F5344CB8AC3E}">
        <p14:creationId xmlns:p14="http://schemas.microsoft.com/office/powerpoint/2010/main" val="34340979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6B65B98-3BDE-42FF-9154-922F419E786E}" type="slidenum">
              <a:rPr lang="en-GB" sz="1400"/>
              <a:pPr>
                <a:spcBef>
                  <a:spcPct val="0"/>
                </a:spcBef>
                <a:buFontTx/>
                <a:buNone/>
              </a:pPr>
              <a:t>7</a:t>
            </a:fld>
            <a:endParaRPr lang="en-GB" sz="1400"/>
          </a:p>
        </p:txBody>
      </p:sp>
      <p:sp>
        <p:nvSpPr>
          <p:cNvPr id="38915" name="Rectangle 2"/>
          <p:cNvSpPr>
            <a:spLocks noGrp="1" noChangeArrowheads="1"/>
          </p:cNvSpPr>
          <p:nvPr>
            <p:ph type="title"/>
          </p:nvPr>
        </p:nvSpPr>
        <p:spPr>
          <a:xfrm>
            <a:off x="1981200" y="274639"/>
            <a:ext cx="8229600" cy="561975"/>
          </a:xfrm>
        </p:spPr>
        <p:txBody>
          <a:bodyPr/>
          <a:lstStyle/>
          <a:p>
            <a:pPr eaLnBrk="1" hangingPunct="1"/>
            <a:r>
              <a:rPr lang="en-US" sz="3200" b="1"/>
              <a:t>Datashet Transistor (Sederhana)</a:t>
            </a:r>
          </a:p>
        </p:txBody>
      </p:sp>
      <p:graphicFrame>
        <p:nvGraphicFramePr>
          <p:cNvPr id="6" name="Group 148"/>
          <p:cNvGraphicFramePr>
            <a:graphicFrameLocks/>
          </p:cNvGraphicFramePr>
          <p:nvPr/>
        </p:nvGraphicFramePr>
        <p:xfrm>
          <a:off x="1981200" y="1067029"/>
          <a:ext cx="8229600" cy="4991101"/>
        </p:xfrm>
        <a:graphic>
          <a:graphicData uri="http://schemas.openxmlformats.org/drawingml/2006/table">
            <a:tbl>
              <a:tblPr/>
              <a:tblGrid>
                <a:gridCol w="757238">
                  <a:extLst>
                    <a:ext uri="{9D8B030D-6E8A-4147-A177-3AD203B41FA5}">
                      <a16:colId xmlns:a16="http://schemas.microsoft.com/office/drawing/2014/main" val="20000"/>
                    </a:ext>
                  </a:extLst>
                </a:gridCol>
                <a:gridCol w="860425">
                  <a:extLst>
                    <a:ext uri="{9D8B030D-6E8A-4147-A177-3AD203B41FA5}">
                      <a16:colId xmlns:a16="http://schemas.microsoft.com/office/drawing/2014/main" val="20001"/>
                    </a:ext>
                  </a:extLst>
                </a:gridCol>
                <a:gridCol w="674687">
                  <a:extLst>
                    <a:ext uri="{9D8B030D-6E8A-4147-A177-3AD203B41FA5}">
                      <a16:colId xmlns:a16="http://schemas.microsoft.com/office/drawing/2014/main" val="20002"/>
                    </a:ext>
                  </a:extLst>
                </a:gridCol>
                <a:gridCol w="665163">
                  <a:extLst>
                    <a:ext uri="{9D8B030D-6E8A-4147-A177-3AD203B41FA5}">
                      <a16:colId xmlns:a16="http://schemas.microsoft.com/office/drawing/2014/main" val="20003"/>
                    </a:ext>
                  </a:extLst>
                </a:gridCol>
                <a:gridCol w="538162">
                  <a:extLst>
                    <a:ext uri="{9D8B030D-6E8A-4147-A177-3AD203B41FA5}">
                      <a16:colId xmlns:a16="http://schemas.microsoft.com/office/drawing/2014/main" val="20004"/>
                    </a:ext>
                  </a:extLst>
                </a:gridCol>
                <a:gridCol w="498475">
                  <a:extLst>
                    <a:ext uri="{9D8B030D-6E8A-4147-A177-3AD203B41FA5}">
                      <a16:colId xmlns:a16="http://schemas.microsoft.com/office/drawing/2014/main" val="20005"/>
                    </a:ext>
                  </a:extLst>
                </a:gridCol>
                <a:gridCol w="708025">
                  <a:extLst>
                    <a:ext uri="{9D8B030D-6E8A-4147-A177-3AD203B41FA5}">
                      <a16:colId xmlns:a16="http://schemas.microsoft.com/office/drawing/2014/main" val="20006"/>
                    </a:ext>
                  </a:extLst>
                </a:gridCol>
                <a:gridCol w="2024063">
                  <a:extLst>
                    <a:ext uri="{9D8B030D-6E8A-4147-A177-3AD203B41FA5}">
                      <a16:colId xmlns:a16="http://schemas.microsoft.com/office/drawing/2014/main" val="20007"/>
                    </a:ext>
                  </a:extLst>
                </a:gridCol>
                <a:gridCol w="1503362">
                  <a:extLst>
                    <a:ext uri="{9D8B030D-6E8A-4147-A177-3AD203B41FA5}">
                      <a16:colId xmlns:a16="http://schemas.microsoft.com/office/drawing/2014/main" val="20008"/>
                    </a:ext>
                  </a:extLst>
                </a:gridCol>
              </a:tblGrid>
              <a:tr h="315913">
                <a:tc gridSpan="9">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300" b="1" i="0" u="none" strike="noStrike" cap="none" normalizeH="0" baseline="0" dirty="0">
                          <a:ln>
                            <a:noFill/>
                          </a:ln>
                          <a:solidFill>
                            <a:srgbClr val="000000"/>
                          </a:solidFill>
                          <a:effectLst/>
                          <a:latin typeface="Arial" charset="0"/>
                          <a:cs typeface="Times New Roman" pitchFamily="18" charset="0"/>
                        </a:rPr>
                        <a:t>NPN transistors</a:t>
                      </a:r>
                      <a:endParaRPr kumimoji="0" lang="en-US" sz="1800" b="0" i="0" u="none" strike="noStrike" cap="none" normalizeH="0" baseline="0" dirty="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id-ID"/>
                    </a:p>
                  </a:txBody>
                  <a:tcPr/>
                </a:tc>
                <a:tc hMerge="1">
                  <a:txBody>
                    <a:bodyPr/>
                    <a:lstStyle/>
                    <a:p>
                      <a:endParaRPr lang="id-ID"/>
                    </a:p>
                  </a:txBody>
                  <a:tcPr/>
                </a:tc>
                <a:tc hMerge="1">
                  <a:txBody>
                    <a:bodyPr/>
                    <a:lstStyle/>
                    <a:p>
                      <a:endParaRPr lang="id-ID"/>
                    </a:p>
                  </a:txBody>
                  <a:tcPr/>
                </a:tc>
                <a:tc hMerge="1">
                  <a:txBody>
                    <a:bodyPr/>
                    <a:lstStyle/>
                    <a:p>
                      <a:endParaRPr lang="id-ID"/>
                    </a:p>
                  </a:txBody>
                  <a:tcPr/>
                </a:tc>
                <a:tc hMerge="1">
                  <a:txBody>
                    <a:bodyPr/>
                    <a:lstStyle/>
                    <a:p>
                      <a:endParaRPr lang="id-ID"/>
                    </a:p>
                  </a:txBody>
                  <a:tcPr/>
                </a:tc>
                <a:tc hMerge="1">
                  <a:txBody>
                    <a:bodyPr/>
                    <a:lstStyle/>
                    <a:p>
                      <a:endParaRPr lang="id-ID"/>
                    </a:p>
                  </a:txBody>
                  <a:tcPr/>
                </a:tc>
                <a:tc hMerge="1">
                  <a:txBody>
                    <a:bodyPr/>
                    <a:lstStyle/>
                    <a:p>
                      <a:endParaRPr lang="id-ID"/>
                    </a:p>
                  </a:txBody>
                  <a:tcPr/>
                </a:tc>
                <a:tc hMerge="1">
                  <a:txBody>
                    <a:bodyPr/>
                    <a:lstStyle/>
                    <a:p>
                      <a:endParaRPr lang="id-ID"/>
                    </a:p>
                  </a:txBody>
                  <a:tcPr/>
                </a:tc>
                <a:extLst>
                  <a:ext uri="{0D108BD9-81ED-4DB2-BD59-A6C34878D82A}">
                    <a16:rowId xmlns:a16="http://schemas.microsoft.com/office/drawing/2014/main" val="10000"/>
                  </a:ext>
                </a:extLst>
              </a:tr>
              <a:tr h="1095375">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a:ln>
                            <a:noFill/>
                          </a:ln>
                          <a:solidFill>
                            <a:srgbClr val="000000"/>
                          </a:solidFill>
                          <a:effectLst/>
                          <a:latin typeface="Arial" charset="0"/>
                          <a:cs typeface="Times New Roman" pitchFamily="18" charset="0"/>
                        </a:rPr>
                        <a:t>Code</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a:ln>
                            <a:noFill/>
                          </a:ln>
                          <a:solidFill>
                            <a:srgbClr val="000000"/>
                          </a:solidFill>
                          <a:effectLst/>
                          <a:latin typeface="Arial" charset="0"/>
                          <a:cs typeface="Times New Roman" pitchFamily="18" charset="0"/>
                        </a:rPr>
                        <a:t>Structure</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a:ln>
                            <a:noFill/>
                          </a:ln>
                          <a:solidFill>
                            <a:srgbClr val="000000"/>
                          </a:solidFill>
                          <a:effectLst/>
                          <a:latin typeface="Arial" charset="0"/>
                          <a:cs typeface="Times New Roman" pitchFamily="18" charset="0"/>
                        </a:rPr>
                        <a:t>Case</a:t>
                      </a:r>
                      <a:br>
                        <a:rPr kumimoji="0" lang="en-US" sz="1200" b="1" i="0" u="none" strike="noStrike" cap="none" normalizeH="0" baseline="0">
                          <a:ln>
                            <a:noFill/>
                          </a:ln>
                          <a:solidFill>
                            <a:srgbClr val="000000"/>
                          </a:solidFill>
                          <a:effectLst/>
                          <a:latin typeface="Arial" charset="0"/>
                          <a:cs typeface="Times New Roman" pitchFamily="18" charset="0"/>
                        </a:rPr>
                      </a:br>
                      <a:r>
                        <a:rPr kumimoji="0" lang="en-US" sz="1200" b="1" i="0" u="none" strike="noStrike" cap="none" normalizeH="0" baseline="0">
                          <a:ln>
                            <a:noFill/>
                          </a:ln>
                          <a:solidFill>
                            <a:srgbClr val="000000"/>
                          </a:solidFill>
                          <a:effectLst/>
                          <a:latin typeface="Arial" charset="0"/>
                          <a:cs typeface="Times New Roman" pitchFamily="18" charset="0"/>
                        </a:rPr>
                        <a:t>style</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a:ln>
                            <a:noFill/>
                          </a:ln>
                          <a:solidFill>
                            <a:srgbClr val="000000"/>
                          </a:solidFill>
                          <a:effectLst/>
                          <a:latin typeface="Arial" charset="0"/>
                          <a:cs typeface="Times New Roman" pitchFamily="18" charset="0"/>
                        </a:rPr>
                        <a:t>I</a:t>
                      </a:r>
                      <a:r>
                        <a:rPr kumimoji="0" lang="en-US" sz="1200" b="1" i="0" u="none" strike="noStrike" cap="none" normalizeH="0" baseline="-30000" dirty="0">
                          <a:ln>
                            <a:noFill/>
                          </a:ln>
                          <a:solidFill>
                            <a:srgbClr val="000000"/>
                          </a:solidFill>
                          <a:effectLst/>
                          <a:latin typeface="Arial" charset="0"/>
                          <a:cs typeface="Times New Roman" pitchFamily="18" charset="0"/>
                        </a:rPr>
                        <a:t>C</a:t>
                      </a:r>
                      <a:br>
                        <a:rPr kumimoji="0" lang="en-US" sz="1200" b="1" i="0" u="none" strike="noStrike" cap="none" normalizeH="0" baseline="0" dirty="0">
                          <a:ln>
                            <a:noFill/>
                          </a:ln>
                          <a:solidFill>
                            <a:srgbClr val="000000"/>
                          </a:solidFill>
                          <a:effectLst/>
                          <a:latin typeface="Arial" charset="0"/>
                          <a:cs typeface="Times New Roman" pitchFamily="18" charset="0"/>
                        </a:rPr>
                      </a:br>
                      <a:r>
                        <a:rPr kumimoji="0" lang="en-US" sz="1200" b="1" i="0" u="none" strike="noStrike" cap="none" normalizeH="0" baseline="0" dirty="0">
                          <a:ln>
                            <a:noFill/>
                          </a:ln>
                          <a:solidFill>
                            <a:srgbClr val="000000"/>
                          </a:solidFill>
                          <a:effectLst/>
                          <a:latin typeface="Arial" charset="0"/>
                          <a:cs typeface="Times New Roman" pitchFamily="18" charset="0"/>
                        </a:rPr>
                        <a:t>max.</a:t>
                      </a:r>
                      <a:endParaRPr kumimoji="0" lang="en-US" sz="1800" b="0" i="0" u="none" strike="noStrike" cap="none" normalizeH="0" baseline="0" dirty="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a:ln>
                            <a:noFill/>
                          </a:ln>
                          <a:solidFill>
                            <a:srgbClr val="000000"/>
                          </a:solidFill>
                          <a:effectLst/>
                          <a:latin typeface="Arial" charset="0"/>
                          <a:cs typeface="Times New Roman" pitchFamily="18" charset="0"/>
                        </a:rPr>
                        <a:t>V</a:t>
                      </a:r>
                      <a:r>
                        <a:rPr kumimoji="0" lang="en-US" sz="1200" b="1" i="0" u="none" strike="noStrike" cap="none" normalizeH="0" baseline="-30000">
                          <a:ln>
                            <a:noFill/>
                          </a:ln>
                          <a:solidFill>
                            <a:srgbClr val="000000"/>
                          </a:solidFill>
                          <a:effectLst/>
                          <a:latin typeface="Arial" charset="0"/>
                          <a:cs typeface="Times New Roman" pitchFamily="18" charset="0"/>
                        </a:rPr>
                        <a:t>CE</a:t>
                      </a:r>
                      <a:br>
                        <a:rPr kumimoji="0" lang="en-US" sz="1200" b="1" i="0" u="none" strike="noStrike" cap="none" normalizeH="0" baseline="0">
                          <a:ln>
                            <a:noFill/>
                          </a:ln>
                          <a:solidFill>
                            <a:srgbClr val="000000"/>
                          </a:solidFill>
                          <a:effectLst/>
                          <a:latin typeface="Arial" charset="0"/>
                          <a:cs typeface="Times New Roman" pitchFamily="18" charset="0"/>
                        </a:rPr>
                      </a:br>
                      <a:r>
                        <a:rPr kumimoji="0" lang="en-US" sz="1200" b="1" i="0" u="none" strike="noStrike" cap="none" normalizeH="0" baseline="0">
                          <a:ln>
                            <a:noFill/>
                          </a:ln>
                          <a:solidFill>
                            <a:srgbClr val="000000"/>
                          </a:solidFill>
                          <a:effectLst/>
                          <a:latin typeface="Arial" charset="0"/>
                          <a:cs typeface="Times New Roman" pitchFamily="18" charset="0"/>
                        </a:rPr>
                        <a:t>max.</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a:ln>
                            <a:noFill/>
                          </a:ln>
                          <a:solidFill>
                            <a:srgbClr val="000000"/>
                          </a:solidFill>
                          <a:effectLst/>
                          <a:latin typeface="Arial" charset="0"/>
                          <a:cs typeface="Times New Roman" pitchFamily="18" charset="0"/>
                        </a:rPr>
                        <a:t>h</a:t>
                      </a:r>
                      <a:r>
                        <a:rPr kumimoji="0" lang="en-US" sz="1200" b="1" i="0" u="none" strike="noStrike" cap="none" normalizeH="0" baseline="-30000">
                          <a:ln>
                            <a:noFill/>
                          </a:ln>
                          <a:solidFill>
                            <a:srgbClr val="000000"/>
                          </a:solidFill>
                          <a:effectLst/>
                          <a:latin typeface="Arial" charset="0"/>
                          <a:cs typeface="Times New Roman" pitchFamily="18" charset="0"/>
                        </a:rPr>
                        <a:t>FE</a:t>
                      </a:r>
                      <a:br>
                        <a:rPr kumimoji="0" lang="en-US" sz="1200" b="1" i="0" u="none" strike="noStrike" cap="none" normalizeH="0" baseline="0">
                          <a:ln>
                            <a:noFill/>
                          </a:ln>
                          <a:solidFill>
                            <a:srgbClr val="000000"/>
                          </a:solidFill>
                          <a:effectLst/>
                          <a:latin typeface="Arial" charset="0"/>
                          <a:cs typeface="Times New Roman" pitchFamily="18" charset="0"/>
                        </a:rPr>
                      </a:br>
                      <a:r>
                        <a:rPr kumimoji="0" lang="en-US" sz="1200" b="1" i="0" u="none" strike="noStrike" cap="none" normalizeH="0" baseline="0">
                          <a:ln>
                            <a:noFill/>
                          </a:ln>
                          <a:solidFill>
                            <a:srgbClr val="000000"/>
                          </a:solidFill>
                          <a:effectLst/>
                          <a:latin typeface="Arial" charset="0"/>
                          <a:cs typeface="Times New Roman" pitchFamily="18" charset="0"/>
                        </a:rPr>
                        <a:t>min.</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err="1">
                          <a:ln>
                            <a:noFill/>
                          </a:ln>
                          <a:solidFill>
                            <a:srgbClr val="000000"/>
                          </a:solidFill>
                          <a:effectLst/>
                          <a:latin typeface="Arial" charset="0"/>
                          <a:cs typeface="Times New Roman" pitchFamily="18" charset="0"/>
                        </a:rPr>
                        <a:t>P</a:t>
                      </a:r>
                      <a:r>
                        <a:rPr kumimoji="0" lang="en-US" sz="1200" b="1" i="0" u="none" strike="noStrike" cap="none" normalizeH="0" baseline="-30000" dirty="0" err="1">
                          <a:ln>
                            <a:noFill/>
                          </a:ln>
                          <a:solidFill>
                            <a:srgbClr val="000000"/>
                          </a:solidFill>
                          <a:effectLst/>
                          <a:latin typeface="Arial" charset="0"/>
                          <a:cs typeface="Times New Roman" pitchFamily="18" charset="0"/>
                        </a:rPr>
                        <a:t>tot</a:t>
                      </a:r>
                      <a:br>
                        <a:rPr kumimoji="0" lang="en-US" sz="1200" b="1" i="0" u="none" strike="noStrike" cap="none" normalizeH="0" baseline="0" dirty="0">
                          <a:ln>
                            <a:noFill/>
                          </a:ln>
                          <a:solidFill>
                            <a:srgbClr val="000000"/>
                          </a:solidFill>
                          <a:effectLst/>
                          <a:latin typeface="Arial" charset="0"/>
                          <a:cs typeface="Times New Roman" pitchFamily="18" charset="0"/>
                        </a:rPr>
                      </a:br>
                      <a:r>
                        <a:rPr kumimoji="0" lang="en-US" sz="1200" b="1" i="0" u="none" strike="noStrike" cap="none" normalizeH="0" baseline="0" dirty="0">
                          <a:ln>
                            <a:noFill/>
                          </a:ln>
                          <a:solidFill>
                            <a:srgbClr val="000000"/>
                          </a:solidFill>
                          <a:effectLst/>
                          <a:latin typeface="Arial" charset="0"/>
                          <a:cs typeface="Times New Roman" pitchFamily="18" charset="0"/>
                        </a:rPr>
                        <a:t>max.</a:t>
                      </a:r>
                      <a:endParaRPr kumimoji="0" lang="en-US" sz="1800" b="0" i="0" u="none" strike="noStrike" cap="none" normalizeH="0" baseline="0" dirty="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a:ln>
                            <a:noFill/>
                          </a:ln>
                          <a:solidFill>
                            <a:srgbClr val="000000"/>
                          </a:solidFill>
                          <a:effectLst/>
                          <a:latin typeface="Arial" charset="0"/>
                          <a:cs typeface="Times New Roman" pitchFamily="18" charset="0"/>
                        </a:rPr>
                        <a:t>Category</a:t>
                      </a:r>
                      <a:br>
                        <a:rPr kumimoji="0" lang="en-US" sz="1200" b="1" i="0" u="none" strike="noStrike" cap="none" normalizeH="0" baseline="0">
                          <a:ln>
                            <a:noFill/>
                          </a:ln>
                          <a:solidFill>
                            <a:srgbClr val="000000"/>
                          </a:solidFill>
                          <a:effectLst/>
                          <a:latin typeface="Arial" charset="0"/>
                          <a:cs typeface="Times New Roman" pitchFamily="18" charset="0"/>
                        </a:rPr>
                      </a:br>
                      <a:r>
                        <a:rPr kumimoji="0" lang="en-US" sz="1200" b="1" i="0" u="none" strike="noStrike" cap="none" normalizeH="0" baseline="0">
                          <a:ln>
                            <a:noFill/>
                          </a:ln>
                          <a:solidFill>
                            <a:srgbClr val="000000"/>
                          </a:solidFill>
                          <a:effectLst/>
                          <a:latin typeface="Arial" charset="0"/>
                          <a:cs typeface="Times New Roman" pitchFamily="18" charset="0"/>
                        </a:rPr>
                        <a:t>(typical use)</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a:ln>
                            <a:noFill/>
                          </a:ln>
                          <a:solidFill>
                            <a:srgbClr val="000000"/>
                          </a:solidFill>
                          <a:effectLst/>
                          <a:latin typeface="Arial" charset="0"/>
                          <a:cs typeface="Times New Roman" pitchFamily="18" charset="0"/>
                        </a:rPr>
                        <a:t>Possible</a:t>
                      </a:r>
                      <a:br>
                        <a:rPr kumimoji="0" lang="en-US" sz="1200" b="1" i="0" u="none" strike="noStrike" cap="none" normalizeH="0" baseline="0">
                          <a:ln>
                            <a:noFill/>
                          </a:ln>
                          <a:solidFill>
                            <a:srgbClr val="000000"/>
                          </a:solidFill>
                          <a:effectLst/>
                          <a:latin typeface="Arial" charset="0"/>
                          <a:cs typeface="Times New Roman" pitchFamily="18" charset="0"/>
                        </a:rPr>
                      </a:br>
                      <a:r>
                        <a:rPr kumimoji="0" lang="en-US" sz="1200" b="1" i="0" u="none" strike="noStrike" cap="none" normalizeH="0" baseline="0">
                          <a:ln>
                            <a:noFill/>
                          </a:ln>
                          <a:solidFill>
                            <a:srgbClr val="000000"/>
                          </a:solidFill>
                          <a:effectLst/>
                          <a:latin typeface="Arial" charset="0"/>
                          <a:cs typeface="Times New Roman" pitchFamily="18" charset="0"/>
                        </a:rPr>
                        <a:t>substitutes</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984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BC107</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NPN</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TO18</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100mA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45V</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110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300mW</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Audio, low power</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BC182 BC547</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984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BC108</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NPN</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TO18</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100mA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20V</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110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300mW</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General purpose, low power</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BC108C BC183 BC548</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984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BC108C</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NPN</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TO18</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100mA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20V</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420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600mW</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General purpose, low power</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 </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984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BC109</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NPN</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TO18</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200mA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20V</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200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300mW</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Audio (low noise), low power</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BC184 BC549</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984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2N3053</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NPN</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TO39</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700mA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40V</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50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500mW</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General purpose, low power</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BFY51</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984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BFY51</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NPN</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TO39</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30V</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40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800mW</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General purpose, medium power</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BC639</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984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BC639</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NPN</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TO92A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80V</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40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800mW</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General purpose, medium power</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BFY51</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984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TIP29A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NPN</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TO220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60V</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40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30W</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General purpose, high power</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 </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968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TIP31A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NPN</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TO220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3A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60V</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40W</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General purpose, high power</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TIP31C TIP41A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984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TIP31C</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NPN</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TO220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3A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100V</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40W</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General purpose, high power</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TIP31A TIP41A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2984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TIP41A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NPN</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TO220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6A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60V</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15</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65W</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General purpose, high power</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 </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984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2N3055</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NPN</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TO3</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15A</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60V</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20</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rgbClr val="000000"/>
                          </a:solidFill>
                          <a:effectLst/>
                          <a:latin typeface="Arial" charset="0"/>
                          <a:cs typeface="Times New Roman" pitchFamily="18" charset="0"/>
                        </a:rPr>
                        <a:t>117W</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cs typeface="Times New Roman" pitchFamily="18" charset="0"/>
                        </a:rPr>
                        <a:t>General purpose, high power</a:t>
                      </a:r>
                      <a:endParaRPr kumimoji="0" lang="en-US" sz="1800" b="0" i="0" u="none" strike="noStrike" cap="none" normalizeH="0" baseline="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rgbClr val="000000"/>
                          </a:solidFill>
                          <a:effectLst/>
                          <a:latin typeface="Arial" charset="0"/>
                          <a:cs typeface="Times New Roman" pitchFamily="18" charset="0"/>
                        </a:rPr>
                        <a:t> </a:t>
                      </a:r>
                      <a:endParaRPr kumimoji="0" lang="en-US" sz="1800" b="0" i="0" u="none" strike="noStrike" cap="none" normalizeH="0" baseline="0" dirty="0">
                        <a:ln>
                          <a:noFill/>
                        </a:ln>
                        <a:solidFill>
                          <a:schemeClr val="tx1"/>
                        </a:solidFill>
                        <a:effectLst/>
                        <a:latin typeface="Arial" charset="0"/>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bl>
          </a:graphicData>
        </a:graphic>
      </p:graphicFrame>
      <p:sp>
        <p:nvSpPr>
          <p:cNvPr id="3" name="Rectangle: Rounded Corners 2">
            <a:extLst>
              <a:ext uri="{FF2B5EF4-FFF2-40B4-BE49-F238E27FC236}">
                <a16:creationId xmlns:a16="http://schemas.microsoft.com/office/drawing/2014/main" id="{53380500-0DA7-60E8-3DF6-099BDD5C46EF}"/>
              </a:ext>
            </a:extLst>
          </p:cNvPr>
          <p:cNvSpPr/>
          <p:nvPr/>
        </p:nvSpPr>
        <p:spPr>
          <a:xfrm>
            <a:off x="1981199" y="5747088"/>
            <a:ext cx="8229601" cy="267159"/>
          </a:xfrm>
          <a:prstGeom prst="roundRect">
            <a:avLst/>
          </a:prstGeom>
          <a:noFill/>
          <a:ln w="28575">
            <a:solidFill>
              <a:srgbClr val="FF0000"/>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cxnSp>
        <p:nvCxnSpPr>
          <p:cNvPr id="5" name="Straight Arrow Connector 4">
            <a:extLst>
              <a:ext uri="{FF2B5EF4-FFF2-40B4-BE49-F238E27FC236}">
                <a16:creationId xmlns:a16="http://schemas.microsoft.com/office/drawing/2014/main" id="{2D9553D7-0F5D-AEF0-AEB3-E58FF1CDB826}"/>
              </a:ext>
            </a:extLst>
          </p:cNvPr>
          <p:cNvCxnSpPr>
            <a:cxnSpLocks/>
          </p:cNvCxnSpPr>
          <p:nvPr/>
        </p:nvCxnSpPr>
        <p:spPr>
          <a:xfrm flipH="1" flipV="1">
            <a:off x="4850296" y="2246534"/>
            <a:ext cx="5600699" cy="108777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8E6B49B8-6E5B-AE6C-0AD7-90EFF6656C77}"/>
              </a:ext>
            </a:extLst>
          </p:cNvPr>
          <p:cNvCxnSpPr>
            <a:cxnSpLocks/>
          </p:cNvCxnSpPr>
          <p:nvPr/>
        </p:nvCxnSpPr>
        <p:spPr>
          <a:xfrm flipH="1" flipV="1">
            <a:off x="5476459" y="2087217"/>
            <a:ext cx="4974536" cy="124709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 name="Oval 1">
            <a:extLst>
              <a:ext uri="{FF2B5EF4-FFF2-40B4-BE49-F238E27FC236}">
                <a16:creationId xmlns:a16="http://schemas.microsoft.com/office/drawing/2014/main" id="{0CBC5394-D82F-4C4C-F431-B8A64F2687DF}"/>
              </a:ext>
            </a:extLst>
          </p:cNvPr>
          <p:cNvSpPr/>
          <p:nvPr/>
        </p:nvSpPr>
        <p:spPr>
          <a:xfrm>
            <a:off x="4263889" y="5767054"/>
            <a:ext cx="626163" cy="267159"/>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 name="Oval 3">
            <a:extLst>
              <a:ext uri="{FF2B5EF4-FFF2-40B4-BE49-F238E27FC236}">
                <a16:creationId xmlns:a16="http://schemas.microsoft.com/office/drawing/2014/main" id="{F4F061A8-54F5-D253-2B57-F55B315DF829}"/>
              </a:ext>
            </a:extLst>
          </p:cNvPr>
          <p:cNvSpPr/>
          <p:nvPr/>
        </p:nvSpPr>
        <p:spPr>
          <a:xfrm>
            <a:off x="4929811" y="5767054"/>
            <a:ext cx="546648" cy="267159"/>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 name="Oval 6">
            <a:extLst>
              <a:ext uri="{FF2B5EF4-FFF2-40B4-BE49-F238E27FC236}">
                <a16:creationId xmlns:a16="http://schemas.microsoft.com/office/drawing/2014/main" id="{FF858371-9BBA-1B6F-1CCF-316BD7E18134}"/>
              </a:ext>
            </a:extLst>
          </p:cNvPr>
          <p:cNvSpPr/>
          <p:nvPr/>
        </p:nvSpPr>
        <p:spPr>
          <a:xfrm>
            <a:off x="4303646" y="1375340"/>
            <a:ext cx="626163" cy="1053234"/>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8" name="Oval 7">
            <a:extLst>
              <a:ext uri="{FF2B5EF4-FFF2-40B4-BE49-F238E27FC236}">
                <a16:creationId xmlns:a16="http://schemas.microsoft.com/office/drawing/2014/main" id="{2D5D935E-D644-6509-81D0-B04885188E05}"/>
              </a:ext>
            </a:extLst>
          </p:cNvPr>
          <p:cNvSpPr/>
          <p:nvPr/>
        </p:nvSpPr>
        <p:spPr>
          <a:xfrm>
            <a:off x="4929809" y="1367299"/>
            <a:ext cx="506895" cy="1053234"/>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9" name="Oval 8">
            <a:extLst>
              <a:ext uri="{FF2B5EF4-FFF2-40B4-BE49-F238E27FC236}">
                <a16:creationId xmlns:a16="http://schemas.microsoft.com/office/drawing/2014/main" id="{8A68CB20-994F-C2A2-AB3A-507DC5E1BA10}"/>
              </a:ext>
            </a:extLst>
          </p:cNvPr>
          <p:cNvSpPr/>
          <p:nvPr/>
        </p:nvSpPr>
        <p:spPr>
          <a:xfrm>
            <a:off x="5476459" y="5747088"/>
            <a:ext cx="476667" cy="264105"/>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1" name="Oval 10">
            <a:extLst>
              <a:ext uri="{FF2B5EF4-FFF2-40B4-BE49-F238E27FC236}">
                <a16:creationId xmlns:a16="http://schemas.microsoft.com/office/drawing/2014/main" id="{C729500F-7623-E3DD-1E24-3365C4499459}"/>
              </a:ext>
            </a:extLst>
          </p:cNvPr>
          <p:cNvSpPr/>
          <p:nvPr/>
        </p:nvSpPr>
        <p:spPr>
          <a:xfrm>
            <a:off x="5469831" y="1394340"/>
            <a:ext cx="506895" cy="1053234"/>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TextBox 19">
            <a:extLst>
              <a:ext uri="{FF2B5EF4-FFF2-40B4-BE49-F238E27FC236}">
                <a16:creationId xmlns:a16="http://schemas.microsoft.com/office/drawing/2014/main" id="{06EB3684-64A0-CA16-E84B-366D2C9F40E0}"/>
              </a:ext>
            </a:extLst>
          </p:cNvPr>
          <p:cNvSpPr txBox="1"/>
          <p:nvPr/>
        </p:nvSpPr>
        <p:spPr>
          <a:xfrm>
            <a:off x="6095999" y="6214029"/>
            <a:ext cx="2004075" cy="369332"/>
          </a:xfrm>
          <a:prstGeom prst="rect">
            <a:avLst/>
          </a:prstGeom>
          <a:noFill/>
        </p:spPr>
        <p:txBody>
          <a:bodyPr wrap="none" rtlCol="0">
            <a:spAutoFit/>
          </a:bodyPr>
          <a:lstStyle/>
          <a:p>
            <a:r>
              <a:rPr lang="en-US">
                <a:solidFill>
                  <a:srgbClr val="FF0000"/>
                </a:solidFill>
              </a:rPr>
              <a:t>Pada Vce=4V, Ic=4A</a:t>
            </a:r>
            <a:endParaRPr lang="en-ID">
              <a:solidFill>
                <a:srgbClr val="FF0000"/>
              </a:solidFill>
            </a:endParaRPr>
          </a:p>
        </p:txBody>
      </p:sp>
      <p:cxnSp>
        <p:nvCxnSpPr>
          <p:cNvPr id="21" name="Straight Arrow Connector 20">
            <a:extLst>
              <a:ext uri="{FF2B5EF4-FFF2-40B4-BE49-F238E27FC236}">
                <a16:creationId xmlns:a16="http://schemas.microsoft.com/office/drawing/2014/main" id="{5EC2C45B-1B90-769B-3E82-7D8B67013886}"/>
              </a:ext>
            </a:extLst>
          </p:cNvPr>
          <p:cNvCxnSpPr>
            <a:cxnSpLocks/>
          </p:cNvCxnSpPr>
          <p:nvPr/>
        </p:nvCxnSpPr>
        <p:spPr>
          <a:xfrm flipH="1" flipV="1">
            <a:off x="5953126" y="6011193"/>
            <a:ext cx="1076324" cy="27501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ACBFDA6D-2742-884C-A0D6-6C30B2707F6D}"/>
              </a:ext>
            </a:extLst>
          </p:cNvPr>
          <p:cNvSpPr txBox="1"/>
          <p:nvPr/>
        </p:nvSpPr>
        <p:spPr>
          <a:xfrm>
            <a:off x="10449134" y="165834"/>
            <a:ext cx="1480930" cy="6555641"/>
          </a:xfrm>
          <a:prstGeom prst="rect">
            <a:avLst/>
          </a:prstGeom>
          <a:noFill/>
        </p:spPr>
        <p:txBody>
          <a:bodyPr wrap="square" rtlCol="0">
            <a:spAutoFit/>
          </a:bodyPr>
          <a:lstStyle/>
          <a:p>
            <a:r>
              <a:rPr lang="en-US" sz="1200">
                <a:solidFill>
                  <a:srgbClr val="FF0000"/>
                </a:solidFill>
              </a:rPr>
              <a:t>Icmax dan Vcemax disini adalah Icmax dan Vcemax “break down” dimana lewat batas tsb, transistor akan rusak. Disini diistilahkan dengan Vcemax_datasheet dan Icmax_datasheet</a:t>
            </a:r>
          </a:p>
          <a:p>
            <a:endParaRPr lang="en-US" sz="1200">
              <a:solidFill>
                <a:srgbClr val="FF0000"/>
              </a:solidFill>
            </a:endParaRPr>
          </a:p>
          <a:p>
            <a:r>
              <a:rPr lang="en-US" sz="1200">
                <a:solidFill>
                  <a:srgbClr val="FF0000"/>
                </a:solidFill>
              </a:rPr>
              <a:t>Catatan1: Icmax dan Vcemax ini hanya bisa  diketahui dari datasheet. Datasheet umumnya dikeluarkan oleh fabrikan. </a:t>
            </a:r>
          </a:p>
          <a:p>
            <a:endParaRPr lang="en-US" sz="1200">
              <a:solidFill>
                <a:srgbClr val="FF0000"/>
              </a:solidFill>
            </a:endParaRPr>
          </a:p>
          <a:p>
            <a:r>
              <a:rPr lang="en-US" sz="1200">
                <a:solidFill>
                  <a:srgbClr val="FF0000"/>
                </a:solidFill>
              </a:rPr>
              <a:t>Catatan2: Notasi Icmax dan Vcemax yang digunakan saat perancangan Prategangan bukanlah Icmax dan Vcemax “break down” melainkan Icmax dan Vcemax “operasional” yang nilainya ditentukan oleh desainer dimana Icmax dan Vcemax operasional harus dibawah break down.</a:t>
            </a:r>
            <a:endParaRPr lang="en-ID" sz="1200">
              <a:solidFill>
                <a:srgbClr val="FF0000"/>
              </a:solidFill>
            </a:endParaRPr>
          </a:p>
        </p:txBody>
      </p:sp>
    </p:spTree>
    <p:extLst>
      <p:ext uri="{BB962C8B-B14F-4D97-AF65-F5344CB8AC3E}">
        <p14:creationId xmlns:p14="http://schemas.microsoft.com/office/powerpoint/2010/main" val="901673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7F96D-3A22-3C08-F9C9-3C6CE807093A}"/>
              </a:ext>
            </a:extLst>
          </p:cNvPr>
          <p:cNvSpPr>
            <a:spLocks noGrp="1"/>
          </p:cNvSpPr>
          <p:nvPr>
            <p:ph type="title"/>
          </p:nvPr>
        </p:nvSpPr>
        <p:spPr/>
        <p:txBody>
          <a:bodyPr/>
          <a:lstStyle/>
          <a:p>
            <a:r>
              <a:rPr lang="en-US"/>
              <a:t>Beta (atau hFE) 2N3055</a:t>
            </a:r>
            <a:endParaRPr lang="en-ID"/>
          </a:p>
        </p:txBody>
      </p:sp>
      <p:sp>
        <p:nvSpPr>
          <p:cNvPr id="3" name="Content Placeholder 2">
            <a:extLst>
              <a:ext uri="{FF2B5EF4-FFF2-40B4-BE49-F238E27FC236}">
                <a16:creationId xmlns:a16="http://schemas.microsoft.com/office/drawing/2014/main" id="{D5E4EA75-C9DA-018C-4FB6-A58BA608B706}"/>
              </a:ext>
            </a:extLst>
          </p:cNvPr>
          <p:cNvSpPr>
            <a:spLocks noGrp="1"/>
          </p:cNvSpPr>
          <p:nvPr>
            <p:ph idx="1"/>
          </p:nvPr>
        </p:nvSpPr>
        <p:spPr/>
        <p:txBody>
          <a:bodyPr>
            <a:normAutofit fontScale="92500" lnSpcReduction="20000"/>
          </a:bodyPr>
          <a:lstStyle/>
          <a:p>
            <a:pPr>
              <a:buNone/>
            </a:pPr>
            <a:r>
              <a:rPr lang="en-ID"/>
              <a:t>Beta 2N3055 pada tabel tertulis 20 tapi ini adalah nilai minimum.</a:t>
            </a:r>
          </a:p>
          <a:p>
            <a:pPr>
              <a:buNone/>
            </a:pPr>
            <a:r>
              <a:rPr lang="en-ID"/>
              <a:t>Transistor </a:t>
            </a:r>
            <a:r>
              <a:rPr lang="en-ID" b="1"/>
              <a:t>2N3055</a:t>
            </a:r>
            <a:r>
              <a:rPr lang="en-ID"/>
              <a:t> adalah transistor daya NPN yang biasa digunakan untuk aplikasi arus dan tegangan tinggi.</a:t>
            </a:r>
          </a:p>
          <a:p>
            <a:pPr>
              <a:buNone/>
            </a:pPr>
            <a:r>
              <a:rPr lang="en-ID"/>
              <a:t>Nilai </a:t>
            </a:r>
            <a:r>
              <a:rPr lang="en-ID" b="1"/>
              <a:t>beta (</a:t>
            </a:r>
            <a:r>
              <a:rPr lang="el-GR" b="1"/>
              <a:t>β) </a:t>
            </a:r>
            <a:r>
              <a:rPr lang="en-ID" b="1"/>
              <a:t>atau hFE</a:t>
            </a:r>
            <a:r>
              <a:rPr lang="en-ID"/>
              <a:t> dari 2N3055:</a:t>
            </a:r>
          </a:p>
          <a:p>
            <a:pPr>
              <a:buFont typeface="Arial" panose="020B0604020202020204" pitchFamily="34" charset="0"/>
              <a:buChar char="•"/>
            </a:pPr>
            <a:r>
              <a:rPr lang="en-ID"/>
              <a:t>Biasanya </a:t>
            </a:r>
            <a:r>
              <a:rPr lang="en-ID" b="1"/>
              <a:t>20 hingga 70</a:t>
            </a:r>
            <a:r>
              <a:rPr lang="en-ID"/>
              <a:t> pada arus kolektor </a:t>
            </a:r>
            <a:r>
              <a:rPr lang="en-ID" b="1"/>
              <a:t>Ic = 4A</a:t>
            </a:r>
            <a:r>
              <a:rPr lang="en-ID"/>
              <a:t> dan </a:t>
            </a:r>
            <a:r>
              <a:rPr lang="en-ID" b="1"/>
              <a:t>Vce = 4 V</a:t>
            </a:r>
            <a:r>
              <a:rPr lang="en-ID"/>
              <a:t> (menurut datasheet lama dari ON Semiconductor).</a:t>
            </a:r>
          </a:p>
          <a:p>
            <a:pPr>
              <a:buFont typeface="Arial" panose="020B0604020202020204" pitchFamily="34" charset="0"/>
              <a:buChar char="•"/>
            </a:pPr>
            <a:r>
              <a:rPr lang="en-ID"/>
              <a:t>Nilai beta bisa lebih rendah pada arus lebih kecil, dan akan menurun saat arus kolektor mendekati batas maksimum (15 A).</a:t>
            </a:r>
          </a:p>
          <a:p>
            <a:pPr>
              <a:buNone/>
            </a:pPr>
            <a:r>
              <a:rPr lang="en-ID" b="1"/>
              <a:t>Catatan penting</a:t>
            </a:r>
            <a:r>
              <a:rPr lang="en-ID"/>
              <a:t>:</a:t>
            </a:r>
          </a:p>
          <a:p>
            <a:pPr>
              <a:buFont typeface="Arial" panose="020B0604020202020204" pitchFamily="34" charset="0"/>
              <a:buChar char="•"/>
            </a:pPr>
            <a:r>
              <a:rPr lang="en-ID"/>
              <a:t>2N3055 bukan transistor yang cocok untuk penguatan sinyal kecil karena betanya rendah.</a:t>
            </a:r>
          </a:p>
          <a:p>
            <a:pPr>
              <a:buFont typeface="Arial" panose="020B0604020202020204" pitchFamily="34" charset="0"/>
              <a:buChar char="•"/>
            </a:pPr>
            <a:r>
              <a:rPr lang="en-ID"/>
              <a:t>Cocok untuk </a:t>
            </a:r>
            <a:r>
              <a:rPr lang="en-ID" b="1"/>
              <a:t>regulator tegangan, power amplifier,</a:t>
            </a:r>
            <a:r>
              <a:rPr lang="en-ID"/>
              <a:t> dan </a:t>
            </a:r>
            <a:r>
              <a:rPr lang="en-ID" b="1"/>
              <a:t>driver motor</a:t>
            </a:r>
            <a:r>
              <a:rPr lang="en-ID"/>
              <a:t>.</a:t>
            </a:r>
          </a:p>
          <a:p>
            <a:endParaRPr lang="en-ID"/>
          </a:p>
        </p:txBody>
      </p:sp>
    </p:spTree>
    <p:extLst>
      <p:ext uri="{BB962C8B-B14F-4D97-AF65-F5344CB8AC3E}">
        <p14:creationId xmlns:p14="http://schemas.microsoft.com/office/powerpoint/2010/main" val="37995795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27AC4E-3B81-89AB-857B-C215EFF5D6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D43773-EFF2-BAF9-DF6B-06F9DE095078}"/>
              </a:ext>
            </a:extLst>
          </p:cNvPr>
          <p:cNvSpPr>
            <a:spLocks noGrp="1"/>
          </p:cNvSpPr>
          <p:nvPr>
            <p:ph type="title"/>
          </p:nvPr>
        </p:nvSpPr>
        <p:spPr/>
        <p:txBody>
          <a:bodyPr/>
          <a:lstStyle/>
          <a:p>
            <a:r>
              <a:rPr lang="en-US"/>
              <a:t>Jawaban</a:t>
            </a:r>
            <a:endParaRPr lang="en-ID"/>
          </a:p>
        </p:txBody>
      </p:sp>
      <p:sp>
        <p:nvSpPr>
          <p:cNvPr id="3" name="Content Placeholder 2">
            <a:extLst>
              <a:ext uri="{FF2B5EF4-FFF2-40B4-BE49-F238E27FC236}">
                <a16:creationId xmlns:a16="http://schemas.microsoft.com/office/drawing/2014/main" id="{62B433CF-9666-FF64-AB78-BEDAD5BE4B10}"/>
              </a:ext>
            </a:extLst>
          </p:cNvPr>
          <p:cNvSpPr>
            <a:spLocks noGrp="1"/>
          </p:cNvSpPr>
          <p:nvPr>
            <p:ph idx="1"/>
          </p:nvPr>
        </p:nvSpPr>
        <p:spPr/>
        <p:txBody>
          <a:bodyPr>
            <a:normAutofit/>
          </a:bodyPr>
          <a:lstStyle/>
          <a:p>
            <a:pPr marL="0" indent="0">
              <a:buNone/>
            </a:pPr>
            <a:r>
              <a:rPr lang="en-US"/>
              <a:t>1. Vcemax_datasheet = 60v</a:t>
            </a:r>
          </a:p>
          <a:p>
            <a:pPr marL="0" indent="0">
              <a:buNone/>
            </a:pPr>
            <a:endParaRPr lang="en-US"/>
          </a:p>
          <a:p>
            <a:pPr marL="0" indent="0">
              <a:buNone/>
            </a:pPr>
            <a:r>
              <a:rPr lang="en-US"/>
              <a:t>2. Icmax_datasheet = 15A</a:t>
            </a:r>
          </a:p>
          <a:p>
            <a:pPr marL="0" indent="0">
              <a:buNone/>
            </a:pPr>
            <a:endParaRPr lang="en-US"/>
          </a:p>
          <a:p>
            <a:endParaRPr lang="en-US"/>
          </a:p>
          <a:p>
            <a:endParaRPr lang="en-US"/>
          </a:p>
          <a:p>
            <a:endParaRPr lang="en-ID"/>
          </a:p>
        </p:txBody>
      </p:sp>
    </p:spTree>
    <p:extLst>
      <p:ext uri="{BB962C8B-B14F-4D97-AF65-F5344CB8AC3E}">
        <p14:creationId xmlns:p14="http://schemas.microsoft.com/office/powerpoint/2010/main" val="22817425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ECC79-FB25-4EAC-979E-29942EE1F4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415585-A73B-C5C9-CC04-DBC88A193536}"/>
              </a:ext>
            </a:extLst>
          </p:cNvPr>
          <p:cNvSpPr>
            <a:spLocks noGrp="1"/>
          </p:cNvSpPr>
          <p:nvPr>
            <p:ph type="title"/>
          </p:nvPr>
        </p:nvSpPr>
        <p:spPr>
          <a:xfrm>
            <a:off x="838200" y="365126"/>
            <a:ext cx="10515600" cy="603986"/>
          </a:xfrm>
        </p:spPr>
        <p:txBody>
          <a:bodyPr>
            <a:normAutofit fontScale="90000"/>
          </a:bodyPr>
          <a:lstStyle/>
          <a:p>
            <a:r>
              <a:rPr lang="en-US"/>
              <a:t>Wilayah Transistor saat OFF dan ON</a:t>
            </a:r>
            <a:endParaRPr lang="en-ID"/>
          </a:p>
        </p:txBody>
      </p:sp>
      <p:pic>
        <p:nvPicPr>
          <p:cNvPr id="6" name="Picture 5">
            <a:extLst>
              <a:ext uri="{FF2B5EF4-FFF2-40B4-BE49-F238E27FC236}">
                <a16:creationId xmlns:a16="http://schemas.microsoft.com/office/drawing/2014/main" id="{FC77EDE7-A836-6BE9-A5AF-56C69BFA2B3E}"/>
              </a:ext>
            </a:extLst>
          </p:cNvPr>
          <p:cNvPicPr>
            <a:picLocks noChangeAspect="1"/>
          </p:cNvPicPr>
          <p:nvPr/>
        </p:nvPicPr>
        <p:blipFill>
          <a:blip r:embed="rId2"/>
          <a:stretch>
            <a:fillRect/>
          </a:stretch>
        </p:blipFill>
        <p:spPr>
          <a:xfrm>
            <a:off x="7402040" y="3046196"/>
            <a:ext cx="4154091" cy="2630647"/>
          </a:xfrm>
          <a:prstGeom prst="rect">
            <a:avLst/>
          </a:prstGeom>
        </p:spPr>
      </p:pic>
      <p:sp>
        <p:nvSpPr>
          <p:cNvPr id="74" name="Oval 73">
            <a:extLst>
              <a:ext uri="{FF2B5EF4-FFF2-40B4-BE49-F238E27FC236}">
                <a16:creationId xmlns:a16="http://schemas.microsoft.com/office/drawing/2014/main" id="{E442DB8E-11B5-326C-7230-B3475FA208C9}"/>
              </a:ext>
            </a:extLst>
          </p:cNvPr>
          <p:cNvSpPr/>
          <p:nvPr/>
        </p:nvSpPr>
        <p:spPr>
          <a:xfrm>
            <a:off x="11438954" y="5195419"/>
            <a:ext cx="117177" cy="111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5" name="Oval 74">
            <a:extLst>
              <a:ext uri="{FF2B5EF4-FFF2-40B4-BE49-F238E27FC236}">
                <a16:creationId xmlns:a16="http://schemas.microsoft.com/office/drawing/2014/main" id="{9CA7C721-C2B1-1C8F-CCC9-CB44C6046E31}"/>
              </a:ext>
            </a:extLst>
          </p:cNvPr>
          <p:cNvSpPr/>
          <p:nvPr/>
        </p:nvSpPr>
        <p:spPr>
          <a:xfrm>
            <a:off x="7674892" y="3718738"/>
            <a:ext cx="117177" cy="111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7" name="TextBox 76">
            <a:extLst>
              <a:ext uri="{FF2B5EF4-FFF2-40B4-BE49-F238E27FC236}">
                <a16:creationId xmlns:a16="http://schemas.microsoft.com/office/drawing/2014/main" id="{6B6438F0-C9CB-8C08-E3E2-C6D0925D2F1B}"/>
              </a:ext>
            </a:extLst>
          </p:cNvPr>
          <p:cNvSpPr txBox="1"/>
          <p:nvPr/>
        </p:nvSpPr>
        <p:spPr>
          <a:xfrm>
            <a:off x="7505171" y="2408690"/>
            <a:ext cx="1724274" cy="523220"/>
          </a:xfrm>
          <a:prstGeom prst="rect">
            <a:avLst/>
          </a:prstGeom>
          <a:noFill/>
        </p:spPr>
        <p:txBody>
          <a:bodyPr wrap="square" rtlCol="0">
            <a:spAutoFit/>
          </a:bodyPr>
          <a:lstStyle/>
          <a:p>
            <a:r>
              <a:rPr lang="en-US" sz="1400">
                <a:solidFill>
                  <a:srgbClr val="FF0000"/>
                </a:solidFill>
              </a:rPr>
              <a:t>Transistor di wilayah Saturasi</a:t>
            </a:r>
            <a:endParaRPr lang="en-ID" sz="1400">
              <a:solidFill>
                <a:srgbClr val="FF0000"/>
              </a:solidFill>
            </a:endParaRPr>
          </a:p>
        </p:txBody>
      </p:sp>
      <p:cxnSp>
        <p:nvCxnSpPr>
          <p:cNvPr id="79" name="Straight Arrow Connector 78">
            <a:extLst>
              <a:ext uri="{FF2B5EF4-FFF2-40B4-BE49-F238E27FC236}">
                <a16:creationId xmlns:a16="http://schemas.microsoft.com/office/drawing/2014/main" id="{BB54B8FA-88D1-3A18-1763-742D49CDC290}"/>
              </a:ext>
            </a:extLst>
          </p:cNvPr>
          <p:cNvCxnSpPr/>
          <p:nvPr/>
        </p:nvCxnSpPr>
        <p:spPr>
          <a:xfrm flipH="1">
            <a:off x="7792069" y="2781636"/>
            <a:ext cx="360322" cy="8610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85" name="Group 84">
            <a:extLst>
              <a:ext uri="{FF2B5EF4-FFF2-40B4-BE49-F238E27FC236}">
                <a16:creationId xmlns:a16="http://schemas.microsoft.com/office/drawing/2014/main" id="{921558B2-25C7-C664-030F-CD3F0C96F1D0}"/>
              </a:ext>
            </a:extLst>
          </p:cNvPr>
          <p:cNvGrpSpPr/>
          <p:nvPr/>
        </p:nvGrpSpPr>
        <p:grpSpPr>
          <a:xfrm>
            <a:off x="349631" y="2986316"/>
            <a:ext cx="3220861" cy="2925041"/>
            <a:chOff x="584517" y="2769297"/>
            <a:chExt cx="3220861" cy="2925041"/>
          </a:xfrm>
        </p:grpSpPr>
        <p:grpSp>
          <p:nvGrpSpPr>
            <p:cNvPr id="36" name="Group 35">
              <a:extLst>
                <a:ext uri="{FF2B5EF4-FFF2-40B4-BE49-F238E27FC236}">
                  <a16:creationId xmlns:a16="http://schemas.microsoft.com/office/drawing/2014/main" id="{4D7BA607-0799-4DCA-3DC1-1A0EA4685CAA}"/>
                </a:ext>
              </a:extLst>
            </p:cNvPr>
            <p:cNvGrpSpPr/>
            <p:nvPr/>
          </p:nvGrpSpPr>
          <p:grpSpPr>
            <a:xfrm>
              <a:off x="628322" y="2769297"/>
              <a:ext cx="3177056" cy="2925041"/>
              <a:chOff x="1435584" y="2496783"/>
              <a:chExt cx="3769606" cy="3528871"/>
            </a:xfrm>
          </p:grpSpPr>
          <p:pic>
            <p:nvPicPr>
              <p:cNvPr id="8" name="Picture 7">
                <a:extLst>
                  <a:ext uri="{FF2B5EF4-FFF2-40B4-BE49-F238E27FC236}">
                    <a16:creationId xmlns:a16="http://schemas.microsoft.com/office/drawing/2014/main" id="{ECA2978D-9985-6B40-0CB6-EB78DAE44EB8}"/>
                  </a:ext>
                </a:extLst>
              </p:cNvPr>
              <p:cNvPicPr>
                <a:picLocks noChangeAspect="1"/>
              </p:cNvPicPr>
              <p:nvPr/>
            </p:nvPicPr>
            <p:blipFill>
              <a:blip r:embed="rId3"/>
              <a:stretch>
                <a:fillRect/>
              </a:stretch>
            </p:blipFill>
            <p:spPr>
              <a:xfrm>
                <a:off x="1435584" y="2496783"/>
                <a:ext cx="3769606" cy="3313412"/>
              </a:xfrm>
              <a:prstGeom prst="rect">
                <a:avLst/>
              </a:prstGeom>
            </p:spPr>
          </p:pic>
          <p:sp>
            <p:nvSpPr>
              <p:cNvPr id="9" name="TextBox 8">
                <a:extLst>
                  <a:ext uri="{FF2B5EF4-FFF2-40B4-BE49-F238E27FC236}">
                    <a16:creationId xmlns:a16="http://schemas.microsoft.com/office/drawing/2014/main" id="{A8CDC9BA-DE9A-6C69-1054-08F6898A9C70}"/>
                  </a:ext>
                </a:extLst>
              </p:cNvPr>
              <p:cNvSpPr txBox="1"/>
              <p:nvPr/>
            </p:nvSpPr>
            <p:spPr>
              <a:xfrm>
                <a:off x="1723648" y="2670008"/>
                <a:ext cx="292068" cy="338554"/>
              </a:xfrm>
              <a:prstGeom prst="rect">
                <a:avLst/>
              </a:prstGeom>
              <a:noFill/>
            </p:spPr>
            <p:txBody>
              <a:bodyPr wrap="none" rtlCol="0">
                <a:spAutoFit/>
              </a:bodyPr>
              <a:lstStyle/>
              <a:p>
                <a:r>
                  <a:rPr lang="en-US" sz="1600"/>
                  <a:t>q</a:t>
                </a:r>
                <a:endParaRPr lang="en-ID" sz="1600"/>
              </a:p>
            </p:txBody>
          </p:sp>
          <p:cxnSp>
            <p:nvCxnSpPr>
              <p:cNvPr id="14" name="Straight Connector 13">
                <a:extLst>
                  <a:ext uri="{FF2B5EF4-FFF2-40B4-BE49-F238E27FC236}">
                    <a16:creationId xmlns:a16="http://schemas.microsoft.com/office/drawing/2014/main" id="{1960C9C8-68AB-74ED-62EE-08F34E6327CA}"/>
                  </a:ext>
                </a:extLst>
              </p:cNvPr>
              <p:cNvCxnSpPr>
                <a:cxnSpLocks/>
              </p:cNvCxnSpPr>
              <p:nvPr/>
            </p:nvCxnSpPr>
            <p:spPr>
              <a:xfrm>
                <a:off x="3172350" y="5680986"/>
                <a:ext cx="0" cy="19878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68B8021-389F-B505-E245-9034EEFA5748}"/>
                  </a:ext>
                </a:extLst>
              </p:cNvPr>
              <p:cNvCxnSpPr>
                <a:cxnSpLocks/>
              </p:cNvCxnSpPr>
              <p:nvPr/>
            </p:nvCxnSpPr>
            <p:spPr>
              <a:xfrm flipH="1" flipV="1">
                <a:off x="2994371" y="5889710"/>
                <a:ext cx="355958" cy="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0212A3B-AFA6-1435-6A68-4FC57ECD951E}"/>
                  </a:ext>
                </a:extLst>
              </p:cNvPr>
              <p:cNvCxnSpPr>
                <a:cxnSpLocks/>
              </p:cNvCxnSpPr>
              <p:nvPr/>
            </p:nvCxnSpPr>
            <p:spPr>
              <a:xfrm flipH="1">
                <a:off x="3070571" y="5959284"/>
                <a:ext cx="20355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7CDDF2B-05C3-6543-0035-C5C18A9379C1}"/>
                  </a:ext>
                </a:extLst>
              </p:cNvPr>
              <p:cNvCxnSpPr>
                <a:cxnSpLocks/>
              </p:cNvCxnSpPr>
              <p:nvPr/>
            </p:nvCxnSpPr>
            <p:spPr>
              <a:xfrm flipH="1">
                <a:off x="3108671" y="6025654"/>
                <a:ext cx="12735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9D977220-5E1F-F8A7-F8DF-83C24D707FBD}"/>
                  </a:ext>
                </a:extLst>
              </p:cNvPr>
              <p:cNvSpPr txBox="1"/>
              <p:nvPr/>
            </p:nvSpPr>
            <p:spPr>
              <a:xfrm>
                <a:off x="4909117" y="5441823"/>
                <a:ext cx="288862" cy="338554"/>
              </a:xfrm>
              <a:prstGeom prst="rect">
                <a:avLst/>
              </a:prstGeom>
              <a:noFill/>
            </p:spPr>
            <p:txBody>
              <a:bodyPr wrap="none" rtlCol="0">
                <a:spAutoFit/>
              </a:bodyPr>
              <a:lstStyle/>
              <a:p>
                <a:r>
                  <a:rPr lang="en-US" sz="1600"/>
                  <a:t>0</a:t>
                </a:r>
                <a:endParaRPr lang="en-ID" sz="1600"/>
              </a:p>
            </p:txBody>
          </p:sp>
          <p:sp>
            <p:nvSpPr>
              <p:cNvPr id="20" name="Rectangle 19">
                <a:extLst>
                  <a:ext uri="{FF2B5EF4-FFF2-40B4-BE49-F238E27FC236}">
                    <a16:creationId xmlns:a16="http://schemas.microsoft.com/office/drawing/2014/main" id="{976DAF73-4375-98E4-E2A8-EC224A21FD17}"/>
                  </a:ext>
                </a:extLst>
              </p:cNvPr>
              <p:cNvSpPr/>
              <p:nvPr/>
            </p:nvSpPr>
            <p:spPr>
              <a:xfrm>
                <a:off x="1435584" y="2600433"/>
                <a:ext cx="199547" cy="31799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2" name="Rectangle 21">
                <a:extLst>
                  <a:ext uri="{FF2B5EF4-FFF2-40B4-BE49-F238E27FC236}">
                    <a16:creationId xmlns:a16="http://schemas.microsoft.com/office/drawing/2014/main" id="{200B0CF5-BB5A-8378-F161-4BC8A748B47C}"/>
                  </a:ext>
                </a:extLst>
              </p:cNvPr>
              <p:cNvSpPr/>
              <p:nvPr/>
            </p:nvSpPr>
            <p:spPr>
              <a:xfrm>
                <a:off x="1534160" y="2670008"/>
                <a:ext cx="412910" cy="131420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grpSp>
        <p:cxnSp>
          <p:nvCxnSpPr>
            <p:cNvPr id="40" name="Straight Arrow Connector 39">
              <a:extLst>
                <a:ext uri="{FF2B5EF4-FFF2-40B4-BE49-F238E27FC236}">
                  <a16:creationId xmlns:a16="http://schemas.microsoft.com/office/drawing/2014/main" id="{66A0FA66-AF96-44BB-7DE2-6BB0C53AC409}"/>
                </a:ext>
              </a:extLst>
            </p:cNvPr>
            <p:cNvCxnSpPr/>
            <p:nvPr/>
          </p:nvCxnSpPr>
          <p:spPr>
            <a:xfrm>
              <a:off x="1281540" y="3587427"/>
              <a:ext cx="536673" cy="4147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9B49A58C-EEAF-F7F7-C408-CD450EB95486}"/>
                </a:ext>
              </a:extLst>
            </p:cNvPr>
            <p:cNvSpPr txBox="1"/>
            <p:nvPr/>
          </p:nvSpPr>
          <p:spPr>
            <a:xfrm>
              <a:off x="584517" y="3026943"/>
              <a:ext cx="949780" cy="738664"/>
            </a:xfrm>
            <a:prstGeom prst="rect">
              <a:avLst/>
            </a:prstGeom>
            <a:noFill/>
          </p:spPr>
          <p:txBody>
            <a:bodyPr wrap="square" rtlCol="0">
              <a:spAutoFit/>
            </a:bodyPr>
            <a:lstStyle/>
            <a:p>
              <a:r>
                <a:rPr lang="en-US" sz="1400">
                  <a:solidFill>
                    <a:srgbClr val="FF0000"/>
                  </a:solidFill>
                </a:rPr>
                <a:t>Seperti saklar terbuka</a:t>
              </a:r>
              <a:endParaRPr lang="en-ID" sz="1400">
                <a:solidFill>
                  <a:srgbClr val="FF0000"/>
                </a:solidFill>
              </a:endParaRPr>
            </a:p>
          </p:txBody>
        </p:sp>
        <p:sp>
          <p:nvSpPr>
            <p:cNvPr id="64" name="Oval 63">
              <a:extLst>
                <a:ext uri="{FF2B5EF4-FFF2-40B4-BE49-F238E27FC236}">
                  <a16:creationId xmlns:a16="http://schemas.microsoft.com/office/drawing/2014/main" id="{F7A0FFAA-5C4D-5A55-466D-240F1E841CC8}"/>
                </a:ext>
              </a:extLst>
            </p:cNvPr>
            <p:cNvSpPr/>
            <p:nvPr/>
          </p:nvSpPr>
          <p:spPr>
            <a:xfrm>
              <a:off x="1785835" y="4045167"/>
              <a:ext cx="312492" cy="414783"/>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cxnSp>
          <p:nvCxnSpPr>
            <p:cNvPr id="71" name="Straight Connector 70">
              <a:extLst>
                <a:ext uri="{FF2B5EF4-FFF2-40B4-BE49-F238E27FC236}">
                  <a16:creationId xmlns:a16="http://schemas.microsoft.com/office/drawing/2014/main" id="{93B9F951-ACBB-311C-930D-7659D23B8E97}"/>
                </a:ext>
              </a:extLst>
            </p:cNvPr>
            <p:cNvCxnSpPr>
              <a:cxnSpLocks/>
            </p:cNvCxnSpPr>
            <p:nvPr/>
          </p:nvCxnSpPr>
          <p:spPr>
            <a:xfrm flipH="1">
              <a:off x="1818213" y="4045167"/>
              <a:ext cx="189379" cy="41478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6" name="Group 85">
            <a:extLst>
              <a:ext uri="{FF2B5EF4-FFF2-40B4-BE49-F238E27FC236}">
                <a16:creationId xmlns:a16="http://schemas.microsoft.com/office/drawing/2014/main" id="{6E9AD463-6AF4-4F84-B5CA-55160C2C7F5C}"/>
              </a:ext>
            </a:extLst>
          </p:cNvPr>
          <p:cNvGrpSpPr/>
          <p:nvPr/>
        </p:nvGrpSpPr>
        <p:grpSpPr>
          <a:xfrm>
            <a:off x="3820857" y="2988296"/>
            <a:ext cx="3220861" cy="2925041"/>
            <a:chOff x="4055743" y="2771277"/>
            <a:chExt cx="3220861" cy="2925041"/>
          </a:xfrm>
        </p:grpSpPr>
        <p:grpSp>
          <p:nvGrpSpPr>
            <p:cNvPr id="45" name="Group 44">
              <a:extLst>
                <a:ext uri="{FF2B5EF4-FFF2-40B4-BE49-F238E27FC236}">
                  <a16:creationId xmlns:a16="http://schemas.microsoft.com/office/drawing/2014/main" id="{B8AA132C-26A3-A91E-BC0C-4FB386466EF2}"/>
                </a:ext>
              </a:extLst>
            </p:cNvPr>
            <p:cNvGrpSpPr/>
            <p:nvPr/>
          </p:nvGrpSpPr>
          <p:grpSpPr>
            <a:xfrm>
              <a:off x="4099548" y="2771277"/>
              <a:ext cx="3177056" cy="2925041"/>
              <a:chOff x="1435584" y="2496783"/>
              <a:chExt cx="3769606" cy="3528871"/>
            </a:xfrm>
          </p:grpSpPr>
          <p:pic>
            <p:nvPicPr>
              <p:cNvPr id="51" name="Picture 50">
                <a:extLst>
                  <a:ext uri="{FF2B5EF4-FFF2-40B4-BE49-F238E27FC236}">
                    <a16:creationId xmlns:a16="http://schemas.microsoft.com/office/drawing/2014/main" id="{FFC676E3-9A74-F696-D7E4-0B559C964999}"/>
                  </a:ext>
                </a:extLst>
              </p:cNvPr>
              <p:cNvPicPr>
                <a:picLocks noChangeAspect="1"/>
              </p:cNvPicPr>
              <p:nvPr/>
            </p:nvPicPr>
            <p:blipFill>
              <a:blip r:embed="rId3"/>
              <a:stretch>
                <a:fillRect/>
              </a:stretch>
            </p:blipFill>
            <p:spPr>
              <a:xfrm>
                <a:off x="1435584" y="2496783"/>
                <a:ext cx="3769606" cy="3313412"/>
              </a:xfrm>
              <a:prstGeom prst="rect">
                <a:avLst/>
              </a:prstGeom>
            </p:spPr>
          </p:pic>
          <p:sp>
            <p:nvSpPr>
              <p:cNvPr id="52" name="TextBox 51">
                <a:extLst>
                  <a:ext uri="{FF2B5EF4-FFF2-40B4-BE49-F238E27FC236}">
                    <a16:creationId xmlns:a16="http://schemas.microsoft.com/office/drawing/2014/main" id="{4AB50641-FCA2-CFEF-DA4C-3FEC41B941C2}"/>
                  </a:ext>
                </a:extLst>
              </p:cNvPr>
              <p:cNvSpPr txBox="1"/>
              <p:nvPr/>
            </p:nvSpPr>
            <p:spPr>
              <a:xfrm>
                <a:off x="1723648" y="2670008"/>
                <a:ext cx="292068" cy="338554"/>
              </a:xfrm>
              <a:prstGeom prst="rect">
                <a:avLst/>
              </a:prstGeom>
              <a:noFill/>
            </p:spPr>
            <p:txBody>
              <a:bodyPr wrap="none" rtlCol="0">
                <a:spAutoFit/>
              </a:bodyPr>
              <a:lstStyle/>
              <a:p>
                <a:r>
                  <a:rPr lang="en-US" sz="1600"/>
                  <a:t>q</a:t>
                </a:r>
                <a:endParaRPr lang="en-ID" sz="1600"/>
              </a:p>
            </p:txBody>
          </p:sp>
          <p:cxnSp>
            <p:nvCxnSpPr>
              <p:cNvPr id="53" name="Straight Connector 52">
                <a:extLst>
                  <a:ext uri="{FF2B5EF4-FFF2-40B4-BE49-F238E27FC236}">
                    <a16:creationId xmlns:a16="http://schemas.microsoft.com/office/drawing/2014/main" id="{9203D334-7BDD-66F7-75EA-519819476ED8}"/>
                  </a:ext>
                </a:extLst>
              </p:cNvPr>
              <p:cNvCxnSpPr>
                <a:cxnSpLocks/>
              </p:cNvCxnSpPr>
              <p:nvPr/>
            </p:nvCxnSpPr>
            <p:spPr>
              <a:xfrm>
                <a:off x="3172350" y="5680986"/>
                <a:ext cx="0" cy="19878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C5FBE066-AE5E-9A26-0371-F8BA6FC2A662}"/>
                  </a:ext>
                </a:extLst>
              </p:cNvPr>
              <p:cNvCxnSpPr>
                <a:cxnSpLocks/>
              </p:cNvCxnSpPr>
              <p:nvPr/>
            </p:nvCxnSpPr>
            <p:spPr>
              <a:xfrm flipH="1" flipV="1">
                <a:off x="2994371" y="5889710"/>
                <a:ext cx="355958" cy="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FD7F14D3-88A5-0286-3C9D-89488CE58E2D}"/>
                  </a:ext>
                </a:extLst>
              </p:cNvPr>
              <p:cNvCxnSpPr>
                <a:cxnSpLocks/>
              </p:cNvCxnSpPr>
              <p:nvPr/>
            </p:nvCxnSpPr>
            <p:spPr>
              <a:xfrm flipH="1">
                <a:off x="3070571" y="5959284"/>
                <a:ext cx="20355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33F74A0A-D60E-DE9A-4D32-49C93FF2CC3C}"/>
                  </a:ext>
                </a:extLst>
              </p:cNvPr>
              <p:cNvCxnSpPr>
                <a:cxnSpLocks/>
              </p:cNvCxnSpPr>
              <p:nvPr/>
            </p:nvCxnSpPr>
            <p:spPr>
              <a:xfrm flipH="1">
                <a:off x="3108671" y="6025654"/>
                <a:ext cx="12735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0706508C-24DF-E3AB-976E-11D76B1C1964}"/>
                  </a:ext>
                </a:extLst>
              </p:cNvPr>
              <p:cNvSpPr txBox="1"/>
              <p:nvPr/>
            </p:nvSpPr>
            <p:spPr>
              <a:xfrm>
                <a:off x="4909117" y="5441823"/>
                <a:ext cx="288862" cy="338554"/>
              </a:xfrm>
              <a:prstGeom prst="rect">
                <a:avLst/>
              </a:prstGeom>
              <a:noFill/>
            </p:spPr>
            <p:txBody>
              <a:bodyPr wrap="none" rtlCol="0">
                <a:spAutoFit/>
              </a:bodyPr>
              <a:lstStyle/>
              <a:p>
                <a:r>
                  <a:rPr lang="en-US" sz="1600"/>
                  <a:t>0</a:t>
                </a:r>
                <a:endParaRPr lang="en-ID" sz="1600"/>
              </a:p>
            </p:txBody>
          </p:sp>
          <p:sp>
            <p:nvSpPr>
              <p:cNvPr id="58" name="Rectangle 57">
                <a:extLst>
                  <a:ext uri="{FF2B5EF4-FFF2-40B4-BE49-F238E27FC236}">
                    <a16:creationId xmlns:a16="http://schemas.microsoft.com/office/drawing/2014/main" id="{B5453ED7-3F6D-1568-7209-73429E465C07}"/>
                  </a:ext>
                </a:extLst>
              </p:cNvPr>
              <p:cNvSpPr/>
              <p:nvPr/>
            </p:nvSpPr>
            <p:spPr>
              <a:xfrm>
                <a:off x="1435584" y="2600433"/>
                <a:ext cx="199547" cy="31799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9" name="Rectangle 58">
                <a:extLst>
                  <a:ext uri="{FF2B5EF4-FFF2-40B4-BE49-F238E27FC236}">
                    <a16:creationId xmlns:a16="http://schemas.microsoft.com/office/drawing/2014/main" id="{B97603C8-74D7-DFD3-4A99-33369BCE3322}"/>
                  </a:ext>
                </a:extLst>
              </p:cNvPr>
              <p:cNvSpPr/>
              <p:nvPr/>
            </p:nvSpPr>
            <p:spPr>
              <a:xfrm>
                <a:off x="1534160" y="2670008"/>
                <a:ext cx="412910" cy="131420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grpSp>
        <p:cxnSp>
          <p:nvCxnSpPr>
            <p:cNvPr id="48" name="Straight Arrow Connector 47">
              <a:extLst>
                <a:ext uri="{FF2B5EF4-FFF2-40B4-BE49-F238E27FC236}">
                  <a16:creationId xmlns:a16="http://schemas.microsoft.com/office/drawing/2014/main" id="{D74E4590-C444-90E9-D349-B41033D824D3}"/>
                </a:ext>
              </a:extLst>
            </p:cNvPr>
            <p:cNvCxnSpPr/>
            <p:nvPr/>
          </p:nvCxnSpPr>
          <p:spPr>
            <a:xfrm>
              <a:off x="4752766" y="3589407"/>
              <a:ext cx="536673" cy="4147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707AF68C-3F42-120F-88DB-D02A298AE5DB}"/>
                </a:ext>
              </a:extLst>
            </p:cNvPr>
            <p:cNvSpPr txBox="1"/>
            <p:nvPr/>
          </p:nvSpPr>
          <p:spPr>
            <a:xfrm>
              <a:off x="4055743" y="3028923"/>
              <a:ext cx="949780" cy="738664"/>
            </a:xfrm>
            <a:prstGeom prst="rect">
              <a:avLst/>
            </a:prstGeom>
            <a:noFill/>
          </p:spPr>
          <p:txBody>
            <a:bodyPr wrap="square" rtlCol="0">
              <a:spAutoFit/>
            </a:bodyPr>
            <a:lstStyle/>
            <a:p>
              <a:r>
                <a:rPr lang="en-US" sz="1400">
                  <a:solidFill>
                    <a:srgbClr val="FF0000"/>
                  </a:solidFill>
                </a:rPr>
                <a:t>Seperti saklar tertutup</a:t>
              </a:r>
              <a:endParaRPr lang="en-ID" sz="1400">
                <a:solidFill>
                  <a:srgbClr val="FF0000"/>
                </a:solidFill>
              </a:endParaRPr>
            </a:p>
          </p:txBody>
        </p:sp>
        <p:sp>
          <p:nvSpPr>
            <p:cNvPr id="65" name="Oval 64">
              <a:extLst>
                <a:ext uri="{FF2B5EF4-FFF2-40B4-BE49-F238E27FC236}">
                  <a16:creationId xmlns:a16="http://schemas.microsoft.com/office/drawing/2014/main" id="{04171A14-8F04-BC2A-B52B-7E012628C0DE}"/>
                </a:ext>
              </a:extLst>
            </p:cNvPr>
            <p:cNvSpPr/>
            <p:nvPr/>
          </p:nvSpPr>
          <p:spPr>
            <a:xfrm>
              <a:off x="5250817" y="4042394"/>
              <a:ext cx="312492" cy="414783"/>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cxnSp>
          <p:nvCxnSpPr>
            <p:cNvPr id="67" name="Straight Connector 66">
              <a:extLst>
                <a:ext uri="{FF2B5EF4-FFF2-40B4-BE49-F238E27FC236}">
                  <a16:creationId xmlns:a16="http://schemas.microsoft.com/office/drawing/2014/main" id="{C42047AC-743F-4151-D8C5-C7316C1539B4}"/>
                </a:ext>
              </a:extLst>
            </p:cNvPr>
            <p:cNvCxnSpPr>
              <a:cxnSpLocks/>
            </p:cNvCxnSpPr>
            <p:nvPr/>
          </p:nvCxnSpPr>
          <p:spPr>
            <a:xfrm>
              <a:off x="5477529" y="4025153"/>
              <a:ext cx="0" cy="43202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7" name="Group 86">
            <a:extLst>
              <a:ext uri="{FF2B5EF4-FFF2-40B4-BE49-F238E27FC236}">
                <a16:creationId xmlns:a16="http://schemas.microsoft.com/office/drawing/2014/main" id="{233F8858-A3FC-6753-5811-DBB81EEA3672}"/>
              </a:ext>
            </a:extLst>
          </p:cNvPr>
          <p:cNvGrpSpPr/>
          <p:nvPr/>
        </p:nvGrpSpPr>
        <p:grpSpPr>
          <a:xfrm>
            <a:off x="8775292" y="172766"/>
            <a:ext cx="3131563" cy="1993868"/>
            <a:chOff x="4984700" y="99897"/>
            <a:chExt cx="7640298" cy="5518847"/>
          </a:xfrm>
        </p:grpSpPr>
        <p:pic>
          <p:nvPicPr>
            <p:cNvPr id="88" name="Picture 87">
              <a:extLst>
                <a:ext uri="{FF2B5EF4-FFF2-40B4-BE49-F238E27FC236}">
                  <a16:creationId xmlns:a16="http://schemas.microsoft.com/office/drawing/2014/main" id="{182389EA-3D29-BC41-E146-1D835E71D5F4}"/>
                </a:ext>
              </a:extLst>
            </p:cNvPr>
            <p:cNvPicPr>
              <a:picLocks noChangeAspect="1"/>
            </p:cNvPicPr>
            <p:nvPr/>
          </p:nvPicPr>
          <p:blipFill>
            <a:blip r:embed="rId4"/>
            <a:stretch>
              <a:fillRect/>
            </a:stretch>
          </p:blipFill>
          <p:spPr>
            <a:xfrm>
              <a:off x="4984700" y="99897"/>
              <a:ext cx="7640298" cy="5518847"/>
            </a:xfrm>
            <a:prstGeom prst="rect">
              <a:avLst/>
            </a:prstGeom>
          </p:spPr>
        </p:pic>
        <p:sp>
          <p:nvSpPr>
            <p:cNvPr id="89" name="Rounded Rectangle 6">
              <a:extLst>
                <a:ext uri="{FF2B5EF4-FFF2-40B4-BE49-F238E27FC236}">
                  <a16:creationId xmlns:a16="http://schemas.microsoft.com/office/drawing/2014/main" id="{7D4C38CC-B4A2-EBE7-95B5-4AE78B0DB4FB}"/>
                </a:ext>
              </a:extLst>
            </p:cNvPr>
            <p:cNvSpPr/>
            <p:nvPr/>
          </p:nvSpPr>
          <p:spPr>
            <a:xfrm>
              <a:off x="7358743" y="805543"/>
              <a:ext cx="2895600" cy="446930"/>
            </a:xfrm>
            <a:prstGeom prst="round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ounded Rectangle 7">
              <a:extLst>
                <a:ext uri="{FF2B5EF4-FFF2-40B4-BE49-F238E27FC236}">
                  <a16:creationId xmlns:a16="http://schemas.microsoft.com/office/drawing/2014/main" id="{D56FEAFE-625B-04C2-AF88-FD78A0EBB029}"/>
                </a:ext>
              </a:extLst>
            </p:cNvPr>
            <p:cNvSpPr/>
            <p:nvPr/>
          </p:nvSpPr>
          <p:spPr>
            <a:xfrm>
              <a:off x="7565571" y="5148942"/>
              <a:ext cx="2046515" cy="293915"/>
            </a:xfrm>
            <a:prstGeom prst="round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ounded Rectangle 8">
              <a:extLst>
                <a:ext uri="{FF2B5EF4-FFF2-40B4-BE49-F238E27FC236}">
                  <a16:creationId xmlns:a16="http://schemas.microsoft.com/office/drawing/2014/main" id="{DEDF92E0-AD57-DF98-F874-F857835D37AE}"/>
                </a:ext>
              </a:extLst>
            </p:cNvPr>
            <p:cNvSpPr/>
            <p:nvPr/>
          </p:nvSpPr>
          <p:spPr>
            <a:xfrm>
              <a:off x="5323114" y="2307770"/>
              <a:ext cx="457200" cy="1665515"/>
            </a:xfrm>
            <a:prstGeom prst="round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2" name="TextBox 91">
            <a:extLst>
              <a:ext uri="{FF2B5EF4-FFF2-40B4-BE49-F238E27FC236}">
                <a16:creationId xmlns:a16="http://schemas.microsoft.com/office/drawing/2014/main" id="{324C925E-3DBE-6A5E-D472-8AD4722A6F0D}"/>
              </a:ext>
            </a:extLst>
          </p:cNvPr>
          <p:cNvSpPr txBox="1"/>
          <p:nvPr/>
        </p:nvSpPr>
        <p:spPr>
          <a:xfrm>
            <a:off x="9694828" y="5790950"/>
            <a:ext cx="1724274" cy="523220"/>
          </a:xfrm>
          <a:prstGeom prst="rect">
            <a:avLst/>
          </a:prstGeom>
          <a:noFill/>
        </p:spPr>
        <p:txBody>
          <a:bodyPr wrap="square" rtlCol="0">
            <a:spAutoFit/>
          </a:bodyPr>
          <a:lstStyle/>
          <a:p>
            <a:r>
              <a:rPr lang="en-US" sz="1400">
                <a:solidFill>
                  <a:srgbClr val="FF0000"/>
                </a:solidFill>
              </a:rPr>
              <a:t>Transistor di wilayah Cut-Off</a:t>
            </a:r>
            <a:endParaRPr lang="en-ID" sz="1400">
              <a:solidFill>
                <a:srgbClr val="FF0000"/>
              </a:solidFill>
            </a:endParaRPr>
          </a:p>
        </p:txBody>
      </p:sp>
      <p:cxnSp>
        <p:nvCxnSpPr>
          <p:cNvPr id="93" name="Straight Arrow Connector 92">
            <a:extLst>
              <a:ext uri="{FF2B5EF4-FFF2-40B4-BE49-F238E27FC236}">
                <a16:creationId xmlns:a16="http://schemas.microsoft.com/office/drawing/2014/main" id="{D71C9D3C-F344-D5F2-FBE0-E243BD1AA5ED}"/>
              </a:ext>
            </a:extLst>
          </p:cNvPr>
          <p:cNvCxnSpPr>
            <a:cxnSpLocks/>
            <a:stCxn id="92" idx="0"/>
          </p:cNvCxnSpPr>
          <p:nvPr/>
        </p:nvCxnSpPr>
        <p:spPr>
          <a:xfrm flipV="1">
            <a:off x="10556965" y="5307179"/>
            <a:ext cx="862137" cy="4837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6" name="Freeform: Shape 95">
            <a:extLst>
              <a:ext uri="{FF2B5EF4-FFF2-40B4-BE49-F238E27FC236}">
                <a16:creationId xmlns:a16="http://schemas.microsoft.com/office/drawing/2014/main" id="{5306B7A3-CDE4-5316-3CCB-730564814BC2}"/>
              </a:ext>
            </a:extLst>
          </p:cNvPr>
          <p:cNvSpPr/>
          <p:nvPr/>
        </p:nvSpPr>
        <p:spPr>
          <a:xfrm>
            <a:off x="5332794" y="3894939"/>
            <a:ext cx="2306320" cy="639733"/>
          </a:xfrm>
          <a:custGeom>
            <a:avLst/>
            <a:gdLst>
              <a:gd name="connsiteX0" fmla="*/ 0 w 2306320"/>
              <a:gd name="connsiteY0" fmla="*/ 568960 h 639733"/>
              <a:gd name="connsiteX1" fmla="*/ 1361440 w 2306320"/>
              <a:gd name="connsiteY1" fmla="*/ 589280 h 639733"/>
              <a:gd name="connsiteX2" fmla="*/ 2306320 w 2306320"/>
              <a:gd name="connsiteY2" fmla="*/ 0 h 639733"/>
            </a:gdLst>
            <a:ahLst/>
            <a:cxnLst>
              <a:cxn ang="0">
                <a:pos x="connsiteX0" y="connsiteY0"/>
              </a:cxn>
              <a:cxn ang="0">
                <a:pos x="connsiteX1" y="connsiteY1"/>
              </a:cxn>
              <a:cxn ang="0">
                <a:pos x="connsiteX2" y="connsiteY2"/>
              </a:cxn>
            </a:cxnLst>
            <a:rect l="l" t="t" r="r" b="b"/>
            <a:pathLst>
              <a:path w="2306320" h="639733">
                <a:moveTo>
                  <a:pt x="0" y="568960"/>
                </a:moveTo>
                <a:cubicBezTo>
                  <a:pt x="488526" y="626533"/>
                  <a:pt x="977053" y="684107"/>
                  <a:pt x="1361440" y="589280"/>
                </a:cubicBezTo>
                <a:cubicBezTo>
                  <a:pt x="1745827" y="494453"/>
                  <a:pt x="2026073" y="247226"/>
                  <a:pt x="2306320" y="0"/>
                </a:cubicBezTo>
              </a:path>
            </a:pathLst>
          </a:custGeom>
          <a:noFill/>
          <a:ln>
            <a:solidFill>
              <a:srgbClr val="FF0000"/>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97" name="Freeform: Shape 96">
            <a:extLst>
              <a:ext uri="{FF2B5EF4-FFF2-40B4-BE49-F238E27FC236}">
                <a16:creationId xmlns:a16="http://schemas.microsoft.com/office/drawing/2014/main" id="{C8028104-1A5A-3892-B28E-9F9CCE890CF3}"/>
              </a:ext>
            </a:extLst>
          </p:cNvPr>
          <p:cNvSpPr/>
          <p:nvPr/>
        </p:nvSpPr>
        <p:spPr>
          <a:xfrm>
            <a:off x="1888554" y="4555339"/>
            <a:ext cx="9448800" cy="1514754"/>
          </a:xfrm>
          <a:custGeom>
            <a:avLst/>
            <a:gdLst>
              <a:gd name="connsiteX0" fmla="*/ 0 w 9448800"/>
              <a:gd name="connsiteY0" fmla="*/ 0 h 1514754"/>
              <a:gd name="connsiteX1" fmla="*/ 2580640 w 9448800"/>
              <a:gd name="connsiteY1" fmla="*/ 1493520 h 1514754"/>
              <a:gd name="connsiteX2" fmla="*/ 9448800 w 9448800"/>
              <a:gd name="connsiteY2" fmla="*/ 741680 h 1514754"/>
            </a:gdLst>
            <a:ahLst/>
            <a:cxnLst>
              <a:cxn ang="0">
                <a:pos x="connsiteX0" y="connsiteY0"/>
              </a:cxn>
              <a:cxn ang="0">
                <a:pos x="connsiteX1" y="connsiteY1"/>
              </a:cxn>
              <a:cxn ang="0">
                <a:pos x="connsiteX2" y="connsiteY2"/>
              </a:cxn>
            </a:cxnLst>
            <a:rect l="l" t="t" r="r" b="b"/>
            <a:pathLst>
              <a:path w="9448800" h="1514754">
                <a:moveTo>
                  <a:pt x="0" y="0"/>
                </a:moveTo>
                <a:cubicBezTo>
                  <a:pt x="502920" y="684953"/>
                  <a:pt x="1005840" y="1369907"/>
                  <a:pt x="2580640" y="1493520"/>
                </a:cubicBezTo>
                <a:cubicBezTo>
                  <a:pt x="4155440" y="1617133"/>
                  <a:pt x="6802120" y="1179406"/>
                  <a:pt x="9448800" y="741680"/>
                </a:cubicBezTo>
              </a:path>
            </a:pathLst>
          </a:custGeom>
          <a:noFill/>
          <a:ln>
            <a:solidFill>
              <a:srgbClr val="FF0000"/>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01" name="TextBox 100">
            <a:extLst>
              <a:ext uri="{FF2B5EF4-FFF2-40B4-BE49-F238E27FC236}">
                <a16:creationId xmlns:a16="http://schemas.microsoft.com/office/drawing/2014/main" id="{D03F8BA9-2752-2B82-EB76-578768CAAD17}"/>
              </a:ext>
            </a:extLst>
          </p:cNvPr>
          <p:cNvSpPr txBox="1"/>
          <p:nvPr/>
        </p:nvSpPr>
        <p:spPr>
          <a:xfrm>
            <a:off x="10931348" y="4887536"/>
            <a:ext cx="975507" cy="307777"/>
          </a:xfrm>
          <a:prstGeom prst="rect">
            <a:avLst/>
          </a:prstGeom>
          <a:noFill/>
        </p:spPr>
        <p:txBody>
          <a:bodyPr wrap="square" rtlCol="0">
            <a:spAutoFit/>
          </a:bodyPr>
          <a:lstStyle/>
          <a:p>
            <a:r>
              <a:rPr lang="en-US" sz="1400"/>
              <a:t>(0,Vcemax)</a:t>
            </a:r>
            <a:endParaRPr lang="en-ID" sz="1400"/>
          </a:p>
        </p:txBody>
      </p:sp>
      <p:sp>
        <p:nvSpPr>
          <p:cNvPr id="102" name="TextBox 101">
            <a:extLst>
              <a:ext uri="{FF2B5EF4-FFF2-40B4-BE49-F238E27FC236}">
                <a16:creationId xmlns:a16="http://schemas.microsoft.com/office/drawing/2014/main" id="{89744CF7-8E24-C189-AAB7-88FF4ADFC26F}"/>
              </a:ext>
            </a:extLst>
          </p:cNvPr>
          <p:cNvSpPr txBox="1"/>
          <p:nvPr/>
        </p:nvSpPr>
        <p:spPr>
          <a:xfrm>
            <a:off x="7755156" y="3536749"/>
            <a:ext cx="1043405" cy="307777"/>
          </a:xfrm>
          <a:prstGeom prst="rect">
            <a:avLst/>
          </a:prstGeom>
          <a:noFill/>
        </p:spPr>
        <p:txBody>
          <a:bodyPr wrap="square" rtlCol="0">
            <a:spAutoFit/>
          </a:bodyPr>
          <a:lstStyle/>
          <a:p>
            <a:r>
              <a:rPr lang="en-US" sz="1400"/>
              <a:t>(0,Icmax)</a:t>
            </a:r>
            <a:endParaRPr lang="en-ID" sz="1400"/>
          </a:p>
        </p:txBody>
      </p:sp>
      <p:sp>
        <p:nvSpPr>
          <p:cNvPr id="7" name="TextBox 6">
            <a:extLst>
              <a:ext uri="{FF2B5EF4-FFF2-40B4-BE49-F238E27FC236}">
                <a16:creationId xmlns:a16="http://schemas.microsoft.com/office/drawing/2014/main" id="{048F052D-A284-965B-163A-84110F8F0723}"/>
              </a:ext>
            </a:extLst>
          </p:cNvPr>
          <p:cNvSpPr txBox="1"/>
          <p:nvPr/>
        </p:nvSpPr>
        <p:spPr>
          <a:xfrm>
            <a:off x="1046654" y="6149609"/>
            <a:ext cx="4195989" cy="307777"/>
          </a:xfrm>
          <a:prstGeom prst="rect">
            <a:avLst/>
          </a:prstGeom>
          <a:noFill/>
        </p:spPr>
        <p:txBody>
          <a:bodyPr wrap="square" rtlCol="0">
            <a:spAutoFit/>
          </a:bodyPr>
          <a:lstStyle/>
          <a:p>
            <a:r>
              <a:rPr lang="en-US" sz="1400"/>
              <a:t>Catatan: Icmax dan Vcemax disini adalah </a:t>
            </a:r>
            <a:endParaRPr lang="en-ID" sz="1400"/>
          </a:p>
        </p:txBody>
      </p:sp>
    </p:spTree>
    <p:extLst>
      <p:ext uri="{BB962C8B-B14F-4D97-AF65-F5344CB8AC3E}">
        <p14:creationId xmlns:p14="http://schemas.microsoft.com/office/powerpoint/2010/main" val="991144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CD230-75CF-3AF5-DD1B-3CE3ECC464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DD247B-26C4-4BDF-FEFA-6018CF04957A}"/>
              </a:ext>
            </a:extLst>
          </p:cNvPr>
          <p:cNvSpPr>
            <a:spLocks noGrp="1"/>
          </p:cNvSpPr>
          <p:nvPr>
            <p:ph type="title"/>
          </p:nvPr>
        </p:nvSpPr>
        <p:spPr>
          <a:xfrm>
            <a:off x="838200" y="365126"/>
            <a:ext cx="10515600" cy="603986"/>
          </a:xfrm>
        </p:spPr>
        <p:txBody>
          <a:bodyPr>
            <a:normAutofit fontScale="90000"/>
          </a:bodyPr>
          <a:lstStyle/>
          <a:p>
            <a:r>
              <a:rPr lang="en-US"/>
              <a:t>Persamaan Transistor saat OFF dan ON</a:t>
            </a:r>
            <a:endParaRPr lang="en-ID"/>
          </a:p>
        </p:txBody>
      </p:sp>
      <p:sp>
        <p:nvSpPr>
          <p:cNvPr id="10" name="TextBox 9">
            <a:extLst>
              <a:ext uri="{FF2B5EF4-FFF2-40B4-BE49-F238E27FC236}">
                <a16:creationId xmlns:a16="http://schemas.microsoft.com/office/drawing/2014/main" id="{EACF0F07-574B-A7AE-5C00-1895FAD237EA}"/>
              </a:ext>
            </a:extLst>
          </p:cNvPr>
          <p:cNvSpPr txBox="1"/>
          <p:nvPr/>
        </p:nvSpPr>
        <p:spPr>
          <a:xfrm>
            <a:off x="2470081" y="1143782"/>
            <a:ext cx="2225732" cy="369332"/>
          </a:xfrm>
          <a:prstGeom prst="rect">
            <a:avLst/>
          </a:prstGeom>
          <a:noFill/>
        </p:spPr>
        <p:txBody>
          <a:bodyPr wrap="square">
            <a:spAutoFit/>
          </a:bodyPr>
          <a:lstStyle/>
          <a:p>
            <a:r>
              <a:rPr lang="en-US"/>
              <a:t>Transistor saat OFF </a:t>
            </a:r>
            <a:endParaRPr lang="en-ID"/>
          </a:p>
        </p:txBody>
      </p:sp>
      <p:sp>
        <p:nvSpPr>
          <p:cNvPr id="11" name="TextBox 10">
            <a:extLst>
              <a:ext uri="{FF2B5EF4-FFF2-40B4-BE49-F238E27FC236}">
                <a16:creationId xmlns:a16="http://schemas.microsoft.com/office/drawing/2014/main" id="{389924F9-B102-C64F-07B1-548634EC4AA2}"/>
              </a:ext>
            </a:extLst>
          </p:cNvPr>
          <p:cNvSpPr txBox="1"/>
          <p:nvPr/>
        </p:nvSpPr>
        <p:spPr>
          <a:xfrm>
            <a:off x="7184947" y="1154211"/>
            <a:ext cx="2225732" cy="369332"/>
          </a:xfrm>
          <a:prstGeom prst="rect">
            <a:avLst/>
          </a:prstGeom>
          <a:noFill/>
        </p:spPr>
        <p:txBody>
          <a:bodyPr wrap="square">
            <a:spAutoFit/>
          </a:bodyPr>
          <a:lstStyle/>
          <a:p>
            <a:r>
              <a:rPr lang="en-US"/>
              <a:t>Transistor saat ON </a:t>
            </a:r>
            <a:endParaRPr lang="en-ID"/>
          </a:p>
        </p:txBody>
      </p:sp>
      <p:sp>
        <p:nvSpPr>
          <p:cNvPr id="12" name="TextBox 11">
            <a:extLst>
              <a:ext uri="{FF2B5EF4-FFF2-40B4-BE49-F238E27FC236}">
                <a16:creationId xmlns:a16="http://schemas.microsoft.com/office/drawing/2014/main" id="{7A419FF9-7C23-3F96-7EFE-BB8F07E4C75D}"/>
              </a:ext>
            </a:extLst>
          </p:cNvPr>
          <p:cNvSpPr txBox="1"/>
          <p:nvPr/>
        </p:nvSpPr>
        <p:spPr>
          <a:xfrm>
            <a:off x="2046252" y="4866914"/>
            <a:ext cx="2225732" cy="646331"/>
          </a:xfrm>
          <a:prstGeom prst="rect">
            <a:avLst/>
          </a:prstGeom>
          <a:noFill/>
        </p:spPr>
        <p:txBody>
          <a:bodyPr wrap="square">
            <a:spAutoFit/>
          </a:bodyPr>
          <a:lstStyle/>
          <a:p>
            <a:pPr marL="285750" indent="-285750">
              <a:buFont typeface="Wingdings" panose="05000000000000000000" pitchFamily="2" charset="2"/>
              <a:buChar char="è"/>
            </a:pPr>
            <a:r>
              <a:rPr lang="en-US"/>
              <a:t>Vce=Vcemax=Vcc</a:t>
            </a:r>
          </a:p>
          <a:p>
            <a:pPr marL="285750" indent="-285750">
              <a:buFont typeface="Wingdings" panose="05000000000000000000" pitchFamily="2" charset="2"/>
              <a:buChar char="è"/>
            </a:pPr>
            <a:r>
              <a:rPr lang="en-US"/>
              <a:t>Ic=0</a:t>
            </a:r>
            <a:endParaRPr lang="en-ID"/>
          </a:p>
        </p:txBody>
      </p:sp>
      <p:sp>
        <p:nvSpPr>
          <p:cNvPr id="13" name="TextBox 12">
            <a:extLst>
              <a:ext uri="{FF2B5EF4-FFF2-40B4-BE49-F238E27FC236}">
                <a16:creationId xmlns:a16="http://schemas.microsoft.com/office/drawing/2014/main" id="{031E9AEC-67B9-008B-CA73-FF68F75991AE}"/>
              </a:ext>
            </a:extLst>
          </p:cNvPr>
          <p:cNvSpPr txBox="1"/>
          <p:nvPr/>
        </p:nvSpPr>
        <p:spPr>
          <a:xfrm>
            <a:off x="7132886" y="4866914"/>
            <a:ext cx="3939407" cy="646331"/>
          </a:xfrm>
          <a:prstGeom prst="rect">
            <a:avLst/>
          </a:prstGeom>
          <a:noFill/>
        </p:spPr>
        <p:txBody>
          <a:bodyPr wrap="square">
            <a:spAutoFit/>
          </a:bodyPr>
          <a:lstStyle/>
          <a:p>
            <a:pPr marL="285750" indent="-285750">
              <a:buFont typeface="Wingdings" panose="05000000000000000000" pitchFamily="2" charset="2"/>
              <a:buChar char="è"/>
            </a:pPr>
            <a:r>
              <a:rPr lang="en-US"/>
              <a:t>Vce=0</a:t>
            </a:r>
          </a:p>
          <a:p>
            <a:pPr marL="285750" indent="-285750">
              <a:buFont typeface="Wingdings" panose="05000000000000000000" pitchFamily="2" charset="2"/>
              <a:buChar char="è"/>
            </a:pPr>
            <a:r>
              <a:rPr lang="en-US"/>
              <a:t>Ic=Icmax</a:t>
            </a:r>
          </a:p>
        </p:txBody>
      </p:sp>
      <p:sp>
        <p:nvSpPr>
          <p:cNvPr id="18" name="Content Placeholder 2">
            <a:extLst>
              <a:ext uri="{FF2B5EF4-FFF2-40B4-BE49-F238E27FC236}">
                <a16:creationId xmlns:a16="http://schemas.microsoft.com/office/drawing/2014/main" id="{80B212AA-C623-1C93-BA5C-A0212BCF2515}"/>
              </a:ext>
            </a:extLst>
          </p:cNvPr>
          <p:cNvSpPr>
            <a:spLocks noGrp="1"/>
          </p:cNvSpPr>
          <p:nvPr>
            <p:ph idx="1"/>
          </p:nvPr>
        </p:nvSpPr>
        <p:spPr>
          <a:xfrm>
            <a:off x="3691385" y="6113314"/>
            <a:ext cx="4356159" cy="567554"/>
          </a:xfrm>
        </p:spPr>
        <p:txBody>
          <a:bodyPr>
            <a:noAutofit/>
          </a:bodyPr>
          <a:lstStyle/>
          <a:p>
            <a:pPr marL="0" indent="0">
              <a:buNone/>
            </a:pPr>
            <a:r>
              <a:rPr lang="en-US" sz="2000"/>
              <a:t>Persamaan output:</a:t>
            </a:r>
            <a:r>
              <a:rPr lang="en-US" sz="2000">
                <a:sym typeface="Wingdings" panose="05000000000000000000" pitchFamily="2" charset="2"/>
              </a:rPr>
              <a:t> </a:t>
            </a:r>
            <a:r>
              <a:rPr lang="en-US" sz="2000"/>
              <a:t>Ic=(Vcc-Vce)/Rc</a:t>
            </a:r>
          </a:p>
        </p:txBody>
      </p:sp>
      <p:grpSp>
        <p:nvGrpSpPr>
          <p:cNvPr id="21" name="Group 20">
            <a:extLst>
              <a:ext uri="{FF2B5EF4-FFF2-40B4-BE49-F238E27FC236}">
                <a16:creationId xmlns:a16="http://schemas.microsoft.com/office/drawing/2014/main" id="{A83207EE-D13B-1BB4-24BB-8BB26D526EB3}"/>
              </a:ext>
            </a:extLst>
          </p:cNvPr>
          <p:cNvGrpSpPr/>
          <p:nvPr/>
        </p:nvGrpSpPr>
        <p:grpSpPr>
          <a:xfrm>
            <a:off x="1950614" y="1649276"/>
            <a:ext cx="3244511" cy="2925041"/>
            <a:chOff x="584517" y="2769297"/>
            <a:chExt cx="3244511" cy="2925041"/>
          </a:xfrm>
        </p:grpSpPr>
        <p:grpSp>
          <p:nvGrpSpPr>
            <p:cNvPr id="24" name="Group 23">
              <a:extLst>
                <a:ext uri="{FF2B5EF4-FFF2-40B4-BE49-F238E27FC236}">
                  <a16:creationId xmlns:a16="http://schemas.microsoft.com/office/drawing/2014/main" id="{2C998969-487E-8E8F-6AA1-09E7F5A85C76}"/>
                </a:ext>
              </a:extLst>
            </p:cNvPr>
            <p:cNvGrpSpPr/>
            <p:nvPr/>
          </p:nvGrpSpPr>
          <p:grpSpPr>
            <a:xfrm>
              <a:off x="628322" y="2769297"/>
              <a:ext cx="3177056" cy="2925041"/>
              <a:chOff x="1435584" y="2496783"/>
              <a:chExt cx="3769606" cy="3528871"/>
            </a:xfrm>
          </p:grpSpPr>
          <p:pic>
            <p:nvPicPr>
              <p:cNvPr id="33" name="Picture 32">
                <a:extLst>
                  <a:ext uri="{FF2B5EF4-FFF2-40B4-BE49-F238E27FC236}">
                    <a16:creationId xmlns:a16="http://schemas.microsoft.com/office/drawing/2014/main" id="{1C432686-710C-4C0E-4456-D230D69616FF}"/>
                  </a:ext>
                </a:extLst>
              </p:cNvPr>
              <p:cNvPicPr>
                <a:picLocks noChangeAspect="1"/>
              </p:cNvPicPr>
              <p:nvPr/>
            </p:nvPicPr>
            <p:blipFill>
              <a:blip r:embed="rId2"/>
              <a:stretch>
                <a:fillRect/>
              </a:stretch>
            </p:blipFill>
            <p:spPr>
              <a:xfrm>
                <a:off x="1435584" y="2496783"/>
                <a:ext cx="3769606" cy="3313412"/>
              </a:xfrm>
              <a:prstGeom prst="rect">
                <a:avLst/>
              </a:prstGeom>
            </p:spPr>
          </p:pic>
          <p:sp>
            <p:nvSpPr>
              <p:cNvPr id="34" name="TextBox 33">
                <a:extLst>
                  <a:ext uri="{FF2B5EF4-FFF2-40B4-BE49-F238E27FC236}">
                    <a16:creationId xmlns:a16="http://schemas.microsoft.com/office/drawing/2014/main" id="{2F2A566E-5ABE-8656-235C-77475F84B047}"/>
                  </a:ext>
                </a:extLst>
              </p:cNvPr>
              <p:cNvSpPr txBox="1"/>
              <p:nvPr/>
            </p:nvSpPr>
            <p:spPr>
              <a:xfrm>
                <a:off x="1723648" y="2670008"/>
                <a:ext cx="292068" cy="338554"/>
              </a:xfrm>
              <a:prstGeom prst="rect">
                <a:avLst/>
              </a:prstGeom>
              <a:noFill/>
            </p:spPr>
            <p:txBody>
              <a:bodyPr wrap="none" rtlCol="0">
                <a:spAutoFit/>
              </a:bodyPr>
              <a:lstStyle/>
              <a:p>
                <a:r>
                  <a:rPr lang="en-US" sz="1600"/>
                  <a:t>q</a:t>
                </a:r>
                <a:endParaRPr lang="en-ID" sz="1600"/>
              </a:p>
            </p:txBody>
          </p:sp>
          <p:cxnSp>
            <p:nvCxnSpPr>
              <p:cNvPr id="35" name="Straight Connector 34">
                <a:extLst>
                  <a:ext uri="{FF2B5EF4-FFF2-40B4-BE49-F238E27FC236}">
                    <a16:creationId xmlns:a16="http://schemas.microsoft.com/office/drawing/2014/main" id="{B9C8D966-6592-5EDF-F7C7-2F32EAA3A60B}"/>
                  </a:ext>
                </a:extLst>
              </p:cNvPr>
              <p:cNvCxnSpPr>
                <a:cxnSpLocks/>
              </p:cNvCxnSpPr>
              <p:nvPr/>
            </p:nvCxnSpPr>
            <p:spPr>
              <a:xfrm>
                <a:off x="3172350" y="5680986"/>
                <a:ext cx="0" cy="19878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707CFF68-2479-C4AC-3D69-E7763747690F}"/>
                  </a:ext>
                </a:extLst>
              </p:cNvPr>
              <p:cNvCxnSpPr>
                <a:cxnSpLocks/>
              </p:cNvCxnSpPr>
              <p:nvPr/>
            </p:nvCxnSpPr>
            <p:spPr>
              <a:xfrm flipH="1" flipV="1">
                <a:off x="2994371" y="5889710"/>
                <a:ext cx="355958" cy="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808F1F35-6378-F7FB-27DC-544AB8740E00}"/>
                  </a:ext>
                </a:extLst>
              </p:cNvPr>
              <p:cNvCxnSpPr>
                <a:cxnSpLocks/>
              </p:cNvCxnSpPr>
              <p:nvPr/>
            </p:nvCxnSpPr>
            <p:spPr>
              <a:xfrm flipH="1">
                <a:off x="3070571" y="5959284"/>
                <a:ext cx="20355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696B489C-887E-EB94-966C-FB772DC1BFAF}"/>
                  </a:ext>
                </a:extLst>
              </p:cNvPr>
              <p:cNvCxnSpPr>
                <a:cxnSpLocks/>
              </p:cNvCxnSpPr>
              <p:nvPr/>
            </p:nvCxnSpPr>
            <p:spPr>
              <a:xfrm flipH="1">
                <a:off x="3108671" y="6025654"/>
                <a:ext cx="12735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97E99D3B-A81D-450E-5CC2-048C0F19E946}"/>
                  </a:ext>
                </a:extLst>
              </p:cNvPr>
              <p:cNvSpPr txBox="1"/>
              <p:nvPr/>
            </p:nvSpPr>
            <p:spPr>
              <a:xfrm>
                <a:off x="4909117" y="5441823"/>
                <a:ext cx="288862" cy="338554"/>
              </a:xfrm>
              <a:prstGeom prst="rect">
                <a:avLst/>
              </a:prstGeom>
              <a:noFill/>
            </p:spPr>
            <p:txBody>
              <a:bodyPr wrap="none" rtlCol="0">
                <a:spAutoFit/>
              </a:bodyPr>
              <a:lstStyle/>
              <a:p>
                <a:r>
                  <a:rPr lang="en-US" sz="1600"/>
                  <a:t>0</a:t>
                </a:r>
                <a:endParaRPr lang="en-ID" sz="1600"/>
              </a:p>
            </p:txBody>
          </p:sp>
          <p:sp>
            <p:nvSpPr>
              <p:cNvPr id="46" name="Rectangle 45">
                <a:extLst>
                  <a:ext uri="{FF2B5EF4-FFF2-40B4-BE49-F238E27FC236}">
                    <a16:creationId xmlns:a16="http://schemas.microsoft.com/office/drawing/2014/main" id="{7886F183-3FA3-E8F3-00BD-FC499EB3415C}"/>
                  </a:ext>
                </a:extLst>
              </p:cNvPr>
              <p:cNvSpPr/>
              <p:nvPr/>
            </p:nvSpPr>
            <p:spPr>
              <a:xfrm>
                <a:off x="1435584" y="2600433"/>
                <a:ext cx="199547" cy="31799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60" name="Rectangle 59">
                <a:extLst>
                  <a:ext uri="{FF2B5EF4-FFF2-40B4-BE49-F238E27FC236}">
                    <a16:creationId xmlns:a16="http://schemas.microsoft.com/office/drawing/2014/main" id="{6A7F8EEC-3D99-F1EF-6CDC-9503129833AF}"/>
                  </a:ext>
                </a:extLst>
              </p:cNvPr>
              <p:cNvSpPr/>
              <p:nvPr/>
            </p:nvSpPr>
            <p:spPr>
              <a:xfrm>
                <a:off x="1534160" y="2670008"/>
                <a:ext cx="412910" cy="131420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grpSp>
        <p:sp>
          <p:nvSpPr>
            <p:cNvPr id="25" name="TextBox 24">
              <a:extLst>
                <a:ext uri="{FF2B5EF4-FFF2-40B4-BE49-F238E27FC236}">
                  <a16:creationId xmlns:a16="http://schemas.microsoft.com/office/drawing/2014/main" id="{AE9341EE-3F51-AAB5-A845-69E9F8AA667A}"/>
                </a:ext>
              </a:extLst>
            </p:cNvPr>
            <p:cNvSpPr txBox="1"/>
            <p:nvPr/>
          </p:nvSpPr>
          <p:spPr>
            <a:xfrm>
              <a:off x="2325288" y="3402761"/>
              <a:ext cx="405880" cy="307777"/>
            </a:xfrm>
            <a:prstGeom prst="rect">
              <a:avLst/>
            </a:prstGeom>
            <a:noFill/>
          </p:spPr>
          <p:txBody>
            <a:bodyPr wrap="none" rtlCol="0">
              <a:spAutoFit/>
            </a:bodyPr>
            <a:lstStyle/>
            <a:p>
              <a:r>
                <a:rPr lang="en-US" sz="1400">
                  <a:solidFill>
                    <a:srgbClr val="FF0000"/>
                  </a:solidFill>
                </a:rPr>
                <a:t>= 0</a:t>
              </a:r>
              <a:endParaRPr lang="en-ID" sz="1400">
                <a:solidFill>
                  <a:srgbClr val="FF0000"/>
                </a:solidFill>
              </a:endParaRPr>
            </a:p>
          </p:txBody>
        </p:sp>
        <p:cxnSp>
          <p:nvCxnSpPr>
            <p:cNvPr id="26" name="Straight Arrow Connector 25">
              <a:extLst>
                <a:ext uri="{FF2B5EF4-FFF2-40B4-BE49-F238E27FC236}">
                  <a16:creationId xmlns:a16="http://schemas.microsoft.com/office/drawing/2014/main" id="{B9657473-8D90-1DE1-03FA-17FACBC70A4A}"/>
                </a:ext>
              </a:extLst>
            </p:cNvPr>
            <p:cNvCxnSpPr/>
            <p:nvPr/>
          </p:nvCxnSpPr>
          <p:spPr>
            <a:xfrm>
              <a:off x="1281540" y="3587427"/>
              <a:ext cx="536673" cy="4147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9ACD7F17-E4BC-42AA-1B3C-92E3B8B8ABB0}"/>
                </a:ext>
              </a:extLst>
            </p:cNvPr>
            <p:cNvSpPr txBox="1"/>
            <p:nvPr/>
          </p:nvSpPr>
          <p:spPr>
            <a:xfrm>
              <a:off x="584517" y="3026943"/>
              <a:ext cx="949780" cy="738664"/>
            </a:xfrm>
            <a:prstGeom prst="rect">
              <a:avLst/>
            </a:prstGeom>
            <a:noFill/>
          </p:spPr>
          <p:txBody>
            <a:bodyPr wrap="square" rtlCol="0">
              <a:spAutoFit/>
            </a:bodyPr>
            <a:lstStyle/>
            <a:p>
              <a:r>
                <a:rPr lang="en-US" sz="1400">
                  <a:solidFill>
                    <a:srgbClr val="FF0000"/>
                  </a:solidFill>
                </a:rPr>
                <a:t>Seperti saklar terbuka</a:t>
              </a:r>
              <a:endParaRPr lang="en-ID" sz="1400">
                <a:solidFill>
                  <a:srgbClr val="FF0000"/>
                </a:solidFill>
              </a:endParaRPr>
            </a:p>
          </p:txBody>
        </p:sp>
        <p:sp>
          <p:nvSpPr>
            <p:cNvPr id="28" name="TextBox 27">
              <a:extLst>
                <a:ext uri="{FF2B5EF4-FFF2-40B4-BE49-F238E27FC236}">
                  <a16:creationId xmlns:a16="http://schemas.microsoft.com/office/drawing/2014/main" id="{6ACB1F33-6DA1-B36D-3CD1-3197ABC4492A}"/>
                </a:ext>
              </a:extLst>
            </p:cNvPr>
            <p:cNvSpPr txBox="1"/>
            <p:nvPr/>
          </p:nvSpPr>
          <p:spPr>
            <a:xfrm>
              <a:off x="2615747" y="4379014"/>
              <a:ext cx="1213281" cy="307777"/>
            </a:xfrm>
            <a:prstGeom prst="rect">
              <a:avLst/>
            </a:prstGeom>
            <a:noFill/>
          </p:spPr>
          <p:txBody>
            <a:bodyPr wrap="none" rtlCol="0">
              <a:spAutoFit/>
            </a:bodyPr>
            <a:lstStyle/>
            <a:p>
              <a:r>
                <a:rPr lang="en-US" sz="1400">
                  <a:solidFill>
                    <a:srgbClr val="FF0000"/>
                  </a:solidFill>
                </a:rPr>
                <a:t>=Vcemax=Vcc</a:t>
              </a:r>
              <a:endParaRPr lang="en-ID" sz="1400">
                <a:solidFill>
                  <a:srgbClr val="FF0000"/>
                </a:solidFill>
              </a:endParaRPr>
            </a:p>
          </p:txBody>
        </p:sp>
        <p:sp>
          <p:nvSpPr>
            <p:cNvPr id="29" name="Oval 28">
              <a:extLst>
                <a:ext uri="{FF2B5EF4-FFF2-40B4-BE49-F238E27FC236}">
                  <a16:creationId xmlns:a16="http://schemas.microsoft.com/office/drawing/2014/main" id="{6AB892FE-0BAA-4072-FA7A-CEE2360E5AE1}"/>
                </a:ext>
              </a:extLst>
            </p:cNvPr>
            <p:cNvSpPr/>
            <p:nvPr/>
          </p:nvSpPr>
          <p:spPr>
            <a:xfrm>
              <a:off x="1785835" y="4045167"/>
              <a:ext cx="312492" cy="414783"/>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cxnSp>
          <p:nvCxnSpPr>
            <p:cNvPr id="30" name="Straight Connector 29">
              <a:extLst>
                <a:ext uri="{FF2B5EF4-FFF2-40B4-BE49-F238E27FC236}">
                  <a16:creationId xmlns:a16="http://schemas.microsoft.com/office/drawing/2014/main" id="{4F548340-395F-8D55-3B02-14959B234D78}"/>
                </a:ext>
              </a:extLst>
            </p:cNvPr>
            <p:cNvCxnSpPr>
              <a:cxnSpLocks/>
            </p:cNvCxnSpPr>
            <p:nvPr/>
          </p:nvCxnSpPr>
          <p:spPr>
            <a:xfrm flipH="1">
              <a:off x="1818213" y="4045167"/>
              <a:ext cx="189379" cy="41478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2" name="Group 61">
            <a:extLst>
              <a:ext uri="{FF2B5EF4-FFF2-40B4-BE49-F238E27FC236}">
                <a16:creationId xmlns:a16="http://schemas.microsoft.com/office/drawing/2014/main" id="{B00ECDE0-9D1C-E5A7-09D0-465C854FF074}"/>
              </a:ext>
            </a:extLst>
          </p:cNvPr>
          <p:cNvGrpSpPr/>
          <p:nvPr/>
        </p:nvGrpSpPr>
        <p:grpSpPr>
          <a:xfrm>
            <a:off x="6665480" y="1654556"/>
            <a:ext cx="3220861" cy="2925041"/>
            <a:chOff x="4055743" y="2771277"/>
            <a:chExt cx="3220861" cy="2925041"/>
          </a:xfrm>
        </p:grpSpPr>
        <p:grpSp>
          <p:nvGrpSpPr>
            <p:cNvPr id="68" name="Group 67">
              <a:extLst>
                <a:ext uri="{FF2B5EF4-FFF2-40B4-BE49-F238E27FC236}">
                  <a16:creationId xmlns:a16="http://schemas.microsoft.com/office/drawing/2014/main" id="{6D176756-1ECE-DEF7-08F1-E865B98739FA}"/>
                </a:ext>
              </a:extLst>
            </p:cNvPr>
            <p:cNvGrpSpPr/>
            <p:nvPr/>
          </p:nvGrpSpPr>
          <p:grpSpPr>
            <a:xfrm>
              <a:off x="4099548" y="2771277"/>
              <a:ext cx="3177056" cy="2925041"/>
              <a:chOff x="1435584" y="2496783"/>
              <a:chExt cx="3769606" cy="3528871"/>
            </a:xfrm>
          </p:grpSpPr>
          <p:pic>
            <p:nvPicPr>
              <p:cNvPr id="103" name="Picture 102">
                <a:extLst>
                  <a:ext uri="{FF2B5EF4-FFF2-40B4-BE49-F238E27FC236}">
                    <a16:creationId xmlns:a16="http://schemas.microsoft.com/office/drawing/2014/main" id="{5AA546EC-EE5D-DF8D-D8F2-0BBCCDA188F1}"/>
                  </a:ext>
                </a:extLst>
              </p:cNvPr>
              <p:cNvPicPr>
                <a:picLocks noChangeAspect="1"/>
              </p:cNvPicPr>
              <p:nvPr/>
            </p:nvPicPr>
            <p:blipFill>
              <a:blip r:embed="rId2"/>
              <a:stretch>
                <a:fillRect/>
              </a:stretch>
            </p:blipFill>
            <p:spPr>
              <a:xfrm>
                <a:off x="1435584" y="2496783"/>
                <a:ext cx="3769606" cy="3313412"/>
              </a:xfrm>
              <a:prstGeom prst="rect">
                <a:avLst/>
              </a:prstGeom>
            </p:spPr>
          </p:pic>
          <p:sp>
            <p:nvSpPr>
              <p:cNvPr id="104" name="TextBox 103">
                <a:extLst>
                  <a:ext uri="{FF2B5EF4-FFF2-40B4-BE49-F238E27FC236}">
                    <a16:creationId xmlns:a16="http://schemas.microsoft.com/office/drawing/2014/main" id="{FB574BB7-ECA0-B873-0566-1395AFFAD5A0}"/>
                  </a:ext>
                </a:extLst>
              </p:cNvPr>
              <p:cNvSpPr txBox="1"/>
              <p:nvPr/>
            </p:nvSpPr>
            <p:spPr>
              <a:xfrm>
                <a:off x="1723648" y="2670008"/>
                <a:ext cx="292068" cy="338554"/>
              </a:xfrm>
              <a:prstGeom prst="rect">
                <a:avLst/>
              </a:prstGeom>
              <a:noFill/>
            </p:spPr>
            <p:txBody>
              <a:bodyPr wrap="none" rtlCol="0">
                <a:spAutoFit/>
              </a:bodyPr>
              <a:lstStyle/>
              <a:p>
                <a:r>
                  <a:rPr lang="en-US" sz="1600"/>
                  <a:t>q</a:t>
                </a:r>
                <a:endParaRPr lang="en-ID" sz="1600"/>
              </a:p>
            </p:txBody>
          </p:sp>
          <p:cxnSp>
            <p:nvCxnSpPr>
              <p:cNvPr id="105" name="Straight Connector 104">
                <a:extLst>
                  <a:ext uri="{FF2B5EF4-FFF2-40B4-BE49-F238E27FC236}">
                    <a16:creationId xmlns:a16="http://schemas.microsoft.com/office/drawing/2014/main" id="{B1D2E004-D77E-3A7D-14D7-5D96E832895D}"/>
                  </a:ext>
                </a:extLst>
              </p:cNvPr>
              <p:cNvCxnSpPr>
                <a:cxnSpLocks/>
              </p:cNvCxnSpPr>
              <p:nvPr/>
            </p:nvCxnSpPr>
            <p:spPr>
              <a:xfrm>
                <a:off x="3172350" y="5680986"/>
                <a:ext cx="0" cy="19878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93D20EC9-68BB-6A44-74F6-2F6A6E325794}"/>
                  </a:ext>
                </a:extLst>
              </p:cNvPr>
              <p:cNvCxnSpPr>
                <a:cxnSpLocks/>
              </p:cNvCxnSpPr>
              <p:nvPr/>
            </p:nvCxnSpPr>
            <p:spPr>
              <a:xfrm flipH="1" flipV="1">
                <a:off x="2994371" y="5889710"/>
                <a:ext cx="355958" cy="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571C0A2A-499D-8F2D-71EF-39184C89841F}"/>
                  </a:ext>
                </a:extLst>
              </p:cNvPr>
              <p:cNvCxnSpPr>
                <a:cxnSpLocks/>
              </p:cNvCxnSpPr>
              <p:nvPr/>
            </p:nvCxnSpPr>
            <p:spPr>
              <a:xfrm flipH="1">
                <a:off x="3070571" y="5959284"/>
                <a:ext cx="20355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D0FB3F2A-C020-7ABE-FC21-7FD57C027D2C}"/>
                  </a:ext>
                </a:extLst>
              </p:cNvPr>
              <p:cNvCxnSpPr>
                <a:cxnSpLocks/>
              </p:cNvCxnSpPr>
              <p:nvPr/>
            </p:nvCxnSpPr>
            <p:spPr>
              <a:xfrm flipH="1">
                <a:off x="3108671" y="6025654"/>
                <a:ext cx="12735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9" name="TextBox 108">
                <a:extLst>
                  <a:ext uri="{FF2B5EF4-FFF2-40B4-BE49-F238E27FC236}">
                    <a16:creationId xmlns:a16="http://schemas.microsoft.com/office/drawing/2014/main" id="{5380C92E-BDEB-EE9E-1769-ECAEDF54067F}"/>
                  </a:ext>
                </a:extLst>
              </p:cNvPr>
              <p:cNvSpPr txBox="1"/>
              <p:nvPr/>
            </p:nvSpPr>
            <p:spPr>
              <a:xfrm>
                <a:off x="4909117" y="5441823"/>
                <a:ext cx="288862" cy="338554"/>
              </a:xfrm>
              <a:prstGeom prst="rect">
                <a:avLst/>
              </a:prstGeom>
              <a:noFill/>
            </p:spPr>
            <p:txBody>
              <a:bodyPr wrap="none" rtlCol="0">
                <a:spAutoFit/>
              </a:bodyPr>
              <a:lstStyle/>
              <a:p>
                <a:r>
                  <a:rPr lang="en-US" sz="1600"/>
                  <a:t>0</a:t>
                </a:r>
                <a:endParaRPr lang="en-ID" sz="1600"/>
              </a:p>
            </p:txBody>
          </p:sp>
          <p:sp>
            <p:nvSpPr>
              <p:cNvPr id="110" name="Rectangle 109">
                <a:extLst>
                  <a:ext uri="{FF2B5EF4-FFF2-40B4-BE49-F238E27FC236}">
                    <a16:creationId xmlns:a16="http://schemas.microsoft.com/office/drawing/2014/main" id="{09DB12F6-80CE-E3AA-7E12-7DD25DE5317E}"/>
                  </a:ext>
                </a:extLst>
              </p:cNvPr>
              <p:cNvSpPr/>
              <p:nvPr/>
            </p:nvSpPr>
            <p:spPr>
              <a:xfrm>
                <a:off x="1435584" y="2600433"/>
                <a:ext cx="199547" cy="31799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11" name="Rectangle 110">
                <a:extLst>
                  <a:ext uri="{FF2B5EF4-FFF2-40B4-BE49-F238E27FC236}">
                    <a16:creationId xmlns:a16="http://schemas.microsoft.com/office/drawing/2014/main" id="{7B72D752-1A26-A6F3-90D8-7BE8DF35B386}"/>
                  </a:ext>
                </a:extLst>
              </p:cNvPr>
              <p:cNvSpPr/>
              <p:nvPr/>
            </p:nvSpPr>
            <p:spPr>
              <a:xfrm>
                <a:off x="1534160" y="2670008"/>
                <a:ext cx="412910" cy="131420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grpSp>
        <p:sp>
          <p:nvSpPr>
            <p:cNvPr id="69" name="TextBox 68">
              <a:extLst>
                <a:ext uri="{FF2B5EF4-FFF2-40B4-BE49-F238E27FC236}">
                  <a16:creationId xmlns:a16="http://schemas.microsoft.com/office/drawing/2014/main" id="{799D109E-EF1B-D0FC-FD0F-45DC484A25B8}"/>
                </a:ext>
              </a:extLst>
            </p:cNvPr>
            <p:cNvSpPr txBox="1"/>
            <p:nvPr/>
          </p:nvSpPr>
          <p:spPr>
            <a:xfrm>
              <a:off x="5796514" y="3404741"/>
              <a:ext cx="740844" cy="307777"/>
            </a:xfrm>
            <a:prstGeom prst="rect">
              <a:avLst/>
            </a:prstGeom>
            <a:noFill/>
          </p:spPr>
          <p:txBody>
            <a:bodyPr wrap="none" rtlCol="0">
              <a:spAutoFit/>
            </a:bodyPr>
            <a:lstStyle/>
            <a:p>
              <a:r>
                <a:rPr lang="en-US" sz="1400">
                  <a:solidFill>
                    <a:srgbClr val="FF0000"/>
                  </a:solidFill>
                </a:rPr>
                <a:t>= Icmax</a:t>
              </a:r>
              <a:endParaRPr lang="en-ID" sz="1400">
                <a:solidFill>
                  <a:srgbClr val="FF0000"/>
                </a:solidFill>
              </a:endParaRPr>
            </a:p>
          </p:txBody>
        </p:sp>
        <p:cxnSp>
          <p:nvCxnSpPr>
            <p:cNvPr id="70" name="Straight Arrow Connector 69">
              <a:extLst>
                <a:ext uri="{FF2B5EF4-FFF2-40B4-BE49-F238E27FC236}">
                  <a16:creationId xmlns:a16="http://schemas.microsoft.com/office/drawing/2014/main" id="{334FFC9C-F295-4E17-1033-87707C4AD3EB}"/>
                </a:ext>
              </a:extLst>
            </p:cNvPr>
            <p:cNvCxnSpPr/>
            <p:nvPr/>
          </p:nvCxnSpPr>
          <p:spPr>
            <a:xfrm>
              <a:off x="4752766" y="3589407"/>
              <a:ext cx="536673" cy="4147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F8AB02F9-CDCA-B300-2D92-B8FFD589B6E7}"/>
                </a:ext>
              </a:extLst>
            </p:cNvPr>
            <p:cNvSpPr txBox="1"/>
            <p:nvPr/>
          </p:nvSpPr>
          <p:spPr>
            <a:xfrm>
              <a:off x="4055743" y="3028923"/>
              <a:ext cx="949780" cy="738664"/>
            </a:xfrm>
            <a:prstGeom prst="rect">
              <a:avLst/>
            </a:prstGeom>
            <a:noFill/>
          </p:spPr>
          <p:txBody>
            <a:bodyPr wrap="square" rtlCol="0">
              <a:spAutoFit/>
            </a:bodyPr>
            <a:lstStyle/>
            <a:p>
              <a:r>
                <a:rPr lang="en-US" sz="1400">
                  <a:solidFill>
                    <a:srgbClr val="FF0000"/>
                  </a:solidFill>
                </a:rPr>
                <a:t>Seperti saklar tertutup</a:t>
              </a:r>
              <a:endParaRPr lang="en-ID" sz="1400">
                <a:solidFill>
                  <a:srgbClr val="FF0000"/>
                </a:solidFill>
              </a:endParaRPr>
            </a:p>
          </p:txBody>
        </p:sp>
        <p:sp>
          <p:nvSpPr>
            <p:cNvPr id="73" name="TextBox 72">
              <a:extLst>
                <a:ext uri="{FF2B5EF4-FFF2-40B4-BE49-F238E27FC236}">
                  <a16:creationId xmlns:a16="http://schemas.microsoft.com/office/drawing/2014/main" id="{FD570C58-F529-2683-CDDA-021FF55D1FFA}"/>
                </a:ext>
              </a:extLst>
            </p:cNvPr>
            <p:cNvSpPr txBox="1"/>
            <p:nvPr/>
          </p:nvSpPr>
          <p:spPr>
            <a:xfrm>
              <a:off x="6086973" y="4380994"/>
              <a:ext cx="405880" cy="307777"/>
            </a:xfrm>
            <a:prstGeom prst="rect">
              <a:avLst/>
            </a:prstGeom>
            <a:noFill/>
          </p:spPr>
          <p:txBody>
            <a:bodyPr wrap="none" rtlCol="0">
              <a:spAutoFit/>
            </a:bodyPr>
            <a:lstStyle/>
            <a:p>
              <a:r>
                <a:rPr lang="en-US" sz="1400">
                  <a:solidFill>
                    <a:srgbClr val="FF0000"/>
                  </a:solidFill>
                </a:rPr>
                <a:t>= 0</a:t>
              </a:r>
              <a:endParaRPr lang="en-ID" sz="1400">
                <a:solidFill>
                  <a:srgbClr val="FF0000"/>
                </a:solidFill>
              </a:endParaRPr>
            </a:p>
          </p:txBody>
        </p:sp>
        <p:sp>
          <p:nvSpPr>
            <p:cNvPr id="78" name="Oval 77">
              <a:extLst>
                <a:ext uri="{FF2B5EF4-FFF2-40B4-BE49-F238E27FC236}">
                  <a16:creationId xmlns:a16="http://schemas.microsoft.com/office/drawing/2014/main" id="{7F66DA3E-653C-684A-EDC1-66B26FB8095A}"/>
                </a:ext>
              </a:extLst>
            </p:cNvPr>
            <p:cNvSpPr/>
            <p:nvPr/>
          </p:nvSpPr>
          <p:spPr>
            <a:xfrm>
              <a:off x="5250817" y="4042394"/>
              <a:ext cx="312492" cy="414783"/>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cxnSp>
          <p:nvCxnSpPr>
            <p:cNvPr id="94" name="Straight Connector 93">
              <a:extLst>
                <a:ext uri="{FF2B5EF4-FFF2-40B4-BE49-F238E27FC236}">
                  <a16:creationId xmlns:a16="http://schemas.microsoft.com/office/drawing/2014/main" id="{51B4285E-54D9-7838-5476-406D0281F82C}"/>
                </a:ext>
              </a:extLst>
            </p:cNvPr>
            <p:cNvCxnSpPr>
              <a:cxnSpLocks/>
            </p:cNvCxnSpPr>
            <p:nvPr/>
          </p:nvCxnSpPr>
          <p:spPr>
            <a:xfrm>
              <a:off x="5477529" y="4025153"/>
              <a:ext cx="0" cy="43202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136067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46595-F738-FC96-5D37-052E28926D60}"/>
              </a:ext>
            </a:extLst>
          </p:cNvPr>
          <p:cNvSpPr>
            <a:spLocks noGrp="1"/>
          </p:cNvSpPr>
          <p:nvPr>
            <p:ph type="title"/>
          </p:nvPr>
        </p:nvSpPr>
        <p:spPr>
          <a:xfrm>
            <a:off x="838200" y="365126"/>
            <a:ext cx="10515600" cy="603986"/>
          </a:xfrm>
        </p:spPr>
        <p:txBody>
          <a:bodyPr>
            <a:normAutofit fontScale="90000"/>
          </a:bodyPr>
          <a:lstStyle/>
          <a:p>
            <a:r>
              <a:rPr lang="en-US"/>
              <a:t>Icmax dan Vcemax Transistor saat OFF dan ON</a:t>
            </a:r>
            <a:endParaRPr lang="en-ID"/>
          </a:p>
        </p:txBody>
      </p:sp>
      <p:pic>
        <p:nvPicPr>
          <p:cNvPr id="6" name="Picture 5">
            <a:extLst>
              <a:ext uri="{FF2B5EF4-FFF2-40B4-BE49-F238E27FC236}">
                <a16:creationId xmlns:a16="http://schemas.microsoft.com/office/drawing/2014/main" id="{2F887BDE-E73B-E882-D512-B4D7579D26CB}"/>
              </a:ext>
            </a:extLst>
          </p:cNvPr>
          <p:cNvPicPr>
            <a:picLocks noChangeAspect="1"/>
          </p:cNvPicPr>
          <p:nvPr/>
        </p:nvPicPr>
        <p:blipFill>
          <a:blip r:embed="rId2"/>
          <a:stretch>
            <a:fillRect/>
          </a:stretch>
        </p:blipFill>
        <p:spPr>
          <a:xfrm>
            <a:off x="7491295" y="2535064"/>
            <a:ext cx="4154091" cy="2630647"/>
          </a:xfrm>
          <a:prstGeom prst="rect">
            <a:avLst/>
          </a:prstGeom>
        </p:spPr>
      </p:pic>
      <p:sp>
        <p:nvSpPr>
          <p:cNvPr id="74" name="Oval 73">
            <a:extLst>
              <a:ext uri="{FF2B5EF4-FFF2-40B4-BE49-F238E27FC236}">
                <a16:creationId xmlns:a16="http://schemas.microsoft.com/office/drawing/2014/main" id="{54B53AA5-0A27-8121-001C-F5B1D894E060}"/>
              </a:ext>
            </a:extLst>
          </p:cNvPr>
          <p:cNvSpPr/>
          <p:nvPr/>
        </p:nvSpPr>
        <p:spPr>
          <a:xfrm>
            <a:off x="11528209" y="4684287"/>
            <a:ext cx="117177" cy="111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5" name="Oval 74">
            <a:extLst>
              <a:ext uri="{FF2B5EF4-FFF2-40B4-BE49-F238E27FC236}">
                <a16:creationId xmlns:a16="http://schemas.microsoft.com/office/drawing/2014/main" id="{97FB931E-0DB6-6056-4FE0-B455F9C77186}"/>
              </a:ext>
            </a:extLst>
          </p:cNvPr>
          <p:cNvSpPr/>
          <p:nvPr/>
        </p:nvSpPr>
        <p:spPr>
          <a:xfrm>
            <a:off x="7764147" y="3207606"/>
            <a:ext cx="117177" cy="111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6" name="TextBox 75">
            <a:extLst>
              <a:ext uri="{FF2B5EF4-FFF2-40B4-BE49-F238E27FC236}">
                <a16:creationId xmlns:a16="http://schemas.microsoft.com/office/drawing/2014/main" id="{21AC5EE4-1C39-F470-FC4B-89A5C4F7CB32}"/>
              </a:ext>
            </a:extLst>
          </p:cNvPr>
          <p:cNvSpPr txBox="1"/>
          <p:nvPr/>
        </p:nvSpPr>
        <p:spPr>
          <a:xfrm>
            <a:off x="7840645" y="2984933"/>
            <a:ext cx="486030" cy="369332"/>
          </a:xfrm>
          <a:prstGeom prst="rect">
            <a:avLst/>
          </a:prstGeom>
          <a:noFill/>
        </p:spPr>
        <p:txBody>
          <a:bodyPr wrap="none" rtlCol="0">
            <a:spAutoFit/>
          </a:bodyPr>
          <a:lstStyle/>
          <a:p>
            <a:r>
              <a:rPr lang="en-US"/>
              <a:t>ON</a:t>
            </a:r>
            <a:endParaRPr lang="en-ID"/>
          </a:p>
        </p:txBody>
      </p:sp>
      <p:sp>
        <p:nvSpPr>
          <p:cNvPr id="77" name="TextBox 76">
            <a:extLst>
              <a:ext uri="{FF2B5EF4-FFF2-40B4-BE49-F238E27FC236}">
                <a16:creationId xmlns:a16="http://schemas.microsoft.com/office/drawing/2014/main" id="{22D2F2D6-2D00-BC0C-F537-13F9D78EAE18}"/>
              </a:ext>
            </a:extLst>
          </p:cNvPr>
          <p:cNvSpPr txBox="1"/>
          <p:nvPr/>
        </p:nvSpPr>
        <p:spPr>
          <a:xfrm>
            <a:off x="7594426" y="1897558"/>
            <a:ext cx="1724274" cy="523220"/>
          </a:xfrm>
          <a:prstGeom prst="rect">
            <a:avLst/>
          </a:prstGeom>
          <a:noFill/>
        </p:spPr>
        <p:txBody>
          <a:bodyPr wrap="square" rtlCol="0">
            <a:spAutoFit/>
          </a:bodyPr>
          <a:lstStyle/>
          <a:p>
            <a:r>
              <a:rPr lang="en-US" sz="1400">
                <a:solidFill>
                  <a:srgbClr val="FF0000"/>
                </a:solidFill>
              </a:rPr>
              <a:t>Transistor di wilayah Saturasi</a:t>
            </a:r>
            <a:endParaRPr lang="en-ID" sz="1400">
              <a:solidFill>
                <a:srgbClr val="FF0000"/>
              </a:solidFill>
            </a:endParaRPr>
          </a:p>
        </p:txBody>
      </p:sp>
      <p:cxnSp>
        <p:nvCxnSpPr>
          <p:cNvPr id="79" name="Straight Arrow Connector 78">
            <a:extLst>
              <a:ext uri="{FF2B5EF4-FFF2-40B4-BE49-F238E27FC236}">
                <a16:creationId xmlns:a16="http://schemas.microsoft.com/office/drawing/2014/main" id="{8CEDE9F2-EBF0-941C-359F-ADE7323C529E}"/>
              </a:ext>
            </a:extLst>
          </p:cNvPr>
          <p:cNvCxnSpPr/>
          <p:nvPr/>
        </p:nvCxnSpPr>
        <p:spPr>
          <a:xfrm flipH="1">
            <a:off x="7881324" y="2270504"/>
            <a:ext cx="360322" cy="8610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85" name="Group 84">
            <a:extLst>
              <a:ext uri="{FF2B5EF4-FFF2-40B4-BE49-F238E27FC236}">
                <a16:creationId xmlns:a16="http://schemas.microsoft.com/office/drawing/2014/main" id="{A37886A9-2B13-A367-6283-A3A3796CBF77}"/>
              </a:ext>
            </a:extLst>
          </p:cNvPr>
          <p:cNvGrpSpPr/>
          <p:nvPr/>
        </p:nvGrpSpPr>
        <p:grpSpPr>
          <a:xfrm>
            <a:off x="438886" y="2116615"/>
            <a:ext cx="3493129" cy="3283610"/>
            <a:chOff x="584517" y="2410728"/>
            <a:chExt cx="3493129" cy="3283610"/>
          </a:xfrm>
        </p:grpSpPr>
        <p:sp>
          <p:nvSpPr>
            <p:cNvPr id="61" name="TextBox 60">
              <a:extLst>
                <a:ext uri="{FF2B5EF4-FFF2-40B4-BE49-F238E27FC236}">
                  <a16:creationId xmlns:a16="http://schemas.microsoft.com/office/drawing/2014/main" id="{0391999C-5CED-EDC7-3476-47857261D31D}"/>
                </a:ext>
              </a:extLst>
            </p:cNvPr>
            <p:cNvSpPr txBox="1"/>
            <p:nvPr/>
          </p:nvSpPr>
          <p:spPr>
            <a:xfrm>
              <a:off x="685221" y="2410728"/>
              <a:ext cx="3345130" cy="315612"/>
            </a:xfrm>
            <a:prstGeom prst="rect">
              <a:avLst/>
            </a:prstGeom>
            <a:noFill/>
          </p:spPr>
          <p:txBody>
            <a:bodyPr wrap="square">
              <a:spAutoFit/>
            </a:bodyPr>
            <a:lstStyle/>
            <a:p>
              <a:r>
                <a:rPr lang="en-US" sz="1400"/>
                <a:t>Saat OFF </a:t>
              </a:r>
              <a:r>
                <a:rPr lang="en-US" sz="1400">
                  <a:sym typeface="Wingdings" panose="05000000000000000000" pitchFamily="2" charset="2"/>
                </a:rPr>
                <a:t> Ic=0  Vce=Vcemax =Vcc=12v</a:t>
              </a:r>
              <a:endParaRPr lang="en-ID" sz="1400"/>
            </a:p>
          </p:txBody>
        </p:sp>
        <p:grpSp>
          <p:nvGrpSpPr>
            <p:cNvPr id="36" name="Group 35">
              <a:extLst>
                <a:ext uri="{FF2B5EF4-FFF2-40B4-BE49-F238E27FC236}">
                  <a16:creationId xmlns:a16="http://schemas.microsoft.com/office/drawing/2014/main" id="{565199AC-1836-925F-BBD0-A6BD787E781E}"/>
                </a:ext>
              </a:extLst>
            </p:cNvPr>
            <p:cNvGrpSpPr/>
            <p:nvPr/>
          </p:nvGrpSpPr>
          <p:grpSpPr>
            <a:xfrm>
              <a:off x="628322" y="2769297"/>
              <a:ext cx="3177056" cy="2925041"/>
              <a:chOff x="1435584" y="2496783"/>
              <a:chExt cx="3769606" cy="3528871"/>
            </a:xfrm>
          </p:grpSpPr>
          <p:pic>
            <p:nvPicPr>
              <p:cNvPr id="8" name="Picture 7">
                <a:extLst>
                  <a:ext uri="{FF2B5EF4-FFF2-40B4-BE49-F238E27FC236}">
                    <a16:creationId xmlns:a16="http://schemas.microsoft.com/office/drawing/2014/main" id="{66E66245-EA4B-B042-647F-9812AF4C3A45}"/>
                  </a:ext>
                </a:extLst>
              </p:cNvPr>
              <p:cNvPicPr>
                <a:picLocks noChangeAspect="1"/>
              </p:cNvPicPr>
              <p:nvPr/>
            </p:nvPicPr>
            <p:blipFill>
              <a:blip r:embed="rId3"/>
              <a:stretch>
                <a:fillRect/>
              </a:stretch>
            </p:blipFill>
            <p:spPr>
              <a:xfrm>
                <a:off x="1435584" y="2496783"/>
                <a:ext cx="3769606" cy="3313412"/>
              </a:xfrm>
              <a:prstGeom prst="rect">
                <a:avLst/>
              </a:prstGeom>
            </p:spPr>
          </p:pic>
          <p:sp>
            <p:nvSpPr>
              <p:cNvPr id="9" name="TextBox 8">
                <a:extLst>
                  <a:ext uri="{FF2B5EF4-FFF2-40B4-BE49-F238E27FC236}">
                    <a16:creationId xmlns:a16="http://schemas.microsoft.com/office/drawing/2014/main" id="{84D66243-8287-CCF9-F587-47C3BC89F9F0}"/>
                  </a:ext>
                </a:extLst>
              </p:cNvPr>
              <p:cNvSpPr txBox="1"/>
              <p:nvPr/>
            </p:nvSpPr>
            <p:spPr>
              <a:xfrm>
                <a:off x="1723648" y="2670008"/>
                <a:ext cx="292068" cy="338554"/>
              </a:xfrm>
              <a:prstGeom prst="rect">
                <a:avLst/>
              </a:prstGeom>
              <a:noFill/>
            </p:spPr>
            <p:txBody>
              <a:bodyPr wrap="none" rtlCol="0">
                <a:spAutoFit/>
              </a:bodyPr>
              <a:lstStyle/>
              <a:p>
                <a:r>
                  <a:rPr lang="en-US" sz="1600"/>
                  <a:t>q</a:t>
                </a:r>
                <a:endParaRPr lang="en-ID" sz="1600"/>
              </a:p>
            </p:txBody>
          </p:sp>
          <p:cxnSp>
            <p:nvCxnSpPr>
              <p:cNvPr id="14" name="Straight Connector 13">
                <a:extLst>
                  <a:ext uri="{FF2B5EF4-FFF2-40B4-BE49-F238E27FC236}">
                    <a16:creationId xmlns:a16="http://schemas.microsoft.com/office/drawing/2014/main" id="{EEDA6864-346F-6F97-77CE-BA8C50FC2399}"/>
                  </a:ext>
                </a:extLst>
              </p:cNvPr>
              <p:cNvCxnSpPr>
                <a:cxnSpLocks/>
              </p:cNvCxnSpPr>
              <p:nvPr/>
            </p:nvCxnSpPr>
            <p:spPr>
              <a:xfrm>
                <a:off x="3172350" y="5680986"/>
                <a:ext cx="0" cy="19878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EABCA4F-444E-6C5F-2CCE-F4F1E47A3597}"/>
                  </a:ext>
                </a:extLst>
              </p:cNvPr>
              <p:cNvCxnSpPr>
                <a:cxnSpLocks/>
              </p:cNvCxnSpPr>
              <p:nvPr/>
            </p:nvCxnSpPr>
            <p:spPr>
              <a:xfrm flipH="1" flipV="1">
                <a:off x="2994371" y="5889710"/>
                <a:ext cx="355958" cy="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9175A8A-5810-2819-82C4-91C54BC94F60}"/>
                  </a:ext>
                </a:extLst>
              </p:cNvPr>
              <p:cNvCxnSpPr>
                <a:cxnSpLocks/>
              </p:cNvCxnSpPr>
              <p:nvPr/>
            </p:nvCxnSpPr>
            <p:spPr>
              <a:xfrm flipH="1">
                <a:off x="3070571" y="5959284"/>
                <a:ext cx="20355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275C056-B90E-F9DE-259A-2AECC9D0F163}"/>
                  </a:ext>
                </a:extLst>
              </p:cNvPr>
              <p:cNvCxnSpPr>
                <a:cxnSpLocks/>
              </p:cNvCxnSpPr>
              <p:nvPr/>
            </p:nvCxnSpPr>
            <p:spPr>
              <a:xfrm flipH="1">
                <a:off x="3108671" y="6025654"/>
                <a:ext cx="12735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D58EC4FC-0CC3-A81D-A587-C6E8793DFCB8}"/>
                  </a:ext>
                </a:extLst>
              </p:cNvPr>
              <p:cNvSpPr txBox="1"/>
              <p:nvPr/>
            </p:nvSpPr>
            <p:spPr>
              <a:xfrm>
                <a:off x="4909117" y="5441823"/>
                <a:ext cx="288862" cy="338554"/>
              </a:xfrm>
              <a:prstGeom prst="rect">
                <a:avLst/>
              </a:prstGeom>
              <a:noFill/>
            </p:spPr>
            <p:txBody>
              <a:bodyPr wrap="none" rtlCol="0">
                <a:spAutoFit/>
              </a:bodyPr>
              <a:lstStyle/>
              <a:p>
                <a:r>
                  <a:rPr lang="en-US" sz="1600"/>
                  <a:t>0</a:t>
                </a:r>
                <a:endParaRPr lang="en-ID" sz="1600"/>
              </a:p>
            </p:txBody>
          </p:sp>
          <p:sp>
            <p:nvSpPr>
              <p:cNvPr id="20" name="Rectangle 19">
                <a:extLst>
                  <a:ext uri="{FF2B5EF4-FFF2-40B4-BE49-F238E27FC236}">
                    <a16:creationId xmlns:a16="http://schemas.microsoft.com/office/drawing/2014/main" id="{0382B65B-F1E0-090B-682D-94CDD4236BFA}"/>
                  </a:ext>
                </a:extLst>
              </p:cNvPr>
              <p:cNvSpPr/>
              <p:nvPr/>
            </p:nvSpPr>
            <p:spPr>
              <a:xfrm>
                <a:off x="1435584" y="2600433"/>
                <a:ext cx="199547" cy="31799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2" name="Rectangle 21">
                <a:extLst>
                  <a:ext uri="{FF2B5EF4-FFF2-40B4-BE49-F238E27FC236}">
                    <a16:creationId xmlns:a16="http://schemas.microsoft.com/office/drawing/2014/main" id="{2B1F04A5-35D3-84E1-8AB8-116573C667ED}"/>
                  </a:ext>
                </a:extLst>
              </p:cNvPr>
              <p:cNvSpPr/>
              <p:nvPr/>
            </p:nvSpPr>
            <p:spPr>
              <a:xfrm>
                <a:off x="1534160" y="2670008"/>
                <a:ext cx="412910" cy="131420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grpSp>
        <p:sp>
          <p:nvSpPr>
            <p:cNvPr id="38" name="TextBox 37">
              <a:extLst>
                <a:ext uri="{FF2B5EF4-FFF2-40B4-BE49-F238E27FC236}">
                  <a16:creationId xmlns:a16="http://schemas.microsoft.com/office/drawing/2014/main" id="{4647435E-E2B3-46AC-C337-CD1B65328671}"/>
                </a:ext>
              </a:extLst>
            </p:cNvPr>
            <p:cNvSpPr txBox="1"/>
            <p:nvPr/>
          </p:nvSpPr>
          <p:spPr>
            <a:xfrm>
              <a:off x="2325288" y="3402761"/>
              <a:ext cx="405880" cy="307777"/>
            </a:xfrm>
            <a:prstGeom prst="rect">
              <a:avLst/>
            </a:prstGeom>
            <a:noFill/>
          </p:spPr>
          <p:txBody>
            <a:bodyPr wrap="none" rtlCol="0">
              <a:spAutoFit/>
            </a:bodyPr>
            <a:lstStyle/>
            <a:p>
              <a:r>
                <a:rPr lang="en-US" sz="1400">
                  <a:solidFill>
                    <a:srgbClr val="FF0000"/>
                  </a:solidFill>
                </a:rPr>
                <a:t>= 0</a:t>
              </a:r>
              <a:endParaRPr lang="en-ID" sz="1400">
                <a:solidFill>
                  <a:srgbClr val="FF0000"/>
                </a:solidFill>
              </a:endParaRPr>
            </a:p>
          </p:txBody>
        </p:sp>
        <p:cxnSp>
          <p:nvCxnSpPr>
            <p:cNvPr id="40" name="Straight Arrow Connector 39">
              <a:extLst>
                <a:ext uri="{FF2B5EF4-FFF2-40B4-BE49-F238E27FC236}">
                  <a16:creationId xmlns:a16="http://schemas.microsoft.com/office/drawing/2014/main" id="{814E45E0-6949-CBEC-2C33-9A7D5C6EC845}"/>
                </a:ext>
              </a:extLst>
            </p:cNvPr>
            <p:cNvCxnSpPr/>
            <p:nvPr/>
          </p:nvCxnSpPr>
          <p:spPr>
            <a:xfrm>
              <a:off x="1281540" y="3587427"/>
              <a:ext cx="536673" cy="4147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C5882877-3C21-1385-3AFB-722ACC25FBCB}"/>
                </a:ext>
              </a:extLst>
            </p:cNvPr>
            <p:cNvSpPr txBox="1"/>
            <p:nvPr/>
          </p:nvSpPr>
          <p:spPr>
            <a:xfrm>
              <a:off x="584517" y="3026943"/>
              <a:ext cx="949780" cy="738664"/>
            </a:xfrm>
            <a:prstGeom prst="rect">
              <a:avLst/>
            </a:prstGeom>
            <a:noFill/>
          </p:spPr>
          <p:txBody>
            <a:bodyPr wrap="square" rtlCol="0">
              <a:spAutoFit/>
            </a:bodyPr>
            <a:lstStyle/>
            <a:p>
              <a:r>
                <a:rPr lang="en-US" sz="1400">
                  <a:solidFill>
                    <a:srgbClr val="FF0000"/>
                  </a:solidFill>
                </a:rPr>
                <a:t>Seperti saklar terbuka</a:t>
              </a:r>
              <a:endParaRPr lang="en-ID" sz="1400">
                <a:solidFill>
                  <a:srgbClr val="FF0000"/>
                </a:solidFill>
              </a:endParaRPr>
            </a:p>
          </p:txBody>
        </p:sp>
        <p:sp>
          <p:nvSpPr>
            <p:cNvPr id="64" name="Oval 63">
              <a:extLst>
                <a:ext uri="{FF2B5EF4-FFF2-40B4-BE49-F238E27FC236}">
                  <a16:creationId xmlns:a16="http://schemas.microsoft.com/office/drawing/2014/main" id="{D9BEE3F4-41B1-5AF9-7D78-D3F126917DC3}"/>
                </a:ext>
              </a:extLst>
            </p:cNvPr>
            <p:cNvSpPr/>
            <p:nvPr/>
          </p:nvSpPr>
          <p:spPr>
            <a:xfrm>
              <a:off x="1785835" y="4045167"/>
              <a:ext cx="312492" cy="414783"/>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cxnSp>
          <p:nvCxnSpPr>
            <p:cNvPr id="71" name="Straight Connector 70">
              <a:extLst>
                <a:ext uri="{FF2B5EF4-FFF2-40B4-BE49-F238E27FC236}">
                  <a16:creationId xmlns:a16="http://schemas.microsoft.com/office/drawing/2014/main" id="{D07E4E90-E5D5-B3BA-AEA8-CBC79B2B3E5D}"/>
                </a:ext>
              </a:extLst>
            </p:cNvPr>
            <p:cNvCxnSpPr>
              <a:cxnSpLocks/>
            </p:cNvCxnSpPr>
            <p:nvPr/>
          </p:nvCxnSpPr>
          <p:spPr>
            <a:xfrm flipH="1">
              <a:off x="1818213" y="4045167"/>
              <a:ext cx="189379" cy="41478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82" name="TextBox 81">
              <a:extLst>
                <a:ext uri="{FF2B5EF4-FFF2-40B4-BE49-F238E27FC236}">
                  <a16:creationId xmlns:a16="http://schemas.microsoft.com/office/drawing/2014/main" id="{107EAA32-D83E-0998-AC68-086CC09F683B}"/>
                </a:ext>
              </a:extLst>
            </p:cNvPr>
            <p:cNvSpPr txBox="1"/>
            <p:nvPr/>
          </p:nvSpPr>
          <p:spPr>
            <a:xfrm>
              <a:off x="3354578" y="2945958"/>
              <a:ext cx="723068" cy="307777"/>
            </a:xfrm>
            <a:prstGeom prst="rect">
              <a:avLst/>
            </a:prstGeom>
            <a:noFill/>
          </p:spPr>
          <p:txBody>
            <a:bodyPr wrap="square" rtlCol="0">
              <a:spAutoFit/>
            </a:bodyPr>
            <a:lstStyle/>
            <a:p>
              <a:r>
                <a:rPr lang="en-US" sz="1400">
                  <a:solidFill>
                    <a:srgbClr val="FF0000"/>
                  </a:solidFill>
                </a:rPr>
                <a:t>=12v</a:t>
              </a:r>
              <a:endParaRPr lang="en-ID" sz="1400">
                <a:solidFill>
                  <a:srgbClr val="FF0000"/>
                </a:solidFill>
              </a:endParaRPr>
            </a:p>
          </p:txBody>
        </p:sp>
      </p:grpSp>
      <p:grpSp>
        <p:nvGrpSpPr>
          <p:cNvPr id="86" name="Group 85">
            <a:extLst>
              <a:ext uri="{FF2B5EF4-FFF2-40B4-BE49-F238E27FC236}">
                <a16:creationId xmlns:a16="http://schemas.microsoft.com/office/drawing/2014/main" id="{508A1C9E-A3BB-2D79-9C5B-65CB0AD8F49E}"/>
              </a:ext>
            </a:extLst>
          </p:cNvPr>
          <p:cNvGrpSpPr/>
          <p:nvPr/>
        </p:nvGrpSpPr>
        <p:grpSpPr>
          <a:xfrm>
            <a:off x="3910112" y="2139558"/>
            <a:ext cx="3684314" cy="3262647"/>
            <a:chOff x="4055743" y="2433671"/>
            <a:chExt cx="3684314" cy="3262647"/>
          </a:xfrm>
        </p:grpSpPr>
        <p:sp>
          <p:nvSpPr>
            <p:cNvPr id="63" name="TextBox 62">
              <a:extLst>
                <a:ext uri="{FF2B5EF4-FFF2-40B4-BE49-F238E27FC236}">
                  <a16:creationId xmlns:a16="http://schemas.microsoft.com/office/drawing/2014/main" id="{9F70A1F7-36F9-BBCD-89AE-D88B0959D813}"/>
                </a:ext>
              </a:extLst>
            </p:cNvPr>
            <p:cNvSpPr txBox="1"/>
            <p:nvPr/>
          </p:nvSpPr>
          <p:spPr>
            <a:xfrm>
              <a:off x="4115379" y="2433671"/>
              <a:ext cx="3624678" cy="307777"/>
            </a:xfrm>
            <a:prstGeom prst="rect">
              <a:avLst/>
            </a:prstGeom>
            <a:noFill/>
          </p:spPr>
          <p:txBody>
            <a:bodyPr wrap="square">
              <a:spAutoFit/>
            </a:bodyPr>
            <a:lstStyle/>
            <a:p>
              <a:r>
                <a:rPr lang="en-US" sz="1400">
                  <a:sym typeface="Wingdings" panose="05000000000000000000" pitchFamily="2" charset="2"/>
                </a:rPr>
                <a:t>Saat ON  Vce=0  Ic=Icmax=Vcc/Rc=1A</a:t>
              </a:r>
              <a:endParaRPr lang="en-ID" sz="1400"/>
            </a:p>
          </p:txBody>
        </p:sp>
        <p:grpSp>
          <p:nvGrpSpPr>
            <p:cNvPr id="45" name="Group 44">
              <a:extLst>
                <a:ext uri="{FF2B5EF4-FFF2-40B4-BE49-F238E27FC236}">
                  <a16:creationId xmlns:a16="http://schemas.microsoft.com/office/drawing/2014/main" id="{F5D49BB0-CA79-C05B-D0C5-66CA1F62EF3F}"/>
                </a:ext>
              </a:extLst>
            </p:cNvPr>
            <p:cNvGrpSpPr/>
            <p:nvPr/>
          </p:nvGrpSpPr>
          <p:grpSpPr>
            <a:xfrm>
              <a:off x="4099548" y="2771277"/>
              <a:ext cx="3177056" cy="2925041"/>
              <a:chOff x="1435584" y="2496783"/>
              <a:chExt cx="3769606" cy="3528871"/>
            </a:xfrm>
          </p:grpSpPr>
          <p:pic>
            <p:nvPicPr>
              <p:cNvPr id="51" name="Picture 50">
                <a:extLst>
                  <a:ext uri="{FF2B5EF4-FFF2-40B4-BE49-F238E27FC236}">
                    <a16:creationId xmlns:a16="http://schemas.microsoft.com/office/drawing/2014/main" id="{88C976DC-63AD-031D-7C29-A250A0BD9C0F}"/>
                  </a:ext>
                </a:extLst>
              </p:cNvPr>
              <p:cNvPicPr>
                <a:picLocks noChangeAspect="1"/>
              </p:cNvPicPr>
              <p:nvPr/>
            </p:nvPicPr>
            <p:blipFill>
              <a:blip r:embed="rId3"/>
              <a:stretch>
                <a:fillRect/>
              </a:stretch>
            </p:blipFill>
            <p:spPr>
              <a:xfrm>
                <a:off x="1435584" y="2496783"/>
                <a:ext cx="3769606" cy="3313412"/>
              </a:xfrm>
              <a:prstGeom prst="rect">
                <a:avLst/>
              </a:prstGeom>
            </p:spPr>
          </p:pic>
          <p:sp>
            <p:nvSpPr>
              <p:cNvPr id="52" name="TextBox 51">
                <a:extLst>
                  <a:ext uri="{FF2B5EF4-FFF2-40B4-BE49-F238E27FC236}">
                    <a16:creationId xmlns:a16="http://schemas.microsoft.com/office/drawing/2014/main" id="{889F94F3-ECD3-B9A9-1D56-7454193CC18C}"/>
                  </a:ext>
                </a:extLst>
              </p:cNvPr>
              <p:cNvSpPr txBox="1"/>
              <p:nvPr/>
            </p:nvSpPr>
            <p:spPr>
              <a:xfrm>
                <a:off x="1723648" y="2670008"/>
                <a:ext cx="292068" cy="338554"/>
              </a:xfrm>
              <a:prstGeom prst="rect">
                <a:avLst/>
              </a:prstGeom>
              <a:noFill/>
            </p:spPr>
            <p:txBody>
              <a:bodyPr wrap="none" rtlCol="0">
                <a:spAutoFit/>
              </a:bodyPr>
              <a:lstStyle/>
              <a:p>
                <a:r>
                  <a:rPr lang="en-US" sz="1600"/>
                  <a:t>q</a:t>
                </a:r>
                <a:endParaRPr lang="en-ID" sz="1600"/>
              </a:p>
            </p:txBody>
          </p:sp>
          <p:cxnSp>
            <p:nvCxnSpPr>
              <p:cNvPr id="53" name="Straight Connector 52">
                <a:extLst>
                  <a:ext uri="{FF2B5EF4-FFF2-40B4-BE49-F238E27FC236}">
                    <a16:creationId xmlns:a16="http://schemas.microsoft.com/office/drawing/2014/main" id="{9E83B65B-8A82-7B46-C46A-EAC441310941}"/>
                  </a:ext>
                </a:extLst>
              </p:cNvPr>
              <p:cNvCxnSpPr>
                <a:cxnSpLocks/>
              </p:cNvCxnSpPr>
              <p:nvPr/>
            </p:nvCxnSpPr>
            <p:spPr>
              <a:xfrm>
                <a:off x="3172350" y="5680986"/>
                <a:ext cx="0" cy="19878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819972A6-4F08-B45D-3386-FD1425303F74}"/>
                  </a:ext>
                </a:extLst>
              </p:cNvPr>
              <p:cNvCxnSpPr>
                <a:cxnSpLocks/>
              </p:cNvCxnSpPr>
              <p:nvPr/>
            </p:nvCxnSpPr>
            <p:spPr>
              <a:xfrm flipH="1" flipV="1">
                <a:off x="2994371" y="5889710"/>
                <a:ext cx="355958" cy="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B08D4407-C491-4453-ABFA-F4D5B78479C4}"/>
                  </a:ext>
                </a:extLst>
              </p:cNvPr>
              <p:cNvCxnSpPr>
                <a:cxnSpLocks/>
              </p:cNvCxnSpPr>
              <p:nvPr/>
            </p:nvCxnSpPr>
            <p:spPr>
              <a:xfrm flipH="1">
                <a:off x="3070571" y="5959284"/>
                <a:ext cx="20355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43DBA663-DDCB-206E-937B-531C3E1E4041}"/>
                  </a:ext>
                </a:extLst>
              </p:cNvPr>
              <p:cNvCxnSpPr>
                <a:cxnSpLocks/>
              </p:cNvCxnSpPr>
              <p:nvPr/>
            </p:nvCxnSpPr>
            <p:spPr>
              <a:xfrm flipH="1">
                <a:off x="3108671" y="6025654"/>
                <a:ext cx="12735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D50D6F26-77C4-54F8-FE10-483DCADD295D}"/>
                  </a:ext>
                </a:extLst>
              </p:cNvPr>
              <p:cNvSpPr txBox="1"/>
              <p:nvPr/>
            </p:nvSpPr>
            <p:spPr>
              <a:xfrm>
                <a:off x="4909117" y="5441823"/>
                <a:ext cx="288862" cy="338554"/>
              </a:xfrm>
              <a:prstGeom prst="rect">
                <a:avLst/>
              </a:prstGeom>
              <a:noFill/>
            </p:spPr>
            <p:txBody>
              <a:bodyPr wrap="none" rtlCol="0">
                <a:spAutoFit/>
              </a:bodyPr>
              <a:lstStyle/>
              <a:p>
                <a:r>
                  <a:rPr lang="en-US" sz="1600"/>
                  <a:t>0</a:t>
                </a:r>
                <a:endParaRPr lang="en-ID" sz="1600"/>
              </a:p>
            </p:txBody>
          </p:sp>
          <p:sp>
            <p:nvSpPr>
              <p:cNvPr id="58" name="Rectangle 57">
                <a:extLst>
                  <a:ext uri="{FF2B5EF4-FFF2-40B4-BE49-F238E27FC236}">
                    <a16:creationId xmlns:a16="http://schemas.microsoft.com/office/drawing/2014/main" id="{0F09D9ED-E33B-39FC-E976-527F2D5FD8B4}"/>
                  </a:ext>
                </a:extLst>
              </p:cNvPr>
              <p:cNvSpPr/>
              <p:nvPr/>
            </p:nvSpPr>
            <p:spPr>
              <a:xfrm>
                <a:off x="1435584" y="2600433"/>
                <a:ext cx="199547" cy="31799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9" name="Rectangle 58">
                <a:extLst>
                  <a:ext uri="{FF2B5EF4-FFF2-40B4-BE49-F238E27FC236}">
                    <a16:creationId xmlns:a16="http://schemas.microsoft.com/office/drawing/2014/main" id="{7F327CE1-A2DC-DF8F-4186-17313FBCB5B2}"/>
                  </a:ext>
                </a:extLst>
              </p:cNvPr>
              <p:cNvSpPr/>
              <p:nvPr/>
            </p:nvSpPr>
            <p:spPr>
              <a:xfrm>
                <a:off x="1534160" y="2670008"/>
                <a:ext cx="412910" cy="131420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grpSp>
        <p:sp>
          <p:nvSpPr>
            <p:cNvPr id="47" name="TextBox 46">
              <a:extLst>
                <a:ext uri="{FF2B5EF4-FFF2-40B4-BE49-F238E27FC236}">
                  <a16:creationId xmlns:a16="http://schemas.microsoft.com/office/drawing/2014/main" id="{04BF7E95-4DE9-127E-5E8F-2B36FF498BBF}"/>
                </a:ext>
              </a:extLst>
            </p:cNvPr>
            <p:cNvSpPr txBox="1"/>
            <p:nvPr/>
          </p:nvSpPr>
          <p:spPr>
            <a:xfrm>
              <a:off x="5796514" y="3404741"/>
              <a:ext cx="510076" cy="307777"/>
            </a:xfrm>
            <a:prstGeom prst="rect">
              <a:avLst/>
            </a:prstGeom>
            <a:noFill/>
          </p:spPr>
          <p:txBody>
            <a:bodyPr wrap="none" rtlCol="0">
              <a:spAutoFit/>
            </a:bodyPr>
            <a:lstStyle/>
            <a:p>
              <a:r>
                <a:rPr lang="en-US" sz="1400">
                  <a:solidFill>
                    <a:srgbClr val="FF0000"/>
                  </a:solidFill>
                </a:rPr>
                <a:t>= 1A</a:t>
              </a:r>
              <a:endParaRPr lang="en-ID" sz="1400">
                <a:solidFill>
                  <a:srgbClr val="FF0000"/>
                </a:solidFill>
              </a:endParaRPr>
            </a:p>
          </p:txBody>
        </p:sp>
        <p:cxnSp>
          <p:nvCxnSpPr>
            <p:cNvPr id="48" name="Straight Arrow Connector 47">
              <a:extLst>
                <a:ext uri="{FF2B5EF4-FFF2-40B4-BE49-F238E27FC236}">
                  <a16:creationId xmlns:a16="http://schemas.microsoft.com/office/drawing/2014/main" id="{2809B168-2AF3-A014-E4C1-C8DC1BCC4A6B}"/>
                </a:ext>
              </a:extLst>
            </p:cNvPr>
            <p:cNvCxnSpPr/>
            <p:nvPr/>
          </p:nvCxnSpPr>
          <p:spPr>
            <a:xfrm>
              <a:off x="4752766" y="3589407"/>
              <a:ext cx="536673" cy="4147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A9D1F70C-8CBA-4ED8-8F5E-43682B112A73}"/>
                </a:ext>
              </a:extLst>
            </p:cNvPr>
            <p:cNvSpPr txBox="1"/>
            <p:nvPr/>
          </p:nvSpPr>
          <p:spPr>
            <a:xfrm>
              <a:off x="4055743" y="3028923"/>
              <a:ext cx="949780" cy="738664"/>
            </a:xfrm>
            <a:prstGeom prst="rect">
              <a:avLst/>
            </a:prstGeom>
            <a:noFill/>
          </p:spPr>
          <p:txBody>
            <a:bodyPr wrap="square" rtlCol="0">
              <a:spAutoFit/>
            </a:bodyPr>
            <a:lstStyle/>
            <a:p>
              <a:r>
                <a:rPr lang="en-US" sz="1400">
                  <a:solidFill>
                    <a:srgbClr val="FF0000"/>
                  </a:solidFill>
                </a:rPr>
                <a:t>Seperti saklar tertutup</a:t>
              </a:r>
              <a:endParaRPr lang="en-ID" sz="1400">
                <a:solidFill>
                  <a:srgbClr val="FF0000"/>
                </a:solidFill>
              </a:endParaRPr>
            </a:p>
          </p:txBody>
        </p:sp>
        <p:sp>
          <p:nvSpPr>
            <p:cNvPr id="50" name="TextBox 49">
              <a:extLst>
                <a:ext uri="{FF2B5EF4-FFF2-40B4-BE49-F238E27FC236}">
                  <a16:creationId xmlns:a16="http://schemas.microsoft.com/office/drawing/2014/main" id="{8E0315C8-4604-6188-BC2F-AE5FCF43CD4B}"/>
                </a:ext>
              </a:extLst>
            </p:cNvPr>
            <p:cNvSpPr txBox="1"/>
            <p:nvPr/>
          </p:nvSpPr>
          <p:spPr>
            <a:xfrm>
              <a:off x="6086973" y="4380994"/>
              <a:ext cx="405880" cy="307777"/>
            </a:xfrm>
            <a:prstGeom prst="rect">
              <a:avLst/>
            </a:prstGeom>
            <a:noFill/>
          </p:spPr>
          <p:txBody>
            <a:bodyPr wrap="none" rtlCol="0">
              <a:spAutoFit/>
            </a:bodyPr>
            <a:lstStyle/>
            <a:p>
              <a:r>
                <a:rPr lang="en-US" sz="1400">
                  <a:solidFill>
                    <a:srgbClr val="FF0000"/>
                  </a:solidFill>
                </a:rPr>
                <a:t>= 0</a:t>
              </a:r>
              <a:endParaRPr lang="en-ID" sz="1400">
                <a:solidFill>
                  <a:srgbClr val="FF0000"/>
                </a:solidFill>
              </a:endParaRPr>
            </a:p>
          </p:txBody>
        </p:sp>
        <p:sp>
          <p:nvSpPr>
            <p:cNvPr id="65" name="Oval 64">
              <a:extLst>
                <a:ext uri="{FF2B5EF4-FFF2-40B4-BE49-F238E27FC236}">
                  <a16:creationId xmlns:a16="http://schemas.microsoft.com/office/drawing/2014/main" id="{0C92EA5E-501D-F850-5752-5930F659D8D5}"/>
                </a:ext>
              </a:extLst>
            </p:cNvPr>
            <p:cNvSpPr/>
            <p:nvPr/>
          </p:nvSpPr>
          <p:spPr>
            <a:xfrm>
              <a:off x="5250817" y="4042394"/>
              <a:ext cx="312492" cy="414783"/>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cxnSp>
          <p:nvCxnSpPr>
            <p:cNvPr id="67" name="Straight Connector 66">
              <a:extLst>
                <a:ext uri="{FF2B5EF4-FFF2-40B4-BE49-F238E27FC236}">
                  <a16:creationId xmlns:a16="http://schemas.microsoft.com/office/drawing/2014/main" id="{9F77B0D9-444C-2956-CC44-C4D33232925F}"/>
                </a:ext>
              </a:extLst>
            </p:cNvPr>
            <p:cNvCxnSpPr>
              <a:cxnSpLocks/>
            </p:cNvCxnSpPr>
            <p:nvPr/>
          </p:nvCxnSpPr>
          <p:spPr>
            <a:xfrm>
              <a:off x="5477529" y="4025153"/>
              <a:ext cx="0" cy="43202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6A7F8A21-265E-7271-0A8E-C24D862E2BEC}"/>
                </a:ext>
              </a:extLst>
            </p:cNvPr>
            <p:cNvSpPr txBox="1"/>
            <p:nvPr/>
          </p:nvSpPr>
          <p:spPr>
            <a:xfrm>
              <a:off x="6839131" y="2945958"/>
              <a:ext cx="723068" cy="307777"/>
            </a:xfrm>
            <a:prstGeom prst="rect">
              <a:avLst/>
            </a:prstGeom>
            <a:noFill/>
          </p:spPr>
          <p:txBody>
            <a:bodyPr wrap="square" rtlCol="0">
              <a:spAutoFit/>
            </a:bodyPr>
            <a:lstStyle/>
            <a:p>
              <a:r>
                <a:rPr lang="en-US" sz="1400">
                  <a:solidFill>
                    <a:srgbClr val="FF0000"/>
                  </a:solidFill>
                </a:rPr>
                <a:t>=12v</a:t>
              </a:r>
              <a:endParaRPr lang="en-ID" sz="1400">
                <a:solidFill>
                  <a:srgbClr val="FF0000"/>
                </a:solidFill>
              </a:endParaRPr>
            </a:p>
          </p:txBody>
        </p:sp>
      </p:grpSp>
      <p:sp>
        <p:nvSpPr>
          <p:cNvPr id="84" name="TextBox 83">
            <a:extLst>
              <a:ext uri="{FF2B5EF4-FFF2-40B4-BE49-F238E27FC236}">
                <a16:creationId xmlns:a16="http://schemas.microsoft.com/office/drawing/2014/main" id="{5E01A1F8-CC6B-DB0D-5AC7-FCFBA97C5507}"/>
              </a:ext>
            </a:extLst>
          </p:cNvPr>
          <p:cNvSpPr txBox="1"/>
          <p:nvPr/>
        </p:nvSpPr>
        <p:spPr>
          <a:xfrm>
            <a:off x="11234083" y="4342541"/>
            <a:ext cx="548548" cy="369332"/>
          </a:xfrm>
          <a:prstGeom prst="rect">
            <a:avLst/>
          </a:prstGeom>
          <a:noFill/>
        </p:spPr>
        <p:txBody>
          <a:bodyPr wrap="none" rtlCol="0">
            <a:spAutoFit/>
          </a:bodyPr>
          <a:lstStyle/>
          <a:p>
            <a:r>
              <a:rPr lang="en-US"/>
              <a:t>OFF</a:t>
            </a:r>
            <a:endParaRPr lang="en-ID"/>
          </a:p>
        </p:txBody>
      </p:sp>
      <p:sp>
        <p:nvSpPr>
          <p:cNvPr id="92" name="TextBox 91">
            <a:extLst>
              <a:ext uri="{FF2B5EF4-FFF2-40B4-BE49-F238E27FC236}">
                <a16:creationId xmlns:a16="http://schemas.microsoft.com/office/drawing/2014/main" id="{012D1E1A-201E-A514-212A-6FAAEA0446DF}"/>
              </a:ext>
            </a:extLst>
          </p:cNvPr>
          <p:cNvSpPr txBox="1"/>
          <p:nvPr/>
        </p:nvSpPr>
        <p:spPr>
          <a:xfrm>
            <a:off x="9784083" y="5279818"/>
            <a:ext cx="1724274" cy="523220"/>
          </a:xfrm>
          <a:prstGeom prst="rect">
            <a:avLst/>
          </a:prstGeom>
          <a:noFill/>
        </p:spPr>
        <p:txBody>
          <a:bodyPr wrap="square" rtlCol="0">
            <a:spAutoFit/>
          </a:bodyPr>
          <a:lstStyle/>
          <a:p>
            <a:r>
              <a:rPr lang="en-US" sz="1400">
                <a:solidFill>
                  <a:srgbClr val="FF0000"/>
                </a:solidFill>
              </a:rPr>
              <a:t>Transistor di wilayah Cut-Off</a:t>
            </a:r>
            <a:endParaRPr lang="en-ID" sz="1400">
              <a:solidFill>
                <a:srgbClr val="FF0000"/>
              </a:solidFill>
            </a:endParaRPr>
          </a:p>
        </p:txBody>
      </p:sp>
      <p:cxnSp>
        <p:nvCxnSpPr>
          <p:cNvPr id="93" name="Straight Arrow Connector 92">
            <a:extLst>
              <a:ext uri="{FF2B5EF4-FFF2-40B4-BE49-F238E27FC236}">
                <a16:creationId xmlns:a16="http://schemas.microsoft.com/office/drawing/2014/main" id="{A02936A8-E561-C082-1E97-DA55847E43EE}"/>
              </a:ext>
            </a:extLst>
          </p:cNvPr>
          <p:cNvCxnSpPr>
            <a:cxnSpLocks/>
            <a:stCxn id="92" idx="0"/>
          </p:cNvCxnSpPr>
          <p:nvPr/>
        </p:nvCxnSpPr>
        <p:spPr>
          <a:xfrm flipV="1">
            <a:off x="10646220" y="4796047"/>
            <a:ext cx="862137" cy="4837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6" name="Freeform: Shape 95">
            <a:extLst>
              <a:ext uri="{FF2B5EF4-FFF2-40B4-BE49-F238E27FC236}">
                <a16:creationId xmlns:a16="http://schemas.microsoft.com/office/drawing/2014/main" id="{39BD30FA-1FAF-AEF4-751C-DBB66FBB328A}"/>
              </a:ext>
            </a:extLst>
          </p:cNvPr>
          <p:cNvSpPr/>
          <p:nvPr/>
        </p:nvSpPr>
        <p:spPr>
          <a:xfrm>
            <a:off x="5422049" y="3383807"/>
            <a:ext cx="2306320" cy="639733"/>
          </a:xfrm>
          <a:custGeom>
            <a:avLst/>
            <a:gdLst>
              <a:gd name="connsiteX0" fmla="*/ 0 w 2306320"/>
              <a:gd name="connsiteY0" fmla="*/ 568960 h 639733"/>
              <a:gd name="connsiteX1" fmla="*/ 1361440 w 2306320"/>
              <a:gd name="connsiteY1" fmla="*/ 589280 h 639733"/>
              <a:gd name="connsiteX2" fmla="*/ 2306320 w 2306320"/>
              <a:gd name="connsiteY2" fmla="*/ 0 h 639733"/>
            </a:gdLst>
            <a:ahLst/>
            <a:cxnLst>
              <a:cxn ang="0">
                <a:pos x="connsiteX0" y="connsiteY0"/>
              </a:cxn>
              <a:cxn ang="0">
                <a:pos x="connsiteX1" y="connsiteY1"/>
              </a:cxn>
              <a:cxn ang="0">
                <a:pos x="connsiteX2" y="connsiteY2"/>
              </a:cxn>
            </a:cxnLst>
            <a:rect l="l" t="t" r="r" b="b"/>
            <a:pathLst>
              <a:path w="2306320" h="639733">
                <a:moveTo>
                  <a:pt x="0" y="568960"/>
                </a:moveTo>
                <a:cubicBezTo>
                  <a:pt x="488526" y="626533"/>
                  <a:pt x="977053" y="684107"/>
                  <a:pt x="1361440" y="589280"/>
                </a:cubicBezTo>
                <a:cubicBezTo>
                  <a:pt x="1745827" y="494453"/>
                  <a:pt x="2026073" y="247226"/>
                  <a:pt x="2306320" y="0"/>
                </a:cubicBezTo>
              </a:path>
            </a:pathLst>
          </a:custGeom>
          <a:noFill/>
          <a:ln>
            <a:solidFill>
              <a:srgbClr val="FF0000"/>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97" name="Freeform: Shape 96">
            <a:extLst>
              <a:ext uri="{FF2B5EF4-FFF2-40B4-BE49-F238E27FC236}">
                <a16:creationId xmlns:a16="http://schemas.microsoft.com/office/drawing/2014/main" id="{0F1631BC-F41F-72FD-E7BA-3B66544E339E}"/>
              </a:ext>
            </a:extLst>
          </p:cNvPr>
          <p:cNvSpPr/>
          <p:nvPr/>
        </p:nvSpPr>
        <p:spPr>
          <a:xfrm>
            <a:off x="1977809" y="4044207"/>
            <a:ext cx="9448800" cy="1514754"/>
          </a:xfrm>
          <a:custGeom>
            <a:avLst/>
            <a:gdLst>
              <a:gd name="connsiteX0" fmla="*/ 0 w 9448800"/>
              <a:gd name="connsiteY0" fmla="*/ 0 h 1514754"/>
              <a:gd name="connsiteX1" fmla="*/ 2580640 w 9448800"/>
              <a:gd name="connsiteY1" fmla="*/ 1493520 h 1514754"/>
              <a:gd name="connsiteX2" fmla="*/ 9448800 w 9448800"/>
              <a:gd name="connsiteY2" fmla="*/ 741680 h 1514754"/>
            </a:gdLst>
            <a:ahLst/>
            <a:cxnLst>
              <a:cxn ang="0">
                <a:pos x="connsiteX0" y="connsiteY0"/>
              </a:cxn>
              <a:cxn ang="0">
                <a:pos x="connsiteX1" y="connsiteY1"/>
              </a:cxn>
              <a:cxn ang="0">
                <a:pos x="connsiteX2" y="connsiteY2"/>
              </a:cxn>
            </a:cxnLst>
            <a:rect l="l" t="t" r="r" b="b"/>
            <a:pathLst>
              <a:path w="9448800" h="1514754">
                <a:moveTo>
                  <a:pt x="0" y="0"/>
                </a:moveTo>
                <a:cubicBezTo>
                  <a:pt x="502920" y="684953"/>
                  <a:pt x="1005840" y="1369907"/>
                  <a:pt x="2580640" y="1493520"/>
                </a:cubicBezTo>
                <a:cubicBezTo>
                  <a:pt x="4155440" y="1617133"/>
                  <a:pt x="6802120" y="1179406"/>
                  <a:pt x="9448800" y="741680"/>
                </a:cubicBezTo>
              </a:path>
            </a:pathLst>
          </a:custGeom>
          <a:noFill/>
          <a:ln>
            <a:solidFill>
              <a:srgbClr val="FF0000"/>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cxnSp>
        <p:nvCxnSpPr>
          <p:cNvPr id="99" name="Straight Connector 98">
            <a:extLst>
              <a:ext uri="{FF2B5EF4-FFF2-40B4-BE49-F238E27FC236}">
                <a16:creationId xmlns:a16="http://schemas.microsoft.com/office/drawing/2014/main" id="{999F4FD9-292F-2E29-6C8B-05FBB3B8C35B}"/>
              </a:ext>
            </a:extLst>
          </p:cNvPr>
          <p:cNvCxnSpPr>
            <a:stCxn id="75" idx="5"/>
            <a:endCxn id="74" idx="7"/>
          </p:cNvCxnSpPr>
          <p:nvPr/>
        </p:nvCxnSpPr>
        <p:spPr>
          <a:xfrm>
            <a:off x="7864164" y="3302999"/>
            <a:ext cx="3781222" cy="143716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00" name="TextBox 99">
            <a:extLst>
              <a:ext uri="{FF2B5EF4-FFF2-40B4-BE49-F238E27FC236}">
                <a16:creationId xmlns:a16="http://schemas.microsoft.com/office/drawing/2014/main" id="{1A2C2F6D-0F05-26D3-73E2-8BBE0A7D8A60}"/>
              </a:ext>
            </a:extLst>
          </p:cNvPr>
          <p:cNvSpPr txBox="1"/>
          <p:nvPr/>
        </p:nvSpPr>
        <p:spPr>
          <a:xfrm rot="1233122">
            <a:off x="8892637" y="3725119"/>
            <a:ext cx="1724274" cy="307777"/>
          </a:xfrm>
          <a:prstGeom prst="rect">
            <a:avLst/>
          </a:prstGeom>
          <a:noFill/>
        </p:spPr>
        <p:txBody>
          <a:bodyPr wrap="square" rtlCol="0">
            <a:spAutoFit/>
          </a:bodyPr>
          <a:lstStyle/>
          <a:p>
            <a:r>
              <a:rPr lang="en-US" sz="1400">
                <a:solidFill>
                  <a:srgbClr val="FF0000"/>
                </a:solidFill>
              </a:rPr>
              <a:t>Garis Beban</a:t>
            </a:r>
            <a:endParaRPr lang="en-ID" sz="1400">
              <a:solidFill>
                <a:srgbClr val="FF0000"/>
              </a:solidFill>
            </a:endParaRPr>
          </a:p>
        </p:txBody>
      </p:sp>
      <p:sp>
        <p:nvSpPr>
          <p:cNvPr id="10" name="TextBox 9">
            <a:extLst>
              <a:ext uri="{FF2B5EF4-FFF2-40B4-BE49-F238E27FC236}">
                <a16:creationId xmlns:a16="http://schemas.microsoft.com/office/drawing/2014/main" id="{B3EE23D0-EC89-D0C0-36DF-44D777E0342A}"/>
              </a:ext>
            </a:extLst>
          </p:cNvPr>
          <p:cNvSpPr txBox="1"/>
          <p:nvPr/>
        </p:nvSpPr>
        <p:spPr>
          <a:xfrm>
            <a:off x="4084574" y="1196705"/>
            <a:ext cx="3002799" cy="738664"/>
          </a:xfrm>
          <a:prstGeom prst="rect">
            <a:avLst/>
          </a:prstGeom>
          <a:noFill/>
        </p:spPr>
        <p:txBody>
          <a:bodyPr wrap="square">
            <a:spAutoFit/>
          </a:bodyPr>
          <a:lstStyle/>
          <a:p>
            <a:r>
              <a:rPr lang="en-US" sz="1400"/>
              <a:t>Icmax_datasheet=15A</a:t>
            </a:r>
          </a:p>
          <a:p>
            <a:r>
              <a:rPr lang="en-US" sz="1400"/>
              <a:t>Icmax=0,07*Icmax_datasheet</a:t>
            </a:r>
          </a:p>
          <a:p>
            <a:r>
              <a:rPr lang="en-US" sz="1400"/>
              <a:t>Icmax=0,07*15A=1A</a:t>
            </a:r>
            <a:endParaRPr lang="en-ID" sz="1400"/>
          </a:p>
        </p:txBody>
      </p:sp>
      <p:sp>
        <p:nvSpPr>
          <p:cNvPr id="11" name="TextBox 10">
            <a:extLst>
              <a:ext uri="{FF2B5EF4-FFF2-40B4-BE49-F238E27FC236}">
                <a16:creationId xmlns:a16="http://schemas.microsoft.com/office/drawing/2014/main" id="{4EDBA906-73F9-6D52-42F1-70F6DE19B808}"/>
              </a:ext>
            </a:extLst>
          </p:cNvPr>
          <p:cNvSpPr txBox="1"/>
          <p:nvPr/>
        </p:nvSpPr>
        <p:spPr>
          <a:xfrm>
            <a:off x="438886" y="1194623"/>
            <a:ext cx="3002799" cy="738664"/>
          </a:xfrm>
          <a:prstGeom prst="rect">
            <a:avLst/>
          </a:prstGeom>
          <a:noFill/>
        </p:spPr>
        <p:txBody>
          <a:bodyPr wrap="square">
            <a:spAutoFit/>
          </a:bodyPr>
          <a:lstStyle/>
          <a:p>
            <a:r>
              <a:rPr lang="en-US" sz="1400"/>
              <a:t>Vcemax_datasheet=60v</a:t>
            </a:r>
          </a:p>
          <a:p>
            <a:r>
              <a:rPr lang="en-US" sz="1400"/>
              <a:t>Vcemax=Vcc= 0,2*Vcemax_datasheet</a:t>
            </a:r>
          </a:p>
          <a:p>
            <a:r>
              <a:rPr lang="en-US" sz="1400"/>
              <a:t>Vcemax=Vcc= 0,2*60v = 12v</a:t>
            </a:r>
          </a:p>
        </p:txBody>
      </p:sp>
      <p:sp>
        <p:nvSpPr>
          <p:cNvPr id="23" name="TextBox 22">
            <a:extLst>
              <a:ext uri="{FF2B5EF4-FFF2-40B4-BE49-F238E27FC236}">
                <a16:creationId xmlns:a16="http://schemas.microsoft.com/office/drawing/2014/main" id="{A62B4B3C-C59C-D42B-AF03-60760C77CBA0}"/>
              </a:ext>
            </a:extLst>
          </p:cNvPr>
          <p:cNvSpPr txBox="1"/>
          <p:nvPr/>
        </p:nvSpPr>
        <p:spPr>
          <a:xfrm>
            <a:off x="2432593" y="4114866"/>
            <a:ext cx="1567545" cy="307777"/>
          </a:xfrm>
          <a:prstGeom prst="rect">
            <a:avLst/>
          </a:prstGeom>
          <a:noFill/>
        </p:spPr>
        <p:txBody>
          <a:bodyPr wrap="none" rtlCol="0">
            <a:spAutoFit/>
          </a:bodyPr>
          <a:lstStyle/>
          <a:p>
            <a:r>
              <a:rPr lang="en-US" sz="1400">
                <a:solidFill>
                  <a:srgbClr val="FF0000"/>
                </a:solidFill>
              </a:rPr>
              <a:t>= Vcemax=Vcc=12v</a:t>
            </a:r>
            <a:endParaRPr lang="en-ID" sz="1400">
              <a:solidFill>
                <a:srgbClr val="FF0000"/>
              </a:solidFill>
            </a:endParaRPr>
          </a:p>
        </p:txBody>
      </p:sp>
      <p:sp>
        <p:nvSpPr>
          <p:cNvPr id="24" name="Content Placeholder 2">
            <a:extLst>
              <a:ext uri="{FF2B5EF4-FFF2-40B4-BE49-F238E27FC236}">
                <a16:creationId xmlns:a16="http://schemas.microsoft.com/office/drawing/2014/main" id="{E1E1319C-83C7-CDAA-163A-4306754DBC75}"/>
              </a:ext>
            </a:extLst>
          </p:cNvPr>
          <p:cNvSpPr>
            <a:spLocks noGrp="1"/>
          </p:cNvSpPr>
          <p:nvPr>
            <p:ph idx="1"/>
          </p:nvPr>
        </p:nvSpPr>
        <p:spPr>
          <a:xfrm>
            <a:off x="2674279" y="5936884"/>
            <a:ext cx="6864960" cy="371581"/>
          </a:xfrm>
        </p:spPr>
        <p:txBody>
          <a:bodyPr>
            <a:noAutofit/>
          </a:bodyPr>
          <a:lstStyle/>
          <a:p>
            <a:pPr marL="0" indent="0">
              <a:lnSpc>
                <a:spcPct val="100000"/>
              </a:lnSpc>
              <a:spcBef>
                <a:spcPts val="0"/>
              </a:spcBef>
              <a:buNone/>
            </a:pPr>
            <a:r>
              <a:rPr lang="en-US" sz="1800"/>
              <a:t>Persamaan output </a:t>
            </a:r>
            <a:r>
              <a:rPr lang="en-US" sz="1800">
                <a:sym typeface="Wingdings" panose="05000000000000000000" pitchFamily="2" charset="2"/>
              </a:rPr>
              <a:t> </a:t>
            </a:r>
            <a:r>
              <a:rPr lang="en-US" sz="1800"/>
              <a:t>Ic=(Vcc-Vce)/Rc </a:t>
            </a:r>
            <a:r>
              <a:rPr lang="en-US" sz="1800">
                <a:sym typeface="Wingdings" panose="05000000000000000000" pitchFamily="2" charset="2"/>
              </a:rPr>
              <a:t> Rc=Vcemax/Icmax=Vcc/Icmax</a:t>
            </a:r>
            <a:endParaRPr lang="en-US" sz="1800"/>
          </a:p>
        </p:txBody>
      </p:sp>
      <p:sp>
        <p:nvSpPr>
          <p:cNvPr id="26" name="TextBox 25">
            <a:extLst>
              <a:ext uri="{FF2B5EF4-FFF2-40B4-BE49-F238E27FC236}">
                <a16:creationId xmlns:a16="http://schemas.microsoft.com/office/drawing/2014/main" id="{59449204-CFBE-9D0E-12AB-26C9F00DBB3A}"/>
              </a:ext>
            </a:extLst>
          </p:cNvPr>
          <p:cNvSpPr txBox="1"/>
          <p:nvPr/>
        </p:nvSpPr>
        <p:spPr>
          <a:xfrm>
            <a:off x="6986607" y="3110888"/>
            <a:ext cx="772861" cy="523220"/>
          </a:xfrm>
          <a:prstGeom prst="rect">
            <a:avLst/>
          </a:prstGeom>
          <a:noFill/>
        </p:spPr>
        <p:txBody>
          <a:bodyPr wrap="square" rtlCol="0">
            <a:spAutoFit/>
          </a:bodyPr>
          <a:lstStyle/>
          <a:p>
            <a:r>
              <a:rPr lang="en-US" sz="1400"/>
              <a:t>Icmax=1A</a:t>
            </a:r>
            <a:endParaRPr lang="en-ID" sz="1400"/>
          </a:p>
        </p:txBody>
      </p:sp>
      <p:sp>
        <p:nvSpPr>
          <p:cNvPr id="27" name="TextBox 26">
            <a:extLst>
              <a:ext uri="{FF2B5EF4-FFF2-40B4-BE49-F238E27FC236}">
                <a16:creationId xmlns:a16="http://schemas.microsoft.com/office/drawing/2014/main" id="{181E09B9-8B90-F0B3-971D-39FB84AEE80C}"/>
              </a:ext>
            </a:extLst>
          </p:cNvPr>
          <p:cNvSpPr txBox="1"/>
          <p:nvPr/>
        </p:nvSpPr>
        <p:spPr>
          <a:xfrm>
            <a:off x="11195324" y="5121938"/>
            <a:ext cx="772861" cy="738664"/>
          </a:xfrm>
          <a:prstGeom prst="rect">
            <a:avLst/>
          </a:prstGeom>
          <a:noFill/>
        </p:spPr>
        <p:txBody>
          <a:bodyPr wrap="square" rtlCol="0">
            <a:spAutoFit/>
          </a:bodyPr>
          <a:lstStyle/>
          <a:p>
            <a:r>
              <a:rPr lang="en-US" sz="1400"/>
              <a:t>Vcemax</a:t>
            </a:r>
          </a:p>
          <a:p>
            <a:r>
              <a:rPr lang="en-US" sz="1400"/>
              <a:t>=Vcc</a:t>
            </a:r>
          </a:p>
          <a:p>
            <a:r>
              <a:rPr lang="en-US" sz="1400"/>
              <a:t>=12v</a:t>
            </a:r>
            <a:endParaRPr lang="en-ID" sz="1400"/>
          </a:p>
        </p:txBody>
      </p:sp>
    </p:spTree>
    <p:extLst>
      <p:ext uri="{BB962C8B-B14F-4D97-AF65-F5344CB8AC3E}">
        <p14:creationId xmlns:p14="http://schemas.microsoft.com/office/powerpoint/2010/main" val="5795999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5242A-9699-8178-1014-281729F57D8B}"/>
              </a:ext>
            </a:extLst>
          </p:cNvPr>
          <p:cNvSpPr>
            <a:spLocks noGrp="1"/>
          </p:cNvSpPr>
          <p:nvPr>
            <p:ph type="title"/>
          </p:nvPr>
        </p:nvSpPr>
        <p:spPr/>
        <p:txBody>
          <a:bodyPr/>
          <a:lstStyle/>
          <a:p>
            <a:r>
              <a:rPr lang="en-US"/>
              <a:t>Jawaban</a:t>
            </a:r>
            <a:endParaRPr lang="en-ID"/>
          </a:p>
        </p:txBody>
      </p:sp>
      <p:sp>
        <p:nvSpPr>
          <p:cNvPr id="3" name="Content Placeholder 2">
            <a:extLst>
              <a:ext uri="{FF2B5EF4-FFF2-40B4-BE49-F238E27FC236}">
                <a16:creationId xmlns:a16="http://schemas.microsoft.com/office/drawing/2014/main" id="{A139327A-47DC-5D0D-104F-D1689534914B}"/>
              </a:ext>
            </a:extLst>
          </p:cNvPr>
          <p:cNvSpPr>
            <a:spLocks noGrp="1"/>
          </p:cNvSpPr>
          <p:nvPr>
            <p:ph idx="1"/>
          </p:nvPr>
        </p:nvSpPr>
        <p:spPr/>
        <p:txBody>
          <a:bodyPr>
            <a:normAutofit fontScale="62500" lnSpcReduction="20000"/>
          </a:bodyPr>
          <a:lstStyle/>
          <a:p>
            <a:pPr marL="0" indent="0">
              <a:buNone/>
            </a:pPr>
            <a:r>
              <a:rPr lang="en-US"/>
              <a:t>3. Vcemax = 0,2* Vcemax_datasheet = 0,2*60v = 12v</a:t>
            </a:r>
          </a:p>
          <a:p>
            <a:pPr marL="0" indent="0">
              <a:buNone/>
            </a:pPr>
            <a:endParaRPr lang="en-US"/>
          </a:p>
          <a:p>
            <a:pPr marL="0" indent="0">
              <a:buNone/>
            </a:pPr>
            <a:r>
              <a:rPr lang="en-US"/>
              <a:t>4. Icmax=0,67*Icmax_datasheet = 0,67*15A = 1A</a:t>
            </a:r>
          </a:p>
          <a:p>
            <a:pPr marL="0" indent="0">
              <a:buNone/>
            </a:pPr>
            <a:endParaRPr lang="en-US"/>
          </a:p>
          <a:p>
            <a:pPr marL="0" indent="0">
              <a:buNone/>
            </a:pPr>
            <a:r>
              <a:rPr lang="en-US"/>
              <a:t>5. Vcc= Vcemax =12v</a:t>
            </a:r>
          </a:p>
          <a:p>
            <a:pPr marL="0" indent="0">
              <a:buNone/>
            </a:pPr>
            <a:endParaRPr lang="en-US"/>
          </a:p>
          <a:p>
            <a:pPr marL="0" indent="0">
              <a:buNone/>
            </a:pPr>
            <a:r>
              <a:rPr lang="en-US"/>
              <a:t>6. Rc </a:t>
            </a:r>
            <a:r>
              <a:rPr lang="en-US" sz="2800"/>
              <a:t>= (Vcc-Vce)/Icmax = (12-0)/1A = 12 Ohm</a:t>
            </a:r>
          </a:p>
          <a:p>
            <a:pPr marL="0" indent="0">
              <a:buNone/>
            </a:pPr>
            <a:endParaRPr lang="en-US"/>
          </a:p>
          <a:p>
            <a:pPr marL="0" indent="0">
              <a:buNone/>
            </a:pPr>
            <a:r>
              <a:rPr lang="en-US"/>
              <a:t>7. Vceq=1/2 Vcc=1/2 * 12v =6v</a:t>
            </a:r>
            <a:endParaRPr lang="en-US">
              <a:solidFill>
                <a:srgbClr val="FF0000"/>
              </a:solidFill>
            </a:endParaRPr>
          </a:p>
          <a:p>
            <a:pPr>
              <a:buFont typeface="Wingdings" panose="05000000000000000000" pitchFamily="2" charset="2"/>
              <a:buChar char="è"/>
            </a:pPr>
            <a:endParaRPr lang="en-US"/>
          </a:p>
          <a:p>
            <a:pPr marL="0" indent="0">
              <a:buNone/>
            </a:pPr>
            <a:r>
              <a:rPr lang="en-US"/>
              <a:t>8. Icq=1/2 * Icmax = ½ * 1A = 500mA</a:t>
            </a:r>
            <a:endParaRPr lang="en-US">
              <a:solidFill>
                <a:srgbClr val="FF0000"/>
              </a:solidFill>
            </a:endParaRPr>
          </a:p>
          <a:p>
            <a:endParaRPr lang="en-US"/>
          </a:p>
          <a:p>
            <a:pPr marL="0" indent="0">
              <a:buNone/>
            </a:pPr>
            <a:r>
              <a:rPr lang="en-US"/>
              <a:t>9. Garis Beban, 10. Titik Kerja, 11. Vbeq, 12. Beta, dan 13. Ibq </a:t>
            </a:r>
            <a:r>
              <a:rPr lang="en-US">
                <a:sym typeface="Wingdings" panose="05000000000000000000" pitchFamily="2" charset="2"/>
              </a:rPr>
              <a:t> lihat</a:t>
            </a:r>
            <a:r>
              <a:rPr lang="en-US"/>
              <a:t> slide berikut.</a:t>
            </a:r>
          </a:p>
          <a:p>
            <a:endParaRPr lang="en-US"/>
          </a:p>
          <a:p>
            <a:endParaRPr lang="en-US"/>
          </a:p>
          <a:p>
            <a:endParaRPr lang="en-ID"/>
          </a:p>
        </p:txBody>
      </p:sp>
    </p:spTree>
    <p:extLst>
      <p:ext uri="{BB962C8B-B14F-4D97-AF65-F5344CB8AC3E}">
        <p14:creationId xmlns:p14="http://schemas.microsoft.com/office/powerpoint/2010/main" val="27151034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C552C-F7B3-6670-977D-20B871BF9CE2}"/>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B2A110CD-E4DB-FAC6-8F3C-7913D3121860}"/>
              </a:ext>
            </a:extLst>
          </p:cNvPr>
          <p:cNvPicPr>
            <a:picLocks noChangeAspect="1"/>
          </p:cNvPicPr>
          <p:nvPr/>
        </p:nvPicPr>
        <p:blipFill>
          <a:blip r:embed="rId2"/>
          <a:stretch>
            <a:fillRect/>
          </a:stretch>
        </p:blipFill>
        <p:spPr>
          <a:xfrm>
            <a:off x="333322" y="1793363"/>
            <a:ext cx="7677941" cy="4546383"/>
          </a:xfrm>
          <a:prstGeom prst="rect">
            <a:avLst/>
          </a:prstGeom>
        </p:spPr>
      </p:pic>
      <p:sp>
        <p:nvSpPr>
          <p:cNvPr id="2" name="Title 1">
            <a:extLst>
              <a:ext uri="{FF2B5EF4-FFF2-40B4-BE49-F238E27FC236}">
                <a16:creationId xmlns:a16="http://schemas.microsoft.com/office/drawing/2014/main" id="{AA21D613-DFCE-7BF0-BD9B-3D13FE58E038}"/>
              </a:ext>
            </a:extLst>
          </p:cNvPr>
          <p:cNvSpPr>
            <a:spLocks noGrp="1"/>
          </p:cNvSpPr>
          <p:nvPr>
            <p:ph type="title"/>
          </p:nvPr>
        </p:nvSpPr>
        <p:spPr>
          <a:xfrm>
            <a:off x="838200" y="365126"/>
            <a:ext cx="7053470" cy="918146"/>
          </a:xfrm>
        </p:spPr>
        <p:txBody>
          <a:bodyPr>
            <a:noAutofit/>
          </a:bodyPr>
          <a:lstStyle/>
          <a:p>
            <a:r>
              <a:rPr lang="en-US" sz="3200"/>
              <a:t>Menentukan Ibq, Vbeq dan Beta (Hfe) dengan mengetahui Icq dan Vceq</a:t>
            </a:r>
            <a:endParaRPr lang="en-ID" sz="3200"/>
          </a:p>
        </p:txBody>
      </p:sp>
      <p:sp>
        <p:nvSpPr>
          <p:cNvPr id="7" name="TextBox 6">
            <a:extLst>
              <a:ext uri="{FF2B5EF4-FFF2-40B4-BE49-F238E27FC236}">
                <a16:creationId xmlns:a16="http://schemas.microsoft.com/office/drawing/2014/main" id="{FC1998AE-8F93-71DE-BF6D-0B9E18055163}"/>
              </a:ext>
            </a:extLst>
          </p:cNvPr>
          <p:cNvSpPr txBox="1"/>
          <p:nvPr/>
        </p:nvSpPr>
        <p:spPr>
          <a:xfrm>
            <a:off x="8416964" y="151179"/>
            <a:ext cx="3681495" cy="6555641"/>
          </a:xfrm>
          <a:prstGeom prst="rect">
            <a:avLst/>
          </a:prstGeom>
          <a:noFill/>
        </p:spPr>
        <p:txBody>
          <a:bodyPr wrap="square" rtlCol="0">
            <a:spAutoFit/>
          </a:bodyPr>
          <a:lstStyle/>
          <a:p>
            <a:pPr marL="0" lvl="1"/>
            <a:r>
              <a:rPr lang="en-US" sz="1400"/>
              <a:t>Bila Icmax dan Vcemax diketahui, Icmax=1A dan Vcemax=12V maka tarik </a:t>
            </a:r>
            <a:r>
              <a:rPr lang="en-US" sz="1400">
                <a:solidFill>
                  <a:srgbClr val="FF0000"/>
                </a:solidFill>
              </a:rPr>
              <a:t>Garis Beban </a:t>
            </a:r>
            <a:r>
              <a:rPr lang="en-US" sz="1400"/>
              <a:t>yang memotong titik-titik tsb.</a:t>
            </a:r>
          </a:p>
          <a:p>
            <a:pPr marL="0" lvl="1"/>
            <a:endParaRPr lang="en-US" sz="1400"/>
          </a:p>
          <a:p>
            <a:pPr marL="0" lvl="1"/>
            <a:r>
              <a:rPr lang="en-US" sz="1400"/>
              <a:t>Bila Ic dan Vce diketahui misalnya </a:t>
            </a:r>
            <a:r>
              <a:rPr lang="en-US" sz="1400">
                <a:solidFill>
                  <a:srgbClr val="FF0000"/>
                </a:solidFill>
              </a:rPr>
              <a:t>Icq=500mA </a:t>
            </a:r>
            <a:r>
              <a:rPr lang="en-US" sz="1400"/>
              <a:t>dan </a:t>
            </a:r>
            <a:r>
              <a:rPr lang="en-US" sz="1400">
                <a:solidFill>
                  <a:srgbClr val="FF0000"/>
                </a:solidFill>
              </a:rPr>
              <a:t>Vceq=6v </a:t>
            </a:r>
            <a:r>
              <a:rPr lang="en-US" sz="1400"/>
              <a:t>maka tentukan suatu titik kerja (Qpoint) pada grafik Ic=f(Vce, Ib). </a:t>
            </a:r>
          </a:p>
          <a:p>
            <a:pPr marL="0" lvl="1"/>
            <a:endParaRPr lang="en-US" sz="1400"/>
          </a:p>
          <a:p>
            <a:pPr marL="0" lvl="1"/>
            <a:r>
              <a:rPr lang="en-US" sz="1400"/>
              <a:t>Proyeksikan Ic ke kiri sampai memotong kurva pada Vce=6v. Beri nama titik tersebut titik A. </a:t>
            </a:r>
          </a:p>
          <a:p>
            <a:pPr marL="0" lvl="1"/>
            <a:endParaRPr lang="en-US" sz="1400"/>
          </a:p>
          <a:p>
            <a:pPr marL="0" lvl="1"/>
            <a:r>
              <a:rPr lang="en-US" sz="1400"/>
              <a:t>Proyeksikan garis vertikal dari titik A ke bawah hingga memotong sumbu Ib dan kurva Vbe=f(Ib, Vce). Catat nilai Ib tersebut. Nilai </a:t>
            </a:r>
            <a:r>
              <a:rPr lang="en-US" sz="1400">
                <a:solidFill>
                  <a:srgbClr val="FF0000"/>
                </a:solidFill>
              </a:rPr>
              <a:t>Ibq=17,5mA</a:t>
            </a:r>
            <a:r>
              <a:rPr lang="en-US" sz="1400"/>
              <a:t>.</a:t>
            </a:r>
          </a:p>
          <a:p>
            <a:pPr marL="0" lvl="1"/>
            <a:endParaRPr lang="en-US" sz="1400"/>
          </a:p>
          <a:p>
            <a:pPr marL="0" lvl="1"/>
            <a:r>
              <a:rPr lang="en-US" sz="1400"/>
              <a:t>Selanjutnya tentukan suatu titik pada pertemuan garis vertikal tersebut dengan kurva Vbe=f(Ib, Vce) pada vce=6v. Beri nama titik tersebut titik B.</a:t>
            </a:r>
          </a:p>
          <a:p>
            <a:pPr marL="0" lvl="1"/>
            <a:endParaRPr lang="en-US" sz="1400"/>
          </a:p>
          <a:p>
            <a:pPr marL="0" lvl="1"/>
            <a:r>
              <a:rPr lang="en-US" sz="1400"/>
              <a:t>Kemudian proyeksikan titik B tersebut ke kiri hingga memotong sumbu Vbe catat nilainya maka nilai tersebut adalah nilai Vbe Dimana </a:t>
            </a:r>
            <a:r>
              <a:rPr lang="en-US" sz="1400">
                <a:solidFill>
                  <a:srgbClr val="FF0000"/>
                </a:solidFill>
              </a:rPr>
              <a:t>Vbeq=0,72v</a:t>
            </a:r>
          </a:p>
          <a:p>
            <a:pPr marL="0" lvl="1"/>
            <a:endParaRPr lang="en-US" sz="1400"/>
          </a:p>
          <a:p>
            <a:pPr marL="0" lvl="1"/>
            <a:r>
              <a:rPr lang="en-US" sz="1400"/>
              <a:t>Beta (Hfe) dapat dicari dengan melihat grafik Ic=f(Ib, Vce), mencatat Ic dan Ib pada titik A dan menerapkan rumus Beta=Icq/Ibq. Pada titik A tsb, Icq=500mA dan Ibq=17,5mA. Beta = 500mA/17,5mA =28,57. Jadi </a:t>
            </a:r>
            <a:r>
              <a:rPr lang="en-US" sz="1400">
                <a:solidFill>
                  <a:srgbClr val="FF0000"/>
                </a:solidFill>
              </a:rPr>
              <a:t>Beta = 29</a:t>
            </a:r>
            <a:endParaRPr lang="en-ID" sz="1400">
              <a:solidFill>
                <a:srgbClr val="FF0000"/>
              </a:solidFill>
            </a:endParaRPr>
          </a:p>
        </p:txBody>
      </p:sp>
      <p:cxnSp>
        <p:nvCxnSpPr>
          <p:cNvPr id="9" name="Straight Connector 8">
            <a:extLst>
              <a:ext uri="{FF2B5EF4-FFF2-40B4-BE49-F238E27FC236}">
                <a16:creationId xmlns:a16="http://schemas.microsoft.com/office/drawing/2014/main" id="{EBDED6B5-4D7A-B7E6-7C1C-8934E2B13A0F}"/>
              </a:ext>
            </a:extLst>
          </p:cNvPr>
          <p:cNvCxnSpPr>
            <a:cxnSpLocks/>
          </p:cNvCxnSpPr>
          <p:nvPr/>
        </p:nvCxnSpPr>
        <p:spPr>
          <a:xfrm flipH="1">
            <a:off x="584234" y="2916349"/>
            <a:ext cx="5736386" cy="32081"/>
          </a:xfrm>
          <a:prstGeom prst="line">
            <a:avLst/>
          </a:prstGeom>
          <a:ln w="28575">
            <a:solidFill>
              <a:schemeClr val="tx1"/>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A8B7E12D-A2DE-2508-D69B-A23EAADAF0FE}"/>
              </a:ext>
            </a:extLst>
          </p:cNvPr>
          <p:cNvSpPr txBox="1"/>
          <p:nvPr/>
        </p:nvSpPr>
        <p:spPr>
          <a:xfrm>
            <a:off x="4317152" y="1506022"/>
            <a:ext cx="441961" cy="369332"/>
          </a:xfrm>
          <a:prstGeom prst="rect">
            <a:avLst/>
          </a:prstGeom>
          <a:noFill/>
        </p:spPr>
        <p:txBody>
          <a:bodyPr wrap="square">
            <a:spAutoFit/>
          </a:bodyPr>
          <a:lstStyle/>
          <a:p>
            <a:r>
              <a:rPr lang="en-US"/>
              <a:t>Ic</a:t>
            </a:r>
            <a:endParaRPr lang="en-ID"/>
          </a:p>
        </p:txBody>
      </p:sp>
      <p:sp>
        <p:nvSpPr>
          <p:cNvPr id="17" name="TextBox 16">
            <a:extLst>
              <a:ext uri="{FF2B5EF4-FFF2-40B4-BE49-F238E27FC236}">
                <a16:creationId xmlns:a16="http://schemas.microsoft.com/office/drawing/2014/main" id="{9F50C60C-4D4C-B414-C2AC-7D4777321805}"/>
              </a:ext>
            </a:extLst>
          </p:cNvPr>
          <p:cNvSpPr txBox="1"/>
          <p:nvPr/>
        </p:nvSpPr>
        <p:spPr>
          <a:xfrm>
            <a:off x="441747" y="1535651"/>
            <a:ext cx="441961" cy="369332"/>
          </a:xfrm>
          <a:prstGeom prst="rect">
            <a:avLst/>
          </a:prstGeom>
          <a:noFill/>
        </p:spPr>
        <p:txBody>
          <a:bodyPr wrap="square">
            <a:spAutoFit/>
          </a:bodyPr>
          <a:lstStyle/>
          <a:p>
            <a:r>
              <a:rPr lang="en-US"/>
              <a:t>Ic</a:t>
            </a:r>
            <a:endParaRPr lang="en-ID"/>
          </a:p>
        </p:txBody>
      </p:sp>
      <p:sp>
        <p:nvSpPr>
          <p:cNvPr id="18" name="TextBox 17">
            <a:extLst>
              <a:ext uri="{FF2B5EF4-FFF2-40B4-BE49-F238E27FC236}">
                <a16:creationId xmlns:a16="http://schemas.microsoft.com/office/drawing/2014/main" id="{B4744BD6-5616-ED3D-FA67-0AE67DF5CFE3}"/>
              </a:ext>
            </a:extLst>
          </p:cNvPr>
          <p:cNvSpPr txBox="1"/>
          <p:nvPr/>
        </p:nvSpPr>
        <p:spPr>
          <a:xfrm>
            <a:off x="3801002" y="4026853"/>
            <a:ext cx="441961" cy="369332"/>
          </a:xfrm>
          <a:prstGeom prst="rect">
            <a:avLst/>
          </a:prstGeom>
          <a:noFill/>
        </p:spPr>
        <p:txBody>
          <a:bodyPr wrap="square">
            <a:spAutoFit/>
          </a:bodyPr>
          <a:lstStyle/>
          <a:p>
            <a:r>
              <a:rPr lang="en-US"/>
              <a:t>Ib</a:t>
            </a:r>
            <a:endParaRPr lang="en-ID"/>
          </a:p>
        </p:txBody>
      </p:sp>
      <p:sp>
        <p:nvSpPr>
          <p:cNvPr id="19" name="TextBox 18">
            <a:extLst>
              <a:ext uri="{FF2B5EF4-FFF2-40B4-BE49-F238E27FC236}">
                <a16:creationId xmlns:a16="http://schemas.microsoft.com/office/drawing/2014/main" id="{0699B8C8-EAE9-E981-FCBE-ED771ED59B1B}"/>
              </a:ext>
            </a:extLst>
          </p:cNvPr>
          <p:cNvSpPr txBox="1"/>
          <p:nvPr/>
        </p:nvSpPr>
        <p:spPr>
          <a:xfrm>
            <a:off x="7897289" y="3779172"/>
            <a:ext cx="519675" cy="369332"/>
          </a:xfrm>
          <a:prstGeom prst="rect">
            <a:avLst/>
          </a:prstGeom>
          <a:noFill/>
        </p:spPr>
        <p:txBody>
          <a:bodyPr wrap="square">
            <a:spAutoFit/>
          </a:bodyPr>
          <a:lstStyle/>
          <a:p>
            <a:r>
              <a:rPr lang="en-US"/>
              <a:t>Vce</a:t>
            </a:r>
            <a:endParaRPr lang="en-ID"/>
          </a:p>
        </p:txBody>
      </p:sp>
      <p:sp>
        <p:nvSpPr>
          <p:cNvPr id="20" name="TextBox 19">
            <a:extLst>
              <a:ext uri="{FF2B5EF4-FFF2-40B4-BE49-F238E27FC236}">
                <a16:creationId xmlns:a16="http://schemas.microsoft.com/office/drawing/2014/main" id="{275E44B9-EB44-F612-2F84-6F843586F9AC}"/>
              </a:ext>
            </a:extLst>
          </p:cNvPr>
          <p:cNvSpPr txBox="1"/>
          <p:nvPr/>
        </p:nvSpPr>
        <p:spPr>
          <a:xfrm>
            <a:off x="369209" y="4186481"/>
            <a:ext cx="594984" cy="369332"/>
          </a:xfrm>
          <a:prstGeom prst="rect">
            <a:avLst/>
          </a:prstGeom>
          <a:noFill/>
        </p:spPr>
        <p:txBody>
          <a:bodyPr wrap="square">
            <a:spAutoFit/>
          </a:bodyPr>
          <a:lstStyle/>
          <a:p>
            <a:r>
              <a:rPr lang="en-US"/>
              <a:t>Vbe</a:t>
            </a:r>
            <a:endParaRPr lang="en-ID"/>
          </a:p>
        </p:txBody>
      </p:sp>
      <p:sp>
        <p:nvSpPr>
          <p:cNvPr id="21" name="TextBox 20">
            <a:extLst>
              <a:ext uri="{FF2B5EF4-FFF2-40B4-BE49-F238E27FC236}">
                <a16:creationId xmlns:a16="http://schemas.microsoft.com/office/drawing/2014/main" id="{EF8936E7-F570-C2AF-125B-CA0636D234CF}"/>
              </a:ext>
            </a:extLst>
          </p:cNvPr>
          <p:cNvSpPr txBox="1"/>
          <p:nvPr/>
        </p:nvSpPr>
        <p:spPr>
          <a:xfrm>
            <a:off x="3801002" y="6277600"/>
            <a:ext cx="441961" cy="369332"/>
          </a:xfrm>
          <a:prstGeom prst="rect">
            <a:avLst/>
          </a:prstGeom>
          <a:noFill/>
        </p:spPr>
        <p:txBody>
          <a:bodyPr wrap="square">
            <a:spAutoFit/>
          </a:bodyPr>
          <a:lstStyle/>
          <a:p>
            <a:r>
              <a:rPr lang="en-US"/>
              <a:t>Ib</a:t>
            </a:r>
            <a:endParaRPr lang="en-ID"/>
          </a:p>
        </p:txBody>
      </p:sp>
      <p:cxnSp>
        <p:nvCxnSpPr>
          <p:cNvPr id="28" name="Straight Connector 27">
            <a:extLst>
              <a:ext uri="{FF2B5EF4-FFF2-40B4-BE49-F238E27FC236}">
                <a16:creationId xmlns:a16="http://schemas.microsoft.com/office/drawing/2014/main" id="{49021C4E-F2BB-0A8D-7787-0D16C3BA6D62}"/>
              </a:ext>
            </a:extLst>
          </p:cNvPr>
          <p:cNvCxnSpPr>
            <a:cxnSpLocks/>
          </p:cNvCxnSpPr>
          <p:nvPr/>
        </p:nvCxnSpPr>
        <p:spPr>
          <a:xfrm>
            <a:off x="1754315" y="2945008"/>
            <a:ext cx="0" cy="3263287"/>
          </a:xfrm>
          <a:prstGeom prst="line">
            <a:avLst/>
          </a:prstGeom>
          <a:ln w="28575">
            <a:solidFill>
              <a:schemeClr val="tx1"/>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C218B3C9-499E-9B75-4C99-94B699A095D5}"/>
              </a:ext>
            </a:extLst>
          </p:cNvPr>
          <p:cNvSpPr txBox="1"/>
          <p:nvPr/>
        </p:nvSpPr>
        <p:spPr>
          <a:xfrm>
            <a:off x="1538728" y="6300933"/>
            <a:ext cx="830677" cy="276999"/>
          </a:xfrm>
          <a:prstGeom prst="rect">
            <a:avLst/>
          </a:prstGeom>
          <a:noFill/>
        </p:spPr>
        <p:txBody>
          <a:bodyPr wrap="none" rtlCol="0">
            <a:spAutoFit/>
          </a:bodyPr>
          <a:lstStyle/>
          <a:p>
            <a:r>
              <a:rPr lang="en-US" sz="1200">
                <a:solidFill>
                  <a:srgbClr val="FF0000"/>
                </a:solidFill>
              </a:rPr>
              <a:t>Ibq=18mA</a:t>
            </a:r>
            <a:endParaRPr lang="en-ID" sz="1200">
              <a:solidFill>
                <a:srgbClr val="FF0000"/>
              </a:solidFill>
            </a:endParaRPr>
          </a:p>
        </p:txBody>
      </p:sp>
      <p:sp>
        <p:nvSpPr>
          <p:cNvPr id="36" name="TextBox 35">
            <a:extLst>
              <a:ext uri="{FF2B5EF4-FFF2-40B4-BE49-F238E27FC236}">
                <a16:creationId xmlns:a16="http://schemas.microsoft.com/office/drawing/2014/main" id="{42756D6F-F03F-5D0D-9CF6-2AE90C0375A4}"/>
              </a:ext>
            </a:extLst>
          </p:cNvPr>
          <p:cNvSpPr txBox="1"/>
          <p:nvPr/>
        </p:nvSpPr>
        <p:spPr>
          <a:xfrm>
            <a:off x="72055" y="4555813"/>
            <a:ext cx="594975" cy="461665"/>
          </a:xfrm>
          <a:prstGeom prst="rect">
            <a:avLst/>
          </a:prstGeom>
          <a:noFill/>
        </p:spPr>
        <p:txBody>
          <a:bodyPr wrap="square" rtlCol="0">
            <a:spAutoFit/>
          </a:bodyPr>
          <a:lstStyle/>
          <a:p>
            <a:r>
              <a:rPr lang="en-US" sz="1200">
                <a:solidFill>
                  <a:srgbClr val="FF0000"/>
                </a:solidFill>
              </a:rPr>
              <a:t>Vbeq=0,72v</a:t>
            </a:r>
            <a:endParaRPr lang="en-ID" sz="1200">
              <a:solidFill>
                <a:srgbClr val="FF0000"/>
              </a:solidFill>
            </a:endParaRPr>
          </a:p>
        </p:txBody>
      </p:sp>
      <p:sp>
        <p:nvSpPr>
          <p:cNvPr id="37" name="TextBox 36">
            <a:extLst>
              <a:ext uri="{FF2B5EF4-FFF2-40B4-BE49-F238E27FC236}">
                <a16:creationId xmlns:a16="http://schemas.microsoft.com/office/drawing/2014/main" id="{5753C695-0D83-AAD9-A71D-A0910E59EBD0}"/>
              </a:ext>
            </a:extLst>
          </p:cNvPr>
          <p:cNvSpPr txBox="1"/>
          <p:nvPr/>
        </p:nvSpPr>
        <p:spPr>
          <a:xfrm>
            <a:off x="1511427" y="2599458"/>
            <a:ext cx="317716" cy="369332"/>
          </a:xfrm>
          <a:prstGeom prst="rect">
            <a:avLst/>
          </a:prstGeom>
          <a:noFill/>
        </p:spPr>
        <p:txBody>
          <a:bodyPr wrap="none" rtlCol="0">
            <a:spAutoFit/>
          </a:bodyPr>
          <a:lstStyle/>
          <a:p>
            <a:r>
              <a:rPr lang="en-US">
                <a:solidFill>
                  <a:srgbClr val="FF0000"/>
                </a:solidFill>
              </a:rPr>
              <a:t>A</a:t>
            </a:r>
            <a:endParaRPr lang="en-ID">
              <a:solidFill>
                <a:srgbClr val="FF0000"/>
              </a:solidFill>
            </a:endParaRPr>
          </a:p>
        </p:txBody>
      </p:sp>
      <p:sp>
        <p:nvSpPr>
          <p:cNvPr id="38" name="TextBox 37">
            <a:extLst>
              <a:ext uri="{FF2B5EF4-FFF2-40B4-BE49-F238E27FC236}">
                <a16:creationId xmlns:a16="http://schemas.microsoft.com/office/drawing/2014/main" id="{59D64572-7B2D-206B-9F89-E6E30EB091B0}"/>
              </a:ext>
            </a:extLst>
          </p:cNvPr>
          <p:cNvSpPr txBox="1"/>
          <p:nvPr/>
        </p:nvSpPr>
        <p:spPr>
          <a:xfrm>
            <a:off x="1741770" y="4547406"/>
            <a:ext cx="309700" cy="369332"/>
          </a:xfrm>
          <a:prstGeom prst="rect">
            <a:avLst/>
          </a:prstGeom>
          <a:noFill/>
        </p:spPr>
        <p:txBody>
          <a:bodyPr wrap="none" rtlCol="0">
            <a:spAutoFit/>
          </a:bodyPr>
          <a:lstStyle/>
          <a:p>
            <a:r>
              <a:rPr lang="en-US">
                <a:solidFill>
                  <a:srgbClr val="FF0000"/>
                </a:solidFill>
              </a:rPr>
              <a:t>B</a:t>
            </a:r>
            <a:endParaRPr lang="en-ID">
              <a:solidFill>
                <a:srgbClr val="FF0000"/>
              </a:solidFill>
            </a:endParaRPr>
          </a:p>
        </p:txBody>
      </p:sp>
      <p:cxnSp>
        <p:nvCxnSpPr>
          <p:cNvPr id="4" name="Straight Connector 3">
            <a:extLst>
              <a:ext uri="{FF2B5EF4-FFF2-40B4-BE49-F238E27FC236}">
                <a16:creationId xmlns:a16="http://schemas.microsoft.com/office/drawing/2014/main" id="{91AA34A7-7B9F-5FCB-72E0-0C9F90C162CF}"/>
              </a:ext>
            </a:extLst>
          </p:cNvPr>
          <p:cNvCxnSpPr>
            <a:cxnSpLocks/>
          </p:cNvCxnSpPr>
          <p:nvPr/>
        </p:nvCxnSpPr>
        <p:spPr>
          <a:xfrm flipV="1">
            <a:off x="6333545" y="2892469"/>
            <a:ext cx="12638" cy="1023855"/>
          </a:xfrm>
          <a:prstGeom prst="line">
            <a:avLst/>
          </a:prstGeom>
          <a:ln w="28575">
            <a:solidFill>
              <a:schemeClr val="tx1"/>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50A6B8FC-62A4-A8D7-DECF-AA47FE6EC2B6}"/>
              </a:ext>
            </a:extLst>
          </p:cNvPr>
          <p:cNvSpPr txBox="1"/>
          <p:nvPr/>
        </p:nvSpPr>
        <p:spPr>
          <a:xfrm>
            <a:off x="5425795" y="1424031"/>
            <a:ext cx="1310640" cy="369332"/>
          </a:xfrm>
          <a:prstGeom prst="rect">
            <a:avLst/>
          </a:prstGeom>
          <a:noFill/>
        </p:spPr>
        <p:txBody>
          <a:bodyPr wrap="square">
            <a:spAutoFit/>
          </a:bodyPr>
          <a:lstStyle/>
          <a:p>
            <a:r>
              <a:rPr lang="en-US"/>
              <a:t>Ic=f(Vce, Ib) </a:t>
            </a:r>
            <a:endParaRPr lang="en-ID"/>
          </a:p>
        </p:txBody>
      </p:sp>
      <p:sp>
        <p:nvSpPr>
          <p:cNvPr id="15" name="TextBox 14">
            <a:extLst>
              <a:ext uri="{FF2B5EF4-FFF2-40B4-BE49-F238E27FC236}">
                <a16:creationId xmlns:a16="http://schemas.microsoft.com/office/drawing/2014/main" id="{19716AA0-6A29-CD96-3AD5-9D73CCBE8F94}"/>
              </a:ext>
            </a:extLst>
          </p:cNvPr>
          <p:cNvSpPr txBox="1"/>
          <p:nvPr/>
        </p:nvSpPr>
        <p:spPr>
          <a:xfrm>
            <a:off x="1538728" y="1449035"/>
            <a:ext cx="1310640" cy="369332"/>
          </a:xfrm>
          <a:prstGeom prst="rect">
            <a:avLst/>
          </a:prstGeom>
          <a:noFill/>
        </p:spPr>
        <p:txBody>
          <a:bodyPr wrap="square">
            <a:spAutoFit/>
          </a:bodyPr>
          <a:lstStyle/>
          <a:p>
            <a:r>
              <a:rPr lang="en-US"/>
              <a:t>Ic=f(Ib, Vce) </a:t>
            </a:r>
            <a:endParaRPr lang="en-ID"/>
          </a:p>
        </p:txBody>
      </p:sp>
      <p:sp>
        <p:nvSpPr>
          <p:cNvPr id="22" name="TextBox 21">
            <a:extLst>
              <a:ext uri="{FF2B5EF4-FFF2-40B4-BE49-F238E27FC236}">
                <a16:creationId xmlns:a16="http://schemas.microsoft.com/office/drawing/2014/main" id="{BDC68663-82CE-8E74-7ECD-FC8189A70125}"/>
              </a:ext>
            </a:extLst>
          </p:cNvPr>
          <p:cNvSpPr txBox="1"/>
          <p:nvPr/>
        </p:nvSpPr>
        <p:spPr>
          <a:xfrm>
            <a:off x="1491069" y="4113435"/>
            <a:ext cx="1528062" cy="369332"/>
          </a:xfrm>
          <a:prstGeom prst="rect">
            <a:avLst/>
          </a:prstGeom>
          <a:noFill/>
        </p:spPr>
        <p:txBody>
          <a:bodyPr wrap="square">
            <a:spAutoFit/>
          </a:bodyPr>
          <a:lstStyle/>
          <a:p>
            <a:r>
              <a:rPr lang="en-US"/>
              <a:t>Vbe=f(Ib, Vce) </a:t>
            </a:r>
            <a:endParaRPr lang="en-ID"/>
          </a:p>
        </p:txBody>
      </p:sp>
      <p:sp>
        <p:nvSpPr>
          <p:cNvPr id="5" name="TextBox 4">
            <a:extLst>
              <a:ext uri="{FF2B5EF4-FFF2-40B4-BE49-F238E27FC236}">
                <a16:creationId xmlns:a16="http://schemas.microsoft.com/office/drawing/2014/main" id="{A498B006-B5FC-F09E-3924-3356078D531B}"/>
              </a:ext>
            </a:extLst>
          </p:cNvPr>
          <p:cNvSpPr txBox="1"/>
          <p:nvPr/>
        </p:nvSpPr>
        <p:spPr>
          <a:xfrm>
            <a:off x="5990830" y="4010004"/>
            <a:ext cx="710707" cy="276999"/>
          </a:xfrm>
          <a:prstGeom prst="rect">
            <a:avLst/>
          </a:prstGeom>
          <a:noFill/>
        </p:spPr>
        <p:txBody>
          <a:bodyPr wrap="none" rtlCol="0">
            <a:spAutoFit/>
          </a:bodyPr>
          <a:lstStyle/>
          <a:p>
            <a:r>
              <a:rPr lang="en-US" sz="1200">
                <a:solidFill>
                  <a:srgbClr val="FF0000"/>
                </a:solidFill>
              </a:rPr>
              <a:t>Vceq=6v</a:t>
            </a:r>
            <a:endParaRPr lang="en-ID" sz="1200">
              <a:solidFill>
                <a:srgbClr val="FF0000"/>
              </a:solidFill>
            </a:endParaRPr>
          </a:p>
        </p:txBody>
      </p:sp>
      <p:sp>
        <p:nvSpPr>
          <p:cNvPr id="13" name="TextBox 12">
            <a:extLst>
              <a:ext uri="{FF2B5EF4-FFF2-40B4-BE49-F238E27FC236}">
                <a16:creationId xmlns:a16="http://schemas.microsoft.com/office/drawing/2014/main" id="{5731198D-5FAF-E422-2E19-AD1BA20856E1}"/>
              </a:ext>
            </a:extLst>
          </p:cNvPr>
          <p:cNvSpPr txBox="1"/>
          <p:nvPr/>
        </p:nvSpPr>
        <p:spPr>
          <a:xfrm>
            <a:off x="3801343" y="2683001"/>
            <a:ext cx="894797" cy="276999"/>
          </a:xfrm>
          <a:prstGeom prst="rect">
            <a:avLst/>
          </a:prstGeom>
          <a:noFill/>
        </p:spPr>
        <p:txBody>
          <a:bodyPr wrap="none" rtlCol="0">
            <a:spAutoFit/>
          </a:bodyPr>
          <a:lstStyle/>
          <a:p>
            <a:r>
              <a:rPr lang="en-US" sz="1200">
                <a:solidFill>
                  <a:srgbClr val="FF0000"/>
                </a:solidFill>
              </a:rPr>
              <a:t>Icq=500mA</a:t>
            </a:r>
            <a:endParaRPr lang="en-ID" sz="1200">
              <a:solidFill>
                <a:srgbClr val="FF0000"/>
              </a:solidFill>
            </a:endParaRPr>
          </a:p>
        </p:txBody>
      </p:sp>
      <p:cxnSp>
        <p:nvCxnSpPr>
          <p:cNvPr id="33" name="Straight Connector 32">
            <a:extLst>
              <a:ext uri="{FF2B5EF4-FFF2-40B4-BE49-F238E27FC236}">
                <a16:creationId xmlns:a16="http://schemas.microsoft.com/office/drawing/2014/main" id="{3A6035F6-F324-A490-A0E8-B0C2F6F0A428}"/>
              </a:ext>
            </a:extLst>
          </p:cNvPr>
          <p:cNvCxnSpPr>
            <a:cxnSpLocks/>
          </p:cNvCxnSpPr>
          <p:nvPr/>
        </p:nvCxnSpPr>
        <p:spPr>
          <a:xfrm flipH="1">
            <a:off x="630477" y="4766596"/>
            <a:ext cx="1123838" cy="0"/>
          </a:xfrm>
          <a:prstGeom prst="line">
            <a:avLst/>
          </a:prstGeom>
          <a:ln w="28575">
            <a:solidFill>
              <a:schemeClr val="tx1"/>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446B43F5-D8A4-F51F-000D-EFE649143636}"/>
              </a:ext>
            </a:extLst>
          </p:cNvPr>
          <p:cNvSpPr txBox="1"/>
          <p:nvPr/>
        </p:nvSpPr>
        <p:spPr>
          <a:xfrm>
            <a:off x="6081115" y="2567248"/>
            <a:ext cx="824265" cy="307777"/>
          </a:xfrm>
          <a:prstGeom prst="rect">
            <a:avLst/>
          </a:prstGeom>
          <a:noFill/>
        </p:spPr>
        <p:txBody>
          <a:bodyPr wrap="none" rtlCol="0">
            <a:spAutoFit/>
          </a:bodyPr>
          <a:lstStyle/>
          <a:p>
            <a:r>
              <a:rPr lang="en-US" sz="1400">
                <a:solidFill>
                  <a:srgbClr val="FF0000"/>
                </a:solidFill>
              </a:rPr>
              <a:t>Q(6,500)</a:t>
            </a:r>
            <a:endParaRPr lang="en-ID" sz="1400">
              <a:solidFill>
                <a:srgbClr val="FF0000"/>
              </a:solidFill>
            </a:endParaRPr>
          </a:p>
        </p:txBody>
      </p:sp>
      <p:sp>
        <p:nvSpPr>
          <p:cNvPr id="3" name="TextBox 2">
            <a:extLst>
              <a:ext uri="{FF2B5EF4-FFF2-40B4-BE49-F238E27FC236}">
                <a16:creationId xmlns:a16="http://schemas.microsoft.com/office/drawing/2014/main" id="{B5656B76-0023-4756-86FA-1C2F8A524B71}"/>
              </a:ext>
            </a:extLst>
          </p:cNvPr>
          <p:cNvSpPr txBox="1"/>
          <p:nvPr/>
        </p:nvSpPr>
        <p:spPr>
          <a:xfrm>
            <a:off x="7369791" y="4001815"/>
            <a:ext cx="972189" cy="276999"/>
          </a:xfrm>
          <a:prstGeom prst="rect">
            <a:avLst/>
          </a:prstGeom>
          <a:noFill/>
        </p:spPr>
        <p:txBody>
          <a:bodyPr wrap="none" rtlCol="0">
            <a:spAutoFit/>
          </a:bodyPr>
          <a:lstStyle/>
          <a:p>
            <a:r>
              <a:rPr lang="en-US" sz="1200">
                <a:solidFill>
                  <a:srgbClr val="FF0000"/>
                </a:solidFill>
              </a:rPr>
              <a:t>Vcemax=12v</a:t>
            </a:r>
            <a:endParaRPr lang="en-ID" sz="1200">
              <a:solidFill>
                <a:srgbClr val="FF0000"/>
              </a:solidFill>
            </a:endParaRPr>
          </a:p>
        </p:txBody>
      </p:sp>
      <p:cxnSp>
        <p:nvCxnSpPr>
          <p:cNvPr id="10" name="Straight Connector 9">
            <a:extLst>
              <a:ext uri="{FF2B5EF4-FFF2-40B4-BE49-F238E27FC236}">
                <a16:creationId xmlns:a16="http://schemas.microsoft.com/office/drawing/2014/main" id="{BB778749-E8B0-AA55-D863-064A05A8EA7B}"/>
              </a:ext>
            </a:extLst>
          </p:cNvPr>
          <p:cNvCxnSpPr>
            <a:cxnSpLocks/>
          </p:cNvCxnSpPr>
          <p:nvPr/>
        </p:nvCxnSpPr>
        <p:spPr>
          <a:xfrm>
            <a:off x="4696140" y="2194560"/>
            <a:ext cx="3252899" cy="144018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DB77A9B8-A31B-ED96-E68B-DB61B507B948}"/>
              </a:ext>
            </a:extLst>
          </p:cNvPr>
          <p:cNvSpPr txBox="1"/>
          <p:nvPr/>
        </p:nvSpPr>
        <p:spPr>
          <a:xfrm rot="1406921">
            <a:off x="4947312" y="2265327"/>
            <a:ext cx="1063112" cy="307777"/>
          </a:xfrm>
          <a:prstGeom prst="rect">
            <a:avLst/>
          </a:prstGeom>
          <a:noFill/>
        </p:spPr>
        <p:txBody>
          <a:bodyPr wrap="none" rtlCol="0">
            <a:spAutoFit/>
          </a:bodyPr>
          <a:lstStyle/>
          <a:p>
            <a:r>
              <a:rPr lang="en-US" sz="1400">
                <a:solidFill>
                  <a:srgbClr val="FF0000"/>
                </a:solidFill>
              </a:rPr>
              <a:t>Garis Beban</a:t>
            </a:r>
            <a:endParaRPr lang="en-ID" sz="1400">
              <a:solidFill>
                <a:srgbClr val="FF0000"/>
              </a:solidFill>
            </a:endParaRPr>
          </a:p>
        </p:txBody>
      </p:sp>
      <p:sp>
        <p:nvSpPr>
          <p:cNvPr id="11" name="TextBox 10">
            <a:extLst>
              <a:ext uri="{FF2B5EF4-FFF2-40B4-BE49-F238E27FC236}">
                <a16:creationId xmlns:a16="http://schemas.microsoft.com/office/drawing/2014/main" id="{68DD6977-37AA-3270-7D41-09DCF0DB02B9}"/>
              </a:ext>
            </a:extLst>
          </p:cNvPr>
          <p:cNvSpPr txBox="1"/>
          <p:nvPr/>
        </p:nvSpPr>
        <p:spPr>
          <a:xfrm>
            <a:off x="4041179" y="2038819"/>
            <a:ext cx="551946" cy="276999"/>
          </a:xfrm>
          <a:prstGeom prst="rect">
            <a:avLst/>
          </a:prstGeom>
          <a:noFill/>
        </p:spPr>
        <p:txBody>
          <a:bodyPr wrap="none" rtlCol="0">
            <a:spAutoFit/>
          </a:bodyPr>
          <a:lstStyle/>
          <a:p>
            <a:r>
              <a:rPr lang="en-US" sz="1200">
                <a:solidFill>
                  <a:srgbClr val="FF0000"/>
                </a:solidFill>
              </a:rPr>
              <a:t>Icmax</a:t>
            </a:r>
            <a:endParaRPr lang="en-ID" sz="1200">
              <a:solidFill>
                <a:srgbClr val="FF0000"/>
              </a:solidFill>
            </a:endParaRPr>
          </a:p>
        </p:txBody>
      </p:sp>
    </p:spTree>
    <p:extLst>
      <p:ext uri="{BB962C8B-B14F-4D97-AF65-F5344CB8AC3E}">
        <p14:creationId xmlns:p14="http://schemas.microsoft.com/office/powerpoint/2010/main" val="18394232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3CF99-DB76-838C-7850-E02839A8EB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5EAD39-3347-B768-C96E-7AEA2BFC4FFE}"/>
              </a:ext>
            </a:extLst>
          </p:cNvPr>
          <p:cNvSpPr>
            <a:spLocks noGrp="1"/>
          </p:cNvSpPr>
          <p:nvPr>
            <p:ph type="title"/>
          </p:nvPr>
        </p:nvSpPr>
        <p:spPr/>
        <p:txBody>
          <a:bodyPr/>
          <a:lstStyle/>
          <a:p>
            <a:endParaRPr lang="en-ID"/>
          </a:p>
        </p:txBody>
      </p:sp>
      <p:sp>
        <p:nvSpPr>
          <p:cNvPr id="3" name="Content Placeholder 2">
            <a:extLst>
              <a:ext uri="{FF2B5EF4-FFF2-40B4-BE49-F238E27FC236}">
                <a16:creationId xmlns:a16="http://schemas.microsoft.com/office/drawing/2014/main" id="{706D3DBA-CB82-73B1-FA89-5835FBC872A1}"/>
              </a:ext>
            </a:extLst>
          </p:cNvPr>
          <p:cNvSpPr>
            <a:spLocks noGrp="1"/>
          </p:cNvSpPr>
          <p:nvPr>
            <p:ph idx="1"/>
          </p:nvPr>
        </p:nvSpPr>
        <p:spPr>
          <a:xfrm>
            <a:off x="838200" y="1825625"/>
            <a:ext cx="5520516" cy="4351338"/>
          </a:xfrm>
        </p:spPr>
        <p:txBody>
          <a:bodyPr>
            <a:normAutofit/>
          </a:bodyPr>
          <a:lstStyle/>
          <a:p>
            <a:pPr marL="0" indent="0">
              <a:buNone/>
            </a:pPr>
            <a:r>
              <a:rPr lang="en-US" sz="2400"/>
              <a:t>9. Garis Beban (lihat grafik)</a:t>
            </a:r>
          </a:p>
          <a:p>
            <a:pPr marL="0" indent="0">
              <a:buNone/>
            </a:pPr>
            <a:r>
              <a:rPr lang="en-US" sz="2400"/>
              <a:t>10. Titik Kerja (lihat grafik)</a:t>
            </a:r>
          </a:p>
          <a:p>
            <a:pPr marL="0" indent="0">
              <a:buNone/>
            </a:pPr>
            <a:r>
              <a:rPr lang="en-US" sz="2400"/>
              <a:t>11. Vbeq=0,72v (dari grafik)</a:t>
            </a:r>
          </a:p>
          <a:p>
            <a:pPr marL="0" indent="0">
              <a:buNone/>
            </a:pPr>
            <a:r>
              <a:rPr lang="en-US" sz="2400"/>
              <a:t>12. Beta = 29 (dari grafik)</a:t>
            </a:r>
          </a:p>
          <a:p>
            <a:pPr marL="0" indent="0">
              <a:buNone/>
            </a:pPr>
            <a:r>
              <a:rPr lang="en-US" sz="2400"/>
              <a:t>13. Ibq=17,5mA (dari grafik)</a:t>
            </a:r>
          </a:p>
          <a:p>
            <a:pPr marL="0" indent="0">
              <a:buNone/>
            </a:pPr>
            <a:r>
              <a:rPr lang="en-US" sz="2400"/>
              <a:t>14. Rb=(Vcc-Vbeq)/Ibq</a:t>
            </a:r>
          </a:p>
          <a:p>
            <a:pPr marL="0" indent="0">
              <a:buNone/>
            </a:pPr>
            <a:r>
              <a:rPr lang="en-US" sz="2400"/>
              <a:t>           =(12-0,72)/0,0175= 644,57 Ohm</a:t>
            </a:r>
          </a:p>
          <a:p>
            <a:pPr marL="0" indent="0">
              <a:buNone/>
            </a:pPr>
            <a:r>
              <a:rPr lang="en-US" sz="2400"/>
              <a:t>       Rb= 645 Ohm</a:t>
            </a:r>
          </a:p>
        </p:txBody>
      </p:sp>
      <p:sp>
        <p:nvSpPr>
          <p:cNvPr id="12" name="TextBox 11">
            <a:extLst>
              <a:ext uri="{FF2B5EF4-FFF2-40B4-BE49-F238E27FC236}">
                <a16:creationId xmlns:a16="http://schemas.microsoft.com/office/drawing/2014/main" id="{40AD7933-9B2B-0494-1406-77431A55EEA0}"/>
              </a:ext>
            </a:extLst>
          </p:cNvPr>
          <p:cNvSpPr txBox="1"/>
          <p:nvPr/>
        </p:nvSpPr>
        <p:spPr>
          <a:xfrm>
            <a:off x="5840229" y="1825625"/>
            <a:ext cx="4636345" cy="523220"/>
          </a:xfrm>
          <a:prstGeom prst="rect">
            <a:avLst/>
          </a:prstGeom>
          <a:noFill/>
        </p:spPr>
        <p:txBody>
          <a:bodyPr wrap="square">
            <a:spAutoFit/>
          </a:bodyPr>
          <a:lstStyle/>
          <a:p>
            <a:r>
              <a:rPr lang="en-US" sz="2800"/>
              <a:t>15. Skema lengkap rangkaian </a:t>
            </a:r>
            <a:endParaRPr lang="en-ID" sz="2800"/>
          </a:p>
        </p:txBody>
      </p:sp>
      <p:grpSp>
        <p:nvGrpSpPr>
          <p:cNvPr id="20" name="Group 19">
            <a:extLst>
              <a:ext uri="{FF2B5EF4-FFF2-40B4-BE49-F238E27FC236}">
                <a16:creationId xmlns:a16="http://schemas.microsoft.com/office/drawing/2014/main" id="{B276E1C7-869F-4130-9E39-25A17CA864C2}"/>
              </a:ext>
            </a:extLst>
          </p:cNvPr>
          <p:cNvGrpSpPr/>
          <p:nvPr/>
        </p:nvGrpSpPr>
        <p:grpSpPr>
          <a:xfrm>
            <a:off x="6264287" y="2344588"/>
            <a:ext cx="3953704" cy="3313412"/>
            <a:chOff x="6840704" y="2232623"/>
            <a:chExt cx="3953704" cy="3313412"/>
          </a:xfrm>
        </p:grpSpPr>
        <p:grpSp>
          <p:nvGrpSpPr>
            <p:cNvPr id="21" name="Group 20">
              <a:extLst>
                <a:ext uri="{FF2B5EF4-FFF2-40B4-BE49-F238E27FC236}">
                  <a16:creationId xmlns:a16="http://schemas.microsoft.com/office/drawing/2014/main" id="{8D6522C5-2D2F-DE5C-2978-73CE6F1619ED}"/>
                </a:ext>
              </a:extLst>
            </p:cNvPr>
            <p:cNvGrpSpPr/>
            <p:nvPr/>
          </p:nvGrpSpPr>
          <p:grpSpPr>
            <a:xfrm>
              <a:off x="6840704" y="2232623"/>
              <a:ext cx="3769606" cy="3313412"/>
              <a:chOff x="6840704" y="2232623"/>
              <a:chExt cx="3769606" cy="3313412"/>
            </a:xfrm>
          </p:grpSpPr>
          <p:pic>
            <p:nvPicPr>
              <p:cNvPr id="30" name="Picture 29">
                <a:extLst>
                  <a:ext uri="{FF2B5EF4-FFF2-40B4-BE49-F238E27FC236}">
                    <a16:creationId xmlns:a16="http://schemas.microsoft.com/office/drawing/2014/main" id="{D7D6E346-4911-B699-1947-2EBC3C98B39B}"/>
                  </a:ext>
                </a:extLst>
              </p:cNvPr>
              <p:cNvPicPr>
                <a:picLocks noChangeAspect="1"/>
              </p:cNvPicPr>
              <p:nvPr/>
            </p:nvPicPr>
            <p:blipFill>
              <a:blip r:embed="rId2"/>
              <a:stretch>
                <a:fillRect/>
              </a:stretch>
            </p:blipFill>
            <p:spPr>
              <a:xfrm>
                <a:off x="6840704" y="2232623"/>
                <a:ext cx="3769606" cy="3313412"/>
              </a:xfrm>
              <a:prstGeom prst="rect">
                <a:avLst/>
              </a:prstGeom>
            </p:spPr>
          </p:pic>
          <p:sp>
            <p:nvSpPr>
              <p:cNvPr id="31" name="TextBox 30">
                <a:extLst>
                  <a:ext uri="{FF2B5EF4-FFF2-40B4-BE49-F238E27FC236}">
                    <a16:creationId xmlns:a16="http://schemas.microsoft.com/office/drawing/2014/main" id="{64A97321-3524-3CA1-56CC-305BE39C3A90}"/>
                  </a:ext>
                </a:extLst>
              </p:cNvPr>
              <p:cNvSpPr txBox="1"/>
              <p:nvPr/>
            </p:nvSpPr>
            <p:spPr>
              <a:xfrm>
                <a:off x="7128768" y="2405848"/>
                <a:ext cx="292068" cy="338554"/>
              </a:xfrm>
              <a:prstGeom prst="rect">
                <a:avLst/>
              </a:prstGeom>
              <a:noFill/>
            </p:spPr>
            <p:txBody>
              <a:bodyPr wrap="none" rtlCol="0">
                <a:spAutoFit/>
              </a:bodyPr>
              <a:lstStyle/>
              <a:p>
                <a:r>
                  <a:rPr lang="en-US" sz="1600"/>
                  <a:t>q</a:t>
                </a:r>
                <a:endParaRPr lang="en-ID" sz="1600"/>
              </a:p>
            </p:txBody>
          </p:sp>
          <p:sp>
            <p:nvSpPr>
              <p:cNvPr id="32" name="TextBox 31">
                <a:extLst>
                  <a:ext uri="{FF2B5EF4-FFF2-40B4-BE49-F238E27FC236}">
                    <a16:creationId xmlns:a16="http://schemas.microsoft.com/office/drawing/2014/main" id="{32C32B9D-B644-36DD-4C24-F1653A891FE9}"/>
                  </a:ext>
                </a:extLst>
              </p:cNvPr>
              <p:cNvSpPr txBox="1"/>
              <p:nvPr/>
            </p:nvSpPr>
            <p:spPr>
              <a:xfrm>
                <a:off x="7352190" y="3720052"/>
                <a:ext cx="292068" cy="338554"/>
              </a:xfrm>
              <a:prstGeom prst="rect">
                <a:avLst/>
              </a:prstGeom>
              <a:noFill/>
            </p:spPr>
            <p:txBody>
              <a:bodyPr wrap="none" rtlCol="0">
                <a:spAutoFit/>
              </a:bodyPr>
              <a:lstStyle/>
              <a:p>
                <a:r>
                  <a:rPr lang="en-US" sz="1600"/>
                  <a:t>q</a:t>
                </a:r>
                <a:endParaRPr lang="en-ID" sz="1600"/>
              </a:p>
            </p:txBody>
          </p:sp>
          <p:sp>
            <p:nvSpPr>
              <p:cNvPr id="33" name="TextBox 32">
                <a:extLst>
                  <a:ext uri="{FF2B5EF4-FFF2-40B4-BE49-F238E27FC236}">
                    <a16:creationId xmlns:a16="http://schemas.microsoft.com/office/drawing/2014/main" id="{E4A17B94-78E4-A80C-57D6-EB9C41D884A6}"/>
                  </a:ext>
                </a:extLst>
              </p:cNvPr>
              <p:cNvSpPr txBox="1"/>
              <p:nvPr/>
            </p:nvSpPr>
            <p:spPr>
              <a:xfrm>
                <a:off x="8799249" y="3090446"/>
                <a:ext cx="292068" cy="338554"/>
              </a:xfrm>
              <a:prstGeom prst="rect">
                <a:avLst/>
              </a:prstGeom>
              <a:noFill/>
            </p:spPr>
            <p:txBody>
              <a:bodyPr wrap="none" rtlCol="0">
                <a:spAutoFit/>
              </a:bodyPr>
              <a:lstStyle/>
              <a:p>
                <a:r>
                  <a:rPr lang="en-US" sz="1600"/>
                  <a:t>q</a:t>
                </a:r>
                <a:endParaRPr lang="en-ID" sz="1600"/>
              </a:p>
            </p:txBody>
          </p:sp>
          <p:sp>
            <p:nvSpPr>
              <p:cNvPr id="34" name="TextBox 33">
                <a:extLst>
                  <a:ext uri="{FF2B5EF4-FFF2-40B4-BE49-F238E27FC236}">
                    <a16:creationId xmlns:a16="http://schemas.microsoft.com/office/drawing/2014/main" id="{B2146AA3-7ABC-AAE2-B3D1-53246F3BA3F3}"/>
                  </a:ext>
                </a:extLst>
              </p:cNvPr>
              <p:cNvSpPr txBox="1"/>
              <p:nvPr/>
            </p:nvSpPr>
            <p:spPr>
              <a:xfrm>
                <a:off x="9154356" y="4245005"/>
                <a:ext cx="292068" cy="338554"/>
              </a:xfrm>
              <a:prstGeom prst="rect">
                <a:avLst/>
              </a:prstGeom>
              <a:noFill/>
            </p:spPr>
            <p:txBody>
              <a:bodyPr wrap="none" rtlCol="0">
                <a:spAutoFit/>
              </a:bodyPr>
              <a:lstStyle/>
              <a:p>
                <a:r>
                  <a:rPr lang="en-US" sz="1600"/>
                  <a:t>q</a:t>
                </a:r>
                <a:endParaRPr lang="en-ID" sz="1600"/>
              </a:p>
            </p:txBody>
          </p:sp>
          <p:sp>
            <p:nvSpPr>
              <p:cNvPr id="35" name="TextBox 34">
                <a:extLst>
                  <a:ext uri="{FF2B5EF4-FFF2-40B4-BE49-F238E27FC236}">
                    <a16:creationId xmlns:a16="http://schemas.microsoft.com/office/drawing/2014/main" id="{D1261836-D70B-B921-6B8A-C29C9AB9EE36}"/>
                  </a:ext>
                </a:extLst>
              </p:cNvPr>
              <p:cNvSpPr txBox="1"/>
              <p:nvPr/>
            </p:nvSpPr>
            <p:spPr>
              <a:xfrm>
                <a:off x="7644258" y="4583559"/>
                <a:ext cx="292068" cy="338554"/>
              </a:xfrm>
              <a:prstGeom prst="rect">
                <a:avLst/>
              </a:prstGeom>
              <a:noFill/>
            </p:spPr>
            <p:txBody>
              <a:bodyPr wrap="none" rtlCol="0">
                <a:spAutoFit/>
              </a:bodyPr>
              <a:lstStyle/>
              <a:p>
                <a:r>
                  <a:rPr lang="en-US" sz="1600"/>
                  <a:t>q</a:t>
                </a:r>
                <a:endParaRPr lang="en-ID" sz="1600"/>
              </a:p>
            </p:txBody>
          </p:sp>
        </p:grpSp>
        <p:sp>
          <p:nvSpPr>
            <p:cNvPr id="22" name="TextBox 21">
              <a:extLst>
                <a:ext uri="{FF2B5EF4-FFF2-40B4-BE49-F238E27FC236}">
                  <a16:creationId xmlns:a16="http://schemas.microsoft.com/office/drawing/2014/main" id="{78330C9C-C7B0-48B8-357E-01BD83AFBF83}"/>
                </a:ext>
              </a:extLst>
            </p:cNvPr>
            <p:cNvSpPr txBox="1"/>
            <p:nvPr/>
          </p:nvSpPr>
          <p:spPr>
            <a:xfrm>
              <a:off x="7274802" y="3079753"/>
              <a:ext cx="548548" cy="307777"/>
            </a:xfrm>
            <a:prstGeom prst="rect">
              <a:avLst/>
            </a:prstGeom>
            <a:noFill/>
          </p:spPr>
          <p:txBody>
            <a:bodyPr wrap="none" rtlCol="0">
              <a:spAutoFit/>
            </a:bodyPr>
            <a:lstStyle/>
            <a:p>
              <a:r>
                <a:rPr lang="en-US" sz="1400"/>
                <a:t>=645</a:t>
              </a:r>
              <a:endParaRPr lang="en-ID" sz="1400"/>
            </a:p>
          </p:txBody>
        </p:sp>
        <p:sp>
          <p:nvSpPr>
            <p:cNvPr id="23" name="TextBox 22">
              <a:extLst>
                <a:ext uri="{FF2B5EF4-FFF2-40B4-BE49-F238E27FC236}">
                  <a16:creationId xmlns:a16="http://schemas.microsoft.com/office/drawing/2014/main" id="{759D9569-AEDC-D890-D709-ED262A2D6845}"/>
                </a:ext>
              </a:extLst>
            </p:cNvPr>
            <p:cNvSpPr txBox="1"/>
            <p:nvPr/>
          </p:nvSpPr>
          <p:spPr>
            <a:xfrm>
              <a:off x="7464722" y="3604706"/>
              <a:ext cx="840295" cy="307777"/>
            </a:xfrm>
            <a:prstGeom prst="rect">
              <a:avLst/>
            </a:prstGeom>
            <a:noFill/>
          </p:spPr>
          <p:txBody>
            <a:bodyPr wrap="none" rtlCol="0">
              <a:spAutoFit/>
            </a:bodyPr>
            <a:lstStyle/>
            <a:p>
              <a:r>
                <a:rPr lang="en-US" sz="1400"/>
                <a:t>=17,5mA</a:t>
              </a:r>
              <a:endParaRPr lang="en-ID" sz="1400"/>
            </a:p>
          </p:txBody>
        </p:sp>
        <p:sp>
          <p:nvSpPr>
            <p:cNvPr id="24" name="TextBox 23">
              <a:extLst>
                <a:ext uri="{FF2B5EF4-FFF2-40B4-BE49-F238E27FC236}">
                  <a16:creationId xmlns:a16="http://schemas.microsoft.com/office/drawing/2014/main" id="{2BA747B0-3E87-177C-740B-870A87AC0FBE}"/>
                </a:ext>
              </a:extLst>
            </p:cNvPr>
            <p:cNvSpPr txBox="1"/>
            <p:nvPr/>
          </p:nvSpPr>
          <p:spPr>
            <a:xfrm>
              <a:off x="7790292" y="4614336"/>
              <a:ext cx="675185" cy="307777"/>
            </a:xfrm>
            <a:prstGeom prst="rect">
              <a:avLst/>
            </a:prstGeom>
            <a:noFill/>
          </p:spPr>
          <p:txBody>
            <a:bodyPr wrap="none" rtlCol="0">
              <a:spAutoFit/>
            </a:bodyPr>
            <a:lstStyle/>
            <a:p>
              <a:r>
                <a:rPr lang="en-US" sz="1400"/>
                <a:t>=0,72v</a:t>
              </a:r>
              <a:endParaRPr lang="en-ID" sz="1400"/>
            </a:p>
          </p:txBody>
        </p:sp>
        <p:sp>
          <p:nvSpPr>
            <p:cNvPr id="25" name="TextBox 24">
              <a:extLst>
                <a:ext uri="{FF2B5EF4-FFF2-40B4-BE49-F238E27FC236}">
                  <a16:creationId xmlns:a16="http://schemas.microsoft.com/office/drawing/2014/main" id="{7C427A67-1B4A-9738-841C-4B4363B87558}"/>
                </a:ext>
              </a:extLst>
            </p:cNvPr>
            <p:cNvSpPr txBox="1"/>
            <p:nvPr/>
          </p:nvSpPr>
          <p:spPr>
            <a:xfrm>
              <a:off x="8948370" y="3133440"/>
              <a:ext cx="795411" cy="307777"/>
            </a:xfrm>
            <a:prstGeom prst="rect">
              <a:avLst/>
            </a:prstGeom>
            <a:noFill/>
          </p:spPr>
          <p:txBody>
            <a:bodyPr wrap="none" rtlCol="0">
              <a:spAutoFit/>
            </a:bodyPr>
            <a:lstStyle/>
            <a:p>
              <a:r>
                <a:rPr lang="en-US" sz="1400"/>
                <a:t>=500mA</a:t>
              </a:r>
              <a:endParaRPr lang="en-ID" sz="1400"/>
            </a:p>
          </p:txBody>
        </p:sp>
        <p:sp>
          <p:nvSpPr>
            <p:cNvPr id="26" name="TextBox 25">
              <a:extLst>
                <a:ext uri="{FF2B5EF4-FFF2-40B4-BE49-F238E27FC236}">
                  <a16:creationId xmlns:a16="http://schemas.microsoft.com/office/drawing/2014/main" id="{3D5D1858-7144-17FF-7CE4-B3BC650CA4D1}"/>
                </a:ext>
              </a:extLst>
            </p:cNvPr>
            <p:cNvSpPr txBox="1"/>
            <p:nvPr/>
          </p:nvSpPr>
          <p:spPr>
            <a:xfrm>
              <a:off x="9306433" y="4275782"/>
              <a:ext cx="447558" cy="307777"/>
            </a:xfrm>
            <a:prstGeom prst="rect">
              <a:avLst/>
            </a:prstGeom>
            <a:noFill/>
          </p:spPr>
          <p:txBody>
            <a:bodyPr wrap="none" rtlCol="0">
              <a:spAutoFit/>
            </a:bodyPr>
            <a:lstStyle/>
            <a:p>
              <a:r>
                <a:rPr lang="en-US" sz="1400"/>
                <a:t>=6v</a:t>
              </a:r>
              <a:endParaRPr lang="en-ID" sz="1400"/>
            </a:p>
          </p:txBody>
        </p:sp>
        <p:sp>
          <p:nvSpPr>
            <p:cNvPr id="27" name="TextBox 26">
              <a:extLst>
                <a:ext uri="{FF2B5EF4-FFF2-40B4-BE49-F238E27FC236}">
                  <a16:creationId xmlns:a16="http://schemas.microsoft.com/office/drawing/2014/main" id="{19EDBFD4-04FF-3E0E-1EBB-DBEDAAE705D4}"/>
                </a:ext>
              </a:extLst>
            </p:cNvPr>
            <p:cNvSpPr txBox="1"/>
            <p:nvPr/>
          </p:nvSpPr>
          <p:spPr>
            <a:xfrm>
              <a:off x="10255478" y="2504428"/>
              <a:ext cx="538930" cy="307777"/>
            </a:xfrm>
            <a:prstGeom prst="rect">
              <a:avLst/>
            </a:prstGeom>
            <a:noFill/>
          </p:spPr>
          <p:txBody>
            <a:bodyPr wrap="none" rtlCol="0">
              <a:spAutoFit/>
            </a:bodyPr>
            <a:lstStyle/>
            <a:p>
              <a:r>
                <a:rPr lang="en-US" sz="1400"/>
                <a:t>=12v</a:t>
              </a:r>
              <a:endParaRPr lang="en-ID" sz="1400"/>
            </a:p>
          </p:txBody>
        </p:sp>
        <p:sp>
          <p:nvSpPr>
            <p:cNvPr id="28" name="TextBox 27">
              <a:extLst>
                <a:ext uri="{FF2B5EF4-FFF2-40B4-BE49-F238E27FC236}">
                  <a16:creationId xmlns:a16="http://schemas.microsoft.com/office/drawing/2014/main" id="{5DC0FC43-FB43-3D61-4A9F-8E57C374FBB8}"/>
                </a:ext>
              </a:extLst>
            </p:cNvPr>
            <p:cNvSpPr txBox="1"/>
            <p:nvPr/>
          </p:nvSpPr>
          <p:spPr>
            <a:xfrm>
              <a:off x="8414310" y="3889329"/>
              <a:ext cx="756938" cy="307777"/>
            </a:xfrm>
            <a:prstGeom prst="rect">
              <a:avLst/>
            </a:prstGeom>
            <a:noFill/>
          </p:spPr>
          <p:txBody>
            <a:bodyPr wrap="none" rtlCol="0">
              <a:spAutoFit/>
            </a:bodyPr>
            <a:lstStyle/>
            <a:p>
              <a:r>
                <a:rPr lang="en-US" sz="1400"/>
                <a:t>2N3055</a:t>
              </a:r>
              <a:endParaRPr lang="en-ID" sz="1400"/>
            </a:p>
          </p:txBody>
        </p:sp>
        <p:sp>
          <p:nvSpPr>
            <p:cNvPr id="29" name="TextBox 28">
              <a:extLst>
                <a:ext uri="{FF2B5EF4-FFF2-40B4-BE49-F238E27FC236}">
                  <a16:creationId xmlns:a16="http://schemas.microsoft.com/office/drawing/2014/main" id="{C53CC175-BB8F-4D22-E480-32A3E2CF3E43}"/>
                </a:ext>
              </a:extLst>
            </p:cNvPr>
            <p:cNvSpPr txBox="1"/>
            <p:nvPr/>
          </p:nvSpPr>
          <p:spPr>
            <a:xfrm>
              <a:off x="8860972" y="2537643"/>
              <a:ext cx="457176" cy="307777"/>
            </a:xfrm>
            <a:prstGeom prst="rect">
              <a:avLst/>
            </a:prstGeom>
            <a:noFill/>
          </p:spPr>
          <p:txBody>
            <a:bodyPr wrap="none" rtlCol="0">
              <a:spAutoFit/>
            </a:bodyPr>
            <a:lstStyle/>
            <a:p>
              <a:r>
                <a:rPr lang="en-US" sz="1400"/>
                <a:t>=12</a:t>
              </a:r>
              <a:endParaRPr lang="en-ID" sz="1400"/>
            </a:p>
          </p:txBody>
        </p:sp>
      </p:grpSp>
      <p:cxnSp>
        <p:nvCxnSpPr>
          <p:cNvPr id="36" name="Straight Connector 35">
            <a:extLst>
              <a:ext uri="{FF2B5EF4-FFF2-40B4-BE49-F238E27FC236}">
                <a16:creationId xmlns:a16="http://schemas.microsoft.com/office/drawing/2014/main" id="{69E897B9-B795-AC86-72B6-671EE836188C}"/>
              </a:ext>
            </a:extLst>
          </p:cNvPr>
          <p:cNvCxnSpPr>
            <a:cxnSpLocks/>
          </p:cNvCxnSpPr>
          <p:nvPr/>
        </p:nvCxnSpPr>
        <p:spPr>
          <a:xfrm>
            <a:off x="8008264" y="5534339"/>
            <a:ext cx="0" cy="19878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155C555-90C3-5618-8B9C-091150388F6A}"/>
              </a:ext>
            </a:extLst>
          </p:cNvPr>
          <p:cNvCxnSpPr>
            <a:cxnSpLocks/>
          </p:cNvCxnSpPr>
          <p:nvPr/>
        </p:nvCxnSpPr>
        <p:spPr>
          <a:xfrm flipH="1" flipV="1">
            <a:off x="7830285" y="5743063"/>
            <a:ext cx="355958" cy="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91B3D86-E57D-ED05-B5D2-67C1031BF7BC}"/>
              </a:ext>
            </a:extLst>
          </p:cNvPr>
          <p:cNvCxnSpPr>
            <a:cxnSpLocks/>
          </p:cNvCxnSpPr>
          <p:nvPr/>
        </p:nvCxnSpPr>
        <p:spPr>
          <a:xfrm flipH="1">
            <a:off x="7906485" y="5812637"/>
            <a:ext cx="20355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FD302E54-6F24-CAC8-B646-199519906BA3}"/>
              </a:ext>
            </a:extLst>
          </p:cNvPr>
          <p:cNvCxnSpPr>
            <a:cxnSpLocks/>
          </p:cNvCxnSpPr>
          <p:nvPr/>
        </p:nvCxnSpPr>
        <p:spPr>
          <a:xfrm flipH="1">
            <a:off x="7944585" y="5879007"/>
            <a:ext cx="12735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97A35473-B5FA-55AE-1C89-D59C701FCBEF}"/>
              </a:ext>
            </a:extLst>
          </p:cNvPr>
          <p:cNvSpPr txBox="1"/>
          <p:nvPr/>
        </p:nvSpPr>
        <p:spPr>
          <a:xfrm>
            <a:off x="9745031" y="5295176"/>
            <a:ext cx="288862" cy="338554"/>
          </a:xfrm>
          <a:prstGeom prst="rect">
            <a:avLst/>
          </a:prstGeom>
          <a:noFill/>
        </p:spPr>
        <p:txBody>
          <a:bodyPr wrap="none" rtlCol="0">
            <a:spAutoFit/>
          </a:bodyPr>
          <a:lstStyle/>
          <a:p>
            <a:r>
              <a:rPr lang="en-US" sz="1600"/>
              <a:t>0</a:t>
            </a:r>
            <a:endParaRPr lang="en-ID" sz="1600"/>
          </a:p>
        </p:txBody>
      </p:sp>
    </p:spTree>
    <p:extLst>
      <p:ext uri="{BB962C8B-B14F-4D97-AF65-F5344CB8AC3E}">
        <p14:creationId xmlns:p14="http://schemas.microsoft.com/office/powerpoint/2010/main" val="34990154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DEE8371-B24A-AEF7-82FB-A8650345FA75}"/>
              </a:ext>
            </a:extLst>
          </p:cNvPr>
          <p:cNvPicPr>
            <a:picLocks noChangeAspect="1"/>
          </p:cNvPicPr>
          <p:nvPr/>
        </p:nvPicPr>
        <p:blipFill>
          <a:blip r:embed="rId2"/>
          <a:stretch>
            <a:fillRect/>
          </a:stretch>
        </p:blipFill>
        <p:spPr>
          <a:xfrm>
            <a:off x="1480388" y="1825625"/>
            <a:ext cx="4465983" cy="4258761"/>
          </a:xfrm>
          <a:prstGeom prst="rect">
            <a:avLst/>
          </a:prstGeom>
        </p:spPr>
      </p:pic>
      <p:sp>
        <p:nvSpPr>
          <p:cNvPr id="6" name="Content Placeholder 2">
            <a:extLst>
              <a:ext uri="{FF2B5EF4-FFF2-40B4-BE49-F238E27FC236}">
                <a16:creationId xmlns:a16="http://schemas.microsoft.com/office/drawing/2014/main" id="{065F2376-9A1C-25A2-8816-CE207919D613}"/>
              </a:ext>
            </a:extLst>
          </p:cNvPr>
          <p:cNvSpPr>
            <a:spLocks noGrp="1"/>
          </p:cNvSpPr>
          <p:nvPr>
            <p:ph idx="1"/>
          </p:nvPr>
        </p:nvSpPr>
        <p:spPr>
          <a:xfrm>
            <a:off x="6887816" y="1825625"/>
            <a:ext cx="4465983" cy="4351338"/>
          </a:xfrm>
        </p:spPr>
        <p:txBody>
          <a:bodyPr>
            <a:normAutofit/>
          </a:bodyPr>
          <a:lstStyle/>
          <a:p>
            <a:pPr marL="0" indent="0">
              <a:lnSpc>
                <a:spcPct val="100000"/>
              </a:lnSpc>
              <a:spcBef>
                <a:spcPts val="0"/>
              </a:spcBef>
              <a:buNone/>
            </a:pPr>
            <a:r>
              <a:rPr lang="en-US" sz="2000"/>
              <a:t>Hasil simulasi:</a:t>
            </a:r>
          </a:p>
          <a:p>
            <a:pPr>
              <a:lnSpc>
                <a:spcPct val="100000"/>
              </a:lnSpc>
              <a:spcBef>
                <a:spcPts val="0"/>
              </a:spcBef>
            </a:pPr>
            <a:r>
              <a:rPr lang="en-US" sz="2000"/>
              <a:t>Icq=499mA</a:t>
            </a:r>
          </a:p>
          <a:p>
            <a:pPr>
              <a:lnSpc>
                <a:spcPct val="100000"/>
              </a:lnSpc>
              <a:spcBef>
                <a:spcPts val="0"/>
              </a:spcBef>
            </a:pPr>
            <a:r>
              <a:rPr lang="en-US" sz="2000"/>
              <a:t>Vceq=6,01v</a:t>
            </a:r>
          </a:p>
          <a:p>
            <a:pPr>
              <a:lnSpc>
                <a:spcPct val="100000"/>
              </a:lnSpc>
              <a:spcBef>
                <a:spcPts val="0"/>
              </a:spcBef>
            </a:pPr>
            <a:r>
              <a:rPr lang="en-US" sz="2000"/>
              <a:t>Ibq=17,5mA</a:t>
            </a:r>
          </a:p>
          <a:p>
            <a:pPr>
              <a:lnSpc>
                <a:spcPct val="100000"/>
              </a:lnSpc>
              <a:spcBef>
                <a:spcPts val="0"/>
              </a:spcBef>
            </a:pPr>
            <a:r>
              <a:rPr lang="en-US" sz="2000"/>
              <a:t>Vbeq=0,71v</a:t>
            </a:r>
          </a:p>
          <a:p>
            <a:pPr>
              <a:lnSpc>
                <a:spcPct val="100000"/>
              </a:lnSpc>
              <a:spcBef>
                <a:spcPts val="0"/>
              </a:spcBef>
            </a:pPr>
            <a:endParaRPr lang="en-US" sz="2000"/>
          </a:p>
          <a:p>
            <a:pPr>
              <a:lnSpc>
                <a:spcPct val="100000"/>
              </a:lnSpc>
              <a:spcBef>
                <a:spcPts val="0"/>
              </a:spcBef>
            </a:pPr>
            <a:endParaRPr lang="en-US" sz="2000"/>
          </a:p>
          <a:p>
            <a:pPr marL="0" indent="0">
              <a:lnSpc>
                <a:spcPct val="100000"/>
              </a:lnSpc>
              <a:spcBef>
                <a:spcPts val="0"/>
              </a:spcBef>
              <a:buNone/>
            </a:pPr>
            <a:r>
              <a:rPr lang="en-US" sz="2000"/>
              <a:t>Kesimpulan:</a:t>
            </a:r>
          </a:p>
          <a:p>
            <a:pPr>
              <a:lnSpc>
                <a:spcPct val="100000"/>
              </a:lnSpc>
              <a:spcBef>
                <a:spcPts val="0"/>
              </a:spcBef>
            </a:pPr>
            <a:r>
              <a:rPr lang="en-US" sz="2000"/>
              <a:t>Hasil simulasi menunjukkan bahwa hasil realisasi mendekati hasil perancangan</a:t>
            </a:r>
          </a:p>
          <a:p>
            <a:pPr>
              <a:lnSpc>
                <a:spcPct val="100000"/>
              </a:lnSpc>
              <a:spcBef>
                <a:spcPts val="0"/>
              </a:spcBef>
            </a:pPr>
            <a:endParaRPr lang="en-ID" sz="2000"/>
          </a:p>
        </p:txBody>
      </p:sp>
      <p:sp>
        <p:nvSpPr>
          <p:cNvPr id="7" name="Title 1">
            <a:extLst>
              <a:ext uri="{FF2B5EF4-FFF2-40B4-BE49-F238E27FC236}">
                <a16:creationId xmlns:a16="http://schemas.microsoft.com/office/drawing/2014/main" id="{D1901E32-51B8-D79F-1C63-BCD1A670907C}"/>
              </a:ext>
            </a:extLst>
          </p:cNvPr>
          <p:cNvSpPr>
            <a:spLocks noGrp="1"/>
          </p:cNvSpPr>
          <p:nvPr>
            <p:ph type="title"/>
          </p:nvPr>
        </p:nvSpPr>
        <p:spPr>
          <a:xfrm>
            <a:off x="838200" y="365125"/>
            <a:ext cx="10515600" cy="1325563"/>
          </a:xfrm>
        </p:spPr>
        <p:txBody>
          <a:bodyPr>
            <a:normAutofit/>
          </a:bodyPr>
          <a:lstStyle/>
          <a:p>
            <a:r>
              <a:rPr lang="en-US" sz="3600"/>
              <a:t>16. Hasil Simulasi Rangkaian Prategangan (Dengan Grafik, 2N3055)</a:t>
            </a:r>
            <a:endParaRPr lang="en-ID" sz="3600"/>
          </a:p>
        </p:txBody>
      </p:sp>
      <p:sp>
        <p:nvSpPr>
          <p:cNvPr id="9" name="TextBox 8">
            <a:extLst>
              <a:ext uri="{FF2B5EF4-FFF2-40B4-BE49-F238E27FC236}">
                <a16:creationId xmlns:a16="http://schemas.microsoft.com/office/drawing/2014/main" id="{04C1F049-55F6-2C5E-9551-23254C7C9D50}"/>
              </a:ext>
            </a:extLst>
          </p:cNvPr>
          <p:cNvSpPr txBox="1"/>
          <p:nvPr/>
        </p:nvSpPr>
        <p:spPr>
          <a:xfrm>
            <a:off x="9196647" y="1825625"/>
            <a:ext cx="2157152" cy="1631216"/>
          </a:xfrm>
          <a:prstGeom prst="rect">
            <a:avLst/>
          </a:prstGeom>
          <a:noFill/>
        </p:spPr>
        <p:txBody>
          <a:bodyPr wrap="square">
            <a:spAutoFit/>
          </a:bodyPr>
          <a:lstStyle/>
          <a:p>
            <a:pPr marL="0" indent="0">
              <a:buNone/>
            </a:pPr>
            <a:r>
              <a:rPr lang="en-US" sz="2000"/>
              <a:t>Hasil Perancangan:</a:t>
            </a:r>
          </a:p>
          <a:p>
            <a:r>
              <a:rPr lang="en-US" sz="2000"/>
              <a:t>Icq=500mA</a:t>
            </a:r>
          </a:p>
          <a:p>
            <a:r>
              <a:rPr lang="en-US" sz="2000"/>
              <a:t>Vceq=6v</a:t>
            </a:r>
          </a:p>
          <a:p>
            <a:r>
              <a:rPr lang="en-US" sz="2000"/>
              <a:t>Ibq=17,5mA</a:t>
            </a:r>
          </a:p>
          <a:p>
            <a:r>
              <a:rPr lang="en-US" sz="2000"/>
              <a:t>Vbeq=0,72v</a:t>
            </a:r>
          </a:p>
        </p:txBody>
      </p:sp>
    </p:spTree>
    <p:extLst>
      <p:ext uri="{BB962C8B-B14F-4D97-AF65-F5344CB8AC3E}">
        <p14:creationId xmlns:p14="http://schemas.microsoft.com/office/powerpoint/2010/main" val="25543164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FD56F-1329-1E19-BBA0-9EF198EE1662}"/>
              </a:ext>
            </a:extLst>
          </p:cNvPr>
          <p:cNvSpPr>
            <a:spLocks noGrp="1"/>
          </p:cNvSpPr>
          <p:nvPr>
            <p:ph type="title"/>
          </p:nvPr>
        </p:nvSpPr>
        <p:spPr/>
        <p:txBody>
          <a:bodyPr/>
          <a:lstStyle/>
          <a:p>
            <a:r>
              <a:rPr lang="en-US" sz="4400"/>
              <a:t>17. Hasil Percobaan Riil Rangkaian Prategangan (Dengan Grafik, 2N3055)</a:t>
            </a:r>
            <a:endParaRPr lang="en-ID"/>
          </a:p>
        </p:txBody>
      </p:sp>
      <p:sp>
        <p:nvSpPr>
          <p:cNvPr id="3" name="Content Placeholder 2">
            <a:extLst>
              <a:ext uri="{FF2B5EF4-FFF2-40B4-BE49-F238E27FC236}">
                <a16:creationId xmlns:a16="http://schemas.microsoft.com/office/drawing/2014/main" id="{ACCBF049-DCAE-837F-6938-6E00059BD280}"/>
              </a:ext>
            </a:extLst>
          </p:cNvPr>
          <p:cNvSpPr>
            <a:spLocks noGrp="1"/>
          </p:cNvSpPr>
          <p:nvPr>
            <p:ph idx="1"/>
          </p:nvPr>
        </p:nvSpPr>
        <p:spPr/>
        <p:txBody>
          <a:bodyPr/>
          <a:lstStyle/>
          <a:p>
            <a:r>
              <a:rPr lang="en-US"/>
              <a:t>Dilakukan di lab</a:t>
            </a:r>
            <a:endParaRPr lang="en-ID"/>
          </a:p>
        </p:txBody>
      </p:sp>
    </p:spTree>
    <p:extLst>
      <p:ext uri="{BB962C8B-B14F-4D97-AF65-F5344CB8AC3E}">
        <p14:creationId xmlns:p14="http://schemas.microsoft.com/office/powerpoint/2010/main" val="34248084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3972</TotalTime>
  <Words>1541</Words>
  <Application>Microsoft Office PowerPoint</Application>
  <PresentationFormat>Widescreen</PresentationFormat>
  <Paragraphs>330</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Wingdings</vt:lpstr>
      <vt:lpstr>Office Theme</vt:lpstr>
      <vt:lpstr>Mencari Ibq, Vbeq, Icq, Vceq, Beta, Rc dan Rb Fixed Bias dengan Metoda Grafik</vt:lpstr>
      <vt:lpstr>Pendahuluan</vt:lpstr>
      <vt:lpstr>Tujuan</vt:lpstr>
      <vt:lpstr>Persyaratan yang harus dipenuhi Mahasiswa</vt:lpstr>
      <vt:lpstr>Alat dan Bahan</vt:lpstr>
      <vt:lpstr>Soal</vt:lpstr>
      <vt:lpstr>Datashet Transistor (Sederhana)</vt:lpstr>
      <vt:lpstr>Beta (atau hFE) 2N3055</vt:lpstr>
      <vt:lpstr>Jawaban</vt:lpstr>
      <vt:lpstr>Wilayah Transistor saat OFF dan ON</vt:lpstr>
      <vt:lpstr>Persamaan Transistor saat OFF dan ON</vt:lpstr>
      <vt:lpstr>Icmax dan Vcemax Transistor saat OFF dan ON</vt:lpstr>
      <vt:lpstr>Jawaban</vt:lpstr>
      <vt:lpstr>Menentukan Ibq, Vbeq dan Beta (Hfe) dengan mengetahui Icq dan Vceq</vt:lpstr>
      <vt:lpstr>PowerPoint Presentation</vt:lpstr>
      <vt:lpstr>16. Hasil Simulasi Rangkaian Prategangan (Dengan Grafik, 2N3055)</vt:lpstr>
      <vt:lpstr>17. Hasil Percobaan Riil Rangkaian Prategangan (Dengan Grafik, 2N3055)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erilmozef@yahoo.com</cp:lastModifiedBy>
  <cp:revision>163</cp:revision>
  <dcterms:created xsi:type="dcterms:W3CDTF">2024-04-25T05:33:30Z</dcterms:created>
  <dcterms:modified xsi:type="dcterms:W3CDTF">2025-05-14T09:58:22Z</dcterms:modified>
</cp:coreProperties>
</file>