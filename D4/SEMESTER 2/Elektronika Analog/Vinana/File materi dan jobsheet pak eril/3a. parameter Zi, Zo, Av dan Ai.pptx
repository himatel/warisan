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59" r:id="rId4"/>
    <p:sldId id="272" r:id="rId5"/>
    <p:sldId id="273" r:id="rId6"/>
    <p:sldId id="274" r:id="rId7"/>
    <p:sldId id="275" r:id="rId8"/>
    <p:sldId id="276" r:id="rId9"/>
    <p:sldId id="277" r:id="rId10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3" autoAdjust="0"/>
    <p:restoredTop sz="94581" autoAdjust="0"/>
  </p:normalViewPr>
  <p:slideViewPr>
    <p:cSldViewPr>
      <p:cViewPr varScale="1">
        <p:scale>
          <a:sx n="77" d="100"/>
          <a:sy n="77" d="100"/>
        </p:scale>
        <p:origin x="1546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8191" units="in"/>
        </inkml:traceFormat>
        <inkml:channelProperties>
          <inkml:channelProperty channel="X" name="resolution" value="15999.51074" units="1/in"/>
          <inkml:channelProperty channel="Y" name="resolution" value="15999.51074" units="1/in"/>
          <inkml:channelProperty channel="F" name="resolution" value="3999.51147" units="1/in"/>
        </inkml:channelProperties>
      </inkml:inkSource>
      <inkml:timestamp xml:id="ts0" timeString="2021-06-24T06:27:20.974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836CBDE6-91A5-4251-A75E-9F186DAA1ADF}" emma:medium="tactile" emma:mode="ink">
          <msink:context xmlns:msink="http://schemas.microsoft.com/ink/2010/main" type="writingRegion" rotatedBoundingBox="6201,10802 7333,10912 7293,11321 6162,11211"/>
        </emma:interpretation>
      </emma:emma>
    </inkml:annotationXML>
    <inkml:traceGroup>
      <inkml:annotationXML>
        <emma:emma xmlns:emma="http://www.w3.org/2003/04/emma" version="1.0">
          <emma:interpretation id="{0D8AE7E5-BB75-4EC1-9025-093EBF691DD1}" emma:medium="tactile" emma:mode="ink">
            <msink:context xmlns:msink="http://schemas.microsoft.com/ink/2010/main" type="paragraph" rotatedBoundingBox="6201,10802 7333,10912 7293,11321 6162,1121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74B3A0B-26CB-4EC3-B113-653272995345}" emma:medium="tactile" emma:mode="ink">
              <msink:context xmlns:msink="http://schemas.microsoft.com/ink/2010/main" type="line" rotatedBoundingBox="6201,10802 7333,10912 7293,11321 6162,11211"/>
            </emma:interpretation>
          </emma:emma>
        </inkml:annotationXML>
        <inkml:traceGroup>
          <inkml:annotationXML>
            <emma:emma xmlns:emma="http://www.w3.org/2003/04/emma" version="1.0">
              <emma:interpretation id="{4E44BF91-320F-4477-A215-4F984CD6E6B9}" emma:medium="tactile" emma:mode="ink">
                <msink:context xmlns:msink="http://schemas.microsoft.com/ink/2010/main" type="inkWord" rotatedBoundingBox="6201,10802 7333,10912 7293,11321 6162,11211"/>
              </emma:interpretation>
            </emma:emma>
          </inkml:annotationXML>
          <inkml:trace contextRef="#ctx0" brushRef="#br0">100 58 127,'-4'-5'294,"1"3"29,-4 4-28,-3 1-53,-2-1-59,-1-1-56,1 0-34,5-1-18,0 0-10,4 0-6,0 0-9,-4 0-3,2-1-4,2 4-7,-1-2-3,4 0-6,0 0-3,0-3-9,0 1-2,0-1-4,0 0-2,0-2-6,0 2 1,7-1-2,1 0-1,2-1 3,4-2 0,1 1 4,-1-2-2,0 1 2,4 1-2,0 1-3,0 1 0,-1 0-2,-2 2 0,-1-1-2,1 2 2,-2 2-3,1 1 2,-3 1-3,0 1 2,-4 4 3,0 0 0,0 4 2,0 2 2,-3 1 0,-8 1-3,1 1-1,-4 4 0,0 1 2,-1 1-2,1-1 0,-3 1 1,-1-1 1,-3 0 1,-1-4 2,5-1-2,-1-2 1,0-3 0,1 2-1,0-4-1,6-2-2,0 0 0,4-3 1,0-1 0,0-2-1,-4 1-1,1-3 0,-1 0-1,1 1 0,3-4-2,0 1-1,0-2 1,3 1-1,1 1 0,3 0-1,4 0 2,-1-2 2,5 0 0,2 0 1,1-1 1,0 0 0,3-3 0,-3 2 0,0-3 1,0 3-1,3 2 0,-3 2 2,0-1 0,-1-1-1,-2 1-1,-1-2-2,0 1-3,-3 0-1,-1 0-3,1 1-5,-4-1-4,0 1-5,0 0-5,-4 0-5,2 0-7,-2 0-4,1-1-4,-1 1-5,1-4-4,-1 0-3,-3-2-4,0-2-4,-3-1-25,-4 0-85,-5 1-77,-5 2-37,-4 1-12,-4 2-1</inkml:trace>
          <inkml:trace contextRef="#ctx0" brushRef="#br0" timeOffset="242.01">153 173 139,'0'-2'248,"0"2"-2,-3 0-27,3 0-39,0 2-40,0-1-39,3-1-35,1-1-25,-1-1-16,5 2-4,2-1-5,-3 1-4,5-1 2,-2-1 1,0 1-1,5-2 0,2 2 1,5-2 3,-4 0-5,-1 0-1,1-1-1,0 1-2,0 1-3,-1-1-5,1 0 3,0 0 1,0 1-3,0 0-1,-1 0-1,-2 2 1,-1 0-5,-3 2-7,-1 0-3,0 0-7,-2 1-21,-4 0-59,-4 1-108,-8 0-58,1 0-29,-3 0-9,3-1 10</inkml:trace>
          <inkml:trace contextRef="#ctx0" brushRef="#br0" timeOffset="691.03">402 25 120,'0'0'263,"0"0"8,0 0-32,4 2-42,-1-1-44,1 1-46,3-2-44,-3 1-26,-1 0-13,1 1-8,-1 0-6,0 2-5,5-1-2,-1 1-2,0 1-2,3-1 0,2 2 2,-2-1 0,0 1-4,5 1-9,-1-2-29,-3 1-77,-7-1-100,-4-2-52,0 0-25,0-3-6</inkml:trace>
          <inkml:trace contextRef="#ctx0" brushRef="#br0" timeOffset="509.02">541 173 243,'7'4'292,"0"0"1,4 2-50,-4-1-68,0 2-69,0 0-41,0 2-27,1-2-13,-1 3-10,0 0-7,-4 0-1,0 0-4,5 0 0,-4-2-1,-1-3 0,1 2-1,-1-1-1,0-1-3,1 1-2,-1-1-6,-3-2-6,0 0-21,0-3-34,0-6-56,0 1-78,-7 0-50,-3 2-23,0 3 2</inkml:trace>
          <inkml:trace contextRef="#ctx0" brushRef="#br0" timeOffset="1081.06">733 109 78,'7'11'275,"0"-2"20,1 1-22,-1-2-63,-1 1-71,1-2-61,1-1-35,-4-2-18,3 0-9,-4 0-2,-3-1-3,0 0-3,0-2-3,0 0-1,0 1-1,3-1 0,1 0-1,-1-1 2,2 0-1,-2-1 1,1 0-4,-1-1-2,4 0 2,0-1-1,1 0-2,-1 0 1,-1 0 2,1 1 0,5 0-1,-2 1-1,-3 1 3,0 1-1,1-1-3,-5 2-1,4-1 3,0 2 4,0 1 1,-3 2 0,0-1 6,-1 2-9,0 0 8,1 2 3,-1-2 5,4 3 3,1 2 4,-4-3 8,-1 2-12,0-1-8,1-2-7,-1 0 1,1-2-9,-1 0-1,5 0-4,-5-4-5,1 1-8,-1-2-14,1-1-36,-4 0-72,0 0-92,-4-2-46,-3-1-19,1-2-3</inkml:trace>
          <inkml:trace contextRef="#ctx0" brushRef="#br0" timeOffset="1280.07">1081 253 136,'-3'4'274,"6"-1"18,1-1-46,0-1-63,-1 2-64,1-1-51,3 2-34,0-3-25,0-1-42,-3-1-67,-4 1-100,-4-4-49,0 0-29,1 0-6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1749-AFB3-4D8E-A7E9-54DF042AD7CC}" type="datetimeFigureOut">
              <a:rPr lang="id-ID" smtClean="0"/>
              <a:t>23/05/2025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C33-1575-4C9A-AB7F-322450642F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493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1749-AFB3-4D8E-A7E9-54DF042AD7CC}" type="datetimeFigureOut">
              <a:rPr lang="id-ID" smtClean="0"/>
              <a:t>23/05/2025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C33-1575-4C9A-AB7F-322450642F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61752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1749-AFB3-4D8E-A7E9-54DF042AD7CC}" type="datetimeFigureOut">
              <a:rPr lang="id-ID" smtClean="0"/>
              <a:t>23/05/2025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C33-1575-4C9A-AB7F-322450642F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40865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1749-AFB3-4D8E-A7E9-54DF042AD7CC}" type="datetimeFigureOut">
              <a:rPr lang="id-ID" smtClean="0"/>
              <a:t>23/05/2025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C33-1575-4C9A-AB7F-322450642F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68601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1749-AFB3-4D8E-A7E9-54DF042AD7CC}" type="datetimeFigureOut">
              <a:rPr lang="id-ID" smtClean="0"/>
              <a:t>23/05/2025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C33-1575-4C9A-AB7F-322450642F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52832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1749-AFB3-4D8E-A7E9-54DF042AD7CC}" type="datetimeFigureOut">
              <a:rPr lang="id-ID" smtClean="0"/>
              <a:t>23/05/2025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C33-1575-4C9A-AB7F-322450642F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41716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1749-AFB3-4D8E-A7E9-54DF042AD7CC}" type="datetimeFigureOut">
              <a:rPr lang="id-ID" smtClean="0"/>
              <a:t>23/05/2025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C33-1575-4C9A-AB7F-322450642F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2991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1749-AFB3-4D8E-A7E9-54DF042AD7CC}" type="datetimeFigureOut">
              <a:rPr lang="id-ID" smtClean="0"/>
              <a:t>23/05/2025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C33-1575-4C9A-AB7F-322450642F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27833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1749-AFB3-4D8E-A7E9-54DF042AD7CC}" type="datetimeFigureOut">
              <a:rPr lang="id-ID" smtClean="0"/>
              <a:t>23/05/2025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C33-1575-4C9A-AB7F-322450642F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72912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1749-AFB3-4D8E-A7E9-54DF042AD7CC}" type="datetimeFigureOut">
              <a:rPr lang="id-ID" smtClean="0"/>
              <a:t>23/05/2025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C33-1575-4C9A-AB7F-322450642F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64595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A1749-AFB3-4D8E-A7E9-54DF042AD7CC}" type="datetimeFigureOut">
              <a:rPr lang="id-ID" smtClean="0"/>
              <a:t>23/05/2025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7DC33-1575-4C9A-AB7F-322450642F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06371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A1749-AFB3-4D8E-A7E9-54DF042AD7CC}" type="datetimeFigureOut">
              <a:rPr lang="id-ID" smtClean="0"/>
              <a:t>23/05/2025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7DC33-1575-4C9A-AB7F-322450642FC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6397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customXml" Target="../ink/ink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Parameter</a:t>
            </a:r>
            <a:r>
              <a:rPr lang="id-ID" sz="3200"/>
              <a:t> </a:t>
            </a:r>
            <a:r>
              <a:rPr lang="id-ID" sz="3200" dirty="0"/>
              <a:t>Zi, Zo, Av dan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Teori</a:t>
            </a:r>
            <a:endParaRPr lang="id-ID" sz="2000" dirty="0"/>
          </a:p>
        </p:txBody>
      </p:sp>
    </p:spTree>
    <p:extLst>
      <p:ext uri="{BB962C8B-B14F-4D97-AF65-F5344CB8AC3E}">
        <p14:creationId xmlns:p14="http://schemas.microsoft.com/office/powerpoint/2010/main" val="1436720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51D03B-1D33-4D49-B225-13F4BAD8F9E2}"/>
              </a:ext>
            </a:extLst>
          </p:cNvPr>
          <p:cNvSpPr txBox="1"/>
          <p:nvPr/>
        </p:nvSpPr>
        <p:spPr>
          <a:xfrm>
            <a:off x="971600" y="2348880"/>
            <a:ext cx="76669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Referensi</a:t>
            </a:r>
            <a:r>
              <a:rPr lang="en-US" dirty="0"/>
              <a:t> :</a:t>
            </a:r>
          </a:p>
          <a:p>
            <a:r>
              <a:rPr lang="en-US" dirty="0"/>
              <a:t>[1] Electronics devices and circuit theory, ROBERT BOYLESTAD LOUIS NASHELSKY</a:t>
            </a:r>
          </a:p>
          <a:p>
            <a:r>
              <a:rPr lang="en-US" dirty="0"/>
              <a:t>[2] </a:t>
            </a:r>
            <a:r>
              <a:rPr lang="en-US" dirty="0" err="1"/>
              <a:t>Elektronika</a:t>
            </a:r>
            <a:r>
              <a:rPr lang="en-US" dirty="0"/>
              <a:t> 1,Teori dan </a:t>
            </a:r>
            <a:r>
              <a:rPr lang="en-US" dirty="0" err="1"/>
              <a:t>Penerapannya</a:t>
            </a:r>
            <a:r>
              <a:rPr lang="en-US" dirty="0"/>
              <a:t>, </a:t>
            </a:r>
            <a:r>
              <a:rPr lang="en-US" dirty="0" err="1"/>
              <a:t>Sutrisno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74608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600" y="908720"/>
            <a:ext cx="17734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000" b="1" dirty="0"/>
              <a:t>Landasan Teori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266" y="2420888"/>
            <a:ext cx="3533521" cy="17219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15616" y="1556792"/>
            <a:ext cx="74277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Penguat sinyal kecil BJT dalam domain ac dapat digambarkan mengikuti teori </a:t>
            </a:r>
          </a:p>
          <a:p>
            <a:r>
              <a:rPr lang="id-ID" dirty="0"/>
              <a:t>sistem  dua kutub seperti dibawah ini,</a:t>
            </a:r>
          </a:p>
        </p:txBody>
      </p:sp>
      <p:sp>
        <p:nvSpPr>
          <p:cNvPr id="5" name="Rectangle 4"/>
          <p:cNvSpPr/>
          <p:nvPr/>
        </p:nvSpPr>
        <p:spPr>
          <a:xfrm>
            <a:off x="2123728" y="4549770"/>
            <a:ext cx="45266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Figure 7.6 Two-port system (sistem dua kutub)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2891" y="5229200"/>
            <a:ext cx="70365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Yang menjadi perhatian adalah sisi masukan dan sisi keluaran saja, tanpa </a:t>
            </a:r>
          </a:p>
          <a:p>
            <a:r>
              <a:rPr lang="id-ID" dirty="0"/>
              <a:t>Memperdulikan rangkaian yang ada didalam kotak </a:t>
            </a:r>
          </a:p>
        </p:txBody>
      </p:sp>
    </p:spTree>
    <p:extLst>
      <p:ext uri="{BB962C8B-B14F-4D97-AF65-F5344CB8AC3E}">
        <p14:creationId xmlns:p14="http://schemas.microsoft.com/office/powerpoint/2010/main" val="2983022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54178" y="548680"/>
            <a:ext cx="6475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Pada sisi masukan, terdapat, Arus input (Ii), dan Tegangan input (vi)</a:t>
            </a:r>
          </a:p>
          <a:p>
            <a:r>
              <a:rPr lang="id-ID" dirty="0"/>
              <a:t>Dan impedansi input (Zi)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5093" y="1616222"/>
            <a:ext cx="20874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b="1" dirty="0"/>
              <a:t>Input Impedance, </a:t>
            </a:r>
            <a:r>
              <a:rPr lang="id-ID" b="1" i="1" dirty="0"/>
              <a:t>Zi</a:t>
            </a:r>
            <a:endParaRPr lang="id-ID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15616" y="2011524"/>
            <a:ext cx="651332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Untuk sisi input, impedansi input Zi didefinisikan oleh hukum Ohm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sebagai berikut: 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657855"/>
            <a:ext cx="3857625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239064" y="3390263"/>
            <a:ext cx="70773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/>
              <a:t>Impedansi input kemudian ditentukan dengan cara berikut:</a:t>
            </a:r>
          </a:p>
          <a:p>
            <a:r>
              <a:rPr lang="id-ID" dirty="0"/>
              <a:t>Berikan tegangan Vs dan Rsense, agar arus input dapat didefinisikan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080024"/>
            <a:ext cx="314325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1331640" y="6133946"/>
            <a:ext cx="2604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Figure 7.7 Determining </a:t>
            </a:r>
            <a:r>
              <a:rPr lang="id-ID" i="1" dirty="0"/>
              <a:t>Zi</a:t>
            </a:r>
            <a:r>
              <a:rPr lang="id-ID" dirty="0"/>
              <a:t>.</a:t>
            </a: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9" y="4265761"/>
            <a:ext cx="3414194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735" y="4950379"/>
            <a:ext cx="3309467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4716747" y="5764614"/>
            <a:ext cx="4124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Dapat juga dihitung : </a:t>
            </a:r>
            <a:r>
              <a:rPr lang="id-ID" i="1" dirty="0"/>
              <a:t>Vi=(Zi/(Zi + R</a:t>
            </a:r>
            <a:r>
              <a:rPr lang="id-ID" i="1" baseline="-25000" dirty="0"/>
              <a:t>sense</a:t>
            </a:r>
            <a:r>
              <a:rPr lang="id-ID" i="1" dirty="0"/>
              <a:t>)).Vs</a:t>
            </a:r>
          </a:p>
        </p:txBody>
      </p:sp>
    </p:spTree>
    <p:extLst>
      <p:ext uri="{BB962C8B-B14F-4D97-AF65-F5344CB8AC3E}">
        <p14:creationId xmlns:p14="http://schemas.microsoft.com/office/powerpoint/2010/main" val="2987740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5536" y="404664"/>
            <a:ext cx="25664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000" b="1" dirty="0"/>
              <a:t>Output Impedance, </a:t>
            </a:r>
            <a:r>
              <a:rPr lang="id-ID" sz="2000" b="1" i="1" dirty="0"/>
              <a:t>Zo</a:t>
            </a:r>
            <a:endParaRPr lang="id-ID" sz="2000" b="1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95536" y="929625"/>
            <a:ext cx="682109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impedansi keluaran ditentukan pada terminal keluaran melihat kembali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ke dalam sistem dengan sinyal yang diterapkan disetel ke nol. 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553" y="1575956"/>
            <a:ext cx="5438640" cy="1669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69880" y="3356992"/>
            <a:ext cx="613725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Untuk menentukan Zo, sinyal, Vs, diterapkan ke terminal output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dan level Vo diukur dengan osiloskop </a:t>
            </a: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69" y="4123665"/>
            <a:ext cx="3608292" cy="1255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03667" y="5452033"/>
            <a:ext cx="4334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Dapat juga dihitung : Vo =(zo/(zo+Rsense)).V</a:t>
            </a:r>
          </a:p>
        </p:txBody>
      </p:sp>
    </p:spTree>
    <p:extLst>
      <p:ext uri="{BB962C8B-B14F-4D97-AF65-F5344CB8AC3E}">
        <p14:creationId xmlns:p14="http://schemas.microsoft.com/office/powerpoint/2010/main" val="3587223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86916" y="1110719"/>
            <a:ext cx="511256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id-ID" i="1" dirty="0">
                <a:latin typeface="Times New Roman" pitchFamily="18" charset="0"/>
                <a:cs typeface="Times New Roman" pitchFamily="18" charset="0"/>
              </a:rPr>
              <a:t>Impedansi keluaran dari penguat transistor BJT bersifat resistif dan, tergantung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id-ID" i="1" dirty="0">
                <a:latin typeface="Times New Roman" pitchFamily="18" charset="0"/>
                <a:cs typeface="Times New Roman" pitchFamily="18" charset="0"/>
              </a:rPr>
              <a:t>Pada konfigurasi dan penempatan elemen resistif,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id-ID" i="1" dirty="0">
                <a:latin typeface="Times New Roman" pitchFamily="18" charset="0"/>
                <a:cs typeface="Times New Roman" pitchFamily="18" charset="0"/>
              </a:rPr>
              <a:t>Zo dapat bervariasi dari beberapa ohm hingga level yang dapat melebihi 2 M 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2496" y="2865045"/>
            <a:ext cx="48636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id-ID" i="1" dirty="0">
                <a:latin typeface="Times New Roman" pitchFamily="18" charset="0"/>
                <a:cs typeface="Times New Roman" pitchFamily="18" charset="0"/>
              </a:rPr>
              <a:t>Ohmmeter tidak dapat digunakan untuk mengukur impedansi masukan maupun impedansi keluaran ac sinyal kecil karena ohmmeter beroperasi dalam mode dc. </a:t>
            </a:r>
          </a:p>
        </p:txBody>
      </p:sp>
    </p:spTree>
    <p:extLst>
      <p:ext uri="{BB962C8B-B14F-4D97-AF65-F5344CB8AC3E}">
        <p14:creationId xmlns:p14="http://schemas.microsoft.com/office/powerpoint/2010/main" val="529866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3568" y="562875"/>
            <a:ext cx="7206588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000" b="1" dirty="0"/>
              <a:t>Voltage Gain, </a:t>
            </a:r>
            <a:r>
              <a:rPr lang="id-ID" sz="2000" b="1" i="1" dirty="0"/>
              <a:t>Av</a:t>
            </a:r>
          </a:p>
          <a:p>
            <a:r>
              <a:rPr lang="id-ID" i="1" dirty="0"/>
              <a:t>Penguatan Tegangan diukur pada keadaan sinyal Vo maupun Vi tidak cacat</a:t>
            </a:r>
            <a:endParaRPr lang="id-ID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281" y="1309410"/>
            <a:ext cx="3446423" cy="764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072520"/>
            <a:ext cx="5225324" cy="937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140968"/>
            <a:ext cx="3508002" cy="1510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67544" y="4870901"/>
            <a:ext cx="691772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Untuk penguat transistor, penguatan tegangan tanpa beban lebih besar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daripada penguatan tegangan beban.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7" name="Ink 46"/>
              <p14:cNvContentPartPr/>
              <p14:nvPr/>
            </p14:nvContentPartPr>
            <p14:xfrm>
              <a:off x="2230455" y="3895740"/>
              <a:ext cx="403560" cy="145440"/>
            </p14:xfrm>
          </p:contentPart>
        </mc:Choice>
        <mc:Fallback xmlns="">
          <p:pic>
            <p:nvPicPr>
              <p:cNvPr id="47" name="Ink 46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25055" y="3890340"/>
                <a:ext cx="412920" cy="15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9172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836712"/>
            <a:ext cx="7612193" cy="2736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683567" y="4221088"/>
            <a:ext cx="76121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id-ID" dirty="0">
                <a:latin typeface="Times New Roman" pitchFamily="18" charset="0"/>
                <a:cs typeface="Times New Roman" pitchFamily="18" charset="0"/>
              </a:rPr>
              <a:t>Tergantung pada konfigurasi, besarnya penguatan tegangan untuk  penguat transistor satu tahap yang dimuat biasanya berkisar dari hanya kurang dari 1 sampai beberapa ratus. Namun, sistem multitahap (multiunit), dapat memiliki penguatan tegangan ribuan.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905293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552" y="404664"/>
            <a:ext cx="18817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2000" b="1" dirty="0"/>
              <a:t>Current Gain, </a:t>
            </a:r>
            <a:r>
              <a:rPr lang="id-ID" sz="2000" b="1" i="1" dirty="0"/>
              <a:t>Ai</a:t>
            </a:r>
            <a:endParaRPr lang="id-ID" sz="2000" b="1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62" y="835412"/>
            <a:ext cx="318135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11" y="1464062"/>
            <a:ext cx="2520280" cy="739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203483"/>
            <a:ext cx="4599511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811" y="4437112"/>
            <a:ext cx="4057650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5364088" y="1864522"/>
            <a:ext cx="1951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i="1" dirty="0"/>
              <a:t>Phase Relationship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5374252" y="2348880"/>
            <a:ext cx="355717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Untuk penguat transistor tipikal pada frekuensi yang memungkin kan </a:t>
            </a:r>
            <a:r>
              <a:rPr lang="id-ID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id-ID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pengabaian efek dari elemen reaktif, sinyal input dan output adalah 180 ° </a:t>
            </a:r>
          </a:p>
        </p:txBody>
      </p:sp>
    </p:spTree>
    <p:extLst>
      <p:ext uri="{BB962C8B-B14F-4D97-AF65-F5344CB8AC3E}">
        <p14:creationId xmlns:p14="http://schemas.microsoft.com/office/powerpoint/2010/main" val="2388417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363</Words>
  <Application>Microsoft Office PowerPoint</Application>
  <PresentationFormat>On-screen Show (4:3)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Parameter Zi, Zo, Av dan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Penguat Sinyal Kecil  Pengukuran Zi,Zo, Av dan Ai</dc:title>
  <dc:creator>COMPAQ</dc:creator>
  <cp:lastModifiedBy>erilmozef@yahoo.com</cp:lastModifiedBy>
  <cp:revision>57</cp:revision>
  <dcterms:created xsi:type="dcterms:W3CDTF">2021-06-23T05:05:21Z</dcterms:created>
  <dcterms:modified xsi:type="dcterms:W3CDTF">2025-05-22T22:28:59Z</dcterms:modified>
</cp:coreProperties>
</file>