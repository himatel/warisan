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305" r:id="rId3"/>
    <p:sldId id="306"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6" d="100"/>
          <a:sy n="46" d="100"/>
        </p:scale>
        <p:origin x="43" y="7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42469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424654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33141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726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558DC9-6650-431C-B965-8F7DD5C4B993}" type="datetimeFigureOut">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8365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558DC9-6650-431C-B965-8F7DD5C4B993}" type="datetimeFigureOut">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105466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58DC9-6650-431C-B965-8F7DD5C4B993}" type="datetimeFigureOut">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99701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81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61224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1728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02439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id-ID"/>
          </a:p>
        </p:txBody>
      </p:sp>
      <p:sp>
        <p:nvSpPr>
          <p:cNvPr id="3" name="Table Placeholder 2"/>
          <p:cNvSpPr>
            <a:spLocks noGrp="1"/>
          </p:cNvSpPr>
          <p:nvPr>
            <p:ph type="tbl" idx="1"/>
          </p:nvPr>
        </p:nvSpPr>
        <p:spPr>
          <a:xfrm>
            <a:off x="609600" y="1600201"/>
            <a:ext cx="10972800" cy="4525963"/>
          </a:xfrm>
        </p:spPr>
        <p:txBody>
          <a:bodyPr/>
          <a:lstStyle/>
          <a:p>
            <a:pPr lvl="0"/>
            <a:endParaRPr lang="id-ID"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BC8CC7B-D9B2-4064-8E88-A5BDFFE2DA7E}" type="slidenum">
              <a:rPr lang="en-GB"/>
              <a:pPr>
                <a:defRPr/>
              </a:pPr>
              <a:t>‹#›</a:t>
            </a:fld>
            <a:endParaRPr lang="en-GB"/>
          </a:p>
        </p:txBody>
      </p:sp>
    </p:spTree>
    <p:extLst>
      <p:ext uri="{BB962C8B-B14F-4D97-AF65-F5344CB8AC3E}">
        <p14:creationId xmlns:p14="http://schemas.microsoft.com/office/powerpoint/2010/main" val="593357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58DC9-6650-431C-B965-8F7DD5C4B993}" type="datetimeFigureOut">
              <a:rPr lang="en-US" smtClean="0"/>
              <a:t>5/14/2025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D908DD-F72B-45CD-A843-A0A67DEB6BD5}" type="slidenum">
              <a:rPr lang="en-US" smtClean="0"/>
              <a:t>‹#›</a:t>
            </a:fld>
            <a:endParaRPr lang="en-US"/>
          </a:p>
        </p:txBody>
      </p:sp>
    </p:spTree>
    <p:extLst>
      <p:ext uri="{BB962C8B-B14F-4D97-AF65-F5344CB8AC3E}">
        <p14:creationId xmlns:p14="http://schemas.microsoft.com/office/powerpoint/2010/main" val="2818147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6B65B98-3BDE-42FF-9154-922F419E786E}" type="slidenum">
              <a:rPr lang="en-GB" sz="1400"/>
              <a:pPr>
                <a:spcBef>
                  <a:spcPct val="0"/>
                </a:spcBef>
                <a:buFontTx/>
                <a:buNone/>
              </a:pPr>
              <a:t>1</a:t>
            </a:fld>
            <a:endParaRPr lang="en-GB" sz="1400"/>
          </a:p>
        </p:txBody>
      </p:sp>
      <p:sp>
        <p:nvSpPr>
          <p:cNvPr id="38915" name="Rectangle 2"/>
          <p:cNvSpPr>
            <a:spLocks noGrp="1" noChangeArrowheads="1"/>
          </p:cNvSpPr>
          <p:nvPr>
            <p:ph type="title"/>
          </p:nvPr>
        </p:nvSpPr>
        <p:spPr>
          <a:xfrm>
            <a:off x="1981200" y="274639"/>
            <a:ext cx="8229600" cy="561975"/>
          </a:xfrm>
        </p:spPr>
        <p:txBody>
          <a:bodyPr/>
          <a:lstStyle/>
          <a:p>
            <a:pPr eaLnBrk="1" hangingPunct="1"/>
            <a:r>
              <a:rPr lang="en-US" sz="3200" b="1"/>
              <a:t>Datashet Transistor (Sederhana)</a:t>
            </a:r>
          </a:p>
        </p:txBody>
      </p:sp>
      <p:graphicFrame>
        <p:nvGraphicFramePr>
          <p:cNvPr id="6" name="Group 148"/>
          <p:cNvGraphicFramePr>
            <a:graphicFrameLocks/>
          </p:cNvGraphicFramePr>
          <p:nvPr/>
        </p:nvGraphicFramePr>
        <p:xfrm>
          <a:off x="1981200" y="1067029"/>
          <a:ext cx="8229600" cy="4991101"/>
        </p:xfrm>
        <a:graphic>
          <a:graphicData uri="http://schemas.openxmlformats.org/drawingml/2006/table">
            <a:tbl>
              <a:tblPr/>
              <a:tblGrid>
                <a:gridCol w="757238">
                  <a:extLst>
                    <a:ext uri="{9D8B030D-6E8A-4147-A177-3AD203B41FA5}">
                      <a16:colId xmlns:a16="http://schemas.microsoft.com/office/drawing/2014/main" val="20000"/>
                    </a:ext>
                  </a:extLst>
                </a:gridCol>
                <a:gridCol w="860425">
                  <a:extLst>
                    <a:ext uri="{9D8B030D-6E8A-4147-A177-3AD203B41FA5}">
                      <a16:colId xmlns:a16="http://schemas.microsoft.com/office/drawing/2014/main" val="20001"/>
                    </a:ext>
                  </a:extLst>
                </a:gridCol>
                <a:gridCol w="674687">
                  <a:extLst>
                    <a:ext uri="{9D8B030D-6E8A-4147-A177-3AD203B41FA5}">
                      <a16:colId xmlns:a16="http://schemas.microsoft.com/office/drawing/2014/main" val="20002"/>
                    </a:ext>
                  </a:extLst>
                </a:gridCol>
                <a:gridCol w="665163">
                  <a:extLst>
                    <a:ext uri="{9D8B030D-6E8A-4147-A177-3AD203B41FA5}">
                      <a16:colId xmlns:a16="http://schemas.microsoft.com/office/drawing/2014/main" val="20003"/>
                    </a:ext>
                  </a:extLst>
                </a:gridCol>
                <a:gridCol w="538162">
                  <a:extLst>
                    <a:ext uri="{9D8B030D-6E8A-4147-A177-3AD203B41FA5}">
                      <a16:colId xmlns:a16="http://schemas.microsoft.com/office/drawing/2014/main" val="20004"/>
                    </a:ext>
                  </a:extLst>
                </a:gridCol>
                <a:gridCol w="498475">
                  <a:extLst>
                    <a:ext uri="{9D8B030D-6E8A-4147-A177-3AD203B41FA5}">
                      <a16:colId xmlns:a16="http://schemas.microsoft.com/office/drawing/2014/main" val="20005"/>
                    </a:ext>
                  </a:extLst>
                </a:gridCol>
                <a:gridCol w="708025">
                  <a:extLst>
                    <a:ext uri="{9D8B030D-6E8A-4147-A177-3AD203B41FA5}">
                      <a16:colId xmlns:a16="http://schemas.microsoft.com/office/drawing/2014/main" val="20006"/>
                    </a:ext>
                  </a:extLst>
                </a:gridCol>
                <a:gridCol w="2024063">
                  <a:extLst>
                    <a:ext uri="{9D8B030D-6E8A-4147-A177-3AD203B41FA5}">
                      <a16:colId xmlns:a16="http://schemas.microsoft.com/office/drawing/2014/main" val="20007"/>
                    </a:ext>
                  </a:extLst>
                </a:gridCol>
                <a:gridCol w="1503362">
                  <a:extLst>
                    <a:ext uri="{9D8B030D-6E8A-4147-A177-3AD203B41FA5}">
                      <a16:colId xmlns:a16="http://schemas.microsoft.com/office/drawing/2014/main" val="20008"/>
                    </a:ext>
                  </a:extLst>
                </a:gridCol>
              </a:tblGrid>
              <a:tr h="315913">
                <a:tc gridSpan="9">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dirty="0">
                          <a:ln>
                            <a:noFill/>
                          </a:ln>
                          <a:solidFill>
                            <a:srgbClr val="000000"/>
                          </a:solidFill>
                          <a:effectLst/>
                          <a:latin typeface="Arial" charset="0"/>
                          <a:cs typeface="Times New Roman" pitchFamily="18" charset="0"/>
                        </a:rPr>
                        <a:t>NPN transistors</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0"/>
                  </a:ext>
                </a:extLst>
              </a:tr>
              <a:tr h="1095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Code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Structure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Case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style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Arial" charset="0"/>
                          <a:cs typeface="Times New Roman" pitchFamily="18" charset="0"/>
                        </a:rPr>
                        <a:t>I</a:t>
                      </a:r>
                      <a:r>
                        <a:rPr kumimoji="0" lang="en-US" sz="1200" b="1" i="0" u="none" strike="noStrike" cap="none" normalizeH="0" baseline="-30000" dirty="0">
                          <a:ln>
                            <a:noFill/>
                          </a:ln>
                          <a:solidFill>
                            <a:srgbClr val="000000"/>
                          </a:solidFill>
                          <a:effectLst/>
                          <a:latin typeface="Arial" charset="0"/>
                          <a:cs typeface="Times New Roman" pitchFamily="18" charset="0"/>
                        </a:rPr>
                        <a:t>C</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V</a:t>
                      </a:r>
                      <a:r>
                        <a:rPr kumimoji="0" lang="en-US" sz="1200" b="1" i="0" u="none" strike="noStrike" cap="none" normalizeH="0" baseline="-30000">
                          <a:ln>
                            <a:noFill/>
                          </a:ln>
                          <a:solidFill>
                            <a:srgbClr val="000000"/>
                          </a:solidFill>
                          <a:effectLst/>
                          <a:latin typeface="Arial" charset="0"/>
                          <a:cs typeface="Times New Roman" pitchFamily="18" charset="0"/>
                        </a:rPr>
                        <a:t>CE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max.</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h</a:t>
                      </a:r>
                      <a:r>
                        <a:rPr kumimoji="0" lang="en-US" sz="1200" b="1" i="0" u="none" strike="noStrike" cap="none" normalizeH="0" baseline="-30000">
                          <a:ln>
                            <a:noFill/>
                          </a:ln>
                          <a:solidFill>
                            <a:srgbClr val="000000"/>
                          </a:solidFill>
                          <a:effectLst/>
                          <a:latin typeface="Arial" charset="0"/>
                          <a:cs typeface="Times New Roman" pitchFamily="18" charset="0"/>
                        </a:rPr>
                        <a:t>FE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min.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rgbClr val="000000"/>
                          </a:solidFill>
                          <a:effectLst/>
                          <a:latin typeface="Arial" charset="0"/>
                          <a:cs typeface="Times New Roman" pitchFamily="18" charset="0"/>
                        </a:rPr>
                        <a:t>P</a:t>
                      </a:r>
                      <a:r>
                        <a:rPr kumimoji="0" lang="en-US" sz="1200" b="1" i="0" u="none" strike="noStrike" cap="none" normalizeH="0" baseline="-30000" dirty="0" err="1">
                          <a:ln>
                            <a:noFill/>
                          </a:ln>
                          <a:solidFill>
                            <a:srgbClr val="000000"/>
                          </a:solidFill>
                          <a:effectLst/>
                          <a:latin typeface="Arial" charset="0"/>
                          <a:cs typeface="Times New Roman" pitchFamily="18" charset="0"/>
                        </a:rPr>
                        <a:t>tot</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Category</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(typical use)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Possible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substitutes</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45V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BC182 BC547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BC108C BC183 BC548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noise),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BC184 BC549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700mA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TO92A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TIP29A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68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TIP31C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TIP31A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65W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117W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charset="0"/>
                          <a:cs typeface="Times New Roman" pitchFamily="18" charset="0"/>
                        </a:rPr>
                        <a:t> </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 name="Rectangle: Rounded Corners 2">
            <a:extLst>
              <a:ext uri="{FF2B5EF4-FFF2-40B4-BE49-F238E27FC236}">
                <a16:creationId xmlns:a16="http://schemas.microsoft.com/office/drawing/2014/main" id="{53380500-0DA7-60E8-3DF6-099BDD5C46EF}"/>
              </a:ext>
            </a:extLst>
          </p:cNvPr>
          <p:cNvSpPr/>
          <p:nvPr/>
        </p:nvSpPr>
        <p:spPr>
          <a:xfrm>
            <a:off x="1981199" y="2474615"/>
            <a:ext cx="8229601" cy="267159"/>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5" name="Straight Arrow Connector 4">
            <a:extLst>
              <a:ext uri="{FF2B5EF4-FFF2-40B4-BE49-F238E27FC236}">
                <a16:creationId xmlns:a16="http://schemas.microsoft.com/office/drawing/2014/main" id="{2D9553D7-0F5D-AEF0-AEB3-E58FF1CDB826}"/>
              </a:ext>
            </a:extLst>
          </p:cNvPr>
          <p:cNvCxnSpPr>
            <a:cxnSpLocks/>
          </p:cNvCxnSpPr>
          <p:nvPr/>
        </p:nvCxnSpPr>
        <p:spPr>
          <a:xfrm flipH="1" flipV="1">
            <a:off x="4780722" y="2266290"/>
            <a:ext cx="5670273" cy="10680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E6B49B8-6E5B-AE6C-0AD7-90EFF6656C77}"/>
              </a:ext>
            </a:extLst>
          </p:cNvPr>
          <p:cNvCxnSpPr>
            <a:cxnSpLocks/>
            <a:endCxn id="11" idx="5"/>
          </p:cNvCxnSpPr>
          <p:nvPr/>
        </p:nvCxnSpPr>
        <p:spPr>
          <a:xfrm flipH="1" flipV="1">
            <a:off x="5362471" y="2266290"/>
            <a:ext cx="5088524" cy="10680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7BC001C0-4B4C-896D-FFEB-CEC5545CE994}"/>
              </a:ext>
            </a:extLst>
          </p:cNvPr>
          <p:cNvCxnSpPr>
            <a:cxnSpLocks/>
          </p:cNvCxnSpPr>
          <p:nvPr/>
        </p:nvCxnSpPr>
        <p:spPr>
          <a:xfrm flipH="1" flipV="1">
            <a:off x="5714792" y="2741774"/>
            <a:ext cx="1314658" cy="35444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F99828D-1BA4-1B94-F432-5B1C7E085D17}"/>
              </a:ext>
            </a:extLst>
          </p:cNvPr>
          <p:cNvSpPr txBox="1"/>
          <p:nvPr/>
        </p:nvSpPr>
        <p:spPr>
          <a:xfrm>
            <a:off x="6095999" y="6214029"/>
            <a:ext cx="2188420" cy="369332"/>
          </a:xfrm>
          <a:prstGeom prst="rect">
            <a:avLst/>
          </a:prstGeom>
          <a:noFill/>
        </p:spPr>
        <p:txBody>
          <a:bodyPr wrap="none" rtlCol="0">
            <a:spAutoFit/>
          </a:bodyPr>
          <a:lstStyle/>
          <a:p>
            <a:r>
              <a:rPr lang="en-US">
                <a:solidFill>
                  <a:srgbClr val="FF0000"/>
                </a:solidFill>
              </a:rPr>
              <a:t>Pada Vce=5V, Ic=2mA</a:t>
            </a:r>
            <a:endParaRPr lang="en-ID">
              <a:solidFill>
                <a:srgbClr val="FF0000"/>
              </a:solidFill>
            </a:endParaRPr>
          </a:p>
        </p:txBody>
      </p:sp>
      <p:sp>
        <p:nvSpPr>
          <p:cNvPr id="7" name="Oval 6">
            <a:extLst>
              <a:ext uri="{FF2B5EF4-FFF2-40B4-BE49-F238E27FC236}">
                <a16:creationId xmlns:a16="http://schemas.microsoft.com/office/drawing/2014/main" id="{9BFC9BCA-C1B1-C185-7A12-339C2CBBF982}"/>
              </a:ext>
            </a:extLst>
          </p:cNvPr>
          <p:cNvSpPr/>
          <p:nvPr/>
        </p:nvSpPr>
        <p:spPr>
          <a:xfrm>
            <a:off x="4263888" y="2497635"/>
            <a:ext cx="626163"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Oval 7">
            <a:extLst>
              <a:ext uri="{FF2B5EF4-FFF2-40B4-BE49-F238E27FC236}">
                <a16:creationId xmlns:a16="http://schemas.microsoft.com/office/drawing/2014/main" id="{0F077CBE-3FE9-CD95-26B7-D738A5AB7296}"/>
              </a:ext>
            </a:extLst>
          </p:cNvPr>
          <p:cNvSpPr/>
          <p:nvPr/>
        </p:nvSpPr>
        <p:spPr>
          <a:xfrm>
            <a:off x="4929810" y="2497635"/>
            <a:ext cx="546648"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Oval 8">
            <a:extLst>
              <a:ext uri="{FF2B5EF4-FFF2-40B4-BE49-F238E27FC236}">
                <a16:creationId xmlns:a16="http://schemas.microsoft.com/office/drawing/2014/main" id="{B86B796B-6B7C-333C-13FD-F3D1257DA6D0}"/>
              </a:ext>
            </a:extLst>
          </p:cNvPr>
          <p:cNvSpPr/>
          <p:nvPr/>
        </p:nvSpPr>
        <p:spPr>
          <a:xfrm>
            <a:off x="4303646" y="1375340"/>
            <a:ext cx="626163"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Oval 10">
            <a:extLst>
              <a:ext uri="{FF2B5EF4-FFF2-40B4-BE49-F238E27FC236}">
                <a16:creationId xmlns:a16="http://schemas.microsoft.com/office/drawing/2014/main" id="{4196EA66-F9BB-D387-3444-5021070E9C62}"/>
              </a:ext>
            </a:extLst>
          </p:cNvPr>
          <p:cNvSpPr/>
          <p:nvPr/>
        </p:nvSpPr>
        <p:spPr>
          <a:xfrm>
            <a:off x="4929809" y="1367299"/>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Oval 11">
            <a:extLst>
              <a:ext uri="{FF2B5EF4-FFF2-40B4-BE49-F238E27FC236}">
                <a16:creationId xmlns:a16="http://schemas.microsoft.com/office/drawing/2014/main" id="{4C6E49D0-EC86-A2A5-AD4E-598CEAE7C3E5}"/>
              </a:ext>
            </a:extLst>
          </p:cNvPr>
          <p:cNvSpPr/>
          <p:nvPr/>
        </p:nvSpPr>
        <p:spPr>
          <a:xfrm>
            <a:off x="5476458" y="2477669"/>
            <a:ext cx="476667" cy="26410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a:extLst>
              <a:ext uri="{FF2B5EF4-FFF2-40B4-BE49-F238E27FC236}">
                <a16:creationId xmlns:a16="http://schemas.microsoft.com/office/drawing/2014/main" id="{1E2AD9EF-5752-CD91-847E-9F1E9D3D50D5}"/>
              </a:ext>
            </a:extLst>
          </p:cNvPr>
          <p:cNvSpPr/>
          <p:nvPr/>
        </p:nvSpPr>
        <p:spPr>
          <a:xfrm>
            <a:off x="5469831" y="1394340"/>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Oval 13">
            <a:extLst>
              <a:ext uri="{FF2B5EF4-FFF2-40B4-BE49-F238E27FC236}">
                <a16:creationId xmlns:a16="http://schemas.microsoft.com/office/drawing/2014/main" id="{8E6F4D40-E305-03C8-4757-6D3C3CC7DE2F}"/>
              </a:ext>
            </a:extLst>
          </p:cNvPr>
          <p:cNvSpPr/>
          <p:nvPr/>
        </p:nvSpPr>
        <p:spPr>
          <a:xfrm>
            <a:off x="4263889" y="5767054"/>
            <a:ext cx="626163"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Oval 14">
            <a:extLst>
              <a:ext uri="{FF2B5EF4-FFF2-40B4-BE49-F238E27FC236}">
                <a16:creationId xmlns:a16="http://schemas.microsoft.com/office/drawing/2014/main" id="{13E6AC6B-3347-C63D-007D-FB1F0EAF40DE}"/>
              </a:ext>
            </a:extLst>
          </p:cNvPr>
          <p:cNvSpPr/>
          <p:nvPr/>
        </p:nvSpPr>
        <p:spPr>
          <a:xfrm>
            <a:off x="4929811" y="5767054"/>
            <a:ext cx="546648"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Oval 15">
            <a:extLst>
              <a:ext uri="{FF2B5EF4-FFF2-40B4-BE49-F238E27FC236}">
                <a16:creationId xmlns:a16="http://schemas.microsoft.com/office/drawing/2014/main" id="{B50AFEC0-AB49-8991-378F-A8C63FE3C887}"/>
              </a:ext>
            </a:extLst>
          </p:cNvPr>
          <p:cNvSpPr/>
          <p:nvPr/>
        </p:nvSpPr>
        <p:spPr>
          <a:xfrm>
            <a:off x="5476459" y="5747088"/>
            <a:ext cx="476667" cy="26410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9" name="Straight Arrow Connector 18">
            <a:extLst>
              <a:ext uri="{FF2B5EF4-FFF2-40B4-BE49-F238E27FC236}">
                <a16:creationId xmlns:a16="http://schemas.microsoft.com/office/drawing/2014/main" id="{0C0FE1B8-3E18-AF96-3F1E-712EEB1B1747}"/>
              </a:ext>
            </a:extLst>
          </p:cNvPr>
          <p:cNvCxnSpPr>
            <a:cxnSpLocks/>
          </p:cNvCxnSpPr>
          <p:nvPr/>
        </p:nvCxnSpPr>
        <p:spPr>
          <a:xfrm flipV="1">
            <a:off x="5049078" y="6050299"/>
            <a:ext cx="568385" cy="2359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C902505-5BCE-8A62-1D4C-B41EFFCB48B2}"/>
              </a:ext>
            </a:extLst>
          </p:cNvPr>
          <p:cNvSpPr txBox="1"/>
          <p:nvPr/>
        </p:nvSpPr>
        <p:spPr>
          <a:xfrm>
            <a:off x="3950920" y="6216260"/>
            <a:ext cx="2004075" cy="369332"/>
          </a:xfrm>
          <a:prstGeom prst="rect">
            <a:avLst/>
          </a:prstGeom>
          <a:noFill/>
        </p:spPr>
        <p:txBody>
          <a:bodyPr wrap="none" rtlCol="0">
            <a:spAutoFit/>
          </a:bodyPr>
          <a:lstStyle/>
          <a:p>
            <a:r>
              <a:rPr lang="en-US">
                <a:solidFill>
                  <a:srgbClr val="FF0000"/>
                </a:solidFill>
              </a:rPr>
              <a:t>Pada Vce=4V, Ic=4A</a:t>
            </a:r>
            <a:endParaRPr lang="en-ID">
              <a:solidFill>
                <a:srgbClr val="FF0000"/>
              </a:solidFill>
            </a:endParaRPr>
          </a:p>
        </p:txBody>
      </p:sp>
      <p:sp>
        <p:nvSpPr>
          <p:cNvPr id="27" name="Rectangle: Rounded Corners 26">
            <a:extLst>
              <a:ext uri="{FF2B5EF4-FFF2-40B4-BE49-F238E27FC236}">
                <a16:creationId xmlns:a16="http://schemas.microsoft.com/office/drawing/2014/main" id="{E70EFC24-DD48-6389-8277-F1D605207390}"/>
              </a:ext>
            </a:extLst>
          </p:cNvPr>
          <p:cNvSpPr/>
          <p:nvPr/>
        </p:nvSpPr>
        <p:spPr>
          <a:xfrm>
            <a:off x="1981198" y="5767054"/>
            <a:ext cx="8229601" cy="267159"/>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TextBox 17">
            <a:extLst>
              <a:ext uri="{FF2B5EF4-FFF2-40B4-BE49-F238E27FC236}">
                <a16:creationId xmlns:a16="http://schemas.microsoft.com/office/drawing/2014/main" id="{069860A2-63E8-D378-F2F2-1DA975FD9EBA}"/>
              </a:ext>
            </a:extLst>
          </p:cNvPr>
          <p:cNvSpPr txBox="1"/>
          <p:nvPr/>
        </p:nvSpPr>
        <p:spPr>
          <a:xfrm>
            <a:off x="10449134" y="165834"/>
            <a:ext cx="1480930" cy="6555641"/>
          </a:xfrm>
          <a:prstGeom prst="rect">
            <a:avLst/>
          </a:prstGeom>
          <a:noFill/>
        </p:spPr>
        <p:txBody>
          <a:bodyPr wrap="square" rtlCol="0">
            <a:spAutoFit/>
          </a:bodyPr>
          <a:lstStyle/>
          <a:p>
            <a:r>
              <a:rPr lang="en-US" sz="1200">
                <a:solidFill>
                  <a:srgbClr val="FF0000"/>
                </a:solidFill>
              </a:rPr>
              <a:t>Icmax dan Vcemax disini adalah Icmax dan Vcemax “break down” dimana lewat batas tsb, transistor akan rusak. Disini diistilahkan dengan Vcemax_datasheet dan Icmax_datasheet</a:t>
            </a:r>
          </a:p>
          <a:p>
            <a:endParaRPr lang="en-US" sz="1200">
              <a:solidFill>
                <a:srgbClr val="FF0000"/>
              </a:solidFill>
            </a:endParaRPr>
          </a:p>
          <a:p>
            <a:r>
              <a:rPr lang="en-US" sz="1200">
                <a:solidFill>
                  <a:srgbClr val="FF0000"/>
                </a:solidFill>
              </a:rPr>
              <a:t>Catatan1: Icmax dan Vcemax ini hanya bisa  diketahui dari datasheet. Datasheet umumnya dikeluarkan oleh fabrikan. </a:t>
            </a:r>
          </a:p>
          <a:p>
            <a:endParaRPr lang="en-US" sz="1200">
              <a:solidFill>
                <a:srgbClr val="FF0000"/>
              </a:solidFill>
            </a:endParaRPr>
          </a:p>
          <a:p>
            <a:r>
              <a:rPr lang="en-US" sz="1200">
                <a:solidFill>
                  <a:srgbClr val="FF0000"/>
                </a:solidFill>
              </a:rPr>
              <a:t>Catatan2: Notasi Icmax dan Vcemax yang digunakan saat perancangan Prategangan bukanlah Icmax dan Vcemax “break down” melainkan Icmax dan Vcemax “operasional” yang nilainya ditentukan oleh desainer dimana Icmax dan Vcemax operasional harus dibawah break down.</a:t>
            </a:r>
            <a:endParaRPr lang="en-ID" sz="1200">
              <a:solidFill>
                <a:srgbClr val="FF0000"/>
              </a:solidFill>
            </a:endParaRPr>
          </a:p>
        </p:txBody>
      </p:sp>
    </p:spTree>
    <p:extLst>
      <p:ext uri="{BB962C8B-B14F-4D97-AF65-F5344CB8AC3E}">
        <p14:creationId xmlns:p14="http://schemas.microsoft.com/office/powerpoint/2010/main" val="90167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9CC9-1256-9A0C-BD6A-4142B364C5E7}"/>
              </a:ext>
            </a:extLst>
          </p:cNvPr>
          <p:cNvSpPr>
            <a:spLocks noGrp="1"/>
          </p:cNvSpPr>
          <p:nvPr>
            <p:ph type="title"/>
          </p:nvPr>
        </p:nvSpPr>
        <p:spPr/>
        <p:txBody>
          <a:bodyPr/>
          <a:lstStyle/>
          <a:p>
            <a:r>
              <a:rPr lang="en-US"/>
              <a:t>Beta (atau hFE) BC107</a:t>
            </a:r>
            <a:endParaRPr lang="en-ID"/>
          </a:p>
        </p:txBody>
      </p:sp>
      <p:sp>
        <p:nvSpPr>
          <p:cNvPr id="3" name="Content Placeholder 2">
            <a:extLst>
              <a:ext uri="{FF2B5EF4-FFF2-40B4-BE49-F238E27FC236}">
                <a16:creationId xmlns:a16="http://schemas.microsoft.com/office/drawing/2014/main" id="{895A4171-EE3C-6105-CF1D-FBBDC40B6F36}"/>
              </a:ext>
            </a:extLst>
          </p:cNvPr>
          <p:cNvSpPr>
            <a:spLocks noGrp="1"/>
          </p:cNvSpPr>
          <p:nvPr>
            <p:ph idx="1"/>
          </p:nvPr>
        </p:nvSpPr>
        <p:spPr/>
        <p:txBody>
          <a:bodyPr>
            <a:normAutofit fontScale="92500" lnSpcReduction="20000"/>
          </a:bodyPr>
          <a:lstStyle/>
          <a:p>
            <a:pPr>
              <a:buNone/>
            </a:pPr>
            <a:r>
              <a:rPr lang="en-ID"/>
              <a:t>Beta BC107 pada tabel tertulis 110 tapi ini adalah nilai minimum.</a:t>
            </a:r>
          </a:p>
          <a:p>
            <a:pPr>
              <a:buNone/>
            </a:pPr>
            <a:r>
              <a:rPr lang="en-ID"/>
              <a:t>Nilai </a:t>
            </a:r>
            <a:r>
              <a:rPr lang="en-ID" b="1"/>
              <a:t>beta (</a:t>
            </a:r>
            <a:r>
              <a:rPr lang="el-GR" b="1"/>
              <a:t>β)</a:t>
            </a:r>
            <a:r>
              <a:rPr lang="el-GR"/>
              <a:t> </a:t>
            </a:r>
            <a:r>
              <a:rPr lang="en-ID"/>
              <a:t>atau </a:t>
            </a:r>
            <a:r>
              <a:rPr lang="en-ID" b="1"/>
              <a:t>hFE</a:t>
            </a:r>
            <a:r>
              <a:rPr lang="en-ID"/>
              <a:t> dari transistor </a:t>
            </a:r>
            <a:r>
              <a:rPr lang="en-ID" b="1"/>
              <a:t>BC107</a:t>
            </a:r>
            <a:r>
              <a:rPr lang="en-ID"/>
              <a:t> biasanya berada dalam rentang:</a:t>
            </a:r>
          </a:p>
          <a:p>
            <a:pPr>
              <a:buNone/>
            </a:pPr>
            <a:r>
              <a:rPr lang="en-ID" b="1"/>
              <a:t>110 hingga 450</a:t>
            </a:r>
            <a:r>
              <a:rPr lang="en-ID"/>
              <a:t>, tergantung pada tipe subkelasnya dan kondisi pengujian.</a:t>
            </a:r>
          </a:p>
          <a:p>
            <a:pPr>
              <a:buNone/>
            </a:pPr>
            <a:r>
              <a:rPr lang="en-ID"/>
              <a:t>Secara umum:</a:t>
            </a:r>
          </a:p>
          <a:p>
            <a:pPr>
              <a:buFont typeface="Arial" panose="020B0604020202020204" pitchFamily="34" charset="0"/>
              <a:buChar char="•"/>
            </a:pPr>
            <a:r>
              <a:rPr lang="en-ID" b="1"/>
              <a:t>BC107A</a:t>
            </a:r>
            <a:r>
              <a:rPr lang="en-ID"/>
              <a:t>: </a:t>
            </a:r>
            <a:r>
              <a:rPr lang="el-GR"/>
              <a:t>β ≈ 110–220</a:t>
            </a:r>
          </a:p>
          <a:p>
            <a:pPr>
              <a:buFont typeface="Arial" panose="020B0604020202020204" pitchFamily="34" charset="0"/>
              <a:buChar char="•"/>
            </a:pPr>
            <a:r>
              <a:rPr lang="en-ID" b="1"/>
              <a:t>BC107B</a:t>
            </a:r>
            <a:r>
              <a:rPr lang="en-ID"/>
              <a:t>: </a:t>
            </a:r>
            <a:r>
              <a:rPr lang="el-GR"/>
              <a:t>β ≈ 200–450</a:t>
            </a:r>
          </a:p>
          <a:p>
            <a:pPr>
              <a:buFont typeface="Arial" panose="020B0604020202020204" pitchFamily="34" charset="0"/>
              <a:buChar char="•"/>
            </a:pPr>
            <a:r>
              <a:rPr lang="en-ID" b="1"/>
              <a:t>BC107C</a:t>
            </a:r>
            <a:r>
              <a:rPr lang="en-ID"/>
              <a:t>: </a:t>
            </a:r>
            <a:r>
              <a:rPr lang="el-GR"/>
              <a:t>β ≈ 420–800 (</a:t>
            </a:r>
            <a:r>
              <a:rPr lang="en-ID"/>
              <a:t>jika tersedia, meski ini lebih umum di BC547C)</a:t>
            </a:r>
          </a:p>
          <a:p>
            <a:pPr>
              <a:buNone/>
            </a:pPr>
            <a:r>
              <a:rPr lang="en-ID"/>
              <a:t>Nilai pastinya bisa dilihat di datasheet atau diukur menggunakan multimeter dengan fungsi hFE. Pengujian standar biasanya dilakukan pada:</a:t>
            </a:r>
          </a:p>
          <a:p>
            <a:pPr>
              <a:buFont typeface="Arial" panose="020B0604020202020204" pitchFamily="34" charset="0"/>
              <a:buChar char="•"/>
            </a:pPr>
            <a:r>
              <a:rPr lang="en-ID" b="1"/>
              <a:t>Vce</a:t>
            </a:r>
            <a:r>
              <a:rPr lang="en-ID"/>
              <a:t> = 5V</a:t>
            </a:r>
          </a:p>
          <a:p>
            <a:pPr>
              <a:buFont typeface="Arial" panose="020B0604020202020204" pitchFamily="34" charset="0"/>
              <a:buChar char="•"/>
            </a:pPr>
            <a:r>
              <a:rPr lang="en-ID" b="1"/>
              <a:t>Ic</a:t>
            </a:r>
            <a:r>
              <a:rPr lang="en-ID"/>
              <a:t> = 2 mA</a:t>
            </a:r>
          </a:p>
          <a:p>
            <a:endParaRPr lang="en-ID"/>
          </a:p>
        </p:txBody>
      </p:sp>
    </p:spTree>
    <p:extLst>
      <p:ext uri="{BB962C8B-B14F-4D97-AF65-F5344CB8AC3E}">
        <p14:creationId xmlns:p14="http://schemas.microsoft.com/office/powerpoint/2010/main" val="4293632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F96D-3A22-3C08-F9C9-3C6CE807093A}"/>
              </a:ext>
            </a:extLst>
          </p:cNvPr>
          <p:cNvSpPr>
            <a:spLocks noGrp="1"/>
          </p:cNvSpPr>
          <p:nvPr>
            <p:ph type="title"/>
          </p:nvPr>
        </p:nvSpPr>
        <p:spPr/>
        <p:txBody>
          <a:bodyPr/>
          <a:lstStyle/>
          <a:p>
            <a:r>
              <a:rPr lang="en-US"/>
              <a:t>Beta (atau hFE) 2N3055</a:t>
            </a:r>
            <a:endParaRPr lang="en-ID"/>
          </a:p>
        </p:txBody>
      </p:sp>
      <p:sp>
        <p:nvSpPr>
          <p:cNvPr id="3" name="Content Placeholder 2">
            <a:extLst>
              <a:ext uri="{FF2B5EF4-FFF2-40B4-BE49-F238E27FC236}">
                <a16:creationId xmlns:a16="http://schemas.microsoft.com/office/drawing/2014/main" id="{D5E4EA75-C9DA-018C-4FB6-A58BA608B706}"/>
              </a:ext>
            </a:extLst>
          </p:cNvPr>
          <p:cNvSpPr>
            <a:spLocks noGrp="1"/>
          </p:cNvSpPr>
          <p:nvPr>
            <p:ph idx="1"/>
          </p:nvPr>
        </p:nvSpPr>
        <p:spPr/>
        <p:txBody>
          <a:bodyPr>
            <a:normAutofit fontScale="92500" lnSpcReduction="20000"/>
          </a:bodyPr>
          <a:lstStyle/>
          <a:p>
            <a:pPr>
              <a:buNone/>
            </a:pPr>
            <a:r>
              <a:rPr lang="en-ID"/>
              <a:t>Beta 2N3055 pada tabel tertulis 20 tapi ini adalah nilai minimum.</a:t>
            </a:r>
          </a:p>
          <a:p>
            <a:pPr>
              <a:buNone/>
            </a:pPr>
            <a:r>
              <a:rPr lang="en-ID"/>
              <a:t>Transistor </a:t>
            </a:r>
            <a:r>
              <a:rPr lang="en-ID" b="1"/>
              <a:t>2N3055</a:t>
            </a:r>
            <a:r>
              <a:rPr lang="en-ID"/>
              <a:t> adalah transistor daya NPN yang biasa digunakan untuk aplikasi arus dan tegangan tinggi.</a:t>
            </a:r>
          </a:p>
          <a:p>
            <a:pPr>
              <a:buNone/>
            </a:pPr>
            <a:r>
              <a:rPr lang="en-ID"/>
              <a:t>Nilai </a:t>
            </a:r>
            <a:r>
              <a:rPr lang="en-ID" b="1"/>
              <a:t>beta (</a:t>
            </a:r>
            <a:r>
              <a:rPr lang="el-GR" b="1"/>
              <a:t>β) </a:t>
            </a:r>
            <a:r>
              <a:rPr lang="en-ID" b="1"/>
              <a:t>atau hFE</a:t>
            </a:r>
            <a:r>
              <a:rPr lang="en-ID"/>
              <a:t> dari 2N3055:</a:t>
            </a:r>
          </a:p>
          <a:p>
            <a:pPr>
              <a:buFont typeface="Arial" panose="020B0604020202020204" pitchFamily="34" charset="0"/>
              <a:buChar char="•"/>
            </a:pPr>
            <a:r>
              <a:rPr lang="en-ID"/>
              <a:t>Biasanya </a:t>
            </a:r>
            <a:r>
              <a:rPr lang="en-ID" b="1"/>
              <a:t>20 hingga 70</a:t>
            </a:r>
            <a:r>
              <a:rPr lang="en-ID"/>
              <a:t> pada arus kolektor </a:t>
            </a:r>
            <a:r>
              <a:rPr lang="en-ID" b="1"/>
              <a:t>Ic = 4A</a:t>
            </a:r>
            <a:r>
              <a:rPr lang="en-ID"/>
              <a:t> dan </a:t>
            </a:r>
            <a:r>
              <a:rPr lang="en-ID" b="1"/>
              <a:t>Vce = 4 V</a:t>
            </a:r>
            <a:r>
              <a:rPr lang="en-ID"/>
              <a:t> (menurut datasheet lama dari ON Semiconductor).</a:t>
            </a:r>
          </a:p>
          <a:p>
            <a:pPr>
              <a:buFont typeface="Arial" panose="020B0604020202020204" pitchFamily="34" charset="0"/>
              <a:buChar char="•"/>
            </a:pPr>
            <a:r>
              <a:rPr lang="en-ID"/>
              <a:t>Nilai beta bisa lebih rendah pada arus lebih kecil, dan akan menurun saat arus kolektor mendekati batas maksimum (15 A).</a:t>
            </a:r>
          </a:p>
          <a:p>
            <a:pPr>
              <a:buNone/>
            </a:pPr>
            <a:r>
              <a:rPr lang="en-ID" b="1"/>
              <a:t>Catatan penting</a:t>
            </a:r>
            <a:r>
              <a:rPr lang="en-ID"/>
              <a:t>:</a:t>
            </a:r>
          </a:p>
          <a:p>
            <a:pPr>
              <a:buFont typeface="Arial" panose="020B0604020202020204" pitchFamily="34" charset="0"/>
              <a:buChar char="•"/>
            </a:pPr>
            <a:r>
              <a:rPr lang="en-ID"/>
              <a:t>2N3055 bukan transistor yang cocok untuk penguatan sinyal kecil karena betanya rendah.</a:t>
            </a:r>
          </a:p>
          <a:p>
            <a:pPr>
              <a:buFont typeface="Arial" panose="020B0604020202020204" pitchFamily="34" charset="0"/>
              <a:buChar char="•"/>
            </a:pPr>
            <a:r>
              <a:rPr lang="en-ID"/>
              <a:t>Cocok untuk </a:t>
            </a:r>
            <a:r>
              <a:rPr lang="en-ID" b="1"/>
              <a:t>regulator tegangan, power amplifier,</a:t>
            </a:r>
            <a:r>
              <a:rPr lang="en-ID"/>
              <a:t> dan </a:t>
            </a:r>
            <a:r>
              <a:rPr lang="en-ID" b="1"/>
              <a:t>driver motor</a:t>
            </a:r>
            <a:r>
              <a:rPr lang="en-ID"/>
              <a:t>.</a:t>
            </a:r>
          </a:p>
          <a:p>
            <a:endParaRPr lang="en-ID"/>
          </a:p>
        </p:txBody>
      </p:sp>
    </p:spTree>
    <p:extLst>
      <p:ext uri="{BB962C8B-B14F-4D97-AF65-F5344CB8AC3E}">
        <p14:creationId xmlns:p14="http://schemas.microsoft.com/office/powerpoint/2010/main" val="3799579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3083</TotalTime>
  <Words>526</Words>
  <Application>Microsoft Office PowerPoint</Application>
  <PresentationFormat>Widescreen</PresentationFormat>
  <Paragraphs>147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Datashet Transistor (Sederhana)</vt:lpstr>
      <vt:lpstr>Beta (atau hFE) BC107</vt:lpstr>
      <vt:lpstr>Beta (atau hFE) 2N3055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erilmozef@yahoo.com</cp:lastModifiedBy>
  <cp:revision>125</cp:revision>
  <dcterms:created xsi:type="dcterms:W3CDTF">2024-04-25T05:33:30Z</dcterms:created>
  <dcterms:modified xsi:type="dcterms:W3CDTF">2025-05-14T10:15:06Z</dcterms:modified>
</cp:coreProperties>
</file>