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3" r:id="rId3"/>
    <p:sldId id="265" r:id="rId4"/>
    <p:sldId id="273" r:id="rId5"/>
    <p:sldId id="263" r:id="rId6"/>
    <p:sldId id="290" r:id="rId7"/>
    <p:sldId id="291" r:id="rId8"/>
    <p:sldId id="29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8" d="100"/>
          <a:sy n="88" d="100"/>
        </p:scale>
        <p:origin x="394" y="-1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0558DC9-6650-431C-B965-8F7DD5C4B993}"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2424691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558DC9-6650-431C-B965-8F7DD5C4B993}"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4246540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558DC9-6650-431C-B965-8F7DD5C4B993}"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233141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558DC9-6650-431C-B965-8F7DD5C4B993}"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3807262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0558DC9-6650-431C-B965-8F7DD5C4B993}" type="datetimeFigureOut">
              <a:rPr lang="en-US" smtClean="0"/>
              <a:t>5/2/2025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283655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0558DC9-6650-431C-B965-8F7DD5C4B993}" type="datetimeFigureOut">
              <a:rPr lang="en-US" smtClean="0"/>
              <a:t>5/2/2025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3105466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558DC9-6650-431C-B965-8F7DD5C4B993}" type="datetimeFigureOut">
              <a:rPr lang="en-US" smtClean="0"/>
              <a:t>5/2/2025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997012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0558DC9-6650-431C-B965-8F7DD5C4B993}"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3808138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0558DC9-6650-431C-B965-8F7DD5C4B993}"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261224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558DC9-6650-431C-B965-8F7DD5C4B993}"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17288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558DC9-6650-431C-B965-8F7DD5C4B993}"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202439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id-ID"/>
          </a:p>
        </p:txBody>
      </p:sp>
      <p:sp>
        <p:nvSpPr>
          <p:cNvPr id="3" name="Table Placeholder 2"/>
          <p:cNvSpPr>
            <a:spLocks noGrp="1"/>
          </p:cNvSpPr>
          <p:nvPr>
            <p:ph type="tbl" idx="1"/>
          </p:nvPr>
        </p:nvSpPr>
        <p:spPr>
          <a:xfrm>
            <a:off x="609600" y="1600201"/>
            <a:ext cx="10972800" cy="4525963"/>
          </a:xfrm>
        </p:spPr>
        <p:txBody>
          <a:bodyPr/>
          <a:lstStyle/>
          <a:p>
            <a:pPr lvl="0"/>
            <a:endParaRPr lang="id-ID" noProof="0"/>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ABC8CC7B-D9B2-4064-8E88-A5BDFFE2DA7E}" type="slidenum">
              <a:rPr lang="en-GB"/>
              <a:pPr>
                <a:defRPr/>
              </a:pPr>
              <a:t>‹#›</a:t>
            </a:fld>
            <a:endParaRPr lang="en-GB"/>
          </a:p>
        </p:txBody>
      </p:sp>
    </p:spTree>
    <p:extLst>
      <p:ext uri="{BB962C8B-B14F-4D97-AF65-F5344CB8AC3E}">
        <p14:creationId xmlns:p14="http://schemas.microsoft.com/office/powerpoint/2010/main" val="2478451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558DC9-6650-431C-B965-8F7DD5C4B993}" type="datetimeFigureOut">
              <a:rPr lang="en-US" smtClean="0"/>
              <a:t>5/2/2025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D908DD-F72B-45CD-A843-A0A67DEB6BD5}" type="slidenum">
              <a:rPr lang="en-US" smtClean="0"/>
              <a:t>‹#›</a:t>
            </a:fld>
            <a:endParaRPr lang="en-US"/>
          </a:p>
        </p:txBody>
      </p:sp>
    </p:spTree>
    <p:extLst>
      <p:ext uri="{BB962C8B-B14F-4D97-AF65-F5344CB8AC3E}">
        <p14:creationId xmlns:p14="http://schemas.microsoft.com/office/powerpoint/2010/main" val="2818147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t>Jobsheet Menentukan Ib, Vbe dan Beta (Hfe) dari Grafik Karakteristik Transistor BJT</a:t>
            </a:r>
          </a:p>
        </p:txBody>
      </p:sp>
      <p:sp>
        <p:nvSpPr>
          <p:cNvPr id="3" name="Subtitle 2"/>
          <p:cNvSpPr>
            <a:spLocks noGrp="1"/>
          </p:cNvSpPr>
          <p:nvPr>
            <p:ph type="subTitle" idx="1"/>
          </p:nvPr>
        </p:nvSpPr>
        <p:spPr/>
        <p:txBody>
          <a:bodyPr/>
          <a:lstStyle/>
          <a:p>
            <a:r>
              <a:rPr lang="en-US"/>
              <a:t>Dengan Mode Otomatis (Mode Graph Proteus)</a:t>
            </a:r>
          </a:p>
        </p:txBody>
      </p:sp>
    </p:spTree>
    <p:extLst>
      <p:ext uri="{BB962C8B-B14F-4D97-AF65-F5344CB8AC3E}">
        <p14:creationId xmlns:p14="http://schemas.microsoft.com/office/powerpoint/2010/main" val="834804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D0B63-2ED5-E2E4-C3E6-3E51391B0E1B}"/>
              </a:ext>
            </a:extLst>
          </p:cNvPr>
          <p:cNvSpPr>
            <a:spLocks noGrp="1"/>
          </p:cNvSpPr>
          <p:nvPr>
            <p:ph type="title"/>
          </p:nvPr>
        </p:nvSpPr>
        <p:spPr/>
        <p:txBody>
          <a:bodyPr/>
          <a:lstStyle/>
          <a:p>
            <a:r>
              <a:rPr lang="en-US"/>
              <a:t>Pendahuluan</a:t>
            </a:r>
            <a:endParaRPr lang="en-ID"/>
          </a:p>
        </p:txBody>
      </p:sp>
      <p:sp>
        <p:nvSpPr>
          <p:cNvPr id="3" name="Content Placeholder 2">
            <a:extLst>
              <a:ext uri="{FF2B5EF4-FFF2-40B4-BE49-F238E27FC236}">
                <a16:creationId xmlns:a16="http://schemas.microsoft.com/office/drawing/2014/main" id="{A686E51C-855B-49D4-6A7F-81635E1B3899}"/>
              </a:ext>
            </a:extLst>
          </p:cNvPr>
          <p:cNvSpPr>
            <a:spLocks noGrp="1"/>
          </p:cNvSpPr>
          <p:nvPr>
            <p:ph idx="1"/>
          </p:nvPr>
        </p:nvSpPr>
        <p:spPr/>
        <p:txBody>
          <a:bodyPr>
            <a:normAutofit fontScale="70000" lnSpcReduction="20000"/>
          </a:bodyPr>
          <a:lstStyle/>
          <a:p>
            <a:r>
              <a:rPr lang="en-US"/>
              <a:t>Penentuan Ib, Vbe, Ic, Vce dan Beta (hfe) sangatlah penting dalam merancang rangkaian Prategangan (Biasing) transistor.</a:t>
            </a:r>
          </a:p>
          <a:p>
            <a:r>
              <a:rPr lang="en-US"/>
              <a:t>Biasanya rangkaian Prategangan dirancang dengan mengetahui terlebih dahulu parameter output seperti resistansi beban, arus kolektor (Ic) dan tegangan Vce. Dengan mengetahui parameter-parameter tersebut kemudian dicari parameter-parameter inputnya khususnya Ib dengan mengasumsikan Vbe=0,7V (namun Vbe tepatnya perlu juga ditentukan).</a:t>
            </a:r>
          </a:p>
          <a:p>
            <a:r>
              <a:rPr lang="en-US"/>
              <a:t>Parameter-parameter ini dapat ditentukan baik dengan metoda perhitungan maupun metoda grafik.</a:t>
            </a:r>
          </a:p>
          <a:p>
            <a:r>
              <a:rPr lang="en-US"/>
              <a:t>Dengan metoda perhitungan biasanya akan lebih sulit. Namun dengan metoda grafik akan lebih mudah. Selain lebih mudah juga lebih komprehensif bagi pemula.</a:t>
            </a:r>
          </a:p>
          <a:p>
            <a:r>
              <a:rPr lang="en-US"/>
              <a:t>Untuk itu maka pada praktikum kali ini kita akan mencoba menentukan parameter-parameter Prategangan dengan menggunakan metoda grafik.</a:t>
            </a:r>
          </a:p>
          <a:p>
            <a:r>
              <a:rPr lang="en-ID"/>
              <a:t>Untuk itu sebelumnya, mahasiswa diharapkan sudah pernah mencoba membuat grafik karakteristik transistor seperti pada tutorial yang pernah diberikan pada materi sebelumnya (Membuat Grafik Karakteristik BJT Mode Graph di Proteus).</a:t>
            </a:r>
          </a:p>
        </p:txBody>
      </p:sp>
    </p:spTree>
    <p:extLst>
      <p:ext uri="{BB962C8B-B14F-4D97-AF65-F5344CB8AC3E}">
        <p14:creationId xmlns:p14="http://schemas.microsoft.com/office/powerpoint/2010/main" val="2754395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6B65B98-3BDE-42FF-9154-922F419E786E}" type="slidenum">
              <a:rPr lang="en-GB" sz="1400"/>
              <a:pPr>
                <a:spcBef>
                  <a:spcPct val="0"/>
                </a:spcBef>
                <a:buFontTx/>
                <a:buNone/>
              </a:pPr>
              <a:t>3</a:t>
            </a:fld>
            <a:endParaRPr lang="en-GB" sz="1400"/>
          </a:p>
        </p:txBody>
      </p:sp>
      <p:sp>
        <p:nvSpPr>
          <p:cNvPr id="38915" name="Rectangle 2"/>
          <p:cNvSpPr>
            <a:spLocks noGrp="1" noChangeArrowheads="1"/>
          </p:cNvSpPr>
          <p:nvPr>
            <p:ph type="title"/>
          </p:nvPr>
        </p:nvSpPr>
        <p:spPr>
          <a:xfrm>
            <a:off x="1981200" y="274639"/>
            <a:ext cx="8229600" cy="561975"/>
          </a:xfrm>
        </p:spPr>
        <p:txBody>
          <a:bodyPr/>
          <a:lstStyle/>
          <a:p>
            <a:pPr eaLnBrk="1" hangingPunct="1"/>
            <a:r>
              <a:rPr lang="en-US" sz="3200" b="1"/>
              <a:t>TRANSISTOR</a:t>
            </a:r>
          </a:p>
        </p:txBody>
      </p:sp>
      <p:graphicFrame>
        <p:nvGraphicFramePr>
          <p:cNvPr id="6" name="Group 148"/>
          <p:cNvGraphicFramePr>
            <a:graphicFrameLocks/>
          </p:cNvGraphicFramePr>
          <p:nvPr/>
        </p:nvGraphicFramePr>
        <p:xfrm>
          <a:off x="1981200" y="1067029"/>
          <a:ext cx="8229600" cy="4991101"/>
        </p:xfrm>
        <a:graphic>
          <a:graphicData uri="http://schemas.openxmlformats.org/drawingml/2006/table">
            <a:tbl>
              <a:tblPr/>
              <a:tblGrid>
                <a:gridCol w="757238">
                  <a:extLst>
                    <a:ext uri="{9D8B030D-6E8A-4147-A177-3AD203B41FA5}">
                      <a16:colId xmlns:a16="http://schemas.microsoft.com/office/drawing/2014/main" val="20000"/>
                    </a:ext>
                  </a:extLst>
                </a:gridCol>
                <a:gridCol w="860425">
                  <a:extLst>
                    <a:ext uri="{9D8B030D-6E8A-4147-A177-3AD203B41FA5}">
                      <a16:colId xmlns:a16="http://schemas.microsoft.com/office/drawing/2014/main" val="20001"/>
                    </a:ext>
                  </a:extLst>
                </a:gridCol>
                <a:gridCol w="674687">
                  <a:extLst>
                    <a:ext uri="{9D8B030D-6E8A-4147-A177-3AD203B41FA5}">
                      <a16:colId xmlns:a16="http://schemas.microsoft.com/office/drawing/2014/main" val="20002"/>
                    </a:ext>
                  </a:extLst>
                </a:gridCol>
                <a:gridCol w="665163">
                  <a:extLst>
                    <a:ext uri="{9D8B030D-6E8A-4147-A177-3AD203B41FA5}">
                      <a16:colId xmlns:a16="http://schemas.microsoft.com/office/drawing/2014/main" val="20003"/>
                    </a:ext>
                  </a:extLst>
                </a:gridCol>
                <a:gridCol w="538162">
                  <a:extLst>
                    <a:ext uri="{9D8B030D-6E8A-4147-A177-3AD203B41FA5}">
                      <a16:colId xmlns:a16="http://schemas.microsoft.com/office/drawing/2014/main" val="20004"/>
                    </a:ext>
                  </a:extLst>
                </a:gridCol>
                <a:gridCol w="498475">
                  <a:extLst>
                    <a:ext uri="{9D8B030D-6E8A-4147-A177-3AD203B41FA5}">
                      <a16:colId xmlns:a16="http://schemas.microsoft.com/office/drawing/2014/main" val="20005"/>
                    </a:ext>
                  </a:extLst>
                </a:gridCol>
                <a:gridCol w="708025">
                  <a:extLst>
                    <a:ext uri="{9D8B030D-6E8A-4147-A177-3AD203B41FA5}">
                      <a16:colId xmlns:a16="http://schemas.microsoft.com/office/drawing/2014/main" val="20006"/>
                    </a:ext>
                  </a:extLst>
                </a:gridCol>
                <a:gridCol w="2024063">
                  <a:extLst>
                    <a:ext uri="{9D8B030D-6E8A-4147-A177-3AD203B41FA5}">
                      <a16:colId xmlns:a16="http://schemas.microsoft.com/office/drawing/2014/main" val="20007"/>
                    </a:ext>
                  </a:extLst>
                </a:gridCol>
                <a:gridCol w="1503362">
                  <a:extLst>
                    <a:ext uri="{9D8B030D-6E8A-4147-A177-3AD203B41FA5}">
                      <a16:colId xmlns:a16="http://schemas.microsoft.com/office/drawing/2014/main" val="20008"/>
                    </a:ext>
                  </a:extLst>
                </a:gridCol>
              </a:tblGrid>
              <a:tr h="315913">
                <a:tc gridSpan="9">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dirty="0">
                          <a:ln>
                            <a:noFill/>
                          </a:ln>
                          <a:solidFill>
                            <a:srgbClr val="000000"/>
                          </a:solidFill>
                          <a:effectLst/>
                          <a:latin typeface="Arial" charset="0"/>
                          <a:cs typeface="Times New Roman" pitchFamily="18" charset="0"/>
                        </a:rPr>
                        <a:t>NPN transistors</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extLst>
                  <a:ext uri="{0D108BD9-81ED-4DB2-BD59-A6C34878D82A}">
                    <a16:rowId xmlns:a16="http://schemas.microsoft.com/office/drawing/2014/main" val="10000"/>
                  </a:ext>
                </a:extLst>
              </a:tr>
              <a:tr h="1095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Code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Structure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Case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style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rgbClr val="000000"/>
                          </a:solidFill>
                          <a:effectLst/>
                          <a:latin typeface="Arial" charset="0"/>
                          <a:cs typeface="Times New Roman" pitchFamily="18" charset="0"/>
                        </a:rPr>
                        <a:t>I</a:t>
                      </a:r>
                      <a:r>
                        <a:rPr kumimoji="0" lang="en-US" sz="1200" b="1" i="0" u="none" strike="noStrike" cap="none" normalizeH="0" baseline="-30000" dirty="0">
                          <a:ln>
                            <a:noFill/>
                          </a:ln>
                          <a:solidFill>
                            <a:srgbClr val="000000"/>
                          </a:solidFill>
                          <a:effectLst/>
                          <a:latin typeface="Arial" charset="0"/>
                          <a:cs typeface="Times New Roman" pitchFamily="18" charset="0"/>
                        </a:rPr>
                        <a:t>C</a:t>
                      </a:r>
                      <a:br>
                        <a:rPr kumimoji="0" lang="en-US" sz="1200" b="1" i="0" u="none" strike="noStrike" cap="none" normalizeH="0" baseline="0" dirty="0">
                          <a:ln>
                            <a:noFill/>
                          </a:ln>
                          <a:solidFill>
                            <a:srgbClr val="000000"/>
                          </a:solidFill>
                          <a:effectLst/>
                          <a:latin typeface="Arial" charset="0"/>
                          <a:cs typeface="Times New Roman" pitchFamily="18" charset="0"/>
                        </a:rPr>
                      </a:br>
                      <a:r>
                        <a:rPr kumimoji="0" lang="en-US" sz="1200" b="1" i="0" u="none" strike="noStrike" cap="none" normalizeH="0" baseline="0" dirty="0">
                          <a:ln>
                            <a:noFill/>
                          </a:ln>
                          <a:solidFill>
                            <a:srgbClr val="000000"/>
                          </a:solidFill>
                          <a:effectLst/>
                          <a:latin typeface="Arial" charset="0"/>
                          <a:cs typeface="Times New Roman" pitchFamily="18" charset="0"/>
                        </a:rPr>
                        <a:t>max.</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V</a:t>
                      </a:r>
                      <a:r>
                        <a:rPr kumimoji="0" lang="en-US" sz="1200" b="1" i="0" u="none" strike="noStrike" cap="none" normalizeH="0" baseline="-30000">
                          <a:ln>
                            <a:noFill/>
                          </a:ln>
                          <a:solidFill>
                            <a:srgbClr val="000000"/>
                          </a:solidFill>
                          <a:effectLst/>
                          <a:latin typeface="Arial" charset="0"/>
                          <a:cs typeface="Times New Roman" pitchFamily="18" charset="0"/>
                        </a:rPr>
                        <a:t>CE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max.</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h</a:t>
                      </a:r>
                      <a:r>
                        <a:rPr kumimoji="0" lang="en-US" sz="1200" b="1" i="0" u="none" strike="noStrike" cap="none" normalizeH="0" baseline="-30000">
                          <a:ln>
                            <a:noFill/>
                          </a:ln>
                          <a:solidFill>
                            <a:srgbClr val="000000"/>
                          </a:solidFill>
                          <a:effectLst/>
                          <a:latin typeface="Arial" charset="0"/>
                          <a:cs typeface="Times New Roman" pitchFamily="18" charset="0"/>
                        </a:rPr>
                        <a:t>FE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min.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err="1">
                          <a:ln>
                            <a:noFill/>
                          </a:ln>
                          <a:solidFill>
                            <a:srgbClr val="000000"/>
                          </a:solidFill>
                          <a:effectLst/>
                          <a:latin typeface="Arial" charset="0"/>
                          <a:cs typeface="Times New Roman" pitchFamily="18" charset="0"/>
                        </a:rPr>
                        <a:t>P</a:t>
                      </a:r>
                      <a:r>
                        <a:rPr kumimoji="0" lang="en-US" sz="1200" b="1" i="0" u="none" strike="noStrike" cap="none" normalizeH="0" baseline="-30000" dirty="0" err="1">
                          <a:ln>
                            <a:noFill/>
                          </a:ln>
                          <a:solidFill>
                            <a:srgbClr val="000000"/>
                          </a:solidFill>
                          <a:effectLst/>
                          <a:latin typeface="Arial" charset="0"/>
                          <a:cs typeface="Times New Roman" pitchFamily="18" charset="0"/>
                        </a:rPr>
                        <a:t>tot</a:t>
                      </a:r>
                      <a:br>
                        <a:rPr kumimoji="0" lang="en-US" sz="1200" b="1" i="0" u="none" strike="noStrike" cap="none" normalizeH="0" baseline="0" dirty="0">
                          <a:ln>
                            <a:noFill/>
                          </a:ln>
                          <a:solidFill>
                            <a:srgbClr val="000000"/>
                          </a:solidFill>
                          <a:effectLst/>
                          <a:latin typeface="Arial" charset="0"/>
                          <a:cs typeface="Times New Roman" pitchFamily="18" charset="0"/>
                        </a:rPr>
                      </a:br>
                      <a:r>
                        <a:rPr kumimoji="0" lang="en-US" sz="1200" b="1" i="0" u="none" strike="noStrike" cap="none" normalizeH="0" baseline="0" dirty="0">
                          <a:ln>
                            <a:noFill/>
                          </a:ln>
                          <a:solidFill>
                            <a:srgbClr val="000000"/>
                          </a:solidFill>
                          <a:effectLst/>
                          <a:latin typeface="Arial" charset="0"/>
                          <a:cs typeface="Times New Roman" pitchFamily="18" charset="0"/>
                        </a:rPr>
                        <a:t>max.</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Category</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(typical use)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Possible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substitutes</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BC107</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45V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Audio,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BC182 BC547</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BC108C BC183 BC548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BC108C</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 </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Audio (low noise),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BC184 BC549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2N3053</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700mA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50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500mW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BFY51</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BFY51</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800mW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medium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BC639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BC639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TO92A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80V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800mW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medium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BFY51</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TIP29A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 </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968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TIP31A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TIP31C TIP41A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TIP31C</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TIP31A TIP41A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TIP41A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15</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65W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 </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2N3055</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TO3</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15A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117W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rgbClr val="000000"/>
                          </a:solidFill>
                          <a:effectLst/>
                          <a:latin typeface="Arial" charset="0"/>
                          <a:cs typeface="Times New Roman" pitchFamily="18" charset="0"/>
                        </a:rPr>
                        <a:t> </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901673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Alat dan Bahan</a:t>
            </a:r>
            <a:br>
              <a:rPr lang="en-US"/>
            </a:br>
            <a:r>
              <a:rPr lang="en-US"/>
              <a:t>Transistor BJT yang ada di Proteus</a:t>
            </a:r>
          </a:p>
        </p:txBody>
      </p:sp>
      <p:sp>
        <p:nvSpPr>
          <p:cNvPr id="3" name="Content Placeholder 2"/>
          <p:cNvSpPr>
            <a:spLocks noGrp="1"/>
          </p:cNvSpPr>
          <p:nvPr>
            <p:ph idx="1"/>
          </p:nvPr>
        </p:nvSpPr>
        <p:spPr>
          <a:xfrm>
            <a:off x="838200" y="1956751"/>
            <a:ext cx="3476284" cy="4351338"/>
          </a:xfrm>
        </p:spPr>
        <p:txBody>
          <a:bodyPr>
            <a:normAutofit fontScale="92500" lnSpcReduction="20000"/>
          </a:bodyPr>
          <a:lstStyle/>
          <a:p>
            <a:pPr marL="514350" indent="-514350">
              <a:buFont typeface="+mj-lt"/>
              <a:buAutoNum type="arabicPeriod"/>
            </a:pPr>
            <a:r>
              <a:rPr lang="en-US">
                <a:solidFill>
                  <a:srgbClr val="FF0000"/>
                </a:solidFill>
              </a:rPr>
              <a:t>BC547</a:t>
            </a:r>
          </a:p>
          <a:p>
            <a:pPr marL="514350" indent="-514350">
              <a:buFont typeface="+mj-lt"/>
              <a:buAutoNum type="arabicPeriod"/>
            </a:pPr>
            <a:r>
              <a:rPr lang="en-US">
                <a:solidFill>
                  <a:srgbClr val="FF0000"/>
                </a:solidFill>
              </a:rPr>
              <a:t>BC337</a:t>
            </a:r>
          </a:p>
          <a:p>
            <a:pPr marL="514350" indent="-514350">
              <a:buFont typeface="+mj-lt"/>
              <a:buAutoNum type="arabicPeriod"/>
            </a:pPr>
            <a:r>
              <a:rPr lang="en-US">
                <a:solidFill>
                  <a:srgbClr val="FF0000"/>
                </a:solidFill>
              </a:rPr>
              <a:t>BD131</a:t>
            </a:r>
          </a:p>
          <a:p>
            <a:pPr marL="514350" indent="-514350">
              <a:buFont typeface="+mj-lt"/>
              <a:buAutoNum type="arabicPeriod"/>
            </a:pPr>
            <a:r>
              <a:rPr lang="en-US">
                <a:solidFill>
                  <a:srgbClr val="FF0000"/>
                </a:solidFill>
              </a:rPr>
              <a:t>BD139</a:t>
            </a:r>
          </a:p>
          <a:p>
            <a:pPr marL="514350" indent="-514350">
              <a:buFont typeface="+mj-lt"/>
              <a:buAutoNum type="arabicPeriod"/>
            </a:pPr>
            <a:r>
              <a:rPr lang="en-US">
                <a:solidFill>
                  <a:srgbClr val="FF0000"/>
                </a:solidFill>
              </a:rPr>
              <a:t>2N2222</a:t>
            </a:r>
          </a:p>
          <a:p>
            <a:pPr marL="514350" indent="-514350">
              <a:buFont typeface="+mj-lt"/>
              <a:buAutoNum type="arabicPeriod"/>
            </a:pPr>
            <a:r>
              <a:rPr lang="en-US">
                <a:solidFill>
                  <a:srgbClr val="FF0000"/>
                </a:solidFill>
              </a:rPr>
              <a:t>2N2219</a:t>
            </a:r>
          </a:p>
          <a:p>
            <a:pPr marL="514350" indent="-514350">
              <a:buFont typeface="+mj-lt"/>
              <a:buAutoNum type="arabicPeriod"/>
            </a:pPr>
            <a:r>
              <a:rPr lang="en-US">
                <a:solidFill>
                  <a:srgbClr val="FF0000"/>
                </a:solidFill>
              </a:rPr>
              <a:t>2N3904</a:t>
            </a:r>
          </a:p>
          <a:p>
            <a:pPr marL="514350" indent="-514350">
              <a:buFont typeface="+mj-lt"/>
              <a:buAutoNum type="arabicPeriod"/>
            </a:pPr>
            <a:r>
              <a:rPr lang="en-US">
                <a:solidFill>
                  <a:srgbClr val="FF0000"/>
                </a:solidFill>
              </a:rPr>
              <a:t>2N3055 (ada di lab)</a:t>
            </a:r>
          </a:p>
          <a:p>
            <a:pPr marL="514350" indent="-514350">
              <a:buFont typeface="+mj-lt"/>
              <a:buAutoNum type="arabicPeriod"/>
            </a:pPr>
            <a:r>
              <a:rPr lang="en-US">
                <a:solidFill>
                  <a:srgbClr val="FF0000"/>
                </a:solidFill>
              </a:rPr>
              <a:t>TIP31</a:t>
            </a:r>
          </a:p>
          <a:p>
            <a:pPr marL="514350" indent="-514350">
              <a:buFont typeface="+mj-lt"/>
              <a:buAutoNum type="arabicPeriod"/>
            </a:pPr>
            <a:r>
              <a:rPr lang="en-US">
                <a:solidFill>
                  <a:srgbClr val="FF0000"/>
                </a:solidFill>
              </a:rPr>
              <a:t>TIP35</a:t>
            </a:r>
          </a:p>
          <a:p>
            <a:endParaRPr lang="en-US"/>
          </a:p>
          <a:p>
            <a:endParaRPr lang="en-US"/>
          </a:p>
        </p:txBody>
      </p:sp>
      <p:sp>
        <p:nvSpPr>
          <p:cNvPr id="4" name="Content Placeholder 2"/>
          <p:cNvSpPr txBox="1">
            <a:spLocks/>
          </p:cNvSpPr>
          <p:nvPr/>
        </p:nvSpPr>
        <p:spPr>
          <a:xfrm>
            <a:off x="4538856" y="1956751"/>
            <a:ext cx="3476284"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11"/>
            </a:pPr>
            <a:r>
              <a:rPr lang="en-US">
                <a:solidFill>
                  <a:srgbClr val="FF0000"/>
                </a:solidFill>
              </a:rPr>
              <a:t>TIP41</a:t>
            </a:r>
          </a:p>
          <a:p>
            <a:pPr marL="514350" indent="-514350">
              <a:buFont typeface="+mj-lt"/>
              <a:buAutoNum type="arabicPeriod" startAt="11"/>
            </a:pPr>
            <a:r>
              <a:rPr lang="en-US">
                <a:solidFill>
                  <a:srgbClr val="FF0000"/>
                </a:solidFill>
              </a:rPr>
              <a:t>TIP47</a:t>
            </a:r>
          </a:p>
          <a:p>
            <a:pPr marL="514350" indent="-514350">
              <a:buFont typeface="+mj-lt"/>
              <a:buAutoNum type="arabicPeriod" startAt="11"/>
            </a:pPr>
            <a:r>
              <a:rPr lang="en-US">
                <a:solidFill>
                  <a:srgbClr val="FF0000"/>
                </a:solidFill>
              </a:rPr>
              <a:t>2SC1162</a:t>
            </a:r>
          </a:p>
          <a:p>
            <a:pPr marL="514350" indent="-514350">
              <a:buFont typeface="+mj-lt"/>
              <a:buAutoNum type="arabicPeriod" startAt="11"/>
            </a:pPr>
            <a:r>
              <a:rPr lang="en-US">
                <a:solidFill>
                  <a:srgbClr val="FF0000"/>
                </a:solidFill>
              </a:rPr>
              <a:t>2SC2480</a:t>
            </a:r>
          </a:p>
          <a:p>
            <a:pPr marL="514350" indent="-514350">
              <a:buFont typeface="+mj-lt"/>
              <a:buAutoNum type="arabicPeriod" startAt="11"/>
            </a:pPr>
            <a:r>
              <a:rPr lang="en-US">
                <a:solidFill>
                  <a:srgbClr val="FF0000"/>
                </a:solidFill>
              </a:rPr>
              <a:t>2SD1328</a:t>
            </a:r>
          </a:p>
          <a:p>
            <a:pPr marL="514350" indent="-514350">
              <a:buFont typeface="+mj-lt"/>
              <a:buAutoNum type="arabicPeriod" startAt="11"/>
            </a:pPr>
            <a:r>
              <a:rPr lang="en-US"/>
              <a:t>2SD1820</a:t>
            </a:r>
          </a:p>
          <a:p>
            <a:pPr marL="514350" indent="-514350">
              <a:buFont typeface="+mj-lt"/>
              <a:buAutoNum type="arabicPeriod" startAt="11"/>
            </a:pPr>
            <a:r>
              <a:rPr lang="en-US"/>
              <a:t>BC107 (ada di lab)</a:t>
            </a:r>
          </a:p>
          <a:p>
            <a:pPr marL="514350" indent="-514350">
              <a:buFont typeface="+mj-lt"/>
              <a:buAutoNum type="arabicPeriod" startAt="11"/>
            </a:pPr>
            <a:r>
              <a:rPr lang="en-US"/>
              <a:t>BC108 (ada di lab)</a:t>
            </a:r>
          </a:p>
          <a:p>
            <a:pPr marL="514350" indent="-514350">
              <a:buFont typeface="+mj-lt"/>
              <a:buAutoNum type="arabicPeriod" startAt="11"/>
            </a:pPr>
            <a:r>
              <a:rPr lang="en-US"/>
              <a:t>BC109 (ada di lab)</a:t>
            </a:r>
          </a:p>
          <a:p>
            <a:pPr marL="514350" indent="-514350">
              <a:buFont typeface="+mj-lt"/>
              <a:buAutoNum type="arabicPeriod" startAt="11"/>
            </a:pPr>
            <a:endParaRPr lang="en-US"/>
          </a:p>
          <a:p>
            <a:pPr marL="514350" indent="-514350">
              <a:buFont typeface="+mj-lt"/>
              <a:buAutoNum type="arabicPeriod" startAt="11"/>
            </a:pPr>
            <a:endParaRPr lang="en-US"/>
          </a:p>
          <a:p>
            <a:pPr marL="514350" indent="-514350">
              <a:buFont typeface="+mj-lt"/>
              <a:buAutoNum type="arabicPeriod" startAt="11"/>
            </a:pPr>
            <a:endParaRPr lang="en-US"/>
          </a:p>
        </p:txBody>
      </p:sp>
      <p:sp>
        <p:nvSpPr>
          <p:cNvPr id="5" name="Content Placeholder 2">
            <a:extLst>
              <a:ext uri="{FF2B5EF4-FFF2-40B4-BE49-F238E27FC236}">
                <a16:creationId xmlns:a16="http://schemas.microsoft.com/office/drawing/2014/main" id="{D2DFE362-032E-14CE-99EF-FAD8A3D555A7}"/>
              </a:ext>
            </a:extLst>
          </p:cNvPr>
          <p:cNvSpPr txBox="1">
            <a:spLocks/>
          </p:cNvSpPr>
          <p:nvPr/>
        </p:nvSpPr>
        <p:spPr>
          <a:xfrm>
            <a:off x="8100392" y="1825625"/>
            <a:ext cx="361540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BD550, BD130, 2n6275 (yg ada di lab tp tdk ada di proteus)</a:t>
            </a:r>
          </a:p>
          <a:p>
            <a:endParaRPr lang="en-ID"/>
          </a:p>
        </p:txBody>
      </p:sp>
    </p:spTree>
    <p:extLst>
      <p:ext uri="{BB962C8B-B14F-4D97-AF65-F5344CB8AC3E}">
        <p14:creationId xmlns:p14="http://schemas.microsoft.com/office/powerpoint/2010/main" val="3266580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3B0EA-2316-481D-ACE1-E76B126F311B}"/>
              </a:ext>
            </a:extLst>
          </p:cNvPr>
          <p:cNvSpPr>
            <a:spLocks noGrp="1"/>
          </p:cNvSpPr>
          <p:nvPr>
            <p:ph type="title"/>
          </p:nvPr>
        </p:nvSpPr>
        <p:spPr/>
        <p:txBody>
          <a:bodyPr/>
          <a:lstStyle/>
          <a:p>
            <a:r>
              <a:rPr lang="en-US"/>
              <a:t>Langkah Kerja Umum</a:t>
            </a:r>
            <a:endParaRPr lang="en-ID"/>
          </a:p>
        </p:txBody>
      </p:sp>
      <p:sp>
        <p:nvSpPr>
          <p:cNvPr id="3" name="Content Placeholder 2">
            <a:extLst>
              <a:ext uri="{FF2B5EF4-FFF2-40B4-BE49-F238E27FC236}">
                <a16:creationId xmlns:a16="http://schemas.microsoft.com/office/drawing/2014/main" id="{0E0219ED-81C9-99E9-EB92-FF50BB5D3FCB}"/>
              </a:ext>
            </a:extLst>
          </p:cNvPr>
          <p:cNvSpPr>
            <a:spLocks noGrp="1"/>
          </p:cNvSpPr>
          <p:nvPr>
            <p:ph idx="1"/>
          </p:nvPr>
        </p:nvSpPr>
        <p:spPr/>
        <p:txBody>
          <a:bodyPr>
            <a:normAutofit fontScale="92500" lnSpcReduction="10000"/>
          </a:bodyPr>
          <a:lstStyle/>
          <a:p>
            <a:r>
              <a:rPr lang="en-US"/>
              <a:t>Buatlah grafik karakteristik Output, Input dan Transfer transistor dengan mode otomatis menggunakan mode Graph di Proteus. Pada mode ini pengambilan data dan ploting grafik dilakukan otomatis oleh Proteus menggunakan mode Graph.</a:t>
            </a:r>
          </a:p>
          <a:p>
            <a:r>
              <a:rPr lang="en-US"/>
              <a:t>Untuk masing-masing transistor:</a:t>
            </a:r>
          </a:p>
          <a:p>
            <a:pPr marL="914400" lvl="1" indent="-457200">
              <a:buFont typeface="+mj-lt"/>
              <a:buAutoNum type="arabicPeriod"/>
            </a:pPr>
            <a:r>
              <a:rPr lang="en-US"/>
              <a:t>Buatlah grafik karakteristik output Ic=f(Vce, Ib), Vce_maks=?, Ib_maks=?</a:t>
            </a:r>
          </a:p>
          <a:p>
            <a:pPr marL="914400" lvl="1" indent="-457200">
              <a:buFont typeface="+mj-lt"/>
              <a:buAutoNum type="arabicPeriod"/>
            </a:pPr>
            <a:r>
              <a:rPr lang="en-US"/>
              <a:t>Buatlah grafik karakteristik transfer Ic=f(Ib, Vce), Ib_maks=?, Vce_maks=?</a:t>
            </a:r>
          </a:p>
          <a:p>
            <a:pPr marL="914400" lvl="1" indent="-457200">
              <a:buFont typeface="+mj-lt"/>
              <a:buAutoNum type="arabicPeriod"/>
            </a:pPr>
            <a:r>
              <a:rPr lang="en-US"/>
              <a:t>Buatlah grafik karakteristik input Ib=f(Vbe, Vce), Vbe_maks=?, Vce_maks=?</a:t>
            </a:r>
          </a:p>
          <a:p>
            <a:pPr marL="914400" lvl="1" indent="-457200">
              <a:buFont typeface="+mj-lt"/>
              <a:buAutoNum type="arabicPeriod"/>
            </a:pPr>
            <a:r>
              <a:rPr lang="en-US"/>
              <a:t>Buatlah grafik karakteristik input Vbe=f(Ib, Vce), Ib_maks=?, Vce_maks=?</a:t>
            </a:r>
          </a:p>
          <a:p>
            <a:pPr marL="914400" lvl="1" indent="-457200">
              <a:buFont typeface="+mj-lt"/>
              <a:buAutoNum type="arabicPeriod"/>
            </a:pPr>
            <a:r>
              <a:rPr lang="en-US"/>
              <a:t>Tentukan Ib, Vbe dan Beta (Hfe) bila diketahui grafik Ic=f(Vce, Ib) dan Ib=f(Vbe, Vce) (Metoda 1).</a:t>
            </a:r>
          </a:p>
          <a:p>
            <a:pPr marL="914400" lvl="1" indent="-457200">
              <a:buFont typeface="+mj-lt"/>
              <a:buAutoNum type="arabicPeriod"/>
            </a:pPr>
            <a:r>
              <a:rPr lang="en-US"/>
              <a:t>Tentukan Ib, Vbe dan Beta (Hfe) bila diketahui grafik Ic=f(Vce, Ib), Ic=f(Ib, Vce) dan Vbe=f(Ib, Vce) (Metoda 2).</a:t>
            </a:r>
            <a:endParaRPr lang="en-ID"/>
          </a:p>
          <a:p>
            <a:endParaRPr lang="en-ID"/>
          </a:p>
          <a:p>
            <a:endParaRPr lang="en-ID"/>
          </a:p>
        </p:txBody>
      </p:sp>
    </p:spTree>
    <p:extLst>
      <p:ext uri="{BB962C8B-B14F-4D97-AF65-F5344CB8AC3E}">
        <p14:creationId xmlns:p14="http://schemas.microsoft.com/office/powerpoint/2010/main" val="566206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1DD39-431B-9777-823E-E1B6BA159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3BD25A-D81B-C852-2CF4-15E4E4DD76EC}"/>
              </a:ext>
            </a:extLst>
          </p:cNvPr>
          <p:cNvSpPr>
            <a:spLocks noGrp="1"/>
          </p:cNvSpPr>
          <p:nvPr>
            <p:ph type="title"/>
          </p:nvPr>
        </p:nvSpPr>
        <p:spPr/>
        <p:txBody>
          <a:bodyPr>
            <a:normAutofit/>
          </a:bodyPr>
          <a:lstStyle/>
          <a:p>
            <a:r>
              <a:rPr lang="en-US" sz="3600"/>
              <a:t>Langkah Kerja Menentukan Ib, Vbe dan Beta (Hfe) dari grafik Ic=f(Vce, Ib) dan Ib=f(Vbe, Vce) (Metoda 1)</a:t>
            </a:r>
            <a:endParaRPr lang="en-ID" sz="3600"/>
          </a:p>
        </p:txBody>
      </p:sp>
      <p:pic>
        <p:nvPicPr>
          <p:cNvPr id="4" name="Gambar 3">
            <a:extLst>
              <a:ext uri="{FF2B5EF4-FFF2-40B4-BE49-F238E27FC236}">
                <a16:creationId xmlns:a16="http://schemas.microsoft.com/office/drawing/2014/main" id="{D6496803-BCCF-5073-F4AB-D4C2F3E76E69}"/>
              </a:ext>
            </a:extLst>
          </p:cNvPr>
          <p:cNvPicPr>
            <a:picLocks noChangeAspect="1"/>
          </p:cNvPicPr>
          <p:nvPr/>
        </p:nvPicPr>
        <p:blipFill>
          <a:blip r:embed="rId2"/>
          <a:stretch>
            <a:fillRect/>
          </a:stretch>
        </p:blipFill>
        <p:spPr>
          <a:xfrm>
            <a:off x="959099" y="2402693"/>
            <a:ext cx="4339335" cy="2781920"/>
          </a:xfrm>
          <a:prstGeom prst="rect">
            <a:avLst/>
          </a:prstGeom>
        </p:spPr>
      </p:pic>
      <p:pic>
        <p:nvPicPr>
          <p:cNvPr id="5" name="Gambar 2">
            <a:extLst>
              <a:ext uri="{FF2B5EF4-FFF2-40B4-BE49-F238E27FC236}">
                <a16:creationId xmlns:a16="http://schemas.microsoft.com/office/drawing/2014/main" id="{E62C665D-2D6F-8541-F4FA-F5389F1E31F8}"/>
              </a:ext>
            </a:extLst>
          </p:cNvPr>
          <p:cNvPicPr>
            <a:picLocks noChangeAspect="1"/>
          </p:cNvPicPr>
          <p:nvPr/>
        </p:nvPicPr>
        <p:blipFill>
          <a:blip r:embed="rId3"/>
          <a:stretch>
            <a:fillRect/>
          </a:stretch>
        </p:blipFill>
        <p:spPr>
          <a:xfrm>
            <a:off x="6096000" y="2257130"/>
            <a:ext cx="4586578" cy="2941121"/>
          </a:xfrm>
          <a:prstGeom prst="rect">
            <a:avLst/>
          </a:prstGeom>
        </p:spPr>
      </p:pic>
      <p:cxnSp>
        <p:nvCxnSpPr>
          <p:cNvPr id="8" name="Straight Connector 7">
            <a:extLst>
              <a:ext uri="{FF2B5EF4-FFF2-40B4-BE49-F238E27FC236}">
                <a16:creationId xmlns:a16="http://schemas.microsoft.com/office/drawing/2014/main" id="{BD62320A-138F-6618-A32C-CFFF1996CE23}"/>
              </a:ext>
            </a:extLst>
          </p:cNvPr>
          <p:cNvCxnSpPr/>
          <p:nvPr/>
        </p:nvCxnSpPr>
        <p:spPr>
          <a:xfrm flipH="1">
            <a:off x="1295400" y="4274820"/>
            <a:ext cx="5646420"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0B8855B-7455-8265-C7E8-54CBFE43CFDD}"/>
              </a:ext>
            </a:extLst>
          </p:cNvPr>
          <p:cNvSpPr txBox="1"/>
          <p:nvPr/>
        </p:nvSpPr>
        <p:spPr>
          <a:xfrm>
            <a:off x="582360" y="4136320"/>
            <a:ext cx="511679" cy="276999"/>
          </a:xfrm>
          <a:prstGeom prst="rect">
            <a:avLst/>
          </a:prstGeom>
          <a:noFill/>
        </p:spPr>
        <p:txBody>
          <a:bodyPr wrap="none" rtlCol="0">
            <a:spAutoFit/>
          </a:bodyPr>
          <a:lstStyle/>
          <a:p>
            <a:r>
              <a:rPr lang="en-US" sz="1200">
                <a:solidFill>
                  <a:srgbClr val="FF0000"/>
                </a:solidFill>
              </a:rPr>
              <a:t>20uA</a:t>
            </a:r>
            <a:endParaRPr lang="en-ID" sz="1200">
              <a:solidFill>
                <a:srgbClr val="FF0000"/>
              </a:solidFill>
            </a:endParaRPr>
          </a:p>
        </p:txBody>
      </p:sp>
      <p:grpSp>
        <p:nvGrpSpPr>
          <p:cNvPr id="16" name="Group 15">
            <a:extLst>
              <a:ext uri="{FF2B5EF4-FFF2-40B4-BE49-F238E27FC236}">
                <a16:creationId xmlns:a16="http://schemas.microsoft.com/office/drawing/2014/main" id="{4FB957DF-3597-91B4-3A0B-3B0E6182657D}"/>
              </a:ext>
            </a:extLst>
          </p:cNvPr>
          <p:cNvGrpSpPr/>
          <p:nvPr/>
        </p:nvGrpSpPr>
        <p:grpSpPr>
          <a:xfrm>
            <a:off x="1129950" y="4201971"/>
            <a:ext cx="165450" cy="145696"/>
            <a:chOff x="1029269" y="5194377"/>
            <a:chExt cx="165450" cy="145696"/>
          </a:xfrm>
        </p:grpSpPr>
        <p:cxnSp>
          <p:nvCxnSpPr>
            <p:cNvPr id="11" name="Straight Connector 10">
              <a:extLst>
                <a:ext uri="{FF2B5EF4-FFF2-40B4-BE49-F238E27FC236}">
                  <a16:creationId xmlns:a16="http://schemas.microsoft.com/office/drawing/2014/main" id="{5B5EBD22-1484-AEC0-27FD-915CACA7660B}"/>
                </a:ext>
              </a:extLst>
            </p:cNvPr>
            <p:cNvCxnSpPr>
              <a:cxnSpLocks/>
            </p:cNvCxnSpPr>
            <p:nvPr/>
          </p:nvCxnSpPr>
          <p:spPr>
            <a:xfrm>
              <a:off x="1029269" y="5194377"/>
              <a:ext cx="165450" cy="14569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EAC84A2-AD23-308B-9CE1-304342AF092B}"/>
                </a:ext>
              </a:extLst>
            </p:cNvPr>
            <p:cNvCxnSpPr>
              <a:cxnSpLocks/>
            </p:cNvCxnSpPr>
            <p:nvPr/>
          </p:nvCxnSpPr>
          <p:spPr>
            <a:xfrm flipH="1">
              <a:off x="1029269" y="5194377"/>
              <a:ext cx="165450" cy="1388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E91D6076-A7E6-3706-FB11-0D204A548082}"/>
              </a:ext>
            </a:extLst>
          </p:cNvPr>
          <p:cNvGrpSpPr/>
          <p:nvPr/>
        </p:nvGrpSpPr>
        <p:grpSpPr>
          <a:xfrm>
            <a:off x="1113486" y="3654842"/>
            <a:ext cx="165450" cy="145696"/>
            <a:chOff x="1029269" y="5194377"/>
            <a:chExt cx="165450" cy="145696"/>
          </a:xfrm>
        </p:grpSpPr>
        <p:cxnSp>
          <p:nvCxnSpPr>
            <p:cNvPr id="18" name="Straight Connector 17">
              <a:extLst>
                <a:ext uri="{FF2B5EF4-FFF2-40B4-BE49-F238E27FC236}">
                  <a16:creationId xmlns:a16="http://schemas.microsoft.com/office/drawing/2014/main" id="{3A106CEB-9C0B-9874-1BEB-C61FC00BEAAB}"/>
                </a:ext>
              </a:extLst>
            </p:cNvPr>
            <p:cNvCxnSpPr>
              <a:cxnSpLocks/>
            </p:cNvCxnSpPr>
            <p:nvPr/>
          </p:nvCxnSpPr>
          <p:spPr>
            <a:xfrm>
              <a:off x="1029269" y="5194377"/>
              <a:ext cx="165450" cy="14569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7A8E978-676D-22CF-2DB3-4A5C891C7F88}"/>
                </a:ext>
              </a:extLst>
            </p:cNvPr>
            <p:cNvCxnSpPr>
              <a:cxnSpLocks/>
            </p:cNvCxnSpPr>
            <p:nvPr/>
          </p:nvCxnSpPr>
          <p:spPr>
            <a:xfrm flipH="1">
              <a:off x="1029269" y="5194377"/>
              <a:ext cx="165450" cy="1388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37A4F96C-F2C4-1A52-F23B-2F09F0C5CD17}"/>
              </a:ext>
            </a:extLst>
          </p:cNvPr>
          <p:cNvGrpSpPr/>
          <p:nvPr/>
        </p:nvGrpSpPr>
        <p:grpSpPr>
          <a:xfrm>
            <a:off x="1094039" y="3143659"/>
            <a:ext cx="165450" cy="145696"/>
            <a:chOff x="1029269" y="5194377"/>
            <a:chExt cx="165450" cy="145696"/>
          </a:xfrm>
        </p:grpSpPr>
        <p:cxnSp>
          <p:nvCxnSpPr>
            <p:cNvPr id="21" name="Straight Connector 20">
              <a:extLst>
                <a:ext uri="{FF2B5EF4-FFF2-40B4-BE49-F238E27FC236}">
                  <a16:creationId xmlns:a16="http://schemas.microsoft.com/office/drawing/2014/main" id="{C20D4B87-8166-90CB-E413-8823E67AA5B1}"/>
                </a:ext>
              </a:extLst>
            </p:cNvPr>
            <p:cNvCxnSpPr>
              <a:cxnSpLocks/>
            </p:cNvCxnSpPr>
            <p:nvPr/>
          </p:nvCxnSpPr>
          <p:spPr>
            <a:xfrm>
              <a:off x="1029269" y="5194377"/>
              <a:ext cx="165450" cy="14569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DC5C728-8962-F34B-7D67-88EFC5682335}"/>
                </a:ext>
              </a:extLst>
            </p:cNvPr>
            <p:cNvCxnSpPr>
              <a:cxnSpLocks/>
            </p:cNvCxnSpPr>
            <p:nvPr/>
          </p:nvCxnSpPr>
          <p:spPr>
            <a:xfrm flipH="1">
              <a:off x="1029269" y="5194377"/>
              <a:ext cx="165450" cy="1388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BEEB7EE4-6BCC-8D37-0F23-23FA15E6DAB0}"/>
              </a:ext>
            </a:extLst>
          </p:cNvPr>
          <p:cNvGrpSpPr/>
          <p:nvPr/>
        </p:nvGrpSpPr>
        <p:grpSpPr>
          <a:xfrm>
            <a:off x="1113486" y="2596530"/>
            <a:ext cx="165450" cy="145696"/>
            <a:chOff x="1029269" y="5194377"/>
            <a:chExt cx="165450" cy="145696"/>
          </a:xfrm>
        </p:grpSpPr>
        <p:cxnSp>
          <p:nvCxnSpPr>
            <p:cNvPr id="24" name="Straight Connector 23">
              <a:extLst>
                <a:ext uri="{FF2B5EF4-FFF2-40B4-BE49-F238E27FC236}">
                  <a16:creationId xmlns:a16="http://schemas.microsoft.com/office/drawing/2014/main" id="{06289676-D893-211D-2A62-BE6CE9DACBF6}"/>
                </a:ext>
              </a:extLst>
            </p:cNvPr>
            <p:cNvCxnSpPr>
              <a:cxnSpLocks/>
            </p:cNvCxnSpPr>
            <p:nvPr/>
          </p:nvCxnSpPr>
          <p:spPr>
            <a:xfrm>
              <a:off x="1029269" y="5194377"/>
              <a:ext cx="165450" cy="14569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73B1819-163C-2ED9-C644-65F33CD786C4}"/>
                </a:ext>
              </a:extLst>
            </p:cNvPr>
            <p:cNvCxnSpPr>
              <a:cxnSpLocks/>
            </p:cNvCxnSpPr>
            <p:nvPr/>
          </p:nvCxnSpPr>
          <p:spPr>
            <a:xfrm flipH="1">
              <a:off x="1029269" y="5194377"/>
              <a:ext cx="165450" cy="1388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62A8F98D-A206-D506-8F4D-995867F0D456}"/>
              </a:ext>
            </a:extLst>
          </p:cNvPr>
          <p:cNvSpPr txBox="1"/>
          <p:nvPr/>
        </p:nvSpPr>
        <p:spPr>
          <a:xfrm>
            <a:off x="619890" y="3725364"/>
            <a:ext cx="511679" cy="276999"/>
          </a:xfrm>
          <a:prstGeom prst="rect">
            <a:avLst/>
          </a:prstGeom>
          <a:noFill/>
        </p:spPr>
        <p:txBody>
          <a:bodyPr wrap="none" rtlCol="0">
            <a:spAutoFit/>
          </a:bodyPr>
          <a:lstStyle/>
          <a:p>
            <a:r>
              <a:rPr lang="en-US" sz="1200">
                <a:solidFill>
                  <a:srgbClr val="FF0000"/>
                </a:solidFill>
              </a:rPr>
              <a:t>40uA</a:t>
            </a:r>
            <a:endParaRPr lang="en-ID" sz="1200">
              <a:solidFill>
                <a:srgbClr val="FF0000"/>
              </a:solidFill>
            </a:endParaRPr>
          </a:p>
        </p:txBody>
      </p:sp>
      <p:sp>
        <p:nvSpPr>
          <p:cNvPr id="27" name="TextBox 26">
            <a:extLst>
              <a:ext uri="{FF2B5EF4-FFF2-40B4-BE49-F238E27FC236}">
                <a16:creationId xmlns:a16="http://schemas.microsoft.com/office/drawing/2014/main" id="{B379E7A5-20FF-8212-9218-C8F9799B0986}"/>
              </a:ext>
            </a:extLst>
          </p:cNvPr>
          <p:cNvSpPr txBox="1"/>
          <p:nvPr/>
        </p:nvSpPr>
        <p:spPr>
          <a:xfrm>
            <a:off x="610650" y="3351572"/>
            <a:ext cx="511679" cy="276999"/>
          </a:xfrm>
          <a:prstGeom prst="rect">
            <a:avLst/>
          </a:prstGeom>
          <a:noFill/>
        </p:spPr>
        <p:txBody>
          <a:bodyPr wrap="none" rtlCol="0">
            <a:spAutoFit/>
          </a:bodyPr>
          <a:lstStyle/>
          <a:p>
            <a:r>
              <a:rPr lang="en-US" sz="1200">
                <a:solidFill>
                  <a:srgbClr val="FF0000"/>
                </a:solidFill>
              </a:rPr>
              <a:t>60uA</a:t>
            </a:r>
            <a:endParaRPr lang="en-ID" sz="1200">
              <a:solidFill>
                <a:srgbClr val="FF0000"/>
              </a:solidFill>
            </a:endParaRPr>
          </a:p>
        </p:txBody>
      </p:sp>
      <p:cxnSp>
        <p:nvCxnSpPr>
          <p:cNvPr id="28" name="Straight Connector 27">
            <a:extLst>
              <a:ext uri="{FF2B5EF4-FFF2-40B4-BE49-F238E27FC236}">
                <a16:creationId xmlns:a16="http://schemas.microsoft.com/office/drawing/2014/main" id="{B7627885-C2E0-3001-B867-A039961D779E}"/>
              </a:ext>
            </a:extLst>
          </p:cNvPr>
          <p:cNvCxnSpPr>
            <a:cxnSpLocks/>
          </p:cNvCxnSpPr>
          <p:nvPr/>
        </p:nvCxnSpPr>
        <p:spPr>
          <a:xfrm flipH="1">
            <a:off x="1295400" y="3762528"/>
            <a:ext cx="7591035" cy="47227"/>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97D17AC-DB50-6131-5411-0E27A6831D26}"/>
              </a:ext>
            </a:extLst>
          </p:cNvPr>
          <p:cNvCxnSpPr/>
          <p:nvPr/>
        </p:nvCxnSpPr>
        <p:spPr>
          <a:xfrm flipH="1">
            <a:off x="1259489" y="3497580"/>
            <a:ext cx="5646420"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0640AD8-D1FF-A2BE-F33D-6A58675A0B95}"/>
              </a:ext>
            </a:extLst>
          </p:cNvPr>
          <p:cNvCxnSpPr/>
          <p:nvPr/>
        </p:nvCxnSpPr>
        <p:spPr>
          <a:xfrm flipH="1">
            <a:off x="1295400" y="3216507"/>
            <a:ext cx="5646420"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01DB50E9-1A21-37C9-B09A-69E66C93720E}"/>
              </a:ext>
            </a:extLst>
          </p:cNvPr>
          <p:cNvSpPr txBox="1"/>
          <p:nvPr/>
        </p:nvSpPr>
        <p:spPr>
          <a:xfrm>
            <a:off x="610650" y="3078871"/>
            <a:ext cx="511679" cy="276999"/>
          </a:xfrm>
          <a:prstGeom prst="rect">
            <a:avLst/>
          </a:prstGeom>
          <a:noFill/>
        </p:spPr>
        <p:txBody>
          <a:bodyPr wrap="none" rtlCol="0">
            <a:spAutoFit/>
          </a:bodyPr>
          <a:lstStyle/>
          <a:p>
            <a:r>
              <a:rPr lang="en-US" sz="1200">
                <a:solidFill>
                  <a:srgbClr val="FF0000"/>
                </a:solidFill>
              </a:rPr>
              <a:t>80uA</a:t>
            </a:r>
            <a:endParaRPr lang="en-ID" sz="1200">
              <a:solidFill>
                <a:srgbClr val="FF0000"/>
              </a:solidFill>
            </a:endParaRPr>
          </a:p>
        </p:txBody>
      </p:sp>
      <p:cxnSp>
        <p:nvCxnSpPr>
          <p:cNvPr id="32" name="Straight Connector 31">
            <a:extLst>
              <a:ext uri="{FF2B5EF4-FFF2-40B4-BE49-F238E27FC236}">
                <a16:creationId xmlns:a16="http://schemas.microsoft.com/office/drawing/2014/main" id="{3654F329-B6F0-427D-7568-809BD18E37FB}"/>
              </a:ext>
            </a:extLst>
          </p:cNvPr>
          <p:cNvCxnSpPr/>
          <p:nvPr/>
        </p:nvCxnSpPr>
        <p:spPr>
          <a:xfrm flipH="1">
            <a:off x="1295400" y="2904087"/>
            <a:ext cx="5646420"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930222F-7DDC-05C3-F0DC-F88A515350F7}"/>
              </a:ext>
            </a:extLst>
          </p:cNvPr>
          <p:cNvSpPr txBox="1"/>
          <p:nvPr/>
        </p:nvSpPr>
        <p:spPr>
          <a:xfrm>
            <a:off x="626368" y="2760987"/>
            <a:ext cx="590226" cy="276999"/>
          </a:xfrm>
          <a:prstGeom prst="rect">
            <a:avLst/>
          </a:prstGeom>
          <a:noFill/>
        </p:spPr>
        <p:txBody>
          <a:bodyPr wrap="none" rtlCol="0">
            <a:spAutoFit/>
          </a:bodyPr>
          <a:lstStyle/>
          <a:p>
            <a:r>
              <a:rPr lang="en-US" sz="1200">
                <a:solidFill>
                  <a:srgbClr val="FF0000"/>
                </a:solidFill>
              </a:rPr>
              <a:t>100uA</a:t>
            </a:r>
            <a:endParaRPr lang="en-ID" sz="1200">
              <a:solidFill>
                <a:srgbClr val="FF0000"/>
              </a:solidFill>
            </a:endParaRPr>
          </a:p>
        </p:txBody>
      </p:sp>
      <p:cxnSp>
        <p:nvCxnSpPr>
          <p:cNvPr id="34" name="Straight Connector 33">
            <a:extLst>
              <a:ext uri="{FF2B5EF4-FFF2-40B4-BE49-F238E27FC236}">
                <a16:creationId xmlns:a16="http://schemas.microsoft.com/office/drawing/2014/main" id="{12D09EDC-80DE-F84C-D6C2-E23BFC159419}"/>
              </a:ext>
            </a:extLst>
          </p:cNvPr>
          <p:cNvCxnSpPr>
            <a:cxnSpLocks/>
          </p:cNvCxnSpPr>
          <p:nvPr/>
        </p:nvCxnSpPr>
        <p:spPr>
          <a:xfrm>
            <a:off x="5013960" y="2324939"/>
            <a:ext cx="0" cy="2951198"/>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06207D0-1F39-78A9-4C88-448B3E76891D}"/>
              </a:ext>
            </a:extLst>
          </p:cNvPr>
          <p:cNvCxnSpPr>
            <a:cxnSpLocks/>
          </p:cNvCxnSpPr>
          <p:nvPr/>
        </p:nvCxnSpPr>
        <p:spPr>
          <a:xfrm>
            <a:off x="4937760" y="2324939"/>
            <a:ext cx="0" cy="2951198"/>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4B2E58D-CAFE-4FB3-E1D5-78CF1F8C9C6E}"/>
              </a:ext>
            </a:extLst>
          </p:cNvPr>
          <p:cNvCxnSpPr>
            <a:cxnSpLocks/>
          </p:cNvCxnSpPr>
          <p:nvPr/>
        </p:nvCxnSpPr>
        <p:spPr>
          <a:xfrm>
            <a:off x="4869180" y="2324939"/>
            <a:ext cx="0" cy="2951198"/>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BF3CFA6-63B5-1A02-7D4F-BD7433C6755A}"/>
              </a:ext>
            </a:extLst>
          </p:cNvPr>
          <p:cNvCxnSpPr>
            <a:cxnSpLocks/>
          </p:cNvCxnSpPr>
          <p:nvPr/>
        </p:nvCxnSpPr>
        <p:spPr>
          <a:xfrm>
            <a:off x="4792980" y="2324939"/>
            <a:ext cx="0" cy="2951198"/>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0583AB1-957D-1129-83F8-1AC6A1378471}"/>
              </a:ext>
            </a:extLst>
          </p:cNvPr>
          <p:cNvCxnSpPr>
            <a:cxnSpLocks/>
          </p:cNvCxnSpPr>
          <p:nvPr/>
        </p:nvCxnSpPr>
        <p:spPr>
          <a:xfrm>
            <a:off x="5013925" y="2904087"/>
            <a:ext cx="0" cy="1995838"/>
          </a:xfrm>
          <a:prstGeom prst="line">
            <a:avLst/>
          </a:prstGeom>
          <a:ln w="19050">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2F784FB-9553-0AC6-DED4-108FB89D9BC0}"/>
              </a:ext>
            </a:extLst>
          </p:cNvPr>
          <p:cNvCxnSpPr/>
          <p:nvPr/>
        </p:nvCxnSpPr>
        <p:spPr>
          <a:xfrm flipV="1">
            <a:off x="10682578" y="2596530"/>
            <a:ext cx="0" cy="2211690"/>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20575D3E-47E8-18C5-EDC1-511F863E72DA}"/>
              </a:ext>
            </a:extLst>
          </p:cNvPr>
          <p:cNvSpPr txBox="1"/>
          <p:nvPr/>
        </p:nvSpPr>
        <p:spPr>
          <a:xfrm>
            <a:off x="10882901" y="3489545"/>
            <a:ext cx="655967" cy="461665"/>
          </a:xfrm>
          <a:prstGeom prst="rect">
            <a:avLst/>
          </a:prstGeom>
          <a:noFill/>
        </p:spPr>
        <p:txBody>
          <a:bodyPr wrap="square" rtlCol="0">
            <a:spAutoFit/>
          </a:bodyPr>
          <a:lstStyle/>
          <a:p>
            <a:r>
              <a:rPr lang="en-US" sz="1200">
                <a:solidFill>
                  <a:srgbClr val="FF0000"/>
                </a:solidFill>
              </a:rPr>
              <a:t>Perubahan Ib</a:t>
            </a:r>
            <a:endParaRPr lang="en-ID" sz="1200">
              <a:solidFill>
                <a:srgbClr val="FF0000"/>
              </a:solidFill>
            </a:endParaRPr>
          </a:p>
        </p:txBody>
      </p:sp>
      <p:sp>
        <p:nvSpPr>
          <p:cNvPr id="47" name="Right Brace 46">
            <a:extLst>
              <a:ext uri="{FF2B5EF4-FFF2-40B4-BE49-F238E27FC236}">
                <a16:creationId xmlns:a16="http://schemas.microsoft.com/office/drawing/2014/main" id="{F365756A-C97C-FDCE-F388-729C96469151}"/>
              </a:ext>
            </a:extLst>
          </p:cNvPr>
          <p:cNvSpPr/>
          <p:nvPr/>
        </p:nvSpPr>
        <p:spPr>
          <a:xfrm>
            <a:off x="10728960" y="2596530"/>
            <a:ext cx="203551" cy="221169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D"/>
          </a:p>
        </p:txBody>
      </p:sp>
      <p:sp>
        <p:nvSpPr>
          <p:cNvPr id="48" name="Left Brace 47">
            <a:extLst>
              <a:ext uri="{FF2B5EF4-FFF2-40B4-BE49-F238E27FC236}">
                <a16:creationId xmlns:a16="http://schemas.microsoft.com/office/drawing/2014/main" id="{FC29ED12-99A5-4374-89A9-70A2467B8EC1}"/>
              </a:ext>
            </a:extLst>
          </p:cNvPr>
          <p:cNvSpPr/>
          <p:nvPr/>
        </p:nvSpPr>
        <p:spPr>
          <a:xfrm>
            <a:off x="326177" y="2596531"/>
            <a:ext cx="348449" cy="2211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D"/>
          </a:p>
        </p:txBody>
      </p:sp>
      <p:sp>
        <p:nvSpPr>
          <p:cNvPr id="49" name="TextBox 48">
            <a:extLst>
              <a:ext uri="{FF2B5EF4-FFF2-40B4-BE49-F238E27FC236}">
                <a16:creationId xmlns:a16="http://schemas.microsoft.com/office/drawing/2014/main" id="{3DCBF3A0-4D2B-EC7E-2A4C-497EF423FC11}"/>
              </a:ext>
            </a:extLst>
          </p:cNvPr>
          <p:cNvSpPr txBox="1"/>
          <p:nvPr/>
        </p:nvSpPr>
        <p:spPr>
          <a:xfrm>
            <a:off x="-60678" y="3762528"/>
            <a:ext cx="679998" cy="461665"/>
          </a:xfrm>
          <a:prstGeom prst="rect">
            <a:avLst/>
          </a:prstGeom>
          <a:noFill/>
        </p:spPr>
        <p:txBody>
          <a:bodyPr wrap="square" rtlCol="0">
            <a:spAutoFit/>
          </a:bodyPr>
          <a:lstStyle/>
          <a:p>
            <a:r>
              <a:rPr lang="en-US" sz="1200">
                <a:solidFill>
                  <a:srgbClr val="FF0000"/>
                </a:solidFill>
              </a:rPr>
              <a:t>Perubahan Ib</a:t>
            </a:r>
            <a:endParaRPr lang="en-ID" sz="1200">
              <a:solidFill>
                <a:srgbClr val="FF0000"/>
              </a:solidFill>
            </a:endParaRPr>
          </a:p>
        </p:txBody>
      </p:sp>
      <p:sp>
        <p:nvSpPr>
          <p:cNvPr id="50" name="TextBox 49">
            <a:extLst>
              <a:ext uri="{FF2B5EF4-FFF2-40B4-BE49-F238E27FC236}">
                <a16:creationId xmlns:a16="http://schemas.microsoft.com/office/drawing/2014/main" id="{E52C2C69-BA42-AE10-24D8-1104FB1B2B9A}"/>
              </a:ext>
            </a:extLst>
          </p:cNvPr>
          <p:cNvSpPr txBox="1"/>
          <p:nvPr/>
        </p:nvSpPr>
        <p:spPr>
          <a:xfrm>
            <a:off x="1463040" y="5313198"/>
            <a:ext cx="10096503" cy="1569660"/>
          </a:xfrm>
          <a:prstGeom prst="rect">
            <a:avLst/>
          </a:prstGeom>
          <a:noFill/>
        </p:spPr>
        <p:txBody>
          <a:bodyPr wrap="square" rtlCol="0">
            <a:spAutoFit/>
          </a:bodyPr>
          <a:lstStyle/>
          <a:p>
            <a:r>
              <a:rPr lang="en-US" sz="1600"/>
              <a:t>Catatan: </a:t>
            </a:r>
          </a:p>
          <a:p>
            <a:pPr marL="342900" indent="-342900">
              <a:buFontTx/>
              <a:buAutoNum type="arabicPeriod"/>
            </a:pPr>
            <a:r>
              <a:rPr lang="en-US" sz="1600"/>
              <a:t>Skala sumbu Ib grafik kiri = skala sumbu Ib grafik kanan maka:</a:t>
            </a:r>
            <a:endParaRPr lang="en-ID" sz="1600"/>
          </a:p>
          <a:p>
            <a:pPr marL="800100" lvl="1" indent="-342900">
              <a:buAutoNum type="arabicPeriod"/>
            </a:pPr>
            <a:r>
              <a:rPr lang="en-US" sz="1600"/>
              <a:t>Ib dapat dicari dengan mengetahui Ic atau Vce dari grafik Ic=f(Vce, Ib)</a:t>
            </a:r>
          </a:p>
          <a:p>
            <a:pPr marL="800100" lvl="1" indent="-342900">
              <a:buFontTx/>
              <a:buAutoNum type="arabicPeriod"/>
            </a:pPr>
            <a:r>
              <a:rPr lang="en-US" sz="1600"/>
              <a:t>Vbe dapat dicari dengan mengetahui Ic atau Vce dari grafik Ic=f(Vce, Ib) dan Ib=f(Vbe, Vce)</a:t>
            </a:r>
          </a:p>
          <a:p>
            <a:pPr marL="800100" lvl="1" indent="-342900">
              <a:buFontTx/>
              <a:buAutoNum type="arabicPeriod"/>
            </a:pPr>
            <a:r>
              <a:rPr lang="en-US" sz="1600"/>
              <a:t>Beta (Hfe) dapat dicari dengan melihat grafik Ic=f(Vce, Ib) pada Vce tertentu dengan membagi Ic/Ib. Contoh, pada Vce=6V dan Ib=40uA didapat Ic=10mA, jadi Beta=Ic/Ib = 10mA/40uA = 10000 uA / 40 uA = 250</a:t>
            </a:r>
            <a:endParaRPr lang="en-ID" sz="1600"/>
          </a:p>
        </p:txBody>
      </p:sp>
      <p:cxnSp>
        <p:nvCxnSpPr>
          <p:cNvPr id="51" name="Straight Arrow Connector 50">
            <a:extLst>
              <a:ext uri="{FF2B5EF4-FFF2-40B4-BE49-F238E27FC236}">
                <a16:creationId xmlns:a16="http://schemas.microsoft.com/office/drawing/2014/main" id="{564FE447-1F8A-194B-F098-9FF98C077740}"/>
              </a:ext>
            </a:extLst>
          </p:cNvPr>
          <p:cNvCxnSpPr/>
          <p:nvPr/>
        </p:nvCxnSpPr>
        <p:spPr>
          <a:xfrm flipV="1">
            <a:off x="617608" y="2596530"/>
            <a:ext cx="0" cy="2211690"/>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4C7D82F9-C5EA-F528-FB88-DB0B41960F67}"/>
              </a:ext>
            </a:extLst>
          </p:cNvPr>
          <p:cNvSpPr txBox="1"/>
          <p:nvPr/>
        </p:nvSpPr>
        <p:spPr>
          <a:xfrm>
            <a:off x="4354843" y="5183117"/>
            <a:ext cx="292068" cy="369332"/>
          </a:xfrm>
          <a:prstGeom prst="rect">
            <a:avLst/>
          </a:prstGeom>
          <a:noFill/>
        </p:spPr>
        <p:txBody>
          <a:bodyPr wrap="none" rtlCol="0">
            <a:spAutoFit/>
          </a:bodyPr>
          <a:lstStyle/>
          <a:p>
            <a:r>
              <a:rPr lang="en-US">
                <a:solidFill>
                  <a:srgbClr val="FF0000"/>
                </a:solidFill>
              </a:rPr>
              <a:t>?</a:t>
            </a:r>
            <a:endParaRPr lang="en-ID">
              <a:solidFill>
                <a:srgbClr val="FF0000"/>
              </a:solidFill>
            </a:endParaRPr>
          </a:p>
        </p:txBody>
      </p:sp>
      <p:sp>
        <p:nvSpPr>
          <p:cNvPr id="53" name="TextBox 52">
            <a:extLst>
              <a:ext uri="{FF2B5EF4-FFF2-40B4-BE49-F238E27FC236}">
                <a16:creationId xmlns:a16="http://schemas.microsoft.com/office/drawing/2014/main" id="{B5077841-20C9-D667-81C7-C24B27D85373}"/>
              </a:ext>
            </a:extLst>
          </p:cNvPr>
          <p:cNvSpPr txBox="1"/>
          <p:nvPr/>
        </p:nvSpPr>
        <p:spPr>
          <a:xfrm>
            <a:off x="4607592" y="5183117"/>
            <a:ext cx="292068" cy="369332"/>
          </a:xfrm>
          <a:prstGeom prst="rect">
            <a:avLst/>
          </a:prstGeom>
          <a:noFill/>
        </p:spPr>
        <p:txBody>
          <a:bodyPr wrap="none" rtlCol="0">
            <a:spAutoFit/>
          </a:bodyPr>
          <a:lstStyle/>
          <a:p>
            <a:r>
              <a:rPr lang="en-US">
                <a:solidFill>
                  <a:srgbClr val="FF0000"/>
                </a:solidFill>
              </a:rPr>
              <a:t>?</a:t>
            </a:r>
            <a:endParaRPr lang="en-ID">
              <a:solidFill>
                <a:srgbClr val="FF0000"/>
              </a:solidFill>
            </a:endParaRPr>
          </a:p>
        </p:txBody>
      </p:sp>
      <p:sp>
        <p:nvSpPr>
          <p:cNvPr id="54" name="TextBox 53">
            <a:extLst>
              <a:ext uri="{FF2B5EF4-FFF2-40B4-BE49-F238E27FC236}">
                <a16:creationId xmlns:a16="http://schemas.microsoft.com/office/drawing/2014/main" id="{CE41B683-626B-50CE-DC8F-8B4498A1B1C5}"/>
              </a:ext>
            </a:extLst>
          </p:cNvPr>
          <p:cNvSpPr txBox="1"/>
          <p:nvPr/>
        </p:nvSpPr>
        <p:spPr>
          <a:xfrm>
            <a:off x="1270027" y="5183117"/>
            <a:ext cx="292068" cy="369332"/>
          </a:xfrm>
          <a:prstGeom prst="rect">
            <a:avLst/>
          </a:prstGeom>
          <a:noFill/>
        </p:spPr>
        <p:txBody>
          <a:bodyPr wrap="none" rtlCol="0">
            <a:spAutoFit/>
          </a:bodyPr>
          <a:lstStyle/>
          <a:p>
            <a:r>
              <a:rPr lang="en-US">
                <a:solidFill>
                  <a:srgbClr val="FF0000"/>
                </a:solidFill>
              </a:rPr>
              <a:t>?</a:t>
            </a:r>
            <a:endParaRPr lang="en-ID">
              <a:solidFill>
                <a:srgbClr val="FF0000"/>
              </a:solidFill>
            </a:endParaRPr>
          </a:p>
        </p:txBody>
      </p:sp>
      <p:sp>
        <p:nvSpPr>
          <p:cNvPr id="55" name="TextBox 54">
            <a:extLst>
              <a:ext uri="{FF2B5EF4-FFF2-40B4-BE49-F238E27FC236}">
                <a16:creationId xmlns:a16="http://schemas.microsoft.com/office/drawing/2014/main" id="{4073362B-8CEF-64E7-BFC5-7A1E786FB2F5}"/>
              </a:ext>
            </a:extLst>
          </p:cNvPr>
          <p:cNvSpPr txBox="1"/>
          <p:nvPr/>
        </p:nvSpPr>
        <p:spPr>
          <a:xfrm>
            <a:off x="4721857" y="5193163"/>
            <a:ext cx="292068" cy="369332"/>
          </a:xfrm>
          <a:prstGeom prst="rect">
            <a:avLst/>
          </a:prstGeom>
          <a:noFill/>
        </p:spPr>
        <p:txBody>
          <a:bodyPr wrap="none" rtlCol="0">
            <a:spAutoFit/>
          </a:bodyPr>
          <a:lstStyle/>
          <a:p>
            <a:r>
              <a:rPr lang="en-US">
                <a:solidFill>
                  <a:srgbClr val="FF0000"/>
                </a:solidFill>
              </a:rPr>
              <a:t>?</a:t>
            </a:r>
            <a:endParaRPr lang="en-ID">
              <a:solidFill>
                <a:srgbClr val="FF0000"/>
              </a:solidFill>
            </a:endParaRPr>
          </a:p>
        </p:txBody>
      </p:sp>
      <p:sp>
        <p:nvSpPr>
          <p:cNvPr id="56" name="TextBox 55">
            <a:extLst>
              <a:ext uri="{FF2B5EF4-FFF2-40B4-BE49-F238E27FC236}">
                <a16:creationId xmlns:a16="http://schemas.microsoft.com/office/drawing/2014/main" id="{E200B495-048A-032B-1AFE-FFAAB394CCE4}"/>
              </a:ext>
            </a:extLst>
          </p:cNvPr>
          <p:cNvSpPr txBox="1"/>
          <p:nvPr/>
        </p:nvSpPr>
        <p:spPr>
          <a:xfrm>
            <a:off x="4803108" y="5193163"/>
            <a:ext cx="292068" cy="369332"/>
          </a:xfrm>
          <a:prstGeom prst="rect">
            <a:avLst/>
          </a:prstGeom>
          <a:noFill/>
        </p:spPr>
        <p:txBody>
          <a:bodyPr wrap="none" rtlCol="0">
            <a:spAutoFit/>
          </a:bodyPr>
          <a:lstStyle/>
          <a:p>
            <a:r>
              <a:rPr lang="en-US">
                <a:solidFill>
                  <a:srgbClr val="FF0000"/>
                </a:solidFill>
              </a:rPr>
              <a:t>?</a:t>
            </a:r>
            <a:endParaRPr lang="en-ID">
              <a:solidFill>
                <a:srgbClr val="FF0000"/>
              </a:solidFill>
            </a:endParaRPr>
          </a:p>
        </p:txBody>
      </p:sp>
      <p:sp>
        <p:nvSpPr>
          <p:cNvPr id="57" name="TextBox 56">
            <a:extLst>
              <a:ext uri="{FF2B5EF4-FFF2-40B4-BE49-F238E27FC236}">
                <a16:creationId xmlns:a16="http://schemas.microsoft.com/office/drawing/2014/main" id="{97592F20-370A-0563-2714-5A6423EF14C1}"/>
              </a:ext>
            </a:extLst>
          </p:cNvPr>
          <p:cNvSpPr txBox="1"/>
          <p:nvPr/>
        </p:nvSpPr>
        <p:spPr>
          <a:xfrm>
            <a:off x="4893355" y="5183117"/>
            <a:ext cx="292068" cy="369332"/>
          </a:xfrm>
          <a:prstGeom prst="rect">
            <a:avLst/>
          </a:prstGeom>
          <a:noFill/>
        </p:spPr>
        <p:txBody>
          <a:bodyPr wrap="none" rtlCol="0">
            <a:spAutoFit/>
          </a:bodyPr>
          <a:lstStyle/>
          <a:p>
            <a:r>
              <a:rPr lang="en-US">
                <a:solidFill>
                  <a:srgbClr val="FF0000"/>
                </a:solidFill>
              </a:rPr>
              <a:t>?</a:t>
            </a:r>
            <a:endParaRPr lang="en-ID">
              <a:solidFill>
                <a:srgbClr val="FF0000"/>
              </a:solidFill>
            </a:endParaRPr>
          </a:p>
        </p:txBody>
      </p:sp>
      <p:sp>
        <p:nvSpPr>
          <p:cNvPr id="58" name="Rectangle 57">
            <a:extLst>
              <a:ext uri="{FF2B5EF4-FFF2-40B4-BE49-F238E27FC236}">
                <a16:creationId xmlns:a16="http://schemas.microsoft.com/office/drawing/2014/main" id="{125DD683-3C4F-140A-8D3C-0494F9176CFA}"/>
              </a:ext>
            </a:extLst>
          </p:cNvPr>
          <p:cNvSpPr/>
          <p:nvPr/>
        </p:nvSpPr>
        <p:spPr>
          <a:xfrm>
            <a:off x="2057400" y="2402693"/>
            <a:ext cx="2385060" cy="1419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9" name="Rectangle 58">
            <a:extLst>
              <a:ext uri="{FF2B5EF4-FFF2-40B4-BE49-F238E27FC236}">
                <a16:creationId xmlns:a16="http://schemas.microsoft.com/office/drawing/2014/main" id="{C586E0FF-8F03-AFD7-00A4-8AB3A1A625AF}"/>
              </a:ext>
            </a:extLst>
          </p:cNvPr>
          <p:cNvSpPr/>
          <p:nvPr/>
        </p:nvSpPr>
        <p:spPr>
          <a:xfrm>
            <a:off x="7196758" y="2257130"/>
            <a:ext cx="2572081" cy="1455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1" name="TextBox 60">
            <a:extLst>
              <a:ext uri="{FF2B5EF4-FFF2-40B4-BE49-F238E27FC236}">
                <a16:creationId xmlns:a16="http://schemas.microsoft.com/office/drawing/2014/main" id="{88037721-7BDF-23DE-0A22-D4FE75A8FF1B}"/>
              </a:ext>
            </a:extLst>
          </p:cNvPr>
          <p:cNvSpPr txBox="1"/>
          <p:nvPr/>
        </p:nvSpPr>
        <p:spPr>
          <a:xfrm>
            <a:off x="8008620" y="1928055"/>
            <a:ext cx="1310640" cy="369332"/>
          </a:xfrm>
          <a:prstGeom prst="rect">
            <a:avLst/>
          </a:prstGeom>
          <a:noFill/>
        </p:spPr>
        <p:txBody>
          <a:bodyPr wrap="square">
            <a:spAutoFit/>
          </a:bodyPr>
          <a:lstStyle/>
          <a:p>
            <a:r>
              <a:rPr lang="en-US"/>
              <a:t>Ic=f(Vce, Ib) </a:t>
            </a:r>
            <a:endParaRPr lang="en-ID"/>
          </a:p>
        </p:txBody>
      </p:sp>
      <p:sp>
        <p:nvSpPr>
          <p:cNvPr id="63" name="TextBox 62">
            <a:extLst>
              <a:ext uri="{FF2B5EF4-FFF2-40B4-BE49-F238E27FC236}">
                <a16:creationId xmlns:a16="http://schemas.microsoft.com/office/drawing/2014/main" id="{26723327-77F9-12AB-B0E3-05CEBCBB039A}"/>
              </a:ext>
            </a:extLst>
          </p:cNvPr>
          <p:cNvSpPr txBox="1"/>
          <p:nvPr/>
        </p:nvSpPr>
        <p:spPr>
          <a:xfrm>
            <a:off x="2381251" y="1925806"/>
            <a:ext cx="1611629" cy="369332"/>
          </a:xfrm>
          <a:prstGeom prst="rect">
            <a:avLst/>
          </a:prstGeom>
          <a:noFill/>
        </p:spPr>
        <p:txBody>
          <a:bodyPr wrap="square">
            <a:spAutoFit/>
          </a:bodyPr>
          <a:lstStyle/>
          <a:p>
            <a:r>
              <a:rPr lang="en-US"/>
              <a:t>Ib=f(Vbe, Vce)</a:t>
            </a:r>
            <a:endParaRPr lang="en-ID"/>
          </a:p>
        </p:txBody>
      </p:sp>
      <p:sp>
        <p:nvSpPr>
          <p:cNvPr id="64" name="TextBox 63">
            <a:extLst>
              <a:ext uri="{FF2B5EF4-FFF2-40B4-BE49-F238E27FC236}">
                <a16:creationId xmlns:a16="http://schemas.microsoft.com/office/drawing/2014/main" id="{B5DA7E81-7907-8291-E381-B2A5C2B0F1CB}"/>
              </a:ext>
            </a:extLst>
          </p:cNvPr>
          <p:cNvSpPr txBox="1"/>
          <p:nvPr/>
        </p:nvSpPr>
        <p:spPr>
          <a:xfrm>
            <a:off x="1080842" y="2224651"/>
            <a:ext cx="1611629" cy="369332"/>
          </a:xfrm>
          <a:prstGeom prst="rect">
            <a:avLst/>
          </a:prstGeom>
          <a:noFill/>
        </p:spPr>
        <p:txBody>
          <a:bodyPr wrap="square">
            <a:spAutoFit/>
          </a:bodyPr>
          <a:lstStyle/>
          <a:p>
            <a:r>
              <a:rPr lang="en-US"/>
              <a:t>Ib</a:t>
            </a:r>
            <a:endParaRPr lang="en-ID"/>
          </a:p>
        </p:txBody>
      </p:sp>
      <p:sp>
        <p:nvSpPr>
          <p:cNvPr id="65" name="TextBox 64">
            <a:extLst>
              <a:ext uri="{FF2B5EF4-FFF2-40B4-BE49-F238E27FC236}">
                <a16:creationId xmlns:a16="http://schemas.microsoft.com/office/drawing/2014/main" id="{3EF18CC9-8E85-0506-BC0F-8582A47A1F2B}"/>
              </a:ext>
            </a:extLst>
          </p:cNvPr>
          <p:cNvSpPr txBox="1"/>
          <p:nvPr/>
        </p:nvSpPr>
        <p:spPr>
          <a:xfrm>
            <a:off x="5159994" y="4876548"/>
            <a:ext cx="626732" cy="369332"/>
          </a:xfrm>
          <a:prstGeom prst="rect">
            <a:avLst/>
          </a:prstGeom>
          <a:noFill/>
        </p:spPr>
        <p:txBody>
          <a:bodyPr wrap="square">
            <a:spAutoFit/>
          </a:bodyPr>
          <a:lstStyle/>
          <a:p>
            <a:r>
              <a:rPr lang="en-US"/>
              <a:t>Vbe</a:t>
            </a:r>
            <a:endParaRPr lang="en-ID"/>
          </a:p>
        </p:txBody>
      </p:sp>
      <p:sp>
        <p:nvSpPr>
          <p:cNvPr id="66" name="TextBox 65">
            <a:extLst>
              <a:ext uri="{FF2B5EF4-FFF2-40B4-BE49-F238E27FC236}">
                <a16:creationId xmlns:a16="http://schemas.microsoft.com/office/drawing/2014/main" id="{C76A458C-4FF4-4B8D-F2B0-80F990A3B4FC}"/>
              </a:ext>
            </a:extLst>
          </p:cNvPr>
          <p:cNvSpPr txBox="1"/>
          <p:nvPr/>
        </p:nvSpPr>
        <p:spPr>
          <a:xfrm>
            <a:off x="6172200" y="2095995"/>
            <a:ext cx="441961" cy="369332"/>
          </a:xfrm>
          <a:prstGeom prst="rect">
            <a:avLst/>
          </a:prstGeom>
          <a:noFill/>
        </p:spPr>
        <p:txBody>
          <a:bodyPr wrap="square">
            <a:spAutoFit/>
          </a:bodyPr>
          <a:lstStyle/>
          <a:p>
            <a:r>
              <a:rPr lang="en-US"/>
              <a:t>Ic</a:t>
            </a:r>
            <a:endParaRPr lang="en-ID"/>
          </a:p>
        </p:txBody>
      </p:sp>
      <p:sp>
        <p:nvSpPr>
          <p:cNvPr id="67" name="TextBox 66">
            <a:extLst>
              <a:ext uri="{FF2B5EF4-FFF2-40B4-BE49-F238E27FC236}">
                <a16:creationId xmlns:a16="http://schemas.microsoft.com/office/drawing/2014/main" id="{3BDC6D4A-F16F-BDB4-2566-D89BCF0751E6}"/>
              </a:ext>
            </a:extLst>
          </p:cNvPr>
          <p:cNvSpPr txBox="1"/>
          <p:nvPr/>
        </p:nvSpPr>
        <p:spPr>
          <a:xfrm>
            <a:off x="10537364" y="4876043"/>
            <a:ext cx="586741" cy="369332"/>
          </a:xfrm>
          <a:prstGeom prst="rect">
            <a:avLst/>
          </a:prstGeom>
          <a:noFill/>
        </p:spPr>
        <p:txBody>
          <a:bodyPr wrap="square">
            <a:spAutoFit/>
          </a:bodyPr>
          <a:lstStyle/>
          <a:p>
            <a:r>
              <a:rPr lang="en-US"/>
              <a:t>Vce</a:t>
            </a:r>
            <a:endParaRPr lang="en-ID"/>
          </a:p>
        </p:txBody>
      </p:sp>
      <p:cxnSp>
        <p:nvCxnSpPr>
          <p:cNvPr id="68" name="Straight Arrow Connector 67">
            <a:extLst>
              <a:ext uri="{FF2B5EF4-FFF2-40B4-BE49-F238E27FC236}">
                <a16:creationId xmlns:a16="http://schemas.microsoft.com/office/drawing/2014/main" id="{A9D95218-260A-755A-63AE-A8213360E8FE}"/>
              </a:ext>
            </a:extLst>
          </p:cNvPr>
          <p:cNvCxnSpPr>
            <a:cxnSpLocks/>
          </p:cNvCxnSpPr>
          <p:nvPr/>
        </p:nvCxnSpPr>
        <p:spPr>
          <a:xfrm flipV="1">
            <a:off x="8886435" y="3780177"/>
            <a:ext cx="0" cy="1134980"/>
          </a:xfrm>
          <a:prstGeom prst="straightConnector1">
            <a:avLst/>
          </a:prstGeom>
          <a:ln w="12700">
            <a:solidFill>
              <a:srgbClr val="FF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E303356B-ECA7-B26D-9C85-68756E292446}"/>
              </a:ext>
            </a:extLst>
          </p:cNvPr>
          <p:cNvCxnSpPr>
            <a:cxnSpLocks/>
          </p:cNvCxnSpPr>
          <p:nvPr/>
        </p:nvCxnSpPr>
        <p:spPr>
          <a:xfrm flipH="1">
            <a:off x="8886435" y="2013857"/>
            <a:ext cx="1433222" cy="17065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08FCD02E-EB68-E1C4-6145-17F4DAE93CC2}"/>
              </a:ext>
            </a:extLst>
          </p:cNvPr>
          <p:cNvSpPr txBox="1"/>
          <p:nvPr/>
        </p:nvSpPr>
        <p:spPr>
          <a:xfrm>
            <a:off x="9961731" y="1674909"/>
            <a:ext cx="843854" cy="369332"/>
          </a:xfrm>
          <a:prstGeom prst="rect">
            <a:avLst/>
          </a:prstGeom>
          <a:noFill/>
        </p:spPr>
        <p:txBody>
          <a:bodyPr wrap="square">
            <a:spAutoFit/>
          </a:bodyPr>
          <a:lstStyle/>
          <a:p>
            <a:r>
              <a:rPr lang="en-US"/>
              <a:t>B=250</a:t>
            </a:r>
            <a:endParaRPr lang="en-ID"/>
          </a:p>
        </p:txBody>
      </p:sp>
      <p:cxnSp>
        <p:nvCxnSpPr>
          <p:cNvPr id="78" name="Straight Connector 77">
            <a:extLst>
              <a:ext uri="{FF2B5EF4-FFF2-40B4-BE49-F238E27FC236}">
                <a16:creationId xmlns:a16="http://schemas.microsoft.com/office/drawing/2014/main" id="{6BEC1523-F3E5-6BCD-166A-3A75A21B01BF}"/>
              </a:ext>
            </a:extLst>
          </p:cNvPr>
          <p:cNvCxnSpPr>
            <a:cxnSpLocks/>
          </p:cNvCxnSpPr>
          <p:nvPr/>
        </p:nvCxnSpPr>
        <p:spPr>
          <a:xfrm>
            <a:off x="4466167" y="4413319"/>
            <a:ext cx="0" cy="501838"/>
          </a:xfrm>
          <a:prstGeom prst="line">
            <a:avLst/>
          </a:prstGeom>
          <a:ln w="19050">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562F6A69-CEFE-9551-8DEB-E4CC8B4B6140}"/>
              </a:ext>
            </a:extLst>
          </p:cNvPr>
          <p:cNvCxnSpPr>
            <a:cxnSpLocks/>
          </p:cNvCxnSpPr>
          <p:nvPr/>
        </p:nvCxnSpPr>
        <p:spPr>
          <a:xfrm>
            <a:off x="4937760" y="3143659"/>
            <a:ext cx="0" cy="1786504"/>
          </a:xfrm>
          <a:prstGeom prst="line">
            <a:avLst/>
          </a:prstGeom>
          <a:ln w="19050">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6CD5FBC-A9D3-6E8B-8D31-235339E76C72}"/>
              </a:ext>
            </a:extLst>
          </p:cNvPr>
          <p:cNvCxnSpPr>
            <a:cxnSpLocks/>
          </p:cNvCxnSpPr>
          <p:nvPr/>
        </p:nvCxnSpPr>
        <p:spPr>
          <a:xfrm>
            <a:off x="4869180" y="3351572"/>
            <a:ext cx="0" cy="1578591"/>
          </a:xfrm>
          <a:prstGeom prst="line">
            <a:avLst/>
          </a:prstGeom>
          <a:ln w="19050">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FF869AF0-839D-DFD8-E6B8-E02582331EC6}"/>
              </a:ext>
            </a:extLst>
          </p:cNvPr>
          <p:cNvCxnSpPr>
            <a:cxnSpLocks/>
          </p:cNvCxnSpPr>
          <p:nvPr/>
        </p:nvCxnSpPr>
        <p:spPr>
          <a:xfrm>
            <a:off x="4792980" y="3497580"/>
            <a:ext cx="0" cy="1438292"/>
          </a:xfrm>
          <a:prstGeom prst="line">
            <a:avLst/>
          </a:prstGeom>
          <a:ln w="19050">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3A6F8855-24C3-C74A-1C34-091C9D4380EE}"/>
              </a:ext>
            </a:extLst>
          </p:cNvPr>
          <p:cNvCxnSpPr>
            <a:cxnSpLocks/>
          </p:cNvCxnSpPr>
          <p:nvPr/>
        </p:nvCxnSpPr>
        <p:spPr>
          <a:xfrm>
            <a:off x="1463040" y="4808220"/>
            <a:ext cx="0" cy="121943"/>
          </a:xfrm>
          <a:prstGeom prst="line">
            <a:avLst/>
          </a:prstGeom>
          <a:ln w="19050">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4198E048-4592-CE1A-FCAF-CD4EA36C69CA}"/>
              </a:ext>
            </a:extLst>
          </p:cNvPr>
          <p:cNvCxnSpPr>
            <a:cxnSpLocks/>
          </p:cNvCxnSpPr>
          <p:nvPr/>
        </p:nvCxnSpPr>
        <p:spPr>
          <a:xfrm>
            <a:off x="4466167" y="2362000"/>
            <a:ext cx="0" cy="2951198"/>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97E47EF-5F6E-87EB-798B-2A2EA57DE5C3}"/>
              </a:ext>
            </a:extLst>
          </p:cNvPr>
          <p:cNvCxnSpPr>
            <a:cxnSpLocks/>
          </p:cNvCxnSpPr>
          <p:nvPr/>
        </p:nvCxnSpPr>
        <p:spPr>
          <a:xfrm>
            <a:off x="1472353" y="2244778"/>
            <a:ext cx="0" cy="2951198"/>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B090251-B66B-1472-2D0A-1AC5D3D5415A}"/>
              </a:ext>
            </a:extLst>
          </p:cNvPr>
          <p:cNvCxnSpPr>
            <a:cxnSpLocks/>
          </p:cNvCxnSpPr>
          <p:nvPr/>
        </p:nvCxnSpPr>
        <p:spPr>
          <a:xfrm flipH="1">
            <a:off x="4721857" y="3793653"/>
            <a:ext cx="7620" cy="1121504"/>
          </a:xfrm>
          <a:prstGeom prst="line">
            <a:avLst/>
          </a:prstGeom>
          <a:ln w="19050">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5255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C552C-F7B3-6670-977D-20B871BF9C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21D613-DFCE-7BF0-BD9B-3D13FE58E038}"/>
              </a:ext>
            </a:extLst>
          </p:cNvPr>
          <p:cNvSpPr>
            <a:spLocks noGrp="1"/>
          </p:cNvSpPr>
          <p:nvPr>
            <p:ph type="title"/>
          </p:nvPr>
        </p:nvSpPr>
        <p:spPr/>
        <p:txBody>
          <a:bodyPr>
            <a:noAutofit/>
          </a:bodyPr>
          <a:lstStyle/>
          <a:p>
            <a:r>
              <a:rPr lang="en-US" sz="3200"/>
              <a:t>Langkah Kerja Menentukan Ib, Vbe dan Beta (Hfe) dari Grafik Ic=f(Vce, Ib), Ic=f(Ib, Vce) dan Vbe=f(Ib, Vce) (Metoda 1)</a:t>
            </a:r>
            <a:endParaRPr lang="en-ID" sz="3200"/>
          </a:p>
        </p:txBody>
      </p:sp>
      <p:sp>
        <p:nvSpPr>
          <p:cNvPr id="3" name="Content Placeholder 2">
            <a:extLst>
              <a:ext uri="{FF2B5EF4-FFF2-40B4-BE49-F238E27FC236}">
                <a16:creationId xmlns:a16="http://schemas.microsoft.com/office/drawing/2014/main" id="{227C393A-B642-23E1-8B78-031958B05FF9}"/>
              </a:ext>
            </a:extLst>
          </p:cNvPr>
          <p:cNvSpPr>
            <a:spLocks noGrp="1"/>
          </p:cNvSpPr>
          <p:nvPr>
            <p:ph idx="1"/>
          </p:nvPr>
        </p:nvSpPr>
        <p:spPr/>
        <p:txBody>
          <a:bodyPr>
            <a:normAutofit/>
          </a:bodyPr>
          <a:lstStyle/>
          <a:p>
            <a:endParaRPr lang="en-ID"/>
          </a:p>
          <a:p>
            <a:endParaRPr lang="en-ID"/>
          </a:p>
        </p:txBody>
      </p:sp>
      <p:pic>
        <p:nvPicPr>
          <p:cNvPr id="8" name="Picture 7">
            <a:extLst>
              <a:ext uri="{FF2B5EF4-FFF2-40B4-BE49-F238E27FC236}">
                <a16:creationId xmlns:a16="http://schemas.microsoft.com/office/drawing/2014/main" id="{131ABFC5-EA67-0E36-BE74-69D310A7C71D}"/>
              </a:ext>
            </a:extLst>
          </p:cNvPr>
          <p:cNvPicPr>
            <a:picLocks noChangeAspect="1"/>
          </p:cNvPicPr>
          <p:nvPr/>
        </p:nvPicPr>
        <p:blipFill>
          <a:blip r:embed="rId2"/>
          <a:stretch>
            <a:fillRect/>
          </a:stretch>
        </p:blipFill>
        <p:spPr>
          <a:xfrm>
            <a:off x="311531" y="1811192"/>
            <a:ext cx="3581861" cy="2207931"/>
          </a:xfrm>
          <a:prstGeom prst="rect">
            <a:avLst/>
          </a:prstGeom>
        </p:spPr>
      </p:pic>
      <p:pic>
        <p:nvPicPr>
          <p:cNvPr id="10" name="Picture 9">
            <a:extLst>
              <a:ext uri="{FF2B5EF4-FFF2-40B4-BE49-F238E27FC236}">
                <a16:creationId xmlns:a16="http://schemas.microsoft.com/office/drawing/2014/main" id="{285E8C1F-0343-C2F0-060C-4E588BCBAB3F}"/>
              </a:ext>
            </a:extLst>
          </p:cNvPr>
          <p:cNvPicPr>
            <a:picLocks noChangeAspect="1"/>
          </p:cNvPicPr>
          <p:nvPr/>
        </p:nvPicPr>
        <p:blipFill>
          <a:blip r:embed="rId3"/>
          <a:stretch>
            <a:fillRect/>
          </a:stretch>
        </p:blipFill>
        <p:spPr>
          <a:xfrm>
            <a:off x="4174306" y="1793363"/>
            <a:ext cx="3545706" cy="2207931"/>
          </a:xfrm>
          <a:prstGeom prst="rect">
            <a:avLst/>
          </a:prstGeom>
        </p:spPr>
      </p:pic>
      <p:pic>
        <p:nvPicPr>
          <p:cNvPr id="12" name="Picture 11">
            <a:extLst>
              <a:ext uri="{FF2B5EF4-FFF2-40B4-BE49-F238E27FC236}">
                <a16:creationId xmlns:a16="http://schemas.microsoft.com/office/drawing/2014/main" id="{607772F6-4EEC-FDCA-1217-C78C6E80DFED}"/>
              </a:ext>
            </a:extLst>
          </p:cNvPr>
          <p:cNvPicPr>
            <a:picLocks noChangeAspect="1"/>
          </p:cNvPicPr>
          <p:nvPr/>
        </p:nvPicPr>
        <p:blipFill>
          <a:blip r:embed="rId4"/>
          <a:stretch>
            <a:fillRect/>
          </a:stretch>
        </p:blipFill>
        <p:spPr>
          <a:xfrm>
            <a:off x="311531" y="4320530"/>
            <a:ext cx="3601384" cy="1856433"/>
          </a:xfrm>
          <a:prstGeom prst="rect">
            <a:avLst/>
          </a:prstGeom>
        </p:spPr>
      </p:pic>
      <p:sp>
        <p:nvSpPr>
          <p:cNvPr id="7" name="TextBox 6">
            <a:extLst>
              <a:ext uri="{FF2B5EF4-FFF2-40B4-BE49-F238E27FC236}">
                <a16:creationId xmlns:a16="http://schemas.microsoft.com/office/drawing/2014/main" id="{FC1998AE-8F93-71DE-BF6D-0B9E18055163}"/>
              </a:ext>
            </a:extLst>
          </p:cNvPr>
          <p:cNvSpPr txBox="1"/>
          <p:nvPr/>
        </p:nvSpPr>
        <p:spPr>
          <a:xfrm>
            <a:off x="7914920" y="1745476"/>
            <a:ext cx="3999211" cy="4832092"/>
          </a:xfrm>
          <a:prstGeom prst="rect">
            <a:avLst/>
          </a:prstGeom>
          <a:noFill/>
        </p:spPr>
        <p:txBody>
          <a:bodyPr wrap="square" rtlCol="0">
            <a:spAutoFit/>
          </a:bodyPr>
          <a:lstStyle/>
          <a:p>
            <a:r>
              <a:rPr lang="en-US" sz="1400"/>
              <a:t>Catatan: </a:t>
            </a:r>
          </a:p>
          <a:p>
            <a:pPr marL="342900" indent="-342900">
              <a:buFontTx/>
              <a:buAutoNum type="arabicPeriod"/>
            </a:pPr>
            <a:r>
              <a:rPr lang="en-US" sz="1400"/>
              <a:t>Skala sumbu Ic grafik kiri = skala sumbu Ic grafik kanan dan Skala sumbu Ib grafik kiri atas = skala sumbu Ib grafik kiri bawah maka:</a:t>
            </a:r>
            <a:endParaRPr lang="en-ID" sz="1400"/>
          </a:p>
          <a:p>
            <a:pPr marL="800100" lvl="1" indent="-342900">
              <a:buAutoNum type="arabicPeriod"/>
            </a:pPr>
            <a:r>
              <a:rPr lang="en-US" sz="1400"/>
              <a:t>Ib dapat dicari dengan mengetahui Ic atau Vce dari grafik Ic=f(Vce, Ib). Proyeksikan Ic kanan ke Ic kiri sampai bertemu garis kurva (titik A).</a:t>
            </a:r>
          </a:p>
          <a:p>
            <a:pPr marL="800100" lvl="1" indent="-342900">
              <a:buFontTx/>
              <a:buAutoNum type="arabicPeriod"/>
            </a:pPr>
            <a:r>
              <a:rPr lang="en-US" sz="1400"/>
              <a:t>Proyeksikan titik A sampai ke sumbu Ib bawah (Ib=?) maka Ib bisa ditentukan. Catat Ib.</a:t>
            </a:r>
          </a:p>
          <a:p>
            <a:pPr marL="800100" lvl="1" indent="-342900">
              <a:buFontTx/>
              <a:buAutoNum type="arabicPeriod"/>
            </a:pPr>
            <a:r>
              <a:rPr lang="en-US" sz="1400"/>
              <a:t>Proyeksikan titik A sampai bertemu titik B pada kurva Vbe=f(Ib, Vce).</a:t>
            </a:r>
          </a:p>
          <a:p>
            <a:pPr marL="800100" lvl="1" indent="-342900">
              <a:buFontTx/>
              <a:buAutoNum type="arabicPeriod"/>
            </a:pPr>
            <a:r>
              <a:rPr lang="en-US" sz="1400"/>
              <a:t>Proyeksikan titik B ke kiri sampai bertemu sumbu Vbe (Vbe=?) maka Vbe bisa ditentukan. Catat Vbe.</a:t>
            </a:r>
          </a:p>
          <a:p>
            <a:pPr marL="800100" lvl="1" indent="-342900">
              <a:buFontTx/>
              <a:buAutoNum type="arabicPeriod"/>
            </a:pPr>
            <a:r>
              <a:rPr lang="en-US" sz="1400"/>
              <a:t>Beta (Hfe) dapat dicari dengan melihat grafik Ic=f(Ib, Vce) pada Vce tertentu dengan membagi Ic/Ib. Contoh, pada Vce=6V dan Ic=10mA didapat Ib=50uA jadi Beta=Ic/Ib = 10mA/50uA = 10000 uA / 50 uA = 200</a:t>
            </a:r>
            <a:endParaRPr lang="en-ID" sz="1400"/>
          </a:p>
        </p:txBody>
      </p:sp>
      <p:cxnSp>
        <p:nvCxnSpPr>
          <p:cNvPr id="9" name="Straight Connector 8">
            <a:extLst>
              <a:ext uri="{FF2B5EF4-FFF2-40B4-BE49-F238E27FC236}">
                <a16:creationId xmlns:a16="http://schemas.microsoft.com/office/drawing/2014/main" id="{EBDED6B5-4D7A-B7E6-7C1C-8934E2B13A0F}"/>
              </a:ext>
            </a:extLst>
          </p:cNvPr>
          <p:cNvCxnSpPr>
            <a:cxnSpLocks/>
          </p:cNvCxnSpPr>
          <p:nvPr/>
        </p:nvCxnSpPr>
        <p:spPr>
          <a:xfrm flipH="1">
            <a:off x="1786467" y="3027746"/>
            <a:ext cx="4835313" cy="27894"/>
          </a:xfrm>
          <a:prstGeom prst="line">
            <a:avLst/>
          </a:prstGeom>
          <a:ln w="28575">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8B7E12D-A2DE-2508-D69B-A23EAADAF0FE}"/>
              </a:ext>
            </a:extLst>
          </p:cNvPr>
          <p:cNvSpPr txBox="1"/>
          <p:nvPr/>
        </p:nvSpPr>
        <p:spPr>
          <a:xfrm>
            <a:off x="4317152" y="1506022"/>
            <a:ext cx="441961" cy="369332"/>
          </a:xfrm>
          <a:prstGeom prst="rect">
            <a:avLst/>
          </a:prstGeom>
          <a:noFill/>
        </p:spPr>
        <p:txBody>
          <a:bodyPr wrap="square">
            <a:spAutoFit/>
          </a:bodyPr>
          <a:lstStyle/>
          <a:p>
            <a:r>
              <a:rPr lang="en-US"/>
              <a:t>Ic</a:t>
            </a:r>
            <a:endParaRPr lang="en-ID"/>
          </a:p>
        </p:txBody>
      </p:sp>
      <p:sp>
        <p:nvSpPr>
          <p:cNvPr id="17" name="TextBox 16">
            <a:extLst>
              <a:ext uri="{FF2B5EF4-FFF2-40B4-BE49-F238E27FC236}">
                <a16:creationId xmlns:a16="http://schemas.microsoft.com/office/drawing/2014/main" id="{9F50C60C-4D4C-B414-C2AC-7D4777321805}"/>
              </a:ext>
            </a:extLst>
          </p:cNvPr>
          <p:cNvSpPr txBox="1"/>
          <p:nvPr/>
        </p:nvSpPr>
        <p:spPr>
          <a:xfrm>
            <a:off x="441747" y="1535651"/>
            <a:ext cx="441961" cy="369332"/>
          </a:xfrm>
          <a:prstGeom prst="rect">
            <a:avLst/>
          </a:prstGeom>
          <a:noFill/>
        </p:spPr>
        <p:txBody>
          <a:bodyPr wrap="square">
            <a:spAutoFit/>
          </a:bodyPr>
          <a:lstStyle/>
          <a:p>
            <a:r>
              <a:rPr lang="en-US"/>
              <a:t>Ic</a:t>
            </a:r>
            <a:endParaRPr lang="en-ID"/>
          </a:p>
        </p:txBody>
      </p:sp>
      <p:sp>
        <p:nvSpPr>
          <p:cNvPr id="18" name="TextBox 17">
            <a:extLst>
              <a:ext uri="{FF2B5EF4-FFF2-40B4-BE49-F238E27FC236}">
                <a16:creationId xmlns:a16="http://schemas.microsoft.com/office/drawing/2014/main" id="{B4744BD6-5616-ED3D-FA67-0AE67DF5CFE3}"/>
              </a:ext>
            </a:extLst>
          </p:cNvPr>
          <p:cNvSpPr txBox="1"/>
          <p:nvPr/>
        </p:nvSpPr>
        <p:spPr>
          <a:xfrm>
            <a:off x="3630745" y="3916324"/>
            <a:ext cx="441961" cy="369332"/>
          </a:xfrm>
          <a:prstGeom prst="rect">
            <a:avLst/>
          </a:prstGeom>
          <a:noFill/>
        </p:spPr>
        <p:txBody>
          <a:bodyPr wrap="square">
            <a:spAutoFit/>
          </a:bodyPr>
          <a:lstStyle/>
          <a:p>
            <a:r>
              <a:rPr lang="en-US"/>
              <a:t>Ib</a:t>
            </a:r>
            <a:endParaRPr lang="en-ID"/>
          </a:p>
        </p:txBody>
      </p:sp>
      <p:sp>
        <p:nvSpPr>
          <p:cNvPr id="19" name="TextBox 18">
            <a:extLst>
              <a:ext uri="{FF2B5EF4-FFF2-40B4-BE49-F238E27FC236}">
                <a16:creationId xmlns:a16="http://schemas.microsoft.com/office/drawing/2014/main" id="{0699B8C8-EAE9-E981-FCBE-ED771ED59B1B}"/>
              </a:ext>
            </a:extLst>
          </p:cNvPr>
          <p:cNvSpPr txBox="1"/>
          <p:nvPr/>
        </p:nvSpPr>
        <p:spPr>
          <a:xfrm>
            <a:off x="7481251" y="3916324"/>
            <a:ext cx="519675" cy="369332"/>
          </a:xfrm>
          <a:prstGeom prst="rect">
            <a:avLst/>
          </a:prstGeom>
          <a:noFill/>
        </p:spPr>
        <p:txBody>
          <a:bodyPr wrap="square">
            <a:spAutoFit/>
          </a:bodyPr>
          <a:lstStyle/>
          <a:p>
            <a:r>
              <a:rPr lang="en-US"/>
              <a:t>Vce</a:t>
            </a:r>
            <a:endParaRPr lang="en-ID"/>
          </a:p>
        </p:txBody>
      </p:sp>
      <p:sp>
        <p:nvSpPr>
          <p:cNvPr id="20" name="TextBox 19">
            <a:extLst>
              <a:ext uri="{FF2B5EF4-FFF2-40B4-BE49-F238E27FC236}">
                <a16:creationId xmlns:a16="http://schemas.microsoft.com/office/drawing/2014/main" id="{275E44B9-EB44-F612-2F84-6F843586F9AC}"/>
              </a:ext>
            </a:extLst>
          </p:cNvPr>
          <p:cNvSpPr txBox="1"/>
          <p:nvPr/>
        </p:nvSpPr>
        <p:spPr>
          <a:xfrm>
            <a:off x="361749" y="4033556"/>
            <a:ext cx="594984" cy="369332"/>
          </a:xfrm>
          <a:prstGeom prst="rect">
            <a:avLst/>
          </a:prstGeom>
          <a:noFill/>
        </p:spPr>
        <p:txBody>
          <a:bodyPr wrap="square">
            <a:spAutoFit/>
          </a:bodyPr>
          <a:lstStyle/>
          <a:p>
            <a:r>
              <a:rPr lang="en-US"/>
              <a:t>Vbe</a:t>
            </a:r>
            <a:endParaRPr lang="en-ID"/>
          </a:p>
        </p:txBody>
      </p:sp>
      <p:sp>
        <p:nvSpPr>
          <p:cNvPr id="21" name="TextBox 20">
            <a:extLst>
              <a:ext uri="{FF2B5EF4-FFF2-40B4-BE49-F238E27FC236}">
                <a16:creationId xmlns:a16="http://schemas.microsoft.com/office/drawing/2014/main" id="{EF8936E7-F570-C2AF-125B-CA0636D234CF}"/>
              </a:ext>
            </a:extLst>
          </p:cNvPr>
          <p:cNvSpPr txBox="1"/>
          <p:nvPr/>
        </p:nvSpPr>
        <p:spPr>
          <a:xfrm>
            <a:off x="3591816" y="6127234"/>
            <a:ext cx="441961" cy="369332"/>
          </a:xfrm>
          <a:prstGeom prst="rect">
            <a:avLst/>
          </a:prstGeom>
          <a:noFill/>
        </p:spPr>
        <p:txBody>
          <a:bodyPr wrap="square">
            <a:spAutoFit/>
          </a:bodyPr>
          <a:lstStyle/>
          <a:p>
            <a:r>
              <a:rPr lang="en-US"/>
              <a:t>Ib</a:t>
            </a:r>
            <a:endParaRPr lang="en-ID"/>
          </a:p>
        </p:txBody>
      </p:sp>
      <p:sp>
        <p:nvSpPr>
          <p:cNvPr id="23" name="Rectangle: Rounded Corners 22">
            <a:extLst>
              <a:ext uri="{FF2B5EF4-FFF2-40B4-BE49-F238E27FC236}">
                <a16:creationId xmlns:a16="http://schemas.microsoft.com/office/drawing/2014/main" id="{E6BF9EAF-5AE5-70EE-BA90-C6E627D38671}"/>
              </a:ext>
            </a:extLst>
          </p:cNvPr>
          <p:cNvSpPr/>
          <p:nvPr/>
        </p:nvSpPr>
        <p:spPr>
          <a:xfrm>
            <a:off x="361749" y="1608666"/>
            <a:ext cx="459683" cy="2392627"/>
          </a:xfrm>
          <a:prstGeom prst="roundRect">
            <a:avLst/>
          </a:prstGeom>
          <a:noFill/>
          <a:ln>
            <a:solidFill>
              <a:schemeClr val="tx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a16="http://schemas.microsoft.com/office/drawing/2014/main" id="{C3725558-5BB8-EC32-8E47-7DFF1B44CF9B}"/>
              </a:ext>
            </a:extLst>
          </p:cNvPr>
          <p:cNvSpPr/>
          <p:nvPr/>
        </p:nvSpPr>
        <p:spPr>
          <a:xfrm>
            <a:off x="4190653" y="1608666"/>
            <a:ext cx="490326" cy="2392627"/>
          </a:xfrm>
          <a:prstGeom prst="roundRect">
            <a:avLst/>
          </a:prstGeom>
          <a:noFill/>
          <a:ln>
            <a:solidFill>
              <a:schemeClr val="tx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5" name="Rectangle: Rounded Corners 24">
            <a:extLst>
              <a:ext uri="{FF2B5EF4-FFF2-40B4-BE49-F238E27FC236}">
                <a16:creationId xmlns:a16="http://schemas.microsoft.com/office/drawing/2014/main" id="{1199850E-899D-662A-4EE1-273762208E06}"/>
              </a:ext>
            </a:extLst>
          </p:cNvPr>
          <p:cNvSpPr/>
          <p:nvPr/>
        </p:nvSpPr>
        <p:spPr>
          <a:xfrm rot="5400000">
            <a:off x="1969202" y="2089845"/>
            <a:ext cx="252379" cy="3635044"/>
          </a:xfrm>
          <a:prstGeom prst="roundRect">
            <a:avLst/>
          </a:prstGeom>
          <a:noFill/>
          <a:ln w="19050">
            <a:solidFill>
              <a:srgbClr val="00206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5">
            <a:extLst>
              <a:ext uri="{FF2B5EF4-FFF2-40B4-BE49-F238E27FC236}">
                <a16:creationId xmlns:a16="http://schemas.microsoft.com/office/drawing/2014/main" id="{75664864-987A-35CE-9256-D204662D8137}"/>
              </a:ext>
            </a:extLst>
          </p:cNvPr>
          <p:cNvSpPr/>
          <p:nvPr/>
        </p:nvSpPr>
        <p:spPr>
          <a:xfrm rot="5400000">
            <a:off x="2029634" y="4233111"/>
            <a:ext cx="252379" cy="3635044"/>
          </a:xfrm>
          <a:prstGeom prst="roundRect">
            <a:avLst/>
          </a:prstGeom>
          <a:noFill/>
          <a:ln w="19050">
            <a:solidFill>
              <a:srgbClr val="00206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28" name="Straight Connector 27">
            <a:extLst>
              <a:ext uri="{FF2B5EF4-FFF2-40B4-BE49-F238E27FC236}">
                <a16:creationId xmlns:a16="http://schemas.microsoft.com/office/drawing/2014/main" id="{49021C4E-F2BB-0A8D-7787-0D16C3BA6D62}"/>
              </a:ext>
            </a:extLst>
          </p:cNvPr>
          <p:cNvCxnSpPr>
            <a:cxnSpLocks/>
          </p:cNvCxnSpPr>
          <p:nvPr/>
        </p:nvCxnSpPr>
        <p:spPr>
          <a:xfrm>
            <a:off x="1727200" y="3055640"/>
            <a:ext cx="0" cy="1484462"/>
          </a:xfrm>
          <a:prstGeom prst="line">
            <a:avLst/>
          </a:prstGeom>
          <a:ln w="28575">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5E47AE9-DE80-D86A-2CDF-58D471CCDD9B}"/>
              </a:ext>
            </a:extLst>
          </p:cNvPr>
          <p:cNvCxnSpPr>
            <a:cxnSpLocks/>
          </p:cNvCxnSpPr>
          <p:nvPr/>
        </p:nvCxnSpPr>
        <p:spPr>
          <a:xfrm flipH="1">
            <a:off x="677123" y="4540102"/>
            <a:ext cx="982344" cy="0"/>
          </a:xfrm>
          <a:prstGeom prst="line">
            <a:avLst/>
          </a:prstGeom>
          <a:ln w="28575">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218B3C9-499E-9B75-4C99-94B699A095D5}"/>
              </a:ext>
            </a:extLst>
          </p:cNvPr>
          <p:cNvSpPr txBox="1"/>
          <p:nvPr/>
        </p:nvSpPr>
        <p:spPr>
          <a:xfrm>
            <a:off x="1456632" y="3943982"/>
            <a:ext cx="1191352" cy="369332"/>
          </a:xfrm>
          <a:prstGeom prst="rect">
            <a:avLst/>
          </a:prstGeom>
          <a:noFill/>
        </p:spPr>
        <p:txBody>
          <a:bodyPr wrap="none" rtlCol="0">
            <a:spAutoFit/>
          </a:bodyPr>
          <a:lstStyle/>
          <a:p>
            <a:r>
              <a:rPr lang="en-US">
                <a:solidFill>
                  <a:srgbClr val="FF0000"/>
                </a:solidFill>
              </a:rPr>
              <a:t>Ib=?=50uA</a:t>
            </a:r>
            <a:endParaRPr lang="en-ID">
              <a:solidFill>
                <a:srgbClr val="FF0000"/>
              </a:solidFill>
            </a:endParaRPr>
          </a:p>
        </p:txBody>
      </p:sp>
      <p:sp>
        <p:nvSpPr>
          <p:cNvPr id="36" name="TextBox 35">
            <a:extLst>
              <a:ext uri="{FF2B5EF4-FFF2-40B4-BE49-F238E27FC236}">
                <a16:creationId xmlns:a16="http://schemas.microsoft.com/office/drawing/2014/main" id="{42756D6F-F03F-5D0D-9CF6-2AE90C0375A4}"/>
              </a:ext>
            </a:extLst>
          </p:cNvPr>
          <p:cNvSpPr txBox="1"/>
          <p:nvPr/>
        </p:nvSpPr>
        <p:spPr>
          <a:xfrm>
            <a:off x="253908" y="4437762"/>
            <a:ext cx="1300356" cy="369332"/>
          </a:xfrm>
          <a:prstGeom prst="rect">
            <a:avLst/>
          </a:prstGeom>
          <a:noFill/>
        </p:spPr>
        <p:txBody>
          <a:bodyPr wrap="none" rtlCol="0">
            <a:spAutoFit/>
          </a:bodyPr>
          <a:lstStyle/>
          <a:p>
            <a:r>
              <a:rPr lang="en-US">
                <a:solidFill>
                  <a:srgbClr val="FF0000"/>
                </a:solidFill>
              </a:rPr>
              <a:t>Vbe=?=0,78</a:t>
            </a:r>
            <a:endParaRPr lang="en-ID">
              <a:solidFill>
                <a:srgbClr val="FF0000"/>
              </a:solidFill>
            </a:endParaRPr>
          </a:p>
        </p:txBody>
      </p:sp>
      <p:sp>
        <p:nvSpPr>
          <p:cNvPr id="37" name="TextBox 36">
            <a:extLst>
              <a:ext uri="{FF2B5EF4-FFF2-40B4-BE49-F238E27FC236}">
                <a16:creationId xmlns:a16="http://schemas.microsoft.com/office/drawing/2014/main" id="{5753C695-0D83-AAD9-A71D-A0910E59EBD0}"/>
              </a:ext>
            </a:extLst>
          </p:cNvPr>
          <p:cNvSpPr txBox="1"/>
          <p:nvPr/>
        </p:nvSpPr>
        <p:spPr>
          <a:xfrm>
            <a:off x="1468751" y="2658414"/>
            <a:ext cx="317716" cy="369332"/>
          </a:xfrm>
          <a:prstGeom prst="rect">
            <a:avLst/>
          </a:prstGeom>
          <a:noFill/>
        </p:spPr>
        <p:txBody>
          <a:bodyPr wrap="none" rtlCol="0">
            <a:spAutoFit/>
          </a:bodyPr>
          <a:lstStyle/>
          <a:p>
            <a:r>
              <a:rPr lang="en-US">
                <a:solidFill>
                  <a:srgbClr val="FF0000"/>
                </a:solidFill>
              </a:rPr>
              <a:t>A</a:t>
            </a:r>
            <a:endParaRPr lang="en-ID">
              <a:solidFill>
                <a:srgbClr val="FF0000"/>
              </a:solidFill>
            </a:endParaRPr>
          </a:p>
        </p:txBody>
      </p:sp>
      <p:sp>
        <p:nvSpPr>
          <p:cNvPr id="38" name="TextBox 37">
            <a:extLst>
              <a:ext uri="{FF2B5EF4-FFF2-40B4-BE49-F238E27FC236}">
                <a16:creationId xmlns:a16="http://schemas.microsoft.com/office/drawing/2014/main" id="{59D64572-7B2D-206B-9F89-E6E30EB091B0}"/>
              </a:ext>
            </a:extLst>
          </p:cNvPr>
          <p:cNvSpPr txBox="1"/>
          <p:nvPr/>
        </p:nvSpPr>
        <p:spPr>
          <a:xfrm>
            <a:off x="1590414" y="4530398"/>
            <a:ext cx="309700" cy="369332"/>
          </a:xfrm>
          <a:prstGeom prst="rect">
            <a:avLst/>
          </a:prstGeom>
          <a:noFill/>
        </p:spPr>
        <p:txBody>
          <a:bodyPr wrap="none" rtlCol="0">
            <a:spAutoFit/>
          </a:bodyPr>
          <a:lstStyle/>
          <a:p>
            <a:r>
              <a:rPr lang="en-US">
                <a:solidFill>
                  <a:srgbClr val="FF0000"/>
                </a:solidFill>
              </a:rPr>
              <a:t>B</a:t>
            </a:r>
            <a:endParaRPr lang="en-ID">
              <a:solidFill>
                <a:srgbClr val="FF0000"/>
              </a:solidFill>
            </a:endParaRPr>
          </a:p>
        </p:txBody>
      </p:sp>
      <p:cxnSp>
        <p:nvCxnSpPr>
          <p:cNvPr id="4" name="Straight Connector 3">
            <a:extLst>
              <a:ext uri="{FF2B5EF4-FFF2-40B4-BE49-F238E27FC236}">
                <a16:creationId xmlns:a16="http://schemas.microsoft.com/office/drawing/2014/main" id="{91AA34A7-7B9F-5FCB-72E0-0C9F90C162CF}"/>
              </a:ext>
            </a:extLst>
          </p:cNvPr>
          <p:cNvCxnSpPr>
            <a:cxnSpLocks/>
          </p:cNvCxnSpPr>
          <p:nvPr/>
        </p:nvCxnSpPr>
        <p:spPr>
          <a:xfrm flipV="1">
            <a:off x="6621780" y="3055640"/>
            <a:ext cx="0" cy="860684"/>
          </a:xfrm>
          <a:prstGeom prst="line">
            <a:avLst/>
          </a:prstGeom>
          <a:ln w="28575">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0A6B8FC-62A4-A8D7-DECF-AA47FE6EC2B6}"/>
              </a:ext>
            </a:extLst>
          </p:cNvPr>
          <p:cNvSpPr txBox="1"/>
          <p:nvPr/>
        </p:nvSpPr>
        <p:spPr>
          <a:xfrm>
            <a:off x="5425795" y="1424031"/>
            <a:ext cx="1310640" cy="369332"/>
          </a:xfrm>
          <a:prstGeom prst="rect">
            <a:avLst/>
          </a:prstGeom>
          <a:noFill/>
        </p:spPr>
        <p:txBody>
          <a:bodyPr wrap="square">
            <a:spAutoFit/>
          </a:bodyPr>
          <a:lstStyle/>
          <a:p>
            <a:r>
              <a:rPr lang="en-US"/>
              <a:t>Ic=f(Vce, Ib) </a:t>
            </a:r>
            <a:endParaRPr lang="en-ID"/>
          </a:p>
        </p:txBody>
      </p:sp>
      <p:sp>
        <p:nvSpPr>
          <p:cNvPr id="15" name="TextBox 14">
            <a:extLst>
              <a:ext uri="{FF2B5EF4-FFF2-40B4-BE49-F238E27FC236}">
                <a16:creationId xmlns:a16="http://schemas.microsoft.com/office/drawing/2014/main" id="{19716AA0-6A29-CD96-3AD5-9D73CCBE8F94}"/>
              </a:ext>
            </a:extLst>
          </p:cNvPr>
          <p:cNvSpPr txBox="1"/>
          <p:nvPr/>
        </p:nvSpPr>
        <p:spPr>
          <a:xfrm>
            <a:off x="1538728" y="1449035"/>
            <a:ext cx="1310640" cy="369332"/>
          </a:xfrm>
          <a:prstGeom prst="rect">
            <a:avLst/>
          </a:prstGeom>
          <a:noFill/>
        </p:spPr>
        <p:txBody>
          <a:bodyPr wrap="square">
            <a:spAutoFit/>
          </a:bodyPr>
          <a:lstStyle/>
          <a:p>
            <a:r>
              <a:rPr lang="en-US"/>
              <a:t>Ic=f(Ib, Vce) </a:t>
            </a:r>
            <a:endParaRPr lang="en-ID"/>
          </a:p>
        </p:txBody>
      </p:sp>
      <p:sp>
        <p:nvSpPr>
          <p:cNvPr id="22" name="TextBox 21">
            <a:extLst>
              <a:ext uri="{FF2B5EF4-FFF2-40B4-BE49-F238E27FC236}">
                <a16:creationId xmlns:a16="http://schemas.microsoft.com/office/drawing/2014/main" id="{BDC68663-82CE-8E74-7ECD-FC8189A70125}"/>
              </a:ext>
            </a:extLst>
          </p:cNvPr>
          <p:cNvSpPr txBox="1"/>
          <p:nvPr/>
        </p:nvSpPr>
        <p:spPr>
          <a:xfrm>
            <a:off x="1288277" y="6211837"/>
            <a:ext cx="1528062" cy="369332"/>
          </a:xfrm>
          <a:prstGeom prst="rect">
            <a:avLst/>
          </a:prstGeom>
          <a:noFill/>
        </p:spPr>
        <p:txBody>
          <a:bodyPr wrap="square">
            <a:spAutoFit/>
          </a:bodyPr>
          <a:lstStyle/>
          <a:p>
            <a:r>
              <a:rPr lang="en-US"/>
              <a:t>Vbe=f(Ib, Vce) </a:t>
            </a:r>
            <a:endParaRPr lang="en-ID"/>
          </a:p>
        </p:txBody>
      </p:sp>
    </p:spTree>
    <p:extLst>
      <p:ext uri="{BB962C8B-B14F-4D97-AF65-F5344CB8AC3E}">
        <p14:creationId xmlns:p14="http://schemas.microsoft.com/office/powerpoint/2010/main" val="3147111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BD3DF-1201-8519-56A3-95ADF9701058}"/>
              </a:ext>
            </a:extLst>
          </p:cNvPr>
          <p:cNvSpPr>
            <a:spLocks noGrp="1"/>
          </p:cNvSpPr>
          <p:nvPr>
            <p:ph type="title"/>
          </p:nvPr>
        </p:nvSpPr>
        <p:spPr/>
        <p:txBody>
          <a:bodyPr/>
          <a:lstStyle/>
          <a:p>
            <a:r>
              <a:rPr lang="en-US"/>
              <a:t>Tugas</a:t>
            </a:r>
            <a:endParaRPr lang="en-ID"/>
          </a:p>
        </p:txBody>
      </p:sp>
      <p:sp>
        <p:nvSpPr>
          <p:cNvPr id="3" name="Content Placeholder 2">
            <a:extLst>
              <a:ext uri="{FF2B5EF4-FFF2-40B4-BE49-F238E27FC236}">
                <a16:creationId xmlns:a16="http://schemas.microsoft.com/office/drawing/2014/main" id="{225C6D6E-7B50-48B3-E2C7-DD0904457F5D}"/>
              </a:ext>
            </a:extLst>
          </p:cNvPr>
          <p:cNvSpPr>
            <a:spLocks noGrp="1"/>
          </p:cNvSpPr>
          <p:nvPr>
            <p:ph idx="1"/>
          </p:nvPr>
        </p:nvSpPr>
        <p:spPr/>
        <p:txBody>
          <a:bodyPr/>
          <a:lstStyle/>
          <a:p>
            <a:r>
              <a:rPr lang="en-US"/>
              <a:t>Nomor Absen 1-15 menggunakan Transistor dengan nomor 1-15 berurutan.</a:t>
            </a:r>
            <a:endParaRPr lang="en-ID"/>
          </a:p>
          <a:p>
            <a:r>
              <a:rPr lang="en-US"/>
              <a:t>Nomor Absen 16-30 menggunakan Transistor dengan nomor 1-15 berurutan.</a:t>
            </a:r>
          </a:p>
          <a:p>
            <a:endParaRPr lang="en-US"/>
          </a:p>
          <a:p>
            <a:r>
              <a:rPr lang="en-US"/>
              <a:t>Catatan:</a:t>
            </a:r>
          </a:p>
          <a:p>
            <a:r>
              <a:rPr lang="en-US"/>
              <a:t>Vcemaks, Ibmaks, dan Vbemaks sesuaikan dengan transistor yang digunakan.</a:t>
            </a:r>
            <a:endParaRPr lang="en-ID"/>
          </a:p>
          <a:p>
            <a:endParaRPr lang="en-ID"/>
          </a:p>
        </p:txBody>
      </p:sp>
    </p:spTree>
    <p:extLst>
      <p:ext uri="{BB962C8B-B14F-4D97-AF65-F5344CB8AC3E}">
        <p14:creationId xmlns:p14="http://schemas.microsoft.com/office/powerpoint/2010/main" val="18523116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1565</TotalTime>
  <Words>1119</Words>
  <Application>Microsoft Office PowerPoint</Application>
  <PresentationFormat>Widescreen</PresentationFormat>
  <Paragraphs>213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Jobsheet Menentukan Ib, Vbe dan Beta (Hfe) dari Grafik Karakteristik Transistor BJT</vt:lpstr>
      <vt:lpstr>Pendahuluan</vt:lpstr>
      <vt:lpstr>TRANSISTOR</vt:lpstr>
      <vt:lpstr>Alat dan Bahan Transistor BJT yang ada di Proteus</vt:lpstr>
      <vt:lpstr>Langkah Kerja Umum</vt:lpstr>
      <vt:lpstr>Langkah Kerja Menentukan Ib, Vbe dan Beta (Hfe) dari grafik Ic=f(Vce, Ib) dan Ib=f(Vbe, Vce) (Metoda 1)</vt:lpstr>
      <vt:lpstr>Langkah Kerja Menentukan Ib, Vbe dan Beta (Hfe) dari Grafik Ic=f(Vce, Ib), Ic=f(Ib, Vce) dan Vbe=f(Ib, Vce) (Metoda 1)</vt:lpstr>
      <vt:lpstr>Tugas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erilmozef@yahoo.com</cp:lastModifiedBy>
  <cp:revision>74</cp:revision>
  <dcterms:created xsi:type="dcterms:W3CDTF">2024-04-25T05:33:30Z</dcterms:created>
  <dcterms:modified xsi:type="dcterms:W3CDTF">2025-05-02T07:28:05Z</dcterms:modified>
</cp:coreProperties>
</file>