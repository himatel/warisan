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07" r:id="rId2"/>
    <p:sldId id="311" r:id="rId3"/>
    <p:sldId id="310" r:id="rId4"/>
    <p:sldId id="267" r:id="rId5"/>
    <p:sldId id="268" r:id="rId6"/>
    <p:sldId id="269" r:id="rId7"/>
    <p:sldId id="301" r:id="rId8"/>
    <p:sldId id="302" r:id="rId9"/>
    <p:sldId id="309" r:id="rId10"/>
    <p:sldId id="270" r:id="rId11"/>
    <p:sldId id="271" r:id="rId12"/>
    <p:sldId id="274" r:id="rId13"/>
    <p:sldId id="272" r:id="rId14"/>
    <p:sldId id="273" r:id="rId15"/>
    <p:sldId id="275" r:id="rId16"/>
    <p:sldId id="295" r:id="rId17"/>
    <p:sldId id="304" r:id="rId18"/>
    <p:sldId id="28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09" autoAdjust="0"/>
    <p:restoredTop sz="95196" autoAdjust="0"/>
  </p:normalViewPr>
  <p:slideViewPr>
    <p:cSldViewPr snapToGrid="0">
      <p:cViewPr varScale="1">
        <p:scale>
          <a:sx n="43" d="100"/>
          <a:sy n="43" d="100"/>
        </p:scale>
        <p:origin x="77" y="8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510C07-338C-4CE1-94D5-B595E37FE6AB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419459-8FD6-47F0-9A3F-653623863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48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Gambar kiri dan kanan sama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419459-8FD6-47F0-9A3F-653623863C8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199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F18B-FEFD-4D30-85DF-1A28850C3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25DF2E-6F7E-4A47-B2DF-89AB96D9A0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607ED-F36A-43F6-8AEA-B4A4664CD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9CC6C-8677-422B-9EF8-71594139E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01E09-5FC2-43DE-984C-CF8BC696D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765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F2D83-BB6F-4126-A524-73CA75AC0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A8F53-FA31-4485-A585-5BBDF6C83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C247A-3EE9-4AA9-A0D6-D6C8986BA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FE26D-468A-4492-8973-21D4191BB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85B6A-3582-4DE6-A06F-0DC0B77F5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33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5A409-E51A-4AEC-A6D2-8C146121F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4CFE9-CE48-4D76-8C34-9EEB41DE3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4150C-042E-4D88-8ED4-77AEC3343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6734-3181-4D38-AFC0-ACF269C64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97EFC-443A-448A-8CDC-12F82FF47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36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2ECB0-F235-4628-B4D6-D04E59665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CF7B9-67BD-47F5-B456-752792A6ED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BDCEC-7DB8-4524-9FAA-F93C53093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6D174-65A4-4DFF-AF07-747E50C7B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C03A7-3C1B-4E18-B7D1-4BC98114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00573-D971-4612-9FFB-CA395D440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139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70005-4A55-4EF0-B38D-B42579D96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CEB95-7B90-4840-B595-06307A82D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DD2EF-B2B1-41EE-9326-2BA2FE513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DE086D-126A-4F6D-89E4-C0FBF8FE9E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D0AB44-E823-4A71-8E89-7E6024BDB9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4C69D4-7E27-42E1-875A-EE646CDBC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227338-7C30-4B63-9009-0A1931CF2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19ED14-102D-4E33-B4D4-331E83592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26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3332B-86D6-4A62-8295-5BC73F10E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A5F8D4-C9C8-4065-9871-8433BA66E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4B864-0A10-4F56-BF05-41467A5A6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253CEA-8D55-478A-B792-3D702097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596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511EBC-2736-47D7-B673-24E6C571C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A6211-4C57-4B9A-8EED-673959A71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34A31-5B3B-4E90-A703-E3AB9A1F5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256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B9D3C-0A8D-48C5-93DF-2EB1F722D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ADC0F-9ED7-4C79-AB74-5EC1BBBE6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2C2E19-BCD7-4FEC-BA3D-36D5877841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D3330-A72C-44FB-B606-7727AEE7F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9FEE8-4C88-4714-8F7A-E338BCD33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0C762-5EC0-4B46-B9B6-717D0324C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08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D71AF-1967-4C63-9A43-F21451EB7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CD30A0-C2EF-4698-90B6-E159241719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9BDD6-0829-42DF-B074-0B261DDE2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17545-CC59-462E-91BC-663895C94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01A16-7695-474D-A047-BE508FC4D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8E090-6993-49B6-8B75-99C8E1FF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4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6427B-99AF-47E9-9AB9-A82098980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CCBCD8-8C85-4D24-9317-362F7528E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19A5D-A72B-4677-B800-58B58F497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B3804-21BD-49C5-B773-C3CDDE0AE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54A5B-51CC-4B3D-B729-2F7F11767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345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F25C36-D277-4B93-ABB7-F95E5CFA99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314E3A-7F23-417C-9AF5-C63DE8042F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052EC-5249-4A5C-8D4E-CC486E897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A09E6-D86A-4458-9D78-B97548235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5744B-89D6-4B67-A012-76CB276FA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969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0C9E7D-FCAC-46E5-A73C-43961E5C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199C8-CE43-4A0D-808E-F770E5355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774AC-62A9-44EB-9E2C-42C1E2307E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B2334-333B-48F0-AFD2-8D0201D7226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D697F-9698-40B2-B58D-88EBE278F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6A18E-CE87-42E7-9D02-5EF25FB43C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18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004F0-CDDA-1ED3-A497-6025DE352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0634C-414B-1FEB-11ED-8F6E8669E4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0504" y="1214438"/>
            <a:ext cx="9144000" cy="2387600"/>
          </a:xfrm>
        </p:spPr>
        <p:txBody>
          <a:bodyPr>
            <a:normAutofit/>
          </a:bodyPr>
          <a:lstStyle/>
          <a:p>
            <a:r>
              <a:rPr lang="en-US" sz="3200"/>
              <a:t>Penyearah Gelombang Penuh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838838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673E3-28BC-76A5-141D-D69D9469A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Materi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6C035-F95F-3078-7851-430C0398F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/>
              <a:t>Penyearah Gelombang Penuh Dengan Dioda Bridge</a:t>
            </a:r>
          </a:p>
          <a:p>
            <a:r>
              <a:rPr lang="en-US"/>
              <a:t>Penyearah Gelombang Penuh Dengan Center Tap</a:t>
            </a:r>
            <a:br>
              <a:rPr lang="en-US" sz="2800"/>
            </a:b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23739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2562A-CB0C-4AB3-05C7-2363BC367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CB423-3BE2-2861-1B39-F11F7654D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0504" y="1214438"/>
            <a:ext cx="9144000" cy="2387600"/>
          </a:xfrm>
        </p:spPr>
        <p:txBody>
          <a:bodyPr>
            <a:normAutofit/>
          </a:bodyPr>
          <a:lstStyle/>
          <a:p>
            <a:r>
              <a:rPr lang="en-US" sz="3200"/>
              <a:t>Penyearah Gelombang Penuh</a:t>
            </a:r>
            <a:br>
              <a:rPr lang="en-US" sz="3200"/>
            </a:br>
            <a:r>
              <a:rPr lang="en-US" sz="3200"/>
              <a:t>(Dengan Dioda Bridge)</a:t>
            </a:r>
            <a:br>
              <a:rPr lang="en-US" sz="3200"/>
            </a:br>
            <a:endParaRPr lang="en-US" sz="2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B64010-0C43-525D-87BA-16DDDEC295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3917"/>
            <a:ext cx="9144000" cy="165576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920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DEFEFB-05DE-4511-B008-5D4DFCEDED70}"/>
              </a:ext>
            </a:extLst>
          </p:cNvPr>
          <p:cNvSpPr txBox="1"/>
          <p:nvPr/>
        </p:nvSpPr>
        <p:spPr>
          <a:xfrm>
            <a:off x="795130" y="583960"/>
            <a:ext cx="87038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2. </a:t>
            </a:r>
            <a:r>
              <a:rPr lang="en-US" sz="2400" dirty="0" err="1"/>
              <a:t>Rangkaian</a:t>
            </a:r>
            <a:r>
              <a:rPr lang="en-US" sz="2400" dirty="0"/>
              <a:t> </a:t>
            </a:r>
            <a:r>
              <a:rPr lang="en-US" sz="2400" dirty="0" err="1"/>
              <a:t>penyearah</a:t>
            </a:r>
            <a:r>
              <a:rPr lang="en-US" sz="2400" dirty="0"/>
              <a:t> </a:t>
            </a:r>
            <a:r>
              <a:rPr lang="en-US" sz="2400" err="1"/>
              <a:t>gelombang</a:t>
            </a:r>
            <a:r>
              <a:rPr lang="en-US" sz="2400"/>
              <a:t> penuh dengan diode bridge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254EFE-9A7F-4357-9230-19F4F36E4AD7}"/>
              </a:ext>
            </a:extLst>
          </p:cNvPr>
          <p:cNvSpPr txBox="1"/>
          <p:nvPr/>
        </p:nvSpPr>
        <p:spPr>
          <a:xfrm>
            <a:off x="1086678" y="1045625"/>
            <a:ext cx="91572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penyearah</a:t>
            </a:r>
            <a:r>
              <a:rPr lang="en-US" dirty="0"/>
              <a:t> </a:t>
            </a:r>
            <a:r>
              <a:rPr lang="en-US" dirty="0" err="1"/>
              <a:t>gelombang</a:t>
            </a:r>
            <a:r>
              <a:rPr lang="en-US" dirty="0"/>
              <a:t> </a:t>
            </a:r>
            <a:r>
              <a:rPr lang="en-US" dirty="0" err="1"/>
              <a:t>penuh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dioda</a:t>
            </a:r>
            <a:r>
              <a:rPr lang="en-US" dirty="0"/>
              <a:t> bridge</a:t>
            </a:r>
          </a:p>
          <a:p>
            <a:r>
              <a:rPr lang="en-US" dirty="0"/>
              <a:t>    -  </a:t>
            </a:r>
            <a:r>
              <a:rPr lang="en-US" dirty="0" err="1"/>
              <a:t>Rangkaian</a:t>
            </a:r>
            <a:r>
              <a:rPr lang="en-US" dirty="0"/>
              <a:t> diode </a:t>
            </a:r>
            <a:r>
              <a:rPr lang="en-US" dirty="0" err="1"/>
              <a:t>jembatan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penyearah</a:t>
            </a:r>
            <a:r>
              <a:rPr lang="en-US" dirty="0"/>
              <a:t> </a:t>
            </a:r>
            <a:r>
              <a:rPr lang="en-US" dirty="0" err="1"/>
              <a:t>gelombang</a:t>
            </a:r>
            <a:r>
              <a:rPr lang="en-US" dirty="0"/>
              <a:t> </a:t>
            </a:r>
            <a:r>
              <a:rPr lang="en-US" dirty="0" err="1"/>
              <a:t>penuh</a:t>
            </a:r>
            <a:r>
              <a:rPr lang="en-US" dirty="0"/>
              <a:t> yang  paling    </a:t>
            </a:r>
          </a:p>
          <a:p>
            <a:r>
              <a:rPr lang="en-US" dirty="0"/>
              <a:t>       popular dan paling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elektronika</a:t>
            </a:r>
            <a:r>
              <a:rPr lang="en-US" dirty="0"/>
              <a:t>.  </a:t>
            </a:r>
          </a:p>
          <a:p>
            <a:r>
              <a:rPr lang="en-US" dirty="0"/>
              <a:t>    -  </a:t>
            </a:r>
            <a:r>
              <a:rPr lang="en-US" dirty="0" err="1"/>
              <a:t>Rangkaian</a:t>
            </a:r>
            <a:r>
              <a:rPr lang="en-US" dirty="0"/>
              <a:t> diode </a:t>
            </a:r>
            <a:r>
              <a:rPr lang="en-US" dirty="0" err="1"/>
              <a:t>jembatan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empat</a:t>
            </a:r>
            <a:r>
              <a:rPr lang="en-US" dirty="0"/>
              <a:t> diode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penyearah-nya</a:t>
            </a:r>
            <a:r>
              <a:rPr lang="en-US" dirty="0"/>
              <a:t>, </a:t>
            </a:r>
            <a:r>
              <a:rPr lang="en-US" dirty="0" err="1"/>
              <a:t>seperti</a:t>
            </a:r>
            <a:r>
              <a:rPr lang="en-US" dirty="0"/>
              <a:t>    </a:t>
            </a:r>
          </a:p>
          <a:p>
            <a:r>
              <a:rPr lang="en-US" dirty="0"/>
              <a:t>        </a:t>
            </a:r>
            <a:r>
              <a:rPr lang="en-US" dirty="0" err="1"/>
              <a:t>terlihat</a:t>
            </a:r>
            <a:r>
              <a:rPr lang="en-US" dirty="0"/>
              <a:t> pada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6128EB-30CA-418D-9F75-61C1B3854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678" y="2886041"/>
            <a:ext cx="4804064" cy="29263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207916-2190-4092-8034-0DAB79291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2663" y="3318646"/>
            <a:ext cx="2276224" cy="249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082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26E37A-BE60-4AA2-9FFD-7757F9FF6623}"/>
              </a:ext>
            </a:extLst>
          </p:cNvPr>
          <p:cNvSpPr txBox="1"/>
          <p:nvPr/>
        </p:nvSpPr>
        <p:spPr>
          <a:xfrm>
            <a:off x="1543878" y="614356"/>
            <a:ext cx="88126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Prinsip</a:t>
            </a:r>
            <a:r>
              <a:rPr lang="en-US" dirty="0"/>
              <a:t> </a:t>
            </a:r>
            <a:r>
              <a:rPr lang="en-US" dirty="0" err="1"/>
              <a:t>kerja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diode </a:t>
            </a:r>
            <a:r>
              <a:rPr lang="en-US" dirty="0" err="1"/>
              <a:t>jembatan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adalah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</a:t>
            </a:r>
            <a:r>
              <a:rPr lang="en-US" dirty="0" err="1"/>
              <a:t>setengah</a:t>
            </a:r>
            <a:r>
              <a:rPr lang="en-US" dirty="0"/>
              <a:t> </a:t>
            </a:r>
            <a:r>
              <a:rPr lang="en-US" dirty="0" err="1"/>
              <a:t>gelombang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 terminal AC-source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</a:t>
            </a:r>
            <a:r>
              <a:rPr lang="en-US" dirty="0" err="1"/>
              <a:t>positif</a:t>
            </a:r>
            <a:r>
              <a:rPr lang="en-US" dirty="0"/>
              <a:t>,  </a:t>
            </a:r>
          </a:p>
          <a:p>
            <a:r>
              <a:rPr lang="en-US" dirty="0"/>
              <a:t>     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mengalir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beban</a:t>
            </a:r>
            <a:r>
              <a:rPr lang="en-US" dirty="0"/>
              <a:t> (R-load)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D2 (forward bias) dan </a:t>
            </a:r>
            <a:r>
              <a:rPr lang="en-US" dirty="0" err="1"/>
              <a:t>dari</a:t>
            </a:r>
            <a:r>
              <a:rPr lang="en-US" dirty="0"/>
              <a:t> R-</a:t>
            </a:r>
          </a:p>
          <a:p>
            <a:r>
              <a:rPr lang="en-US" dirty="0"/>
              <a:t>      load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dikembalikan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AC-source </a:t>
            </a:r>
            <a:r>
              <a:rPr lang="en-US" dirty="0" err="1"/>
              <a:t>melalui</a:t>
            </a:r>
            <a:r>
              <a:rPr lang="en-US" dirty="0"/>
              <a:t> D3. </a:t>
            </a:r>
          </a:p>
          <a:p>
            <a:pPr marL="285750" indent="-285750">
              <a:buFontTx/>
              <a:buChar char="-"/>
            </a:pPr>
            <a:r>
              <a:rPr lang="en-US" dirty="0"/>
              <a:t>Hal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diperlihatkan</a:t>
            </a:r>
            <a:r>
              <a:rPr lang="en-US" dirty="0"/>
              <a:t> pada </a:t>
            </a:r>
            <a:r>
              <a:rPr lang="en-US" dirty="0" err="1"/>
              <a:t>ilustrasi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dibawah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dirty="0" err="1"/>
              <a:t>dimana</a:t>
            </a:r>
            <a:r>
              <a:rPr lang="en-US" dirty="0"/>
              <a:t> </a:t>
            </a:r>
            <a:r>
              <a:rPr lang="en-US" dirty="0" err="1"/>
              <a:t>jalur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yang   </a:t>
            </a:r>
          </a:p>
          <a:p>
            <a:r>
              <a:rPr lang="en-US" dirty="0"/>
              <a:t>      </a:t>
            </a:r>
            <a:r>
              <a:rPr lang="en-US" dirty="0" err="1"/>
              <a:t>disearahkan</a:t>
            </a:r>
            <a:r>
              <a:rPr lang="en-US" dirty="0"/>
              <a:t> </a:t>
            </a:r>
            <a:r>
              <a:rPr lang="en-US" dirty="0" err="1"/>
              <a:t>diberi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biru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7920C3-5858-44C4-85E8-3CC5C075B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704" y="2368682"/>
            <a:ext cx="6553505" cy="452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196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0945DD-8BAA-42A7-AF30-34D32A08F475}"/>
              </a:ext>
            </a:extLst>
          </p:cNvPr>
          <p:cNvSpPr txBox="1"/>
          <p:nvPr/>
        </p:nvSpPr>
        <p:spPr>
          <a:xfrm>
            <a:off x="1325217" y="474559"/>
            <a:ext cx="85609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Sedangkan</a:t>
            </a:r>
            <a:r>
              <a:rPr lang="en-US" dirty="0"/>
              <a:t> pada </a:t>
            </a:r>
            <a:r>
              <a:rPr lang="en-US" dirty="0" err="1"/>
              <a:t>setengah</a:t>
            </a:r>
            <a:r>
              <a:rPr lang="en-US" dirty="0"/>
              <a:t> </a:t>
            </a:r>
            <a:r>
              <a:rPr lang="en-US" dirty="0" err="1"/>
              <a:t>gelombang</a:t>
            </a:r>
            <a:r>
              <a:rPr lang="en-US" dirty="0"/>
              <a:t> </a:t>
            </a:r>
            <a:r>
              <a:rPr lang="en-US" dirty="0" err="1"/>
              <a:t>kedua</a:t>
            </a:r>
            <a:r>
              <a:rPr lang="en-US" dirty="0"/>
              <a:t>, terminal AC-source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bawah</a:t>
            </a:r>
            <a:r>
              <a:rPr lang="en-US" dirty="0"/>
              <a:t> yang </a:t>
            </a:r>
          </a:p>
          <a:p>
            <a:r>
              <a:rPr lang="en-US" dirty="0"/>
              <a:t>      </a:t>
            </a:r>
            <a:r>
              <a:rPr lang="en-US" dirty="0" err="1"/>
              <a:t>kini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</a:t>
            </a:r>
            <a:r>
              <a:rPr lang="en-US" dirty="0" err="1"/>
              <a:t>positif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yang </a:t>
            </a:r>
            <a:r>
              <a:rPr lang="en-US" dirty="0" err="1"/>
              <a:t>mengalir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beban</a:t>
            </a:r>
            <a:r>
              <a:rPr lang="en-US" dirty="0"/>
              <a:t> (R-load)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D4 </a:t>
            </a:r>
          </a:p>
          <a:p>
            <a:r>
              <a:rPr lang="en-US" dirty="0"/>
              <a:t>      (forward bias) dan </a:t>
            </a:r>
            <a:r>
              <a:rPr lang="en-US" dirty="0" err="1"/>
              <a:t>dari</a:t>
            </a:r>
            <a:r>
              <a:rPr lang="en-US" dirty="0"/>
              <a:t> R-load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dikembalikan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AC-source </a:t>
            </a:r>
            <a:r>
              <a:rPr lang="en-US" dirty="0" err="1"/>
              <a:t>melalui</a:t>
            </a:r>
            <a:r>
              <a:rPr lang="en-US" dirty="0"/>
              <a:t> D1. </a:t>
            </a:r>
          </a:p>
          <a:p>
            <a:r>
              <a:rPr lang="en-US" dirty="0"/>
              <a:t>Hal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diperlihatkan</a:t>
            </a:r>
            <a:r>
              <a:rPr lang="en-US" dirty="0"/>
              <a:t> pada </a:t>
            </a:r>
            <a:r>
              <a:rPr lang="en-US" dirty="0" err="1"/>
              <a:t>ilustrasi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dibawah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dirty="0" err="1"/>
              <a:t>dimana</a:t>
            </a:r>
            <a:r>
              <a:rPr lang="en-US" dirty="0"/>
              <a:t> </a:t>
            </a:r>
            <a:r>
              <a:rPr lang="en-US" dirty="0" err="1"/>
              <a:t>jlaur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yang di </a:t>
            </a:r>
            <a:r>
              <a:rPr lang="en-US" dirty="0" err="1"/>
              <a:t>searahkan</a:t>
            </a:r>
            <a:r>
              <a:rPr lang="en-US" dirty="0"/>
              <a:t> </a:t>
            </a:r>
            <a:r>
              <a:rPr lang="en-US" dirty="0" err="1"/>
              <a:t>diberi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biru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35F075-A7F2-4C14-9023-8D692C345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242" y="2275509"/>
            <a:ext cx="6136123" cy="350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888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B0A1A3-8C6E-4FC9-92D2-75B914E03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612" y="770096"/>
            <a:ext cx="5436775" cy="531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533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552F55-0DEA-448F-8BFE-579ED8311AEF}"/>
              </a:ext>
            </a:extLst>
          </p:cNvPr>
          <p:cNvSpPr txBox="1"/>
          <p:nvPr/>
        </p:nvSpPr>
        <p:spPr>
          <a:xfrm>
            <a:off x="740093" y="489704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PIV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4C3558-9B46-4E7D-B908-06360AB18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045" y="1367571"/>
            <a:ext cx="2731859" cy="28651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1C950C-FE3B-40F1-9C77-1C2D9C493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213" y="4621993"/>
            <a:ext cx="7912418" cy="86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41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2F253-CBF5-F3B4-1CF3-E792061B9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A7B7D-553A-BC3D-DE76-FED7F8F15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0504" y="1214438"/>
            <a:ext cx="9144000" cy="2387600"/>
          </a:xfrm>
        </p:spPr>
        <p:txBody>
          <a:bodyPr>
            <a:normAutofit/>
          </a:bodyPr>
          <a:lstStyle/>
          <a:p>
            <a:r>
              <a:rPr lang="en-US" sz="3200"/>
              <a:t>Penyearah Gelombang Penuh</a:t>
            </a:r>
            <a:br>
              <a:rPr lang="en-US" sz="3200"/>
            </a:br>
            <a:r>
              <a:rPr lang="en-US" sz="3200"/>
              <a:t>(Dengan Center Tap)</a:t>
            </a:r>
            <a:br>
              <a:rPr lang="en-US" sz="3200"/>
            </a:br>
            <a:endParaRPr lang="en-US" sz="2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23FDE7-AE60-4772-98AE-448B1FA2E9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3917"/>
            <a:ext cx="9144000" cy="165576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522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A06D24-E3BA-439B-B21B-03AC41BA74AD}"/>
              </a:ext>
            </a:extLst>
          </p:cNvPr>
          <p:cNvSpPr txBox="1"/>
          <p:nvPr/>
        </p:nvSpPr>
        <p:spPr>
          <a:xfrm>
            <a:off x="1590261" y="933704"/>
            <a:ext cx="879944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2. </a:t>
            </a:r>
            <a:r>
              <a:rPr lang="en-US" sz="2000" dirty="0" err="1"/>
              <a:t>Rangkaian</a:t>
            </a:r>
            <a:r>
              <a:rPr lang="en-US" sz="2000" dirty="0"/>
              <a:t> </a:t>
            </a:r>
            <a:r>
              <a:rPr lang="en-US" sz="2000" dirty="0" err="1"/>
              <a:t>penyearah</a:t>
            </a:r>
            <a:r>
              <a:rPr lang="en-US" sz="2000" dirty="0"/>
              <a:t> </a:t>
            </a:r>
            <a:r>
              <a:rPr lang="en-US" sz="2000" dirty="0" err="1"/>
              <a:t>gelombang</a:t>
            </a:r>
            <a:r>
              <a:rPr lang="en-US" sz="2000" dirty="0"/>
              <a:t> </a:t>
            </a:r>
            <a:r>
              <a:rPr lang="en-US" sz="2000" dirty="0" err="1"/>
              <a:t>penuh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center tap</a:t>
            </a:r>
          </a:p>
          <a:p>
            <a:r>
              <a:rPr lang="en-US" dirty="0"/>
              <a:t>    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penyearah</a:t>
            </a:r>
            <a:r>
              <a:rPr lang="en-US" dirty="0"/>
              <a:t> </a:t>
            </a:r>
            <a:r>
              <a:rPr lang="en-US" dirty="0" err="1"/>
              <a:t>gelombang</a:t>
            </a:r>
            <a:r>
              <a:rPr lang="en-US" dirty="0"/>
              <a:t> </a:t>
            </a:r>
            <a:r>
              <a:rPr lang="en-US" dirty="0" err="1"/>
              <a:t>penuh</a:t>
            </a:r>
            <a:r>
              <a:rPr lang="en-US" dirty="0"/>
              <a:t> yang </a:t>
            </a:r>
            <a:r>
              <a:rPr lang="en-US" dirty="0" err="1"/>
              <a:t>menggunakan</a:t>
            </a:r>
            <a:r>
              <a:rPr lang="en-US" dirty="0"/>
              <a:t> “center tap design”     </a:t>
            </a:r>
          </a:p>
          <a:p>
            <a:r>
              <a:rPr lang="en-US" dirty="0"/>
              <a:t>     </a:t>
            </a:r>
            <a:r>
              <a:rPr lang="en-US" dirty="0" err="1"/>
              <a:t>digunakan</a:t>
            </a:r>
            <a:r>
              <a:rPr lang="en-US" dirty="0"/>
              <a:t> pada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</a:t>
            </a:r>
            <a:r>
              <a:rPr lang="en-US" dirty="0" err="1"/>
              <a:t>bolak-balik</a:t>
            </a:r>
            <a:r>
              <a:rPr lang="en-US" dirty="0"/>
              <a:t>(AC) yang </a:t>
            </a:r>
            <a:r>
              <a:rPr lang="en-US" dirty="0" err="1"/>
              <a:t>memiliki</a:t>
            </a:r>
            <a:r>
              <a:rPr lang="en-US" dirty="0"/>
              <a:t> “Center Tap (CT)” </a:t>
            </a:r>
            <a:r>
              <a:rPr lang="en-US" dirty="0" err="1"/>
              <a:t>contohnya</a:t>
            </a:r>
            <a:r>
              <a:rPr lang="en-US" dirty="0"/>
              <a:t> </a:t>
            </a:r>
          </a:p>
          <a:p>
            <a:r>
              <a:rPr lang="en-US" dirty="0"/>
              <a:t>      pada </a:t>
            </a:r>
            <a:r>
              <a:rPr lang="en-US" dirty="0" err="1"/>
              <a:t>transformator</a:t>
            </a:r>
            <a:r>
              <a:rPr lang="en-US" dirty="0"/>
              <a:t> CT.</a:t>
            </a:r>
          </a:p>
          <a:p>
            <a:r>
              <a:rPr lang="en-US" dirty="0"/>
              <a:t>     Pada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penyearah</a:t>
            </a:r>
            <a:r>
              <a:rPr lang="en-US" dirty="0"/>
              <a:t> </a:t>
            </a:r>
            <a:r>
              <a:rPr lang="en-US" dirty="0" err="1"/>
              <a:t>gelombang</a:t>
            </a:r>
            <a:r>
              <a:rPr lang="en-US" dirty="0"/>
              <a:t> </a:t>
            </a:r>
            <a:r>
              <a:rPr lang="en-US" dirty="0" err="1"/>
              <a:t>penuh</a:t>
            </a:r>
            <a:r>
              <a:rPr lang="en-US" dirty="0"/>
              <a:t> “center tap design”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</a:p>
          <a:p>
            <a:r>
              <a:rPr lang="en-US" dirty="0"/>
              <a:t>     </a:t>
            </a:r>
            <a:r>
              <a:rPr lang="en-US" dirty="0" err="1"/>
              <a:t>dua</a:t>
            </a:r>
            <a:r>
              <a:rPr lang="en-US" dirty="0"/>
              <a:t> diode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penyearahnya</a:t>
            </a:r>
            <a:r>
              <a:rPr lang="en-US" dirty="0"/>
              <a:t>. </a:t>
            </a:r>
          </a:p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penyearah</a:t>
            </a:r>
            <a:r>
              <a:rPr lang="en-US" dirty="0"/>
              <a:t> “center tap design” </a:t>
            </a:r>
            <a:r>
              <a:rPr lang="en-US" dirty="0" err="1"/>
              <a:t>diperlihatkan</a:t>
            </a:r>
            <a:r>
              <a:rPr lang="en-US" dirty="0"/>
              <a:t> pada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B42A09-1DAF-484D-B80E-30147427C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539" y="3580150"/>
            <a:ext cx="2969009" cy="23227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F36A52-E414-420D-AEBE-0E9208138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970" y="3351801"/>
            <a:ext cx="4697681" cy="239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952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3881E5-A8C3-49BB-9877-9D716CC5829F}"/>
              </a:ext>
            </a:extLst>
          </p:cNvPr>
          <p:cNvSpPr txBox="1"/>
          <p:nvPr/>
        </p:nvSpPr>
        <p:spPr>
          <a:xfrm>
            <a:off x="927652" y="708417"/>
            <a:ext cx="9594574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Prinsip</a:t>
            </a:r>
            <a:r>
              <a:rPr lang="en-US" sz="2400" dirty="0"/>
              <a:t> </a:t>
            </a:r>
            <a:r>
              <a:rPr lang="en-US" sz="2400" dirty="0" err="1"/>
              <a:t>kerja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rangkaian</a:t>
            </a:r>
            <a:r>
              <a:rPr lang="en-US" sz="2400" dirty="0"/>
              <a:t> </a:t>
            </a:r>
            <a:r>
              <a:rPr lang="en-US" sz="2400" dirty="0" err="1"/>
              <a:t>penyearah</a:t>
            </a:r>
            <a:r>
              <a:rPr lang="en-US" sz="2400" dirty="0"/>
              <a:t> “center tap design”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</a:p>
          <a:p>
            <a:r>
              <a:rPr lang="en-US" dirty="0"/>
              <a:t>pada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</a:t>
            </a:r>
            <a:r>
              <a:rPr lang="en-US" dirty="0" err="1"/>
              <a:t>setengah</a:t>
            </a:r>
            <a:r>
              <a:rPr lang="en-US" dirty="0"/>
              <a:t> </a:t>
            </a:r>
            <a:r>
              <a:rPr lang="en-US" dirty="0" err="1"/>
              <a:t>gelombang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 pada AC-source 1 </a:t>
            </a:r>
            <a:r>
              <a:rPr lang="en-US" dirty="0" err="1"/>
              <a:t>bernilai</a:t>
            </a:r>
            <a:r>
              <a:rPr lang="en-US" dirty="0"/>
              <a:t> </a:t>
            </a:r>
            <a:r>
              <a:rPr lang="en-US" dirty="0" err="1"/>
              <a:t>positif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mengalir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beban</a:t>
            </a:r>
            <a:r>
              <a:rPr lang="en-US" dirty="0"/>
              <a:t> (R-load) </a:t>
            </a:r>
            <a:r>
              <a:rPr lang="en-US" dirty="0" err="1"/>
              <a:t>melalui</a:t>
            </a:r>
            <a:r>
              <a:rPr lang="en-US" dirty="0"/>
              <a:t> D1 (forward bias). </a:t>
            </a:r>
          </a:p>
          <a:p>
            <a:r>
              <a:rPr lang="en-US" dirty="0" err="1"/>
              <a:t>Sedangkan</a:t>
            </a:r>
            <a:r>
              <a:rPr lang="en-US" dirty="0"/>
              <a:t> pada </a:t>
            </a:r>
            <a:r>
              <a:rPr lang="en-US" dirty="0" err="1"/>
              <a:t>arus</a:t>
            </a:r>
            <a:r>
              <a:rPr lang="en-US" dirty="0"/>
              <a:t> </a:t>
            </a:r>
            <a:r>
              <a:rPr lang="en-US" dirty="0" err="1"/>
              <a:t>setengah</a:t>
            </a:r>
            <a:r>
              <a:rPr lang="en-US" dirty="0"/>
              <a:t> </a:t>
            </a:r>
            <a:r>
              <a:rPr lang="en-US" dirty="0" err="1"/>
              <a:t>gelombang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 pada AC-source 2 </a:t>
            </a:r>
            <a:r>
              <a:rPr lang="en-US" dirty="0" err="1"/>
              <a:t>bernilai</a:t>
            </a:r>
            <a:r>
              <a:rPr lang="en-US" dirty="0"/>
              <a:t> </a:t>
            </a:r>
            <a:r>
              <a:rPr lang="en-US" dirty="0" err="1"/>
              <a:t>negatif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ditahan</a:t>
            </a:r>
            <a:r>
              <a:rPr lang="en-US" dirty="0"/>
              <a:t> (blocking) oleh D2 (reverse bias)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mengalir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beban</a:t>
            </a:r>
            <a:r>
              <a:rPr lang="en-US" dirty="0"/>
              <a:t>, </a:t>
            </a:r>
            <a:r>
              <a:rPr lang="en-US" dirty="0" err="1"/>
              <a:t>hal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diilustrasikan</a:t>
            </a:r>
            <a:r>
              <a:rPr lang="en-US" dirty="0"/>
              <a:t> pada 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AB761B-D8CF-434F-80D1-16CE72D64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835" y="2381249"/>
            <a:ext cx="4594701" cy="358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773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80AA79-BC85-4A1E-8B47-637DA0B58E18}"/>
              </a:ext>
            </a:extLst>
          </p:cNvPr>
          <p:cNvSpPr txBox="1"/>
          <p:nvPr/>
        </p:nvSpPr>
        <p:spPr>
          <a:xfrm>
            <a:off x="940905" y="595125"/>
            <a:ext cx="914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/>
              <a:t>Pada </a:t>
            </a:r>
            <a:r>
              <a:rPr lang="en-US" sz="2000" dirty="0" err="1"/>
              <a:t>arus</a:t>
            </a:r>
            <a:r>
              <a:rPr lang="en-US" sz="2000" dirty="0"/>
              <a:t> </a:t>
            </a:r>
            <a:r>
              <a:rPr lang="en-US" sz="2000" dirty="0" err="1"/>
              <a:t>setengah</a:t>
            </a:r>
            <a:r>
              <a:rPr lang="en-US" sz="2000" dirty="0"/>
              <a:t> </a:t>
            </a:r>
            <a:r>
              <a:rPr lang="en-US" sz="2000" dirty="0" err="1"/>
              <a:t>gelombang</a:t>
            </a:r>
            <a:r>
              <a:rPr lang="en-US" sz="2000" dirty="0"/>
              <a:t> </a:t>
            </a:r>
            <a:r>
              <a:rPr lang="en-US" sz="2000" dirty="0" err="1"/>
              <a:t>kedua</a:t>
            </a:r>
            <a:r>
              <a:rPr lang="en-US" sz="2000" dirty="0"/>
              <a:t> pada AC-source1 </a:t>
            </a:r>
            <a:r>
              <a:rPr lang="en-US" sz="2000" dirty="0" err="1"/>
              <a:t>bernilai</a:t>
            </a:r>
            <a:r>
              <a:rPr lang="en-US" sz="2000" dirty="0"/>
              <a:t> negative </a:t>
            </a:r>
            <a:r>
              <a:rPr lang="en-US" sz="2000" dirty="0" err="1"/>
              <a:t>sehingga</a:t>
            </a:r>
            <a:r>
              <a:rPr lang="en-US" sz="2000" dirty="0"/>
              <a:t> </a:t>
            </a:r>
          </a:p>
          <a:p>
            <a:r>
              <a:rPr lang="en-US" sz="2000" dirty="0"/>
              <a:t>      </a:t>
            </a:r>
            <a:r>
              <a:rPr lang="en-US" sz="2000" dirty="0" err="1"/>
              <a:t>arus</a:t>
            </a:r>
            <a:r>
              <a:rPr lang="en-US" sz="2000" dirty="0"/>
              <a:t> </a:t>
            </a:r>
            <a:r>
              <a:rPr lang="en-US" sz="2000" dirty="0" err="1"/>
              <a:t>ditahan</a:t>
            </a:r>
            <a:r>
              <a:rPr lang="en-US" sz="2000" dirty="0"/>
              <a:t> (blocking) oleh D1 (reverse bias) dan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mengalir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beban</a:t>
            </a:r>
            <a:r>
              <a:rPr lang="en-US" sz="2000" dirty="0"/>
              <a:t>, </a:t>
            </a:r>
          </a:p>
          <a:p>
            <a:r>
              <a:rPr lang="en-US" sz="2000" dirty="0"/>
              <a:t>      </a:t>
            </a:r>
            <a:r>
              <a:rPr lang="en-US" sz="2000" dirty="0" err="1"/>
              <a:t>tetapi</a:t>
            </a:r>
            <a:r>
              <a:rPr lang="en-US" sz="2000" dirty="0"/>
              <a:t> </a:t>
            </a:r>
            <a:r>
              <a:rPr lang="en-US" sz="2000" dirty="0" err="1"/>
              <a:t>sebaliknya</a:t>
            </a:r>
            <a:r>
              <a:rPr lang="en-US" sz="2000" dirty="0"/>
              <a:t> pada </a:t>
            </a:r>
            <a:r>
              <a:rPr lang="en-US" sz="2000" dirty="0" err="1"/>
              <a:t>saat</a:t>
            </a:r>
            <a:r>
              <a:rPr lang="en-US" sz="2000" dirty="0"/>
              <a:t> </a:t>
            </a:r>
            <a:r>
              <a:rPr lang="en-US" sz="2000" dirty="0" err="1"/>
              <a:t>arus</a:t>
            </a:r>
            <a:r>
              <a:rPr lang="en-US" sz="2000" dirty="0"/>
              <a:t> </a:t>
            </a:r>
            <a:r>
              <a:rPr lang="en-US" sz="2000" dirty="0" err="1"/>
              <a:t>setengah</a:t>
            </a:r>
            <a:r>
              <a:rPr lang="en-US" sz="2000" dirty="0"/>
              <a:t> </a:t>
            </a:r>
            <a:r>
              <a:rPr lang="en-US" sz="2000" dirty="0" err="1"/>
              <a:t>gelombang</a:t>
            </a:r>
            <a:r>
              <a:rPr lang="en-US" sz="2000" dirty="0"/>
              <a:t> </a:t>
            </a:r>
            <a:r>
              <a:rPr lang="en-US" sz="2000" dirty="0" err="1"/>
              <a:t>kedua</a:t>
            </a:r>
            <a:r>
              <a:rPr lang="en-US" sz="2000" dirty="0"/>
              <a:t> pada AC-source2 </a:t>
            </a:r>
          </a:p>
          <a:p>
            <a:r>
              <a:rPr lang="en-US" sz="2000" dirty="0"/>
              <a:t>      </a:t>
            </a:r>
            <a:r>
              <a:rPr lang="en-US" sz="2000" dirty="0" err="1"/>
              <a:t>bernilai</a:t>
            </a:r>
            <a:r>
              <a:rPr lang="en-US" sz="2000" dirty="0"/>
              <a:t> </a:t>
            </a:r>
            <a:r>
              <a:rPr lang="en-US" sz="2000" dirty="0" err="1"/>
              <a:t>positif</a:t>
            </a:r>
            <a:r>
              <a:rPr lang="en-US" sz="2000" dirty="0"/>
              <a:t>, </a:t>
            </a:r>
            <a:r>
              <a:rPr lang="en-US" sz="2000" dirty="0" err="1"/>
              <a:t>maka</a:t>
            </a:r>
            <a:r>
              <a:rPr lang="en-US" sz="2000" dirty="0"/>
              <a:t> </a:t>
            </a:r>
            <a:r>
              <a:rPr lang="en-US" sz="2000" dirty="0" err="1"/>
              <a:t>arus</a:t>
            </a:r>
            <a:r>
              <a:rPr lang="en-US" sz="2000" dirty="0"/>
              <a:t>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mengalir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beban</a:t>
            </a:r>
            <a:r>
              <a:rPr lang="en-US" sz="2000" dirty="0"/>
              <a:t> (R-load) </a:t>
            </a:r>
            <a:r>
              <a:rPr lang="en-US" sz="2000" dirty="0" err="1"/>
              <a:t>melalui</a:t>
            </a:r>
            <a:r>
              <a:rPr lang="en-US" sz="2000" dirty="0"/>
              <a:t> D2 (forward </a:t>
            </a:r>
          </a:p>
          <a:p>
            <a:r>
              <a:rPr lang="en-US" sz="2000" dirty="0"/>
              <a:t>      bias). </a:t>
            </a:r>
            <a:r>
              <a:rPr lang="en-US" sz="2000" dirty="0" err="1"/>
              <a:t>Sehingga</a:t>
            </a:r>
            <a:r>
              <a:rPr lang="en-US" sz="2000" dirty="0"/>
              <a:t> </a:t>
            </a:r>
            <a:r>
              <a:rPr lang="en-US" sz="2000" dirty="0" err="1"/>
              <a:t>menghasilkan</a:t>
            </a:r>
            <a:r>
              <a:rPr lang="en-US" sz="2000" dirty="0"/>
              <a:t> </a:t>
            </a:r>
            <a:r>
              <a:rPr lang="en-US" sz="2000" dirty="0" err="1"/>
              <a:t>penyearah</a:t>
            </a:r>
            <a:r>
              <a:rPr lang="en-US" sz="2000" dirty="0"/>
              <a:t> </a:t>
            </a:r>
            <a:r>
              <a:rPr lang="en-US" sz="2000" dirty="0" err="1"/>
              <a:t>gelombang</a:t>
            </a:r>
            <a:r>
              <a:rPr lang="en-US" sz="2000" dirty="0"/>
              <a:t> </a:t>
            </a:r>
            <a:r>
              <a:rPr lang="en-US" sz="2000" dirty="0" err="1"/>
              <a:t>penuh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AC </a:t>
            </a:r>
            <a:r>
              <a:rPr lang="en-US" sz="2000" dirty="0" err="1"/>
              <a:t>ke</a:t>
            </a:r>
            <a:r>
              <a:rPr lang="en-US" sz="2000" dirty="0"/>
              <a:t> DC, </a:t>
            </a:r>
          </a:p>
          <a:p>
            <a:r>
              <a:rPr lang="en-US" sz="2000" dirty="0"/>
              <a:t>      </a:t>
            </a:r>
            <a:r>
              <a:rPr lang="en-US" sz="2000" dirty="0" err="1"/>
              <a:t>seperti</a:t>
            </a:r>
            <a:r>
              <a:rPr lang="en-US" sz="2000" dirty="0"/>
              <a:t> </a:t>
            </a:r>
            <a:r>
              <a:rPr lang="en-US" sz="2000" dirty="0" err="1"/>
              <a:t>diilustrasikan</a:t>
            </a:r>
            <a:r>
              <a:rPr lang="en-US" sz="2000" dirty="0"/>
              <a:t> pada </a:t>
            </a:r>
            <a:r>
              <a:rPr lang="en-US" sz="2000" dirty="0" err="1"/>
              <a:t>gambar</a:t>
            </a:r>
            <a:r>
              <a:rPr lang="en-US" sz="2000" dirty="0"/>
              <a:t> </a:t>
            </a:r>
            <a:r>
              <a:rPr lang="en-US" sz="2000" dirty="0" err="1"/>
              <a:t>berikut</a:t>
            </a:r>
            <a:r>
              <a:rPr lang="en-US" sz="2000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D2E9DB-48A3-4B56-8D5B-07286BC84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674" y="2959526"/>
            <a:ext cx="6710334" cy="272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868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260B09-6EA9-4748-A498-A2A1DE110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416" y="1861929"/>
            <a:ext cx="5368691" cy="17161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435125-E7AF-4314-85CC-FBE329BFD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297" y="1521150"/>
            <a:ext cx="2902226" cy="344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42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FEA11A-C43E-43AC-8B1D-509E3D392404}"/>
              </a:ext>
            </a:extLst>
          </p:cNvPr>
          <p:cNvSpPr txBox="1"/>
          <p:nvPr/>
        </p:nvSpPr>
        <p:spPr>
          <a:xfrm>
            <a:off x="2464903" y="397565"/>
            <a:ext cx="804407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Tegangan</a:t>
            </a:r>
            <a:r>
              <a:rPr lang="en-US" sz="2000" dirty="0"/>
              <a:t> rata-rata DC pada </a:t>
            </a:r>
            <a:r>
              <a:rPr lang="en-US" sz="2000" dirty="0" err="1"/>
              <a:t>penyearah</a:t>
            </a:r>
            <a:r>
              <a:rPr lang="en-US" sz="2000" dirty="0"/>
              <a:t> </a:t>
            </a:r>
            <a:r>
              <a:rPr lang="en-US" sz="2000" dirty="0" err="1"/>
              <a:t>sinyal</a:t>
            </a:r>
            <a:r>
              <a:rPr lang="en-US" sz="2000" dirty="0"/>
              <a:t> </a:t>
            </a:r>
            <a:r>
              <a:rPr lang="en-US" sz="2000" dirty="0" err="1"/>
              <a:t>gelombang</a:t>
            </a:r>
            <a:r>
              <a:rPr lang="en-US" sz="2000" dirty="0"/>
              <a:t> </a:t>
            </a:r>
            <a:r>
              <a:rPr lang="en-US" sz="2000" dirty="0" err="1"/>
              <a:t>penuh</a:t>
            </a:r>
            <a:r>
              <a:rPr lang="en-US" sz="2000" dirty="0"/>
              <a:t>: 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 err="1"/>
              <a:t>Frekuensi</a:t>
            </a:r>
            <a:r>
              <a:rPr lang="en-US" sz="2000" dirty="0"/>
              <a:t> output: 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 err="1"/>
              <a:t>Arus</a:t>
            </a:r>
            <a:r>
              <a:rPr lang="en-US" sz="2000" dirty="0"/>
              <a:t> DC rata-rata yang </a:t>
            </a:r>
            <a:r>
              <a:rPr lang="en-US" sz="2000" dirty="0" err="1"/>
              <a:t>dihasilkan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rangkaian</a:t>
            </a:r>
            <a:r>
              <a:rPr lang="en-US" sz="2000" dirty="0"/>
              <a:t> </a:t>
            </a:r>
            <a:r>
              <a:rPr lang="en-US" sz="2000" dirty="0" err="1"/>
              <a:t>penyearah</a:t>
            </a:r>
            <a:r>
              <a:rPr lang="en-US" sz="2000" dirty="0"/>
              <a:t> </a:t>
            </a:r>
            <a:r>
              <a:rPr lang="en-US" sz="2000" dirty="0" err="1"/>
              <a:t>gelombang</a:t>
            </a:r>
            <a:r>
              <a:rPr lang="en-US" sz="2000" dirty="0"/>
              <a:t> </a:t>
            </a:r>
            <a:r>
              <a:rPr lang="en-US" sz="2000" dirty="0" err="1"/>
              <a:t>penuh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dua</a:t>
            </a:r>
            <a:r>
              <a:rPr lang="en-US" sz="2000" dirty="0"/>
              <a:t> kali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arus</a:t>
            </a:r>
            <a:r>
              <a:rPr lang="en-US" sz="2000" dirty="0"/>
              <a:t> rata-rata yang </a:t>
            </a:r>
            <a:r>
              <a:rPr lang="en-US" sz="2000" dirty="0" err="1"/>
              <a:t>dihasilkan</a:t>
            </a:r>
            <a:r>
              <a:rPr lang="en-US" sz="2000" dirty="0"/>
              <a:t> oleh </a:t>
            </a:r>
            <a:r>
              <a:rPr lang="en-US" sz="2000" dirty="0" err="1"/>
              <a:t>penyearah</a:t>
            </a:r>
            <a:r>
              <a:rPr lang="en-US" sz="2000" dirty="0"/>
              <a:t> </a:t>
            </a:r>
            <a:r>
              <a:rPr lang="en-US" sz="2000" dirty="0" err="1"/>
              <a:t>setengah</a:t>
            </a:r>
            <a:r>
              <a:rPr lang="en-US" sz="2000" dirty="0"/>
              <a:t> </a:t>
            </a:r>
            <a:r>
              <a:rPr lang="en-US" sz="2000" dirty="0" err="1"/>
              <a:t>gelombang</a:t>
            </a:r>
            <a:r>
              <a:rPr lang="en-US" sz="2000" dirty="0"/>
              <a:t> </a:t>
            </a:r>
            <a:r>
              <a:rPr lang="en-US" sz="2000" dirty="0" err="1"/>
              <a:t>yakni</a:t>
            </a:r>
            <a:r>
              <a:rPr lang="en-US" sz="2000" dirty="0"/>
              <a:t>: </a:t>
            </a:r>
          </a:p>
          <a:p>
            <a:r>
              <a:rPr lang="en-US" sz="2000" dirty="0"/>
              <a:t>      I</a:t>
            </a:r>
            <a:r>
              <a:rPr lang="en-US" sz="2000" baseline="-25000" dirty="0"/>
              <a:t>AV</a:t>
            </a:r>
            <a:r>
              <a:rPr lang="en-US" sz="2000" dirty="0"/>
              <a:t>=0,636.Imax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47BE85-F3C6-409F-AA88-F40A0ACE0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490" y="1098131"/>
            <a:ext cx="1213209" cy="6828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68082A-E783-42C6-8EFF-E5F9A4839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445" y="1011586"/>
            <a:ext cx="4782525" cy="8558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338535-8105-4CC8-B7A7-BA9BA54F5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4490" y="2938586"/>
            <a:ext cx="1627773" cy="5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281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74D9F2-A45B-456D-B7C7-4447E919EEDA}"/>
              </a:ext>
            </a:extLst>
          </p:cNvPr>
          <p:cNvSpPr txBox="1"/>
          <p:nvPr/>
        </p:nvSpPr>
        <p:spPr>
          <a:xfrm>
            <a:off x="1391479" y="483130"/>
            <a:ext cx="974034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/>
              <a:t>Lalu </a:t>
            </a:r>
            <a:r>
              <a:rPr lang="en-US" sz="2000" dirty="0" err="1"/>
              <a:t>bagaimana</a:t>
            </a:r>
            <a:r>
              <a:rPr lang="en-US" sz="2000" dirty="0"/>
              <a:t> </a:t>
            </a:r>
            <a:r>
              <a:rPr lang="en-US" sz="2000" dirty="0" err="1"/>
              <a:t>jika</a:t>
            </a:r>
            <a:r>
              <a:rPr lang="en-US" sz="2000" dirty="0"/>
              <a:t> </a:t>
            </a:r>
            <a:r>
              <a:rPr lang="en-US" sz="2000" dirty="0" err="1"/>
              <a:t>sumber</a:t>
            </a:r>
            <a:r>
              <a:rPr lang="en-US" sz="2000" dirty="0"/>
              <a:t> </a:t>
            </a:r>
            <a:r>
              <a:rPr lang="en-US" sz="2000" dirty="0" err="1"/>
              <a:t>arus</a:t>
            </a:r>
            <a:r>
              <a:rPr lang="en-US" sz="2000" dirty="0"/>
              <a:t> </a:t>
            </a:r>
            <a:r>
              <a:rPr lang="en-US" sz="2000" dirty="0" err="1"/>
              <a:t>bolak-balik</a:t>
            </a:r>
            <a:r>
              <a:rPr lang="en-US" sz="2000" dirty="0"/>
              <a:t>(AC) </a:t>
            </a:r>
            <a:r>
              <a:rPr lang="en-US" sz="2000" dirty="0" err="1"/>
              <a:t>dengan</a:t>
            </a:r>
            <a:r>
              <a:rPr lang="en-US" sz="2000" dirty="0"/>
              <a:t> CT di </a:t>
            </a:r>
            <a:r>
              <a:rPr lang="en-US" sz="2000" dirty="0" err="1"/>
              <a:t>searahkan</a:t>
            </a:r>
            <a:r>
              <a:rPr lang="en-US" sz="2000" dirty="0"/>
              <a:t> oleh </a:t>
            </a:r>
            <a:r>
              <a:rPr lang="en-US" sz="2000" dirty="0" err="1"/>
              <a:t>rangkaian</a:t>
            </a:r>
            <a:r>
              <a:rPr lang="en-US" sz="2000" dirty="0"/>
              <a:t> </a:t>
            </a:r>
          </a:p>
          <a:p>
            <a:r>
              <a:rPr lang="en-US" sz="2000" dirty="0"/>
              <a:t>      </a:t>
            </a:r>
            <a:r>
              <a:rPr lang="en-US" sz="2000" dirty="0" err="1"/>
              <a:t>penyearah</a:t>
            </a:r>
            <a:r>
              <a:rPr lang="en-US" sz="2000" dirty="0"/>
              <a:t> diode </a:t>
            </a:r>
            <a:r>
              <a:rPr lang="en-US" sz="2000" dirty="0" err="1"/>
              <a:t>jembatan</a:t>
            </a:r>
            <a:r>
              <a:rPr lang="en-US" sz="2000" dirty="0"/>
              <a:t>??? </a:t>
            </a:r>
          </a:p>
          <a:p>
            <a:r>
              <a:rPr lang="en-US" sz="2000" dirty="0"/>
              <a:t> -    </a:t>
            </a:r>
            <a:r>
              <a:rPr lang="en-US" sz="2000" dirty="0" err="1"/>
              <a:t>Hasilnya</a:t>
            </a:r>
            <a:r>
              <a:rPr lang="en-US" sz="2000" dirty="0"/>
              <a:t>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diperoleh</a:t>
            </a:r>
            <a:r>
              <a:rPr lang="en-US" sz="2000" dirty="0"/>
              <a:t> </a:t>
            </a:r>
            <a:r>
              <a:rPr lang="en-US" sz="2000" dirty="0" err="1"/>
              <a:t>dua</a:t>
            </a:r>
            <a:r>
              <a:rPr lang="en-US" sz="2000" dirty="0"/>
              <a:t> </a:t>
            </a:r>
            <a:r>
              <a:rPr lang="en-US" sz="2000" dirty="0" err="1"/>
              <a:t>arus</a:t>
            </a:r>
            <a:r>
              <a:rPr lang="en-US" sz="2000" dirty="0"/>
              <a:t> </a:t>
            </a:r>
            <a:r>
              <a:rPr lang="en-US" sz="2000" dirty="0" err="1"/>
              <a:t>searah</a:t>
            </a:r>
            <a:r>
              <a:rPr lang="en-US" sz="2000" dirty="0"/>
              <a:t> (DC)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dua</a:t>
            </a:r>
            <a:r>
              <a:rPr lang="en-US" sz="2000" dirty="0"/>
              <a:t> </a:t>
            </a:r>
            <a:r>
              <a:rPr lang="en-US" sz="2000" dirty="0" err="1"/>
              <a:t>polaritas</a:t>
            </a:r>
            <a:r>
              <a:rPr lang="en-US" sz="2000" dirty="0"/>
              <a:t> </a:t>
            </a:r>
            <a:r>
              <a:rPr lang="en-US" sz="2000" dirty="0" err="1"/>
              <a:t>berbeda</a:t>
            </a:r>
            <a:r>
              <a:rPr lang="en-US" sz="2000" dirty="0"/>
              <a:t>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biasa</a:t>
            </a:r>
            <a:r>
              <a:rPr lang="en-US" sz="2000" dirty="0"/>
              <a:t> </a:t>
            </a:r>
          </a:p>
          <a:p>
            <a:r>
              <a:rPr lang="en-US" sz="2000" dirty="0"/>
              <a:t>      </a:t>
            </a:r>
            <a:r>
              <a:rPr lang="en-US" sz="2000" dirty="0" err="1"/>
              <a:t>disebut</a:t>
            </a:r>
            <a:r>
              <a:rPr lang="en-US" sz="2000" dirty="0"/>
              <a:t> </a:t>
            </a:r>
            <a:r>
              <a:rPr lang="en-US" sz="2000" dirty="0" err="1"/>
              <a:t>sebagai</a:t>
            </a:r>
            <a:r>
              <a:rPr lang="en-US" sz="2000" dirty="0"/>
              <a:t> </a:t>
            </a:r>
            <a:r>
              <a:rPr lang="en-US" sz="2000" dirty="0" err="1"/>
              <a:t>penyearah</a:t>
            </a:r>
            <a:r>
              <a:rPr lang="en-US" sz="2000" dirty="0"/>
              <a:t> </a:t>
            </a:r>
            <a:r>
              <a:rPr lang="en-US" sz="2000" dirty="0" err="1"/>
              <a:t>gelombang</a:t>
            </a:r>
            <a:r>
              <a:rPr lang="en-US" sz="2000" dirty="0"/>
              <a:t> </a:t>
            </a:r>
            <a:r>
              <a:rPr lang="en-US" sz="2000" dirty="0" err="1"/>
              <a:t>penuh</a:t>
            </a:r>
            <a:r>
              <a:rPr lang="en-US" sz="2000" dirty="0"/>
              <a:t> </a:t>
            </a:r>
            <a:r>
              <a:rPr lang="en-US" sz="2000" dirty="0" err="1"/>
              <a:t>polaritas</a:t>
            </a:r>
            <a:r>
              <a:rPr lang="en-US" sz="2000" dirty="0"/>
              <a:t> </a:t>
            </a:r>
            <a:r>
              <a:rPr lang="en-US" sz="2000" dirty="0" err="1"/>
              <a:t>ganda</a:t>
            </a:r>
            <a:r>
              <a:rPr lang="en-US" sz="2000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Dari </a:t>
            </a:r>
            <a:r>
              <a:rPr lang="en-US" sz="2000" dirty="0" err="1"/>
              <a:t>rangkaian</a:t>
            </a:r>
            <a:r>
              <a:rPr lang="en-US" sz="2000" dirty="0"/>
              <a:t> </a:t>
            </a:r>
            <a:r>
              <a:rPr lang="en-US" sz="2000" dirty="0" err="1"/>
              <a:t>dibawah</a:t>
            </a:r>
            <a:r>
              <a:rPr lang="en-US" sz="2000" dirty="0"/>
              <a:t>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dihasilkan</a:t>
            </a:r>
            <a:r>
              <a:rPr lang="en-US" sz="2000" dirty="0"/>
              <a:t> </a:t>
            </a:r>
            <a:r>
              <a:rPr lang="en-US" sz="2000" dirty="0" err="1"/>
              <a:t>arus</a:t>
            </a:r>
            <a:r>
              <a:rPr lang="en-US" sz="2000" dirty="0"/>
              <a:t> </a:t>
            </a:r>
            <a:r>
              <a:rPr lang="en-US" sz="2000" dirty="0" err="1"/>
              <a:t>searah</a:t>
            </a:r>
            <a:r>
              <a:rPr lang="en-US" sz="2000" dirty="0"/>
              <a:t> (DC)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dua</a:t>
            </a:r>
            <a:r>
              <a:rPr lang="en-US" sz="2000" dirty="0"/>
              <a:t> </a:t>
            </a:r>
            <a:r>
              <a:rPr lang="en-US" sz="2000" dirty="0" err="1"/>
              <a:t>polaritas</a:t>
            </a:r>
            <a:r>
              <a:rPr lang="en-US" sz="2000" dirty="0"/>
              <a:t> yang </a:t>
            </a:r>
          </a:p>
          <a:p>
            <a:r>
              <a:rPr lang="en-US" sz="2000" dirty="0"/>
              <a:t>      </a:t>
            </a:r>
            <a:r>
              <a:rPr lang="en-US" sz="2000" dirty="0" err="1"/>
              <a:t>berbeda</a:t>
            </a:r>
            <a:r>
              <a:rPr lang="en-US" sz="2000" dirty="0"/>
              <a:t> </a:t>
            </a:r>
            <a:r>
              <a:rPr lang="en-US" sz="2000" dirty="0" err="1"/>
              <a:t>yakni</a:t>
            </a:r>
            <a:r>
              <a:rPr lang="en-US" sz="2000" dirty="0"/>
              <a:t> (+) VDC dan (-)VDC. </a:t>
            </a:r>
          </a:p>
          <a:p>
            <a:r>
              <a:rPr lang="en-US" sz="2000" dirty="0" err="1"/>
              <a:t>Biasanya</a:t>
            </a:r>
            <a:r>
              <a:rPr lang="en-US" sz="2000" dirty="0"/>
              <a:t> </a:t>
            </a:r>
            <a:r>
              <a:rPr lang="en-US" sz="2000" dirty="0" err="1"/>
              <a:t>penyearah</a:t>
            </a:r>
            <a:r>
              <a:rPr lang="en-US" sz="2000" dirty="0"/>
              <a:t> </a:t>
            </a:r>
            <a:r>
              <a:rPr lang="en-US" sz="2000" dirty="0" err="1"/>
              <a:t>jenis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banyak</a:t>
            </a:r>
            <a:r>
              <a:rPr lang="en-US" sz="2000" dirty="0"/>
              <a:t> </a:t>
            </a:r>
            <a:r>
              <a:rPr lang="en-US" sz="2000" dirty="0" err="1"/>
              <a:t>digunakan</a:t>
            </a:r>
            <a:r>
              <a:rPr lang="en-US" sz="2000" dirty="0"/>
              <a:t> pada </a:t>
            </a:r>
            <a:r>
              <a:rPr lang="en-US" sz="2000" dirty="0" err="1"/>
              <a:t>rangkaian</a:t>
            </a:r>
            <a:r>
              <a:rPr lang="en-US" sz="2000" dirty="0"/>
              <a:t> </a:t>
            </a:r>
            <a:r>
              <a:rPr lang="en-US" sz="2000" dirty="0" err="1"/>
              <a:t>catu</a:t>
            </a:r>
            <a:r>
              <a:rPr lang="en-US" sz="2000" dirty="0"/>
              <a:t> </a:t>
            </a:r>
            <a:r>
              <a:rPr lang="en-US" sz="2000" dirty="0" err="1"/>
              <a:t>daya</a:t>
            </a:r>
            <a:r>
              <a:rPr lang="en-US" sz="2000" dirty="0"/>
              <a:t> </a:t>
            </a:r>
            <a:r>
              <a:rPr lang="en-US" sz="2000" dirty="0" err="1"/>
              <a:t>penguat</a:t>
            </a:r>
            <a:r>
              <a:rPr lang="en-US" sz="2000" dirty="0"/>
              <a:t> </a:t>
            </a:r>
            <a:r>
              <a:rPr lang="en-US" sz="2000" dirty="0" err="1"/>
              <a:t>suara</a:t>
            </a:r>
            <a:r>
              <a:rPr lang="en-US" sz="2000" dirty="0"/>
              <a:t> (audio amplifier)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F084BC-44E8-470B-9D9B-D61908868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067" y="3060866"/>
            <a:ext cx="6573446" cy="306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882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5CBE0E-6DCC-49A2-BE2B-FDE8FBEE502F}"/>
              </a:ext>
            </a:extLst>
          </p:cNvPr>
          <p:cNvSpPr txBox="1"/>
          <p:nvPr/>
        </p:nvSpPr>
        <p:spPr>
          <a:xfrm>
            <a:off x="1155247" y="762391"/>
            <a:ext cx="6098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err="1"/>
              <a:t>Penyearah</a:t>
            </a:r>
            <a:r>
              <a:rPr lang="en-US" sz="2400"/>
              <a:t> Dengan Penambahan Filter </a:t>
            </a:r>
            <a:r>
              <a:rPr lang="en-US" sz="2400" dirty="0"/>
              <a:t>RC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831F84-001A-4870-8CC9-D3E2FEA7A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328" y="1404257"/>
            <a:ext cx="8130987" cy="493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266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130F65-7AA1-4AF4-A030-FEEE004AD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85" y="606287"/>
            <a:ext cx="2126543" cy="4406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D63ED1-C385-4CB9-A29D-6E750986A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474" y="1198286"/>
            <a:ext cx="4752474" cy="19159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95431D-DC13-4D4F-8270-8A2928BCCB3A}"/>
              </a:ext>
            </a:extLst>
          </p:cNvPr>
          <p:cNvSpPr txBox="1"/>
          <p:nvPr/>
        </p:nvSpPr>
        <p:spPr>
          <a:xfrm>
            <a:off x="1025474" y="35590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Solution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6E50A3-A7CE-4A0F-804B-0C93644F8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5" y="4141303"/>
            <a:ext cx="6013173" cy="2004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FDD5AA-EF8D-418D-AC1C-069C56C1F6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327" y="1902566"/>
            <a:ext cx="3103032" cy="5074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893373-D125-427A-BB01-60C263B34D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6505" y="2659907"/>
            <a:ext cx="3221318" cy="293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645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DE92D4-A879-4B84-B85C-ABA0DF744D7A}"/>
              </a:ext>
            </a:extLst>
          </p:cNvPr>
          <p:cNvSpPr txBox="1"/>
          <p:nvPr/>
        </p:nvSpPr>
        <p:spPr>
          <a:xfrm>
            <a:off x="4630393" y="2770118"/>
            <a:ext cx="30698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err="1"/>
              <a:t>Terima</a:t>
            </a:r>
            <a:r>
              <a:rPr lang="en-US" sz="4400" dirty="0"/>
              <a:t> Kasih</a:t>
            </a:r>
          </a:p>
        </p:txBody>
      </p:sp>
    </p:spTree>
    <p:extLst>
      <p:ext uri="{BB962C8B-B14F-4D97-AF65-F5344CB8AC3E}">
        <p14:creationId xmlns:p14="http://schemas.microsoft.com/office/powerpoint/2010/main" val="3794393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</TotalTime>
  <Words>596</Words>
  <Application>Microsoft Office PowerPoint</Application>
  <PresentationFormat>Widescreen</PresentationFormat>
  <Paragraphs>64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Penyearah Gelombang Penuh</vt:lpstr>
      <vt:lpstr>Materi</vt:lpstr>
      <vt:lpstr>Penyearah Gelombang Penuh (Dengan Dioda Bridge)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Penyearah Gelombang Penuh (Dengan Center Tap)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Rangkaian Aplikasi Dioda  RANGKAIAN PENYEARAH GELOMBANG (RECTIFIER) &amp; catu daya  21NK1006</dc:title>
  <dc:creator>Ridwan Solihin</dc:creator>
  <cp:lastModifiedBy>erilmozef@yahoo.com</cp:lastModifiedBy>
  <cp:revision>47</cp:revision>
  <dcterms:created xsi:type="dcterms:W3CDTF">2022-02-20T16:12:27Z</dcterms:created>
  <dcterms:modified xsi:type="dcterms:W3CDTF">2025-03-06T22:27:00Z</dcterms:modified>
</cp:coreProperties>
</file>