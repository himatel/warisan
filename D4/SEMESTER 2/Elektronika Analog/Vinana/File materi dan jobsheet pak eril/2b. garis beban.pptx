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7" r:id="rId2"/>
    <p:sldId id="308" r:id="rId3"/>
    <p:sldId id="310" r:id="rId4"/>
    <p:sldId id="311" r:id="rId5"/>
    <p:sldId id="30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94660"/>
  </p:normalViewPr>
  <p:slideViewPr>
    <p:cSldViewPr snapToGrid="0">
      <p:cViewPr varScale="1">
        <p:scale>
          <a:sx n="82" d="100"/>
          <a:sy n="82" d="100"/>
        </p:scale>
        <p:origin x="754" y="62"/>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B4B52-5C2C-4E4A-9BA3-31BF185093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2CD83B-EAFD-442D-9CD6-1E9CFBAC55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A0C395-4F99-4AF1-9945-D5F567E1BE43}"/>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BED6809C-5A6E-4C4A-ADCA-39A0C427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5C22E-4D18-4389-8E3B-DC94B62666C5}"/>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3529544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958A-5C46-4DFD-A085-D654F8FD0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9B6E30-879F-4DB5-8516-A704547D24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A58029-6382-4866-995D-15676E869296}"/>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6D97F827-0EEC-49E2-A67D-9775805BFF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07053-DB99-4273-B43C-5108B4C65079}"/>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146586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47807-9375-414D-B6A7-5E9AD39B5A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938215-5D29-46B5-B4A5-6B44A51B5C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A2008A-A1D5-40A1-84A0-E31674B35C7F}"/>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CA2586E0-E55B-4D22-9744-A377E889EB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97EDF-369E-4534-95CF-5FED32391F11}"/>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410572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045AA-6539-4E17-9FE8-AFD86F009E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CB5CDB-B91C-47C4-A8DB-941482DAE8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66A23F-80A1-4A70-9509-6A49AA3A9A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830578-811E-43A9-82AF-FEF4DC697BFC}"/>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F5A56CC7-71B5-484E-A350-AB4997DD8D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E9A9B4-76C5-412F-8224-54839442620E}"/>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223379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9148E-EBFF-4494-872A-0C122BEC59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8E8140-43BB-485F-BF30-66A98B3505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CBDF9B-B2CE-44AF-BF19-9129D79E4F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9A0C98-274A-4787-8770-24248A2788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8CF06C-4A01-4A3B-8CD4-37AA6CE958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2B2F4F-0D80-4C96-9E79-668370252D1B}"/>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8" name="Footer Placeholder 7">
            <a:extLst>
              <a:ext uri="{FF2B5EF4-FFF2-40B4-BE49-F238E27FC236}">
                <a16:creationId xmlns:a16="http://schemas.microsoft.com/office/drawing/2014/main" id="{164F8BD3-59BE-41F4-8DF8-A6427AC6FA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665495-6148-4108-8B78-BFED911F02BA}"/>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126777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1A376-44BE-4851-9E26-CBC1251383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59DF19-B02E-4100-8A66-1034012B5301}"/>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4" name="Footer Placeholder 3">
            <a:extLst>
              <a:ext uri="{FF2B5EF4-FFF2-40B4-BE49-F238E27FC236}">
                <a16:creationId xmlns:a16="http://schemas.microsoft.com/office/drawing/2014/main" id="{6828C644-C233-40CC-B27E-E7F08F37B1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52E1CF-6173-40C4-BC66-6F4520A8EC63}"/>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733482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46B4B8-DA0D-405B-AFD2-99C9DE2699A2}"/>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3" name="Footer Placeholder 2">
            <a:extLst>
              <a:ext uri="{FF2B5EF4-FFF2-40B4-BE49-F238E27FC236}">
                <a16:creationId xmlns:a16="http://schemas.microsoft.com/office/drawing/2014/main" id="{8EB85ADD-13EA-4B23-88FA-EA2EFA8076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A53C91-08AF-425C-87FE-4CC9E91A0722}"/>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512226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618B-5010-4DA2-B8D7-1683A0C10C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15114F-79DB-424D-A429-BD9DAE2D53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A96EFF-AAB0-4534-B5A5-6AB1387727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2DD9F0-8E72-4884-BC50-FD86EB4D3B44}"/>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54260019-CF44-4973-8A00-706A2F5F6A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678B2B-AA64-4DBA-8FFF-5C521B85A499}"/>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89619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D340-ECD1-480E-851E-6E3212403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AC7BE8-70DE-45B0-97AC-1090FF3126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5054DF-FB9B-40B3-9C4D-B6DEDBAD4A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463F8-3CC1-4369-AE9D-C86B3200AC5F}"/>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EBDCD53E-BE2E-45B1-B813-85102D145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C28446-824F-462A-8FC4-DF32EA195413}"/>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883409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6DAE2-3A46-4A4A-9322-411C1D74D5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D1826C-DE02-4830-ADD0-1A361F1F2D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4749FE-8588-491D-92A1-814105E8C186}"/>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0A96B224-619C-4698-9B69-5E9873320B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AE8E04-5B72-459D-9D44-C9F3F598705D}"/>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580592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E9C31D-6FC8-4834-8339-B8998A48E0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093C30-D4DE-4ABA-B563-E17612DB98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361484-78ED-4854-B178-6A60A9F14865}"/>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55AAB9A1-7CF4-4F8A-9FB7-8C0A0F485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4AD03C-E47B-4BCA-BF98-E5FD985E556A}"/>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3948708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069FB-B69B-4A51-B128-2675B14ED8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1C5897-C35A-4282-9D4D-45F3A7F95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8EEE5F-BC92-46F3-8CA3-4E0FF30B8D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6FCEF1A7-4882-4B44-9EA0-9AA2E88D30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794C30-63BA-479D-B8C0-2B566B48FA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9BA18-C6F7-4175-9511-36D7374547EB}" type="slidenum">
              <a:rPr lang="en-US" smtClean="0"/>
              <a:t>‹#›</a:t>
            </a:fld>
            <a:endParaRPr lang="en-US"/>
          </a:p>
        </p:txBody>
      </p:sp>
    </p:spTree>
    <p:extLst>
      <p:ext uri="{BB962C8B-B14F-4D97-AF65-F5344CB8AC3E}">
        <p14:creationId xmlns:p14="http://schemas.microsoft.com/office/powerpoint/2010/main" val="1252115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Apa yang dimaksud dengan Garis Beban (Load Line)?</a:t>
            </a:r>
          </a:p>
        </p:txBody>
      </p:sp>
      <p:sp>
        <p:nvSpPr>
          <p:cNvPr id="3" name="Content Placeholder 2"/>
          <p:cNvSpPr>
            <a:spLocks noGrp="1"/>
          </p:cNvSpPr>
          <p:nvPr>
            <p:ph idx="1"/>
          </p:nvPr>
        </p:nvSpPr>
        <p:spPr>
          <a:xfrm>
            <a:off x="838199" y="1825625"/>
            <a:ext cx="6093823" cy="4351338"/>
          </a:xfrm>
        </p:spPr>
        <p:txBody>
          <a:bodyPr>
            <a:normAutofit fontScale="62500" lnSpcReduction="20000"/>
          </a:bodyPr>
          <a:lstStyle/>
          <a:p>
            <a:r>
              <a:rPr lang="en-US"/>
              <a:t>Garis beban (load line) adalah garis yang memotong sumbu Vce dan Ic pada grafik Ic-Vce. </a:t>
            </a:r>
          </a:p>
          <a:p>
            <a:r>
              <a:rPr lang="en-US"/>
              <a:t>Garis beban ditentukan oleh perancang berdasarkan perubahan Vce dan Ic yang diinginkan dikaitkan dengan perubahan Ib yang diakibatkan oleh sinyal AC input yang masuk ke basis pada suatu aplikasi misalnya penguat suara (amplifier).</a:t>
            </a:r>
          </a:p>
          <a:p>
            <a:r>
              <a:rPr lang="en-US"/>
              <a:t>Garis beban menunjukkan hubungan antara tegangan kolektor-emitor (Vce) dan arus kolektor (Ic) yang mungkin dalam rangkaian, dengan mempertimbangkan resistansi (impedansi) beban (load) yang terhubung ke transistor. Garis beban biasanya ditentukan oleh resistansi (impedansi) beban dan tegangan sumber daya (supply voltage) dalam rangkaian. </a:t>
            </a:r>
          </a:p>
          <a:p>
            <a:r>
              <a:rPr lang="en-US"/>
              <a:t>Analisis garis beban (Load Line Analysis) membantu dalam merancang dan memahami kinerja transistor dalam sebuah rangkaian, serta dalam memastikan bahwa transistor beroperasi dengan efisien dan sesuai dengan kebutuhan aplikasi.</a:t>
            </a:r>
          </a:p>
          <a:p>
            <a:endParaRPr lang="en-US"/>
          </a:p>
        </p:txBody>
      </p:sp>
      <p:pic>
        <p:nvPicPr>
          <p:cNvPr id="9" name="Picture 8"/>
          <p:cNvPicPr>
            <a:picLocks noChangeAspect="1"/>
          </p:cNvPicPr>
          <p:nvPr/>
        </p:nvPicPr>
        <p:blipFill>
          <a:blip r:embed="rId2"/>
          <a:stretch>
            <a:fillRect/>
          </a:stretch>
        </p:blipFill>
        <p:spPr>
          <a:xfrm>
            <a:off x="6828680" y="1767976"/>
            <a:ext cx="5126012" cy="3988705"/>
          </a:xfrm>
          <a:prstGeom prst="rect">
            <a:avLst/>
          </a:prstGeom>
        </p:spPr>
      </p:pic>
      <p:cxnSp>
        <p:nvCxnSpPr>
          <p:cNvPr id="10" name="Straight Connector 9"/>
          <p:cNvCxnSpPr/>
          <p:nvPr/>
        </p:nvCxnSpPr>
        <p:spPr>
          <a:xfrm>
            <a:off x="8166463" y="4054202"/>
            <a:ext cx="1538770" cy="11487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0643114" y="2590651"/>
            <a:ext cx="1311578" cy="369332"/>
          </a:xfrm>
          <a:prstGeom prst="rect">
            <a:avLst/>
          </a:prstGeom>
          <a:noFill/>
        </p:spPr>
        <p:txBody>
          <a:bodyPr wrap="none" rtlCol="0">
            <a:spAutoFit/>
          </a:bodyPr>
          <a:lstStyle/>
          <a:p>
            <a:r>
              <a:rPr lang="en-US">
                <a:solidFill>
                  <a:srgbClr val="FF0000"/>
                </a:solidFill>
              </a:rPr>
              <a:t>Garis Beban</a:t>
            </a:r>
          </a:p>
        </p:txBody>
      </p:sp>
      <p:cxnSp>
        <p:nvCxnSpPr>
          <p:cNvPr id="12" name="Straight Arrow Connector 11"/>
          <p:cNvCxnSpPr/>
          <p:nvPr/>
        </p:nvCxnSpPr>
        <p:spPr>
          <a:xfrm flipH="1">
            <a:off x="9072154" y="2959983"/>
            <a:ext cx="1663337" cy="16686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825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Contoh Membuat Garis Beban</a:t>
            </a:r>
          </a:p>
        </p:txBody>
      </p:sp>
      <p:sp>
        <p:nvSpPr>
          <p:cNvPr id="3" name="Content Placeholder 2"/>
          <p:cNvSpPr>
            <a:spLocks noGrp="1"/>
          </p:cNvSpPr>
          <p:nvPr>
            <p:ph idx="1"/>
          </p:nvPr>
        </p:nvSpPr>
        <p:spPr>
          <a:xfrm>
            <a:off x="838200" y="1825625"/>
            <a:ext cx="5484223" cy="4531632"/>
          </a:xfrm>
        </p:spPr>
        <p:txBody>
          <a:bodyPr>
            <a:normAutofit/>
          </a:bodyPr>
          <a:lstStyle/>
          <a:p>
            <a:r>
              <a:rPr lang="en-US"/>
              <a:t>Diketahui sebuah rangkaian DC Bias transistor berikut Grafik Karakteristik Outputnya (kanan)</a:t>
            </a:r>
          </a:p>
          <a:p>
            <a:r>
              <a:rPr lang="en-US"/>
              <a:t>Buatlah garis bebannya.</a:t>
            </a:r>
          </a:p>
          <a:p>
            <a:endParaRPr lang="en-US"/>
          </a:p>
          <a:p>
            <a:endParaRPr lang="en-US"/>
          </a:p>
        </p:txBody>
      </p:sp>
      <p:pic>
        <p:nvPicPr>
          <p:cNvPr id="5" name="Picture 4"/>
          <p:cNvPicPr>
            <a:picLocks noChangeAspect="1"/>
          </p:cNvPicPr>
          <p:nvPr/>
        </p:nvPicPr>
        <p:blipFill>
          <a:blip r:embed="rId2"/>
          <a:stretch>
            <a:fillRect/>
          </a:stretch>
        </p:blipFill>
        <p:spPr>
          <a:xfrm>
            <a:off x="6563380" y="3168258"/>
            <a:ext cx="4272571" cy="3324617"/>
          </a:xfrm>
          <a:prstGeom prst="rect">
            <a:avLst/>
          </a:prstGeom>
        </p:spPr>
      </p:pic>
      <p:sp>
        <p:nvSpPr>
          <p:cNvPr id="9" name="TextBox 8"/>
          <p:cNvSpPr txBox="1"/>
          <p:nvPr/>
        </p:nvSpPr>
        <p:spPr>
          <a:xfrm>
            <a:off x="9919063" y="5674416"/>
            <a:ext cx="769763" cy="369332"/>
          </a:xfrm>
          <a:prstGeom prst="rect">
            <a:avLst/>
          </a:prstGeom>
          <a:noFill/>
        </p:spPr>
        <p:txBody>
          <a:bodyPr wrap="none" rtlCol="0">
            <a:spAutoFit/>
          </a:bodyPr>
          <a:lstStyle/>
          <a:p>
            <a:r>
              <a:rPr lang="en-US"/>
              <a:t>Titik A</a:t>
            </a:r>
          </a:p>
        </p:txBody>
      </p:sp>
      <p:grpSp>
        <p:nvGrpSpPr>
          <p:cNvPr id="15" name="Group 14">
            <a:extLst>
              <a:ext uri="{FF2B5EF4-FFF2-40B4-BE49-F238E27FC236}">
                <a16:creationId xmlns:a16="http://schemas.microsoft.com/office/drawing/2014/main" id="{0546E417-2C52-6F85-C785-80D5D1E16F7C}"/>
              </a:ext>
            </a:extLst>
          </p:cNvPr>
          <p:cNvGrpSpPr/>
          <p:nvPr/>
        </p:nvGrpSpPr>
        <p:grpSpPr>
          <a:xfrm>
            <a:off x="1950098" y="3701938"/>
            <a:ext cx="4613282" cy="2857482"/>
            <a:chOff x="7700556" y="587252"/>
            <a:chExt cx="3947272" cy="2341810"/>
          </a:xfrm>
        </p:grpSpPr>
        <p:pic>
          <p:nvPicPr>
            <p:cNvPr id="4" name="Picture 3">
              <a:extLst>
                <a:ext uri="{FF2B5EF4-FFF2-40B4-BE49-F238E27FC236}">
                  <a16:creationId xmlns:a16="http://schemas.microsoft.com/office/drawing/2014/main" id="{3CC755A7-4A2D-4E36-8F0E-881896A572D3}"/>
                </a:ext>
              </a:extLst>
            </p:cNvPr>
            <p:cNvPicPr>
              <a:picLocks noChangeAspect="1"/>
            </p:cNvPicPr>
            <p:nvPr/>
          </p:nvPicPr>
          <p:blipFill>
            <a:blip r:embed="rId3"/>
            <a:stretch>
              <a:fillRect/>
            </a:stretch>
          </p:blipFill>
          <p:spPr>
            <a:xfrm>
              <a:off x="7700556" y="587252"/>
              <a:ext cx="3382614" cy="2341810"/>
            </a:xfrm>
            <a:prstGeom prst="rect">
              <a:avLst/>
            </a:prstGeom>
          </p:spPr>
        </p:pic>
        <p:sp>
          <p:nvSpPr>
            <p:cNvPr id="10" name="Rectangle 9">
              <a:extLst>
                <a:ext uri="{FF2B5EF4-FFF2-40B4-BE49-F238E27FC236}">
                  <a16:creationId xmlns:a16="http://schemas.microsoft.com/office/drawing/2014/main" id="{90DB404F-60C4-6D28-E041-2AA897A9AF13}"/>
                </a:ext>
              </a:extLst>
            </p:cNvPr>
            <p:cNvSpPr/>
            <p:nvPr/>
          </p:nvSpPr>
          <p:spPr>
            <a:xfrm>
              <a:off x="7700556" y="1912776"/>
              <a:ext cx="976913" cy="5535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Rectangle 13">
              <a:extLst>
                <a:ext uri="{FF2B5EF4-FFF2-40B4-BE49-F238E27FC236}">
                  <a16:creationId xmlns:a16="http://schemas.microsoft.com/office/drawing/2014/main" id="{D1235487-4A55-7A09-9256-0C66859B3479}"/>
                </a:ext>
              </a:extLst>
            </p:cNvPr>
            <p:cNvSpPr/>
            <p:nvPr/>
          </p:nvSpPr>
          <p:spPr>
            <a:xfrm>
              <a:off x="9919064" y="1520891"/>
              <a:ext cx="1728764" cy="4868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Tree>
    <p:extLst>
      <p:ext uri="{BB962C8B-B14F-4D97-AF65-F5344CB8AC3E}">
        <p14:creationId xmlns:p14="http://schemas.microsoft.com/office/powerpoint/2010/main" val="2255149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12823-D97A-1A63-63A2-9E1B92947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D3063F-1AA2-3F2F-052E-A1ADEA7B5212}"/>
              </a:ext>
            </a:extLst>
          </p:cNvPr>
          <p:cNvSpPr>
            <a:spLocks noGrp="1"/>
          </p:cNvSpPr>
          <p:nvPr>
            <p:ph type="title"/>
          </p:nvPr>
        </p:nvSpPr>
        <p:spPr/>
        <p:txBody>
          <a:bodyPr/>
          <a:lstStyle/>
          <a:p>
            <a:r>
              <a:rPr lang="en-US"/>
              <a:t>Jawaban</a:t>
            </a:r>
          </a:p>
        </p:txBody>
      </p:sp>
      <p:sp>
        <p:nvSpPr>
          <p:cNvPr id="3" name="Content Placeholder 2">
            <a:extLst>
              <a:ext uri="{FF2B5EF4-FFF2-40B4-BE49-F238E27FC236}">
                <a16:creationId xmlns:a16="http://schemas.microsoft.com/office/drawing/2014/main" id="{00D7F618-6021-88F2-0338-2C89A6564DF1}"/>
              </a:ext>
            </a:extLst>
          </p:cNvPr>
          <p:cNvSpPr>
            <a:spLocks noGrp="1"/>
          </p:cNvSpPr>
          <p:nvPr>
            <p:ph idx="1"/>
          </p:nvPr>
        </p:nvSpPr>
        <p:spPr>
          <a:xfrm>
            <a:off x="838200" y="1825625"/>
            <a:ext cx="5484223" cy="4531632"/>
          </a:xfrm>
        </p:spPr>
        <p:txBody>
          <a:bodyPr>
            <a:normAutofit lnSpcReduction="10000"/>
          </a:bodyPr>
          <a:lstStyle/>
          <a:p>
            <a:pPr marL="0" indent="0">
              <a:buNone/>
            </a:pPr>
            <a:r>
              <a:rPr lang="en-US"/>
              <a:t>1. Cari Vce ketika Ic=0</a:t>
            </a:r>
          </a:p>
          <a:p>
            <a:pPr>
              <a:buFont typeface="Wingdings" panose="05000000000000000000" pitchFamily="2" charset="2"/>
              <a:buChar char="è"/>
            </a:pPr>
            <a:r>
              <a:rPr lang="en-US"/>
              <a:t>Ketika Ic=0 maka Vce = Vcc = 12V</a:t>
            </a:r>
          </a:p>
          <a:p>
            <a:pPr>
              <a:buFont typeface="Wingdings" panose="05000000000000000000" pitchFamily="2" charset="2"/>
              <a:buChar char="è"/>
            </a:pPr>
            <a:r>
              <a:rPr lang="en-US"/>
              <a:t>Tandai titik A pada koordinat (12, 0)</a:t>
            </a:r>
          </a:p>
          <a:p>
            <a:pPr marL="0" indent="0">
              <a:buNone/>
            </a:pPr>
            <a:r>
              <a:rPr lang="en-US"/>
              <a:t>2. Cari Ic ketika Vce = 0</a:t>
            </a:r>
          </a:p>
          <a:p>
            <a:pPr>
              <a:buFont typeface="Wingdings" panose="05000000000000000000" pitchFamily="2" charset="2"/>
              <a:buChar char="è"/>
            </a:pPr>
            <a:r>
              <a:rPr lang="en-US">
                <a:sym typeface="Wingdings" panose="05000000000000000000" pitchFamily="2" charset="2"/>
              </a:rPr>
              <a:t>Ketika Vce = 0 maka Ic=Vcc/Rc = 12V/2,2KOhm = 0,0055A = 5,5mA</a:t>
            </a:r>
          </a:p>
          <a:p>
            <a:pPr>
              <a:buFont typeface="Wingdings" panose="05000000000000000000" pitchFamily="2" charset="2"/>
              <a:buChar char="è"/>
            </a:pPr>
            <a:r>
              <a:rPr lang="en-US"/>
              <a:t>Tandai titik B pada koordinat (0, 5,5)</a:t>
            </a:r>
            <a:endParaRPr lang="en-US">
              <a:sym typeface="Wingdings" panose="05000000000000000000" pitchFamily="2" charset="2"/>
            </a:endParaRPr>
          </a:p>
          <a:p>
            <a:pPr marL="0" indent="0">
              <a:buNone/>
            </a:pPr>
            <a:r>
              <a:rPr lang="en-US">
                <a:sym typeface="Wingdings" panose="05000000000000000000" pitchFamily="2" charset="2"/>
              </a:rPr>
              <a:t>3. Tarik Garis antara titik A dan B</a:t>
            </a:r>
            <a:endParaRPr lang="en-US"/>
          </a:p>
          <a:p>
            <a:endParaRPr lang="en-US"/>
          </a:p>
        </p:txBody>
      </p:sp>
      <p:pic>
        <p:nvPicPr>
          <p:cNvPr id="5" name="Picture 4">
            <a:extLst>
              <a:ext uri="{FF2B5EF4-FFF2-40B4-BE49-F238E27FC236}">
                <a16:creationId xmlns:a16="http://schemas.microsoft.com/office/drawing/2014/main" id="{BFE02F07-54AB-C570-1CC0-A3EB27A97EFC}"/>
              </a:ext>
            </a:extLst>
          </p:cNvPr>
          <p:cNvPicPr>
            <a:picLocks noChangeAspect="1"/>
          </p:cNvPicPr>
          <p:nvPr/>
        </p:nvPicPr>
        <p:blipFill>
          <a:blip r:embed="rId2"/>
          <a:stretch>
            <a:fillRect/>
          </a:stretch>
        </p:blipFill>
        <p:spPr>
          <a:xfrm>
            <a:off x="7179200" y="3151189"/>
            <a:ext cx="4272571" cy="3324617"/>
          </a:xfrm>
          <a:prstGeom prst="rect">
            <a:avLst/>
          </a:prstGeom>
        </p:spPr>
      </p:pic>
      <p:sp>
        <p:nvSpPr>
          <p:cNvPr id="6" name="Oval 5">
            <a:extLst>
              <a:ext uri="{FF2B5EF4-FFF2-40B4-BE49-F238E27FC236}">
                <a16:creationId xmlns:a16="http://schemas.microsoft.com/office/drawing/2014/main" id="{C0DEDE8B-E3AB-9B75-1AD4-967148BDE537}"/>
              </a:ext>
            </a:extLst>
          </p:cNvPr>
          <p:cNvSpPr/>
          <p:nvPr/>
        </p:nvSpPr>
        <p:spPr>
          <a:xfrm>
            <a:off x="9797143" y="5991497"/>
            <a:ext cx="121920" cy="104503"/>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B5DA31F-87EB-0C1D-BC0C-5860E3A9A365}"/>
              </a:ext>
            </a:extLst>
          </p:cNvPr>
          <p:cNvSpPr/>
          <p:nvPr/>
        </p:nvSpPr>
        <p:spPr>
          <a:xfrm>
            <a:off x="8233955" y="4193177"/>
            <a:ext cx="121920" cy="104503"/>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8EE37FC3-E93B-3BBA-7E79-7BE6186395FD}"/>
              </a:ext>
            </a:extLst>
          </p:cNvPr>
          <p:cNvCxnSpPr>
            <a:stCxn id="7" idx="1"/>
            <a:endCxn id="6" idx="5"/>
          </p:cNvCxnSpPr>
          <p:nvPr/>
        </p:nvCxnSpPr>
        <p:spPr>
          <a:xfrm>
            <a:off x="8251810" y="4208481"/>
            <a:ext cx="1649398" cy="187221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5632B92-406B-ED3E-778D-2FF39C0248B0}"/>
              </a:ext>
            </a:extLst>
          </p:cNvPr>
          <p:cNvSpPr txBox="1"/>
          <p:nvPr/>
        </p:nvSpPr>
        <p:spPr>
          <a:xfrm>
            <a:off x="6565942" y="5144588"/>
            <a:ext cx="1369674" cy="646331"/>
          </a:xfrm>
          <a:prstGeom prst="rect">
            <a:avLst/>
          </a:prstGeom>
          <a:noFill/>
        </p:spPr>
        <p:txBody>
          <a:bodyPr wrap="square" rtlCol="0">
            <a:spAutoFit/>
          </a:bodyPr>
          <a:lstStyle/>
          <a:p>
            <a:r>
              <a:rPr lang="en-US">
                <a:solidFill>
                  <a:srgbClr val="FF0000"/>
                </a:solidFill>
              </a:rPr>
              <a:t>Garis Beban yang dicari</a:t>
            </a:r>
          </a:p>
        </p:txBody>
      </p:sp>
      <p:cxnSp>
        <p:nvCxnSpPr>
          <p:cNvPr id="12" name="Straight Arrow Connector 11">
            <a:extLst>
              <a:ext uri="{FF2B5EF4-FFF2-40B4-BE49-F238E27FC236}">
                <a16:creationId xmlns:a16="http://schemas.microsoft.com/office/drawing/2014/main" id="{227B6B65-F9DA-F546-C2AA-C7CE927FB628}"/>
              </a:ext>
            </a:extLst>
          </p:cNvPr>
          <p:cNvCxnSpPr/>
          <p:nvPr/>
        </p:nvCxnSpPr>
        <p:spPr>
          <a:xfrm flipV="1">
            <a:off x="7811589" y="5138057"/>
            <a:ext cx="1193074" cy="3222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9B350CF-9916-3330-C987-4127B42D33F1}"/>
              </a:ext>
            </a:extLst>
          </p:cNvPr>
          <p:cNvSpPr txBox="1"/>
          <p:nvPr/>
        </p:nvSpPr>
        <p:spPr>
          <a:xfrm>
            <a:off x="9919063" y="5674416"/>
            <a:ext cx="769763" cy="369332"/>
          </a:xfrm>
          <a:prstGeom prst="rect">
            <a:avLst/>
          </a:prstGeom>
          <a:noFill/>
        </p:spPr>
        <p:txBody>
          <a:bodyPr wrap="none" rtlCol="0">
            <a:spAutoFit/>
          </a:bodyPr>
          <a:lstStyle/>
          <a:p>
            <a:r>
              <a:rPr lang="en-US"/>
              <a:t>Titik A</a:t>
            </a:r>
          </a:p>
        </p:txBody>
      </p:sp>
      <p:sp>
        <p:nvSpPr>
          <p:cNvPr id="13" name="TextBox 12">
            <a:extLst>
              <a:ext uri="{FF2B5EF4-FFF2-40B4-BE49-F238E27FC236}">
                <a16:creationId xmlns:a16="http://schemas.microsoft.com/office/drawing/2014/main" id="{64A446AD-F096-BAB3-65AE-850B50A9D90E}"/>
              </a:ext>
            </a:extLst>
          </p:cNvPr>
          <p:cNvSpPr txBox="1"/>
          <p:nvPr/>
        </p:nvSpPr>
        <p:spPr>
          <a:xfrm>
            <a:off x="8277747" y="3959957"/>
            <a:ext cx="761747" cy="369332"/>
          </a:xfrm>
          <a:prstGeom prst="rect">
            <a:avLst/>
          </a:prstGeom>
          <a:noFill/>
        </p:spPr>
        <p:txBody>
          <a:bodyPr wrap="none" rtlCol="0">
            <a:spAutoFit/>
          </a:bodyPr>
          <a:lstStyle/>
          <a:p>
            <a:r>
              <a:rPr lang="en-US"/>
              <a:t>Titik B</a:t>
            </a:r>
          </a:p>
        </p:txBody>
      </p:sp>
    </p:spTree>
    <p:extLst>
      <p:ext uri="{BB962C8B-B14F-4D97-AF65-F5344CB8AC3E}">
        <p14:creationId xmlns:p14="http://schemas.microsoft.com/office/powerpoint/2010/main" val="3009328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00E19-5D1E-A157-E5C2-B951CC7F9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92A5A-A6FC-66FC-82A7-CD664BBA3E1C}"/>
              </a:ext>
            </a:extLst>
          </p:cNvPr>
          <p:cNvSpPr>
            <a:spLocks noGrp="1"/>
          </p:cNvSpPr>
          <p:nvPr>
            <p:ph type="title"/>
          </p:nvPr>
        </p:nvSpPr>
        <p:spPr/>
        <p:txBody>
          <a:bodyPr/>
          <a:lstStyle/>
          <a:p>
            <a:r>
              <a:rPr lang="en-US"/>
              <a:t>Latihan Membuat Garis Beban</a:t>
            </a:r>
          </a:p>
        </p:txBody>
      </p:sp>
      <p:sp>
        <p:nvSpPr>
          <p:cNvPr id="3" name="Content Placeholder 2">
            <a:extLst>
              <a:ext uri="{FF2B5EF4-FFF2-40B4-BE49-F238E27FC236}">
                <a16:creationId xmlns:a16="http://schemas.microsoft.com/office/drawing/2014/main" id="{902DC4FF-5406-553C-0E7C-08F653613FAD}"/>
              </a:ext>
            </a:extLst>
          </p:cNvPr>
          <p:cNvSpPr>
            <a:spLocks noGrp="1"/>
          </p:cNvSpPr>
          <p:nvPr>
            <p:ph idx="1"/>
          </p:nvPr>
        </p:nvSpPr>
        <p:spPr>
          <a:xfrm>
            <a:off x="838200" y="1588071"/>
            <a:ext cx="5484223" cy="1682805"/>
          </a:xfrm>
        </p:spPr>
        <p:txBody>
          <a:bodyPr>
            <a:normAutofit lnSpcReduction="10000"/>
          </a:bodyPr>
          <a:lstStyle/>
          <a:p>
            <a:r>
              <a:rPr lang="en-US"/>
              <a:t>Diketahui sebuah rangkaian DC Bias transistor berikut Grafik Karakteristik Outputnya (kanan)</a:t>
            </a:r>
          </a:p>
          <a:p>
            <a:r>
              <a:rPr lang="en-US"/>
              <a:t>Buatlah garis bebannya.</a:t>
            </a:r>
          </a:p>
          <a:p>
            <a:endParaRPr lang="en-US"/>
          </a:p>
          <a:p>
            <a:endParaRPr lang="en-US"/>
          </a:p>
        </p:txBody>
      </p:sp>
      <p:pic>
        <p:nvPicPr>
          <p:cNvPr id="5" name="Picture 4">
            <a:extLst>
              <a:ext uri="{FF2B5EF4-FFF2-40B4-BE49-F238E27FC236}">
                <a16:creationId xmlns:a16="http://schemas.microsoft.com/office/drawing/2014/main" id="{6BA971B8-0E7D-B32A-C6E8-0C64AF9F33EA}"/>
              </a:ext>
            </a:extLst>
          </p:cNvPr>
          <p:cNvPicPr>
            <a:picLocks noChangeAspect="1"/>
          </p:cNvPicPr>
          <p:nvPr/>
        </p:nvPicPr>
        <p:blipFill>
          <a:blip r:embed="rId2"/>
          <a:stretch>
            <a:fillRect/>
          </a:stretch>
        </p:blipFill>
        <p:spPr>
          <a:xfrm>
            <a:off x="6563380" y="3168258"/>
            <a:ext cx="4272571" cy="3324617"/>
          </a:xfrm>
          <a:prstGeom prst="rect">
            <a:avLst/>
          </a:prstGeom>
        </p:spPr>
      </p:pic>
      <p:sp>
        <p:nvSpPr>
          <p:cNvPr id="9" name="TextBox 8">
            <a:extLst>
              <a:ext uri="{FF2B5EF4-FFF2-40B4-BE49-F238E27FC236}">
                <a16:creationId xmlns:a16="http://schemas.microsoft.com/office/drawing/2014/main" id="{81184A5F-45A6-EE83-8380-EEDCB27EC9B1}"/>
              </a:ext>
            </a:extLst>
          </p:cNvPr>
          <p:cNvSpPr txBox="1"/>
          <p:nvPr/>
        </p:nvSpPr>
        <p:spPr>
          <a:xfrm>
            <a:off x="9919063" y="5674416"/>
            <a:ext cx="769763" cy="369332"/>
          </a:xfrm>
          <a:prstGeom prst="rect">
            <a:avLst/>
          </a:prstGeom>
          <a:noFill/>
        </p:spPr>
        <p:txBody>
          <a:bodyPr wrap="none" rtlCol="0">
            <a:spAutoFit/>
          </a:bodyPr>
          <a:lstStyle/>
          <a:p>
            <a:r>
              <a:rPr lang="en-US"/>
              <a:t>Titik A</a:t>
            </a:r>
          </a:p>
        </p:txBody>
      </p:sp>
      <p:grpSp>
        <p:nvGrpSpPr>
          <p:cNvPr id="11" name="Group 10">
            <a:extLst>
              <a:ext uri="{FF2B5EF4-FFF2-40B4-BE49-F238E27FC236}">
                <a16:creationId xmlns:a16="http://schemas.microsoft.com/office/drawing/2014/main" id="{97D72D71-6E67-0424-9E6A-910DCEA4335E}"/>
              </a:ext>
            </a:extLst>
          </p:cNvPr>
          <p:cNvGrpSpPr/>
          <p:nvPr/>
        </p:nvGrpSpPr>
        <p:grpSpPr>
          <a:xfrm>
            <a:off x="2873955" y="3587125"/>
            <a:ext cx="2379180" cy="2652397"/>
            <a:chOff x="7324657" y="154796"/>
            <a:chExt cx="2541038" cy="2817913"/>
          </a:xfrm>
        </p:grpSpPr>
        <p:pic>
          <p:nvPicPr>
            <p:cNvPr id="6" name="Picture 5"/>
            <p:cNvPicPr>
              <a:picLocks noChangeAspect="1"/>
            </p:cNvPicPr>
            <p:nvPr/>
          </p:nvPicPr>
          <p:blipFill>
            <a:blip r:embed="rId3"/>
            <a:stretch>
              <a:fillRect/>
            </a:stretch>
          </p:blipFill>
          <p:spPr>
            <a:xfrm>
              <a:off x="7324657" y="241617"/>
              <a:ext cx="2246790" cy="2731092"/>
            </a:xfrm>
            <a:prstGeom prst="rect">
              <a:avLst/>
            </a:prstGeom>
          </p:spPr>
        </p:pic>
        <p:sp>
          <p:nvSpPr>
            <p:cNvPr id="7" name="TextBox 6"/>
            <p:cNvSpPr txBox="1"/>
            <p:nvPr/>
          </p:nvSpPr>
          <p:spPr>
            <a:xfrm>
              <a:off x="9277199" y="154796"/>
              <a:ext cx="588496" cy="297150"/>
            </a:xfrm>
            <a:prstGeom prst="rect">
              <a:avLst/>
            </a:prstGeom>
            <a:noFill/>
          </p:spPr>
          <p:txBody>
            <a:bodyPr wrap="none" rtlCol="0">
              <a:spAutoFit/>
            </a:bodyPr>
            <a:lstStyle/>
            <a:p>
              <a:r>
                <a:rPr lang="en-US"/>
                <a:t>=10V</a:t>
              </a:r>
            </a:p>
          </p:txBody>
        </p:sp>
        <p:sp>
          <p:nvSpPr>
            <p:cNvPr id="8" name="TextBox 7"/>
            <p:cNvSpPr txBox="1"/>
            <p:nvPr/>
          </p:nvSpPr>
          <p:spPr>
            <a:xfrm>
              <a:off x="8380133" y="959790"/>
              <a:ext cx="527548" cy="297150"/>
            </a:xfrm>
            <a:prstGeom prst="rect">
              <a:avLst/>
            </a:prstGeom>
            <a:noFill/>
          </p:spPr>
          <p:txBody>
            <a:bodyPr wrap="none" rtlCol="0">
              <a:spAutoFit/>
            </a:bodyPr>
            <a:lstStyle/>
            <a:p>
              <a:r>
                <a:rPr lang="en-US"/>
                <a:t>4,7K</a:t>
              </a:r>
            </a:p>
          </p:txBody>
        </p:sp>
      </p:grpSp>
    </p:spTree>
    <p:extLst>
      <p:ext uri="{BB962C8B-B14F-4D97-AF65-F5344CB8AC3E}">
        <p14:creationId xmlns:p14="http://schemas.microsoft.com/office/powerpoint/2010/main" val="3542595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Jawaban</a:t>
            </a:r>
          </a:p>
        </p:txBody>
      </p:sp>
      <p:pic>
        <p:nvPicPr>
          <p:cNvPr id="8" name="Picture 7"/>
          <p:cNvPicPr>
            <a:picLocks noChangeAspect="1"/>
          </p:cNvPicPr>
          <p:nvPr/>
        </p:nvPicPr>
        <p:blipFill>
          <a:blip r:embed="rId2"/>
          <a:stretch>
            <a:fillRect/>
          </a:stretch>
        </p:blipFill>
        <p:spPr>
          <a:xfrm>
            <a:off x="6311766" y="3229567"/>
            <a:ext cx="4272571" cy="3324617"/>
          </a:xfrm>
          <a:prstGeom prst="rect">
            <a:avLst/>
          </a:prstGeom>
        </p:spPr>
      </p:pic>
      <p:sp>
        <p:nvSpPr>
          <p:cNvPr id="3" name="Oval 2"/>
          <p:cNvSpPr/>
          <p:nvPr/>
        </p:nvSpPr>
        <p:spPr>
          <a:xfrm>
            <a:off x="8702040" y="6035040"/>
            <a:ext cx="121920"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90311" y="5334000"/>
            <a:ext cx="121920" cy="1143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a:stCxn id="9" idx="5"/>
            <a:endCxn id="3" idx="5"/>
          </p:cNvCxnSpPr>
          <p:nvPr/>
        </p:nvCxnSpPr>
        <p:spPr>
          <a:xfrm>
            <a:off x="7494376" y="5431561"/>
            <a:ext cx="1311729" cy="701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709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3287</TotalTime>
  <Words>287</Words>
  <Application>Microsoft Office PowerPoint</Application>
  <PresentationFormat>Widescreen</PresentationFormat>
  <Paragraphs>28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Wingdings</vt:lpstr>
      <vt:lpstr>Office Theme</vt:lpstr>
      <vt:lpstr>Apa yang dimaksud dengan Garis Beban (Load Line)?</vt:lpstr>
      <vt:lpstr>Contoh Membuat Garis Beban</vt:lpstr>
      <vt:lpstr>Jawaban</vt:lpstr>
      <vt:lpstr>Latihan Membuat Garis Beban</vt:lpstr>
      <vt:lpstr>Jawaban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Biasing BJT</dc:title>
  <dc:creator>Ridwan Solihin</dc:creator>
  <cp:lastModifiedBy>erilmozef@yahoo.com</cp:lastModifiedBy>
  <cp:revision>64</cp:revision>
  <dcterms:created xsi:type="dcterms:W3CDTF">2022-03-14T08:25:08Z</dcterms:created>
  <dcterms:modified xsi:type="dcterms:W3CDTF">2025-04-29T11:24:40Z</dcterms:modified>
</cp:coreProperties>
</file>