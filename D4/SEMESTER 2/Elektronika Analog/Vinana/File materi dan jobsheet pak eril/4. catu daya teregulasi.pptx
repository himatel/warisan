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6" r:id="rId3"/>
    <p:sldId id="257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3190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1T01:50:04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65 244,'25'22'2369,"9"9"2888,-30-26-3415,0-1 0,0 1-1,-1 1 1,0-1 0,5 10-1,-3-6 1250,1 13 3577,-5-21-6634,-1-1 0,0 1-1,0-1 1,0 0 0,1 1-1,-1-1 1,0 0 0,0 1 0,1-1-1,-1 0 1,0 1 0,1-1-1,-1 0 1,0 1 0,1-1-1,-1 0 1,0 0 0,1 0-1,-1 1 1,0-1 0,1 0 0,-1 0-1,1 0 1,-1 0 0,1 0-1,-1 0 1,0 0 0,1 0-1,-1 0 1,1 0 0,-1 0-1,1 0 1,-1 0 0,0 0 0,1 0-1,-1 0 1,1 0 0,-1 0-1,1-1 1,0 1-30,-1 0 0,1 0 0,0 0 0,-1-1 0,1 1 0,0 0 0,-1 0 0,1-1 0,0 1 0,-1 0 0,1-1 1,0 1-1,-1 0 0,1-1 0,-1 1 0,1-1 0,-1 1 0,1-1 0,-1 0 0,1 1 0,-1-1 0,0 1 0,1-1 0,-1 0 0,0 0 0,-30-21-7664,9 1 2428,1-2 1,-22-31-1,10 13 712,13 18 2527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1T01:52:12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214 180 1456,'0'9'861,"0"-4"44,0 1 1,0 0 0,0 0 0,-1-1-1,0 1 1,0 0 0,-3 6 0,3-9-118,0-1 0,0 0 0,0 0 0,0 0 0,-1-1 0,1 1 0,-1 0 0,0 0 0,1-1 0,-1 1 0,0-1 0,0 1 0,-3 1 0,1-1 330,-18 6 8710,19-8-8793,0 3-1013,0-1-1,0-1 1,-1 1 0,1 0-1,-1-1 1,1 1-1,-1-1 1,1 0-1,-1 0 1,-4 0-1,-18 8-67,22-8 46,18-8 0,-43-42-12134,17 25 6969,-15-44 0,3-29-1002,21 37 3439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1T02:15:39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 1556,'-16'61'6246,"13"-40"-1351,2 1 3324,1-22-8215,0 1 0,0-1 0,0 0 0,0 1 0,0-1 0,-1 0 0,1 1 0,0-1 0,0 0 0,0 1 0,-1-1 0,1 0 0,0 0 0,-1 0 0,1 1 0,0-1 0,0 0 0,-1 0 0,1 0 0,0 1 0,-1-1 0,1 0 0,0 0 0,-1 0 0,1 0 0,0 0 0,-1 0 0,1 0 0,0 0 0,-1 0 0,1 0 0,-1 0 0,1 0 1,0 0-1,-1 0 0,1 0 0,0 0 0,-1 0 0,1-1 0,0 1 0,-1 0 0,1 0 0,0 0 0,0 0 0,-1-1 0,1 1-3,-1-1 1,1 1-1,0 0 1,-1 0-1,1-1 1,0 1-1,-1 0 1,1 0-1,-1 0 1,1 0-1,0 0 1,-1-1 0,1 1-1,-1 0 1,1 0-1,0 0 1,-1 0-1,1 0 1,-1 0-1,1 0 1,0 1-1,-1-1 1,1 0-1,-1 0 1,1 0-1,0 0 1,-1 0-1,1 0 1,0 1-1,-1-1 1,1 0-1,0 0 1,-1 1-1,1-1 1,0 0 0,0 1-1,-1-1 1,1 0-1,0 0 1,0 1-1,-1-1 1,1 1-1,0-1 1,0 0-1,0 1 1,0-1-1,0 0 1,-1 1-1,1 0 39,-1-1-70,0 0 0,0 0 0,0 0 1,0 1-1,0-1 0,-1 0 0,1 1 1,0-1-1,0 0 0,0 1 0,0-1 1,0 1-1,0 0 0,0-1 0,0 1 1,0 1-1,-17 27-7274,4-4 3726,-30 49-3797,9 8 4637,-14 91 3493,24-81-1224,6-26 469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21T02:17:1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1364,'21'24'3149,"-19"-20"-2180,-1 0 0,0 0 1,0-1-1,0 1 0,0 0 1,0 0-1,-1 0 0,0 0 1,0 7-1,-9-10 1646,9-5-2132,10-4-546,13-2 87,0 0 0,0 2 1,1 1-1,0 1 0,38-5 0,27-1 63,-88 12-80,48-11-190,-36 12-362,0 0 0,0 2 1,0-1-1,-1 2 0,25 8 0,28 8-2930,-5 5-536,-14-4-720,-28-12 3276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10C07-338C-4CE1-94D5-B595E37FE6AB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19459-8FD6-47F0-9A3F-653623863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F18B-FEFD-4D30-85DF-1A28850C3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5DF2E-6F7E-4A47-B2DF-89AB96D9A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607ED-F36A-43F6-8AEA-B4A4664C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9CC6C-8677-422B-9EF8-71594139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1E09-5FC2-43DE-984C-CF8BC69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2D83-BB6F-4126-A524-73CA75AC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8F53-FA31-4485-A585-5BBDF6C8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C247A-3EE9-4AA9-A0D6-D6C8986B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FE26D-468A-4492-8973-21D4191B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5B6A-3582-4DE6-A06F-0DC0B77F5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3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A409-E51A-4AEC-A6D2-8C146121F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4CFE9-CE48-4D76-8C34-9EEB41DE3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150C-042E-4D88-8ED4-77AEC334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6734-3181-4D38-AFC0-ACF269C6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97EFC-443A-448A-8CDC-12F82FF4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3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ECB0-F235-4628-B4D6-D04E5966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F7B9-67BD-47F5-B456-752792A6E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BDCEC-7DB8-4524-9FAA-F93C53093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6D174-65A4-4DFF-AF07-747E50C7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C03A7-3C1B-4E18-B7D1-4BC98114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00573-D971-4612-9FFB-CA395D44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3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0005-4A55-4EF0-B38D-B42579D9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CEB95-7B90-4840-B595-06307A82D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D2EF-B2B1-41EE-9326-2BA2FE51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DE086D-126A-4F6D-89E4-C0FBF8FE9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0AB44-E823-4A71-8E89-7E6024BDB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C69D4-7E27-42E1-875A-EE646CDB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227338-7C30-4B63-9009-0A1931CF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9ED14-102D-4E33-B4D4-331E8359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2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332B-86D6-4A62-8295-5BC73F10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5F8D4-C9C8-4065-9871-8433BA66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4B864-0A10-4F56-BF05-41467A5A6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3CEA-8D55-478A-B792-3D702097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9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11EBC-2736-47D7-B673-24E6C571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A6211-4C57-4B9A-8EED-673959A7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34A31-5B3B-4E90-A703-E3AB9A1F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5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9D3C-0A8D-48C5-93DF-2EB1F722D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DC0F-9ED7-4C79-AB74-5EC1BBBE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C2E19-BCD7-4FEC-BA3D-36D587784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D3330-A72C-44FB-B606-7727AEE7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9FEE8-4C88-4714-8F7A-E338BCD33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C762-5EC0-4B46-B9B6-717D0324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8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71AF-1967-4C63-9A43-F21451EB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D30A0-C2EF-4698-90B6-E1592417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9BDD6-0829-42DF-B074-0B261DDE2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17545-CC59-462E-91BC-663895C9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01A16-7695-474D-A047-BE508FC4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8E090-6993-49B6-8B75-99C8E1FF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427B-99AF-47E9-9AB9-A8209898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CBCD8-8C85-4D24-9317-362F7528E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19A5D-A72B-4677-B800-58B58F49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3804-21BD-49C5-B773-C3CDDE0A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54A5B-51CC-4B3D-B729-2F7F1176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4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25C36-D277-4B93-ABB7-F95E5CFA9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14E3A-7F23-417C-9AF5-C63DE8042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052EC-5249-4A5C-8D4E-CC486E89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09E6-D86A-4458-9D78-B9754823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744B-89D6-4B67-A012-76CB276F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96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C9E7D-FCAC-46E5-A73C-43961E5C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199C8-CE43-4A0D-808E-F770E535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74AC-62A9-44EB-9E2C-42C1E2307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B2334-333B-48F0-AFD2-8D0201D72261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D697F-9698-40B2-B58D-88EBE278F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A18E-CE87-42E7-9D02-5EF25FB43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81B7-72AF-40BA-9332-C8F274A4F9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68" Type="http://schemas.openxmlformats.org/officeDocument/2006/relationships/image" Target="../media/image106.png"/><Relationship Id="rId7" Type="http://schemas.openxmlformats.org/officeDocument/2006/relationships/customXml" Target="../ink/ink2.xml"/><Relationship Id="rId25" Type="http://schemas.openxmlformats.org/officeDocument/2006/relationships/customXml" Target="../ink/ink3.xml"/><Relationship Id="rId124" Type="http://schemas.openxmlformats.org/officeDocument/2006/relationships/image" Target="../media/image1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24" Type="http://schemas.openxmlformats.org/officeDocument/2006/relationships/image" Target="../media/image84.png"/><Relationship Id="rId5" Type="http://schemas.openxmlformats.org/officeDocument/2006/relationships/customXml" Target="../ink/ink1.xml"/><Relationship Id="rId4" Type="http://schemas.openxmlformats.org/officeDocument/2006/relationships/image" Target="../media/image6.png"/><Relationship Id="rId6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3892-65BE-4A1F-B35A-1167D73C8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0504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/>
              <a:t>CATU DAYA TEREGULASI</a:t>
            </a:r>
            <a:br>
              <a:rPr lang="en-US" sz="3200"/>
            </a:br>
            <a:endParaRPr lang="en-US" sz="2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A7A2F-E757-4C23-8CA4-BD903353F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3917"/>
            <a:ext cx="9144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8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Ripple</a:t>
            </a:r>
          </a:p>
          <a:p>
            <a:r>
              <a:rPr lang="en-US"/>
              <a:t>Catu daya teregulasi dengan Filter</a:t>
            </a:r>
          </a:p>
          <a:p>
            <a:r>
              <a:rPr lang="en-US"/>
              <a:t>Catu daya teregulasi dengan Voltage Regulator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3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54DAA-559C-4E9A-89D9-CC26E5175C4F}"/>
              </a:ext>
            </a:extLst>
          </p:cNvPr>
          <p:cNvSpPr txBox="1"/>
          <p:nvPr/>
        </p:nvSpPr>
        <p:spPr>
          <a:xfrm>
            <a:off x="1881809" y="3203210"/>
            <a:ext cx="7938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Referensi</a:t>
            </a:r>
            <a:r>
              <a:rPr lang="en-US" dirty="0"/>
              <a:t> :</a:t>
            </a:r>
          </a:p>
          <a:p>
            <a:r>
              <a:rPr lang="en-US" dirty="0"/>
              <a:t>Electronics devices and circuit theory, ROBERT BOYLESTAD </a:t>
            </a:r>
            <a:r>
              <a:rPr lang="en-US"/>
              <a:t>LOUIS NASHELSKY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96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30B11-37C6-4C0D-BF86-74DC4EFB54A3}"/>
              </a:ext>
            </a:extLst>
          </p:cNvPr>
          <p:cNvSpPr txBox="1"/>
          <p:nvPr/>
        </p:nvSpPr>
        <p:spPr>
          <a:xfrm>
            <a:off x="1126434" y="6369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Ripple dan Catu Daya Teregulasi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00381-C2C0-4813-B4C7-658B7215AB65}"/>
              </a:ext>
            </a:extLst>
          </p:cNvPr>
          <p:cNvSpPr txBox="1"/>
          <p:nvPr/>
        </p:nvSpPr>
        <p:spPr>
          <a:xfrm>
            <a:off x="1126434" y="1249162"/>
            <a:ext cx="105222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Ripple adalah sinyal AC yang tidak diinginkan yang masih terdapat pada suatu output penyearah.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Faktor </a:t>
            </a:r>
            <a:r>
              <a:rPr lang="en-US" sz="2000" dirty="0"/>
              <a:t>ripple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besarnya</a:t>
            </a:r>
            <a:r>
              <a:rPr lang="en-US" sz="2000" dirty="0"/>
              <a:t> </a:t>
            </a:r>
            <a:r>
              <a:rPr lang="en-US" sz="2000" dirty="0" err="1"/>
              <a:t>prosentase</a:t>
            </a:r>
            <a:r>
              <a:rPr lang="en-US" sz="2000" dirty="0"/>
              <a:t> </a:t>
            </a:r>
            <a:r>
              <a:rPr lang="en-US" sz="2000" dirty="0" err="1"/>
              <a:t>perbandingan</a:t>
            </a:r>
            <a:r>
              <a:rPr lang="en-US" sz="2000" dirty="0"/>
              <a:t>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ripple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err="1"/>
              <a:t>tegangan</a:t>
            </a:r>
            <a:r>
              <a:rPr lang="en-US" sz="2000"/>
              <a:t> DC </a:t>
            </a:r>
            <a:r>
              <a:rPr lang="en-US" sz="2000" dirty="0"/>
              <a:t>yang </a:t>
            </a:r>
            <a:r>
              <a:rPr lang="en-US" sz="2000" dirty="0" err="1"/>
              <a:t>dihasilkan</a:t>
            </a:r>
            <a:r>
              <a:rPr lang="en-US" sz="2000" dirty="0"/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11F3BD-01C1-49BE-B79C-25BB6E2F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34" y="2630506"/>
            <a:ext cx="3717036" cy="1216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DADFD9-0904-C450-A9DD-C833E6D314F5}"/>
              </a:ext>
            </a:extLst>
          </p:cNvPr>
          <p:cNvSpPr txBox="1"/>
          <p:nvPr/>
        </p:nvSpPr>
        <p:spPr>
          <a:xfrm>
            <a:off x="1112111" y="4593176"/>
            <a:ext cx="99677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Catu daya teregulasi berfungsi untuk mengurangi adanya ripple  pada suatu rangkaian penyearah.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Cara untuk mengurangi ripple antara lain dengan menggunakan: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Catudaya teregulasi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383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4EE78-EC81-4239-9F45-BDB0F027C3C3}"/>
              </a:ext>
            </a:extLst>
          </p:cNvPr>
          <p:cNvSpPr txBox="1"/>
          <p:nvPr/>
        </p:nvSpPr>
        <p:spPr>
          <a:xfrm>
            <a:off x="1060173" y="723756"/>
            <a:ext cx="9780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Catu daya teregulasi dengan Filter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91A65-81EC-4D42-A1EA-E3FD8C1C2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5" y="1534945"/>
            <a:ext cx="3578662" cy="1243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1CA87A-7A74-4EAF-B269-B50A25B2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3" y="3429000"/>
            <a:ext cx="4029805" cy="241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2FC375-334B-4ACF-8999-A32E417ECCEE}"/>
              </a:ext>
            </a:extLst>
          </p:cNvPr>
          <p:cNvSpPr txBox="1"/>
          <p:nvPr/>
        </p:nvSpPr>
        <p:spPr>
          <a:xfrm>
            <a:off x="5420139" y="1704275"/>
            <a:ext cx="65333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kerja</a:t>
            </a:r>
            <a:r>
              <a:rPr lang="en-US" dirty="0"/>
              <a:t> 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capasitor</a:t>
            </a:r>
            <a:r>
              <a:rPr lang="en-US" dirty="0"/>
              <a:t> </a:t>
            </a:r>
            <a:r>
              <a:rPr lang="en-US" dirty="0" err="1"/>
              <a:t>ditambahkan</a:t>
            </a:r>
            <a:r>
              <a:rPr lang="en-US" dirty="0"/>
              <a:t> pada output </a:t>
            </a:r>
            <a:r>
              <a:rPr lang="en-US" dirty="0" err="1"/>
              <a:t>dioda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anoda</a:t>
            </a:r>
            <a:r>
              <a:rPr lang="en-US" dirty="0"/>
              <a:t> D1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pulsa</a:t>
            </a:r>
            <a:r>
              <a:rPr lang="en-US" dirty="0"/>
              <a:t> </a:t>
            </a:r>
            <a:r>
              <a:rPr lang="en-US" dirty="0" err="1"/>
              <a:t>positip</a:t>
            </a:r>
            <a:r>
              <a:rPr lang="en-US" dirty="0"/>
              <a:t>, D1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konduksi</a:t>
            </a:r>
            <a:r>
              <a:rPr lang="en-US" dirty="0"/>
              <a:t> dan capacitor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Ketika capacitor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puncak</a:t>
            </a:r>
            <a:r>
              <a:rPr lang="en-US" dirty="0"/>
              <a:t>, D1 </a:t>
            </a:r>
            <a:r>
              <a:rPr lang="en-US" dirty="0" err="1"/>
              <a:t>menyumbat</a:t>
            </a:r>
            <a:r>
              <a:rPr lang="en-US" dirty="0"/>
              <a:t> 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katodanya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positip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anodanya</a:t>
            </a:r>
            <a:r>
              <a:rPr lang="en-US" dirty="0"/>
              <a:t>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Capacitor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membuang</a:t>
            </a:r>
            <a:r>
              <a:rPr lang="en-US" dirty="0"/>
              <a:t> (discharge) </a:t>
            </a:r>
            <a:r>
              <a:rPr lang="en-US" dirty="0" err="1"/>
              <a:t>muatannya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resistan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 </a:t>
            </a:r>
          </a:p>
          <a:p>
            <a:pPr marL="285750" indent="-285750">
              <a:buFontTx/>
              <a:buChar char="-"/>
            </a:pPr>
            <a:r>
              <a:rPr lang="en-US" dirty="0"/>
              <a:t>Waktu discharge capacitor </a:t>
            </a:r>
            <a:r>
              <a:rPr lang="en-US" dirty="0" err="1"/>
              <a:t>lebih</a:t>
            </a:r>
            <a:r>
              <a:rPr lang="en-US" dirty="0"/>
              <a:t> lama </a:t>
            </a:r>
            <a:r>
              <a:rPr lang="en-US" dirty="0" err="1"/>
              <a:t>dibanding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yang </a:t>
            </a:r>
          </a:p>
          <a:p>
            <a:r>
              <a:rPr lang="en-US" dirty="0"/>
              <a:t>     </a:t>
            </a:r>
            <a:r>
              <a:rPr lang="en-US" dirty="0" err="1"/>
              <a:t>dibutuhkan</a:t>
            </a:r>
            <a:r>
              <a:rPr lang="en-US" dirty="0"/>
              <a:t> AC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(cycle). 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Akibatnya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capacitor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nol</a:t>
            </a:r>
            <a:r>
              <a:rPr lang="en-US" dirty="0"/>
              <a:t> volt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oleh </a:t>
            </a:r>
          </a:p>
          <a:p>
            <a:r>
              <a:rPr lang="en-US" dirty="0"/>
              <a:t>      </a:t>
            </a:r>
            <a:r>
              <a:rPr lang="en-US" dirty="0" err="1"/>
              <a:t>pulsa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1745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0569E1-EE54-44DD-864A-59118470F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873" y="576241"/>
            <a:ext cx="6785436" cy="2206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0A72E6-C379-43FF-A403-C99049713E67}"/>
              </a:ext>
            </a:extLst>
          </p:cNvPr>
          <p:cNvSpPr txBox="1"/>
          <p:nvPr/>
        </p:nvSpPr>
        <p:spPr>
          <a:xfrm>
            <a:off x="1616765" y="2923617"/>
            <a:ext cx="7991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Tegangan</a:t>
            </a:r>
            <a:r>
              <a:rPr lang="en-US" dirty="0"/>
              <a:t> yang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gigi</a:t>
            </a:r>
            <a:r>
              <a:rPr lang="en-US" dirty="0"/>
              <a:t> </a:t>
            </a:r>
            <a:r>
              <a:rPr lang="en-US" dirty="0" err="1"/>
              <a:t>gergaji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ripple yang </a:t>
            </a:r>
            <a:r>
              <a:rPr lang="en-US" dirty="0" err="1"/>
              <a:t>besarnya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6E2D3-F1AE-4157-9F22-97710AB7A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858" y="3569948"/>
            <a:ext cx="1853345" cy="786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E5C4B8-2C7D-4F71-9217-C000089D98E9}"/>
              </a:ext>
            </a:extLst>
          </p:cNvPr>
          <p:cNvSpPr txBox="1"/>
          <p:nvPr/>
        </p:nvSpPr>
        <p:spPr>
          <a:xfrm>
            <a:off x="1616765" y="43564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DC </a:t>
            </a:r>
            <a:r>
              <a:rPr lang="en-US" dirty="0" err="1"/>
              <a:t>adalah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95ED3A-9B75-4E09-A976-0BD0B970F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524" y="4839312"/>
            <a:ext cx="2517866" cy="6828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F7506B-1BD8-4AF8-BC3D-BB0C2E2A9DC2}"/>
                  </a:ext>
                </a:extLst>
              </p14:cNvPr>
              <p14:cNvContentPartPr/>
              <p14:nvPr/>
            </p14:nvContentPartPr>
            <p14:xfrm>
              <a:off x="7039967" y="2377038"/>
              <a:ext cx="59400" cy="7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F7506B-1BD8-4AF8-BC3D-BB0C2E2A9D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0967" y="2368038"/>
                <a:ext cx="77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264ADC2-61F0-4C0E-B78F-D0025C532587}"/>
                  </a:ext>
                </a:extLst>
              </p14:cNvPr>
              <p14:cNvContentPartPr/>
              <p14:nvPr/>
            </p14:nvContentPartPr>
            <p14:xfrm>
              <a:off x="8950127" y="3507798"/>
              <a:ext cx="77040" cy="1098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264ADC2-61F0-4C0E-B78F-D0025C53258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941487" y="3498798"/>
                <a:ext cx="94680" cy="12744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91076BF-BACD-4FC9-8883-3BDF8498A3B8}"/>
              </a:ext>
            </a:extLst>
          </p:cNvPr>
          <p:cNvSpPr txBox="1"/>
          <p:nvPr/>
        </p:nvSpPr>
        <p:spPr>
          <a:xfrm>
            <a:off x="4628921" y="377850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8CF354-4D2D-4007-A42A-A0553E450B88}"/>
              </a:ext>
            </a:extLst>
          </p:cNvPr>
          <p:cNvSpPr txBox="1"/>
          <p:nvPr/>
        </p:nvSpPr>
        <p:spPr>
          <a:xfrm>
            <a:off x="5071671" y="500757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89C8AA7-8520-4F8F-9BA7-2B9F60A68A89}"/>
                  </a:ext>
                </a:extLst>
              </p14:cNvPr>
              <p14:cNvContentPartPr/>
              <p14:nvPr/>
            </p14:nvContentPartPr>
            <p14:xfrm>
              <a:off x="7927367" y="3249318"/>
              <a:ext cx="97920" cy="239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89C8AA7-8520-4F8F-9BA7-2B9F60A68A8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918367" y="3240678"/>
                <a:ext cx="11556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9A8D24B-9CE5-4A9C-A1BA-9AD15389590C}"/>
                  </a:ext>
                </a:extLst>
              </p14:cNvPr>
              <p14:cNvContentPartPr/>
              <p14:nvPr/>
            </p14:nvContentPartPr>
            <p14:xfrm>
              <a:off x="9277367" y="2713278"/>
              <a:ext cx="230040" cy="356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9A8D24B-9CE5-4A9C-A1BA-9AD15389590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268727" y="2704638"/>
                <a:ext cx="247680" cy="5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246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21EC97-7E98-4E80-A187-8614C463412C}"/>
              </a:ext>
            </a:extLst>
          </p:cNvPr>
          <p:cNvSpPr txBox="1"/>
          <p:nvPr/>
        </p:nvSpPr>
        <p:spPr>
          <a:xfrm>
            <a:off x="1404730" y="831072"/>
            <a:ext cx="9541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-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yang </a:t>
            </a:r>
            <a:r>
              <a:rPr lang="en-US" sz="2000" dirty="0" err="1"/>
              <a:t>baik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yang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ripple yang paling </a:t>
            </a:r>
            <a:r>
              <a:rPr lang="en-US" sz="2000" dirty="0" err="1"/>
              <a:t>kecil</a:t>
            </a:r>
            <a:r>
              <a:rPr lang="en-US" sz="2000" dirty="0"/>
              <a:t>.</a:t>
            </a:r>
          </a:p>
          <a:p>
            <a:r>
              <a:rPr lang="en-US" sz="2000" dirty="0"/>
              <a:t>- VL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discharge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pengosongan</a:t>
            </a:r>
            <a:r>
              <a:rPr lang="en-US" sz="2000" dirty="0"/>
              <a:t> </a:t>
            </a:r>
            <a:r>
              <a:rPr lang="en-US" sz="2000" dirty="0" err="1"/>
              <a:t>kapasitor</a:t>
            </a:r>
            <a:r>
              <a:rPr lang="en-US" sz="2000" dirty="0"/>
              <a:t> C,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ditulis</a:t>
            </a:r>
            <a:r>
              <a:rPr lang="en-US" sz="2000" dirty="0"/>
              <a:t> 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8148B-AE7B-4FBF-900D-C936E24C9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17" y="1538958"/>
            <a:ext cx="2188654" cy="841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8B96C-537B-4A5B-B9AC-229E6CC729AD}"/>
              </a:ext>
            </a:extLst>
          </p:cNvPr>
          <p:cNvSpPr txBox="1"/>
          <p:nvPr/>
        </p:nvSpPr>
        <p:spPr>
          <a:xfrm>
            <a:off x="1664171" y="2380279"/>
            <a:ext cx="6764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2000" dirty="0"/>
              <a:t>Jika persamaan (3) disubsitusi ke rumus (1), maka diperoleh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DD53A5-8CC1-4D6E-97F9-EFB50F4A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517" y="2828866"/>
            <a:ext cx="2975106" cy="762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D279F3-0D5E-4041-A745-C093B688E9DC}"/>
              </a:ext>
            </a:extLst>
          </p:cNvPr>
          <p:cNvSpPr txBox="1"/>
          <p:nvPr/>
        </p:nvSpPr>
        <p:spPr>
          <a:xfrm>
            <a:off x="1664171" y="371833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Jika</a:t>
            </a:r>
            <a:r>
              <a:rPr lang="fr-FR" sz="2000" dirty="0"/>
              <a:t> T &lt;&lt; RC, </a:t>
            </a:r>
            <a:r>
              <a:rPr lang="fr-FR" sz="2000" dirty="0" err="1"/>
              <a:t>dapat</a:t>
            </a:r>
            <a:r>
              <a:rPr lang="fr-FR" sz="2000" dirty="0"/>
              <a:t> </a:t>
            </a:r>
            <a:r>
              <a:rPr lang="fr-FR" sz="2000" dirty="0" err="1"/>
              <a:t>ditulis</a:t>
            </a:r>
            <a:r>
              <a:rPr lang="fr-FR" sz="2000" dirty="0"/>
              <a:t> :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B6C470-4B2C-459A-870F-409E45B24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403" y="4309407"/>
            <a:ext cx="1859441" cy="438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15BB5F-E9E8-4C76-9D1E-34225E626BA0}"/>
              </a:ext>
            </a:extLst>
          </p:cNvPr>
          <p:cNvSpPr txBox="1"/>
          <p:nvPr/>
        </p:nvSpPr>
        <p:spPr>
          <a:xfrm>
            <a:off x="4011070" y="438418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 atau  </a:t>
            </a:r>
            <a:r>
              <a:rPr lang="de-DE" sz="2000" dirty="0"/>
              <a:t>e </a:t>
            </a:r>
            <a:r>
              <a:rPr lang="de-DE" sz="2000" baseline="30000" dirty="0"/>
              <a:t>(-T/RC) </a:t>
            </a:r>
            <a:r>
              <a:rPr lang="de-DE" sz="2000" dirty="0"/>
              <a:t>= 1-(T/RC ) 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D20031-C2D9-487A-B392-384FEB1DDB90}"/>
              </a:ext>
            </a:extLst>
          </p:cNvPr>
          <p:cNvSpPr txBox="1"/>
          <p:nvPr/>
        </p:nvSpPr>
        <p:spPr>
          <a:xfrm>
            <a:off x="1563757" y="5075914"/>
            <a:ext cx="918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disubsitusi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rumus</a:t>
            </a:r>
            <a:r>
              <a:rPr lang="en-US" dirty="0"/>
              <a:t> (4)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CC7FCC-9EAD-4790-B652-A7C8ACD5D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011" y="5722245"/>
            <a:ext cx="2091109" cy="5547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ABE2C8-DDB2-4646-9FC9-7B160CECBCD5}"/>
              </a:ext>
            </a:extLst>
          </p:cNvPr>
          <p:cNvSpPr txBox="1"/>
          <p:nvPr/>
        </p:nvSpPr>
        <p:spPr>
          <a:xfrm>
            <a:off x="5350142" y="186651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AE1A9-B956-4B68-9914-915D9D3E9AE2}"/>
              </a:ext>
            </a:extLst>
          </p:cNvPr>
          <p:cNvSpPr txBox="1"/>
          <p:nvPr/>
        </p:nvSpPr>
        <p:spPr>
          <a:xfrm>
            <a:off x="5868514" y="3046125"/>
            <a:ext cx="454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EBEE0-79FE-4D39-A4BC-067F05FD65A5}"/>
              </a:ext>
            </a:extLst>
          </p:cNvPr>
          <p:cNvSpPr txBox="1"/>
          <p:nvPr/>
        </p:nvSpPr>
        <p:spPr>
          <a:xfrm>
            <a:off x="7272062" y="442133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164B6-A50A-455D-8D85-E48129F2631E}"/>
              </a:ext>
            </a:extLst>
          </p:cNvPr>
          <p:cNvSpPr txBox="1"/>
          <p:nvPr/>
        </p:nvSpPr>
        <p:spPr>
          <a:xfrm>
            <a:off x="5128767" y="581497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176539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066EBD-F539-4B42-88D6-3332522AE51C}"/>
              </a:ext>
            </a:extLst>
          </p:cNvPr>
          <p:cNvSpPr txBox="1"/>
          <p:nvPr/>
        </p:nvSpPr>
        <p:spPr>
          <a:xfrm>
            <a:off x="1484243" y="613651"/>
            <a:ext cx="9223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Vm</a:t>
            </a:r>
            <a:r>
              <a:rPr lang="en-US" dirty="0"/>
              <a:t>/R </a:t>
            </a:r>
            <a:r>
              <a:rPr lang="en-US" dirty="0" err="1"/>
              <a:t>tidak</a:t>
            </a:r>
            <a:r>
              <a:rPr lang="en-US" dirty="0"/>
              <a:t> lain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I,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terlihat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I </a:t>
            </a:r>
          </a:p>
          <a:p>
            <a:pPr marL="285750" indent="-285750">
              <a:buFontTx/>
              <a:buChar char="-"/>
            </a:pPr>
            <a:r>
              <a:rPr lang="en-US" dirty="0"/>
              <a:t>dan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kapasitor</a:t>
            </a:r>
            <a:r>
              <a:rPr lang="en-US" dirty="0"/>
              <a:t> C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ripple </a:t>
            </a:r>
            <a:r>
              <a:rPr lang="en-US" dirty="0" err="1"/>
              <a:t>Vr</a:t>
            </a:r>
            <a:endParaRPr lang="en-US" dirty="0"/>
          </a:p>
          <a:p>
            <a:r>
              <a:rPr lang="en-US" dirty="0"/>
              <a:t>-    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ripple yang </a:t>
            </a:r>
            <a:r>
              <a:rPr lang="en-US" dirty="0" err="1"/>
              <a:t>diinginkan</a:t>
            </a:r>
            <a:r>
              <a:rPr lang="en-US" dirty="0"/>
              <a:t>. </a:t>
            </a:r>
          </a:p>
          <a:p>
            <a:r>
              <a:rPr lang="en-US" dirty="0"/>
              <a:t>      </a:t>
            </a:r>
            <a:r>
              <a:rPr lang="en-US" dirty="0" err="1"/>
              <a:t>Sehingga</a:t>
            </a:r>
            <a:r>
              <a:rPr lang="en-US" dirty="0"/>
              <a:t>: </a:t>
            </a:r>
          </a:p>
          <a:p>
            <a:r>
              <a:rPr lang="en-US" dirty="0"/>
              <a:t>                                 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penyederhanaan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T=</a:t>
            </a:r>
            <a:r>
              <a:rPr lang="en-US" dirty="0" err="1"/>
              <a:t>Tp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sinus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jala</a:t>
            </a:r>
            <a:r>
              <a:rPr lang="en-US" dirty="0"/>
              <a:t>-   </a:t>
            </a:r>
          </a:p>
          <a:p>
            <a:r>
              <a:rPr lang="en-US" dirty="0"/>
              <a:t>      </a:t>
            </a:r>
            <a:r>
              <a:rPr lang="en-US" dirty="0" err="1"/>
              <a:t>jala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yang </a:t>
            </a:r>
            <a:r>
              <a:rPr lang="en-US" dirty="0" err="1"/>
              <a:t>frekuensinya</a:t>
            </a:r>
            <a:r>
              <a:rPr lang="en-US" dirty="0"/>
              <a:t> 50Hz </a:t>
            </a:r>
            <a:r>
              <a:rPr lang="en-US" dirty="0" err="1"/>
              <a:t>atau</a:t>
            </a:r>
            <a:r>
              <a:rPr lang="en-US" dirty="0"/>
              <a:t> 60Hz. </a:t>
            </a:r>
          </a:p>
          <a:p>
            <a:pPr marL="285750" indent="-285750">
              <a:buFontTx/>
              <a:buChar char="-"/>
            </a:pPr>
            <a:r>
              <a:rPr lang="en-US" dirty="0"/>
              <a:t>Jika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jala-jala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50Hz, </a:t>
            </a:r>
            <a:r>
              <a:rPr lang="en-US" dirty="0" err="1"/>
              <a:t>maka</a:t>
            </a:r>
            <a:r>
              <a:rPr lang="en-US" dirty="0"/>
              <a:t> pada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setengah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berlaku</a:t>
            </a:r>
            <a:r>
              <a:rPr lang="en-US" dirty="0"/>
              <a:t>: T = </a:t>
            </a:r>
            <a:r>
              <a:rPr lang="en-US" dirty="0" err="1"/>
              <a:t>Tp</a:t>
            </a:r>
            <a:r>
              <a:rPr lang="en-US" dirty="0"/>
              <a:t> </a:t>
            </a:r>
          </a:p>
          <a:p>
            <a:r>
              <a:rPr lang="en-US" dirty="0"/>
              <a:t>      = 1/f = 1/50 = 0.02 det..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penyearah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penuh</a:t>
            </a:r>
            <a:r>
              <a:rPr lang="en-US" dirty="0"/>
              <a:t>, </a:t>
            </a:r>
            <a:r>
              <a:rPr lang="en-US" dirty="0" err="1"/>
              <a:t>tentu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gelombangnya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kali </a:t>
            </a:r>
            <a:r>
              <a:rPr lang="en-US" dirty="0" err="1"/>
              <a:t>lipat</a:t>
            </a:r>
            <a:r>
              <a:rPr lang="en-US" dirty="0"/>
              <a:t>, </a:t>
            </a:r>
          </a:p>
          <a:p>
            <a:r>
              <a:rPr lang="en-US" dirty="0"/>
              <a:t>      </a:t>
            </a:r>
            <a:r>
              <a:rPr lang="en-US" dirty="0" err="1"/>
              <a:t>sehingga</a:t>
            </a:r>
            <a:r>
              <a:rPr lang="en-US" dirty="0"/>
              <a:t> T = 1/2 </a:t>
            </a:r>
            <a:r>
              <a:rPr lang="en-US" dirty="0" err="1"/>
              <a:t>Tp</a:t>
            </a:r>
            <a:r>
              <a:rPr lang="en-US" dirty="0"/>
              <a:t> = 0.01 det.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B9920-5B20-4BB0-A910-D0F12A742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201" y="1626807"/>
            <a:ext cx="1694835" cy="695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89037F-CF3A-45A9-9D2E-C54B51053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96" y="4156519"/>
            <a:ext cx="4505740" cy="2456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2E122D-C8A4-4FBA-82B0-3A1F2C7BB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29971"/>
            <a:ext cx="4259726" cy="245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1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6F0DE9-4255-4F31-AF55-DA298F80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62" y="581691"/>
            <a:ext cx="5960784" cy="2068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D59FA-D2A2-4EC5-A780-E88931FCB378}"/>
              </a:ext>
            </a:extLst>
          </p:cNvPr>
          <p:cNvSpPr txBox="1"/>
          <p:nvPr/>
        </p:nvSpPr>
        <p:spPr>
          <a:xfrm>
            <a:off x="2249162" y="315279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err="1"/>
              <a:t>Contoh</a:t>
            </a:r>
            <a:r>
              <a:rPr lang="en-US" sz="2000" dirty="0"/>
              <a:t>:</a:t>
            </a: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contoh</a:t>
            </a:r>
            <a:r>
              <a:rPr lang="en-US" sz="2000" dirty="0"/>
              <a:t>, </a:t>
            </a:r>
            <a:r>
              <a:rPr lang="en-US" sz="2000" dirty="0" err="1"/>
              <a:t>anda</a:t>
            </a:r>
            <a:r>
              <a:rPr lang="en-US" sz="2000" dirty="0"/>
              <a:t> </a:t>
            </a:r>
            <a:r>
              <a:rPr lang="en-US" sz="2000" dirty="0" err="1"/>
              <a:t>mendisain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penyearah</a:t>
            </a:r>
            <a:r>
              <a:rPr lang="en-US" sz="2000" dirty="0"/>
              <a:t> </a:t>
            </a:r>
            <a:r>
              <a:rPr lang="en-US" sz="2000" dirty="0" err="1"/>
              <a:t>gelombang</a:t>
            </a:r>
            <a:r>
              <a:rPr lang="en-US" sz="2000" dirty="0"/>
              <a:t> </a:t>
            </a:r>
            <a:r>
              <a:rPr lang="en-US" sz="2000" dirty="0" err="1"/>
              <a:t>penuh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catu</a:t>
            </a:r>
            <a:r>
              <a:rPr lang="en-US" sz="2000" dirty="0"/>
              <a:t> </a:t>
            </a:r>
            <a:r>
              <a:rPr lang="en-US" sz="2000" dirty="0" err="1"/>
              <a:t>jalajala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220V/50Hz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mensuplai</a:t>
            </a:r>
            <a:r>
              <a:rPr lang="en-US" sz="2000" dirty="0"/>
              <a:t> </a:t>
            </a:r>
            <a:r>
              <a:rPr lang="en-US" sz="2000" dirty="0" err="1"/>
              <a:t>beban</a:t>
            </a:r>
            <a:r>
              <a:rPr lang="en-US" sz="2000" dirty="0"/>
              <a:t> </a:t>
            </a:r>
            <a:r>
              <a:rPr lang="en-US" sz="2000" dirty="0" err="1"/>
              <a:t>sebesar</a:t>
            </a:r>
            <a:r>
              <a:rPr lang="en-US" sz="2000" dirty="0"/>
              <a:t> 0.5 A. </a:t>
            </a:r>
            <a:r>
              <a:rPr lang="en-US" sz="2000" dirty="0" err="1"/>
              <a:t>Berapa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kapasitor</a:t>
            </a:r>
            <a:r>
              <a:rPr lang="en-US" sz="2000" dirty="0"/>
              <a:t> yang </a:t>
            </a:r>
            <a:r>
              <a:rPr lang="en-US" sz="2000" dirty="0" err="1"/>
              <a:t>diperlukan</a:t>
            </a:r>
            <a:r>
              <a:rPr lang="en-US" sz="2000" dirty="0"/>
              <a:t>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i="1" dirty="0"/>
              <a:t>ripple yang </a:t>
            </a:r>
            <a:r>
              <a:rPr lang="en-US" sz="2000" i="1" dirty="0" err="1"/>
              <a:t>tidak</a:t>
            </a:r>
            <a:r>
              <a:rPr lang="en-US" sz="2000" i="1" dirty="0"/>
              <a:t> </a:t>
            </a:r>
            <a:r>
              <a:rPr lang="en-US" sz="2000" i="1" dirty="0" err="1"/>
              <a:t>lebih</a:t>
            </a:r>
            <a:r>
              <a:rPr lang="en-US" sz="2000" i="1" dirty="0"/>
              <a:t> </a:t>
            </a:r>
            <a:r>
              <a:rPr lang="en-US" sz="2000" i="1" dirty="0" err="1"/>
              <a:t>dari</a:t>
            </a:r>
            <a:r>
              <a:rPr lang="en-US" sz="2000" i="1" dirty="0"/>
              <a:t> 0.75 </a:t>
            </a:r>
            <a:r>
              <a:rPr lang="en-US" sz="2000" i="1" dirty="0" err="1"/>
              <a:t>Vpp</a:t>
            </a:r>
            <a:r>
              <a:rPr lang="en-US" sz="2000" i="1" dirty="0"/>
              <a:t>. </a:t>
            </a:r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000" i="1" dirty="0"/>
          </a:p>
          <a:p>
            <a:pPr marL="365760" indent="-283464" algn="just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i="1" dirty="0"/>
              <a:t> C = I.T/</a:t>
            </a:r>
            <a:r>
              <a:rPr lang="en-US" sz="2000" i="1" dirty="0" err="1"/>
              <a:t>Vr</a:t>
            </a:r>
            <a:r>
              <a:rPr lang="de-DE" sz="2000" dirty="0"/>
              <a:t> = (0.5) (0.01)/0.75 = 6600 uF.  </a:t>
            </a:r>
          </a:p>
        </p:txBody>
      </p:sp>
    </p:spTree>
    <p:extLst>
      <p:ext uri="{BB962C8B-B14F-4D97-AF65-F5344CB8AC3E}">
        <p14:creationId xmlns:p14="http://schemas.microsoft.com/office/powerpoint/2010/main" val="299314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BBF2D-F489-4D63-9BAE-CA4B077912CF}"/>
              </a:ext>
            </a:extLst>
          </p:cNvPr>
          <p:cNvSpPr txBox="1"/>
          <p:nvPr/>
        </p:nvSpPr>
        <p:spPr>
          <a:xfrm>
            <a:off x="1603512" y="742986"/>
            <a:ext cx="9315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Catu daya teregulasi dengan Voltage Regulator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FC910-E4A7-41C0-AC5B-EDD4DCB5092F}"/>
              </a:ext>
            </a:extLst>
          </p:cNvPr>
          <p:cNvSpPr txBox="1"/>
          <p:nvPr/>
        </p:nvSpPr>
        <p:spPr>
          <a:xfrm>
            <a:off x="1630017" y="1794476"/>
            <a:ext cx="89319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Regulator Voltage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filter </a:t>
            </a:r>
            <a:r>
              <a:rPr lang="en-US" sz="2000" dirty="0" err="1"/>
              <a:t>tegangan</a:t>
            </a:r>
            <a:r>
              <a:rPr lang="en-US" sz="2000" dirty="0"/>
              <a:t> agar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keinginan</a:t>
            </a:r>
            <a:r>
              <a:rPr lang="en-US" sz="2000" dirty="0"/>
              <a:t>. </a:t>
            </a:r>
          </a:p>
          <a:p>
            <a:r>
              <a:rPr lang="en-US" sz="2000" dirty="0"/>
              <a:t>Oleh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itu</a:t>
            </a:r>
            <a:r>
              <a:rPr lang="en-US" sz="2000" dirty="0"/>
              <a:t> </a:t>
            </a:r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rangkaian</a:t>
            </a:r>
            <a:r>
              <a:rPr lang="en-US" sz="2000" dirty="0"/>
              <a:t> power supply </a:t>
            </a:r>
            <a:r>
              <a:rPr lang="en-US" sz="2000" dirty="0" err="1"/>
              <a:t>maka</a:t>
            </a:r>
            <a:r>
              <a:rPr lang="en-US" sz="2000" dirty="0"/>
              <a:t> IC Regulator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selalu</a:t>
            </a:r>
            <a:r>
              <a:rPr lang="en-US" sz="2000" dirty="0"/>
              <a:t> </a:t>
            </a:r>
            <a:r>
              <a:rPr lang="en-US" sz="2000" dirty="0" err="1"/>
              <a:t>dipakai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stabilnya</a:t>
            </a:r>
            <a:r>
              <a:rPr lang="en-US" sz="2000" dirty="0"/>
              <a:t> </a:t>
            </a:r>
            <a:r>
              <a:rPr lang="en-US" sz="2000" dirty="0" err="1"/>
              <a:t>outputan</a:t>
            </a:r>
            <a:r>
              <a:rPr lang="en-US" sz="2000" dirty="0"/>
              <a:t> </a:t>
            </a:r>
            <a:r>
              <a:rPr lang="en-US" sz="2000" dirty="0" err="1"/>
              <a:t>tegangan</a:t>
            </a:r>
            <a:r>
              <a:rPr lang="en-US" sz="2000" dirty="0"/>
              <a:t>. </a:t>
            </a:r>
          </a:p>
          <a:p>
            <a:r>
              <a:rPr lang="en-US" sz="2000" dirty="0" err="1"/>
              <a:t>Berikut</a:t>
            </a:r>
            <a:r>
              <a:rPr lang="en-US" sz="2000" dirty="0"/>
              <a:t> </a:t>
            </a:r>
            <a:r>
              <a:rPr lang="en-US" sz="2000" dirty="0" err="1"/>
              <a:t>susunan</a:t>
            </a:r>
            <a:r>
              <a:rPr lang="en-US" sz="2000" dirty="0"/>
              <a:t> kaki IC regulator </a:t>
            </a:r>
            <a:r>
              <a:rPr lang="en-US" sz="2000" dirty="0" err="1"/>
              <a:t>tersebut</a:t>
            </a:r>
            <a:r>
              <a:rPr lang="en-US" sz="2000" dirty="0"/>
              <a:t>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66DEE-030F-47FB-8134-0240C3A38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14" y="3341980"/>
            <a:ext cx="3505504" cy="32982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B10B28-DB1B-4AA4-9119-1BD2DB020411}"/>
              </a:ext>
            </a:extLst>
          </p:cNvPr>
          <p:cNvSpPr txBox="1"/>
          <p:nvPr/>
        </p:nvSpPr>
        <p:spPr>
          <a:xfrm>
            <a:off x="5221357" y="434476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Tipe</a:t>
            </a:r>
            <a:r>
              <a:rPr lang="en-US" sz="2000" dirty="0"/>
              <a:t> 78XX </a:t>
            </a:r>
            <a:r>
              <a:rPr lang="en-US" sz="2000" dirty="0" err="1"/>
              <a:t>untuk</a:t>
            </a:r>
            <a:r>
              <a:rPr lang="en-US" sz="2000" dirty="0"/>
              <a:t> regulator 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endParaRPr lang="en-US" sz="2000" dirty="0"/>
          </a:p>
          <a:p>
            <a:r>
              <a:rPr lang="en-US" sz="2000" dirty="0" err="1"/>
              <a:t>Tipe</a:t>
            </a:r>
            <a:r>
              <a:rPr lang="en-US" sz="2000" dirty="0"/>
              <a:t> 79XX </a:t>
            </a:r>
            <a:r>
              <a:rPr lang="en-US" sz="2000" dirty="0" err="1"/>
              <a:t>untuk</a:t>
            </a:r>
            <a:r>
              <a:rPr lang="en-US" sz="2000" dirty="0"/>
              <a:t> regulator </a:t>
            </a:r>
            <a:r>
              <a:rPr lang="en-US" sz="2000" dirty="0" err="1"/>
              <a:t>tegangan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87457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3F307E-6940-4C54-86EF-A0C0C3E46398}"/>
              </a:ext>
            </a:extLst>
          </p:cNvPr>
          <p:cNvSpPr txBox="1"/>
          <p:nvPr/>
        </p:nvSpPr>
        <p:spPr>
          <a:xfrm>
            <a:off x="1298713" y="937089"/>
            <a:ext cx="73284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sz="2000" dirty="0" err="1"/>
              <a:t>Misalnya</a:t>
            </a:r>
            <a:r>
              <a:rPr lang="en-US" altLang="en-US" sz="2000" dirty="0"/>
              <a:t> 7805 </a:t>
            </a:r>
            <a:r>
              <a:rPr lang="en-US" altLang="en-US" sz="2000" dirty="0" err="1"/>
              <a:t>adalah</a:t>
            </a:r>
            <a:r>
              <a:rPr lang="en-US" altLang="en-US" sz="2000" dirty="0"/>
              <a:t> regulator </a:t>
            </a:r>
            <a:r>
              <a:rPr lang="en-US" altLang="en-US" sz="2000" dirty="0" err="1"/>
              <a:t>untuk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mendapat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tegangan</a:t>
            </a:r>
            <a:r>
              <a:rPr lang="en-US" altLang="en-US" sz="2000" dirty="0"/>
              <a:t> 5 volt dan 7812 regulator </a:t>
            </a:r>
            <a:r>
              <a:rPr lang="en-US" altLang="en-US" sz="2000" dirty="0" err="1"/>
              <a:t>tegangan</a:t>
            </a:r>
            <a:r>
              <a:rPr lang="en-US" altLang="en-US" sz="2000" dirty="0"/>
              <a:t> 12 volt dan </a:t>
            </a:r>
            <a:r>
              <a:rPr lang="en-US" altLang="en-US" sz="2000" dirty="0" err="1"/>
              <a:t>seterusnya</a:t>
            </a:r>
            <a:r>
              <a:rPr lang="en-US" altLang="en-US" sz="2000" dirty="0"/>
              <a:t>. </a:t>
            </a:r>
          </a:p>
          <a:p>
            <a:pPr algn="just" eaLnBrk="1" hangingPunct="1"/>
            <a:r>
              <a:rPr lang="en-US" altLang="en-US" sz="2000" dirty="0" err="1"/>
              <a:t>Sedangkan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seri</a:t>
            </a:r>
            <a:r>
              <a:rPr lang="en-US" altLang="en-US" sz="2000" dirty="0"/>
              <a:t> 79XX </a:t>
            </a:r>
            <a:r>
              <a:rPr lang="en-US" altLang="en-US" sz="2000" dirty="0" err="1"/>
              <a:t>misalnya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adalah</a:t>
            </a:r>
            <a:r>
              <a:rPr lang="en-US" altLang="en-US" sz="2000" dirty="0"/>
              <a:t> 7905 dan 7912 yang </a:t>
            </a:r>
            <a:r>
              <a:rPr lang="en-US" altLang="en-US" sz="2000" dirty="0" err="1"/>
              <a:t>berturut-turut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adalah</a:t>
            </a:r>
            <a:r>
              <a:rPr lang="en-US" altLang="en-US" sz="2000" dirty="0"/>
              <a:t> regulator </a:t>
            </a:r>
            <a:r>
              <a:rPr lang="en-US" altLang="en-US" sz="2000" dirty="0" err="1"/>
              <a:t>tegangan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negatif</a:t>
            </a:r>
            <a:r>
              <a:rPr lang="en-US" altLang="en-US" sz="2000" dirty="0"/>
              <a:t> 5 dan 12 volt. 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84C1E-AF61-4615-8C80-DAB65BDF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482" y="2723695"/>
            <a:ext cx="5944115" cy="301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27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1CA867-A768-46D7-A37B-F106AF3D8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64" y="1769013"/>
            <a:ext cx="7041490" cy="350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3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E92D4-A879-4B84-B85C-ABA0DF744D7A}"/>
              </a:ext>
            </a:extLst>
          </p:cNvPr>
          <p:cNvSpPr txBox="1"/>
          <p:nvPr/>
        </p:nvSpPr>
        <p:spPr>
          <a:xfrm>
            <a:off x="4630393" y="2770118"/>
            <a:ext cx="30698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Terima</a:t>
            </a:r>
            <a:r>
              <a:rPr lang="en-US" sz="44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227328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574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 2</vt:lpstr>
      <vt:lpstr>Office Theme</vt:lpstr>
      <vt:lpstr>CATU DAYA TEREGULASI </vt:lpstr>
      <vt:lpstr>Materi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Rangkaian Aplikasi Dioda  RANGKAIAN PENYEARAH GELOMBANG (RECTIFIER) &amp; catu daya  21NK1006</dc:title>
  <dc:creator>Ridwan Solihin</dc:creator>
  <cp:lastModifiedBy>erilmozef@yahoo.com</cp:lastModifiedBy>
  <cp:revision>37</cp:revision>
  <dcterms:created xsi:type="dcterms:W3CDTF">2022-02-20T16:12:27Z</dcterms:created>
  <dcterms:modified xsi:type="dcterms:W3CDTF">2025-03-06T22:40:26Z</dcterms:modified>
</cp:coreProperties>
</file>