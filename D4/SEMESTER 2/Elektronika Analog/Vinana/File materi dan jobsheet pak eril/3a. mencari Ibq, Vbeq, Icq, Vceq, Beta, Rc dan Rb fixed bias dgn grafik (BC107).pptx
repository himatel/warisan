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3" r:id="rId3"/>
    <p:sldId id="295" r:id="rId4"/>
    <p:sldId id="296" r:id="rId5"/>
    <p:sldId id="297" r:id="rId6"/>
    <p:sldId id="299" r:id="rId7"/>
    <p:sldId id="265" r:id="rId8"/>
    <p:sldId id="305" r:id="rId9"/>
    <p:sldId id="309" r:id="rId10"/>
    <p:sldId id="308" r:id="rId11"/>
    <p:sldId id="307" r:id="rId12"/>
    <p:sldId id="306" r:id="rId13"/>
    <p:sldId id="300" r:id="rId14"/>
    <p:sldId id="301" r:id="rId15"/>
    <p:sldId id="302" r:id="rId16"/>
    <p:sldId id="303" r:id="rId17"/>
    <p:sldId id="31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6" d="100"/>
          <a:sy n="46" d="100"/>
        </p:scale>
        <p:origin x="43" y="7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42469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424654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331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726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558DC9-6650-431C-B965-8F7DD5C4B993}"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8365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558DC9-6650-431C-B965-8F7DD5C4B993}"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10546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58DC9-6650-431C-B965-8F7DD5C4B993}"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9970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81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61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17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0243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id-ID"/>
          </a:p>
        </p:txBody>
      </p:sp>
      <p:sp>
        <p:nvSpPr>
          <p:cNvPr id="3" name="Table Placeholder 2"/>
          <p:cNvSpPr>
            <a:spLocks noGrp="1"/>
          </p:cNvSpPr>
          <p:nvPr>
            <p:ph type="tbl" idx="1"/>
          </p:nvPr>
        </p:nvSpPr>
        <p:spPr>
          <a:xfrm>
            <a:off x="609600" y="1600201"/>
            <a:ext cx="10972800" cy="4525963"/>
          </a:xfrm>
        </p:spPr>
        <p:txBody>
          <a:bodyPr/>
          <a:lstStyle/>
          <a:p>
            <a:pPr lvl="0"/>
            <a:endParaRPr lang="id-ID"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C8CC7B-D9B2-4064-8E88-A5BDFFE2DA7E}" type="slidenum">
              <a:rPr lang="en-GB"/>
              <a:pPr>
                <a:defRPr/>
              </a:pPr>
              <a:t>‹#›</a:t>
            </a:fld>
            <a:endParaRPr lang="en-GB"/>
          </a:p>
        </p:txBody>
      </p:sp>
    </p:spTree>
    <p:extLst>
      <p:ext uri="{BB962C8B-B14F-4D97-AF65-F5344CB8AC3E}">
        <p14:creationId xmlns:p14="http://schemas.microsoft.com/office/powerpoint/2010/main" val="593357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8DC9-6650-431C-B965-8F7DD5C4B993}" type="datetimeFigureOut">
              <a:rPr lang="en-US" smtClean="0"/>
              <a:t>5/14/2025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908DD-F72B-45CD-A843-A0A67DEB6BD5}" type="slidenum">
              <a:rPr lang="en-US" smtClean="0"/>
              <a:t>‹#›</a:t>
            </a:fld>
            <a:endParaRPr lang="en-US"/>
          </a:p>
        </p:txBody>
      </p:sp>
    </p:spTree>
    <p:extLst>
      <p:ext uri="{BB962C8B-B14F-4D97-AF65-F5344CB8AC3E}">
        <p14:creationId xmlns:p14="http://schemas.microsoft.com/office/powerpoint/2010/main" val="281814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800"/>
              <a:t>Mencari Ibq, Vbeq, Icq, Vceq, Beta, Rc dan Rb Fixed Bias dengan Metoda Grafik</a:t>
            </a:r>
          </a:p>
        </p:txBody>
      </p:sp>
      <p:sp>
        <p:nvSpPr>
          <p:cNvPr id="3" name="Subtitle 2"/>
          <p:cNvSpPr>
            <a:spLocks noGrp="1"/>
          </p:cNvSpPr>
          <p:nvPr>
            <p:ph type="subTitle" idx="1"/>
          </p:nvPr>
        </p:nvSpPr>
        <p:spPr/>
        <p:txBody>
          <a:bodyPr/>
          <a:lstStyle/>
          <a:p>
            <a:r>
              <a:rPr lang="en-US"/>
              <a:t>(Untuk Transistor BC107)</a:t>
            </a:r>
          </a:p>
        </p:txBody>
      </p:sp>
    </p:spTree>
    <p:extLst>
      <p:ext uri="{BB962C8B-B14F-4D97-AF65-F5344CB8AC3E}">
        <p14:creationId xmlns:p14="http://schemas.microsoft.com/office/powerpoint/2010/main" val="834804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D0B63-2ED5-E2E4-C3E6-3E51391B0E1B}"/>
              </a:ext>
            </a:extLst>
          </p:cNvPr>
          <p:cNvSpPr>
            <a:spLocks noGrp="1"/>
          </p:cNvSpPr>
          <p:nvPr>
            <p:ph type="title"/>
          </p:nvPr>
        </p:nvSpPr>
        <p:spPr/>
        <p:txBody>
          <a:bodyPr/>
          <a:lstStyle/>
          <a:p>
            <a:r>
              <a:rPr lang="en-US"/>
              <a:t>Pendahuluan</a:t>
            </a:r>
            <a:endParaRPr lang="en-ID"/>
          </a:p>
        </p:txBody>
      </p:sp>
      <p:sp>
        <p:nvSpPr>
          <p:cNvPr id="3" name="Content Placeholder 2">
            <a:extLst>
              <a:ext uri="{FF2B5EF4-FFF2-40B4-BE49-F238E27FC236}">
                <a16:creationId xmlns:a16="http://schemas.microsoft.com/office/drawing/2014/main" id="{A686E51C-855B-49D4-6A7F-81635E1B3899}"/>
              </a:ext>
            </a:extLst>
          </p:cNvPr>
          <p:cNvSpPr>
            <a:spLocks noGrp="1"/>
          </p:cNvSpPr>
          <p:nvPr>
            <p:ph idx="1"/>
          </p:nvPr>
        </p:nvSpPr>
        <p:spPr/>
        <p:txBody>
          <a:bodyPr>
            <a:normAutofit fontScale="92500" lnSpcReduction="10000"/>
          </a:bodyPr>
          <a:lstStyle/>
          <a:p>
            <a:r>
              <a:rPr lang="en-US"/>
              <a:t>Penentuan Ibq, Vbeq dan Beta (Hfe) dengan mengetahui Icq dan Vceq sangatlah penting dalam merancang rangkaian Prategangan (Biasing) transistor.</a:t>
            </a:r>
          </a:p>
          <a:p>
            <a:r>
              <a:rPr lang="en-US"/>
              <a:t>Biasanya rangkaian Prategangan dirancang dengan mengetahui terlebih dahulu parameter output seperti arus kolektor maksimum (Icmax), tegangan Vce maksimum (Vcemax) dan R beban atau R kolektor (Rc).</a:t>
            </a:r>
          </a:p>
          <a:p>
            <a:r>
              <a:rPr lang="en-US"/>
              <a:t>Kemudian ditentukan titik kerja output (Qpoint) yaitu Icq dan Vceq.</a:t>
            </a:r>
          </a:p>
          <a:p>
            <a:r>
              <a:rPr lang="en-US"/>
              <a:t>Dengan mengetahui parameter-parameter tersebut kemudian dapat dicari parameter-parameter inputnya Ibq dan Vbeq baik dengan asumsi (misal Vbeq=0,7v) maupun dengan melihat grafik karakteristik.</a:t>
            </a:r>
          </a:p>
          <a:p>
            <a:r>
              <a:rPr lang="en-US"/>
              <a:t>Selanjutnya dapat dicari Rb.</a:t>
            </a:r>
          </a:p>
        </p:txBody>
      </p:sp>
    </p:spTree>
    <p:extLst>
      <p:ext uri="{BB962C8B-B14F-4D97-AF65-F5344CB8AC3E}">
        <p14:creationId xmlns:p14="http://schemas.microsoft.com/office/powerpoint/2010/main" val="275439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3362-CD7E-EF41-89AC-4D869247C1A0}"/>
              </a:ext>
            </a:extLst>
          </p:cNvPr>
          <p:cNvSpPr>
            <a:spLocks noGrp="1"/>
          </p:cNvSpPr>
          <p:nvPr>
            <p:ph type="title"/>
          </p:nvPr>
        </p:nvSpPr>
        <p:spPr/>
        <p:txBody>
          <a:bodyPr/>
          <a:lstStyle/>
          <a:p>
            <a:r>
              <a:rPr lang="en-US"/>
              <a:t>Tujuan</a:t>
            </a:r>
            <a:endParaRPr lang="en-ID"/>
          </a:p>
        </p:txBody>
      </p:sp>
      <p:sp>
        <p:nvSpPr>
          <p:cNvPr id="3" name="Content Placeholder 2">
            <a:extLst>
              <a:ext uri="{FF2B5EF4-FFF2-40B4-BE49-F238E27FC236}">
                <a16:creationId xmlns:a16="http://schemas.microsoft.com/office/drawing/2014/main" id="{E0016C50-B791-05C1-5D76-1790CA088B34}"/>
              </a:ext>
            </a:extLst>
          </p:cNvPr>
          <p:cNvSpPr>
            <a:spLocks noGrp="1"/>
          </p:cNvSpPr>
          <p:nvPr>
            <p:ph idx="1"/>
          </p:nvPr>
        </p:nvSpPr>
        <p:spPr/>
        <p:txBody>
          <a:bodyPr/>
          <a:lstStyle/>
          <a:p>
            <a:r>
              <a:rPr lang="en-US"/>
              <a:t>Menentukan Ibq, Vbeq dan Beta (Hfe) dari rangkaian Prategangan Fixed Bias BC107 dengan mengetahui Icq dan Vceq menggunakan 3 grafik karakteristik dasar transistor.</a:t>
            </a:r>
          </a:p>
          <a:p>
            <a:endParaRPr lang="en-ID"/>
          </a:p>
        </p:txBody>
      </p:sp>
    </p:spTree>
    <p:extLst>
      <p:ext uri="{BB962C8B-B14F-4D97-AF65-F5344CB8AC3E}">
        <p14:creationId xmlns:p14="http://schemas.microsoft.com/office/powerpoint/2010/main" val="32601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947C-4D1F-C2F3-7D49-D57E5BE54E24}"/>
              </a:ext>
            </a:extLst>
          </p:cNvPr>
          <p:cNvSpPr>
            <a:spLocks noGrp="1"/>
          </p:cNvSpPr>
          <p:nvPr>
            <p:ph type="title"/>
          </p:nvPr>
        </p:nvSpPr>
        <p:spPr/>
        <p:txBody>
          <a:bodyPr/>
          <a:lstStyle/>
          <a:p>
            <a:r>
              <a:rPr lang="en-US"/>
              <a:t>Persyaratan yang harus dipenuhi Mahasiswa</a:t>
            </a:r>
            <a:endParaRPr lang="en-ID"/>
          </a:p>
        </p:txBody>
      </p:sp>
      <p:sp>
        <p:nvSpPr>
          <p:cNvPr id="3" name="Content Placeholder 2">
            <a:extLst>
              <a:ext uri="{FF2B5EF4-FFF2-40B4-BE49-F238E27FC236}">
                <a16:creationId xmlns:a16="http://schemas.microsoft.com/office/drawing/2014/main" id="{B042A821-0434-6553-DB5D-3DAF3D23CF11}"/>
              </a:ext>
            </a:extLst>
          </p:cNvPr>
          <p:cNvSpPr>
            <a:spLocks noGrp="1"/>
          </p:cNvSpPr>
          <p:nvPr>
            <p:ph idx="1"/>
          </p:nvPr>
        </p:nvSpPr>
        <p:spPr/>
        <p:txBody>
          <a:bodyPr/>
          <a:lstStyle/>
          <a:p>
            <a:r>
              <a:rPr lang="en-ID"/>
              <a:t>Mahasiswa sudah pernah melakukan percobaan “</a:t>
            </a:r>
            <a:r>
              <a:rPr lang="en-US"/>
              <a:t>M</a:t>
            </a:r>
            <a:r>
              <a:rPr lang="en-US" sz="2800"/>
              <a:t>enentukan Ib, Vbe dan Beta (Hfe) dengan mengetahui Ic dan Vce dari grafik</a:t>
            </a:r>
            <a:r>
              <a:rPr lang="en-US"/>
              <a:t>”</a:t>
            </a:r>
            <a:r>
              <a:rPr lang="en-ID"/>
              <a:t>.</a:t>
            </a:r>
          </a:p>
          <a:p>
            <a:endParaRPr lang="en-ID"/>
          </a:p>
        </p:txBody>
      </p:sp>
    </p:spTree>
    <p:extLst>
      <p:ext uri="{BB962C8B-B14F-4D97-AF65-F5344CB8AC3E}">
        <p14:creationId xmlns:p14="http://schemas.microsoft.com/office/powerpoint/2010/main" val="204079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Alat dan Bahan</a:t>
            </a:r>
          </a:p>
        </p:txBody>
      </p:sp>
      <p:sp>
        <p:nvSpPr>
          <p:cNvPr id="4" name="Content Placeholder 2"/>
          <p:cNvSpPr txBox="1">
            <a:spLocks/>
          </p:cNvSpPr>
          <p:nvPr/>
        </p:nvSpPr>
        <p:spPr>
          <a:xfrm>
            <a:off x="1139673" y="1690688"/>
            <a:ext cx="34762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Transistor: </a:t>
            </a:r>
          </a:p>
          <a:p>
            <a:pPr marL="514350" indent="-514350">
              <a:buAutoNum type="arabicPeriod"/>
            </a:pPr>
            <a:r>
              <a:rPr lang="en-US"/>
              <a:t>BC107</a:t>
            </a:r>
          </a:p>
          <a:p>
            <a:pPr marL="514350" indent="-514350">
              <a:buFont typeface="+mj-lt"/>
              <a:buAutoNum type="arabicPeriod" startAt="11"/>
            </a:pPr>
            <a:endParaRPr lang="en-US"/>
          </a:p>
          <a:p>
            <a:pPr marL="514350" indent="-514350">
              <a:buFont typeface="+mj-lt"/>
              <a:buAutoNum type="arabicPeriod" startAt="11"/>
            </a:pPr>
            <a:endParaRPr lang="en-US"/>
          </a:p>
        </p:txBody>
      </p:sp>
    </p:spTree>
    <p:extLst>
      <p:ext uri="{BB962C8B-B14F-4D97-AF65-F5344CB8AC3E}">
        <p14:creationId xmlns:p14="http://schemas.microsoft.com/office/powerpoint/2010/main" val="229971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8BC73-339E-C8B0-6926-8B011B32EC35}"/>
              </a:ext>
            </a:extLst>
          </p:cNvPr>
          <p:cNvSpPr>
            <a:spLocks noGrp="1"/>
          </p:cNvSpPr>
          <p:nvPr>
            <p:ph type="title"/>
          </p:nvPr>
        </p:nvSpPr>
        <p:spPr/>
        <p:txBody>
          <a:bodyPr/>
          <a:lstStyle/>
          <a:p>
            <a:r>
              <a:rPr lang="en-US"/>
              <a:t>Soal</a:t>
            </a:r>
            <a:endParaRPr lang="en-ID"/>
          </a:p>
        </p:txBody>
      </p:sp>
      <p:sp>
        <p:nvSpPr>
          <p:cNvPr id="3" name="Content Placeholder 2">
            <a:extLst>
              <a:ext uri="{FF2B5EF4-FFF2-40B4-BE49-F238E27FC236}">
                <a16:creationId xmlns:a16="http://schemas.microsoft.com/office/drawing/2014/main" id="{B639D78B-7EA3-7297-7408-DB1EC02DE40B}"/>
              </a:ext>
            </a:extLst>
          </p:cNvPr>
          <p:cNvSpPr>
            <a:spLocks noGrp="1"/>
          </p:cNvSpPr>
          <p:nvPr>
            <p:ph idx="1"/>
          </p:nvPr>
        </p:nvSpPr>
        <p:spPr>
          <a:xfrm>
            <a:off x="838200" y="1546174"/>
            <a:ext cx="5073001" cy="5222374"/>
          </a:xfrm>
        </p:spPr>
        <p:txBody>
          <a:bodyPr>
            <a:normAutofit/>
          </a:bodyPr>
          <a:lstStyle/>
          <a:p>
            <a:pPr marL="0" indent="0">
              <a:buNone/>
            </a:pPr>
            <a:r>
              <a:rPr lang="en-US" sz="1200"/>
              <a:t>Diketahui:</a:t>
            </a:r>
          </a:p>
          <a:p>
            <a:r>
              <a:rPr lang="en-US" sz="1200"/>
              <a:t>Jenis Transistor: BC107</a:t>
            </a:r>
          </a:p>
          <a:p>
            <a:r>
              <a:rPr lang="en-US" sz="1200"/>
              <a:t>Vcemax=0,27*Vcemax_datasheet</a:t>
            </a:r>
          </a:p>
          <a:p>
            <a:r>
              <a:rPr lang="en-US" sz="1200"/>
              <a:t>Icmax=0,1*Icmax_datasheet</a:t>
            </a:r>
          </a:p>
          <a:p>
            <a:r>
              <a:rPr lang="en-US" sz="1200"/>
              <a:t>Vcc=Vcemax</a:t>
            </a:r>
          </a:p>
          <a:p>
            <a:r>
              <a:rPr lang="en-US" sz="1200"/>
              <a:t>Titik Kerja:</a:t>
            </a:r>
          </a:p>
          <a:p>
            <a:pPr lvl="1"/>
            <a:r>
              <a:rPr lang="en-US" sz="1200"/>
              <a:t>Vceq=1/2 Vcc</a:t>
            </a:r>
          </a:p>
          <a:p>
            <a:pPr lvl="1"/>
            <a:r>
              <a:rPr lang="en-US" sz="1200"/>
              <a:t>Icq=1/2 Icmax</a:t>
            </a:r>
          </a:p>
          <a:p>
            <a:r>
              <a:rPr lang="en-US" sz="1200"/>
              <a:t>Jenis Prategangan: Fixed Bias</a:t>
            </a:r>
          </a:p>
          <a:p>
            <a:endParaRPr lang="en-US" sz="1200"/>
          </a:p>
          <a:p>
            <a:pPr marL="0" indent="0">
              <a:buNone/>
            </a:pPr>
            <a:r>
              <a:rPr lang="en-US" sz="1200"/>
              <a:t>Ditanya:</a:t>
            </a:r>
          </a:p>
          <a:p>
            <a:r>
              <a:rPr lang="en-US" sz="1200"/>
              <a:t>1. Vcemax_datasheet?, 2. Icmax_datasheet?</a:t>
            </a:r>
          </a:p>
          <a:p>
            <a:r>
              <a:rPr lang="en-US" sz="1200"/>
              <a:t>3. Vcemax?, 4. Icmax?, 5. Vcc?, 6. Rc?, 7. Vceq?, 8. Icq?</a:t>
            </a:r>
          </a:p>
          <a:p>
            <a:r>
              <a:rPr lang="en-US" sz="1200"/>
              <a:t>9. Garis Beban?, 10. Titik Kerja?, 11. Vbeq?, 12. Beta?, 13. Ibq? dan 14. Rb?</a:t>
            </a:r>
          </a:p>
          <a:p>
            <a:r>
              <a:rPr lang="en-US" sz="1200"/>
              <a:t>15. Gambarkan skema rangkaian lengkap dengan nilai-nilainya.</a:t>
            </a:r>
          </a:p>
          <a:p>
            <a:r>
              <a:rPr lang="en-US" sz="1200"/>
              <a:t>16. Cobakan hasil rancangan tersebut di simulator.</a:t>
            </a:r>
          </a:p>
          <a:p>
            <a:r>
              <a:rPr lang="en-US" sz="1200"/>
              <a:t>17. Cobakan hasil rancangan tersebut di rangkaian riil.</a:t>
            </a:r>
          </a:p>
        </p:txBody>
      </p:sp>
      <p:pic>
        <p:nvPicPr>
          <p:cNvPr id="6" name="Picture 5">
            <a:extLst>
              <a:ext uri="{FF2B5EF4-FFF2-40B4-BE49-F238E27FC236}">
                <a16:creationId xmlns:a16="http://schemas.microsoft.com/office/drawing/2014/main" id="{67D933A6-66D4-F843-7087-B1044ED7D677}"/>
              </a:ext>
            </a:extLst>
          </p:cNvPr>
          <p:cNvPicPr>
            <a:picLocks noChangeAspect="1"/>
          </p:cNvPicPr>
          <p:nvPr/>
        </p:nvPicPr>
        <p:blipFill>
          <a:blip r:embed="rId2"/>
          <a:stretch>
            <a:fillRect/>
          </a:stretch>
        </p:blipFill>
        <p:spPr>
          <a:xfrm>
            <a:off x="6840704" y="2232623"/>
            <a:ext cx="3769606" cy="3313412"/>
          </a:xfrm>
          <a:prstGeom prst="rect">
            <a:avLst/>
          </a:prstGeom>
        </p:spPr>
      </p:pic>
      <p:sp>
        <p:nvSpPr>
          <p:cNvPr id="7" name="TextBox 6">
            <a:extLst>
              <a:ext uri="{FF2B5EF4-FFF2-40B4-BE49-F238E27FC236}">
                <a16:creationId xmlns:a16="http://schemas.microsoft.com/office/drawing/2014/main" id="{0B86ED43-8D8C-5358-0FFF-3D366BEBEDBD}"/>
              </a:ext>
            </a:extLst>
          </p:cNvPr>
          <p:cNvSpPr txBox="1"/>
          <p:nvPr/>
        </p:nvSpPr>
        <p:spPr>
          <a:xfrm>
            <a:off x="7128768" y="2405848"/>
            <a:ext cx="292068" cy="338554"/>
          </a:xfrm>
          <a:prstGeom prst="rect">
            <a:avLst/>
          </a:prstGeom>
          <a:noFill/>
        </p:spPr>
        <p:txBody>
          <a:bodyPr wrap="none" rtlCol="0">
            <a:spAutoFit/>
          </a:bodyPr>
          <a:lstStyle/>
          <a:p>
            <a:r>
              <a:rPr lang="en-US" sz="1600"/>
              <a:t>q</a:t>
            </a:r>
            <a:endParaRPr lang="en-ID" sz="1600"/>
          </a:p>
        </p:txBody>
      </p:sp>
      <p:sp>
        <p:nvSpPr>
          <p:cNvPr id="8" name="TextBox 7">
            <a:extLst>
              <a:ext uri="{FF2B5EF4-FFF2-40B4-BE49-F238E27FC236}">
                <a16:creationId xmlns:a16="http://schemas.microsoft.com/office/drawing/2014/main" id="{96228EFF-AEF6-9727-3E99-C20D54ECFEA8}"/>
              </a:ext>
            </a:extLst>
          </p:cNvPr>
          <p:cNvSpPr txBox="1"/>
          <p:nvPr/>
        </p:nvSpPr>
        <p:spPr>
          <a:xfrm>
            <a:off x="7352190" y="3720052"/>
            <a:ext cx="292068" cy="338554"/>
          </a:xfrm>
          <a:prstGeom prst="rect">
            <a:avLst/>
          </a:prstGeom>
          <a:noFill/>
        </p:spPr>
        <p:txBody>
          <a:bodyPr wrap="none" rtlCol="0">
            <a:spAutoFit/>
          </a:bodyPr>
          <a:lstStyle/>
          <a:p>
            <a:r>
              <a:rPr lang="en-US" sz="1600"/>
              <a:t>q</a:t>
            </a:r>
            <a:endParaRPr lang="en-ID" sz="1600"/>
          </a:p>
        </p:txBody>
      </p:sp>
      <p:sp>
        <p:nvSpPr>
          <p:cNvPr id="9" name="TextBox 8">
            <a:extLst>
              <a:ext uri="{FF2B5EF4-FFF2-40B4-BE49-F238E27FC236}">
                <a16:creationId xmlns:a16="http://schemas.microsoft.com/office/drawing/2014/main" id="{72F7C582-7604-2404-B1AA-B86B218D7728}"/>
              </a:ext>
            </a:extLst>
          </p:cNvPr>
          <p:cNvSpPr txBox="1"/>
          <p:nvPr/>
        </p:nvSpPr>
        <p:spPr>
          <a:xfrm>
            <a:off x="8799249" y="3090446"/>
            <a:ext cx="292068" cy="338554"/>
          </a:xfrm>
          <a:prstGeom prst="rect">
            <a:avLst/>
          </a:prstGeom>
          <a:noFill/>
        </p:spPr>
        <p:txBody>
          <a:bodyPr wrap="none" rtlCol="0">
            <a:spAutoFit/>
          </a:bodyPr>
          <a:lstStyle/>
          <a:p>
            <a:r>
              <a:rPr lang="en-US" sz="1600"/>
              <a:t>q</a:t>
            </a:r>
            <a:endParaRPr lang="en-ID" sz="1600"/>
          </a:p>
        </p:txBody>
      </p:sp>
      <p:sp>
        <p:nvSpPr>
          <p:cNvPr id="10" name="TextBox 9">
            <a:extLst>
              <a:ext uri="{FF2B5EF4-FFF2-40B4-BE49-F238E27FC236}">
                <a16:creationId xmlns:a16="http://schemas.microsoft.com/office/drawing/2014/main" id="{844FD93A-C237-F868-F31B-D1A78B83B22A}"/>
              </a:ext>
            </a:extLst>
          </p:cNvPr>
          <p:cNvSpPr txBox="1"/>
          <p:nvPr/>
        </p:nvSpPr>
        <p:spPr>
          <a:xfrm>
            <a:off x="9154356" y="4245005"/>
            <a:ext cx="292068" cy="338554"/>
          </a:xfrm>
          <a:prstGeom prst="rect">
            <a:avLst/>
          </a:prstGeom>
          <a:noFill/>
        </p:spPr>
        <p:txBody>
          <a:bodyPr wrap="none" rtlCol="0">
            <a:spAutoFit/>
          </a:bodyPr>
          <a:lstStyle/>
          <a:p>
            <a:r>
              <a:rPr lang="en-US" sz="1600"/>
              <a:t>q</a:t>
            </a:r>
            <a:endParaRPr lang="en-ID" sz="1600"/>
          </a:p>
        </p:txBody>
      </p:sp>
      <p:sp>
        <p:nvSpPr>
          <p:cNvPr id="11" name="TextBox 10">
            <a:extLst>
              <a:ext uri="{FF2B5EF4-FFF2-40B4-BE49-F238E27FC236}">
                <a16:creationId xmlns:a16="http://schemas.microsoft.com/office/drawing/2014/main" id="{78D33BD2-4610-33F0-FAFD-528B4738A21E}"/>
              </a:ext>
            </a:extLst>
          </p:cNvPr>
          <p:cNvSpPr txBox="1"/>
          <p:nvPr/>
        </p:nvSpPr>
        <p:spPr>
          <a:xfrm>
            <a:off x="7644258" y="4583559"/>
            <a:ext cx="292068" cy="338554"/>
          </a:xfrm>
          <a:prstGeom prst="rect">
            <a:avLst/>
          </a:prstGeom>
          <a:noFill/>
        </p:spPr>
        <p:txBody>
          <a:bodyPr wrap="none" rtlCol="0">
            <a:spAutoFit/>
          </a:bodyPr>
          <a:lstStyle/>
          <a:p>
            <a:r>
              <a:rPr lang="en-US" sz="1600"/>
              <a:t>q</a:t>
            </a:r>
            <a:endParaRPr lang="en-ID" sz="1600"/>
          </a:p>
        </p:txBody>
      </p:sp>
      <p:cxnSp>
        <p:nvCxnSpPr>
          <p:cNvPr id="12" name="Straight Connector 11">
            <a:extLst>
              <a:ext uri="{FF2B5EF4-FFF2-40B4-BE49-F238E27FC236}">
                <a16:creationId xmlns:a16="http://schemas.microsoft.com/office/drawing/2014/main" id="{86BB313B-D551-502E-F932-D7ADD8EE34F5}"/>
              </a:ext>
            </a:extLst>
          </p:cNvPr>
          <p:cNvCxnSpPr>
            <a:cxnSpLocks/>
          </p:cNvCxnSpPr>
          <p:nvPr/>
        </p:nvCxnSpPr>
        <p:spPr>
          <a:xfrm>
            <a:off x="8577470" y="541682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DE4CC7A-C82A-B311-4DDE-70FEB3E724E4}"/>
              </a:ext>
            </a:extLst>
          </p:cNvPr>
          <p:cNvCxnSpPr>
            <a:cxnSpLocks/>
          </p:cNvCxnSpPr>
          <p:nvPr/>
        </p:nvCxnSpPr>
        <p:spPr>
          <a:xfrm flipH="1" flipV="1">
            <a:off x="8399491" y="562555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27430CA-D397-F27C-FDD3-29A7C74C029C}"/>
              </a:ext>
            </a:extLst>
          </p:cNvPr>
          <p:cNvCxnSpPr>
            <a:cxnSpLocks/>
          </p:cNvCxnSpPr>
          <p:nvPr/>
        </p:nvCxnSpPr>
        <p:spPr>
          <a:xfrm flipH="1">
            <a:off x="8475691" y="569512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2656765-A5DD-9FE3-D164-5E751E890879}"/>
              </a:ext>
            </a:extLst>
          </p:cNvPr>
          <p:cNvCxnSpPr>
            <a:cxnSpLocks/>
          </p:cNvCxnSpPr>
          <p:nvPr/>
        </p:nvCxnSpPr>
        <p:spPr>
          <a:xfrm flipH="1">
            <a:off x="8513791" y="576149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E3381EA-008C-08F4-BF6C-FDA01D0CEB79}"/>
              </a:ext>
            </a:extLst>
          </p:cNvPr>
          <p:cNvSpPr txBox="1"/>
          <p:nvPr/>
        </p:nvSpPr>
        <p:spPr>
          <a:xfrm>
            <a:off x="8679249" y="4489755"/>
            <a:ext cx="292068" cy="338554"/>
          </a:xfrm>
          <a:prstGeom prst="rect">
            <a:avLst/>
          </a:prstGeom>
          <a:noFill/>
        </p:spPr>
        <p:txBody>
          <a:bodyPr wrap="none" rtlCol="0">
            <a:spAutoFit/>
          </a:bodyPr>
          <a:lstStyle/>
          <a:p>
            <a:r>
              <a:rPr lang="en-US" sz="1600"/>
              <a:t>q</a:t>
            </a:r>
            <a:endParaRPr lang="en-ID" sz="1600"/>
          </a:p>
        </p:txBody>
      </p:sp>
      <p:sp>
        <p:nvSpPr>
          <p:cNvPr id="21" name="TextBox 20">
            <a:extLst>
              <a:ext uri="{FF2B5EF4-FFF2-40B4-BE49-F238E27FC236}">
                <a16:creationId xmlns:a16="http://schemas.microsoft.com/office/drawing/2014/main" id="{AB15409C-AE7E-01D3-8BD8-3BD07D870904}"/>
              </a:ext>
            </a:extLst>
          </p:cNvPr>
          <p:cNvSpPr txBox="1"/>
          <p:nvPr/>
        </p:nvSpPr>
        <p:spPr>
          <a:xfrm>
            <a:off x="10314237" y="5177663"/>
            <a:ext cx="288862" cy="338554"/>
          </a:xfrm>
          <a:prstGeom prst="rect">
            <a:avLst/>
          </a:prstGeom>
          <a:noFill/>
        </p:spPr>
        <p:txBody>
          <a:bodyPr wrap="none" rtlCol="0">
            <a:spAutoFit/>
          </a:bodyPr>
          <a:lstStyle/>
          <a:p>
            <a:r>
              <a:rPr lang="en-US" sz="1600"/>
              <a:t>0</a:t>
            </a:r>
            <a:endParaRPr lang="en-ID" sz="1600"/>
          </a:p>
        </p:txBody>
      </p:sp>
    </p:spTree>
    <p:extLst>
      <p:ext uri="{BB962C8B-B14F-4D97-AF65-F5344CB8AC3E}">
        <p14:creationId xmlns:p14="http://schemas.microsoft.com/office/powerpoint/2010/main" val="2293128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B65B98-3BDE-42FF-9154-922F419E786E}" type="slidenum">
              <a:rPr lang="en-GB" sz="1400"/>
              <a:pPr>
                <a:spcBef>
                  <a:spcPct val="0"/>
                </a:spcBef>
                <a:buFontTx/>
                <a:buNone/>
              </a:pPr>
              <a:t>7</a:t>
            </a:fld>
            <a:endParaRPr lang="en-GB" sz="1400"/>
          </a:p>
        </p:txBody>
      </p:sp>
      <p:sp>
        <p:nvSpPr>
          <p:cNvPr id="38915" name="Rectangle 2"/>
          <p:cNvSpPr>
            <a:spLocks noGrp="1" noChangeArrowheads="1"/>
          </p:cNvSpPr>
          <p:nvPr>
            <p:ph type="title"/>
          </p:nvPr>
        </p:nvSpPr>
        <p:spPr>
          <a:xfrm>
            <a:off x="1981200" y="274639"/>
            <a:ext cx="8229600" cy="561975"/>
          </a:xfrm>
        </p:spPr>
        <p:txBody>
          <a:bodyPr/>
          <a:lstStyle/>
          <a:p>
            <a:pPr eaLnBrk="1" hangingPunct="1"/>
            <a:r>
              <a:rPr lang="en-US" sz="3200" b="1"/>
              <a:t>Datashet Transistor (Sederhana)</a:t>
            </a:r>
          </a:p>
        </p:txBody>
      </p:sp>
      <p:graphicFrame>
        <p:nvGraphicFramePr>
          <p:cNvPr id="6" name="Group 148"/>
          <p:cNvGraphicFramePr>
            <a:graphicFrameLocks/>
          </p:cNvGraphicFramePr>
          <p:nvPr/>
        </p:nvGraphicFramePr>
        <p:xfrm>
          <a:off x="1981200" y="1067029"/>
          <a:ext cx="8229600" cy="4991101"/>
        </p:xfrm>
        <a:graphic>
          <a:graphicData uri="http://schemas.openxmlformats.org/drawingml/2006/table">
            <a:tbl>
              <a:tblPr/>
              <a:tblGrid>
                <a:gridCol w="757238">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gridCol w="674687">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538162">
                  <a:extLst>
                    <a:ext uri="{9D8B030D-6E8A-4147-A177-3AD203B41FA5}">
                      <a16:colId xmlns:a16="http://schemas.microsoft.com/office/drawing/2014/main" val="20004"/>
                    </a:ext>
                  </a:extLst>
                </a:gridCol>
                <a:gridCol w="498475">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2024063">
                  <a:extLst>
                    <a:ext uri="{9D8B030D-6E8A-4147-A177-3AD203B41FA5}">
                      <a16:colId xmlns:a16="http://schemas.microsoft.com/office/drawing/2014/main" val="20007"/>
                    </a:ext>
                  </a:extLst>
                </a:gridCol>
                <a:gridCol w="1503362">
                  <a:extLst>
                    <a:ext uri="{9D8B030D-6E8A-4147-A177-3AD203B41FA5}">
                      <a16:colId xmlns:a16="http://schemas.microsoft.com/office/drawing/2014/main" val="20008"/>
                    </a:ext>
                  </a:extLst>
                </a:gridCol>
              </a:tblGrid>
              <a:tr h="315913">
                <a:tc gridSpan="9">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000000"/>
                          </a:solidFill>
                          <a:effectLst/>
                          <a:latin typeface="Arial" charset="0"/>
                          <a:cs typeface="Times New Roman" pitchFamily="18" charset="0"/>
                        </a:rPr>
                        <a:t>NPN transistors</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95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Code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Structure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Case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style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Arial" charset="0"/>
                          <a:cs typeface="Times New Roman" pitchFamily="18" charset="0"/>
                        </a:rPr>
                        <a:t>I</a:t>
                      </a:r>
                      <a:r>
                        <a:rPr kumimoji="0" lang="en-US" sz="1200" b="1" i="0" u="none" strike="noStrike" cap="none" normalizeH="0" baseline="-30000" dirty="0">
                          <a:ln>
                            <a:noFill/>
                          </a:ln>
                          <a:solidFill>
                            <a:srgbClr val="000000"/>
                          </a:solidFill>
                          <a:effectLst/>
                          <a:latin typeface="Arial" charset="0"/>
                          <a:cs typeface="Times New Roman" pitchFamily="18" charset="0"/>
                        </a:rPr>
                        <a:t>C</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V</a:t>
                      </a:r>
                      <a:r>
                        <a:rPr kumimoji="0" lang="en-US" sz="1200" b="1" i="0" u="none" strike="noStrike" cap="none" normalizeH="0" baseline="-30000">
                          <a:ln>
                            <a:noFill/>
                          </a:ln>
                          <a:solidFill>
                            <a:srgbClr val="000000"/>
                          </a:solidFill>
                          <a:effectLst/>
                          <a:latin typeface="Arial" charset="0"/>
                          <a:cs typeface="Times New Roman" pitchFamily="18" charset="0"/>
                        </a:rPr>
                        <a:t>CE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max.</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h</a:t>
                      </a:r>
                      <a:r>
                        <a:rPr kumimoji="0" lang="en-US" sz="1200" b="1" i="0" u="none" strike="noStrike" cap="none" normalizeH="0" baseline="-30000">
                          <a:ln>
                            <a:noFill/>
                          </a:ln>
                          <a:solidFill>
                            <a:srgbClr val="000000"/>
                          </a:solidFill>
                          <a:effectLst/>
                          <a:latin typeface="Arial" charset="0"/>
                          <a:cs typeface="Times New Roman" pitchFamily="18" charset="0"/>
                        </a:rPr>
                        <a:t>FE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min.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rgbClr val="000000"/>
                          </a:solidFill>
                          <a:effectLst/>
                          <a:latin typeface="Arial" charset="0"/>
                          <a:cs typeface="Times New Roman" pitchFamily="18" charset="0"/>
                        </a:rPr>
                        <a:t>P</a:t>
                      </a:r>
                      <a:r>
                        <a:rPr kumimoji="0" lang="en-US" sz="1200" b="1" i="0" u="none" strike="noStrike" cap="none" normalizeH="0" baseline="-30000" dirty="0" err="1">
                          <a:ln>
                            <a:noFill/>
                          </a:ln>
                          <a:solidFill>
                            <a:srgbClr val="000000"/>
                          </a:solidFill>
                          <a:effectLst/>
                          <a:latin typeface="Arial" charset="0"/>
                          <a:cs typeface="Times New Roman" pitchFamily="18" charset="0"/>
                        </a:rPr>
                        <a:t>tot</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Category</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(typical use)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Possible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substitutes</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45V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BC182 BC547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BC108C BC183 BC548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noise),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BC184 BC549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700mA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TO92A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TIP29A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68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TIP31C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TIP31A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65W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117W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cs typeface="Times New Roman" pitchFamily="18" charset="0"/>
                        </a:rPr>
                        <a:t> </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 name="Rectangle: Rounded Corners 2">
            <a:extLst>
              <a:ext uri="{FF2B5EF4-FFF2-40B4-BE49-F238E27FC236}">
                <a16:creationId xmlns:a16="http://schemas.microsoft.com/office/drawing/2014/main" id="{53380500-0DA7-60E8-3DF6-099BDD5C46EF}"/>
              </a:ext>
            </a:extLst>
          </p:cNvPr>
          <p:cNvSpPr/>
          <p:nvPr/>
        </p:nvSpPr>
        <p:spPr>
          <a:xfrm>
            <a:off x="1981199" y="2474615"/>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5" name="Straight Arrow Connector 4">
            <a:extLst>
              <a:ext uri="{FF2B5EF4-FFF2-40B4-BE49-F238E27FC236}">
                <a16:creationId xmlns:a16="http://schemas.microsoft.com/office/drawing/2014/main" id="{2D9553D7-0F5D-AEF0-AEB3-E58FF1CDB826}"/>
              </a:ext>
            </a:extLst>
          </p:cNvPr>
          <p:cNvCxnSpPr>
            <a:cxnSpLocks/>
            <a:stCxn id="17" idx="1"/>
            <a:endCxn id="29" idx="5"/>
          </p:cNvCxnSpPr>
          <p:nvPr/>
        </p:nvCxnSpPr>
        <p:spPr>
          <a:xfrm flipH="1" flipV="1">
            <a:off x="4838110" y="2274331"/>
            <a:ext cx="5611024" cy="11693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E6B49B8-6E5B-AE6C-0AD7-90EFF6656C77}"/>
              </a:ext>
            </a:extLst>
          </p:cNvPr>
          <p:cNvCxnSpPr>
            <a:cxnSpLocks/>
            <a:stCxn id="17" idx="1"/>
            <a:endCxn id="30" idx="5"/>
          </p:cNvCxnSpPr>
          <p:nvPr/>
        </p:nvCxnSpPr>
        <p:spPr>
          <a:xfrm flipH="1" flipV="1">
            <a:off x="5362471" y="2266290"/>
            <a:ext cx="5086663" cy="11773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734DF7C3-921E-D1B9-5B5E-3177119C3E1D}"/>
              </a:ext>
            </a:extLst>
          </p:cNvPr>
          <p:cNvSpPr/>
          <p:nvPr/>
        </p:nvSpPr>
        <p:spPr>
          <a:xfrm>
            <a:off x="4263888" y="2497635"/>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CBF66D4F-F55D-0E41-7E7E-4E881145F55D}"/>
              </a:ext>
            </a:extLst>
          </p:cNvPr>
          <p:cNvSpPr txBox="1"/>
          <p:nvPr/>
        </p:nvSpPr>
        <p:spPr>
          <a:xfrm>
            <a:off x="10449134" y="165834"/>
            <a:ext cx="1480930" cy="6555641"/>
          </a:xfrm>
          <a:prstGeom prst="rect">
            <a:avLst/>
          </a:prstGeom>
          <a:noFill/>
        </p:spPr>
        <p:txBody>
          <a:bodyPr wrap="square" rtlCol="0">
            <a:spAutoFit/>
          </a:bodyPr>
          <a:lstStyle/>
          <a:p>
            <a:r>
              <a:rPr lang="en-US" sz="1200">
                <a:solidFill>
                  <a:srgbClr val="FF0000"/>
                </a:solidFill>
              </a:rPr>
              <a:t>Icmax dan Vcemax disini adalah Icmax dan Vcemax “break down” dimana lewat batas tsb, transistor akan rusak. Disini diistilahkan dengan Vcemax_datasheet dan Icmax_datasheet</a:t>
            </a:r>
          </a:p>
          <a:p>
            <a:endParaRPr lang="en-US" sz="1200">
              <a:solidFill>
                <a:srgbClr val="FF0000"/>
              </a:solidFill>
            </a:endParaRPr>
          </a:p>
          <a:p>
            <a:r>
              <a:rPr lang="en-US" sz="1200">
                <a:solidFill>
                  <a:srgbClr val="FF0000"/>
                </a:solidFill>
              </a:rPr>
              <a:t>Catatan1: Icmax dan Vcemax ini hanya bisa  diketahui dari datasheet. Datasheet umumnya dikeluarkan oleh fabrikan. </a:t>
            </a:r>
          </a:p>
          <a:p>
            <a:endParaRPr lang="en-US" sz="1200">
              <a:solidFill>
                <a:srgbClr val="FF0000"/>
              </a:solidFill>
            </a:endParaRPr>
          </a:p>
          <a:p>
            <a:r>
              <a:rPr lang="en-US" sz="1200">
                <a:solidFill>
                  <a:srgbClr val="FF0000"/>
                </a:solidFill>
              </a:rPr>
              <a:t>Catatan2: Notasi Icmax dan Vcemax yang digunakan saat perancangan Prategangan bukanlah Icmax dan Vcemax “break down” melainkan Icmax dan Vcemax “operasional” yang nilainya ditentukan oleh desainer dimana Icmax dan Vcemax operasional harus dibawah break down.</a:t>
            </a:r>
            <a:endParaRPr lang="en-ID" sz="1200">
              <a:solidFill>
                <a:srgbClr val="FF0000"/>
              </a:solidFill>
            </a:endParaRPr>
          </a:p>
        </p:txBody>
      </p:sp>
      <p:sp>
        <p:nvSpPr>
          <p:cNvPr id="26" name="Oval 25">
            <a:extLst>
              <a:ext uri="{FF2B5EF4-FFF2-40B4-BE49-F238E27FC236}">
                <a16:creationId xmlns:a16="http://schemas.microsoft.com/office/drawing/2014/main" id="{6A6B6F4C-3FF7-4DFE-49C0-6F7A51D39DCE}"/>
              </a:ext>
            </a:extLst>
          </p:cNvPr>
          <p:cNvSpPr/>
          <p:nvPr/>
        </p:nvSpPr>
        <p:spPr>
          <a:xfrm>
            <a:off x="4929810" y="2497635"/>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Oval 28">
            <a:extLst>
              <a:ext uri="{FF2B5EF4-FFF2-40B4-BE49-F238E27FC236}">
                <a16:creationId xmlns:a16="http://schemas.microsoft.com/office/drawing/2014/main" id="{97CC27A8-6EB7-DB4D-F08F-62134D088A93}"/>
              </a:ext>
            </a:extLst>
          </p:cNvPr>
          <p:cNvSpPr/>
          <p:nvPr/>
        </p:nvSpPr>
        <p:spPr>
          <a:xfrm>
            <a:off x="4303646" y="1375340"/>
            <a:ext cx="626163"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Oval 29">
            <a:extLst>
              <a:ext uri="{FF2B5EF4-FFF2-40B4-BE49-F238E27FC236}">
                <a16:creationId xmlns:a16="http://schemas.microsoft.com/office/drawing/2014/main" id="{FC19E887-039A-DBA8-08BD-BED340F20C6E}"/>
              </a:ext>
            </a:extLst>
          </p:cNvPr>
          <p:cNvSpPr/>
          <p:nvPr/>
        </p:nvSpPr>
        <p:spPr>
          <a:xfrm>
            <a:off x="4929809" y="1367299"/>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Oval 1">
            <a:extLst>
              <a:ext uri="{FF2B5EF4-FFF2-40B4-BE49-F238E27FC236}">
                <a16:creationId xmlns:a16="http://schemas.microsoft.com/office/drawing/2014/main" id="{CDE9C617-3FF9-651D-26F9-303ED8572EAA}"/>
              </a:ext>
            </a:extLst>
          </p:cNvPr>
          <p:cNvSpPr/>
          <p:nvPr/>
        </p:nvSpPr>
        <p:spPr>
          <a:xfrm>
            <a:off x="5476458" y="2477669"/>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4" name="Straight Arrow Connector 3">
            <a:extLst>
              <a:ext uri="{FF2B5EF4-FFF2-40B4-BE49-F238E27FC236}">
                <a16:creationId xmlns:a16="http://schemas.microsoft.com/office/drawing/2014/main" id="{614EB120-6384-6523-FA5D-752370119DE2}"/>
              </a:ext>
            </a:extLst>
          </p:cNvPr>
          <p:cNvCxnSpPr>
            <a:cxnSpLocks/>
            <a:endCxn id="2" idx="4"/>
          </p:cNvCxnSpPr>
          <p:nvPr/>
        </p:nvCxnSpPr>
        <p:spPr>
          <a:xfrm flipH="1" flipV="1">
            <a:off x="5714792" y="2741774"/>
            <a:ext cx="1314658" cy="35444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164E05CC-B691-65E7-E24D-754E7CEC43EC}"/>
              </a:ext>
            </a:extLst>
          </p:cNvPr>
          <p:cNvSpPr/>
          <p:nvPr/>
        </p:nvSpPr>
        <p:spPr>
          <a:xfrm>
            <a:off x="5469831" y="1394340"/>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TextBox 11">
            <a:extLst>
              <a:ext uri="{FF2B5EF4-FFF2-40B4-BE49-F238E27FC236}">
                <a16:creationId xmlns:a16="http://schemas.microsoft.com/office/drawing/2014/main" id="{83691569-58E1-798E-ECDC-BC8BDD8203E2}"/>
              </a:ext>
            </a:extLst>
          </p:cNvPr>
          <p:cNvSpPr txBox="1"/>
          <p:nvPr/>
        </p:nvSpPr>
        <p:spPr>
          <a:xfrm>
            <a:off x="6095999" y="6214029"/>
            <a:ext cx="2188420" cy="369332"/>
          </a:xfrm>
          <a:prstGeom prst="rect">
            <a:avLst/>
          </a:prstGeom>
          <a:noFill/>
        </p:spPr>
        <p:txBody>
          <a:bodyPr wrap="none" rtlCol="0">
            <a:spAutoFit/>
          </a:bodyPr>
          <a:lstStyle/>
          <a:p>
            <a:r>
              <a:rPr lang="en-US">
                <a:solidFill>
                  <a:srgbClr val="FF0000"/>
                </a:solidFill>
              </a:rPr>
              <a:t>Pada Vce=5V, Ic=2mA</a:t>
            </a:r>
            <a:endParaRPr lang="en-ID">
              <a:solidFill>
                <a:srgbClr val="FF0000"/>
              </a:solidFill>
            </a:endParaRPr>
          </a:p>
        </p:txBody>
      </p:sp>
    </p:spTree>
    <p:extLst>
      <p:ext uri="{BB962C8B-B14F-4D97-AF65-F5344CB8AC3E}">
        <p14:creationId xmlns:p14="http://schemas.microsoft.com/office/powerpoint/2010/main" val="9016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9CC9-1256-9A0C-BD6A-4142B364C5E7}"/>
              </a:ext>
            </a:extLst>
          </p:cNvPr>
          <p:cNvSpPr>
            <a:spLocks noGrp="1"/>
          </p:cNvSpPr>
          <p:nvPr>
            <p:ph type="title"/>
          </p:nvPr>
        </p:nvSpPr>
        <p:spPr/>
        <p:txBody>
          <a:bodyPr/>
          <a:lstStyle/>
          <a:p>
            <a:r>
              <a:rPr lang="en-US"/>
              <a:t>Beta (atau hFE) BC107</a:t>
            </a:r>
            <a:endParaRPr lang="en-ID"/>
          </a:p>
        </p:txBody>
      </p:sp>
      <p:sp>
        <p:nvSpPr>
          <p:cNvPr id="3" name="Content Placeholder 2">
            <a:extLst>
              <a:ext uri="{FF2B5EF4-FFF2-40B4-BE49-F238E27FC236}">
                <a16:creationId xmlns:a16="http://schemas.microsoft.com/office/drawing/2014/main" id="{895A4171-EE3C-6105-CF1D-FBBDC40B6F36}"/>
              </a:ext>
            </a:extLst>
          </p:cNvPr>
          <p:cNvSpPr>
            <a:spLocks noGrp="1"/>
          </p:cNvSpPr>
          <p:nvPr>
            <p:ph idx="1"/>
          </p:nvPr>
        </p:nvSpPr>
        <p:spPr/>
        <p:txBody>
          <a:bodyPr>
            <a:normAutofit fontScale="92500" lnSpcReduction="20000"/>
          </a:bodyPr>
          <a:lstStyle/>
          <a:p>
            <a:pPr>
              <a:buNone/>
            </a:pPr>
            <a:r>
              <a:rPr lang="en-ID"/>
              <a:t>Beta BC107 pada tabel tertulis 110 tapi ini adalah nilai minimum.</a:t>
            </a:r>
          </a:p>
          <a:p>
            <a:pPr>
              <a:buNone/>
            </a:pPr>
            <a:r>
              <a:rPr lang="en-ID"/>
              <a:t>Nilai </a:t>
            </a:r>
            <a:r>
              <a:rPr lang="en-ID" b="1"/>
              <a:t>beta (</a:t>
            </a:r>
            <a:r>
              <a:rPr lang="el-GR" b="1"/>
              <a:t>β)</a:t>
            </a:r>
            <a:r>
              <a:rPr lang="el-GR"/>
              <a:t> </a:t>
            </a:r>
            <a:r>
              <a:rPr lang="en-ID"/>
              <a:t>atau </a:t>
            </a:r>
            <a:r>
              <a:rPr lang="en-ID" b="1"/>
              <a:t>hFE</a:t>
            </a:r>
            <a:r>
              <a:rPr lang="en-ID"/>
              <a:t> dari transistor </a:t>
            </a:r>
            <a:r>
              <a:rPr lang="en-ID" b="1"/>
              <a:t>BC107</a:t>
            </a:r>
            <a:r>
              <a:rPr lang="en-ID"/>
              <a:t> biasanya berada dalam rentang:</a:t>
            </a:r>
          </a:p>
          <a:p>
            <a:pPr>
              <a:buNone/>
            </a:pPr>
            <a:r>
              <a:rPr lang="en-ID" b="1"/>
              <a:t>110 hingga 450</a:t>
            </a:r>
            <a:r>
              <a:rPr lang="en-ID"/>
              <a:t>, tergantung pada tipe subkelasnya dan kondisi pengujian.</a:t>
            </a:r>
          </a:p>
          <a:p>
            <a:pPr>
              <a:buNone/>
            </a:pPr>
            <a:r>
              <a:rPr lang="en-ID"/>
              <a:t>Secara umum:</a:t>
            </a:r>
          </a:p>
          <a:p>
            <a:pPr>
              <a:buFont typeface="Arial" panose="020B0604020202020204" pitchFamily="34" charset="0"/>
              <a:buChar char="•"/>
            </a:pPr>
            <a:r>
              <a:rPr lang="en-ID" b="1"/>
              <a:t>BC107A</a:t>
            </a:r>
            <a:r>
              <a:rPr lang="en-ID"/>
              <a:t>: </a:t>
            </a:r>
            <a:r>
              <a:rPr lang="el-GR"/>
              <a:t>β ≈ 110–220</a:t>
            </a:r>
          </a:p>
          <a:p>
            <a:pPr>
              <a:buFont typeface="Arial" panose="020B0604020202020204" pitchFamily="34" charset="0"/>
              <a:buChar char="•"/>
            </a:pPr>
            <a:r>
              <a:rPr lang="en-ID" b="1"/>
              <a:t>BC107B</a:t>
            </a:r>
            <a:r>
              <a:rPr lang="en-ID"/>
              <a:t>: </a:t>
            </a:r>
            <a:r>
              <a:rPr lang="el-GR"/>
              <a:t>β ≈ 200–450</a:t>
            </a:r>
          </a:p>
          <a:p>
            <a:pPr>
              <a:buFont typeface="Arial" panose="020B0604020202020204" pitchFamily="34" charset="0"/>
              <a:buChar char="•"/>
            </a:pPr>
            <a:r>
              <a:rPr lang="en-ID" b="1"/>
              <a:t>BC107C</a:t>
            </a:r>
            <a:r>
              <a:rPr lang="en-ID"/>
              <a:t>: </a:t>
            </a:r>
            <a:r>
              <a:rPr lang="el-GR"/>
              <a:t>β ≈ 420–800 (</a:t>
            </a:r>
            <a:r>
              <a:rPr lang="en-ID"/>
              <a:t>jika tersedia, meski ini lebih umum di BC547C)</a:t>
            </a:r>
          </a:p>
          <a:p>
            <a:pPr>
              <a:buNone/>
            </a:pPr>
            <a:r>
              <a:rPr lang="en-ID"/>
              <a:t>Nilai pastinya bisa dilihat di datasheet atau diukur menggunakan multimeter dengan fungsi hFE. Pengujian standar biasanya dilakukan pada:</a:t>
            </a:r>
          </a:p>
          <a:p>
            <a:pPr>
              <a:buFont typeface="Arial" panose="020B0604020202020204" pitchFamily="34" charset="0"/>
              <a:buChar char="•"/>
            </a:pPr>
            <a:r>
              <a:rPr lang="en-ID" b="1"/>
              <a:t>Vce</a:t>
            </a:r>
            <a:r>
              <a:rPr lang="en-ID"/>
              <a:t> = 5V</a:t>
            </a:r>
          </a:p>
          <a:p>
            <a:pPr>
              <a:buFont typeface="Arial" panose="020B0604020202020204" pitchFamily="34" charset="0"/>
              <a:buChar char="•"/>
            </a:pPr>
            <a:r>
              <a:rPr lang="en-ID" b="1"/>
              <a:t>Ic</a:t>
            </a:r>
            <a:r>
              <a:rPr lang="en-ID"/>
              <a:t> = 2 mA</a:t>
            </a:r>
          </a:p>
          <a:p>
            <a:endParaRPr lang="en-ID"/>
          </a:p>
        </p:txBody>
      </p:sp>
    </p:spTree>
    <p:extLst>
      <p:ext uri="{BB962C8B-B14F-4D97-AF65-F5344CB8AC3E}">
        <p14:creationId xmlns:p14="http://schemas.microsoft.com/office/powerpoint/2010/main" val="4293632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AC4E-3B81-89AB-857B-C215EFF5D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43773-EFF2-BAF9-DF6B-06F9DE095078}"/>
              </a:ext>
            </a:extLst>
          </p:cNvPr>
          <p:cNvSpPr>
            <a:spLocks noGrp="1"/>
          </p:cNvSpPr>
          <p:nvPr>
            <p:ph type="title"/>
          </p:nvPr>
        </p:nvSpPr>
        <p:spPr/>
        <p:txBody>
          <a:bodyPr/>
          <a:lstStyle/>
          <a:p>
            <a:r>
              <a:rPr lang="en-US"/>
              <a:t>Jawaban</a:t>
            </a:r>
            <a:endParaRPr lang="en-ID"/>
          </a:p>
        </p:txBody>
      </p:sp>
      <p:sp>
        <p:nvSpPr>
          <p:cNvPr id="3" name="Content Placeholder 2">
            <a:extLst>
              <a:ext uri="{FF2B5EF4-FFF2-40B4-BE49-F238E27FC236}">
                <a16:creationId xmlns:a16="http://schemas.microsoft.com/office/drawing/2014/main" id="{62B433CF-9666-FF64-AB78-BEDAD5BE4B10}"/>
              </a:ext>
            </a:extLst>
          </p:cNvPr>
          <p:cNvSpPr>
            <a:spLocks noGrp="1"/>
          </p:cNvSpPr>
          <p:nvPr>
            <p:ph idx="1"/>
          </p:nvPr>
        </p:nvSpPr>
        <p:spPr/>
        <p:txBody>
          <a:bodyPr>
            <a:normAutofit/>
          </a:bodyPr>
          <a:lstStyle/>
          <a:p>
            <a:pPr marL="0" indent="0">
              <a:buNone/>
            </a:pPr>
            <a:r>
              <a:rPr lang="en-US"/>
              <a:t>1. Vcemax_datasheet = 45v</a:t>
            </a:r>
          </a:p>
          <a:p>
            <a:pPr marL="0" indent="0">
              <a:buNone/>
            </a:pPr>
            <a:endParaRPr lang="en-US"/>
          </a:p>
          <a:p>
            <a:pPr marL="0" indent="0">
              <a:buNone/>
            </a:pPr>
            <a:r>
              <a:rPr lang="en-US"/>
              <a:t>2. Icmax_datasheet = 100mA</a:t>
            </a:r>
          </a:p>
          <a:p>
            <a:pPr marL="0" indent="0">
              <a:buNone/>
            </a:pPr>
            <a:endParaRPr lang="en-US"/>
          </a:p>
          <a:p>
            <a:endParaRPr lang="en-US"/>
          </a:p>
          <a:p>
            <a:endParaRPr lang="en-US"/>
          </a:p>
          <a:p>
            <a:endParaRPr lang="en-ID"/>
          </a:p>
        </p:txBody>
      </p:sp>
    </p:spTree>
    <p:extLst>
      <p:ext uri="{BB962C8B-B14F-4D97-AF65-F5344CB8AC3E}">
        <p14:creationId xmlns:p14="http://schemas.microsoft.com/office/powerpoint/2010/main" val="2281742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CC79-FB25-4EAC-979E-29942EE1F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15585-A73B-C5C9-CC04-DBC88A193536}"/>
              </a:ext>
            </a:extLst>
          </p:cNvPr>
          <p:cNvSpPr>
            <a:spLocks noGrp="1"/>
          </p:cNvSpPr>
          <p:nvPr>
            <p:ph type="title"/>
          </p:nvPr>
        </p:nvSpPr>
        <p:spPr>
          <a:xfrm>
            <a:off x="838200" y="365126"/>
            <a:ext cx="10515600" cy="603986"/>
          </a:xfrm>
        </p:spPr>
        <p:txBody>
          <a:bodyPr>
            <a:normAutofit fontScale="90000"/>
          </a:bodyPr>
          <a:lstStyle/>
          <a:p>
            <a:r>
              <a:rPr lang="en-US"/>
              <a:t>Wilayah Transistor saat OFF dan ON</a:t>
            </a:r>
            <a:endParaRPr lang="en-ID"/>
          </a:p>
        </p:txBody>
      </p:sp>
      <p:pic>
        <p:nvPicPr>
          <p:cNvPr id="6" name="Picture 5">
            <a:extLst>
              <a:ext uri="{FF2B5EF4-FFF2-40B4-BE49-F238E27FC236}">
                <a16:creationId xmlns:a16="http://schemas.microsoft.com/office/drawing/2014/main" id="{FC77EDE7-A836-6BE9-A5AF-56C69BFA2B3E}"/>
              </a:ext>
            </a:extLst>
          </p:cNvPr>
          <p:cNvPicPr>
            <a:picLocks noChangeAspect="1"/>
          </p:cNvPicPr>
          <p:nvPr/>
        </p:nvPicPr>
        <p:blipFill>
          <a:blip r:embed="rId2"/>
          <a:stretch>
            <a:fillRect/>
          </a:stretch>
        </p:blipFill>
        <p:spPr>
          <a:xfrm>
            <a:off x="7402040" y="3046196"/>
            <a:ext cx="4154091" cy="2630647"/>
          </a:xfrm>
          <a:prstGeom prst="rect">
            <a:avLst/>
          </a:prstGeom>
        </p:spPr>
      </p:pic>
      <p:sp>
        <p:nvSpPr>
          <p:cNvPr id="74" name="Oval 73">
            <a:extLst>
              <a:ext uri="{FF2B5EF4-FFF2-40B4-BE49-F238E27FC236}">
                <a16:creationId xmlns:a16="http://schemas.microsoft.com/office/drawing/2014/main" id="{E442DB8E-11B5-326C-7230-B3475FA208C9}"/>
              </a:ext>
            </a:extLst>
          </p:cNvPr>
          <p:cNvSpPr/>
          <p:nvPr/>
        </p:nvSpPr>
        <p:spPr>
          <a:xfrm>
            <a:off x="11438954" y="5195419"/>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5" name="Oval 74">
            <a:extLst>
              <a:ext uri="{FF2B5EF4-FFF2-40B4-BE49-F238E27FC236}">
                <a16:creationId xmlns:a16="http://schemas.microsoft.com/office/drawing/2014/main" id="{9CA7C721-C2B1-1C8F-CCC9-CB44C6046E31}"/>
              </a:ext>
            </a:extLst>
          </p:cNvPr>
          <p:cNvSpPr/>
          <p:nvPr/>
        </p:nvSpPr>
        <p:spPr>
          <a:xfrm>
            <a:off x="7674892" y="3718738"/>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7" name="TextBox 76">
            <a:extLst>
              <a:ext uri="{FF2B5EF4-FFF2-40B4-BE49-F238E27FC236}">
                <a16:creationId xmlns:a16="http://schemas.microsoft.com/office/drawing/2014/main" id="{6B6438F0-C9CB-8C08-E3E2-C6D0925D2F1B}"/>
              </a:ext>
            </a:extLst>
          </p:cNvPr>
          <p:cNvSpPr txBox="1"/>
          <p:nvPr/>
        </p:nvSpPr>
        <p:spPr>
          <a:xfrm>
            <a:off x="7505171" y="2408690"/>
            <a:ext cx="1724274" cy="523220"/>
          </a:xfrm>
          <a:prstGeom prst="rect">
            <a:avLst/>
          </a:prstGeom>
          <a:noFill/>
        </p:spPr>
        <p:txBody>
          <a:bodyPr wrap="square" rtlCol="0">
            <a:spAutoFit/>
          </a:bodyPr>
          <a:lstStyle/>
          <a:p>
            <a:r>
              <a:rPr lang="en-US" sz="1400">
                <a:solidFill>
                  <a:srgbClr val="FF0000"/>
                </a:solidFill>
              </a:rPr>
              <a:t>Transistor di wilayah Saturasi</a:t>
            </a:r>
            <a:endParaRPr lang="en-ID" sz="1400">
              <a:solidFill>
                <a:srgbClr val="FF0000"/>
              </a:solidFill>
            </a:endParaRPr>
          </a:p>
        </p:txBody>
      </p:sp>
      <p:cxnSp>
        <p:nvCxnSpPr>
          <p:cNvPr id="79" name="Straight Arrow Connector 78">
            <a:extLst>
              <a:ext uri="{FF2B5EF4-FFF2-40B4-BE49-F238E27FC236}">
                <a16:creationId xmlns:a16="http://schemas.microsoft.com/office/drawing/2014/main" id="{BB54B8FA-88D1-3A18-1763-742D49CDC290}"/>
              </a:ext>
            </a:extLst>
          </p:cNvPr>
          <p:cNvCxnSpPr/>
          <p:nvPr/>
        </p:nvCxnSpPr>
        <p:spPr>
          <a:xfrm flipH="1">
            <a:off x="7792069" y="2781636"/>
            <a:ext cx="360322" cy="861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921558B2-25C7-C664-030F-CD3F0C96F1D0}"/>
              </a:ext>
            </a:extLst>
          </p:cNvPr>
          <p:cNvGrpSpPr/>
          <p:nvPr/>
        </p:nvGrpSpPr>
        <p:grpSpPr>
          <a:xfrm>
            <a:off x="349631" y="2986316"/>
            <a:ext cx="3220861" cy="2925041"/>
            <a:chOff x="584517" y="2769297"/>
            <a:chExt cx="3220861" cy="2925041"/>
          </a:xfrm>
        </p:grpSpPr>
        <p:grpSp>
          <p:nvGrpSpPr>
            <p:cNvPr id="36" name="Group 35">
              <a:extLst>
                <a:ext uri="{FF2B5EF4-FFF2-40B4-BE49-F238E27FC236}">
                  <a16:creationId xmlns:a16="http://schemas.microsoft.com/office/drawing/2014/main" id="{4D7BA607-0799-4DCA-3DC1-1A0EA4685CAA}"/>
                </a:ext>
              </a:extLst>
            </p:cNvPr>
            <p:cNvGrpSpPr/>
            <p:nvPr/>
          </p:nvGrpSpPr>
          <p:grpSpPr>
            <a:xfrm>
              <a:off x="628322" y="2769297"/>
              <a:ext cx="3177056" cy="2925041"/>
              <a:chOff x="1435584" y="2496783"/>
              <a:chExt cx="3769606" cy="3528871"/>
            </a:xfrm>
          </p:grpSpPr>
          <p:pic>
            <p:nvPicPr>
              <p:cNvPr id="8" name="Picture 7">
                <a:extLst>
                  <a:ext uri="{FF2B5EF4-FFF2-40B4-BE49-F238E27FC236}">
                    <a16:creationId xmlns:a16="http://schemas.microsoft.com/office/drawing/2014/main" id="{ECA2978D-9985-6B40-0CB6-EB78DAE44EB8}"/>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9" name="TextBox 8">
                <a:extLst>
                  <a:ext uri="{FF2B5EF4-FFF2-40B4-BE49-F238E27FC236}">
                    <a16:creationId xmlns:a16="http://schemas.microsoft.com/office/drawing/2014/main" id="{A8CDC9BA-DE9A-6C69-1054-08F6898A9C7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4" name="Straight Connector 13">
                <a:extLst>
                  <a:ext uri="{FF2B5EF4-FFF2-40B4-BE49-F238E27FC236}">
                    <a16:creationId xmlns:a16="http://schemas.microsoft.com/office/drawing/2014/main" id="{1960C9C8-68AB-74ED-62EE-08F34E6327CA}"/>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68B8021-389F-B505-E245-9034EEFA5748}"/>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0212A3B-AFA6-1435-6A68-4FC57ECD951E}"/>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7CDDF2B-05C3-6543-0035-C5C18A9379C1}"/>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D977220-5E1F-F8A7-F8DF-83C24D707FBD}"/>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20" name="Rectangle 19">
                <a:extLst>
                  <a:ext uri="{FF2B5EF4-FFF2-40B4-BE49-F238E27FC236}">
                    <a16:creationId xmlns:a16="http://schemas.microsoft.com/office/drawing/2014/main" id="{976DAF73-4375-98E4-E2A8-EC224A21FD17}"/>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21">
                <a:extLst>
                  <a:ext uri="{FF2B5EF4-FFF2-40B4-BE49-F238E27FC236}">
                    <a16:creationId xmlns:a16="http://schemas.microsoft.com/office/drawing/2014/main" id="{200B0CF5-BB5A-8378-F161-4BC8A748B47C}"/>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cxnSp>
          <p:nvCxnSpPr>
            <p:cNvPr id="40" name="Straight Arrow Connector 39">
              <a:extLst>
                <a:ext uri="{FF2B5EF4-FFF2-40B4-BE49-F238E27FC236}">
                  <a16:creationId xmlns:a16="http://schemas.microsoft.com/office/drawing/2014/main" id="{66A0FA66-AF96-44BB-7DE2-6BB0C53AC409}"/>
                </a:ext>
              </a:extLst>
            </p:cNvPr>
            <p:cNvCxnSpPr/>
            <p:nvPr/>
          </p:nvCxnSpPr>
          <p:spPr>
            <a:xfrm>
              <a:off x="1281540" y="358742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B49A58C-EEAF-F7F7-C408-CD450EB95486}"/>
                </a:ext>
              </a:extLst>
            </p:cNvPr>
            <p:cNvSpPr txBox="1"/>
            <p:nvPr/>
          </p:nvSpPr>
          <p:spPr>
            <a:xfrm>
              <a:off x="584517" y="3026943"/>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64" name="Oval 63">
              <a:extLst>
                <a:ext uri="{FF2B5EF4-FFF2-40B4-BE49-F238E27FC236}">
                  <a16:creationId xmlns:a16="http://schemas.microsoft.com/office/drawing/2014/main" id="{F7A0FFAA-5C4D-5A55-466D-240F1E841CC8}"/>
                </a:ext>
              </a:extLst>
            </p:cNvPr>
            <p:cNvSpPr/>
            <p:nvPr/>
          </p:nvSpPr>
          <p:spPr>
            <a:xfrm>
              <a:off x="1785835" y="4045167"/>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71" name="Straight Connector 70">
              <a:extLst>
                <a:ext uri="{FF2B5EF4-FFF2-40B4-BE49-F238E27FC236}">
                  <a16:creationId xmlns:a16="http://schemas.microsoft.com/office/drawing/2014/main" id="{93B9F951-ACBB-311C-930D-7659D23B8E97}"/>
                </a:ext>
              </a:extLst>
            </p:cNvPr>
            <p:cNvCxnSpPr>
              <a:cxnSpLocks/>
            </p:cNvCxnSpPr>
            <p:nvPr/>
          </p:nvCxnSpPr>
          <p:spPr>
            <a:xfrm flipH="1">
              <a:off x="1818213" y="4045167"/>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6E9AD463-6AF4-4F84-B5CA-55160C2C7F5C}"/>
              </a:ext>
            </a:extLst>
          </p:cNvPr>
          <p:cNvGrpSpPr/>
          <p:nvPr/>
        </p:nvGrpSpPr>
        <p:grpSpPr>
          <a:xfrm>
            <a:off x="3820857" y="2988296"/>
            <a:ext cx="3220861" cy="2925041"/>
            <a:chOff x="4055743" y="2771277"/>
            <a:chExt cx="3220861" cy="2925041"/>
          </a:xfrm>
        </p:grpSpPr>
        <p:grpSp>
          <p:nvGrpSpPr>
            <p:cNvPr id="45" name="Group 44">
              <a:extLst>
                <a:ext uri="{FF2B5EF4-FFF2-40B4-BE49-F238E27FC236}">
                  <a16:creationId xmlns:a16="http://schemas.microsoft.com/office/drawing/2014/main" id="{B8AA132C-26A3-A91E-BC0C-4FB386466EF2}"/>
                </a:ext>
              </a:extLst>
            </p:cNvPr>
            <p:cNvGrpSpPr/>
            <p:nvPr/>
          </p:nvGrpSpPr>
          <p:grpSpPr>
            <a:xfrm>
              <a:off x="4099548" y="2771277"/>
              <a:ext cx="3177056" cy="2925041"/>
              <a:chOff x="1435584" y="2496783"/>
              <a:chExt cx="3769606" cy="3528871"/>
            </a:xfrm>
          </p:grpSpPr>
          <p:pic>
            <p:nvPicPr>
              <p:cNvPr id="51" name="Picture 50">
                <a:extLst>
                  <a:ext uri="{FF2B5EF4-FFF2-40B4-BE49-F238E27FC236}">
                    <a16:creationId xmlns:a16="http://schemas.microsoft.com/office/drawing/2014/main" id="{FFC676E3-9A74-F696-D7E4-0B559C964999}"/>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52" name="TextBox 51">
                <a:extLst>
                  <a:ext uri="{FF2B5EF4-FFF2-40B4-BE49-F238E27FC236}">
                    <a16:creationId xmlns:a16="http://schemas.microsoft.com/office/drawing/2014/main" id="{4AB50641-FCA2-CFEF-DA4C-3FEC41B941C2}"/>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53" name="Straight Connector 52">
                <a:extLst>
                  <a:ext uri="{FF2B5EF4-FFF2-40B4-BE49-F238E27FC236}">
                    <a16:creationId xmlns:a16="http://schemas.microsoft.com/office/drawing/2014/main" id="{9203D334-7BDD-66F7-75EA-519819476ED8}"/>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FBE066-AE5E-9A26-0371-F8BA6FC2A662}"/>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D7F14D3-88A5-0286-3C9D-89488CE58E2D}"/>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3F74A0A-D60E-DE9A-4D32-49C93FF2CC3C}"/>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706508C-24DF-E3AB-976E-11D76B1C1964}"/>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58" name="Rectangle 57">
                <a:extLst>
                  <a:ext uri="{FF2B5EF4-FFF2-40B4-BE49-F238E27FC236}">
                    <a16:creationId xmlns:a16="http://schemas.microsoft.com/office/drawing/2014/main" id="{B5453ED7-3F6D-1568-7209-73429E465C07}"/>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9" name="Rectangle 58">
                <a:extLst>
                  <a:ext uri="{FF2B5EF4-FFF2-40B4-BE49-F238E27FC236}">
                    <a16:creationId xmlns:a16="http://schemas.microsoft.com/office/drawing/2014/main" id="{B97603C8-74D7-DFD3-4A99-33369BCE3322}"/>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cxnSp>
          <p:nvCxnSpPr>
            <p:cNvPr id="48" name="Straight Arrow Connector 47">
              <a:extLst>
                <a:ext uri="{FF2B5EF4-FFF2-40B4-BE49-F238E27FC236}">
                  <a16:creationId xmlns:a16="http://schemas.microsoft.com/office/drawing/2014/main" id="{D74E4590-C444-90E9-D349-B41033D824D3}"/>
                </a:ext>
              </a:extLst>
            </p:cNvPr>
            <p:cNvCxnSpPr/>
            <p:nvPr/>
          </p:nvCxnSpPr>
          <p:spPr>
            <a:xfrm>
              <a:off x="4752766" y="358940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07AF68C-3F42-120F-88DB-D02A298AE5DB}"/>
                </a:ext>
              </a:extLst>
            </p:cNvPr>
            <p:cNvSpPr txBox="1"/>
            <p:nvPr/>
          </p:nvSpPr>
          <p:spPr>
            <a:xfrm>
              <a:off x="4055743" y="3028923"/>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65" name="Oval 64">
              <a:extLst>
                <a:ext uri="{FF2B5EF4-FFF2-40B4-BE49-F238E27FC236}">
                  <a16:creationId xmlns:a16="http://schemas.microsoft.com/office/drawing/2014/main" id="{04171A14-8F04-BC2A-B52B-7E012628C0DE}"/>
                </a:ext>
              </a:extLst>
            </p:cNvPr>
            <p:cNvSpPr/>
            <p:nvPr/>
          </p:nvSpPr>
          <p:spPr>
            <a:xfrm>
              <a:off x="5250817" y="4042394"/>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7" name="Straight Connector 66">
              <a:extLst>
                <a:ext uri="{FF2B5EF4-FFF2-40B4-BE49-F238E27FC236}">
                  <a16:creationId xmlns:a16="http://schemas.microsoft.com/office/drawing/2014/main" id="{C42047AC-743F-4151-D8C5-C7316C1539B4}"/>
                </a:ext>
              </a:extLst>
            </p:cNvPr>
            <p:cNvCxnSpPr>
              <a:cxnSpLocks/>
            </p:cNvCxnSpPr>
            <p:nvPr/>
          </p:nvCxnSpPr>
          <p:spPr>
            <a:xfrm>
              <a:off x="5477529" y="4025153"/>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33F8858-A3FC-6753-5811-DBB81EEA3672}"/>
              </a:ext>
            </a:extLst>
          </p:cNvPr>
          <p:cNvGrpSpPr/>
          <p:nvPr/>
        </p:nvGrpSpPr>
        <p:grpSpPr>
          <a:xfrm>
            <a:off x="8775292" y="172766"/>
            <a:ext cx="3131563" cy="1993868"/>
            <a:chOff x="4984700" y="99897"/>
            <a:chExt cx="7640298" cy="5518847"/>
          </a:xfrm>
        </p:grpSpPr>
        <p:pic>
          <p:nvPicPr>
            <p:cNvPr id="88" name="Picture 87">
              <a:extLst>
                <a:ext uri="{FF2B5EF4-FFF2-40B4-BE49-F238E27FC236}">
                  <a16:creationId xmlns:a16="http://schemas.microsoft.com/office/drawing/2014/main" id="{182389EA-3D29-BC41-E146-1D835E71D5F4}"/>
                </a:ext>
              </a:extLst>
            </p:cNvPr>
            <p:cNvPicPr>
              <a:picLocks noChangeAspect="1"/>
            </p:cNvPicPr>
            <p:nvPr/>
          </p:nvPicPr>
          <p:blipFill>
            <a:blip r:embed="rId4"/>
            <a:stretch>
              <a:fillRect/>
            </a:stretch>
          </p:blipFill>
          <p:spPr>
            <a:xfrm>
              <a:off x="4984700" y="99897"/>
              <a:ext cx="7640298" cy="5518847"/>
            </a:xfrm>
            <a:prstGeom prst="rect">
              <a:avLst/>
            </a:prstGeom>
          </p:spPr>
        </p:pic>
        <p:sp>
          <p:nvSpPr>
            <p:cNvPr id="89" name="Rounded Rectangle 6">
              <a:extLst>
                <a:ext uri="{FF2B5EF4-FFF2-40B4-BE49-F238E27FC236}">
                  <a16:creationId xmlns:a16="http://schemas.microsoft.com/office/drawing/2014/main" id="{7D4C38CC-B4A2-EBE7-95B5-4AE78B0DB4FB}"/>
                </a:ext>
              </a:extLst>
            </p:cNvPr>
            <p:cNvSpPr/>
            <p:nvPr/>
          </p:nvSpPr>
          <p:spPr>
            <a:xfrm>
              <a:off x="7358743" y="805543"/>
              <a:ext cx="2895600" cy="44693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ounded Rectangle 7">
              <a:extLst>
                <a:ext uri="{FF2B5EF4-FFF2-40B4-BE49-F238E27FC236}">
                  <a16:creationId xmlns:a16="http://schemas.microsoft.com/office/drawing/2014/main" id="{D56FEAFE-625B-04C2-AF88-FD78A0EBB029}"/>
                </a:ext>
              </a:extLst>
            </p:cNvPr>
            <p:cNvSpPr/>
            <p:nvPr/>
          </p:nvSpPr>
          <p:spPr>
            <a:xfrm>
              <a:off x="7565571" y="5148942"/>
              <a:ext cx="2046515" cy="2939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ounded Rectangle 8">
              <a:extLst>
                <a:ext uri="{FF2B5EF4-FFF2-40B4-BE49-F238E27FC236}">
                  <a16:creationId xmlns:a16="http://schemas.microsoft.com/office/drawing/2014/main" id="{DEDF92E0-AD57-DF98-F874-F857835D37AE}"/>
                </a:ext>
              </a:extLst>
            </p:cNvPr>
            <p:cNvSpPr/>
            <p:nvPr/>
          </p:nvSpPr>
          <p:spPr>
            <a:xfrm>
              <a:off x="5323114" y="2307770"/>
              <a:ext cx="457200" cy="16655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TextBox 91">
            <a:extLst>
              <a:ext uri="{FF2B5EF4-FFF2-40B4-BE49-F238E27FC236}">
                <a16:creationId xmlns:a16="http://schemas.microsoft.com/office/drawing/2014/main" id="{324C925E-3DBE-6A5E-D472-8AD4722A6F0D}"/>
              </a:ext>
            </a:extLst>
          </p:cNvPr>
          <p:cNvSpPr txBox="1"/>
          <p:nvPr/>
        </p:nvSpPr>
        <p:spPr>
          <a:xfrm>
            <a:off x="9694828" y="5790950"/>
            <a:ext cx="1724274" cy="523220"/>
          </a:xfrm>
          <a:prstGeom prst="rect">
            <a:avLst/>
          </a:prstGeom>
          <a:noFill/>
        </p:spPr>
        <p:txBody>
          <a:bodyPr wrap="square" rtlCol="0">
            <a:spAutoFit/>
          </a:bodyPr>
          <a:lstStyle/>
          <a:p>
            <a:r>
              <a:rPr lang="en-US" sz="1400">
                <a:solidFill>
                  <a:srgbClr val="FF0000"/>
                </a:solidFill>
              </a:rPr>
              <a:t>Transistor di wilayah Cut-Off</a:t>
            </a:r>
            <a:endParaRPr lang="en-ID" sz="1400">
              <a:solidFill>
                <a:srgbClr val="FF0000"/>
              </a:solidFill>
            </a:endParaRPr>
          </a:p>
        </p:txBody>
      </p:sp>
      <p:cxnSp>
        <p:nvCxnSpPr>
          <p:cNvPr id="93" name="Straight Arrow Connector 92">
            <a:extLst>
              <a:ext uri="{FF2B5EF4-FFF2-40B4-BE49-F238E27FC236}">
                <a16:creationId xmlns:a16="http://schemas.microsoft.com/office/drawing/2014/main" id="{D71C9D3C-F344-D5F2-FBE0-E243BD1AA5ED}"/>
              </a:ext>
            </a:extLst>
          </p:cNvPr>
          <p:cNvCxnSpPr>
            <a:cxnSpLocks/>
            <a:stCxn id="92" idx="0"/>
          </p:cNvCxnSpPr>
          <p:nvPr/>
        </p:nvCxnSpPr>
        <p:spPr>
          <a:xfrm flipV="1">
            <a:off x="10556965" y="5307179"/>
            <a:ext cx="862137" cy="4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Freeform: Shape 95">
            <a:extLst>
              <a:ext uri="{FF2B5EF4-FFF2-40B4-BE49-F238E27FC236}">
                <a16:creationId xmlns:a16="http://schemas.microsoft.com/office/drawing/2014/main" id="{5306B7A3-CDE4-5316-3CCB-730564814BC2}"/>
              </a:ext>
            </a:extLst>
          </p:cNvPr>
          <p:cNvSpPr/>
          <p:nvPr/>
        </p:nvSpPr>
        <p:spPr>
          <a:xfrm>
            <a:off x="5332794" y="3894939"/>
            <a:ext cx="2306320" cy="639733"/>
          </a:xfrm>
          <a:custGeom>
            <a:avLst/>
            <a:gdLst>
              <a:gd name="connsiteX0" fmla="*/ 0 w 2306320"/>
              <a:gd name="connsiteY0" fmla="*/ 568960 h 639733"/>
              <a:gd name="connsiteX1" fmla="*/ 1361440 w 2306320"/>
              <a:gd name="connsiteY1" fmla="*/ 589280 h 639733"/>
              <a:gd name="connsiteX2" fmla="*/ 2306320 w 2306320"/>
              <a:gd name="connsiteY2" fmla="*/ 0 h 639733"/>
            </a:gdLst>
            <a:ahLst/>
            <a:cxnLst>
              <a:cxn ang="0">
                <a:pos x="connsiteX0" y="connsiteY0"/>
              </a:cxn>
              <a:cxn ang="0">
                <a:pos x="connsiteX1" y="connsiteY1"/>
              </a:cxn>
              <a:cxn ang="0">
                <a:pos x="connsiteX2" y="connsiteY2"/>
              </a:cxn>
            </a:cxnLst>
            <a:rect l="l" t="t" r="r" b="b"/>
            <a:pathLst>
              <a:path w="2306320" h="639733">
                <a:moveTo>
                  <a:pt x="0" y="568960"/>
                </a:moveTo>
                <a:cubicBezTo>
                  <a:pt x="488526" y="626533"/>
                  <a:pt x="977053" y="684107"/>
                  <a:pt x="1361440" y="589280"/>
                </a:cubicBezTo>
                <a:cubicBezTo>
                  <a:pt x="1745827" y="494453"/>
                  <a:pt x="2026073" y="247226"/>
                  <a:pt x="230632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7" name="Freeform: Shape 96">
            <a:extLst>
              <a:ext uri="{FF2B5EF4-FFF2-40B4-BE49-F238E27FC236}">
                <a16:creationId xmlns:a16="http://schemas.microsoft.com/office/drawing/2014/main" id="{C8028104-1A5A-3892-B28E-9F9CCE890CF3}"/>
              </a:ext>
            </a:extLst>
          </p:cNvPr>
          <p:cNvSpPr/>
          <p:nvPr/>
        </p:nvSpPr>
        <p:spPr>
          <a:xfrm>
            <a:off x="1888554" y="4555339"/>
            <a:ext cx="9448800" cy="1514754"/>
          </a:xfrm>
          <a:custGeom>
            <a:avLst/>
            <a:gdLst>
              <a:gd name="connsiteX0" fmla="*/ 0 w 9448800"/>
              <a:gd name="connsiteY0" fmla="*/ 0 h 1514754"/>
              <a:gd name="connsiteX1" fmla="*/ 2580640 w 9448800"/>
              <a:gd name="connsiteY1" fmla="*/ 1493520 h 1514754"/>
              <a:gd name="connsiteX2" fmla="*/ 9448800 w 9448800"/>
              <a:gd name="connsiteY2" fmla="*/ 741680 h 1514754"/>
            </a:gdLst>
            <a:ahLst/>
            <a:cxnLst>
              <a:cxn ang="0">
                <a:pos x="connsiteX0" y="connsiteY0"/>
              </a:cxn>
              <a:cxn ang="0">
                <a:pos x="connsiteX1" y="connsiteY1"/>
              </a:cxn>
              <a:cxn ang="0">
                <a:pos x="connsiteX2" y="connsiteY2"/>
              </a:cxn>
            </a:cxnLst>
            <a:rect l="l" t="t" r="r" b="b"/>
            <a:pathLst>
              <a:path w="9448800" h="1514754">
                <a:moveTo>
                  <a:pt x="0" y="0"/>
                </a:moveTo>
                <a:cubicBezTo>
                  <a:pt x="502920" y="684953"/>
                  <a:pt x="1005840" y="1369907"/>
                  <a:pt x="2580640" y="1493520"/>
                </a:cubicBezTo>
                <a:cubicBezTo>
                  <a:pt x="4155440" y="1617133"/>
                  <a:pt x="6802120" y="1179406"/>
                  <a:pt x="9448800" y="74168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1" name="TextBox 100">
            <a:extLst>
              <a:ext uri="{FF2B5EF4-FFF2-40B4-BE49-F238E27FC236}">
                <a16:creationId xmlns:a16="http://schemas.microsoft.com/office/drawing/2014/main" id="{D03F8BA9-2752-2B82-EB76-578768CAAD17}"/>
              </a:ext>
            </a:extLst>
          </p:cNvPr>
          <p:cNvSpPr txBox="1"/>
          <p:nvPr/>
        </p:nvSpPr>
        <p:spPr>
          <a:xfrm>
            <a:off x="10931348" y="4887536"/>
            <a:ext cx="975507" cy="307777"/>
          </a:xfrm>
          <a:prstGeom prst="rect">
            <a:avLst/>
          </a:prstGeom>
          <a:noFill/>
        </p:spPr>
        <p:txBody>
          <a:bodyPr wrap="square" rtlCol="0">
            <a:spAutoFit/>
          </a:bodyPr>
          <a:lstStyle/>
          <a:p>
            <a:r>
              <a:rPr lang="en-US" sz="1400"/>
              <a:t>(0,Vcemax)</a:t>
            </a:r>
            <a:endParaRPr lang="en-ID" sz="1400"/>
          </a:p>
        </p:txBody>
      </p:sp>
      <p:sp>
        <p:nvSpPr>
          <p:cNvPr id="102" name="TextBox 101">
            <a:extLst>
              <a:ext uri="{FF2B5EF4-FFF2-40B4-BE49-F238E27FC236}">
                <a16:creationId xmlns:a16="http://schemas.microsoft.com/office/drawing/2014/main" id="{89744CF7-8E24-C189-AAB7-88FF4ADFC26F}"/>
              </a:ext>
            </a:extLst>
          </p:cNvPr>
          <p:cNvSpPr txBox="1"/>
          <p:nvPr/>
        </p:nvSpPr>
        <p:spPr>
          <a:xfrm>
            <a:off x="7755156" y="3536749"/>
            <a:ext cx="1043405" cy="307777"/>
          </a:xfrm>
          <a:prstGeom prst="rect">
            <a:avLst/>
          </a:prstGeom>
          <a:noFill/>
        </p:spPr>
        <p:txBody>
          <a:bodyPr wrap="square" rtlCol="0">
            <a:spAutoFit/>
          </a:bodyPr>
          <a:lstStyle/>
          <a:p>
            <a:r>
              <a:rPr lang="en-US" sz="1400"/>
              <a:t>(0,Icmax)</a:t>
            </a:r>
            <a:endParaRPr lang="en-ID" sz="1400"/>
          </a:p>
        </p:txBody>
      </p:sp>
      <p:sp>
        <p:nvSpPr>
          <p:cNvPr id="7" name="TextBox 6">
            <a:extLst>
              <a:ext uri="{FF2B5EF4-FFF2-40B4-BE49-F238E27FC236}">
                <a16:creationId xmlns:a16="http://schemas.microsoft.com/office/drawing/2014/main" id="{048F052D-A284-965B-163A-84110F8F0723}"/>
              </a:ext>
            </a:extLst>
          </p:cNvPr>
          <p:cNvSpPr txBox="1"/>
          <p:nvPr/>
        </p:nvSpPr>
        <p:spPr>
          <a:xfrm>
            <a:off x="1046654" y="6149609"/>
            <a:ext cx="4195989" cy="307777"/>
          </a:xfrm>
          <a:prstGeom prst="rect">
            <a:avLst/>
          </a:prstGeom>
          <a:noFill/>
        </p:spPr>
        <p:txBody>
          <a:bodyPr wrap="square" rtlCol="0">
            <a:spAutoFit/>
          </a:bodyPr>
          <a:lstStyle/>
          <a:p>
            <a:r>
              <a:rPr lang="en-US" sz="1400"/>
              <a:t>Catatan: Icmax dan Vcemax disini adalah </a:t>
            </a:r>
            <a:endParaRPr lang="en-ID" sz="1400"/>
          </a:p>
        </p:txBody>
      </p:sp>
    </p:spTree>
    <p:extLst>
      <p:ext uri="{BB962C8B-B14F-4D97-AF65-F5344CB8AC3E}">
        <p14:creationId xmlns:p14="http://schemas.microsoft.com/office/powerpoint/2010/main" val="99114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D230-75CF-3AF5-DD1B-3CE3ECC46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D247B-26C4-4BDF-FEFA-6018CF04957A}"/>
              </a:ext>
            </a:extLst>
          </p:cNvPr>
          <p:cNvSpPr>
            <a:spLocks noGrp="1"/>
          </p:cNvSpPr>
          <p:nvPr>
            <p:ph type="title"/>
          </p:nvPr>
        </p:nvSpPr>
        <p:spPr>
          <a:xfrm>
            <a:off x="838200" y="365126"/>
            <a:ext cx="10515600" cy="603986"/>
          </a:xfrm>
        </p:spPr>
        <p:txBody>
          <a:bodyPr>
            <a:normAutofit fontScale="90000"/>
          </a:bodyPr>
          <a:lstStyle/>
          <a:p>
            <a:r>
              <a:rPr lang="en-US"/>
              <a:t>Persamaan Transistor saat OFF dan ON</a:t>
            </a:r>
            <a:endParaRPr lang="en-ID"/>
          </a:p>
        </p:txBody>
      </p:sp>
      <p:sp>
        <p:nvSpPr>
          <p:cNvPr id="10" name="TextBox 9">
            <a:extLst>
              <a:ext uri="{FF2B5EF4-FFF2-40B4-BE49-F238E27FC236}">
                <a16:creationId xmlns:a16="http://schemas.microsoft.com/office/drawing/2014/main" id="{EACF0F07-574B-A7AE-5C00-1895FAD237EA}"/>
              </a:ext>
            </a:extLst>
          </p:cNvPr>
          <p:cNvSpPr txBox="1"/>
          <p:nvPr/>
        </p:nvSpPr>
        <p:spPr>
          <a:xfrm>
            <a:off x="2470081" y="1143782"/>
            <a:ext cx="2225732" cy="369332"/>
          </a:xfrm>
          <a:prstGeom prst="rect">
            <a:avLst/>
          </a:prstGeom>
          <a:noFill/>
        </p:spPr>
        <p:txBody>
          <a:bodyPr wrap="square">
            <a:spAutoFit/>
          </a:bodyPr>
          <a:lstStyle/>
          <a:p>
            <a:r>
              <a:rPr lang="en-US"/>
              <a:t>Transistor saat OFF </a:t>
            </a:r>
            <a:endParaRPr lang="en-ID"/>
          </a:p>
        </p:txBody>
      </p:sp>
      <p:sp>
        <p:nvSpPr>
          <p:cNvPr id="11" name="TextBox 10">
            <a:extLst>
              <a:ext uri="{FF2B5EF4-FFF2-40B4-BE49-F238E27FC236}">
                <a16:creationId xmlns:a16="http://schemas.microsoft.com/office/drawing/2014/main" id="{389924F9-B102-C64F-07B1-548634EC4AA2}"/>
              </a:ext>
            </a:extLst>
          </p:cNvPr>
          <p:cNvSpPr txBox="1"/>
          <p:nvPr/>
        </p:nvSpPr>
        <p:spPr>
          <a:xfrm>
            <a:off x="7184947" y="1154211"/>
            <a:ext cx="2225732" cy="369332"/>
          </a:xfrm>
          <a:prstGeom prst="rect">
            <a:avLst/>
          </a:prstGeom>
          <a:noFill/>
        </p:spPr>
        <p:txBody>
          <a:bodyPr wrap="square">
            <a:spAutoFit/>
          </a:bodyPr>
          <a:lstStyle/>
          <a:p>
            <a:r>
              <a:rPr lang="en-US"/>
              <a:t>Transistor saat ON </a:t>
            </a:r>
            <a:endParaRPr lang="en-ID"/>
          </a:p>
        </p:txBody>
      </p:sp>
      <p:sp>
        <p:nvSpPr>
          <p:cNvPr id="12" name="TextBox 11">
            <a:extLst>
              <a:ext uri="{FF2B5EF4-FFF2-40B4-BE49-F238E27FC236}">
                <a16:creationId xmlns:a16="http://schemas.microsoft.com/office/drawing/2014/main" id="{7A419FF9-7C23-3F96-7EFE-BB8F07E4C75D}"/>
              </a:ext>
            </a:extLst>
          </p:cNvPr>
          <p:cNvSpPr txBox="1"/>
          <p:nvPr/>
        </p:nvSpPr>
        <p:spPr>
          <a:xfrm>
            <a:off x="2046252" y="4866914"/>
            <a:ext cx="2225732" cy="646331"/>
          </a:xfrm>
          <a:prstGeom prst="rect">
            <a:avLst/>
          </a:prstGeom>
          <a:noFill/>
        </p:spPr>
        <p:txBody>
          <a:bodyPr wrap="square">
            <a:spAutoFit/>
          </a:bodyPr>
          <a:lstStyle/>
          <a:p>
            <a:pPr marL="285750" indent="-285750">
              <a:buFont typeface="Wingdings" panose="05000000000000000000" pitchFamily="2" charset="2"/>
              <a:buChar char="è"/>
            </a:pPr>
            <a:r>
              <a:rPr lang="en-US"/>
              <a:t>Vce=Vcemax=Vcc</a:t>
            </a:r>
          </a:p>
          <a:p>
            <a:pPr marL="285750" indent="-285750">
              <a:buFont typeface="Wingdings" panose="05000000000000000000" pitchFamily="2" charset="2"/>
              <a:buChar char="è"/>
            </a:pPr>
            <a:r>
              <a:rPr lang="en-US"/>
              <a:t>Ic=0</a:t>
            </a:r>
            <a:endParaRPr lang="en-ID"/>
          </a:p>
        </p:txBody>
      </p:sp>
      <p:sp>
        <p:nvSpPr>
          <p:cNvPr id="13" name="TextBox 12">
            <a:extLst>
              <a:ext uri="{FF2B5EF4-FFF2-40B4-BE49-F238E27FC236}">
                <a16:creationId xmlns:a16="http://schemas.microsoft.com/office/drawing/2014/main" id="{031E9AEC-67B9-008B-CA73-FF68F75991AE}"/>
              </a:ext>
            </a:extLst>
          </p:cNvPr>
          <p:cNvSpPr txBox="1"/>
          <p:nvPr/>
        </p:nvSpPr>
        <p:spPr>
          <a:xfrm>
            <a:off x="7132886" y="4866914"/>
            <a:ext cx="3939407" cy="646331"/>
          </a:xfrm>
          <a:prstGeom prst="rect">
            <a:avLst/>
          </a:prstGeom>
          <a:noFill/>
        </p:spPr>
        <p:txBody>
          <a:bodyPr wrap="square">
            <a:spAutoFit/>
          </a:bodyPr>
          <a:lstStyle/>
          <a:p>
            <a:pPr marL="285750" indent="-285750">
              <a:buFont typeface="Wingdings" panose="05000000000000000000" pitchFamily="2" charset="2"/>
              <a:buChar char="è"/>
            </a:pPr>
            <a:r>
              <a:rPr lang="en-US"/>
              <a:t>Vce=0</a:t>
            </a:r>
          </a:p>
          <a:p>
            <a:pPr marL="285750" indent="-285750">
              <a:buFont typeface="Wingdings" panose="05000000000000000000" pitchFamily="2" charset="2"/>
              <a:buChar char="è"/>
            </a:pPr>
            <a:r>
              <a:rPr lang="en-US"/>
              <a:t>Ic=Icmax</a:t>
            </a:r>
          </a:p>
        </p:txBody>
      </p:sp>
      <p:sp>
        <p:nvSpPr>
          <p:cNvPr id="18" name="Content Placeholder 2">
            <a:extLst>
              <a:ext uri="{FF2B5EF4-FFF2-40B4-BE49-F238E27FC236}">
                <a16:creationId xmlns:a16="http://schemas.microsoft.com/office/drawing/2014/main" id="{80B212AA-C623-1C93-BA5C-A0212BCF2515}"/>
              </a:ext>
            </a:extLst>
          </p:cNvPr>
          <p:cNvSpPr>
            <a:spLocks noGrp="1"/>
          </p:cNvSpPr>
          <p:nvPr>
            <p:ph idx="1"/>
          </p:nvPr>
        </p:nvSpPr>
        <p:spPr>
          <a:xfrm>
            <a:off x="3691385" y="6113314"/>
            <a:ext cx="4356159" cy="567554"/>
          </a:xfrm>
        </p:spPr>
        <p:txBody>
          <a:bodyPr>
            <a:noAutofit/>
          </a:bodyPr>
          <a:lstStyle/>
          <a:p>
            <a:pPr marL="0" indent="0">
              <a:buNone/>
            </a:pPr>
            <a:r>
              <a:rPr lang="en-US" sz="2000"/>
              <a:t>Persamaan output:</a:t>
            </a:r>
            <a:r>
              <a:rPr lang="en-US" sz="2000">
                <a:sym typeface="Wingdings" panose="05000000000000000000" pitchFamily="2" charset="2"/>
              </a:rPr>
              <a:t> </a:t>
            </a:r>
            <a:r>
              <a:rPr lang="en-US" sz="2000"/>
              <a:t>Ic=(Vcc-Vce)/Rc</a:t>
            </a:r>
          </a:p>
        </p:txBody>
      </p:sp>
      <p:grpSp>
        <p:nvGrpSpPr>
          <p:cNvPr id="21" name="Group 20">
            <a:extLst>
              <a:ext uri="{FF2B5EF4-FFF2-40B4-BE49-F238E27FC236}">
                <a16:creationId xmlns:a16="http://schemas.microsoft.com/office/drawing/2014/main" id="{A83207EE-D13B-1BB4-24BB-8BB26D526EB3}"/>
              </a:ext>
            </a:extLst>
          </p:cNvPr>
          <p:cNvGrpSpPr/>
          <p:nvPr/>
        </p:nvGrpSpPr>
        <p:grpSpPr>
          <a:xfrm>
            <a:off x="1950614" y="1649276"/>
            <a:ext cx="3244511" cy="2925041"/>
            <a:chOff x="584517" y="2769297"/>
            <a:chExt cx="3244511" cy="2925041"/>
          </a:xfrm>
        </p:grpSpPr>
        <p:grpSp>
          <p:nvGrpSpPr>
            <p:cNvPr id="24" name="Group 23">
              <a:extLst>
                <a:ext uri="{FF2B5EF4-FFF2-40B4-BE49-F238E27FC236}">
                  <a16:creationId xmlns:a16="http://schemas.microsoft.com/office/drawing/2014/main" id="{2C998969-487E-8E8F-6AA1-09E7F5A85C76}"/>
                </a:ext>
              </a:extLst>
            </p:cNvPr>
            <p:cNvGrpSpPr/>
            <p:nvPr/>
          </p:nvGrpSpPr>
          <p:grpSpPr>
            <a:xfrm>
              <a:off x="628322" y="2769297"/>
              <a:ext cx="3177056" cy="2925041"/>
              <a:chOff x="1435584" y="2496783"/>
              <a:chExt cx="3769606" cy="3528871"/>
            </a:xfrm>
          </p:grpSpPr>
          <p:pic>
            <p:nvPicPr>
              <p:cNvPr id="33" name="Picture 32">
                <a:extLst>
                  <a:ext uri="{FF2B5EF4-FFF2-40B4-BE49-F238E27FC236}">
                    <a16:creationId xmlns:a16="http://schemas.microsoft.com/office/drawing/2014/main" id="{1C432686-710C-4C0E-4456-D230D69616FF}"/>
                  </a:ext>
                </a:extLst>
              </p:cNvPr>
              <p:cNvPicPr>
                <a:picLocks noChangeAspect="1"/>
              </p:cNvPicPr>
              <p:nvPr/>
            </p:nvPicPr>
            <p:blipFill>
              <a:blip r:embed="rId2"/>
              <a:stretch>
                <a:fillRect/>
              </a:stretch>
            </p:blipFill>
            <p:spPr>
              <a:xfrm>
                <a:off x="1435584" y="2496783"/>
                <a:ext cx="3769606" cy="3313412"/>
              </a:xfrm>
              <a:prstGeom prst="rect">
                <a:avLst/>
              </a:prstGeom>
            </p:spPr>
          </p:pic>
          <p:sp>
            <p:nvSpPr>
              <p:cNvPr id="34" name="TextBox 33">
                <a:extLst>
                  <a:ext uri="{FF2B5EF4-FFF2-40B4-BE49-F238E27FC236}">
                    <a16:creationId xmlns:a16="http://schemas.microsoft.com/office/drawing/2014/main" id="{2F2A566E-5ABE-8656-235C-77475F84B047}"/>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35" name="Straight Connector 34">
                <a:extLst>
                  <a:ext uri="{FF2B5EF4-FFF2-40B4-BE49-F238E27FC236}">
                    <a16:creationId xmlns:a16="http://schemas.microsoft.com/office/drawing/2014/main" id="{B9C8D966-6592-5EDF-F7C7-2F32EAA3A60B}"/>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7CFF68-2479-C4AC-3D69-E7763747690F}"/>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08F1F35-6378-F7FB-27DC-544AB8740E00}"/>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96B489C-887E-EB94-966C-FB772DC1BFAF}"/>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7E99D3B-A81D-450E-5CC2-048C0F19E946}"/>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46" name="Rectangle 45">
                <a:extLst>
                  <a:ext uri="{FF2B5EF4-FFF2-40B4-BE49-F238E27FC236}">
                    <a16:creationId xmlns:a16="http://schemas.microsoft.com/office/drawing/2014/main" id="{7886F183-3FA3-E8F3-00BD-FC499EB3415C}"/>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Rectangle 59">
                <a:extLst>
                  <a:ext uri="{FF2B5EF4-FFF2-40B4-BE49-F238E27FC236}">
                    <a16:creationId xmlns:a16="http://schemas.microsoft.com/office/drawing/2014/main" id="{6A7F8EEC-3D99-F1EF-6CDC-9503129833AF}"/>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25" name="TextBox 24">
              <a:extLst>
                <a:ext uri="{FF2B5EF4-FFF2-40B4-BE49-F238E27FC236}">
                  <a16:creationId xmlns:a16="http://schemas.microsoft.com/office/drawing/2014/main" id="{AE9341EE-3F51-AAB5-A845-69E9F8AA667A}"/>
                </a:ext>
              </a:extLst>
            </p:cNvPr>
            <p:cNvSpPr txBox="1"/>
            <p:nvPr/>
          </p:nvSpPr>
          <p:spPr>
            <a:xfrm>
              <a:off x="2325288" y="3402761"/>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cxnSp>
          <p:nvCxnSpPr>
            <p:cNvPr id="26" name="Straight Arrow Connector 25">
              <a:extLst>
                <a:ext uri="{FF2B5EF4-FFF2-40B4-BE49-F238E27FC236}">
                  <a16:creationId xmlns:a16="http://schemas.microsoft.com/office/drawing/2014/main" id="{B9657473-8D90-1DE1-03FA-17FACBC70A4A}"/>
                </a:ext>
              </a:extLst>
            </p:cNvPr>
            <p:cNvCxnSpPr/>
            <p:nvPr/>
          </p:nvCxnSpPr>
          <p:spPr>
            <a:xfrm>
              <a:off x="1281540" y="358742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ACD7F17-E4BC-42AA-1B3C-92E3B8B8ABB0}"/>
                </a:ext>
              </a:extLst>
            </p:cNvPr>
            <p:cNvSpPr txBox="1"/>
            <p:nvPr/>
          </p:nvSpPr>
          <p:spPr>
            <a:xfrm>
              <a:off x="584517" y="3026943"/>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28" name="TextBox 27">
              <a:extLst>
                <a:ext uri="{FF2B5EF4-FFF2-40B4-BE49-F238E27FC236}">
                  <a16:creationId xmlns:a16="http://schemas.microsoft.com/office/drawing/2014/main" id="{6ACB1F33-6DA1-B36D-3CD1-3197ABC4492A}"/>
                </a:ext>
              </a:extLst>
            </p:cNvPr>
            <p:cNvSpPr txBox="1"/>
            <p:nvPr/>
          </p:nvSpPr>
          <p:spPr>
            <a:xfrm>
              <a:off x="2615747" y="4379014"/>
              <a:ext cx="1213281" cy="307777"/>
            </a:xfrm>
            <a:prstGeom prst="rect">
              <a:avLst/>
            </a:prstGeom>
            <a:noFill/>
          </p:spPr>
          <p:txBody>
            <a:bodyPr wrap="none" rtlCol="0">
              <a:spAutoFit/>
            </a:bodyPr>
            <a:lstStyle/>
            <a:p>
              <a:r>
                <a:rPr lang="en-US" sz="1400">
                  <a:solidFill>
                    <a:srgbClr val="FF0000"/>
                  </a:solidFill>
                </a:rPr>
                <a:t>=Vcemax=Vcc</a:t>
              </a:r>
              <a:endParaRPr lang="en-ID" sz="1400">
                <a:solidFill>
                  <a:srgbClr val="FF0000"/>
                </a:solidFill>
              </a:endParaRPr>
            </a:p>
          </p:txBody>
        </p:sp>
        <p:sp>
          <p:nvSpPr>
            <p:cNvPr id="29" name="Oval 28">
              <a:extLst>
                <a:ext uri="{FF2B5EF4-FFF2-40B4-BE49-F238E27FC236}">
                  <a16:creationId xmlns:a16="http://schemas.microsoft.com/office/drawing/2014/main" id="{6AB892FE-0BAA-4072-FA7A-CEE2360E5AE1}"/>
                </a:ext>
              </a:extLst>
            </p:cNvPr>
            <p:cNvSpPr/>
            <p:nvPr/>
          </p:nvSpPr>
          <p:spPr>
            <a:xfrm>
              <a:off x="1785835" y="4045167"/>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30" name="Straight Connector 29">
              <a:extLst>
                <a:ext uri="{FF2B5EF4-FFF2-40B4-BE49-F238E27FC236}">
                  <a16:creationId xmlns:a16="http://schemas.microsoft.com/office/drawing/2014/main" id="{4F548340-395F-8D55-3B02-14959B234D78}"/>
                </a:ext>
              </a:extLst>
            </p:cNvPr>
            <p:cNvCxnSpPr>
              <a:cxnSpLocks/>
            </p:cNvCxnSpPr>
            <p:nvPr/>
          </p:nvCxnSpPr>
          <p:spPr>
            <a:xfrm flipH="1">
              <a:off x="1818213" y="4045167"/>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B00ECDE0-9D1C-E5A7-09D0-465C854FF074}"/>
              </a:ext>
            </a:extLst>
          </p:cNvPr>
          <p:cNvGrpSpPr/>
          <p:nvPr/>
        </p:nvGrpSpPr>
        <p:grpSpPr>
          <a:xfrm>
            <a:off x="6665480" y="1654556"/>
            <a:ext cx="3220861" cy="2925041"/>
            <a:chOff x="4055743" y="2771277"/>
            <a:chExt cx="3220861" cy="2925041"/>
          </a:xfrm>
        </p:grpSpPr>
        <p:grpSp>
          <p:nvGrpSpPr>
            <p:cNvPr id="68" name="Group 67">
              <a:extLst>
                <a:ext uri="{FF2B5EF4-FFF2-40B4-BE49-F238E27FC236}">
                  <a16:creationId xmlns:a16="http://schemas.microsoft.com/office/drawing/2014/main" id="{6D176756-1ECE-DEF7-08F1-E865B98739FA}"/>
                </a:ext>
              </a:extLst>
            </p:cNvPr>
            <p:cNvGrpSpPr/>
            <p:nvPr/>
          </p:nvGrpSpPr>
          <p:grpSpPr>
            <a:xfrm>
              <a:off x="4099548" y="2771277"/>
              <a:ext cx="3177056" cy="2925041"/>
              <a:chOff x="1435584" y="2496783"/>
              <a:chExt cx="3769606" cy="3528871"/>
            </a:xfrm>
          </p:grpSpPr>
          <p:pic>
            <p:nvPicPr>
              <p:cNvPr id="103" name="Picture 102">
                <a:extLst>
                  <a:ext uri="{FF2B5EF4-FFF2-40B4-BE49-F238E27FC236}">
                    <a16:creationId xmlns:a16="http://schemas.microsoft.com/office/drawing/2014/main" id="{5AA546EC-EE5D-DF8D-D8F2-0BBCCDA188F1}"/>
                  </a:ext>
                </a:extLst>
              </p:cNvPr>
              <p:cNvPicPr>
                <a:picLocks noChangeAspect="1"/>
              </p:cNvPicPr>
              <p:nvPr/>
            </p:nvPicPr>
            <p:blipFill>
              <a:blip r:embed="rId2"/>
              <a:stretch>
                <a:fillRect/>
              </a:stretch>
            </p:blipFill>
            <p:spPr>
              <a:xfrm>
                <a:off x="1435584" y="2496783"/>
                <a:ext cx="3769606" cy="3313412"/>
              </a:xfrm>
              <a:prstGeom prst="rect">
                <a:avLst/>
              </a:prstGeom>
            </p:spPr>
          </p:pic>
          <p:sp>
            <p:nvSpPr>
              <p:cNvPr id="104" name="TextBox 103">
                <a:extLst>
                  <a:ext uri="{FF2B5EF4-FFF2-40B4-BE49-F238E27FC236}">
                    <a16:creationId xmlns:a16="http://schemas.microsoft.com/office/drawing/2014/main" id="{FB574BB7-ECA0-B873-0566-1395AFFAD5A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05" name="Straight Connector 104">
                <a:extLst>
                  <a:ext uri="{FF2B5EF4-FFF2-40B4-BE49-F238E27FC236}">
                    <a16:creationId xmlns:a16="http://schemas.microsoft.com/office/drawing/2014/main" id="{B1D2E004-D77E-3A7D-14D7-5D96E832895D}"/>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3D20EC9-68BB-6A44-74F6-2F6A6E325794}"/>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71C0A2A-499D-8F2D-71EF-39184C89841F}"/>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0FB3F2A-C020-7ABE-FC21-7FD57C027D2C}"/>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5380C92E-BDEB-EE9E-1769-ECAEDF54067F}"/>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110" name="Rectangle 109">
                <a:extLst>
                  <a:ext uri="{FF2B5EF4-FFF2-40B4-BE49-F238E27FC236}">
                    <a16:creationId xmlns:a16="http://schemas.microsoft.com/office/drawing/2014/main" id="{09DB12F6-80CE-E3AA-7E12-7DD25DE5317E}"/>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1" name="Rectangle 110">
                <a:extLst>
                  <a:ext uri="{FF2B5EF4-FFF2-40B4-BE49-F238E27FC236}">
                    <a16:creationId xmlns:a16="http://schemas.microsoft.com/office/drawing/2014/main" id="{7B72D752-1A26-A6F3-90D8-7BE8DF35B386}"/>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69" name="TextBox 68">
              <a:extLst>
                <a:ext uri="{FF2B5EF4-FFF2-40B4-BE49-F238E27FC236}">
                  <a16:creationId xmlns:a16="http://schemas.microsoft.com/office/drawing/2014/main" id="{799D109E-EF1B-D0FC-FD0F-45DC484A25B8}"/>
                </a:ext>
              </a:extLst>
            </p:cNvPr>
            <p:cNvSpPr txBox="1"/>
            <p:nvPr/>
          </p:nvSpPr>
          <p:spPr>
            <a:xfrm>
              <a:off x="5796514" y="3404741"/>
              <a:ext cx="740844" cy="307777"/>
            </a:xfrm>
            <a:prstGeom prst="rect">
              <a:avLst/>
            </a:prstGeom>
            <a:noFill/>
          </p:spPr>
          <p:txBody>
            <a:bodyPr wrap="none" rtlCol="0">
              <a:spAutoFit/>
            </a:bodyPr>
            <a:lstStyle/>
            <a:p>
              <a:r>
                <a:rPr lang="en-US" sz="1400">
                  <a:solidFill>
                    <a:srgbClr val="FF0000"/>
                  </a:solidFill>
                </a:rPr>
                <a:t>= Icmax</a:t>
              </a:r>
              <a:endParaRPr lang="en-ID" sz="1400">
                <a:solidFill>
                  <a:srgbClr val="FF0000"/>
                </a:solidFill>
              </a:endParaRPr>
            </a:p>
          </p:txBody>
        </p:sp>
        <p:cxnSp>
          <p:nvCxnSpPr>
            <p:cNvPr id="70" name="Straight Arrow Connector 69">
              <a:extLst>
                <a:ext uri="{FF2B5EF4-FFF2-40B4-BE49-F238E27FC236}">
                  <a16:creationId xmlns:a16="http://schemas.microsoft.com/office/drawing/2014/main" id="{334FFC9C-F295-4E17-1033-87707C4AD3EB}"/>
                </a:ext>
              </a:extLst>
            </p:cNvPr>
            <p:cNvCxnSpPr/>
            <p:nvPr/>
          </p:nvCxnSpPr>
          <p:spPr>
            <a:xfrm>
              <a:off x="4752766" y="358940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8AB02F9-CDCA-B300-2D92-B8FFD589B6E7}"/>
                </a:ext>
              </a:extLst>
            </p:cNvPr>
            <p:cNvSpPr txBox="1"/>
            <p:nvPr/>
          </p:nvSpPr>
          <p:spPr>
            <a:xfrm>
              <a:off x="4055743" y="3028923"/>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73" name="TextBox 72">
              <a:extLst>
                <a:ext uri="{FF2B5EF4-FFF2-40B4-BE49-F238E27FC236}">
                  <a16:creationId xmlns:a16="http://schemas.microsoft.com/office/drawing/2014/main" id="{FD570C58-F529-2683-CDDA-021FF55D1FFA}"/>
                </a:ext>
              </a:extLst>
            </p:cNvPr>
            <p:cNvSpPr txBox="1"/>
            <p:nvPr/>
          </p:nvSpPr>
          <p:spPr>
            <a:xfrm>
              <a:off x="6086973" y="4380994"/>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sp>
          <p:nvSpPr>
            <p:cNvPr id="78" name="Oval 77">
              <a:extLst>
                <a:ext uri="{FF2B5EF4-FFF2-40B4-BE49-F238E27FC236}">
                  <a16:creationId xmlns:a16="http://schemas.microsoft.com/office/drawing/2014/main" id="{7F66DA3E-653C-684A-EDC1-66B26FB8095A}"/>
                </a:ext>
              </a:extLst>
            </p:cNvPr>
            <p:cNvSpPr/>
            <p:nvPr/>
          </p:nvSpPr>
          <p:spPr>
            <a:xfrm>
              <a:off x="5250817" y="4042394"/>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94" name="Straight Connector 93">
              <a:extLst>
                <a:ext uri="{FF2B5EF4-FFF2-40B4-BE49-F238E27FC236}">
                  <a16:creationId xmlns:a16="http://schemas.microsoft.com/office/drawing/2014/main" id="{51B4285E-54D9-7838-5476-406D0281F82C}"/>
                </a:ext>
              </a:extLst>
            </p:cNvPr>
            <p:cNvCxnSpPr>
              <a:cxnSpLocks/>
            </p:cNvCxnSpPr>
            <p:nvPr/>
          </p:nvCxnSpPr>
          <p:spPr>
            <a:xfrm>
              <a:off x="5477529" y="4025153"/>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360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6595-F738-FC96-5D37-052E28926D60}"/>
              </a:ext>
            </a:extLst>
          </p:cNvPr>
          <p:cNvSpPr>
            <a:spLocks noGrp="1"/>
          </p:cNvSpPr>
          <p:nvPr>
            <p:ph type="title"/>
          </p:nvPr>
        </p:nvSpPr>
        <p:spPr>
          <a:xfrm>
            <a:off x="838200" y="365126"/>
            <a:ext cx="10515600" cy="603986"/>
          </a:xfrm>
        </p:spPr>
        <p:txBody>
          <a:bodyPr>
            <a:normAutofit fontScale="90000"/>
          </a:bodyPr>
          <a:lstStyle/>
          <a:p>
            <a:r>
              <a:rPr lang="en-US"/>
              <a:t>Icmax dan Vcemax Transistor saat OFF dan ON</a:t>
            </a:r>
            <a:endParaRPr lang="en-ID"/>
          </a:p>
        </p:txBody>
      </p:sp>
      <p:sp>
        <p:nvSpPr>
          <p:cNvPr id="3" name="Content Placeholder 2">
            <a:extLst>
              <a:ext uri="{FF2B5EF4-FFF2-40B4-BE49-F238E27FC236}">
                <a16:creationId xmlns:a16="http://schemas.microsoft.com/office/drawing/2014/main" id="{1B12B9DF-C152-8767-3835-5DF9581F29CB}"/>
              </a:ext>
            </a:extLst>
          </p:cNvPr>
          <p:cNvSpPr>
            <a:spLocks noGrp="1"/>
          </p:cNvSpPr>
          <p:nvPr>
            <p:ph idx="1"/>
          </p:nvPr>
        </p:nvSpPr>
        <p:spPr>
          <a:xfrm>
            <a:off x="2674279" y="5936884"/>
            <a:ext cx="6864960" cy="371581"/>
          </a:xfrm>
        </p:spPr>
        <p:txBody>
          <a:bodyPr>
            <a:noAutofit/>
          </a:bodyPr>
          <a:lstStyle/>
          <a:p>
            <a:pPr marL="0" indent="0">
              <a:lnSpc>
                <a:spcPct val="100000"/>
              </a:lnSpc>
              <a:spcBef>
                <a:spcPts val="0"/>
              </a:spcBef>
              <a:buNone/>
            </a:pPr>
            <a:r>
              <a:rPr lang="en-US" sz="1800"/>
              <a:t>Persamaan output </a:t>
            </a:r>
            <a:r>
              <a:rPr lang="en-US" sz="1800">
                <a:sym typeface="Wingdings" panose="05000000000000000000" pitchFamily="2" charset="2"/>
              </a:rPr>
              <a:t> </a:t>
            </a:r>
            <a:r>
              <a:rPr lang="en-US" sz="1800"/>
              <a:t>Ic=(Vcc-Vce)/Rc </a:t>
            </a:r>
            <a:r>
              <a:rPr lang="en-US" sz="1800">
                <a:sym typeface="Wingdings" panose="05000000000000000000" pitchFamily="2" charset="2"/>
              </a:rPr>
              <a:t> Rc=Vcemax/Icmax=Vcc/Icmax</a:t>
            </a:r>
            <a:endParaRPr lang="en-US" sz="1800"/>
          </a:p>
        </p:txBody>
      </p:sp>
      <p:pic>
        <p:nvPicPr>
          <p:cNvPr id="6" name="Picture 5">
            <a:extLst>
              <a:ext uri="{FF2B5EF4-FFF2-40B4-BE49-F238E27FC236}">
                <a16:creationId xmlns:a16="http://schemas.microsoft.com/office/drawing/2014/main" id="{2F887BDE-E73B-E882-D512-B4D7579D26CB}"/>
              </a:ext>
            </a:extLst>
          </p:cNvPr>
          <p:cNvPicPr>
            <a:picLocks noChangeAspect="1"/>
          </p:cNvPicPr>
          <p:nvPr/>
        </p:nvPicPr>
        <p:blipFill>
          <a:blip r:embed="rId2"/>
          <a:stretch>
            <a:fillRect/>
          </a:stretch>
        </p:blipFill>
        <p:spPr>
          <a:xfrm>
            <a:off x="7453772" y="2565029"/>
            <a:ext cx="4154091" cy="2630647"/>
          </a:xfrm>
          <a:prstGeom prst="rect">
            <a:avLst/>
          </a:prstGeom>
        </p:spPr>
      </p:pic>
      <p:sp>
        <p:nvSpPr>
          <p:cNvPr id="74" name="Oval 73">
            <a:extLst>
              <a:ext uri="{FF2B5EF4-FFF2-40B4-BE49-F238E27FC236}">
                <a16:creationId xmlns:a16="http://schemas.microsoft.com/office/drawing/2014/main" id="{54B53AA5-0A27-8121-001C-F5B1D894E060}"/>
              </a:ext>
            </a:extLst>
          </p:cNvPr>
          <p:cNvSpPr/>
          <p:nvPr/>
        </p:nvSpPr>
        <p:spPr>
          <a:xfrm>
            <a:off x="11490686" y="4714252"/>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5" name="Oval 74">
            <a:extLst>
              <a:ext uri="{FF2B5EF4-FFF2-40B4-BE49-F238E27FC236}">
                <a16:creationId xmlns:a16="http://schemas.microsoft.com/office/drawing/2014/main" id="{97FB931E-0DB6-6056-4FE0-B455F9C77186}"/>
              </a:ext>
            </a:extLst>
          </p:cNvPr>
          <p:cNvSpPr/>
          <p:nvPr/>
        </p:nvSpPr>
        <p:spPr>
          <a:xfrm>
            <a:off x="7726624" y="3237571"/>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6" name="TextBox 75">
            <a:extLst>
              <a:ext uri="{FF2B5EF4-FFF2-40B4-BE49-F238E27FC236}">
                <a16:creationId xmlns:a16="http://schemas.microsoft.com/office/drawing/2014/main" id="{21AC5EE4-1C39-F470-FC4B-89A5C4F7CB32}"/>
              </a:ext>
            </a:extLst>
          </p:cNvPr>
          <p:cNvSpPr txBox="1"/>
          <p:nvPr/>
        </p:nvSpPr>
        <p:spPr>
          <a:xfrm>
            <a:off x="7803122" y="3014898"/>
            <a:ext cx="486030" cy="369332"/>
          </a:xfrm>
          <a:prstGeom prst="rect">
            <a:avLst/>
          </a:prstGeom>
          <a:noFill/>
        </p:spPr>
        <p:txBody>
          <a:bodyPr wrap="none" rtlCol="0">
            <a:spAutoFit/>
          </a:bodyPr>
          <a:lstStyle/>
          <a:p>
            <a:r>
              <a:rPr lang="en-US"/>
              <a:t>ON</a:t>
            </a:r>
            <a:endParaRPr lang="en-ID"/>
          </a:p>
        </p:txBody>
      </p:sp>
      <p:sp>
        <p:nvSpPr>
          <p:cNvPr id="77" name="TextBox 76">
            <a:extLst>
              <a:ext uri="{FF2B5EF4-FFF2-40B4-BE49-F238E27FC236}">
                <a16:creationId xmlns:a16="http://schemas.microsoft.com/office/drawing/2014/main" id="{22D2F2D6-2D00-BC0C-F537-13F9D78EAE18}"/>
              </a:ext>
            </a:extLst>
          </p:cNvPr>
          <p:cNvSpPr txBox="1"/>
          <p:nvPr/>
        </p:nvSpPr>
        <p:spPr>
          <a:xfrm>
            <a:off x="7556903" y="1927523"/>
            <a:ext cx="1724274" cy="523220"/>
          </a:xfrm>
          <a:prstGeom prst="rect">
            <a:avLst/>
          </a:prstGeom>
          <a:noFill/>
        </p:spPr>
        <p:txBody>
          <a:bodyPr wrap="square" rtlCol="0">
            <a:spAutoFit/>
          </a:bodyPr>
          <a:lstStyle/>
          <a:p>
            <a:r>
              <a:rPr lang="en-US" sz="1400">
                <a:solidFill>
                  <a:srgbClr val="FF0000"/>
                </a:solidFill>
              </a:rPr>
              <a:t>Transistor di wilayah Saturasi</a:t>
            </a:r>
            <a:endParaRPr lang="en-ID" sz="1400">
              <a:solidFill>
                <a:srgbClr val="FF0000"/>
              </a:solidFill>
            </a:endParaRPr>
          </a:p>
        </p:txBody>
      </p:sp>
      <p:cxnSp>
        <p:nvCxnSpPr>
          <p:cNvPr id="79" name="Straight Arrow Connector 78">
            <a:extLst>
              <a:ext uri="{FF2B5EF4-FFF2-40B4-BE49-F238E27FC236}">
                <a16:creationId xmlns:a16="http://schemas.microsoft.com/office/drawing/2014/main" id="{8CEDE9F2-EBF0-941C-359F-ADE7323C529E}"/>
              </a:ext>
            </a:extLst>
          </p:cNvPr>
          <p:cNvCxnSpPr/>
          <p:nvPr/>
        </p:nvCxnSpPr>
        <p:spPr>
          <a:xfrm flipH="1">
            <a:off x="7843801" y="2300469"/>
            <a:ext cx="360322" cy="861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391999C-5CED-EDC7-3476-47857261D31D}"/>
              </a:ext>
            </a:extLst>
          </p:cNvPr>
          <p:cNvSpPr txBox="1"/>
          <p:nvPr/>
        </p:nvSpPr>
        <p:spPr>
          <a:xfrm>
            <a:off x="401363" y="2165589"/>
            <a:ext cx="3318947" cy="307777"/>
          </a:xfrm>
          <a:prstGeom prst="rect">
            <a:avLst/>
          </a:prstGeom>
          <a:noFill/>
        </p:spPr>
        <p:txBody>
          <a:bodyPr wrap="square">
            <a:spAutoFit/>
          </a:bodyPr>
          <a:lstStyle/>
          <a:p>
            <a:r>
              <a:rPr lang="en-US" sz="1400"/>
              <a:t>Saat OFF </a:t>
            </a:r>
            <a:r>
              <a:rPr lang="en-US" sz="1400">
                <a:sym typeface="Wingdings" panose="05000000000000000000" pitchFamily="2" charset="2"/>
              </a:rPr>
              <a:t> Ic=0  Vce=Vcemax=Vcc=12v</a:t>
            </a:r>
            <a:endParaRPr lang="en-ID" sz="1400"/>
          </a:p>
        </p:txBody>
      </p:sp>
      <p:grpSp>
        <p:nvGrpSpPr>
          <p:cNvPr id="36" name="Group 35">
            <a:extLst>
              <a:ext uri="{FF2B5EF4-FFF2-40B4-BE49-F238E27FC236}">
                <a16:creationId xmlns:a16="http://schemas.microsoft.com/office/drawing/2014/main" id="{565199AC-1836-925F-BBD0-A6BD787E781E}"/>
              </a:ext>
            </a:extLst>
          </p:cNvPr>
          <p:cNvGrpSpPr/>
          <p:nvPr/>
        </p:nvGrpSpPr>
        <p:grpSpPr>
          <a:xfrm>
            <a:off x="445168" y="2505149"/>
            <a:ext cx="3177056" cy="2925041"/>
            <a:chOff x="1435584" y="2496783"/>
            <a:chExt cx="3769606" cy="3528871"/>
          </a:xfrm>
        </p:grpSpPr>
        <p:pic>
          <p:nvPicPr>
            <p:cNvPr id="8" name="Picture 7">
              <a:extLst>
                <a:ext uri="{FF2B5EF4-FFF2-40B4-BE49-F238E27FC236}">
                  <a16:creationId xmlns:a16="http://schemas.microsoft.com/office/drawing/2014/main" id="{66E66245-EA4B-B042-647F-9812AF4C3A45}"/>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9" name="TextBox 8">
              <a:extLst>
                <a:ext uri="{FF2B5EF4-FFF2-40B4-BE49-F238E27FC236}">
                  <a16:creationId xmlns:a16="http://schemas.microsoft.com/office/drawing/2014/main" id="{84D66243-8287-CCF9-F587-47C3BC89F9F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4" name="Straight Connector 13">
              <a:extLst>
                <a:ext uri="{FF2B5EF4-FFF2-40B4-BE49-F238E27FC236}">
                  <a16:creationId xmlns:a16="http://schemas.microsoft.com/office/drawing/2014/main" id="{EEDA6864-346F-6F97-77CE-BA8C50FC2399}"/>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EABCA4F-444E-6C5F-2CCE-F4F1E47A3597}"/>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9175A8A-5810-2819-82C4-91C54BC94F60}"/>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75C056-B90E-F9DE-259A-2AECC9D0F163}"/>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8EC4FC-0CC3-A81D-A587-C6E8793DFCB8}"/>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20" name="Rectangle 19">
              <a:extLst>
                <a:ext uri="{FF2B5EF4-FFF2-40B4-BE49-F238E27FC236}">
                  <a16:creationId xmlns:a16="http://schemas.microsoft.com/office/drawing/2014/main" id="{0382B65B-F1E0-090B-682D-94CDD4236BFA}"/>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21">
              <a:extLst>
                <a:ext uri="{FF2B5EF4-FFF2-40B4-BE49-F238E27FC236}">
                  <a16:creationId xmlns:a16="http://schemas.microsoft.com/office/drawing/2014/main" id="{2B1F04A5-35D3-84E1-8AB8-116573C667ED}"/>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38" name="TextBox 37">
            <a:extLst>
              <a:ext uri="{FF2B5EF4-FFF2-40B4-BE49-F238E27FC236}">
                <a16:creationId xmlns:a16="http://schemas.microsoft.com/office/drawing/2014/main" id="{4647435E-E2B3-46AC-C337-CD1B65328671}"/>
              </a:ext>
            </a:extLst>
          </p:cNvPr>
          <p:cNvSpPr txBox="1"/>
          <p:nvPr/>
        </p:nvSpPr>
        <p:spPr>
          <a:xfrm>
            <a:off x="2142134" y="3138613"/>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cxnSp>
        <p:nvCxnSpPr>
          <p:cNvPr id="40" name="Straight Arrow Connector 39">
            <a:extLst>
              <a:ext uri="{FF2B5EF4-FFF2-40B4-BE49-F238E27FC236}">
                <a16:creationId xmlns:a16="http://schemas.microsoft.com/office/drawing/2014/main" id="{814E45E0-6949-CBEC-2C33-9A7D5C6EC845}"/>
              </a:ext>
            </a:extLst>
          </p:cNvPr>
          <p:cNvCxnSpPr/>
          <p:nvPr/>
        </p:nvCxnSpPr>
        <p:spPr>
          <a:xfrm>
            <a:off x="1098386" y="3323279"/>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5882877-3C21-1385-3AFB-722ACC25FBCB}"/>
              </a:ext>
            </a:extLst>
          </p:cNvPr>
          <p:cNvSpPr txBox="1"/>
          <p:nvPr/>
        </p:nvSpPr>
        <p:spPr>
          <a:xfrm>
            <a:off x="401363" y="2762795"/>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42" name="TextBox 41">
            <a:extLst>
              <a:ext uri="{FF2B5EF4-FFF2-40B4-BE49-F238E27FC236}">
                <a16:creationId xmlns:a16="http://schemas.microsoft.com/office/drawing/2014/main" id="{D23C7FFC-38ED-23FE-85CA-053E312062F0}"/>
              </a:ext>
            </a:extLst>
          </p:cNvPr>
          <p:cNvSpPr txBox="1"/>
          <p:nvPr/>
        </p:nvSpPr>
        <p:spPr>
          <a:xfrm>
            <a:off x="2432593" y="4114866"/>
            <a:ext cx="1567545" cy="307777"/>
          </a:xfrm>
          <a:prstGeom prst="rect">
            <a:avLst/>
          </a:prstGeom>
          <a:noFill/>
        </p:spPr>
        <p:txBody>
          <a:bodyPr wrap="none" rtlCol="0">
            <a:spAutoFit/>
          </a:bodyPr>
          <a:lstStyle/>
          <a:p>
            <a:r>
              <a:rPr lang="en-US" sz="1400">
                <a:solidFill>
                  <a:srgbClr val="FF0000"/>
                </a:solidFill>
              </a:rPr>
              <a:t>= Vcemax=Vcc=12v</a:t>
            </a:r>
            <a:endParaRPr lang="en-ID" sz="1400">
              <a:solidFill>
                <a:srgbClr val="FF0000"/>
              </a:solidFill>
            </a:endParaRPr>
          </a:p>
        </p:txBody>
      </p:sp>
      <p:sp>
        <p:nvSpPr>
          <p:cNvPr id="64" name="Oval 63">
            <a:extLst>
              <a:ext uri="{FF2B5EF4-FFF2-40B4-BE49-F238E27FC236}">
                <a16:creationId xmlns:a16="http://schemas.microsoft.com/office/drawing/2014/main" id="{D9BEE3F4-41B1-5AF9-7D78-D3F126917DC3}"/>
              </a:ext>
            </a:extLst>
          </p:cNvPr>
          <p:cNvSpPr/>
          <p:nvPr/>
        </p:nvSpPr>
        <p:spPr>
          <a:xfrm>
            <a:off x="1602681" y="3781019"/>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71" name="Straight Connector 70">
            <a:extLst>
              <a:ext uri="{FF2B5EF4-FFF2-40B4-BE49-F238E27FC236}">
                <a16:creationId xmlns:a16="http://schemas.microsoft.com/office/drawing/2014/main" id="{D07E4E90-E5D5-B3BA-AEA8-CBC79B2B3E5D}"/>
              </a:ext>
            </a:extLst>
          </p:cNvPr>
          <p:cNvCxnSpPr>
            <a:cxnSpLocks/>
          </p:cNvCxnSpPr>
          <p:nvPr/>
        </p:nvCxnSpPr>
        <p:spPr>
          <a:xfrm flipH="1">
            <a:off x="1635059" y="3781019"/>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07EAA32-D83E-0998-AC68-086CC09F683B}"/>
              </a:ext>
            </a:extLst>
          </p:cNvPr>
          <p:cNvSpPr txBox="1"/>
          <p:nvPr/>
        </p:nvSpPr>
        <p:spPr>
          <a:xfrm>
            <a:off x="3171424" y="2681810"/>
            <a:ext cx="723068" cy="307777"/>
          </a:xfrm>
          <a:prstGeom prst="rect">
            <a:avLst/>
          </a:prstGeom>
          <a:noFill/>
        </p:spPr>
        <p:txBody>
          <a:bodyPr wrap="square" rtlCol="0">
            <a:spAutoFit/>
          </a:bodyPr>
          <a:lstStyle/>
          <a:p>
            <a:r>
              <a:rPr lang="en-US" sz="1400">
                <a:solidFill>
                  <a:srgbClr val="FF0000"/>
                </a:solidFill>
              </a:rPr>
              <a:t>=12v</a:t>
            </a:r>
            <a:endParaRPr lang="en-ID" sz="1400">
              <a:solidFill>
                <a:srgbClr val="FF0000"/>
              </a:solidFill>
            </a:endParaRPr>
          </a:p>
        </p:txBody>
      </p:sp>
      <p:sp>
        <p:nvSpPr>
          <p:cNvPr id="63" name="TextBox 62">
            <a:extLst>
              <a:ext uri="{FF2B5EF4-FFF2-40B4-BE49-F238E27FC236}">
                <a16:creationId xmlns:a16="http://schemas.microsoft.com/office/drawing/2014/main" id="{9F70A1F7-36F9-BBCD-89AE-D88B0959D813}"/>
              </a:ext>
            </a:extLst>
          </p:cNvPr>
          <p:cNvSpPr txBox="1"/>
          <p:nvPr/>
        </p:nvSpPr>
        <p:spPr>
          <a:xfrm>
            <a:off x="3963129" y="2169718"/>
            <a:ext cx="3054382" cy="307778"/>
          </a:xfrm>
          <a:prstGeom prst="rect">
            <a:avLst/>
          </a:prstGeom>
          <a:noFill/>
        </p:spPr>
        <p:txBody>
          <a:bodyPr wrap="square">
            <a:spAutoFit/>
          </a:bodyPr>
          <a:lstStyle/>
          <a:p>
            <a:r>
              <a:rPr lang="en-US" sz="1400">
                <a:sym typeface="Wingdings" panose="05000000000000000000" pitchFamily="2" charset="2"/>
              </a:rPr>
              <a:t>Saat ON  Vce=0  Ic=Icmax=10mA</a:t>
            </a:r>
            <a:endParaRPr lang="en-ID" sz="1400"/>
          </a:p>
        </p:txBody>
      </p:sp>
      <p:grpSp>
        <p:nvGrpSpPr>
          <p:cNvPr id="45" name="Group 44">
            <a:extLst>
              <a:ext uri="{FF2B5EF4-FFF2-40B4-BE49-F238E27FC236}">
                <a16:creationId xmlns:a16="http://schemas.microsoft.com/office/drawing/2014/main" id="{F5D49BB0-CA79-C05B-D0C5-66CA1F62EF3F}"/>
              </a:ext>
            </a:extLst>
          </p:cNvPr>
          <p:cNvGrpSpPr/>
          <p:nvPr/>
        </p:nvGrpSpPr>
        <p:grpSpPr>
          <a:xfrm>
            <a:off x="3916394" y="2507129"/>
            <a:ext cx="3177056" cy="2925041"/>
            <a:chOff x="1435584" y="2496783"/>
            <a:chExt cx="3769606" cy="3528871"/>
          </a:xfrm>
        </p:grpSpPr>
        <p:pic>
          <p:nvPicPr>
            <p:cNvPr id="51" name="Picture 50">
              <a:extLst>
                <a:ext uri="{FF2B5EF4-FFF2-40B4-BE49-F238E27FC236}">
                  <a16:creationId xmlns:a16="http://schemas.microsoft.com/office/drawing/2014/main" id="{88C976DC-63AD-031D-7C29-A250A0BD9C0F}"/>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52" name="TextBox 51">
              <a:extLst>
                <a:ext uri="{FF2B5EF4-FFF2-40B4-BE49-F238E27FC236}">
                  <a16:creationId xmlns:a16="http://schemas.microsoft.com/office/drawing/2014/main" id="{889F94F3-ECD3-B9A9-1D56-7454193CC18C}"/>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53" name="Straight Connector 52">
              <a:extLst>
                <a:ext uri="{FF2B5EF4-FFF2-40B4-BE49-F238E27FC236}">
                  <a16:creationId xmlns:a16="http://schemas.microsoft.com/office/drawing/2014/main" id="{9E83B65B-8A82-7B46-C46A-EAC441310941}"/>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9972A6-4F08-B45D-3386-FD1425303F74}"/>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08D4407-C491-4453-ABFA-F4D5B78479C4}"/>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DBA663-DDCB-206E-937B-531C3E1E4041}"/>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50D6F26-77C4-54F8-FE10-483DCADD295D}"/>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58" name="Rectangle 57">
              <a:extLst>
                <a:ext uri="{FF2B5EF4-FFF2-40B4-BE49-F238E27FC236}">
                  <a16:creationId xmlns:a16="http://schemas.microsoft.com/office/drawing/2014/main" id="{0F09D9ED-E33B-39FC-E976-527F2D5FD8B4}"/>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9" name="Rectangle 58">
              <a:extLst>
                <a:ext uri="{FF2B5EF4-FFF2-40B4-BE49-F238E27FC236}">
                  <a16:creationId xmlns:a16="http://schemas.microsoft.com/office/drawing/2014/main" id="{7F327CE1-A2DC-DF8F-4186-17313FBCB5B2}"/>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47" name="TextBox 46">
            <a:extLst>
              <a:ext uri="{FF2B5EF4-FFF2-40B4-BE49-F238E27FC236}">
                <a16:creationId xmlns:a16="http://schemas.microsoft.com/office/drawing/2014/main" id="{04BF7E95-4DE9-127E-5E8F-2B36FF498BBF}"/>
              </a:ext>
            </a:extLst>
          </p:cNvPr>
          <p:cNvSpPr txBox="1"/>
          <p:nvPr/>
        </p:nvSpPr>
        <p:spPr>
          <a:xfrm>
            <a:off x="5613360" y="3140593"/>
            <a:ext cx="744114" cy="307777"/>
          </a:xfrm>
          <a:prstGeom prst="rect">
            <a:avLst/>
          </a:prstGeom>
          <a:noFill/>
        </p:spPr>
        <p:txBody>
          <a:bodyPr wrap="none" rtlCol="0">
            <a:spAutoFit/>
          </a:bodyPr>
          <a:lstStyle/>
          <a:p>
            <a:r>
              <a:rPr lang="en-US" sz="1400">
                <a:solidFill>
                  <a:srgbClr val="FF0000"/>
                </a:solidFill>
              </a:rPr>
              <a:t>= 10mA</a:t>
            </a:r>
            <a:endParaRPr lang="en-ID" sz="1400">
              <a:solidFill>
                <a:srgbClr val="FF0000"/>
              </a:solidFill>
            </a:endParaRPr>
          </a:p>
        </p:txBody>
      </p:sp>
      <p:cxnSp>
        <p:nvCxnSpPr>
          <p:cNvPr id="48" name="Straight Arrow Connector 47">
            <a:extLst>
              <a:ext uri="{FF2B5EF4-FFF2-40B4-BE49-F238E27FC236}">
                <a16:creationId xmlns:a16="http://schemas.microsoft.com/office/drawing/2014/main" id="{2809B168-2AF3-A014-E4C1-C8DC1BCC4A6B}"/>
              </a:ext>
            </a:extLst>
          </p:cNvPr>
          <p:cNvCxnSpPr/>
          <p:nvPr/>
        </p:nvCxnSpPr>
        <p:spPr>
          <a:xfrm>
            <a:off x="4569612" y="3325259"/>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9D1F70C-8CBA-4ED8-8F5E-43682B112A73}"/>
              </a:ext>
            </a:extLst>
          </p:cNvPr>
          <p:cNvSpPr txBox="1"/>
          <p:nvPr/>
        </p:nvSpPr>
        <p:spPr>
          <a:xfrm>
            <a:off x="3872589" y="2764775"/>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50" name="TextBox 49">
            <a:extLst>
              <a:ext uri="{FF2B5EF4-FFF2-40B4-BE49-F238E27FC236}">
                <a16:creationId xmlns:a16="http://schemas.microsoft.com/office/drawing/2014/main" id="{8E0315C8-4604-6188-BC2F-AE5FCF43CD4B}"/>
              </a:ext>
            </a:extLst>
          </p:cNvPr>
          <p:cNvSpPr txBox="1"/>
          <p:nvPr/>
        </p:nvSpPr>
        <p:spPr>
          <a:xfrm>
            <a:off x="5903819" y="4116846"/>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sp>
        <p:nvSpPr>
          <p:cNvPr id="65" name="Oval 64">
            <a:extLst>
              <a:ext uri="{FF2B5EF4-FFF2-40B4-BE49-F238E27FC236}">
                <a16:creationId xmlns:a16="http://schemas.microsoft.com/office/drawing/2014/main" id="{0C92EA5E-501D-F850-5752-5930F659D8D5}"/>
              </a:ext>
            </a:extLst>
          </p:cNvPr>
          <p:cNvSpPr/>
          <p:nvPr/>
        </p:nvSpPr>
        <p:spPr>
          <a:xfrm>
            <a:off x="5067663" y="3778246"/>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7" name="Straight Connector 66">
            <a:extLst>
              <a:ext uri="{FF2B5EF4-FFF2-40B4-BE49-F238E27FC236}">
                <a16:creationId xmlns:a16="http://schemas.microsoft.com/office/drawing/2014/main" id="{9F77B0D9-444C-2956-CC44-C4D33232925F}"/>
              </a:ext>
            </a:extLst>
          </p:cNvPr>
          <p:cNvCxnSpPr>
            <a:cxnSpLocks/>
          </p:cNvCxnSpPr>
          <p:nvPr/>
        </p:nvCxnSpPr>
        <p:spPr>
          <a:xfrm>
            <a:off x="5294375" y="3761005"/>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6A7F8A21-265E-7271-0A8E-C24D862E2BEC}"/>
              </a:ext>
            </a:extLst>
          </p:cNvPr>
          <p:cNvSpPr txBox="1"/>
          <p:nvPr/>
        </p:nvSpPr>
        <p:spPr>
          <a:xfrm>
            <a:off x="6655977" y="2681810"/>
            <a:ext cx="723068" cy="307777"/>
          </a:xfrm>
          <a:prstGeom prst="rect">
            <a:avLst/>
          </a:prstGeom>
          <a:noFill/>
        </p:spPr>
        <p:txBody>
          <a:bodyPr wrap="square" rtlCol="0">
            <a:spAutoFit/>
          </a:bodyPr>
          <a:lstStyle/>
          <a:p>
            <a:r>
              <a:rPr lang="en-US" sz="1400">
                <a:solidFill>
                  <a:srgbClr val="FF0000"/>
                </a:solidFill>
              </a:rPr>
              <a:t>=12v</a:t>
            </a:r>
            <a:endParaRPr lang="en-ID" sz="1400">
              <a:solidFill>
                <a:srgbClr val="FF0000"/>
              </a:solidFill>
            </a:endParaRPr>
          </a:p>
        </p:txBody>
      </p:sp>
      <p:sp>
        <p:nvSpPr>
          <p:cNvPr id="84" name="TextBox 83">
            <a:extLst>
              <a:ext uri="{FF2B5EF4-FFF2-40B4-BE49-F238E27FC236}">
                <a16:creationId xmlns:a16="http://schemas.microsoft.com/office/drawing/2014/main" id="{5E01A1F8-CC6B-DB0D-5AC7-FCFBA97C5507}"/>
              </a:ext>
            </a:extLst>
          </p:cNvPr>
          <p:cNvSpPr txBox="1"/>
          <p:nvPr/>
        </p:nvSpPr>
        <p:spPr>
          <a:xfrm>
            <a:off x="11196560" y="4372506"/>
            <a:ext cx="548548" cy="369332"/>
          </a:xfrm>
          <a:prstGeom prst="rect">
            <a:avLst/>
          </a:prstGeom>
          <a:noFill/>
        </p:spPr>
        <p:txBody>
          <a:bodyPr wrap="none" rtlCol="0">
            <a:spAutoFit/>
          </a:bodyPr>
          <a:lstStyle/>
          <a:p>
            <a:r>
              <a:rPr lang="en-US"/>
              <a:t>OFF</a:t>
            </a:r>
            <a:endParaRPr lang="en-ID"/>
          </a:p>
        </p:txBody>
      </p:sp>
      <p:sp>
        <p:nvSpPr>
          <p:cNvPr id="92" name="TextBox 91">
            <a:extLst>
              <a:ext uri="{FF2B5EF4-FFF2-40B4-BE49-F238E27FC236}">
                <a16:creationId xmlns:a16="http://schemas.microsoft.com/office/drawing/2014/main" id="{012D1E1A-201E-A514-212A-6FAAEA0446DF}"/>
              </a:ext>
            </a:extLst>
          </p:cNvPr>
          <p:cNvSpPr txBox="1"/>
          <p:nvPr/>
        </p:nvSpPr>
        <p:spPr>
          <a:xfrm>
            <a:off x="9746560" y="5309783"/>
            <a:ext cx="1724274" cy="523220"/>
          </a:xfrm>
          <a:prstGeom prst="rect">
            <a:avLst/>
          </a:prstGeom>
          <a:noFill/>
        </p:spPr>
        <p:txBody>
          <a:bodyPr wrap="square" rtlCol="0">
            <a:spAutoFit/>
          </a:bodyPr>
          <a:lstStyle/>
          <a:p>
            <a:r>
              <a:rPr lang="en-US" sz="1400">
                <a:solidFill>
                  <a:srgbClr val="FF0000"/>
                </a:solidFill>
              </a:rPr>
              <a:t>Transistor di wilayah Cut-Off</a:t>
            </a:r>
            <a:endParaRPr lang="en-ID" sz="1400">
              <a:solidFill>
                <a:srgbClr val="FF0000"/>
              </a:solidFill>
            </a:endParaRPr>
          </a:p>
        </p:txBody>
      </p:sp>
      <p:cxnSp>
        <p:nvCxnSpPr>
          <p:cNvPr id="93" name="Straight Arrow Connector 92">
            <a:extLst>
              <a:ext uri="{FF2B5EF4-FFF2-40B4-BE49-F238E27FC236}">
                <a16:creationId xmlns:a16="http://schemas.microsoft.com/office/drawing/2014/main" id="{A02936A8-E561-C082-1E97-DA55847E43EE}"/>
              </a:ext>
            </a:extLst>
          </p:cNvPr>
          <p:cNvCxnSpPr>
            <a:cxnSpLocks/>
            <a:stCxn id="92" idx="0"/>
          </p:cNvCxnSpPr>
          <p:nvPr/>
        </p:nvCxnSpPr>
        <p:spPr>
          <a:xfrm flipV="1">
            <a:off x="10608697" y="4826012"/>
            <a:ext cx="862137" cy="4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Freeform: Shape 95">
            <a:extLst>
              <a:ext uri="{FF2B5EF4-FFF2-40B4-BE49-F238E27FC236}">
                <a16:creationId xmlns:a16="http://schemas.microsoft.com/office/drawing/2014/main" id="{39BD30FA-1FAF-AEF4-751C-DBB66FBB328A}"/>
              </a:ext>
            </a:extLst>
          </p:cNvPr>
          <p:cNvSpPr/>
          <p:nvPr/>
        </p:nvSpPr>
        <p:spPr>
          <a:xfrm>
            <a:off x="5384526" y="3413772"/>
            <a:ext cx="2306320" cy="639733"/>
          </a:xfrm>
          <a:custGeom>
            <a:avLst/>
            <a:gdLst>
              <a:gd name="connsiteX0" fmla="*/ 0 w 2306320"/>
              <a:gd name="connsiteY0" fmla="*/ 568960 h 639733"/>
              <a:gd name="connsiteX1" fmla="*/ 1361440 w 2306320"/>
              <a:gd name="connsiteY1" fmla="*/ 589280 h 639733"/>
              <a:gd name="connsiteX2" fmla="*/ 2306320 w 2306320"/>
              <a:gd name="connsiteY2" fmla="*/ 0 h 639733"/>
            </a:gdLst>
            <a:ahLst/>
            <a:cxnLst>
              <a:cxn ang="0">
                <a:pos x="connsiteX0" y="connsiteY0"/>
              </a:cxn>
              <a:cxn ang="0">
                <a:pos x="connsiteX1" y="connsiteY1"/>
              </a:cxn>
              <a:cxn ang="0">
                <a:pos x="connsiteX2" y="connsiteY2"/>
              </a:cxn>
            </a:cxnLst>
            <a:rect l="l" t="t" r="r" b="b"/>
            <a:pathLst>
              <a:path w="2306320" h="639733">
                <a:moveTo>
                  <a:pt x="0" y="568960"/>
                </a:moveTo>
                <a:cubicBezTo>
                  <a:pt x="488526" y="626533"/>
                  <a:pt x="977053" y="684107"/>
                  <a:pt x="1361440" y="589280"/>
                </a:cubicBezTo>
                <a:cubicBezTo>
                  <a:pt x="1745827" y="494453"/>
                  <a:pt x="2026073" y="247226"/>
                  <a:pt x="230632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7" name="Freeform: Shape 96">
            <a:extLst>
              <a:ext uri="{FF2B5EF4-FFF2-40B4-BE49-F238E27FC236}">
                <a16:creationId xmlns:a16="http://schemas.microsoft.com/office/drawing/2014/main" id="{0F1631BC-F41F-72FD-E7BA-3B66544E339E}"/>
              </a:ext>
            </a:extLst>
          </p:cNvPr>
          <p:cNvSpPr/>
          <p:nvPr/>
        </p:nvSpPr>
        <p:spPr>
          <a:xfrm>
            <a:off x="1940286" y="4074172"/>
            <a:ext cx="9448800" cy="1514754"/>
          </a:xfrm>
          <a:custGeom>
            <a:avLst/>
            <a:gdLst>
              <a:gd name="connsiteX0" fmla="*/ 0 w 9448800"/>
              <a:gd name="connsiteY0" fmla="*/ 0 h 1514754"/>
              <a:gd name="connsiteX1" fmla="*/ 2580640 w 9448800"/>
              <a:gd name="connsiteY1" fmla="*/ 1493520 h 1514754"/>
              <a:gd name="connsiteX2" fmla="*/ 9448800 w 9448800"/>
              <a:gd name="connsiteY2" fmla="*/ 741680 h 1514754"/>
            </a:gdLst>
            <a:ahLst/>
            <a:cxnLst>
              <a:cxn ang="0">
                <a:pos x="connsiteX0" y="connsiteY0"/>
              </a:cxn>
              <a:cxn ang="0">
                <a:pos x="connsiteX1" y="connsiteY1"/>
              </a:cxn>
              <a:cxn ang="0">
                <a:pos x="connsiteX2" y="connsiteY2"/>
              </a:cxn>
            </a:cxnLst>
            <a:rect l="l" t="t" r="r" b="b"/>
            <a:pathLst>
              <a:path w="9448800" h="1514754">
                <a:moveTo>
                  <a:pt x="0" y="0"/>
                </a:moveTo>
                <a:cubicBezTo>
                  <a:pt x="502920" y="684953"/>
                  <a:pt x="1005840" y="1369907"/>
                  <a:pt x="2580640" y="1493520"/>
                </a:cubicBezTo>
                <a:cubicBezTo>
                  <a:pt x="4155440" y="1617133"/>
                  <a:pt x="6802120" y="1179406"/>
                  <a:pt x="9448800" y="74168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99" name="Straight Connector 98">
            <a:extLst>
              <a:ext uri="{FF2B5EF4-FFF2-40B4-BE49-F238E27FC236}">
                <a16:creationId xmlns:a16="http://schemas.microsoft.com/office/drawing/2014/main" id="{999F4FD9-292F-2E29-6C8B-05FBB3B8C35B}"/>
              </a:ext>
            </a:extLst>
          </p:cNvPr>
          <p:cNvCxnSpPr>
            <a:stCxn id="75" idx="5"/>
            <a:endCxn id="74" idx="7"/>
          </p:cNvCxnSpPr>
          <p:nvPr/>
        </p:nvCxnSpPr>
        <p:spPr>
          <a:xfrm>
            <a:off x="7826641" y="3332964"/>
            <a:ext cx="3781222" cy="14371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1A2C2F6D-0F05-26D3-73E2-8BBE0A7D8A60}"/>
              </a:ext>
            </a:extLst>
          </p:cNvPr>
          <p:cNvSpPr txBox="1"/>
          <p:nvPr/>
        </p:nvSpPr>
        <p:spPr>
          <a:xfrm rot="1233122">
            <a:off x="8855114" y="3755084"/>
            <a:ext cx="1724274" cy="307777"/>
          </a:xfrm>
          <a:prstGeom prst="rect">
            <a:avLst/>
          </a:prstGeom>
          <a:noFill/>
        </p:spPr>
        <p:txBody>
          <a:bodyPr wrap="square" rtlCol="0">
            <a:spAutoFit/>
          </a:bodyPr>
          <a:lstStyle/>
          <a:p>
            <a:r>
              <a:rPr lang="en-US" sz="1400">
                <a:solidFill>
                  <a:srgbClr val="FF0000"/>
                </a:solidFill>
              </a:rPr>
              <a:t>Garis Beban</a:t>
            </a:r>
            <a:endParaRPr lang="en-ID" sz="1400">
              <a:solidFill>
                <a:srgbClr val="FF0000"/>
              </a:solidFill>
            </a:endParaRPr>
          </a:p>
        </p:txBody>
      </p:sp>
      <p:sp>
        <p:nvSpPr>
          <p:cNvPr id="101" name="TextBox 100">
            <a:extLst>
              <a:ext uri="{FF2B5EF4-FFF2-40B4-BE49-F238E27FC236}">
                <a16:creationId xmlns:a16="http://schemas.microsoft.com/office/drawing/2014/main" id="{B8840A48-6AFE-146C-826C-289E5CDF4BC3}"/>
              </a:ext>
            </a:extLst>
          </p:cNvPr>
          <p:cNvSpPr txBox="1"/>
          <p:nvPr/>
        </p:nvSpPr>
        <p:spPr>
          <a:xfrm>
            <a:off x="11195324" y="5121938"/>
            <a:ext cx="772861" cy="738664"/>
          </a:xfrm>
          <a:prstGeom prst="rect">
            <a:avLst/>
          </a:prstGeom>
          <a:noFill/>
        </p:spPr>
        <p:txBody>
          <a:bodyPr wrap="square" rtlCol="0">
            <a:spAutoFit/>
          </a:bodyPr>
          <a:lstStyle/>
          <a:p>
            <a:r>
              <a:rPr lang="en-US" sz="1400"/>
              <a:t>Vcemax</a:t>
            </a:r>
          </a:p>
          <a:p>
            <a:r>
              <a:rPr lang="en-US" sz="1400"/>
              <a:t>=Vcc</a:t>
            </a:r>
          </a:p>
          <a:p>
            <a:r>
              <a:rPr lang="en-US" sz="1400"/>
              <a:t>=12v</a:t>
            </a:r>
            <a:endParaRPr lang="en-ID" sz="1400"/>
          </a:p>
        </p:txBody>
      </p:sp>
      <p:sp>
        <p:nvSpPr>
          <p:cNvPr id="102" name="TextBox 101">
            <a:extLst>
              <a:ext uri="{FF2B5EF4-FFF2-40B4-BE49-F238E27FC236}">
                <a16:creationId xmlns:a16="http://schemas.microsoft.com/office/drawing/2014/main" id="{BD9D967E-11DC-84CD-64A0-78EC72C9850E}"/>
              </a:ext>
            </a:extLst>
          </p:cNvPr>
          <p:cNvSpPr txBox="1"/>
          <p:nvPr/>
        </p:nvSpPr>
        <p:spPr>
          <a:xfrm>
            <a:off x="6986607" y="3110888"/>
            <a:ext cx="772861" cy="523220"/>
          </a:xfrm>
          <a:prstGeom prst="rect">
            <a:avLst/>
          </a:prstGeom>
          <a:noFill/>
        </p:spPr>
        <p:txBody>
          <a:bodyPr wrap="square" rtlCol="0">
            <a:spAutoFit/>
          </a:bodyPr>
          <a:lstStyle/>
          <a:p>
            <a:r>
              <a:rPr lang="en-US" sz="1400"/>
              <a:t>Icmax=10mA</a:t>
            </a:r>
            <a:endParaRPr lang="en-ID" sz="1400"/>
          </a:p>
        </p:txBody>
      </p:sp>
      <p:sp>
        <p:nvSpPr>
          <p:cNvPr id="5" name="TextBox 4">
            <a:extLst>
              <a:ext uri="{FF2B5EF4-FFF2-40B4-BE49-F238E27FC236}">
                <a16:creationId xmlns:a16="http://schemas.microsoft.com/office/drawing/2014/main" id="{7E63351A-35BE-CFF2-1A8D-B3FCC628D10E}"/>
              </a:ext>
            </a:extLst>
          </p:cNvPr>
          <p:cNvSpPr txBox="1"/>
          <p:nvPr/>
        </p:nvSpPr>
        <p:spPr>
          <a:xfrm>
            <a:off x="4084574" y="1196705"/>
            <a:ext cx="3002799" cy="738664"/>
          </a:xfrm>
          <a:prstGeom prst="rect">
            <a:avLst/>
          </a:prstGeom>
          <a:noFill/>
        </p:spPr>
        <p:txBody>
          <a:bodyPr wrap="square">
            <a:spAutoFit/>
          </a:bodyPr>
          <a:lstStyle/>
          <a:p>
            <a:r>
              <a:rPr lang="en-US" sz="1400"/>
              <a:t>Icmax_datasheet=100mA</a:t>
            </a:r>
          </a:p>
          <a:p>
            <a:r>
              <a:rPr lang="en-US" sz="1400"/>
              <a:t>Icmax=0,1*Icmax_datasheet</a:t>
            </a:r>
          </a:p>
          <a:p>
            <a:r>
              <a:rPr lang="en-US" sz="1400"/>
              <a:t>Icmax=0,1*100mA=10mA</a:t>
            </a:r>
            <a:endParaRPr lang="en-ID" sz="1400"/>
          </a:p>
        </p:txBody>
      </p:sp>
      <p:sp>
        <p:nvSpPr>
          <p:cNvPr id="10" name="TextBox 9">
            <a:extLst>
              <a:ext uri="{FF2B5EF4-FFF2-40B4-BE49-F238E27FC236}">
                <a16:creationId xmlns:a16="http://schemas.microsoft.com/office/drawing/2014/main" id="{FA122CB1-6A5B-1A4E-E0D5-8B6936D81BC6}"/>
              </a:ext>
            </a:extLst>
          </p:cNvPr>
          <p:cNvSpPr txBox="1"/>
          <p:nvPr/>
        </p:nvSpPr>
        <p:spPr>
          <a:xfrm>
            <a:off x="438886" y="1194623"/>
            <a:ext cx="3002799" cy="738664"/>
          </a:xfrm>
          <a:prstGeom prst="rect">
            <a:avLst/>
          </a:prstGeom>
          <a:noFill/>
        </p:spPr>
        <p:txBody>
          <a:bodyPr wrap="square">
            <a:spAutoFit/>
          </a:bodyPr>
          <a:lstStyle/>
          <a:p>
            <a:r>
              <a:rPr lang="en-US" sz="1400"/>
              <a:t>Vcemax_datasheet=45v</a:t>
            </a:r>
          </a:p>
          <a:p>
            <a:r>
              <a:rPr lang="en-US" sz="1400"/>
              <a:t>Vcemax=Vcc= 0,27*Vcemax_datasheet</a:t>
            </a:r>
          </a:p>
          <a:p>
            <a:r>
              <a:rPr lang="en-US" sz="1400"/>
              <a:t>Vcemax=Vcc= 0,27*45v = 12v</a:t>
            </a:r>
          </a:p>
        </p:txBody>
      </p:sp>
    </p:spTree>
    <p:extLst>
      <p:ext uri="{BB962C8B-B14F-4D97-AF65-F5344CB8AC3E}">
        <p14:creationId xmlns:p14="http://schemas.microsoft.com/office/powerpoint/2010/main" val="579599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242A-9699-8178-1014-281729F57D8B}"/>
              </a:ext>
            </a:extLst>
          </p:cNvPr>
          <p:cNvSpPr>
            <a:spLocks noGrp="1"/>
          </p:cNvSpPr>
          <p:nvPr>
            <p:ph type="title"/>
          </p:nvPr>
        </p:nvSpPr>
        <p:spPr/>
        <p:txBody>
          <a:bodyPr/>
          <a:lstStyle/>
          <a:p>
            <a:r>
              <a:rPr lang="en-US"/>
              <a:t>Jawaban</a:t>
            </a:r>
            <a:endParaRPr lang="en-ID"/>
          </a:p>
        </p:txBody>
      </p:sp>
      <p:sp>
        <p:nvSpPr>
          <p:cNvPr id="3" name="Content Placeholder 2">
            <a:extLst>
              <a:ext uri="{FF2B5EF4-FFF2-40B4-BE49-F238E27FC236}">
                <a16:creationId xmlns:a16="http://schemas.microsoft.com/office/drawing/2014/main" id="{A139327A-47DC-5D0D-104F-D1689534914B}"/>
              </a:ext>
            </a:extLst>
          </p:cNvPr>
          <p:cNvSpPr>
            <a:spLocks noGrp="1"/>
          </p:cNvSpPr>
          <p:nvPr>
            <p:ph idx="1"/>
          </p:nvPr>
        </p:nvSpPr>
        <p:spPr/>
        <p:txBody>
          <a:bodyPr>
            <a:normAutofit fontScale="62500" lnSpcReduction="20000"/>
          </a:bodyPr>
          <a:lstStyle/>
          <a:p>
            <a:pPr marL="0" indent="0">
              <a:buNone/>
            </a:pPr>
            <a:r>
              <a:rPr lang="en-US"/>
              <a:t>3. Vcemax = 0,27* Vcemax_datasheet = 0,27*45v = 12v</a:t>
            </a:r>
          </a:p>
          <a:p>
            <a:pPr marL="0" indent="0">
              <a:buNone/>
            </a:pPr>
            <a:endParaRPr lang="en-US"/>
          </a:p>
          <a:p>
            <a:pPr marL="0" indent="0">
              <a:buNone/>
            </a:pPr>
            <a:r>
              <a:rPr lang="en-US"/>
              <a:t>4. Icmax=0,1*Icmax_datasheet = 0,1*100mA = 10mA</a:t>
            </a:r>
          </a:p>
          <a:p>
            <a:pPr marL="0" indent="0">
              <a:buNone/>
            </a:pPr>
            <a:endParaRPr lang="en-US"/>
          </a:p>
          <a:p>
            <a:pPr marL="0" indent="0">
              <a:buNone/>
            </a:pPr>
            <a:r>
              <a:rPr lang="en-US"/>
              <a:t>5. Vcc= Vcemax =12v</a:t>
            </a:r>
          </a:p>
          <a:p>
            <a:pPr marL="0" indent="0">
              <a:buNone/>
            </a:pPr>
            <a:endParaRPr lang="en-US"/>
          </a:p>
          <a:p>
            <a:pPr marL="0" indent="0">
              <a:buNone/>
            </a:pPr>
            <a:r>
              <a:rPr lang="en-US"/>
              <a:t>6. Rc </a:t>
            </a:r>
            <a:r>
              <a:rPr lang="en-US" sz="2800"/>
              <a:t>= (Vcc-Vce)/Icmax = (12-0)/10mA = 1200 Ohm</a:t>
            </a:r>
          </a:p>
          <a:p>
            <a:pPr marL="0" indent="0">
              <a:buNone/>
            </a:pPr>
            <a:endParaRPr lang="en-US"/>
          </a:p>
          <a:p>
            <a:pPr marL="0" indent="0">
              <a:buNone/>
            </a:pPr>
            <a:r>
              <a:rPr lang="en-US"/>
              <a:t>7. Vceq=1/2 Vcc=1/2 * 12v =6v</a:t>
            </a:r>
            <a:endParaRPr lang="en-US">
              <a:solidFill>
                <a:srgbClr val="FF0000"/>
              </a:solidFill>
            </a:endParaRPr>
          </a:p>
          <a:p>
            <a:pPr>
              <a:buFont typeface="Wingdings" panose="05000000000000000000" pitchFamily="2" charset="2"/>
              <a:buChar char="è"/>
            </a:pPr>
            <a:endParaRPr lang="en-US"/>
          </a:p>
          <a:p>
            <a:pPr marL="0" indent="0">
              <a:buNone/>
            </a:pPr>
            <a:r>
              <a:rPr lang="en-US"/>
              <a:t>8. Icq=1/2 * Icmax = ½ * 10mA = 5mA</a:t>
            </a:r>
            <a:endParaRPr lang="en-US">
              <a:solidFill>
                <a:srgbClr val="FF0000"/>
              </a:solidFill>
            </a:endParaRPr>
          </a:p>
          <a:p>
            <a:endParaRPr lang="en-US"/>
          </a:p>
          <a:p>
            <a:pPr marL="0" indent="0">
              <a:buNone/>
            </a:pPr>
            <a:r>
              <a:rPr lang="en-US"/>
              <a:t>9. Garis Beban, 10. Titik Kerja, 11. Vbeq, 12. Beta, dan 13. Ibq </a:t>
            </a:r>
            <a:r>
              <a:rPr lang="en-US">
                <a:sym typeface="Wingdings" panose="05000000000000000000" pitchFamily="2" charset="2"/>
              </a:rPr>
              <a:t> lihat</a:t>
            </a:r>
            <a:r>
              <a:rPr lang="en-US"/>
              <a:t> slide berikut.</a:t>
            </a:r>
          </a:p>
          <a:p>
            <a:endParaRPr lang="en-US"/>
          </a:p>
          <a:p>
            <a:endParaRPr lang="en-US"/>
          </a:p>
          <a:p>
            <a:endParaRPr lang="en-ID"/>
          </a:p>
        </p:txBody>
      </p:sp>
    </p:spTree>
    <p:extLst>
      <p:ext uri="{BB962C8B-B14F-4D97-AF65-F5344CB8AC3E}">
        <p14:creationId xmlns:p14="http://schemas.microsoft.com/office/powerpoint/2010/main" val="3842074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552C-F7B3-6670-977D-20B871BF9CE2}"/>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372C9061-C4C6-9EFC-CCEE-1331D4D52B88}"/>
              </a:ext>
            </a:extLst>
          </p:cNvPr>
          <p:cNvPicPr>
            <a:picLocks noChangeAspect="1"/>
          </p:cNvPicPr>
          <p:nvPr/>
        </p:nvPicPr>
        <p:blipFill>
          <a:blip r:embed="rId2"/>
          <a:stretch>
            <a:fillRect/>
          </a:stretch>
        </p:blipFill>
        <p:spPr>
          <a:xfrm>
            <a:off x="323694" y="1811192"/>
            <a:ext cx="7672110" cy="4564495"/>
          </a:xfrm>
          <a:prstGeom prst="rect">
            <a:avLst/>
          </a:prstGeom>
        </p:spPr>
      </p:pic>
      <p:sp>
        <p:nvSpPr>
          <p:cNvPr id="2" name="Title 1">
            <a:extLst>
              <a:ext uri="{FF2B5EF4-FFF2-40B4-BE49-F238E27FC236}">
                <a16:creationId xmlns:a16="http://schemas.microsoft.com/office/drawing/2014/main" id="{AA21D613-DFCE-7BF0-BD9B-3D13FE58E038}"/>
              </a:ext>
            </a:extLst>
          </p:cNvPr>
          <p:cNvSpPr>
            <a:spLocks noGrp="1"/>
          </p:cNvSpPr>
          <p:nvPr>
            <p:ph type="title"/>
          </p:nvPr>
        </p:nvSpPr>
        <p:spPr>
          <a:xfrm>
            <a:off x="838200" y="365126"/>
            <a:ext cx="7053470" cy="918146"/>
          </a:xfrm>
        </p:spPr>
        <p:txBody>
          <a:bodyPr>
            <a:noAutofit/>
          </a:bodyPr>
          <a:lstStyle/>
          <a:p>
            <a:r>
              <a:rPr lang="en-US" sz="3200"/>
              <a:t>Menentukan Ibq, Vbeq dan Beta (Hfe) dengan mengetahui Icq dan Vceq</a:t>
            </a:r>
            <a:endParaRPr lang="en-ID" sz="3200"/>
          </a:p>
        </p:txBody>
      </p:sp>
      <p:sp>
        <p:nvSpPr>
          <p:cNvPr id="7" name="TextBox 6">
            <a:extLst>
              <a:ext uri="{FF2B5EF4-FFF2-40B4-BE49-F238E27FC236}">
                <a16:creationId xmlns:a16="http://schemas.microsoft.com/office/drawing/2014/main" id="{FC1998AE-8F93-71DE-BF6D-0B9E18055163}"/>
              </a:ext>
            </a:extLst>
          </p:cNvPr>
          <p:cNvSpPr txBox="1"/>
          <p:nvPr/>
        </p:nvSpPr>
        <p:spPr>
          <a:xfrm>
            <a:off x="8395598" y="208161"/>
            <a:ext cx="3681495" cy="6555641"/>
          </a:xfrm>
          <a:prstGeom prst="rect">
            <a:avLst/>
          </a:prstGeom>
          <a:noFill/>
        </p:spPr>
        <p:txBody>
          <a:bodyPr wrap="square" rtlCol="0">
            <a:spAutoFit/>
          </a:bodyPr>
          <a:lstStyle/>
          <a:p>
            <a:pPr marL="0" lvl="1"/>
            <a:r>
              <a:rPr lang="en-US" sz="1400"/>
              <a:t>Bila Icmax dan Vcemax diketahui, Icmax=10mA dan Vcemax=12V maka tarik </a:t>
            </a:r>
            <a:r>
              <a:rPr lang="en-US" sz="1400">
                <a:solidFill>
                  <a:srgbClr val="FF0000"/>
                </a:solidFill>
              </a:rPr>
              <a:t>Garis Beban </a:t>
            </a:r>
            <a:r>
              <a:rPr lang="en-US" sz="1400"/>
              <a:t>yang memotong titik-titik tsb.</a:t>
            </a:r>
          </a:p>
          <a:p>
            <a:pPr marL="0" lvl="1"/>
            <a:endParaRPr lang="en-US" sz="1400"/>
          </a:p>
          <a:p>
            <a:pPr marL="0" lvl="1"/>
            <a:r>
              <a:rPr lang="en-US" sz="1400"/>
              <a:t>Bila Ic dan Vce diketahui misalnya </a:t>
            </a:r>
            <a:r>
              <a:rPr lang="en-US" sz="1400">
                <a:solidFill>
                  <a:srgbClr val="FF0000"/>
                </a:solidFill>
              </a:rPr>
              <a:t>Ic=5mA </a:t>
            </a:r>
            <a:r>
              <a:rPr lang="en-US" sz="1400"/>
              <a:t>dan </a:t>
            </a:r>
            <a:r>
              <a:rPr lang="en-US" sz="1400">
                <a:solidFill>
                  <a:srgbClr val="FF0000"/>
                </a:solidFill>
              </a:rPr>
              <a:t>Vce=6v </a:t>
            </a:r>
            <a:r>
              <a:rPr lang="en-US" sz="1400"/>
              <a:t>maka tentukan suatu titik kerja (Qpoint) pada grafik Ic=f(Vce, Ib). </a:t>
            </a:r>
          </a:p>
          <a:p>
            <a:pPr marL="0" lvl="1"/>
            <a:endParaRPr lang="en-US" sz="1400"/>
          </a:p>
          <a:p>
            <a:pPr marL="0" lvl="1"/>
            <a:r>
              <a:rPr lang="en-US" sz="1400"/>
              <a:t>Proyeksikan Ic ke kiri sampai memotong kurva pada Vce=6v. Beri nama titik tersebut titik A. </a:t>
            </a:r>
          </a:p>
          <a:p>
            <a:pPr marL="0" lvl="1"/>
            <a:endParaRPr lang="en-US" sz="1400"/>
          </a:p>
          <a:p>
            <a:pPr marL="0" lvl="1"/>
            <a:r>
              <a:rPr lang="en-US" sz="1400"/>
              <a:t>Proyeksikan garis vertikal dari titik A ke bawah hingga memotong sumbu Ib dan kurva Vbe=f(Ib, Vce). Catat nilai Ib tersebut. Nilai </a:t>
            </a:r>
            <a:r>
              <a:rPr lang="en-US" sz="1400">
                <a:solidFill>
                  <a:srgbClr val="FF0000"/>
                </a:solidFill>
              </a:rPr>
              <a:t>Ibq=20uA</a:t>
            </a:r>
            <a:r>
              <a:rPr lang="en-US" sz="1400"/>
              <a:t>.</a:t>
            </a:r>
          </a:p>
          <a:p>
            <a:pPr marL="0" lvl="1"/>
            <a:endParaRPr lang="en-US" sz="1400"/>
          </a:p>
          <a:p>
            <a:pPr marL="0" lvl="1"/>
            <a:r>
              <a:rPr lang="en-US" sz="1400"/>
              <a:t>Selanjutnya tentukan suatu titik pada pertemuan garis vertikal tersebut dengan kurva Vbe=f(Ib, Vce) pada vce=6v. Beri nama titik tersebut titik B.</a:t>
            </a:r>
          </a:p>
          <a:p>
            <a:pPr marL="0" lvl="1"/>
            <a:endParaRPr lang="en-US" sz="1400"/>
          </a:p>
          <a:p>
            <a:pPr marL="0" lvl="1"/>
            <a:r>
              <a:rPr lang="en-US" sz="1400"/>
              <a:t>Kemudian proyeksikan titik B tersebut ke kiri hingga memotong sumbu Vbe catat nilainya maka nilai tersebut adalah nilai Vbe Dimana </a:t>
            </a:r>
            <a:r>
              <a:rPr lang="en-US" sz="1400">
                <a:solidFill>
                  <a:srgbClr val="FF0000"/>
                </a:solidFill>
              </a:rPr>
              <a:t>Vbeq=0,72v</a:t>
            </a:r>
          </a:p>
          <a:p>
            <a:pPr marL="0" lvl="1"/>
            <a:endParaRPr lang="en-US" sz="1400"/>
          </a:p>
          <a:p>
            <a:pPr marL="0" lvl="1"/>
            <a:r>
              <a:rPr lang="en-US" sz="1400"/>
              <a:t>Beta (Hfe) dapat dicari dengan melihat grafik Ic=f(Ib, Vce), mencatat Icq dan Ibq pada titik A dan menerapkan rumus Beta=Icq/Ibq. Pada titik A tsb, Icq=5mA dan Ibq=20uA. Beta= 5mA/20uA = 5000 uA / 20 uA. Jadi </a:t>
            </a:r>
            <a:r>
              <a:rPr lang="en-US" sz="1400">
                <a:solidFill>
                  <a:srgbClr val="FF0000"/>
                </a:solidFill>
              </a:rPr>
              <a:t>Beta = 250</a:t>
            </a:r>
            <a:endParaRPr lang="en-ID" sz="1400">
              <a:solidFill>
                <a:srgbClr val="FF0000"/>
              </a:solidFill>
            </a:endParaRPr>
          </a:p>
        </p:txBody>
      </p:sp>
      <p:cxnSp>
        <p:nvCxnSpPr>
          <p:cNvPr id="9" name="Straight Connector 8">
            <a:extLst>
              <a:ext uri="{FF2B5EF4-FFF2-40B4-BE49-F238E27FC236}">
                <a16:creationId xmlns:a16="http://schemas.microsoft.com/office/drawing/2014/main" id="{EBDED6B5-4D7A-B7E6-7C1C-8934E2B13A0F}"/>
              </a:ext>
            </a:extLst>
          </p:cNvPr>
          <p:cNvCxnSpPr>
            <a:cxnSpLocks/>
          </p:cNvCxnSpPr>
          <p:nvPr/>
        </p:nvCxnSpPr>
        <p:spPr>
          <a:xfrm flipH="1">
            <a:off x="597159" y="3045054"/>
            <a:ext cx="5736386" cy="32081"/>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8B7E12D-A2DE-2508-D69B-A23EAADAF0FE}"/>
              </a:ext>
            </a:extLst>
          </p:cNvPr>
          <p:cNvSpPr txBox="1"/>
          <p:nvPr/>
        </p:nvSpPr>
        <p:spPr>
          <a:xfrm>
            <a:off x="4317152" y="1506022"/>
            <a:ext cx="441961" cy="369332"/>
          </a:xfrm>
          <a:prstGeom prst="rect">
            <a:avLst/>
          </a:prstGeom>
          <a:noFill/>
        </p:spPr>
        <p:txBody>
          <a:bodyPr wrap="square">
            <a:spAutoFit/>
          </a:bodyPr>
          <a:lstStyle/>
          <a:p>
            <a:r>
              <a:rPr lang="en-US"/>
              <a:t>Ic</a:t>
            </a:r>
            <a:endParaRPr lang="en-ID"/>
          </a:p>
        </p:txBody>
      </p:sp>
      <p:sp>
        <p:nvSpPr>
          <p:cNvPr id="17" name="TextBox 16">
            <a:extLst>
              <a:ext uri="{FF2B5EF4-FFF2-40B4-BE49-F238E27FC236}">
                <a16:creationId xmlns:a16="http://schemas.microsoft.com/office/drawing/2014/main" id="{9F50C60C-4D4C-B414-C2AC-7D4777321805}"/>
              </a:ext>
            </a:extLst>
          </p:cNvPr>
          <p:cNvSpPr txBox="1"/>
          <p:nvPr/>
        </p:nvSpPr>
        <p:spPr>
          <a:xfrm>
            <a:off x="441747" y="1535651"/>
            <a:ext cx="441961" cy="369332"/>
          </a:xfrm>
          <a:prstGeom prst="rect">
            <a:avLst/>
          </a:prstGeom>
          <a:noFill/>
        </p:spPr>
        <p:txBody>
          <a:bodyPr wrap="square">
            <a:spAutoFit/>
          </a:bodyPr>
          <a:lstStyle/>
          <a:p>
            <a:r>
              <a:rPr lang="en-US"/>
              <a:t>Ic</a:t>
            </a:r>
            <a:endParaRPr lang="en-ID"/>
          </a:p>
        </p:txBody>
      </p:sp>
      <p:sp>
        <p:nvSpPr>
          <p:cNvPr id="18" name="TextBox 17">
            <a:extLst>
              <a:ext uri="{FF2B5EF4-FFF2-40B4-BE49-F238E27FC236}">
                <a16:creationId xmlns:a16="http://schemas.microsoft.com/office/drawing/2014/main" id="{B4744BD6-5616-ED3D-FA67-0AE67DF5CFE3}"/>
              </a:ext>
            </a:extLst>
          </p:cNvPr>
          <p:cNvSpPr txBox="1"/>
          <p:nvPr/>
        </p:nvSpPr>
        <p:spPr>
          <a:xfrm>
            <a:off x="3801002" y="4026853"/>
            <a:ext cx="441961" cy="369332"/>
          </a:xfrm>
          <a:prstGeom prst="rect">
            <a:avLst/>
          </a:prstGeom>
          <a:noFill/>
        </p:spPr>
        <p:txBody>
          <a:bodyPr wrap="square">
            <a:spAutoFit/>
          </a:bodyPr>
          <a:lstStyle/>
          <a:p>
            <a:r>
              <a:rPr lang="en-US"/>
              <a:t>Ib</a:t>
            </a:r>
            <a:endParaRPr lang="en-ID"/>
          </a:p>
        </p:txBody>
      </p:sp>
      <p:sp>
        <p:nvSpPr>
          <p:cNvPr id="19" name="TextBox 18">
            <a:extLst>
              <a:ext uri="{FF2B5EF4-FFF2-40B4-BE49-F238E27FC236}">
                <a16:creationId xmlns:a16="http://schemas.microsoft.com/office/drawing/2014/main" id="{0699B8C8-EAE9-E981-FCBE-ED771ED59B1B}"/>
              </a:ext>
            </a:extLst>
          </p:cNvPr>
          <p:cNvSpPr txBox="1"/>
          <p:nvPr/>
        </p:nvSpPr>
        <p:spPr>
          <a:xfrm>
            <a:off x="7897289" y="3779172"/>
            <a:ext cx="519675" cy="369332"/>
          </a:xfrm>
          <a:prstGeom prst="rect">
            <a:avLst/>
          </a:prstGeom>
          <a:noFill/>
        </p:spPr>
        <p:txBody>
          <a:bodyPr wrap="square">
            <a:spAutoFit/>
          </a:bodyPr>
          <a:lstStyle/>
          <a:p>
            <a:r>
              <a:rPr lang="en-US"/>
              <a:t>Vce</a:t>
            </a:r>
            <a:endParaRPr lang="en-ID"/>
          </a:p>
        </p:txBody>
      </p:sp>
      <p:sp>
        <p:nvSpPr>
          <p:cNvPr id="20" name="TextBox 19">
            <a:extLst>
              <a:ext uri="{FF2B5EF4-FFF2-40B4-BE49-F238E27FC236}">
                <a16:creationId xmlns:a16="http://schemas.microsoft.com/office/drawing/2014/main" id="{275E44B9-EB44-F612-2F84-6F843586F9AC}"/>
              </a:ext>
            </a:extLst>
          </p:cNvPr>
          <p:cNvSpPr txBox="1"/>
          <p:nvPr/>
        </p:nvSpPr>
        <p:spPr>
          <a:xfrm>
            <a:off x="369209" y="4186481"/>
            <a:ext cx="594984" cy="369332"/>
          </a:xfrm>
          <a:prstGeom prst="rect">
            <a:avLst/>
          </a:prstGeom>
          <a:noFill/>
        </p:spPr>
        <p:txBody>
          <a:bodyPr wrap="square">
            <a:spAutoFit/>
          </a:bodyPr>
          <a:lstStyle/>
          <a:p>
            <a:r>
              <a:rPr lang="en-US"/>
              <a:t>Vbe</a:t>
            </a:r>
            <a:endParaRPr lang="en-ID"/>
          </a:p>
        </p:txBody>
      </p:sp>
      <p:sp>
        <p:nvSpPr>
          <p:cNvPr id="21" name="TextBox 20">
            <a:extLst>
              <a:ext uri="{FF2B5EF4-FFF2-40B4-BE49-F238E27FC236}">
                <a16:creationId xmlns:a16="http://schemas.microsoft.com/office/drawing/2014/main" id="{EF8936E7-F570-C2AF-125B-CA0636D234CF}"/>
              </a:ext>
            </a:extLst>
          </p:cNvPr>
          <p:cNvSpPr txBox="1"/>
          <p:nvPr/>
        </p:nvSpPr>
        <p:spPr>
          <a:xfrm>
            <a:off x="3801002" y="6277600"/>
            <a:ext cx="441961" cy="369332"/>
          </a:xfrm>
          <a:prstGeom prst="rect">
            <a:avLst/>
          </a:prstGeom>
          <a:noFill/>
        </p:spPr>
        <p:txBody>
          <a:bodyPr wrap="square">
            <a:spAutoFit/>
          </a:bodyPr>
          <a:lstStyle/>
          <a:p>
            <a:r>
              <a:rPr lang="en-US"/>
              <a:t>Ib</a:t>
            </a:r>
            <a:endParaRPr lang="en-ID"/>
          </a:p>
        </p:txBody>
      </p:sp>
      <p:cxnSp>
        <p:nvCxnSpPr>
          <p:cNvPr id="28" name="Straight Connector 27">
            <a:extLst>
              <a:ext uri="{FF2B5EF4-FFF2-40B4-BE49-F238E27FC236}">
                <a16:creationId xmlns:a16="http://schemas.microsoft.com/office/drawing/2014/main" id="{49021C4E-F2BB-0A8D-7787-0D16C3BA6D62}"/>
              </a:ext>
            </a:extLst>
          </p:cNvPr>
          <p:cNvCxnSpPr>
            <a:cxnSpLocks/>
          </p:cNvCxnSpPr>
          <p:nvPr/>
        </p:nvCxnSpPr>
        <p:spPr>
          <a:xfrm>
            <a:off x="1938800" y="3055991"/>
            <a:ext cx="0" cy="3221609"/>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218B3C9-499E-9B75-4C99-94B699A095D5}"/>
              </a:ext>
            </a:extLst>
          </p:cNvPr>
          <p:cNvSpPr txBox="1"/>
          <p:nvPr/>
        </p:nvSpPr>
        <p:spPr>
          <a:xfrm>
            <a:off x="1538728" y="6300933"/>
            <a:ext cx="787395" cy="276999"/>
          </a:xfrm>
          <a:prstGeom prst="rect">
            <a:avLst/>
          </a:prstGeom>
          <a:noFill/>
        </p:spPr>
        <p:txBody>
          <a:bodyPr wrap="none" rtlCol="0">
            <a:spAutoFit/>
          </a:bodyPr>
          <a:lstStyle/>
          <a:p>
            <a:r>
              <a:rPr lang="en-US" sz="1200">
                <a:solidFill>
                  <a:srgbClr val="FF0000"/>
                </a:solidFill>
              </a:rPr>
              <a:t>Ibq=20uA</a:t>
            </a:r>
            <a:endParaRPr lang="en-ID" sz="1200">
              <a:solidFill>
                <a:srgbClr val="FF0000"/>
              </a:solidFill>
            </a:endParaRPr>
          </a:p>
        </p:txBody>
      </p:sp>
      <p:sp>
        <p:nvSpPr>
          <p:cNvPr id="36" name="TextBox 35">
            <a:extLst>
              <a:ext uri="{FF2B5EF4-FFF2-40B4-BE49-F238E27FC236}">
                <a16:creationId xmlns:a16="http://schemas.microsoft.com/office/drawing/2014/main" id="{42756D6F-F03F-5D0D-9CF6-2AE90C0375A4}"/>
              </a:ext>
            </a:extLst>
          </p:cNvPr>
          <p:cNvSpPr txBox="1"/>
          <p:nvPr/>
        </p:nvSpPr>
        <p:spPr>
          <a:xfrm>
            <a:off x="114907" y="4770934"/>
            <a:ext cx="928459" cy="276999"/>
          </a:xfrm>
          <a:prstGeom prst="rect">
            <a:avLst/>
          </a:prstGeom>
          <a:noFill/>
        </p:spPr>
        <p:txBody>
          <a:bodyPr wrap="none" rtlCol="0">
            <a:spAutoFit/>
          </a:bodyPr>
          <a:lstStyle/>
          <a:p>
            <a:r>
              <a:rPr lang="en-US" sz="1200">
                <a:solidFill>
                  <a:srgbClr val="FF0000"/>
                </a:solidFill>
              </a:rPr>
              <a:t>Vbeq=0,72v</a:t>
            </a:r>
            <a:endParaRPr lang="en-ID" sz="1200">
              <a:solidFill>
                <a:srgbClr val="FF0000"/>
              </a:solidFill>
            </a:endParaRPr>
          </a:p>
        </p:txBody>
      </p:sp>
      <p:sp>
        <p:nvSpPr>
          <p:cNvPr id="37" name="TextBox 36">
            <a:extLst>
              <a:ext uri="{FF2B5EF4-FFF2-40B4-BE49-F238E27FC236}">
                <a16:creationId xmlns:a16="http://schemas.microsoft.com/office/drawing/2014/main" id="{5753C695-0D83-AAD9-A71D-A0910E59EBD0}"/>
              </a:ext>
            </a:extLst>
          </p:cNvPr>
          <p:cNvSpPr txBox="1"/>
          <p:nvPr/>
        </p:nvSpPr>
        <p:spPr>
          <a:xfrm>
            <a:off x="1668340" y="2707803"/>
            <a:ext cx="317716" cy="369332"/>
          </a:xfrm>
          <a:prstGeom prst="rect">
            <a:avLst/>
          </a:prstGeom>
          <a:noFill/>
        </p:spPr>
        <p:txBody>
          <a:bodyPr wrap="none" rtlCol="0">
            <a:spAutoFit/>
          </a:bodyPr>
          <a:lstStyle/>
          <a:p>
            <a:r>
              <a:rPr lang="en-US">
                <a:solidFill>
                  <a:srgbClr val="FF0000"/>
                </a:solidFill>
              </a:rPr>
              <a:t>A</a:t>
            </a:r>
            <a:endParaRPr lang="en-ID">
              <a:solidFill>
                <a:srgbClr val="FF0000"/>
              </a:solidFill>
            </a:endParaRPr>
          </a:p>
        </p:txBody>
      </p:sp>
      <p:sp>
        <p:nvSpPr>
          <p:cNvPr id="38" name="TextBox 37">
            <a:extLst>
              <a:ext uri="{FF2B5EF4-FFF2-40B4-BE49-F238E27FC236}">
                <a16:creationId xmlns:a16="http://schemas.microsoft.com/office/drawing/2014/main" id="{59D64572-7B2D-206B-9F89-E6E30EB091B0}"/>
              </a:ext>
            </a:extLst>
          </p:cNvPr>
          <p:cNvSpPr txBox="1"/>
          <p:nvPr/>
        </p:nvSpPr>
        <p:spPr>
          <a:xfrm>
            <a:off x="1659467" y="4733304"/>
            <a:ext cx="309700" cy="369332"/>
          </a:xfrm>
          <a:prstGeom prst="rect">
            <a:avLst/>
          </a:prstGeom>
          <a:noFill/>
        </p:spPr>
        <p:txBody>
          <a:bodyPr wrap="none" rtlCol="0">
            <a:spAutoFit/>
          </a:bodyPr>
          <a:lstStyle/>
          <a:p>
            <a:r>
              <a:rPr lang="en-US">
                <a:solidFill>
                  <a:srgbClr val="FF0000"/>
                </a:solidFill>
              </a:rPr>
              <a:t>B</a:t>
            </a:r>
            <a:endParaRPr lang="en-ID">
              <a:solidFill>
                <a:srgbClr val="FF0000"/>
              </a:solidFill>
            </a:endParaRPr>
          </a:p>
        </p:txBody>
      </p:sp>
      <p:cxnSp>
        <p:nvCxnSpPr>
          <p:cNvPr id="4" name="Straight Connector 3">
            <a:extLst>
              <a:ext uri="{FF2B5EF4-FFF2-40B4-BE49-F238E27FC236}">
                <a16:creationId xmlns:a16="http://schemas.microsoft.com/office/drawing/2014/main" id="{91AA34A7-7B9F-5FCB-72E0-0C9F90C162CF}"/>
              </a:ext>
            </a:extLst>
          </p:cNvPr>
          <p:cNvCxnSpPr>
            <a:cxnSpLocks/>
          </p:cNvCxnSpPr>
          <p:nvPr/>
        </p:nvCxnSpPr>
        <p:spPr>
          <a:xfrm flipV="1">
            <a:off x="6333545" y="3055640"/>
            <a:ext cx="0" cy="860684"/>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A6B8FC-62A4-A8D7-DECF-AA47FE6EC2B6}"/>
              </a:ext>
            </a:extLst>
          </p:cNvPr>
          <p:cNvSpPr txBox="1"/>
          <p:nvPr/>
        </p:nvSpPr>
        <p:spPr>
          <a:xfrm>
            <a:off x="5425795" y="1424031"/>
            <a:ext cx="1310640" cy="369332"/>
          </a:xfrm>
          <a:prstGeom prst="rect">
            <a:avLst/>
          </a:prstGeom>
          <a:noFill/>
        </p:spPr>
        <p:txBody>
          <a:bodyPr wrap="square">
            <a:spAutoFit/>
          </a:bodyPr>
          <a:lstStyle/>
          <a:p>
            <a:r>
              <a:rPr lang="en-US"/>
              <a:t>Ic=f(Vce, Ib) </a:t>
            </a:r>
            <a:endParaRPr lang="en-ID"/>
          </a:p>
        </p:txBody>
      </p:sp>
      <p:sp>
        <p:nvSpPr>
          <p:cNvPr id="15" name="TextBox 14">
            <a:extLst>
              <a:ext uri="{FF2B5EF4-FFF2-40B4-BE49-F238E27FC236}">
                <a16:creationId xmlns:a16="http://schemas.microsoft.com/office/drawing/2014/main" id="{19716AA0-6A29-CD96-3AD5-9D73CCBE8F94}"/>
              </a:ext>
            </a:extLst>
          </p:cNvPr>
          <p:cNvSpPr txBox="1"/>
          <p:nvPr/>
        </p:nvSpPr>
        <p:spPr>
          <a:xfrm>
            <a:off x="1538728" y="1449035"/>
            <a:ext cx="1310640" cy="369332"/>
          </a:xfrm>
          <a:prstGeom prst="rect">
            <a:avLst/>
          </a:prstGeom>
          <a:noFill/>
        </p:spPr>
        <p:txBody>
          <a:bodyPr wrap="square">
            <a:spAutoFit/>
          </a:bodyPr>
          <a:lstStyle/>
          <a:p>
            <a:r>
              <a:rPr lang="en-US"/>
              <a:t>Ic=f(Ib, Vce) </a:t>
            </a:r>
            <a:endParaRPr lang="en-ID"/>
          </a:p>
        </p:txBody>
      </p:sp>
      <p:sp>
        <p:nvSpPr>
          <p:cNvPr id="22" name="TextBox 21">
            <a:extLst>
              <a:ext uri="{FF2B5EF4-FFF2-40B4-BE49-F238E27FC236}">
                <a16:creationId xmlns:a16="http://schemas.microsoft.com/office/drawing/2014/main" id="{BDC68663-82CE-8E74-7ECD-FC8189A70125}"/>
              </a:ext>
            </a:extLst>
          </p:cNvPr>
          <p:cNvSpPr txBox="1"/>
          <p:nvPr/>
        </p:nvSpPr>
        <p:spPr>
          <a:xfrm>
            <a:off x="1491069" y="4113435"/>
            <a:ext cx="1528062" cy="369332"/>
          </a:xfrm>
          <a:prstGeom prst="rect">
            <a:avLst/>
          </a:prstGeom>
          <a:noFill/>
        </p:spPr>
        <p:txBody>
          <a:bodyPr wrap="square">
            <a:spAutoFit/>
          </a:bodyPr>
          <a:lstStyle/>
          <a:p>
            <a:r>
              <a:rPr lang="en-US"/>
              <a:t>Vbe=f(Ib, Vce) </a:t>
            </a:r>
            <a:endParaRPr lang="en-ID"/>
          </a:p>
        </p:txBody>
      </p:sp>
      <p:sp>
        <p:nvSpPr>
          <p:cNvPr id="5" name="TextBox 4">
            <a:extLst>
              <a:ext uri="{FF2B5EF4-FFF2-40B4-BE49-F238E27FC236}">
                <a16:creationId xmlns:a16="http://schemas.microsoft.com/office/drawing/2014/main" id="{A498B006-B5FC-F09E-3924-3356078D531B}"/>
              </a:ext>
            </a:extLst>
          </p:cNvPr>
          <p:cNvSpPr txBox="1"/>
          <p:nvPr/>
        </p:nvSpPr>
        <p:spPr>
          <a:xfrm>
            <a:off x="5990830" y="4010004"/>
            <a:ext cx="710707" cy="276999"/>
          </a:xfrm>
          <a:prstGeom prst="rect">
            <a:avLst/>
          </a:prstGeom>
          <a:noFill/>
        </p:spPr>
        <p:txBody>
          <a:bodyPr wrap="none" rtlCol="0">
            <a:spAutoFit/>
          </a:bodyPr>
          <a:lstStyle/>
          <a:p>
            <a:r>
              <a:rPr lang="en-US" sz="1200">
                <a:solidFill>
                  <a:srgbClr val="FF0000"/>
                </a:solidFill>
              </a:rPr>
              <a:t>Vceq=6v</a:t>
            </a:r>
            <a:endParaRPr lang="en-ID" sz="1200">
              <a:solidFill>
                <a:srgbClr val="FF0000"/>
              </a:solidFill>
            </a:endParaRPr>
          </a:p>
        </p:txBody>
      </p:sp>
      <p:sp>
        <p:nvSpPr>
          <p:cNvPr id="13" name="TextBox 12">
            <a:extLst>
              <a:ext uri="{FF2B5EF4-FFF2-40B4-BE49-F238E27FC236}">
                <a16:creationId xmlns:a16="http://schemas.microsoft.com/office/drawing/2014/main" id="{5731198D-5FAF-E422-2E19-AD1BA20856E1}"/>
              </a:ext>
            </a:extLst>
          </p:cNvPr>
          <p:cNvSpPr txBox="1"/>
          <p:nvPr/>
        </p:nvSpPr>
        <p:spPr>
          <a:xfrm>
            <a:off x="3859844" y="2833385"/>
            <a:ext cx="737702" cy="276999"/>
          </a:xfrm>
          <a:prstGeom prst="rect">
            <a:avLst/>
          </a:prstGeom>
          <a:noFill/>
        </p:spPr>
        <p:txBody>
          <a:bodyPr wrap="none" rtlCol="0">
            <a:spAutoFit/>
          </a:bodyPr>
          <a:lstStyle/>
          <a:p>
            <a:r>
              <a:rPr lang="en-US" sz="1200">
                <a:solidFill>
                  <a:srgbClr val="FF0000"/>
                </a:solidFill>
              </a:rPr>
              <a:t>Icq=5mA</a:t>
            </a:r>
            <a:endParaRPr lang="en-ID" sz="1200">
              <a:solidFill>
                <a:srgbClr val="FF0000"/>
              </a:solidFill>
            </a:endParaRPr>
          </a:p>
        </p:txBody>
      </p:sp>
      <p:cxnSp>
        <p:nvCxnSpPr>
          <p:cNvPr id="33" name="Straight Connector 32">
            <a:extLst>
              <a:ext uri="{FF2B5EF4-FFF2-40B4-BE49-F238E27FC236}">
                <a16:creationId xmlns:a16="http://schemas.microsoft.com/office/drawing/2014/main" id="{3A6035F6-F324-A490-A0E8-B0C2F6F0A428}"/>
              </a:ext>
            </a:extLst>
          </p:cNvPr>
          <p:cNvCxnSpPr>
            <a:cxnSpLocks/>
          </p:cNvCxnSpPr>
          <p:nvPr/>
        </p:nvCxnSpPr>
        <p:spPr>
          <a:xfrm flipH="1">
            <a:off x="597159" y="4797050"/>
            <a:ext cx="1300746" cy="0"/>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46B43F5-D8A4-F51F-000D-EFE649143636}"/>
              </a:ext>
            </a:extLst>
          </p:cNvPr>
          <p:cNvSpPr txBox="1"/>
          <p:nvPr/>
        </p:nvSpPr>
        <p:spPr>
          <a:xfrm>
            <a:off x="6196951" y="2716814"/>
            <a:ext cx="772969" cy="369332"/>
          </a:xfrm>
          <a:prstGeom prst="rect">
            <a:avLst/>
          </a:prstGeom>
          <a:noFill/>
        </p:spPr>
        <p:txBody>
          <a:bodyPr wrap="none" rtlCol="0">
            <a:spAutoFit/>
          </a:bodyPr>
          <a:lstStyle/>
          <a:p>
            <a:r>
              <a:rPr lang="en-US">
                <a:solidFill>
                  <a:srgbClr val="FF0000"/>
                </a:solidFill>
              </a:rPr>
              <a:t>Q(6,5)</a:t>
            </a:r>
            <a:endParaRPr lang="en-ID">
              <a:solidFill>
                <a:srgbClr val="FF0000"/>
              </a:solidFill>
            </a:endParaRPr>
          </a:p>
        </p:txBody>
      </p:sp>
      <p:sp>
        <p:nvSpPr>
          <p:cNvPr id="3" name="TextBox 2">
            <a:extLst>
              <a:ext uri="{FF2B5EF4-FFF2-40B4-BE49-F238E27FC236}">
                <a16:creationId xmlns:a16="http://schemas.microsoft.com/office/drawing/2014/main" id="{B5656B76-0023-4756-86FA-1C2F8A524B71}"/>
              </a:ext>
            </a:extLst>
          </p:cNvPr>
          <p:cNvSpPr txBox="1"/>
          <p:nvPr/>
        </p:nvSpPr>
        <p:spPr>
          <a:xfrm>
            <a:off x="7369791" y="4001815"/>
            <a:ext cx="972189" cy="276999"/>
          </a:xfrm>
          <a:prstGeom prst="rect">
            <a:avLst/>
          </a:prstGeom>
          <a:noFill/>
        </p:spPr>
        <p:txBody>
          <a:bodyPr wrap="none" rtlCol="0">
            <a:spAutoFit/>
          </a:bodyPr>
          <a:lstStyle/>
          <a:p>
            <a:r>
              <a:rPr lang="en-US" sz="1200">
                <a:solidFill>
                  <a:srgbClr val="FF0000"/>
                </a:solidFill>
              </a:rPr>
              <a:t>Vcemax=12v</a:t>
            </a:r>
            <a:endParaRPr lang="en-ID" sz="1200">
              <a:solidFill>
                <a:srgbClr val="FF0000"/>
              </a:solidFill>
            </a:endParaRPr>
          </a:p>
        </p:txBody>
      </p:sp>
      <p:cxnSp>
        <p:nvCxnSpPr>
          <p:cNvPr id="6" name="Straight Connector 5">
            <a:extLst>
              <a:ext uri="{FF2B5EF4-FFF2-40B4-BE49-F238E27FC236}">
                <a16:creationId xmlns:a16="http://schemas.microsoft.com/office/drawing/2014/main" id="{37AEEC21-2AFA-2D69-0617-E5C55FBCF3C8}"/>
              </a:ext>
            </a:extLst>
          </p:cNvPr>
          <p:cNvCxnSpPr>
            <a:cxnSpLocks/>
          </p:cNvCxnSpPr>
          <p:nvPr/>
        </p:nvCxnSpPr>
        <p:spPr>
          <a:xfrm>
            <a:off x="4685211" y="2429691"/>
            <a:ext cx="3310593" cy="12714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9AA69FB-A37F-A7DF-E823-17B6119293DF}"/>
              </a:ext>
            </a:extLst>
          </p:cNvPr>
          <p:cNvSpPr txBox="1"/>
          <p:nvPr/>
        </p:nvSpPr>
        <p:spPr>
          <a:xfrm rot="1339792">
            <a:off x="4957725" y="2441023"/>
            <a:ext cx="1063112" cy="307777"/>
          </a:xfrm>
          <a:prstGeom prst="rect">
            <a:avLst/>
          </a:prstGeom>
          <a:noFill/>
        </p:spPr>
        <p:txBody>
          <a:bodyPr wrap="none" rtlCol="0">
            <a:spAutoFit/>
          </a:bodyPr>
          <a:lstStyle/>
          <a:p>
            <a:r>
              <a:rPr lang="en-US" sz="1400">
                <a:solidFill>
                  <a:srgbClr val="FF0000"/>
                </a:solidFill>
              </a:rPr>
              <a:t>Garis Beban</a:t>
            </a:r>
            <a:endParaRPr lang="en-ID" sz="1400">
              <a:solidFill>
                <a:srgbClr val="FF0000"/>
              </a:solidFill>
            </a:endParaRPr>
          </a:p>
        </p:txBody>
      </p:sp>
      <p:sp>
        <p:nvSpPr>
          <p:cNvPr id="8" name="TextBox 7">
            <a:extLst>
              <a:ext uri="{FF2B5EF4-FFF2-40B4-BE49-F238E27FC236}">
                <a16:creationId xmlns:a16="http://schemas.microsoft.com/office/drawing/2014/main" id="{7D1FC2A8-C744-3E0E-5918-84093510667D}"/>
              </a:ext>
            </a:extLst>
          </p:cNvPr>
          <p:cNvSpPr txBox="1"/>
          <p:nvPr/>
        </p:nvSpPr>
        <p:spPr>
          <a:xfrm>
            <a:off x="3992479" y="2265302"/>
            <a:ext cx="551946" cy="276999"/>
          </a:xfrm>
          <a:prstGeom prst="rect">
            <a:avLst/>
          </a:prstGeom>
          <a:noFill/>
        </p:spPr>
        <p:txBody>
          <a:bodyPr wrap="none" rtlCol="0">
            <a:spAutoFit/>
          </a:bodyPr>
          <a:lstStyle/>
          <a:p>
            <a:r>
              <a:rPr lang="en-US" sz="1200">
                <a:solidFill>
                  <a:srgbClr val="FF0000"/>
                </a:solidFill>
              </a:rPr>
              <a:t>Icmax</a:t>
            </a:r>
            <a:endParaRPr lang="en-ID" sz="1200">
              <a:solidFill>
                <a:srgbClr val="FF0000"/>
              </a:solidFill>
            </a:endParaRPr>
          </a:p>
        </p:txBody>
      </p:sp>
    </p:spTree>
    <p:extLst>
      <p:ext uri="{BB962C8B-B14F-4D97-AF65-F5344CB8AC3E}">
        <p14:creationId xmlns:p14="http://schemas.microsoft.com/office/powerpoint/2010/main" val="183942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CF99-DB76-838C-7850-E02839A8E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EAD39-3347-B768-C96E-7AEA2BFC4FF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706D3DBA-CB82-73B1-FA89-5835FBC872A1}"/>
              </a:ext>
            </a:extLst>
          </p:cNvPr>
          <p:cNvSpPr>
            <a:spLocks noGrp="1"/>
          </p:cNvSpPr>
          <p:nvPr>
            <p:ph idx="1"/>
          </p:nvPr>
        </p:nvSpPr>
        <p:spPr>
          <a:xfrm>
            <a:off x="838200" y="1825625"/>
            <a:ext cx="5520516" cy="4351338"/>
          </a:xfrm>
        </p:spPr>
        <p:txBody>
          <a:bodyPr>
            <a:normAutofit/>
          </a:bodyPr>
          <a:lstStyle/>
          <a:p>
            <a:pPr marL="0" indent="0">
              <a:buNone/>
            </a:pPr>
            <a:r>
              <a:rPr lang="en-US" sz="2400"/>
              <a:t>9. Garis Beban (lihat grafik)</a:t>
            </a:r>
          </a:p>
          <a:p>
            <a:pPr marL="0" indent="0">
              <a:buNone/>
            </a:pPr>
            <a:r>
              <a:rPr lang="en-US" sz="2400"/>
              <a:t>10. Titik Kerja (lihat grafik)</a:t>
            </a:r>
          </a:p>
          <a:p>
            <a:pPr marL="0" indent="0">
              <a:buNone/>
            </a:pPr>
            <a:r>
              <a:rPr lang="en-US" sz="2400"/>
              <a:t>11. Vbeq=0,72v (dari grafik)</a:t>
            </a:r>
          </a:p>
          <a:p>
            <a:pPr marL="0" indent="0">
              <a:buNone/>
            </a:pPr>
            <a:r>
              <a:rPr lang="en-US" sz="2400"/>
              <a:t>12. Beta = 250 (dari grafik)</a:t>
            </a:r>
          </a:p>
          <a:p>
            <a:pPr marL="0" indent="0">
              <a:buNone/>
            </a:pPr>
            <a:r>
              <a:rPr lang="en-US" sz="2400"/>
              <a:t>13. Ibq=20uA (dari grafik)</a:t>
            </a:r>
          </a:p>
          <a:p>
            <a:pPr marL="0" indent="0">
              <a:buNone/>
            </a:pPr>
            <a:r>
              <a:rPr lang="en-US" sz="2400"/>
              <a:t>14. Rb=(Vcc-Vbeq)/Ibq</a:t>
            </a:r>
          </a:p>
          <a:p>
            <a:pPr marL="0" indent="0">
              <a:buNone/>
            </a:pPr>
            <a:r>
              <a:rPr lang="en-US" sz="2400"/>
              <a:t>           =(12-0,72)/0,00002=564000 Ohm</a:t>
            </a:r>
          </a:p>
          <a:p>
            <a:pPr marL="0" indent="0">
              <a:buNone/>
            </a:pPr>
            <a:r>
              <a:rPr lang="en-US" sz="2400"/>
              <a:t>       Rb=564K Ohm</a:t>
            </a:r>
          </a:p>
        </p:txBody>
      </p:sp>
      <p:grpSp>
        <p:nvGrpSpPr>
          <p:cNvPr id="10" name="Group 9">
            <a:extLst>
              <a:ext uri="{FF2B5EF4-FFF2-40B4-BE49-F238E27FC236}">
                <a16:creationId xmlns:a16="http://schemas.microsoft.com/office/drawing/2014/main" id="{659A2078-6E39-0B8D-97DB-8C4A861DC2F9}"/>
              </a:ext>
            </a:extLst>
          </p:cNvPr>
          <p:cNvGrpSpPr/>
          <p:nvPr/>
        </p:nvGrpSpPr>
        <p:grpSpPr>
          <a:xfrm>
            <a:off x="6096000" y="2288375"/>
            <a:ext cx="3769606" cy="3313412"/>
            <a:chOff x="6840704" y="2232623"/>
            <a:chExt cx="3769606" cy="3313412"/>
          </a:xfrm>
        </p:grpSpPr>
        <p:pic>
          <p:nvPicPr>
            <p:cNvPr id="5" name="Picture 4">
              <a:extLst>
                <a:ext uri="{FF2B5EF4-FFF2-40B4-BE49-F238E27FC236}">
                  <a16:creationId xmlns:a16="http://schemas.microsoft.com/office/drawing/2014/main" id="{E25065CD-A387-4B00-1EB7-F24DF3F0DC38}"/>
                </a:ext>
              </a:extLst>
            </p:cNvPr>
            <p:cNvPicPr>
              <a:picLocks noChangeAspect="1"/>
            </p:cNvPicPr>
            <p:nvPr/>
          </p:nvPicPr>
          <p:blipFill>
            <a:blip r:embed="rId2"/>
            <a:stretch>
              <a:fillRect/>
            </a:stretch>
          </p:blipFill>
          <p:spPr>
            <a:xfrm>
              <a:off x="6840704" y="2232623"/>
              <a:ext cx="3769606" cy="3313412"/>
            </a:xfrm>
            <a:prstGeom prst="rect">
              <a:avLst/>
            </a:prstGeom>
          </p:spPr>
        </p:pic>
        <p:sp>
          <p:nvSpPr>
            <p:cNvPr id="4" name="TextBox 3">
              <a:extLst>
                <a:ext uri="{FF2B5EF4-FFF2-40B4-BE49-F238E27FC236}">
                  <a16:creationId xmlns:a16="http://schemas.microsoft.com/office/drawing/2014/main" id="{F1518FF4-FE4D-3113-39E9-9EC8465C221D}"/>
                </a:ext>
              </a:extLst>
            </p:cNvPr>
            <p:cNvSpPr txBox="1"/>
            <p:nvPr/>
          </p:nvSpPr>
          <p:spPr>
            <a:xfrm>
              <a:off x="7128768" y="2405848"/>
              <a:ext cx="292068" cy="338554"/>
            </a:xfrm>
            <a:prstGeom prst="rect">
              <a:avLst/>
            </a:prstGeom>
            <a:noFill/>
          </p:spPr>
          <p:txBody>
            <a:bodyPr wrap="none" rtlCol="0">
              <a:spAutoFit/>
            </a:bodyPr>
            <a:lstStyle/>
            <a:p>
              <a:r>
                <a:rPr lang="en-US" sz="1600"/>
                <a:t>q</a:t>
              </a:r>
              <a:endParaRPr lang="en-ID" sz="1600"/>
            </a:p>
          </p:txBody>
        </p:sp>
        <p:sp>
          <p:nvSpPr>
            <p:cNvPr id="6" name="TextBox 5">
              <a:extLst>
                <a:ext uri="{FF2B5EF4-FFF2-40B4-BE49-F238E27FC236}">
                  <a16:creationId xmlns:a16="http://schemas.microsoft.com/office/drawing/2014/main" id="{F9285903-273C-22D2-9235-891FA0E0CDF7}"/>
                </a:ext>
              </a:extLst>
            </p:cNvPr>
            <p:cNvSpPr txBox="1"/>
            <p:nvPr/>
          </p:nvSpPr>
          <p:spPr>
            <a:xfrm>
              <a:off x="7352190" y="3720052"/>
              <a:ext cx="292068" cy="338554"/>
            </a:xfrm>
            <a:prstGeom prst="rect">
              <a:avLst/>
            </a:prstGeom>
            <a:noFill/>
          </p:spPr>
          <p:txBody>
            <a:bodyPr wrap="none" rtlCol="0">
              <a:spAutoFit/>
            </a:bodyPr>
            <a:lstStyle/>
            <a:p>
              <a:r>
                <a:rPr lang="en-US" sz="1600"/>
                <a:t>q</a:t>
              </a:r>
              <a:endParaRPr lang="en-ID" sz="1600"/>
            </a:p>
          </p:txBody>
        </p:sp>
        <p:sp>
          <p:nvSpPr>
            <p:cNvPr id="7" name="TextBox 6">
              <a:extLst>
                <a:ext uri="{FF2B5EF4-FFF2-40B4-BE49-F238E27FC236}">
                  <a16:creationId xmlns:a16="http://schemas.microsoft.com/office/drawing/2014/main" id="{719E0180-6E80-0A6F-75AF-9773258FD2D1}"/>
                </a:ext>
              </a:extLst>
            </p:cNvPr>
            <p:cNvSpPr txBox="1"/>
            <p:nvPr/>
          </p:nvSpPr>
          <p:spPr>
            <a:xfrm>
              <a:off x="8799249" y="3090446"/>
              <a:ext cx="292068" cy="338554"/>
            </a:xfrm>
            <a:prstGeom prst="rect">
              <a:avLst/>
            </a:prstGeom>
            <a:noFill/>
          </p:spPr>
          <p:txBody>
            <a:bodyPr wrap="none" rtlCol="0">
              <a:spAutoFit/>
            </a:bodyPr>
            <a:lstStyle/>
            <a:p>
              <a:r>
                <a:rPr lang="en-US" sz="1600"/>
                <a:t>q</a:t>
              </a:r>
              <a:endParaRPr lang="en-ID" sz="1600"/>
            </a:p>
          </p:txBody>
        </p:sp>
        <p:sp>
          <p:nvSpPr>
            <p:cNvPr id="8" name="TextBox 7">
              <a:extLst>
                <a:ext uri="{FF2B5EF4-FFF2-40B4-BE49-F238E27FC236}">
                  <a16:creationId xmlns:a16="http://schemas.microsoft.com/office/drawing/2014/main" id="{2D09922C-815D-8F8D-1038-CC73F501846C}"/>
                </a:ext>
              </a:extLst>
            </p:cNvPr>
            <p:cNvSpPr txBox="1"/>
            <p:nvPr/>
          </p:nvSpPr>
          <p:spPr>
            <a:xfrm>
              <a:off x="9154356" y="4245005"/>
              <a:ext cx="292068" cy="338554"/>
            </a:xfrm>
            <a:prstGeom prst="rect">
              <a:avLst/>
            </a:prstGeom>
            <a:noFill/>
          </p:spPr>
          <p:txBody>
            <a:bodyPr wrap="none" rtlCol="0">
              <a:spAutoFit/>
            </a:bodyPr>
            <a:lstStyle/>
            <a:p>
              <a:r>
                <a:rPr lang="en-US" sz="1600"/>
                <a:t>q</a:t>
              </a:r>
              <a:endParaRPr lang="en-ID" sz="1600"/>
            </a:p>
          </p:txBody>
        </p:sp>
        <p:sp>
          <p:nvSpPr>
            <p:cNvPr id="9" name="TextBox 8">
              <a:extLst>
                <a:ext uri="{FF2B5EF4-FFF2-40B4-BE49-F238E27FC236}">
                  <a16:creationId xmlns:a16="http://schemas.microsoft.com/office/drawing/2014/main" id="{CC4DF734-1E69-FACD-1295-A0EEBFFEE694}"/>
                </a:ext>
              </a:extLst>
            </p:cNvPr>
            <p:cNvSpPr txBox="1"/>
            <p:nvPr/>
          </p:nvSpPr>
          <p:spPr>
            <a:xfrm>
              <a:off x="7644258" y="4583559"/>
              <a:ext cx="292068" cy="338554"/>
            </a:xfrm>
            <a:prstGeom prst="rect">
              <a:avLst/>
            </a:prstGeom>
            <a:noFill/>
          </p:spPr>
          <p:txBody>
            <a:bodyPr wrap="none" rtlCol="0">
              <a:spAutoFit/>
            </a:bodyPr>
            <a:lstStyle/>
            <a:p>
              <a:r>
                <a:rPr lang="en-US" sz="1600"/>
                <a:t>q</a:t>
              </a:r>
              <a:endParaRPr lang="en-ID" sz="1600"/>
            </a:p>
          </p:txBody>
        </p:sp>
      </p:grpSp>
      <p:sp>
        <p:nvSpPr>
          <p:cNvPr id="12" name="TextBox 11">
            <a:extLst>
              <a:ext uri="{FF2B5EF4-FFF2-40B4-BE49-F238E27FC236}">
                <a16:creationId xmlns:a16="http://schemas.microsoft.com/office/drawing/2014/main" id="{40AD7933-9B2B-0494-1406-77431A55EEA0}"/>
              </a:ext>
            </a:extLst>
          </p:cNvPr>
          <p:cNvSpPr txBox="1"/>
          <p:nvPr/>
        </p:nvSpPr>
        <p:spPr>
          <a:xfrm>
            <a:off x="5840229" y="1825625"/>
            <a:ext cx="4636345" cy="523220"/>
          </a:xfrm>
          <a:prstGeom prst="rect">
            <a:avLst/>
          </a:prstGeom>
          <a:noFill/>
        </p:spPr>
        <p:txBody>
          <a:bodyPr wrap="square">
            <a:spAutoFit/>
          </a:bodyPr>
          <a:lstStyle/>
          <a:p>
            <a:r>
              <a:rPr lang="en-US" sz="2800"/>
              <a:t>15. Skema lengkap rangkaian </a:t>
            </a:r>
            <a:endParaRPr lang="en-ID" sz="2800"/>
          </a:p>
        </p:txBody>
      </p:sp>
      <p:sp>
        <p:nvSpPr>
          <p:cNvPr id="13" name="TextBox 12">
            <a:extLst>
              <a:ext uri="{FF2B5EF4-FFF2-40B4-BE49-F238E27FC236}">
                <a16:creationId xmlns:a16="http://schemas.microsoft.com/office/drawing/2014/main" id="{A291468D-5164-5DA5-ABBB-9FF6C55EE18C}"/>
              </a:ext>
            </a:extLst>
          </p:cNvPr>
          <p:cNvSpPr txBox="1"/>
          <p:nvPr/>
        </p:nvSpPr>
        <p:spPr>
          <a:xfrm>
            <a:off x="6530098" y="3135505"/>
            <a:ext cx="641522" cy="307777"/>
          </a:xfrm>
          <a:prstGeom prst="rect">
            <a:avLst/>
          </a:prstGeom>
          <a:noFill/>
        </p:spPr>
        <p:txBody>
          <a:bodyPr wrap="none" rtlCol="0">
            <a:spAutoFit/>
          </a:bodyPr>
          <a:lstStyle/>
          <a:p>
            <a:r>
              <a:rPr lang="en-US" sz="1400"/>
              <a:t>=564K</a:t>
            </a:r>
            <a:endParaRPr lang="en-ID" sz="1400"/>
          </a:p>
        </p:txBody>
      </p:sp>
      <p:sp>
        <p:nvSpPr>
          <p:cNvPr id="14" name="TextBox 13">
            <a:extLst>
              <a:ext uri="{FF2B5EF4-FFF2-40B4-BE49-F238E27FC236}">
                <a16:creationId xmlns:a16="http://schemas.microsoft.com/office/drawing/2014/main" id="{16DEB39E-8BB4-0753-71B9-5C58986A289F}"/>
              </a:ext>
            </a:extLst>
          </p:cNvPr>
          <p:cNvSpPr txBox="1"/>
          <p:nvPr/>
        </p:nvSpPr>
        <p:spPr>
          <a:xfrm>
            <a:off x="6720018" y="3660458"/>
            <a:ext cx="655949" cy="307777"/>
          </a:xfrm>
          <a:prstGeom prst="rect">
            <a:avLst/>
          </a:prstGeom>
          <a:noFill/>
        </p:spPr>
        <p:txBody>
          <a:bodyPr wrap="none" rtlCol="0">
            <a:spAutoFit/>
          </a:bodyPr>
          <a:lstStyle/>
          <a:p>
            <a:r>
              <a:rPr lang="en-US" sz="1400"/>
              <a:t>=20uA</a:t>
            </a:r>
            <a:endParaRPr lang="en-ID" sz="1400"/>
          </a:p>
        </p:txBody>
      </p:sp>
      <p:sp>
        <p:nvSpPr>
          <p:cNvPr id="15" name="TextBox 14">
            <a:extLst>
              <a:ext uri="{FF2B5EF4-FFF2-40B4-BE49-F238E27FC236}">
                <a16:creationId xmlns:a16="http://schemas.microsoft.com/office/drawing/2014/main" id="{A03ADC6C-90D0-77B6-2960-C2F9BE6B2489}"/>
              </a:ext>
            </a:extLst>
          </p:cNvPr>
          <p:cNvSpPr txBox="1"/>
          <p:nvPr/>
        </p:nvSpPr>
        <p:spPr>
          <a:xfrm>
            <a:off x="7045588" y="4670088"/>
            <a:ext cx="675185" cy="307777"/>
          </a:xfrm>
          <a:prstGeom prst="rect">
            <a:avLst/>
          </a:prstGeom>
          <a:noFill/>
        </p:spPr>
        <p:txBody>
          <a:bodyPr wrap="none" rtlCol="0">
            <a:spAutoFit/>
          </a:bodyPr>
          <a:lstStyle/>
          <a:p>
            <a:r>
              <a:rPr lang="en-US" sz="1400"/>
              <a:t>=0,72v</a:t>
            </a:r>
            <a:endParaRPr lang="en-ID" sz="1400"/>
          </a:p>
        </p:txBody>
      </p:sp>
      <p:sp>
        <p:nvSpPr>
          <p:cNvPr id="16" name="TextBox 15">
            <a:extLst>
              <a:ext uri="{FF2B5EF4-FFF2-40B4-BE49-F238E27FC236}">
                <a16:creationId xmlns:a16="http://schemas.microsoft.com/office/drawing/2014/main" id="{DDF334F2-8495-DF17-B4B7-16C6E66E3AEE}"/>
              </a:ext>
            </a:extLst>
          </p:cNvPr>
          <p:cNvSpPr txBox="1"/>
          <p:nvPr/>
        </p:nvSpPr>
        <p:spPr>
          <a:xfrm>
            <a:off x="8203666" y="3189192"/>
            <a:ext cx="612668" cy="307777"/>
          </a:xfrm>
          <a:prstGeom prst="rect">
            <a:avLst/>
          </a:prstGeom>
          <a:noFill/>
        </p:spPr>
        <p:txBody>
          <a:bodyPr wrap="none" rtlCol="0">
            <a:spAutoFit/>
          </a:bodyPr>
          <a:lstStyle/>
          <a:p>
            <a:r>
              <a:rPr lang="en-US" sz="1400"/>
              <a:t>=5mA</a:t>
            </a:r>
            <a:endParaRPr lang="en-ID" sz="1400"/>
          </a:p>
        </p:txBody>
      </p:sp>
      <p:sp>
        <p:nvSpPr>
          <p:cNvPr id="17" name="TextBox 16">
            <a:extLst>
              <a:ext uri="{FF2B5EF4-FFF2-40B4-BE49-F238E27FC236}">
                <a16:creationId xmlns:a16="http://schemas.microsoft.com/office/drawing/2014/main" id="{987713D6-3BEA-B181-B462-AF25FB2A9E3E}"/>
              </a:ext>
            </a:extLst>
          </p:cNvPr>
          <p:cNvSpPr txBox="1"/>
          <p:nvPr/>
        </p:nvSpPr>
        <p:spPr>
          <a:xfrm>
            <a:off x="8561729" y="4331534"/>
            <a:ext cx="447558" cy="307777"/>
          </a:xfrm>
          <a:prstGeom prst="rect">
            <a:avLst/>
          </a:prstGeom>
          <a:noFill/>
        </p:spPr>
        <p:txBody>
          <a:bodyPr wrap="none" rtlCol="0">
            <a:spAutoFit/>
          </a:bodyPr>
          <a:lstStyle/>
          <a:p>
            <a:r>
              <a:rPr lang="en-US" sz="1400"/>
              <a:t>=6v</a:t>
            </a:r>
            <a:endParaRPr lang="en-ID" sz="1400"/>
          </a:p>
        </p:txBody>
      </p:sp>
      <p:sp>
        <p:nvSpPr>
          <p:cNvPr id="18" name="TextBox 17">
            <a:extLst>
              <a:ext uri="{FF2B5EF4-FFF2-40B4-BE49-F238E27FC236}">
                <a16:creationId xmlns:a16="http://schemas.microsoft.com/office/drawing/2014/main" id="{52A045C5-AD1C-0C27-5918-8238AC893C57}"/>
              </a:ext>
            </a:extLst>
          </p:cNvPr>
          <p:cNvSpPr txBox="1"/>
          <p:nvPr/>
        </p:nvSpPr>
        <p:spPr>
          <a:xfrm>
            <a:off x="9362695" y="2492376"/>
            <a:ext cx="538930" cy="307777"/>
          </a:xfrm>
          <a:prstGeom prst="rect">
            <a:avLst/>
          </a:prstGeom>
          <a:noFill/>
        </p:spPr>
        <p:txBody>
          <a:bodyPr wrap="none" rtlCol="0">
            <a:spAutoFit/>
          </a:bodyPr>
          <a:lstStyle/>
          <a:p>
            <a:r>
              <a:rPr lang="en-US" sz="1400"/>
              <a:t>=12v</a:t>
            </a:r>
            <a:endParaRPr lang="en-ID" sz="1400"/>
          </a:p>
        </p:txBody>
      </p:sp>
      <p:sp>
        <p:nvSpPr>
          <p:cNvPr id="19" name="TextBox 18">
            <a:extLst>
              <a:ext uri="{FF2B5EF4-FFF2-40B4-BE49-F238E27FC236}">
                <a16:creationId xmlns:a16="http://schemas.microsoft.com/office/drawing/2014/main" id="{07C59AAE-BABA-9B08-CB2E-7562D549C211}"/>
              </a:ext>
            </a:extLst>
          </p:cNvPr>
          <p:cNvSpPr txBox="1"/>
          <p:nvPr/>
        </p:nvSpPr>
        <p:spPr>
          <a:xfrm>
            <a:off x="7669606" y="3945081"/>
            <a:ext cx="652743" cy="307777"/>
          </a:xfrm>
          <a:prstGeom prst="rect">
            <a:avLst/>
          </a:prstGeom>
          <a:noFill/>
        </p:spPr>
        <p:txBody>
          <a:bodyPr wrap="none" rtlCol="0">
            <a:spAutoFit/>
          </a:bodyPr>
          <a:lstStyle/>
          <a:p>
            <a:r>
              <a:rPr lang="en-US" sz="1400"/>
              <a:t>BC107</a:t>
            </a:r>
            <a:endParaRPr lang="en-ID" sz="1400"/>
          </a:p>
        </p:txBody>
      </p:sp>
      <p:sp>
        <p:nvSpPr>
          <p:cNvPr id="11" name="TextBox 10">
            <a:extLst>
              <a:ext uri="{FF2B5EF4-FFF2-40B4-BE49-F238E27FC236}">
                <a16:creationId xmlns:a16="http://schemas.microsoft.com/office/drawing/2014/main" id="{DD133B26-1B9A-DB9A-008E-167E3899EA87}"/>
              </a:ext>
            </a:extLst>
          </p:cNvPr>
          <p:cNvSpPr txBox="1"/>
          <p:nvPr/>
        </p:nvSpPr>
        <p:spPr>
          <a:xfrm>
            <a:off x="8166011" y="2646265"/>
            <a:ext cx="639919" cy="307777"/>
          </a:xfrm>
          <a:prstGeom prst="rect">
            <a:avLst/>
          </a:prstGeom>
          <a:noFill/>
        </p:spPr>
        <p:txBody>
          <a:bodyPr wrap="none" rtlCol="0">
            <a:spAutoFit/>
          </a:bodyPr>
          <a:lstStyle/>
          <a:p>
            <a:r>
              <a:rPr lang="en-US" sz="1400"/>
              <a:t>=1200</a:t>
            </a:r>
            <a:endParaRPr lang="en-ID" sz="1400"/>
          </a:p>
        </p:txBody>
      </p:sp>
      <p:cxnSp>
        <p:nvCxnSpPr>
          <p:cNvPr id="20" name="Straight Connector 19">
            <a:extLst>
              <a:ext uri="{FF2B5EF4-FFF2-40B4-BE49-F238E27FC236}">
                <a16:creationId xmlns:a16="http://schemas.microsoft.com/office/drawing/2014/main" id="{07C045AB-35C3-AE32-E3A6-246AB35BB277}"/>
              </a:ext>
            </a:extLst>
          </p:cNvPr>
          <p:cNvCxnSpPr>
            <a:cxnSpLocks/>
          </p:cNvCxnSpPr>
          <p:nvPr/>
        </p:nvCxnSpPr>
        <p:spPr>
          <a:xfrm>
            <a:off x="7839977" y="548513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FB86FE3-D2BC-AF65-125A-3A0D3927E580}"/>
              </a:ext>
            </a:extLst>
          </p:cNvPr>
          <p:cNvCxnSpPr>
            <a:cxnSpLocks/>
          </p:cNvCxnSpPr>
          <p:nvPr/>
        </p:nvCxnSpPr>
        <p:spPr>
          <a:xfrm flipH="1" flipV="1">
            <a:off x="7661998" y="569386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050EE5E-2A9B-30D6-89A6-7C24971410F6}"/>
              </a:ext>
            </a:extLst>
          </p:cNvPr>
          <p:cNvCxnSpPr>
            <a:cxnSpLocks/>
          </p:cNvCxnSpPr>
          <p:nvPr/>
        </p:nvCxnSpPr>
        <p:spPr>
          <a:xfrm flipH="1">
            <a:off x="7738198" y="576343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92CA8CC-CD9E-5981-0A66-E95B5D1A0967}"/>
              </a:ext>
            </a:extLst>
          </p:cNvPr>
          <p:cNvCxnSpPr>
            <a:cxnSpLocks/>
          </p:cNvCxnSpPr>
          <p:nvPr/>
        </p:nvCxnSpPr>
        <p:spPr>
          <a:xfrm flipH="1">
            <a:off x="7776298" y="582980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14E2D4A-7424-87A4-2441-5E2BF24A1AB3}"/>
              </a:ext>
            </a:extLst>
          </p:cNvPr>
          <p:cNvSpPr txBox="1"/>
          <p:nvPr/>
        </p:nvSpPr>
        <p:spPr>
          <a:xfrm>
            <a:off x="9576744" y="5245973"/>
            <a:ext cx="288862" cy="338554"/>
          </a:xfrm>
          <a:prstGeom prst="rect">
            <a:avLst/>
          </a:prstGeom>
          <a:noFill/>
        </p:spPr>
        <p:txBody>
          <a:bodyPr wrap="none" rtlCol="0">
            <a:spAutoFit/>
          </a:bodyPr>
          <a:lstStyle/>
          <a:p>
            <a:r>
              <a:rPr lang="en-US" sz="1600"/>
              <a:t>0</a:t>
            </a:r>
            <a:endParaRPr lang="en-ID" sz="1600"/>
          </a:p>
        </p:txBody>
      </p:sp>
    </p:spTree>
    <p:extLst>
      <p:ext uri="{BB962C8B-B14F-4D97-AF65-F5344CB8AC3E}">
        <p14:creationId xmlns:p14="http://schemas.microsoft.com/office/powerpoint/2010/main" val="634085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3705-484B-2B19-F10E-AB6F1C298CFE}"/>
              </a:ext>
            </a:extLst>
          </p:cNvPr>
          <p:cNvSpPr>
            <a:spLocks noGrp="1"/>
          </p:cNvSpPr>
          <p:nvPr>
            <p:ph type="title"/>
          </p:nvPr>
        </p:nvSpPr>
        <p:spPr/>
        <p:txBody>
          <a:bodyPr>
            <a:normAutofit/>
          </a:bodyPr>
          <a:lstStyle/>
          <a:p>
            <a:r>
              <a:rPr lang="en-US" sz="3600"/>
              <a:t>16. Hasil Simulasi Rangkaian Prategangan (Dengan Grafik, BC107)</a:t>
            </a:r>
            <a:endParaRPr lang="en-ID" sz="3600"/>
          </a:p>
        </p:txBody>
      </p:sp>
      <p:sp>
        <p:nvSpPr>
          <p:cNvPr id="3" name="Content Placeholder 2">
            <a:extLst>
              <a:ext uri="{FF2B5EF4-FFF2-40B4-BE49-F238E27FC236}">
                <a16:creationId xmlns:a16="http://schemas.microsoft.com/office/drawing/2014/main" id="{B098C7FB-94FF-CAA0-C7CA-0D22C06F447E}"/>
              </a:ext>
            </a:extLst>
          </p:cNvPr>
          <p:cNvSpPr>
            <a:spLocks noGrp="1"/>
          </p:cNvSpPr>
          <p:nvPr>
            <p:ph idx="1"/>
          </p:nvPr>
        </p:nvSpPr>
        <p:spPr>
          <a:xfrm>
            <a:off x="6735420" y="2018687"/>
            <a:ext cx="4465983" cy="4351338"/>
          </a:xfrm>
        </p:spPr>
        <p:txBody>
          <a:bodyPr>
            <a:normAutofit/>
          </a:bodyPr>
          <a:lstStyle/>
          <a:p>
            <a:pPr marL="0" indent="0">
              <a:lnSpc>
                <a:spcPct val="100000"/>
              </a:lnSpc>
              <a:spcBef>
                <a:spcPts val="0"/>
              </a:spcBef>
              <a:buNone/>
            </a:pPr>
            <a:r>
              <a:rPr lang="en-US" sz="2000"/>
              <a:t>Hasil simulasi:</a:t>
            </a:r>
          </a:p>
          <a:p>
            <a:pPr>
              <a:lnSpc>
                <a:spcPct val="100000"/>
              </a:lnSpc>
              <a:spcBef>
                <a:spcPts val="0"/>
              </a:spcBef>
            </a:pPr>
            <a:r>
              <a:rPr lang="en-US" sz="2000"/>
              <a:t>Icq=5,05mA</a:t>
            </a:r>
          </a:p>
          <a:p>
            <a:pPr marL="180000">
              <a:lnSpc>
                <a:spcPct val="100000"/>
              </a:lnSpc>
              <a:spcBef>
                <a:spcPts val="0"/>
              </a:spcBef>
            </a:pPr>
            <a:r>
              <a:rPr lang="en-US" sz="2000"/>
              <a:t>Vceq=5,94v</a:t>
            </a:r>
          </a:p>
          <a:p>
            <a:pPr>
              <a:lnSpc>
                <a:spcPct val="100000"/>
              </a:lnSpc>
              <a:spcBef>
                <a:spcPts val="0"/>
              </a:spcBef>
            </a:pPr>
            <a:r>
              <a:rPr lang="en-US" sz="2000"/>
              <a:t>Ibq=20uA</a:t>
            </a:r>
          </a:p>
          <a:p>
            <a:pPr>
              <a:lnSpc>
                <a:spcPct val="100000"/>
              </a:lnSpc>
              <a:spcBef>
                <a:spcPts val="0"/>
              </a:spcBef>
            </a:pPr>
            <a:r>
              <a:rPr lang="en-US" sz="2000"/>
              <a:t>Vbeq=0,72v</a:t>
            </a:r>
          </a:p>
          <a:p>
            <a:pPr>
              <a:lnSpc>
                <a:spcPct val="100000"/>
              </a:lnSpc>
              <a:spcBef>
                <a:spcPts val="0"/>
              </a:spcBef>
            </a:pPr>
            <a:endParaRPr lang="en-US" sz="2000"/>
          </a:p>
          <a:p>
            <a:pPr>
              <a:lnSpc>
                <a:spcPct val="100000"/>
              </a:lnSpc>
              <a:spcBef>
                <a:spcPts val="0"/>
              </a:spcBef>
            </a:pPr>
            <a:endParaRPr lang="en-US" sz="2000"/>
          </a:p>
          <a:p>
            <a:pPr marL="0" indent="0">
              <a:lnSpc>
                <a:spcPct val="100000"/>
              </a:lnSpc>
              <a:spcBef>
                <a:spcPts val="0"/>
              </a:spcBef>
              <a:buNone/>
            </a:pPr>
            <a:r>
              <a:rPr lang="en-US" sz="2000"/>
              <a:t>Kesimpulan:</a:t>
            </a:r>
          </a:p>
          <a:p>
            <a:pPr>
              <a:lnSpc>
                <a:spcPct val="100000"/>
              </a:lnSpc>
              <a:spcBef>
                <a:spcPts val="0"/>
              </a:spcBef>
            </a:pPr>
            <a:r>
              <a:rPr lang="en-US" sz="2000"/>
              <a:t>Hasil simulasi menunjukkan bahwa hasil realisasi mendekati hasil perancangan</a:t>
            </a:r>
          </a:p>
          <a:p>
            <a:pPr>
              <a:lnSpc>
                <a:spcPct val="100000"/>
              </a:lnSpc>
              <a:spcBef>
                <a:spcPts val="0"/>
              </a:spcBef>
            </a:pPr>
            <a:endParaRPr lang="en-ID" sz="2000"/>
          </a:p>
        </p:txBody>
      </p:sp>
      <p:pic>
        <p:nvPicPr>
          <p:cNvPr id="13" name="Picture 12">
            <a:extLst>
              <a:ext uri="{FF2B5EF4-FFF2-40B4-BE49-F238E27FC236}">
                <a16:creationId xmlns:a16="http://schemas.microsoft.com/office/drawing/2014/main" id="{3BA32F3F-E209-671A-D372-F80757186978}"/>
              </a:ext>
            </a:extLst>
          </p:cNvPr>
          <p:cNvPicPr>
            <a:picLocks noChangeAspect="1"/>
          </p:cNvPicPr>
          <p:nvPr/>
        </p:nvPicPr>
        <p:blipFill>
          <a:blip r:embed="rId2"/>
          <a:stretch>
            <a:fillRect/>
          </a:stretch>
        </p:blipFill>
        <p:spPr>
          <a:xfrm>
            <a:off x="1609414" y="2018687"/>
            <a:ext cx="4238107" cy="4049146"/>
          </a:xfrm>
          <a:prstGeom prst="rect">
            <a:avLst/>
          </a:prstGeom>
        </p:spPr>
      </p:pic>
      <p:sp>
        <p:nvSpPr>
          <p:cNvPr id="21" name="TextBox 20">
            <a:extLst>
              <a:ext uri="{FF2B5EF4-FFF2-40B4-BE49-F238E27FC236}">
                <a16:creationId xmlns:a16="http://schemas.microsoft.com/office/drawing/2014/main" id="{05EBBD42-B390-33AC-CD60-FE875DC38C09}"/>
              </a:ext>
            </a:extLst>
          </p:cNvPr>
          <p:cNvSpPr txBox="1"/>
          <p:nvPr/>
        </p:nvSpPr>
        <p:spPr>
          <a:xfrm>
            <a:off x="9377925" y="2018687"/>
            <a:ext cx="2171350" cy="1631216"/>
          </a:xfrm>
          <a:prstGeom prst="rect">
            <a:avLst/>
          </a:prstGeom>
          <a:noFill/>
        </p:spPr>
        <p:txBody>
          <a:bodyPr wrap="square">
            <a:spAutoFit/>
          </a:bodyPr>
          <a:lstStyle/>
          <a:p>
            <a:pPr marL="0" indent="0">
              <a:buNone/>
            </a:pPr>
            <a:r>
              <a:rPr lang="en-US" sz="2000"/>
              <a:t>Hasil perancangan:</a:t>
            </a:r>
          </a:p>
          <a:p>
            <a:pPr marL="342900" indent="-342900">
              <a:buFont typeface="Arial" panose="020B0604020202020204" pitchFamily="34" charset="0"/>
              <a:buChar char="•"/>
            </a:pPr>
            <a:r>
              <a:rPr lang="en-US" sz="2000"/>
              <a:t>Icq=5mA</a:t>
            </a:r>
          </a:p>
          <a:p>
            <a:pPr marL="342900" indent="-342900">
              <a:buFont typeface="Arial" panose="020B0604020202020204" pitchFamily="34" charset="0"/>
              <a:buChar char="•"/>
            </a:pPr>
            <a:r>
              <a:rPr lang="en-US" sz="2000"/>
              <a:t>Vceq=6v</a:t>
            </a:r>
          </a:p>
          <a:p>
            <a:pPr marL="342900" indent="-342900">
              <a:buFont typeface="Arial" panose="020B0604020202020204" pitchFamily="34" charset="0"/>
              <a:buChar char="•"/>
            </a:pPr>
            <a:r>
              <a:rPr lang="en-US" sz="2000"/>
              <a:t>Ibq=20uA</a:t>
            </a:r>
          </a:p>
          <a:p>
            <a:pPr marL="342900" indent="-342900">
              <a:buFont typeface="Arial" panose="020B0604020202020204" pitchFamily="34" charset="0"/>
              <a:buChar char="•"/>
            </a:pPr>
            <a:r>
              <a:rPr lang="en-US" sz="2000"/>
              <a:t>Vbeq=0,72v</a:t>
            </a:r>
          </a:p>
        </p:txBody>
      </p:sp>
    </p:spTree>
    <p:extLst>
      <p:ext uri="{BB962C8B-B14F-4D97-AF65-F5344CB8AC3E}">
        <p14:creationId xmlns:p14="http://schemas.microsoft.com/office/powerpoint/2010/main" val="2554316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D56F-1329-1E19-BBA0-9EF198EE1662}"/>
              </a:ext>
            </a:extLst>
          </p:cNvPr>
          <p:cNvSpPr>
            <a:spLocks noGrp="1"/>
          </p:cNvSpPr>
          <p:nvPr>
            <p:ph type="title"/>
          </p:nvPr>
        </p:nvSpPr>
        <p:spPr/>
        <p:txBody>
          <a:bodyPr/>
          <a:lstStyle/>
          <a:p>
            <a:r>
              <a:rPr lang="en-US" sz="4400"/>
              <a:t>17. Hasil Percobaan Riil Rangkaian Prategangan (Dengan Grafik, BC107)</a:t>
            </a:r>
            <a:endParaRPr lang="en-ID"/>
          </a:p>
        </p:txBody>
      </p:sp>
      <p:sp>
        <p:nvSpPr>
          <p:cNvPr id="3" name="Content Placeholder 2">
            <a:extLst>
              <a:ext uri="{FF2B5EF4-FFF2-40B4-BE49-F238E27FC236}">
                <a16:creationId xmlns:a16="http://schemas.microsoft.com/office/drawing/2014/main" id="{ACCBF049-DCAE-837F-6938-6E00059BD280}"/>
              </a:ext>
            </a:extLst>
          </p:cNvPr>
          <p:cNvSpPr>
            <a:spLocks noGrp="1"/>
          </p:cNvSpPr>
          <p:nvPr>
            <p:ph idx="1"/>
          </p:nvPr>
        </p:nvSpPr>
        <p:spPr/>
        <p:txBody>
          <a:bodyPr/>
          <a:lstStyle/>
          <a:p>
            <a:r>
              <a:rPr lang="en-US"/>
              <a:t>Dilakukan di lab</a:t>
            </a:r>
            <a:endParaRPr lang="en-ID"/>
          </a:p>
        </p:txBody>
      </p:sp>
    </p:spTree>
    <p:extLst>
      <p:ext uri="{BB962C8B-B14F-4D97-AF65-F5344CB8AC3E}">
        <p14:creationId xmlns:p14="http://schemas.microsoft.com/office/powerpoint/2010/main" val="3424808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6017</TotalTime>
  <Words>1522</Words>
  <Application>Microsoft Office PowerPoint</Application>
  <PresentationFormat>Widescreen</PresentationFormat>
  <Paragraphs>332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Mencari Ibq, Vbeq, Icq, Vceq, Beta, Rc dan Rb Fixed Bias dengan Metoda Grafik</vt:lpstr>
      <vt:lpstr>Pendahuluan</vt:lpstr>
      <vt:lpstr>Tujuan</vt:lpstr>
      <vt:lpstr>Persyaratan yang harus dipenuhi Mahasiswa</vt:lpstr>
      <vt:lpstr>Alat dan Bahan</vt:lpstr>
      <vt:lpstr>Soal</vt:lpstr>
      <vt:lpstr>Datashet Transistor (Sederhana)</vt:lpstr>
      <vt:lpstr>Beta (atau hFE) BC107</vt:lpstr>
      <vt:lpstr>Jawaban</vt:lpstr>
      <vt:lpstr>Wilayah Transistor saat OFF dan ON</vt:lpstr>
      <vt:lpstr>Persamaan Transistor saat OFF dan ON</vt:lpstr>
      <vt:lpstr>Icmax dan Vcemax Transistor saat OFF dan ON</vt:lpstr>
      <vt:lpstr>Jawaban</vt:lpstr>
      <vt:lpstr>Menentukan Ibq, Vbeq dan Beta (Hfe) dengan mengetahui Icq dan Vceq</vt:lpstr>
      <vt:lpstr>PowerPoint Presentation</vt:lpstr>
      <vt:lpstr>16. Hasil Simulasi Rangkaian Prategangan (Dengan Grafik, BC107)</vt:lpstr>
      <vt:lpstr>17. Hasil Percobaan Riil Rangkaian Prategangan (Dengan Grafik, BC107)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193</cp:revision>
  <dcterms:created xsi:type="dcterms:W3CDTF">2024-04-25T05:33:30Z</dcterms:created>
  <dcterms:modified xsi:type="dcterms:W3CDTF">2025-05-14T09:58:19Z</dcterms:modified>
</cp:coreProperties>
</file>