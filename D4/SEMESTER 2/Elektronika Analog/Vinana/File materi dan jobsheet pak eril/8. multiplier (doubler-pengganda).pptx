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2" r:id="rId2"/>
    <p:sldId id="301" r:id="rId3"/>
    <p:sldId id="272" r:id="rId4"/>
    <p:sldId id="303" r:id="rId5"/>
    <p:sldId id="274" r:id="rId6"/>
    <p:sldId id="275" r:id="rId7"/>
    <p:sldId id="27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5" autoAdjust="0"/>
    <p:restoredTop sz="94660"/>
  </p:normalViewPr>
  <p:slideViewPr>
    <p:cSldViewPr snapToGrid="0">
      <p:cViewPr varScale="1">
        <p:scale>
          <a:sx n="85" d="100"/>
          <a:sy n="85" d="100"/>
        </p:scale>
        <p:origin x="451"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403ED-366E-4B95-B432-8F77526DD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0A1B3-B8F0-4CA1-8BE6-D833220DAA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85341-18EE-466B-9803-EA2D807D2E73}"/>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925C88B4-8F50-493E-A9D9-428DDA99D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76EA6-8C1A-443F-B4CE-0F7384994A92}"/>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851706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65300-7256-4D98-B0B6-4E2CD6850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DF4B0F-6558-4461-9218-4119A5FC56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3716-D69C-4FF6-9BE2-53D36CB0EE2F}"/>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A48708A0-25E4-43ED-81A4-7A3C37BEC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B1D69-DFA9-4D0F-914C-8E73733F4936}"/>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027772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7115-366E-4280-9EE9-02841C0719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A7B3CC-B236-47ED-9240-FA4CE499A9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A9F16F-D229-49B3-B73D-F290626DFA0E}"/>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980FCDED-381D-4A57-BD1A-01454E39C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927B2-B5AA-46DC-A5A4-EB9BE67CEE18}"/>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184804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79FD-2A12-40A0-A396-4D3A3A9A09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34E41F-B7A6-42CB-8469-0C5DEBF0FC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353EEC-EB4F-4F5D-86CE-4A22695609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478B05-E0E4-41C9-9A72-E519E6B26C75}"/>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6" name="Footer Placeholder 5">
            <a:extLst>
              <a:ext uri="{FF2B5EF4-FFF2-40B4-BE49-F238E27FC236}">
                <a16:creationId xmlns:a16="http://schemas.microsoft.com/office/drawing/2014/main" id="{66AF3BEE-1A26-4CC4-9A30-69E423941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5AA4C0-2035-41D4-8BD1-7DBC04AE2FD3}"/>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251306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C207-3A38-423D-B12D-8AB1CF00ED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586440-2397-4581-89A9-A729D237D9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F59AC0-0251-4E89-A7CD-D2BD9D95B8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E6B544-8430-4C88-A024-5F84DB56A4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A353FF-E18A-40BA-8FC9-4B15712787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1E7A99-3150-44FF-AEF4-A17C5C1FDD5F}"/>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8" name="Footer Placeholder 7">
            <a:extLst>
              <a:ext uri="{FF2B5EF4-FFF2-40B4-BE49-F238E27FC236}">
                <a16:creationId xmlns:a16="http://schemas.microsoft.com/office/drawing/2014/main" id="{EE252EDF-E2AF-4DD9-A565-46C1008B8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56DE5F-23A0-4CD9-BB7B-B4842D29353C}"/>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009782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C6F2-4CA4-40A3-A509-B1B179FEDE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4A8E82-13D0-4193-991A-33957CE7D297}"/>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4" name="Footer Placeholder 3">
            <a:extLst>
              <a:ext uri="{FF2B5EF4-FFF2-40B4-BE49-F238E27FC236}">
                <a16:creationId xmlns:a16="http://schemas.microsoft.com/office/drawing/2014/main" id="{8CE2CD9B-0C12-4051-B381-9FADE0BDE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03A074-9CC5-4B7D-B01F-56851DCE42B1}"/>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998255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BFD0D-E37D-41F5-9290-5628AA1C6812}"/>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3" name="Footer Placeholder 2">
            <a:extLst>
              <a:ext uri="{FF2B5EF4-FFF2-40B4-BE49-F238E27FC236}">
                <a16:creationId xmlns:a16="http://schemas.microsoft.com/office/drawing/2014/main" id="{208F90A4-5676-4AF5-B561-9BEB2C1773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BD96BF-C3A7-418B-9805-29EB05B5010C}"/>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2168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301C-AE70-4B26-86F8-78CBEBC73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C4B1F3-3AE8-4F69-9822-06F2133064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43E9AC-58FF-4B09-B365-63F6523F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5D5218-57F7-4700-B3F9-44B29EACB06C}"/>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6" name="Footer Placeholder 5">
            <a:extLst>
              <a:ext uri="{FF2B5EF4-FFF2-40B4-BE49-F238E27FC236}">
                <a16:creationId xmlns:a16="http://schemas.microsoft.com/office/drawing/2014/main" id="{C39CE977-8D8D-4695-BC16-C15D83C37F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841329-7D35-4222-AB0D-2D9D4773B873}"/>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26056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3FF4B-495F-4671-B9FF-E0133D44BE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10BE73-AB1F-4A54-A2E5-C2127D3E4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5772F2-80D0-467E-874B-024BCA869C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6A046-2C0B-4F32-B759-F884169F5AB5}"/>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6" name="Footer Placeholder 5">
            <a:extLst>
              <a:ext uri="{FF2B5EF4-FFF2-40B4-BE49-F238E27FC236}">
                <a16:creationId xmlns:a16="http://schemas.microsoft.com/office/drawing/2014/main" id="{47464CDA-B900-4ED8-9E0A-3D7AACFF4E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3AAF2-EF1B-4899-86FA-5DC2710075E7}"/>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893637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D25B-5F85-431D-B5A4-48DC645A7E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1169D0-07CA-4B94-9DA2-2094BB83A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FE414-269A-4281-B39E-F78D39D2F47D}"/>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70AC0F77-F027-44F4-9463-1108A6DE6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E5D163-0ACA-41B3-94F2-A001F0CA0915}"/>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19176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B54E62-4CD5-4EBD-A0C6-9F39096AAA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A8D048-41E3-4C4D-8EEE-8B4EF064A9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1FA18-10D7-4D76-91B3-27A7A8DB0440}"/>
              </a:ext>
            </a:extLst>
          </p:cNvPr>
          <p:cNvSpPr>
            <a:spLocks noGrp="1"/>
          </p:cNvSpPr>
          <p:nvPr>
            <p:ph type="dt" sz="half" idx="10"/>
          </p:nvPr>
        </p:nvSpPr>
        <p:spPr/>
        <p:txBody>
          <a:body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9132B232-A5AE-435E-8143-40A118271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62038-4E9D-468B-AD23-73006900C9F9}"/>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768881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F3EEBB-21D6-4523-A09C-71768CC54D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0C14C9-E452-4F70-9AFF-F5B33FB88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29518-71CB-45D2-8730-87BDD12E7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D0BD7-795D-4E37-B208-2A01539E556F}" type="datetimeFigureOut">
              <a:rPr lang="en-US" smtClean="0"/>
              <a:t>3/25/2025</a:t>
            </a:fld>
            <a:endParaRPr lang="en-US"/>
          </a:p>
        </p:txBody>
      </p:sp>
      <p:sp>
        <p:nvSpPr>
          <p:cNvPr id="5" name="Footer Placeholder 4">
            <a:extLst>
              <a:ext uri="{FF2B5EF4-FFF2-40B4-BE49-F238E27FC236}">
                <a16:creationId xmlns:a16="http://schemas.microsoft.com/office/drawing/2014/main" id="{65C7FDC0-2EB3-429B-A97D-7DCA37FD04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E4A992-90A0-457B-BBE2-2CA97D372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7F43B-2BF8-45ED-9059-0E0C38E1C6D7}" type="slidenum">
              <a:rPr lang="en-US" smtClean="0"/>
              <a:t>‹#›</a:t>
            </a:fld>
            <a:endParaRPr lang="en-US"/>
          </a:p>
        </p:txBody>
      </p:sp>
    </p:spTree>
    <p:extLst>
      <p:ext uri="{BB962C8B-B14F-4D97-AF65-F5344CB8AC3E}">
        <p14:creationId xmlns:p14="http://schemas.microsoft.com/office/powerpoint/2010/main" val="2215850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0F41-5846-064D-C0C3-84BAD57FE474}"/>
              </a:ext>
            </a:extLst>
          </p:cNvPr>
          <p:cNvSpPr>
            <a:spLocks noGrp="1"/>
          </p:cNvSpPr>
          <p:nvPr>
            <p:ph type="ctrTitle"/>
          </p:nvPr>
        </p:nvSpPr>
        <p:spPr/>
        <p:txBody>
          <a:bodyPr>
            <a:normAutofit fontScale="90000"/>
          </a:bodyPr>
          <a:lstStyle/>
          <a:p>
            <a:r>
              <a:rPr lang="en-US"/>
              <a:t>Rangkaian Multiplier Tegangan (Doubler, Pengganda)</a:t>
            </a:r>
            <a:endParaRPr lang="en-ID"/>
          </a:p>
        </p:txBody>
      </p:sp>
      <p:sp>
        <p:nvSpPr>
          <p:cNvPr id="3" name="Subtitle 2">
            <a:extLst>
              <a:ext uri="{FF2B5EF4-FFF2-40B4-BE49-F238E27FC236}">
                <a16:creationId xmlns:a16="http://schemas.microsoft.com/office/drawing/2014/main" id="{3614CEF5-CFF5-58F5-4907-24FEC947D968}"/>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2312658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itu rangkaian Multiplier Tegangan?</a:t>
            </a:r>
          </a:p>
        </p:txBody>
      </p:sp>
      <p:sp>
        <p:nvSpPr>
          <p:cNvPr id="3" name="Content Placeholder 2"/>
          <p:cNvSpPr>
            <a:spLocks noGrp="1"/>
          </p:cNvSpPr>
          <p:nvPr>
            <p:ph idx="1"/>
          </p:nvPr>
        </p:nvSpPr>
        <p:spPr/>
        <p:txBody>
          <a:bodyPr>
            <a:normAutofit fontScale="85000" lnSpcReduction="10000"/>
          </a:bodyPr>
          <a:lstStyle/>
          <a:p>
            <a:r>
              <a:rPr lang="en-US"/>
              <a:t>Rangkaian multiplier tegangan atau sering disebut sebagai "dioda multiplier" atau "doubler" adalah jenis rangkaian yang menggunakan dioda untuk menghasilkan keluaran yang merupakan beberapa kali lipat dari tegangan masukan. </a:t>
            </a:r>
          </a:p>
          <a:p>
            <a:r>
              <a:rPr lang="en-US"/>
              <a:t>Rangkaian ini dapat menggandakan atau mengalikan tegangan masukan dengan suatu faktor tertentu, dua kali, tiga kali, empat kali, atau lebih.</a:t>
            </a:r>
          </a:p>
          <a:p>
            <a:r>
              <a:rPr lang="en-US"/>
              <a:t>Rangkaian multiplier dioda paling umum adalah rangkaian penyearah (rectifier) khusus yang terdiri dari beberapa dioda yang diatur secara khusus untuk menghasilkan keluaran yang merupakan beberapa kali lipat dari tegangan masukan AC.</a:t>
            </a:r>
          </a:p>
          <a:p>
            <a:r>
              <a:rPr lang="en-US"/>
              <a:t>Meskipun rangkaian multiplier dioda sederhana, mereka dapat berguna dalam aplikasi di mana tegangan tinggi diperlukan, atau di mana sumber daya tegangan rendah tersedia. Namun, mereka juga memiliki keterbatasan dalam hal efisiensi dan toleransi terhadap variasi tegangan masukan.</a:t>
            </a:r>
          </a:p>
          <a:p>
            <a:endParaRPr lang="en-US"/>
          </a:p>
        </p:txBody>
      </p:sp>
    </p:spTree>
    <p:extLst>
      <p:ext uri="{BB962C8B-B14F-4D97-AF65-F5344CB8AC3E}">
        <p14:creationId xmlns:p14="http://schemas.microsoft.com/office/powerpoint/2010/main" val="3060154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7E5F44-2ED7-406C-97DE-0C563E0602DF}"/>
              </a:ext>
            </a:extLst>
          </p:cNvPr>
          <p:cNvSpPr txBox="1"/>
          <p:nvPr/>
        </p:nvSpPr>
        <p:spPr>
          <a:xfrm>
            <a:off x="887896" y="469409"/>
            <a:ext cx="6096000" cy="461665"/>
          </a:xfrm>
          <a:prstGeom prst="rect">
            <a:avLst/>
          </a:prstGeom>
          <a:noFill/>
        </p:spPr>
        <p:txBody>
          <a:bodyPr wrap="square">
            <a:spAutoFit/>
          </a:bodyPr>
          <a:lstStyle/>
          <a:p>
            <a:r>
              <a:rPr lang="en-US" sz="2400"/>
              <a:t>Rangkaian Multiplier (Setengah Gelombang)</a:t>
            </a:r>
            <a:endParaRPr lang="en-US" sz="2400" dirty="0"/>
          </a:p>
        </p:txBody>
      </p:sp>
      <p:grpSp>
        <p:nvGrpSpPr>
          <p:cNvPr id="5" name="Group 4">
            <a:extLst>
              <a:ext uri="{FF2B5EF4-FFF2-40B4-BE49-F238E27FC236}">
                <a16:creationId xmlns:a16="http://schemas.microsoft.com/office/drawing/2014/main" id="{1E4F0EAE-DB14-E1A2-CA29-7896655F1836}"/>
              </a:ext>
            </a:extLst>
          </p:cNvPr>
          <p:cNvGrpSpPr/>
          <p:nvPr/>
        </p:nvGrpSpPr>
        <p:grpSpPr>
          <a:xfrm>
            <a:off x="6445198" y="1127355"/>
            <a:ext cx="4123336" cy="2521618"/>
            <a:chOff x="3576493" y="3752165"/>
            <a:chExt cx="4123336" cy="2521618"/>
          </a:xfrm>
        </p:grpSpPr>
        <p:pic>
          <p:nvPicPr>
            <p:cNvPr id="11" name="Picture 10">
              <a:extLst>
                <a:ext uri="{FF2B5EF4-FFF2-40B4-BE49-F238E27FC236}">
                  <a16:creationId xmlns:a16="http://schemas.microsoft.com/office/drawing/2014/main" id="{7FEB3AB6-F91A-4BFF-BF31-7E16108B619E}"/>
                </a:ext>
              </a:extLst>
            </p:cNvPr>
            <p:cNvPicPr>
              <a:picLocks noChangeAspect="1"/>
            </p:cNvPicPr>
            <p:nvPr/>
          </p:nvPicPr>
          <p:blipFill>
            <a:blip r:embed="rId2"/>
            <a:stretch>
              <a:fillRect/>
            </a:stretch>
          </p:blipFill>
          <p:spPr>
            <a:xfrm>
              <a:off x="3576493" y="3752165"/>
              <a:ext cx="4123336" cy="1875597"/>
            </a:xfrm>
            <a:prstGeom prst="rect">
              <a:avLst/>
            </a:prstGeom>
          </p:spPr>
        </p:pic>
        <p:pic>
          <p:nvPicPr>
            <p:cNvPr id="13" name="Picture 12">
              <a:extLst>
                <a:ext uri="{FF2B5EF4-FFF2-40B4-BE49-F238E27FC236}">
                  <a16:creationId xmlns:a16="http://schemas.microsoft.com/office/drawing/2014/main" id="{9B88FF61-96D9-44B7-841E-5D993CD66DF5}"/>
                </a:ext>
              </a:extLst>
            </p:cNvPr>
            <p:cNvPicPr>
              <a:picLocks noChangeAspect="1"/>
            </p:cNvPicPr>
            <p:nvPr/>
          </p:nvPicPr>
          <p:blipFill>
            <a:blip r:embed="rId3"/>
            <a:stretch>
              <a:fillRect/>
            </a:stretch>
          </p:blipFill>
          <p:spPr>
            <a:xfrm>
              <a:off x="4063315" y="5486935"/>
              <a:ext cx="3636514" cy="786848"/>
            </a:xfrm>
            <a:prstGeom prst="rect">
              <a:avLst/>
            </a:prstGeom>
          </p:spPr>
        </p:pic>
      </p:grpSp>
      <p:sp>
        <p:nvSpPr>
          <p:cNvPr id="8" name="TextBox 7">
            <a:extLst>
              <a:ext uri="{FF2B5EF4-FFF2-40B4-BE49-F238E27FC236}">
                <a16:creationId xmlns:a16="http://schemas.microsoft.com/office/drawing/2014/main" id="{0C1D75CC-A02B-F7FB-A839-098F251F4CBF}"/>
              </a:ext>
            </a:extLst>
          </p:cNvPr>
          <p:cNvSpPr txBox="1"/>
          <p:nvPr/>
        </p:nvSpPr>
        <p:spPr>
          <a:xfrm>
            <a:off x="887896" y="1487322"/>
            <a:ext cx="5010880" cy="2308324"/>
          </a:xfrm>
          <a:prstGeom prst="rect">
            <a:avLst/>
          </a:prstGeom>
          <a:noFill/>
        </p:spPr>
        <p:txBody>
          <a:bodyPr wrap="square">
            <a:spAutoFit/>
          </a:bodyPr>
          <a:lstStyle/>
          <a:p>
            <a:pPr marL="285750" indent="-285750">
              <a:buFont typeface="Arial" panose="020B0604020202020204" pitchFamily="34" charset="0"/>
              <a:buChar char="•"/>
            </a:pPr>
            <a:r>
              <a:rPr lang="en-US"/>
              <a:t>Salah satu contoh yang paling umum dan merupakan bentuk dasar dari multiplier diode adalah rangkaian penyearah jenis doubler</a:t>
            </a:r>
          </a:p>
          <a:p>
            <a:pPr marL="285750" indent="-285750">
              <a:buFont typeface="Arial" panose="020B0604020202020204" pitchFamily="34" charset="0"/>
              <a:buChar char="•"/>
            </a:pPr>
            <a:r>
              <a:rPr lang="en-US"/>
              <a:t>Rangkaian ini menggunakan dua dioda dan dua kapasitor yang disusun seperti pada skema di samping.</a:t>
            </a:r>
          </a:p>
          <a:p>
            <a:pPr marL="285750" indent="-285750">
              <a:buFont typeface="Arial" panose="020B0604020202020204" pitchFamily="34" charset="0"/>
              <a:buChar char="•"/>
            </a:pPr>
            <a:r>
              <a:rPr lang="en-US"/>
              <a:t>Rangkaian ini menghasilkan tegangan keluaran dua kali lipat tegangan masukannya.</a:t>
            </a:r>
          </a:p>
        </p:txBody>
      </p:sp>
      <p:sp>
        <p:nvSpPr>
          <p:cNvPr id="4" name="TextBox 3">
            <a:extLst>
              <a:ext uri="{FF2B5EF4-FFF2-40B4-BE49-F238E27FC236}">
                <a16:creationId xmlns:a16="http://schemas.microsoft.com/office/drawing/2014/main" id="{6E02F26E-508C-0495-5E00-D8A25B7247C3}"/>
              </a:ext>
            </a:extLst>
          </p:cNvPr>
          <p:cNvSpPr txBox="1"/>
          <p:nvPr/>
        </p:nvSpPr>
        <p:spPr>
          <a:xfrm>
            <a:off x="887896" y="4342038"/>
            <a:ext cx="10111798" cy="2031325"/>
          </a:xfrm>
          <a:prstGeom prst="rect">
            <a:avLst/>
          </a:prstGeom>
          <a:noFill/>
        </p:spPr>
        <p:txBody>
          <a:bodyPr wrap="square">
            <a:spAutoFit/>
          </a:bodyPr>
          <a:lstStyle/>
          <a:p>
            <a:pPr marL="285750" indent="-285750">
              <a:buFont typeface="Arial" panose="020B0604020202020204" pitchFamily="34" charset="0"/>
              <a:buChar char="•"/>
            </a:pPr>
            <a:r>
              <a:rPr lang="en-US"/>
              <a:t>Cara kerja dasar multiplier dioda ini memanfaatkan:</a:t>
            </a:r>
          </a:p>
          <a:p>
            <a:pPr marL="742950" lvl="1" indent="-285750">
              <a:buFont typeface="Arial" panose="020B0604020202020204" pitchFamily="34" charset="0"/>
              <a:buChar char="•"/>
            </a:pPr>
            <a:r>
              <a:rPr lang="en-US"/>
              <a:t>1. sifat dioda yang mengarahkan arus hanya dalam satu arah,</a:t>
            </a:r>
          </a:p>
          <a:p>
            <a:pPr marL="742950" lvl="1" indent="-285750">
              <a:buFont typeface="Arial" panose="020B0604020202020204" pitchFamily="34" charset="0"/>
              <a:buChar char="•"/>
            </a:pPr>
            <a:r>
              <a:rPr lang="en-US"/>
              <a:t>2. sifat pengisian dan pengosongan kapasitor.</a:t>
            </a:r>
          </a:p>
          <a:p>
            <a:pPr marL="742950" lvl="1" indent="-285750">
              <a:buFont typeface="Arial" panose="020B0604020202020204" pitchFamily="34" charset="0"/>
              <a:buChar char="•"/>
            </a:pPr>
            <a:endParaRPr lang="en-US"/>
          </a:p>
          <a:p>
            <a:pPr marL="285750" indent="-285750">
              <a:buFont typeface="Arial" panose="020B0604020202020204" pitchFamily="34" charset="0"/>
              <a:buChar char="•"/>
            </a:pPr>
            <a:r>
              <a:rPr lang="en-US"/>
              <a:t>Ketika tegangan AC diterapkan pada rangkaian, dioda-dioda tersebut memungkinkan pengisian kapasitor hanya pada setengah siklus tegangan input yang akan menghasilkan keluaran beberapa kali lipat tegangan input.</a:t>
            </a:r>
          </a:p>
        </p:txBody>
      </p:sp>
      <p:sp>
        <p:nvSpPr>
          <p:cNvPr id="7" name="TextBox 6">
            <a:extLst>
              <a:ext uri="{FF2B5EF4-FFF2-40B4-BE49-F238E27FC236}">
                <a16:creationId xmlns:a16="http://schemas.microsoft.com/office/drawing/2014/main" id="{FC911245-A847-9418-F1DA-774D20B4A419}"/>
              </a:ext>
            </a:extLst>
          </p:cNvPr>
          <p:cNvSpPr txBox="1"/>
          <p:nvPr/>
        </p:nvSpPr>
        <p:spPr>
          <a:xfrm>
            <a:off x="7218891" y="3549344"/>
            <a:ext cx="3233956" cy="369332"/>
          </a:xfrm>
          <a:prstGeom prst="rect">
            <a:avLst/>
          </a:prstGeom>
          <a:noFill/>
        </p:spPr>
        <p:txBody>
          <a:bodyPr wrap="square">
            <a:spAutoFit/>
          </a:bodyPr>
          <a:lstStyle/>
          <a:p>
            <a:r>
              <a:rPr lang="en-US"/>
              <a:t>(Bentuk dasar multiplier diode)</a:t>
            </a:r>
            <a:endParaRPr lang="en-ID"/>
          </a:p>
        </p:txBody>
      </p:sp>
    </p:spTree>
    <p:extLst>
      <p:ext uri="{BB962C8B-B14F-4D97-AF65-F5344CB8AC3E}">
        <p14:creationId xmlns:p14="http://schemas.microsoft.com/office/powerpoint/2010/main" val="124486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94F7-F7E9-8771-3E1F-E9EEFBFF7982}"/>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A6D358BD-A285-A014-4C0F-82378C979F24}"/>
              </a:ext>
            </a:extLst>
          </p:cNvPr>
          <p:cNvGrpSpPr/>
          <p:nvPr/>
        </p:nvGrpSpPr>
        <p:grpSpPr>
          <a:xfrm>
            <a:off x="702679" y="1245799"/>
            <a:ext cx="3917362" cy="1781905"/>
            <a:chOff x="5170957" y="0"/>
            <a:chExt cx="3917362" cy="1781905"/>
          </a:xfrm>
        </p:grpSpPr>
        <p:pic>
          <p:nvPicPr>
            <p:cNvPr id="5" name="Picture 4">
              <a:extLst>
                <a:ext uri="{FF2B5EF4-FFF2-40B4-BE49-F238E27FC236}">
                  <a16:creationId xmlns:a16="http://schemas.microsoft.com/office/drawing/2014/main" id="{2902B157-3968-D9BD-86A3-162D864D48A3}"/>
                </a:ext>
              </a:extLst>
            </p:cNvPr>
            <p:cNvPicPr>
              <a:picLocks noChangeAspect="1"/>
            </p:cNvPicPr>
            <p:nvPr/>
          </p:nvPicPr>
          <p:blipFill>
            <a:blip r:embed="rId2"/>
            <a:stretch>
              <a:fillRect/>
            </a:stretch>
          </p:blipFill>
          <p:spPr>
            <a:xfrm>
              <a:off x="5170957" y="0"/>
              <a:ext cx="3917362" cy="1781905"/>
            </a:xfrm>
            <a:prstGeom prst="rect">
              <a:avLst/>
            </a:prstGeom>
          </p:spPr>
        </p:pic>
        <p:pic>
          <p:nvPicPr>
            <p:cNvPr id="8" name="Picture 7">
              <a:extLst>
                <a:ext uri="{FF2B5EF4-FFF2-40B4-BE49-F238E27FC236}">
                  <a16:creationId xmlns:a16="http://schemas.microsoft.com/office/drawing/2014/main" id="{C5C4273A-60A4-0330-891A-358F8858BE2B}"/>
                </a:ext>
              </a:extLst>
            </p:cNvPr>
            <p:cNvPicPr>
              <a:picLocks noChangeAspect="1"/>
            </p:cNvPicPr>
            <p:nvPr/>
          </p:nvPicPr>
          <p:blipFill>
            <a:blip r:embed="rId3"/>
            <a:stretch>
              <a:fillRect/>
            </a:stretch>
          </p:blipFill>
          <p:spPr>
            <a:xfrm>
              <a:off x="6247004" y="801795"/>
              <a:ext cx="485903" cy="727267"/>
            </a:xfrm>
            <a:prstGeom prst="rect">
              <a:avLst/>
            </a:prstGeom>
          </p:spPr>
        </p:pic>
      </p:grpSp>
      <p:pic>
        <p:nvPicPr>
          <p:cNvPr id="14" name="Picture 13">
            <a:extLst>
              <a:ext uri="{FF2B5EF4-FFF2-40B4-BE49-F238E27FC236}">
                <a16:creationId xmlns:a16="http://schemas.microsoft.com/office/drawing/2014/main" id="{40FAB3C8-FACD-3396-D863-F2C060690E3E}"/>
              </a:ext>
            </a:extLst>
          </p:cNvPr>
          <p:cNvPicPr>
            <a:picLocks noChangeAspect="1"/>
          </p:cNvPicPr>
          <p:nvPr/>
        </p:nvPicPr>
        <p:blipFill>
          <a:blip r:embed="rId4"/>
          <a:stretch>
            <a:fillRect/>
          </a:stretch>
        </p:blipFill>
        <p:spPr>
          <a:xfrm>
            <a:off x="9761298" y="4430070"/>
            <a:ext cx="1668820" cy="1120167"/>
          </a:xfrm>
          <a:prstGeom prst="rect">
            <a:avLst/>
          </a:prstGeom>
        </p:spPr>
      </p:pic>
      <p:grpSp>
        <p:nvGrpSpPr>
          <p:cNvPr id="46" name="Group 45">
            <a:extLst>
              <a:ext uri="{FF2B5EF4-FFF2-40B4-BE49-F238E27FC236}">
                <a16:creationId xmlns:a16="http://schemas.microsoft.com/office/drawing/2014/main" id="{2903914D-8FE8-EF87-120F-D93AA13F33C1}"/>
              </a:ext>
            </a:extLst>
          </p:cNvPr>
          <p:cNvGrpSpPr/>
          <p:nvPr/>
        </p:nvGrpSpPr>
        <p:grpSpPr>
          <a:xfrm>
            <a:off x="5384970" y="1150885"/>
            <a:ext cx="3600953" cy="2305372"/>
            <a:chOff x="7180519" y="577245"/>
            <a:chExt cx="3600953" cy="2305372"/>
          </a:xfrm>
        </p:grpSpPr>
        <p:pic>
          <p:nvPicPr>
            <p:cNvPr id="32" name="Picture 31">
              <a:extLst>
                <a:ext uri="{FF2B5EF4-FFF2-40B4-BE49-F238E27FC236}">
                  <a16:creationId xmlns:a16="http://schemas.microsoft.com/office/drawing/2014/main" id="{8AD03EE5-8797-EB79-33EE-DA847CBD9550}"/>
                </a:ext>
              </a:extLst>
            </p:cNvPr>
            <p:cNvPicPr>
              <a:picLocks noChangeAspect="1"/>
            </p:cNvPicPr>
            <p:nvPr/>
          </p:nvPicPr>
          <p:blipFill>
            <a:blip r:embed="rId5"/>
            <a:stretch>
              <a:fillRect/>
            </a:stretch>
          </p:blipFill>
          <p:spPr>
            <a:xfrm>
              <a:off x="7180519" y="577245"/>
              <a:ext cx="3600953" cy="2305372"/>
            </a:xfrm>
            <a:prstGeom prst="rect">
              <a:avLst/>
            </a:prstGeom>
          </p:spPr>
        </p:pic>
        <p:sp>
          <p:nvSpPr>
            <p:cNvPr id="2" name="Rectangle 1">
              <a:extLst>
                <a:ext uri="{FF2B5EF4-FFF2-40B4-BE49-F238E27FC236}">
                  <a16:creationId xmlns:a16="http://schemas.microsoft.com/office/drawing/2014/main" id="{48AA5E3D-D4B2-E029-F548-213F7EC161E6}"/>
                </a:ext>
              </a:extLst>
            </p:cNvPr>
            <p:cNvSpPr/>
            <p:nvPr/>
          </p:nvSpPr>
          <p:spPr>
            <a:xfrm>
              <a:off x="9133181" y="657676"/>
              <a:ext cx="618565" cy="7530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D64BD108-5DCE-704B-6C09-0E2CD176F20C}"/>
                </a:ext>
              </a:extLst>
            </p:cNvPr>
            <p:cNvPicPr>
              <a:picLocks noChangeAspect="1"/>
            </p:cNvPicPr>
            <p:nvPr/>
          </p:nvPicPr>
          <p:blipFill>
            <a:blip r:embed="rId6"/>
            <a:stretch>
              <a:fillRect/>
            </a:stretch>
          </p:blipFill>
          <p:spPr>
            <a:xfrm>
              <a:off x="8063802" y="1563112"/>
              <a:ext cx="317197" cy="463321"/>
            </a:xfrm>
            <a:prstGeom prst="rect">
              <a:avLst/>
            </a:prstGeom>
          </p:spPr>
        </p:pic>
        <p:sp>
          <p:nvSpPr>
            <p:cNvPr id="15" name="Rectangle 14">
              <a:extLst>
                <a:ext uri="{FF2B5EF4-FFF2-40B4-BE49-F238E27FC236}">
                  <a16:creationId xmlns:a16="http://schemas.microsoft.com/office/drawing/2014/main" id="{6D71F9BB-28A5-0133-4653-7FAFA878A606}"/>
                </a:ext>
              </a:extLst>
            </p:cNvPr>
            <p:cNvSpPr/>
            <p:nvPr/>
          </p:nvSpPr>
          <p:spPr>
            <a:xfrm>
              <a:off x="8710378" y="1441660"/>
              <a:ext cx="541237" cy="618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7" name="Straight Connector 16">
              <a:extLst>
                <a:ext uri="{FF2B5EF4-FFF2-40B4-BE49-F238E27FC236}">
                  <a16:creationId xmlns:a16="http://schemas.microsoft.com/office/drawing/2014/main" id="{382EAEEE-2E12-EE7B-A27C-201E9A5D8906}"/>
                </a:ext>
              </a:extLst>
            </p:cNvPr>
            <p:cNvCxnSpPr>
              <a:cxnSpLocks/>
            </p:cNvCxnSpPr>
            <p:nvPr/>
          </p:nvCxnSpPr>
          <p:spPr>
            <a:xfrm>
              <a:off x="8891134" y="1229647"/>
              <a:ext cx="0" cy="8713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0BA75E0-B63E-366E-8F1D-691750740F71}"/>
                </a:ext>
              </a:extLst>
            </p:cNvPr>
            <p:cNvCxnSpPr/>
            <p:nvPr/>
          </p:nvCxnSpPr>
          <p:spPr>
            <a:xfrm flipH="1">
              <a:off x="7976734" y="758087"/>
              <a:ext cx="733644"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7AC3F343-5E14-3CCF-C2E9-8EEF360DE5F2}"/>
              </a:ext>
            </a:extLst>
          </p:cNvPr>
          <p:cNvGrpSpPr/>
          <p:nvPr/>
        </p:nvGrpSpPr>
        <p:grpSpPr>
          <a:xfrm>
            <a:off x="5533998" y="3971486"/>
            <a:ext cx="3324689" cy="2162477"/>
            <a:chOff x="5385689" y="4180316"/>
            <a:chExt cx="3324689" cy="2162477"/>
          </a:xfrm>
        </p:grpSpPr>
        <p:pic>
          <p:nvPicPr>
            <p:cNvPr id="43" name="Picture 42">
              <a:extLst>
                <a:ext uri="{FF2B5EF4-FFF2-40B4-BE49-F238E27FC236}">
                  <a16:creationId xmlns:a16="http://schemas.microsoft.com/office/drawing/2014/main" id="{95323B24-3675-BC35-2427-9F10EC5A58D9}"/>
                </a:ext>
              </a:extLst>
            </p:cNvPr>
            <p:cNvPicPr>
              <a:picLocks noChangeAspect="1"/>
            </p:cNvPicPr>
            <p:nvPr/>
          </p:nvPicPr>
          <p:blipFill>
            <a:blip r:embed="rId7"/>
            <a:stretch>
              <a:fillRect/>
            </a:stretch>
          </p:blipFill>
          <p:spPr>
            <a:xfrm>
              <a:off x="5385689" y="4180316"/>
              <a:ext cx="3324689" cy="2162477"/>
            </a:xfrm>
            <a:prstGeom prst="rect">
              <a:avLst/>
            </a:prstGeom>
          </p:spPr>
        </p:pic>
        <p:sp>
          <p:nvSpPr>
            <p:cNvPr id="4" name="Rectangle 3">
              <a:extLst>
                <a:ext uri="{FF2B5EF4-FFF2-40B4-BE49-F238E27FC236}">
                  <a16:creationId xmlns:a16="http://schemas.microsoft.com/office/drawing/2014/main" id="{A11167AF-8773-9AFF-A6C3-DC2D5B4B31A5}"/>
                </a:ext>
              </a:extLst>
            </p:cNvPr>
            <p:cNvSpPr/>
            <p:nvPr/>
          </p:nvSpPr>
          <p:spPr>
            <a:xfrm>
              <a:off x="6636079" y="4952272"/>
              <a:ext cx="616655" cy="618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3" name="Picture 12">
              <a:extLst>
                <a:ext uri="{FF2B5EF4-FFF2-40B4-BE49-F238E27FC236}">
                  <a16:creationId xmlns:a16="http://schemas.microsoft.com/office/drawing/2014/main" id="{FB96B852-E6F1-041C-68E6-5241525FA7B9}"/>
                </a:ext>
              </a:extLst>
            </p:cNvPr>
            <p:cNvPicPr>
              <a:picLocks noChangeAspect="1"/>
            </p:cNvPicPr>
            <p:nvPr/>
          </p:nvPicPr>
          <p:blipFill>
            <a:blip r:embed="rId8"/>
            <a:stretch>
              <a:fillRect/>
            </a:stretch>
          </p:blipFill>
          <p:spPr>
            <a:xfrm>
              <a:off x="6355872" y="5072404"/>
              <a:ext cx="375458" cy="473404"/>
            </a:xfrm>
            <a:prstGeom prst="rect">
              <a:avLst/>
            </a:prstGeom>
          </p:spPr>
        </p:pic>
        <p:sp>
          <p:nvSpPr>
            <p:cNvPr id="21" name="Rectangle 20">
              <a:extLst>
                <a:ext uri="{FF2B5EF4-FFF2-40B4-BE49-F238E27FC236}">
                  <a16:creationId xmlns:a16="http://schemas.microsoft.com/office/drawing/2014/main" id="{25D6A3DB-E8EC-1330-DD93-8C3182B069C5}"/>
                </a:ext>
              </a:extLst>
            </p:cNvPr>
            <p:cNvSpPr/>
            <p:nvPr/>
          </p:nvSpPr>
          <p:spPr>
            <a:xfrm>
              <a:off x="7122710" y="4348701"/>
              <a:ext cx="616655" cy="3973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20" name="Straight Connector 19">
              <a:extLst>
                <a:ext uri="{FF2B5EF4-FFF2-40B4-BE49-F238E27FC236}">
                  <a16:creationId xmlns:a16="http://schemas.microsoft.com/office/drawing/2014/main" id="{550AE782-F961-181B-B485-9E7CF9EDF809}"/>
                </a:ext>
              </a:extLst>
            </p:cNvPr>
            <p:cNvCxnSpPr>
              <a:cxnSpLocks/>
            </p:cNvCxnSpPr>
            <p:nvPr/>
          </p:nvCxnSpPr>
          <p:spPr>
            <a:xfrm rot="5400000">
              <a:off x="7472812" y="4190237"/>
              <a:ext cx="0" cy="8713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44B90266-2676-F45F-AA1F-BA17EF1593C5}"/>
                </a:ext>
              </a:extLst>
            </p:cNvPr>
            <p:cNvSpPr/>
            <p:nvPr/>
          </p:nvSpPr>
          <p:spPr>
            <a:xfrm>
              <a:off x="6213276" y="4699490"/>
              <a:ext cx="330325" cy="323382"/>
            </a:xfrm>
            <a:prstGeom prst="ellipse">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Oval 26">
              <a:extLst>
                <a:ext uri="{FF2B5EF4-FFF2-40B4-BE49-F238E27FC236}">
                  <a16:creationId xmlns:a16="http://schemas.microsoft.com/office/drawing/2014/main" id="{B108472E-58EB-F2A0-1FA3-41B542716E08}"/>
                </a:ext>
              </a:extLst>
            </p:cNvPr>
            <p:cNvSpPr/>
            <p:nvPr/>
          </p:nvSpPr>
          <p:spPr>
            <a:xfrm>
              <a:off x="5890994" y="5037293"/>
              <a:ext cx="330325" cy="323382"/>
            </a:xfrm>
            <a:prstGeom prst="ellipse">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48" name="Rectangle 47">
            <a:extLst>
              <a:ext uri="{FF2B5EF4-FFF2-40B4-BE49-F238E27FC236}">
                <a16:creationId xmlns:a16="http://schemas.microsoft.com/office/drawing/2014/main" id="{AC93D2A5-2DE0-A038-5086-C63DC2BE4836}"/>
              </a:ext>
            </a:extLst>
          </p:cNvPr>
          <p:cNvSpPr/>
          <p:nvPr/>
        </p:nvSpPr>
        <p:spPr>
          <a:xfrm>
            <a:off x="9986682" y="5151845"/>
            <a:ext cx="1165412" cy="39839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9" name="Arrow: Right 48">
            <a:extLst>
              <a:ext uri="{FF2B5EF4-FFF2-40B4-BE49-F238E27FC236}">
                <a16:creationId xmlns:a16="http://schemas.microsoft.com/office/drawing/2014/main" id="{CB6A7485-2003-ECBD-EEE5-551121209A48}"/>
              </a:ext>
            </a:extLst>
          </p:cNvPr>
          <p:cNvSpPr/>
          <p:nvPr/>
        </p:nvSpPr>
        <p:spPr>
          <a:xfrm>
            <a:off x="9216496" y="4812005"/>
            <a:ext cx="412376" cy="2882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TextBox 49">
            <a:extLst>
              <a:ext uri="{FF2B5EF4-FFF2-40B4-BE49-F238E27FC236}">
                <a16:creationId xmlns:a16="http://schemas.microsoft.com/office/drawing/2014/main" id="{AAD8FFEC-527B-6951-098A-9258DDEBF213}"/>
              </a:ext>
            </a:extLst>
          </p:cNvPr>
          <p:cNvSpPr txBox="1"/>
          <p:nvPr/>
        </p:nvSpPr>
        <p:spPr>
          <a:xfrm>
            <a:off x="887895" y="442914"/>
            <a:ext cx="7068302" cy="461665"/>
          </a:xfrm>
          <a:prstGeom prst="rect">
            <a:avLst/>
          </a:prstGeom>
          <a:noFill/>
        </p:spPr>
        <p:txBody>
          <a:bodyPr wrap="square">
            <a:spAutoFit/>
          </a:bodyPr>
          <a:lstStyle/>
          <a:p>
            <a:r>
              <a:rPr lang="en-US" sz="2400"/>
              <a:t>Analisis Rangkaian Multiplier (Setengah Gelombang)</a:t>
            </a:r>
            <a:endParaRPr lang="en-US" sz="2400" dirty="0"/>
          </a:p>
        </p:txBody>
      </p:sp>
      <p:sp>
        <p:nvSpPr>
          <p:cNvPr id="7" name="TextBox 6">
            <a:extLst>
              <a:ext uri="{FF2B5EF4-FFF2-40B4-BE49-F238E27FC236}">
                <a16:creationId xmlns:a16="http://schemas.microsoft.com/office/drawing/2014/main" id="{50D1457C-B507-6E6E-AFF6-055CEA385EC5}"/>
              </a:ext>
            </a:extLst>
          </p:cNvPr>
          <p:cNvSpPr txBox="1"/>
          <p:nvPr/>
        </p:nvSpPr>
        <p:spPr>
          <a:xfrm>
            <a:off x="9396329" y="1398087"/>
            <a:ext cx="2536039" cy="2031325"/>
          </a:xfrm>
          <a:prstGeom prst="rect">
            <a:avLst/>
          </a:prstGeom>
          <a:noFill/>
        </p:spPr>
        <p:txBody>
          <a:bodyPr wrap="square" rtlCol="0">
            <a:spAutoFit/>
          </a:bodyPr>
          <a:lstStyle/>
          <a:p>
            <a:pPr marL="285750" indent="-285750">
              <a:buFont typeface="Arial" panose="020B0604020202020204" pitchFamily="34" charset="0"/>
              <a:buChar char="•"/>
            </a:pPr>
            <a:r>
              <a:rPr lang="en-US" sz="1400"/>
              <a:t>Ketika ½ gelombang positif muncul maka arus akan mengalir ke arah kanan sambil mengisi kapasitor yang nantinya akan menjadi Vm.</a:t>
            </a:r>
          </a:p>
          <a:p>
            <a:pPr marL="285750" indent="-285750">
              <a:buFont typeface="Arial" panose="020B0604020202020204" pitchFamily="34" charset="0"/>
              <a:buChar char="•"/>
            </a:pPr>
            <a:r>
              <a:rPr lang="en-US" sz="1400"/>
              <a:t>Pada kondisi ini, D1 akan konduksi sedangkan D2 akan terputus.</a:t>
            </a:r>
          </a:p>
        </p:txBody>
      </p:sp>
      <p:sp>
        <p:nvSpPr>
          <p:cNvPr id="9" name="TextBox 8">
            <a:extLst>
              <a:ext uri="{FF2B5EF4-FFF2-40B4-BE49-F238E27FC236}">
                <a16:creationId xmlns:a16="http://schemas.microsoft.com/office/drawing/2014/main" id="{CF3CD43A-E5E8-27C4-A25F-140AFD04EA84}"/>
              </a:ext>
            </a:extLst>
          </p:cNvPr>
          <p:cNvSpPr txBox="1"/>
          <p:nvPr/>
        </p:nvSpPr>
        <p:spPr>
          <a:xfrm>
            <a:off x="1671220" y="4151203"/>
            <a:ext cx="3432329" cy="1815882"/>
          </a:xfrm>
          <a:prstGeom prst="rect">
            <a:avLst/>
          </a:prstGeom>
          <a:noFill/>
        </p:spPr>
        <p:txBody>
          <a:bodyPr wrap="square" rtlCol="0">
            <a:spAutoFit/>
          </a:bodyPr>
          <a:lstStyle/>
          <a:p>
            <a:pPr marL="285750" indent="-285750">
              <a:buFont typeface="Arial" panose="020B0604020202020204" pitchFamily="34" charset="0"/>
              <a:buChar char="•"/>
            </a:pPr>
            <a:r>
              <a:rPr lang="en-US" sz="1400"/>
              <a:t>Ketika ½ gelombang negatif muncul maka arus akan mengalir ke arah kiri.</a:t>
            </a:r>
          </a:p>
          <a:p>
            <a:pPr marL="285750" indent="-285750">
              <a:buFont typeface="Arial" panose="020B0604020202020204" pitchFamily="34" charset="0"/>
              <a:buChar char="•"/>
            </a:pPr>
            <a:r>
              <a:rPr lang="en-US" sz="1400"/>
              <a:t>D1 OFF dan D2 ON.</a:t>
            </a:r>
          </a:p>
          <a:p>
            <a:pPr marL="285750" indent="-285750">
              <a:buFont typeface="Arial" panose="020B0604020202020204" pitchFamily="34" charset="0"/>
              <a:buChar char="•"/>
            </a:pPr>
            <a:r>
              <a:rPr lang="en-US" sz="1400"/>
              <a:t>Di kapasitor akan terjadi proses pengosongan dan memberikan tegangan Vm yang telah tersimpan sebelumnya.</a:t>
            </a:r>
          </a:p>
          <a:p>
            <a:pPr marL="285750" indent="-285750">
              <a:buFont typeface="Arial" panose="020B0604020202020204" pitchFamily="34" charset="0"/>
              <a:buChar char="•"/>
            </a:pPr>
            <a:r>
              <a:rPr lang="en-US" sz="1400"/>
              <a:t>Dengan hukum KVL maka kita dapatkan Vo=Vc2=2Vm.</a:t>
            </a:r>
          </a:p>
        </p:txBody>
      </p:sp>
      <p:cxnSp>
        <p:nvCxnSpPr>
          <p:cNvPr id="6" name="Straight Arrow Connector 5">
            <a:extLst>
              <a:ext uri="{FF2B5EF4-FFF2-40B4-BE49-F238E27FC236}">
                <a16:creationId xmlns:a16="http://schemas.microsoft.com/office/drawing/2014/main" id="{BC1B111E-989E-AAB2-BEE3-2757D067413E}"/>
              </a:ext>
            </a:extLst>
          </p:cNvPr>
          <p:cNvCxnSpPr/>
          <p:nvPr/>
        </p:nvCxnSpPr>
        <p:spPr>
          <a:xfrm flipH="1">
            <a:off x="6181185" y="4135857"/>
            <a:ext cx="733644"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7ED67D-C8B5-5FF2-3B98-7C72D7E4576D}"/>
              </a:ext>
            </a:extLst>
          </p:cNvPr>
          <p:cNvCxnSpPr>
            <a:cxnSpLocks/>
          </p:cNvCxnSpPr>
          <p:nvPr/>
        </p:nvCxnSpPr>
        <p:spPr>
          <a:xfrm>
            <a:off x="6181185" y="4625788"/>
            <a:ext cx="0" cy="73622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1A76A71-E664-588D-EDAF-9F87A5F5C3AD}"/>
              </a:ext>
            </a:extLst>
          </p:cNvPr>
          <p:cNvCxnSpPr>
            <a:cxnSpLocks/>
          </p:cNvCxnSpPr>
          <p:nvPr/>
        </p:nvCxnSpPr>
        <p:spPr>
          <a:xfrm flipV="1">
            <a:off x="8985923" y="4490660"/>
            <a:ext cx="0" cy="97781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4D14787-F1DC-30D1-DA6A-F81C6EF024ED}"/>
              </a:ext>
            </a:extLst>
          </p:cNvPr>
          <p:cNvCxnSpPr>
            <a:cxnSpLocks/>
          </p:cNvCxnSpPr>
          <p:nvPr/>
        </p:nvCxnSpPr>
        <p:spPr>
          <a:xfrm flipV="1">
            <a:off x="9007140" y="1803287"/>
            <a:ext cx="0" cy="97781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2558D55-7E52-08A0-E6CF-D40633762103}"/>
              </a:ext>
            </a:extLst>
          </p:cNvPr>
          <p:cNvSpPr txBox="1"/>
          <p:nvPr/>
        </p:nvSpPr>
        <p:spPr>
          <a:xfrm>
            <a:off x="10243075" y="3951191"/>
            <a:ext cx="534121" cy="369332"/>
          </a:xfrm>
          <a:prstGeom prst="rect">
            <a:avLst/>
          </a:prstGeom>
          <a:noFill/>
        </p:spPr>
        <p:txBody>
          <a:bodyPr wrap="none" rtlCol="0">
            <a:spAutoFit/>
          </a:bodyPr>
          <a:lstStyle/>
          <a:p>
            <a:r>
              <a:rPr lang="en-US"/>
              <a:t>KVL</a:t>
            </a:r>
            <a:endParaRPr lang="en-ID"/>
          </a:p>
        </p:txBody>
      </p:sp>
    </p:spTree>
    <p:extLst>
      <p:ext uri="{BB962C8B-B14F-4D97-AF65-F5344CB8AC3E}">
        <p14:creationId xmlns:p14="http://schemas.microsoft.com/office/powerpoint/2010/main" val="5033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808870-CF70-58E9-829C-79F616BE300B}"/>
              </a:ext>
            </a:extLst>
          </p:cNvPr>
          <p:cNvSpPr txBox="1"/>
          <p:nvPr/>
        </p:nvSpPr>
        <p:spPr>
          <a:xfrm>
            <a:off x="894520" y="420451"/>
            <a:ext cx="6096000" cy="461665"/>
          </a:xfrm>
          <a:prstGeom prst="rect">
            <a:avLst/>
          </a:prstGeom>
          <a:noFill/>
        </p:spPr>
        <p:txBody>
          <a:bodyPr wrap="square">
            <a:spAutoFit/>
          </a:bodyPr>
          <a:lstStyle/>
          <a:p>
            <a:r>
              <a:rPr lang="en-US" sz="2400"/>
              <a:t>Rangkaian Multiplier (Gelombang Penuh)</a:t>
            </a:r>
            <a:endParaRPr lang="en-US" sz="2400" dirty="0"/>
          </a:p>
        </p:txBody>
      </p:sp>
      <p:grpSp>
        <p:nvGrpSpPr>
          <p:cNvPr id="9" name="Group 8">
            <a:extLst>
              <a:ext uri="{FF2B5EF4-FFF2-40B4-BE49-F238E27FC236}">
                <a16:creationId xmlns:a16="http://schemas.microsoft.com/office/drawing/2014/main" id="{B7BEBBCC-4651-3432-05FF-50248D7EF2CA}"/>
              </a:ext>
            </a:extLst>
          </p:cNvPr>
          <p:cNvGrpSpPr/>
          <p:nvPr/>
        </p:nvGrpSpPr>
        <p:grpSpPr>
          <a:xfrm>
            <a:off x="7084669" y="1616570"/>
            <a:ext cx="3655050" cy="3762285"/>
            <a:chOff x="6663328" y="379441"/>
            <a:chExt cx="3655050" cy="3762285"/>
          </a:xfrm>
        </p:grpSpPr>
        <p:cxnSp>
          <p:nvCxnSpPr>
            <p:cNvPr id="6" name="Straight Arrow Connector 5">
              <a:extLst>
                <a:ext uri="{FF2B5EF4-FFF2-40B4-BE49-F238E27FC236}">
                  <a16:creationId xmlns:a16="http://schemas.microsoft.com/office/drawing/2014/main" id="{285055A1-C884-EC7E-1F64-110766D62952}"/>
                </a:ext>
              </a:extLst>
            </p:cNvPr>
            <p:cNvCxnSpPr/>
            <p:nvPr/>
          </p:nvCxnSpPr>
          <p:spPr>
            <a:xfrm flipV="1">
              <a:off x="10318378" y="806824"/>
              <a:ext cx="0" cy="20170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D514B89-A60B-148E-86C0-6C5F531629F9}"/>
                </a:ext>
              </a:extLst>
            </p:cNvPr>
            <p:cNvPicPr>
              <a:picLocks noChangeAspect="1"/>
            </p:cNvPicPr>
            <p:nvPr/>
          </p:nvPicPr>
          <p:blipFill>
            <a:blip r:embed="rId2"/>
            <a:stretch>
              <a:fillRect/>
            </a:stretch>
          </p:blipFill>
          <p:spPr>
            <a:xfrm>
              <a:off x="6663328" y="379441"/>
              <a:ext cx="3562847" cy="3143689"/>
            </a:xfrm>
            <a:prstGeom prst="rect">
              <a:avLst/>
            </a:prstGeom>
          </p:spPr>
        </p:pic>
        <p:pic>
          <p:nvPicPr>
            <p:cNvPr id="8" name="Picture 7">
              <a:extLst>
                <a:ext uri="{FF2B5EF4-FFF2-40B4-BE49-F238E27FC236}">
                  <a16:creationId xmlns:a16="http://schemas.microsoft.com/office/drawing/2014/main" id="{933CC462-06FF-D772-96DE-A8CB4A6DAFAD}"/>
                </a:ext>
              </a:extLst>
            </p:cNvPr>
            <p:cNvPicPr>
              <a:picLocks noChangeAspect="1"/>
            </p:cNvPicPr>
            <p:nvPr/>
          </p:nvPicPr>
          <p:blipFill>
            <a:blip r:embed="rId3"/>
            <a:stretch>
              <a:fillRect/>
            </a:stretch>
          </p:blipFill>
          <p:spPr>
            <a:xfrm>
              <a:off x="7072959" y="3684462"/>
              <a:ext cx="2743583" cy="457264"/>
            </a:xfrm>
            <a:prstGeom prst="rect">
              <a:avLst/>
            </a:prstGeom>
          </p:spPr>
        </p:pic>
      </p:grpSp>
      <p:sp>
        <p:nvSpPr>
          <p:cNvPr id="10" name="TextBox 9">
            <a:extLst>
              <a:ext uri="{FF2B5EF4-FFF2-40B4-BE49-F238E27FC236}">
                <a16:creationId xmlns:a16="http://schemas.microsoft.com/office/drawing/2014/main" id="{DD48320A-4539-AE2F-72A3-8539193DA0D9}"/>
              </a:ext>
            </a:extLst>
          </p:cNvPr>
          <p:cNvSpPr txBox="1"/>
          <p:nvPr/>
        </p:nvSpPr>
        <p:spPr>
          <a:xfrm>
            <a:off x="1085120" y="2186570"/>
            <a:ext cx="5010880" cy="2031325"/>
          </a:xfrm>
          <a:prstGeom prst="rect">
            <a:avLst/>
          </a:prstGeom>
          <a:noFill/>
        </p:spPr>
        <p:txBody>
          <a:bodyPr wrap="square">
            <a:spAutoFit/>
          </a:bodyPr>
          <a:lstStyle/>
          <a:p>
            <a:pPr marL="285750" indent="-285750">
              <a:buFont typeface="Arial" panose="020B0604020202020204" pitchFamily="34" charset="0"/>
              <a:buChar char="•"/>
            </a:pPr>
            <a:r>
              <a:rPr lang="en-US"/>
              <a:t>Rangkaian doubler gelombang penuh dapat dilihat pada skema disamping.</a:t>
            </a:r>
          </a:p>
          <a:p>
            <a:pPr marL="285750" indent="-285750">
              <a:buFont typeface="Arial" panose="020B0604020202020204" pitchFamily="34" charset="0"/>
              <a:buChar char="•"/>
            </a:pPr>
            <a:r>
              <a:rPr lang="en-US"/>
              <a:t>Rangkaian ini menggunakan dua dioda dan dua kapasitor yang disusun seperti pada skema di samping.</a:t>
            </a:r>
          </a:p>
          <a:p>
            <a:pPr marL="285750" indent="-285750">
              <a:buFont typeface="Arial" panose="020B0604020202020204" pitchFamily="34" charset="0"/>
              <a:buChar char="•"/>
            </a:pPr>
            <a:r>
              <a:rPr lang="en-US"/>
              <a:t>Rangkaian ini menghasilkan tegangan keluaran dua kali lipat tegangan masukannya.</a:t>
            </a:r>
          </a:p>
        </p:txBody>
      </p:sp>
    </p:spTree>
    <p:extLst>
      <p:ext uri="{BB962C8B-B14F-4D97-AF65-F5344CB8AC3E}">
        <p14:creationId xmlns:p14="http://schemas.microsoft.com/office/powerpoint/2010/main" val="2522439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45AC24-A9A6-48B0-8856-C1AB9756C800}"/>
              </a:ext>
            </a:extLst>
          </p:cNvPr>
          <p:cNvPicPr>
            <a:picLocks noChangeAspect="1"/>
          </p:cNvPicPr>
          <p:nvPr/>
        </p:nvPicPr>
        <p:blipFill>
          <a:blip r:embed="rId2"/>
          <a:stretch>
            <a:fillRect/>
          </a:stretch>
        </p:blipFill>
        <p:spPr>
          <a:xfrm>
            <a:off x="5347007" y="2379499"/>
            <a:ext cx="6003283" cy="3432312"/>
          </a:xfrm>
          <a:prstGeom prst="rect">
            <a:avLst/>
          </a:prstGeom>
        </p:spPr>
      </p:pic>
      <p:sp>
        <p:nvSpPr>
          <p:cNvPr id="5" name="TextBox 4">
            <a:extLst>
              <a:ext uri="{FF2B5EF4-FFF2-40B4-BE49-F238E27FC236}">
                <a16:creationId xmlns:a16="http://schemas.microsoft.com/office/drawing/2014/main" id="{5CF7FEF5-7E79-42FB-8306-AEE9010D9558}"/>
              </a:ext>
            </a:extLst>
          </p:cNvPr>
          <p:cNvSpPr txBox="1"/>
          <p:nvPr/>
        </p:nvSpPr>
        <p:spPr>
          <a:xfrm>
            <a:off x="5844988" y="5775970"/>
            <a:ext cx="5387789" cy="584775"/>
          </a:xfrm>
          <a:prstGeom prst="rect">
            <a:avLst/>
          </a:prstGeom>
          <a:noFill/>
        </p:spPr>
        <p:txBody>
          <a:bodyPr wrap="square">
            <a:spAutoFit/>
          </a:bodyPr>
          <a:lstStyle/>
          <a:p>
            <a:r>
              <a:rPr lang="en-US" sz="1600" dirty="0"/>
              <a:t>Figure 2.124 Alternate </a:t>
            </a:r>
            <a:r>
              <a:rPr lang="en-US" sz="1600" dirty="0" err="1"/>
              <a:t>halfcycles</a:t>
            </a:r>
            <a:r>
              <a:rPr lang="en-US" sz="1600" dirty="0"/>
              <a:t> of operation </a:t>
            </a:r>
            <a:r>
              <a:rPr lang="en-US" sz="1600"/>
              <a:t>for full-wave voltage </a:t>
            </a:r>
            <a:r>
              <a:rPr lang="en-US" sz="1600" dirty="0" err="1"/>
              <a:t>doubler</a:t>
            </a:r>
            <a:r>
              <a:rPr lang="en-US" sz="1600" dirty="0"/>
              <a:t>.</a:t>
            </a:r>
          </a:p>
        </p:txBody>
      </p:sp>
      <p:sp>
        <p:nvSpPr>
          <p:cNvPr id="4" name="TextBox 3">
            <a:extLst>
              <a:ext uri="{FF2B5EF4-FFF2-40B4-BE49-F238E27FC236}">
                <a16:creationId xmlns:a16="http://schemas.microsoft.com/office/drawing/2014/main" id="{9022B315-3B6A-B56C-B44C-AADD51D74811}"/>
              </a:ext>
            </a:extLst>
          </p:cNvPr>
          <p:cNvSpPr txBox="1"/>
          <p:nvPr/>
        </p:nvSpPr>
        <p:spPr>
          <a:xfrm>
            <a:off x="1084729" y="1437856"/>
            <a:ext cx="9897036" cy="646331"/>
          </a:xfrm>
          <a:prstGeom prst="rect">
            <a:avLst/>
          </a:prstGeom>
          <a:noFill/>
        </p:spPr>
        <p:txBody>
          <a:bodyPr wrap="square">
            <a:spAutoFit/>
          </a:bodyPr>
          <a:lstStyle/>
          <a:p>
            <a:r>
              <a:rPr lang="en-US"/>
              <a:t>Selama setengah siklus positif dari tegangan sekunder transformator (Gambar 2.124a) dioda D1 melakukan pengisian kapasitor C1 ke tegangan puncak Vm. Dioda D2 adalah nonkonduktor saat itu.</a:t>
            </a:r>
            <a:endParaRPr lang="en-US" dirty="0"/>
          </a:p>
        </p:txBody>
      </p:sp>
      <p:cxnSp>
        <p:nvCxnSpPr>
          <p:cNvPr id="6" name="Straight Arrow Connector 5">
            <a:extLst>
              <a:ext uri="{FF2B5EF4-FFF2-40B4-BE49-F238E27FC236}">
                <a16:creationId xmlns:a16="http://schemas.microsoft.com/office/drawing/2014/main" id="{0346E7C3-5ACC-6CFA-1CB1-2516D98B7C8A}"/>
              </a:ext>
            </a:extLst>
          </p:cNvPr>
          <p:cNvCxnSpPr/>
          <p:nvPr/>
        </p:nvCxnSpPr>
        <p:spPr>
          <a:xfrm flipV="1">
            <a:off x="10739718" y="3056965"/>
            <a:ext cx="0" cy="20170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E9A1078-720C-F5EC-20D4-515FE291C56D}"/>
              </a:ext>
            </a:extLst>
          </p:cNvPr>
          <p:cNvPicPr>
            <a:picLocks noChangeAspect="1"/>
          </p:cNvPicPr>
          <p:nvPr/>
        </p:nvPicPr>
        <p:blipFill>
          <a:blip r:embed="rId3"/>
          <a:stretch>
            <a:fillRect/>
          </a:stretch>
        </p:blipFill>
        <p:spPr>
          <a:xfrm>
            <a:off x="1662748" y="2893323"/>
            <a:ext cx="2946096" cy="2649142"/>
          </a:xfrm>
          <a:prstGeom prst="rect">
            <a:avLst/>
          </a:prstGeom>
        </p:spPr>
      </p:pic>
      <p:pic>
        <p:nvPicPr>
          <p:cNvPr id="7" name="Picture 6">
            <a:extLst>
              <a:ext uri="{FF2B5EF4-FFF2-40B4-BE49-F238E27FC236}">
                <a16:creationId xmlns:a16="http://schemas.microsoft.com/office/drawing/2014/main" id="{E87AF46B-74D8-655C-7771-1E9978575057}"/>
              </a:ext>
            </a:extLst>
          </p:cNvPr>
          <p:cNvPicPr>
            <a:picLocks noChangeAspect="1"/>
          </p:cNvPicPr>
          <p:nvPr/>
        </p:nvPicPr>
        <p:blipFill>
          <a:blip r:embed="rId4"/>
          <a:stretch>
            <a:fillRect/>
          </a:stretch>
        </p:blipFill>
        <p:spPr>
          <a:xfrm>
            <a:off x="2294060" y="3138970"/>
            <a:ext cx="270962" cy="405557"/>
          </a:xfrm>
          <a:prstGeom prst="rect">
            <a:avLst/>
          </a:prstGeom>
        </p:spPr>
      </p:pic>
      <p:pic>
        <p:nvPicPr>
          <p:cNvPr id="10" name="Picture 9">
            <a:extLst>
              <a:ext uri="{FF2B5EF4-FFF2-40B4-BE49-F238E27FC236}">
                <a16:creationId xmlns:a16="http://schemas.microsoft.com/office/drawing/2014/main" id="{636D3FE8-D99C-6D70-D0B7-9A6488F71187}"/>
              </a:ext>
            </a:extLst>
          </p:cNvPr>
          <p:cNvPicPr>
            <a:picLocks noChangeAspect="1"/>
          </p:cNvPicPr>
          <p:nvPr/>
        </p:nvPicPr>
        <p:blipFill>
          <a:blip r:embed="rId5"/>
          <a:stretch>
            <a:fillRect/>
          </a:stretch>
        </p:blipFill>
        <p:spPr>
          <a:xfrm>
            <a:off x="6267811" y="3204736"/>
            <a:ext cx="317197" cy="463321"/>
          </a:xfrm>
          <a:prstGeom prst="rect">
            <a:avLst/>
          </a:prstGeom>
        </p:spPr>
      </p:pic>
      <p:pic>
        <p:nvPicPr>
          <p:cNvPr id="11" name="Picture 10">
            <a:extLst>
              <a:ext uri="{FF2B5EF4-FFF2-40B4-BE49-F238E27FC236}">
                <a16:creationId xmlns:a16="http://schemas.microsoft.com/office/drawing/2014/main" id="{851BD5FD-23DA-B3A3-A287-A8AB39A55707}"/>
              </a:ext>
            </a:extLst>
          </p:cNvPr>
          <p:cNvPicPr>
            <a:picLocks noChangeAspect="1"/>
          </p:cNvPicPr>
          <p:nvPr/>
        </p:nvPicPr>
        <p:blipFill>
          <a:blip r:embed="rId6"/>
          <a:stretch>
            <a:fillRect/>
          </a:stretch>
        </p:blipFill>
        <p:spPr>
          <a:xfrm>
            <a:off x="9048078" y="3341749"/>
            <a:ext cx="367462" cy="463322"/>
          </a:xfrm>
          <a:prstGeom prst="rect">
            <a:avLst/>
          </a:prstGeom>
        </p:spPr>
      </p:pic>
      <p:sp>
        <p:nvSpPr>
          <p:cNvPr id="13" name="TextBox 12">
            <a:extLst>
              <a:ext uri="{FF2B5EF4-FFF2-40B4-BE49-F238E27FC236}">
                <a16:creationId xmlns:a16="http://schemas.microsoft.com/office/drawing/2014/main" id="{A53FEB61-8172-B7F8-DEBE-02A44B0D4A7C}"/>
              </a:ext>
            </a:extLst>
          </p:cNvPr>
          <p:cNvSpPr txBox="1"/>
          <p:nvPr/>
        </p:nvSpPr>
        <p:spPr>
          <a:xfrm>
            <a:off x="894520" y="420451"/>
            <a:ext cx="6501362" cy="461665"/>
          </a:xfrm>
          <a:prstGeom prst="rect">
            <a:avLst/>
          </a:prstGeom>
          <a:noFill/>
        </p:spPr>
        <p:txBody>
          <a:bodyPr wrap="square">
            <a:spAutoFit/>
          </a:bodyPr>
          <a:lstStyle/>
          <a:p>
            <a:r>
              <a:rPr lang="en-US" sz="2400"/>
              <a:t>Analisis Rangkaian Multiplier (Gelombang Penuh)</a:t>
            </a:r>
            <a:endParaRPr lang="en-US" sz="2400" dirty="0"/>
          </a:p>
        </p:txBody>
      </p:sp>
      <p:sp>
        <p:nvSpPr>
          <p:cNvPr id="14" name="TextBox 13">
            <a:extLst>
              <a:ext uri="{FF2B5EF4-FFF2-40B4-BE49-F238E27FC236}">
                <a16:creationId xmlns:a16="http://schemas.microsoft.com/office/drawing/2014/main" id="{A0DADE21-7615-F8FA-989F-338C20FBB873}"/>
              </a:ext>
            </a:extLst>
          </p:cNvPr>
          <p:cNvSpPr txBox="1"/>
          <p:nvPr/>
        </p:nvSpPr>
        <p:spPr>
          <a:xfrm>
            <a:off x="10739718" y="3781423"/>
            <a:ext cx="611834" cy="369332"/>
          </a:xfrm>
          <a:prstGeom prst="rect">
            <a:avLst/>
          </a:prstGeom>
          <a:noFill/>
        </p:spPr>
        <p:txBody>
          <a:bodyPr wrap="none" rtlCol="0">
            <a:spAutoFit/>
          </a:bodyPr>
          <a:lstStyle/>
          <a:p>
            <a:r>
              <a:rPr lang="en-US"/>
              <a:t>2Vm</a:t>
            </a:r>
            <a:endParaRPr lang="en-ID"/>
          </a:p>
        </p:txBody>
      </p:sp>
    </p:spTree>
    <p:extLst>
      <p:ext uri="{BB962C8B-B14F-4D97-AF65-F5344CB8AC3E}">
        <p14:creationId xmlns:p14="http://schemas.microsoft.com/office/powerpoint/2010/main" val="306444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69C6E0-8E39-4B96-9FA5-23052F0BA1EC}"/>
              </a:ext>
            </a:extLst>
          </p:cNvPr>
          <p:cNvSpPr txBox="1"/>
          <p:nvPr/>
        </p:nvSpPr>
        <p:spPr>
          <a:xfrm>
            <a:off x="1108115" y="458638"/>
            <a:ext cx="6096000" cy="461665"/>
          </a:xfrm>
          <a:prstGeom prst="rect">
            <a:avLst/>
          </a:prstGeom>
          <a:noFill/>
        </p:spPr>
        <p:txBody>
          <a:bodyPr wrap="square">
            <a:spAutoFit/>
          </a:bodyPr>
          <a:lstStyle/>
          <a:p>
            <a:r>
              <a:rPr lang="en-US" sz="2400" dirty="0"/>
              <a:t>Voltage Tripler and </a:t>
            </a:r>
            <a:r>
              <a:rPr lang="en-US" sz="2400" dirty="0" err="1"/>
              <a:t>Quadrupler</a:t>
            </a:r>
            <a:endParaRPr lang="en-US" sz="2400" dirty="0"/>
          </a:p>
        </p:txBody>
      </p:sp>
      <p:pic>
        <p:nvPicPr>
          <p:cNvPr id="5" name="Picture 4">
            <a:extLst>
              <a:ext uri="{FF2B5EF4-FFF2-40B4-BE49-F238E27FC236}">
                <a16:creationId xmlns:a16="http://schemas.microsoft.com/office/drawing/2014/main" id="{C7CD86A0-9695-4B2C-80DA-C8DF18CF7186}"/>
              </a:ext>
            </a:extLst>
          </p:cNvPr>
          <p:cNvPicPr>
            <a:picLocks noChangeAspect="1"/>
          </p:cNvPicPr>
          <p:nvPr/>
        </p:nvPicPr>
        <p:blipFill>
          <a:blip r:embed="rId2"/>
          <a:stretch>
            <a:fillRect/>
          </a:stretch>
        </p:blipFill>
        <p:spPr>
          <a:xfrm>
            <a:off x="304800" y="2016322"/>
            <a:ext cx="5647765" cy="2682097"/>
          </a:xfrm>
          <a:prstGeom prst="rect">
            <a:avLst/>
          </a:prstGeom>
        </p:spPr>
      </p:pic>
      <p:sp>
        <p:nvSpPr>
          <p:cNvPr id="2" name="TextBox 1">
            <a:extLst>
              <a:ext uri="{FF2B5EF4-FFF2-40B4-BE49-F238E27FC236}">
                <a16:creationId xmlns:a16="http://schemas.microsoft.com/office/drawing/2014/main" id="{1DB8B765-ADD6-4AD6-BDD7-30B5CF26017B}"/>
              </a:ext>
            </a:extLst>
          </p:cNvPr>
          <p:cNvSpPr txBox="1"/>
          <p:nvPr/>
        </p:nvSpPr>
        <p:spPr>
          <a:xfrm>
            <a:off x="5853952" y="1909452"/>
            <a:ext cx="6096001" cy="3416320"/>
          </a:xfrm>
          <a:prstGeom prst="rect">
            <a:avLst/>
          </a:prstGeom>
          <a:noFill/>
        </p:spPr>
        <p:txBody>
          <a:bodyPr wrap="square">
            <a:spAutoFit/>
          </a:bodyPr>
          <a:lstStyle/>
          <a:p>
            <a:pPr marL="285750" indent="-285750">
              <a:buFont typeface="Arial" panose="020B0604020202020204" pitchFamily="34" charset="0"/>
              <a:buChar char="•"/>
            </a:pPr>
            <a:r>
              <a:rPr lang="en-US" sz="1200"/>
              <a:t>Kapasitor C1 mengisi melalui dioda D1 ke tegangan puncak Vm selama setengah siklus positif dari tegangan sekunder transformator. </a:t>
            </a:r>
          </a:p>
          <a:p>
            <a:pPr marL="285750" indent="-285750">
              <a:buFont typeface="Arial" panose="020B0604020202020204" pitchFamily="34" charset="0"/>
              <a:buChar char="•"/>
            </a:pPr>
            <a:r>
              <a:rPr lang="en-US" sz="1200"/>
              <a:t>Kapasitor C2 mengisi daya ke dua kali tegangan puncak 2Vm yang dikembangkan oleh jumlah tegangan melintasi kapasitor C1 dan transformator, selama setengah siklus negatif tegangan sekunder transformator.</a:t>
            </a:r>
          </a:p>
          <a:p>
            <a:pPr marL="285750" indent="-285750">
              <a:buFont typeface="Arial" panose="020B0604020202020204" pitchFamily="34" charset="0"/>
              <a:buChar char="•"/>
            </a:pPr>
            <a:r>
              <a:rPr lang="en-US" sz="1200"/>
              <a:t>Selama </a:t>
            </a:r>
            <a:r>
              <a:rPr lang="en-US" sz="1200" dirty="0" err="1"/>
              <a:t>setengah</a:t>
            </a:r>
            <a:r>
              <a:rPr lang="en-US" sz="1200" dirty="0"/>
              <a:t> </a:t>
            </a:r>
            <a:r>
              <a:rPr lang="en-US" sz="1200" dirty="0" err="1"/>
              <a:t>siklus</a:t>
            </a:r>
            <a:r>
              <a:rPr lang="en-US" sz="1200" dirty="0"/>
              <a:t> </a:t>
            </a:r>
            <a:r>
              <a:rPr lang="en-US" sz="1200" dirty="0" err="1"/>
              <a:t>positif</a:t>
            </a:r>
            <a:r>
              <a:rPr lang="en-US" sz="1200" dirty="0"/>
              <a:t>, </a:t>
            </a:r>
            <a:r>
              <a:rPr lang="en-US" sz="1200" dirty="0" err="1"/>
              <a:t>dioda</a:t>
            </a:r>
            <a:r>
              <a:rPr lang="en-US" sz="1200" dirty="0"/>
              <a:t> D3 </a:t>
            </a:r>
            <a:r>
              <a:rPr lang="en-US" sz="1200" dirty="0" err="1"/>
              <a:t>konduksi</a:t>
            </a:r>
            <a:r>
              <a:rPr lang="en-US" sz="1200" dirty="0"/>
              <a:t> dan </a:t>
            </a:r>
            <a:r>
              <a:rPr lang="en-US" sz="1200" dirty="0" err="1"/>
              <a:t>tegangan</a:t>
            </a:r>
            <a:r>
              <a:rPr lang="en-US" sz="1200" dirty="0"/>
              <a:t> </a:t>
            </a:r>
            <a:r>
              <a:rPr lang="en-US" sz="1200" dirty="0" err="1"/>
              <a:t>melintasi</a:t>
            </a:r>
            <a:r>
              <a:rPr lang="en-US" sz="1200" dirty="0"/>
              <a:t> </a:t>
            </a:r>
            <a:r>
              <a:rPr lang="en-US" sz="1200" dirty="0" err="1"/>
              <a:t>kapasitor</a:t>
            </a:r>
            <a:r>
              <a:rPr lang="en-US" sz="1200" dirty="0"/>
              <a:t> C2 </a:t>
            </a:r>
            <a:r>
              <a:rPr lang="en-US" sz="1200" dirty="0" err="1"/>
              <a:t>mengisi</a:t>
            </a:r>
            <a:r>
              <a:rPr lang="en-US" sz="1200" dirty="0"/>
              <a:t> </a:t>
            </a:r>
            <a:r>
              <a:rPr lang="en-US" sz="1200" dirty="0" err="1"/>
              <a:t>kapasitor</a:t>
            </a:r>
            <a:r>
              <a:rPr lang="en-US" sz="1200" dirty="0"/>
              <a:t> C3 </a:t>
            </a:r>
            <a:r>
              <a:rPr lang="en-US" sz="1200" dirty="0" err="1"/>
              <a:t>ke</a:t>
            </a:r>
            <a:r>
              <a:rPr lang="en-US" sz="1200" dirty="0"/>
              <a:t> </a:t>
            </a:r>
            <a:r>
              <a:rPr lang="en-US" sz="1200" dirty="0" err="1"/>
              <a:t>tegangan</a:t>
            </a:r>
            <a:r>
              <a:rPr lang="en-US" sz="1200" dirty="0"/>
              <a:t> </a:t>
            </a:r>
            <a:r>
              <a:rPr lang="en-US" sz="1200" dirty="0" err="1"/>
              <a:t>puncak</a:t>
            </a:r>
            <a:r>
              <a:rPr lang="en-US" sz="1200" dirty="0"/>
              <a:t> 2Vm yang </a:t>
            </a:r>
            <a:r>
              <a:rPr lang="en-US" sz="1200" dirty="0" err="1"/>
              <a:t>sama</a:t>
            </a:r>
            <a:r>
              <a:rPr lang="en-US" sz="1200" dirty="0"/>
              <a:t>. Pada </a:t>
            </a:r>
            <a:r>
              <a:rPr lang="en-US" sz="1200" dirty="0" err="1"/>
              <a:t>setengah</a:t>
            </a:r>
            <a:r>
              <a:rPr lang="en-US" sz="1200" dirty="0"/>
              <a:t> </a:t>
            </a:r>
            <a:r>
              <a:rPr lang="en-US" sz="1200" dirty="0" err="1"/>
              <a:t>siklus</a:t>
            </a:r>
            <a:r>
              <a:rPr lang="en-US" sz="1200" dirty="0"/>
              <a:t> </a:t>
            </a:r>
            <a:r>
              <a:rPr lang="en-US" sz="1200" dirty="0" err="1"/>
              <a:t>negatif</a:t>
            </a:r>
            <a:r>
              <a:rPr lang="en-US" sz="1200" dirty="0"/>
              <a:t>, </a:t>
            </a:r>
            <a:r>
              <a:rPr lang="en-US" sz="1200" dirty="0" err="1"/>
              <a:t>dioda</a:t>
            </a:r>
            <a:r>
              <a:rPr lang="en-US" sz="1200" dirty="0"/>
              <a:t> D2 dan D4 </a:t>
            </a:r>
            <a:r>
              <a:rPr lang="en-US" sz="1200" dirty="0" err="1"/>
              <a:t>konduksi</a:t>
            </a:r>
            <a:r>
              <a:rPr lang="en-US" sz="1200" dirty="0"/>
              <a:t> </a:t>
            </a:r>
            <a:r>
              <a:rPr lang="en-US" sz="1200" dirty="0" err="1"/>
              <a:t>dengan</a:t>
            </a:r>
            <a:r>
              <a:rPr lang="en-US" sz="1200" dirty="0"/>
              <a:t> </a:t>
            </a:r>
            <a:r>
              <a:rPr lang="en-US" sz="1200" dirty="0" err="1"/>
              <a:t>kapasitor</a:t>
            </a:r>
            <a:r>
              <a:rPr lang="en-US" sz="1200" dirty="0"/>
              <a:t> C3, </a:t>
            </a:r>
            <a:r>
              <a:rPr lang="en-US" sz="1200" dirty="0" err="1"/>
              <a:t>mengisi</a:t>
            </a:r>
            <a:r>
              <a:rPr lang="en-US" sz="1200" dirty="0"/>
              <a:t> C4 </a:t>
            </a:r>
            <a:r>
              <a:rPr lang="en-US" sz="1200" dirty="0" err="1"/>
              <a:t>ke</a:t>
            </a:r>
            <a:r>
              <a:rPr lang="en-US" sz="1200" dirty="0"/>
              <a:t> </a:t>
            </a:r>
            <a:r>
              <a:rPr lang="en-US" sz="1200"/>
              <a:t>2Vm.</a:t>
            </a:r>
          </a:p>
          <a:p>
            <a:pPr marL="285750" indent="-285750">
              <a:buFont typeface="Arial" panose="020B0604020202020204" pitchFamily="34" charset="0"/>
              <a:buChar char="•"/>
            </a:pPr>
            <a:r>
              <a:rPr lang="en-US" sz="1200"/>
              <a:t>Tegangan melintasi kapasitor C2 adalah 2Vm, melintasi C1 dan C3 adalah 3Vm, dan melintasi C2 dan C4 itu adalah 4Vm. Jika bagian tambahan dari dioda dan kapasitor digunakan, setiap kapasitor akan diisi hingga 2Vm. Mengukur dari atas belitan transformator (Gbr. 2.125) akan memberikan kelipatan ganjil Vm pada output, sedangkan mengukur output tegangan dari bagian bawah transformator akan memberikan kelipatan genap dari puncak tegangan, Vm</a:t>
            </a:r>
          </a:p>
          <a:p>
            <a:pPr marL="285750" indent="-285750">
              <a:buFont typeface="Arial" panose="020B0604020202020204" pitchFamily="34" charset="0"/>
              <a:buChar char="•"/>
            </a:pPr>
            <a:r>
              <a:rPr lang="en-US" sz="1200"/>
              <a:t>Nilai transformator hanya Vm, maksimum, dan setiap dioda dalam rangkaian harus: dinilai pada 2Vm PIV. Jika beban kecil dan kapasitor memiliki sedikit kebocoran, tegangan dc yang sangat tinggi dapat dikembangkan oleh jenis rangkaian ini, menggunakan banyak bagian untuk menaikkan tegangan dc.</a:t>
            </a:r>
          </a:p>
        </p:txBody>
      </p:sp>
    </p:spTree>
    <p:extLst>
      <p:ext uri="{BB962C8B-B14F-4D97-AF65-F5344CB8AC3E}">
        <p14:creationId xmlns:p14="http://schemas.microsoft.com/office/powerpoint/2010/main" val="644807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1532</TotalTime>
  <Words>654</Words>
  <Application>Microsoft Office PowerPoint</Application>
  <PresentationFormat>Widescreen</PresentationFormat>
  <Paragraphs>38</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Rangkaian Multiplier Tegangan (Doubler, Pengganda)</vt:lpstr>
      <vt:lpstr>Apa itu rangkaian Multiplier Tegangan?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Aplikasi Dioda  Rangkaian Pemotong (Clipper) Rangkaian Pengapit (Clampers) Rangkaian Pengganda Tegangan Rangkaian Dioda Zener </dc:title>
  <dc:creator>Ridwan Solihin</dc:creator>
  <cp:lastModifiedBy>erilmozef@yahoo.com</cp:lastModifiedBy>
  <cp:revision>50</cp:revision>
  <dcterms:created xsi:type="dcterms:W3CDTF">2022-02-27T04:50:30Z</dcterms:created>
  <dcterms:modified xsi:type="dcterms:W3CDTF">2025-03-25T02:05:56Z</dcterms:modified>
</cp:coreProperties>
</file>