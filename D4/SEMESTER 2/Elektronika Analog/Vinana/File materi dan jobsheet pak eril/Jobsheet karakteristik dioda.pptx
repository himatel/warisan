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72" r:id="rId6"/>
    <p:sldId id="273" r:id="rId7"/>
    <p:sldId id="274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75" r:id="rId17"/>
    <p:sldId id="267" r:id="rId18"/>
    <p:sldId id="268" r:id="rId19"/>
    <p:sldId id="270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43" autoAdjust="0"/>
    <p:restoredTop sz="94660"/>
  </p:normalViewPr>
  <p:slideViewPr>
    <p:cSldViewPr snapToGrid="0">
      <p:cViewPr>
        <p:scale>
          <a:sx n="60" d="100"/>
          <a:sy n="60" d="100"/>
        </p:scale>
        <p:origin x="1411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1073-159C-4134-B7CE-F14339709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72A93-EEF6-4279-A2FB-66754E41A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E5EC1-4C6A-4AFD-84AE-ABAE798C3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D6845-A45E-4388-BC32-0C17C9D9D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F199A-2DD2-4FC2-990B-3FD3BF73F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14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C77C1-5410-46DA-A8E2-6B55B2511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7760E-C992-444E-97AB-CC5F660FF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D237A-F81B-4211-A212-61FCC3C00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7A99-3BEE-4689-92C0-6D37E0B1C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4FAF1-DAD4-43CC-ACED-6F7EDD50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725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29F06-FAC6-4C77-BB87-DFA8F96C4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1D100-7BE5-4532-AC40-5342086B6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A8600-F89D-4691-A48D-82D4A5648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F22C7-9278-4557-8FF8-F1C8CC1B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71FFD-CE09-4B6C-A3FE-009C1F486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48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5DD3F-778C-406D-B281-C282B675A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9A89B-69F0-4F1D-A79A-777131B09A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253CE-455E-4040-90B0-CF06C8264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7790E-634A-4226-A21F-CBBC08E9B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59EEF-9DB1-4795-91AE-BCB681C5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8214B-9410-4B37-B0AC-7A49C4091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7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72295-2A42-42FD-9F8E-16C9A714F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60924-9E55-4157-952A-7946269CC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63040-09FB-4D7D-BD3F-D62F538D3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002395-31D5-44B1-AEFB-B5341AD507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9CDC0-0EAC-4DA3-A5DA-2EF4867B3D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4D866-E267-4D30-AB83-ED7B3B961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7BEF2B-87E6-4275-93E5-C7A7264A2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1C37AE-9A48-4446-A53A-4DDAF5E31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3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DE90E-99BF-4FAF-9AB0-5195097A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AF3512-67C3-4B41-B9C1-B582F4161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C33F36-C565-4A0E-9D4D-E63335C02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06A5E2-9BC2-4C44-A3D3-A6A29FD13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13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7248FC-72BF-4BB2-A0E7-1AE831141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DF7276-D47D-4A2A-9FB5-90C81C9E3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FEE5B-E5B1-4F46-8E3D-2D648CD10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23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BBA9F-21A5-497C-B510-EBF6B71CE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4F450-6EAE-4B31-A72C-A6C7DEE93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A484ED-9A02-4222-9EFA-4AF38F726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C414F-7568-4DB8-A7AC-D6C21D54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D439B-C2AC-4C82-9E70-CF54EDEEC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BA51D-2ABA-49BB-94EE-B9EF0F37D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449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6E8A6-A855-4E90-8C13-8CB09959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4C4311-4676-47D3-96EA-CE29309FA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A38D5-7E85-4F6D-9675-E3052C43B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FED12-A91C-420A-A089-64F368292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53D29-C374-4E4E-AAE6-A00384A16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B8D33-8AC3-411C-8E95-997C38D7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80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53F8B-D7AE-41DE-AD3A-9C1DA7EE4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E112F-9508-4899-BB0F-309C1B4E3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51FB4-E9B8-4160-ADEE-3B53225E5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7D734-C034-4781-BA9C-D1EA5D97B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AB15A-15E9-4A5B-AB06-CABC7DE96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144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EBFA2A-DE2D-45BB-996A-710132962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4DBD2-CF8D-4923-9A0C-B6BEC8D597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9B23A-8D7B-48C5-A3E5-B17A68EF7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9E18A-A4B8-4F4F-9F05-2AFCF8CEE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80954-D7E8-4900-A4EF-6C385793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5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DAAD03-E517-4BC7-B4EA-5C79EB19D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B9611-91C7-4170-BC2F-2132280A7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EA8CF-F24C-4BE2-90DC-A8FF4C4ADE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FF374-75DE-4D0F-B2CF-59EE01951FB8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748AA-97C6-47C3-A5B5-50FB6EA3E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B3E63-8901-420C-8206-5C537B635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03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7C2D9-C5F2-4190-B83E-A36E7405A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8033"/>
            <a:ext cx="9144000" cy="2387600"/>
          </a:xfrm>
        </p:spPr>
        <p:txBody>
          <a:bodyPr>
            <a:normAutofit/>
          </a:bodyPr>
          <a:lstStyle/>
          <a:p>
            <a:r>
              <a:rPr lang="en-US" sz="3600"/>
              <a:t>Karakteristik </a:t>
            </a:r>
            <a:r>
              <a:rPr lang="en-US" sz="3600" dirty="0" err="1"/>
              <a:t>Dioda</a:t>
            </a:r>
            <a:endParaRPr lang="en-US" sz="3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BF754D-B6AD-6403-CF83-811590AD38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8603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90225B-6499-4EFD-8819-4A236B9C0BB1}"/>
              </a:ext>
            </a:extLst>
          </p:cNvPr>
          <p:cNvSpPr txBox="1"/>
          <p:nvPr/>
        </p:nvSpPr>
        <p:spPr>
          <a:xfrm>
            <a:off x="431479" y="1375969"/>
            <a:ext cx="1061499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KARAKTERISTIK  DIODA</a:t>
            </a:r>
            <a:endParaRPr lang="en-US" sz="2400" u="sng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id-ID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just"/>
            <a:r>
              <a:rPr lang="id-ID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 Tujuan 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71500" indent="-571500" algn="just"/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Setelah melakukan percobaan ini mahasiswa mampu 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menggambarkan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kurva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karakteristik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dioda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Si</a:t>
            </a:r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(silikon)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diod</a:t>
            </a:r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Ge (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germanium)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konfigurasi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forward bias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bias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maju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dan </a:t>
            </a:r>
            <a:r>
              <a:rPr lang="en-US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reverse bias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bias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mundur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dan diode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zener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menentukan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resistansi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dioda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arah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maju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(R</a:t>
            </a:r>
            <a:r>
              <a:rPr lang="en-US" sz="20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dan 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resistansi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dioda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arah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mundur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(Rr),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membandingkan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karakteristik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diode </a:t>
            </a:r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karakteistik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dioda Ge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dan diode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zener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C328FE-91C1-43B2-B288-5CC0107DC1A6}"/>
              </a:ext>
            </a:extLst>
          </p:cNvPr>
          <p:cNvSpPr txBox="1"/>
          <p:nvPr/>
        </p:nvSpPr>
        <p:spPr>
          <a:xfrm>
            <a:off x="431479" y="4465982"/>
            <a:ext cx="1117613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Referensi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marL="292100"/>
            <a:r>
              <a:rPr lang="en-US" sz="16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Robert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Boylestad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Louis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Nashelky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., </a:t>
            </a:r>
            <a:r>
              <a:rPr lang="en-US" sz="16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16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6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ELECTRONIC DEVICES AND CIRCUIT THEORY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New Jersey Columbus, Ohio</a:t>
            </a:r>
            <a:endParaRPr lang="en-US" sz="16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indent="292100"/>
            <a:r>
              <a:rPr lang="en-US" sz="16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 </a:t>
            </a:r>
            <a:r>
              <a:rPr lang="en-US" sz="1600" spc="2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5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Elektronika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1, </a:t>
            </a:r>
            <a:r>
              <a:rPr lang="en-US" sz="1600" spc="5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Teori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1600" spc="5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Penerapannya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spc="5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Sutrisno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ITB</a:t>
            </a:r>
            <a:endParaRPr lang="en-US" sz="16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921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292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B25F99-41A9-401A-917D-DB04BA40E0A4}"/>
              </a:ext>
            </a:extLst>
          </p:cNvPr>
          <p:cNvSpPr txBox="1"/>
          <p:nvPr/>
        </p:nvSpPr>
        <p:spPr>
          <a:xfrm>
            <a:off x="1828799" y="1916885"/>
            <a:ext cx="963433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/>
            <a:r>
              <a:rPr lang="id-ID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Petunjuk Keselamatan Kerja</a:t>
            </a:r>
            <a:endParaRPr lang="en-US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/>
            <a:endParaRPr lang="en-US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/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Periksa</a:t>
            </a:r>
            <a:r>
              <a:rPr lang="id-ID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lah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kutub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anoda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katoda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diode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ohmmeter</a:t>
            </a:r>
            <a:r>
              <a:rPr lang="id-ID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</a:t>
            </a:r>
            <a:r>
              <a:rPr lang="id-ID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Periksa sumber tegangan yang diberikan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agar </a:t>
            </a:r>
            <a:r>
              <a:rPr lang="id-ID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tidak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terbalik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</a:p>
          <a:p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polaritasnya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keperluan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bias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maju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bias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mundur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20224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9FA2B1-CC96-41B7-9692-70306D84F7F7}"/>
              </a:ext>
            </a:extLst>
          </p:cNvPr>
          <p:cNvSpPr txBox="1"/>
          <p:nvPr/>
        </p:nvSpPr>
        <p:spPr>
          <a:xfrm>
            <a:off x="901065" y="752594"/>
            <a:ext cx="34194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3. </a:t>
            </a:r>
            <a:r>
              <a:rPr lang="en-US" sz="2400" b="1" dirty="0" err="1"/>
              <a:t>Landasan</a:t>
            </a:r>
            <a:r>
              <a:rPr lang="en-US" sz="2400" b="1" dirty="0"/>
              <a:t> </a:t>
            </a:r>
            <a:r>
              <a:rPr lang="en-US" sz="2400" b="1" dirty="0" err="1"/>
              <a:t>Teori</a:t>
            </a:r>
            <a:endParaRPr 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014448-DBC2-4A60-9032-B097A224DF1C}"/>
              </a:ext>
            </a:extLst>
          </p:cNvPr>
          <p:cNvSpPr txBox="1"/>
          <p:nvPr/>
        </p:nvSpPr>
        <p:spPr>
          <a:xfrm>
            <a:off x="764381" y="1465719"/>
            <a:ext cx="1066323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effectLst/>
                <a:latin typeface="Arial" panose="020B0604020202020204" pitchFamily="34" charset="0"/>
              </a:rPr>
              <a:t>Karakteristik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dasar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dikenal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dengan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karakteristik</a:t>
            </a:r>
            <a:r>
              <a:rPr lang="en-US" dirty="0">
                <a:effectLst/>
                <a:latin typeface="Arial" panose="020B0604020202020204" pitchFamily="34" charset="0"/>
              </a:rPr>
              <a:t> V-I. </a:t>
            </a:r>
            <a:r>
              <a:rPr lang="en-US" dirty="0" err="1">
                <a:effectLst/>
                <a:latin typeface="Arial" panose="020B0604020202020204" pitchFamily="34" charset="0"/>
              </a:rPr>
              <a:t>Karakterisik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ini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penting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untuk</a:t>
            </a:r>
            <a:br>
              <a:rPr lang="en-US" dirty="0"/>
            </a:br>
            <a:r>
              <a:rPr lang="en-US" dirty="0" err="1">
                <a:effectLst/>
                <a:latin typeface="Arial" panose="020B0604020202020204" pitchFamily="34" charset="0"/>
              </a:rPr>
              <a:t>dipahami</a:t>
            </a:r>
            <a:r>
              <a:rPr lang="en-US" dirty="0">
                <a:effectLst/>
                <a:latin typeface="Arial" panose="020B0604020202020204" pitchFamily="34" charset="0"/>
              </a:rPr>
              <a:t> agar </a:t>
            </a:r>
            <a:r>
              <a:rPr lang="en-US" dirty="0" err="1">
                <a:effectLst/>
                <a:latin typeface="Arial" panose="020B0604020202020204" pitchFamily="34" charset="0"/>
              </a:rPr>
              <a:t>tidak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terjadi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kesalahan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dalam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aplikasi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dirty="0">
                <a:effectLst/>
                <a:latin typeface="Arial" panose="020B0604020202020204" pitchFamily="34" charset="0"/>
              </a:rPr>
              <a:t>. </a:t>
            </a:r>
            <a:r>
              <a:rPr lang="en-US" dirty="0" err="1">
                <a:effectLst/>
                <a:latin typeface="Arial" panose="020B0604020202020204" pitchFamily="34" charset="0"/>
              </a:rPr>
              <a:t>Dalam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karakteristik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ini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dapat</a:t>
            </a:r>
            <a:br>
              <a:rPr lang="en-US" dirty="0"/>
            </a:br>
            <a:r>
              <a:rPr lang="en-US" dirty="0" err="1">
                <a:effectLst/>
                <a:latin typeface="Arial" panose="020B0604020202020204" pitchFamily="34" charset="0"/>
              </a:rPr>
              <a:t>diketahui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keadaan-keadaan</a:t>
            </a:r>
            <a:r>
              <a:rPr lang="en-US" dirty="0">
                <a:effectLst/>
                <a:latin typeface="Arial" panose="020B0604020202020204" pitchFamily="34" charset="0"/>
              </a:rPr>
              <a:t> yang </a:t>
            </a:r>
            <a:r>
              <a:rPr lang="en-US" dirty="0" err="1">
                <a:effectLst/>
                <a:latin typeface="Arial" panose="020B0604020202020204" pitchFamily="34" charset="0"/>
              </a:rPr>
              <a:t>terjadi</a:t>
            </a:r>
            <a:r>
              <a:rPr lang="en-US" dirty="0">
                <a:effectLst/>
                <a:latin typeface="Arial" panose="020B0604020202020204" pitchFamily="34" charset="0"/>
              </a:rPr>
              <a:t> pada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ketika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mendapat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tegangan</a:t>
            </a:r>
            <a:r>
              <a:rPr lang="en-US" dirty="0">
                <a:effectLst/>
                <a:latin typeface="Arial" panose="020B0604020202020204" pitchFamily="34" charset="0"/>
              </a:rPr>
              <a:t> bias </a:t>
            </a:r>
            <a:r>
              <a:rPr lang="en-US" dirty="0" err="1">
                <a:effectLst/>
                <a:latin typeface="Arial" panose="020B0604020202020204" pitchFamily="34" charset="0"/>
              </a:rPr>
              <a:t>maju</a:t>
            </a:r>
            <a:r>
              <a:rPr lang="en-US" dirty="0">
                <a:effectLst/>
                <a:latin typeface="Arial" panose="020B0604020202020204" pitchFamily="34" charset="0"/>
              </a:rPr>
              <a:t> dan</a:t>
            </a:r>
            <a:br>
              <a:rPr lang="en-US" dirty="0"/>
            </a:br>
            <a:r>
              <a:rPr lang="en-US" dirty="0" err="1">
                <a:effectLst/>
                <a:latin typeface="Arial" panose="020B0604020202020204" pitchFamily="34" charset="0"/>
              </a:rPr>
              <a:t>tegangan</a:t>
            </a:r>
            <a:r>
              <a:rPr lang="en-US" dirty="0">
                <a:effectLst/>
                <a:latin typeface="Arial" panose="020B0604020202020204" pitchFamily="34" charset="0"/>
              </a:rPr>
              <a:t> bias </a:t>
            </a:r>
            <a:r>
              <a:rPr lang="en-US" dirty="0" err="1">
                <a:effectLst/>
                <a:latin typeface="Arial" panose="020B0604020202020204" pitchFamily="34" charset="0"/>
              </a:rPr>
              <a:t>mundur</a:t>
            </a:r>
            <a:r>
              <a:rPr lang="en-US" dirty="0">
                <a:effectLst/>
                <a:latin typeface="Arial" panose="020B0604020202020204" pitchFamily="34" charset="0"/>
              </a:rPr>
              <a:t>.</a:t>
            </a:r>
          </a:p>
          <a:p>
            <a:br>
              <a:rPr lang="en-US" dirty="0"/>
            </a:br>
            <a:r>
              <a:rPr lang="en-US" dirty="0" err="1">
                <a:effectLst/>
                <a:latin typeface="Arial" panose="020B0604020202020204" pitchFamily="34" charset="0"/>
              </a:rPr>
              <a:t>Terdapat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dua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daerah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operasi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sambungan</a:t>
            </a:r>
            <a:r>
              <a:rPr lang="en-US" dirty="0">
                <a:effectLst/>
                <a:latin typeface="Arial" panose="020B0604020202020204" pitchFamily="34" charset="0"/>
              </a:rPr>
              <a:t> P – N dan </a:t>
            </a:r>
            <a:r>
              <a:rPr lang="en-US" dirty="0" err="1">
                <a:effectLst/>
                <a:latin typeface="Arial" panose="020B0604020202020204" pitchFamily="34" charset="0"/>
              </a:rPr>
              <a:t>ada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tiga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kondisi</a:t>
            </a:r>
            <a:r>
              <a:rPr lang="en-US" dirty="0">
                <a:effectLst/>
                <a:latin typeface="Arial" panose="020B0604020202020204" pitchFamily="34" charset="0"/>
              </a:rPr>
              <a:t> bias yang </a:t>
            </a:r>
            <a:r>
              <a:rPr lang="en-US" dirty="0" err="1">
                <a:effectLst/>
                <a:latin typeface="Arial" panose="020B0604020202020204" pitchFamily="34" charset="0"/>
              </a:rPr>
              <a:t>dapat</a:t>
            </a:r>
            <a:br>
              <a:rPr lang="en-US" dirty="0"/>
            </a:br>
            <a:r>
              <a:rPr lang="en-US" dirty="0" err="1">
                <a:effectLst/>
                <a:latin typeface="Arial" panose="020B0604020202020204" pitchFamily="34" charset="0"/>
              </a:rPr>
              <a:t>diberikan</a:t>
            </a:r>
            <a:r>
              <a:rPr lang="en-US" dirty="0">
                <a:effectLst/>
                <a:latin typeface="Arial" panose="020B0604020202020204" pitchFamily="34" charset="0"/>
              </a:rPr>
              <a:t>:</a:t>
            </a:r>
          </a:p>
          <a:p>
            <a:br>
              <a:rPr lang="en-US" dirty="0"/>
            </a:br>
            <a:r>
              <a:rPr lang="en-US" dirty="0">
                <a:effectLst/>
                <a:latin typeface="Arial" panose="020B0604020202020204" pitchFamily="34" charset="0"/>
              </a:rPr>
              <a:t>1. Zero Bias – </a:t>
            </a:r>
            <a:r>
              <a:rPr lang="en-US" dirty="0" err="1">
                <a:effectLst/>
                <a:latin typeface="Arial" panose="020B0604020202020204" pitchFamily="34" charset="0"/>
              </a:rPr>
              <a:t>kondisi</a:t>
            </a:r>
            <a:r>
              <a:rPr lang="en-US" dirty="0">
                <a:effectLst/>
                <a:latin typeface="Arial" panose="020B0604020202020204" pitchFamily="34" charset="0"/>
              </a:rPr>
              <a:t> di mana </a:t>
            </a:r>
            <a:r>
              <a:rPr lang="en-US" dirty="0" err="1">
                <a:effectLst/>
                <a:latin typeface="Arial" panose="020B0604020202020204" pitchFamily="34" charset="0"/>
              </a:rPr>
              <a:t>tidak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ada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potensial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eksternal</a:t>
            </a:r>
            <a:r>
              <a:rPr lang="en-US" dirty="0">
                <a:effectLst/>
                <a:latin typeface="Arial" panose="020B0604020202020204" pitchFamily="34" charset="0"/>
              </a:rPr>
              <a:t> yang </a:t>
            </a:r>
            <a:r>
              <a:rPr lang="en-US" dirty="0" err="1">
                <a:effectLst/>
                <a:latin typeface="Arial" panose="020B0604020202020204" pitchFamily="34" charset="0"/>
              </a:rPr>
              <a:t>diberikan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kepada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kedua</a:t>
            </a:r>
            <a:br>
              <a:rPr lang="en-US" dirty="0"/>
            </a:br>
            <a:r>
              <a:rPr lang="en-US" dirty="0" err="1">
                <a:effectLst/>
                <a:latin typeface="Arial" panose="020B0604020202020204" pitchFamily="34" charset="0"/>
              </a:rPr>
              <a:t>ujung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menghasilkan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keseimbangan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jumlah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pembawa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mayoritas</a:t>
            </a:r>
            <a:r>
              <a:rPr lang="en-US" dirty="0">
                <a:effectLst/>
                <a:latin typeface="Arial" panose="020B0604020202020204" pitchFamily="34" charset="0"/>
              </a:rPr>
              <a:t>, </a:t>
            </a:r>
            <a:r>
              <a:rPr lang="en-US" dirty="0" err="1">
                <a:effectLst/>
                <a:latin typeface="Arial" panose="020B0604020202020204" pitchFamily="34" charset="0"/>
              </a:rPr>
              <a:t>elektron</a:t>
            </a:r>
            <a:r>
              <a:rPr lang="en-US" dirty="0">
                <a:effectLst/>
                <a:latin typeface="Arial" panose="020B0604020202020204" pitchFamily="34" charset="0"/>
              </a:rPr>
              <a:t> dan hole, dan</a:t>
            </a:r>
            <a:br>
              <a:rPr lang="en-US" dirty="0"/>
            </a:br>
            <a:r>
              <a:rPr lang="en-US" dirty="0" err="1">
                <a:effectLst/>
                <a:latin typeface="Arial" panose="020B0604020202020204" pitchFamily="34" charset="0"/>
              </a:rPr>
              <a:t>keduanya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bergerak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dalam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arah</a:t>
            </a:r>
            <a:r>
              <a:rPr lang="en-US" dirty="0">
                <a:effectLst/>
                <a:latin typeface="Arial" panose="020B0604020202020204" pitchFamily="34" charset="0"/>
              </a:rPr>
              <a:t> yang </a:t>
            </a:r>
            <a:r>
              <a:rPr lang="en-US" dirty="0" err="1">
                <a:effectLst/>
                <a:latin typeface="Arial" panose="020B0604020202020204" pitchFamily="34" charset="0"/>
              </a:rPr>
              <a:t>berlawanan</a:t>
            </a:r>
            <a:r>
              <a:rPr lang="en-US" dirty="0">
                <a:effectLst/>
                <a:latin typeface="Arial" panose="020B0604020202020204" pitchFamily="34" charset="0"/>
              </a:rPr>
              <a:t>. </a:t>
            </a:r>
            <a:r>
              <a:rPr lang="en-US" dirty="0" err="1">
                <a:effectLst/>
                <a:latin typeface="Arial" panose="020B0604020202020204" pitchFamily="34" charset="0"/>
              </a:rPr>
              <a:t>Kondisi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keseimbangan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ini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dikenal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sebagai</a:t>
            </a:r>
            <a:br>
              <a:rPr lang="en-US" dirty="0"/>
            </a:br>
            <a:r>
              <a:rPr lang="en-US" dirty="0" err="1">
                <a:effectLst/>
                <a:latin typeface="Arial" panose="020B0604020202020204" pitchFamily="34" charset="0"/>
              </a:rPr>
              <a:t>keseimbangan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dinamis</a:t>
            </a:r>
            <a:r>
              <a:rPr lang="en-US" dirty="0">
                <a:effectLst/>
                <a:latin typeface="Arial" panose="020B0604020202020204" pitchFamily="34" charset="0"/>
              </a:rPr>
              <a:t> (dynamic – equilibrium).</a:t>
            </a:r>
          </a:p>
          <a:p>
            <a:br>
              <a:rPr lang="en-US" dirty="0"/>
            </a:br>
            <a:r>
              <a:rPr lang="en-US" dirty="0">
                <a:effectLst/>
                <a:latin typeface="Arial" panose="020B0604020202020204" pitchFamily="34" charset="0"/>
              </a:rPr>
              <a:t>2. Reverse Bias – </a:t>
            </a:r>
            <a:r>
              <a:rPr lang="en-US" dirty="0" err="1">
                <a:effectLst/>
                <a:latin typeface="Arial" panose="020B0604020202020204" pitchFamily="34" charset="0"/>
              </a:rPr>
              <a:t>kondisi</a:t>
            </a:r>
            <a:r>
              <a:rPr lang="en-US" dirty="0">
                <a:effectLst/>
                <a:latin typeface="Arial" panose="020B0604020202020204" pitchFamily="34" charset="0"/>
              </a:rPr>
              <a:t> di mana </a:t>
            </a:r>
            <a:r>
              <a:rPr lang="en-US" dirty="0" err="1">
                <a:effectLst/>
                <a:latin typeface="Arial" panose="020B0604020202020204" pitchFamily="34" charset="0"/>
              </a:rPr>
              <a:t>kutub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positif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sumber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potensial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eksternal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dihubungkan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ke</a:t>
            </a:r>
            <a:br>
              <a:rPr lang="en-US" dirty="0"/>
            </a:br>
            <a:r>
              <a:rPr lang="en-US" dirty="0" err="1">
                <a:effectLst/>
                <a:latin typeface="Arial" panose="020B0604020202020204" pitchFamily="34" charset="0"/>
              </a:rPr>
              <a:t>sisi</a:t>
            </a:r>
            <a:r>
              <a:rPr lang="en-US" dirty="0">
                <a:effectLst/>
                <a:latin typeface="Arial" panose="020B0604020202020204" pitchFamily="34" charset="0"/>
              </a:rPr>
              <a:t> N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dirty="0">
                <a:effectLst/>
                <a:latin typeface="Arial" panose="020B0604020202020204" pitchFamily="34" charset="0"/>
              </a:rPr>
              <a:t> dan </a:t>
            </a:r>
            <a:r>
              <a:rPr lang="en-US" dirty="0" err="1">
                <a:effectLst/>
                <a:latin typeface="Arial" panose="020B0604020202020204" pitchFamily="34" charset="0"/>
              </a:rPr>
              <a:t>kutub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negatif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sumber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potensial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eksternal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dihubungkan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ke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sisi</a:t>
            </a:r>
            <a:r>
              <a:rPr lang="en-US" dirty="0">
                <a:effectLst/>
                <a:latin typeface="Arial" panose="020B0604020202020204" pitchFamily="34" charset="0"/>
              </a:rPr>
              <a:t> P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dirty="0">
                <a:effectLst/>
                <a:latin typeface="Arial" panose="020B06040202020202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697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33E864-88A9-4B1D-BE0E-45F00FF75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502" y="2602971"/>
            <a:ext cx="6401355" cy="24020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673044-E4B7-4BAD-A433-5FEFF73A7202}"/>
              </a:ext>
            </a:extLst>
          </p:cNvPr>
          <p:cNvSpPr txBox="1"/>
          <p:nvPr/>
        </p:nvSpPr>
        <p:spPr>
          <a:xfrm>
            <a:off x="2898458" y="5299716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Arial" panose="020B0604020202020204" pitchFamily="34" charset="0"/>
              </a:rPr>
              <a:t>Gambar 1. </a:t>
            </a:r>
            <a:r>
              <a:rPr lang="en-US" dirty="0" err="1">
                <a:effectLst/>
                <a:latin typeface="Arial" panose="020B0604020202020204" pitchFamily="34" charset="0"/>
              </a:rPr>
              <a:t>Kondisi</a:t>
            </a:r>
            <a:r>
              <a:rPr lang="en-US" dirty="0">
                <a:effectLst/>
                <a:latin typeface="Arial" panose="020B0604020202020204" pitchFamily="34" charset="0"/>
              </a:rPr>
              <a:t> reverse bias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786510-F3FD-4BA8-8FA9-5F5CEAB55C57}"/>
              </a:ext>
            </a:extLst>
          </p:cNvPr>
          <p:cNvSpPr txBox="1"/>
          <p:nvPr/>
        </p:nvSpPr>
        <p:spPr>
          <a:xfrm>
            <a:off x="1186815" y="800153"/>
            <a:ext cx="981837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effectLst/>
              </a:rPr>
              <a:t>Kondisi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ini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menghasilkan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suatu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nilai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resistansi</a:t>
            </a:r>
            <a:r>
              <a:rPr lang="en-US" sz="2000" dirty="0">
                <a:effectLst/>
              </a:rPr>
              <a:t> yang </a:t>
            </a:r>
            <a:r>
              <a:rPr lang="en-US" sz="2000" dirty="0" err="1">
                <a:effectLst/>
              </a:rPr>
              <a:t>tinggi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antar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persambungan</a:t>
            </a:r>
            <a:r>
              <a:rPr lang="en-US" sz="2000" dirty="0">
                <a:effectLst/>
              </a:rPr>
              <a:t> dan </a:t>
            </a:r>
            <a:r>
              <a:rPr lang="en-US" sz="2000" dirty="0" err="1">
                <a:effectLst/>
              </a:rPr>
              <a:t>praktis</a:t>
            </a:r>
            <a:br>
              <a:rPr lang="en-US" sz="2000" dirty="0"/>
            </a:br>
            <a:r>
              <a:rPr lang="en-US" sz="2000" dirty="0" err="1">
                <a:effectLst/>
              </a:rPr>
              <a:t>tidak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menghasilkan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aliran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pembawa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muatan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mayoritas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dengan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meningkatnya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potensial</a:t>
            </a:r>
            <a:br>
              <a:rPr lang="en-US" sz="2000" dirty="0"/>
            </a:br>
            <a:r>
              <a:rPr lang="en-US" sz="2000" dirty="0" err="1">
                <a:effectLst/>
              </a:rPr>
              <a:t>sumber</a:t>
            </a:r>
            <a:r>
              <a:rPr lang="en-US" sz="2000" dirty="0">
                <a:effectLst/>
              </a:rPr>
              <a:t>. </a:t>
            </a:r>
            <a:r>
              <a:rPr lang="en-US" sz="2000" dirty="0" err="1">
                <a:effectLst/>
              </a:rPr>
              <a:t>Namun</a:t>
            </a:r>
            <a:r>
              <a:rPr lang="en-US" sz="2000" dirty="0">
                <a:effectLst/>
              </a:rPr>
              <a:t>, </a:t>
            </a:r>
            <a:r>
              <a:rPr lang="en-US" sz="2000" dirty="0" err="1">
                <a:effectLst/>
              </a:rPr>
              <a:t>sejumlah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arus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kebocoran</a:t>
            </a:r>
            <a:r>
              <a:rPr lang="en-US" sz="2000" dirty="0">
                <a:effectLst/>
              </a:rPr>
              <a:t> yang sangat </a:t>
            </a:r>
            <a:r>
              <a:rPr lang="en-US" sz="2000" dirty="0" err="1">
                <a:effectLst/>
              </a:rPr>
              <a:t>kecil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melewati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persambungan</a:t>
            </a:r>
            <a:br>
              <a:rPr lang="en-US" sz="2000" dirty="0"/>
            </a:br>
            <a:r>
              <a:rPr lang="en-US" sz="2000" dirty="0">
                <a:effectLst/>
              </a:rPr>
              <a:t>yang </a:t>
            </a:r>
            <a:r>
              <a:rPr lang="en-US" sz="2000" dirty="0" err="1">
                <a:effectLst/>
              </a:rPr>
              <a:t>dapat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diukur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dalam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orde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mikroampere</a:t>
            </a:r>
            <a:r>
              <a:rPr lang="en-US" sz="2000" dirty="0">
                <a:effectLst/>
              </a:rPr>
              <a:t> (mA).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4726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58A9F9-B5F0-4241-97DD-CC6A9D9CC46B}"/>
              </a:ext>
            </a:extLst>
          </p:cNvPr>
          <p:cNvSpPr txBox="1"/>
          <p:nvPr/>
        </p:nvSpPr>
        <p:spPr>
          <a:xfrm>
            <a:off x="925830" y="874455"/>
            <a:ext cx="984123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</a:rPr>
              <a:t>3. Forward Bias – </a:t>
            </a:r>
            <a:r>
              <a:rPr lang="en-US" sz="2000" dirty="0" err="1">
                <a:effectLst/>
              </a:rPr>
              <a:t>Kondisi</a:t>
            </a:r>
            <a:r>
              <a:rPr lang="en-US" sz="2000" dirty="0">
                <a:effectLst/>
              </a:rPr>
              <a:t> di mana </a:t>
            </a:r>
            <a:r>
              <a:rPr lang="en-US" sz="2000" dirty="0" err="1">
                <a:effectLst/>
              </a:rPr>
              <a:t>kutub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positif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sumber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potensial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eksternal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dihubungkan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ke</a:t>
            </a:r>
            <a:br>
              <a:rPr lang="en-US" sz="2000" dirty="0"/>
            </a:br>
            <a:r>
              <a:rPr lang="en-US" sz="2000" dirty="0" err="1">
                <a:effectLst/>
              </a:rPr>
              <a:t>sisi</a:t>
            </a:r>
            <a:r>
              <a:rPr lang="en-US" sz="2000" dirty="0">
                <a:effectLst/>
              </a:rPr>
              <a:t> P </a:t>
            </a:r>
            <a:r>
              <a:rPr lang="en-US" sz="2000" dirty="0" err="1">
                <a:effectLst/>
              </a:rPr>
              <a:t>dioda</a:t>
            </a:r>
            <a:r>
              <a:rPr lang="en-US" sz="2000" dirty="0">
                <a:effectLst/>
              </a:rPr>
              <a:t> dan </a:t>
            </a:r>
            <a:r>
              <a:rPr lang="en-US" sz="2000" dirty="0" err="1">
                <a:effectLst/>
              </a:rPr>
              <a:t>kutub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negatif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sumber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potensial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eksternal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dihubungkan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ke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sisi</a:t>
            </a:r>
            <a:r>
              <a:rPr lang="en-US" sz="2000" dirty="0">
                <a:effectLst/>
              </a:rPr>
              <a:t> N </a:t>
            </a:r>
            <a:r>
              <a:rPr lang="en-US" sz="2000" dirty="0" err="1">
                <a:effectLst/>
              </a:rPr>
              <a:t>dioda</a:t>
            </a:r>
            <a:r>
              <a:rPr lang="en-US" sz="2000" dirty="0">
                <a:effectLst/>
              </a:rPr>
              <a:t>.</a:t>
            </a:r>
          </a:p>
          <a:p>
            <a:br>
              <a:rPr lang="en-US" sz="2000" dirty="0"/>
            </a:br>
            <a:r>
              <a:rPr lang="en-US" sz="2000" dirty="0" err="1">
                <a:effectLst/>
              </a:rPr>
              <a:t>Kondisi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ini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menghasilkan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suatu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nilai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resistansi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persambungan</a:t>
            </a:r>
            <a:r>
              <a:rPr lang="en-US" sz="2000" dirty="0">
                <a:effectLst/>
              </a:rPr>
              <a:t> P – N yang sangat </a:t>
            </a:r>
            <a:r>
              <a:rPr lang="en-US" sz="2000" dirty="0" err="1">
                <a:effectLst/>
              </a:rPr>
              <a:t>rendah</a:t>
            </a:r>
            <a:br>
              <a:rPr lang="en-US" sz="2000" dirty="0"/>
            </a:br>
            <a:r>
              <a:rPr lang="en-US" sz="2000" dirty="0" err="1">
                <a:effectLst/>
              </a:rPr>
              <a:t>sehingga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memungkinkan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arus</a:t>
            </a:r>
            <a:r>
              <a:rPr lang="en-US" sz="2000" dirty="0">
                <a:effectLst/>
              </a:rPr>
              <a:t> yang sangat </a:t>
            </a:r>
            <a:r>
              <a:rPr lang="en-US" sz="2000" dirty="0" err="1">
                <a:effectLst/>
              </a:rPr>
              <a:t>besar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mengalir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walaupun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hanya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dengan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potensial</a:t>
            </a:r>
            <a:br>
              <a:rPr lang="en-US" sz="2000" dirty="0"/>
            </a:br>
            <a:r>
              <a:rPr lang="en-US" sz="2000" dirty="0" err="1">
                <a:effectLst/>
              </a:rPr>
              <a:t>sumber</a:t>
            </a:r>
            <a:r>
              <a:rPr lang="en-US" sz="2000" dirty="0">
                <a:effectLst/>
              </a:rPr>
              <a:t> yang </a:t>
            </a:r>
            <a:r>
              <a:rPr lang="en-US" sz="2000" dirty="0" err="1">
                <a:effectLst/>
              </a:rPr>
              <a:t>relatif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kecil</a:t>
            </a:r>
            <a:r>
              <a:rPr lang="en-US" sz="2000" dirty="0">
                <a:effectLst/>
              </a:rPr>
              <a:t>. </a:t>
            </a:r>
            <a:r>
              <a:rPr lang="en-US" sz="2000" dirty="0" err="1">
                <a:effectLst/>
              </a:rPr>
              <a:t>Perbedaan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potensial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aktual</a:t>
            </a:r>
            <a:r>
              <a:rPr lang="en-US" sz="2000" dirty="0">
                <a:effectLst/>
              </a:rPr>
              <a:t> yang </a:t>
            </a:r>
            <a:r>
              <a:rPr lang="en-US" sz="2000" dirty="0" err="1">
                <a:effectLst/>
              </a:rPr>
              <a:t>timbul</a:t>
            </a:r>
            <a:r>
              <a:rPr lang="en-US" sz="2000" dirty="0">
                <a:effectLst/>
              </a:rPr>
              <a:t> pada </a:t>
            </a:r>
            <a:r>
              <a:rPr lang="en-US" sz="2000" dirty="0" err="1">
                <a:effectLst/>
              </a:rPr>
              <a:t>kedua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ujung</a:t>
            </a:r>
            <a:br>
              <a:rPr lang="en-US" sz="2000" dirty="0"/>
            </a:br>
            <a:r>
              <a:rPr lang="en-US" sz="2000" dirty="0" err="1">
                <a:effectLst/>
              </a:rPr>
              <a:t>persambungan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dioda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bernilai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tetap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akibat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aksi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dari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lapisan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deplesi</a:t>
            </a:r>
            <a:r>
              <a:rPr lang="en-US" sz="2000" dirty="0">
                <a:effectLst/>
              </a:rPr>
              <a:t> yang </a:t>
            </a:r>
            <a:r>
              <a:rPr lang="en-US" sz="2000" dirty="0" err="1">
                <a:effectLst/>
              </a:rPr>
              <a:t>bernilai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sekitar</a:t>
            </a:r>
            <a:br>
              <a:rPr lang="en-US" sz="2000" dirty="0"/>
            </a:br>
            <a:r>
              <a:rPr lang="en-US" sz="2000" dirty="0">
                <a:effectLst/>
              </a:rPr>
              <a:t>0,3 V </a:t>
            </a:r>
            <a:r>
              <a:rPr lang="en-US" sz="2000" dirty="0" err="1">
                <a:effectLst/>
              </a:rPr>
              <a:t>untuk</a:t>
            </a:r>
            <a:r>
              <a:rPr lang="en-US" sz="2000" dirty="0">
                <a:effectLst/>
              </a:rPr>
              <a:t> germanium dan 0,7 V </a:t>
            </a:r>
            <a:r>
              <a:rPr lang="en-US" sz="2000" dirty="0" err="1">
                <a:effectLst/>
              </a:rPr>
              <a:t>untuk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silikon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AC0ED-77A1-408E-8F35-2332DE9F6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0" y="3429000"/>
            <a:ext cx="5558790" cy="24780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2AF835-2593-43C8-A435-8A0804F3C9A6}"/>
              </a:ext>
            </a:extLst>
          </p:cNvPr>
          <p:cNvSpPr txBox="1"/>
          <p:nvPr/>
        </p:nvSpPr>
        <p:spPr>
          <a:xfrm>
            <a:off x="2797493" y="6124694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Arial" panose="020B0604020202020204" pitchFamily="34" charset="0"/>
              </a:rPr>
              <a:t>Gambar 2. </a:t>
            </a:r>
            <a:r>
              <a:rPr lang="en-US" dirty="0" err="1">
                <a:effectLst/>
                <a:latin typeface="Arial" panose="020B0604020202020204" pitchFamily="34" charset="0"/>
              </a:rPr>
              <a:t>Kondisi</a:t>
            </a:r>
            <a:r>
              <a:rPr lang="en-US" dirty="0">
                <a:effectLst/>
                <a:latin typeface="Arial" panose="020B0604020202020204" pitchFamily="34" charset="0"/>
              </a:rPr>
              <a:t> forward bias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941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7655C1-67B5-41FD-AEE5-C1EDB2B1EA21}"/>
              </a:ext>
            </a:extLst>
          </p:cNvPr>
          <p:cNvSpPr txBox="1"/>
          <p:nvPr/>
        </p:nvSpPr>
        <p:spPr>
          <a:xfrm>
            <a:off x="1712595" y="1434525"/>
            <a:ext cx="876681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</a:rPr>
              <a:t>Telah </a:t>
            </a:r>
            <a:r>
              <a:rPr lang="en-US" sz="2000" dirty="0" err="1">
                <a:effectLst/>
              </a:rPr>
              <a:t>dibahas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sebelumnya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bahwa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dioda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menahan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arus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dalam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kondisi</a:t>
            </a:r>
            <a:r>
              <a:rPr lang="en-US" sz="2000" dirty="0">
                <a:effectLst/>
              </a:rPr>
              <a:t> reverse bias dan </a:t>
            </a:r>
            <a:r>
              <a:rPr lang="en-US" sz="2000" dirty="0" err="1">
                <a:effectLst/>
              </a:rPr>
              <a:t>akan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menghasilkan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kerusakan</a:t>
            </a:r>
            <a:r>
              <a:rPr lang="en-US" sz="2000" dirty="0">
                <a:effectLst/>
              </a:rPr>
              <a:t> (breakdown) </a:t>
            </a:r>
            <a:r>
              <a:rPr lang="en-US" sz="2000" dirty="0" err="1">
                <a:effectLst/>
              </a:rPr>
              <a:t>bila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tegangan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balik</a:t>
            </a:r>
            <a:r>
              <a:rPr lang="en-US" sz="2000" dirty="0">
                <a:effectLst/>
              </a:rPr>
              <a:t> yang </a:t>
            </a:r>
            <a:r>
              <a:rPr lang="en-US" sz="2000" dirty="0" err="1">
                <a:effectLst/>
              </a:rPr>
              <a:t>diberikan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terlalu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besar</a:t>
            </a:r>
            <a:r>
              <a:rPr lang="en-US" sz="2000" dirty="0">
                <a:effectLst/>
              </a:rPr>
              <a:t>.</a:t>
            </a:r>
            <a:br>
              <a:rPr lang="en-US" sz="2000" dirty="0"/>
            </a:br>
            <a:r>
              <a:rPr lang="en-US" sz="2000" dirty="0" err="1">
                <a:effectLst/>
              </a:rPr>
              <a:t>Berbeda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halnya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dengan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dioda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zener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atau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biasa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disebut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dioda</a:t>
            </a:r>
            <a:r>
              <a:rPr lang="en-US" sz="2000" dirty="0">
                <a:effectLst/>
              </a:rPr>
              <a:t> breakdown, pada </a:t>
            </a:r>
            <a:r>
              <a:rPr lang="en-US" sz="2000" dirty="0" err="1">
                <a:effectLst/>
              </a:rPr>
              <a:t>dasarnya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sama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dengan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dioda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sambungan</a:t>
            </a:r>
            <a:r>
              <a:rPr lang="en-US" sz="2000" dirty="0">
                <a:effectLst/>
              </a:rPr>
              <a:t> P – N </a:t>
            </a:r>
            <a:r>
              <a:rPr lang="en-US" sz="2000" dirty="0" err="1">
                <a:effectLst/>
              </a:rPr>
              <a:t>standar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kecuali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dirancang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secara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khusus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menghasilkan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tegangan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balik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atau</a:t>
            </a:r>
            <a:r>
              <a:rPr lang="en-US" sz="2000" dirty="0">
                <a:effectLst/>
              </a:rPr>
              <a:t> breakdown yang </a:t>
            </a:r>
            <a:r>
              <a:rPr lang="en-US" sz="2000" dirty="0" err="1">
                <a:effectLst/>
              </a:rPr>
              <a:t>lebih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rendah</a:t>
            </a:r>
            <a:r>
              <a:rPr lang="en-US" sz="2000" dirty="0">
                <a:effectLst/>
              </a:rPr>
              <a:t> dan </a:t>
            </a:r>
            <a:r>
              <a:rPr lang="en-US" sz="2000" dirty="0" err="1">
                <a:effectLst/>
              </a:rPr>
              <a:t>relatif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konstan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sehingga</a:t>
            </a:r>
            <a:r>
              <a:rPr lang="en-US" sz="2000" dirty="0">
                <a:effectLst/>
              </a:rPr>
              <a:t> sangat </a:t>
            </a:r>
            <a:r>
              <a:rPr lang="en-US" sz="2000" dirty="0" err="1">
                <a:effectLst/>
              </a:rPr>
              <a:t>baik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digunakan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dalam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arah</a:t>
            </a:r>
            <a:r>
              <a:rPr lang="en-US" sz="2000" dirty="0">
                <a:effectLst/>
              </a:rPr>
              <a:t> reverse bias </a:t>
            </a:r>
            <a:r>
              <a:rPr lang="en-US" sz="2000" dirty="0" err="1">
                <a:effectLst/>
              </a:rPr>
              <a:t>sebagai</a:t>
            </a:r>
            <a:r>
              <a:rPr lang="en-US" sz="2000" dirty="0">
                <a:effectLst/>
              </a:rPr>
              <a:t> regulator </a:t>
            </a:r>
            <a:r>
              <a:rPr lang="en-US" sz="2000" dirty="0" err="1">
                <a:effectLst/>
              </a:rPr>
              <a:t>tegangan</a:t>
            </a:r>
            <a:r>
              <a:rPr lang="en-US" sz="2000" dirty="0">
                <a:effectLst/>
              </a:rPr>
              <a:t>. </a:t>
            </a:r>
          </a:p>
          <a:p>
            <a:r>
              <a:rPr lang="en-US" sz="2000" dirty="0" err="1">
                <a:effectLst/>
              </a:rPr>
              <a:t>Titik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dimana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dioda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zener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mengalami</a:t>
            </a:r>
            <a:r>
              <a:rPr lang="en-US" sz="2000" dirty="0">
                <a:effectLst/>
              </a:rPr>
              <a:t> breakdown </a:t>
            </a:r>
            <a:r>
              <a:rPr lang="en-US" sz="2000" dirty="0" err="1">
                <a:effectLst/>
              </a:rPr>
              <a:t>atau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konduksi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disebut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tegangan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zener</a:t>
            </a:r>
            <a:r>
              <a:rPr lang="en-US" sz="2000" dirty="0">
                <a:effectLst/>
              </a:rPr>
              <a:t> ”VZ”.</a:t>
            </a:r>
            <a:br>
              <a:rPr lang="en-US" sz="2000" dirty="0"/>
            </a:br>
            <a:r>
              <a:rPr lang="en-US" sz="2000" dirty="0" err="1">
                <a:effectLst/>
              </a:rPr>
              <a:t>Kurva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karakteristik</a:t>
            </a:r>
            <a:r>
              <a:rPr lang="en-US" sz="2000" dirty="0">
                <a:effectLst/>
              </a:rPr>
              <a:t> diode </a:t>
            </a:r>
            <a:r>
              <a:rPr lang="en-US" sz="2000" dirty="0" err="1">
                <a:effectLst/>
              </a:rPr>
              <a:t>ditunjukkan</a:t>
            </a:r>
            <a:r>
              <a:rPr lang="en-US" sz="2000" dirty="0">
                <a:effectLst/>
              </a:rPr>
              <a:t> oleh Gambar 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26903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D169B1-407C-4441-AC64-019D9752C510}"/>
              </a:ext>
            </a:extLst>
          </p:cNvPr>
          <p:cNvSpPr txBox="1"/>
          <p:nvPr/>
        </p:nvSpPr>
        <p:spPr>
          <a:xfrm>
            <a:off x="901148" y="587060"/>
            <a:ext cx="993913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Diode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elektronika</a:t>
            </a:r>
            <a:r>
              <a:rPr lang="en-US" dirty="0"/>
              <a:t> </a:t>
            </a:r>
            <a:r>
              <a:rPr lang="en-US" dirty="0" err="1"/>
              <a:t>berkutub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P-N Junction yang </a:t>
            </a:r>
            <a:r>
              <a:rPr lang="en-US" dirty="0" err="1"/>
              <a:t>terbuat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bahan</a:t>
            </a:r>
            <a:r>
              <a:rPr lang="en-US" dirty="0"/>
              <a:t> </a:t>
            </a:r>
            <a:r>
              <a:rPr lang="en-US" dirty="0" err="1"/>
              <a:t>semikonduktor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Si, dan Ge. Kaki-</a:t>
            </a:r>
            <a:r>
              <a:rPr lang="en-US" dirty="0" err="1"/>
              <a:t>kakinya</a:t>
            </a:r>
            <a:r>
              <a:rPr lang="en-US" dirty="0"/>
              <a:t> </a:t>
            </a:r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anoda</a:t>
            </a:r>
            <a:r>
              <a:rPr lang="en-US" dirty="0"/>
              <a:t> (A)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kutub</a:t>
            </a:r>
            <a:r>
              <a:rPr lang="en-US" dirty="0"/>
              <a:t> </a:t>
            </a:r>
            <a:r>
              <a:rPr lang="en-US" dirty="0" err="1"/>
              <a:t>positif</a:t>
            </a:r>
            <a:r>
              <a:rPr lang="en-US" dirty="0"/>
              <a:t> dan </a:t>
            </a:r>
            <a:r>
              <a:rPr lang="en-US" dirty="0" err="1"/>
              <a:t>katoda</a:t>
            </a:r>
            <a:r>
              <a:rPr lang="en-US" dirty="0"/>
              <a:t> (K)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kutub</a:t>
            </a:r>
            <a:r>
              <a:rPr lang="en-US" dirty="0"/>
              <a:t> </a:t>
            </a:r>
            <a:r>
              <a:rPr lang="en-US" dirty="0" err="1"/>
              <a:t>negatif</a:t>
            </a:r>
            <a:r>
              <a:rPr lang="en-US" dirty="0"/>
              <a:t>.</a:t>
            </a:r>
          </a:p>
          <a:p>
            <a:r>
              <a:rPr lang="en-US" dirty="0" err="1"/>
              <a:t>Kurva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diode </a:t>
            </a:r>
            <a:r>
              <a:rPr lang="en-US" dirty="0" err="1"/>
              <a:t>ditunjukkan</a:t>
            </a:r>
            <a:r>
              <a:rPr lang="en-US" dirty="0"/>
              <a:t> oleh Gambar 3.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a). </a:t>
            </a:r>
            <a:r>
              <a:rPr lang="en-US" dirty="0" err="1"/>
              <a:t>Kurva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 ideal                            b). </a:t>
            </a:r>
            <a:r>
              <a:rPr lang="en-US" dirty="0" err="1"/>
              <a:t>Kurva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</a:t>
            </a:r>
            <a:r>
              <a:rPr lang="en-US" dirty="0" err="1"/>
              <a:t>riil</a:t>
            </a:r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Gambar 3.  </a:t>
            </a:r>
            <a:r>
              <a:rPr lang="en-US" dirty="0" err="1"/>
              <a:t>Kurva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Si dan </a:t>
            </a:r>
            <a:r>
              <a:rPr lang="en-US" dirty="0" err="1"/>
              <a:t>dioda</a:t>
            </a:r>
            <a:r>
              <a:rPr lang="en-US" dirty="0"/>
              <a:t> 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BA22CB-D803-4029-A25A-F5D48A8EC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722" y="2578501"/>
            <a:ext cx="6877878" cy="257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758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6286F5-DD7C-469C-A8FF-4B6EBA8ECB81}"/>
              </a:ext>
            </a:extLst>
          </p:cNvPr>
          <p:cNvSpPr txBox="1"/>
          <p:nvPr/>
        </p:nvSpPr>
        <p:spPr>
          <a:xfrm>
            <a:off x="728871" y="1031656"/>
            <a:ext cx="1106556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Dari </a:t>
            </a:r>
            <a:r>
              <a:rPr lang="en-US" sz="2400" dirty="0" err="1"/>
              <a:t>kurva</a:t>
            </a:r>
            <a:r>
              <a:rPr lang="en-US" sz="2400" dirty="0"/>
              <a:t> Gambar 3.a (</a:t>
            </a:r>
            <a:r>
              <a:rPr lang="en-US" sz="2400" dirty="0" err="1"/>
              <a:t>kurva</a:t>
            </a:r>
            <a:r>
              <a:rPr lang="en-US" sz="2400" dirty="0"/>
              <a:t> ideal) </a:t>
            </a:r>
            <a:r>
              <a:rPr lang="en-US" sz="2400" dirty="0" err="1"/>
              <a:t>terlihat</a:t>
            </a:r>
            <a:r>
              <a:rPr lang="en-US" sz="2400" dirty="0"/>
              <a:t> </a:t>
            </a:r>
            <a:r>
              <a:rPr lang="en-US" sz="2400" dirty="0" err="1"/>
              <a:t>bahwa</a:t>
            </a:r>
            <a:r>
              <a:rPr lang="en-US" sz="2400" dirty="0"/>
              <a:t>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mendapat</a:t>
            </a:r>
            <a:r>
              <a:rPr lang="en-US" sz="2400" dirty="0"/>
              <a:t> forward  bias, VF ,  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mengalir</a:t>
            </a:r>
            <a:r>
              <a:rPr lang="en-US" sz="2400" dirty="0"/>
              <a:t> forward current, IF . Pada </a:t>
            </a:r>
            <a:r>
              <a:rPr lang="en-US" sz="2400" dirty="0" err="1"/>
              <a:t>kondisi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berfungsi</a:t>
            </a:r>
            <a:r>
              <a:rPr lang="en-US" sz="2400" dirty="0"/>
              <a:t> 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sakelar</a:t>
            </a:r>
            <a:r>
              <a:rPr lang="en-US" sz="2400" dirty="0"/>
              <a:t> </a:t>
            </a:r>
            <a:r>
              <a:rPr lang="en-US" sz="2400" dirty="0" err="1"/>
              <a:t>tertutup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ON dan </a:t>
            </a:r>
            <a:r>
              <a:rPr lang="en-US" sz="2400" dirty="0" err="1"/>
              <a:t>dinyatakan</a:t>
            </a:r>
            <a:r>
              <a:rPr lang="en-US" sz="2400" dirty="0"/>
              <a:t> </a:t>
            </a:r>
            <a:r>
              <a:rPr lang="en-US" sz="2400" dirty="0" err="1"/>
              <a:t>konduksi</a:t>
            </a:r>
            <a:r>
              <a:rPr lang="en-US" sz="2400" dirty="0"/>
              <a:t> </a:t>
            </a:r>
            <a:r>
              <a:rPr lang="en-US" sz="2400" dirty="0" err="1"/>
              <a:t>penuh</a:t>
            </a:r>
            <a:r>
              <a:rPr lang="en-US" sz="2400" dirty="0"/>
              <a:t>. Jika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mendapat</a:t>
            </a:r>
            <a:r>
              <a:rPr lang="en-US" sz="2400" dirty="0"/>
              <a:t> reverse  bias, VR , 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arus</a:t>
            </a:r>
            <a:r>
              <a:rPr lang="en-US" sz="2400" dirty="0"/>
              <a:t> yang </a:t>
            </a:r>
            <a:r>
              <a:rPr lang="en-US" sz="2400" dirty="0" err="1"/>
              <a:t>mengalir</a:t>
            </a:r>
            <a:r>
              <a:rPr lang="en-US" sz="2400" dirty="0"/>
              <a:t> (IR = 0). Pada </a:t>
            </a:r>
            <a:r>
              <a:rPr lang="en-US" sz="2400" dirty="0" err="1"/>
              <a:t>kondisi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berfungsi</a:t>
            </a:r>
            <a:r>
              <a:rPr lang="en-US" sz="2400" dirty="0"/>
              <a:t> 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sakelar</a:t>
            </a:r>
            <a:r>
              <a:rPr lang="en-US" sz="2400" dirty="0"/>
              <a:t> </a:t>
            </a:r>
            <a:r>
              <a:rPr lang="en-US" sz="2400" dirty="0" err="1"/>
              <a:t>terbuka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OFF dan </a:t>
            </a:r>
            <a:r>
              <a:rPr lang="en-US" sz="2400" dirty="0" err="1"/>
              <a:t>dinyatakan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konduksi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Dari </a:t>
            </a:r>
            <a:r>
              <a:rPr lang="en-US" sz="2400" dirty="0" err="1"/>
              <a:t>kurva</a:t>
            </a:r>
            <a:r>
              <a:rPr lang="en-US" sz="2400" dirty="0"/>
              <a:t> Gambar 3.b </a:t>
            </a:r>
            <a:r>
              <a:rPr lang="en-US" sz="2400" dirty="0" err="1"/>
              <a:t>terlihat</a:t>
            </a:r>
            <a:r>
              <a:rPr lang="en-US" sz="2400" dirty="0"/>
              <a:t> </a:t>
            </a:r>
            <a:r>
              <a:rPr lang="en-US" sz="2400" dirty="0" err="1"/>
              <a:t>bahwa</a:t>
            </a:r>
            <a:r>
              <a:rPr lang="en-US" sz="2400" dirty="0"/>
              <a:t>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mendapat</a:t>
            </a:r>
            <a:r>
              <a:rPr lang="en-US" sz="2400" dirty="0"/>
              <a:t> forward bias, </a:t>
            </a:r>
            <a:r>
              <a:rPr lang="en-US" sz="2400" dirty="0" err="1"/>
              <a:t>dimana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 VF &lt; VT  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masih</a:t>
            </a:r>
            <a:r>
              <a:rPr lang="en-US" sz="2400" dirty="0"/>
              <a:t> OFF. </a:t>
            </a:r>
            <a:r>
              <a:rPr lang="en-US" sz="2400" dirty="0" err="1"/>
              <a:t>Walaupun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arus</a:t>
            </a:r>
            <a:r>
              <a:rPr lang="en-US" sz="2400" dirty="0"/>
              <a:t> yang </a:t>
            </a:r>
            <a:r>
              <a:rPr lang="en-US" sz="2400" dirty="0" err="1"/>
              <a:t>mengalir</a:t>
            </a:r>
            <a:r>
              <a:rPr lang="en-US" sz="2400" dirty="0"/>
              <a:t>, </a:t>
            </a:r>
            <a:r>
              <a:rPr lang="en-US" sz="2400" dirty="0" err="1"/>
              <a:t>arus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sangatlah</a:t>
            </a:r>
            <a:r>
              <a:rPr lang="en-US" sz="2400" dirty="0"/>
              <a:t> </a:t>
            </a:r>
            <a:r>
              <a:rPr lang="en-US" sz="2400" dirty="0" err="1"/>
              <a:t>kecil</a:t>
            </a:r>
            <a:r>
              <a:rPr lang="en-US" sz="2400" dirty="0"/>
              <a:t> dan </a:t>
            </a:r>
            <a:r>
              <a:rPr lang="en-US" sz="2400" dirty="0" err="1"/>
              <a:t>disebut</a:t>
            </a:r>
            <a:r>
              <a:rPr lang="en-US" sz="2400" dirty="0"/>
              <a:t> </a:t>
            </a:r>
            <a:r>
              <a:rPr lang="en-US" sz="2400" dirty="0" err="1"/>
              <a:t>arus</a:t>
            </a:r>
            <a:r>
              <a:rPr lang="en-US" sz="2400" dirty="0"/>
              <a:t> </a:t>
            </a:r>
            <a:r>
              <a:rPr lang="en-US" sz="2400" dirty="0" err="1"/>
              <a:t>maju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konduksi</a:t>
            </a:r>
            <a:r>
              <a:rPr lang="en-US" sz="2400" dirty="0"/>
              <a:t>. </a:t>
            </a:r>
            <a:r>
              <a:rPr lang="en-US" sz="2400" dirty="0" err="1"/>
              <a:t>Besarnya</a:t>
            </a:r>
            <a:r>
              <a:rPr lang="en-US" sz="2400" dirty="0"/>
              <a:t> </a:t>
            </a:r>
            <a:r>
              <a:rPr lang="en-US" sz="2400" dirty="0" err="1"/>
              <a:t>tegangan</a:t>
            </a:r>
            <a:r>
              <a:rPr lang="en-US" sz="2400" dirty="0"/>
              <a:t> VT = 0,7 V (Si) dan VT = 0,3 V (Ge). Jika </a:t>
            </a:r>
            <a:r>
              <a:rPr lang="en-US" sz="2400" dirty="0" err="1"/>
              <a:t>tegangan</a:t>
            </a:r>
            <a:r>
              <a:rPr lang="en-US" sz="2400" dirty="0"/>
              <a:t> VF &gt; VT  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dioda</a:t>
            </a:r>
            <a:r>
              <a:rPr lang="en-US" sz="2400" dirty="0"/>
              <a:t> ON dan </a:t>
            </a:r>
            <a:r>
              <a:rPr lang="en-US" sz="2400" dirty="0" err="1"/>
              <a:t>arus</a:t>
            </a:r>
            <a:r>
              <a:rPr lang="en-US" sz="2400" dirty="0"/>
              <a:t> IF </a:t>
            </a:r>
            <a:r>
              <a:rPr lang="en-US" sz="2400" dirty="0" err="1"/>
              <a:t>mengalir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A </a:t>
            </a:r>
            <a:r>
              <a:rPr lang="en-US" sz="2400" dirty="0" err="1"/>
              <a:t>ke</a:t>
            </a:r>
            <a:r>
              <a:rPr lang="en-US" sz="2400" dirty="0"/>
              <a:t> K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besar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kenaikan</a:t>
            </a:r>
            <a:r>
              <a:rPr lang="en-US" sz="2400" dirty="0"/>
              <a:t> yang linier. </a:t>
            </a:r>
            <a:r>
              <a:rPr lang="en-US" sz="2400" dirty="0" err="1"/>
              <a:t>Sedangkan</a:t>
            </a:r>
            <a:r>
              <a:rPr lang="en-US" sz="2400" dirty="0"/>
              <a:t> </a:t>
            </a:r>
            <a:r>
              <a:rPr lang="en-US" sz="2400" dirty="0" err="1"/>
              <a:t>saat</a:t>
            </a:r>
            <a:r>
              <a:rPr lang="en-US" sz="2400" dirty="0"/>
              <a:t>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mendapat</a:t>
            </a:r>
            <a:r>
              <a:rPr lang="en-US" sz="2400" dirty="0"/>
              <a:t> reverse bias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mengalir</a:t>
            </a:r>
            <a:r>
              <a:rPr lang="en-US" sz="2400" dirty="0"/>
              <a:t> reverse current (IR). </a:t>
            </a:r>
            <a:r>
              <a:rPr lang="en-US" sz="2400" dirty="0" err="1"/>
              <a:t>Arus</a:t>
            </a:r>
            <a:r>
              <a:rPr lang="en-US" sz="2400" dirty="0"/>
              <a:t> IR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disebut</a:t>
            </a:r>
            <a:r>
              <a:rPr lang="en-US" sz="2400" dirty="0"/>
              <a:t> juga </a:t>
            </a:r>
            <a:r>
              <a:rPr lang="en-US" sz="2400" dirty="0" err="1"/>
              <a:t>arus</a:t>
            </a:r>
            <a:r>
              <a:rPr lang="en-US" sz="2400" dirty="0"/>
              <a:t> bocor </a:t>
            </a:r>
            <a:r>
              <a:rPr lang="en-US" sz="2400" dirty="0" err="1"/>
              <a:t>dioda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6116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FF888C-B8B1-499C-B2EA-4C6057CABECD}"/>
              </a:ext>
            </a:extLst>
          </p:cNvPr>
          <p:cNvSpPr txBox="1"/>
          <p:nvPr/>
        </p:nvSpPr>
        <p:spPr>
          <a:xfrm>
            <a:off x="1169670" y="1031647"/>
            <a:ext cx="98526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Pada </a:t>
            </a:r>
            <a:r>
              <a:rPr lang="en-US" dirty="0" err="1"/>
              <a:t>kondisi</a:t>
            </a:r>
            <a:r>
              <a:rPr lang="en-US" dirty="0"/>
              <a:t>  ON  </a:t>
            </a:r>
            <a:r>
              <a:rPr lang="en-US" dirty="0" err="1"/>
              <a:t>dioda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tahanan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static resistance dan </a:t>
            </a:r>
            <a:r>
              <a:rPr lang="en-US" dirty="0" err="1"/>
              <a:t>dinamic</a:t>
            </a:r>
            <a:r>
              <a:rPr lang="en-US" dirty="0"/>
              <a:t> resistance. Static resistance di </a:t>
            </a:r>
            <a:r>
              <a:rPr lang="en-US" dirty="0" err="1"/>
              <a:t>peroleh</a:t>
            </a:r>
            <a:r>
              <a:rPr lang="en-US" dirty="0"/>
              <a:t>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</a:t>
            </a:r>
            <a:r>
              <a:rPr lang="en-US" dirty="0" err="1"/>
              <a:t>bekerja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DC,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dinamic</a:t>
            </a:r>
            <a:r>
              <a:rPr lang="en-US" dirty="0"/>
              <a:t> resistance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</a:t>
            </a:r>
            <a:r>
              <a:rPr lang="en-US" dirty="0" err="1"/>
              <a:t>bekerja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AC.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tahanan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relatif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dan </a:t>
            </a:r>
            <a:r>
              <a:rPr lang="en-US" dirty="0" err="1"/>
              <a:t>dinyatakan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(1.1) dan </a:t>
            </a:r>
            <a:r>
              <a:rPr lang="en-US" dirty="0" err="1"/>
              <a:t>persamaan</a:t>
            </a:r>
            <a:r>
              <a:rPr lang="en-US" dirty="0"/>
              <a:t> (1.2)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C293CA-068B-49DD-91D1-3CBEFAE4D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57" y="3078261"/>
            <a:ext cx="5119290" cy="701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">
            <a:extLst>
              <a:ext uri="{FF2B5EF4-FFF2-40B4-BE49-F238E27FC236}">
                <a16:creationId xmlns:a16="http://schemas.microsoft.com/office/drawing/2014/main" id="{F922BD7D-62C0-4F8D-AB1D-57E48BFD6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7239" y="4626023"/>
            <a:ext cx="5208125" cy="660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93F7B1-2F34-4040-9E71-FE4D051B9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3075" y="2342173"/>
            <a:ext cx="3367565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Static resistance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D710DA-6847-436B-AE75-2F1D0B852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9263" y="3862626"/>
            <a:ext cx="6782753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r>
              <a:rPr kumimoji="0" lang="id-ID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ynamic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resistance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B85D7B-A99E-4BA5-920D-D249A83CF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84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DDB922-814A-4559-8D22-6BBF46EDB39F}"/>
              </a:ext>
            </a:extLst>
          </p:cNvPr>
          <p:cNvSpPr txBox="1"/>
          <p:nvPr/>
        </p:nvSpPr>
        <p:spPr>
          <a:xfrm>
            <a:off x="1714500" y="2080528"/>
            <a:ext cx="894968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Pada </a:t>
            </a:r>
            <a:r>
              <a:rPr lang="en-US" sz="2400" dirty="0" err="1"/>
              <a:t>kondisi</a:t>
            </a:r>
            <a:r>
              <a:rPr lang="en-US" sz="2400" dirty="0"/>
              <a:t> reverse bias  </a:t>
            </a:r>
            <a:r>
              <a:rPr lang="en-US" sz="2400" dirty="0" err="1"/>
              <a:t>terdapat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 reverse resistance (RR). Pada </a:t>
            </a:r>
            <a:r>
              <a:rPr lang="en-US" sz="2400" dirty="0" err="1"/>
              <a:t>dioda</a:t>
            </a:r>
            <a:r>
              <a:rPr lang="en-US" sz="2400" dirty="0"/>
              <a:t> Ge </a:t>
            </a:r>
            <a:r>
              <a:rPr lang="en-US" sz="2400" dirty="0" err="1"/>
              <a:t>nilainya</a:t>
            </a:r>
            <a:r>
              <a:rPr lang="en-US" sz="2400" dirty="0"/>
              <a:t> </a:t>
            </a:r>
            <a:r>
              <a:rPr lang="en-US" sz="2400" dirty="0" err="1"/>
              <a:t>relatif</a:t>
            </a:r>
            <a:r>
              <a:rPr lang="en-US" sz="2400" dirty="0"/>
              <a:t>  </a:t>
            </a:r>
            <a:r>
              <a:rPr lang="en-US" sz="2400" dirty="0" err="1"/>
              <a:t>besar</a:t>
            </a:r>
            <a:r>
              <a:rPr lang="en-US" sz="2400" dirty="0"/>
              <a:t> (ordo </a:t>
            </a:r>
            <a:r>
              <a:rPr lang="en-US" sz="2400" dirty="0" err="1"/>
              <a:t>ratusan</a:t>
            </a:r>
            <a:r>
              <a:rPr lang="en-US" sz="2400" dirty="0"/>
              <a:t> kilo ohm) dan pada </a:t>
            </a:r>
            <a:r>
              <a:rPr lang="en-US" sz="2400" dirty="0" err="1"/>
              <a:t>dioda</a:t>
            </a:r>
            <a:r>
              <a:rPr lang="en-US" sz="2400" dirty="0"/>
              <a:t> Si </a:t>
            </a:r>
            <a:r>
              <a:rPr lang="en-US" sz="2400" dirty="0" err="1"/>
              <a:t>relatif</a:t>
            </a:r>
            <a:r>
              <a:rPr lang="en-US" sz="2400" dirty="0"/>
              <a:t> sangat </a:t>
            </a:r>
            <a:r>
              <a:rPr lang="en-US" sz="2400" dirty="0" err="1"/>
              <a:t>besar</a:t>
            </a:r>
            <a:r>
              <a:rPr lang="en-US" sz="2400" dirty="0"/>
              <a:t> (ordo mega ohm).</a:t>
            </a:r>
          </a:p>
          <a:p>
            <a:endParaRPr lang="en-US" sz="2400" dirty="0"/>
          </a:p>
          <a:p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kedua</a:t>
            </a:r>
            <a:r>
              <a:rPr lang="en-US" sz="2400" dirty="0"/>
              <a:t> </a:t>
            </a:r>
            <a:r>
              <a:rPr lang="en-US" sz="2400" dirty="0" err="1"/>
              <a:t>kondisi</a:t>
            </a:r>
            <a:r>
              <a:rPr lang="en-US" sz="2400" dirty="0"/>
              <a:t> </a:t>
            </a:r>
            <a:r>
              <a:rPr lang="en-US" sz="2400" dirty="0" err="1"/>
              <a:t>pencatuan</a:t>
            </a:r>
            <a:r>
              <a:rPr lang="en-US" sz="2400" dirty="0"/>
              <a:t>,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resistansi</a:t>
            </a:r>
            <a:r>
              <a:rPr lang="en-US" sz="2400" dirty="0"/>
              <a:t> </a:t>
            </a:r>
            <a:r>
              <a:rPr lang="en-US" sz="2400" dirty="0" err="1"/>
              <a:t>berubah</a:t>
            </a:r>
            <a:r>
              <a:rPr lang="en-US" sz="2400" dirty="0"/>
              <a:t> </a:t>
            </a:r>
            <a:r>
              <a:rPr lang="en-US" sz="2400" dirty="0" err="1"/>
              <a:t>mengikuti</a:t>
            </a:r>
            <a:r>
              <a:rPr lang="en-US" sz="2400" dirty="0"/>
              <a:t> </a:t>
            </a:r>
            <a:r>
              <a:rPr lang="en-US" sz="2400" dirty="0" err="1"/>
              <a:t>perubahan</a:t>
            </a:r>
            <a:r>
              <a:rPr lang="en-US" sz="2400" dirty="0"/>
              <a:t> temperature. Jika temperature </a:t>
            </a:r>
            <a:r>
              <a:rPr lang="en-US" sz="2400" dirty="0" err="1"/>
              <a:t>dioda</a:t>
            </a:r>
            <a:r>
              <a:rPr lang="en-US" sz="2400" dirty="0"/>
              <a:t> naik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resistansi</a:t>
            </a:r>
            <a:r>
              <a:rPr lang="en-US" sz="2400" dirty="0"/>
              <a:t>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turun</a:t>
            </a:r>
            <a:r>
              <a:rPr lang="en-US" sz="2400" dirty="0"/>
              <a:t>. Jika </a:t>
            </a:r>
            <a:r>
              <a:rPr lang="en-US" sz="2400" dirty="0" err="1"/>
              <a:t>temperatur</a:t>
            </a:r>
            <a:r>
              <a:rPr lang="en-US" sz="2400" dirty="0"/>
              <a:t>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turun</a:t>
            </a:r>
            <a:r>
              <a:rPr lang="en-US" sz="2400" dirty="0"/>
              <a:t>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resistansi</a:t>
            </a:r>
            <a:r>
              <a:rPr lang="en-US" sz="2400" dirty="0"/>
              <a:t>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naik.</a:t>
            </a:r>
          </a:p>
        </p:txBody>
      </p:sp>
    </p:spTree>
    <p:extLst>
      <p:ext uri="{BB962C8B-B14F-4D97-AF65-F5344CB8AC3E}">
        <p14:creationId xmlns:p14="http://schemas.microsoft.com/office/powerpoint/2010/main" val="1591396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06A9A5-1B82-465E-8FE6-1BF9DE0AE9CC}"/>
              </a:ext>
            </a:extLst>
          </p:cNvPr>
          <p:cNvSpPr txBox="1"/>
          <p:nvPr/>
        </p:nvSpPr>
        <p:spPr>
          <a:xfrm>
            <a:off x="2464118" y="1930867"/>
            <a:ext cx="7512367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DC			: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Multimeter	Analog 		  	: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Multimeter Digital			            : 3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Si, 1N4007 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persamaannya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: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Diode Ge , AA118			            :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Resistor    100 ohm/ 5 W	           	            :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Papan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percobaan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(protoboard)		: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Kabel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penghubung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secukupnya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8E4F4C-D33E-4EFE-AB3E-55DC21C2579B}"/>
              </a:ext>
            </a:extLst>
          </p:cNvPr>
          <p:cNvSpPr txBox="1"/>
          <p:nvPr/>
        </p:nvSpPr>
        <p:spPr>
          <a:xfrm>
            <a:off x="2464118" y="1469202"/>
            <a:ext cx="6097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4.   Alat dan </a:t>
            </a:r>
            <a:r>
              <a:rPr lang="en-US" sz="2400" dirty="0" err="1"/>
              <a:t>Komponen</a:t>
            </a:r>
            <a:r>
              <a:rPr lang="en-US" sz="2400" dirty="0"/>
              <a:t> yang </a:t>
            </a:r>
            <a:r>
              <a:rPr lang="en-US" sz="2400" dirty="0" err="1"/>
              <a:t>Digunakan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03527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C725C8-26F7-4662-A35C-8B7936219BC2}"/>
              </a:ext>
            </a:extLst>
          </p:cNvPr>
          <p:cNvSpPr txBox="1"/>
          <p:nvPr/>
        </p:nvSpPr>
        <p:spPr>
          <a:xfrm>
            <a:off x="800100" y="1813173"/>
            <a:ext cx="10069829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5.  Langkah – Langkah </a:t>
            </a:r>
            <a:r>
              <a:rPr lang="en-US" sz="2400" dirty="0" err="1"/>
              <a:t>Percobaan</a:t>
            </a:r>
            <a:endParaRPr lang="en-US" sz="2400" dirty="0"/>
          </a:p>
          <a:p>
            <a:endParaRPr lang="en-US" dirty="0"/>
          </a:p>
          <a:p>
            <a:r>
              <a:rPr lang="en-US" dirty="0"/>
              <a:t>A.  </a:t>
            </a:r>
            <a:r>
              <a:rPr lang="en-US" dirty="0" err="1"/>
              <a:t>Karakteristik</a:t>
            </a:r>
            <a:r>
              <a:rPr lang="en-US" dirty="0"/>
              <a:t> Diode </a:t>
            </a:r>
            <a:r>
              <a:rPr lang="en-US" dirty="0" err="1"/>
              <a:t>Silikon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Maju</a:t>
            </a:r>
            <a:endParaRPr lang="en-US" dirty="0"/>
          </a:p>
          <a:p>
            <a:r>
              <a:rPr lang="en-US" dirty="0"/>
              <a:t>1.  </a:t>
            </a:r>
            <a:r>
              <a:rPr lang="en-US" dirty="0" err="1"/>
              <a:t>Susunlah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 </a:t>
            </a:r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yang </a:t>
            </a:r>
            <a:r>
              <a:rPr lang="en-US" dirty="0" err="1"/>
              <a:t>ditunjukan</a:t>
            </a:r>
            <a:r>
              <a:rPr lang="en-US" dirty="0"/>
              <a:t> pada Gambar 4.</a:t>
            </a:r>
          </a:p>
          <a:p>
            <a:r>
              <a:rPr lang="en-US" dirty="0"/>
              <a:t>2.  </a:t>
            </a:r>
            <a:r>
              <a:rPr lang="en-US" dirty="0" err="1"/>
              <a:t>Atur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Vs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jepit</a:t>
            </a:r>
            <a:r>
              <a:rPr lang="en-US" dirty="0"/>
              <a:t> diode VF =  0,1 Volt. </a:t>
            </a:r>
          </a:p>
          <a:p>
            <a:r>
              <a:rPr lang="en-US" dirty="0"/>
              <a:t>3.  </a:t>
            </a:r>
            <a:r>
              <a:rPr lang="en-US" dirty="0" err="1"/>
              <a:t>Ukurlah</a:t>
            </a:r>
            <a:r>
              <a:rPr lang="en-US" dirty="0"/>
              <a:t>  </a:t>
            </a:r>
            <a:r>
              <a:rPr lang="en-US" dirty="0" err="1"/>
              <a:t>tegangan</a:t>
            </a:r>
            <a:r>
              <a:rPr lang="en-US" dirty="0"/>
              <a:t> Vs, VRL dan IF, </a:t>
            </a:r>
            <a:r>
              <a:rPr lang="en-US" dirty="0" err="1"/>
              <a:t>catat</a:t>
            </a:r>
            <a:r>
              <a:rPr lang="en-US" dirty="0"/>
              <a:t> </a:t>
            </a:r>
            <a:r>
              <a:rPr lang="en-US" dirty="0" err="1"/>
              <a:t>hasilnya</a:t>
            </a:r>
            <a:r>
              <a:rPr lang="en-US" dirty="0"/>
              <a:t> pada </a:t>
            </a:r>
            <a:r>
              <a:rPr lang="en-US" dirty="0" err="1"/>
              <a:t>Tabel</a:t>
            </a:r>
            <a:r>
              <a:rPr lang="en-US" dirty="0"/>
              <a:t> 1.1</a:t>
            </a:r>
          </a:p>
          <a:p>
            <a:r>
              <a:rPr lang="en-US" dirty="0"/>
              <a:t>4.  </a:t>
            </a:r>
            <a:r>
              <a:rPr lang="en-US" dirty="0" err="1"/>
              <a:t>Ulangi</a:t>
            </a:r>
            <a:r>
              <a:rPr lang="en-US" dirty="0"/>
              <a:t> </a:t>
            </a:r>
            <a:r>
              <a:rPr lang="en-US" dirty="0" err="1"/>
              <a:t>langkah</a:t>
            </a:r>
            <a:r>
              <a:rPr lang="en-US" dirty="0"/>
              <a:t> 2 dan 3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VF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tertulis</a:t>
            </a:r>
            <a:r>
              <a:rPr lang="en-US" dirty="0"/>
              <a:t> pada  Table 1.1. </a:t>
            </a:r>
          </a:p>
          <a:p>
            <a:r>
              <a:rPr lang="en-US" dirty="0"/>
              <a:t>5.  </a:t>
            </a:r>
            <a:r>
              <a:rPr lang="en-US" dirty="0" err="1"/>
              <a:t>Hitung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 Rf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VF dan IF. </a:t>
            </a:r>
            <a:r>
              <a:rPr lang="en-US" dirty="0" err="1"/>
              <a:t>Catat</a:t>
            </a:r>
            <a:r>
              <a:rPr lang="en-US" dirty="0"/>
              <a:t> </a:t>
            </a:r>
            <a:r>
              <a:rPr lang="en-US" dirty="0" err="1"/>
              <a:t>hasilnya</a:t>
            </a:r>
            <a:r>
              <a:rPr lang="en-US" dirty="0"/>
              <a:t> pada </a:t>
            </a:r>
            <a:r>
              <a:rPr lang="en-US" dirty="0" err="1"/>
              <a:t>Tabel</a:t>
            </a:r>
            <a:r>
              <a:rPr lang="en-US" dirty="0"/>
              <a:t> 1.1</a:t>
            </a:r>
          </a:p>
          <a:p>
            <a:r>
              <a:rPr lang="en-US" dirty="0"/>
              <a:t>6.  </a:t>
            </a:r>
            <a:r>
              <a:rPr lang="en-US" dirty="0" err="1"/>
              <a:t>Naikkan</a:t>
            </a:r>
            <a:r>
              <a:rPr lang="en-US" dirty="0"/>
              <a:t> temperature diode, 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memegang</a:t>
            </a:r>
            <a:r>
              <a:rPr lang="en-US" dirty="0"/>
              <a:t> diode (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menyentuh</a:t>
            </a:r>
            <a:r>
              <a:rPr lang="en-US" dirty="0"/>
              <a:t> kaki-kaki </a:t>
            </a:r>
            <a:r>
              <a:rPr lang="en-US" dirty="0" err="1"/>
              <a:t>diodanya</a:t>
            </a:r>
            <a:r>
              <a:rPr lang="en-US" dirty="0"/>
              <a:t>)    </a:t>
            </a:r>
          </a:p>
          <a:p>
            <a:r>
              <a:rPr lang="en-US" dirty="0"/>
              <a:t>    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jari-tangan</a:t>
            </a:r>
            <a:r>
              <a:rPr lang="en-US" dirty="0"/>
              <a:t>. </a:t>
            </a:r>
            <a:r>
              <a:rPr lang="en-US" dirty="0" err="1"/>
              <a:t>Perhatikan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yang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/</a:t>
            </a:r>
            <a:r>
              <a:rPr lang="en-US" dirty="0" err="1"/>
              <a:t>tegangan</a:t>
            </a:r>
            <a:r>
              <a:rPr lang="en-US" dirty="0"/>
              <a:t> (IF dan VF)</a:t>
            </a:r>
          </a:p>
          <a:p>
            <a:r>
              <a:rPr lang="en-US" dirty="0"/>
              <a:t>7.  </a:t>
            </a:r>
            <a:r>
              <a:rPr lang="en-US" dirty="0" err="1"/>
              <a:t>Gambarkan</a:t>
            </a:r>
            <a:r>
              <a:rPr lang="en-US" dirty="0"/>
              <a:t> </a:t>
            </a:r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kurva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forward bias </a:t>
            </a:r>
            <a:r>
              <a:rPr lang="en-US" dirty="0" err="1"/>
              <a:t>antara</a:t>
            </a:r>
            <a:r>
              <a:rPr lang="en-US" dirty="0"/>
              <a:t> VF vs IF </a:t>
            </a:r>
            <a:r>
              <a:rPr lang="en-US" dirty="0" err="1"/>
              <a:t>dari</a:t>
            </a:r>
            <a:r>
              <a:rPr lang="en-US" dirty="0"/>
              <a:t> data </a:t>
            </a:r>
            <a:r>
              <a:rPr lang="en-US" dirty="0" err="1"/>
              <a:t>Tabel</a:t>
            </a:r>
            <a:r>
              <a:rPr lang="en-US" dirty="0"/>
              <a:t> 1.1</a:t>
            </a:r>
          </a:p>
        </p:txBody>
      </p:sp>
    </p:spTree>
    <p:extLst>
      <p:ext uri="{BB962C8B-B14F-4D97-AF65-F5344CB8AC3E}">
        <p14:creationId xmlns:p14="http://schemas.microsoft.com/office/powerpoint/2010/main" val="231728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478DB1-FA47-4E7B-8696-03A656C06540}"/>
              </a:ext>
            </a:extLst>
          </p:cNvPr>
          <p:cNvSpPr txBox="1"/>
          <p:nvPr/>
        </p:nvSpPr>
        <p:spPr>
          <a:xfrm>
            <a:off x="1337310" y="1582341"/>
            <a:ext cx="10629899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lphaUcPeriod" startAt="2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Karakteristik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Diode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Silikon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Mundur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Susunlah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rangkaian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percobaan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Gambar 5.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jepit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diode VR = - 1 Volt.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Vs, VRL dan IR.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hasilnya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Table 1.2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Ulangi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langkah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 dan 10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tertulis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1.2.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Hitung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resitansi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VR dan IR.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Table 1.2.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Ulangi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langkah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Gambarkan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karakteristik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diode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mundur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VR vs IR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1.2.</a:t>
            </a:r>
          </a:p>
        </p:txBody>
      </p:sp>
    </p:spTree>
    <p:extLst>
      <p:ext uri="{BB962C8B-B14F-4D97-AF65-F5344CB8AC3E}">
        <p14:creationId xmlns:p14="http://schemas.microsoft.com/office/powerpoint/2010/main" val="4070104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4D1909-21F6-4109-AD41-33E2037844F4}"/>
              </a:ext>
            </a:extLst>
          </p:cNvPr>
          <p:cNvSpPr txBox="1"/>
          <p:nvPr/>
        </p:nvSpPr>
        <p:spPr>
          <a:xfrm>
            <a:off x="1666875" y="461919"/>
            <a:ext cx="885825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Karakteristik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Germanium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Ulangi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langkah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A.1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A.7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Ge.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1.3.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Karakteristik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Germanium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Mundur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 startAt="16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Ulangi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langkah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8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14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1.4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lphaUcPeriod" startAt="5"/>
            </a:pPr>
            <a:r>
              <a:rPr lang="en-US" dirty="0" err="1">
                <a:effectLst/>
                <a:latin typeface="Arial" panose="020B0604020202020204" pitchFamily="34" charset="0"/>
              </a:rPr>
              <a:t>Karakteristik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dirty="0">
                <a:effectLst/>
                <a:latin typeface="Arial" panose="020B0604020202020204" pitchFamily="34" charset="0"/>
              </a:rPr>
              <a:t> Zener </a:t>
            </a:r>
            <a:r>
              <a:rPr lang="en-US" dirty="0" err="1">
                <a:effectLst/>
                <a:latin typeface="Arial" panose="020B0604020202020204" pitchFamily="34" charset="0"/>
              </a:rPr>
              <a:t>Arah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Maju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</a:p>
          <a:p>
            <a:r>
              <a:rPr lang="en-US" sz="1600" dirty="0">
                <a:effectLst/>
                <a:latin typeface="Arial" panose="020B0604020202020204" pitchFamily="34" charset="0"/>
              </a:rPr>
              <a:t>17.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Ulangi</a:t>
            </a:r>
            <a:r>
              <a:rPr lang="en-US" sz="1600" dirty="0">
                <a:effectLst/>
                <a:latin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langkah</a:t>
            </a:r>
            <a:r>
              <a:rPr lang="en-US" sz="1600" dirty="0">
                <a:effectLst/>
                <a:latin typeface="Arial" panose="020B0604020202020204" pitchFamily="34" charset="0"/>
              </a:rPr>
              <a:t> A.1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s.d</a:t>
            </a:r>
            <a:r>
              <a:rPr lang="en-US" sz="1600" dirty="0">
                <a:effectLst/>
                <a:latin typeface="Arial" panose="020B0604020202020204" pitchFamily="34" charset="0"/>
              </a:rPr>
              <a:t> A.7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untuk</a:t>
            </a:r>
            <a:r>
              <a:rPr lang="en-US" sz="1600" dirty="0">
                <a:effectLst/>
                <a:latin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sz="1600" dirty="0">
                <a:effectLst/>
                <a:latin typeface="Arial" panose="020B0604020202020204" pitchFamily="34" charset="0"/>
              </a:rPr>
              <a:t> Ge.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Catat</a:t>
            </a:r>
            <a:r>
              <a:rPr lang="en-US" sz="1600" dirty="0">
                <a:effectLst/>
                <a:latin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hasilnya</a:t>
            </a:r>
            <a:r>
              <a:rPr lang="en-US" sz="1600" dirty="0">
                <a:effectLst/>
                <a:latin typeface="Arial" panose="020B0604020202020204" pitchFamily="34" charset="0"/>
              </a:rPr>
              <a:t> pada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Tabel</a:t>
            </a:r>
            <a:r>
              <a:rPr lang="en-US" sz="1600" dirty="0">
                <a:effectLst/>
                <a:latin typeface="Arial" panose="020B0604020202020204" pitchFamily="34" charset="0"/>
              </a:rPr>
              <a:t> 1.5.</a:t>
            </a:r>
          </a:p>
          <a:p>
            <a:pPr marL="342900" indent="-342900">
              <a:buAutoNum type="alphaUcPeriod" startAt="5"/>
            </a:pPr>
            <a:endParaRPr lang="en-US" sz="16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Arial" panose="020B0604020202020204" pitchFamily="34" charset="0"/>
              </a:rPr>
              <a:t>F.  </a:t>
            </a:r>
            <a:r>
              <a:rPr lang="en-US" dirty="0" err="1">
                <a:effectLst/>
                <a:latin typeface="Arial" panose="020B0604020202020204" pitchFamily="34" charset="0"/>
              </a:rPr>
              <a:t>Karakteristik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dirty="0">
                <a:effectLst/>
                <a:latin typeface="Arial" panose="020B0604020202020204" pitchFamily="34" charset="0"/>
              </a:rPr>
              <a:t> Zener </a:t>
            </a:r>
            <a:r>
              <a:rPr lang="en-US" dirty="0" err="1">
                <a:effectLst/>
                <a:latin typeface="Arial" panose="020B0604020202020204" pitchFamily="34" charset="0"/>
              </a:rPr>
              <a:t>Arah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Mundur</a:t>
            </a:r>
            <a:endParaRPr lang="en-US" sz="1600" dirty="0">
              <a:effectLst/>
              <a:latin typeface="Arial" panose="020B0604020202020204" pitchFamily="34" charset="0"/>
            </a:endParaRPr>
          </a:p>
          <a:p>
            <a:r>
              <a:rPr lang="en-US" sz="1600" dirty="0">
                <a:effectLst/>
                <a:latin typeface="Arial" panose="020B0604020202020204" pitchFamily="34" charset="0"/>
              </a:rPr>
              <a:t>18.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Ulangi</a:t>
            </a:r>
            <a:r>
              <a:rPr lang="en-US" sz="1600" dirty="0">
                <a:effectLst/>
                <a:latin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langkah</a:t>
            </a:r>
            <a:r>
              <a:rPr lang="en-US" sz="1600" dirty="0">
                <a:effectLst/>
                <a:latin typeface="Arial" panose="020B0604020202020204" pitchFamily="34" charset="0"/>
              </a:rPr>
              <a:t> B 8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s.d</a:t>
            </a:r>
            <a:r>
              <a:rPr lang="en-US" sz="1600" dirty="0">
                <a:effectLst/>
                <a:latin typeface="Arial" panose="020B0604020202020204" pitchFamily="34" charset="0"/>
              </a:rPr>
              <a:t> B 14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untuk</a:t>
            </a:r>
            <a:r>
              <a:rPr lang="en-US" sz="1600" dirty="0">
                <a:effectLst/>
                <a:latin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sz="1600" dirty="0">
                <a:effectLst/>
                <a:latin typeface="Arial" panose="020B0604020202020204" pitchFamily="34" charset="0"/>
              </a:rPr>
              <a:t> Zener.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Catat</a:t>
            </a:r>
            <a:r>
              <a:rPr lang="en-US" sz="1600" dirty="0">
                <a:effectLst/>
                <a:latin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hasilnya</a:t>
            </a:r>
            <a:r>
              <a:rPr lang="en-US" sz="1600" dirty="0">
                <a:effectLst/>
                <a:latin typeface="Arial" panose="020B0604020202020204" pitchFamily="34" charset="0"/>
              </a:rPr>
              <a:t> pada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Tabel</a:t>
            </a:r>
            <a:r>
              <a:rPr lang="en-US" sz="1600" dirty="0">
                <a:effectLst/>
                <a:latin typeface="Arial" panose="020B0604020202020204" pitchFamily="34" charset="0"/>
              </a:rPr>
              <a:t> 1.6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5206E-24F8-458C-8F3F-84F77CD2241E}"/>
              </a:ext>
            </a:extLst>
          </p:cNvPr>
          <p:cNvSpPr txBox="1"/>
          <p:nvPr/>
        </p:nvSpPr>
        <p:spPr>
          <a:xfrm>
            <a:off x="1088708" y="4047893"/>
            <a:ext cx="6097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6. Gambar </a:t>
            </a:r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Percobaan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49F92B-CACB-45D6-948A-81F2E65B8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998" y="4424572"/>
            <a:ext cx="3609524" cy="15714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0514C9-C358-4313-A174-C93F4317B2B9}"/>
              </a:ext>
            </a:extLst>
          </p:cNvPr>
          <p:cNvSpPr txBox="1"/>
          <p:nvPr/>
        </p:nvSpPr>
        <p:spPr>
          <a:xfrm>
            <a:off x="1227998" y="6026749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Gambar 4.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Si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Maju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F66C0D-08D2-4D06-9812-5F690CE7E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107" y="4417225"/>
            <a:ext cx="3714286" cy="16095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510BFDA-5F65-4E79-9273-94DE016F18F0}"/>
              </a:ext>
            </a:extLst>
          </p:cNvPr>
          <p:cNvSpPr txBox="1"/>
          <p:nvPr/>
        </p:nvSpPr>
        <p:spPr>
          <a:xfrm>
            <a:off x="5956936" y="6026749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Gambar 5.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Si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Mundur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571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B1329-782E-12F9-A2C4-954234FB7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92552E-9CA0-0A04-E6F7-D34A2AFC9B65}"/>
              </a:ext>
            </a:extLst>
          </p:cNvPr>
          <p:cNvSpPr txBox="1"/>
          <p:nvPr/>
        </p:nvSpPr>
        <p:spPr>
          <a:xfrm>
            <a:off x="1666875" y="461919"/>
            <a:ext cx="885825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Karakteristik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Germanium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Ulangi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langkah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A.1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A.7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Ge.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1.3.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Karakteristik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Germanium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Mundur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 startAt="16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Ulangi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langkah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8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14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1.4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lphaUcPeriod" startAt="5"/>
            </a:pPr>
            <a:r>
              <a:rPr lang="en-US" dirty="0" err="1">
                <a:effectLst/>
                <a:latin typeface="Arial" panose="020B0604020202020204" pitchFamily="34" charset="0"/>
              </a:rPr>
              <a:t>Karakteristik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dirty="0">
                <a:effectLst/>
                <a:latin typeface="Arial" panose="020B0604020202020204" pitchFamily="34" charset="0"/>
              </a:rPr>
              <a:t> Zener </a:t>
            </a:r>
            <a:r>
              <a:rPr lang="en-US" dirty="0" err="1">
                <a:effectLst/>
                <a:latin typeface="Arial" panose="020B0604020202020204" pitchFamily="34" charset="0"/>
              </a:rPr>
              <a:t>Arah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Maju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</a:p>
          <a:p>
            <a:r>
              <a:rPr lang="en-US" sz="1600" dirty="0">
                <a:effectLst/>
                <a:latin typeface="Arial" panose="020B0604020202020204" pitchFamily="34" charset="0"/>
              </a:rPr>
              <a:t>17.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Ulangi</a:t>
            </a:r>
            <a:r>
              <a:rPr lang="en-US" sz="1600" dirty="0">
                <a:effectLst/>
                <a:latin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langkah</a:t>
            </a:r>
            <a:r>
              <a:rPr lang="en-US" sz="1600" dirty="0">
                <a:effectLst/>
                <a:latin typeface="Arial" panose="020B0604020202020204" pitchFamily="34" charset="0"/>
              </a:rPr>
              <a:t> A.1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s.d</a:t>
            </a:r>
            <a:r>
              <a:rPr lang="en-US" sz="1600" dirty="0">
                <a:effectLst/>
                <a:latin typeface="Arial" panose="020B0604020202020204" pitchFamily="34" charset="0"/>
              </a:rPr>
              <a:t> A.7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untuk</a:t>
            </a:r>
            <a:r>
              <a:rPr lang="en-US" sz="1600" dirty="0">
                <a:effectLst/>
                <a:latin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sz="1600" dirty="0">
                <a:effectLst/>
                <a:latin typeface="Arial" panose="020B0604020202020204" pitchFamily="34" charset="0"/>
              </a:rPr>
              <a:t> Ge.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Catat</a:t>
            </a:r>
            <a:r>
              <a:rPr lang="en-US" sz="1600" dirty="0">
                <a:effectLst/>
                <a:latin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hasilnya</a:t>
            </a:r>
            <a:r>
              <a:rPr lang="en-US" sz="1600" dirty="0">
                <a:effectLst/>
                <a:latin typeface="Arial" panose="020B0604020202020204" pitchFamily="34" charset="0"/>
              </a:rPr>
              <a:t> pada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Tabel</a:t>
            </a:r>
            <a:r>
              <a:rPr lang="en-US" sz="1600" dirty="0">
                <a:effectLst/>
                <a:latin typeface="Arial" panose="020B0604020202020204" pitchFamily="34" charset="0"/>
              </a:rPr>
              <a:t> 1.5.</a:t>
            </a:r>
          </a:p>
          <a:p>
            <a:pPr marL="342900" indent="-342900">
              <a:buAutoNum type="alphaUcPeriod" startAt="5"/>
            </a:pPr>
            <a:endParaRPr lang="en-US" sz="16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Arial" panose="020B0604020202020204" pitchFamily="34" charset="0"/>
              </a:rPr>
              <a:t>F.  </a:t>
            </a:r>
            <a:r>
              <a:rPr lang="en-US" dirty="0" err="1">
                <a:effectLst/>
                <a:latin typeface="Arial" panose="020B0604020202020204" pitchFamily="34" charset="0"/>
              </a:rPr>
              <a:t>Karakteristik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dirty="0">
                <a:effectLst/>
                <a:latin typeface="Arial" panose="020B0604020202020204" pitchFamily="34" charset="0"/>
              </a:rPr>
              <a:t> Zener </a:t>
            </a:r>
            <a:r>
              <a:rPr lang="en-US" dirty="0" err="1">
                <a:effectLst/>
                <a:latin typeface="Arial" panose="020B0604020202020204" pitchFamily="34" charset="0"/>
              </a:rPr>
              <a:t>Arah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Mundur</a:t>
            </a:r>
            <a:endParaRPr lang="en-US" sz="1600" dirty="0">
              <a:effectLst/>
              <a:latin typeface="Arial" panose="020B0604020202020204" pitchFamily="34" charset="0"/>
            </a:endParaRPr>
          </a:p>
          <a:p>
            <a:r>
              <a:rPr lang="en-US" sz="1600" dirty="0">
                <a:effectLst/>
                <a:latin typeface="Arial" panose="020B0604020202020204" pitchFamily="34" charset="0"/>
              </a:rPr>
              <a:t>18.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Ulangi</a:t>
            </a:r>
            <a:r>
              <a:rPr lang="en-US" sz="1600" dirty="0">
                <a:effectLst/>
                <a:latin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langkah</a:t>
            </a:r>
            <a:r>
              <a:rPr lang="en-US" sz="1600" dirty="0">
                <a:effectLst/>
                <a:latin typeface="Arial" panose="020B0604020202020204" pitchFamily="34" charset="0"/>
              </a:rPr>
              <a:t> B 8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s.d</a:t>
            </a:r>
            <a:r>
              <a:rPr lang="en-US" sz="1600" dirty="0">
                <a:effectLst/>
                <a:latin typeface="Arial" panose="020B0604020202020204" pitchFamily="34" charset="0"/>
              </a:rPr>
              <a:t> B 14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untuk</a:t>
            </a:r>
            <a:r>
              <a:rPr lang="en-US" sz="1600" dirty="0">
                <a:effectLst/>
                <a:latin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sz="1600" dirty="0">
                <a:effectLst/>
                <a:latin typeface="Arial" panose="020B0604020202020204" pitchFamily="34" charset="0"/>
              </a:rPr>
              <a:t> Zener.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Catat</a:t>
            </a:r>
            <a:r>
              <a:rPr lang="en-US" sz="1600" dirty="0">
                <a:effectLst/>
                <a:latin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hasilnya</a:t>
            </a:r>
            <a:r>
              <a:rPr lang="en-US" sz="1600" dirty="0">
                <a:effectLst/>
                <a:latin typeface="Arial" panose="020B0604020202020204" pitchFamily="34" charset="0"/>
              </a:rPr>
              <a:t> pada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Tabel</a:t>
            </a:r>
            <a:r>
              <a:rPr lang="en-US" sz="1600" dirty="0">
                <a:effectLst/>
                <a:latin typeface="Arial" panose="020B0604020202020204" pitchFamily="34" charset="0"/>
              </a:rPr>
              <a:t> 1.6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8F632-994D-C129-3F96-FD53A8EF09AC}"/>
              </a:ext>
            </a:extLst>
          </p:cNvPr>
          <p:cNvSpPr txBox="1"/>
          <p:nvPr/>
        </p:nvSpPr>
        <p:spPr>
          <a:xfrm>
            <a:off x="1088708" y="4047893"/>
            <a:ext cx="6097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6. Gambar </a:t>
            </a:r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Percobaan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5EAA85-6705-3132-05D0-CED2C885E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998" y="4424572"/>
            <a:ext cx="3609524" cy="15714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FF80CF-A135-0FA7-F05C-616EAC5844F5}"/>
              </a:ext>
            </a:extLst>
          </p:cNvPr>
          <p:cNvSpPr txBox="1"/>
          <p:nvPr/>
        </p:nvSpPr>
        <p:spPr>
          <a:xfrm>
            <a:off x="1227998" y="6026749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Gambar 4.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Si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Maju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7E3379-AC80-BB2C-1247-7E1F74F86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107" y="4417225"/>
            <a:ext cx="3714286" cy="16095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1A3084-596B-E76D-085D-05AA079F39E4}"/>
              </a:ext>
            </a:extLst>
          </p:cNvPr>
          <p:cNvSpPr txBox="1"/>
          <p:nvPr/>
        </p:nvSpPr>
        <p:spPr>
          <a:xfrm>
            <a:off x="5956936" y="6026749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Gambar 5.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Si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Mundur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050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8C0255-2C7B-4DB6-A9C5-5059C4E5FEAD}"/>
              </a:ext>
            </a:extLst>
          </p:cNvPr>
          <p:cNvSpPr txBox="1"/>
          <p:nvPr/>
        </p:nvSpPr>
        <p:spPr>
          <a:xfrm>
            <a:off x="1048703" y="672584"/>
            <a:ext cx="6097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7.  Hasil </a:t>
            </a:r>
            <a:r>
              <a:rPr lang="en-US" sz="2400" dirty="0" err="1"/>
              <a:t>Pengamatan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EBF984-C96A-4477-8AC0-124DC60AAB15}"/>
              </a:ext>
            </a:extLst>
          </p:cNvPr>
          <p:cNvSpPr txBox="1"/>
          <p:nvPr/>
        </p:nvSpPr>
        <p:spPr>
          <a:xfrm>
            <a:off x="1345883" y="1221224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1.1  Data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Si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Maju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A1EABE-09DF-4F4C-8864-033B155CE0C8}"/>
              </a:ext>
            </a:extLst>
          </p:cNvPr>
          <p:cNvSpPr txBox="1"/>
          <p:nvPr/>
        </p:nvSpPr>
        <p:spPr>
          <a:xfrm>
            <a:off x="1345883" y="3974743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Tabel</a:t>
            </a:r>
            <a:r>
              <a:rPr lang="en-US" dirty="0"/>
              <a:t> 1.2  Data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Si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Mundur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2E012B4-1F9C-4450-8008-817AA56C51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749676"/>
              </p:ext>
            </p:extLst>
          </p:nvPr>
        </p:nvGraphicFramePr>
        <p:xfrm>
          <a:off x="1429703" y="4344075"/>
          <a:ext cx="6204904" cy="18413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9371">
                  <a:extLst>
                    <a:ext uri="{9D8B030D-6E8A-4147-A177-3AD203B41FA5}">
                      <a16:colId xmlns:a16="http://schemas.microsoft.com/office/drawing/2014/main" val="2506931612"/>
                    </a:ext>
                  </a:extLst>
                </a:gridCol>
                <a:gridCol w="639064">
                  <a:extLst>
                    <a:ext uri="{9D8B030D-6E8A-4147-A177-3AD203B41FA5}">
                      <a16:colId xmlns:a16="http://schemas.microsoft.com/office/drawing/2014/main" val="4206495922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632726155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3175783982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2145257210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2542684186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132418014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487668854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4431563"/>
                    </a:ext>
                  </a:extLst>
                </a:gridCol>
                <a:gridCol w="579286">
                  <a:extLst>
                    <a:ext uri="{9D8B030D-6E8A-4147-A177-3AD203B41FA5}">
                      <a16:colId xmlns:a16="http://schemas.microsoft.com/office/drawing/2014/main" val="1921061565"/>
                    </a:ext>
                  </a:extLst>
                </a:gridCol>
              </a:tblGrid>
              <a:tr h="38954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V</a:t>
                      </a:r>
                      <a:r>
                        <a:rPr lang="en-US" sz="1200" baseline="-25000" dirty="0">
                          <a:effectLst/>
                        </a:rPr>
                        <a:t>R</a:t>
                      </a:r>
                      <a:r>
                        <a:rPr lang="en-US" sz="1200" dirty="0">
                          <a:effectLst/>
                        </a:rPr>
                        <a:t> (V)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0335188"/>
                  </a:ext>
                </a:extLst>
              </a:tr>
              <a:tr h="35789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S</a:t>
                      </a:r>
                      <a:r>
                        <a:rPr lang="en-US" sz="1200">
                          <a:effectLst/>
                        </a:rPr>
                        <a:t>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9029125"/>
                  </a:ext>
                </a:extLst>
              </a:tr>
              <a:tr h="35701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RL</a:t>
                      </a:r>
                      <a:r>
                        <a:rPr lang="en-US" sz="1200">
                          <a:effectLst/>
                        </a:rPr>
                        <a:t>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1353819"/>
                  </a:ext>
                </a:extLst>
              </a:tr>
              <a:tr h="37020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</a:t>
                      </a:r>
                      <a:r>
                        <a:rPr lang="en-US" sz="1200" baseline="-25000">
                          <a:effectLst/>
                        </a:rPr>
                        <a:t>R</a:t>
                      </a:r>
                      <a:r>
                        <a:rPr lang="en-US" sz="1200">
                          <a:effectLst/>
                        </a:rPr>
                        <a:t>(mA)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2326580"/>
                  </a:ext>
                </a:extLst>
              </a:tr>
              <a:tr h="36668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R</a:t>
                      </a:r>
                      <a:r>
                        <a:rPr lang="en-US" sz="1200" baseline="-25000" dirty="0">
                          <a:effectLst/>
                        </a:rPr>
                        <a:t>R</a:t>
                      </a:r>
                      <a:r>
                        <a:rPr lang="en-US" sz="1200" dirty="0">
                          <a:effectLst/>
                        </a:rPr>
                        <a:t>(W)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535357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3EEE485-0E18-4CD9-9AF2-FEDB46DF0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890322"/>
              </p:ext>
            </p:extLst>
          </p:nvPr>
        </p:nvGraphicFramePr>
        <p:xfrm>
          <a:off x="1429703" y="1705279"/>
          <a:ext cx="6204904" cy="18751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83530">
                  <a:extLst>
                    <a:ext uri="{9D8B030D-6E8A-4147-A177-3AD203B41FA5}">
                      <a16:colId xmlns:a16="http://schemas.microsoft.com/office/drawing/2014/main" val="3198077295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2598614697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2169076371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3861933572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3669487633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163019467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1601726506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1093342890"/>
                    </a:ext>
                  </a:extLst>
                </a:gridCol>
                <a:gridCol w="564341">
                  <a:extLst>
                    <a:ext uri="{9D8B030D-6E8A-4147-A177-3AD203B41FA5}">
                      <a16:colId xmlns:a16="http://schemas.microsoft.com/office/drawing/2014/main" val="2890626560"/>
                    </a:ext>
                  </a:extLst>
                </a:gridCol>
                <a:gridCol w="620562">
                  <a:extLst>
                    <a:ext uri="{9D8B030D-6E8A-4147-A177-3AD203B41FA5}">
                      <a16:colId xmlns:a16="http://schemas.microsoft.com/office/drawing/2014/main" val="2996552693"/>
                    </a:ext>
                  </a:extLst>
                </a:gridCol>
              </a:tblGrid>
              <a:tr h="36217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V</a:t>
                      </a:r>
                      <a:r>
                        <a:rPr lang="en-US" sz="1200" baseline="-25000" dirty="0">
                          <a:effectLst/>
                        </a:rPr>
                        <a:t>F  </a:t>
                      </a:r>
                      <a:r>
                        <a:rPr lang="en-US" sz="1200" dirty="0">
                          <a:effectLst/>
                        </a:rPr>
                        <a:t>(V)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0,3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0,4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0,65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0,75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7397923"/>
                  </a:ext>
                </a:extLst>
              </a:tr>
              <a:tr h="39205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S</a:t>
                      </a:r>
                      <a:r>
                        <a:rPr lang="en-US" sz="1200">
                          <a:effectLst/>
                        </a:rPr>
                        <a:t> 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2908635"/>
                  </a:ext>
                </a:extLst>
              </a:tr>
              <a:tr h="35945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</a:t>
                      </a:r>
                      <a:r>
                        <a:rPr lang="en-US" sz="1200" baseline="-25000">
                          <a:effectLst/>
                        </a:rPr>
                        <a:t>F </a:t>
                      </a:r>
                      <a:r>
                        <a:rPr lang="en-US" sz="1200">
                          <a:effectLst/>
                        </a:rPr>
                        <a:t>(mA)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5527963"/>
                  </a:ext>
                </a:extLst>
              </a:tr>
              <a:tr h="378471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RL </a:t>
                      </a:r>
                      <a:r>
                        <a:rPr lang="en-US" sz="1200">
                          <a:effectLst/>
                        </a:rPr>
                        <a:t>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403363"/>
                  </a:ext>
                </a:extLst>
              </a:tr>
              <a:tr h="382998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R</a:t>
                      </a:r>
                      <a:r>
                        <a:rPr lang="en-US" sz="1200" baseline="-25000">
                          <a:effectLst/>
                        </a:rPr>
                        <a:t>F </a:t>
                      </a:r>
                      <a:r>
                        <a:rPr lang="en-US" sz="1200">
                          <a:effectLst/>
                        </a:rPr>
                        <a:t>(Ω)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2222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3052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D87958-246E-4C17-9654-C29541B84688}"/>
              </a:ext>
            </a:extLst>
          </p:cNvPr>
          <p:cNvSpPr txBox="1"/>
          <p:nvPr/>
        </p:nvSpPr>
        <p:spPr>
          <a:xfrm>
            <a:off x="1060133" y="581144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/>
              <a:t>Tabel 1.3  Data pengukuran karakteristik dioda Ge arah maju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7A4F00-648D-4B75-8290-3B81A0525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706926"/>
              </p:ext>
            </p:extLst>
          </p:nvPr>
        </p:nvGraphicFramePr>
        <p:xfrm>
          <a:off x="1168082" y="1057751"/>
          <a:ext cx="5118417" cy="19140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4157">
                  <a:extLst>
                    <a:ext uri="{9D8B030D-6E8A-4147-A177-3AD203B41FA5}">
                      <a16:colId xmlns:a16="http://schemas.microsoft.com/office/drawing/2014/main" val="2105208781"/>
                    </a:ext>
                  </a:extLst>
                </a:gridCol>
                <a:gridCol w="739696">
                  <a:extLst>
                    <a:ext uri="{9D8B030D-6E8A-4147-A177-3AD203B41FA5}">
                      <a16:colId xmlns:a16="http://schemas.microsoft.com/office/drawing/2014/main" val="166062881"/>
                    </a:ext>
                  </a:extLst>
                </a:gridCol>
                <a:gridCol w="765948">
                  <a:extLst>
                    <a:ext uri="{9D8B030D-6E8A-4147-A177-3AD203B41FA5}">
                      <a16:colId xmlns:a16="http://schemas.microsoft.com/office/drawing/2014/main" val="1343158197"/>
                    </a:ext>
                  </a:extLst>
                </a:gridCol>
                <a:gridCol w="765948">
                  <a:extLst>
                    <a:ext uri="{9D8B030D-6E8A-4147-A177-3AD203B41FA5}">
                      <a16:colId xmlns:a16="http://schemas.microsoft.com/office/drawing/2014/main" val="2746124636"/>
                    </a:ext>
                  </a:extLst>
                </a:gridCol>
                <a:gridCol w="766720">
                  <a:extLst>
                    <a:ext uri="{9D8B030D-6E8A-4147-A177-3AD203B41FA5}">
                      <a16:colId xmlns:a16="http://schemas.microsoft.com/office/drawing/2014/main" val="1891144041"/>
                    </a:ext>
                  </a:extLst>
                </a:gridCol>
                <a:gridCol w="765948">
                  <a:extLst>
                    <a:ext uri="{9D8B030D-6E8A-4147-A177-3AD203B41FA5}">
                      <a16:colId xmlns:a16="http://schemas.microsoft.com/office/drawing/2014/main" val="3039418575"/>
                    </a:ext>
                  </a:extLst>
                </a:gridCol>
              </a:tblGrid>
              <a:tr h="369686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</a:rPr>
                        <a:t>V</a:t>
                      </a:r>
                      <a:r>
                        <a:rPr lang="en-US" sz="1300" baseline="-25000" dirty="0">
                          <a:effectLst/>
                        </a:rPr>
                        <a:t>F  </a:t>
                      </a:r>
                      <a:r>
                        <a:rPr lang="en-US" sz="1300" dirty="0">
                          <a:effectLst/>
                        </a:rPr>
                        <a:t>(V)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</a:rPr>
                        <a:t>0,1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300" dirty="0">
                          <a:effectLst/>
                        </a:rPr>
                        <a:t>0,2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</a:rPr>
                        <a:t>0,2</a:t>
                      </a:r>
                      <a:r>
                        <a:rPr lang="id-ID" sz="1300" dirty="0">
                          <a:effectLst/>
                        </a:rPr>
                        <a:t>5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</a:rPr>
                        <a:t>0,3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</a:rPr>
                        <a:t>0,35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9827092"/>
                  </a:ext>
                </a:extLst>
              </a:tr>
              <a:tr h="400185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</a:rPr>
                        <a:t>V</a:t>
                      </a:r>
                      <a:r>
                        <a:rPr lang="en-US" sz="1300" baseline="-25000" dirty="0">
                          <a:effectLst/>
                        </a:rPr>
                        <a:t>S</a:t>
                      </a:r>
                      <a:r>
                        <a:rPr lang="en-US" sz="1300" dirty="0">
                          <a:effectLst/>
                        </a:rPr>
                        <a:t> (V)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3114339"/>
                  </a:ext>
                </a:extLst>
              </a:tr>
              <a:tr h="36691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</a:rPr>
                        <a:t>I</a:t>
                      </a:r>
                      <a:r>
                        <a:rPr lang="en-US" sz="1300" baseline="-25000" dirty="0">
                          <a:effectLst/>
                        </a:rPr>
                        <a:t>F</a:t>
                      </a:r>
                      <a:r>
                        <a:rPr lang="en-US" sz="1300" dirty="0">
                          <a:effectLst/>
                        </a:rPr>
                        <a:t>(mA)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6368641"/>
                  </a:ext>
                </a:extLst>
              </a:tr>
              <a:tr h="386322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</a:rPr>
                        <a:t>V</a:t>
                      </a:r>
                      <a:r>
                        <a:rPr lang="en-US" sz="1300" baseline="-25000" dirty="0">
                          <a:effectLst/>
                        </a:rPr>
                        <a:t>RL</a:t>
                      </a:r>
                      <a:r>
                        <a:rPr lang="en-US" sz="1300" dirty="0">
                          <a:effectLst/>
                        </a:rPr>
                        <a:t>(V)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0489437"/>
                  </a:ext>
                </a:extLst>
              </a:tr>
              <a:tr h="39094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</a:rPr>
                        <a:t>R</a:t>
                      </a:r>
                      <a:r>
                        <a:rPr lang="en-US" sz="1300" baseline="-25000" dirty="0">
                          <a:effectLst/>
                        </a:rPr>
                        <a:t>F</a:t>
                      </a:r>
                      <a:r>
                        <a:rPr lang="en-US" sz="1300" dirty="0">
                          <a:effectLst/>
                        </a:rPr>
                        <a:t>(W)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345873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AEC1CEA-3835-4BF9-9B62-E484D4506779}"/>
              </a:ext>
            </a:extLst>
          </p:cNvPr>
          <p:cNvSpPr txBox="1"/>
          <p:nvPr/>
        </p:nvSpPr>
        <p:spPr>
          <a:xfrm>
            <a:off x="1060133" y="3244334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/>
              <a:t>Tabel 1.4 Data pengukuran karakteristik dioda Ge arah mundur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9553FB4-4900-4666-97E9-761AC327B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242908"/>
              </p:ext>
            </p:extLst>
          </p:nvPr>
        </p:nvGraphicFramePr>
        <p:xfrm>
          <a:off x="1168082" y="3886200"/>
          <a:ext cx="5644197" cy="13794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1654">
                  <a:extLst>
                    <a:ext uri="{9D8B030D-6E8A-4147-A177-3AD203B41FA5}">
                      <a16:colId xmlns:a16="http://schemas.microsoft.com/office/drawing/2014/main" val="214094704"/>
                    </a:ext>
                  </a:extLst>
                </a:gridCol>
                <a:gridCol w="581315">
                  <a:extLst>
                    <a:ext uri="{9D8B030D-6E8A-4147-A177-3AD203B41FA5}">
                      <a16:colId xmlns:a16="http://schemas.microsoft.com/office/drawing/2014/main" val="1543927583"/>
                    </a:ext>
                  </a:extLst>
                </a:gridCol>
                <a:gridCol w="550890">
                  <a:extLst>
                    <a:ext uri="{9D8B030D-6E8A-4147-A177-3AD203B41FA5}">
                      <a16:colId xmlns:a16="http://schemas.microsoft.com/office/drawing/2014/main" val="3160333544"/>
                    </a:ext>
                  </a:extLst>
                </a:gridCol>
                <a:gridCol w="550243">
                  <a:extLst>
                    <a:ext uri="{9D8B030D-6E8A-4147-A177-3AD203B41FA5}">
                      <a16:colId xmlns:a16="http://schemas.microsoft.com/office/drawing/2014/main" val="883036592"/>
                    </a:ext>
                  </a:extLst>
                </a:gridCol>
                <a:gridCol w="550890">
                  <a:extLst>
                    <a:ext uri="{9D8B030D-6E8A-4147-A177-3AD203B41FA5}">
                      <a16:colId xmlns:a16="http://schemas.microsoft.com/office/drawing/2014/main" val="536488758"/>
                    </a:ext>
                  </a:extLst>
                </a:gridCol>
                <a:gridCol w="550243">
                  <a:extLst>
                    <a:ext uri="{9D8B030D-6E8A-4147-A177-3AD203B41FA5}">
                      <a16:colId xmlns:a16="http://schemas.microsoft.com/office/drawing/2014/main" val="3328277095"/>
                    </a:ext>
                  </a:extLst>
                </a:gridCol>
                <a:gridCol w="550890">
                  <a:extLst>
                    <a:ext uri="{9D8B030D-6E8A-4147-A177-3AD203B41FA5}">
                      <a16:colId xmlns:a16="http://schemas.microsoft.com/office/drawing/2014/main" val="826497872"/>
                    </a:ext>
                  </a:extLst>
                </a:gridCol>
                <a:gridCol w="550243">
                  <a:extLst>
                    <a:ext uri="{9D8B030D-6E8A-4147-A177-3AD203B41FA5}">
                      <a16:colId xmlns:a16="http://schemas.microsoft.com/office/drawing/2014/main" val="376008443"/>
                    </a:ext>
                  </a:extLst>
                </a:gridCol>
                <a:gridCol w="550890">
                  <a:extLst>
                    <a:ext uri="{9D8B030D-6E8A-4147-A177-3AD203B41FA5}">
                      <a16:colId xmlns:a16="http://schemas.microsoft.com/office/drawing/2014/main" val="634811713"/>
                    </a:ext>
                  </a:extLst>
                </a:gridCol>
                <a:gridCol w="526939">
                  <a:extLst>
                    <a:ext uri="{9D8B030D-6E8A-4147-A177-3AD203B41FA5}">
                      <a16:colId xmlns:a16="http://schemas.microsoft.com/office/drawing/2014/main" val="571357852"/>
                    </a:ext>
                  </a:extLst>
                </a:gridCol>
              </a:tblGrid>
              <a:tr h="29183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R</a:t>
                      </a:r>
                      <a:r>
                        <a:rPr lang="en-US" sz="1200">
                          <a:effectLst/>
                        </a:rPr>
                        <a:t> 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5602735"/>
                  </a:ext>
                </a:extLst>
              </a:tr>
              <a:tr h="268118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S</a:t>
                      </a:r>
                      <a:r>
                        <a:rPr lang="en-US" sz="1200">
                          <a:effectLst/>
                        </a:rPr>
                        <a:t>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2518809"/>
                  </a:ext>
                </a:extLst>
              </a:tr>
              <a:tr h="267459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RL</a:t>
                      </a:r>
                      <a:r>
                        <a:rPr lang="en-US" sz="1200">
                          <a:effectLst/>
                        </a:rPr>
                        <a:t>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2584459"/>
                  </a:ext>
                </a:extLst>
              </a:tr>
              <a:tr h="277341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</a:t>
                      </a:r>
                      <a:r>
                        <a:rPr lang="en-US" sz="1200" baseline="-25000">
                          <a:effectLst/>
                        </a:rPr>
                        <a:t>R</a:t>
                      </a:r>
                      <a:r>
                        <a:rPr lang="en-US" sz="1200">
                          <a:effectLst/>
                        </a:rPr>
                        <a:t>(mA)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4841095"/>
                  </a:ext>
                </a:extLst>
              </a:tr>
              <a:tr h="27470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R</a:t>
                      </a:r>
                      <a:r>
                        <a:rPr lang="en-US" sz="1200" baseline="-25000">
                          <a:effectLst/>
                        </a:rPr>
                        <a:t>R</a:t>
                      </a:r>
                      <a:r>
                        <a:rPr lang="en-US" sz="1200">
                          <a:effectLst/>
                        </a:rPr>
                        <a:t>(W)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0756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67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EF541E-61FC-45EA-9BF4-5CDB8F142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637284"/>
              </p:ext>
            </p:extLst>
          </p:nvPr>
        </p:nvGraphicFramePr>
        <p:xfrm>
          <a:off x="1478280" y="1405950"/>
          <a:ext cx="6204904" cy="18751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83530">
                  <a:extLst>
                    <a:ext uri="{9D8B030D-6E8A-4147-A177-3AD203B41FA5}">
                      <a16:colId xmlns:a16="http://schemas.microsoft.com/office/drawing/2014/main" val="1574413774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2267552359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1626972759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2225196542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1852375223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30486333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4273726620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4280797952"/>
                    </a:ext>
                  </a:extLst>
                </a:gridCol>
                <a:gridCol w="564341">
                  <a:extLst>
                    <a:ext uri="{9D8B030D-6E8A-4147-A177-3AD203B41FA5}">
                      <a16:colId xmlns:a16="http://schemas.microsoft.com/office/drawing/2014/main" val="3946187241"/>
                    </a:ext>
                  </a:extLst>
                </a:gridCol>
                <a:gridCol w="620562">
                  <a:extLst>
                    <a:ext uri="{9D8B030D-6E8A-4147-A177-3AD203B41FA5}">
                      <a16:colId xmlns:a16="http://schemas.microsoft.com/office/drawing/2014/main" val="886867977"/>
                    </a:ext>
                  </a:extLst>
                </a:gridCol>
              </a:tblGrid>
              <a:tr h="36217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V</a:t>
                      </a:r>
                      <a:r>
                        <a:rPr lang="en-US" sz="1200" baseline="-25000" dirty="0">
                          <a:effectLst/>
                        </a:rPr>
                        <a:t>F  </a:t>
                      </a:r>
                      <a:r>
                        <a:rPr lang="en-US" sz="1200" dirty="0">
                          <a:effectLst/>
                        </a:rPr>
                        <a:t>(V)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0,3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0,4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0,65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0,75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0135178"/>
                  </a:ext>
                </a:extLst>
              </a:tr>
              <a:tr h="39205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S</a:t>
                      </a:r>
                      <a:r>
                        <a:rPr lang="en-US" sz="1200">
                          <a:effectLst/>
                        </a:rPr>
                        <a:t> 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4900872"/>
                  </a:ext>
                </a:extLst>
              </a:tr>
              <a:tr h="35945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</a:t>
                      </a:r>
                      <a:r>
                        <a:rPr lang="en-US" sz="1200" baseline="-25000">
                          <a:effectLst/>
                        </a:rPr>
                        <a:t>F </a:t>
                      </a:r>
                      <a:r>
                        <a:rPr lang="en-US" sz="1200">
                          <a:effectLst/>
                        </a:rPr>
                        <a:t>(mA)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6200311"/>
                  </a:ext>
                </a:extLst>
              </a:tr>
              <a:tr h="378471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RL </a:t>
                      </a:r>
                      <a:r>
                        <a:rPr lang="en-US" sz="1200">
                          <a:effectLst/>
                        </a:rPr>
                        <a:t>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4738212"/>
                  </a:ext>
                </a:extLst>
              </a:tr>
              <a:tr h="382998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R</a:t>
                      </a:r>
                      <a:r>
                        <a:rPr lang="en-US" sz="1200" baseline="-25000">
                          <a:effectLst/>
                        </a:rPr>
                        <a:t>F </a:t>
                      </a:r>
                      <a:r>
                        <a:rPr lang="en-US" sz="1200">
                          <a:effectLst/>
                        </a:rPr>
                        <a:t>(Ω)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316591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4D0A17-03E8-4610-90FC-F369BAD3FF92}"/>
              </a:ext>
            </a:extLst>
          </p:cNvPr>
          <p:cNvSpPr txBox="1"/>
          <p:nvPr/>
        </p:nvSpPr>
        <p:spPr>
          <a:xfrm>
            <a:off x="1357312" y="3576900"/>
            <a:ext cx="6757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Tabel</a:t>
            </a:r>
            <a:r>
              <a:rPr lang="en-US" dirty="0"/>
              <a:t> 1.6  Data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 </a:t>
            </a:r>
            <a:r>
              <a:rPr lang="en-US" dirty="0" err="1"/>
              <a:t>Dioda</a:t>
            </a:r>
            <a:r>
              <a:rPr lang="en-US" dirty="0"/>
              <a:t> Zener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Mundur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C667AF-FAA2-4CA2-9867-ECED36F0E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382705"/>
              </p:ext>
            </p:extLst>
          </p:nvPr>
        </p:nvGraphicFramePr>
        <p:xfrm>
          <a:off x="1478280" y="4102259"/>
          <a:ext cx="6204904" cy="18413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9371">
                  <a:extLst>
                    <a:ext uri="{9D8B030D-6E8A-4147-A177-3AD203B41FA5}">
                      <a16:colId xmlns:a16="http://schemas.microsoft.com/office/drawing/2014/main" val="2700962219"/>
                    </a:ext>
                  </a:extLst>
                </a:gridCol>
                <a:gridCol w="639064">
                  <a:extLst>
                    <a:ext uri="{9D8B030D-6E8A-4147-A177-3AD203B41FA5}">
                      <a16:colId xmlns:a16="http://schemas.microsoft.com/office/drawing/2014/main" val="1983985931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3834884779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1842457974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114291807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120960781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2355477086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1447378524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1430573627"/>
                    </a:ext>
                  </a:extLst>
                </a:gridCol>
                <a:gridCol w="579286">
                  <a:extLst>
                    <a:ext uri="{9D8B030D-6E8A-4147-A177-3AD203B41FA5}">
                      <a16:colId xmlns:a16="http://schemas.microsoft.com/office/drawing/2014/main" val="3446201045"/>
                    </a:ext>
                  </a:extLst>
                </a:gridCol>
              </a:tblGrid>
              <a:tr h="38954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V</a:t>
                      </a:r>
                      <a:r>
                        <a:rPr lang="en-US" sz="1200" baseline="-25000" dirty="0">
                          <a:effectLst/>
                        </a:rPr>
                        <a:t>R</a:t>
                      </a:r>
                      <a:r>
                        <a:rPr lang="en-US" sz="1200" dirty="0">
                          <a:effectLst/>
                        </a:rPr>
                        <a:t> (V)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effectLst/>
                        </a:rPr>
                        <a:t>9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3507597"/>
                  </a:ext>
                </a:extLst>
              </a:tr>
              <a:tr h="35789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S</a:t>
                      </a:r>
                      <a:r>
                        <a:rPr lang="en-US" sz="1200">
                          <a:effectLst/>
                        </a:rPr>
                        <a:t>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1739388"/>
                  </a:ext>
                </a:extLst>
              </a:tr>
              <a:tr h="35701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RL</a:t>
                      </a:r>
                      <a:r>
                        <a:rPr lang="en-US" sz="1200">
                          <a:effectLst/>
                        </a:rPr>
                        <a:t>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3155067"/>
                  </a:ext>
                </a:extLst>
              </a:tr>
              <a:tr h="37020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</a:t>
                      </a:r>
                      <a:r>
                        <a:rPr lang="en-US" sz="1200" baseline="-25000">
                          <a:effectLst/>
                        </a:rPr>
                        <a:t>R</a:t>
                      </a:r>
                      <a:r>
                        <a:rPr lang="en-US" sz="1200">
                          <a:effectLst/>
                        </a:rPr>
                        <a:t>(mA)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6608887"/>
                  </a:ext>
                </a:extLst>
              </a:tr>
              <a:tr h="36668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R</a:t>
                      </a:r>
                      <a:r>
                        <a:rPr lang="en-US" sz="1200" baseline="-25000" dirty="0">
                          <a:effectLst/>
                        </a:rPr>
                        <a:t>R</a:t>
                      </a:r>
                      <a:r>
                        <a:rPr lang="en-US" sz="1200" dirty="0">
                          <a:effectLst/>
                        </a:rPr>
                        <a:t>(W)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93818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5741FDC-812F-4F65-85B5-09CCECDB98C8}"/>
              </a:ext>
            </a:extLst>
          </p:cNvPr>
          <p:cNvSpPr txBox="1"/>
          <p:nvPr/>
        </p:nvSpPr>
        <p:spPr>
          <a:xfrm>
            <a:off x="1478280" y="914400"/>
            <a:ext cx="697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Tabel</a:t>
            </a:r>
            <a:r>
              <a:rPr lang="en-US" dirty="0"/>
              <a:t> 1.5 Data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 </a:t>
            </a:r>
            <a:r>
              <a:rPr lang="en-US" dirty="0" err="1"/>
              <a:t>Dioda</a:t>
            </a:r>
            <a:r>
              <a:rPr lang="en-US" dirty="0"/>
              <a:t> Zener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maju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94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EB3C85-6658-4D8B-B334-CB9BAF50DC9C}"/>
              </a:ext>
            </a:extLst>
          </p:cNvPr>
          <p:cNvSpPr txBox="1"/>
          <p:nvPr/>
        </p:nvSpPr>
        <p:spPr>
          <a:xfrm>
            <a:off x="1600200" y="2251978"/>
            <a:ext cx="974979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8.  </a:t>
            </a:r>
            <a:r>
              <a:rPr lang="en-US" sz="2000" dirty="0" err="1"/>
              <a:t>Pertanyaan</a:t>
            </a:r>
            <a:r>
              <a:rPr lang="en-US" sz="2000" dirty="0"/>
              <a:t> dan </a:t>
            </a:r>
            <a:r>
              <a:rPr lang="en-US" sz="2000" dirty="0" err="1"/>
              <a:t>Tugas</a:t>
            </a:r>
            <a:endParaRPr lang="en-US" sz="2000" dirty="0"/>
          </a:p>
          <a:p>
            <a:endParaRPr lang="en-US" dirty="0"/>
          </a:p>
          <a:p>
            <a:r>
              <a:rPr lang="en-US" dirty="0"/>
              <a:t>1.  </a:t>
            </a:r>
            <a:r>
              <a:rPr lang="en-US" dirty="0" err="1"/>
              <a:t>Bandingkan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diode Si dan </a:t>
            </a:r>
            <a:r>
              <a:rPr lang="en-US" dirty="0" err="1"/>
              <a:t>dioda</a:t>
            </a:r>
            <a:r>
              <a:rPr lang="en-US" dirty="0"/>
              <a:t> Ge </a:t>
            </a:r>
            <a:r>
              <a:rPr lang="en-US" dirty="0" err="1"/>
              <a:t>untuk</a:t>
            </a:r>
            <a:r>
              <a:rPr lang="en-US" dirty="0"/>
              <a:t> bias </a:t>
            </a:r>
            <a:r>
              <a:rPr lang="en-US" dirty="0" err="1"/>
              <a:t>maju</a:t>
            </a:r>
            <a:r>
              <a:rPr lang="en-US" dirty="0"/>
              <a:t> dan bias </a:t>
            </a:r>
            <a:r>
              <a:rPr lang="en-US" dirty="0" err="1"/>
              <a:t>mundur</a:t>
            </a:r>
            <a:r>
              <a:rPr lang="en-US" dirty="0"/>
              <a:t> ! </a:t>
            </a:r>
            <a:r>
              <a:rPr lang="en-US" dirty="0" err="1"/>
              <a:t>jelaskan</a:t>
            </a:r>
            <a:r>
              <a:rPr lang="en-US" dirty="0"/>
              <a:t> !</a:t>
            </a:r>
          </a:p>
          <a:p>
            <a:r>
              <a:rPr lang="en-US" dirty="0"/>
              <a:t>2.  </a:t>
            </a:r>
            <a:r>
              <a:rPr lang="en-US" dirty="0" err="1"/>
              <a:t>Bandingkan</a:t>
            </a:r>
            <a:r>
              <a:rPr lang="en-US" dirty="0"/>
              <a:t> </a:t>
            </a:r>
            <a:r>
              <a:rPr lang="en-US" dirty="0" err="1"/>
              <a:t>tahanan</a:t>
            </a:r>
            <a:r>
              <a:rPr lang="en-US" dirty="0"/>
              <a:t> pada </a:t>
            </a:r>
            <a:r>
              <a:rPr lang="en-US" dirty="0" err="1"/>
              <a:t>saat</a:t>
            </a:r>
            <a:r>
              <a:rPr lang="en-US" dirty="0"/>
              <a:t> bias </a:t>
            </a:r>
            <a:r>
              <a:rPr lang="en-US" dirty="0" err="1"/>
              <a:t>maju</a:t>
            </a:r>
            <a:r>
              <a:rPr lang="en-US" dirty="0"/>
              <a:t> dan bias </a:t>
            </a:r>
            <a:r>
              <a:rPr lang="en-US" dirty="0" err="1"/>
              <a:t>mundur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Si dan Ge ! </a:t>
            </a:r>
            <a:r>
              <a:rPr lang="en-US" dirty="0" err="1"/>
              <a:t>jelaskan</a:t>
            </a:r>
            <a:r>
              <a:rPr lang="en-US" dirty="0"/>
              <a:t> !</a:t>
            </a:r>
          </a:p>
          <a:p>
            <a:r>
              <a:rPr lang="en-US" dirty="0"/>
              <a:t>3. 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minoritas</a:t>
            </a:r>
            <a:r>
              <a:rPr lang="en-US" dirty="0"/>
              <a:t> mana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, Si </a:t>
            </a:r>
            <a:r>
              <a:rPr lang="en-US" dirty="0" err="1"/>
              <a:t>atau</a:t>
            </a:r>
            <a:r>
              <a:rPr lang="en-US" dirty="0"/>
              <a:t> Ge </a:t>
            </a:r>
          </a:p>
          <a:p>
            <a:r>
              <a:rPr lang="en-US" dirty="0"/>
              <a:t>4.  </a:t>
            </a:r>
            <a:r>
              <a:rPr lang="en-US" dirty="0" err="1"/>
              <a:t>Jelaskan</a:t>
            </a:r>
            <a:r>
              <a:rPr lang="en-US" dirty="0"/>
              <a:t> </a:t>
            </a:r>
            <a:r>
              <a:rPr lang="en-US" dirty="0" err="1"/>
              <a:t>mengenai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diode Zener</a:t>
            </a:r>
          </a:p>
          <a:p>
            <a:r>
              <a:rPr lang="en-US" dirty="0"/>
              <a:t>5.  </a:t>
            </a:r>
            <a:r>
              <a:rPr lang="en-US" dirty="0" err="1"/>
              <a:t>Bandingkan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diode Zener </a:t>
            </a:r>
            <a:r>
              <a:rPr lang="en-US" dirty="0" err="1"/>
              <a:t>dengan</a:t>
            </a:r>
            <a:r>
              <a:rPr lang="en-US" dirty="0"/>
              <a:t> diode </a:t>
            </a:r>
            <a:r>
              <a:rPr lang="en-US" dirty="0" err="1"/>
              <a:t>penyearah</a:t>
            </a:r>
            <a:r>
              <a:rPr lang="en-US" dirty="0"/>
              <a:t> Si</a:t>
            </a:r>
          </a:p>
          <a:p>
            <a:r>
              <a:rPr lang="en-US" dirty="0"/>
              <a:t>6.  </a:t>
            </a:r>
            <a:r>
              <a:rPr lang="en-US" dirty="0" err="1"/>
              <a:t>Tuliskan</a:t>
            </a:r>
            <a:r>
              <a:rPr lang="en-US" dirty="0"/>
              <a:t> </a:t>
            </a:r>
            <a:r>
              <a:rPr lang="en-US" dirty="0" err="1"/>
              <a:t>kesimpulan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402981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</TotalTime>
  <Words>2044</Words>
  <Application>Microsoft Office PowerPoint</Application>
  <PresentationFormat>Widescreen</PresentationFormat>
  <Paragraphs>409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Symbol</vt:lpstr>
      <vt:lpstr>Times New Roman</vt:lpstr>
      <vt:lpstr>Office Theme</vt:lpstr>
      <vt:lpstr>Karakteristik Dioda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2 Karakteristik Dioda</dc:title>
  <dc:creator>Ridwan Solihin</dc:creator>
  <cp:lastModifiedBy>erilmozef@yahoo.com</cp:lastModifiedBy>
  <cp:revision>12</cp:revision>
  <dcterms:created xsi:type="dcterms:W3CDTF">2022-02-09T03:14:30Z</dcterms:created>
  <dcterms:modified xsi:type="dcterms:W3CDTF">2025-02-14T06:53:44Z</dcterms:modified>
</cp:coreProperties>
</file>