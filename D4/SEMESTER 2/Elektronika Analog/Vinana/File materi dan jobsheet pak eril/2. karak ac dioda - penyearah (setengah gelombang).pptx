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86" r:id="rId3"/>
    <p:sldId id="257" r:id="rId4"/>
    <p:sldId id="258" r:id="rId5"/>
    <p:sldId id="259" r:id="rId6"/>
    <p:sldId id="264" r:id="rId7"/>
    <p:sldId id="265" r:id="rId8"/>
    <p:sldId id="266" r:id="rId9"/>
    <p:sldId id="261" r:id="rId10"/>
    <p:sldId id="262" r:id="rId11"/>
    <p:sldId id="287" r:id="rId12"/>
    <p:sldId id="28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83190" autoAdjust="0"/>
  </p:normalViewPr>
  <p:slideViewPr>
    <p:cSldViewPr snapToGrid="0">
      <p:cViewPr varScale="1">
        <p:scale>
          <a:sx n="71" d="100"/>
          <a:sy n="71" d="100"/>
        </p:scale>
        <p:origin x="1138" y="48"/>
      </p:cViewPr>
      <p:guideLst/>
    </p:cSldViewPr>
  </p:slideViewPr>
  <p:notesTextViewPr>
    <p:cViewPr>
      <p:scale>
        <a:sx n="1" d="1"/>
        <a:sy n="1" d="1"/>
      </p:scale>
      <p:origin x="0" y="0"/>
    </p:cViewPr>
  </p:notesTextViewPr>
  <p:gridSpacing cx="91439" cy="91439"/>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510C07-338C-4CE1-94D5-B595E37FE6AB}" type="datetimeFigureOut">
              <a:rPr lang="en-US" smtClean="0"/>
              <a:t>2/25/2025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419459-8FD6-47F0-9A3F-653623863C8C}" type="slidenum">
              <a:rPr lang="en-US" smtClean="0"/>
              <a:t>‹#›</a:t>
            </a:fld>
            <a:endParaRPr lang="en-US"/>
          </a:p>
        </p:txBody>
      </p:sp>
    </p:spTree>
    <p:extLst>
      <p:ext uri="{BB962C8B-B14F-4D97-AF65-F5344CB8AC3E}">
        <p14:creationId xmlns:p14="http://schemas.microsoft.com/office/powerpoint/2010/main" val="12499486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Sumber tegangan ac bisa berupa function</a:t>
            </a:r>
            <a:r>
              <a:rPr lang="en-US" baseline="0"/>
              <a:t> generator (atas) ataupun sumber listrik melalui perantara trafo (bawah).</a:t>
            </a:r>
          </a:p>
          <a:p>
            <a:r>
              <a:rPr lang="en-US" baseline="0"/>
              <a:t>Sumber tegangan AC ini mengeluarkan tegangan sinusoidal.</a:t>
            </a:r>
            <a:endParaRPr lang="en-US"/>
          </a:p>
        </p:txBody>
      </p:sp>
      <p:sp>
        <p:nvSpPr>
          <p:cNvPr id="4" name="Slide Number Placeholder 3"/>
          <p:cNvSpPr>
            <a:spLocks noGrp="1"/>
          </p:cNvSpPr>
          <p:nvPr>
            <p:ph type="sldNum" sz="quarter" idx="10"/>
          </p:nvPr>
        </p:nvSpPr>
        <p:spPr/>
        <p:txBody>
          <a:bodyPr/>
          <a:lstStyle/>
          <a:p>
            <a:fld id="{6E419459-8FD6-47F0-9A3F-653623863C8C}" type="slidenum">
              <a:rPr lang="en-US" smtClean="0"/>
              <a:t>5</a:t>
            </a:fld>
            <a:endParaRPr lang="en-US"/>
          </a:p>
        </p:txBody>
      </p:sp>
    </p:spTree>
    <p:extLst>
      <p:ext uri="{BB962C8B-B14F-4D97-AF65-F5344CB8AC3E}">
        <p14:creationId xmlns:p14="http://schemas.microsoft.com/office/powerpoint/2010/main" val="25461395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Bagaimana bentuk output dari penyearah setengah gelombang bila sebuah sinyal</a:t>
            </a:r>
            <a:r>
              <a:rPr lang="en-US" baseline="0"/>
              <a:t> AC sinusoidal diumpankan kepadanya?</a:t>
            </a:r>
          </a:p>
          <a:p>
            <a:r>
              <a:rPr lang="en-US" baseline="0"/>
              <a:t>Ada 2 kondisi yaitu kondisi saat forward bias (atas kiri) dan kondisi saat reverse bias (atas kanan)</a:t>
            </a:r>
          </a:p>
          <a:p>
            <a:r>
              <a:rPr lang="en-US" baseline="0"/>
              <a:t>Bila tegangan VT dioda diasumsikan 0 maka Vdc = 0,318Vm</a:t>
            </a:r>
          </a:p>
          <a:p>
            <a:endParaRPr lang="en-US"/>
          </a:p>
        </p:txBody>
      </p:sp>
      <p:sp>
        <p:nvSpPr>
          <p:cNvPr id="4" name="Slide Number Placeholder 3"/>
          <p:cNvSpPr>
            <a:spLocks noGrp="1"/>
          </p:cNvSpPr>
          <p:nvPr>
            <p:ph type="sldNum" sz="quarter" idx="10"/>
          </p:nvPr>
        </p:nvSpPr>
        <p:spPr/>
        <p:txBody>
          <a:bodyPr/>
          <a:lstStyle/>
          <a:p>
            <a:fld id="{6E419459-8FD6-47F0-9A3F-653623863C8C}" type="slidenum">
              <a:rPr lang="en-US" smtClean="0"/>
              <a:t>6</a:t>
            </a:fld>
            <a:endParaRPr lang="en-US"/>
          </a:p>
        </p:txBody>
      </p:sp>
    </p:spTree>
    <p:extLst>
      <p:ext uri="{BB962C8B-B14F-4D97-AF65-F5344CB8AC3E}">
        <p14:creationId xmlns:p14="http://schemas.microsoft.com/office/powerpoint/2010/main" val="1462576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a:t>Bila tegangan VT dioda tidak dianggap 0 maka Vdc = 0,318(Vm-VT)</a:t>
            </a:r>
          </a:p>
          <a:p>
            <a:endParaRPr lang="en-US"/>
          </a:p>
        </p:txBody>
      </p:sp>
      <p:sp>
        <p:nvSpPr>
          <p:cNvPr id="4" name="Slide Number Placeholder 3"/>
          <p:cNvSpPr>
            <a:spLocks noGrp="1"/>
          </p:cNvSpPr>
          <p:nvPr>
            <p:ph type="sldNum" sz="quarter" idx="10"/>
          </p:nvPr>
        </p:nvSpPr>
        <p:spPr/>
        <p:txBody>
          <a:bodyPr/>
          <a:lstStyle/>
          <a:p>
            <a:fld id="{6E419459-8FD6-47F0-9A3F-653623863C8C}" type="slidenum">
              <a:rPr lang="en-US" smtClean="0"/>
              <a:t>7</a:t>
            </a:fld>
            <a:endParaRPr lang="en-US"/>
          </a:p>
        </p:txBody>
      </p:sp>
    </p:spTree>
    <p:extLst>
      <p:ext uri="{BB962C8B-B14F-4D97-AF65-F5344CB8AC3E}">
        <p14:creationId xmlns:p14="http://schemas.microsoft.com/office/powerpoint/2010/main" val="32739446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kern="120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6E419459-8FD6-47F0-9A3F-653623863C8C}" type="slidenum">
              <a:rPr lang="en-US" smtClean="0"/>
              <a:t>8</a:t>
            </a:fld>
            <a:endParaRPr lang="en-US"/>
          </a:p>
        </p:txBody>
      </p:sp>
    </p:spTree>
    <p:extLst>
      <p:ext uri="{BB962C8B-B14F-4D97-AF65-F5344CB8AC3E}">
        <p14:creationId xmlns:p14="http://schemas.microsoft.com/office/powerpoint/2010/main" val="30197062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E419459-8FD6-47F0-9A3F-653623863C8C}" type="slidenum">
              <a:rPr lang="en-US" smtClean="0"/>
              <a:t>10</a:t>
            </a:fld>
            <a:endParaRPr lang="en-US"/>
          </a:p>
        </p:txBody>
      </p:sp>
    </p:spTree>
    <p:extLst>
      <p:ext uri="{BB962C8B-B14F-4D97-AF65-F5344CB8AC3E}">
        <p14:creationId xmlns:p14="http://schemas.microsoft.com/office/powerpoint/2010/main" val="5701519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9F18B-FEFD-4D30-85DF-1A28850C3E1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D25DF2E-6F7E-4A47-B2DF-89AB96D9A07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C8607ED-F36A-43F6-8AEA-B4A4664CDB46}"/>
              </a:ext>
            </a:extLst>
          </p:cNvPr>
          <p:cNvSpPr>
            <a:spLocks noGrp="1"/>
          </p:cNvSpPr>
          <p:nvPr>
            <p:ph type="dt" sz="half" idx="10"/>
          </p:nvPr>
        </p:nvSpPr>
        <p:spPr/>
        <p:txBody>
          <a:bodyPr/>
          <a:lstStyle/>
          <a:p>
            <a:fld id="{632B2334-333B-48F0-AFD2-8D0201D72261}" type="datetimeFigureOut">
              <a:rPr lang="en-US" smtClean="0"/>
              <a:t>2/25/2025</a:t>
            </a:fld>
            <a:endParaRPr lang="en-US"/>
          </a:p>
        </p:txBody>
      </p:sp>
      <p:sp>
        <p:nvSpPr>
          <p:cNvPr id="5" name="Footer Placeholder 4">
            <a:extLst>
              <a:ext uri="{FF2B5EF4-FFF2-40B4-BE49-F238E27FC236}">
                <a16:creationId xmlns:a16="http://schemas.microsoft.com/office/drawing/2014/main" id="{C7B9CC6C-8677-422B-9EF8-71594139EB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101E09-5FC2-43DE-984C-CF8BC696D77F}"/>
              </a:ext>
            </a:extLst>
          </p:cNvPr>
          <p:cNvSpPr>
            <a:spLocks noGrp="1"/>
          </p:cNvSpPr>
          <p:nvPr>
            <p:ph type="sldNum" sz="quarter" idx="12"/>
          </p:nvPr>
        </p:nvSpPr>
        <p:spPr/>
        <p:txBody>
          <a:bodyPr/>
          <a:lstStyle/>
          <a:p>
            <a:fld id="{2ED981B7-72AF-40BA-9332-C8F274A4F932}" type="slidenum">
              <a:rPr lang="en-US" smtClean="0"/>
              <a:t>‹#›</a:t>
            </a:fld>
            <a:endParaRPr lang="en-US"/>
          </a:p>
        </p:txBody>
      </p:sp>
    </p:spTree>
    <p:extLst>
      <p:ext uri="{BB962C8B-B14F-4D97-AF65-F5344CB8AC3E}">
        <p14:creationId xmlns:p14="http://schemas.microsoft.com/office/powerpoint/2010/main" val="1175765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F2D83-BB6F-4126-A524-73CA75AC0FB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72A8F53-FA31-4485-A585-5BBDF6C839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6C247A-3EE9-4AA9-A0D6-D6C8986BA8F2}"/>
              </a:ext>
            </a:extLst>
          </p:cNvPr>
          <p:cNvSpPr>
            <a:spLocks noGrp="1"/>
          </p:cNvSpPr>
          <p:nvPr>
            <p:ph type="dt" sz="half" idx="10"/>
          </p:nvPr>
        </p:nvSpPr>
        <p:spPr/>
        <p:txBody>
          <a:bodyPr/>
          <a:lstStyle/>
          <a:p>
            <a:fld id="{632B2334-333B-48F0-AFD2-8D0201D72261}" type="datetimeFigureOut">
              <a:rPr lang="en-US" smtClean="0"/>
              <a:t>2/25/2025</a:t>
            </a:fld>
            <a:endParaRPr lang="en-US"/>
          </a:p>
        </p:txBody>
      </p:sp>
      <p:sp>
        <p:nvSpPr>
          <p:cNvPr id="5" name="Footer Placeholder 4">
            <a:extLst>
              <a:ext uri="{FF2B5EF4-FFF2-40B4-BE49-F238E27FC236}">
                <a16:creationId xmlns:a16="http://schemas.microsoft.com/office/drawing/2014/main" id="{657FE26D-468A-4492-8973-21D4191BBD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485B6A-3582-4DE6-A06F-0DC0B77F5693}"/>
              </a:ext>
            </a:extLst>
          </p:cNvPr>
          <p:cNvSpPr>
            <a:spLocks noGrp="1"/>
          </p:cNvSpPr>
          <p:nvPr>
            <p:ph type="sldNum" sz="quarter" idx="12"/>
          </p:nvPr>
        </p:nvSpPr>
        <p:spPr/>
        <p:txBody>
          <a:bodyPr/>
          <a:lstStyle/>
          <a:p>
            <a:fld id="{2ED981B7-72AF-40BA-9332-C8F274A4F932}" type="slidenum">
              <a:rPr lang="en-US" smtClean="0"/>
              <a:t>‹#›</a:t>
            </a:fld>
            <a:endParaRPr lang="en-US"/>
          </a:p>
        </p:txBody>
      </p:sp>
    </p:spTree>
    <p:extLst>
      <p:ext uri="{BB962C8B-B14F-4D97-AF65-F5344CB8AC3E}">
        <p14:creationId xmlns:p14="http://schemas.microsoft.com/office/powerpoint/2010/main" val="26333337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5A409-E51A-4AEC-A6D2-8C146121F22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4E4CFE9-CE48-4D76-8C34-9EEB41DE360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944150C-042E-4D88-8ED4-77AEC3343C76}"/>
              </a:ext>
            </a:extLst>
          </p:cNvPr>
          <p:cNvSpPr>
            <a:spLocks noGrp="1"/>
          </p:cNvSpPr>
          <p:nvPr>
            <p:ph type="dt" sz="half" idx="10"/>
          </p:nvPr>
        </p:nvSpPr>
        <p:spPr/>
        <p:txBody>
          <a:bodyPr/>
          <a:lstStyle/>
          <a:p>
            <a:fld id="{632B2334-333B-48F0-AFD2-8D0201D72261}" type="datetimeFigureOut">
              <a:rPr lang="en-US" smtClean="0"/>
              <a:t>2/25/2025</a:t>
            </a:fld>
            <a:endParaRPr lang="en-US"/>
          </a:p>
        </p:txBody>
      </p:sp>
      <p:sp>
        <p:nvSpPr>
          <p:cNvPr id="5" name="Footer Placeholder 4">
            <a:extLst>
              <a:ext uri="{FF2B5EF4-FFF2-40B4-BE49-F238E27FC236}">
                <a16:creationId xmlns:a16="http://schemas.microsoft.com/office/drawing/2014/main" id="{89DF6734-3181-4D38-AFC0-ACF269C64C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497EFC-443A-448A-8CDC-12F82FF47506}"/>
              </a:ext>
            </a:extLst>
          </p:cNvPr>
          <p:cNvSpPr>
            <a:spLocks noGrp="1"/>
          </p:cNvSpPr>
          <p:nvPr>
            <p:ph type="sldNum" sz="quarter" idx="12"/>
          </p:nvPr>
        </p:nvSpPr>
        <p:spPr/>
        <p:txBody>
          <a:bodyPr/>
          <a:lstStyle/>
          <a:p>
            <a:fld id="{2ED981B7-72AF-40BA-9332-C8F274A4F932}" type="slidenum">
              <a:rPr lang="en-US" smtClean="0"/>
              <a:t>‹#›</a:t>
            </a:fld>
            <a:endParaRPr lang="en-US"/>
          </a:p>
        </p:txBody>
      </p:sp>
    </p:spTree>
    <p:extLst>
      <p:ext uri="{BB962C8B-B14F-4D97-AF65-F5344CB8AC3E}">
        <p14:creationId xmlns:p14="http://schemas.microsoft.com/office/powerpoint/2010/main" val="5602362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2ECB0-F235-4628-B4D6-D04E596650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4BCF7B9-67BD-47F5-B456-752792A6ED6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6BDCEC-7DB8-4524-9FAA-F93C530931E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296D174-65A4-4DFF-AF07-747E50C7BDA5}"/>
              </a:ext>
            </a:extLst>
          </p:cNvPr>
          <p:cNvSpPr>
            <a:spLocks noGrp="1"/>
          </p:cNvSpPr>
          <p:nvPr>
            <p:ph type="dt" sz="half" idx="10"/>
          </p:nvPr>
        </p:nvSpPr>
        <p:spPr/>
        <p:txBody>
          <a:bodyPr/>
          <a:lstStyle/>
          <a:p>
            <a:fld id="{632B2334-333B-48F0-AFD2-8D0201D72261}" type="datetimeFigureOut">
              <a:rPr lang="en-US" smtClean="0"/>
              <a:t>2/25/2025</a:t>
            </a:fld>
            <a:endParaRPr lang="en-US"/>
          </a:p>
        </p:txBody>
      </p:sp>
      <p:sp>
        <p:nvSpPr>
          <p:cNvPr id="6" name="Footer Placeholder 5">
            <a:extLst>
              <a:ext uri="{FF2B5EF4-FFF2-40B4-BE49-F238E27FC236}">
                <a16:creationId xmlns:a16="http://schemas.microsoft.com/office/drawing/2014/main" id="{4F0C03A7-3C1B-4E18-B7D1-4BC98114B6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B00573-D971-4612-9FFB-CA395D4402C1}"/>
              </a:ext>
            </a:extLst>
          </p:cNvPr>
          <p:cNvSpPr>
            <a:spLocks noGrp="1"/>
          </p:cNvSpPr>
          <p:nvPr>
            <p:ph type="sldNum" sz="quarter" idx="12"/>
          </p:nvPr>
        </p:nvSpPr>
        <p:spPr/>
        <p:txBody>
          <a:bodyPr/>
          <a:lstStyle/>
          <a:p>
            <a:fld id="{2ED981B7-72AF-40BA-9332-C8F274A4F932}" type="slidenum">
              <a:rPr lang="en-US" smtClean="0"/>
              <a:t>‹#›</a:t>
            </a:fld>
            <a:endParaRPr lang="en-US"/>
          </a:p>
        </p:txBody>
      </p:sp>
    </p:spTree>
    <p:extLst>
      <p:ext uri="{BB962C8B-B14F-4D97-AF65-F5344CB8AC3E}">
        <p14:creationId xmlns:p14="http://schemas.microsoft.com/office/powerpoint/2010/main" val="18621395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70005-4A55-4EF0-B38D-B42579D961A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10CEB95-7B90-4840-B595-06307A82D2B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DDD2EF-B2B1-41EE-9326-2BA2FE513E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9DE086D-126A-4F6D-89E4-C0FBF8FE9E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D0AB44-E823-4A71-8E89-7E6024BDB93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84C69D4-7E27-42E1-875A-EE646CDBC330}"/>
              </a:ext>
            </a:extLst>
          </p:cNvPr>
          <p:cNvSpPr>
            <a:spLocks noGrp="1"/>
          </p:cNvSpPr>
          <p:nvPr>
            <p:ph type="dt" sz="half" idx="10"/>
          </p:nvPr>
        </p:nvSpPr>
        <p:spPr/>
        <p:txBody>
          <a:bodyPr/>
          <a:lstStyle/>
          <a:p>
            <a:fld id="{632B2334-333B-48F0-AFD2-8D0201D72261}" type="datetimeFigureOut">
              <a:rPr lang="en-US" smtClean="0"/>
              <a:t>2/25/2025</a:t>
            </a:fld>
            <a:endParaRPr lang="en-US"/>
          </a:p>
        </p:txBody>
      </p:sp>
      <p:sp>
        <p:nvSpPr>
          <p:cNvPr id="8" name="Footer Placeholder 7">
            <a:extLst>
              <a:ext uri="{FF2B5EF4-FFF2-40B4-BE49-F238E27FC236}">
                <a16:creationId xmlns:a16="http://schemas.microsoft.com/office/drawing/2014/main" id="{F7227338-7C30-4B63-9009-0A1931CF2CD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519ED14-102D-4E33-B4D4-331E83592F36}"/>
              </a:ext>
            </a:extLst>
          </p:cNvPr>
          <p:cNvSpPr>
            <a:spLocks noGrp="1"/>
          </p:cNvSpPr>
          <p:nvPr>
            <p:ph type="sldNum" sz="quarter" idx="12"/>
          </p:nvPr>
        </p:nvSpPr>
        <p:spPr/>
        <p:txBody>
          <a:bodyPr/>
          <a:lstStyle/>
          <a:p>
            <a:fld id="{2ED981B7-72AF-40BA-9332-C8F274A4F932}" type="slidenum">
              <a:rPr lang="en-US" smtClean="0"/>
              <a:t>‹#›</a:t>
            </a:fld>
            <a:endParaRPr lang="en-US"/>
          </a:p>
        </p:txBody>
      </p:sp>
    </p:spTree>
    <p:extLst>
      <p:ext uri="{BB962C8B-B14F-4D97-AF65-F5344CB8AC3E}">
        <p14:creationId xmlns:p14="http://schemas.microsoft.com/office/powerpoint/2010/main" val="12839269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3332B-86D6-4A62-8295-5BC73F10EAB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8A5F8D4-C9C8-4065-9871-8433BA66E5DA}"/>
              </a:ext>
            </a:extLst>
          </p:cNvPr>
          <p:cNvSpPr>
            <a:spLocks noGrp="1"/>
          </p:cNvSpPr>
          <p:nvPr>
            <p:ph type="dt" sz="half" idx="10"/>
          </p:nvPr>
        </p:nvSpPr>
        <p:spPr/>
        <p:txBody>
          <a:bodyPr/>
          <a:lstStyle/>
          <a:p>
            <a:fld id="{632B2334-333B-48F0-AFD2-8D0201D72261}" type="datetimeFigureOut">
              <a:rPr lang="en-US" smtClean="0"/>
              <a:t>2/25/2025</a:t>
            </a:fld>
            <a:endParaRPr lang="en-US"/>
          </a:p>
        </p:txBody>
      </p:sp>
      <p:sp>
        <p:nvSpPr>
          <p:cNvPr id="4" name="Footer Placeholder 3">
            <a:extLst>
              <a:ext uri="{FF2B5EF4-FFF2-40B4-BE49-F238E27FC236}">
                <a16:creationId xmlns:a16="http://schemas.microsoft.com/office/drawing/2014/main" id="{83E4B864-0A10-4F56-BF05-41467A5A6B0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6253CEA-8D55-478A-B792-3D7020973CE3}"/>
              </a:ext>
            </a:extLst>
          </p:cNvPr>
          <p:cNvSpPr>
            <a:spLocks noGrp="1"/>
          </p:cNvSpPr>
          <p:nvPr>
            <p:ph type="sldNum" sz="quarter" idx="12"/>
          </p:nvPr>
        </p:nvSpPr>
        <p:spPr/>
        <p:txBody>
          <a:bodyPr/>
          <a:lstStyle/>
          <a:p>
            <a:fld id="{2ED981B7-72AF-40BA-9332-C8F274A4F932}" type="slidenum">
              <a:rPr lang="en-US" smtClean="0"/>
              <a:t>‹#›</a:t>
            </a:fld>
            <a:endParaRPr lang="en-US"/>
          </a:p>
        </p:txBody>
      </p:sp>
    </p:spTree>
    <p:extLst>
      <p:ext uri="{BB962C8B-B14F-4D97-AF65-F5344CB8AC3E}">
        <p14:creationId xmlns:p14="http://schemas.microsoft.com/office/powerpoint/2010/main" val="34605962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511EBC-2736-47D7-B673-24E6C571C5B0}"/>
              </a:ext>
            </a:extLst>
          </p:cNvPr>
          <p:cNvSpPr>
            <a:spLocks noGrp="1"/>
          </p:cNvSpPr>
          <p:nvPr>
            <p:ph type="dt" sz="half" idx="10"/>
          </p:nvPr>
        </p:nvSpPr>
        <p:spPr/>
        <p:txBody>
          <a:bodyPr/>
          <a:lstStyle/>
          <a:p>
            <a:fld id="{632B2334-333B-48F0-AFD2-8D0201D72261}" type="datetimeFigureOut">
              <a:rPr lang="en-US" smtClean="0"/>
              <a:t>2/25/2025</a:t>
            </a:fld>
            <a:endParaRPr lang="en-US"/>
          </a:p>
        </p:txBody>
      </p:sp>
      <p:sp>
        <p:nvSpPr>
          <p:cNvPr id="3" name="Footer Placeholder 2">
            <a:extLst>
              <a:ext uri="{FF2B5EF4-FFF2-40B4-BE49-F238E27FC236}">
                <a16:creationId xmlns:a16="http://schemas.microsoft.com/office/drawing/2014/main" id="{1D9A6211-4C57-4B9A-8EED-673959A71E2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D934A31-5B3B-4E90-A703-E3AB9A1F546E}"/>
              </a:ext>
            </a:extLst>
          </p:cNvPr>
          <p:cNvSpPr>
            <a:spLocks noGrp="1"/>
          </p:cNvSpPr>
          <p:nvPr>
            <p:ph type="sldNum" sz="quarter" idx="12"/>
          </p:nvPr>
        </p:nvSpPr>
        <p:spPr/>
        <p:txBody>
          <a:bodyPr/>
          <a:lstStyle/>
          <a:p>
            <a:fld id="{2ED981B7-72AF-40BA-9332-C8F274A4F932}" type="slidenum">
              <a:rPr lang="en-US" smtClean="0"/>
              <a:t>‹#›</a:t>
            </a:fld>
            <a:endParaRPr lang="en-US"/>
          </a:p>
        </p:txBody>
      </p:sp>
    </p:spTree>
    <p:extLst>
      <p:ext uri="{BB962C8B-B14F-4D97-AF65-F5344CB8AC3E}">
        <p14:creationId xmlns:p14="http://schemas.microsoft.com/office/powerpoint/2010/main" val="36402564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B9D3C-0A8D-48C5-93DF-2EB1F722D0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08ADC0F-9ED7-4C79-AB74-5EC1BBBE63B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32C2E19-BCD7-4FEC-BA3D-36D5877841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AD3330-A72C-44FB-B606-7727AEE7FA6D}"/>
              </a:ext>
            </a:extLst>
          </p:cNvPr>
          <p:cNvSpPr>
            <a:spLocks noGrp="1"/>
          </p:cNvSpPr>
          <p:nvPr>
            <p:ph type="dt" sz="half" idx="10"/>
          </p:nvPr>
        </p:nvSpPr>
        <p:spPr/>
        <p:txBody>
          <a:bodyPr/>
          <a:lstStyle/>
          <a:p>
            <a:fld id="{632B2334-333B-48F0-AFD2-8D0201D72261}" type="datetimeFigureOut">
              <a:rPr lang="en-US" smtClean="0"/>
              <a:t>2/25/2025</a:t>
            </a:fld>
            <a:endParaRPr lang="en-US"/>
          </a:p>
        </p:txBody>
      </p:sp>
      <p:sp>
        <p:nvSpPr>
          <p:cNvPr id="6" name="Footer Placeholder 5">
            <a:extLst>
              <a:ext uri="{FF2B5EF4-FFF2-40B4-BE49-F238E27FC236}">
                <a16:creationId xmlns:a16="http://schemas.microsoft.com/office/drawing/2014/main" id="{6C09FEE8-4C88-4714-8F7A-E338BCD331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F0C762-5EC0-4B46-B9B6-717D0324C248}"/>
              </a:ext>
            </a:extLst>
          </p:cNvPr>
          <p:cNvSpPr>
            <a:spLocks noGrp="1"/>
          </p:cNvSpPr>
          <p:nvPr>
            <p:ph type="sldNum" sz="quarter" idx="12"/>
          </p:nvPr>
        </p:nvSpPr>
        <p:spPr/>
        <p:txBody>
          <a:bodyPr/>
          <a:lstStyle/>
          <a:p>
            <a:fld id="{2ED981B7-72AF-40BA-9332-C8F274A4F932}" type="slidenum">
              <a:rPr lang="en-US" smtClean="0"/>
              <a:t>‹#›</a:t>
            </a:fld>
            <a:endParaRPr lang="en-US"/>
          </a:p>
        </p:txBody>
      </p:sp>
    </p:spTree>
    <p:extLst>
      <p:ext uri="{BB962C8B-B14F-4D97-AF65-F5344CB8AC3E}">
        <p14:creationId xmlns:p14="http://schemas.microsoft.com/office/powerpoint/2010/main" val="18610806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D71AF-1967-4C63-9A43-F21451EB76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CD30A0-C2EF-4698-90B6-E1592417196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E09BDD6-0829-42DF-B074-0B261DDE26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717545-CC59-462E-91BC-663895C9493B}"/>
              </a:ext>
            </a:extLst>
          </p:cNvPr>
          <p:cNvSpPr>
            <a:spLocks noGrp="1"/>
          </p:cNvSpPr>
          <p:nvPr>
            <p:ph type="dt" sz="half" idx="10"/>
          </p:nvPr>
        </p:nvSpPr>
        <p:spPr/>
        <p:txBody>
          <a:bodyPr/>
          <a:lstStyle/>
          <a:p>
            <a:fld id="{632B2334-333B-48F0-AFD2-8D0201D72261}" type="datetimeFigureOut">
              <a:rPr lang="en-US" smtClean="0"/>
              <a:t>2/25/2025</a:t>
            </a:fld>
            <a:endParaRPr lang="en-US"/>
          </a:p>
        </p:txBody>
      </p:sp>
      <p:sp>
        <p:nvSpPr>
          <p:cNvPr id="6" name="Footer Placeholder 5">
            <a:extLst>
              <a:ext uri="{FF2B5EF4-FFF2-40B4-BE49-F238E27FC236}">
                <a16:creationId xmlns:a16="http://schemas.microsoft.com/office/drawing/2014/main" id="{3E901A16-7695-474D-A047-BE508FC4D9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98E090-6993-49B6-8B75-99C8E1FFAA54}"/>
              </a:ext>
            </a:extLst>
          </p:cNvPr>
          <p:cNvSpPr>
            <a:spLocks noGrp="1"/>
          </p:cNvSpPr>
          <p:nvPr>
            <p:ph type="sldNum" sz="quarter" idx="12"/>
          </p:nvPr>
        </p:nvSpPr>
        <p:spPr/>
        <p:txBody>
          <a:bodyPr/>
          <a:lstStyle/>
          <a:p>
            <a:fld id="{2ED981B7-72AF-40BA-9332-C8F274A4F932}" type="slidenum">
              <a:rPr lang="en-US" smtClean="0"/>
              <a:t>‹#›</a:t>
            </a:fld>
            <a:endParaRPr lang="en-US"/>
          </a:p>
        </p:txBody>
      </p:sp>
    </p:spTree>
    <p:extLst>
      <p:ext uri="{BB962C8B-B14F-4D97-AF65-F5344CB8AC3E}">
        <p14:creationId xmlns:p14="http://schemas.microsoft.com/office/powerpoint/2010/main" val="295145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6427B-99AF-47E9-9AB9-A820989804A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0CCBCD8-8C85-4D24-9317-362F7528EED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619A5D-A72B-4677-B800-58B58F497F28}"/>
              </a:ext>
            </a:extLst>
          </p:cNvPr>
          <p:cNvSpPr>
            <a:spLocks noGrp="1"/>
          </p:cNvSpPr>
          <p:nvPr>
            <p:ph type="dt" sz="half" idx="10"/>
          </p:nvPr>
        </p:nvSpPr>
        <p:spPr/>
        <p:txBody>
          <a:bodyPr/>
          <a:lstStyle/>
          <a:p>
            <a:fld id="{632B2334-333B-48F0-AFD2-8D0201D72261}" type="datetimeFigureOut">
              <a:rPr lang="en-US" smtClean="0"/>
              <a:t>2/25/2025</a:t>
            </a:fld>
            <a:endParaRPr lang="en-US"/>
          </a:p>
        </p:txBody>
      </p:sp>
      <p:sp>
        <p:nvSpPr>
          <p:cNvPr id="5" name="Footer Placeholder 4">
            <a:extLst>
              <a:ext uri="{FF2B5EF4-FFF2-40B4-BE49-F238E27FC236}">
                <a16:creationId xmlns:a16="http://schemas.microsoft.com/office/drawing/2014/main" id="{C56B3804-21BD-49C5-B773-C3CDDE0AEF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554A5B-51CC-4B3D-B729-2F7F11767CCC}"/>
              </a:ext>
            </a:extLst>
          </p:cNvPr>
          <p:cNvSpPr>
            <a:spLocks noGrp="1"/>
          </p:cNvSpPr>
          <p:nvPr>
            <p:ph type="sldNum" sz="quarter" idx="12"/>
          </p:nvPr>
        </p:nvSpPr>
        <p:spPr/>
        <p:txBody>
          <a:bodyPr/>
          <a:lstStyle/>
          <a:p>
            <a:fld id="{2ED981B7-72AF-40BA-9332-C8F274A4F932}" type="slidenum">
              <a:rPr lang="en-US" smtClean="0"/>
              <a:t>‹#›</a:t>
            </a:fld>
            <a:endParaRPr lang="en-US"/>
          </a:p>
        </p:txBody>
      </p:sp>
    </p:spTree>
    <p:extLst>
      <p:ext uri="{BB962C8B-B14F-4D97-AF65-F5344CB8AC3E}">
        <p14:creationId xmlns:p14="http://schemas.microsoft.com/office/powerpoint/2010/main" val="17093456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F25C36-D277-4B93-ABB7-F95E5CFA99D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8314E3A-7F23-417C-9AF5-C63DE8042F5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3052EC-5249-4A5C-8D4E-CC486E897B32}"/>
              </a:ext>
            </a:extLst>
          </p:cNvPr>
          <p:cNvSpPr>
            <a:spLocks noGrp="1"/>
          </p:cNvSpPr>
          <p:nvPr>
            <p:ph type="dt" sz="half" idx="10"/>
          </p:nvPr>
        </p:nvSpPr>
        <p:spPr/>
        <p:txBody>
          <a:bodyPr/>
          <a:lstStyle/>
          <a:p>
            <a:fld id="{632B2334-333B-48F0-AFD2-8D0201D72261}" type="datetimeFigureOut">
              <a:rPr lang="en-US" smtClean="0"/>
              <a:t>2/25/2025</a:t>
            </a:fld>
            <a:endParaRPr lang="en-US"/>
          </a:p>
        </p:txBody>
      </p:sp>
      <p:sp>
        <p:nvSpPr>
          <p:cNvPr id="5" name="Footer Placeholder 4">
            <a:extLst>
              <a:ext uri="{FF2B5EF4-FFF2-40B4-BE49-F238E27FC236}">
                <a16:creationId xmlns:a16="http://schemas.microsoft.com/office/drawing/2014/main" id="{A9EA09E6-D86A-4458-9D78-B975482357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55744B-89D6-4B67-A012-76CB276FA992}"/>
              </a:ext>
            </a:extLst>
          </p:cNvPr>
          <p:cNvSpPr>
            <a:spLocks noGrp="1"/>
          </p:cNvSpPr>
          <p:nvPr>
            <p:ph type="sldNum" sz="quarter" idx="12"/>
          </p:nvPr>
        </p:nvSpPr>
        <p:spPr/>
        <p:txBody>
          <a:bodyPr/>
          <a:lstStyle/>
          <a:p>
            <a:fld id="{2ED981B7-72AF-40BA-9332-C8F274A4F932}" type="slidenum">
              <a:rPr lang="en-US" smtClean="0"/>
              <a:t>‹#›</a:t>
            </a:fld>
            <a:endParaRPr lang="en-US"/>
          </a:p>
        </p:txBody>
      </p:sp>
    </p:spTree>
    <p:extLst>
      <p:ext uri="{BB962C8B-B14F-4D97-AF65-F5344CB8AC3E}">
        <p14:creationId xmlns:p14="http://schemas.microsoft.com/office/powerpoint/2010/main" val="27989698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0C9E7D-FCAC-46E5-A73C-43961E5CF0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A7199C8-CE43-4A0D-808E-F770E53552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2774AC-62A9-44EB-9E2C-42C1E2307E9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2B2334-333B-48F0-AFD2-8D0201D72261}" type="datetimeFigureOut">
              <a:rPr lang="en-US" smtClean="0"/>
              <a:t>2/25/2025</a:t>
            </a:fld>
            <a:endParaRPr lang="en-US"/>
          </a:p>
        </p:txBody>
      </p:sp>
      <p:sp>
        <p:nvSpPr>
          <p:cNvPr id="5" name="Footer Placeholder 4">
            <a:extLst>
              <a:ext uri="{FF2B5EF4-FFF2-40B4-BE49-F238E27FC236}">
                <a16:creationId xmlns:a16="http://schemas.microsoft.com/office/drawing/2014/main" id="{AD5D697F-9698-40B2-B58D-88EBE278FC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D36A18E-CE87-42E7-9D02-5EF25FB43C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D981B7-72AF-40BA-9332-C8F274A4F932}" type="slidenum">
              <a:rPr lang="en-US" smtClean="0"/>
              <a:t>‹#›</a:t>
            </a:fld>
            <a:endParaRPr lang="en-US"/>
          </a:p>
        </p:txBody>
      </p:sp>
    </p:spTree>
    <p:extLst>
      <p:ext uri="{BB962C8B-B14F-4D97-AF65-F5344CB8AC3E}">
        <p14:creationId xmlns:p14="http://schemas.microsoft.com/office/powerpoint/2010/main" val="12353180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53892-65BE-4A1F-B35A-1167D73C8CAB}"/>
              </a:ext>
            </a:extLst>
          </p:cNvPr>
          <p:cNvSpPr>
            <a:spLocks noGrp="1"/>
          </p:cNvSpPr>
          <p:nvPr>
            <p:ph type="ctrTitle"/>
          </p:nvPr>
        </p:nvSpPr>
        <p:spPr>
          <a:xfrm>
            <a:off x="1550504" y="1214438"/>
            <a:ext cx="9144000" cy="2387600"/>
          </a:xfrm>
        </p:spPr>
        <p:txBody>
          <a:bodyPr>
            <a:normAutofit/>
          </a:bodyPr>
          <a:lstStyle/>
          <a:p>
            <a:r>
              <a:rPr lang="en-US" sz="3200"/>
              <a:t>Penyearah Setengah Gelombang</a:t>
            </a:r>
            <a:br>
              <a:rPr lang="en-US" sz="3200"/>
            </a:br>
            <a:endParaRPr lang="en-US" sz="2000" b="1" dirty="0"/>
          </a:p>
        </p:txBody>
      </p:sp>
      <p:sp>
        <p:nvSpPr>
          <p:cNvPr id="3" name="Subtitle 2">
            <a:extLst>
              <a:ext uri="{FF2B5EF4-FFF2-40B4-BE49-F238E27FC236}">
                <a16:creationId xmlns:a16="http://schemas.microsoft.com/office/drawing/2014/main" id="{125A7A2F-E757-4C23-8CA4-BD903353FA21}"/>
              </a:ext>
            </a:extLst>
          </p:cNvPr>
          <p:cNvSpPr>
            <a:spLocks noGrp="1"/>
          </p:cNvSpPr>
          <p:nvPr>
            <p:ph type="subTitle" idx="1"/>
          </p:nvPr>
        </p:nvSpPr>
        <p:spPr>
          <a:xfrm>
            <a:off x="1524000" y="4383917"/>
            <a:ext cx="9144000" cy="1655762"/>
          </a:xfrm>
        </p:spPr>
        <p:txBody>
          <a:bodyPr/>
          <a:lstStyle/>
          <a:p>
            <a:endParaRPr lang="en-US" dirty="0"/>
          </a:p>
        </p:txBody>
      </p:sp>
    </p:spTree>
    <p:extLst>
      <p:ext uri="{BB962C8B-B14F-4D97-AF65-F5344CB8AC3E}">
        <p14:creationId xmlns:p14="http://schemas.microsoft.com/office/powerpoint/2010/main" val="19370822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Materi</a:t>
            </a:r>
          </a:p>
        </p:txBody>
      </p:sp>
      <p:sp>
        <p:nvSpPr>
          <p:cNvPr id="3" name="Content Placeholder 2"/>
          <p:cNvSpPr>
            <a:spLocks noGrp="1"/>
          </p:cNvSpPr>
          <p:nvPr>
            <p:ph idx="1"/>
          </p:nvPr>
        </p:nvSpPr>
        <p:spPr/>
        <p:txBody>
          <a:bodyPr/>
          <a:lstStyle/>
          <a:p>
            <a:r>
              <a:rPr lang="en-US" b="1"/>
              <a:t>RANGKAIAN PENYEARAH (RECTIFIER)</a:t>
            </a:r>
          </a:p>
          <a:p>
            <a:pPr lvl="1"/>
            <a:r>
              <a:rPr lang="en-US">
                <a:solidFill>
                  <a:srgbClr val="FF0000"/>
                </a:solidFill>
              </a:rPr>
              <a:t>rangkaian penyearah setengah gelombang</a:t>
            </a:r>
          </a:p>
          <a:p>
            <a:pPr lvl="1"/>
            <a:r>
              <a:rPr lang="en-US">
                <a:solidFill>
                  <a:srgbClr val="FF0000"/>
                </a:solidFill>
              </a:rPr>
              <a:t>Rangkaian penyearah gelombang penuh</a:t>
            </a:r>
          </a:p>
          <a:p>
            <a:pPr lvl="2"/>
            <a:r>
              <a:rPr lang="en-US"/>
              <a:t>Rangkaian penyearah gelombang penuh dengan </a:t>
            </a:r>
            <a:r>
              <a:rPr lang="en-US">
                <a:solidFill>
                  <a:srgbClr val="FF0000"/>
                </a:solidFill>
              </a:rPr>
              <a:t>dioda bridge</a:t>
            </a:r>
          </a:p>
          <a:p>
            <a:pPr lvl="2"/>
            <a:r>
              <a:rPr lang="en-US"/>
              <a:t>Rangkaian penyearah gelombang penuh dengan </a:t>
            </a:r>
            <a:r>
              <a:rPr lang="en-US">
                <a:solidFill>
                  <a:srgbClr val="FF0000"/>
                </a:solidFill>
              </a:rPr>
              <a:t>center tap</a:t>
            </a:r>
          </a:p>
          <a:p>
            <a:pPr lvl="2"/>
            <a:endParaRPr lang="en-US"/>
          </a:p>
          <a:p>
            <a:endParaRPr lang="en-US"/>
          </a:p>
        </p:txBody>
      </p:sp>
    </p:spTree>
    <p:extLst>
      <p:ext uri="{BB962C8B-B14F-4D97-AF65-F5344CB8AC3E}">
        <p14:creationId xmlns:p14="http://schemas.microsoft.com/office/powerpoint/2010/main" val="37430314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8A54DAA-559C-4E9A-89D9-CC26E5175C4F}"/>
              </a:ext>
            </a:extLst>
          </p:cNvPr>
          <p:cNvSpPr txBox="1"/>
          <p:nvPr/>
        </p:nvSpPr>
        <p:spPr>
          <a:xfrm>
            <a:off x="1881809" y="3203210"/>
            <a:ext cx="7938052" cy="646331"/>
          </a:xfrm>
          <a:prstGeom prst="rect">
            <a:avLst/>
          </a:prstGeom>
          <a:noFill/>
        </p:spPr>
        <p:txBody>
          <a:bodyPr wrap="square">
            <a:spAutoFit/>
          </a:bodyPr>
          <a:lstStyle/>
          <a:p>
            <a:r>
              <a:rPr lang="en-US" dirty="0" err="1"/>
              <a:t>Referensi</a:t>
            </a:r>
            <a:r>
              <a:rPr lang="en-US" dirty="0"/>
              <a:t> :</a:t>
            </a:r>
          </a:p>
          <a:p>
            <a:r>
              <a:rPr lang="en-US" dirty="0"/>
              <a:t>Electronics devices and circuit theory, ROBERT BOYLESTAD </a:t>
            </a:r>
            <a:r>
              <a:rPr lang="en-US"/>
              <a:t>LOUIS NASHELSKY</a:t>
            </a:r>
            <a:endParaRPr lang="en-US" dirty="0"/>
          </a:p>
        </p:txBody>
      </p:sp>
    </p:spTree>
    <p:extLst>
      <p:ext uri="{BB962C8B-B14F-4D97-AF65-F5344CB8AC3E}">
        <p14:creationId xmlns:p14="http://schemas.microsoft.com/office/powerpoint/2010/main" val="13959624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E570C7A-90A8-4F7F-81FE-54093FB68AD6}"/>
              </a:ext>
            </a:extLst>
          </p:cNvPr>
          <p:cNvSpPr txBox="1"/>
          <p:nvPr/>
        </p:nvSpPr>
        <p:spPr>
          <a:xfrm>
            <a:off x="993913" y="756238"/>
            <a:ext cx="6096000" cy="461665"/>
          </a:xfrm>
          <a:prstGeom prst="rect">
            <a:avLst/>
          </a:prstGeom>
          <a:noFill/>
        </p:spPr>
        <p:txBody>
          <a:bodyPr wrap="square">
            <a:spAutoFit/>
          </a:bodyPr>
          <a:lstStyle/>
          <a:p>
            <a:r>
              <a:rPr lang="en-US" sz="2400" b="1" dirty="0"/>
              <a:t>RANGKAIAN PENYEARAH (RECTIFIER)</a:t>
            </a:r>
          </a:p>
        </p:txBody>
      </p:sp>
      <p:sp>
        <p:nvSpPr>
          <p:cNvPr id="5" name="TextBox 4">
            <a:extLst>
              <a:ext uri="{FF2B5EF4-FFF2-40B4-BE49-F238E27FC236}">
                <a16:creationId xmlns:a16="http://schemas.microsoft.com/office/drawing/2014/main" id="{C43BE2B5-1BE0-4A9F-9036-4BB0815ED8E9}"/>
              </a:ext>
            </a:extLst>
          </p:cNvPr>
          <p:cNvSpPr txBox="1"/>
          <p:nvPr/>
        </p:nvSpPr>
        <p:spPr>
          <a:xfrm>
            <a:off x="993913" y="1449242"/>
            <a:ext cx="9753600" cy="2677656"/>
          </a:xfrm>
          <a:prstGeom prst="rect">
            <a:avLst/>
          </a:prstGeom>
          <a:noFill/>
        </p:spPr>
        <p:txBody>
          <a:bodyPr wrap="square">
            <a:spAutoFit/>
          </a:bodyPr>
          <a:lstStyle/>
          <a:p>
            <a:r>
              <a:rPr lang="en-US" sz="2400" dirty="0" err="1"/>
              <a:t>Rangkaian</a:t>
            </a:r>
            <a:r>
              <a:rPr lang="en-US" sz="2400" dirty="0"/>
              <a:t> </a:t>
            </a:r>
            <a:r>
              <a:rPr lang="en-US" sz="2400" dirty="0" err="1"/>
              <a:t>penyearah</a:t>
            </a:r>
            <a:r>
              <a:rPr lang="en-US" sz="2400" dirty="0"/>
              <a:t> </a:t>
            </a:r>
            <a:r>
              <a:rPr lang="en-US" sz="2400" dirty="0" err="1"/>
              <a:t>gelombang</a:t>
            </a:r>
            <a:r>
              <a:rPr lang="en-US" sz="2400" dirty="0"/>
              <a:t> </a:t>
            </a:r>
            <a:r>
              <a:rPr lang="en-US" sz="2400" dirty="0" err="1"/>
              <a:t>merupakan</a:t>
            </a:r>
            <a:r>
              <a:rPr lang="en-US" sz="2400" dirty="0"/>
              <a:t> </a:t>
            </a:r>
            <a:r>
              <a:rPr lang="en-US" sz="2400" dirty="0" err="1"/>
              <a:t>rangkaian</a:t>
            </a:r>
            <a:r>
              <a:rPr lang="en-US" sz="2400" dirty="0"/>
              <a:t> yang </a:t>
            </a:r>
            <a:r>
              <a:rPr lang="en-US" sz="2400" dirty="0" err="1"/>
              <a:t>berfungsi</a:t>
            </a:r>
            <a:r>
              <a:rPr lang="en-US" sz="2400" dirty="0"/>
              <a:t> </a:t>
            </a:r>
            <a:r>
              <a:rPr lang="en-US" sz="2400" dirty="0" err="1"/>
              <a:t>untuk</a:t>
            </a:r>
            <a:r>
              <a:rPr lang="en-US" sz="2400" dirty="0"/>
              <a:t> </a:t>
            </a:r>
            <a:r>
              <a:rPr lang="en-US" sz="2400" dirty="0" err="1"/>
              <a:t>merubah</a:t>
            </a:r>
            <a:r>
              <a:rPr lang="en-US" sz="2400" dirty="0"/>
              <a:t> </a:t>
            </a:r>
            <a:r>
              <a:rPr lang="en-US" sz="2400" dirty="0" err="1"/>
              <a:t>arus</a:t>
            </a:r>
            <a:r>
              <a:rPr lang="en-US" sz="2400" dirty="0"/>
              <a:t> </a:t>
            </a:r>
            <a:r>
              <a:rPr lang="en-US" sz="2400" dirty="0" err="1"/>
              <a:t>bolak-balik</a:t>
            </a:r>
            <a:r>
              <a:rPr lang="en-US" sz="2400" dirty="0"/>
              <a:t> (alternating current/AC) </a:t>
            </a:r>
            <a:r>
              <a:rPr lang="en-US" sz="2400" dirty="0" err="1"/>
              <a:t>menjadi</a:t>
            </a:r>
            <a:r>
              <a:rPr lang="en-US" sz="2400" dirty="0"/>
              <a:t> </a:t>
            </a:r>
            <a:r>
              <a:rPr lang="en-US" sz="2400" dirty="0" err="1"/>
              <a:t>arus</a:t>
            </a:r>
            <a:r>
              <a:rPr lang="en-US" sz="2400" dirty="0"/>
              <a:t> </a:t>
            </a:r>
            <a:r>
              <a:rPr lang="en-US" sz="2400" dirty="0" err="1"/>
              <a:t>searah</a:t>
            </a:r>
            <a:r>
              <a:rPr lang="en-US" sz="2400" dirty="0"/>
              <a:t> (</a:t>
            </a:r>
            <a:r>
              <a:rPr lang="en-US" sz="2400" dirty="0" err="1"/>
              <a:t>Dirrect</a:t>
            </a:r>
            <a:r>
              <a:rPr lang="en-US" sz="2400" dirty="0"/>
              <a:t> Current/DC). </a:t>
            </a:r>
          </a:p>
          <a:p>
            <a:endParaRPr lang="en-US" sz="2400" dirty="0"/>
          </a:p>
          <a:p>
            <a:r>
              <a:rPr lang="en-US" sz="2400" dirty="0" err="1"/>
              <a:t>Komponen</a:t>
            </a:r>
            <a:r>
              <a:rPr lang="en-US" sz="2400" dirty="0"/>
              <a:t> </a:t>
            </a:r>
            <a:r>
              <a:rPr lang="en-US" sz="2400" dirty="0" err="1"/>
              <a:t>elektronika</a:t>
            </a:r>
            <a:r>
              <a:rPr lang="en-US" sz="2400" dirty="0"/>
              <a:t> yang </a:t>
            </a:r>
            <a:r>
              <a:rPr lang="en-US" sz="2400" dirty="0" err="1"/>
              <a:t>berfungsi</a:t>
            </a:r>
            <a:r>
              <a:rPr lang="en-US" sz="2400" dirty="0"/>
              <a:t> </a:t>
            </a:r>
            <a:r>
              <a:rPr lang="en-US" sz="2400" dirty="0" err="1"/>
              <a:t>sebagai</a:t>
            </a:r>
            <a:r>
              <a:rPr lang="en-US" sz="2400" dirty="0"/>
              <a:t> </a:t>
            </a:r>
            <a:r>
              <a:rPr lang="en-US" sz="2400" dirty="0" err="1"/>
              <a:t>penyearah</a:t>
            </a:r>
            <a:r>
              <a:rPr lang="en-US" sz="2400" dirty="0"/>
              <a:t> </a:t>
            </a:r>
            <a:r>
              <a:rPr lang="en-US" sz="2400" dirty="0" err="1"/>
              <a:t>adalah</a:t>
            </a:r>
            <a:r>
              <a:rPr lang="en-US" sz="2400" dirty="0"/>
              <a:t> diode, </a:t>
            </a:r>
            <a:r>
              <a:rPr lang="en-US" sz="2400" dirty="0" err="1"/>
              <a:t>karena</a:t>
            </a:r>
            <a:r>
              <a:rPr lang="en-US" sz="2400" dirty="0"/>
              <a:t> diode </a:t>
            </a:r>
            <a:r>
              <a:rPr lang="en-US" sz="2400" dirty="0" err="1"/>
              <a:t>memiliki</a:t>
            </a:r>
            <a:r>
              <a:rPr lang="en-US" sz="2400" dirty="0"/>
              <a:t> </a:t>
            </a:r>
            <a:r>
              <a:rPr lang="en-US" sz="2400" dirty="0" err="1"/>
              <a:t>sifat</a:t>
            </a:r>
            <a:r>
              <a:rPr lang="en-US" sz="2400" dirty="0"/>
              <a:t> </a:t>
            </a:r>
            <a:r>
              <a:rPr lang="en-US" sz="2400" dirty="0" err="1"/>
              <a:t>hanya</a:t>
            </a:r>
            <a:r>
              <a:rPr lang="en-US" sz="2400" dirty="0"/>
              <a:t> </a:t>
            </a:r>
            <a:r>
              <a:rPr lang="en-US" sz="2400" dirty="0" err="1"/>
              <a:t>memperbolehkan</a:t>
            </a:r>
            <a:r>
              <a:rPr lang="en-US" sz="2400" dirty="0"/>
              <a:t> </a:t>
            </a:r>
            <a:r>
              <a:rPr lang="en-US" sz="2400" dirty="0" err="1"/>
              <a:t>arus</a:t>
            </a:r>
            <a:r>
              <a:rPr lang="en-US" sz="2400" dirty="0"/>
              <a:t> </a:t>
            </a:r>
            <a:r>
              <a:rPr lang="en-US" sz="2400" dirty="0" err="1"/>
              <a:t>listrik</a:t>
            </a:r>
            <a:r>
              <a:rPr lang="en-US" sz="2400" dirty="0"/>
              <a:t> yang </a:t>
            </a:r>
            <a:r>
              <a:rPr lang="en-US" sz="2400" dirty="0" err="1"/>
              <a:t>melewatinya</a:t>
            </a:r>
            <a:r>
              <a:rPr lang="en-US" sz="2400" dirty="0"/>
              <a:t> </a:t>
            </a:r>
            <a:r>
              <a:rPr lang="en-US" sz="2400" dirty="0" err="1"/>
              <a:t>dalam</a:t>
            </a:r>
            <a:r>
              <a:rPr lang="en-US" sz="2400" dirty="0"/>
              <a:t> </a:t>
            </a:r>
            <a:r>
              <a:rPr lang="en-US" sz="2400" dirty="0" err="1"/>
              <a:t>satu</a:t>
            </a:r>
            <a:r>
              <a:rPr lang="en-US" sz="2400" dirty="0"/>
              <a:t> </a:t>
            </a:r>
            <a:r>
              <a:rPr lang="en-US" sz="2400" dirty="0" err="1"/>
              <a:t>arah</a:t>
            </a:r>
            <a:r>
              <a:rPr lang="en-US" sz="2400" dirty="0"/>
              <a:t> </a:t>
            </a:r>
            <a:r>
              <a:rPr lang="en-US" sz="2400" dirty="0" err="1"/>
              <a:t>saja</a:t>
            </a:r>
            <a:r>
              <a:rPr lang="en-US" sz="2400" dirty="0"/>
              <a:t>.</a:t>
            </a:r>
          </a:p>
        </p:txBody>
      </p:sp>
      <p:sp>
        <p:nvSpPr>
          <p:cNvPr id="7" name="TextBox 6">
            <a:extLst>
              <a:ext uri="{FF2B5EF4-FFF2-40B4-BE49-F238E27FC236}">
                <a16:creationId xmlns:a16="http://schemas.microsoft.com/office/drawing/2014/main" id="{54E81115-5377-4F5A-9AF5-2C74E45411E0}"/>
              </a:ext>
            </a:extLst>
          </p:cNvPr>
          <p:cNvSpPr txBox="1"/>
          <p:nvPr/>
        </p:nvSpPr>
        <p:spPr>
          <a:xfrm>
            <a:off x="993913" y="4358237"/>
            <a:ext cx="9130747" cy="1200329"/>
          </a:xfrm>
          <a:prstGeom prst="rect">
            <a:avLst/>
          </a:prstGeom>
          <a:noFill/>
        </p:spPr>
        <p:txBody>
          <a:bodyPr wrap="square">
            <a:spAutoFit/>
          </a:bodyPr>
          <a:lstStyle/>
          <a:p>
            <a:r>
              <a:rPr lang="en-US" sz="2400" dirty="0"/>
              <a:t>RANGKAIAN PENYEARAH TERBAGI ATAS:</a:t>
            </a:r>
          </a:p>
          <a:p>
            <a:r>
              <a:rPr lang="en-US" sz="2400" dirty="0"/>
              <a:t>1.  </a:t>
            </a:r>
            <a:r>
              <a:rPr lang="en-US" sz="2400" dirty="0" err="1"/>
              <a:t>Rangkaian</a:t>
            </a:r>
            <a:r>
              <a:rPr lang="en-US" sz="2400" dirty="0"/>
              <a:t> </a:t>
            </a:r>
            <a:r>
              <a:rPr lang="en-US" sz="2400" dirty="0" err="1"/>
              <a:t>penyearah</a:t>
            </a:r>
            <a:r>
              <a:rPr lang="en-US" sz="2400" dirty="0"/>
              <a:t> </a:t>
            </a:r>
            <a:r>
              <a:rPr lang="en-US" sz="2400" dirty="0" err="1"/>
              <a:t>setengah</a:t>
            </a:r>
            <a:r>
              <a:rPr lang="en-US" sz="2400" dirty="0"/>
              <a:t> </a:t>
            </a:r>
            <a:r>
              <a:rPr lang="en-US" sz="2400" dirty="0" err="1"/>
              <a:t>gelombang</a:t>
            </a:r>
            <a:endParaRPr lang="en-US" sz="2400" dirty="0"/>
          </a:p>
          <a:p>
            <a:r>
              <a:rPr lang="en-US" sz="2400" dirty="0"/>
              <a:t>2.  </a:t>
            </a:r>
            <a:r>
              <a:rPr lang="en-US" sz="2400" dirty="0" err="1"/>
              <a:t>Rangkaian</a:t>
            </a:r>
            <a:r>
              <a:rPr lang="en-US" sz="2400" dirty="0"/>
              <a:t> </a:t>
            </a:r>
            <a:r>
              <a:rPr lang="en-US" sz="2400" dirty="0" err="1"/>
              <a:t>penyearah</a:t>
            </a:r>
            <a:r>
              <a:rPr lang="en-US" sz="2400" dirty="0"/>
              <a:t> </a:t>
            </a:r>
            <a:r>
              <a:rPr lang="en-US" sz="2400" dirty="0" err="1"/>
              <a:t>gelombang</a:t>
            </a:r>
            <a:r>
              <a:rPr lang="en-US" sz="2400" dirty="0"/>
              <a:t> </a:t>
            </a:r>
            <a:r>
              <a:rPr lang="en-US" sz="2400" dirty="0" err="1"/>
              <a:t>penuh</a:t>
            </a:r>
            <a:endParaRPr lang="en-US" sz="2400" dirty="0"/>
          </a:p>
        </p:txBody>
      </p:sp>
    </p:spTree>
    <p:extLst>
      <p:ext uri="{BB962C8B-B14F-4D97-AF65-F5344CB8AC3E}">
        <p14:creationId xmlns:p14="http://schemas.microsoft.com/office/powerpoint/2010/main" val="30456855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EDBE13D-898C-4E6C-9DE2-960CF8CD48CD}"/>
              </a:ext>
            </a:extLst>
          </p:cNvPr>
          <p:cNvSpPr txBox="1"/>
          <p:nvPr/>
        </p:nvSpPr>
        <p:spPr>
          <a:xfrm>
            <a:off x="1219199" y="809247"/>
            <a:ext cx="7023652" cy="461665"/>
          </a:xfrm>
          <a:prstGeom prst="rect">
            <a:avLst/>
          </a:prstGeom>
          <a:noFill/>
        </p:spPr>
        <p:txBody>
          <a:bodyPr wrap="square">
            <a:spAutoFit/>
          </a:bodyPr>
          <a:lstStyle/>
          <a:p>
            <a:r>
              <a:rPr lang="en-US" sz="2400" b="1" dirty="0"/>
              <a:t>1.RANGKAIAN PENYEARAH SETENGAH GELOMBANG</a:t>
            </a:r>
          </a:p>
        </p:txBody>
      </p:sp>
      <p:sp>
        <p:nvSpPr>
          <p:cNvPr id="5" name="TextBox 4">
            <a:extLst>
              <a:ext uri="{FF2B5EF4-FFF2-40B4-BE49-F238E27FC236}">
                <a16:creationId xmlns:a16="http://schemas.microsoft.com/office/drawing/2014/main" id="{8091F816-BA82-4077-83CD-F7CA14864AE9}"/>
              </a:ext>
            </a:extLst>
          </p:cNvPr>
          <p:cNvSpPr txBox="1"/>
          <p:nvPr/>
        </p:nvSpPr>
        <p:spPr>
          <a:xfrm>
            <a:off x="1497496" y="1393639"/>
            <a:ext cx="9435548" cy="830997"/>
          </a:xfrm>
          <a:prstGeom prst="rect">
            <a:avLst/>
          </a:prstGeom>
          <a:noFill/>
        </p:spPr>
        <p:txBody>
          <a:bodyPr wrap="square">
            <a:spAutoFit/>
          </a:bodyPr>
          <a:lstStyle/>
          <a:p>
            <a:r>
              <a:rPr lang="en-US" sz="2400" dirty="0" err="1"/>
              <a:t>Merupakan</a:t>
            </a:r>
            <a:r>
              <a:rPr lang="en-US" sz="2400" dirty="0"/>
              <a:t> </a:t>
            </a:r>
            <a:r>
              <a:rPr lang="en-US" sz="2400" dirty="0" err="1"/>
              <a:t>rangkaian</a:t>
            </a:r>
            <a:r>
              <a:rPr lang="en-US" sz="2400" dirty="0"/>
              <a:t> </a:t>
            </a:r>
            <a:r>
              <a:rPr lang="en-US" sz="2400" dirty="0" err="1"/>
              <a:t>penyearah</a:t>
            </a:r>
            <a:r>
              <a:rPr lang="en-US" sz="2400" dirty="0"/>
              <a:t> </a:t>
            </a:r>
            <a:r>
              <a:rPr lang="en-US" sz="2400" dirty="0" err="1"/>
              <a:t>sederhana</a:t>
            </a:r>
            <a:r>
              <a:rPr lang="en-US" sz="2400" dirty="0"/>
              <a:t> yang </a:t>
            </a:r>
            <a:r>
              <a:rPr lang="en-US" sz="2400" dirty="0" err="1"/>
              <a:t>hanya</a:t>
            </a:r>
            <a:r>
              <a:rPr lang="en-US" sz="2400" dirty="0"/>
              <a:t> </a:t>
            </a:r>
            <a:r>
              <a:rPr lang="en-US" sz="2400" dirty="0" err="1"/>
              <a:t>dibangun</a:t>
            </a:r>
            <a:r>
              <a:rPr lang="en-US" sz="2400" dirty="0"/>
              <a:t> </a:t>
            </a:r>
            <a:r>
              <a:rPr lang="en-US" sz="2400" dirty="0" err="1"/>
              <a:t>menggunakan</a:t>
            </a:r>
            <a:r>
              <a:rPr lang="en-US" sz="2400" dirty="0"/>
              <a:t> </a:t>
            </a:r>
            <a:r>
              <a:rPr lang="en-US" sz="2400" dirty="0" err="1"/>
              <a:t>satu</a:t>
            </a:r>
            <a:r>
              <a:rPr lang="en-US" sz="2400" dirty="0"/>
              <a:t> diode </a:t>
            </a:r>
            <a:r>
              <a:rPr lang="en-US" sz="2400" dirty="0" err="1"/>
              <a:t>saja</a:t>
            </a:r>
            <a:r>
              <a:rPr lang="en-US" sz="2400" dirty="0"/>
              <a:t>, </a:t>
            </a:r>
            <a:r>
              <a:rPr lang="en-US" sz="2400" dirty="0" err="1"/>
              <a:t>seperti</a:t>
            </a:r>
            <a:r>
              <a:rPr lang="en-US" sz="2400" dirty="0"/>
              <a:t> </a:t>
            </a:r>
            <a:r>
              <a:rPr lang="en-US" sz="2400" dirty="0" err="1"/>
              <a:t>diilustrasikan</a:t>
            </a:r>
            <a:r>
              <a:rPr lang="en-US" sz="2400" dirty="0"/>
              <a:t> pada </a:t>
            </a:r>
            <a:r>
              <a:rPr lang="en-US" sz="2400" dirty="0" err="1"/>
              <a:t>gambar</a:t>
            </a:r>
            <a:r>
              <a:rPr lang="en-US" sz="2400" dirty="0"/>
              <a:t> </a:t>
            </a:r>
            <a:r>
              <a:rPr lang="en-US" sz="2400" dirty="0" err="1"/>
              <a:t>berikut</a:t>
            </a:r>
            <a:r>
              <a:rPr lang="en-US" sz="2400" dirty="0"/>
              <a:t>:</a:t>
            </a:r>
          </a:p>
        </p:txBody>
      </p:sp>
      <p:pic>
        <p:nvPicPr>
          <p:cNvPr id="6" name="Picture 5">
            <a:extLst>
              <a:ext uri="{FF2B5EF4-FFF2-40B4-BE49-F238E27FC236}">
                <a16:creationId xmlns:a16="http://schemas.microsoft.com/office/drawing/2014/main" id="{54A2C91D-24A6-4886-96B9-DC414A4EC770}"/>
              </a:ext>
            </a:extLst>
          </p:cNvPr>
          <p:cNvPicPr>
            <a:picLocks noChangeAspect="1"/>
          </p:cNvPicPr>
          <p:nvPr/>
        </p:nvPicPr>
        <p:blipFill>
          <a:blip r:embed="rId3"/>
          <a:stretch>
            <a:fillRect/>
          </a:stretch>
        </p:blipFill>
        <p:spPr>
          <a:xfrm>
            <a:off x="1858437" y="2420935"/>
            <a:ext cx="3017949" cy="1615037"/>
          </a:xfrm>
          <a:prstGeom prst="rect">
            <a:avLst/>
          </a:prstGeom>
        </p:spPr>
      </p:pic>
      <p:pic>
        <p:nvPicPr>
          <p:cNvPr id="7" name="Picture 6">
            <a:extLst>
              <a:ext uri="{FF2B5EF4-FFF2-40B4-BE49-F238E27FC236}">
                <a16:creationId xmlns:a16="http://schemas.microsoft.com/office/drawing/2014/main" id="{1C0CEB1C-EDDE-470D-86BB-CF3039BCB4DF}"/>
              </a:ext>
            </a:extLst>
          </p:cNvPr>
          <p:cNvPicPr>
            <a:picLocks noChangeAspect="1"/>
          </p:cNvPicPr>
          <p:nvPr/>
        </p:nvPicPr>
        <p:blipFill>
          <a:blip r:embed="rId4"/>
          <a:stretch>
            <a:fillRect/>
          </a:stretch>
        </p:blipFill>
        <p:spPr>
          <a:xfrm>
            <a:off x="800440" y="4136660"/>
            <a:ext cx="5487487" cy="2336848"/>
          </a:xfrm>
          <a:prstGeom prst="rect">
            <a:avLst/>
          </a:prstGeom>
        </p:spPr>
      </p:pic>
      <p:pic>
        <p:nvPicPr>
          <p:cNvPr id="8" name="Picture 7">
            <a:extLst>
              <a:ext uri="{FF2B5EF4-FFF2-40B4-BE49-F238E27FC236}">
                <a16:creationId xmlns:a16="http://schemas.microsoft.com/office/drawing/2014/main" id="{2B0F664D-E15F-4F47-A059-03EBE58545D6}"/>
              </a:ext>
            </a:extLst>
          </p:cNvPr>
          <p:cNvPicPr>
            <a:picLocks noChangeAspect="1"/>
          </p:cNvPicPr>
          <p:nvPr/>
        </p:nvPicPr>
        <p:blipFill>
          <a:blip r:embed="rId5"/>
          <a:stretch>
            <a:fillRect/>
          </a:stretch>
        </p:blipFill>
        <p:spPr>
          <a:xfrm>
            <a:off x="6561196" y="3228453"/>
            <a:ext cx="5105287" cy="2484154"/>
          </a:xfrm>
          <a:prstGeom prst="rect">
            <a:avLst/>
          </a:prstGeom>
        </p:spPr>
      </p:pic>
      <p:sp>
        <p:nvSpPr>
          <p:cNvPr id="2" name="Freeform 1"/>
          <p:cNvSpPr/>
          <p:nvPr/>
        </p:nvSpPr>
        <p:spPr>
          <a:xfrm>
            <a:off x="3720662" y="3654046"/>
            <a:ext cx="3184635" cy="1233264"/>
          </a:xfrm>
          <a:custGeom>
            <a:avLst/>
            <a:gdLst>
              <a:gd name="connsiteX0" fmla="*/ 3184635 w 3184635"/>
              <a:gd name="connsiteY0" fmla="*/ 245292 h 1233264"/>
              <a:gd name="connsiteX1" fmla="*/ 1576552 w 3184635"/>
              <a:gd name="connsiteY1" fmla="*/ 66616 h 1233264"/>
              <a:gd name="connsiteX2" fmla="*/ 0 w 3184635"/>
              <a:gd name="connsiteY2" fmla="*/ 1233264 h 1233264"/>
            </a:gdLst>
            <a:ahLst/>
            <a:cxnLst>
              <a:cxn ang="0">
                <a:pos x="connsiteX0" y="connsiteY0"/>
              </a:cxn>
              <a:cxn ang="0">
                <a:pos x="connsiteX1" y="connsiteY1"/>
              </a:cxn>
              <a:cxn ang="0">
                <a:pos x="connsiteX2" y="connsiteY2"/>
              </a:cxn>
            </a:cxnLst>
            <a:rect l="l" t="t" r="r" b="b"/>
            <a:pathLst>
              <a:path w="3184635" h="1233264">
                <a:moveTo>
                  <a:pt x="3184635" y="245292"/>
                </a:moveTo>
                <a:cubicBezTo>
                  <a:pt x="2645979" y="73623"/>
                  <a:pt x="2107324" y="-98046"/>
                  <a:pt x="1576552" y="66616"/>
                </a:cubicBezTo>
                <a:cubicBezTo>
                  <a:pt x="1045780" y="231278"/>
                  <a:pt x="522890" y="732271"/>
                  <a:pt x="0" y="1233264"/>
                </a:cubicBezTo>
              </a:path>
            </a:pathLst>
          </a:custGeom>
          <a:noFill/>
          <a:ln>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364707" y="3116820"/>
            <a:ext cx="1671145" cy="646331"/>
          </a:xfrm>
          <a:prstGeom prst="rect">
            <a:avLst/>
          </a:prstGeom>
          <a:noFill/>
        </p:spPr>
        <p:txBody>
          <a:bodyPr wrap="square" rtlCol="0">
            <a:spAutoFit/>
          </a:bodyPr>
          <a:lstStyle/>
          <a:p>
            <a:r>
              <a:rPr lang="en-US"/>
              <a:t>Tanpa Transformator</a:t>
            </a:r>
          </a:p>
        </p:txBody>
      </p:sp>
      <p:sp>
        <p:nvSpPr>
          <p:cNvPr id="9" name="TextBox 8"/>
          <p:cNvSpPr txBox="1"/>
          <p:nvPr/>
        </p:nvSpPr>
        <p:spPr>
          <a:xfrm>
            <a:off x="2269710" y="6389530"/>
            <a:ext cx="2461315" cy="369332"/>
          </a:xfrm>
          <a:prstGeom prst="rect">
            <a:avLst/>
          </a:prstGeom>
          <a:noFill/>
        </p:spPr>
        <p:txBody>
          <a:bodyPr wrap="square" rtlCol="0">
            <a:spAutoFit/>
          </a:bodyPr>
          <a:lstStyle/>
          <a:p>
            <a:r>
              <a:rPr lang="en-US"/>
              <a:t>Dengan Transformator</a:t>
            </a:r>
          </a:p>
        </p:txBody>
      </p:sp>
      <p:sp>
        <p:nvSpPr>
          <p:cNvPr id="10" name="Freeform 9"/>
          <p:cNvSpPr/>
          <p:nvPr/>
        </p:nvSpPr>
        <p:spPr>
          <a:xfrm>
            <a:off x="2522483" y="1920527"/>
            <a:ext cx="4351283" cy="1957790"/>
          </a:xfrm>
          <a:custGeom>
            <a:avLst/>
            <a:gdLst>
              <a:gd name="connsiteX0" fmla="*/ 4351283 w 4351283"/>
              <a:gd name="connsiteY0" fmla="*/ 1957790 h 1957790"/>
              <a:gd name="connsiteX1" fmla="*/ 1681655 w 4351283"/>
              <a:gd name="connsiteY1" fmla="*/ 55418 h 1957790"/>
              <a:gd name="connsiteX2" fmla="*/ 0 w 4351283"/>
              <a:gd name="connsiteY2" fmla="*/ 696549 h 1957790"/>
            </a:gdLst>
            <a:ahLst/>
            <a:cxnLst>
              <a:cxn ang="0">
                <a:pos x="connsiteX0" y="connsiteY0"/>
              </a:cxn>
              <a:cxn ang="0">
                <a:pos x="connsiteX1" y="connsiteY1"/>
              </a:cxn>
              <a:cxn ang="0">
                <a:pos x="connsiteX2" y="connsiteY2"/>
              </a:cxn>
            </a:cxnLst>
            <a:rect l="l" t="t" r="r" b="b"/>
            <a:pathLst>
              <a:path w="4351283" h="1957790">
                <a:moveTo>
                  <a:pt x="4351283" y="1957790"/>
                </a:moveTo>
                <a:cubicBezTo>
                  <a:pt x="3379076" y="1111707"/>
                  <a:pt x="2406869" y="265625"/>
                  <a:pt x="1681655" y="55418"/>
                </a:cubicBezTo>
                <a:cubicBezTo>
                  <a:pt x="956441" y="-154789"/>
                  <a:pt x="478220" y="270880"/>
                  <a:pt x="0" y="696549"/>
                </a:cubicBezTo>
              </a:path>
            </a:pathLst>
          </a:custGeom>
          <a:noFill/>
          <a:ln>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97891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545A0ED-4EDA-4207-B1F1-9E67D047ECE4}"/>
              </a:ext>
            </a:extLst>
          </p:cNvPr>
          <p:cNvPicPr>
            <a:picLocks noChangeAspect="1"/>
          </p:cNvPicPr>
          <p:nvPr/>
        </p:nvPicPr>
        <p:blipFill>
          <a:blip r:embed="rId3"/>
          <a:stretch>
            <a:fillRect/>
          </a:stretch>
        </p:blipFill>
        <p:spPr>
          <a:xfrm>
            <a:off x="519386" y="1170327"/>
            <a:ext cx="5322269" cy="1542422"/>
          </a:xfrm>
          <a:prstGeom prst="rect">
            <a:avLst/>
          </a:prstGeom>
        </p:spPr>
      </p:pic>
      <p:pic>
        <p:nvPicPr>
          <p:cNvPr id="3" name="Picture 2">
            <a:extLst>
              <a:ext uri="{FF2B5EF4-FFF2-40B4-BE49-F238E27FC236}">
                <a16:creationId xmlns:a16="http://schemas.microsoft.com/office/drawing/2014/main" id="{F8B0AE58-2D04-45DF-8CBF-D12EB83BAC44}"/>
              </a:ext>
            </a:extLst>
          </p:cNvPr>
          <p:cNvPicPr>
            <a:picLocks noChangeAspect="1"/>
          </p:cNvPicPr>
          <p:nvPr/>
        </p:nvPicPr>
        <p:blipFill>
          <a:blip r:embed="rId4"/>
          <a:stretch>
            <a:fillRect/>
          </a:stretch>
        </p:blipFill>
        <p:spPr>
          <a:xfrm>
            <a:off x="6096000" y="1170327"/>
            <a:ext cx="5745795" cy="4517345"/>
          </a:xfrm>
          <a:prstGeom prst="rect">
            <a:avLst/>
          </a:prstGeom>
        </p:spPr>
      </p:pic>
      <p:pic>
        <p:nvPicPr>
          <p:cNvPr id="4" name="Picture 3">
            <a:extLst>
              <a:ext uri="{FF2B5EF4-FFF2-40B4-BE49-F238E27FC236}">
                <a16:creationId xmlns:a16="http://schemas.microsoft.com/office/drawing/2014/main" id="{744E35AD-F5CE-42FD-B898-FDAA3F3A4953}"/>
              </a:ext>
            </a:extLst>
          </p:cNvPr>
          <p:cNvPicPr>
            <a:picLocks noChangeAspect="1"/>
          </p:cNvPicPr>
          <p:nvPr/>
        </p:nvPicPr>
        <p:blipFill>
          <a:blip r:embed="rId5"/>
          <a:stretch>
            <a:fillRect/>
          </a:stretch>
        </p:blipFill>
        <p:spPr>
          <a:xfrm>
            <a:off x="625404" y="4643702"/>
            <a:ext cx="5974178" cy="664522"/>
          </a:xfrm>
          <a:prstGeom prst="rect">
            <a:avLst/>
          </a:prstGeom>
        </p:spPr>
      </p:pic>
      <p:sp>
        <p:nvSpPr>
          <p:cNvPr id="5" name="Freeform 4"/>
          <p:cNvSpPr/>
          <p:nvPr/>
        </p:nvSpPr>
        <p:spPr>
          <a:xfrm>
            <a:off x="3678621" y="968181"/>
            <a:ext cx="945931" cy="755516"/>
          </a:xfrm>
          <a:custGeom>
            <a:avLst/>
            <a:gdLst>
              <a:gd name="connsiteX0" fmla="*/ 0 w 945931"/>
              <a:gd name="connsiteY0" fmla="*/ 282550 h 755516"/>
              <a:gd name="connsiteX1" fmla="*/ 662151 w 945931"/>
              <a:gd name="connsiteY1" fmla="*/ 19791 h 755516"/>
              <a:gd name="connsiteX2" fmla="*/ 945931 w 945931"/>
              <a:gd name="connsiteY2" fmla="*/ 755516 h 755516"/>
            </a:gdLst>
            <a:ahLst/>
            <a:cxnLst>
              <a:cxn ang="0">
                <a:pos x="connsiteX0" y="connsiteY0"/>
              </a:cxn>
              <a:cxn ang="0">
                <a:pos x="connsiteX1" y="connsiteY1"/>
              </a:cxn>
              <a:cxn ang="0">
                <a:pos x="connsiteX2" y="connsiteY2"/>
              </a:cxn>
            </a:cxnLst>
            <a:rect l="l" t="t" r="r" b="b"/>
            <a:pathLst>
              <a:path w="945931" h="755516">
                <a:moveTo>
                  <a:pt x="0" y="282550"/>
                </a:moveTo>
                <a:cubicBezTo>
                  <a:pt x="252248" y="111756"/>
                  <a:pt x="504496" y="-59037"/>
                  <a:pt x="662151" y="19791"/>
                </a:cubicBezTo>
                <a:cubicBezTo>
                  <a:pt x="819806" y="98619"/>
                  <a:pt x="882868" y="427067"/>
                  <a:pt x="945931" y="755516"/>
                </a:cubicBezTo>
              </a:path>
            </a:pathLst>
          </a:custGeom>
          <a:noFill/>
          <a:ln>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734519" y="4274370"/>
            <a:ext cx="3270447" cy="369332"/>
          </a:xfrm>
          <a:prstGeom prst="rect">
            <a:avLst/>
          </a:prstGeom>
          <a:noFill/>
        </p:spPr>
        <p:txBody>
          <a:bodyPr wrap="none" rtlCol="0">
            <a:spAutoFit/>
          </a:bodyPr>
          <a:lstStyle/>
          <a:p>
            <a:r>
              <a:rPr lang="en-US"/>
              <a:t>Dgn asumsi dioda ideal </a:t>
            </a:r>
            <a:r>
              <a:rPr lang="en-US">
                <a:sym typeface="Wingdings" panose="05000000000000000000" pitchFamily="2" charset="2"/>
              </a:rPr>
              <a:t> </a:t>
            </a:r>
            <a:r>
              <a:rPr lang="en-US"/>
              <a:t>VD=0</a:t>
            </a:r>
          </a:p>
        </p:txBody>
      </p:sp>
      <p:sp>
        <p:nvSpPr>
          <p:cNvPr id="8" name="Rectangle 7">
            <a:extLst>
              <a:ext uri="{FF2B5EF4-FFF2-40B4-BE49-F238E27FC236}">
                <a16:creationId xmlns:a16="http://schemas.microsoft.com/office/drawing/2014/main" id="{DD40507A-97C2-D001-F5FC-C888CE341F75}"/>
              </a:ext>
            </a:extLst>
          </p:cNvPr>
          <p:cNvSpPr/>
          <p:nvPr/>
        </p:nvSpPr>
        <p:spPr>
          <a:xfrm>
            <a:off x="10901680" y="1686560"/>
            <a:ext cx="193040" cy="381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9" name="Rectangle 8">
            <a:extLst>
              <a:ext uri="{FF2B5EF4-FFF2-40B4-BE49-F238E27FC236}">
                <a16:creationId xmlns:a16="http://schemas.microsoft.com/office/drawing/2014/main" id="{90182D2B-ACE0-9F97-0858-0F96BBAA6E89}"/>
              </a:ext>
            </a:extLst>
          </p:cNvPr>
          <p:cNvSpPr/>
          <p:nvPr/>
        </p:nvSpPr>
        <p:spPr>
          <a:xfrm>
            <a:off x="11066587" y="1723696"/>
            <a:ext cx="282478" cy="1813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 name="Freeform 5"/>
          <p:cNvSpPr/>
          <p:nvPr/>
        </p:nvSpPr>
        <p:spPr>
          <a:xfrm>
            <a:off x="9553903" y="982588"/>
            <a:ext cx="1444297" cy="1084972"/>
          </a:xfrm>
          <a:custGeom>
            <a:avLst/>
            <a:gdLst>
              <a:gd name="connsiteX0" fmla="*/ 0 w 1408387"/>
              <a:gd name="connsiteY0" fmla="*/ 299674 h 1014378"/>
              <a:gd name="connsiteX1" fmla="*/ 767256 w 1408387"/>
              <a:gd name="connsiteY1" fmla="*/ 36915 h 1014378"/>
              <a:gd name="connsiteX2" fmla="*/ 1408387 w 1408387"/>
              <a:gd name="connsiteY2" fmla="*/ 1014378 h 1014378"/>
            </a:gdLst>
            <a:ahLst/>
            <a:cxnLst>
              <a:cxn ang="0">
                <a:pos x="connsiteX0" y="connsiteY0"/>
              </a:cxn>
              <a:cxn ang="0">
                <a:pos x="connsiteX1" y="connsiteY1"/>
              </a:cxn>
              <a:cxn ang="0">
                <a:pos x="connsiteX2" y="connsiteY2"/>
              </a:cxn>
            </a:cxnLst>
            <a:rect l="l" t="t" r="r" b="b"/>
            <a:pathLst>
              <a:path w="1408387" h="1014378">
                <a:moveTo>
                  <a:pt x="0" y="299674"/>
                </a:moveTo>
                <a:cubicBezTo>
                  <a:pt x="266262" y="108736"/>
                  <a:pt x="532525" y="-82202"/>
                  <a:pt x="767256" y="36915"/>
                </a:cubicBezTo>
                <a:cubicBezTo>
                  <a:pt x="1001987" y="156032"/>
                  <a:pt x="1205187" y="585205"/>
                  <a:pt x="1408387" y="1014378"/>
                </a:cubicBezTo>
              </a:path>
            </a:pathLst>
          </a:custGeom>
          <a:noFill/>
          <a:ln>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704200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F6146C8-E025-436F-818A-131EE778D96A}"/>
              </a:ext>
            </a:extLst>
          </p:cNvPr>
          <p:cNvPicPr>
            <a:picLocks noChangeAspect="1"/>
          </p:cNvPicPr>
          <p:nvPr/>
        </p:nvPicPr>
        <p:blipFill>
          <a:blip r:embed="rId3"/>
          <a:stretch>
            <a:fillRect/>
          </a:stretch>
        </p:blipFill>
        <p:spPr>
          <a:xfrm>
            <a:off x="1457739" y="561412"/>
            <a:ext cx="9350145" cy="5259456"/>
          </a:xfrm>
          <a:prstGeom prst="rect">
            <a:avLst/>
          </a:prstGeom>
        </p:spPr>
      </p:pic>
      <p:sp>
        <p:nvSpPr>
          <p:cNvPr id="3" name="TextBox 2"/>
          <p:cNvSpPr txBox="1"/>
          <p:nvPr/>
        </p:nvSpPr>
        <p:spPr>
          <a:xfrm>
            <a:off x="3290342" y="3637288"/>
            <a:ext cx="3701654" cy="369332"/>
          </a:xfrm>
          <a:prstGeom prst="rect">
            <a:avLst/>
          </a:prstGeom>
          <a:noFill/>
        </p:spPr>
        <p:txBody>
          <a:bodyPr wrap="none" rtlCol="0">
            <a:spAutoFit/>
          </a:bodyPr>
          <a:lstStyle/>
          <a:p>
            <a:r>
              <a:rPr lang="en-US"/>
              <a:t>Dgn asumsi dioda normal </a:t>
            </a:r>
            <a:r>
              <a:rPr lang="en-US">
                <a:sym typeface="Wingdings" panose="05000000000000000000" pitchFamily="2" charset="2"/>
              </a:rPr>
              <a:t> </a:t>
            </a:r>
            <a:r>
              <a:rPr lang="en-US"/>
              <a:t>VT=0,7V</a:t>
            </a:r>
          </a:p>
        </p:txBody>
      </p:sp>
    </p:spTree>
    <p:extLst>
      <p:ext uri="{BB962C8B-B14F-4D97-AF65-F5344CB8AC3E}">
        <p14:creationId xmlns:p14="http://schemas.microsoft.com/office/powerpoint/2010/main" val="13937811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72B2499-267D-4D18-877B-A8934FA49FA9}"/>
              </a:ext>
            </a:extLst>
          </p:cNvPr>
          <p:cNvSpPr txBox="1"/>
          <p:nvPr/>
        </p:nvSpPr>
        <p:spPr>
          <a:xfrm>
            <a:off x="895379" y="267000"/>
            <a:ext cx="1113183" cy="369332"/>
          </a:xfrm>
          <a:prstGeom prst="rect">
            <a:avLst/>
          </a:prstGeom>
          <a:noFill/>
        </p:spPr>
        <p:txBody>
          <a:bodyPr wrap="square">
            <a:spAutoFit/>
          </a:bodyPr>
          <a:lstStyle/>
          <a:p>
            <a:r>
              <a:rPr lang="en-US" dirty="0"/>
              <a:t>PIV (PRV)</a:t>
            </a:r>
          </a:p>
        </p:txBody>
      </p:sp>
      <p:pic>
        <p:nvPicPr>
          <p:cNvPr id="4" name="Picture 3">
            <a:extLst>
              <a:ext uri="{FF2B5EF4-FFF2-40B4-BE49-F238E27FC236}">
                <a16:creationId xmlns:a16="http://schemas.microsoft.com/office/drawing/2014/main" id="{23D10A00-EB6B-416E-9ED0-42E7C171AE15}"/>
              </a:ext>
            </a:extLst>
          </p:cNvPr>
          <p:cNvPicPr>
            <a:picLocks noChangeAspect="1"/>
          </p:cNvPicPr>
          <p:nvPr/>
        </p:nvPicPr>
        <p:blipFill>
          <a:blip r:embed="rId3"/>
          <a:stretch>
            <a:fillRect/>
          </a:stretch>
        </p:blipFill>
        <p:spPr>
          <a:xfrm>
            <a:off x="895379" y="810371"/>
            <a:ext cx="7084166" cy="707197"/>
          </a:xfrm>
          <a:prstGeom prst="rect">
            <a:avLst/>
          </a:prstGeom>
        </p:spPr>
      </p:pic>
      <p:pic>
        <p:nvPicPr>
          <p:cNvPr id="5" name="Picture 4">
            <a:extLst>
              <a:ext uri="{FF2B5EF4-FFF2-40B4-BE49-F238E27FC236}">
                <a16:creationId xmlns:a16="http://schemas.microsoft.com/office/drawing/2014/main" id="{501BC0B1-7B43-4FFE-8778-5BAC75F3FE6F}"/>
              </a:ext>
            </a:extLst>
          </p:cNvPr>
          <p:cNvPicPr>
            <a:picLocks noChangeAspect="1"/>
          </p:cNvPicPr>
          <p:nvPr/>
        </p:nvPicPr>
        <p:blipFill>
          <a:blip r:embed="rId4"/>
          <a:stretch>
            <a:fillRect/>
          </a:stretch>
        </p:blipFill>
        <p:spPr>
          <a:xfrm>
            <a:off x="895379" y="1621734"/>
            <a:ext cx="8702739" cy="2463544"/>
          </a:xfrm>
          <a:prstGeom prst="rect">
            <a:avLst/>
          </a:prstGeom>
        </p:spPr>
      </p:pic>
      <p:sp>
        <p:nvSpPr>
          <p:cNvPr id="6" name="TextBox 5">
            <a:extLst>
              <a:ext uri="{FF2B5EF4-FFF2-40B4-BE49-F238E27FC236}">
                <a16:creationId xmlns:a16="http://schemas.microsoft.com/office/drawing/2014/main" id="{EE66EE3A-47A6-5A6F-BFFA-44080588ED5F}"/>
              </a:ext>
            </a:extLst>
          </p:cNvPr>
          <p:cNvSpPr txBox="1"/>
          <p:nvPr/>
        </p:nvSpPr>
        <p:spPr>
          <a:xfrm>
            <a:off x="497346" y="4085278"/>
            <a:ext cx="10959547" cy="2554545"/>
          </a:xfrm>
          <a:prstGeom prst="rect">
            <a:avLst/>
          </a:prstGeom>
          <a:noFill/>
        </p:spPr>
        <p:txBody>
          <a:bodyPr wrap="square">
            <a:spAutoFit/>
          </a:bodyPr>
          <a:lstStyle/>
          <a:p>
            <a:r>
              <a:rPr lang="en-US" sz="1600" b="0" i="0" kern="1200">
                <a:solidFill>
                  <a:schemeClr val="tx1"/>
                </a:solidFill>
                <a:effectLst/>
                <a:latin typeface="+mn-lt"/>
                <a:ea typeface="+mn-ea"/>
                <a:cs typeface="+mn-cs"/>
              </a:rPr>
              <a:t>PIV (Peak Inverse Voltage) rating adalah nilai tegangan maksimum yang dapat ditangani oleh sebuah dioda dalam kondisi mundur (reverse-biased) sebelum mulai terjadi breakdown atau arus yang signifikan mengalir melalui dioda tersebut. Dalam kondisi ini, dioda seharusnya tidak mengalirkan arus yang berlawanan dengan arah alir normalnya.</a:t>
            </a:r>
          </a:p>
          <a:p>
            <a:r>
              <a:rPr lang="en-US" sz="1600" b="0" i="0" kern="1200">
                <a:solidFill>
                  <a:schemeClr val="tx1"/>
                </a:solidFill>
                <a:effectLst/>
                <a:latin typeface="+mn-lt"/>
                <a:ea typeface="+mn-ea"/>
                <a:cs typeface="+mn-cs"/>
              </a:rPr>
              <a:t>PIV rating adalah parameter penting untuk dipertimbangkan saat merancang atau memilih dioda untuk aplikasi tertentu, terutama dalam rangkaian penyearah (rectifier) dan penstabilan tegangan. Nilai PIV rating dioda harus lebih besar dari tegangan maksimum yang akan diterapkan pada dioda dalam kondisi mundur.</a:t>
            </a:r>
          </a:p>
          <a:p>
            <a:r>
              <a:rPr lang="en-US" sz="1600" b="0" i="0" kern="1200">
                <a:solidFill>
                  <a:schemeClr val="tx1"/>
                </a:solidFill>
                <a:effectLst/>
                <a:latin typeface="+mn-lt"/>
                <a:ea typeface="+mn-ea"/>
                <a:cs typeface="+mn-cs"/>
              </a:rPr>
              <a:t>Jika tegangan yang diterapkan melebihi PIV rating dioda, maka ada risiko breakdown atau terjadinya breakdown dioda, yang dapat mengakibatkan kerusakan pada komponen dan sirkuit di sekitarnya.</a:t>
            </a:r>
          </a:p>
          <a:p>
            <a:r>
              <a:rPr lang="en-US" sz="1600" b="0" i="0" kern="1200">
                <a:solidFill>
                  <a:schemeClr val="tx1"/>
                </a:solidFill>
                <a:effectLst/>
                <a:latin typeface="+mn-lt"/>
                <a:ea typeface="+mn-ea"/>
                <a:cs typeface="+mn-cs"/>
              </a:rPr>
              <a:t>Oleh karena itu, penting untuk memilih dioda dengan PIV rating yang memadai sesuai dengan kebutuhan aplikasi agar dapat menangani tegangan mundur yang mungkin muncul dalam kondisi operasi.</a:t>
            </a:r>
          </a:p>
        </p:txBody>
      </p:sp>
    </p:spTree>
    <p:extLst>
      <p:ext uri="{BB962C8B-B14F-4D97-AF65-F5344CB8AC3E}">
        <p14:creationId xmlns:p14="http://schemas.microsoft.com/office/powerpoint/2010/main" val="3261764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FBF58DB-B493-42D9-9605-667330B6BAB8}"/>
              </a:ext>
            </a:extLst>
          </p:cNvPr>
          <p:cNvSpPr txBox="1"/>
          <p:nvPr/>
        </p:nvSpPr>
        <p:spPr>
          <a:xfrm>
            <a:off x="967408" y="411682"/>
            <a:ext cx="6096000" cy="461665"/>
          </a:xfrm>
          <a:prstGeom prst="rect">
            <a:avLst/>
          </a:prstGeom>
          <a:noFill/>
        </p:spPr>
        <p:txBody>
          <a:bodyPr wrap="square">
            <a:spAutoFit/>
          </a:bodyPr>
          <a:lstStyle/>
          <a:p>
            <a:r>
              <a:rPr lang="en-US" sz="2400" dirty="0" err="1"/>
              <a:t>Prinsip</a:t>
            </a:r>
            <a:r>
              <a:rPr lang="en-US" sz="2400" dirty="0"/>
              <a:t> </a:t>
            </a:r>
            <a:r>
              <a:rPr lang="en-US" sz="2400" dirty="0" err="1"/>
              <a:t>kerja</a:t>
            </a:r>
            <a:r>
              <a:rPr lang="en-US" sz="2400" dirty="0"/>
              <a:t> </a:t>
            </a:r>
          </a:p>
        </p:txBody>
      </p:sp>
      <p:sp>
        <p:nvSpPr>
          <p:cNvPr id="5" name="TextBox 4">
            <a:extLst>
              <a:ext uri="{FF2B5EF4-FFF2-40B4-BE49-F238E27FC236}">
                <a16:creationId xmlns:a16="http://schemas.microsoft.com/office/drawing/2014/main" id="{6D2C7C3D-52E6-4F58-9D4E-106BAF14CE80}"/>
              </a:ext>
            </a:extLst>
          </p:cNvPr>
          <p:cNvSpPr txBox="1"/>
          <p:nvPr/>
        </p:nvSpPr>
        <p:spPr>
          <a:xfrm>
            <a:off x="967408" y="873347"/>
            <a:ext cx="9356035" cy="2862322"/>
          </a:xfrm>
          <a:prstGeom prst="rect">
            <a:avLst/>
          </a:prstGeom>
          <a:noFill/>
        </p:spPr>
        <p:txBody>
          <a:bodyPr wrap="square">
            <a:spAutoFit/>
          </a:bodyPr>
          <a:lstStyle/>
          <a:p>
            <a:r>
              <a:rPr lang="en-US" sz="2000" dirty="0" err="1"/>
              <a:t>Prinsip</a:t>
            </a:r>
            <a:r>
              <a:rPr lang="en-US" sz="2000" dirty="0"/>
              <a:t> </a:t>
            </a:r>
            <a:r>
              <a:rPr lang="en-US" sz="2000" dirty="0" err="1"/>
              <a:t>kerja</a:t>
            </a:r>
            <a:r>
              <a:rPr lang="en-US" sz="2000" dirty="0"/>
              <a:t> </a:t>
            </a:r>
            <a:r>
              <a:rPr lang="en-US" sz="2000" dirty="0" err="1"/>
              <a:t>dari</a:t>
            </a:r>
            <a:r>
              <a:rPr lang="en-US" sz="2000" dirty="0"/>
              <a:t> </a:t>
            </a:r>
            <a:r>
              <a:rPr lang="en-US" sz="2000" dirty="0" err="1"/>
              <a:t>rangkaian</a:t>
            </a:r>
            <a:r>
              <a:rPr lang="en-US" sz="2000" dirty="0"/>
              <a:t> </a:t>
            </a:r>
            <a:r>
              <a:rPr lang="en-US" sz="2000" dirty="0" err="1"/>
              <a:t>penyearah</a:t>
            </a:r>
            <a:r>
              <a:rPr lang="en-US" sz="2000" dirty="0"/>
              <a:t> </a:t>
            </a:r>
            <a:r>
              <a:rPr lang="en-US" sz="2000" dirty="0" err="1"/>
              <a:t>setengah</a:t>
            </a:r>
            <a:r>
              <a:rPr lang="en-US" sz="2000" dirty="0"/>
              <a:t> </a:t>
            </a:r>
            <a:r>
              <a:rPr lang="en-US" sz="2000" dirty="0" err="1"/>
              <a:t>gelombang</a:t>
            </a:r>
            <a:r>
              <a:rPr lang="en-US" sz="2000" dirty="0"/>
              <a:t>  :</a:t>
            </a:r>
          </a:p>
          <a:p>
            <a:pPr marL="342900" indent="-342900">
              <a:buFontTx/>
              <a:buChar char="-"/>
            </a:pPr>
            <a:r>
              <a:rPr lang="en-US" sz="2000" dirty="0"/>
              <a:t>pada </a:t>
            </a:r>
            <a:r>
              <a:rPr lang="en-US" sz="2000" dirty="0" err="1"/>
              <a:t>saat</a:t>
            </a:r>
            <a:r>
              <a:rPr lang="en-US" sz="2000" dirty="0"/>
              <a:t> </a:t>
            </a:r>
            <a:r>
              <a:rPr lang="en-US" sz="2000" dirty="0" err="1"/>
              <a:t>setengah</a:t>
            </a:r>
            <a:r>
              <a:rPr lang="en-US" sz="2000" dirty="0"/>
              <a:t> </a:t>
            </a:r>
            <a:r>
              <a:rPr lang="en-US" sz="2000" dirty="0" err="1"/>
              <a:t>gelombang</a:t>
            </a:r>
            <a:r>
              <a:rPr lang="en-US" sz="2000" dirty="0"/>
              <a:t> </a:t>
            </a:r>
            <a:r>
              <a:rPr lang="en-US" sz="2000" dirty="0" err="1"/>
              <a:t>pertama</a:t>
            </a:r>
            <a:r>
              <a:rPr lang="en-US" sz="2000" dirty="0"/>
              <a:t> (</a:t>
            </a:r>
            <a:r>
              <a:rPr lang="en-US" sz="2000" dirty="0" err="1"/>
              <a:t>puncak</a:t>
            </a:r>
            <a:r>
              <a:rPr lang="en-US" sz="2000" dirty="0"/>
              <a:t>) </a:t>
            </a:r>
            <a:r>
              <a:rPr lang="en-US" sz="2000" dirty="0" err="1"/>
              <a:t>melewati</a:t>
            </a:r>
            <a:r>
              <a:rPr lang="en-US" sz="2000" dirty="0"/>
              <a:t> diode yang </a:t>
            </a:r>
            <a:r>
              <a:rPr lang="en-US" sz="2000" dirty="0" err="1"/>
              <a:t>bernilai</a:t>
            </a:r>
            <a:r>
              <a:rPr lang="en-US" sz="2000" dirty="0"/>
              <a:t> </a:t>
            </a:r>
            <a:r>
              <a:rPr lang="en-US" sz="2000" dirty="0" err="1"/>
              <a:t>positif</a:t>
            </a:r>
            <a:r>
              <a:rPr lang="en-US" sz="2000" dirty="0"/>
              <a:t> </a:t>
            </a:r>
            <a:r>
              <a:rPr lang="en-US" sz="2000" dirty="0" err="1"/>
              <a:t>menyebabkan</a:t>
            </a:r>
            <a:r>
              <a:rPr lang="en-US" sz="2000" dirty="0"/>
              <a:t> diode </a:t>
            </a:r>
            <a:r>
              <a:rPr lang="en-US" sz="2000" dirty="0" err="1"/>
              <a:t>dalam</a:t>
            </a:r>
            <a:r>
              <a:rPr lang="en-US" sz="2000" dirty="0"/>
              <a:t> </a:t>
            </a:r>
            <a:r>
              <a:rPr lang="en-US" sz="2000" dirty="0" err="1"/>
              <a:t>keadaan</a:t>
            </a:r>
            <a:r>
              <a:rPr lang="en-US" sz="2000" dirty="0"/>
              <a:t> “forward bias” </a:t>
            </a:r>
            <a:r>
              <a:rPr lang="en-US" sz="2000" dirty="0" err="1"/>
              <a:t>sehingga</a:t>
            </a:r>
            <a:r>
              <a:rPr lang="en-US" sz="2000" dirty="0"/>
              <a:t> </a:t>
            </a:r>
            <a:r>
              <a:rPr lang="en-US" sz="2000" dirty="0" err="1"/>
              <a:t>arus</a:t>
            </a:r>
            <a:r>
              <a:rPr lang="en-US" sz="2000" dirty="0"/>
              <a:t> </a:t>
            </a:r>
            <a:r>
              <a:rPr lang="en-US" sz="2000" dirty="0" err="1"/>
              <a:t>dari</a:t>
            </a:r>
            <a:r>
              <a:rPr lang="en-US" sz="2000" dirty="0"/>
              <a:t> </a:t>
            </a:r>
            <a:r>
              <a:rPr lang="en-US" sz="2000" dirty="0" err="1"/>
              <a:t>setengah</a:t>
            </a:r>
            <a:r>
              <a:rPr lang="en-US" sz="2000" dirty="0"/>
              <a:t> </a:t>
            </a:r>
            <a:r>
              <a:rPr lang="en-US" sz="2000" dirty="0" err="1"/>
              <a:t>gelombang</a:t>
            </a:r>
            <a:r>
              <a:rPr lang="en-US" sz="2000" dirty="0"/>
              <a:t> </a:t>
            </a:r>
            <a:r>
              <a:rPr lang="en-US" sz="2000" dirty="0" err="1"/>
              <a:t>pertama</a:t>
            </a:r>
            <a:r>
              <a:rPr lang="en-US" sz="2000" dirty="0"/>
              <a:t> </a:t>
            </a:r>
            <a:r>
              <a:rPr lang="en-US" sz="2000" dirty="0" err="1"/>
              <a:t>ini</a:t>
            </a:r>
            <a:r>
              <a:rPr lang="en-US" sz="2000" dirty="0"/>
              <a:t> </a:t>
            </a:r>
            <a:r>
              <a:rPr lang="en-US" sz="2000" dirty="0" err="1"/>
              <a:t>bisa</a:t>
            </a:r>
            <a:r>
              <a:rPr lang="en-US" sz="2000" dirty="0"/>
              <a:t> </a:t>
            </a:r>
            <a:r>
              <a:rPr lang="en-US" sz="2000" dirty="0" err="1"/>
              <a:t>melewati</a:t>
            </a:r>
            <a:r>
              <a:rPr lang="en-US" sz="2000" dirty="0"/>
              <a:t> </a:t>
            </a:r>
            <a:r>
              <a:rPr lang="en-US" sz="2000" dirty="0" err="1"/>
              <a:t>dioda</a:t>
            </a:r>
            <a:r>
              <a:rPr lang="en-US" sz="2000" dirty="0"/>
              <a:t>.</a:t>
            </a:r>
          </a:p>
          <a:p>
            <a:pPr marL="342900" indent="-342900">
              <a:buFontTx/>
              <a:buChar char="-"/>
            </a:pPr>
            <a:r>
              <a:rPr lang="en-US" sz="2000" dirty="0"/>
              <a:t>Pada </a:t>
            </a:r>
            <a:r>
              <a:rPr lang="en-US" sz="2000" dirty="0" err="1"/>
              <a:t>setengah</a:t>
            </a:r>
            <a:r>
              <a:rPr lang="en-US" sz="2000" dirty="0"/>
              <a:t> </a:t>
            </a:r>
            <a:r>
              <a:rPr lang="en-US" sz="2000" dirty="0" err="1"/>
              <a:t>gelombang</a:t>
            </a:r>
            <a:r>
              <a:rPr lang="en-US" sz="2000" dirty="0"/>
              <a:t> </a:t>
            </a:r>
            <a:r>
              <a:rPr lang="en-US" sz="2000" dirty="0" err="1"/>
              <a:t>kedua</a:t>
            </a:r>
            <a:r>
              <a:rPr lang="en-US" sz="2000" dirty="0"/>
              <a:t> (</a:t>
            </a:r>
            <a:r>
              <a:rPr lang="en-US" sz="2000" dirty="0" err="1"/>
              <a:t>lembah</a:t>
            </a:r>
            <a:r>
              <a:rPr lang="en-US" sz="2000" dirty="0"/>
              <a:t>) yang </a:t>
            </a:r>
            <a:r>
              <a:rPr lang="en-US" sz="2000" dirty="0" err="1"/>
              <a:t>bernilai</a:t>
            </a:r>
            <a:r>
              <a:rPr lang="en-US" sz="2000" dirty="0"/>
              <a:t> negative yang </a:t>
            </a:r>
            <a:r>
              <a:rPr lang="en-US" sz="2000" dirty="0" err="1"/>
              <a:t>meyebabkan</a:t>
            </a:r>
            <a:r>
              <a:rPr lang="en-US" sz="2000" dirty="0"/>
              <a:t> </a:t>
            </a:r>
          </a:p>
          <a:p>
            <a:r>
              <a:rPr lang="en-US" sz="2000" dirty="0"/>
              <a:t>      diode </a:t>
            </a:r>
            <a:r>
              <a:rPr lang="en-US" sz="2000" dirty="0" err="1"/>
              <a:t>dalam</a:t>
            </a:r>
            <a:r>
              <a:rPr lang="en-US" sz="2000" dirty="0"/>
              <a:t> </a:t>
            </a:r>
            <a:r>
              <a:rPr lang="en-US" sz="2000" dirty="0" err="1"/>
              <a:t>keadaan</a:t>
            </a:r>
            <a:r>
              <a:rPr lang="en-US" sz="2000" dirty="0"/>
              <a:t> “reverse bias”  </a:t>
            </a:r>
            <a:r>
              <a:rPr lang="en-US" sz="2000" dirty="0" err="1"/>
              <a:t>sehingga</a:t>
            </a:r>
            <a:r>
              <a:rPr lang="en-US" sz="2000" dirty="0"/>
              <a:t> </a:t>
            </a:r>
            <a:r>
              <a:rPr lang="en-US" sz="2000" dirty="0" err="1"/>
              <a:t>arus</a:t>
            </a:r>
            <a:r>
              <a:rPr lang="en-US" sz="2000" dirty="0"/>
              <a:t> dan </a:t>
            </a:r>
            <a:r>
              <a:rPr lang="en-US" sz="2000" dirty="0" err="1"/>
              <a:t>setengah</a:t>
            </a:r>
            <a:r>
              <a:rPr lang="en-US" sz="2000" dirty="0"/>
              <a:t> </a:t>
            </a:r>
            <a:r>
              <a:rPr lang="en-US" sz="2000" dirty="0" err="1"/>
              <a:t>gelombang</a:t>
            </a:r>
            <a:r>
              <a:rPr lang="en-US" sz="2000" dirty="0"/>
              <a:t> yang    </a:t>
            </a:r>
          </a:p>
          <a:p>
            <a:r>
              <a:rPr lang="en-US" sz="2000" dirty="0"/>
              <a:t>      </a:t>
            </a:r>
            <a:r>
              <a:rPr lang="en-US" sz="2000" dirty="0" err="1"/>
              <a:t>kedua</a:t>
            </a:r>
            <a:r>
              <a:rPr lang="en-US" sz="2000" dirty="0"/>
              <a:t> </a:t>
            </a:r>
            <a:r>
              <a:rPr lang="en-US" sz="2000" dirty="0" err="1"/>
              <a:t>tidak</a:t>
            </a:r>
            <a:r>
              <a:rPr lang="en-US" sz="2000" dirty="0"/>
              <a:t> </a:t>
            </a:r>
            <a:r>
              <a:rPr lang="en-US" sz="2000" dirty="0" err="1"/>
              <a:t>bisa</a:t>
            </a:r>
            <a:r>
              <a:rPr lang="en-US" sz="2000" dirty="0"/>
              <a:t> </a:t>
            </a:r>
            <a:r>
              <a:rPr lang="en-US" sz="2000" dirty="0" err="1"/>
              <a:t>melewati</a:t>
            </a:r>
            <a:r>
              <a:rPr lang="en-US" sz="2000" dirty="0"/>
              <a:t> </a:t>
            </a:r>
            <a:r>
              <a:rPr lang="en-US" sz="2000" dirty="0" err="1"/>
              <a:t>dioda</a:t>
            </a:r>
            <a:r>
              <a:rPr lang="en-US" sz="2000" dirty="0"/>
              <a:t>.</a:t>
            </a:r>
          </a:p>
          <a:p>
            <a:endParaRPr lang="en-US" sz="2000" dirty="0"/>
          </a:p>
          <a:p>
            <a:r>
              <a:rPr lang="en-US" sz="2000" dirty="0"/>
              <a:t>Gambar </a:t>
            </a:r>
            <a:r>
              <a:rPr lang="en-US" sz="2000" dirty="0" err="1"/>
              <a:t>hasil</a:t>
            </a:r>
            <a:r>
              <a:rPr lang="en-US" sz="2000" dirty="0"/>
              <a:t> </a:t>
            </a:r>
            <a:r>
              <a:rPr lang="en-US" sz="2000" dirty="0" err="1"/>
              <a:t>keluaran</a:t>
            </a:r>
            <a:r>
              <a:rPr lang="en-US" sz="2000" dirty="0"/>
              <a:t> </a:t>
            </a:r>
            <a:r>
              <a:rPr lang="en-US" sz="2000" dirty="0" err="1"/>
              <a:t>dari</a:t>
            </a:r>
            <a:r>
              <a:rPr lang="en-US" sz="2000" dirty="0"/>
              <a:t> </a:t>
            </a:r>
            <a:r>
              <a:rPr lang="en-US" sz="2000" err="1"/>
              <a:t>penyearah</a:t>
            </a:r>
            <a:r>
              <a:rPr lang="en-US" sz="2000"/>
              <a:t> setengah </a:t>
            </a:r>
            <a:r>
              <a:rPr lang="en-US" sz="2000" dirty="0" err="1"/>
              <a:t>gelombang</a:t>
            </a:r>
            <a:r>
              <a:rPr lang="en-US" sz="2000" dirty="0"/>
              <a:t> :</a:t>
            </a:r>
          </a:p>
        </p:txBody>
      </p:sp>
      <p:pic>
        <p:nvPicPr>
          <p:cNvPr id="6" name="Picture 5">
            <a:extLst>
              <a:ext uri="{FF2B5EF4-FFF2-40B4-BE49-F238E27FC236}">
                <a16:creationId xmlns:a16="http://schemas.microsoft.com/office/drawing/2014/main" id="{0C428000-6641-4261-B8FB-982DB1F292D4}"/>
              </a:ext>
            </a:extLst>
          </p:cNvPr>
          <p:cNvPicPr>
            <a:picLocks noChangeAspect="1"/>
          </p:cNvPicPr>
          <p:nvPr/>
        </p:nvPicPr>
        <p:blipFill>
          <a:blip r:embed="rId2"/>
          <a:stretch>
            <a:fillRect/>
          </a:stretch>
        </p:blipFill>
        <p:spPr>
          <a:xfrm>
            <a:off x="859187" y="4094848"/>
            <a:ext cx="3328500" cy="1737487"/>
          </a:xfrm>
          <a:prstGeom prst="rect">
            <a:avLst/>
          </a:prstGeom>
        </p:spPr>
      </p:pic>
      <p:pic>
        <p:nvPicPr>
          <p:cNvPr id="7" name="Picture 6">
            <a:extLst>
              <a:ext uri="{FF2B5EF4-FFF2-40B4-BE49-F238E27FC236}">
                <a16:creationId xmlns:a16="http://schemas.microsoft.com/office/drawing/2014/main" id="{7EB1170C-439C-4875-B9D3-8DC144275316}"/>
              </a:ext>
            </a:extLst>
          </p:cNvPr>
          <p:cNvPicPr>
            <a:picLocks noChangeAspect="1"/>
          </p:cNvPicPr>
          <p:nvPr/>
        </p:nvPicPr>
        <p:blipFill>
          <a:blip r:embed="rId3"/>
          <a:stretch>
            <a:fillRect/>
          </a:stretch>
        </p:blipFill>
        <p:spPr>
          <a:xfrm>
            <a:off x="4603312" y="3832670"/>
            <a:ext cx="5720132" cy="2753660"/>
          </a:xfrm>
          <a:prstGeom prst="rect">
            <a:avLst/>
          </a:prstGeom>
        </p:spPr>
      </p:pic>
      <p:sp>
        <p:nvSpPr>
          <p:cNvPr id="9" name="Freeform 8"/>
          <p:cNvSpPr/>
          <p:nvPr/>
        </p:nvSpPr>
        <p:spPr>
          <a:xfrm>
            <a:off x="2903621" y="3735670"/>
            <a:ext cx="2366211" cy="542142"/>
          </a:xfrm>
          <a:custGeom>
            <a:avLst/>
            <a:gdLst>
              <a:gd name="connsiteX0" fmla="*/ 2366211 w 2366211"/>
              <a:gd name="connsiteY0" fmla="*/ 425494 h 489662"/>
              <a:gd name="connsiteX1" fmla="*/ 1090863 w 2366211"/>
              <a:gd name="connsiteY1" fmla="*/ 378 h 489662"/>
              <a:gd name="connsiteX2" fmla="*/ 0 w 2366211"/>
              <a:gd name="connsiteY2" fmla="*/ 489662 h 489662"/>
            </a:gdLst>
            <a:ahLst/>
            <a:cxnLst>
              <a:cxn ang="0">
                <a:pos x="connsiteX0" y="connsiteY0"/>
              </a:cxn>
              <a:cxn ang="0">
                <a:pos x="connsiteX1" y="connsiteY1"/>
              </a:cxn>
              <a:cxn ang="0">
                <a:pos x="connsiteX2" y="connsiteY2"/>
              </a:cxn>
            </a:cxnLst>
            <a:rect l="l" t="t" r="r" b="b"/>
            <a:pathLst>
              <a:path w="2366211" h="489662">
                <a:moveTo>
                  <a:pt x="2366211" y="425494"/>
                </a:moveTo>
                <a:cubicBezTo>
                  <a:pt x="1925721" y="207588"/>
                  <a:pt x="1485231" y="-10317"/>
                  <a:pt x="1090863" y="378"/>
                </a:cubicBezTo>
                <a:cubicBezTo>
                  <a:pt x="696495" y="11073"/>
                  <a:pt x="129674" y="394746"/>
                  <a:pt x="0" y="489662"/>
                </a:cubicBezTo>
              </a:path>
            </a:pathLst>
          </a:custGeom>
          <a:noFill/>
          <a:ln>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1941095" y="4523874"/>
            <a:ext cx="3368842" cy="1816393"/>
          </a:xfrm>
          <a:custGeom>
            <a:avLst/>
            <a:gdLst>
              <a:gd name="connsiteX0" fmla="*/ 3368842 w 3368842"/>
              <a:gd name="connsiteY0" fmla="*/ 1556084 h 1816393"/>
              <a:gd name="connsiteX1" fmla="*/ 1138989 w 3368842"/>
              <a:gd name="connsiteY1" fmla="*/ 1692442 h 1816393"/>
              <a:gd name="connsiteX2" fmla="*/ 0 w 3368842"/>
              <a:gd name="connsiteY2" fmla="*/ 0 h 1816393"/>
            </a:gdLst>
            <a:ahLst/>
            <a:cxnLst>
              <a:cxn ang="0">
                <a:pos x="connsiteX0" y="connsiteY0"/>
              </a:cxn>
              <a:cxn ang="0">
                <a:pos x="connsiteX1" y="connsiteY1"/>
              </a:cxn>
              <a:cxn ang="0">
                <a:pos x="connsiteX2" y="connsiteY2"/>
              </a:cxn>
            </a:cxnLst>
            <a:rect l="l" t="t" r="r" b="b"/>
            <a:pathLst>
              <a:path w="3368842" h="1816393">
                <a:moveTo>
                  <a:pt x="3368842" y="1556084"/>
                </a:moveTo>
                <a:cubicBezTo>
                  <a:pt x="2534652" y="1753936"/>
                  <a:pt x="1700463" y="1951789"/>
                  <a:pt x="1138989" y="1692442"/>
                </a:cubicBezTo>
                <a:cubicBezTo>
                  <a:pt x="577515" y="1433095"/>
                  <a:pt x="288757" y="716547"/>
                  <a:pt x="0" y="0"/>
                </a:cubicBezTo>
              </a:path>
            </a:pathLst>
          </a:custGeom>
          <a:noFill/>
          <a:ln>
            <a:solidFill>
              <a:srgbClr val="00B0F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54465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29FF3CE-6A3A-4C4E-9316-2FC77923D8D5}"/>
              </a:ext>
            </a:extLst>
          </p:cNvPr>
          <p:cNvSpPr txBox="1"/>
          <p:nvPr/>
        </p:nvSpPr>
        <p:spPr>
          <a:xfrm>
            <a:off x="1848678" y="865356"/>
            <a:ext cx="9468679" cy="5355312"/>
          </a:xfrm>
          <a:prstGeom prst="rect">
            <a:avLst/>
          </a:prstGeom>
          <a:noFill/>
        </p:spPr>
        <p:txBody>
          <a:bodyPr wrap="square">
            <a:spAutoFit/>
          </a:bodyPr>
          <a:lstStyle/>
          <a:p>
            <a:r>
              <a:rPr lang="en-US" sz="2000" dirty="0" err="1"/>
              <a:t>Rangkaian</a:t>
            </a:r>
            <a:r>
              <a:rPr lang="en-US" sz="2000" dirty="0"/>
              <a:t> </a:t>
            </a:r>
            <a:r>
              <a:rPr lang="en-US" sz="2000" dirty="0" err="1"/>
              <a:t>penyearah</a:t>
            </a:r>
            <a:r>
              <a:rPr lang="en-US" sz="2000" dirty="0"/>
              <a:t> </a:t>
            </a:r>
            <a:r>
              <a:rPr lang="en-US" sz="2000" dirty="0" err="1"/>
              <a:t>setengah</a:t>
            </a:r>
            <a:r>
              <a:rPr lang="en-US" sz="2000" dirty="0"/>
              <a:t> </a:t>
            </a:r>
            <a:r>
              <a:rPr lang="en-US" sz="2000" dirty="0" err="1"/>
              <a:t>gelombang</a:t>
            </a:r>
            <a:r>
              <a:rPr lang="en-US" sz="2000" dirty="0"/>
              <a:t> </a:t>
            </a:r>
            <a:r>
              <a:rPr lang="en-US" sz="2000" dirty="0" err="1"/>
              <a:t>ini</a:t>
            </a:r>
            <a:r>
              <a:rPr lang="en-US" sz="2000" dirty="0"/>
              <a:t> </a:t>
            </a:r>
            <a:r>
              <a:rPr lang="en-US" sz="2000" dirty="0" err="1"/>
              <a:t>memiliki</a:t>
            </a:r>
            <a:r>
              <a:rPr lang="en-US" sz="2000" dirty="0"/>
              <a:t> </a:t>
            </a:r>
            <a:r>
              <a:rPr lang="en-US" sz="2000" dirty="0" err="1"/>
              <a:t>kelemahan</a:t>
            </a:r>
            <a:r>
              <a:rPr lang="en-US" sz="2000" dirty="0"/>
              <a:t> pada </a:t>
            </a:r>
            <a:r>
              <a:rPr lang="en-US" sz="2000" dirty="0" err="1"/>
              <a:t>kualitas</a:t>
            </a:r>
            <a:r>
              <a:rPr lang="en-US" sz="2000" dirty="0"/>
              <a:t> </a:t>
            </a:r>
            <a:r>
              <a:rPr lang="en-US" sz="2000" dirty="0" err="1"/>
              <a:t>arus</a:t>
            </a:r>
            <a:r>
              <a:rPr lang="en-US" sz="2000" dirty="0"/>
              <a:t> DC yang </a:t>
            </a:r>
            <a:r>
              <a:rPr lang="en-US" sz="2000" dirty="0" err="1"/>
              <a:t>dihasilkan</a:t>
            </a:r>
            <a:r>
              <a:rPr lang="en-US" sz="2000" dirty="0"/>
              <a:t>. </a:t>
            </a:r>
            <a:r>
              <a:rPr lang="en-US" sz="2000" dirty="0" err="1"/>
              <a:t>Arus</a:t>
            </a:r>
            <a:r>
              <a:rPr lang="en-US" sz="2000" dirty="0"/>
              <a:t> DC rata-rata yang </a:t>
            </a:r>
            <a:r>
              <a:rPr lang="en-US" sz="2000" dirty="0" err="1"/>
              <a:t>dihasilkan</a:t>
            </a:r>
            <a:r>
              <a:rPr lang="en-US" sz="2000" dirty="0"/>
              <a:t> </a:t>
            </a:r>
            <a:r>
              <a:rPr lang="en-US" sz="2000" dirty="0" err="1"/>
              <a:t>dari</a:t>
            </a:r>
            <a:r>
              <a:rPr lang="en-US" sz="2000" dirty="0"/>
              <a:t> </a:t>
            </a:r>
            <a:r>
              <a:rPr lang="en-US" sz="2000" dirty="0" err="1"/>
              <a:t>rangkaian</a:t>
            </a:r>
            <a:r>
              <a:rPr lang="en-US" sz="2000" dirty="0"/>
              <a:t> </a:t>
            </a:r>
            <a:r>
              <a:rPr lang="en-US" sz="2000" dirty="0" err="1"/>
              <a:t>ini</a:t>
            </a:r>
            <a:r>
              <a:rPr lang="en-US" sz="2000" dirty="0"/>
              <a:t> </a:t>
            </a:r>
            <a:r>
              <a:rPr lang="en-US" sz="2000" dirty="0" err="1"/>
              <a:t>hanya</a:t>
            </a:r>
            <a:r>
              <a:rPr lang="en-US" sz="2000" dirty="0"/>
              <a:t> 0,318 </a:t>
            </a:r>
            <a:r>
              <a:rPr lang="en-US" sz="2000" dirty="0" err="1"/>
              <a:t>dari</a:t>
            </a:r>
            <a:r>
              <a:rPr lang="en-US" sz="2000" dirty="0"/>
              <a:t> </a:t>
            </a:r>
            <a:r>
              <a:rPr lang="en-US" sz="2000" dirty="0" err="1"/>
              <a:t>arus</a:t>
            </a:r>
            <a:r>
              <a:rPr lang="en-US" sz="2000" dirty="0"/>
              <a:t> </a:t>
            </a:r>
            <a:r>
              <a:rPr lang="en-US" sz="2000" dirty="0" err="1"/>
              <a:t>maksimumnya</a:t>
            </a:r>
            <a:r>
              <a:rPr lang="en-US" sz="2000" dirty="0"/>
              <a:t>.</a:t>
            </a:r>
          </a:p>
          <a:p>
            <a:endParaRPr lang="en-US" sz="2000" dirty="0"/>
          </a:p>
          <a:p>
            <a:r>
              <a:rPr lang="en-US" sz="2000" dirty="0"/>
              <a:t>Nilai </a:t>
            </a:r>
            <a:r>
              <a:rPr lang="en-US" sz="2000" dirty="0" err="1"/>
              <a:t>tegangan</a:t>
            </a:r>
            <a:r>
              <a:rPr lang="en-US" sz="2000" dirty="0"/>
              <a:t> ripple: </a:t>
            </a:r>
          </a:p>
          <a:p>
            <a:endParaRPr lang="en-US" sz="2000" dirty="0"/>
          </a:p>
          <a:p>
            <a:r>
              <a:rPr lang="en-US" sz="2000" dirty="0"/>
              <a:t>	</a:t>
            </a:r>
          </a:p>
          <a:p>
            <a:endParaRPr lang="en-US" sz="2000" dirty="0"/>
          </a:p>
          <a:p>
            <a:endParaRPr lang="en-US" sz="2000" dirty="0"/>
          </a:p>
          <a:p>
            <a:r>
              <a:rPr lang="en-US" sz="2000" dirty="0" err="1"/>
              <a:t>Tegangan</a:t>
            </a:r>
            <a:r>
              <a:rPr lang="en-US" sz="2000" dirty="0"/>
              <a:t> rata-rata DC pada </a:t>
            </a:r>
            <a:r>
              <a:rPr lang="en-US" sz="2000" dirty="0" err="1"/>
              <a:t>penyearah</a:t>
            </a:r>
            <a:r>
              <a:rPr lang="en-US" sz="2000" dirty="0"/>
              <a:t> </a:t>
            </a:r>
            <a:r>
              <a:rPr lang="en-US" sz="2000" dirty="0" err="1"/>
              <a:t>setengah</a:t>
            </a:r>
            <a:r>
              <a:rPr lang="en-US" sz="2000" dirty="0"/>
              <a:t> </a:t>
            </a:r>
            <a:r>
              <a:rPr lang="en-US" sz="2000" dirty="0" err="1"/>
              <a:t>gelombang</a:t>
            </a:r>
            <a:r>
              <a:rPr lang="en-US" sz="2000" dirty="0"/>
              <a:t> </a:t>
            </a:r>
            <a:r>
              <a:rPr lang="en-US" sz="2000" dirty="0" err="1"/>
              <a:t>adalah</a:t>
            </a:r>
            <a:r>
              <a:rPr lang="en-US" sz="2000" dirty="0"/>
              <a:t>: </a:t>
            </a:r>
          </a:p>
          <a:p>
            <a:endParaRPr lang="en-US" sz="2000" dirty="0"/>
          </a:p>
          <a:p>
            <a:r>
              <a:rPr lang="en-US" sz="2000" dirty="0"/>
              <a:t>	</a:t>
            </a:r>
          </a:p>
          <a:p>
            <a:endParaRPr lang="en-US" sz="2000" dirty="0"/>
          </a:p>
          <a:p>
            <a:endParaRPr lang="en-US" sz="2000" dirty="0"/>
          </a:p>
          <a:p>
            <a:r>
              <a:rPr lang="en-US" sz="2000" dirty="0" err="1"/>
              <a:t>Frekuensi</a:t>
            </a:r>
            <a:r>
              <a:rPr lang="en-US" sz="2000" dirty="0"/>
              <a:t> output: </a:t>
            </a:r>
          </a:p>
          <a:p>
            <a:r>
              <a:rPr lang="en-US" dirty="0"/>
              <a:t>	</a:t>
            </a:r>
          </a:p>
          <a:p>
            <a:r>
              <a:rPr lang="en-US" sz="2400" dirty="0"/>
              <a:t>     </a:t>
            </a:r>
            <a:r>
              <a:rPr lang="en-US" sz="2400" dirty="0" err="1"/>
              <a:t>fo</a:t>
            </a:r>
            <a:r>
              <a:rPr lang="en-US" sz="2400" dirty="0"/>
              <a:t> = fi</a:t>
            </a:r>
          </a:p>
        </p:txBody>
      </p:sp>
      <p:pic>
        <p:nvPicPr>
          <p:cNvPr id="4" name="Picture 3">
            <a:extLst>
              <a:ext uri="{FF2B5EF4-FFF2-40B4-BE49-F238E27FC236}">
                <a16:creationId xmlns:a16="http://schemas.microsoft.com/office/drawing/2014/main" id="{32D6EE2D-54E6-4807-AF42-FE994F1DAED6}"/>
              </a:ext>
            </a:extLst>
          </p:cNvPr>
          <p:cNvPicPr>
            <a:picLocks noChangeAspect="1"/>
          </p:cNvPicPr>
          <p:nvPr/>
        </p:nvPicPr>
        <p:blipFill>
          <a:blip r:embed="rId3"/>
          <a:stretch>
            <a:fillRect/>
          </a:stretch>
        </p:blipFill>
        <p:spPr>
          <a:xfrm>
            <a:off x="2090613" y="2690628"/>
            <a:ext cx="1146147" cy="652329"/>
          </a:xfrm>
          <a:prstGeom prst="rect">
            <a:avLst/>
          </a:prstGeom>
        </p:spPr>
      </p:pic>
      <p:pic>
        <p:nvPicPr>
          <p:cNvPr id="5" name="Picture 4">
            <a:extLst>
              <a:ext uri="{FF2B5EF4-FFF2-40B4-BE49-F238E27FC236}">
                <a16:creationId xmlns:a16="http://schemas.microsoft.com/office/drawing/2014/main" id="{75C8EB4F-E36A-4DB5-BA96-484817E74663}"/>
              </a:ext>
            </a:extLst>
          </p:cNvPr>
          <p:cNvPicPr>
            <a:picLocks noChangeAspect="1"/>
          </p:cNvPicPr>
          <p:nvPr/>
        </p:nvPicPr>
        <p:blipFill>
          <a:blip r:embed="rId4"/>
          <a:stretch>
            <a:fillRect/>
          </a:stretch>
        </p:blipFill>
        <p:spPr>
          <a:xfrm>
            <a:off x="4241310" y="2541541"/>
            <a:ext cx="5099131" cy="887459"/>
          </a:xfrm>
          <a:prstGeom prst="rect">
            <a:avLst/>
          </a:prstGeom>
        </p:spPr>
      </p:pic>
      <p:pic>
        <p:nvPicPr>
          <p:cNvPr id="6" name="Picture 5">
            <a:extLst>
              <a:ext uri="{FF2B5EF4-FFF2-40B4-BE49-F238E27FC236}">
                <a16:creationId xmlns:a16="http://schemas.microsoft.com/office/drawing/2014/main" id="{8A189C0E-80F7-4F7C-A80A-ECC960669CFD}"/>
              </a:ext>
            </a:extLst>
          </p:cNvPr>
          <p:cNvPicPr>
            <a:picLocks noChangeAspect="1"/>
          </p:cNvPicPr>
          <p:nvPr/>
        </p:nvPicPr>
        <p:blipFill>
          <a:blip r:embed="rId5"/>
          <a:stretch>
            <a:fillRect/>
          </a:stretch>
        </p:blipFill>
        <p:spPr>
          <a:xfrm>
            <a:off x="2080590" y="4162874"/>
            <a:ext cx="2714091" cy="768297"/>
          </a:xfrm>
          <a:prstGeom prst="rect">
            <a:avLst/>
          </a:prstGeom>
        </p:spPr>
      </p:pic>
      <p:pic>
        <p:nvPicPr>
          <p:cNvPr id="7" name="Picture 6">
            <a:extLst>
              <a:ext uri="{FF2B5EF4-FFF2-40B4-BE49-F238E27FC236}">
                <a16:creationId xmlns:a16="http://schemas.microsoft.com/office/drawing/2014/main" id="{44267081-D890-44D8-AFB1-EFBC904FAAF9}"/>
              </a:ext>
            </a:extLst>
          </p:cNvPr>
          <p:cNvPicPr>
            <a:picLocks noChangeAspect="1"/>
          </p:cNvPicPr>
          <p:nvPr/>
        </p:nvPicPr>
        <p:blipFill>
          <a:blip r:embed="rId6"/>
          <a:stretch>
            <a:fillRect/>
          </a:stretch>
        </p:blipFill>
        <p:spPr>
          <a:xfrm>
            <a:off x="5173595" y="3988862"/>
            <a:ext cx="5968374" cy="1116323"/>
          </a:xfrm>
          <a:prstGeom prst="rect">
            <a:avLst/>
          </a:prstGeom>
        </p:spPr>
      </p:pic>
    </p:spTree>
    <p:extLst>
      <p:ext uri="{BB962C8B-B14F-4D97-AF65-F5344CB8AC3E}">
        <p14:creationId xmlns:p14="http://schemas.microsoft.com/office/powerpoint/2010/main" val="780517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946484" y="1016585"/>
            <a:ext cx="4539916" cy="4524315"/>
          </a:xfrm>
          <a:prstGeom prst="rect">
            <a:avLst/>
          </a:prstGeom>
        </p:spPr>
        <p:txBody>
          <a:bodyPr wrap="square">
            <a:spAutoFit/>
          </a:bodyPr>
          <a:lstStyle/>
          <a:p>
            <a:r>
              <a:rPr lang="en-US" sz="1600">
                <a:solidFill>
                  <a:srgbClr val="0D0D0D"/>
                </a:solidFill>
                <a:latin typeface="Söhne"/>
              </a:rPr>
              <a:t>Vrms (Root Mean Square Voltage) adalah nilai rata-rata kuadrat dari tegangan AC (Alternating Current) yang digunakan untuk mengukur atau menggambarkan nilai efektif dari tegangan bolak-balik. </a:t>
            </a:r>
          </a:p>
          <a:p>
            <a:endParaRPr lang="en-US" sz="1600">
              <a:solidFill>
                <a:srgbClr val="0D0D0D"/>
              </a:solidFill>
              <a:latin typeface="Söhne"/>
            </a:endParaRPr>
          </a:p>
          <a:p>
            <a:r>
              <a:rPr lang="en-US" sz="1600">
                <a:solidFill>
                  <a:srgbClr val="0D0D0D"/>
                </a:solidFill>
                <a:latin typeface="Söhne"/>
              </a:rPr>
              <a:t>Ini adalah metode standar untuk mengekspresikan tegangan AC dalam satu nilai tunggal yang setara dengan tegangan DC (Direct Current) yang akan menghasilkan daya yang sama pada beban resistif.</a:t>
            </a:r>
          </a:p>
          <a:p>
            <a:endParaRPr lang="en-US" sz="1600">
              <a:solidFill>
                <a:srgbClr val="0D0D0D"/>
              </a:solidFill>
              <a:latin typeface="Söhne"/>
            </a:endParaRPr>
          </a:p>
          <a:p>
            <a:r>
              <a:rPr lang="en-US" sz="1600">
                <a:solidFill>
                  <a:srgbClr val="0D0D0D"/>
                </a:solidFill>
                <a:latin typeface="Söhne"/>
              </a:rPr>
              <a:t>Vrms dihitung dengan cara berikut:</a:t>
            </a:r>
          </a:p>
          <a:p>
            <a:pPr>
              <a:buFont typeface="+mj-lt"/>
              <a:buAutoNum type="arabicPeriod"/>
            </a:pPr>
            <a:r>
              <a:rPr lang="en-US" sz="1600">
                <a:solidFill>
                  <a:srgbClr val="0D0D0D"/>
                </a:solidFill>
                <a:latin typeface="Söhne"/>
              </a:rPr>
              <a:t> Kuadratkan semua nilai tegangan dalam satu siklus AC.</a:t>
            </a:r>
          </a:p>
          <a:p>
            <a:pPr>
              <a:buFont typeface="+mj-lt"/>
              <a:buAutoNum type="arabicPeriod"/>
            </a:pPr>
            <a:r>
              <a:rPr lang="en-US" sz="1600">
                <a:solidFill>
                  <a:srgbClr val="0D0D0D"/>
                </a:solidFill>
                <a:latin typeface="Söhne"/>
              </a:rPr>
              <a:t> Ambil rata-rata aritmatika dari semua nilai tegangan yang telah dikuadratkan.</a:t>
            </a:r>
          </a:p>
          <a:p>
            <a:pPr>
              <a:buFont typeface="+mj-lt"/>
              <a:buAutoNum type="arabicPeriod"/>
            </a:pPr>
            <a:r>
              <a:rPr lang="en-US" sz="1600">
                <a:solidFill>
                  <a:srgbClr val="0D0D0D"/>
                </a:solidFill>
                <a:latin typeface="Söhne"/>
              </a:rPr>
              <a:t> Akar kuadratkan hasil rata-rata tersebut.</a:t>
            </a:r>
          </a:p>
        </p:txBody>
      </p:sp>
      <p:pic>
        <p:nvPicPr>
          <p:cNvPr id="4" name="Picture 3"/>
          <p:cNvPicPr>
            <a:picLocks noChangeAspect="1"/>
          </p:cNvPicPr>
          <p:nvPr/>
        </p:nvPicPr>
        <p:blipFill>
          <a:blip r:embed="rId2"/>
          <a:stretch>
            <a:fillRect/>
          </a:stretch>
        </p:blipFill>
        <p:spPr>
          <a:xfrm>
            <a:off x="6719796" y="1827579"/>
            <a:ext cx="3479066" cy="953721"/>
          </a:xfrm>
          <a:prstGeom prst="rect">
            <a:avLst/>
          </a:prstGeom>
        </p:spPr>
      </p:pic>
      <p:sp>
        <p:nvSpPr>
          <p:cNvPr id="5" name="Rectangle 4"/>
          <p:cNvSpPr/>
          <p:nvPr/>
        </p:nvSpPr>
        <p:spPr>
          <a:xfrm>
            <a:off x="5893969" y="3155632"/>
            <a:ext cx="5550853" cy="2308324"/>
          </a:xfrm>
          <a:prstGeom prst="rect">
            <a:avLst/>
          </a:prstGeom>
        </p:spPr>
        <p:txBody>
          <a:bodyPr wrap="square">
            <a:spAutoFit/>
          </a:bodyPr>
          <a:lstStyle/>
          <a:p>
            <a:r>
              <a:rPr lang="en-US" sz="1600">
                <a:solidFill>
                  <a:srgbClr val="0D0D0D"/>
                </a:solidFill>
                <a:latin typeface="Söhne"/>
              </a:rPr>
              <a:t>Nilai Vrms memberikan representasi yang akurat dari nilai efektif dari tegangan AC, yang berarti tegangan ini akan memberikan daya yang sama pada beban resistif seperti tegangan DC dengan nilai yang sama. </a:t>
            </a:r>
          </a:p>
          <a:p>
            <a:endParaRPr lang="en-US" sz="1600">
              <a:solidFill>
                <a:srgbClr val="0D0D0D"/>
              </a:solidFill>
              <a:latin typeface="Söhne"/>
            </a:endParaRPr>
          </a:p>
          <a:p>
            <a:r>
              <a:rPr lang="en-US" sz="1600">
                <a:solidFill>
                  <a:srgbClr val="0D0D0D"/>
                </a:solidFill>
                <a:latin typeface="Söhne"/>
              </a:rPr>
              <a:t>Dalam banyak kasus, nilai Vrms lebih penting untuk diperhatikan daripada nilai puncak tegangan AC karena mencerminkan daya sebenarnya yang dikirimkan oleh sumber AC ke beban.</a:t>
            </a:r>
            <a:endParaRPr lang="en-US" sz="1600"/>
          </a:p>
        </p:txBody>
      </p:sp>
      <p:sp>
        <p:nvSpPr>
          <p:cNvPr id="6" name="Rectangle 5"/>
          <p:cNvSpPr/>
          <p:nvPr/>
        </p:nvSpPr>
        <p:spPr>
          <a:xfrm>
            <a:off x="5893969" y="1016585"/>
            <a:ext cx="4945481" cy="584775"/>
          </a:xfrm>
          <a:prstGeom prst="rect">
            <a:avLst/>
          </a:prstGeom>
        </p:spPr>
        <p:txBody>
          <a:bodyPr wrap="square">
            <a:spAutoFit/>
          </a:bodyPr>
          <a:lstStyle/>
          <a:p>
            <a:r>
              <a:rPr lang="en-US" sz="1600">
                <a:solidFill>
                  <a:srgbClr val="0D0D0D"/>
                </a:solidFill>
                <a:latin typeface="Söhne"/>
              </a:rPr>
              <a:t>Rumus matematisnya adalah sebagai berikut, dengan T adalah periode siklus AC:</a:t>
            </a:r>
          </a:p>
        </p:txBody>
      </p:sp>
      <p:sp>
        <p:nvSpPr>
          <p:cNvPr id="7" name="Rectangle 6"/>
          <p:cNvSpPr/>
          <p:nvPr/>
        </p:nvSpPr>
        <p:spPr>
          <a:xfrm>
            <a:off x="5893968" y="5639485"/>
            <a:ext cx="5550853" cy="584775"/>
          </a:xfrm>
          <a:prstGeom prst="rect">
            <a:avLst/>
          </a:prstGeom>
        </p:spPr>
        <p:txBody>
          <a:bodyPr wrap="square">
            <a:spAutoFit/>
          </a:bodyPr>
          <a:lstStyle/>
          <a:p>
            <a:r>
              <a:rPr lang="en-US" sz="1600"/>
              <a:t>Vp = Vpeak = Vpuncak</a:t>
            </a:r>
          </a:p>
          <a:p>
            <a:r>
              <a:rPr lang="en-US" sz="1600"/>
              <a:t>1/Pi = 0,318</a:t>
            </a:r>
          </a:p>
        </p:txBody>
      </p:sp>
    </p:spTree>
    <p:extLst>
      <p:ext uri="{BB962C8B-B14F-4D97-AF65-F5344CB8AC3E}">
        <p14:creationId xmlns:p14="http://schemas.microsoft.com/office/powerpoint/2010/main" val="41832576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1DE92D4-A879-4B84-B85C-ABA0DF744D7A}"/>
              </a:ext>
            </a:extLst>
          </p:cNvPr>
          <p:cNvSpPr txBox="1"/>
          <p:nvPr/>
        </p:nvSpPr>
        <p:spPr>
          <a:xfrm>
            <a:off x="4630393" y="2770118"/>
            <a:ext cx="3069879" cy="769441"/>
          </a:xfrm>
          <a:prstGeom prst="rect">
            <a:avLst/>
          </a:prstGeom>
          <a:noFill/>
        </p:spPr>
        <p:txBody>
          <a:bodyPr wrap="none" rtlCol="0">
            <a:spAutoFit/>
          </a:bodyPr>
          <a:lstStyle/>
          <a:p>
            <a:r>
              <a:rPr lang="en-US" sz="4400" dirty="0" err="1"/>
              <a:t>Terima</a:t>
            </a:r>
            <a:r>
              <a:rPr lang="en-US" sz="4400" dirty="0"/>
              <a:t> Kasih</a:t>
            </a:r>
          </a:p>
        </p:txBody>
      </p:sp>
    </p:spTree>
    <p:extLst>
      <p:ext uri="{BB962C8B-B14F-4D97-AF65-F5344CB8AC3E}">
        <p14:creationId xmlns:p14="http://schemas.microsoft.com/office/powerpoint/2010/main" val="22732873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631</TotalTime>
  <Words>727</Words>
  <Application>Microsoft Office PowerPoint</Application>
  <PresentationFormat>Widescreen</PresentationFormat>
  <Paragraphs>76</Paragraphs>
  <Slides>12</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Söhne</vt:lpstr>
      <vt:lpstr>Wingdings</vt:lpstr>
      <vt:lpstr>Office Theme</vt:lpstr>
      <vt:lpstr>Penyearah Setengah Gelombang </vt:lpstr>
      <vt:lpstr>Materi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Rangkaian Aplikasi Dioda  RANGKAIAN PENYEARAH GELOMBANG (RECTIFIER) &amp; catu daya  21NK1006</dc:title>
  <dc:creator>Ridwan Solihin</dc:creator>
  <cp:lastModifiedBy>erilmozef@yahoo.com</cp:lastModifiedBy>
  <cp:revision>37</cp:revision>
  <dcterms:created xsi:type="dcterms:W3CDTF">2022-02-20T16:12:27Z</dcterms:created>
  <dcterms:modified xsi:type="dcterms:W3CDTF">2025-02-25T14:43:12Z</dcterms:modified>
</cp:coreProperties>
</file>