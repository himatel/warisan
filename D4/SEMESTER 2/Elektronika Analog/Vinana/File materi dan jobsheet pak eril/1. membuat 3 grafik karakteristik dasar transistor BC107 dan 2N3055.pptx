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6" r:id="rId3"/>
    <p:sldId id="298" r:id="rId4"/>
    <p:sldId id="273" r:id="rId5"/>
    <p:sldId id="263" r:id="rId6"/>
    <p:sldId id="300" r:id="rId7"/>
    <p:sldId id="305" r:id="rId8"/>
    <p:sldId id="306" r:id="rId9"/>
    <p:sldId id="297" r:id="rId10"/>
    <p:sldId id="29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0558DC9-6650-431C-B965-8F7DD5C4B993}"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242469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4246540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558DC9-6650-431C-B965-8F7DD5C4B993}"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33141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558DC9-6650-431C-B965-8F7DD5C4B993}"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807262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0558DC9-6650-431C-B965-8F7DD5C4B993}" type="datetimeFigureOut">
              <a:rPr lang="en-US" smtClean="0"/>
              <a:t>5/12/2025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283655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0558DC9-6650-431C-B965-8F7DD5C4B993}" type="datetimeFigureOut">
              <a:rPr lang="en-US" smtClean="0"/>
              <a:t>5/12/2025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105466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558DC9-6650-431C-B965-8F7DD5C4B993}" type="datetimeFigureOut">
              <a:rPr lang="en-US" smtClean="0"/>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997012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558DC9-6650-431C-B965-8F7DD5C4B993}"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80813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558DC9-6650-431C-B965-8F7DD5C4B993}"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61224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17288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02439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id-ID"/>
          </a:p>
        </p:txBody>
      </p:sp>
      <p:sp>
        <p:nvSpPr>
          <p:cNvPr id="3" name="Table Placeholder 2"/>
          <p:cNvSpPr>
            <a:spLocks noGrp="1"/>
          </p:cNvSpPr>
          <p:nvPr>
            <p:ph type="tbl" idx="1"/>
          </p:nvPr>
        </p:nvSpPr>
        <p:spPr>
          <a:xfrm>
            <a:off x="609600" y="1600201"/>
            <a:ext cx="10972800" cy="4525963"/>
          </a:xfrm>
        </p:spPr>
        <p:txBody>
          <a:bodyPr/>
          <a:lstStyle/>
          <a:p>
            <a:pPr lvl="0"/>
            <a:endParaRPr lang="id-ID" noProof="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BC8CC7B-D9B2-4064-8E88-A5BDFFE2DA7E}" type="slidenum">
              <a:rPr lang="en-GB"/>
              <a:pPr>
                <a:defRPr/>
              </a:pPr>
              <a:t>‹#›</a:t>
            </a:fld>
            <a:endParaRPr lang="en-GB"/>
          </a:p>
        </p:txBody>
      </p:sp>
    </p:spTree>
    <p:extLst>
      <p:ext uri="{BB962C8B-B14F-4D97-AF65-F5344CB8AC3E}">
        <p14:creationId xmlns:p14="http://schemas.microsoft.com/office/powerpoint/2010/main" val="3498397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558DC9-6650-431C-B965-8F7DD5C4B993}" type="datetimeFigureOut">
              <a:rPr lang="en-US" smtClean="0"/>
              <a:t>5/12/2025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D908DD-F72B-45CD-A843-A0A67DEB6BD5}" type="slidenum">
              <a:rPr lang="en-US" smtClean="0"/>
              <a:t>‹#›</a:t>
            </a:fld>
            <a:endParaRPr lang="en-US"/>
          </a:p>
        </p:txBody>
      </p:sp>
    </p:spTree>
    <p:extLst>
      <p:ext uri="{BB962C8B-B14F-4D97-AF65-F5344CB8AC3E}">
        <p14:creationId xmlns:p14="http://schemas.microsoft.com/office/powerpoint/2010/main" val="2818147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t>Membuat 3 Grafik Karakteristik Dasar Transistor BJT</a:t>
            </a:r>
            <a:br>
              <a:rPr lang="en-US"/>
            </a:br>
            <a:r>
              <a:rPr lang="en-US"/>
              <a:t>(BC107 dan 2N3055)</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834804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B0F7E-70C6-F226-97E0-1BD6632A09E9}"/>
              </a:ext>
            </a:extLst>
          </p:cNvPr>
          <p:cNvSpPr>
            <a:spLocks noGrp="1"/>
          </p:cNvSpPr>
          <p:nvPr>
            <p:ph type="title"/>
          </p:nvPr>
        </p:nvSpPr>
        <p:spPr/>
        <p:txBody>
          <a:bodyPr/>
          <a:lstStyle/>
          <a:p>
            <a:r>
              <a:rPr lang="en-US"/>
              <a:t>Tujuan</a:t>
            </a:r>
            <a:endParaRPr lang="en-ID"/>
          </a:p>
        </p:txBody>
      </p:sp>
      <p:sp>
        <p:nvSpPr>
          <p:cNvPr id="3" name="Content Placeholder 2">
            <a:extLst>
              <a:ext uri="{FF2B5EF4-FFF2-40B4-BE49-F238E27FC236}">
                <a16:creationId xmlns:a16="http://schemas.microsoft.com/office/drawing/2014/main" id="{7F6084F7-FE79-1A78-7D45-2F84EB06823D}"/>
              </a:ext>
            </a:extLst>
          </p:cNvPr>
          <p:cNvSpPr>
            <a:spLocks noGrp="1"/>
          </p:cNvSpPr>
          <p:nvPr>
            <p:ph idx="1"/>
          </p:nvPr>
        </p:nvSpPr>
        <p:spPr/>
        <p:txBody>
          <a:bodyPr/>
          <a:lstStyle/>
          <a:p>
            <a:r>
              <a:rPr lang="en-US"/>
              <a:t>Membuat grafik karakteristik BJT BC107 (transistor daya rendah).</a:t>
            </a:r>
          </a:p>
          <a:p>
            <a:r>
              <a:rPr lang="en-US"/>
              <a:t>Membuat grafik karakteristik BJT 2N3055 (transistor daya tinggi).</a:t>
            </a:r>
          </a:p>
          <a:p>
            <a:r>
              <a:rPr lang="en-US"/>
              <a:t>Mengetahui bentuk grafik karakteristik transistor BJT.</a:t>
            </a:r>
            <a:endParaRPr lang="en-ID"/>
          </a:p>
          <a:p>
            <a:r>
              <a:rPr lang="en-US"/>
              <a:t>Mengetahui perbedaan grafik karakteristik dan parameter-parameter penting transistor untuk transistor daya rendah dan daya tinggi.</a:t>
            </a:r>
            <a:endParaRPr lang="en-ID"/>
          </a:p>
          <a:p>
            <a:endParaRPr lang="en-ID"/>
          </a:p>
        </p:txBody>
      </p:sp>
    </p:spTree>
    <p:extLst>
      <p:ext uri="{BB962C8B-B14F-4D97-AF65-F5344CB8AC3E}">
        <p14:creationId xmlns:p14="http://schemas.microsoft.com/office/powerpoint/2010/main" val="2090213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96BA6-6F05-C1DD-EF17-0C00EC23508D}"/>
              </a:ext>
            </a:extLst>
          </p:cNvPr>
          <p:cNvSpPr>
            <a:spLocks noGrp="1"/>
          </p:cNvSpPr>
          <p:nvPr>
            <p:ph type="title"/>
          </p:nvPr>
        </p:nvSpPr>
        <p:spPr/>
        <p:txBody>
          <a:bodyPr/>
          <a:lstStyle/>
          <a:p>
            <a:r>
              <a:rPr lang="en-US"/>
              <a:t>Persyaratan yang harus dipenuhi Mahasiswa</a:t>
            </a:r>
            <a:endParaRPr lang="en-ID"/>
          </a:p>
        </p:txBody>
      </p:sp>
      <p:sp>
        <p:nvSpPr>
          <p:cNvPr id="3" name="Content Placeholder 2">
            <a:extLst>
              <a:ext uri="{FF2B5EF4-FFF2-40B4-BE49-F238E27FC236}">
                <a16:creationId xmlns:a16="http://schemas.microsoft.com/office/drawing/2014/main" id="{ECB7CF35-D59B-2C50-DA5C-261975AE6AA7}"/>
              </a:ext>
            </a:extLst>
          </p:cNvPr>
          <p:cNvSpPr>
            <a:spLocks noGrp="1"/>
          </p:cNvSpPr>
          <p:nvPr>
            <p:ph idx="1"/>
          </p:nvPr>
        </p:nvSpPr>
        <p:spPr/>
        <p:txBody>
          <a:bodyPr/>
          <a:lstStyle/>
          <a:p>
            <a:r>
              <a:rPr lang="en-ID"/>
              <a:t>Mahasiswa harus sudah pernah mencoba membuat grafik karakteristik transistor seperti pada tutorial yang pernah diberikan pada materi sebelumnya (Membuat Grafik Karakteristik BJT Mode Graph di Proteus).</a:t>
            </a:r>
          </a:p>
          <a:p>
            <a:endParaRPr lang="en-ID"/>
          </a:p>
        </p:txBody>
      </p:sp>
    </p:spTree>
    <p:extLst>
      <p:ext uri="{BB962C8B-B14F-4D97-AF65-F5344CB8AC3E}">
        <p14:creationId xmlns:p14="http://schemas.microsoft.com/office/powerpoint/2010/main" val="760480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Alat dan Bahan</a:t>
            </a:r>
          </a:p>
        </p:txBody>
      </p:sp>
      <p:sp>
        <p:nvSpPr>
          <p:cNvPr id="4" name="Content Placeholder 2"/>
          <p:cNvSpPr txBox="1">
            <a:spLocks/>
          </p:cNvSpPr>
          <p:nvPr/>
        </p:nvSpPr>
        <p:spPr>
          <a:xfrm>
            <a:off x="1139673" y="1690688"/>
            <a:ext cx="347628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Transistor</a:t>
            </a:r>
          </a:p>
          <a:p>
            <a:pPr marL="0" indent="0">
              <a:buNone/>
            </a:pPr>
            <a:r>
              <a:rPr lang="en-US"/>
              <a:t>-BC107 (daya rendah)</a:t>
            </a:r>
          </a:p>
          <a:p>
            <a:pPr marL="0" indent="0">
              <a:buNone/>
            </a:pPr>
            <a:r>
              <a:rPr lang="en-US"/>
              <a:t>-2N3055 (daya tinggi)</a:t>
            </a:r>
          </a:p>
          <a:p>
            <a:pPr marL="514350" indent="-514350">
              <a:buFont typeface="+mj-lt"/>
              <a:buAutoNum type="arabicPeriod" startAt="11"/>
            </a:pPr>
            <a:endParaRPr lang="en-US"/>
          </a:p>
          <a:p>
            <a:pPr marL="514350" indent="-514350">
              <a:buFont typeface="+mj-lt"/>
              <a:buAutoNum type="arabicPeriod" startAt="11"/>
            </a:pPr>
            <a:endParaRPr lang="en-US"/>
          </a:p>
        </p:txBody>
      </p:sp>
    </p:spTree>
    <p:extLst>
      <p:ext uri="{BB962C8B-B14F-4D97-AF65-F5344CB8AC3E}">
        <p14:creationId xmlns:p14="http://schemas.microsoft.com/office/powerpoint/2010/main" val="3266580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3B0EA-2316-481D-ACE1-E76B126F311B}"/>
              </a:ext>
            </a:extLst>
          </p:cNvPr>
          <p:cNvSpPr>
            <a:spLocks noGrp="1"/>
          </p:cNvSpPr>
          <p:nvPr>
            <p:ph type="title"/>
          </p:nvPr>
        </p:nvSpPr>
        <p:spPr/>
        <p:txBody>
          <a:bodyPr/>
          <a:lstStyle/>
          <a:p>
            <a:r>
              <a:rPr lang="en-US"/>
              <a:t>Langkah Kerja 1</a:t>
            </a:r>
            <a:endParaRPr lang="en-ID"/>
          </a:p>
        </p:txBody>
      </p:sp>
      <p:sp>
        <p:nvSpPr>
          <p:cNvPr id="3" name="Content Placeholder 2">
            <a:extLst>
              <a:ext uri="{FF2B5EF4-FFF2-40B4-BE49-F238E27FC236}">
                <a16:creationId xmlns:a16="http://schemas.microsoft.com/office/drawing/2014/main" id="{0E0219ED-81C9-99E9-EB92-FF50BB5D3FCB}"/>
              </a:ext>
            </a:extLst>
          </p:cNvPr>
          <p:cNvSpPr>
            <a:spLocks noGrp="1"/>
          </p:cNvSpPr>
          <p:nvPr>
            <p:ph idx="1"/>
          </p:nvPr>
        </p:nvSpPr>
        <p:spPr/>
        <p:txBody>
          <a:bodyPr>
            <a:normAutofit/>
          </a:bodyPr>
          <a:lstStyle/>
          <a:p>
            <a:r>
              <a:rPr lang="en-US"/>
              <a:t>Ambil sebuah datasheet transistor BJT (bisa dari Internet) khususnya untuk transistor BC107 dan 2N3055. Atau bisa gunakan contoh datasheet sederhana pada slide berikut.</a:t>
            </a:r>
          </a:p>
          <a:p>
            <a:r>
              <a:rPr lang="en-US"/>
              <a:t>Lihat Icmax dan Vcemax dari masing-masing transistor tersebut. </a:t>
            </a:r>
          </a:p>
          <a:p>
            <a:r>
              <a:rPr lang="en-US"/>
              <a:t>Dengan mengetahui ini nantinya bisa digunakan untuk menentukan rentang dan skala maksimum dari parameter-parameter tsb dalam grafik.</a:t>
            </a:r>
          </a:p>
          <a:p>
            <a:endParaRPr lang="en-ID"/>
          </a:p>
          <a:p>
            <a:endParaRPr lang="en-ID"/>
          </a:p>
        </p:txBody>
      </p:sp>
    </p:spTree>
    <p:extLst>
      <p:ext uri="{BB962C8B-B14F-4D97-AF65-F5344CB8AC3E}">
        <p14:creationId xmlns:p14="http://schemas.microsoft.com/office/powerpoint/2010/main" val="566206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6B65B98-3BDE-42FF-9154-922F419E786E}" type="slidenum">
              <a:rPr lang="en-GB" sz="1400"/>
              <a:pPr>
                <a:spcBef>
                  <a:spcPct val="0"/>
                </a:spcBef>
                <a:buFontTx/>
                <a:buNone/>
              </a:pPr>
              <a:t>6</a:t>
            </a:fld>
            <a:endParaRPr lang="en-GB" sz="1400"/>
          </a:p>
        </p:txBody>
      </p:sp>
      <p:sp>
        <p:nvSpPr>
          <p:cNvPr id="38915" name="Rectangle 2"/>
          <p:cNvSpPr>
            <a:spLocks noGrp="1" noChangeArrowheads="1"/>
          </p:cNvSpPr>
          <p:nvPr>
            <p:ph type="title"/>
          </p:nvPr>
        </p:nvSpPr>
        <p:spPr>
          <a:xfrm>
            <a:off x="1981200" y="274639"/>
            <a:ext cx="8229600" cy="561975"/>
          </a:xfrm>
        </p:spPr>
        <p:txBody>
          <a:bodyPr/>
          <a:lstStyle/>
          <a:p>
            <a:pPr eaLnBrk="1" hangingPunct="1"/>
            <a:r>
              <a:rPr lang="en-US" sz="3200" b="1"/>
              <a:t>Datashet Transistor (Sederhana)</a:t>
            </a:r>
          </a:p>
        </p:txBody>
      </p:sp>
      <p:graphicFrame>
        <p:nvGraphicFramePr>
          <p:cNvPr id="6" name="Group 148"/>
          <p:cNvGraphicFramePr>
            <a:graphicFrameLocks/>
          </p:cNvGraphicFramePr>
          <p:nvPr/>
        </p:nvGraphicFramePr>
        <p:xfrm>
          <a:off x="1981200" y="1067029"/>
          <a:ext cx="8229600" cy="4991101"/>
        </p:xfrm>
        <a:graphic>
          <a:graphicData uri="http://schemas.openxmlformats.org/drawingml/2006/table">
            <a:tbl>
              <a:tblPr/>
              <a:tblGrid>
                <a:gridCol w="757238">
                  <a:extLst>
                    <a:ext uri="{9D8B030D-6E8A-4147-A177-3AD203B41FA5}">
                      <a16:colId xmlns:a16="http://schemas.microsoft.com/office/drawing/2014/main" val="20000"/>
                    </a:ext>
                  </a:extLst>
                </a:gridCol>
                <a:gridCol w="860425">
                  <a:extLst>
                    <a:ext uri="{9D8B030D-6E8A-4147-A177-3AD203B41FA5}">
                      <a16:colId xmlns:a16="http://schemas.microsoft.com/office/drawing/2014/main" val="20001"/>
                    </a:ext>
                  </a:extLst>
                </a:gridCol>
                <a:gridCol w="674687">
                  <a:extLst>
                    <a:ext uri="{9D8B030D-6E8A-4147-A177-3AD203B41FA5}">
                      <a16:colId xmlns:a16="http://schemas.microsoft.com/office/drawing/2014/main" val="20002"/>
                    </a:ext>
                  </a:extLst>
                </a:gridCol>
                <a:gridCol w="665163">
                  <a:extLst>
                    <a:ext uri="{9D8B030D-6E8A-4147-A177-3AD203B41FA5}">
                      <a16:colId xmlns:a16="http://schemas.microsoft.com/office/drawing/2014/main" val="20003"/>
                    </a:ext>
                  </a:extLst>
                </a:gridCol>
                <a:gridCol w="538162">
                  <a:extLst>
                    <a:ext uri="{9D8B030D-6E8A-4147-A177-3AD203B41FA5}">
                      <a16:colId xmlns:a16="http://schemas.microsoft.com/office/drawing/2014/main" val="20004"/>
                    </a:ext>
                  </a:extLst>
                </a:gridCol>
                <a:gridCol w="498475">
                  <a:extLst>
                    <a:ext uri="{9D8B030D-6E8A-4147-A177-3AD203B41FA5}">
                      <a16:colId xmlns:a16="http://schemas.microsoft.com/office/drawing/2014/main" val="20005"/>
                    </a:ext>
                  </a:extLst>
                </a:gridCol>
                <a:gridCol w="708025">
                  <a:extLst>
                    <a:ext uri="{9D8B030D-6E8A-4147-A177-3AD203B41FA5}">
                      <a16:colId xmlns:a16="http://schemas.microsoft.com/office/drawing/2014/main" val="20006"/>
                    </a:ext>
                  </a:extLst>
                </a:gridCol>
                <a:gridCol w="2024063">
                  <a:extLst>
                    <a:ext uri="{9D8B030D-6E8A-4147-A177-3AD203B41FA5}">
                      <a16:colId xmlns:a16="http://schemas.microsoft.com/office/drawing/2014/main" val="20007"/>
                    </a:ext>
                  </a:extLst>
                </a:gridCol>
                <a:gridCol w="1503362">
                  <a:extLst>
                    <a:ext uri="{9D8B030D-6E8A-4147-A177-3AD203B41FA5}">
                      <a16:colId xmlns:a16="http://schemas.microsoft.com/office/drawing/2014/main" val="20008"/>
                    </a:ext>
                  </a:extLst>
                </a:gridCol>
              </a:tblGrid>
              <a:tr h="315913">
                <a:tc gridSpan="9">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dirty="0">
                          <a:ln>
                            <a:noFill/>
                          </a:ln>
                          <a:solidFill>
                            <a:srgbClr val="000000"/>
                          </a:solidFill>
                          <a:effectLst/>
                          <a:latin typeface="Arial" charset="0"/>
                          <a:cs typeface="Times New Roman" pitchFamily="18" charset="0"/>
                        </a:rPr>
                        <a:t>NPN transistors</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extLst>
                  <a:ext uri="{0D108BD9-81ED-4DB2-BD59-A6C34878D82A}">
                    <a16:rowId xmlns:a16="http://schemas.microsoft.com/office/drawing/2014/main" val="10000"/>
                  </a:ext>
                </a:extLst>
              </a:tr>
              <a:tr h="1095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Code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Structure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Case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style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Arial" charset="0"/>
                          <a:cs typeface="Times New Roman" pitchFamily="18" charset="0"/>
                        </a:rPr>
                        <a:t>I</a:t>
                      </a:r>
                      <a:r>
                        <a:rPr kumimoji="0" lang="en-US" sz="1200" b="1" i="0" u="none" strike="noStrike" cap="none" normalizeH="0" baseline="-30000" dirty="0">
                          <a:ln>
                            <a:noFill/>
                          </a:ln>
                          <a:solidFill>
                            <a:srgbClr val="000000"/>
                          </a:solidFill>
                          <a:effectLst/>
                          <a:latin typeface="Arial" charset="0"/>
                          <a:cs typeface="Times New Roman" pitchFamily="18" charset="0"/>
                        </a:rPr>
                        <a:t>C</a:t>
                      </a:r>
                      <a:br>
                        <a:rPr kumimoji="0" lang="en-US" sz="1200" b="1" i="0" u="none" strike="noStrike" cap="none" normalizeH="0" baseline="0" dirty="0">
                          <a:ln>
                            <a:noFill/>
                          </a:ln>
                          <a:solidFill>
                            <a:srgbClr val="000000"/>
                          </a:solidFill>
                          <a:effectLst/>
                          <a:latin typeface="Arial" charset="0"/>
                          <a:cs typeface="Times New Roman" pitchFamily="18" charset="0"/>
                        </a:rPr>
                      </a:br>
                      <a:r>
                        <a:rPr kumimoji="0" lang="en-US" sz="1200" b="1" i="0" u="none" strike="noStrike" cap="none" normalizeH="0" baseline="0" dirty="0">
                          <a:ln>
                            <a:noFill/>
                          </a:ln>
                          <a:solidFill>
                            <a:srgbClr val="000000"/>
                          </a:solidFill>
                          <a:effectLst/>
                          <a:latin typeface="Arial" charset="0"/>
                          <a:cs typeface="Times New Roman" pitchFamily="18" charset="0"/>
                        </a:rPr>
                        <a:t>max.</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V</a:t>
                      </a:r>
                      <a:r>
                        <a:rPr kumimoji="0" lang="en-US" sz="1200" b="1" i="0" u="none" strike="noStrike" cap="none" normalizeH="0" baseline="-30000">
                          <a:ln>
                            <a:noFill/>
                          </a:ln>
                          <a:solidFill>
                            <a:srgbClr val="000000"/>
                          </a:solidFill>
                          <a:effectLst/>
                          <a:latin typeface="Arial" charset="0"/>
                          <a:cs typeface="Times New Roman" pitchFamily="18" charset="0"/>
                        </a:rPr>
                        <a:t>CE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max.</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h</a:t>
                      </a:r>
                      <a:r>
                        <a:rPr kumimoji="0" lang="en-US" sz="1200" b="1" i="0" u="none" strike="noStrike" cap="none" normalizeH="0" baseline="-30000">
                          <a:ln>
                            <a:noFill/>
                          </a:ln>
                          <a:solidFill>
                            <a:srgbClr val="000000"/>
                          </a:solidFill>
                          <a:effectLst/>
                          <a:latin typeface="Arial" charset="0"/>
                          <a:cs typeface="Times New Roman" pitchFamily="18" charset="0"/>
                        </a:rPr>
                        <a:t>FE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min.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rgbClr val="000000"/>
                          </a:solidFill>
                          <a:effectLst/>
                          <a:latin typeface="Arial" charset="0"/>
                          <a:cs typeface="Times New Roman" pitchFamily="18" charset="0"/>
                        </a:rPr>
                        <a:t>P</a:t>
                      </a:r>
                      <a:r>
                        <a:rPr kumimoji="0" lang="en-US" sz="1200" b="1" i="0" u="none" strike="noStrike" cap="none" normalizeH="0" baseline="-30000" dirty="0" err="1">
                          <a:ln>
                            <a:noFill/>
                          </a:ln>
                          <a:solidFill>
                            <a:srgbClr val="000000"/>
                          </a:solidFill>
                          <a:effectLst/>
                          <a:latin typeface="Arial" charset="0"/>
                          <a:cs typeface="Times New Roman" pitchFamily="18" charset="0"/>
                        </a:rPr>
                        <a:t>tot</a:t>
                      </a:r>
                      <a:br>
                        <a:rPr kumimoji="0" lang="en-US" sz="1200" b="1" i="0" u="none" strike="noStrike" cap="none" normalizeH="0" baseline="0" dirty="0">
                          <a:ln>
                            <a:noFill/>
                          </a:ln>
                          <a:solidFill>
                            <a:srgbClr val="000000"/>
                          </a:solidFill>
                          <a:effectLst/>
                          <a:latin typeface="Arial" charset="0"/>
                          <a:cs typeface="Times New Roman" pitchFamily="18" charset="0"/>
                        </a:rPr>
                      </a:br>
                      <a:r>
                        <a:rPr kumimoji="0" lang="en-US" sz="1200" b="1" i="0" u="none" strike="noStrike" cap="none" normalizeH="0" baseline="0" dirty="0">
                          <a:ln>
                            <a:noFill/>
                          </a:ln>
                          <a:solidFill>
                            <a:srgbClr val="000000"/>
                          </a:solidFill>
                          <a:effectLst/>
                          <a:latin typeface="Arial" charset="0"/>
                          <a:cs typeface="Times New Roman" pitchFamily="18" charset="0"/>
                        </a:rPr>
                        <a:t>max.</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Category</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(typical use)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Possible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substitutes</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BC107</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45V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Audio,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BC182 BC547</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BC108C BC183 BC548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BC108C</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Audio (low noise),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BC184 BC549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2N3053</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700mA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50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500mW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medium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BC639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BC639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TO92A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medium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TIP29A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968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TIP31A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TIP31C 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TIP31C</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TIP31A 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15</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65W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2N3055</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15A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117W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charset="0"/>
                          <a:cs typeface="Times New Roman" pitchFamily="18" charset="0"/>
                        </a:rPr>
                        <a:t> </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 name="Rectangle: Rounded Corners 2">
            <a:extLst>
              <a:ext uri="{FF2B5EF4-FFF2-40B4-BE49-F238E27FC236}">
                <a16:creationId xmlns:a16="http://schemas.microsoft.com/office/drawing/2014/main" id="{53380500-0DA7-60E8-3DF6-099BDD5C46EF}"/>
              </a:ext>
            </a:extLst>
          </p:cNvPr>
          <p:cNvSpPr/>
          <p:nvPr/>
        </p:nvSpPr>
        <p:spPr>
          <a:xfrm>
            <a:off x="1981199" y="2474615"/>
            <a:ext cx="8229601" cy="267159"/>
          </a:xfrm>
          <a:prstGeom prst="roundRect">
            <a:avLst/>
          </a:prstGeom>
          <a:noFill/>
          <a:ln w="2857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5" name="Straight Arrow Connector 4">
            <a:extLst>
              <a:ext uri="{FF2B5EF4-FFF2-40B4-BE49-F238E27FC236}">
                <a16:creationId xmlns:a16="http://schemas.microsoft.com/office/drawing/2014/main" id="{2D9553D7-0F5D-AEF0-AEB3-E58FF1CDB826}"/>
              </a:ext>
            </a:extLst>
          </p:cNvPr>
          <p:cNvCxnSpPr>
            <a:cxnSpLocks/>
            <a:stCxn id="17" idx="1"/>
          </p:cNvCxnSpPr>
          <p:nvPr/>
        </p:nvCxnSpPr>
        <p:spPr>
          <a:xfrm flipH="1" flipV="1">
            <a:off x="4780722" y="2266290"/>
            <a:ext cx="5670273" cy="10680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E6B49B8-6E5B-AE6C-0AD7-90EFF6656C77}"/>
              </a:ext>
            </a:extLst>
          </p:cNvPr>
          <p:cNvCxnSpPr>
            <a:cxnSpLocks/>
            <a:stCxn id="17" idx="1"/>
            <a:endCxn id="11" idx="5"/>
          </p:cNvCxnSpPr>
          <p:nvPr/>
        </p:nvCxnSpPr>
        <p:spPr>
          <a:xfrm flipH="1" flipV="1">
            <a:off x="5362471" y="2266290"/>
            <a:ext cx="5088524" cy="10680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BF66D4F-F55D-0E41-7E7E-4E881145F55D}"/>
              </a:ext>
            </a:extLst>
          </p:cNvPr>
          <p:cNvSpPr txBox="1"/>
          <p:nvPr/>
        </p:nvSpPr>
        <p:spPr>
          <a:xfrm>
            <a:off x="10450995" y="610485"/>
            <a:ext cx="1480930" cy="5447645"/>
          </a:xfrm>
          <a:prstGeom prst="rect">
            <a:avLst/>
          </a:prstGeom>
          <a:noFill/>
        </p:spPr>
        <p:txBody>
          <a:bodyPr wrap="square" rtlCol="0">
            <a:spAutoFit/>
          </a:bodyPr>
          <a:lstStyle/>
          <a:p>
            <a:r>
              <a:rPr lang="en-US" sz="1200">
                <a:solidFill>
                  <a:srgbClr val="FF0000"/>
                </a:solidFill>
              </a:rPr>
              <a:t>Icmax dan Vcemax disini adalah Icmax dan Vcemax “break down” dimana lewat batas tsb, transistor akan rusak. </a:t>
            </a:r>
          </a:p>
          <a:p>
            <a:endParaRPr lang="en-US" sz="1200">
              <a:solidFill>
                <a:srgbClr val="FF0000"/>
              </a:solidFill>
            </a:endParaRPr>
          </a:p>
          <a:p>
            <a:r>
              <a:rPr lang="en-US" sz="1200">
                <a:solidFill>
                  <a:srgbClr val="FF0000"/>
                </a:solidFill>
              </a:rPr>
              <a:t>Catatan1: Icmax dan Vcemax ini hanya bisa  diketahui dari datasheet. Datasheet umumnya dikeluarkan oleh fabrikan. </a:t>
            </a:r>
          </a:p>
          <a:p>
            <a:endParaRPr lang="en-US" sz="1200">
              <a:solidFill>
                <a:srgbClr val="FF0000"/>
              </a:solidFill>
            </a:endParaRPr>
          </a:p>
          <a:p>
            <a:r>
              <a:rPr lang="en-US" sz="1200">
                <a:solidFill>
                  <a:srgbClr val="FF0000"/>
                </a:solidFill>
              </a:rPr>
              <a:t>Catatan2: Notasi Icmax dan Vcemax yang digunakan saat perancangan Prategangan bukanlah Icmax dan Vcemax “break down” melainkan Icmax dan Vcemax yang ditentukan oleh desainer yang nilainya di bawah Icmax dan Vcemax break down tsb.</a:t>
            </a:r>
            <a:endParaRPr lang="en-ID" sz="1200">
              <a:solidFill>
                <a:srgbClr val="FF0000"/>
              </a:solidFill>
            </a:endParaRPr>
          </a:p>
        </p:txBody>
      </p:sp>
      <p:cxnSp>
        <p:nvCxnSpPr>
          <p:cNvPr id="2" name="Straight Arrow Connector 1">
            <a:extLst>
              <a:ext uri="{FF2B5EF4-FFF2-40B4-BE49-F238E27FC236}">
                <a16:creationId xmlns:a16="http://schemas.microsoft.com/office/drawing/2014/main" id="{7BC001C0-4B4C-896D-FFEB-CEC5545CE994}"/>
              </a:ext>
            </a:extLst>
          </p:cNvPr>
          <p:cNvCxnSpPr>
            <a:cxnSpLocks/>
          </p:cNvCxnSpPr>
          <p:nvPr/>
        </p:nvCxnSpPr>
        <p:spPr>
          <a:xfrm flipH="1" flipV="1">
            <a:off x="5714792" y="2741774"/>
            <a:ext cx="1314658" cy="35444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F99828D-1BA4-1B94-F432-5B1C7E085D17}"/>
              </a:ext>
            </a:extLst>
          </p:cNvPr>
          <p:cNvSpPr txBox="1"/>
          <p:nvPr/>
        </p:nvSpPr>
        <p:spPr>
          <a:xfrm>
            <a:off x="6095999" y="6214029"/>
            <a:ext cx="2188420" cy="369332"/>
          </a:xfrm>
          <a:prstGeom prst="rect">
            <a:avLst/>
          </a:prstGeom>
          <a:noFill/>
        </p:spPr>
        <p:txBody>
          <a:bodyPr wrap="none" rtlCol="0">
            <a:spAutoFit/>
          </a:bodyPr>
          <a:lstStyle/>
          <a:p>
            <a:r>
              <a:rPr lang="en-US">
                <a:solidFill>
                  <a:srgbClr val="FF0000"/>
                </a:solidFill>
              </a:rPr>
              <a:t>Pada Vce=5V, Ic=2mA</a:t>
            </a:r>
            <a:endParaRPr lang="en-ID">
              <a:solidFill>
                <a:srgbClr val="FF0000"/>
              </a:solidFill>
            </a:endParaRPr>
          </a:p>
        </p:txBody>
      </p:sp>
      <p:sp>
        <p:nvSpPr>
          <p:cNvPr id="7" name="Oval 6">
            <a:extLst>
              <a:ext uri="{FF2B5EF4-FFF2-40B4-BE49-F238E27FC236}">
                <a16:creationId xmlns:a16="http://schemas.microsoft.com/office/drawing/2014/main" id="{9BFC9BCA-C1B1-C185-7A12-339C2CBBF982}"/>
              </a:ext>
            </a:extLst>
          </p:cNvPr>
          <p:cNvSpPr/>
          <p:nvPr/>
        </p:nvSpPr>
        <p:spPr>
          <a:xfrm>
            <a:off x="4263888" y="2497635"/>
            <a:ext cx="626163"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Oval 7">
            <a:extLst>
              <a:ext uri="{FF2B5EF4-FFF2-40B4-BE49-F238E27FC236}">
                <a16:creationId xmlns:a16="http://schemas.microsoft.com/office/drawing/2014/main" id="{0F077CBE-3FE9-CD95-26B7-D738A5AB7296}"/>
              </a:ext>
            </a:extLst>
          </p:cNvPr>
          <p:cNvSpPr/>
          <p:nvPr/>
        </p:nvSpPr>
        <p:spPr>
          <a:xfrm>
            <a:off x="4929810" y="2497635"/>
            <a:ext cx="546648"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Oval 8">
            <a:extLst>
              <a:ext uri="{FF2B5EF4-FFF2-40B4-BE49-F238E27FC236}">
                <a16:creationId xmlns:a16="http://schemas.microsoft.com/office/drawing/2014/main" id="{B86B796B-6B7C-333C-13FD-F3D1257DA6D0}"/>
              </a:ext>
            </a:extLst>
          </p:cNvPr>
          <p:cNvSpPr/>
          <p:nvPr/>
        </p:nvSpPr>
        <p:spPr>
          <a:xfrm>
            <a:off x="4303646" y="1375340"/>
            <a:ext cx="626163"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Oval 10">
            <a:extLst>
              <a:ext uri="{FF2B5EF4-FFF2-40B4-BE49-F238E27FC236}">
                <a16:creationId xmlns:a16="http://schemas.microsoft.com/office/drawing/2014/main" id="{4196EA66-F9BB-D387-3444-5021070E9C62}"/>
              </a:ext>
            </a:extLst>
          </p:cNvPr>
          <p:cNvSpPr/>
          <p:nvPr/>
        </p:nvSpPr>
        <p:spPr>
          <a:xfrm>
            <a:off x="4929809" y="1367299"/>
            <a:ext cx="506895"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Oval 11">
            <a:extLst>
              <a:ext uri="{FF2B5EF4-FFF2-40B4-BE49-F238E27FC236}">
                <a16:creationId xmlns:a16="http://schemas.microsoft.com/office/drawing/2014/main" id="{4C6E49D0-EC86-A2A5-AD4E-598CEAE7C3E5}"/>
              </a:ext>
            </a:extLst>
          </p:cNvPr>
          <p:cNvSpPr/>
          <p:nvPr/>
        </p:nvSpPr>
        <p:spPr>
          <a:xfrm>
            <a:off x="5476458" y="2477669"/>
            <a:ext cx="476667" cy="26410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Oval 12">
            <a:extLst>
              <a:ext uri="{FF2B5EF4-FFF2-40B4-BE49-F238E27FC236}">
                <a16:creationId xmlns:a16="http://schemas.microsoft.com/office/drawing/2014/main" id="{1E2AD9EF-5752-CD91-847E-9F1E9D3D50D5}"/>
              </a:ext>
            </a:extLst>
          </p:cNvPr>
          <p:cNvSpPr/>
          <p:nvPr/>
        </p:nvSpPr>
        <p:spPr>
          <a:xfrm>
            <a:off x="5469831" y="1394340"/>
            <a:ext cx="506895"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Oval 13">
            <a:extLst>
              <a:ext uri="{FF2B5EF4-FFF2-40B4-BE49-F238E27FC236}">
                <a16:creationId xmlns:a16="http://schemas.microsoft.com/office/drawing/2014/main" id="{8E6F4D40-E305-03C8-4757-6D3C3CC7DE2F}"/>
              </a:ext>
            </a:extLst>
          </p:cNvPr>
          <p:cNvSpPr/>
          <p:nvPr/>
        </p:nvSpPr>
        <p:spPr>
          <a:xfrm>
            <a:off x="4263889" y="5767054"/>
            <a:ext cx="626163"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Oval 14">
            <a:extLst>
              <a:ext uri="{FF2B5EF4-FFF2-40B4-BE49-F238E27FC236}">
                <a16:creationId xmlns:a16="http://schemas.microsoft.com/office/drawing/2014/main" id="{13E6AC6B-3347-C63D-007D-FB1F0EAF40DE}"/>
              </a:ext>
            </a:extLst>
          </p:cNvPr>
          <p:cNvSpPr/>
          <p:nvPr/>
        </p:nvSpPr>
        <p:spPr>
          <a:xfrm>
            <a:off x="4929811" y="5767054"/>
            <a:ext cx="546648"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Oval 15">
            <a:extLst>
              <a:ext uri="{FF2B5EF4-FFF2-40B4-BE49-F238E27FC236}">
                <a16:creationId xmlns:a16="http://schemas.microsoft.com/office/drawing/2014/main" id="{B50AFEC0-AB49-8991-378F-A8C63FE3C887}"/>
              </a:ext>
            </a:extLst>
          </p:cNvPr>
          <p:cNvSpPr/>
          <p:nvPr/>
        </p:nvSpPr>
        <p:spPr>
          <a:xfrm>
            <a:off x="5476459" y="5747088"/>
            <a:ext cx="476667" cy="26410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9" name="Straight Arrow Connector 18">
            <a:extLst>
              <a:ext uri="{FF2B5EF4-FFF2-40B4-BE49-F238E27FC236}">
                <a16:creationId xmlns:a16="http://schemas.microsoft.com/office/drawing/2014/main" id="{0C0FE1B8-3E18-AF96-3F1E-712EEB1B1747}"/>
              </a:ext>
            </a:extLst>
          </p:cNvPr>
          <p:cNvCxnSpPr>
            <a:cxnSpLocks/>
          </p:cNvCxnSpPr>
          <p:nvPr/>
        </p:nvCxnSpPr>
        <p:spPr>
          <a:xfrm flipV="1">
            <a:off x="5049078" y="6050299"/>
            <a:ext cx="568385" cy="2359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C902505-5BCE-8A62-1D4C-B41EFFCB48B2}"/>
              </a:ext>
            </a:extLst>
          </p:cNvPr>
          <p:cNvSpPr txBox="1"/>
          <p:nvPr/>
        </p:nvSpPr>
        <p:spPr>
          <a:xfrm>
            <a:off x="3950920" y="6216260"/>
            <a:ext cx="2004075" cy="369332"/>
          </a:xfrm>
          <a:prstGeom prst="rect">
            <a:avLst/>
          </a:prstGeom>
          <a:noFill/>
        </p:spPr>
        <p:txBody>
          <a:bodyPr wrap="none" rtlCol="0">
            <a:spAutoFit/>
          </a:bodyPr>
          <a:lstStyle/>
          <a:p>
            <a:r>
              <a:rPr lang="en-US">
                <a:solidFill>
                  <a:srgbClr val="FF0000"/>
                </a:solidFill>
              </a:rPr>
              <a:t>Pada Vce=4V, Ic=4A</a:t>
            </a:r>
            <a:endParaRPr lang="en-ID">
              <a:solidFill>
                <a:srgbClr val="FF0000"/>
              </a:solidFill>
            </a:endParaRPr>
          </a:p>
        </p:txBody>
      </p:sp>
      <p:sp>
        <p:nvSpPr>
          <p:cNvPr id="27" name="Rectangle: Rounded Corners 26">
            <a:extLst>
              <a:ext uri="{FF2B5EF4-FFF2-40B4-BE49-F238E27FC236}">
                <a16:creationId xmlns:a16="http://schemas.microsoft.com/office/drawing/2014/main" id="{E70EFC24-DD48-6389-8277-F1D605207390}"/>
              </a:ext>
            </a:extLst>
          </p:cNvPr>
          <p:cNvSpPr/>
          <p:nvPr/>
        </p:nvSpPr>
        <p:spPr>
          <a:xfrm>
            <a:off x="1981198" y="5767054"/>
            <a:ext cx="8229601" cy="267159"/>
          </a:xfrm>
          <a:prstGeom prst="roundRect">
            <a:avLst/>
          </a:prstGeom>
          <a:noFill/>
          <a:ln w="2857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266605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9CC9-1256-9A0C-BD6A-4142B364C5E7}"/>
              </a:ext>
            </a:extLst>
          </p:cNvPr>
          <p:cNvSpPr>
            <a:spLocks noGrp="1"/>
          </p:cNvSpPr>
          <p:nvPr>
            <p:ph type="title"/>
          </p:nvPr>
        </p:nvSpPr>
        <p:spPr/>
        <p:txBody>
          <a:bodyPr/>
          <a:lstStyle/>
          <a:p>
            <a:r>
              <a:rPr lang="en-US"/>
              <a:t>Beta (atau hFE) BC107</a:t>
            </a:r>
            <a:endParaRPr lang="en-ID"/>
          </a:p>
        </p:txBody>
      </p:sp>
      <p:sp>
        <p:nvSpPr>
          <p:cNvPr id="3" name="Content Placeholder 2">
            <a:extLst>
              <a:ext uri="{FF2B5EF4-FFF2-40B4-BE49-F238E27FC236}">
                <a16:creationId xmlns:a16="http://schemas.microsoft.com/office/drawing/2014/main" id="{895A4171-EE3C-6105-CF1D-FBBDC40B6F36}"/>
              </a:ext>
            </a:extLst>
          </p:cNvPr>
          <p:cNvSpPr>
            <a:spLocks noGrp="1"/>
          </p:cNvSpPr>
          <p:nvPr>
            <p:ph idx="1"/>
          </p:nvPr>
        </p:nvSpPr>
        <p:spPr/>
        <p:txBody>
          <a:bodyPr>
            <a:normAutofit fontScale="92500" lnSpcReduction="20000"/>
          </a:bodyPr>
          <a:lstStyle/>
          <a:p>
            <a:pPr>
              <a:buNone/>
            </a:pPr>
            <a:r>
              <a:rPr lang="en-ID"/>
              <a:t>Beta BC107 pada tabel tertulis 110 tapi ini adalah nilai minimum.</a:t>
            </a:r>
          </a:p>
          <a:p>
            <a:pPr>
              <a:buNone/>
            </a:pPr>
            <a:r>
              <a:rPr lang="en-ID"/>
              <a:t>Nilai </a:t>
            </a:r>
            <a:r>
              <a:rPr lang="en-ID" b="1"/>
              <a:t>beta (</a:t>
            </a:r>
            <a:r>
              <a:rPr lang="el-GR" b="1"/>
              <a:t>β)</a:t>
            </a:r>
            <a:r>
              <a:rPr lang="el-GR"/>
              <a:t> </a:t>
            </a:r>
            <a:r>
              <a:rPr lang="en-ID"/>
              <a:t>atau </a:t>
            </a:r>
            <a:r>
              <a:rPr lang="en-ID" b="1"/>
              <a:t>hFE</a:t>
            </a:r>
            <a:r>
              <a:rPr lang="en-ID"/>
              <a:t> dari transistor </a:t>
            </a:r>
            <a:r>
              <a:rPr lang="en-ID" b="1"/>
              <a:t>BC107</a:t>
            </a:r>
            <a:r>
              <a:rPr lang="en-ID"/>
              <a:t> biasanya berada dalam rentang:</a:t>
            </a:r>
          </a:p>
          <a:p>
            <a:pPr>
              <a:buNone/>
            </a:pPr>
            <a:r>
              <a:rPr lang="en-ID" b="1"/>
              <a:t>110 hingga 450</a:t>
            </a:r>
            <a:r>
              <a:rPr lang="en-ID"/>
              <a:t>, tergantung pada tipe subkelasnya dan kondisi pengujian.</a:t>
            </a:r>
          </a:p>
          <a:p>
            <a:pPr>
              <a:buNone/>
            </a:pPr>
            <a:r>
              <a:rPr lang="en-ID"/>
              <a:t>Secara umum:</a:t>
            </a:r>
          </a:p>
          <a:p>
            <a:pPr>
              <a:buFont typeface="Arial" panose="020B0604020202020204" pitchFamily="34" charset="0"/>
              <a:buChar char="•"/>
            </a:pPr>
            <a:r>
              <a:rPr lang="en-ID" b="1"/>
              <a:t>BC107A</a:t>
            </a:r>
            <a:r>
              <a:rPr lang="en-ID"/>
              <a:t>: </a:t>
            </a:r>
            <a:r>
              <a:rPr lang="el-GR"/>
              <a:t>β ≈ 110–220</a:t>
            </a:r>
          </a:p>
          <a:p>
            <a:pPr>
              <a:buFont typeface="Arial" panose="020B0604020202020204" pitchFamily="34" charset="0"/>
              <a:buChar char="•"/>
            </a:pPr>
            <a:r>
              <a:rPr lang="en-ID" b="1"/>
              <a:t>BC107B</a:t>
            </a:r>
            <a:r>
              <a:rPr lang="en-ID"/>
              <a:t>: </a:t>
            </a:r>
            <a:r>
              <a:rPr lang="el-GR"/>
              <a:t>β ≈ 200–450</a:t>
            </a:r>
          </a:p>
          <a:p>
            <a:pPr>
              <a:buFont typeface="Arial" panose="020B0604020202020204" pitchFamily="34" charset="0"/>
              <a:buChar char="•"/>
            </a:pPr>
            <a:r>
              <a:rPr lang="en-ID" b="1"/>
              <a:t>BC107C</a:t>
            </a:r>
            <a:r>
              <a:rPr lang="en-ID"/>
              <a:t>: </a:t>
            </a:r>
            <a:r>
              <a:rPr lang="el-GR"/>
              <a:t>β ≈ 420–800 (</a:t>
            </a:r>
            <a:r>
              <a:rPr lang="en-ID"/>
              <a:t>jika tersedia, meski ini lebih umum di BC547C)</a:t>
            </a:r>
          </a:p>
          <a:p>
            <a:pPr>
              <a:buNone/>
            </a:pPr>
            <a:r>
              <a:rPr lang="en-ID"/>
              <a:t>Nilai pastinya bisa dilihat di datasheet atau diukur menggunakan multimeter dengan fungsi hFE. Pengujian standar biasanya dilakukan pada:</a:t>
            </a:r>
          </a:p>
          <a:p>
            <a:pPr>
              <a:buFont typeface="Arial" panose="020B0604020202020204" pitchFamily="34" charset="0"/>
              <a:buChar char="•"/>
            </a:pPr>
            <a:r>
              <a:rPr lang="en-ID" b="1"/>
              <a:t>Vce</a:t>
            </a:r>
            <a:r>
              <a:rPr lang="en-ID"/>
              <a:t> = 5V</a:t>
            </a:r>
          </a:p>
          <a:p>
            <a:pPr>
              <a:buFont typeface="Arial" panose="020B0604020202020204" pitchFamily="34" charset="0"/>
              <a:buChar char="•"/>
            </a:pPr>
            <a:r>
              <a:rPr lang="en-ID" b="1"/>
              <a:t>Ic</a:t>
            </a:r>
            <a:r>
              <a:rPr lang="en-ID"/>
              <a:t> = 2 mA</a:t>
            </a:r>
          </a:p>
          <a:p>
            <a:endParaRPr lang="en-ID"/>
          </a:p>
        </p:txBody>
      </p:sp>
    </p:spTree>
    <p:extLst>
      <p:ext uri="{BB962C8B-B14F-4D97-AF65-F5344CB8AC3E}">
        <p14:creationId xmlns:p14="http://schemas.microsoft.com/office/powerpoint/2010/main" val="4293632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7F96D-3A22-3C08-F9C9-3C6CE807093A}"/>
              </a:ext>
            </a:extLst>
          </p:cNvPr>
          <p:cNvSpPr>
            <a:spLocks noGrp="1"/>
          </p:cNvSpPr>
          <p:nvPr>
            <p:ph type="title"/>
          </p:nvPr>
        </p:nvSpPr>
        <p:spPr/>
        <p:txBody>
          <a:bodyPr/>
          <a:lstStyle/>
          <a:p>
            <a:r>
              <a:rPr lang="en-US"/>
              <a:t>Beta (atau hFE) 2N3055</a:t>
            </a:r>
            <a:endParaRPr lang="en-ID"/>
          </a:p>
        </p:txBody>
      </p:sp>
      <p:sp>
        <p:nvSpPr>
          <p:cNvPr id="3" name="Content Placeholder 2">
            <a:extLst>
              <a:ext uri="{FF2B5EF4-FFF2-40B4-BE49-F238E27FC236}">
                <a16:creationId xmlns:a16="http://schemas.microsoft.com/office/drawing/2014/main" id="{D5E4EA75-C9DA-018C-4FB6-A58BA608B706}"/>
              </a:ext>
            </a:extLst>
          </p:cNvPr>
          <p:cNvSpPr>
            <a:spLocks noGrp="1"/>
          </p:cNvSpPr>
          <p:nvPr>
            <p:ph idx="1"/>
          </p:nvPr>
        </p:nvSpPr>
        <p:spPr/>
        <p:txBody>
          <a:bodyPr>
            <a:normAutofit fontScale="92500" lnSpcReduction="20000"/>
          </a:bodyPr>
          <a:lstStyle/>
          <a:p>
            <a:pPr>
              <a:buNone/>
            </a:pPr>
            <a:r>
              <a:rPr lang="en-ID"/>
              <a:t>Beta 2N3055 pada tabel tertulis 20 tapi ini adalah nilai minimum.</a:t>
            </a:r>
          </a:p>
          <a:p>
            <a:pPr>
              <a:buNone/>
            </a:pPr>
            <a:r>
              <a:rPr lang="en-ID"/>
              <a:t>Transistor </a:t>
            </a:r>
            <a:r>
              <a:rPr lang="en-ID" b="1"/>
              <a:t>2N3055</a:t>
            </a:r>
            <a:r>
              <a:rPr lang="en-ID"/>
              <a:t> adalah transistor daya NPN yang biasa digunakan untuk aplikasi arus dan tegangan tinggi.</a:t>
            </a:r>
          </a:p>
          <a:p>
            <a:pPr>
              <a:buNone/>
            </a:pPr>
            <a:r>
              <a:rPr lang="en-ID"/>
              <a:t>Nilai </a:t>
            </a:r>
            <a:r>
              <a:rPr lang="en-ID" b="1"/>
              <a:t>beta (</a:t>
            </a:r>
            <a:r>
              <a:rPr lang="el-GR" b="1"/>
              <a:t>β) </a:t>
            </a:r>
            <a:r>
              <a:rPr lang="en-ID" b="1"/>
              <a:t>atau hFE</a:t>
            </a:r>
            <a:r>
              <a:rPr lang="en-ID"/>
              <a:t> dari 2N3055:</a:t>
            </a:r>
          </a:p>
          <a:p>
            <a:pPr>
              <a:buFont typeface="Arial" panose="020B0604020202020204" pitchFamily="34" charset="0"/>
              <a:buChar char="•"/>
            </a:pPr>
            <a:r>
              <a:rPr lang="en-ID"/>
              <a:t>Biasanya </a:t>
            </a:r>
            <a:r>
              <a:rPr lang="en-ID" b="1"/>
              <a:t>20 hingga 70</a:t>
            </a:r>
            <a:r>
              <a:rPr lang="en-ID"/>
              <a:t> pada arus kolektor </a:t>
            </a:r>
            <a:r>
              <a:rPr lang="en-ID" b="1"/>
              <a:t>Ic = 4A</a:t>
            </a:r>
            <a:r>
              <a:rPr lang="en-ID"/>
              <a:t> dan </a:t>
            </a:r>
            <a:r>
              <a:rPr lang="en-ID" b="1"/>
              <a:t>Vce = 4 V</a:t>
            </a:r>
            <a:r>
              <a:rPr lang="en-ID"/>
              <a:t> (menurut datasheet lama dari ON Semiconductor).</a:t>
            </a:r>
          </a:p>
          <a:p>
            <a:pPr>
              <a:buFont typeface="Arial" panose="020B0604020202020204" pitchFamily="34" charset="0"/>
              <a:buChar char="•"/>
            </a:pPr>
            <a:r>
              <a:rPr lang="en-ID"/>
              <a:t>Nilai beta bisa lebih rendah pada arus lebih kecil, dan akan menurun saat arus kolektor mendekati batas maksimum (15 A).</a:t>
            </a:r>
          </a:p>
          <a:p>
            <a:pPr>
              <a:buNone/>
            </a:pPr>
            <a:r>
              <a:rPr lang="en-ID" b="1"/>
              <a:t>Catatan penting</a:t>
            </a:r>
            <a:r>
              <a:rPr lang="en-ID"/>
              <a:t>:</a:t>
            </a:r>
          </a:p>
          <a:p>
            <a:pPr>
              <a:buFont typeface="Arial" panose="020B0604020202020204" pitchFamily="34" charset="0"/>
              <a:buChar char="•"/>
            </a:pPr>
            <a:r>
              <a:rPr lang="en-ID"/>
              <a:t>2N3055 bukan transistor yang cocok untuk penguatan sinyal kecil karena betanya rendah.</a:t>
            </a:r>
          </a:p>
          <a:p>
            <a:pPr>
              <a:buFont typeface="Arial" panose="020B0604020202020204" pitchFamily="34" charset="0"/>
              <a:buChar char="•"/>
            </a:pPr>
            <a:r>
              <a:rPr lang="en-ID"/>
              <a:t>Cocok untuk </a:t>
            </a:r>
            <a:r>
              <a:rPr lang="en-ID" b="1"/>
              <a:t>regulator tegangan, power amplifier,</a:t>
            </a:r>
            <a:r>
              <a:rPr lang="en-ID"/>
              <a:t> dan </a:t>
            </a:r>
            <a:r>
              <a:rPr lang="en-ID" b="1"/>
              <a:t>driver motor</a:t>
            </a:r>
            <a:r>
              <a:rPr lang="en-ID"/>
              <a:t>.</a:t>
            </a:r>
          </a:p>
          <a:p>
            <a:endParaRPr lang="en-ID"/>
          </a:p>
        </p:txBody>
      </p:sp>
    </p:spTree>
    <p:extLst>
      <p:ext uri="{BB962C8B-B14F-4D97-AF65-F5344CB8AC3E}">
        <p14:creationId xmlns:p14="http://schemas.microsoft.com/office/powerpoint/2010/main" val="3799579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7843A-A4C7-FC3F-3ACE-3295BCC4E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3BC8E2-C484-D902-CB58-3B54615EE4CC}"/>
              </a:ext>
            </a:extLst>
          </p:cNvPr>
          <p:cNvSpPr>
            <a:spLocks noGrp="1"/>
          </p:cNvSpPr>
          <p:nvPr>
            <p:ph type="title"/>
          </p:nvPr>
        </p:nvSpPr>
        <p:spPr/>
        <p:txBody>
          <a:bodyPr/>
          <a:lstStyle/>
          <a:p>
            <a:r>
              <a:rPr lang="en-US"/>
              <a:t>Langkah Kerja 2</a:t>
            </a:r>
            <a:endParaRPr lang="en-ID"/>
          </a:p>
        </p:txBody>
      </p:sp>
      <p:sp>
        <p:nvSpPr>
          <p:cNvPr id="3" name="Content Placeholder 2">
            <a:extLst>
              <a:ext uri="{FF2B5EF4-FFF2-40B4-BE49-F238E27FC236}">
                <a16:creationId xmlns:a16="http://schemas.microsoft.com/office/drawing/2014/main" id="{12571FB4-67CC-7BBF-0349-2379F610EAA3}"/>
              </a:ext>
            </a:extLst>
          </p:cNvPr>
          <p:cNvSpPr>
            <a:spLocks noGrp="1"/>
          </p:cNvSpPr>
          <p:nvPr>
            <p:ph idx="1"/>
          </p:nvPr>
        </p:nvSpPr>
        <p:spPr/>
        <p:txBody>
          <a:bodyPr>
            <a:normAutofit fontScale="70000" lnSpcReduction="20000"/>
          </a:bodyPr>
          <a:lstStyle/>
          <a:p>
            <a:r>
              <a:rPr lang="en-US"/>
              <a:t>Buatlah grafik karakteristik Output, Input dan Transfer transistor dengan mode otomatis menggunakan mode Graph di Proteus. Pada mode ini pengambilan data dan ploting grafik dilakukan otomatis oleh Proteus menggunakan mode Graph.</a:t>
            </a:r>
          </a:p>
          <a:p>
            <a:r>
              <a:rPr lang="en-US"/>
              <a:t>Untuk masing-masing transistor:</a:t>
            </a:r>
          </a:p>
          <a:p>
            <a:pPr marL="914400" lvl="1" indent="-457200">
              <a:buFont typeface="+mj-lt"/>
              <a:buAutoNum type="arabicPeriod"/>
            </a:pPr>
            <a:r>
              <a:rPr lang="en-US"/>
              <a:t>Buatlah Grafik 1, grafik karakteristik output Ic=f(Vce, Ib), Vce_max= bebas, Ib_max= bebas</a:t>
            </a:r>
          </a:p>
          <a:p>
            <a:pPr marL="914400" lvl="1" indent="-457200">
              <a:buFont typeface="+mj-lt"/>
              <a:buAutoNum type="arabicPeriod"/>
            </a:pPr>
            <a:r>
              <a:rPr lang="en-US"/>
              <a:t>Buatlah Grafik 2, grafik karakteristik transfer Ic=f(Ib, Vce), Ib_max= bebas, Vce_max= bebas</a:t>
            </a:r>
          </a:p>
          <a:p>
            <a:pPr marL="914400" lvl="1" indent="-457200">
              <a:buFont typeface="+mj-lt"/>
              <a:buAutoNum type="arabicPeriod"/>
            </a:pPr>
            <a:r>
              <a:rPr lang="en-US"/>
              <a:t>Buatlah Grafik 3, grafik karakteristik input Vbe=f(Ib, Vce), Ib_max= bebas, Vce_max= bebas</a:t>
            </a:r>
          </a:p>
          <a:p>
            <a:endParaRPr lang="en-ID"/>
          </a:p>
          <a:p>
            <a:r>
              <a:rPr lang="en-ID"/>
              <a:t>Pembuatan grafik harus mengikuti kaidah berikut:</a:t>
            </a:r>
          </a:p>
          <a:p>
            <a:pPr marL="914400" lvl="1" indent="-457200">
              <a:buFont typeface="+mj-lt"/>
              <a:buAutoNum type="arabicPeriod"/>
            </a:pPr>
            <a:r>
              <a:rPr lang="en-US"/>
              <a:t>Susunlah ke 3 grafik tersebut dengan pola seperti pada slide berikut. </a:t>
            </a:r>
          </a:p>
          <a:p>
            <a:pPr marL="914400" lvl="1" indent="-457200">
              <a:buFont typeface="+mj-lt"/>
              <a:buAutoNum type="arabicPeriod"/>
            </a:pPr>
            <a:r>
              <a:rPr lang="en-US"/>
              <a:t>Atur sumbu X dari Grafik 1 dan 2 agar segaris lurus.</a:t>
            </a:r>
          </a:p>
          <a:p>
            <a:pPr marL="914400" lvl="1" indent="-457200">
              <a:buFont typeface="+mj-lt"/>
              <a:buAutoNum type="arabicPeriod"/>
            </a:pPr>
            <a:r>
              <a:rPr lang="en-US"/>
              <a:t>Atur sumbu Y dari Grafik 2 dan 3 agar segaris lurus.</a:t>
            </a:r>
          </a:p>
          <a:p>
            <a:pPr marL="914400" lvl="1" indent="-457200">
              <a:buFont typeface="+mj-lt"/>
              <a:buAutoNum type="arabicPeriod"/>
            </a:pPr>
            <a:r>
              <a:rPr lang="en-US"/>
              <a:t>Atur sumbu Ic di Grafik 1 dan 2 agar rentang dan skalanya sama.</a:t>
            </a:r>
          </a:p>
          <a:p>
            <a:pPr marL="914400" lvl="1" indent="-457200">
              <a:buFont typeface="+mj-lt"/>
              <a:buAutoNum type="arabicPeriod"/>
            </a:pPr>
            <a:r>
              <a:rPr lang="en-US"/>
              <a:t>Atur sumbu Ib di Grafik 2 dan 3 agar rentang dan skalanya sama.</a:t>
            </a:r>
          </a:p>
          <a:p>
            <a:r>
              <a:rPr lang="en-ID"/>
              <a:t>Contoh hasil grafik, penempatan dan cara pengaturan sumbu dapat dilihat pada slide berikut.</a:t>
            </a:r>
          </a:p>
        </p:txBody>
      </p:sp>
    </p:spTree>
    <p:extLst>
      <p:ext uri="{BB962C8B-B14F-4D97-AF65-F5344CB8AC3E}">
        <p14:creationId xmlns:p14="http://schemas.microsoft.com/office/powerpoint/2010/main" val="3731728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C187BCF-7997-7A1B-1B7D-4A60EEE4FC19}"/>
              </a:ext>
            </a:extLst>
          </p:cNvPr>
          <p:cNvSpPr txBox="1"/>
          <p:nvPr/>
        </p:nvSpPr>
        <p:spPr>
          <a:xfrm>
            <a:off x="3489300" y="1311417"/>
            <a:ext cx="1310640" cy="369332"/>
          </a:xfrm>
          <a:prstGeom prst="rect">
            <a:avLst/>
          </a:prstGeom>
          <a:noFill/>
        </p:spPr>
        <p:txBody>
          <a:bodyPr wrap="square">
            <a:spAutoFit/>
          </a:bodyPr>
          <a:lstStyle/>
          <a:p>
            <a:r>
              <a:rPr lang="en-US"/>
              <a:t>Ic=f(Ib, Vce) </a:t>
            </a:r>
            <a:endParaRPr lang="en-ID"/>
          </a:p>
        </p:txBody>
      </p:sp>
      <p:pic>
        <p:nvPicPr>
          <p:cNvPr id="17" name="Picture 16">
            <a:extLst>
              <a:ext uri="{FF2B5EF4-FFF2-40B4-BE49-F238E27FC236}">
                <a16:creationId xmlns:a16="http://schemas.microsoft.com/office/drawing/2014/main" id="{5FF5A70F-9D31-07CE-0EC0-CB4CB506DDA1}"/>
              </a:ext>
            </a:extLst>
          </p:cNvPr>
          <p:cNvPicPr>
            <a:picLocks noChangeAspect="1"/>
          </p:cNvPicPr>
          <p:nvPr/>
        </p:nvPicPr>
        <p:blipFill>
          <a:blip r:embed="rId2"/>
          <a:stretch>
            <a:fillRect/>
          </a:stretch>
        </p:blipFill>
        <p:spPr>
          <a:xfrm>
            <a:off x="2259945" y="1680749"/>
            <a:ext cx="7672110" cy="4564495"/>
          </a:xfrm>
          <a:prstGeom prst="rect">
            <a:avLst/>
          </a:prstGeom>
        </p:spPr>
      </p:pic>
      <p:sp>
        <p:nvSpPr>
          <p:cNvPr id="13" name="TextBox 12">
            <a:extLst>
              <a:ext uri="{FF2B5EF4-FFF2-40B4-BE49-F238E27FC236}">
                <a16:creationId xmlns:a16="http://schemas.microsoft.com/office/drawing/2014/main" id="{0215F576-71EE-E983-37DD-5592150AFB26}"/>
              </a:ext>
            </a:extLst>
          </p:cNvPr>
          <p:cNvSpPr txBox="1"/>
          <p:nvPr/>
        </p:nvSpPr>
        <p:spPr>
          <a:xfrm>
            <a:off x="7604967" y="1311417"/>
            <a:ext cx="1310640" cy="369332"/>
          </a:xfrm>
          <a:prstGeom prst="rect">
            <a:avLst/>
          </a:prstGeom>
          <a:noFill/>
        </p:spPr>
        <p:txBody>
          <a:bodyPr wrap="square">
            <a:spAutoFit/>
          </a:bodyPr>
          <a:lstStyle/>
          <a:p>
            <a:r>
              <a:rPr lang="en-US"/>
              <a:t>Ic=f(Vce, Ib) </a:t>
            </a:r>
            <a:endParaRPr lang="en-ID"/>
          </a:p>
        </p:txBody>
      </p:sp>
      <p:cxnSp>
        <p:nvCxnSpPr>
          <p:cNvPr id="10" name="Straight Arrow Connector 9">
            <a:extLst>
              <a:ext uri="{FF2B5EF4-FFF2-40B4-BE49-F238E27FC236}">
                <a16:creationId xmlns:a16="http://schemas.microsoft.com/office/drawing/2014/main" id="{4C6EAF82-50D6-85A2-337E-C559F23E4E1C}"/>
              </a:ext>
            </a:extLst>
          </p:cNvPr>
          <p:cNvCxnSpPr/>
          <p:nvPr/>
        </p:nvCxnSpPr>
        <p:spPr>
          <a:xfrm>
            <a:off x="1588604" y="3579109"/>
            <a:ext cx="9014791" cy="0"/>
          </a:xfrm>
          <a:prstGeom prst="straightConnector1">
            <a:avLst/>
          </a:prstGeom>
          <a:ln w="38100">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D683BD3-DFD9-650E-765D-7F33B101D893}"/>
              </a:ext>
            </a:extLst>
          </p:cNvPr>
          <p:cNvCxnSpPr>
            <a:cxnSpLocks/>
          </p:cNvCxnSpPr>
          <p:nvPr/>
        </p:nvCxnSpPr>
        <p:spPr>
          <a:xfrm flipV="1">
            <a:off x="2558119" y="1346448"/>
            <a:ext cx="21323" cy="4972472"/>
          </a:xfrm>
          <a:prstGeom prst="straightConnector1">
            <a:avLst/>
          </a:prstGeom>
          <a:ln w="38100">
            <a:prstDash val="dashDot"/>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CF54BE4-B9E6-D93C-639E-3056F2EBB986}"/>
              </a:ext>
            </a:extLst>
          </p:cNvPr>
          <p:cNvSpPr txBox="1"/>
          <p:nvPr/>
        </p:nvSpPr>
        <p:spPr>
          <a:xfrm>
            <a:off x="3489300" y="3962996"/>
            <a:ext cx="1528062" cy="369332"/>
          </a:xfrm>
          <a:prstGeom prst="rect">
            <a:avLst/>
          </a:prstGeom>
          <a:noFill/>
        </p:spPr>
        <p:txBody>
          <a:bodyPr wrap="square">
            <a:spAutoFit/>
          </a:bodyPr>
          <a:lstStyle/>
          <a:p>
            <a:r>
              <a:rPr lang="en-US"/>
              <a:t>Vbe=f(Ib, Vce) </a:t>
            </a:r>
            <a:endParaRPr lang="en-ID"/>
          </a:p>
        </p:txBody>
      </p:sp>
      <p:sp>
        <p:nvSpPr>
          <p:cNvPr id="19" name="Title 1">
            <a:extLst>
              <a:ext uri="{FF2B5EF4-FFF2-40B4-BE49-F238E27FC236}">
                <a16:creationId xmlns:a16="http://schemas.microsoft.com/office/drawing/2014/main" id="{70A321BD-90E7-BCD9-D8D8-1DFD008489E7}"/>
              </a:ext>
            </a:extLst>
          </p:cNvPr>
          <p:cNvSpPr>
            <a:spLocks noGrp="1"/>
          </p:cNvSpPr>
          <p:nvPr>
            <p:ph type="title"/>
          </p:nvPr>
        </p:nvSpPr>
        <p:spPr>
          <a:xfrm>
            <a:off x="838200" y="365126"/>
            <a:ext cx="2998304" cy="831810"/>
          </a:xfrm>
        </p:spPr>
        <p:txBody>
          <a:bodyPr>
            <a:noAutofit/>
          </a:bodyPr>
          <a:lstStyle/>
          <a:p>
            <a:r>
              <a:rPr lang="en-US" sz="3200"/>
              <a:t>Contoh Hasil</a:t>
            </a:r>
            <a:endParaRPr lang="en-ID" sz="3200"/>
          </a:p>
        </p:txBody>
      </p:sp>
      <p:sp>
        <p:nvSpPr>
          <p:cNvPr id="20" name="TextBox 19">
            <a:extLst>
              <a:ext uri="{FF2B5EF4-FFF2-40B4-BE49-F238E27FC236}">
                <a16:creationId xmlns:a16="http://schemas.microsoft.com/office/drawing/2014/main" id="{A5D5A0C6-5A66-29E2-FCB0-04DC1C2877D3}"/>
              </a:ext>
            </a:extLst>
          </p:cNvPr>
          <p:cNvSpPr txBox="1"/>
          <p:nvPr/>
        </p:nvSpPr>
        <p:spPr>
          <a:xfrm>
            <a:off x="6491666" y="1346448"/>
            <a:ext cx="441961" cy="369332"/>
          </a:xfrm>
          <a:prstGeom prst="rect">
            <a:avLst/>
          </a:prstGeom>
          <a:noFill/>
        </p:spPr>
        <p:txBody>
          <a:bodyPr wrap="square">
            <a:spAutoFit/>
          </a:bodyPr>
          <a:lstStyle/>
          <a:p>
            <a:r>
              <a:rPr lang="en-US"/>
              <a:t>Ic</a:t>
            </a:r>
            <a:endParaRPr lang="en-ID"/>
          </a:p>
        </p:txBody>
      </p:sp>
      <p:sp>
        <p:nvSpPr>
          <p:cNvPr id="21" name="TextBox 20">
            <a:extLst>
              <a:ext uri="{FF2B5EF4-FFF2-40B4-BE49-F238E27FC236}">
                <a16:creationId xmlns:a16="http://schemas.microsoft.com/office/drawing/2014/main" id="{1B8975AB-1847-6E69-AFC3-5FE738DEF2C7}"/>
              </a:ext>
            </a:extLst>
          </p:cNvPr>
          <p:cNvSpPr txBox="1"/>
          <p:nvPr/>
        </p:nvSpPr>
        <p:spPr>
          <a:xfrm>
            <a:off x="2251871" y="1381602"/>
            <a:ext cx="441961" cy="369332"/>
          </a:xfrm>
          <a:prstGeom prst="rect">
            <a:avLst/>
          </a:prstGeom>
          <a:noFill/>
        </p:spPr>
        <p:txBody>
          <a:bodyPr wrap="square">
            <a:spAutoFit/>
          </a:bodyPr>
          <a:lstStyle/>
          <a:p>
            <a:r>
              <a:rPr lang="en-US"/>
              <a:t>Ic</a:t>
            </a:r>
            <a:endParaRPr lang="en-ID"/>
          </a:p>
        </p:txBody>
      </p:sp>
      <p:sp>
        <p:nvSpPr>
          <p:cNvPr id="22" name="TextBox 21">
            <a:extLst>
              <a:ext uri="{FF2B5EF4-FFF2-40B4-BE49-F238E27FC236}">
                <a16:creationId xmlns:a16="http://schemas.microsoft.com/office/drawing/2014/main" id="{5646576B-DEB2-CECA-A814-827D0BB8CAFB}"/>
              </a:ext>
            </a:extLst>
          </p:cNvPr>
          <p:cNvSpPr txBox="1"/>
          <p:nvPr/>
        </p:nvSpPr>
        <p:spPr>
          <a:xfrm>
            <a:off x="2039860" y="3962996"/>
            <a:ext cx="594984" cy="369332"/>
          </a:xfrm>
          <a:prstGeom prst="rect">
            <a:avLst/>
          </a:prstGeom>
          <a:noFill/>
        </p:spPr>
        <p:txBody>
          <a:bodyPr wrap="square">
            <a:spAutoFit/>
          </a:bodyPr>
          <a:lstStyle/>
          <a:p>
            <a:r>
              <a:rPr lang="en-US"/>
              <a:t>Vbe</a:t>
            </a:r>
            <a:endParaRPr lang="en-ID"/>
          </a:p>
        </p:txBody>
      </p:sp>
      <p:sp>
        <p:nvSpPr>
          <p:cNvPr id="23" name="TextBox 22">
            <a:extLst>
              <a:ext uri="{FF2B5EF4-FFF2-40B4-BE49-F238E27FC236}">
                <a16:creationId xmlns:a16="http://schemas.microsoft.com/office/drawing/2014/main" id="{8753603E-3BC3-1FD0-CB85-D0A03A1281D3}"/>
              </a:ext>
            </a:extLst>
          </p:cNvPr>
          <p:cNvSpPr txBox="1"/>
          <p:nvPr/>
        </p:nvSpPr>
        <p:spPr>
          <a:xfrm>
            <a:off x="5688703" y="3832684"/>
            <a:ext cx="441961" cy="369332"/>
          </a:xfrm>
          <a:prstGeom prst="rect">
            <a:avLst/>
          </a:prstGeom>
          <a:noFill/>
        </p:spPr>
        <p:txBody>
          <a:bodyPr wrap="square">
            <a:spAutoFit/>
          </a:bodyPr>
          <a:lstStyle/>
          <a:p>
            <a:r>
              <a:rPr lang="en-US"/>
              <a:t>Ib</a:t>
            </a:r>
            <a:endParaRPr lang="en-ID"/>
          </a:p>
        </p:txBody>
      </p:sp>
      <p:sp>
        <p:nvSpPr>
          <p:cNvPr id="24" name="TextBox 23">
            <a:extLst>
              <a:ext uri="{FF2B5EF4-FFF2-40B4-BE49-F238E27FC236}">
                <a16:creationId xmlns:a16="http://schemas.microsoft.com/office/drawing/2014/main" id="{A0D9DAD6-E726-3173-4C25-E4AEEF690CE3}"/>
              </a:ext>
            </a:extLst>
          </p:cNvPr>
          <p:cNvSpPr txBox="1"/>
          <p:nvPr/>
        </p:nvSpPr>
        <p:spPr>
          <a:xfrm>
            <a:off x="5688703" y="6187365"/>
            <a:ext cx="441961" cy="369332"/>
          </a:xfrm>
          <a:prstGeom prst="rect">
            <a:avLst/>
          </a:prstGeom>
          <a:noFill/>
        </p:spPr>
        <p:txBody>
          <a:bodyPr wrap="square">
            <a:spAutoFit/>
          </a:bodyPr>
          <a:lstStyle/>
          <a:p>
            <a:r>
              <a:rPr lang="en-US"/>
              <a:t>Ib</a:t>
            </a:r>
            <a:endParaRPr lang="en-ID"/>
          </a:p>
        </p:txBody>
      </p:sp>
      <p:sp>
        <p:nvSpPr>
          <p:cNvPr id="25" name="TextBox 24">
            <a:extLst>
              <a:ext uri="{FF2B5EF4-FFF2-40B4-BE49-F238E27FC236}">
                <a16:creationId xmlns:a16="http://schemas.microsoft.com/office/drawing/2014/main" id="{17FC8314-FF8A-0CC2-A99E-29EF980527E0}"/>
              </a:ext>
            </a:extLst>
          </p:cNvPr>
          <p:cNvSpPr txBox="1"/>
          <p:nvPr/>
        </p:nvSpPr>
        <p:spPr>
          <a:xfrm>
            <a:off x="9633881" y="3832684"/>
            <a:ext cx="519675" cy="369332"/>
          </a:xfrm>
          <a:prstGeom prst="rect">
            <a:avLst/>
          </a:prstGeom>
          <a:noFill/>
        </p:spPr>
        <p:txBody>
          <a:bodyPr wrap="square">
            <a:spAutoFit/>
          </a:bodyPr>
          <a:lstStyle/>
          <a:p>
            <a:r>
              <a:rPr lang="en-US"/>
              <a:t>Vce</a:t>
            </a:r>
            <a:endParaRPr lang="en-ID"/>
          </a:p>
        </p:txBody>
      </p:sp>
      <p:sp>
        <p:nvSpPr>
          <p:cNvPr id="26" name="TextBox 25">
            <a:extLst>
              <a:ext uri="{FF2B5EF4-FFF2-40B4-BE49-F238E27FC236}">
                <a16:creationId xmlns:a16="http://schemas.microsoft.com/office/drawing/2014/main" id="{35504100-31BC-B196-661B-C0695654C20D}"/>
              </a:ext>
            </a:extLst>
          </p:cNvPr>
          <p:cNvSpPr txBox="1"/>
          <p:nvPr/>
        </p:nvSpPr>
        <p:spPr>
          <a:xfrm>
            <a:off x="10428014" y="3255943"/>
            <a:ext cx="1469124" cy="646331"/>
          </a:xfrm>
          <a:prstGeom prst="rect">
            <a:avLst/>
          </a:prstGeom>
          <a:noFill/>
        </p:spPr>
        <p:txBody>
          <a:bodyPr wrap="square" rtlCol="0">
            <a:spAutoFit/>
          </a:bodyPr>
          <a:lstStyle/>
          <a:p>
            <a:r>
              <a:rPr lang="en-US"/>
              <a:t>Harus segaris lurus</a:t>
            </a:r>
            <a:endParaRPr lang="en-ID"/>
          </a:p>
        </p:txBody>
      </p:sp>
      <p:sp>
        <p:nvSpPr>
          <p:cNvPr id="27" name="TextBox 26">
            <a:extLst>
              <a:ext uri="{FF2B5EF4-FFF2-40B4-BE49-F238E27FC236}">
                <a16:creationId xmlns:a16="http://schemas.microsoft.com/office/drawing/2014/main" id="{E8848C6B-B47D-5FFE-4446-E0E46BB236F9}"/>
              </a:ext>
            </a:extLst>
          </p:cNvPr>
          <p:cNvSpPr txBox="1"/>
          <p:nvPr/>
        </p:nvSpPr>
        <p:spPr>
          <a:xfrm>
            <a:off x="1542420" y="988253"/>
            <a:ext cx="1946880" cy="369332"/>
          </a:xfrm>
          <a:prstGeom prst="rect">
            <a:avLst/>
          </a:prstGeom>
          <a:noFill/>
        </p:spPr>
        <p:txBody>
          <a:bodyPr wrap="none" rtlCol="0">
            <a:spAutoFit/>
          </a:bodyPr>
          <a:lstStyle/>
          <a:p>
            <a:r>
              <a:rPr lang="en-US"/>
              <a:t>Harus segaris lurus</a:t>
            </a:r>
            <a:endParaRPr lang="en-ID"/>
          </a:p>
        </p:txBody>
      </p:sp>
      <p:sp>
        <p:nvSpPr>
          <p:cNvPr id="28" name="TextBox 27">
            <a:extLst>
              <a:ext uri="{FF2B5EF4-FFF2-40B4-BE49-F238E27FC236}">
                <a16:creationId xmlns:a16="http://schemas.microsoft.com/office/drawing/2014/main" id="{E6426153-4388-C774-70F8-1AA09EFDED61}"/>
              </a:ext>
            </a:extLst>
          </p:cNvPr>
          <p:cNvSpPr txBox="1"/>
          <p:nvPr/>
        </p:nvSpPr>
        <p:spPr>
          <a:xfrm>
            <a:off x="5732615" y="648775"/>
            <a:ext cx="1790105" cy="369332"/>
          </a:xfrm>
          <a:prstGeom prst="rect">
            <a:avLst/>
          </a:prstGeom>
          <a:noFill/>
        </p:spPr>
        <p:txBody>
          <a:bodyPr wrap="none" rtlCol="0">
            <a:spAutoFit/>
          </a:bodyPr>
          <a:lstStyle/>
          <a:p>
            <a:r>
              <a:rPr lang="en-US"/>
              <a:t>Skala harus sama</a:t>
            </a:r>
            <a:endParaRPr lang="en-ID"/>
          </a:p>
        </p:txBody>
      </p:sp>
      <p:cxnSp>
        <p:nvCxnSpPr>
          <p:cNvPr id="29" name="Straight Arrow Connector 28">
            <a:extLst>
              <a:ext uri="{FF2B5EF4-FFF2-40B4-BE49-F238E27FC236}">
                <a16:creationId xmlns:a16="http://schemas.microsoft.com/office/drawing/2014/main" id="{56FFA7B1-7D9F-1F32-AB65-BDE7D33D2D9C}"/>
              </a:ext>
            </a:extLst>
          </p:cNvPr>
          <p:cNvCxnSpPr>
            <a:cxnSpLocks/>
          </p:cNvCxnSpPr>
          <p:nvPr/>
        </p:nvCxnSpPr>
        <p:spPr>
          <a:xfrm flipH="1">
            <a:off x="2792737" y="934278"/>
            <a:ext cx="3478726" cy="1720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52AE91F-3EC2-04FF-8F78-0136659297F2}"/>
              </a:ext>
            </a:extLst>
          </p:cNvPr>
          <p:cNvCxnSpPr>
            <a:cxnSpLocks/>
          </p:cNvCxnSpPr>
          <p:nvPr/>
        </p:nvCxnSpPr>
        <p:spPr>
          <a:xfrm>
            <a:off x="6271463" y="904461"/>
            <a:ext cx="138923" cy="775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5B593434-0714-48D7-A5A2-4B354E4EA89A}"/>
              </a:ext>
            </a:extLst>
          </p:cNvPr>
          <p:cNvSpPr/>
          <p:nvPr/>
        </p:nvSpPr>
        <p:spPr>
          <a:xfrm>
            <a:off x="2278870" y="1694470"/>
            <a:ext cx="441961" cy="2222362"/>
          </a:xfrm>
          <a:prstGeom prst="roundRect">
            <a:avLst/>
          </a:prstGeom>
          <a:noFill/>
          <a:ln w="2857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2" name="Rectangle: Rounded Corners 31">
            <a:extLst>
              <a:ext uri="{FF2B5EF4-FFF2-40B4-BE49-F238E27FC236}">
                <a16:creationId xmlns:a16="http://schemas.microsoft.com/office/drawing/2014/main" id="{F1199F2F-0C8C-2DB5-A1D1-DDA59F671606}"/>
              </a:ext>
            </a:extLst>
          </p:cNvPr>
          <p:cNvSpPr/>
          <p:nvPr/>
        </p:nvSpPr>
        <p:spPr>
          <a:xfrm>
            <a:off x="6352743" y="1679912"/>
            <a:ext cx="441961" cy="2222362"/>
          </a:xfrm>
          <a:prstGeom prst="roundRect">
            <a:avLst/>
          </a:prstGeom>
          <a:noFill/>
          <a:ln w="2857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5" name="TextBox 34">
            <a:extLst>
              <a:ext uri="{FF2B5EF4-FFF2-40B4-BE49-F238E27FC236}">
                <a16:creationId xmlns:a16="http://schemas.microsoft.com/office/drawing/2014/main" id="{8C109CD7-D3CE-7855-B8BA-6E0CBA252C4C}"/>
              </a:ext>
            </a:extLst>
          </p:cNvPr>
          <p:cNvSpPr txBox="1"/>
          <p:nvPr/>
        </p:nvSpPr>
        <p:spPr>
          <a:xfrm>
            <a:off x="7437804" y="5115378"/>
            <a:ext cx="1790105" cy="369332"/>
          </a:xfrm>
          <a:prstGeom prst="rect">
            <a:avLst/>
          </a:prstGeom>
          <a:noFill/>
        </p:spPr>
        <p:txBody>
          <a:bodyPr wrap="none" rtlCol="0">
            <a:spAutoFit/>
          </a:bodyPr>
          <a:lstStyle/>
          <a:p>
            <a:r>
              <a:rPr lang="en-US"/>
              <a:t>Skala harus sama</a:t>
            </a:r>
            <a:endParaRPr lang="en-ID"/>
          </a:p>
        </p:txBody>
      </p:sp>
      <p:cxnSp>
        <p:nvCxnSpPr>
          <p:cNvPr id="36" name="Straight Arrow Connector 35">
            <a:extLst>
              <a:ext uri="{FF2B5EF4-FFF2-40B4-BE49-F238E27FC236}">
                <a16:creationId xmlns:a16="http://schemas.microsoft.com/office/drawing/2014/main" id="{7788F48C-A64A-AAB4-40BA-37700F5948F2}"/>
              </a:ext>
            </a:extLst>
          </p:cNvPr>
          <p:cNvCxnSpPr>
            <a:cxnSpLocks/>
          </p:cNvCxnSpPr>
          <p:nvPr/>
        </p:nvCxnSpPr>
        <p:spPr>
          <a:xfrm flipH="1" flipV="1">
            <a:off x="5418619" y="3961956"/>
            <a:ext cx="2104333" cy="1392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CCF8B32-8D61-DC91-8E8F-8F8E7C2CB3FB}"/>
              </a:ext>
            </a:extLst>
          </p:cNvPr>
          <p:cNvCxnSpPr>
            <a:cxnSpLocks/>
          </p:cNvCxnSpPr>
          <p:nvPr/>
        </p:nvCxnSpPr>
        <p:spPr>
          <a:xfrm flipH="1">
            <a:off x="5727902" y="5354542"/>
            <a:ext cx="1795050" cy="5989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CD81B590-0848-5200-8362-CBB2C36A3CE6}"/>
              </a:ext>
            </a:extLst>
          </p:cNvPr>
          <p:cNvSpPr/>
          <p:nvPr/>
        </p:nvSpPr>
        <p:spPr>
          <a:xfrm>
            <a:off x="2292977" y="3708682"/>
            <a:ext cx="3616706" cy="232435"/>
          </a:xfrm>
          <a:prstGeom prst="roundRect">
            <a:avLst/>
          </a:prstGeom>
          <a:noFill/>
          <a:ln w="2857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9" name="Rectangle: Rounded Corners 38">
            <a:extLst>
              <a:ext uri="{FF2B5EF4-FFF2-40B4-BE49-F238E27FC236}">
                <a16:creationId xmlns:a16="http://schemas.microsoft.com/office/drawing/2014/main" id="{8278F494-62BD-522B-BF22-ED6F16CB6B05}"/>
              </a:ext>
            </a:extLst>
          </p:cNvPr>
          <p:cNvSpPr/>
          <p:nvPr/>
        </p:nvSpPr>
        <p:spPr>
          <a:xfrm>
            <a:off x="2287966" y="5993350"/>
            <a:ext cx="3616706" cy="232435"/>
          </a:xfrm>
          <a:prstGeom prst="roundRect">
            <a:avLst/>
          </a:prstGeom>
          <a:noFill/>
          <a:ln w="2857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898149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1913</TotalTime>
  <Words>925</Words>
  <Application>Microsoft Office PowerPoint</Application>
  <PresentationFormat>Widescreen</PresentationFormat>
  <Paragraphs>191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Membuat 3 Grafik Karakteristik Dasar Transistor BJT (BC107 dan 2N3055)</vt:lpstr>
      <vt:lpstr>Tujuan</vt:lpstr>
      <vt:lpstr>Persyaratan yang harus dipenuhi Mahasiswa</vt:lpstr>
      <vt:lpstr>Alat dan Bahan</vt:lpstr>
      <vt:lpstr>Langkah Kerja 1</vt:lpstr>
      <vt:lpstr>Datashet Transistor (Sederhana)</vt:lpstr>
      <vt:lpstr>Beta (atau hFE) BC107</vt:lpstr>
      <vt:lpstr>Beta (atau hFE) 2N3055</vt:lpstr>
      <vt:lpstr>Langkah Kerja 2</vt:lpstr>
      <vt:lpstr>Contoh Hasil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erilmozef@yahoo.com</cp:lastModifiedBy>
  <cp:revision>105</cp:revision>
  <dcterms:created xsi:type="dcterms:W3CDTF">2024-04-25T05:33:30Z</dcterms:created>
  <dcterms:modified xsi:type="dcterms:W3CDTF">2025-05-11T21:59:36Z</dcterms:modified>
</cp:coreProperties>
</file>