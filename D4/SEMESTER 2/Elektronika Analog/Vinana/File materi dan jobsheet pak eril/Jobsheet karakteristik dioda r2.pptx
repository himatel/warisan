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1" r:id="rId5"/>
    <p:sldId id="272" r:id="rId6"/>
    <p:sldId id="274" r:id="rId7"/>
    <p:sldId id="261" r:id="rId8"/>
    <p:sldId id="263" r:id="rId9"/>
    <p:sldId id="264" r:id="rId10"/>
    <p:sldId id="277" r:id="rId11"/>
    <p:sldId id="278" r:id="rId12"/>
    <p:sldId id="279" r:id="rId13"/>
    <p:sldId id="280" r:id="rId14"/>
    <p:sldId id="281"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43" autoAdjust="0"/>
    <p:restoredTop sz="94660"/>
  </p:normalViewPr>
  <p:slideViewPr>
    <p:cSldViewPr snapToGrid="0">
      <p:cViewPr>
        <p:scale>
          <a:sx n="90" d="100"/>
          <a:sy n="90" d="100"/>
        </p:scale>
        <p:origin x="259" y="-96"/>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1073-159C-4134-B7CE-F14339709E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872A93-EEF6-4279-A2FB-66754E41A9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7E5EC1-4C6A-4AFD-84AE-ABAE798C3050}"/>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5" name="Footer Placeholder 4">
            <a:extLst>
              <a:ext uri="{FF2B5EF4-FFF2-40B4-BE49-F238E27FC236}">
                <a16:creationId xmlns:a16="http://schemas.microsoft.com/office/drawing/2014/main" id="{12CD6845-A45E-4388-BC32-0C17C9D9D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F199A-2DD2-4FC2-990B-3FD3BF73FFF8}"/>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2946414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77C1-5410-46DA-A8E2-6B55B2511D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37760E-C992-444E-97AB-CC5F660FF1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DD237A-F81B-4211-A212-61FCC3C0047A}"/>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5" name="Footer Placeholder 4">
            <a:extLst>
              <a:ext uri="{FF2B5EF4-FFF2-40B4-BE49-F238E27FC236}">
                <a16:creationId xmlns:a16="http://schemas.microsoft.com/office/drawing/2014/main" id="{CD597A99-3BEE-4689-92C0-6D37E0B1C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84FAF1-DAD4-43CC-ACED-6F7EDD50084E}"/>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4243725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29F06-FAC6-4C77-BB87-DFA8F96C44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21D100-7BE5-4532-AC40-5342086B66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9A8600-F89D-4691-A48D-82D4A5648A34}"/>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5" name="Footer Placeholder 4">
            <a:extLst>
              <a:ext uri="{FF2B5EF4-FFF2-40B4-BE49-F238E27FC236}">
                <a16:creationId xmlns:a16="http://schemas.microsoft.com/office/drawing/2014/main" id="{C50F22C7-9278-4557-8FF8-F1C8CC1BA6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D71FFD-CE09-4B6C-A3FE-009C1F486BE2}"/>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1319348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5DD3F-778C-406D-B281-C282B675A0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39A89B-69F0-4F1D-A79A-777131B09A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A253CE-455E-4040-90B0-CF06C82645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67790E-634A-4226-A21F-CBBC08E9B7F0}"/>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6" name="Footer Placeholder 5">
            <a:extLst>
              <a:ext uri="{FF2B5EF4-FFF2-40B4-BE49-F238E27FC236}">
                <a16:creationId xmlns:a16="http://schemas.microsoft.com/office/drawing/2014/main" id="{F1F59EEF-9DB1-4795-91AE-BCB681C563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18214B-9410-4B37-B0AC-7A49C4091E68}"/>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78737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2295-2A42-42FD-9F8E-16C9A714F7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560924-9E55-4157-952A-7946269CCA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F63040-09FB-4D7D-BD3F-D62F538D36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002395-31D5-44B1-AEFB-B5341AD507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59CDC0-0EAC-4DA3-A5DA-2EF4867B3D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D4D866-E267-4D30-AB83-ED7B3B96153D}"/>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8" name="Footer Placeholder 7">
            <a:extLst>
              <a:ext uri="{FF2B5EF4-FFF2-40B4-BE49-F238E27FC236}">
                <a16:creationId xmlns:a16="http://schemas.microsoft.com/office/drawing/2014/main" id="{1C7BEF2B-87E6-4275-93E5-C7A7264A26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1C37AE-9A48-4446-A53A-4DDAF5E31E3B}"/>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357073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DE90E-99BF-4FAF-9AB0-5195097AE6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AF3512-67C3-4B41-B9C1-B582F416106F}"/>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4" name="Footer Placeholder 3">
            <a:extLst>
              <a:ext uri="{FF2B5EF4-FFF2-40B4-BE49-F238E27FC236}">
                <a16:creationId xmlns:a16="http://schemas.microsoft.com/office/drawing/2014/main" id="{17C33F36-C565-4A0E-9D4D-E63335C025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06A5E2-9BC2-4C44-A3D3-A6A29FD13F68}"/>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4229413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7248FC-72BF-4BB2-A0E7-1AE83114143C}"/>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3" name="Footer Placeholder 2">
            <a:extLst>
              <a:ext uri="{FF2B5EF4-FFF2-40B4-BE49-F238E27FC236}">
                <a16:creationId xmlns:a16="http://schemas.microsoft.com/office/drawing/2014/main" id="{2BDF7276-D47D-4A2A-9FB5-90C81C9E3F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4FEE5B-E5B1-4F46-8E3D-2D648CD10FC0}"/>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190342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BBA9F-21A5-497C-B510-EBF6B71CEB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C4F450-6EAE-4B31-A72C-A6C7DEE939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A484ED-9A02-4222-9EFA-4AF38F726F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3C414F-7568-4DB8-A7AC-D6C21D541B89}"/>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6" name="Footer Placeholder 5">
            <a:extLst>
              <a:ext uri="{FF2B5EF4-FFF2-40B4-BE49-F238E27FC236}">
                <a16:creationId xmlns:a16="http://schemas.microsoft.com/office/drawing/2014/main" id="{2D9D439B-C2AC-4C82-9E70-CF54EDEEC8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9BA51D-2ABA-49BB-94EE-B9EF0F37DBE1}"/>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1735449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6E8A6-A855-4E90-8C13-8CB099595C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4C4311-4676-47D3-96EA-CE29309FA3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BA38D5-7E85-4F6D-9675-E3052C43B5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DFED12-A91C-420A-A089-64F368292C7D}"/>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6" name="Footer Placeholder 5">
            <a:extLst>
              <a:ext uri="{FF2B5EF4-FFF2-40B4-BE49-F238E27FC236}">
                <a16:creationId xmlns:a16="http://schemas.microsoft.com/office/drawing/2014/main" id="{17E53D29-C374-4E4E-AAE6-A00384A164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0B8D33-8AC3-411C-8E95-997C38D76314}"/>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950180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3F8B-D7AE-41DE-AD3A-9C1DA7EE43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6E112F-9508-4899-BB0F-309C1B4E3E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751FB4-E9B8-4160-ADEE-3B53225E5B44}"/>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5" name="Footer Placeholder 4">
            <a:extLst>
              <a:ext uri="{FF2B5EF4-FFF2-40B4-BE49-F238E27FC236}">
                <a16:creationId xmlns:a16="http://schemas.microsoft.com/office/drawing/2014/main" id="{6B57D734-C034-4781-BA9C-D1EA5D97B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AB15A-15E9-4A5B-AB06-CABC7DE96430}"/>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649144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EBFA2A-DE2D-45BB-996A-7101329622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04DBD2-CF8D-4923-9A0C-B6BEC8D597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D9B23A-8D7B-48C5-A3E5-B17A68EF71DC}"/>
              </a:ext>
            </a:extLst>
          </p:cNvPr>
          <p:cNvSpPr>
            <a:spLocks noGrp="1"/>
          </p:cNvSpPr>
          <p:nvPr>
            <p:ph type="dt" sz="half" idx="10"/>
          </p:nvPr>
        </p:nvSpPr>
        <p:spPr/>
        <p:txBody>
          <a:bodyPr/>
          <a:lstStyle/>
          <a:p>
            <a:fld id="{828FF374-75DE-4D0F-B2CF-59EE01951FB8}" type="datetimeFigureOut">
              <a:rPr lang="en-US" smtClean="0"/>
              <a:t>2/25/2025</a:t>
            </a:fld>
            <a:endParaRPr lang="en-US"/>
          </a:p>
        </p:txBody>
      </p:sp>
      <p:sp>
        <p:nvSpPr>
          <p:cNvPr id="5" name="Footer Placeholder 4">
            <a:extLst>
              <a:ext uri="{FF2B5EF4-FFF2-40B4-BE49-F238E27FC236}">
                <a16:creationId xmlns:a16="http://schemas.microsoft.com/office/drawing/2014/main" id="{2479E18A-A4B8-4F4F-9F05-2AFCF8CEE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80954-D7E8-4900-A4EF-6C3857937E99}"/>
              </a:ext>
            </a:extLst>
          </p:cNvPr>
          <p:cNvSpPr>
            <a:spLocks noGrp="1"/>
          </p:cNvSpPr>
          <p:nvPr>
            <p:ph type="sldNum" sz="quarter" idx="12"/>
          </p:nvPr>
        </p:nvSpPr>
        <p:spPr/>
        <p:txBody>
          <a:bodyPr/>
          <a:lstStyle/>
          <a:p>
            <a:fld id="{977AB18D-66D9-4E6A-8CC5-9DEEEEEE91AD}" type="slidenum">
              <a:rPr lang="en-US" smtClean="0"/>
              <a:t>‹#›</a:t>
            </a:fld>
            <a:endParaRPr lang="en-US"/>
          </a:p>
        </p:txBody>
      </p:sp>
    </p:spTree>
    <p:extLst>
      <p:ext uri="{BB962C8B-B14F-4D97-AF65-F5344CB8AC3E}">
        <p14:creationId xmlns:p14="http://schemas.microsoft.com/office/powerpoint/2010/main" val="61775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DAAD03-E517-4BC7-B4EA-5C79EB19D4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0B9611-91C7-4170-BC2F-2132280A79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6EA8CF-F24C-4BE2-90DC-A8FF4C4ADE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8FF374-75DE-4D0F-B2CF-59EE01951FB8}" type="datetimeFigureOut">
              <a:rPr lang="en-US" smtClean="0"/>
              <a:t>2/25/2025</a:t>
            </a:fld>
            <a:endParaRPr lang="en-US"/>
          </a:p>
        </p:txBody>
      </p:sp>
      <p:sp>
        <p:nvSpPr>
          <p:cNvPr id="5" name="Footer Placeholder 4">
            <a:extLst>
              <a:ext uri="{FF2B5EF4-FFF2-40B4-BE49-F238E27FC236}">
                <a16:creationId xmlns:a16="http://schemas.microsoft.com/office/drawing/2014/main" id="{8CE748AA-97C6-47C3-A5B5-50FB6EA3E3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6B3E63-8901-420C-8206-5C537B6354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7AB18D-66D9-4E6A-8CC5-9DEEEEEE91AD}" type="slidenum">
              <a:rPr lang="en-US" smtClean="0"/>
              <a:t>‹#›</a:t>
            </a:fld>
            <a:endParaRPr lang="en-US"/>
          </a:p>
        </p:txBody>
      </p:sp>
    </p:spTree>
    <p:extLst>
      <p:ext uri="{BB962C8B-B14F-4D97-AF65-F5344CB8AC3E}">
        <p14:creationId xmlns:p14="http://schemas.microsoft.com/office/powerpoint/2010/main" val="80760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7C2D9-C5F2-4190-B83E-A36E7405A18E}"/>
              </a:ext>
            </a:extLst>
          </p:cNvPr>
          <p:cNvSpPr>
            <a:spLocks noGrp="1"/>
          </p:cNvSpPr>
          <p:nvPr>
            <p:ph type="ctrTitle"/>
          </p:nvPr>
        </p:nvSpPr>
        <p:spPr>
          <a:xfrm>
            <a:off x="1524000" y="768033"/>
            <a:ext cx="9144000" cy="2387600"/>
          </a:xfrm>
        </p:spPr>
        <p:txBody>
          <a:bodyPr>
            <a:normAutofit/>
          </a:bodyPr>
          <a:lstStyle/>
          <a:p>
            <a:r>
              <a:rPr lang="en-US" sz="4800" b="1"/>
              <a:t>Karakteristik Dioda</a:t>
            </a:r>
            <a:br>
              <a:rPr lang="en-US" sz="4800" b="1"/>
            </a:br>
            <a:r>
              <a:rPr lang="en-US" sz="4800" b="1"/>
              <a:t>(Silikon, Germanium dan Zener)</a:t>
            </a:r>
            <a:endParaRPr lang="en-US" sz="4800" b="1" dirty="0"/>
          </a:p>
        </p:txBody>
      </p:sp>
      <p:sp>
        <p:nvSpPr>
          <p:cNvPr id="5" name="Subtitle 4">
            <a:extLst>
              <a:ext uri="{FF2B5EF4-FFF2-40B4-BE49-F238E27FC236}">
                <a16:creationId xmlns:a16="http://schemas.microsoft.com/office/drawing/2014/main" id="{6DBF754D-B6AD-6403-CF83-811590AD3855}"/>
              </a:ext>
            </a:extLst>
          </p:cNvPr>
          <p:cNvSpPr>
            <a:spLocks noGrp="1"/>
          </p:cNvSpPr>
          <p:nvPr>
            <p:ph type="subTitle" idx="1"/>
          </p:nvPr>
        </p:nvSpPr>
        <p:spPr/>
        <p:txBody>
          <a:bodyPr/>
          <a:lstStyle/>
          <a:p>
            <a:endParaRPr lang="en-ID"/>
          </a:p>
        </p:txBody>
      </p:sp>
    </p:spTree>
    <p:extLst>
      <p:ext uri="{BB962C8B-B14F-4D97-AF65-F5344CB8AC3E}">
        <p14:creationId xmlns:p14="http://schemas.microsoft.com/office/powerpoint/2010/main" val="27086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90225B-6499-4EFD-8819-4A236B9C0BB1}"/>
              </a:ext>
            </a:extLst>
          </p:cNvPr>
          <p:cNvSpPr txBox="1"/>
          <p:nvPr/>
        </p:nvSpPr>
        <p:spPr>
          <a:xfrm>
            <a:off x="851647" y="1375969"/>
            <a:ext cx="10194823" cy="2185214"/>
          </a:xfrm>
          <a:prstGeom prst="rect">
            <a:avLst/>
          </a:prstGeom>
          <a:noFill/>
        </p:spPr>
        <p:txBody>
          <a:bodyPr wrap="square">
            <a:spAutoFit/>
          </a:bodyPr>
          <a:lstStyle/>
          <a:p>
            <a:r>
              <a:rPr lang="en-US" sz="2400" b="1" dirty="0">
                <a:effectLst/>
                <a:ea typeface="Times New Roman" panose="02020603050405020304" pitchFamily="18" charset="0"/>
              </a:rPr>
              <a:t>KARAKTERISTIK  DIODA</a:t>
            </a:r>
            <a:endParaRPr lang="en-US" sz="2400" dirty="0">
              <a:effectLst/>
              <a:ea typeface="Times New Roman" panose="02020603050405020304" pitchFamily="18" charset="0"/>
            </a:endParaRPr>
          </a:p>
          <a:p>
            <a:pPr algn="ctr"/>
            <a:r>
              <a:rPr lang="id-ID" sz="1600" dirty="0">
                <a:effectLst/>
                <a:ea typeface="Times New Roman" panose="02020603050405020304" pitchFamily="18" charset="0"/>
              </a:rPr>
              <a:t> </a:t>
            </a:r>
            <a:endParaRPr lang="en-US" sz="1600" dirty="0">
              <a:effectLst/>
              <a:ea typeface="Times New Roman" panose="02020603050405020304" pitchFamily="18" charset="0"/>
            </a:endParaRPr>
          </a:p>
          <a:p>
            <a:pPr marL="228600" indent="-228600" algn="just"/>
            <a:r>
              <a:rPr lang="id-ID" sz="1600" b="1" dirty="0">
                <a:effectLst/>
                <a:ea typeface="Times New Roman" panose="02020603050405020304" pitchFamily="18" charset="0"/>
              </a:rPr>
              <a:t>1.  Tujuan </a:t>
            </a:r>
            <a:endParaRPr lang="en-US" sz="1600" dirty="0">
              <a:effectLst/>
              <a:ea typeface="Times New Roman" panose="02020603050405020304" pitchFamily="18" charset="0"/>
            </a:endParaRPr>
          </a:p>
          <a:p>
            <a:pPr marL="571500" indent="-571500" algn="just"/>
            <a:r>
              <a:rPr lang="id-ID" sz="1600" dirty="0">
                <a:effectLst/>
                <a:ea typeface="Times New Roman" panose="02020603050405020304" pitchFamily="18" charset="0"/>
              </a:rPr>
              <a:t>     Setelah melakukan percobaan ini </a:t>
            </a:r>
            <a:r>
              <a:rPr lang="id-ID" sz="1600">
                <a:effectLst/>
                <a:ea typeface="Times New Roman" panose="02020603050405020304" pitchFamily="18" charset="0"/>
              </a:rPr>
              <a:t>mahasiswa mampu:</a:t>
            </a:r>
            <a:endParaRPr lang="en-US" sz="1600" dirty="0">
              <a:effectLst/>
              <a:ea typeface="Times New Roman" panose="02020603050405020304" pitchFamily="18" charset="0"/>
            </a:endParaRPr>
          </a:p>
          <a:p>
            <a:pPr marL="342900" lvl="0" indent="-342900" algn="just">
              <a:buFont typeface="Symbol" panose="05050102010706020507" pitchFamily="18" charset="2"/>
              <a:buChar char=""/>
            </a:pPr>
            <a:r>
              <a:rPr lang="en-US" sz="1600" dirty="0" err="1">
                <a:effectLst/>
                <a:ea typeface="Times New Roman" panose="02020603050405020304" pitchFamily="18" charset="0"/>
              </a:rPr>
              <a:t>menggambarkan</a:t>
            </a:r>
            <a:r>
              <a:rPr lang="en-US" sz="1600" dirty="0">
                <a:effectLst/>
                <a:ea typeface="Times New Roman" panose="02020603050405020304" pitchFamily="18" charset="0"/>
              </a:rPr>
              <a:t> </a:t>
            </a:r>
            <a:r>
              <a:rPr lang="en-US" sz="1600" err="1">
                <a:effectLst/>
                <a:ea typeface="Times New Roman" panose="02020603050405020304" pitchFamily="18" charset="0"/>
              </a:rPr>
              <a:t>kurva</a:t>
            </a:r>
            <a:r>
              <a:rPr lang="en-US" sz="1600">
                <a:effectLst/>
                <a:ea typeface="Times New Roman" panose="02020603050405020304" pitchFamily="18" charset="0"/>
              </a:rPr>
              <a:t> karakteristik</a:t>
            </a:r>
            <a:r>
              <a:rPr lang="en-US" sz="1600" dirty="0">
                <a:ea typeface="Times New Roman" panose="02020603050405020304" pitchFamily="18" charset="0"/>
              </a:rPr>
              <a:t> </a:t>
            </a:r>
            <a:r>
              <a:rPr lang="en-US" sz="1600">
                <a:effectLst/>
                <a:ea typeface="Times New Roman" panose="02020603050405020304" pitchFamily="18" charset="0"/>
              </a:rPr>
              <a:t>dioda </a:t>
            </a:r>
            <a:r>
              <a:rPr lang="en-US" sz="1600" dirty="0">
                <a:effectLst/>
                <a:ea typeface="Times New Roman" panose="02020603050405020304" pitchFamily="18" charset="0"/>
              </a:rPr>
              <a:t>Si</a:t>
            </a:r>
            <a:r>
              <a:rPr lang="id-ID" sz="1600" dirty="0">
                <a:effectLst/>
                <a:ea typeface="Times New Roman" panose="02020603050405020304" pitchFamily="18" charset="0"/>
              </a:rPr>
              <a:t> (</a:t>
            </a:r>
            <a:r>
              <a:rPr lang="id-ID" sz="1600">
                <a:effectLst/>
                <a:ea typeface="Times New Roman" panose="02020603050405020304" pitchFamily="18" charset="0"/>
              </a:rPr>
              <a:t>silikon)</a:t>
            </a:r>
            <a:r>
              <a:rPr lang="en-US" sz="1600">
                <a:ea typeface="Times New Roman" panose="02020603050405020304" pitchFamily="18" charset="0"/>
              </a:rPr>
              <a:t>, </a:t>
            </a:r>
            <a:r>
              <a:rPr lang="id-ID" sz="1600">
                <a:effectLst/>
                <a:ea typeface="Times New Roman" panose="02020603050405020304" pitchFamily="18" charset="0"/>
              </a:rPr>
              <a:t>Ge </a:t>
            </a:r>
            <a:r>
              <a:rPr lang="id-ID" sz="1600" dirty="0">
                <a:effectLst/>
                <a:ea typeface="Times New Roman" panose="02020603050405020304" pitchFamily="18" charset="0"/>
              </a:rPr>
              <a:t>(</a:t>
            </a:r>
            <a:r>
              <a:rPr lang="en-US" sz="1600">
                <a:effectLst/>
                <a:ea typeface="Times New Roman" panose="02020603050405020304" pitchFamily="18" charset="0"/>
              </a:rPr>
              <a:t>germanium) dan Zener dalam </a:t>
            </a:r>
            <a:r>
              <a:rPr lang="en-US" sz="1600" dirty="0" err="1">
                <a:effectLst/>
                <a:ea typeface="Times New Roman" panose="02020603050405020304" pitchFamily="18" charset="0"/>
              </a:rPr>
              <a:t>konfigurasi</a:t>
            </a:r>
            <a:r>
              <a:rPr lang="en-US" sz="1600" dirty="0">
                <a:effectLst/>
                <a:ea typeface="Times New Roman" panose="02020603050405020304" pitchFamily="18" charset="0"/>
              </a:rPr>
              <a:t> </a:t>
            </a:r>
            <a:r>
              <a:rPr lang="en-US" sz="1600" i="1" dirty="0">
                <a:effectLst/>
                <a:ea typeface="Times New Roman" panose="02020603050405020304" pitchFamily="18" charset="0"/>
              </a:rPr>
              <a:t>forward bias</a:t>
            </a:r>
            <a:r>
              <a:rPr lang="en-US" sz="1600" dirty="0">
                <a:effectLst/>
                <a:ea typeface="Times New Roman" panose="02020603050405020304" pitchFamily="18" charset="0"/>
              </a:rPr>
              <a:t> </a:t>
            </a:r>
            <a:r>
              <a:rPr lang="id-ID" sz="1600" dirty="0">
                <a:effectLst/>
                <a:ea typeface="Times New Roman" panose="02020603050405020304" pitchFamily="18" charset="0"/>
              </a:rPr>
              <a:t>(</a:t>
            </a:r>
            <a:r>
              <a:rPr lang="en-US" sz="1600" dirty="0">
                <a:effectLst/>
                <a:ea typeface="Times New Roman" panose="02020603050405020304" pitchFamily="18" charset="0"/>
              </a:rPr>
              <a:t>bias </a:t>
            </a:r>
            <a:r>
              <a:rPr lang="en-US" sz="1600" dirty="0" err="1">
                <a:effectLst/>
                <a:ea typeface="Times New Roman" panose="02020603050405020304" pitchFamily="18" charset="0"/>
              </a:rPr>
              <a:t>maju</a:t>
            </a:r>
            <a:r>
              <a:rPr lang="en-US" sz="1600" dirty="0">
                <a:effectLst/>
                <a:ea typeface="Times New Roman" panose="02020603050405020304" pitchFamily="18" charset="0"/>
              </a:rPr>
              <a:t>) dan </a:t>
            </a:r>
            <a:r>
              <a:rPr lang="en-US" sz="1600" i="1" dirty="0">
                <a:effectLst/>
                <a:ea typeface="Times New Roman" panose="02020603050405020304" pitchFamily="18" charset="0"/>
              </a:rPr>
              <a:t>reverse bias</a:t>
            </a:r>
            <a:r>
              <a:rPr lang="en-US" sz="1600" dirty="0">
                <a:effectLst/>
                <a:ea typeface="Times New Roman" panose="02020603050405020304" pitchFamily="18" charset="0"/>
              </a:rPr>
              <a:t> </a:t>
            </a:r>
            <a:r>
              <a:rPr lang="id-ID" sz="1600" dirty="0">
                <a:effectLst/>
                <a:ea typeface="Times New Roman" panose="02020603050405020304" pitchFamily="18" charset="0"/>
              </a:rPr>
              <a:t> (</a:t>
            </a:r>
            <a:r>
              <a:rPr lang="en-US" sz="1600" dirty="0">
                <a:effectLst/>
                <a:ea typeface="Times New Roman" panose="02020603050405020304" pitchFamily="18" charset="0"/>
              </a:rPr>
              <a:t>bias </a:t>
            </a:r>
            <a:r>
              <a:rPr lang="en-US" sz="1600" err="1">
                <a:effectLst/>
                <a:ea typeface="Times New Roman" panose="02020603050405020304" pitchFamily="18" charset="0"/>
              </a:rPr>
              <a:t>mundur</a:t>
            </a:r>
            <a:r>
              <a:rPr lang="en-US" sz="1600">
                <a:effectLst/>
                <a:ea typeface="Times New Roman" panose="02020603050405020304" pitchFamily="18" charset="0"/>
              </a:rPr>
              <a:t>).</a:t>
            </a:r>
            <a:endParaRPr lang="en-US" sz="1600" dirty="0">
              <a:effectLst/>
              <a:ea typeface="Times New Roman" panose="02020603050405020304" pitchFamily="18" charset="0"/>
            </a:endParaRPr>
          </a:p>
          <a:p>
            <a:pPr marL="342900" lvl="0" indent="-342900" algn="just">
              <a:buFont typeface="Symbol" panose="05050102010706020507" pitchFamily="18" charset="2"/>
              <a:buChar char=""/>
            </a:pPr>
            <a:r>
              <a:rPr lang="en-US" sz="1600" dirty="0" err="1">
                <a:effectLst/>
                <a:ea typeface="Times New Roman" panose="02020603050405020304" pitchFamily="18" charset="0"/>
              </a:rPr>
              <a:t>menentukan</a:t>
            </a:r>
            <a:r>
              <a:rPr lang="en-US" sz="1600" dirty="0">
                <a:effectLst/>
                <a:ea typeface="Times New Roman" panose="02020603050405020304" pitchFamily="18" charset="0"/>
              </a:rPr>
              <a:t> </a:t>
            </a:r>
            <a:r>
              <a:rPr lang="en-US" sz="1600" dirty="0" err="1">
                <a:effectLst/>
                <a:ea typeface="Times New Roman" panose="02020603050405020304" pitchFamily="18" charset="0"/>
              </a:rPr>
              <a:t>resistansi</a:t>
            </a:r>
            <a:r>
              <a:rPr lang="en-US" sz="1600" dirty="0">
                <a:effectLst/>
                <a:ea typeface="Times New Roman" panose="02020603050405020304" pitchFamily="18" charset="0"/>
              </a:rPr>
              <a:t> </a:t>
            </a:r>
            <a:r>
              <a:rPr lang="id-ID" sz="1600" dirty="0">
                <a:effectLst/>
                <a:ea typeface="Times New Roman" panose="02020603050405020304" pitchFamily="18" charset="0"/>
              </a:rPr>
              <a:t>dioda </a:t>
            </a:r>
            <a:r>
              <a:rPr lang="en-US" sz="1600" dirty="0" err="1">
                <a:effectLst/>
                <a:ea typeface="Times New Roman" panose="02020603050405020304" pitchFamily="18" charset="0"/>
              </a:rPr>
              <a:t>arah</a:t>
            </a:r>
            <a:r>
              <a:rPr lang="en-US" sz="1600" dirty="0">
                <a:effectLst/>
                <a:ea typeface="Times New Roman" panose="02020603050405020304" pitchFamily="18" charset="0"/>
              </a:rPr>
              <a:t> </a:t>
            </a:r>
            <a:r>
              <a:rPr lang="en-US" sz="1600" dirty="0" err="1">
                <a:effectLst/>
                <a:ea typeface="Times New Roman" panose="02020603050405020304" pitchFamily="18" charset="0"/>
              </a:rPr>
              <a:t>maju</a:t>
            </a:r>
            <a:r>
              <a:rPr lang="en-US" sz="1600" dirty="0">
                <a:effectLst/>
                <a:ea typeface="Times New Roman" panose="02020603050405020304" pitchFamily="18" charset="0"/>
              </a:rPr>
              <a:t> (R</a:t>
            </a:r>
            <a:r>
              <a:rPr lang="en-US" sz="1600" baseline="-25000" dirty="0">
                <a:effectLst/>
                <a:ea typeface="Times New Roman" panose="02020603050405020304" pitchFamily="18" charset="0"/>
              </a:rPr>
              <a:t>f</a:t>
            </a:r>
            <a:r>
              <a:rPr lang="en-US" sz="1600" dirty="0">
                <a:effectLst/>
                <a:ea typeface="Times New Roman" panose="02020603050405020304" pitchFamily="18" charset="0"/>
              </a:rPr>
              <a:t>) dan  </a:t>
            </a:r>
            <a:r>
              <a:rPr lang="en-US" sz="1600" dirty="0" err="1">
                <a:effectLst/>
                <a:ea typeface="Times New Roman" panose="02020603050405020304" pitchFamily="18" charset="0"/>
              </a:rPr>
              <a:t>resistansi</a:t>
            </a:r>
            <a:r>
              <a:rPr lang="en-US" sz="1600" dirty="0">
                <a:effectLst/>
                <a:ea typeface="Times New Roman" panose="02020603050405020304" pitchFamily="18" charset="0"/>
              </a:rPr>
              <a:t> </a:t>
            </a:r>
            <a:r>
              <a:rPr lang="id-ID" sz="1600" dirty="0">
                <a:effectLst/>
                <a:ea typeface="Times New Roman" panose="02020603050405020304" pitchFamily="18" charset="0"/>
              </a:rPr>
              <a:t>dioda </a:t>
            </a:r>
            <a:r>
              <a:rPr lang="en-US" sz="1600" dirty="0" err="1">
                <a:effectLst/>
                <a:ea typeface="Times New Roman" panose="02020603050405020304" pitchFamily="18" charset="0"/>
              </a:rPr>
              <a:t>arah</a:t>
            </a:r>
            <a:r>
              <a:rPr lang="en-US" sz="1600" dirty="0">
                <a:effectLst/>
                <a:ea typeface="Times New Roman" panose="02020603050405020304" pitchFamily="18" charset="0"/>
              </a:rPr>
              <a:t> </a:t>
            </a:r>
            <a:r>
              <a:rPr lang="en-US" sz="1600" dirty="0" err="1">
                <a:effectLst/>
                <a:ea typeface="Times New Roman" panose="02020603050405020304" pitchFamily="18" charset="0"/>
              </a:rPr>
              <a:t>mundur</a:t>
            </a:r>
            <a:r>
              <a:rPr lang="en-US" sz="1600" dirty="0">
                <a:effectLst/>
                <a:ea typeface="Times New Roman" panose="02020603050405020304" pitchFamily="18" charset="0"/>
              </a:rPr>
              <a:t> (</a:t>
            </a:r>
            <a:r>
              <a:rPr lang="en-US" sz="1600">
                <a:effectLst/>
                <a:ea typeface="Times New Roman" panose="02020603050405020304" pitchFamily="18" charset="0"/>
              </a:rPr>
              <a:t>Rr).</a:t>
            </a:r>
            <a:endParaRPr lang="en-US" sz="1600" dirty="0">
              <a:effectLst/>
              <a:ea typeface="Times New Roman" panose="02020603050405020304" pitchFamily="18" charset="0"/>
            </a:endParaRPr>
          </a:p>
          <a:p>
            <a:pPr marL="342900" lvl="0" indent="-342900" algn="just">
              <a:buFont typeface="Symbol" panose="05050102010706020507" pitchFamily="18" charset="2"/>
              <a:buChar char=""/>
            </a:pPr>
            <a:r>
              <a:rPr lang="en-US" sz="1600" dirty="0" err="1">
                <a:effectLst/>
                <a:ea typeface="Times New Roman" panose="02020603050405020304" pitchFamily="18" charset="0"/>
              </a:rPr>
              <a:t>membandingkan</a:t>
            </a:r>
            <a:r>
              <a:rPr lang="en-US" sz="1600" dirty="0">
                <a:effectLst/>
                <a:ea typeface="Times New Roman" panose="02020603050405020304" pitchFamily="18" charset="0"/>
              </a:rPr>
              <a:t> </a:t>
            </a:r>
            <a:r>
              <a:rPr lang="en-US" sz="1600" dirty="0" err="1">
                <a:effectLst/>
                <a:ea typeface="Times New Roman" panose="02020603050405020304" pitchFamily="18" charset="0"/>
              </a:rPr>
              <a:t>karakteristik</a:t>
            </a:r>
            <a:r>
              <a:rPr lang="en-US" sz="1600" dirty="0">
                <a:effectLst/>
                <a:ea typeface="Times New Roman" panose="02020603050405020304" pitchFamily="18" charset="0"/>
              </a:rPr>
              <a:t> </a:t>
            </a:r>
            <a:r>
              <a:rPr lang="en-US" sz="1600">
                <a:effectLst/>
                <a:ea typeface="Times New Roman" panose="02020603050405020304" pitchFamily="18" charset="0"/>
              </a:rPr>
              <a:t>diode </a:t>
            </a:r>
            <a:r>
              <a:rPr lang="id-ID" sz="1600">
                <a:effectLst/>
                <a:ea typeface="Times New Roman" panose="02020603050405020304" pitchFamily="18" charset="0"/>
              </a:rPr>
              <a:t>Si</a:t>
            </a:r>
            <a:r>
              <a:rPr lang="en-US" sz="1600">
                <a:ea typeface="Times New Roman" panose="02020603050405020304" pitchFamily="18" charset="0"/>
              </a:rPr>
              <a:t>, </a:t>
            </a:r>
            <a:r>
              <a:rPr lang="id-ID" sz="1600">
                <a:effectLst/>
                <a:ea typeface="Times New Roman" panose="02020603050405020304" pitchFamily="18" charset="0"/>
              </a:rPr>
              <a:t>Ge</a:t>
            </a:r>
            <a:r>
              <a:rPr lang="en-US" sz="1600">
                <a:ea typeface="Times New Roman" panose="02020603050405020304" pitchFamily="18" charset="0"/>
              </a:rPr>
              <a:t> dan Zener.</a:t>
            </a:r>
            <a:endParaRPr lang="en-US" sz="1600" dirty="0">
              <a:effectLst/>
              <a:ea typeface="Times New Roman" panose="02020603050405020304" pitchFamily="18" charset="0"/>
            </a:endParaRPr>
          </a:p>
        </p:txBody>
      </p:sp>
      <p:sp>
        <p:nvSpPr>
          <p:cNvPr id="4" name="TextBox 3">
            <a:extLst>
              <a:ext uri="{FF2B5EF4-FFF2-40B4-BE49-F238E27FC236}">
                <a16:creationId xmlns:a16="http://schemas.microsoft.com/office/drawing/2014/main" id="{34C328FE-91C1-43B2-B288-5CC0107DC1A6}"/>
              </a:ext>
            </a:extLst>
          </p:cNvPr>
          <p:cNvSpPr txBox="1"/>
          <p:nvPr/>
        </p:nvSpPr>
        <p:spPr>
          <a:xfrm>
            <a:off x="851647" y="4170146"/>
            <a:ext cx="10262233" cy="584775"/>
          </a:xfrm>
          <a:prstGeom prst="rect">
            <a:avLst/>
          </a:prstGeom>
          <a:noFill/>
        </p:spPr>
        <p:txBody>
          <a:bodyPr wrap="none" rtlCol="0">
            <a:spAutoFit/>
          </a:bodyPr>
          <a:lstStyle/>
          <a:p>
            <a:r>
              <a:rPr lang="en-US" sz="1600" dirty="0" err="1">
                <a:cs typeface="Times New Roman" panose="02020603050405020304" pitchFamily="18" charset="0"/>
              </a:rPr>
              <a:t>Referensi</a:t>
            </a:r>
            <a:r>
              <a:rPr lang="en-US" sz="1600" dirty="0">
                <a:cs typeface="Times New Roman" panose="02020603050405020304" pitchFamily="18" charset="0"/>
              </a:rPr>
              <a:t> : </a:t>
            </a:r>
          </a:p>
          <a:p>
            <a:pPr marL="292100"/>
            <a:r>
              <a:rPr lang="en-US" sz="1600" spc="5" dirty="0">
                <a:effectLst/>
                <a:ea typeface="Calibri" panose="020F0502020204030204" pitchFamily="34" charset="0"/>
                <a:cs typeface="Times New Roman" panose="02020603050405020304" pitchFamily="18" charset="0"/>
              </a:rPr>
              <a:t>1. </a:t>
            </a:r>
            <a:r>
              <a:rPr lang="en-US" sz="1600" dirty="0">
                <a:effectLst/>
                <a:ea typeface="SimSun" panose="02010600030101010101" pitchFamily="2" charset="-122"/>
                <a:cs typeface="Times New Roman" panose="02020603050405020304" pitchFamily="18" charset="0"/>
              </a:rPr>
              <a:t>   </a:t>
            </a:r>
            <a:r>
              <a:rPr lang="en-US" sz="1600" dirty="0">
                <a:effectLst/>
                <a:ea typeface="Calibri" panose="020F0502020204030204" pitchFamily="34" charset="0"/>
                <a:cs typeface="Times New Roman" panose="02020603050405020304" pitchFamily="18" charset="0"/>
              </a:rPr>
              <a:t>Robert </a:t>
            </a:r>
            <a:r>
              <a:rPr lang="en-US" sz="1600" dirty="0" err="1">
                <a:effectLst/>
                <a:ea typeface="Calibri" panose="020F0502020204030204" pitchFamily="34" charset="0"/>
                <a:cs typeface="Times New Roman" panose="02020603050405020304" pitchFamily="18" charset="0"/>
              </a:rPr>
              <a:t>Boylestad</a:t>
            </a:r>
            <a:r>
              <a:rPr lang="en-US" sz="1600" dirty="0">
                <a:effectLst/>
                <a:ea typeface="Calibri" panose="020F0502020204030204" pitchFamily="34" charset="0"/>
                <a:cs typeface="Times New Roman" panose="02020603050405020304" pitchFamily="18" charset="0"/>
              </a:rPr>
              <a:t>, Louis </a:t>
            </a:r>
            <a:r>
              <a:rPr lang="en-US" sz="1600" dirty="0" err="1">
                <a:effectLst/>
                <a:ea typeface="Calibri" panose="020F0502020204030204" pitchFamily="34" charset="0"/>
                <a:cs typeface="Times New Roman" panose="02020603050405020304" pitchFamily="18" charset="0"/>
              </a:rPr>
              <a:t>Nashelky</a:t>
            </a:r>
            <a:r>
              <a:rPr lang="en-US" sz="1600" dirty="0">
                <a:effectLst/>
                <a:ea typeface="Calibri" panose="020F0502020204030204" pitchFamily="34" charset="0"/>
                <a:cs typeface="Times New Roman" panose="02020603050405020304" pitchFamily="18" charset="0"/>
              </a:rPr>
              <a:t>., </a:t>
            </a:r>
            <a:r>
              <a:rPr lang="en-US" sz="1600" spc="-10" dirty="0">
                <a:effectLst/>
                <a:ea typeface="Calibri" panose="020F0502020204030204" pitchFamily="34" charset="0"/>
                <a:cs typeface="Times New Roman" panose="02020603050405020304" pitchFamily="18" charset="0"/>
              </a:rPr>
              <a:t>2</a:t>
            </a:r>
            <a:r>
              <a:rPr lang="en-US" sz="1600" spc="5" dirty="0">
                <a:effectLst/>
                <a:ea typeface="Calibri" panose="020F0502020204030204" pitchFamily="34" charset="0"/>
                <a:cs typeface="Times New Roman" panose="02020603050405020304" pitchFamily="18" charset="0"/>
              </a:rPr>
              <a:t>0</a:t>
            </a:r>
            <a:r>
              <a:rPr lang="en-US" sz="1600" spc="-10" dirty="0">
                <a:effectLst/>
                <a:ea typeface="Calibri" panose="020F0502020204030204" pitchFamily="34" charset="0"/>
                <a:cs typeface="Times New Roman" panose="02020603050405020304" pitchFamily="18" charset="0"/>
              </a:rPr>
              <a:t>11</a:t>
            </a:r>
            <a:r>
              <a:rPr lang="en-US" sz="1600" dirty="0">
                <a:effectLst/>
                <a:ea typeface="Calibri" panose="020F0502020204030204" pitchFamily="34" charset="0"/>
                <a:cs typeface="Times New Roman" panose="02020603050405020304" pitchFamily="18" charset="0"/>
              </a:rPr>
              <a:t>,</a:t>
            </a:r>
            <a:r>
              <a:rPr lang="en-US" sz="1600" spc="-10" dirty="0">
                <a:effectLst/>
                <a:ea typeface="Calibri" panose="020F0502020204030204" pitchFamily="34" charset="0"/>
                <a:cs typeface="Times New Roman" panose="02020603050405020304" pitchFamily="18" charset="0"/>
              </a:rPr>
              <a:t> </a:t>
            </a:r>
            <a:r>
              <a:rPr lang="en-US" sz="1600" spc="5" dirty="0">
                <a:effectLst/>
                <a:ea typeface="Calibri" panose="020F0502020204030204" pitchFamily="34" charset="0"/>
                <a:cs typeface="Times New Roman" panose="02020603050405020304" pitchFamily="18" charset="0"/>
              </a:rPr>
              <a:t>ELECTRONIC DEVICES AND CIRCUIT THEORY</a:t>
            </a:r>
            <a:r>
              <a:rPr lang="en-US" sz="1600" dirty="0">
                <a:effectLst/>
                <a:ea typeface="Calibri" panose="020F0502020204030204" pitchFamily="34" charset="0"/>
                <a:cs typeface="Times New Roman" panose="02020603050405020304" pitchFamily="18" charset="0"/>
              </a:rPr>
              <a:t>, New Jersey Columbus</a:t>
            </a:r>
            <a:r>
              <a:rPr lang="en-US" sz="1600">
                <a:effectLst/>
                <a:ea typeface="Calibri" panose="020F0502020204030204" pitchFamily="34" charset="0"/>
                <a:cs typeface="Times New Roman" panose="02020603050405020304" pitchFamily="18" charset="0"/>
              </a:rPr>
              <a:t>, Ohio</a:t>
            </a:r>
            <a:endParaRPr lang="en-US" sz="1600" dirty="0">
              <a:effectLst/>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97292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B25F99-41A9-401A-917D-DB04BA40E0A4}"/>
              </a:ext>
            </a:extLst>
          </p:cNvPr>
          <p:cNvSpPr txBox="1"/>
          <p:nvPr/>
        </p:nvSpPr>
        <p:spPr>
          <a:xfrm>
            <a:off x="1278834" y="1110061"/>
            <a:ext cx="9634331" cy="1446550"/>
          </a:xfrm>
          <a:prstGeom prst="rect">
            <a:avLst/>
          </a:prstGeom>
          <a:noFill/>
        </p:spPr>
        <p:txBody>
          <a:bodyPr wrap="square">
            <a:spAutoFit/>
          </a:bodyPr>
          <a:lstStyle/>
          <a:p>
            <a:pPr marL="342900" indent="-342900" algn="just"/>
            <a:r>
              <a:rPr lang="id-ID" sz="2400" b="1" dirty="0">
                <a:effectLst/>
                <a:ea typeface="Times New Roman" panose="02020603050405020304" pitchFamily="18" charset="0"/>
              </a:rPr>
              <a:t>2. Petunjuk Keselamatan Kerja</a:t>
            </a:r>
            <a:endParaRPr lang="en-US" sz="2400" b="1" dirty="0">
              <a:ea typeface="Times New Roman" panose="02020603050405020304" pitchFamily="18" charset="0"/>
            </a:endParaRPr>
          </a:p>
          <a:p>
            <a:pPr marL="342900" indent="-342900" algn="just"/>
            <a:endParaRPr lang="en-US" sz="1600" b="1" dirty="0">
              <a:effectLst/>
              <a:ea typeface="Times New Roman" panose="02020603050405020304" pitchFamily="18" charset="0"/>
            </a:endParaRPr>
          </a:p>
          <a:p>
            <a:pPr marL="342900" indent="-342900" algn="just"/>
            <a:r>
              <a:rPr lang="en-US" sz="1600">
                <a:effectLst/>
                <a:ea typeface="Times New Roman" panose="02020603050405020304" pitchFamily="18" charset="0"/>
              </a:rPr>
              <a:t>- Periksa</a:t>
            </a:r>
            <a:r>
              <a:rPr lang="id-ID" sz="1600" dirty="0">
                <a:effectLst/>
                <a:ea typeface="Times New Roman" panose="02020603050405020304" pitchFamily="18" charset="0"/>
              </a:rPr>
              <a:t>lah </a:t>
            </a:r>
            <a:r>
              <a:rPr lang="en-US" sz="1600" dirty="0" err="1">
                <a:effectLst/>
                <a:ea typeface="Times New Roman" panose="02020603050405020304" pitchFamily="18" charset="0"/>
              </a:rPr>
              <a:t>kutub</a:t>
            </a:r>
            <a:r>
              <a:rPr lang="en-US" sz="1600" dirty="0">
                <a:effectLst/>
                <a:ea typeface="Times New Roman" panose="02020603050405020304" pitchFamily="18" charset="0"/>
              </a:rPr>
              <a:t> </a:t>
            </a:r>
            <a:r>
              <a:rPr lang="en-US" sz="1600" dirty="0" err="1">
                <a:effectLst/>
                <a:ea typeface="Times New Roman" panose="02020603050405020304" pitchFamily="18" charset="0"/>
              </a:rPr>
              <a:t>anoda</a:t>
            </a:r>
            <a:r>
              <a:rPr lang="en-US" sz="1600" dirty="0">
                <a:effectLst/>
                <a:ea typeface="Times New Roman" panose="02020603050405020304" pitchFamily="18" charset="0"/>
              </a:rPr>
              <a:t> dan </a:t>
            </a:r>
            <a:r>
              <a:rPr lang="en-US" sz="1600" dirty="0" err="1">
                <a:effectLst/>
                <a:ea typeface="Times New Roman" panose="02020603050405020304" pitchFamily="18" charset="0"/>
              </a:rPr>
              <a:t>katoda</a:t>
            </a:r>
            <a:r>
              <a:rPr lang="en-US" sz="1600" dirty="0">
                <a:effectLst/>
                <a:ea typeface="Times New Roman" panose="02020603050405020304" pitchFamily="18" charset="0"/>
              </a:rPr>
              <a:t> diode </a:t>
            </a:r>
            <a:r>
              <a:rPr lang="en-US" sz="1600" err="1">
                <a:effectLst/>
                <a:ea typeface="Times New Roman" panose="02020603050405020304" pitchFamily="18" charset="0"/>
              </a:rPr>
              <a:t>dengan</a:t>
            </a:r>
            <a:r>
              <a:rPr lang="en-US" sz="1600">
                <a:effectLst/>
                <a:ea typeface="Times New Roman" panose="02020603050405020304" pitchFamily="18" charset="0"/>
              </a:rPr>
              <a:t> ohmmeter</a:t>
            </a:r>
            <a:r>
              <a:rPr lang="en-US" sz="1600">
                <a:ea typeface="Times New Roman" panose="02020603050405020304" pitchFamily="18" charset="0"/>
              </a:rPr>
              <a:t>.</a:t>
            </a:r>
            <a:endParaRPr lang="en-US" sz="1600">
              <a:effectLst/>
              <a:ea typeface="Times New Roman" panose="02020603050405020304" pitchFamily="18" charset="0"/>
            </a:endParaRPr>
          </a:p>
          <a:p>
            <a:r>
              <a:rPr lang="en-US" sz="1600">
                <a:effectLst/>
                <a:ea typeface="Times New Roman" panose="02020603050405020304" pitchFamily="18" charset="0"/>
              </a:rPr>
              <a:t>- </a:t>
            </a:r>
            <a:r>
              <a:rPr lang="id-ID" sz="1600">
                <a:effectLst/>
                <a:ea typeface="Times New Roman" panose="02020603050405020304" pitchFamily="18" charset="0"/>
              </a:rPr>
              <a:t>Periksa sumber tegangan yang diberikan </a:t>
            </a:r>
            <a:r>
              <a:rPr lang="en-US" sz="1600">
                <a:effectLst/>
                <a:ea typeface="Times New Roman" panose="02020603050405020304" pitchFamily="18" charset="0"/>
              </a:rPr>
              <a:t>agar </a:t>
            </a:r>
            <a:r>
              <a:rPr lang="id-ID" sz="1600">
                <a:effectLst/>
                <a:ea typeface="Times New Roman" panose="02020603050405020304" pitchFamily="18" charset="0"/>
              </a:rPr>
              <a:t>tidak </a:t>
            </a:r>
            <a:r>
              <a:rPr lang="en-US" sz="1600">
                <a:effectLst/>
                <a:ea typeface="Times New Roman" panose="02020603050405020304" pitchFamily="18" charset="0"/>
              </a:rPr>
              <a:t>terbalik polaritasnya </a:t>
            </a:r>
            <a:r>
              <a:rPr lang="en-US" sz="1600" dirty="0" err="1">
                <a:effectLst/>
                <a:ea typeface="Times New Roman" panose="02020603050405020304" pitchFamily="18" charset="0"/>
              </a:rPr>
              <a:t>untuk</a:t>
            </a:r>
            <a:r>
              <a:rPr lang="en-US" sz="1600" dirty="0">
                <a:effectLst/>
                <a:ea typeface="Times New Roman" panose="02020603050405020304" pitchFamily="18" charset="0"/>
              </a:rPr>
              <a:t> </a:t>
            </a:r>
            <a:r>
              <a:rPr lang="en-US" sz="1600" dirty="0" err="1">
                <a:effectLst/>
                <a:ea typeface="Times New Roman" panose="02020603050405020304" pitchFamily="18" charset="0"/>
              </a:rPr>
              <a:t>keperluan</a:t>
            </a:r>
            <a:r>
              <a:rPr lang="en-US" sz="1600" dirty="0">
                <a:effectLst/>
                <a:ea typeface="Times New Roman" panose="02020603050405020304" pitchFamily="18" charset="0"/>
              </a:rPr>
              <a:t> bias </a:t>
            </a:r>
            <a:r>
              <a:rPr lang="en-US" sz="1600" dirty="0" err="1">
                <a:effectLst/>
                <a:ea typeface="Times New Roman" panose="02020603050405020304" pitchFamily="18" charset="0"/>
              </a:rPr>
              <a:t>maju</a:t>
            </a:r>
            <a:r>
              <a:rPr lang="en-US" sz="1600" dirty="0">
                <a:effectLst/>
                <a:ea typeface="Times New Roman" panose="02020603050405020304" pitchFamily="18" charset="0"/>
              </a:rPr>
              <a:t> dan </a:t>
            </a:r>
            <a:r>
              <a:rPr lang="en-US" sz="1600">
                <a:effectLst/>
                <a:ea typeface="Times New Roman" panose="02020603050405020304" pitchFamily="18" charset="0"/>
              </a:rPr>
              <a:t>bias mundur.</a:t>
            </a:r>
            <a:endParaRPr lang="en-US" sz="1600" dirty="0"/>
          </a:p>
        </p:txBody>
      </p:sp>
    </p:spTree>
    <p:extLst>
      <p:ext uri="{BB962C8B-B14F-4D97-AF65-F5344CB8AC3E}">
        <p14:creationId xmlns:p14="http://schemas.microsoft.com/office/powerpoint/2010/main" val="3620224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9FA2B1-CC96-41B7-9692-70306D84F7F7}"/>
              </a:ext>
            </a:extLst>
          </p:cNvPr>
          <p:cNvSpPr txBox="1"/>
          <p:nvPr/>
        </p:nvSpPr>
        <p:spPr>
          <a:xfrm>
            <a:off x="901065" y="752594"/>
            <a:ext cx="3419475" cy="461665"/>
          </a:xfrm>
          <a:prstGeom prst="rect">
            <a:avLst/>
          </a:prstGeom>
          <a:noFill/>
        </p:spPr>
        <p:txBody>
          <a:bodyPr wrap="square">
            <a:spAutoFit/>
          </a:bodyPr>
          <a:lstStyle/>
          <a:p>
            <a:r>
              <a:rPr lang="en-US" sz="2400" b="1" dirty="0"/>
              <a:t>3. </a:t>
            </a:r>
            <a:r>
              <a:rPr lang="en-US" sz="2400" b="1" dirty="0" err="1"/>
              <a:t>Landasan</a:t>
            </a:r>
            <a:r>
              <a:rPr lang="en-US" sz="2400" b="1" dirty="0"/>
              <a:t> </a:t>
            </a:r>
            <a:r>
              <a:rPr lang="en-US" sz="2400" b="1" dirty="0" err="1"/>
              <a:t>Teori</a:t>
            </a:r>
            <a:endParaRPr lang="en-US" sz="2400" b="1" dirty="0"/>
          </a:p>
        </p:txBody>
      </p:sp>
      <p:sp>
        <p:nvSpPr>
          <p:cNvPr id="10" name="TextBox 9">
            <a:extLst>
              <a:ext uri="{FF2B5EF4-FFF2-40B4-BE49-F238E27FC236}">
                <a16:creationId xmlns:a16="http://schemas.microsoft.com/office/drawing/2014/main" id="{7D014448-DBC2-4A60-9032-B097A224DF1C}"/>
              </a:ext>
            </a:extLst>
          </p:cNvPr>
          <p:cNvSpPr txBox="1"/>
          <p:nvPr/>
        </p:nvSpPr>
        <p:spPr>
          <a:xfrm>
            <a:off x="764381" y="1331248"/>
            <a:ext cx="10663237" cy="5016758"/>
          </a:xfrm>
          <a:prstGeom prst="rect">
            <a:avLst/>
          </a:prstGeom>
          <a:noFill/>
        </p:spPr>
        <p:txBody>
          <a:bodyPr wrap="square">
            <a:spAutoFit/>
          </a:bodyPr>
          <a:lstStyle/>
          <a:p>
            <a:r>
              <a:rPr lang="en-US" sz="1600" dirty="0" err="1">
                <a:effectLst/>
              </a:rPr>
              <a:t>Karakteristik</a:t>
            </a:r>
            <a:r>
              <a:rPr lang="en-US" sz="1600" dirty="0">
                <a:effectLst/>
              </a:rPr>
              <a:t> </a:t>
            </a:r>
            <a:r>
              <a:rPr lang="en-US" sz="1600" dirty="0" err="1">
                <a:effectLst/>
              </a:rPr>
              <a:t>dasar</a:t>
            </a:r>
            <a:r>
              <a:rPr lang="en-US" sz="1600" dirty="0">
                <a:effectLst/>
              </a:rPr>
              <a:t> </a:t>
            </a:r>
            <a:r>
              <a:rPr lang="en-US" sz="1600" dirty="0" err="1">
                <a:effectLst/>
              </a:rPr>
              <a:t>dioda</a:t>
            </a:r>
            <a:r>
              <a:rPr lang="en-US" sz="1600" dirty="0">
                <a:effectLst/>
              </a:rPr>
              <a:t> </a:t>
            </a:r>
            <a:r>
              <a:rPr lang="en-US" sz="1600" dirty="0" err="1">
                <a:effectLst/>
              </a:rPr>
              <a:t>dikenal</a:t>
            </a:r>
            <a:r>
              <a:rPr lang="en-US" sz="1600" dirty="0">
                <a:effectLst/>
              </a:rPr>
              <a:t> </a:t>
            </a:r>
            <a:r>
              <a:rPr lang="en-US" sz="1600" dirty="0" err="1">
                <a:effectLst/>
              </a:rPr>
              <a:t>dengan</a:t>
            </a:r>
            <a:r>
              <a:rPr lang="en-US" sz="1600" dirty="0">
                <a:effectLst/>
              </a:rPr>
              <a:t> </a:t>
            </a:r>
            <a:r>
              <a:rPr lang="en-US" sz="1600" dirty="0" err="1">
                <a:effectLst/>
              </a:rPr>
              <a:t>karakteristik</a:t>
            </a:r>
            <a:r>
              <a:rPr lang="en-US" sz="1600" dirty="0">
                <a:effectLst/>
              </a:rPr>
              <a:t> V-I. </a:t>
            </a:r>
            <a:r>
              <a:rPr lang="en-US" sz="1600" dirty="0" err="1">
                <a:effectLst/>
              </a:rPr>
              <a:t>Karakterisik</a:t>
            </a:r>
            <a:r>
              <a:rPr lang="en-US" sz="1600" dirty="0">
                <a:effectLst/>
              </a:rPr>
              <a:t> </a:t>
            </a:r>
            <a:r>
              <a:rPr lang="en-US" sz="1600" dirty="0" err="1">
                <a:effectLst/>
              </a:rPr>
              <a:t>ini</a:t>
            </a:r>
            <a:r>
              <a:rPr lang="en-US" sz="1600" dirty="0">
                <a:effectLst/>
              </a:rPr>
              <a:t> </a:t>
            </a:r>
            <a:r>
              <a:rPr lang="en-US" sz="1600" err="1">
                <a:effectLst/>
              </a:rPr>
              <a:t>penting</a:t>
            </a:r>
            <a:r>
              <a:rPr lang="en-US" sz="1600">
                <a:effectLst/>
              </a:rPr>
              <a:t> untuk dipahami </a:t>
            </a:r>
            <a:r>
              <a:rPr lang="en-US" sz="1600" dirty="0">
                <a:effectLst/>
              </a:rPr>
              <a:t>agar </a:t>
            </a:r>
            <a:r>
              <a:rPr lang="en-US" sz="1600" dirty="0" err="1">
                <a:effectLst/>
              </a:rPr>
              <a:t>tidak</a:t>
            </a:r>
            <a:r>
              <a:rPr lang="en-US" sz="1600" dirty="0">
                <a:effectLst/>
              </a:rPr>
              <a:t> </a:t>
            </a:r>
            <a:r>
              <a:rPr lang="en-US" sz="1600" dirty="0" err="1">
                <a:effectLst/>
              </a:rPr>
              <a:t>terjadi</a:t>
            </a:r>
            <a:r>
              <a:rPr lang="en-US" sz="1600" dirty="0">
                <a:effectLst/>
              </a:rPr>
              <a:t> </a:t>
            </a:r>
            <a:r>
              <a:rPr lang="en-US" sz="1600" dirty="0" err="1">
                <a:effectLst/>
              </a:rPr>
              <a:t>kesalahan</a:t>
            </a:r>
            <a:r>
              <a:rPr lang="en-US" sz="1600" dirty="0">
                <a:effectLst/>
              </a:rPr>
              <a:t> </a:t>
            </a:r>
            <a:r>
              <a:rPr lang="en-US" sz="1600" dirty="0" err="1">
                <a:effectLst/>
              </a:rPr>
              <a:t>dalam</a:t>
            </a:r>
            <a:r>
              <a:rPr lang="en-US" sz="1600" dirty="0">
                <a:effectLst/>
              </a:rPr>
              <a:t> </a:t>
            </a:r>
            <a:r>
              <a:rPr lang="en-US" sz="1600" dirty="0" err="1">
                <a:effectLst/>
              </a:rPr>
              <a:t>aplikasi</a:t>
            </a:r>
            <a:r>
              <a:rPr lang="en-US" sz="1600" dirty="0">
                <a:effectLst/>
              </a:rPr>
              <a:t> </a:t>
            </a:r>
            <a:r>
              <a:rPr lang="en-US" sz="1600" dirty="0" err="1">
                <a:effectLst/>
              </a:rPr>
              <a:t>dioda</a:t>
            </a:r>
            <a:r>
              <a:rPr lang="en-US" sz="1600" dirty="0">
                <a:effectLst/>
              </a:rPr>
              <a:t>. </a:t>
            </a:r>
            <a:r>
              <a:rPr lang="en-US" sz="1600" dirty="0" err="1">
                <a:effectLst/>
              </a:rPr>
              <a:t>Dalam</a:t>
            </a:r>
            <a:r>
              <a:rPr lang="en-US" sz="1600" dirty="0">
                <a:effectLst/>
              </a:rPr>
              <a:t> </a:t>
            </a:r>
            <a:r>
              <a:rPr lang="en-US" sz="1600" dirty="0" err="1">
                <a:effectLst/>
              </a:rPr>
              <a:t>karakteristik</a:t>
            </a:r>
            <a:r>
              <a:rPr lang="en-US" sz="1600" dirty="0">
                <a:effectLst/>
              </a:rPr>
              <a:t> </a:t>
            </a:r>
            <a:r>
              <a:rPr lang="en-US" sz="1600" err="1">
                <a:effectLst/>
              </a:rPr>
              <a:t>ini</a:t>
            </a:r>
            <a:r>
              <a:rPr lang="en-US" sz="1600">
                <a:effectLst/>
              </a:rPr>
              <a:t> dapat diketahui </a:t>
            </a:r>
            <a:r>
              <a:rPr lang="en-US" sz="1600" dirty="0" err="1">
                <a:effectLst/>
              </a:rPr>
              <a:t>keadaan-keadaan</a:t>
            </a:r>
            <a:r>
              <a:rPr lang="en-US" sz="1600" dirty="0">
                <a:effectLst/>
              </a:rPr>
              <a:t> yang </a:t>
            </a:r>
            <a:r>
              <a:rPr lang="en-US" sz="1600" dirty="0" err="1">
                <a:effectLst/>
              </a:rPr>
              <a:t>terjadi</a:t>
            </a:r>
            <a:r>
              <a:rPr lang="en-US" sz="1600" dirty="0">
                <a:effectLst/>
              </a:rPr>
              <a:t> pada </a:t>
            </a:r>
            <a:r>
              <a:rPr lang="en-US" sz="1600" dirty="0" err="1">
                <a:effectLst/>
              </a:rPr>
              <a:t>dioda</a:t>
            </a:r>
            <a:r>
              <a:rPr lang="en-US" sz="1600" dirty="0">
                <a:effectLst/>
              </a:rPr>
              <a:t> </a:t>
            </a:r>
            <a:r>
              <a:rPr lang="en-US" sz="1600" dirty="0" err="1">
                <a:effectLst/>
              </a:rPr>
              <a:t>ketika</a:t>
            </a:r>
            <a:r>
              <a:rPr lang="en-US" sz="1600" dirty="0">
                <a:effectLst/>
              </a:rPr>
              <a:t> </a:t>
            </a:r>
            <a:r>
              <a:rPr lang="en-US" sz="1600" dirty="0" err="1">
                <a:effectLst/>
              </a:rPr>
              <a:t>mendapat</a:t>
            </a:r>
            <a:r>
              <a:rPr lang="en-US" sz="1600" dirty="0">
                <a:effectLst/>
              </a:rPr>
              <a:t> </a:t>
            </a:r>
            <a:r>
              <a:rPr lang="en-US" sz="1600" dirty="0" err="1">
                <a:effectLst/>
              </a:rPr>
              <a:t>tegangan</a:t>
            </a:r>
            <a:r>
              <a:rPr lang="en-US" sz="1600" dirty="0">
                <a:effectLst/>
              </a:rPr>
              <a:t> bias </a:t>
            </a:r>
            <a:r>
              <a:rPr lang="en-US" sz="1600" err="1">
                <a:effectLst/>
              </a:rPr>
              <a:t>maju</a:t>
            </a:r>
            <a:r>
              <a:rPr lang="en-US" sz="1600">
                <a:effectLst/>
              </a:rPr>
              <a:t> dan tegangan </a:t>
            </a:r>
            <a:r>
              <a:rPr lang="en-US" sz="1600" dirty="0">
                <a:effectLst/>
              </a:rPr>
              <a:t>bias </a:t>
            </a:r>
            <a:r>
              <a:rPr lang="en-US" sz="1600" dirty="0" err="1">
                <a:effectLst/>
              </a:rPr>
              <a:t>mundur</a:t>
            </a:r>
            <a:r>
              <a:rPr lang="en-US" sz="1600" dirty="0">
                <a:effectLst/>
              </a:rPr>
              <a:t>.</a:t>
            </a:r>
          </a:p>
          <a:p>
            <a:br>
              <a:rPr lang="en-US" sz="1600" dirty="0"/>
            </a:br>
            <a:r>
              <a:rPr lang="en-US" sz="1600" dirty="0" err="1">
                <a:effectLst/>
              </a:rPr>
              <a:t>Terdapat</a:t>
            </a:r>
            <a:r>
              <a:rPr lang="en-US" sz="1600" dirty="0">
                <a:effectLst/>
              </a:rPr>
              <a:t> </a:t>
            </a:r>
            <a:r>
              <a:rPr lang="en-US" sz="1600" dirty="0" err="1">
                <a:effectLst/>
              </a:rPr>
              <a:t>dua</a:t>
            </a:r>
            <a:r>
              <a:rPr lang="en-US" sz="1600" dirty="0">
                <a:effectLst/>
              </a:rPr>
              <a:t> </a:t>
            </a:r>
            <a:r>
              <a:rPr lang="en-US" sz="1600" dirty="0" err="1">
                <a:effectLst/>
              </a:rPr>
              <a:t>daerah</a:t>
            </a:r>
            <a:r>
              <a:rPr lang="en-US" sz="1600" dirty="0">
                <a:effectLst/>
              </a:rPr>
              <a:t> </a:t>
            </a:r>
            <a:r>
              <a:rPr lang="en-US" sz="1600" dirty="0" err="1">
                <a:effectLst/>
              </a:rPr>
              <a:t>operasi</a:t>
            </a:r>
            <a:r>
              <a:rPr lang="en-US" sz="1600" dirty="0">
                <a:effectLst/>
              </a:rPr>
              <a:t> </a:t>
            </a:r>
            <a:r>
              <a:rPr lang="en-US" sz="1600" dirty="0" err="1">
                <a:effectLst/>
              </a:rPr>
              <a:t>dioda</a:t>
            </a:r>
            <a:r>
              <a:rPr lang="en-US" sz="1600" dirty="0">
                <a:effectLst/>
              </a:rPr>
              <a:t> </a:t>
            </a:r>
            <a:r>
              <a:rPr lang="en-US" sz="1600" dirty="0" err="1">
                <a:effectLst/>
              </a:rPr>
              <a:t>sambungan</a:t>
            </a:r>
            <a:r>
              <a:rPr lang="en-US" sz="1600" dirty="0">
                <a:effectLst/>
              </a:rPr>
              <a:t> P – N </a:t>
            </a:r>
            <a:r>
              <a:rPr lang="en-US" sz="1600">
                <a:effectLst/>
              </a:rPr>
              <a:t>dan tiga </a:t>
            </a:r>
            <a:r>
              <a:rPr lang="en-US" sz="1600" dirty="0" err="1">
                <a:effectLst/>
              </a:rPr>
              <a:t>kondisi</a:t>
            </a:r>
            <a:r>
              <a:rPr lang="en-US" sz="1600" dirty="0">
                <a:effectLst/>
              </a:rPr>
              <a:t> bias </a:t>
            </a:r>
            <a:r>
              <a:rPr lang="en-US" sz="1600">
                <a:effectLst/>
              </a:rPr>
              <a:t>yang dapat diberikan</a:t>
            </a:r>
            <a:r>
              <a:rPr lang="en-US" sz="1600" dirty="0">
                <a:effectLst/>
              </a:rPr>
              <a:t>:</a:t>
            </a:r>
          </a:p>
          <a:p>
            <a:r>
              <a:rPr lang="en-US" sz="1600">
                <a:effectLst/>
              </a:rPr>
              <a:t>1</a:t>
            </a:r>
            <a:r>
              <a:rPr lang="en-US" sz="1600" dirty="0">
                <a:effectLst/>
              </a:rPr>
              <a:t>. </a:t>
            </a:r>
            <a:r>
              <a:rPr lang="en-US" sz="1600" b="1" dirty="0">
                <a:effectLst/>
              </a:rPr>
              <a:t>Zero Bias </a:t>
            </a:r>
            <a:r>
              <a:rPr lang="en-US" sz="1600" dirty="0">
                <a:effectLst/>
              </a:rPr>
              <a:t>– </a:t>
            </a:r>
            <a:r>
              <a:rPr lang="en-US" sz="1600" dirty="0" err="1">
                <a:effectLst/>
              </a:rPr>
              <a:t>kondisi</a:t>
            </a:r>
            <a:r>
              <a:rPr lang="en-US" sz="1600" dirty="0">
                <a:effectLst/>
              </a:rPr>
              <a:t> di mana </a:t>
            </a:r>
            <a:r>
              <a:rPr lang="en-US" sz="1600" dirty="0" err="1">
                <a:effectLst/>
              </a:rPr>
              <a:t>tidak</a:t>
            </a:r>
            <a:r>
              <a:rPr lang="en-US" sz="1600" dirty="0">
                <a:effectLst/>
              </a:rPr>
              <a:t> </a:t>
            </a:r>
            <a:r>
              <a:rPr lang="en-US" sz="1600" dirty="0" err="1">
                <a:effectLst/>
              </a:rPr>
              <a:t>ada</a:t>
            </a:r>
            <a:r>
              <a:rPr lang="en-US" sz="1600" dirty="0">
                <a:effectLst/>
              </a:rPr>
              <a:t> </a:t>
            </a:r>
            <a:r>
              <a:rPr lang="en-US" sz="1600" dirty="0" err="1">
                <a:effectLst/>
              </a:rPr>
              <a:t>potensial</a:t>
            </a:r>
            <a:r>
              <a:rPr lang="en-US" sz="1600" dirty="0">
                <a:effectLst/>
              </a:rPr>
              <a:t> </a:t>
            </a:r>
            <a:r>
              <a:rPr lang="en-US" sz="1600" dirty="0" err="1">
                <a:effectLst/>
              </a:rPr>
              <a:t>eksternal</a:t>
            </a:r>
            <a:r>
              <a:rPr lang="en-US" sz="1600" dirty="0">
                <a:effectLst/>
              </a:rPr>
              <a:t> yang </a:t>
            </a:r>
            <a:r>
              <a:rPr lang="en-US" sz="1600" dirty="0" err="1">
                <a:effectLst/>
              </a:rPr>
              <a:t>diberikan</a:t>
            </a:r>
            <a:r>
              <a:rPr lang="en-US" sz="1600" dirty="0">
                <a:effectLst/>
              </a:rPr>
              <a:t> </a:t>
            </a:r>
            <a:r>
              <a:rPr lang="en-US" sz="1600" err="1">
                <a:effectLst/>
              </a:rPr>
              <a:t>kepada</a:t>
            </a:r>
            <a:r>
              <a:rPr lang="en-US" sz="1600">
                <a:effectLst/>
              </a:rPr>
              <a:t> kedua ujung diode menghasilkan keseimbangan </a:t>
            </a:r>
            <a:r>
              <a:rPr lang="en-US" sz="1600" dirty="0" err="1">
                <a:effectLst/>
              </a:rPr>
              <a:t>jumlah</a:t>
            </a:r>
            <a:r>
              <a:rPr lang="en-US" sz="1600" dirty="0">
                <a:effectLst/>
              </a:rPr>
              <a:t> </a:t>
            </a:r>
            <a:r>
              <a:rPr lang="en-US" sz="1600" dirty="0" err="1">
                <a:effectLst/>
              </a:rPr>
              <a:t>pembawa</a:t>
            </a:r>
            <a:r>
              <a:rPr lang="en-US" sz="1600" dirty="0">
                <a:effectLst/>
              </a:rPr>
              <a:t> </a:t>
            </a:r>
            <a:r>
              <a:rPr lang="en-US" sz="1600" dirty="0" err="1">
                <a:effectLst/>
              </a:rPr>
              <a:t>mayoritas</a:t>
            </a:r>
            <a:r>
              <a:rPr lang="en-US" sz="1600" dirty="0">
                <a:effectLst/>
              </a:rPr>
              <a:t>, </a:t>
            </a:r>
            <a:r>
              <a:rPr lang="en-US" sz="1600" dirty="0" err="1">
                <a:effectLst/>
              </a:rPr>
              <a:t>elektron</a:t>
            </a:r>
            <a:r>
              <a:rPr lang="en-US" sz="1600" dirty="0">
                <a:effectLst/>
              </a:rPr>
              <a:t> dan hole</a:t>
            </a:r>
            <a:r>
              <a:rPr lang="en-US" sz="1600">
                <a:effectLst/>
              </a:rPr>
              <a:t>, dan keduanya </a:t>
            </a:r>
            <a:r>
              <a:rPr lang="en-US" sz="1600" dirty="0" err="1">
                <a:effectLst/>
              </a:rPr>
              <a:t>bergerak</a:t>
            </a:r>
            <a:r>
              <a:rPr lang="en-US" sz="1600" dirty="0">
                <a:effectLst/>
              </a:rPr>
              <a:t> </a:t>
            </a:r>
            <a:r>
              <a:rPr lang="en-US" sz="1600" dirty="0" err="1">
                <a:effectLst/>
              </a:rPr>
              <a:t>dalam</a:t>
            </a:r>
            <a:r>
              <a:rPr lang="en-US" sz="1600" dirty="0">
                <a:effectLst/>
              </a:rPr>
              <a:t> </a:t>
            </a:r>
            <a:r>
              <a:rPr lang="en-US" sz="1600" dirty="0" err="1">
                <a:effectLst/>
              </a:rPr>
              <a:t>arah</a:t>
            </a:r>
            <a:r>
              <a:rPr lang="en-US" sz="1600" dirty="0">
                <a:effectLst/>
              </a:rPr>
              <a:t> yang </a:t>
            </a:r>
            <a:r>
              <a:rPr lang="en-US" sz="1600" dirty="0" err="1">
                <a:effectLst/>
              </a:rPr>
              <a:t>berlawanan</a:t>
            </a:r>
            <a:r>
              <a:rPr lang="en-US" sz="1600" dirty="0">
                <a:effectLst/>
              </a:rPr>
              <a:t>. </a:t>
            </a:r>
            <a:r>
              <a:rPr lang="en-US" sz="1600" dirty="0" err="1">
                <a:effectLst/>
              </a:rPr>
              <a:t>Kondisi</a:t>
            </a:r>
            <a:r>
              <a:rPr lang="en-US" sz="1600" dirty="0">
                <a:effectLst/>
              </a:rPr>
              <a:t> </a:t>
            </a:r>
            <a:r>
              <a:rPr lang="en-US" sz="1600" dirty="0" err="1">
                <a:effectLst/>
              </a:rPr>
              <a:t>keseimbangan</a:t>
            </a:r>
            <a:r>
              <a:rPr lang="en-US" sz="1600" dirty="0">
                <a:effectLst/>
              </a:rPr>
              <a:t> </a:t>
            </a:r>
            <a:r>
              <a:rPr lang="en-US" sz="1600" dirty="0" err="1">
                <a:effectLst/>
              </a:rPr>
              <a:t>ini</a:t>
            </a:r>
            <a:r>
              <a:rPr lang="en-US" sz="1600" dirty="0">
                <a:effectLst/>
              </a:rPr>
              <a:t> </a:t>
            </a:r>
            <a:r>
              <a:rPr lang="en-US" sz="1600" err="1">
                <a:effectLst/>
              </a:rPr>
              <a:t>dikenal</a:t>
            </a:r>
            <a:r>
              <a:rPr lang="en-US" sz="1600">
                <a:effectLst/>
              </a:rPr>
              <a:t> sebagai keseimbangan </a:t>
            </a:r>
            <a:r>
              <a:rPr lang="en-US" sz="1600" dirty="0" err="1">
                <a:effectLst/>
              </a:rPr>
              <a:t>dinamis</a:t>
            </a:r>
            <a:r>
              <a:rPr lang="en-US" sz="1600" dirty="0">
                <a:effectLst/>
              </a:rPr>
              <a:t> (dynamic – </a:t>
            </a:r>
            <a:r>
              <a:rPr lang="en-US" sz="1600">
                <a:effectLst/>
              </a:rPr>
              <a:t>equilibrium).</a:t>
            </a:r>
          </a:p>
          <a:p>
            <a:endParaRPr lang="en-US" sz="1600"/>
          </a:p>
          <a:p>
            <a:r>
              <a:rPr lang="en-US" sz="1600"/>
              <a:t>2</a:t>
            </a:r>
            <a:r>
              <a:rPr lang="en-US" sz="1600">
                <a:effectLst/>
              </a:rPr>
              <a:t>. </a:t>
            </a:r>
            <a:r>
              <a:rPr lang="en-US" sz="1600" b="1">
                <a:effectLst/>
              </a:rPr>
              <a:t>Forward Bias </a:t>
            </a:r>
            <a:r>
              <a:rPr lang="en-US" sz="1600">
                <a:effectLst/>
              </a:rPr>
              <a:t>– Kondisi di mana kutub positif sumber potensial eksternal dihubungkan ke sisi P dioda dan kutub negatif sumber potensial eksternal dihubungkan ke sisi N dioda. Kondisi ini menghasilkan suatu nilai resistansi persambungan P – N yang sangat rendah sehingga memungkinkan arus yang sangat besar mengalir walaupun hanya dengan potensial sumber yang relatif kecil. Perbedaan potensial aktual yang timbul pada kedua ujung persambungan dioda akan bernilai tetap akibat aksi dari lapisan deplesi yang bernilai sekitar 0,3 V untuk germanium dan 0,7 V untuk silikon</a:t>
            </a:r>
            <a:endParaRPr lang="en-US" sz="1600"/>
          </a:p>
          <a:p>
            <a:endParaRPr lang="en-US" sz="1600">
              <a:effectLst/>
            </a:endParaRPr>
          </a:p>
          <a:p>
            <a:r>
              <a:rPr lang="en-US" sz="1600"/>
              <a:t>3</a:t>
            </a:r>
            <a:r>
              <a:rPr lang="en-US" sz="1600">
                <a:effectLst/>
              </a:rPr>
              <a:t>. </a:t>
            </a:r>
            <a:r>
              <a:rPr lang="en-US" sz="1600" b="1">
                <a:effectLst/>
              </a:rPr>
              <a:t>Reverse Bias </a:t>
            </a:r>
            <a:r>
              <a:rPr lang="en-US" sz="1600">
                <a:effectLst/>
              </a:rPr>
              <a:t>– kondisi di mana kutub positif sumber potensial eksternal dihubungkan ke sisi N dioda dan kutub negatif sumber potensial eksternal dihubungkan ke sisi P dioda.  Kondisi ini menghasilkan suatu nilai resistansi yang tinggi antar persambungan dan praktis tidak menghasilkan aliran pembawa muatan mayoritas dengan meningkatnya potensial sumber. Namun, sejumlah arus kebocoran yang sangat kecil akan melewati persambungan yang dapat diukur dalam orde mikroampere (mA).</a:t>
            </a:r>
          </a:p>
        </p:txBody>
      </p:sp>
    </p:spTree>
    <p:extLst>
      <p:ext uri="{BB962C8B-B14F-4D97-AF65-F5344CB8AC3E}">
        <p14:creationId xmlns:p14="http://schemas.microsoft.com/office/powerpoint/2010/main" val="3668697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33E864-88A9-4B1D-BE0E-45F00FF75D03}"/>
              </a:ext>
            </a:extLst>
          </p:cNvPr>
          <p:cNvPicPr>
            <a:picLocks noChangeAspect="1"/>
          </p:cNvPicPr>
          <p:nvPr/>
        </p:nvPicPr>
        <p:blipFill>
          <a:blip r:embed="rId2"/>
          <a:stretch>
            <a:fillRect/>
          </a:stretch>
        </p:blipFill>
        <p:spPr>
          <a:xfrm>
            <a:off x="5729536" y="1880056"/>
            <a:ext cx="5849022" cy="2194776"/>
          </a:xfrm>
          <a:prstGeom prst="rect">
            <a:avLst/>
          </a:prstGeom>
        </p:spPr>
      </p:pic>
      <p:sp>
        <p:nvSpPr>
          <p:cNvPr id="4" name="TextBox 3">
            <a:extLst>
              <a:ext uri="{FF2B5EF4-FFF2-40B4-BE49-F238E27FC236}">
                <a16:creationId xmlns:a16="http://schemas.microsoft.com/office/drawing/2014/main" id="{DA673044-E4B7-4BAD-A433-5FEFF73A7202}"/>
              </a:ext>
            </a:extLst>
          </p:cNvPr>
          <p:cNvSpPr txBox="1"/>
          <p:nvPr/>
        </p:nvSpPr>
        <p:spPr>
          <a:xfrm>
            <a:off x="7009414" y="4070337"/>
            <a:ext cx="4264343" cy="338554"/>
          </a:xfrm>
          <a:prstGeom prst="rect">
            <a:avLst/>
          </a:prstGeom>
          <a:noFill/>
        </p:spPr>
        <p:txBody>
          <a:bodyPr wrap="square">
            <a:spAutoFit/>
          </a:bodyPr>
          <a:lstStyle/>
          <a:p>
            <a:r>
              <a:rPr lang="en-US" sz="1600">
                <a:effectLst/>
                <a:latin typeface="Arial" panose="020B0604020202020204" pitchFamily="34" charset="0"/>
              </a:rPr>
              <a:t>Gambar 2. </a:t>
            </a:r>
            <a:r>
              <a:rPr lang="en-US" sz="1600" dirty="0" err="1">
                <a:effectLst/>
                <a:latin typeface="Arial" panose="020B0604020202020204" pitchFamily="34" charset="0"/>
              </a:rPr>
              <a:t>Kondisi</a:t>
            </a:r>
            <a:r>
              <a:rPr lang="en-US" sz="1600" dirty="0">
                <a:effectLst/>
                <a:latin typeface="Arial" panose="020B0604020202020204" pitchFamily="34" charset="0"/>
              </a:rPr>
              <a:t> reverse bias </a:t>
            </a:r>
            <a:r>
              <a:rPr lang="en-US" sz="1600" dirty="0" err="1">
                <a:effectLst/>
                <a:latin typeface="Arial" panose="020B0604020202020204" pitchFamily="34" charset="0"/>
              </a:rPr>
              <a:t>dioda</a:t>
            </a:r>
            <a:endParaRPr lang="en-US" sz="1600" dirty="0"/>
          </a:p>
        </p:txBody>
      </p:sp>
      <p:pic>
        <p:nvPicPr>
          <p:cNvPr id="3" name="Picture 2">
            <a:extLst>
              <a:ext uri="{FF2B5EF4-FFF2-40B4-BE49-F238E27FC236}">
                <a16:creationId xmlns:a16="http://schemas.microsoft.com/office/drawing/2014/main" id="{C4EAC0ED-77A1-408E-8F35-2332DE9F682F}"/>
              </a:ext>
            </a:extLst>
          </p:cNvPr>
          <p:cNvPicPr>
            <a:picLocks noChangeAspect="1"/>
          </p:cNvPicPr>
          <p:nvPr/>
        </p:nvPicPr>
        <p:blipFill>
          <a:blip r:embed="rId3"/>
          <a:stretch>
            <a:fillRect/>
          </a:stretch>
        </p:blipFill>
        <p:spPr>
          <a:xfrm>
            <a:off x="452686" y="1880057"/>
            <a:ext cx="4913330" cy="2190280"/>
          </a:xfrm>
          <a:prstGeom prst="rect">
            <a:avLst/>
          </a:prstGeom>
        </p:spPr>
      </p:pic>
      <p:sp>
        <p:nvSpPr>
          <p:cNvPr id="5" name="TextBox 4">
            <a:extLst>
              <a:ext uri="{FF2B5EF4-FFF2-40B4-BE49-F238E27FC236}">
                <a16:creationId xmlns:a16="http://schemas.microsoft.com/office/drawing/2014/main" id="{A92AF835-2593-43C8-A435-8A0804F3C9A6}"/>
              </a:ext>
            </a:extLst>
          </p:cNvPr>
          <p:cNvSpPr txBox="1"/>
          <p:nvPr/>
        </p:nvSpPr>
        <p:spPr>
          <a:xfrm>
            <a:off x="1465192" y="4101713"/>
            <a:ext cx="4266695" cy="338554"/>
          </a:xfrm>
          <a:prstGeom prst="rect">
            <a:avLst/>
          </a:prstGeom>
          <a:noFill/>
        </p:spPr>
        <p:txBody>
          <a:bodyPr wrap="square">
            <a:spAutoFit/>
          </a:bodyPr>
          <a:lstStyle/>
          <a:p>
            <a:r>
              <a:rPr lang="en-US" sz="1600">
                <a:effectLst/>
                <a:latin typeface="Arial" panose="020B0604020202020204" pitchFamily="34" charset="0"/>
              </a:rPr>
              <a:t>Gambar 1. </a:t>
            </a:r>
            <a:r>
              <a:rPr lang="en-US" sz="1600" dirty="0" err="1">
                <a:effectLst/>
                <a:latin typeface="Arial" panose="020B0604020202020204" pitchFamily="34" charset="0"/>
              </a:rPr>
              <a:t>Kondisi</a:t>
            </a:r>
            <a:r>
              <a:rPr lang="en-US" sz="1600" dirty="0">
                <a:effectLst/>
                <a:latin typeface="Arial" panose="020B0604020202020204" pitchFamily="34" charset="0"/>
              </a:rPr>
              <a:t> forward bias </a:t>
            </a:r>
            <a:r>
              <a:rPr lang="en-US" sz="1600" dirty="0" err="1">
                <a:effectLst/>
                <a:latin typeface="Arial" panose="020B0604020202020204" pitchFamily="34" charset="0"/>
              </a:rPr>
              <a:t>dioda</a:t>
            </a:r>
            <a:endParaRPr lang="en-US" sz="1600" dirty="0"/>
          </a:p>
        </p:txBody>
      </p:sp>
    </p:spTree>
    <p:extLst>
      <p:ext uri="{BB962C8B-B14F-4D97-AF65-F5344CB8AC3E}">
        <p14:creationId xmlns:p14="http://schemas.microsoft.com/office/powerpoint/2010/main" val="194726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7655C1-67B5-41FD-AEE5-C1EDB2B1EA21}"/>
              </a:ext>
            </a:extLst>
          </p:cNvPr>
          <p:cNvSpPr txBox="1"/>
          <p:nvPr/>
        </p:nvSpPr>
        <p:spPr>
          <a:xfrm>
            <a:off x="959225" y="753208"/>
            <a:ext cx="6759388" cy="3539430"/>
          </a:xfrm>
          <a:prstGeom prst="rect">
            <a:avLst/>
          </a:prstGeom>
          <a:noFill/>
        </p:spPr>
        <p:txBody>
          <a:bodyPr wrap="square">
            <a:spAutoFit/>
          </a:bodyPr>
          <a:lstStyle/>
          <a:p>
            <a:r>
              <a:rPr lang="en-US" sz="1600"/>
              <a:t>Dari kurva Gambar 3a terlihat bahwa:</a:t>
            </a:r>
          </a:p>
          <a:p>
            <a:pPr marL="285750" indent="-285750">
              <a:buFont typeface="Arial" panose="020B0604020202020204" pitchFamily="34" charset="0"/>
              <a:buChar char="•"/>
            </a:pPr>
            <a:r>
              <a:rPr lang="en-US" sz="1600"/>
              <a:t>jika dioda mendapat forward bias dimana VF &lt; VT maka dioda masih OFF (seperti sakelar terbuka). Walaupun ada arus yang mengalir, arus ini sangatlah kecil dan disebut arus maju tidak konduksi. Besarnya tegangan VT = 0,7 V (Si) dan VT = 0,3 V (Ge).</a:t>
            </a:r>
          </a:p>
          <a:p>
            <a:pPr marL="285750" indent="-285750">
              <a:buFont typeface="Arial" panose="020B0604020202020204" pitchFamily="34" charset="0"/>
              <a:buChar char="•"/>
            </a:pPr>
            <a:r>
              <a:rPr lang="en-US" sz="1600"/>
              <a:t>jika dioda mendapat forward bias dimana VF &gt; VT maka dioda ON (seperti sakelar tertutup) dan arus IF mengalir dari A ke K dalam jumlah besar dengan kenaikan yang linier dan dinyatakan konduksi penuh. </a:t>
            </a:r>
          </a:p>
          <a:p>
            <a:pPr marL="285750" indent="-285750">
              <a:buFont typeface="Arial" panose="020B0604020202020204" pitchFamily="34" charset="0"/>
              <a:buChar char="•"/>
            </a:pPr>
            <a:r>
              <a:rPr lang="en-US" sz="1600"/>
              <a:t>Jika dioda mendapat reverse bias VR dimana VBR &lt; VR &lt; 0 maka tidak ada arus yang mengalir (IR = 0). Pada kondisi ini dioda berfungsi seperti sakelar terbuka atau OFF dan dinyatakan tidak konduksi.</a:t>
            </a:r>
          </a:p>
          <a:p>
            <a:pPr marL="285750" indent="-285750">
              <a:buFont typeface="Arial" panose="020B0604020202020204" pitchFamily="34" charset="0"/>
              <a:buChar char="•"/>
            </a:pPr>
            <a:r>
              <a:rPr lang="en-US" sz="1600"/>
              <a:t>Jika dioda mendapat tegangan reverse bias VR = VBR &lt;&lt; 0 maka akan mengalir reverse current (IR). Arus IR ini disebut juga arus bocor diode </a:t>
            </a:r>
            <a:r>
              <a:rPr lang="en-US" sz="1600">
                <a:effectLst/>
              </a:rPr>
              <a:t>dan akan menghasilkan kerusakan (breakdown).</a:t>
            </a:r>
            <a:endParaRPr lang="en-US" sz="1600"/>
          </a:p>
        </p:txBody>
      </p:sp>
      <p:sp>
        <p:nvSpPr>
          <p:cNvPr id="9" name="TextBox 8">
            <a:extLst>
              <a:ext uri="{FF2B5EF4-FFF2-40B4-BE49-F238E27FC236}">
                <a16:creationId xmlns:a16="http://schemas.microsoft.com/office/drawing/2014/main" id="{1AD169B1-407C-4441-AC64-019D9752C510}"/>
              </a:ext>
            </a:extLst>
          </p:cNvPr>
          <p:cNvSpPr txBox="1"/>
          <p:nvPr/>
        </p:nvSpPr>
        <p:spPr>
          <a:xfrm>
            <a:off x="8463053" y="2844225"/>
            <a:ext cx="2832477" cy="584775"/>
          </a:xfrm>
          <a:prstGeom prst="rect">
            <a:avLst/>
          </a:prstGeom>
          <a:noFill/>
        </p:spPr>
        <p:txBody>
          <a:bodyPr wrap="square">
            <a:spAutoFit/>
          </a:bodyPr>
          <a:lstStyle/>
          <a:p>
            <a:pPr algn="ctr"/>
            <a:r>
              <a:rPr lang="en-US" sz="1600"/>
              <a:t>Gambar 3a.  Kurva karakteristik dioda Si dan dioda Ge</a:t>
            </a:r>
            <a:endParaRPr lang="en-US" sz="1600" dirty="0"/>
          </a:p>
        </p:txBody>
      </p:sp>
      <p:pic>
        <p:nvPicPr>
          <p:cNvPr id="18" name="Picture 17">
            <a:extLst>
              <a:ext uri="{FF2B5EF4-FFF2-40B4-BE49-F238E27FC236}">
                <a16:creationId xmlns:a16="http://schemas.microsoft.com/office/drawing/2014/main" id="{534ABA32-0A31-5186-0B73-92D1282E6EB0}"/>
              </a:ext>
            </a:extLst>
          </p:cNvPr>
          <p:cNvPicPr>
            <a:picLocks noChangeAspect="1"/>
          </p:cNvPicPr>
          <p:nvPr/>
        </p:nvPicPr>
        <p:blipFill>
          <a:blip r:embed="rId2"/>
          <a:stretch>
            <a:fillRect/>
          </a:stretch>
        </p:blipFill>
        <p:spPr>
          <a:xfrm>
            <a:off x="8355477" y="672222"/>
            <a:ext cx="2724530" cy="2172003"/>
          </a:xfrm>
          <a:prstGeom prst="rect">
            <a:avLst/>
          </a:prstGeom>
        </p:spPr>
      </p:pic>
      <p:pic>
        <p:nvPicPr>
          <p:cNvPr id="12" name="Picture 11">
            <a:extLst>
              <a:ext uri="{FF2B5EF4-FFF2-40B4-BE49-F238E27FC236}">
                <a16:creationId xmlns:a16="http://schemas.microsoft.com/office/drawing/2014/main" id="{6D93736B-81FD-79D1-B71A-E033E146CC21}"/>
              </a:ext>
            </a:extLst>
          </p:cNvPr>
          <p:cNvPicPr>
            <a:picLocks noChangeAspect="1"/>
          </p:cNvPicPr>
          <p:nvPr/>
        </p:nvPicPr>
        <p:blipFill>
          <a:blip r:embed="rId3"/>
          <a:stretch>
            <a:fillRect/>
          </a:stretch>
        </p:blipFill>
        <p:spPr>
          <a:xfrm>
            <a:off x="8548106" y="3837535"/>
            <a:ext cx="2531901" cy="1968862"/>
          </a:xfrm>
          <a:prstGeom prst="rect">
            <a:avLst/>
          </a:prstGeom>
        </p:spPr>
      </p:pic>
      <p:sp>
        <p:nvSpPr>
          <p:cNvPr id="19" name="TextBox 18">
            <a:extLst>
              <a:ext uri="{FF2B5EF4-FFF2-40B4-BE49-F238E27FC236}">
                <a16:creationId xmlns:a16="http://schemas.microsoft.com/office/drawing/2014/main" id="{6EA794D7-9274-FEF5-2EF9-831E2BC7EC95}"/>
              </a:ext>
            </a:extLst>
          </p:cNvPr>
          <p:cNvSpPr txBox="1"/>
          <p:nvPr/>
        </p:nvSpPr>
        <p:spPr>
          <a:xfrm>
            <a:off x="8579953" y="5825252"/>
            <a:ext cx="2598676" cy="584775"/>
          </a:xfrm>
          <a:prstGeom prst="rect">
            <a:avLst/>
          </a:prstGeom>
          <a:noFill/>
        </p:spPr>
        <p:txBody>
          <a:bodyPr wrap="square">
            <a:spAutoFit/>
          </a:bodyPr>
          <a:lstStyle/>
          <a:p>
            <a:pPr algn="ctr"/>
            <a:r>
              <a:rPr lang="en-US" sz="1600"/>
              <a:t>Gambar 3b.  Kurva karakteristik dioda Zener</a:t>
            </a:r>
            <a:endParaRPr lang="en-US" sz="1600" dirty="0"/>
          </a:p>
        </p:txBody>
      </p:sp>
      <p:sp>
        <p:nvSpPr>
          <p:cNvPr id="6" name="TextBox 5">
            <a:extLst>
              <a:ext uri="{FF2B5EF4-FFF2-40B4-BE49-F238E27FC236}">
                <a16:creationId xmlns:a16="http://schemas.microsoft.com/office/drawing/2014/main" id="{247E2D13-6656-CD81-C155-AFBFCDD4DC75}"/>
              </a:ext>
            </a:extLst>
          </p:cNvPr>
          <p:cNvSpPr txBox="1"/>
          <p:nvPr/>
        </p:nvSpPr>
        <p:spPr>
          <a:xfrm>
            <a:off x="959226" y="4547979"/>
            <a:ext cx="6759387" cy="1569660"/>
          </a:xfrm>
          <a:prstGeom prst="rect">
            <a:avLst/>
          </a:prstGeom>
          <a:noFill/>
        </p:spPr>
        <p:txBody>
          <a:bodyPr wrap="square">
            <a:spAutoFit/>
          </a:bodyPr>
          <a:lstStyle/>
          <a:p>
            <a:r>
              <a:rPr lang="en-US" sz="1600">
                <a:effectLst/>
              </a:rPr>
              <a:t>Berbeda halnya dengan dioda zener atau biasa disebut diode breakdown, pada dasarnya sama dengan dioda sambungan P – N standar kecuali dirancang secara khusus menghasilkan tegangan balik atau breakdown yang lebih rendah dan relatif konstan sehingga sangat baik digunakan dalam arah reverse bias sebagai regulator tegangan. Titik dimana dioda zener mengalami breakdown atau konduksi disebut tegangan zener ”VZ” (gambar 3b).</a:t>
            </a:r>
            <a:endParaRPr lang="en-US" sz="1600"/>
          </a:p>
        </p:txBody>
      </p:sp>
    </p:spTree>
    <p:extLst>
      <p:ext uri="{BB962C8B-B14F-4D97-AF65-F5344CB8AC3E}">
        <p14:creationId xmlns:p14="http://schemas.microsoft.com/office/powerpoint/2010/main" val="926903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FF888C-B8B1-499C-B2EA-4C6057CABECD}"/>
              </a:ext>
            </a:extLst>
          </p:cNvPr>
          <p:cNvSpPr txBox="1"/>
          <p:nvPr/>
        </p:nvSpPr>
        <p:spPr>
          <a:xfrm>
            <a:off x="1169670" y="1031647"/>
            <a:ext cx="9852660" cy="830997"/>
          </a:xfrm>
          <a:prstGeom prst="rect">
            <a:avLst/>
          </a:prstGeom>
          <a:noFill/>
        </p:spPr>
        <p:txBody>
          <a:bodyPr wrap="square">
            <a:spAutoFit/>
          </a:bodyPr>
          <a:lstStyle/>
          <a:p>
            <a:r>
              <a:rPr lang="en-US" sz="1600" dirty="0"/>
              <a:t>Pada </a:t>
            </a:r>
            <a:r>
              <a:rPr lang="en-US" sz="1600" dirty="0" err="1"/>
              <a:t>kondisi</a:t>
            </a:r>
            <a:r>
              <a:rPr lang="en-US" sz="1600" dirty="0"/>
              <a:t>  ON  </a:t>
            </a:r>
            <a:r>
              <a:rPr lang="en-US" sz="1600" dirty="0" err="1"/>
              <a:t>dioda</a:t>
            </a:r>
            <a:r>
              <a:rPr lang="en-US" sz="1600" dirty="0"/>
              <a:t> </a:t>
            </a:r>
            <a:r>
              <a:rPr lang="en-US" sz="1600" dirty="0" err="1"/>
              <a:t>memiliki</a:t>
            </a:r>
            <a:r>
              <a:rPr lang="en-US" sz="1600" dirty="0"/>
              <a:t> </a:t>
            </a:r>
            <a:r>
              <a:rPr lang="en-US" sz="1600" dirty="0" err="1"/>
              <a:t>tahanan</a:t>
            </a:r>
            <a:r>
              <a:rPr lang="en-US" sz="1600" dirty="0"/>
              <a:t> </a:t>
            </a:r>
            <a:r>
              <a:rPr lang="en-US" sz="1600" dirty="0" err="1"/>
              <a:t>dalam</a:t>
            </a:r>
            <a:r>
              <a:rPr lang="en-US" sz="1600" dirty="0"/>
              <a:t> </a:t>
            </a:r>
            <a:r>
              <a:rPr lang="en-US" sz="1600" dirty="0" err="1"/>
              <a:t>yaitu</a:t>
            </a:r>
            <a:r>
              <a:rPr lang="en-US" sz="1600" dirty="0"/>
              <a:t> static resistance dan </a:t>
            </a:r>
            <a:r>
              <a:rPr lang="en-US" sz="1600" dirty="0" err="1"/>
              <a:t>dinamic</a:t>
            </a:r>
            <a:r>
              <a:rPr lang="en-US" sz="1600" dirty="0"/>
              <a:t> resistance. Static resistance di </a:t>
            </a:r>
            <a:r>
              <a:rPr lang="en-US" sz="1600" dirty="0" err="1"/>
              <a:t>peroleh</a:t>
            </a:r>
            <a:r>
              <a:rPr lang="en-US" sz="1600" dirty="0"/>
              <a:t> </a:t>
            </a:r>
            <a:r>
              <a:rPr lang="en-US" sz="1600" dirty="0" err="1"/>
              <a:t>ketika</a:t>
            </a:r>
            <a:r>
              <a:rPr lang="en-US" sz="1600" dirty="0"/>
              <a:t> </a:t>
            </a:r>
            <a:r>
              <a:rPr lang="en-US" sz="1600" dirty="0" err="1"/>
              <a:t>dioda</a:t>
            </a:r>
            <a:r>
              <a:rPr lang="en-US" sz="1600" dirty="0"/>
              <a:t> </a:t>
            </a:r>
            <a:r>
              <a:rPr lang="en-US" sz="1600" dirty="0" err="1"/>
              <a:t>bekerja</a:t>
            </a:r>
            <a:r>
              <a:rPr lang="en-US" sz="1600" dirty="0"/>
              <a:t> </a:t>
            </a:r>
            <a:r>
              <a:rPr lang="en-US" sz="1600" dirty="0" err="1"/>
              <a:t>dengan</a:t>
            </a:r>
            <a:r>
              <a:rPr lang="en-US" sz="1600" dirty="0"/>
              <a:t> </a:t>
            </a:r>
            <a:r>
              <a:rPr lang="en-US" sz="1600" dirty="0" err="1"/>
              <a:t>tegangan</a:t>
            </a:r>
            <a:r>
              <a:rPr lang="en-US" sz="1600" dirty="0"/>
              <a:t> DC, </a:t>
            </a:r>
            <a:r>
              <a:rPr lang="en-US" sz="1600" dirty="0" err="1"/>
              <a:t>sedangkan</a:t>
            </a:r>
            <a:r>
              <a:rPr lang="en-US" sz="1600" dirty="0"/>
              <a:t> </a:t>
            </a:r>
            <a:r>
              <a:rPr lang="en-US" sz="1600" dirty="0" err="1"/>
              <a:t>dinamic</a:t>
            </a:r>
            <a:r>
              <a:rPr lang="en-US" sz="1600" dirty="0"/>
              <a:t> resistance </a:t>
            </a:r>
            <a:r>
              <a:rPr lang="en-US" sz="1600" dirty="0" err="1"/>
              <a:t>diperoleh</a:t>
            </a:r>
            <a:r>
              <a:rPr lang="en-US" sz="1600" dirty="0"/>
              <a:t> </a:t>
            </a:r>
            <a:r>
              <a:rPr lang="en-US" sz="1600" dirty="0" err="1"/>
              <a:t>saat</a:t>
            </a:r>
            <a:r>
              <a:rPr lang="en-US" sz="1600" dirty="0"/>
              <a:t> </a:t>
            </a:r>
            <a:r>
              <a:rPr lang="en-US" sz="1600" dirty="0" err="1"/>
              <a:t>dioda</a:t>
            </a:r>
            <a:r>
              <a:rPr lang="en-US" sz="1600" dirty="0"/>
              <a:t> </a:t>
            </a:r>
            <a:r>
              <a:rPr lang="en-US" sz="1600" dirty="0" err="1"/>
              <a:t>bekerja</a:t>
            </a:r>
            <a:r>
              <a:rPr lang="en-US" sz="1600" dirty="0"/>
              <a:t> </a:t>
            </a:r>
            <a:r>
              <a:rPr lang="en-US" sz="1600" dirty="0" err="1"/>
              <a:t>dengan</a:t>
            </a:r>
            <a:r>
              <a:rPr lang="en-US" sz="1600" dirty="0"/>
              <a:t> </a:t>
            </a:r>
            <a:r>
              <a:rPr lang="en-US" sz="1600" dirty="0" err="1"/>
              <a:t>tegangan</a:t>
            </a:r>
            <a:r>
              <a:rPr lang="en-US" sz="1600" dirty="0"/>
              <a:t> AC. </a:t>
            </a:r>
            <a:r>
              <a:rPr lang="en-US" sz="1600" dirty="0" err="1"/>
              <a:t>Kedua</a:t>
            </a:r>
            <a:r>
              <a:rPr lang="en-US" sz="1600" dirty="0"/>
              <a:t> </a:t>
            </a:r>
            <a:r>
              <a:rPr lang="en-US" sz="1600" dirty="0" err="1"/>
              <a:t>tahanan</a:t>
            </a:r>
            <a:r>
              <a:rPr lang="en-US" sz="1600" dirty="0"/>
              <a:t> </a:t>
            </a:r>
            <a:r>
              <a:rPr lang="en-US" sz="1600" dirty="0" err="1"/>
              <a:t>ini</a:t>
            </a:r>
            <a:r>
              <a:rPr lang="en-US" sz="1600" dirty="0"/>
              <a:t> </a:t>
            </a:r>
            <a:r>
              <a:rPr lang="en-US" sz="1600" dirty="0" err="1"/>
              <a:t>bernilai</a:t>
            </a:r>
            <a:r>
              <a:rPr lang="en-US" sz="1600" dirty="0"/>
              <a:t> </a:t>
            </a:r>
            <a:r>
              <a:rPr lang="en-US" sz="1600" dirty="0" err="1"/>
              <a:t>relatif</a:t>
            </a:r>
            <a:r>
              <a:rPr lang="en-US" sz="1600" dirty="0"/>
              <a:t> </a:t>
            </a:r>
            <a:r>
              <a:rPr lang="en-US" sz="1600" dirty="0" err="1"/>
              <a:t>kecil</a:t>
            </a:r>
            <a:r>
              <a:rPr lang="en-US" sz="1600" dirty="0"/>
              <a:t> dan </a:t>
            </a:r>
            <a:r>
              <a:rPr lang="en-US" sz="1600" dirty="0" err="1"/>
              <a:t>dinyatakan</a:t>
            </a:r>
            <a:r>
              <a:rPr lang="en-US" sz="1600" dirty="0"/>
              <a:t> </a:t>
            </a:r>
            <a:r>
              <a:rPr lang="en-US" sz="1600" dirty="0" err="1"/>
              <a:t>dengan</a:t>
            </a:r>
            <a:r>
              <a:rPr lang="en-US" sz="1600" dirty="0"/>
              <a:t> </a:t>
            </a:r>
            <a:r>
              <a:rPr lang="en-US" sz="1600" dirty="0" err="1"/>
              <a:t>persamaan</a:t>
            </a:r>
            <a:r>
              <a:rPr lang="en-US" sz="1600" dirty="0"/>
              <a:t> (1.1) dan </a:t>
            </a:r>
            <a:r>
              <a:rPr lang="en-US" sz="1600" dirty="0" err="1"/>
              <a:t>persamaan</a:t>
            </a:r>
            <a:r>
              <a:rPr lang="en-US" sz="1600" dirty="0"/>
              <a:t> (1.2)</a:t>
            </a:r>
          </a:p>
        </p:txBody>
      </p:sp>
      <p:pic>
        <p:nvPicPr>
          <p:cNvPr id="1026" name="Picture 2">
            <a:extLst>
              <a:ext uri="{FF2B5EF4-FFF2-40B4-BE49-F238E27FC236}">
                <a16:creationId xmlns:a16="http://schemas.microsoft.com/office/drawing/2014/main" id="{A5C293CA-068B-49DD-91D1-3CBEFAE4D42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48404" y="2498181"/>
            <a:ext cx="4061167" cy="556486"/>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
            <a:extLst>
              <a:ext uri="{FF2B5EF4-FFF2-40B4-BE49-F238E27FC236}">
                <a16:creationId xmlns:a16="http://schemas.microsoft.com/office/drawing/2014/main" id="{F922BD7D-62C0-4F8D-AB1D-57E48BFD6D5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10753" y="3724618"/>
            <a:ext cx="4401420" cy="55810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593F7B1-2F34-4040-9E71-FE4D051B93EC}"/>
              </a:ext>
            </a:extLst>
          </p:cNvPr>
          <p:cNvSpPr>
            <a:spLocks noChangeArrowheads="1"/>
          </p:cNvSpPr>
          <p:nvPr/>
        </p:nvSpPr>
        <p:spPr bwMode="auto">
          <a:xfrm>
            <a:off x="1193482" y="1776282"/>
            <a:ext cx="3367565"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US" altLang="en-US" sz="16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Static resistance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6BD710DA-6847-436B-AE75-2F1D0B852461}"/>
              </a:ext>
            </a:extLst>
          </p:cNvPr>
          <p:cNvSpPr>
            <a:spLocks noChangeArrowheads="1"/>
          </p:cNvSpPr>
          <p:nvPr/>
        </p:nvSpPr>
        <p:spPr bwMode="auto">
          <a:xfrm>
            <a:off x="1169670" y="3054667"/>
            <a:ext cx="6782753"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2</a:t>
            </a:r>
            <a:r>
              <a:rPr kumimoji="0" lang="en-US" altLang="en-US" sz="16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id-ID" altLang="en-US" sz="16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a:t>
            </a:r>
            <a:r>
              <a:rPr kumimoji="0" lang="en-US" altLang="en-US" sz="1600" b="0" i="1"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ynamic</a:t>
            </a:r>
            <a:r>
              <a:rPr kumimoji="0" lang="en-US" altLang="en-US" sz="16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resistance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BFB85D7B-A99E-4BA5-920D-D249A83CFF46}"/>
              </a:ext>
            </a:extLst>
          </p:cNvPr>
          <p:cNvSpPr>
            <a:spLocks noChangeArrowheads="1"/>
          </p:cNvSpPr>
          <p:nvPr/>
        </p:nvSpPr>
        <p:spPr bwMode="auto">
          <a:xfrm>
            <a:off x="0" y="866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TextBox 1">
            <a:extLst>
              <a:ext uri="{FF2B5EF4-FFF2-40B4-BE49-F238E27FC236}">
                <a16:creationId xmlns:a16="http://schemas.microsoft.com/office/drawing/2014/main" id="{A7DDB922-814A-4559-8D22-6BBF46EDB39F}"/>
              </a:ext>
            </a:extLst>
          </p:cNvPr>
          <p:cNvSpPr txBox="1"/>
          <p:nvPr/>
        </p:nvSpPr>
        <p:spPr>
          <a:xfrm>
            <a:off x="1169670" y="4617170"/>
            <a:ext cx="10031506" cy="1077218"/>
          </a:xfrm>
          <a:prstGeom prst="rect">
            <a:avLst/>
          </a:prstGeom>
          <a:noFill/>
        </p:spPr>
        <p:txBody>
          <a:bodyPr wrap="square">
            <a:spAutoFit/>
          </a:bodyPr>
          <a:lstStyle/>
          <a:p>
            <a:r>
              <a:rPr lang="en-US" sz="1600" dirty="0"/>
              <a:t>Pada </a:t>
            </a:r>
            <a:r>
              <a:rPr lang="en-US" sz="1600" dirty="0" err="1"/>
              <a:t>kondisi</a:t>
            </a:r>
            <a:r>
              <a:rPr lang="en-US" sz="1600" dirty="0"/>
              <a:t> </a:t>
            </a:r>
            <a:r>
              <a:rPr lang="en-US" sz="1600"/>
              <a:t>reverse bias </a:t>
            </a:r>
            <a:r>
              <a:rPr lang="en-US" sz="1600" dirty="0" err="1"/>
              <a:t>terdapat</a:t>
            </a:r>
            <a:r>
              <a:rPr lang="en-US" sz="1600" dirty="0"/>
              <a:t> </a:t>
            </a:r>
            <a:r>
              <a:rPr lang="en-US" sz="1600" err="1"/>
              <a:t>nilai</a:t>
            </a:r>
            <a:r>
              <a:rPr lang="en-US" sz="1600"/>
              <a:t> reverse </a:t>
            </a:r>
            <a:r>
              <a:rPr lang="en-US" sz="1600" dirty="0"/>
              <a:t>resistance (RR</a:t>
            </a:r>
            <a:r>
              <a:rPr lang="en-US" sz="1600"/>
              <a:t>). Pada </a:t>
            </a:r>
            <a:r>
              <a:rPr lang="en-US" sz="1600" dirty="0" err="1"/>
              <a:t>dioda</a:t>
            </a:r>
            <a:r>
              <a:rPr lang="en-US" sz="1600" dirty="0"/>
              <a:t> Ge </a:t>
            </a:r>
            <a:r>
              <a:rPr lang="en-US" sz="1600" dirty="0" err="1"/>
              <a:t>nilainya</a:t>
            </a:r>
            <a:r>
              <a:rPr lang="en-US" sz="1600" dirty="0"/>
              <a:t> </a:t>
            </a:r>
            <a:r>
              <a:rPr lang="en-US" sz="1600" err="1"/>
              <a:t>relatif</a:t>
            </a:r>
            <a:r>
              <a:rPr lang="en-US" sz="1600"/>
              <a:t> besar (orde </a:t>
            </a:r>
            <a:r>
              <a:rPr lang="en-US" sz="1600" dirty="0" err="1"/>
              <a:t>ratusan</a:t>
            </a:r>
            <a:r>
              <a:rPr lang="en-US" sz="1600" dirty="0"/>
              <a:t> kilo ohm) dan pada </a:t>
            </a:r>
            <a:r>
              <a:rPr lang="en-US" sz="1600" dirty="0" err="1"/>
              <a:t>dioda</a:t>
            </a:r>
            <a:r>
              <a:rPr lang="en-US" sz="1600" dirty="0"/>
              <a:t> Si </a:t>
            </a:r>
            <a:r>
              <a:rPr lang="en-US" sz="1600" dirty="0" err="1"/>
              <a:t>relatif</a:t>
            </a:r>
            <a:r>
              <a:rPr lang="en-US" sz="1600" dirty="0"/>
              <a:t> sangat </a:t>
            </a:r>
            <a:r>
              <a:rPr lang="en-US" sz="1600" dirty="0" err="1"/>
              <a:t>besar</a:t>
            </a:r>
            <a:r>
              <a:rPr lang="en-US" sz="1600" dirty="0"/>
              <a:t> </a:t>
            </a:r>
            <a:r>
              <a:rPr lang="en-US" sz="1600"/>
              <a:t>(orde </a:t>
            </a:r>
            <a:r>
              <a:rPr lang="en-US" sz="1600" dirty="0"/>
              <a:t>mega </a:t>
            </a:r>
            <a:r>
              <a:rPr lang="en-US" sz="1600"/>
              <a:t>ohm). Untuk </a:t>
            </a:r>
            <a:r>
              <a:rPr lang="en-US" sz="1600" dirty="0" err="1"/>
              <a:t>kedua</a:t>
            </a:r>
            <a:r>
              <a:rPr lang="en-US" sz="1600" dirty="0"/>
              <a:t> </a:t>
            </a:r>
            <a:r>
              <a:rPr lang="en-US" sz="1600" dirty="0" err="1"/>
              <a:t>kondisi</a:t>
            </a:r>
            <a:r>
              <a:rPr lang="en-US" sz="1600" dirty="0"/>
              <a:t> </a:t>
            </a:r>
            <a:r>
              <a:rPr lang="en-US" sz="1600" dirty="0" err="1"/>
              <a:t>pencatuan</a:t>
            </a:r>
            <a:r>
              <a:rPr lang="en-US" sz="1600" dirty="0"/>
              <a:t>, </a:t>
            </a:r>
            <a:r>
              <a:rPr lang="en-US" sz="1600" dirty="0" err="1"/>
              <a:t>nilai</a:t>
            </a:r>
            <a:r>
              <a:rPr lang="en-US" sz="1600" dirty="0"/>
              <a:t> </a:t>
            </a:r>
            <a:r>
              <a:rPr lang="en-US" sz="1600" dirty="0" err="1"/>
              <a:t>resistansi</a:t>
            </a:r>
            <a:r>
              <a:rPr lang="en-US" sz="1600" dirty="0"/>
              <a:t> </a:t>
            </a:r>
            <a:r>
              <a:rPr lang="en-US" sz="1600" dirty="0" err="1"/>
              <a:t>berubah</a:t>
            </a:r>
            <a:r>
              <a:rPr lang="en-US" sz="1600" dirty="0"/>
              <a:t> </a:t>
            </a:r>
            <a:r>
              <a:rPr lang="en-US" sz="1600" dirty="0" err="1"/>
              <a:t>mengikuti</a:t>
            </a:r>
            <a:r>
              <a:rPr lang="en-US" sz="1600" dirty="0"/>
              <a:t> </a:t>
            </a:r>
            <a:r>
              <a:rPr lang="en-US" sz="1600" dirty="0" err="1"/>
              <a:t>perubahan</a:t>
            </a:r>
            <a:r>
              <a:rPr lang="en-US" sz="1600" dirty="0"/>
              <a:t> temperature. Jika temperature </a:t>
            </a:r>
            <a:r>
              <a:rPr lang="en-US" sz="1600" dirty="0" err="1"/>
              <a:t>dioda</a:t>
            </a:r>
            <a:r>
              <a:rPr lang="en-US" sz="1600" dirty="0"/>
              <a:t> naik </a:t>
            </a:r>
            <a:r>
              <a:rPr lang="en-US" sz="1600" dirty="0" err="1"/>
              <a:t>maka</a:t>
            </a:r>
            <a:r>
              <a:rPr lang="en-US" sz="1600" dirty="0"/>
              <a:t> </a:t>
            </a:r>
            <a:r>
              <a:rPr lang="en-US" sz="1600" dirty="0" err="1"/>
              <a:t>resistansi</a:t>
            </a:r>
            <a:r>
              <a:rPr lang="en-US" sz="1600" dirty="0"/>
              <a:t> </a:t>
            </a:r>
            <a:r>
              <a:rPr lang="en-US" sz="1600" dirty="0" err="1"/>
              <a:t>dioda</a:t>
            </a:r>
            <a:r>
              <a:rPr lang="en-US" sz="1600" dirty="0"/>
              <a:t> </a:t>
            </a:r>
            <a:r>
              <a:rPr lang="en-US" sz="1600" dirty="0" err="1"/>
              <a:t>akan</a:t>
            </a:r>
            <a:r>
              <a:rPr lang="en-US" sz="1600" dirty="0"/>
              <a:t> </a:t>
            </a:r>
            <a:r>
              <a:rPr lang="en-US" sz="1600" dirty="0" err="1"/>
              <a:t>turun</a:t>
            </a:r>
            <a:r>
              <a:rPr lang="en-US" sz="1600" dirty="0"/>
              <a:t>. Jika </a:t>
            </a:r>
            <a:r>
              <a:rPr lang="en-US" sz="1600" dirty="0" err="1"/>
              <a:t>temperatur</a:t>
            </a:r>
            <a:r>
              <a:rPr lang="en-US" sz="1600" dirty="0"/>
              <a:t> </a:t>
            </a:r>
            <a:r>
              <a:rPr lang="en-US" sz="1600" dirty="0" err="1"/>
              <a:t>dioda</a:t>
            </a:r>
            <a:r>
              <a:rPr lang="en-US" sz="1600" dirty="0"/>
              <a:t> </a:t>
            </a:r>
            <a:r>
              <a:rPr lang="en-US" sz="1600" dirty="0" err="1"/>
              <a:t>turun</a:t>
            </a:r>
            <a:r>
              <a:rPr lang="en-US" sz="1600" dirty="0"/>
              <a:t> </a:t>
            </a:r>
            <a:r>
              <a:rPr lang="en-US" sz="1600" dirty="0" err="1"/>
              <a:t>maka</a:t>
            </a:r>
            <a:r>
              <a:rPr lang="en-US" sz="1600" dirty="0"/>
              <a:t> </a:t>
            </a:r>
            <a:r>
              <a:rPr lang="en-US" sz="1600" dirty="0" err="1"/>
              <a:t>resistansi</a:t>
            </a:r>
            <a:r>
              <a:rPr lang="en-US" sz="1600" dirty="0"/>
              <a:t> </a:t>
            </a:r>
            <a:r>
              <a:rPr lang="en-US" sz="1600" dirty="0" err="1"/>
              <a:t>dioda</a:t>
            </a:r>
            <a:r>
              <a:rPr lang="en-US" sz="1600" dirty="0"/>
              <a:t> </a:t>
            </a:r>
            <a:r>
              <a:rPr lang="en-US" sz="1600" dirty="0" err="1"/>
              <a:t>akan</a:t>
            </a:r>
            <a:r>
              <a:rPr lang="en-US" sz="1600" dirty="0"/>
              <a:t> naik.</a:t>
            </a:r>
          </a:p>
        </p:txBody>
      </p:sp>
    </p:spTree>
    <p:extLst>
      <p:ext uri="{BB962C8B-B14F-4D97-AF65-F5344CB8AC3E}">
        <p14:creationId xmlns:p14="http://schemas.microsoft.com/office/powerpoint/2010/main" val="1007684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06A9A5-1B82-465E-8FE6-1BF9DE0AE9CC}"/>
              </a:ext>
            </a:extLst>
          </p:cNvPr>
          <p:cNvSpPr txBox="1"/>
          <p:nvPr/>
        </p:nvSpPr>
        <p:spPr>
          <a:xfrm>
            <a:off x="1379388" y="1115079"/>
            <a:ext cx="9183416" cy="3908762"/>
          </a:xfrm>
          <a:prstGeom prst="rect">
            <a:avLst/>
          </a:prstGeom>
          <a:noFill/>
        </p:spPr>
        <p:txBody>
          <a:bodyPr wrap="square">
            <a:spAutoFit/>
          </a:bodyPr>
          <a:lstStyle/>
          <a:p>
            <a:r>
              <a:rPr lang="en-US" sz="2400"/>
              <a:t>4.   Alat dan Komponen yang Digunakan</a:t>
            </a:r>
          </a:p>
          <a:p>
            <a:endParaRPr lang="en-US" sz="1600"/>
          </a:p>
          <a:p>
            <a:r>
              <a:rPr lang="en-US" sz="1600"/>
              <a:t>Alat:</a:t>
            </a:r>
            <a:endParaRPr lang="en-US" sz="1600" dirty="0"/>
          </a:p>
          <a:p>
            <a:r>
              <a:rPr lang="en-US" sz="1600" dirty="0">
                <a:cs typeface="Times New Roman" panose="02020603050405020304" pitchFamily="18" charset="0"/>
              </a:rPr>
              <a:t>•  </a:t>
            </a:r>
            <a:r>
              <a:rPr lang="en-US" sz="1600" dirty="0" err="1">
                <a:cs typeface="Times New Roman" panose="02020603050405020304" pitchFamily="18" charset="0"/>
              </a:rPr>
              <a:t>Sumber</a:t>
            </a:r>
            <a:r>
              <a:rPr lang="en-US" sz="1600" dirty="0">
                <a:cs typeface="Times New Roman" panose="02020603050405020304" pitchFamily="18" charset="0"/>
              </a:rPr>
              <a:t> </a:t>
            </a:r>
            <a:r>
              <a:rPr lang="en-US" sz="1600" dirty="0" err="1">
                <a:cs typeface="Times New Roman" panose="02020603050405020304" pitchFamily="18" charset="0"/>
              </a:rPr>
              <a:t>tegangan</a:t>
            </a:r>
            <a:r>
              <a:rPr lang="en-US" sz="1600" dirty="0">
                <a:cs typeface="Times New Roman" panose="02020603050405020304" pitchFamily="18" charset="0"/>
              </a:rPr>
              <a:t> DC		</a:t>
            </a:r>
            <a:r>
              <a:rPr lang="en-US" sz="1600">
                <a:cs typeface="Times New Roman" panose="02020603050405020304" pitchFamily="18" charset="0"/>
              </a:rPr>
              <a:t>		: </a:t>
            </a:r>
            <a:r>
              <a:rPr lang="en-US" sz="1600" dirty="0">
                <a:cs typeface="Times New Roman" panose="02020603050405020304" pitchFamily="18" charset="0"/>
              </a:rPr>
              <a:t>1 </a:t>
            </a:r>
            <a:r>
              <a:rPr lang="en-US" sz="1600" dirty="0" err="1">
                <a:cs typeface="Times New Roman" panose="02020603050405020304" pitchFamily="18" charset="0"/>
              </a:rPr>
              <a:t>buah</a:t>
            </a:r>
            <a:r>
              <a:rPr lang="en-US" sz="1600" dirty="0">
                <a:cs typeface="Times New Roman" panose="02020603050405020304" pitchFamily="18" charset="0"/>
              </a:rPr>
              <a:t>,</a:t>
            </a:r>
          </a:p>
          <a:p>
            <a:r>
              <a:rPr lang="en-US" sz="1600">
                <a:cs typeface="Times New Roman" panose="02020603050405020304" pitchFamily="18" charset="0"/>
              </a:rPr>
              <a:t>•  Multimeter Analog	 </a:t>
            </a:r>
            <a:r>
              <a:rPr lang="en-US" sz="1600" dirty="0">
                <a:cs typeface="Times New Roman" panose="02020603050405020304" pitchFamily="18" charset="0"/>
              </a:rPr>
              <a:t>		  </a:t>
            </a:r>
            <a:r>
              <a:rPr lang="en-US" sz="1600">
                <a:cs typeface="Times New Roman" panose="02020603050405020304" pitchFamily="18" charset="0"/>
              </a:rPr>
              <a:t>		: </a:t>
            </a:r>
            <a:r>
              <a:rPr lang="en-US" sz="1600" dirty="0">
                <a:cs typeface="Times New Roman" panose="02020603050405020304" pitchFamily="18" charset="0"/>
              </a:rPr>
              <a:t>1 </a:t>
            </a:r>
            <a:r>
              <a:rPr lang="en-US" sz="1600" dirty="0" err="1">
                <a:cs typeface="Times New Roman" panose="02020603050405020304" pitchFamily="18" charset="0"/>
              </a:rPr>
              <a:t>buah</a:t>
            </a:r>
            <a:r>
              <a:rPr lang="en-US" sz="1600" dirty="0">
                <a:cs typeface="Times New Roman" panose="02020603050405020304" pitchFamily="18" charset="0"/>
              </a:rPr>
              <a:t>,</a:t>
            </a:r>
          </a:p>
          <a:p>
            <a:r>
              <a:rPr lang="en-US" sz="1600" dirty="0">
                <a:cs typeface="Times New Roman" panose="02020603050405020304" pitchFamily="18" charset="0"/>
              </a:rPr>
              <a:t>•  Multimeter Digital	</a:t>
            </a:r>
            <a:r>
              <a:rPr lang="en-US" sz="1600">
                <a:cs typeface="Times New Roman" panose="02020603050405020304" pitchFamily="18" charset="0"/>
              </a:rPr>
              <a:t>		</a:t>
            </a:r>
            <a:r>
              <a:rPr lang="en-US" sz="1600" dirty="0">
                <a:cs typeface="Times New Roman" panose="02020603050405020304" pitchFamily="18" charset="0"/>
              </a:rPr>
              <a:t>	</a:t>
            </a:r>
            <a:r>
              <a:rPr lang="en-US" sz="1600">
                <a:cs typeface="Times New Roman" panose="02020603050405020304" pitchFamily="18" charset="0"/>
              </a:rPr>
              <a:t>            	: </a:t>
            </a:r>
            <a:r>
              <a:rPr lang="en-US" sz="1600" dirty="0">
                <a:cs typeface="Times New Roman" panose="02020603050405020304" pitchFamily="18" charset="0"/>
              </a:rPr>
              <a:t>1</a:t>
            </a:r>
            <a:r>
              <a:rPr lang="en-US" sz="1600">
                <a:cs typeface="Times New Roman" panose="02020603050405020304" pitchFamily="18" charset="0"/>
              </a:rPr>
              <a:t> </a:t>
            </a:r>
            <a:r>
              <a:rPr lang="en-US" sz="1600" dirty="0" err="1">
                <a:cs typeface="Times New Roman" panose="02020603050405020304" pitchFamily="18" charset="0"/>
              </a:rPr>
              <a:t>buah</a:t>
            </a:r>
            <a:r>
              <a:rPr lang="en-US" sz="1600" dirty="0">
                <a:cs typeface="Times New Roman" panose="02020603050405020304" pitchFamily="18" charset="0"/>
              </a:rPr>
              <a:t>,</a:t>
            </a:r>
          </a:p>
          <a:p>
            <a:r>
              <a:rPr lang="en-US" sz="1600">
                <a:cs typeface="Times New Roman" panose="02020603050405020304" pitchFamily="18" charset="0"/>
              </a:rPr>
              <a:t>•  Papan percobaan (protoboard)				: 1 buah,</a:t>
            </a:r>
          </a:p>
          <a:p>
            <a:r>
              <a:rPr lang="en-US" sz="1600">
                <a:cs typeface="Times New Roman" panose="02020603050405020304" pitchFamily="18" charset="0"/>
              </a:rPr>
              <a:t>•  Kabel penghubung 					: secukupnya,</a:t>
            </a:r>
          </a:p>
          <a:p>
            <a:endParaRPr lang="en-US" sz="1600">
              <a:cs typeface="Times New Roman" panose="02020603050405020304" pitchFamily="18" charset="0"/>
            </a:endParaRPr>
          </a:p>
          <a:p>
            <a:r>
              <a:rPr lang="en-US" sz="1600">
                <a:cs typeface="Times New Roman" panose="02020603050405020304" pitchFamily="18" charset="0"/>
              </a:rPr>
              <a:t>Komponen:</a:t>
            </a:r>
          </a:p>
          <a:p>
            <a:r>
              <a:rPr lang="en-US" sz="1600">
                <a:cs typeface="Times New Roman" panose="02020603050405020304" pitchFamily="18" charset="0"/>
              </a:rPr>
              <a:t>•  </a:t>
            </a:r>
            <a:r>
              <a:rPr lang="en-US" sz="1600" err="1">
                <a:cs typeface="Times New Roman" panose="02020603050405020304" pitchFamily="18" charset="0"/>
              </a:rPr>
              <a:t>Dioda</a:t>
            </a:r>
            <a:r>
              <a:rPr lang="en-US" sz="1600">
                <a:cs typeface="Times New Roman" panose="02020603050405020304" pitchFamily="18" charset="0"/>
              </a:rPr>
              <a:t> Si (Silikon) 1N4001/persamaannya			: </a:t>
            </a:r>
            <a:r>
              <a:rPr lang="en-US" sz="1600" dirty="0">
                <a:cs typeface="Times New Roman" panose="02020603050405020304" pitchFamily="18" charset="0"/>
              </a:rPr>
              <a:t>1 </a:t>
            </a:r>
            <a:r>
              <a:rPr lang="en-US" sz="1600" dirty="0" err="1">
                <a:cs typeface="Times New Roman" panose="02020603050405020304" pitchFamily="18" charset="0"/>
              </a:rPr>
              <a:t>buah</a:t>
            </a:r>
            <a:r>
              <a:rPr lang="en-US" sz="1600" dirty="0">
                <a:cs typeface="Times New Roman" panose="02020603050405020304" pitchFamily="18" charset="0"/>
              </a:rPr>
              <a:t>,</a:t>
            </a:r>
          </a:p>
          <a:p>
            <a:r>
              <a:rPr lang="en-US" sz="1600" dirty="0">
                <a:cs typeface="Times New Roman" panose="02020603050405020304" pitchFamily="18" charset="0"/>
              </a:rPr>
              <a:t>•  </a:t>
            </a:r>
            <a:r>
              <a:rPr lang="en-US" sz="1600">
                <a:cs typeface="Times New Roman" panose="02020603050405020304" pitchFamily="18" charset="0"/>
              </a:rPr>
              <a:t>Diode Ge (Germanium) AA119/persamaannya		: </a:t>
            </a:r>
            <a:r>
              <a:rPr lang="en-US" sz="1600" dirty="0">
                <a:cs typeface="Times New Roman" panose="02020603050405020304" pitchFamily="18" charset="0"/>
              </a:rPr>
              <a:t>1 </a:t>
            </a:r>
            <a:r>
              <a:rPr lang="en-US" sz="1600" err="1">
                <a:cs typeface="Times New Roman" panose="02020603050405020304" pitchFamily="18" charset="0"/>
              </a:rPr>
              <a:t>buah</a:t>
            </a:r>
            <a:r>
              <a:rPr lang="en-US" sz="1600">
                <a:cs typeface="Times New Roman" panose="02020603050405020304" pitchFamily="18" charset="0"/>
              </a:rPr>
              <a:t>,</a:t>
            </a:r>
          </a:p>
          <a:p>
            <a:r>
              <a:rPr lang="en-US" sz="1600">
                <a:cs typeface="Times New Roman" panose="02020603050405020304" pitchFamily="18" charset="0"/>
              </a:rPr>
              <a:t>•  Diode Zn (Zener) 7,5V 1N4737A/persamaannya		: 1 buah,</a:t>
            </a:r>
          </a:p>
          <a:p>
            <a:r>
              <a:rPr lang="en-US" sz="1600">
                <a:cs typeface="Times New Roman" panose="02020603050405020304" pitchFamily="18" charset="0"/>
              </a:rPr>
              <a:t>•  Resistor 100 Ohm/5W</a:t>
            </a:r>
            <a:r>
              <a:rPr lang="en-US" sz="1600" dirty="0">
                <a:cs typeface="Times New Roman" panose="02020603050405020304" pitchFamily="18" charset="0"/>
              </a:rPr>
              <a:t>	           	</a:t>
            </a:r>
            <a:r>
              <a:rPr lang="en-US" sz="1600">
                <a:cs typeface="Times New Roman" panose="02020603050405020304" pitchFamily="18" charset="0"/>
              </a:rPr>
              <a:t>      	      	: 1 buah</a:t>
            </a:r>
            <a:r>
              <a:rPr lang="en-US" sz="1600" dirty="0">
                <a:cs typeface="Times New Roman" panose="02020603050405020304" pitchFamily="18" charset="0"/>
              </a:rPr>
              <a:t>.</a:t>
            </a:r>
          </a:p>
          <a:p>
            <a:endParaRPr lang="en-US" sz="1600" dirty="0"/>
          </a:p>
        </p:txBody>
      </p:sp>
    </p:spTree>
    <p:extLst>
      <p:ext uri="{BB962C8B-B14F-4D97-AF65-F5344CB8AC3E}">
        <p14:creationId xmlns:p14="http://schemas.microsoft.com/office/powerpoint/2010/main" val="4103527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C725C8-26F7-4662-A35C-8B7936219BC2}"/>
              </a:ext>
            </a:extLst>
          </p:cNvPr>
          <p:cNvSpPr txBox="1"/>
          <p:nvPr/>
        </p:nvSpPr>
        <p:spPr>
          <a:xfrm>
            <a:off x="583585" y="568603"/>
            <a:ext cx="6805447" cy="3293209"/>
          </a:xfrm>
          <a:prstGeom prst="rect">
            <a:avLst/>
          </a:prstGeom>
          <a:noFill/>
        </p:spPr>
        <p:txBody>
          <a:bodyPr wrap="square">
            <a:spAutoFit/>
          </a:bodyPr>
          <a:lstStyle/>
          <a:p>
            <a:pPr marL="342900" indent="-342900">
              <a:buAutoNum type="alphaUcPeriod"/>
            </a:pPr>
            <a:r>
              <a:rPr lang="en-US" sz="1600"/>
              <a:t>Langkah-Langkah Pengukuran Diode </a:t>
            </a:r>
            <a:r>
              <a:rPr lang="en-US" sz="1600" b="1" err="1">
                <a:solidFill>
                  <a:srgbClr val="FF0000"/>
                </a:solidFill>
              </a:rPr>
              <a:t>Silikon</a:t>
            </a:r>
            <a:r>
              <a:rPr lang="en-US" sz="1600" b="1">
                <a:solidFill>
                  <a:srgbClr val="FF0000"/>
                </a:solidFill>
              </a:rPr>
              <a:t> Arah Maju (1N4001)</a:t>
            </a:r>
          </a:p>
          <a:p>
            <a:pPr marL="342900" indent="-342900">
              <a:buAutoNum type="alphaUcPeriod"/>
            </a:pPr>
            <a:endParaRPr lang="en-US" sz="1600" b="1" dirty="0">
              <a:solidFill>
                <a:srgbClr val="FF0000"/>
              </a:solidFill>
            </a:endParaRPr>
          </a:p>
          <a:p>
            <a:r>
              <a:rPr lang="en-US" sz="1600" dirty="0"/>
              <a:t>1.  </a:t>
            </a:r>
            <a:r>
              <a:rPr lang="en-US" sz="1600" dirty="0" err="1"/>
              <a:t>Susunlah</a:t>
            </a:r>
            <a:r>
              <a:rPr lang="en-US" sz="1600" dirty="0"/>
              <a:t> </a:t>
            </a:r>
            <a:r>
              <a:rPr lang="en-US" sz="1600" err="1"/>
              <a:t>rangkaian</a:t>
            </a:r>
            <a:r>
              <a:rPr lang="en-US" sz="1600"/>
              <a:t> percobaan </a:t>
            </a:r>
            <a:r>
              <a:rPr lang="en-US" sz="1600" dirty="0" err="1"/>
              <a:t>seperti</a:t>
            </a:r>
            <a:r>
              <a:rPr lang="en-US" sz="1600" dirty="0"/>
              <a:t> yang </a:t>
            </a:r>
            <a:r>
              <a:rPr lang="en-US" sz="1600" dirty="0" err="1"/>
              <a:t>ditunjukan</a:t>
            </a:r>
            <a:r>
              <a:rPr lang="en-US" sz="1600" dirty="0"/>
              <a:t> pada </a:t>
            </a:r>
            <a:r>
              <a:rPr lang="en-US" sz="1600"/>
              <a:t>Gambar 4b.</a:t>
            </a:r>
            <a:endParaRPr lang="en-US" sz="1600" dirty="0"/>
          </a:p>
          <a:p>
            <a:r>
              <a:rPr lang="en-US" sz="1600" dirty="0"/>
              <a:t>2.  </a:t>
            </a:r>
            <a:r>
              <a:rPr lang="en-US" sz="1600" dirty="0" err="1"/>
              <a:t>Atur</a:t>
            </a:r>
            <a:r>
              <a:rPr lang="en-US" sz="1600" dirty="0"/>
              <a:t> </a:t>
            </a:r>
            <a:r>
              <a:rPr lang="en-US" sz="1600" dirty="0" err="1"/>
              <a:t>sumber</a:t>
            </a:r>
            <a:r>
              <a:rPr lang="en-US" sz="1600" dirty="0"/>
              <a:t> </a:t>
            </a:r>
            <a:r>
              <a:rPr lang="en-US" sz="1600" dirty="0" err="1"/>
              <a:t>tegangan</a:t>
            </a:r>
            <a:r>
              <a:rPr lang="en-US" sz="1600" dirty="0"/>
              <a:t> </a:t>
            </a:r>
            <a:r>
              <a:rPr lang="en-US" sz="1600"/>
              <a:t>Vs sedemikian sehingga tegangan diode Vd </a:t>
            </a:r>
            <a:r>
              <a:rPr lang="en-US" sz="1600" dirty="0"/>
              <a:t>=  0,1 Volt. </a:t>
            </a:r>
          </a:p>
          <a:p>
            <a:r>
              <a:rPr lang="en-US" sz="1600" dirty="0"/>
              <a:t>3.  </a:t>
            </a:r>
            <a:r>
              <a:rPr lang="en-US" sz="1600" err="1"/>
              <a:t>Ukurlah</a:t>
            </a:r>
            <a:r>
              <a:rPr lang="en-US" sz="1600"/>
              <a:t>  Id, VR dan Vs, </a:t>
            </a:r>
            <a:r>
              <a:rPr lang="en-US" sz="1600" dirty="0" err="1"/>
              <a:t>catat</a:t>
            </a:r>
            <a:r>
              <a:rPr lang="en-US" sz="1600" dirty="0"/>
              <a:t> </a:t>
            </a:r>
            <a:r>
              <a:rPr lang="en-US" sz="1600" dirty="0" err="1"/>
              <a:t>hasilnya</a:t>
            </a:r>
            <a:r>
              <a:rPr lang="en-US" sz="1600" dirty="0"/>
              <a:t> pada </a:t>
            </a:r>
            <a:r>
              <a:rPr lang="en-US" sz="1600" err="1"/>
              <a:t>Tabel</a:t>
            </a:r>
            <a:r>
              <a:rPr lang="en-US" sz="1600"/>
              <a:t> 1.1.</a:t>
            </a:r>
            <a:endParaRPr lang="en-US" sz="1600" dirty="0"/>
          </a:p>
          <a:p>
            <a:r>
              <a:rPr lang="en-US" sz="1600" dirty="0"/>
              <a:t>4.  </a:t>
            </a:r>
            <a:r>
              <a:rPr lang="en-US" sz="1600" dirty="0" err="1"/>
              <a:t>Ulangi</a:t>
            </a:r>
            <a:r>
              <a:rPr lang="en-US" sz="1600" dirty="0"/>
              <a:t> </a:t>
            </a:r>
            <a:r>
              <a:rPr lang="en-US" sz="1600" dirty="0" err="1"/>
              <a:t>langkah</a:t>
            </a:r>
            <a:r>
              <a:rPr lang="en-US" sz="1600" dirty="0"/>
              <a:t> 2 dan 3 </a:t>
            </a:r>
            <a:r>
              <a:rPr lang="en-US" sz="1600" err="1"/>
              <a:t>untuk</a:t>
            </a:r>
            <a:r>
              <a:rPr lang="en-US" sz="1600"/>
              <a:t> setiap nilai Vd </a:t>
            </a:r>
            <a:r>
              <a:rPr lang="en-US" sz="1600" dirty="0" err="1"/>
              <a:t>seperti</a:t>
            </a:r>
            <a:r>
              <a:rPr lang="en-US" sz="1600" dirty="0"/>
              <a:t> </a:t>
            </a:r>
            <a:r>
              <a:rPr lang="en-US" sz="1600" dirty="0" err="1"/>
              <a:t>tertulis</a:t>
            </a:r>
            <a:r>
              <a:rPr lang="en-US" sz="1600" dirty="0"/>
              <a:t> pada  Table 1.1. </a:t>
            </a:r>
          </a:p>
          <a:p>
            <a:r>
              <a:rPr lang="en-US" sz="1600" dirty="0"/>
              <a:t>5.  </a:t>
            </a:r>
            <a:r>
              <a:rPr lang="en-US" sz="1600" dirty="0" err="1"/>
              <a:t>Hitung</a:t>
            </a:r>
            <a:r>
              <a:rPr lang="en-US" sz="1600" dirty="0"/>
              <a:t> </a:t>
            </a:r>
            <a:r>
              <a:rPr lang="en-US" sz="1600" err="1"/>
              <a:t>nilai</a:t>
            </a:r>
            <a:r>
              <a:rPr lang="en-US" sz="1600"/>
              <a:t> Rf (R diode forward) untuk </a:t>
            </a:r>
            <a:r>
              <a:rPr lang="en-US" sz="1600" dirty="0" err="1"/>
              <a:t>setiap</a:t>
            </a:r>
            <a:r>
              <a:rPr lang="en-US" sz="1600" dirty="0"/>
              <a:t> </a:t>
            </a:r>
            <a:r>
              <a:rPr lang="en-US" sz="1600" err="1"/>
              <a:t>nilai</a:t>
            </a:r>
            <a:r>
              <a:rPr lang="en-US" sz="1600"/>
              <a:t> Vd dan Id. </a:t>
            </a:r>
            <a:r>
              <a:rPr lang="en-US" sz="1600" dirty="0" err="1"/>
              <a:t>Catat</a:t>
            </a:r>
            <a:r>
              <a:rPr lang="en-US" sz="1600" dirty="0"/>
              <a:t> </a:t>
            </a:r>
            <a:r>
              <a:rPr lang="en-US" sz="1600" dirty="0" err="1"/>
              <a:t>hasilnya</a:t>
            </a:r>
            <a:r>
              <a:rPr lang="en-US" sz="1600" dirty="0"/>
              <a:t> pada </a:t>
            </a:r>
            <a:r>
              <a:rPr lang="en-US" sz="1600" err="1"/>
              <a:t>Tabel</a:t>
            </a:r>
            <a:r>
              <a:rPr lang="en-US" sz="1600"/>
              <a:t> 1.1. </a:t>
            </a:r>
            <a:endParaRPr lang="en-US" sz="1600" dirty="0"/>
          </a:p>
          <a:p>
            <a:r>
              <a:rPr lang="en-US" sz="1600" dirty="0"/>
              <a:t>6.  </a:t>
            </a:r>
            <a:r>
              <a:rPr lang="en-US" sz="1600" dirty="0" err="1"/>
              <a:t>Naikkan</a:t>
            </a:r>
            <a:r>
              <a:rPr lang="en-US" sz="1600" dirty="0"/>
              <a:t> </a:t>
            </a:r>
            <a:r>
              <a:rPr lang="en-US" sz="1600"/>
              <a:t>temperature diode dengan </a:t>
            </a:r>
            <a:r>
              <a:rPr lang="en-US" sz="1600" dirty="0" err="1"/>
              <a:t>cara</a:t>
            </a:r>
            <a:r>
              <a:rPr lang="en-US" sz="1600" dirty="0"/>
              <a:t> </a:t>
            </a:r>
            <a:r>
              <a:rPr lang="en-US" sz="1600" dirty="0" err="1"/>
              <a:t>memegang</a:t>
            </a:r>
            <a:r>
              <a:rPr lang="en-US" sz="1600" dirty="0"/>
              <a:t> diode (</a:t>
            </a:r>
            <a:r>
              <a:rPr lang="en-US" sz="1600" dirty="0" err="1"/>
              <a:t>tanpa</a:t>
            </a:r>
            <a:r>
              <a:rPr lang="en-US" sz="1600" dirty="0"/>
              <a:t> </a:t>
            </a:r>
            <a:r>
              <a:rPr lang="en-US" sz="1600" dirty="0" err="1"/>
              <a:t>menyentuh</a:t>
            </a:r>
            <a:r>
              <a:rPr lang="en-US" sz="1600" dirty="0"/>
              <a:t> kaki-kaki </a:t>
            </a:r>
            <a:r>
              <a:rPr lang="en-US" sz="1600" err="1"/>
              <a:t>diodanya</a:t>
            </a:r>
            <a:r>
              <a:rPr lang="en-US" sz="1600"/>
              <a:t>) </a:t>
            </a:r>
            <a:r>
              <a:rPr lang="en-US" sz="1600" dirty="0" err="1"/>
              <a:t>dengan</a:t>
            </a:r>
            <a:r>
              <a:rPr lang="en-US" sz="1600" dirty="0"/>
              <a:t> </a:t>
            </a:r>
            <a:r>
              <a:rPr lang="en-US" sz="1600" dirty="0" err="1"/>
              <a:t>jari-tangan</a:t>
            </a:r>
            <a:r>
              <a:rPr lang="en-US" sz="1600" dirty="0"/>
              <a:t>. </a:t>
            </a:r>
            <a:r>
              <a:rPr lang="en-US" sz="1600" dirty="0" err="1"/>
              <a:t>Perhatikan</a:t>
            </a:r>
            <a:r>
              <a:rPr lang="en-US" sz="1600" dirty="0"/>
              <a:t> </a:t>
            </a:r>
            <a:r>
              <a:rPr lang="en-US" sz="1600" dirty="0" err="1"/>
              <a:t>apa</a:t>
            </a:r>
            <a:r>
              <a:rPr lang="en-US" sz="1600" dirty="0"/>
              <a:t> yang </a:t>
            </a:r>
            <a:r>
              <a:rPr lang="en-US" sz="1600" dirty="0" err="1"/>
              <a:t>terjadi</a:t>
            </a:r>
            <a:r>
              <a:rPr lang="en-US" sz="1600" dirty="0"/>
              <a:t> </a:t>
            </a:r>
            <a:r>
              <a:rPr lang="en-US" sz="1600" err="1"/>
              <a:t>dengan</a:t>
            </a:r>
            <a:r>
              <a:rPr lang="en-US" sz="1600"/>
              <a:t> arus/</a:t>
            </a:r>
            <a:r>
              <a:rPr lang="en-US" sz="1600" dirty="0" err="1"/>
              <a:t>tegangan</a:t>
            </a:r>
            <a:r>
              <a:rPr lang="en-US" sz="1600" dirty="0"/>
              <a:t> </a:t>
            </a:r>
            <a:r>
              <a:rPr lang="en-US" sz="1600"/>
              <a:t>(Id dan Vd) </a:t>
            </a:r>
            <a:r>
              <a:rPr lang="en-US" sz="1600">
                <a:solidFill>
                  <a:srgbClr val="FF0000"/>
                </a:solidFill>
              </a:rPr>
              <a:t>(hanya untuk percobaan riil).</a:t>
            </a:r>
            <a:endParaRPr lang="en-US" sz="1600" dirty="0"/>
          </a:p>
          <a:p>
            <a:r>
              <a:rPr lang="en-US" sz="1600" dirty="0"/>
              <a:t>7.  </a:t>
            </a:r>
            <a:r>
              <a:rPr lang="en-US" sz="1600" dirty="0" err="1"/>
              <a:t>Gambarkan</a:t>
            </a:r>
            <a:r>
              <a:rPr lang="en-US" sz="1600" dirty="0"/>
              <a:t> </a:t>
            </a:r>
            <a:r>
              <a:rPr lang="en-US" sz="1600" dirty="0" err="1"/>
              <a:t>grafik</a:t>
            </a:r>
            <a:r>
              <a:rPr lang="en-US" sz="1600" dirty="0"/>
              <a:t> </a:t>
            </a:r>
            <a:r>
              <a:rPr lang="en-US" sz="1600" err="1"/>
              <a:t>kurva</a:t>
            </a:r>
            <a:r>
              <a:rPr lang="en-US" sz="1600"/>
              <a:t> karakteristik dioda </a:t>
            </a:r>
            <a:r>
              <a:rPr lang="en-US" sz="1600" dirty="0"/>
              <a:t>forward </a:t>
            </a:r>
            <a:r>
              <a:rPr lang="en-US" sz="1600"/>
              <a:t>bias Id vs Vd </a:t>
            </a:r>
            <a:r>
              <a:rPr lang="en-US" sz="1600" dirty="0" err="1"/>
              <a:t>dari</a:t>
            </a:r>
            <a:r>
              <a:rPr lang="en-US" sz="1600" dirty="0"/>
              <a:t> data </a:t>
            </a:r>
            <a:r>
              <a:rPr lang="en-US" sz="1600" err="1"/>
              <a:t>Tabel</a:t>
            </a:r>
            <a:r>
              <a:rPr lang="en-US" sz="1600"/>
              <a:t> 1.1.</a:t>
            </a:r>
            <a:endParaRPr lang="en-US" sz="1600" dirty="0"/>
          </a:p>
        </p:txBody>
      </p:sp>
      <p:sp>
        <p:nvSpPr>
          <p:cNvPr id="5" name="TextBox 4">
            <a:extLst>
              <a:ext uri="{FF2B5EF4-FFF2-40B4-BE49-F238E27FC236}">
                <a16:creationId xmlns:a16="http://schemas.microsoft.com/office/drawing/2014/main" id="{A7EBF984-C96A-4477-8AC0-124DC60AAB15}"/>
              </a:ext>
            </a:extLst>
          </p:cNvPr>
          <p:cNvSpPr txBox="1"/>
          <p:nvPr/>
        </p:nvSpPr>
        <p:spPr>
          <a:xfrm>
            <a:off x="524606" y="4519682"/>
            <a:ext cx="6622643" cy="338554"/>
          </a:xfrm>
          <a:prstGeom prst="rect">
            <a:avLst/>
          </a:prstGeom>
          <a:noFill/>
        </p:spPr>
        <p:txBody>
          <a:bodyPr wrap="square">
            <a:spAutoFit/>
          </a:bodyPr>
          <a:lstStyle/>
          <a:p>
            <a:r>
              <a:rPr lang="en-US" sz="1600" dirty="0"/>
              <a:t> </a:t>
            </a:r>
            <a:r>
              <a:rPr lang="en-US" sz="1600" dirty="0" err="1"/>
              <a:t>Tabel</a:t>
            </a:r>
            <a:r>
              <a:rPr lang="en-US" sz="1600" dirty="0"/>
              <a:t> 1.1  Data </a:t>
            </a:r>
            <a:r>
              <a:rPr lang="en-US" sz="1600" err="1"/>
              <a:t>Pengukuran</a:t>
            </a:r>
            <a:r>
              <a:rPr lang="en-US" sz="1600"/>
              <a:t> Dioda Silikon (Si) Arah </a:t>
            </a:r>
            <a:r>
              <a:rPr lang="en-US" sz="1600" dirty="0" err="1"/>
              <a:t>Maju</a:t>
            </a:r>
            <a:r>
              <a:rPr lang="en-US" sz="1600" dirty="0"/>
              <a:t>.</a:t>
            </a:r>
          </a:p>
        </p:txBody>
      </p:sp>
      <p:graphicFrame>
        <p:nvGraphicFramePr>
          <p:cNvPr id="4" name="Table 3">
            <a:extLst>
              <a:ext uri="{FF2B5EF4-FFF2-40B4-BE49-F238E27FC236}">
                <a16:creationId xmlns:a16="http://schemas.microsoft.com/office/drawing/2014/main" id="{9799DAAD-17F5-2B06-91E1-7761516263AB}"/>
              </a:ext>
            </a:extLst>
          </p:cNvPr>
          <p:cNvGraphicFramePr>
            <a:graphicFrameLocks noGrp="1"/>
          </p:cNvGraphicFramePr>
          <p:nvPr>
            <p:extLst>
              <p:ext uri="{D42A27DB-BD31-4B8C-83A1-F6EECF244321}">
                <p14:modId xmlns:p14="http://schemas.microsoft.com/office/powerpoint/2010/main" val="3667265758"/>
              </p:ext>
            </p:extLst>
          </p:nvPr>
        </p:nvGraphicFramePr>
        <p:xfrm>
          <a:off x="633509" y="4975989"/>
          <a:ext cx="6705600" cy="9144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426307425"/>
                    </a:ext>
                  </a:extLst>
                </a:gridCol>
                <a:gridCol w="609600">
                  <a:extLst>
                    <a:ext uri="{9D8B030D-6E8A-4147-A177-3AD203B41FA5}">
                      <a16:colId xmlns:a16="http://schemas.microsoft.com/office/drawing/2014/main" val="2706382708"/>
                    </a:ext>
                  </a:extLst>
                </a:gridCol>
                <a:gridCol w="609600">
                  <a:extLst>
                    <a:ext uri="{9D8B030D-6E8A-4147-A177-3AD203B41FA5}">
                      <a16:colId xmlns:a16="http://schemas.microsoft.com/office/drawing/2014/main" val="1020282341"/>
                    </a:ext>
                  </a:extLst>
                </a:gridCol>
                <a:gridCol w="609600">
                  <a:extLst>
                    <a:ext uri="{9D8B030D-6E8A-4147-A177-3AD203B41FA5}">
                      <a16:colId xmlns:a16="http://schemas.microsoft.com/office/drawing/2014/main" val="664752446"/>
                    </a:ext>
                  </a:extLst>
                </a:gridCol>
                <a:gridCol w="609600">
                  <a:extLst>
                    <a:ext uri="{9D8B030D-6E8A-4147-A177-3AD203B41FA5}">
                      <a16:colId xmlns:a16="http://schemas.microsoft.com/office/drawing/2014/main" val="2715350408"/>
                    </a:ext>
                  </a:extLst>
                </a:gridCol>
                <a:gridCol w="609600">
                  <a:extLst>
                    <a:ext uri="{9D8B030D-6E8A-4147-A177-3AD203B41FA5}">
                      <a16:colId xmlns:a16="http://schemas.microsoft.com/office/drawing/2014/main" val="633381375"/>
                    </a:ext>
                  </a:extLst>
                </a:gridCol>
                <a:gridCol w="609600">
                  <a:extLst>
                    <a:ext uri="{9D8B030D-6E8A-4147-A177-3AD203B41FA5}">
                      <a16:colId xmlns:a16="http://schemas.microsoft.com/office/drawing/2014/main" val="1016075583"/>
                    </a:ext>
                  </a:extLst>
                </a:gridCol>
                <a:gridCol w="609600">
                  <a:extLst>
                    <a:ext uri="{9D8B030D-6E8A-4147-A177-3AD203B41FA5}">
                      <a16:colId xmlns:a16="http://schemas.microsoft.com/office/drawing/2014/main" val="3290392148"/>
                    </a:ext>
                  </a:extLst>
                </a:gridCol>
                <a:gridCol w="609600">
                  <a:extLst>
                    <a:ext uri="{9D8B030D-6E8A-4147-A177-3AD203B41FA5}">
                      <a16:colId xmlns:a16="http://schemas.microsoft.com/office/drawing/2014/main" val="3080513053"/>
                    </a:ext>
                  </a:extLst>
                </a:gridCol>
                <a:gridCol w="609600">
                  <a:extLst>
                    <a:ext uri="{9D8B030D-6E8A-4147-A177-3AD203B41FA5}">
                      <a16:colId xmlns:a16="http://schemas.microsoft.com/office/drawing/2014/main" val="2102021027"/>
                    </a:ext>
                  </a:extLst>
                </a:gridCol>
                <a:gridCol w="609600">
                  <a:extLst>
                    <a:ext uri="{9D8B030D-6E8A-4147-A177-3AD203B41FA5}">
                      <a16:colId xmlns:a16="http://schemas.microsoft.com/office/drawing/2014/main" val="1145716458"/>
                    </a:ext>
                  </a:extLst>
                </a:gridCol>
              </a:tblGrid>
              <a:tr h="182880">
                <a:tc>
                  <a:txBody>
                    <a:bodyPr/>
                    <a:lstStyle/>
                    <a:p>
                      <a:pPr algn="l" fontAlgn="b"/>
                      <a:r>
                        <a:rPr lang="en-ID" sz="1100" u="none" strike="noStrike">
                          <a:effectLst/>
                        </a:rPr>
                        <a:t>Vs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05401599"/>
                  </a:ext>
                </a:extLst>
              </a:tr>
              <a:tr h="182880">
                <a:tc>
                  <a:txBody>
                    <a:bodyPr/>
                    <a:lstStyle/>
                    <a:p>
                      <a:pPr algn="l" fontAlgn="b"/>
                      <a:r>
                        <a:rPr lang="en-ID" sz="1100" u="none" strike="noStrike">
                          <a:effectLst/>
                        </a:rPr>
                        <a:t>Vd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0,1</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0,2</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0,3</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0,4</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0,5</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0,6</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0,65</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0,7</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0,75</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0,8</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94056913"/>
                  </a:ext>
                </a:extLst>
              </a:tr>
              <a:tr h="182880">
                <a:tc>
                  <a:txBody>
                    <a:bodyPr/>
                    <a:lstStyle/>
                    <a:p>
                      <a:pPr algn="l" fontAlgn="b"/>
                      <a:r>
                        <a:rPr lang="en-ID" sz="1100" u="none" strike="noStrike">
                          <a:effectLst/>
                        </a:rPr>
                        <a:t>Id (mA)</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76519069"/>
                  </a:ext>
                </a:extLst>
              </a:tr>
              <a:tr h="182880">
                <a:tc>
                  <a:txBody>
                    <a:bodyPr/>
                    <a:lstStyle/>
                    <a:p>
                      <a:pPr algn="l" fontAlgn="b"/>
                      <a:r>
                        <a:rPr lang="en-ID" sz="1100" u="none" strike="noStrike">
                          <a:effectLst/>
                        </a:rPr>
                        <a:t>VR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91707969"/>
                  </a:ext>
                </a:extLst>
              </a:tr>
              <a:tr h="182880">
                <a:tc>
                  <a:txBody>
                    <a:bodyPr/>
                    <a:lstStyle/>
                    <a:p>
                      <a:pPr algn="l" fontAlgn="b"/>
                      <a:r>
                        <a:rPr lang="en-ID" sz="1100" u="none" strike="noStrike">
                          <a:effectLst/>
                        </a:rPr>
                        <a:t>Rf (Ohm)</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81527195"/>
                  </a:ext>
                </a:extLst>
              </a:tr>
            </a:tbl>
          </a:graphicData>
        </a:graphic>
      </p:graphicFrame>
      <p:sp>
        <p:nvSpPr>
          <p:cNvPr id="2" name="Rectangle 1">
            <a:extLst>
              <a:ext uri="{FF2B5EF4-FFF2-40B4-BE49-F238E27FC236}">
                <a16:creationId xmlns:a16="http://schemas.microsoft.com/office/drawing/2014/main" id="{778EDB3B-5142-F41F-17F1-7632B842F0B0}"/>
              </a:ext>
            </a:extLst>
          </p:cNvPr>
          <p:cNvSpPr/>
          <p:nvPr/>
        </p:nvSpPr>
        <p:spPr>
          <a:xfrm>
            <a:off x="9069661" y="665199"/>
            <a:ext cx="137160"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5">
            <a:extLst>
              <a:ext uri="{FF2B5EF4-FFF2-40B4-BE49-F238E27FC236}">
                <a16:creationId xmlns:a16="http://schemas.microsoft.com/office/drawing/2014/main" id="{DBED1326-FEEB-C0F7-E33E-02779E68A82B}"/>
              </a:ext>
            </a:extLst>
          </p:cNvPr>
          <p:cNvSpPr/>
          <p:nvPr/>
        </p:nvSpPr>
        <p:spPr>
          <a:xfrm rot="16200000">
            <a:off x="10893984" y="1315091"/>
            <a:ext cx="168337"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16">
            <a:extLst>
              <a:ext uri="{FF2B5EF4-FFF2-40B4-BE49-F238E27FC236}">
                <a16:creationId xmlns:a16="http://schemas.microsoft.com/office/drawing/2014/main" id="{60FD7398-5F2A-320E-372F-763E67DEE1A4}"/>
              </a:ext>
            </a:extLst>
          </p:cNvPr>
          <p:cNvSpPr/>
          <p:nvPr/>
        </p:nvSpPr>
        <p:spPr>
          <a:xfrm>
            <a:off x="10413470" y="579071"/>
            <a:ext cx="290462" cy="1308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ECE71852-03D6-7883-87A2-9A1643FB3107}"/>
              </a:ext>
            </a:extLst>
          </p:cNvPr>
          <p:cNvSpPr txBox="1"/>
          <p:nvPr/>
        </p:nvSpPr>
        <p:spPr>
          <a:xfrm>
            <a:off x="7807780" y="5640288"/>
            <a:ext cx="4620640" cy="338554"/>
          </a:xfrm>
          <a:prstGeom prst="rect">
            <a:avLst/>
          </a:prstGeom>
          <a:noFill/>
        </p:spPr>
        <p:txBody>
          <a:bodyPr wrap="square">
            <a:spAutoFit/>
          </a:bodyPr>
          <a:lstStyle/>
          <a:p>
            <a:r>
              <a:rPr lang="en-US" sz="1600"/>
              <a:t>Gambar 4b. Skema Pengukuran </a:t>
            </a:r>
            <a:r>
              <a:rPr lang="en-US" sz="1600" err="1"/>
              <a:t>Dioda</a:t>
            </a:r>
            <a:r>
              <a:rPr lang="en-US" sz="1600"/>
              <a:t> Arah </a:t>
            </a:r>
            <a:r>
              <a:rPr lang="en-US" sz="1600" dirty="0" err="1"/>
              <a:t>Maju</a:t>
            </a:r>
            <a:endParaRPr lang="en-US" sz="1600" dirty="0"/>
          </a:p>
        </p:txBody>
      </p:sp>
      <p:pic>
        <p:nvPicPr>
          <p:cNvPr id="12" name="Picture 11">
            <a:extLst>
              <a:ext uri="{FF2B5EF4-FFF2-40B4-BE49-F238E27FC236}">
                <a16:creationId xmlns:a16="http://schemas.microsoft.com/office/drawing/2014/main" id="{D96580B0-BDC6-24F7-489E-6C7E7D778F9F}"/>
              </a:ext>
            </a:extLst>
          </p:cNvPr>
          <p:cNvPicPr>
            <a:picLocks noChangeAspect="1"/>
          </p:cNvPicPr>
          <p:nvPr/>
        </p:nvPicPr>
        <p:blipFill>
          <a:blip r:embed="rId2"/>
          <a:stretch>
            <a:fillRect/>
          </a:stretch>
        </p:blipFill>
        <p:spPr>
          <a:xfrm>
            <a:off x="7632441" y="3270899"/>
            <a:ext cx="4364557" cy="2324638"/>
          </a:xfrm>
          <a:prstGeom prst="rect">
            <a:avLst/>
          </a:prstGeom>
        </p:spPr>
      </p:pic>
      <p:sp>
        <p:nvSpPr>
          <p:cNvPr id="15" name="TextBox 14">
            <a:extLst>
              <a:ext uri="{FF2B5EF4-FFF2-40B4-BE49-F238E27FC236}">
                <a16:creationId xmlns:a16="http://schemas.microsoft.com/office/drawing/2014/main" id="{974A6860-B6A8-BC0F-3A55-43ED600CD9F9}"/>
              </a:ext>
            </a:extLst>
          </p:cNvPr>
          <p:cNvSpPr txBox="1"/>
          <p:nvPr/>
        </p:nvSpPr>
        <p:spPr>
          <a:xfrm>
            <a:off x="8138038" y="2671481"/>
            <a:ext cx="3297377" cy="338554"/>
          </a:xfrm>
          <a:prstGeom prst="rect">
            <a:avLst/>
          </a:prstGeom>
          <a:noFill/>
        </p:spPr>
        <p:txBody>
          <a:bodyPr wrap="square">
            <a:spAutoFit/>
          </a:bodyPr>
          <a:lstStyle/>
          <a:p>
            <a:r>
              <a:rPr lang="en-US" sz="1600"/>
              <a:t>Gambar 4a. Skema Dioda Arah </a:t>
            </a:r>
            <a:r>
              <a:rPr lang="en-US" sz="1600" dirty="0" err="1"/>
              <a:t>Maju</a:t>
            </a:r>
            <a:endParaRPr lang="en-US" sz="1600" dirty="0"/>
          </a:p>
        </p:txBody>
      </p:sp>
      <p:pic>
        <p:nvPicPr>
          <p:cNvPr id="7" name="Picture 6">
            <a:extLst>
              <a:ext uri="{FF2B5EF4-FFF2-40B4-BE49-F238E27FC236}">
                <a16:creationId xmlns:a16="http://schemas.microsoft.com/office/drawing/2014/main" id="{7255423F-56DC-4552-BF07-470468C848AA}"/>
              </a:ext>
            </a:extLst>
          </p:cNvPr>
          <p:cNvPicPr>
            <a:picLocks noChangeAspect="1"/>
          </p:cNvPicPr>
          <p:nvPr/>
        </p:nvPicPr>
        <p:blipFill>
          <a:blip r:embed="rId3"/>
          <a:stretch>
            <a:fillRect/>
          </a:stretch>
        </p:blipFill>
        <p:spPr>
          <a:xfrm>
            <a:off x="7960323" y="459503"/>
            <a:ext cx="3810000" cy="2217420"/>
          </a:xfrm>
          <a:prstGeom prst="rect">
            <a:avLst/>
          </a:prstGeom>
        </p:spPr>
      </p:pic>
    </p:spTree>
    <p:extLst>
      <p:ext uri="{BB962C8B-B14F-4D97-AF65-F5344CB8AC3E}">
        <p14:creationId xmlns:p14="http://schemas.microsoft.com/office/powerpoint/2010/main" val="231728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C8C83-4DCE-D184-E82C-B2FE9CFD25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31F07D-399D-D9F7-2F06-4AA483BDF6C2}"/>
              </a:ext>
            </a:extLst>
          </p:cNvPr>
          <p:cNvSpPr txBox="1"/>
          <p:nvPr/>
        </p:nvSpPr>
        <p:spPr>
          <a:xfrm>
            <a:off x="413155" y="436752"/>
            <a:ext cx="6743426" cy="3539430"/>
          </a:xfrm>
          <a:prstGeom prst="rect">
            <a:avLst/>
          </a:prstGeom>
          <a:noFill/>
        </p:spPr>
        <p:txBody>
          <a:bodyPr wrap="square">
            <a:spAutoFit/>
          </a:bodyPr>
          <a:lstStyle/>
          <a:p>
            <a:r>
              <a:rPr lang="en-US" sz="1600">
                <a:cs typeface="Times New Roman" panose="02020603050405020304" pitchFamily="18" charset="0"/>
              </a:rPr>
              <a:t>B. </a:t>
            </a:r>
            <a:r>
              <a:rPr lang="en-US" sz="1600"/>
              <a:t>Langkah-Langkah Pengukuran </a:t>
            </a:r>
            <a:r>
              <a:rPr lang="en-US" sz="1600">
                <a:cs typeface="Times New Roman" panose="02020603050405020304" pitchFamily="18" charset="0"/>
              </a:rPr>
              <a:t>Diode </a:t>
            </a:r>
            <a:r>
              <a:rPr lang="en-US" sz="1600" b="1" err="1">
                <a:solidFill>
                  <a:srgbClr val="FF0000"/>
                </a:solidFill>
                <a:cs typeface="Times New Roman" panose="02020603050405020304" pitchFamily="18" charset="0"/>
              </a:rPr>
              <a:t>Silikon</a:t>
            </a:r>
            <a:r>
              <a:rPr lang="en-US" sz="1600" b="1">
                <a:solidFill>
                  <a:srgbClr val="FF0000"/>
                </a:solidFill>
                <a:cs typeface="Times New Roman" panose="02020603050405020304" pitchFamily="18" charset="0"/>
              </a:rPr>
              <a:t> Arah Mundur</a:t>
            </a:r>
            <a:r>
              <a:rPr lang="en-US" sz="1600" b="1">
                <a:solidFill>
                  <a:srgbClr val="FF0000"/>
                </a:solidFill>
              </a:rPr>
              <a:t> (1N4001)</a:t>
            </a:r>
            <a:endParaRPr lang="en-US" sz="1600" b="1">
              <a:solidFill>
                <a:srgbClr val="FF0000"/>
              </a:solidFill>
              <a:cs typeface="Times New Roman" panose="02020603050405020304" pitchFamily="18" charset="0"/>
            </a:endParaRPr>
          </a:p>
          <a:p>
            <a:endParaRPr lang="en-US" sz="1600" b="1" dirty="0">
              <a:solidFill>
                <a:srgbClr val="FF0000"/>
              </a:solidFill>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Susunlah  </a:t>
            </a:r>
            <a:r>
              <a:rPr lang="en-US" sz="1600" dirty="0" err="1">
                <a:cs typeface="Times New Roman" panose="02020603050405020304" pitchFamily="18" charset="0"/>
              </a:rPr>
              <a:t>rangkaian</a:t>
            </a:r>
            <a:r>
              <a:rPr lang="en-US" sz="1600" dirty="0">
                <a:cs typeface="Times New Roman" panose="02020603050405020304" pitchFamily="18" charset="0"/>
              </a:rPr>
              <a:t> </a:t>
            </a:r>
            <a:r>
              <a:rPr lang="en-US" sz="1600" dirty="0" err="1">
                <a:cs typeface="Times New Roman" panose="02020603050405020304" pitchFamily="18" charset="0"/>
              </a:rPr>
              <a:t>percobaan</a:t>
            </a:r>
            <a:r>
              <a:rPr lang="en-US" sz="1600" dirty="0">
                <a:cs typeface="Times New Roman" panose="02020603050405020304" pitchFamily="18" charset="0"/>
              </a:rPr>
              <a:t> </a:t>
            </a:r>
            <a:r>
              <a:rPr lang="en-US" sz="1600" dirty="0" err="1">
                <a:cs typeface="Times New Roman" panose="02020603050405020304" pitchFamily="18" charset="0"/>
              </a:rPr>
              <a:t>seperti</a:t>
            </a:r>
            <a:r>
              <a:rPr lang="en-US" sz="1600" dirty="0">
                <a:cs typeface="Times New Roman" panose="02020603050405020304" pitchFamily="18" charset="0"/>
              </a:rPr>
              <a:t> </a:t>
            </a:r>
            <a:r>
              <a:rPr lang="en-US" sz="1600">
                <a:cs typeface="Times New Roman" panose="02020603050405020304" pitchFamily="18" charset="0"/>
              </a:rPr>
              <a:t>Gambar 5b.</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Atur </a:t>
            </a:r>
            <a:r>
              <a:rPr lang="en-US" sz="1600" dirty="0" err="1">
                <a:cs typeface="Times New Roman" panose="02020603050405020304" pitchFamily="18" charset="0"/>
              </a:rPr>
              <a:t>sumber</a:t>
            </a:r>
            <a:r>
              <a:rPr lang="en-US" sz="1600" dirty="0">
                <a:cs typeface="Times New Roman" panose="02020603050405020304" pitchFamily="18" charset="0"/>
              </a:rPr>
              <a:t> </a:t>
            </a:r>
            <a:r>
              <a:rPr lang="en-US" sz="1600" dirty="0" err="1">
                <a:cs typeface="Times New Roman" panose="02020603050405020304" pitchFamily="18" charset="0"/>
              </a:rPr>
              <a:t>tegangan</a:t>
            </a:r>
            <a:r>
              <a:rPr lang="en-US" sz="1600" dirty="0">
                <a:cs typeface="Times New Roman" panose="02020603050405020304" pitchFamily="18" charset="0"/>
              </a:rPr>
              <a:t> </a:t>
            </a:r>
            <a:r>
              <a:rPr lang="en-US" sz="1600">
                <a:solidFill>
                  <a:srgbClr val="FF0000"/>
                </a:solidFill>
                <a:cs typeface="Times New Roman" panose="02020603050405020304" pitchFamily="18" charset="0"/>
              </a:rPr>
              <a:t>Vs</a:t>
            </a:r>
            <a:r>
              <a:rPr lang="en-US" sz="1600">
                <a:cs typeface="Times New Roman" panose="02020603050405020304" pitchFamily="18" charset="0"/>
              </a:rPr>
              <a:t> = -1 Volt dengan cara </a:t>
            </a:r>
            <a:r>
              <a:rPr lang="en-US" sz="1600">
                <a:solidFill>
                  <a:srgbClr val="FF0000"/>
                </a:solidFill>
                <a:cs typeface="Times New Roman" panose="02020603050405020304" pitchFamily="18" charset="0"/>
              </a:rPr>
              <a:t>membalik sumber tegangan </a:t>
            </a:r>
            <a:r>
              <a:rPr lang="en-US" sz="1600">
                <a:cs typeface="Times New Roman" panose="02020603050405020304" pitchFamily="18" charset="0"/>
              </a:rPr>
              <a:t>(gambar </a:t>
            </a:r>
            <a:r>
              <a:rPr lang="en-US" sz="1600">
                <a:solidFill>
                  <a:srgbClr val="FF0000"/>
                </a:solidFill>
                <a:cs typeface="Times New Roman" panose="02020603050405020304" pitchFamily="18" charset="0"/>
              </a:rPr>
              <a:t>5a dan 5b</a:t>
            </a:r>
            <a:r>
              <a:rPr lang="en-US" sz="1600">
                <a:cs typeface="Times New Roman" panose="02020603050405020304" pitchFamily="18" charset="0"/>
              </a:rPr>
              <a:t>).</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Ukur </a:t>
            </a:r>
            <a:r>
              <a:rPr lang="en-US" sz="1600" err="1">
                <a:cs typeface="Times New Roman" panose="02020603050405020304" pitchFamily="18" charset="0"/>
              </a:rPr>
              <a:t>tegangan</a:t>
            </a:r>
            <a:r>
              <a:rPr lang="en-US" sz="1600">
                <a:cs typeface="Times New Roman" panose="02020603050405020304" pitchFamily="18" charset="0"/>
              </a:rPr>
              <a:t> </a:t>
            </a:r>
            <a:r>
              <a:rPr lang="en-US" sz="1600">
                <a:solidFill>
                  <a:srgbClr val="FF0000"/>
                </a:solidFill>
                <a:cs typeface="Times New Roman" panose="02020603050405020304" pitchFamily="18" charset="0"/>
              </a:rPr>
              <a:t>Vd, Id, dan VR</a:t>
            </a:r>
            <a:r>
              <a:rPr lang="en-US" sz="1600">
                <a:cs typeface="Times New Roman" panose="02020603050405020304" pitchFamily="18" charset="0"/>
              </a:rPr>
              <a:t>. Catat </a:t>
            </a:r>
            <a:r>
              <a:rPr lang="en-US" sz="1600" dirty="0" err="1">
                <a:cs typeface="Times New Roman" panose="02020603050405020304" pitchFamily="18" charset="0"/>
              </a:rPr>
              <a:t>hasilnya</a:t>
            </a:r>
            <a:r>
              <a:rPr lang="en-US" sz="1600" dirty="0">
                <a:cs typeface="Times New Roman" panose="02020603050405020304" pitchFamily="18" charset="0"/>
              </a:rPr>
              <a:t> pada </a:t>
            </a:r>
            <a:r>
              <a:rPr lang="en-US" sz="1600">
                <a:cs typeface="Times New Roman" panose="02020603050405020304" pitchFamily="18" charset="0"/>
              </a:rPr>
              <a:t>Table 1.2.</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Ulangi </a:t>
            </a:r>
            <a:r>
              <a:rPr lang="en-US" sz="1600" err="1">
                <a:cs typeface="Times New Roman" panose="02020603050405020304" pitchFamily="18" charset="0"/>
              </a:rPr>
              <a:t>langkah</a:t>
            </a:r>
            <a:r>
              <a:rPr lang="en-US" sz="1600">
                <a:cs typeface="Times New Roman" panose="02020603050405020304" pitchFamily="18" charset="0"/>
              </a:rPr>
              <a:t> 2 dan 3 </a:t>
            </a:r>
            <a:r>
              <a:rPr lang="en-US" sz="1600" err="1">
                <a:cs typeface="Times New Roman" panose="02020603050405020304" pitchFamily="18" charset="0"/>
              </a:rPr>
              <a:t>untuk</a:t>
            </a:r>
            <a:r>
              <a:rPr lang="en-US" sz="1600">
                <a:cs typeface="Times New Roman" panose="02020603050405020304" pitchFamily="18" charset="0"/>
              </a:rPr>
              <a:t> setiap nilai </a:t>
            </a:r>
            <a:r>
              <a:rPr lang="en-US" sz="1600">
                <a:solidFill>
                  <a:srgbClr val="FF0000"/>
                </a:solidFill>
                <a:cs typeface="Times New Roman" panose="02020603050405020304" pitchFamily="18" charset="0"/>
              </a:rPr>
              <a:t>Vs </a:t>
            </a:r>
            <a:r>
              <a:rPr lang="en-US" sz="1600">
                <a:cs typeface="Times New Roman" panose="02020603050405020304" pitchFamily="18" charset="0"/>
              </a:rPr>
              <a:t>sesuai Tabel </a:t>
            </a:r>
            <a:r>
              <a:rPr lang="en-US" sz="1600" dirty="0">
                <a:cs typeface="Times New Roman" panose="02020603050405020304" pitchFamily="18" charset="0"/>
              </a:rPr>
              <a:t>1.2.</a:t>
            </a:r>
          </a:p>
          <a:p>
            <a:pPr marL="342900" indent="-342900">
              <a:buFont typeface="+mj-lt"/>
              <a:buAutoNum type="arabicPeriod"/>
            </a:pPr>
            <a:r>
              <a:rPr lang="en-US" sz="1600">
                <a:cs typeface="Times New Roman" panose="02020603050405020304" pitchFamily="18" charset="0"/>
              </a:rPr>
              <a:t>Hitung </a:t>
            </a:r>
            <a:r>
              <a:rPr lang="en-US" sz="1600" err="1">
                <a:cs typeface="Times New Roman" panose="02020603050405020304" pitchFamily="18" charset="0"/>
              </a:rPr>
              <a:t>nilai</a:t>
            </a:r>
            <a:r>
              <a:rPr lang="en-US" sz="1600">
                <a:cs typeface="Times New Roman" panose="02020603050405020304" pitchFamily="18" charset="0"/>
              </a:rPr>
              <a:t> Rr </a:t>
            </a:r>
            <a:r>
              <a:rPr lang="en-US" sz="1600"/>
              <a:t>(R diode reverse) </a:t>
            </a:r>
            <a:r>
              <a:rPr lang="en-US" sz="1600">
                <a:cs typeface="Times New Roman" panose="02020603050405020304" pitchFamily="18" charset="0"/>
              </a:rPr>
              <a:t>untuk </a:t>
            </a:r>
            <a:r>
              <a:rPr lang="en-US" sz="1600" dirty="0" err="1">
                <a:cs typeface="Times New Roman" panose="02020603050405020304" pitchFamily="18" charset="0"/>
              </a:rPr>
              <a:t>setiap</a:t>
            </a:r>
            <a:r>
              <a:rPr lang="en-US" sz="1600" dirty="0">
                <a:cs typeface="Times New Roman" panose="02020603050405020304" pitchFamily="18" charset="0"/>
              </a:rPr>
              <a:t> </a:t>
            </a:r>
            <a:r>
              <a:rPr lang="en-US" sz="1600" err="1">
                <a:cs typeface="Times New Roman" panose="02020603050405020304" pitchFamily="18" charset="0"/>
              </a:rPr>
              <a:t>nilai</a:t>
            </a:r>
            <a:r>
              <a:rPr lang="en-US" sz="1600">
                <a:cs typeface="Times New Roman" panose="02020603050405020304" pitchFamily="18" charset="0"/>
              </a:rPr>
              <a:t> Vd dan Id. </a:t>
            </a:r>
            <a:r>
              <a:rPr lang="en-US" sz="1600" dirty="0" err="1">
                <a:cs typeface="Times New Roman" panose="02020603050405020304" pitchFamily="18" charset="0"/>
              </a:rPr>
              <a:t>Catat</a:t>
            </a:r>
            <a:r>
              <a:rPr lang="en-US" sz="1600" dirty="0">
                <a:cs typeface="Times New Roman" panose="02020603050405020304" pitchFamily="18" charset="0"/>
              </a:rPr>
              <a:t> </a:t>
            </a:r>
            <a:r>
              <a:rPr lang="en-US" sz="1600" dirty="0" err="1">
                <a:cs typeface="Times New Roman" panose="02020603050405020304" pitchFamily="18" charset="0"/>
              </a:rPr>
              <a:t>hasil</a:t>
            </a:r>
            <a:r>
              <a:rPr lang="en-US" sz="1600" dirty="0">
                <a:cs typeface="Times New Roman" panose="02020603050405020304" pitchFamily="18" charset="0"/>
              </a:rPr>
              <a:t> pada Table 1.2.</a:t>
            </a:r>
          </a:p>
          <a:p>
            <a:pPr marL="342900" indent="-342900">
              <a:buFont typeface="+mj-lt"/>
              <a:buAutoNum type="arabicPeriod"/>
            </a:pPr>
            <a:r>
              <a:rPr lang="en-US" sz="1600"/>
              <a:t>Naikkan temperature diode dengan cara memegang diode (tanpa menyentuh kaki-kaki diodanya) dengan jari-tangan</a:t>
            </a:r>
            <a:r>
              <a:rPr lang="en-US" sz="1600">
                <a:cs typeface="Times New Roman" panose="02020603050405020304" pitchFamily="18" charset="0"/>
              </a:rPr>
              <a:t>.</a:t>
            </a:r>
            <a:r>
              <a:rPr lang="en-US" sz="1600"/>
              <a:t> Perhatikan apa yang terjadi dengan arus/tegangan (Id dan Vd) </a:t>
            </a:r>
            <a:r>
              <a:rPr lang="en-US" sz="1600">
                <a:solidFill>
                  <a:srgbClr val="FF0000"/>
                </a:solidFill>
              </a:rPr>
              <a:t>(hanya untuk percobaan riil)</a:t>
            </a:r>
            <a:r>
              <a:rPr lang="en-US" sz="1600"/>
              <a:t>.</a:t>
            </a:r>
            <a:endParaRPr lang="en-US" sz="160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Gambarkan </a:t>
            </a:r>
            <a:r>
              <a:rPr lang="en-US" sz="1600" dirty="0" err="1">
                <a:cs typeface="Times New Roman" panose="02020603050405020304" pitchFamily="18" charset="0"/>
              </a:rPr>
              <a:t>grafik</a:t>
            </a:r>
            <a:r>
              <a:rPr lang="en-US" sz="1600" dirty="0">
                <a:cs typeface="Times New Roman" panose="02020603050405020304" pitchFamily="18" charset="0"/>
              </a:rPr>
              <a:t> </a:t>
            </a:r>
            <a:r>
              <a:rPr lang="en-US" sz="1600" dirty="0" err="1">
                <a:cs typeface="Times New Roman" panose="02020603050405020304" pitchFamily="18" charset="0"/>
              </a:rPr>
              <a:t>kurva</a:t>
            </a:r>
            <a:r>
              <a:rPr lang="en-US" sz="1600" dirty="0">
                <a:cs typeface="Times New Roman" panose="02020603050405020304" pitchFamily="18" charset="0"/>
              </a:rPr>
              <a:t> </a:t>
            </a:r>
            <a:r>
              <a:rPr lang="en-US" sz="1600" dirty="0" err="1">
                <a:cs typeface="Times New Roman" panose="02020603050405020304" pitchFamily="18" charset="0"/>
              </a:rPr>
              <a:t>karakteristik</a:t>
            </a:r>
            <a:r>
              <a:rPr lang="en-US" sz="1600" dirty="0">
                <a:cs typeface="Times New Roman" panose="02020603050405020304" pitchFamily="18" charset="0"/>
              </a:rPr>
              <a:t> diode </a:t>
            </a:r>
            <a:r>
              <a:rPr lang="en-US" sz="1600" dirty="0" err="1">
                <a:cs typeface="Times New Roman" panose="02020603050405020304" pitchFamily="18" charset="0"/>
              </a:rPr>
              <a:t>arah</a:t>
            </a:r>
            <a:r>
              <a:rPr lang="en-US" sz="1600" dirty="0">
                <a:cs typeface="Times New Roman" panose="02020603050405020304" pitchFamily="18" charset="0"/>
              </a:rPr>
              <a:t> </a:t>
            </a:r>
            <a:r>
              <a:rPr lang="en-US" sz="1600" dirty="0" err="1">
                <a:cs typeface="Times New Roman" panose="02020603050405020304" pitchFamily="18" charset="0"/>
              </a:rPr>
              <a:t>mundur</a:t>
            </a:r>
            <a:r>
              <a:rPr lang="en-US" sz="1600" dirty="0">
                <a:cs typeface="Times New Roman" panose="02020603050405020304" pitchFamily="18" charset="0"/>
              </a:rPr>
              <a:t> </a:t>
            </a:r>
            <a:r>
              <a:rPr lang="en-US" sz="1600" err="1">
                <a:cs typeface="Times New Roman" panose="02020603050405020304" pitchFamily="18" charset="0"/>
              </a:rPr>
              <a:t>antara</a:t>
            </a:r>
            <a:r>
              <a:rPr lang="en-US" sz="1600">
                <a:cs typeface="Times New Roman" panose="02020603050405020304" pitchFamily="18" charset="0"/>
              </a:rPr>
              <a:t> Id vs Vd </a:t>
            </a:r>
            <a:r>
              <a:rPr lang="en-US" sz="1600" dirty="0" err="1">
                <a:cs typeface="Times New Roman" panose="02020603050405020304" pitchFamily="18" charset="0"/>
              </a:rPr>
              <a:t>dari</a:t>
            </a:r>
            <a:r>
              <a:rPr lang="en-US" sz="1600" dirty="0">
                <a:cs typeface="Times New Roman" panose="02020603050405020304" pitchFamily="18" charset="0"/>
              </a:rPr>
              <a:t> data </a:t>
            </a:r>
            <a:r>
              <a:rPr lang="en-US" sz="1600" dirty="0" err="1">
                <a:cs typeface="Times New Roman" panose="02020603050405020304" pitchFamily="18" charset="0"/>
              </a:rPr>
              <a:t>Tabel</a:t>
            </a:r>
            <a:r>
              <a:rPr lang="en-US" sz="1600" dirty="0">
                <a:cs typeface="Times New Roman" panose="02020603050405020304" pitchFamily="18" charset="0"/>
              </a:rPr>
              <a:t> 1.2.</a:t>
            </a:r>
          </a:p>
        </p:txBody>
      </p:sp>
      <p:sp>
        <p:nvSpPr>
          <p:cNvPr id="8" name="TextBox 7">
            <a:extLst>
              <a:ext uri="{FF2B5EF4-FFF2-40B4-BE49-F238E27FC236}">
                <a16:creationId xmlns:a16="http://schemas.microsoft.com/office/drawing/2014/main" id="{06A1EABE-09DF-4F4C-8864-033B155CE0C8}"/>
              </a:ext>
            </a:extLst>
          </p:cNvPr>
          <p:cNvSpPr txBox="1"/>
          <p:nvPr/>
        </p:nvSpPr>
        <p:spPr>
          <a:xfrm>
            <a:off x="737261" y="5259337"/>
            <a:ext cx="6161894" cy="338554"/>
          </a:xfrm>
          <a:prstGeom prst="rect">
            <a:avLst/>
          </a:prstGeom>
          <a:noFill/>
        </p:spPr>
        <p:txBody>
          <a:bodyPr wrap="square">
            <a:spAutoFit/>
          </a:bodyPr>
          <a:lstStyle/>
          <a:p>
            <a:r>
              <a:rPr lang="en-US" sz="1600" dirty="0" err="1"/>
              <a:t>Tabel</a:t>
            </a:r>
            <a:r>
              <a:rPr lang="en-US" sz="1600" dirty="0"/>
              <a:t> 1.2  Data </a:t>
            </a:r>
            <a:r>
              <a:rPr lang="en-US" sz="1600" err="1"/>
              <a:t>Pengukuran</a:t>
            </a:r>
            <a:r>
              <a:rPr lang="en-US" sz="1600"/>
              <a:t> Dioda Silikon (Si) </a:t>
            </a:r>
            <a:r>
              <a:rPr lang="en-US" sz="1600" dirty="0" err="1"/>
              <a:t>Arah</a:t>
            </a:r>
            <a:r>
              <a:rPr lang="en-US" sz="1600" dirty="0"/>
              <a:t> </a:t>
            </a:r>
            <a:r>
              <a:rPr lang="en-US" sz="1600" dirty="0" err="1"/>
              <a:t>Mundur</a:t>
            </a:r>
            <a:endParaRPr lang="en-US" sz="1600" dirty="0"/>
          </a:p>
        </p:txBody>
      </p:sp>
      <p:graphicFrame>
        <p:nvGraphicFramePr>
          <p:cNvPr id="4" name="Table 3">
            <a:extLst>
              <a:ext uri="{FF2B5EF4-FFF2-40B4-BE49-F238E27FC236}">
                <a16:creationId xmlns:a16="http://schemas.microsoft.com/office/drawing/2014/main" id="{9B3E8C30-C6F1-5C94-EFFC-C75C220C7F12}"/>
              </a:ext>
            </a:extLst>
          </p:cNvPr>
          <p:cNvGraphicFramePr>
            <a:graphicFrameLocks noGrp="1"/>
          </p:cNvGraphicFramePr>
          <p:nvPr>
            <p:extLst>
              <p:ext uri="{D42A27DB-BD31-4B8C-83A1-F6EECF244321}">
                <p14:modId xmlns:p14="http://schemas.microsoft.com/office/powerpoint/2010/main" val="4063114989"/>
              </p:ext>
            </p:extLst>
          </p:nvPr>
        </p:nvGraphicFramePr>
        <p:xfrm>
          <a:off x="737261" y="5690249"/>
          <a:ext cx="10515600" cy="876300"/>
        </p:xfrm>
        <a:graphic>
          <a:graphicData uri="http://schemas.openxmlformats.org/drawingml/2006/table">
            <a:tbl>
              <a:tblPr>
                <a:tableStyleId>{5C22544A-7EE6-4342-B048-85BDC9FD1C3A}</a:tableStyleId>
              </a:tblPr>
              <a:tblGrid>
                <a:gridCol w="584200">
                  <a:extLst>
                    <a:ext uri="{9D8B030D-6E8A-4147-A177-3AD203B41FA5}">
                      <a16:colId xmlns:a16="http://schemas.microsoft.com/office/drawing/2014/main" val="3920079228"/>
                    </a:ext>
                  </a:extLst>
                </a:gridCol>
                <a:gridCol w="584200">
                  <a:extLst>
                    <a:ext uri="{9D8B030D-6E8A-4147-A177-3AD203B41FA5}">
                      <a16:colId xmlns:a16="http://schemas.microsoft.com/office/drawing/2014/main" val="4211160940"/>
                    </a:ext>
                  </a:extLst>
                </a:gridCol>
                <a:gridCol w="584200">
                  <a:extLst>
                    <a:ext uri="{9D8B030D-6E8A-4147-A177-3AD203B41FA5}">
                      <a16:colId xmlns:a16="http://schemas.microsoft.com/office/drawing/2014/main" val="1736691237"/>
                    </a:ext>
                  </a:extLst>
                </a:gridCol>
                <a:gridCol w="584200">
                  <a:extLst>
                    <a:ext uri="{9D8B030D-6E8A-4147-A177-3AD203B41FA5}">
                      <a16:colId xmlns:a16="http://schemas.microsoft.com/office/drawing/2014/main" val="1647426791"/>
                    </a:ext>
                  </a:extLst>
                </a:gridCol>
                <a:gridCol w="584200">
                  <a:extLst>
                    <a:ext uri="{9D8B030D-6E8A-4147-A177-3AD203B41FA5}">
                      <a16:colId xmlns:a16="http://schemas.microsoft.com/office/drawing/2014/main" val="2606758996"/>
                    </a:ext>
                  </a:extLst>
                </a:gridCol>
                <a:gridCol w="584200">
                  <a:extLst>
                    <a:ext uri="{9D8B030D-6E8A-4147-A177-3AD203B41FA5}">
                      <a16:colId xmlns:a16="http://schemas.microsoft.com/office/drawing/2014/main" val="3804540537"/>
                    </a:ext>
                  </a:extLst>
                </a:gridCol>
                <a:gridCol w="584200">
                  <a:extLst>
                    <a:ext uri="{9D8B030D-6E8A-4147-A177-3AD203B41FA5}">
                      <a16:colId xmlns:a16="http://schemas.microsoft.com/office/drawing/2014/main" val="376942852"/>
                    </a:ext>
                  </a:extLst>
                </a:gridCol>
                <a:gridCol w="584200">
                  <a:extLst>
                    <a:ext uri="{9D8B030D-6E8A-4147-A177-3AD203B41FA5}">
                      <a16:colId xmlns:a16="http://schemas.microsoft.com/office/drawing/2014/main" val="881091434"/>
                    </a:ext>
                  </a:extLst>
                </a:gridCol>
                <a:gridCol w="584200">
                  <a:extLst>
                    <a:ext uri="{9D8B030D-6E8A-4147-A177-3AD203B41FA5}">
                      <a16:colId xmlns:a16="http://schemas.microsoft.com/office/drawing/2014/main" val="1987624915"/>
                    </a:ext>
                  </a:extLst>
                </a:gridCol>
                <a:gridCol w="584200">
                  <a:extLst>
                    <a:ext uri="{9D8B030D-6E8A-4147-A177-3AD203B41FA5}">
                      <a16:colId xmlns:a16="http://schemas.microsoft.com/office/drawing/2014/main" val="1346456811"/>
                    </a:ext>
                  </a:extLst>
                </a:gridCol>
                <a:gridCol w="584200">
                  <a:extLst>
                    <a:ext uri="{9D8B030D-6E8A-4147-A177-3AD203B41FA5}">
                      <a16:colId xmlns:a16="http://schemas.microsoft.com/office/drawing/2014/main" val="2045957802"/>
                    </a:ext>
                  </a:extLst>
                </a:gridCol>
                <a:gridCol w="584200">
                  <a:extLst>
                    <a:ext uri="{9D8B030D-6E8A-4147-A177-3AD203B41FA5}">
                      <a16:colId xmlns:a16="http://schemas.microsoft.com/office/drawing/2014/main" val="3729842275"/>
                    </a:ext>
                  </a:extLst>
                </a:gridCol>
                <a:gridCol w="584200">
                  <a:extLst>
                    <a:ext uri="{9D8B030D-6E8A-4147-A177-3AD203B41FA5}">
                      <a16:colId xmlns:a16="http://schemas.microsoft.com/office/drawing/2014/main" val="225852726"/>
                    </a:ext>
                  </a:extLst>
                </a:gridCol>
                <a:gridCol w="584200">
                  <a:extLst>
                    <a:ext uri="{9D8B030D-6E8A-4147-A177-3AD203B41FA5}">
                      <a16:colId xmlns:a16="http://schemas.microsoft.com/office/drawing/2014/main" val="3636681953"/>
                    </a:ext>
                  </a:extLst>
                </a:gridCol>
                <a:gridCol w="584200">
                  <a:extLst>
                    <a:ext uri="{9D8B030D-6E8A-4147-A177-3AD203B41FA5}">
                      <a16:colId xmlns:a16="http://schemas.microsoft.com/office/drawing/2014/main" val="3959963927"/>
                    </a:ext>
                  </a:extLst>
                </a:gridCol>
                <a:gridCol w="584200">
                  <a:extLst>
                    <a:ext uri="{9D8B030D-6E8A-4147-A177-3AD203B41FA5}">
                      <a16:colId xmlns:a16="http://schemas.microsoft.com/office/drawing/2014/main" val="2137362701"/>
                    </a:ext>
                  </a:extLst>
                </a:gridCol>
                <a:gridCol w="584200">
                  <a:extLst>
                    <a:ext uri="{9D8B030D-6E8A-4147-A177-3AD203B41FA5}">
                      <a16:colId xmlns:a16="http://schemas.microsoft.com/office/drawing/2014/main" val="1803921821"/>
                    </a:ext>
                  </a:extLst>
                </a:gridCol>
                <a:gridCol w="584200">
                  <a:extLst>
                    <a:ext uri="{9D8B030D-6E8A-4147-A177-3AD203B41FA5}">
                      <a16:colId xmlns:a16="http://schemas.microsoft.com/office/drawing/2014/main" val="4063396980"/>
                    </a:ext>
                  </a:extLst>
                </a:gridCol>
              </a:tblGrid>
              <a:tr h="175260">
                <a:tc>
                  <a:txBody>
                    <a:bodyPr/>
                    <a:lstStyle/>
                    <a:p>
                      <a:pPr algn="l" fontAlgn="b"/>
                      <a:r>
                        <a:rPr lang="en-ID" sz="1100" u="none" strike="noStrike">
                          <a:effectLst/>
                        </a:rPr>
                        <a:t>Vs (V)</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-1</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-2</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-3</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-4</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-5</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-6</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-7</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-8</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-9</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-10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-20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-30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-40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-50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-60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-70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-80</a:t>
                      </a:r>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741747230"/>
                  </a:ext>
                </a:extLst>
              </a:tr>
              <a:tr h="175260">
                <a:tc>
                  <a:txBody>
                    <a:bodyPr/>
                    <a:lstStyle/>
                    <a:p>
                      <a:pPr algn="l" fontAlgn="b"/>
                      <a:r>
                        <a:rPr lang="en-ID" sz="1100" u="none" strike="noStrike">
                          <a:effectLst/>
                        </a:rPr>
                        <a:t>Vd (V)</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1530981735"/>
                  </a:ext>
                </a:extLst>
              </a:tr>
              <a:tr h="175260">
                <a:tc>
                  <a:txBody>
                    <a:bodyPr/>
                    <a:lstStyle/>
                    <a:p>
                      <a:pPr algn="l" fontAlgn="b"/>
                      <a:r>
                        <a:rPr lang="en-ID" sz="1100" u="none" strike="noStrike">
                          <a:effectLst/>
                        </a:rPr>
                        <a:t>Id (mA)</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3870747224"/>
                  </a:ext>
                </a:extLst>
              </a:tr>
              <a:tr h="175260">
                <a:tc>
                  <a:txBody>
                    <a:bodyPr/>
                    <a:lstStyle/>
                    <a:p>
                      <a:pPr algn="l" fontAlgn="b"/>
                      <a:r>
                        <a:rPr lang="en-ID" sz="1100" u="none" strike="noStrike">
                          <a:effectLst/>
                        </a:rPr>
                        <a:t>VR (V)</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1292157792"/>
                  </a:ext>
                </a:extLst>
              </a:tr>
              <a:tr h="175260">
                <a:tc>
                  <a:txBody>
                    <a:bodyPr/>
                    <a:lstStyle/>
                    <a:p>
                      <a:pPr algn="l" fontAlgn="b"/>
                      <a:r>
                        <a:rPr lang="en-ID" sz="1100" u="none" strike="noStrike">
                          <a:effectLst/>
                        </a:rPr>
                        <a:t>Rr (Ohm)</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3908035415"/>
                  </a:ext>
                </a:extLst>
              </a:tr>
            </a:tbl>
          </a:graphicData>
        </a:graphic>
      </p:graphicFrame>
      <p:sp>
        <p:nvSpPr>
          <p:cNvPr id="3" name="Rectangle 2">
            <a:extLst>
              <a:ext uri="{FF2B5EF4-FFF2-40B4-BE49-F238E27FC236}">
                <a16:creationId xmlns:a16="http://schemas.microsoft.com/office/drawing/2014/main" id="{9413CDD1-A7AD-848B-580B-ED5A93E2CCB2}"/>
              </a:ext>
            </a:extLst>
          </p:cNvPr>
          <p:cNvSpPr/>
          <p:nvPr/>
        </p:nvSpPr>
        <p:spPr>
          <a:xfrm>
            <a:off x="9048478" y="321296"/>
            <a:ext cx="163182"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TextBox 28">
            <a:extLst>
              <a:ext uri="{FF2B5EF4-FFF2-40B4-BE49-F238E27FC236}">
                <a16:creationId xmlns:a16="http://schemas.microsoft.com/office/drawing/2014/main" id="{856EDD74-B625-3FF9-4099-2EA99B79A6C1}"/>
              </a:ext>
            </a:extLst>
          </p:cNvPr>
          <p:cNvSpPr txBox="1"/>
          <p:nvPr/>
        </p:nvSpPr>
        <p:spPr>
          <a:xfrm>
            <a:off x="7516775" y="5023802"/>
            <a:ext cx="4515901" cy="338554"/>
          </a:xfrm>
          <a:prstGeom prst="rect">
            <a:avLst/>
          </a:prstGeom>
          <a:noFill/>
        </p:spPr>
        <p:txBody>
          <a:bodyPr wrap="square">
            <a:spAutoFit/>
          </a:bodyPr>
          <a:lstStyle/>
          <a:p>
            <a:r>
              <a:rPr lang="en-US" sz="1600"/>
              <a:t>Gambar 5b. Skema Pengukuran Dioda Arah Mundur</a:t>
            </a:r>
            <a:endParaRPr lang="en-US" sz="1600" dirty="0"/>
          </a:p>
        </p:txBody>
      </p:sp>
      <p:pic>
        <p:nvPicPr>
          <p:cNvPr id="14" name="Picture 13">
            <a:extLst>
              <a:ext uri="{FF2B5EF4-FFF2-40B4-BE49-F238E27FC236}">
                <a16:creationId xmlns:a16="http://schemas.microsoft.com/office/drawing/2014/main" id="{E0CF6467-DB01-6ABF-4477-8D331623F780}"/>
              </a:ext>
            </a:extLst>
          </p:cNvPr>
          <p:cNvPicPr>
            <a:picLocks noChangeAspect="1"/>
          </p:cNvPicPr>
          <p:nvPr/>
        </p:nvPicPr>
        <p:blipFill>
          <a:blip r:embed="rId2"/>
          <a:stretch>
            <a:fillRect/>
          </a:stretch>
        </p:blipFill>
        <p:spPr>
          <a:xfrm>
            <a:off x="7516775" y="2709825"/>
            <a:ext cx="4328173" cy="2324638"/>
          </a:xfrm>
          <a:prstGeom prst="rect">
            <a:avLst/>
          </a:prstGeom>
        </p:spPr>
      </p:pic>
      <p:sp>
        <p:nvSpPr>
          <p:cNvPr id="16" name="TextBox 15">
            <a:extLst>
              <a:ext uri="{FF2B5EF4-FFF2-40B4-BE49-F238E27FC236}">
                <a16:creationId xmlns:a16="http://schemas.microsoft.com/office/drawing/2014/main" id="{E51C9DC1-7E48-F673-BCC8-79BF4B12E0AE}"/>
              </a:ext>
            </a:extLst>
          </p:cNvPr>
          <p:cNvSpPr txBox="1"/>
          <p:nvPr/>
        </p:nvSpPr>
        <p:spPr>
          <a:xfrm>
            <a:off x="7790601" y="2282827"/>
            <a:ext cx="3462260" cy="338554"/>
          </a:xfrm>
          <a:prstGeom prst="rect">
            <a:avLst/>
          </a:prstGeom>
          <a:noFill/>
        </p:spPr>
        <p:txBody>
          <a:bodyPr wrap="square">
            <a:spAutoFit/>
          </a:bodyPr>
          <a:lstStyle/>
          <a:p>
            <a:r>
              <a:rPr lang="en-US" sz="1600"/>
              <a:t>Gambar 5a. Skema Dioda Arah Mundur</a:t>
            </a:r>
            <a:endParaRPr lang="en-US" sz="1600" dirty="0"/>
          </a:p>
        </p:txBody>
      </p:sp>
      <p:pic>
        <p:nvPicPr>
          <p:cNvPr id="10" name="Picture 9">
            <a:extLst>
              <a:ext uri="{FF2B5EF4-FFF2-40B4-BE49-F238E27FC236}">
                <a16:creationId xmlns:a16="http://schemas.microsoft.com/office/drawing/2014/main" id="{4DEC8E17-81C7-1C36-E6D2-D7DDE05DC2B5}"/>
              </a:ext>
            </a:extLst>
          </p:cNvPr>
          <p:cNvPicPr>
            <a:picLocks noChangeAspect="1"/>
          </p:cNvPicPr>
          <p:nvPr/>
        </p:nvPicPr>
        <p:blipFill>
          <a:blip r:embed="rId3"/>
          <a:stretch>
            <a:fillRect/>
          </a:stretch>
        </p:blipFill>
        <p:spPr>
          <a:xfrm>
            <a:off x="7648107" y="70849"/>
            <a:ext cx="3878580" cy="2217420"/>
          </a:xfrm>
          <a:prstGeom prst="rect">
            <a:avLst/>
          </a:prstGeom>
        </p:spPr>
      </p:pic>
    </p:spTree>
    <p:extLst>
      <p:ext uri="{BB962C8B-B14F-4D97-AF65-F5344CB8AC3E}">
        <p14:creationId xmlns:p14="http://schemas.microsoft.com/office/powerpoint/2010/main" val="3232006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0320F-F6DA-5E62-877D-8116F6569F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7FBD6C-76EB-4A95-01A1-847D559C2787}"/>
              </a:ext>
            </a:extLst>
          </p:cNvPr>
          <p:cNvSpPr txBox="1"/>
          <p:nvPr/>
        </p:nvSpPr>
        <p:spPr>
          <a:xfrm>
            <a:off x="826995" y="459503"/>
            <a:ext cx="6880092" cy="3293209"/>
          </a:xfrm>
          <a:prstGeom prst="rect">
            <a:avLst/>
          </a:prstGeom>
          <a:noFill/>
        </p:spPr>
        <p:txBody>
          <a:bodyPr wrap="square">
            <a:spAutoFit/>
          </a:bodyPr>
          <a:lstStyle/>
          <a:p>
            <a:r>
              <a:rPr lang="en-US" sz="1600"/>
              <a:t>C. Langkah-Langkah Pengukuran Diode </a:t>
            </a:r>
            <a:r>
              <a:rPr lang="en-US" sz="1600" b="1">
                <a:solidFill>
                  <a:srgbClr val="FF0000"/>
                </a:solidFill>
              </a:rPr>
              <a:t>Germanium Arah Maju (AA119)</a:t>
            </a:r>
          </a:p>
          <a:p>
            <a:endParaRPr lang="en-US" sz="1600" b="1" dirty="0">
              <a:solidFill>
                <a:srgbClr val="FF0000"/>
              </a:solidFill>
            </a:endParaRPr>
          </a:p>
          <a:p>
            <a:r>
              <a:rPr lang="en-US" sz="1600" dirty="0"/>
              <a:t>1.  </a:t>
            </a:r>
            <a:r>
              <a:rPr lang="en-US" sz="1600" dirty="0" err="1"/>
              <a:t>Susunlah</a:t>
            </a:r>
            <a:r>
              <a:rPr lang="en-US" sz="1600" dirty="0"/>
              <a:t> </a:t>
            </a:r>
            <a:r>
              <a:rPr lang="en-US" sz="1600" dirty="0" err="1"/>
              <a:t>rangkaian</a:t>
            </a:r>
            <a:r>
              <a:rPr lang="en-US" sz="1600" dirty="0"/>
              <a:t>  </a:t>
            </a:r>
            <a:r>
              <a:rPr lang="en-US" sz="1600" dirty="0" err="1"/>
              <a:t>percobaan</a:t>
            </a:r>
            <a:r>
              <a:rPr lang="en-US" sz="1600" dirty="0"/>
              <a:t> </a:t>
            </a:r>
            <a:r>
              <a:rPr lang="en-US" sz="1600" dirty="0" err="1"/>
              <a:t>seperti</a:t>
            </a:r>
            <a:r>
              <a:rPr lang="en-US" sz="1600" dirty="0"/>
              <a:t> yang </a:t>
            </a:r>
            <a:r>
              <a:rPr lang="en-US" sz="1600" dirty="0" err="1"/>
              <a:t>ditunjukan</a:t>
            </a:r>
            <a:r>
              <a:rPr lang="en-US" sz="1600" dirty="0"/>
              <a:t> pada </a:t>
            </a:r>
            <a:r>
              <a:rPr lang="en-US" sz="1600"/>
              <a:t>Gambar 6b.</a:t>
            </a:r>
            <a:endParaRPr lang="en-US" sz="1600" dirty="0"/>
          </a:p>
          <a:p>
            <a:r>
              <a:rPr lang="en-US" sz="1600" dirty="0"/>
              <a:t>2.  </a:t>
            </a:r>
            <a:r>
              <a:rPr lang="en-US" sz="1600" dirty="0" err="1"/>
              <a:t>Atur</a:t>
            </a:r>
            <a:r>
              <a:rPr lang="en-US" sz="1600" dirty="0"/>
              <a:t> </a:t>
            </a:r>
            <a:r>
              <a:rPr lang="en-US" sz="1600" dirty="0" err="1"/>
              <a:t>sumber</a:t>
            </a:r>
            <a:r>
              <a:rPr lang="en-US" sz="1600" dirty="0"/>
              <a:t> </a:t>
            </a:r>
            <a:r>
              <a:rPr lang="en-US" sz="1600" dirty="0" err="1"/>
              <a:t>tegangan</a:t>
            </a:r>
            <a:r>
              <a:rPr lang="en-US" sz="1600" dirty="0"/>
              <a:t> </a:t>
            </a:r>
            <a:r>
              <a:rPr lang="en-US" sz="1600"/>
              <a:t>Vs sedemikian sehingga tegangan diode Vd </a:t>
            </a:r>
            <a:r>
              <a:rPr lang="en-US" sz="1600" dirty="0"/>
              <a:t>=  0,1 Volt. </a:t>
            </a:r>
          </a:p>
          <a:p>
            <a:r>
              <a:rPr lang="en-US" sz="1600" dirty="0"/>
              <a:t>3.  </a:t>
            </a:r>
            <a:r>
              <a:rPr lang="en-US" sz="1600" err="1"/>
              <a:t>Ukurlah</a:t>
            </a:r>
            <a:r>
              <a:rPr lang="en-US" sz="1600"/>
              <a:t>  Id, VR dan Vs. Catat </a:t>
            </a:r>
            <a:r>
              <a:rPr lang="en-US" sz="1600" dirty="0" err="1"/>
              <a:t>hasilnya</a:t>
            </a:r>
            <a:r>
              <a:rPr lang="en-US" sz="1600" dirty="0"/>
              <a:t> pada </a:t>
            </a:r>
            <a:r>
              <a:rPr lang="en-US" sz="1600" err="1"/>
              <a:t>Tabel</a:t>
            </a:r>
            <a:r>
              <a:rPr lang="en-US" sz="1600"/>
              <a:t> 1.3.</a:t>
            </a:r>
            <a:endParaRPr lang="en-US" sz="1600" dirty="0"/>
          </a:p>
          <a:p>
            <a:r>
              <a:rPr lang="en-US" sz="1600" dirty="0"/>
              <a:t>4.  </a:t>
            </a:r>
            <a:r>
              <a:rPr lang="en-US" sz="1600" dirty="0" err="1"/>
              <a:t>Ulangi</a:t>
            </a:r>
            <a:r>
              <a:rPr lang="en-US" sz="1600" dirty="0"/>
              <a:t> </a:t>
            </a:r>
            <a:r>
              <a:rPr lang="en-US" sz="1600" dirty="0" err="1"/>
              <a:t>langkah</a:t>
            </a:r>
            <a:r>
              <a:rPr lang="en-US" sz="1600" dirty="0"/>
              <a:t> 2 dan 3 </a:t>
            </a:r>
            <a:r>
              <a:rPr lang="en-US" sz="1600" err="1"/>
              <a:t>untuk</a:t>
            </a:r>
            <a:r>
              <a:rPr lang="en-US" sz="1600"/>
              <a:t> setiap nilai Vd </a:t>
            </a:r>
            <a:r>
              <a:rPr lang="en-US" sz="1600" dirty="0" err="1"/>
              <a:t>seperti</a:t>
            </a:r>
            <a:r>
              <a:rPr lang="en-US" sz="1600" dirty="0"/>
              <a:t> </a:t>
            </a:r>
            <a:r>
              <a:rPr lang="en-US" sz="1600" dirty="0" err="1"/>
              <a:t>tertulis</a:t>
            </a:r>
            <a:r>
              <a:rPr lang="en-US" sz="1600" dirty="0"/>
              <a:t> pada  </a:t>
            </a:r>
            <a:r>
              <a:rPr lang="en-US" sz="1600"/>
              <a:t>Table 1.3. </a:t>
            </a:r>
            <a:endParaRPr lang="en-US" sz="1600" dirty="0"/>
          </a:p>
          <a:p>
            <a:r>
              <a:rPr lang="en-US" sz="1600" dirty="0"/>
              <a:t>5.  </a:t>
            </a:r>
            <a:r>
              <a:rPr lang="en-US" sz="1600" dirty="0" err="1"/>
              <a:t>Hitung</a:t>
            </a:r>
            <a:r>
              <a:rPr lang="en-US" sz="1600" dirty="0"/>
              <a:t> </a:t>
            </a:r>
            <a:r>
              <a:rPr lang="en-US" sz="1600" err="1"/>
              <a:t>nilai</a:t>
            </a:r>
            <a:r>
              <a:rPr lang="en-US" sz="1600"/>
              <a:t>  Rf (R diode forward) untuk </a:t>
            </a:r>
            <a:r>
              <a:rPr lang="en-US" sz="1600" dirty="0" err="1"/>
              <a:t>setiap</a:t>
            </a:r>
            <a:r>
              <a:rPr lang="en-US" sz="1600" dirty="0"/>
              <a:t> </a:t>
            </a:r>
            <a:r>
              <a:rPr lang="en-US" sz="1600" err="1"/>
              <a:t>nilai</a:t>
            </a:r>
            <a:r>
              <a:rPr lang="en-US" sz="1600"/>
              <a:t> Vd dan Id. </a:t>
            </a:r>
            <a:r>
              <a:rPr lang="en-US" sz="1600" dirty="0" err="1"/>
              <a:t>Catat</a:t>
            </a:r>
            <a:r>
              <a:rPr lang="en-US" sz="1600" dirty="0"/>
              <a:t> </a:t>
            </a:r>
            <a:r>
              <a:rPr lang="en-US" sz="1600" dirty="0" err="1"/>
              <a:t>hasilnya</a:t>
            </a:r>
            <a:r>
              <a:rPr lang="en-US" sz="1600" dirty="0"/>
              <a:t> pada </a:t>
            </a:r>
            <a:r>
              <a:rPr lang="en-US" sz="1600" err="1"/>
              <a:t>Tabel</a:t>
            </a:r>
            <a:r>
              <a:rPr lang="en-US" sz="1600"/>
              <a:t> 1.3.</a:t>
            </a:r>
            <a:endParaRPr lang="en-US" sz="1600" dirty="0"/>
          </a:p>
          <a:p>
            <a:r>
              <a:rPr lang="en-US" sz="1600" dirty="0"/>
              <a:t>6.  </a:t>
            </a:r>
            <a:r>
              <a:rPr lang="en-US" sz="1600" dirty="0" err="1"/>
              <a:t>Naikkan</a:t>
            </a:r>
            <a:r>
              <a:rPr lang="en-US" sz="1600" dirty="0"/>
              <a:t> </a:t>
            </a:r>
            <a:r>
              <a:rPr lang="en-US" sz="1600"/>
              <a:t>temperature diode dengan </a:t>
            </a:r>
            <a:r>
              <a:rPr lang="en-US" sz="1600" dirty="0" err="1"/>
              <a:t>cara</a:t>
            </a:r>
            <a:r>
              <a:rPr lang="en-US" sz="1600" dirty="0"/>
              <a:t> </a:t>
            </a:r>
            <a:r>
              <a:rPr lang="en-US" sz="1600" dirty="0" err="1"/>
              <a:t>memegang</a:t>
            </a:r>
            <a:r>
              <a:rPr lang="en-US" sz="1600" dirty="0"/>
              <a:t> diode (</a:t>
            </a:r>
            <a:r>
              <a:rPr lang="en-US" sz="1600" dirty="0" err="1"/>
              <a:t>tanpa</a:t>
            </a:r>
            <a:r>
              <a:rPr lang="en-US" sz="1600" dirty="0"/>
              <a:t> </a:t>
            </a:r>
            <a:r>
              <a:rPr lang="en-US" sz="1600" dirty="0" err="1"/>
              <a:t>menyentuh</a:t>
            </a:r>
            <a:r>
              <a:rPr lang="en-US" sz="1600" dirty="0"/>
              <a:t> kaki-kaki </a:t>
            </a:r>
            <a:r>
              <a:rPr lang="en-US" sz="1600" dirty="0" err="1"/>
              <a:t>diodanya</a:t>
            </a:r>
            <a:r>
              <a:rPr lang="en-US" sz="1600"/>
              <a:t>) dengan </a:t>
            </a:r>
            <a:r>
              <a:rPr lang="en-US" sz="1600" dirty="0" err="1"/>
              <a:t>jari-tangan</a:t>
            </a:r>
            <a:r>
              <a:rPr lang="en-US" sz="1600" dirty="0"/>
              <a:t>. </a:t>
            </a:r>
            <a:r>
              <a:rPr lang="en-US" sz="1600" dirty="0" err="1"/>
              <a:t>Perhatikan</a:t>
            </a:r>
            <a:r>
              <a:rPr lang="en-US" sz="1600" dirty="0"/>
              <a:t> </a:t>
            </a:r>
            <a:r>
              <a:rPr lang="en-US" sz="1600" dirty="0" err="1"/>
              <a:t>apa</a:t>
            </a:r>
            <a:r>
              <a:rPr lang="en-US" sz="1600" dirty="0"/>
              <a:t> yang </a:t>
            </a:r>
            <a:r>
              <a:rPr lang="en-US" sz="1600" dirty="0" err="1"/>
              <a:t>terjadi</a:t>
            </a:r>
            <a:r>
              <a:rPr lang="en-US" sz="1600" dirty="0"/>
              <a:t> </a:t>
            </a:r>
            <a:r>
              <a:rPr lang="en-US" sz="1600" err="1"/>
              <a:t>dengan</a:t>
            </a:r>
            <a:r>
              <a:rPr lang="en-US" sz="1600"/>
              <a:t> arus/</a:t>
            </a:r>
            <a:r>
              <a:rPr lang="en-US" sz="1600" dirty="0" err="1"/>
              <a:t>tegangan</a:t>
            </a:r>
            <a:r>
              <a:rPr lang="en-US" sz="1600" dirty="0"/>
              <a:t> </a:t>
            </a:r>
            <a:r>
              <a:rPr lang="en-US" sz="1600"/>
              <a:t>(Id dan Vd) </a:t>
            </a:r>
            <a:r>
              <a:rPr lang="en-US" sz="1600">
                <a:solidFill>
                  <a:srgbClr val="FF0000"/>
                </a:solidFill>
              </a:rPr>
              <a:t>(hanya untuk percobaan riil)</a:t>
            </a:r>
            <a:r>
              <a:rPr lang="en-US" sz="1600"/>
              <a:t>.</a:t>
            </a:r>
            <a:endParaRPr lang="en-US" sz="1600" dirty="0"/>
          </a:p>
          <a:p>
            <a:r>
              <a:rPr lang="en-US" sz="1600" dirty="0"/>
              <a:t>7.  </a:t>
            </a:r>
            <a:r>
              <a:rPr lang="en-US" sz="1600" dirty="0" err="1"/>
              <a:t>Gambarkan</a:t>
            </a:r>
            <a:r>
              <a:rPr lang="en-US" sz="1600" dirty="0"/>
              <a:t> </a:t>
            </a:r>
            <a:r>
              <a:rPr lang="en-US" sz="1600" dirty="0" err="1"/>
              <a:t>grafik</a:t>
            </a:r>
            <a:r>
              <a:rPr lang="en-US" sz="1600" dirty="0"/>
              <a:t> </a:t>
            </a:r>
            <a:r>
              <a:rPr lang="en-US" sz="1600" err="1"/>
              <a:t>kurva</a:t>
            </a:r>
            <a:r>
              <a:rPr lang="en-US" sz="1600"/>
              <a:t> karakteristik dioda </a:t>
            </a:r>
            <a:r>
              <a:rPr lang="en-US" sz="1600" dirty="0"/>
              <a:t>forward </a:t>
            </a:r>
            <a:r>
              <a:rPr lang="en-US" sz="1600"/>
              <a:t>bias Id vs Vd </a:t>
            </a:r>
            <a:r>
              <a:rPr lang="en-US" sz="1600" dirty="0" err="1"/>
              <a:t>dari</a:t>
            </a:r>
            <a:r>
              <a:rPr lang="en-US" sz="1600" dirty="0"/>
              <a:t> data </a:t>
            </a:r>
            <a:r>
              <a:rPr lang="en-US" sz="1600" err="1"/>
              <a:t>Tabel</a:t>
            </a:r>
            <a:r>
              <a:rPr lang="en-US" sz="1600"/>
              <a:t> 1.3.</a:t>
            </a:r>
            <a:endParaRPr lang="en-US" sz="1600" dirty="0"/>
          </a:p>
        </p:txBody>
      </p:sp>
      <p:sp>
        <p:nvSpPr>
          <p:cNvPr id="5" name="TextBox 4">
            <a:extLst>
              <a:ext uri="{FF2B5EF4-FFF2-40B4-BE49-F238E27FC236}">
                <a16:creationId xmlns:a16="http://schemas.microsoft.com/office/drawing/2014/main" id="{279E3064-08EF-90B1-0229-764885001426}"/>
              </a:ext>
            </a:extLst>
          </p:cNvPr>
          <p:cNvSpPr txBox="1"/>
          <p:nvPr/>
        </p:nvSpPr>
        <p:spPr>
          <a:xfrm>
            <a:off x="669212" y="4860975"/>
            <a:ext cx="6617996" cy="338554"/>
          </a:xfrm>
          <a:prstGeom prst="rect">
            <a:avLst/>
          </a:prstGeom>
          <a:noFill/>
        </p:spPr>
        <p:txBody>
          <a:bodyPr wrap="square">
            <a:spAutoFit/>
          </a:bodyPr>
          <a:lstStyle/>
          <a:p>
            <a:r>
              <a:rPr lang="en-US" sz="1600" dirty="0"/>
              <a:t> </a:t>
            </a:r>
            <a:r>
              <a:rPr lang="en-US" sz="1600" err="1"/>
              <a:t>Tabel</a:t>
            </a:r>
            <a:r>
              <a:rPr lang="en-US" sz="1600"/>
              <a:t> 1.3  </a:t>
            </a:r>
            <a:r>
              <a:rPr lang="en-US" sz="1600" dirty="0"/>
              <a:t>Data </a:t>
            </a:r>
            <a:r>
              <a:rPr lang="en-US" sz="1600" err="1"/>
              <a:t>Pengukuran</a:t>
            </a:r>
            <a:r>
              <a:rPr lang="en-US" sz="1600"/>
              <a:t> Dioda Germanium (Ge) Arah </a:t>
            </a:r>
            <a:r>
              <a:rPr lang="en-US" sz="1600" dirty="0" err="1"/>
              <a:t>Maju</a:t>
            </a:r>
            <a:r>
              <a:rPr lang="en-US" sz="1600" dirty="0"/>
              <a:t>.</a:t>
            </a:r>
          </a:p>
        </p:txBody>
      </p:sp>
      <p:graphicFrame>
        <p:nvGraphicFramePr>
          <p:cNvPr id="2" name="Table 1">
            <a:extLst>
              <a:ext uri="{FF2B5EF4-FFF2-40B4-BE49-F238E27FC236}">
                <a16:creationId xmlns:a16="http://schemas.microsoft.com/office/drawing/2014/main" id="{44789AC0-E5FB-0E10-1C4A-E06D47683D2A}"/>
              </a:ext>
            </a:extLst>
          </p:cNvPr>
          <p:cNvGraphicFramePr>
            <a:graphicFrameLocks noGrp="1"/>
          </p:cNvGraphicFramePr>
          <p:nvPr>
            <p:extLst>
              <p:ext uri="{D42A27DB-BD31-4B8C-83A1-F6EECF244321}">
                <p14:modId xmlns:p14="http://schemas.microsoft.com/office/powerpoint/2010/main" val="794809297"/>
              </p:ext>
            </p:extLst>
          </p:nvPr>
        </p:nvGraphicFramePr>
        <p:xfrm>
          <a:off x="853751" y="5378320"/>
          <a:ext cx="3657600" cy="9144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158006872"/>
                    </a:ext>
                  </a:extLst>
                </a:gridCol>
                <a:gridCol w="609600">
                  <a:extLst>
                    <a:ext uri="{9D8B030D-6E8A-4147-A177-3AD203B41FA5}">
                      <a16:colId xmlns:a16="http://schemas.microsoft.com/office/drawing/2014/main" val="1192373556"/>
                    </a:ext>
                  </a:extLst>
                </a:gridCol>
                <a:gridCol w="609600">
                  <a:extLst>
                    <a:ext uri="{9D8B030D-6E8A-4147-A177-3AD203B41FA5}">
                      <a16:colId xmlns:a16="http://schemas.microsoft.com/office/drawing/2014/main" val="4116012880"/>
                    </a:ext>
                  </a:extLst>
                </a:gridCol>
                <a:gridCol w="609600">
                  <a:extLst>
                    <a:ext uri="{9D8B030D-6E8A-4147-A177-3AD203B41FA5}">
                      <a16:colId xmlns:a16="http://schemas.microsoft.com/office/drawing/2014/main" val="3692624958"/>
                    </a:ext>
                  </a:extLst>
                </a:gridCol>
                <a:gridCol w="609600">
                  <a:extLst>
                    <a:ext uri="{9D8B030D-6E8A-4147-A177-3AD203B41FA5}">
                      <a16:colId xmlns:a16="http://schemas.microsoft.com/office/drawing/2014/main" val="3481267229"/>
                    </a:ext>
                  </a:extLst>
                </a:gridCol>
                <a:gridCol w="609600">
                  <a:extLst>
                    <a:ext uri="{9D8B030D-6E8A-4147-A177-3AD203B41FA5}">
                      <a16:colId xmlns:a16="http://schemas.microsoft.com/office/drawing/2014/main" val="3790858353"/>
                    </a:ext>
                  </a:extLst>
                </a:gridCol>
              </a:tblGrid>
              <a:tr h="182880">
                <a:tc>
                  <a:txBody>
                    <a:bodyPr/>
                    <a:lstStyle/>
                    <a:p>
                      <a:pPr algn="l" fontAlgn="b"/>
                      <a:r>
                        <a:rPr lang="en-ID" sz="1100" u="none" strike="noStrike">
                          <a:effectLst/>
                        </a:rPr>
                        <a:t>Vs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8510493"/>
                  </a:ext>
                </a:extLst>
              </a:tr>
              <a:tr h="182880">
                <a:tc>
                  <a:txBody>
                    <a:bodyPr/>
                    <a:lstStyle/>
                    <a:p>
                      <a:pPr algn="l" fontAlgn="b"/>
                      <a:r>
                        <a:rPr lang="en-ID" sz="1100" u="none" strike="noStrike">
                          <a:effectLst/>
                        </a:rPr>
                        <a:t>Vd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0,1</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0,2</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0,25</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0,3</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0,35</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21694001"/>
                  </a:ext>
                </a:extLst>
              </a:tr>
              <a:tr h="182880">
                <a:tc>
                  <a:txBody>
                    <a:bodyPr/>
                    <a:lstStyle/>
                    <a:p>
                      <a:pPr algn="l" fontAlgn="b"/>
                      <a:r>
                        <a:rPr lang="en-ID" sz="1100" u="none" strike="noStrike">
                          <a:effectLst/>
                        </a:rPr>
                        <a:t>Id (mA)</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3075830"/>
                  </a:ext>
                </a:extLst>
              </a:tr>
              <a:tr h="182880">
                <a:tc>
                  <a:txBody>
                    <a:bodyPr/>
                    <a:lstStyle/>
                    <a:p>
                      <a:pPr algn="l" fontAlgn="b"/>
                      <a:r>
                        <a:rPr lang="en-ID" sz="1100" u="none" strike="noStrike">
                          <a:effectLst/>
                        </a:rPr>
                        <a:t>VR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0849930"/>
                  </a:ext>
                </a:extLst>
              </a:tr>
              <a:tr h="182880">
                <a:tc>
                  <a:txBody>
                    <a:bodyPr/>
                    <a:lstStyle/>
                    <a:p>
                      <a:pPr algn="l" fontAlgn="b"/>
                      <a:r>
                        <a:rPr lang="en-ID" sz="1100" u="none" strike="noStrike">
                          <a:effectLst/>
                        </a:rPr>
                        <a:t>Rf (Ohm)</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21419998"/>
                  </a:ext>
                </a:extLst>
              </a:tr>
            </a:tbl>
          </a:graphicData>
        </a:graphic>
      </p:graphicFrame>
      <p:sp>
        <p:nvSpPr>
          <p:cNvPr id="4" name="Rectangle 3">
            <a:extLst>
              <a:ext uri="{FF2B5EF4-FFF2-40B4-BE49-F238E27FC236}">
                <a16:creationId xmlns:a16="http://schemas.microsoft.com/office/drawing/2014/main" id="{F7CB7BC2-5B60-D247-FE8F-191B70C09B65}"/>
              </a:ext>
            </a:extLst>
          </p:cNvPr>
          <p:cNvSpPr/>
          <p:nvPr/>
        </p:nvSpPr>
        <p:spPr>
          <a:xfrm>
            <a:off x="9092407" y="591299"/>
            <a:ext cx="137160"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5">
            <a:extLst>
              <a:ext uri="{FF2B5EF4-FFF2-40B4-BE49-F238E27FC236}">
                <a16:creationId xmlns:a16="http://schemas.microsoft.com/office/drawing/2014/main" id="{8A3DA5A7-C036-072B-5192-7DEF71F90E1D}"/>
              </a:ext>
            </a:extLst>
          </p:cNvPr>
          <p:cNvSpPr/>
          <p:nvPr/>
        </p:nvSpPr>
        <p:spPr>
          <a:xfrm rot="16200000">
            <a:off x="10916730" y="1241191"/>
            <a:ext cx="168337"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16">
            <a:extLst>
              <a:ext uri="{FF2B5EF4-FFF2-40B4-BE49-F238E27FC236}">
                <a16:creationId xmlns:a16="http://schemas.microsoft.com/office/drawing/2014/main" id="{2F9B5DE3-1281-67F2-5E67-0AC51E2DD8F5}"/>
              </a:ext>
            </a:extLst>
          </p:cNvPr>
          <p:cNvSpPr/>
          <p:nvPr/>
        </p:nvSpPr>
        <p:spPr>
          <a:xfrm>
            <a:off x="10436216" y="505171"/>
            <a:ext cx="290462" cy="1308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888A674A-0132-9D70-9037-A1905C6282C9}"/>
              </a:ext>
            </a:extLst>
          </p:cNvPr>
          <p:cNvSpPr txBox="1"/>
          <p:nvPr/>
        </p:nvSpPr>
        <p:spPr>
          <a:xfrm>
            <a:off x="7777311" y="5724563"/>
            <a:ext cx="4364557" cy="338554"/>
          </a:xfrm>
          <a:prstGeom prst="rect">
            <a:avLst/>
          </a:prstGeom>
          <a:noFill/>
        </p:spPr>
        <p:txBody>
          <a:bodyPr wrap="square">
            <a:spAutoFit/>
          </a:bodyPr>
          <a:lstStyle/>
          <a:p>
            <a:r>
              <a:rPr lang="en-US" sz="1600"/>
              <a:t>Gambar 6b. Skema Pengukuran </a:t>
            </a:r>
            <a:r>
              <a:rPr lang="en-US" sz="1600" err="1"/>
              <a:t>Dioda</a:t>
            </a:r>
            <a:r>
              <a:rPr lang="en-US" sz="1600"/>
              <a:t> Arah </a:t>
            </a:r>
            <a:r>
              <a:rPr lang="en-US" sz="1600" dirty="0" err="1"/>
              <a:t>Maju</a:t>
            </a:r>
            <a:endParaRPr lang="en-US" sz="1600" dirty="0"/>
          </a:p>
        </p:txBody>
      </p:sp>
      <p:pic>
        <p:nvPicPr>
          <p:cNvPr id="12" name="Picture 11">
            <a:extLst>
              <a:ext uri="{FF2B5EF4-FFF2-40B4-BE49-F238E27FC236}">
                <a16:creationId xmlns:a16="http://schemas.microsoft.com/office/drawing/2014/main" id="{38C136C3-2664-6207-DAC4-C74592E35305}"/>
              </a:ext>
            </a:extLst>
          </p:cNvPr>
          <p:cNvPicPr>
            <a:picLocks noChangeAspect="1"/>
          </p:cNvPicPr>
          <p:nvPr/>
        </p:nvPicPr>
        <p:blipFill>
          <a:blip r:embed="rId2"/>
          <a:stretch>
            <a:fillRect/>
          </a:stretch>
        </p:blipFill>
        <p:spPr>
          <a:xfrm>
            <a:off x="7680651" y="3269046"/>
            <a:ext cx="4364557" cy="2324638"/>
          </a:xfrm>
          <a:prstGeom prst="rect">
            <a:avLst/>
          </a:prstGeom>
        </p:spPr>
      </p:pic>
      <p:sp>
        <p:nvSpPr>
          <p:cNvPr id="15" name="TextBox 14">
            <a:extLst>
              <a:ext uri="{FF2B5EF4-FFF2-40B4-BE49-F238E27FC236}">
                <a16:creationId xmlns:a16="http://schemas.microsoft.com/office/drawing/2014/main" id="{3BAAD9D4-0405-8BFA-E301-B3864051DAF5}"/>
              </a:ext>
            </a:extLst>
          </p:cNvPr>
          <p:cNvSpPr txBox="1"/>
          <p:nvPr/>
        </p:nvSpPr>
        <p:spPr>
          <a:xfrm>
            <a:off x="8138293" y="2648041"/>
            <a:ext cx="3241393" cy="338554"/>
          </a:xfrm>
          <a:prstGeom prst="rect">
            <a:avLst/>
          </a:prstGeom>
          <a:noFill/>
        </p:spPr>
        <p:txBody>
          <a:bodyPr wrap="square">
            <a:spAutoFit/>
          </a:bodyPr>
          <a:lstStyle/>
          <a:p>
            <a:r>
              <a:rPr lang="en-US" sz="1600"/>
              <a:t>Gambar 6a. Skema Dioda Arah </a:t>
            </a:r>
            <a:r>
              <a:rPr lang="en-US" sz="1600" dirty="0" err="1"/>
              <a:t>Maju</a:t>
            </a:r>
            <a:endParaRPr lang="en-US" sz="1600" dirty="0"/>
          </a:p>
        </p:txBody>
      </p:sp>
      <p:pic>
        <p:nvPicPr>
          <p:cNvPr id="7" name="Picture 6">
            <a:extLst>
              <a:ext uri="{FF2B5EF4-FFF2-40B4-BE49-F238E27FC236}">
                <a16:creationId xmlns:a16="http://schemas.microsoft.com/office/drawing/2014/main" id="{CF863F54-1756-8268-C6B2-74B2B4B48DDE}"/>
              </a:ext>
            </a:extLst>
          </p:cNvPr>
          <p:cNvPicPr>
            <a:picLocks noChangeAspect="1"/>
          </p:cNvPicPr>
          <p:nvPr/>
        </p:nvPicPr>
        <p:blipFill>
          <a:blip r:embed="rId3"/>
          <a:stretch>
            <a:fillRect/>
          </a:stretch>
        </p:blipFill>
        <p:spPr>
          <a:xfrm>
            <a:off x="7983069" y="368578"/>
            <a:ext cx="3810000" cy="2217420"/>
          </a:xfrm>
          <a:prstGeom prst="rect">
            <a:avLst/>
          </a:prstGeom>
        </p:spPr>
      </p:pic>
    </p:spTree>
    <p:extLst>
      <p:ext uri="{BB962C8B-B14F-4D97-AF65-F5344CB8AC3E}">
        <p14:creationId xmlns:p14="http://schemas.microsoft.com/office/powerpoint/2010/main" val="3195983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FDB02-0170-F4DD-3969-375F0A25D2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6EFC5A-25FB-6458-47EF-C4801704FBB2}"/>
              </a:ext>
            </a:extLst>
          </p:cNvPr>
          <p:cNvSpPr txBox="1"/>
          <p:nvPr/>
        </p:nvSpPr>
        <p:spPr>
          <a:xfrm>
            <a:off x="600469" y="575445"/>
            <a:ext cx="6929336" cy="3539430"/>
          </a:xfrm>
          <a:prstGeom prst="rect">
            <a:avLst/>
          </a:prstGeom>
          <a:noFill/>
        </p:spPr>
        <p:txBody>
          <a:bodyPr wrap="square">
            <a:spAutoFit/>
          </a:bodyPr>
          <a:lstStyle/>
          <a:p>
            <a:r>
              <a:rPr lang="en-US" sz="1600">
                <a:cs typeface="Times New Roman" panose="02020603050405020304" pitchFamily="18" charset="0"/>
              </a:rPr>
              <a:t>D. </a:t>
            </a:r>
            <a:r>
              <a:rPr lang="en-US" sz="1600"/>
              <a:t>Langkah-Langkah Pengukuran </a:t>
            </a:r>
            <a:r>
              <a:rPr lang="en-US" sz="1600">
                <a:cs typeface="Times New Roman" panose="02020603050405020304" pitchFamily="18" charset="0"/>
              </a:rPr>
              <a:t>Diode </a:t>
            </a:r>
            <a:r>
              <a:rPr lang="en-US" sz="1600" b="1">
                <a:solidFill>
                  <a:srgbClr val="FF0000"/>
                </a:solidFill>
                <a:cs typeface="Times New Roman" panose="02020603050405020304" pitchFamily="18" charset="0"/>
              </a:rPr>
              <a:t>Germanium Arah Mundur (</a:t>
            </a:r>
            <a:r>
              <a:rPr lang="en-US" sz="1600" b="1">
                <a:solidFill>
                  <a:srgbClr val="FF0000"/>
                </a:solidFill>
              </a:rPr>
              <a:t>AA119</a:t>
            </a:r>
            <a:r>
              <a:rPr lang="en-US" sz="1600" b="1">
                <a:solidFill>
                  <a:srgbClr val="FF0000"/>
                </a:solidFill>
                <a:cs typeface="Times New Roman" panose="02020603050405020304" pitchFamily="18" charset="0"/>
              </a:rPr>
              <a:t>)</a:t>
            </a:r>
          </a:p>
          <a:p>
            <a:endParaRPr lang="en-US" sz="1600" b="1" dirty="0">
              <a:solidFill>
                <a:srgbClr val="FF0000"/>
              </a:solidFill>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Susunlah  </a:t>
            </a:r>
            <a:r>
              <a:rPr lang="en-US" sz="1600" dirty="0" err="1">
                <a:cs typeface="Times New Roman" panose="02020603050405020304" pitchFamily="18" charset="0"/>
              </a:rPr>
              <a:t>rangkaian</a:t>
            </a:r>
            <a:r>
              <a:rPr lang="en-US" sz="1600" dirty="0">
                <a:cs typeface="Times New Roman" panose="02020603050405020304" pitchFamily="18" charset="0"/>
              </a:rPr>
              <a:t> </a:t>
            </a:r>
            <a:r>
              <a:rPr lang="en-US" sz="1600" dirty="0" err="1">
                <a:cs typeface="Times New Roman" panose="02020603050405020304" pitchFamily="18" charset="0"/>
              </a:rPr>
              <a:t>percobaan</a:t>
            </a:r>
            <a:r>
              <a:rPr lang="en-US" sz="1600" dirty="0">
                <a:cs typeface="Times New Roman" panose="02020603050405020304" pitchFamily="18" charset="0"/>
              </a:rPr>
              <a:t> </a:t>
            </a:r>
            <a:r>
              <a:rPr lang="en-US" sz="1600" dirty="0" err="1">
                <a:cs typeface="Times New Roman" panose="02020603050405020304" pitchFamily="18" charset="0"/>
              </a:rPr>
              <a:t>seperti</a:t>
            </a:r>
            <a:r>
              <a:rPr lang="en-US" sz="1600" dirty="0">
                <a:cs typeface="Times New Roman" panose="02020603050405020304" pitchFamily="18" charset="0"/>
              </a:rPr>
              <a:t> </a:t>
            </a:r>
            <a:r>
              <a:rPr lang="en-US" sz="1600">
                <a:cs typeface="Times New Roman" panose="02020603050405020304" pitchFamily="18" charset="0"/>
              </a:rPr>
              <a:t>Gambar 7b.</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Atur sumber tegangan </a:t>
            </a:r>
            <a:r>
              <a:rPr lang="en-US" sz="1600">
                <a:solidFill>
                  <a:srgbClr val="FF0000"/>
                </a:solidFill>
                <a:cs typeface="Times New Roman" panose="02020603050405020304" pitchFamily="18" charset="0"/>
              </a:rPr>
              <a:t>Vs</a:t>
            </a:r>
            <a:r>
              <a:rPr lang="en-US" sz="1600">
                <a:cs typeface="Times New Roman" panose="02020603050405020304" pitchFamily="18" charset="0"/>
              </a:rPr>
              <a:t> = -1 Volt dengan cara </a:t>
            </a:r>
            <a:r>
              <a:rPr lang="en-US" sz="1600">
                <a:solidFill>
                  <a:srgbClr val="FF0000"/>
                </a:solidFill>
                <a:cs typeface="Times New Roman" panose="02020603050405020304" pitchFamily="18" charset="0"/>
              </a:rPr>
              <a:t>membalik sumber tegangan </a:t>
            </a:r>
            <a:r>
              <a:rPr lang="en-US" sz="1600">
                <a:cs typeface="Times New Roman" panose="02020603050405020304" pitchFamily="18" charset="0"/>
              </a:rPr>
              <a:t>(gambar </a:t>
            </a:r>
            <a:r>
              <a:rPr lang="en-US" sz="1600">
                <a:solidFill>
                  <a:srgbClr val="FF0000"/>
                </a:solidFill>
                <a:cs typeface="Times New Roman" panose="02020603050405020304" pitchFamily="18" charset="0"/>
              </a:rPr>
              <a:t>7a dan 7b</a:t>
            </a:r>
            <a:r>
              <a:rPr lang="en-US" sz="1600">
                <a:cs typeface="Times New Roman" panose="02020603050405020304" pitchFamily="18" charset="0"/>
              </a:rPr>
              <a:t>).</a:t>
            </a:r>
          </a:p>
          <a:p>
            <a:pPr marL="342900" indent="-342900">
              <a:buFont typeface="+mj-lt"/>
              <a:buAutoNum type="arabicPeriod"/>
            </a:pPr>
            <a:r>
              <a:rPr lang="en-US" sz="1600">
                <a:cs typeface="Times New Roman" panose="02020603050405020304" pitchFamily="18" charset="0"/>
              </a:rPr>
              <a:t>Ukur </a:t>
            </a:r>
            <a:r>
              <a:rPr lang="en-US" sz="1600" err="1">
                <a:cs typeface="Times New Roman" panose="02020603050405020304" pitchFamily="18" charset="0"/>
              </a:rPr>
              <a:t>tegangan</a:t>
            </a:r>
            <a:r>
              <a:rPr lang="en-US" sz="1600">
                <a:cs typeface="Times New Roman" panose="02020603050405020304" pitchFamily="18" charset="0"/>
              </a:rPr>
              <a:t> </a:t>
            </a:r>
            <a:r>
              <a:rPr lang="en-US" sz="1600">
                <a:solidFill>
                  <a:srgbClr val="FF0000"/>
                </a:solidFill>
                <a:cs typeface="Times New Roman" panose="02020603050405020304" pitchFamily="18" charset="0"/>
              </a:rPr>
              <a:t>Vd, Id, dan VR</a:t>
            </a:r>
            <a:r>
              <a:rPr lang="en-US" sz="1600">
                <a:cs typeface="Times New Roman" panose="02020603050405020304" pitchFamily="18" charset="0"/>
              </a:rPr>
              <a:t>. Catat </a:t>
            </a:r>
            <a:r>
              <a:rPr lang="en-US" sz="1600" dirty="0" err="1">
                <a:cs typeface="Times New Roman" panose="02020603050405020304" pitchFamily="18" charset="0"/>
              </a:rPr>
              <a:t>hasilnya</a:t>
            </a:r>
            <a:r>
              <a:rPr lang="en-US" sz="1600" dirty="0">
                <a:cs typeface="Times New Roman" panose="02020603050405020304" pitchFamily="18" charset="0"/>
              </a:rPr>
              <a:t> pada </a:t>
            </a:r>
            <a:r>
              <a:rPr lang="en-US" sz="1600">
                <a:cs typeface="Times New Roman" panose="02020603050405020304" pitchFamily="18" charset="0"/>
              </a:rPr>
              <a:t>Table 1.4.</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Ulangi </a:t>
            </a:r>
            <a:r>
              <a:rPr lang="en-US" sz="1600" err="1">
                <a:cs typeface="Times New Roman" panose="02020603050405020304" pitchFamily="18" charset="0"/>
              </a:rPr>
              <a:t>langkah</a:t>
            </a:r>
            <a:r>
              <a:rPr lang="en-US" sz="1600">
                <a:cs typeface="Times New Roman" panose="02020603050405020304" pitchFamily="18" charset="0"/>
              </a:rPr>
              <a:t> 2 dan 3 </a:t>
            </a:r>
            <a:r>
              <a:rPr lang="en-US" sz="1600" err="1">
                <a:cs typeface="Times New Roman" panose="02020603050405020304" pitchFamily="18" charset="0"/>
              </a:rPr>
              <a:t>untuk</a:t>
            </a:r>
            <a:r>
              <a:rPr lang="en-US" sz="1600">
                <a:cs typeface="Times New Roman" panose="02020603050405020304" pitchFamily="18" charset="0"/>
              </a:rPr>
              <a:t> setiap nilai </a:t>
            </a:r>
            <a:r>
              <a:rPr lang="en-US" sz="1600">
                <a:solidFill>
                  <a:srgbClr val="FF0000"/>
                </a:solidFill>
                <a:cs typeface="Times New Roman" panose="02020603050405020304" pitchFamily="18" charset="0"/>
              </a:rPr>
              <a:t>Vs </a:t>
            </a:r>
            <a:r>
              <a:rPr lang="en-US" sz="1600">
                <a:cs typeface="Times New Roman" panose="02020603050405020304" pitchFamily="18" charset="0"/>
              </a:rPr>
              <a:t>seperti </a:t>
            </a:r>
            <a:r>
              <a:rPr lang="en-US" sz="1600" dirty="0" err="1">
                <a:cs typeface="Times New Roman" panose="02020603050405020304" pitchFamily="18" charset="0"/>
              </a:rPr>
              <a:t>tertulis</a:t>
            </a:r>
            <a:r>
              <a:rPr lang="en-US" sz="1600" dirty="0">
                <a:cs typeface="Times New Roman" panose="02020603050405020304" pitchFamily="18" charset="0"/>
              </a:rPr>
              <a:t> pada </a:t>
            </a:r>
            <a:r>
              <a:rPr lang="en-US" sz="1600" err="1">
                <a:cs typeface="Times New Roman" panose="02020603050405020304" pitchFamily="18" charset="0"/>
              </a:rPr>
              <a:t>Tabel</a:t>
            </a:r>
            <a:r>
              <a:rPr lang="en-US" sz="1600">
                <a:cs typeface="Times New Roman" panose="02020603050405020304" pitchFamily="18" charset="0"/>
              </a:rPr>
              <a:t> 1.4.</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Hitung </a:t>
            </a:r>
            <a:r>
              <a:rPr lang="en-US" sz="1600" err="1">
                <a:cs typeface="Times New Roman" panose="02020603050405020304" pitchFamily="18" charset="0"/>
              </a:rPr>
              <a:t>nilai</a:t>
            </a:r>
            <a:r>
              <a:rPr lang="en-US" sz="1600">
                <a:cs typeface="Times New Roman" panose="02020603050405020304" pitchFamily="18" charset="0"/>
              </a:rPr>
              <a:t> Rr </a:t>
            </a:r>
            <a:r>
              <a:rPr lang="en-US" sz="1600"/>
              <a:t>(R diode reverse) </a:t>
            </a:r>
            <a:r>
              <a:rPr lang="en-US" sz="1600">
                <a:cs typeface="Times New Roman" panose="02020603050405020304" pitchFamily="18" charset="0"/>
              </a:rPr>
              <a:t>untuk </a:t>
            </a:r>
            <a:r>
              <a:rPr lang="en-US" sz="1600" dirty="0" err="1">
                <a:cs typeface="Times New Roman" panose="02020603050405020304" pitchFamily="18" charset="0"/>
              </a:rPr>
              <a:t>setiap</a:t>
            </a:r>
            <a:r>
              <a:rPr lang="en-US" sz="1600" dirty="0">
                <a:cs typeface="Times New Roman" panose="02020603050405020304" pitchFamily="18" charset="0"/>
              </a:rPr>
              <a:t> </a:t>
            </a:r>
            <a:r>
              <a:rPr lang="en-US" sz="1600" err="1">
                <a:cs typeface="Times New Roman" panose="02020603050405020304" pitchFamily="18" charset="0"/>
              </a:rPr>
              <a:t>nilai</a:t>
            </a:r>
            <a:r>
              <a:rPr lang="en-US" sz="1600">
                <a:cs typeface="Times New Roman" panose="02020603050405020304" pitchFamily="18" charset="0"/>
              </a:rPr>
              <a:t> Vd dan Id. </a:t>
            </a:r>
            <a:r>
              <a:rPr lang="en-US" sz="1600" dirty="0" err="1">
                <a:cs typeface="Times New Roman" panose="02020603050405020304" pitchFamily="18" charset="0"/>
              </a:rPr>
              <a:t>Catat</a:t>
            </a:r>
            <a:r>
              <a:rPr lang="en-US" sz="1600" dirty="0">
                <a:cs typeface="Times New Roman" panose="02020603050405020304" pitchFamily="18" charset="0"/>
              </a:rPr>
              <a:t> </a:t>
            </a:r>
            <a:r>
              <a:rPr lang="en-US" sz="1600" dirty="0" err="1">
                <a:cs typeface="Times New Roman" panose="02020603050405020304" pitchFamily="18" charset="0"/>
              </a:rPr>
              <a:t>hasil</a:t>
            </a:r>
            <a:r>
              <a:rPr lang="en-US" sz="1600" dirty="0">
                <a:cs typeface="Times New Roman" panose="02020603050405020304" pitchFamily="18" charset="0"/>
              </a:rPr>
              <a:t> pada </a:t>
            </a:r>
            <a:r>
              <a:rPr lang="en-US" sz="1600">
                <a:cs typeface="Times New Roman" panose="02020603050405020304" pitchFamily="18" charset="0"/>
              </a:rPr>
              <a:t>Table 1.4.</a:t>
            </a:r>
            <a:endParaRPr lang="en-US" sz="1600" dirty="0">
              <a:cs typeface="Times New Roman" panose="02020603050405020304" pitchFamily="18" charset="0"/>
            </a:endParaRPr>
          </a:p>
          <a:p>
            <a:pPr marL="342900" indent="-342900">
              <a:buFont typeface="+mj-lt"/>
              <a:buAutoNum type="arabicPeriod"/>
            </a:pPr>
            <a:r>
              <a:rPr lang="en-US" sz="1600"/>
              <a:t>Naikkan temperature diode dengan cara memegang diode (tanpa menyentuh kaki-kaki diodanya) dengan jari-tangan</a:t>
            </a:r>
            <a:r>
              <a:rPr lang="en-US" sz="1600">
                <a:cs typeface="Times New Roman" panose="02020603050405020304" pitchFamily="18" charset="0"/>
              </a:rPr>
              <a:t>.</a:t>
            </a:r>
            <a:r>
              <a:rPr lang="en-US" sz="1600"/>
              <a:t> Perhatikan apa yang terjadi dengan arus/tegangan (Id dan Vd) </a:t>
            </a:r>
            <a:r>
              <a:rPr lang="en-US" sz="1600">
                <a:solidFill>
                  <a:srgbClr val="FF0000"/>
                </a:solidFill>
              </a:rPr>
              <a:t>(hanya untuk percobaan riil)</a:t>
            </a:r>
            <a:r>
              <a:rPr lang="en-US" sz="1600"/>
              <a:t>.</a:t>
            </a:r>
            <a:endParaRPr lang="en-US" sz="160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Gambarkan </a:t>
            </a:r>
            <a:r>
              <a:rPr lang="en-US" sz="1600" dirty="0" err="1">
                <a:cs typeface="Times New Roman" panose="02020603050405020304" pitchFamily="18" charset="0"/>
              </a:rPr>
              <a:t>grafik</a:t>
            </a:r>
            <a:r>
              <a:rPr lang="en-US" sz="1600" dirty="0">
                <a:cs typeface="Times New Roman" panose="02020603050405020304" pitchFamily="18" charset="0"/>
              </a:rPr>
              <a:t> </a:t>
            </a:r>
            <a:r>
              <a:rPr lang="en-US" sz="1600" dirty="0" err="1">
                <a:cs typeface="Times New Roman" panose="02020603050405020304" pitchFamily="18" charset="0"/>
              </a:rPr>
              <a:t>kurva</a:t>
            </a:r>
            <a:r>
              <a:rPr lang="en-US" sz="1600" dirty="0">
                <a:cs typeface="Times New Roman" panose="02020603050405020304" pitchFamily="18" charset="0"/>
              </a:rPr>
              <a:t> </a:t>
            </a:r>
            <a:r>
              <a:rPr lang="en-US" sz="1600" dirty="0" err="1">
                <a:cs typeface="Times New Roman" panose="02020603050405020304" pitchFamily="18" charset="0"/>
              </a:rPr>
              <a:t>karakteristik</a:t>
            </a:r>
            <a:r>
              <a:rPr lang="en-US" sz="1600" dirty="0">
                <a:cs typeface="Times New Roman" panose="02020603050405020304" pitchFamily="18" charset="0"/>
              </a:rPr>
              <a:t> diode </a:t>
            </a:r>
            <a:r>
              <a:rPr lang="en-US" sz="1600" dirty="0" err="1">
                <a:cs typeface="Times New Roman" panose="02020603050405020304" pitchFamily="18" charset="0"/>
              </a:rPr>
              <a:t>arah</a:t>
            </a:r>
            <a:r>
              <a:rPr lang="en-US" sz="1600" dirty="0">
                <a:cs typeface="Times New Roman" panose="02020603050405020304" pitchFamily="18" charset="0"/>
              </a:rPr>
              <a:t> </a:t>
            </a:r>
            <a:r>
              <a:rPr lang="en-US" sz="1600" dirty="0" err="1">
                <a:cs typeface="Times New Roman" panose="02020603050405020304" pitchFamily="18" charset="0"/>
              </a:rPr>
              <a:t>mundur</a:t>
            </a:r>
            <a:r>
              <a:rPr lang="en-US" sz="1600" dirty="0">
                <a:cs typeface="Times New Roman" panose="02020603050405020304" pitchFamily="18" charset="0"/>
              </a:rPr>
              <a:t> </a:t>
            </a:r>
            <a:r>
              <a:rPr lang="en-US" sz="1600" err="1">
                <a:cs typeface="Times New Roman" panose="02020603050405020304" pitchFamily="18" charset="0"/>
              </a:rPr>
              <a:t>antara</a:t>
            </a:r>
            <a:r>
              <a:rPr lang="en-US" sz="1600">
                <a:cs typeface="Times New Roman" panose="02020603050405020304" pitchFamily="18" charset="0"/>
              </a:rPr>
              <a:t> Id vs Vd </a:t>
            </a:r>
            <a:r>
              <a:rPr lang="en-US" sz="1600" dirty="0" err="1">
                <a:cs typeface="Times New Roman" panose="02020603050405020304" pitchFamily="18" charset="0"/>
              </a:rPr>
              <a:t>dari</a:t>
            </a:r>
            <a:r>
              <a:rPr lang="en-US" sz="1600" dirty="0">
                <a:cs typeface="Times New Roman" panose="02020603050405020304" pitchFamily="18" charset="0"/>
              </a:rPr>
              <a:t> data </a:t>
            </a:r>
            <a:r>
              <a:rPr lang="en-US" sz="1600" err="1">
                <a:cs typeface="Times New Roman" panose="02020603050405020304" pitchFamily="18" charset="0"/>
              </a:rPr>
              <a:t>Tabel</a:t>
            </a:r>
            <a:r>
              <a:rPr lang="en-US" sz="1600">
                <a:cs typeface="Times New Roman" panose="02020603050405020304" pitchFamily="18" charset="0"/>
              </a:rPr>
              <a:t> 1.4.</a:t>
            </a:r>
            <a:endParaRPr lang="en-US" sz="1600" dirty="0">
              <a:cs typeface="Times New Roman" panose="02020603050405020304" pitchFamily="18" charset="0"/>
            </a:endParaRPr>
          </a:p>
        </p:txBody>
      </p:sp>
      <p:sp>
        <p:nvSpPr>
          <p:cNvPr id="8" name="TextBox 7">
            <a:extLst>
              <a:ext uri="{FF2B5EF4-FFF2-40B4-BE49-F238E27FC236}">
                <a16:creationId xmlns:a16="http://schemas.microsoft.com/office/drawing/2014/main" id="{94B9A8CF-FF11-2EA3-3743-64CCC5154482}"/>
              </a:ext>
            </a:extLst>
          </p:cNvPr>
          <p:cNvSpPr txBox="1"/>
          <p:nvPr/>
        </p:nvSpPr>
        <p:spPr>
          <a:xfrm>
            <a:off x="528156" y="5356562"/>
            <a:ext cx="5974244" cy="338554"/>
          </a:xfrm>
          <a:prstGeom prst="rect">
            <a:avLst/>
          </a:prstGeom>
          <a:noFill/>
        </p:spPr>
        <p:txBody>
          <a:bodyPr wrap="square">
            <a:spAutoFit/>
          </a:bodyPr>
          <a:lstStyle/>
          <a:p>
            <a:r>
              <a:rPr lang="en-US" sz="1600" err="1"/>
              <a:t>Tabel</a:t>
            </a:r>
            <a:r>
              <a:rPr lang="en-US" sz="1600"/>
              <a:t> 1.4  </a:t>
            </a:r>
            <a:r>
              <a:rPr lang="en-US" sz="1600" dirty="0"/>
              <a:t>Data </a:t>
            </a:r>
            <a:r>
              <a:rPr lang="en-US" sz="1600" err="1"/>
              <a:t>Pengukuran</a:t>
            </a:r>
            <a:r>
              <a:rPr lang="en-US" sz="1600"/>
              <a:t> Dioda Germanium (Ge) </a:t>
            </a:r>
            <a:r>
              <a:rPr lang="en-US" sz="1600" dirty="0" err="1"/>
              <a:t>Arah</a:t>
            </a:r>
            <a:r>
              <a:rPr lang="en-US" sz="1600" dirty="0"/>
              <a:t> </a:t>
            </a:r>
            <a:r>
              <a:rPr lang="en-US" sz="1600" dirty="0" err="1"/>
              <a:t>Mundur</a:t>
            </a:r>
            <a:endParaRPr lang="en-US" sz="1600" dirty="0"/>
          </a:p>
        </p:txBody>
      </p:sp>
      <p:graphicFrame>
        <p:nvGraphicFramePr>
          <p:cNvPr id="4" name="Table 3">
            <a:extLst>
              <a:ext uri="{FF2B5EF4-FFF2-40B4-BE49-F238E27FC236}">
                <a16:creationId xmlns:a16="http://schemas.microsoft.com/office/drawing/2014/main" id="{58BD3FCB-B943-9BB4-D0F5-B1D8009A4E81}"/>
              </a:ext>
            </a:extLst>
          </p:cNvPr>
          <p:cNvGraphicFramePr>
            <a:graphicFrameLocks noGrp="1"/>
          </p:cNvGraphicFramePr>
          <p:nvPr>
            <p:extLst>
              <p:ext uri="{D42A27DB-BD31-4B8C-83A1-F6EECF244321}">
                <p14:modId xmlns:p14="http://schemas.microsoft.com/office/powerpoint/2010/main" val="874921093"/>
              </p:ext>
            </p:extLst>
          </p:nvPr>
        </p:nvGraphicFramePr>
        <p:xfrm>
          <a:off x="528156" y="5695116"/>
          <a:ext cx="10515600" cy="876300"/>
        </p:xfrm>
        <a:graphic>
          <a:graphicData uri="http://schemas.openxmlformats.org/drawingml/2006/table">
            <a:tbl>
              <a:tblPr>
                <a:tableStyleId>{5C22544A-7EE6-4342-B048-85BDC9FD1C3A}</a:tableStyleId>
              </a:tblPr>
              <a:tblGrid>
                <a:gridCol w="584200">
                  <a:extLst>
                    <a:ext uri="{9D8B030D-6E8A-4147-A177-3AD203B41FA5}">
                      <a16:colId xmlns:a16="http://schemas.microsoft.com/office/drawing/2014/main" val="3920079228"/>
                    </a:ext>
                  </a:extLst>
                </a:gridCol>
                <a:gridCol w="584200">
                  <a:extLst>
                    <a:ext uri="{9D8B030D-6E8A-4147-A177-3AD203B41FA5}">
                      <a16:colId xmlns:a16="http://schemas.microsoft.com/office/drawing/2014/main" val="4211160940"/>
                    </a:ext>
                  </a:extLst>
                </a:gridCol>
                <a:gridCol w="584200">
                  <a:extLst>
                    <a:ext uri="{9D8B030D-6E8A-4147-A177-3AD203B41FA5}">
                      <a16:colId xmlns:a16="http://schemas.microsoft.com/office/drawing/2014/main" val="1736691237"/>
                    </a:ext>
                  </a:extLst>
                </a:gridCol>
                <a:gridCol w="584200">
                  <a:extLst>
                    <a:ext uri="{9D8B030D-6E8A-4147-A177-3AD203B41FA5}">
                      <a16:colId xmlns:a16="http://schemas.microsoft.com/office/drawing/2014/main" val="1647426791"/>
                    </a:ext>
                  </a:extLst>
                </a:gridCol>
                <a:gridCol w="584200">
                  <a:extLst>
                    <a:ext uri="{9D8B030D-6E8A-4147-A177-3AD203B41FA5}">
                      <a16:colId xmlns:a16="http://schemas.microsoft.com/office/drawing/2014/main" val="2606758996"/>
                    </a:ext>
                  </a:extLst>
                </a:gridCol>
                <a:gridCol w="584200">
                  <a:extLst>
                    <a:ext uri="{9D8B030D-6E8A-4147-A177-3AD203B41FA5}">
                      <a16:colId xmlns:a16="http://schemas.microsoft.com/office/drawing/2014/main" val="3804540537"/>
                    </a:ext>
                  </a:extLst>
                </a:gridCol>
                <a:gridCol w="584200">
                  <a:extLst>
                    <a:ext uri="{9D8B030D-6E8A-4147-A177-3AD203B41FA5}">
                      <a16:colId xmlns:a16="http://schemas.microsoft.com/office/drawing/2014/main" val="376942852"/>
                    </a:ext>
                  </a:extLst>
                </a:gridCol>
                <a:gridCol w="584200">
                  <a:extLst>
                    <a:ext uri="{9D8B030D-6E8A-4147-A177-3AD203B41FA5}">
                      <a16:colId xmlns:a16="http://schemas.microsoft.com/office/drawing/2014/main" val="881091434"/>
                    </a:ext>
                  </a:extLst>
                </a:gridCol>
                <a:gridCol w="584200">
                  <a:extLst>
                    <a:ext uri="{9D8B030D-6E8A-4147-A177-3AD203B41FA5}">
                      <a16:colId xmlns:a16="http://schemas.microsoft.com/office/drawing/2014/main" val="1987624915"/>
                    </a:ext>
                  </a:extLst>
                </a:gridCol>
                <a:gridCol w="584200">
                  <a:extLst>
                    <a:ext uri="{9D8B030D-6E8A-4147-A177-3AD203B41FA5}">
                      <a16:colId xmlns:a16="http://schemas.microsoft.com/office/drawing/2014/main" val="1346456811"/>
                    </a:ext>
                  </a:extLst>
                </a:gridCol>
                <a:gridCol w="584200">
                  <a:extLst>
                    <a:ext uri="{9D8B030D-6E8A-4147-A177-3AD203B41FA5}">
                      <a16:colId xmlns:a16="http://schemas.microsoft.com/office/drawing/2014/main" val="2045957802"/>
                    </a:ext>
                  </a:extLst>
                </a:gridCol>
                <a:gridCol w="584200">
                  <a:extLst>
                    <a:ext uri="{9D8B030D-6E8A-4147-A177-3AD203B41FA5}">
                      <a16:colId xmlns:a16="http://schemas.microsoft.com/office/drawing/2014/main" val="3729842275"/>
                    </a:ext>
                  </a:extLst>
                </a:gridCol>
                <a:gridCol w="584200">
                  <a:extLst>
                    <a:ext uri="{9D8B030D-6E8A-4147-A177-3AD203B41FA5}">
                      <a16:colId xmlns:a16="http://schemas.microsoft.com/office/drawing/2014/main" val="225852726"/>
                    </a:ext>
                  </a:extLst>
                </a:gridCol>
                <a:gridCol w="584200">
                  <a:extLst>
                    <a:ext uri="{9D8B030D-6E8A-4147-A177-3AD203B41FA5}">
                      <a16:colId xmlns:a16="http://schemas.microsoft.com/office/drawing/2014/main" val="3636681953"/>
                    </a:ext>
                  </a:extLst>
                </a:gridCol>
                <a:gridCol w="584200">
                  <a:extLst>
                    <a:ext uri="{9D8B030D-6E8A-4147-A177-3AD203B41FA5}">
                      <a16:colId xmlns:a16="http://schemas.microsoft.com/office/drawing/2014/main" val="3959963927"/>
                    </a:ext>
                  </a:extLst>
                </a:gridCol>
                <a:gridCol w="584200">
                  <a:extLst>
                    <a:ext uri="{9D8B030D-6E8A-4147-A177-3AD203B41FA5}">
                      <a16:colId xmlns:a16="http://schemas.microsoft.com/office/drawing/2014/main" val="2137362701"/>
                    </a:ext>
                  </a:extLst>
                </a:gridCol>
                <a:gridCol w="584200">
                  <a:extLst>
                    <a:ext uri="{9D8B030D-6E8A-4147-A177-3AD203B41FA5}">
                      <a16:colId xmlns:a16="http://schemas.microsoft.com/office/drawing/2014/main" val="1803921821"/>
                    </a:ext>
                  </a:extLst>
                </a:gridCol>
                <a:gridCol w="584200">
                  <a:extLst>
                    <a:ext uri="{9D8B030D-6E8A-4147-A177-3AD203B41FA5}">
                      <a16:colId xmlns:a16="http://schemas.microsoft.com/office/drawing/2014/main" val="4063396980"/>
                    </a:ext>
                  </a:extLst>
                </a:gridCol>
              </a:tblGrid>
              <a:tr h="175260">
                <a:tc>
                  <a:txBody>
                    <a:bodyPr/>
                    <a:lstStyle/>
                    <a:p>
                      <a:pPr algn="l" fontAlgn="b"/>
                      <a:r>
                        <a:rPr lang="en-ID" sz="1100" u="none" strike="noStrike">
                          <a:effectLst/>
                        </a:rPr>
                        <a:t>Vs (V)</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-1</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-2</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-3</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-4</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-5</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-6</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-7</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-8</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-9</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-10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-20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-30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-40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-50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-60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-70</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r>
                        <a:rPr lang="en-ID" sz="1100" u="none" strike="noStrike">
                          <a:effectLst/>
                        </a:rPr>
                        <a:t>-80</a:t>
                      </a:r>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741747230"/>
                  </a:ext>
                </a:extLst>
              </a:tr>
              <a:tr h="175260">
                <a:tc>
                  <a:txBody>
                    <a:bodyPr/>
                    <a:lstStyle/>
                    <a:p>
                      <a:pPr algn="l" fontAlgn="b"/>
                      <a:r>
                        <a:rPr lang="en-ID" sz="1100" u="none" strike="noStrike">
                          <a:effectLst/>
                        </a:rPr>
                        <a:t>Vd (V)</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r" fontAlgn="b"/>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1530981735"/>
                  </a:ext>
                </a:extLst>
              </a:tr>
              <a:tr h="175260">
                <a:tc>
                  <a:txBody>
                    <a:bodyPr/>
                    <a:lstStyle/>
                    <a:p>
                      <a:pPr algn="l" fontAlgn="b"/>
                      <a:r>
                        <a:rPr lang="en-ID" sz="1100" u="none" strike="noStrike">
                          <a:effectLst/>
                        </a:rPr>
                        <a:t>Id (mA)</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3870747224"/>
                  </a:ext>
                </a:extLst>
              </a:tr>
              <a:tr h="175260">
                <a:tc>
                  <a:txBody>
                    <a:bodyPr/>
                    <a:lstStyle/>
                    <a:p>
                      <a:pPr algn="l" fontAlgn="b"/>
                      <a:r>
                        <a:rPr lang="en-ID" sz="1100" u="none" strike="noStrike">
                          <a:effectLst/>
                        </a:rPr>
                        <a:t>VR (V)</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1292157792"/>
                  </a:ext>
                </a:extLst>
              </a:tr>
              <a:tr h="175260">
                <a:tc>
                  <a:txBody>
                    <a:bodyPr/>
                    <a:lstStyle/>
                    <a:p>
                      <a:pPr algn="l" fontAlgn="b"/>
                      <a:r>
                        <a:rPr lang="en-ID" sz="1100" u="none" strike="noStrike">
                          <a:effectLst/>
                        </a:rPr>
                        <a:t>Rr (Ohm)</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303" marR="7303" marT="7303" marB="0" anchor="b"/>
                </a:tc>
                <a:extLst>
                  <a:ext uri="{0D108BD9-81ED-4DB2-BD59-A6C34878D82A}">
                    <a16:rowId xmlns:a16="http://schemas.microsoft.com/office/drawing/2014/main" val="3908035415"/>
                  </a:ext>
                </a:extLst>
              </a:tr>
            </a:tbl>
          </a:graphicData>
        </a:graphic>
      </p:graphicFrame>
      <p:sp>
        <p:nvSpPr>
          <p:cNvPr id="3" name="Rectangle 2">
            <a:extLst>
              <a:ext uri="{FF2B5EF4-FFF2-40B4-BE49-F238E27FC236}">
                <a16:creationId xmlns:a16="http://schemas.microsoft.com/office/drawing/2014/main" id="{AD16C348-EB26-33E1-FB01-F3D8EEEF3B85}"/>
              </a:ext>
            </a:extLst>
          </p:cNvPr>
          <p:cNvSpPr/>
          <p:nvPr/>
        </p:nvSpPr>
        <p:spPr>
          <a:xfrm>
            <a:off x="9079459" y="321646"/>
            <a:ext cx="163182"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TextBox 28">
            <a:extLst>
              <a:ext uri="{FF2B5EF4-FFF2-40B4-BE49-F238E27FC236}">
                <a16:creationId xmlns:a16="http://schemas.microsoft.com/office/drawing/2014/main" id="{C6C71A0B-17AA-345C-8FF6-EB1A5CF5C277}"/>
              </a:ext>
            </a:extLst>
          </p:cNvPr>
          <p:cNvSpPr txBox="1"/>
          <p:nvPr/>
        </p:nvSpPr>
        <p:spPr>
          <a:xfrm>
            <a:off x="7467334" y="5058584"/>
            <a:ext cx="4453114" cy="338554"/>
          </a:xfrm>
          <a:prstGeom prst="rect">
            <a:avLst/>
          </a:prstGeom>
          <a:noFill/>
        </p:spPr>
        <p:txBody>
          <a:bodyPr wrap="square">
            <a:spAutoFit/>
          </a:bodyPr>
          <a:lstStyle/>
          <a:p>
            <a:r>
              <a:rPr lang="en-US" sz="1600"/>
              <a:t>Gambar 7b. Skema Pengukuran Dioda Arah Mundur</a:t>
            </a:r>
            <a:endParaRPr lang="en-US" sz="1600" dirty="0"/>
          </a:p>
        </p:txBody>
      </p:sp>
      <p:pic>
        <p:nvPicPr>
          <p:cNvPr id="14" name="Picture 13">
            <a:extLst>
              <a:ext uri="{FF2B5EF4-FFF2-40B4-BE49-F238E27FC236}">
                <a16:creationId xmlns:a16="http://schemas.microsoft.com/office/drawing/2014/main" id="{FF85D7AB-9903-45B2-09E6-E917B7C3BEB7}"/>
              </a:ext>
            </a:extLst>
          </p:cNvPr>
          <p:cNvPicPr>
            <a:picLocks noChangeAspect="1"/>
          </p:cNvPicPr>
          <p:nvPr/>
        </p:nvPicPr>
        <p:blipFill>
          <a:blip r:embed="rId2"/>
          <a:stretch>
            <a:fillRect/>
          </a:stretch>
        </p:blipFill>
        <p:spPr>
          <a:xfrm>
            <a:off x="7529805" y="2774523"/>
            <a:ext cx="4328173" cy="2324638"/>
          </a:xfrm>
          <a:prstGeom prst="rect">
            <a:avLst/>
          </a:prstGeom>
        </p:spPr>
      </p:pic>
      <p:sp>
        <p:nvSpPr>
          <p:cNvPr id="16" name="TextBox 15">
            <a:extLst>
              <a:ext uri="{FF2B5EF4-FFF2-40B4-BE49-F238E27FC236}">
                <a16:creationId xmlns:a16="http://schemas.microsoft.com/office/drawing/2014/main" id="{C938C2EB-5421-5654-1274-D53D13F09B66}"/>
              </a:ext>
            </a:extLst>
          </p:cNvPr>
          <p:cNvSpPr txBox="1"/>
          <p:nvPr/>
        </p:nvSpPr>
        <p:spPr>
          <a:xfrm>
            <a:off x="7784820" y="2286380"/>
            <a:ext cx="3452210" cy="338554"/>
          </a:xfrm>
          <a:prstGeom prst="rect">
            <a:avLst/>
          </a:prstGeom>
          <a:noFill/>
        </p:spPr>
        <p:txBody>
          <a:bodyPr wrap="square">
            <a:spAutoFit/>
          </a:bodyPr>
          <a:lstStyle/>
          <a:p>
            <a:r>
              <a:rPr lang="en-US" sz="1600"/>
              <a:t>Gambar 7a. Skema Dioda Arah Mundur</a:t>
            </a:r>
            <a:endParaRPr lang="en-US" sz="1600" dirty="0"/>
          </a:p>
        </p:txBody>
      </p:sp>
      <p:pic>
        <p:nvPicPr>
          <p:cNvPr id="10" name="Picture 9">
            <a:extLst>
              <a:ext uri="{FF2B5EF4-FFF2-40B4-BE49-F238E27FC236}">
                <a16:creationId xmlns:a16="http://schemas.microsoft.com/office/drawing/2014/main" id="{34110BE2-6C59-6441-0B5B-BE028B4804CA}"/>
              </a:ext>
            </a:extLst>
          </p:cNvPr>
          <p:cNvPicPr>
            <a:picLocks noChangeAspect="1"/>
          </p:cNvPicPr>
          <p:nvPr/>
        </p:nvPicPr>
        <p:blipFill>
          <a:blip r:embed="rId3"/>
          <a:stretch>
            <a:fillRect/>
          </a:stretch>
        </p:blipFill>
        <p:spPr>
          <a:xfrm>
            <a:off x="7604450" y="54174"/>
            <a:ext cx="3878580" cy="2217420"/>
          </a:xfrm>
          <a:prstGeom prst="rect">
            <a:avLst/>
          </a:prstGeom>
        </p:spPr>
      </p:pic>
    </p:spTree>
    <p:extLst>
      <p:ext uri="{BB962C8B-B14F-4D97-AF65-F5344CB8AC3E}">
        <p14:creationId xmlns:p14="http://schemas.microsoft.com/office/powerpoint/2010/main" val="172699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26BF3-CB42-74B3-88DA-FE5DD500FA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441486-2C63-6971-9413-D24F30272F42}"/>
              </a:ext>
            </a:extLst>
          </p:cNvPr>
          <p:cNvSpPr txBox="1"/>
          <p:nvPr/>
        </p:nvSpPr>
        <p:spPr>
          <a:xfrm>
            <a:off x="826995" y="459503"/>
            <a:ext cx="6637496" cy="3539430"/>
          </a:xfrm>
          <a:prstGeom prst="rect">
            <a:avLst/>
          </a:prstGeom>
          <a:noFill/>
        </p:spPr>
        <p:txBody>
          <a:bodyPr wrap="square">
            <a:spAutoFit/>
          </a:bodyPr>
          <a:lstStyle/>
          <a:p>
            <a:r>
              <a:rPr lang="en-US" sz="1600"/>
              <a:t>E. Langkah-Langkah Pengukuran Diode </a:t>
            </a:r>
            <a:r>
              <a:rPr lang="en-US" sz="1600" b="1">
                <a:solidFill>
                  <a:srgbClr val="FF0000"/>
                </a:solidFill>
              </a:rPr>
              <a:t>Zener Arah Maju (</a:t>
            </a:r>
            <a:r>
              <a:rPr lang="en-US" sz="1600" b="1">
                <a:solidFill>
                  <a:srgbClr val="FF0000"/>
                </a:solidFill>
                <a:cs typeface="Times New Roman" panose="02020603050405020304" pitchFamily="18" charset="0"/>
              </a:rPr>
              <a:t>1N4737A</a:t>
            </a:r>
            <a:r>
              <a:rPr lang="en-US" sz="1600" b="1">
                <a:solidFill>
                  <a:srgbClr val="FF0000"/>
                </a:solidFill>
              </a:rPr>
              <a:t> 7,5V)</a:t>
            </a:r>
            <a:endParaRPr lang="en-US" sz="1600" b="1" dirty="0">
              <a:solidFill>
                <a:srgbClr val="FF0000"/>
              </a:solidFill>
            </a:endParaRPr>
          </a:p>
          <a:p>
            <a:endParaRPr lang="en-US" sz="1600"/>
          </a:p>
          <a:p>
            <a:r>
              <a:rPr lang="en-US" sz="1600"/>
              <a:t>1</a:t>
            </a:r>
            <a:r>
              <a:rPr lang="en-US" sz="1600" dirty="0"/>
              <a:t>.  </a:t>
            </a:r>
            <a:r>
              <a:rPr lang="en-US" sz="1600" dirty="0" err="1"/>
              <a:t>Susunlah</a:t>
            </a:r>
            <a:r>
              <a:rPr lang="en-US" sz="1600" dirty="0"/>
              <a:t> </a:t>
            </a:r>
            <a:r>
              <a:rPr lang="en-US" sz="1600" dirty="0" err="1"/>
              <a:t>rangkaian</a:t>
            </a:r>
            <a:r>
              <a:rPr lang="en-US" sz="1600" dirty="0"/>
              <a:t>  </a:t>
            </a:r>
            <a:r>
              <a:rPr lang="en-US" sz="1600" dirty="0" err="1"/>
              <a:t>percobaan</a:t>
            </a:r>
            <a:r>
              <a:rPr lang="en-US" sz="1600" dirty="0"/>
              <a:t> </a:t>
            </a:r>
            <a:r>
              <a:rPr lang="en-US" sz="1600" dirty="0" err="1"/>
              <a:t>seperti</a:t>
            </a:r>
            <a:r>
              <a:rPr lang="en-US" sz="1600" dirty="0"/>
              <a:t> yang </a:t>
            </a:r>
            <a:r>
              <a:rPr lang="en-US" sz="1600" dirty="0" err="1"/>
              <a:t>ditunjukan</a:t>
            </a:r>
            <a:r>
              <a:rPr lang="en-US" sz="1600" dirty="0"/>
              <a:t> pada </a:t>
            </a:r>
            <a:r>
              <a:rPr lang="en-US" sz="1600"/>
              <a:t>Gambar 8b.</a:t>
            </a:r>
            <a:endParaRPr lang="en-US" sz="1600" dirty="0"/>
          </a:p>
          <a:p>
            <a:r>
              <a:rPr lang="en-US" sz="1600" dirty="0"/>
              <a:t>2.  </a:t>
            </a:r>
            <a:r>
              <a:rPr lang="en-US" sz="1600" dirty="0" err="1"/>
              <a:t>Atur</a:t>
            </a:r>
            <a:r>
              <a:rPr lang="en-US" sz="1600" dirty="0"/>
              <a:t> </a:t>
            </a:r>
            <a:r>
              <a:rPr lang="en-US" sz="1600" dirty="0" err="1"/>
              <a:t>sumber</a:t>
            </a:r>
            <a:r>
              <a:rPr lang="en-US" sz="1600" dirty="0"/>
              <a:t> </a:t>
            </a:r>
            <a:r>
              <a:rPr lang="en-US" sz="1600" dirty="0" err="1"/>
              <a:t>tegangan</a:t>
            </a:r>
            <a:r>
              <a:rPr lang="en-US" sz="1600" dirty="0"/>
              <a:t> </a:t>
            </a:r>
            <a:r>
              <a:rPr lang="en-US" sz="1600"/>
              <a:t>Vs sedemikian sehingga </a:t>
            </a:r>
            <a:r>
              <a:rPr lang="en-US" sz="1600" err="1"/>
              <a:t>tegangan</a:t>
            </a:r>
            <a:r>
              <a:rPr lang="en-US" sz="1600"/>
              <a:t> diode Vd </a:t>
            </a:r>
            <a:r>
              <a:rPr lang="en-US" sz="1600" dirty="0"/>
              <a:t>=  0,1 Volt. </a:t>
            </a:r>
          </a:p>
          <a:p>
            <a:r>
              <a:rPr lang="en-US" sz="1600" dirty="0"/>
              <a:t>3.  </a:t>
            </a:r>
            <a:r>
              <a:rPr lang="en-US" sz="1600" err="1"/>
              <a:t>Ukurlah</a:t>
            </a:r>
            <a:r>
              <a:rPr lang="en-US" sz="1600"/>
              <a:t>  Id, VR dan Vs, </a:t>
            </a:r>
            <a:r>
              <a:rPr lang="en-US" sz="1600" dirty="0" err="1"/>
              <a:t>catat</a:t>
            </a:r>
            <a:r>
              <a:rPr lang="en-US" sz="1600" dirty="0"/>
              <a:t> </a:t>
            </a:r>
            <a:r>
              <a:rPr lang="en-US" sz="1600" dirty="0" err="1"/>
              <a:t>hasilnya</a:t>
            </a:r>
            <a:r>
              <a:rPr lang="en-US" sz="1600" dirty="0"/>
              <a:t> pada </a:t>
            </a:r>
            <a:r>
              <a:rPr lang="en-US" sz="1600" err="1"/>
              <a:t>Tabel</a:t>
            </a:r>
            <a:r>
              <a:rPr lang="en-US" sz="1600"/>
              <a:t> 1.5.</a:t>
            </a:r>
            <a:endParaRPr lang="en-US" sz="1600" dirty="0"/>
          </a:p>
          <a:p>
            <a:r>
              <a:rPr lang="en-US" sz="1600" dirty="0"/>
              <a:t>4.  </a:t>
            </a:r>
            <a:r>
              <a:rPr lang="en-US" sz="1600" dirty="0" err="1"/>
              <a:t>Ulangi</a:t>
            </a:r>
            <a:r>
              <a:rPr lang="en-US" sz="1600" dirty="0"/>
              <a:t> </a:t>
            </a:r>
            <a:r>
              <a:rPr lang="en-US" sz="1600" dirty="0" err="1"/>
              <a:t>langkah</a:t>
            </a:r>
            <a:r>
              <a:rPr lang="en-US" sz="1600" dirty="0"/>
              <a:t> 2 dan 3 </a:t>
            </a:r>
            <a:r>
              <a:rPr lang="en-US" sz="1600" err="1"/>
              <a:t>untuk</a:t>
            </a:r>
            <a:r>
              <a:rPr lang="en-US" sz="1600"/>
              <a:t> setiap nilai Vd </a:t>
            </a:r>
            <a:r>
              <a:rPr lang="en-US" sz="1600" dirty="0" err="1"/>
              <a:t>seperti</a:t>
            </a:r>
            <a:r>
              <a:rPr lang="en-US" sz="1600" dirty="0"/>
              <a:t> </a:t>
            </a:r>
            <a:r>
              <a:rPr lang="en-US" sz="1600" dirty="0" err="1"/>
              <a:t>tertulis</a:t>
            </a:r>
            <a:r>
              <a:rPr lang="en-US" sz="1600" dirty="0"/>
              <a:t> pada  </a:t>
            </a:r>
            <a:r>
              <a:rPr lang="en-US" sz="1600"/>
              <a:t>Table 1.5</a:t>
            </a:r>
            <a:endParaRPr lang="en-US" sz="1600" dirty="0"/>
          </a:p>
          <a:p>
            <a:r>
              <a:rPr lang="en-US" sz="1600" dirty="0"/>
              <a:t>5.  </a:t>
            </a:r>
            <a:r>
              <a:rPr lang="en-US" sz="1600" dirty="0" err="1"/>
              <a:t>Hitung</a:t>
            </a:r>
            <a:r>
              <a:rPr lang="en-US" sz="1600" dirty="0"/>
              <a:t> </a:t>
            </a:r>
            <a:r>
              <a:rPr lang="en-US" sz="1600" err="1"/>
              <a:t>nilai</a:t>
            </a:r>
            <a:r>
              <a:rPr lang="en-US" sz="1600"/>
              <a:t>  Rf (R diode forward) untuk </a:t>
            </a:r>
            <a:r>
              <a:rPr lang="en-US" sz="1600" dirty="0" err="1"/>
              <a:t>setiap</a:t>
            </a:r>
            <a:r>
              <a:rPr lang="en-US" sz="1600" dirty="0"/>
              <a:t> </a:t>
            </a:r>
            <a:r>
              <a:rPr lang="en-US" sz="1600" err="1"/>
              <a:t>nilai</a:t>
            </a:r>
            <a:r>
              <a:rPr lang="en-US" sz="1600"/>
              <a:t> Vd dan Id. </a:t>
            </a:r>
            <a:r>
              <a:rPr lang="en-US" sz="1600" dirty="0" err="1"/>
              <a:t>Catat</a:t>
            </a:r>
            <a:r>
              <a:rPr lang="en-US" sz="1600" dirty="0"/>
              <a:t> </a:t>
            </a:r>
            <a:r>
              <a:rPr lang="en-US" sz="1600" dirty="0" err="1"/>
              <a:t>hasilnya</a:t>
            </a:r>
            <a:r>
              <a:rPr lang="en-US" sz="1600" dirty="0"/>
              <a:t> pada </a:t>
            </a:r>
            <a:r>
              <a:rPr lang="en-US" sz="1600" err="1"/>
              <a:t>Tabel</a:t>
            </a:r>
            <a:r>
              <a:rPr lang="en-US" sz="1600"/>
              <a:t> 1.5.</a:t>
            </a:r>
            <a:endParaRPr lang="en-US" sz="1600" dirty="0"/>
          </a:p>
          <a:p>
            <a:r>
              <a:rPr lang="en-US" sz="1600" dirty="0"/>
              <a:t>6.  </a:t>
            </a:r>
            <a:r>
              <a:rPr lang="en-US" sz="1600" dirty="0" err="1"/>
              <a:t>Naikkan</a:t>
            </a:r>
            <a:r>
              <a:rPr lang="en-US" sz="1600" dirty="0"/>
              <a:t> </a:t>
            </a:r>
            <a:r>
              <a:rPr lang="en-US" sz="1600"/>
              <a:t>temperature diode dengan </a:t>
            </a:r>
            <a:r>
              <a:rPr lang="en-US" sz="1600" dirty="0" err="1"/>
              <a:t>cara</a:t>
            </a:r>
            <a:r>
              <a:rPr lang="en-US" sz="1600" dirty="0"/>
              <a:t> </a:t>
            </a:r>
            <a:r>
              <a:rPr lang="en-US" sz="1600" dirty="0" err="1"/>
              <a:t>memegang</a:t>
            </a:r>
            <a:r>
              <a:rPr lang="en-US" sz="1600" dirty="0"/>
              <a:t> diode (</a:t>
            </a:r>
            <a:r>
              <a:rPr lang="en-US" sz="1600" dirty="0" err="1"/>
              <a:t>tanpa</a:t>
            </a:r>
            <a:r>
              <a:rPr lang="en-US" sz="1600" dirty="0"/>
              <a:t> </a:t>
            </a:r>
            <a:r>
              <a:rPr lang="en-US" sz="1600" dirty="0" err="1"/>
              <a:t>menyentuh</a:t>
            </a:r>
            <a:r>
              <a:rPr lang="en-US" sz="1600" dirty="0"/>
              <a:t> kaki-kaki </a:t>
            </a:r>
            <a:r>
              <a:rPr lang="en-US" sz="1600" dirty="0" err="1"/>
              <a:t>diodanya</a:t>
            </a:r>
            <a:r>
              <a:rPr lang="en-US" sz="1600"/>
              <a:t>) dengan </a:t>
            </a:r>
            <a:r>
              <a:rPr lang="en-US" sz="1600" dirty="0" err="1"/>
              <a:t>jari-tangan</a:t>
            </a:r>
            <a:r>
              <a:rPr lang="en-US" sz="1600" dirty="0"/>
              <a:t>. </a:t>
            </a:r>
            <a:r>
              <a:rPr lang="en-US" sz="1600" dirty="0" err="1"/>
              <a:t>Perhatikan</a:t>
            </a:r>
            <a:r>
              <a:rPr lang="en-US" sz="1600" dirty="0"/>
              <a:t> </a:t>
            </a:r>
            <a:r>
              <a:rPr lang="en-US" sz="1600" dirty="0" err="1"/>
              <a:t>apa</a:t>
            </a:r>
            <a:r>
              <a:rPr lang="en-US" sz="1600" dirty="0"/>
              <a:t> yang </a:t>
            </a:r>
            <a:r>
              <a:rPr lang="en-US" sz="1600" dirty="0" err="1"/>
              <a:t>terjadi</a:t>
            </a:r>
            <a:r>
              <a:rPr lang="en-US" sz="1600" dirty="0"/>
              <a:t> </a:t>
            </a:r>
            <a:r>
              <a:rPr lang="en-US" sz="1600" err="1"/>
              <a:t>dengan</a:t>
            </a:r>
            <a:r>
              <a:rPr lang="en-US" sz="1600"/>
              <a:t> arus/</a:t>
            </a:r>
            <a:r>
              <a:rPr lang="en-US" sz="1600" dirty="0" err="1"/>
              <a:t>tegangan</a:t>
            </a:r>
            <a:r>
              <a:rPr lang="en-US" sz="1600" dirty="0"/>
              <a:t> </a:t>
            </a:r>
            <a:r>
              <a:rPr lang="en-US" sz="1600"/>
              <a:t>(Id dan Vd) </a:t>
            </a:r>
            <a:r>
              <a:rPr lang="en-US" sz="1600">
                <a:solidFill>
                  <a:srgbClr val="FF0000"/>
                </a:solidFill>
              </a:rPr>
              <a:t>(hanya untuk percobaan riil)</a:t>
            </a:r>
            <a:r>
              <a:rPr lang="en-US" sz="1600"/>
              <a:t>.</a:t>
            </a:r>
            <a:endParaRPr lang="en-US" sz="1600" dirty="0"/>
          </a:p>
          <a:p>
            <a:r>
              <a:rPr lang="en-US" sz="1600" dirty="0"/>
              <a:t>7.  </a:t>
            </a:r>
            <a:r>
              <a:rPr lang="en-US" sz="1600" dirty="0" err="1"/>
              <a:t>Gambarkan</a:t>
            </a:r>
            <a:r>
              <a:rPr lang="en-US" sz="1600" dirty="0"/>
              <a:t> </a:t>
            </a:r>
            <a:r>
              <a:rPr lang="en-US" sz="1600" dirty="0" err="1"/>
              <a:t>grafik</a:t>
            </a:r>
            <a:r>
              <a:rPr lang="en-US" sz="1600" dirty="0"/>
              <a:t> </a:t>
            </a:r>
            <a:r>
              <a:rPr lang="en-US" sz="1600" err="1"/>
              <a:t>kurva</a:t>
            </a:r>
            <a:r>
              <a:rPr lang="en-US" sz="1600"/>
              <a:t> karakteristik dioda </a:t>
            </a:r>
            <a:r>
              <a:rPr lang="en-US" sz="1600" dirty="0"/>
              <a:t>forward </a:t>
            </a:r>
            <a:r>
              <a:rPr lang="en-US" sz="1600"/>
              <a:t>bias Id vs Vd </a:t>
            </a:r>
            <a:r>
              <a:rPr lang="en-US" sz="1600" dirty="0" err="1"/>
              <a:t>dari</a:t>
            </a:r>
            <a:r>
              <a:rPr lang="en-US" sz="1600" dirty="0"/>
              <a:t> data </a:t>
            </a:r>
            <a:r>
              <a:rPr lang="en-US" sz="1600" err="1"/>
              <a:t>Tabel</a:t>
            </a:r>
            <a:r>
              <a:rPr lang="en-US" sz="1600"/>
              <a:t> 1.5.</a:t>
            </a:r>
            <a:endParaRPr lang="en-US" sz="1600" dirty="0"/>
          </a:p>
        </p:txBody>
      </p:sp>
      <p:sp>
        <p:nvSpPr>
          <p:cNvPr id="5" name="TextBox 4">
            <a:extLst>
              <a:ext uri="{FF2B5EF4-FFF2-40B4-BE49-F238E27FC236}">
                <a16:creationId xmlns:a16="http://schemas.microsoft.com/office/drawing/2014/main" id="{322E045B-7D9A-7140-95A8-B2D9AFA55D7C}"/>
              </a:ext>
            </a:extLst>
          </p:cNvPr>
          <p:cNvSpPr txBox="1"/>
          <p:nvPr/>
        </p:nvSpPr>
        <p:spPr>
          <a:xfrm>
            <a:off x="649988" y="4932559"/>
            <a:ext cx="6076820" cy="338554"/>
          </a:xfrm>
          <a:prstGeom prst="rect">
            <a:avLst/>
          </a:prstGeom>
          <a:noFill/>
        </p:spPr>
        <p:txBody>
          <a:bodyPr wrap="square">
            <a:spAutoFit/>
          </a:bodyPr>
          <a:lstStyle/>
          <a:p>
            <a:r>
              <a:rPr lang="en-US" sz="1600" dirty="0"/>
              <a:t> </a:t>
            </a:r>
            <a:r>
              <a:rPr lang="en-US" sz="1600" err="1"/>
              <a:t>Tabel</a:t>
            </a:r>
            <a:r>
              <a:rPr lang="en-US" sz="1600"/>
              <a:t> 1.5  </a:t>
            </a:r>
            <a:r>
              <a:rPr lang="en-US" sz="1600" dirty="0"/>
              <a:t>Data </a:t>
            </a:r>
            <a:r>
              <a:rPr lang="en-US" sz="1600" err="1"/>
              <a:t>Pengukuran</a:t>
            </a:r>
            <a:r>
              <a:rPr lang="en-US" sz="1600"/>
              <a:t> Dioda Zener Arah </a:t>
            </a:r>
            <a:r>
              <a:rPr lang="en-US" sz="1600" dirty="0" err="1"/>
              <a:t>Maju</a:t>
            </a:r>
            <a:r>
              <a:rPr lang="en-US" sz="1600" dirty="0"/>
              <a:t>.</a:t>
            </a:r>
          </a:p>
        </p:txBody>
      </p:sp>
      <p:graphicFrame>
        <p:nvGraphicFramePr>
          <p:cNvPr id="4" name="Table 3">
            <a:extLst>
              <a:ext uri="{FF2B5EF4-FFF2-40B4-BE49-F238E27FC236}">
                <a16:creationId xmlns:a16="http://schemas.microsoft.com/office/drawing/2014/main" id="{C3383492-1505-DC24-10FE-B13429FF0704}"/>
              </a:ext>
            </a:extLst>
          </p:cNvPr>
          <p:cNvGraphicFramePr>
            <a:graphicFrameLocks noGrp="1"/>
          </p:cNvGraphicFramePr>
          <p:nvPr>
            <p:extLst>
              <p:ext uri="{D42A27DB-BD31-4B8C-83A1-F6EECF244321}">
                <p14:modId xmlns:p14="http://schemas.microsoft.com/office/powerpoint/2010/main" val="97521927"/>
              </p:ext>
            </p:extLst>
          </p:nvPr>
        </p:nvGraphicFramePr>
        <p:xfrm>
          <a:off x="758891" y="5388866"/>
          <a:ext cx="6705600" cy="9144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426307425"/>
                    </a:ext>
                  </a:extLst>
                </a:gridCol>
                <a:gridCol w="609600">
                  <a:extLst>
                    <a:ext uri="{9D8B030D-6E8A-4147-A177-3AD203B41FA5}">
                      <a16:colId xmlns:a16="http://schemas.microsoft.com/office/drawing/2014/main" val="2706382708"/>
                    </a:ext>
                  </a:extLst>
                </a:gridCol>
                <a:gridCol w="609600">
                  <a:extLst>
                    <a:ext uri="{9D8B030D-6E8A-4147-A177-3AD203B41FA5}">
                      <a16:colId xmlns:a16="http://schemas.microsoft.com/office/drawing/2014/main" val="1020282341"/>
                    </a:ext>
                  </a:extLst>
                </a:gridCol>
                <a:gridCol w="609600">
                  <a:extLst>
                    <a:ext uri="{9D8B030D-6E8A-4147-A177-3AD203B41FA5}">
                      <a16:colId xmlns:a16="http://schemas.microsoft.com/office/drawing/2014/main" val="664752446"/>
                    </a:ext>
                  </a:extLst>
                </a:gridCol>
                <a:gridCol w="609600">
                  <a:extLst>
                    <a:ext uri="{9D8B030D-6E8A-4147-A177-3AD203B41FA5}">
                      <a16:colId xmlns:a16="http://schemas.microsoft.com/office/drawing/2014/main" val="2715350408"/>
                    </a:ext>
                  </a:extLst>
                </a:gridCol>
                <a:gridCol w="609600">
                  <a:extLst>
                    <a:ext uri="{9D8B030D-6E8A-4147-A177-3AD203B41FA5}">
                      <a16:colId xmlns:a16="http://schemas.microsoft.com/office/drawing/2014/main" val="633381375"/>
                    </a:ext>
                  </a:extLst>
                </a:gridCol>
                <a:gridCol w="609600">
                  <a:extLst>
                    <a:ext uri="{9D8B030D-6E8A-4147-A177-3AD203B41FA5}">
                      <a16:colId xmlns:a16="http://schemas.microsoft.com/office/drawing/2014/main" val="1016075583"/>
                    </a:ext>
                  </a:extLst>
                </a:gridCol>
                <a:gridCol w="609600">
                  <a:extLst>
                    <a:ext uri="{9D8B030D-6E8A-4147-A177-3AD203B41FA5}">
                      <a16:colId xmlns:a16="http://schemas.microsoft.com/office/drawing/2014/main" val="3290392148"/>
                    </a:ext>
                  </a:extLst>
                </a:gridCol>
                <a:gridCol w="609600">
                  <a:extLst>
                    <a:ext uri="{9D8B030D-6E8A-4147-A177-3AD203B41FA5}">
                      <a16:colId xmlns:a16="http://schemas.microsoft.com/office/drawing/2014/main" val="3080513053"/>
                    </a:ext>
                  </a:extLst>
                </a:gridCol>
                <a:gridCol w="609600">
                  <a:extLst>
                    <a:ext uri="{9D8B030D-6E8A-4147-A177-3AD203B41FA5}">
                      <a16:colId xmlns:a16="http://schemas.microsoft.com/office/drawing/2014/main" val="2102021027"/>
                    </a:ext>
                  </a:extLst>
                </a:gridCol>
                <a:gridCol w="609600">
                  <a:extLst>
                    <a:ext uri="{9D8B030D-6E8A-4147-A177-3AD203B41FA5}">
                      <a16:colId xmlns:a16="http://schemas.microsoft.com/office/drawing/2014/main" val="1145716458"/>
                    </a:ext>
                  </a:extLst>
                </a:gridCol>
              </a:tblGrid>
              <a:tr h="182880">
                <a:tc>
                  <a:txBody>
                    <a:bodyPr/>
                    <a:lstStyle/>
                    <a:p>
                      <a:pPr algn="l" fontAlgn="b"/>
                      <a:r>
                        <a:rPr lang="en-ID" sz="1100" u="none" strike="noStrike">
                          <a:effectLst/>
                        </a:rPr>
                        <a:t>Vs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05401599"/>
                  </a:ext>
                </a:extLst>
              </a:tr>
              <a:tr h="182880">
                <a:tc>
                  <a:txBody>
                    <a:bodyPr/>
                    <a:lstStyle/>
                    <a:p>
                      <a:pPr algn="l" fontAlgn="b"/>
                      <a:r>
                        <a:rPr lang="en-ID" sz="1100" u="none" strike="noStrike">
                          <a:effectLst/>
                        </a:rPr>
                        <a:t>Vd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0,1</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0,2</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0,3</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0,4</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0,5</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0,6</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0,65</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0,7</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0,75</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0,8</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94056913"/>
                  </a:ext>
                </a:extLst>
              </a:tr>
              <a:tr h="182880">
                <a:tc>
                  <a:txBody>
                    <a:bodyPr/>
                    <a:lstStyle/>
                    <a:p>
                      <a:pPr algn="l" fontAlgn="b"/>
                      <a:r>
                        <a:rPr lang="en-ID" sz="1100" u="none" strike="noStrike">
                          <a:effectLst/>
                        </a:rPr>
                        <a:t>Id (mA)</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76519069"/>
                  </a:ext>
                </a:extLst>
              </a:tr>
              <a:tr h="182880">
                <a:tc>
                  <a:txBody>
                    <a:bodyPr/>
                    <a:lstStyle/>
                    <a:p>
                      <a:pPr algn="l" fontAlgn="b"/>
                      <a:r>
                        <a:rPr lang="en-ID" sz="1100" u="none" strike="noStrike">
                          <a:effectLst/>
                        </a:rPr>
                        <a:t>VR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91707969"/>
                  </a:ext>
                </a:extLst>
              </a:tr>
              <a:tr h="182880">
                <a:tc>
                  <a:txBody>
                    <a:bodyPr/>
                    <a:lstStyle/>
                    <a:p>
                      <a:pPr algn="l" fontAlgn="b"/>
                      <a:r>
                        <a:rPr lang="en-ID" sz="1100" u="none" strike="noStrike">
                          <a:effectLst/>
                        </a:rPr>
                        <a:t>Rf (Ohm)</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81527195"/>
                  </a:ext>
                </a:extLst>
              </a:tr>
            </a:tbl>
          </a:graphicData>
        </a:graphic>
      </p:graphicFrame>
      <p:sp>
        <p:nvSpPr>
          <p:cNvPr id="2" name="Rectangle 1">
            <a:extLst>
              <a:ext uri="{FF2B5EF4-FFF2-40B4-BE49-F238E27FC236}">
                <a16:creationId xmlns:a16="http://schemas.microsoft.com/office/drawing/2014/main" id="{E64ABCBF-A28D-4B1B-06FF-2BDCB3FA676F}"/>
              </a:ext>
            </a:extLst>
          </p:cNvPr>
          <p:cNvSpPr/>
          <p:nvPr/>
        </p:nvSpPr>
        <p:spPr>
          <a:xfrm>
            <a:off x="9110741" y="362970"/>
            <a:ext cx="137160"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5">
            <a:extLst>
              <a:ext uri="{FF2B5EF4-FFF2-40B4-BE49-F238E27FC236}">
                <a16:creationId xmlns:a16="http://schemas.microsoft.com/office/drawing/2014/main" id="{5D2BB0A2-D68E-D998-2D7B-1C9DF2A8B4A7}"/>
              </a:ext>
            </a:extLst>
          </p:cNvPr>
          <p:cNvSpPr/>
          <p:nvPr/>
        </p:nvSpPr>
        <p:spPr>
          <a:xfrm rot="16200000">
            <a:off x="10935064" y="1012862"/>
            <a:ext cx="168337"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16">
            <a:extLst>
              <a:ext uri="{FF2B5EF4-FFF2-40B4-BE49-F238E27FC236}">
                <a16:creationId xmlns:a16="http://schemas.microsoft.com/office/drawing/2014/main" id="{DD16E3DF-4A1F-37D7-E7AD-D45292EF8D50}"/>
              </a:ext>
            </a:extLst>
          </p:cNvPr>
          <p:cNvSpPr/>
          <p:nvPr/>
        </p:nvSpPr>
        <p:spPr>
          <a:xfrm>
            <a:off x="10454550" y="276842"/>
            <a:ext cx="290462" cy="1308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000EF57D-FE44-DF52-5C17-187A0A7C0B8B}"/>
              </a:ext>
            </a:extLst>
          </p:cNvPr>
          <p:cNvSpPr txBox="1"/>
          <p:nvPr/>
        </p:nvSpPr>
        <p:spPr>
          <a:xfrm>
            <a:off x="8760394" y="5400124"/>
            <a:ext cx="3159048" cy="584775"/>
          </a:xfrm>
          <a:prstGeom prst="rect">
            <a:avLst/>
          </a:prstGeom>
          <a:noFill/>
        </p:spPr>
        <p:txBody>
          <a:bodyPr wrap="square">
            <a:spAutoFit/>
          </a:bodyPr>
          <a:lstStyle/>
          <a:p>
            <a:r>
              <a:rPr lang="en-US" sz="1600"/>
              <a:t>Gambar 8b. Skema Pengukuran </a:t>
            </a:r>
            <a:r>
              <a:rPr lang="en-US" sz="1600" err="1"/>
              <a:t>Dioda</a:t>
            </a:r>
            <a:r>
              <a:rPr lang="en-US" sz="1600"/>
              <a:t> Zener Arah </a:t>
            </a:r>
            <a:r>
              <a:rPr lang="en-US" sz="1600" dirty="0" err="1"/>
              <a:t>Maju</a:t>
            </a:r>
            <a:endParaRPr lang="en-US" sz="1600" dirty="0"/>
          </a:p>
        </p:txBody>
      </p:sp>
      <p:sp>
        <p:nvSpPr>
          <p:cNvPr id="15" name="TextBox 14">
            <a:extLst>
              <a:ext uri="{FF2B5EF4-FFF2-40B4-BE49-F238E27FC236}">
                <a16:creationId xmlns:a16="http://schemas.microsoft.com/office/drawing/2014/main" id="{97EE46F4-3D04-490F-9B02-2524C310AD0F}"/>
              </a:ext>
            </a:extLst>
          </p:cNvPr>
          <p:cNvSpPr txBox="1"/>
          <p:nvPr/>
        </p:nvSpPr>
        <p:spPr>
          <a:xfrm>
            <a:off x="7911364" y="2374694"/>
            <a:ext cx="3810000" cy="338554"/>
          </a:xfrm>
          <a:prstGeom prst="rect">
            <a:avLst/>
          </a:prstGeom>
          <a:noFill/>
        </p:spPr>
        <p:txBody>
          <a:bodyPr wrap="square">
            <a:spAutoFit/>
          </a:bodyPr>
          <a:lstStyle/>
          <a:p>
            <a:r>
              <a:rPr lang="en-US" sz="1600"/>
              <a:t>Gambar 8a. Skema Dioda Zener Arah </a:t>
            </a:r>
            <a:r>
              <a:rPr lang="en-US" sz="1600" dirty="0" err="1"/>
              <a:t>Maju</a:t>
            </a:r>
            <a:endParaRPr lang="en-US" sz="1600" dirty="0"/>
          </a:p>
        </p:txBody>
      </p:sp>
      <p:pic>
        <p:nvPicPr>
          <p:cNvPr id="10" name="Picture 9">
            <a:extLst>
              <a:ext uri="{FF2B5EF4-FFF2-40B4-BE49-F238E27FC236}">
                <a16:creationId xmlns:a16="http://schemas.microsoft.com/office/drawing/2014/main" id="{7ACF6AF5-9399-1B6F-3EE3-235DA16812B5}"/>
              </a:ext>
            </a:extLst>
          </p:cNvPr>
          <p:cNvPicPr>
            <a:picLocks noChangeAspect="1"/>
          </p:cNvPicPr>
          <p:nvPr/>
        </p:nvPicPr>
        <p:blipFill>
          <a:blip r:embed="rId2"/>
          <a:stretch>
            <a:fillRect/>
          </a:stretch>
        </p:blipFill>
        <p:spPr>
          <a:xfrm>
            <a:off x="7708209" y="3022680"/>
            <a:ext cx="4443057" cy="2366186"/>
          </a:xfrm>
          <a:prstGeom prst="rect">
            <a:avLst/>
          </a:prstGeom>
        </p:spPr>
      </p:pic>
      <p:pic>
        <p:nvPicPr>
          <p:cNvPr id="11" name="Picture 10">
            <a:extLst>
              <a:ext uri="{FF2B5EF4-FFF2-40B4-BE49-F238E27FC236}">
                <a16:creationId xmlns:a16="http://schemas.microsoft.com/office/drawing/2014/main" id="{8D706541-67FA-843E-AC5B-7E0C8ABB1BA0}"/>
              </a:ext>
            </a:extLst>
          </p:cNvPr>
          <p:cNvPicPr>
            <a:picLocks noChangeAspect="1"/>
          </p:cNvPicPr>
          <p:nvPr/>
        </p:nvPicPr>
        <p:blipFill>
          <a:blip r:embed="rId3"/>
          <a:stretch>
            <a:fillRect/>
          </a:stretch>
        </p:blipFill>
        <p:spPr>
          <a:xfrm>
            <a:off x="7992923" y="157274"/>
            <a:ext cx="3810000" cy="2217420"/>
          </a:xfrm>
          <a:prstGeom prst="rect">
            <a:avLst/>
          </a:prstGeom>
        </p:spPr>
      </p:pic>
    </p:spTree>
    <p:extLst>
      <p:ext uri="{BB962C8B-B14F-4D97-AF65-F5344CB8AC3E}">
        <p14:creationId xmlns:p14="http://schemas.microsoft.com/office/powerpoint/2010/main" val="2614904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E4194-4707-4D9F-9178-A845232661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43014E-D6C8-7231-C7F1-FE937A3F96B4}"/>
              </a:ext>
            </a:extLst>
          </p:cNvPr>
          <p:cNvSpPr txBox="1"/>
          <p:nvPr/>
        </p:nvSpPr>
        <p:spPr>
          <a:xfrm>
            <a:off x="673085" y="687412"/>
            <a:ext cx="6612095" cy="3539430"/>
          </a:xfrm>
          <a:prstGeom prst="rect">
            <a:avLst/>
          </a:prstGeom>
          <a:noFill/>
        </p:spPr>
        <p:txBody>
          <a:bodyPr wrap="square">
            <a:spAutoFit/>
          </a:bodyPr>
          <a:lstStyle/>
          <a:p>
            <a:r>
              <a:rPr lang="en-US" sz="1600">
                <a:cs typeface="Times New Roman" panose="02020603050405020304" pitchFamily="18" charset="0"/>
              </a:rPr>
              <a:t>F. </a:t>
            </a:r>
            <a:r>
              <a:rPr lang="en-US" sz="1600"/>
              <a:t>Langkah-Langkah Pengukuran </a:t>
            </a:r>
            <a:r>
              <a:rPr lang="en-US" sz="1600">
                <a:cs typeface="Times New Roman" panose="02020603050405020304" pitchFamily="18" charset="0"/>
              </a:rPr>
              <a:t>Diode </a:t>
            </a:r>
            <a:r>
              <a:rPr lang="en-US" sz="1600" b="1">
                <a:solidFill>
                  <a:srgbClr val="FF0000"/>
                </a:solidFill>
              </a:rPr>
              <a:t>Zener  Arah Mundur (</a:t>
            </a:r>
            <a:r>
              <a:rPr lang="en-US" sz="1600" b="1">
                <a:solidFill>
                  <a:srgbClr val="FF0000"/>
                </a:solidFill>
                <a:cs typeface="Times New Roman" panose="02020603050405020304" pitchFamily="18" charset="0"/>
              </a:rPr>
              <a:t>1N4737A </a:t>
            </a:r>
            <a:r>
              <a:rPr lang="en-US" sz="1600" b="1">
                <a:solidFill>
                  <a:srgbClr val="FF0000"/>
                </a:solidFill>
              </a:rPr>
              <a:t>7,5V)</a:t>
            </a:r>
          </a:p>
          <a:p>
            <a:endParaRPr lang="en-US" sz="1600" b="1" dirty="0">
              <a:solidFill>
                <a:srgbClr val="FF0000"/>
              </a:solidFill>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Susunlah  </a:t>
            </a:r>
            <a:r>
              <a:rPr lang="en-US" sz="1600" dirty="0" err="1">
                <a:cs typeface="Times New Roman" panose="02020603050405020304" pitchFamily="18" charset="0"/>
              </a:rPr>
              <a:t>rangkaian</a:t>
            </a:r>
            <a:r>
              <a:rPr lang="en-US" sz="1600" dirty="0">
                <a:cs typeface="Times New Roman" panose="02020603050405020304" pitchFamily="18" charset="0"/>
              </a:rPr>
              <a:t> </a:t>
            </a:r>
            <a:r>
              <a:rPr lang="en-US" sz="1600" dirty="0" err="1">
                <a:cs typeface="Times New Roman" panose="02020603050405020304" pitchFamily="18" charset="0"/>
              </a:rPr>
              <a:t>percobaan</a:t>
            </a:r>
            <a:r>
              <a:rPr lang="en-US" sz="1600" dirty="0">
                <a:cs typeface="Times New Roman" panose="02020603050405020304" pitchFamily="18" charset="0"/>
              </a:rPr>
              <a:t> </a:t>
            </a:r>
            <a:r>
              <a:rPr lang="en-US" sz="1600" dirty="0" err="1">
                <a:cs typeface="Times New Roman" panose="02020603050405020304" pitchFamily="18" charset="0"/>
              </a:rPr>
              <a:t>seperti</a:t>
            </a:r>
            <a:r>
              <a:rPr lang="en-US" sz="1600" dirty="0">
                <a:cs typeface="Times New Roman" panose="02020603050405020304" pitchFamily="18" charset="0"/>
              </a:rPr>
              <a:t> </a:t>
            </a:r>
            <a:r>
              <a:rPr lang="en-US" sz="1600">
                <a:cs typeface="Times New Roman" panose="02020603050405020304" pitchFamily="18" charset="0"/>
              </a:rPr>
              <a:t>Gambar 9b.</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Atur sumber tegangan </a:t>
            </a:r>
            <a:r>
              <a:rPr lang="en-US" sz="1600">
                <a:solidFill>
                  <a:srgbClr val="FF0000"/>
                </a:solidFill>
                <a:cs typeface="Times New Roman" panose="02020603050405020304" pitchFamily="18" charset="0"/>
              </a:rPr>
              <a:t>Vs </a:t>
            </a:r>
            <a:r>
              <a:rPr lang="en-US" sz="1600">
                <a:cs typeface="Times New Roman" panose="02020603050405020304" pitchFamily="18" charset="0"/>
              </a:rPr>
              <a:t>= -1 Volt dengan cara </a:t>
            </a:r>
            <a:r>
              <a:rPr lang="en-US" sz="1600">
                <a:solidFill>
                  <a:srgbClr val="FF0000"/>
                </a:solidFill>
                <a:cs typeface="Times New Roman" panose="02020603050405020304" pitchFamily="18" charset="0"/>
              </a:rPr>
              <a:t>membalik sumber tegangan </a:t>
            </a:r>
            <a:r>
              <a:rPr lang="en-US" sz="1600">
                <a:cs typeface="Times New Roman" panose="02020603050405020304" pitchFamily="18" charset="0"/>
              </a:rPr>
              <a:t>(gambar </a:t>
            </a:r>
            <a:r>
              <a:rPr lang="en-US" sz="1600">
                <a:solidFill>
                  <a:srgbClr val="FF0000"/>
                </a:solidFill>
                <a:cs typeface="Times New Roman" panose="02020603050405020304" pitchFamily="18" charset="0"/>
              </a:rPr>
              <a:t>9a dan 9b</a:t>
            </a:r>
            <a:r>
              <a:rPr lang="en-US" sz="1600">
                <a:cs typeface="Times New Roman" panose="02020603050405020304" pitchFamily="18" charset="0"/>
              </a:rPr>
              <a:t>).</a:t>
            </a:r>
          </a:p>
          <a:p>
            <a:pPr marL="342900" indent="-342900">
              <a:buFont typeface="+mj-lt"/>
              <a:buAutoNum type="arabicPeriod"/>
            </a:pPr>
            <a:r>
              <a:rPr lang="en-US" sz="1600">
                <a:cs typeface="Times New Roman" panose="02020603050405020304" pitchFamily="18" charset="0"/>
              </a:rPr>
              <a:t>Ukur </a:t>
            </a:r>
            <a:r>
              <a:rPr lang="en-US" sz="1600" err="1">
                <a:cs typeface="Times New Roman" panose="02020603050405020304" pitchFamily="18" charset="0"/>
              </a:rPr>
              <a:t>tegangan</a:t>
            </a:r>
            <a:r>
              <a:rPr lang="en-US" sz="1600">
                <a:cs typeface="Times New Roman" panose="02020603050405020304" pitchFamily="18" charset="0"/>
              </a:rPr>
              <a:t> </a:t>
            </a:r>
            <a:r>
              <a:rPr lang="en-US" sz="1600">
                <a:solidFill>
                  <a:srgbClr val="FF0000"/>
                </a:solidFill>
                <a:cs typeface="Times New Roman" panose="02020603050405020304" pitchFamily="18" charset="0"/>
              </a:rPr>
              <a:t>Vd, Id, dan VR</a:t>
            </a:r>
            <a:r>
              <a:rPr lang="en-US" sz="1600">
                <a:cs typeface="Times New Roman" panose="02020603050405020304" pitchFamily="18" charset="0"/>
              </a:rPr>
              <a:t>. Catat </a:t>
            </a:r>
            <a:r>
              <a:rPr lang="en-US" sz="1600" dirty="0" err="1">
                <a:cs typeface="Times New Roman" panose="02020603050405020304" pitchFamily="18" charset="0"/>
              </a:rPr>
              <a:t>hasilnya</a:t>
            </a:r>
            <a:r>
              <a:rPr lang="en-US" sz="1600" dirty="0">
                <a:cs typeface="Times New Roman" panose="02020603050405020304" pitchFamily="18" charset="0"/>
              </a:rPr>
              <a:t> pada </a:t>
            </a:r>
            <a:r>
              <a:rPr lang="en-US" sz="1600">
                <a:cs typeface="Times New Roman" panose="02020603050405020304" pitchFamily="18" charset="0"/>
              </a:rPr>
              <a:t>Table 1.6.</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Ulangi </a:t>
            </a:r>
            <a:r>
              <a:rPr lang="en-US" sz="1600" err="1">
                <a:cs typeface="Times New Roman" panose="02020603050405020304" pitchFamily="18" charset="0"/>
              </a:rPr>
              <a:t>langkah</a:t>
            </a:r>
            <a:r>
              <a:rPr lang="en-US" sz="1600">
                <a:cs typeface="Times New Roman" panose="02020603050405020304" pitchFamily="18" charset="0"/>
              </a:rPr>
              <a:t> 2 dan 3 </a:t>
            </a:r>
            <a:r>
              <a:rPr lang="en-US" sz="1600" err="1">
                <a:cs typeface="Times New Roman" panose="02020603050405020304" pitchFamily="18" charset="0"/>
              </a:rPr>
              <a:t>untuk</a:t>
            </a:r>
            <a:r>
              <a:rPr lang="en-US" sz="1600">
                <a:cs typeface="Times New Roman" panose="02020603050405020304" pitchFamily="18" charset="0"/>
              </a:rPr>
              <a:t> setiap nilai </a:t>
            </a:r>
            <a:r>
              <a:rPr lang="en-US" sz="1600">
                <a:solidFill>
                  <a:srgbClr val="FF0000"/>
                </a:solidFill>
                <a:cs typeface="Times New Roman" panose="02020603050405020304" pitchFamily="18" charset="0"/>
              </a:rPr>
              <a:t>Vs</a:t>
            </a:r>
            <a:r>
              <a:rPr lang="en-US" sz="1600">
                <a:cs typeface="Times New Roman" panose="02020603050405020304" pitchFamily="18" charset="0"/>
              </a:rPr>
              <a:t> seperti </a:t>
            </a:r>
            <a:r>
              <a:rPr lang="en-US" sz="1600" dirty="0" err="1">
                <a:cs typeface="Times New Roman" panose="02020603050405020304" pitchFamily="18" charset="0"/>
              </a:rPr>
              <a:t>tertulis</a:t>
            </a:r>
            <a:r>
              <a:rPr lang="en-US" sz="1600" dirty="0">
                <a:cs typeface="Times New Roman" panose="02020603050405020304" pitchFamily="18" charset="0"/>
              </a:rPr>
              <a:t> pada </a:t>
            </a:r>
            <a:r>
              <a:rPr lang="en-US" sz="1600" err="1">
                <a:cs typeface="Times New Roman" panose="02020603050405020304" pitchFamily="18" charset="0"/>
              </a:rPr>
              <a:t>Tabel</a:t>
            </a:r>
            <a:r>
              <a:rPr lang="en-US" sz="1600">
                <a:cs typeface="Times New Roman" panose="02020603050405020304" pitchFamily="18" charset="0"/>
              </a:rPr>
              <a:t> 1.6</a:t>
            </a:r>
            <a:endParaRPr lang="en-US" sz="1600" dirty="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Hitung </a:t>
            </a:r>
            <a:r>
              <a:rPr lang="en-US" sz="1600" err="1">
                <a:cs typeface="Times New Roman" panose="02020603050405020304" pitchFamily="18" charset="0"/>
              </a:rPr>
              <a:t>nilai</a:t>
            </a:r>
            <a:r>
              <a:rPr lang="en-US" sz="1600">
                <a:cs typeface="Times New Roman" panose="02020603050405020304" pitchFamily="18" charset="0"/>
              </a:rPr>
              <a:t> Rr </a:t>
            </a:r>
            <a:r>
              <a:rPr lang="en-US" sz="1600"/>
              <a:t>(R diode reverse) </a:t>
            </a:r>
            <a:r>
              <a:rPr lang="en-US" sz="1600">
                <a:cs typeface="Times New Roman" panose="02020603050405020304" pitchFamily="18" charset="0"/>
              </a:rPr>
              <a:t>untuk </a:t>
            </a:r>
            <a:r>
              <a:rPr lang="en-US" sz="1600" dirty="0" err="1">
                <a:cs typeface="Times New Roman" panose="02020603050405020304" pitchFamily="18" charset="0"/>
              </a:rPr>
              <a:t>setiap</a:t>
            </a:r>
            <a:r>
              <a:rPr lang="en-US" sz="1600" dirty="0">
                <a:cs typeface="Times New Roman" panose="02020603050405020304" pitchFamily="18" charset="0"/>
              </a:rPr>
              <a:t> </a:t>
            </a:r>
            <a:r>
              <a:rPr lang="en-US" sz="1600" err="1">
                <a:cs typeface="Times New Roman" panose="02020603050405020304" pitchFamily="18" charset="0"/>
              </a:rPr>
              <a:t>nilai</a:t>
            </a:r>
            <a:r>
              <a:rPr lang="en-US" sz="1600">
                <a:cs typeface="Times New Roman" panose="02020603050405020304" pitchFamily="18" charset="0"/>
              </a:rPr>
              <a:t> Vd dan Id. </a:t>
            </a:r>
            <a:r>
              <a:rPr lang="en-US" sz="1600" dirty="0" err="1">
                <a:cs typeface="Times New Roman" panose="02020603050405020304" pitchFamily="18" charset="0"/>
              </a:rPr>
              <a:t>Catat</a:t>
            </a:r>
            <a:r>
              <a:rPr lang="en-US" sz="1600" dirty="0">
                <a:cs typeface="Times New Roman" panose="02020603050405020304" pitchFamily="18" charset="0"/>
              </a:rPr>
              <a:t> </a:t>
            </a:r>
            <a:r>
              <a:rPr lang="en-US" sz="1600" dirty="0" err="1">
                <a:cs typeface="Times New Roman" panose="02020603050405020304" pitchFamily="18" charset="0"/>
              </a:rPr>
              <a:t>hasil</a:t>
            </a:r>
            <a:r>
              <a:rPr lang="en-US" sz="1600" dirty="0">
                <a:cs typeface="Times New Roman" panose="02020603050405020304" pitchFamily="18" charset="0"/>
              </a:rPr>
              <a:t> pada </a:t>
            </a:r>
            <a:r>
              <a:rPr lang="en-US" sz="1600">
                <a:cs typeface="Times New Roman" panose="02020603050405020304" pitchFamily="18" charset="0"/>
              </a:rPr>
              <a:t>Table 1.6.</a:t>
            </a:r>
            <a:endParaRPr lang="en-US" sz="1600" dirty="0">
              <a:cs typeface="Times New Roman" panose="02020603050405020304" pitchFamily="18" charset="0"/>
            </a:endParaRPr>
          </a:p>
          <a:p>
            <a:pPr marL="342900" indent="-342900">
              <a:buFont typeface="+mj-lt"/>
              <a:buAutoNum type="arabicPeriod"/>
            </a:pPr>
            <a:r>
              <a:rPr lang="en-US" sz="1600"/>
              <a:t>Naikkan temperature diode dengan cara memegang diode (tanpa menyentuh kaki-kaki diodanya) dengan jari-tangan</a:t>
            </a:r>
            <a:r>
              <a:rPr lang="en-US" sz="1600">
                <a:cs typeface="Times New Roman" panose="02020603050405020304" pitchFamily="18" charset="0"/>
              </a:rPr>
              <a:t>.</a:t>
            </a:r>
            <a:r>
              <a:rPr lang="en-US" sz="1600"/>
              <a:t> Perhatikan apa yang terjadi dengan arus/tegangan (Id dan Vd) </a:t>
            </a:r>
            <a:r>
              <a:rPr lang="en-US" sz="1600">
                <a:solidFill>
                  <a:srgbClr val="FF0000"/>
                </a:solidFill>
              </a:rPr>
              <a:t>(hanya untuk percobaan riil)</a:t>
            </a:r>
            <a:r>
              <a:rPr lang="en-US" sz="1600"/>
              <a:t>.</a:t>
            </a:r>
            <a:endParaRPr lang="en-US" sz="1600">
              <a:cs typeface="Times New Roman" panose="02020603050405020304" pitchFamily="18" charset="0"/>
            </a:endParaRPr>
          </a:p>
          <a:p>
            <a:pPr marL="342900" indent="-342900">
              <a:buFont typeface="+mj-lt"/>
              <a:buAutoNum type="arabicPeriod"/>
            </a:pPr>
            <a:r>
              <a:rPr lang="en-US" sz="1600">
                <a:cs typeface="Times New Roman" panose="02020603050405020304" pitchFamily="18" charset="0"/>
              </a:rPr>
              <a:t>Gambarkan </a:t>
            </a:r>
            <a:r>
              <a:rPr lang="en-US" sz="1600" dirty="0" err="1">
                <a:cs typeface="Times New Roman" panose="02020603050405020304" pitchFamily="18" charset="0"/>
              </a:rPr>
              <a:t>grafik</a:t>
            </a:r>
            <a:r>
              <a:rPr lang="en-US" sz="1600" dirty="0">
                <a:cs typeface="Times New Roman" panose="02020603050405020304" pitchFamily="18" charset="0"/>
              </a:rPr>
              <a:t> </a:t>
            </a:r>
            <a:r>
              <a:rPr lang="en-US" sz="1600" dirty="0" err="1">
                <a:cs typeface="Times New Roman" panose="02020603050405020304" pitchFamily="18" charset="0"/>
              </a:rPr>
              <a:t>kurva</a:t>
            </a:r>
            <a:r>
              <a:rPr lang="en-US" sz="1600" dirty="0">
                <a:cs typeface="Times New Roman" panose="02020603050405020304" pitchFamily="18" charset="0"/>
              </a:rPr>
              <a:t> </a:t>
            </a:r>
            <a:r>
              <a:rPr lang="en-US" sz="1600" dirty="0" err="1">
                <a:cs typeface="Times New Roman" panose="02020603050405020304" pitchFamily="18" charset="0"/>
              </a:rPr>
              <a:t>karakteristik</a:t>
            </a:r>
            <a:r>
              <a:rPr lang="en-US" sz="1600" dirty="0">
                <a:cs typeface="Times New Roman" panose="02020603050405020304" pitchFamily="18" charset="0"/>
              </a:rPr>
              <a:t> diode </a:t>
            </a:r>
            <a:r>
              <a:rPr lang="en-US" sz="1600" dirty="0" err="1">
                <a:cs typeface="Times New Roman" panose="02020603050405020304" pitchFamily="18" charset="0"/>
              </a:rPr>
              <a:t>arah</a:t>
            </a:r>
            <a:r>
              <a:rPr lang="en-US" sz="1600" dirty="0">
                <a:cs typeface="Times New Roman" panose="02020603050405020304" pitchFamily="18" charset="0"/>
              </a:rPr>
              <a:t> </a:t>
            </a:r>
            <a:r>
              <a:rPr lang="en-US" sz="1600" dirty="0" err="1">
                <a:cs typeface="Times New Roman" panose="02020603050405020304" pitchFamily="18" charset="0"/>
              </a:rPr>
              <a:t>mundur</a:t>
            </a:r>
            <a:r>
              <a:rPr lang="en-US" sz="1600" dirty="0">
                <a:cs typeface="Times New Roman" panose="02020603050405020304" pitchFamily="18" charset="0"/>
              </a:rPr>
              <a:t> </a:t>
            </a:r>
            <a:r>
              <a:rPr lang="en-US" sz="1600" err="1">
                <a:cs typeface="Times New Roman" panose="02020603050405020304" pitchFamily="18" charset="0"/>
              </a:rPr>
              <a:t>antara</a:t>
            </a:r>
            <a:r>
              <a:rPr lang="en-US" sz="1600">
                <a:cs typeface="Times New Roman" panose="02020603050405020304" pitchFamily="18" charset="0"/>
              </a:rPr>
              <a:t> Id vs Vd </a:t>
            </a:r>
            <a:r>
              <a:rPr lang="en-US" sz="1600" dirty="0" err="1">
                <a:cs typeface="Times New Roman" panose="02020603050405020304" pitchFamily="18" charset="0"/>
              </a:rPr>
              <a:t>dari</a:t>
            </a:r>
            <a:r>
              <a:rPr lang="en-US" sz="1600" dirty="0">
                <a:cs typeface="Times New Roman" panose="02020603050405020304" pitchFamily="18" charset="0"/>
              </a:rPr>
              <a:t> data </a:t>
            </a:r>
            <a:r>
              <a:rPr lang="en-US" sz="1600" err="1">
                <a:cs typeface="Times New Roman" panose="02020603050405020304" pitchFamily="18" charset="0"/>
              </a:rPr>
              <a:t>Tabel</a:t>
            </a:r>
            <a:r>
              <a:rPr lang="en-US" sz="1600">
                <a:cs typeface="Times New Roman" panose="02020603050405020304" pitchFamily="18" charset="0"/>
              </a:rPr>
              <a:t> 1.6.</a:t>
            </a:r>
            <a:endParaRPr lang="en-US" sz="1600" dirty="0">
              <a:cs typeface="Times New Roman" panose="02020603050405020304" pitchFamily="18" charset="0"/>
            </a:endParaRPr>
          </a:p>
        </p:txBody>
      </p:sp>
      <p:sp>
        <p:nvSpPr>
          <p:cNvPr id="8" name="TextBox 7">
            <a:extLst>
              <a:ext uri="{FF2B5EF4-FFF2-40B4-BE49-F238E27FC236}">
                <a16:creationId xmlns:a16="http://schemas.microsoft.com/office/drawing/2014/main" id="{53CCBEFE-5E0D-D7A5-1CE9-BE5EE89FC7E3}"/>
              </a:ext>
            </a:extLst>
          </p:cNvPr>
          <p:cNvSpPr txBox="1"/>
          <p:nvPr/>
        </p:nvSpPr>
        <p:spPr>
          <a:xfrm>
            <a:off x="639621" y="5152161"/>
            <a:ext cx="8057776" cy="338554"/>
          </a:xfrm>
          <a:prstGeom prst="rect">
            <a:avLst/>
          </a:prstGeom>
          <a:noFill/>
        </p:spPr>
        <p:txBody>
          <a:bodyPr wrap="square">
            <a:spAutoFit/>
          </a:bodyPr>
          <a:lstStyle/>
          <a:p>
            <a:r>
              <a:rPr lang="en-US" sz="1600" err="1"/>
              <a:t>Tabel</a:t>
            </a:r>
            <a:r>
              <a:rPr lang="en-US" sz="1600"/>
              <a:t> 1.6 </a:t>
            </a:r>
            <a:r>
              <a:rPr lang="en-US" sz="1600" dirty="0"/>
              <a:t>Data </a:t>
            </a:r>
            <a:r>
              <a:rPr lang="en-US" sz="1600" err="1"/>
              <a:t>Pengukuran</a:t>
            </a:r>
            <a:r>
              <a:rPr lang="en-US" sz="1600"/>
              <a:t> Dioda Zener Arah </a:t>
            </a:r>
            <a:r>
              <a:rPr lang="en-US" sz="1600" dirty="0" err="1"/>
              <a:t>Mundur</a:t>
            </a:r>
            <a:endParaRPr lang="en-US" sz="1600" dirty="0"/>
          </a:p>
        </p:txBody>
      </p:sp>
      <p:graphicFrame>
        <p:nvGraphicFramePr>
          <p:cNvPr id="4" name="Table 3">
            <a:extLst>
              <a:ext uri="{FF2B5EF4-FFF2-40B4-BE49-F238E27FC236}">
                <a16:creationId xmlns:a16="http://schemas.microsoft.com/office/drawing/2014/main" id="{A31DAA6A-FEBE-3FFB-2512-12B5356226AA}"/>
              </a:ext>
            </a:extLst>
          </p:cNvPr>
          <p:cNvGraphicFramePr>
            <a:graphicFrameLocks noGrp="1"/>
          </p:cNvGraphicFramePr>
          <p:nvPr>
            <p:extLst>
              <p:ext uri="{D42A27DB-BD31-4B8C-83A1-F6EECF244321}">
                <p14:modId xmlns:p14="http://schemas.microsoft.com/office/powerpoint/2010/main" val="2303547504"/>
              </p:ext>
            </p:extLst>
          </p:nvPr>
        </p:nvGraphicFramePr>
        <p:xfrm>
          <a:off x="639621" y="5590855"/>
          <a:ext cx="8534400" cy="9144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19904238"/>
                    </a:ext>
                  </a:extLst>
                </a:gridCol>
                <a:gridCol w="609600">
                  <a:extLst>
                    <a:ext uri="{9D8B030D-6E8A-4147-A177-3AD203B41FA5}">
                      <a16:colId xmlns:a16="http://schemas.microsoft.com/office/drawing/2014/main" val="2798828893"/>
                    </a:ext>
                  </a:extLst>
                </a:gridCol>
                <a:gridCol w="609600">
                  <a:extLst>
                    <a:ext uri="{9D8B030D-6E8A-4147-A177-3AD203B41FA5}">
                      <a16:colId xmlns:a16="http://schemas.microsoft.com/office/drawing/2014/main" val="3333611967"/>
                    </a:ext>
                  </a:extLst>
                </a:gridCol>
                <a:gridCol w="609600">
                  <a:extLst>
                    <a:ext uri="{9D8B030D-6E8A-4147-A177-3AD203B41FA5}">
                      <a16:colId xmlns:a16="http://schemas.microsoft.com/office/drawing/2014/main" val="1229086485"/>
                    </a:ext>
                  </a:extLst>
                </a:gridCol>
                <a:gridCol w="609600">
                  <a:extLst>
                    <a:ext uri="{9D8B030D-6E8A-4147-A177-3AD203B41FA5}">
                      <a16:colId xmlns:a16="http://schemas.microsoft.com/office/drawing/2014/main" val="3940587016"/>
                    </a:ext>
                  </a:extLst>
                </a:gridCol>
                <a:gridCol w="609600">
                  <a:extLst>
                    <a:ext uri="{9D8B030D-6E8A-4147-A177-3AD203B41FA5}">
                      <a16:colId xmlns:a16="http://schemas.microsoft.com/office/drawing/2014/main" val="453692830"/>
                    </a:ext>
                  </a:extLst>
                </a:gridCol>
                <a:gridCol w="609600">
                  <a:extLst>
                    <a:ext uri="{9D8B030D-6E8A-4147-A177-3AD203B41FA5}">
                      <a16:colId xmlns:a16="http://schemas.microsoft.com/office/drawing/2014/main" val="1032995248"/>
                    </a:ext>
                  </a:extLst>
                </a:gridCol>
                <a:gridCol w="609600">
                  <a:extLst>
                    <a:ext uri="{9D8B030D-6E8A-4147-A177-3AD203B41FA5}">
                      <a16:colId xmlns:a16="http://schemas.microsoft.com/office/drawing/2014/main" val="4279542265"/>
                    </a:ext>
                  </a:extLst>
                </a:gridCol>
                <a:gridCol w="609600">
                  <a:extLst>
                    <a:ext uri="{9D8B030D-6E8A-4147-A177-3AD203B41FA5}">
                      <a16:colId xmlns:a16="http://schemas.microsoft.com/office/drawing/2014/main" val="2749821007"/>
                    </a:ext>
                  </a:extLst>
                </a:gridCol>
                <a:gridCol w="609600">
                  <a:extLst>
                    <a:ext uri="{9D8B030D-6E8A-4147-A177-3AD203B41FA5}">
                      <a16:colId xmlns:a16="http://schemas.microsoft.com/office/drawing/2014/main" val="142316572"/>
                    </a:ext>
                  </a:extLst>
                </a:gridCol>
                <a:gridCol w="609600">
                  <a:extLst>
                    <a:ext uri="{9D8B030D-6E8A-4147-A177-3AD203B41FA5}">
                      <a16:colId xmlns:a16="http://schemas.microsoft.com/office/drawing/2014/main" val="3589017075"/>
                    </a:ext>
                  </a:extLst>
                </a:gridCol>
                <a:gridCol w="609600">
                  <a:extLst>
                    <a:ext uri="{9D8B030D-6E8A-4147-A177-3AD203B41FA5}">
                      <a16:colId xmlns:a16="http://schemas.microsoft.com/office/drawing/2014/main" val="944556176"/>
                    </a:ext>
                  </a:extLst>
                </a:gridCol>
                <a:gridCol w="609600">
                  <a:extLst>
                    <a:ext uri="{9D8B030D-6E8A-4147-A177-3AD203B41FA5}">
                      <a16:colId xmlns:a16="http://schemas.microsoft.com/office/drawing/2014/main" val="3113261663"/>
                    </a:ext>
                  </a:extLst>
                </a:gridCol>
                <a:gridCol w="609600">
                  <a:extLst>
                    <a:ext uri="{9D8B030D-6E8A-4147-A177-3AD203B41FA5}">
                      <a16:colId xmlns:a16="http://schemas.microsoft.com/office/drawing/2014/main" val="2026445506"/>
                    </a:ext>
                  </a:extLst>
                </a:gridCol>
              </a:tblGrid>
              <a:tr h="182880">
                <a:tc>
                  <a:txBody>
                    <a:bodyPr/>
                    <a:lstStyle/>
                    <a:p>
                      <a:pPr algn="l" fontAlgn="b"/>
                      <a:r>
                        <a:rPr lang="en-ID" sz="1100" u="none" strike="noStrike">
                          <a:effectLst/>
                        </a:rPr>
                        <a:t>Vs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-1</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-2</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-3</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-4</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-5</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-6</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-7</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-8</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-9</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-10</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-11</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-12</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D" sz="1100" u="none" strike="noStrike">
                          <a:effectLst/>
                        </a:rPr>
                        <a:t>-15</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23513874"/>
                  </a:ext>
                </a:extLst>
              </a:tr>
              <a:tr h="182880">
                <a:tc>
                  <a:txBody>
                    <a:bodyPr/>
                    <a:lstStyle/>
                    <a:p>
                      <a:pPr algn="l" fontAlgn="b"/>
                      <a:r>
                        <a:rPr lang="en-ID" sz="1100" u="none" strike="noStrike">
                          <a:effectLst/>
                        </a:rPr>
                        <a:t>Vd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65417502"/>
                  </a:ext>
                </a:extLst>
              </a:tr>
              <a:tr h="182880">
                <a:tc>
                  <a:txBody>
                    <a:bodyPr/>
                    <a:lstStyle/>
                    <a:p>
                      <a:pPr algn="l" fontAlgn="b"/>
                      <a:r>
                        <a:rPr lang="en-ID" sz="1100" u="none" strike="noStrike">
                          <a:effectLst/>
                        </a:rPr>
                        <a:t>Id (mA)</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02474901"/>
                  </a:ext>
                </a:extLst>
              </a:tr>
              <a:tr h="182880">
                <a:tc>
                  <a:txBody>
                    <a:bodyPr/>
                    <a:lstStyle/>
                    <a:p>
                      <a:pPr algn="l" fontAlgn="b"/>
                      <a:r>
                        <a:rPr lang="en-ID" sz="1100" u="none" strike="noStrike">
                          <a:effectLst/>
                        </a:rPr>
                        <a:t>VR (V)</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32936856"/>
                  </a:ext>
                </a:extLst>
              </a:tr>
              <a:tr h="182880">
                <a:tc>
                  <a:txBody>
                    <a:bodyPr/>
                    <a:lstStyle/>
                    <a:p>
                      <a:pPr algn="l" fontAlgn="b"/>
                      <a:r>
                        <a:rPr lang="en-ID" sz="1100" u="none" strike="noStrike">
                          <a:effectLst/>
                        </a:rPr>
                        <a:t>Rr (Ohm)</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D" sz="1100" u="none" strike="noStrike">
                          <a:effectLst/>
                        </a:rPr>
                        <a:t> </a:t>
                      </a:r>
                      <a:endParaRPr lang="en-ID"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37526162"/>
                  </a:ext>
                </a:extLst>
              </a:tr>
            </a:tbl>
          </a:graphicData>
        </a:graphic>
      </p:graphicFrame>
      <p:sp>
        <p:nvSpPr>
          <p:cNvPr id="3" name="Rectangle 2">
            <a:extLst>
              <a:ext uri="{FF2B5EF4-FFF2-40B4-BE49-F238E27FC236}">
                <a16:creationId xmlns:a16="http://schemas.microsoft.com/office/drawing/2014/main" id="{172307D4-9A9C-8A9C-3AB3-A4B045FA78D5}"/>
              </a:ext>
            </a:extLst>
          </p:cNvPr>
          <p:cNvSpPr/>
          <p:nvPr/>
        </p:nvSpPr>
        <p:spPr>
          <a:xfrm>
            <a:off x="9128180" y="412115"/>
            <a:ext cx="163182" cy="20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TextBox 28">
            <a:extLst>
              <a:ext uri="{FF2B5EF4-FFF2-40B4-BE49-F238E27FC236}">
                <a16:creationId xmlns:a16="http://schemas.microsoft.com/office/drawing/2014/main" id="{23A4A5A8-6BB2-1207-FF52-9792928BA73E}"/>
              </a:ext>
            </a:extLst>
          </p:cNvPr>
          <p:cNvSpPr txBox="1"/>
          <p:nvPr/>
        </p:nvSpPr>
        <p:spPr>
          <a:xfrm>
            <a:off x="7285180" y="5120188"/>
            <a:ext cx="5010423" cy="338554"/>
          </a:xfrm>
          <a:prstGeom prst="rect">
            <a:avLst/>
          </a:prstGeom>
          <a:noFill/>
        </p:spPr>
        <p:txBody>
          <a:bodyPr wrap="square">
            <a:spAutoFit/>
          </a:bodyPr>
          <a:lstStyle/>
          <a:p>
            <a:r>
              <a:rPr lang="en-US" sz="1600"/>
              <a:t>Gambar 9b. Skema Pengukuran Dioda Zener Arah Mundur</a:t>
            </a:r>
            <a:endParaRPr lang="en-US" sz="1600" dirty="0"/>
          </a:p>
        </p:txBody>
      </p:sp>
      <p:sp>
        <p:nvSpPr>
          <p:cNvPr id="16" name="TextBox 15">
            <a:extLst>
              <a:ext uri="{FF2B5EF4-FFF2-40B4-BE49-F238E27FC236}">
                <a16:creationId xmlns:a16="http://schemas.microsoft.com/office/drawing/2014/main" id="{D64258D3-8F80-D8ED-AEE8-ECAFE88FE928}"/>
              </a:ext>
            </a:extLst>
          </p:cNvPr>
          <p:cNvSpPr txBox="1"/>
          <p:nvPr/>
        </p:nvSpPr>
        <p:spPr>
          <a:xfrm>
            <a:off x="7519731" y="2380190"/>
            <a:ext cx="4085449" cy="338554"/>
          </a:xfrm>
          <a:prstGeom prst="rect">
            <a:avLst/>
          </a:prstGeom>
          <a:noFill/>
        </p:spPr>
        <p:txBody>
          <a:bodyPr wrap="square">
            <a:spAutoFit/>
          </a:bodyPr>
          <a:lstStyle/>
          <a:p>
            <a:r>
              <a:rPr lang="en-US" sz="1600"/>
              <a:t>Gambar 9a. Skema Dioda Zener Arah Mundur</a:t>
            </a:r>
            <a:endParaRPr lang="en-US" sz="1600" dirty="0"/>
          </a:p>
        </p:txBody>
      </p:sp>
      <p:pic>
        <p:nvPicPr>
          <p:cNvPr id="6" name="Picture 5">
            <a:extLst>
              <a:ext uri="{FF2B5EF4-FFF2-40B4-BE49-F238E27FC236}">
                <a16:creationId xmlns:a16="http://schemas.microsoft.com/office/drawing/2014/main" id="{F1D071BD-4089-40FC-14A7-29F6D851BC08}"/>
              </a:ext>
            </a:extLst>
          </p:cNvPr>
          <p:cNvPicPr>
            <a:picLocks noChangeAspect="1"/>
          </p:cNvPicPr>
          <p:nvPr/>
        </p:nvPicPr>
        <p:blipFill>
          <a:blip r:embed="rId2"/>
          <a:stretch>
            <a:fillRect/>
          </a:stretch>
        </p:blipFill>
        <p:spPr>
          <a:xfrm>
            <a:off x="7519731" y="2789987"/>
            <a:ext cx="4305449" cy="2345081"/>
          </a:xfrm>
          <a:prstGeom prst="rect">
            <a:avLst/>
          </a:prstGeom>
        </p:spPr>
      </p:pic>
      <p:pic>
        <p:nvPicPr>
          <p:cNvPr id="13" name="Picture 12">
            <a:extLst>
              <a:ext uri="{FF2B5EF4-FFF2-40B4-BE49-F238E27FC236}">
                <a16:creationId xmlns:a16="http://schemas.microsoft.com/office/drawing/2014/main" id="{3BB461D0-0FE2-2CF9-E81E-61CB92F02FAA}"/>
              </a:ext>
            </a:extLst>
          </p:cNvPr>
          <p:cNvPicPr>
            <a:picLocks noChangeAspect="1"/>
          </p:cNvPicPr>
          <p:nvPr/>
        </p:nvPicPr>
        <p:blipFill>
          <a:blip r:embed="rId3"/>
          <a:stretch>
            <a:fillRect/>
          </a:stretch>
        </p:blipFill>
        <p:spPr>
          <a:xfrm>
            <a:off x="7640335" y="127580"/>
            <a:ext cx="3878580" cy="2217420"/>
          </a:xfrm>
          <a:prstGeom prst="rect">
            <a:avLst/>
          </a:prstGeom>
        </p:spPr>
      </p:pic>
    </p:spTree>
    <p:extLst>
      <p:ext uri="{BB962C8B-B14F-4D97-AF65-F5344CB8AC3E}">
        <p14:creationId xmlns:p14="http://schemas.microsoft.com/office/powerpoint/2010/main" val="1330615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EB3C85-6658-4D8B-B334-CB9BAF50DC9C}"/>
              </a:ext>
            </a:extLst>
          </p:cNvPr>
          <p:cNvSpPr txBox="1"/>
          <p:nvPr/>
        </p:nvSpPr>
        <p:spPr>
          <a:xfrm>
            <a:off x="1107141" y="943131"/>
            <a:ext cx="9749790" cy="2062103"/>
          </a:xfrm>
          <a:prstGeom prst="rect">
            <a:avLst/>
          </a:prstGeom>
          <a:noFill/>
        </p:spPr>
        <p:txBody>
          <a:bodyPr wrap="square">
            <a:spAutoFit/>
          </a:bodyPr>
          <a:lstStyle/>
          <a:p>
            <a:r>
              <a:rPr lang="en-US" sz="1600" dirty="0"/>
              <a:t>8.  </a:t>
            </a:r>
            <a:r>
              <a:rPr lang="en-US" sz="1600" dirty="0" err="1"/>
              <a:t>Pertanyaan</a:t>
            </a:r>
            <a:r>
              <a:rPr lang="en-US" sz="1600" dirty="0"/>
              <a:t> dan </a:t>
            </a:r>
            <a:r>
              <a:rPr lang="en-US" sz="1600" dirty="0" err="1"/>
              <a:t>Tugas</a:t>
            </a:r>
            <a:endParaRPr lang="en-US" sz="1600" dirty="0"/>
          </a:p>
          <a:p>
            <a:endParaRPr lang="en-US" sz="1600" dirty="0"/>
          </a:p>
          <a:p>
            <a:r>
              <a:rPr lang="en-US" sz="1600" dirty="0"/>
              <a:t>1.  </a:t>
            </a:r>
            <a:r>
              <a:rPr lang="en-US" sz="1600" err="1"/>
              <a:t>Bandingkan</a:t>
            </a:r>
            <a:r>
              <a:rPr lang="en-US" sz="1600"/>
              <a:t> grafik karakteristik </a:t>
            </a:r>
            <a:r>
              <a:rPr lang="en-US" sz="1600" dirty="0"/>
              <a:t>diode Si </a:t>
            </a:r>
            <a:r>
              <a:rPr lang="en-US" sz="1600"/>
              <a:t>dan Ge </a:t>
            </a:r>
            <a:r>
              <a:rPr lang="en-US" sz="1600" dirty="0" err="1"/>
              <a:t>untuk</a:t>
            </a:r>
            <a:r>
              <a:rPr lang="en-US" sz="1600" dirty="0"/>
              <a:t> bias </a:t>
            </a:r>
            <a:r>
              <a:rPr lang="en-US" sz="1600" dirty="0" err="1"/>
              <a:t>maju</a:t>
            </a:r>
            <a:r>
              <a:rPr lang="en-US" sz="1600" dirty="0"/>
              <a:t> dan bias </a:t>
            </a:r>
            <a:r>
              <a:rPr lang="en-US" sz="1600" dirty="0" err="1"/>
              <a:t>mundur</a:t>
            </a:r>
            <a:r>
              <a:rPr lang="en-US" sz="1600" dirty="0"/>
              <a:t> ! </a:t>
            </a:r>
            <a:r>
              <a:rPr lang="en-US" sz="1600" dirty="0" err="1"/>
              <a:t>jelaskan</a:t>
            </a:r>
            <a:r>
              <a:rPr lang="en-US" sz="1600" dirty="0"/>
              <a:t> !</a:t>
            </a:r>
          </a:p>
          <a:p>
            <a:r>
              <a:rPr lang="en-US" sz="1600" dirty="0"/>
              <a:t>2.  </a:t>
            </a:r>
            <a:r>
              <a:rPr lang="en-US" sz="1600" dirty="0" err="1"/>
              <a:t>Bandingkan</a:t>
            </a:r>
            <a:r>
              <a:rPr lang="en-US" sz="1600" dirty="0"/>
              <a:t> </a:t>
            </a:r>
            <a:r>
              <a:rPr lang="en-US" sz="1600" err="1"/>
              <a:t>tahanan</a:t>
            </a:r>
            <a:r>
              <a:rPr lang="en-US" sz="1600"/>
              <a:t> Rd pada </a:t>
            </a:r>
            <a:r>
              <a:rPr lang="en-US" sz="1600" dirty="0" err="1"/>
              <a:t>saat</a:t>
            </a:r>
            <a:r>
              <a:rPr lang="en-US" sz="1600" dirty="0"/>
              <a:t> bias </a:t>
            </a:r>
            <a:r>
              <a:rPr lang="en-US" sz="1600" dirty="0" err="1"/>
              <a:t>maju</a:t>
            </a:r>
            <a:r>
              <a:rPr lang="en-US" sz="1600" dirty="0"/>
              <a:t> dan bias </a:t>
            </a:r>
            <a:r>
              <a:rPr lang="en-US" sz="1600" dirty="0" err="1"/>
              <a:t>mundur</a:t>
            </a:r>
            <a:r>
              <a:rPr lang="en-US" sz="1600" dirty="0"/>
              <a:t> </a:t>
            </a:r>
            <a:r>
              <a:rPr lang="en-US" sz="1600" dirty="0" err="1"/>
              <a:t>antara</a:t>
            </a:r>
            <a:r>
              <a:rPr lang="en-US" sz="1600" dirty="0"/>
              <a:t> Si dan Ge ! </a:t>
            </a:r>
            <a:r>
              <a:rPr lang="en-US" sz="1600" dirty="0" err="1"/>
              <a:t>jelaskan</a:t>
            </a:r>
            <a:r>
              <a:rPr lang="en-US" sz="1600" dirty="0"/>
              <a:t> !</a:t>
            </a:r>
          </a:p>
          <a:p>
            <a:r>
              <a:rPr lang="en-US" sz="1600" dirty="0"/>
              <a:t>3.  </a:t>
            </a:r>
            <a:r>
              <a:rPr lang="en-US" sz="1600" dirty="0" err="1"/>
              <a:t>Arus</a:t>
            </a:r>
            <a:r>
              <a:rPr lang="en-US" sz="1600" dirty="0"/>
              <a:t> </a:t>
            </a:r>
            <a:r>
              <a:rPr lang="en-US" sz="1600" dirty="0" err="1"/>
              <a:t>minoritas</a:t>
            </a:r>
            <a:r>
              <a:rPr lang="en-US" sz="1600" dirty="0"/>
              <a:t> mana yang </a:t>
            </a:r>
            <a:r>
              <a:rPr lang="en-US" sz="1600" dirty="0" err="1"/>
              <a:t>lebih</a:t>
            </a:r>
            <a:r>
              <a:rPr lang="en-US" sz="1600" dirty="0"/>
              <a:t> </a:t>
            </a:r>
            <a:r>
              <a:rPr lang="en-US" sz="1600" dirty="0" err="1"/>
              <a:t>besar</a:t>
            </a:r>
            <a:r>
              <a:rPr lang="en-US" sz="1600" dirty="0"/>
              <a:t>, Si </a:t>
            </a:r>
            <a:r>
              <a:rPr lang="en-US" sz="1600" err="1"/>
              <a:t>atau</a:t>
            </a:r>
            <a:r>
              <a:rPr lang="en-US" sz="1600"/>
              <a:t> Ge?</a:t>
            </a:r>
            <a:endParaRPr lang="en-US" sz="1600" dirty="0"/>
          </a:p>
          <a:p>
            <a:r>
              <a:rPr lang="en-US" sz="1600" dirty="0"/>
              <a:t>4.  </a:t>
            </a:r>
            <a:r>
              <a:rPr lang="en-US" sz="1600" dirty="0" err="1"/>
              <a:t>Jelaskan</a:t>
            </a:r>
            <a:r>
              <a:rPr lang="en-US" sz="1600" dirty="0"/>
              <a:t> </a:t>
            </a:r>
            <a:r>
              <a:rPr lang="en-US" sz="1600" err="1"/>
              <a:t>mengenai</a:t>
            </a:r>
            <a:r>
              <a:rPr lang="en-US" sz="1600"/>
              <a:t> grafik karakteristik diode Zener !</a:t>
            </a:r>
            <a:endParaRPr lang="en-US" sz="1600" dirty="0"/>
          </a:p>
          <a:p>
            <a:r>
              <a:rPr lang="en-US" sz="1600" dirty="0"/>
              <a:t>5.  </a:t>
            </a:r>
            <a:r>
              <a:rPr lang="en-US" sz="1600" err="1"/>
              <a:t>Bandingkan</a:t>
            </a:r>
            <a:r>
              <a:rPr lang="en-US" sz="1600"/>
              <a:t> grafik karakteristik </a:t>
            </a:r>
            <a:r>
              <a:rPr lang="en-US" sz="1600" dirty="0"/>
              <a:t>diode Zener </a:t>
            </a:r>
            <a:r>
              <a:rPr lang="en-US" sz="1600" dirty="0" err="1"/>
              <a:t>dengan</a:t>
            </a:r>
            <a:r>
              <a:rPr lang="en-US" sz="1600" dirty="0"/>
              <a:t> </a:t>
            </a:r>
            <a:r>
              <a:rPr lang="en-US" sz="1600"/>
              <a:t>diode Si dan Ge!</a:t>
            </a:r>
            <a:endParaRPr lang="en-US" sz="1600" dirty="0"/>
          </a:p>
          <a:p>
            <a:r>
              <a:rPr lang="en-US" sz="1600" dirty="0"/>
              <a:t>6.  </a:t>
            </a:r>
            <a:r>
              <a:rPr lang="en-US" sz="1600" dirty="0" err="1"/>
              <a:t>Tuliskan</a:t>
            </a:r>
            <a:r>
              <a:rPr lang="en-US" sz="1600" dirty="0"/>
              <a:t> </a:t>
            </a:r>
            <a:r>
              <a:rPr lang="en-US" sz="1600" dirty="0" err="1"/>
              <a:t>kesimpulan</a:t>
            </a:r>
            <a:r>
              <a:rPr lang="en-US" sz="1600" dirty="0"/>
              <a:t> </a:t>
            </a:r>
            <a:r>
              <a:rPr lang="en-US" sz="1600" dirty="0" err="1"/>
              <a:t>untuk</a:t>
            </a:r>
            <a:r>
              <a:rPr lang="en-US" sz="1600" dirty="0"/>
              <a:t> </a:t>
            </a:r>
            <a:r>
              <a:rPr lang="en-US" sz="1600" err="1"/>
              <a:t>percobaan</a:t>
            </a:r>
            <a:r>
              <a:rPr lang="en-US" sz="1600"/>
              <a:t> ini.</a:t>
            </a:r>
            <a:endParaRPr lang="en-US" sz="1600" dirty="0"/>
          </a:p>
        </p:txBody>
      </p:sp>
    </p:spTree>
    <p:extLst>
      <p:ext uri="{BB962C8B-B14F-4D97-AF65-F5344CB8AC3E}">
        <p14:creationId xmlns:p14="http://schemas.microsoft.com/office/powerpoint/2010/main" val="402981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1413</TotalTime>
  <Words>2534</Words>
  <Application>Microsoft Office PowerPoint</Application>
  <PresentationFormat>Widescreen</PresentationFormat>
  <Paragraphs>488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SimSun</vt:lpstr>
      <vt:lpstr>Arial</vt:lpstr>
      <vt:lpstr>Calibri</vt:lpstr>
      <vt:lpstr>Calibri Light</vt:lpstr>
      <vt:lpstr>Symbol</vt:lpstr>
      <vt:lpstr>Times New Roman</vt:lpstr>
      <vt:lpstr>Office Theme</vt:lpstr>
      <vt:lpstr>Karakteristik Dioda (Silikon, Germanium dan Zener)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2 Karakteristik Dioda</dc:title>
  <dc:creator>Ridwan Solihin</dc:creator>
  <cp:lastModifiedBy>erilmozef@yahoo.com</cp:lastModifiedBy>
  <cp:revision>75</cp:revision>
  <dcterms:created xsi:type="dcterms:W3CDTF">2022-02-09T03:14:30Z</dcterms:created>
  <dcterms:modified xsi:type="dcterms:W3CDTF">2025-02-25T14:21:31Z</dcterms:modified>
</cp:coreProperties>
</file>