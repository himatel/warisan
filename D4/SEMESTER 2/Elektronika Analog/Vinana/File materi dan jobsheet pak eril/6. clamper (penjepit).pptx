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0" r:id="rId2"/>
    <p:sldId id="298" r:id="rId3"/>
    <p:sldId id="263" r:id="rId4"/>
    <p:sldId id="267" r:id="rId5"/>
    <p:sldId id="301" r:id="rId6"/>
    <p:sldId id="269" r:id="rId7"/>
    <p:sldId id="302" r:id="rId8"/>
    <p:sldId id="270" r:id="rId9"/>
    <p:sldId id="304" r:id="rId10"/>
    <p:sldId id="286" r:id="rId11"/>
    <p:sldId id="287" r:id="rId12"/>
    <p:sldId id="28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5" autoAdjust="0"/>
    <p:restoredTop sz="94660"/>
  </p:normalViewPr>
  <p:slideViewPr>
    <p:cSldViewPr snapToGrid="0">
      <p:cViewPr varScale="1">
        <p:scale>
          <a:sx n="85" d="100"/>
          <a:sy n="85" d="100"/>
        </p:scale>
        <p:origin x="45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91439" cy="91439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403ED-366E-4B95-B432-8F77526DD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C0A1B3-B8F0-4CA1-8BE6-D833220DAA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85341-18EE-466B-9803-EA2D807D2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C88B4-8F50-493E-A9D9-428DDA99D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676EA6-8C1A-443F-B4CE-0F738499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706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65300-7256-4D98-B0B6-4E2CD6850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F4B0F-6558-4461-9218-4119A5FC56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B93716-D69C-4FF6-9BE2-53D36CB0E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708A0-25E4-43ED-81A4-7A3C37BE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B1D69-DFA9-4D0F-914C-8E73733F4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72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D7115-366E-4280-9EE9-02841C071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A7B3CC-B236-47ED-9240-FA4CE499A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A9F16F-D229-49B3-B73D-F290626D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FCDED-381D-4A57-BD1A-01454E39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927B2-B5AA-46DC-A5A4-EB9BE67CE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42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79FD-2A12-40A0-A396-4D3A3A9A0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4E41F-B7A6-42CB-8469-0C5DEBF0FC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353EEC-EB4F-4F5D-86CE-4A22695609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478B05-E0E4-41C9-9A72-E519E6B26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F3BEE-1A26-4CC4-9A30-69E423941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5AA4C0-2035-41D4-8BD1-7DBC04AE2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3C207-3A38-423D-B12D-8AB1CF00E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586440-2397-4581-89A9-A729D237D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59AC0-0251-4E89-A7CD-D2BD9D95B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E6B544-8430-4C88-A024-5F84DB56A4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A353FF-E18A-40BA-8FC9-4B15712787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1E7A99-3150-44FF-AEF4-A17C5C1FD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252EDF-E2AF-4DD9-A565-46C1008B8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6DE5F-23A0-4CD9-BB7B-B4842D293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782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FC6F2-4CA4-40A3-A509-B1B179FE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4A8E82-13D0-4193-991A-33957CE7D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2CD9B-0C12-4051-B381-9FADE0BDE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03A074-9CC5-4B7D-B01F-56851DCE4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5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CBFD0D-E37D-41F5-9290-5628AA1C6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8F90A4-5676-4AF5-B561-9BEB2C17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D96BF-C3A7-418B-9805-29EB05B50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B301C-AE70-4B26-86F8-78CBEBC73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C4B1F3-3AE8-4F69-9822-06F213306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3E9AC-58FF-4B09-B365-63F6523F91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D5218-57F7-4700-B3F9-44B29EAC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CE977-8D8D-4695-BC16-C15D83C37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841329-7D35-4222-AB0D-2D9D4773B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62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3FF4B-495F-4671-B9FF-E0133D44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10BE73-AB1F-4A54-A2E5-C2127D3E4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772F2-80D0-467E-874B-024BCA869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B6A046-2C0B-4F32-B759-F884169F5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464CDA-B900-4ED8-9E0A-3D7AACFF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3AAF2-EF1B-4899-86FA-5DC27100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637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9D25B-5F85-431D-B5A4-48DC645A7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1169D0-07CA-4B94-9DA2-2094BB83A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FE414-269A-4281-B39E-F78D39D2F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C0F77-F027-44F4-9463-1108A6DE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E5D163-0ACA-41B3-94F2-A001F0CA0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769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B54E62-4CD5-4EBD-A0C6-9F39096AAA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8D048-41E3-4C4D-8EEE-8B4EF064A9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1FA18-10D7-4D76-91B3-27A7A8DB0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D0BD7-795D-4E37-B208-2A01539E556F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2B232-A5AE-435E-8143-40A11827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62038-4E9D-468B-AD23-73006900C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8810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F3EEBB-21D6-4523-A09C-71768CC54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C14C9-E452-4F70-9AFF-F5B33FB88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29518-71CB-45D2-8730-87BDD12E7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D0BD7-795D-4E37-B208-2A01539E556F}" type="datetimeFigureOut">
              <a:rPr lang="en-US" smtClean="0"/>
              <a:t>3/18/2025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C7FDC0-2EB3-429B-A97D-7DCA37FD04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4A992-90A0-457B-BBE2-2CA97D372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7F43B-2BF8-45ED-9059-0E0C38E1C6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85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2FAFC-85C5-375C-AF76-494DCA5E68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Rangkaian Clamper (Penjepit)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984E11-CDE5-5AA6-F113-EAC9658B7E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227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Apa itu rangkaian Clamper?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4424" y="1703295"/>
            <a:ext cx="7161520" cy="4789580"/>
          </a:xfrm>
        </p:spPr>
        <p:txBody>
          <a:bodyPr>
            <a:noAutofit/>
          </a:bodyPr>
          <a:lstStyle/>
          <a:p>
            <a:r>
              <a:rPr lang="en-US" sz="1800"/>
              <a:t>Rangkaian clamper adalah rangkaian yang menggunakan dioda dan kapasitor untuk memindahkan atau menangkap gelombang sinyal input ke atas atau ke bawah dengan suatu offset tegangan tertentu. </a:t>
            </a:r>
          </a:p>
          <a:p>
            <a:r>
              <a:rPr lang="en-US" sz="1800"/>
              <a:t>Tujuan utama dari rangkaian clamper dioda adalah untuk menggeser atau menangkap gelombang sinyal input ke tingkat DC tertentu.</a:t>
            </a:r>
          </a:p>
          <a:p>
            <a:r>
              <a:rPr lang="en-US" sz="1800"/>
              <a:t>Ada dua jenis rangkaian clamper:</a:t>
            </a:r>
          </a:p>
          <a:p>
            <a:pPr lvl="1"/>
            <a:r>
              <a:rPr lang="en-US" sz="1800" b="1"/>
              <a:t>Positive Clamper (Clamper Positif)</a:t>
            </a:r>
            <a:r>
              <a:rPr lang="en-US" sz="1800"/>
              <a:t>: Clamper positif memindahkan gelombang sinyal input ke atas dengan suatu offset tegangan tertentu.</a:t>
            </a:r>
          </a:p>
          <a:p>
            <a:pPr lvl="1"/>
            <a:r>
              <a:rPr lang="en-US" sz="1800" b="1"/>
              <a:t>Negative Clamper (Clamper Negatif)</a:t>
            </a:r>
            <a:r>
              <a:rPr lang="en-US" sz="1800"/>
              <a:t>: Clamper negatif memindahkan gelombang sinyal input ke bawah dengan suatu offset tegangan tertentu.</a:t>
            </a:r>
          </a:p>
          <a:p>
            <a:r>
              <a:rPr lang="en-US" sz="1800"/>
              <a:t>Rangkaian clamper sering digunakan dalam berbagai aplikasi, termasuk dalam monitor gelombang, pemrosesan sinyal audio dan video, serta dalam berbagai aplikasi pemrosesan sinyal komunikasi.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742B0-4171-039A-99A5-86A3F12CB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963" y="1485071"/>
            <a:ext cx="2724530" cy="21243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0CE127-16C6-338D-3EFE-95C7A5E3B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28255" y="4027647"/>
            <a:ext cx="1811887" cy="2249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080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4A882C3-C4ED-4738-B8C7-91B0B1B2E184}"/>
              </a:ext>
            </a:extLst>
          </p:cNvPr>
          <p:cNvSpPr txBox="1"/>
          <p:nvPr/>
        </p:nvSpPr>
        <p:spPr>
          <a:xfrm>
            <a:off x="763169" y="458067"/>
            <a:ext cx="80312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Cara Kerja Rangkaian Clamper</a:t>
            </a:r>
            <a:endParaRPr lang="en-US" sz="2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7732D9-9F01-8F35-30C4-369ACFABD4B1}"/>
              </a:ext>
            </a:extLst>
          </p:cNvPr>
          <p:cNvSpPr txBox="1"/>
          <p:nvPr/>
        </p:nvSpPr>
        <p:spPr>
          <a:xfrm>
            <a:off x="983367" y="1238361"/>
            <a:ext cx="99746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Rangkaian clamper menggunakan dioda untuk mengalirkan arus hanya pada satu arah tertentu.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Ketika gelombang sinyal diterapkan pada </a:t>
            </a:r>
            <a:r>
              <a:rPr lang="en-US"/>
              <a:t>input </a:t>
            </a:r>
            <a:r>
              <a:rPr lang="en-US" sz="1800"/>
              <a:t>rangkaian, kapasitor akan mengisi dan menyimpan muatan selama siklus gelombang tertentu.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Saat tegangan input berubah (terbalik), dioda memungkinkan kapasitor untuk melepaskan muatan pada sisi lain dari siklus gelombang, menggeser gelombang ke atas atau ke bawah sesuai dengan konfigurasi clamper yang digunakan.</a:t>
            </a:r>
          </a:p>
        </p:txBody>
      </p:sp>
    </p:spTree>
    <p:extLst>
      <p:ext uri="{BB962C8B-B14F-4D97-AF65-F5344CB8AC3E}">
        <p14:creationId xmlns:p14="http://schemas.microsoft.com/office/powerpoint/2010/main" val="3172018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9C036C-D0F3-4F32-ADAD-0BFE62216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691" y="2445416"/>
            <a:ext cx="2432969" cy="20252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BF1ED8-D0D8-4DC8-9BBD-741DE6B66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167" y="4688104"/>
            <a:ext cx="2498451" cy="20527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17BDD3-569F-AAE1-08B2-6355C2312DC4}"/>
              </a:ext>
            </a:extLst>
          </p:cNvPr>
          <p:cNvSpPr txBox="1"/>
          <p:nvPr/>
        </p:nvSpPr>
        <p:spPr>
          <a:xfrm>
            <a:off x="763169" y="216117"/>
            <a:ext cx="8737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Rangkaian Clamper (Negatip) dengan Input Sinyal Kotak</a:t>
            </a:r>
            <a:endParaRPr lang="en-US" sz="2400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2482C2E-5B0F-118F-9274-FD089D9B5632}"/>
              </a:ext>
            </a:extLst>
          </p:cNvPr>
          <p:cNvSpPr txBox="1"/>
          <p:nvPr/>
        </p:nvSpPr>
        <p:spPr>
          <a:xfrm>
            <a:off x="452083" y="837687"/>
            <a:ext cx="5271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Diketahui rangkaian Clamper berikut (</a:t>
            </a:r>
            <a:r>
              <a:rPr lang="en-US">
                <a:solidFill>
                  <a:srgbClr val="FF0000"/>
                </a:solidFill>
              </a:rPr>
              <a:t>asumsi Vf=0</a:t>
            </a:r>
            <a:r>
              <a:rPr lang="en-US"/>
              <a:t>) (kanan).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Pada input diberikan sinyal kotak (kanan).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Gambarkan grafik Vo-nya.</a:t>
            </a:r>
            <a:endParaRPr lang="en-ID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681B6F2-9011-F1DC-E318-290CEE0B9F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19" y="2462532"/>
            <a:ext cx="704948" cy="1181265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F94A27CC-E7B2-2E6E-2631-5B8BC05AE035}"/>
              </a:ext>
            </a:extLst>
          </p:cNvPr>
          <p:cNvSpPr txBox="1"/>
          <p:nvPr/>
        </p:nvSpPr>
        <p:spPr>
          <a:xfrm>
            <a:off x="516213" y="2177368"/>
            <a:ext cx="2136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Analisis 1: 0&lt;=t&lt;=T/2</a:t>
            </a:r>
            <a:endParaRPr lang="en-ID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60E8D0D-A0F5-A41C-8190-E4917D7D8E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9695" y="2927377"/>
            <a:ext cx="914528" cy="704948"/>
          </a:xfrm>
          <a:prstGeom prst="rect">
            <a:avLst/>
          </a:prstGeom>
        </p:spPr>
      </p:pic>
      <p:sp>
        <p:nvSpPr>
          <p:cNvPr id="39" name="Arrow: Right 38">
            <a:extLst>
              <a:ext uri="{FF2B5EF4-FFF2-40B4-BE49-F238E27FC236}">
                <a16:creationId xmlns:a16="http://schemas.microsoft.com/office/drawing/2014/main" id="{5C6ED860-5E9B-6492-4377-2EEADADA2FF5}"/>
              </a:ext>
            </a:extLst>
          </p:cNvPr>
          <p:cNvSpPr/>
          <p:nvPr/>
        </p:nvSpPr>
        <p:spPr>
          <a:xfrm>
            <a:off x="2209548" y="3188105"/>
            <a:ext cx="319970" cy="23866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B3780072-4A38-6660-5DC9-857370324BE2}"/>
              </a:ext>
            </a:extLst>
          </p:cNvPr>
          <p:cNvSpPr/>
          <p:nvPr/>
        </p:nvSpPr>
        <p:spPr>
          <a:xfrm>
            <a:off x="4988414" y="3160521"/>
            <a:ext cx="319970" cy="23866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5E72EE3A-D2D6-8EAF-4A78-4ECD25F30D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169" y="5324608"/>
            <a:ext cx="1333686" cy="724001"/>
          </a:xfrm>
          <a:prstGeom prst="rect">
            <a:avLst/>
          </a:prstGeom>
        </p:spPr>
      </p:pic>
      <p:sp>
        <p:nvSpPr>
          <p:cNvPr id="43" name="Arrow: Right 42">
            <a:extLst>
              <a:ext uri="{FF2B5EF4-FFF2-40B4-BE49-F238E27FC236}">
                <a16:creationId xmlns:a16="http://schemas.microsoft.com/office/drawing/2014/main" id="{9618B84D-DF1D-B831-76FE-B0B9C697E6C9}"/>
              </a:ext>
            </a:extLst>
          </p:cNvPr>
          <p:cNvSpPr/>
          <p:nvPr/>
        </p:nvSpPr>
        <p:spPr>
          <a:xfrm>
            <a:off x="2245771" y="5404869"/>
            <a:ext cx="319970" cy="23866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6F3C1E95-877C-F884-3BCB-D25187B2CC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838" y="5362415"/>
            <a:ext cx="933580" cy="1114581"/>
          </a:xfrm>
          <a:prstGeom prst="rect">
            <a:avLst/>
          </a:prstGeom>
        </p:spPr>
      </p:pic>
      <p:sp>
        <p:nvSpPr>
          <p:cNvPr id="46" name="Arrow: Right 45">
            <a:extLst>
              <a:ext uri="{FF2B5EF4-FFF2-40B4-BE49-F238E27FC236}">
                <a16:creationId xmlns:a16="http://schemas.microsoft.com/office/drawing/2014/main" id="{422EF02D-6419-27DB-F114-09F57CD7E2CB}"/>
              </a:ext>
            </a:extLst>
          </p:cNvPr>
          <p:cNvSpPr/>
          <p:nvPr/>
        </p:nvSpPr>
        <p:spPr>
          <a:xfrm>
            <a:off x="5028023" y="5420905"/>
            <a:ext cx="319970" cy="23866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05D261B-5275-5979-DCA0-2E323E3118B9}"/>
              </a:ext>
            </a:extLst>
          </p:cNvPr>
          <p:cNvSpPr txBox="1"/>
          <p:nvPr/>
        </p:nvSpPr>
        <p:spPr>
          <a:xfrm>
            <a:off x="516477" y="4854869"/>
            <a:ext cx="2131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Analisis 2: T/2&lt;=t&lt;=T</a:t>
            </a:r>
            <a:endParaRPr lang="en-ID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A2461C8A-3155-8AC5-9270-C577E88C23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4911" y="2498137"/>
            <a:ext cx="2308570" cy="4024566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0750894A-8B1B-CD3B-E9B6-ABD74AF6F1DF}"/>
              </a:ext>
            </a:extLst>
          </p:cNvPr>
          <p:cNvGrpSpPr/>
          <p:nvPr/>
        </p:nvGrpSpPr>
        <p:grpSpPr>
          <a:xfrm>
            <a:off x="8384601" y="591139"/>
            <a:ext cx="2082546" cy="1643064"/>
            <a:chOff x="3529360" y="688899"/>
            <a:chExt cx="2396310" cy="1681952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6B9F4DA3-8927-484E-B404-C455C840D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788852" y="2041165"/>
              <a:ext cx="1885926" cy="329686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CAB14182-CDCF-C8DD-E534-41D93E319DC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529360" y="688899"/>
              <a:ext cx="2396310" cy="1327891"/>
            </a:xfrm>
            <a:prstGeom prst="rect">
              <a:avLst/>
            </a:prstGeom>
          </p:spPr>
        </p:pic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71B54131-862D-1471-5401-F189F351C1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0" y="591139"/>
            <a:ext cx="1543265" cy="1419423"/>
          </a:xfrm>
          <a:prstGeom prst="rect">
            <a:avLst/>
          </a:prstGeom>
        </p:spPr>
      </p:pic>
      <p:sp>
        <p:nvSpPr>
          <p:cNvPr id="53" name="Arrow: Right 52">
            <a:extLst>
              <a:ext uri="{FF2B5EF4-FFF2-40B4-BE49-F238E27FC236}">
                <a16:creationId xmlns:a16="http://schemas.microsoft.com/office/drawing/2014/main" id="{B593C213-FC0B-D676-CFED-FDD2FD87309E}"/>
              </a:ext>
            </a:extLst>
          </p:cNvPr>
          <p:cNvSpPr/>
          <p:nvPr/>
        </p:nvSpPr>
        <p:spPr>
          <a:xfrm>
            <a:off x="7902982" y="1235002"/>
            <a:ext cx="400037" cy="24807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869B1713-C2B7-2239-D181-7C48D088517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7721" y="4732063"/>
            <a:ext cx="1220245" cy="53139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5A74DD4-C307-7050-040A-843DCA508450}"/>
              </a:ext>
            </a:extLst>
          </p:cNvPr>
          <p:cNvSpPr txBox="1"/>
          <p:nvPr/>
        </p:nvSpPr>
        <p:spPr>
          <a:xfrm>
            <a:off x="3827392" y="4688104"/>
            <a:ext cx="16715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Sdh terisi teg sebesar V</a:t>
            </a:r>
            <a:endParaRPr lang="en-ID" sz="1200">
              <a:solidFill>
                <a:srgbClr val="FF0000"/>
              </a:solidFill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849D841A-7E94-7473-7965-DBCB3BE289D7}"/>
              </a:ext>
            </a:extLst>
          </p:cNvPr>
          <p:cNvCxnSpPr>
            <a:cxnSpLocks/>
            <a:stCxn id="56" idx="1"/>
          </p:cNvCxnSpPr>
          <p:nvPr/>
        </p:nvCxnSpPr>
        <p:spPr>
          <a:xfrm flipH="1">
            <a:off x="3505200" y="4826604"/>
            <a:ext cx="322192" cy="138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7AB1C3BA-CACD-D74A-4C40-360AC1A026EE}"/>
              </a:ext>
            </a:extLst>
          </p:cNvPr>
          <p:cNvSpPr txBox="1"/>
          <p:nvPr/>
        </p:nvSpPr>
        <p:spPr>
          <a:xfrm>
            <a:off x="3752514" y="2392054"/>
            <a:ext cx="18169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Proses pengisian tegangan</a:t>
            </a:r>
            <a:endParaRPr lang="en-ID" sz="1200">
              <a:solidFill>
                <a:srgbClr val="FF0000"/>
              </a:solidFill>
            </a:endParaRP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F23133A5-D31A-483A-091A-D6060BFF46BC}"/>
              </a:ext>
            </a:extLst>
          </p:cNvPr>
          <p:cNvCxnSpPr>
            <a:cxnSpLocks/>
          </p:cNvCxnSpPr>
          <p:nvPr/>
        </p:nvCxnSpPr>
        <p:spPr>
          <a:xfrm flipH="1">
            <a:off x="3503006" y="2559445"/>
            <a:ext cx="322192" cy="1384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DE3DDCB-073A-52B3-C69A-64C996360B9D}"/>
              </a:ext>
            </a:extLst>
          </p:cNvPr>
          <p:cNvCxnSpPr>
            <a:cxnSpLocks/>
          </p:cNvCxnSpPr>
          <p:nvPr/>
        </p:nvCxnSpPr>
        <p:spPr>
          <a:xfrm flipH="1">
            <a:off x="3129270" y="4778792"/>
            <a:ext cx="53702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4D58E8F-3E7E-838F-B020-02617B8BFBC7}"/>
              </a:ext>
            </a:extLst>
          </p:cNvPr>
          <p:cNvSpPr txBox="1"/>
          <p:nvPr/>
        </p:nvSpPr>
        <p:spPr>
          <a:xfrm>
            <a:off x="3274672" y="4549603"/>
            <a:ext cx="309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V</a:t>
            </a:r>
            <a:endParaRPr lang="en-ID" sz="1200">
              <a:solidFill>
                <a:srgbClr val="FF0000"/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8E83F3E-5E68-D77B-9AC9-EEBCD0B228B1}"/>
              </a:ext>
            </a:extLst>
          </p:cNvPr>
          <p:cNvSpPr txBox="1"/>
          <p:nvPr/>
        </p:nvSpPr>
        <p:spPr>
          <a:xfrm>
            <a:off x="5498953" y="4255572"/>
            <a:ext cx="14267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/>
              <a:t>hukum Kirchhoff pd loop </a:t>
            </a:r>
            <a:endParaRPr lang="en-ID" sz="140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591D764-48AC-3977-A914-38155B0BC488}"/>
              </a:ext>
            </a:extLst>
          </p:cNvPr>
          <p:cNvSpPr txBox="1"/>
          <p:nvPr/>
        </p:nvSpPr>
        <p:spPr>
          <a:xfrm>
            <a:off x="8103002" y="3207276"/>
            <a:ext cx="10808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Grafik Vi</a:t>
            </a:r>
            <a:endParaRPr lang="en-ID" sz="2000">
              <a:solidFill>
                <a:srgbClr val="FF0000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06869FD-47AC-BF7A-BD99-27EE285AB8AD}"/>
              </a:ext>
            </a:extLst>
          </p:cNvPr>
          <p:cNvSpPr txBox="1"/>
          <p:nvPr/>
        </p:nvSpPr>
        <p:spPr>
          <a:xfrm>
            <a:off x="8103001" y="5098849"/>
            <a:ext cx="1397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FF0000"/>
                </a:solidFill>
              </a:rPr>
              <a:t>Grafik Vo</a:t>
            </a:r>
            <a:endParaRPr lang="en-ID" sz="20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485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F213F-9F6F-7591-957E-F069BFCBB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8D09E1-9A73-D180-8453-9D21D5FEE3C9}"/>
              </a:ext>
            </a:extLst>
          </p:cNvPr>
          <p:cNvSpPr txBox="1"/>
          <p:nvPr/>
        </p:nvSpPr>
        <p:spPr>
          <a:xfrm>
            <a:off x="504550" y="1097372"/>
            <a:ext cx="53328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Diketahui rangkaian Clamper berikut (</a:t>
            </a:r>
            <a:r>
              <a:rPr lang="en-US">
                <a:solidFill>
                  <a:srgbClr val="FF0000"/>
                </a:solidFill>
              </a:rPr>
              <a:t>asumsi Vf=0</a:t>
            </a:r>
            <a:r>
              <a:rPr lang="en-US"/>
              <a:t>) (kanan).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Pada input diberikan sinyal kotak (kanan).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Buktikan bahwa grafik Vo-nya seperti pada gambar disamping.</a:t>
            </a:r>
            <a:endParaRPr lang="en-ID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BDF785-BFF6-699D-661B-02E7208A4E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0422" y="1104648"/>
            <a:ext cx="1097435" cy="100936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BE65B9-B3C1-69BF-39EB-35AEE3265F8E}"/>
              </a:ext>
            </a:extLst>
          </p:cNvPr>
          <p:cNvSpPr txBox="1"/>
          <p:nvPr/>
        </p:nvSpPr>
        <p:spPr>
          <a:xfrm>
            <a:off x="745239" y="353284"/>
            <a:ext cx="82268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Rangkaian Clamper (Positip) dengan Input Sinyal Kotak</a:t>
            </a:r>
            <a:endParaRPr lang="en-US" sz="24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7F07F3-EC23-CCBE-1B70-610BABD2B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9862" y="920965"/>
            <a:ext cx="3733310" cy="1376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94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6D148E-375D-93F7-5555-2AE4E161442C}"/>
              </a:ext>
            </a:extLst>
          </p:cNvPr>
          <p:cNvSpPr txBox="1"/>
          <p:nvPr/>
        </p:nvSpPr>
        <p:spPr>
          <a:xfrm>
            <a:off x="711007" y="659540"/>
            <a:ext cx="9250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Latihan: Buktikan bahwa rangkaian-rangkaian Clamper berikut memiliki grafik output berikut!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946BA8-791A-E5A5-F570-298BD93630BA}"/>
              </a:ext>
            </a:extLst>
          </p:cNvPr>
          <p:cNvSpPr txBox="1"/>
          <p:nvPr/>
        </p:nvSpPr>
        <p:spPr>
          <a:xfrm>
            <a:off x="4576424" y="1503711"/>
            <a:ext cx="1519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grafik output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1E4517-C663-0D4E-D58B-F30195986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889" y="1987133"/>
            <a:ext cx="7316221" cy="32961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B0D60C-14A0-5C5B-F18D-E9EA67B15D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67" y="1987133"/>
            <a:ext cx="1105054" cy="12955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3DA225C-AE9F-49D3-158E-F650E48125D2}"/>
              </a:ext>
            </a:extLst>
          </p:cNvPr>
          <p:cNvSpPr txBox="1"/>
          <p:nvPr/>
        </p:nvSpPr>
        <p:spPr>
          <a:xfrm>
            <a:off x="8374204" y="1535866"/>
            <a:ext cx="1519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grafik output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048F1C-454C-3C8A-AC7F-78CF7EFD2095}"/>
              </a:ext>
            </a:extLst>
          </p:cNvPr>
          <p:cNvSpPr txBox="1"/>
          <p:nvPr/>
        </p:nvSpPr>
        <p:spPr>
          <a:xfrm>
            <a:off x="845967" y="1535866"/>
            <a:ext cx="1452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Sinyal input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209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30343-B3A8-D9E7-4616-6FB97AC73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F78387-B3B5-81FB-B64D-FDCCD75E2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190" y="915809"/>
            <a:ext cx="8051589" cy="56053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0BEBF7-FC57-7045-C242-B7C7B7FC2671}"/>
              </a:ext>
            </a:extLst>
          </p:cNvPr>
          <p:cNvSpPr txBox="1"/>
          <p:nvPr/>
        </p:nvSpPr>
        <p:spPr>
          <a:xfrm>
            <a:off x="643372" y="546477"/>
            <a:ext cx="92504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Resume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900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AB00E7-9E7A-408F-9A82-EC75D3DDB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979" y="541468"/>
            <a:ext cx="5831734" cy="20749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90BC2EA-753B-8A63-A26E-163D5ABF8C54}"/>
              </a:ext>
            </a:extLst>
          </p:cNvPr>
          <p:cNvSpPr txBox="1"/>
          <p:nvPr/>
        </p:nvSpPr>
        <p:spPr>
          <a:xfrm>
            <a:off x="763169" y="216117"/>
            <a:ext cx="8737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Rangkaian Clamper dengan Input Sinyal </a:t>
            </a:r>
            <a:r>
              <a:rPr lang="en-US" sz="2400" b="1">
                <a:solidFill>
                  <a:srgbClr val="FF0000"/>
                </a:solidFill>
              </a:rPr>
              <a:t>Sinusoidal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F4B61-8BF6-F05F-8DD3-0E2C145A45CE}"/>
              </a:ext>
            </a:extLst>
          </p:cNvPr>
          <p:cNvSpPr txBox="1"/>
          <p:nvPr/>
        </p:nvSpPr>
        <p:spPr>
          <a:xfrm>
            <a:off x="597674" y="748349"/>
            <a:ext cx="52712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Diketahui rangkaian Clamper berikut (</a:t>
            </a:r>
            <a:r>
              <a:rPr lang="en-US">
                <a:solidFill>
                  <a:srgbClr val="FF0000"/>
                </a:solidFill>
              </a:rPr>
              <a:t>asumsi Vf=0</a:t>
            </a:r>
            <a:r>
              <a:rPr lang="en-US"/>
              <a:t>) (kanan).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Pada input diberikan sinyal Sinusoidal (kanan).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Buktikan grafik Vo-nya seperti pada gambar.</a:t>
            </a:r>
            <a:endParaRPr lang="en-ID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24EFFF-4A61-D31A-8586-174171E8C24F}"/>
              </a:ext>
            </a:extLst>
          </p:cNvPr>
          <p:cNvSpPr txBox="1"/>
          <p:nvPr/>
        </p:nvSpPr>
        <p:spPr>
          <a:xfrm>
            <a:off x="516213" y="2177368"/>
            <a:ext cx="2136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Analisis 1: 0&lt;=t&lt;=T/2</a:t>
            </a:r>
            <a:endParaRPr lang="en-ID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AEEFD1B-376D-0C41-D96F-B81B48E8ACFD}"/>
              </a:ext>
            </a:extLst>
          </p:cNvPr>
          <p:cNvSpPr/>
          <p:nvPr/>
        </p:nvSpPr>
        <p:spPr>
          <a:xfrm>
            <a:off x="2209548" y="3188105"/>
            <a:ext cx="319970" cy="23866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87E910B-7257-D99E-5930-6F3C560D842B}"/>
              </a:ext>
            </a:extLst>
          </p:cNvPr>
          <p:cNvSpPr/>
          <p:nvPr/>
        </p:nvSpPr>
        <p:spPr>
          <a:xfrm>
            <a:off x="4988414" y="3160521"/>
            <a:ext cx="319970" cy="23866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3B6D69A-C3E1-D890-3ADF-83E51362F14A}"/>
              </a:ext>
            </a:extLst>
          </p:cNvPr>
          <p:cNvSpPr/>
          <p:nvPr/>
        </p:nvSpPr>
        <p:spPr>
          <a:xfrm>
            <a:off x="2245771" y="5404869"/>
            <a:ext cx="319970" cy="23866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C4DB30B-61CB-46B7-8AAC-4200C4913D04}"/>
              </a:ext>
            </a:extLst>
          </p:cNvPr>
          <p:cNvSpPr/>
          <p:nvPr/>
        </p:nvSpPr>
        <p:spPr>
          <a:xfrm>
            <a:off x="5028023" y="5420905"/>
            <a:ext cx="319970" cy="238661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6634B9-DA50-5C1A-3CC7-58D068CD3E5C}"/>
              </a:ext>
            </a:extLst>
          </p:cNvPr>
          <p:cNvSpPr txBox="1"/>
          <p:nvPr/>
        </p:nvSpPr>
        <p:spPr>
          <a:xfrm>
            <a:off x="516477" y="4854869"/>
            <a:ext cx="2131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Analisis 2: T/2&lt;=t&lt;=T</a:t>
            </a:r>
            <a:endParaRPr lang="en-ID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B1A8FCC-C044-9FD1-B284-355D9B3AEBBA}"/>
              </a:ext>
            </a:extLst>
          </p:cNvPr>
          <p:cNvCxnSpPr>
            <a:cxnSpLocks/>
          </p:cNvCxnSpPr>
          <p:nvPr/>
        </p:nvCxnSpPr>
        <p:spPr>
          <a:xfrm flipH="1">
            <a:off x="3129270" y="4997761"/>
            <a:ext cx="537026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6620F1E-D249-5AC8-16E6-B6CB8D73E7AF}"/>
              </a:ext>
            </a:extLst>
          </p:cNvPr>
          <p:cNvSpPr txBox="1"/>
          <p:nvPr/>
        </p:nvSpPr>
        <p:spPr>
          <a:xfrm>
            <a:off x="2788960" y="4682415"/>
            <a:ext cx="1986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Pengisian hingga 10v</a:t>
            </a:r>
            <a:endParaRPr lang="en-ID" sz="1200">
              <a:solidFill>
                <a:srgbClr val="FF0000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519A2EB5-1809-8A6D-2F4D-F404502673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675" y="2668920"/>
            <a:ext cx="1038370" cy="103837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74BF49B-B9CD-9C6B-851C-4E3AFC7854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569" y="2774125"/>
            <a:ext cx="2171849" cy="1041946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81659FB-D776-E5BA-F749-EB51A9381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6798" y="5055791"/>
            <a:ext cx="2171849" cy="1041946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540D3EA3-71C2-70E8-D7EF-ACC38F0D6ED1}"/>
              </a:ext>
            </a:extLst>
          </p:cNvPr>
          <p:cNvSpPr/>
          <p:nvPr/>
        </p:nvSpPr>
        <p:spPr>
          <a:xfrm>
            <a:off x="3584354" y="3019105"/>
            <a:ext cx="508675" cy="6604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3ECCA749-99AF-BBAF-ABD0-E720C0479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231" y="5417566"/>
            <a:ext cx="1496376" cy="680171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3A7008A1-D49C-735D-7E2F-98B860B4360C}"/>
              </a:ext>
            </a:extLst>
          </p:cNvPr>
          <p:cNvSpPr/>
          <p:nvPr/>
        </p:nvSpPr>
        <p:spPr>
          <a:xfrm>
            <a:off x="3705053" y="5242101"/>
            <a:ext cx="319884" cy="330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61531DE-2A6E-6E2B-2D67-AA924BABB259}"/>
              </a:ext>
            </a:extLst>
          </p:cNvPr>
          <p:cNvCxnSpPr/>
          <p:nvPr/>
        </p:nvCxnSpPr>
        <p:spPr>
          <a:xfrm>
            <a:off x="3827392" y="5224201"/>
            <a:ext cx="0" cy="4193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197EA80F-9CEA-C893-E476-350E78617D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8888" y="2812377"/>
            <a:ext cx="3649085" cy="1734417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FEB7D14D-0F68-1E02-68AA-71CEF673E58C}"/>
              </a:ext>
            </a:extLst>
          </p:cNvPr>
          <p:cNvGrpSpPr/>
          <p:nvPr/>
        </p:nvGrpSpPr>
        <p:grpSpPr>
          <a:xfrm>
            <a:off x="7085540" y="4732063"/>
            <a:ext cx="4612276" cy="1734417"/>
            <a:chOff x="7085540" y="4732063"/>
            <a:chExt cx="4612276" cy="1734417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D92A2F3B-932B-F6C0-25ED-7CBBD9740C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481388" y="4732063"/>
              <a:ext cx="4216428" cy="1734417"/>
            </a:xfrm>
            <a:prstGeom prst="rect">
              <a:avLst/>
            </a:prstGeom>
          </p:spPr>
        </p:pic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76BF6F2-0980-1F1F-B69E-40F1EE505CB7}"/>
                </a:ext>
              </a:extLst>
            </p:cNvPr>
            <p:cNvSpPr txBox="1"/>
            <p:nvPr/>
          </p:nvSpPr>
          <p:spPr>
            <a:xfrm>
              <a:off x="7193355" y="5404869"/>
              <a:ext cx="3577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0v</a:t>
              </a:r>
              <a:endParaRPr lang="en-ID" sz="1400">
                <a:solidFill>
                  <a:srgbClr val="FF0000"/>
                </a:solidFill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4BD04E3-A2B3-F09F-E436-1BD0E2B851FE}"/>
                </a:ext>
              </a:extLst>
            </p:cNvPr>
            <p:cNvSpPr txBox="1"/>
            <p:nvPr/>
          </p:nvSpPr>
          <p:spPr>
            <a:xfrm>
              <a:off x="7638888" y="5947200"/>
              <a:ext cx="3690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Vi</a:t>
              </a:r>
              <a:endParaRPr lang="en-ID">
                <a:solidFill>
                  <a:srgbClr val="FF0000"/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A56021D-AB83-9AE3-DDDF-01A9335CA825}"/>
                </a:ext>
              </a:extLst>
            </p:cNvPr>
            <p:cNvSpPr txBox="1"/>
            <p:nvPr/>
          </p:nvSpPr>
          <p:spPr>
            <a:xfrm>
              <a:off x="8157455" y="4813095"/>
              <a:ext cx="4282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srgbClr val="FF0000"/>
                  </a:solidFill>
                </a:rPr>
                <a:t>Vo</a:t>
              </a:r>
              <a:endParaRPr lang="en-ID">
                <a:solidFill>
                  <a:srgbClr val="FF0000"/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A99CCBA-A781-4EE5-3ECA-DBA0082F2FB0}"/>
                </a:ext>
              </a:extLst>
            </p:cNvPr>
            <p:cNvSpPr txBox="1"/>
            <p:nvPr/>
          </p:nvSpPr>
          <p:spPr>
            <a:xfrm>
              <a:off x="7147257" y="5053749"/>
              <a:ext cx="4491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20v</a:t>
              </a:r>
              <a:endParaRPr lang="en-ID" sz="1400">
                <a:solidFill>
                  <a:srgbClr val="FF0000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E1F69FAC-6980-1209-A288-F86D7780F852}"/>
                </a:ext>
              </a:extLst>
            </p:cNvPr>
            <p:cNvSpPr txBox="1"/>
            <p:nvPr/>
          </p:nvSpPr>
          <p:spPr>
            <a:xfrm>
              <a:off x="7085540" y="5659566"/>
              <a:ext cx="50366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-10v</a:t>
              </a:r>
              <a:endParaRPr lang="en-ID" sz="1400">
                <a:solidFill>
                  <a:srgbClr val="FF0000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D34492D9-5036-5673-7789-193531C4E7B8}"/>
                </a:ext>
              </a:extLst>
            </p:cNvPr>
            <p:cNvSpPr txBox="1"/>
            <p:nvPr/>
          </p:nvSpPr>
          <p:spPr>
            <a:xfrm>
              <a:off x="7147257" y="4840539"/>
              <a:ext cx="4491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0000"/>
                  </a:solidFill>
                </a:rPr>
                <a:t>30v</a:t>
              </a:r>
              <a:endParaRPr lang="en-ID" sz="1400">
                <a:solidFill>
                  <a:srgbClr val="FF0000"/>
                </a:solidFill>
              </a:endParaRPr>
            </a:p>
          </p:txBody>
        </p:sp>
      </p:grpSp>
      <p:pic>
        <p:nvPicPr>
          <p:cNvPr id="52" name="Picture 51">
            <a:extLst>
              <a:ext uri="{FF2B5EF4-FFF2-40B4-BE49-F238E27FC236}">
                <a16:creationId xmlns:a16="http://schemas.microsoft.com/office/drawing/2014/main" id="{920C83FC-5AD4-E4C7-A03E-027B07FDCCE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47863" y="2774126"/>
            <a:ext cx="842119" cy="1041945"/>
          </a:xfrm>
          <a:prstGeom prst="rect">
            <a:avLst/>
          </a:prstGeom>
        </p:spPr>
      </p:pic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EE38A529-FADC-0434-CE6E-E9FB4508D65D}"/>
              </a:ext>
            </a:extLst>
          </p:cNvPr>
          <p:cNvSpPr/>
          <p:nvPr/>
        </p:nvSpPr>
        <p:spPr>
          <a:xfrm>
            <a:off x="3157032" y="5449901"/>
            <a:ext cx="463469" cy="419329"/>
          </a:xfrm>
          <a:custGeom>
            <a:avLst/>
            <a:gdLst>
              <a:gd name="connsiteX0" fmla="*/ 0 w 498796"/>
              <a:gd name="connsiteY0" fmla="*/ 326831 h 468381"/>
              <a:gd name="connsiteX1" fmla="*/ 195943 w 498796"/>
              <a:gd name="connsiteY1" fmla="*/ 468346 h 468381"/>
              <a:gd name="connsiteX2" fmla="*/ 468086 w 498796"/>
              <a:gd name="connsiteY2" fmla="*/ 337717 h 468381"/>
              <a:gd name="connsiteX3" fmla="*/ 468086 w 498796"/>
              <a:gd name="connsiteY3" fmla="*/ 87346 h 468381"/>
              <a:gd name="connsiteX4" fmla="*/ 250371 w 498796"/>
              <a:gd name="connsiteY4" fmla="*/ 260 h 468381"/>
              <a:gd name="connsiteX5" fmla="*/ 43543 w 498796"/>
              <a:gd name="connsiteY5" fmla="*/ 109117 h 4683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8796" h="468381">
                <a:moveTo>
                  <a:pt x="0" y="326831"/>
                </a:moveTo>
                <a:cubicBezTo>
                  <a:pt x="58964" y="396681"/>
                  <a:pt x="117929" y="466532"/>
                  <a:pt x="195943" y="468346"/>
                </a:cubicBezTo>
                <a:cubicBezTo>
                  <a:pt x="273957" y="470160"/>
                  <a:pt x="422729" y="401217"/>
                  <a:pt x="468086" y="337717"/>
                </a:cubicBezTo>
                <a:cubicBezTo>
                  <a:pt x="513443" y="274217"/>
                  <a:pt x="504372" y="143589"/>
                  <a:pt x="468086" y="87346"/>
                </a:cubicBezTo>
                <a:cubicBezTo>
                  <a:pt x="431800" y="31103"/>
                  <a:pt x="321128" y="-3368"/>
                  <a:pt x="250371" y="260"/>
                </a:cubicBezTo>
                <a:cubicBezTo>
                  <a:pt x="179614" y="3888"/>
                  <a:pt x="111578" y="56502"/>
                  <a:pt x="43543" y="109117"/>
                </a:cubicBezTo>
              </a:path>
            </a:pathLst>
          </a:custGeom>
          <a:noFill/>
          <a:ln w="1905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0816777-A93C-1067-9F0A-399E29F2B33B}"/>
              </a:ext>
            </a:extLst>
          </p:cNvPr>
          <p:cNvSpPr/>
          <p:nvPr/>
        </p:nvSpPr>
        <p:spPr>
          <a:xfrm>
            <a:off x="2834466" y="5178787"/>
            <a:ext cx="316902" cy="260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FA8268F-EF67-896B-59AE-C6A43DD9817B}"/>
              </a:ext>
            </a:extLst>
          </p:cNvPr>
          <p:cNvSpPr/>
          <p:nvPr/>
        </p:nvSpPr>
        <p:spPr>
          <a:xfrm>
            <a:off x="2761380" y="5712646"/>
            <a:ext cx="316902" cy="2604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8991A812-C1A2-2EB6-21D8-BCA562563A74}"/>
              </a:ext>
            </a:extLst>
          </p:cNvPr>
          <p:cNvCxnSpPr>
            <a:cxnSpLocks/>
          </p:cNvCxnSpPr>
          <p:nvPr/>
        </p:nvCxnSpPr>
        <p:spPr>
          <a:xfrm flipH="1">
            <a:off x="2964785" y="2763631"/>
            <a:ext cx="537026" cy="0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018E6F22-FB1F-0B1F-1089-57CE46B1D13B}"/>
              </a:ext>
            </a:extLst>
          </p:cNvPr>
          <p:cNvSpPr txBox="1"/>
          <p:nvPr/>
        </p:nvSpPr>
        <p:spPr>
          <a:xfrm>
            <a:off x="2876529" y="2481093"/>
            <a:ext cx="24318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Terisi 10v (dari proses sebelumnya)</a:t>
            </a:r>
            <a:endParaRPr lang="en-ID" sz="1200">
              <a:solidFill>
                <a:srgbClr val="FF0000"/>
              </a:solidFill>
            </a:endParaRP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674680C1-A680-27EB-4CAE-C04A5C0FB2AF}"/>
              </a:ext>
            </a:extLst>
          </p:cNvPr>
          <p:cNvCxnSpPr>
            <a:cxnSpLocks/>
          </p:cNvCxnSpPr>
          <p:nvPr/>
        </p:nvCxnSpPr>
        <p:spPr>
          <a:xfrm>
            <a:off x="2757818" y="3019105"/>
            <a:ext cx="0" cy="566183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E92681C0-9A15-6D08-1D84-C42608AFE706}"/>
              </a:ext>
            </a:extLst>
          </p:cNvPr>
          <p:cNvSpPr txBox="1"/>
          <p:nvPr/>
        </p:nvSpPr>
        <p:spPr>
          <a:xfrm>
            <a:off x="2458443" y="3168935"/>
            <a:ext cx="470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FF0000"/>
                </a:solidFill>
              </a:rPr>
              <a:t>20V</a:t>
            </a:r>
            <a:endParaRPr lang="en-ID" sz="1200">
              <a:solidFill>
                <a:srgbClr val="FF0000"/>
              </a:solidFill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FBB25F10-7E6B-39D7-1E7B-1E54EAB967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98634" y="5422296"/>
            <a:ext cx="1310704" cy="47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3588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0FABE-B0A0-BAE9-97FA-6FFE4DE2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Latihan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F7649-E2D5-0FF5-CC26-144AEEE39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38557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9F95E1-0BE8-4E3A-BFBD-52BBCA0E9471}"/>
              </a:ext>
            </a:extLst>
          </p:cNvPr>
          <p:cNvSpPr txBox="1"/>
          <p:nvPr/>
        </p:nvSpPr>
        <p:spPr>
          <a:xfrm>
            <a:off x="993913" y="451439"/>
            <a:ext cx="20805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</a:rPr>
              <a:t>EXAMPLE 2.24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42888B-CC05-4BBF-A644-9F6C8FB7A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584" y="1431235"/>
            <a:ext cx="8861519" cy="4373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036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E12CE8-D306-4C14-8011-89563F025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486" y="415373"/>
            <a:ext cx="8041626" cy="60272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D9AF673-3D89-4310-B950-B8E4330F0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5112" y="438249"/>
            <a:ext cx="2963062" cy="5250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190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B2E495-0D5B-4D8F-86D5-D64A55B69E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69" y="187766"/>
            <a:ext cx="8369522" cy="62439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0C8385-4E52-49EE-97C4-2FFFF4F5B4B5}"/>
              </a:ext>
            </a:extLst>
          </p:cNvPr>
          <p:cNvSpPr txBox="1"/>
          <p:nvPr/>
        </p:nvSpPr>
        <p:spPr>
          <a:xfrm>
            <a:off x="9085139" y="4950477"/>
            <a:ext cx="3988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Figure 2.99 vi and </a:t>
            </a:r>
            <a:r>
              <a:rPr lang="en-US" dirty="0" err="1"/>
              <a:t>vo</a:t>
            </a:r>
            <a:r>
              <a:rPr lang="en-US" dirty="0"/>
              <a:t> for the</a:t>
            </a:r>
          </a:p>
          <a:p>
            <a:r>
              <a:rPr lang="en-US" dirty="0"/>
              <a:t>clamper of Fig. 2.96.</a:t>
            </a:r>
          </a:p>
        </p:txBody>
      </p:sp>
    </p:spTree>
    <p:extLst>
      <p:ext uri="{BB962C8B-B14F-4D97-AF65-F5344CB8AC3E}">
        <p14:creationId xmlns:p14="http://schemas.microsoft.com/office/powerpoint/2010/main" val="3983708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416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Rangkaian Clamper (Penjepit)</vt:lpstr>
      <vt:lpstr>Apa itu rangkaian Clamper?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Latihan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Aplikasi Dioda  Rangkaian Pemotong (Clipper) Rangkaian Pengapit (Clampers) Rangkaian Pengganda Tegangan Rangkaian Dioda Zener </dc:title>
  <dc:creator>Ridwan Solihin</dc:creator>
  <cp:lastModifiedBy>erilmozef@yahoo.com</cp:lastModifiedBy>
  <cp:revision>71</cp:revision>
  <dcterms:created xsi:type="dcterms:W3CDTF">2022-02-27T04:50:30Z</dcterms:created>
  <dcterms:modified xsi:type="dcterms:W3CDTF">2025-03-18T02:19:38Z</dcterms:modified>
</cp:coreProperties>
</file>