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7" r:id="rId4"/>
    <p:sldId id="291" r:id="rId5"/>
    <p:sldId id="281" r:id="rId6"/>
    <p:sldId id="282" r:id="rId7"/>
    <p:sldId id="285" r:id="rId8"/>
    <p:sldId id="287" r:id="rId9"/>
    <p:sldId id="302" r:id="rId10"/>
    <p:sldId id="292" r:id="rId11"/>
    <p:sldId id="283" r:id="rId12"/>
    <p:sldId id="286" r:id="rId13"/>
    <p:sldId id="288" r:id="rId14"/>
    <p:sldId id="301" r:id="rId15"/>
    <p:sldId id="300" r:id="rId16"/>
    <p:sldId id="298" r:id="rId17"/>
    <p:sldId id="299" r:id="rId18"/>
    <p:sldId id="296" r:id="rId19"/>
    <p:sldId id="277" r:id="rId20"/>
    <p:sldId id="260" r:id="rId21"/>
    <p:sldId id="267"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CA29F25-5A26-462B-BF77-08808760F419}" type="datetimeFigureOut">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51503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A29F25-5A26-462B-BF77-08808760F419}" type="datetimeFigureOut">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648393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A29F25-5A26-462B-BF77-08808760F419}" type="datetimeFigureOut">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456384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A29F25-5A26-462B-BF77-08808760F419}" type="datetimeFigureOut">
              <a:rPr lang="en-US" smtClean="0"/>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488610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CA29F25-5A26-462B-BF77-08808760F419}" type="datetimeFigureOut">
              <a:rPr lang="en-US" smtClean="0"/>
              <a:t>6/16/2021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264292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A29F25-5A26-462B-BF77-08808760F419}" type="datetimeFigureOut">
              <a:rPr lang="en-US" smtClean="0"/>
              <a:t>6/16/2021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2464901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A29F25-5A26-462B-BF77-08808760F419}" type="datetimeFigureOut">
              <a:rPr lang="en-US" smtClean="0"/>
              <a:t>6/16/2021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77844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A29F25-5A26-462B-BF77-08808760F419}" type="datetimeFigureOut">
              <a:rPr lang="en-US" smtClean="0"/>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620549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A29F25-5A26-462B-BF77-08808760F419}" type="datetimeFigureOut">
              <a:rPr lang="en-US" smtClean="0"/>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666588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A29F25-5A26-462B-BF77-08808760F419}" type="datetimeFigureOut">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2165951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A29F25-5A26-462B-BF77-08808760F419}" type="datetimeFigureOut">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59726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A29F25-5A26-462B-BF77-08808760F419}" type="datetimeFigureOut">
              <a:rPr lang="en-US" smtClean="0"/>
              <a:t>6/16/2021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19AA5-70D2-4C46-9B5F-9EC72C9FCEC3}" type="slidenum">
              <a:rPr lang="en-US" smtClean="0"/>
              <a:t>‹#›</a:t>
            </a:fld>
            <a:endParaRPr lang="en-US"/>
          </a:p>
        </p:txBody>
      </p:sp>
    </p:spTree>
    <p:extLst>
      <p:ext uri="{BB962C8B-B14F-4D97-AF65-F5344CB8AC3E}">
        <p14:creationId xmlns:p14="http://schemas.microsoft.com/office/powerpoint/2010/main" val="1495703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Z1c1ar1bS4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mtClean="0"/>
              <a:t>Membuat </a:t>
            </a:r>
            <a:r>
              <a:rPr lang="en-US" smtClean="0"/>
              <a:t>Grafik Karakteristik Transistor (mode graph)</a:t>
            </a:r>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03277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047289"/>
          </a:xfrm>
        </p:spPr>
        <p:txBody>
          <a:bodyPr>
            <a:normAutofit fontScale="90000"/>
          </a:bodyPr>
          <a:lstStyle/>
          <a:p>
            <a:r>
              <a:rPr lang="en-US" smtClean="0"/>
              <a:t>Gambaran Grafik Karakteristik Input, Output dan Transfer Transistor</a:t>
            </a:r>
            <a:endParaRPr lang="en-US" dirty="0"/>
          </a:p>
        </p:txBody>
      </p:sp>
      <p:sp>
        <p:nvSpPr>
          <p:cNvPr id="7" name="TextBox 6"/>
          <p:cNvSpPr txBox="1"/>
          <p:nvPr/>
        </p:nvSpPr>
        <p:spPr>
          <a:xfrm>
            <a:off x="1311160" y="4242848"/>
            <a:ext cx="1648143" cy="400110"/>
          </a:xfrm>
          <a:prstGeom prst="rect">
            <a:avLst/>
          </a:prstGeom>
          <a:noFill/>
        </p:spPr>
        <p:txBody>
          <a:bodyPr wrap="none" rtlCol="0">
            <a:spAutoFit/>
          </a:bodyPr>
          <a:lstStyle/>
          <a:p>
            <a:r>
              <a:rPr lang="en-US" sz="2000" smtClean="0">
                <a:solidFill>
                  <a:srgbClr val="FF0000"/>
                </a:solidFill>
              </a:rPr>
              <a:t>Ib=f(Vbe, Vce)</a:t>
            </a:r>
            <a:endParaRPr lang="en-US" sz="2000" dirty="0">
              <a:solidFill>
                <a:srgbClr val="FF0000"/>
              </a:solidFill>
            </a:endParaRPr>
          </a:p>
        </p:txBody>
      </p:sp>
      <p:sp>
        <p:nvSpPr>
          <p:cNvPr id="8" name="TextBox 7"/>
          <p:cNvSpPr txBox="1"/>
          <p:nvPr/>
        </p:nvSpPr>
        <p:spPr>
          <a:xfrm>
            <a:off x="1717897" y="1435830"/>
            <a:ext cx="1156086" cy="400110"/>
          </a:xfrm>
          <a:prstGeom prst="rect">
            <a:avLst/>
          </a:prstGeom>
          <a:noFill/>
        </p:spPr>
        <p:txBody>
          <a:bodyPr wrap="none" rtlCol="0">
            <a:spAutoFit/>
          </a:bodyPr>
          <a:lstStyle/>
          <a:p>
            <a:r>
              <a:rPr lang="en-US" sz="2000">
                <a:solidFill>
                  <a:srgbClr val="FF0000"/>
                </a:solidFill>
              </a:rPr>
              <a:t>Ib=f(Vbe)</a:t>
            </a:r>
            <a:endParaRPr lang="en-US" sz="2000" dirty="0">
              <a:solidFill>
                <a:srgbClr val="FF0000"/>
              </a:solidFill>
            </a:endParaRPr>
          </a:p>
        </p:txBody>
      </p:sp>
      <p:sp>
        <p:nvSpPr>
          <p:cNvPr id="14" name="TextBox 13"/>
          <p:cNvSpPr txBox="1"/>
          <p:nvPr/>
        </p:nvSpPr>
        <p:spPr>
          <a:xfrm>
            <a:off x="4105898" y="4242848"/>
            <a:ext cx="1412503" cy="400110"/>
          </a:xfrm>
          <a:prstGeom prst="rect">
            <a:avLst/>
          </a:prstGeom>
          <a:noFill/>
        </p:spPr>
        <p:txBody>
          <a:bodyPr wrap="none" rtlCol="0">
            <a:spAutoFit/>
          </a:bodyPr>
          <a:lstStyle/>
          <a:p>
            <a:r>
              <a:rPr lang="en-US" sz="2000">
                <a:solidFill>
                  <a:srgbClr val="FF0000"/>
                </a:solidFill>
              </a:rPr>
              <a:t>Ic=f(Vce, Ib)</a:t>
            </a:r>
            <a:endParaRPr lang="en-US" sz="2000" dirty="0">
              <a:solidFill>
                <a:srgbClr val="FF0000"/>
              </a:solidFill>
            </a:endParaRPr>
          </a:p>
        </p:txBody>
      </p:sp>
      <p:sp>
        <p:nvSpPr>
          <p:cNvPr id="15" name="TextBox 14"/>
          <p:cNvSpPr txBox="1"/>
          <p:nvPr/>
        </p:nvSpPr>
        <p:spPr>
          <a:xfrm>
            <a:off x="6889871" y="4242848"/>
            <a:ext cx="1391791" cy="400110"/>
          </a:xfrm>
          <a:prstGeom prst="rect">
            <a:avLst/>
          </a:prstGeom>
          <a:noFill/>
        </p:spPr>
        <p:txBody>
          <a:bodyPr wrap="none" rtlCol="0">
            <a:spAutoFit/>
          </a:bodyPr>
          <a:lstStyle/>
          <a:p>
            <a:r>
              <a:rPr lang="en-US" sz="2000">
                <a:solidFill>
                  <a:srgbClr val="FF0000"/>
                </a:solidFill>
              </a:rPr>
              <a:t>Ic=f(Ib, vce)</a:t>
            </a:r>
            <a:endParaRPr lang="en-US" sz="2000" dirty="0">
              <a:solidFill>
                <a:srgbClr val="FF0000"/>
              </a:solidFill>
            </a:endParaRPr>
          </a:p>
        </p:txBody>
      </p:sp>
      <p:sp>
        <p:nvSpPr>
          <p:cNvPr id="16" name="TextBox 15"/>
          <p:cNvSpPr txBox="1"/>
          <p:nvPr/>
        </p:nvSpPr>
        <p:spPr>
          <a:xfrm>
            <a:off x="7040909" y="1384161"/>
            <a:ext cx="1412503" cy="400110"/>
          </a:xfrm>
          <a:prstGeom prst="rect">
            <a:avLst/>
          </a:prstGeom>
          <a:noFill/>
        </p:spPr>
        <p:txBody>
          <a:bodyPr wrap="none" rtlCol="0">
            <a:spAutoFit/>
          </a:bodyPr>
          <a:lstStyle/>
          <a:p>
            <a:r>
              <a:rPr lang="en-US" sz="2000" smtClean="0">
                <a:solidFill>
                  <a:srgbClr val="FF0000"/>
                </a:solidFill>
              </a:rPr>
              <a:t>Ic=f(Ib, Vce)</a:t>
            </a:r>
            <a:endParaRPr lang="en-US" sz="2000" dirty="0">
              <a:solidFill>
                <a:srgbClr val="FF0000"/>
              </a:solidFill>
            </a:endParaRPr>
          </a:p>
        </p:txBody>
      </p:sp>
      <p:sp>
        <p:nvSpPr>
          <p:cNvPr id="17" name="TextBox 16"/>
          <p:cNvSpPr txBox="1"/>
          <p:nvPr/>
        </p:nvSpPr>
        <p:spPr>
          <a:xfrm>
            <a:off x="4154102" y="1412416"/>
            <a:ext cx="1412503" cy="400110"/>
          </a:xfrm>
          <a:prstGeom prst="rect">
            <a:avLst/>
          </a:prstGeom>
          <a:noFill/>
        </p:spPr>
        <p:txBody>
          <a:bodyPr wrap="none" rtlCol="0">
            <a:spAutoFit/>
          </a:bodyPr>
          <a:lstStyle/>
          <a:p>
            <a:r>
              <a:rPr lang="en-US" sz="2000">
                <a:solidFill>
                  <a:srgbClr val="FF0000"/>
                </a:solidFill>
              </a:rPr>
              <a:t>Ic=f(Vce, Ib)</a:t>
            </a:r>
            <a:endParaRPr lang="en-US" sz="2000" dirty="0">
              <a:solidFill>
                <a:srgbClr val="FF0000"/>
              </a:solidFill>
            </a:endParaRPr>
          </a:p>
        </p:txBody>
      </p:sp>
      <p:pic>
        <p:nvPicPr>
          <p:cNvPr id="18" name="Picture 17"/>
          <p:cNvPicPr>
            <a:picLocks noChangeAspect="1"/>
          </p:cNvPicPr>
          <p:nvPr/>
        </p:nvPicPr>
        <p:blipFill>
          <a:blip r:embed="rId2"/>
          <a:stretch>
            <a:fillRect/>
          </a:stretch>
        </p:blipFill>
        <p:spPr>
          <a:xfrm>
            <a:off x="1028741" y="1835940"/>
            <a:ext cx="2095500" cy="2238375"/>
          </a:xfrm>
          <a:prstGeom prst="rect">
            <a:avLst/>
          </a:prstGeom>
        </p:spPr>
      </p:pic>
      <p:pic>
        <p:nvPicPr>
          <p:cNvPr id="19" name="Picture 18"/>
          <p:cNvPicPr>
            <a:picLocks noChangeAspect="1"/>
          </p:cNvPicPr>
          <p:nvPr/>
        </p:nvPicPr>
        <p:blipFill>
          <a:blip r:embed="rId3"/>
          <a:stretch>
            <a:fillRect/>
          </a:stretch>
        </p:blipFill>
        <p:spPr>
          <a:xfrm>
            <a:off x="3563139" y="1735133"/>
            <a:ext cx="2428875" cy="2371725"/>
          </a:xfrm>
          <a:prstGeom prst="rect">
            <a:avLst/>
          </a:prstGeom>
        </p:spPr>
      </p:pic>
      <p:pic>
        <p:nvPicPr>
          <p:cNvPr id="20" name="Picture 19"/>
          <p:cNvPicPr>
            <a:picLocks noChangeAspect="1"/>
          </p:cNvPicPr>
          <p:nvPr/>
        </p:nvPicPr>
        <p:blipFill>
          <a:blip r:embed="rId4"/>
          <a:stretch>
            <a:fillRect/>
          </a:stretch>
        </p:blipFill>
        <p:spPr>
          <a:xfrm>
            <a:off x="6681170" y="1735133"/>
            <a:ext cx="2000250" cy="2181225"/>
          </a:xfrm>
          <a:prstGeom prst="rect">
            <a:avLst/>
          </a:prstGeom>
        </p:spPr>
      </p:pic>
      <p:pic>
        <p:nvPicPr>
          <p:cNvPr id="48" name="Picture 47"/>
          <p:cNvPicPr>
            <a:picLocks noChangeAspect="1"/>
          </p:cNvPicPr>
          <p:nvPr/>
        </p:nvPicPr>
        <p:blipFill>
          <a:blip r:embed="rId5"/>
          <a:stretch>
            <a:fillRect/>
          </a:stretch>
        </p:blipFill>
        <p:spPr>
          <a:xfrm>
            <a:off x="6383802" y="4660572"/>
            <a:ext cx="2502757" cy="1539542"/>
          </a:xfrm>
          <a:prstGeom prst="rect">
            <a:avLst/>
          </a:prstGeom>
        </p:spPr>
      </p:pic>
      <p:pic>
        <p:nvPicPr>
          <p:cNvPr id="49" name="Picture 48"/>
          <p:cNvPicPr>
            <a:picLocks noChangeAspect="1"/>
          </p:cNvPicPr>
          <p:nvPr/>
        </p:nvPicPr>
        <p:blipFill>
          <a:blip r:embed="rId6"/>
          <a:stretch>
            <a:fillRect/>
          </a:stretch>
        </p:blipFill>
        <p:spPr>
          <a:xfrm>
            <a:off x="3499625" y="4642958"/>
            <a:ext cx="2717931" cy="1557156"/>
          </a:xfrm>
          <a:prstGeom prst="rect">
            <a:avLst/>
          </a:prstGeom>
        </p:spPr>
      </p:pic>
      <p:pic>
        <p:nvPicPr>
          <p:cNvPr id="50" name="Picture 49"/>
          <p:cNvPicPr>
            <a:picLocks noChangeAspect="1"/>
          </p:cNvPicPr>
          <p:nvPr/>
        </p:nvPicPr>
        <p:blipFill>
          <a:blip r:embed="rId7"/>
          <a:stretch>
            <a:fillRect/>
          </a:stretch>
        </p:blipFill>
        <p:spPr>
          <a:xfrm>
            <a:off x="838200" y="4600471"/>
            <a:ext cx="2573244" cy="1599643"/>
          </a:xfrm>
          <a:prstGeom prst="rect">
            <a:avLst/>
          </a:prstGeom>
        </p:spPr>
      </p:pic>
      <p:pic>
        <p:nvPicPr>
          <p:cNvPr id="21" name="Picture 20"/>
          <p:cNvPicPr>
            <a:picLocks noChangeAspect="1"/>
          </p:cNvPicPr>
          <p:nvPr/>
        </p:nvPicPr>
        <p:blipFill>
          <a:blip r:embed="rId8"/>
          <a:stretch>
            <a:fillRect/>
          </a:stretch>
        </p:blipFill>
        <p:spPr>
          <a:xfrm>
            <a:off x="9186600" y="4683364"/>
            <a:ext cx="2244202" cy="1433856"/>
          </a:xfrm>
          <a:prstGeom prst="rect">
            <a:avLst/>
          </a:prstGeom>
        </p:spPr>
      </p:pic>
      <p:pic>
        <p:nvPicPr>
          <p:cNvPr id="3" name="Picture 2"/>
          <p:cNvPicPr>
            <a:picLocks noChangeAspect="1"/>
          </p:cNvPicPr>
          <p:nvPr/>
        </p:nvPicPr>
        <p:blipFill>
          <a:blip r:embed="rId9"/>
          <a:stretch>
            <a:fillRect/>
          </a:stretch>
        </p:blipFill>
        <p:spPr>
          <a:xfrm>
            <a:off x="9370576" y="1835940"/>
            <a:ext cx="1769144" cy="1897034"/>
          </a:xfrm>
          <a:prstGeom prst="rect">
            <a:avLst/>
          </a:prstGeom>
        </p:spPr>
      </p:pic>
      <p:sp>
        <p:nvSpPr>
          <p:cNvPr id="22" name="TextBox 21"/>
          <p:cNvSpPr txBox="1"/>
          <p:nvPr/>
        </p:nvSpPr>
        <p:spPr>
          <a:xfrm>
            <a:off x="9602449" y="1412416"/>
            <a:ext cx="1622495" cy="400110"/>
          </a:xfrm>
          <a:prstGeom prst="rect">
            <a:avLst/>
          </a:prstGeom>
          <a:noFill/>
        </p:spPr>
        <p:txBody>
          <a:bodyPr wrap="none" rtlCol="0">
            <a:spAutoFit/>
          </a:bodyPr>
          <a:lstStyle/>
          <a:p>
            <a:r>
              <a:rPr lang="en-US" sz="2000" smtClean="0">
                <a:solidFill>
                  <a:srgbClr val="FF0000"/>
                </a:solidFill>
              </a:rPr>
              <a:t>Ic=f(Vbe, Vce)</a:t>
            </a:r>
            <a:endParaRPr lang="en-US" sz="2000" dirty="0">
              <a:solidFill>
                <a:srgbClr val="FF0000"/>
              </a:solidFill>
            </a:endParaRPr>
          </a:p>
        </p:txBody>
      </p:sp>
    </p:spTree>
    <p:extLst>
      <p:ext uri="{BB962C8B-B14F-4D97-AF65-F5344CB8AC3E}">
        <p14:creationId xmlns:p14="http://schemas.microsoft.com/office/powerpoint/2010/main" val="4006382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956208" cy="1325563"/>
          </a:xfrm>
        </p:spPr>
        <p:txBody>
          <a:bodyPr>
            <a:normAutofit fontScale="90000"/>
          </a:bodyPr>
          <a:lstStyle/>
          <a:p>
            <a:r>
              <a:rPr lang="en-US" smtClean="0"/>
              <a:t>Langkah 1: Menyiapkan Rangkaian Pengukuran</a:t>
            </a:r>
            <a:endParaRPr lang="en-US"/>
          </a:p>
        </p:txBody>
      </p:sp>
      <p:sp>
        <p:nvSpPr>
          <p:cNvPr id="3" name="Content Placeholder 2"/>
          <p:cNvSpPr>
            <a:spLocks noGrp="1"/>
          </p:cNvSpPr>
          <p:nvPr>
            <p:ph idx="1"/>
          </p:nvPr>
        </p:nvSpPr>
        <p:spPr>
          <a:xfrm>
            <a:off x="838200" y="2098307"/>
            <a:ext cx="4477871" cy="3925974"/>
          </a:xfrm>
        </p:spPr>
        <p:txBody>
          <a:bodyPr>
            <a:noAutofit/>
          </a:bodyPr>
          <a:lstStyle/>
          <a:p>
            <a:pPr marL="342900" indent="-342900">
              <a:buAutoNum type="arabicPeriod"/>
            </a:pPr>
            <a:r>
              <a:rPr lang="en-US" sz="1800" smtClean="0"/>
              <a:t>Buatlah 2 skema rangkaian pengukuran krakteristik berikut. </a:t>
            </a:r>
          </a:p>
          <a:p>
            <a:pPr marL="342900" indent="-342900">
              <a:buFont typeface="Arial" panose="020B0604020202020204" pitchFamily="34" charset="0"/>
              <a:buAutoNum type="arabicPeriod"/>
            </a:pPr>
            <a:r>
              <a:rPr lang="en-US" sz="1800" smtClean="0"/>
              <a:t>Atas: Rangkaian 1, bawah: rangkaian 2.</a:t>
            </a:r>
          </a:p>
          <a:p>
            <a:pPr marL="342900" indent="-342900">
              <a:buFont typeface="Arial" panose="020B0604020202020204" pitchFamily="34" charset="0"/>
              <a:buAutoNum type="arabicPeriod"/>
            </a:pPr>
            <a:r>
              <a:rPr lang="en-US" sz="1800" smtClean="0"/>
              <a:t>Pada rangkaian 1 input </a:t>
            </a:r>
            <a:r>
              <a:rPr lang="en-US" sz="1800"/>
              <a:t>transistor terhubung ke sumber </a:t>
            </a:r>
            <a:r>
              <a:rPr lang="en-US" sz="1800" smtClean="0"/>
              <a:t>arus Ibin seperti terlihat pada </a:t>
            </a:r>
            <a:r>
              <a:rPr lang="en-US" sz="1800"/>
              <a:t>gambar. </a:t>
            </a:r>
            <a:endParaRPr lang="en-US" sz="1800" smtClean="0"/>
          </a:p>
          <a:p>
            <a:pPr marL="342900" indent="-342900">
              <a:buFont typeface="Arial" panose="020B0604020202020204" pitchFamily="34" charset="0"/>
              <a:buAutoNum type="arabicPeriod"/>
            </a:pPr>
            <a:r>
              <a:rPr lang="en-US" sz="1800"/>
              <a:t>Pada rangkaian </a:t>
            </a:r>
            <a:r>
              <a:rPr lang="en-US" sz="1800" smtClean="0"/>
              <a:t>2 </a:t>
            </a:r>
            <a:r>
              <a:rPr lang="en-US" sz="1800"/>
              <a:t>input transistor terhubung ke sumber </a:t>
            </a:r>
            <a:r>
              <a:rPr lang="en-US" sz="1800" smtClean="0"/>
              <a:t>tegangan Vbein </a:t>
            </a:r>
            <a:r>
              <a:rPr lang="en-US" sz="1800"/>
              <a:t>seperti </a:t>
            </a:r>
            <a:r>
              <a:rPr lang="en-US" sz="1800" smtClean="0"/>
              <a:t>terlihat pada </a:t>
            </a:r>
            <a:r>
              <a:rPr lang="en-US" sz="1800"/>
              <a:t>gambar. </a:t>
            </a:r>
          </a:p>
          <a:p>
            <a:pPr marL="342900" indent="-342900">
              <a:buAutoNum type="arabicPeriod"/>
            </a:pPr>
            <a:r>
              <a:rPr lang="en-US" sz="1800" smtClean="0"/>
              <a:t>Pelajari cara membuat grafik dengan 2 variabel di Proteus pada slide berikut.</a:t>
            </a:r>
          </a:p>
          <a:p>
            <a:endParaRPr lang="en-US" sz="1800" smtClean="0"/>
          </a:p>
          <a:p>
            <a:endParaRPr lang="en-US" sz="1800" smtClean="0"/>
          </a:p>
        </p:txBody>
      </p:sp>
      <p:pic>
        <p:nvPicPr>
          <p:cNvPr id="5" name="Picture 4"/>
          <p:cNvPicPr>
            <a:picLocks noChangeAspect="1"/>
          </p:cNvPicPr>
          <p:nvPr/>
        </p:nvPicPr>
        <p:blipFill>
          <a:blip r:embed="rId2"/>
          <a:stretch>
            <a:fillRect/>
          </a:stretch>
        </p:blipFill>
        <p:spPr>
          <a:xfrm>
            <a:off x="5933323" y="435440"/>
            <a:ext cx="5164606" cy="2780367"/>
          </a:xfrm>
          <a:prstGeom prst="rect">
            <a:avLst/>
          </a:prstGeom>
        </p:spPr>
      </p:pic>
      <p:pic>
        <p:nvPicPr>
          <p:cNvPr id="10" name="Picture 9"/>
          <p:cNvPicPr>
            <a:picLocks noChangeAspect="1"/>
          </p:cNvPicPr>
          <p:nvPr/>
        </p:nvPicPr>
        <p:blipFill>
          <a:blip r:embed="rId3"/>
          <a:stretch>
            <a:fillRect/>
          </a:stretch>
        </p:blipFill>
        <p:spPr>
          <a:xfrm>
            <a:off x="5933323" y="3438424"/>
            <a:ext cx="5164606" cy="2823813"/>
          </a:xfrm>
          <a:prstGeom prst="rect">
            <a:avLst/>
          </a:prstGeom>
        </p:spPr>
      </p:pic>
    </p:spTree>
    <p:extLst>
      <p:ext uri="{BB962C8B-B14F-4D97-AF65-F5344CB8AC3E}">
        <p14:creationId xmlns:p14="http://schemas.microsoft.com/office/powerpoint/2010/main" val="1833660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Grafik Dengan 2 Variabel (2 Sumbu) di Proteus</a:t>
            </a:r>
            <a:endParaRPr lang="en-US"/>
          </a:p>
        </p:txBody>
      </p:sp>
      <p:sp>
        <p:nvSpPr>
          <p:cNvPr id="3" name="Content Placeholder 2"/>
          <p:cNvSpPr>
            <a:spLocks noGrp="1"/>
          </p:cNvSpPr>
          <p:nvPr>
            <p:ph idx="1"/>
          </p:nvPr>
        </p:nvSpPr>
        <p:spPr>
          <a:xfrm>
            <a:off x="838200" y="1825625"/>
            <a:ext cx="7763540" cy="4351338"/>
          </a:xfrm>
        </p:spPr>
        <p:txBody>
          <a:bodyPr>
            <a:normAutofit fontScale="77500" lnSpcReduction="20000"/>
          </a:bodyPr>
          <a:lstStyle/>
          <a:p>
            <a:r>
              <a:rPr lang="en-US" smtClean="0"/>
              <a:t>Tekan tombol Graph Mode dan pilih Transfer untuk membuat grafik karakteristik dengan 2 variabel (2 sumbu).</a:t>
            </a:r>
          </a:p>
          <a:p>
            <a:r>
              <a:rPr lang="en-US" b="1" smtClean="0"/>
              <a:t>Grafik </a:t>
            </a:r>
            <a:r>
              <a:rPr lang="en-US" b="1" smtClean="0"/>
              <a:t>karakteristik </a:t>
            </a:r>
            <a:r>
              <a:rPr lang="en-US" b="1" smtClean="0"/>
              <a:t>output </a:t>
            </a:r>
            <a:r>
              <a:rPr lang="en-US" smtClean="0"/>
              <a:t>transistor selalu direpresentasikan dengan 2 variabel yaitu vce dan ib </a:t>
            </a:r>
            <a:r>
              <a:rPr lang="en-US"/>
              <a:t>agar mudah dalam analisa dan pembuatan garis </a:t>
            </a:r>
            <a:r>
              <a:rPr lang="en-US" smtClean="0"/>
              <a:t>beban sehingga persamaan fungsinya ditulis Ic=f(vce, Ib). </a:t>
            </a:r>
          </a:p>
          <a:p>
            <a:r>
              <a:rPr lang="en-US" smtClean="0"/>
              <a:t>Karena grafik penguatan dan grafik input dipengaruhi juga oleh vce maka </a:t>
            </a:r>
            <a:r>
              <a:rPr lang="en-US" b="1" smtClean="0"/>
              <a:t>grafik karakteristik transfer </a:t>
            </a:r>
            <a:r>
              <a:rPr lang="en-US" smtClean="0"/>
              <a:t>memiliki 2 variabel yaitu Ib dan vce sehingga persamaan fungsinya ditulis Ic=f(Ib, vce).</a:t>
            </a:r>
          </a:p>
          <a:p>
            <a:r>
              <a:rPr lang="en-US" smtClean="0"/>
              <a:t>Begitu juga untuk </a:t>
            </a:r>
            <a:r>
              <a:rPr lang="en-US" b="1" smtClean="0"/>
              <a:t>grafik karakteristik input </a:t>
            </a:r>
            <a:r>
              <a:rPr lang="en-US" smtClean="0"/>
              <a:t>bisa juga kita gunakan 2 sumbu dengan persamaan fungsinya Ib=f(vbe, vce).</a:t>
            </a:r>
          </a:p>
          <a:p>
            <a:r>
              <a:rPr lang="en-US" smtClean="0"/>
              <a:t>Gunakan link berikut untuk tutorial membuat grafik karakteristik output transistor: </a:t>
            </a:r>
            <a:r>
              <a:rPr lang="en-US" smtClean="0">
                <a:hlinkClick r:id="rId2"/>
              </a:rPr>
              <a:t>https</a:t>
            </a:r>
            <a:r>
              <a:rPr lang="en-US">
                <a:hlinkClick r:id="rId2"/>
              </a:rPr>
              <a:t>://www.youtube.com/watch?v=Z1c1ar1bS4g</a:t>
            </a:r>
            <a:endParaRPr lang="en-US"/>
          </a:p>
          <a:p>
            <a:endParaRPr lang="en-US"/>
          </a:p>
        </p:txBody>
      </p:sp>
      <p:pic>
        <p:nvPicPr>
          <p:cNvPr id="4" name="Picture 3"/>
          <p:cNvPicPr>
            <a:picLocks noChangeAspect="1"/>
          </p:cNvPicPr>
          <p:nvPr/>
        </p:nvPicPr>
        <p:blipFill>
          <a:blip r:embed="rId3"/>
          <a:stretch>
            <a:fillRect/>
          </a:stretch>
        </p:blipFill>
        <p:spPr>
          <a:xfrm>
            <a:off x="9517357" y="1825625"/>
            <a:ext cx="1281766" cy="4106678"/>
          </a:xfrm>
          <a:prstGeom prst="rect">
            <a:avLst/>
          </a:prstGeom>
        </p:spPr>
      </p:pic>
    </p:spTree>
    <p:extLst>
      <p:ext uri="{BB962C8B-B14F-4D97-AF65-F5344CB8AC3E}">
        <p14:creationId xmlns:p14="http://schemas.microsoft.com/office/powerpoint/2010/main" val="3246511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Langkah 2: Membuat Grafik Karakteristik Transfer Ic=f(Ib, Vce)</a:t>
            </a:r>
            <a:endParaRPr lang="en-US"/>
          </a:p>
        </p:txBody>
      </p:sp>
      <p:sp>
        <p:nvSpPr>
          <p:cNvPr id="8" name="Content Placeholder 2"/>
          <p:cNvSpPr txBox="1">
            <a:spLocks/>
          </p:cNvSpPr>
          <p:nvPr/>
        </p:nvSpPr>
        <p:spPr>
          <a:xfrm>
            <a:off x="731874" y="2088682"/>
            <a:ext cx="4477871" cy="36166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smtClean="0"/>
              <a:t>Grafik ini merupakan grafik penguatan transistor yang biasa kita kenal dengan istilah Beta atau Hfe.</a:t>
            </a:r>
          </a:p>
          <a:p>
            <a:r>
              <a:rPr lang="en-US" sz="1800"/>
              <a:t>Agar kita tahu berapa batas kemampuan transistor yang kita gunakan dan dapat menggunakan batas tsb dalam membuat grafik kita maka buatlah terlebih dahulu grafik karakteristik transfer Ic=f(Ib, vce</a:t>
            </a:r>
            <a:r>
              <a:rPr lang="en-US" sz="1800" smtClean="0"/>
              <a:t>).</a:t>
            </a:r>
            <a:endParaRPr lang="en-US" sz="1800"/>
          </a:p>
          <a:p>
            <a:r>
              <a:rPr lang="en-US" sz="1800" smtClean="0"/>
              <a:t>Gunakan rangkaian pengukuran berikut.</a:t>
            </a:r>
          </a:p>
          <a:p>
            <a:endParaRPr lang="en-US" sz="1800" smtClean="0"/>
          </a:p>
        </p:txBody>
      </p:sp>
      <p:pic>
        <p:nvPicPr>
          <p:cNvPr id="7" name="Picture 6"/>
          <p:cNvPicPr>
            <a:picLocks noChangeAspect="1"/>
          </p:cNvPicPr>
          <p:nvPr/>
        </p:nvPicPr>
        <p:blipFill>
          <a:blip r:embed="rId2"/>
          <a:stretch>
            <a:fillRect/>
          </a:stretch>
        </p:blipFill>
        <p:spPr>
          <a:xfrm>
            <a:off x="6096000" y="2215791"/>
            <a:ext cx="5164606" cy="2780367"/>
          </a:xfrm>
          <a:prstGeom prst="rect">
            <a:avLst/>
          </a:prstGeom>
        </p:spPr>
      </p:pic>
    </p:spTree>
    <p:extLst>
      <p:ext uri="{BB962C8B-B14F-4D97-AF65-F5344CB8AC3E}">
        <p14:creationId xmlns:p14="http://schemas.microsoft.com/office/powerpoint/2010/main" val="2665168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000"/>
              <a:t>Berikan range Vce antara 0 sd 10v dengan step 1v. Nilai 10v dipilih karena nantinya itu akan menjadi nilai Vcc, batas tegangan tertinggi dalam suatu rangkaian yang akan dibuat. Bila diinginkan kita bisa juga memberikan batas yang lebih tinggi dari itu yaitu batas tegangan Break Down transistor. </a:t>
            </a:r>
          </a:p>
          <a:p>
            <a:r>
              <a:rPr lang="en-US" sz="2000"/>
              <a:t>Berikan nilai Ib yang tepat dengan cara mencoba-coba sedemikian sehingga didapatkan grafik pada vce=10v, Ib tidak bisa naik lagi atau datar artinya sdh tidak terjadi lagi penguatan. Pada grafik, kondisi ini terjadi bila Ib&gt;=10mA (Ib maks).</a:t>
            </a:r>
          </a:p>
          <a:p>
            <a:r>
              <a:rPr lang="en-US" sz="2000" smtClean="0"/>
              <a:t>Ib maks ini akan berbeda-beda untuk setiap transistor. Untuk transistor arus lemah </a:t>
            </a:r>
            <a:r>
              <a:rPr lang="en-US" sz="2000" smtClean="0"/>
              <a:t>seperti </a:t>
            </a:r>
            <a:r>
              <a:rPr lang="en-US" sz="2000" smtClean="0"/>
              <a:t>BC108, BC547, Ib maks nya lebih kecil daripada misalnya 2N3055 (transistor daya).</a:t>
            </a:r>
          </a:p>
        </p:txBody>
      </p:sp>
    </p:spTree>
    <p:extLst>
      <p:ext uri="{BB962C8B-B14F-4D97-AF65-F5344CB8AC3E}">
        <p14:creationId xmlns:p14="http://schemas.microsoft.com/office/powerpoint/2010/main" val="3424189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a:t>
            </a:r>
            <a:r>
              <a:rPr lang="en-US" smtClean="0"/>
              <a:t>Transfer </a:t>
            </a:r>
            <a:r>
              <a:rPr lang="en-US" smtClean="0"/>
              <a:t>Ic=f(Ib, </a:t>
            </a:r>
            <a:r>
              <a:rPr lang="en-US"/>
              <a:t>Vce)</a:t>
            </a:r>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825625"/>
            <a:ext cx="10515600" cy="4386296"/>
          </a:xfrm>
          <a:prstGeom prst="rect">
            <a:avLst/>
          </a:prstGeom>
        </p:spPr>
      </p:pic>
      <p:sp>
        <p:nvSpPr>
          <p:cNvPr id="5" name="TextBox 4"/>
          <p:cNvSpPr txBox="1"/>
          <p:nvPr/>
        </p:nvSpPr>
        <p:spPr>
          <a:xfrm>
            <a:off x="9999379" y="1950700"/>
            <a:ext cx="709105" cy="276999"/>
          </a:xfrm>
          <a:prstGeom prst="rect">
            <a:avLst/>
          </a:prstGeom>
          <a:noFill/>
        </p:spPr>
        <p:txBody>
          <a:bodyPr wrap="none" rtlCol="0">
            <a:spAutoFit/>
          </a:bodyPr>
          <a:lstStyle/>
          <a:p>
            <a:r>
              <a:rPr lang="en-US" sz="1200" smtClean="0"/>
              <a:t>Vce=10v</a:t>
            </a:r>
            <a:endParaRPr lang="en-US" sz="1200"/>
          </a:p>
        </p:txBody>
      </p:sp>
      <p:cxnSp>
        <p:nvCxnSpPr>
          <p:cNvPr id="7" name="Straight Connector 6"/>
          <p:cNvCxnSpPr/>
          <p:nvPr/>
        </p:nvCxnSpPr>
        <p:spPr>
          <a:xfrm flipV="1">
            <a:off x="9592056" y="2233815"/>
            <a:ext cx="0" cy="3978107"/>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212112" y="2227699"/>
            <a:ext cx="8379944" cy="3058"/>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120743" y="6158060"/>
            <a:ext cx="750526" cy="276999"/>
          </a:xfrm>
          <a:prstGeom prst="rect">
            <a:avLst/>
          </a:prstGeom>
          <a:noFill/>
        </p:spPr>
        <p:txBody>
          <a:bodyPr wrap="none" rtlCol="0">
            <a:spAutoFit/>
          </a:bodyPr>
          <a:lstStyle/>
          <a:p>
            <a:r>
              <a:rPr lang="en-US" sz="1200" smtClean="0"/>
              <a:t>Ib=10mA</a:t>
            </a:r>
            <a:endParaRPr lang="en-US" sz="1200"/>
          </a:p>
        </p:txBody>
      </p:sp>
      <p:sp>
        <p:nvSpPr>
          <p:cNvPr id="15" name="TextBox 14"/>
          <p:cNvSpPr txBox="1"/>
          <p:nvPr/>
        </p:nvSpPr>
        <p:spPr>
          <a:xfrm>
            <a:off x="430876" y="2095315"/>
            <a:ext cx="814647" cy="276999"/>
          </a:xfrm>
          <a:prstGeom prst="rect">
            <a:avLst/>
          </a:prstGeom>
          <a:noFill/>
        </p:spPr>
        <p:txBody>
          <a:bodyPr wrap="none" rtlCol="0">
            <a:spAutoFit/>
          </a:bodyPr>
          <a:lstStyle/>
          <a:p>
            <a:r>
              <a:rPr lang="en-US" sz="1200" smtClean="0"/>
              <a:t>Ic=325mA</a:t>
            </a:r>
            <a:endParaRPr lang="en-US" sz="1200"/>
          </a:p>
        </p:txBody>
      </p:sp>
      <p:sp>
        <p:nvSpPr>
          <p:cNvPr id="17" name="TextBox 16"/>
          <p:cNvSpPr txBox="1"/>
          <p:nvPr/>
        </p:nvSpPr>
        <p:spPr>
          <a:xfrm>
            <a:off x="3907522" y="6334492"/>
            <a:ext cx="2361929" cy="338554"/>
          </a:xfrm>
          <a:prstGeom prst="rect">
            <a:avLst/>
          </a:prstGeom>
          <a:noFill/>
        </p:spPr>
        <p:txBody>
          <a:bodyPr wrap="none" rtlCol="0">
            <a:spAutoFit/>
          </a:bodyPr>
          <a:lstStyle/>
          <a:p>
            <a:r>
              <a:rPr lang="en-US" sz="1600">
                <a:solidFill>
                  <a:srgbClr val="FF0000"/>
                </a:solidFill>
              </a:rPr>
              <a:t>d</a:t>
            </a:r>
            <a:r>
              <a:rPr lang="en-US" sz="1600" smtClean="0">
                <a:solidFill>
                  <a:srgbClr val="FF0000"/>
                </a:solidFill>
              </a:rPr>
              <a:t>aerah dengan penguatan</a:t>
            </a:r>
            <a:endParaRPr lang="en-US" sz="1600">
              <a:solidFill>
                <a:srgbClr val="FF0000"/>
              </a:solidFill>
            </a:endParaRPr>
          </a:p>
        </p:txBody>
      </p:sp>
      <p:sp>
        <p:nvSpPr>
          <p:cNvPr id="18" name="TextBox 17"/>
          <p:cNvSpPr txBox="1"/>
          <p:nvPr/>
        </p:nvSpPr>
        <p:spPr>
          <a:xfrm>
            <a:off x="9648939" y="6346239"/>
            <a:ext cx="1596399" cy="338554"/>
          </a:xfrm>
          <a:prstGeom prst="rect">
            <a:avLst/>
          </a:prstGeom>
          <a:noFill/>
        </p:spPr>
        <p:txBody>
          <a:bodyPr wrap="none" rtlCol="0">
            <a:spAutoFit/>
          </a:bodyPr>
          <a:lstStyle/>
          <a:p>
            <a:r>
              <a:rPr lang="en-US" sz="1600">
                <a:solidFill>
                  <a:srgbClr val="FF0000"/>
                </a:solidFill>
              </a:rPr>
              <a:t>t</a:t>
            </a:r>
            <a:r>
              <a:rPr lang="en-US" sz="1600" smtClean="0">
                <a:solidFill>
                  <a:srgbClr val="FF0000"/>
                </a:solidFill>
              </a:rPr>
              <a:t>anpa penguatan</a:t>
            </a:r>
            <a:endParaRPr lang="en-US" sz="1600">
              <a:solidFill>
                <a:srgbClr val="FF0000"/>
              </a:solidFill>
            </a:endParaRPr>
          </a:p>
        </p:txBody>
      </p:sp>
      <p:sp>
        <p:nvSpPr>
          <p:cNvPr id="19" name="TextBox 18"/>
          <p:cNvSpPr txBox="1"/>
          <p:nvPr/>
        </p:nvSpPr>
        <p:spPr>
          <a:xfrm>
            <a:off x="9592056" y="5692550"/>
            <a:ext cx="822341" cy="338554"/>
          </a:xfrm>
          <a:prstGeom prst="rect">
            <a:avLst/>
          </a:prstGeom>
          <a:noFill/>
        </p:spPr>
        <p:txBody>
          <a:bodyPr wrap="none" rtlCol="0">
            <a:spAutoFit/>
          </a:bodyPr>
          <a:lstStyle/>
          <a:p>
            <a:r>
              <a:rPr lang="en-US" sz="1600" smtClean="0">
                <a:solidFill>
                  <a:srgbClr val="FF0000"/>
                </a:solidFill>
              </a:rPr>
              <a:t>Ib maks</a:t>
            </a:r>
            <a:endParaRPr lang="en-US" sz="1600">
              <a:solidFill>
                <a:srgbClr val="FF0000"/>
              </a:solidFill>
            </a:endParaRPr>
          </a:p>
        </p:txBody>
      </p:sp>
      <p:cxnSp>
        <p:nvCxnSpPr>
          <p:cNvPr id="21" name="Straight Arrow Connector 20"/>
          <p:cNvCxnSpPr/>
          <p:nvPr/>
        </p:nvCxnSpPr>
        <p:spPr>
          <a:xfrm>
            <a:off x="1245523" y="6381198"/>
            <a:ext cx="8346533" cy="7025"/>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9560115" y="6381198"/>
            <a:ext cx="1685223" cy="7026"/>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626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085803" cy="1325563"/>
          </a:xfrm>
        </p:spPr>
        <p:txBody>
          <a:bodyPr>
            <a:normAutofit/>
          </a:bodyPr>
          <a:lstStyle/>
          <a:p>
            <a:r>
              <a:rPr lang="en-US" sz="3200"/>
              <a:t>Pengaturan batas-batas variabel </a:t>
            </a:r>
            <a:r>
              <a:rPr lang="en-US" sz="3200" smtClean="0"/>
              <a:t>grafik karakteristik transfer.</a:t>
            </a:r>
            <a:endParaRPr lang="en-US" sz="3200"/>
          </a:p>
        </p:txBody>
      </p:sp>
      <p:sp>
        <p:nvSpPr>
          <p:cNvPr id="3" name="Content Placeholder 2"/>
          <p:cNvSpPr>
            <a:spLocks noGrp="1"/>
          </p:cNvSpPr>
          <p:nvPr>
            <p:ph idx="1"/>
          </p:nvPr>
        </p:nvSpPr>
        <p:spPr>
          <a:xfrm>
            <a:off x="838200" y="1825625"/>
            <a:ext cx="6143045" cy="3406333"/>
          </a:xfrm>
        </p:spPr>
        <p:txBody>
          <a:bodyPr>
            <a:normAutofit/>
          </a:bodyPr>
          <a:lstStyle/>
          <a:p>
            <a:r>
              <a:rPr lang="en-US" sz="2000" smtClean="0"/>
              <a:t>Atas: Contoh nilai batas-batas variabel grafik (sumbu X). Untuk setiap transistor berbeda-beda.</a:t>
            </a:r>
          </a:p>
          <a:p>
            <a:r>
              <a:rPr lang="en-US" sz="2000" smtClean="0"/>
              <a:t>Ibein disebelah kiri Vcein dikarenakan Ibein akan menjadi sumbu X.</a:t>
            </a:r>
          </a:p>
          <a:p>
            <a:r>
              <a:rPr lang="en-US" sz="2000" smtClean="0"/>
              <a:t>Bawah: Contoh pengaturan batas-batas sumbu Y</a:t>
            </a:r>
            <a:endParaRPr lang="en-US" sz="2000"/>
          </a:p>
        </p:txBody>
      </p:sp>
      <p:pic>
        <p:nvPicPr>
          <p:cNvPr id="6" name="Picture 5"/>
          <p:cNvPicPr>
            <a:picLocks noChangeAspect="1"/>
          </p:cNvPicPr>
          <p:nvPr/>
        </p:nvPicPr>
        <p:blipFill>
          <a:blip r:embed="rId2"/>
          <a:stretch>
            <a:fillRect/>
          </a:stretch>
        </p:blipFill>
        <p:spPr>
          <a:xfrm>
            <a:off x="7149559" y="578505"/>
            <a:ext cx="3993587" cy="2494240"/>
          </a:xfrm>
          <a:prstGeom prst="rect">
            <a:avLst/>
          </a:prstGeom>
        </p:spPr>
      </p:pic>
      <p:pic>
        <p:nvPicPr>
          <p:cNvPr id="7" name="Picture 6"/>
          <p:cNvPicPr>
            <a:picLocks noChangeAspect="1"/>
          </p:cNvPicPr>
          <p:nvPr/>
        </p:nvPicPr>
        <p:blipFill>
          <a:blip r:embed="rId3"/>
          <a:stretch>
            <a:fillRect/>
          </a:stretch>
        </p:blipFill>
        <p:spPr>
          <a:xfrm>
            <a:off x="7149559" y="3528791"/>
            <a:ext cx="3993587" cy="2484151"/>
          </a:xfrm>
          <a:prstGeom prst="rect">
            <a:avLst/>
          </a:prstGeom>
        </p:spPr>
      </p:pic>
    </p:spTree>
    <p:extLst>
      <p:ext uri="{BB962C8B-B14F-4D97-AF65-F5344CB8AC3E}">
        <p14:creationId xmlns:p14="http://schemas.microsoft.com/office/powerpoint/2010/main" val="1270506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Bagaimana melihat nilai sumbu z pada grafik yang dihasilkan</a:t>
            </a:r>
            <a:endParaRPr lang="en-US"/>
          </a:p>
        </p:txBody>
      </p:sp>
      <p:sp>
        <p:nvSpPr>
          <p:cNvPr id="3" name="Content Placeholder 2"/>
          <p:cNvSpPr>
            <a:spLocks noGrp="1"/>
          </p:cNvSpPr>
          <p:nvPr>
            <p:ph idx="1"/>
          </p:nvPr>
        </p:nvSpPr>
        <p:spPr/>
        <p:txBody>
          <a:bodyPr/>
          <a:lstStyle/>
          <a:p>
            <a:r>
              <a:rPr lang="en-US" smtClean="0"/>
              <a:t>Ic=f(Vce, Ib) maka sumbu z adalah Ib</a:t>
            </a:r>
          </a:p>
          <a:p>
            <a:r>
              <a:rPr lang="en-US" smtClean="0"/>
              <a:t>Ic=f(Ib, Vce)</a:t>
            </a:r>
            <a:r>
              <a:rPr lang="en-US"/>
              <a:t> maka sumbu z adalah </a:t>
            </a:r>
            <a:r>
              <a:rPr lang="en-US" smtClean="0"/>
              <a:t>Vce</a:t>
            </a:r>
            <a:endParaRPr lang="en-US"/>
          </a:p>
          <a:p>
            <a:r>
              <a:rPr lang="en-US" smtClean="0"/>
              <a:t>Ib=f(Vbe, </a:t>
            </a:r>
            <a:r>
              <a:rPr lang="en-US"/>
              <a:t>Vce) maka sumbu z adalah </a:t>
            </a:r>
            <a:r>
              <a:rPr lang="en-US" smtClean="0"/>
              <a:t>Vce</a:t>
            </a:r>
          </a:p>
          <a:p>
            <a:r>
              <a:rPr lang="en-US" smtClean="0"/>
              <a:t>Dst..</a:t>
            </a:r>
            <a:endParaRPr lang="en-US"/>
          </a:p>
          <a:p>
            <a:endParaRPr lang="en-US"/>
          </a:p>
          <a:p>
            <a:r>
              <a:rPr lang="en-US" smtClean="0"/>
              <a:t>Maksimumkan grafik</a:t>
            </a:r>
          </a:p>
          <a:p>
            <a:r>
              <a:rPr lang="en-US" smtClean="0"/>
              <a:t>Klik mouse pada kurva yang diinginkan dilihat sumbu nya</a:t>
            </a:r>
            <a:endParaRPr lang="en-US"/>
          </a:p>
        </p:txBody>
      </p:sp>
    </p:spTree>
    <p:extLst>
      <p:ext uri="{BB962C8B-B14F-4D97-AF65-F5344CB8AC3E}">
        <p14:creationId xmlns:p14="http://schemas.microsoft.com/office/powerpoint/2010/main" val="3430232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Setting Warna Grafik Yang Digunakan</a:t>
            </a:r>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57475" y="2245830"/>
            <a:ext cx="6877050" cy="3181350"/>
          </a:xfrm>
          <a:prstGeom prst="rect">
            <a:avLst/>
          </a:prstGeom>
        </p:spPr>
      </p:pic>
    </p:spTree>
    <p:extLst>
      <p:ext uri="{BB962C8B-B14F-4D97-AF65-F5344CB8AC3E}">
        <p14:creationId xmlns:p14="http://schemas.microsoft.com/office/powerpoint/2010/main" val="295818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Langkah 3: </a:t>
            </a:r>
            <a:r>
              <a:rPr lang="en-US" smtClean="0"/>
              <a:t>Membuat Grafik </a:t>
            </a:r>
            <a:r>
              <a:rPr lang="en-US"/>
              <a:t>Karakteristik </a:t>
            </a:r>
            <a:r>
              <a:rPr lang="en-US" smtClean="0"/>
              <a:t>Output Ic=f(Vce, Ib)</a:t>
            </a:r>
            <a:endParaRPr lang="en-US"/>
          </a:p>
        </p:txBody>
      </p:sp>
      <p:sp>
        <p:nvSpPr>
          <p:cNvPr id="8" name="Content Placeholder 2"/>
          <p:cNvSpPr txBox="1">
            <a:spLocks/>
          </p:cNvSpPr>
          <p:nvPr/>
        </p:nvSpPr>
        <p:spPr>
          <a:xfrm>
            <a:off x="838200" y="1825624"/>
            <a:ext cx="4477871" cy="41986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Dengan kita sudah mengetahui batas maksimum </a:t>
            </a:r>
            <a:r>
              <a:rPr lang="en-US" sz="1800" smtClean="0"/>
              <a:t>Ib, maka buatlah grafik karakteristik output Ic=f(vce, Ib) seperti pada gambar. </a:t>
            </a:r>
          </a:p>
          <a:p>
            <a:r>
              <a:rPr lang="en-US" sz="1800" smtClean="0"/>
              <a:t>masukkan nilai Ib maks ini sebagai range Ib dalam membuat </a:t>
            </a:r>
            <a:r>
              <a:rPr lang="en-US" sz="1800"/>
              <a:t>grafik karakteristik output </a:t>
            </a:r>
            <a:r>
              <a:rPr lang="en-US" sz="1800" smtClean="0"/>
              <a:t>tsb.</a:t>
            </a:r>
          </a:p>
          <a:p>
            <a:r>
              <a:rPr lang="en-US" sz="1800" smtClean="0"/>
              <a:t>Atur setting batas-batas variabel grafik tsb (lihat side berikut).</a:t>
            </a:r>
            <a:endParaRPr lang="en-US" sz="1800"/>
          </a:p>
          <a:p>
            <a:endParaRPr lang="en-US" sz="1800" smtClean="0"/>
          </a:p>
        </p:txBody>
      </p:sp>
      <p:pic>
        <p:nvPicPr>
          <p:cNvPr id="6" name="Picture 5"/>
          <p:cNvPicPr>
            <a:picLocks noChangeAspect="1"/>
          </p:cNvPicPr>
          <p:nvPr/>
        </p:nvPicPr>
        <p:blipFill>
          <a:blip r:embed="rId2"/>
          <a:stretch>
            <a:fillRect/>
          </a:stretch>
        </p:blipFill>
        <p:spPr>
          <a:xfrm>
            <a:off x="6096000" y="2215791"/>
            <a:ext cx="5164606" cy="2780367"/>
          </a:xfrm>
          <a:prstGeom prst="rect">
            <a:avLst/>
          </a:prstGeom>
        </p:spPr>
      </p:pic>
    </p:spTree>
    <p:extLst>
      <p:ext uri="{BB962C8B-B14F-4D97-AF65-F5344CB8AC3E}">
        <p14:creationId xmlns:p14="http://schemas.microsoft.com/office/powerpoint/2010/main" val="1284442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085803" cy="1325563"/>
          </a:xfrm>
        </p:spPr>
        <p:txBody>
          <a:bodyPr>
            <a:normAutofit/>
          </a:bodyPr>
          <a:lstStyle/>
          <a:p>
            <a:r>
              <a:rPr lang="en-US" sz="3200"/>
              <a:t>Pengaturan batas-batas variabel </a:t>
            </a:r>
            <a:r>
              <a:rPr lang="en-US" sz="3200" smtClean="0"/>
              <a:t>grafik karakteristik output.</a:t>
            </a:r>
            <a:endParaRPr lang="en-US" sz="3200"/>
          </a:p>
        </p:txBody>
      </p:sp>
      <p:sp>
        <p:nvSpPr>
          <p:cNvPr id="3" name="Content Placeholder 2"/>
          <p:cNvSpPr>
            <a:spLocks noGrp="1"/>
          </p:cNvSpPr>
          <p:nvPr>
            <p:ph idx="1"/>
          </p:nvPr>
        </p:nvSpPr>
        <p:spPr>
          <a:xfrm>
            <a:off x="838200" y="1825625"/>
            <a:ext cx="6143045" cy="3406333"/>
          </a:xfrm>
        </p:spPr>
        <p:txBody>
          <a:bodyPr>
            <a:normAutofit/>
          </a:bodyPr>
          <a:lstStyle/>
          <a:p>
            <a:r>
              <a:rPr lang="en-US" sz="2000" smtClean="0"/>
              <a:t>Atas: Contoh nilai batas-batas variabel grafik (sumbu X). Untuk setiap transistor berbeda-beda.</a:t>
            </a:r>
          </a:p>
          <a:p>
            <a:r>
              <a:rPr lang="en-US" sz="2000" smtClean="0"/>
              <a:t>Vcein disebelah </a:t>
            </a:r>
            <a:r>
              <a:rPr lang="en-US" sz="2000"/>
              <a:t>kiri </a:t>
            </a:r>
            <a:r>
              <a:rPr lang="en-US" sz="2000" smtClean="0"/>
              <a:t>Ibin </a:t>
            </a:r>
            <a:r>
              <a:rPr lang="en-US" sz="2000"/>
              <a:t>dikarenakan Vcein </a:t>
            </a:r>
            <a:r>
              <a:rPr lang="en-US" sz="2000" smtClean="0"/>
              <a:t>akan </a:t>
            </a:r>
            <a:r>
              <a:rPr lang="en-US" sz="2000"/>
              <a:t>menjadi sumbu X.</a:t>
            </a:r>
          </a:p>
          <a:p>
            <a:r>
              <a:rPr lang="en-US" sz="2000" smtClean="0"/>
              <a:t>Bawah: Contoh pengaturan batas-batas sumbu Y</a:t>
            </a:r>
            <a:endParaRPr lang="en-US" sz="2000"/>
          </a:p>
        </p:txBody>
      </p:sp>
      <p:pic>
        <p:nvPicPr>
          <p:cNvPr id="4" name="Picture 3"/>
          <p:cNvPicPr>
            <a:picLocks noChangeAspect="1"/>
          </p:cNvPicPr>
          <p:nvPr/>
        </p:nvPicPr>
        <p:blipFill>
          <a:blip r:embed="rId2"/>
          <a:stretch>
            <a:fillRect/>
          </a:stretch>
        </p:blipFill>
        <p:spPr>
          <a:xfrm>
            <a:off x="7149559" y="511037"/>
            <a:ext cx="3978685" cy="2494240"/>
          </a:xfrm>
          <a:prstGeom prst="rect">
            <a:avLst/>
          </a:prstGeom>
        </p:spPr>
      </p:pic>
      <p:pic>
        <p:nvPicPr>
          <p:cNvPr id="5" name="Picture 4"/>
          <p:cNvPicPr>
            <a:picLocks noChangeAspect="1"/>
          </p:cNvPicPr>
          <p:nvPr/>
        </p:nvPicPr>
        <p:blipFill>
          <a:blip r:embed="rId3"/>
          <a:stretch>
            <a:fillRect/>
          </a:stretch>
        </p:blipFill>
        <p:spPr>
          <a:xfrm>
            <a:off x="7149559" y="3246602"/>
            <a:ext cx="3993587" cy="2494240"/>
          </a:xfrm>
          <a:prstGeom prst="rect">
            <a:avLst/>
          </a:prstGeom>
        </p:spPr>
      </p:pic>
    </p:spTree>
    <p:extLst>
      <p:ext uri="{BB962C8B-B14F-4D97-AF65-F5344CB8AC3E}">
        <p14:creationId xmlns:p14="http://schemas.microsoft.com/office/powerpoint/2010/main" val="2155053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Grafik Karakteristik Output Ic=f(Vce</a:t>
            </a:r>
            <a:r>
              <a:rPr lang="en-US"/>
              <a:t>, Ib)</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199" y="1825625"/>
            <a:ext cx="10515601" cy="4351338"/>
          </a:xfrm>
          <a:prstGeom prst="rect">
            <a:avLst/>
          </a:prstGeom>
        </p:spPr>
      </p:pic>
      <p:sp>
        <p:nvSpPr>
          <p:cNvPr id="5" name="TextBox 4"/>
          <p:cNvSpPr txBox="1"/>
          <p:nvPr/>
        </p:nvSpPr>
        <p:spPr>
          <a:xfrm>
            <a:off x="8282984" y="2360853"/>
            <a:ext cx="1359859" cy="276999"/>
          </a:xfrm>
          <a:prstGeom prst="rect">
            <a:avLst/>
          </a:prstGeom>
          <a:noFill/>
        </p:spPr>
        <p:txBody>
          <a:bodyPr wrap="none" rtlCol="0">
            <a:spAutoFit/>
          </a:bodyPr>
          <a:lstStyle/>
          <a:p>
            <a:r>
              <a:rPr lang="en-US" sz="1200" smtClean="0"/>
              <a:t>Ib=10mA (Ib maks)</a:t>
            </a:r>
            <a:endParaRPr lang="en-US" sz="1200"/>
          </a:p>
        </p:txBody>
      </p:sp>
      <p:cxnSp>
        <p:nvCxnSpPr>
          <p:cNvPr id="6" name="Straight Connector 5"/>
          <p:cNvCxnSpPr/>
          <p:nvPr/>
        </p:nvCxnSpPr>
        <p:spPr>
          <a:xfrm flipH="1" flipV="1">
            <a:off x="7901479" y="2643969"/>
            <a:ext cx="30409" cy="3374059"/>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277582" y="2637852"/>
            <a:ext cx="6678735"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556625" y="6173400"/>
            <a:ext cx="709105" cy="276999"/>
          </a:xfrm>
          <a:prstGeom prst="rect">
            <a:avLst/>
          </a:prstGeom>
          <a:noFill/>
        </p:spPr>
        <p:txBody>
          <a:bodyPr wrap="none" rtlCol="0">
            <a:spAutoFit/>
          </a:bodyPr>
          <a:lstStyle/>
          <a:p>
            <a:r>
              <a:rPr lang="en-US" sz="1200" smtClean="0"/>
              <a:t>Vce=10v</a:t>
            </a:r>
            <a:endParaRPr lang="en-US" sz="1200"/>
          </a:p>
        </p:txBody>
      </p:sp>
      <p:sp>
        <p:nvSpPr>
          <p:cNvPr id="14" name="TextBox 13"/>
          <p:cNvSpPr txBox="1"/>
          <p:nvPr/>
        </p:nvSpPr>
        <p:spPr>
          <a:xfrm>
            <a:off x="462935" y="2485181"/>
            <a:ext cx="814647" cy="276999"/>
          </a:xfrm>
          <a:prstGeom prst="rect">
            <a:avLst/>
          </a:prstGeom>
          <a:noFill/>
        </p:spPr>
        <p:txBody>
          <a:bodyPr wrap="none" rtlCol="0">
            <a:spAutoFit/>
          </a:bodyPr>
          <a:lstStyle/>
          <a:p>
            <a:r>
              <a:rPr lang="en-US" sz="1200" smtClean="0"/>
              <a:t>Ic=325mA</a:t>
            </a:r>
            <a:endParaRPr lang="en-US" sz="1200"/>
          </a:p>
        </p:txBody>
      </p:sp>
      <p:sp>
        <p:nvSpPr>
          <p:cNvPr id="15" name="TextBox 14"/>
          <p:cNvSpPr txBox="1"/>
          <p:nvPr/>
        </p:nvSpPr>
        <p:spPr>
          <a:xfrm>
            <a:off x="7288044" y="2016183"/>
            <a:ext cx="2458750" cy="338554"/>
          </a:xfrm>
          <a:prstGeom prst="rect">
            <a:avLst/>
          </a:prstGeom>
          <a:noFill/>
        </p:spPr>
        <p:txBody>
          <a:bodyPr wrap="none" rtlCol="0">
            <a:spAutoFit/>
          </a:bodyPr>
          <a:lstStyle/>
          <a:p>
            <a:r>
              <a:rPr lang="en-US" sz="1600">
                <a:solidFill>
                  <a:srgbClr val="FF0000"/>
                </a:solidFill>
              </a:rPr>
              <a:t>p</a:t>
            </a:r>
            <a:r>
              <a:rPr lang="en-US" sz="1600" smtClean="0">
                <a:solidFill>
                  <a:srgbClr val="FF0000"/>
                </a:solidFill>
              </a:rPr>
              <a:t>d batas ini Ib naik, Ic tetap</a:t>
            </a:r>
            <a:endParaRPr lang="en-US" sz="1600">
              <a:solidFill>
                <a:srgbClr val="FF0000"/>
              </a:solidFill>
            </a:endParaRPr>
          </a:p>
        </p:txBody>
      </p:sp>
      <p:sp>
        <p:nvSpPr>
          <p:cNvPr id="16" name="Down Arrow 15"/>
          <p:cNvSpPr/>
          <p:nvPr/>
        </p:nvSpPr>
        <p:spPr>
          <a:xfrm flipV="1">
            <a:off x="9741794" y="2041451"/>
            <a:ext cx="202018" cy="4437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3202089" y="2363084"/>
            <a:ext cx="651332" cy="276999"/>
          </a:xfrm>
          <a:prstGeom prst="rect">
            <a:avLst/>
          </a:prstGeom>
          <a:noFill/>
        </p:spPr>
        <p:txBody>
          <a:bodyPr wrap="none" rtlCol="0">
            <a:spAutoFit/>
          </a:bodyPr>
          <a:lstStyle/>
          <a:p>
            <a:r>
              <a:rPr lang="en-US" sz="1200" smtClean="0"/>
              <a:t>Ic maks</a:t>
            </a:r>
            <a:endParaRPr lang="en-US" sz="1200"/>
          </a:p>
        </p:txBody>
      </p:sp>
    </p:spTree>
    <p:extLst>
      <p:ext uri="{BB962C8B-B14F-4D97-AF65-F5344CB8AC3E}">
        <p14:creationId xmlns:p14="http://schemas.microsoft.com/office/powerpoint/2010/main" val="2632104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Langkah </a:t>
            </a:r>
            <a:r>
              <a:rPr lang="en-US" smtClean="0"/>
              <a:t>5: Membuat Grafik Karakteristik Transfer Ic=f(Vbe, Vce)</a:t>
            </a:r>
            <a:endParaRPr lang="en-US"/>
          </a:p>
        </p:txBody>
      </p:sp>
      <p:sp>
        <p:nvSpPr>
          <p:cNvPr id="8" name="Content Placeholder 2"/>
          <p:cNvSpPr txBox="1">
            <a:spLocks/>
          </p:cNvSpPr>
          <p:nvPr/>
        </p:nvSpPr>
        <p:spPr>
          <a:xfrm>
            <a:off x="838200" y="2175309"/>
            <a:ext cx="4477871" cy="38489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smtClean="0"/>
              <a:t>Untuk mengetahui batas Vbe maks maka buatlah terlebih dahulu grafik </a:t>
            </a:r>
            <a:r>
              <a:rPr lang="en-US" sz="1800"/>
              <a:t>karakteristik </a:t>
            </a:r>
            <a:r>
              <a:rPr lang="en-US" sz="1800" smtClean="0"/>
              <a:t>transfer kedua yaitu Ic=f(vbe</a:t>
            </a:r>
            <a:r>
              <a:rPr lang="en-US" sz="1800"/>
              <a:t>, vce) sebelum membuat grafik karakteristik input. </a:t>
            </a:r>
            <a:endParaRPr lang="en-US" sz="1800" smtClean="0"/>
          </a:p>
          <a:p>
            <a:r>
              <a:rPr lang="en-US" sz="1800" smtClean="0"/>
              <a:t>Grafik karakteristik ini kita sebut transfer karena masih menghubungkan antara parameter output Ic dan parameter input Ib. </a:t>
            </a:r>
          </a:p>
          <a:p>
            <a:r>
              <a:rPr lang="en-US" sz="1800" smtClean="0"/>
              <a:t>Gunakan rangkaian berikut.</a:t>
            </a:r>
            <a:endParaRPr lang="en-US" sz="1800"/>
          </a:p>
          <a:p>
            <a:endParaRPr lang="en-US" sz="1800" smtClean="0"/>
          </a:p>
        </p:txBody>
      </p:sp>
      <p:pic>
        <p:nvPicPr>
          <p:cNvPr id="5" name="Picture 4"/>
          <p:cNvPicPr>
            <a:picLocks noChangeAspect="1"/>
          </p:cNvPicPr>
          <p:nvPr/>
        </p:nvPicPr>
        <p:blipFill>
          <a:blip r:embed="rId2"/>
          <a:stretch>
            <a:fillRect/>
          </a:stretch>
        </p:blipFill>
        <p:spPr>
          <a:xfrm>
            <a:off x="6096000" y="2445578"/>
            <a:ext cx="5164606" cy="2823813"/>
          </a:xfrm>
          <a:prstGeom prst="rect">
            <a:avLst/>
          </a:prstGeom>
        </p:spPr>
      </p:pic>
    </p:spTree>
    <p:extLst>
      <p:ext uri="{BB962C8B-B14F-4D97-AF65-F5344CB8AC3E}">
        <p14:creationId xmlns:p14="http://schemas.microsoft.com/office/powerpoint/2010/main" val="296548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1800"/>
              <a:t>Range Vbe dicari dengan cara mencoba memasukkan suatu nilai Vbe sembarang pada grafik Ic=f(vbe, vce) misalnya dari 0 sd 3v dan vce dari 0 sd 10v lalu lihat grafik yang dihasilkan.  Rentang vbe dimana Ic tidak naik lagi (datar) pada Vce maks yang dipilih (vce maks =10v) maka itulah nilai vbe maks dari transistor.</a:t>
            </a:r>
          </a:p>
          <a:p>
            <a:r>
              <a:rPr lang="en-US" sz="1800"/>
              <a:t>Buatlah grafik Ib=f(vbe, vce) dengan rentang vbe dan vce yang telah diketahui tsb.</a:t>
            </a:r>
          </a:p>
          <a:p>
            <a:r>
              <a:rPr lang="en-US" sz="1800"/>
              <a:t>Atur setting batas-batas variabel grafik (lihat side berikut).</a:t>
            </a:r>
          </a:p>
          <a:p>
            <a:endParaRPr lang="en-US" sz="1800"/>
          </a:p>
        </p:txBody>
      </p:sp>
    </p:spTree>
    <p:extLst>
      <p:ext uri="{BB962C8B-B14F-4D97-AF65-F5344CB8AC3E}">
        <p14:creationId xmlns:p14="http://schemas.microsoft.com/office/powerpoint/2010/main" val="1273897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a:t>
            </a:r>
            <a:r>
              <a:rPr lang="en-US" smtClean="0"/>
              <a:t>Transfer Ic=f(Vbe</a:t>
            </a:r>
            <a:r>
              <a:rPr lang="en-US"/>
              <a:t>, </a:t>
            </a:r>
            <a:r>
              <a:rPr lang="en-US" smtClean="0"/>
              <a:t>Vce)</a:t>
            </a:r>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690689"/>
            <a:ext cx="10515600" cy="4530730"/>
          </a:xfrm>
          <a:prstGeom prst="rect">
            <a:avLst/>
          </a:prstGeom>
        </p:spPr>
      </p:pic>
      <p:cxnSp>
        <p:nvCxnSpPr>
          <p:cNvPr id="5" name="Straight Connector 4"/>
          <p:cNvCxnSpPr/>
          <p:nvPr/>
        </p:nvCxnSpPr>
        <p:spPr>
          <a:xfrm flipH="1" flipV="1">
            <a:off x="6849920" y="2104474"/>
            <a:ext cx="44656" cy="393971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197864" y="2104474"/>
            <a:ext cx="5652056" cy="438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528931" y="6165579"/>
            <a:ext cx="848309" cy="276999"/>
          </a:xfrm>
          <a:prstGeom prst="rect">
            <a:avLst/>
          </a:prstGeom>
          <a:noFill/>
        </p:spPr>
        <p:txBody>
          <a:bodyPr wrap="none" rtlCol="0">
            <a:spAutoFit/>
          </a:bodyPr>
          <a:lstStyle/>
          <a:p>
            <a:r>
              <a:rPr lang="en-US" sz="1200" smtClean="0"/>
              <a:t>Vbe=1,64v</a:t>
            </a:r>
            <a:endParaRPr lang="en-US" sz="1200"/>
          </a:p>
        </p:txBody>
      </p:sp>
      <p:sp>
        <p:nvSpPr>
          <p:cNvPr id="8" name="TextBox 7"/>
          <p:cNvSpPr txBox="1"/>
          <p:nvPr/>
        </p:nvSpPr>
        <p:spPr>
          <a:xfrm>
            <a:off x="430876" y="1965974"/>
            <a:ext cx="814647" cy="276999"/>
          </a:xfrm>
          <a:prstGeom prst="rect">
            <a:avLst/>
          </a:prstGeom>
          <a:noFill/>
        </p:spPr>
        <p:txBody>
          <a:bodyPr wrap="none" rtlCol="0">
            <a:spAutoFit/>
          </a:bodyPr>
          <a:lstStyle/>
          <a:p>
            <a:r>
              <a:rPr lang="en-US" sz="1200" smtClean="0"/>
              <a:t>Ic=325mA</a:t>
            </a:r>
            <a:endParaRPr lang="en-US" sz="1200"/>
          </a:p>
        </p:txBody>
      </p:sp>
      <p:sp>
        <p:nvSpPr>
          <p:cNvPr id="12" name="TextBox 11"/>
          <p:cNvSpPr txBox="1"/>
          <p:nvPr/>
        </p:nvSpPr>
        <p:spPr>
          <a:xfrm>
            <a:off x="7953800" y="1825624"/>
            <a:ext cx="697370" cy="276999"/>
          </a:xfrm>
          <a:prstGeom prst="rect">
            <a:avLst/>
          </a:prstGeom>
          <a:noFill/>
        </p:spPr>
        <p:txBody>
          <a:bodyPr wrap="none" rtlCol="0">
            <a:spAutoFit/>
          </a:bodyPr>
          <a:lstStyle/>
          <a:p>
            <a:r>
              <a:rPr lang="en-US" sz="1200" smtClean="0"/>
              <a:t>vce=10v</a:t>
            </a:r>
            <a:endParaRPr lang="en-US" sz="1200"/>
          </a:p>
        </p:txBody>
      </p:sp>
      <p:sp>
        <p:nvSpPr>
          <p:cNvPr id="13" name="TextBox 12"/>
          <p:cNvSpPr txBox="1"/>
          <p:nvPr/>
        </p:nvSpPr>
        <p:spPr>
          <a:xfrm>
            <a:off x="7927314" y="4940680"/>
            <a:ext cx="618824" cy="276999"/>
          </a:xfrm>
          <a:prstGeom prst="rect">
            <a:avLst/>
          </a:prstGeom>
          <a:noFill/>
        </p:spPr>
        <p:txBody>
          <a:bodyPr wrap="none" rtlCol="0">
            <a:spAutoFit/>
          </a:bodyPr>
          <a:lstStyle/>
          <a:p>
            <a:r>
              <a:rPr lang="en-US" sz="1200" smtClean="0"/>
              <a:t>vce=1v</a:t>
            </a:r>
            <a:endParaRPr lang="en-US" sz="1200"/>
          </a:p>
        </p:txBody>
      </p:sp>
    </p:spTree>
    <p:extLst>
      <p:ext uri="{BB962C8B-B14F-4D97-AF65-F5344CB8AC3E}">
        <p14:creationId xmlns:p14="http://schemas.microsoft.com/office/powerpoint/2010/main" val="489803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Langkah </a:t>
            </a:r>
            <a:r>
              <a:rPr lang="en-US" smtClean="0"/>
              <a:t>5: Membuat Grafik Karakteristik Input Ib=f(vbe</a:t>
            </a:r>
            <a:r>
              <a:rPr lang="en-US"/>
              <a:t>, vce)</a:t>
            </a:r>
          </a:p>
        </p:txBody>
      </p:sp>
      <p:sp>
        <p:nvSpPr>
          <p:cNvPr id="8" name="Content Placeholder 2"/>
          <p:cNvSpPr txBox="1">
            <a:spLocks/>
          </p:cNvSpPr>
          <p:nvPr/>
        </p:nvSpPr>
        <p:spPr>
          <a:xfrm>
            <a:off x="838200" y="1690688"/>
            <a:ext cx="4477871" cy="433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Dengan kita sudah </a:t>
            </a:r>
            <a:r>
              <a:rPr lang="en-US" sz="1800" smtClean="0"/>
              <a:t>mengetahui range Vbe pada batas Vce maks yang kita tentukan dari grafik karakteristik transfer Ic=f(Vbe, Vce) maka buatlah </a:t>
            </a:r>
            <a:r>
              <a:rPr lang="en-US" sz="1800"/>
              <a:t>grafik karakteristik input Ib=f(vbe, vce</a:t>
            </a:r>
            <a:r>
              <a:rPr lang="en-US" sz="1800" smtClean="0"/>
              <a:t>).</a:t>
            </a:r>
          </a:p>
          <a:p>
            <a:r>
              <a:rPr lang="en-US" sz="1800" smtClean="0"/>
              <a:t>Gunakan rangkaian berikut.</a:t>
            </a:r>
          </a:p>
          <a:p>
            <a:r>
              <a:rPr lang="en-US" sz="1800" smtClean="0"/>
              <a:t>Atur setting batas-batas variabel grafik (lihat side berikut).</a:t>
            </a:r>
            <a:endParaRPr lang="en-US" sz="1800"/>
          </a:p>
          <a:p>
            <a:endParaRPr lang="en-US" sz="1800" smtClean="0"/>
          </a:p>
        </p:txBody>
      </p:sp>
      <p:pic>
        <p:nvPicPr>
          <p:cNvPr id="5" name="Picture 4"/>
          <p:cNvPicPr>
            <a:picLocks noChangeAspect="1"/>
          </p:cNvPicPr>
          <p:nvPr/>
        </p:nvPicPr>
        <p:blipFill>
          <a:blip r:embed="rId2"/>
          <a:stretch>
            <a:fillRect/>
          </a:stretch>
        </p:blipFill>
        <p:spPr>
          <a:xfrm>
            <a:off x="6096000" y="2445578"/>
            <a:ext cx="5164606" cy="2823813"/>
          </a:xfrm>
          <a:prstGeom prst="rect">
            <a:avLst/>
          </a:prstGeom>
        </p:spPr>
      </p:pic>
    </p:spTree>
    <p:extLst>
      <p:ext uri="{BB962C8B-B14F-4D97-AF65-F5344CB8AC3E}">
        <p14:creationId xmlns:p14="http://schemas.microsoft.com/office/powerpoint/2010/main" val="2397319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a:t>
            </a:r>
            <a:r>
              <a:rPr lang="en-US" smtClean="0"/>
              <a:t>Input Ib=f(Vbe</a:t>
            </a:r>
            <a:r>
              <a:rPr lang="en-US"/>
              <a:t>, </a:t>
            </a:r>
            <a:r>
              <a:rPr lang="en-US" smtClean="0"/>
              <a:t>Vce)</a:t>
            </a:r>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3511109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Input </a:t>
            </a:r>
            <a:r>
              <a:rPr lang="en-US" smtClean="0"/>
              <a:t>Ib=f(Vbe</a:t>
            </a:r>
            <a:r>
              <a:rPr lang="en-US"/>
              <a:t>, Vce</a:t>
            </a:r>
            <a:r>
              <a:rPr lang="en-US" smtClean="0"/>
              <a:t>) yang di” </a:t>
            </a:r>
            <a:r>
              <a:rPr lang="en-US"/>
              <a:t>zoom</a:t>
            </a:r>
            <a:r>
              <a:rPr lang="en-US" smtClean="0"/>
              <a:t>”</a:t>
            </a:r>
            <a:endParaRPr lang="en-US"/>
          </a:p>
        </p:txBody>
      </p:sp>
      <p:grpSp>
        <p:nvGrpSpPr>
          <p:cNvPr id="7" name="Group 6"/>
          <p:cNvGrpSpPr/>
          <p:nvPr/>
        </p:nvGrpSpPr>
        <p:grpSpPr>
          <a:xfrm>
            <a:off x="1510635" y="1903088"/>
            <a:ext cx="8891446" cy="3847909"/>
            <a:chOff x="230475" y="2213984"/>
            <a:chExt cx="8891446" cy="3847909"/>
          </a:xfrm>
        </p:grpSpPr>
        <p:pic>
          <p:nvPicPr>
            <p:cNvPr id="8" name="Picture 7"/>
            <p:cNvPicPr>
              <a:picLocks noChangeAspect="1"/>
            </p:cNvPicPr>
            <p:nvPr/>
          </p:nvPicPr>
          <p:blipFill>
            <a:blip r:embed="rId2"/>
            <a:stretch>
              <a:fillRect/>
            </a:stretch>
          </p:blipFill>
          <p:spPr>
            <a:xfrm>
              <a:off x="628650" y="2444817"/>
              <a:ext cx="7886700" cy="3425491"/>
            </a:xfrm>
            <a:prstGeom prst="rect">
              <a:avLst/>
            </a:prstGeom>
          </p:spPr>
        </p:pic>
        <p:sp>
          <p:nvSpPr>
            <p:cNvPr id="9" name="Rectangle 8"/>
            <p:cNvSpPr/>
            <p:nvPr/>
          </p:nvSpPr>
          <p:spPr>
            <a:xfrm>
              <a:off x="7527984" y="3109579"/>
              <a:ext cx="634726" cy="369332"/>
            </a:xfrm>
            <a:prstGeom prst="rect">
              <a:avLst/>
            </a:prstGeom>
          </p:spPr>
          <p:txBody>
            <a:bodyPr wrap="none">
              <a:spAutoFit/>
            </a:bodyPr>
            <a:lstStyle/>
            <a:p>
              <a:r>
                <a:rPr lang="en-US" smtClean="0"/>
                <a:t>Vce1</a:t>
              </a:r>
              <a:endParaRPr lang="en-US"/>
            </a:p>
          </p:txBody>
        </p:sp>
        <p:sp>
          <p:nvSpPr>
            <p:cNvPr id="10" name="Rectangle 9"/>
            <p:cNvSpPr/>
            <p:nvPr/>
          </p:nvSpPr>
          <p:spPr>
            <a:xfrm>
              <a:off x="7739581" y="3478911"/>
              <a:ext cx="634726" cy="369332"/>
            </a:xfrm>
            <a:prstGeom prst="rect">
              <a:avLst/>
            </a:prstGeom>
          </p:spPr>
          <p:txBody>
            <a:bodyPr wrap="none">
              <a:spAutoFit/>
            </a:bodyPr>
            <a:lstStyle/>
            <a:p>
              <a:r>
                <a:rPr lang="en-US" smtClean="0"/>
                <a:t>Vce2</a:t>
              </a:r>
              <a:endParaRPr lang="en-US"/>
            </a:p>
          </p:txBody>
        </p:sp>
        <p:sp>
          <p:nvSpPr>
            <p:cNvPr id="11" name="Rectangle 10"/>
            <p:cNvSpPr/>
            <p:nvPr/>
          </p:nvSpPr>
          <p:spPr>
            <a:xfrm>
              <a:off x="7786838" y="4282769"/>
              <a:ext cx="751744" cy="369332"/>
            </a:xfrm>
            <a:prstGeom prst="rect">
              <a:avLst/>
            </a:prstGeom>
          </p:spPr>
          <p:txBody>
            <a:bodyPr wrap="none">
              <a:spAutoFit/>
            </a:bodyPr>
            <a:lstStyle/>
            <a:p>
              <a:r>
                <a:rPr lang="en-US" smtClean="0"/>
                <a:t>Vce10</a:t>
              </a:r>
              <a:endParaRPr lang="en-US"/>
            </a:p>
          </p:txBody>
        </p:sp>
        <p:sp>
          <p:nvSpPr>
            <p:cNvPr id="12" name="Rectangle 11"/>
            <p:cNvSpPr/>
            <p:nvPr/>
          </p:nvSpPr>
          <p:spPr>
            <a:xfrm>
              <a:off x="8446736" y="5600228"/>
              <a:ext cx="675185" cy="461665"/>
            </a:xfrm>
            <a:prstGeom prst="rect">
              <a:avLst/>
            </a:prstGeom>
          </p:spPr>
          <p:txBody>
            <a:bodyPr wrap="none">
              <a:spAutoFit/>
            </a:bodyPr>
            <a:lstStyle/>
            <a:p>
              <a:r>
                <a:rPr lang="en-US" sz="2400" smtClean="0">
                  <a:solidFill>
                    <a:srgbClr val="FF0000"/>
                  </a:solidFill>
                </a:rPr>
                <a:t>Vbe</a:t>
              </a:r>
              <a:endParaRPr lang="en-US" sz="2400">
                <a:solidFill>
                  <a:srgbClr val="FF0000"/>
                </a:solidFill>
              </a:endParaRPr>
            </a:p>
          </p:txBody>
        </p:sp>
        <p:sp>
          <p:nvSpPr>
            <p:cNvPr id="13" name="Rectangle 12"/>
            <p:cNvSpPr/>
            <p:nvPr/>
          </p:nvSpPr>
          <p:spPr>
            <a:xfrm>
              <a:off x="230475" y="2213984"/>
              <a:ext cx="423514" cy="461665"/>
            </a:xfrm>
            <a:prstGeom prst="rect">
              <a:avLst/>
            </a:prstGeom>
          </p:spPr>
          <p:txBody>
            <a:bodyPr wrap="none">
              <a:spAutoFit/>
            </a:bodyPr>
            <a:lstStyle/>
            <a:p>
              <a:r>
                <a:rPr lang="en-US" sz="2400" smtClean="0">
                  <a:solidFill>
                    <a:srgbClr val="FF0000"/>
                  </a:solidFill>
                </a:rPr>
                <a:t>Ib</a:t>
              </a:r>
              <a:endParaRPr lang="en-US" sz="2400">
                <a:solidFill>
                  <a:srgbClr val="FF0000"/>
                </a:solidFill>
              </a:endParaRPr>
            </a:p>
          </p:txBody>
        </p:sp>
      </p:grpSp>
    </p:spTree>
    <p:extLst>
      <p:ext uri="{BB962C8B-B14F-4D97-AF65-F5344CB8AC3E}">
        <p14:creationId xmlns:p14="http://schemas.microsoft.com/office/powerpoint/2010/main" val="4121617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Tugas</a:t>
            </a:r>
            <a:endParaRPr lang="en-US"/>
          </a:p>
        </p:txBody>
      </p:sp>
      <p:sp>
        <p:nvSpPr>
          <p:cNvPr id="3" name="Content Placeholder 2"/>
          <p:cNvSpPr>
            <a:spLocks noGrp="1"/>
          </p:cNvSpPr>
          <p:nvPr>
            <p:ph idx="1"/>
          </p:nvPr>
        </p:nvSpPr>
        <p:spPr/>
        <p:txBody>
          <a:bodyPr/>
          <a:lstStyle/>
          <a:p>
            <a:r>
              <a:rPr lang="en-US" smtClean="0"/>
              <a:t>Buatlah grafik karakteristik transistor seperti yang telah dijelaskan sesuai dengan tipe transistor yang diminta.</a:t>
            </a:r>
          </a:p>
          <a:p>
            <a:r>
              <a:rPr lang="en-US" smtClean="0"/>
              <a:t>Bandingkan dengan hasil yang didapat menggunakan cara manual.</a:t>
            </a:r>
          </a:p>
          <a:p>
            <a:endParaRPr lang="en-US"/>
          </a:p>
          <a:p>
            <a:r>
              <a:rPr lang="en-US" smtClean="0"/>
              <a:t>Tulis jawaban di file Word.</a:t>
            </a:r>
            <a:endParaRPr lang="en-US"/>
          </a:p>
        </p:txBody>
      </p:sp>
    </p:spTree>
    <p:extLst>
      <p:ext uri="{BB962C8B-B14F-4D97-AF65-F5344CB8AC3E}">
        <p14:creationId xmlns:p14="http://schemas.microsoft.com/office/powerpoint/2010/main" val="425503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Pengumpulan</a:t>
            </a:r>
            <a:endParaRPr lang="en-US"/>
          </a:p>
        </p:txBody>
      </p:sp>
      <p:sp>
        <p:nvSpPr>
          <p:cNvPr id="3" name="Content Placeholder 2"/>
          <p:cNvSpPr>
            <a:spLocks noGrp="1"/>
          </p:cNvSpPr>
          <p:nvPr>
            <p:ph idx="1"/>
          </p:nvPr>
        </p:nvSpPr>
        <p:spPr/>
        <p:txBody>
          <a:bodyPr>
            <a:normAutofit fontScale="85000" lnSpcReduction="20000"/>
          </a:bodyPr>
          <a:lstStyle/>
          <a:p>
            <a:r>
              <a:rPr lang="en-US" smtClean="0"/>
              <a:t>Penamaan File Excel:</a:t>
            </a:r>
          </a:p>
          <a:p>
            <a:pPr lvl="1"/>
            <a:r>
              <a:rPr lang="en-US" smtClean="0"/>
              <a:t>noAbsen_namaDepan_karak_trans_NamaTransistor_mode_graph.xlsx</a:t>
            </a:r>
          </a:p>
          <a:p>
            <a:r>
              <a:rPr lang="en-US"/>
              <a:t>Penamaan </a:t>
            </a:r>
            <a:r>
              <a:rPr lang="en-US" smtClean="0"/>
              <a:t>File Proteus:</a:t>
            </a:r>
            <a:endParaRPr lang="en-US"/>
          </a:p>
          <a:p>
            <a:pPr lvl="1"/>
            <a:r>
              <a:rPr lang="en-US"/>
              <a:t>noAbsen_namaDepan_karak_trans_NamaTransistor_mode_graph.pdsrj</a:t>
            </a:r>
          </a:p>
          <a:p>
            <a:r>
              <a:rPr lang="en-US"/>
              <a:t>Penamaan </a:t>
            </a:r>
            <a:r>
              <a:rPr lang="en-US" smtClean="0"/>
              <a:t>File Jawaban Pertanyaan:</a:t>
            </a:r>
            <a:endParaRPr lang="en-US"/>
          </a:p>
          <a:p>
            <a:pPr lvl="1"/>
            <a:r>
              <a:rPr lang="en-US"/>
              <a:t>noAbsen_namaDepan_karak_trans_NamaTransistor_mode_graph.docx</a:t>
            </a:r>
          </a:p>
          <a:p>
            <a:endParaRPr lang="en-US"/>
          </a:p>
          <a:p>
            <a:r>
              <a:rPr lang="en-US" smtClean="0"/>
              <a:t>Kompres dan kirim semua file tsb dengan nama:</a:t>
            </a:r>
          </a:p>
          <a:p>
            <a:pPr lvl="1"/>
            <a:r>
              <a:rPr lang="en-US"/>
              <a:t>noAbsen_namaDepan_karak_trans_NamaTransistor_mode_graph.rar</a:t>
            </a:r>
            <a:endParaRPr lang="en-US" smtClean="0"/>
          </a:p>
          <a:p>
            <a:endParaRPr lang="en-US" smtClean="0"/>
          </a:p>
          <a:p>
            <a:r>
              <a:rPr lang="en-US" smtClean="0"/>
              <a:t>Alamat pengiriman file Rar akan disampaikan di grup WA.</a:t>
            </a:r>
            <a:endParaRPr lang="en-US"/>
          </a:p>
          <a:p>
            <a:r>
              <a:rPr lang="en-US" smtClean="0"/>
              <a:t>Deadline: Rabu, 16 06 2021 pkl 23.59</a:t>
            </a:r>
          </a:p>
          <a:p>
            <a:endParaRPr lang="en-US" smtClean="0"/>
          </a:p>
          <a:p>
            <a:endParaRPr lang="en-US" smtClean="0"/>
          </a:p>
          <a:p>
            <a:endParaRPr lang="en-US"/>
          </a:p>
        </p:txBody>
      </p:sp>
    </p:spTree>
    <p:extLst>
      <p:ext uri="{BB962C8B-B14F-4D97-AF65-F5344CB8AC3E}">
        <p14:creationId xmlns:p14="http://schemas.microsoft.com/office/powerpoint/2010/main" val="3588194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Perhatian</a:t>
            </a:r>
            <a:endParaRPr lang="en-US"/>
          </a:p>
        </p:txBody>
      </p:sp>
      <p:sp>
        <p:nvSpPr>
          <p:cNvPr id="3" name="Content Placeholder 2"/>
          <p:cNvSpPr>
            <a:spLocks noGrp="1"/>
          </p:cNvSpPr>
          <p:nvPr>
            <p:ph idx="1"/>
          </p:nvPr>
        </p:nvSpPr>
        <p:spPr/>
        <p:txBody>
          <a:bodyPr>
            <a:normAutofit fontScale="92500" lnSpcReduction="10000"/>
          </a:bodyPr>
          <a:lstStyle/>
          <a:p>
            <a:r>
              <a:rPr lang="en-US" smtClean="0"/>
              <a:t>Nama file harus mengikuti petunjuk yang telah diberikan di slide sebelumnya.</a:t>
            </a:r>
          </a:p>
          <a:p>
            <a:r>
              <a:rPr lang="en-US" smtClean="0"/>
              <a:t>Nomor absen 1 sampai dengan 9 tulis dengan angka 01, 02, sd 09</a:t>
            </a:r>
          </a:p>
          <a:p>
            <a:r>
              <a:rPr lang="en-US" smtClean="0"/>
              <a:t>Nama file mengandung nama transistor maka tulis nama transistor yang diminta pada </a:t>
            </a:r>
            <a:r>
              <a:rPr lang="en-US"/>
              <a:t>“NamaTransistor</a:t>
            </a:r>
            <a:r>
              <a:rPr lang="en-US" smtClean="0"/>
              <a:t>”.</a:t>
            </a:r>
          </a:p>
          <a:p>
            <a:endParaRPr lang="en-US" smtClean="0"/>
          </a:p>
          <a:p>
            <a:endParaRPr lang="en-US" smtClean="0"/>
          </a:p>
          <a:p>
            <a:endParaRPr lang="en-US"/>
          </a:p>
          <a:p>
            <a:r>
              <a:rPr lang="en-US" b="1" u="sng" smtClean="0">
                <a:solidFill>
                  <a:srgbClr val="FF0000"/>
                </a:solidFill>
              </a:rPr>
              <a:t>Ketidak patuhan terhadap instruksi pengumpulan tugas berdampak pada nilai praktikum ini !!!.</a:t>
            </a:r>
            <a:endParaRPr lang="en-US" b="1" u="sng">
              <a:solidFill>
                <a:srgbClr val="FF0000"/>
              </a:solidFill>
            </a:endParaRPr>
          </a:p>
        </p:txBody>
      </p:sp>
    </p:spTree>
    <p:extLst>
      <p:ext uri="{BB962C8B-B14F-4D97-AF65-F5344CB8AC3E}">
        <p14:creationId xmlns:p14="http://schemas.microsoft.com/office/powerpoint/2010/main" val="2018126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1487</TotalTime>
  <Words>1018</Words>
  <Application>Microsoft Office PowerPoint</Application>
  <PresentationFormat>Widescreen</PresentationFormat>
  <Paragraphs>112</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Membuat Grafik Karakteristik Transistor (mode graph)</vt:lpstr>
      <vt:lpstr>Gambaran Grafik Karakteristik Input, Output dan Transfer Transistor</vt:lpstr>
      <vt:lpstr>Langkah 1: Menyiapkan Rangkaian Pengukuran</vt:lpstr>
      <vt:lpstr>Grafik Dengan 2 Variabel (2 Sumbu) di Proteus</vt:lpstr>
      <vt:lpstr>Langkah 2: Membuat Grafik Karakteristik Transfer Ic=f(Ib, Vce)</vt:lpstr>
      <vt:lpstr>PowerPoint Presentation</vt:lpstr>
      <vt:lpstr>Grafik Karakteristik Transfer Ic=f(Ib, Vce)</vt:lpstr>
      <vt:lpstr>Pengaturan batas-batas variabel grafik karakteristik transfer.</vt:lpstr>
      <vt:lpstr>Bagaimana melihat nilai sumbu z pada grafik yang dihasilkan</vt:lpstr>
      <vt:lpstr>Setting Warna Grafik Yang Digunakan</vt:lpstr>
      <vt:lpstr>Langkah 3: Membuat Grafik Karakteristik Output Ic=f(Vce, Ib)</vt:lpstr>
      <vt:lpstr>Pengaturan batas-batas variabel grafik karakteristik output.</vt:lpstr>
      <vt:lpstr>Grafik Karakteristik Output Ic=f(Vce, Ib)</vt:lpstr>
      <vt:lpstr>Langkah 5: Membuat Grafik Karakteristik Transfer Ic=f(Vbe, Vce)</vt:lpstr>
      <vt:lpstr>PowerPoint Presentation</vt:lpstr>
      <vt:lpstr>Grafik Karakteristik Transfer Ic=f(Vbe, Vce)</vt:lpstr>
      <vt:lpstr>Langkah 5: Membuat Grafik Karakteristik Input Ib=f(vbe, vce)</vt:lpstr>
      <vt:lpstr>Grafik Karakteristik Input Ib=f(Vbe, Vce)</vt:lpstr>
      <vt:lpstr>Grafik Karakteristik Input Ib=f(Vbe, Vce) yang di” zoom”</vt:lpstr>
      <vt:lpstr>Tugas</vt:lpstr>
      <vt:lpstr>Pengumpulan</vt:lpstr>
      <vt:lpstr>Perhatian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120</cp:revision>
  <dcterms:created xsi:type="dcterms:W3CDTF">2021-06-02T22:26:51Z</dcterms:created>
  <dcterms:modified xsi:type="dcterms:W3CDTF">2021-06-16T01:18:44Z</dcterms:modified>
</cp:coreProperties>
</file>