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0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89EB3-DA1F-4B25-9E83-7B4C1F06A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FD7747-5235-4EB0-B666-4962D28C2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78509-7131-4AE9-9E3A-5C543631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FB5A-878F-403A-90F0-DEF658B4210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3C33F-4EB5-4E59-8992-0C638B1D5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20349-7EAD-40D4-B410-38D086AE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7F71-58B2-4512-902B-9F776F1BF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45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0D7EB-16BE-4C2A-B53A-A35120C5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055CC-AF79-4793-B149-1BE532B58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93975-D334-4BF1-84CD-24D78792D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FB5A-878F-403A-90F0-DEF658B4210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DB67D-D9F2-478B-927A-0E84EB2D3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BC27A-9BED-4F56-8CFC-F77BDF0F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7F71-58B2-4512-902B-9F776F1BF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37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45EA-BB28-436A-8106-D01B1AD69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4321A-0D5A-464A-B49E-68F7B90AE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00534-61C6-409D-B981-E243DF3A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FB5A-878F-403A-90F0-DEF658B4210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7DE8F-B388-4DE3-8D8E-8FE18C08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31230-41A8-4C1F-AEA0-CFF418EA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7F71-58B2-4512-902B-9F776F1BF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36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B871-CDCB-495C-BF0E-1DB9B0A1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C4184-BD04-482D-BC0D-06AC18367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41BBA-747B-4809-8EE7-096B84A21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82D85-A034-4815-A1E5-9A42FB70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FB5A-878F-403A-90F0-DEF658B4210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CCC64-DBB3-4988-A3C1-C2D5FB02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066-0BC3-4F88-8B6E-C384ABF2B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7F71-58B2-4512-902B-9F776F1BF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20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1A88-B86B-478D-87CD-B42AA091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AC5B0-7E57-4644-839D-770C7CAC8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2FF4C-1CC5-4EB9-A64D-56D6F1B57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E2A67-416E-4158-9A34-D06C4C700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7C9257-2170-4488-B1F5-F237E5527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42C25C-6E2F-4C32-912A-8CFED3A0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FB5A-878F-403A-90F0-DEF658B4210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A6004-A465-47E2-B5DC-D28A7BB8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434100-FC3D-4F80-88E5-849B5AC3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7F71-58B2-4512-902B-9F776F1BF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6D08-8F0F-4674-82C0-5FA627D2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F6C301-DEB5-47C9-BB2D-1A2AABE0B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FB5A-878F-403A-90F0-DEF658B4210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275B6-314D-41DC-B5E5-1D13557F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73F08-7025-410E-A2B5-3E128208A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7F71-58B2-4512-902B-9F776F1BF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2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8FE95-5DF5-43A5-9AD8-70A72103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FB5A-878F-403A-90F0-DEF658B4210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9496F-4596-4652-B409-E3297C59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09C7F-45CB-4661-9EC6-AD7C2D99B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7F71-58B2-4512-902B-9F776F1BF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0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9CD01-CF53-4832-BEA2-B57F86764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81BBD-8DAC-4F51-A55A-64ABE03EF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C35F0-F624-423E-ACA4-B4F27D3F4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CCD00-2D28-4BC1-956D-22A32C50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FB5A-878F-403A-90F0-DEF658B4210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6D020-A44A-46FD-85F7-DA8C9B5DD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A024F-4443-43A3-A26F-4B7B1359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7F71-58B2-4512-902B-9F776F1BF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76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D68C-4CE7-417B-A3C1-A2B71BBA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ACD57-6E8D-431E-8D76-797B0FFBE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ADBEB-6223-4D71-A677-7CE86DDE1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FC4EF-4A71-4101-8359-64300EF4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FB5A-878F-403A-90F0-DEF658B4210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9DA71-7416-41AE-8801-C0A709D12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8C38F-EEC7-466E-A656-B79D74E7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7F71-58B2-4512-902B-9F776F1BF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9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5D38E-0343-43F1-955D-00019EE06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CDB85-F52F-4DF9-B98D-9FDD141A5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BA39A-7882-4A7F-9C6D-37730B48A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FB5A-878F-403A-90F0-DEF658B4210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0F3D0-48BE-46D0-9B47-5B63CBDD8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D9B9A-F378-4C30-AE82-9B0BF967A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7F71-58B2-4512-902B-9F776F1BF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60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1EFA9-B3E6-460B-8148-72B425821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EEB0B-83AA-4383-814F-E15069374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5817E-1248-41BC-A584-DD229F167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FB5A-878F-403A-90F0-DEF658B4210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DF7D6-565B-42C1-B0E8-0809C210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A8961-88EA-4CF9-8CDC-069AC1C9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7F71-58B2-4512-902B-9F776F1BF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5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1D3B09-21D3-46FB-92AD-6C3915904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5BD12-979A-463A-881D-7459466A5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17AB0-8FBA-40AB-92AF-EDADD4F7E7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8FB5A-878F-403A-90F0-DEF658B4210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AF758-96F8-47F0-9D43-D34B13031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7B357-024A-4D94-9A88-614B00B23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A7F71-58B2-4512-902B-9F776F1BF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2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3929-66B1-42CB-A356-10DABF9A8F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sz="4000" dirty="0"/>
            </a:br>
            <a:br>
              <a:rPr lang="en-US" sz="4000"/>
            </a:br>
            <a:r>
              <a:rPr lang="en-US" sz="4000"/>
              <a:t>Jobsheet</a:t>
            </a:r>
            <a:br>
              <a:rPr lang="en-US" sz="4000"/>
            </a:br>
            <a:r>
              <a:rPr lang="en-US" sz="4000"/>
              <a:t>RANGKAIAN </a:t>
            </a:r>
            <a:r>
              <a:rPr lang="en-US" sz="4000" dirty="0"/>
              <a:t>PENYEARAH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406BB2-1AEC-4B38-8043-A952263180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906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B024F9-555D-43A3-AC6B-28D36907E1EA}"/>
              </a:ext>
            </a:extLst>
          </p:cNvPr>
          <p:cNvSpPr txBox="1"/>
          <p:nvPr/>
        </p:nvSpPr>
        <p:spPr>
          <a:xfrm>
            <a:off x="767443" y="1859340"/>
            <a:ext cx="110871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TUJUAN PRAKTIKUM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/>
              <a:t>Mengenal Vpp, Vm (Vp), Vrata-rata (Vdc), Vrms (V efektif)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/>
              <a:t>Menentukan Vrata-rata (Vdc) dan tegangan ripple Vrms (V efektif) output penyearah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/>
              <a:t>Menghitung </a:t>
            </a:r>
            <a:r>
              <a:rPr lang="en-US" sz="2400" dirty="0" err="1"/>
              <a:t>efisiensi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err="1"/>
              <a:t>rangkaian</a:t>
            </a:r>
            <a:r>
              <a:rPr lang="en-US" sz="2400"/>
              <a:t> penyearah (Ripple factor)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/>
              <a:t>Menggambarkan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tegangan</a:t>
            </a:r>
            <a:r>
              <a:rPr lang="en-US" sz="2400" dirty="0"/>
              <a:t> input dan output, </a:t>
            </a:r>
            <a:r>
              <a:rPr lang="en-US" sz="2400" dirty="0" err="1"/>
              <a:t>arus</a:t>
            </a:r>
            <a:r>
              <a:rPr lang="en-US" sz="2400" dirty="0"/>
              <a:t> output </a:t>
            </a:r>
            <a:r>
              <a:rPr lang="en-US" sz="2400"/>
              <a:t>dan gambar tegangan dioda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/>
              <a:t>Membandingkan </a:t>
            </a:r>
            <a:r>
              <a:rPr lang="en-US" sz="2400" dirty="0" err="1"/>
              <a:t>efisiensi</a:t>
            </a:r>
            <a:r>
              <a:rPr lang="en-US" sz="2400" dirty="0"/>
              <a:t> </a:t>
            </a:r>
            <a:r>
              <a:rPr lang="en-US" sz="2400" dirty="0" err="1"/>
              <a:t>penyearah</a:t>
            </a:r>
            <a:r>
              <a:rPr lang="en-US" sz="2400" dirty="0"/>
              <a:t> </a:t>
            </a:r>
            <a:r>
              <a:rPr lang="en-US" sz="2400" dirty="0" err="1"/>
              <a:t>gelombang</a:t>
            </a:r>
            <a:r>
              <a:rPr lang="en-US" sz="2400" dirty="0"/>
              <a:t> </a:t>
            </a:r>
            <a:r>
              <a:rPr lang="en-US" sz="2400" dirty="0" err="1"/>
              <a:t>penuh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err="1"/>
              <a:t>penyearah</a:t>
            </a:r>
            <a:r>
              <a:rPr lang="en-US" sz="2400"/>
              <a:t> ½ gelombang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/>
              <a:t>Membandingkan </a:t>
            </a:r>
            <a:r>
              <a:rPr lang="en-US" sz="2400" dirty="0"/>
              <a:t>output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jembatan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CT.</a:t>
            </a:r>
          </a:p>
        </p:txBody>
      </p:sp>
    </p:spTree>
    <p:extLst>
      <p:ext uri="{BB962C8B-B14F-4D97-AF65-F5344CB8AC3E}">
        <p14:creationId xmlns:p14="http://schemas.microsoft.com/office/powerpoint/2010/main" val="2931405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C4E184-DCA6-4E72-8670-60BCF61FA93B}"/>
              </a:ext>
            </a:extLst>
          </p:cNvPr>
          <p:cNvSpPr txBox="1"/>
          <p:nvPr/>
        </p:nvSpPr>
        <p:spPr>
          <a:xfrm>
            <a:off x="1398814" y="1728711"/>
            <a:ext cx="107931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ALAT DAN BAHAN</a:t>
            </a:r>
          </a:p>
          <a:p>
            <a:r>
              <a:rPr lang="en-US" sz="2400" dirty="0"/>
              <a:t>1. </a:t>
            </a:r>
            <a:r>
              <a:rPr lang="en-US" sz="2400" dirty="0" err="1"/>
              <a:t>Komponen</a:t>
            </a:r>
            <a:endParaRPr lang="en-US" sz="2400" dirty="0"/>
          </a:p>
          <a:p>
            <a:r>
              <a:rPr lang="en-US" sz="2400" dirty="0"/>
              <a:t>       Resistor : 100 ohm, 220 ohm, 500 ohm, 1 </a:t>
            </a:r>
            <a:r>
              <a:rPr lang="en-US" sz="2400" dirty="0" err="1"/>
              <a:t>Kohm</a:t>
            </a:r>
            <a:r>
              <a:rPr lang="en-US" sz="2400" dirty="0"/>
              <a:t>, 5K ohm, 1K5 ohm</a:t>
            </a:r>
          </a:p>
          <a:p>
            <a:r>
              <a:rPr lang="en-US" sz="2400" dirty="0"/>
              <a:t>       </a:t>
            </a:r>
            <a:r>
              <a:rPr lang="en-US" sz="2400" dirty="0" err="1"/>
              <a:t>Kapasitor</a:t>
            </a:r>
            <a:r>
              <a:rPr lang="en-US" sz="2400" dirty="0"/>
              <a:t> : 1000 µF, 100 µF, 10 µF, 5 µF</a:t>
            </a:r>
          </a:p>
          <a:p>
            <a:r>
              <a:rPr lang="en-US" sz="2400" dirty="0"/>
              <a:t>2. </a:t>
            </a:r>
            <a:r>
              <a:rPr lang="en-US" sz="2400" dirty="0" err="1"/>
              <a:t>Sumber</a:t>
            </a:r>
            <a:r>
              <a:rPr lang="en-US" sz="2400" dirty="0"/>
              <a:t> </a:t>
            </a:r>
            <a:r>
              <a:rPr lang="en-US" sz="2400" dirty="0" err="1"/>
              <a:t>tegangan</a:t>
            </a:r>
            <a:r>
              <a:rPr lang="en-US" sz="2400" dirty="0"/>
              <a:t> DC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diatur</a:t>
            </a:r>
            <a:r>
              <a:rPr lang="en-US" sz="2400" dirty="0"/>
              <a:t> 0 s/d 15 Volt</a:t>
            </a:r>
          </a:p>
          <a:p>
            <a:r>
              <a:rPr lang="en-US" sz="2400" dirty="0"/>
              <a:t>3. </a:t>
            </a:r>
            <a:r>
              <a:rPr lang="en-US" sz="2400" dirty="0" err="1"/>
              <a:t>Volmeter</a:t>
            </a:r>
            <a:r>
              <a:rPr lang="en-US" sz="2400" dirty="0"/>
              <a:t> DC</a:t>
            </a:r>
          </a:p>
          <a:p>
            <a:r>
              <a:rPr lang="en-US" sz="2400" dirty="0"/>
              <a:t>4. </a:t>
            </a:r>
            <a:r>
              <a:rPr lang="en-US" sz="2400" dirty="0" err="1"/>
              <a:t>Miliameter</a:t>
            </a:r>
            <a:endParaRPr lang="en-US" sz="2400" dirty="0"/>
          </a:p>
          <a:p>
            <a:r>
              <a:rPr lang="en-US" sz="2400" dirty="0"/>
              <a:t>5. </a:t>
            </a:r>
            <a:r>
              <a:rPr lang="en-US" sz="2400" dirty="0" err="1"/>
              <a:t>Microampermeter</a:t>
            </a:r>
            <a:endParaRPr lang="en-US" sz="2400" dirty="0"/>
          </a:p>
          <a:p>
            <a:r>
              <a:rPr lang="en-US" sz="2400" dirty="0"/>
              <a:t>6</a:t>
            </a:r>
            <a:r>
              <a:rPr lang="en-US" sz="2400"/>
              <a:t>. Osiloskop </a:t>
            </a:r>
            <a:r>
              <a:rPr lang="en-US" sz="2400" dirty="0"/>
              <a:t>(CRO)</a:t>
            </a:r>
          </a:p>
          <a:p>
            <a:r>
              <a:rPr lang="en-US" sz="2400" dirty="0"/>
              <a:t>7. </a:t>
            </a:r>
            <a:r>
              <a:rPr lang="en-US" sz="2400" dirty="0" err="1"/>
              <a:t>Transformator</a:t>
            </a:r>
            <a:r>
              <a:rPr lang="en-US" sz="2400" dirty="0"/>
              <a:t> step down center tap 220/6 Volt</a:t>
            </a:r>
          </a:p>
        </p:txBody>
      </p:sp>
    </p:spTree>
    <p:extLst>
      <p:ext uri="{BB962C8B-B14F-4D97-AF65-F5344CB8AC3E}">
        <p14:creationId xmlns:p14="http://schemas.microsoft.com/office/powerpoint/2010/main" val="170300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41EB7B-FB00-4AE2-B311-9A322B2C52E7}"/>
              </a:ext>
            </a:extLst>
          </p:cNvPr>
          <p:cNvSpPr txBox="1"/>
          <p:nvPr/>
        </p:nvSpPr>
        <p:spPr>
          <a:xfrm>
            <a:off x="1077686" y="2413338"/>
            <a:ext cx="105319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 err="1"/>
              <a:t>Petunjuk</a:t>
            </a:r>
            <a:r>
              <a:rPr lang="en-US" sz="2400" b="1" u="sng" dirty="0"/>
              <a:t> </a:t>
            </a:r>
            <a:r>
              <a:rPr lang="en-US" sz="2400" b="1" u="sng" dirty="0" err="1"/>
              <a:t>Keselamatan</a:t>
            </a:r>
            <a:r>
              <a:rPr lang="en-US" sz="2400" b="1" u="sng" dirty="0"/>
              <a:t> </a:t>
            </a:r>
            <a:r>
              <a:rPr lang="en-US" sz="2400" b="1" u="sng" dirty="0" err="1"/>
              <a:t>Kerja</a:t>
            </a:r>
            <a:endParaRPr lang="en-US" sz="2400" b="1" u="sng" dirty="0"/>
          </a:p>
          <a:p>
            <a:endParaRPr lang="en-US" sz="2400" b="1" dirty="0"/>
          </a:p>
          <a:p>
            <a:r>
              <a:rPr lang="en-US" sz="2400" dirty="0"/>
              <a:t>• </a:t>
            </a:r>
            <a:r>
              <a:rPr lang="en-US" sz="2400" dirty="0" err="1"/>
              <a:t>Periksalah</a:t>
            </a:r>
            <a:r>
              <a:rPr lang="en-US" sz="2400" dirty="0"/>
              <a:t> </a:t>
            </a:r>
            <a:r>
              <a:rPr lang="en-US" sz="2400" dirty="0" err="1"/>
              <a:t>kutub</a:t>
            </a:r>
            <a:r>
              <a:rPr lang="en-US" sz="2400" dirty="0"/>
              <a:t> </a:t>
            </a:r>
            <a:r>
              <a:rPr lang="en-US" sz="2400" dirty="0" err="1"/>
              <a:t>anoda</a:t>
            </a:r>
            <a:r>
              <a:rPr lang="en-US" sz="2400" dirty="0"/>
              <a:t> dan </a:t>
            </a:r>
            <a:r>
              <a:rPr lang="en-US" sz="2400" dirty="0" err="1"/>
              <a:t>katoda</a:t>
            </a:r>
            <a:r>
              <a:rPr lang="en-US" sz="2400" dirty="0"/>
              <a:t> diode </a:t>
            </a:r>
            <a:r>
              <a:rPr lang="en-US" sz="2400" dirty="0" err="1"/>
              <a:t>dengan</a:t>
            </a:r>
            <a:r>
              <a:rPr lang="en-US" sz="2400" dirty="0"/>
              <a:t> ohmmeter,</a:t>
            </a:r>
          </a:p>
          <a:p>
            <a:r>
              <a:rPr lang="en-US" sz="2400" dirty="0"/>
              <a:t>• </a:t>
            </a:r>
            <a:r>
              <a:rPr lang="en-US" sz="2400" dirty="0" err="1"/>
              <a:t>Penggunaan</a:t>
            </a:r>
            <a:r>
              <a:rPr lang="en-US" sz="2400" dirty="0"/>
              <a:t> </a:t>
            </a:r>
            <a:r>
              <a:rPr lang="en-US" sz="2400" dirty="0" err="1"/>
              <a:t>tegangan</a:t>
            </a:r>
            <a:r>
              <a:rPr lang="en-US" sz="2400" dirty="0"/>
              <a:t> DC </a:t>
            </a:r>
            <a:r>
              <a:rPr lang="en-US" sz="2400" dirty="0" err="1"/>
              <a:t>hubungan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kutub</a:t>
            </a:r>
            <a:r>
              <a:rPr lang="en-US" sz="2400" dirty="0"/>
              <a:t> </a:t>
            </a:r>
            <a:r>
              <a:rPr lang="en-US" sz="2400" dirty="0" err="1"/>
              <a:t>positip</a:t>
            </a:r>
            <a:r>
              <a:rPr lang="en-US" sz="2400" dirty="0"/>
              <a:t> dan </a:t>
            </a:r>
            <a:r>
              <a:rPr lang="en-US" sz="2400" dirty="0" err="1"/>
              <a:t>negatip</a:t>
            </a:r>
            <a:r>
              <a:rPr lang="en-US" sz="2400" dirty="0"/>
              <a:t> </a:t>
            </a:r>
            <a:r>
              <a:rPr lang="en-US" sz="2400" dirty="0" err="1"/>
              <a:t>jangan</a:t>
            </a:r>
            <a:r>
              <a:rPr lang="en-US" sz="2400" dirty="0"/>
              <a:t>    </a:t>
            </a:r>
          </a:p>
          <a:p>
            <a:r>
              <a:rPr lang="en-US" sz="2400" dirty="0"/>
              <a:t>   </a:t>
            </a:r>
            <a:r>
              <a:rPr lang="en-US" sz="2400" dirty="0" err="1"/>
              <a:t>sampai</a:t>
            </a:r>
            <a:r>
              <a:rPr lang="en-US" sz="2400" dirty="0"/>
              <a:t> </a:t>
            </a:r>
            <a:r>
              <a:rPr lang="en-US" sz="2400" dirty="0" err="1"/>
              <a:t>terbalik</a:t>
            </a:r>
            <a:endParaRPr lang="en-US" sz="2400" dirty="0"/>
          </a:p>
          <a:p>
            <a:r>
              <a:rPr lang="en-US" sz="2400" dirty="0"/>
              <a:t>• </a:t>
            </a:r>
            <a:r>
              <a:rPr lang="en-US" sz="2400" dirty="0" err="1"/>
              <a:t>Penggunaan</a:t>
            </a:r>
            <a:r>
              <a:rPr lang="en-US" sz="2400" dirty="0"/>
              <a:t> </a:t>
            </a:r>
            <a:r>
              <a:rPr lang="en-US" sz="2400" dirty="0" err="1"/>
              <a:t>alat</a:t>
            </a:r>
            <a:r>
              <a:rPr lang="en-US" sz="2400" dirty="0"/>
              <a:t> </a:t>
            </a:r>
            <a:r>
              <a:rPr lang="en-US" sz="2400" dirty="0" err="1"/>
              <a:t>ukur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dan </a:t>
            </a:r>
            <a:r>
              <a:rPr lang="en-US" sz="2400" dirty="0" err="1"/>
              <a:t>tegangan</a:t>
            </a:r>
            <a:r>
              <a:rPr lang="en-US" sz="2400" dirty="0"/>
              <a:t> DC </a:t>
            </a:r>
            <a:r>
              <a:rPr lang="en-US" sz="2400" dirty="0" err="1"/>
              <a:t>hubungan</a:t>
            </a:r>
            <a:r>
              <a:rPr lang="en-US" sz="2400" dirty="0"/>
              <a:t> </a:t>
            </a:r>
            <a:r>
              <a:rPr lang="en-US" sz="2400" dirty="0" err="1"/>
              <a:t>jangan</a:t>
            </a:r>
            <a:r>
              <a:rPr lang="en-US" sz="2400" dirty="0"/>
              <a:t> </a:t>
            </a:r>
            <a:r>
              <a:rPr lang="en-US" sz="2400" dirty="0" err="1"/>
              <a:t>sampai</a:t>
            </a:r>
            <a:r>
              <a:rPr lang="en-US" sz="2400" dirty="0"/>
              <a:t> </a:t>
            </a:r>
            <a:r>
              <a:rPr lang="en-US" sz="2400" dirty="0" err="1"/>
              <a:t>terbalik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7838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A5939-B6D1-4863-AB8E-752DE7AF974F}"/>
              </a:ext>
            </a:extLst>
          </p:cNvPr>
          <p:cNvSpPr txBox="1"/>
          <p:nvPr/>
        </p:nvSpPr>
        <p:spPr>
          <a:xfrm>
            <a:off x="959304" y="664420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DASAR TEORI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21541-40C3-4059-9A1C-3D9540CB5FA2}"/>
              </a:ext>
            </a:extLst>
          </p:cNvPr>
          <p:cNvSpPr txBox="1"/>
          <p:nvPr/>
        </p:nvSpPr>
        <p:spPr>
          <a:xfrm>
            <a:off x="959304" y="1943811"/>
            <a:ext cx="8188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tegangan</a:t>
            </a:r>
            <a:r>
              <a:rPr lang="en-US" sz="2400" dirty="0"/>
              <a:t> output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penyearah</a:t>
            </a:r>
            <a:r>
              <a:rPr lang="en-US" sz="2400" dirty="0"/>
              <a:t>,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umum</a:t>
            </a:r>
            <a:r>
              <a:rPr lang="en-US" sz="2400" dirty="0"/>
              <a:t>,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dihitung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rumus</a:t>
            </a:r>
            <a:r>
              <a:rPr lang="en-US" sz="2400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B38DB2-7484-4C89-ACFA-B3990E926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498" y="2877889"/>
            <a:ext cx="5916386" cy="22538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746599-DA55-46F8-AF0F-0E9C24DB9A8F}"/>
              </a:ext>
            </a:extLst>
          </p:cNvPr>
          <p:cNvSpPr txBox="1"/>
          <p:nvPr/>
        </p:nvSpPr>
        <p:spPr>
          <a:xfrm>
            <a:off x="959304" y="5375854"/>
            <a:ext cx="7690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dirty="0"/>
              <a:t>Tegangan rata-rata yang dihasilkan adalah :  Vdc = 0.318 Vm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1E7F34-A37A-48C5-8C2E-D068B42DBFF0}"/>
              </a:ext>
            </a:extLst>
          </p:cNvPr>
          <p:cNvSpPr txBox="1"/>
          <p:nvPr/>
        </p:nvSpPr>
        <p:spPr>
          <a:xfrm>
            <a:off x="959304" y="1482146"/>
            <a:ext cx="5560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Penyearah</a:t>
            </a:r>
            <a:r>
              <a:rPr lang="en-US" sz="2400" dirty="0"/>
              <a:t> </a:t>
            </a:r>
            <a:r>
              <a:rPr lang="en-US" sz="2400" dirty="0" err="1"/>
              <a:t>setengah</a:t>
            </a:r>
            <a:r>
              <a:rPr lang="en-US" sz="2400" dirty="0"/>
              <a:t> </a:t>
            </a:r>
            <a:r>
              <a:rPr lang="en-US" sz="2400" dirty="0" err="1"/>
              <a:t>Gelombang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6093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F273C1-F25A-49CD-AD7C-98B3A0CC8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78" y="1307646"/>
            <a:ext cx="7074843" cy="25132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0D69A-D0FC-41AE-8C78-77EF3D0B240E}"/>
              </a:ext>
            </a:extLst>
          </p:cNvPr>
          <p:cNvSpPr txBox="1"/>
          <p:nvPr/>
        </p:nvSpPr>
        <p:spPr>
          <a:xfrm>
            <a:off x="3534701" y="4371006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400" dirty="0"/>
              <a:t>Vdc = 0.318(Vm - V</a:t>
            </a:r>
            <a:r>
              <a:rPr lang="da-DK" sz="2400" baseline="-25000" dirty="0"/>
              <a:t>T</a:t>
            </a:r>
            <a:r>
              <a:rPr lang="da-DK" sz="2400" dirty="0"/>
              <a:t>), dengan V</a:t>
            </a:r>
            <a:r>
              <a:rPr lang="da-DK" sz="2400" baseline="-25000" dirty="0"/>
              <a:t>T</a:t>
            </a:r>
            <a:r>
              <a:rPr lang="da-DK" sz="2400" dirty="0"/>
              <a:t> =0,7 volt</a:t>
            </a:r>
          </a:p>
        </p:txBody>
      </p:sp>
    </p:spTree>
    <p:extLst>
      <p:ext uri="{BB962C8B-B14F-4D97-AF65-F5344CB8AC3E}">
        <p14:creationId xmlns:p14="http://schemas.microsoft.com/office/powerpoint/2010/main" val="856561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925BAE-BAF2-4277-A17A-0D3444A21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37" y="1698172"/>
            <a:ext cx="6819786" cy="22370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060526-CF59-402E-BE1B-BB4E030A4908}"/>
              </a:ext>
            </a:extLst>
          </p:cNvPr>
          <p:cNvSpPr txBox="1"/>
          <p:nvPr/>
        </p:nvSpPr>
        <p:spPr>
          <a:xfrm>
            <a:off x="1583871" y="1077686"/>
            <a:ext cx="5164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Penyearah</a:t>
            </a:r>
            <a:r>
              <a:rPr lang="en-US" sz="2400" dirty="0"/>
              <a:t> </a:t>
            </a:r>
            <a:r>
              <a:rPr lang="en-US" sz="2400" dirty="0" err="1"/>
              <a:t>gelombang</a:t>
            </a:r>
            <a:r>
              <a:rPr lang="en-US" sz="2400" dirty="0"/>
              <a:t> </a:t>
            </a:r>
            <a:r>
              <a:rPr lang="en-US" sz="2400" dirty="0" err="1"/>
              <a:t>Penuh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C04B54-A44C-4698-BC0E-94243A4CCF61}"/>
              </a:ext>
            </a:extLst>
          </p:cNvPr>
          <p:cNvSpPr txBox="1"/>
          <p:nvPr/>
        </p:nvSpPr>
        <p:spPr>
          <a:xfrm>
            <a:off x="1701537" y="4452648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Vdc = 0.636Vm → Vdc = 0.636(</a:t>
            </a:r>
            <a:r>
              <a:rPr lang="en-US" sz="2400" dirty="0" err="1"/>
              <a:t>Vm</a:t>
            </a:r>
            <a:r>
              <a:rPr lang="en-US" sz="2400" dirty="0"/>
              <a:t> - 2VT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4373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5CBE0E-6DCC-49A2-BE2B-FDE8FBEE502F}"/>
              </a:ext>
            </a:extLst>
          </p:cNvPr>
          <p:cNvSpPr txBox="1"/>
          <p:nvPr/>
        </p:nvSpPr>
        <p:spPr>
          <a:xfrm>
            <a:off x="1155247" y="762391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Penyearah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filter RC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31F84-001A-4870-8CC9-D3E2FEA7A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328" y="1404257"/>
            <a:ext cx="8130987" cy="493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27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35B5AD-9A74-4048-84AF-6B76EF0FA7E1}"/>
              </a:ext>
            </a:extLst>
          </p:cNvPr>
          <p:cNvSpPr txBox="1"/>
          <p:nvPr/>
        </p:nvSpPr>
        <p:spPr>
          <a:xfrm>
            <a:off x="1187411" y="618534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LANGKAH KERJA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1DA97C-CAAD-4142-AA52-51FF3056C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355" y="1904573"/>
            <a:ext cx="5714075" cy="30488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0345FA-480B-4A87-A6A6-8CCA112C49BD}"/>
              </a:ext>
            </a:extLst>
          </p:cNvPr>
          <p:cNvSpPr txBox="1"/>
          <p:nvPr/>
        </p:nvSpPr>
        <p:spPr>
          <a:xfrm>
            <a:off x="1087371" y="5039137"/>
            <a:ext cx="95716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1. Buat rangkaian seperti gambar di atas.</a:t>
            </a:r>
          </a:p>
          <a:p>
            <a:r>
              <a:rPr lang="en-US" sz="2400"/>
              <a:t>2. Hubungkan output ke osiloskop dan amati gelombang outputnya. </a:t>
            </a:r>
          </a:p>
          <a:p>
            <a:r>
              <a:rPr lang="en-US" sz="2400"/>
              <a:t>3. Ukur tegangan Vm dan hitung tegangan DC nya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D0B9E-F22D-5E02-C1BD-10DC4E6F8A13}"/>
              </a:ext>
            </a:extLst>
          </p:cNvPr>
          <p:cNvSpPr txBox="1"/>
          <p:nvPr/>
        </p:nvSpPr>
        <p:spPr>
          <a:xfrm>
            <a:off x="1190131" y="1175714"/>
            <a:ext cx="9468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A. Penyearah Setengah Gelombang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9935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DA0D49-20A7-47D3-94F2-23B03CE28460}"/>
              </a:ext>
            </a:extLst>
          </p:cNvPr>
          <p:cNvSpPr txBox="1"/>
          <p:nvPr/>
        </p:nvSpPr>
        <p:spPr>
          <a:xfrm>
            <a:off x="1481818" y="787178"/>
            <a:ext cx="9517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B. </a:t>
            </a:r>
            <a:r>
              <a:rPr lang="en-US" sz="2400" dirty="0" err="1"/>
              <a:t>Penyearah</a:t>
            </a:r>
            <a:r>
              <a:rPr lang="en-US" sz="2400" dirty="0"/>
              <a:t> </a:t>
            </a:r>
            <a:r>
              <a:rPr lang="en-US" sz="2400" err="1"/>
              <a:t>Gelombang</a:t>
            </a:r>
            <a:r>
              <a:rPr lang="en-US" sz="2400"/>
              <a:t> Penuh – Center Tapped </a:t>
            </a:r>
            <a:r>
              <a:rPr lang="en-US" sz="2400" dirty="0"/>
              <a:t>Transformer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0F248-1FB5-41E7-89A4-01F60EB9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303" y="1576656"/>
            <a:ext cx="6386768" cy="32623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E4A00D-A7F3-4CD6-8259-9897482A14B3}"/>
              </a:ext>
            </a:extLst>
          </p:cNvPr>
          <p:cNvSpPr txBox="1"/>
          <p:nvPr/>
        </p:nvSpPr>
        <p:spPr>
          <a:xfrm>
            <a:off x="1264024" y="4838962"/>
            <a:ext cx="96280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1. Buat rangkaian seperti gambar di atas.</a:t>
            </a:r>
          </a:p>
          <a:p>
            <a:r>
              <a:rPr lang="en-US" sz="2400"/>
              <a:t>2. Hubungkan output ke osiloskop dan amati gelombang outputnya. </a:t>
            </a:r>
          </a:p>
          <a:p>
            <a:r>
              <a:rPr lang="en-US" sz="2400"/>
              <a:t>3. Ukur tegangan Vm dan hitung tegangan DC nya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4083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A7B7CB-AF6D-4046-AF97-6087D27F4692}"/>
              </a:ext>
            </a:extLst>
          </p:cNvPr>
          <p:cNvSpPr txBox="1"/>
          <p:nvPr/>
        </p:nvSpPr>
        <p:spPr>
          <a:xfrm>
            <a:off x="1024619" y="4918894"/>
            <a:ext cx="102619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Buat</a:t>
            </a:r>
            <a:r>
              <a:rPr lang="en-US" sz="2400" dirty="0"/>
              <a:t>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gambar</a:t>
            </a:r>
            <a:r>
              <a:rPr lang="en-US" sz="2400" dirty="0"/>
              <a:t> </a:t>
            </a:r>
            <a:r>
              <a:rPr lang="en-US" sz="2400"/>
              <a:t>di atas.</a:t>
            </a:r>
            <a:endParaRPr lang="en-US" sz="2400" dirty="0"/>
          </a:p>
          <a:p>
            <a:r>
              <a:rPr lang="en-US" sz="2400" dirty="0"/>
              <a:t>2. </a:t>
            </a:r>
            <a:r>
              <a:rPr lang="en-US" sz="2400" dirty="0" err="1"/>
              <a:t>Hubungkan</a:t>
            </a:r>
            <a:r>
              <a:rPr lang="en-US" sz="2400" dirty="0"/>
              <a:t> </a:t>
            </a:r>
            <a:r>
              <a:rPr lang="en-US" sz="2400"/>
              <a:t>output ke osiloskop dan amati </a:t>
            </a:r>
            <a:r>
              <a:rPr lang="en-US" sz="2400" err="1"/>
              <a:t>gelombang</a:t>
            </a:r>
            <a:r>
              <a:rPr lang="en-US" sz="2400"/>
              <a:t> outputnya. </a:t>
            </a:r>
          </a:p>
          <a:p>
            <a:r>
              <a:rPr lang="en-US" sz="2400"/>
              <a:t>3. Ukur </a:t>
            </a:r>
            <a:r>
              <a:rPr lang="en-US" sz="2400" err="1"/>
              <a:t>tegangan</a:t>
            </a:r>
            <a:r>
              <a:rPr lang="en-US" sz="2400"/>
              <a:t> Vm dan hitung </a:t>
            </a:r>
            <a:r>
              <a:rPr lang="en-US" sz="2400" dirty="0" err="1"/>
              <a:t>tegangan</a:t>
            </a:r>
            <a:r>
              <a:rPr lang="en-US" sz="2400" dirty="0"/>
              <a:t> DC </a:t>
            </a:r>
            <a:r>
              <a:rPr lang="en-US" sz="2400" dirty="0" err="1"/>
              <a:t>nya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C98FE-536C-4D94-99C2-07E55533C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618" y="1352936"/>
            <a:ext cx="5882367" cy="32749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CC232A-3E9D-D380-047C-306CA20ED283}"/>
              </a:ext>
            </a:extLst>
          </p:cNvPr>
          <p:cNvSpPr txBox="1"/>
          <p:nvPr/>
        </p:nvSpPr>
        <p:spPr>
          <a:xfrm>
            <a:off x="1024617" y="568060"/>
            <a:ext cx="9777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</a:t>
            </a:r>
            <a:r>
              <a:rPr lang="en-US" sz="2400"/>
              <a:t>. </a:t>
            </a:r>
            <a:r>
              <a:rPr lang="en-US" sz="2400" dirty="0" err="1"/>
              <a:t>Penyearah</a:t>
            </a:r>
            <a:r>
              <a:rPr lang="en-US" sz="2400" dirty="0"/>
              <a:t> </a:t>
            </a:r>
            <a:r>
              <a:rPr lang="en-US" sz="2400" err="1"/>
              <a:t>Gelombang</a:t>
            </a:r>
            <a:r>
              <a:rPr lang="en-US" sz="2400"/>
              <a:t> Penuh – Bridge Network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87314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725792-ABE5-4A70-AB62-1DEB229495E5}"/>
              </a:ext>
            </a:extLst>
          </p:cNvPr>
          <p:cNvSpPr txBox="1"/>
          <p:nvPr/>
        </p:nvSpPr>
        <p:spPr>
          <a:xfrm>
            <a:off x="828676" y="533791"/>
            <a:ext cx="19798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Filter RC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4A8F2-E774-4385-8D5C-B400EE9F9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94" y="995456"/>
            <a:ext cx="5229905" cy="2632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7B8DC8-CC44-40A4-976D-F5B691C05CC0}"/>
              </a:ext>
            </a:extLst>
          </p:cNvPr>
          <p:cNvSpPr txBox="1"/>
          <p:nvPr/>
        </p:nvSpPr>
        <p:spPr>
          <a:xfrm>
            <a:off x="828676" y="3646553"/>
            <a:ext cx="104829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Buat</a:t>
            </a:r>
            <a:r>
              <a:rPr lang="en-US" sz="2400" dirty="0"/>
              <a:t>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gambar</a:t>
            </a:r>
            <a:r>
              <a:rPr lang="en-US" sz="2400" dirty="0"/>
              <a:t> di </a:t>
            </a:r>
            <a:r>
              <a:rPr lang="en-US" sz="2400" dirty="0" err="1"/>
              <a:t>atas</a:t>
            </a:r>
            <a:endParaRPr lang="en-US" sz="2400" dirty="0"/>
          </a:p>
          <a:p>
            <a:r>
              <a:rPr lang="en-US" sz="2400" dirty="0"/>
              <a:t>2</a:t>
            </a:r>
            <a:r>
              <a:rPr lang="en-US" sz="2400"/>
              <a:t>. Hubungkan output ke osiloskop. </a:t>
            </a:r>
            <a:endParaRPr lang="en-US" sz="2400" dirty="0"/>
          </a:p>
          <a:p>
            <a:r>
              <a:rPr lang="en-US" sz="2400" dirty="0"/>
              <a:t>3</a:t>
            </a:r>
            <a:r>
              <a:rPr lang="en-US" sz="2400"/>
              <a:t>. Dengan RL sesuai table 1 dan tanpa kondensator CL, gambarkan </a:t>
            </a:r>
            <a:r>
              <a:rPr lang="en-US" sz="2400" err="1"/>
              <a:t>tegangan</a:t>
            </a:r>
            <a:r>
              <a:rPr lang="en-US" sz="2400"/>
              <a:t> output, ukur tegangan DC (Vdc), tegangan ripple (Vrms) dan ripple faktor (r).</a:t>
            </a:r>
            <a:endParaRPr lang="en-US" sz="2400" dirty="0"/>
          </a:p>
          <a:p>
            <a:r>
              <a:rPr lang="en-US" sz="2400" dirty="0"/>
              <a:t>5</a:t>
            </a:r>
            <a:r>
              <a:rPr lang="en-US" sz="2400"/>
              <a:t>. </a:t>
            </a:r>
            <a:r>
              <a:rPr lang="en-US" sz="2400" err="1"/>
              <a:t>Dengan</a:t>
            </a:r>
            <a:r>
              <a:rPr lang="en-US" sz="2400"/>
              <a:t> RL </a:t>
            </a:r>
            <a:r>
              <a:rPr lang="en-US" sz="2400" dirty="0"/>
              <a:t>= </a:t>
            </a:r>
            <a:r>
              <a:rPr lang="en-US" sz="2400"/>
              <a:t>1000 Ohm dan C sesuai table 2, gambarkan </a:t>
            </a:r>
            <a:r>
              <a:rPr lang="en-US" sz="2400" err="1"/>
              <a:t>tegangan</a:t>
            </a:r>
            <a:r>
              <a:rPr lang="en-US" sz="2400"/>
              <a:t> output, ukur tegangan DC (Vdc) dan tegangan ripple (Vrms) dan ripple faktor (r).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51622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B68A3A-AD3D-434E-9BF8-24D465C844FA}"/>
              </a:ext>
            </a:extLst>
          </p:cNvPr>
          <p:cNvSpPr txBox="1"/>
          <p:nvPr/>
        </p:nvSpPr>
        <p:spPr>
          <a:xfrm>
            <a:off x="991961" y="648091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HASIL PENGAMATAN DAN ANALISIS DATA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81173D-3405-496D-8EAE-FB8C9DD10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61" y="1352298"/>
            <a:ext cx="9637939" cy="50046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5416B4-2171-4D0B-5B51-5C885E3BFE4B}"/>
              </a:ext>
            </a:extLst>
          </p:cNvPr>
          <p:cNvSpPr txBox="1"/>
          <p:nvPr/>
        </p:nvSpPr>
        <p:spPr>
          <a:xfrm>
            <a:off x="1999130" y="3944471"/>
            <a:ext cx="255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(dengan R=1000 Ohm)</a:t>
            </a:r>
            <a:endParaRPr lang="en-ID" sz="2000" b="1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55E58C-1191-F3A1-FF27-376ADDBD8565}"/>
              </a:ext>
            </a:extLst>
          </p:cNvPr>
          <p:cNvSpPr txBox="1"/>
          <p:nvPr/>
        </p:nvSpPr>
        <p:spPr>
          <a:xfrm>
            <a:off x="1918448" y="1352298"/>
            <a:ext cx="1262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(tanpa CL)</a:t>
            </a:r>
            <a:endParaRPr lang="en-ID" sz="2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528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D5330A-2A70-4D70-A80C-07AA6B7C7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872" y="593193"/>
            <a:ext cx="8360228" cy="616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87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161B7D-E64A-42BC-8946-4E5D205969E2}"/>
              </a:ext>
            </a:extLst>
          </p:cNvPr>
          <p:cNvSpPr txBox="1"/>
          <p:nvPr/>
        </p:nvSpPr>
        <p:spPr>
          <a:xfrm>
            <a:off x="1202872" y="1490008"/>
            <a:ext cx="109891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DAFTAR PUSTAKA</a:t>
            </a:r>
          </a:p>
          <a:p>
            <a:endParaRPr lang="en-US" sz="2400" b="1" dirty="0"/>
          </a:p>
          <a:p>
            <a:r>
              <a:rPr lang="en-US" sz="2400" dirty="0"/>
              <a:t>1. Robert </a:t>
            </a:r>
            <a:r>
              <a:rPr lang="en-US" sz="2400" dirty="0" err="1"/>
              <a:t>Boylestad</a:t>
            </a:r>
            <a:r>
              <a:rPr lang="en-US" sz="2400" dirty="0"/>
              <a:t>, Louis </a:t>
            </a:r>
            <a:r>
              <a:rPr lang="en-US" sz="2400" dirty="0" err="1"/>
              <a:t>Nashelky</a:t>
            </a:r>
            <a:r>
              <a:rPr lang="en-US" sz="2400" dirty="0"/>
              <a:t>., 2011, ELECTRONIC DEVICES AND CIRCUIT </a:t>
            </a:r>
          </a:p>
          <a:p>
            <a:r>
              <a:rPr lang="en-US" sz="2400" dirty="0"/>
              <a:t>    THEORY, New Jersey Columbus</a:t>
            </a:r>
            <a:r>
              <a:rPr lang="en-US" sz="2400"/>
              <a:t>, Ohio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02474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500</Words>
  <Application>Microsoft Office PowerPoint</Application>
  <PresentationFormat>Widescreen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  Jobsheet RANGKAIAN PENYEARAH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Modul 4 : RANGKAIAN PENYEARAH</dc:title>
  <dc:creator>Ridwan Solihin</dc:creator>
  <cp:lastModifiedBy>erilmozef@yahoo.com</cp:lastModifiedBy>
  <cp:revision>9</cp:revision>
  <dcterms:created xsi:type="dcterms:W3CDTF">2022-02-23T16:41:54Z</dcterms:created>
  <dcterms:modified xsi:type="dcterms:W3CDTF">2025-03-06T22:27:05Z</dcterms:modified>
</cp:coreProperties>
</file>