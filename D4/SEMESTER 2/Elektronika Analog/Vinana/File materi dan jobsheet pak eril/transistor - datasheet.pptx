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8" r:id="rId12"/>
    <p:sldId id="270" r:id="rId13"/>
    <p:sldId id="271" r:id="rId14"/>
    <p:sldId id="272" r:id="rId15"/>
    <p:sldId id="273" r:id="rId16"/>
    <p:sldId id="274" r:id="rId17"/>
    <p:sldId id="275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80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E036DE-A3A2-43D1-98CF-9351CA58BC9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69B80-499F-43A0-A52D-50F9F8D73A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71107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E036DE-A3A2-43D1-98CF-9351CA58BC9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69B80-499F-43A0-A52D-50F9F8D73A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70312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E036DE-A3A2-43D1-98CF-9351CA58BC9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69B80-499F-43A0-A52D-50F9F8D73A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8818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E036DE-A3A2-43D1-98CF-9351CA58BC9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69B80-499F-43A0-A52D-50F9F8D73A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258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E036DE-A3A2-43D1-98CF-9351CA58BC9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69B80-499F-43A0-A52D-50F9F8D73A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5940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E036DE-A3A2-43D1-98CF-9351CA58BC9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69B80-499F-43A0-A52D-50F9F8D73A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76479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E036DE-A3A2-43D1-98CF-9351CA58BC9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69B80-499F-43A0-A52D-50F9F8D73A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6485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E036DE-A3A2-43D1-98CF-9351CA58BC9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69B80-499F-43A0-A52D-50F9F8D73A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99457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E036DE-A3A2-43D1-98CF-9351CA58BC9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69B80-499F-43A0-A52D-50F9F8D73A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3688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E036DE-A3A2-43D1-98CF-9351CA58BC9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69B80-499F-43A0-A52D-50F9F8D73A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99911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E036DE-A3A2-43D1-98CF-9351CA58BC9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69B80-499F-43A0-A52D-50F9F8D73A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88092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09600" y="1600201"/>
            <a:ext cx="10972800" cy="4525963"/>
          </a:xfrm>
        </p:spPr>
        <p:txBody>
          <a:bodyPr/>
          <a:lstStyle/>
          <a:p>
            <a:pPr lvl="0"/>
            <a:endParaRPr lang="id-ID" noProof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BC8CC7B-D9B2-4064-8E88-A5BDFFE2DA7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89741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E036DE-A3A2-43D1-98CF-9351CA58BC9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269B80-499F-43A0-A52D-50F9F8D73A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9905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Datasheet Transistor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mengetahui</a:t>
            </a:r>
            <a:r>
              <a:rPr lang="en-US" dirty="0"/>
              <a:t> Parameter </a:t>
            </a:r>
            <a:r>
              <a:rPr lang="en-US" err="1"/>
              <a:t>Penting</a:t>
            </a:r>
            <a:r>
              <a:rPr lang="en-US"/>
              <a:t> Transistor.</a:t>
            </a:r>
          </a:p>
          <a:p>
            <a:r>
              <a:rPr lang="en-US"/>
              <a:t>Datasheet biasanya diberikan oleh pihak pabrikan.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69971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BBBE0F1-A5CF-48C9-B2DA-7FA1B61D1E92}" type="slidenum">
              <a:rPr lang="en-GB" sz="1400"/>
              <a:pPr>
                <a:spcBef>
                  <a:spcPct val="0"/>
                </a:spcBef>
                <a:buFontTx/>
                <a:buNone/>
              </a:pPr>
              <a:t>2</a:t>
            </a:fld>
            <a:endParaRPr lang="en-GB" sz="1400"/>
          </a:p>
        </p:txBody>
      </p:sp>
      <p:sp>
        <p:nvSpPr>
          <p:cNvPr id="29699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351088" y="476251"/>
            <a:ext cx="7772400" cy="720725"/>
          </a:xfrm>
        </p:spPr>
        <p:txBody>
          <a:bodyPr/>
          <a:lstStyle/>
          <a:p>
            <a:pPr eaLnBrk="1" hangingPunct="1"/>
            <a:r>
              <a:rPr lang="en-US" sz="4000"/>
              <a:t>PARAMETER TRANSISTOR</a:t>
            </a:r>
          </a:p>
        </p:txBody>
      </p:sp>
      <p:pic>
        <p:nvPicPr>
          <p:cNvPr id="29700" name="Picture 3" descr="TUN/TUP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8214" y="1998663"/>
            <a:ext cx="7704137" cy="3662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99C6649-3336-D38D-D75E-4842B654FD41}"/>
              </a:ext>
            </a:extLst>
          </p:cNvPr>
          <p:cNvSpPr txBox="1"/>
          <p:nvPr/>
        </p:nvSpPr>
        <p:spPr>
          <a:xfrm>
            <a:off x="3896139" y="2999116"/>
            <a:ext cx="4273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/>
              <a:t>V</a:t>
            </a:r>
            <a:endParaRPr lang="en-ID" sz="3600" b="1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2AFA14-0310-954D-F330-D1DC0BE88D76}"/>
              </a:ext>
            </a:extLst>
          </p:cNvPr>
          <p:cNvSpPr txBox="1"/>
          <p:nvPr/>
        </p:nvSpPr>
        <p:spPr>
          <a:xfrm>
            <a:off x="6743090" y="2814450"/>
            <a:ext cx="9601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>
                <a:solidFill>
                  <a:srgbClr val="FF0000"/>
                </a:solidFill>
              </a:rPr>
              <a:t>(Beta)</a:t>
            </a:r>
            <a:endParaRPr lang="en-ID" sz="2400" b="1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79957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789920A-E229-4C7D-BE1D-E08DEC26ACFE}" type="slidenum">
              <a:rPr lang="en-GB" sz="1400"/>
              <a:pPr>
                <a:spcBef>
                  <a:spcPct val="0"/>
                </a:spcBef>
                <a:buFontTx/>
                <a:buNone/>
              </a:pPr>
              <a:t>3</a:t>
            </a:fld>
            <a:endParaRPr lang="en-GB" sz="1400"/>
          </a:p>
        </p:txBody>
      </p:sp>
      <p:sp>
        <p:nvSpPr>
          <p:cNvPr id="307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JENIS TRANSISTOR</a:t>
            </a:r>
          </a:p>
        </p:txBody>
      </p:sp>
      <p:pic>
        <p:nvPicPr>
          <p:cNvPr id="35843" name="Picture 3" descr="TUN/TUP Transistor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6163" y="1665288"/>
            <a:ext cx="7524750" cy="5003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590571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5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C8DED3D-F232-4FB0-9AB5-D9E222EE9D44}" type="slidenum">
              <a:rPr lang="en-GB" sz="1400"/>
              <a:pPr>
                <a:spcBef>
                  <a:spcPct val="0"/>
                </a:spcBef>
                <a:buFontTx/>
                <a:buNone/>
              </a:pPr>
              <a:t>4</a:t>
            </a:fld>
            <a:endParaRPr lang="en-GB" sz="1400"/>
          </a:p>
        </p:txBody>
      </p:sp>
      <p:sp>
        <p:nvSpPr>
          <p:cNvPr id="31747" name="Rectangle 2"/>
          <p:cNvSpPr>
            <a:spLocks noGrp="1" noChangeArrowheads="1"/>
          </p:cNvSpPr>
          <p:nvPr>
            <p:ph type="title"/>
          </p:nvPr>
        </p:nvSpPr>
        <p:spPr>
          <a:xfrm>
            <a:off x="5808664" y="274638"/>
            <a:ext cx="4402137" cy="1143000"/>
          </a:xfrm>
        </p:spPr>
        <p:txBody>
          <a:bodyPr/>
          <a:lstStyle/>
          <a:p>
            <a:pPr eaLnBrk="1" hangingPunct="1"/>
            <a:endParaRPr lang="id-ID"/>
          </a:p>
        </p:txBody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808664" y="1600201"/>
            <a:ext cx="4402137" cy="4525963"/>
          </a:xfrm>
        </p:spPr>
        <p:txBody>
          <a:bodyPr/>
          <a:lstStyle/>
          <a:p>
            <a:pPr eaLnBrk="1" hangingPunct="1"/>
            <a:endParaRPr lang="id-ID"/>
          </a:p>
        </p:txBody>
      </p:sp>
      <p:pic>
        <p:nvPicPr>
          <p:cNvPr id="36868" name="Picture 4" descr="Table 1a - TUN/TUP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8895" y="168276"/>
            <a:ext cx="2746375" cy="655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DBFC553-13A5-B96F-B122-5B0B4821EDA8}"/>
              </a:ext>
            </a:extLst>
          </p:cNvPr>
          <p:cNvSpPr txBox="1"/>
          <p:nvPr/>
        </p:nvSpPr>
        <p:spPr>
          <a:xfrm>
            <a:off x="2518895" y="1546503"/>
            <a:ext cx="4273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/>
              <a:t>V</a:t>
            </a:r>
            <a:endParaRPr lang="en-ID" sz="3600" b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FC52A8C-4779-F4AB-E13F-FCB604DBB0CC}"/>
              </a:ext>
            </a:extLst>
          </p:cNvPr>
          <p:cNvSpPr txBox="1"/>
          <p:nvPr/>
        </p:nvSpPr>
        <p:spPr>
          <a:xfrm>
            <a:off x="2518895" y="2218938"/>
            <a:ext cx="4273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/>
              <a:t>V</a:t>
            </a:r>
            <a:endParaRPr lang="en-ID" sz="3600" b="1"/>
          </a:p>
        </p:txBody>
      </p:sp>
    </p:spTree>
    <p:extLst>
      <p:ext uri="{BB962C8B-B14F-4D97-AF65-F5344CB8AC3E}">
        <p14:creationId xmlns:p14="http://schemas.microsoft.com/office/powerpoint/2010/main" val="20129956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6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9963574-D6B9-4DBE-B99A-988B61120403}" type="slidenum">
              <a:rPr lang="en-GB" sz="1400"/>
              <a:pPr>
                <a:spcBef>
                  <a:spcPct val="0"/>
                </a:spcBef>
                <a:buFontTx/>
                <a:buNone/>
              </a:pPr>
              <a:t>5</a:t>
            </a:fld>
            <a:endParaRPr lang="en-GB" sz="1400"/>
          </a:p>
        </p:txBody>
      </p:sp>
      <p:sp>
        <p:nvSpPr>
          <p:cNvPr id="32771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274639"/>
            <a:ext cx="8229600" cy="490537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sz="4000"/>
              <a:t>BENTUK TRANSISTOR</a:t>
            </a:r>
          </a:p>
        </p:txBody>
      </p:sp>
      <p:pic>
        <p:nvPicPr>
          <p:cNvPr id="37891" name="Picture 3" descr="Case Outline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8463" y="981075"/>
            <a:ext cx="8820150" cy="5780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379832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78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3E30597-069A-46D4-889D-258A44B1216F}" type="slidenum">
              <a:rPr lang="en-GB" sz="1400"/>
              <a:pPr>
                <a:spcBef>
                  <a:spcPct val="0"/>
                </a:spcBef>
                <a:buFontTx/>
                <a:buNone/>
              </a:pPr>
              <a:t>6</a:t>
            </a:fld>
            <a:endParaRPr lang="en-GB" sz="1400"/>
          </a:p>
        </p:txBody>
      </p:sp>
      <p:sp>
        <p:nvSpPr>
          <p:cNvPr id="35843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274639"/>
            <a:ext cx="8229600" cy="561975"/>
          </a:xfrm>
          <a:ln>
            <a:solidFill>
              <a:schemeClr val="accent2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en-US" sz="2400" b="1"/>
              <a:t>KODE TRANSISTOR</a:t>
            </a:r>
          </a:p>
        </p:txBody>
      </p:sp>
      <p:sp>
        <p:nvSpPr>
          <p:cNvPr id="40963" name="Rectangle 3"/>
          <p:cNvSpPr>
            <a:spLocks noChangeArrowheads="1"/>
          </p:cNvSpPr>
          <p:nvPr/>
        </p:nvSpPr>
        <p:spPr bwMode="auto">
          <a:xfrm>
            <a:off x="1524000" y="1231821"/>
            <a:ext cx="9144000" cy="51706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sz="1800"/>
              <a:t>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400" b="1"/>
              <a:t>Kode mulai huruf  B (atau  A), contoh BC108, BC478</a:t>
            </a:r>
            <a:r>
              <a:rPr lang="en-US" sz="2400"/>
              <a:t> </a:t>
            </a:r>
            <a:br>
              <a:rPr lang="en-US" sz="2400"/>
            </a:br>
            <a:endParaRPr lang="en-US" sz="24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400"/>
              <a:t>Huruf pertama : </a:t>
            </a:r>
            <a:r>
              <a:rPr lang="en-US" sz="2400">
                <a:solidFill>
                  <a:srgbClr val="FFCC66"/>
                </a:solidFill>
              </a:rPr>
              <a:t>B =  silicon, A =  germanium (jarang ada ).</a:t>
            </a:r>
            <a:r>
              <a:rPr lang="en-US" sz="2400"/>
              <a:t>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sz="24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400"/>
              <a:t>Huruf kedua :   	</a:t>
            </a:r>
            <a:r>
              <a:rPr lang="en-US" sz="2400">
                <a:solidFill>
                  <a:schemeClr val="accent2"/>
                </a:solidFill>
              </a:rPr>
              <a:t>C = low power audio frequency;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400">
                <a:solidFill>
                  <a:schemeClr val="accent2"/>
                </a:solidFill>
              </a:rPr>
              <a:t>			D = high power audio frequency;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400">
                <a:solidFill>
                  <a:schemeClr val="accent2"/>
                </a:solidFill>
              </a:rPr>
              <a:t>			F = low power high frequency.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sz="2400">
              <a:solidFill>
                <a:schemeClr val="accent2"/>
              </a:solidFill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400"/>
              <a:t>Sisa nomer jenis tertentu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400"/>
              <a:t>Huruf berikutnya (kalau ada) menunjukkan hfe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400"/>
              <a:t>	</a:t>
            </a:r>
            <a:r>
              <a:rPr lang="en-US" sz="2400">
                <a:solidFill>
                  <a:srgbClr val="FF9900"/>
                </a:solidFill>
              </a:rPr>
              <a:t>A= hfe rendah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400">
                <a:solidFill>
                  <a:srgbClr val="FF9900"/>
                </a:solidFill>
              </a:rPr>
              <a:t>	B = hfe menengah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400">
                <a:solidFill>
                  <a:srgbClr val="FF9900"/>
                </a:solidFill>
              </a:rPr>
              <a:t>	C = hfe tinggi</a:t>
            </a:r>
          </a:p>
        </p:txBody>
      </p:sp>
    </p:spTree>
    <p:extLst>
      <p:ext uri="{BB962C8B-B14F-4D97-AF65-F5344CB8AC3E}">
        <p14:creationId xmlns:p14="http://schemas.microsoft.com/office/powerpoint/2010/main" val="39558690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40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2000"/>
                                        <p:tgtEl>
                                          <p:spTgt spid="40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2000"/>
                                        <p:tgtEl>
                                          <p:spTgt spid="409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2000"/>
                                        <p:tgtEl>
                                          <p:spTgt spid="409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2000"/>
                                        <p:tgtEl>
                                          <p:spTgt spid="409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2000"/>
                                        <p:tgtEl>
                                          <p:spTgt spid="409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2000"/>
                                        <p:tgtEl>
                                          <p:spTgt spid="409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2000"/>
                                        <p:tgtEl>
                                          <p:spTgt spid="4096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2000"/>
                                        <p:tgtEl>
                                          <p:spTgt spid="4096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2" dur="2000"/>
                                        <p:tgtEl>
                                          <p:spTgt spid="4096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7" dur="2000"/>
                                        <p:tgtEl>
                                          <p:spTgt spid="4096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6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039992E-537D-4BEA-9D8F-47EAB41CF2CA}" type="slidenum">
              <a:rPr lang="en-GB" sz="1400"/>
              <a:pPr>
                <a:spcBef>
                  <a:spcPct val="0"/>
                </a:spcBef>
                <a:buFontTx/>
                <a:buNone/>
              </a:pPr>
              <a:t>7</a:t>
            </a:fld>
            <a:endParaRPr lang="en-GB" sz="1400"/>
          </a:p>
        </p:txBody>
      </p:sp>
      <p:sp>
        <p:nvSpPr>
          <p:cNvPr id="36867" name="Rectangle 2"/>
          <p:cNvSpPr>
            <a:spLocks noGrp="1" noChangeArrowheads="1"/>
          </p:cNvSpPr>
          <p:nvPr>
            <p:ph type="title"/>
          </p:nvPr>
        </p:nvSpPr>
        <p:spPr>
          <a:xfrm>
            <a:off x="2711450" y="274639"/>
            <a:ext cx="6635750" cy="561975"/>
          </a:xfrm>
          <a:ln>
            <a:solidFill>
              <a:schemeClr val="accent2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en-US" sz="2800" b="1"/>
              <a:t>KODE TRANSISTOR</a:t>
            </a:r>
          </a:p>
        </p:txBody>
      </p:sp>
      <p:sp>
        <p:nvSpPr>
          <p:cNvPr id="41987" name="Rectangle 3"/>
          <p:cNvSpPr>
            <a:spLocks noChangeArrowheads="1"/>
          </p:cNvSpPr>
          <p:nvPr/>
        </p:nvSpPr>
        <p:spPr bwMode="auto">
          <a:xfrm>
            <a:off x="1524000" y="1050925"/>
            <a:ext cx="8445500" cy="576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sz="1800"/>
              <a:t>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sz="18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800" b="1"/>
              <a:t>Kode dimulai  TIP, misal TIP31A</a:t>
            </a:r>
            <a:r>
              <a:rPr lang="en-US" sz="2800"/>
              <a:t> </a:t>
            </a:r>
            <a:br>
              <a:rPr lang="en-US" sz="2800"/>
            </a:br>
            <a:r>
              <a:rPr lang="en-US" sz="2800"/>
              <a:t>TIP = pabrik : Texas Instruments Power transistor. </a:t>
            </a:r>
            <a:r>
              <a:rPr lang="en-US" sz="2800">
                <a:solidFill>
                  <a:schemeClr val="hlink"/>
                </a:solidFill>
              </a:rPr>
              <a:t>Nomer ganjil : NPN,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800">
                <a:solidFill>
                  <a:schemeClr val="hlink"/>
                </a:solidFill>
              </a:rPr>
              <a:t>Nomer genap : PNP.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sz="2800">
              <a:solidFill>
                <a:schemeClr val="hlink"/>
              </a:solidFill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800"/>
              <a:t>Terakhir : versi untuk tegangan yang berbeda.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sz="2800" b="1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800" b="1"/>
              <a:t>Kode dimulai 2N, misalnya 2N3053</a:t>
            </a:r>
            <a:r>
              <a:rPr lang="en-US" sz="2800"/>
              <a:t> </a:t>
            </a:r>
            <a:br>
              <a:rPr lang="en-US" sz="2800"/>
            </a:br>
            <a:r>
              <a:rPr lang="en-US" sz="2800"/>
              <a:t>2N identifies the part as a transistor and the rest of the code identifies the particular transistor. There is no obvious logic to the numbering system. 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sz="2800"/>
          </a:p>
        </p:txBody>
      </p:sp>
    </p:spTree>
    <p:extLst>
      <p:ext uri="{BB962C8B-B14F-4D97-AF65-F5344CB8AC3E}">
        <p14:creationId xmlns:p14="http://schemas.microsoft.com/office/powerpoint/2010/main" val="4536844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419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2000"/>
                                        <p:tgtEl>
                                          <p:spTgt spid="419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2000"/>
                                        <p:tgtEl>
                                          <p:spTgt spid="419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2000"/>
                                        <p:tgtEl>
                                          <p:spTgt spid="419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2000"/>
                                        <p:tgtEl>
                                          <p:spTgt spid="419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987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8AF1A73-9857-4C8B-8DC7-4E205805FF88}" type="slidenum">
              <a:rPr lang="en-GB" sz="1400"/>
              <a:pPr>
                <a:spcBef>
                  <a:spcPct val="0"/>
                </a:spcBef>
                <a:buFontTx/>
                <a:buNone/>
              </a:pPr>
              <a:t>8</a:t>
            </a:fld>
            <a:endParaRPr lang="en-GB" sz="1400"/>
          </a:p>
        </p:txBody>
      </p:sp>
      <p:sp>
        <p:nvSpPr>
          <p:cNvPr id="37891" name="Rectangle 2"/>
          <p:cNvSpPr>
            <a:spLocks noGrp="1" noChangeArrowheads="1"/>
          </p:cNvSpPr>
          <p:nvPr>
            <p:ph type="title"/>
          </p:nvPr>
        </p:nvSpPr>
        <p:spPr>
          <a:ln>
            <a:solidFill>
              <a:schemeClr val="accent2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en-US" sz="3600" b="1"/>
              <a:t>PEMILIHAN TRANSISTOR</a:t>
            </a:r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>
              <a:spcBef>
                <a:spcPct val="0"/>
              </a:spcBef>
              <a:buFontTx/>
              <a:buAutoNum type="arabicPeriod"/>
            </a:pPr>
            <a:r>
              <a:rPr lang="en-US"/>
              <a:t>The most important properties to look for are the maximum </a:t>
            </a:r>
            <a:r>
              <a:rPr lang="en-US">
                <a:solidFill>
                  <a:srgbClr val="FF5050"/>
                </a:solidFill>
              </a:rPr>
              <a:t>collector current IC</a:t>
            </a:r>
            <a:r>
              <a:rPr lang="en-US"/>
              <a:t> and the </a:t>
            </a:r>
            <a:r>
              <a:rPr lang="en-US">
                <a:solidFill>
                  <a:srgbClr val="FF5050"/>
                </a:solidFill>
              </a:rPr>
              <a:t>current gain Hfe.</a:t>
            </a:r>
            <a:r>
              <a:rPr lang="en-US"/>
              <a:t> </a:t>
            </a:r>
          </a:p>
          <a:p>
            <a:pPr marL="609600" indent="-609600">
              <a:spcBef>
                <a:spcPct val="0"/>
              </a:spcBef>
              <a:buFontTx/>
              <a:buAutoNum type="arabicPeriod"/>
            </a:pPr>
            <a:endParaRPr lang="en-US"/>
          </a:p>
          <a:p>
            <a:pPr marL="609600" indent="-609600">
              <a:spcBef>
                <a:spcPct val="0"/>
              </a:spcBef>
              <a:buFontTx/>
              <a:buAutoNum type="arabicPeriod"/>
            </a:pPr>
            <a:r>
              <a:rPr lang="en-US"/>
              <a:t>To make selection easier most suppliers group their transistors in categories determined either by their</a:t>
            </a:r>
            <a:r>
              <a:rPr lang="en-US">
                <a:solidFill>
                  <a:srgbClr val="FF5050"/>
                </a:solidFill>
              </a:rPr>
              <a:t> </a:t>
            </a:r>
            <a:r>
              <a:rPr lang="en-US" b="1">
                <a:solidFill>
                  <a:srgbClr val="FF5050"/>
                </a:solidFill>
              </a:rPr>
              <a:t>typical use</a:t>
            </a:r>
            <a:r>
              <a:rPr lang="en-US"/>
              <a:t> or </a:t>
            </a:r>
            <a:r>
              <a:rPr lang="en-US" b="1">
                <a:solidFill>
                  <a:srgbClr val="FF5050"/>
                </a:solidFill>
              </a:rPr>
              <a:t>maximum power</a:t>
            </a:r>
            <a:r>
              <a:rPr lang="en-US"/>
              <a:t> rating. </a:t>
            </a:r>
          </a:p>
          <a:p>
            <a:pPr marL="609600" indent="-60960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11898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30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430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11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6B65B98-3BDE-42FF-9154-922F419E786E}" type="slidenum">
              <a:rPr lang="en-GB" sz="1400"/>
              <a:pPr>
                <a:spcBef>
                  <a:spcPct val="0"/>
                </a:spcBef>
                <a:buFontTx/>
                <a:buNone/>
              </a:pPr>
              <a:t>9</a:t>
            </a:fld>
            <a:endParaRPr lang="en-GB" sz="1400"/>
          </a:p>
        </p:txBody>
      </p:sp>
      <p:sp>
        <p:nvSpPr>
          <p:cNvPr id="38915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274639"/>
            <a:ext cx="8229600" cy="561975"/>
          </a:xfrm>
        </p:spPr>
        <p:txBody>
          <a:bodyPr/>
          <a:lstStyle/>
          <a:p>
            <a:pPr eaLnBrk="1" hangingPunct="1"/>
            <a:r>
              <a:rPr lang="en-US" sz="3200" b="1"/>
              <a:t>TRANSISTOR</a:t>
            </a:r>
          </a:p>
        </p:txBody>
      </p:sp>
      <p:graphicFrame>
        <p:nvGraphicFramePr>
          <p:cNvPr id="6" name="Group 148"/>
          <p:cNvGraphicFramePr>
            <a:graphicFrameLocks/>
          </p:cNvGraphicFramePr>
          <p:nvPr/>
        </p:nvGraphicFramePr>
        <p:xfrm>
          <a:off x="1981200" y="1067029"/>
          <a:ext cx="8229600" cy="4991101"/>
        </p:xfrm>
        <a:graphic>
          <a:graphicData uri="http://schemas.openxmlformats.org/drawingml/2006/table">
            <a:tbl>
              <a:tblPr/>
              <a:tblGrid>
                <a:gridCol w="7572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0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46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51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81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984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080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02406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50336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15913">
                <a:tc gridSpan="9"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3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NPN transistors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id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id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id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id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id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id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id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id-I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95375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Code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Structure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Case</a:t>
                      </a:r>
                      <a:b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</a:b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style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I</a:t>
                      </a:r>
                      <a:r>
                        <a:rPr kumimoji="0" lang="en-US" sz="12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C</a:t>
                      </a:r>
                      <a:b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</a:b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max.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V</a:t>
                      </a:r>
                      <a:r>
                        <a:rPr kumimoji="0" lang="en-US" sz="1200" b="1" i="0" u="none" strike="noStrike" cap="none" normalizeH="0" baseline="-30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CE</a:t>
                      </a:r>
                      <a:b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</a:b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max.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h</a:t>
                      </a:r>
                      <a:r>
                        <a:rPr kumimoji="0" lang="en-US" sz="1200" b="1" i="0" u="none" strike="noStrike" cap="none" normalizeH="0" baseline="-30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FE</a:t>
                      </a:r>
                      <a:b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</a:b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min.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P</a:t>
                      </a:r>
                      <a:r>
                        <a:rPr kumimoji="0" lang="en-US" sz="1200" b="1" i="0" u="none" strike="noStrike" cap="none" normalizeH="0" baseline="-3000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tot</a:t>
                      </a:r>
                      <a:b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</a:b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max.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Category</a:t>
                      </a:r>
                      <a:b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</a:b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(typical use)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Possible</a:t>
                      </a:r>
                      <a:b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</a:b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substitutes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BC107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NPN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TO18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100mA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45V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110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300mW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Audio, low power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BC182 BC547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BC108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NPN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TO18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100mA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20V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110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300mW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General purpose, low power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BC108C BC183 BC548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BC108C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NPN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TO18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100mA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20V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420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600mW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General purpose, low power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 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BC109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NPN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TO18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200mA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20V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200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300mW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Audio (low noise), low power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BC184 BC549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2N3053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NPN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TO39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700mA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40V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50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500mW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General purpose, low power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BFY51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BFY51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NPN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TO39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1A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30V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40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800mW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General purpose, medium power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BC639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BC639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NPN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TO92A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1A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80V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40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800mW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General purpose, medium power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BFY51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TIP29A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NPN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TO220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1A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60V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40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30W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General purpose, high power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 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6863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TIP31A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NPN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TO220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3A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60V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10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40W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General purpose, high power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TIP31C TIP41A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TIP31C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NPN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TO220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3A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100V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10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40W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General purpose, high power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TIP31A TIP41A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TIP41A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NPN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TO220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6A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60V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15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65W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General purpose, high power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 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2N3055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NPN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TO3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15A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60V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20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117W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General purpose, high power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 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016730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AD7F3E1-EC3A-49FF-9C1D-8A3871872DF4}" type="slidenum">
              <a:rPr lang="en-GB" sz="1400"/>
              <a:pPr>
                <a:spcBef>
                  <a:spcPct val="0"/>
                </a:spcBef>
                <a:buFontTx/>
                <a:buNone/>
              </a:pPr>
              <a:t>10</a:t>
            </a:fld>
            <a:endParaRPr lang="en-GB" sz="1400"/>
          </a:p>
        </p:txBody>
      </p:sp>
      <p:sp>
        <p:nvSpPr>
          <p:cNvPr id="39939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274638"/>
            <a:ext cx="8229600" cy="850900"/>
          </a:xfrm>
          <a:ln>
            <a:solidFill>
              <a:schemeClr val="accent2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en-US" sz="3600" b="1"/>
              <a:t>TRANSISTOR DARLINGTON</a:t>
            </a:r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808664" y="1308100"/>
            <a:ext cx="4402137" cy="4929188"/>
          </a:xfrm>
          <a:ln>
            <a:solidFill>
              <a:schemeClr val="tx1"/>
            </a:solidFill>
            <a:miter lim="800000"/>
            <a:headEnd/>
            <a:tailEnd/>
          </a:ln>
        </p:spPr>
        <p:txBody>
          <a:bodyPr>
            <a:normAutofit lnSpcReduction="10000"/>
          </a:bodyPr>
          <a:lstStyle/>
          <a:p>
            <a:pPr eaLnBrk="1" hangingPunct="1">
              <a:lnSpc>
                <a:spcPct val="80000"/>
              </a:lnSpc>
            </a:pPr>
            <a:r>
              <a:rPr lang="en-US" sz="2400">
                <a:solidFill>
                  <a:schemeClr val="accent2"/>
                </a:solidFill>
              </a:rPr>
              <a:t>Kedua transistor disambung seperti tergambar. </a:t>
            </a:r>
          </a:p>
          <a:p>
            <a:pPr eaLnBrk="1" hangingPunct="1">
              <a:lnSpc>
                <a:spcPct val="80000"/>
              </a:lnSpc>
            </a:pPr>
            <a:endParaRPr lang="en-US" sz="2400">
              <a:solidFill>
                <a:schemeClr val="accent2"/>
              </a:solidFill>
            </a:endParaRPr>
          </a:p>
          <a:p>
            <a:pPr eaLnBrk="1" hangingPunct="1">
              <a:lnSpc>
                <a:spcPct val="80000"/>
              </a:lnSpc>
            </a:pPr>
            <a:r>
              <a:rPr lang="en-US" sz="2400">
                <a:solidFill>
                  <a:schemeClr val="accent2"/>
                </a:solidFill>
              </a:rPr>
              <a:t>Penguatan arus total adalah perkalian antara penguatan kedua transistor.</a:t>
            </a:r>
          </a:p>
          <a:p>
            <a:pPr eaLnBrk="1" hangingPunct="1">
              <a:lnSpc>
                <a:spcPct val="80000"/>
              </a:lnSpc>
            </a:pPr>
            <a:endParaRPr lang="en-US" sz="2400">
              <a:solidFill>
                <a:schemeClr val="accent2"/>
              </a:solidFill>
            </a:endParaRPr>
          </a:p>
          <a:p>
            <a:pPr eaLnBrk="1" hangingPunct="1">
              <a:lnSpc>
                <a:spcPct val="80000"/>
              </a:lnSpc>
            </a:pPr>
            <a:r>
              <a:rPr lang="en-US" sz="2400">
                <a:solidFill>
                  <a:schemeClr val="accent2"/>
                </a:solidFill>
              </a:rPr>
              <a:t>Gain transistor  Darlington bisa mencapai </a:t>
            </a:r>
            <a:r>
              <a:rPr lang="en-US" sz="2400" b="1">
                <a:solidFill>
                  <a:srgbClr val="FF0000"/>
                </a:solidFill>
              </a:rPr>
              <a:t>10000</a:t>
            </a:r>
            <a:r>
              <a:rPr lang="en-US" sz="2400" b="1">
                <a:solidFill>
                  <a:schemeClr val="accent2"/>
                </a:solidFill>
              </a:rPr>
              <a:t>.</a:t>
            </a:r>
            <a:r>
              <a:rPr lang="en-US" sz="2400">
                <a:solidFill>
                  <a:schemeClr val="accent2"/>
                </a:solidFill>
              </a:rPr>
              <a:t> </a:t>
            </a:r>
          </a:p>
          <a:p>
            <a:pPr eaLnBrk="1" hangingPunct="1">
              <a:lnSpc>
                <a:spcPct val="80000"/>
              </a:lnSpc>
            </a:pPr>
            <a:endParaRPr lang="en-US" sz="2400">
              <a:solidFill>
                <a:schemeClr val="accent2"/>
              </a:solidFill>
            </a:endParaRPr>
          </a:p>
          <a:p>
            <a:pPr eaLnBrk="1" hangingPunct="1">
              <a:lnSpc>
                <a:spcPct val="80000"/>
              </a:lnSpc>
            </a:pPr>
            <a:r>
              <a:rPr lang="en-US" sz="2400">
                <a:solidFill>
                  <a:schemeClr val="accent2"/>
                </a:solidFill>
              </a:rPr>
              <a:t>Transistor Darlington dijual dalam kemasan seperti transistor biasa dengan tiga kaki (</a:t>
            </a:r>
            <a:r>
              <a:rPr lang="en-US" sz="2400" b="1">
                <a:solidFill>
                  <a:schemeClr val="accent2"/>
                </a:solidFill>
              </a:rPr>
              <a:t>B</a:t>
            </a:r>
            <a:r>
              <a:rPr lang="en-US" sz="2400">
                <a:solidFill>
                  <a:schemeClr val="accent2"/>
                </a:solidFill>
              </a:rPr>
              <a:t>, </a:t>
            </a:r>
            <a:r>
              <a:rPr lang="en-US" sz="2400" b="1">
                <a:solidFill>
                  <a:schemeClr val="accent2"/>
                </a:solidFill>
              </a:rPr>
              <a:t>C</a:t>
            </a:r>
            <a:r>
              <a:rPr lang="en-US" sz="2400">
                <a:solidFill>
                  <a:schemeClr val="accent2"/>
                </a:solidFill>
              </a:rPr>
              <a:t> and </a:t>
            </a:r>
            <a:r>
              <a:rPr lang="en-US" sz="2400" b="1">
                <a:solidFill>
                  <a:schemeClr val="accent2"/>
                </a:solidFill>
              </a:rPr>
              <a:t>E</a:t>
            </a:r>
            <a:r>
              <a:rPr lang="en-US" sz="2400">
                <a:solidFill>
                  <a:schemeClr val="accent2"/>
                </a:solidFill>
              </a:rPr>
              <a:t>).</a:t>
            </a:r>
          </a:p>
        </p:txBody>
      </p:sp>
      <p:pic>
        <p:nvPicPr>
          <p:cNvPr id="45060" name="Picture 4" descr="Darlington pai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2775" y="2667000"/>
            <a:ext cx="3708400" cy="30416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016288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5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4505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450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450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450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450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59" grpId="0" build="p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2B2B3E6-D3CF-451A-8CAA-E08DED24559D}" type="slidenum">
              <a:rPr lang="en-GB" sz="1400"/>
              <a:pPr>
                <a:spcBef>
                  <a:spcPct val="0"/>
                </a:spcBef>
                <a:buFontTx/>
                <a:buNone/>
              </a:pPr>
              <a:t>11</a:t>
            </a:fld>
            <a:endParaRPr lang="en-GB" sz="1400"/>
          </a:p>
        </p:txBody>
      </p:sp>
      <p:sp>
        <p:nvSpPr>
          <p:cNvPr id="43011" name="Rectangle 2"/>
          <p:cNvSpPr>
            <a:spLocks noGrp="1" noChangeArrowheads="1"/>
          </p:cNvSpPr>
          <p:nvPr>
            <p:ph type="title"/>
          </p:nvPr>
        </p:nvSpPr>
        <p:spPr>
          <a:xfrm>
            <a:off x="5412891" y="1656177"/>
            <a:ext cx="4691062" cy="11430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sz="4000"/>
              <a:t>BC108</a:t>
            </a:r>
            <a:br>
              <a:rPr lang="en-US" sz="4000"/>
            </a:br>
            <a:r>
              <a:rPr lang="en-US" sz="4000"/>
              <a:t>GP-Low Power</a:t>
            </a:r>
          </a:p>
        </p:txBody>
      </p:sp>
      <p:pic>
        <p:nvPicPr>
          <p:cNvPr id="4813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2872" y="1690688"/>
            <a:ext cx="1436269" cy="1823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813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5550" y="3065464"/>
            <a:ext cx="6985000" cy="3603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C23C647-8F08-A01E-DD9E-D3CFA9B36B09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Datasheet BC108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0981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8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48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8DD5E63-EFC7-4515-B7AA-0A73A901C7FF}" type="slidenum">
              <a:rPr lang="en-GB" sz="1400"/>
              <a:pPr>
                <a:spcBef>
                  <a:spcPct val="0"/>
                </a:spcBef>
                <a:buFontTx/>
                <a:buNone/>
              </a:pPr>
              <a:t>12</a:t>
            </a:fld>
            <a:endParaRPr lang="en-GB" sz="1400"/>
          </a:p>
        </p:txBody>
      </p:sp>
      <p:pic>
        <p:nvPicPr>
          <p:cNvPr id="4710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4544" y="309313"/>
            <a:ext cx="9019899" cy="62393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4ECA71C-59AD-1C26-002A-EAE0B98EFE42}"/>
              </a:ext>
            </a:extLst>
          </p:cNvPr>
          <p:cNvSpPr/>
          <p:nvPr/>
        </p:nvSpPr>
        <p:spPr>
          <a:xfrm>
            <a:off x="5295002" y="1540565"/>
            <a:ext cx="1798982" cy="337931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23DF014-A4FC-1C72-2468-64964430E942}"/>
              </a:ext>
            </a:extLst>
          </p:cNvPr>
          <p:cNvSpPr/>
          <p:nvPr/>
        </p:nvSpPr>
        <p:spPr>
          <a:xfrm>
            <a:off x="5295002" y="2686878"/>
            <a:ext cx="1798982" cy="337931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461CF87-6677-4BAD-C9D7-D222ACED7CB4}"/>
              </a:ext>
            </a:extLst>
          </p:cNvPr>
          <p:cNvSpPr/>
          <p:nvPr/>
        </p:nvSpPr>
        <p:spPr>
          <a:xfrm>
            <a:off x="8537713" y="1878496"/>
            <a:ext cx="586409" cy="808382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2054052-6F42-D6DF-B6A7-C9432679AFA6}"/>
              </a:ext>
            </a:extLst>
          </p:cNvPr>
          <p:cNvSpPr/>
          <p:nvPr/>
        </p:nvSpPr>
        <p:spPr>
          <a:xfrm>
            <a:off x="8537713" y="3001616"/>
            <a:ext cx="586409" cy="904462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C9B3E8F-9AC2-FFF3-4297-93239C0E8007}"/>
              </a:ext>
            </a:extLst>
          </p:cNvPr>
          <p:cNvSpPr txBox="1"/>
          <p:nvPr/>
        </p:nvSpPr>
        <p:spPr>
          <a:xfrm>
            <a:off x="10507456" y="1978680"/>
            <a:ext cx="130534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Catatan:</a:t>
            </a:r>
          </a:p>
          <a:p>
            <a:r>
              <a:rPr lang="en-US"/>
              <a:t>Hfe atau Beta tergantung dari Ic dan Vce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5803620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7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25EDD4D-8DC8-40E6-9DD0-F3F9B888B821}" type="slidenum">
              <a:rPr lang="en-GB" sz="1400"/>
              <a:pPr>
                <a:spcBef>
                  <a:spcPct val="0"/>
                </a:spcBef>
                <a:buFontTx/>
                <a:buNone/>
              </a:pPr>
              <a:t>13</a:t>
            </a:fld>
            <a:endParaRPr lang="en-GB" sz="1400"/>
          </a:p>
        </p:txBody>
      </p:sp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>
          <a:xfrm>
            <a:off x="8183563" y="850900"/>
            <a:ext cx="2170112" cy="5386388"/>
          </a:xfrm>
          <a:ln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en-US" sz="2800"/>
              <a:t>Hfe tidak konstan, </a:t>
            </a:r>
            <a:br>
              <a:rPr lang="en-US" sz="2800"/>
            </a:br>
            <a:br>
              <a:rPr lang="en-US" sz="2800"/>
            </a:br>
            <a:r>
              <a:rPr lang="en-US" sz="2800"/>
              <a:t>tetapi fungsi dari Ic</a:t>
            </a:r>
          </a:p>
        </p:txBody>
      </p:sp>
      <p:pic>
        <p:nvPicPr>
          <p:cNvPr id="4915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6051" y="476251"/>
            <a:ext cx="6551613" cy="6335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607714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9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49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5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D4D67CF-2AF3-4EB5-8D72-3DD0F99E33DF}" type="slidenum">
              <a:rPr lang="en-GB" sz="1400"/>
              <a:pPr>
                <a:spcBef>
                  <a:spcPct val="0"/>
                </a:spcBef>
                <a:buFontTx/>
                <a:buNone/>
              </a:pPr>
              <a:t>14</a:t>
            </a:fld>
            <a:endParaRPr lang="en-GB" sz="1400"/>
          </a:p>
        </p:txBody>
      </p:sp>
      <p:pic>
        <p:nvPicPr>
          <p:cNvPr id="5017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1" y="290513"/>
            <a:ext cx="6588125" cy="645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5060" name="Rectangle 3"/>
          <p:cNvSpPr>
            <a:spLocks noGrp="1" noChangeArrowheads="1"/>
          </p:cNvSpPr>
          <p:nvPr>
            <p:ph type="title"/>
          </p:nvPr>
        </p:nvSpPr>
        <p:spPr>
          <a:xfrm>
            <a:off x="7751764" y="274638"/>
            <a:ext cx="2459037" cy="5675312"/>
          </a:xfrm>
          <a:noFill/>
        </p:spPr>
        <p:txBody>
          <a:bodyPr/>
          <a:lstStyle/>
          <a:p>
            <a:pPr eaLnBrk="1" hangingPunct="1"/>
            <a:r>
              <a:rPr lang="en-US" sz="3200"/>
              <a:t>vce juga ditentukan oleh Ic</a:t>
            </a:r>
          </a:p>
        </p:txBody>
      </p:sp>
    </p:spTree>
    <p:extLst>
      <p:ext uri="{BB962C8B-B14F-4D97-AF65-F5344CB8AC3E}">
        <p14:creationId xmlns:p14="http://schemas.microsoft.com/office/powerpoint/2010/main" val="25115215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0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98D336F-E5A6-4115-81FC-F5F2C2B9C27F}" type="slidenum">
              <a:rPr lang="en-GB" sz="1400"/>
              <a:pPr>
                <a:spcBef>
                  <a:spcPct val="0"/>
                </a:spcBef>
                <a:buFontTx/>
                <a:buNone/>
              </a:pPr>
              <a:t>15</a:t>
            </a:fld>
            <a:endParaRPr lang="en-GB" sz="1400"/>
          </a:p>
        </p:txBody>
      </p:sp>
      <p:sp>
        <p:nvSpPr>
          <p:cNvPr id="460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Transistor daya</a:t>
            </a:r>
          </a:p>
        </p:txBody>
      </p:sp>
      <p:pic>
        <p:nvPicPr>
          <p:cNvPr id="5120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1088" y="1820863"/>
            <a:ext cx="5416550" cy="4489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974700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1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1A17EE3-42DF-4AE8-82B6-F38B32E2F8AC}" type="slidenum">
              <a:rPr lang="en-GB" sz="1400"/>
              <a:pPr>
                <a:spcBef>
                  <a:spcPct val="0"/>
                </a:spcBef>
                <a:buFontTx/>
                <a:buNone/>
              </a:pPr>
              <a:t>16</a:t>
            </a:fld>
            <a:endParaRPr lang="en-GB" sz="1400"/>
          </a:p>
        </p:txBody>
      </p:sp>
      <p:pic>
        <p:nvPicPr>
          <p:cNvPr id="4710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0"/>
            <a:ext cx="71247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419569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0C6C1A0-4609-488E-89F6-59F8C89AB681}" type="slidenum">
              <a:rPr lang="en-GB" sz="1400"/>
              <a:pPr>
                <a:spcBef>
                  <a:spcPct val="0"/>
                </a:spcBef>
                <a:buFontTx/>
                <a:buNone/>
              </a:pPr>
              <a:t>17</a:t>
            </a:fld>
            <a:endParaRPr lang="en-GB" sz="1400"/>
          </a:p>
        </p:txBody>
      </p:sp>
      <p:sp>
        <p:nvSpPr>
          <p:cNvPr id="48131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216275" y="1628776"/>
            <a:ext cx="8229600" cy="4525963"/>
          </a:xfrm>
        </p:spPr>
        <p:txBody>
          <a:bodyPr/>
          <a:lstStyle/>
          <a:p>
            <a:pPr eaLnBrk="1" hangingPunct="1"/>
            <a:r>
              <a:rPr lang="en-US"/>
              <a:t>x</a:t>
            </a:r>
          </a:p>
        </p:txBody>
      </p:sp>
      <p:pic>
        <p:nvPicPr>
          <p:cNvPr id="48132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0151" y="-100013"/>
            <a:ext cx="7319963" cy="7002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253572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</TotalTime>
  <Words>519</Words>
  <Application>Microsoft Office PowerPoint</Application>
  <PresentationFormat>Widescreen</PresentationFormat>
  <Paragraphs>188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Calibri Light</vt:lpstr>
      <vt:lpstr>Office Theme</vt:lpstr>
      <vt:lpstr>Datasheet Transistor</vt:lpstr>
      <vt:lpstr>PARAMETER TRANSISTOR</vt:lpstr>
      <vt:lpstr>JENIS TRANSISTOR</vt:lpstr>
      <vt:lpstr>PowerPoint Presentation</vt:lpstr>
      <vt:lpstr>BENTUK TRANSISTOR</vt:lpstr>
      <vt:lpstr>KODE TRANSISTOR</vt:lpstr>
      <vt:lpstr>KODE TRANSISTOR</vt:lpstr>
      <vt:lpstr>PEMILIHAN TRANSISTOR</vt:lpstr>
      <vt:lpstr>TRANSISTOR</vt:lpstr>
      <vt:lpstr>TRANSISTOR DARLINGTON</vt:lpstr>
      <vt:lpstr>BC108 GP-Low Power</vt:lpstr>
      <vt:lpstr>PowerPoint Presentation</vt:lpstr>
      <vt:lpstr>Hfe tidak konstan,   tetapi fungsi dari Ic</vt:lpstr>
      <vt:lpstr>vce juga ditentukan oleh Ic</vt:lpstr>
      <vt:lpstr>Transistor daya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Datasheet</dc:title>
  <dc:creator>Microsoft account</dc:creator>
  <cp:lastModifiedBy>erilmozef@yahoo.com</cp:lastModifiedBy>
  <cp:revision>6</cp:revision>
  <dcterms:created xsi:type="dcterms:W3CDTF">2024-08-26T06:58:58Z</dcterms:created>
  <dcterms:modified xsi:type="dcterms:W3CDTF">2025-05-02T06:47:22Z</dcterms:modified>
</cp:coreProperties>
</file>