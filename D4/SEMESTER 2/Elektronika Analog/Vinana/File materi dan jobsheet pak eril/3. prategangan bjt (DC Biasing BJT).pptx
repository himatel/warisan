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314" r:id="rId4"/>
    <p:sldId id="304" r:id="rId5"/>
    <p:sldId id="302" r:id="rId6"/>
    <p:sldId id="306" r:id="rId7"/>
    <p:sldId id="303" r:id="rId8"/>
    <p:sldId id="315"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7" r:id="rId25"/>
    <p:sldId id="276" r:id="rId26"/>
    <p:sldId id="279" r:id="rId27"/>
    <p:sldId id="280" r:id="rId28"/>
    <p:sldId id="281" r:id="rId29"/>
    <p:sldId id="282" r:id="rId30"/>
    <p:sldId id="283" r:id="rId31"/>
    <p:sldId id="284" r:id="rId32"/>
    <p:sldId id="285" r:id="rId33"/>
    <p:sldId id="286" r:id="rId34"/>
    <p:sldId id="287" r:id="rId35"/>
    <p:sldId id="291"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62" autoAdjust="0"/>
    <p:restoredTop sz="94660"/>
  </p:normalViewPr>
  <p:slideViewPr>
    <p:cSldViewPr snapToGrid="0">
      <p:cViewPr varScale="1">
        <p:scale>
          <a:sx n="82" d="100"/>
          <a:sy n="82" d="100"/>
        </p:scale>
        <p:origin x="509" y="62"/>
      </p:cViewPr>
      <p:guideLst/>
    </p:cSldViewPr>
  </p:slideViewPr>
  <p:notesTextViewPr>
    <p:cViewPr>
      <p:scale>
        <a:sx n="1" d="1"/>
        <a:sy n="1" d="1"/>
      </p:scale>
      <p:origin x="0" y="0"/>
    </p:cViewPr>
  </p:notesTextViewPr>
  <p:gridSpacing cx="91439" cy="91439"/>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3-29T04:10:07.159"/>
    </inkml:context>
    <inkml:brush xml:id="br0">
      <inkml:brushProperty name="width" value="0.05" units="cm"/>
      <inkml:brushProperty name="height" value="0.05" units="cm"/>
      <inkml:brushProperty name="color" value="#004F8B"/>
    </inkml:brush>
  </inkml:definitions>
  <inkml:trace contextRef="#ctx0" brushRef="#br0">78 49 300,'-2'-3'5168,"-7"-11"-4092,7 13-947,1 1 0,0-1 0,0 1 0,0-1 0,0 0 0,0 1-1,0-1 1,0 0 0,0 0 0,0 0 0,1 0 0,-1 1 0,0-1 0,1 0 0,-1-1 0,0 1 0,1 0 0,-1 0 0,1 0 0,-1-2 0,1 2 418,0 1-532,0-1 0,0 1 0,0-1 1,0 1-1,0-1 0,0 1 0,1-1 0,-1 1 1,0-1-1,0 1 0,1-1 0,-1 1 0,0-1 1,0 1-1,1 0 0,-1-1 0,0 1 0,1 0 0,-1-1 1,1 1-1,-1 0 0,0-1 0,1 1 0,-1 0 1,1 0-1,0-1 0,-17 1 7,14 0-29,4 0-11,4 0 15,-4 0 156,-3 1-375,1 0 3,-1 0 1,1 0-1,-1 0 1,1 0 0,-1 0-1,0 0 1,0 0-1,1 0 1,-1 0-1,0 0 1,0-1-1,0 1 1,0 0-1,0-1 1,0 1 0,0 0-1,0-1 1,0 0-1,0 1 1,-1-1-1,1 0 1,0 1-1,0-1 1,0 0 0,0 0-1,-1 0 1,1 0-1,0 0 1,0 0-1,0 0 1,-1-1-1,1 1 1,0 0-1,0-1 1,-1 1 0,-9-5-1356</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3-29T04:23:59.346"/>
    </inkml:context>
    <inkml:brush xml:id="br0">
      <inkml:brushProperty name="width" value="0.05" units="cm"/>
      <inkml:brushProperty name="height" value="0.05" units="cm"/>
      <inkml:brushProperty name="color" value="#004F8B"/>
    </inkml:brush>
  </inkml:definitions>
  <inkml:trace contextRef="#ctx0" brushRef="#br0">97 418 892,'2'-2'284,"-1"-1"-1,1 1 1,-1 0 0,0 0-1,0-1 1,0 1 0,0-1-1,0 1 1,-1-1 0,1 1-1,-1-1 1,1 0-1,-1 1 1,0-1 0,0 1-1,0-1 1,-1 0 0,0-4-1,-18-53 2361,6 24-1225,-12-94 2776,5 37-1360,15 68-2096,1 4-64,2 30-281,-3 10-444,5-17 48,-1-1 0,0 1-1,1-1 1,-1 1 0,1-1-1,0 1 1,0-1 0,-1 1-1,1 0 1,0-1 0,0 1-1,0-1 1,1 4 0,31 202 72,-17-92-43,7 111-43,4 24-47,11 39 67,-27-187-37,-10-98 23,1 0 0,-1 0 1,0 0-1,-1 0 0,1 0 0,-1 0 0,1 0 1,-3 5-1,-1 21-441,4-29 309,0 0 0,0 0 0,1 0 0,-1 1 0,0-1 0,0 0 0,0 0 0,0 0 0,0 0 0,0 0 1,0 0-1,-1 0 0,1 0 0,0 0 0,-1 0 0,1 0 0,0 0 0,-1 0 0,1 0 0,-1-1 0,0 1 0,1 0 0,-1 0 1,0 0-1,1-1 0,-1 1 0,0 0 0,0 0 0,1-1 0,-3 2 0,1-3-152,1 1 1,-1-1-1,0 0 1,0 1-1,1-1 0,-1 0 1,0 0-1,1 0 0,-1 0 1,1 0-1,-1 0 0,1 0 1,0-1-1,0 1 0,-1 0 1,0-3-1,-4-2-496,-1 1 0,0 0-1,0 0 1,0 0 0,-1 1 0,-8-5-1,-3-1-283,-10-6-418</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3-29T04:23:59.752"/>
    </inkml:context>
    <inkml:brush xml:id="br0">
      <inkml:brushProperty name="width" value="0.05" units="cm"/>
      <inkml:brushProperty name="height" value="0.05" units="cm"/>
      <inkml:brushProperty name="color" value="#004F8B"/>
    </inkml:brush>
  </inkml:definitions>
  <inkml:trace contextRef="#ctx0" brushRef="#br0">106 566 556,'-95'50'8544,"94"-46"-7926,-1-107-91,-4-310-96,4 309 255,2 209-614,2 312-42,0-327-26,-2-90-4,0 1 0,0-1 1,0 1-1,0-1 0,0 1 1,0-1-1,0 1 0,0-1 1,0 1-1,0-1 0,0 1 1,0-1-1,0 1 0,0-1 0,0 1 1,1-1-1,-1 1 0,0-1 1,0 1-1,1-1 0,-1 0 1,0 1-1,1-1 0,-1 1 0,0-1 1,1 0-1,-1 1 0,0-1 1,1 0-1,-1 1 0,1-1 1,-1 0-1,1 0 0,-1 0 1,1 1-1,0-1 1,27 15 14,-24-12-12,0-1 0,0 1 0,0-1 0,0 0 0,1 0 0,-1 0 0,1 0 0,9 1 0,193 4 210,-155-7-138,162-6 304,-41-5-332,-146 5-1723,-35 1 689,-1 0 0,0 1-1,0 0 1,0 1 0,0 0-1,0 0 1,-13-1 0,1 3-623</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3-29T04:24:24.120"/>
    </inkml:context>
    <inkml:brush xml:id="br0">
      <inkml:brushProperty name="width" value="0.05" units="cm"/>
      <inkml:brushProperty name="height" value="0.05" units="cm"/>
      <inkml:brushProperty name="color" value="#004F8B"/>
    </inkml:brush>
  </inkml:definitions>
  <inkml:trace contextRef="#ctx0" brushRef="#br0">30 229 188,'8'10'5360,"-10"-9"-5316,0 0 1,0 0-1,1 0 0,-1 0 1,0 0-1,1 0 1,-1 1-1,1-1 0,0 0 1,-1 1-1,1-1 1,0 1-1,0 0 0,0-1 1,0 1-1,0 0 1,0 0-1,1 0 0,-1-1 1,1 1-1,-1 0 0,1 0 1,-1 3-1,-4 9 153,4-13-172,1-1 0,-1 0-1,1 1 1,0-1 0,0 0 0,-1 1-1,1-1 1,0 0 0,0 1 0,-1-1 0,1 1-1,0-1 1,0 1 0,0-1 0,0 1-1,-1-1 1,1 0 0,0 1 0,0-1 0,0 1-1,0-1 1,0 1 0,0-1 0,0 1-1,1-1 1,-1 1 0,0-1 0,0 1-1,0-1 1,0 0 0,1 1 0,-1-1 0,0 1-1,0-1 1,1 0 0,-1 1 0,0-1-1,0 1 1,1-1 0,-1 0 0,1 0 0,-1 1-1,0-1 1,1 0 0,-1 0 0,1 1-1,-1-1 1,0 0 0,2 0 0,-1 5 108,0 0-1,-1-1 1,1 1 0,-1 0 0,0 0-1,0-1 1,-1 9 0,0-5-63,1-5-60,0 1 0,0-1 0,0 1 0,0 0 0,0-1 1,1 1-1,-1-1 0,1 1 0,0-1 0,0 0 0,1 1 0,-1-1 0,0 0 1,1 0-1,0 0 0,0 0 0,0 0 0,0 0 0,1 0 0,-1-1 0,1 1 1,-1-1-1,1 0 0,0 0 0,0 0 0,0 0 0,0 0 0,0-1 1,0 1-1,1-1 0,-1 0 0,0 0 0,1 0 0,-1 0 0,1 0 0,4-1 1,1-5 155,0-1 1,-1 0 0,1 0-1,-1-1 1,14-15 0,-20 19-139,19-18-90,-2-1 0,0 0 0,-2-2 0,20-33-1,-29 43-447,-1 0 0,0 0 0,-1-1 0,-1 0 0,0 0 0,-1 0 0,-1 0 0,0-1 0,1-24 0,-4-3-1429,0 4 73</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3-29T04:29:03.159"/>
    </inkml:context>
    <inkml:brush xml:id="br0">
      <inkml:brushProperty name="width" value="0.05" units="cm"/>
      <inkml:brushProperty name="height" value="0.05" units="cm"/>
      <inkml:brushProperty name="color" value="#004F8B"/>
    </inkml:brush>
  </inkml:definitions>
  <inkml:trace contextRef="#ctx0" brushRef="#br0">60 404 364,'0'0'2015,"0"-4"2008,-2-13-1724,2 17-2260,-1 0 0,1 0-1,0 0 1,-1 0-1,1 0 1,-1 1-1,1-1 1,0 0-1,-1 0 1,1 0-1,0 1 1,-1-1-1,1 0 1,0 1-1,-1-1 1,1 0-1,0 1 1,0-1-1,-1 0 1,1 1 0,0-1-1,0 0 1,0 1-1,0-1 1,-1 1-1,1-1 1,0 1-1,0-1 1,0 1-1,0 2 673,0-11-566,0 8-100,0 1 0,0-1 0,1 0 0,-1 0-1,0 0 1,0 1 0,0-1 0,0 0 0,0 0 0,0 0 0,0 1 0,0-1 0,0 0-1,0 0 1,0 1 0,0-1 0,-1 0 0,1 0 0,0 0 0,0 1 0,0-1-1,0 0 1,0 0 0,0 0 0,0 1 0,0-1 0,-1 0 0,1 0 0,0 0 0,0 1-1,-2 0-38,1 0 0,0 0 0,0 0 0,0 0 0,0 0 0,0 1 0,0-1 0,0 0 0,1 1 0,-1-1 0,0 0 0,1 1 0,-1-1 0,1 1 0,-1 0 0,1-1 0,0 1 0,0-1 0,0 1 0,0 2 0,-4 41-42,-6 133 62,10-30-42,10-89 58,-10-59-31,10-38 397,-28-255-186,5 120-295,7 117 44,2 0 0,5-59 1,0 43-8,-1 71 30,37-20-32,-28 17 32,1 0 0,0 0-1,0 1 1,15-3-1,0 0-8,-22 5 5,0 1-1,1-1 1,-1 1-1,1 0 1,-1-1-1,1 2 1,-1-1-1,1 0 1,-1 1-1,1-1 1,-1 1 0,1 0-1,-1 0 1,0 1-1,0-1 1,0 1-1,4 2 1,5 3-3,-2 2 1,1-1 0,11 13-1,4 3 10,-7 2 10,-19-24-4,2 0 1,-1 0-1,0 0 1,0 0-1,1 0 1,-1 0-1,1 0 1,-1 0-1,1-1 1,3 3-1,-4-3 4,-1-2-9,0-3 2,0 3 10,0 2-14,0 0 3,0 0-1,-1 1 1,1-1 0,0 0 0,-1 0-1,1 0 1,-1 0 0,1 0 0,-1 0-1,0-1 1,1 1 0,-1 0 0,0 0-1,0 0 1,-1 1 0,-7 12-1,-9 38 38,-30 118 58,8-32-56,18-82-24,17-48-11,1 1-1,1 0 1,-1 0-1,1 0 0,1 1 1,0-1-1,-2 17 1,-1-10-8,5-14 5,-1-1 0,0 0-1,1 0 1,-1 0-1,1 1 1,-1-1-1,1 0 1,0 1 0,-1-1-1,1 0 1,0 1-1,0-1 1,0 0-1,0 1 1,0-1 0,0 1-1,1-1 1,-1 0-1,0 1 1,1-1-1,-1 0 1,1 0 0,-1 1-1,1-1 1,-1 0-1,1 0 1,0 0-1,0 1 1,1 0-1,1-7 25,0-1 0,0 1-1,-1 0 1,1-1-1,-1 1 1,0-1-1,-1 0 1,2-7-1,5-14 38,12-37-68,16-101 0,-5 16-53,-18 68 38,-11 59 23,1 1 0,7-24-1,-8 17 15,-4 16-44,2 12 26,0 0 0,0 0 0,0 0 0,0 0 0,-1 0 0,1 0 0,0 0 0,0-1 0,0 1 0,0 0 0,-1 0-1,1 0 1,0 0 0,0 0 0,0 0 0,0 0 0,-1 0 0,1 0 0,0 0 0,0 0 0,0 0 0,0 0 0,-1 0 0,1 0 0,0 0 0,0 0 0,0 0 0,-1 0 0,1 0-1,0 1 1,0-1 0,0 0 0,0 0 0,0 0 0,-1 0 0,1 0 0,0 0 0,0 0 0,0 1 0,0-1 0,0 0 0,0 0 0,0 0 0,-1 0 0,1 0 0,0 1 0,0-1-1,-11 38-154,-8 37 161,18-65 2,-1-1-1,1 0 1,-1 0-1,-1 0 1,-4 13-1,-5 15 18,-7 71 36,17-65-61,2-27-2,0-15 2,3-6-21,-1 0 12,1 0 0,-1 0 1,-1-1-1,1 1 0,-1-1 1,2-6-1,-2 6 3,18-101-40,-17 100 54,-1 0 0,-1 0 0,1 1 0,-1-1 0,-1-9 0,0-7 38,-2 22-76,-3 9-17,-6 15-49,-3 25 53,3-13 47,-9 53 1,13-50 5,5-27-4,0 1 0,1-1 0,0 22 0,2 48-42,0-81 38,0 1 0,0-1-1,0 0 1,0 0 0,0 1 0,0-1 0,0 0-1,0 0 1,0 1 0,0-1 0,0 0 0,0 0-1,0 0 1,0 1 0,0-1 0,0 0 0,1 0-1,-1 1 1,0-1 0,0 0 0,0 0 0,0 0-1,0 0 1,1 1 0,-1-1 0,0 0 0,0 0-1,0 0 1,1 0 0,-1 0 0,0 1 0,0-1-1,1 0 1,-1 0 0,0 0 0,0 0-1,0 0 1,1 0 0,-1 0 0,0 0 0,0 0-1,1 0 1,-1 0 0,0 0 0,0 0 0,1 0-1,-1 0 1,0 0 0,0 0 0,1 0 0,-1-1-1,0 1 1,0 0 0,0 0 0,1 0 0,-1 0-1,0 0 1,0-1 0,12-9-43,2-20 28,-2 0-1,-1-1 0,-1 0 1,-2-1-1,-1 0 0,-1 0 1,2-49-1,1-49 94,-27 152-185,-6 36 103,18-48 12,1 1 1,0 0-1,1 1 1,0-1-1,1 1 1,0 0-1,1-1 1,-1 24-1,3-32-9,1-2 1,-1-1 0,0 1 0,0-1 0,0 1 0,0 0 0,0-1-1,0 1 1,0 0 0,0-1 0,0 1 0,0-1 0,0 1 0,0 0 0,0-1 0,0 1 0,0-1 0,-1 1 0,1-1-1,0 1 1,0 0 0,-1-1 0,1 1 0,-1-1 0,1 1 0,0-1 0,-1 0 0,1 1 0,-1-1 0,1 1 0,-1-1-1,1 0 1,-1 1 0,1-1 0,-1 0 0,0 1 0,-1 0 19,12-19 30,0-78-67,-1 20 75,-9 75 10,-2 3-60,1-1-1,-1 1 1,0-1 0,1 1 0,-1-1-1,1 1 1,-1 0 0,1 0 0,0 0-1,-1 0 1,1 0 0,0 0 0,-1 3-1,-19 42 3,15-37-10,1 1 1,0-1 0,1 1-1,0 0 1,1 0 0,0 0-1,-2 19 1,4-26-17,-3 19-29,8-20-21,8-13-60,-9 5 114,1 0 0,-2 0 0,1 0 0,0 0 1,-1 0-1,0-1 0,1-6 0,12-26-7,-5 19 11,-4 9 3,0 0-1,-1-1 0,0 1 0,-1-1 0,0 0 0,-1 0 1,3-15-1,3 9-47,-9 17 7,0 0 0,0 0 0,0-1 0,0 1-1,1 0 1,-1 0 0,0 0 0,0-1 0,0 1-1,0 0 1,0 0 0,0 0 0,0 0 0,1-1 0,-1 1-1,0 0 1,0 0 0,0 0 0,0 0 0,1 0-1,-1 0 1,0-1 0,0 1 0,0 0 0,1 0 0,-1 0-1,0 0 1,0 0 0,0 0 0,1 0 0,-1 0-1,0 0 1,0 0 0,1 0 0,-1 0 0,0 0 0,0 0-1,0 0 1,1 0 0,-1 0 0,0 0 0,0 0 0,0 1-1,1-1 1,-1 0 0,0 0 0,0 0 0,0 0-1,0 0 1,1 0 0,-1 1 0,0-1 0,0 0 0,0 0-1,0 0 1,0 0 0,0 1 0,1-1 0,-1 0-1,0 0 1,0 1 0,-1 0-303,0-1-1,-1 1 0,1 0 1,0 0-1,0-1 1,-1 1-1,1-1 0,0 1 1,-1-1-1,1 0 0,0 1 1,-1-1-1,1 0 1,-1 0-1,1 0 0,-1 0 1,1 0-1,-3-1 1,3 1-137,-9 0-870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3-29T04:29:04.609"/>
    </inkml:context>
    <inkml:brush xml:id="br0">
      <inkml:brushProperty name="width" value="0.05" units="cm"/>
      <inkml:brushProperty name="height" value="0.05" units="cm"/>
      <inkml:brushProperty name="color" value="#004F8B"/>
    </inkml:brush>
  </inkml:definitions>
  <inkml:trace contextRef="#ctx0" brushRef="#br0">0 0 288,'0'0'1791,"8"11"410,9 6-1964,-13-12-3513</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3-29T04:29:44.881"/>
    </inkml:context>
    <inkml:brush xml:id="br0">
      <inkml:brushProperty name="width" value="0.05" units="cm"/>
      <inkml:brushProperty name="height" value="0.05" units="cm"/>
      <inkml:brushProperty name="color" value="#004F8B"/>
    </inkml:brush>
  </inkml:definitions>
  <inkml:trace contextRef="#ctx0" brushRef="#br0">136 60 4,'-6'-6'3388,"-16"-14"-2237,21 19-1130,0 1-1,0-1 1,0 1-1,0 0 1,0-1-1,0 1 1,-1 0 0,1 0-1,0 0 1,0 0-1,0 0 1,0 0-1,0 0 1,-1 0 0,1 1-1,0-1 1,0 0-1,0 1 1,0-1-1,-2 1 1,-10 3 347,11-4-135,-38-22 1016,27 14-1089,0 0 305,11 8-330,2 2 129,0 2-243,0 1-1,0-1 1,1 1 0,-1-1 0,1 1 0,0-1 0,0 0 0,3 9 0,4 7-49,-7-18 27,-1 0-1,1 1 0,0-1 0,-1 0 0,1 0 0,0 0 0,0 0 0,1 0 1,-1 0-1,0 0 0,1 0 0,-1 0 0,1-1 0,-1 1 0,4 2 0,-4-3 5,0 0 0,0-1-1,0 1 1,0-1-1,0 1 1,0-1-1,0 1 1,0-1-1,0 0 1,0 1 0,0-1-1,0 0 1,0 0-1,0 0 1,0 0-1,0 0 1,0 0 0,0 0-1,0 0 1,0 0-1,1 0 1,-1-1-1,0 1 1,0 0-1,0-1 1,0 1 0,0-1-1,0 1 1,-1-1-1,1 1 1,0-1-1,0 0 1,0 1 0,0-1-1,-1 0 1,1 0-1,0 0 1,-1 1-1,1-1 1,-1 0-1,1 0 1,-1 0 0,1 0-1,0-2 1,4-17 53,-5 19-41,1 0 0,0 0 0,-1 0 0,1 0-1,0-1 1,-1 1 0,0 0 0,1-1 0,-1 1-1,0 0 1,1 0 0,-1-1 0,0 1 0,0 0 0,0-1-1,0 1 1,-1 0 0,1-1 0,0 1 0,0 0-1,-1-1 1,1 1 0,-1 0 0,1 0 0,-1 0 0,1-1-1,-1 1 1,0 0 0,0 0 0,0 0 0,-1-1-1,2 1 16,-23-9 509,22 9-536,1 1 1,-1 0-1,1 0 1,0-1-1,-1 1 1,1 0-1,0 0 1,-1 0-1,1 0 1,-1-1-1,1 1 1,-1 0-1,1 0 1,0 0-1,-1 0 1,1 0-1,-1 0 1,1 0-1,-1 0 1,1 0-1,0 0 1,-1 1-1,1-1 1,-1 0 0,1 0-1,-1 0 1,1 0-1,0 1 1,-1-1-1,1 0 1,0 0-1,-1 1 1,1-1-1,0 0 1,-1 1-1,1-1 1,0 0-1,0 1 1,-1-1-1,1 0 1,0 1-1,0-1 1,0 1-1,-1-1 1,1 0-1,0 1 1,0-1-1,0 1 1,-18 22-64,15-12 37,0 0 0,0 1 0,1-1 0,1 1 0,0-1 0,0 14 0,1-20 18,0 0 0,0 0 0,1 0-1,0 0 1,0 0 0,0 0 0,0-1 0,1 1-1,0 0 1,-1-1 0,2 1 0,-1-1 0,1 0-1,-1 0 1,1 0 0,6 6 0,-5-7 3,0-1 1,0 1-1,0-1 0,0-1 1,1 1-1,-1 0 1,0-1-1,1 0 1,-1 0-1,1 0 0,0-1 1,-1 0-1,1 0 1,-1 0-1,1 0 1,0-1-1,-1 1 0,5-2 1,-6 1 4,0 1 0,0-1 0,-1 1 0,1-1 1,-1 0-1,1 0 0,0 0 0,-1-1 0,0 1 1,1-1-1,-1 1 0,0-1 0,0 0 0,0 0 0,0 0 1,0 0-1,0 0 0,0 0 0,-1 0 0,1-1 1,-1 1-1,1 0 0,-1-1 0,0 1 0,0-1 0,0 0 1,-1 1-1,1-1 0,0-4 0,-1-1 6,0-1 0,-1 1 0,0 0 1,-1 0-1,1 0 0,-1 0 0,-1 0 0,0 0 0,-6-12 0,6 15-7,1 1-1,-2-1 1,1 1-1,0 0 1,-1 0-1,1 1 1,-1-1-1,0 1 1,-1 0-1,1 0 1,0 0-1,-1 0 1,0 1-1,1 0 1,-1 0-1,-8-2 1,12 3-6,0 0 1,0 1 0,0-1-1,0 1 1,-1-1-1,1 1 1,0 0-1,0 0 1,0-1 0,-1 1-1,1 0 1,0 0-1,-1 0 1,1 0-1,0 1 1,0-1 0,0 0-1,-1 0 1,1 1-1,0-1 1,0 1-1,0-1 1,0 1-1,-1-1 1,1 1 0,0 0-1,0-1 1,0 1-1,0 0 1,1 0-1,-1 0 1,0 0 0,0 0-1,0 0 1,1 0-1,-1 0 1,0 0-1,1 0 1,-1 0 0,1 1-1,0-1 1,-1 0-1,1 0 1,0 0-1,0 1 1,-1-1 0,1 2-1,0 2-18,1 0-1,-1 0 1,1 0-1,0 0 0,0 0 1,0 0-1,0-1 1,1 1-1,4 7 1,-5-10-24,0 0 0,1 0 0,-1 0 0,1 0 0,0 0 0,-1-1-1,1 1 1,0-1 0,0 1 0,0-1 0,0 0 0,0 1 0,0-1 0,1 0 0,-1 0 0,0-1 0,1 1 0,-1 0 0,0-1 0,1 0 0,-1 1 0,1-1 0,-1 0 0,1 0 0,-1 0 0,0-1-1,1 1 1,-1 0 0,1-1 0,-1 0 0,0 1 0,1-1 0,-1 0 0,0 0 0,0-1 0,0 1 0,0 0 0,0-1 0,2-1 0,-2 1-132,0 1 1,0-1-1,0 0 0,-1 0 1,1 0-1,-1-1 1,1 1-1,-1 0 0,0-1 1,0 1-1,0 0 1,0-1-1,0 1 0,0-1 1,-1 0-1,1 1 1,-1-1-1,0 0 0,0 1 1,0-1-1,0 0 1,0 1-1,0-1 0,-2-4 1,-4-14-1127,4-6 65</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B4B52-5C2C-4E4A-9BA3-31BF185093F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72CD83B-EAFD-442D-9CD6-1E9CFBAC55C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EA0C395-4F99-4AF1-9945-D5F567E1BE43}"/>
              </a:ext>
            </a:extLst>
          </p:cNvPr>
          <p:cNvSpPr>
            <a:spLocks noGrp="1"/>
          </p:cNvSpPr>
          <p:nvPr>
            <p:ph type="dt" sz="half" idx="10"/>
          </p:nvPr>
        </p:nvSpPr>
        <p:spPr/>
        <p:txBody>
          <a:bodyPr/>
          <a:lstStyle/>
          <a:p>
            <a:fld id="{96F86A52-6608-45E0-97DE-DB0A0BE9BEC1}" type="datetimeFigureOut">
              <a:rPr lang="en-US" smtClean="0"/>
              <a:t>4/29/2025</a:t>
            </a:fld>
            <a:endParaRPr lang="en-US"/>
          </a:p>
        </p:txBody>
      </p:sp>
      <p:sp>
        <p:nvSpPr>
          <p:cNvPr id="5" name="Footer Placeholder 4">
            <a:extLst>
              <a:ext uri="{FF2B5EF4-FFF2-40B4-BE49-F238E27FC236}">
                <a16:creationId xmlns:a16="http://schemas.microsoft.com/office/drawing/2014/main" id="{BED6809C-5A6E-4C4A-ADCA-39A0C427BC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05C22E-4D18-4389-8E3B-DC94B62666C5}"/>
              </a:ext>
            </a:extLst>
          </p:cNvPr>
          <p:cNvSpPr>
            <a:spLocks noGrp="1"/>
          </p:cNvSpPr>
          <p:nvPr>
            <p:ph type="sldNum" sz="quarter" idx="12"/>
          </p:nvPr>
        </p:nvSpPr>
        <p:spPr/>
        <p:txBody>
          <a:bodyPr/>
          <a:lstStyle/>
          <a:p>
            <a:fld id="{4D99BA18-C6F7-4175-9511-36D7374547EB}" type="slidenum">
              <a:rPr lang="en-US" smtClean="0"/>
              <a:t>‹#›</a:t>
            </a:fld>
            <a:endParaRPr lang="en-US"/>
          </a:p>
        </p:txBody>
      </p:sp>
    </p:spTree>
    <p:extLst>
      <p:ext uri="{BB962C8B-B14F-4D97-AF65-F5344CB8AC3E}">
        <p14:creationId xmlns:p14="http://schemas.microsoft.com/office/powerpoint/2010/main" val="35295444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F958A-5C46-4DFD-A085-D654F8FD0C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09B6E30-879F-4DB5-8516-A704547D248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A58029-6382-4866-995D-15676E869296}"/>
              </a:ext>
            </a:extLst>
          </p:cNvPr>
          <p:cNvSpPr>
            <a:spLocks noGrp="1"/>
          </p:cNvSpPr>
          <p:nvPr>
            <p:ph type="dt" sz="half" idx="10"/>
          </p:nvPr>
        </p:nvSpPr>
        <p:spPr/>
        <p:txBody>
          <a:bodyPr/>
          <a:lstStyle/>
          <a:p>
            <a:fld id="{96F86A52-6608-45E0-97DE-DB0A0BE9BEC1}" type="datetimeFigureOut">
              <a:rPr lang="en-US" smtClean="0"/>
              <a:t>4/29/2025</a:t>
            </a:fld>
            <a:endParaRPr lang="en-US"/>
          </a:p>
        </p:txBody>
      </p:sp>
      <p:sp>
        <p:nvSpPr>
          <p:cNvPr id="5" name="Footer Placeholder 4">
            <a:extLst>
              <a:ext uri="{FF2B5EF4-FFF2-40B4-BE49-F238E27FC236}">
                <a16:creationId xmlns:a16="http://schemas.microsoft.com/office/drawing/2014/main" id="{6D97F827-0EEC-49E2-A67D-9775805BFF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B07053-DB99-4273-B43C-5108B4C65079}"/>
              </a:ext>
            </a:extLst>
          </p:cNvPr>
          <p:cNvSpPr>
            <a:spLocks noGrp="1"/>
          </p:cNvSpPr>
          <p:nvPr>
            <p:ph type="sldNum" sz="quarter" idx="12"/>
          </p:nvPr>
        </p:nvSpPr>
        <p:spPr/>
        <p:txBody>
          <a:bodyPr/>
          <a:lstStyle/>
          <a:p>
            <a:fld id="{4D99BA18-C6F7-4175-9511-36D7374547EB}" type="slidenum">
              <a:rPr lang="en-US" smtClean="0"/>
              <a:t>‹#›</a:t>
            </a:fld>
            <a:endParaRPr lang="en-US"/>
          </a:p>
        </p:txBody>
      </p:sp>
    </p:spTree>
    <p:extLst>
      <p:ext uri="{BB962C8B-B14F-4D97-AF65-F5344CB8AC3E}">
        <p14:creationId xmlns:p14="http://schemas.microsoft.com/office/powerpoint/2010/main" val="11465863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47807-9375-414D-B6A7-5E9AD39B5A8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D938215-5D29-46B5-B4A5-6B44A51B5CD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A2008A-A1D5-40A1-84A0-E31674B35C7F}"/>
              </a:ext>
            </a:extLst>
          </p:cNvPr>
          <p:cNvSpPr>
            <a:spLocks noGrp="1"/>
          </p:cNvSpPr>
          <p:nvPr>
            <p:ph type="dt" sz="half" idx="10"/>
          </p:nvPr>
        </p:nvSpPr>
        <p:spPr/>
        <p:txBody>
          <a:bodyPr/>
          <a:lstStyle/>
          <a:p>
            <a:fld id="{96F86A52-6608-45E0-97DE-DB0A0BE9BEC1}" type="datetimeFigureOut">
              <a:rPr lang="en-US" smtClean="0"/>
              <a:t>4/29/2025</a:t>
            </a:fld>
            <a:endParaRPr lang="en-US"/>
          </a:p>
        </p:txBody>
      </p:sp>
      <p:sp>
        <p:nvSpPr>
          <p:cNvPr id="5" name="Footer Placeholder 4">
            <a:extLst>
              <a:ext uri="{FF2B5EF4-FFF2-40B4-BE49-F238E27FC236}">
                <a16:creationId xmlns:a16="http://schemas.microsoft.com/office/drawing/2014/main" id="{CA2586E0-E55B-4D22-9744-A377E889EB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597EDF-369E-4534-95CF-5FED32391F11}"/>
              </a:ext>
            </a:extLst>
          </p:cNvPr>
          <p:cNvSpPr>
            <a:spLocks noGrp="1"/>
          </p:cNvSpPr>
          <p:nvPr>
            <p:ph type="sldNum" sz="quarter" idx="12"/>
          </p:nvPr>
        </p:nvSpPr>
        <p:spPr/>
        <p:txBody>
          <a:bodyPr/>
          <a:lstStyle/>
          <a:p>
            <a:fld id="{4D99BA18-C6F7-4175-9511-36D7374547EB}" type="slidenum">
              <a:rPr lang="en-US" smtClean="0"/>
              <a:t>‹#›</a:t>
            </a:fld>
            <a:endParaRPr lang="en-US"/>
          </a:p>
        </p:txBody>
      </p:sp>
    </p:spTree>
    <p:extLst>
      <p:ext uri="{BB962C8B-B14F-4D97-AF65-F5344CB8AC3E}">
        <p14:creationId xmlns:p14="http://schemas.microsoft.com/office/powerpoint/2010/main" val="4105723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045AA-6539-4E17-9FE8-AFD86F009E5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CB5CDB-B91C-47C4-A8DB-941482DAE88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366A23F-80A1-4A70-9509-6A49AA3A9AF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E830578-811E-43A9-82AF-FEF4DC697BFC}"/>
              </a:ext>
            </a:extLst>
          </p:cNvPr>
          <p:cNvSpPr>
            <a:spLocks noGrp="1"/>
          </p:cNvSpPr>
          <p:nvPr>
            <p:ph type="dt" sz="half" idx="10"/>
          </p:nvPr>
        </p:nvSpPr>
        <p:spPr/>
        <p:txBody>
          <a:bodyPr/>
          <a:lstStyle/>
          <a:p>
            <a:fld id="{96F86A52-6608-45E0-97DE-DB0A0BE9BEC1}" type="datetimeFigureOut">
              <a:rPr lang="en-US" smtClean="0"/>
              <a:t>4/29/2025</a:t>
            </a:fld>
            <a:endParaRPr lang="en-US"/>
          </a:p>
        </p:txBody>
      </p:sp>
      <p:sp>
        <p:nvSpPr>
          <p:cNvPr id="6" name="Footer Placeholder 5">
            <a:extLst>
              <a:ext uri="{FF2B5EF4-FFF2-40B4-BE49-F238E27FC236}">
                <a16:creationId xmlns:a16="http://schemas.microsoft.com/office/drawing/2014/main" id="{F5A56CC7-71B5-484E-A350-AB4997DD8D1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E9A9B4-76C5-412F-8224-54839442620E}"/>
              </a:ext>
            </a:extLst>
          </p:cNvPr>
          <p:cNvSpPr>
            <a:spLocks noGrp="1"/>
          </p:cNvSpPr>
          <p:nvPr>
            <p:ph type="sldNum" sz="quarter" idx="12"/>
          </p:nvPr>
        </p:nvSpPr>
        <p:spPr/>
        <p:txBody>
          <a:bodyPr/>
          <a:lstStyle/>
          <a:p>
            <a:fld id="{4D99BA18-C6F7-4175-9511-36D7374547EB}" type="slidenum">
              <a:rPr lang="en-US" smtClean="0"/>
              <a:t>‹#›</a:t>
            </a:fld>
            <a:endParaRPr lang="en-US"/>
          </a:p>
        </p:txBody>
      </p:sp>
    </p:spTree>
    <p:extLst>
      <p:ext uri="{BB962C8B-B14F-4D97-AF65-F5344CB8AC3E}">
        <p14:creationId xmlns:p14="http://schemas.microsoft.com/office/powerpoint/2010/main" val="2223379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9148E-EBFF-4494-872A-0C122BEC594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D8E8140-43BB-485F-BF30-66A98B3505D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ACBDF9B-B2CE-44AF-BF19-9129D79E4F9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29A0C98-274A-4787-8770-24248A2788F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38CF06C-4A01-4A3B-8CD4-37AA6CE958C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F2B2F4F-0D80-4C96-9E79-668370252D1B}"/>
              </a:ext>
            </a:extLst>
          </p:cNvPr>
          <p:cNvSpPr>
            <a:spLocks noGrp="1"/>
          </p:cNvSpPr>
          <p:nvPr>
            <p:ph type="dt" sz="half" idx="10"/>
          </p:nvPr>
        </p:nvSpPr>
        <p:spPr/>
        <p:txBody>
          <a:bodyPr/>
          <a:lstStyle/>
          <a:p>
            <a:fld id="{96F86A52-6608-45E0-97DE-DB0A0BE9BEC1}" type="datetimeFigureOut">
              <a:rPr lang="en-US" smtClean="0"/>
              <a:t>4/29/2025</a:t>
            </a:fld>
            <a:endParaRPr lang="en-US"/>
          </a:p>
        </p:txBody>
      </p:sp>
      <p:sp>
        <p:nvSpPr>
          <p:cNvPr id="8" name="Footer Placeholder 7">
            <a:extLst>
              <a:ext uri="{FF2B5EF4-FFF2-40B4-BE49-F238E27FC236}">
                <a16:creationId xmlns:a16="http://schemas.microsoft.com/office/drawing/2014/main" id="{164F8BD3-59BE-41F4-8DF8-A6427AC6FAA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6665495-6148-4108-8B78-BFED911F02BA}"/>
              </a:ext>
            </a:extLst>
          </p:cNvPr>
          <p:cNvSpPr>
            <a:spLocks noGrp="1"/>
          </p:cNvSpPr>
          <p:nvPr>
            <p:ph type="sldNum" sz="quarter" idx="12"/>
          </p:nvPr>
        </p:nvSpPr>
        <p:spPr/>
        <p:txBody>
          <a:bodyPr/>
          <a:lstStyle/>
          <a:p>
            <a:fld id="{4D99BA18-C6F7-4175-9511-36D7374547EB}" type="slidenum">
              <a:rPr lang="en-US" smtClean="0"/>
              <a:t>‹#›</a:t>
            </a:fld>
            <a:endParaRPr lang="en-US"/>
          </a:p>
        </p:txBody>
      </p:sp>
    </p:spTree>
    <p:extLst>
      <p:ext uri="{BB962C8B-B14F-4D97-AF65-F5344CB8AC3E}">
        <p14:creationId xmlns:p14="http://schemas.microsoft.com/office/powerpoint/2010/main" val="11267779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01A376-44BE-4851-9E26-CBC12513839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F59DF19-B02E-4100-8A66-1034012B5301}"/>
              </a:ext>
            </a:extLst>
          </p:cNvPr>
          <p:cNvSpPr>
            <a:spLocks noGrp="1"/>
          </p:cNvSpPr>
          <p:nvPr>
            <p:ph type="dt" sz="half" idx="10"/>
          </p:nvPr>
        </p:nvSpPr>
        <p:spPr/>
        <p:txBody>
          <a:bodyPr/>
          <a:lstStyle/>
          <a:p>
            <a:fld id="{96F86A52-6608-45E0-97DE-DB0A0BE9BEC1}" type="datetimeFigureOut">
              <a:rPr lang="en-US" smtClean="0"/>
              <a:t>4/29/2025</a:t>
            </a:fld>
            <a:endParaRPr lang="en-US"/>
          </a:p>
        </p:txBody>
      </p:sp>
      <p:sp>
        <p:nvSpPr>
          <p:cNvPr id="4" name="Footer Placeholder 3">
            <a:extLst>
              <a:ext uri="{FF2B5EF4-FFF2-40B4-BE49-F238E27FC236}">
                <a16:creationId xmlns:a16="http://schemas.microsoft.com/office/drawing/2014/main" id="{6828C644-C233-40CC-B27E-E7F08F37B1E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652E1CF-6173-40C4-BC66-6F4520A8EC63}"/>
              </a:ext>
            </a:extLst>
          </p:cNvPr>
          <p:cNvSpPr>
            <a:spLocks noGrp="1"/>
          </p:cNvSpPr>
          <p:nvPr>
            <p:ph type="sldNum" sz="quarter" idx="12"/>
          </p:nvPr>
        </p:nvSpPr>
        <p:spPr/>
        <p:txBody>
          <a:bodyPr/>
          <a:lstStyle/>
          <a:p>
            <a:fld id="{4D99BA18-C6F7-4175-9511-36D7374547EB}" type="slidenum">
              <a:rPr lang="en-US" smtClean="0"/>
              <a:t>‹#›</a:t>
            </a:fld>
            <a:endParaRPr lang="en-US"/>
          </a:p>
        </p:txBody>
      </p:sp>
    </p:spTree>
    <p:extLst>
      <p:ext uri="{BB962C8B-B14F-4D97-AF65-F5344CB8AC3E}">
        <p14:creationId xmlns:p14="http://schemas.microsoft.com/office/powerpoint/2010/main" val="17334827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46B4B8-DA0D-405B-AFD2-99C9DE2699A2}"/>
              </a:ext>
            </a:extLst>
          </p:cNvPr>
          <p:cNvSpPr>
            <a:spLocks noGrp="1"/>
          </p:cNvSpPr>
          <p:nvPr>
            <p:ph type="dt" sz="half" idx="10"/>
          </p:nvPr>
        </p:nvSpPr>
        <p:spPr/>
        <p:txBody>
          <a:bodyPr/>
          <a:lstStyle/>
          <a:p>
            <a:fld id="{96F86A52-6608-45E0-97DE-DB0A0BE9BEC1}" type="datetimeFigureOut">
              <a:rPr lang="en-US" smtClean="0"/>
              <a:t>4/29/2025</a:t>
            </a:fld>
            <a:endParaRPr lang="en-US"/>
          </a:p>
        </p:txBody>
      </p:sp>
      <p:sp>
        <p:nvSpPr>
          <p:cNvPr id="3" name="Footer Placeholder 2">
            <a:extLst>
              <a:ext uri="{FF2B5EF4-FFF2-40B4-BE49-F238E27FC236}">
                <a16:creationId xmlns:a16="http://schemas.microsoft.com/office/drawing/2014/main" id="{8EB85ADD-13EA-4B23-88FA-EA2EFA8076C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DA53C91-08AF-425C-87FE-4CC9E91A0722}"/>
              </a:ext>
            </a:extLst>
          </p:cNvPr>
          <p:cNvSpPr>
            <a:spLocks noGrp="1"/>
          </p:cNvSpPr>
          <p:nvPr>
            <p:ph type="sldNum" sz="quarter" idx="12"/>
          </p:nvPr>
        </p:nvSpPr>
        <p:spPr/>
        <p:txBody>
          <a:bodyPr/>
          <a:lstStyle/>
          <a:p>
            <a:fld id="{4D99BA18-C6F7-4175-9511-36D7374547EB}" type="slidenum">
              <a:rPr lang="en-US" smtClean="0"/>
              <a:t>‹#›</a:t>
            </a:fld>
            <a:endParaRPr lang="en-US"/>
          </a:p>
        </p:txBody>
      </p:sp>
    </p:spTree>
    <p:extLst>
      <p:ext uri="{BB962C8B-B14F-4D97-AF65-F5344CB8AC3E}">
        <p14:creationId xmlns:p14="http://schemas.microsoft.com/office/powerpoint/2010/main" val="25122268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6618B-5010-4DA2-B8D7-1683A0C10C6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215114F-79DB-424D-A429-BD9DAE2D53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AA96EFF-AAB0-4534-B5A5-6AB1387727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2DD9F0-8E72-4884-BC50-FD86EB4D3B44}"/>
              </a:ext>
            </a:extLst>
          </p:cNvPr>
          <p:cNvSpPr>
            <a:spLocks noGrp="1"/>
          </p:cNvSpPr>
          <p:nvPr>
            <p:ph type="dt" sz="half" idx="10"/>
          </p:nvPr>
        </p:nvSpPr>
        <p:spPr/>
        <p:txBody>
          <a:bodyPr/>
          <a:lstStyle/>
          <a:p>
            <a:fld id="{96F86A52-6608-45E0-97DE-DB0A0BE9BEC1}" type="datetimeFigureOut">
              <a:rPr lang="en-US" smtClean="0"/>
              <a:t>4/29/2025</a:t>
            </a:fld>
            <a:endParaRPr lang="en-US"/>
          </a:p>
        </p:txBody>
      </p:sp>
      <p:sp>
        <p:nvSpPr>
          <p:cNvPr id="6" name="Footer Placeholder 5">
            <a:extLst>
              <a:ext uri="{FF2B5EF4-FFF2-40B4-BE49-F238E27FC236}">
                <a16:creationId xmlns:a16="http://schemas.microsoft.com/office/drawing/2014/main" id="{54260019-CF44-4973-8A00-706A2F5F6AD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D678B2B-AA64-4DBA-8FFF-5C521B85A499}"/>
              </a:ext>
            </a:extLst>
          </p:cNvPr>
          <p:cNvSpPr>
            <a:spLocks noGrp="1"/>
          </p:cNvSpPr>
          <p:nvPr>
            <p:ph type="sldNum" sz="quarter" idx="12"/>
          </p:nvPr>
        </p:nvSpPr>
        <p:spPr/>
        <p:txBody>
          <a:bodyPr/>
          <a:lstStyle/>
          <a:p>
            <a:fld id="{4D99BA18-C6F7-4175-9511-36D7374547EB}" type="slidenum">
              <a:rPr lang="en-US" smtClean="0"/>
              <a:t>‹#›</a:t>
            </a:fld>
            <a:endParaRPr lang="en-US"/>
          </a:p>
        </p:txBody>
      </p:sp>
    </p:spTree>
    <p:extLst>
      <p:ext uri="{BB962C8B-B14F-4D97-AF65-F5344CB8AC3E}">
        <p14:creationId xmlns:p14="http://schemas.microsoft.com/office/powerpoint/2010/main" val="8961918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4D340-ECD1-480E-851E-6E32124035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9AC7BE8-70DE-45B0-97AC-1090FF31263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B5054DF-FB9B-40B3-9C4D-B6DEDBAD4A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4463F8-3CC1-4369-AE9D-C86B3200AC5F}"/>
              </a:ext>
            </a:extLst>
          </p:cNvPr>
          <p:cNvSpPr>
            <a:spLocks noGrp="1"/>
          </p:cNvSpPr>
          <p:nvPr>
            <p:ph type="dt" sz="half" idx="10"/>
          </p:nvPr>
        </p:nvSpPr>
        <p:spPr/>
        <p:txBody>
          <a:bodyPr/>
          <a:lstStyle/>
          <a:p>
            <a:fld id="{96F86A52-6608-45E0-97DE-DB0A0BE9BEC1}" type="datetimeFigureOut">
              <a:rPr lang="en-US" smtClean="0"/>
              <a:t>4/29/2025</a:t>
            </a:fld>
            <a:endParaRPr lang="en-US"/>
          </a:p>
        </p:txBody>
      </p:sp>
      <p:sp>
        <p:nvSpPr>
          <p:cNvPr id="6" name="Footer Placeholder 5">
            <a:extLst>
              <a:ext uri="{FF2B5EF4-FFF2-40B4-BE49-F238E27FC236}">
                <a16:creationId xmlns:a16="http://schemas.microsoft.com/office/drawing/2014/main" id="{EBDCD53E-BE2E-45B1-B813-85102D1455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C28446-824F-462A-8FC4-DF32EA195413}"/>
              </a:ext>
            </a:extLst>
          </p:cNvPr>
          <p:cNvSpPr>
            <a:spLocks noGrp="1"/>
          </p:cNvSpPr>
          <p:nvPr>
            <p:ph type="sldNum" sz="quarter" idx="12"/>
          </p:nvPr>
        </p:nvSpPr>
        <p:spPr/>
        <p:txBody>
          <a:bodyPr/>
          <a:lstStyle/>
          <a:p>
            <a:fld id="{4D99BA18-C6F7-4175-9511-36D7374547EB}" type="slidenum">
              <a:rPr lang="en-US" smtClean="0"/>
              <a:t>‹#›</a:t>
            </a:fld>
            <a:endParaRPr lang="en-US"/>
          </a:p>
        </p:txBody>
      </p:sp>
    </p:spTree>
    <p:extLst>
      <p:ext uri="{BB962C8B-B14F-4D97-AF65-F5344CB8AC3E}">
        <p14:creationId xmlns:p14="http://schemas.microsoft.com/office/powerpoint/2010/main" val="2883409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6DAE2-3A46-4A4A-9322-411C1D74D58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3D1826C-DE02-4830-ADD0-1A361F1F2D4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F4749FE-8588-491D-92A1-814105E8C186}"/>
              </a:ext>
            </a:extLst>
          </p:cNvPr>
          <p:cNvSpPr>
            <a:spLocks noGrp="1"/>
          </p:cNvSpPr>
          <p:nvPr>
            <p:ph type="dt" sz="half" idx="10"/>
          </p:nvPr>
        </p:nvSpPr>
        <p:spPr/>
        <p:txBody>
          <a:bodyPr/>
          <a:lstStyle/>
          <a:p>
            <a:fld id="{96F86A52-6608-45E0-97DE-DB0A0BE9BEC1}" type="datetimeFigureOut">
              <a:rPr lang="en-US" smtClean="0"/>
              <a:t>4/29/2025</a:t>
            </a:fld>
            <a:endParaRPr lang="en-US"/>
          </a:p>
        </p:txBody>
      </p:sp>
      <p:sp>
        <p:nvSpPr>
          <p:cNvPr id="5" name="Footer Placeholder 4">
            <a:extLst>
              <a:ext uri="{FF2B5EF4-FFF2-40B4-BE49-F238E27FC236}">
                <a16:creationId xmlns:a16="http://schemas.microsoft.com/office/drawing/2014/main" id="{0A96B224-619C-4698-9B69-5E9873320B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AE8E04-5B72-459D-9D44-C9F3F598705D}"/>
              </a:ext>
            </a:extLst>
          </p:cNvPr>
          <p:cNvSpPr>
            <a:spLocks noGrp="1"/>
          </p:cNvSpPr>
          <p:nvPr>
            <p:ph type="sldNum" sz="quarter" idx="12"/>
          </p:nvPr>
        </p:nvSpPr>
        <p:spPr/>
        <p:txBody>
          <a:bodyPr/>
          <a:lstStyle/>
          <a:p>
            <a:fld id="{4D99BA18-C6F7-4175-9511-36D7374547EB}" type="slidenum">
              <a:rPr lang="en-US" smtClean="0"/>
              <a:t>‹#›</a:t>
            </a:fld>
            <a:endParaRPr lang="en-US"/>
          </a:p>
        </p:txBody>
      </p:sp>
    </p:spTree>
    <p:extLst>
      <p:ext uri="{BB962C8B-B14F-4D97-AF65-F5344CB8AC3E}">
        <p14:creationId xmlns:p14="http://schemas.microsoft.com/office/powerpoint/2010/main" val="15805929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8E9C31D-6FC8-4834-8339-B8998A48E0A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0093C30-D4DE-4ABA-B563-E17612DB984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361484-78ED-4854-B178-6A60A9F14865}"/>
              </a:ext>
            </a:extLst>
          </p:cNvPr>
          <p:cNvSpPr>
            <a:spLocks noGrp="1"/>
          </p:cNvSpPr>
          <p:nvPr>
            <p:ph type="dt" sz="half" idx="10"/>
          </p:nvPr>
        </p:nvSpPr>
        <p:spPr/>
        <p:txBody>
          <a:bodyPr/>
          <a:lstStyle/>
          <a:p>
            <a:fld id="{96F86A52-6608-45E0-97DE-DB0A0BE9BEC1}" type="datetimeFigureOut">
              <a:rPr lang="en-US" smtClean="0"/>
              <a:t>4/29/2025</a:t>
            </a:fld>
            <a:endParaRPr lang="en-US"/>
          </a:p>
        </p:txBody>
      </p:sp>
      <p:sp>
        <p:nvSpPr>
          <p:cNvPr id="5" name="Footer Placeholder 4">
            <a:extLst>
              <a:ext uri="{FF2B5EF4-FFF2-40B4-BE49-F238E27FC236}">
                <a16:creationId xmlns:a16="http://schemas.microsoft.com/office/drawing/2014/main" id="{55AAB9A1-7CF4-4F8A-9FB7-8C0A0F485B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4AD03C-E47B-4BCA-BF98-E5FD985E556A}"/>
              </a:ext>
            </a:extLst>
          </p:cNvPr>
          <p:cNvSpPr>
            <a:spLocks noGrp="1"/>
          </p:cNvSpPr>
          <p:nvPr>
            <p:ph type="sldNum" sz="quarter" idx="12"/>
          </p:nvPr>
        </p:nvSpPr>
        <p:spPr/>
        <p:txBody>
          <a:bodyPr/>
          <a:lstStyle/>
          <a:p>
            <a:fld id="{4D99BA18-C6F7-4175-9511-36D7374547EB}" type="slidenum">
              <a:rPr lang="en-US" smtClean="0"/>
              <a:t>‹#›</a:t>
            </a:fld>
            <a:endParaRPr lang="en-US"/>
          </a:p>
        </p:txBody>
      </p:sp>
    </p:spTree>
    <p:extLst>
      <p:ext uri="{BB962C8B-B14F-4D97-AF65-F5344CB8AC3E}">
        <p14:creationId xmlns:p14="http://schemas.microsoft.com/office/powerpoint/2010/main" val="39487084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6069FB-B69B-4A51-B128-2675B14ED8D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51C5897-C35A-4282-9D4D-45F3A7F9556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8EEE5F-BC92-46F3-8CA3-4E0FF30B8DD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F86A52-6608-45E0-97DE-DB0A0BE9BEC1}" type="datetimeFigureOut">
              <a:rPr lang="en-US" smtClean="0"/>
              <a:t>4/29/2025</a:t>
            </a:fld>
            <a:endParaRPr lang="en-US"/>
          </a:p>
        </p:txBody>
      </p:sp>
      <p:sp>
        <p:nvSpPr>
          <p:cNvPr id="5" name="Footer Placeholder 4">
            <a:extLst>
              <a:ext uri="{FF2B5EF4-FFF2-40B4-BE49-F238E27FC236}">
                <a16:creationId xmlns:a16="http://schemas.microsoft.com/office/drawing/2014/main" id="{6FCEF1A7-4882-4B44-9EA0-9AA2E88D30F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F794C30-63BA-479D-B8C0-2B566B48FA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99BA18-C6F7-4175-9511-36D7374547EB}" type="slidenum">
              <a:rPr lang="en-US" smtClean="0"/>
              <a:t>‹#›</a:t>
            </a:fld>
            <a:endParaRPr lang="en-US"/>
          </a:p>
        </p:txBody>
      </p:sp>
    </p:spTree>
    <p:extLst>
      <p:ext uri="{BB962C8B-B14F-4D97-AF65-F5344CB8AC3E}">
        <p14:creationId xmlns:p14="http://schemas.microsoft.com/office/powerpoint/2010/main" val="12521152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51" Type="http://schemas.openxmlformats.org/officeDocument/2006/relationships/image" Target="../media/image42.png"/><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 Id="rId4" Type="http://schemas.openxmlformats.org/officeDocument/2006/relationships/customXml" Target="../ink/ink1.xml"/></Relationships>
</file>

<file path=ppt/slides/_rels/slide1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25.png"/><Relationship Id="rId2"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8" Type="http://schemas.openxmlformats.org/officeDocument/2006/relationships/image" Target="../media/image429.png"/><Relationship Id="rId3" Type="http://schemas.openxmlformats.org/officeDocument/2006/relationships/image" Target="../media/image48.png"/><Relationship Id="rId7" Type="http://schemas.openxmlformats.org/officeDocument/2006/relationships/customXml" Target="../ink/ink2.xml"/><Relationship Id="rId2" Type="http://schemas.openxmlformats.org/officeDocument/2006/relationships/image" Target="../media/image47.png"/><Relationship Id="rId1" Type="http://schemas.openxmlformats.org/officeDocument/2006/relationships/slideLayout" Target="../slideLayouts/slideLayout7.xml"/><Relationship Id="rId6" Type="http://schemas.openxmlformats.org/officeDocument/2006/relationships/image" Target="../media/image51.png"/><Relationship Id="rId11" Type="http://schemas.openxmlformats.org/officeDocument/2006/relationships/customXml" Target="../ink/ink4.xml"/><Relationship Id="rId5" Type="http://schemas.openxmlformats.org/officeDocument/2006/relationships/image" Target="../media/image50.png"/><Relationship Id="rId10" Type="http://schemas.openxmlformats.org/officeDocument/2006/relationships/image" Target="../media/image430.png"/><Relationship Id="rId94" Type="http://schemas.openxmlformats.org/officeDocument/2006/relationships/image" Target="../media/image472.png"/><Relationship Id="rId4" Type="http://schemas.openxmlformats.org/officeDocument/2006/relationships/image" Target="../media/image49.png"/><Relationship Id="rId9" Type="http://schemas.openxmlformats.org/officeDocument/2006/relationships/customXml" Target="../ink/ink3.xml"/></Relationships>
</file>

<file path=ppt/slides/_rels/slide2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7.xml"/><Relationship Id="rId4" Type="http://schemas.openxmlformats.org/officeDocument/2006/relationships/image" Target="../media/image54.png"/></Relationships>
</file>

<file path=ppt/slides/_rels/slide22.xml.rels><?xml version="1.0" encoding="UTF-8" standalone="yes"?>
<Relationships xmlns="http://schemas.openxmlformats.org/package/2006/relationships"><Relationship Id="rId3" Type="http://schemas.openxmlformats.org/officeDocument/2006/relationships/image" Target="../media/image56.png"/><Relationship Id="rId125" Type="http://schemas.openxmlformats.org/officeDocument/2006/relationships/image" Target="../media/image538.png"/><Relationship Id="rId124" Type="http://schemas.openxmlformats.org/officeDocument/2006/relationships/customXml" Target="../ink/ink6.xml"/><Relationship Id="rId137" Type="http://schemas.openxmlformats.org/officeDocument/2006/relationships/image" Target="../media/image544.png"/><Relationship Id="rId2" Type="http://schemas.openxmlformats.org/officeDocument/2006/relationships/image" Target="../media/image55.png"/><Relationship Id="rId1" Type="http://schemas.openxmlformats.org/officeDocument/2006/relationships/slideLayout" Target="../slideLayouts/slideLayout7.xml"/><Relationship Id="rId123" Type="http://schemas.openxmlformats.org/officeDocument/2006/relationships/image" Target="../media/image537.png"/><Relationship Id="rId4" Type="http://schemas.openxmlformats.org/officeDocument/2006/relationships/customXml" Target="../ink/ink5.xml"/><Relationship Id="rId126" Type="http://schemas.openxmlformats.org/officeDocument/2006/relationships/customXml" Target="../ink/ink7.xml"/></Relationships>
</file>

<file path=ppt/slides/_rels/slide2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7.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2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7.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png"/></Relationships>
</file>

<file path=ppt/slides/_rels/slide28.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7.xml"/><Relationship Id="rId4" Type="http://schemas.openxmlformats.org/officeDocument/2006/relationships/image" Target="../media/image76.png"/></Relationships>
</file>

<file path=ppt/slides/_rels/slide30.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7.xml"/><Relationship Id="rId5" Type="http://schemas.openxmlformats.org/officeDocument/2006/relationships/image" Target="../media/image80.png"/><Relationship Id="rId4" Type="http://schemas.openxmlformats.org/officeDocument/2006/relationships/image" Target="../media/image79.png"/></Relationships>
</file>

<file path=ppt/slides/_rels/slide31.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7.xml"/><Relationship Id="rId5" Type="http://schemas.openxmlformats.org/officeDocument/2006/relationships/image" Target="../media/image87.png"/><Relationship Id="rId4"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0A0F05-99AA-435A-8CD5-66EB98EFA5DE}"/>
              </a:ext>
            </a:extLst>
          </p:cNvPr>
          <p:cNvSpPr>
            <a:spLocks noGrp="1"/>
          </p:cNvSpPr>
          <p:nvPr>
            <p:ph type="ctrTitle"/>
          </p:nvPr>
        </p:nvSpPr>
        <p:spPr/>
        <p:txBody>
          <a:bodyPr>
            <a:normAutofit/>
          </a:bodyPr>
          <a:lstStyle/>
          <a:p>
            <a:r>
              <a:rPr lang="en-US" sz="4400"/>
              <a:t>Prategangan DC (DC Biasing) BJT </a:t>
            </a:r>
            <a:endParaRPr lang="en-US" sz="4400" dirty="0"/>
          </a:p>
        </p:txBody>
      </p:sp>
      <p:sp>
        <p:nvSpPr>
          <p:cNvPr id="3" name="Subtitle 2">
            <a:extLst>
              <a:ext uri="{FF2B5EF4-FFF2-40B4-BE49-F238E27FC236}">
                <a16:creationId xmlns:a16="http://schemas.microsoft.com/office/drawing/2014/main" id="{27231BFC-3413-4F1D-9298-A0B237507BCC}"/>
              </a:ext>
            </a:extLst>
          </p:cNvPr>
          <p:cNvSpPr>
            <a:spLocks noGrp="1"/>
          </p:cNvSpPr>
          <p:nvPr>
            <p:ph type="subTitle" idx="1"/>
          </p:nvPr>
        </p:nvSpPr>
        <p:spPr/>
        <p:txBody>
          <a:bodyPr>
            <a:normAutofit/>
          </a:bodyPr>
          <a:lstStyle/>
          <a:p>
            <a:endParaRPr lang="en-US" sz="2000" dirty="0"/>
          </a:p>
        </p:txBody>
      </p:sp>
    </p:spTree>
    <p:extLst>
      <p:ext uri="{BB962C8B-B14F-4D97-AF65-F5344CB8AC3E}">
        <p14:creationId xmlns:p14="http://schemas.microsoft.com/office/powerpoint/2010/main" val="26670423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990599" y="365127"/>
            <a:ext cx="10144125" cy="1325563"/>
          </a:xfrm>
          <a:ln>
            <a:noFill/>
            <a:miter lim="800000"/>
            <a:headEnd/>
            <a:tailEnd/>
          </a:ln>
        </p:spPr>
        <p:txBody>
          <a:bodyPr>
            <a:normAutofit/>
          </a:bodyPr>
          <a:lstStyle/>
          <a:p>
            <a:pPr eaLnBrk="1" hangingPunct="1"/>
            <a:r>
              <a:rPr lang="en-US" sz="4000"/>
              <a:t>Apa itu Prategangan DC (DC Biasing) Transistor?</a:t>
            </a:r>
            <a:endParaRPr lang="en-GB" sz="4000" dirty="0"/>
          </a:p>
        </p:txBody>
      </p:sp>
      <p:sp>
        <p:nvSpPr>
          <p:cNvPr id="3" name="Content Placeholder 2"/>
          <p:cNvSpPr>
            <a:spLocks noGrp="1"/>
          </p:cNvSpPr>
          <p:nvPr>
            <p:ph idx="1"/>
          </p:nvPr>
        </p:nvSpPr>
        <p:spPr>
          <a:xfrm>
            <a:off x="1171575" y="2050181"/>
            <a:ext cx="9620250" cy="4126782"/>
          </a:xfrm>
        </p:spPr>
        <p:txBody>
          <a:bodyPr>
            <a:normAutofit/>
          </a:bodyPr>
          <a:lstStyle/>
          <a:p>
            <a:r>
              <a:rPr lang="en-ID"/>
              <a:t>Prategangan (biasing) transistor adalah teknik pengaturan tegangan/arus DC pada kaki-kaki transistor dengan menambahkan resistor basis, kolektor dan emitor dengan nilai yang tepat untuk memastikan transistor bekerja pada wilayah operasi (aktif, cutoff, atau saturasi), titik kerja dan aplikasi yang diinginkan </a:t>
            </a:r>
            <a:r>
              <a:rPr lang="en-US"/>
              <a:t>agar dapat memberikan respons yang linier terhadap sinyal AC yang </a:t>
            </a:r>
            <a:r>
              <a:rPr lang="en-ID"/>
              <a:t>diinputkan. </a:t>
            </a:r>
          </a:p>
          <a:p>
            <a:endParaRPr lang="en-US"/>
          </a:p>
          <a:p>
            <a:endParaRPr lang="en-US"/>
          </a:p>
        </p:txBody>
      </p:sp>
    </p:spTree>
    <p:extLst>
      <p:ext uri="{BB962C8B-B14F-4D97-AF65-F5344CB8AC3E}">
        <p14:creationId xmlns:p14="http://schemas.microsoft.com/office/powerpoint/2010/main" val="40952572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149E4-D853-442C-9092-E99C6D50BC47}"/>
              </a:ext>
            </a:extLst>
          </p:cNvPr>
          <p:cNvSpPr>
            <a:spLocks noGrp="1"/>
          </p:cNvSpPr>
          <p:nvPr>
            <p:ph type="title"/>
          </p:nvPr>
        </p:nvSpPr>
        <p:spPr/>
        <p:txBody>
          <a:bodyPr>
            <a:normAutofit/>
          </a:bodyPr>
          <a:lstStyle/>
          <a:p>
            <a:r>
              <a:rPr lang="en-ID"/>
              <a:t>Tujuan Prategangan</a:t>
            </a:r>
          </a:p>
        </p:txBody>
      </p:sp>
      <p:sp>
        <p:nvSpPr>
          <p:cNvPr id="3" name="Content Placeholder 2">
            <a:extLst>
              <a:ext uri="{FF2B5EF4-FFF2-40B4-BE49-F238E27FC236}">
                <a16:creationId xmlns:a16="http://schemas.microsoft.com/office/drawing/2014/main" id="{66F914B1-0677-4D1A-B1EF-236CE4AC5E78}"/>
              </a:ext>
            </a:extLst>
          </p:cNvPr>
          <p:cNvSpPr>
            <a:spLocks noGrp="1"/>
          </p:cNvSpPr>
          <p:nvPr>
            <p:ph idx="1"/>
          </p:nvPr>
        </p:nvSpPr>
        <p:spPr/>
        <p:txBody>
          <a:bodyPr>
            <a:normAutofit/>
          </a:bodyPr>
          <a:lstStyle/>
          <a:p>
            <a:r>
              <a:rPr lang="en-ID"/>
              <a:t>Menentukan nilai resistor basis, kolektor dan emitor yang diperlukan agar rangkaian transistor BJT dapat berfungsi pada titik kerja yang diinginkan.</a:t>
            </a:r>
          </a:p>
          <a:p>
            <a:r>
              <a:rPr lang="en-US"/>
              <a:t>Penentuan nilai resistor tersebut melibatkan perhitungan yang cermat berdasarkan karakteristik dan spesifikasi transistor, kebutuhan aplikasi dan kondisi lingkungan kerja. </a:t>
            </a:r>
          </a:p>
          <a:p>
            <a:endParaRPr lang="en-ID"/>
          </a:p>
        </p:txBody>
      </p:sp>
    </p:spTree>
    <p:extLst>
      <p:ext uri="{BB962C8B-B14F-4D97-AF65-F5344CB8AC3E}">
        <p14:creationId xmlns:p14="http://schemas.microsoft.com/office/powerpoint/2010/main" val="33919663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Manfaat Prategangan</a:t>
            </a:r>
          </a:p>
        </p:txBody>
      </p:sp>
      <p:sp>
        <p:nvSpPr>
          <p:cNvPr id="3" name="Content Placeholder 2"/>
          <p:cNvSpPr>
            <a:spLocks noGrp="1"/>
          </p:cNvSpPr>
          <p:nvPr>
            <p:ph idx="1"/>
          </p:nvPr>
        </p:nvSpPr>
        <p:spPr/>
        <p:txBody>
          <a:bodyPr>
            <a:noAutofit/>
          </a:bodyPr>
          <a:lstStyle/>
          <a:p>
            <a:r>
              <a:rPr lang="en-US" sz="1600" b="1"/>
              <a:t>Stabilisasi Titik Operasi</a:t>
            </a:r>
            <a:r>
              <a:rPr lang="en-US" sz="1600"/>
              <a:t>: Dengan memberikan tegangan DC ke basis transistor, titik operasi transistor dapat diatur dengan tepat. Ini memastikan bahwa transistor beroperasi pada kondisi yang diinginkan dalam karakteristiknya, seperti wilayah aktif, </a:t>
            </a:r>
            <a:r>
              <a:rPr lang="en-US" sz="1600" b="1">
                <a:solidFill>
                  <a:srgbClr val="FF0000"/>
                </a:solidFill>
              </a:rPr>
              <a:t>sehingga memungkinkan transistor memberikan respons yang linier terhadap sinyal input AC</a:t>
            </a:r>
            <a:r>
              <a:rPr lang="en-US" sz="1600"/>
              <a:t>.</a:t>
            </a:r>
          </a:p>
          <a:p>
            <a:r>
              <a:rPr lang="en-US" sz="1600" b="1"/>
              <a:t>Penguatan Sinyal</a:t>
            </a:r>
            <a:r>
              <a:rPr lang="en-US" sz="1600"/>
              <a:t>: DC biasing memungkinkan transistor beroperasi dalam wilayah aktifnya, di mana penguatan arus dan tegangan transistor relatif linier. Ini memungkinkan transistor digunakan sebagai penguat dalam rangkaian elektronik, baik untuk penguatan tegangan maupun penguatan arus.</a:t>
            </a:r>
          </a:p>
          <a:p>
            <a:r>
              <a:rPr lang="en-US" sz="1600" b="1"/>
              <a:t>Stabilitas</a:t>
            </a:r>
            <a:r>
              <a:rPr lang="en-US" sz="1600"/>
              <a:t>: Dengan memastikan transistor beroperasi pada titik operasi yang tepat, DC biasing membantu menjaga stabilitas dan linearitas rangkaian elektronik. Ini penting untuk mencegah distorsi sinyal dan memastikan kinerja yang diinginkan dari rangkaian tersebut.</a:t>
            </a:r>
          </a:p>
          <a:p>
            <a:r>
              <a:rPr lang="en-US" sz="1600" b="1"/>
              <a:t>Toleransi Terhadap Variasi Suhu dan Parameter Transistor</a:t>
            </a:r>
            <a:r>
              <a:rPr lang="en-US" sz="1600"/>
              <a:t>: DC biasing memungkinkan rangkaian elektronik lebih toleran terhadap fluktuasi suhu dan variasi parameter transistor. Dengan menyesuaikan DC biasing, titik operasi transistor dapat dipertahankan bahkan ketika suhu atau karakteristik transistor berubah.</a:t>
            </a:r>
          </a:p>
          <a:p>
            <a:r>
              <a:rPr lang="en-US" sz="1600" b="1"/>
              <a:t>Pengendalian Arus Kolektor</a:t>
            </a:r>
            <a:r>
              <a:rPr lang="en-US" sz="1600"/>
              <a:t>: Dengan memilih nilai tegangan DC yang sesuai untuk basis transistor, arus kolektor transistor dapat diatur sesuai kebutuhan aplikasi. Ini memungkinkan pengendalian arus yang melewati transistor dalam rangkaian, yang penting untuk berbagai aplikasi elektronik, termasuk sebagai switch atau penguat.</a:t>
            </a:r>
          </a:p>
          <a:p>
            <a:r>
              <a:rPr lang="en-ID" sz="1600" b="1"/>
              <a:t>Mencegah distorsi sinyal</a:t>
            </a:r>
            <a:r>
              <a:rPr lang="en-ID" sz="1600"/>
              <a:t>: Dengan mengatur prategangan yang benar, transistor dapat bekerja secara linear dalam penguatan sinyal tanpa menyebabkan distorsi. Jika prategangan tidak tepat, sinyal yang diperkuat oleh transistor dapat mengalami distorsi. </a:t>
            </a:r>
          </a:p>
          <a:p>
            <a:endParaRPr lang="en-US" sz="1600"/>
          </a:p>
          <a:p>
            <a:endParaRPr lang="en-US" sz="1600"/>
          </a:p>
        </p:txBody>
      </p:sp>
    </p:spTree>
    <p:extLst>
      <p:ext uri="{BB962C8B-B14F-4D97-AF65-F5344CB8AC3E}">
        <p14:creationId xmlns:p14="http://schemas.microsoft.com/office/powerpoint/2010/main" val="26687380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39611"/>
          </a:xfrm>
        </p:spPr>
        <p:txBody>
          <a:bodyPr>
            <a:normAutofit/>
          </a:bodyPr>
          <a:lstStyle/>
          <a:p>
            <a:r>
              <a:rPr lang="en-US" sz="3200"/>
              <a:t>Ilustrasi Proses Perancangan Prategangan</a:t>
            </a:r>
          </a:p>
        </p:txBody>
      </p:sp>
      <p:grpSp>
        <p:nvGrpSpPr>
          <p:cNvPr id="4" name="Group 3"/>
          <p:cNvGrpSpPr/>
          <p:nvPr/>
        </p:nvGrpSpPr>
        <p:grpSpPr>
          <a:xfrm>
            <a:off x="979714" y="1929812"/>
            <a:ext cx="3923212" cy="2846374"/>
            <a:chOff x="7493725" y="3880533"/>
            <a:chExt cx="3923212" cy="2846374"/>
          </a:xfrm>
        </p:grpSpPr>
        <p:pic>
          <p:nvPicPr>
            <p:cNvPr id="5" name="Picture 4">
              <a:extLst>
                <a:ext uri="{FF2B5EF4-FFF2-40B4-BE49-F238E27FC236}">
                  <a16:creationId xmlns:a16="http://schemas.microsoft.com/office/drawing/2014/main" id="{E24C5ECA-CD1F-454E-87D9-596264617640}"/>
                </a:ext>
              </a:extLst>
            </p:cNvPr>
            <p:cNvPicPr>
              <a:picLocks noChangeAspect="1"/>
            </p:cNvPicPr>
            <p:nvPr/>
          </p:nvPicPr>
          <p:blipFill>
            <a:blip r:embed="rId2"/>
            <a:stretch>
              <a:fillRect/>
            </a:stretch>
          </p:blipFill>
          <p:spPr>
            <a:xfrm>
              <a:off x="7493725" y="3880533"/>
              <a:ext cx="3923212" cy="2846374"/>
            </a:xfrm>
            <a:prstGeom prst="rect">
              <a:avLst/>
            </a:prstGeom>
          </p:spPr>
        </p:pic>
        <p:sp>
          <p:nvSpPr>
            <p:cNvPr id="6" name="Rounded Rectangle 5"/>
            <p:cNvSpPr/>
            <p:nvPr/>
          </p:nvSpPr>
          <p:spPr>
            <a:xfrm>
              <a:off x="7515576" y="4860279"/>
              <a:ext cx="557270" cy="359582"/>
            </a:xfrm>
            <a:prstGeom prst="round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p:cNvSpPr/>
            <p:nvPr/>
          </p:nvSpPr>
          <p:spPr>
            <a:xfrm>
              <a:off x="8866098" y="6409509"/>
              <a:ext cx="486908" cy="317398"/>
            </a:xfrm>
            <a:prstGeom prst="round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8278377" y="5028856"/>
              <a:ext cx="1438342" cy="369332"/>
            </a:xfrm>
            <a:prstGeom prst="rect">
              <a:avLst/>
            </a:prstGeom>
            <a:noFill/>
          </p:spPr>
          <p:txBody>
            <a:bodyPr wrap="none" rtlCol="0">
              <a:spAutoFit/>
            </a:bodyPr>
            <a:lstStyle/>
            <a:p>
              <a:r>
                <a:rPr lang="en-US" b="1">
                  <a:solidFill>
                    <a:srgbClr val="FF0000"/>
                  </a:solidFill>
                </a:rPr>
                <a:t>Active region</a:t>
              </a:r>
            </a:p>
          </p:txBody>
        </p:sp>
      </p:grpSp>
      <p:sp>
        <p:nvSpPr>
          <p:cNvPr id="9" name="TextBox 8"/>
          <p:cNvSpPr txBox="1"/>
          <p:nvPr/>
        </p:nvSpPr>
        <p:spPr>
          <a:xfrm>
            <a:off x="2838995" y="5116156"/>
            <a:ext cx="2644842" cy="923330"/>
          </a:xfrm>
          <a:prstGeom prst="rect">
            <a:avLst/>
          </a:prstGeom>
          <a:noFill/>
        </p:spPr>
        <p:txBody>
          <a:bodyPr wrap="square" rtlCol="0">
            <a:spAutoFit/>
          </a:bodyPr>
          <a:lstStyle/>
          <a:p>
            <a:r>
              <a:rPr lang="en-US" b="1">
                <a:solidFill>
                  <a:srgbClr val="FF0000"/>
                </a:solidFill>
              </a:rPr>
              <a:t>Penentuan suatu titik pada wilayah kerja transistor misalnya disini</a:t>
            </a:r>
          </a:p>
        </p:txBody>
      </p:sp>
      <p:sp>
        <p:nvSpPr>
          <p:cNvPr id="10" name="Oval 9"/>
          <p:cNvSpPr/>
          <p:nvPr/>
        </p:nvSpPr>
        <p:spPr>
          <a:xfrm>
            <a:off x="2156434" y="3667163"/>
            <a:ext cx="160395" cy="142838"/>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p:cNvCxnSpPr/>
          <p:nvPr/>
        </p:nvCxnSpPr>
        <p:spPr>
          <a:xfrm flipH="1" flipV="1">
            <a:off x="2772629" y="4084103"/>
            <a:ext cx="911098" cy="103327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2" name="Picture 11"/>
          <p:cNvPicPr>
            <a:picLocks noChangeAspect="1"/>
          </p:cNvPicPr>
          <p:nvPr/>
        </p:nvPicPr>
        <p:blipFill>
          <a:blip r:embed="rId3"/>
          <a:stretch>
            <a:fillRect/>
          </a:stretch>
        </p:blipFill>
        <p:spPr>
          <a:xfrm>
            <a:off x="7317066" y="2090180"/>
            <a:ext cx="2541037" cy="3394514"/>
          </a:xfrm>
          <a:prstGeom prst="rect">
            <a:avLst/>
          </a:prstGeom>
        </p:spPr>
      </p:pic>
      <p:sp>
        <p:nvSpPr>
          <p:cNvPr id="13" name="Right Arrow 12"/>
          <p:cNvSpPr/>
          <p:nvPr/>
        </p:nvSpPr>
        <p:spPr>
          <a:xfrm>
            <a:off x="5251269" y="2954544"/>
            <a:ext cx="1314994" cy="8454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2306968" y="3628698"/>
            <a:ext cx="1168525" cy="369332"/>
          </a:xfrm>
          <a:prstGeom prst="rect">
            <a:avLst/>
          </a:prstGeom>
          <a:noFill/>
        </p:spPr>
        <p:txBody>
          <a:bodyPr wrap="none" rtlCol="0">
            <a:spAutoFit/>
          </a:bodyPr>
          <a:lstStyle/>
          <a:p>
            <a:r>
              <a:rPr lang="en-US">
                <a:solidFill>
                  <a:srgbClr val="FF0000"/>
                </a:solidFill>
              </a:rPr>
              <a:t>(Icq, Vceq)</a:t>
            </a:r>
          </a:p>
        </p:txBody>
      </p:sp>
      <p:sp>
        <p:nvSpPr>
          <p:cNvPr id="15" name="TextBox 14"/>
          <p:cNvSpPr txBox="1"/>
          <p:nvPr/>
        </p:nvSpPr>
        <p:spPr>
          <a:xfrm>
            <a:off x="2287541" y="3391860"/>
            <a:ext cx="847796" cy="369332"/>
          </a:xfrm>
          <a:prstGeom prst="rect">
            <a:avLst/>
          </a:prstGeom>
          <a:noFill/>
        </p:spPr>
        <p:txBody>
          <a:bodyPr wrap="none" rtlCol="0">
            <a:spAutoFit/>
          </a:bodyPr>
          <a:lstStyle/>
          <a:p>
            <a:r>
              <a:rPr lang="en-US" b="1">
                <a:solidFill>
                  <a:srgbClr val="FF0000"/>
                </a:solidFill>
              </a:rPr>
              <a:t>Qpoint</a:t>
            </a:r>
          </a:p>
        </p:txBody>
      </p:sp>
      <p:sp>
        <p:nvSpPr>
          <p:cNvPr id="17" name="TextBox 16">
            <a:extLst>
              <a:ext uri="{FF2B5EF4-FFF2-40B4-BE49-F238E27FC236}">
                <a16:creationId xmlns:a16="http://schemas.microsoft.com/office/drawing/2014/main" id="{77DABB23-5A78-EC1B-451B-A2985EF64A64}"/>
              </a:ext>
            </a:extLst>
          </p:cNvPr>
          <p:cNvSpPr txBox="1"/>
          <p:nvPr/>
        </p:nvSpPr>
        <p:spPr>
          <a:xfrm>
            <a:off x="1686093" y="1490324"/>
            <a:ext cx="2612901" cy="400110"/>
          </a:xfrm>
          <a:prstGeom prst="rect">
            <a:avLst/>
          </a:prstGeom>
          <a:noFill/>
        </p:spPr>
        <p:txBody>
          <a:bodyPr wrap="square">
            <a:spAutoFit/>
          </a:bodyPr>
          <a:lstStyle/>
          <a:p>
            <a:r>
              <a:rPr lang="en-US" sz="2000" b="1">
                <a:solidFill>
                  <a:srgbClr val="FF0000"/>
                </a:solidFill>
              </a:rPr>
              <a:t>Penentuan Titik Kerja</a:t>
            </a:r>
            <a:endParaRPr lang="en-ID" sz="2000" b="1">
              <a:solidFill>
                <a:srgbClr val="FF0000"/>
              </a:solidFill>
            </a:endParaRPr>
          </a:p>
        </p:txBody>
      </p:sp>
      <p:sp>
        <p:nvSpPr>
          <p:cNvPr id="18" name="TextBox 17">
            <a:extLst>
              <a:ext uri="{FF2B5EF4-FFF2-40B4-BE49-F238E27FC236}">
                <a16:creationId xmlns:a16="http://schemas.microsoft.com/office/drawing/2014/main" id="{7220DAE7-65C0-DE01-91BC-539F10A768E0}"/>
              </a:ext>
            </a:extLst>
          </p:cNvPr>
          <p:cNvSpPr txBox="1"/>
          <p:nvPr/>
        </p:nvSpPr>
        <p:spPr>
          <a:xfrm>
            <a:off x="7317066" y="1490324"/>
            <a:ext cx="3032087" cy="400110"/>
          </a:xfrm>
          <a:prstGeom prst="rect">
            <a:avLst/>
          </a:prstGeom>
          <a:noFill/>
        </p:spPr>
        <p:txBody>
          <a:bodyPr wrap="square">
            <a:spAutoFit/>
          </a:bodyPr>
          <a:lstStyle/>
          <a:p>
            <a:r>
              <a:rPr lang="en-US" sz="2000" b="1">
                <a:solidFill>
                  <a:srgbClr val="FF0000"/>
                </a:solidFill>
              </a:rPr>
              <a:t>Rangkaian Prategangan</a:t>
            </a:r>
            <a:endParaRPr lang="en-ID" sz="2000" b="1">
              <a:solidFill>
                <a:srgbClr val="FF0000"/>
              </a:solidFill>
            </a:endParaRPr>
          </a:p>
        </p:txBody>
      </p:sp>
      <p:sp>
        <p:nvSpPr>
          <p:cNvPr id="19" name="TextBox 18">
            <a:extLst>
              <a:ext uri="{FF2B5EF4-FFF2-40B4-BE49-F238E27FC236}">
                <a16:creationId xmlns:a16="http://schemas.microsoft.com/office/drawing/2014/main" id="{761C27B8-0DDA-9ECC-BC75-E5A50C2BA9D0}"/>
              </a:ext>
            </a:extLst>
          </p:cNvPr>
          <p:cNvSpPr txBox="1"/>
          <p:nvPr/>
        </p:nvSpPr>
        <p:spPr>
          <a:xfrm>
            <a:off x="7121122" y="5694761"/>
            <a:ext cx="3758372" cy="707886"/>
          </a:xfrm>
          <a:prstGeom prst="rect">
            <a:avLst/>
          </a:prstGeom>
          <a:noFill/>
        </p:spPr>
        <p:txBody>
          <a:bodyPr wrap="square">
            <a:spAutoFit/>
          </a:bodyPr>
          <a:lstStyle/>
          <a:p>
            <a:r>
              <a:rPr lang="en-US" sz="2000" b="1">
                <a:solidFill>
                  <a:srgbClr val="FF0000"/>
                </a:solidFill>
                <a:sym typeface="Wingdings" panose="05000000000000000000" pitchFamily="2" charset="2"/>
              </a:rPr>
              <a:t> </a:t>
            </a:r>
            <a:r>
              <a:rPr lang="en-US" sz="2000" b="1">
                <a:solidFill>
                  <a:srgbClr val="FF0000"/>
                </a:solidFill>
              </a:rPr>
              <a:t>Nilai RB dan RC untuk dicari dengan mengetahui Vceq dan Icq</a:t>
            </a:r>
            <a:endParaRPr lang="en-ID" sz="2000" b="1">
              <a:solidFill>
                <a:srgbClr val="FF0000"/>
              </a:solidFill>
            </a:endParaRPr>
          </a:p>
        </p:txBody>
      </p:sp>
      <p:cxnSp>
        <p:nvCxnSpPr>
          <p:cNvPr id="20" name="Straight Connector 19">
            <a:extLst>
              <a:ext uri="{FF2B5EF4-FFF2-40B4-BE49-F238E27FC236}">
                <a16:creationId xmlns:a16="http://schemas.microsoft.com/office/drawing/2014/main" id="{3A194A9C-2B59-6FD6-1D5D-315746AB6C80}"/>
              </a:ext>
            </a:extLst>
          </p:cNvPr>
          <p:cNvCxnSpPr/>
          <p:nvPr/>
        </p:nvCxnSpPr>
        <p:spPr>
          <a:xfrm>
            <a:off x="1672360" y="3255512"/>
            <a:ext cx="1278836" cy="110897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522331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286106" y="668501"/>
            <a:ext cx="3718406" cy="3588810"/>
          </a:xfrm>
          <a:prstGeom prst="rect">
            <a:avLst/>
          </a:prstGeom>
        </p:spPr>
      </p:pic>
      <p:pic>
        <p:nvPicPr>
          <p:cNvPr id="6" name="Picture 5"/>
          <p:cNvPicPr>
            <a:picLocks noChangeAspect="1"/>
          </p:cNvPicPr>
          <p:nvPr/>
        </p:nvPicPr>
        <p:blipFill>
          <a:blip r:embed="rId3"/>
          <a:stretch>
            <a:fillRect/>
          </a:stretch>
        </p:blipFill>
        <p:spPr>
          <a:xfrm>
            <a:off x="5556920" y="524032"/>
            <a:ext cx="5215585" cy="4058404"/>
          </a:xfrm>
          <a:prstGeom prst="rect">
            <a:avLst/>
          </a:prstGeom>
        </p:spPr>
      </p:pic>
      <p:sp>
        <p:nvSpPr>
          <p:cNvPr id="7" name="TextBox 6"/>
          <p:cNvSpPr txBox="1"/>
          <p:nvPr/>
        </p:nvSpPr>
        <p:spPr>
          <a:xfrm>
            <a:off x="2527309" y="4162633"/>
            <a:ext cx="447558" cy="369332"/>
          </a:xfrm>
          <a:prstGeom prst="rect">
            <a:avLst/>
          </a:prstGeom>
          <a:noFill/>
        </p:spPr>
        <p:txBody>
          <a:bodyPr wrap="none" rtlCol="0">
            <a:spAutoFit/>
          </a:bodyPr>
          <a:lstStyle/>
          <a:p>
            <a:r>
              <a:rPr lang="en-US"/>
              <a:t>(b)</a:t>
            </a:r>
          </a:p>
        </p:txBody>
      </p:sp>
      <p:cxnSp>
        <p:nvCxnSpPr>
          <p:cNvPr id="8" name="Straight Connector 7"/>
          <p:cNvCxnSpPr/>
          <p:nvPr/>
        </p:nvCxnSpPr>
        <p:spPr>
          <a:xfrm flipV="1">
            <a:off x="733698" y="3451942"/>
            <a:ext cx="10515600" cy="1741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V="1">
            <a:off x="733698" y="3735305"/>
            <a:ext cx="10515600" cy="1741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V="1">
            <a:off x="3214978" y="3469359"/>
            <a:ext cx="0" cy="100988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V="1">
            <a:off x="3044535" y="3752722"/>
            <a:ext cx="0" cy="69190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pic>
        <p:nvPicPr>
          <p:cNvPr id="18" name="Picture 17"/>
          <p:cNvPicPr>
            <a:picLocks noChangeAspect="1"/>
          </p:cNvPicPr>
          <p:nvPr/>
        </p:nvPicPr>
        <p:blipFill>
          <a:blip r:embed="rId4"/>
          <a:stretch>
            <a:fillRect/>
          </a:stretch>
        </p:blipFill>
        <p:spPr>
          <a:xfrm>
            <a:off x="3009097" y="4503139"/>
            <a:ext cx="272423" cy="143621"/>
          </a:xfrm>
          <a:prstGeom prst="rect">
            <a:avLst/>
          </a:prstGeom>
        </p:spPr>
      </p:pic>
      <p:cxnSp>
        <p:nvCxnSpPr>
          <p:cNvPr id="20" name="Straight Connector 19"/>
          <p:cNvCxnSpPr/>
          <p:nvPr/>
        </p:nvCxnSpPr>
        <p:spPr>
          <a:xfrm>
            <a:off x="6662059" y="2984042"/>
            <a:ext cx="2037805" cy="111463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7498081" y="3460650"/>
            <a:ext cx="540120" cy="292072"/>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H="1" flipV="1">
            <a:off x="8035268" y="3735305"/>
            <a:ext cx="2933" cy="70932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flipV="1">
            <a:off x="7498081" y="3469361"/>
            <a:ext cx="0" cy="97526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pic>
        <p:nvPicPr>
          <p:cNvPr id="37" name="Picture 36"/>
          <p:cNvPicPr>
            <a:picLocks noChangeAspect="1"/>
          </p:cNvPicPr>
          <p:nvPr/>
        </p:nvPicPr>
        <p:blipFill>
          <a:blip r:embed="rId4"/>
          <a:stretch>
            <a:fillRect/>
          </a:stretch>
        </p:blipFill>
        <p:spPr>
          <a:xfrm rot="10800000" flipV="1">
            <a:off x="7486641" y="4369034"/>
            <a:ext cx="618101" cy="325862"/>
          </a:xfrm>
          <a:prstGeom prst="rect">
            <a:avLst/>
          </a:prstGeom>
        </p:spPr>
      </p:pic>
      <p:sp>
        <p:nvSpPr>
          <p:cNvPr id="36" name="TextBox 35"/>
          <p:cNvSpPr txBox="1"/>
          <p:nvPr/>
        </p:nvSpPr>
        <p:spPr>
          <a:xfrm>
            <a:off x="6185266" y="3553680"/>
            <a:ext cx="625492" cy="276999"/>
          </a:xfrm>
          <a:prstGeom prst="rect">
            <a:avLst/>
          </a:prstGeom>
          <a:noFill/>
        </p:spPr>
        <p:txBody>
          <a:bodyPr wrap="none" rtlCol="0">
            <a:spAutoFit/>
          </a:bodyPr>
          <a:lstStyle/>
          <a:p>
            <a:r>
              <a:rPr lang="en-US" sz="1200"/>
              <a:t>800 uA</a:t>
            </a:r>
          </a:p>
        </p:txBody>
      </p:sp>
      <p:sp>
        <p:nvSpPr>
          <p:cNvPr id="39" name="TextBox 38"/>
          <p:cNvSpPr txBox="1"/>
          <p:nvPr/>
        </p:nvSpPr>
        <p:spPr>
          <a:xfrm>
            <a:off x="6112163" y="3253759"/>
            <a:ext cx="704039" cy="276999"/>
          </a:xfrm>
          <a:prstGeom prst="rect">
            <a:avLst/>
          </a:prstGeom>
          <a:noFill/>
        </p:spPr>
        <p:txBody>
          <a:bodyPr wrap="none" rtlCol="0">
            <a:spAutoFit/>
          </a:bodyPr>
          <a:lstStyle/>
          <a:p>
            <a:r>
              <a:rPr lang="en-US" sz="1200"/>
              <a:t>1500 uA</a:t>
            </a:r>
          </a:p>
        </p:txBody>
      </p:sp>
      <p:sp>
        <p:nvSpPr>
          <p:cNvPr id="40" name="TextBox 39"/>
          <p:cNvSpPr txBox="1"/>
          <p:nvPr/>
        </p:nvSpPr>
        <p:spPr>
          <a:xfrm>
            <a:off x="817707" y="3544421"/>
            <a:ext cx="468398" cy="276999"/>
          </a:xfrm>
          <a:prstGeom prst="rect">
            <a:avLst/>
          </a:prstGeom>
          <a:noFill/>
        </p:spPr>
        <p:txBody>
          <a:bodyPr wrap="none" rtlCol="0">
            <a:spAutoFit/>
          </a:bodyPr>
          <a:lstStyle/>
          <a:p>
            <a:r>
              <a:rPr lang="en-US" sz="1200"/>
              <a:t>8 uA</a:t>
            </a:r>
          </a:p>
        </p:txBody>
      </p:sp>
      <p:sp>
        <p:nvSpPr>
          <p:cNvPr id="41" name="TextBox 40"/>
          <p:cNvSpPr txBox="1"/>
          <p:nvPr/>
        </p:nvSpPr>
        <p:spPr>
          <a:xfrm>
            <a:off x="724122" y="3247246"/>
            <a:ext cx="663964" cy="276999"/>
          </a:xfrm>
          <a:prstGeom prst="rect">
            <a:avLst/>
          </a:prstGeom>
          <a:noFill/>
        </p:spPr>
        <p:txBody>
          <a:bodyPr wrap="none" rtlCol="0">
            <a:spAutoFit/>
          </a:bodyPr>
          <a:lstStyle/>
          <a:p>
            <a:r>
              <a:rPr lang="en-US" sz="1200"/>
              <a:t>10,6 uA</a:t>
            </a:r>
          </a:p>
        </p:txBody>
      </p:sp>
      <p:sp>
        <p:nvSpPr>
          <p:cNvPr id="38" name="Right Arrow 37"/>
          <p:cNvSpPr/>
          <p:nvPr/>
        </p:nvSpPr>
        <p:spPr>
          <a:xfrm>
            <a:off x="5030439" y="3515639"/>
            <a:ext cx="418011" cy="1586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p:cNvSpPr txBox="1"/>
          <p:nvPr/>
        </p:nvSpPr>
        <p:spPr>
          <a:xfrm>
            <a:off x="4147883" y="3234306"/>
            <a:ext cx="2016514" cy="276999"/>
          </a:xfrm>
          <a:prstGeom prst="rect">
            <a:avLst/>
          </a:prstGeom>
          <a:noFill/>
        </p:spPr>
        <p:txBody>
          <a:bodyPr wrap="none" rtlCol="0">
            <a:spAutoFit/>
          </a:bodyPr>
          <a:lstStyle/>
          <a:p>
            <a:r>
              <a:rPr lang="en-US" sz="1200"/>
              <a:t>Terjadi penguatan arus (Beta)</a:t>
            </a:r>
          </a:p>
        </p:txBody>
      </p:sp>
      <p:sp>
        <p:nvSpPr>
          <p:cNvPr id="44" name="Right Arrow 43"/>
          <p:cNvSpPr/>
          <p:nvPr/>
        </p:nvSpPr>
        <p:spPr>
          <a:xfrm>
            <a:off x="3596641" y="4469976"/>
            <a:ext cx="3413206" cy="152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p:cNvSpPr txBox="1"/>
          <p:nvPr/>
        </p:nvSpPr>
        <p:spPr>
          <a:xfrm>
            <a:off x="4299881" y="4595540"/>
            <a:ext cx="2325958" cy="276999"/>
          </a:xfrm>
          <a:prstGeom prst="rect">
            <a:avLst/>
          </a:prstGeom>
          <a:noFill/>
        </p:spPr>
        <p:txBody>
          <a:bodyPr wrap="none" rtlCol="0">
            <a:spAutoFit/>
          </a:bodyPr>
          <a:lstStyle/>
          <a:p>
            <a:r>
              <a:rPr lang="en-US" sz="1200"/>
              <a:t>Terjadi penguatan tegangan (Gain)</a:t>
            </a:r>
          </a:p>
        </p:txBody>
      </p:sp>
      <p:sp>
        <p:nvSpPr>
          <p:cNvPr id="42" name="TextBox 41"/>
          <p:cNvSpPr txBox="1"/>
          <p:nvPr/>
        </p:nvSpPr>
        <p:spPr>
          <a:xfrm rot="16200000">
            <a:off x="2615732" y="4771615"/>
            <a:ext cx="580608" cy="276999"/>
          </a:xfrm>
          <a:prstGeom prst="rect">
            <a:avLst/>
          </a:prstGeom>
          <a:noFill/>
        </p:spPr>
        <p:txBody>
          <a:bodyPr wrap="none" rtlCol="0">
            <a:spAutoFit/>
          </a:bodyPr>
          <a:lstStyle/>
          <a:p>
            <a:r>
              <a:rPr lang="en-US" sz="1200"/>
              <a:t>0,62 V</a:t>
            </a:r>
          </a:p>
        </p:txBody>
      </p:sp>
      <p:sp>
        <p:nvSpPr>
          <p:cNvPr id="47" name="TextBox 46"/>
          <p:cNvSpPr txBox="1"/>
          <p:nvPr/>
        </p:nvSpPr>
        <p:spPr>
          <a:xfrm rot="16200000">
            <a:off x="3049550" y="4758152"/>
            <a:ext cx="502061" cy="276999"/>
          </a:xfrm>
          <a:prstGeom prst="rect">
            <a:avLst/>
          </a:prstGeom>
          <a:noFill/>
        </p:spPr>
        <p:txBody>
          <a:bodyPr wrap="none" rtlCol="0">
            <a:spAutoFit/>
          </a:bodyPr>
          <a:lstStyle/>
          <a:p>
            <a:r>
              <a:rPr lang="en-US" sz="1200"/>
              <a:t>0,7 V</a:t>
            </a:r>
          </a:p>
        </p:txBody>
      </p:sp>
      <p:sp>
        <p:nvSpPr>
          <p:cNvPr id="48" name="TextBox 47"/>
          <p:cNvSpPr txBox="1"/>
          <p:nvPr/>
        </p:nvSpPr>
        <p:spPr>
          <a:xfrm rot="16200000">
            <a:off x="7245562" y="4739969"/>
            <a:ext cx="385042" cy="276999"/>
          </a:xfrm>
          <a:prstGeom prst="rect">
            <a:avLst/>
          </a:prstGeom>
          <a:noFill/>
        </p:spPr>
        <p:txBody>
          <a:bodyPr wrap="none" rtlCol="0">
            <a:spAutoFit/>
          </a:bodyPr>
          <a:lstStyle/>
          <a:p>
            <a:r>
              <a:rPr lang="en-US" sz="1200"/>
              <a:t>3 V</a:t>
            </a:r>
          </a:p>
        </p:txBody>
      </p:sp>
      <p:sp>
        <p:nvSpPr>
          <p:cNvPr id="49" name="TextBox 48"/>
          <p:cNvSpPr txBox="1"/>
          <p:nvPr/>
        </p:nvSpPr>
        <p:spPr>
          <a:xfrm rot="16200000">
            <a:off x="7960779" y="4723440"/>
            <a:ext cx="385042" cy="276999"/>
          </a:xfrm>
          <a:prstGeom prst="rect">
            <a:avLst/>
          </a:prstGeom>
          <a:noFill/>
        </p:spPr>
        <p:txBody>
          <a:bodyPr wrap="none" rtlCol="0">
            <a:spAutoFit/>
          </a:bodyPr>
          <a:lstStyle/>
          <a:p>
            <a:r>
              <a:rPr lang="en-US" sz="1200"/>
              <a:t>7 V</a:t>
            </a:r>
          </a:p>
        </p:txBody>
      </p:sp>
      <p:sp>
        <p:nvSpPr>
          <p:cNvPr id="50" name="Oval 49"/>
          <p:cNvSpPr/>
          <p:nvPr/>
        </p:nvSpPr>
        <p:spPr>
          <a:xfrm>
            <a:off x="7686683" y="3531476"/>
            <a:ext cx="160395" cy="142838"/>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p:cNvSpPr txBox="1"/>
          <p:nvPr/>
        </p:nvSpPr>
        <p:spPr>
          <a:xfrm>
            <a:off x="10230767" y="2455633"/>
            <a:ext cx="1094146" cy="369332"/>
          </a:xfrm>
          <a:prstGeom prst="rect">
            <a:avLst/>
          </a:prstGeom>
          <a:noFill/>
        </p:spPr>
        <p:txBody>
          <a:bodyPr wrap="none" rtlCol="0">
            <a:spAutoFit/>
          </a:bodyPr>
          <a:lstStyle/>
          <a:p>
            <a:r>
              <a:rPr lang="en-US"/>
              <a:t>Titik kerja</a:t>
            </a:r>
          </a:p>
        </p:txBody>
      </p:sp>
      <p:sp>
        <p:nvSpPr>
          <p:cNvPr id="52" name="TextBox 51"/>
          <p:cNvSpPr txBox="1"/>
          <p:nvPr/>
        </p:nvSpPr>
        <p:spPr>
          <a:xfrm>
            <a:off x="10226789" y="2030516"/>
            <a:ext cx="1308371" cy="369332"/>
          </a:xfrm>
          <a:prstGeom prst="rect">
            <a:avLst/>
          </a:prstGeom>
          <a:noFill/>
        </p:spPr>
        <p:txBody>
          <a:bodyPr wrap="none" rtlCol="0">
            <a:spAutoFit/>
          </a:bodyPr>
          <a:lstStyle/>
          <a:p>
            <a:r>
              <a:rPr lang="en-US"/>
              <a:t>Garis beban</a:t>
            </a:r>
          </a:p>
        </p:txBody>
      </p:sp>
      <p:cxnSp>
        <p:nvCxnSpPr>
          <p:cNvPr id="53" name="Straight Arrow Connector 52"/>
          <p:cNvCxnSpPr>
            <a:stCxn id="52" idx="1"/>
          </p:cNvCxnSpPr>
          <p:nvPr/>
        </p:nvCxnSpPr>
        <p:spPr>
          <a:xfrm flipH="1">
            <a:off x="6810758" y="2215182"/>
            <a:ext cx="3416031" cy="85023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cxnSpLocks/>
            <a:stCxn id="46" idx="1"/>
          </p:cNvCxnSpPr>
          <p:nvPr/>
        </p:nvCxnSpPr>
        <p:spPr>
          <a:xfrm flipH="1">
            <a:off x="7866289" y="2640299"/>
            <a:ext cx="2364478" cy="88394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7" name="TextBox 56"/>
          <p:cNvSpPr txBox="1"/>
          <p:nvPr/>
        </p:nvSpPr>
        <p:spPr>
          <a:xfrm>
            <a:off x="1503929" y="83922"/>
            <a:ext cx="3282758" cy="461665"/>
          </a:xfrm>
          <a:prstGeom prst="rect">
            <a:avLst/>
          </a:prstGeom>
          <a:noFill/>
        </p:spPr>
        <p:txBody>
          <a:bodyPr wrap="none" rtlCol="0">
            <a:spAutoFit/>
          </a:bodyPr>
          <a:lstStyle/>
          <a:p>
            <a:r>
              <a:rPr lang="en-US" sz="2400">
                <a:solidFill>
                  <a:srgbClr val="FF0000"/>
                </a:solidFill>
              </a:rPr>
              <a:t>Grafik Karakteristik Input</a:t>
            </a:r>
          </a:p>
        </p:txBody>
      </p:sp>
      <p:sp>
        <p:nvSpPr>
          <p:cNvPr id="58" name="TextBox 57"/>
          <p:cNvSpPr txBox="1"/>
          <p:nvPr/>
        </p:nvSpPr>
        <p:spPr>
          <a:xfrm>
            <a:off x="6877394" y="83596"/>
            <a:ext cx="3511987" cy="461665"/>
          </a:xfrm>
          <a:prstGeom prst="rect">
            <a:avLst/>
          </a:prstGeom>
          <a:noFill/>
        </p:spPr>
        <p:txBody>
          <a:bodyPr wrap="none" rtlCol="0">
            <a:spAutoFit/>
          </a:bodyPr>
          <a:lstStyle/>
          <a:p>
            <a:r>
              <a:rPr lang="en-US" sz="2400">
                <a:solidFill>
                  <a:srgbClr val="FF0000"/>
                </a:solidFill>
              </a:rPr>
              <a:t>Grafik Karakteristik Output</a:t>
            </a:r>
          </a:p>
        </p:txBody>
      </p:sp>
      <p:pic>
        <p:nvPicPr>
          <p:cNvPr id="59" name="Picture 58">
            <a:extLst>
              <a:ext uri="{FF2B5EF4-FFF2-40B4-BE49-F238E27FC236}">
                <a16:creationId xmlns:a16="http://schemas.microsoft.com/office/drawing/2014/main" id="{9F3CB8DA-136F-42EA-93CF-4FAE8C8ED5B5}"/>
              </a:ext>
            </a:extLst>
          </p:cNvPr>
          <p:cNvPicPr>
            <a:picLocks noChangeAspect="1"/>
          </p:cNvPicPr>
          <p:nvPr/>
        </p:nvPicPr>
        <p:blipFill>
          <a:blip r:embed="rId5"/>
          <a:stretch>
            <a:fillRect/>
          </a:stretch>
        </p:blipFill>
        <p:spPr>
          <a:xfrm>
            <a:off x="3946988" y="5099590"/>
            <a:ext cx="3508512" cy="1651065"/>
          </a:xfrm>
          <a:prstGeom prst="rect">
            <a:avLst/>
          </a:prstGeom>
        </p:spPr>
      </p:pic>
      <p:pic>
        <p:nvPicPr>
          <p:cNvPr id="60" name="Picture 59"/>
          <p:cNvPicPr>
            <a:picLocks noChangeAspect="1"/>
          </p:cNvPicPr>
          <p:nvPr/>
        </p:nvPicPr>
        <p:blipFill>
          <a:blip r:embed="rId4"/>
          <a:stretch>
            <a:fillRect/>
          </a:stretch>
        </p:blipFill>
        <p:spPr>
          <a:xfrm rot="5400000" flipV="1">
            <a:off x="3532240" y="6006751"/>
            <a:ext cx="272423" cy="143621"/>
          </a:xfrm>
          <a:prstGeom prst="rect">
            <a:avLst/>
          </a:prstGeom>
        </p:spPr>
      </p:pic>
      <p:pic>
        <p:nvPicPr>
          <p:cNvPr id="61" name="Picture 60"/>
          <p:cNvPicPr>
            <a:picLocks noChangeAspect="1"/>
          </p:cNvPicPr>
          <p:nvPr/>
        </p:nvPicPr>
        <p:blipFill>
          <a:blip r:embed="rId4"/>
          <a:stretch>
            <a:fillRect/>
          </a:stretch>
        </p:blipFill>
        <p:spPr>
          <a:xfrm rot="16200000">
            <a:off x="6568344" y="5643648"/>
            <a:ext cx="618101" cy="325862"/>
          </a:xfrm>
          <a:prstGeom prst="rect">
            <a:avLst/>
          </a:prstGeom>
        </p:spPr>
      </p:pic>
      <p:sp>
        <p:nvSpPr>
          <p:cNvPr id="56" name="TextBox 55"/>
          <p:cNvSpPr txBox="1"/>
          <p:nvPr/>
        </p:nvSpPr>
        <p:spPr>
          <a:xfrm>
            <a:off x="2466971" y="5883468"/>
            <a:ext cx="1142429" cy="369332"/>
          </a:xfrm>
          <a:prstGeom prst="rect">
            <a:avLst/>
          </a:prstGeom>
          <a:noFill/>
        </p:spPr>
        <p:txBody>
          <a:bodyPr wrap="none" rtlCol="0">
            <a:spAutoFit/>
          </a:bodyPr>
          <a:lstStyle/>
          <a:p>
            <a:r>
              <a:rPr lang="en-US"/>
              <a:t>120 mVpp</a:t>
            </a:r>
          </a:p>
        </p:txBody>
      </p:sp>
      <p:sp>
        <p:nvSpPr>
          <p:cNvPr id="63" name="TextBox 62"/>
          <p:cNvSpPr txBox="1"/>
          <p:nvPr/>
        </p:nvSpPr>
        <p:spPr>
          <a:xfrm>
            <a:off x="7259326" y="5664192"/>
            <a:ext cx="1259447" cy="369332"/>
          </a:xfrm>
          <a:prstGeom prst="rect">
            <a:avLst/>
          </a:prstGeom>
          <a:noFill/>
        </p:spPr>
        <p:txBody>
          <a:bodyPr wrap="none" rtlCol="0">
            <a:spAutoFit/>
          </a:bodyPr>
          <a:lstStyle/>
          <a:p>
            <a:r>
              <a:rPr lang="en-US"/>
              <a:t>4000 mVpp</a:t>
            </a:r>
          </a:p>
        </p:txBody>
      </p:sp>
      <p:sp>
        <p:nvSpPr>
          <p:cNvPr id="2" name="Left Brace 1">
            <a:extLst>
              <a:ext uri="{FF2B5EF4-FFF2-40B4-BE49-F238E27FC236}">
                <a16:creationId xmlns:a16="http://schemas.microsoft.com/office/drawing/2014/main" id="{6BBD7ACC-FEBA-10BB-35A1-B6C8EB07599D}"/>
              </a:ext>
            </a:extLst>
          </p:cNvPr>
          <p:cNvSpPr/>
          <p:nvPr/>
        </p:nvSpPr>
        <p:spPr>
          <a:xfrm rot="16200000">
            <a:off x="2897951" y="5196733"/>
            <a:ext cx="369333" cy="397805"/>
          </a:xfrm>
          <a:prstGeom prst="lef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D"/>
          </a:p>
        </p:txBody>
      </p:sp>
      <p:cxnSp>
        <p:nvCxnSpPr>
          <p:cNvPr id="4" name="Straight Arrow Connector 3">
            <a:extLst>
              <a:ext uri="{FF2B5EF4-FFF2-40B4-BE49-F238E27FC236}">
                <a16:creationId xmlns:a16="http://schemas.microsoft.com/office/drawing/2014/main" id="{460EA9BD-42CB-A8B9-FB64-3289C09EC304}"/>
              </a:ext>
            </a:extLst>
          </p:cNvPr>
          <p:cNvCxnSpPr>
            <a:cxnSpLocks/>
          </p:cNvCxnSpPr>
          <p:nvPr/>
        </p:nvCxnSpPr>
        <p:spPr>
          <a:xfrm>
            <a:off x="3082617" y="5662373"/>
            <a:ext cx="1" cy="21927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Left Brace 12">
            <a:extLst>
              <a:ext uri="{FF2B5EF4-FFF2-40B4-BE49-F238E27FC236}">
                <a16:creationId xmlns:a16="http://schemas.microsoft.com/office/drawing/2014/main" id="{A0010F27-2D0C-0FB0-8CC8-470920800819}"/>
              </a:ext>
            </a:extLst>
          </p:cNvPr>
          <p:cNvSpPr/>
          <p:nvPr/>
        </p:nvSpPr>
        <p:spPr>
          <a:xfrm rot="16200000">
            <a:off x="7592338" y="4866163"/>
            <a:ext cx="369333" cy="655463"/>
          </a:xfrm>
          <a:prstGeom prst="lef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D"/>
          </a:p>
        </p:txBody>
      </p:sp>
      <p:cxnSp>
        <p:nvCxnSpPr>
          <p:cNvPr id="15" name="Straight Arrow Connector 14">
            <a:extLst>
              <a:ext uri="{FF2B5EF4-FFF2-40B4-BE49-F238E27FC236}">
                <a16:creationId xmlns:a16="http://schemas.microsoft.com/office/drawing/2014/main" id="{2C18134F-0190-84BA-B382-4C64E06B5FC0}"/>
              </a:ext>
            </a:extLst>
          </p:cNvPr>
          <p:cNvCxnSpPr>
            <a:cxnSpLocks/>
          </p:cNvCxnSpPr>
          <p:nvPr/>
        </p:nvCxnSpPr>
        <p:spPr>
          <a:xfrm>
            <a:off x="7766173" y="5455169"/>
            <a:ext cx="1" cy="21927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Title 1">
            <a:extLst>
              <a:ext uri="{FF2B5EF4-FFF2-40B4-BE49-F238E27FC236}">
                <a16:creationId xmlns:a16="http://schemas.microsoft.com/office/drawing/2014/main" id="{38AD09E3-3858-8D22-6F72-594D869D4A39}"/>
              </a:ext>
            </a:extLst>
          </p:cNvPr>
          <p:cNvSpPr>
            <a:spLocks noGrp="1"/>
          </p:cNvSpPr>
          <p:nvPr>
            <p:ph type="title"/>
          </p:nvPr>
        </p:nvSpPr>
        <p:spPr>
          <a:xfrm>
            <a:off x="200915" y="4335720"/>
            <a:ext cx="2174891" cy="2168959"/>
          </a:xfrm>
        </p:spPr>
        <p:txBody>
          <a:bodyPr>
            <a:normAutofit fontScale="90000"/>
          </a:bodyPr>
          <a:lstStyle/>
          <a:p>
            <a:r>
              <a:rPr lang="en-US" sz="2800" b="1">
                <a:solidFill>
                  <a:srgbClr val="FF0000"/>
                </a:solidFill>
              </a:rPr>
              <a:t>Ilustrasi Rangkaian Prategangan Diinputkan Tegangan AC Jadi Penguat</a:t>
            </a:r>
          </a:p>
        </p:txBody>
      </p:sp>
    </p:spTree>
    <p:extLst>
      <p:ext uri="{BB962C8B-B14F-4D97-AF65-F5344CB8AC3E}">
        <p14:creationId xmlns:p14="http://schemas.microsoft.com/office/powerpoint/2010/main" val="28425079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Jenis-Jenis Rangkaian Prategangan DC</a:t>
            </a:r>
          </a:p>
        </p:txBody>
      </p:sp>
      <p:sp>
        <p:nvSpPr>
          <p:cNvPr id="3" name="Content Placeholder 2"/>
          <p:cNvSpPr>
            <a:spLocks noGrp="1"/>
          </p:cNvSpPr>
          <p:nvPr>
            <p:ph idx="1"/>
          </p:nvPr>
        </p:nvSpPr>
        <p:spPr>
          <a:xfrm>
            <a:off x="838200" y="1965584"/>
            <a:ext cx="6001139" cy="4351338"/>
          </a:xfrm>
        </p:spPr>
        <p:txBody>
          <a:bodyPr>
            <a:normAutofit/>
          </a:bodyPr>
          <a:lstStyle/>
          <a:p>
            <a:pPr lvl="1"/>
            <a:r>
              <a:rPr lang="en-US" sz="3200"/>
              <a:t>Fixed-Bias</a:t>
            </a:r>
          </a:p>
          <a:p>
            <a:pPr lvl="1"/>
            <a:endParaRPr lang="en-US" sz="3200"/>
          </a:p>
          <a:p>
            <a:pPr lvl="1"/>
            <a:endParaRPr lang="en-US" sz="3200"/>
          </a:p>
          <a:p>
            <a:pPr lvl="1"/>
            <a:r>
              <a:rPr lang="en-US" sz="3200"/>
              <a:t>Emitter-stabilized Bias</a:t>
            </a:r>
          </a:p>
          <a:p>
            <a:pPr lvl="1"/>
            <a:endParaRPr lang="en-US" sz="3200"/>
          </a:p>
          <a:p>
            <a:pPr lvl="1"/>
            <a:r>
              <a:rPr lang="en-US" sz="3200"/>
              <a:t>Voltage-divider Bias</a:t>
            </a:r>
          </a:p>
          <a:p>
            <a:pPr lvl="1"/>
            <a:endParaRPr lang="en-US" sz="3200"/>
          </a:p>
          <a:p>
            <a:pPr lvl="1"/>
            <a:r>
              <a:rPr lang="en-US" sz="3200"/>
              <a:t>DC Bias With Voltage Feedback</a:t>
            </a:r>
          </a:p>
          <a:p>
            <a:endParaRPr lang="en-US" sz="3200"/>
          </a:p>
        </p:txBody>
      </p:sp>
      <p:pic>
        <p:nvPicPr>
          <p:cNvPr id="8" name="Picture 7">
            <a:extLst>
              <a:ext uri="{FF2B5EF4-FFF2-40B4-BE49-F238E27FC236}">
                <a16:creationId xmlns:a16="http://schemas.microsoft.com/office/drawing/2014/main" id="{0A6CCB58-A721-643D-8F03-D78F7EF2403B}"/>
              </a:ext>
            </a:extLst>
          </p:cNvPr>
          <p:cNvPicPr>
            <a:picLocks noChangeAspect="1"/>
          </p:cNvPicPr>
          <p:nvPr/>
        </p:nvPicPr>
        <p:blipFill>
          <a:blip r:embed="rId2"/>
          <a:stretch>
            <a:fillRect/>
          </a:stretch>
        </p:blipFill>
        <p:spPr>
          <a:xfrm>
            <a:off x="7674611" y="1583824"/>
            <a:ext cx="1181765" cy="1514850"/>
          </a:xfrm>
          <a:prstGeom prst="rect">
            <a:avLst/>
          </a:prstGeom>
        </p:spPr>
      </p:pic>
      <p:pic>
        <p:nvPicPr>
          <p:cNvPr id="10" name="Picture 9">
            <a:extLst>
              <a:ext uri="{FF2B5EF4-FFF2-40B4-BE49-F238E27FC236}">
                <a16:creationId xmlns:a16="http://schemas.microsoft.com/office/drawing/2014/main" id="{46EDEAC8-9419-4342-D017-495076A8FDB5}"/>
              </a:ext>
            </a:extLst>
          </p:cNvPr>
          <p:cNvPicPr>
            <a:picLocks noChangeAspect="1"/>
          </p:cNvPicPr>
          <p:nvPr/>
        </p:nvPicPr>
        <p:blipFill>
          <a:blip r:embed="rId3"/>
          <a:stretch>
            <a:fillRect/>
          </a:stretch>
        </p:blipFill>
        <p:spPr>
          <a:xfrm>
            <a:off x="8856376" y="3124905"/>
            <a:ext cx="998118" cy="1536523"/>
          </a:xfrm>
          <a:prstGeom prst="rect">
            <a:avLst/>
          </a:prstGeom>
        </p:spPr>
      </p:pic>
      <p:pic>
        <p:nvPicPr>
          <p:cNvPr id="12" name="Picture 11">
            <a:extLst>
              <a:ext uri="{FF2B5EF4-FFF2-40B4-BE49-F238E27FC236}">
                <a16:creationId xmlns:a16="http://schemas.microsoft.com/office/drawing/2014/main" id="{B0C1894C-6CDC-9FF7-51B6-8EDA64910E03}"/>
              </a:ext>
            </a:extLst>
          </p:cNvPr>
          <p:cNvPicPr>
            <a:picLocks noChangeAspect="1"/>
          </p:cNvPicPr>
          <p:nvPr/>
        </p:nvPicPr>
        <p:blipFill>
          <a:blip r:embed="rId4"/>
          <a:stretch>
            <a:fillRect/>
          </a:stretch>
        </p:blipFill>
        <p:spPr>
          <a:xfrm>
            <a:off x="10316801" y="3893167"/>
            <a:ext cx="916304" cy="1702903"/>
          </a:xfrm>
          <a:prstGeom prst="rect">
            <a:avLst/>
          </a:prstGeom>
        </p:spPr>
      </p:pic>
      <p:pic>
        <p:nvPicPr>
          <p:cNvPr id="14" name="Picture 13">
            <a:extLst>
              <a:ext uri="{FF2B5EF4-FFF2-40B4-BE49-F238E27FC236}">
                <a16:creationId xmlns:a16="http://schemas.microsoft.com/office/drawing/2014/main" id="{10ABEAFD-7524-31D5-4C2D-75EFD36973B3}"/>
              </a:ext>
            </a:extLst>
          </p:cNvPr>
          <p:cNvPicPr>
            <a:picLocks noChangeAspect="1"/>
          </p:cNvPicPr>
          <p:nvPr/>
        </p:nvPicPr>
        <p:blipFill>
          <a:blip r:embed="rId5"/>
          <a:stretch>
            <a:fillRect/>
          </a:stretch>
        </p:blipFill>
        <p:spPr>
          <a:xfrm>
            <a:off x="7879886" y="4800651"/>
            <a:ext cx="1181765" cy="1590838"/>
          </a:xfrm>
          <a:prstGeom prst="rect">
            <a:avLst/>
          </a:prstGeom>
        </p:spPr>
      </p:pic>
      <p:cxnSp>
        <p:nvCxnSpPr>
          <p:cNvPr id="16" name="Straight Arrow Connector 15">
            <a:extLst>
              <a:ext uri="{FF2B5EF4-FFF2-40B4-BE49-F238E27FC236}">
                <a16:creationId xmlns:a16="http://schemas.microsoft.com/office/drawing/2014/main" id="{44353979-56B4-A3CD-0744-CE3A29BC7929}"/>
              </a:ext>
            </a:extLst>
          </p:cNvPr>
          <p:cNvCxnSpPr/>
          <p:nvPr/>
        </p:nvCxnSpPr>
        <p:spPr>
          <a:xfrm>
            <a:off x="3526970" y="2212797"/>
            <a:ext cx="3937519"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8AC3DD4E-8F8D-35E1-3909-6E807C30D297}"/>
              </a:ext>
            </a:extLst>
          </p:cNvPr>
          <p:cNvCxnSpPr>
            <a:cxnSpLocks/>
          </p:cNvCxnSpPr>
          <p:nvPr/>
        </p:nvCxnSpPr>
        <p:spPr>
          <a:xfrm>
            <a:off x="5495730" y="3868284"/>
            <a:ext cx="3051111"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877A94EF-EC8D-4314-E524-4D17A62C74B1}"/>
              </a:ext>
            </a:extLst>
          </p:cNvPr>
          <p:cNvCxnSpPr>
            <a:cxnSpLocks/>
          </p:cNvCxnSpPr>
          <p:nvPr/>
        </p:nvCxnSpPr>
        <p:spPr>
          <a:xfrm flipV="1">
            <a:off x="5208162" y="4800651"/>
            <a:ext cx="4775593" cy="2177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F476DA74-7459-D3CE-D6B4-F8795E89DAEF}"/>
              </a:ext>
            </a:extLst>
          </p:cNvPr>
          <p:cNvCxnSpPr>
            <a:cxnSpLocks/>
          </p:cNvCxnSpPr>
          <p:nvPr/>
        </p:nvCxnSpPr>
        <p:spPr>
          <a:xfrm>
            <a:off x="6839339" y="5676122"/>
            <a:ext cx="756619"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69362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A08B7-CF1D-4ABE-A441-AFF47BEAE499}"/>
              </a:ext>
            </a:extLst>
          </p:cNvPr>
          <p:cNvSpPr>
            <a:spLocks noGrp="1"/>
          </p:cNvSpPr>
          <p:nvPr>
            <p:ph type="title"/>
          </p:nvPr>
        </p:nvSpPr>
        <p:spPr/>
        <p:txBody>
          <a:bodyPr/>
          <a:lstStyle/>
          <a:p>
            <a:r>
              <a:rPr lang="en-ID" b="1"/>
              <a:t>Perbedaan Masing-Masing Prategangan</a:t>
            </a:r>
            <a:endParaRPr lang="en-ID"/>
          </a:p>
        </p:txBody>
      </p:sp>
      <p:sp>
        <p:nvSpPr>
          <p:cNvPr id="3" name="Content Placeholder 2">
            <a:extLst>
              <a:ext uri="{FF2B5EF4-FFF2-40B4-BE49-F238E27FC236}">
                <a16:creationId xmlns:a16="http://schemas.microsoft.com/office/drawing/2014/main" id="{7FF0C276-A6E7-412F-8491-B3B9B6E2610C}"/>
              </a:ext>
            </a:extLst>
          </p:cNvPr>
          <p:cNvSpPr>
            <a:spLocks noGrp="1"/>
          </p:cNvSpPr>
          <p:nvPr>
            <p:ph idx="1"/>
          </p:nvPr>
        </p:nvSpPr>
        <p:spPr/>
        <p:txBody>
          <a:bodyPr>
            <a:normAutofit fontScale="92500" lnSpcReduction="20000"/>
          </a:bodyPr>
          <a:lstStyle/>
          <a:p>
            <a:r>
              <a:rPr lang="en-ID" b="1"/>
              <a:t>Fixed Bias</a:t>
            </a:r>
            <a:r>
              <a:rPr lang="en-ID"/>
              <a:t>: Tegangan tetap diberikan pada basis transistor melalui resistor. Contoh pada BJT: Tegangan diberikan pada basis melalui resistor bias sedangkan emitor terhubung ke ground.</a:t>
            </a:r>
          </a:p>
          <a:p>
            <a:r>
              <a:rPr lang="en-ID" b="1"/>
              <a:t>Emitter-Stabilized Bias</a:t>
            </a:r>
            <a:r>
              <a:rPr lang="en-ID"/>
              <a:t>: Emitter resistor digunakan untuk memberikan stabilitas tambahan, dan kombinasi dengan pembagi tegangan sering digunakan dalam penguatan yang stabil.</a:t>
            </a:r>
          </a:p>
          <a:p>
            <a:r>
              <a:rPr lang="en-ID" b="1"/>
              <a:t>Voltage Divider Bias</a:t>
            </a:r>
            <a:r>
              <a:rPr lang="en-ID"/>
              <a:t>: Metode yang lebih stabil di mana prategangan diberikan menggunakan pembagi tegangan dengan dua resistor. Ini sering digunakan karena memberikan bias yang lebih stabil terhadap perubahan suhu dan variasi transistor.</a:t>
            </a:r>
          </a:p>
          <a:p>
            <a:r>
              <a:rPr lang="en-ID" b="1"/>
              <a:t>Voltage Feedback Bias</a:t>
            </a:r>
            <a:r>
              <a:rPr lang="en-ID"/>
              <a:t>: Tegangan dari kolektor diumpankan kembali ke basis untuk memberikan stabilitas terhadap perubahan suhu dan parameter transistor.</a:t>
            </a:r>
          </a:p>
          <a:p>
            <a:endParaRPr lang="en-ID"/>
          </a:p>
        </p:txBody>
      </p:sp>
    </p:spTree>
    <p:extLst>
      <p:ext uri="{BB962C8B-B14F-4D97-AF65-F5344CB8AC3E}">
        <p14:creationId xmlns:p14="http://schemas.microsoft.com/office/powerpoint/2010/main" val="2698311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F3CB8DA-136F-42EA-93CF-4FAE8C8ED5B5}"/>
              </a:ext>
            </a:extLst>
          </p:cNvPr>
          <p:cNvPicPr>
            <a:picLocks noChangeAspect="1"/>
          </p:cNvPicPr>
          <p:nvPr/>
        </p:nvPicPr>
        <p:blipFill>
          <a:blip r:embed="rId2"/>
          <a:stretch>
            <a:fillRect/>
          </a:stretch>
        </p:blipFill>
        <p:spPr>
          <a:xfrm>
            <a:off x="718284" y="1456884"/>
            <a:ext cx="5675835" cy="2670981"/>
          </a:xfrm>
          <a:prstGeom prst="rect">
            <a:avLst/>
          </a:prstGeom>
        </p:spPr>
      </p:pic>
      <p:pic>
        <p:nvPicPr>
          <p:cNvPr id="7" name="Picture 6">
            <a:extLst>
              <a:ext uri="{FF2B5EF4-FFF2-40B4-BE49-F238E27FC236}">
                <a16:creationId xmlns:a16="http://schemas.microsoft.com/office/drawing/2014/main" id="{0CEA5A7E-B2E7-4C4C-8F9E-0C4B5EC9F98D}"/>
              </a:ext>
            </a:extLst>
          </p:cNvPr>
          <p:cNvPicPr>
            <a:picLocks noChangeAspect="1"/>
          </p:cNvPicPr>
          <p:nvPr/>
        </p:nvPicPr>
        <p:blipFill>
          <a:blip r:embed="rId3"/>
          <a:stretch>
            <a:fillRect/>
          </a:stretch>
        </p:blipFill>
        <p:spPr>
          <a:xfrm>
            <a:off x="7845474" y="613727"/>
            <a:ext cx="2745190" cy="3950023"/>
          </a:xfrm>
          <a:prstGeom prst="rect">
            <a:avLst/>
          </a:prstGeom>
        </p:spPr>
      </p:pic>
      <p:sp>
        <p:nvSpPr>
          <p:cNvPr id="11" name="TextBox 10">
            <a:extLst>
              <a:ext uri="{FF2B5EF4-FFF2-40B4-BE49-F238E27FC236}">
                <a16:creationId xmlns:a16="http://schemas.microsoft.com/office/drawing/2014/main" id="{3E7040E2-832E-43D0-B6C5-A73AF2B5F582}"/>
              </a:ext>
            </a:extLst>
          </p:cNvPr>
          <p:cNvSpPr txBox="1"/>
          <p:nvPr/>
        </p:nvSpPr>
        <p:spPr>
          <a:xfrm>
            <a:off x="1064525" y="4923557"/>
            <a:ext cx="5553990" cy="646331"/>
          </a:xfrm>
          <a:prstGeom prst="rect">
            <a:avLst/>
          </a:prstGeom>
          <a:noFill/>
        </p:spPr>
        <p:txBody>
          <a:bodyPr wrap="square">
            <a:spAutoFit/>
          </a:bodyPr>
          <a:lstStyle/>
          <a:p>
            <a:r>
              <a:rPr lang="en-US" dirty="0"/>
              <a:t>Writing Kirchhoff’s voltage equation in the clockwise direction for the loop,</a:t>
            </a:r>
          </a:p>
        </p:txBody>
      </p:sp>
      <p:pic>
        <p:nvPicPr>
          <p:cNvPr id="13" name="Picture 12">
            <a:extLst>
              <a:ext uri="{FF2B5EF4-FFF2-40B4-BE49-F238E27FC236}">
                <a16:creationId xmlns:a16="http://schemas.microsoft.com/office/drawing/2014/main" id="{B7966850-3750-4D17-899D-561BCAE815F1}"/>
              </a:ext>
            </a:extLst>
          </p:cNvPr>
          <p:cNvPicPr>
            <a:picLocks noChangeAspect="1"/>
          </p:cNvPicPr>
          <p:nvPr/>
        </p:nvPicPr>
        <p:blipFill>
          <a:blip r:embed="rId4"/>
          <a:stretch>
            <a:fillRect/>
          </a:stretch>
        </p:blipFill>
        <p:spPr>
          <a:xfrm>
            <a:off x="718284" y="5506069"/>
            <a:ext cx="4742593" cy="777035"/>
          </a:xfrm>
          <a:prstGeom prst="rect">
            <a:avLst/>
          </a:prstGeom>
        </p:spPr>
      </p:pic>
      <p:pic>
        <p:nvPicPr>
          <p:cNvPr id="8" name="Picture 7">
            <a:extLst>
              <a:ext uri="{FF2B5EF4-FFF2-40B4-BE49-F238E27FC236}">
                <a16:creationId xmlns:a16="http://schemas.microsoft.com/office/drawing/2014/main" id="{523433E1-DE7E-402D-BD89-C38463F3BC1E}"/>
              </a:ext>
            </a:extLst>
          </p:cNvPr>
          <p:cNvPicPr>
            <a:picLocks noChangeAspect="1"/>
          </p:cNvPicPr>
          <p:nvPr/>
        </p:nvPicPr>
        <p:blipFill>
          <a:blip r:embed="rId5"/>
          <a:stretch>
            <a:fillRect/>
          </a:stretch>
        </p:blipFill>
        <p:spPr>
          <a:xfrm>
            <a:off x="6557555" y="4940268"/>
            <a:ext cx="4704669" cy="1525492"/>
          </a:xfrm>
          <a:prstGeom prst="rect">
            <a:avLst/>
          </a:prstGeom>
        </p:spPr>
      </p:pic>
      <p:sp>
        <p:nvSpPr>
          <p:cNvPr id="4" name="Title 1">
            <a:extLst>
              <a:ext uri="{FF2B5EF4-FFF2-40B4-BE49-F238E27FC236}">
                <a16:creationId xmlns:a16="http://schemas.microsoft.com/office/drawing/2014/main" id="{1C035AE6-89E9-6A1C-FD7F-ED41D91DB195}"/>
              </a:ext>
            </a:extLst>
          </p:cNvPr>
          <p:cNvSpPr txBox="1">
            <a:spLocks/>
          </p:cNvSpPr>
          <p:nvPr/>
        </p:nvSpPr>
        <p:spPr>
          <a:xfrm>
            <a:off x="838200" y="365125"/>
            <a:ext cx="10515600" cy="71524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D" b="1"/>
              <a:t>Prategangan </a:t>
            </a:r>
            <a:r>
              <a:rPr lang="en-US" b="1"/>
              <a:t>FIXED-BIAS</a:t>
            </a:r>
            <a:endParaRPr lang="en-ID" b="1"/>
          </a:p>
        </p:txBody>
      </p:sp>
      <p:cxnSp>
        <p:nvCxnSpPr>
          <p:cNvPr id="12" name="Straight Arrow Connector 11">
            <a:extLst>
              <a:ext uri="{FF2B5EF4-FFF2-40B4-BE49-F238E27FC236}">
                <a16:creationId xmlns:a16="http://schemas.microsoft.com/office/drawing/2014/main" id="{3744A7C7-AF94-4CBC-AFAD-85B014ED8F42}"/>
              </a:ext>
            </a:extLst>
          </p:cNvPr>
          <p:cNvCxnSpPr/>
          <p:nvPr/>
        </p:nvCxnSpPr>
        <p:spPr>
          <a:xfrm flipH="1" flipV="1">
            <a:off x="1931437" y="3247053"/>
            <a:ext cx="1698171" cy="123164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D15F77B9-9578-4479-6D6D-6DE6ECF1A38E}"/>
              </a:ext>
            </a:extLst>
          </p:cNvPr>
          <p:cNvCxnSpPr/>
          <p:nvPr/>
        </p:nvCxnSpPr>
        <p:spPr>
          <a:xfrm flipV="1">
            <a:off x="3638939" y="2892490"/>
            <a:ext cx="149290" cy="158620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EF39016F-6302-AFB0-8E0F-FF3B12B14E2F}"/>
              </a:ext>
            </a:extLst>
          </p:cNvPr>
          <p:cNvSpPr txBox="1"/>
          <p:nvPr/>
        </p:nvSpPr>
        <p:spPr>
          <a:xfrm>
            <a:off x="2140685" y="4421912"/>
            <a:ext cx="4081823" cy="307777"/>
          </a:xfrm>
          <a:prstGeom prst="rect">
            <a:avLst/>
          </a:prstGeom>
          <a:noFill/>
        </p:spPr>
        <p:txBody>
          <a:bodyPr wrap="none" rtlCol="0">
            <a:spAutoFit/>
          </a:bodyPr>
          <a:lstStyle/>
          <a:p>
            <a:r>
              <a:rPr lang="en-US" sz="1400">
                <a:solidFill>
                  <a:srgbClr val="FF0000"/>
                </a:solidFill>
              </a:rPr>
              <a:t>Tdk perlu digambarkan saat perhitungan prategangan</a:t>
            </a:r>
            <a:endParaRPr lang="en-ID" sz="1400">
              <a:solidFill>
                <a:srgbClr val="FF0000"/>
              </a:solidFill>
            </a:endParaRPr>
          </a:p>
        </p:txBody>
      </p:sp>
    </p:spTree>
    <p:extLst>
      <p:ext uri="{BB962C8B-B14F-4D97-AF65-F5344CB8AC3E}">
        <p14:creationId xmlns:p14="http://schemas.microsoft.com/office/powerpoint/2010/main" val="39293743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1C7FB06-4270-46D2-A259-B726FC8C5064}"/>
              </a:ext>
            </a:extLst>
          </p:cNvPr>
          <p:cNvPicPr>
            <a:picLocks noChangeAspect="1"/>
          </p:cNvPicPr>
          <p:nvPr/>
        </p:nvPicPr>
        <p:blipFill>
          <a:blip r:embed="rId2"/>
          <a:stretch>
            <a:fillRect/>
          </a:stretch>
        </p:blipFill>
        <p:spPr>
          <a:xfrm>
            <a:off x="752311" y="5221118"/>
            <a:ext cx="2904268" cy="1182452"/>
          </a:xfrm>
          <a:prstGeom prst="rect">
            <a:avLst/>
          </a:prstGeom>
        </p:spPr>
      </p:pic>
      <p:sp>
        <p:nvSpPr>
          <p:cNvPr id="5" name="TextBox 4">
            <a:extLst>
              <a:ext uri="{FF2B5EF4-FFF2-40B4-BE49-F238E27FC236}">
                <a16:creationId xmlns:a16="http://schemas.microsoft.com/office/drawing/2014/main" id="{0C8EAD12-F0F3-4D38-A88B-CB7747D902D4}"/>
              </a:ext>
            </a:extLst>
          </p:cNvPr>
          <p:cNvSpPr txBox="1"/>
          <p:nvPr/>
        </p:nvSpPr>
        <p:spPr>
          <a:xfrm>
            <a:off x="608607" y="199394"/>
            <a:ext cx="3022362" cy="369332"/>
          </a:xfrm>
          <a:prstGeom prst="rect">
            <a:avLst/>
          </a:prstGeom>
          <a:noFill/>
        </p:spPr>
        <p:txBody>
          <a:bodyPr wrap="square">
            <a:spAutoFit/>
          </a:bodyPr>
          <a:lstStyle/>
          <a:p>
            <a:r>
              <a:rPr lang="en-US" b="1" dirty="0"/>
              <a:t>Forward Bias of Base–Emitter</a:t>
            </a:r>
          </a:p>
        </p:txBody>
      </p:sp>
      <p:sp>
        <p:nvSpPr>
          <p:cNvPr id="7" name="TextBox 6">
            <a:extLst>
              <a:ext uri="{FF2B5EF4-FFF2-40B4-BE49-F238E27FC236}">
                <a16:creationId xmlns:a16="http://schemas.microsoft.com/office/drawing/2014/main" id="{8CB8C25E-424A-40AE-9418-8FBA1F5621B1}"/>
              </a:ext>
            </a:extLst>
          </p:cNvPr>
          <p:cNvSpPr txBox="1"/>
          <p:nvPr/>
        </p:nvSpPr>
        <p:spPr>
          <a:xfrm>
            <a:off x="758358" y="4196280"/>
            <a:ext cx="2877436" cy="369332"/>
          </a:xfrm>
          <a:prstGeom prst="rect">
            <a:avLst/>
          </a:prstGeom>
          <a:noFill/>
        </p:spPr>
        <p:txBody>
          <a:bodyPr wrap="square">
            <a:spAutoFit/>
          </a:bodyPr>
          <a:lstStyle/>
          <a:p>
            <a:r>
              <a:rPr lang="en-US" dirty="0"/>
              <a:t>Kirchhoff’s voltage equation </a:t>
            </a:r>
          </a:p>
        </p:txBody>
      </p:sp>
      <p:pic>
        <p:nvPicPr>
          <p:cNvPr id="8" name="Picture 7">
            <a:extLst>
              <a:ext uri="{FF2B5EF4-FFF2-40B4-BE49-F238E27FC236}">
                <a16:creationId xmlns:a16="http://schemas.microsoft.com/office/drawing/2014/main" id="{21A899A6-6764-4E6C-B10E-8F4C8EA90828}"/>
              </a:ext>
            </a:extLst>
          </p:cNvPr>
          <p:cNvPicPr>
            <a:picLocks noChangeAspect="1"/>
          </p:cNvPicPr>
          <p:nvPr/>
        </p:nvPicPr>
        <p:blipFill>
          <a:blip r:embed="rId3"/>
          <a:stretch>
            <a:fillRect/>
          </a:stretch>
        </p:blipFill>
        <p:spPr>
          <a:xfrm>
            <a:off x="608607" y="4650247"/>
            <a:ext cx="3150684" cy="518364"/>
          </a:xfrm>
          <a:prstGeom prst="rect">
            <a:avLst/>
          </a:prstGeom>
        </p:spPr>
      </p:pic>
      <p:pic>
        <p:nvPicPr>
          <p:cNvPr id="10" name="Picture 9">
            <a:extLst>
              <a:ext uri="{FF2B5EF4-FFF2-40B4-BE49-F238E27FC236}">
                <a16:creationId xmlns:a16="http://schemas.microsoft.com/office/drawing/2014/main" id="{EECFF974-FDE4-436E-9D0C-908D1C58AFF2}"/>
              </a:ext>
            </a:extLst>
          </p:cNvPr>
          <p:cNvPicPr>
            <a:picLocks noChangeAspect="1"/>
          </p:cNvPicPr>
          <p:nvPr/>
        </p:nvPicPr>
        <p:blipFill>
          <a:blip r:embed="rId4"/>
          <a:stretch>
            <a:fillRect/>
          </a:stretch>
        </p:blipFill>
        <p:spPr>
          <a:xfrm>
            <a:off x="608607" y="653361"/>
            <a:ext cx="2877436" cy="3277508"/>
          </a:xfrm>
          <a:prstGeom prst="rect">
            <a:avLst/>
          </a:prstGeom>
        </p:spPr>
      </p:pic>
      <p:sp>
        <p:nvSpPr>
          <p:cNvPr id="11" name="TextBox 10">
            <a:extLst>
              <a:ext uri="{FF2B5EF4-FFF2-40B4-BE49-F238E27FC236}">
                <a16:creationId xmlns:a16="http://schemas.microsoft.com/office/drawing/2014/main" id="{761A5072-C398-41EA-9B30-17A14D818C54}"/>
              </a:ext>
            </a:extLst>
          </p:cNvPr>
          <p:cNvSpPr txBox="1"/>
          <p:nvPr/>
        </p:nvSpPr>
        <p:spPr>
          <a:xfrm>
            <a:off x="3732133" y="5936922"/>
            <a:ext cx="859720" cy="369332"/>
          </a:xfrm>
          <a:prstGeom prst="rect">
            <a:avLst/>
          </a:prstGeom>
          <a:noFill/>
        </p:spPr>
        <p:txBody>
          <a:bodyPr wrap="square" rtlCol="0">
            <a:spAutoFit/>
          </a:bodyPr>
          <a:lstStyle/>
          <a:p>
            <a:r>
              <a:rPr lang="en-US" dirty="0"/>
              <a:t>4.4</a:t>
            </a:r>
          </a:p>
        </p:txBody>
      </p:sp>
      <p:pic>
        <p:nvPicPr>
          <p:cNvPr id="13" name="Picture 12">
            <a:extLst>
              <a:ext uri="{FF2B5EF4-FFF2-40B4-BE49-F238E27FC236}">
                <a16:creationId xmlns:a16="http://schemas.microsoft.com/office/drawing/2014/main" id="{0A974E32-8210-402E-824E-86E962CAE903}"/>
              </a:ext>
            </a:extLst>
          </p:cNvPr>
          <p:cNvPicPr>
            <a:picLocks noChangeAspect="1"/>
          </p:cNvPicPr>
          <p:nvPr/>
        </p:nvPicPr>
        <p:blipFill>
          <a:blip r:embed="rId5"/>
          <a:stretch>
            <a:fillRect/>
          </a:stretch>
        </p:blipFill>
        <p:spPr>
          <a:xfrm>
            <a:off x="4364128" y="1800711"/>
            <a:ext cx="2738709" cy="1165985"/>
          </a:xfrm>
          <a:prstGeom prst="rect">
            <a:avLst/>
          </a:prstGeom>
        </p:spPr>
      </p:pic>
      <p:sp>
        <p:nvSpPr>
          <p:cNvPr id="15" name="TextBox 14">
            <a:extLst>
              <a:ext uri="{FF2B5EF4-FFF2-40B4-BE49-F238E27FC236}">
                <a16:creationId xmlns:a16="http://schemas.microsoft.com/office/drawing/2014/main" id="{61FA5D4A-497C-4A48-9D5A-1FD46E4987EE}"/>
              </a:ext>
            </a:extLst>
          </p:cNvPr>
          <p:cNvSpPr txBox="1"/>
          <p:nvPr/>
        </p:nvSpPr>
        <p:spPr>
          <a:xfrm>
            <a:off x="6937374" y="2252000"/>
            <a:ext cx="564409" cy="369332"/>
          </a:xfrm>
          <a:prstGeom prst="rect">
            <a:avLst/>
          </a:prstGeom>
          <a:noFill/>
        </p:spPr>
        <p:txBody>
          <a:bodyPr wrap="square">
            <a:spAutoFit/>
          </a:bodyPr>
          <a:lstStyle/>
          <a:p>
            <a:r>
              <a:rPr lang="en-US" dirty="0"/>
              <a:t>4.5</a:t>
            </a:r>
          </a:p>
        </p:txBody>
      </p:sp>
      <p:sp>
        <p:nvSpPr>
          <p:cNvPr id="17" name="TextBox 16">
            <a:extLst>
              <a:ext uri="{FF2B5EF4-FFF2-40B4-BE49-F238E27FC236}">
                <a16:creationId xmlns:a16="http://schemas.microsoft.com/office/drawing/2014/main" id="{623C7373-2BD4-44DD-9200-DBEEA24E061D}"/>
              </a:ext>
            </a:extLst>
          </p:cNvPr>
          <p:cNvSpPr txBox="1"/>
          <p:nvPr/>
        </p:nvSpPr>
        <p:spPr>
          <a:xfrm>
            <a:off x="8533067" y="197217"/>
            <a:ext cx="2877436" cy="369332"/>
          </a:xfrm>
          <a:prstGeom prst="rect">
            <a:avLst/>
          </a:prstGeom>
          <a:noFill/>
        </p:spPr>
        <p:txBody>
          <a:bodyPr wrap="square">
            <a:spAutoFit/>
          </a:bodyPr>
          <a:lstStyle/>
          <a:p>
            <a:r>
              <a:rPr lang="en-US" b="1" dirty="0"/>
              <a:t>Collector–Emitter Loop</a:t>
            </a:r>
          </a:p>
        </p:txBody>
      </p:sp>
      <p:pic>
        <p:nvPicPr>
          <p:cNvPr id="18" name="Picture 17">
            <a:extLst>
              <a:ext uri="{FF2B5EF4-FFF2-40B4-BE49-F238E27FC236}">
                <a16:creationId xmlns:a16="http://schemas.microsoft.com/office/drawing/2014/main" id="{2B13E5CF-3AB2-47C1-B775-6D7D18BA08F5}"/>
              </a:ext>
            </a:extLst>
          </p:cNvPr>
          <p:cNvPicPr>
            <a:picLocks noChangeAspect="1"/>
          </p:cNvPicPr>
          <p:nvPr/>
        </p:nvPicPr>
        <p:blipFill>
          <a:blip r:embed="rId6"/>
          <a:stretch>
            <a:fillRect/>
          </a:stretch>
        </p:blipFill>
        <p:spPr>
          <a:xfrm>
            <a:off x="8448212" y="753814"/>
            <a:ext cx="2361469" cy="3259780"/>
          </a:xfrm>
          <a:prstGeom prst="rect">
            <a:avLst/>
          </a:prstGeom>
        </p:spPr>
      </p:pic>
      <p:pic>
        <p:nvPicPr>
          <p:cNvPr id="22" name="Picture 21">
            <a:extLst>
              <a:ext uri="{FF2B5EF4-FFF2-40B4-BE49-F238E27FC236}">
                <a16:creationId xmlns:a16="http://schemas.microsoft.com/office/drawing/2014/main" id="{AD4055D9-1553-4301-92D2-128B8DBB6811}"/>
              </a:ext>
            </a:extLst>
          </p:cNvPr>
          <p:cNvPicPr>
            <a:picLocks noChangeAspect="1"/>
          </p:cNvPicPr>
          <p:nvPr/>
        </p:nvPicPr>
        <p:blipFill>
          <a:blip r:embed="rId7"/>
          <a:stretch>
            <a:fillRect/>
          </a:stretch>
        </p:blipFill>
        <p:spPr>
          <a:xfrm>
            <a:off x="8229677" y="4280304"/>
            <a:ext cx="2950670" cy="1069618"/>
          </a:xfrm>
          <a:prstGeom prst="rect">
            <a:avLst/>
          </a:prstGeom>
        </p:spPr>
      </p:pic>
      <p:sp>
        <p:nvSpPr>
          <p:cNvPr id="24" name="TextBox 23">
            <a:extLst>
              <a:ext uri="{FF2B5EF4-FFF2-40B4-BE49-F238E27FC236}">
                <a16:creationId xmlns:a16="http://schemas.microsoft.com/office/drawing/2014/main" id="{7EC71E8C-C3F9-49C2-9521-0D182E5D4067}"/>
              </a:ext>
            </a:extLst>
          </p:cNvPr>
          <p:cNvSpPr txBox="1"/>
          <p:nvPr/>
        </p:nvSpPr>
        <p:spPr>
          <a:xfrm>
            <a:off x="11138411" y="4826214"/>
            <a:ext cx="527543" cy="369332"/>
          </a:xfrm>
          <a:prstGeom prst="rect">
            <a:avLst/>
          </a:prstGeom>
          <a:noFill/>
        </p:spPr>
        <p:txBody>
          <a:bodyPr wrap="square">
            <a:spAutoFit/>
          </a:bodyPr>
          <a:lstStyle/>
          <a:p>
            <a:r>
              <a:rPr lang="en-US" dirty="0"/>
              <a:t>4.6</a:t>
            </a:r>
          </a:p>
        </p:txBody>
      </p:sp>
      <p:sp>
        <p:nvSpPr>
          <p:cNvPr id="2" name="Left-Right Arrow 1"/>
          <p:cNvSpPr/>
          <p:nvPr/>
        </p:nvSpPr>
        <p:spPr>
          <a:xfrm>
            <a:off x="4295784" y="2702154"/>
            <a:ext cx="3040536" cy="363315"/>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494045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B68AAA8A-5D7A-4648-B1B6-DAED4EDD0322}"/>
              </a:ext>
            </a:extLst>
          </p:cNvPr>
          <p:cNvSpPr txBox="1"/>
          <p:nvPr/>
        </p:nvSpPr>
        <p:spPr>
          <a:xfrm>
            <a:off x="1601501" y="1976165"/>
            <a:ext cx="2935934" cy="369332"/>
          </a:xfrm>
          <a:prstGeom prst="rect">
            <a:avLst/>
          </a:prstGeom>
          <a:noFill/>
        </p:spPr>
        <p:txBody>
          <a:bodyPr wrap="square">
            <a:spAutoFit/>
          </a:bodyPr>
          <a:lstStyle/>
          <a:p>
            <a:r>
              <a:rPr lang="en-US" dirty="0"/>
              <a:t>in this case, since VE = 0 V,</a:t>
            </a:r>
          </a:p>
        </p:txBody>
      </p:sp>
      <p:pic>
        <p:nvPicPr>
          <p:cNvPr id="11" name="Picture 10">
            <a:extLst>
              <a:ext uri="{FF2B5EF4-FFF2-40B4-BE49-F238E27FC236}">
                <a16:creationId xmlns:a16="http://schemas.microsoft.com/office/drawing/2014/main" id="{1FB33EA4-4259-4C9C-8E5D-8CF182857480}"/>
              </a:ext>
            </a:extLst>
          </p:cNvPr>
          <p:cNvPicPr>
            <a:picLocks noChangeAspect="1"/>
          </p:cNvPicPr>
          <p:nvPr/>
        </p:nvPicPr>
        <p:blipFill>
          <a:blip r:embed="rId2"/>
          <a:stretch>
            <a:fillRect/>
          </a:stretch>
        </p:blipFill>
        <p:spPr>
          <a:xfrm>
            <a:off x="1601501" y="2414316"/>
            <a:ext cx="2866717" cy="1113288"/>
          </a:xfrm>
          <a:prstGeom prst="rect">
            <a:avLst/>
          </a:prstGeom>
        </p:spPr>
      </p:pic>
      <p:sp>
        <p:nvSpPr>
          <p:cNvPr id="13" name="TextBox 12">
            <a:extLst>
              <a:ext uri="{FF2B5EF4-FFF2-40B4-BE49-F238E27FC236}">
                <a16:creationId xmlns:a16="http://schemas.microsoft.com/office/drawing/2014/main" id="{0310EF50-FD97-47BB-92CC-B1CDCFEBC325}"/>
              </a:ext>
            </a:extLst>
          </p:cNvPr>
          <p:cNvSpPr txBox="1"/>
          <p:nvPr/>
        </p:nvSpPr>
        <p:spPr>
          <a:xfrm>
            <a:off x="4289956" y="2933918"/>
            <a:ext cx="673644" cy="369332"/>
          </a:xfrm>
          <a:prstGeom prst="rect">
            <a:avLst/>
          </a:prstGeom>
          <a:noFill/>
        </p:spPr>
        <p:txBody>
          <a:bodyPr wrap="square">
            <a:spAutoFit/>
          </a:bodyPr>
          <a:lstStyle/>
          <a:p>
            <a:r>
              <a:rPr lang="en-US" dirty="0"/>
              <a:t>4.8</a:t>
            </a:r>
          </a:p>
        </p:txBody>
      </p:sp>
      <p:pic>
        <p:nvPicPr>
          <p:cNvPr id="15" name="Picture 14">
            <a:extLst>
              <a:ext uri="{FF2B5EF4-FFF2-40B4-BE49-F238E27FC236}">
                <a16:creationId xmlns:a16="http://schemas.microsoft.com/office/drawing/2014/main" id="{DC10E5DF-69CF-4F58-8C1A-5473CE9B7D8A}"/>
              </a:ext>
            </a:extLst>
          </p:cNvPr>
          <p:cNvPicPr>
            <a:picLocks noChangeAspect="1"/>
          </p:cNvPicPr>
          <p:nvPr/>
        </p:nvPicPr>
        <p:blipFill>
          <a:blip r:embed="rId3"/>
          <a:stretch>
            <a:fillRect/>
          </a:stretch>
        </p:blipFill>
        <p:spPr>
          <a:xfrm>
            <a:off x="1637895" y="3372069"/>
            <a:ext cx="2652061" cy="696892"/>
          </a:xfrm>
          <a:prstGeom prst="rect">
            <a:avLst/>
          </a:prstGeom>
        </p:spPr>
      </p:pic>
      <p:sp>
        <p:nvSpPr>
          <p:cNvPr id="17" name="TextBox 16">
            <a:extLst>
              <a:ext uri="{FF2B5EF4-FFF2-40B4-BE49-F238E27FC236}">
                <a16:creationId xmlns:a16="http://schemas.microsoft.com/office/drawing/2014/main" id="{4A6AD6A2-1FBD-429B-AFEA-EA7FB0AAD26B}"/>
              </a:ext>
            </a:extLst>
          </p:cNvPr>
          <p:cNvSpPr txBox="1"/>
          <p:nvPr/>
        </p:nvSpPr>
        <p:spPr>
          <a:xfrm>
            <a:off x="4289956" y="3506284"/>
            <a:ext cx="673644" cy="369332"/>
          </a:xfrm>
          <a:prstGeom prst="rect">
            <a:avLst/>
          </a:prstGeom>
          <a:noFill/>
        </p:spPr>
        <p:txBody>
          <a:bodyPr wrap="square">
            <a:spAutoFit/>
          </a:bodyPr>
          <a:lstStyle/>
          <a:p>
            <a:r>
              <a:rPr lang="en-US" dirty="0"/>
              <a:t>4.9</a:t>
            </a:r>
          </a:p>
        </p:txBody>
      </p:sp>
      <p:pic>
        <p:nvPicPr>
          <p:cNvPr id="19" name="Picture 18">
            <a:extLst>
              <a:ext uri="{FF2B5EF4-FFF2-40B4-BE49-F238E27FC236}">
                <a16:creationId xmlns:a16="http://schemas.microsoft.com/office/drawing/2014/main" id="{5BE1D2B4-1056-42CC-8CE6-DB1D3CC4ABF9}"/>
              </a:ext>
            </a:extLst>
          </p:cNvPr>
          <p:cNvPicPr>
            <a:picLocks noChangeAspect="1"/>
          </p:cNvPicPr>
          <p:nvPr/>
        </p:nvPicPr>
        <p:blipFill>
          <a:blip r:embed="rId4"/>
          <a:stretch>
            <a:fillRect/>
          </a:stretch>
        </p:blipFill>
        <p:spPr>
          <a:xfrm>
            <a:off x="1754260" y="4395652"/>
            <a:ext cx="2424008" cy="936003"/>
          </a:xfrm>
          <a:prstGeom prst="rect">
            <a:avLst/>
          </a:prstGeom>
        </p:spPr>
      </p:pic>
      <p:sp>
        <p:nvSpPr>
          <p:cNvPr id="21" name="TextBox 20">
            <a:extLst>
              <a:ext uri="{FF2B5EF4-FFF2-40B4-BE49-F238E27FC236}">
                <a16:creationId xmlns:a16="http://schemas.microsoft.com/office/drawing/2014/main" id="{D4C99560-7E45-4236-9194-4EBD645D1D3F}"/>
              </a:ext>
            </a:extLst>
          </p:cNvPr>
          <p:cNvSpPr txBox="1"/>
          <p:nvPr/>
        </p:nvSpPr>
        <p:spPr>
          <a:xfrm>
            <a:off x="4189090" y="4546357"/>
            <a:ext cx="774510" cy="369332"/>
          </a:xfrm>
          <a:prstGeom prst="rect">
            <a:avLst/>
          </a:prstGeom>
          <a:noFill/>
        </p:spPr>
        <p:txBody>
          <a:bodyPr wrap="square">
            <a:spAutoFit/>
          </a:bodyPr>
          <a:lstStyle/>
          <a:p>
            <a:r>
              <a:rPr lang="en-US" dirty="0"/>
              <a:t>4.10</a:t>
            </a:r>
          </a:p>
        </p:txBody>
      </p:sp>
      <p:sp>
        <p:nvSpPr>
          <p:cNvPr id="23" name="TextBox 22">
            <a:extLst>
              <a:ext uri="{FF2B5EF4-FFF2-40B4-BE49-F238E27FC236}">
                <a16:creationId xmlns:a16="http://schemas.microsoft.com/office/drawing/2014/main" id="{BDACA28D-E985-498B-8EB4-B01C69CE6B29}"/>
              </a:ext>
            </a:extLst>
          </p:cNvPr>
          <p:cNvSpPr txBox="1"/>
          <p:nvPr/>
        </p:nvSpPr>
        <p:spPr>
          <a:xfrm>
            <a:off x="1754260" y="4026320"/>
            <a:ext cx="1365299" cy="369332"/>
          </a:xfrm>
          <a:prstGeom prst="rect">
            <a:avLst/>
          </a:prstGeom>
          <a:noFill/>
        </p:spPr>
        <p:txBody>
          <a:bodyPr wrap="square">
            <a:spAutoFit/>
          </a:bodyPr>
          <a:lstStyle/>
          <a:p>
            <a:r>
              <a:rPr lang="en-US" dirty="0"/>
              <a:t> VE  = 0 V,</a:t>
            </a:r>
          </a:p>
        </p:txBody>
      </p:sp>
      <p:pic>
        <p:nvPicPr>
          <p:cNvPr id="25" name="Picture 24">
            <a:extLst>
              <a:ext uri="{FF2B5EF4-FFF2-40B4-BE49-F238E27FC236}">
                <a16:creationId xmlns:a16="http://schemas.microsoft.com/office/drawing/2014/main" id="{66EBD8C0-C386-440A-BB1A-BF8E9D9C953B}"/>
              </a:ext>
            </a:extLst>
          </p:cNvPr>
          <p:cNvPicPr>
            <a:picLocks noChangeAspect="1"/>
          </p:cNvPicPr>
          <p:nvPr/>
        </p:nvPicPr>
        <p:blipFill>
          <a:blip r:embed="rId5"/>
          <a:stretch>
            <a:fillRect/>
          </a:stretch>
        </p:blipFill>
        <p:spPr>
          <a:xfrm>
            <a:off x="6718626" y="1292884"/>
            <a:ext cx="3266364" cy="4111393"/>
          </a:xfrm>
          <a:prstGeom prst="rect">
            <a:avLst/>
          </a:prstGeom>
        </p:spPr>
      </p:pic>
      <p:pic>
        <p:nvPicPr>
          <p:cNvPr id="12" name="Picture 11">
            <a:extLst>
              <a:ext uri="{FF2B5EF4-FFF2-40B4-BE49-F238E27FC236}">
                <a16:creationId xmlns:a16="http://schemas.microsoft.com/office/drawing/2014/main" id="{E4942131-D5B5-445A-87C7-3C987976A2F9}"/>
              </a:ext>
            </a:extLst>
          </p:cNvPr>
          <p:cNvPicPr>
            <a:picLocks noChangeAspect="1"/>
          </p:cNvPicPr>
          <p:nvPr/>
        </p:nvPicPr>
        <p:blipFill>
          <a:blip r:embed="rId6"/>
          <a:stretch>
            <a:fillRect/>
          </a:stretch>
        </p:blipFill>
        <p:spPr>
          <a:xfrm>
            <a:off x="1501487" y="1098086"/>
            <a:ext cx="2788469" cy="702281"/>
          </a:xfrm>
          <a:prstGeom prst="rect">
            <a:avLst/>
          </a:prstGeom>
        </p:spPr>
      </p:pic>
      <p:sp>
        <p:nvSpPr>
          <p:cNvPr id="14" name="TextBox 13">
            <a:extLst>
              <a:ext uri="{FF2B5EF4-FFF2-40B4-BE49-F238E27FC236}">
                <a16:creationId xmlns:a16="http://schemas.microsoft.com/office/drawing/2014/main" id="{2F6DA03B-7493-40E3-BE69-CDC48F5FB628}"/>
              </a:ext>
            </a:extLst>
          </p:cNvPr>
          <p:cNvSpPr txBox="1"/>
          <p:nvPr/>
        </p:nvSpPr>
        <p:spPr>
          <a:xfrm>
            <a:off x="4366856" y="1292884"/>
            <a:ext cx="719919" cy="369332"/>
          </a:xfrm>
          <a:prstGeom prst="rect">
            <a:avLst/>
          </a:prstGeom>
          <a:noFill/>
        </p:spPr>
        <p:txBody>
          <a:bodyPr wrap="square">
            <a:spAutoFit/>
          </a:bodyPr>
          <a:lstStyle/>
          <a:p>
            <a:r>
              <a:rPr lang="en-US" dirty="0"/>
              <a:t>4.7</a:t>
            </a:r>
          </a:p>
        </p:txBody>
      </p:sp>
    </p:spTree>
    <p:extLst>
      <p:ext uri="{BB962C8B-B14F-4D97-AF65-F5344CB8AC3E}">
        <p14:creationId xmlns:p14="http://schemas.microsoft.com/office/powerpoint/2010/main" val="23663566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FE3AB2A-E638-4183-A7DC-C769EFE45F25}"/>
              </a:ext>
            </a:extLst>
          </p:cNvPr>
          <p:cNvSpPr txBox="1"/>
          <p:nvPr/>
        </p:nvSpPr>
        <p:spPr>
          <a:xfrm>
            <a:off x="904165" y="531842"/>
            <a:ext cx="1907274" cy="369332"/>
          </a:xfrm>
          <a:prstGeom prst="rect">
            <a:avLst/>
          </a:prstGeom>
          <a:noFill/>
        </p:spPr>
        <p:txBody>
          <a:bodyPr wrap="square">
            <a:spAutoFit/>
          </a:bodyPr>
          <a:lstStyle/>
          <a:p>
            <a:r>
              <a:rPr lang="en-US" dirty="0"/>
              <a:t>EXAMPLE 4.1</a:t>
            </a:r>
          </a:p>
        </p:txBody>
      </p:sp>
      <p:sp>
        <p:nvSpPr>
          <p:cNvPr id="5" name="TextBox 4">
            <a:extLst>
              <a:ext uri="{FF2B5EF4-FFF2-40B4-BE49-F238E27FC236}">
                <a16:creationId xmlns:a16="http://schemas.microsoft.com/office/drawing/2014/main" id="{957F339B-F1C1-4008-A7CC-5392454A3B23}"/>
              </a:ext>
            </a:extLst>
          </p:cNvPr>
          <p:cNvSpPr txBox="1"/>
          <p:nvPr/>
        </p:nvSpPr>
        <p:spPr>
          <a:xfrm>
            <a:off x="904165" y="1108586"/>
            <a:ext cx="6479274" cy="1477328"/>
          </a:xfrm>
          <a:prstGeom prst="rect">
            <a:avLst/>
          </a:prstGeom>
          <a:noFill/>
        </p:spPr>
        <p:txBody>
          <a:bodyPr wrap="square">
            <a:spAutoFit/>
          </a:bodyPr>
          <a:lstStyle/>
          <a:p>
            <a:r>
              <a:rPr lang="en-US" dirty="0"/>
              <a:t>Determine the following for the fixed-bias configuration of Fig. 4.7.</a:t>
            </a:r>
          </a:p>
          <a:p>
            <a:r>
              <a:rPr lang="en-US" dirty="0"/>
              <a:t>(a) I</a:t>
            </a:r>
            <a:r>
              <a:rPr lang="en-US" sz="1400" dirty="0"/>
              <a:t>BQ</a:t>
            </a:r>
            <a:r>
              <a:rPr lang="en-US" dirty="0"/>
              <a:t> and I</a:t>
            </a:r>
            <a:r>
              <a:rPr lang="en-US" sz="1400" dirty="0"/>
              <a:t>CQ</a:t>
            </a:r>
            <a:r>
              <a:rPr lang="en-US" dirty="0"/>
              <a:t>.</a:t>
            </a:r>
          </a:p>
          <a:p>
            <a:r>
              <a:rPr lang="en-US" dirty="0"/>
              <a:t>(b) VCEQ.</a:t>
            </a:r>
          </a:p>
          <a:p>
            <a:r>
              <a:rPr lang="en-US" dirty="0"/>
              <a:t>(c) V</a:t>
            </a:r>
            <a:r>
              <a:rPr lang="en-US" sz="1400" dirty="0"/>
              <a:t>B</a:t>
            </a:r>
            <a:r>
              <a:rPr lang="en-US" dirty="0"/>
              <a:t> and V</a:t>
            </a:r>
            <a:r>
              <a:rPr lang="en-US" sz="1400" dirty="0"/>
              <a:t>C</a:t>
            </a:r>
            <a:r>
              <a:rPr lang="en-US" dirty="0"/>
              <a:t>.</a:t>
            </a:r>
          </a:p>
          <a:p>
            <a:r>
              <a:rPr lang="en-US" dirty="0"/>
              <a:t>(d) V</a:t>
            </a:r>
            <a:r>
              <a:rPr lang="en-US" sz="1400" dirty="0"/>
              <a:t>BC</a:t>
            </a:r>
          </a:p>
        </p:txBody>
      </p:sp>
      <p:pic>
        <p:nvPicPr>
          <p:cNvPr id="7" name="Picture 6">
            <a:extLst>
              <a:ext uri="{FF2B5EF4-FFF2-40B4-BE49-F238E27FC236}">
                <a16:creationId xmlns:a16="http://schemas.microsoft.com/office/drawing/2014/main" id="{3CC755A7-4A2D-4E36-8F0E-881896A572D3}"/>
              </a:ext>
            </a:extLst>
          </p:cNvPr>
          <p:cNvPicPr>
            <a:picLocks noChangeAspect="1"/>
          </p:cNvPicPr>
          <p:nvPr/>
        </p:nvPicPr>
        <p:blipFill>
          <a:blip r:embed="rId2"/>
          <a:stretch>
            <a:fillRect/>
          </a:stretch>
        </p:blipFill>
        <p:spPr>
          <a:xfrm>
            <a:off x="2695219" y="2071357"/>
            <a:ext cx="4868839" cy="3370735"/>
          </a:xfrm>
          <a:prstGeom prst="rect">
            <a:avLst/>
          </a:prstGeom>
        </p:spPr>
      </p:pic>
      <p:pic>
        <p:nvPicPr>
          <p:cNvPr id="9" name="Picture 8">
            <a:extLst>
              <a:ext uri="{FF2B5EF4-FFF2-40B4-BE49-F238E27FC236}">
                <a16:creationId xmlns:a16="http://schemas.microsoft.com/office/drawing/2014/main" id="{E7826953-6F99-4EF1-90C7-9DA123FAAFD5}"/>
              </a:ext>
            </a:extLst>
          </p:cNvPr>
          <p:cNvPicPr>
            <a:picLocks noChangeAspect="1"/>
          </p:cNvPicPr>
          <p:nvPr/>
        </p:nvPicPr>
        <p:blipFill>
          <a:blip r:embed="rId3"/>
          <a:stretch>
            <a:fillRect/>
          </a:stretch>
        </p:blipFill>
        <p:spPr>
          <a:xfrm>
            <a:off x="3500436" y="5442092"/>
            <a:ext cx="4160188" cy="1033587"/>
          </a:xfrm>
          <a:prstGeom prst="rect">
            <a:avLst/>
          </a:prstGeom>
        </p:spPr>
      </p:pic>
      <mc:AlternateContent xmlns:mc="http://schemas.openxmlformats.org/markup-compatibility/2006" xmlns:p14="http://schemas.microsoft.com/office/powerpoint/2010/main">
        <mc:Choice Requires="p14">
          <p:contentPart p14:bwMode="auto" r:id="rId4">
            <p14:nvContentPartPr>
              <p14:cNvPr id="33" name="Ink 32">
                <a:extLst>
                  <a:ext uri="{FF2B5EF4-FFF2-40B4-BE49-F238E27FC236}">
                    <a16:creationId xmlns:a16="http://schemas.microsoft.com/office/drawing/2014/main" id="{3B11ACED-B62E-4708-97B6-1184F31CFDDC}"/>
                  </a:ext>
                </a:extLst>
              </p14:cNvPr>
              <p14:cNvContentPartPr/>
              <p14:nvPr/>
            </p14:nvContentPartPr>
            <p14:xfrm>
              <a:off x="8853845" y="2379214"/>
              <a:ext cx="28080" cy="18000"/>
            </p14:xfrm>
          </p:contentPart>
        </mc:Choice>
        <mc:Fallback xmlns="">
          <p:pic>
            <p:nvPicPr>
              <p:cNvPr id="33" name="Ink 32">
                <a:extLst>
                  <a:ext uri="{FF2B5EF4-FFF2-40B4-BE49-F238E27FC236}">
                    <a16:creationId xmlns:a16="http://schemas.microsoft.com/office/drawing/2014/main" id="{3B11ACED-B62E-4708-97B6-1184F31CFDDC}"/>
                  </a:ext>
                </a:extLst>
              </p:cNvPr>
              <p:cNvPicPr/>
              <p:nvPr/>
            </p:nvPicPr>
            <p:blipFill>
              <a:blip r:embed="rId51"/>
              <a:stretch>
                <a:fillRect/>
              </a:stretch>
            </p:blipFill>
            <p:spPr>
              <a:xfrm>
                <a:off x="8845205" y="2370214"/>
                <a:ext cx="45720" cy="35640"/>
              </a:xfrm>
              <a:prstGeom prst="rect">
                <a:avLst/>
              </a:prstGeom>
            </p:spPr>
          </p:pic>
        </mc:Fallback>
      </mc:AlternateContent>
    </p:spTree>
    <p:extLst>
      <p:ext uri="{BB962C8B-B14F-4D97-AF65-F5344CB8AC3E}">
        <p14:creationId xmlns:p14="http://schemas.microsoft.com/office/powerpoint/2010/main" val="5489452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AD3E62F-C289-4A11-9BE5-C0D3596C0082}"/>
              </a:ext>
            </a:extLst>
          </p:cNvPr>
          <p:cNvPicPr>
            <a:picLocks noChangeAspect="1"/>
          </p:cNvPicPr>
          <p:nvPr/>
        </p:nvPicPr>
        <p:blipFill>
          <a:blip r:embed="rId2"/>
          <a:stretch>
            <a:fillRect/>
          </a:stretch>
        </p:blipFill>
        <p:spPr>
          <a:xfrm>
            <a:off x="1371822" y="805218"/>
            <a:ext cx="7875302" cy="4954137"/>
          </a:xfrm>
          <a:prstGeom prst="rect">
            <a:avLst/>
          </a:prstGeom>
        </p:spPr>
      </p:pic>
    </p:spTree>
    <p:extLst>
      <p:ext uri="{BB962C8B-B14F-4D97-AF65-F5344CB8AC3E}">
        <p14:creationId xmlns:p14="http://schemas.microsoft.com/office/powerpoint/2010/main" val="13400409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A550B5F-1635-48D2-BDEC-6352D48293EF}"/>
              </a:ext>
            </a:extLst>
          </p:cNvPr>
          <p:cNvPicPr>
            <a:picLocks noChangeAspect="1"/>
          </p:cNvPicPr>
          <p:nvPr/>
        </p:nvPicPr>
        <p:blipFill>
          <a:blip r:embed="rId2"/>
          <a:stretch>
            <a:fillRect/>
          </a:stretch>
        </p:blipFill>
        <p:spPr>
          <a:xfrm>
            <a:off x="945108" y="955765"/>
            <a:ext cx="2677521" cy="840617"/>
          </a:xfrm>
          <a:prstGeom prst="rect">
            <a:avLst/>
          </a:prstGeom>
        </p:spPr>
      </p:pic>
      <p:pic>
        <p:nvPicPr>
          <p:cNvPr id="7" name="Picture 6">
            <a:extLst>
              <a:ext uri="{FF2B5EF4-FFF2-40B4-BE49-F238E27FC236}">
                <a16:creationId xmlns:a16="http://schemas.microsoft.com/office/drawing/2014/main" id="{6C346CB6-A9EF-4D78-8A51-B4C4391B3149}"/>
              </a:ext>
            </a:extLst>
          </p:cNvPr>
          <p:cNvPicPr>
            <a:picLocks noChangeAspect="1"/>
          </p:cNvPicPr>
          <p:nvPr/>
        </p:nvPicPr>
        <p:blipFill>
          <a:blip r:embed="rId3"/>
          <a:stretch>
            <a:fillRect/>
          </a:stretch>
        </p:blipFill>
        <p:spPr>
          <a:xfrm>
            <a:off x="404406" y="1821369"/>
            <a:ext cx="5434575" cy="3092848"/>
          </a:xfrm>
          <a:prstGeom prst="rect">
            <a:avLst/>
          </a:prstGeom>
        </p:spPr>
      </p:pic>
      <p:pic>
        <p:nvPicPr>
          <p:cNvPr id="9" name="Picture 8">
            <a:extLst>
              <a:ext uri="{FF2B5EF4-FFF2-40B4-BE49-F238E27FC236}">
                <a16:creationId xmlns:a16="http://schemas.microsoft.com/office/drawing/2014/main" id="{3A2A882C-D3C6-4CF2-8515-9E8593F56D76}"/>
              </a:ext>
            </a:extLst>
          </p:cNvPr>
          <p:cNvPicPr>
            <a:picLocks noChangeAspect="1"/>
          </p:cNvPicPr>
          <p:nvPr/>
        </p:nvPicPr>
        <p:blipFill>
          <a:blip r:embed="rId4"/>
          <a:stretch>
            <a:fillRect/>
          </a:stretch>
        </p:blipFill>
        <p:spPr>
          <a:xfrm>
            <a:off x="1349319" y="5207649"/>
            <a:ext cx="1921917" cy="1063918"/>
          </a:xfrm>
          <a:prstGeom prst="rect">
            <a:avLst/>
          </a:prstGeom>
        </p:spPr>
      </p:pic>
      <p:pic>
        <p:nvPicPr>
          <p:cNvPr id="11" name="Picture 10">
            <a:extLst>
              <a:ext uri="{FF2B5EF4-FFF2-40B4-BE49-F238E27FC236}">
                <a16:creationId xmlns:a16="http://schemas.microsoft.com/office/drawing/2014/main" id="{FF29F70D-1731-4F95-B1B7-91C25E447E25}"/>
              </a:ext>
            </a:extLst>
          </p:cNvPr>
          <p:cNvPicPr>
            <a:picLocks noChangeAspect="1"/>
          </p:cNvPicPr>
          <p:nvPr/>
        </p:nvPicPr>
        <p:blipFill>
          <a:blip r:embed="rId5"/>
          <a:stretch>
            <a:fillRect/>
          </a:stretch>
        </p:blipFill>
        <p:spPr>
          <a:xfrm>
            <a:off x="3527094" y="5699441"/>
            <a:ext cx="721045" cy="405588"/>
          </a:xfrm>
          <a:prstGeom prst="rect">
            <a:avLst/>
          </a:prstGeom>
        </p:spPr>
      </p:pic>
      <p:pic>
        <p:nvPicPr>
          <p:cNvPr id="13" name="Picture 12">
            <a:extLst>
              <a:ext uri="{FF2B5EF4-FFF2-40B4-BE49-F238E27FC236}">
                <a16:creationId xmlns:a16="http://schemas.microsoft.com/office/drawing/2014/main" id="{6C2D192D-F827-472B-ABA3-12B51FB00455}"/>
              </a:ext>
            </a:extLst>
          </p:cNvPr>
          <p:cNvPicPr>
            <a:picLocks noChangeAspect="1"/>
          </p:cNvPicPr>
          <p:nvPr/>
        </p:nvPicPr>
        <p:blipFill>
          <a:blip r:embed="rId6"/>
          <a:stretch>
            <a:fillRect/>
          </a:stretch>
        </p:blipFill>
        <p:spPr>
          <a:xfrm>
            <a:off x="6519839" y="3725602"/>
            <a:ext cx="5543975" cy="2705460"/>
          </a:xfrm>
          <a:prstGeom prst="rect">
            <a:avLst/>
          </a:prstGeom>
        </p:spPr>
      </p:pic>
      <p:pic>
        <p:nvPicPr>
          <p:cNvPr id="15" name="Picture 14">
            <a:extLst>
              <a:ext uri="{FF2B5EF4-FFF2-40B4-BE49-F238E27FC236}">
                <a16:creationId xmlns:a16="http://schemas.microsoft.com/office/drawing/2014/main" id="{C713128B-22F7-4AC9-9752-C52FD272A632}"/>
              </a:ext>
            </a:extLst>
          </p:cNvPr>
          <p:cNvPicPr>
            <a:picLocks noChangeAspect="1"/>
          </p:cNvPicPr>
          <p:nvPr/>
        </p:nvPicPr>
        <p:blipFill>
          <a:blip r:embed="rId7"/>
          <a:stretch>
            <a:fillRect/>
          </a:stretch>
        </p:blipFill>
        <p:spPr>
          <a:xfrm>
            <a:off x="6999277" y="586433"/>
            <a:ext cx="2809663" cy="2163591"/>
          </a:xfrm>
          <a:prstGeom prst="rect">
            <a:avLst/>
          </a:prstGeom>
        </p:spPr>
      </p:pic>
      <p:sp>
        <p:nvSpPr>
          <p:cNvPr id="2" name="Title 1">
            <a:extLst>
              <a:ext uri="{FF2B5EF4-FFF2-40B4-BE49-F238E27FC236}">
                <a16:creationId xmlns:a16="http://schemas.microsoft.com/office/drawing/2014/main" id="{E8550FCF-15C5-A03A-4D63-95D2D859CBF0}"/>
              </a:ext>
            </a:extLst>
          </p:cNvPr>
          <p:cNvSpPr txBox="1">
            <a:spLocks/>
          </p:cNvSpPr>
          <p:nvPr/>
        </p:nvSpPr>
        <p:spPr>
          <a:xfrm>
            <a:off x="838200" y="365125"/>
            <a:ext cx="10515600" cy="71524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D" sz="4000" b="1"/>
              <a:t>Transistor </a:t>
            </a:r>
            <a:r>
              <a:rPr lang="en-US" sz="4000" b="1"/>
              <a:t>Saturation</a:t>
            </a:r>
            <a:endParaRPr lang="en-ID" sz="4000" b="1"/>
          </a:p>
        </p:txBody>
      </p:sp>
    </p:spTree>
    <p:extLst>
      <p:ext uri="{BB962C8B-B14F-4D97-AF65-F5344CB8AC3E}">
        <p14:creationId xmlns:p14="http://schemas.microsoft.com/office/powerpoint/2010/main" val="17583610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E6E1933-A3BA-40F5-A214-56595D4F17A7}"/>
              </a:ext>
            </a:extLst>
          </p:cNvPr>
          <p:cNvPicPr>
            <a:picLocks noChangeAspect="1"/>
          </p:cNvPicPr>
          <p:nvPr/>
        </p:nvPicPr>
        <p:blipFill>
          <a:blip r:embed="rId2"/>
          <a:stretch>
            <a:fillRect/>
          </a:stretch>
        </p:blipFill>
        <p:spPr>
          <a:xfrm>
            <a:off x="658931" y="561975"/>
            <a:ext cx="2299398" cy="543494"/>
          </a:xfrm>
          <a:prstGeom prst="rect">
            <a:avLst/>
          </a:prstGeom>
        </p:spPr>
      </p:pic>
      <p:pic>
        <p:nvPicPr>
          <p:cNvPr id="5" name="Picture 4">
            <a:extLst>
              <a:ext uri="{FF2B5EF4-FFF2-40B4-BE49-F238E27FC236}">
                <a16:creationId xmlns:a16="http://schemas.microsoft.com/office/drawing/2014/main" id="{287D4444-777E-4D64-87BE-20264FDF1A84}"/>
              </a:ext>
            </a:extLst>
          </p:cNvPr>
          <p:cNvPicPr>
            <a:picLocks noChangeAspect="1"/>
          </p:cNvPicPr>
          <p:nvPr/>
        </p:nvPicPr>
        <p:blipFill>
          <a:blip r:embed="rId3"/>
          <a:stretch>
            <a:fillRect/>
          </a:stretch>
        </p:blipFill>
        <p:spPr>
          <a:xfrm>
            <a:off x="698309" y="1242515"/>
            <a:ext cx="4520039" cy="1325878"/>
          </a:xfrm>
          <a:prstGeom prst="rect">
            <a:avLst/>
          </a:prstGeom>
        </p:spPr>
      </p:pic>
      <p:sp>
        <p:nvSpPr>
          <p:cNvPr id="7" name="TextBox 6">
            <a:extLst>
              <a:ext uri="{FF2B5EF4-FFF2-40B4-BE49-F238E27FC236}">
                <a16:creationId xmlns:a16="http://schemas.microsoft.com/office/drawing/2014/main" id="{8731B3D2-1AA6-429C-A1F8-C0414B3B4145}"/>
              </a:ext>
            </a:extLst>
          </p:cNvPr>
          <p:cNvSpPr txBox="1"/>
          <p:nvPr/>
        </p:nvSpPr>
        <p:spPr>
          <a:xfrm>
            <a:off x="698309" y="3429000"/>
            <a:ext cx="6093724" cy="369332"/>
          </a:xfrm>
          <a:prstGeom prst="rect">
            <a:avLst/>
          </a:prstGeom>
          <a:noFill/>
        </p:spPr>
        <p:txBody>
          <a:bodyPr wrap="square">
            <a:spAutoFit/>
          </a:bodyPr>
          <a:lstStyle/>
          <a:p>
            <a:r>
              <a:rPr lang="en-US" b="1" u="sng" dirty="0"/>
              <a:t>Load-Line Analysis</a:t>
            </a:r>
          </a:p>
        </p:txBody>
      </p:sp>
      <p:pic>
        <p:nvPicPr>
          <p:cNvPr id="9" name="Picture 8">
            <a:extLst>
              <a:ext uri="{FF2B5EF4-FFF2-40B4-BE49-F238E27FC236}">
                <a16:creationId xmlns:a16="http://schemas.microsoft.com/office/drawing/2014/main" id="{2329B539-475A-43F7-8019-641C908FC40C}"/>
              </a:ext>
            </a:extLst>
          </p:cNvPr>
          <p:cNvPicPr>
            <a:picLocks noChangeAspect="1"/>
          </p:cNvPicPr>
          <p:nvPr/>
        </p:nvPicPr>
        <p:blipFill>
          <a:blip r:embed="rId4"/>
          <a:stretch>
            <a:fillRect/>
          </a:stretch>
        </p:blipFill>
        <p:spPr>
          <a:xfrm>
            <a:off x="658931" y="4053372"/>
            <a:ext cx="2893257" cy="746647"/>
          </a:xfrm>
          <a:prstGeom prst="rect">
            <a:avLst/>
          </a:prstGeom>
        </p:spPr>
      </p:pic>
      <p:sp>
        <p:nvSpPr>
          <p:cNvPr id="11" name="TextBox 10">
            <a:extLst>
              <a:ext uri="{FF2B5EF4-FFF2-40B4-BE49-F238E27FC236}">
                <a16:creationId xmlns:a16="http://schemas.microsoft.com/office/drawing/2014/main" id="{9DACA8D9-8355-4091-AD97-174AAB38151D}"/>
              </a:ext>
            </a:extLst>
          </p:cNvPr>
          <p:cNvSpPr txBox="1"/>
          <p:nvPr/>
        </p:nvSpPr>
        <p:spPr>
          <a:xfrm>
            <a:off x="3745171" y="4412626"/>
            <a:ext cx="870044" cy="369332"/>
          </a:xfrm>
          <a:prstGeom prst="rect">
            <a:avLst/>
          </a:prstGeom>
          <a:noFill/>
        </p:spPr>
        <p:txBody>
          <a:bodyPr wrap="square">
            <a:spAutoFit/>
          </a:bodyPr>
          <a:lstStyle/>
          <a:p>
            <a:r>
              <a:rPr lang="en-US" dirty="0"/>
              <a:t>(4.12)</a:t>
            </a:r>
          </a:p>
        </p:txBody>
      </p:sp>
      <p:pic>
        <p:nvPicPr>
          <p:cNvPr id="13" name="Picture 12">
            <a:extLst>
              <a:ext uri="{FF2B5EF4-FFF2-40B4-BE49-F238E27FC236}">
                <a16:creationId xmlns:a16="http://schemas.microsoft.com/office/drawing/2014/main" id="{253AA542-2A96-4DB8-A25B-3A917DCE3671}"/>
              </a:ext>
            </a:extLst>
          </p:cNvPr>
          <p:cNvPicPr>
            <a:picLocks noChangeAspect="1"/>
          </p:cNvPicPr>
          <p:nvPr/>
        </p:nvPicPr>
        <p:blipFill>
          <a:blip r:embed="rId5"/>
          <a:stretch>
            <a:fillRect/>
          </a:stretch>
        </p:blipFill>
        <p:spPr>
          <a:xfrm>
            <a:off x="698308" y="4800019"/>
            <a:ext cx="2777026" cy="1004845"/>
          </a:xfrm>
          <a:prstGeom prst="rect">
            <a:avLst/>
          </a:prstGeom>
        </p:spPr>
      </p:pic>
      <p:sp>
        <p:nvSpPr>
          <p:cNvPr id="15" name="TextBox 14">
            <a:extLst>
              <a:ext uri="{FF2B5EF4-FFF2-40B4-BE49-F238E27FC236}">
                <a16:creationId xmlns:a16="http://schemas.microsoft.com/office/drawing/2014/main" id="{13F8F230-2357-469C-8863-654C478416DB}"/>
              </a:ext>
            </a:extLst>
          </p:cNvPr>
          <p:cNvSpPr txBox="1"/>
          <p:nvPr/>
        </p:nvSpPr>
        <p:spPr>
          <a:xfrm>
            <a:off x="3717875" y="5246153"/>
            <a:ext cx="924636" cy="369332"/>
          </a:xfrm>
          <a:prstGeom prst="rect">
            <a:avLst/>
          </a:prstGeom>
          <a:noFill/>
        </p:spPr>
        <p:txBody>
          <a:bodyPr wrap="square">
            <a:spAutoFit/>
          </a:bodyPr>
          <a:lstStyle/>
          <a:p>
            <a:r>
              <a:rPr lang="en-US" dirty="0"/>
              <a:t>(4.13)</a:t>
            </a:r>
          </a:p>
        </p:txBody>
      </p:sp>
      <p:pic>
        <p:nvPicPr>
          <p:cNvPr id="17" name="Picture 16">
            <a:extLst>
              <a:ext uri="{FF2B5EF4-FFF2-40B4-BE49-F238E27FC236}">
                <a16:creationId xmlns:a16="http://schemas.microsoft.com/office/drawing/2014/main" id="{13545836-E868-460D-A1ED-BC230078CC67}"/>
              </a:ext>
            </a:extLst>
          </p:cNvPr>
          <p:cNvPicPr>
            <a:picLocks noChangeAspect="1"/>
          </p:cNvPicPr>
          <p:nvPr/>
        </p:nvPicPr>
        <p:blipFill>
          <a:blip r:embed="rId6"/>
          <a:stretch>
            <a:fillRect/>
          </a:stretch>
        </p:blipFill>
        <p:spPr>
          <a:xfrm>
            <a:off x="5411331" y="2568393"/>
            <a:ext cx="5970903" cy="3920397"/>
          </a:xfrm>
          <a:prstGeom prst="rect">
            <a:avLst/>
          </a:prstGeom>
        </p:spPr>
      </p:pic>
      <p:pic>
        <p:nvPicPr>
          <p:cNvPr id="10" name="Picture 9">
            <a:extLst>
              <a:ext uri="{FF2B5EF4-FFF2-40B4-BE49-F238E27FC236}">
                <a16:creationId xmlns:a16="http://schemas.microsoft.com/office/drawing/2014/main" id="{3CC755A7-4A2D-4E36-8F0E-881896A572D3}"/>
              </a:ext>
            </a:extLst>
          </p:cNvPr>
          <p:cNvPicPr>
            <a:picLocks noChangeAspect="1"/>
          </p:cNvPicPr>
          <p:nvPr/>
        </p:nvPicPr>
        <p:blipFill>
          <a:blip r:embed="rId7"/>
          <a:stretch>
            <a:fillRect/>
          </a:stretch>
        </p:blipFill>
        <p:spPr>
          <a:xfrm>
            <a:off x="6730258" y="260898"/>
            <a:ext cx="3333048" cy="2307495"/>
          </a:xfrm>
          <a:prstGeom prst="rect">
            <a:avLst/>
          </a:prstGeom>
        </p:spPr>
      </p:pic>
    </p:spTree>
    <p:extLst>
      <p:ext uri="{BB962C8B-B14F-4D97-AF65-F5344CB8AC3E}">
        <p14:creationId xmlns:p14="http://schemas.microsoft.com/office/powerpoint/2010/main" val="7075477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7BE9B54-E13F-411A-8700-0E7C17BA9C18}"/>
              </a:ext>
            </a:extLst>
          </p:cNvPr>
          <p:cNvPicPr>
            <a:picLocks noChangeAspect="1"/>
          </p:cNvPicPr>
          <p:nvPr/>
        </p:nvPicPr>
        <p:blipFill>
          <a:blip r:embed="rId2"/>
          <a:stretch>
            <a:fillRect/>
          </a:stretch>
        </p:blipFill>
        <p:spPr>
          <a:xfrm>
            <a:off x="726863" y="532973"/>
            <a:ext cx="5601619" cy="3288400"/>
          </a:xfrm>
          <a:prstGeom prst="rect">
            <a:avLst/>
          </a:prstGeom>
        </p:spPr>
      </p:pic>
      <p:pic>
        <p:nvPicPr>
          <p:cNvPr id="5" name="Picture 4">
            <a:extLst>
              <a:ext uri="{FF2B5EF4-FFF2-40B4-BE49-F238E27FC236}">
                <a16:creationId xmlns:a16="http://schemas.microsoft.com/office/drawing/2014/main" id="{B6A21754-A878-46F1-AB60-169D2DA2F2A0}"/>
              </a:ext>
            </a:extLst>
          </p:cNvPr>
          <p:cNvPicPr>
            <a:picLocks noChangeAspect="1"/>
          </p:cNvPicPr>
          <p:nvPr/>
        </p:nvPicPr>
        <p:blipFill>
          <a:blip r:embed="rId3"/>
          <a:stretch>
            <a:fillRect/>
          </a:stretch>
        </p:blipFill>
        <p:spPr>
          <a:xfrm>
            <a:off x="1459670" y="4052532"/>
            <a:ext cx="5093729" cy="1324685"/>
          </a:xfrm>
          <a:prstGeom prst="rect">
            <a:avLst/>
          </a:prstGeom>
        </p:spPr>
      </p:pic>
    </p:spTree>
    <p:extLst>
      <p:ext uri="{BB962C8B-B14F-4D97-AF65-F5344CB8AC3E}">
        <p14:creationId xmlns:p14="http://schemas.microsoft.com/office/powerpoint/2010/main" val="25259567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E1CB186-E123-44F3-87B6-8F9410B9299B}"/>
              </a:ext>
            </a:extLst>
          </p:cNvPr>
          <p:cNvPicPr>
            <a:picLocks noChangeAspect="1"/>
          </p:cNvPicPr>
          <p:nvPr/>
        </p:nvPicPr>
        <p:blipFill>
          <a:blip r:embed="rId2"/>
          <a:stretch>
            <a:fillRect/>
          </a:stretch>
        </p:blipFill>
        <p:spPr>
          <a:xfrm>
            <a:off x="788371" y="811472"/>
            <a:ext cx="3892811" cy="3393137"/>
          </a:xfrm>
          <a:prstGeom prst="rect">
            <a:avLst/>
          </a:prstGeom>
        </p:spPr>
      </p:pic>
      <p:pic>
        <p:nvPicPr>
          <p:cNvPr id="5" name="Picture 4">
            <a:extLst>
              <a:ext uri="{FF2B5EF4-FFF2-40B4-BE49-F238E27FC236}">
                <a16:creationId xmlns:a16="http://schemas.microsoft.com/office/drawing/2014/main" id="{71421455-8C5E-4545-B97F-C77B02A8A78D}"/>
              </a:ext>
            </a:extLst>
          </p:cNvPr>
          <p:cNvPicPr>
            <a:picLocks noChangeAspect="1"/>
          </p:cNvPicPr>
          <p:nvPr/>
        </p:nvPicPr>
        <p:blipFill>
          <a:blip r:embed="rId3"/>
          <a:stretch>
            <a:fillRect/>
          </a:stretch>
        </p:blipFill>
        <p:spPr>
          <a:xfrm>
            <a:off x="5408444" y="675990"/>
            <a:ext cx="3540265" cy="3528619"/>
          </a:xfrm>
          <a:prstGeom prst="rect">
            <a:avLst/>
          </a:prstGeom>
        </p:spPr>
      </p:pic>
    </p:spTree>
    <p:extLst>
      <p:ext uri="{BB962C8B-B14F-4D97-AF65-F5344CB8AC3E}">
        <p14:creationId xmlns:p14="http://schemas.microsoft.com/office/powerpoint/2010/main" val="17105171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56DD2AA-E7AF-44EB-8E8B-95ADBC44B17F}"/>
              </a:ext>
            </a:extLst>
          </p:cNvPr>
          <p:cNvPicPr>
            <a:picLocks noChangeAspect="1"/>
          </p:cNvPicPr>
          <p:nvPr/>
        </p:nvPicPr>
        <p:blipFill>
          <a:blip r:embed="rId2"/>
          <a:stretch>
            <a:fillRect/>
          </a:stretch>
        </p:blipFill>
        <p:spPr>
          <a:xfrm>
            <a:off x="1204131" y="862439"/>
            <a:ext cx="4661654" cy="3764152"/>
          </a:xfrm>
          <a:prstGeom prst="rect">
            <a:avLst/>
          </a:prstGeom>
        </p:spPr>
      </p:pic>
      <p:sp>
        <p:nvSpPr>
          <p:cNvPr id="5" name="TextBox 4">
            <a:extLst>
              <a:ext uri="{FF2B5EF4-FFF2-40B4-BE49-F238E27FC236}">
                <a16:creationId xmlns:a16="http://schemas.microsoft.com/office/drawing/2014/main" id="{24C1A6BE-C6A7-466F-AFED-7BF4152F045D}"/>
              </a:ext>
            </a:extLst>
          </p:cNvPr>
          <p:cNvSpPr txBox="1"/>
          <p:nvPr/>
        </p:nvSpPr>
        <p:spPr>
          <a:xfrm>
            <a:off x="1641144" y="4840490"/>
            <a:ext cx="6093724" cy="646331"/>
          </a:xfrm>
          <a:prstGeom prst="rect">
            <a:avLst/>
          </a:prstGeom>
          <a:noFill/>
        </p:spPr>
        <p:txBody>
          <a:bodyPr wrap="square">
            <a:spAutoFit/>
          </a:bodyPr>
          <a:lstStyle/>
          <a:p>
            <a:r>
              <a:rPr lang="en-US" dirty="0"/>
              <a:t>Figure 4.15 Effect of lower  values of VCC on the load line </a:t>
            </a:r>
          </a:p>
          <a:p>
            <a:r>
              <a:rPr lang="en-US" dirty="0"/>
              <a:t>and Q-point.</a:t>
            </a:r>
          </a:p>
        </p:txBody>
      </p:sp>
    </p:spTree>
    <p:extLst>
      <p:ext uri="{BB962C8B-B14F-4D97-AF65-F5344CB8AC3E}">
        <p14:creationId xmlns:p14="http://schemas.microsoft.com/office/powerpoint/2010/main" val="38699341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C010739-A624-4918-B53E-473DECE376FA}"/>
              </a:ext>
            </a:extLst>
          </p:cNvPr>
          <p:cNvSpPr txBox="1"/>
          <p:nvPr/>
        </p:nvSpPr>
        <p:spPr>
          <a:xfrm>
            <a:off x="808630" y="531842"/>
            <a:ext cx="1593376" cy="369332"/>
          </a:xfrm>
          <a:prstGeom prst="rect">
            <a:avLst/>
          </a:prstGeom>
          <a:noFill/>
        </p:spPr>
        <p:txBody>
          <a:bodyPr wrap="square">
            <a:spAutoFit/>
          </a:bodyPr>
          <a:lstStyle/>
          <a:p>
            <a:r>
              <a:rPr lang="en-US" dirty="0"/>
              <a:t>EXAMPLE 4.3</a:t>
            </a:r>
          </a:p>
        </p:txBody>
      </p:sp>
      <p:pic>
        <p:nvPicPr>
          <p:cNvPr id="5" name="Picture 4">
            <a:extLst>
              <a:ext uri="{FF2B5EF4-FFF2-40B4-BE49-F238E27FC236}">
                <a16:creationId xmlns:a16="http://schemas.microsoft.com/office/drawing/2014/main" id="{ED1C0180-948B-4443-822A-D8AE28A03676}"/>
              </a:ext>
            </a:extLst>
          </p:cNvPr>
          <p:cNvPicPr>
            <a:picLocks noChangeAspect="1"/>
          </p:cNvPicPr>
          <p:nvPr/>
        </p:nvPicPr>
        <p:blipFill>
          <a:blip r:embed="rId2"/>
          <a:stretch>
            <a:fillRect/>
          </a:stretch>
        </p:blipFill>
        <p:spPr>
          <a:xfrm>
            <a:off x="303662" y="1242585"/>
            <a:ext cx="5963491" cy="4011803"/>
          </a:xfrm>
          <a:prstGeom prst="rect">
            <a:avLst/>
          </a:prstGeom>
        </p:spPr>
      </p:pic>
      <p:pic>
        <p:nvPicPr>
          <p:cNvPr id="7" name="Picture 6">
            <a:extLst>
              <a:ext uri="{FF2B5EF4-FFF2-40B4-BE49-F238E27FC236}">
                <a16:creationId xmlns:a16="http://schemas.microsoft.com/office/drawing/2014/main" id="{00B9F0EF-0421-4FB0-904F-C6B0E76E6FF0}"/>
              </a:ext>
            </a:extLst>
          </p:cNvPr>
          <p:cNvPicPr>
            <a:picLocks noChangeAspect="1"/>
          </p:cNvPicPr>
          <p:nvPr/>
        </p:nvPicPr>
        <p:blipFill>
          <a:blip r:embed="rId3"/>
          <a:stretch>
            <a:fillRect/>
          </a:stretch>
        </p:blipFill>
        <p:spPr>
          <a:xfrm>
            <a:off x="6521713" y="1733904"/>
            <a:ext cx="5670287" cy="3520484"/>
          </a:xfrm>
          <a:prstGeom prst="rect">
            <a:avLst/>
          </a:prstGeom>
        </p:spPr>
      </p:pic>
    </p:spTree>
    <p:extLst>
      <p:ext uri="{BB962C8B-B14F-4D97-AF65-F5344CB8AC3E}">
        <p14:creationId xmlns:p14="http://schemas.microsoft.com/office/powerpoint/2010/main" val="27209780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0755D7B-237A-4D80-AA49-3B861E145771}"/>
              </a:ext>
            </a:extLst>
          </p:cNvPr>
          <p:cNvPicPr>
            <a:picLocks noChangeAspect="1"/>
          </p:cNvPicPr>
          <p:nvPr/>
        </p:nvPicPr>
        <p:blipFill>
          <a:blip r:embed="rId2"/>
          <a:stretch>
            <a:fillRect/>
          </a:stretch>
        </p:blipFill>
        <p:spPr>
          <a:xfrm>
            <a:off x="278223" y="850523"/>
            <a:ext cx="4668672" cy="3793296"/>
          </a:xfrm>
          <a:prstGeom prst="rect">
            <a:avLst/>
          </a:prstGeom>
        </p:spPr>
      </p:pic>
      <p:sp>
        <p:nvSpPr>
          <p:cNvPr id="7" name="TextBox 6">
            <a:extLst>
              <a:ext uri="{FF2B5EF4-FFF2-40B4-BE49-F238E27FC236}">
                <a16:creationId xmlns:a16="http://schemas.microsoft.com/office/drawing/2014/main" id="{3B51C4E4-0943-4634-91C8-D02F8A30C292}"/>
              </a:ext>
            </a:extLst>
          </p:cNvPr>
          <p:cNvSpPr txBox="1"/>
          <p:nvPr/>
        </p:nvSpPr>
        <p:spPr>
          <a:xfrm>
            <a:off x="1266966" y="5259129"/>
            <a:ext cx="6093724" cy="646331"/>
          </a:xfrm>
          <a:prstGeom prst="rect">
            <a:avLst/>
          </a:prstGeom>
          <a:noFill/>
        </p:spPr>
        <p:txBody>
          <a:bodyPr wrap="square">
            <a:spAutoFit/>
          </a:bodyPr>
          <a:lstStyle/>
          <a:p>
            <a:r>
              <a:rPr lang="en-US" dirty="0"/>
              <a:t>Figure 4.17 BJT bias circuit</a:t>
            </a:r>
          </a:p>
          <a:p>
            <a:r>
              <a:rPr lang="en-US" dirty="0"/>
              <a:t>with emitter resistor</a:t>
            </a:r>
          </a:p>
        </p:txBody>
      </p:sp>
      <p:sp>
        <p:nvSpPr>
          <p:cNvPr id="9" name="TextBox 8">
            <a:extLst>
              <a:ext uri="{FF2B5EF4-FFF2-40B4-BE49-F238E27FC236}">
                <a16:creationId xmlns:a16="http://schemas.microsoft.com/office/drawing/2014/main" id="{1D0AC132-027F-4312-89AB-B4E0D2F02BA8}"/>
              </a:ext>
            </a:extLst>
          </p:cNvPr>
          <p:cNvSpPr txBox="1"/>
          <p:nvPr/>
        </p:nvSpPr>
        <p:spPr>
          <a:xfrm>
            <a:off x="5820053" y="952540"/>
            <a:ext cx="6093724" cy="369332"/>
          </a:xfrm>
          <a:prstGeom prst="rect">
            <a:avLst/>
          </a:prstGeom>
          <a:noFill/>
        </p:spPr>
        <p:txBody>
          <a:bodyPr wrap="square">
            <a:spAutoFit/>
          </a:bodyPr>
          <a:lstStyle/>
          <a:p>
            <a:r>
              <a:rPr lang="en-US" dirty="0"/>
              <a:t>Base–Emitter Loop</a:t>
            </a:r>
          </a:p>
        </p:txBody>
      </p:sp>
      <p:pic>
        <p:nvPicPr>
          <p:cNvPr id="11" name="Picture 10">
            <a:extLst>
              <a:ext uri="{FF2B5EF4-FFF2-40B4-BE49-F238E27FC236}">
                <a16:creationId xmlns:a16="http://schemas.microsoft.com/office/drawing/2014/main" id="{5E0D707D-CD55-4DFC-89EB-FB10DB28BB99}"/>
              </a:ext>
            </a:extLst>
          </p:cNvPr>
          <p:cNvPicPr>
            <a:picLocks noChangeAspect="1"/>
          </p:cNvPicPr>
          <p:nvPr/>
        </p:nvPicPr>
        <p:blipFill>
          <a:blip r:embed="rId3"/>
          <a:stretch>
            <a:fillRect/>
          </a:stretch>
        </p:blipFill>
        <p:spPr>
          <a:xfrm>
            <a:off x="5820053" y="1490386"/>
            <a:ext cx="5126328" cy="369332"/>
          </a:xfrm>
          <a:prstGeom prst="rect">
            <a:avLst/>
          </a:prstGeom>
        </p:spPr>
      </p:pic>
      <p:pic>
        <p:nvPicPr>
          <p:cNvPr id="13" name="Picture 12">
            <a:extLst>
              <a:ext uri="{FF2B5EF4-FFF2-40B4-BE49-F238E27FC236}">
                <a16:creationId xmlns:a16="http://schemas.microsoft.com/office/drawing/2014/main" id="{0707E739-A60A-48BF-9D55-7882CA7CC49D}"/>
              </a:ext>
            </a:extLst>
          </p:cNvPr>
          <p:cNvPicPr>
            <a:picLocks noChangeAspect="1"/>
          </p:cNvPicPr>
          <p:nvPr/>
        </p:nvPicPr>
        <p:blipFill>
          <a:blip r:embed="rId4"/>
          <a:stretch>
            <a:fillRect/>
          </a:stretch>
        </p:blipFill>
        <p:spPr>
          <a:xfrm>
            <a:off x="6130536" y="1888095"/>
            <a:ext cx="4970517" cy="456476"/>
          </a:xfrm>
          <a:prstGeom prst="rect">
            <a:avLst/>
          </a:prstGeom>
        </p:spPr>
      </p:pic>
      <p:pic>
        <p:nvPicPr>
          <p:cNvPr id="15" name="Picture 14">
            <a:extLst>
              <a:ext uri="{FF2B5EF4-FFF2-40B4-BE49-F238E27FC236}">
                <a16:creationId xmlns:a16="http://schemas.microsoft.com/office/drawing/2014/main" id="{05349A5C-0FA0-45E2-BAAF-67A4E09C2149}"/>
              </a:ext>
            </a:extLst>
          </p:cNvPr>
          <p:cNvPicPr>
            <a:picLocks noChangeAspect="1"/>
          </p:cNvPicPr>
          <p:nvPr/>
        </p:nvPicPr>
        <p:blipFill>
          <a:blip r:embed="rId5"/>
          <a:stretch>
            <a:fillRect/>
          </a:stretch>
        </p:blipFill>
        <p:spPr>
          <a:xfrm>
            <a:off x="6101138" y="2372948"/>
            <a:ext cx="2660969" cy="902551"/>
          </a:xfrm>
          <a:prstGeom prst="rect">
            <a:avLst/>
          </a:prstGeom>
        </p:spPr>
      </p:pic>
      <p:sp>
        <p:nvSpPr>
          <p:cNvPr id="16" name="TextBox 15">
            <a:extLst>
              <a:ext uri="{FF2B5EF4-FFF2-40B4-BE49-F238E27FC236}">
                <a16:creationId xmlns:a16="http://schemas.microsoft.com/office/drawing/2014/main" id="{4D36E79E-782A-4183-8101-502E06C844A8}"/>
              </a:ext>
            </a:extLst>
          </p:cNvPr>
          <p:cNvSpPr txBox="1"/>
          <p:nvPr/>
        </p:nvSpPr>
        <p:spPr>
          <a:xfrm>
            <a:off x="10366557" y="2726128"/>
            <a:ext cx="734496" cy="369332"/>
          </a:xfrm>
          <a:prstGeom prst="rect">
            <a:avLst/>
          </a:prstGeom>
          <a:noFill/>
        </p:spPr>
        <p:txBody>
          <a:bodyPr wrap="none" rtlCol="0">
            <a:spAutoFit/>
          </a:bodyPr>
          <a:lstStyle/>
          <a:p>
            <a:r>
              <a:rPr lang="en-US" dirty="0"/>
              <a:t>(4.17)</a:t>
            </a:r>
          </a:p>
        </p:txBody>
      </p:sp>
      <p:pic>
        <p:nvPicPr>
          <p:cNvPr id="18" name="Picture 17">
            <a:extLst>
              <a:ext uri="{FF2B5EF4-FFF2-40B4-BE49-F238E27FC236}">
                <a16:creationId xmlns:a16="http://schemas.microsoft.com/office/drawing/2014/main" id="{D60DCD89-009C-4024-9079-0625422B6C1C}"/>
              </a:ext>
            </a:extLst>
          </p:cNvPr>
          <p:cNvPicPr>
            <a:picLocks noChangeAspect="1"/>
          </p:cNvPicPr>
          <p:nvPr/>
        </p:nvPicPr>
        <p:blipFill>
          <a:blip r:embed="rId6"/>
          <a:stretch>
            <a:fillRect/>
          </a:stretch>
        </p:blipFill>
        <p:spPr>
          <a:xfrm>
            <a:off x="6074675" y="3275499"/>
            <a:ext cx="2660969" cy="3538049"/>
          </a:xfrm>
          <a:prstGeom prst="rect">
            <a:avLst/>
          </a:prstGeom>
        </p:spPr>
      </p:pic>
      <p:grpSp>
        <p:nvGrpSpPr>
          <p:cNvPr id="6" name="Group 5">
            <a:extLst>
              <a:ext uri="{FF2B5EF4-FFF2-40B4-BE49-F238E27FC236}">
                <a16:creationId xmlns:a16="http://schemas.microsoft.com/office/drawing/2014/main" id="{88AF3972-F47D-427E-92F0-E376DFCDB013}"/>
              </a:ext>
            </a:extLst>
          </p:cNvPr>
          <p:cNvGrpSpPr/>
          <p:nvPr/>
        </p:nvGrpSpPr>
        <p:grpSpPr>
          <a:xfrm>
            <a:off x="11561405" y="-842786"/>
            <a:ext cx="274680" cy="483840"/>
            <a:chOff x="11561405" y="-842786"/>
            <a:chExt cx="274680" cy="483840"/>
          </a:xfrm>
        </p:grpSpPr>
        <mc:AlternateContent xmlns:mc="http://schemas.openxmlformats.org/markup-compatibility/2006" xmlns:p14="http://schemas.microsoft.com/office/powerpoint/2010/main">
          <mc:Choice Requires="p14">
            <p:contentPart p14:bwMode="auto" r:id="rId7">
              <p14:nvContentPartPr>
                <p14:cNvPr id="2" name="Ink 1">
                  <a:extLst>
                    <a:ext uri="{FF2B5EF4-FFF2-40B4-BE49-F238E27FC236}">
                      <a16:creationId xmlns:a16="http://schemas.microsoft.com/office/drawing/2014/main" id="{329A0D01-BDC2-4E9F-BFC8-76A32C81BC1C}"/>
                    </a:ext>
                  </a:extLst>
                </p14:cNvPr>
                <p14:cNvContentPartPr/>
                <p14:nvPr/>
              </p14:nvContentPartPr>
              <p14:xfrm>
                <a:off x="11700365" y="-842786"/>
                <a:ext cx="55800" cy="483840"/>
              </p14:xfrm>
            </p:contentPart>
          </mc:Choice>
          <mc:Fallback xmlns="">
            <p:pic>
              <p:nvPicPr>
                <p:cNvPr id="2" name="Ink 1">
                  <a:extLst>
                    <a:ext uri="{FF2B5EF4-FFF2-40B4-BE49-F238E27FC236}">
                      <a16:creationId xmlns:a16="http://schemas.microsoft.com/office/drawing/2014/main" id="{329A0D01-BDC2-4E9F-BFC8-76A32C81BC1C}"/>
                    </a:ext>
                  </a:extLst>
                </p:cNvPr>
                <p:cNvPicPr/>
                <p:nvPr/>
              </p:nvPicPr>
              <p:blipFill>
                <a:blip r:embed="rId8"/>
                <a:stretch>
                  <a:fillRect/>
                </a:stretch>
              </p:blipFill>
              <p:spPr>
                <a:xfrm>
                  <a:off x="11691725" y="-851426"/>
                  <a:ext cx="73440" cy="5014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4" name="Ink 3">
                  <a:extLst>
                    <a:ext uri="{FF2B5EF4-FFF2-40B4-BE49-F238E27FC236}">
                      <a16:creationId xmlns:a16="http://schemas.microsoft.com/office/drawing/2014/main" id="{D2923878-93B3-4689-9BB9-F978209E3E09}"/>
                    </a:ext>
                  </a:extLst>
                </p14:cNvPr>
                <p14:cNvContentPartPr/>
                <p14:nvPr/>
              </p14:nvContentPartPr>
              <p14:xfrm>
                <a:off x="11561405" y="-839833"/>
                <a:ext cx="274680" cy="241560"/>
              </p14:xfrm>
            </p:contentPart>
          </mc:Choice>
          <mc:Fallback xmlns="">
            <p:pic>
              <p:nvPicPr>
                <p:cNvPr id="4" name="Ink 3">
                  <a:extLst>
                    <a:ext uri="{FF2B5EF4-FFF2-40B4-BE49-F238E27FC236}">
                      <a16:creationId xmlns:a16="http://schemas.microsoft.com/office/drawing/2014/main" id="{D2923878-93B3-4689-9BB9-F978209E3E09}"/>
                    </a:ext>
                  </a:extLst>
                </p:cNvPr>
                <p:cNvPicPr/>
                <p:nvPr/>
              </p:nvPicPr>
              <p:blipFill>
                <a:blip r:embed="rId10"/>
                <a:stretch>
                  <a:fillRect/>
                </a:stretch>
              </p:blipFill>
              <p:spPr>
                <a:xfrm>
                  <a:off x="11552405" y="-848833"/>
                  <a:ext cx="292320" cy="2592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1">
            <p14:nvContentPartPr>
              <p14:cNvPr id="60" name="Ink 59">
                <a:extLst>
                  <a:ext uri="{FF2B5EF4-FFF2-40B4-BE49-F238E27FC236}">
                    <a16:creationId xmlns:a16="http://schemas.microsoft.com/office/drawing/2014/main" id="{BEF7FDA5-CD98-4CB6-BCBD-F4E7D4FD84CB}"/>
                  </a:ext>
                </a:extLst>
              </p14:cNvPr>
              <p14:cNvContentPartPr/>
              <p14:nvPr/>
            </p14:nvContentPartPr>
            <p14:xfrm>
              <a:off x="8039525" y="2048087"/>
              <a:ext cx="115200" cy="164880"/>
            </p14:xfrm>
          </p:contentPart>
        </mc:Choice>
        <mc:Fallback xmlns="">
          <p:pic>
            <p:nvPicPr>
              <p:cNvPr id="60" name="Ink 59">
                <a:extLst>
                  <a:ext uri="{FF2B5EF4-FFF2-40B4-BE49-F238E27FC236}">
                    <a16:creationId xmlns:a16="http://schemas.microsoft.com/office/drawing/2014/main" id="{BEF7FDA5-CD98-4CB6-BCBD-F4E7D4FD84CB}"/>
                  </a:ext>
                </a:extLst>
              </p:cNvPr>
              <p:cNvPicPr/>
              <p:nvPr/>
            </p:nvPicPr>
            <p:blipFill>
              <a:blip r:embed="rId94"/>
              <a:stretch>
                <a:fillRect/>
              </a:stretch>
            </p:blipFill>
            <p:spPr>
              <a:xfrm>
                <a:off x="8030525" y="2039447"/>
                <a:ext cx="132840" cy="182520"/>
              </a:xfrm>
              <a:prstGeom prst="rect">
                <a:avLst/>
              </a:prstGeom>
            </p:spPr>
          </p:pic>
        </mc:Fallback>
      </mc:AlternateContent>
      <p:sp>
        <p:nvSpPr>
          <p:cNvPr id="12" name="Title 1">
            <a:extLst>
              <a:ext uri="{FF2B5EF4-FFF2-40B4-BE49-F238E27FC236}">
                <a16:creationId xmlns:a16="http://schemas.microsoft.com/office/drawing/2014/main" id="{21D9B6B7-7A7C-94AD-C671-6EC689ADF60F}"/>
              </a:ext>
            </a:extLst>
          </p:cNvPr>
          <p:cNvSpPr txBox="1">
            <a:spLocks/>
          </p:cNvSpPr>
          <p:nvPr/>
        </p:nvSpPr>
        <p:spPr>
          <a:xfrm>
            <a:off x="838200" y="365125"/>
            <a:ext cx="10515600" cy="71524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D" sz="4000" b="1"/>
              <a:t>Prategangan </a:t>
            </a:r>
            <a:r>
              <a:rPr lang="en-US" sz="4000" b="1"/>
              <a:t>EMITTER-STABILIZED BIAS</a:t>
            </a:r>
            <a:endParaRPr lang="en-ID" sz="4000" b="1"/>
          </a:p>
        </p:txBody>
      </p:sp>
      <p:sp>
        <p:nvSpPr>
          <p:cNvPr id="14" name="TextBox 13">
            <a:extLst>
              <a:ext uri="{FF2B5EF4-FFF2-40B4-BE49-F238E27FC236}">
                <a16:creationId xmlns:a16="http://schemas.microsoft.com/office/drawing/2014/main" id="{57682AD1-6609-9B7D-3686-86A331C1EBB4}"/>
              </a:ext>
            </a:extLst>
          </p:cNvPr>
          <p:cNvSpPr txBox="1"/>
          <p:nvPr/>
        </p:nvSpPr>
        <p:spPr>
          <a:xfrm>
            <a:off x="2215329" y="4701074"/>
            <a:ext cx="4081823" cy="307777"/>
          </a:xfrm>
          <a:prstGeom prst="rect">
            <a:avLst/>
          </a:prstGeom>
          <a:noFill/>
        </p:spPr>
        <p:txBody>
          <a:bodyPr wrap="none" rtlCol="0">
            <a:spAutoFit/>
          </a:bodyPr>
          <a:lstStyle/>
          <a:p>
            <a:r>
              <a:rPr lang="en-US" sz="1400">
                <a:solidFill>
                  <a:srgbClr val="FF0000"/>
                </a:solidFill>
              </a:rPr>
              <a:t>Tdk perlu digambarkan saat perhitungan prategangan</a:t>
            </a:r>
            <a:endParaRPr lang="en-ID" sz="1400">
              <a:solidFill>
                <a:srgbClr val="FF0000"/>
              </a:solidFill>
            </a:endParaRPr>
          </a:p>
        </p:txBody>
      </p:sp>
      <p:cxnSp>
        <p:nvCxnSpPr>
          <p:cNvPr id="19" name="Straight Arrow Connector 18">
            <a:extLst>
              <a:ext uri="{FF2B5EF4-FFF2-40B4-BE49-F238E27FC236}">
                <a16:creationId xmlns:a16="http://schemas.microsoft.com/office/drawing/2014/main" id="{53A87FDF-CD30-CD58-CE15-B437EABF8B1E}"/>
              </a:ext>
            </a:extLst>
          </p:cNvPr>
          <p:cNvCxnSpPr>
            <a:cxnSpLocks/>
          </p:cNvCxnSpPr>
          <p:nvPr/>
        </p:nvCxnSpPr>
        <p:spPr>
          <a:xfrm flipH="1" flipV="1">
            <a:off x="1586204" y="3275499"/>
            <a:ext cx="2343513" cy="149244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8185EA31-03EA-4D06-69B5-583820BDC4E9}"/>
              </a:ext>
            </a:extLst>
          </p:cNvPr>
          <p:cNvCxnSpPr>
            <a:cxnSpLocks/>
          </p:cNvCxnSpPr>
          <p:nvPr/>
        </p:nvCxnSpPr>
        <p:spPr>
          <a:xfrm flipV="1">
            <a:off x="3929717" y="2910794"/>
            <a:ext cx="26463" cy="185714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46835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812D6D4-80D8-402E-8829-DFA5849BE462}"/>
              </a:ext>
            </a:extLst>
          </p:cNvPr>
          <p:cNvPicPr>
            <a:picLocks noChangeAspect="1"/>
          </p:cNvPicPr>
          <p:nvPr/>
        </p:nvPicPr>
        <p:blipFill>
          <a:blip r:embed="rId2"/>
          <a:stretch>
            <a:fillRect/>
          </a:stretch>
        </p:blipFill>
        <p:spPr>
          <a:xfrm>
            <a:off x="2558404" y="901256"/>
            <a:ext cx="2307893" cy="2411452"/>
          </a:xfrm>
          <a:prstGeom prst="rect">
            <a:avLst/>
          </a:prstGeom>
        </p:spPr>
      </p:pic>
      <p:sp>
        <p:nvSpPr>
          <p:cNvPr id="5" name="TextBox 4">
            <a:extLst>
              <a:ext uri="{FF2B5EF4-FFF2-40B4-BE49-F238E27FC236}">
                <a16:creationId xmlns:a16="http://schemas.microsoft.com/office/drawing/2014/main" id="{A0AC69CC-4C2D-4218-8260-D46F07384C2E}"/>
              </a:ext>
            </a:extLst>
          </p:cNvPr>
          <p:cNvSpPr txBox="1"/>
          <p:nvPr/>
        </p:nvSpPr>
        <p:spPr>
          <a:xfrm>
            <a:off x="2274217" y="3309010"/>
            <a:ext cx="2876265" cy="646331"/>
          </a:xfrm>
          <a:prstGeom prst="rect">
            <a:avLst/>
          </a:prstGeom>
          <a:noFill/>
        </p:spPr>
        <p:txBody>
          <a:bodyPr wrap="square">
            <a:spAutoFit/>
          </a:bodyPr>
          <a:lstStyle/>
          <a:p>
            <a:r>
              <a:rPr lang="en-US" dirty="0"/>
              <a:t>Figure 4.19 Network derived</a:t>
            </a:r>
          </a:p>
          <a:p>
            <a:r>
              <a:rPr lang="en-US" dirty="0"/>
              <a:t>from Eq. (4.17)</a:t>
            </a:r>
          </a:p>
        </p:txBody>
      </p:sp>
      <p:pic>
        <p:nvPicPr>
          <p:cNvPr id="7" name="Picture 6">
            <a:extLst>
              <a:ext uri="{FF2B5EF4-FFF2-40B4-BE49-F238E27FC236}">
                <a16:creationId xmlns:a16="http://schemas.microsoft.com/office/drawing/2014/main" id="{A94CCF43-C882-4388-B8F2-C8AB0B775FD4}"/>
              </a:ext>
            </a:extLst>
          </p:cNvPr>
          <p:cNvPicPr>
            <a:picLocks noChangeAspect="1"/>
          </p:cNvPicPr>
          <p:nvPr/>
        </p:nvPicPr>
        <p:blipFill>
          <a:blip r:embed="rId3"/>
          <a:stretch>
            <a:fillRect/>
          </a:stretch>
        </p:blipFill>
        <p:spPr>
          <a:xfrm>
            <a:off x="6177162" y="1065038"/>
            <a:ext cx="1679740" cy="2083888"/>
          </a:xfrm>
          <a:prstGeom prst="rect">
            <a:avLst/>
          </a:prstGeom>
        </p:spPr>
      </p:pic>
      <p:sp>
        <p:nvSpPr>
          <p:cNvPr id="9" name="TextBox 8">
            <a:extLst>
              <a:ext uri="{FF2B5EF4-FFF2-40B4-BE49-F238E27FC236}">
                <a16:creationId xmlns:a16="http://schemas.microsoft.com/office/drawing/2014/main" id="{673E0A75-FC8C-4267-9078-062604B99848}"/>
              </a:ext>
            </a:extLst>
          </p:cNvPr>
          <p:cNvSpPr txBox="1"/>
          <p:nvPr/>
        </p:nvSpPr>
        <p:spPr>
          <a:xfrm>
            <a:off x="5535305" y="3315262"/>
            <a:ext cx="3676933" cy="646331"/>
          </a:xfrm>
          <a:prstGeom prst="rect">
            <a:avLst/>
          </a:prstGeom>
          <a:noFill/>
        </p:spPr>
        <p:txBody>
          <a:bodyPr wrap="square">
            <a:spAutoFit/>
          </a:bodyPr>
          <a:lstStyle/>
          <a:p>
            <a:r>
              <a:rPr lang="en-US" dirty="0"/>
              <a:t>Figure 4.20 Reflected impedance</a:t>
            </a:r>
          </a:p>
          <a:p>
            <a:r>
              <a:rPr lang="en-US" dirty="0"/>
              <a:t>level of RE.</a:t>
            </a:r>
          </a:p>
        </p:txBody>
      </p:sp>
      <p:pic>
        <p:nvPicPr>
          <p:cNvPr id="11" name="Picture 10">
            <a:extLst>
              <a:ext uri="{FF2B5EF4-FFF2-40B4-BE49-F238E27FC236}">
                <a16:creationId xmlns:a16="http://schemas.microsoft.com/office/drawing/2014/main" id="{7B037128-0244-41D8-A478-E3DB03235302}"/>
              </a:ext>
            </a:extLst>
          </p:cNvPr>
          <p:cNvPicPr>
            <a:picLocks noChangeAspect="1"/>
          </p:cNvPicPr>
          <p:nvPr/>
        </p:nvPicPr>
        <p:blipFill>
          <a:blip r:embed="rId4"/>
          <a:stretch>
            <a:fillRect/>
          </a:stretch>
        </p:blipFill>
        <p:spPr>
          <a:xfrm>
            <a:off x="2945073" y="4672154"/>
            <a:ext cx="5450142" cy="646331"/>
          </a:xfrm>
          <a:prstGeom prst="rect">
            <a:avLst/>
          </a:prstGeom>
        </p:spPr>
      </p:pic>
    </p:spTree>
    <p:extLst>
      <p:ext uri="{BB962C8B-B14F-4D97-AF65-F5344CB8AC3E}">
        <p14:creationId xmlns:p14="http://schemas.microsoft.com/office/powerpoint/2010/main" val="16930903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FB8E655-36F0-4F2C-B634-7EC2DD763ED1}"/>
              </a:ext>
            </a:extLst>
          </p:cNvPr>
          <p:cNvSpPr txBox="1"/>
          <p:nvPr/>
        </p:nvSpPr>
        <p:spPr>
          <a:xfrm>
            <a:off x="1436428" y="886683"/>
            <a:ext cx="6093724" cy="369332"/>
          </a:xfrm>
          <a:prstGeom prst="rect">
            <a:avLst/>
          </a:prstGeom>
          <a:noFill/>
        </p:spPr>
        <p:txBody>
          <a:bodyPr wrap="square">
            <a:spAutoFit/>
          </a:bodyPr>
          <a:lstStyle/>
          <a:p>
            <a:r>
              <a:rPr lang="en-US" dirty="0"/>
              <a:t>Collector–Emitter Loop</a:t>
            </a:r>
          </a:p>
        </p:txBody>
      </p:sp>
      <p:pic>
        <p:nvPicPr>
          <p:cNvPr id="5" name="Picture 4">
            <a:extLst>
              <a:ext uri="{FF2B5EF4-FFF2-40B4-BE49-F238E27FC236}">
                <a16:creationId xmlns:a16="http://schemas.microsoft.com/office/drawing/2014/main" id="{C0DE7A62-8095-4EF3-98FE-AB97AF10F21D}"/>
              </a:ext>
            </a:extLst>
          </p:cNvPr>
          <p:cNvPicPr>
            <a:picLocks noChangeAspect="1"/>
          </p:cNvPicPr>
          <p:nvPr/>
        </p:nvPicPr>
        <p:blipFill>
          <a:blip r:embed="rId2"/>
          <a:stretch>
            <a:fillRect/>
          </a:stretch>
        </p:blipFill>
        <p:spPr>
          <a:xfrm>
            <a:off x="1436428" y="1710234"/>
            <a:ext cx="2589662" cy="3625527"/>
          </a:xfrm>
          <a:prstGeom prst="rect">
            <a:avLst/>
          </a:prstGeom>
        </p:spPr>
      </p:pic>
      <p:pic>
        <p:nvPicPr>
          <p:cNvPr id="7" name="Picture 6">
            <a:extLst>
              <a:ext uri="{FF2B5EF4-FFF2-40B4-BE49-F238E27FC236}">
                <a16:creationId xmlns:a16="http://schemas.microsoft.com/office/drawing/2014/main" id="{85B19703-B91D-474D-AECD-DAC062B6CCCA}"/>
              </a:ext>
            </a:extLst>
          </p:cNvPr>
          <p:cNvPicPr>
            <a:picLocks noChangeAspect="1"/>
          </p:cNvPicPr>
          <p:nvPr/>
        </p:nvPicPr>
        <p:blipFill>
          <a:blip r:embed="rId3"/>
          <a:stretch>
            <a:fillRect/>
          </a:stretch>
        </p:blipFill>
        <p:spPr>
          <a:xfrm>
            <a:off x="4483290" y="1124720"/>
            <a:ext cx="6527753" cy="4211041"/>
          </a:xfrm>
          <a:prstGeom prst="rect">
            <a:avLst/>
          </a:prstGeom>
        </p:spPr>
      </p:pic>
      <mc:AlternateContent xmlns:mc="http://schemas.openxmlformats.org/markup-compatibility/2006" xmlns:p14="http://schemas.microsoft.com/office/powerpoint/2010/main">
        <mc:Choice Requires="p14">
          <p:contentPart p14:bwMode="auto" r:id="rId4">
            <p14:nvContentPartPr>
              <p14:cNvPr id="73" name="Ink 72">
                <a:extLst>
                  <a:ext uri="{FF2B5EF4-FFF2-40B4-BE49-F238E27FC236}">
                    <a16:creationId xmlns:a16="http://schemas.microsoft.com/office/drawing/2014/main" id="{2B344646-DE18-485D-82D7-5E32F05C0B46}"/>
                  </a:ext>
                </a:extLst>
              </p14:cNvPr>
              <p14:cNvContentPartPr/>
              <p14:nvPr/>
            </p14:nvContentPartPr>
            <p14:xfrm>
              <a:off x="2611085" y="2572957"/>
              <a:ext cx="112320" cy="308160"/>
            </p14:xfrm>
          </p:contentPart>
        </mc:Choice>
        <mc:Fallback xmlns="">
          <p:pic>
            <p:nvPicPr>
              <p:cNvPr id="73" name="Ink 72">
                <a:extLst>
                  <a:ext uri="{FF2B5EF4-FFF2-40B4-BE49-F238E27FC236}">
                    <a16:creationId xmlns:a16="http://schemas.microsoft.com/office/drawing/2014/main" id="{2B344646-DE18-485D-82D7-5E32F05C0B46}"/>
                  </a:ext>
                </a:extLst>
              </p:cNvPr>
              <p:cNvPicPr/>
              <p:nvPr/>
            </p:nvPicPr>
            <p:blipFill>
              <a:blip r:embed="rId123"/>
              <a:stretch>
                <a:fillRect/>
              </a:stretch>
            </p:blipFill>
            <p:spPr>
              <a:xfrm>
                <a:off x="2602085" y="2563957"/>
                <a:ext cx="129960" cy="32580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74" name="Ink 73">
                <a:extLst>
                  <a:ext uri="{FF2B5EF4-FFF2-40B4-BE49-F238E27FC236}">
                    <a16:creationId xmlns:a16="http://schemas.microsoft.com/office/drawing/2014/main" id="{B61F0C1F-3975-4ABE-9B73-6C94BA2BBB36}"/>
                  </a:ext>
                </a:extLst>
              </p14:cNvPr>
              <p14:cNvContentPartPr/>
              <p14:nvPr/>
            </p14:nvContentPartPr>
            <p14:xfrm>
              <a:off x="2253245" y="2798677"/>
              <a:ext cx="10800" cy="12240"/>
            </p14:xfrm>
          </p:contentPart>
        </mc:Choice>
        <mc:Fallback xmlns="">
          <p:pic>
            <p:nvPicPr>
              <p:cNvPr id="74" name="Ink 73">
                <a:extLst>
                  <a:ext uri="{FF2B5EF4-FFF2-40B4-BE49-F238E27FC236}">
                    <a16:creationId xmlns:a16="http://schemas.microsoft.com/office/drawing/2014/main" id="{B61F0C1F-3975-4ABE-9B73-6C94BA2BBB36}"/>
                  </a:ext>
                </a:extLst>
              </p:cNvPr>
              <p:cNvPicPr/>
              <p:nvPr/>
            </p:nvPicPr>
            <p:blipFill>
              <a:blip r:embed="rId125"/>
              <a:stretch>
                <a:fillRect/>
              </a:stretch>
            </p:blipFill>
            <p:spPr>
              <a:xfrm>
                <a:off x="2244245" y="2789677"/>
                <a:ext cx="2844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82" name="Ink 81">
                <a:extLst>
                  <a:ext uri="{FF2B5EF4-FFF2-40B4-BE49-F238E27FC236}">
                    <a16:creationId xmlns:a16="http://schemas.microsoft.com/office/drawing/2014/main" id="{53787D4A-3BB8-4397-AB40-FB2BFA21E99E}"/>
                  </a:ext>
                </a:extLst>
              </p14:cNvPr>
              <p14:cNvContentPartPr/>
              <p14:nvPr/>
            </p14:nvContentPartPr>
            <p14:xfrm>
              <a:off x="1491125" y="3148957"/>
              <a:ext cx="66600" cy="88920"/>
            </p14:xfrm>
          </p:contentPart>
        </mc:Choice>
        <mc:Fallback xmlns="">
          <p:pic>
            <p:nvPicPr>
              <p:cNvPr id="82" name="Ink 81">
                <a:extLst>
                  <a:ext uri="{FF2B5EF4-FFF2-40B4-BE49-F238E27FC236}">
                    <a16:creationId xmlns:a16="http://schemas.microsoft.com/office/drawing/2014/main" id="{53787D4A-3BB8-4397-AB40-FB2BFA21E99E}"/>
                  </a:ext>
                </a:extLst>
              </p:cNvPr>
              <p:cNvPicPr/>
              <p:nvPr/>
            </p:nvPicPr>
            <p:blipFill>
              <a:blip r:embed="rId137"/>
              <a:stretch>
                <a:fillRect/>
              </a:stretch>
            </p:blipFill>
            <p:spPr>
              <a:xfrm>
                <a:off x="1482125" y="3139957"/>
                <a:ext cx="84240" cy="106560"/>
              </a:xfrm>
              <a:prstGeom prst="rect">
                <a:avLst/>
              </a:prstGeom>
            </p:spPr>
          </p:pic>
        </mc:Fallback>
      </mc:AlternateContent>
    </p:spTree>
    <p:extLst>
      <p:ext uri="{BB962C8B-B14F-4D97-AF65-F5344CB8AC3E}">
        <p14:creationId xmlns:p14="http://schemas.microsoft.com/office/powerpoint/2010/main" val="38551675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E77CBA7-439B-4F32-87ED-6B2AB51B4E75}"/>
              </a:ext>
            </a:extLst>
          </p:cNvPr>
          <p:cNvSpPr txBox="1"/>
          <p:nvPr/>
        </p:nvSpPr>
        <p:spPr>
          <a:xfrm>
            <a:off x="858982" y="584261"/>
            <a:ext cx="2078181" cy="369332"/>
          </a:xfrm>
          <a:prstGeom prst="rect">
            <a:avLst/>
          </a:prstGeom>
          <a:noFill/>
        </p:spPr>
        <p:txBody>
          <a:bodyPr wrap="square">
            <a:spAutoFit/>
          </a:bodyPr>
          <a:lstStyle/>
          <a:p>
            <a:r>
              <a:rPr lang="en-US" dirty="0"/>
              <a:t>EXAMPLE 4.4</a:t>
            </a:r>
          </a:p>
        </p:txBody>
      </p:sp>
      <p:sp>
        <p:nvSpPr>
          <p:cNvPr id="10" name="TextBox 9">
            <a:extLst>
              <a:ext uri="{FF2B5EF4-FFF2-40B4-BE49-F238E27FC236}">
                <a16:creationId xmlns:a16="http://schemas.microsoft.com/office/drawing/2014/main" id="{E9E26737-3E8F-45EB-96F9-4A4A5260F4EF}"/>
              </a:ext>
            </a:extLst>
          </p:cNvPr>
          <p:cNvSpPr txBox="1"/>
          <p:nvPr/>
        </p:nvSpPr>
        <p:spPr>
          <a:xfrm>
            <a:off x="858982" y="1120676"/>
            <a:ext cx="6096000" cy="2308324"/>
          </a:xfrm>
          <a:prstGeom prst="rect">
            <a:avLst/>
          </a:prstGeom>
          <a:noFill/>
        </p:spPr>
        <p:txBody>
          <a:bodyPr wrap="square">
            <a:spAutoFit/>
          </a:bodyPr>
          <a:lstStyle/>
          <a:p>
            <a:r>
              <a:rPr lang="en-US" dirty="0"/>
              <a:t>For the emitter bias network of Fig. 4.22, determine:</a:t>
            </a:r>
          </a:p>
          <a:p>
            <a:r>
              <a:rPr lang="en-US" dirty="0"/>
              <a:t>(a) IB.</a:t>
            </a:r>
          </a:p>
          <a:p>
            <a:r>
              <a:rPr lang="en-US" dirty="0"/>
              <a:t>(b) IC.</a:t>
            </a:r>
          </a:p>
          <a:p>
            <a:r>
              <a:rPr lang="en-US" dirty="0"/>
              <a:t>(c) VCE.</a:t>
            </a:r>
          </a:p>
          <a:p>
            <a:r>
              <a:rPr lang="en-US" dirty="0"/>
              <a:t>(d) VC.</a:t>
            </a:r>
          </a:p>
          <a:p>
            <a:r>
              <a:rPr lang="en-US" dirty="0"/>
              <a:t>(e) VE.</a:t>
            </a:r>
          </a:p>
          <a:p>
            <a:r>
              <a:rPr lang="en-US" dirty="0"/>
              <a:t>(f) VB.</a:t>
            </a:r>
          </a:p>
          <a:p>
            <a:r>
              <a:rPr lang="en-US" dirty="0"/>
              <a:t>(g) VBC.</a:t>
            </a:r>
          </a:p>
        </p:txBody>
      </p:sp>
      <p:pic>
        <p:nvPicPr>
          <p:cNvPr id="12" name="Picture 11">
            <a:extLst>
              <a:ext uri="{FF2B5EF4-FFF2-40B4-BE49-F238E27FC236}">
                <a16:creationId xmlns:a16="http://schemas.microsoft.com/office/drawing/2014/main" id="{08FFEBAE-48E7-4B59-ACCF-744A3FF47232}"/>
              </a:ext>
            </a:extLst>
          </p:cNvPr>
          <p:cNvPicPr>
            <a:picLocks noChangeAspect="1"/>
          </p:cNvPicPr>
          <p:nvPr/>
        </p:nvPicPr>
        <p:blipFill>
          <a:blip r:embed="rId2"/>
          <a:stretch>
            <a:fillRect/>
          </a:stretch>
        </p:blipFill>
        <p:spPr>
          <a:xfrm>
            <a:off x="2337682" y="1951282"/>
            <a:ext cx="3536646" cy="3289601"/>
          </a:xfrm>
          <a:prstGeom prst="rect">
            <a:avLst/>
          </a:prstGeom>
        </p:spPr>
      </p:pic>
      <p:pic>
        <p:nvPicPr>
          <p:cNvPr id="14" name="Picture 13">
            <a:extLst>
              <a:ext uri="{FF2B5EF4-FFF2-40B4-BE49-F238E27FC236}">
                <a16:creationId xmlns:a16="http://schemas.microsoft.com/office/drawing/2014/main" id="{F6B1C938-61E4-4880-BB7D-BEF132C3EBA9}"/>
              </a:ext>
            </a:extLst>
          </p:cNvPr>
          <p:cNvPicPr>
            <a:picLocks noChangeAspect="1"/>
          </p:cNvPicPr>
          <p:nvPr/>
        </p:nvPicPr>
        <p:blipFill>
          <a:blip r:embed="rId3"/>
          <a:stretch>
            <a:fillRect/>
          </a:stretch>
        </p:blipFill>
        <p:spPr>
          <a:xfrm>
            <a:off x="1360291" y="5444415"/>
            <a:ext cx="5899491" cy="1128915"/>
          </a:xfrm>
          <a:prstGeom prst="rect">
            <a:avLst/>
          </a:prstGeom>
        </p:spPr>
      </p:pic>
    </p:spTree>
    <p:extLst>
      <p:ext uri="{BB962C8B-B14F-4D97-AF65-F5344CB8AC3E}">
        <p14:creationId xmlns:p14="http://schemas.microsoft.com/office/powerpoint/2010/main" val="32213807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AEE2E1E-6112-4786-8F1F-FBA490EB222A}"/>
              </a:ext>
            </a:extLst>
          </p:cNvPr>
          <p:cNvSpPr txBox="1"/>
          <p:nvPr/>
        </p:nvSpPr>
        <p:spPr>
          <a:xfrm>
            <a:off x="761999" y="501134"/>
            <a:ext cx="1454727" cy="461665"/>
          </a:xfrm>
          <a:prstGeom prst="rect">
            <a:avLst/>
          </a:prstGeom>
          <a:noFill/>
        </p:spPr>
        <p:txBody>
          <a:bodyPr wrap="square">
            <a:spAutoFit/>
          </a:bodyPr>
          <a:lstStyle/>
          <a:p>
            <a:r>
              <a:rPr lang="en-US" sz="2400" dirty="0"/>
              <a:t>Solution</a:t>
            </a:r>
          </a:p>
        </p:txBody>
      </p:sp>
      <p:pic>
        <p:nvPicPr>
          <p:cNvPr id="5" name="Picture 4">
            <a:extLst>
              <a:ext uri="{FF2B5EF4-FFF2-40B4-BE49-F238E27FC236}">
                <a16:creationId xmlns:a16="http://schemas.microsoft.com/office/drawing/2014/main" id="{FC7A71CF-4542-432F-900F-97C18B582963}"/>
              </a:ext>
            </a:extLst>
          </p:cNvPr>
          <p:cNvPicPr>
            <a:picLocks noChangeAspect="1"/>
          </p:cNvPicPr>
          <p:nvPr/>
        </p:nvPicPr>
        <p:blipFill>
          <a:blip r:embed="rId2"/>
          <a:stretch>
            <a:fillRect/>
          </a:stretch>
        </p:blipFill>
        <p:spPr>
          <a:xfrm>
            <a:off x="3089565" y="313116"/>
            <a:ext cx="5832762" cy="6430328"/>
          </a:xfrm>
          <a:prstGeom prst="rect">
            <a:avLst/>
          </a:prstGeom>
        </p:spPr>
      </p:pic>
    </p:spTree>
    <p:extLst>
      <p:ext uri="{BB962C8B-B14F-4D97-AF65-F5344CB8AC3E}">
        <p14:creationId xmlns:p14="http://schemas.microsoft.com/office/powerpoint/2010/main" val="37042032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D5921F2-8A8A-4802-AAA2-1B0D8351F65F}"/>
              </a:ext>
            </a:extLst>
          </p:cNvPr>
          <p:cNvPicPr>
            <a:picLocks noChangeAspect="1"/>
          </p:cNvPicPr>
          <p:nvPr/>
        </p:nvPicPr>
        <p:blipFill>
          <a:blip r:embed="rId2"/>
          <a:stretch>
            <a:fillRect/>
          </a:stretch>
        </p:blipFill>
        <p:spPr>
          <a:xfrm>
            <a:off x="498764" y="1517072"/>
            <a:ext cx="5207144" cy="4370586"/>
          </a:xfrm>
          <a:prstGeom prst="rect">
            <a:avLst/>
          </a:prstGeom>
        </p:spPr>
      </p:pic>
      <p:pic>
        <p:nvPicPr>
          <p:cNvPr id="7" name="Picture 6">
            <a:extLst>
              <a:ext uri="{FF2B5EF4-FFF2-40B4-BE49-F238E27FC236}">
                <a16:creationId xmlns:a16="http://schemas.microsoft.com/office/drawing/2014/main" id="{1B8ED326-C897-414B-B9A6-FDDA1A3E8DF5}"/>
              </a:ext>
            </a:extLst>
          </p:cNvPr>
          <p:cNvPicPr>
            <a:picLocks noChangeAspect="1"/>
          </p:cNvPicPr>
          <p:nvPr/>
        </p:nvPicPr>
        <p:blipFill>
          <a:blip r:embed="rId3"/>
          <a:stretch>
            <a:fillRect/>
          </a:stretch>
        </p:blipFill>
        <p:spPr>
          <a:xfrm>
            <a:off x="6096000" y="1517072"/>
            <a:ext cx="4212648" cy="4470565"/>
          </a:xfrm>
          <a:prstGeom prst="rect">
            <a:avLst/>
          </a:prstGeom>
        </p:spPr>
      </p:pic>
      <p:sp>
        <p:nvSpPr>
          <p:cNvPr id="2" name="Title 1">
            <a:extLst>
              <a:ext uri="{FF2B5EF4-FFF2-40B4-BE49-F238E27FC236}">
                <a16:creationId xmlns:a16="http://schemas.microsoft.com/office/drawing/2014/main" id="{CA2AF901-B124-6F89-C915-76E662332253}"/>
              </a:ext>
            </a:extLst>
          </p:cNvPr>
          <p:cNvSpPr txBox="1">
            <a:spLocks/>
          </p:cNvSpPr>
          <p:nvPr/>
        </p:nvSpPr>
        <p:spPr>
          <a:xfrm>
            <a:off x="838200" y="365125"/>
            <a:ext cx="10515600" cy="71524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D" sz="4000" b="1"/>
              <a:t>Prategangan </a:t>
            </a:r>
            <a:r>
              <a:rPr lang="en-US" sz="4000" b="1"/>
              <a:t>Voltage-Divider Bias</a:t>
            </a:r>
            <a:endParaRPr lang="en-ID" sz="4000" b="1"/>
          </a:p>
        </p:txBody>
      </p:sp>
      <p:sp>
        <p:nvSpPr>
          <p:cNvPr id="4" name="TextBox 3">
            <a:extLst>
              <a:ext uri="{FF2B5EF4-FFF2-40B4-BE49-F238E27FC236}">
                <a16:creationId xmlns:a16="http://schemas.microsoft.com/office/drawing/2014/main" id="{6D9DEB66-4107-85B3-64C9-163467B744A9}"/>
              </a:ext>
            </a:extLst>
          </p:cNvPr>
          <p:cNvSpPr txBox="1"/>
          <p:nvPr/>
        </p:nvSpPr>
        <p:spPr>
          <a:xfrm>
            <a:off x="2448594" y="5260911"/>
            <a:ext cx="4081823" cy="307777"/>
          </a:xfrm>
          <a:prstGeom prst="rect">
            <a:avLst/>
          </a:prstGeom>
          <a:noFill/>
        </p:spPr>
        <p:txBody>
          <a:bodyPr wrap="none" rtlCol="0">
            <a:spAutoFit/>
          </a:bodyPr>
          <a:lstStyle/>
          <a:p>
            <a:r>
              <a:rPr lang="en-US" sz="1400">
                <a:solidFill>
                  <a:srgbClr val="FF0000"/>
                </a:solidFill>
              </a:rPr>
              <a:t>Tdk perlu digambarkan saat perhitungan prategangan</a:t>
            </a:r>
            <a:endParaRPr lang="en-ID" sz="1400">
              <a:solidFill>
                <a:srgbClr val="FF0000"/>
              </a:solidFill>
            </a:endParaRPr>
          </a:p>
        </p:txBody>
      </p:sp>
      <p:cxnSp>
        <p:nvCxnSpPr>
          <p:cNvPr id="6" name="Straight Arrow Connector 5">
            <a:extLst>
              <a:ext uri="{FF2B5EF4-FFF2-40B4-BE49-F238E27FC236}">
                <a16:creationId xmlns:a16="http://schemas.microsoft.com/office/drawing/2014/main" id="{55F74990-5485-C0B4-D517-244946FCE833}"/>
              </a:ext>
            </a:extLst>
          </p:cNvPr>
          <p:cNvCxnSpPr>
            <a:cxnSpLocks/>
          </p:cNvCxnSpPr>
          <p:nvPr/>
        </p:nvCxnSpPr>
        <p:spPr>
          <a:xfrm flipH="1" flipV="1">
            <a:off x="1883352" y="3848484"/>
            <a:ext cx="2343513" cy="149244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BF176719-E390-5210-2E11-8C5828B0BF9B}"/>
              </a:ext>
            </a:extLst>
          </p:cNvPr>
          <p:cNvCxnSpPr>
            <a:cxnSpLocks/>
          </p:cNvCxnSpPr>
          <p:nvPr/>
        </p:nvCxnSpPr>
        <p:spPr>
          <a:xfrm flipV="1">
            <a:off x="4226865" y="3536302"/>
            <a:ext cx="181814" cy="180462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54675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2EA5264-6E8E-4CD3-8AFA-17BC98606692}"/>
              </a:ext>
            </a:extLst>
          </p:cNvPr>
          <p:cNvSpPr txBox="1"/>
          <p:nvPr/>
        </p:nvSpPr>
        <p:spPr>
          <a:xfrm>
            <a:off x="1136073" y="450410"/>
            <a:ext cx="2036618" cy="461665"/>
          </a:xfrm>
          <a:prstGeom prst="rect">
            <a:avLst/>
          </a:prstGeom>
          <a:noFill/>
        </p:spPr>
        <p:txBody>
          <a:bodyPr wrap="square">
            <a:spAutoFit/>
          </a:bodyPr>
          <a:lstStyle/>
          <a:p>
            <a:r>
              <a:rPr lang="en-US" sz="2400" b="1" dirty="0"/>
              <a:t>Exact Analysis</a:t>
            </a:r>
          </a:p>
        </p:txBody>
      </p:sp>
      <p:pic>
        <p:nvPicPr>
          <p:cNvPr id="5" name="Picture 4">
            <a:extLst>
              <a:ext uri="{FF2B5EF4-FFF2-40B4-BE49-F238E27FC236}">
                <a16:creationId xmlns:a16="http://schemas.microsoft.com/office/drawing/2014/main" id="{D8029826-3F6A-4D86-99D7-01B6E097202F}"/>
              </a:ext>
            </a:extLst>
          </p:cNvPr>
          <p:cNvPicPr>
            <a:picLocks noChangeAspect="1"/>
          </p:cNvPicPr>
          <p:nvPr/>
        </p:nvPicPr>
        <p:blipFill>
          <a:blip r:embed="rId2"/>
          <a:stretch>
            <a:fillRect/>
          </a:stretch>
        </p:blipFill>
        <p:spPr>
          <a:xfrm>
            <a:off x="845128" y="912075"/>
            <a:ext cx="4427826" cy="1973143"/>
          </a:xfrm>
          <a:prstGeom prst="rect">
            <a:avLst/>
          </a:prstGeom>
        </p:spPr>
      </p:pic>
      <p:sp>
        <p:nvSpPr>
          <p:cNvPr id="7" name="TextBox 6">
            <a:extLst>
              <a:ext uri="{FF2B5EF4-FFF2-40B4-BE49-F238E27FC236}">
                <a16:creationId xmlns:a16="http://schemas.microsoft.com/office/drawing/2014/main" id="{008F6A0A-B015-4866-BA07-3E1747F3D93C}"/>
              </a:ext>
            </a:extLst>
          </p:cNvPr>
          <p:cNvSpPr txBox="1"/>
          <p:nvPr/>
        </p:nvSpPr>
        <p:spPr>
          <a:xfrm>
            <a:off x="1026536" y="3069884"/>
            <a:ext cx="5483548" cy="646331"/>
          </a:xfrm>
          <a:prstGeom prst="rect">
            <a:avLst/>
          </a:prstGeom>
          <a:noFill/>
        </p:spPr>
        <p:txBody>
          <a:bodyPr wrap="square">
            <a:spAutoFit/>
          </a:bodyPr>
          <a:lstStyle/>
          <a:p>
            <a:r>
              <a:rPr lang="en-US" b="1" dirty="0" err="1"/>
              <a:t>RTh</a:t>
            </a:r>
            <a:r>
              <a:rPr lang="en-US" dirty="0"/>
              <a:t>: The voltage source is replaced by a short-circuit equivalent as shown in Fig. 4.28.</a:t>
            </a:r>
          </a:p>
        </p:txBody>
      </p:sp>
      <p:pic>
        <p:nvPicPr>
          <p:cNvPr id="9" name="Picture 8">
            <a:extLst>
              <a:ext uri="{FF2B5EF4-FFF2-40B4-BE49-F238E27FC236}">
                <a16:creationId xmlns:a16="http://schemas.microsoft.com/office/drawing/2014/main" id="{E2297A44-F512-497A-AB3D-2224AFB3F60D}"/>
              </a:ext>
            </a:extLst>
          </p:cNvPr>
          <p:cNvPicPr>
            <a:picLocks noChangeAspect="1"/>
          </p:cNvPicPr>
          <p:nvPr/>
        </p:nvPicPr>
        <p:blipFill>
          <a:blip r:embed="rId3"/>
          <a:stretch>
            <a:fillRect/>
          </a:stretch>
        </p:blipFill>
        <p:spPr>
          <a:xfrm>
            <a:off x="1026537" y="3789204"/>
            <a:ext cx="5483547" cy="683196"/>
          </a:xfrm>
          <a:prstGeom prst="rect">
            <a:avLst/>
          </a:prstGeom>
        </p:spPr>
      </p:pic>
      <p:pic>
        <p:nvPicPr>
          <p:cNvPr id="11" name="Picture 10">
            <a:extLst>
              <a:ext uri="{FF2B5EF4-FFF2-40B4-BE49-F238E27FC236}">
                <a16:creationId xmlns:a16="http://schemas.microsoft.com/office/drawing/2014/main" id="{B35618C3-2F04-4A69-9CF4-855B1352A688}"/>
              </a:ext>
            </a:extLst>
          </p:cNvPr>
          <p:cNvPicPr>
            <a:picLocks noChangeAspect="1"/>
          </p:cNvPicPr>
          <p:nvPr/>
        </p:nvPicPr>
        <p:blipFill>
          <a:blip r:embed="rId4"/>
          <a:stretch>
            <a:fillRect/>
          </a:stretch>
        </p:blipFill>
        <p:spPr>
          <a:xfrm>
            <a:off x="7663730" y="681243"/>
            <a:ext cx="2600325" cy="1797756"/>
          </a:xfrm>
          <a:prstGeom prst="rect">
            <a:avLst/>
          </a:prstGeom>
        </p:spPr>
      </p:pic>
      <p:sp>
        <p:nvSpPr>
          <p:cNvPr id="13" name="TextBox 12">
            <a:extLst>
              <a:ext uri="{FF2B5EF4-FFF2-40B4-BE49-F238E27FC236}">
                <a16:creationId xmlns:a16="http://schemas.microsoft.com/office/drawing/2014/main" id="{DDF5EF5B-F9EC-4499-9FCB-16A19540CB5D}"/>
              </a:ext>
            </a:extLst>
          </p:cNvPr>
          <p:cNvSpPr txBox="1"/>
          <p:nvPr/>
        </p:nvSpPr>
        <p:spPr>
          <a:xfrm>
            <a:off x="1026536" y="4472400"/>
            <a:ext cx="6441064" cy="646331"/>
          </a:xfrm>
          <a:prstGeom prst="rect">
            <a:avLst/>
          </a:prstGeom>
          <a:noFill/>
        </p:spPr>
        <p:txBody>
          <a:bodyPr wrap="square">
            <a:spAutoFit/>
          </a:bodyPr>
          <a:lstStyle/>
          <a:p>
            <a:r>
              <a:rPr lang="en-US" b="1" dirty="0" err="1"/>
              <a:t>ETh</a:t>
            </a:r>
            <a:r>
              <a:rPr lang="en-US" dirty="0"/>
              <a:t>: The voltage source VCC is returned to the network and the open-circuit </a:t>
            </a:r>
            <a:r>
              <a:rPr lang="en-US" dirty="0" err="1"/>
              <a:t>Thévenin</a:t>
            </a:r>
            <a:r>
              <a:rPr lang="en-US" dirty="0"/>
              <a:t> voltage of Fig. 4.29 determined as follows:</a:t>
            </a:r>
          </a:p>
        </p:txBody>
      </p:sp>
      <p:pic>
        <p:nvPicPr>
          <p:cNvPr id="15" name="Picture 14">
            <a:extLst>
              <a:ext uri="{FF2B5EF4-FFF2-40B4-BE49-F238E27FC236}">
                <a16:creationId xmlns:a16="http://schemas.microsoft.com/office/drawing/2014/main" id="{450B5621-75F1-4383-8912-92AC0ADFF925}"/>
              </a:ext>
            </a:extLst>
          </p:cNvPr>
          <p:cNvPicPr>
            <a:picLocks noChangeAspect="1"/>
          </p:cNvPicPr>
          <p:nvPr/>
        </p:nvPicPr>
        <p:blipFill>
          <a:blip r:embed="rId5"/>
          <a:stretch>
            <a:fillRect/>
          </a:stretch>
        </p:blipFill>
        <p:spPr>
          <a:xfrm>
            <a:off x="1136073" y="5228585"/>
            <a:ext cx="5313758" cy="869524"/>
          </a:xfrm>
          <a:prstGeom prst="rect">
            <a:avLst/>
          </a:prstGeom>
        </p:spPr>
      </p:pic>
      <p:pic>
        <p:nvPicPr>
          <p:cNvPr id="17" name="Picture 16">
            <a:extLst>
              <a:ext uri="{FF2B5EF4-FFF2-40B4-BE49-F238E27FC236}">
                <a16:creationId xmlns:a16="http://schemas.microsoft.com/office/drawing/2014/main" id="{2EF78C93-BEB4-45F4-9079-4DF175DAFEED}"/>
              </a:ext>
            </a:extLst>
          </p:cNvPr>
          <p:cNvPicPr>
            <a:picLocks noChangeAspect="1"/>
          </p:cNvPicPr>
          <p:nvPr/>
        </p:nvPicPr>
        <p:blipFill>
          <a:blip r:embed="rId6"/>
          <a:stretch>
            <a:fillRect/>
          </a:stretch>
        </p:blipFill>
        <p:spPr>
          <a:xfrm>
            <a:off x="7663730" y="2842669"/>
            <a:ext cx="2422382" cy="2059025"/>
          </a:xfrm>
          <a:prstGeom prst="rect">
            <a:avLst/>
          </a:prstGeom>
        </p:spPr>
      </p:pic>
    </p:spTree>
    <p:extLst>
      <p:ext uri="{BB962C8B-B14F-4D97-AF65-F5344CB8AC3E}">
        <p14:creationId xmlns:p14="http://schemas.microsoft.com/office/powerpoint/2010/main" val="30103526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A9F0237-00B5-4A0C-B1DA-5DEEBB7866E4}"/>
              </a:ext>
            </a:extLst>
          </p:cNvPr>
          <p:cNvPicPr>
            <a:picLocks noChangeAspect="1"/>
          </p:cNvPicPr>
          <p:nvPr/>
        </p:nvPicPr>
        <p:blipFill>
          <a:blip r:embed="rId2"/>
          <a:stretch>
            <a:fillRect/>
          </a:stretch>
        </p:blipFill>
        <p:spPr>
          <a:xfrm>
            <a:off x="971982" y="872835"/>
            <a:ext cx="2921145" cy="2904641"/>
          </a:xfrm>
          <a:prstGeom prst="rect">
            <a:avLst/>
          </a:prstGeom>
        </p:spPr>
      </p:pic>
      <p:pic>
        <p:nvPicPr>
          <p:cNvPr id="5" name="Picture 4">
            <a:extLst>
              <a:ext uri="{FF2B5EF4-FFF2-40B4-BE49-F238E27FC236}">
                <a16:creationId xmlns:a16="http://schemas.microsoft.com/office/drawing/2014/main" id="{01FF17D8-AC45-4C07-AC79-31795E88F86E}"/>
              </a:ext>
            </a:extLst>
          </p:cNvPr>
          <p:cNvPicPr>
            <a:picLocks noChangeAspect="1"/>
          </p:cNvPicPr>
          <p:nvPr/>
        </p:nvPicPr>
        <p:blipFill>
          <a:blip r:embed="rId3"/>
          <a:stretch>
            <a:fillRect/>
          </a:stretch>
        </p:blipFill>
        <p:spPr>
          <a:xfrm>
            <a:off x="971982" y="3777476"/>
            <a:ext cx="4531854" cy="690130"/>
          </a:xfrm>
          <a:prstGeom prst="rect">
            <a:avLst/>
          </a:prstGeom>
        </p:spPr>
      </p:pic>
      <p:pic>
        <p:nvPicPr>
          <p:cNvPr id="7" name="Picture 6">
            <a:extLst>
              <a:ext uri="{FF2B5EF4-FFF2-40B4-BE49-F238E27FC236}">
                <a16:creationId xmlns:a16="http://schemas.microsoft.com/office/drawing/2014/main" id="{99856DEA-ED4E-4869-9E97-130802D7A4FA}"/>
              </a:ext>
            </a:extLst>
          </p:cNvPr>
          <p:cNvPicPr>
            <a:picLocks noChangeAspect="1"/>
          </p:cNvPicPr>
          <p:nvPr/>
        </p:nvPicPr>
        <p:blipFill>
          <a:blip r:embed="rId4"/>
          <a:stretch>
            <a:fillRect/>
          </a:stretch>
        </p:blipFill>
        <p:spPr>
          <a:xfrm>
            <a:off x="971982" y="4467606"/>
            <a:ext cx="3123154" cy="467538"/>
          </a:xfrm>
          <a:prstGeom prst="rect">
            <a:avLst/>
          </a:prstGeom>
        </p:spPr>
      </p:pic>
      <p:pic>
        <p:nvPicPr>
          <p:cNvPr id="9" name="Picture 8">
            <a:extLst>
              <a:ext uri="{FF2B5EF4-FFF2-40B4-BE49-F238E27FC236}">
                <a16:creationId xmlns:a16="http://schemas.microsoft.com/office/drawing/2014/main" id="{4131BFCB-8250-416F-9022-9F3B6A4FF667}"/>
              </a:ext>
            </a:extLst>
          </p:cNvPr>
          <p:cNvPicPr>
            <a:picLocks noChangeAspect="1"/>
          </p:cNvPicPr>
          <p:nvPr/>
        </p:nvPicPr>
        <p:blipFill>
          <a:blip r:embed="rId5"/>
          <a:stretch>
            <a:fillRect/>
          </a:stretch>
        </p:blipFill>
        <p:spPr>
          <a:xfrm>
            <a:off x="5836345" y="1739277"/>
            <a:ext cx="6075212" cy="1012535"/>
          </a:xfrm>
          <a:prstGeom prst="rect">
            <a:avLst/>
          </a:prstGeom>
        </p:spPr>
      </p:pic>
      <p:sp>
        <p:nvSpPr>
          <p:cNvPr id="11" name="TextBox 10">
            <a:extLst>
              <a:ext uri="{FF2B5EF4-FFF2-40B4-BE49-F238E27FC236}">
                <a16:creationId xmlns:a16="http://schemas.microsoft.com/office/drawing/2014/main" id="{D60C1E08-09B3-44EF-8943-E76FF9DC1A41}"/>
              </a:ext>
            </a:extLst>
          </p:cNvPr>
          <p:cNvSpPr txBox="1"/>
          <p:nvPr/>
        </p:nvSpPr>
        <p:spPr>
          <a:xfrm>
            <a:off x="5933327" y="3641914"/>
            <a:ext cx="2493818" cy="369332"/>
          </a:xfrm>
          <a:prstGeom prst="rect">
            <a:avLst/>
          </a:prstGeom>
          <a:noFill/>
        </p:spPr>
        <p:txBody>
          <a:bodyPr wrap="square">
            <a:spAutoFit/>
          </a:bodyPr>
          <a:lstStyle/>
          <a:p>
            <a:r>
              <a:rPr lang="en-US" dirty="0"/>
              <a:t>Once IB is known</a:t>
            </a:r>
          </a:p>
        </p:txBody>
      </p:sp>
      <p:pic>
        <p:nvPicPr>
          <p:cNvPr id="13" name="Picture 12">
            <a:extLst>
              <a:ext uri="{FF2B5EF4-FFF2-40B4-BE49-F238E27FC236}">
                <a16:creationId xmlns:a16="http://schemas.microsoft.com/office/drawing/2014/main" id="{7B7FD3AD-497C-4CBE-B504-602B7D679642}"/>
              </a:ext>
            </a:extLst>
          </p:cNvPr>
          <p:cNvPicPr>
            <a:picLocks noChangeAspect="1"/>
          </p:cNvPicPr>
          <p:nvPr/>
        </p:nvPicPr>
        <p:blipFill>
          <a:blip r:embed="rId6"/>
          <a:stretch>
            <a:fillRect/>
          </a:stretch>
        </p:blipFill>
        <p:spPr>
          <a:xfrm>
            <a:off x="5836345" y="4106188"/>
            <a:ext cx="6140379" cy="690129"/>
          </a:xfrm>
          <a:prstGeom prst="rect">
            <a:avLst/>
          </a:prstGeom>
        </p:spPr>
      </p:pic>
    </p:spTree>
    <p:extLst>
      <p:ext uri="{BB962C8B-B14F-4D97-AF65-F5344CB8AC3E}">
        <p14:creationId xmlns:p14="http://schemas.microsoft.com/office/powerpoint/2010/main" val="22745752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DA607A7-C252-4BB3-9263-7F3278AEAF28}"/>
              </a:ext>
            </a:extLst>
          </p:cNvPr>
          <p:cNvSpPr txBox="1"/>
          <p:nvPr/>
        </p:nvSpPr>
        <p:spPr>
          <a:xfrm>
            <a:off x="568036" y="390298"/>
            <a:ext cx="1939636" cy="461665"/>
          </a:xfrm>
          <a:prstGeom prst="rect">
            <a:avLst/>
          </a:prstGeom>
          <a:noFill/>
        </p:spPr>
        <p:txBody>
          <a:bodyPr wrap="square">
            <a:spAutoFit/>
          </a:bodyPr>
          <a:lstStyle/>
          <a:p>
            <a:r>
              <a:rPr lang="en-US" sz="2400" b="1" dirty="0"/>
              <a:t>EXAMPLE 4.7</a:t>
            </a:r>
          </a:p>
        </p:txBody>
      </p:sp>
      <p:pic>
        <p:nvPicPr>
          <p:cNvPr id="5" name="Picture 4">
            <a:extLst>
              <a:ext uri="{FF2B5EF4-FFF2-40B4-BE49-F238E27FC236}">
                <a16:creationId xmlns:a16="http://schemas.microsoft.com/office/drawing/2014/main" id="{EB95F4DC-F921-4E51-8088-C730B5DFF7DF}"/>
              </a:ext>
            </a:extLst>
          </p:cNvPr>
          <p:cNvPicPr>
            <a:picLocks noChangeAspect="1"/>
          </p:cNvPicPr>
          <p:nvPr/>
        </p:nvPicPr>
        <p:blipFill>
          <a:blip r:embed="rId2"/>
          <a:stretch>
            <a:fillRect/>
          </a:stretch>
        </p:blipFill>
        <p:spPr>
          <a:xfrm>
            <a:off x="568036" y="1916279"/>
            <a:ext cx="5686774" cy="3212090"/>
          </a:xfrm>
          <a:prstGeom prst="rect">
            <a:avLst/>
          </a:prstGeom>
        </p:spPr>
      </p:pic>
      <p:pic>
        <p:nvPicPr>
          <p:cNvPr id="7" name="Picture 6">
            <a:extLst>
              <a:ext uri="{FF2B5EF4-FFF2-40B4-BE49-F238E27FC236}">
                <a16:creationId xmlns:a16="http://schemas.microsoft.com/office/drawing/2014/main" id="{3BA22065-A1EA-4858-A9DF-7CE3E23F52A5}"/>
              </a:ext>
            </a:extLst>
          </p:cNvPr>
          <p:cNvPicPr>
            <a:picLocks noChangeAspect="1"/>
          </p:cNvPicPr>
          <p:nvPr/>
        </p:nvPicPr>
        <p:blipFill>
          <a:blip r:embed="rId3"/>
          <a:stretch>
            <a:fillRect/>
          </a:stretch>
        </p:blipFill>
        <p:spPr>
          <a:xfrm>
            <a:off x="6095999" y="269298"/>
            <a:ext cx="5964203" cy="6477866"/>
          </a:xfrm>
          <a:prstGeom prst="rect">
            <a:avLst/>
          </a:prstGeom>
        </p:spPr>
      </p:pic>
      <p:sp>
        <p:nvSpPr>
          <p:cNvPr id="9" name="TextBox 8">
            <a:extLst>
              <a:ext uri="{FF2B5EF4-FFF2-40B4-BE49-F238E27FC236}">
                <a16:creationId xmlns:a16="http://schemas.microsoft.com/office/drawing/2014/main" id="{03F190C8-6C7F-49D2-B93F-2F63025B539C}"/>
              </a:ext>
            </a:extLst>
          </p:cNvPr>
          <p:cNvSpPr txBox="1"/>
          <p:nvPr/>
        </p:nvSpPr>
        <p:spPr>
          <a:xfrm>
            <a:off x="235528" y="1269948"/>
            <a:ext cx="5451246" cy="646331"/>
          </a:xfrm>
          <a:prstGeom prst="rect">
            <a:avLst/>
          </a:prstGeom>
          <a:noFill/>
        </p:spPr>
        <p:txBody>
          <a:bodyPr wrap="square">
            <a:spAutoFit/>
          </a:bodyPr>
          <a:lstStyle/>
          <a:p>
            <a:r>
              <a:rPr lang="en-US" dirty="0"/>
              <a:t>Determine the dc bias voltage VCE and the current IC for the voltage-divider configuration of Fig. 4.31.</a:t>
            </a:r>
          </a:p>
        </p:txBody>
      </p:sp>
    </p:spTree>
    <p:extLst>
      <p:ext uri="{BB962C8B-B14F-4D97-AF65-F5344CB8AC3E}">
        <p14:creationId xmlns:p14="http://schemas.microsoft.com/office/powerpoint/2010/main" val="38281826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FD0BF1E-011F-4AED-B285-9365708B81EE}"/>
              </a:ext>
            </a:extLst>
          </p:cNvPr>
          <p:cNvSpPr txBox="1"/>
          <p:nvPr/>
        </p:nvSpPr>
        <p:spPr>
          <a:xfrm>
            <a:off x="651164" y="528843"/>
            <a:ext cx="3048000" cy="461665"/>
          </a:xfrm>
          <a:prstGeom prst="rect">
            <a:avLst/>
          </a:prstGeom>
          <a:noFill/>
        </p:spPr>
        <p:txBody>
          <a:bodyPr wrap="square">
            <a:spAutoFit/>
          </a:bodyPr>
          <a:lstStyle/>
          <a:p>
            <a:r>
              <a:rPr lang="en-US" sz="2400" b="1" dirty="0"/>
              <a:t>Approximate Analysis</a:t>
            </a:r>
          </a:p>
        </p:txBody>
      </p:sp>
      <p:pic>
        <p:nvPicPr>
          <p:cNvPr id="5" name="Picture 4">
            <a:extLst>
              <a:ext uri="{FF2B5EF4-FFF2-40B4-BE49-F238E27FC236}">
                <a16:creationId xmlns:a16="http://schemas.microsoft.com/office/drawing/2014/main" id="{9582D2C1-80C9-4CB2-84CB-DC1E06328B03}"/>
              </a:ext>
            </a:extLst>
          </p:cNvPr>
          <p:cNvPicPr>
            <a:picLocks noChangeAspect="1"/>
          </p:cNvPicPr>
          <p:nvPr/>
        </p:nvPicPr>
        <p:blipFill>
          <a:blip r:embed="rId2"/>
          <a:stretch>
            <a:fillRect/>
          </a:stretch>
        </p:blipFill>
        <p:spPr>
          <a:xfrm>
            <a:off x="840796" y="1601499"/>
            <a:ext cx="4274331" cy="2734974"/>
          </a:xfrm>
          <a:prstGeom prst="rect">
            <a:avLst/>
          </a:prstGeom>
        </p:spPr>
      </p:pic>
      <p:pic>
        <p:nvPicPr>
          <p:cNvPr id="7" name="Picture 6">
            <a:extLst>
              <a:ext uri="{FF2B5EF4-FFF2-40B4-BE49-F238E27FC236}">
                <a16:creationId xmlns:a16="http://schemas.microsoft.com/office/drawing/2014/main" id="{D6DC5610-D2A6-4331-9EB8-C7E8356837F7}"/>
              </a:ext>
            </a:extLst>
          </p:cNvPr>
          <p:cNvPicPr>
            <a:picLocks noChangeAspect="1"/>
          </p:cNvPicPr>
          <p:nvPr/>
        </p:nvPicPr>
        <p:blipFill>
          <a:blip r:embed="rId3"/>
          <a:stretch>
            <a:fillRect/>
          </a:stretch>
        </p:blipFill>
        <p:spPr>
          <a:xfrm>
            <a:off x="988349" y="4806660"/>
            <a:ext cx="4126778" cy="1303193"/>
          </a:xfrm>
          <a:prstGeom prst="rect">
            <a:avLst/>
          </a:prstGeom>
        </p:spPr>
      </p:pic>
      <p:pic>
        <p:nvPicPr>
          <p:cNvPr id="9" name="Picture 8">
            <a:extLst>
              <a:ext uri="{FF2B5EF4-FFF2-40B4-BE49-F238E27FC236}">
                <a16:creationId xmlns:a16="http://schemas.microsoft.com/office/drawing/2014/main" id="{0912BFAE-257A-4DA8-84CA-19FA7F6BFDF3}"/>
              </a:ext>
            </a:extLst>
          </p:cNvPr>
          <p:cNvPicPr>
            <a:picLocks noChangeAspect="1"/>
          </p:cNvPicPr>
          <p:nvPr/>
        </p:nvPicPr>
        <p:blipFill>
          <a:blip r:embed="rId4"/>
          <a:stretch>
            <a:fillRect/>
          </a:stretch>
        </p:blipFill>
        <p:spPr>
          <a:xfrm>
            <a:off x="5997951" y="2712027"/>
            <a:ext cx="3293919" cy="1097973"/>
          </a:xfrm>
          <a:prstGeom prst="rect">
            <a:avLst/>
          </a:prstGeom>
        </p:spPr>
      </p:pic>
    </p:spTree>
    <p:extLst>
      <p:ext uri="{BB962C8B-B14F-4D97-AF65-F5344CB8AC3E}">
        <p14:creationId xmlns:p14="http://schemas.microsoft.com/office/powerpoint/2010/main" val="10318364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B8999BC-B379-4BE7-A0E7-A81E0806507C}"/>
              </a:ext>
            </a:extLst>
          </p:cNvPr>
          <p:cNvPicPr>
            <a:picLocks noChangeAspect="1"/>
          </p:cNvPicPr>
          <p:nvPr/>
        </p:nvPicPr>
        <p:blipFill>
          <a:blip r:embed="rId2"/>
          <a:stretch>
            <a:fillRect/>
          </a:stretch>
        </p:blipFill>
        <p:spPr>
          <a:xfrm>
            <a:off x="1396711" y="516082"/>
            <a:ext cx="2916752" cy="1118754"/>
          </a:xfrm>
          <a:prstGeom prst="rect">
            <a:avLst/>
          </a:prstGeom>
        </p:spPr>
      </p:pic>
      <p:pic>
        <p:nvPicPr>
          <p:cNvPr id="5" name="Picture 4">
            <a:extLst>
              <a:ext uri="{FF2B5EF4-FFF2-40B4-BE49-F238E27FC236}">
                <a16:creationId xmlns:a16="http://schemas.microsoft.com/office/drawing/2014/main" id="{6C11BC68-8D67-4CC5-8DFB-B335B5930317}"/>
              </a:ext>
            </a:extLst>
          </p:cNvPr>
          <p:cNvPicPr>
            <a:picLocks noChangeAspect="1"/>
          </p:cNvPicPr>
          <p:nvPr/>
        </p:nvPicPr>
        <p:blipFill>
          <a:blip r:embed="rId3"/>
          <a:stretch>
            <a:fillRect/>
          </a:stretch>
        </p:blipFill>
        <p:spPr>
          <a:xfrm>
            <a:off x="1663782" y="1701836"/>
            <a:ext cx="2649681" cy="779318"/>
          </a:xfrm>
          <a:prstGeom prst="rect">
            <a:avLst/>
          </a:prstGeom>
        </p:spPr>
      </p:pic>
      <p:pic>
        <p:nvPicPr>
          <p:cNvPr id="7" name="Picture 6">
            <a:extLst>
              <a:ext uri="{FF2B5EF4-FFF2-40B4-BE49-F238E27FC236}">
                <a16:creationId xmlns:a16="http://schemas.microsoft.com/office/drawing/2014/main" id="{70CCFD0C-756E-4906-9BE9-A768BF7F206D}"/>
              </a:ext>
            </a:extLst>
          </p:cNvPr>
          <p:cNvPicPr>
            <a:picLocks noChangeAspect="1"/>
          </p:cNvPicPr>
          <p:nvPr/>
        </p:nvPicPr>
        <p:blipFill>
          <a:blip r:embed="rId4"/>
          <a:stretch>
            <a:fillRect/>
          </a:stretch>
        </p:blipFill>
        <p:spPr>
          <a:xfrm>
            <a:off x="2180245" y="2359602"/>
            <a:ext cx="1616753" cy="1548679"/>
          </a:xfrm>
          <a:prstGeom prst="rect">
            <a:avLst/>
          </a:prstGeom>
        </p:spPr>
      </p:pic>
      <p:pic>
        <p:nvPicPr>
          <p:cNvPr id="9" name="Picture 8">
            <a:extLst>
              <a:ext uri="{FF2B5EF4-FFF2-40B4-BE49-F238E27FC236}">
                <a16:creationId xmlns:a16="http://schemas.microsoft.com/office/drawing/2014/main" id="{8BE656D8-7B92-462F-A3DC-CC0FDDE0DADC}"/>
              </a:ext>
            </a:extLst>
          </p:cNvPr>
          <p:cNvPicPr>
            <a:picLocks noChangeAspect="1"/>
          </p:cNvPicPr>
          <p:nvPr/>
        </p:nvPicPr>
        <p:blipFill>
          <a:blip r:embed="rId5"/>
          <a:stretch>
            <a:fillRect/>
          </a:stretch>
        </p:blipFill>
        <p:spPr>
          <a:xfrm>
            <a:off x="800993" y="4376848"/>
            <a:ext cx="6170970" cy="1804880"/>
          </a:xfrm>
          <a:prstGeom prst="rect">
            <a:avLst/>
          </a:prstGeom>
        </p:spPr>
      </p:pic>
    </p:spTree>
    <p:extLst>
      <p:ext uri="{BB962C8B-B14F-4D97-AF65-F5344CB8AC3E}">
        <p14:creationId xmlns:p14="http://schemas.microsoft.com/office/powerpoint/2010/main" val="37236006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0A39D3B-2DE1-4766-AE62-21A610E040A5}"/>
              </a:ext>
            </a:extLst>
          </p:cNvPr>
          <p:cNvPicPr>
            <a:picLocks noChangeAspect="1"/>
          </p:cNvPicPr>
          <p:nvPr/>
        </p:nvPicPr>
        <p:blipFill>
          <a:blip r:embed="rId2"/>
          <a:stretch>
            <a:fillRect/>
          </a:stretch>
        </p:blipFill>
        <p:spPr>
          <a:xfrm>
            <a:off x="711712" y="612630"/>
            <a:ext cx="1941433" cy="468024"/>
          </a:xfrm>
          <a:prstGeom prst="rect">
            <a:avLst/>
          </a:prstGeom>
        </p:spPr>
      </p:pic>
      <p:sp>
        <p:nvSpPr>
          <p:cNvPr id="5" name="TextBox 4">
            <a:extLst>
              <a:ext uri="{FF2B5EF4-FFF2-40B4-BE49-F238E27FC236}">
                <a16:creationId xmlns:a16="http://schemas.microsoft.com/office/drawing/2014/main" id="{F72B5F4A-7940-4489-B665-438ACBE2A2CA}"/>
              </a:ext>
            </a:extLst>
          </p:cNvPr>
          <p:cNvSpPr txBox="1"/>
          <p:nvPr/>
        </p:nvSpPr>
        <p:spPr>
          <a:xfrm>
            <a:off x="711712" y="1080654"/>
            <a:ext cx="7065818" cy="830997"/>
          </a:xfrm>
          <a:prstGeom prst="rect">
            <a:avLst/>
          </a:prstGeom>
          <a:noFill/>
        </p:spPr>
        <p:txBody>
          <a:bodyPr wrap="square">
            <a:spAutoFit/>
          </a:bodyPr>
          <a:lstStyle/>
          <a:p>
            <a:r>
              <a:rPr lang="en-US" sz="2400" dirty="0"/>
              <a:t>Repeat the analysis of Fig. 4.31 using the approximate technique, and compare solutions for ICQ and VCEQ.</a:t>
            </a:r>
          </a:p>
        </p:txBody>
      </p:sp>
      <p:pic>
        <p:nvPicPr>
          <p:cNvPr id="7" name="Picture 6">
            <a:extLst>
              <a:ext uri="{FF2B5EF4-FFF2-40B4-BE49-F238E27FC236}">
                <a16:creationId xmlns:a16="http://schemas.microsoft.com/office/drawing/2014/main" id="{386C51D0-D79E-4605-8E61-3A5266757BFB}"/>
              </a:ext>
            </a:extLst>
          </p:cNvPr>
          <p:cNvPicPr>
            <a:picLocks noChangeAspect="1"/>
          </p:cNvPicPr>
          <p:nvPr/>
        </p:nvPicPr>
        <p:blipFill>
          <a:blip r:embed="rId3"/>
          <a:stretch>
            <a:fillRect/>
          </a:stretch>
        </p:blipFill>
        <p:spPr>
          <a:xfrm>
            <a:off x="711712" y="2379675"/>
            <a:ext cx="5262130" cy="3195849"/>
          </a:xfrm>
          <a:prstGeom prst="rect">
            <a:avLst/>
          </a:prstGeom>
        </p:spPr>
      </p:pic>
    </p:spTree>
    <p:extLst>
      <p:ext uri="{BB962C8B-B14F-4D97-AF65-F5344CB8AC3E}">
        <p14:creationId xmlns:p14="http://schemas.microsoft.com/office/powerpoint/2010/main" val="1291436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3E42087-C43B-4E2F-8C58-2F4621BACA08}"/>
              </a:ext>
            </a:extLst>
          </p:cNvPr>
          <p:cNvPicPr>
            <a:picLocks noChangeAspect="1"/>
          </p:cNvPicPr>
          <p:nvPr/>
        </p:nvPicPr>
        <p:blipFill>
          <a:blip r:embed="rId2"/>
          <a:stretch>
            <a:fillRect/>
          </a:stretch>
        </p:blipFill>
        <p:spPr>
          <a:xfrm>
            <a:off x="1745674" y="268609"/>
            <a:ext cx="8312726" cy="6630190"/>
          </a:xfrm>
          <a:prstGeom prst="rect">
            <a:avLst/>
          </a:prstGeom>
        </p:spPr>
      </p:pic>
    </p:spTree>
    <p:extLst>
      <p:ext uri="{BB962C8B-B14F-4D97-AF65-F5344CB8AC3E}">
        <p14:creationId xmlns:p14="http://schemas.microsoft.com/office/powerpoint/2010/main" val="22403345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7265EA0-527A-49EF-8EAC-C04B6F07A8FE}"/>
              </a:ext>
            </a:extLst>
          </p:cNvPr>
          <p:cNvSpPr txBox="1"/>
          <p:nvPr/>
        </p:nvSpPr>
        <p:spPr>
          <a:xfrm>
            <a:off x="817418" y="1152297"/>
            <a:ext cx="2202873" cy="369332"/>
          </a:xfrm>
          <a:prstGeom prst="rect">
            <a:avLst/>
          </a:prstGeom>
          <a:noFill/>
        </p:spPr>
        <p:txBody>
          <a:bodyPr wrap="square">
            <a:spAutoFit/>
          </a:bodyPr>
          <a:lstStyle/>
          <a:p>
            <a:r>
              <a:rPr lang="en-US" b="1" dirty="0"/>
              <a:t>Base–Emitter Loop</a:t>
            </a:r>
          </a:p>
        </p:txBody>
      </p:sp>
      <p:pic>
        <p:nvPicPr>
          <p:cNvPr id="7" name="Picture 6">
            <a:extLst>
              <a:ext uri="{FF2B5EF4-FFF2-40B4-BE49-F238E27FC236}">
                <a16:creationId xmlns:a16="http://schemas.microsoft.com/office/drawing/2014/main" id="{1BC173F4-FC5F-4B4C-95D2-19E20D8989CD}"/>
              </a:ext>
            </a:extLst>
          </p:cNvPr>
          <p:cNvPicPr>
            <a:picLocks noChangeAspect="1"/>
          </p:cNvPicPr>
          <p:nvPr/>
        </p:nvPicPr>
        <p:blipFill>
          <a:blip r:embed="rId2"/>
          <a:stretch>
            <a:fillRect/>
          </a:stretch>
        </p:blipFill>
        <p:spPr>
          <a:xfrm>
            <a:off x="700991" y="1528647"/>
            <a:ext cx="3633750" cy="461665"/>
          </a:xfrm>
          <a:prstGeom prst="rect">
            <a:avLst/>
          </a:prstGeom>
        </p:spPr>
      </p:pic>
      <p:pic>
        <p:nvPicPr>
          <p:cNvPr id="9" name="Picture 8">
            <a:extLst>
              <a:ext uri="{FF2B5EF4-FFF2-40B4-BE49-F238E27FC236}">
                <a16:creationId xmlns:a16="http://schemas.microsoft.com/office/drawing/2014/main" id="{6DA19332-3E06-4880-9DAC-0930869ECD1E}"/>
              </a:ext>
            </a:extLst>
          </p:cNvPr>
          <p:cNvPicPr>
            <a:picLocks noChangeAspect="1"/>
          </p:cNvPicPr>
          <p:nvPr/>
        </p:nvPicPr>
        <p:blipFill>
          <a:blip r:embed="rId3"/>
          <a:stretch>
            <a:fillRect/>
          </a:stretch>
        </p:blipFill>
        <p:spPr>
          <a:xfrm>
            <a:off x="984341" y="2238375"/>
            <a:ext cx="4272680" cy="3317298"/>
          </a:xfrm>
          <a:prstGeom prst="rect">
            <a:avLst/>
          </a:prstGeom>
        </p:spPr>
      </p:pic>
      <p:pic>
        <p:nvPicPr>
          <p:cNvPr id="11" name="Picture 10">
            <a:extLst>
              <a:ext uri="{FF2B5EF4-FFF2-40B4-BE49-F238E27FC236}">
                <a16:creationId xmlns:a16="http://schemas.microsoft.com/office/drawing/2014/main" id="{4273544A-E8C0-462E-AC52-C4ADB5C672A4}"/>
              </a:ext>
            </a:extLst>
          </p:cNvPr>
          <p:cNvPicPr>
            <a:picLocks noChangeAspect="1"/>
          </p:cNvPicPr>
          <p:nvPr/>
        </p:nvPicPr>
        <p:blipFill>
          <a:blip r:embed="rId4"/>
          <a:stretch>
            <a:fillRect/>
          </a:stretch>
        </p:blipFill>
        <p:spPr>
          <a:xfrm>
            <a:off x="6913418" y="1152297"/>
            <a:ext cx="3024620" cy="3433352"/>
          </a:xfrm>
          <a:prstGeom prst="rect">
            <a:avLst/>
          </a:prstGeom>
        </p:spPr>
      </p:pic>
      <p:pic>
        <p:nvPicPr>
          <p:cNvPr id="13" name="Picture 12">
            <a:extLst>
              <a:ext uri="{FF2B5EF4-FFF2-40B4-BE49-F238E27FC236}">
                <a16:creationId xmlns:a16="http://schemas.microsoft.com/office/drawing/2014/main" id="{6AFDE206-99F5-4223-AF00-DF2E6CDEBAB4}"/>
              </a:ext>
            </a:extLst>
          </p:cNvPr>
          <p:cNvPicPr>
            <a:picLocks noChangeAspect="1"/>
          </p:cNvPicPr>
          <p:nvPr/>
        </p:nvPicPr>
        <p:blipFill>
          <a:blip r:embed="rId5"/>
          <a:stretch>
            <a:fillRect/>
          </a:stretch>
        </p:blipFill>
        <p:spPr>
          <a:xfrm>
            <a:off x="6497781" y="4816711"/>
            <a:ext cx="4467857" cy="1431689"/>
          </a:xfrm>
          <a:prstGeom prst="rect">
            <a:avLst/>
          </a:prstGeom>
        </p:spPr>
      </p:pic>
      <p:sp>
        <p:nvSpPr>
          <p:cNvPr id="2" name="Title 1">
            <a:extLst>
              <a:ext uri="{FF2B5EF4-FFF2-40B4-BE49-F238E27FC236}">
                <a16:creationId xmlns:a16="http://schemas.microsoft.com/office/drawing/2014/main" id="{4EC19FA7-7195-00E6-D81A-6FA89C2BBDDF}"/>
              </a:ext>
            </a:extLst>
          </p:cNvPr>
          <p:cNvSpPr txBox="1">
            <a:spLocks/>
          </p:cNvSpPr>
          <p:nvPr/>
        </p:nvSpPr>
        <p:spPr>
          <a:xfrm>
            <a:off x="838200" y="365125"/>
            <a:ext cx="10515600" cy="71524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D" sz="4000" b="1"/>
              <a:t>Prategangan </a:t>
            </a:r>
            <a:r>
              <a:rPr lang="en-US" sz="4000" b="1"/>
              <a:t>Voltage Feedback Bias</a:t>
            </a:r>
            <a:endParaRPr lang="en-ID" sz="4000" b="1"/>
          </a:p>
        </p:txBody>
      </p:sp>
      <p:cxnSp>
        <p:nvCxnSpPr>
          <p:cNvPr id="4" name="Straight Arrow Connector 3">
            <a:extLst>
              <a:ext uri="{FF2B5EF4-FFF2-40B4-BE49-F238E27FC236}">
                <a16:creationId xmlns:a16="http://schemas.microsoft.com/office/drawing/2014/main" id="{7EB34D33-39BD-2716-D37B-0119EDCFC422}"/>
              </a:ext>
            </a:extLst>
          </p:cNvPr>
          <p:cNvCxnSpPr>
            <a:cxnSpLocks/>
          </p:cNvCxnSpPr>
          <p:nvPr/>
        </p:nvCxnSpPr>
        <p:spPr>
          <a:xfrm flipH="1" flipV="1">
            <a:off x="1848534" y="4063229"/>
            <a:ext cx="2343513" cy="149244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C2A8B4B9-0C68-04AD-4D28-5ED293985012}"/>
              </a:ext>
            </a:extLst>
          </p:cNvPr>
          <p:cNvCxnSpPr>
            <a:cxnSpLocks/>
          </p:cNvCxnSpPr>
          <p:nvPr/>
        </p:nvCxnSpPr>
        <p:spPr>
          <a:xfrm flipV="1">
            <a:off x="4192047" y="3629608"/>
            <a:ext cx="142694" cy="192606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034A0688-54E9-3D3E-7243-CA0A4EA7BE37}"/>
              </a:ext>
            </a:extLst>
          </p:cNvPr>
          <p:cNvSpPr txBox="1"/>
          <p:nvPr/>
        </p:nvSpPr>
        <p:spPr>
          <a:xfrm>
            <a:off x="2517866" y="5495959"/>
            <a:ext cx="3145798" cy="307777"/>
          </a:xfrm>
          <a:prstGeom prst="rect">
            <a:avLst/>
          </a:prstGeom>
          <a:noFill/>
        </p:spPr>
        <p:txBody>
          <a:bodyPr wrap="none" rtlCol="0">
            <a:spAutoFit/>
          </a:bodyPr>
          <a:lstStyle/>
          <a:p>
            <a:r>
              <a:rPr lang="en-US" sz="1400">
                <a:solidFill>
                  <a:srgbClr val="FF0000"/>
                </a:solidFill>
              </a:rPr>
              <a:t>Tdk perlu digambarkan saat prategangan</a:t>
            </a:r>
            <a:endParaRPr lang="en-ID" sz="1400">
              <a:solidFill>
                <a:srgbClr val="FF0000"/>
              </a:solidFill>
            </a:endParaRPr>
          </a:p>
        </p:txBody>
      </p:sp>
    </p:spTree>
    <p:extLst>
      <p:ext uri="{BB962C8B-B14F-4D97-AF65-F5344CB8AC3E}">
        <p14:creationId xmlns:p14="http://schemas.microsoft.com/office/powerpoint/2010/main" val="8289859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02FABA2-2FA1-4246-A786-5A3C34F8E4CF}"/>
              </a:ext>
            </a:extLst>
          </p:cNvPr>
          <p:cNvSpPr txBox="1"/>
          <p:nvPr/>
        </p:nvSpPr>
        <p:spPr>
          <a:xfrm>
            <a:off x="969818" y="667389"/>
            <a:ext cx="3048000" cy="369332"/>
          </a:xfrm>
          <a:prstGeom prst="rect">
            <a:avLst/>
          </a:prstGeom>
          <a:noFill/>
        </p:spPr>
        <p:txBody>
          <a:bodyPr wrap="square">
            <a:spAutoFit/>
          </a:bodyPr>
          <a:lstStyle/>
          <a:p>
            <a:r>
              <a:rPr lang="en-US" b="1" dirty="0"/>
              <a:t>Collector–Emitter Loop</a:t>
            </a:r>
          </a:p>
        </p:txBody>
      </p:sp>
      <p:pic>
        <p:nvPicPr>
          <p:cNvPr id="5" name="Picture 4">
            <a:extLst>
              <a:ext uri="{FF2B5EF4-FFF2-40B4-BE49-F238E27FC236}">
                <a16:creationId xmlns:a16="http://schemas.microsoft.com/office/drawing/2014/main" id="{FF3000EF-5582-4BDB-8068-292346151FD7}"/>
              </a:ext>
            </a:extLst>
          </p:cNvPr>
          <p:cNvPicPr>
            <a:picLocks noChangeAspect="1"/>
          </p:cNvPicPr>
          <p:nvPr/>
        </p:nvPicPr>
        <p:blipFill>
          <a:blip r:embed="rId2"/>
          <a:stretch>
            <a:fillRect/>
          </a:stretch>
        </p:blipFill>
        <p:spPr>
          <a:xfrm>
            <a:off x="1101436" y="1183717"/>
            <a:ext cx="2916382" cy="4490565"/>
          </a:xfrm>
          <a:prstGeom prst="rect">
            <a:avLst/>
          </a:prstGeom>
        </p:spPr>
      </p:pic>
      <p:pic>
        <p:nvPicPr>
          <p:cNvPr id="7" name="Picture 6">
            <a:extLst>
              <a:ext uri="{FF2B5EF4-FFF2-40B4-BE49-F238E27FC236}">
                <a16:creationId xmlns:a16="http://schemas.microsoft.com/office/drawing/2014/main" id="{4FA1424A-E14E-44BA-BEF8-5405F8D8D521}"/>
              </a:ext>
            </a:extLst>
          </p:cNvPr>
          <p:cNvPicPr>
            <a:picLocks noChangeAspect="1"/>
          </p:cNvPicPr>
          <p:nvPr/>
        </p:nvPicPr>
        <p:blipFill>
          <a:blip r:embed="rId3"/>
          <a:stretch>
            <a:fillRect/>
          </a:stretch>
        </p:blipFill>
        <p:spPr>
          <a:xfrm>
            <a:off x="4530172" y="2446625"/>
            <a:ext cx="7288023" cy="823863"/>
          </a:xfrm>
          <a:prstGeom prst="rect">
            <a:avLst/>
          </a:prstGeom>
        </p:spPr>
      </p:pic>
    </p:spTree>
    <p:extLst>
      <p:ext uri="{BB962C8B-B14F-4D97-AF65-F5344CB8AC3E}">
        <p14:creationId xmlns:p14="http://schemas.microsoft.com/office/powerpoint/2010/main" val="39941935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A471B66-BF01-42C9-AA0F-7AE56C3C930B}"/>
              </a:ext>
            </a:extLst>
          </p:cNvPr>
          <p:cNvSpPr txBox="1"/>
          <p:nvPr/>
        </p:nvSpPr>
        <p:spPr>
          <a:xfrm>
            <a:off x="2283430" y="2356318"/>
            <a:ext cx="7791813" cy="646331"/>
          </a:xfrm>
          <a:prstGeom prst="rect">
            <a:avLst/>
          </a:prstGeom>
          <a:noFill/>
        </p:spPr>
        <p:txBody>
          <a:bodyPr wrap="none" rtlCol="0">
            <a:spAutoFit/>
          </a:bodyPr>
          <a:lstStyle/>
          <a:p>
            <a:r>
              <a:rPr lang="en-US" sz="3600"/>
              <a:t>Tugas: Kerjakan bab4</a:t>
            </a:r>
            <a:r>
              <a:rPr lang="en-US" sz="3600" dirty="0"/>
              <a:t>, no.1 – 32, </a:t>
            </a:r>
            <a:r>
              <a:rPr lang="en-US" sz="3600" dirty="0" err="1"/>
              <a:t>reff</a:t>
            </a:r>
            <a:r>
              <a:rPr lang="en-US" sz="3600" dirty="0"/>
              <a:t> [1] </a:t>
            </a:r>
          </a:p>
        </p:txBody>
      </p:sp>
    </p:spTree>
    <p:extLst>
      <p:ext uri="{BB962C8B-B14F-4D97-AF65-F5344CB8AC3E}">
        <p14:creationId xmlns:p14="http://schemas.microsoft.com/office/powerpoint/2010/main" val="13520569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3307</TotalTime>
  <Words>937</Words>
  <Application>Microsoft Office PowerPoint</Application>
  <PresentationFormat>Widescreen</PresentationFormat>
  <Paragraphs>117</Paragraphs>
  <Slides>35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Arial</vt:lpstr>
      <vt:lpstr>Calibri</vt:lpstr>
      <vt:lpstr>Calibri Light</vt:lpstr>
      <vt:lpstr>Wingdings</vt:lpstr>
      <vt:lpstr>Office Theme</vt:lpstr>
      <vt:lpstr>Prategangan DC (DC Biasing) BJT </vt:lpstr>
      <vt:lpstr>Apa itu Prategangan DC (DC Biasing) Transistor?</vt:lpstr>
      <vt:lpstr>Tujuan Prategangan</vt:lpstr>
      <vt:lpstr>Manfaat Prategangan</vt:lpstr>
      <vt:lpstr>Ilustrasi Proses Perancangan Prategangan</vt:lpstr>
      <vt:lpstr>Ilustrasi Rangkaian Prategangan Diinputkan Tegangan AC Jadi Penguat</vt:lpstr>
      <vt:lpstr>Jenis-Jenis Rangkaian Prategangan DC</vt:lpstr>
      <vt:lpstr>Perbedaan Masing-Masing Prategangan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DC Biasing BJT</dc:title>
  <dc:creator>Ridwan Solihin</dc:creator>
  <cp:lastModifiedBy>erilmozef@yahoo.com</cp:lastModifiedBy>
  <cp:revision>82</cp:revision>
  <dcterms:created xsi:type="dcterms:W3CDTF">2022-03-14T08:25:08Z</dcterms:created>
  <dcterms:modified xsi:type="dcterms:W3CDTF">2025-04-29T11:34:57Z</dcterms:modified>
</cp:coreProperties>
</file>