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919D9-61F4-CE81-3954-FCE3D5E35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48DB2-4EF7-FB8F-17BA-E7149E439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AC971-24C6-B987-58EB-170C9DC80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C1F8-96E8-4D73-BB3C-059BCD929934}" type="datetimeFigureOut">
              <a:rPr lang="en-ID" smtClean="0"/>
              <a:t>28/02/2025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66CAC-541F-9E56-B957-F5E85651A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40199-F499-317F-C621-486C9D68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10AF5-E440-4CA2-AD29-3ED031F76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2909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8E3C1-7196-E40C-6254-76E5B248D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138AC-6FF9-82B3-32AE-A9B1306B6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A2571-B92C-4894-EC4E-53594094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C1F8-96E8-4D73-BB3C-059BCD929934}" type="datetimeFigureOut">
              <a:rPr lang="en-ID" smtClean="0"/>
              <a:t>28/02/2025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6CB99-2B7D-5C3F-4946-9121BFC72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6190C-B58D-30A2-2C4D-72BA6EDC2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10AF5-E440-4CA2-AD29-3ED031F76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0371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3F9EC-B9EA-5A79-9C25-C4811B4DA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62734-3B21-7871-B73A-E927E566C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EDA43-12DD-D4B4-E85F-6D11F2FB5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C1F8-96E8-4D73-BB3C-059BCD929934}" type="datetimeFigureOut">
              <a:rPr lang="en-ID" smtClean="0"/>
              <a:t>28/02/2025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D842C-A654-A6BF-DBAF-F9D7E4E07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BFD40-8D80-6F8D-56D1-BDB6A6F6E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10AF5-E440-4CA2-AD29-3ED031F76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174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5016-3D80-A282-E4E3-132AE4960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F42BB-5DAA-F0A0-6414-8C45D705A3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CE3628-B68C-DCA8-4124-D8CC8B7C5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1EE8D-9F82-1760-0044-B5809B4BA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C1F8-96E8-4D73-BB3C-059BCD929934}" type="datetimeFigureOut">
              <a:rPr lang="en-ID" smtClean="0"/>
              <a:t>28/02/2025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EADE8-7A6E-CD7F-47DA-B62655516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F6C8D-2FCC-F5F6-4B73-7ECC2D4D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10AF5-E440-4CA2-AD29-3ED031F76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3722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1CEA7-4312-BF55-BDEA-0BC08A519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D5299-A43F-96B5-23C5-2B884CA32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47832-9911-30D0-6349-C8A0CA219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089D16-77E0-EB3D-BE56-54918EAD45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3BFFCA-4EEC-B4EE-1A4A-C689662371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39D34-5B73-6274-D02F-6A645A872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C1F8-96E8-4D73-BB3C-059BCD929934}" type="datetimeFigureOut">
              <a:rPr lang="en-ID" smtClean="0"/>
              <a:t>28/02/2025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F848CA-F32F-B87A-C27B-10B8E218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0E677C-26EE-69DA-046E-8664867F5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10AF5-E440-4CA2-AD29-3ED031F76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489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7B12A-C935-43D6-F587-505706A0B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C540DD-FF4D-B3CF-25C3-47DD8729D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C1F8-96E8-4D73-BB3C-059BCD929934}" type="datetimeFigureOut">
              <a:rPr lang="en-ID" smtClean="0"/>
              <a:t>28/02/2025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2809D-6A6D-C9A0-45D5-CF688AA47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21B7C-28EB-0A09-D6F1-5E66BECAA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10AF5-E440-4CA2-AD29-3ED031F76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45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64317B-A1CD-A40F-AC36-FE08063B2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C1F8-96E8-4D73-BB3C-059BCD929934}" type="datetimeFigureOut">
              <a:rPr lang="en-ID" smtClean="0"/>
              <a:t>28/02/2025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2477DA-34FB-3138-2D01-E3D730863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56ABF-9B84-AD3F-0A3A-8BB8A9CC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10AF5-E440-4CA2-AD29-3ED031F76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8270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B06F1-A83D-C6F5-D198-1C89570CA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17838-5C27-DB00-E2F9-2478F4C7D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DA4F7-F041-6EDD-A7E0-658E6F0B7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E6125-70A1-6537-8009-9986DD02C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C1F8-96E8-4D73-BB3C-059BCD929934}" type="datetimeFigureOut">
              <a:rPr lang="en-ID" smtClean="0"/>
              <a:t>28/02/2025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6E68F-8A7C-D5BE-CBEB-0146C84B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DFB7C-598F-55DB-3221-B30EC594C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10AF5-E440-4CA2-AD29-3ED031F76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706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EC684-38CC-C675-28EF-F526B12BF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38C152-3955-FC0C-F52A-B0C646D2DB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137C1-FB34-3AB8-9B07-7152EE7A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25062-E91A-30D8-2D2D-491E6E558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C1F8-96E8-4D73-BB3C-059BCD929934}" type="datetimeFigureOut">
              <a:rPr lang="en-ID" smtClean="0"/>
              <a:t>28/02/2025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7F341-9ECD-72C3-8656-A50B1099A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03AC3-7A7E-8F87-2876-B87DC6C49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10AF5-E440-4CA2-AD29-3ED031F76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212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17412-F266-E9E4-BA35-3F8E379F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8F534-C7B8-2D72-0294-FA1B9E694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0DAF3-1CB2-DCAA-7B51-39920B85C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C1F8-96E8-4D73-BB3C-059BCD929934}" type="datetimeFigureOut">
              <a:rPr lang="en-ID" smtClean="0"/>
              <a:t>28/02/2025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94AA8-81DD-A4BE-A399-B2A0D81CD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707DD-BE21-AC27-C199-09CD2608A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10AF5-E440-4CA2-AD29-3ED031F76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55448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BF0308-AC21-C5D1-47C6-944DCEDBB6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6BEA9-49F8-6DA2-B2D1-1FAC6069C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F1E98-A68F-49B4-57E2-FE8276A91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C1F8-96E8-4D73-BB3C-059BCD929934}" type="datetimeFigureOut">
              <a:rPr lang="en-ID" smtClean="0"/>
              <a:t>28/02/2025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0C012-2079-194E-267F-02680E5E0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824F2-1B24-A27D-A196-024E100BB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10AF5-E440-4CA2-AD29-3ED031F76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42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18383C-8AF2-DB87-1510-B56880FBD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37CAF-C35B-938E-836C-A5D74119E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7F09B-FC15-E8AE-602D-EF8DCF0905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BC1F8-96E8-4D73-BB3C-059BCD929934}" type="datetimeFigureOut">
              <a:rPr lang="en-ID" smtClean="0"/>
              <a:t>28/02/2025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E5392-CCF4-2280-FB17-C14FB9715C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FBFA7-72B0-289A-E8A3-B80C30E9D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10AF5-E440-4CA2-AD29-3ED031F76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6864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2.docx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Document1.docx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Word_Document3.docx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Word_Document4.docx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C0328-063A-50C9-0BBE-A5E6452891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J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BSH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EE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b="1" spc="-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PR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AK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IK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UM  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EKT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IK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 spc="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</a:t>
            </a:r>
            <a:b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</a:br>
            <a:b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</a:b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</a:t>
            </a:r>
            <a:r>
              <a:rPr lang="en-US" sz="1800" b="1" spc="-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RI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 b="1" spc="9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</a:t>
            </a:r>
            <a:r>
              <a:rPr lang="en-US" sz="1800" b="1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b="1" spc="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DI</a:t>
            </a:r>
            <a:r>
              <a:rPr lang="en-US" sz="1800" b="1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5E4A96-CC67-E989-9140-ACD38E4B1F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9973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F7EB6-32D1-8457-4E6A-DC0106FBC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63500">
              <a:lnSpc>
                <a:spcPts val="1400"/>
              </a:lnSpc>
            </a:pPr>
            <a:r>
              <a:rPr lang="en-US" sz="1800" b="1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J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</a:t>
            </a:r>
            <a:r>
              <a:rPr lang="en-US" sz="1800" b="1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 </a:t>
            </a:r>
            <a:r>
              <a:rPr lang="en-US" sz="1800" b="1" spc="9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PR</a:t>
            </a:r>
            <a:r>
              <a:rPr lang="en-US" sz="1800" b="1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KU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32695-5446-B895-6479-406C59427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2100">
              <a:lnSpc>
                <a:spcPts val="1800"/>
              </a:lnSpc>
            </a:pP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1.  </a:t>
            </a:r>
            <a:r>
              <a:rPr lang="en-US" sz="1800" spc="9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en</a:t>
            </a:r>
            <a:r>
              <a:rPr lang="en-US" sz="1800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ga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spc="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 spc="25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beban</a:t>
            </a:r>
            <a:r>
              <a:rPr lang="en-US" sz="1800" spc="2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</a:t>
            </a:r>
            <a:r>
              <a:rPr lang="en-US" sz="1800" spc="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dan</a:t>
            </a:r>
            <a:r>
              <a:rPr lang="en-US" sz="1800" spc="2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enun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j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ukkan</a:t>
            </a:r>
            <a:r>
              <a:rPr lang="en-US" sz="1800" spc="5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penggunaan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y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a.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2.  </a:t>
            </a:r>
            <a:r>
              <a:rPr lang="en-US" sz="1800" spc="9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enen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ukan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iti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 spc="7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j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2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berdasarkan beban R yang diberikan.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3365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D1E72-0D0F-7B99-71E7-0FD9A5DA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b="1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 b="1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b="1" spc="7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b="1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BCC73-F5E1-2C9D-1851-87D45EEDA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468" y="1598477"/>
            <a:ext cx="5798270" cy="1247513"/>
          </a:xfrm>
        </p:spPr>
        <p:txBody>
          <a:bodyPr>
            <a:normAutofit/>
          </a:bodyPr>
          <a:lstStyle/>
          <a:p>
            <a:pPr marL="0" marR="41275" indent="0">
              <a:lnSpc>
                <a:spcPct val="103000"/>
              </a:lnSpc>
              <a:buNone/>
            </a:pP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  </a:t>
            </a:r>
            <a:r>
              <a:rPr lang="en-US" sz="1800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beban</a:t>
            </a:r>
            <a:r>
              <a:rPr lang="en-US" sz="1800" spc="2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sepe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 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y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ang </a:t>
            </a:r>
            <a:r>
              <a:rPr lang="en-US" sz="1800" spc="25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ng  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j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pai  </a:t>
            </a:r>
            <a:r>
              <a:rPr lang="en-US" sz="1800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pada  </a:t>
            </a:r>
            <a:r>
              <a:rPr lang="en-US" sz="1800" spc="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</a:t>
            </a:r>
            <a:r>
              <a:rPr lang="en-US" sz="1800" spc="2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unak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spc="25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un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 </a:t>
            </a:r>
            <a:r>
              <a:rPr lang="en-US" sz="1800" spc="-2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enge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ahui n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ai</a:t>
            </a:r>
            <a:r>
              <a:rPr lang="en-US" sz="1800" spc="17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sebena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y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1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sua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us</a:t>
            </a:r>
            <a:r>
              <a:rPr lang="en-US" sz="1800" spc="2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dan</a:t>
            </a:r>
            <a:r>
              <a:rPr lang="en-US" sz="1800" spc="2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egangan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</a:t>
            </a:r>
            <a:r>
              <a:rPr lang="en-US" sz="1800" spc="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pada </a:t>
            </a:r>
            <a:r>
              <a:rPr lang="en-US" sz="1800" spc="7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sua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angk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an. 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sal</a:t>
            </a:r>
            <a:r>
              <a:rPr lang="en-US" sz="1800" spc="2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ode 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angkai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as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j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</a:t>
            </a:r>
            <a:r>
              <a:rPr lang="en-US" sz="1800" spc="2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sepe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pada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ga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bar be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kut</a:t>
            </a:r>
            <a:r>
              <a:rPr lang="en-US" sz="1800" spc="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:</a:t>
            </a:r>
          </a:p>
          <a:p>
            <a:endParaRPr lang="en-ID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91E64B6-A0B3-704E-F3E4-F5D1AA5092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50391"/>
              </p:ext>
            </p:extLst>
          </p:nvPr>
        </p:nvGraphicFramePr>
        <p:xfrm>
          <a:off x="7667291" y="4001294"/>
          <a:ext cx="1528763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528952" imgH="792037" progId="Word.Document.12">
                  <p:embed/>
                </p:oleObj>
              </mc:Choice>
              <mc:Fallback>
                <p:oleObj name="Document" r:id="rId2" imgW="1528952" imgH="7920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67291" y="4001294"/>
                        <a:ext cx="1528763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175E87E-1880-9524-E6DE-058EBDD645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1730114"/>
              </p:ext>
            </p:extLst>
          </p:nvPr>
        </p:nvGraphicFramePr>
        <p:xfrm>
          <a:off x="7596187" y="4903036"/>
          <a:ext cx="2109787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2110173" imgH="696773" progId="Word.Document.12">
                  <p:embed/>
                </p:oleObj>
              </mc:Choice>
              <mc:Fallback>
                <p:oleObj name="Document" r:id="rId4" imgW="2110173" imgH="6967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96187" y="4903036"/>
                        <a:ext cx="2109787" cy="696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4D3DCC4-74CF-C4BA-9C24-253E0D1404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420170"/>
              </p:ext>
            </p:extLst>
          </p:nvPr>
        </p:nvGraphicFramePr>
        <p:xfrm>
          <a:off x="7667291" y="5834063"/>
          <a:ext cx="16033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1602853" imgH="686299" progId="Word.Document.12">
                  <p:embed/>
                </p:oleObj>
              </mc:Choice>
              <mc:Fallback>
                <p:oleObj name="Document" r:id="rId6" imgW="1602853" imgH="6862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667291" y="5834063"/>
                        <a:ext cx="1603375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BC74987-29CC-B514-7088-4BECAB026B8C}"/>
              </a:ext>
            </a:extLst>
          </p:cNvPr>
          <p:cNvSpPr txBox="1"/>
          <p:nvPr/>
        </p:nvSpPr>
        <p:spPr>
          <a:xfrm>
            <a:off x="932467" y="4001294"/>
            <a:ext cx="71274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0" marR="2331085" algn="just"/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 </a:t>
            </a:r>
            <a:r>
              <a:rPr lang="en-US" sz="1800" spc="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akan </a:t>
            </a:r>
            <a:r>
              <a:rPr lang="en-US" sz="1800" spc="5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dapa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kan</a:t>
            </a:r>
            <a:r>
              <a:rPr lang="en-US" sz="1800" spc="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  beban dengan</a:t>
            </a:r>
            <a:r>
              <a:rPr lang="en-US" sz="1800" spc="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ui </a:t>
            </a:r>
            <a:r>
              <a:rPr lang="en-US" sz="1800" spc="9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ah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sebagai be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ku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:</a:t>
            </a:r>
          </a:p>
          <a:p>
            <a:pPr marL="63500" marR="2331085" algn="just"/>
            <a:endParaRPr lang="en-US" sz="1800">
              <a:effectLst/>
              <a:latin typeface="Dubai" panose="020B0503030403030204" pitchFamily="34" charset="-78"/>
              <a:ea typeface="Dubai" panose="020B0503030403030204" pitchFamily="34" charset="-78"/>
            </a:endParaRPr>
          </a:p>
          <a:p>
            <a:pPr marL="63500" marR="2331085" algn="just"/>
            <a:endParaRPr lang="en-US" sz="1800">
              <a:effectLst/>
              <a:latin typeface="Dubai" panose="020B0503030403030204" pitchFamily="34" charset="-78"/>
              <a:ea typeface="Dubai" panose="020B0503030403030204" pitchFamily="34" charset="-78"/>
            </a:endParaRPr>
          </a:p>
          <a:p>
            <a:pPr marL="406400" marR="2331085" indent="-342900" algn="just">
              <a:buAutoNum type="arabicPeriod"/>
            </a:pP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uk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V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1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=</a:t>
            </a:r>
            <a:r>
              <a:rPr lang="en-US" sz="1800" spc="9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0</a:t>
            </a:r>
            <a:r>
              <a:rPr lang="en-US" sz="1800" spc="5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aka </a:t>
            </a:r>
            <a:r>
              <a:rPr lang="en-US" sz="1800" spc="6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ai Id adalah:</a:t>
            </a:r>
          </a:p>
          <a:p>
            <a:pPr marL="406400" marR="2331085" indent="-342900" algn="just">
              <a:buAutoNum type="arabicPeriod"/>
            </a:pPr>
            <a:endParaRPr lang="en-US" sz="1800">
              <a:effectLst/>
              <a:latin typeface="Dubai" panose="020B0503030403030204" pitchFamily="34" charset="-78"/>
              <a:ea typeface="Dubai" panose="020B0503030403030204" pitchFamily="34" charset="-78"/>
            </a:endParaRPr>
          </a:p>
          <a:p>
            <a:pPr marL="63500" marR="2331085" algn="just"/>
            <a:endParaRPr lang="en-US" sz="1800">
              <a:latin typeface="Dubai" panose="020B0503030403030204" pitchFamily="34" charset="-78"/>
              <a:ea typeface="Times New Roman" panose="02020603050405020304" pitchFamily="18" charset="0"/>
            </a:endParaRPr>
          </a:p>
          <a:p>
            <a:pPr marL="63500" marR="2331085" algn="just"/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2.   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uk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V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1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=</a:t>
            </a:r>
            <a:r>
              <a:rPr lang="en-US" sz="1800" spc="9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VS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= 2V</a:t>
            </a:r>
            <a:r>
              <a:rPr lang="en-US" sz="1800" spc="9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aka </a:t>
            </a:r>
            <a:r>
              <a:rPr lang="en-US" sz="1800" spc="6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ai  Id adalah: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84FE98B-0574-C85F-5BD8-3D5587B835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8674" y="914009"/>
            <a:ext cx="3794760" cy="221742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0EA9C4C-192A-0878-0E49-03F0C9A73969}"/>
              </a:ext>
            </a:extLst>
          </p:cNvPr>
          <p:cNvSpPr txBox="1"/>
          <p:nvPr/>
        </p:nvSpPr>
        <p:spPr>
          <a:xfrm>
            <a:off x="932467" y="2754663"/>
            <a:ext cx="4202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Dengan diketahui: VS=2V dan RS=100 Ohm</a:t>
            </a:r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F5F86E-11ED-ABB2-5A1F-97E0857427EE}"/>
              </a:ext>
            </a:extLst>
          </p:cNvPr>
          <p:cNvSpPr txBox="1"/>
          <p:nvPr/>
        </p:nvSpPr>
        <p:spPr>
          <a:xfrm>
            <a:off x="8597978" y="313142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Gambar 1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9221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6DEE4-0634-DF7E-C742-3DE253EF6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3EDB8-F9D3-596E-DF3E-1C0ABA76E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2708668"/>
          </a:xfrm>
        </p:spPr>
        <p:txBody>
          <a:bodyPr/>
          <a:lstStyle/>
          <a:p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19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kedua</a:t>
            </a:r>
            <a:r>
              <a:rPr lang="en-US" sz="1800" spc="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ai</a:t>
            </a:r>
            <a:r>
              <a:rPr lang="en-US" sz="1800" spc="20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1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sebut</a:t>
            </a:r>
            <a:r>
              <a:rPr lang="en-US" sz="1800" spc="6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dan n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ai</a:t>
            </a:r>
            <a:r>
              <a:rPr lang="en-US" sz="1800" spc="19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V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18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as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ng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-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as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ng</a:t>
            </a:r>
            <a:r>
              <a:rPr lang="en-US" sz="1800" spc="7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ke</a:t>
            </a:r>
            <a:r>
              <a:rPr lang="en-US" sz="1800" spc="2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da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am</a:t>
            </a:r>
            <a:r>
              <a:rPr lang="en-US" sz="1800" spc="10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ku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v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</a:t>
            </a:r>
            <a:r>
              <a:rPr lang="en-US" sz="1800" spc="5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aka dapat 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 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y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ang nan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y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6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akan 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sebut</a:t>
            </a:r>
            <a:r>
              <a:rPr lang="en-US" sz="1800" spc="5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 beban.</a:t>
            </a:r>
            <a:r>
              <a:rPr lang="en-US" sz="1800" spc="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</a:p>
          <a:p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 spc="6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y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ang be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po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ongan</a:t>
            </a:r>
            <a:r>
              <a:rPr lang="en-US" sz="1800" spc="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 beban</a:t>
            </a:r>
            <a:r>
              <a:rPr lang="en-US" sz="1800" spc="1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dan</a:t>
            </a:r>
            <a:r>
              <a:rPr lang="en-US" sz="1800" spc="9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 ku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v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 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sebut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 spc="18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Q</a:t>
            </a:r>
            <a:r>
              <a:rPr lang="en-US" sz="1800" spc="26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y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ang</a:t>
            </a:r>
            <a:r>
              <a:rPr lang="en-US" sz="1800" spc="17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akan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enun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j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ukkan</a:t>
            </a:r>
            <a:r>
              <a:rPr lang="en-US" sz="1800" spc="17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ai sebena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y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 da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 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us</a:t>
            </a:r>
            <a:r>
              <a:rPr lang="en-US" sz="1800" spc="2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</a:t>
            </a:r>
            <a:r>
              <a:rPr lang="en-US" sz="1800" spc="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dan</a:t>
            </a:r>
            <a:r>
              <a:rPr lang="en-US" sz="1800" spc="2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egangan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un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uk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angka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</a:t>
            </a:r>
            <a:r>
              <a:rPr lang="en-US" sz="1800" spc="2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sebu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.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bar</a:t>
            </a:r>
            <a:r>
              <a:rPr lang="en-US" sz="1800" spc="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 spc="25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beban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dan</a:t>
            </a:r>
            <a:r>
              <a:rPr lang="en-US" sz="1800" spc="2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 spc="6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Q</a:t>
            </a:r>
            <a:r>
              <a:rPr lang="en-US" sz="1800" spc="12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sepe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pada</a:t>
            </a:r>
            <a:r>
              <a:rPr lang="en-US" sz="1800" spc="7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bar</a:t>
            </a:r>
            <a:r>
              <a:rPr lang="en-US" sz="1800" spc="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kut: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D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A545B36-298D-1B69-98E2-15FF929F96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52068"/>
              </p:ext>
            </p:extLst>
          </p:nvPr>
        </p:nvGraphicFramePr>
        <p:xfrm>
          <a:off x="6335714" y="1532942"/>
          <a:ext cx="5575708" cy="4113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225160" imgH="4592616" progId="Word.Document.12">
                  <p:embed/>
                </p:oleObj>
              </mc:Choice>
              <mc:Fallback>
                <p:oleObj name="Document" r:id="rId2" imgW="6225160" imgH="459261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35714" y="1532942"/>
                        <a:ext cx="5575708" cy="4113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784B38B-D9E4-8475-9E63-6DC7D9DADBC1}"/>
              </a:ext>
            </a:extLst>
          </p:cNvPr>
          <p:cNvSpPr txBox="1"/>
          <p:nvPr/>
        </p:nvSpPr>
        <p:spPr>
          <a:xfrm>
            <a:off x="8905429" y="482171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Gambar 2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90069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03F04-EBC7-009C-4BFB-54733D1F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 b="1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b="1" spc="8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 spc="80">
                <a:latin typeface="Dubai" panose="020B0503030403030204" pitchFamily="34" charset="-78"/>
                <a:ea typeface="Dubai" panose="020B0503030403030204" pitchFamily="34" charset="-78"/>
              </a:rPr>
              <a:t>DAN BAHAN</a:t>
            </a:r>
            <a:r>
              <a:rPr lang="en-US" sz="1800" b="1" spc="8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Y</a:t>
            </a:r>
            <a:r>
              <a:rPr lang="en-US" sz="1800" b="1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</a:t>
            </a:r>
            <a:r>
              <a:rPr lang="en-US" sz="1800" b="1" spc="5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PER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UN</a:t>
            </a:r>
            <a:r>
              <a:rPr lang="en-US" sz="1800" b="1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 b="1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91AFC-836C-CA9B-CD70-F67C2A0DE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Alat:</a:t>
            </a:r>
          </a:p>
          <a:p>
            <a:pPr marL="0" indent="0">
              <a:buNone/>
            </a:pP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1.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ber</a:t>
            </a:r>
            <a:r>
              <a:rPr lang="en-US" sz="1800" spc="2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tegangan		1x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60"/>
              </a:spcBef>
              <a:buNone/>
            </a:pP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2. 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er       </a:t>
            </a:r>
            <a:r>
              <a:rPr lang="en-US" sz="1800" spc="-5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			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1x</a:t>
            </a:r>
          </a:p>
          <a:p>
            <a:pPr marL="0" indent="0">
              <a:spcBef>
                <a:spcPts val="60"/>
              </a:spcBef>
              <a:buNone/>
            </a:pPr>
            <a:endParaRPr lang="en-US" sz="1800">
              <a:latin typeface="Dubai" panose="020B0503030403030204" pitchFamily="34" charset="-78"/>
              <a:ea typeface="Times New Roman" panose="02020603050405020304" pitchFamily="18" charset="0"/>
            </a:endParaRPr>
          </a:p>
          <a:p>
            <a:pPr marL="0" indent="0">
              <a:spcBef>
                <a:spcPts val="60"/>
              </a:spcBef>
              <a:buNone/>
            </a:pPr>
            <a:r>
              <a:rPr lang="en-US" sz="1800" b="1">
                <a:effectLst/>
                <a:latin typeface="Dubai" panose="020B0503030403030204" pitchFamily="34" charset="-78"/>
                <a:ea typeface="Times New Roman" panose="02020603050405020304" pitchFamily="18" charset="0"/>
              </a:rPr>
              <a:t>Komponen:</a:t>
            </a:r>
            <a:endParaRPr lang="en-ID" sz="1800" b="1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60"/>
              </a:spcBef>
              <a:buNone/>
            </a:pP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3.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es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or 470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Ω			1x</a:t>
            </a:r>
            <a:endParaRPr lang="en-US" sz="1800" spc="40">
              <a:effectLst/>
              <a:latin typeface="Dubai" panose="020B0503030403030204" pitchFamily="34" charset="-78"/>
              <a:ea typeface="Dubai" panose="020B0503030403030204" pitchFamily="34" charset="-78"/>
            </a:endParaRPr>
          </a:p>
          <a:p>
            <a:pPr marL="0" indent="0">
              <a:spcBef>
                <a:spcPts val="60"/>
              </a:spcBef>
              <a:buNone/>
            </a:pPr>
            <a:r>
              <a:rPr lang="en-US" sz="1800" spc="-5">
                <a:latin typeface="Dubai" panose="020B0503030403030204" pitchFamily="34" charset="-78"/>
                <a:ea typeface="Dubai" panose="020B0503030403030204" pitchFamily="34" charset="-78"/>
              </a:rPr>
              <a:t>4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. 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es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or 2 kΩ 			1x (bisa diganti dengan 2,2 kΩ)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60"/>
              </a:spcBef>
              <a:buNone/>
            </a:pPr>
            <a:r>
              <a:rPr lang="en-US" sz="1800" spc="-5">
                <a:latin typeface="Dubai" panose="020B0503030403030204" pitchFamily="34" charset="-78"/>
                <a:ea typeface="Dubai" panose="020B0503030403030204" pitchFamily="34" charset="-78"/>
              </a:rPr>
              <a:t>5.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</a:t>
            </a:r>
            <a:r>
              <a:rPr lang="en-US" sz="1800" spc="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 tipe 1N4001		1x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60"/>
              </a:spcBef>
              <a:buNone/>
            </a:pPr>
            <a:r>
              <a:rPr lang="en-US" sz="1800" spc="-5">
                <a:latin typeface="Dubai" panose="020B0503030403030204" pitchFamily="34" charset="-78"/>
                <a:ea typeface="Dubai" panose="020B0503030403030204" pitchFamily="34" charset="-78"/>
              </a:rPr>
              <a:t>6.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</a:t>
            </a:r>
            <a:r>
              <a:rPr lang="en-US" sz="1800" spc="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 tipe AA119 </a:t>
            </a:r>
            <a:r>
              <a:rPr lang="en-US" sz="1800" spc="16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		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1x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60"/>
              </a:spcBef>
              <a:buNone/>
            </a:pPr>
            <a:r>
              <a:rPr lang="en-US" sz="1800">
                <a:latin typeface="Dubai" panose="020B0503030403030204" pitchFamily="34" charset="-78"/>
                <a:ea typeface="Dubai" panose="020B0503030403030204" pitchFamily="34" charset="-78"/>
              </a:rPr>
              <a:t>7.</a:t>
            </a:r>
            <a:r>
              <a:rPr lang="en-US" sz="1800" spc="1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abel</a:t>
            </a:r>
            <a:r>
              <a:rPr lang="en-US" sz="1800" spc="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–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kabel </a:t>
            </a:r>
            <a:r>
              <a:rPr lang="en-US" sz="1800" spc="6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penghubung   </a:t>
            </a:r>
            <a:r>
              <a:rPr lang="en-US" sz="1800" spc="16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	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ecukupn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y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38582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1EF9-53BD-E91C-BF51-9B177CF32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 b="1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NG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 b="1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H</a:t>
            </a:r>
            <a:r>
              <a:rPr lang="en-US" sz="1800" b="1" spc="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–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 b="1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NG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 b="1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H</a:t>
            </a:r>
            <a:r>
              <a:rPr lang="en-US" sz="1800" b="1" spc="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PERC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</a:t>
            </a:r>
            <a:r>
              <a:rPr lang="en-US" sz="1800" b="1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 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24BE1-FE3B-64D4-7780-4E430876A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enge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esan</a:t>
            </a:r>
            <a:r>
              <a:rPr lang="en-US" sz="1800" spc="5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9B3687-6421-928F-8858-D9064E051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311" y="1984498"/>
            <a:ext cx="5912609" cy="352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305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0A2B8-CFF6-3D72-4D29-9E7E3AC4E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. 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bua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</a:t>
            </a:r>
            <a:r>
              <a:rPr lang="en-US" sz="1800" b="1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ga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 b="1" spc="25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beban</a:t>
            </a:r>
            <a:r>
              <a:rPr lang="en-US" sz="1800" b="1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</a:t>
            </a:r>
            <a:endParaRPr lang="en-ID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FEC7A-46E6-CF8F-6E45-C8E58F1A6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55370"/>
          </a:xfrm>
        </p:spPr>
        <p:txBody>
          <a:bodyPr>
            <a:normAutofit fontScale="92500" lnSpcReduction="10000"/>
          </a:bodyPr>
          <a:lstStyle/>
          <a:p>
            <a:pPr marL="431800" indent="-342900">
              <a:buAutoNum type="arabicPeriod"/>
            </a:pP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ah</a:t>
            </a:r>
            <a:r>
              <a:rPr lang="en-US" sz="1800" spc="-7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gar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 beban</a:t>
            </a:r>
            <a:r>
              <a:rPr lang="en-US" sz="1800" spc="19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dengan</a:t>
            </a:r>
            <a:r>
              <a:rPr lang="en-US" sz="1800" spc="18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egangan</a:t>
            </a:r>
            <a:r>
              <a:rPr lang="en-US" sz="1800" spc="-7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su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ber</a:t>
            </a:r>
            <a:r>
              <a:rPr lang="en-US" sz="1800" spc="18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sebesar</a:t>
            </a:r>
            <a:r>
              <a:rPr lang="en-US" sz="1800" spc="-7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1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.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5</a:t>
            </a:r>
            <a:r>
              <a:rPr lang="en-US" sz="1800" spc="-7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v</a:t>
            </a:r>
            <a:r>
              <a:rPr lang="en-US" sz="1800" spc="26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dan R sebesar 470</a:t>
            </a:r>
            <a:r>
              <a:rPr lang="en-US" sz="1800" spc="9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Ω</a:t>
            </a:r>
            <a:r>
              <a:rPr lang="en-US" sz="1800" spc="9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pada</a:t>
            </a:r>
            <a:r>
              <a:rPr lang="en-US" sz="1800" spc="7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ku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v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25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ak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</a:t>
            </a:r>
            <a:r>
              <a:rPr lang="en-US" sz="1800" spc="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ili</a:t>
            </a:r>
            <a:r>
              <a:rPr lang="en-US" sz="1800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on</a:t>
            </a:r>
            <a:r>
              <a:rPr lang="en-US" sz="1800" spc="25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y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ang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ah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buat</a:t>
            </a:r>
            <a:r>
              <a:rPr lang="en-US" sz="1800" spc="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pada pe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cobaan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1.</a:t>
            </a:r>
          </a:p>
          <a:p>
            <a:pPr marL="431800" indent="-342900">
              <a:buAutoNum type="arabicPeriod"/>
            </a:pP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8900" indent="0">
              <a:lnSpc>
                <a:spcPts val="1400"/>
              </a:lnSpc>
              <a:spcBef>
                <a:spcPts val="60"/>
              </a:spcBef>
              <a:buNone/>
            </a:pP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2.  </a:t>
            </a:r>
            <a:r>
              <a:rPr lang="en-US" sz="1800" spc="9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Lengkap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ah</a:t>
            </a:r>
            <a:r>
              <a:rPr lang="en-US" sz="1800" spc="7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ab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 spc="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ba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w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ah</a:t>
            </a:r>
            <a:r>
              <a:rPr lang="en-US" sz="1800" spc="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!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470579-FF36-938E-169E-C90CEBD799D6}"/>
              </a:ext>
            </a:extLst>
          </p:cNvPr>
          <p:cNvSpPr txBox="1"/>
          <p:nvPr/>
        </p:nvSpPr>
        <p:spPr>
          <a:xfrm>
            <a:off x="1086585" y="4729431"/>
            <a:ext cx="9769641" cy="639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marR="398780">
              <a:lnSpc>
                <a:spcPts val="1900"/>
              </a:lnSpc>
              <a:spcBef>
                <a:spcPts val="400"/>
              </a:spcBef>
            </a:pP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ada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 spc="6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cut</a:t>
            </a:r>
            <a:r>
              <a:rPr lang="en-US" sz="1800" spc="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f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f:</a:t>
            </a:r>
            <a:r>
              <a:rPr lang="en-US" sz="1800" spc="-8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dak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ada </a:t>
            </a:r>
            <a:r>
              <a:rPr lang="en-US" sz="1800" spc="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us</a:t>
            </a:r>
            <a:r>
              <a:rPr lang="en-US" sz="1800" spc="2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</a:t>
            </a:r>
            <a:r>
              <a:rPr lang="en-US" sz="1800" spc="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(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</a:t>
            </a:r>
            <a:r>
              <a:rPr lang="en-US" sz="1800" spc="25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pu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us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)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=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sepe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sak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ar </a:t>
            </a:r>
            <a:r>
              <a:rPr lang="en-US" sz="1800" spc="6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buka. </a:t>
            </a:r>
            <a:endParaRPr lang="en-ID" sz="14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8900" marR="398780">
              <a:lnSpc>
                <a:spcPts val="1900"/>
              </a:lnSpc>
              <a:spcBef>
                <a:spcPts val="400"/>
              </a:spcBef>
            </a:pP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ada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 spc="6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asi:</a:t>
            </a:r>
            <a:r>
              <a:rPr lang="en-US" sz="1800" spc="-8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us</a:t>
            </a:r>
            <a:r>
              <a:rPr lang="en-US" sz="1800" spc="2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</a:t>
            </a:r>
            <a:r>
              <a:rPr lang="en-US" sz="1800" spc="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aks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um</a:t>
            </a:r>
            <a:r>
              <a:rPr lang="en-US" sz="1800" spc="5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=</a:t>
            </a:r>
            <a:r>
              <a:rPr lang="en-US" sz="1800" spc="8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</a:t>
            </a:r>
            <a:r>
              <a:rPr lang="en-US" sz="1800" spc="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sepe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sak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ar </a:t>
            </a:r>
            <a:r>
              <a:rPr lang="en-US" sz="1800" spc="6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up.</a:t>
            </a:r>
            <a:endParaRPr lang="en-ID" sz="14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30BC2F-1F01-50A1-5942-20451288B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614" y="3067954"/>
            <a:ext cx="6584344" cy="12423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36C72A-171E-7623-4913-50AA979F4E12}"/>
              </a:ext>
            </a:extLst>
          </p:cNvPr>
          <p:cNvSpPr txBox="1"/>
          <p:nvPr/>
        </p:nvSpPr>
        <p:spPr>
          <a:xfrm>
            <a:off x="6815579" y="1959070"/>
            <a:ext cx="420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(Gunakan kurva yang ada pada dasar teori)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05652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E8B9-814A-7AB1-B763-85896624D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614" y="118427"/>
            <a:ext cx="10515600" cy="1325563"/>
          </a:xfrm>
        </p:spPr>
        <p:txBody>
          <a:bodyPr/>
          <a:lstStyle/>
          <a:p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B. P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en</a:t>
            </a:r>
            <a:r>
              <a:rPr lang="en-US" sz="1800" b="1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uk</a:t>
            </a:r>
            <a:r>
              <a:rPr lang="en-US" sz="1800" b="1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</a:t>
            </a:r>
            <a:r>
              <a:rPr lang="en-US" sz="1800" b="1" spc="5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us</a:t>
            </a:r>
            <a:r>
              <a:rPr lang="en-US" sz="1800" b="1" spc="2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dan</a:t>
            </a:r>
            <a:r>
              <a:rPr lang="en-US" sz="1800" b="1" spc="2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egangan</a:t>
            </a:r>
            <a:r>
              <a:rPr lang="en-US" sz="1800" b="1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</a:t>
            </a:r>
            <a:r>
              <a:rPr lang="en-US" sz="1800" b="1" spc="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pada </a:t>
            </a:r>
            <a:r>
              <a:rPr lang="en-US" sz="1800" b="1" spc="7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 b="1" spc="6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ope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,</a:t>
            </a:r>
            <a:r>
              <a:rPr lang="en-US" sz="1800" b="1" spc="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cut</a:t>
            </a:r>
            <a:r>
              <a:rPr lang="en-US" sz="1800" b="1" spc="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ff</a:t>
            </a:r>
            <a:r>
              <a:rPr lang="en-US" sz="1800" b="1" spc="5">
                <a:latin typeface="Dubai" panose="020B0503030403030204" pitchFamily="34" charset="-78"/>
                <a:ea typeface="Dubai" panose="020B0503030403030204" pitchFamily="34" charset="-78"/>
              </a:rPr>
              <a:t> d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</a:t>
            </a:r>
            <a:r>
              <a:rPr lang="en-US" sz="1800" b="1" spc="2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sa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</a:t>
            </a:r>
            <a:r>
              <a:rPr lang="en-US" sz="1800" b="1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as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endParaRPr lang="en-ID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D1AB46-447E-464C-BCEB-353A8FC9473D}"/>
              </a:ext>
            </a:extLst>
          </p:cNvPr>
          <p:cNvSpPr txBox="1"/>
          <p:nvPr/>
        </p:nvSpPr>
        <p:spPr>
          <a:xfrm>
            <a:off x="913614" y="966787"/>
            <a:ext cx="1004856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8780" indent="-342900">
              <a:spcBef>
                <a:spcPts val="150"/>
              </a:spcBef>
              <a:buFont typeface="+mj-lt"/>
              <a:buAutoNum type="arabicPeriod"/>
            </a:pPr>
            <a:r>
              <a:rPr lang="en-US" sz="1600" spc="-5">
                <a:effectLst/>
              </a:rPr>
              <a:t>B</a:t>
            </a:r>
            <a:r>
              <a:rPr lang="en-US" sz="1600">
                <a:effectLst/>
              </a:rPr>
              <a:t>ua</a:t>
            </a:r>
            <a:r>
              <a:rPr lang="en-US" sz="1600" spc="5">
                <a:effectLst/>
              </a:rPr>
              <a:t>t</a:t>
            </a:r>
            <a:r>
              <a:rPr lang="en-US" sz="1600" spc="-5">
                <a:effectLst/>
              </a:rPr>
              <a:t>l</a:t>
            </a:r>
            <a:r>
              <a:rPr lang="en-US" sz="1600">
                <a:effectLst/>
              </a:rPr>
              <a:t>ah</a:t>
            </a:r>
            <a:r>
              <a:rPr lang="en-US" sz="1600" spc="35">
                <a:effectLst/>
              </a:rPr>
              <a:t> </a:t>
            </a:r>
            <a:r>
              <a:rPr lang="en-US" sz="1600" spc="5">
                <a:effectLst/>
              </a:rPr>
              <a:t>r</a:t>
            </a:r>
            <a:r>
              <a:rPr lang="en-US" sz="1600">
                <a:effectLst/>
              </a:rPr>
              <a:t>angka</a:t>
            </a:r>
            <a:r>
              <a:rPr lang="en-US" sz="1600" spc="-5">
                <a:effectLst/>
              </a:rPr>
              <a:t>ia</a:t>
            </a:r>
            <a:r>
              <a:rPr lang="en-US" sz="1600">
                <a:effectLst/>
              </a:rPr>
              <a:t>n</a:t>
            </a:r>
            <a:r>
              <a:rPr lang="en-US" sz="1600" spc="20">
                <a:effectLst/>
              </a:rPr>
              <a:t> </a:t>
            </a:r>
            <a:r>
              <a:rPr lang="en-US" sz="1600">
                <a:effectLst/>
              </a:rPr>
              <a:t>sepe</a:t>
            </a:r>
            <a:r>
              <a:rPr lang="en-US" sz="1600" spc="5">
                <a:effectLst/>
              </a:rPr>
              <a:t>r</a:t>
            </a:r>
            <a:r>
              <a:rPr lang="en-US" sz="1600">
                <a:effectLst/>
              </a:rPr>
              <a:t>ti</a:t>
            </a:r>
            <a:r>
              <a:rPr lang="en-US" sz="1600" spc="40">
                <a:effectLst/>
              </a:rPr>
              <a:t> </a:t>
            </a:r>
            <a:r>
              <a:rPr lang="en-US" sz="1600">
                <a:effectLst/>
              </a:rPr>
              <a:t>ga</a:t>
            </a:r>
            <a:r>
              <a:rPr lang="en-US" sz="1600" spc="5">
                <a:effectLst/>
              </a:rPr>
              <a:t>m</a:t>
            </a:r>
            <a:r>
              <a:rPr lang="en-US" sz="1600">
                <a:effectLst/>
              </a:rPr>
              <a:t>bar</a:t>
            </a:r>
            <a:r>
              <a:rPr lang="en-US" sz="1600" spc="15">
                <a:effectLst/>
              </a:rPr>
              <a:t> </a:t>
            </a:r>
            <a:r>
              <a:rPr lang="en-US" sz="1600">
                <a:effectLst/>
              </a:rPr>
              <a:t>1,</a:t>
            </a:r>
            <a:r>
              <a:rPr lang="en-US" sz="1600" spc="40">
                <a:effectLst/>
              </a:rPr>
              <a:t> </a:t>
            </a:r>
            <a:r>
              <a:rPr lang="en-US" sz="1600">
                <a:effectLst/>
              </a:rPr>
              <a:t>dengan</a:t>
            </a:r>
            <a:r>
              <a:rPr lang="en-US" sz="1600" spc="45">
                <a:effectLst/>
              </a:rPr>
              <a:t> </a:t>
            </a:r>
            <a:r>
              <a:rPr lang="en-US" sz="1600">
                <a:effectLst/>
              </a:rPr>
              <a:t>Rs</a:t>
            </a:r>
            <a:r>
              <a:rPr lang="en-US" sz="1600" spc="195"/>
              <a:t>=</a:t>
            </a:r>
            <a:r>
              <a:rPr lang="en-US" sz="1600">
                <a:effectLst/>
              </a:rPr>
              <a:t>470</a:t>
            </a:r>
            <a:r>
              <a:rPr lang="en-US" sz="1600" spc="100">
                <a:effectLst/>
              </a:rPr>
              <a:t> </a:t>
            </a:r>
            <a:r>
              <a:rPr lang="en-US" sz="1600">
                <a:effectLst/>
              </a:rPr>
              <a:t>Ω</a:t>
            </a:r>
            <a:r>
              <a:rPr lang="en-US" sz="1600" spc="80">
                <a:effectLst/>
              </a:rPr>
              <a:t> </a:t>
            </a:r>
            <a:r>
              <a:rPr lang="en-US" sz="1600">
                <a:effectLst/>
              </a:rPr>
              <a:t>dan</a:t>
            </a:r>
            <a:r>
              <a:rPr lang="en-US" sz="1600" spc="240">
                <a:effectLst/>
              </a:rPr>
              <a:t> </a:t>
            </a:r>
            <a:r>
              <a:rPr lang="en-US" sz="1600" spc="-5">
                <a:effectLst/>
              </a:rPr>
              <a:t>V</a:t>
            </a:r>
            <a:r>
              <a:rPr lang="en-US" sz="1600">
                <a:effectLst/>
              </a:rPr>
              <a:t>s</a:t>
            </a:r>
            <a:r>
              <a:rPr lang="en-US" sz="1600" spc="170"/>
              <a:t>=</a:t>
            </a:r>
            <a:r>
              <a:rPr lang="en-US" sz="1600">
                <a:effectLst/>
              </a:rPr>
              <a:t>1</a:t>
            </a:r>
            <a:r>
              <a:rPr lang="en-US" sz="1600" spc="5">
                <a:effectLst/>
              </a:rPr>
              <a:t>.</a:t>
            </a:r>
            <a:r>
              <a:rPr lang="en-US" sz="1600">
                <a:effectLst/>
              </a:rPr>
              <a:t>5</a:t>
            </a:r>
            <a:r>
              <a:rPr lang="en-US" sz="1600" spc="-15"/>
              <a:t>V</a:t>
            </a:r>
            <a:r>
              <a:rPr lang="en-US" sz="1600">
                <a:effectLst/>
              </a:rPr>
              <a:t>.</a:t>
            </a:r>
            <a:endParaRPr lang="en-ID" sz="16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98780" indent="-342900">
              <a:spcBef>
                <a:spcPts val="150"/>
              </a:spcBef>
              <a:buFont typeface="+mj-lt"/>
              <a:buAutoNum type="arabicPeriod"/>
            </a:pPr>
            <a:r>
              <a:rPr lang="en-US" sz="1600" spc="-5">
                <a:effectLst/>
              </a:rPr>
              <a:t>U</a:t>
            </a:r>
            <a:r>
              <a:rPr lang="en-US" sz="1600" spc="10">
                <a:effectLst/>
              </a:rPr>
              <a:t>k</a:t>
            </a:r>
            <a:r>
              <a:rPr lang="en-US" sz="1600">
                <a:effectLst/>
              </a:rPr>
              <a:t>u</a:t>
            </a:r>
            <a:r>
              <a:rPr lang="en-US" sz="1600" spc="-10">
                <a:effectLst/>
              </a:rPr>
              <a:t>r</a:t>
            </a:r>
            <a:r>
              <a:rPr lang="en-US" sz="1600" spc="-5">
                <a:effectLst/>
              </a:rPr>
              <a:t>l</a:t>
            </a:r>
            <a:r>
              <a:rPr lang="en-US" sz="1600">
                <a:effectLst/>
              </a:rPr>
              <a:t>ah </a:t>
            </a:r>
            <a:r>
              <a:rPr lang="en-US" sz="1600" spc="20">
                <a:effectLst/>
              </a:rPr>
              <a:t> </a:t>
            </a:r>
            <a:r>
              <a:rPr lang="en-US" sz="1600" spc="5">
                <a:effectLst/>
              </a:rPr>
              <a:t>I</a:t>
            </a:r>
            <a:r>
              <a:rPr lang="en-US" sz="1600">
                <a:effectLst/>
              </a:rPr>
              <a:t>d,</a:t>
            </a:r>
            <a:r>
              <a:rPr lang="en-US" sz="1600" spc="30">
                <a:effectLst/>
              </a:rPr>
              <a:t> </a:t>
            </a:r>
            <a:r>
              <a:rPr lang="en-US" sz="1600" spc="-5">
                <a:effectLst/>
              </a:rPr>
              <a:t>V</a:t>
            </a:r>
            <a:r>
              <a:rPr lang="en-US" sz="1600">
                <a:effectLst/>
              </a:rPr>
              <a:t>d</a:t>
            </a:r>
            <a:r>
              <a:rPr lang="en-US" sz="1600" spc="145">
                <a:effectLst/>
              </a:rPr>
              <a:t> </a:t>
            </a:r>
            <a:r>
              <a:rPr lang="en-US" sz="1600">
                <a:effectLst/>
              </a:rPr>
              <a:t>dan</a:t>
            </a:r>
            <a:r>
              <a:rPr lang="en-US" sz="1600" spc="240">
                <a:effectLst/>
              </a:rPr>
              <a:t> </a:t>
            </a:r>
            <a:r>
              <a:rPr lang="en-US" sz="1600" spc="-5">
                <a:effectLst/>
              </a:rPr>
              <a:t>V</a:t>
            </a:r>
            <a:r>
              <a:rPr lang="en-US" sz="1600">
                <a:effectLst/>
              </a:rPr>
              <a:t>o</a:t>
            </a:r>
            <a:r>
              <a:rPr lang="en-US" sz="1600" spc="140">
                <a:effectLst/>
              </a:rPr>
              <a:t> </a:t>
            </a:r>
            <a:r>
              <a:rPr lang="en-US" sz="1600" spc="5">
                <a:effectLst/>
              </a:rPr>
              <a:t>(</a:t>
            </a:r>
            <a:r>
              <a:rPr lang="en-US" sz="1600">
                <a:effectLst/>
              </a:rPr>
              <a:t>penguku</a:t>
            </a:r>
            <a:r>
              <a:rPr lang="en-US" sz="1600" spc="-10">
                <a:effectLst/>
              </a:rPr>
              <a:t>r</a:t>
            </a:r>
            <a:r>
              <a:rPr lang="en-US" sz="1600">
                <a:effectLst/>
              </a:rPr>
              <a:t>an</a:t>
            </a:r>
            <a:r>
              <a:rPr lang="en-US" sz="1600" spc="45">
                <a:effectLst/>
              </a:rPr>
              <a:t> </a:t>
            </a:r>
            <a:r>
              <a:rPr lang="en-US" sz="1600">
                <a:effectLst/>
              </a:rPr>
              <a:t>pada </a:t>
            </a:r>
            <a:r>
              <a:rPr lang="en-US" sz="1600" spc="80">
                <a:effectLst/>
              </a:rPr>
              <a:t> </a:t>
            </a:r>
            <a:r>
              <a:rPr lang="en-US" sz="1600" spc="5">
                <a:effectLst/>
              </a:rPr>
              <a:t>t</a:t>
            </a:r>
            <a:r>
              <a:rPr lang="en-US" sz="1600" spc="-5">
                <a:effectLst/>
              </a:rPr>
              <a:t>iti</a:t>
            </a:r>
            <a:r>
              <a:rPr lang="en-US" sz="1600">
                <a:effectLst/>
              </a:rPr>
              <a:t>k</a:t>
            </a:r>
            <a:r>
              <a:rPr lang="en-US" sz="1600" spc="75">
                <a:effectLst/>
              </a:rPr>
              <a:t> </a:t>
            </a:r>
            <a:r>
              <a:rPr lang="en-US" sz="1600">
                <a:effectLst/>
              </a:rPr>
              <a:t>ope</a:t>
            </a:r>
            <a:r>
              <a:rPr lang="en-US" sz="1600" spc="5">
                <a:effectLst/>
              </a:rPr>
              <a:t>r</a:t>
            </a:r>
            <a:r>
              <a:rPr lang="en-US" sz="1600">
                <a:effectLst/>
              </a:rPr>
              <a:t>a</a:t>
            </a:r>
            <a:r>
              <a:rPr lang="en-US" sz="1600" spc="-15">
                <a:effectLst/>
              </a:rPr>
              <a:t>s</a:t>
            </a:r>
            <a:r>
              <a:rPr lang="en-US" sz="1600" spc="-5">
                <a:effectLst/>
              </a:rPr>
              <a:t>i</a:t>
            </a:r>
            <a:r>
              <a:rPr lang="en-US" sz="1600">
                <a:effectLst/>
              </a:rPr>
              <a:t>).</a:t>
            </a:r>
            <a:endParaRPr lang="en-ID" sz="16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98780" indent="-342900">
              <a:spcBef>
                <a:spcPts val="150"/>
              </a:spcBef>
              <a:buFont typeface="+mj-lt"/>
              <a:buAutoNum type="arabicPeriod"/>
            </a:pPr>
            <a:r>
              <a:rPr lang="en-US" sz="1600">
                <a:effectLst/>
              </a:rPr>
              <a:t>Lepas</a:t>
            </a:r>
            <a:r>
              <a:rPr lang="en-US" sz="1600" spc="105">
                <a:effectLst/>
              </a:rPr>
              <a:t> </a:t>
            </a:r>
            <a:r>
              <a:rPr lang="en-US" sz="1600">
                <a:effectLst/>
              </a:rPr>
              <a:t>sa</a:t>
            </a:r>
            <a:r>
              <a:rPr lang="en-US" sz="1600" spc="-5">
                <a:effectLst/>
              </a:rPr>
              <a:t>l</a:t>
            </a:r>
            <a:r>
              <a:rPr lang="en-US" sz="1600">
                <a:effectLst/>
              </a:rPr>
              <a:t>ah</a:t>
            </a:r>
            <a:r>
              <a:rPr lang="en-US" sz="1600" spc="110">
                <a:effectLst/>
              </a:rPr>
              <a:t> </a:t>
            </a:r>
            <a:r>
              <a:rPr lang="en-US" sz="1600">
                <a:effectLst/>
              </a:rPr>
              <a:t>sa</a:t>
            </a:r>
            <a:r>
              <a:rPr lang="en-US" sz="1600" spc="-5">
                <a:effectLst/>
              </a:rPr>
              <a:t>t</a:t>
            </a:r>
            <a:r>
              <a:rPr lang="en-US" sz="1600">
                <a:effectLst/>
              </a:rPr>
              <a:t>u</a:t>
            </a:r>
            <a:r>
              <a:rPr lang="en-US" sz="1600" spc="130">
                <a:effectLst/>
              </a:rPr>
              <a:t> </a:t>
            </a:r>
            <a:r>
              <a:rPr lang="en-US" sz="1600">
                <a:effectLst/>
              </a:rPr>
              <a:t>kaki </a:t>
            </a:r>
            <a:r>
              <a:rPr lang="en-US" sz="1600" spc="35">
                <a:effectLst/>
              </a:rPr>
              <a:t> </a:t>
            </a:r>
            <a:r>
              <a:rPr lang="en-US" sz="1600">
                <a:effectLst/>
              </a:rPr>
              <a:t>d</a:t>
            </a:r>
            <a:r>
              <a:rPr lang="en-US" sz="1600" spc="-5">
                <a:effectLst/>
              </a:rPr>
              <a:t>i</a:t>
            </a:r>
            <a:r>
              <a:rPr lang="en-US" sz="1600">
                <a:effectLst/>
              </a:rPr>
              <a:t>oda </a:t>
            </a:r>
            <a:r>
              <a:rPr lang="en-US" sz="1600" spc="115">
                <a:effectLst/>
              </a:rPr>
              <a:t> </a:t>
            </a:r>
            <a:r>
              <a:rPr lang="en-US" sz="1600">
                <a:effectLst/>
              </a:rPr>
              <a:t>da</a:t>
            </a:r>
            <a:r>
              <a:rPr lang="en-US" sz="1600" spc="5">
                <a:effectLst/>
              </a:rPr>
              <a:t>r</a:t>
            </a:r>
            <a:r>
              <a:rPr lang="en-US" sz="1600">
                <a:effectLst/>
              </a:rPr>
              <a:t>i</a:t>
            </a:r>
            <a:r>
              <a:rPr lang="en-US" sz="1600" spc="235">
                <a:effectLst/>
              </a:rPr>
              <a:t> </a:t>
            </a:r>
            <a:r>
              <a:rPr lang="en-US" sz="1600" spc="5">
                <a:effectLst/>
              </a:rPr>
              <a:t>r</a:t>
            </a:r>
            <a:r>
              <a:rPr lang="en-US" sz="1600">
                <a:effectLst/>
              </a:rPr>
              <a:t>angka</a:t>
            </a:r>
            <a:r>
              <a:rPr lang="en-US" sz="1600" spc="-5">
                <a:effectLst/>
              </a:rPr>
              <a:t>i</a:t>
            </a:r>
            <a:r>
              <a:rPr lang="en-US" sz="1600">
                <a:effectLst/>
              </a:rPr>
              <a:t>an</a:t>
            </a:r>
            <a:r>
              <a:rPr lang="en-US" sz="1600" spc="110">
                <a:effectLst/>
              </a:rPr>
              <a:t> </a:t>
            </a:r>
            <a:r>
              <a:rPr lang="en-US" sz="1600">
                <a:effectLst/>
              </a:rPr>
              <a:t>dan </a:t>
            </a:r>
            <a:r>
              <a:rPr lang="en-US" sz="1600" spc="60">
                <a:effectLst/>
              </a:rPr>
              <a:t> </a:t>
            </a:r>
            <a:r>
              <a:rPr lang="en-US" sz="1600" spc="-5">
                <a:effectLst/>
              </a:rPr>
              <a:t>V</a:t>
            </a:r>
            <a:r>
              <a:rPr lang="en-US" sz="1600">
                <a:effectLst/>
              </a:rPr>
              <a:t>s  </a:t>
            </a:r>
            <a:r>
              <a:rPr lang="en-US" sz="1600" spc="5">
                <a:effectLst/>
              </a:rPr>
              <a:t>t</a:t>
            </a:r>
            <a:r>
              <a:rPr lang="en-US" sz="1600">
                <a:effectLst/>
              </a:rPr>
              <a:t>e</a:t>
            </a:r>
            <a:r>
              <a:rPr lang="en-US" sz="1600" spc="-5">
                <a:effectLst/>
              </a:rPr>
              <a:t>t</a:t>
            </a:r>
            <a:r>
              <a:rPr lang="en-US" sz="1600">
                <a:effectLst/>
              </a:rPr>
              <a:t>ap</a:t>
            </a:r>
            <a:r>
              <a:rPr lang="en-US" sz="1600" spc="130">
                <a:effectLst/>
              </a:rPr>
              <a:t> </a:t>
            </a:r>
            <a:r>
              <a:rPr lang="en-US" sz="1600">
                <a:effectLst/>
              </a:rPr>
              <a:t>sebesar</a:t>
            </a:r>
            <a:r>
              <a:rPr lang="en-US" sz="1600" spc="125">
                <a:effectLst/>
              </a:rPr>
              <a:t> </a:t>
            </a:r>
            <a:r>
              <a:rPr lang="en-US" sz="1600">
                <a:effectLst/>
              </a:rPr>
              <a:t>1</a:t>
            </a:r>
            <a:r>
              <a:rPr lang="en-US" sz="1600" spc="5">
                <a:effectLst/>
              </a:rPr>
              <a:t>.</a:t>
            </a:r>
            <a:r>
              <a:rPr lang="en-US" sz="1600">
                <a:effectLst/>
              </a:rPr>
              <a:t>5</a:t>
            </a:r>
            <a:r>
              <a:rPr lang="en-US" sz="1600" spc="-5">
                <a:effectLst/>
              </a:rPr>
              <a:t>V</a:t>
            </a:r>
            <a:r>
              <a:rPr lang="en-US" sz="1600">
                <a:effectLst/>
              </a:rPr>
              <a:t>,</a:t>
            </a:r>
            <a:r>
              <a:rPr lang="en-US" sz="1600" spc="125">
                <a:effectLst/>
              </a:rPr>
              <a:t> </a:t>
            </a:r>
            <a:r>
              <a:rPr lang="en-US" sz="1600" spc="-5">
                <a:effectLst/>
              </a:rPr>
              <a:t>l</a:t>
            </a:r>
            <a:r>
              <a:rPr lang="en-US" sz="1600">
                <a:effectLst/>
              </a:rPr>
              <a:t>a</a:t>
            </a:r>
            <a:r>
              <a:rPr lang="en-US" sz="1600" spc="-5">
                <a:effectLst/>
              </a:rPr>
              <a:t>l</a:t>
            </a:r>
            <a:r>
              <a:rPr lang="en-US" sz="1600">
                <a:effectLst/>
              </a:rPr>
              <a:t>u </a:t>
            </a:r>
            <a:r>
              <a:rPr lang="en-US" sz="1600" spc="20">
                <a:effectLst/>
              </a:rPr>
              <a:t> </a:t>
            </a:r>
            <a:r>
              <a:rPr lang="en-US" sz="1600">
                <a:effectLst/>
              </a:rPr>
              <a:t>uku</a:t>
            </a:r>
            <a:r>
              <a:rPr lang="en-US" sz="1600" spc="5">
                <a:effectLst/>
              </a:rPr>
              <a:t>r</a:t>
            </a:r>
            <a:r>
              <a:rPr lang="en-US" sz="1600" spc="-5">
                <a:effectLst/>
              </a:rPr>
              <a:t>l</a:t>
            </a:r>
            <a:r>
              <a:rPr lang="en-US" sz="1600">
                <a:effectLst/>
              </a:rPr>
              <a:t>ah </a:t>
            </a:r>
            <a:r>
              <a:rPr lang="en-US" sz="1600" spc="5">
                <a:effectLst/>
              </a:rPr>
              <a:t>I</a:t>
            </a:r>
            <a:r>
              <a:rPr lang="en-US" sz="1600">
                <a:effectLst/>
              </a:rPr>
              <a:t>d,</a:t>
            </a:r>
            <a:r>
              <a:rPr lang="en-US" sz="1600" spc="30">
                <a:effectLst/>
              </a:rPr>
              <a:t> </a:t>
            </a:r>
            <a:r>
              <a:rPr lang="en-US" sz="1600" spc="-5">
                <a:effectLst/>
              </a:rPr>
              <a:t>V</a:t>
            </a:r>
            <a:r>
              <a:rPr lang="en-US" sz="1600">
                <a:effectLst/>
              </a:rPr>
              <a:t>d</a:t>
            </a:r>
            <a:r>
              <a:rPr lang="en-US" sz="1600" spc="145">
                <a:effectLst/>
              </a:rPr>
              <a:t> </a:t>
            </a:r>
            <a:r>
              <a:rPr lang="en-US" sz="1600">
                <a:effectLst/>
              </a:rPr>
              <a:t>dan</a:t>
            </a:r>
            <a:r>
              <a:rPr lang="en-US" sz="1600" spc="230">
                <a:effectLst/>
              </a:rPr>
              <a:t> </a:t>
            </a:r>
            <a:r>
              <a:rPr lang="en-US" sz="1600" spc="-5">
                <a:effectLst/>
              </a:rPr>
              <a:t>V</a:t>
            </a:r>
            <a:r>
              <a:rPr lang="en-US" sz="1600">
                <a:effectLst/>
              </a:rPr>
              <a:t>o </a:t>
            </a:r>
            <a:r>
              <a:rPr lang="en-US" sz="1600" spc="5">
                <a:effectLst/>
              </a:rPr>
              <a:t>(</a:t>
            </a:r>
            <a:r>
              <a:rPr lang="en-US" sz="1600">
                <a:effectLst/>
              </a:rPr>
              <a:t>pengku</a:t>
            </a:r>
            <a:r>
              <a:rPr lang="en-US" sz="1600" spc="-10">
                <a:effectLst/>
              </a:rPr>
              <a:t>r</a:t>
            </a:r>
            <a:r>
              <a:rPr lang="en-US" sz="1600">
                <a:effectLst/>
              </a:rPr>
              <a:t>uan</a:t>
            </a:r>
            <a:r>
              <a:rPr lang="en-US" sz="1600" spc="50">
                <a:effectLst/>
              </a:rPr>
              <a:t> </a:t>
            </a:r>
            <a:r>
              <a:rPr lang="en-US" sz="1600">
                <a:effectLst/>
              </a:rPr>
              <a:t>pada </a:t>
            </a:r>
            <a:r>
              <a:rPr lang="en-US" sz="1600" spc="80">
                <a:effectLst/>
              </a:rPr>
              <a:t> </a:t>
            </a:r>
            <a:r>
              <a:rPr lang="en-US" sz="1600" spc="5">
                <a:effectLst/>
              </a:rPr>
              <a:t>t</a:t>
            </a:r>
            <a:r>
              <a:rPr lang="en-US" sz="1600" spc="-5">
                <a:effectLst/>
              </a:rPr>
              <a:t>i</a:t>
            </a:r>
            <a:r>
              <a:rPr lang="en-US" sz="1600" spc="5">
                <a:effectLst/>
              </a:rPr>
              <a:t>t</a:t>
            </a:r>
            <a:r>
              <a:rPr lang="en-US" sz="1600" spc="-5">
                <a:effectLst/>
              </a:rPr>
              <a:t>i</a:t>
            </a:r>
            <a:r>
              <a:rPr lang="en-US" sz="1600">
                <a:effectLst/>
              </a:rPr>
              <a:t>k</a:t>
            </a:r>
            <a:r>
              <a:rPr lang="en-US" sz="1600" spc="60">
                <a:effectLst/>
              </a:rPr>
              <a:t> </a:t>
            </a:r>
            <a:r>
              <a:rPr lang="en-US" sz="1600">
                <a:effectLst/>
              </a:rPr>
              <a:t>cut</a:t>
            </a:r>
            <a:r>
              <a:rPr lang="en-US" sz="1600" spc="30">
                <a:effectLst/>
              </a:rPr>
              <a:t> </a:t>
            </a:r>
            <a:r>
              <a:rPr lang="en-US" sz="1600">
                <a:effectLst/>
              </a:rPr>
              <a:t>o</a:t>
            </a:r>
            <a:r>
              <a:rPr lang="en-US" sz="1600" spc="5">
                <a:effectLst/>
              </a:rPr>
              <a:t>ff</a:t>
            </a:r>
            <a:r>
              <a:rPr lang="en-US" sz="1600">
                <a:effectLst/>
              </a:rPr>
              <a:t>).</a:t>
            </a:r>
            <a:endParaRPr lang="en-ID" sz="16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98780" indent="-342900">
              <a:spcBef>
                <a:spcPts val="150"/>
              </a:spcBef>
              <a:buFont typeface="+mj-lt"/>
              <a:buAutoNum type="arabicPeriod"/>
            </a:pPr>
            <a:r>
              <a:rPr lang="en-US" sz="1600" spc="-5">
                <a:effectLst/>
              </a:rPr>
              <a:t>H</a:t>
            </a:r>
            <a:r>
              <a:rPr lang="en-US" sz="1600">
                <a:effectLst/>
              </a:rPr>
              <a:t>ubung s</a:t>
            </a:r>
            <a:r>
              <a:rPr lang="en-US" sz="1600" spc="-5">
                <a:effectLst/>
              </a:rPr>
              <a:t>i</a:t>
            </a:r>
            <a:r>
              <a:rPr lang="en-US" sz="1600">
                <a:effectLst/>
              </a:rPr>
              <a:t>n</a:t>
            </a:r>
            <a:r>
              <a:rPr lang="en-US" sz="1600" spc="10">
                <a:effectLst/>
              </a:rPr>
              <a:t>g</a:t>
            </a:r>
            <a:r>
              <a:rPr lang="en-US" sz="1600">
                <a:effectLst/>
              </a:rPr>
              <a:t>k</a:t>
            </a:r>
            <a:r>
              <a:rPr lang="en-US" sz="1600" spc="-15">
                <a:effectLst/>
              </a:rPr>
              <a:t>a</a:t>
            </a:r>
            <a:r>
              <a:rPr lang="en-US" sz="1600">
                <a:effectLst/>
              </a:rPr>
              <a:t>t d</a:t>
            </a:r>
            <a:r>
              <a:rPr lang="en-US" sz="1600" spc="-5">
                <a:effectLst/>
              </a:rPr>
              <a:t>i</a:t>
            </a:r>
            <a:r>
              <a:rPr lang="en-US" sz="1600">
                <a:effectLst/>
              </a:rPr>
              <a:t>oda dan </a:t>
            </a:r>
            <a:r>
              <a:rPr lang="en-US" sz="1600" spc="-5">
                <a:effectLst/>
              </a:rPr>
              <a:t>V</a:t>
            </a:r>
            <a:r>
              <a:rPr lang="en-US" sz="1600">
                <a:effectLst/>
              </a:rPr>
              <a:t>s </a:t>
            </a:r>
            <a:r>
              <a:rPr lang="en-US" sz="1600" spc="5">
                <a:effectLst/>
              </a:rPr>
              <a:t>t</a:t>
            </a:r>
            <a:r>
              <a:rPr lang="en-US" sz="1600">
                <a:effectLst/>
              </a:rPr>
              <a:t>e</a:t>
            </a:r>
            <a:r>
              <a:rPr lang="en-US" sz="1600" spc="-5">
                <a:effectLst/>
              </a:rPr>
              <a:t>t</a:t>
            </a:r>
            <a:r>
              <a:rPr lang="en-US" sz="1600">
                <a:effectLst/>
              </a:rPr>
              <a:t>ap</a:t>
            </a:r>
            <a:r>
              <a:rPr lang="en-US" sz="1600" spc="-40">
                <a:effectLst/>
              </a:rPr>
              <a:t> </a:t>
            </a:r>
            <a:r>
              <a:rPr lang="en-US" sz="1600">
                <a:effectLst/>
              </a:rPr>
              <a:t>sebesar</a:t>
            </a:r>
            <a:r>
              <a:rPr lang="en-US" sz="1600" spc="-55">
                <a:effectLst/>
              </a:rPr>
              <a:t> </a:t>
            </a:r>
            <a:r>
              <a:rPr lang="en-US" sz="1600">
                <a:effectLst/>
              </a:rPr>
              <a:t>1</a:t>
            </a:r>
            <a:r>
              <a:rPr lang="en-US" sz="1600" spc="5">
                <a:effectLst/>
              </a:rPr>
              <a:t>.</a:t>
            </a:r>
            <a:r>
              <a:rPr lang="en-US" sz="1600">
                <a:effectLst/>
              </a:rPr>
              <a:t>5</a:t>
            </a:r>
            <a:r>
              <a:rPr lang="en-US" sz="1600" spc="-15">
                <a:effectLst/>
              </a:rPr>
              <a:t>v</a:t>
            </a:r>
            <a:r>
              <a:rPr lang="en-US" sz="1600">
                <a:effectLst/>
              </a:rPr>
              <a:t>.</a:t>
            </a:r>
            <a:r>
              <a:rPr lang="en-US" sz="1600" spc="-40">
                <a:effectLst/>
              </a:rPr>
              <a:t> </a:t>
            </a:r>
            <a:r>
              <a:rPr lang="en-US" sz="1600" spc="-5"/>
              <a:t>L</a:t>
            </a:r>
            <a:r>
              <a:rPr lang="en-US" sz="1600">
                <a:effectLst/>
              </a:rPr>
              <a:t>a</a:t>
            </a:r>
            <a:r>
              <a:rPr lang="en-US" sz="1600" spc="-5">
                <a:effectLst/>
              </a:rPr>
              <a:t>l</a:t>
            </a:r>
            <a:r>
              <a:rPr lang="en-US" sz="1600">
                <a:effectLst/>
              </a:rPr>
              <a:t>u ukur </a:t>
            </a:r>
            <a:r>
              <a:rPr lang="en-US" sz="1600" spc="5">
                <a:effectLst/>
              </a:rPr>
              <a:t>I</a:t>
            </a:r>
            <a:r>
              <a:rPr lang="en-US" sz="1600">
                <a:effectLst/>
              </a:rPr>
              <a:t>d, </a:t>
            </a:r>
            <a:r>
              <a:rPr lang="en-US" sz="1600" spc="-5">
                <a:effectLst/>
              </a:rPr>
              <a:t>V</a:t>
            </a:r>
            <a:r>
              <a:rPr lang="en-US" sz="1600">
                <a:effectLst/>
              </a:rPr>
              <a:t>d, dan</a:t>
            </a:r>
            <a:r>
              <a:rPr lang="en-US" sz="1600" spc="145">
                <a:effectLst/>
              </a:rPr>
              <a:t> </a:t>
            </a:r>
            <a:r>
              <a:rPr lang="en-US" sz="1600" spc="-5">
                <a:effectLst/>
              </a:rPr>
              <a:t>V</a:t>
            </a:r>
            <a:r>
              <a:rPr lang="en-US" sz="1600">
                <a:effectLst/>
              </a:rPr>
              <a:t>o (penguku</a:t>
            </a:r>
            <a:r>
              <a:rPr lang="en-US" sz="1600" spc="-10">
                <a:effectLst/>
              </a:rPr>
              <a:t>r</a:t>
            </a:r>
            <a:r>
              <a:rPr lang="en-US" sz="1600">
                <a:effectLst/>
              </a:rPr>
              <a:t>an</a:t>
            </a:r>
            <a:r>
              <a:rPr lang="en-US" sz="1600" spc="45">
                <a:effectLst/>
              </a:rPr>
              <a:t> </a:t>
            </a:r>
            <a:r>
              <a:rPr lang="en-US" sz="1600">
                <a:effectLst/>
              </a:rPr>
              <a:t>pada </a:t>
            </a:r>
            <a:r>
              <a:rPr lang="en-US" sz="1600" spc="80">
                <a:effectLst/>
              </a:rPr>
              <a:t> </a:t>
            </a:r>
            <a:r>
              <a:rPr lang="en-US" sz="1600" spc="5">
                <a:effectLst/>
              </a:rPr>
              <a:t>t</a:t>
            </a:r>
            <a:r>
              <a:rPr lang="en-US" sz="1600" spc="-5">
                <a:effectLst/>
              </a:rPr>
              <a:t>iti</a:t>
            </a:r>
            <a:r>
              <a:rPr lang="en-US" sz="1600">
                <a:effectLst/>
              </a:rPr>
              <a:t>k</a:t>
            </a:r>
            <a:r>
              <a:rPr lang="en-US" sz="1600" spc="60">
                <a:effectLst/>
              </a:rPr>
              <a:t> </a:t>
            </a:r>
            <a:r>
              <a:rPr lang="en-US" sz="1600">
                <a:effectLst/>
              </a:rPr>
              <a:t>sa</a:t>
            </a:r>
            <a:r>
              <a:rPr lang="en-US" sz="1600" spc="5">
                <a:effectLst/>
              </a:rPr>
              <a:t>t</a:t>
            </a:r>
            <a:r>
              <a:rPr lang="en-US" sz="1600">
                <a:effectLst/>
              </a:rPr>
              <a:t>u</a:t>
            </a:r>
            <a:r>
              <a:rPr lang="en-US" sz="1600" spc="-10">
                <a:effectLst/>
              </a:rPr>
              <a:t>r</a:t>
            </a:r>
            <a:r>
              <a:rPr lang="en-US" sz="1600">
                <a:effectLst/>
              </a:rPr>
              <a:t>as</a:t>
            </a:r>
            <a:r>
              <a:rPr lang="en-US" sz="1600" spc="-5">
                <a:effectLst/>
              </a:rPr>
              <a:t>i</a:t>
            </a:r>
            <a:r>
              <a:rPr lang="en-US" sz="1600">
                <a:effectLst/>
              </a:rPr>
              <a:t>).</a:t>
            </a:r>
          </a:p>
          <a:p>
            <a:pPr marL="398780" indent="-342900">
              <a:spcBef>
                <a:spcPts val="150"/>
              </a:spcBef>
              <a:buFont typeface="+mj-lt"/>
              <a:buAutoNum type="arabicPeriod"/>
            </a:pPr>
            <a:r>
              <a:rPr lang="en-US" sz="1600" spc="-5">
                <a:effectLst/>
              </a:rPr>
              <a:t>Ul</a:t>
            </a:r>
            <a:r>
              <a:rPr lang="en-US" sz="1600">
                <a:effectLst/>
              </a:rPr>
              <a:t>an</a:t>
            </a:r>
            <a:r>
              <a:rPr lang="en-US" sz="1600" spc="10">
                <a:effectLst/>
              </a:rPr>
              <a:t>g</a:t>
            </a:r>
            <a:r>
              <a:rPr lang="en-US" sz="1600">
                <a:effectLst/>
              </a:rPr>
              <a:t>i </a:t>
            </a:r>
            <a:r>
              <a:rPr lang="en-US" sz="1600" spc="185">
                <a:effectLst/>
              </a:rPr>
              <a:t> </a:t>
            </a:r>
            <a:r>
              <a:rPr lang="en-US" sz="1600" spc="-5">
                <a:effectLst/>
              </a:rPr>
              <a:t>l</a:t>
            </a:r>
            <a:r>
              <a:rPr lang="en-US" sz="1600">
                <a:effectLst/>
              </a:rPr>
              <a:t>an</a:t>
            </a:r>
            <a:r>
              <a:rPr lang="en-US" sz="1600" spc="10">
                <a:effectLst/>
              </a:rPr>
              <a:t>g</a:t>
            </a:r>
            <a:r>
              <a:rPr lang="en-US" sz="1600">
                <a:effectLst/>
              </a:rPr>
              <a:t>kah</a:t>
            </a:r>
            <a:r>
              <a:rPr lang="en-US" sz="1600" spc="180">
                <a:effectLst/>
              </a:rPr>
              <a:t> </a:t>
            </a:r>
            <a:r>
              <a:rPr lang="en-US" sz="1600">
                <a:effectLst/>
              </a:rPr>
              <a:t>1</a:t>
            </a:r>
            <a:r>
              <a:rPr lang="en-US" sz="1600" spc="220">
                <a:effectLst/>
              </a:rPr>
              <a:t> </a:t>
            </a:r>
            <a:r>
              <a:rPr lang="en-US" sz="1600">
                <a:effectLst/>
              </a:rPr>
              <a:t>sa</a:t>
            </a:r>
            <a:r>
              <a:rPr lang="en-US" sz="1600" spc="5">
                <a:effectLst/>
              </a:rPr>
              <a:t>m</a:t>
            </a:r>
            <a:r>
              <a:rPr lang="en-US" sz="1600">
                <a:effectLst/>
              </a:rPr>
              <a:t>pai</a:t>
            </a:r>
            <a:r>
              <a:rPr lang="en-US" sz="1600" spc="220">
                <a:effectLst/>
              </a:rPr>
              <a:t> </a:t>
            </a:r>
            <a:r>
              <a:rPr lang="en-US" sz="1600">
                <a:effectLst/>
              </a:rPr>
              <a:t>dengan</a:t>
            </a:r>
            <a:r>
              <a:rPr lang="en-US" sz="1600" spc="195">
                <a:effectLst/>
              </a:rPr>
              <a:t> </a:t>
            </a:r>
            <a:r>
              <a:rPr lang="en-US" sz="1600" spc="195"/>
              <a:t>4</a:t>
            </a:r>
            <a:r>
              <a:rPr lang="en-US" sz="1600" spc="220">
                <a:effectLst/>
              </a:rPr>
              <a:t> </a:t>
            </a:r>
            <a:r>
              <a:rPr lang="en-US" sz="1600">
                <a:effectLst/>
              </a:rPr>
              <a:t>dengan</a:t>
            </a:r>
            <a:r>
              <a:rPr lang="en-US" sz="1600" spc="185">
                <a:effectLst/>
              </a:rPr>
              <a:t> </a:t>
            </a:r>
            <a:r>
              <a:rPr lang="en-US" sz="1600">
                <a:effectLst/>
              </a:rPr>
              <a:t>d</a:t>
            </a:r>
            <a:r>
              <a:rPr lang="en-US" sz="1600" spc="-5">
                <a:effectLst/>
              </a:rPr>
              <a:t>i</a:t>
            </a:r>
            <a:r>
              <a:rPr lang="en-US" sz="1600">
                <a:effectLst/>
              </a:rPr>
              <a:t>oda </a:t>
            </a:r>
            <a:r>
              <a:rPr lang="en-US" sz="1600" spc="200">
                <a:effectLst/>
              </a:rPr>
              <a:t> </a:t>
            </a:r>
            <a:r>
              <a:rPr lang="en-US" sz="1600" spc="-15">
                <a:effectLst/>
              </a:rPr>
              <a:t>y</a:t>
            </a:r>
            <a:r>
              <a:rPr lang="en-US" sz="1600">
                <a:effectLst/>
              </a:rPr>
              <a:t>ang </a:t>
            </a:r>
            <a:r>
              <a:rPr lang="en-US" sz="1600" spc="230">
                <a:effectLst/>
              </a:rPr>
              <a:t> </a:t>
            </a:r>
            <a:r>
              <a:rPr lang="en-US" sz="1600">
                <a:effectLst/>
              </a:rPr>
              <a:t>sa</a:t>
            </a:r>
            <a:r>
              <a:rPr lang="en-US" sz="1600" spc="-10">
                <a:effectLst/>
              </a:rPr>
              <a:t>m</a:t>
            </a:r>
            <a:r>
              <a:rPr lang="en-US" sz="1600">
                <a:effectLst/>
              </a:rPr>
              <a:t>a</a:t>
            </a:r>
            <a:r>
              <a:rPr lang="en-US" sz="1600" spc="165">
                <a:effectLst/>
              </a:rPr>
              <a:t> </a:t>
            </a:r>
            <a:r>
              <a:rPr lang="en-US" sz="1600" spc="5">
                <a:effectLst/>
              </a:rPr>
              <a:t>t</a:t>
            </a:r>
            <a:r>
              <a:rPr lang="en-US" sz="1600">
                <a:effectLst/>
              </a:rPr>
              <a:t>api </a:t>
            </a:r>
            <a:r>
              <a:rPr lang="en-US" sz="1600" spc="-65">
                <a:effectLst/>
              </a:rPr>
              <a:t> </a:t>
            </a:r>
            <a:r>
              <a:rPr lang="en-US" sz="1600">
                <a:effectLst/>
              </a:rPr>
              <a:t>be</a:t>
            </a:r>
            <a:r>
              <a:rPr lang="en-US" sz="1600" spc="5">
                <a:effectLst/>
              </a:rPr>
              <a:t>r</a:t>
            </a:r>
            <a:r>
              <a:rPr lang="en-US" sz="1600">
                <a:effectLst/>
              </a:rPr>
              <a:t>beda </a:t>
            </a:r>
            <a:r>
              <a:rPr lang="en-US" sz="1600" spc="-60">
                <a:effectLst/>
              </a:rPr>
              <a:t> </a:t>
            </a:r>
            <a:r>
              <a:rPr lang="en-US" sz="1600">
                <a:effectLst/>
              </a:rPr>
              <a:t>n</a:t>
            </a:r>
            <a:r>
              <a:rPr lang="en-US" sz="1600" spc="-5">
                <a:effectLst/>
              </a:rPr>
              <a:t>il</a:t>
            </a:r>
            <a:r>
              <a:rPr lang="en-US" sz="1600">
                <a:effectLst/>
              </a:rPr>
              <a:t>ai </a:t>
            </a:r>
            <a:r>
              <a:rPr lang="en-US" sz="1600" spc="-5">
                <a:effectLst/>
              </a:rPr>
              <a:t>V</a:t>
            </a:r>
            <a:r>
              <a:rPr lang="en-US" sz="1600">
                <a:effectLst/>
              </a:rPr>
              <a:t>sn</a:t>
            </a:r>
            <a:r>
              <a:rPr lang="en-US" sz="1600" spc="-15">
                <a:effectLst/>
              </a:rPr>
              <a:t>y</a:t>
            </a:r>
            <a:r>
              <a:rPr lang="en-US" sz="1600">
                <a:effectLst/>
              </a:rPr>
              <a:t>a</a:t>
            </a:r>
            <a:r>
              <a:rPr lang="en-US" sz="1600" spc="25">
                <a:effectLst/>
              </a:rPr>
              <a:t> </a:t>
            </a:r>
            <a:r>
              <a:rPr lang="en-US" sz="1600" spc="-15">
                <a:effectLst/>
              </a:rPr>
              <a:t>y</a:t>
            </a:r>
            <a:r>
              <a:rPr lang="en-US" sz="1600">
                <a:effectLst/>
              </a:rPr>
              <a:t>a</a:t>
            </a:r>
            <a:r>
              <a:rPr lang="en-US" sz="1600" spc="5">
                <a:effectLst/>
              </a:rPr>
              <a:t>it</a:t>
            </a:r>
            <a:r>
              <a:rPr lang="en-US" sz="1600">
                <a:effectLst/>
              </a:rPr>
              <a:t>u</a:t>
            </a:r>
            <a:r>
              <a:rPr lang="en-US" sz="1600" spc="35">
                <a:effectLst/>
              </a:rPr>
              <a:t> </a:t>
            </a:r>
            <a:r>
              <a:rPr lang="en-US" sz="1600">
                <a:effectLst/>
              </a:rPr>
              <a:t>sebesar</a:t>
            </a:r>
            <a:r>
              <a:rPr lang="en-US" sz="1600" spc="40">
                <a:effectLst/>
              </a:rPr>
              <a:t> </a:t>
            </a:r>
            <a:r>
              <a:rPr lang="en-US" sz="1600">
                <a:effectLst/>
              </a:rPr>
              <a:t>3V</a:t>
            </a:r>
            <a:r>
              <a:rPr lang="en-US" sz="1600" spc="95">
                <a:effectLst/>
              </a:rPr>
              <a:t> </a:t>
            </a:r>
            <a:r>
              <a:rPr lang="en-US" sz="1600">
                <a:effectLst/>
              </a:rPr>
              <a:t>dengan</a:t>
            </a:r>
            <a:r>
              <a:rPr lang="en-US" sz="1600" spc="20">
                <a:effectLst/>
              </a:rPr>
              <a:t> </a:t>
            </a:r>
            <a:r>
              <a:rPr lang="en-US" sz="1600">
                <a:effectLst/>
              </a:rPr>
              <a:t>Rs</a:t>
            </a:r>
            <a:r>
              <a:rPr lang="en-US" sz="1600" spc="195"/>
              <a:t>=</a:t>
            </a:r>
            <a:r>
              <a:rPr lang="en-US" sz="1600">
                <a:effectLst/>
              </a:rPr>
              <a:t>2kΩ.</a:t>
            </a:r>
            <a:endParaRPr lang="en-ID" sz="16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98780" indent="-342900">
              <a:spcBef>
                <a:spcPts val="150"/>
              </a:spcBef>
              <a:buFont typeface="+mj-lt"/>
              <a:buAutoNum type="arabicPeriod"/>
            </a:pPr>
            <a:r>
              <a:rPr lang="en-US" sz="1600">
                <a:effectLst/>
              </a:rPr>
              <a:t>Lengkapi</a:t>
            </a:r>
            <a:r>
              <a:rPr lang="en-US" sz="1600" spc="5">
                <a:effectLst/>
              </a:rPr>
              <a:t> t</a:t>
            </a:r>
            <a:r>
              <a:rPr lang="en-US" sz="1600">
                <a:effectLst/>
              </a:rPr>
              <a:t>abel</a:t>
            </a:r>
            <a:r>
              <a:rPr lang="en-US" sz="1600" spc="45">
                <a:effectLst/>
              </a:rPr>
              <a:t> </a:t>
            </a:r>
            <a:r>
              <a:rPr lang="en-US" sz="1600">
                <a:effectLst/>
              </a:rPr>
              <a:t>d</a:t>
            </a:r>
            <a:r>
              <a:rPr lang="en-US" sz="1600" spc="-5">
                <a:effectLst/>
              </a:rPr>
              <a:t>i</a:t>
            </a:r>
            <a:r>
              <a:rPr lang="en-US" sz="1600">
                <a:effectLst/>
              </a:rPr>
              <a:t>ba</a:t>
            </a:r>
            <a:r>
              <a:rPr lang="en-US" sz="1600" spc="-5">
                <a:effectLst/>
              </a:rPr>
              <a:t>w</a:t>
            </a:r>
            <a:r>
              <a:rPr lang="en-US" sz="1600">
                <a:effectLst/>
              </a:rPr>
              <a:t>ah</a:t>
            </a:r>
            <a:r>
              <a:rPr lang="en-US" sz="1600" spc="35">
                <a:effectLst/>
              </a:rPr>
              <a:t> </a:t>
            </a:r>
            <a:r>
              <a:rPr lang="en-US" sz="1600" spc="-5">
                <a:effectLst/>
              </a:rPr>
              <a:t>i</a:t>
            </a:r>
            <a:r>
              <a:rPr lang="en-US" sz="1600">
                <a:effectLst/>
              </a:rPr>
              <a:t>n</a:t>
            </a:r>
            <a:r>
              <a:rPr lang="en-US" sz="1600" spc="-5">
                <a:effectLst/>
              </a:rPr>
              <a:t>i</a:t>
            </a:r>
            <a:r>
              <a:rPr lang="en-US" sz="1600">
                <a:effectLst/>
              </a:rPr>
              <a:t>.</a:t>
            </a:r>
          </a:p>
          <a:p>
            <a:pPr marL="398780" indent="-342900">
              <a:spcBef>
                <a:spcPts val="150"/>
              </a:spcBef>
              <a:buFont typeface="+mj-lt"/>
              <a:buAutoNum type="arabicPeriod"/>
            </a:pP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</a:t>
            </a:r>
            <a:r>
              <a:rPr lang="en-US" sz="16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</a:t>
            </a:r>
            <a:r>
              <a:rPr lang="en-US" sz="1600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 </a:t>
            </a:r>
            <a:r>
              <a:rPr lang="en-US" sz="1600" spc="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6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</a:t>
            </a:r>
            <a:r>
              <a:rPr lang="en-US" sz="1600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kah</a:t>
            </a:r>
            <a:r>
              <a:rPr lang="en-US" sz="1600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1</a:t>
            </a:r>
            <a:r>
              <a:rPr lang="en-US" sz="1600" spc="5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sa</a:t>
            </a:r>
            <a:r>
              <a:rPr lang="en-US" sz="16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pai</a:t>
            </a:r>
            <a:r>
              <a:rPr lang="en-US" sz="1600" spc="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600" spc="15">
                <a:latin typeface="Dubai" panose="020B0503030403030204" pitchFamily="34" charset="-78"/>
                <a:ea typeface="Dubai" panose="020B0503030403030204" pitchFamily="34" charset="-78"/>
              </a:rPr>
              <a:t>6</a:t>
            </a:r>
            <a:r>
              <a:rPr lang="en-US" sz="1600" spc="5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dengan</a:t>
            </a:r>
            <a:r>
              <a:rPr lang="en-US" sz="1600" spc="6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6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</a:t>
            </a:r>
            <a:r>
              <a:rPr lang="en-US" sz="16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ggunakan</a:t>
            </a:r>
            <a:r>
              <a:rPr lang="en-US" sz="1600" spc="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6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</a:t>
            </a:r>
            <a:r>
              <a:rPr lang="en-US" sz="1600" spc="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ge</a:t>
            </a:r>
            <a:r>
              <a:rPr lang="en-US" sz="16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6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</a:t>
            </a:r>
            <a:r>
              <a:rPr lang="en-US" sz="16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</a:t>
            </a:r>
            <a:r>
              <a:rPr lang="en-US" sz="16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.</a:t>
            </a:r>
            <a:endParaRPr lang="en-ID" sz="16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28F966-0943-91B5-0FC3-0819F13A8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25" y="4043008"/>
            <a:ext cx="5788172" cy="1882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DF9FBC-3366-6C75-D348-9DF1C6096774}"/>
              </a:ext>
            </a:extLst>
          </p:cNvPr>
          <p:cNvSpPr txBox="1"/>
          <p:nvPr/>
        </p:nvSpPr>
        <p:spPr>
          <a:xfrm>
            <a:off x="155273" y="3704454"/>
            <a:ext cx="3703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Tabel </a:t>
            </a:r>
            <a:r>
              <a:rPr lang="en-US" sz="1600" spc="6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1.</a:t>
            </a:r>
            <a:r>
              <a:rPr lang="en-US" sz="1600" spc="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6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Di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</a:t>
            </a:r>
            <a:r>
              <a:rPr lang="en-US" sz="16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6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ili</a:t>
            </a:r>
            <a:r>
              <a:rPr lang="en-US" sz="1600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on</a:t>
            </a:r>
            <a:r>
              <a:rPr lang="en-US" sz="1600" spc="26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6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6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pe</a:t>
            </a:r>
            <a:r>
              <a:rPr lang="en-US" sz="16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1</a:t>
            </a:r>
            <a:r>
              <a:rPr lang="en-US" sz="16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4001</a:t>
            </a:r>
            <a:endParaRPr lang="en-ID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26C55-500E-BDC3-22F7-76AAB6018A8B}"/>
              </a:ext>
            </a:extLst>
          </p:cNvPr>
          <p:cNvSpPr txBox="1"/>
          <p:nvPr/>
        </p:nvSpPr>
        <p:spPr>
          <a:xfrm>
            <a:off x="6135549" y="3700808"/>
            <a:ext cx="3703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Tabel </a:t>
            </a:r>
            <a:r>
              <a:rPr lang="en-US" sz="1600" spc="6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1.</a:t>
            </a:r>
            <a:r>
              <a:rPr lang="en-US" sz="1600" spc="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6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Di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</a:t>
            </a:r>
            <a:r>
              <a:rPr lang="en-US" sz="16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Germanium </a:t>
            </a:r>
            <a:r>
              <a:rPr lang="en-US" sz="16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6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pe</a:t>
            </a:r>
            <a:r>
              <a:rPr lang="en-US" sz="16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6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AA119</a:t>
            </a:r>
            <a:endParaRPr lang="en-ID" sz="1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52C295-0FA6-370E-E66E-8A6DAB47B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01" y="4039362"/>
            <a:ext cx="5788172" cy="24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1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69E8A-15AE-1144-75A4-F552247C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b="1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69FE8-5C53-F761-F6AB-64F316768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0700" marR="29210" indent="-228600">
              <a:lnSpc>
                <a:spcPct val="103000"/>
              </a:lnSpc>
            </a:pP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1.  </a:t>
            </a:r>
            <a:r>
              <a:rPr lang="en-US" sz="1800" spc="9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kan</a:t>
            </a:r>
            <a:r>
              <a:rPr lang="en-US" sz="1800" spc="10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ai</a:t>
            </a:r>
            <a:r>
              <a:rPr lang="en-US" sz="1800" spc="2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d,</a:t>
            </a:r>
            <a:r>
              <a:rPr lang="en-US" sz="1800" spc="1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V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d,</a:t>
            </a:r>
            <a:r>
              <a:rPr lang="en-US" sz="1800" spc="1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V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</a:t>
            </a:r>
            <a:r>
              <a:rPr lang="en-US" sz="1800" spc="2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dan has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 </a:t>
            </a:r>
            <a:r>
              <a:rPr lang="en-US" sz="1800" spc="6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peguku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</a:t>
            </a:r>
            <a:r>
              <a:rPr lang="en-US" sz="1800" spc="1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dan 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h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ungan</a:t>
            </a:r>
            <a:r>
              <a:rPr lang="en-US" sz="1800" spc="9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pada </a:t>
            </a:r>
            <a:r>
              <a:rPr lang="en-US" sz="1800" spc="1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</a:t>
            </a:r>
            <a:r>
              <a:rPr lang="en-US" sz="1800" spc="8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ili</a:t>
            </a:r>
            <a:r>
              <a:rPr lang="en-US" sz="1800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on dan</a:t>
            </a:r>
            <a:r>
              <a:rPr lang="en-US" sz="1800" spc="2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</a:t>
            </a:r>
            <a:r>
              <a:rPr lang="en-US" sz="1800" spc="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!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20700" marR="30480" indent="-228600">
              <a:lnSpc>
                <a:spcPct val="103000"/>
              </a:lnSpc>
            </a:pP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2.  </a:t>
            </a:r>
            <a:r>
              <a:rPr lang="en-US" sz="1800" spc="9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ah</a:t>
            </a:r>
            <a:r>
              <a:rPr lang="en-US" sz="1800" spc="10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en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ase</a:t>
            </a:r>
            <a:r>
              <a:rPr lang="en-US" sz="1800" spc="9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bedaan</a:t>
            </a:r>
            <a:r>
              <a:rPr lang="en-US" sz="1800" spc="10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has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 </a:t>
            </a:r>
            <a:r>
              <a:rPr lang="en-US" sz="1800" spc="6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penguku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</a:t>
            </a:r>
            <a:r>
              <a:rPr lang="en-US" sz="1800" spc="1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dan </a:t>
            </a:r>
            <a:r>
              <a:rPr lang="en-US" sz="1800" spc="5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h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ungan</a:t>
            </a:r>
            <a:r>
              <a:rPr lang="en-US" sz="1800" spc="10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ai</a:t>
            </a:r>
            <a:r>
              <a:rPr lang="en-US" sz="1800" spc="2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17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V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2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V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</a:t>
            </a:r>
            <a:r>
              <a:rPr lang="en-US" sz="1800" spc="2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j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askan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kenapa</a:t>
            </a:r>
            <a:r>
              <a:rPr lang="en-US" sz="1800" spc="5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j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adi</a:t>
            </a:r>
            <a:r>
              <a:rPr lang="en-US" sz="1800" spc="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bedaan!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0299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E1F90-E9CB-27F3-17C7-D0F2892C7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UG</a:t>
            </a:r>
            <a:r>
              <a:rPr lang="en-US" sz="1800" b="1" spc="-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D8DDB-CB74-F4A8-85C6-98B859702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500" indent="0">
              <a:lnSpc>
                <a:spcPts val="1400"/>
              </a:lnSpc>
              <a:buNone/>
            </a:pP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1. S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spc="17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pada </a:t>
            </a:r>
            <a:r>
              <a:rPr lang="en-US" sz="1800" spc="2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oda, </a:t>
            </a:r>
            <a:r>
              <a:rPr lang="en-US" sz="1800" spc="-8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ana</a:t>
            </a:r>
            <a:r>
              <a:rPr lang="en-US" sz="1800" spc="19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 </a:t>
            </a:r>
            <a:r>
              <a:rPr lang="en-US" sz="1800" spc="6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 </a:t>
            </a:r>
            <a:r>
              <a:rPr lang="en-US" sz="1800" spc="-8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enggunakan</a:t>
            </a:r>
            <a:r>
              <a:rPr lang="en-US" sz="1800" spc="18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 </a:t>
            </a:r>
            <a:r>
              <a:rPr lang="en-US" sz="1800" spc="1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beban?</a:t>
            </a:r>
            <a:r>
              <a:rPr lang="en-US" sz="1800" spc="18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Je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askan</a:t>
            </a:r>
            <a:r>
              <a:rPr lang="en-US" sz="1800" spc="18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j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w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aban sauda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a!</a:t>
            </a:r>
          </a:p>
          <a:p>
            <a:pPr marL="63500" indent="0">
              <a:lnSpc>
                <a:spcPts val="1400"/>
              </a:lnSpc>
              <a:buNone/>
            </a:pP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2.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pa</a:t>
            </a:r>
            <a:r>
              <a:rPr lang="en-US" sz="1800" spc="2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sebena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y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f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ungsi</a:t>
            </a:r>
            <a:r>
              <a:rPr lang="en-US" sz="1800" spc="22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 spc="25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beban</a:t>
            </a:r>
            <a:r>
              <a:rPr lang="en-US" sz="1800" spc="2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?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91522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4FBCA-E074-5E5B-A442-49653F16A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spc="-2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li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 b="1" spc="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ra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f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CFDD8-6923-E1D4-1238-9526AE3C3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2354"/>
          </a:xfrm>
        </p:spPr>
        <p:txBody>
          <a:bodyPr/>
          <a:lstStyle/>
          <a:p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H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as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 spc="2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ot</a:t>
            </a:r>
            <a:r>
              <a:rPr lang="en-US" sz="1800" spc="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f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 spc="15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cobaan</a:t>
            </a:r>
            <a:r>
              <a:rPr lang="en-US" sz="1800" spc="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  beban</a:t>
            </a:r>
            <a:r>
              <a:rPr lang="en-US" sz="1800" spc="2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D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170E49C-7ED6-E155-55F5-79364A0AE2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686288"/>
              </p:ext>
            </p:extLst>
          </p:nvPr>
        </p:nvGraphicFramePr>
        <p:xfrm>
          <a:off x="3801980" y="2303362"/>
          <a:ext cx="4331368" cy="3118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362476" imgH="4581643" progId="Word.Document.12">
                  <p:embed/>
                </p:oleObj>
              </mc:Choice>
              <mc:Fallback>
                <p:oleObj name="Document" r:id="rId2" imgW="6362476" imgH="45816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01980" y="2303362"/>
                        <a:ext cx="4331368" cy="31188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485AD3A-8F28-1C25-069E-D09CFBFCE960}"/>
              </a:ext>
            </a:extLst>
          </p:cNvPr>
          <p:cNvSpPr txBox="1"/>
          <p:nvPr/>
        </p:nvSpPr>
        <p:spPr>
          <a:xfrm>
            <a:off x="2326640" y="5582526"/>
            <a:ext cx="7680960" cy="334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885">
              <a:lnSpc>
                <a:spcPts val="1800"/>
              </a:lnSpc>
            </a:pP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G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f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>
                <a:latin typeface="Dubai" panose="020B0503030403030204" pitchFamily="34" charset="-78"/>
                <a:ea typeface="Dubai" panose="020B0503030403030204" pitchFamily="34" charset="-78"/>
              </a:rPr>
              <a:t> H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ubungan</a:t>
            </a:r>
            <a:r>
              <a:rPr lang="en-US" sz="1800" spc="-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-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us</a:t>
            </a:r>
            <a:r>
              <a:rPr lang="en-US" sz="1800" spc="17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 </a:t>
            </a:r>
            <a:r>
              <a:rPr lang="en-US" sz="1800" spc="4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dan</a:t>
            </a:r>
            <a:r>
              <a:rPr lang="en-US" sz="1800" spc="2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Tegangan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oda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770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72D51-3713-1AB5-93D5-30664BDAE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b="1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F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b="1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 b="1" spc="6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b="1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PUS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b="1" spc="-2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r>
              <a:rPr lang="en-US" sz="1800" b="1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 b="1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C66BF-0192-BAB7-9F31-5CA6DA32D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obe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spc="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y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es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ad,</a:t>
            </a:r>
            <a:r>
              <a:rPr lang="en-US" sz="1800" spc="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Lou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 </a:t>
            </a:r>
            <a:r>
              <a:rPr lang="en-US" sz="1800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ashe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k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y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.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,</a:t>
            </a:r>
            <a:r>
              <a:rPr lang="en-US" sz="1800" spc="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2011,</a:t>
            </a:r>
            <a:r>
              <a:rPr lang="en-US" sz="1800" spc="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EC</a:t>
            </a:r>
            <a:r>
              <a:rPr lang="en-US" sz="1800" spc="1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RON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C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DEV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CE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 spc="5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AN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D</a:t>
            </a:r>
            <a:r>
              <a:rPr lang="en-US" sz="1800" spc="17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C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RCU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T T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HE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RY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,</a:t>
            </a:r>
            <a:r>
              <a:rPr lang="en-US" sz="1800" spc="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N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ew</a:t>
            </a:r>
            <a:r>
              <a:rPr lang="en-US" sz="1800" spc="23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Je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r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s</a:t>
            </a:r>
            <a:r>
              <a:rPr lang="en-US" sz="1800" spc="-1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e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y</a:t>
            </a:r>
            <a:r>
              <a:rPr lang="en-US" sz="1800" spc="3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C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l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u</a:t>
            </a:r>
            <a:r>
              <a:rPr lang="en-US" sz="1800" spc="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m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bus,</a:t>
            </a:r>
            <a:r>
              <a:rPr lang="en-US" sz="1800" spc="4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 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h</a:t>
            </a:r>
            <a:r>
              <a:rPr lang="en-US" sz="1800" spc="-5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i</a:t>
            </a:r>
            <a:r>
              <a:rPr lang="en-US" sz="1800">
                <a:effectLst/>
                <a:latin typeface="Dubai" panose="020B0503030403030204" pitchFamily="34" charset="-78"/>
                <a:ea typeface="Dubai" panose="020B0503030403030204" pitchFamily="34" charset="-78"/>
              </a:rPr>
              <a:t>o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35094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589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Dubai</vt:lpstr>
      <vt:lpstr>Times New Roman</vt:lpstr>
      <vt:lpstr>Office Theme</vt:lpstr>
      <vt:lpstr>Document</vt:lpstr>
      <vt:lpstr>JOBSHEET PRAKTIKUM  ELEKTRONIKA ANALOG  GARIS BEBAN DIODA</vt:lpstr>
      <vt:lpstr>TUJUAN  PRAKTIKUM</vt:lpstr>
      <vt:lpstr>DASAR TEORI</vt:lpstr>
      <vt:lpstr>PowerPoint Presentation</vt:lpstr>
      <vt:lpstr>ALAT DAN BAHAN YANG DIPERGUNAKAN</vt:lpstr>
      <vt:lpstr>LANGKAH – LANGKAH PERCOBAAN </vt:lpstr>
      <vt:lpstr>A. Pembuatan garis beban dioda</vt:lpstr>
      <vt:lpstr>B. Pengukuran arus dan tegangan dioda  pada  titik operasi, cut off dan saturasi</vt:lpstr>
      <vt:lpstr>ANALISA</vt:lpstr>
      <vt:lpstr>TUGAS</vt:lpstr>
      <vt:lpstr>Analisis Grafik</vt:lpstr>
      <vt:lpstr>DAFTAR PUSTAKA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erilmozef@yahoo.com</dc:creator>
  <cp:lastModifiedBy>erilmozef@yahoo.com</cp:lastModifiedBy>
  <cp:revision>21</cp:revision>
  <dcterms:created xsi:type="dcterms:W3CDTF">2025-02-25T22:18:44Z</dcterms:created>
  <dcterms:modified xsi:type="dcterms:W3CDTF">2025-02-27T23:53:13Z</dcterms:modified>
</cp:coreProperties>
</file>