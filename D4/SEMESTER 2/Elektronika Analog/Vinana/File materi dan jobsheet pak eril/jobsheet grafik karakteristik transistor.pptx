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61" r:id="rId4"/>
    <p:sldId id="259" r:id="rId5"/>
    <p:sldId id="262" r:id="rId6"/>
    <p:sldId id="260" r:id="rId7"/>
    <p:sldId id="257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7" d="100"/>
          <a:sy n="77" d="100"/>
        </p:scale>
        <p:origin x="806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558DC9-6650-431C-B965-8F7DD5C4B993}" type="datetimeFigureOut">
              <a:rPr lang="en-US" smtClean="0"/>
              <a:t>4/23/2025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D908DD-F72B-45CD-A843-A0A67DEB6B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46912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558DC9-6650-431C-B965-8F7DD5C4B993}" type="datetimeFigureOut">
              <a:rPr lang="en-US" smtClean="0"/>
              <a:t>4/23/2025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D908DD-F72B-45CD-A843-A0A67DEB6B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65406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558DC9-6650-431C-B965-8F7DD5C4B993}" type="datetimeFigureOut">
              <a:rPr lang="en-US" smtClean="0"/>
              <a:t>4/23/2025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D908DD-F72B-45CD-A843-A0A67DEB6B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31412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558DC9-6650-431C-B965-8F7DD5C4B993}" type="datetimeFigureOut">
              <a:rPr lang="en-US" smtClean="0"/>
              <a:t>4/23/2025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D908DD-F72B-45CD-A843-A0A67DEB6B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72625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558DC9-6650-431C-B965-8F7DD5C4B993}" type="datetimeFigureOut">
              <a:rPr lang="en-US" smtClean="0"/>
              <a:t>4/23/2025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D908DD-F72B-45CD-A843-A0A67DEB6B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65570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558DC9-6650-431C-B965-8F7DD5C4B993}" type="datetimeFigureOut">
              <a:rPr lang="en-US" smtClean="0"/>
              <a:t>4/23/2025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D908DD-F72B-45CD-A843-A0A67DEB6B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54667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558DC9-6650-431C-B965-8F7DD5C4B993}" type="datetimeFigureOut">
              <a:rPr lang="en-US" smtClean="0"/>
              <a:t>4/23/2025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D908DD-F72B-45CD-A843-A0A67DEB6B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70127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558DC9-6650-431C-B965-8F7DD5C4B993}" type="datetimeFigureOut">
              <a:rPr lang="en-US" smtClean="0"/>
              <a:t>4/23/2025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D908DD-F72B-45CD-A843-A0A67DEB6B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81383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558DC9-6650-431C-B965-8F7DD5C4B993}" type="datetimeFigureOut">
              <a:rPr lang="en-US" smtClean="0"/>
              <a:t>4/23/2025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D908DD-F72B-45CD-A843-A0A67DEB6B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12243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558DC9-6650-431C-B965-8F7DD5C4B993}" type="datetimeFigureOut">
              <a:rPr lang="en-US" smtClean="0"/>
              <a:t>4/23/2025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D908DD-F72B-45CD-A843-A0A67DEB6B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2889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558DC9-6650-431C-B965-8F7DD5C4B993}" type="datetimeFigureOut">
              <a:rPr lang="en-US" smtClean="0"/>
              <a:t>4/23/2025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D908DD-F72B-45CD-A843-A0A67DEB6B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24391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0558DC9-6650-431C-B965-8F7DD5C4B993}" type="datetimeFigureOut">
              <a:rPr lang="en-US" smtClean="0"/>
              <a:t>4/23/2025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6D908DD-F72B-45CD-A843-A0A67DEB6B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81471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Jobsheet Grafik Karakteristik Transistor BJT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48040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BCEE3F-A10C-B898-FAB1-3A98AD369B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Grafik Karakteristik Input</a:t>
            </a:r>
            <a:endParaRPr lang="en-ID"/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1B7D5FFA-C115-ACD6-067B-972AD17F20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57745" y="2315582"/>
            <a:ext cx="5851470" cy="2981975"/>
          </a:xfrm>
        </p:spPr>
        <p:txBody>
          <a:bodyPr>
            <a:no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000"/>
              <a:t>Tentukan Vce=0v sesuai tabel (hal berikut) dengan mengatur RV2.</a:t>
            </a:r>
          </a:p>
          <a:p>
            <a:pPr lvl="1"/>
            <a:r>
              <a:rPr lang="en-US" sz="1600"/>
              <a:t>Atur RV1 sedemikian sehingga Vbe=0v lalu ukur Ib dan catat hasilnya dalam tabel.</a:t>
            </a:r>
            <a:endParaRPr lang="en-ID" sz="1600"/>
          </a:p>
          <a:p>
            <a:pPr lvl="1"/>
            <a:r>
              <a:rPr lang="en-US" sz="1600"/>
              <a:t>Lakukan hal yang sama untuk Vbe=0,1 , 0,2 , dst hingga 0,9v</a:t>
            </a:r>
          </a:p>
          <a:p>
            <a:pPr lvl="1"/>
            <a:r>
              <a:rPr lang="en-US" sz="1600"/>
              <a:t>Plotlah data ini ke dalam kurva Ib vs Vbe.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/>
              <a:t>Tentukan Vce=2v lalu lakukan hal yang sama seperti pada butir 1 . Selanjutnya lakukan hal yang sama untuk Vce=4v, 6v, …, 10v.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/>
              <a:t>Catatan: Langkah butir 1 dan 2 bila dikerjakan akan menghasilkan 6 kurva. Gabungkan kurva-kurva tersebut dalam 1 grafik.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3B10E17-DBF6-8538-2EB7-955A78E172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2785" y="1987826"/>
            <a:ext cx="5574960" cy="34374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28636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D4B584-F7D1-EB80-1083-404E021C93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Tabel Pengukuran Grafik Karakteristik Input</a:t>
            </a:r>
            <a:endParaRPr lang="en-ID"/>
          </a:p>
        </p:txBody>
      </p:sp>
      <p:graphicFrame>
        <p:nvGraphicFramePr>
          <p:cNvPr id="14" name="Content Placeholder 13">
            <a:extLst>
              <a:ext uri="{FF2B5EF4-FFF2-40B4-BE49-F238E27FC236}">
                <a16:creationId xmlns:a16="http://schemas.microsoft.com/office/drawing/2014/main" id="{E14FD547-829D-09C1-15A5-9A7511532293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2438400" y="2904014"/>
          <a:ext cx="7315200" cy="21945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09600">
                  <a:extLst>
                    <a:ext uri="{9D8B030D-6E8A-4147-A177-3AD203B41FA5}">
                      <a16:colId xmlns:a16="http://schemas.microsoft.com/office/drawing/2014/main" val="471029614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852831744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1637060003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4068438281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4066621352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772181608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394261863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1375487485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3975457458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647516971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1988193663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941622992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pPr algn="l" fontAlgn="b"/>
                      <a:r>
                        <a:rPr lang="en-ID" sz="1100" u="none" strike="noStrike">
                          <a:effectLst/>
                        </a:rPr>
                        <a:t>Vce=0v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1100" u="none" strike="noStrike">
                          <a:effectLst/>
                        </a:rPr>
                        <a:t>Vbe (V)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1100" u="none" strike="noStrike">
                          <a:effectLst/>
                        </a:rPr>
                        <a:t>0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1100" u="none" strike="noStrike">
                          <a:effectLst/>
                        </a:rPr>
                        <a:t>0,1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1100" u="none" strike="noStrike">
                          <a:effectLst/>
                        </a:rPr>
                        <a:t>0,2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1100" u="none" strike="noStrike">
                          <a:effectLst/>
                        </a:rPr>
                        <a:t>0,3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1100" u="none" strike="noStrike">
                          <a:effectLst/>
                        </a:rPr>
                        <a:t>0,4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1100" u="none" strike="noStrike">
                          <a:effectLst/>
                        </a:rPr>
                        <a:t>0,5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1100" u="none" strike="noStrike">
                          <a:effectLst/>
                        </a:rPr>
                        <a:t>0,6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1100" u="none" strike="noStrike">
                          <a:effectLst/>
                        </a:rPr>
                        <a:t>0,7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1100" u="none" strike="noStrike">
                          <a:effectLst/>
                        </a:rPr>
                        <a:t>0,8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1100" u="none" strike="noStrike">
                          <a:effectLst/>
                        </a:rPr>
                        <a:t>0,9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541709454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fontAlgn="b"/>
                      <a:r>
                        <a:rPr lang="en-ID" sz="1100" u="none" strike="noStrike">
                          <a:effectLst/>
                        </a:rPr>
                        <a:t> 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1100" u="none" strike="noStrike">
                          <a:effectLst/>
                        </a:rPr>
                        <a:t>Ib (uA)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1100" u="none" strike="noStrike">
                          <a:effectLst/>
                        </a:rPr>
                        <a:t> 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1100" u="none" strike="noStrike">
                          <a:effectLst/>
                        </a:rPr>
                        <a:t> 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1100" u="none" strike="noStrike">
                          <a:effectLst/>
                        </a:rPr>
                        <a:t> 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1100" u="none" strike="noStrike">
                          <a:effectLst/>
                        </a:rPr>
                        <a:t> 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1100" u="none" strike="noStrike">
                          <a:effectLst/>
                        </a:rPr>
                        <a:t> 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1100" u="none" strike="noStrike">
                          <a:effectLst/>
                        </a:rPr>
                        <a:t> 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1100" u="none" strike="noStrike">
                          <a:effectLst/>
                        </a:rPr>
                        <a:t> 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1100" u="none" strike="noStrike">
                          <a:effectLst/>
                        </a:rPr>
                        <a:t> 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1100" u="none" strike="noStrike">
                          <a:effectLst/>
                        </a:rPr>
                        <a:t> 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1100" u="none" strike="noStrike">
                          <a:effectLst/>
                        </a:rPr>
                        <a:t> 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491419212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fontAlgn="b"/>
                      <a:r>
                        <a:rPr lang="en-ID" sz="1100" u="none" strike="noStrike">
                          <a:effectLst/>
                        </a:rPr>
                        <a:t>Vce=2v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1100" u="none" strike="noStrike">
                          <a:effectLst/>
                        </a:rPr>
                        <a:t>Vbe (V)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1100" u="none" strike="noStrike">
                          <a:effectLst/>
                        </a:rPr>
                        <a:t>0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1100" u="none" strike="noStrike">
                          <a:effectLst/>
                        </a:rPr>
                        <a:t>0,1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1100" u="none" strike="noStrike">
                          <a:effectLst/>
                        </a:rPr>
                        <a:t>0,2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1100" u="none" strike="noStrike">
                          <a:effectLst/>
                        </a:rPr>
                        <a:t>0,3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1100" u="none" strike="noStrike">
                          <a:effectLst/>
                        </a:rPr>
                        <a:t>0,4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1100" u="none" strike="noStrike">
                          <a:effectLst/>
                        </a:rPr>
                        <a:t>0,5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1100" u="none" strike="noStrike">
                          <a:effectLst/>
                        </a:rPr>
                        <a:t>0,6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1100" u="none" strike="noStrike">
                          <a:effectLst/>
                        </a:rPr>
                        <a:t>0,7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1100" u="none" strike="noStrike">
                          <a:effectLst/>
                        </a:rPr>
                        <a:t>0,8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1100" u="none" strike="noStrike">
                          <a:effectLst/>
                        </a:rPr>
                        <a:t>0,9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481078826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fontAlgn="b"/>
                      <a:r>
                        <a:rPr lang="en-ID" sz="1100" u="none" strike="noStrike">
                          <a:effectLst/>
                        </a:rPr>
                        <a:t> 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1100" u="none" strike="noStrike">
                          <a:effectLst/>
                        </a:rPr>
                        <a:t>Ib (uA)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1100" u="none" strike="noStrike">
                          <a:effectLst/>
                        </a:rPr>
                        <a:t> 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1100" u="none" strike="noStrike">
                          <a:effectLst/>
                        </a:rPr>
                        <a:t> 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1100" u="none" strike="noStrike">
                          <a:effectLst/>
                        </a:rPr>
                        <a:t> 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1100" u="none" strike="noStrike">
                          <a:effectLst/>
                        </a:rPr>
                        <a:t> 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1100" u="none" strike="noStrike">
                          <a:effectLst/>
                        </a:rPr>
                        <a:t> 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1100" u="none" strike="noStrike">
                          <a:effectLst/>
                        </a:rPr>
                        <a:t> 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1100" u="none" strike="noStrike">
                          <a:effectLst/>
                        </a:rPr>
                        <a:t> 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1100" u="none" strike="noStrike">
                          <a:effectLst/>
                        </a:rPr>
                        <a:t> 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1100" u="none" strike="noStrike">
                          <a:effectLst/>
                        </a:rPr>
                        <a:t> 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1100" u="none" strike="noStrike">
                          <a:effectLst/>
                        </a:rPr>
                        <a:t> 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114667085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fontAlgn="b"/>
                      <a:r>
                        <a:rPr lang="en-ID" sz="1100" u="none" strike="noStrike">
                          <a:effectLst/>
                        </a:rPr>
                        <a:t>Vce=4v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1100" u="none" strike="noStrike">
                          <a:effectLst/>
                        </a:rPr>
                        <a:t>Vbe (V)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1100" u="none" strike="noStrike">
                          <a:effectLst/>
                        </a:rPr>
                        <a:t>0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1100" u="none" strike="noStrike">
                          <a:effectLst/>
                        </a:rPr>
                        <a:t>0,1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1100" u="none" strike="noStrike">
                          <a:effectLst/>
                        </a:rPr>
                        <a:t>0,2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1100" u="none" strike="noStrike">
                          <a:effectLst/>
                        </a:rPr>
                        <a:t>0,3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1100" u="none" strike="noStrike">
                          <a:effectLst/>
                        </a:rPr>
                        <a:t>0,4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1100" u="none" strike="noStrike">
                          <a:effectLst/>
                        </a:rPr>
                        <a:t>0,5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1100" u="none" strike="noStrike">
                          <a:effectLst/>
                        </a:rPr>
                        <a:t>0,6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1100" u="none" strike="noStrike">
                          <a:effectLst/>
                        </a:rPr>
                        <a:t>0,7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1100" u="none" strike="noStrike">
                          <a:effectLst/>
                        </a:rPr>
                        <a:t>0,8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1100" u="none" strike="noStrike">
                          <a:effectLst/>
                        </a:rPr>
                        <a:t>0,9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4242372364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fontAlgn="b"/>
                      <a:r>
                        <a:rPr lang="en-ID" sz="1100" u="none" strike="noStrike">
                          <a:effectLst/>
                        </a:rPr>
                        <a:t> 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1100" u="none" strike="noStrike">
                          <a:effectLst/>
                        </a:rPr>
                        <a:t>Ib (uA)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1100" u="none" strike="noStrike">
                          <a:effectLst/>
                        </a:rPr>
                        <a:t> 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1100" u="none" strike="noStrike">
                          <a:effectLst/>
                        </a:rPr>
                        <a:t> 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1100" u="none" strike="noStrike">
                          <a:effectLst/>
                        </a:rPr>
                        <a:t> 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1100" u="none" strike="noStrike">
                          <a:effectLst/>
                        </a:rPr>
                        <a:t> 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1100" u="none" strike="noStrike">
                          <a:effectLst/>
                        </a:rPr>
                        <a:t> 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1100" u="none" strike="noStrike">
                          <a:effectLst/>
                        </a:rPr>
                        <a:t> 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1100" u="none" strike="noStrike">
                          <a:effectLst/>
                        </a:rPr>
                        <a:t> 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1100" u="none" strike="noStrike">
                          <a:effectLst/>
                        </a:rPr>
                        <a:t> 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1100" u="none" strike="noStrike">
                          <a:effectLst/>
                        </a:rPr>
                        <a:t> 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1100" u="none" strike="noStrike">
                          <a:effectLst/>
                        </a:rPr>
                        <a:t> 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398452674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fontAlgn="b"/>
                      <a:r>
                        <a:rPr lang="en-ID" sz="1100" u="none" strike="noStrike">
                          <a:effectLst/>
                        </a:rPr>
                        <a:t>Vce=6v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1100" u="none" strike="noStrike">
                          <a:effectLst/>
                        </a:rPr>
                        <a:t>Vbe (V)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1100" u="none" strike="noStrike">
                          <a:effectLst/>
                        </a:rPr>
                        <a:t>0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1100" u="none" strike="noStrike">
                          <a:effectLst/>
                        </a:rPr>
                        <a:t>0,1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1100" u="none" strike="noStrike">
                          <a:effectLst/>
                        </a:rPr>
                        <a:t>0,2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1100" u="none" strike="noStrike">
                          <a:effectLst/>
                        </a:rPr>
                        <a:t>0,3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1100" u="none" strike="noStrike">
                          <a:effectLst/>
                        </a:rPr>
                        <a:t>0,4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1100" u="none" strike="noStrike">
                          <a:effectLst/>
                        </a:rPr>
                        <a:t>0,5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1100" u="none" strike="noStrike">
                          <a:effectLst/>
                        </a:rPr>
                        <a:t>0,6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1100" u="none" strike="noStrike">
                          <a:effectLst/>
                        </a:rPr>
                        <a:t>0,7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1100" u="none" strike="noStrike">
                          <a:effectLst/>
                        </a:rPr>
                        <a:t>0,8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1100" u="none" strike="noStrike">
                          <a:effectLst/>
                        </a:rPr>
                        <a:t>0,9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981392774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fontAlgn="b"/>
                      <a:r>
                        <a:rPr lang="en-ID" sz="1100" u="none" strike="noStrike">
                          <a:effectLst/>
                        </a:rPr>
                        <a:t> 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1100" u="none" strike="noStrike">
                          <a:effectLst/>
                        </a:rPr>
                        <a:t>Ib (uA)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1100" u="none" strike="noStrike">
                          <a:effectLst/>
                        </a:rPr>
                        <a:t> 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1100" u="none" strike="noStrike">
                          <a:effectLst/>
                        </a:rPr>
                        <a:t> 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1100" u="none" strike="noStrike">
                          <a:effectLst/>
                        </a:rPr>
                        <a:t> 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1100" u="none" strike="noStrike">
                          <a:effectLst/>
                        </a:rPr>
                        <a:t> 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1100" u="none" strike="noStrike">
                          <a:effectLst/>
                        </a:rPr>
                        <a:t> 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1100" u="none" strike="noStrike">
                          <a:effectLst/>
                        </a:rPr>
                        <a:t> 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1100" u="none" strike="noStrike">
                          <a:effectLst/>
                        </a:rPr>
                        <a:t> 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1100" u="none" strike="noStrike">
                          <a:effectLst/>
                        </a:rPr>
                        <a:t> 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1100" u="none" strike="noStrike">
                          <a:effectLst/>
                        </a:rPr>
                        <a:t> 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1100" u="none" strike="noStrike">
                          <a:effectLst/>
                        </a:rPr>
                        <a:t> 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095883639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fontAlgn="b"/>
                      <a:r>
                        <a:rPr lang="en-ID" sz="1100" u="none" strike="noStrike">
                          <a:effectLst/>
                        </a:rPr>
                        <a:t>Vce=8v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1100" u="none" strike="noStrike">
                          <a:effectLst/>
                        </a:rPr>
                        <a:t>Vbe (V)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1100" u="none" strike="noStrike">
                          <a:effectLst/>
                        </a:rPr>
                        <a:t>0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1100" u="none" strike="noStrike">
                          <a:effectLst/>
                        </a:rPr>
                        <a:t>0,1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1100" u="none" strike="noStrike">
                          <a:effectLst/>
                        </a:rPr>
                        <a:t>0,2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1100" u="none" strike="noStrike">
                          <a:effectLst/>
                        </a:rPr>
                        <a:t>0,3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1100" u="none" strike="noStrike">
                          <a:effectLst/>
                        </a:rPr>
                        <a:t>0,4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1100" u="none" strike="noStrike">
                          <a:effectLst/>
                        </a:rPr>
                        <a:t>0,5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1100" u="none" strike="noStrike">
                          <a:effectLst/>
                        </a:rPr>
                        <a:t>0,6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1100" u="none" strike="noStrike">
                          <a:effectLst/>
                        </a:rPr>
                        <a:t>0,7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1100" u="none" strike="noStrike">
                          <a:effectLst/>
                        </a:rPr>
                        <a:t>0,8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1100" u="none" strike="noStrike">
                          <a:effectLst/>
                        </a:rPr>
                        <a:t>0,9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857999765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fontAlgn="b"/>
                      <a:r>
                        <a:rPr lang="en-ID" sz="1100" u="none" strike="noStrike">
                          <a:effectLst/>
                        </a:rPr>
                        <a:t> 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1100" u="none" strike="noStrike">
                          <a:effectLst/>
                        </a:rPr>
                        <a:t>Ib (uA)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1100" u="none" strike="noStrike">
                          <a:effectLst/>
                        </a:rPr>
                        <a:t> 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1100" u="none" strike="noStrike">
                          <a:effectLst/>
                        </a:rPr>
                        <a:t> 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1100" u="none" strike="noStrike">
                          <a:effectLst/>
                        </a:rPr>
                        <a:t> 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1100" u="none" strike="noStrike">
                          <a:effectLst/>
                        </a:rPr>
                        <a:t> 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1100" u="none" strike="noStrike">
                          <a:effectLst/>
                        </a:rPr>
                        <a:t> 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1100" u="none" strike="noStrike">
                          <a:effectLst/>
                        </a:rPr>
                        <a:t> 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1100" u="none" strike="noStrike">
                          <a:effectLst/>
                        </a:rPr>
                        <a:t> 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1100" u="none" strike="noStrike">
                          <a:effectLst/>
                        </a:rPr>
                        <a:t> 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1100" u="none" strike="noStrike">
                          <a:effectLst/>
                        </a:rPr>
                        <a:t> 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1100" u="none" strike="noStrike">
                          <a:effectLst/>
                        </a:rPr>
                        <a:t> 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4202904535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fontAlgn="b"/>
                      <a:r>
                        <a:rPr lang="en-ID" sz="1100" u="none" strike="noStrike">
                          <a:effectLst/>
                        </a:rPr>
                        <a:t>Vce=10v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1100" u="none" strike="noStrike">
                          <a:effectLst/>
                        </a:rPr>
                        <a:t>Vbe (V)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1100" u="none" strike="noStrike">
                          <a:effectLst/>
                        </a:rPr>
                        <a:t>0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1100" u="none" strike="noStrike">
                          <a:effectLst/>
                        </a:rPr>
                        <a:t>0,1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1100" u="none" strike="noStrike">
                          <a:effectLst/>
                        </a:rPr>
                        <a:t>0,2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1100" u="none" strike="noStrike">
                          <a:effectLst/>
                        </a:rPr>
                        <a:t>0,3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1100" u="none" strike="noStrike">
                          <a:effectLst/>
                        </a:rPr>
                        <a:t>0,4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1100" u="none" strike="noStrike">
                          <a:effectLst/>
                        </a:rPr>
                        <a:t>0,5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1100" u="none" strike="noStrike">
                          <a:effectLst/>
                        </a:rPr>
                        <a:t>0,6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1100" u="none" strike="noStrike">
                          <a:effectLst/>
                        </a:rPr>
                        <a:t>0,7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1100" u="none" strike="noStrike">
                          <a:effectLst/>
                        </a:rPr>
                        <a:t>0,8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1100" u="none" strike="noStrike">
                          <a:effectLst/>
                        </a:rPr>
                        <a:t>0,9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228771168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fontAlgn="b"/>
                      <a:r>
                        <a:rPr lang="en-ID" sz="1100" u="none" strike="noStrike">
                          <a:effectLst/>
                        </a:rPr>
                        <a:t> 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1100" u="none" strike="noStrike">
                          <a:effectLst/>
                        </a:rPr>
                        <a:t>Ib (uA)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1100" u="none" strike="noStrike">
                          <a:effectLst/>
                        </a:rPr>
                        <a:t> 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1100" u="none" strike="noStrike">
                          <a:effectLst/>
                        </a:rPr>
                        <a:t> 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1100" u="none" strike="noStrike">
                          <a:effectLst/>
                        </a:rPr>
                        <a:t> 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1100" u="none" strike="noStrike">
                          <a:effectLst/>
                        </a:rPr>
                        <a:t> 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1100" u="none" strike="noStrike">
                          <a:effectLst/>
                        </a:rPr>
                        <a:t> 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1100" u="none" strike="noStrike">
                          <a:effectLst/>
                        </a:rPr>
                        <a:t> 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1100" u="none" strike="noStrike">
                          <a:effectLst/>
                        </a:rPr>
                        <a:t> 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1100" u="none" strike="noStrike">
                          <a:effectLst/>
                        </a:rPr>
                        <a:t> 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1100" u="none" strike="noStrike">
                          <a:effectLst/>
                        </a:rPr>
                        <a:t> 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1100" u="none" strike="noStrike">
                          <a:effectLst/>
                        </a:rPr>
                        <a:t> 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0979083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350437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43B9B3-EC62-78E9-016D-075AE1A929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Grafik Karakteristik Output</a:t>
            </a:r>
            <a:endParaRPr lang="en-ID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6E4AD9D-AB44-1373-BAE9-F1E432F409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2785" y="1987826"/>
            <a:ext cx="5574960" cy="3437434"/>
          </a:xfrm>
          <a:prstGeom prst="rect">
            <a:avLst/>
          </a:prstGeom>
        </p:spPr>
      </p:pic>
      <p:sp>
        <p:nvSpPr>
          <p:cNvPr id="3" name="Content Placeholder 10">
            <a:extLst>
              <a:ext uri="{FF2B5EF4-FFF2-40B4-BE49-F238E27FC236}">
                <a16:creationId xmlns:a16="http://schemas.microsoft.com/office/drawing/2014/main" id="{68CC00CF-098E-D228-0F27-70E6A11DDF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57745" y="2315582"/>
            <a:ext cx="5750485" cy="2781921"/>
          </a:xfrm>
        </p:spPr>
        <p:txBody>
          <a:bodyPr>
            <a:no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000"/>
              <a:t>Tentukan Ib=0uA sesuai tabel (hal berikut) dengan mengatur RV1.</a:t>
            </a:r>
          </a:p>
          <a:p>
            <a:pPr lvl="1"/>
            <a:r>
              <a:rPr lang="en-US" sz="1600"/>
              <a:t>Atur RV2 sedemikian sehingga Vce=0v lalu ukur Ic dan catat hasilnya dalam tabel.</a:t>
            </a:r>
            <a:endParaRPr lang="en-ID" sz="1600"/>
          </a:p>
          <a:p>
            <a:pPr lvl="1"/>
            <a:r>
              <a:rPr lang="en-US" sz="1600"/>
              <a:t>Lakukan hal yang sama untuk Vce=1 , 2 , dst hingga 10v</a:t>
            </a:r>
          </a:p>
          <a:p>
            <a:pPr lvl="1"/>
            <a:r>
              <a:rPr lang="en-US" sz="1600"/>
              <a:t>Plotlah data ini ke dalam kurva Ic vs Vce.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/>
              <a:t>Tentukan Ib=20uA lalu lakukan hal yang sama seperti pada butir 1 . Selanjutnya lakukan hal yang sama untuk Ib=40uA, 60uA, …, 100uA.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/>
              <a:t>Catatan: Langkah butir 1 dan 2 bila dikerjakan akan menghasilkan 6 kurva. Gabungkan kurva-kurva tersebut dalam 1 grafik.</a:t>
            </a:r>
          </a:p>
          <a:p>
            <a:pPr marL="457200" indent="-457200">
              <a:buFont typeface="+mj-lt"/>
              <a:buAutoNum type="arabicPeriod"/>
            </a:pPr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40966297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F0544D-5ABF-DF12-C634-8B15540C3E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Tabel Pengukuran Grafik Karakteristik Output</a:t>
            </a:r>
            <a:endParaRPr lang="en-ID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97D66CF0-B697-4410-4F27-9228224FC80F}"/>
              </a:ext>
            </a:extLst>
          </p:cNvPr>
          <p:cNvGraphicFramePr>
            <a:graphicFrameLocks noGrp="1"/>
          </p:cNvGraphicFramePr>
          <p:nvPr/>
        </p:nvGraphicFramePr>
        <p:xfrm>
          <a:off x="2133600" y="2332038"/>
          <a:ext cx="7924800" cy="21945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09600">
                  <a:extLst>
                    <a:ext uri="{9D8B030D-6E8A-4147-A177-3AD203B41FA5}">
                      <a16:colId xmlns:a16="http://schemas.microsoft.com/office/drawing/2014/main" val="3384162878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320317954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3740789061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632355532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1149784607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299265083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3433769944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3703469492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1814372286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1919888002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3942656949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208491538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254361197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pPr algn="l" fontAlgn="b"/>
                      <a:r>
                        <a:rPr lang="en-ID" sz="1100" u="none" strike="noStrike">
                          <a:effectLst/>
                        </a:rPr>
                        <a:t>Ib=0uA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1100" u="none" strike="noStrike">
                          <a:effectLst/>
                        </a:rPr>
                        <a:t>Vce (V)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1100" u="none" strike="noStrike">
                          <a:effectLst/>
                        </a:rPr>
                        <a:t>0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1100" u="none" strike="noStrike">
                          <a:effectLst/>
                        </a:rPr>
                        <a:t>1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1100" u="none" strike="noStrike">
                          <a:effectLst/>
                        </a:rPr>
                        <a:t>2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1100" u="none" strike="noStrike">
                          <a:effectLst/>
                        </a:rPr>
                        <a:t>3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1100" u="none" strike="noStrike">
                          <a:effectLst/>
                        </a:rPr>
                        <a:t>4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1100" u="none" strike="noStrike">
                          <a:effectLst/>
                        </a:rPr>
                        <a:t>5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1100" u="none" strike="noStrike">
                          <a:effectLst/>
                        </a:rPr>
                        <a:t>6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1100" u="none" strike="noStrike">
                          <a:effectLst/>
                        </a:rPr>
                        <a:t>7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1100" u="none" strike="noStrike">
                          <a:effectLst/>
                        </a:rPr>
                        <a:t>8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1100" u="none" strike="noStrike">
                          <a:effectLst/>
                        </a:rPr>
                        <a:t>9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1100" u="none" strike="noStrike">
                          <a:effectLst/>
                        </a:rPr>
                        <a:t>10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753928841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fontAlgn="b"/>
                      <a:r>
                        <a:rPr lang="en-ID" sz="1100" u="none" strike="noStrike">
                          <a:effectLst/>
                        </a:rPr>
                        <a:t> 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1100" u="none" strike="noStrike">
                          <a:effectLst/>
                        </a:rPr>
                        <a:t>Ic (mA)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1100" u="none" strike="noStrike">
                          <a:effectLst/>
                        </a:rPr>
                        <a:t> 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1100" u="none" strike="noStrike">
                          <a:effectLst/>
                        </a:rPr>
                        <a:t> 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1100" u="none" strike="noStrike">
                          <a:effectLst/>
                        </a:rPr>
                        <a:t> 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1100" u="none" strike="noStrike">
                          <a:effectLst/>
                        </a:rPr>
                        <a:t> 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1100" u="none" strike="noStrike">
                          <a:effectLst/>
                        </a:rPr>
                        <a:t> 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1100" u="none" strike="noStrike">
                          <a:effectLst/>
                        </a:rPr>
                        <a:t> 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1100" u="none" strike="noStrike">
                          <a:effectLst/>
                        </a:rPr>
                        <a:t> 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1100" u="none" strike="noStrike">
                          <a:effectLst/>
                        </a:rPr>
                        <a:t> 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1100" u="none" strike="noStrike">
                          <a:effectLst/>
                        </a:rPr>
                        <a:t> 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1100" u="none" strike="noStrike">
                          <a:effectLst/>
                        </a:rPr>
                        <a:t> 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1100" u="none" strike="noStrike">
                          <a:effectLst/>
                        </a:rPr>
                        <a:t> 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628342492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fontAlgn="b"/>
                      <a:r>
                        <a:rPr lang="en-ID" sz="1100" u="none" strike="noStrike">
                          <a:effectLst/>
                        </a:rPr>
                        <a:t>Ib=20uA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1100" u="none" strike="noStrike">
                          <a:effectLst/>
                        </a:rPr>
                        <a:t>Vce (V)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1100" u="none" strike="noStrike">
                          <a:effectLst/>
                        </a:rPr>
                        <a:t>0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1100" u="none" strike="noStrike">
                          <a:effectLst/>
                        </a:rPr>
                        <a:t>1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1100" u="none" strike="noStrike">
                          <a:effectLst/>
                        </a:rPr>
                        <a:t>2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1100" u="none" strike="noStrike">
                          <a:effectLst/>
                        </a:rPr>
                        <a:t>3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1100" u="none" strike="noStrike">
                          <a:effectLst/>
                        </a:rPr>
                        <a:t>4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1100" u="none" strike="noStrike">
                          <a:effectLst/>
                        </a:rPr>
                        <a:t>5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1100" u="none" strike="noStrike">
                          <a:effectLst/>
                        </a:rPr>
                        <a:t>6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1100" u="none" strike="noStrike">
                          <a:effectLst/>
                        </a:rPr>
                        <a:t>7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1100" u="none" strike="noStrike">
                          <a:effectLst/>
                        </a:rPr>
                        <a:t>8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1100" u="none" strike="noStrike">
                          <a:effectLst/>
                        </a:rPr>
                        <a:t>9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1100" u="none" strike="noStrike">
                          <a:effectLst/>
                        </a:rPr>
                        <a:t>10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4001166340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fontAlgn="b"/>
                      <a:r>
                        <a:rPr lang="en-ID" sz="1100" u="none" strike="noStrike">
                          <a:effectLst/>
                        </a:rPr>
                        <a:t> 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1100" u="none" strike="noStrike">
                          <a:effectLst/>
                        </a:rPr>
                        <a:t>Ic (mA)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1100" u="none" strike="noStrike">
                          <a:effectLst/>
                        </a:rPr>
                        <a:t> 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1100" u="none" strike="noStrike">
                          <a:effectLst/>
                        </a:rPr>
                        <a:t> 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1100" u="none" strike="noStrike">
                          <a:effectLst/>
                        </a:rPr>
                        <a:t> 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1100" u="none" strike="noStrike">
                          <a:effectLst/>
                        </a:rPr>
                        <a:t> 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1100" u="none" strike="noStrike">
                          <a:effectLst/>
                        </a:rPr>
                        <a:t> 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1100" u="none" strike="noStrike">
                          <a:effectLst/>
                        </a:rPr>
                        <a:t> 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1100" u="none" strike="noStrike">
                          <a:effectLst/>
                        </a:rPr>
                        <a:t> 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1100" u="none" strike="noStrike">
                          <a:effectLst/>
                        </a:rPr>
                        <a:t> 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1100" u="none" strike="noStrike">
                          <a:effectLst/>
                        </a:rPr>
                        <a:t> 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1100" u="none" strike="noStrike">
                          <a:effectLst/>
                        </a:rPr>
                        <a:t> 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1100" u="none" strike="noStrike">
                          <a:effectLst/>
                        </a:rPr>
                        <a:t> 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7068782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fontAlgn="b"/>
                      <a:r>
                        <a:rPr lang="en-ID" sz="1100" u="none" strike="noStrike">
                          <a:effectLst/>
                        </a:rPr>
                        <a:t>Ib=40uA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1100" u="none" strike="noStrike">
                          <a:effectLst/>
                        </a:rPr>
                        <a:t>Vce (V)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1100" u="none" strike="noStrike">
                          <a:effectLst/>
                        </a:rPr>
                        <a:t>0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1100" u="none" strike="noStrike">
                          <a:effectLst/>
                        </a:rPr>
                        <a:t>1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1100" u="none" strike="noStrike">
                          <a:effectLst/>
                        </a:rPr>
                        <a:t>2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1100" u="none" strike="noStrike">
                          <a:effectLst/>
                        </a:rPr>
                        <a:t>3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1100" u="none" strike="noStrike">
                          <a:effectLst/>
                        </a:rPr>
                        <a:t>4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1100" u="none" strike="noStrike">
                          <a:effectLst/>
                        </a:rPr>
                        <a:t>5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1100" u="none" strike="noStrike">
                          <a:effectLst/>
                        </a:rPr>
                        <a:t>6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1100" u="none" strike="noStrike">
                          <a:effectLst/>
                        </a:rPr>
                        <a:t>7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1100" u="none" strike="noStrike">
                          <a:effectLst/>
                        </a:rPr>
                        <a:t>8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1100" u="none" strike="noStrike">
                          <a:effectLst/>
                        </a:rPr>
                        <a:t>9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1100" u="none" strike="noStrike">
                          <a:effectLst/>
                        </a:rPr>
                        <a:t>10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408146271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fontAlgn="b"/>
                      <a:r>
                        <a:rPr lang="en-ID" sz="1100" u="none" strike="noStrike">
                          <a:effectLst/>
                        </a:rPr>
                        <a:t> 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1100" u="none" strike="noStrike">
                          <a:effectLst/>
                        </a:rPr>
                        <a:t>Ic (mA)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1100" u="none" strike="noStrike">
                          <a:effectLst/>
                        </a:rPr>
                        <a:t> 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1100" u="none" strike="noStrike">
                          <a:effectLst/>
                        </a:rPr>
                        <a:t> 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1100" u="none" strike="noStrike">
                          <a:effectLst/>
                        </a:rPr>
                        <a:t> 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1100" u="none" strike="noStrike">
                          <a:effectLst/>
                        </a:rPr>
                        <a:t> 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1100" u="none" strike="noStrike">
                          <a:effectLst/>
                        </a:rPr>
                        <a:t> 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1100" u="none" strike="noStrike">
                          <a:effectLst/>
                        </a:rPr>
                        <a:t> 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1100" u="none" strike="noStrike">
                          <a:effectLst/>
                        </a:rPr>
                        <a:t> 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1100" u="none" strike="noStrike">
                          <a:effectLst/>
                        </a:rPr>
                        <a:t> 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1100" u="none" strike="noStrike">
                          <a:effectLst/>
                        </a:rPr>
                        <a:t> 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1100" u="none" strike="noStrike">
                          <a:effectLst/>
                        </a:rPr>
                        <a:t> 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1100" u="none" strike="noStrike">
                          <a:effectLst/>
                        </a:rPr>
                        <a:t> 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093010736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fontAlgn="b"/>
                      <a:r>
                        <a:rPr lang="en-ID" sz="1100" u="none" strike="noStrike">
                          <a:effectLst/>
                        </a:rPr>
                        <a:t>Ib=60uA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1100" u="none" strike="noStrike">
                          <a:effectLst/>
                        </a:rPr>
                        <a:t>Vce (V)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1100" u="none" strike="noStrike">
                          <a:effectLst/>
                        </a:rPr>
                        <a:t>0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1100" u="none" strike="noStrike">
                          <a:effectLst/>
                        </a:rPr>
                        <a:t>1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1100" u="none" strike="noStrike">
                          <a:effectLst/>
                        </a:rPr>
                        <a:t>2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1100" u="none" strike="noStrike">
                          <a:effectLst/>
                        </a:rPr>
                        <a:t>3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1100" u="none" strike="noStrike">
                          <a:effectLst/>
                        </a:rPr>
                        <a:t>4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1100" u="none" strike="noStrike">
                          <a:effectLst/>
                        </a:rPr>
                        <a:t>5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1100" u="none" strike="noStrike">
                          <a:effectLst/>
                        </a:rPr>
                        <a:t>6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1100" u="none" strike="noStrike">
                          <a:effectLst/>
                        </a:rPr>
                        <a:t>7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1100" u="none" strike="noStrike">
                          <a:effectLst/>
                        </a:rPr>
                        <a:t>8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1100" u="none" strike="noStrike">
                          <a:effectLst/>
                        </a:rPr>
                        <a:t>9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1100" u="none" strike="noStrike">
                          <a:effectLst/>
                        </a:rPr>
                        <a:t>10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4150619801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fontAlgn="b"/>
                      <a:r>
                        <a:rPr lang="en-ID" sz="1100" u="none" strike="noStrike">
                          <a:effectLst/>
                        </a:rPr>
                        <a:t> 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1100" u="none" strike="noStrike">
                          <a:effectLst/>
                        </a:rPr>
                        <a:t>Ic (mA)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1100" u="none" strike="noStrike">
                          <a:effectLst/>
                        </a:rPr>
                        <a:t> 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1100" u="none" strike="noStrike">
                          <a:effectLst/>
                        </a:rPr>
                        <a:t> 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1100" u="none" strike="noStrike">
                          <a:effectLst/>
                        </a:rPr>
                        <a:t> 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1100" u="none" strike="noStrike">
                          <a:effectLst/>
                        </a:rPr>
                        <a:t> 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1100" u="none" strike="noStrike">
                          <a:effectLst/>
                        </a:rPr>
                        <a:t> 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1100" u="none" strike="noStrike">
                          <a:effectLst/>
                        </a:rPr>
                        <a:t> 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1100" u="none" strike="noStrike">
                          <a:effectLst/>
                        </a:rPr>
                        <a:t> 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1100" u="none" strike="noStrike">
                          <a:effectLst/>
                        </a:rPr>
                        <a:t> 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1100" u="none" strike="noStrike">
                          <a:effectLst/>
                        </a:rPr>
                        <a:t> 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1100" u="none" strike="noStrike">
                          <a:effectLst/>
                        </a:rPr>
                        <a:t> 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1100" u="none" strike="noStrike">
                          <a:effectLst/>
                        </a:rPr>
                        <a:t> 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708032031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fontAlgn="b"/>
                      <a:r>
                        <a:rPr lang="en-ID" sz="1100" u="none" strike="noStrike">
                          <a:effectLst/>
                        </a:rPr>
                        <a:t>Ib=80uA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1100" u="none" strike="noStrike">
                          <a:effectLst/>
                        </a:rPr>
                        <a:t>Vce (V)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1100" u="none" strike="noStrike">
                          <a:effectLst/>
                        </a:rPr>
                        <a:t>0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1100" u="none" strike="noStrike">
                          <a:effectLst/>
                        </a:rPr>
                        <a:t>1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1100" u="none" strike="noStrike">
                          <a:effectLst/>
                        </a:rPr>
                        <a:t>2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1100" u="none" strike="noStrike">
                          <a:effectLst/>
                        </a:rPr>
                        <a:t>3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1100" u="none" strike="noStrike">
                          <a:effectLst/>
                        </a:rPr>
                        <a:t>4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1100" u="none" strike="noStrike">
                          <a:effectLst/>
                        </a:rPr>
                        <a:t>5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1100" u="none" strike="noStrike">
                          <a:effectLst/>
                        </a:rPr>
                        <a:t>6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1100" u="none" strike="noStrike">
                          <a:effectLst/>
                        </a:rPr>
                        <a:t>7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1100" u="none" strike="noStrike">
                          <a:effectLst/>
                        </a:rPr>
                        <a:t>8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1100" u="none" strike="noStrike">
                          <a:effectLst/>
                        </a:rPr>
                        <a:t>9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1100" u="none" strike="noStrike">
                          <a:effectLst/>
                        </a:rPr>
                        <a:t>10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122723316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fontAlgn="b"/>
                      <a:r>
                        <a:rPr lang="en-ID" sz="1100" u="none" strike="noStrike">
                          <a:effectLst/>
                        </a:rPr>
                        <a:t> 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1100" u="none" strike="noStrike">
                          <a:effectLst/>
                        </a:rPr>
                        <a:t>Ic (mA)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1100" u="none" strike="noStrike">
                          <a:effectLst/>
                        </a:rPr>
                        <a:t> 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1100" u="none" strike="noStrike">
                          <a:effectLst/>
                        </a:rPr>
                        <a:t> 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1100" u="none" strike="noStrike">
                          <a:effectLst/>
                        </a:rPr>
                        <a:t> 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1100" u="none" strike="noStrike">
                          <a:effectLst/>
                        </a:rPr>
                        <a:t> 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1100" u="none" strike="noStrike">
                          <a:effectLst/>
                        </a:rPr>
                        <a:t> 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1100" u="none" strike="noStrike">
                          <a:effectLst/>
                        </a:rPr>
                        <a:t> 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1100" u="none" strike="noStrike">
                          <a:effectLst/>
                        </a:rPr>
                        <a:t> 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1100" u="none" strike="noStrike">
                          <a:effectLst/>
                        </a:rPr>
                        <a:t> 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1100" u="none" strike="noStrike">
                          <a:effectLst/>
                        </a:rPr>
                        <a:t> 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1100" u="none" strike="noStrike">
                          <a:effectLst/>
                        </a:rPr>
                        <a:t> 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1100" u="none" strike="noStrike">
                          <a:effectLst/>
                        </a:rPr>
                        <a:t> 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024534931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fontAlgn="b"/>
                      <a:r>
                        <a:rPr lang="en-ID" sz="1100" u="none" strike="noStrike">
                          <a:effectLst/>
                        </a:rPr>
                        <a:t>Ib=100uA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1100" u="none" strike="noStrike">
                          <a:effectLst/>
                        </a:rPr>
                        <a:t>Vce (V)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1100" u="none" strike="noStrike">
                          <a:effectLst/>
                        </a:rPr>
                        <a:t>0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1100" u="none" strike="noStrike">
                          <a:effectLst/>
                        </a:rPr>
                        <a:t>1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1100" u="none" strike="noStrike">
                          <a:effectLst/>
                        </a:rPr>
                        <a:t>2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1100" u="none" strike="noStrike">
                          <a:effectLst/>
                        </a:rPr>
                        <a:t>3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1100" u="none" strike="noStrike">
                          <a:effectLst/>
                        </a:rPr>
                        <a:t>4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1100" u="none" strike="noStrike">
                          <a:effectLst/>
                        </a:rPr>
                        <a:t>5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1100" u="none" strike="noStrike">
                          <a:effectLst/>
                        </a:rPr>
                        <a:t>6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1100" u="none" strike="noStrike">
                          <a:effectLst/>
                        </a:rPr>
                        <a:t>7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1100" u="none" strike="noStrike">
                          <a:effectLst/>
                        </a:rPr>
                        <a:t>8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1100" u="none" strike="noStrike">
                          <a:effectLst/>
                        </a:rPr>
                        <a:t>9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1100" u="none" strike="noStrike">
                          <a:effectLst/>
                        </a:rPr>
                        <a:t>10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272793363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fontAlgn="b"/>
                      <a:r>
                        <a:rPr lang="en-ID" sz="1100" u="none" strike="noStrike">
                          <a:effectLst/>
                        </a:rPr>
                        <a:t> 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1100" u="none" strike="noStrike">
                          <a:effectLst/>
                        </a:rPr>
                        <a:t>Ic (mA)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1100" u="none" strike="noStrike">
                          <a:effectLst/>
                        </a:rPr>
                        <a:t> 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1100" u="none" strike="noStrike">
                          <a:effectLst/>
                        </a:rPr>
                        <a:t> 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1100" u="none" strike="noStrike">
                          <a:effectLst/>
                        </a:rPr>
                        <a:t> 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1100" u="none" strike="noStrike">
                          <a:effectLst/>
                        </a:rPr>
                        <a:t> 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1100" u="none" strike="noStrike">
                          <a:effectLst/>
                        </a:rPr>
                        <a:t> 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1100" u="none" strike="noStrike">
                          <a:effectLst/>
                        </a:rPr>
                        <a:t> 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1100" u="none" strike="noStrike">
                          <a:effectLst/>
                        </a:rPr>
                        <a:t> 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1100" u="none" strike="noStrike">
                          <a:effectLst/>
                        </a:rPr>
                        <a:t> 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1100" u="none" strike="noStrike">
                          <a:effectLst/>
                        </a:rPr>
                        <a:t> 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1100" u="none" strike="noStrike">
                          <a:effectLst/>
                        </a:rPr>
                        <a:t> 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1100" u="none" strike="noStrike">
                          <a:effectLst/>
                        </a:rPr>
                        <a:t> 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69655814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087552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5AD219-7542-9956-0BF0-9EA230C419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Grafik Karakteristik Transfer</a:t>
            </a:r>
            <a:endParaRPr lang="en-ID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7C1F0F9-F60C-0A41-9A27-B0A1D4CFCC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2785" y="1987826"/>
            <a:ext cx="5574960" cy="3437434"/>
          </a:xfrm>
          <a:prstGeom prst="rect">
            <a:avLst/>
          </a:prstGeom>
        </p:spPr>
      </p:pic>
      <p:sp>
        <p:nvSpPr>
          <p:cNvPr id="5" name="Content Placeholder 10">
            <a:extLst>
              <a:ext uri="{FF2B5EF4-FFF2-40B4-BE49-F238E27FC236}">
                <a16:creationId xmlns:a16="http://schemas.microsoft.com/office/drawing/2014/main" id="{E61DF670-7E26-E0AB-FD80-E0F8E5217D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57745" y="2315582"/>
            <a:ext cx="5750485" cy="2781921"/>
          </a:xfrm>
        </p:spPr>
        <p:txBody>
          <a:bodyPr>
            <a:no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000"/>
              <a:t>Tentukan Vce=0v sesuai tabel (hal berikut) dengan mengatur RV2.</a:t>
            </a:r>
          </a:p>
          <a:p>
            <a:pPr lvl="1"/>
            <a:r>
              <a:rPr lang="en-US" sz="1600"/>
              <a:t>Atur RV1 sedemikian sehingga Ib=0uA lalu ukur Ic dan catat hasilnya dalam tabel.</a:t>
            </a:r>
            <a:endParaRPr lang="en-ID" sz="1600"/>
          </a:p>
          <a:p>
            <a:pPr lvl="1"/>
            <a:r>
              <a:rPr lang="en-US" sz="1600"/>
              <a:t>Lakukan hal yang sama untuk Ib=10 , 20 , dst hingga 100uA</a:t>
            </a:r>
          </a:p>
          <a:p>
            <a:pPr lvl="1"/>
            <a:r>
              <a:rPr lang="en-US" sz="1600"/>
              <a:t>Plotlah data ini ke dalam kurva Ic vs Ib.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/>
              <a:t>Tentukan Vce=2v lalu lakukan hal yang sama seperti pada butir 1 . Selanjutnya lakukan hal yang sama untuk Vce=4v, 6v, …, 10v.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/>
              <a:t>Catatan: Langkah butir 1 dan 2 bila dikerjakan akan menghasilkan 6 kurva. Gabungkan kurva-kurva tersebut dalam 1 grafik.</a:t>
            </a:r>
          </a:p>
          <a:p>
            <a:pPr marL="457200" indent="-457200">
              <a:buFont typeface="+mj-lt"/>
              <a:buAutoNum type="arabicPeriod"/>
            </a:pPr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34595650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EF03FD24-94DD-2A5A-5C27-AB478FCB828F}"/>
              </a:ext>
            </a:extLst>
          </p:cNvPr>
          <p:cNvGraphicFramePr>
            <a:graphicFrameLocks noGrp="1"/>
          </p:cNvGraphicFramePr>
          <p:nvPr/>
        </p:nvGraphicFramePr>
        <p:xfrm>
          <a:off x="2133600" y="2332038"/>
          <a:ext cx="7924800" cy="21945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09600">
                  <a:extLst>
                    <a:ext uri="{9D8B030D-6E8A-4147-A177-3AD203B41FA5}">
                      <a16:colId xmlns:a16="http://schemas.microsoft.com/office/drawing/2014/main" val="3145860121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688343174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966502972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1071483823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3575451379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3652067244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3627459213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484238842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4159337326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1649331286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905163201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1393267891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257784645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pPr algn="l" fontAlgn="b"/>
                      <a:r>
                        <a:rPr lang="en-ID" sz="1100" u="none" strike="noStrike">
                          <a:effectLst/>
                        </a:rPr>
                        <a:t>Vce=0v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1100" u="none" strike="noStrike">
                          <a:effectLst/>
                        </a:rPr>
                        <a:t>Ib (uA)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1100" u="none" strike="noStrike">
                          <a:effectLst/>
                        </a:rPr>
                        <a:t>0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1100" u="none" strike="noStrike">
                          <a:effectLst/>
                        </a:rPr>
                        <a:t>10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1100" u="none" strike="noStrike">
                          <a:effectLst/>
                        </a:rPr>
                        <a:t>20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1100" u="none" strike="noStrike">
                          <a:effectLst/>
                        </a:rPr>
                        <a:t>30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1100" u="none" strike="noStrike">
                          <a:effectLst/>
                        </a:rPr>
                        <a:t>40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1100" u="none" strike="noStrike">
                          <a:effectLst/>
                        </a:rPr>
                        <a:t>50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1100" u="none" strike="noStrike">
                          <a:effectLst/>
                        </a:rPr>
                        <a:t>60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1100" u="none" strike="noStrike">
                          <a:effectLst/>
                        </a:rPr>
                        <a:t>70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1100" u="none" strike="noStrike">
                          <a:effectLst/>
                        </a:rPr>
                        <a:t>80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1100" u="none" strike="noStrike">
                          <a:effectLst/>
                        </a:rPr>
                        <a:t>90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1100" u="none" strike="noStrike">
                          <a:effectLst/>
                        </a:rPr>
                        <a:t>100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710451108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fontAlgn="b"/>
                      <a:r>
                        <a:rPr lang="en-ID" sz="1100" u="none" strike="noStrike">
                          <a:effectLst/>
                        </a:rPr>
                        <a:t> 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1100" u="none" strike="noStrike">
                          <a:effectLst/>
                        </a:rPr>
                        <a:t>Ic (mA)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1100" u="none" strike="noStrike">
                          <a:effectLst/>
                        </a:rPr>
                        <a:t> 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1100" u="none" strike="noStrike">
                          <a:effectLst/>
                        </a:rPr>
                        <a:t> 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1100" u="none" strike="noStrike">
                          <a:effectLst/>
                        </a:rPr>
                        <a:t> 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1100" u="none" strike="noStrike">
                          <a:effectLst/>
                        </a:rPr>
                        <a:t> 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1100" u="none" strike="noStrike">
                          <a:effectLst/>
                        </a:rPr>
                        <a:t> 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1100" u="none" strike="noStrike">
                          <a:effectLst/>
                        </a:rPr>
                        <a:t> 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1100" u="none" strike="noStrike">
                          <a:effectLst/>
                        </a:rPr>
                        <a:t> 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1100" u="none" strike="noStrike">
                          <a:effectLst/>
                        </a:rPr>
                        <a:t> 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1100" u="none" strike="noStrike">
                          <a:effectLst/>
                        </a:rPr>
                        <a:t> 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1100" u="none" strike="noStrike">
                          <a:effectLst/>
                        </a:rPr>
                        <a:t> 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1100" u="none" strike="noStrike">
                          <a:effectLst/>
                        </a:rPr>
                        <a:t> 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4261033302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fontAlgn="b"/>
                      <a:r>
                        <a:rPr lang="en-ID" sz="1100" u="none" strike="noStrike">
                          <a:effectLst/>
                        </a:rPr>
                        <a:t>Vce=2v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1100" u="none" strike="noStrike">
                          <a:effectLst/>
                        </a:rPr>
                        <a:t>Ib (uA)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1100" u="none" strike="noStrike">
                          <a:effectLst/>
                        </a:rPr>
                        <a:t>0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1100" u="none" strike="noStrike">
                          <a:effectLst/>
                        </a:rPr>
                        <a:t>10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1100" u="none" strike="noStrike">
                          <a:effectLst/>
                        </a:rPr>
                        <a:t>20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1100" u="none" strike="noStrike">
                          <a:effectLst/>
                        </a:rPr>
                        <a:t>30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1100" u="none" strike="noStrike">
                          <a:effectLst/>
                        </a:rPr>
                        <a:t>40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1100" u="none" strike="noStrike">
                          <a:effectLst/>
                        </a:rPr>
                        <a:t>50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1100" u="none" strike="noStrike">
                          <a:effectLst/>
                        </a:rPr>
                        <a:t>60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1100" u="none" strike="noStrike">
                          <a:effectLst/>
                        </a:rPr>
                        <a:t>70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1100" u="none" strike="noStrike">
                          <a:effectLst/>
                        </a:rPr>
                        <a:t>80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1100" u="none" strike="noStrike">
                          <a:effectLst/>
                        </a:rPr>
                        <a:t>90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1100" u="none" strike="noStrike">
                          <a:effectLst/>
                        </a:rPr>
                        <a:t>100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265967843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fontAlgn="b"/>
                      <a:r>
                        <a:rPr lang="en-ID" sz="1100" u="none" strike="noStrike">
                          <a:effectLst/>
                        </a:rPr>
                        <a:t> 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1100" u="none" strike="noStrike">
                          <a:effectLst/>
                        </a:rPr>
                        <a:t>Ic (mA)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1100" u="none" strike="noStrike">
                          <a:effectLst/>
                        </a:rPr>
                        <a:t> 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1100" u="none" strike="noStrike">
                          <a:effectLst/>
                        </a:rPr>
                        <a:t> 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1100" u="none" strike="noStrike">
                          <a:effectLst/>
                        </a:rPr>
                        <a:t> 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1100" u="none" strike="noStrike">
                          <a:effectLst/>
                        </a:rPr>
                        <a:t> 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1100" u="none" strike="noStrike">
                          <a:effectLst/>
                        </a:rPr>
                        <a:t> 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1100" u="none" strike="noStrike">
                          <a:effectLst/>
                        </a:rPr>
                        <a:t> 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1100" u="none" strike="noStrike">
                          <a:effectLst/>
                        </a:rPr>
                        <a:t> 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1100" u="none" strike="noStrike">
                          <a:effectLst/>
                        </a:rPr>
                        <a:t> 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1100" u="none" strike="noStrike">
                          <a:effectLst/>
                        </a:rPr>
                        <a:t> 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1100" u="none" strike="noStrike">
                          <a:effectLst/>
                        </a:rPr>
                        <a:t> 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1100" u="none" strike="noStrike">
                          <a:effectLst/>
                        </a:rPr>
                        <a:t> 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883391721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fontAlgn="b"/>
                      <a:r>
                        <a:rPr lang="en-ID" sz="1100" u="none" strike="noStrike">
                          <a:effectLst/>
                        </a:rPr>
                        <a:t>Vce=4v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1100" u="none" strike="noStrike">
                          <a:effectLst/>
                        </a:rPr>
                        <a:t>Ib (uA)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1100" u="none" strike="noStrike">
                          <a:effectLst/>
                        </a:rPr>
                        <a:t>0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1100" u="none" strike="noStrike">
                          <a:effectLst/>
                        </a:rPr>
                        <a:t>10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1100" u="none" strike="noStrike">
                          <a:effectLst/>
                        </a:rPr>
                        <a:t>20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1100" u="none" strike="noStrike">
                          <a:effectLst/>
                        </a:rPr>
                        <a:t>30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1100" u="none" strike="noStrike">
                          <a:effectLst/>
                        </a:rPr>
                        <a:t>40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1100" u="none" strike="noStrike">
                          <a:effectLst/>
                        </a:rPr>
                        <a:t>50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1100" u="none" strike="noStrike">
                          <a:effectLst/>
                        </a:rPr>
                        <a:t>60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1100" u="none" strike="noStrike">
                          <a:effectLst/>
                        </a:rPr>
                        <a:t>70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1100" u="none" strike="noStrike">
                          <a:effectLst/>
                        </a:rPr>
                        <a:t>80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1100" u="none" strike="noStrike">
                          <a:effectLst/>
                        </a:rPr>
                        <a:t>90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1100" u="none" strike="noStrike">
                          <a:effectLst/>
                        </a:rPr>
                        <a:t>100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354030798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fontAlgn="b"/>
                      <a:r>
                        <a:rPr lang="en-ID" sz="1100" u="none" strike="noStrike">
                          <a:effectLst/>
                        </a:rPr>
                        <a:t> 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1100" u="none" strike="noStrike">
                          <a:effectLst/>
                        </a:rPr>
                        <a:t>Ic (mA)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1100" u="none" strike="noStrike">
                          <a:effectLst/>
                        </a:rPr>
                        <a:t> 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1100" u="none" strike="noStrike">
                          <a:effectLst/>
                        </a:rPr>
                        <a:t> 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1100" u="none" strike="noStrike">
                          <a:effectLst/>
                        </a:rPr>
                        <a:t> 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1100" u="none" strike="noStrike">
                          <a:effectLst/>
                        </a:rPr>
                        <a:t> 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1100" u="none" strike="noStrike">
                          <a:effectLst/>
                        </a:rPr>
                        <a:t> 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1100" u="none" strike="noStrike">
                          <a:effectLst/>
                        </a:rPr>
                        <a:t> 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1100" u="none" strike="noStrike">
                          <a:effectLst/>
                        </a:rPr>
                        <a:t> 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1100" u="none" strike="noStrike">
                          <a:effectLst/>
                        </a:rPr>
                        <a:t> 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1100" u="none" strike="noStrike">
                          <a:effectLst/>
                        </a:rPr>
                        <a:t> 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1100" u="none" strike="noStrike">
                          <a:effectLst/>
                        </a:rPr>
                        <a:t> 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1100" u="none" strike="noStrike">
                          <a:effectLst/>
                        </a:rPr>
                        <a:t> 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770046495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fontAlgn="b"/>
                      <a:r>
                        <a:rPr lang="en-ID" sz="1100" u="none" strike="noStrike">
                          <a:effectLst/>
                        </a:rPr>
                        <a:t>Vce=6v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1100" u="none" strike="noStrike">
                          <a:effectLst/>
                        </a:rPr>
                        <a:t>Ib (uA)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1100" u="none" strike="noStrike">
                          <a:effectLst/>
                        </a:rPr>
                        <a:t>0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1100" u="none" strike="noStrike">
                          <a:effectLst/>
                        </a:rPr>
                        <a:t>10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1100" u="none" strike="noStrike">
                          <a:effectLst/>
                        </a:rPr>
                        <a:t>20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1100" u="none" strike="noStrike">
                          <a:effectLst/>
                        </a:rPr>
                        <a:t>30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1100" u="none" strike="noStrike">
                          <a:effectLst/>
                        </a:rPr>
                        <a:t>40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1100" u="none" strike="noStrike">
                          <a:effectLst/>
                        </a:rPr>
                        <a:t>50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1100" u="none" strike="noStrike">
                          <a:effectLst/>
                        </a:rPr>
                        <a:t>60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1100" u="none" strike="noStrike">
                          <a:effectLst/>
                        </a:rPr>
                        <a:t>70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1100" u="none" strike="noStrike">
                          <a:effectLst/>
                        </a:rPr>
                        <a:t>80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1100" u="none" strike="noStrike">
                          <a:effectLst/>
                        </a:rPr>
                        <a:t>90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1100" u="none" strike="noStrike">
                          <a:effectLst/>
                        </a:rPr>
                        <a:t>100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930210329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fontAlgn="b"/>
                      <a:r>
                        <a:rPr lang="en-ID" sz="1100" u="none" strike="noStrike">
                          <a:effectLst/>
                        </a:rPr>
                        <a:t> 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1100" u="none" strike="noStrike">
                          <a:effectLst/>
                        </a:rPr>
                        <a:t>Ic (mA)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1100" u="none" strike="noStrike">
                          <a:effectLst/>
                        </a:rPr>
                        <a:t> 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1100" u="none" strike="noStrike">
                          <a:effectLst/>
                        </a:rPr>
                        <a:t> 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1100" u="none" strike="noStrike">
                          <a:effectLst/>
                        </a:rPr>
                        <a:t> 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1100" u="none" strike="noStrike">
                          <a:effectLst/>
                        </a:rPr>
                        <a:t> 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1100" u="none" strike="noStrike">
                          <a:effectLst/>
                        </a:rPr>
                        <a:t> 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1100" u="none" strike="noStrike">
                          <a:effectLst/>
                        </a:rPr>
                        <a:t> 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1100" u="none" strike="noStrike">
                          <a:effectLst/>
                        </a:rPr>
                        <a:t> 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1100" u="none" strike="noStrike">
                          <a:effectLst/>
                        </a:rPr>
                        <a:t> 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1100" u="none" strike="noStrike">
                          <a:effectLst/>
                        </a:rPr>
                        <a:t> 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1100" u="none" strike="noStrike">
                          <a:effectLst/>
                        </a:rPr>
                        <a:t> 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1100" u="none" strike="noStrike">
                          <a:effectLst/>
                        </a:rPr>
                        <a:t> 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311095255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fontAlgn="b"/>
                      <a:r>
                        <a:rPr lang="en-ID" sz="1100" u="none" strike="noStrike">
                          <a:effectLst/>
                        </a:rPr>
                        <a:t>Vce=8v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1100" u="none" strike="noStrike">
                          <a:effectLst/>
                        </a:rPr>
                        <a:t>Ib (uA)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1100" u="none" strike="noStrike">
                          <a:effectLst/>
                        </a:rPr>
                        <a:t>0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1100" u="none" strike="noStrike">
                          <a:effectLst/>
                        </a:rPr>
                        <a:t>10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1100" u="none" strike="noStrike">
                          <a:effectLst/>
                        </a:rPr>
                        <a:t>20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1100" u="none" strike="noStrike">
                          <a:effectLst/>
                        </a:rPr>
                        <a:t>30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1100" u="none" strike="noStrike">
                          <a:effectLst/>
                        </a:rPr>
                        <a:t>40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1100" u="none" strike="noStrike">
                          <a:effectLst/>
                        </a:rPr>
                        <a:t>50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1100" u="none" strike="noStrike">
                          <a:effectLst/>
                        </a:rPr>
                        <a:t>60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1100" u="none" strike="noStrike">
                          <a:effectLst/>
                        </a:rPr>
                        <a:t>70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1100" u="none" strike="noStrike">
                          <a:effectLst/>
                        </a:rPr>
                        <a:t>80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1100" u="none" strike="noStrike">
                          <a:effectLst/>
                        </a:rPr>
                        <a:t>90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1100" u="none" strike="noStrike">
                          <a:effectLst/>
                        </a:rPr>
                        <a:t>100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150789332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fontAlgn="b"/>
                      <a:r>
                        <a:rPr lang="en-ID" sz="1100" u="none" strike="noStrike">
                          <a:effectLst/>
                        </a:rPr>
                        <a:t> 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1100" u="none" strike="noStrike">
                          <a:effectLst/>
                        </a:rPr>
                        <a:t>Ic (mA)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1100" u="none" strike="noStrike">
                          <a:effectLst/>
                        </a:rPr>
                        <a:t> 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1100" u="none" strike="noStrike">
                          <a:effectLst/>
                        </a:rPr>
                        <a:t> 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1100" u="none" strike="noStrike">
                          <a:effectLst/>
                        </a:rPr>
                        <a:t> 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1100" u="none" strike="noStrike">
                          <a:effectLst/>
                        </a:rPr>
                        <a:t> 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1100" u="none" strike="noStrike">
                          <a:effectLst/>
                        </a:rPr>
                        <a:t> 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1100" u="none" strike="noStrike">
                          <a:effectLst/>
                        </a:rPr>
                        <a:t> 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1100" u="none" strike="noStrike">
                          <a:effectLst/>
                        </a:rPr>
                        <a:t> 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1100" u="none" strike="noStrike">
                          <a:effectLst/>
                        </a:rPr>
                        <a:t> 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1100" u="none" strike="noStrike">
                          <a:effectLst/>
                        </a:rPr>
                        <a:t> 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1100" u="none" strike="noStrike">
                          <a:effectLst/>
                        </a:rPr>
                        <a:t> 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1100" u="none" strike="noStrike">
                          <a:effectLst/>
                        </a:rPr>
                        <a:t> 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894793037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fontAlgn="b"/>
                      <a:r>
                        <a:rPr lang="en-ID" sz="1100" u="none" strike="noStrike">
                          <a:effectLst/>
                        </a:rPr>
                        <a:t>Vce=10v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1100" u="none" strike="noStrike">
                          <a:effectLst/>
                        </a:rPr>
                        <a:t>Ib (uA)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1100" u="none" strike="noStrike">
                          <a:effectLst/>
                        </a:rPr>
                        <a:t>0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1100" u="none" strike="noStrike">
                          <a:effectLst/>
                        </a:rPr>
                        <a:t>10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1100" u="none" strike="noStrike">
                          <a:effectLst/>
                        </a:rPr>
                        <a:t>20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1100" u="none" strike="noStrike">
                          <a:effectLst/>
                        </a:rPr>
                        <a:t>30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1100" u="none" strike="noStrike">
                          <a:effectLst/>
                        </a:rPr>
                        <a:t>40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1100" u="none" strike="noStrike">
                          <a:effectLst/>
                        </a:rPr>
                        <a:t>50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1100" u="none" strike="noStrike">
                          <a:effectLst/>
                        </a:rPr>
                        <a:t>60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1100" u="none" strike="noStrike">
                          <a:effectLst/>
                        </a:rPr>
                        <a:t>70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1100" u="none" strike="noStrike">
                          <a:effectLst/>
                        </a:rPr>
                        <a:t>80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1100" u="none" strike="noStrike">
                          <a:effectLst/>
                        </a:rPr>
                        <a:t>90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1100" u="none" strike="noStrike">
                          <a:effectLst/>
                        </a:rPr>
                        <a:t>100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716509431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fontAlgn="b"/>
                      <a:r>
                        <a:rPr lang="en-ID" sz="1100" u="none" strike="noStrike">
                          <a:effectLst/>
                        </a:rPr>
                        <a:t> 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1100" u="none" strike="noStrike">
                          <a:effectLst/>
                        </a:rPr>
                        <a:t>Ic (mA)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1100" u="none" strike="noStrike">
                          <a:effectLst/>
                        </a:rPr>
                        <a:t> 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1100" u="none" strike="noStrike">
                          <a:effectLst/>
                        </a:rPr>
                        <a:t> 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1100" u="none" strike="noStrike">
                          <a:effectLst/>
                        </a:rPr>
                        <a:t> 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1100" u="none" strike="noStrike">
                          <a:effectLst/>
                        </a:rPr>
                        <a:t> 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1100" u="none" strike="noStrike">
                          <a:effectLst/>
                        </a:rPr>
                        <a:t> 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1100" u="none" strike="noStrike">
                          <a:effectLst/>
                        </a:rPr>
                        <a:t> 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1100" u="none" strike="noStrike">
                          <a:effectLst/>
                        </a:rPr>
                        <a:t> 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1100" u="none" strike="noStrike">
                          <a:effectLst/>
                        </a:rPr>
                        <a:t> 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1100" u="none" strike="noStrike">
                          <a:effectLst/>
                        </a:rPr>
                        <a:t> 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1100" u="none" strike="noStrike">
                          <a:effectLst/>
                        </a:rPr>
                        <a:t> 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1100" u="none" strike="noStrike">
                          <a:effectLst/>
                        </a:rPr>
                        <a:t> 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83409098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82289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1173</TotalTime>
  <Words>936</Words>
  <Application>Microsoft Office PowerPoint</Application>
  <PresentationFormat>Widescreen</PresentationFormat>
  <Paragraphs>480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Office Theme</vt:lpstr>
      <vt:lpstr>Jobsheet Grafik Karakteristik Transistor BJT</vt:lpstr>
      <vt:lpstr>Grafik Karakteristik Input</vt:lpstr>
      <vt:lpstr>Tabel Pengukuran Grafik Karakteristik Input</vt:lpstr>
      <vt:lpstr>Grafik Karakteristik Output</vt:lpstr>
      <vt:lpstr>Tabel Pengukuran Grafik Karakteristik Output</vt:lpstr>
      <vt:lpstr>Grafik Karakteristik Transfer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account</dc:creator>
  <cp:lastModifiedBy>erilmozef@yahoo.com</cp:lastModifiedBy>
  <cp:revision>26</cp:revision>
  <dcterms:created xsi:type="dcterms:W3CDTF">2024-04-25T05:33:30Z</dcterms:created>
  <dcterms:modified xsi:type="dcterms:W3CDTF">2025-04-23T22:06:19Z</dcterms:modified>
</cp:coreProperties>
</file>