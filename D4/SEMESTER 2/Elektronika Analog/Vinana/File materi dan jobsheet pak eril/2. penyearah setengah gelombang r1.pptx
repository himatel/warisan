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86" r:id="rId3"/>
    <p:sldId id="257" r:id="rId4"/>
    <p:sldId id="258" r:id="rId5"/>
    <p:sldId id="259" r:id="rId6"/>
    <p:sldId id="261" r:id="rId7"/>
    <p:sldId id="289" r:id="rId8"/>
    <p:sldId id="266" r:id="rId9"/>
    <p:sldId id="265" r:id="rId10"/>
    <p:sldId id="290" r:id="rId11"/>
    <p:sldId id="28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5196" autoAdjust="0"/>
  </p:normalViewPr>
  <p:slideViewPr>
    <p:cSldViewPr snapToGrid="0">
      <p:cViewPr>
        <p:scale>
          <a:sx n="90" d="100"/>
          <a:sy n="90" d="100"/>
        </p:scale>
        <p:origin x="398" y="-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91439" cy="91439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510C07-338C-4CE1-94D5-B595E37FE6AB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419459-8FD6-47F0-9A3F-653623863C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9486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Sumber tegangan ac bisa berupa function</a:t>
            </a:r>
            <a:r>
              <a:rPr lang="en-US" baseline="0"/>
              <a:t> generator (atas) ataupun sumber listrik melalui perantara trafo (bawah).</a:t>
            </a:r>
          </a:p>
          <a:p>
            <a:r>
              <a:rPr lang="en-US" baseline="0"/>
              <a:t>Sumber tegangan AC ini mengeluarkan tegangan sinusoidal.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419459-8FD6-47F0-9A3F-653623863C8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1395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419459-8FD6-47F0-9A3F-653623863C8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7062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419459-8FD6-47F0-9A3F-653623863C8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9446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9F18B-FEFD-4D30-85DF-1A28850C3E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25DF2E-6F7E-4A47-B2DF-89AB96D9A0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8607ED-F36A-43F6-8AEA-B4A4664CD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B2334-333B-48F0-AFD2-8D0201D72261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B9CC6C-8677-422B-9EF8-71594139E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101E09-5FC2-43DE-984C-CF8BC696D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981B7-72AF-40BA-9332-C8F274A4F9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765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F2D83-BB6F-4126-A524-73CA75AC0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2A8F53-FA31-4485-A585-5BBDF6C839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6C247A-3EE9-4AA9-A0D6-D6C8986BA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B2334-333B-48F0-AFD2-8D0201D72261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7FE26D-468A-4492-8973-21D4191BB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85B6A-3582-4DE6-A06F-0DC0B77F5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981B7-72AF-40BA-9332-C8F274A4F9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333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5A409-E51A-4AEC-A6D2-8C146121F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E4CFE9-CE48-4D76-8C34-9EEB41DE36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44150C-042E-4D88-8ED4-77AEC3343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B2334-333B-48F0-AFD2-8D0201D72261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6734-3181-4D38-AFC0-ACF269C64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497EFC-443A-448A-8CDC-12F82FF47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981B7-72AF-40BA-9332-C8F274A4F9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236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2ECB0-F235-4628-B4D6-D04E59665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BCF7B9-67BD-47F5-B456-752792A6ED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6BDCEC-7DB8-4524-9FAA-F93C530931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96D174-65A4-4DFF-AF07-747E50C7B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B2334-333B-48F0-AFD2-8D0201D72261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0C03A7-3C1B-4E18-B7D1-4BC98114B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B00573-D971-4612-9FFB-CA395D440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981B7-72AF-40BA-9332-C8F274A4F9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1395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70005-4A55-4EF0-B38D-B42579D96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0CEB95-7B90-4840-B595-06307A82D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DDD2EF-B2B1-41EE-9326-2BA2FE513E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DE086D-126A-4F6D-89E4-C0FBF8FE9E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D0AB44-E823-4A71-8E89-7E6024BDB9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4C69D4-7E27-42E1-875A-EE646CDBC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B2334-333B-48F0-AFD2-8D0201D72261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227338-7C30-4B63-9009-0A1931CF2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19ED14-102D-4E33-B4D4-331E83592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981B7-72AF-40BA-9332-C8F274A4F9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926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3332B-86D6-4A62-8295-5BC73F10E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A5F8D4-C9C8-4065-9871-8433BA66E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B2334-333B-48F0-AFD2-8D0201D72261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E4B864-0A10-4F56-BF05-41467A5A6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253CEA-8D55-478A-B792-3D7020973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981B7-72AF-40BA-9332-C8F274A4F9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596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511EBC-2736-47D7-B673-24E6C571C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B2334-333B-48F0-AFD2-8D0201D72261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9A6211-4C57-4B9A-8EED-673959A71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934A31-5B3B-4E90-A703-E3AB9A1F5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981B7-72AF-40BA-9332-C8F274A4F9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256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B9D3C-0A8D-48C5-93DF-2EB1F722D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ADC0F-9ED7-4C79-AB74-5EC1BBBE63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2C2E19-BCD7-4FEC-BA3D-36D5877841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AD3330-A72C-44FB-B606-7727AEE7F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B2334-333B-48F0-AFD2-8D0201D72261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09FEE8-4C88-4714-8F7A-E338BCD33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F0C762-5EC0-4B46-B9B6-717D0324C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981B7-72AF-40BA-9332-C8F274A4F9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080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D71AF-1967-4C63-9A43-F21451EB7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CD30A0-C2EF-4698-90B6-E159241719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09BDD6-0829-42DF-B074-0B261DDE26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717545-CC59-462E-91BC-663895C94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B2334-333B-48F0-AFD2-8D0201D72261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901A16-7695-474D-A047-BE508FC4D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98E090-6993-49B6-8B75-99C8E1FFA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981B7-72AF-40BA-9332-C8F274A4F9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4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6427B-99AF-47E9-9AB9-A82098980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CCBCD8-8C85-4D24-9317-362F7528EE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619A5D-A72B-4677-B800-58B58F497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B2334-333B-48F0-AFD2-8D0201D72261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6B3804-21BD-49C5-B773-C3CDDE0AE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554A5B-51CC-4B3D-B729-2F7F11767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981B7-72AF-40BA-9332-C8F274A4F9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3456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F25C36-D277-4B93-ABB7-F95E5CFA99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314E3A-7F23-417C-9AF5-C63DE8042F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3052EC-5249-4A5C-8D4E-CC486E897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B2334-333B-48F0-AFD2-8D0201D72261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A09E6-D86A-4458-9D78-B97548235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55744B-89D6-4B67-A012-76CB276FA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981B7-72AF-40BA-9332-C8F274A4F9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969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0C9E7D-FCAC-46E5-A73C-43961E5CF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7199C8-CE43-4A0D-808E-F770E53552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2774AC-62A9-44EB-9E2C-42C1E2307E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2B2334-333B-48F0-AFD2-8D0201D72261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5D697F-9698-40B2-B58D-88EBE278FC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36A18E-CE87-42E7-9D02-5EF25FB43C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D981B7-72AF-40BA-9332-C8F274A4F9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318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53892-65BE-4A1F-B35A-1167D73C8C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0504" y="1214438"/>
            <a:ext cx="9144000" cy="2387600"/>
          </a:xfrm>
        </p:spPr>
        <p:txBody>
          <a:bodyPr>
            <a:normAutofit/>
          </a:bodyPr>
          <a:lstStyle/>
          <a:p>
            <a:r>
              <a:rPr lang="en-US" sz="3200"/>
              <a:t>Penyearah Setengah Gelombang</a:t>
            </a:r>
            <a:br>
              <a:rPr lang="en-US" sz="3200"/>
            </a:br>
            <a:endParaRPr lang="en-US" sz="20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5A7A2F-E757-4C23-8CA4-BD903353FA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83917"/>
            <a:ext cx="9144000" cy="1655762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0822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Materi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/>
              <a:t>RANGKAIAN PENYEARAH (RECTIFIER)</a:t>
            </a:r>
          </a:p>
          <a:p>
            <a:pPr lvl="1"/>
            <a:r>
              <a:rPr lang="en-US">
                <a:solidFill>
                  <a:srgbClr val="FF0000"/>
                </a:solidFill>
              </a:rPr>
              <a:t>rangkaian penyearah setengah gelombang</a:t>
            </a:r>
          </a:p>
          <a:p>
            <a:pPr lvl="1"/>
            <a:r>
              <a:rPr lang="en-US">
                <a:solidFill>
                  <a:srgbClr val="FF0000"/>
                </a:solidFill>
              </a:rPr>
              <a:t>Rangkaian penyearah gelombang penuh</a:t>
            </a:r>
          </a:p>
          <a:p>
            <a:pPr lvl="2"/>
            <a:r>
              <a:rPr lang="en-US"/>
              <a:t>Rangkaian penyearah gelombang penuh dengan </a:t>
            </a:r>
            <a:r>
              <a:rPr lang="en-US">
                <a:solidFill>
                  <a:srgbClr val="FF0000"/>
                </a:solidFill>
              </a:rPr>
              <a:t>dioda bridge</a:t>
            </a:r>
          </a:p>
          <a:p>
            <a:pPr lvl="2"/>
            <a:r>
              <a:rPr lang="en-US"/>
              <a:t>Rangkaian penyearah gelombang penuh dengan </a:t>
            </a:r>
            <a:r>
              <a:rPr lang="en-US">
                <a:solidFill>
                  <a:srgbClr val="FF0000"/>
                </a:solidFill>
              </a:rPr>
              <a:t>center tap</a:t>
            </a:r>
          </a:p>
          <a:p>
            <a:pPr lvl="2"/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031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8A54DAA-559C-4E9A-89D9-CC26E5175C4F}"/>
              </a:ext>
            </a:extLst>
          </p:cNvPr>
          <p:cNvSpPr txBox="1"/>
          <p:nvPr/>
        </p:nvSpPr>
        <p:spPr>
          <a:xfrm>
            <a:off x="1881809" y="3203210"/>
            <a:ext cx="79380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Referensi</a:t>
            </a:r>
            <a:r>
              <a:rPr lang="en-US" dirty="0"/>
              <a:t> :</a:t>
            </a:r>
          </a:p>
          <a:p>
            <a:r>
              <a:rPr lang="en-US" dirty="0"/>
              <a:t>Electronics devices and circuit theory, ROBERT BOYLESTAD </a:t>
            </a:r>
            <a:r>
              <a:rPr lang="en-US"/>
              <a:t>LOUIS NASHELSKY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59624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E570C7A-90A8-4F7F-81FE-54093FB68AD6}"/>
              </a:ext>
            </a:extLst>
          </p:cNvPr>
          <p:cNvSpPr txBox="1"/>
          <p:nvPr/>
        </p:nvSpPr>
        <p:spPr>
          <a:xfrm>
            <a:off x="993913" y="756238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RANGKAIAN PENYEARAH (RECTIFIER)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3BE2B5-1BE0-4A9F-9036-4BB0815ED8E9}"/>
              </a:ext>
            </a:extLst>
          </p:cNvPr>
          <p:cNvSpPr txBox="1"/>
          <p:nvPr/>
        </p:nvSpPr>
        <p:spPr>
          <a:xfrm>
            <a:off x="993913" y="1449242"/>
            <a:ext cx="97536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/>
              <a:t>Rangkaian</a:t>
            </a:r>
            <a:r>
              <a:rPr lang="en-US" sz="2400" dirty="0"/>
              <a:t> </a:t>
            </a:r>
            <a:r>
              <a:rPr lang="en-US" sz="2400" dirty="0" err="1"/>
              <a:t>penyearah</a:t>
            </a:r>
            <a:r>
              <a:rPr lang="en-US" sz="2400" dirty="0"/>
              <a:t> </a:t>
            </a:r>
            <a:r>
              <a:rPr lang="en-US" sz="2400" dirty="0" err="1"/>
              <a:t>gelombang</a:t>
            </a:r>
            <a:r>
              <a:rPr lang="en-US" sz="2400" dirty="0"/>
              <a:t> </a:t>
            </a:r>
            <a:r>
              <a:rPr lang="en-US" sz="2400" dirty="0" err="1"/>
              <a:t>merupakan</a:t>
            </a:r>
            <a:r>
              <a:rPr lang="en-US" sz="2400" dirty="0"/>
              <a:t> </a:t>
            </a:r>
            <a:r>
              <a:rPr lang="en-US" sz="2400" dirty="0" err="1"/>
              <a:t>rangkaian</a:t>
            </a:r>
            <a:r>
              <a:rPr lang="en-US" sz="2400" dirty="0"/>
              <a:t> yang </a:t>
            </a:r>
            <a:r>
              <a:rPr lang="en-US" sz="2400" dirty="0" err="1"/>
              <a:t>berfungsi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merubah</a:t>
            </a:r>
            <a:r>
              <a:rPr lang="en-US" sz="2400" dirty="0"/>
              <a:t> </a:t>
            </a:r>
            <a:r>
              <a:rPr lang="en-US" sz="2400" dirty="0" err="1"/>
              <a:t>arus</a:t>
            </a:r>
            <a:r>
              <a:rPr lang="en-US" sz="2400" dirty="0"/>
              <a:t> </a:t>
            </a:r>
            <a:r>
              <a:rPr lang="en-US" sz="2400" dirty="0" err="1"/>
              <a:t>bolak-balik</a:t>
            </a:r>
            <a:r>
              <a:rPr lang="en-US" sz="2400" dirty="0"/>
              <a:t> (alternating current/AC) </a:t>
            </a:r>
            <a:r>
              <a:rPr lang="en-US" sz="2400" dirty="0" err="1"/>
              <a:t>menjadi</a:t>
            </a:r>
            <a:r>
              <a:rPr lang="en-US" sz="2400" dirty="0"/>
              <a:t> </a:t>
            </a:r>
            <a:r>
              <a:rPr lang="en-US" sz="2400" dirty="0" err="1"/>
              <a:t>arus</a:t>
            </a:r>
            <a:r>
              <a:rPr lang="en-US" sz="2400" dirty="0"/>
              <a:t> </a:t>
            </a:r>
            <a:r>
              <a:rPr lang="en-US" sz="2400" dirty="0" err="1"/>
              <a:t>searah</a:t>
            </a:r>
            <a:r>
              <a:rPr lang="en-US" sz="2400" dirty="0"/>
              <a:t> (</a:t>
            </a:r>
            <a:r>
              <a:rPr lang="en-US" sz="2400" dirty="0" err="1"/>
              <a:t>Dirrect</a:t>
            </a:r>
            <a:r>
              <a:rPr lang="en-US" sz="2400" dirty="0"/>
              <a:t> Current/DC). </a:t>
            </a:r>
          </a:p>
          <a:p>
            <a:endParaRPr lang="en-US" sz="2400" dirty="0"/>
          </a:p>
          <a:p>
            <a:r>
              <a:rPr lang="en-US" sz="2400" dirty="0" err="1"/>
              <a:t>Komponen</a:t>
            </a:r>
            <a:r>
              <a:rPr lang="en-US" sz="2400" dirty="0"/>
              <a:t> </a:t>
            </a:r>
            <a:r>
              <a:rPr lang="en-US" sz="2400" dirty="0" err="1"/>
              <a:t>elektronika</a:t>
            </a:r>
            <a:r>
              <a:rPr lang="en-US" sz="2400" dirty="0"/>
              <a:t> yang </a:t>
            </a:r>
            <a:r>
              <a:rPr lang="en-US" sz="2400" dirty="0" err="1"/>
              <a:t>berfungsi</a:t>
            </a:r>
            <a:r>
              <a:rPr lang="en-US" sz="2400" dirty="0"/>
              <a:t> </a:t>
            </a:r>
            <a:r>
              <a:rPr lang="en-US" sz="2400" dirty="0" err="1"/>
              <a:t>sebagai</a:t>
            </a:r>
            <a:r>
              <a:rPr lang="en-US" sz="2400" dirty="0"/>
              <a:t> </a:t>
            </a:r>
            <a:r>
              <a:rPr lang="en-US" sz="2400" dirty="0" err="1"/>
              <a:t>penyearah</a:t>
            </a:r>
            <a:r>
              <a:rPr lang="en-US" sz="2400" dirty="0"/>
              <a:t> </a:t>
            </a:r>
            <a:r>
              <a:rPr lang="en-US" sz="2400" dirty="0" err="1"/>
              <a:t>adalah</a:t>
            </a:r>
            <a:r>
              <a:rPr lang="en-US" sz="2400" dirty="0"/>
              <a:t> diode, </a:t>
            </a:r>
            <a:r>
              <a:rPr lang="en-US" sz="2400" dirty="0" err="1"/>
              <a:t>karena</a:t>
            </a:r>
            <a:r>
              <a:rPr lang="en-US" sz="2400" dirty="0"/>
              <a:t> diode </a:t>
            </a:r>
            <a:r>
              <a:rPr lang="en-US" sz="2400" dirty="0" err="1"/>
              <a:t>memiliki</a:t>
            </a:r>
            <a:r>
              <a:rPr lang="en-US" sz="2400" dirty="0"/>
              <a:t> </a:t>
            </a:r>
            <a:r>
              <a:rPr lang="en-US" sz="2400" dirty="0" err="1"/>
              <a:t>sifat</a:t>
            </a:r>
            <a:r>
              <a:rPr lang="en-US" sz="2400" dirty="0"/>
              <a:t> </a:t>
            </a:r>
            <a:r>
              <a:rPr lang="en-US" sz="2400" dirty="0" err="1"/>
              <a:t>hanya</a:t>
            </a:r>
            <a:r>
              <a:rPr lang="en-US" sz="2400" dirty="0"/>
              <a:t> </a:t>
            </a:r>
            <a:r>
              <a:rPr lang="en-US" sz="2400" dirty="0" err="1"/>
              <a:t>memperbolehkan</a:t>
            </a:r>
            <a:r>
              <a:rPr lang="en-US" sz="2400" dirty="0"/>
              <a:t> </a:t>
            </a:r>
            <a:r>
              <a:rPr lang="en-US" sz="2400" dirty="0" err="1"/>
              <a:t>arus</a:t>
            </a:r>
            <a:r>
              <a:rPr lang="en-US" sz="2400" dirty="0"/>
              <a:t> </a:t>
            </a:r>
            <a:r>
              <a:rPr lang="en-US" sz="2400" dirty="0" err="1"/>
              <a:t>listrik</a:t>
            </a:r>
            <a:r>
              <a:rPr lang="en-US" sz="2400" dirty="0"/>
              <a:t> yang </a:t>
            </a:r>
            <a:r>
              <a:rPr lang="en-US" sz="2400" dirty="0" err="1"/>
              <a:t>melewatinya</a:t>
            </a:r>
            <a:r>
              <a:rPr lang="en-US" sz="2400" dirty="0"/>
              <a:t> </a:t>
            </a:r>
            <a:r>
              <a:rPr lang="en-US" sz="2400" dirty="0" err="1"/>
              <a:t>dalam</a:t>
            </a:r>
            <a:r>
              <a:rPr lang="en-US" sz="2400" dirty="0"/>
              <a:t> </a:t>
            </a:r>
            <a:r>
              <a:rPr lang="en-US" sz="2400" dirty="0" err="1"/>
              <a:t>satu</a:t>
            </a:r>
            <a:r>
              <a:rPr lang="en-US" sz="2400" dirty="0"/>
              <a:t> </a:t>
            </a:r>
            <a:r>
              <a:rPr lang="en-US" sz="2400" dirty="0" err="1"/>
              <a:t>arah</a:t>
            </a:r>
            <a:r>
              <a:rPr lang="en-US" sz="2400" dirty="0"/>
              <a:t> </a:t>
            </a:r>
            <a:r>
              <a:rPr lang="en-US" sz="2400" dirty="0" err="1"/>
              <a:t>saja</a:t>
            </a:r>
            <a:r>
              <a:rPr lang="en-US" sz="2400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E81115-5377-4F5A-9AF5-2C74E45411E0}"/>
              </a:ext>
            </a:extLst>
          </p:cNvPr>
          <p:cNvSpPr txBox="1"/>
          <p:nvPr/>
        </p:nvSpPr>
        <p:spPr>
          <a:xfrm>
            <a:off x="993913" y="4358237"/>
            <a:ext cx="913074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RANGKAIAN PENYEARAH TERBAGI ATAS:</a:t>
            </a:r>
          </a:p>
          <a:p>
            <a:r>
              <a:rPr lang="en-US" sz="2400" dirty="0"/>
              <a:t>1.  </a:t>
            </a:r>
            <a:r>
              <a:rPr lang="en-US" sz="2400" dirty="0" err="1"/>
              <a:t>Rangkaian</a:t>
            </a:r>
            <a:r>
              <a:rPr lang="en-US" sz="2400" dirty="0"/>
              <a:t> </a:t>
            </a:r>
            <a:r>
              <a:rPr lang="en-US" sz="2400" dirty="0" err="1"/>
              <a:t>penyearah</a:t>
            </a:r>
            <a:r>
              <a:rPr lang="en-US" sz="2400" dirty="0"/>
              <a:t> </a:t>
            </a:r>
            <a:r>
              <a:rPr lang="en-US" sz="2400" dirty="0" err="1"/>
              <a:t>setengah</a:t>
            </a:r>
            <a:r>
              <a:rPr lang="en-US" sz="2400" dirty="0"/>
              <a:t> </a:t>
            </a:r>
            <a:r>
              <a:rPr lang="en-US" sz="2400" dirty="0" err="1"/>
              <a:t>gelombang</a:t>
            </a:r>
            <a:endParaRPr lang="en-US" sz="2400" dirty="0"/>
          </a:p>
          <a:p>
            <a:r>
              <a:rPr lang="en-US" sz="2400" dirty="0"/>
              <a:t>2.  </a:t>
            </a:r>
            <a:r>
              <a:rPr lang="en-US" sz="2400" dirty="0" err="1"/>
              <a:t>Rangkaian</a:t>
            </a:r>
            <a:r>
              <a:rPr lang="en-US" sz="2400" dirty="0"/>
              <a:t> </a:t>
            </a:r>
            <a:r>
              <a:rPr lang="en-US" sz="2400" dirty="0" err="1"/>
              <a:t>penyearah</a:t>
            </a:r>
            <a:r>
              <a:rPr lang="en-US" sz="2400" dirty="0"/>
              <a:t> </a:t>
            </a:r>
            <a:r>
              <a:rPr lang="en-US" sz="2400" dirty="0" err="1"/>
              <a:t>gelombang</a:t>
            </a:r>
            <a:r>
              <a:rPr lang="en-US" sz="2400" dirty="0"/>
              <a:t> </a:t>
            </a:r>
            <a:r>
              <a:rPr lang="en-US" sz="2400" dirty="0" err="1"/>
              <a:t>penuh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456855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EDBE13D-898C-4E6C-9DE2-960CF8CD48CD}"/>
              </a:ext>
            </a:extLst>
          </p:cNvPr>
          <p:cNvSpPr txBox="1"/>
          <p:nvPr/>
        </p:nvSpPr>
        <p:spPr>
          <a:xfrm>
            <a:off x="800440" y="789297"/>
            <a:ext cx="70236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/>
              <a:t>1. RANGKAIAN </a:t>
            </a:r>
            <a:r>
              <a:rPr lang="en-US" sz="2400" b="1" dirty="0"/>
              <a:t>PENYEARAH SETENGAH GELOMBANG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91F816-BA82-4077-83CD-F7CA14864AE9}"/>
              </a:ext>
            </a:extLst>
          </p:cNvPr>
          <p:cNvSpPr txBox="1"/>
          <p:nvPr/>
        </p:nvSpPr>
        <p:spPr>
          <a:xfrm>
            <a:off x="1497496" y="1393639"/>
            <a:ext cx="943554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/>
              <a:t>Merupakan</a:t>
            </a:r>
            <a:r>
              <a:rPr lang="en-US" sz="2400" dirty="0"/>
              <a:t> </a:t>
            </a:r>
            <a:r>
              <a:rPr lang="en-US" sz="2400" dirty="0" err="1"/>
              <a:t>rangkaian</a:t>
            </a:r>
            <a:r>
              <a:rPr lang="en-US" sz="2400" dirty="0"/>
              <a:t> </a:t>
            </a:r>
            <a:r>
              <a:rPr lang="en-US" sz="2400" dirty="0" err="1"/>
              <a:t>penyearah</a:t>
            </a:r>
            <a:r>
              <a:rPr lang="en-US" sz="2400" dirty="0"/>
              <a:t> </a:t>
            </a:r>
            <a:r>
              <a:rPr lang="en-US" sz="2400" dirty="0" err="1"/>
              <a:t>sederhana</a:t>
            </a:r>
            <a:r>
              <a:rPr lang="en-US" sz="2400" dirty="0"/>
              <a:t> yang </a:t>
            </a:r>
            <a:r>
              <a:rPr lang="en-US" sz="2400" dirty="0" err="1"/>
              <a:t>hanya</a:t>
            </a:r>
            <a:r>
              <a:rPr lang="en-US" sz="2400" dirty="0"/>
              <a:t> </a:t>
            </a:r>
            <a:r>
              <a:rPr lang="en-US" sz="2400" dirty="0" err="1"/>
              <a:t>dibangun</a:t>
            </a:r>
            <a:r>
              <a:rPr lang="en-US" sz="2400" dirty="0"/>
              <a:t> </a:t>
            </a:r>
            <a:r>
              <a:rPr lang="en-US" sz="2400" dirty="0" err="1"/>
              <a:t>menggunakan</a:t>
            </a:r>
            <a:r>
              <a:rPr lang="en-US" sz="2400" dirty="0"/>
              <a:t> </a:t>
            </a:r>
            <a:r>
              <a:rPr lang="en-US" sz="2400" dirty="0" err="1"/>
              <a:t>satu</a:t>
            </a:r>
            <a:r>
              <a:rPr lang="en-US" sz="2400" dirty="0"/>
              <a:t> diode </a:t>
            </a:r>
            <a:r>
              <a:rPr lang="en-US" sz="2400" dirty="0" err="1"/>
              <a:t>saja</a:t>
            </a:r>
            <a:r>
              <a:rPr lang="en-US" sz="2400" dirty="0"/>
              <a:t>, </a:t>
            </a:r>
            <a:r>
              <a:rPr lang="en-US" sz="2400" dirty="0" err="1"/>
              <a:t>seperti</a:t>
            </a:r>
            <a:r>
              <a:rPr lang="en-US" sz="2400" dirty="0"/>
              <a:t> </a:t>
            </a:r>
            <a:r>
              <a:rPr lang="en-US" sz="2400" dirty="0" err="1"/>
              <a:t>diilustrasikan</a:t>
            </a:r>
            <a:r>
              <a:rPr lang="en-US" sz="2400" dirty="0"/>
              <a:t> pada </a:t>
            </a:r>
            <a:r>
              <a:rPr lang="en-US" sz="2400" dirty="0" err="1"/>
              <a:t>gambar</a:t>
            </a:r>
            <a:r>
              <a:rPr lang="en-US" sz="2400" dirty="0"/>
              <a:t> </a:t>
            </a:r>
            <a:r>
              <a:rPr lang="en-US" sz="2400" dirty="0" err="1"/>
              <a:t>berikut</a:t>
            </a:r>
            <a:r>
              <a:rPr lang="en-US" sz="2400" dirty="0"/>
              <a:t>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4A2C91D-24A6-4886-96B9-DC414A4EC7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8437" y="2420935"/>
            <a:ext cx="3017949" cy="16150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C0CEB1C-EDDE-470D-86BB-CF3039BCB4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440" y="4136660"/>
            <a:ext cx="5487487" cy="233684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B0F664D-E15F-4F47-A059-03EBE58545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1196" y="3228453"/>
            <a:ext cx="5105287" cy="2484154"/>
          </a:xfrm>
          <a:prstGeom prst="rect">
            <a:avLst/>
          </a:prstGeom>
        </p:spPr>
      </p:pic>
      <p:sp>
        <p:nvSpPr>
          <p:cNvPr id="2" name="Freeform 1"/>
          <p:cNvSpPr/>
          <p:nvPr/>
        </p:nvSpPr>
        <p:spPr>
          <a:xfrm>
            <a:off x="3720662" y="3654046"/>
            <a:ext cx="3184635" cy="1233264"/>
          </a:xfrm>
          <a:custGeom>
            <a:avLst/>
            <a:gdLst>
              <a:gd name="connsiteX0" fmla="*/ 3184635 w 3184635"/>
              <a:gd name="connsiteY0" fmla="*/ 245292 h 1233264"/>
              <a:gd name="connsiteX1" fmla="*/ 1576552 w 3184635"/>
              <a:gd name="connsiteY1" fmla="*/ 66616 h 1233264"/>
              <a:gd name="connsiteX2" fmla="*/ 0 w 3184635"/>
              <a:gd name="connsiteY2" fmla="*/ 1233264 h 1233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84635" h="1233264">
                <a:moveTo>
                  <a:pt x="3184635" y="245292"/>
                </a:moveTo>
                <a:cubicBezTo>
                  <a:pt x="2645979" y="73623"/>
                  <a:pt x="2107324" y="-98046"/>
                  <a:pt x="1576552" y="66616"/>
                </a:cubicBezTo>
                <a:cubicBezTo>
                  <a:pt x="1045780" y="231278"/>
                  <a:pt x="522890" y="732271"/>
                  <a:pt x="0" y="1233264"/>
                </a:cubicBez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364707" y="3116820"/>
            <a:ext cx="16711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Tanpa Transformator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69710" y="6389530"/>
            <a:ext cx="2461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Dengan Transformator</a:t>
            </a:r>
          </a:p>
        </p:txBody>
      </p:sp>
      <p:sp>
        <p:nvSpPr>
          <p:cNvPr id="10" name="Freeform 9"/>
          <p:cNvSpPr/>
          <p:nvPr/>
        </p:nvSpPr>
        <p:spPr>
          <a:xfrm>
            <a:off x="2522483" y="1920527"/>
            <a:ext cx="4351283" cy="1957790"/>
          </a:xfrm>
          <a:custGeom>
            <a:avLst/>
            <a:gdLst>
              <a:gd name="connsiteX0" fmla="*/ 4351283 w 4351283"/>
              <a:gd name="connsiteY0" fmla="*/ 1957790 h 1957790"/>
              <a:gd name="connsiteX1" fmla="*/ 1681655 w 4351283"/>
              <a:gd name="connsiteY1" fmla="*/ 55418 h 1957790"/>
              <a:gd name="connsiteX2" fmla="*/ 0 w 4351283"/>
              <a:gd name="connsiteY2" fmla="*/ 696549 h 1957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351283" h="1957790">
                <a:moveTo>
                  <a:pt x="4351283" y="1957790"/>
                </a:moveTo>
                <a:cubicBezTo>
                  <a:pt x="3379076" y="1111707"/>
                  <a:pt x="2406869" y="265625"/>
                  <a:pt x="1681655" y="55418"/>
                </a:cubicBezTo>
                <a:cubicBezTo>
                  <a:pt x="956441" y="-154789"/>
                  <a:pt x="478220" y="270880"/>
                  <a:pt x="0" y="696549"/>
                </a:cubicBez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8916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BF58DB-B493-42D9-9605-667330B6BAB8}"/>
              </a:ext>
            </a:extLst>
          </p:cNvPr>
          <p:cNvSpPr txBox="1"/>
          <p:nvPr/>
        </p:nvSpPr>
        <p:spPr>
          <a:xfrm>
            <a:off x="967408" y="411682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err="1"/>
              <a:t>Prinsip</a:t>
            </a:r>
            <a:r>
              <a:rPr lang="en-US" sz="2400"/>
              <a:t> Kerja Penyearah Setengah Gelombang </a:t>
            </a: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2C7C3D-52E6-4F58-9D4E-106BAF14CE80}"/>
              </a:ext>
            </a:extLst>
          </p:cNvPr>
          <p:cNvSpPr txBox="1"/>
          <p:nvPr/>
        </p:nvSpPr>
        <p:spPr>
          <a:xfrm>
            <a:off x="519138" y="1128300"/>
            <a:ext cx="5128591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/>
              <a:t>Pada </a:t>
            </a:r>
            <a:r>
              <a:rPr lang="en-US" sz="2000" dirty="0" err="1"/>
              <a:t>saat</a:t>
            </a:r>
            <a:r>
              <a:rPr lang="en-US" sz="2000" dirty="0"/>
              <a:t> </a:t>
            </a:r>
            <a:r>
              <a:rPr lang="en-US" sz="2000" dirty="0" err="1"/>
              <a:t>setengah</a:t>
            </a:r>
            <a:r>
              <a:rPr lang="en-US" sz="2000" dirty="0"/>
              <a:t> </a:t>
            </a:r>
            <a:r>
              <a:rPr lang="en-US" sz="2000" dirty="0" err="1"/>
              <a:t>gelombang</a:t>
            </a:r>
            <a:r>
              <a:rPr lang="en-US" sz="2000" dirty="0"/>
              <a:t> </a:t>
            </a:r>
            <a:r>
              <a:rPr lang="en-US" sz="2000" dirty="0" err="1"/>
              <a:t>pertama</a:t>
            </a:r>
            <a:r>
              <a:rPr lang="en-US" sz="2000" dirty="0"/>
              <a:t> (</a:t>
            </a:r>
            <a:r>
              <a:rPr lang="en-US" sz="2000" dirty="0" err="1"/>
              <a:t>puncak</a:t>
            </a:r>
            <a:r>
              <a:rPr lang="en-US" sz="2000" dirty="0"/>
              <a:t>) </a:t>
            </a:r>
            <a:r>
              <a:rPr lang="en-US" sz="2000" dirty="0" err="1"/>
              <a:t>melewati</a:t>
            </a:r>
            <a:r>
              <a:rPr lang="en-US" sz="2000" dirty="0"/>
              <a:t> diode yang </a:t>
            </a:r>
            <a:r>
              <a:rPr lang="en-US" sz="2000" dirty="0" err="1"/>
              <a:t>bernilai</a:t>
            </a:r>
            <a:r>
              <a:rPr lang="en-US" sz="2000" dirty="0"/>
              <a:t> </a:t>
            </a:r>
            <a:r>
              <a:rPr lang="en-US" sz="2000" dirty="0" err="1"/>
              <a:t>positif</a:t>
            </a:r>
            <a:r>
              <a:rPr lang="en-US" sz="2000" dirty="0"/>
              <a:t> </a:t>
            </a:r>
            <a:r>
              <a:rPr lang="en-US" sz="2000" dirty="0" err="1"/>
              <a:t>menyebabkan</a:t>
            </a:r>
            <a:r>
              <a:rPr lang="en-US" sz="2000" dirty="0"/>
              <a:t> diode </a:t>
            </a:r>
            <a:r>
              <a:rPr lang="en-US" sz="2000" dirty="0" err="1"/>
              <a:t>dalam</a:t>
            </a:r>
            <a:r>
              <a:rPr lang="en-US" sz="2000" dirty="0"/>
              <a:t> </a:t>
            </a:r>
            <a:r>
              <a:rPr lang="en-US" sz="2000" dirty="0" err="1"/>
              <a:t>keadaan</a:t>
            </a:r>
            <a:r>
              <a:rPr lang="en-US" sz="2000" dirty="0"/>
              <a:t> “forward bias” </a:t>
            </a:r>
            <a:r>
              <a:rPr lang="en-US" sz="2000" dirty="0" err="1"/>
              <a:t>sehingga</a:t>
            </a:r>
            <a:r>
              <a:rPr lang="en-US" sz="2000" dirty="0"/>
              <a:t> </a:t>
            </a:r>
            <a:r>
              <a:rPr lang="en-US" sz="2000" dirty="0" err="1"/>
              <a:t>arus</a:t>
            </a:r>
            <a:r>
              <a:rPr lang="en-US" sz="2000" dirty="0"/>
              <a:t> </a:t>
            </a:r>
            <a:r>
              <a:rPr lang="en-US" sz="2000" dirty="0" err="1"/>
              <a:t>dari</a:t>
            </a:r>
            <a:r>
              <a:rPr lang="en-US" sz="2000" dirty="0"/>
              <a:t> </a:t>
            </a:r>
            <a:r>
              <a:rPr lang="en-US" sz="2000" dirty="0" err="1"/>
              <a:t>setengah</a:t>
            </a:r>
            <a:r>
              <a:rPr lang="en-US" sz="2000" dirty="0"/>
              <a:t> </a:t>
            </a:r>
            <a:r>
              <a:rPr lang="en-US" sz="2000" dirty="0" err="1"/>
              <a:t>gelombang</a:t>
            </a:r>
            <a:r>
              <a:rPr lang="en-US" sz="2000" dirty="0"/>
              <a:t> </a:t>
            </a:r>
            <a:r>
              <a:rPr lang="en-US" sz="2000" dirty="0" err="1"/>
              <a:t>pertama</a:t>
            </a:r>
            <a:r>
              <a:rPr lang="en-US" sz="2000" dirty="0"/>
              <a:t> </a:t>
            </a:r>
            <a:r>
              <a:rPr lang="en-US" sz="2000" dirty="0" err="1"/>
              <a:t>ini</a:t>
            </a:r>
            <a:r>
              <a:rPr lang="en-US" sz="2000" dirty="0"/>
              <a:t> </a:t>
            </a:r>
            <a:r>
              <a:rPr lang="en-US" sz="2000" dirty="0" err="1"/>
              <a:t>bisa</a:t>
            </a:r>
            <a:r>
              <a:rPr lang="en-US" sz="2000" dirty="0"/>
              <a:t> </a:t>
            </a:r>
            <a:r>
              <a:rPr lang="en-US" sz="2000" dirty="0" err="1"/>
              <a:t>melewati</a:t>
            </a:r>
            <a:r>
              <a:rPr lang="en-US" sz="2000" dirty="0"/>
              <a:t> </a:t>
            </a:r>
            <a:r>
              <a:rPr lang="en-US" sz="2000" err="1"/>
              <a:t>dioda</a:t>
            </a:r>
            <a:r>
              <a:rPr lang="en-US" sz="2000"/>
              <a:t>.</a:t>
            </a:r>
            <a:endParaRPr lang="en-US" sz="20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545A0ED-4EDA-4207-B1F1-9E67D047EC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724" y="3194108"/>
            <a:ext cx="5322269" cy="1542422"/>
          </a:xfrm>
          <a:prstGeom prst="rect">
            <a:avLst/>
          </a:prstGeom>
        </p:spPr>
      </p:pic>
      <p:sp>
        <p:nvSpPr>
          <p:cNvPr id="21" name="Freeform 4"/>
          <p:cNvSpPr/>
          <p:nvPr/>
        </p:nvSpPr>
        <p:spPr>
          <a:xfrm>
            <a:off x="3803959" y="2991962"/>
            <a:ext cx="945931" cy="755516"/>
          </a:xfrm>
          <a:custGeom>
            <a:avLst/>
            <a:gdLst>
              <a:gd name="connsiteX0" fmla="*/ 0 w 945931"/>
              <a:gd name="connsiteY0" fmla="*/ 282550 h 755516"/>
              <a:gd name="connsiteX1" fmla="*/ 662151 w 945931"/>
              <a:gd name="connsiteY1" fmla="*/ 19791 h 755516"/>
              <a:gd name="connsiteX2" fmla="*/ 945931 w 945931"/>
              <a:gd name="connsiteY2" fmla="*/ 755516 h 755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45931" h="755516">
                <a:moveTo>
                  <a:pt x="0" y="282550"/>
                </a:moveTo>
                <a:cubicBezTo>
                  <a:pt x="252248" y="111756"/>
                  <a:pt x="504496" y="-59037"/>
                  <a:pt x="662151" y="19791"/>
                </a:cubicBezTo>
                <a:cubicBezTo>
                  <a:pt x="819806" y="98619"/>
                  <a:pt x="882868" y="427067"/>
                  <a:pt x="945931" y="755516"/>
                </a:cubicBez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D40507A-97C2-D001-F5FC-C888CE341F75}"/>
              </a:ext>
            </a:extLst>
          </p:cNvPr>
          <p:cNvSpPr/>
          <p:nvPr/>
        </p:nvSpPr>
        <p:spPr>
          <a:xfrm>
            <a:off x="11027018" y="3710341"/>
            <a:ext cx="193040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0182D2B-ACE0-9F97-0858-0F96BBAA6E89}"/>
              </a:ext>
            </a:extLst>
          </p:cNvPr>
          <p:cNvSpPr/>
          <p:nvPr/>
        </p:nvSpPr>
        <p:spPr>
          <a:xfrm>
            <a:off x="11191925" y="3747477"/>
            <a:ext cx="282478" cy="1813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B36629C-C3C4-80C7-ACEC-566300608985}"/>
              </a:ext>
            </a:extLst>
          </p:cNvPr>
          <p:cNvSpPr txBox="1"/>
          <p:nvPr/>
        </p:nvSpPr>
        <p:spPr>
          <a:xfrm>
            <a:off x="1637066" y="4857920"/>
            <a:ext cx="26398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aseline="0"/>
              <a:t>kondisi saat forward bias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8DAC8461-48E4-457B-CEB6-60DE5D5C46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515" y="3194107"/>
            <a:ext cx="5378403" cy="1481433"/>
          </a:xfrm>
          <a:prstGeom prst="rect">
            <a:avLst/>
          </a:prstGeom>
        </p:spPr>
      </p:pic>
      <p:sp>
        <p:nvSpPr>
          <p:cNvPr id="26" name="Freeform 5"/>
          <p:cNvSpPr/>
          <p:nvPr/>
        </p:nvSpPr>
        <p:spPr>
          <a:xfrm>
            <a:off x="9513393" y="2961696"/>
            <a:ext cx="1444297" cy="1084972"/>
          </a:xfrm>
          <a:custGeom>
            <a:avLst/>
            <a:gdLst>
              <a:gd name="connsiteX0" fmla="*/ 0 w 1408387"/>
              <a:gd name="connsiteY0" fmla="*/ 299674 h 1014378"/>
              <a:gd name="connsiteX1" fmla="*/ 767256 w 1408387"/>
              <a:gd name="connsiteY1" fmla="*/ 36915 h 1014378"/>
              <a:gd name="connsiteX2" fmla="*/ 1408387 w 1408387"/>
              <a:gd name="connsiteY2" fmla="*/ 1014378 h 10143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08387" h="1014378">
                <a:moveTo>
                  <a:pt x="0" y="299674"/>
                </a:moveTo>
                <a:cubicBezTo>
                  <a:pt x="266262" y="108736"/>
                  <a:pt x="532525" y="-82202"/>
                  <a:pt x="767256" y="36915"/>
                </a:cubicBezTo>
                <a:cubicBezTo>
                  <a:pt x="1001987" y="156032"/>
                  <a:pt x="1205187" y="585205"/>
                  <a:pt x="1408387" y="1014378"/>
                </a:cubicBez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6B5C73B-AD0F-98D2-6B8D-E2CE8B13A2A5}"/>
              </a:ext>
            </a:extLst>
          </p:cNvPr>
          <p:cNvSpPr txBox="1"/>
          <p:nvPr/>
        </p:nvSpPr>
        <p:spPr>
          <a:xfrm>
            <a:off x="7572398" y="4857920"/>
            <a:ext cx="2515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aseline="0"/>
              <a:t>kondisi saat reverse bias</a:t>
            </a:r>
            <a:endParaRPr lang="en-ID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8B98E23-574C-0DAB-6ABF-F09A8E625A36}"/>
              </a:ext>
            </a:extLst>
          </p:cNvPr>
          <p:cNvSpPr txBox="1"/>
          <p:nvPr/>
        </p:nvSpPr>
        <p:spPr>
          <a:xfrm>
            <a:off x="6096000" y="1128300"/>
            <a:ext cx="5378403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/>
              <a:t>Pada setengah gelombang kedua (lembah) yang bernilai negative yang meyebabkan diode dalam keadaan “reverse bias”  sehingga arus dan setengah gelombang yang kedua tidak bisa melewati dioda.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544651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C428000-6641-4261-B8FB-982DB1F292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3189" y="3071392"/>
            <a:ext cx="3328500" cy="173748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40DE5EE-4C0B-F638-8AE5-27B93E72B4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491" y="1859195"/>
            <a:ext cx="4227444" cy="117308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06A608C-8FAF-513D-C3AA-A1F0472078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2406" y="1875929"/>
            <a:ext cx="4227444" cy="987580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937E2B7-89F1-5CDC-0171-A59735FEC606}"/>
              </a:ext>
            </a:extLst>
          </p:cNvPr>
          <p:cNvCxnSpPr/>
          <p:nvPr/>
        </p:nvCxnSpPr>
        <p:spPr>
          <a:xfrm>
            <a:off x="4121634" y="3057194"/>
            <a:ext cx="729842" cy="23387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D31BE88-2498-85E6-61C9-543B0C92D5EF}"/>
              </a:ext>
            </a:extLst>
          </p:cNvPr>
          <p:cNvCxnSpPr>
            <a:cxnSpLocks/>
          </p:cNvCxnSpPr>
          <p:nvPr/>
        </p:nvCxnSpPr>
        <p:spPr>
          <a:xfrm flipV="1">
            <a:off x="7575259" y="2929545"/>
            <a:ext cx="620785" cy="37571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949EC0C-2BFC-A8F6-512C-C71B095E70AA}"/>
              </a:ext>
            </a:extLst>
          </p:cNvPr>
          <p:cNvSpPr txBox="1"/>
          <p:nvPr/>
        </p:nvSpPr>
        <p:spPr>
          <a:xfrm>
            <a:off x="924886" y="1354714"/>
            <a:ext cx="6094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/>
              <a:t>Gambar hasil keluaran dari penyearah setengah gelombang :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6719820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2B2499-267D-4D18-877B-A8934FA49FA9}"/>
              </a:ext>
            </a:extLst>
          </p:cNvPr>
          <p:cNvSpPr txBox="1"/>
          <p:nvPr/>
        </p:nvSpPr>
        <p:spPr>
          <a:xfrm>
            <a:off x="895379" y="267000"/>
            <a:ext cx="1071242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/>
              <a:t>PIV </a:t>
            </a:r>
            <a:r>
              <a:rPr lang="en-US" sz="20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(Peak Inverse Voltage)</a:t>
            </a:r>
            <a:r>
              <a:rPr lang="en-US" sz="2000" b="1"/>
              <a:t> atau PRV </a:t>
            </a:r>
            <a:r>
              <a:rPr lang="en-US" sz="20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(Peak Reverse Voltage) atau VBR (Voltage Breakdown)</a:t>
            </a:r>
            <a:r>
              <a:rPr lang="en-US" sz="2000" b="1"/>
              <a:t> </a:t>
            </a:r>
            <a:endParaRPr lang="en-US" sz="20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D10A00-EB6B-416E-9ED0-42E7C171AE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379" y="810371"/>
            <a:ext cx="7084166" cy="70719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01BC0B1-7B43-4FFE-8778-5BAC75F3FE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379" y="1621734"/>
            <a:ext cx="8702739" cy="246354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E66EE3A-47A6-5A6F-BFFA-44080588ED5F}"/>
              </a:ext>
            </a:extLst>
          </p:cNvPr>
          <p:cNvSpPr txBox="1"/>
          <p:nvPr/>
        </p:nvSpPr>
        <p:spPr>
          <a:xfrm>
            <a:off x="497346" y="4085278"/>
            <a:ext cx="10959547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PIV (Peak Inverse Voltage) rating adalah nilai tegangan maksimum yang dapat ditangani oleh sebuah dioda dalam kondisi mundur (reverse-biased) sebelum mulai terjadi breakdown atau arus yang signifikan mengalir melalui dioda tersebut.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Dalam kondisi ini, dioda seharusnya tidak mengalirkan arus yang berlawanan dengan arah alir normalnya.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PIV rating adalah parameter penting untuk dipertimbangkan saat merancang atau memilih dioda untuk aplikasi tertentu, terutama dalam rangkaian penyearah (rectifier) dan penstabilan tegangan.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Nilai PIV rating dioda harus lebih besar dari tegangan maksimum yang akan diterapkan pada dioda dalam kondisi mundur.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Jika tegangan yang diterapkan melebihi PIV rating dioda, maka ada risiko breakdown atau terjadinya breakdown dioda, yang dapat mengakibatkan kerusakan pada komponen dan sirkuit di sekitarnya.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Oleh karena itu, penting untuk memilih dioda dengan PIV rating yang memadai sesuai dengan kebutuhan aplikasi agar dapat menangani tegangan mundur yang mungkin muncul dalam kondisi operasi.</a:t>
            </a:r>
          </a:p>
        </p:txBody>
      </p:sp>
    </p:spTree>
    <p:extLst>
      <p:ext uri="{BB962C8B-B14F-4D97-AF65-F5344CB8AC3E}">
        <p14:creationId xmlns:p14="http://schemas.microsoft.com/office/powerpoint/2010/main" val="32617644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0FA17C0-33C6-5950-AA5B-4E15315345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067" y="1580488"/>
            <a:ext cx="5045161" cy="28667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131B775-E57E-677A-BEDC-2F1B34B6E5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6075" y="2035146"/>
            <a:ext cx="5262999" cy="278770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44E35AD-F5CE-42FD-B898-FDAA3F3A49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067" y="5001227"/>
            <a:ext cx="5974178" cy="66452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72182" y="4638188"/>
            <a:ext cx="3177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Dgn asumsi dioda ideal </a:t>
            </a:r>
            <a:r>
              <a:rPr lang="en-US">
                <a:sym typeface="Wingdings" panose="05000000000000000000" pitchFamily="2" charset="2"/>
              </a:rPr>
              <a:t> </a:t>
            </a:r>
            <a:r>
              <a:rPr lang="en-US"/>
              <a:t>VT=0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65AF9A-9391-E989-E46E-C884AE569BA5}"/>
              </a:ext>
            </a:extLst>
          </p:cNvPr>
          <p:cNvSpPr txBox="1"/>
          <p:nvPr/>
        </p:nvSpPr>
        <p:spPr>
          <a:xfrm>
            <a:off x="670647" y="364339"/>
            <a:ext cx="116078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/>
              <a:t>Tegangan Rata-Rata DC yang Dihasilkan dari Penyearah Setengah Gelombang</a:t>
            </a:r>
            <a:endParaRPr lang="en-ID" sz="2800" b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CA0B34-6CA2-BB56-7306-70B29D30F7CA}"/>
              </a:ext>
            </a:extLst>
          </p:cNvPr>
          <p:cNvSpPr txBox="1"/>
          <p:nvPr/>
        </p:nvSpPr>
        <p:spPr>
          <a:xfrm>
            <a:off x="876300" y="1032251"/>
            <a:ext cx="33051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Dioda ideal </a:t>
            </a:r>
            <a:r>
              <a:rPr lang="en-US">
                <a:sym typeface="Wingdings" panose="05000000000000000000" pitchFamily="2" charset="2"/>
              </a:rPr>
              <a:t> </a:t>
            </a:r>
            <a:r>
              <a:rPr lang="en-US"/>
              <a:t>VT=0</a:t>
            </a:r>
            <a:endParaRPr lang="en-ID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BDDC2F-B137-AC1D-22C4-87B2DD7D5DD0}"/>
              </a:ext>
            </a:extLst>
          </p:cNvPr>
          <p:cNvSpPr txBox="1"/>
          <p:nvPr/>
        </p:nvSpPr>
        <p:spPr>
          <a:xfrm>
            <a:off x="6696075" y="1032251"/>
            <a:ext cx="33051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Dioda riil </a:t>
            </a:r>
            <a:r>
              <a:rPr lang="en-US">
                <a:sym typeface="Wingdings" panose="05000000000000000000" pitchFamily="2" charset="2"/>
              </a:rPr>
              <a:t> </a:t>
            </a:r>
            <a:r>
              <a:rPr lang="en-US"/>
              <a:t>VT=0</a:t>
            </a:r>
            <a:endParaRPr lang="en-ID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38EA81-7697-07F8-6F94-CE1E8071CCEF}"/>
              </a:ext>
            </a:extLst>
          </p:cNvPr>
          <p:cNvSpPr txBox="1"/>
          <p:nvPr/>
        </p:nvSpPr>
        <p:spPr>
          <a:xfrm>
            <a:off x="843261" y="5847330"/>
            <a:ext cx="104013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/>
              <a:t>Rangkaian penyearah setengah gelombang ini memiliki kelemahan pada kualitas arus DC yang dihasilkan.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/>
              <a:t>Arus DC rata-rata yang dihasilkan dari rangkaian ini hanya 0,318 dari arus maksimumnya.</a:t>
            </a:r>
          </a:p>
        </p:txBody>
      </p:sp>
    </p:spTree>
    <p:extLst>
      <p:ext uri="{BB962C8B-B14F-4D97-AF65-F5344CB8AC3E}">
        <p14:creationId xmlns:p14="http://schemas.microsoft.com/office/powerpoint/2010/main" val="13937811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54715DDB-6C7D-D63F-0F1F-3A2115C80F2E}"/>
              </a:ext>
            </a:extLst>
          </p:cNvPr>
          <p:cNvSpPr txBox="1"/>
          <p:nvPr/>
        </p:nvSpPr>
        <p:spPr>
          <a:xfrm>
            <a:off x="513935" y="1118338"/>
            <a:ext cx="54296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/>
              <a:t>Tegangan rata-rata DC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9FF3CE-6A3A-4C4E-9316-2FC77923D8D5}"/>
              </a:ext>
            </a:extLst>
          </p:cNvPr>
          <p:cNvSpPr txBox="1"/>
          <p:nvPr/>
        </p:nvSpPr>
        <p:spPr>
          <a:xfrm>
            <a:off x="6393959" y="1118338"/>
            <a:ext cx="434071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/>
              <a:t>Nilai </a:t>
            </a:r>
            <a:r>
              <a:rPr lang="en-US" sz="2000" err="1"/>
              <a:t>tegangan</a:t>
            </a:r>
            <a:r>
              <a:rPr lang="en-US" sz="2000"/>
              <a:t> Vrms atau V efektif: </a:t>
            </a:r>
            <a:endParaRPr lang="en-US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D6EE2D-54E6-4807-AF42-FE994F1DAE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3960" y="3681205"/>
            <a:ext cx="1146147" cy="65232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AB6524F-E814-50C1-835D-7BCF1C3480A0}"/>
              </a:ext>
            </a:extLst>
          </p:cNvPr>
          <p:cNvSpPr txBox="1"/>
          <p:nvPr/>
        </p:nvSpPr>
        <p:spPr>
          <a:xfrm>
            <a:off x="942975" y="307464"/>
            <a:ext cx="94107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/>
              <a:t>Tegangan pada Penyearah Setengah Gelombang</a:t>
            </a:r>
            <a:endParaRPr lang="en-ID" sz="28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335F08-2786-01B2-2FC5-CC1FED48ED87}"/>
              </a:ext>
            </a:extLst>
          </p:cNvPr>
          <p:cNvSpPr txBox="1"/>
          <p:nvPr/>
        </p:nvSpPr>
        <p:spPr>
          <a:xfrm>
            <a:off x="1209675" y="5829300"/>
            <a:ext cx="1576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VDC = 0,318Vp</a:t>
            </a:r>
            <a:endParaRPr lang="en-ID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F139FC7-9C33-9725-8CB9-0E371456EC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9676" y="4786739"/>
            <a:ext cx="3088748" cy="73006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9685B37-E3D3-BA3B-F0C7-CE7119016D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3959" y="2249611"/>
            <a:ext cx="4239217" cy="100979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E392736-3928-8800-83F6-41A72335F997}"/>
              </a:ext>
            </a:extLst>
          </p:cNvPr>
          <p:cNvSpPr txBox="1"/>
          <p:nvPr/>
        </p:nvSpPr>
        <p:spPr>
          <a:xfrm>
            <a:off x="6393959" y="4597598"/>
            <a:ext cx="1659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Vrms = 0,385Vp</a:t>
            </a:r>
            <a:endParaRPr lang="en-ID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F3EE80C-C84E-D75C-B93E-30113BD4D8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9675" y="1567389"/>
            <a:ext cx="2886478" cy="284837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CE70D57-DE9C-DB28-5180-470EF44E353A}"/>
              </a:ext>
            </a:extLst>
          </p:cNvPr>
          <p:cNvSpPr txBox="1"/>
          <p:nvPr/>
        </p:nvSpPr>
        <p:spPr>
          <a:xfrm>
            <a:off x="3953279" y="6150426"/>
            <a:ext cx="74576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solidFill>
                  <a:srgbClr val="FF0000"/>
                </a:solidFill>
                <a:sym typeface="Wingdings" panose="05000000000000000000" pitchFamily="2" charset="2"/>
              </a:rPr>
              <a:t> Untuk lebih jelasnya l</a:t>
            </a:r>
            <a:r>
              <a:rPr lang="en-US" sz="2000" b="1">
                <a:solidFill>
                  <a:srgbClr val="FF0000"/>
                </a:solidFill>
              </a:rPr>
              <a:t>ihat slide ppt definisi tegangan-tegangan AC</a:t>
            </a:r>
            <a:endParaRPr lang="en-ID" sz="2000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90200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1DE92D4-A879-4B84-B85C-ABA0DF744D7A}"/>
              </a:ext>
            </a:extLst>
          </p:cNvPr>
          <p:cNvSpPr txBox="1"/>
          <p:nvPr/>
        </p:nvSpPr>
        <p:spPr>
          <a:xfrm>
            <a:off x="4630393" y="2770118"/>
            <a:ext cx="306987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 err="1"/>
              <a:t>Terima</a:t>
            </a:r>
            <a:r>
              <a:rPr lang="en-US" sz="4400" dirty="0"/>
              <a:t> Kasih</a:t>
            </a:r>
          </a:p>
        </p:txBody>
      </p:sp>
    </p:spTree>
    <p:extLst>
      <p:ext uri="{BB962C8B-B14F-4D97-AF65-F5344CB8AC3E}">
        <p14:creationId xmlns:p14="http://schemas.microsoft.com/office/powerpoint/2010/main" val="22732873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808</TotalTime>
  <Words>523</Words>
  <Application>Microsoft Office PowerPoint</Application>
  <PresentationFormat>Widescreen</PresentationFormat>
  <Paragraphs>51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Wingdings</vt:lpstr>
      <vt:lpstr>Office Theme</vt:lpstr>
      <vt:lpstr>Penyearah Setengah Gelombang </vt:lpstr>
      <vt:lpstr>Materi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Rangkaian Aplikasi Dioda  RANGKAIAN PENYEARAH GELOMBANG (RECTIFIER) &amp; catu daya  21NK1006</dc:title>
  <dc:creator>Ridwan Solihin</dc:creator>
  <cp:lastModifiedBy>erilmozef@yahoo.com</cp:lastModifiedBy>
  <cp:revision>50</cp:revision>
  <dcterms:created xsi:type="dcterms:W3CDTF">2022-02-20T16:12:27Z</dcterms:created>
  <dcterms:modified xsi:type="dcterms:W3CDTF">2025-03-04T02:19:42Z</dcterms:modified>
</cp:coreProperties>
</file>