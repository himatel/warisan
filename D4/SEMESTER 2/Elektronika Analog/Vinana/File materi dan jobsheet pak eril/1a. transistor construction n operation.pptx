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660"/>
  </p:normalViewPr>
  <p:slideViewPr>
    <p:cSldViewPr snapToGrid="0">
      <p:cViewPr varScale="1">
        <p:scale>
          <a:sx n="82" d="100"/>
          <a:sy n="82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8A12-ABB6-42AD-B209-91CEF93A2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9FAE6-52B5-4E62-9EDC-29BC2F986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0B6CB-4D64-4B9A-B2E4-22DD952F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53DF2-8883-4534-B811-F9157F27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6A512-D512-4073-96F4-8355454E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38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445C-96F5-460C-862C-EE074A3B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43CFF-DCAA-4EED-A028-DEFFB8E3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1A52-5C19-4CD7-960A-D67930FAE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885E2-0B68-44E1-8D1F-DA000257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1B85C-583F-483F-AE3B-C5EF102B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9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B67D-4FFB-4CC1-94DB-BAF3FFBD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3987F-0936-4D32-AD20-48C3986AB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668FA-8642-40F7-A4E4-00990512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BDEAB-F3D2-44EA-A78F-43BD91B68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1C2A7-D1F2-4C59-A9BC-3F728CC6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5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7FE9-4A54-4E3F-81B4-5732B87C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3249A-A7B9-4DA7-ADAE-C678E406D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B7B23-948A-4276-BA83-98FC7A802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16DF8-E989-44C3-AFED-9FAD2B34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08C30-7B55-462C-A279-65EA6521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1EE1A-5DD2-41FD-B54B-B232DBE0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42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CA24-3116-41E1-966A-4B73D54B7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47B9A-88FF-4809-8903-A9E51E966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CD85B-4D4F-4EFD-9D5B-B1E793F02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C5A48-7767-4732-8ABB-06BEB7C5A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3E9D9-38F7-496F-AC79-B045FF1E2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7D9FDB-EE72-422E-8FC1-E05102522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FC4228-678C-4F38-8FBE-863305083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29D11-F949-4F60-98AA-B9148BD1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21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7535-A01D-493A-B652-4416F0DD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BB13CF-C546-4117-857E-ED33BB4E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00A19-251A-4B37-8CD1-30E183D99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554EB-CDE6-4435-9B57-73DFEADD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8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D87C02-518B-4624-80F7-7CF14FDE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ABA5C-0DD4-422C-8D16-9675196D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2107B-184E-4351-8F8A-F4F8140C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10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6A2-FF31-4FF1-96CF-34E099DEE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91B4C-456B-4079-9598-7D1A292D7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8BEAD-0EE8-469F-A15B-B63AD2D11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77F38-9866-4371-87B4-9DF5379F4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54818-F379-4A81-B954-CB95BB60A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DE089-539F-4CD7-923A-FB3FF07B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03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983D7-A19E-42C9-BCDB-BAAA9140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35F99-D7E0-4599-B2E0-97BE7C7F7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0812F-97F0-4DB1-A3B0-D25FF23C0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136DB-93ED-41E5-9425-6D0056F0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6AA97-9A0E-45D5-9E18-A3B085AB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41320-DEF9-4344-8EC2-B4E16E9D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5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C25F9-8B44-4AEE-95BD-05F13D4E0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F1273-4744-45E4-B211-538268BC4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AB387-64EE-47E7-B650-F464F9284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98DB8-0992-4D5F-A121-34529B6E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9972-ED98-4C45-A7D4-547004EF6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0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97EEEF-B3E3-460C-A59C-352D2A4B6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13D69-9240-4825-BCC6-F177F29F8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2CD4D-38C9-4111-9966-B107F94A1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D4196-97CA-4459-A1AF-EAE76459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3F01D-FC54-4301-85F7-BD9D0B3B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47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9E859E-5129-4206-A0F2-96100A912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4E0CE-385B-4A6D-B4EF-DF2A98AD3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5E9A9-320E-47CC-A541-7717C9DF2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20807-6092-4667-BB52-29819F7CF300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3E0FD-E2CE-45F2-9593-2FD1158CA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864C-05A2-4DFB-8EEF-F5D2594BAE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E0585-FD51-4FA1-847D-A79735D6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7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6F73-5181-405C-9FDB-83EC370CF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1235" y="2354815"/>
            <a:ext cx="9144000" cy="752279"/>
          </a:xfrm>
        </p:spPr>
        <p:txBody>
          <a:bodyPr>
            <a:normAutofit/>
          </a:bodyPr>
          <a:lstStyle/>
          <a:p>
            <a:pPr>
              <a:spcBef>
                <a:spcPts val="35"/>
              </a:spcBef>
            </a:pPr>
            <a:r>
              <a:rPr lang="en-US" sz="32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Transistor Construction and Operation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446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CA806F-DED6-497F-82C9-19922166CFD7}"/>
              </a:ext>
            </a:extLst>
          </p:cNvPr>
          <p:cNvSpPr txBox="1"/>
          <p:nvPr/>
        </p:nvSpPr>
        <p:spPr>
          <a:xfrm>
            <a:off x="1126435" y="95502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3.2 TRANSISTOR CONSTRUCTION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1A9F5-B7BD-4571-9B8E-B5C5A6849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08" y="1923352"/>
            <a:ext cx="2675697" cy="2837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E76E6E-47FC-4C1E-975B-E7F5A78BD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151" y="1805726"/>
            <a:ext cx="2675697" cy="28540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496B63-B0A2-4F28-8220-0C92DF04F5EB}"/>
              </a:ext>
            </a:extLst>
          </p:cNvPr>
          <p:cNvSpPr txBox="1"/>
          <p:nvPr/>
        </p:nvSpPr>
        <p:spPr>
          <a:xfrm>
            <a:off x="2014330" y="5428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3.2 Types of transistors: (a) </a:t>
            </a:r>
            <a:r>
              <a:rPr lang="en-US" dirty="0" err="1"/>
              <a:t>pnp</a:t>
            </a:r>
            <a:r>
              <a:rPr lang="en-US" dirty="0"/>
              <a:t>; (b) </a:t>
            </a:r>
            <a:r>
              <a:rPr lang="en-US" dirty="0" err="1"/>
              <a:t>npn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8817AE-4EE4-4988-B7CB-DE6D2A61E183}"/>
              </a:ext>
            </a:extLst>
          </p:cNvPr>
          <p:cNvSpPr txBox="1"/>
          <p:nvPr/>
        </p:nvSpPr>
        <p:spPr>
          <a:xfrm>
            <a:off x="2584174" y="4810539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C0BD05-293D-4E68-94E5-45D94DCEBC41}"/>
              </a:ext>
            </a:extLst>
          </p:cNvPr>
          <p:cNvSpPr txBox="1"/>
          <p:nvPr/>
        </p:nvSpPr>
        <p:spPr>
          <a:xfrm>
            <a:off x="5870712" y="4864177"/>
            <a:ext cx="556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(b)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7C2C36-B6B1-43EE-B69B-BDE9E4EB7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617" y="1923352"/>
            <a:ext cx="2195789" cy="12704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65A78D-AC40-454C-B94E-5E5595220783}"/>
              </a:ext>
            </a:extLst>
          </p:cNvPr>
          <p:cNvSpPr txBox="1"/>
          <p:nvPr/>
        </p:nvSpPr>
        <p:spPr>
          <a:xfrm>
            <a:off x="9064487" y="1416686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simbol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B708C6-717F-41B9-AE21-13BA41613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2094" y="3533550"/>
            <a:ext cx="2820220" cy="164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91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388D4E-C506-4B28-BB20-D0C420E812BB}"/>
              </a:ext>
            </a:extLst>
          </p:cNvPr>
          <p:cNvSpPr txBox="1"/>
          <p:nvPr/>
        </p:nvSpPr>
        <p:spPr>
          <a:xfrm>
            <a:off x="967408" y="7827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3.3 TRANSISTOR OPERATION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B1D58-6F5C-4AC3-AEDA-C67FA028C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08" y="1601725"/>
            <a:ext cx="3547072" cy="248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DBD557-2E4A-4CC7-953C-F62157361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060" y="4084675"/>
            <a:ext cx="3170419" cy="7391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9F9450-AA16-4B07-BC62-577CD6D76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516" y="1705502"/>
            <a:ext cx="3632131" cy="24541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78EE7C-F57B-4D3C-B35B-645ED07767E9}"/>
              </a:ext>
            </a:extLst>
          </p:cNvPr>
          <p:cNvSpPr txBox="1"/>
          <p:nvPr/>
        </p:nvSpPr>
        <p:spPr>
          <a:xfrm>
            <a:off x="5654516" y="407762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Figure 3.4 </a:t>
            </a:r>
            <a:r>
              <a:rPr lang="en-US" dirty="0"/>
              <a:t>Reverse-biased junction of a </a:t>
            </a:r>
            <a:r>
              <a:rPr lang="en-US" dirty="0" err="1"/>
              <a:t>pnp</a:t>
            </a:r>
            <a:endParaRPr lang="en-US" dirty="0"/>
          </a:p>
          <a:p>
            <a:r>
              <a:rPr lang="en-US" dirty="0"/>
              <a:t>transistor</a:t>
            </a:r>
          </a:p>
        </p:txBody>
      </p:sp>
    </p:spTree>
    <p:extLst>
      <p:ext uri="{BB962C8B-B14F-4D97-AF65-F5344CB8AC3E}">
        <p14:creationId xmlns:p14="http://schemas.microsoft.com/office/powerpoint/2010/main" val="383304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513259-C4B9-4DEC-A5F2-3449B58FB16C}"/>
              </a:ext>
            </a:extLst>
          </p:cNvPr>
          <p:cNvSpPr txBox="1"/>
          <p:nvPr/>
        </p:nvSpPr>
        <p:spPr>
          <a:xfrm>
            <a:off x="446464" y="3446739"/>
            <a:ext cx="6247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Figure 3.5 </a:t>
            </a:r>
            <a:r>
              <a:rPr lang="en-US" dirty="0"/>
              <a:t>Majority and minority carrier flow of a </a:t>
            </a:r>
            <a:r>
              <a:rPr lang="en-US" dirty="0" err="1"/>
              <a:t>pnp</a:t>
            </a:r>
            <a:r>
              <a:rPr lang="en-US" dirty="0"/>
              <a:t> transistor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FEFAF-CA5A-4359-B671-F502A937E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27" y="394609"/>
            <a:ext cx="4318138" cy="30399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4E41A0-51C2-4F7D-AF24-DDE936CC59B2}"/>
              </a:ext>
            </a:extLst>
          </p:cNvPr>
          <p:cNvSpPr txBox="1"/>
          <p:nvPr/>
        </p:nvSpPr>
        <p:spPr>
          <a:xfrm>
            <a:off x="430844" y="4161984"/>
            <a:ext cx="62635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One p-n junction of a transistor is reverse biased, while the other is forward biased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DB9CDA-4F16-4688-998F-654152A85FD5}"/>
              </a:ext>
            </a:extLst>
          </p:cNvPr>
          <p:cNvSpPr txBox="1"/>
          <p:nvPr/>
        </p:nvSpPr>
        <p:spPr>
          <a:xfrm>
            <a:off x="446464" y="481698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Applying Kirchhoff’s current law to the transistor of Fig. 3.5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58A5EF-170D-40EB-88C0-DCFF4B55A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50" y="5323127"/>
            <a:ext cx="4977753" cy="6385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B0CCA5-C7B6-446B-9ADA-D5C1F1828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251" y="1493647"/>
            <a:ext cx="5541464" cy="7165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A5FCAB-5326-4773-8F3B-4DE486BD127C}"/>
              </a:ext>
            </a:extLst>
          </p:cNvPr>
          <p:cNvSpPr txBox="1"/>
          <p:nvPr/>
        </p:nvSpPr>
        <p:spPr>
          <a:xfrm>
            <a:off x="5420140" y="576155"/>
            <a:ext cx="65650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Fig. 3.5. The minority-current component is called the</a:t>
            </a:r>
          </a:p>
          <a:p>
            <a:r>
              <a:rPr lang="en-US" sz="1600" dirty="0"/>
              <a:t>leakage current and is given the symbol ICO (IC current with emitter terminal Open).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ABFE2C-3F85-17F9-CC32-379D952234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466" y="2615555"/>
            <a:ext cx="4635807" cy="348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6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104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Transistor Construction and Operation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Transistor Bipolar (BJT) 1. Dasar kerja transistor BJT 2. Kurva Karakteristik BJT 3. Data Transistor  4. Testing Transistor </dc:title>
  <dc:creator>Ridwan Solihin</dc:creator>
  <cp:lastModifiedBy>erilmozef@yahoo.com</cp:lastModifiedBy>
  <cp:revision>67</cp:revision>
  <dcterms:created xsi:type="dcterms:W3CDTF">2022-03-08T01:57:59Z</dcterms:created>
  <dcterms:modified xsi:type="dcterms:W3CDTF">2025-04-28T20:56:55Z</dcterms:modified>
</cp:coreProperties>
</file>