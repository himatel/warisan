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1"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91" autoAdjust="0"/>
    <p:restoredTop sz="94660"/>
  </p:normalViewPr>
  <p:slideViewPr>
    <p:cSldViewPr snapToGrid="0">
      <p:cViewPr varScale="1">
        <p:scale>
          <a:sx n="82" d="100"/>
          <a:sy n="82" d="100"/>
        </p:scale>
        <p:origin x="754" y="62"/>
      </p:cViewPr>
      <p:guideLst/>
    </p:cSldViewPr>
  </p:slideViewPr>
  <p:notesTextViewPr>
    <p:cViewPr>
      <p:scale>
        <a:sx n="1" d="1"/>
        <a:sy n="1" d="1"/>
      </p:scale>
      <p:origin x="0" y="0"/>
    </p:cViewPr>
  </p:notesTextViewPr>
  <p:gridSpacing cx="91439" cy="91439"/>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B4B52-5C2C-4E4A-9BA3-31BF185093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2CD83B-EAFD-442D-9CD6-1E9CFBAC55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A0C395-4F99-4AF1-9945-D5F567E1BE43}"/>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BED6809C-5A6E-4C4A-ADCA-39A0C427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05C22E-4D18-4389-8E3B-DC94B62666C5}"/>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3529544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F958A-5C46-4DFD-A085-D654F8FD0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9B6E30-879F-4DB5-8516-A704547D24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A58029-6382-4866-995D-15676E869296}"/>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6D97F827-0EEC-49E2-A67D-9775805BFF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B07053-DB99-4273-B43C-5108B4C65079}"/>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1146586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47807-9375-414D-B6A7-5E9AD39B5A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938215-5D29-46B5-B4A5-6B44A51B5C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A2008A-A1D5-40A1-84A0-E31674B35C7F}"/>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CA2586E0-E55B-4D22-9744-A377E889EB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597EDF-369E-4534-95CF-5FED32391F11}"/>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410572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045AA-6539-4E17-9FE8-AFD86F009E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CB5CDB-B91C-47C4-A8DB-941482DAE8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66A23F-80A1-4A70-9509-6A49AA3A9A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830578-811E-43A9-82AF-FEF4DC697BFC}"/>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6" name="Footer Placeholder 5">
            <a:extLst>
              <a:ext uri="{FF2B5EF4-FFF2-40B4-BE49-F238E27FC236}">
                <a16:creationId xmlns:a16="http://schemas.microsoft.com/office/drawing/2014/main" id="{F5A56CC7-71B5-484E-A350-AB4997DD8D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E9A9B4-76C5-412F-8224-54839442620E}"/>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2223379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9148E-EBFF-4494-872A-0C122BEC594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8E8140-43BB-485F-BF30-66A98B3505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CBDF9B-B2CE-44AF-BF19-9129D79E4F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9A0C98-274A-4787-8770-24248A2788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8CF06C-4A01-4A3B-8CD4-37AA6CE958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2B2F4F-0D80-4C96-9E79-668370252D1B}"/>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8" name="Footer Placeholder 7">
            <a:extLst>
              <a:ext uri="{FF2B5EF4-FFF2-40B4-BE49-F238E27FC236}">
                <a16:creationId xmlns:a16="http://schemas.microsoft.com/office/drawing/2014/main" id="{164F8BD3-59BE-41F4-8DF8-A6427AC6FAA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6665495-6148-4108-8B78-BFED911F02BA}"/>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1126777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1A376-44BE-4851-9E26-CBC1251383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59DF19-B02E-4100-8A66-1034012B5301}"/>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4" name="Footer Placeholder 3">
            <a:extLst>
              <a:ext uri="{FF2B5EF4-FFF2-40B4-BE49-F238E27FC236}">
                <a16:creationId xmlns:a16="http://schemas.microsoft.com/office/drawing/2014/main" id="{6828C644-C233-40CC-B27E-E7F08F37B1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52E1CF-6173-40C4-BC66-6F4520A8EC63}"/>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1733482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46B4B8-DA0D-405B-AFD2-99C9DE2699A2}"/>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3" name="Footer Placeholder 2">
            <a:extLst>
              <a:ext uri="{FF2B5EF4-FFF2-40B4-BE49-F238E27FC236}">
                <a16:creationId xmlns:a16="http://schemas.microsoft.com/office/drawing/2014/main" id="{8EB85ADD-13EA-4B23-88FA-EA2EFA8076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A53C91-08AF-425C-87FE-4CC9E91A0722}"/>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2512226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6618B-5010-4DA2-B8D7-1683A0C10C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15114F-79DB-424D-A429-BD9DAE2D53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A96EFF-AAB0-4534-B5A5-6AB1387727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2DD9F0-8E72-4884-BC50-FD86EB4D3B44}"/>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6" name="Footer Placeholder 5">
            <a:extLst>
              <a:ext uri="{FF2B5EF4-FFF2-40B4-BE49-F238E27FC236}">
                <a16:creationId xmlns:a16="http://schemas.microsoft.com/office/drawing/2014/main" id="{54260019-CF44-4973-8A00-706A2F5F6A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678B2B-AA64-4DBA-8FFF-5C521B85A499}"/>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896191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4D340-ECD1-480E-851E-6E32124035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AC7BE8-70DE-45B0-97AC-1090FF3126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5054DF-FB9B-40B3-9C4D-B6DEDBAD4A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4463F8-3CC1-4369-AE9D-C86B3200AC5F}"/>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6" name="Footer Placeholder 5">
            <a:extLst>
              <a:ext uri="{FF2B5EF4-FFF2-40B4-BE49-F238E27FC236}">
                <a16:creationId xmlns:a16="http://schemas.microsoft.com/office/drawing/2014/main" id="{EBDCD53E-BE2E-45B1-B813-85102D1455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C28446-824F-462A-8FC4-DF32EA195413}"/>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2883409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6DAE2-3A46-4A4A-9322-411C1D74D5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D1826C-DE02-4830-ADD0-1A361F1F2D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4749FE-8588-491D-92A1-814105E8C186}"/>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0A96B224-619C-4698-9B69-5E9873320B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AE8E04-5B72-459D-9D44-C9F3F598705D}"/>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1580592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E9C31D-6FC8-4834-8339-B8998A48E0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093C30-D4DE-4ABA-B563-E17612DB98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361484-78ED-4854-B178-6A60A9F14865}"/>
              </a:ext>
            </a:extLst>
          </p:cNvPr>
          <p:cNvSpPr>
            <a:spLocks noGrp="1"/>
          </p:cNvSpPr>
          <p:nvPr>
            <p:ph type="dt" sz="half" idx="10"/>
          </p:nvPr>
        </p:nvSpPr>
        <p:spPr/>
        <p:txBody>
          <a:body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55AAB9A1-7CF4-4F8A-9FB7-8C0A0F485B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4AD03C-E47B-4BCA-BF98-E5FD985E556A}"/>
              </a:ext>
            </a:extLst>
          </p:cNvPr>
          <p:cNvSpPr>
            <a:spLocks noGrp="1"/>
          </p:cNvSpPr>
          <p:nvPr>
            <p:ph type="sldNum" sz="quarter" idx="12"/>
          </p:nvPr>
        </p:nvSpPr>
        <p:spPr/>
        <p:txBody>
          <a:bodyPr/>
          <a:lstStyle/>
          <a:p>
            <a:fld id="{4D99BA18-C6F7-4175-9511-36D7374547EB}" type="slidenum">
              <a:rPr lang="en-US" smtClean="0"/>
              <a:t>‹#›</a:t>
            </a:fld>
            <a:endParaRPr lang="en-US"/>
          </a:p>
        </p:txBody>
      </p:sp>
    </p:spTree>
    <p:extLst>
      <p:ext uri="{BB962C8B-B14F-4D97-AF65-F5344CB8AC3E}">
        <p14:creationId xmlns:p14="http://schemas.microsoft.com/office/powerpoint/2010/main" val="3948708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069FB-B69B-4A51-B128-2675B14ED8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1C5897-C35A-4282-9D4D-45F3A7F955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8EEE5F-BC92-46F3-8CA3-4E0FF30B8D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F86A52-6608-45E0-97DE-DB0A0BE9BEC1}" type="datetimeFigureOut">
              <a:rPr lang="en-US" smtClean="0"/>
              <a:t>4/29/2025</a:t>
            </a:fld>
            <a:endParaRPr lang="en-US"/>
          </a:p>
        </p:txBody>
      </p:sp>
      <p:sp>
        <p:nvSpPr>
          <p:cNvPr id="5" name="Footer Placeholder 4">
            <a:extLst>
              <a:ext uri="{FF2B5EF4-FFF2-40B4-BE49-F238E27FC236}">
                <a16:creationId xmlns:a16="http://schemas.microsoft.com/office/drawing/2014/main" id="{6FCEF1A7-4882-4B44-9EA0-9AA2E88D30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F794C30-63BA-479D-B8C0-2B566B48FA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99BA18-C6F7-4175-9511-36D7374547EB}" type="slidenum">
              <a:rPr lang="en-US" smtClean="0"/>
              <a:t>‹#›</a:t>
            </a:fld>
            <a:endParaRPr lang="en-US"/>
          </a:p>
        </p:txBody>
      </p:sp>
    </p:spTree>
    <p:extLst>
      <p:ext uri="{BB962C8B-B14F-4D97-AF65-F5344CB8AC3E}">
        <p14:creationId xmlns:p14="http://schemas.microsoft.com/office/powerpoint/2010/main" val="12521152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520543" cy="1325563"/>
          </a:xfrm>
        </p:spPr>
        <p:txBody>
          <a:bodyPr>
            <a:noAutofit/>
          </a:bodyPr>
          <a:lstStyle/>
          <a:p>
            <a:r>
              <a:rPr lang="en-US" sz="3200"/>
              <a:t>Apa yang dimaksud dengan Wilayah Kerja transistor?</a:t>
            </a:r>
          </a:p>
        </p:txBody>
      </p:sp>
      <p:sp>
        <p:nvSpPr>
          <p:cNvPr id="3" name="Content Placeholder 2"/>
          <p:cNvSpPr>
            <a:spLocks noGrp="1"/>
          </p:cNvSpPr>
          <p:nvPr>
            <p:ph idx="1"/>
          </p:nvPr>
        </p:nvSpPr>
        <p:spPr>
          <a:xfrm>
            <a:off x="838201" y="1825625"/>
            <a:ext cx="6328954" cy="4351338"/>
          </a:xfrm>
        </p:spPr>
        <p:txBody>
          <a:bodyPr>
            <a:normAutofit fontScale="47500" lnSpcReduction="20000"/>
          </a:bodyPr>
          <a:lstStyle/>
          <a:p>
            <a:r>
              <a:rPr lang="en-US"/>
              <a:t>Wilayah kerja transistor mengacu pada daerah operasional transistor di dalam karakteristik I-V (arus-tegangan). Pada grafik tersebut, wilayah kerja menunjukkan di mana transistor beroperasi dengan stabil dan sesuai dengan kebutuhan aplikasi.</a:t>
            </a:r>
          </a:p>
          <a:p>
            <a:r>
              <a:rPr lang="en-US"/>
              <a:t>Wilayah kerja transistor dapat dibagi menjadi:</a:t>
            </a:r>
          </a:p>
          <a:p>
            <a:r>
              <a:rPr lang="en-US" b="1"/>
              <a:t>Wilayah Aktif (Active Region)</a:t>
            </a:r>
            <a:r>
              <a:rPr lang="en-US"/>
              <a:t>: Ini adalah wilayah kerja di mana transistor beroperasi sebagai penguat, yaitu ketika transistor berada dalam kondisi aktif dan mampu memberikan penguatan sinyal input. Pada wilayah ini, transistor memiliki penguatan arus dan tegangan yang linier.</a:t>
            </a:r>
          </a:p>
          <a:p>
            <a:r>
              <a:rPr lang="en-US" b="1"/>
              <a:t>Wilayah Jenuh (Saturation Region)</a:t>
            </a:r>
            <a:r>
              <a:rPr lang="en-US"/>
              <a:t>: Ini adalah wilayah kerja di mana transistor mengalami jenuh, di mana arus kolektor mencapai nilai maksimumnya dan tidak lagi dapat dikuasai oleh sinyal input. Transistor berada dalam kondisi jenuh ketika tegangan kolektor-emitor (Vce) relatif rendah dan arus kolektor (Ic) relatif tinggi.</a:t>
            </a:r>
          </a:p>
          <a:p>
            <a:r>
              <a:rPr lang="en-US" b="1"/>
              <a:t>Wilayah Cut-Off (Cut-Off Region)</a:t>
            </a:r>
            <a:r>
              <a:rPr lang="en-US"/>
              <a:t>: Ini adalah wilayah kerja di mana transistor berada dalam keadaan mati atau tidak mengalirkan arus, di mana arus kolektor (Ic) dan tegangan kolektor-emitor (Vce) rendah.</a:t>
            </a:r>
          </a:p>
          <a:p>
            <a:r>
              <a:rPr lang="en-US" b="1"/>
              <a:t>Wilayah Linier (Linear Region)</a:t>
            </a:r>
            <a:r>
              <a:rPr lang="en-US"/>
              <a:t>: Ini adalah wilayah kerja di mana transistor beroperasi sebagai pengatur, yaitu di antara wilayah aktif dan jenuh. Pada wilayah ini, transistor memiliki penguatan yang cukup untuk mengontrol arus kolektor, tetapi belum mencapai tingkat jenuh.</a:t>
            </a:r>
          </a:p>
          <a:p>
            <a:r>
              <a:rPr lang="en-US"/>
              <a:t>Penentuan wilayah kerja transistor sangat penting dalam desain rangkaian, karena akan mempengaruhi kinerja dan karakteristik dari rangkaian tersebut. Kesesuaian wilayah kerja dengan kebutuhan aplikasi harus dipertimbangkan dengan cermat untuk memastikan kinerja yang diinginkan.</a:t>
            </a:r>
          </a:p>
        </p:txBody>
      </p:sp>
      <p:grpSp>
        <p:nvGrpSpPr>
          <p:cNvPr id="5" name="Group 4"/>
          <p:cNvGrpSpPr/>
          <p:nvPr/>
        </p:nvGrpSpPr>
        <p:grpSpPr>
          <a:xfrm>
            <a:off x="7493725" y="399311"/>
            <a:ext cx="4433076" cy="2852627"/>
            <a:chOff x="4984700" y="99897"/>
            <a:chExt cx="7640298" cy="5518847"/>
          </a:xfrm>
        </p:grpSpPr>
        <p:pic>
          <p:nvPicPr>
            <p:cNvPr id="6" name="Picture 5">
              <a:extLst>
                <a:ext uri="{FF2B5EF4-FFF2-40B4-BE49-F238E27FC236}">
                  <a16:creationId xmlns:a16="http://schemas.microsoft.com/office/drawing/2014/main" id="{46EB1934-1E21-469D-AC5F-F68D7F63D5BA}"/>
                </a:ext>
              </a:extLst>
            </p:cNvPr>
            <p:cNvPicPr>
              <a:picLocks noChangeAspect="1"/>
            </p:cNvPicPr>
            <p:nvPr/>
          </p:nvPicPr>
          <p:blipFill>
            <a:blip r:embed="rId2"/>
            <a:stretch>
              <a:fillRect/>
            </a:stretch>
          </p:blipFill>
          <p:spPr>
            <a:xfrm>
              <a:off x="4984700" y="99897"/>
              <a:ext cx="7640298" cy="5518847"/>
            </a:xfrm>
            <a:prstGeom prst="rect">
              <a:avLst/>
            </a:prstGeom>
          </p:spPr>
        </p:pic>
        <p:sp>
          <p:nvSpPr>
            <p:cNvPr id="7" name="Rounded Rectangle 6"/>
            <p:cNvSpPr/>
            <p:nvPr/>
          </p:nvSpPr>
          <p:spPr>
            <a:xfrm>
              <a:off x="7358743" y="805543"/>
              <a:ext cx="2895600" cy="446930"/>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7565571" y="5148942"/>
              <a:ext cx="2046515" cy="293915"/>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5323114" y="2307770"/>
              <a:ext cx="457200" cy="1665515"/>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p:cNvGrpSpPr/>
          <p:nvPr/>
        </p:nvGrpSpPr>
        <p:grpSpPr>
          <a:xfrm>
            <a:off x="7493725" y="3542644"/>
            <a:ext cx="3923212" cy="2846374"/>
            <a:chOff x="7493725" y="3880533"/>
            <a:chExt cx="3923212" cy="2846374"/>
          </a:xfrm>
        </p:grpSpPr>
        <p:pic>
          <p:nvPicPr>
            <p:cNvPr id="4" name="Picture 3">
              <a:extLst>
                <a:ext uri="{FF2B5EF4-FFF2-40B4-BE49-F238E27FC236}">
                  <a16:creationId xmlns:a16="http://schemas.microsoft.com/office/drawing/2014/main" id="{E24C5ECA-CD1F-454E-87D9-596264617640}"/>
                </a:ext>
              </a:extLst>
            </p:cNvPr>
            <p:cNvPicPr>
              <a:picLocks noChangeAspect="1"/>
            </p:cNvPicPr>
            <p:nvPr/>
          </p:nvPicPr>
          <p:blipFill>
            <a:blip r:embed="rId3"/>
            <a:stretch>
              <a:fillRect/>
            </a:stretch>
          </p:blipFill>
          <p:spPr>
            <a:xfrm>
              <a:off x="7493725" y="3880533"/>
              <a:ext cx="3923212" cy="2846374"/>
            </a:xfrm>
            <a:prstGeom prst="rect">
              <a:avLst/>
            </a:prstGeom>
          </p:spPr>
        </p:pic>
        <p:sp>
          <p:nvSpPr>
            <p:cNvPr id="10" name="Rounded Rectangle 9"/>
            <p:cNvSpPr/>
            <p:nvPr/>
          </p:nvSpPr>
          <p:spPr>
            <a:xfrm>
              <a:off x="7515576" y="4860279"/>
              <a:ext cx="557270" cy="359582"/>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8866098" y="6409509"/>
              <a:ext cx="486908" cy="317398"/>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8368937" y="5367297"/>
              <a:ext cx="1438342" cy="369332"/>
            </a:xfrm>
            <a:prstGeom prst="rect">
              <a:avLst/>
            </a:prstGeom>
            <a:noFill/>
          </p:spPr>
          <p:txBody>
            <a:bodyPr wrap="none" rtlCol="0">
              <a:spAutoFit/>
            </a:bodyPr>
            <a:lstStyle/>
            <a:p>
              <a:r>
                <a:rPr lang="en-US" b="1">
                  <a:solidFill>
                    <a:srgbClr val="FF0000"/>
                  </a:solidFill>
                </a:rPr>
                <a:t>Active region</a:t>
              </a:r>
            </a:p>
          </p:txBody>
        </p:sp>
      </p:grpSp>
    </p:spTree>
    <p:extLst>
      <p:ext uri="{BB962C8B-B14F-4D97-AF65-F5344CB8AC3E}">
        <p14:creationId xmlns:p14="http://schemas.microsoft.com/office/powerpoint/2010/main" val="42774891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3288</TotalTime>
  <Words>267</Words>
  <Application>Microsoft Office PowerPoint</Application>
  <PresentationFormat>Widescreen</PresentationFormat>
  <Paragraphs>9</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Apa yang dimaksud dengan Wilayah Kerja transistor?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DC Biasing BJT</dc:title>
  <dc:creator>Ridwan Solihin</dc:creator>
  <cp:lastModifiedBy>erilmozef@yahoo.com</cp:lastModifiedBy>
  <cp:revision>63</cp:revision>
  <dcterms:created xsi:type="dcterms:W3CDTF">2022-03-14T08:25:08Z</dcterms:created>
  <dcterms:modified xsi:type="dcterms:W3CDTF">2025-04-29T11:26:11Z</dcterms:modified>
</cp:coreProperties>
</file>