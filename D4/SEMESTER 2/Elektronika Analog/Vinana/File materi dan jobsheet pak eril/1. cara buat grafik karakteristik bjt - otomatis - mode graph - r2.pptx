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57" r:id="rId4"/>
    <p:sldId id="291" r:id="rId5"/>
    <p:sldId id="287" r:id="rId6"/>
    <p:sldId id="302" r:id="rId7"/>
    <p:sldId id="292" r:id="rId8"/>
    <p:sldId id="303" r:id="rId9"/>
    <p:sldId id="283" r:id="rId10"/>
    <p:sldId id="286" r:id="rId11"/>
    <p:sldId id="288" r:id="rId12"/>
    <p:sldId id="309" r:id="rId13"/>
    <p:sldId id="281" r:id="rId14"/>
    <p:sldId id="282" r:id="rId15"/>
    <p:sldId id="285" r:id="rId16"/>
    <p:sldId id="308" r:id="rId17"/>
    <p:sldId id="299" r:id="rId18"/>
    <p:sldId id="296" r:id="rId19"/>
    <p:sldId id="27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0" d="100"/>
          <a:sy n="80" d="100"/>
        </p:scale>
        <p:origin x="682" y="-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CA29F25-5A26-462B-BF77-08808760F419}"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351503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A29F25-5A26-462B-BF77-08808760F419}"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1648393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A29F25-5A26-462B-BF77-08808760F419}"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3456384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CA29F25-5A26-462B-BF77-08808760F419}"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3488610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CA29F25-5A26-462B-BF77-08808760F419}" type="datetimeFigureOut">
              <a:rPr lang="en-US" smtClean="0"/>
              <a:t>5/2/2025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2642926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CA29F25-5A26-462B-BF77-08808760F419}" type="datetimeFigureOut">
              <a:rPr lang="en-US" smtClean="0"/>
              <a:t>5/2/2025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2464901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A29F25-5A26-462B-BF77-08808760F419}" type="datetimeFigureOut">
              <a:rPr lang="en-US" smtClean="0"/>
              <a:t>5/2/2025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1778443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A29F25-5A26-462B-BF77-08808760F419}"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3620549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A29F25-5A26-462B-BF77-08808760F419}"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1666588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A29F25-5A26-462B-BF77-08808760F419}"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2165951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A29F25-5A26-462B-BF77-08808760F419}"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919AA5-70D2-4C46-9B5F-9EC72C9FCEC3}" type="slidenum">
              <a:rPr lang="en-US" smtClean="0"/>
              <a:t>‹#›</a:t>
            </a:fld>
            <a:endParaRPr lang="en-US"/>
          </a:p>
        </p:txBody>
      </p:sp>
    </p:spTree>
    <p:extLst>
      <p:ext uri="{BB962C8B-B14F-4D97-AF65-F5344CB8AC3E}">
        <p14:creationId xmlns:p14="http://schemas.microsoft.com/office/powerpoint/2010/main" val="159726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A29F25-5A26-462B-BF77-08808760F419}" type="datetimeFigureOut">
              <a:rPr lang="en-US" smtClean="0"/>
              <a:t>5/2/2025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919AA5-70D2-4C46-9B5F-9EC72C9FCEC3}" type="slidenum">
              <a:rPr lang="en-US" smtClean="0"/>
              <a:t>‹#›</a:t>
            </a:fld>
            <a:endParaRPr lang="en-US"/>
          </a:p>
        </p:txBody>
      </p:sp>
    </p:spTree>
    <p:extLst>
      <p:ext uri="{BB962C8B-B14F-4D97-AF65-F5344CB8AC3E}">
        <p14:creationId xmlns:p14="http://schemas.microsoft.com/office/powerpoint/2010/main" val="1495703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youtube.com/watch?v=Z1c1ar1bS4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t>Membuat Grafik Karakteristik Transistor (mode otomatis/mode graph)</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903277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047289"/>
          </a:xfrm>
        </p:spPr>
        <p:txBody>
          <a:bodyPr>
            <a:normAutofit fontScale="90000"/>
          </a:bodyPr>
          <a:lstStyle/>
          <a:p>
            <a:r>
              <a:rPr lang="en-US"/>
              <a:t>Gambaran Grafik Karakteristik Input, Output dan Transfer Transistor</a:t>
            </a:r>
            <a:endParaRPr lang="en-US" dirty="0"/>
          </a:p>
        </p:txBody>
      </p:sp>
      <p:sp>
        <p:nvSpPr>
          <p:cNvPr id="7" name="TextBox 6"/>
          <p:cNvSpPr txBox="1"/>
          <p:nvPr/>
        </p:nvSpPr>
        <p:spPr>
          <a:xfrm>
            <a:off x="1311160" y="4242848"/>
            <a:ext cx="1648143" cy="400110"/>
          </a:xfrm>
          <a:prstGeom prst="rect">
            <a:avLst/>
          </a:prstGeom>
          <a:noFill/>
        </p:spPr>
        <p:txBody>
          <a:bodyPr wrap="none" rtlCol="0">
            <a:spAutoFit/>
          </a:bodyPr>
          <a:lstStyle/>
          <a:p>
            <a:r>
              <a:rPr lang="en-US" sz="2000">
                <a:solidFill>
                  <a:srgbClr val="FF0000"/>
                </a:solidFill>
              </a:rPr>
              <a:t>Ib=f(Vbe, Vce)</a:t>
            </a:r>
            <a:endParaRPr lang="en-US" sz="2000" dirty="0">
              <a:solidFill>
                <a:srgbClr val="FF0000"/>
              </a:solidFill>
            </a:endParaRPr>
          </a:p>
        </p:txBody>
      </p:sp>
      <p:sp>
        <p:nvSpPr>
          <p:cNvPr id="8" name="TextBox 7"/>
          <p:cNvSpPr txBox="1"/>
          <p:nvPr/>
        </p:nvSpPr>
        <p:spPr>
          <a:xfrm>
            <a:off x="1717897" y="1435830"/>
            <a:ext cx="1156086" cy="400110"/>
          </a:xfrm>
          <a:prstGeom prst="rect">
            <a:avLst/>
          </a:prstGeom>
          <a:noFill/>
        </p:spPr>
        <p:txBody>
          <a:bodyPr wrap="none" rtlCol="0">
            <a:spAutoFit/>
          </a:bodyPr>
          <a:lstStyle/>
          <a:p>
            <a:r>
              <a:rPr lang="en-US" sz="2000">
                <a:solidFill>
                  <a:srgbClr val="FF0000"/>
                </a:solidFill>
              </a:rPr>
              <a:t>Ib=f(Vbe)</a:t>
            </a:r>
            <a:endParaRPr lang="en-US" sz="2000" dirty="0">
              <a:solidFill>
                <a:srgbClr val="FF0000"/>
              </a:solidFill>
            </a:endParaRPr>
          </a:p>
        </p:txBody>
      </p:sp>
      <p:sp>
        <p:nvSpPr>
          <p:cNvPr id="14" name="TextBox 13"/>
          <p:cNvSpPr txBox="1"/>
          <p:nvPr/>
        </p:nvSpPr>
        <p:spPr>
          <a:xfrm>
            <a:off x="4105898" y="4242848"/>
            <a:ext cx="1412503" cy="400110"/>
          </a:xfrm>
          <a:prstGeom prst="rect">
            <a:avLst/>
          </a:prstGeom>
          <a:noFill/>
        </p:spPr>
        <p:txBody>
          <a:bodyPr wrap="none" rtlCol="0">
            <a:spAutoFit/>
          </a:bodyPr>
          <a:lstStyle/>
          <a:p>
            <a:r>
              <a:rPr lang="en-US" sz="2000">
                <a:solidFill>
                  <a:srgbClr val="FF0000"/>
                </a:solidFill>
              </a:rPr>
              <a:t>Ic=f(Vce, Ib)</a:t>
            </a:r>
            <a:endParaRPr lang="en-US" sz="2000" dirty="0">
              <a:solidFill>
                <a:srgbClr val="FF0000"/>
              </a:solidFill>
            </a:endParaRPr>
          </a:p>
        </p:txBody>
      </p:sp>
      <p:sp>
        <p:nvSpPr>
          <p:cNvPr id="15" name="TextBox 14"/>
          <p:cNvSpPr txBox="1"/>
          <p:nvPr/>
        </p:nvSpPr>
        <p:spPr>
          <a:xfrm>
            <a:off x="6889871" y="4242848"/>
            <a:ext cx="1391791" cy="400110"/>
          </a:xfrm>
          <a:prstGeom prst="rect">
            <a:avLst/>
          </a:prstGeom>
          <a:noFill/>
        </p:spPr>
        <p:txBody>
          <a:bodyPr wrap="none" rtlCol="0">
            <a:spAutoFit/>
          </a:bodyPr>
          <a:lstStyle/>
          <a:p>
            <a:r>
              <a:rPr lang="en-US" sz="2000">
                <a:solidFill>
                  <a:srgbClr val="FF0000"/>
                </a:solidFill>
              </a:rPr>
              <a:t>Ic=f(Ib, vce)</a:t>
            </a:r>
            <a:endParaRPr lang="en-US" sz="2000" dirty="0">
              <a:solidFill>
                <a:srgbClr val="FF0000"/>
              </a:solidFill>
            </a:endParaRPr>
          </a:p>
        </p:txBody>
      </p:sp>
      <p:sp>
        <p:nvSpPr>
          <p:cNvPr id="16" name="TextBox 15"/>
          <p:cNvSpPr txBox="1"/>
          <p:nvPr/>
        </p:nvSpPr>
        <p:spPr>
          <a:xfrm>
            <a:off x="7040909" y="1384161"/>
            <a:ext cx="920445" cy="400110"/>
          </a:xfrm>
          <a:prstGeom prst="rect">
            <a:avLst/>
          </a:prstGeom>
          <a:noFill/>
        </p:spPr>
        <p:txBody>
          <a:bodyPr wrap="none" rtlCol="0">
            <a:spAutoFit/>
          </a:bodyPr>
          <a:lstStyle/>
          <a:p>
            <a:r>
              <a:rPr lang="en-US" sz="2000">
                <a:solidFill>
                  <a:srgbClr val="FF0000"/>
                </a:solidFill>
              </a:rPr>
              <a:t>Ic=f(Ib)</a:t>
            </a:r>
            <a:endParaRPr lang="en-US" sz="2000" dirty="0">
              <a:solidFill>
                <a:srgbClr val="FF0000"/>
              </a:solidFill>
            </a:endParaRPr>
          </a:p>
        </p:txBody>
      </p:sp>
      <p:sp>
        <p:nvSpPr>
          <p:cNvPr id="17" name="TextBox 16"/>
          <p:cNvSpPr txBox="1"/>
          <p:nvPr/>
        </p:nvSpPr>
        <p:spPr>
          <a:xfrm>
            <a:off x="4154102" y="1412416"/>
            <a:ext cx="1412503" cy="400110"/>
          </a:xfrm>
          <a:prstGeom prst="rect">
            <a:avLst/>
          </a:prstGeom>
          <a:noFill/>
        </p:spPr>
        <p:txBody>
          <a:bodyPr wrap="none" rtlCol="0">
            <a:spAutoFit/>
          </a:bodyPr>
          <a:lstStyle/>
          <a:p>
            <a:r>
              <a:rPr lang="en-US" sz="2000">
                <a:solidFill>
                  <a:srgbClr val="FF0000"/>
                </a:solidFill>
              </a:rPr>
              <a:t>Ic=f(Vce, Ib)</a:t>
            </a:r>
            <a:endParaRPr lang="en-US" sz="2000" dirty="0">
              <a:solidFill>
                <a:srgbClr val="FF0000"/>
              </a:solidFill>
            </a:endParaRPr>
          </a:p>
        </p:txBody>
      </p:sp>
      <p:pic>
        <p:nvPicPr>
          <p:cNvPr id="18" name="Picture 17"/>
          <p:cNvPicPr>
            <a:picLocks noChangeAspect="1"/>
          </p:cNvPicPr>
          <p:nvPr/>
        </p:nvPicPr>
        <p:blipFill>
          <a:blip r:embed="rId2"/>
          <a:stretch>
            <a:fillRect/>
          </a:stretch>
        </p:blipFill>
        <p:spPr>
          <a:xfrm>
            <a:off x="1028741" y="1835940"/>
            <a:ext cx="2095500" cy="2238375"/>
          </a:xfrm>
          <a:prstGeom prst="rect">
            <a:avLst/>
          </a:prstGeom>
        </p:spPr>
      </p:pic>
      <p:pic>
        <p:nvPicPr>
          <p:cNvPr id="19" name="Picture 18"/>
          <p:cNvPicPr>
            <a:picLocks noChangeAspect="1"/>
          </p:cNvPicPr>
          <p:nvPr/>
        </p:nvPicPr>
        <p:blipFill>
          <a:blip r:embed="rId3"/>
          <a:stretch>
            <a:fillRect/>
          </a:stretch>
        </p:blipFill>
        <p:spPr>
          <a:xfrm>
            <a:off x="3563139" y="1735133"/>
            <a:ext cx="2428875" cy="2371725"/>
          </a:xfrm>
          <a:prstGeom prst="rect">
            <a:avLst/>
          </a:prstGeom>
        </p:spPr>
      </p:pic>
      <p:pic>
        <p:nvPicPr>
          <p:cNvPr id="20" name="Picture 19"/>
          <p:cNvPicPr>
            <a:picLocks noChangeAspect="1"/>
          </p:cNvPicPr>
          <p:nvPr/>
        </p:nvPicPr>
        <p:blipFill>
          <a:blip r:embed="rId4"/>
          <a:stretch>
            <a:fillRect/>
          </a:stretch>
        </p:blipFill>
        <p:spPr>
          <a:xfrm>
            <a:off x="6681170" y="1735133"/>
            <a:ext cx="2000250" cy="2181225"/>
          </a:xfrm>
          <a:prstGeom prst="rect">
            <a:avLst/>
          </a:prstGeom>
        </p:spPr>
      </p:pic>
      <p:pic>
        <p:nvPicPr>
          <p:cNvPr id="48" name="Picture 47"/>
          <p:cNvPicPr>
            <a:picLocks noChangeAspect="1"/>
          </p:cNvPicPr>
          <p:nvPr/>
        </p:nvPicPr>
        <p:blipFill>
          <a:blip r:embed="rId5"/>
          <a:stretch>
            <a:fillRect/>
          </a:stretch>
        </p:blipFill>
        <p:spPr>
          <a:xfrm>
            <a:off x="6383802" y="4660572"/>
            <a:ext cx="2502757" cy="1539542"/>
          </a:xfrm>
          <a:prstGeom prst="rect">
            <a:avLst/>
          </a:prstGeom>
        </p:spPr>
      </p:pic>
      <p:pic>
        <p:nvPicPr>
          <p:cNvPr id="49" name="Picture 48"/>
          <p:cNvPicPr>
            <a:picLocks noChangeAspect="1"/>
          </p:cNvPicPr>
          <p:nvPr/>
        </p:nvPicPr>
        <p:blipFill>
          <a:blip r:embed="rId6"/>
          <a:stretch>
            <a:fillRect/>
          </a:stretch>
        </p:blipFill>
        <p:spPr>
          <a:xfrm>
            <a:off x="3499625" y="4642958"/>
            <a:ext cx="2717931" cy="1557156"/>
          </a:xfrm>
          <a:prstGeom prst="rect">
            <a:avLst/>
          </a:prstGeom>
        </p:spPr>
      </p:pic>
      <p:pic>
        <p:nvPicPr>
          <p:cNvPr id="50" name="Picture 49"/>
          <p:cNvPicPr>
            <a:picLocks noChangeAspect="1"/>
          </p:cNvPicPr>
          <p:nvPr/>
        </p:nvPicPr>
        <p:blipFill>
          <a:blip r:embed="rId7"/>
          <a:stretch>
            <a:fillRect/>
          </a:stretch>
        </p:blipFill>
        <p:spPr>
          <a:xfrm>
            <a:off x="838200" y="4600471"/>
            <a:ext cx="2573244" cy="1599643"/>
          </a:xfrm>
          <a:prstGeom prst="rect">
            <a:avLst/>
          </a:prstGeom>
        </p:spPr>
      </p:pic>
    </p:spTree>
    <p:extLst>
      <p:ext uri="{BB962C8B-B14F-4D97-AF65-F5344CB8AC3E}">
        <p14:creationId xmlns:p14="http://schemas.microsoft.com/office/powerpoint/2010/main" val="4006382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4956208" cy="1325563"/>
          </a:xfrm>
        </p:spPr>
        <p:txBody>
          <a:bodyPr>
            <a:normAutofit fontScale="90000"/>
          </a:bodyPr>
          <a:lstStyle/>
          <a:p>
            <a:r>
              <a:rPr lang="en-US"/>
              <a:t>Langkah 1: Menyiapkan Rangkaian Pengukuran</a:t>
            </a:r>
          </a:p>
        </p:txBody>
      </p:sp>
      <p:sp>
        <p:nvSpPr>
          <p:cNvPr id="3" name="Content Placeholder 2"/>
          <p:cNvSpPr>
            <a:spLocks noGrp="1"/>
          </p:cNvSpPr>
          <p:nvPr>
            <p:ph idx="1"/>
          </p:nvPr>
        </p:nvSpPr>
        <p:spPr>
          <a:xfrm>
            <a:off x="838200" y="2098307"/>
            <a:ext cx="4477871" cy="3925974"/>
          </a:xfrm>
        </p:spPr>
        <p:txBody>
          <a:bodyPr>
            <a:noAutofit/>
          </a:bodyPr>
          <a:lstStyle/>
          <a:p>
            <a:pPr marL="342900" indent="-342900">
              <a:buAutoNum type="arabicPeriod"/>
            </a:pPr>
            <a:r>
              <a:rPr lang="en-US" sz="1800"/>
              <a:t>Buatlah 2 skema rangkaian pengukuran krakteristik berikut. </a:t>
            </a:r>
          </a:p>
          <a:p>
            <a:pPr marL="342900" indent="-342900">
              <a:buFont typeface="Arial" panose="020B0604020202020204" pitchFamily="34" charset="0"/>
              <a:buAutoNum type="arabicPeriod"/>
            </a:pPr>
            <a:r>
              <a:rPr lang="en-US" sz="1800"/>
              <a:t>Atas: Rangkaian 1, bawah: rangkaian 2.</a:t>
            </a:r>
          </a:p>
          <a:p>
            <a:pPr marL="342900" indent="-342900">
              <a:buFont typeface="Arial" panose="020B0604020202020204" pitchFamily="34" charset="0"/>
              <a:buAutoNum type="arabicPeriod"/>
            </a:pPr>
            <a:r>
              <a:rPr lang="en-US" sz="1800"/>
              <a:t>Pada rangkaian 1 input transistor terhubung ke sumber arus Ibin seperti terlihat pada gambar. </a:t>
            </a:r>
          </a:p>
          <a:p>
            <a:pPr marL="342900" indent="-342900">
              <a:buFont typeface="Arial" panose="020B0604020202020204" pitchFamily="34" charset="0"/>
              <a:buAutoNum type="arabicPeriod"/>
            </a:pPr>
            <a:r>
              <a:rPr lang="en-US" sz="1800"/>
              <a:t>Pada rangkaian 2 input transistor terhubung ke sumber tegangan Vbein seperti terlihat pada gambar. </a:t>
            </a:r>
          </a:p>
          <a:p>
            <a:pPr marL="342900" indent="-342900">
              <a:buAutoNum type="arabicPeriod"/>
            </a:pPr>
            <a:r>
              <a:rPr lang="en-US" sz="1800"/>
              <a:t>Pelajari cara membuat grafik dengan 2 variabel di Proteus pada slide berikut.</a:t>
            </a:r>
          </a:p>
          <a:p>
            <a:endParaRPr lang="en-US" sz="1800"/>
          </a:p>
          <a:p>
            <a:endParaRPr lang="en-US" sz="1800"/>
          </a:p>
        </p:txBody>
      </p:sp>
      <p:pic>
        <p:nvPicPr>
          <p:cNvPr id="5" name="Picture 4"/>
          <p:cNvPicPr>
            <a:picLocks noChangeAspect="1"/>
          </p:cNvPicPr>
          <p:nvPr/>
        </p:nvPicPr>
        <p:blipFill>
          <a:blip r:embed="rId2"/>
          <a:stretch>
            <a:fillRect/>
          </a:stretch>
        </p:blipFill>
        <p:spPr>
          <a:xfrm>
            <a:off x="5933323" y="435440"/>
            <a:ext cx="5164606" cy="2780367"/>
          </a:xfrm>
          <a:prstGeom prst="rect">
            <a:avLst/>
          </a:prstGeom>
        </p:spPr>
      </p:pic>
      <p:pic>
        <p:nvPicPr>
          <p:cNvPr id="10" name="Picture 9"/>
          <p:cNvPicPr>
            <a:picLocks noChangeAspect="1"/>
          </p:cNvPicPr>
          <p:nvPr/>
        </p:nvPicPr>
        <p:blipFill>
          <a:blip r:embed="rId3"/>
          <a:stretch>
            <a:fillRect/>
          </a:stretch>
        </p:blipFill>
        <p:spPr>
          <a:xfrm>
            <a:off x="5933323" y="3438424"/>
            <a:ext cx="5164606" cy="2823813"/>
          </a:xfrm>
          <a:prstGeom prst="rect">
            <a:avLst/>
          </a:prstGeom>
        </p:spPr>
      </p:pic>
    </p:spTree>
    <p:extLst>
      <p:ext uri="{BB962C8B-B14F-4D97-AF65-F5344CB8AC3E}">
        <p14:creationId xmlns:p14="http://schemas.microsoft.com/office/powerpoint/2010/main" val="1833660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Grafik Dengan 2 Variabel (2 Sumbu) di Proteus</a:t>
            </a:r>
          </a:p>
        </p:txBody>
      </p:sp>
      <p:sp>
        <p:nvSpPr>
          <p:cNvPr id="3" name="Content Placeholder 2"/>
          <p:cNvSpPr>
            <a:spLocks noGrp="1"/>
          </p:cNvSpPr>
          <p:nvPr>
            <p:ph idx="1"/>
          </p:nvPr>
        </p:nvSpPr>
        <p:spPr>
          <a:xfrm>
            <a:off x="838200" y="1825625"/>
            <a:ext cx="7763540" cy="4351338"/>
          </a:xfrm>
        </p:spPr>
        <p:txBody>
          <a:bodyPr>
            <a:normAutofit fontScale="77500" lnSpcReduction="20000"/>
          </a:bodyPr>
          <a:lstStyle/>
          <a:p>
            <a:r>
              <a:rPr lang="en-US"/>
              <a:t>Tekan tombol Graph Mode dan pilih Transfer untuk membuat grafik karakteristik dengan 2 variabel (2 sumbu).</a:t>
            </a:r>
          </a:p>
          <a:p>
            <a:r>
              <a:rPr lang="en-US" b="1"/>
              <a:t>Grafik karakteristik output </a:t>
            </a:r>
            <a:r>
              <a:rPr lang="en-US"/>
              <a:t>transistor selalu direpresentasikan dengan 2 variabel yaitu vce dan ib agar mudah dalam analisa dan pembuatan garis beban sehingga persamaan fungsinya ditulis Ic=f(vce, Ib). </a:t>
            </a:r>
          </a:p>
          <a:p>
            <a:r>
              <a:rPr lang="en-US"/>
              <a:t>Karena grafik penguatan dan grafik input dipengaruhi juga oleh vce maka </a:t>
            </a:r>
            <a:r>
              <a:rPr lang="en-US" b="1"/>
              <a:t>grafik karakteristik transfer </a:t>
            </a:r>
            <a:r>
              <a:rPr lang="en-US"/>
              <a:t>memiliki 2 variabel yaitu Ib dan vce sehingga persamaan fungsinya ditulis Ic=f(Ib, vce).</a:t>
            </a:r>
          </a:p>
          <a:p>
            <a:r>
              <a:rPr lang="en-US"/>
              <a:t>Begitu juga untuk </a:t>
            </a:r>
            <a:r>
              <a:rPr lang="en-US" b="1"/>
              <a:t>grafik karakteristik input </a:t>
            </a:r>
            <a:r>
              <a:rPr lang="en-US"/>
              <a:t>bisa juga kita gunakan 2 sumbu dengan persamaan fungsinya Ib=f(vbe, vce).</a:t>
            </a:r>
          </a:p>
          <a:p>
            <a:r>
              <a:rPr lang="en-US"/>
              <a:t>Gunakan link berikut untuk tutorial membuat grafik karakteristik output transistor: </a:t>
            </a:r>
            <a:r>
              <a:rPr lang="en-US">
                <a:hlinkClick r:id="rId2"/>
              </a:rPr>
              <a:t>https://www.youtube.com/watch?v=Z1c1ar1bS4g</a:t>
            </a:r>
            <a:endParaRPr lang="en-US"/>
          </a:p>
          <a:p>
            <a:endParaRPr lang="en-US"/>
          </a:p>
        </p:txBody>
      </p:sp>
      <p:pic>
        <p:nvPicPr>
          <p:cNvPr id="4" name="Picture 3"/>
          <p:cNvPicPr>
            <a:picLocks noChangeAspect="1"/>
          </p:cNvPicPr>
          <p:nvPr/>
        </p:nvPicPr>
        <p:blipFill>
          <a:blip r:embed="rId3"/>
          <a:stretch>
            <a:fillRect/>
          </a:stretch>
        </p:blipFill>
        <p:spPr>
          <a:xfrm>
            <a:off x="9517357" y="1825625"/>
            <a:ext cx="1281766" cy="4106678"/>
          </a:xfrm>
          <a:prstGeom prst="rect">
            <a:avLst/>
          </a:prstGeom>
        </p:spPr>
      </p:pic>
    </p:spTree>
    <p:extLst>
      <p:ext uri="{BB962C8B-B14F-4D97-AF65-F5344CB8AC3E}">
        <p14:creationId xmlns:p14="http://schemas.microsoft.com/office/powerpoint/2010/main" val="3246511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085803" cy="1325563"/>
          </a:xfrm>
        </p:spPr>
        <p:txBody>
          <a:bodyPr>
            <a:normAutofit/>
          </a:bodyPr>
          <a:lstStyle/>
          <a:p>
            <a:r>
              <a:rPr lang="en-US" sz="3200"/>
              <a:t>Pengaturan batas-batas variabel grafik karakteristik transfer.</a:t>
            </a:r>
          </a:p>
        </p:txBody>
      </p:sp>
      <p:sp>
        <p:nvSpPr>
          <p:cNvPr id="3" name="Content Placeholder 2"/>
          <p:cNvSpPr>
            <a:spLocks noGrp="1"/>
          </p:cNvSpPr>
          <p:nvPr>
            <p:ph idx="1"/>
          </p:nvPr>
        </p:nvSpPr>
        <p:spPr>
          <a:xfrm>
            <a:off x="838200" y="1825625"/>
            <a:ext cx="6143045" cy="3406333"/>
          </a:xfrm>
        </p:spPr>
        <p:txBody>
          <a:bodyPr>
            <a:normAutofit/>
          </a:bodyPr>
          <a:lstStyle/>
          <a:p>
            <a:r>
              <a:rPr lang="en-US" sz="2000"/>
              <a:t>Atas: Contoh nilai batas-batas variabel grafik (sumbu X). Untuk setiap transistor berbeda-beda.</a:t>
            </a:r>
          </a:p>
          <a:p>
            <a:r>
              <a:rPr lang="en-US" sz="2000"/>
              <a:t>Ibein disebelah kiri Vcein dikarenakan Ibein akan menjadi sumbu X.</a:t>
            </a:r>
          </a:p>
          <a:p>
            <a:r>
              <a:rPr lang="en-US" sz="2000"/>
              <a:t>Bawah: Contoh pengaturan batas-batas sumbu Y</a:t>
            </a:r>
          </a:p>
        </p:txBody>
      </p:sp>
      <p:pic>
        <p:nvPicPr>
          <p:cNvPr id="6" name="Picture 5"/>
          <p:cNvPicPr>
            <a:picLocks noChangeAspect="1"/>
          </p:cNvPicPr>
          <p:nvPr/>
        </p:nvPicPr>
        <p:blipFill>
          <a:blip r:embed="rId2"/>
          <a:stretch>
            <a:fillRect/>
          </a:stretch>
        </p:blipFill>
        <p:spPr>
          <a:xfrm>
            <a:off x="7149559" y="578505"/>
            <a:ext cx="3993587" cy="2494240"/>
          </a:xfrm>
          <a:prstGeom prst="rect">
            <a:avLst/>
          </a:prstGeom>
        </p:spPr>
      </p:pic>
      <p:pic>
        <p:nvPicPr>
          <p:cNvPr id="7" name="Picture 6"/>
          <p:cNvPicPr>
            <a:picLocks noChangeAspect="1"/>
          </p:cNvPicPr>
          <p:nvPr/>
        </p:nvPicPr>
        <p:blipFill>
          <a:blip r:embed="rId3"/>
          <a:stretch>
            <a:fillRect/>
          </a:stretch>
        </p:blipFill>
        <p:spPr>
          <a:xfrm>
            <a:off x="7149559" y="3528791"/>
            <a:ext cx="3993587" cy="2484151"/>
          </a:xfrm>
          <a:prstGeom prst="rect">
            <a:avLst/>
          </a:prstGeom>
        </p:spPr>
      </p:pic>
    </p:spTree>
    <p:extLst>
      <p:ext uri="{BB962C8B-B14F-4D97-AF65-F5344CB8AC3E}">
        <p14:creationId xmlns:p14="http://schemas.microsoft.com/office/powerpoint/2010/main" val="20160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Bagaimana melihat nilai sumbu z pada grafik yang dihasilkan</a:t>
            </a:r>
          </a:p>
        </p:txBody>
      </p:sp>
      <p:sp>
        <p:nvSpPr>
          <p:cNvPr id="3" name="Content Placeholder 2"/>
          <p:cNvSpPr>
            <a:spLocks noGrp="1"/>
          </p:cNvSpPr>
          <p:nvPr>
            <p:ph idx="1"/>
          </p:nvPr>
        </p:nvSpPr>
        <p:spPr/>
        <p:txBody>
          <a:bodyPr/>
          <a:lstStyle/>
          <a:p>
            <a:r>
              <a:rPr lang="en-US"/>
              <a:t>Ic=f(Vce, Ib) maka sumbu z adalah Ib</a:t>
            </a:r>
          </a:p>
          <a:p>
            <a:r>
              <a:rPr lang="en-US"/>
              <a:t>Ic=f(Ib, Vce) maka sumbu z adalah Vce</a:t>
            </a:r>
          </a:p>
          <a:p>
            <a:r>
              <a:rPr lang="en-US"/>
              <a:t>Ib=f(Vbe, Vce) maka sumbu z adalah Vce</a:t>
            </a:r>
          </a:p>
          <a:p>
            <a:r>
              <a:rPr lang="en-US"/>
              <a:t>Dst..</a:t>
            </a:r>
          </a:p>
          <a:p>
            <a:endParaRPr lang="en-US"/>
          </a:p>
          <a:p>
            <a:r>
              <a:rPr lang="en-US"/>
              <a:t>Maksimumkan grafik</a:t>
            </a:r>
          </a:p>
          <a:p>
            <a:r>
              <a:rPr lang="en-US"/>
              <a:t>Klik mouse pada kurva yang diinginkan dilihat sumbu nya</a:t>
            </a:r>
          </a:p>
        </p:txBody>
      </p:sp>
    </p:spTree>
    <p:extLst>
      <p:ext uri="{BB962C8B-B14F-4D97-AF65-F5344CB8AC3E}">
        <p14:creationId xmlns:p14="http://schemas.microsoft.com/office/powerpoint/2010/main" val="1685960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Setting Warna Grafik Yang Digunakan</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657475" y="2245830"/>
            <a:ext cx="6877050" cy="3181350"/>
          </a:xfrm>
          <a:prstGeom prst="rect">
            <a:avLst/>
          </a:prstGeom>
        </p:spPr>
      </p:pic>
    </p:spTree>
    <p:extLst>
      <p:ext uri="{BB962C8B-B14F-4D97-AF65-F5344CB8AC3E}">
        <p14:creationId xmlns:p14="http://schemas.microsoft.com/office/powerpoint/2010/main" val="207961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371DD-B5A9-337C-363F-28DD23E84A27}"/>
              </a:ext>
            </a:extLst>
          </p:cNvPr>
          <p:cNvSpPr>
            <a:spLocks noGrp="1"/>
          </p:cNvSpPr>
          <p:nvPr>
            <p:ph type="title"/>
          </p:nvPr>
        </p:nvSpPr>
        <p:spPr/>
        <p:txBody>
          <a:bodyPr>
            <a:normAutofit/>
          </a:bodyPr>
          <a:lstStyle/>
          <a:p>
            <a:pPr algn="ctr"/>
            <a:r>
              <a:rPr lang="en-US" sz="6600"/>
              <a:t>Grafik Karakteristik Output</a:t>
            </a:r>
            <a:endParaRPr lang="en-ID" sz="6600"/>
          </a:p>
        </p:txBody>
      </p:sp>
      <p:sp>
        <p:nvSpPr>
          <p:cNvPr id="3" name="Content Placeholder 2">
            <a:extLst>
              <a:ext uri="{FF2B5EF4-FFF2-40B4-BE49-F238E27FC236}">
                <a16:creationId xmlns:a16="http://schemas.microsoft.com/office/drawing/2014/main" id="{8AD97044-579E-CC38-4968-03AE9D724959}"/>
              </a:ext>
            </a:extLst>
          </p:cNvPr>
          <p:cNvSpPr>
            <a:spLocks noGrp="1"/>
          </p:cNvSpPr>
          <p:nvPr>
            <p:ph idx="1"/>
          </p:nvPr>
        </p:nvSpPr>
        <p:spPr/>
        <p:txBody>
          <a:bodyPr/>
          <a:lstStyle/>
          <a:p>
            <a:endParaRPr lang="en-ID"/>
          </a:p>
        </p:txBody>
      </p:sp>
    </p:spTree>
    <p:extLst>
      <p:ext uri="{BB962C8B-B14F-4D97-AF65-F5344CB8AC3E}">
        <p14:creationId xmlns:p14="http://schemas.microsoft.com/office/powerpoint/2010/main" val="1630624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Membuat Grafik Karakteristik Output Ic=f(Vce, Ib)</a:t>
            </a:r>
          </a:p>
        </p:txBody>
      </p:sp>
      <p:sp>
        <p:nvSpPr>
          <p:cNvPr id="8" name="Content Placeholder 2"/>
          <p:cNvSpPr txBox="1">
            <a:spLocks/>
          </p:cNvSpPr>
          <p:nvPr/>
        </p:nvSpPr>
        <p:spPr>
          <a:xfrm>
            <a:off x="838200" y="1825624"/>
            <a:ext cx="4477871" cy="41986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Dengan kita sudah mengetahui batas maksimum Ib, maka buatlah grafik karakteristik output Ic=f(vce, Ib) seperti pada gambar. </a:t>
            </a:r>
          </a:p>
          <a:p>
            <a:r>
              <a:rPr lang="en-US" sz="1800"/>
              <a:t>masukkan nilai Ib maks ini sebagai range Ib dalam membuat grafik karakteristik output tsb.</a:t>
            </a:r>
          </a:p>
          <a:p>
            <a:r>
              <a:rPr lang="en-US" sz="1800"/>
              <a:t>Atur setting batas-batas variabel grafik tsb (lihat side berikut).</a:t>
            </a:r>
          </a:p>
          <a:p>
            <a:endParaRPr lang="en-US" sz="1800"/>
          </a:p>
        </p:txBody>
      </p:sp>
      <p:pic>
        <p:nvPicPr>
          <p:cNvPr id="6" name="Picture 5"/>
          <p:cNvPicPr>
            <a:picLocks noChangeAspect="1"/>
          </p:cNvPicPr>
          <p:nvPr/>
        </p:nvPicPr>
        <p:blipFill>
          <a:blip r:embed="rId2"/>
          <a:stretch>
            <a:fillRect/>
          </a:stretch>
        </p:blipFill>
        <p:spPr>
          <a:xfrm>
            <a:off x="6096000" y="2215791"/>
            <a:ext cx="5164606" cy="2780367"/>
          </a:xfrm>
          <a:prstGeom prst="rect">
            <a:avLst/>
          </a:prstGeom>
        </p:spPr>
      </p:pic>
    </p:spTree>
    <p:extLst>
      <p:ext uri="{BB962C8B-B14F-4D97-AF65-F5344CB8AC3E}">
        <p14:creationId xmlns:p14="http://schemas.microsoft.com/office/powerpoint/2010/main" val="1284442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085803" cy="1325563"/>
          </a:xfrm>
        </p:spPr>
        <p:txBody>
          <a:bodyPr>
            <a:normAutofit/>
          </a:bodyPr>
          <a:lstStyle/>
          <a:p>
            <a:r>
              <a:rPr lang="en-US" sz="3200"/>
              <a:t>Pengaturan batas-batas variabel grafik karakteristik output.</a:t>
            </a:r>
          </a:p>
        </p:txBody>
      </p:sp>
      <p:sp>
        <p:nvSpPr>
          <p:cNvPr id="3" name="Content Placeholder 2"/>
          <p:cNvSpPr>
            <a:spLocks noGrp="1"/>
          </p:cNvSpPr>
          <p:nvPr>
            <p:ph idx="1"/>
          </p:nvPr>
        </p:nvSpPr>
        <p:spPr>
          <a:xfrm>
            <a:off x="838200" y="1825625"/>
            <a:ext cx="6143045" cy="3406333"/>
          </a:xfrm>
        </p:spPr>
        <p:txBody>
          <a:bodyPr>
            <a:normAutofit/>
          </a:bodyPr>
          <a:lstStyle/>
          <a:p>
            <a:r>
              <a:rPr lang="en-US" sz="2000"/>
              <a:t>Atas: Contoh nilai batas-batas variabel grafik (sumbu X). Untuk setiap transistor berbeda-beda.</a:t>
            </a:r>
          </a:p>
          <a:p>
            <a:r>
              <a:rPr lang="en-US" sz="2000"/>
              <a:t>Vcein disebelah kiri Ibin dikarenakan Vcein akan menjadi sumbu X.</a:t>
            </a:r>
          </a:p>
          <a:p>
            <a:r>
              <a:rPr lang="en-US" sz="2000"/>
              <a:t>Bawah: Contoh pengaturan batas-batas sumbu Y</a:t>
            </a:r>
          </a:p>
        </p:txBody>
      </p:sp>
      <p:pic>
        <p:nvPicPr>
          <p:cNvPr id="4" name="Picture 3"/>
          <p:cNvPicPr>
            <a:picLocks noChangeAspect="1"/>
          </p:cNvPicPr>
          <p:nvPr/>
        </p:nvPicPr>
        <p:blipFill>
          <a:blip r:embed="rId2"/>
          <a:stretch>
            <a:fillRect/>
          </a:stretch>
        </p:blipFill>
        <p:spPr>
          <a:xfrm>
            <a:off x="7149559" y="511037"/>
            <a:ext cx="3978685" cy="2494240"/>
          </a:xfrm>
          <a:prstGeom prst="rect">
            <a:avLst/>
          </a:prstGeom>
        </p:spPr>
      </p:pic>
      <p:pic>
        <p:nvPicPr>
          <p:cNvPr id="5" name="Picture 4"/>
          <p:cNvPicPr>
            <a:picLocks noChangeAspect="1"/>
          </p:cNvPicPr>
          <p:nvPr/>
        </p:nvPicPr>
        <p:blipFill>
          <a:blip r:embed="rId3"/>
          <a:stretch>
            <a:fillRect/>
          </a:stretch>
        </p:blipFill>
        <p:spPr>
          <a:xfrm>
            <a:off x="7149559" y="3246602"/>
            <a:ext cx="3993587" cy="2494240"/>
          </a:xfrm>
          <a:prstGeom prst="rect">
            <a:avLst/>
          </a:prstGeom>
        </p:spPr>
      </p:pic>
    </p:spTree>
    <p:extLst>
      <p:ext uri="{BB962C8B-B14F-4D97-AF65-F5344CB8AC3E}">
        <p14:creationId xmlns:p14="http://schemas.microsoft.com/office/powerpoint/2010/main" val="2155053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Grafik Karakteristik Output Ic=f(Vce, Ib)</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199" y="1825625"/>
            <a:ext cx="10515601" cy="4351338"/>
          </a:xfrm>
          <a:prstGeom prst="rect">
            <a:avLst/>
          </a:prstGeom>
        </p:spPr>
      </p:pic>
      <p:sp>
        <p:nvSpPr>
          <p:cNvPr id="5" name="TextBox 4"/>
          <p:cNvSpPr txBox="1"/>
          <p:nvPr/>
        </p:nvSpPr>
        <p:spPr>
          <a:xfrm>
            <a:off x="8282984" y="2360853"/>
            <a:ext cx="1359859" cy="276999"/>
          </a:xfrm>
          <a:prstGeom prst="rect">
            <a:avLst/>
          </a:prstGeom>
          <a:noFill/>
        </p:spPr>
        <p:txBody>
          <a:bodyPr wrap="none" rtlCol="0">
            <a:spAutoFit/>
          </a:bodyPr>
          <a:lstStyle/>
          <a:p>
            <a:r>
              <a:rPr lang="en-US" sz="1200"/>
              <a:t>Ib=10mA (Ib maks)</a:t>
            </a:r>
          </a:p>
        </p:txBody>
      </p:sp>
      <p:cxnSp>
        <p:nvCxnSpPr>
          <p:cNvPr id="6" name="Straight Connector 5"/>
          <p:cNvCxnSpPr/>
          <p:nvPr/>
        </p:nvCxnSpPr>
        <p:spPr>
          <a:xfrm flipH="1" flipV="1">
            <a:off x="7901479" y="2643969"/>
            <a:ext cx="30409" cy="3374059"/>
          </a:xfrm>
          <a:prstGeom prst="line">
            <a:avLst/>
          </a:prstGeom>
          <a:ln w="19050">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277582" y="2637852"/>
            <a:ext cx="6678735" cy="0"/>
          </a:xfrm>
          <a:prstGeom prst="line">
            <a:avLst/>
          </a:prstGeom>
          <a:ln w="19050">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556625" y="6173400"/>
            <a:ext cx="709105" cy="276999"/>
          </a:xfrm>
          <a:prstGeom prst="rect">
            <a:avLst/>
          </a:prstGeom>
          <a:noFill/>
        </p:spPr>
        <p:txBody>
          <a:bodyPr wrap="none" rtlCol="0">
            <a:spAutoFit/>
          </a:bodyPr>
          <a:lstStyle/>
          <a:p>
            <a:r>
              <a:rPr lang="en-US" sz="1200"/>
              <a:t>Vce=10v</a:t>
            </a:r>
          </a:p>
        </p:txBody>
      </p:sp>
      <p:sp>
        <p:nvSpPr>
          <p:cNvPr id="14" name="TextBox 13"/>
          <p:cNvSpPr txBox="1"/>
          <p:nvPr/>
        </p:nvSpPr>
        <p:spPr>
          <a:xfrm>
            <a:off x="462935" y="2485181"/>
            <a:ext cx="814647" cy="276999"/>
          </a:xfrm>
          <a:prstGeom prst="rect">
            <a:avLst/>
          </a:prstGeom>
          <a:noFill/>
        </p:spPr>
        <p:txBody>
          <a:bodyPr wrap="none" rtlCol="0">
            <a:spAutoFit/>
          </a:bodyPr>
          <a:lstStyle/>
          <a:p>
            <a:r>
              <a:rPr lang="en-US" sz="1200"/>
              <a:t>Ic=325mA</a:t>
            </a:r>
          </a:p>
        </p:txBody>
      </p:sp>
      <p:sp>
        <p:nvSpPr>
          <p:cNvPr id="15" name="TextBox 14"/>
          <p:cNvSpPr txBox="1"/>
          <p:nvPr/>
        </p:nvSpPr>
        <p:spPr>
          <a:xfrm>
            <a:off x="7288044" y="2016183"/>
            <a:ext cx="2458750" cy="338554"/>
          </a:xfrm>
          <a:prstGeom prst="rect">
            <a:avLst/>
          </a:prstGeom>
          <a:noFill/>
        </p:spPr>
        <p:txBody>
          <a:bodyPr wrap="none" rtlCol="0">
            <a:spAutoFit/>
          </a:bodyPr>
          <a:lstStyle/>
          <a:p>
            <a:r>
              <a:rPr lang="en-US" sz="1600">
                <a:solidFill>
                  <a:srgbClr val="FF0000"/>
                </a:solidFill>
              </a:rPr>
              <a:t>pd batas ini Ib naik, Ic tetap</a:t>
            </a:r>
          </a:p>
        </p:txBody>
      </p:sp>
      <p:sp>
        <p:nvSpPr>
          <p:cNvPr id="16" name="Down Arrow 15"/>
          <p:cNvSpPr/>
          <p:nvPr/>
        </p:nvSpPr>
        <p:spPr>
          <a:xfrm flipV="1">
            <a:off x="9741794" y="2041451"/>
            <a:ext cx="202018" cy="44373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3202089" y="2363084"/>
            <a:ext cx="651332" cy="276999"/>
          </a:xfrm>
          <a:prstGeom prst="rect">
            <a:avLst/>
          </a:prstGeom>
          <a:noFill/>
        </p:spPr>
        <p:txBody>
          <a:bodyPr wrap="none" rtlCol="0">
            <a:spAutoFit/>
          </a:bodyPr>
          <a:lstStyle/>
          <a:p>
            <a:r>
              <a:rPr lang="en-US" sz="1200"/>
              <a:t>Ic maks</a:t>
            </a:r>
          </a:p>
        </p:txBody>
      </p:sp>
    </p:spTree>
    <p:extLst>
      <p:ext uri="{BB962C8B-B14F-4D97-AF65-F5344CB8AC3E}">
        <p14:creationId xmlns:p14="http://schemas.microsoft.com/office/powerpoint/2010/main" val="2632104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92377-BA13-8E9D-D60F-4A15ADE17A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EF095-FBE9-7C39-2AD1-EB9C587191E2}"/>
              </a:ext>
            </a:extLst>
          </p:cNvPr>
          <p:cNvSpPr>
            <a:spLocks noGrp="1"/>
          </p:cNvSpPr>
          <p:nvPr>
            <p:ph type="title"/>
          </p:nvPr>
        </p:nvSpPr>
        <p:spPr/>
        <p:txBody>
          <a:bodyPr>
            <a:normAutofit/>
          </a:bodyPr>
          <a:lstStyle/>
          <a:p>
            <a:pPr algn="ctr"/>
            <a:r>
              <a:rPr lang="en-US" sz="6600"/>
              <a:t>Grafik Karakteristik Transfer</a:t>
            </a:r>
            <a:endParaRPr lang="en-ID" sz="6600"/>
          </a:p>
        </p:txBody>
      </p:sp>
      <p:sp>
        <p:nvSpPr>
          <p:cNvPr id="3" name="Content Placeholder 2">
            <a:extLst>
              <a:ext uri="{FF2B5EF4-FFF2-40B4-BE49-F238E27FC236}">
                <a16:creationId xmlns:a16="http://schemas.microsoft.com/office/drawing/2014/main" id="{261FEDB5-8A17-E66B-E413-74B5A58CD41B}"/>
              </a:ext>
            </a:extLst>
          </p:cNvPr>
          <p:cNvSpPr>
            <a:spLocks noGrp="1"/>
          </p:cNvSpPr>
          <p:nvPr>
            <p:ph idx="1"/>
          </p:nvPr>
        </p:nvSpPr>
        <p:spPr/>
        <p:txBody>
          <a:bodyPr/>
          <a:lstStyle/>
          <a:p>
            <a:endParaRPr lang="en-ID"/>
          </a:p>
        </p:txBody>
      </p:sp>
    </p:spTree>
    <p:extLst>
      <p:ext uri="{BB962C8B-B14F-4D97-AF65-F5344CB8AC3E}">
        <p14:creationId xmlns:p14="http://schemas.microsoft.com/office/powerpoint/2010/main" val="1396687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Membuat Grafik Karakteristik Transfer Ic=f(Ib, Vce)</a:t>
            </a:r>
          </a:p>
        </p:txBody>
      </p:sp>
      <p:sp>
        <p:nvSpPr>
          <p:cNvPr id="8" name="Content Placeholder 2"/>
          <p:cNvSpPr txBox="1">
            <a:spLocks/>
          </p:cNvSpPr>
          <p:nvPr/>
        </p:nvSpPr>
        <p:spPr>
          <a:xfrm>
            <a:off x="731874" y="2088682"/>
            <a:ext cx="4477871" cy="36166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Grafik ini merupakan grafik penguatan transistor yang biasa kita kenal dengan istilah Beta atau Hfe.</a:t>
            </a:r>
          </a:p>
          <a:p>
            <a:r>
              <a:rPr lang="en-US" sz="1800"/>
              <a:t>Agar kita tahu berapa batas kemampuan transistor yang kita gunakan dan dapat menggunakan batas tsb dalam membuat grafik kita maka buatlah terlebih dahulu grafik karakteristik transfer Ic=f(Ib, vce).</a:t>
            </a:r>
          </a:p>
          <a:p>
            <a:r>
              <a:rPr lang="en-US" sz="1800"/>
              <a:t>Gunakan rangkaian pengukuran berikut.</a:t>
            </a:r>
          </a:p>
          <a:p>
            <a:endParaRPr lang="en-US" sz="1800"/>
          </a:p>
        </p:txBody>
      </p:sp>
      <p:pic>
        <p:nvPicPr>
          <p:cNvPr id="7" name="Picture 6"/>
          <p:cNvPicPr>
            <a:picLocks noChangeAspect="1"/>
          </p:cNvPicPr>
          <p:nvPr/>
        </p:nvPicPr>
        <p:blipFill>
          <a:blip r:embed="rId2"/>
          <a:stretch>
            <a:fillRect/>
          </a:stretch>
        </p:blipFill>
        <p:spPr>
          <a:xfrm>
            <a:off x="6096000" y="2215791"/>
            <a:ext cx="5164606" cy="2780367"/>
          </a:xfrm>
          <a:prstGeom prst="rect">
            <a:avLst/>
          </a:prstGeom>
        </p:spPr>
      </p:pic>
    </p:spTree>
    <p:extLst>
      <p:ext uri="{BB962C8B-B14F-4D97-AF65-F5344CB8AC3E}">
        <p14:creationId xmlns:p14="http://schemas.microsoft.com/office/powerpoint/2010/main" val="834721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000"/>
              <a:t>Berikan range Vce antara 0 sd 10v dengan step 1v. Nilai 10v dipilih karena nantinya itu akan menjadi nilai Vcc, batas tegangan tertinggi dalam suatu rangkaian yang akan dibuat. Bila diinginkan kita bisa juga memberikan batas yang lebih tinggi dari itu yaitu batas tegangan Break Down transistor. </a:t>
            </a:r>
          </a:p>
          <a:p>
            <a:r>
              <a:rPr lang="en-US" sz="2000"/>
              <a:t>Berikan nilai Ib yang tepat dengan cara mencoba-coba sedemikian sehingga didapatkan grafik pada vce=10v, Ib tidak bisa naik lagi atau datar artinya sdh tidak terjadi lagi penguatan. Pada grafik, kondisi ini terjadi bila Ib&gt;=10mA (Ib maks).</a:t>
            </a:r>
          </a:p>
          <a:p>
            <a:r>
              <a:rPr lang="en-US" sz="2000"/>
              <a:t>Ib maks ini akan berbeda-beda untuk setiap transistor. Untuk transistor arus lemah seperti BC108, BC547, Ib maks nya lebih kecil daripada misalnya 2N3055 (transistor daya).</a:t>
            </a:r>
          </a:p>
        </p:txBody>
      </p:sp>
    </p:spTree>
    <p:extLst>
      <p:ext uri="{BB962C8B-B14F-4D97-AF65-F5344CB8AC3E}">
        <p14:creationId xmlns:p14="http://schemas.microsoft.com/office/powerpoint/2010/main" val="3897575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Grafik Karakteristik Transfer Ic=f(Ib, Vce)</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1825625"/>
            <a:ext cx="10515600" cy="4386296"/>
          </a:xfrm>
          <a:prstGeom prst="rect">
            <a:avLst/>
          </a:prstGeom>
        </p:spPr>
      </p:pic>
      <p:sp>
        <p:nvSpPr>
          <p:cNvPr id="5" name="TextBox 4"/>
          <p:cNvSpPr txBox="1"/>
          <p:nvPr/>
        </p:nvSpPr>
        <p:spPr>
          <a:xfrm>
            <a:off x="9999379" y="1950700"/>
            <a:ext cx="709105" cy="276999"/>
          </a:xfrm>
          <a:prstGeom prst="rect">
            <a:avLst/>
          </a:prstGeom>
          <a:noFill/>
        </p:spPr>
        <p:txBody>
          <a:bodyPr wrap="none" rtlCol="0">
            <a:spAutoFit/>
          </a:bodyPr>
          <a:lstStyle/>
          <a:p>
            <a:r>
              <a:rPr lang="en-US" sz="1200"/>
              <a:t>Vce=10v</a:t>
            </a:r>
          </a:p>
        </p:txBody>
      </p:sp>
      <p:cxnSp>
        <p:nvCxnSpPr>
          <p:cNvPr id="7" name="Straight Connector 6"/>
          <p:cNvCxnSpPr/>
          <p:nvPr/>
        </p:nvCxnSpPr>
        <p:spPr>
          <a:xfrm flipV="1">
            <a:off x="9592056" y="2233815"/>
            <a:ext cx="0" cy="3978107"/>
          </a:xfrm>
          <a:prstGeom prst="line">
            <a:avLst/>
          </a:prstGeom>
          <a:ln w="19050">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1212112" y="2227699"/>
            <a:ext cx="8379944" cy="3058"/>
          </a:xfrm>
          <a:prstGeom prst="line">
            <a:avLst/>
          </a:prstGeom>
          <a:ln w="19050">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120743" y="6158060"/>
            <a:ext cx="750526" cy="276999"/>
          </a:xfrm>
          <a:prstGeom prst="rect">
            <a:avLst/>
          </a:prstGeom>
          <a:noFill/>
        </p:spPr>
        <p:txBody>
          <a:bodyPr wrap="none" rtlCol="0">
            <a:spAutoFit/>
          </a:bodyPr>
          <a:lstStyle/>
          <a:p>
            <a:r>
              <a:rPr lang="en-US" sz="1200"/>
              <a:t>Ib=10mA</a:t>
            </a:r>
          </a:p>
        </p:txBody>
      </p:sp>
      <p:sp>
        <p:nvSpPr>
          <p:cNvPr id="15" name="TextBox 14"/>
          <p:cNvSpPr txBox="1"/>
          <p:nvPr/>
        </p:nvSpPr>
        <p:spPr>
          <a:xfrm>
            <a:off x="430876" y="2095315"/>
            <a:ext cx="814647" cy="276999"/>
          </a:xfrm>
          <a:prstGeom prst="rect">
            <a:avLst/>
          </a:prstGeom>
          <a:noFill/>
        </p:spPr>
        <p:txBody>
          <a:bodyPr wrap="none" rtlCol="0">
            <a:spAutoFit/>
          </a:bodyPr>
          <a:lstStyle/>
          <a:p>
            <a:r>
              <a:rPr lang="en-US" sz="1200"/>
              <a:t>Ic=325mA</a:t>
            </a:r>
          </a:p>
        </p:txBody>
      </p:sp>
      <p:sp>
        <p:nvSpPr>
          <p:cNvPr id="17" name="TextBox 16"/>
          <p:cNvSpPr txBox="1"/>
          <p:nvPr/>
        </p:nvSpPr>
        <p:spPr>
          <a:xfrm>
            <a:off x="3907522" y="6334492"/>
            <a:ext cx="2361929" cy="338554"/>
          </a:xfrm>
          <a:prstGeom prst="rect">
            <a:avLst/>
          </a:prstGeom>
          <a:noFill/>
        </p:spPr>
        <p:txBody>
          <a:bodyPr wrap="none" rtlCol="0">
            <a:spAutoFit/>
          </a:bodyPr>
          <a:lstStyle/>
          <a:p>
            <a:r>
              <a:rPr lang="en-US" sz="1600">
                <a:solidFill>
                  <a:srgbClr val="FF0000"/>
                </a:solidFill>
              </a:rPr>
              <a:t>daerah dengan penguatan</a:t>
            </a:r>
          </a:p>
        </p:txBody>
      </p:sp>
      <p:sp>
        <p:nvSpPr>
          <p:cNvPr id="18" name="TextBox 17"/>
          <p:cNvSpPr txBox="1"/>
          <p:nvPr/>
        </p:nvSpPr>
        <p:spPr>
          <a:xfrm>
            <a:off x="9648939" y="6346239"/>
            <a:ext cx="1596399" cy="338554"/>
          </a:xfrm>
          <a:prstGeom prst="rect">
            <a:avLst/>
          </a:prstGeom>
          <a:noFill/>
        </p:spPr>
        <p:txBody>
          <a:bodyPr wrap="none" rtlCol="0">
            <a:spAutoFit/>
          </a:bodyPr>
          <a:lstStyle/>
          <a:p>
            <a:r>
              <a:rPr lang="en-US" sz="1600">
                <a:solidFill>
                  <a:srgbClr val="FF0000"/>
                </a:solidFill>
              </a:rPr>
              <a:t>tanpa penguatan</a:t>
            </a:r>
          </a:p>
        </p:txBody>
      </p:sp>
      <p:sp>
        <p:nvSpPr>
          <p:cNvPr id="19" name="TextBox 18"/>
          <p:cNvSpPr txBox="1"/>
          <p:nvPr/>
        </p:nvSpPr>
        <p:spPr>
          <a:xfrm>
            <a:off x="9592056" y="5692550"/>
            <a:ext cx="822341" cy="338554"/>
          </a:xfrm>
          <a:prstGeom prst="rect">
            <a:avLst/>
          </a:prstGeom>
          <a:noFill/>
        </p:spPr>
        <p:txBody>
          <a:bodyPr wrap="none" rtlCol="0">
            <a:spAutoFit/>
          </a:bodyPr>
          <a:lstStyle/>
          <a:p>
            <a:r>
              <a:rPr lang="en-US" sz="1600">
                <a:solidFill>
                  <a:srgbClr val="FF0000"/>
                </a:solidFill>
              </a:rPr>
              <a:t>Ib maks</a:t>
            </a:r>
          </a:p>
        </p:txBody>
      </p:sp>
      <p:cxnSp>
        <p:nvCxnSpPr>
          <p:cNvPr id="21" name="Straight Arrow Connector 20"/>
          <p:cNvCxnSpPr/>
          <p:nvPr/>
        </p:nvCxnSpPr>
        <p:spPr>
          <a:xfrm>
            <a:off x="1245523" y="6381198"/>
            <a:ext cx="8346533" cy="7025"/>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9560115" y="6381198"/>
            <a:ext cx="1685223" cy="7026"/>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09917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F7012-E02C-3272-291F-F1FFF298E1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DDF82-D5D6-6184-3820-E1DB5F341E3B}"/>
              </a:ext>
            </a:extLst>
          </p:cNvPr>
          <p:cNvSpPr>
            <a:spLocks noGrp="1"/>
          </p:cNvSpPr>
          <p:nvPr>
            <p:ph type="title"/>
          </p:nvPr>
        </p:nvSpPr>
        <p:spPr/>
        <p:txBody>
          <a:bodyPr>
            <a:normAutofit/>
          </a:bodyPr>
          <a:lstStyle/>
          <a:p>
            <a:pPr algn="ctr"/>
            <a:r>
              <a:rPr lang="en-US" sz="6600"/>
              <a:t>Grafik Karakteristik Input</a:t>
            </a:r>
            <a:endParaRPr lang="en-ID" sz="6600"/>
          </a:p>
        </p:txBody>
      </p:sp>
      <p:sp>
        <p:nvSpPr>
          <p:cNvPr id="3" name="Content Placeholder 2">
            <a:extLst>
              <a:ext uri="{FF2B5EF4-FFF2-40B4-BE49-F238E27FC236}">
                <a16:creationId xmlns:a16="http://schemas.microsoft.com/office/drawing/2014/main" id="{DC851A26-3946-1806-A33B-4A293E426D76}"/>
              </a:ext>
            </a:extLst>
          </p:cNvPr>
          <p:cNvSpPr>
            <a:spLocks noGrp="1"/>
          </p:cNvSpPr>
          <p:nvPr>
            <p:ph idx="1"/>
          </p:nvPr>
        </p:nvSpPr>
        <p:spPr/>
        <p:txBody>
          <a:bodyPr/>
          <a:lstStyle/>
          <a:p>
            <a:endParaRPr lang="en-ID"/>
          </a:p>
        </p:txBody>
      </p:sp>
    </p:spTree>
    <p:extLst>
      <p:ext uri="{BB962C8B-B14F-4D97-AF65-F5344CB8AC3E}">
        <p14:creationId xmlns:p14="http://schemas.microsoft.com/office/powerpoint/2010/main" val="629988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Membuat Grafik Karakteristik Input Ib=f(vbe, vce)</a:t>
            </a:r>
          </a:p>
        </p:txBody>
      </p:sp>
      <p:sp>
        <p:nvSpPr>
          <p:cNvPr id="8" name="Content Placeholder 2"/>
          <p:cNvSpPr txBox="1">
            <a:spLocks/>
          </p:cNvSpPr>
          <p:nvPr/>
        </p:nvSpPr>
        <p:spPr>
          <a:xfrm>
            <a:off x="838200" y="1690688"/>
            <a:ext cx="4477871" cy="43335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Dengan kita sudah mengetahui range Vbe pada batas Vce maks yang kita tentukan dari grafik karakteristik transfer Ic=f(Vbe, Vce) maka buatlah grafik karakteristik input Ib=f(vbe, vce).</a:t>
            </a:r>
          </a:p>
          <a:p>
            <a:r>
              <a:rPr lang="en-US" sz="1800"/>
              <a:t>Gunakan rangkaian berikut.</a:t>
            </a:r>
          </a:p>
          <a:p>
            <a:r>
              <a:rPr lang="en-US" sz="1800"/>
              <a:t>Atur setting batas-batas variabel grafik (lihat side berikut).</a:t>
            </a:r>
          </a:p>
          <a:p>
            <a:endParaRPr lang="en-US" sz="1800"/>
          </a:p>
        </p:txBody>
      </p:sp>
      <p:pic>
        <p:nvPicPr>
          <p:cNvPr id="5" name="Picture 4"/>
          <p:cNvPicPr>
            <a:picLocks noChangeAspect="1"/>
          </p:cNvPicPr>
          <p:nvPr/>
        </p:nvPicPr>
        <p:blipFill>
          <a:blip r:embed="rId2"/>
          <a:stretch>
            <a:fillRect/>
          </a:stretch>
        </p:blipFill>
        <p:spPr>
          <a:xfrm>
            <a:off x="6096000" y="2445578"/>
            <a:ext cx="5164606" cy="2823813"/>
          </a:xfrm>
          <a:prstGeom prst="rect">
            <a:avLst/>
          </a:prstGeom>
        </p:spPr>
      </p:pic>
    </p:spTree>
    <p:extLst>
      <p:ext uri="{BB962C8B-B14F-4D97-AF65-F5344CB8AC3E}">
        <p14:creationId xmlns:p14="http://schemas.microsoft.com/office/powerpoint/2010/main" val="2397319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Grafik Karakteristik Input Ib=f(Vbe, Vce)</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1825625"/>
            <a:ext cx="10515600" cy="4351338"/>
          </a:xfrm>
          <a:prstGeom prst="rect">
            <a:avLst/>
          </a:prstGeom>
        </p:spPr>
      </p:pic>
    </p:spTree>
    <p:extLst>
      <p:ext uri="{BB962C8B-B14F-4D97-AF65-F5344CB8AC3E}">
        <p14:creationId xmlns:p14="http://schemas.microsoft.com/office/powerpoint/2010/main" val="3511109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Grafik Karakteristik Input Ib=f(Vbe, Vce) yang diperbesar</a:t>
            </a:r>
          </a:p>
        </p:txBody>
      </p:sp>
      <p:grpSp>
        <p:nvGrpSpPr>
          <p:cNvPr id="7" name="Group 6"/>
          <p:cNvGrpSpPr/>
          <p:nvPr/>
        </p:nvGrpSpPr>
        <p:grpSpPr>
          <a:xfrm>
            <a:off x="1510635" y="1903088"/>
            <a:ext cx="8891446" cy="3847909"/>
            <a:chOff x="230475" y="2213984"/>
            <a:chExt cx="8891446" cy="3847909"/>
          </a:xfrm>
        </p:grpSpPr>
        <p:pic>
          <p:nvPicPr>
            <p:cNvPr id="8" name="Picture 7"/>
            <p:cNvPicPr>
              <a:picLocks noChangeAspect="1"/>
            </p:cNvPicPr>
            <p:nvPr/>
          </p:nvPicPr>
          <p:blipFill>
            <a:blip r:embed="rId2"/>
            <a:stretch>
              <a:fillRect/>
            </a:stretch>
          </p:blipFill>
          <p:spPr>
            <a:xfrm>
              <a:off x="628650" y="2444817"/>
              <a:ext cx="7886700" cy="3425491"/>
            </a:xfrm>
            <a:prstGeom prst="rect">
              <a:avLst/>
            </a:prstGeom>
          </p:spPr>
        </p:pic>
        <p:sp>
          <p:nvSpPr>
            <p:cNvPr id="9" name="Rectangle 8"/>
            <p:cNvSpPr/>
            <p:nvPr/>
          </p:nvSpPr>
          <p:spPr>
            <a:xfrm>
              <a:off x="7527984" y="3109579"/>
              <a:ext cx="634726" cy="369332"/>
            </a:xfrm>
            <a:prstGeom prst="rect">
              <a:avLst/>
            </a:prstGeom>
          </p:spPr>
          <p:txBody>
            <a:bodyPr wrap="none">
              <a:spAutoFit/>
            </a:bodyPr>
            <a:lstStyle/>
            <a:p>
              <a:r>
                <a:rPr lang="en-US"/>
                <a:t>Vce1</a:t>
              </a:r>
            </a:p>
          </p:txBody>
        </p:sp>
        <p:sp>
          <p:nvSpPr>
            <p:cNvPr id="10" name="Rectangle 9"/>
            <p:cNvSpPr/>
            <p:nvPr/>
          </p:nvSpPr>
          <p:spPr>
            <a:xfrm>
              <a:off x="7739581" y="3478911"/>
              <a:ext cx="634726" cy="369332"/>
            </a:xfrm>
            <a:prstGeom prst="rect">
              <a:avLst/>
            </a:prstGeom>
          </p:spPr>
          <p:txBody>
            <a:bodyPr wrap="none">
              <a:spAutoFit/>
            </a:bodyPr>
            <a:lstStyle/>
            <a:p>
              <a:r>
                <a:rPr lang="en-US"/>
                <a:t>Vce2</a:t>
              </a:r>
            </a:p>
          </p:txBody>
        </p:sp>
        <p:sp>
          <p:nvSpPr>
            <p:cNvPr id="11" name="Rectangle 10"/>
            <p:cNvSpPr/>
            <p:nvPr/>
          </p:nvSpPr>
          <p:spPr>
            <a:xfrm>
              <a:off x="7786838" y="4282769"/>
              <a:ext cx="751744" cy="369332"/>
            </a:xfrm>
            <a:prstGeom prst="rect">
              <a:avLst/>
            </a:prstGeom>
          </p:spPr>
          <p:txBody>
            <a:bodyPr wrap="none">
              <a:spAutoFit/>
            </a:bodyPr>
            <a:lstStyle/>
            <a:p>
              <a:r>
                <a:rPr lang="en-US"/>
                <a:t>Vce10</a:t>
              </a:r>
            </a:p>
          </p:txBody>
        </p:sp>
        <p:sp>
          <p:nvSpPr>
            <p:cNvPr id="12" name="Rectangle 11"/>
            <p:cNvSpPr/>
            <p:nvPr/>
          </p:nvSpPr>
          <p:spPr>
            <a:xfrm>
              <a:off x="8446736" y="5600228"/>
              <a:ext cx="675185" cy="461665"/>
            </a:xfrm>
            <a:prstGeom prst="rect">
              <a:avLst/>
            </a:prstGeom>
          </p:spPr>
          <p:txBody>
            <a:bodyPr wrap="none">
              <a:spAutoFit/>
            </a:bodyPr>
            <a:lstStyle/>
            <a:p>
              <a:r>
                <a:rPr lang="en-US" sz="2400">
                  <a:solidFill>
                    <a:srgbClr val="FF0000"/>
                  </a:solidFill>
                </a:rPr>
                <a:t>Vbe</a:t>
              </a:r>
            </a:p>
          </p:txBody>
        </p:sp>
        <p:sp>
          <p:nvSpPr>
            <p:cNvPr id="13" name="Rectangle 12"/>
            <p:cNvSpPr/>
            <p:nvPr/>
          </p:nvSpPr>
          <p:spPr>
            <a:xfrm>
              <a:off x="230475" y="2213984"/>
              <a:ext cx="423514" cy="461665"/>
            </a:xfrm>
            <a:prstGeom prst="rect">
              <a:avLst/>
            </a:prstGeom>
          </p:spPr>
          <p:txBody>
            <a:bodyPr wrap="none">
              <a:spAutoFit/>
            </a:bodyPr>
            <a:lstStyle/>
            <a:p>
              <a:r>
                <a:rPr lang="en-US" sz="2400">
                  <a:solidFill>
                    <a:srgbClr val="FF0000"/>
                  </a:solidFill>
                </a:rPr>
                <a:t>Ib</a:t>
              </a:r>
            </a:p>
          </p:txBody>
        </p:sp>
      </p:grpSp>
    </p:spTree>
    <p:extLst>
      <p:ext uri="{BB962C8B-B14F-4D97-AF65-F5344CB8AC3E}">
        <p14:creationId xmlns:p14="http://schemas.microsoft.com/office/powerpoint/2010/main" val="41216179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1754</TotalTime>
  <Words>839</Words>
  <Application>Microsoft Office PowerPoint</Application>
  <PresentationFormat>Widescreen</PresentationFormat>
  <Paragraphs>75</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Membuat Grafik Karakteristik Transistor (mode otomatis/mode graph)</vt:lpstr>
      <vt:lpstr>Gambaran Grafik Karakteristik Input, Output dan Transfer Transistor</vt:lpstr>
      <vt:lpstr>Langkah 1: Menyiapkan Rangkaian Pengukuran</vt:lpstr>
      <vt:lpstr>Grafik Dengan 2 Variabel (2 Sumbu) di Proteus</vt:lpstr>
      <vt:lpstr>Pengaturan batas-batas variabel grafik karakteristik transfer.</vt:lpstr>
      <vt:lpstr>Bagaimana melihat nilai sumbu z pada grafik yang dihasilkan</vt:lpstr>
      <vt:lpstr>Setting Warna Grafik Yang Digunakan</vt:lpstr>
      <vt:lpstr>Grafik Karakteristik Output</vt:lpstr>
      <vt:lpstr>Membuat Grafik Karakteristik Output Ic=f(Vce, Ib)</vt:lpstr>
      <vt:lpstr>Pengaturan batas-batas variabel grafik karakteristik output.</vt:lpstr>
      <vt:lpstr>Grafik Karakteristik Output Ic=f(Vce, Ib)</vt:lpstr>
      <vt:lpstr>Grafik Karakteristik Transfer</vt:lpstr>
      <vt:lpstr>Membuat Grafik Karakteristik Transfer Ic=f(Ib, Vce)</vt:lpstr>
      <vt:lpstr>PowerPoint Presentation</vt:lpstr>
      <vt:lpstr>Grafik Karakteristik Transfer Ic=f(Ib, Vce)</vt:lpstr>
      <vt:lpstr>Grafik Karakteristik Input</vt:lpstr>
      <vt:lpstr>Membuat Grafik Karakteristik Input Ib=f(vbe, vce)</vt:lpstr>
      <vt:lpstr>Grafik Karakteristik Input Ib=f(Vbe, Vce)</vt:lpstr>
      <vt:lpstr>Grafik Karakteristik Input Ib=f(Vbe, Vce) yang diperbesar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erilmozef@yahoo.com</cp:lastModifiedBy>
  <cp:revision>127</cp:revision>
  <dcterms:created xsi:type="dcterms:W3CDTF">2021-06-02T22:26:51Z</dcterms:created>
  <dcterms:modified xsi:type="dcterms:W3CDTF">2025-05-02T06:33:08Z</dcterms:modified>
</cp:coreProperties>
</file>