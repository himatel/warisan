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3" r:id="rId2"/>
    <p:sldId id="25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94660"/>
  </p:normalViewPr>
  <p:slideViewPr>
    <p:cSldViewPr snapToGrid="0">
      <p:cViewPr varScale="1">
        <p:scale>
          <a:sx n="82" d="100"/>
          <a:sy n="82" d="100"/>
        </p:scale>
        <p:origin x="754" y="62"/>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4B52-5C2C-4E4A-9BA3-31BF185093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2CD83B-EAFD-442D-9CD6-1E9CFBAC55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A0C395-4F99-4AF1-9945-D5F567E1BE43}"/>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BED6809C-5A6E-4C4A-ADCA-39A0C427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5C22E-4D18-4389-8E3B-DC94B62666C5}"/>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3529544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958A-5C46-4DFD-A085-D654F8FD0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9B6E30-879F-4DB5-8516-A704547D24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A58029-6382-4866-995D-15676E869296}"/>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6D97F827-0EEC-49E2-A67D-9775805BF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07053-DB99-4273-B43C-5108B4C65079}"/>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146586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47807-9375-414D-B6A7-5E9AD39B5A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938215-5D29-46B5-B4A5-6B44A51B5C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A2008A-A1D5-40A1-84A0-E31674B35C7F}"/>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CA2586E0-E55B-4D22-9744-A377E889EB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97EDF-369E-4534-95CF-5FED32391F11}"/>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410572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045AA-6539-4E17-9FE8-AFD86F009E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CB5CDB-B91C-47C4-A8DB-941482DAE8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66A23F-80A1-4A70-9509-6A49AA3A9A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830578-811E-43A9-82AF-FEF4DC697BFC}"/>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F5A56CC7-71B5-484E-A350-AB4997DD8D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E9A9B4-76C5-412F-8224-54839442620E}"/>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223379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148E-EBFF-4494-872A-0C122BEC59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8E8140-43BB-485F-BF30-66A98B3505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CBDF9B-B2CE-44AF-BF19-9129D79E4F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9A0C98-274A-4787-8770-24248A2788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8CF06C-4A01-4A3B-8CD4-37AA6CE958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2B2F4F-0D80-4C96-9E79-668370252D1B}"/>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8" name="Footer Placeholder 7">
            <a:extLst>
              <a:ext uri="{FF2B5EF4-FFF2-40B4-BE49-F238E27FC236}">
                <a16:creationId xmlns:a16="http://schemas.microsoft.com/office/drawing/2014/main" id="{164F8BD3-59BE-41F4-8DF8-A6427AC6FA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665495-6148-4108-8B78-BFED911F02BA}"/>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126777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1A376-44BE-4851-9E26-CBC1251383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59DF19-B02E-4100-8A66-1034012B5301}"/>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4" name="Footer Placeholder 3">
            <a:extLst>
              <a:ext uri="{FF2B5EF4-FFF2-40B4-BE49-F238E27FC236}">
                <a16:creationId xmlns:a16="http://schemas.microsoft.com/office/drawing/2014/main" id="{6828C644-C233-40CC-B27E-E7F08F37B1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52E1CF-6173-40C4-BC66-6F4520A8EC63}"/>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733482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6B4B8-DA0D-405B-AFD2-99C9DE2699A2}"/>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3" name="Footer Placeholder 2">
            <a:extLst>
              <a:ext uri="{FF2B5EF4-FFF2-40B4-BE49-F238E27FC236}">
                <a16:creationId xmlns:a16="http://schemas.microsoft.com/office/drawing/2014/main" id="{8EB85ADD-13EA-4B23-88FA-EA2EFA8076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A53C91-08AF-425C-87FE-4CC9E91A0722}"/>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512226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618B-5010-4DA2-B8D7-1683A0C10C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15114F-79DB-424D-A429-BD9DAE2D53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A96EFF-AAB0-4534-B5A5-6AB138772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DD9F0-8E72-4884-BC50-FD86EB4D3B44}"/>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54260019-CF44-4973-8A00-706A2F5F6A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678B2B-AA64-4DBA-8FFF-5C521B85A499}"/>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89619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D340-ECD1-480E-851E-6E3212403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AC7BE8-70DE-45B0-97AC-1090FF3126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5054DF-FB9B-40B3-9C4D-B6DEDBAD4A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463F8-3CC1-4369-AE9D-C86B3200AC5F}"/>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EBDCD53E-BE2E-45B1-B813-85102D145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C28446-824F-462A-8FC4-DF32EA195413}"/>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883409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6DAE2-3A46-4A4A-9322-411C1D74D5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D1826C-DE02-4830-ADD0-1A361F1F2D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4749FE-8588-491D-92A1-814105E8C186}"/>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0A96B224-619C-4698-9B69-5E9873320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E8E04-5B72-459D-9D44-C9F3F598705D}"/>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580592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E9C31D-6FC8-4834-8339-B8998A48E0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093C30-D4DE-4ABA-B563-E17612DB98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61484-78ED-4854-B178-6A60A9F14865}"/>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55AAB9A1-7CF4-4F8A-9FB7-8C0A0F485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AD03C-E47B-4BCA-BF98-E5FD985E556A}"/>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394870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069FB-B69B-4A51-B128-2675B14ED8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1C5897-C35A-4282-9D4D-45F3A7F95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8EEE5F-BC92-46F3-8CA3-4E0FF30B8D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6FCEF1A7-4882-4B44-9EA0-9AA2E88D30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794C30-63BA-479D-B8C0-2B566B48FA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9BA18-C6F7-4175-9511-36D7374547EB}" type="slidenum">
              <a:rPr lang="en-US" smtClean="0"/>
              <a:t>‹#›</a:t>
            </a:fld>
            <a:endParaRPr lang="en-US"/>
          </a:p>
        </p:txBody>
      </p:sp>
    </p:spTree>
    <p:extLst>
      <p:ext uri="{BB962C8B-B14F-4D97-AF65-F5344CB8AC3E}">
        <p14:creationId xmlns:p14="http://schemas.microsoft.com/office/powerpoint/2010/main" val="1252115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Apa yang dimaksud dengan Operating Point atau Qpoint (Titik Operasi/Titik Kerja)?</a:t>
            </a:r>
          </a:p>
        </p:txBody>
      </p:sp>
      <p:sp>
        <p:nvSpPr>
          <p:cNvPr id="3" name="Content Placeholder 2"/>
          <p:cNvSpPr>
            <a:spLocks noGrp="1"/>
          </p:cNvSpPr>
          <p:nvPr>
            <p:ph idx="1"/>
          </p:nvPr>
        </p:nvSpPr>
        <p:spPr>
          <a:xfrm>
            <a:off x="838199" y="1825625"/>
            <a:ext cx="5935363" cy="4351338"/>
          </a:xfrm>
        </p:spPr>
        <p:txBody>
          <a:bodyPr>
            <a:normAutofit lnSpcReduction="10000"/>
          </a:bodyPr>
          <a:lstStyle/>
          <a:p>
            <a:r>
              <a:rPr lang="en-US" sz="1600"/>
              <a:t>Operating point (titik operasi/titik kerja) atau Qpoint transistor adalah sebuah titik pada garis beban dimana saat tidak ada sinyal AC diinputkan ke basis transistor tersebut maka akan terdapat arus dan tegangan konstan (DC) yaitu Ic dan Vce dimana Ic bernilai Icq dan Vce bernilai Vceq. </a:t>
            </a:r>
          </a:p>
          <a:p>
            <a:r>
              <a:rPr lang="en-US" sz="1600"/>
              <a:t>Sedangkan Icq dan Vceq ini ditentukan oleh arus basis Ib yang bernilai Ibq oleh rangkaian Prategangan. </a:t>
            </a:r>
          </a:p>
          <a:p>
            <a:endParaRPr lang="en-US" sz="1600"/>
          </a:p>
          <a:p>
            <a:r>
              <a:rPr lang="en-US" sz="1600"/>
              <a:t>Pada titik operasi, transistor berada pada mode operasi yang diinginkan (misalnya mode aktif) yang dapat memberikan respons yang linier terhadap sinyal input yang diterimanya.</a:t>
            </a:r>
          </a:p>
          <a:p>
            <a:r>
              <a:rPr lang="en-US" sz="1600"/>
              <a:t>Penentuan titik operasi transistor adalah bagian penting dari desain rangkaian, karena akan mempengaruhi kinerja transistor dan rangkaian secara keseluruhan. </a:t>
            </a:r>
          </a:p>
          <a:p>
            <a:r>
              <a:rPr lang="en-US" sz="1600"/>
              <a:t>Tujuan dari titik operasi yang tepat adalah memastikan bahwa transistor beroperasi dalam rentang linier dan tidak jenuh, sehingga dapat memberikan respons yang diinginkan terhadap sinyal input dan menjaga efisiensi dan keandalan rangkaian.</a:t>
            </a:r>
          </a:p>
          <a:p>
            <a:endParaRPr lang="en-US" sz="1600"/>
          </a:p>
        </p:txBody>
      </p:sp>
      <p:grpSp>
        <p:nvGrpSpPr>
          <p:cNvPr id="5" name="Group 4"/>
          <p:cNvGrpSpPr/>
          <p:nvPr/>
        </p:nvGrpSpPr>
        <p:grpSpPr>
          <a:xfrm>
            <a:off x="7154090" y="2713584"/>
            <a:ext cx="3923212" cy="2846374"/>
            <a:chOff x="7493725" y="3880533"/>
            <a:chExt cx="3923212" cy="2846374"/>
          </a:xfrm>
        </p:grpSpPr>
        <p:pic>
          <p:nvPicPr>
            <p:cNvPr id="6" name="Picture 5">
              <a:extLst>
                <a:ext uri="{FF2B5EF4-FFF2-40B4-BE49-F238E27FC236}">
                  <a16:creationId xmlns:a16="http://schemas.microsoft.com/office/drawing/2014/main" id="{E24C5ECA-CD1F-454E-87D9-596264617640}"/>
                </a:ext>
              </a:extLst>
            </p:cNvPr>
            <p:cNvPicPr>
              <a:picLocks noChangeAspect="1"/>
            </p:cNvPicPr>
            <p:nvPr/>
          </p:nvPicPr>
          <p:blipFill>
            <a:blip r:embed="rId2"/>
            <a:stretch>
              <a:fillRect/>
            </a:stretch>
          </p:blipFill>
          <p:spPr>
            <a:xfrm>
              <a:off x="7493725" y="3880533"/>
              <a:ext cx="3923212" cy="2846374"/>
            </a:xfrm>
            <a:prstGeom prst="rect">
              <a:avLst/>
            </a:prstGeom>
          </p:spPr>
        </p:pic>
        <p:sp>
          <p:nvSpPr>
            <p:cNvPr id="7" name="Rounded Rectangle 6"/>
            <p:cNvSpPr/>
            <p:nvPr/>
          </p:nvSpPr>
          <p:spPr>
            <a:xfrm>
              <a:off x="7515576" y="4860279"/>
              <a:ext cx="557270" cy="359582"/>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8866098" y="6409509"/>
              <a:ext cx="486908" cy="317398"/>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8278377" y="5028856"/>
              <a:ext cx="1438342" cy="369332"/>
            </a:xfrm>
            <a:prstGeom prst="rect">
              <a:avLst/>
            </a:prstGeom>
            <a:noFill/>
          </p:spPr>
          <p:txBody>
            <a:bodyPr wrap="none" rtlCol="0">
              <a:spAutoFit/>
            </a:bodyPr>
            <a:lstStyle/>
            <a:p>
              <a:r>
                <a:rPr lang="en-US" b="1">
                  <a:solidFill>
                    <a:srgbClr val="FF0000"/>
                  </a:solidFill>
                </a:rPr>
                <a:t>Active region</a:t>
              </a:r>
            </a:p>
          </p:txBody>
        </p:sp>
      </p:grpSp>
      <p:sp>
        <p:nvSpPr>
          <p:cNvPr id="10" name="TextBox 9"/>
          <p:cNvSpPr txBox="1"/>
          <p:nvPr/>
        </p:nvSpPr>
        <p:spPr>
          <a:xfrm>
            <a:off x="9245141" y="2222647"/>
            <a:ext cx="2244247" cy="738664"/>
          </a:xfrm>
          <a:prstGeom prst="rect">
            <a:avLst/>
          </a:prstGeom>
          <a:noFill/>
        </p:spPr>
        <p:txBody>
          <a:bodyPr wrap="square" rtlCol="0">
            <a:spAutoFit/>
          </a:bodyPr>
          <a:lstStyle/>
          <a:p>
            <a:r>
              <a:rPr lang="en-US" sz="1400" b="1">
                <a:solidFill>
                  <a:srgbClr val="FF0000"/>
                </a:solidFill>
              </a:rPr>
              <a:t>Contoh sebuah titik operasi (Qpoint) pada garis beban di wilayah aktif</a:t>
            </a:r>
          </a:p>
        </p:txBody>
      </p:sp>
      <p:sp>
        <p:nvSpPr>
          <p:cNvPr id="11" name="Oval 10"/>
          <p:cNvSpPr/>
          <p:nvPr/>
        </p:nvSpPr>
        <p:spPr>
          <a:xfrm>
            <a:off x="8391451" y="4428371"/>
            <a:ext cx="160395" cy="1428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flipH="1">
            <a:off x="8548124" y="3068893"/>
            <a:ext cx="1394035" cy="13594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908706" y="4046573"/>
            <a:ext cx="1278836" cy="110897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5D41C86-0A12-03D2-138B-0FCB992CB46E}"/>
              </a:ext>
            </a:extLst>
          </p:cNvPr>
          <p:cNvSpPr txBox="1"/>
          <p:nvPr/>
        </p:nvSpPr>
        <p:spPr>
          <a:xfrm>
            <a:off x="8680923" y="4243565"/>
            <a:ext cx="1074190" cy="584775"/>
          </a:xfrm>
          <a:prstGeom prst="rect">
            <a:avLst/>
          </a:prstGeom>
          <a:noFill/>
        </p:spPr>
        <p:txBody>
          <a:bodyPr wrap="square">
            <a:spAutoFit/>
          </a:bodyPr>
          <a:lstStyle/>
          <a:p>
            <a:r>
              <a:rPr lang="en-US" sz="1600" b="1">
                <a:solidFill>
                  <a:srgbClr val="FF0000"/>
                </a:solidFill>
              </a:rPr>
              <a:t>Qpoint</a:t>
            </a:r>
          </a:p>
          <a:p>
            <a:r>
              <a:rPr lang="en-US" sz="1600" b="1">
                <a:solidFill>
                  <a:srgbClr val="FF0000"/>
                </a:solidFill>
              </a:rPr>
              <a:t>(Icq, Vceq)</a:t>
            </a:r>
            <a:endParaRPr lang="en-ID" sz="1600"/>
          </a:p>
        </p:txBody>
      </p:sp>
    </p:spTree>
    <p:extLst>
      <p:ext uri="{BB962C8B-B14F-4D97-AF65-F5344CB8AC3E}">
        <p14:creationId xmlns:p14="http://schemas.microsoft.com/office/powerpoint/2010/main" val="178070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1CD710-364F-4AD0-84B0-E3C0F585367E}"/>
              </a:ext>
            </a:extLst>
          </p:cNvPr>
          <p:cNvPicPr>
            <a:picLocks noChangeAspect="1"/>
          </p:cNvPicPr>
          <p:nvPr/>
        </p:nvPicPr>
        <p:blipFill>
          <a:blip r:embed="rId2"/>
          <a:stretch>
            <a:fillRect/>
          </a:stretch>
        </p:blipFill>
        <p:spPr>
          <a:xfrm>
            <a:off x="543638" y="1488781"/>
            <a:ext cx="4838700" cy="3781425"/>
          </a:xfrm>
          <a:prstGeom prst="rect">
            <a:avLst/>
          </a:prstGeom>
        </p:spPr>
      </p:pic>
      <p:sp>
        <p:nvSpPr>
          <p:cNvPr id="7" name="TextBox 6">
            <a:extLst>
              <a:ext uri="{FF2B5EF4-FFF2-40B4-BE49-F238E27FC236}">
                <a16:creationId xmlns:a16="http://schemas.microsoft.com/office/drawing/2014/main" id="{B7368941-7F6D-4F3C-9622-B725F71864EA}"/>
              </a:ext>
            </a:extLst>
          </p:cNvPr>
          <p:cNvSpPr txBox="1"/>
          <p:nvPr/>
        </p:nvSpPr>
        <p:spPr>
          <a:xfrm>
            <a:off x="543638" y="5454169"/>
            <a:ext cx="4838700" cy="646331"/>
          </a:xfrm>
          <a:prstGeom prst="rect">
            <a:avLst/>
          </a:prstGeom>
          <a:noFill/>
        </p:spPr>
        <p:txBody>
          <a:bodyPr wrap="square">
            <a:spAutoFit/>
          </a:bodyPr>
          <a:lstStyle/>
          <a:p>
            <a:r>
              <a:rPr lang="en-US" dirty="0"/>
              <a:t>Figure 4.1 Various operating points within the limits of operation of a transistor</a:t>
            </a:r>
          </a:p>
        </p:txBody>
      </p:sp>
      <p:sp>
        <p:nvSpPr>
          <p:cNvPr id="11" name="TextBox 10">
            <a:extLst>
              <a:ext uri="{FF2B5EF4-FFF2-40B4-BE49-F238E27FC236}">
                <a16:creationId xmlns:a16="http://schemas.microsoft.com/office/drawing/2014/main" id="{C13673FD-507E-4DBB-B934-57D1C0B18D68}"/>
              </a:ext>
            </a:extLst>
          </p:cNvPr>
          <p:cNvSpPr txBox="1"/>
          <p:nvPr/>
        </p:nvSpPr>
        <p:spPr>
          <a:xfrm>
            <a:off x="5807480" y="1259356"/>
            <a:ext cx="6093724" cy="2031325"/>
          </a:xfrm>
          <a:prstGeom prst="rect">
            <a:avLst/>
          </a:prstGeom>
          <a:noFill/>
        </p:spPr>
        <p:txBody>
          <a:bodyPr wrap="square">
            <a:spAutoFit/>
          </a:bodyPr>
          <a:lstStyle/>
          <a:p>
            <a:r>
              <a:rPr lang="en-US"/>
              <a:t>Agar BJT bekerja di wilayah operasi linier (atau aktif) maka:</a:t>
            </a:r>
          </a:p>
          <a:p>
            <a:r>
              <a:rPr lang="en-US"/>
              <a:t>	-Basis-emitor </a:t>
            </a:r>
            <a:r>
              <a:rPr lang="en-US" err="1"/>
              <a:t>harus</a:t>
            </a:r>
            <a:r>
              <a:rPr lang="en-US"/>
              <a:t> dibias </a:t>
            </a:r>
            <a:r>
              <a:rPr lang="en-US" dirty="0" err="1"/>
              <a:t>maju</a:t>
            </a:r>
            <a:r>
              <a:rPr lang="en-US" dirty="0"/>
              <a:t> (</a:t>
            </a:r>
            <a:r>
              <a:rPr lang="en-US" dirty="0" err="1"/>
              <a:t>tegangan</a:t>
            </a:r>
            <a:r>
              <a:rPr lang="en-US" dirty="0"/>
              <a:t> </a:t>
            </a:r>
            <a:r>
              <a:rPr lang="en-US" dirty="0" err="1"/>
              <a:t>daerah</a:t>
            </a:r>
            <a:r>
              <a:rPr lang="en-US" dirty="0"/>
              <a:t> p </a:t>
            </a:r>
            <a:r>
              <a:rPr lang="en-US" dirty="0" err="1"/>
              <a:t>lebih</a:t>
            </a:r>
            <a:r>
              <a:rPr lang="en-US" dirty="0"/>
              <a:t> </a:t>
            </a:r>
            <a:r>
              <a:rPr lang="en-US" err="1"/>
              <a:t>positif</a:t>
            </a:r>
            <a:r>
              <a:rPr lang="en-US"/>
              <a:t>) dengan </a:t>
            </a:r>
            <a:r>
              <a:rPr lang="en-US" err="1"/>
              <a:t>tegangan</a:t>
            </a:r>
            <a:r>
              <a:rPr lang="en-US"/>
              <a:t> bias yang </a:t>
            </a:r>
            <a:r>
              <a:rPr lang="en-US" dirty="0" err="1"/>
              <a:t>dihasilkan</a:t>
            </a:r>
            <a:r>
              <a:rPr lang="en-US" dirty="0"/>
              <a:t> </a:t>
            </a:r>
            <a:r>
              <a:rPr lang="en-US" dirty="0" err="1"/>
              <a:t>sekitar</a:t>
            </a:r>
            <a:r>
              <a:rPr lang="en-US" dirty="0"/>
              <a:t> 0,6 </a:t>
            </a:r>
            <a:r>
              <a:rPr lang="en-US" err="1"/>
              <a:t>hingga</a:t>
            </a:r>
            <a:r>
              <a:rPr lang="en-US"/>
              <a:t> 0,7V</a:t>
            </a:r>
            <a:r>
              <a:rPr lang="en-US" dirty="0"/>
              <a:t>.</a:t>
            </a:r>
          </a:p>
          <a:p>
            <a:r>
              <a:rPr lang="en-US"/>
              <a:t>	-Basis-kolektor </a:t>
            </a:r>
            <a:r>
              <a:rPr lang="en-US" dirty="0" err="1"/>
              <a:t>harus</a:t>
            </a:r>
            <a:r>
              <a:rPr lang="en-US" dirty="0"/>
              <a:t> </a:t>
            </a:r>
            <a:r>
              <a:rPr lang="en-US" dirty="0" err="1"/>
              <a:t>dibias</a:t>
            </a:r>
            <a:r>
              <a:rPr lang="en-US" dirty="0"/>
              <a:t> </a:t>
            </a:r>
            <a:r>
              <a:rPr lang="en-US" dirty="0" err="1"/>
              <a:t>mundur</a:t>
            </a:r>
            <a:r>
              <a:rPr lang="en-US" dirty="0"/>
              <a:t> (wilayah n </a:t>
            </a:r>
            <a:r>
              <a:rPr lang="en-US" dirty="0" err="1"/>
              <a:t>lebih</a:t>
            </a:r>
            <a:r>
              <a:rPr lang="en-US" dirty="0"/>
              <a:t> </a:t>
            </a:r>
            <a:r>
              <a:rPr lang="en-US" dirty="0" err="1"/>
              <a:t>positif</a:t>
            </a:r>
            <a:r>
              <a:rPr lang="en-US" dirty="0"/>
              <a:t>), </a:t>
            </a:r>
            <a:r>
              <a:rPr lang="en-US" dirty="0" err="1"/>
              <a:t>dengan</a:t>
            </a:r>
            <a:r>
              <a:rPr lang="en-US" dirty="0"/>
              <a:t> </a:t>
            </a:r>
            <a:r>
              <a:rPr lang="en-US" dirty="0" err="1"/>
              <a:t>tegangan</a:t>
            </a:r>
            <a:r>
              <a:rPr lang="en-US" dirty="0"/>
              <a:t> bias </a:t>
            </a:r>
            <a:r>
              <a:rPr lang="en-US" err="1"/>
              <a:t>balik</a:t>
            </a:r>
            <a:r>
              <a:rPr lang="en-US"/>
              <a:t> berapapun </a:t>
            </a:r>
            <a:r>
              <a:rPr lang="en-US" dirty="0" err="1"/>
              <a:t>dalam</a:t>
            </a:r>
            <a:r>
              <a:rPr lang="en-US" dirty="0"/>
              <a:t> </a:t>
            </a:r>
            <a:r>
              <a:rPr lang="en-US" dirty="0" err="1"/>
              <a:t>batas</a:t>
            </a:r>
            <a:r>
              <a:rPr lang="en-US" dirty="0"/>
              <a:t> </a:t>
            </a:r>
            <a:r>
              <a:rPr lang="en-US" err="1"/>
              <a:t>maksimum</a:t>
            </a:r>
            <a:r>
              <a:rPr lang="en-US"/>
              <a:t> perangkat</a:t>
            </a:r>
            <a:r>
              <a:rPr lang="en-US" dirty="0"/>
              <a:t>.</a:t>
            </a:r>
          </a:p>
        </p:txBody>
      </p:sp>
      <p:sp>
        <p:nvSpPr>
          <p:cNvPr id="8" name="TextBox 7">
            <a:extLst>
              <a:ext uri="{FF2B5EF4-FFF2-40B4-BE49-F238E27FC236}">
                <a16:creationId xmlns:a16="http://schemas.microsoft.com/office/drawing/2014/main" id="{166F19F5-E3C7-457B-97B2-ADD0246D1554}"/>
              </a:ext>
            </a:extLst>
          </p:cNvPr>
          <p:cNvSpPr txBox="1"/>
          <p:nvPr/>
        </p:nvSpPr>
        <p:spPr>
          <a:xfrm>
            <a:off x="5807480" y="3567320"/>
            <a:ext cx="6093724" cy="1754326"/>
          </a:xfrm>
          <a:prstGeom prst="rect">
            <a:avLst/>
          </a:prstGeom>
          <a:noFill/>
        </p:spPr>
        <p:txBody>
          <a:bodyPr wrap="square">
            <a:spAutoFit/>
          </a:bodyPr>
          <a:lstStyle/>
          <a:p>
            <a:r>
              <a:rPr lang="en-US"/>
              <a:t>Agar BJT bekerja di wilayah operasi cutoff maka:</a:t>
            </a:r>
          </a:p>
          <a:p>
            <a:r>
              <a:rPr lang="es-ES"/>
              <a:t>	-basis-emitor dibias mundur</a:t>
            </a:r>
          </a:p>
          <a:p>
            <a:endParaRPr lang="es-ES"/>
          </a:p>
          <a:p>
            <a:r>
              <a:rPr lang="en-US"/>
              <a:t>Agar BJT bekerja di wilayah operasi saturasi maka:</a:t>
            </a:r>
          </a:p>
          <a:p>
            <a:r>
              <a:rPr lang="en-US"/>
              <a:t>	-basis-emitor dibias maju</a:t>
            </a:r>
          </a:p>
          <a:p>
            <a:r>
              <a:rPr lang="en-US"/>
              <a:t>	-basis-kolektor dibias maju</a:t>
            </a:r>
            <a:endParaRPr lang="en-US" dirty="0"/>
          </a:p>
        </p:txBody>
      </p:sp>
    </p:spTree>
    <p:extLst>
      <p:ext uri="{BB962C8B-B14F-4D97-AF65-F5344CB8AC3E}">
        <p14:creationId xmlns:p14="http://schemas.microsoft.com/office/powerpoint/2010/main" val="2394093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3258</TotalTime>
  <Words>292</Words>
  <Application>Microsoft Office PowerPoint</Application>
  <PresentationFormat>Widescreen</PresentationFormat>
  <Paragraphs>21</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Apa yang dimaksud dengan Operating Point atau Qpoint (Titik Operasi/Titik Kerja)?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Biasing BJT</dc:title>
  <dc:creator>Ridwan Solihin</dc:creator>
  <cp:lastModifiedBy>erilmozef@yahoo.com</cp:lastModifiedBy>
  <cp:revision>66</cp:revision>
  <dcterms:created xsi:type="dcterms:W3CDTF">2022-03-14T08:25:08Z</dcterms:created>
  <dcterms:modified xsi:type="dcterms:W3CDTF">2025-04-29T10:56:44Z</dcterms:modified>
</cp:coreProperties>
</file>