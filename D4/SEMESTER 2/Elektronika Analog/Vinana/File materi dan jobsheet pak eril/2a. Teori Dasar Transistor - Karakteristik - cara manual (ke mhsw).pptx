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594" r:id="rId2"/>
    <p:sldId id="597" r:id="rId3"/>
    <p:sldId id="357" r:id="rId4"/>
    <p:sldId id="534" r:id="rId5"/>
    <p:sldId id="621" r:id="rId6"/>
    <p:sldId id="598" r:id="rId7"/>
    <p:sldId id="512" r:id="rId8"/>
    <p:sldId id="590" r:id="rId9"/>
    <p:sldId id="587" r:id="rId10"/>
    <p:sldId id="611" r:id="rId11"/>
    <p:sldId id="583" r:id="rId12"/>
    <p:sldId id="605" r:id="rId13"/>
    <p:sldId id="612" r:id="rId14"/>
    <p:sldId id="622" r:id="rId15"/>
    <p:sldId id="599" r:id="rId16"/>
    <p:sldId id="600" r:id="rId17"/>
    <p:sldId id="601" r:id="rId18"/>
    <p:sldId id="614" r:id="rId19"/>
    <p:sldId id="603" r:id="rId20"/>
    <p:sldId id="604" r:id="rId21"/>
    <p:sldId id="623" r:id="rId22"/>
    <p:sldId id="62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CC"/>
    <a:srgbClr val="003399"/>
    <a:srgbClr val="0000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9" autoAdjust="0"/>
    <p:restoredTop sz="94095" autoAdjust="0"/>
  </p:normalViewPr>
  <p:slideViewPr>
    <p:cSldViewPr snapToGrid="0">
      <p:cViewPr varScale="1">
        <p:scale>
          <a:sx n="66" d="100"/>
          <a:sy n="66" d="100"/>
        </p:scale>
        <p:origin x="10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4FDDA-911B-48F6-8BA3-35EF8A11B596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236D3-FA24-4739-B47E-2142C1D55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8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3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0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1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6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7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0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8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1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2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12F02-0CA6-4D3D-907F-9E3239A832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3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B8750-F07A-4D82-9819-420E9167C937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6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athematical_model" TargetMode="External"/><Relationship Id="rId3" Type="http://schemas.openxmlformats.org/officeDocument/2006/relationships/oleObject" Target="../embeddings/oleObject3.bin"/><Relationship Id="rId7" Type="http://schemas.openxmlformats.org/officeDocument/2006/relationships/hyperlink" Target="https://en.wikipedia.org/wiki/John_L._Moll" TargetMode="Externa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hyperlink" Target="https://en.wikipedia.org/wiki/Jewell_James_Ebers" TargetMode="External"/><Relationship Id="rId5" Type="http://schemas.openxmlformats.org/officeDocument/2006/relationships/image" Target="../media/image16.png"/><Relationship Id="rId10" Type="http://schemas.openxmlformats.org/officeDocument/2006/relationships/image" Target="../media/image17.png"/><Relationship Id="rId4" Type="http://schemas.openxmlformats.org/officeDocument/2006/relationships/image" Target="../media/image15.wmf"/><Relationship Id="rId9" Type="http://schemas.openxmlformats.org/officeDocument/2006/relationships/hyperlink" Target="https://en.wikipedia.org/wiki/Bipolar_junction_transistor#cite_note-28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gif"/><Relationship Id="rId5" Type="http://schemas.openxmlformats.org/officeDocument/2006/relationships/image" Target="../media/image21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260352"/>
            <a:ext cx="8243888" cy="1800225"/>
          </a:xfrm>
        </p:spPr>
        <p:txBody>
          <a:bodyPr/>
          <a:lstStyle/>
          <a:p>
            <a:pPr eaLnBrk="1" hangingPunct="1"/>
            <a:r>
              <a:rPr lang="en-US" sz="2400"/>
              <a:t/>
            </a:r>
            <a:br>
              <a:rPr lang="en-US" sz="2400"/>
            </a:br>
            <a:r>
              <a:rPr lang="en-US" sz="2400"/>
              <a:t/>
            </a:r>
            <a:br>
              <a:rPr lang="en-US" sz="2400"/>
            </a:br>
            <a:endParaRPr lang="en-GB" sz="200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060577"/>
            <a:ext cx="7524750" cy="1511300"/>
          </a:xfrm>
          <a:noFill/>
          <a:ln>
            <a:noFill/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r>
              <a:rPr lang="en-US" sz="5400" b="1" smtClean="0"/>
              <a:t>Karakteristik Transistor</a:t>
            </a:r>
            <a:r>
              <a:rPr lang="en-US" sz="5400" b="1"/>
              <a:t> BJT</a:t>
            </a:r>
            <a:endParaRPr lang="en-US" sz="5400" b="1" dirty="0"/>
          </a:p>
        </p:txBody>
      </p:sp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F96B8F-5478-4331-A05C-2C9C0CEBF9CF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GB" sz="1400"/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1587500" y="4652965"/>
            <a:ext cx="636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endParaRPr lang="en-US" sz="2400" u="sng"/>
          </a:p>
        </p:txBody>
      </p:sp>
    </p:spTree>
    <p:extLst>
      <p:ext uri="{BB962C8B-B14F-4D97-AF65-F5344CB8AC3E}">
        <p14:creationId xmlns:p14="http://schemas.microsoft.com/office/powerpoint/2010/main" val="132160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137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KARAKTERISTIK </a:t>
            </a:r>
            <a:r>
              <a:rPr lang="en-US" b="1" dirty="0" smtClean="0"/>
              <a:t>TRANSISTOR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73254"/>
            <a:ext cx="7886700" cy="4838787"/>
          </a:xfrm>
        </p:spPr>
        <p:txBody>
          <a:bodyPr>
            <a:normAutofit fontScale="77500" lnSpcReduction="20000"/>
          </a:bodyPr>
          <a:lstStyle/>
          <a:p>
            <a:r>
              <a:rPr lang="en-US" smtClean="0"/>
              <a:t>Ada 3 jenis:</a:t>
            </a:r>
          </a:p>
          <a:p>
            <a:pPr marL="0" indent="0">
              <a:buNone/>
            </a:pPr>
            <a:r>
              <a:rPr lang="en-US" smtClean="0"/>
              <a:t>1. Karakteristik Input.</a:t>
            </a:r>
          </a:p>
          <a:p>
            <a:pPr marL="0" indent="0">
              <a:buNone/>
            </a:pPr>
            <a:r>
              <a:rPr lang="en-US" smtClean="0"/>
              <a:t>2. Karakteristik Output.</a:t>
            </a:r>
          </a:p>
          <a:p>
            <a:pPr marL="0" indent="0">
              <a:buNone/>
            </a:pPr>
            <a:r>
              <a:rPr lang="en-US" smtClean="0"/>
              <a:t>3. Karakteristik Transfer.</a:t>
            </a:r>
          </a:p>
          <a:p>
            <a:endParaRPr lang="en-US" smtClean="0"/>
          </a:p>
          <a:p>
            <a:r>
              <a:rPr lang="en-US" smtClean="0"/>
              <a:t>Karakteristik Input berhubungan dengan arus basis transistor.</a:t>
            </a:r>
          </a:p>
          <a:p>
            <a:r>
              <a:rPr lang="en-US"/>
              <a:t>Karakteristik Output berhubungan dengan </a:t>
            </a:r>
            <a:r>
              <a:rPr lang="en-US" smtClean="0"/>
              <a:t>arus kolektor </a:t>
            </a:r>
            <a:r>
              <a:rPr lang="en-US"/>
              <a:t>transistor.</a:t>
            </a:r>
          </a:p>
          <a:p>
            <a:r>
              <a:rPr lang="en-US"/>
              <a:t>Karakteristik </a:t>
            </a:r>
            <a:r>
              <a:rPr lang="en-US" smtClean="0"/>
              <a:t>Tranfer berhubungan </a:t>
            </a:r>
            <a:r>
              <a:rPr lang="en-US"/>
              <a:t>dengan </a:t>
            </a:r>
            <a:r>
              <a:rPr lang="en-US" smtClean="0"/>
              <a:t>arus basis dan arus kolektor </a:t>
            </a:r>
            <a:r>
              <a:rPr lang="en-US"/>
              <a:t>transistor.</a:t>
            </a:r>
          </a:p>
          <a:p>
            <a:endParaRPr lang="en-US"/>
          </a:p>
          <a:p>
            <a:r>
              <a:rPr lang="en-US"/>
              <a:t>Karakteristik Input </a:t>
            </a:r>
            <a:r>
              <a:rPr lang="en-US" smtClean="0"/>
              <a:t>Ib=f(Vbe, Vce).</a:t>
            </a:r>
            <a:endParaRPr lang="en-US"/>
          </a:p>
          <a:p>
            <a:r>
              <a:rPr lang="en-US"/>
              <a:t>Karakteristik Output </a:t>
            </a:r>
            <a:r>
              <a:rPr lang="en-US" smtClean="0"/>
              <a:t>Ic=f(Vce, Ib).</a:t>
            </a:r>
            <a:endParaRPr lang="en-US"/>
          </a:p>
          <a:p>
            <a:r>
              <a:rPr lang="en-US"/>
              <a:t>Karakteristik </a:t>
            </a:r>
            <a:r>
              <a:rPr lang="en-US" smtClean="0"/>
              <a:t>Transfer </a:t>
            </a:r>
            <a:r>
              <a:rPr lang="en-US"/>
              <a:t>Ic=f(Ib, Vce) atau </a:t>
            </a:r>
            <a:r>
              <a:rPr lang="el-GR" smtClean="0"/>
              <a:t> </a:t>
            </a:r>
            <a:r>
              <a:rPr lang="el-GR"/>
              <a:t>β</a:t>
            </a:r>
            <a:r>
              <a:rPr lang="en-US"/>
              <a:t>=f(Ic, Ib</a:t>
            </a:r>
            <a:r>
              <a:rPr lang="en-US" smtClean="0"/>
              <a:t>)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4635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137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KARAKTERISTIK </a:t>
            </a:r>
            <a:r>
              <a:rPr lang="en-US" b="1" dirty="0" smtClean="0"/>
              <a:t>TRANSISTOR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73255"/>
            <a:ext cx="7886700" cy="176628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mengerti</a:t>
            </a:r>
            <a:r>
              <a:rPr lang="en-US" dirty="0" smtClean="0"/>
              <a:t> </a:t>
            </a:r>
            <a:r>
              <a:rPr lang="en-US" dirty="0" err="1" smtClean="0"/>
              <a:t>Karakteristik</a:t>
            </a:r>
            <a:r>
              <a:rPr lang="en-US" dirty="0" smtClean="0"/>
              <a:t> Transistor,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mulai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mengerti</a:t>
            </a:r>
            <a:r>
              <a:rPr lang="en-US" dirty="0" smtClean="0"/>
              <a:t> </a:t>
            </a:r>
            <a:r>
              <a:rPr lang="en-US" dirty="0" err="1" smtClean="0"/>
              <a:t>hubungan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Input </a:t>
            </a:r>
            <a:r>
              <a:rPr lang="en-US" dirty="0" err="1" smtClean="0"/>
              <a:t>dan</a:t>
            </a:r>
            <a:r>
              <a:rPr lang="en-US" dirty="0" smtClean="0"/>
              <a:t> Output Transistor.</a:t>
            </a:r>
          </a:p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coba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r>
              <a:rPr lang="en-US" dirty="0" smtClean="0"/>
              <a:t> </a:t>
            </a:r>
            <a:r>
              <a:rPr lang="en-US" dirty="0" err="1" smtClean="0"/>
              <a:t>hubungan</a:t>
            </a:r>
            <a:r>
              <a:rPr lang="en-US" dirty="0" smtClean="0"/>
              <a:t> </a:t>
            </a:r>
            <a:r>
              <a:rPr lang="en-US" err="1" smtClean="0"/>
              <a:t>antara</a:t>
            </a:r>
            <a:r>
              <a:rPr lang="en-US" smtClean="0"/>
              <a:t> </a:t>
            </a:r>
            <a:r>
              <a:rPr lang="en-US"/>
              <a:t>Ib-Vbe</a:t>
            </a:r>
            <a:r>
              <a:rPr lang="en-US" smtClean="0"/>
              <a:t>, Ic-Vce, Ib-Ic.</a:t>
            </a:r>
            <a:endParaRPr lang="en-US" dirty="0" smtClean="0"/>
          </a:p>
        </p:txBody>
      </p:sp>
      <p:grpSp>
        <p:nvGrpSpPr>
          <p:cNvPr id="70" name="Group 69"/>
          <p:cNvGrpSpPr/>
          <p:nvPr/>
        </p:nvGrpSpPr>
        <p:grpSpPr>
          <a:xfrm>
            <a:off x="2884751" y="3210391"/>
            <a:ext cx="3078250" cy="2708059"/>
            <a:chOff x="683914" y="3274021"/>
            <a:chExt cx="3078250" cy="2708059"/>
          </a:xfrm>
        </p:grpSpPr>
        <p:grpSp>
          <p:nvGrpSpPr>
            <p:cNvPr id="71" name="Group 5"/>
            <p:cNvGrpSpPr>
              <a:grpSpLocks/>
            </p:cNvGrpSpPr>
            <p:nvPr/>
          </p:nvGrpSpPr>
          <p:grpSpPr bwMode="auto">
            <a:xfrm>
              <a:off x="1050258" y="3547501"/>
              <a:ext cx="1484955" cy="2324100"/>
              <a:chOff x="7200" y="4680"/>
              <a:chExt cx="1620" cy="2700"/>
            </a:xfrm>
          </p:grpSpPr>
          <p:grpSp>
            <p:nvGrpSpPr>
              <p:cNvPr id="85" name="Group 6"/>
              <p:cNvGrpSpPr>
                <a:grpSpLocks/>
              </p:cNvGrpSpPr>
              <p:nvPr/>
            </p:nvGrpSpPr>
            <p:grpSpPr bwMode="auto">
              <a:xfrm>
                <a:off x="7200" y="4680"/>
                <a:ext cx="1620" cy="2700"/>
                <a:chOff x="9575" y="4003"/>
                <a:chExt cx="865" cy="2522"/>
              </a:xfrm>
            </p:grpSpPr>
            <p:sp>
              <p:nvSpPr>
                <p:cNvPr id="87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10439" y="5894"/>
                  <a:ext cx="1" cy="631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0007" y="4633"/>
                  <a:ext cx="432" cy="315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" name="Line 9"/>
                <p:cNvSpPr>
                  <a:spLocks noChangeShapeType="1"/>
                </p:cNvSpPr>
                <p:nvPr/>
              </p:nvSpPr>
              <p:spPr bwMode="auto">
                <a:xfrm flipH="1" flipV="1">
                  <a:off x="10007" y="5579"/>
                  <a:ext cx="432" cy="315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Line 10"/>
                <p:cNvSpPr>
                  <a:spLocks noChangeShapeType="1"/>
                </p:cNvSpPr>
                <p:nvPr/>
              </p:nvSpPr>
              <p:spPr bwMode="auto">
                <a:xfrm>
                  <a:off x="10007" y="4633"/>
                  <a:ext cx="1" cy="1261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" name="Line 11"/>
                <p:cNvSpPr>
                  <a:spLocks noChangeShapeType="1"/>
                </p:cNvSpPr>
                <p:nvPr/>
              </p:nvSpPr>
              <p:spPr bwMode="auto">
                <a:xfrm>
                  <a:off x="9575" y="5264"/>
                  <a:ext cx="432" cy="1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Line 12"/>
                <p:cNvSpPr>
                  <a:spLocks noChangeShapeType="1"/>
                </p:cNvSpPr>
                <p:nvPr/>
              </p:nvSpPr>
              <p:spPr bwMode="auto">
                <a:xfrm>
                  <a:off x="10439" y="4003"/>
                  <a:ext cx="1" cy="630"/>
                </a:xfrm>
                <a:prstGeom prst="line">
                  <a:avLst/>
                </a:prstGeom>
                <a:noFill/>
                <a:ln w="762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6" name="Line 13"/>
              <p:cNvSpPr>
                <a:spLocks noChangeShapeType="1"/>
              </p:cNvSpPr>
              <p:nvPr/>
            </p:nvSpPr>
            <p:spPr bwMode="auto">
              <a:xfrm>
                <a:off x="8280" y="6480"/>
                <a:ext cx="419" cy="180"/>
              </a:xfrm>
              <a:prstGeom prst="line">
                <a:avLst/>
              </a:prstGeom>
              <a:noFill/>
              <a:ln w="76200">
                <a:solidFill>
                  <a:srgbClr val="00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2" name="Arc 71"/>
            <p:cNvSpPr/>
            <p:nvPr/>
          </p:nvSpPr>
          <p:spPr>
            <a:xfrm rot="10800000">
              <a:off x="1265434" y="4267811"/>
              <a:ext cx="1563352" cy="1544077"/>
            </a:xfrm>
            <a:prstGeom prst="arc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2533496" y="3274021"/>
              <a:ext cx="0" cy="521114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730119" y="5359743"/>
              <a:ext cx="6751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Vbe</a:t>
              </a:r>
              <a:endParaRPr lang="en-US" sz="2400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613610" y="3306588"/>
              <a:ext cx="391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Ic</a:t>
              </a:r>
              <a:endParaRPr lang="en-US" sz="2400" dirty="0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rot="16200000">
              <a:off x="1104796" y="4354666"/>
              <a:ext cx="0" cy="70884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683914" y="4248865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Ib</a:t>
              </a:r>
              <a:endParaRPr lang="en-US" sz="2400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866436" y="4418856"/>
              <a:ext cx="6276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Vce</a:t>
              </a:r>
              <a:endParaRPr lang="en-US" sz="2400" dirty="0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2533496" y="5460966"/>
              <a:ext cx="0" cy="521114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593254" y="5380079"/>
              <a:ext cx="11689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Ie</a:t>
              </a:r>
              <a:r>
                <a:rPr lang="en-US" sz="2400" dirty="0" smtClean="0"/>
                <a:t>=</a:t>
              </a:r>
              <a:r>
                <a:rPr lang="en-US" sz="2400" dirty="0" err="1" smtClean="0"/>
                <a:t>Ic+Ib</a:t>
              </a:r>
              <a:endParaRPr lang="en-US" sz="2400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879977" y="3796626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884594" y="5259858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E</a:t>
              </a:r>
              <a:endParaRPr lang="en-US" sz="2400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354116" y="4267811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B</a:t>
              </a:r>
              <a:endParaRPr lang="en-US" sz="2400" dirty="0"/>
            </a:p>
          </p:txBody>
        </p:sp>
      </p:grpSp>
      <p:sp>
        <p:nvSpPr>
          <p:cNvPr id="27" name="Arc 26"/>
          <p:cNvSpPr/>
          <p:nvPr/>
        </p:nvSpPr>
        <p:spPr>
          <a:xfrm rot="18530505" flipV="1">
            <a:off x="3704119" y="4150519"/>
            <a:ext cx="1363621" cy="1087399"/>
          </a:xfrm>
          <a:prstGeom prst="arc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6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555" y="259546"/>
            <a:ext cx="8756890" cy="1013709"/>
          </a:xfrm>
        </p:spPr>
        <p:txBody>
          <a:bodyPr>
            <a:noAutofit/>
          </a:bodyPr>
          <a:lstStyle/>
          <a:p>
            <a:pPr algn="ctr"/>
            <a:r>
              <a:rPr lang="en-US" sz="3600" smtClean="0"/>
              <a:t>Pengukuran </a:t>
            </a:r>
            <a:r>
              <a:rPr lang="en-US" sz="3600" err="1" smtClean="0"/>
              <a:t>Karakteristik</a:t>
            </a:r>
            <a:r>
              <a:rPr lang="en-US" sz="3600" smtClean="0"/>
              <a:t> Transistor</a:t>
            </a:r>
            <a:endParaRPr lang="en-US" sz="3600" dirty="0"/>
          </a:p>
        </p:txBody>
      </p:sp>
      <p:sp>
        <p:nvSpPr>
          <p:cNvPr id="49" name="Content Placeholder 2"/>
          <p:cNvSpPr>
            <a:spLocks noGrp="1"/>
          </p:cNvSpPr>
          <p:nvPr>
            <p:ph idx="1"/>
          </p:nvPr>
        </p:nvSpPr>
        <p:spPr>
          <a:xfrm>
            <a:off x="628650" y="1544007"/>
            <a:ext cx="7886700" cy="1495529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tujuan</a:t>
            </a:r>
            <a:r>
              <a:rPr lang="en-US" dirty="0" smtClean="0"/>
              <a:t> di </a:t>
            </a:r>
            <a:r>
              <a:rPr lang="en-US" dirty="0" err="1" smtClean="0"/>
              <a:t>atas</a:t>
            </a:r>
            <a:r>
              <a:rPr lang="en-US" dirty="0" smtClean="0"/>
              <a:t>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buat</a:t>
            </a:r>
            <a:r>
              <a:rPr lang="en-US" dirty="0" smtClean="0"/>
              <a:t> setup </a:t>
            </a:r>
            <a:r>
              <a:rPr lang="en-US" dirty="0" err="1" smtClean="0"/>
              <a:t>pengukuran</a:t>
            </a:r>
            <a:r>
              <a:rPr lang="en-US" dirty="0" smtClean="0"/>
              <a:t>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.</a:t>
            </a:r>
          </a:p>
          <a:p>
            <a:r>
              <a:rPr lang="en-US" dirty="0" err="1"/>
              <a:t>Pada</a:t>
            </a:r>
            <a:r>
              <a:rPr lang="en-US" dirty="0"/>
              <a:t> Basis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dihubungkan</a:t>
            </a:r>
            <a:r>
              <a:rPr lang="en-US" dirty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0v </a:t>
            </a:r>
            <a:r>
              <a:rPr lang="en-US" dirty="0" err="1"/>
              <a:t>sd</a:t>
            </a:r>
            <a:r>
              <a:rPr lang="en-US" dirty="0"/>
              <a:t> 1volt.</a:t>
            </a:r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</a:t>
            </a:r>
            <a:r>
              <a:rPr lang="en-US" dirty="0" err="1" smtClean="0"/>
              <a:t>olektor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dihubungkan</a:t>
            </a:r>
            <a:r>
              <a:rPr lang="en-US" dirty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0v </a:t>
            </a:r>
            <a:r>
              <a:rPr lang="en-US" dirty="0" err="1"/>
              <a:t>sd</a:t>
            </a:r>
            <a:r>
              <a:rPr lang="en-US" dirty="0"/>
              <a:t> </a:t>
            </a:r>
            <a:r>
              <a:rPr lang="en-US" dirty="0" smtClean="0"/>
              <a:t>20volt</a:t>
            </a:r>
            <a:r>
              <a:rPr lang="en-US" dirty="0"/>
              <a:t>.</a:t>
            </a:r>
          </a:p>
          <a:p>
            <a:endParaRPr lang="en-US" dirty="0" smtClean="0"/>
          </a:p>
        </p:txBody>
      </p:sp>
      <p:sp>
        <p:nvSpPr>
          <p:cNvPr id="89" name="TextBox 88"/>
          <p:cNvSpPr txBox="1"/>
          <p:nvPr/>
        </p:nvSpPr>
        <p:spPr>
          <a:xfrm>
            <a:off x="2021949" y="501548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0-1v</a:t>
            </a:r>
            <a:endParaRPr lang="en-US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428803" y="4427487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0-20v</a:t>
            </a:r>
            <a:endParaRPr lang="en-US" sz="2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2738382" y="3183916"/>
            <a:ext cx="3667236" cy="2752054"/>
            <a:chOff x="6593295" y="3039537"/>
            <a:chExt cx="3667236" cy="2752054"/>
          </a:xfrm>
        </p:grpSpPr>
        <p:grpSp>
          <p:nvGrpSpPr>
            <p:cNvPr id="92" name="Group 91"/>
            <p:cNvGrpSpPr/>
            <p:nvPr/>
          </p:nvGrpSpPr>
          <p:grpSpPr>
            <a:xfrm>
              <a:off x="6593295" y="3039537"/>
              <a:ext cx="3667236" cy="2752054"/>
              <a:chOff x="592953" y="1389925"/>
              <a:chExt cx="3230232" cy="2209579"/>
            </a:xfrm>
          </p:grpSpPr>
          <p:grpSp>
            <p:nvGrpSpPr>
              <p:cNvPr id="97" name="Group 96"/>
              <p:cNvGrpSpPr/>
              <p:nvPr/>
            </p:nvGrpSpPr>
            <p:grpSpPr>
              <a:xfrm>
                <a:off x="592953" y="1389925"/>
                <a:ext cx="3230232" cy="2209579"/>
                <a:chOff x="682258" y="1937048"/>
                <a:chExt cx="4612582" cy="3562006"/>
              </a:xfrm>
            </p:grpSpPr>
            <p:cxnSp>
              <p:nvCxnSpPr>
                <p:cNvPr id="101" name="Straight Connector 100"/>
                <p:cNvCxnSpPr/>
                <p:nvPr/>
              </p:nvCxnSpPr>
              <p:spPr>
                <a:xfrm flipH="1" flipV="1">
                  <a:off x="1022725" y="3793500"/>
                  <a:ext cx="544" cy="156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/>
                <p:cNvCxnSpPr/>
                <p:nvPr/>
              </p:nvCxnSpPr>
              <p:spPr>
                <a:xfrm flipH="1">
                  <a:off x="1038995" y="3654521"/>
                  <a:ext cx="7596" cy="81991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>
                  <a:off x="1040452" y="4609372"/>
                  <a:ext cx="6139" cy="889682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/>
                <p:cNvCxnSpPr/>
                <p:nvPr/>
              </p:nvCxnSpPr>
              <p:spPr>
                <a:xfrm flipH="1" flipV="1">
                  <a:off x="1010855" y="5491242"/>
                  <a:ext cx="3964356" cy="7812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/>
              </p:nvCxnSpPr>
              <p:spPr>
                <a:xfrm flipH="1">
                  <a:off x="3366405" y="4704614"/>
                  <a:ext cx="1716" cy="79444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>
                <a:xfrm rot="16200000">
                  <a:off x="1019656" y="4142388"/>
                  <a:ext cx="6139" cy="68093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909293" y="4605557"/>
                  <a:ext cx="269071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>
                <a:xfrm flipV="1">
                  <a:off x="819238" y="4238405"/>
                  <a:ext cx="443481" cy="55220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>
                <a:xfrm flipH="1" flipV="1">
                  <a:off x="4944240" y="3080844"/>
                  <a:ext cx="544" cy="1567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>
                <a:xfrm flipH="1">
                  <a:off x="4960511" y="1939885"/>
                  <a:ext cx="10737" cy="1821895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>
                <a:xfrm flipH="1">
                  <a:off x="4950305" y="3896716"/>
                  <a:ext cx="11663" cy="1602338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>
                <a:xfrm flipV="1">
                  <a:off x="4613904" y="3759456"/>
                  <a:ext cx="680936" cy="6139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/>
                <p:cNvCxnSpPr/>
                <p:nvPr/>
              </p:nvCxnSpPr>
              <p:spPr>
                <a:xfrm>
                  <a:off x="4830808" y="3892901"/>
                  <a:ext cx="269071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/>
                <p:cNvCxnSpPr>
                  <a:endCxn id="132" idx="0"/>
                </p:cNvCxnSpPr>
                <p:nvPr/>
              </p:nvCxnSpPr>
              <p:spPr>
                <a:xfrm>
                  <a:off x="3368122" y="1962927"/>
                  <a:ext cx="555" cy="543392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/>
                <p:cNvCxnSpPr/>
                <p:nvPr/>
              </p:nvCxnSpPr>
              <p:spPr>
                <a:xfrm flipH="1">
                  <a:off x="3366405" y="1937048"/>
                  <a:ext cx="1628824" cy="2837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6" name="Group 115"/>
                <p:cNvGrpSpPr/>
                <p:nvPr/>
              </p:nvGrpSpPr>
              <p:grpSpPr>
                <a:xfrm>
                  <a:off x="1501221" y="2506318"/>
                  <a:ext cx="2239663" cy="2324100"/>
                  <a:chOff x="533182" y="-140172"/>
                  <a:chExt cx="2239663" cy="2324100"/>
                </a:xfrm>
              </p:grpSpPr>
              <p:grpSp>
                <p:nvGrpSpPr>
                  <p:cNvPr id="120" name="Group 5"/>
                  <p:cNvGrpSpPr>
                    <a:grpSpLocks/>
                  </p:cNvGrpSpPr>
                  <p:nvPr/>
                </p:nvGrpSpPr>
                <p:grpSpPr bwMode="auto">
                  <a:xfrm>
                    <a:off x="917400" y="-140172"/>
                    <a:ext cx="1484955" cy="2324100"/>
                    <a:chOff x="7200" y="4680"/>
                    <a:chExt cx="1620" cy="2700"/>
                  </a:xfrm>
                </p:grpSpPr>
                <p:grpSp>
                  <p:nvGrpSpPr>
                    <p:cNvPr id="125" name="Group 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200" y="4680"/>
                      <a:ext cx="1620" cy="2700"/>
                      <a:chOff x="9575" y="4003"/>
                      <a:chExt cx="865" cy="2522"/>
                    </a:xfrm>
                  </p:grpSpPr>
                  <p:sp>
                    <p:nvSpPr>
                      <p:cNvPr id="127" name="Line 7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0439" y="5894"/>
                        <a:ext cx="1" cy="631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8" name="Line 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007" y="4633"/>
                        <a:ext cx="432" cy="315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9" name="Line 9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007" y="5579"/>
                        <a:ext cx="432" cy="315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0" name="Line 1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007" y="4633"/>
                        <a:ext cx="1" cy="1261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1" name="Line 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575" y="5264"/>
                        <a:ext cx="432" cy="1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2" name="Line 1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439" y="4003"/>
                        <a:ext cx="1" cy="630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26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80" y="6480"/>
                      <a:ext cx="419" cy="18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1" name="Arc 120"/>
                  <p:cNvSpPr/>
                  <p:nvPr/>
                </p:nvSpPr>
                <p:spPr>
                  <a:xfrm rot="10800000">
                    <a:off x="1209493" y="541639"/>
                    <a:ext cx="1563352" cy="1544077"/>
                  </a:xfrm>
                  <a:prstGeom prst="arc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TextBox 121"/>
                  <p:cNvSpPr txBox="1"/>
                  <p:nvPr/>
                </p:nvSpPr>
                <p:spPr>
                  <a:xfrm>
                    <a:off x="693006" y="1720369"/>
                    <a:ext cx="675185" cy="461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 err="1" smtClean="0"/>
                      <a:t>Vbe</a:t>
                    </a:r>
                    <a:endParaRPr lang="en-US" sz="2400" dirty="0"/>
                  </a:p>
                </p:txBody>
              </p:sp>
              <p:cxnSp>
                <p:nvCxnSpPr>
                  <p:cNvPr id="123" name="Straight Arrow Connector 122"/>
                  <p:cNvCxnSpPr/>
                  <p:nvPr/>
                </p:nvCxnSpPr>
                <p:spPr>
                  <a:xfrm rot="16200000">
                    <a:off x="971938" y="666993"/>
                    <a:ext cx="0" cy="708848"/>
                  </a:xfrm>
                  <a:prstGeom prst="straightConnector1">
                    <a:avLst/>
                  </a:prstGeom>
                  <a:ln w="762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4" name="TextBox 123"/>
                  <p:cNvSpPr txBox="1"/>
                  <p:nvPr/>
                </p:nvSpPr>
                <p:spPr>
                  <a:xfrm>
                    <a:off x="533182" y="410677"/>
                    <a:ext cx="423514" cy="4616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 err="1" smtClean="0"/>
                      <a:t>Ib</a:t>
                    </a:r>
                    <a:endParaRPr lang="en-US" sz="2400" dirty="0"/>
                  </a:p>
                </p:txBody>
              </p:sp>
            </p:grpSp>
            <p:cxnSp>
              <p:nvCxnSpPr>
                <p:cNvPr id="117" name="Straight Connector 116"/>
                <p:cNvCxnSpPr/>
                <p:nvPr/>
              </p:nvCxnSpPr>
              <p:spPr>
                <a:xfrm flipH="1" flipV="1">
                  <a:off x="1021198" y="3658335"/>
                  <a:ext cx="709654" cy="9803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" name="TextBox 117"/>
                <p:cNvSpPr txBox="1"/>
                <p:nvPr/>
              </p:nvSpPr>
              <p:spPr>
                <a:xfrm>
                  <a:off x="1042232" y="4536389"/>
                  <a:ext cx="657399" cy="6450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/>
                    <a:t>V1</a:t>
                  </a:r>
                  <a:endParaRPr lang="en-US" sz="2000" dirty="0"/>
                </a:p>
              </p:txBody>
            </p:sp>
            <p:sp>
              <p:nvSpPr>
                <p:cNvPr id="119" name="TextBox 118"/>
                <p:cNvSpPr txBox="1"/>
                <p:nvPr/>
              </p:nvSpPr>
              <p:spPr>
                <a:xfrm>
                  <a:off x="4329042" y="3848461"/>
                  <a:ext cx="657399" cy="6450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/>
                    <a:t>V2</a:t>
                  </a:r>
                  <a:endParaRPr lang="en-US" sz="2000" dirty="0"/>
                </a:p>
              </p:txBody>
            </p:sp>
          </p:grpSp>
          <p:sp>
            <p:nvSpPr>
              <p:cNvPr id="98" name="TextBox 97"/>
              <p:cNvSpPr txBox="1"/>
              <p:nvPr/>
            </p:nvSpPr>
            <p:spPr>
              <a:xfrm>
                <a:off x="2716787" y="2031392"/>
                <a:ext cx="584794" cy="370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smtClean="0"/>
                  <a:t>Vce</a:t>
                </a:r>
                <a:endParaRPr lang="en-US" sz="2400" dirty="0"/>
              </a:p>
            </p:txBody>
          </p:sp>
          <p:sp>
            <p:nvSpPr>
              <p:cNvPr id="99" name="Arc 98"/>
              <p:cNvSpPr/>
              <p:nvPr/>
            </p:nvSpPr>
            <p:spPr>
              <a:xfrm rot="18530505" flipV="1">
                <a:off x="1641303" y="2005166"/>
                <a:ext cx="1094829" cy="957820"/>
              </a:xfrm>
              <a:prstGeom prst="arc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0" name="Straight Connector 99"/>
              <p:cNvCxnSpPr/>
              <p:nvPr/>
            </p:nvCxnSpPr>
            <p:spPr>
              <a:xfrm flipV="1">
                <a:off x="3421617" y="2334282"/>
                <a:ext cx="310574" cy="342544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92"/>
            <p:cNvSpPr txBox="1"/>
            <p:nvPr/>
          </p:nvSpPr>
          <p:spPr>
            <a:xfrm>
              <a:off x="8747179" y="5235864"/>
              <a:ext cx="957410" cy="383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Ie</a:t>
              </a:r>
              <a:r>
                <a:rPr lang="en-US" sz="2400" dirty="0" smtClean="0"/>
                <a:t>=</a:t>
              </a:r>
              <a:r>
                <a:rPr lang="en-US" sz="2400" dirty="0" err="1" smtClean="0"/>
                <a:t>Ic+Ib</a:t>
              </a:r>
              <a:endParaRPr lang="en-US" sz="2400" dirty="0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8724096" y="3251343"/>
              <a:ext cx="0" cy="433439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8752561" y="3168298"/>
              <a:ext cx="320625" cy="383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Ic</a:t>
              </a:r>
              <a:endParaRPr lang="en-US" sz="2400" dirty="0"/>
            </a:p>
          </p:txBody>
        </p:sp>
        <p:cxnSp>
          <p:nvCxnSpPr>
            <p:cNvPr id="96" name="Straight Arrow Connector 95"/>
            <p:cNvCxnSpPr/>
            <p:nvPr/>
          </p:nvCxnSpPr>
          <p:spPr>
            <a:xfrm>
              <a:off x="8738253" y="5142009"/>
              <a:ext cx="0" cy="433439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9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95508" y="4032168"/>
            <a:ext cx="12794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FF0000"/>
                </a:solidFill>
              </a:rPr>
              <a:t>Ib=f(Vbe, Vce)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57655" y="1898090"/>
            <a:ext cx="9108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FF0000"/>
                </a:solidFill>
              </a:rPr>
              <a:t>Ib=f(Vbe)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90438" y="4032168"/>
            <a:ext cx="11031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FF0000"/>
                </a:solidFill>
              </a:rPr>
              <a:t>Ic=f(Vce, Ib)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15519" y="4032168"/>
            <a:ext cx="10879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FF0000"/>
                </a:solidFill>
              </a:rPr>
              <a:t>Ic=f(Ib, vce)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64919" y="1934943"/>
            <a:ext cx="7344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FF0000"/>
                </a:solidFill>
              </a:rPr>
              <a:t>Ic=f(Ib)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42311" y="1884696"/>
            <a:ext cx="11031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FF0000"/>
                </a:solidFill>
              </a:rPr>
              <a:t>Ic=f(Vce, Ib)</a:t>
            </a:r>
            <a:endParaRPr lang="en-US" sz="1500" dirty="0">
              <a:solidFill>
                <a:srgbClr val="FF000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87" y="2198173"/>
            <a:ext cx="1571625" cy="167878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089" y="2126734"/>
            <a:ext cx="1821656" cy="177879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115" y="2198172"/>
            <a:ext cx="1500188" cy="163591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Gambaran Grafik Karakteristik Input, Output dan Transfer </a:t>
            </a:r>
            <a:r>
              <a:rPr lang="en-US" smtClean="0"/>
              <a:t>Transistor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335" y="4355333"/>
            <a:ext cx="2011513" cy="1237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9481" y="4284873"/>
            <a:ext cx="2131518" cy="13078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654" y="4284873"/>
            <a:ext cx="2242491" cy="139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 smtClean="0"/>
              <a:t>Ilustrasi</a:t>
            </a:r>
            <a:r>
              <a:rPr lang="en-US" smtClean="0"/>
              <a:t> Pengukuran Karakteristik Output dan Grafik Yang Dihasilkan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4" descr="Hasil gambar untuk output characteristic transis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825" y="1690689"/>
            <a:ext cx="5788349" cy="447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03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333375"/>
            <a:ext cx="8496300" cy="863600"/>
          </a:xfrm>
          <a:ln>
            <a:noFill/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000" b="1" err="1" smtClean="0"/>
              <a:t>Membuat</a:t>
            </a:r>
            <a:r>
              <a:rPr lang="en-US" sz="4000" b="1" smtClean="0"/>
              <a:t> Grafik Karakteristik </a:t>
            </a:r>
            <a:r>
              <a:rPr lang="en-US" sz="4000" b="1" dirty="0" smtClean="0"/>
              <a:t>Input Transistor</a:t>
            </a:r>
            <a:br>
              <a:rPr lang="en-US" sz="4000" b="1" dirty="0" smtClean="0"/>
            </a:br>
            <a:r>
              <a:rPr lang="en-US" sz="4000" b="1" dirty="0" err="1" smtClean="0"/>
              <a:t>Ib</a:t>
            </a:r>
            <a:r>
              <a:rPr lang="en-US" sz="4000" b="1" dirty="0" smtClean="0"/>
              <a:t> </a:t>
            </a:r>
            <a:r>
              <a:rPr lang="en-US" sz="4000" b="1" smtClean="0"/>
              <a:t>= f(Vbe, Vce)</a:t>
            </a:r>
            <a:endParaRPr lang="en-GB" sz="4000" b="1" dirty="0" smtClean="0"/>
          </a:p>
        </p:txBody>
      </p:sp>
      <p:sp>
        <p:nvSpPr>
          <p:cNvPr id="3" name="Down Arrow 2"/>
          <p:cNvSpPr/>
          <p:nvPr/>
        </p:nvSpPr>
        <p:spPr>
          <a:xfrm>
            <a:off x="6016219" y="3810613"/>
            <a:ext cx="464457" cy="5015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/>
          <p:cNvSpPr/>
          <p:nvPr/>
        </p:nvSpPr>
        <p:spPr>
          <a:xfrm rot="16200000">
            <a:off x="3854861" y="2295580"/>
            <a:ext cx="464457" cy="3892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92953" y="1389925"/>
            <a:ext cx="3230232" cy="2209579"/>
            <a:chOff x="592953" y="1389925"/>
            <a:chExt cx="3230232" cy="2209579"/>
          </a:xfrm>
        </p:grpSpPr>
        <p:grpSp>
          <p:nvGrpSpPr>
            <p:cNvPr id="13" name="Group 12"/>
            <p:cNvGrpSpPr/>
            <p:nvPr/>
          </p:nvGrpSpPr>
          <p:grpSpPr>
            <a:xfrm>
              <a:off x="592953" y="1389925"/>
              <a:ext cx="3230232" cy="2209579"/>
              <a:chOff x="682258" y="1937048"/>
              <a:chExt cx="4612582" cy="3562006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 flipH="1" flipV="1">
                <a:off x="1022725" y="3793500"/>
                <a:ext cx="544" cy="156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H="1">
                <a:off x="1038995" y="3654521"/>
                <a:ext cx="7596" cy="81991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1040452" y="4609372"/>
                <a:ext cx="6139" cy="88968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H="1" flipV="1">
                <a:off x="1010855" y="5491242"/>
                <a:ext cx="3964356" cy="781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3366405" y="4704614"/>
                <a:ext cx="1716" cy="79444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rot="16200000">
                <a:off x="1019656" y="4142388"/>
                <a:ext cx="6139" cy="68093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909293" y="4605557"/>
                <a:ext cx="26907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V="1">
                <a:off x="819238" y="4238405"/>
                <a:ext cx="443481" cy="55220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H="1" flipV="1">
                <a:off x="4944240" y="3080844"/>
                <a:ext cx="544" cy="156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>
                <a:off x="4960511" y="1939885"/>
                <a:ext cx="10737" cy="182189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H="1">
                <a:off x="4950305" y="3896716"/>
                <a:ext cx="11663" cy="160233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V="1">
                <a:off x="4613904" y="3759456"/>
                <a:ext cx="680936" cy="613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4830808" y="3892901"/>
                <a:ext cx="26907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>
                <a:endCxn id="60" idx="0"/>
              </p:cNvCxnSpPr>
              <p:nvPr/>
            </p:nvCxnSpPr>
            <p:spPr>
              <a:xfrm>
                <a:off x="3368122" y="1962927"/>
                <a:ext cx="555" cy="54339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>
                <a:off x="3366405" y="1937048"/>
                <a:ext cx="1628824" cy="283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/>
              <p:cNvGrpSpPr/>
              <p:nvPr/>
            </p:nvGrpSpPr>
            <p:grpSpPr>
              <a:xfrm>
                <a:off x="1455616" y="2506318"/>
                <a:ext cx="2285268" cy="2324100"/>
                <a:chOff x="487577" y="-140172"/>
                <a:chExt cx="2285268" cy="2324100"/>
              </a:xfrm>
            </p:grpSpPr>
            <p:grpSp>
              <p:nvGrpSpPr>
                <p:cNvPr id="39" name="Group 5"/>
                <p:cNvGrpSpPr>
                  <a:grpSpLocks/>
                </p:cNvGrpSpPr>
                <p:nvPr/>
              </p:nvGrpSpPr>
              <p:grpSpPr bwMode="auto">
                <a:xfrm>
                  <a:off x="917400" y="-140172"/>
                  <a:ext cx="1484955" cy="2324100"/>
                  <a:chOff x="7200" y="4680"/>
                  <a:chExt cx="1620" cy="2700"/>
                </a:xfrm>
              </p:grpSpPr>
              <p:grpSp>
                <p:nvGrpSpPr>
                  <p:cNvPr id="53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7200" y="4680"/>
                    <a:ext cx="1620" cy="2700"/>
                    <a:chOff x="9575" y="4003"/>
                    <a:chExt cx="865" cy="2522"/>
                  </a:xfrm>
                </p:grpSpPr>
                <p:sp>
                  <p:nvSpPr>
                    <p:cNvPr id="55" name="Line 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439" y="5894"/>
                      <a:ext cx="1" cy="63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" name="Line 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007" y="4633"/>
                      <a:ext cx="432" cy="315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" name="Line 9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0007" y="5579"/>
                      <a:ext cx="432" cy="315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007" y="4633"/>
                      <a:ext cx="1" cy="126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75" y="5264"/>
                      <a:ext cx="432" cy="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439" y="4003"/>
                      <a:ext cx="1" cy="63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4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8280" y="6480"/>
                    <a:ext cx="419" cy="180"/>
                  </a:xfrm>
                  <a:prstGeom prst="line">
                    <a:avLst/>
                  </a:prstGeom>
                  <a:noFill/>
                  <a:ln w="76200">
                    <a:solidFill>
                      <a:srgbClr val="000000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0" name="Arc 39"/>
                <p:cNvSpPr/>
                <p:nvPr/>
              </p:nvSpPr>
              <p:spPr>
                <a:xfrm rot="10800000">
                  <a:off x="1209493" y="541639"/>
                  <a:ext cx="1563352" cy="1544077"/>
                </a:xfrm>
                <a:prstGeom prst="arc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693006" y="1720369"/>
                  <a:ext cx="675185" cy="461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err="1" smtClean="0"/>
                    <a:t>Vbe</a:t>
                  </a:r>
                  <a:endParaRPr lang="en-US" sz="2400" dirty="0"/>
                </a:p>
              </p:txBody>
            </p:sp>
            <p:cxnSp>
              <p:nvCxnSpPr>
                <p:cNvPr id="44" name="Straight Arrow Connector 43"/>
                <p:cNvCxnSpPr/>
                <p:nvPr/>
              </p:nvCxnSpPr>
              <p:spPr>
                <a:xfrm rot="16200000">
                  <a:off x="971938" y="666993"/>
                  <a:ext cx="0" cy="708848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487577" y="260008"/>
                  <a:ext cx="42351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err="1" smtClean="0"/>
                    <a:t>Ib</a:t>
                  </a:r>
                  <a:endParaRPr lang="en-US" sz="2400" dirty="0"/>
                </a:p>
              </p:txBody>
            </p:sp>
          </p:grpSp>
          <p:cxnSp>
            <p:nvCxnSpPr>
              <p:cNvPr id="36" name="Straight Connector 35"/>
              <p:cNvCxnSpPr/>
              <p:nvPr/>
            </p:nvCxnSpPr>
            <p:spPr>
              <a:xfrm flipH="1" flipV="1">
                <a:off x="1021198" y="3658335"/>
                <a:ext cx="709654" cy="980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1042232" y="4536389"/>
                <a:ext cx="657399" cy="645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V1</a:t>
                </a:r>
                <a:endParaRPr lang="en-US" sz="2000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329042" y="3848461"/>
                <a:ext cx="657399" cy="645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V2</a:t>
                </a:r>
                <a:endParaRPr lang="en-US" sz="2000" dirty="0"/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2630099" y="1998875"/>
              <a:ext cx="6276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smtClean="0"/>
                <a:t>Vce</a:t>
              </a:r>
              <a:endParaRPr lang="en-US" sz="2400" dirty="0"/>
            </a:p>
          </p:txBody>
        </p:sp>
        <p:sp>
          <p:nvSpPr>
            <p:cNvPr id="48" name="Arc 47"/>
            <p:cNvSpPr/>
            <p:nvPr/>
          </p:nvSpPr>
          <p:spPr>
            <a:xfrm rot="18530505" flipV="1">
              <a:off x="1641303" y="2005166"/>
              <a:ext cx="1094829" cy="957820"/>
            </a:xfrm>
            <a:prstGeom prst="arc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/>
            <p:nvPr/>
          </p:nvCxnSpPr>
          <p:spPr>
            <a:xfrm flipV="1">
              <a:off x="3421617" y="2334282"/>
              <a:ext cx="310574" cy="34254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135350"/>
              </p:ext>
            </p:extLst>
          </p:nvPr>
        </p:nvGraphicFramePr>
        <p:xfrm>
          <a:off x="4340994" y="1413063"/>
          <a:ext cx="4345387" cy="22730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341"/>
                <a:gridCol w="319390"/>
                <a:gridCol w="319390"/>
                <a:gridCol w="319390"/>
                <a:gridCol w="319390"/>
                <a:gridCol w="319390"/>
                <a:gridCol w="319390"/>
                <a:gridCol w="319390"/>
                <a:gridCol w="319390"/>
                <a:gridCol w="319390"/>
                <a:gridCol w="319390"/>
                <a:gridCol w="319390"/>
                <a:gridCol w="319390"/>
                <a:gridCol w="277366"/>
              </a:tblGrid>
              <a:tr h="1593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11"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Vbe (V) (sumbu X)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593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0,1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0,3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0,4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0,8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0,9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0,1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41425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Vce (V)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rowSpan="11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Ib (A) (sumbu Y)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41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1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1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3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1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4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10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93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Ib (A) (sumbu Y)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pic>
        <p:nvPicPr>
          <p:cNvPr id="52" name="Pictur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13" y="4420719"/>
            <a:ext cx="2653635" cy="185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8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Contoh Grafik </a:t>
            </a:r>
            <a:r>
              <a:rPr lang="en-US"/>
              <a:t>Karakteristik Input Ib = f(Vbe, Vce</a:t>
            </a:r>
            <a:r>
              <a:rPr lang="en-US" smtClean="0"/>
              <a:t>)</a:t>
            </a:r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30475" y="2213984"/>
            <a:ext cx="8891446" cy="3847909"/>
            <a:chOff x="230475" y="2213984"/>
            <a:chExt cx="8891446" cy="384790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2444817"/>
              <a:ext cx="7886700" cy="3425491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7527984" y="3109579"/>
              <a:ext cx="6347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Vce1</a:t>
              </a: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739581" y="3478911"/>
              <a:ext cx="6347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Vce2</a:t>
              </a: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86838" y="4282769"/>
              <a:ext cx="7517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Vce10</a:t>
              </a: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46736" y="5600228"/>
              <a:ext cx="6751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smtClean="0">
                  <a:solidFill>
                    <a:srgbClr val="FF0000"/>
                  </a:solidFill>
                </a:rPr>
                <a:t>Vbe</a:t>
              </a:r>
              <a:endParaRPr lang="en-US" sz="2400">
                <a:solidFill>
                  <a:srgbClr val="FF0000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30475" y="2213984"/>
              <a:ext cx="42351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smtClean="0">
                  <a:solidFill>
                    <a:srgbClr val="FF0000"/>
                  </a:solidFill>
                </a:rPr>
                <a:t>Ib</a:t>
              </a:r>
              <a:endParaRPr lang="en-US" sz="24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548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850" y="333375"/>
            <a:ext cx="8496300" cy="8636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err="1"/>
              <a:t>Membuat</a:t>
            </a:r>
            <a:r>
              <a:rPr lang="en-US" sz="4000" b="1"/>
              <a:t> </a:t>
            </a:r>
            <a:r>
              <a:rPr lang="en-US" sz="4000" b="1" smtClean="0"/>
              <a:t>Grafik Karakteristik Output </a:t>
            </a:r>
            <a:r>
              <a:rPr lang="en-US" sz="4000" b="1" dirty="0"/>
              <a:t>Transistor</a:t>
            </a:r>
            <a:br>
              <a:rPr lang="en-US" sz="4000" b="1" dirty="0"/>
            </a:br>
            <a:r>
              <a:rPr lang="en-US" sz="4000" b="1" dirty="0" err="1" smtClean="0"/>
              <a:t>Ic</a:t>
            </a:r>
            <a:r>
              <a:rPr lang="en-US" sz="4000" b="1" dirty="0" smtClean="0"/>
              <a:t> </a:t>
            </a:r>
            <a:r>
              <a:rPr lang="en-US" sz="4000" b="1" smtClean="0"/>
              <a:t>= f(Vce, Ib)</a:t>
            </a:r>
            <a:endParaRPr lang="en-GB" sz="4000" b="1" dirty="0" smtClean="0"/>
          </a:p>
        </p:txBody>
      </p:sp>
      <p:sp>
        <p:nvSpPr>
          <p:cNvPr id="8" name="AutoShape 2" descr=" pengertian, jenis, karakteristik, simbol, transistor, NPN transist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Down Arrow 12"/>
          <p:cNvSpPr/>
          <p:nvPr/>
        </p:nvSpPr>
        <p:spPr>
          <a:xfrm rot="16200000">
            <a:off x="3898789" y="2307046"/>
            <a:ext cx="379406" cy="4623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6361475" y="3849925"/>
            <a:ext cx="464457" cy="5119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592953" y="1389925"/>
            <a:ext cx="3230232" cy="2209579"/>
            <a:chOff x="592953" y="1389925"/>
            <a:chExt cx="3230232" cy="2209579"/>
          </a:xfrm>
        </p:grpSpPr>
        <p:grpSp>
          <p:nvGrpSpPr>
            <p:cNvPr id="54" name="Group 53"/>
            <p:cNvGrpSpPr/>
            <p:nvPr/>
          </p:nvGrpSpPr>
          <p:grpSpPr>
            <a:xfrm>
              <a:off x="592953" y="1389925"/>
              <a:ext cx="3230232" cy="2209579"/>
              <a:chOff x="682258" y="1937048"/>
              <a:chExt cx="4612582" cy="3562006"/>
            </a:xfrm>
          </p:grpSpPr>
          <p:cxnSp>
            <p:nvCxnSpPr>
              <p:cNvPr id="66" name="Straight Connector 65"/>
              <p:cNvCxnSpPr/>
              <p:nvPr/>
            </p:nvCxnSpPr>
            <p:spPr>
              <a:xfrm flipH="1" flipV="1">
                <a:off x="1022725" y="3793500"/>
                <a:ext cx="544" cy="156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>
                <a:off x="1038995" y="3654521"/>
                <a:ext cx="7596" cy="81991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1040452" y="4609372"/>
                <a:ext cx="6139" cy="88968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 flipH="1" flipV="1">
                <a:off x="1010855" y="5491242"/>
                <a:ext cx="3964356" cy="781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H="1">
                <a:off x="3366405" y="4704614"/>
                <a:ext cx="1716" cy="79444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rot="16200000">
                <a:off x="1019656" y="4142388"/>
                <a:ext cx="6139" cy="68093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909293" y="4605557"/>
                <a:ext cx="26907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819238" y="4238405"/>
                <a:ext cx="443481" cy="55220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flipH="1" flipV="1">
                <a:off x="4944240" y="3080844"/>
                <a:ext cx="544" cy="156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flipH="1">
                <a:off x="4960511" y="1939885"/>
                <a:ext cx="10737" cy="182189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H="1">
                <a:off x="4950305" y="3896716"/>
                <a:ext cx="11663" cy="160233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flipV="1">
                <a:off x="4613904" y="3759456"/>
                <a:ext cx="680936" cy="613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4830808" y="3892901"/>
                <a:ext cx="26907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flipH="1">
                <a:off x="3366405" y="1962926"/>
                <a:ext cx="1716" cy="48782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 flipH="1">
                <a:off x="3366405" y="1937048"/>
                <a:ext cx="1628824" cy="283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/>
              <p:cNvGrpSpPr/>
              <p:nvPr/>
            </p:nvGrpSpPr>
            <p:grpSpPr>
              <a:xfrm>
                <a:off x="1661045" y="2106192"/>
                <a:ext cx="2371165" cy="2724226"/>
                <a:chOff x="693006" y="-540298"/>
                <a:chExt cx="2371165" cy="2724226"/>
              </a:xfrm>
            </p:grpSpPr>
            <p:grpSp>
              <p:nvGrpSpPr>
                <p:cNvPr id="85" name="Group 5"/>
                <p:cNvGrpSpPr>
                  <a:grpSpLocks/>
                </p:cNvGrpSpPr>
                <p:nvPr/>
              </p:nvGrpSpPr>
              <p:grpSpPr bwMode="auto">
                <a:xfrm>
                  <a:off x="917400" y="-140172"/>
                  <a:ext cx="1484955" cy="2324100"/>
                  <a:chOff x="7200" y="4680"/>
                  <a:chExt cx="1620" cy="2700"/>
                </a:xfrm>
              </p:grpSpPr>
              <p:grpSp>
                <p:nvGrpSpPr>
                  <p:cNvPr id="90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7200" y="4680"/>
                    <a:ext cx="1620" cy="2700"/>
                    <a:chOff x="9575" y="4003"/>
                    <a:chExt cx="865" cy="2522"/>
                  </a:xfrm>
                </p:grpSpPr>
                <p:sp>
                  <p:nvSpPr>
                    <p:cNvPr id="92" name="Line 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439" y="5894"/>
                      <a:ext cx="1" cy="63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" name="Line 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007" y="4633"/>
                      <a:ext cx="432" cy="315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" name="Line 9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0007" y="5579"/>
                      <a:ext cx="432" cy="315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007" y="4633"/>
                      <a:ext cx="1" cy="126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75" y="5264"/>
                      <a:ext cx="432" cy="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439" y="4003"/>
                      <a:ext cx="1" cy="63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9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8280" y="6480"/>
                    <a:ext cx="419" cy="180"/>
                  </a:xfrm>
                  <a:prstGeom prst="line">
                    <a:avLst/>
                  </a:prstGeom>
                  <a:noFill/>
                  <a:ln w="76200">
                    <a:solidFill>
                      <a:srgbClr val="000000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6" name="Arc 85"/>
                <p:cNvSpPr/>
                <p:nvPr/>
              </p:nvSpPr>
              <p:spPr>
                <a:xfrm rot="10800000">
                  <a:off x="1209493" y="541639"/>
                  <a:ext cx="1563352" cy="1544077"/>
                </a:xfrm>
                <a:prstGeom prst="arc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TextBox 86"/>
                <p:cNvSpPr txBox="1"/>
                <p:nvPr/>
              </p:nvSpPr>
              <p:spPr>
                <a:xfrm>
                  <a:off x="693006" y="1720369"/>
                  <a:ext cx="675185" cy="461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err="1" smtClean="0"/>
                    <a:t>Vbe</a:t>
                  </a:r>
                  <a:endParaRPr lang="en-US" sz="2400" dirty="0"/>
                </a:p>
              </p:txBody>
            </p:sp>
            <p:cxnSp>
              <p:nvCxnSpPr>
                <p:cNvPr id="88" name="Straight Arrow Connector 87"/>
                <p:cNvCxnSpPr/>
                <p:nvPr/>
              </p:nvCxnSpPr>
              <p:spPr>
                <a:xfrm>
                  <a:off x="2417080" y="-540298"/>
                  <a:ext cx="0" cy="800253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TextBox 88"/>
                <p:cNvSpPr txBox="1"/>
                <p:nvPr/>
              </p:nvSpPr>
              <p:spPr>
                <a:xfrm>
                  <a:off x="2505198" y="-513945"/>
                  <a:ext cx="558973" cy="7442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smtClean="0"/>
                    <a:t>Ic</a:t>
                  </a:r>
                  <a:endParaRPr lang="en-US" sz="2400" dirty="0"/>
                </a:p>
              </p:txBody>
            </p:sp>
          </p:grpSp>
          <p:cxnSp>
            <p:nvCxnSpPr>
              <p:cNvPr id="82" name="Straight Connector 81"/>
              <p:cNvCxnSpPr>
                <a:stCxn id="96" idx="0"/>
              </p:cNvCxnSpPr>
              <p:nvPr/>
            </p:nvCxnSpPr>
            <p:spPr>
              <a:xfrm flipH="1" flipV="1">
                <a:off x="1021200" y="3658337"/>
                <a:ext cx="864239" cy="1003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1042232" y="4536389"/>
                <a:ext cx="657399" cy="645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V1</a:t>
                </a:r>
                <a:endParaRPr lang="en-US" sz="2000" dirty="0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4329042" y="3848461"/>
                <a:ext cx="657399" cy="645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V2</a:t>
                </a:r>
                <a:endParaRPr lang="en-US" sz="2000" dirty="0"/>
              </a:p>
            </p:txBody>
          </p:sp>
        </p:grpSp>
        <p:sp>
          <p:nvSpPr>
            <p:cNvPr id="63" name="TextBox 62"/>
            <p:cNvSpPr txBox="1"/>
            <p:nvPr/>
          </p:nvSpPr>
          <p:spPr>
            <a:xfrm>
              <a:off x="2659318" y="2084719"/>
              <a:ext cx="6276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smtClean="0"/>
                <a:t>Vce</a:t>
              </a:r>
              <a:endParaRPr lang="en-US" sz="2400" dirty="0"/>
            </a:p>
          </p:txBody>
        </p:sp>
        <p:sp>
          <p:nvSpPr>
            <p:cNvPr id="64" name="Arc 63"/>
            <p:cNvSpPr/>
            <p:nvPr/>
          </p:nvSpPr>
          <p:spPr>
            <a:xfrm rot="18530505" flipV="1">
              <a:off x="1649892" y="2050335"/>
              <a:ext cx="1094829" cy="957820"/>
            </a:xfrm>
            <a:prstGeom prst="arc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/>
            <p:cNvCxnSpPr/>
            <p:nvPr/>
          </p:nvCxnSpPr>
          <p:spPr>
            <a:xfrm flipV="1">
              <a:off x="3421617" y="2334282"/>
              <a:ext cx="310574" cy="34254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46512"/>
              </p:ext>
            </p:extLst>
          </p:nvPr>
        </p:nvGraphicFramePr>
        <p:xfrm>
          <a:off x="4381015" y="1348551"/>
          <a:ext cx="4581624" cy="240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958"/>
                <a:gridCol w="340958"/>
                <a:gridCol w="340958"/>
                <a:gridCol w="340958"/>
                <a:gridCol w="340958"/>
                <a:gridCol w="340958"/>
                <a:gridCol w="340958"/>
                <a:gridCol w="340958"/>
                <a:gridCol w="340958"/>
                <a:gridCol w="340958"/>
                <a:gridCol w="340958"/>
                <a:gridCol w="340958"/>
                <a:gridCol w="340958"/>
                <a:gridCol w="149170"/>
              </a:tblGrid>
              <a:tr h="17338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11"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Vce (V</a:t>
                      </a:r>
                      <a:r>
                        <a:rPr lang="en-US" sz="800" u="none" strike="noStrike" smtClean="0">
                          <a:effectLst/>
                        </a:rPr>
                        <a:t>) (sumbu</a:t>
                      </a:r>
                      <a:r>
                        <a:rPr lang="en-US" sz="800" u="none" strike="noStrike" baseline="0" smtClean="0">
                          <a:effectLst/>
                        </a:rPr>
                        <a:t> X)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7338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3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4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10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249313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smtClean="0">
                          <a:effectLst/>
                        </a:rPr>
                        <a:t>Ib (A)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Ib1 (min)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rowSpan="11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Ic (A</a:t>
                      </a:r>
                      <a:r>
                        <a:rPr lang="en-US" sz="800" u="none" strike="noStrike" smtClean="0">
                          <a:effectLst/>
                        </a:rPr>
                        <a:t>) (sumbu</a:t>
                      </a:r>
                      <a:r>
                        <a:rPr lang="en-US" sz="800" u="none" strike="noStrike" baseline="0" smtClean="0">
                          <a:effectLst/>
                        </a:rPr>
                        <a:t> Y)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27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7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Ib3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7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Ib4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7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3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3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3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Ib8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3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Ib9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493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Ib10 (maks)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3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338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Ic (A</a:t>
                      </a:r>
                      <a:r>
                        <a:rPr lang="en-US" sz="800" u="none" strike="noStrike" smtClean="0">
                          <a:effectLst/>
                        </a:rPr>
                        <a:t>) (sumbu</a:t>
                      </a:r>
                      <a:r>
                        <a:rPr lang="en-US" sz="800" u="none" strike="noStrike" baseline="0" smtClean="0">
                          <a:effectLst/>
                        </a:rPr>
                        <a:t> Y)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pic>
        <p:nvPicPr>
          <p:cNvPr id="51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696" y="4456316"/>
            <a:ext cx="2568017" cy="198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6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</a:t>
            </a:r>
            <a:r>
              <a:rPr lang="en-US" smtClean="0"/>
              <a:t>Grafik Karakteristik Input </a:t>
            </a:r>
            <a:r>
              <a:rPr lang="en-US"/>
              <a:t>Ic = f(Vce, Ib)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05136" y="2338757"/>
            <a:ext cx="8869272" cy="3838206"/>
            <a:chOff x="205136" y="2338757"/>
            <a:chExt cx="8869272" cy="383820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1" y="2473693"/>
              <a:ext cx="7886700" cy="370327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861785" y="5716933"/>
              <a:ext cx="4812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Ib1</a:t>
              </a: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861785" y="4956099"/>
              <a:ext cx="4812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Ib2</a:t>
              </a: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1785" y="4460123"/>
              <a:ext cx="4812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Ib3</a:t>
              </a: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861785" y="4140662"/>
              <a:ext cx="4812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Ib4</a:t>
              </a: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861785" y="3838657"/>
              <a:ext cx="4812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Ib5</a:t>
              </a: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861785" y="2686321"/>
              <a:ext cx="5982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Ib10</a:t>
              </a: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46736" y="5715298"/>
              <a:ext cx="6276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smtClean="0">
                  <a:solidFill>
                    <a:srgbClr val="FF0000"/>
                  </a:solidFill>
                </a:rPr>
                <a:t>Vce</a:t>
              </a:r>
              <a:endParaRPr lang="en-US" sz="2400">
                <a:solidFill>
                  <a:srgbClr val="FF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5136" y="2338757"/>
              <a:ext cx="3914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smtClean="0">
                  <a:solidFill>
                    <a:srgbClr val="FF0000"/>
                  </a:solidFill>
                </a:rPr>
                <a:t>Ic</a:t>
              </a:r>
              <a:endParaRPr lang="en-US" sz="24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3146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3850" y="333375"/>
            <a:ext cx="8496300" cy="8636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err="1"/>
              <a:t>Membuat</a:t>
            </a:r>
            <a:r>
              <a:rPr lang="en-US" sz="4000" b="1"/>
              <a:t> </a:t>
            </a:r>
            <a:r>
              <a:rPr lang="en-US" sz="4000" b="1" smtClean="0"/>
              <a:t>Grafik Karakteristik Transfer Transistor</a:t>
            </a:r>
            <a:r>
              <a:rPr lang="en-US" sz="4000" b="1"/>
              <a:t/>
            </a:r>
            <a:br>
              <a:rPr lang="en-US" sz="4000" b="1"/>
            </a:br>
            <a:r>
              <a:rPr lang="en-US" sz="4000" b="1" smtClean="0"/>
              <a:t>Ic = f(Ib, Vce) </a:t>
            </a:r>
            <a:r>
              <a:rPr lang="en-US" sz="4000" b="1" smtClean="0">
                <a:sym typeface="Wingdings" panose="05000000000000000000" pitchFamily="2" charset="2"/>
              </a:rPr>
              <a:t> </a:t>
            </a:r>
            <a:r>
              <a:rPr lang="el-GR" sz="3600" b="1"/>
              <a:t>β</a:t>
            </a:r>
            <a:endParaRPr lang="en-GB" sz="4000" b="1" dirty="0" smtClean="0"/>
          </a:p>
        </p:txBody>
      </p:sp>
      <p:sp>
        <p:nvSpPr>
          <p:cNvPr id="8" name="AutoShape 2" descr=" pengertian, jenis, karakteristik, simbol, transistor, NPN transist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Down Arrow 12"/>
          <p:cNvSpPr/>
          <p:nvPr/>
        </p:nvSpPr>
        <p:spPr>
          <a:xfrm rot="16200000">
            <a:off x="3762006" y="2178846"/>
            <a:ext cx="464457" cy="476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6463855" y="3889917"/>
            <a:ext cx="435304" cy="4510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501838" y="1432806"/>
            <a:ext cx="3230232" cy="2209579"/>
            <a:chOff x="592953" y="1389925"/>
            <a:chExt cx="3230232" cy="2209579"/>
          </a:xfrm>
        </p:grpSpPr>
        <p:grpSp>
          <p:nvGrpSpPr>
            <p:cNvPr id="48" name="Group 47"/>
            <p:cNvGrpSpPr/>
            <p:nvPr/>
          </p:nvGrpSpPr>
          <p:grpSpPr>
            <a:xfrm>
              <a:off x="592953" y="1389925"/>
              <a:ext cx="3230232" cy="2209579"/>
              <a:chOff x="682258" y="1937048"/>
              <a:chExt cx="4612582" cy="3562006"/>
            </a:xfrm>
          </p:grpSpPr>
          <p:cxnSp>
            <p:nvCxnSpPr>
              <p:cNvPr id="56" name="Straight Connector 55"/>
              <p:cNvCxnSpPr/>
              <p:nvPr/>
            </p:nvCxnSpPr>
            <p:spPr>
              <a:xfrm flipH="1" flipV="1">
                <a:off x="1022725" y="3793500"/>
                <a:ext cx="544" cy="156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H="1">
                <a:off x="1038995" y="3654521"/>
                <a:ext cx="7596" cy="81991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1040452" y="4609372"/>
                <a:ext cx="6139" cy="88968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1010855" y="5491242"/>
                <a:ext cx="3964356" cy="781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 flipH="1">
                <a:off x="3366405" y="4704614"/>
                <a:ext cx="1716" cy="79444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rot="16200000">
                <a:off x="1019656" y="4142388"/>
                <a:ext cx="6139" cy="68093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909293" y="4605557"/>
                <a:ext cx="26907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V="1">
                <a:off x="819238" y="4238405"/>
                <a:ext cx="443481" cy="55220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 flipV="1">
                <a:off x="4944240" y="3080844"/>
                <a:ext cx="544" cy="1567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flipH="1">
                <a:off x="4960511" y="1939885"/>
                <a:ext cx="10737" cy="182189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flipH="1">
                <a:off x="4950305" y="3896716"/>
                <a:ext cx="11663" cy="160233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V="1">
                <a:off x="4613904" y="3759456"/>
                <a:ext cx="680936" cy="613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4830808" y="3892901"/>
                <a:ext cx="26907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flipH="1">
                <a:off x="3366405" y="1962926"/>
                <a:ext cx="1716" cy="48782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flipH="1">
                <a:off x="3366405" y="1937048"/>
                <a:ext cx="1628824" cy="283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" name="Group 79"/>
              <p:cNvGrpSpPr/>
              <p:nvPr/>
            </p:nvGrpSpPr>
            <p:grpSpPr>
              <a:xfrm>
                <a:off x="1885439" y="2106192"/>
                <a:ext cx="2146771" cy="2724226"/>
                <a:chOff x="917400" y="-540298"/>
                <a:chExt cx="2146771" cy="2724226"/>
              </a:xfrm>
            </p:grpSpPr>
            <p:grpSp>
              <p:nvGrpSpPr>
                <p:cNvPr id="84" name="Group 5"/>
                <p:cNvGrpSpPr>
                  <a:grpSpLocks/>
                </p:cNvGrpSpPr>
                <p:nvPr/>
              </p:nvGrpSpPr>
              <p:grpSpPr bwMode="auto">
                <a:xfrm>
                  <a:off x="917400" y="-140172"/>
                  <a:ext cx="1484955" cy="2324100"/>
                  <a:chOff x="7200" y="4680"/>
                  <a:chExt cx="1620" cy="2700"/>
                </a:xfrm>
              </p:grpSpPr>
              <p:grpSp>
                <p:nvGrpSpPr>
                  <p:cNvPr id="89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7200" y="4680"/>
                    <a:ext cx="1620" cy="2700"/>
                    <a:chOff x="9575" y="4003"/>
                    <a:chExt cx="865" cy="2522"/>
                  </a:xfrm>
                </p:grpSpPr>
                <p:sp>
                  <p:nvSpPr>
                    <p:cNvPr id="91" name="Line 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439" y="5894"/>
                      <a:ext cx="1" cy="63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" name="Line 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007" y="4633"/>
                      <a:ext cx="432" cy="315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" name="Line 9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0007" y="5579"/>
                      <a:ext cx="432" cy="315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007" y="4633"/>
                      <a:ext cx="1" cy="126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75" y="5264"/>
                      <a:ext cx="432" cy="1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439" y="4003"/>
                      <a:ext cx="1" cy="63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90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8280" y="6480"/>
                    <a:ext cx="419" cy="180"/>
                  </a:xfrm>
                  <a:prstGeom prst="line">
                    <a:avLst/>
                  </a:prstGeom>
                  <a:noFill/>
                  <a:ln w="76200">
                    <a:solidFill>
                      <a:srgbClr val="000000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87" name="Straight Arrow Connector 86"/>
                <p:cNvCxnSpPr/>
                <p:nvPr/>
              </p:nvCxnSpPr>
              <p:spPr>
                <a:xfrm>
                  <a:off x="2417080" y="-540298"/>
                  <a:ext cx="0" cy="800253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" name="TextBox 87"/>
                <p:cNvSpPr txBox="1"/>
                <p:nvPr/>
              </p:nvSpPr>
              <p:spPr>
                <a:xfrm>
                  <a:off x="2505198" y="-513945"/>
                  <a:ext cx="558973" cy="7442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smtClean="0"/>
                    <a:t>Ic</a:t>
                  </a:r>
                  <a:endParaRPr lang="en-US" sz="2400" dirty="0"/>
                </a:p>
              </p:txBody>
            </p:sp>
          </p:grpSp>
          <p:cxnSp>
            <p:nvCxnSpPr>
              <p:cNvPr id="81" name="Straight Connector 80"/>
              <p:cNvCxnSpPr>
                <a:stCxn id="95" idx="0"/>
              </p:cNvCxnSpPr>
              <p:nvPr/>
            </p:nvCxnSpPr>
            <p:spPr>
              <a:xfrm flipH="1" flipV="1">
                <a:off x="1021200" y="3658337"/>
                <a:ext cx="864239" cy="1003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/>
              <p:cNvSpPr txBox="1"/>
              <p:nvPr/>
            </p:nvSpPr>
            <p:spPr>
              <a:xfrm>
                <a:off x="1042232" y="4536389"/>
                <a:ext cx="657399" cy="645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V1</a:t>
                </a:r>
                <a:endParaRPr lang="en-US" sz="2000" dirty="0"/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329042" y="3848461"/>
                <a:ext cx="657399" cy="645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V2</a:t>
                </a:r>
                <a:endParaRPr lang="en-US" sz="2000" dirty="0"/>
              </a:p>
            </p:txBody>
          </p:sp>
        </p:grpSp>
        <p:cxnSp>
          <p:nvCxnSpPr>
            <p:cNvPr id="55" name="Straight Connector 54"/>
            <p:cNvCxnSpPr/>
            <p:nvPr/>
          </p:nvCxnSpPr>
          <p:spPr>
            <a:xfrm flipV="1">
              <a:off x="3421617" y="2334282"/>
              <a:ext cx="310574" cy="34254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7" name="Straight Arrow Connector 96"/>
          <p:cNvCxnSpPr/>
          <p:nvPr/>
        </p:nvCxnSpPr>
        <p:spPr>
          <a:xfrm rot="16200000">
            <a:off x="1258178" y="2243935"/>
            <a:ext cx="0" cy="48856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48215" y="2007749"/>
            <a:ext cx="291903" cy="294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Ib</a:t>
            </a:r>
            <a:endParaRPr lang="en-US" sz="2400" dirty="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227598"/>
              </p:ext>
            </p:extLst>
          </p:nvPr>
        </p:nvGraphicFramePr>
        <p:xfrm>
          <a:off x="4289689" y="1397390"/>
          <a:ext cx="4530459" cy="2353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020"/>
                <a:gridCol w="333020"/>
                <a:gridCol w="333020"/>
                <a:gridCol w="333020"/>
                <a:gridCol w="333020"/>
                <a:gridCol w="333020"/>
                <a:gridCol w="333020"/>
                <a:gridCol w="333020"/>
                <a:gridCol w="333020"/>
                <a:gridCol w="333020"/>
                <a:gridCol w="333020"/>
                <a:gridCol w="333020"/>
                <a:gridCol w="333020"/>
                <a:gridCol w="201199"/>
              </a:tblGrid>
              <a:tr h="1688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11"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 (A) (sumbu X)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24279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Ib1 (min)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Ib3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Ib4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Ib8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Ib9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Ib10 (maks)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42309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Vce (V)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0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rowSpan="11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Ic (A) (sumbu Y)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423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23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23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3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23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4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8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8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8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7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8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8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8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u="none" strike="noStrike">
                          <a:effectLst/>
                        </a:rPr>
                        <a:t>10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88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Ic (A) (sumbu Y)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260" y="4447143"/>
            <a:ext cx="2982494" cy="205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8E5752-CB45-4F53-868E-0894F1A17488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sz="1400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863600"/>
          </a:xfrm>
          <a:noFill/>
          <a:ln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en-US" b="1" dirty="0" err="1" smtClean="0"/>
              <a:t>Penjelasan</a:t>
            </a:r>
            <a:r>
              <a:rPr lang="en-US" b="1" dirty="0" smtClean="0"/>
              <a:t> </a:t>
            </a:r>
            <a:r>
              <a:rPr lang="en-US" b="1" dirty="0" err="1" smtClean="0"/>
              <a:t>Persamaan</a:t>
            </a:r>
            <a:r>
              <a:rPr lang="en-US" b="1" dirty="0" smtClean="0"/>
              <a:t> </a:t>
            </a:r>
            <a:r>
              <a:rPr lang="el-GR" b="1" dirty="0" smtClean="0"/>
              <a:t>β</a:t>
            </a:r>
            <a:endParaRPr lang="en-US" b="1" dirty="0" smtClean="0"/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82057"/>
            <a:ext cx="8569325" cy="4583793"/>
          </a:xfrm>
          <a:noFill/>
        </p:spPr>
        <p:txBody>
          <a:bodyPr lIns="92075" tIns="46038" rIns="92075" bIns="46038">
            <a:normAutofit fontScale="77500" lnSpcReduction="20000"/>
          </a:bodyPr>
          <a:lstStyle/>
          <a:p>
            <a:r>
              <a:rPr lang="en-US" sz="2400"/>
              <a:t>Karakteristik transfer transistor </a:t>
            </a:r>
            <a:r>
              <a:rPr lang="en-US" sz="2400" smtClean="0"/>
              <a:t>merupakan perbandingan </a:t>
            </a:r>
            <a:r>
              <a:rPr lang="en-US" sz="2400"/>
              <a:t>antara Ic dan Ib </a:t>
            </a:r>
            <a:r>
              <a:rPr lang="en-US" sz="2400" smtClean="0"/>
              <a:t>dan diekspresikan </a:t>
            </a:r>
            <a:r>
              <a:rPr lang="en-US" sz="2400"/>
              <a:t>dalam </a:t>
            </a:r>
            <a:r>
              <a:rPr lang="el-GR" sz="2400" smtClean="0"/>
              <a:t>β</a:t>
            </a:r>
            <a:r>
              <a:rPr lang="en-US" sz="2400" smtClean="0"/>
              <a:t>.</a:t>
            </a:r>
          </a:p>
          <a:p>
            <a:endParaRPr lang="en-US" sz="2400" b="1" smtClean="0"/>
          </a:p>
          <a:p>
            <a:endParaRPr lang="en-US" sz="2400" b="1"/>
          </a:p>
          <a:p>
            <a:endParaRPr lang="en-US" sz="2400" b="1" smtClean="0"/>
          </a:p>
          <a:p>
            <a:endParaRPr lang="en-US" sz="2400" b="1" smtClean="0"/>
          </a:p>
          <a:p>
            <a:r>
              <a:rPr lang="el-GR" sz="2400" smtClean="0"/>
              <a:t>β</a:t>
            </a:r>
            <a:r>
              <a:rPr lang="en-US" sz="2400" smtClean="0"/>
              <a:t> </a:t>
            </a:r>
            <a:r>
              <a:rPr lang="en-US" sz="2400"/>
              <a:t>merupakan gain transistor </a:t>
            </a:r>
            <a:r>
              <a:rPr lang="en-US" sz="2400" smtClean="0"/>
              <a:t>disebut  </a:t>
            </a:r>
            <a:r>
              <a:rPr lang="en-US" sz="2400"/>
              <a:t>juga </a:t>
            </a:r>
            <a:r>
              <a:rPr lang="en-US" sz="2400" b="1"/>
              <a:t>HFE</a:t>
            </a:r>
          </a:p>
          <a:p>
            <a:r>
              <a:rPr lang="el-GR" sz="2400" smtClean="0"/>
              <a:t>β </a:t>
            </a:r>
            <a:r>
              <a:rPr lang="en-US" sz="2400"/>
              <a:t>diasumsikan konstan walaupun pada kenyataannya </a:t>
            </a:r>
            <a:r>
              <a:rPr lang="en-US" sz="2400" smtClean="0"/>
              <a:t>tidak begitu.</a:t>
            </a:r>
          </a:p>
          <a:p>
            <a:r>
              <a:rPr lang="el-GR" sz="2400"/>
              <a:t>β</a:t>
            </a:r>
            <a:r>
              <a:rPr lang="en-US" sz="2400" smtClean="0"/>
              <a:t> juga berubah pada vce yang berbeda </a:t>
            </a:r>
            <a:r>
              <a:rPr lang="en-US" sz="2400"/>
              <a:t>seperti terlihat pada grafik </a:t>
            </a:r>
            <a:r>
              <a:rPr lang="en-US" sz="2400" smtClean="0"/>
              <a:t>berikut sehingga persamaan </a:t>
            </a:r>
            <a:r>
              <a:rPr lang="en-US" sz="2400" smtClean="0"/>
              <a:t>Ic menjadi:</a:t>
            </a:r>
          </a:p>
          <a:p>
            <a:endParaRPr lang="en-US" sz="2400"/>
          </a:p>
          <a:p>
            <a:endParaRPr lang="en-US" sz="2400" smtClean="0"/>
          </a:p>
          <a:p>
            <a:endParaRPr lang="en-US" sz="2400"/>
          </a:p>
          <a:p>
            <a:r>
              <a:rPr lang="en-US" sz="2400" smtClean="0"/>
              <a:t>Ketika </a:t>
            </a:r>
            <a:r>
              <a:rPr lang="en-US" sz="2400" smtClean="0"/>
              <a:t>mencari Ib dari Ic yang diketahui atau sebaliknya, sebaiknya menggunakan grafik karakteristik transfer agar mendapatkan hasil yang sesuai.</a:t>
            </a:r>
            <a:endParaRPr lang="en-US" sz="240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017028"/>
              </p:ext>
            </p:extLst>
          </p:nvPr>
        </p:nvGraphicFramePr>
        <p:xfrm>
          <a:off x="5130519" y="1990569"/>
          <a:ext cx="1327431" cy="100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1" name="Equation" r:id="rId3" imgW="482400" imgH="431640" progId="Equation.3">
                  <p:embed/>
                </p:oleObj>
              </mc:Choice>
              <mc:Fallback>
                <p:oleObj name="Equation" r:id="rId3" imgW="482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519" y="1990569"/>
                        <a:ext cx="1327431" cy="1000717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607958"/>
              </p:ext>
            </p:extLst>
          </p:nvPr>
        </p:nvGraphicFramePr>
        <p:xfrm>
          <a:off x="2135155" y="2152791"/>
          <a:ext cx="19605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2" name="Equation" r:id="rId5" imgW="558720" imgH="228600" progId="Equation.3">
                  <p:embed/>
                </p:oleObj>
              </mc:Choice>
              <mc:Fallback>
                <p:oleObj name="Equation" r:id="rId5" imgW="5587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55" y="2152791"/>
                        <a:ext cx="1960562" cy="676275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3664751" y="4718936"/>
            <a:ext cx="1629998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/>
              <a:t>Ic=f(Ib, </a:t>
            </a:r>
            <a:r>
              <a:rPr lang="en-US" sz="2400"/>
              <a:t>vce</a:t>
            </a:r>
            <a:r>
              <a:rPr lang="en-US" sz="2400" smtClean="0"/>
              <a:t>)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9849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Hasil Percobaan </a:t>
            </a:r>
            <a:r>
              <a:rPr lang="en-US" smtClean="0"/>
              <a:t>Grafik Karakteristik Transfer </a:t>
            </a:r>
            <a:r>
              <a:rPr lang="en-US"/>
              <a:t>Ic = </a:t>
            </a:r>
            <a:r>
              <a:rPr lang="en-US" smtClean="0"/>
              <a:t>f(Ib, Vce)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273750" y="2397443"/>
            <a:ext cx="8596500" cy="3779521"/>
            <a:chOff x="273750" y="2397443"/>
            <a:chExt cx="8596500" cy="377952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2444818"/>
              <a:ext cx="7886700" cy="3732146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6747310" y="5622966"/>
              <a:ext cx="6347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Vce1</a:t>
              </a: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747310" y="5059261"/>
              <a:ext cx="6347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Vce2</a:t>
              </a: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747310" y="3631962"/>
              <a:ext cx="6347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Vce4</a:t>
              </a: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47310" y="4310891"/>
              <a:ext cx="6347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Vce3</a:t>
              </a: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371438" y="2853724"/>
              <a:ext cx="7517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/>
                <a:t>Vce10</a:t>
              </a: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446736" y="5715298"/>
              <a:ext cx="42351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smtClean="0">
                  <a:solidFill>
                    <a:srgbClr val="FF0000"/>
                  </a:solidFill>
                </a:rPr>
                <a:t>Ib</a:t>
              </a:r>
              <a:endParaRPr lang="en-US" sz="2400">
                <a:solidFill>
                  <a:srgbClr val="FF000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73750" y="2397443"/>
              <a:ext cx="3914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smtClean="0">
                  <a:solidFill>
                    <a:srgbClr val="FF0000"/>
                  </a:solidFill>
                </a:rPr>
                <a:t>Ic</a:t>
              </a:r>
              <a:endParaRPr lang="en-US" sz="24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777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Setup Pengukuran </a:t>
            </a:r>
            <a:r>
              <a:rPr lang="en-US" smtClean="0"/>
              <a:t>Karakteristik Transistor Secara Manual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91386"/>
            <a:ext cx="3606466" cy="21302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135" y="2191384"/>
            <a:ext cx="3587215" cy="2118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" y="4499137"/>
            <a:ext cx="347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Setup Pengukuran karakteristik input dan transfer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52537" y="4499137"/>
            <a:ext cx="347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Setup Pengukuran karakteristik output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6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Informasi Lain-lain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54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92E659-8760-49DB-AC0E-51C0ADFB5ED1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GB" sz="140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882650"/>
          </a:xfrm>
          <a:noFill/>
          <a:ln>
            <a:noFill/>
            <a:miter lim="800000"/>
            <a:headEnd/>
            <a:tailEnd/>
          </a:ln>
        </p:spPr>
        <p:txBody>
          <a:bodyPr lIns="92075" tIns="46038" rIns="92075" bIns="46038">
            <a:noAutofit/>
          </a:bodyPr>
          <a:lstStyle/>
          <a:p>
            <a:pPr algn="ctr"/>
            <a:r>
              <a:rPr lang="en-US" b="1" dirty="0" err="1" smtClean="0"/>
              <a:t>Penjelasan</a:t>
            </a:r>
            <a:r>
              <a:rPr lang="en-US" b="1" dirty="0" smtClean="0"/>
              <a:t> </a:t>
            </a:r>
            <a:r>
              <a:rPr lang="en-US" b="1" dirty="0" err="1" smtClean="0"/>
              <a:t>Persamaan</a:t>
            </a:r>
            <a:r>
              <a:rPr lang="en-US" b="1" dirty="0" smtClean="0"/>
              <a:t> </a:t>
            </a:r>
            <a:r>
              <a:rPr lang="en-US" b="1" dirty="0" err="1" smtClean="0"/>
              <a:t>Ebers</a:t>
            </a:r>
            <a:r>
              <a:rPr lang="en-US" b="1" dirty="0" smtClean="0"/>
              <a:t>-Moll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9802" y="4421415"/>
            <a:ext cx="4956411" cy="2139164"/>
          </a:xfrm>
          <a:noFill/>
        </p:spPr>
        <p:txBody>
          <a:bodyPr lIns="92075" tIns="46038" rIns="92075" bIns="46038">
            <a:noAutofit/>
          </a:bodyPr>
          <a:lstStyle/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rgbClr val="FF0000"/>
                </a:solidFill>
              </a:rPr>
              <a:t>I</a:t>
            </a:r>
            <a:r>
              <a:rPr lang="en-US" sz="1600" baseline="-25000" dirty="0" smtClean="0">
                <a:solidFill>
                  <a:srgbClr val="FF0000"/>
                </a:solidFill>
              </a:rPr>
              <a:t>S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adalah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arus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maksimum</a:t>
            </a:r>
            <a:r>
              <a:rPr lang="en-US" sz="1600" dirty="0" smtClean="0">
                <a:solidFill>
                  <a:srgbClr val="FF0000"/>
                </a:solidFill>
              </a:rPr>
              <a:t> transistor (</a:t>
            </a:r>
            <a:r>
              <a:rPr lang="en-US" sz="1600" dirty="0" err="1" smtClean="0">
                <a:solidFill>
                  <a:srgbClr val="FF0000"/>
                </a:solidFill>
              </a:rPr>
              <a:t>disebut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arus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jenuh</a:t>
            </a:r>
            <a:r>
              <a:rPr lang="en-US" sz="1600" dirty="0" smtClean="0">
                <a:solidFill>
                  <a:srgbClr val="FF0000"/>
                </a:solidFill>
              </a:rPr>
              <a:t>), 10^-15A </a:t>
            </a:r>
            <a:r>
              <a:rPr lang="en-US" sz="1600" dirty="0" err="1" smtClean="0">
                <a:solidFill>
                  <a:srgbClr val="FF0000"/>
                </a:solidFill>
              </a:rPr>
              <a:t>sd</a:t>
            </a:r>
            <a:r>
              <a:rPr lang="en-US" sz="1600" dirty="0" smtClean="0">
                <a:solidFill>
                  <a:srgbClr val="FF0000"/>
                </a:solidFill>
              </a:rPr>
              <a:t> 10^-12A </a:t>
            </a:r>
            <a:r>
              <a:rPr lang="en-US" sz="1600" dirty="0" err="1" smtClean="0">
                <a:solidFill>
                  <a:srgbClr val="FF0000"/>
                </a:solidFill>
              </a:rPr>
              <a:t>unt</a:t>
            </a:r>
            <a:r>
              <a:rPr lang="en-US" sz="1600" dirty="0" smtClean="0">
                <a:solidFill>
                  <a:srgbClr val="FF0000"/>
                </a:solidFill>
              </a:rPr>
              <a:t> Silicon. 10^-6A </a:t>
            </a:r>
            <a:r>
              <a:rPr lang="en-US" sz="1600" dirty="0" err="1" smtClean="0">
                <a:solidFill>
                  <a:srgbClr val="FF0000"/>
                </a:solidFill>
              </a:rPr>
              <a:t>unt</a:t>
            </a:r>
            <a:r>
              <a:rPr lang="en-US" sz="1600" dirty="0" smtClean="0">
                <a:solidFill>
                  <a:srgbClr val="FF0000"/>
                </a:solidFill>
              </a:rPr>
              <a:t> Germanium.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rgbClr val="FF0000"/>
                </a:solidFill>
              </a:rPr>
              <a:t>V</a:t>
            </a:r>
            <a:r>
              <a:rPr lang="en-US" sz="1600" baseline="-25000" dirty="0" smtClean="0">
                <a:solidFill>
                  <a:srgbClr val="FF0000"/>
                </a:solidFill>
              </a:rPr>
              <a:t>T</a:t>
            </a:r>
            <a:r>
              <a:rPr lang="en-US" sz="1600" dirty="0" smtClean="0">
                <a:solidFill>
                  <a:srgbClr val="FF0000"/>
                </a:solidFill>
              </a:rPr>
              <a:t> = 25-26mV (</a:t>
            </a:r>
            <a:r>
              <a:rPr lang="en-US" sz="1600" dirty="0" err="1" smtClean="0">
                <a:solidFill>
                  <a:srgbClr val="FF0000"/>
                </a:solidFill>
              </a:rPr>
              <a:t>dari</a:t>
            </a:r>
            <a:r>
              <a:rPr lang="en-US" sz="1600" dirty="0" smtClean="0">
                <a:solidFill>
                  <a:srgbClr val="FF0000"/>
                </a:solidFill>
              </a:rPr>
              <a:t> V</a:t>
            </a:r>
            <a:r>
              <a:rPr lang="en-US" sz="1600" baseline="-25000" dirty="0" smtClean="0">
                <a:solidFill>
                  <a:srgbClr val="FF0000"/>
                </a:solidFill>
              </a:rPr>
              <a:t>T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= </a:t>
            </a:r>
            <a:r>
              <a:rPr lang="en-US" sz="1600" dirty="0" err="1" smtClean="0">
                <a:solidFill>
                  <a:srgbClr val="FF0000"/>
                </a:solidFill>
              </a:rPr>
              <a:t>kT</a:t>
            </a:r>
            <a:r>
              <a:rPr lang="en-US" sz="1600" dirty="0" smtClean="0">
                <a:solidFill>
                  <a:srgbClr val="FF0000"/>
                </a:solidFill>
              </a:rPr>
              <a:t>/e, </a:t>
            </a:r>
            <a:r>
              <a:rPr lang="en-US" sz="1600" dirty="0" err="1" smtClean="0">
                <a:solidFill>
                  <a:srgbClr val="FF0000"/>
                </a:solidFill>
              </a:rPr>
              <a:t>pada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suhu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kamar</a:t>
            </a:r>
            <a:r>
              <a:rPr lang="en-US" sz="1600" dirty="0" smtClean="0">
                <a:solidFill>
                  <a:srgbClr val="FF0000"/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rgbClr val="FF0000"/>
                </a:solidFill>
              </a:rPr>
              <a:t>k </a:t>
            </a:r>
            <a:r>
              <a:rPr lang="en-US" sz="1600" dirty="0" err="1" smtClean="0">
                <a:solidFill>
                  <a:srgbClr val="FF0000"/>
                </a:solidFill>
              </a:rPr>
              <a:t>adalah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konstanta</a:t>
            </a:r>
            <a:r>
              <a:rPr lang="en-US" sz="1600" dirty="0" smtClean="0">
                <a:solidFill>
                  <a:srgbClr val="FF0000"/>
                </a:solidFill>
              </a:rPr>
              <a:t> Boltzmann,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rgbClr val="FF0000"/>
                </a:solidFill>
              </a:rPr>
              <a:t>T : </a:t>
            </a:r>
            <a:r>
              <a:rPr lang="en-US" sz="1600" dirty="0" err="1" smtClean="0">
                <a:solidFill>
                  <a:srgbClr val="FF0000"/>
                </a:solidFill>
              </a:rPr>
              <a:t>suhu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mutlak</a:t>
            </a:r>
            <a:r>
              <a:rPr lang="en-US" sz="1600" dirty="0" smtClean="0">
                <a:solidFill>
                  <a:srgbClr val="FF0000"/>
                </a:solidFill>
              </a:rPr>
              <a:t>,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rgbClr val="FF0000"/>
                </a:solidFill>
              </a:rPr>
              <a:t>e : </a:t>
            </a:r>
            <a:r>
              <a:rPr lang="en-US" sz="1600" dirty="0" err="1" smtClean="0">
                <a:solidFill>
                  <a:srgbClr val="FF0000"/>
                </a:solidFill>
              </a:rPr>
              <a:t>muatan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</a:rPr>
              <a:t>sebuah</a:t>
            </a:r>
            <a:r>
              <a:rPr lang="en-US" sz="1600" dirty="0" smtClean="0">
                <a:solidFill>
                  <a:srgbClr val="FF0000"/>
                </a:solidFill>
              </a:rPr>
              <a:t> electron.</a:t>
            </a:r>
            <a:endParaRPr lang="en-US" sz="16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rgbClr val="FF0000"/>
                </a:solidFill>
              </a:rPr>
              <a:t>n = 1 </a:t>
            </a:r>
            <a:r>
              <a:rPr lang="en-US" sz="1600" dirty="0" err="1" smtClean="0">
                <a:solidFill>
                  <a:srgbClr val="FF0000"/>
                </a:solidFill>
              </a:rPr>
              <a:t>unt</a:t>
            </a:r>
            <a:r>
              <a:rPr lang="en-US" sz="1600" dirty="0" smtClean="0">
                <a:solidFill>
                  <a:srgbClr val="FF0000"/>
                </a:solidFill>
              </a:rPr>
              <a:t> indirect </a:t>
            </a:r>
            <a:r>
              <a:rPr lang="en-US" sz="1600" dirty="0" err="1" smtClean="0">
                <a:solidFill>
                  <a:srgbClr val="FF0000"/>
                </a:solidFill>
              </a:rPr>
              <a:t>semikonduktor</a:t>
            </a:r>
            <a:r>
              <a:rPr lang="en-US" sz="1600" dirty="0" smtClean="0">
                <a:solidFill>
                  <a:srgbClr val="FF0000"/>
                </a:solidFill>
              </a:rPr>
              <a:t> (Si, </a:t>
            </a:r>
            <a:r>
              <a:rPr lang="en-US" sz="1600" dirty="0" err="1" smtClean="0">
                <a:solidFill>
                  <a:srgbClr val="FF0000"/>
                </a:solidFill>
              </a:rPr>
              <a:t>Ge</a:t>
            </a:r>
            <a:r>
              <a:rPr lang="en-US" sz="1600" dirty="0" smtClean="0">
                <a:solidFill>
                  <a:srgbClr val="FF0000"/>
                </a:solidFill>
              </a:rPr>
              <a:t>, </a:t>
            </a:r>
            <a:r>
              <a:rPr lang="en-US" sz="1600" dirty="0" err="1" smtClean="0">
                <a:solidFill>
                  <a:srgbClr val="FF0000"/>
                </a:solidFill>
              </a:rPr>
              <a:t>etc</a:t>
            </a:r>
            <a:r>
              <a:rPr lang="en-US" sz="1600" dirty="0" smtClean="0">
                <a:solidFill>
                  <a:srgbClr val="FF0000"/>
                </a:solidFill>
              </a:rPr>
              <a:t>), n=2 </a:t>
            </a:r>
            <a:r>
              <a:rPr lang="en-US" sz="1600" dirty="0" err="1" smtClean="0">
                <a:solidFill>
                  <a:srgbClr val="FF0000"/>
                </a:solidFill>
              </a:rPr>
              <a:t>unt</a:t>
            </a:r>
            <a:r>
              <a:rPr lang="en-US" sz="1600" dirty="0" smtClean="0">
                <a:solidFill>
                  <a:srgbClr val="FF0000"/>
                </a:solidFill>
              </a:rPr>
              <a:t> direct </a:t>
            </a:r>
            <a:r>
              <a:rPr lang="en-US" sz="1600" dirty="0" err="1" smtClean="0">
                <a:solidFill>
                  <a:srgbClr val="FF0000"/>
                </a:solidFill>
              </a:rPr>
              <a:t>semikonduktor</a:t>
            </a:r>
            <a:r>
              <a:rPr lang="en-US" sz="1600" dirty="0" smtClean="0">
                <a:solidFill>
                  <a:srgbClr val="FF0000"/>
                </a:solidFill>
              </a:rPr>
              <a:t> (</a:t>
            </a:r>
            <a:r>
              <a:rPr lang="en-US" sz="1600" dirty="0" err="1" smtClean="0">
                <a:solidFill>
                  <a:srgbClr val="FF0000"/>
                </a:solidFill>
              </a:rPr>
              <a:t>GaAs</a:t>
            </a:r>
            <a:r>
              <a:rPr lang="en-US" sz="1600" dirty="0" smtClean="0">
                <a:solidFill>
                  <a:srgbClr val="FF0000"/>
                </a:solidFill>
              </a:rPr>
              <a:t>, </a:t>
            </a:r>
            <a:r>
              <a:rPr lang="en-US" sz="1600" dirty="0" err="1" smtClean="0">
                <a:solidFill>
                  <a:srgbClr val="FF0000"/>
                </a:solidFill>
              </a:rPr>
              <a:t>InP</a:t>
            </a:r>
            <a:r>
              <a:rPr lang="en-US" sz="1600" dirty="0" smtClean="0">
                <a:solidFill>
                  <a:srgbClr val="FF0000"/>
                </a:solidFill>
              </a:rPr>
              <a:t>, </a:t>
            </a:r>
            <a:r>
              <a:rPr lang="en-US" sz="1600" dirty="0" err="1" smtClean="0">
                <a:solidFill>
                  <a:srgbClr val="FF0000"/>
                </a:solidFill>
              </a:rPr>
              <a:t>etc</a:t>
            </a:r>
            <a:r>
              <a:rPr lang="en-US" sz="1600" dirty="0" smtClean="0">
                <a:solidFill>
                  <a:srgbClr val="FF0000"/>
                </a:solidFill>
              </a:rPr>
              <a:t>)</a:t>
            </a:r>
          </a:p>
        </p:txBody>
      </p:sp>
      <p:graphicFrame>
        <p:nvGraphicFramePr>
          <p:cNvPr id="11268" name="Object 4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1858780" y="3136900"/>
          <a:ext cx="2322695" cy="1161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37" name="Equation" r:id="rId3" imgW="1066680" imgH="533160" progId="Equation.3">
                  <p:embed/>
                </p:oleObj>
              </mc:Choice>
              <mc:Fallback>
                <p:oleObj name="Equation" r:id="rId3" imgW="106668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780" y="3136900"/>
                        <a:ext cx="2322695" cy="1161348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84" name="Picture 24" descr="Hasil gambar untuk ebers-moll equa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2" y="1410451"/>
            <a:ext cx="3044837" cy="356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84213" y="1535263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kolektor</a:t>
            </a:r>
            <a:r>
              <a:rPr lang="en-US" sz="2000" dirty="0"/>
              <a:t> </a:t>
            </a:r>
            <a:r>
              <a:rPr lang="en-US" sz="2000" dirty="0" err="1"/>
              <a:t>dikendalikan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</a:t>
            </a:r>
            <a:r>
              <a:rPr lang="en-US" sz="2000" dirty="0" smtClean="0"/>
              <a:t>V</a:t>
            </a:r>
            <a:r>
              <a:rPr lang="en-US" sz="2000" baseline="-25000" dirty="0" smtClean="0"/>
              <a:t>BE</a:t>
            </a:r>
            <a:r>
              <a:rPr lang="en-US" sz="2000" dirty="0" smtClean="0"/>
              <a:t> </a:t>
            </a:r>
            <a:r>
              <a:rPr lang="en-US" sz="2000" dirty="0" err="1"/>
              <a:t>sesuai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 smtClean="0"/>
              <a:t>Ebers</a:t>
            </a:r>
            <a:r>
              <a:rPr lang="en-US" sz="2000" dirty="0" smtClean="0"/>
              <a:t>-Moll.</a:t>
            </a:r>
          </a:p>
          <a:p>
            <a:pPr>
              <a:lnSpc>
                <a:spcPct val="80000"/>
              </a:lnSpc>
            </a:pPr>
            <a:r>
              <a:rPr lang="en-US" sz="2000" dirty="0" smtClean="0"/>
              <a:t>(</a:t>
            </a:r>
            <a:r>
              <a:rPr lang="en-US" sz="2000" dirty="0" err="1" smtClean="0"/>
              <a:t>Catatan</a:t>
            </a:r>
            <a:r>
              <a:rPr lang="en-US" sz="2000" dirty="0" smtClean="0"/>
              <a:t>: </a:t>
            </a:r>
            <a:r>
              <a:rPr lang="en-US" sz="2000" dirty="0" err="1" smtClean="0"/>
              <a:t>Arus</a:t>
            </a:r>
            <a:r>
              <a:rPr lang="en-US" sz="2000" dirty="0" smtClean="0"/>
              <a:t> </a:t>
            </a:r>
            <a:r>
              <a:rPr lang="en-US" sz="2000" dirty="0" err="1" smtClean="0"/>
              <a:t>ini</a:t>
            </a:r>
            <a:r>
              <a:rPr lang="en-US" sz="2000" dirty="0" smtClean="0"/>
              <a:t>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kesamaan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persamaan</a:t>
            </a:r>
            <a:r>
              <a:rPr lang="en-US" sz="2000" dirty="0" smtClean="0"/>
              <a:t> </a:t>
            </a:r>
            <a:r>
              <a:rPr lang="en-US" sz="2000" dirty="0" err="1" smtClean="0"/>
              <a:t>arus</a:t>
            </a:r>
            <a:r>
              <a:rPr lang="en-US" sz="2000" dirty="0" smtClean="0"/>
              <a:t> </a:t>
            </a:r>
            <a:r>
              <a:rPr lang="en-US" sz="2000" dirty="0" err="1" smtClean="0"/>
              <a:t>Dioda</a:t>
            </a:r>
            <a:r>
              <a:rPr lang="en-US" sz="2000" dirty="0" smtClean="0"/>
              <a:t> </a:t>
            </a:r>
            <a:r>
              <a:rPr lang="en-US" sz="2000" dirty="0" err="1" smtClean="0"/>
              <a:t>oleh</a:t>
            </a:r>
            <a:r>
              <a:rPr lang="en-US" sz="2000" dirty="0" smtClean="0"/>
              <a:t> </a:t>
            </a:r>
            <a:r>
              <a:rPr lang="en-US" sz="2000" dirty="0" err="1" smtClean="0"/>
              <a:t>Schockley</a:t>
            </a:r>
            <a:r>
              <a:rPr lang="en-US" sz="2000" dirty="0" smtClean="0"/>
              <a:t>, </a:t>
            </a:r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en-US" sz="2000" dirty="0" err="1" smtClean="0"/>
              <a:t>mudah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mengingatnya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84213" y="1138278"/>
            <a:ext cx="76835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In 1954, </a:t>
            </a:r>
            <a:r>
              <a:rPr lang="en-US" sz="1200" dirty="0">
                <a:solidFill>
                  <a:srgbClr val="0B0080"/>
                </a:solidFill>
                <a:latin typeface="Arial" panose="020B0604020202020204" pitchFamily="34" charset="0"/>
                <a:hlinkClick r:id="rId6" tooltip="Jewell James Ebers"/>
              </a:rPr>
              <a:t>Jewell James </a:t>
            </a:r>
            <a:r>
              <a:rPr lang="en-US" sz="1200" dirty="0" err="1">
                <a:solidFill>
                  <a:srgbClr val="0B0080"/>
                </a:solidFill>
                <a:latin typeface="Arial" panose="020B0604020202020204" pitchFamily="34" charset="0"/>
                <a:hlinkClick r:id="rId6" tooltip="Jewell James Ebers"/>
              </a:rPr>
              <a:t>Ebers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and </a:t>
            </a:r>
            <a:r>
              <a:rPr lang="en-US" sz="1200" dirty="0">
                <a:solidFill>
                  <a:srgbClr val="0B0080"/>
                </a:solidFill>
                <a:latin typeface="Arial" panose="020B0604020202020204" pitchFamily="34" charset="0"/>
                <a:hlinkClick r:id="rId7" tooltip="John L. Moll"/>
              </a:rPr>
              <a:t>John L. Moll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introduced their </a:t>
            </a:r>
            <a:r>
              <a:rPr lang="en-US" sz="1200" dirty="0">
                <a:solidFill>
                  <a:srgbClr val="0B0080"/>
                </a:solidFill>
                <a:latin typeface="Arial" panose="020B0604020202020204" pitchFamily="34" charset="0"/>
                <a:hlinkClick r:id="rId8" tooltip="Mathematical model"/>
              </a:rPr>
              <a:t>mathematical model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of transistor currents:</a:t>
            </a:r>
            <a:r>
              <a:rPr lang="en-US" sz="1200" baseline="30000" dirty="0">
                <a:solidFill>
                  <a:srgbClr val="0B0080"/>
                </a:solidFill>
                <a:latin typeface="Arial" panose="020B0604020202020204" pitchFamily="34" charset="0"/>
                <a:hlinkClick r:id="rId9"/>
              </a:rPr>
              <a:t>[26]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402" y="5233206"/>
            <a:ext cx="25241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5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1" descr="Gambar terka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771" y="2664078"/>
            <a:ext cx="4913921" cy="40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2873347" y="1213180"/>
          <a:ext cx="2505982" cy="13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61" name="Equation" r:id="rId4" imgW="1054100" imgH="533400" progId="Equation.3">
                  <p:embed/>
                </p:oleObj>
              </mc:Choice>
              <mc:Fallback>
                <p:oleObj name="Equation" r:id="rId4" imgW="10541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47" y="1213180"/>
                        <a:ext cx="2505982" cy="1315962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79329" y="1605812"/>
            <a:ext cx="2041159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I</a:t>
            </a:r>
            <a:r>
              <a:rPr lang="en-US" baseline="-25000" dirty="0" smtClean="0">
                <a:solidFill>
                  <a:srgbClr val="FF0000"/>
                </a:solidFill>
              </a:rPr>
              <a:t>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 10^-15A </a:t>
            </a:r>
            <a:r>
              <a:rPr lang="en-US" dirty="0" err="1">
                <a:solidFill>
                  <a:srgbClr val="FF0000"/>
                </a:solidFill>
              </a:rPr>
              <a:t>sd</a:t>
            </a:r>
            <a:r>
              <a:rPr lang="en-US" dirty="0">
                <a:solidFill>
                  <a:srgbClr val="FF0000"/>
                </a:solidFill>
              </a:rPr>
              <a:t> 10^-12A 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 smtClean="0">
                <a:solidFill>
                  <a:srgbClr val="FF0000"/>
                </a:solidFill>
              </a:rPr>
              <a:t>25 </a:t>
            </a:r>
            <a:r>
              <a:rPr lang="en-US" dirty="0" err="1" smtClean="0">
                <a:solidFill>
                  <a:srgbClr val="FF0000"/>
                </a:solidFill>
              </a:rPr>
              <a:t>sd</a:t>
            </a:r>
            <a:r>
              <a:rPr lang="en-US" dirty="0" smtClean="0">
                <a:solidFill>
                  <a:srgbClr val="FF0000"/>
                </a:solidFill>
              </a:rPr>
              <a:t> 26mV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1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Grafik Karakteristik Input Ib=f(Vbe, Vce)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72" y="2010835"/>
            <a:ext cx="3581767" cy="354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54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Penjelasan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Ic</a:t>
            </a:r>
            <a:r>
              <a:rPr lang="en-US" dirty="0" smtClean="0"/>
              <a:t>=f(</a:t>
            </a:r>
            <a:r>
              <a:rPr lang="en-US" dirty="0" err="1" smtClean="0"/>
              <a:t>Vce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27" descr="Gambar terka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7" y="1690689"/>
            <a:ext cx="4530491" cy="186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121323"/>
              </p:ext>
            </p:extLst>
          </p:nvPr>
        </p:nvGraphicFramePr>
        <p:xfrm>
          <a:off x="1097029" y="3997576"/>
          <a:ext cx="33242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86" name="Equation" r:id="rId4" imgW="1168200" imgH="368280" progId="Equation.3">
                  <p:embed/>
                </p:oleObj>
              </mc:Choice>
              <mc:Fallback>
                <p:oleObj name="Equation" r:id="rId4" imgW="11682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029" y="3997576"/>
                        <a:ext cx="3324225" cy="88265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030" name="Picture 46" descr="Gambar terkai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254" y="3867446"/>
            <a:ext cx="3830986" cy="223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437433" y="5180329"/>
            <a:ext cx="2041159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I</a:t>
            </a:r>
            <a:r>
              <a:rPr lang="en-US" baseline="-25000" dirty="0" smtClean="0">
                <a:solidFill>
                  <a:srgbClr val="FF0000"/>
                </a:solidFill>
              </a:rPr>
              <a:t>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 10^-15A </a:t>
            </a:r>
            <a:r>
              <a:rPr lang="en-US" dirty="0" err="1">
                <a:solidFill>
                  <a:srgbClr val="FF0000"/>
                </a:solidFill>
              </a:rPr>
              <a:t>sd</a:t>
            </a:r>
            <a:r>
              <a:rPr lang="en-US" dirty="0">
                <a:solidFill>
                  <a:srgbClr val="FF0000"/>
                </a:solidFill>
              </a:rPr>
              <a:t> 10^-12A 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 smtClean="0">
                <a:solidFill>
                  <a:srgbClr val="FF0000"/>
                </a:solidFill>
              </a:rPr>
              <a:t>25 </a:t>
            </a:r>
            <a:r>
              <a:rPr lang="en-US" dirty="0" err="1" smtClean="0">
                <a:solidFill>
                  <a:srgbClr val="FF0000"/>
                </a:solidFill>
              </a:rPr>
              <a:t>sd</a:t>
            </a:r>
            <a:r>
              <a:rPr lang="en-US" dirty="0" smtClean="0">
                <a:solidFill>
                  <a:srgbClr val="FF0000"/>
                </a:solidFill>
              </a:rPr>
              <a:t> 26mV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2" descr="How can we prove that collector current in active region is higher than the saturation  region? - Electrical Engineering Stack Exchang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809" y="1611182"/>
            <a:ext cx="3095541" cy="202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33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5778" name="Picture 2" descr="Gambar terka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32" y="1219426"/>
            <a:ext cx="7791450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258" name="Picture 2" descr="ECE 255, BJT and Operating Poi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16" y="2624363"/>
            <a:ext cx="27432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39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90498" cy="1325563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Setup Pengukuran Karakteristik Transistor </a:t>
            </a:r>
            <a:r>
              <a:rPr lang="en-US" sz="2800" smtClean="0"/>
              <a:t>Tidak Langsung Dengan </a:t>
            </a:r>
            <a:r>
              <a:rPr lang="en-US" sz="2800" dirty="0" err="1" smtClean="0"/>
              <a:t>Sumber</a:t>
            </a:r>
            <a:r>
              <a:rPr lang="en-US" sz="2800" dirty="0" smtClean="0"/>
              <a:t> </a:t>
            </a:r>
            <a:r>
              <a:rPr lang="en-US" sz="2800" dirty="0" err="1" smtClean="0"/>
              <a:t>Tegangan</a:t>
            </a:r>
            <a:r>
              <a:rPr lang="en-US" sz="2800" dirty="0" smtClean="0"/>
              <a:t> </a:t>
            </a:r>
            <a:r>
              <a:rPr lang="en-US" sz="2800" dirty="0" err="1" smtClean="0"/>
              <a:t>Tetap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Potensiometer</a:t>
            </a:r>
            <a:r>
              <a:rPr lang="en-US" sz="2800" dirty="0" smtClean="0"/>
              <a:t> </a:t>
            </a:r>
            <a:r>
              <a:rPr lang="en-US" sz="2800" dirty="0" err="1" smtClean="0"/>
              <a:t>Pembagi</a:t>
            </a:r>
            <a:r>
              <a:rPr lang="en-US" sz="2800" dirty="0" smtClean="0"/>
              <a:t> </a:t>
            </a:r>
            <a:r>
              <a:rPr lang="en-US" sz="2800" dirty="0" err="1" smtClean="0"/>
              <a:t>Tegangan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517182"/>
          </a:xfrm>
        </p:spPr>
        <p:txBody>
          <a:bodyPr>
            <a:normAutofit/>
          </a:bodyPr>
          <a:lstStyle/>
          <a:p>
            <a:r>
              <a:rPr lang="en-US" sz="2400" dirty="0" err="1"/>
              <a:t>Dikarenakan</a:t>
            </a:r>
            <a:r>
              <a:rPr lang="en-US" sz="2400" dirty="0"/>
              <a:t> </a:t>
            </a:r>
            <a:r>
              <a:rPr lang="en-US" sz="2400" dirty="0" err="1"/>
              <a:t>sulit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sumber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yang variable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ditambahkanlah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Potensiometer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pembagi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agar </a:t>
            </a:r>
            <a:r>
              <a:rPr lang="en-US" sz="2400" dirty="0" err="1"/>
              <a:t>mempermudah</a:t>
            </a:r>
            <a:r>
              <a:rPr lang="en-US" sz="2400" dirty="0"/>
              <a:t> </a:t>
            </a:r>
            <a:r>
              <a:rPr lang="en-US" sz="2400" dirty="0" err="1"/>
              <a:t>mengatur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</a:t>
            </a:r>
            <a:r>
              <a:rPr lang="en-US" sz="2400" dirty="0" err="1"/>
              <a:t>Vbe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Vce</a:t>
            </a:r>
            <a:r>
              <a:rPr lang="en-US" sz="2400" dirty="0"/>
              <a:t>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mengubah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Ib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Ic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3" y="3477743"/>
            <a:ext cx="8350567" cy="304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51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Pengukuran menggunakan sumber tegangan langsung ataupun tidak langsung menggunakan variabel resistor (potensiometer) hasilnya sama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91" y="1779023"/>
            <a:ext cx="7824859" cy="489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4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10517</TotalTime>
  <Words>757</Words>
  <Application>Microsoft Office PowerPoint</Application>
  <PresentationFormat>On-screen Show (4:3)</PresentationFormat>
  <Paragraphs>569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Office Theme</vt:lpstr>
      <vt:lpstr>Equation</vt:lpstr>
      <vt:lpstr>  </vt:lpstr>
      <vt:lpstr>KARAKTERISTIK TRANSISTOR</vt:lpstr>
      <vt:lpstr>KARAKTERISTIK TRANSISTOR</vt:lpstr>
      <vt:lpstr>Pengukuran Karakteristik Transistor</vt:lpstr>
      <vt:lpstr>Gambaran Grafik Karakteristik Input, Output dan Transfer Transistor</vt:lpstr>
      <vt:lpstr>Ilustrasi Pengukuran Karakteristik Output dan Grafik Yang Dihasilkan</vt:lpstr>
      <vt:lpstr>Membuat Grafik Karakteristik Input Transistor Ib = f(Vbe, Vce)</vt:lpstr>
      <vt:lpstr>Contoh Grafik Karakteristik Input Ib = f(Vbe, Vce)</vt:lpstr>
      <vt:lpstr>PowerPoint Presentation</vt:lpstr>
      <vt:lpstr>Contoh Grafik Karakteristik Input Ic = f(Vce, Ib)</vt:lpstr>
      <vt:lpstr>PowerPoint Presentation</vt:lpstr>
      <vt:lpstr>Penjelasan Persamaan β</vt:lpstr>
      <vt:lpstr>Hasil Percobaan Grafik Karakteristik Transfer Ic = f(Ib, Vce)</vt:lpstr>
      <vt:lpstr>Setup Pengukuran Karakteristik Transistor Secara Manual</vt:lpstr>
      <vt:lpstr>Informasi Lain-lain</vt:lpstr>
      <vt:lpstr>Penjelasan Persamaan Ebers-Moll</vt:lpstr>
      <vt:lpstr>PowerPoint Presentation</vt:lpstr>
      <vt:lpstr>Grafik Karakteristik Input Ib=f(Vbe, Vce)</vt:lpstr>
      <vt:lpstr>Penjelasan Persamaan Ic=f(Vce)</vt:lpstr>
      <vt:lpstr>PowerPoint Presentation</vt:lpstr>
      <vt:lpstr>Setup Pengukuran Karakteristik Transistor Tidak Langsung Dengan Sumber Tegangan Tetap dan Potensiometer Pembagi Tegangan</vt:lpstr>
      <vt:lpstr>Pengukuran menggunakan sumber tegangan langsung ataupun tidak langsung menggunakan variabel resistor (potensiometer) hasilnya sama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Microsoft account</cp:lastModifiedBy>
  <cp:revision>378</cp:revision>
  <dcterms:created xsi:type="dcterms:W3CDTF">2019-05-06T01:23:15Z</dcterms:created>
  <dcterms:modified xsi:type="dcterms:W3CDTF">2021-06-12T14:06:19Z</dcterms:modified>
</cp:coreProperties>
</file>