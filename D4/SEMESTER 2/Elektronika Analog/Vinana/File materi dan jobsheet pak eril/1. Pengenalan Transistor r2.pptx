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8" r:id="rId2"/>
    <p:sldId id="310" r:id="rId3"/>
    <p:sldId id="312" r:id="rId4"/>
    <p:sldId id="581" r:id="rId5"/>
    <p:sldId id="582" r:id="rId6"/>
    <p:sldId id="308" r:id="rId7"/>
    <p:sldId id="260" r:id="rId8"/>
    <p:sldId id="313" r:id="rId9"/>
    <p:sldId id="319" r:id="rId10"/>
    <p:sldId id="588" r:id="rId11"/>
    <p:sldId id="395" r:id="rId12"/>
    <p:sldId id="589" r:id="rId13"/>
    <p:sldId id="587" r:id="rId14"/>
    <p:sldId id="590" r:id="rId15"/>
    <p:sldId id="584" r:id="rId16"/>
    <p:sldId id="585" r:id="rId17"/>
    <p:sldId id="586" r:id="rId18"/>
    <p:sldId id="418" r:id="rId19"/>
    <p:sldId id="549" r:id="rId20"/>
    <p:sldId id="322" r:id="rId21"/>
    <p:sldId id="317" r:id="rId22"/>
    <p:sldId id="323" r:id="rId23"/>
    <p:sldId id="5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  <a:srgbClr val="003399"/>
    <a:srgbClr val="00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94095" autoAdjust="0"/>
  </p:normalViewPr>
  <p:slideViewPr>
    <p:cSldViewPr snapToGrid="0">
      <p:cViewPr varScale="1">
        <p:scale>
          <a:sx n="83" d="100"/>
          <a:sy n="83" d="100"/>
        </p:scale>
        <p:origin x="12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10F52E-95D1-48FF-A3F5-53C2EDD3B2C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629103A3-D6E1-4AEA-8432-4CDBC53E8E1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</a:t>
          </a:r>
        </a:p>
      </dgm:t>
    </dgm:pt>
    <dgm:pt modelId="{A8E1BD6E-6A1B-4BB9-8F7C-3588C03C7203}" type="parTrans" cxnId="{D89517BA-98DC-4817-A23B-7533D6A80F50}">
      <dgm:prSet/>
      <dgm:spPr/>
      <dgm:t>
        <a:bodyPr/>
        <a:lstStyle/>
        <a:p>
          <a:endParaRPr lang="en-US"/>
        </a:p>
      </dgm:t>
    </dgm:pt>
    <dgm:pt modelId="{AA695E59-6499-48FB-BBFF-B96C15500A0A}" type="sibTrans" cxnId="{D89517BA-98DC-4817-A23B-7533D6A80F50}">
      <dgm:prSet/>
      <dgm:spPr/>
      <dgm:t>
        <a:bodyPr/>
        <a:lstStyle/>
        <a:p>
          <a:endParaRPr lang="en-US"/>
        </a:p>
      </dgm:t>
    </dgm:pt>
    <dgm:pt modelId="{355DEB70-C973-4708-9A2F-8275A536C63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Bipolar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[Bipolar Junction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 (BJT)]</a:t>
          </a:r>
        </a:p>
      </dgm:t>
    </dgm:pt>
    <dgm:pt modelId="{9F47F2E3-375F-40B2-9FBE-9682DA0CF81A}" type="parTrans" cxnId="{63C24ECB-7275-4AA1-984E-F40F56660AF3}">
      <dgm:prSet/>
      <dgm:spPr/>
      <dgm:t>
        <a:bodyPr/>
        <a:lstStyle/>
        <a:p>
          <a:endParaRPr lang="en-US"/>
        </a:p>
      </dgm:t>
    </dgm:pt>
    <dgm:pt modelId="{E45EA843-6728-4E03-B8D1-DC40474BA72C}" type="sibTrans" cxnId="{63C24ECB-7275-4AA1-984E-F40F56660AF3}">
      <dgm:prSet/>
      <dgm:spPr/>
      <dgm:t>
        <a:bodyPr/>
        <a:lstStyle/>
        <a:p>
          <a:endParaRPr lang="en-US"/>
        </a:p>
      </dgm:t>
    </dgm:pt>
    <dgm:pt modelId="{7F57B036-8C68-4683-A5EE-69448B71CDF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Unipolar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[Field Effect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 (FET)]</a:t>
          </a:r>
        </a:p>
      </dgm:t>
    </dgm:pt>
    <dgm:pt modelId="{01650138-A8E9-4500-9B8B-AE03E733914D}" type="parTrans" cxnId="{3430040E-9BAE-4272-81C1-0D34BD292BBD}">
      <dgm:prSet/>
      <dgm:spPr/>
      <dgm:t>
        <a:bodyPr/>
        <a:lstStyle/>
        <a:p>
          <a:endParaRPr lang="en-US"/>
        </a:p>
      </dgm:t>
    </dgm:pt>
    <dgm:pt modelId="{3AE4EC29-6EC6-4BCF-9164-92D8504E6349}" type="sibTrans" cxnId="{3430040E-9BAE-4272-81C1-0D34BD292BBD}">
      <dgm:prSet/>
      <dgm:spPr/>
      <dgm:t>
        <a:bodyPr/>
        <a:lstStyle/>
        <a:p>
          <a:endParaRPr lang="en-US"/>
        </a:p>
      </dgm:t>
    </dgm:pt>
    <dgm:pt modelId="{E35929C8-E952-4046-9BE7-FF87C10A4C6D}" type="pres">
      <dgm:prSet presAssocID="{2810F52E-95D1-48FF-A3F5-53C2EDD3B2C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FAFAD90-F667-4356-A0BA-CBBF1F97E73D}" type="pres">
      <dgm:prSet presAssocID="{629103A3-D6E1-4AEA-8432-4CDBC53E8E19}" presName="hierRoot1" presStyleCnt="0">
        <dgm:presLayoutVars>
          <dgm:hierBranch/>
        </dgm:presLayoutVars>
      </dgm:prSet>
      <dgm:spPr/>
    </dgm:pt>
    <dgm:pt modelId="{33703A22-8CCA-467C-8924-7E225B9C2F89}" type="pres">
      <dgm:prSet presAssocID="{629103A3-D6E1-4AEA-8432-4CDBC53E8E19}" presName="rootComposite1" presStyleCnt="0"/>
      <dgm:spPr/>
    </dgm:pt>
    <dgm:pt modelId="{C90744A4-68A5-448A-B1D1-B18E9F9B93A2}" type="pres">
      <dgm:prSet presAssocID="{629103A3-D6E1-4AEA-8432-4CDBC53E8E19}" presName="rootText1" presStyleLbl="node0" presStyleIdx="0" presStyleCnt="1" custScaleX="83495" custScaleY="461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03CE83-039D-4449-BD37-F737F0843444}" type="pres">
      <dgm:prSet presAssocID="{629103A3-D6E1-4AEA-8432-4CDBC53E8E19}" presName="rootConnector1" presStyleLbl="node1" presStyleIdx="0" presStyleCnt="0"/>
      <dgm:spPr/>
      <dgm:t>
        <a:bodyPr/>
        <a:lstStyle/>
        <a:p>
          <a:endParaRPr lang="en-US"/>
        </a:p>
      </dgm:t>
    </dgm:pt>
    <dgm:pt modelId="{DC7E9C40-0A04-4F2F-BD5B-0ABF305E90DC}" type="pres">
      <dgm:prSet presAssocID="{629103A3-D6E1-4AEA-8432-4CDBC53E8E19}" presName="hierChild2" presStyleCnt="0"/>
      <dgm:spPr/>
    </dgm:pt>
    <dgm:pt modelId="{570F4EF7-3069-40A0-A418-EE88EAAB33A2}" type="pres">
      <dgm:prSet presAssocID="{9F47F2E3-375F-40B2-9FBE-9682DA0CF81A}" presName="Name35" presStyleLbl="parChTrans1D2" presStyleIdx="0" presStyleCnt="2"/>
      <dgm:spPr/>
      <dgm:t>
        <a:bodyPr/>
        <a:lstStyle/>
        <a:p>
          <a:endParaRPr lang="en-US"/>
        </a:p>
      </dgm:t>
    </dgm:pt>
    <dgm:pt modelId="{769D92AB-EBA5-4C08-9B8A-E5DBC631FFB8}" type="pres">
      <dgm:prSet presAssocID="{355DEB70-C973-4708-9A2F-8275A536C635}" presName="hierRoot2" presStyleCnt="0">
        <dgm:presLayoutVars>
          <dgm:hierBranch/>
        </dgm:presLayoutVars>
      </dgm:prSet>
      <dgm:spPr/>
    </dgm:pt>
    <dgm:pt modelId="{5DDC484A-5B0B-4C53-9F14-00FC0718E5DA}" type="pres">
      <dgm:prSet presAssocID="{355DEB70-C973-4708-9A2F-8275A536C635}" presName="rootComposite" presStyleCnt="0"/>
      <dgm:spPr/>
    </dgm:pt>
    <dgm:pt modelId="{555590F6-A8CC-48F3-B501-CD9D2CF93290}" type="pres">
      <dgm:prSet presAssocID="{355DEB70-C973-4708-9A2F-8275A536C635}" presName="rootText" presStyleLbl="node2" presStyleIdx="0" presStyleCnt="2" custScaleX="85953" custScaleY="5926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D3308A-0BFE-4467-9BA9-A99BF6AA257C}" type="pres">
      <dgm:prSet presAssocID="{355DEB70-C973-4708-9A2F-8275A536C635}" presName="rootConnector" presStyleLbl="node2" presStyleIdx="0" presStyleCnt="2"/>
      <dgm:spPr/>
      <dgm:t>
        <a:bodyPr/>
        <a:lstStyle/>
        <a:p>
          <a:endParaRPr lang="en-US"/>
        </a:p>
      </dgm:t>
    </dgm:pt>
    <dgm:pt modelId="{BBF1E4D4-ED12-409E-AC60-DCF080C9D950}" type="pres">
      <dgm:prSet presAssocID="{355DEB70-C973-4708-9A2F-8275A536C635}" presName="hierChild4" presStyleCnt="0"/>
      <dgm:spPr/>
    </dgm:pt>
    <dgm:pt modelId="{553836EB-6E94-4B80-AA71-73D3BA7F4966}" type="pres">
      <dgm:prSet presAssocID="{355DEB70-C973-4708-9A2F-8275A536C635}" presName="hierChild5" presStyleCnt="0"/>
      <dgm:spPr/>
    </dgm:pt>
    <dgm:pt modelId="{98F6F8E4-C5F3-42B2-99EF-3A1CFFA152C2}" type="pres">
      <dgm:prSet presAssocID="{01650138-A8E9-4500-9B8B-AE03E733914D}" presName="Name35" presStyleLbl="parChTrans1D2" presStyleIdx="1" presStyleCnt="2"/>
      <dgm:spPr/>
      <dgm:t>
        <a:bodyPr/>
        <a:lstStyle/>
        <a:p>
          <a:endParaRPr lang="en-US"/>
        </a:p>
      </dgm:t>
    </dgm:pt>
    <dgm:pt modelId="{31F9ED9D-8F1F-4971-9132-B8084A6E41F7}" type="pres">
      <dgm:prSet presAssocID="{7F57B036-8C68-4683-A5EE-69448B71CDFD}" presName="hierRoot2" presStyleCnt="0">
        <dgm:presLayoutVars>
          <dgm:hierBranch/>
        </dgm:presLayoutVars>
      </dgm:prSet>
      <dgm:spPr/>
    </dgm:pt>
    <dgm:pt modelId="{3172FCD4-4349-442F-9401-BC97A14B98EB}" type="pres">
      <dgm:prSet presAssocID="{7F57B036-8C68-4683-A5EE-69448B71CDFD}" presName="rootComposite" presStyleCnt="0"/>
      <dgm:spPr/>
    </dgm:pt>
    <dgm:pt modelId="{F4A45CEC-1447-4AAA-988D-5D88A96B215E}" type="pres">
      <dgm:prSet presAssocID="{7F57B036-8C68-4683-A5EE-69448B71CDFD}" presName="rootText" presStyleLbl="node2" presStyleIdx="1" presStyleCnt="2" custScaleX="79866" custScaleY="603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AB5E3CD-C678-4775-BE65-25F8BF57647F}" type="pres">
      <dgm:prSet presAssocID="{7F57B036-8C68-4683-A5EE-69448B71CDFD}" presName="rootConnector" presStyleLbl="node2" presStyleIdx="1" presStyleCnt="2"/>
      <dgm:spPr/>
      <dgm:t>
        <a:bodyPr/>
        <a:lstStyle/>
        <a:p>
          <a:endParaRPr lang="en-US"/>
        </a:p>
      </dgm:t>
    </dgm:pt>
    <dgm:pt modelId="{C6064C11-EAEC-4A11-8A07-0D5D42CA8C69}" type="pres">
      <dgm:prSet presAssocID="{7F57B036-8C68-4683-A5EE-69448B71CDFD}" presName="hierChild4" presStyleCnt="0"/>
      <dgm:spPr/>
    </dgm:pt>
    <dgm:pt modelId="{547FB91D-93F6-47C2-A870-5E588ED45B9C}" type="pres">
      <dgm:prSet presAssocID="{7F57B036-8C68-4683-A5EE-69448B71CDFD}" presName="hierChild5" presStyleCnt="0"/>
      <dgm:spPr/>
    </dgm:pt>
    <dgm:pt modelId="{E3A4C6EB-F985-408C-AD8B-0103A420F312}" type="pres">
      <dgm:prSet presAssocID="{629103A3-D6E1-4AEA-8432-4CDBC53E8E19}" presName="hierChild3" presStyleCnt="0"/>
      <dgm:spPr/>
    </dgm:pt>
  </dgm:ptLst>
  <dgm:cxnLst>
    <dgm:cxn modelId="{EBF1B8A7-7C11-40A7-A630-F2ED88FC61C0}" type="presOf" srcId="{2810F52E-95D1-48FF-A3F5-53C2EDD3B2CC}" destId="{E35929C8-E952-4046-9BE7-FF87C10A4C6D}" srcOrd="0" destOrd="0" presId="urn:microsoft.com/office/officeart/2005/8/layout/orgChart1"/>
    <dgm:cxn modelId="{32B2623B-C105-480D-BE32-444362DD9F1C}" type="presOf" srcId="{355DEB70-C973-4708-9A2F-8275A536C635}" destId="{555590F6-A8CC-48F3-B501-CD9D2CF93290}" srcOrd="0" destOrd="0" presId="urn:microsoft.com/office/officeart/2005/8/layout/orgChart1"/>
    <dgm:cxn modelId="{5A0B07DD-6A59-4222-8A1A-90227ABE6406}" type="presOf" srcId="{01650138-A8E9-4500-9B8B-AE03E733914D}" destId="{98F6F8E4-C5F3-42B2-99EF-3A1CFFA152C2}" srcOrd="0" destOrd="0" presId="urn:microsoft.com/office/officeart/2005/8/layout/orgChart1"/>
    <dgm:cxn modelId="{65AA56E0-CAC6-44D7-8C55-07CE51636FC4}" type="presOf" srcId="{629103A3-D6E1-4AEA-8432-4CDBC53E8E19}" destId="{8B03CE83-039D-4449-BD37-F737F0843444}" srcOrd="1" destOrd="0" presId="urn:microsoft.com/office/officeart/2005/8/layout/orgChart1"/>
    <dgm:cxn modelId="{D3EBE8EC-FACB-4751-8FC2-C3B5AE3A40C1}" type="presOf" srcId="{7F57B036-8C68-4683-A5EE-69448B71CDFD}" destId="{F4A45CEC-1447-4AAA-988D-5D88A96B215E}" srcOrd="0" destOrd="0" presId="urn:microsoft.com/office/officeart/2005/8/layout/orgChart1"/>
    <dgm:cxn modelId="{D22AE0D6-8C4F-4BD5-83CE-1FFA5F799951}" type="presOf" srcId="{629103A3-D6E1-4AEA-8432-4CDBC53E8E19}" destId="{C90744A4-68A5-448A-B1D1-B18E9F9B93A2}" srcOrd="0" destOrd="0" presId="urn:microsoft.com/office/officeart/2005/8/layout/orgChart1"/>
    <dgm:cxn modelId="{4DE2A496-989A-43A1-BC67-ADC7663DD3D9}" type="presOf" srcId="{355DEB70-C973-4708-9A2F-8275A536C635}" destId="{1CD3308A-0BFE-4467-9BA9-A99BF6AA257C}" srcOrd="1" destOrd="0" presId="urn:microsoft.com/office/officeart/2005/8/layout/orgChart1"/>
    <dgm:cxn modelId="{63C24ECB-7275-4AA1-984E-F40F56660AF3}" srcId="{629103A3-D6E1-4AEA-8432-4CDBC53E8E19}" destId="{355DEB70-C973-4708-9A2F-8275A536C635}" srcOrd="0" destOrd="0" parTransId="{9F47F2E3-375F-40B2-9FBE-9682DA0CF81A}" sibTransId="{E45EA843-6728-4E03-B8D1-DC40474BA72C}"/>
    <dgm:cxn modelId="{B936A8DC-CADB-407C-9976-2DDA632798F1}" type="presOf" srcId="{7F57B036-8C68-4683-A5EE-69448B71CDFD}" destId="{EAB5E3CD-C678-4775-BE65-25F8BF57647F}" srcOrd="1" destOrd="0" presId="urn:microsoft.com/office/officeart/2005/8/layout/orgChart1"/>
    <dgm:cxn modelId="{3430040E-9BAE-4272-81C1-0D34BD292BBD}" srcId="{629103A3-D6E1-4AEA-8432-4CDBC53E8E19}" destId="{7F57B036-8C68-4683-A5EE-69448B71CDFD}" srcOrd="1" destOrd="0" parTransId="{01650138-A8E9-4500-9B8B-AE03E733914D}" sibTransId="{3AE4EC29-6EC6-4BCF-9164-92D8504E6349}"/>
    <dgm:cxn modelId="{D89517BA-98DC-4817-A23B-7533D6A80F50}" srcId="{2810F52E-95D1-48FF-A3F5-53C2EDD3B2CC}" destId="{629103A3-D6E1-4AEA-8432-4CDBC53E8E19}" srcOrd="0" destOrd="0" parTransId="{A8E1BD6E-6A1B-4BB9-8F7C-3588C03C7203}" sibTransId="{AA695E59-6499-48FB-BBFF-B96C15500A0A}"/>
    <dgm:cxn modelId="{AC089403-CAD6-4749-A672-CC9F1F41FFA9}" type="presOf" srcId="{9F47F2E3-375F-40B2-9FBE-9682DA0CF81A}" destId="{570F4EF7-3069-40A0-A418-EE88EAAB33A2}" srcOrd="0" destOrd="0" presId="urn:microsoft.com/office/officeart/2005/8/layout/orgChart1"/>
    <dgm:cxn modelId="{862AE777-2B40-4A01-956D-899E1CC46208}" type="presParOf" srcId="{E35929C8-E952-4046-9BE7-FF87C10A4C6D}" destId="{CFAFAD90-F667-4356-A0BA-CBBF1F97E73D}" srcOrd="0" destOrd="0" presId="urn:microsoft.com/office/officeart/2005/8/layout/orgChart1"/>
    <dgm:cxn modelId="{56EFEB14-D562-43DC-B608-1FCE81A14653}" type="presParOf" srcId="{CFAFAD90-F667-4356-A0BA-CBBF1F97E73D}" destId="{33703A22-8CCA-467C-8924-7E225B9C2F89}" srcOrd="0" destOrd="0" presId="urn:microsoft.com/office/officeart/2005/8/layout/orgChart1"/>
    <dgm:cxn modelId="{EF019E9C-30BE-4DC4-A5F9-E2C29587403C}" type="presParOf" srcId="{33703A22-8CCA-467C-8924-7E225B9C2F89}" destId="{C90744A4-68A5-448A-B1D1-B18E9F9B93A2}" srcOrd="0" destOrd="0" presId="urn:microsoft.com/office/officeart/2005/8/layout/orgChart1"/>
    <dgm:cxn modelId="{576F1724-5136-4A85-85CB-10785244F8BB}" type="presParOf" srcId="{33703A22-8CCA-467C-8924-7E225B9C2F89}" destId="{8B03CE83-039D-4449-BD37-F737F0843444}" srcOrd="1" destOrd="0" presId="urn:microsoft.com/office/officeart/2005/8/layout/orgChart1"/>
    <dgm:cxn modelId="{748CEB8F-887C-423A-B999-757BD9219517}" type="presParOf" srcId="{CFAFAD90-F667-4356-A0BA-CBBF1F97E73D}" destId="{DC7E9C40-0A04-4F2F-BD5B-0ABF305E90DC}" srcOrd="1" destOrd="0" presId="urn:microsoft.com/office/officeart/2005/8/layout/orgChart1"/>
    <dgm:cxn modelId="{82146A85-1882-451B-81FA-D3B0362C8216}" type="presParOf" srcId="{DC7E9C40-0A04-4F2F-BD5B-0ABF305E90DC}" destId="{570F4EF7-3069-40A0-A418-EE88EAAB33A2}" srcOrd="0" destOrd="0" presId="urn:microsoft.com/office/officeart/2005/8/layout/orgChart1"/>
    <dgm:cxn modelId="{B79CB044-2A69-482D-B3D3-29EB8F194600}" type="presParOf" srcId="{DC7E9C40-0A04-4F2F-BD5B-0ABF305E90DC}" destId="{769D92AB-EBA5-4C08-9B8A-E5DBC631FFB8}" srcOrd="1" destOrd="0" presId="urn:microsoft.com/office/officeart/2005/8/layout/orgChart1"/>
    <dgm:cxn modelId="{E4A5D0EB-3094-435A-86E8-B3808EFC1BD8}" type="presParOf" srcId="{769D92AB-EBA5-4C08-9B8A-E5DBC631FFB8}" destId="{5DDC484A-5B0B-4C53-9F14-00FC0718E5DA}" srcOrd="0" destOrd="0" presId="urn:microsoft.com/office/officeart/2005/8/layout/orgChart1"/>
    <dgm:cxn modelId="{D0C05226-387B-4C2F-9287-EBA81A081515}" type="presParOf" srcId="{5DDC484A-5B0B-4C53-9F14-00FC0718E5DA}" destId="{555590F6-A8CC-48F3-B501-CD9D2CF93290}" srcOrd="0" destOrd="0" presId="urn:microsoft.com/office/officeart/2005/8/layout/orgChart1"/>
    <dgm:cxn modelId="{0FEEFB7E-27C7-4EDB-8488-AD6B6B3EEB4B}" type="presParOf" srcId="{5DDC484A-5B0B-4C53-9F14-00FC0718E5DA}" destId="{1CD3308A-0BFE-4467-9BA9-A99BF6AA257C}" srcOrd="1" destOrd="0" presId="urn:microsoft.com/office/officeart/2005/8/layout/orgChart1"/>
    <dgm:cxn modelId="{2B057626-69AA-4749-BB20-4A67876C8945}" type="presParOf" srcId="{769D92AB-EBA5-4C08-9B8A-E5DBC631FFB8}" destId="{BBF1E4D4-ED12-409E-AC60-DCF080C9D950}" srcOrd="1" destOrd="0" presId="urn:microsoft.com/office/officeart/2005/8/layout/orgChart1"/>
    <dgm:cxn modelId="{2E89C347-8E72-46BD-82FC-9A5DA526CE35}" type="presParOf" srcId="{769D92AB-EBA5-4C08-9B8A-E5DBC631FFB8}" destId="{553836EB-6E94-4B80-AA71-73D3BA7F4966}" srcOrd="2" destOrd="0" presId="urn:microsoft.com/office/officeart/2005/8/layout/orgChart1"/>
    <dgm:cxn modelId="{7A3496F3-6339-439C-B89B-39F5AC46F41B}" type="presParOf" srcId="{DC7E9C40-0A04-4F2F-BD5B-0ABF305E90DC}" destId="{98F6F8E4-C5F3-42B2-99EF-3A1CFFA152C2}" srcOrd="2" destOrd="0" presId="urn:microsoft.com/office/officeart/2005/8/layout/orgChart1"/>
    <dgm:cxn modelId="{DF26301C-1307-4AFD-A874-31E54B4E13D3}" type="presParOf" srcId="{DC7E9C40-0A04-4F2F-BD5B-0ABF305E90DC}" destId="{31F9ED9D-8F1F-4971-9132-B8084A6E41F7}" srcOrd="3" destOrd="0" presId="urn:microsoft.com/office/officeart/2005/8/layout/orgChart1"/>
    <dgm:cxn modelId="{313B577F-3F62-41AD-9957-5DE9CC1BF333}" type="presParOf" srcId="{31F9ED9D-8F1F-4971-9132-B8084A6E41F7}" destId="{3172FCD4-4349-442F-9401-BC97A14B98EB}" srcOrd="0" destOrd="0" presId="urn:microsoft.com/office/officeart/2005/8/layout/orgChart1"/>
    <dgm:cxn modelId="{DC7BB9A1-74E4-4D72-8D7F-57131F7382D3}" type="presParOf" srcId="{3172FCD4-4349-442F-9401-BC97A14B98EB}" destId="{F4A45CEC-1447-4AAA-988D-5D88A96B215E}" srcOrd="0" destOrd="0" presId="urn:microsoft.com/office/officeart/2005/8/layout/orgChart1"/>
    <dgm:cxn modelId="{6AB558A7-AFCD-4921-86BE-2CD1B0AB6022}" type="presParOf" srcId="{3172FCD4-4349-442F-9401-BC97A14B98EB}" destId="{EAB5E3CD-C678-4775-BE65-25F8BF57647F}" srcOrd="1" destOrd="0" presId="urn:microsoft.com/office/officeart/2005/8/layout/orgChart1"/>
    <dgm:cxn modelId="{E13E90E3-4197-4DBA-99D1-E488F9751B8E}" type="presParOf" srcId="{31F9ED9D-8F1F-4971-9132-B8084A6E41F7}" destId="{C6064C11-EAEC-4A11-8A07-0D5D42CA8C69}" srcOrd="1" destOrd="0" presId="urn:microsoft.com/office/officeart/2005/8/layout/orgChart1"/>
    <dgm:cxn modelId="{C0C3E62B-4FAD-4819-9B93-F30323541863}" type="presParOf" srcId="{31F9ED9D-8F1F-4971-9132-B8084A6E41F7}" destId="{547FB91D-93F6-47C2-A870-5E588ED45B9C}" srcOrd="2" destOrd="0" presId="urn:microsoft.com/office/officeart/2005/8/layout/orgChart1"/>
    <dgm:cxn modelId="{7F3A6380-77F7-4B38-87A7-3241A8930EA9}" type="presParOf" srcId="{CFAFAD90-F667-4356-A0BA-CBBF1F97E73D}" destId="{E3A4C6EB-F985-408C-AD8B-0103A420F31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6F8E4-C5F3-42B2-99EF-3A1CFFA152C2}">
      <dsp:nvSpPr>
        <dsp:cNvPr id="0" name=""/>
        <dsp:cNvSpPr/>
      </dsp:nvSpPr>
      <dsp:spPr>
        <a:xfrm>
          <a:off x="3962400" y="1350366"/>
          <a:ext cx="2265872" cy="8897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4899"/>
              </a:lnTo>
              <a:lnTo>
                <a:pt x="2265872" y="444899"/>
              </a:lnTo>
              <a:lnTo>
                <a:pt x="2265872" y="8897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0F4EF7-3069-40A0-A418-EE88EAAB33A2}">
      <dsp:nvSpPr>
        <dsp:cNvPr id="0" name=""/>
        <dsp:cNvSpPr/>
      </dsp:nvSpPr>
      <dsp:spPr>
        <a:xfrm>
          <a:off x="1825484" y="1350366"/>
          <a:ext cx="2136915" cy="889798"/>
        </a:xfrm>
        <a:custGeom>
          <a:avLst/>
          <a:gdLst/>
          <a:ahLst/>
          <a:cxnLst/>
          <a:rect l="0" t="0" r="0" b="0"/>
          <a:pathLst>
            <a:path>
              <a:moveTo>
                <a:pt x="2136915" y="0"/>
              </a:moveTo>
              <a:lnTo>
                <a:pt x="2136915" y="444899"/>
              </a:lnTo>
              <a:lnTo>
                <a:pt x="0" y="444899"/>
              </a:lnTo>
              <a:lnTo>
                <a:pt x="0" y="8897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744A4-68A5-448A-B1D1-B18E9F9B93A2}">
      <dsp:nvSpPr>
        <dsp:cNvPr id="0" name=""/>
        <dsp:cNvSpPr/>
      </dsp:nvSpPr>
      <dsp:spPr>
        <a:xfrm>
          <a:off x="2193501" y="372944"/>
          <a:ext cx="3537797" cy="977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</a:t>
          </a:r>
        </a:p>
      </dsp:txBody>
      <dsp:txXfrm>
        <a:off x="2193501" y="372944"/>
        <a:ext cx="3537797" cy="977422"/>
      </dsp:txXfrm>
    </dsp:sp>
    <dsp:sp modelId="{555590F6-A8CC-48F3-B501-CD9D2CF93290}">
      <dsp:nvSpPr>
        <dsp:cNvPr id="0" name=""/>
        <dsp:cNvSpPr/>
      </dsp:nvSpPr>
      <dsp:spPr>
        <a:xfrm>
          <a:off x="4511" y="2240165"/>
          <a:ext cx="3641946" cy="1255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Bipolar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[Bipolar Junction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 (BJT)]</a:t>
          </a:r>
        </a:p>
      </dsp:txBody>
      <dsp:txXfrm>
        <a:off x="4511" y="2240165"/>
        <a:ext cx="3641946" cy="1255633"/>
      </dsp:txXfrm>
    </dsp:sp>
    <dsp:sp modelId="{F4A45CEC-1447-4AAA-988D-5D88A96B215E}">
      <dsp:nvSpPr>
        <dsp:cNvPr id="0" name=""/>
        <dsp:cNvSpPr/>
      </dsp:nvSpPr>
      <dsp:spPr>
        <a:xfrm>
          <a:off x="4536256" y="2240165"/>
          <a:ext cx="3384031" cy="12777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Unipolar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[Field Effect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7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Transistor (FET)]</a:t>
          </a:r>
        </a:p>
      </dsp:txBody>
      <dsp:txXfrm>
        <a:off x="4536256" y="2240165"/>
        <a:ext cx="3384031" cy="12777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4FDDA-911B-48F6-8BA3-35EF8A11B596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36D3-FA24-4739-B47E-2142C1D55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B50971-45C2-483A-B384-7FC2E90B486D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Bipolar = berkaitan dengan pembawa muatan (elektron dan hole)</a:t>
            </a: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FET berkaitan dengan efek medan yang ditimbulkan lapisan deplesi</a:t>
            </a: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t>BJT dikontrol arus dan FET dikontrol tegangan</a:t>
            </a:r>
          </a:p>
        </p:txBody>
      </p:sp>
    </p:spTree>
    <p:extLst>
      <p:ext uri="{BB962C8B-B14F-4D97-AF65-F5344CB8AC3E}">
        <p14:creationId xmlns:p14="http://schemas.microsoft.com/office/powerpoint/2010/main" val="162192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1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7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8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1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7924800" cy="4419600"/>
          </a:xfrm>
        </p:spPr>
        <p:txBody>
          <a:bodyPr rtlCol="0">
            <a:normAutofit/>
          </a:bodyPr>
          <a:lstStyle/>
          <a:p>
            <a:pPr lvl="0"/>
            <a:endParaRPr lang="en-US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929AD14-EABF-442A-9DDE-7D7AF36231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63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B8750-F07A-4D82-9819-420E9167C93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djukarna.wordpress.com/2014/11/11/dasar-dasar-transistor-1/g1-2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djukarna.wordpress.com/2014/11/11/dasar-dasar-transistor-1/g2-2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djukarna.wordpress.com/2014/11/11/dasar-dasar-transistor-1/kontruksi-transisto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djukarna.wordpress.com/2014/11/11/dasar-dasar-transistor-1/3-daerah-transisto-sketsa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hyperlink" Target="https://djukarna.wordpress.com/2014/11/11/dasar-dasar-transistor-1/diode-be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djukarna.wordpress.com/2014/11/11/dasar-dasar-transistor-1/g2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4oO7PT_nzQ" TargetMode="External"/><Relationship Id="rId2" Type="http://schemas.openxmlformats.org/officeDocument/2006/relationships/hyperlink" Target="https://www.youtube.com/watch?v=7ukDKVHnac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260352"/>
            <a:ext cx="8243888" cy="1800225"/>
          </a:xfrm>
        </p:spPr>
        <p:txBody>
          <a:bodyPr/>
          <a:lstStyle/>
          <a:p>
            <a:pPr eaLnBrk="1" hangingPunct="1"/>
            <a:r>
              <a:rPr lang="en-US" sz="2400"/>
              <a:t/>
            </a:r>
            <a:br>
              <a:rPr lang="en-US" sz="2400"/>
            </a:br>
            <a:r>
              <a:rPr lang="en-US" sz="2400"/>
              <a:t/>
            </a:r>
            <a:br>
              <a:rPr lang="en-US" sz="2400"/>
            </a:br>
            <a:endParaRPr lang="en-GB" sz="20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060577"/>
            <a:ext cx="7524750" cy="1511300"/>
          </a:xfrm>
          <a:noFill/>
          <a:ln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5400" b="1" smtClean="0"/>
              <a:t>Pengenalan </a:t>
            </a:r>
            <a:r>
              <a:rPr lang="en-US" sz="5400" b="1" smtClean="0"/>
              <a:t>Transistor</a:t>
            </a:r>
            <a:endParaRPr lang="en-US" sz="5400" b="1" dirty="0"/>
          </a:p>
        </p:txBody>
      </p:sp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F96B8F-5478-4331-A05C-2C9C0CEBF9CF}" type="slidenum">
              <a:rPr lang="en-GB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sz="1400"/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1587500" y="4652965"/>
            <a:ext cx="636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endParaRPr lang="en-US" sz="2400" u="sng"/>
          </a:p>
        </p:txBody>
      </p:sp>
    </p:spTree>
    <p:extLst>
      <p:ext uri="{BB962C8B-B14F-4D97-AF65-F5344CB8AC3E}">
        <p14:creationId xmlns:p14="http://schemas.microsoft.com/office/powerpoint/2010/main" val="400030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Ditemukan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/>
              <a:t>William Bradford </a:t>
            </a:r>
            <a:r>
              <a:rPr lang="en-US" dirty="0" err="1"/>
              <a:t>Schockley</a:t>
            </a:r>
            <a:r>
              <a:rPr lang="en-US" dirty="0"/>
              <a:t>, John Bardeen </a:t>
            </a:r>
            <a:r>
              <a:rPr lang="en-US" dirty="0" err="1"/>
              <a:t>dan</a:t>
            </a:r>
            <a:r>
              <a:rPr lang="en-US" dirty="0"/>
              <a:t> Walter Houser Brattain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smtClean="0"/>
              <a:t>1951.</a:t>
            </a:r>
          </a:p>
          <a:p>
            <a:r>
              <a:rPr lang="en-US" dirty="0" err="1" smtClean="0"/>
              <a:t>Mendapat</a:t>
            </a:r>
            <a:r>
              <a:rPr lang="en-US" dirty="0" smtClean="0"/>
              <a:t> Nobel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1956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fisika</a:t>
            </a:r>
            <a:r>
              <a:rPr lang="en-US" dirty="0" smtClean="0"/>
              <a:t>.</a:t>
            </a:r>
          </a:p>
          <a:p>
            <a:r>
              <a:rPr lang="en-US" dirty="0" err="1"/>
              <a:t>Penemuan</a:t>
            </a:r>
            <a:r>
              <a:rPr lang="en-US" dirty="0"/>
              <a:t> transistor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ekstrim</a:t>
            </a:r>
            <a:r>
              <a:rPr lang="en-US" dirty="0" smtClean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dunia</a:t>
            </a:r>
            <a:r>
              <a:rPr lang="en-US" dirty="0"/>
              <a:t> </a:t>
            </a:r>
            <a:r>
              <a:rPr lang="en-US" dirty="0" err="1"/>
              <a:t>khususnya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.</a:t>
            </a:r>
          </a:p>
          <a:p>
            <a:r>
              <a:rPr lang="en-US" dirty="0" err="1" smtClean="0"/>
              <a:t>Tabung</a:t>
            </a:r>
            <a:r>
              <a:rPr lang="en-US" dirty="0" smtClean="0"/>
              <a:t> </a:t>
            </a:r>
            <a:r>
              <a:rPr lang="en-US" dirty="0" err="1"/>
              <a:t>hampa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pengoperasiannya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ditemukannya</a:t>
            </a:r>
            <a:r>
              <a:rPr lang="en-US" dirty="0"/>
              <a:t> transistor, </a:t>
            </a:r>
            <a:r>
              <a:rPr lang="en-US" dirty="0" err="1"/>
              <a:t>peralatan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</a:t>
            </a:r>
            <a:r>
              <a:rPr lang="en-US" dirty="0" err="1"/>
              <a:t>handal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pengoperasiaanya</a:t>
            </a:r>
            <a:r>
              <a:rPr lang="en-US" dirty="0"/>
              <a:t>.</a:t>
            </a:r>
          </a:p>
          <a:p>
            <a:r>
              <a:rPr lang="en-US" dirty="0" err="1"/>
              <a:t>Penemuan</a:t>
            </a:r>
            <a:r>
              <a:rPr lang="en-US" dirty="0"/>
              <a:t> transistor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gerbang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dunia</a:t>
            </a:r>
            <a:r>
              <a:rPr lang="en-US" dirty="0"/>
              <a:t> </a:t>
            </a:r>
            <a:r>
              <a:rPr lang="en-US" dirty="0" err="1"/>
              <a:t>moderen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Kegunaan</a:t>
            </a:r>
            <a:r>
              <a:rPr lang="en-US" dirty="0" smtClean="0"/>
              <a:t> Transistor yang </a:t>
            </a:r>
            <a:r>
              <a:rPr lang="en-US" dirty="0" err="1" smtClean="0"/>
              <a:t>utama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2 </a:t>
            </a:r>
            <a:r>
              <a:rPr lang="en-US" dirty="0" err="1" smtClean="0"/>
              <a:t>yaitu</a:t>
            </a:r>
            <a:r>
              <a:rPr lang="en-US" dirty="0" smtClean="0"/>
              <a:t>: </a:t>
            </a:r>
            <a:r>
              <a:rPr lang="en-US" dirty="0" err="1"/>
              <a:t>s</a:t>
            </a:r>
            <a:r>
              <a:rPr lang="en-US" dirty="0" err="1" smtClean="0"/>
              <a:t>ebagai</a:t>
            </a:r>
            <a:r>
              <a:rPr lang="en-US" dirty="0" smtClean="0"/>
              <a:t> </a:t>
            </a:r>
            <a:r>
              <a:rPr lang="en-US" dirty="0" err="1"/>
              <a:t>p</a:t>
            </a:r>
            <a:r>
              <a:rPr lang="en-US" dirty="0" err="1" smtClean="0"/>
              <a:t>enguat</a:t>
            </a:r>
            <a:r>
              <a:rPr lang="en-US" dirty="0" smtClean="0"/>
              <a:t> (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analog)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/>
              <a:t>s</a:t>
            </a:r>
            <a:r>
              <a:rPr lang="en-US" dirty="0" err="1" smtClean="0"/>
              <a:t>aklar</a:t>
            </a:r>
            <a:r>
              <a:rPr lang="en-US" dirty="0" smtClean="0"/>
              <a:t> </a:t>
            </a:r>
            <a:r>
              <a:rPr lang="en-US" dirty="0" err="1" smtClean="0"/>
              <a:t>elektronik</a:t>
            </a:r>
            <a:r>
              <a:rPr lang="en-US" dirty="0" smtClean="0"/>
              <a:t> (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digital)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09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EEDE26-1A46-46E0-A21B-E64C11F196A1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sz="140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1837"/>
          </a:xfrm>
          <a:ln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4000" b="1" dirty="0" smtClean="0"/>
              <a:t>BENTUK FISIK TRANSISTOR</a:t>
            </a:r>
            <a:endParaRPr lang="en-GB" sz="4000" b="1" dirty="0" smtClean="0"/>
          </a:p>
        </p:txBody>
      </p:sp>
      <p:pic>
        <p:nvPicPr>
          <p:cNvPr id="8194" name="Picture 2" descr="pengertian transistor, jenis, macam, transistor, bipolar dan nonpol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807" y="1720808"/>
            <a:ext cx="3966142" cy="344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56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Perkembangan Transistor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18072" y="5342021"/>
            <a:ext cx="109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1950</a:t>
            </a:r>
          </a:p>
          <a:p>
            <a:r>
              <a:rPr lang="en-US" smtClean="0"/>
              <a:t>Transistor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9542" y="5370897"/>
            <a:ext cx="1449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1904</a:t>
            </a:r>
          </a:p>
          <a:p>
            <a:r>
              <a:rPr lang="en-US" smtClean="0"/>
              <a:t>Vacuum Tube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93732" y="5378944"/>
            <a:ext cx="1156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1959</a:t>
            </a:r>
          </a:p>
          <a:p>
            <a:r>
              <a:rPr lang="en-US" smtClean="0"/>
              <a:t>Integrated</a:t>
            </a:r>
          </a:p>
          <a:p>
            <a:r>
              <a:rPr lang="en-US" smtClean="0"/>
              <a:t>Circuit</a:t>
            </a:r>
            <a:endParaRPr lang="en-US"/>
          </a:p>
        </p:txBody>
      </p:sp>
      <p:pic>
        <p:nvPicPr>
          <p:cNvPr id="90114" name="Picture 2" descr="Why were early computers so big? - Quo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01138"/>
            <a:ext cx="7801114" cy="295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43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Generasi Computer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1138" name="Picture 2" descr="1st to 5th Generations of Computer: Complete Inform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23" y="1548606"/>
            <a:ext cx="6915150" cy="49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42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JENIS-JENIS TRANSISTOR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343506157"/>
              </p:ext>
            </p:extLst>
          </p:nvPr>
        </p:nvGraphicFramePr>
        <p:xfrm>
          <a:off x="660574" y="819014"/>
          <a:ext cx="7924800" cy="3890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509519" y="2588894"/>
            <a:ext cx="411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smtClean="0">
                <a:solidFill>
                  <a:srgbClr val="FF0000"/>
                </a:solidFill>
              </a:rPr>
              <a:t>(paling umum digunakan)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9519" y="5207652"/>
            <a:ext cx="10390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/>
              <a:t>NPN</a:t>
            </a:r>
            <a:endParaRPr lang="en-US" sz="3600"/>
          </a:p>
        </p:txBody>
      </p:sp>
      <p:sp>
        <p:nvSpPr>
          <p:cNvPr id="6" name="Rectangle 5"/>
          <p:cNvSpPr/>
          <p:nvPr/>
        </p:nvSpPr>
        <p:spPr>
          <a:xfrm>
            <a:off x="3824389" y="5207652"/>
            <a:ext cx="9797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mtClean="0"/>
              <a:t>PNP</a:t>
            </a:r>
            <a:endParaRPr lang="en-US" sz="3600"/>
          </a:p>
        </p:txBody>
      </p:sp>
      <p:cxnSp>
        <p:nvCxnSpPr>
          <p:cNvPr id="7" name="Straight Arrow Connector 6"/>
          <p:cNvCxnSpPr>
            <a:endCxn id="5" idx="0"/>
          </p:cNvCxnSpPr>
          <p:nvPr/>
        </p:nvCxnSpPr>
        <p:spPr>
          <a:xfrm flipH="1">
            <a:off x="1029053" y="4294909"/>
            <a:ext cx="1363165" cy="9127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6" idx="0"/>
          </p:cNvCxnSpPr>
          <p:nvPr/>
        </p:nvCxnSpPr>
        <p:spPr>
          <a:xfrm>
            <a:off x="2735917" y="4294909"/>
            <a:ext cx="1578350" cy="9127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2807" y="5724675"/>
            <a:ext cx="23041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smtClean="0">
                <a:solidFill>
                  <a:srgbClr val="FF0000"/>
                </a:solidFill>
              </a:rPr>
              <a:t>(paling umum digunakan)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31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E9FF77-3174-4AAE-9D0E-D3A29A9BAD64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sz="14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US" sz="2800" dirty="0" smtClean="0"/>
          </a:p>
          <a:p>
            <a:pPr>
              <a:defRPr/>
            </a:pPr>
            <a:r>
              <a:rPr lang="en-US" sz="2400" dirty="0" smtClean="0">
                <a:latin typeface="Comic Sans MS" panose="030F0702030302020204" pitchFamily="66" charset="0"/>
              </a:rPr>
              <a:t>NPN : </a:t>
            </a:r>
            <a:r>
              <a:rPr lang="en-US" dirty="0" smtClean="0">
                <a:solidFill>
                  <a:srgbClr val="CC3300"/>
                </a:solidFill>
                <a:latin typeface="Comic Sans MS" panose="030F0702030302020204" pitchFamily="66" charset="0"/>
              </a:rPr>
              <a:t>collector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diberi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tegangan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lebih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positif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dari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emitter.</a:t>
            </a:r>
          </a:p>
          <a:p>
            <a:pPr>
              <a:defRPr/>
            </a:pPr>
            <a:r>
              <a:rPr lang="en-US" sz="2400" dirty="0" smtClean="0">
                <a:latin typeface="Comic Sans MS" panose="030F0702030302020204" pitchFamily="66" charset="0"/>
              </a:rPr>
              <a:t>PNP : </a:t>
            </a:r>
            <a:r>
              <a:rPr lang="en-US" dirty="0" smtClean="0">
                <a:solidFill>
                  <a:srgbClr val="CC3300"/>
                </a:solidFill>
                <a:latin typeface="Comic Sans MS" panose="030F0702030302020204" pitchFamily="66" charset="0"/>
              </a:rPr>
              <a:t>emitter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diberi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tegangan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lebih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positif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dirty="0" err="1">
                <a:solidFill>
                  <a:srgbClr val="CC3300"/>
                </a:solidFill>
                <a:latin typeface="Comic Sans MS" panose="030F0702030302020204" pitchFamily="66" charset="0"/>
              </a:rPr>
              <a:t>dari</a:t>
            </a:r>
            <a:r>
              <a:rPr lang="en-US" dirty="0">
                <a:solidFill>
                  <a:srgbClr val="CC3300"/>
                </a:solidFill>
                <a:latin typeface="Comic Sans MS" panose="030F0702030302020204" pitchFamily="66" charset="0"/>
              </a:rPr>
              <a:t> collector</a:t>
            </a:r>
            <a:r>
              <a:rPr lang="en-US" dirty="0" smtClean="0">
                <a:solidFill>
                  <a:srgbClr val="CC3300"/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defRPr/>
            </a:pPr>
            <a:endParaRPr lang="en-US" dirty="0" smtClean="0">
              <a:solidFill>
                <a:srgbClr val="CC3300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  <a:defRPr/>
            </a:pPr>
            <a:r>
              <a:rPr lang="en-US" sz="2400" dirty="0" err="1">
                <a:latin typeface="Comic Sans MS" panose="030F0702030302020204" pitchFamily="66" charset="0"/>
              </a:rPr>
              <a:t>Catatan</a:t>
            </a:r>
            <a:r>
              <a:rPr lang="en-US" sz="2400" dirty="0">
                <a:latin typeface="Comic Sans MS" panose="030F0702030302020204" pitchFamily="66" charset="0"/>
              </a:rPr>
              <a:t>:</a:t>
            </a:r>
          </a:p>
          <a:p>
            <a:pPr marL="990600" lvl="1" indent="-533400">
              <a:buFont typeface="Wingdings" panose="05000000000000000000" pitchFamily="2" charset="2"/>
              <a:buChar char="Ø"/>
              <a:defRPr/>
            </a:pPr>
            <a:r>
              <a:rPr lang="en-US" dirty="0"/>
              <a:t>Transistor BJT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TRANSISTOR </a:t>
            </a:r>
            <a:r>
              <a:rPr lang="en-US" dirty="0" err="1"/>
              <a:t>saja</a:t>
            </a:r>
            <a:r>
              <a:rPr lang="en-US" dirty="0"/>
              <a:t>.</a:t>
            </a:r>
          </a:p>
          <a:p>
            <a:pPr marL="990600" lvl="1" indent="-533400">
              <a:buFont typeface="Wingdings" panose="05000000000000000000" pitchFamily="2" charset="2"/>
              <a:buChar char="Ø"/>
              <a:defRPr/>
            </a:pPr>
            <a:r>
              <a:rPr lang="en-US" smtClean="0"/>
              <a:t>BJT lebih banyak digunakan dibandingkan FET.</a:t>
            </a:r>
            <a:endParaRPr lang="en-US" dirty="0"/>
          </a:p>
          <a:p>
            <a:pPr marL="990600" lvl="1" indent="-533400">
              <a:buFont typeface="Wingdings" panose="05000000000000000000" pitchFamily="2" charset="2"/>
              <a:buChar char="Ø"/>
              <a:defRPr/>
            </a:pPr>
            <a:r>
              <a:rPr lang="en-US" smtClean="0">
                <a:solidFill>
                  <a:srgbClr val="CC3300"/>
                </a:solidFill>
                <a:latin typeface="Comic Sans MS" panose="030F0702030302020204" pitchFamily="66" charset="0"/>
              </a:rPr>
              <a:t>NPN lebih sering </a:t>
            </a:r>
            <a:r>
              <a:rPr lang="en-US" err="1">
                <a:solidFill>
                  <a:srgbClr val="CC3300"/>
                </a:solidFill>
                <a:latin typeface="Comic Sans MS" panose="030F0702030302020204" pitchFamily="66" charset="0"/>
              </a:rPr>
              <a:t>digunakan</a:t>
            </a:r>
            <a:r>
              <a:rPr lang="en-US">
                <a:solidFill>
                  <a:srgbClr val="CC3300"/>
                </a:solidFill>
                <a:latin typeface="Comic Sans MS" panose="030F0702030302020204" pitchFamily="66" charset="0"/>
              </a:rPr>
              <a:t> </a:t>
            </a:r>
            <a:r>
              <a:rPr lang="en-US" smtClean="0">
                <a:solidFill>
                  <a:srgbClr val="CC3300"/>
                </a:solidFill>
                <a:latin typeface="Comic Sans MS" panose="030F0702030302020204" pitchFamily="66" charset="0"/>
              </a:rPr>
              <a:t>dibandingkan PNP.</a:t>
            </a:r>
            <a:endParaRPr lang="en-US" dirty="0">
              <a:solidFill>
                <a:srgbClr val="CC3300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endParaRPr lang="en-US" dirty="0">
              <a:solidFill>
                <a:srgbClr val="CC3300"/>
              </a:solidFill>
              <a:latin typeface="Comic Sans MS" panose="030F0702030302020204" pitchFamily="66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6295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27758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Struktur</a:t>
            </a:r>
            <a:r>
              <a:rPr lang="en-US" sz="3600" dirty="0" smtClean="0"/>
              <a:t> </a:t>
            </a:r>
            <a:r>
              <a:rPr lang="en-US" sz="3600" dirty="0" err="1"/>
              <a:t>Penyusun</a:t>
            </a:r>
            <a:r>
              <a:rPr lang="en-US" sz="3600" dirty="0"/>
              <a:t> </a:t>
            </a:r>
            <a:r>
              <a:rPr lang="en-US" sz="3600" dirty="0" err="1" smtClean="0"/>
              <a:t>dan</a:t>
            </a:r>
            <a:r>
              <a:rPr lang="en-US" sz="3600" dirty="0" smtClean="0"/>
              <a:t> </a:t>
            </a:r>
            <a:r>
              <a:rPr lang="en-US" sz="3600" dirty="0" err="1" smtClean="0"/>
              <a:t>Simbol</a:t>
            </a:r>
            <a:r>
              <a:rPr lang="en-US" sz="3600" dirty="0" smtClean="0"/>
              <a:t> Transistor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g1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448" y="1292884"/>
            <a:ext cx="4067674" cy="274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984" y="4388906"/>
            <a:ext cx="2324017" cy="1973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82" y="4388906"/>
            <a:ext cx="2284046" cy="197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3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2E75AD-7E26-4743-9C64-061945869F43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sz="1400" smtClean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23850" y="1412875"/>
            <a:ext cx="3549650" cy="3540125"/>
            <a:chOff x="204" y="890"/>
            <a:chExt cx="2236" cy="2230"/>
          </a:xfrm>
        </p:grpSpPr>
        <p:sp>
          <p:nvSpPr>
            <p:cNvPr id="7190" name="Rectangle 8"/>
            <p:cNvSpPr>
              <a:spLocks noChangeArrowheads="1"/>
            </p:cNvSpPr>
            <p:nvPr/>
          </p:nvSpPr>
          <p:spPr bwMode="auto">
            <a:xfrm>
              <a:off x="724" y="1780"/>
              <a:ext cx="1528" cy="424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7191" name="Oval 9"/>
            <p:cNvSpPr>
              <a:spLocks noChangeArrowheads="1"/>
            </p:cNvSpPr>
            <p:nvPr/>
          </p:nvSpPr>
          <p:spPr bwMode="auto">
            <a:xfrm>
              <a:off x="1252" y="1588"/>
              <a:ext cx="520" cy="376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7192" name="Oval 10"/>
            <p:cNvSpPr>
              <a:spLocks noChangeArrowheads="1"/>
            </p:cNvSpPr>
            <p:nvPr/>
          </p:nvSpPr>
          <p:spPr bwMode="auto">
            <a:xfrm>
              <a:off x="1012" y="2068"/>
              <a:ext cx="1048" cy="328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7193" name="Rectangle 11"/>
            <p:cNvSpPr>
              <a:spLocks noChangeArrowheads="1"/>
            </p:cNvSpPr>
            <p:nvPr/>
          </p:nvSpPr>
          <p:spPr bwMode="auto">
            <a:xfrm>
              <a:off x="902" y="1862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 b="1">
                  <a:solidFill>
                    <a:schemeClr val="bg2"/>
                  </a:solidFill>
                </a:rPr>
                <a:t>p</a:t>
              </a:r>
            </a:p>
          </p:txBody>
        </p:sp>
        <p:sp>
          <p:nvSpPr>
            <p:cNvPr id="7194" name="Rectangle 12"/>
            <p:cNvSpPr>
              <a:spLocks noChangeArrowheads="1"/>
            </p:cNvSpPr>
            <p:nvPr/>
          </p:nvSpPr>
          <p:spPr bwMode="auto">
            <a:xfrm>
              <a:off x="1862" y="181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 b="1">
                  <a:solidFill>
                    <a:schemeClr val="bg2"/>
                  </a:solidFill>
                </a:rPr>
                <a:t>p</a:t>
              </a:r>
            </a:p>
          </p:txBody>
        </p:sp>
        <p:sp>
          <p:nvSpPr>
            <p:cNvPr id="7195" name="Rectangle 13"/>
            <p:cNvSpPr>
              <a:spLocks noChangeArrowheads="1"/>
            </p:cNvSpPr>
            <p:nvPr/>
          </p:nvSpPr>
          <p:spPr bwMode="auto">
            <a:xfrm>
              <a:off x="1382" y="2102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 b="1">
                  <a:solidFill>
                    <a:schemeClr val="bg2"/>
                  </a:solidFill>
                </a:rPr>
                <a:t>n</a:t>
              </a:r>
            </a:p>
          </p:txBody>
        </p:sp>
        <p:sp>
          <p:nvSpPr>
            <p:cNvPr id="7196" name="Rectangle 14"/>
            <p:cNvSpPr>
              <a:spLocks noChangeArrowheads="1"/>
            </p:cNvSpPr>
            <p:nvPr/>
          </p:nvSpPr>
          <p:spPr bwMode="auto">
            <a:xfrm>
              <a:off x="1382" y="157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 b="1">
                  <a:solidFill>
                    <a:schemeClr val="bg2"/>
                  </a:solidFill>
                </a:rPr>
                <a:t>n</a:t>
              </a:r>
            </a:p>
          </p:txBody>
        </p:sp>
        <p:sp>
          <p:nvSpPr>
            <p:cNvPr id="7197" name="Line 15"/>
            <p:cNvSpPr>
              <a:spLocks noChangeShapeType="1"/>
            </p:cNvSpPr>
            <p:nvPr/>
          </p:nvSpPr>
          <p:spPr bwMode="auto">
            <a:xfrm>
              <a:off x="204" y="1979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Line 16"/>
            <p:cNvSpPr>
              <a:spLocks noChangeShapeType="1"/>
            </p:cNvSpPr>
            <p:nvPr/>
          </p:nvSpPr>
          <p:spPr bwMode="auto">
            <a:xfrm flipV="1">
              <a:off x="1488" y="1056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17"/>
            <p:cNvSpPr>
              <a:spLocks noChangeShapeType="1"/>
            </p:cNvSpPr>
            <p:nvPr/>
          </p:nvSpPr>
          <p:spPr bwMode="auto">
            <a:xfrm>
              <a:off x="1536" y="240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18"/>
            <p:cNvSpPr>
              <a:spLocks noChangeArrowheads="1"/>
            </p:cNvSpPr>
            <p:nvPr/>
          </p:nvSpPr>
          <p:spPr bwMode="auto">
            <a:xfrm>
              <a:off x="1565" y="2795"/>
              <a:ext cx="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Emitter</a:t>
              </a:r>
            </a:p>
          </p:txBody>
        </p:sp>
        <p:sp>
          <p:nvSpPr>
            <p:cNvPr id="7201" name="Rectangle 19"/>
            <p:cNvSpPr>
              <a:spLocks noChangeArrowheads="1"/>
            </p:cNvSpPr>
            <p:nvPr/>
          </p:nvSpPr>
          <p:spPr bwMode="auto">
            <a:xfrm>
              <a:off x="204" y="1570"/>
              <a:ext cx="5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Basis</a:t>
              </a:r>
            </a:p>
          </p:txBody>
        </p:sp>
        <p:sp>
          <p:nvSpPr>
            <p:cNvPr id="7202" name="Rectangle 20"/>
            <p:cNvSpPr>
              <a:spLocks noChangeArrowheads="1"/>
            </p:cNvSpPr>
            <p:nvPr/>
          </p:nvSpPr>
          <p:spPr bwMode="auto">
            <a:xfrm>
              <a:off x="1565" y="890"/>
              <a:ext cx="8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Collector</a:t>
              </a: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4787900" y="1456531"/>
            <a:ext cx="3802063" cy="3913187"/>
            <a:chOff x="3152" y="709"/>
            <a:chExt cx="2395" cy="2465"/>
          </a:xfrm>
        </p:grpSpPr>
        <p:sp>
          <p:nvSpPr>
            <p:cNvPr id="7176" name="Rectangle 5"/>
            <p:cNvSpPr>
              <a:spLocks noChangeArrowheads="1"/>
            </p:cNvSpPr>
            <p:nvPr/>
          </p:nvSpPr>
          <p:spPr bwMode="auto">
            <a:xfrm>
              <a:off x="4649" y="2886"/>
              <a:ext cx="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Emitter</a:t>
              </a:r>
            </a:p>
          </p:txBody>
        </p:sp>
        <p:sp>
          <p:nvSpPr>
            <p:cNvPr id="7177" name="Rectangle 6"/>
            <p:cNvSpPr>
              <a:spLocks noChangeArrowheads="1"/>
            </p:cNvSpPr>
            <p:nvPr/>
          </p:nvSpPr>
          <p:spPr bwMode="auto">
            <a:xfrm>
              <a:off x="3152" y="1752"/>
              <a:ext cx="5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Basis</a:t>
              </a:r>
            </a:p>
          </p:txBody>
        </p:sp>
        <p:sp>
          <p:nvSpPr>
            <p:cNvPr id="7178" name="Rectangle 7"/>
            <p:cNvSpPr>
              <a:spLocks noChangeArrowheads="1"/>
            </p:cNvSpPr>
            <p:nvPr/>
          </p:nvSpPr>
          <p:spPr bwMode="auto">
            <a:xfrm>
              <a:off x="4558" y="709"/>
              <a:ext cx="8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sz="2400"/>
                <a:t>Collector</a:t>
              </a:r>
            </a:p>
          </p:txBody>
        </p:sp>
        <p:sp>
          <p:nvSpPr>
            <p:cNvPr id="7179" name="Oval 21"/>
            <p:cNvSpPr>
              <a:spLocks noChangeArrowheads="1"/>
            </p:cNvSpPr>
            <p:nvPr/>
          </p:nvSpPr>
          <p:spPr bwMode="auto">
            <a:xfrm flipH="1" flipV="1">
              <a:off x="4328" y="1540"/>
              <a:ext cx="856" cy="76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7180" name="Line 22"/>
            <p:cNvSpPr>
              <a:spLocks noChangeShapeType="1"/>
            </p:cNvSpPr>
            <p:nvPr/>
          </p:nvSpPr>
          <p:spPr bwMode="auto">
            <a:xfrm flipH="1" flipV="1">
              <a:off x="4852" y="225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23"/>
            <p:cNvSpPr>
              <a:spLocks noChangeShapeType="1"/>
            </p:cNvSpPr>
            <p:nvPr/>
          </p:nvSpPr>
          <p:spPr bwMode="auto">
            <a:xfrm flipH="1" flipV="1">
              <a:off x="4516" y="1728"/>
              <a:ext cx="0" cy="384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Line 24"/>
            <p:cNvSpPr>
              <a:spLocks noChangeShapeType="1"/>
            </p:cNvSpPr>
            <p:nvPr/>
          </p:nvSpPr>
          <p:spPr bwMode="auto">
            <a:xfrm flipH="1" flipV="1">
              <a:off x="3844" y="1920"/>
              <a:ext cx="67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Line 25"/>
            <p:cNvSpPr>
              <a:spLocks noChangeShapeType="1"/>
            </p:cNvSpPr>
            <p:nvPr/>
          </p:nvSpPr>
          <p:spPr bwMode="auto">
            <a:xfrm flipH="1" flipV="1">
              <a:off x="4852" y="1056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Line 26"/>
            <p:cNvSpPr>
              <a:spLocks noChangeShapeType="1"/>
            </p:cNvSpPr>
            <p:nvPr/>
          </p:nvSpPr>
          <p:spPr bwMode="auto">
            <a:xfrm flipV="1">
              <a:off x="4516" y="1536"/>
              <a:ext cx="336" cy="28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27"/>
            <p:cNvSpPr>
              <a:spLocks noChangeShapeType="1"/>
            </p:cNvSpPr>
            <p:nvPr/>
          </p:nvSpPr>
          <p:spPr bwMode="auto">
            <a:xfrm flipH="1" flipV="1">
              <a:off x="4515" y="2041"/>
              <a:ext cx="363" cy="226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AutoShape 28"/>
            <p:cNvSpPr>
              <a:spLocks noChangeArrowheads="1"/>
            </p:cNvSpPr>
            <p:nvPr/>
          </p:nvSpPr>
          <p:spPr bwMode="auto">
            <a:xfrm rot="5400000">
              <a:off x="4172" y="2138"/>
              <a:ext cx="227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65 w 21600"/>
                <a:gd name="T13" fmla="*/ 2938 h 21600"/>
                <a:gd name="T14" fmla="*/ 18270 w 21600"/>
                <a:gd name="T15" fmla="*/ 92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AutoShape 29"/>
            <p:cNvSpPr>
              <a:spLocks noChangeArrowheads="1"/>
            </p:cNvSpPr>
            <p:nvPr/>
          </p:nvSpPr>
          <p:spPr bwMode="auto">
            <a:xfrm>
              <a:off x="4967" y="1389"/>
              <a:ext cx="408" cy="998"/>
            </a:xfrm>
            <a:prstGeom prst="downArrow">
              <a:avLst>
                <a:gd name="adj1" fmla="val 50000"/>
                <a:gd name="adj2" fmla="val 61152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7188" name="Text Box 30"/>
            <p:cNvSpPr txBox="1">
              <a:spLocks noChangeArrowheads="1"/>
            </p:cNvSpPr>
            <p:nvPr/>
          </p:nvSpPr>
          <p:spPr bwMode="auto">
            <a:xfrm>
              <a:off x="3878" y="2115"/>
              <a:ext cx="3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b="1"/>
                <a:t>I</a:t>
              </a:r>
              <a:r>
                <a:rPr lang="en-US" b="1" baseline="-25000"/>
                <a:t>B</a:t>
              </a:r>
              <a:endParaRPr lang="en-GB" b="1" baseline="-25000"/>
            </a:p>
          </p:txBody>
        </p:sp>
        <p:sp>
          <p:nvSpPr>
            <p:cNvPr id="7189" name="Text Box 31"/>
            <p:cNvSpPr txBox="1">
              <a:spLocks noChangeArrowheads="1"/>
            </p:cNvSpPr>
            <p:nvPr/>
          </p:nvSpPr>
          <p:spPr bwMode="auto">
            <a:xfrm>
              <a:off x="5239" y="1570"/>
              <a:ext cx="3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b="1">
                  <a:solidFill>
                    <a:srgbClr val="CC3300"/>
                  </a:solidFill>
                </a:rPr>
                <a:t>I</a:t>
              </a:r>
              <a:r>
                <a:rPr lang="en-US" b="1" baseline="-25000">
                  <a:solidFill>
                    <a:srgbClr val="CC3300"/>
                  </a:solidFill>
                </a:rPr>
                <a:t>C</a:t>
              </a:r>
              <a:endParaRPr lang="en-GB" b="1" baseline="-25000">
                <a:solidFill>
                  <a:srgbClr val="CC3300"/>
                </a:solidFill>
              </a:endParaRPr>
            </a:p>
          </p:txBody>
        </p:sp>
      </p:grpSp>
      <p:sp>
        <p:nvSpPr>
          <p:cNvPr id="59426" name="Text Box 34"/>
          <p:cNvSpPr txBox="1">
            <a:spLocks noChangeArrowheads="1"/>
          </p:cNvSpPr>
          <p:nvPr/>
        </p:nvSpPr>
        <p:spPr bwMode="auto">
          <a:xfrm>
            <a:off x="1331913" y="5445125"/>
            <a:ext cx="2151062" cy="5286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b="1"/>
              <a:t>STRUKTUR</a:t>
            </a:r>
            <a:endParaRPr lang="en-GB" sz="2800" b="1"/>
          </a:p>
        </p:txBody>
      </p:sp>
      <p:sp>
        <p:nvSpPr>
          <p:cNvPr id="59427" name="Text Box 35"/>
          <p:cNvSpPr txBox="1">
            <a:spLocks noChangeArrowheads="1"/>
          </p:cNvSpPr>
          <p:nvPr/>
        </p:nvSpPr>
        <p:spPr bwMode="auto">
          <a:xfrm>
            <a:off x="6387956" y="5429755"/>
            <a:ext cx="1576388" cy="5286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b="1"/>
              <a:t>SIMBOL</a:t>
            </a:r>
            <a:endParaRPr lang="en-GB" sz="2800" b="1"/>
          </a:p>
        </p:txBody>
      </p:sp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458200" cy="1143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en-US" sz="3600" b="1" dirty="0" smtClean="0"/>
              <a:t>STRUKTUR DAN SIMBOL </a:t>
            </a:r>
            <a:r>
              <a:rPr lang="en-US" sz="3600" b="1" dirty="0" smtClean="0">
                <a:solidFill>
                  <a:srgbClr val="CC3300"/>
                </a:solidFill>
              </a:rPr>
              <a:t>TRANSISTOR NPN</a:t>
            </a:r>
          </a:p>
        </p:txBody>
      </p:sp>
    </p:spTree>
    <p:extLst>
      <p:ext uri="{BB962C8B-B14F-4D97-AF65-F5344CB8AC3E}">
        <p14:creationId xmlns:p14="http://schemas.microsoft.com/office/powerpoint/2010/main" val="15333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6" grpId="0" animBg="1"/>
      <p:bldP spid="594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B8054-69C9-4644-BA94-62D64D1675FD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sz="1400" smtClean="0"/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7451725" y="1628775"/>
            <a:ext cx="114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Emitter</a:t>
            </a:r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5651500" y="2781300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Basis</a:t>
            </a:r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6732588" y="5084763"/>
            <a:ext cx="132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Colector</a:t>
            </a:r>
          </a:p>
        </p:txBody>
      </p:sp>
      <p:sp>
        <p:nvSpPr>
          <p:cNvPr id="9223" name="Rectangle 8"/>
          <p:cNvSpPr>
            <a:spLocks noChangeArrowheads="1"/>
          </p:cNvSpPr>
          <p:nvPr/>
        </p:nvSpPr>
        <p:spPr bwMode="auto">
          <a:xfrm flipV="1">
            <a:off x="1149350" y="3663950"/>
            <a:ext cx="2425700" cy="6731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9224" name="Oval 9"/>
          <p:cNvSpPr>
            <a:spLocks noChangeArrowheads="1"/>
          </p:cNvSpPr>
          <p:nvPr/>
        </p:nvSpPr>
        <p:spPr bwMode="auto">
          <a:xfrm flipV="1">
            <a:off x="1987550" y="4044950"/>
            <a:ext cx="825500" cy="596900"/>
          </a:xfrm>
          <a:prstGeom prst="ellipse">
            <a:avLst/>
          </a:prstGeom>
          <a:solidFill>
            <a:srgbClr val="FF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9225" name="Oval 10"/>
          <p:cNvSpPr>
            <a:spLocks noChangeArrowheads="1"/>
          </p:cNvSpPr>
          <p:nvPr/>
        </p:nvSpPr>
        <p:spPr bwMode="auto">
          <a:xfrm flipV="1">
            <a:off x="1606550" y="3359150"/>
            <a:ext cx="1663700" cy="520700"/>
          </a:xfrm>
          <a:prstGeom prst="ellipse">
            <a:avLst/>
          </a:prstGeom>
          <a:solidFill>
            <a:srgbClr val="FF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9226" name="Rectangle 11"/>
          <p:cNvSpPr>
            <a:spLocks noChangeArrowheads="1"/>
          </p:cNvSpPr>
          <p:nvPr/>
        </p:nvSpPr>
        <p:spPr bwMode="auto">
          <a:xfrm>
            <a:off x="1476375" y="3716338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>
                <a:solidFill>
                  <a:schemeClr val="bg2"/>
                </a:solidFill>
              </a:rPr>
              <a:t>n</a:t>
            </a:r>
          </a:p>
        </p:txBody>
      </p:sp>
      <p:sp>
        <p:nvSpPr>
          <p:cNvPr id="9227" name="Rectangle 12"/>
          <p:cNvSpPr>
            <a:spLocks noChangeArrowheads="1"/>
          </p:cNvSpPr>
          <p:nvPr/>
        </p:nvSpPr>
        <p:spPr bwMode="auto">
          <a:xfrm>
            <a:off x="2955925" y="38258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>
                <a:solidFill>
                  <a:schemeClr val="bg2"/>
                </a:solidFill>
              </a:rPr>
              <a:t>n</a:t>
            </a:r>
          </a:p>
        </p:txBody>
      </p:sp>
      <p:sp>
        <p:nvSpPr>
          <p:cNvPr id="9228" name="Rectangle 13"/>
          <p:cNvSpPr>
            <a:spLocks noChangeArrowheads="1"/>
          </p:cNvSpPr>
          <p:nvPr/>
        </p:nvSpPr>
        <p:spPr bwMode="auto">
          <a:xfrm>
            <a:off x="2193925" y="33686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>
                <a:solidFill>
                  <a:schemeClr val="bg2"/>
                </a:solidFill>
              </a:rPr>
              <a:t>p</a:t>
            </a:r>
          </a:p>
        </p:txBody>
      </p:sp>
      <p:sp>
        <p:nvSpPr>
          <p:cNvPr id="9229" name="Rectangle 14"/>
          <p:cNvSpPr>
            <a:spLocks noChangeArrowheads="1"/>
          </p:cNvSpPr>
          <p:nvPr/>
        </p:nvSpPr>
        <p:spPr bwMode="auto">
          <a:xfrm>
            <a:off x="2193925" y="42068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>
                <a:solidFill>
                  <a:schemeClr val="bg2"/>
                </a:solidFill>
              </a:rPr>
              <a:t>p</a:t>
            </a:r>
          </a:p>
        </p:txBody>
      </p:sp>
      <p:sp>
        <p:nvSpPr>
          <p:cNvPr id="9230" name="Line 15"/>
          <p:cNvSpPr>
            <a:spLocks noChangeShapeType="1"/>
          </p:cNvSpPr>
          <p:nvPr/>
        </p:nvSpPr>
        <p:spPr bwMode="auto">
          <a:xfrm flipV="1">
            <a:off x="323850" y="40767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6"/>
          <p:cNvSpPr>
            <a:spLocks noChangeShapeType="1"/>
          </p:cNvSpPr>
          <p:nvPr/>
        </p:nvSpPr>
        <p:spPr bwMode="auto">
          <a:xfrm>
            <a:off x="2362200" y="46482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 flipV="1">
            <a:off x="2438400" y="22098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Rectangle 18"/>
          <p:cNvSpPr>
            <a:spLocks noChangeArrowheads="1"/>
          </p:cNvSpPr>
          <p:nvPr/>
        </p:nvSpPr>
        <p:spPr bwMode="auto">
          <a:xfrm>
            <a:off x="2700338" y="2565400"/>
            <a:ext cx="1065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Emiter</a:t>
            </a:r>
          </a:p>
        </p:txBody>
      </p:sp>
      <p:sp>
        <p:nvSpPr>
          <p:cNvPr id="9234" name="Rectangle 19"/>
          <p:cNvSpPr>
            <a:spLocks noChangeArrowheads="1"/>
          </p:cNvSpPr>
          <p:nvPr/>
        </p:nvSpPr>
        <p:spPr bwMode="auto">
          <a:xfrm>
            <a:off x="250825" y="4149725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Basis</a:t>
            </a:r>
          </a:p>
        </p:txBody>
      </p:sp>
      <p:sp>
        <p:nvSpPr>
          <p:cNvPr id="9235" name="Rectangle 20"/>
          <p:cNvSpPr>
            <a:spLocks noChangeArrowheads="1"/>
          </p:cNvSpPr>
          <p:nvPr/>
        </p:nvSpPr>
        <p:spPr bwMode="auto">
          <a:xfrm>
            <a:off x="2627313" y="4868863"/>
            <a:ext cx="132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Colector</a:t>
            </a:r>
          </a:p>
        </p:txBody>
      </p:sp>
      <p:grpSp>
        <p:nvGrpSpPr>
          <p:cNvPr id="9236" name="Group 21"/>
          <p:cNvGrpSpPr>
            <a:grpSpLocks/>
          </p:cNvGrpSpPr>
          <p:nvPr/>
        </p:nvGrpSpPr>
        <p:grpSpPr bwMode="auto">
          <a:xfrm flipH="1">
            <a:off x="6084888" y="2205038"/>
            <a:ext cx="2144712" cy="2676525"/>
            <a:chOff x="3833" y="1408"/>
            <a:chExt cx="1351" cy="1686"/>
          </a:xfrm>
        </p:grpSpPr>
        <p:sp>
          <p:nvSpPr>
            <p:cNvPr id="9241" name="Oval 22"/>
            <p:cNvSpPr>
              <a:spLocks noChangeArrowheads="1"/>
            </p:cNvSpPr>
            <p:nvPr/>
          </p:nvSpPr>
          <p:spPr bwMode="auto">
            <a:xfrm>
              <a:off x="3833" y="1888"/>
              <a:ext cx="856" cy="76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id-ID" sz="1800"/>
            </a:p>
          </p:txBody>
        </p:sp>
        <p:sp>
          <p:nvSpPr>
            <p:cNvPr id="9242" name="Line 23"/>
            <p:cNvSpPr>
              <a:spLocks noChangeShapeType="1"/>
            </p:cNvSpPr>
            <p:nvPr/>
          </p:nvSpPr>
          <p:spPr bwMode="auto">
            <a:xfrm>
              <a:off x="4195" y="1408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24"/>
            <p:cNvSpPr>
              <a:spLocks noChangeShapeType="1"/>
            </p:cNvSpPr>
            <p:nvPr/>
          </p:nvSpPr>
          <p:spPr bwMode="auto">
            <a:xfrm>
              <a:off x="4512" y="2016"/>
              <a:ext cx="0" cy="384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Line 25"/>
            <p:cNvSpPr>
              <a:spLocks noChangeShapeType="1"/>
            </p:cNvSpPr>
            <p:nvPr/>
          </p:nvSpPr>
          <p:spPr bwMode="auto">
            <a:xfrm>
              <a:off x="4512" y="2208"/>
              <a:ext cx="672" cy="0"/>
            </a:xfrm>
            <a:prstGeom prst="line">
              <a:avLst/>
            </a:prstGeom>
            <a:noFill/>
            <a:ln w="57150">
              <a:solidFill>
                <a:srgbClr val="00FF9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Line 26"/>
            <p:cNvSpPr>
              <a:spLocks noChangeShapeType="1"/>
            </p:cNvSpPr>
            <p:nvPr/>
          </p:nvSpPr>
          <p:spPr bwMode="auto">
            <a:xfrm>
              <a:off x="4195" y="2614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Line 27"/>
            <p:cNvSpPr>
              <a:spLocks noChangeShapeType="1"/>
            </p:cNvSpPr>
            <p:nvPr/>
          </p:nvSpPr>
          <p:spPr bwMode="auto">
            <a:xfrm flipH="1">
              <a:off x="4195" y="2296"/>
              <a:ext cx="318" cy="318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28"/>
            <p:cNvSpPr>
              <a:spLocks noChangeShapeType="1"/>
            </p:cNvSpPr>
            <p:nvPr/>
          </p:nvSpPr>
          <p:spPr bwMode="auto">
            <a:xfrm>
              <a:off x="4195" y="1888"/>
              <a:ext cx="318" cy="227"/>
            </a:xfrm>
            <a:prstGeom prst="line">
              <a:avLst/>
            </a:prstGeom>
            <a:noFill/>
            <a:ln w="889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7" name="AutoShape 29"/>
          <p:cNvSpPr>
            <a:spLocks noChangeArrowheads="1"/>
          </p:cNvSpPr>
          <p:nvPr/>
        </p:nvSpPr>
        <p:spPr bwMode="auto">
          <a:xfrm rot="10800000">
            <a:off x="6877050" y="2636838"/>
            <a:ext cx="574675" cy="360362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AutoShape 30"/>
          <p:cNvSpPr>
            <a:spLocks noChangeArrowheads="1"/>
          </p:cNvSpPr>
          <p:nvPr/>
        </p:nvSpPr>
        <p:spPr bwMode="auto">
          <a:xfrm>
            <a:off x="7885113" y="2781300"/>
            <a:ext cx="790575" cy="1800225"/>
          </a:xfrm>
          <a:prstGeom prst="downArrow">
            <a:avLst>
              <a:gd name="adj1" fmla="val 50000"/>
              <a:gd name="adj2" fmla="val 5692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9239" name="Text Box 31"/>
          <p:cNvSpPr txBox="1">
            <a:spLocks noChangeArrowheads="1"/>
          </p:cNvSpPr>
          <p:nvPr/>
        </p:nvSpPr>
        <p:spPr bwMode="auto">
          <a:xfrm>
            <a:off x="6732588" y="2205038"/>
            <a:ext cx="488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b="1"/>
              <a:t>I</a:t>
            </a:r>
            <a:r>
              <a:rPr lang="en-US" b="1" baseline="-25000"/>
              <a:t>B</a:t>
            </a:r>
            <a:endParaRPr lang="en-GB" b="1" baseline="-25000"/>
          </a:p>
        </p:txBody>
      </p:sp>
      <p:sp>
        <p:nvSpPr>
          <p:cNvPr id="9240" name="Text Box 32"/>
          <p:cNvSpPr txBox="1">
            <a:spLocks noChangeArrowheads="1"/>
          </p:cNvSpPr>
          <p:nvPr/>
        </p:nvSpPr>
        <p:spPr bwMode="auto">
          <a:xfrm>
            <a:off x="8459788" y="3213100"/>
            <a:ext cx="48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CC3300"/>
                </a:solidFill>
              </a:rPr>
              <a:t>I</a:t>
            </a:r>
            <a:r>
              <a:rPr lang="en-US" b="1" baseline="-25000">
                <a:solidFill>
                  <a:srgbClr val="CC3300"/>
                </a:solidFill>
              </a:rPr>
              <a:t>C</a:t>
            </a:r>
            <a:endParaRPr lang="en-GB" b="1" baseline="-25000">
              <a:solidFill>
                <a:srgbClr val="CC3300"/>
              </a:solidFill>
            </a:endParaRP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458200" cy="1143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en-US" sz="3600" b="1" dirty="0" smtClean="0"/>
              <a:t>STRUKTUR DAN SIMBOL </a:t>
            </a:r>
            <a:r>
              <a:rPr lang="en-US" sz="3600" b="1" dirty="0" smtClean="0">
                <a:solidFill>
                  <a:srgbClr val="CC3300"/>
                </a:solidFill>
              </a:rPr>
              <a:t>TRANSISTOR PNP</a:t>
            </a:r>
          </a:p>
        </p:txBody>
      </p:sp>
    </p:spTree>
    <p:extLst>
      <p:ext uri="{BB962C8B-B14F-4D97-AF65-F5344CB8AC3E}">
        <p14:creationId xmlns:p14="http://schemas.microsoft.com/office/powerpoint/2010/main" val="190913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289E0C-E9C4-4D15-8E25-A7051F9B3B6D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sz="1400" smtClean="0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914400" y="457200"/>
            <a:ext cx="7772400" cy="10128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TRANSISTOR NPN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05200" y="2895600"/>
            <a:ext cx="1905000" cy="3086100"/>
            <a:chOff x="7200" y="4680"/>
            <a:chExt cx="1620" cy="2700"/>
          </a:xfrm>
        </p:grpSpPr>
        <p:grpSp>
          <p:nvGrpSpPr>
            <p:cNvPr id="23572" name="Group 6"/>
            <p:cNvGrpSpPr>
              <a:grpSpLocks/>
            </p:cNvGrpSpPr>
            <p:nvPr/>
          </p:nvGrpSpPr>
          <p:grpSpPr bwMode="auto">
            <a:xfrm>
              <a:off x="7200" y="4680"/>
              <a:ext cx="1620" cy="2700"/>
              <a:chOff x="9575" y="4003"/>
              <a:chExt cx="865" cy="2522"/>
            </a:xfrm>
          </p:grpSpPr>
          <p:sp>
            <p:nvSpPr>
              <p:cNvPr id="23574" name="Line 7"/>
              <p:cNvSpPr>
                <a:spLocks noChangeShapeType="1"/>
              </p:cNvSpPr>
              <p:nvPr/>
            </p:nvSpPr>
            <p:spPr bwMode="auto">
              <a:xfrm flipV="1">
                <a:off x="10439" y="5894"/>
                <a:ext cx="1" cy="631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5" name="Line 8"/>
              <p:cNvSpPr>
                <a:spLocks noChangeShapeType="1"/>
              </p:cNvSpPr>
              <p:nvPr/>
            </p:nvSpPr>
            <p:spPr bwMode="auto">
              <a:xfrm flipH="1">
                <a:off x="10007" y="4633"/>
                <a:ext cx="432" cy="315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6" name="Line 9"/>
              <p:cNvSpPr>
                <a:spLocks noChangeShapeType="1"/>
              </p:cNvSpPr>
              <p:nvPr/>
            </p:nvSpPr>
            <p:spPr bwMode="auto">
              <a:xfrm flipH="1" flipV="1">
                <a:off x="10007" y="5579"/>
                <a:ext cx="432" cy="315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7" name="Line 10"/>
              <p:cNvSpPr>
                <a:spLocks noChangeShapeType="1"/>
              </p:cNvSpPr>
              <p:nvPr/>
            </p:nvSpPr>
            <p:spPr bwMode="auto">
              <a:xfrm>
                <a:off x="10007" y="4633"/>
                <a:ext cx="1" cy="1261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8" name="Line 11"/>
              <p:cNvSpPr>
                <a:spLocks noChangeShapeType="1"/>
              </p:cNvSpPr>
              <p:nvPr/>
            </p:nvSpPr>
            <p:spPr bwMode="auto">
              <a:xfrm>
                <a:off x="9575" y="5264"/>
                <a:ext cx="432" cy="1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9" name="Line 12"/>
              <p:cNvSpPr>
                <a:spLocks noChangeShapeType="1"/>
              </p:cNvSpPr>
              <p:nvPr/>
            </p:nvSpPr>
            <p:spPr bwMode="auto">
              <a:xfrm>
                <a:off x="10439" y="4003"/>
                <a:ext cx="1" cy="630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73" name="Line 13"/>
            <p:cNvSpPr>
              <a:spLocks noChangeShapeType="1"/>
            </p:cNvSpPr>
            <p:nvPr/>
          </p:nvSpPr>
          <p:spPr bwMode="auto">
            <a:xfrm>
              <a:off x="8280" y="6480"/>
              <a:ext cx="419" cy="18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2743200" y="3733800"/>
            <a:ext cx="83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B</a:t>
            </a:r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5638800" y="2133600"/>
            <a:ext cx="914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C</a:t>
            </a:r>
          </a:p>
        </p:txBody>
      </p:sp>
      <p:sp>
        <p:nvSpPr>
          <p:cNvPr id="26640" name="Text Box 16"/>
          <p:cNvSpPr txBox="1">
            <a:spLocks noChangeArrowheads="1"/>
          </p:cNvSpPr>
          <p:nvPr/>
        </p:nvSpPr>
        <p:spPr bwMode="auto">
          <a:xfrm>
            <a:off x="5638800" y="5257800"/>
            <a:ext cx="5572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E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133600" y="5257800"/>
            <a:ext cx="2209800" cy="992188"/>
            <a:chOff x="912" y="3120"/>
            <a:chExt cx="1392" cy="625"/>
          </a:xfrm>
        </p:grpSpPr>
        <p:sp>
          <p:nvSpPr>
            <p:cNvPr id="23570" name="AutoShape 18"/>
            <p:cNvSpPr>
              <a:spLocks noChangeArrowheads="1"/>
            </p:cNvSpPr>
            <p:nvPr/>
          </p:nvSpPr>
          <p:spPr bwMode="auto">
            <a:xfrm rot="10800000">
              <a:off x="912" y="3120"/>
              <a:ext cx="1392" cy="624"/>
            </a:xfrm>
            <a:prstGeom prst="wedgeRectCallout">
              <a:avLst>
                <a:gd name="adj1" fmla="val -45981"/>
                <a:gd name="adj2" fmla="val 9214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id-ID" sz="1800">
                <a:latin typeface="Verdana" panose="020B0604030504040204" pitchFamily="34" charset="0"/>
              </a:endParaRPr>
            </a:p>
          </p:txBody>
        </p:sp>
        <p:sp>
          <p:nvSpPr>
            <p:cNvPr id="23571" name="Text Box 19"/>
            <p:cNvSpPr txBox="1">
              <a:spLocks noChangeArrowheads="1"/>
            </p:cNvSpPr>
            <p:nvPr/>
          </p:nvSpPr>
          <p:spPr bwMode="auto">
            <a:xfrm>
              <a:off x="912" y="3168"/>
              <a:ext cx="139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Comic Sans MS" panose="030F0702030302020204" pitchFamily="66" charset="0"/>
                </a:rPr>
                <a:t>Sambungan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Comic Sans MS" panose="030F0702030302020204" pitchFamily="66" charset="0"/>
                </a:rPr>
                <a:t>basis emiter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Comic Sans MS" panose="030F0702030302020204" pitchFamily="66" charset="0"/>
                </a:rPr>
                <a:t>selalu menghantar 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286000" y="1752600"/>
            <a:ext cx="2057400" cy="1676400"/>
            <a:chOff x="1440" y="1104"/>
            <a:chExt cx="1296" cy="1056"/>
          </a:xfrm>
        </p:grpSpPr>
        <p:sp>
          <p:nvSpPr>
            <p:cNvPr id="23568" name="AutoShape 21"/>
            <p:cNvSpPr>
              <a:spLocks noChangeArrowheads="1"/>
            </p:cNvSpPr>
            <p:nvPr/>
          </p:nvSpPr>
          <p:spPr bwMode="auto">
            <a:xfrm>
              <a:off x="1440" y="1104"/>
              <a:ext cx="1296" cy="1056"/>
            </a:xfrm>
            <a:prstGeom prst="wedgeRoundRectCallout">
              <a:avLst>
                <a:gd name="adj1" fmla="val 48069"/>
                <a:gd name="adj2" fmla="val 79449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id-ID" sz="1800">
                <a:latin typeface="Verdana" panose="020B0604030504040204" pitchFamily="34" charset="0"/>
              </a:endParaRPr>
            </a:p>
          </p:txBody>
        </p:sp>
        <p:sp>
          <p:nvSpPr>
            <p:cNvPr id="23569" name="Text Box 22"/>
            <p:cNvSpPr txBox="1">
              <a:spLocks noChangeArrowheads="1"/>
            </p:cNvSpPr>
            <p:nvPr/>
          </p:nvSpPr>
          <p:spPr bwMode="auto">
            <a:xfrm>
              <a:off x="1536" y="1248"/>
              <a:ext cx="120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Comic Sans MS" panose="030F0702030302020204" pitchFamily="66" charset="0"/>
                </a:rPr>
                <a:t>Sambungan basis kolektor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 b="1">
                  <a:solidFill>
                    <a:srgbClr val="000000"/>
                  </a:solidFill>
                  <a:latin typeface="Comic Sans MS" panose="030F0702030302020204" pitchFamily="66" charset="0"/>
                </a:rPr>
                <a:t>selalu tidak menghantar </a:t>
              </a:r>
            </a:p>
          </p:txBody>
        </p:sp>
      </p:grp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6705600" y="3048000"/>
            <a:ext cx="1692275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rgbClr val="000000"/>
                </a:solidFill>
              </a:rPr>
              <a:t>I</a:t>
            </a:r>
            <a:r>
              <a:rPr lang="en-US" sz="3600" b="1" baseline="-25000">
                <a:solidFill>
                  <a:srgbClr val="000000"/>
                </a:solidFill>
              </a:rPr>
              <a:t>C</a:t>
            </a:r>
            <a:r>
              <a:rPr lang="en-US" sz="3600" b="1">
                <a:solidFill>
                  <a:srgbClr val="000000"/>
                </a:solidFill>
              </a:rPr>
              <a:t>=</a:t>
            </a:r>
            <a:r>
              <a:rPr lang="en-US" sz="3600" b="1">
                <a:solidFill>
                  <a:srgbClr val="000000"/>
                </a:solidFill>
                <a:sym typeface="Symbol" panose="05050102010706020507" pitchFamily="18" charset="2"/>
              </a:rPr>
              <a:t></a:t>
            </a:r>
            <a:r>
              <a:rPr lang="en-US" sz="3600" b="1">
                <a:solidFill>
                  <a:srgbClr val="000000"/>
                </a:solidFill>
              </a:rPr>
              <a:t>I</a:t>
            </a:r>
            <a:r>
              <a:rPr lang="en-US" sz="3600" b="1" baseline="-250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6648" name="AutoShape 24"/>
          <p:cNvSpPr>
            <a:spLocks noChangeArrowheads="1"/>
          </p:cNvSpPr>
          <p:nvPr/>
        </p:nvSpPr>
        <p:spPr bwMode="auto">
          <a:xfrm>
            <a:off x="5410200" y="3429000"/>
            <a:ext cx="685800" cy="1447800"/>
          </a:xfrm>
          <a:prstGeom prst="downArrow">
            <a:avLst>
              <a:gd name="adj1" fmla="val 50000"/>
              <a:gd name="adj2" fmla="val 52778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3048000" y="4419600"/>
            <a:ext cx="625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chemeClr val="hlink"/>
                </a:solidFill>
              </a:rPr>
              <a:t>I</a:t>
            </a:r>
            <a:r>
              <a:rPr lang="en-US" sz="3600" b="1" baseline="-25000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6248400" y="4038600"/>
            <a:ext cx="60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chemeClr val="hlink"/>
                </a:solidFill>
              </a:rPr>
              <a:t>I</a:t>
            </a:r>
            <a:r>
              <a:rPr lang="en-US" sz="3600" b="1" baseline="-25000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26651" name="AutoShape 27"/>
          <p:cNvSpPr>
            <a:spLocks noChangeArrowheads="1"/>
          </p:cNvSpPr>
          <p:nvPr/>
        </p:nvSpPr>
        <p:spPr bwMode="auto">
          <a:xfrm>
            <a:off x="3429000" y="45720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23567" name="AutoShape 28"/>
          <p:cNvSpPr>
            <a:spLocks noChangeArrowheads="1"/>
          </p:cNvSpPr>
          <p:nvPr/>
        </p:nvSpPr>
        <p:spPr bwMode="auto">
          <a:xfrm rot="989844">
            <a:off x="4191000" y="46482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</p:spTree>
    <p:extLst>
      <p:ext uri="{BB962C8B-B14F-4D97-AF65-F5344CB8AC3E}">
        <p14:creationId xmlns:p14="http://schemas.microsoft.com/office/powerpoint/2010/main" val="131825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6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8" grpId="0"/>
      <p:bldP spid="26639" grpId="0"/>
      <p:bldP spid="26640" grpId="0"/>
      <p:bldP spid="26648" grpId="0" animBg="1"/>
      <p:bldP spid="26649" grpId="0"/>
      <p:bldP spid="26650" grpId="0"/>
      <p:bldP spid="266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A3CFD2-D916-490B-8E99-CBFEBBA4CB48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sz="1400" smtClean="0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914400" y="457200"/>
            <a:ext cx="7772400" cy="10128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b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TRANSISTOR PNP</a:t>
            </a:r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505200" y="2895600"/>
            <a:ext cx="1905000" cy="3086100"/>
            <a:chOff x="9575" y="4003"/>
            <a:chExt cx="865" cy="2522"/>
          </a:xfrm>
        </p:grpSpPr>
        <p:sp>
          <p:nvSpPr>
            <p:cNvPr id="24595" name="Line 5"/>
            <p:cNvSpPr>
              <a:spLocks noChangeShapeType="1"/>
            </p:cNvSpPr>
            <p:nvPr/>
          </p:nvSpPr>
          <p:spPr bwMode="auto">
            <a:xfrm flipV="1">
              <a:off x="10439" y="5894"/>
              <a:ext cx="1" cy="631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Line 6"/>
            <p:cNvSpPr>
              <a:spLocks noChangeShapeType="1"/>
            </p:cNvSpPr>
            <p:nvPr/>
          </p:nvSpPr>
          <p:spPr bwMode="auto">
            <a:xfrm flipH="1">
              <a:off x="10007" y="4633"/>
              <a:ext cx="432" cy="315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Line 7"/>
            <p:cNvSpPr>
              <a:spLocks noChangeShapeType="1"/>
            </p:cNvSpPr>
            <p:nvPr/>
          </p:nvSpPr>
          <p:spPr bwMode="auto">
            <a:xfrm flipH="1" flipV="1">
              <a:off x="10007" y="5579"/>
              <a:ext cx="432" cy="315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Line 8"/>
            <p:cNvSpPr>
              <a:spLocks noChangeShapeType="1"/>
            </p:cNvSpPr>
            <p:nvPr/>
          </p:nvSpPr>
          <p:spPr bwMode="auto">
            <a:xfrm>
              <a:off x="10007" y="4633"/>
              <a:ext cx="1" cy="1261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Line 9"/>
            <p:cNvSpPr>
              <a:spLocks noChangeShapeType="1"/>
            </p:cNvSpPr>
            <p:nvPr/>
          </p:nvSpPr>
          <p:spPr bwMode="auto">
            <a:xfrm>
              <a:off x="9575" y="5264"/>
              <a:ext cx="432" cy="1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Line 10"/>
            <p:cNvSpPr>
              <a:spLocks noChangeShapeType="1"/>
            </p:cNvSpPr>
            <p:nvPr/>
          </p:nvSpPr>
          <p:spPr bwMode="auto">
            <a:xfrm>
              <a:off x="10439" y="4003"/>
              <a:ext cx="1" cy="63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1" name="Line 11"/>
          <p:cNvSpPr>
            <a:spLocks noChangeShapeType="1"/>
          </p:cNvSpPr>
          <p:nvPr/>
        </p:nvSpPr>
        <p:spPr bwMode="auto">
          <a:xfrm flipH="1">
            <a:off x="4643438" y="3716338"/>
            <a:ext cx="576262" cy="288925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2743200" y="3733800"/>
            <a:ext cx="83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B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5651500" y="5589588"/>
            <a:ext cx="914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C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5508625" y="2205038"/>
            <a:ext cx="5572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4400" b="1"/>
              <a:t>E</a:t>
            </a:r>
          </a:p>
        </p:txBody>
      </p:sp>
      <p:sp>
        <p:nvSpPr>
          <p:cNvPr id="24585" name="AutoShape 16"/>
          <p:cNvSpPr>
            <a:spLocks noChangeArrowheads="1"/>
          </p:cNvSpPr>
          <p:nvPr/>
        </p:nvSpPr>
        <p:spPr bwMode="auto">
          <a:xfrm rot="10800000">
            <a:off x="2627313" y="1844675"/>
            <a:ext cx="2209800" cy="990600"/>
          </a:xfrm>
          <a:prstGeom prst="wedgeRectCallout">
            <a:avLst>
              <a:gd name="adj1" fmla="val -39440"/>
              <a:gd name="adj2" fmla="val -1129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id-ID" sz="1800">
              <a:latin typeface="Verdana" panose="020B0604030504040204" pitchFamily="34" charset="0"/>
            </a:endParaRPr>
          </a:p>
        </p:txBody>
      </p:sp>
      <p:sp>
        <p:nvSpPr>
          <p:cNvPr id="24586" name="Text Box 17"/>
          <p:cNvSpPr txBox="1">
            <a:spLocks noChangeArrowheads="1"/>
          </p:cNvSpPr>
          <p:nvPr/>
        </p:nvSpPr>
        <p:spPr bwMode="auto">
          <a:xfrm>
            <a:off x="2627313" y="1920875"/>
            <a:ext cx="2209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000000"/>
                </a:solidFill>
                <a:latin typeface="Comic Sans MS" panose="030F0702030302020204" pitchFamily="66" charset="0"/>
              </a:rPr>
              <a:t>Sambungan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000000"/>
                </a:solidFill>
                <a:latin typeface="Comic Sans MS" panose="030F0702030302020204" pitchFamily="66" charset="0"/>
              </a:rPr>
              <a:t>basis emiter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000000"/>
                </a:solidFill>
                <a:latin typeface="Comic Sans MS" panose="030F0702030302020204" pitchFamily="66" charset="0"/>
              </a:rPr>
              <a:t>selalu menghantar </a:t>
            </a:r>
          </a:p>
        </p:txBody>
      </p:sp>
      <p:sp>
        <p:nvSpPr>
          <p:cNvPr id="24587" name="AutoShape 19"/>
          <p:cNvSpPr>
            <a:spLocks noChangeArrowheads="1"/>
          </p:cNvSpPr>
          <p:nvPr/>
        </p:nvSpPr>
        <p:spPr bwMode="auto">
          <a:xfrm>
            <a:off x="827088" y="4868863"/>
            <a:ext cx="2057400" cy="1676400"/>
          </a:xfrm>
          <a:prstGeom prst="wedgeRoundRectCallout">
            <a:avLst>
              <a:gd name="adj1" fmla="val 110880"/>
              <a:gd name="adj2" fmla="val -4782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id-ID" sz="1800">
              <a:latin typeface="Verdana" panose="020B0604030504040204" pitchFamily="34" charset="0"/>
            </a:endParaRPr>
          </a:p>
        </p:txBody>
      </p:sp>
      <p:sp>
        <p:nvSpPr>
          <p:cNvPr id="24588" name="Text Box 20"/>
          <p:cNvSpPr txBox="1">
            <a:spLocks noChangeArrowheads="1"/>
          </p:cNvSpPr>
          <p:nvPr/>
        </p:nvSpPr>
        <p:spPr bwMode="auto">
          <a:xfrm>
            <a:off x="979488" y="5097463"/>
            <a:ext cx="1905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000000"/>
                </a:solidFill>
                <a:latin typeface="Comic Sans MS" panose="030F0702030302020204" pitchFamily="66" charset="0"/>
              </a:rPr>
              <a:t>Sambungan basis kolektor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 b="1">
                <a:solidFill>
                  <a:srgbClr val="000000"/>
                </a:solidFill>
                <a:latin typeface="Comic Sans MS" panose="030F0702030302020204" pitchFamily="66" charset="0"/>
              </a:rPr>
              <a:t>selalu tidak menghantar 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6705600" y="3048000"/>
            <a:ext cx="1692275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rgbClr val="000000"/>
                </a:solidFill>
              </a:rPr>
              <a:t>I</a:t>
            </a:r>
            <a:r>
              <a:rPr lang="en-US" sz="3600" b="1" baseline="-25000">
                <a:solidFill>
                  <a:srgbClr val="000000"/>
                </a:solidFill>
              </a:rPr>
              <a:t>C</a:t>
            </a:r>
            <a:r>
              <a:rPr lang="en-US" sz="3600" b="1">
                <a:solidFill>
                  <a:srgbClr val="000000"/>
                </a:solidFill>
              </a:rPr>
              <a:t>=</a:t>
            </a:r>
            <a:r>
              <a:rPr lang="en-US" sz="3600" b="1">
                <a:solidFill>
                  <a:srgbClr val="000000"/>
                </a:solidFill>
                <a:sym typeface="Symbol" panose="05050102010706020507" pitchFamily="18" charset="2"/>
              </a:rPr>
              <a:t></a:t>
            </a:r>
            <a:r>
              <a:rPr lang="en-US" sz="3600" b="1">
                <a:solidFill>
                  <a:srgbClr val="000000"/>
                </a:solidFill>
              </a:rPr>
              <a:t>I</a:t>
            </a:r>
            <a:r>
              <a:rPr lang="en-US" sz="3600" b="1" baseline="-250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7670" name="AutoShape 22"/>
          <p:cNvSpPr>
            <a:spLocks noChangeArrowheads="1"/>
          </p:cNvSpPr>
          <p:nvPr/>
        </p:nvSpPr>
        <p:spPr bwMode="auto">
          <a:xfrm>
            <a:off x="5435600" y="3789363"/>
            <a:ext cx="685800" cy="1447800"/>
          </a:xfrm>
          <a:prstGeom prst="downArrow">
            <a:avLst>
              <a:gd name="adj1" fmla="val 50000"/>
              <a:gd name="adj2" fmla="val 52778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3492500" y="3141663"/>
            <a:ext cx="625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chemeClr val="hlink"/>
                </a:solidFill>
              </a:rPr>
              <a:t>I</a:t>
            </a:r>
            <a:r>
              <a:rPr lang="en-US" sz="3600" b="1" baseline="-25000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6248400" y="4038600"/>
            <a:ext cx="60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3600" b="1">
                <a:solidFill>
                  <a:schemeClr val="hlink"/>
                </a:solidFill>
              </a:rPr>
              <a:t>I</a:t>
            </a:r>
            <a:r>
              <a:rPr lang="en-US" sz="3600" b="1" baseline="-25000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27673" name="AutoShape 25"/>
          <p:cNvSpPr>
            <a:spLocks noChangeArrowheads="1"/>
          </p:cNvSpPr>
          <p:nvPr/>
        </p:nvSpPr>
        <p:spPr bwMode="auto">
          <a:xfrm rot="7843926">
            <a:off x="4559300" y="3370263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  <p:sp>
        <p:nvSpPr>
          <p:cNvPr id="24594" name="AutoShape 26"/>
          <p:cNvSpPr>
            <a:spLocks noChangeArrowheads="1"/>
          </p:cNvSpPr>
          <p:nvPr/>
        </p:nvSpPr>
        <p:spPr bwMode="auto">
          <a:xfrm rot="10800000">
            <a:off x="3563938" y="4076700"/>
            <a:ext cx="685800" cy="144463"/>
          </a:xfrm>
          <a:prstGeom prst="rightArrow">
            <a:avLst>
              <a:gd name="adj1" fmla="val 50000"/>
              <a:gd name="adj2" fmla="val 118681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sz="1800"/>
          </a:p>
        </p:txBody>
      </p:sp>
    </p:spTree>
    <p:extLst>
      <p:ext uri="{BB962C8B-B14F-4D97-AF65-F5344CB8AC3E}">
        <p14:creationId xmlns:p14="http://schemas.microsoft.com/office/powerpoint/2010/main" val="417760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/>
      <p:bldP spid="27661" grpId="0"/>
      <p:bldP spid="27662" grpId="0"/>
      <p:bldP spid="27670" grpId="0" animBg="1"/>
      <p:bldP spid="27671" grpId="0"/>
      <p:bldP spid="27672" grpId="0"/>
      <p:bldP spid="276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OPERASI TRANSISTOR NPN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Rangkaian</a:t>
            </a:r>
            <a:r>
              <a:rPr lang="en-US" dirty="0" smtClean="0"/>
              <a:t> </a:t>
            </a:r>
            <a:r>
              <a:rPr lang="en-US" dirty="0" err="1"/>
              <a:t>pemberi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bias </a:t>
            </a:r>
            <a:r>
              <a:rPr lang="en-US" dirty="0" err="1"/>
              <a:t>pada</a:t>
            </a:r>
            <a:r>
              <a:rPr lang="en-US" dirty="0"/>
              <a:t> transistor NPN.</a:t>
            </a:r>
          </a:p>
          <a:p>
            <a:endParaRPr lang="en-US" dirty="0"/>
          </a:p>
        </p:txBody>
      </p:sp>
      <p:pic>
        <p:nvPicPr>
          <p:cNvPr id="4" name="Picture 3" descr="g2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61" y="2842806"/>
            <a:ext cx="3932308" cy="305747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86025" y="2752531"/>
            <a:ext cx="4494345" cy="2814515"/>
          </a:xfrm>
          <a:prstGeom prst="rect">
            <a:avLst/>
          </a:prstGeom>
          <a:noFill/>
        </p:spPr>
        <p:txBody>
          <a:bodyPr vert="horz" lIns="92075" tIns="46038" rIns="92075" bIns="46038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buFontTx/>
              <a:buAutoNum type="arabicPeriod"/>
            </a:pPr>
            <a:r>
              <a:rPr lang="en-US" smtClean="0"/>
              <a:t>Sambungan </a:t>
            </a:r>
            <a:r>
              <a:rPr lang="en-US" smtClean="0">
                <a:solidFill>
                  <a:srgbClr val="CC3300"/>
                </a:solidFill>
              </a:rPr>
              <a:t>basis ke emitor</a:t>
            </a:r>
            <a:r>
              <a:rPr lang="en-US" smtClean="0"/>
              <a:t> bersifat seperti dioda.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mtClean="0"/>
              <a:t>Arus basis terjadi bila </a:t>
            </a:r>
            <a:r>
              <a:rPr lang="en-US" smtClean="0">
                <a:solidFill>
                  <a:srgbClr val="CC3300"/>
                </a:solidFill>
              </a:rPr>
              <a:t>tegangan basis lebih positip terhadap emiter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mtClean="0"/>
              <a:t>Arus basis meningkat dengan cepat bila </a:t>
            </a:r>
            <a:r>
              <a:rPr lang="en-US" smtClean="0">
                <a:solidFill>
                  <a:srgbClr val="CC3300"/>
                </a:solidFill>
              </a:rPr>
              <a:t>V</a:t>
            </a:r>
            <a:r>
              <a:rPr lang="en-US" baseline="-25000" smtClean="0">
                <a:solidFill>
                  <a:srgbClr val="CC3300"/>
                </a:solidFill>
              </a:rPr>
              <a:t>BE</a:t>
            </a:r>
            <a:r>
              <a:rPr lang="en-US" smtClean="0">
                <a:solidFill>
                  <a:srgbClr val="CC3300"/>
                </a:solidFill>
              </a:rPr>
              <a:t> sekitar 0,6 V.</a:t>
            </a:r>
            <a:r>
              <a:rPr lang="en-US" smtClean="0"/>
              <a:t> </a:t>
            </a:r>
          </a:p>
          <a:p>
            <a:pPr marL="533400" indent="-533400">
              <a:buFontTx/>
              <a:buAutoNum type="arabicPeriod"/>
            </a:pPr>
            <a:r>
              <a:rPr lang="en-US" smtClean="0"/>
              <a:t>Pada tegangan ini transistor disebut menghantar “</a:t>
            </a:r>
            <a:r>
              <a:rPr lang="en-US" smtClean="0">
                <a:solidFill>
                  <a:srgbClr val="CC3300"/>
                </a:solidFill>
              </a:rPr>
              <a:t>ON</a:t>
            </a:r>
            <a:r>
              <a:rPr lang="en-US" smtClean="0"/>
              <a:t>" dan arus mengalir dari </a:t>
            </a:r>
            <a:r>
              <a:rPr lang="en-US" smtClean="0">
                <a:solidFill>
                  <a:srgbClr val="CC3300"/>
                </a:solidFill>
              </a:rPr>
              <a:t>kolektor ke emitor.</a:t>
            </a:r>
            <a:r>
              <a:rPr lang="en-US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5431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4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55C65E-C5B4-486A-8D7C-80F1BAF1B146}" type="slidenum">
              <a:rPr lang="en-GB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sz="140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458200" cy="11430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b="1" smtClean="0"/>
              <a:t>OPERASI </a:t>
            </a:r>
            <a:r>
              <a:rPr lang="en-US" b="1" smtClean="0">
                <a:solidFill>
                  <a:srgbClr val="CC3300"/>
                </a:solidFill>
              </a:rPr>
              <a:t>TRANSISTOR PNP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064500" cy="5373687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buFontTx/>
              <a:buAutoNum type="arabicPeriod"/>
            </a:pPr>
            <a:r>
              <a:rPr lang="en-US" smtClean="0"/>
              <a:t>Sambungan </a:t>
            </a:r>
            <a:r>
              <a:rPr lang="en-US" smtClean="0">
                <a:solidFill>
                  <a:srgbClr val="CC3300"/>
                </a:solidFill>
              </a:rPr>
              <a:t>emitor ke basis</a:t>
            </a:r>
            <a:r>
              <a:rPr lang="en-US" smtClean="0"/>
              <a:t> bersifat seperti </a:t>
            </a:r>
            <a:r>
              <a:rPr lang="en-US" smtClean="0">
                <a:solidFill>
                  <a:srgbClr val="CC3300"/>
                </a:solidFill>
              </a:rPr>
              <a:t>dioda.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Ø"/>
            </a:pPr>
            <a:r>
              <a:rPr lang="en-US" smtClean="0">
                <a:solidFill>
                  <a:srgbClr val="CC3300"/>
                </a:solidFill>
              </a:rPr>
              <a:t>Arus emiter-basis</a:t>
            </a:r>
            <a:r>
              <a:rPr lang="en-US" smtClean="0"/>
              <a:t> terjadi bila tegangan </a:t>
            </a:r>
            <a:r>
              <a:rPr lang="en-US" smtClean="0">
                <a:solidFill>
                  <a:srgbClr val="CC3300"/>
                </a:solidFill>
              </a:rPr>
              <a:t>basis lebih rendah terhadap emiter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Ø"/>
            </a:pPr>
            <a:r>
              <a:rPr lang="en-US" smtClean="0"/>
              <a:t>Arus ini meningkat dengan cepat bila </a:t>
            </a:r>
            <a:r>
              <a:rPr lang="en-US" smtClean="0">
                <a:solidFill>
                  <a:srgbClr val="CC3300"/>
                </a:solidFill>
              </a:rPr>
              <a:t>V</a:t>
            </a:r>
            <a:r>
              <a:rPr lang="en-US" baseline="-25000" smtClean="0">
                <a:solidFill>
                  <a:srgbClr val="CC3300"/>
                </a:solidFill>
              </a:rPr>
              <a:t>EB</a:t>
            </a:r>
            <a:r>
              <a:rPr lang="en-US" smtClean="0">
                <a:solidFill>
                  <a:srgbClr val="CC3300"/>
                </a:solidFill>
              </a:rPr>
              <a:t> sekitar 0,6 V.</a:t>
            </a:r>
            <a:r>
              <a:rPr lang="en-US" smtClean="0"/>
              <a:t>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mtClean="0"/>
              <a:t>Pada tegangan emiter-basis ini transistor disebut menghantar “</a:t>
            </a:r>
            <a:r>
              <a:rPr lang="en-US" smtClean="0">
                <a:solidFill>
                  <a:srgbClr val="CC3300"/>
                </a:solidFill>
              </a:rPr>
              <a:t>ON</a:t>
            </a:r>
            <a:r>
              <a:rPr lang="en-US" smtClean="0"/>
              <a:t>" dan arus mengalir dari </a:t>
            </a:r>
            <a:r>
              <a:rPr lang="en-US" smtClean="0">
                <a:solidFill>
                  <a:srgbClr val="CC3300"/>
                </a:solidFill>
              </a:rPr>
              <a:t>emiter ke colektor</a:t>
            </a:r>
            <a:r>
              <a:rPr lang="en-US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29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4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Konstruksi</a:t>
            </a:r>
            <a:r>
              <a:rPr lang="en-US" dirty="0" smtClean="0"/>
              <a:t> </a:t>
            </a:r>
            <a:r>
              <a:rPr lang="en-US"/>
              <a:t>T</a:t>
            </a:r>
            <a:r>
              <a:rPr lang="en-US" smtClean="0"/>
              <a:t>ransistor </a:t>
            </a:r>
            <a:r>
              <a:rPr lang="en-US" smtClean="0"/>
              <a:t>(NPN)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608119"/>
            <a:ext cx="7886700" cy="2972790"/>
          </a:xfrm>
        </p:spPr>
        <p:txBody>
          <a:bodyPr>
            <a:noAutofit/>
          </a:bodyPr>
          <a:lstStyle/>
          <a:p>
            <a:r>
              <a:rPr lang="en-US" sz="1800" dirty="0" err="1"/>
              <a:t>Terlihat</a:t>
            </a:r>
            <a:r>
              <a:rPr lang="en-US" sz="1800" dirty="0"/>
              <a:t> </a:t>
            </a:r>
            <a:r>
              <a:rPr lang="en-US" sz="1800" dirty="0" err="1"/>
              <a:t>lapisan</a:t>
            </a:r>
            <a:r>
              <a:rPr lang="en-US" sz="1800" dirty="0"/>
              <a:t> tipis </a:t>
            </a:r>
            <a:r>
              <a:rPr lang="en-US" sz="1800" dirty="0" err="1"/>
              <a:t>semikonduktor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P yang </a:t>
            </a:r>
            <a:r>
              <a:rPr lang="en-US" sz="1800" dirty="0" err="1"/>
              <a:t>diapit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2 </a:t>
            </a:r>
            <a:r>
              <a:rPr lang="en-US" sz="1800" dirty="0" err="1"/>
              <a:t>semikonduktor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N. </a:t>
            </a:r>
            <a:endParaRPr lang="en-US" sz="1800" dirty="0" smtClean="0"/>
          </a:p>
          <a:p>
            <a:r>
              <a:rPr lang="en-US" sz="1800" dirty="0" err="1" smtClean="0"/>
              <a:t>Semikonduktor</a:t>
            </a:r>
            <a:r>
              <a:rPr lang="en-US" sz="1800" dirty="0" smtClean="0"/>
              <a:t> </a:t>
            </a:r>
            <a:r>
              <a:rPr lang="en-US" sz="1800" dirty="0" err="1"/>
              <a:t>tipe</a:t>
            </a:r>
            <a:r>
              <a:rPr lang="en-US" sz="1800" dirty="0"/>
              <a:t> N yang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kecil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emitor</a:t>
            </a:r>
            <a:r>
              <a:rPr lang="en-US" sz="1800" dirty="0"/>
              <a:t>. </a:t>
            </a:r>
            <a:endParaRPr lang="en-US" sz="1800" dirty="0" smtClean="0"/>
          </a:p>
          <a:p>
            <a:r>
              <a:rPr lang="en-US" sz="1800" dirty="0" err="1" smtClean="0"/>
              <a:t>Pada</a:t>
            </a:r>
            <a:r>
              <a:rPr lang="en-US" sz="1800" dirty="0" smtClean="0"/>
              <a:t> </a:t>
            </a:r>
            <a:r>
              <a:rPr lang="en-US" sz="1800" dirty="0" err="1"/>
              <a:t>semikonduktor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N yang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emitor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disisipkan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logam</a:t>
            </a:r>
            <a:r>
              <a:rPr lang="en-US" sz="1800" dirty="0"/>
              <a:t> </a:t>
            </a:r>
            <a:r>
              <a:rPr lang="en-US" sz="1800" dirty="0" err="1"/>
              <a:t>pengotor</a:t>
            </a:r>
            <a:r>
              <a:rPr lang="en-US" sz="1800" dirty="0"/>
              <a:t> </a:t>
            </a:r>
            <a:r>
              <a:rPr lang="en-US" sz="1800" dirty="0" err="1"/>
              <a:t>dibandingkan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semokonduktor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N yang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kolektor</a:t>
            </a:r>
            <a:r>
              <a:rPr lang="en-US" sz="1800" dirty="0"/>
              <a:t>, </a:t>
            </a:r>
            <a:r>
              <a:rPr lang="en-US" sz="1800" dirty="0" err="1"/>
              <a:t>sehingga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emitor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terdapat</a:t>
            </a:r>
            <a:r>
              <a:rPr lang="en-US" sz="1800" dirty="0"/>
              <a:t> </a:t>
            </a:r>
            <a:r>
              <a:rPr lang="en-US" sz="1800" dirty="0" err="1"/>
              <a:t>elektron</a:t>
            </a:r>
            <a:r>
              <a:rPr lang="en-US" sz="1800" dirty="0"/>
              <a:t> </a:t>
            </a:r>
            <a:r>
              <a:rPr lang="en-US" sz="1800" dirty="0" err="1"/>
              <a:t>bebas</a:t>
            </a:r>
            <a:r>
              <a:rPr lang="en-US" sz="1800" dirty="0"/>
              <a:t> </a:t>
            </a:r>
            <a:r>
              <a:rPr lang="en-US" sz="1800" dirty="0" err="1"/>
              <a:t>dibandingkan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kolektor</a:t>
            </a:r>
            <a:r>
              <a:rPr lang="en-US" sz="1800" dirty="0"/>
              <a:t>, </a:t>
            </a:r>
            <a:r>
              <a:rPr lang="en-US" sz="1800" dirty="0" err="1"/>
              <a:t>walaupun</a:t>
            </a:r>
            <a:r>
              <a:rPr lang="en-US" sz="1800" dirty="0"/>
              <a:t> </a:t>
            </a:r>
            <a:r>
              <a:rPr lang="en-US" sz="1800" dirty="0" err="1"/>
              <a:t>kedua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dibuat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bahan</a:t>
            </a:r>
            <a:r>
              <a:rPr lang="en-US" sz="1800" dirty="0"/>
              <a:t> yang </a:t>
            </a:r>
            <a:r>
              <a:rPr lang="en-US" sz="1800" dirty="0" err="1"/>
              <a:t>sama</a:t>
            </a:r>
            <a:r>
              <a:rPr lang="en-US" sz="1800" dirty="0"/>
              <a:t>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semikonduktor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N. </a:t>
            </a:r>
            <a:endParaRPr lang="en-US" sz="1800" dirty="0" smtClean="0"/>
          </a:p>
          <a:p>
            <a:r>
              <a:rPr lang="en-US" sz="1800" dirty="0" err="1" smtClean="0"/>
              <a:t>Semikonduktor</a:t>
            </a:r>
            <a:r>
              <a:rPr lang="en-US" sz="1800" dirty="0" smtClean="0"/>
              <a:t> </a:t>
            </a:r>
            <a:r>
              <a:rPr lang="en-US" sz="1800" dirty="0" err="1" smtClean="0"/>
              <a:t>tipe</a:t>
            </a:r>
            <a:r>
              <a:rPr lang="en-US" sz="1800" dirty="0" smtClean="0"/>
              <a:t> </a:t>
            </a:r>
            <a:r>
              <a:rPr lang="en-US" sz="1800" dirty="0"/>
              <a:t>P yang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daerah</a:t>
            </a:r>
            <a:r>
              <a:rPr lang="en-US" sz="1800" dirty="0"/>
              <a:t> basis </a:t>
            </a:r>
            <a:r>
              <a:rPr lang="en-US" sz="1800" dirty="0" err="1"/>
              <a:t>dibuat</a:t>
            </a:r>
            <a:r>
              <a:rPr lang="en-US" sz="1800" dirty="0"/>
              <a:t> tipis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mengandung</a:t>
            </a:r>
            <a:r>
              <a:rPr lang="en-US" sz="1800" dirty="0"/>
              <a:t> </a:t>
            </a:r>
            <a:r>
              <a:rPr lang="en-US" sz="1800" dirty="0" err="1"/>
              <a:t>muatan</a:t>
            </a:r>
            <a:r>
              <a:rPr lang="en-US" sz="1800" dirty="0"/>
              <a:t> </a:t>
            </a:r>
            <a:r>
              <a:rPr lang="en-US" sz="1800" dirty="0" err="1"/>
              <a:t>positif</a:t>
            </a:r>
            <a:r>
              <a:rPr lang="en-US" sz="1800" dirty="0"/>
              <a:t> (</a:t>
            </a:r>
            <a:r>
              <a:rPr lang="en-US" sz="1800" dirty="0" err="1"/>
              <a:t>lubang</a:t>
            </a:r>
            <a:r>
              <a:rPr lang="en-US" sz="1800" dirty="0"/>
              <a:t>).</a:t>
            </a:r>
          </a:p>
        </p:txBody>
      </p:sp>
      <p:pic>
        <p:nvPicPr>
          <p:cNvPr id="4" name="Picture 3" descr="kontruksi transistor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105" y="1252722"/>
            <a:ext cx="4691789" cy="2355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84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Daerah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smtClean="0"/>
              <a:t>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3 daerah transisto sketsa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126" y="2013063"/>
            <a:ext cx="4488589" cy="39764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469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Bila</a:t>
            </a:r>
            <a:r>
              <a:rPr lang="en-US" dirty="0"/>
              <a:t> 2 </a:t>
            </a:r>
            <a:r>
              <a:rPr lang="en-US" dirty="0" err="1"/>
              <a:t>semikonduktor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N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P </a:t>
            </a:r>
            <a:r>
              <a:rPr lang="en-US" dirty="0" err="1"/>
              <a:t>disambung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timbul</a:t>
            </a:r>
            <a:r>
              <a:rPr lang="en-US" dirty="0"/>
              <a:t> </a:t>
            </a:r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penyangga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 </a:t>
            </a:r>
            <a:r>
              <a:rPr lang="en-US" i="1" dirty="0"/>
              <a:t>depletion </a:t>
            </a:r>
            <a:r>
              <a:rPr lang="en-US" i="1" dirty="0" smtClean="0"/>
              <a:t>layer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/>
              <a:t>transistor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3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semikondutor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2 </a:t>
            </a:r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penyangga</a:t>
            </a:r>
            <a:r>
              <a:rPr lang="en-US" dirty="0"/>
              <a:t> (</a:t>
            </a:r>
            <a:r>
              <a:rPr lang="en-US" i="1" dirty="0"/>
              <a:t>depletion layer)</a:t>
            </a:r>
            <a:r>
              <a:rPr lang="en-US" dirty="0"/>
              <a:t> 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basis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basis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kolektor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digambar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smtClean="0"/>
              <a:t>di </a:t>
            </a:r>
            <a:r>
              <a:rPr lang="en-US" dirty="0" err="1" smtClean="0"/>
              <a:t>atas</a:t>
            </a:r>
            <a:r>
              <a:rPr lang="en-US" dirty="0" smtClean="0"/>
              <a:t>.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tebal</a:t>
            </a:r>
            <a:r>
              <a:rPr lang="en-US" dirty="0"/>
              <a:t> </a:t>
            </a:r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deplesi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-basis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tebal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sambungan</a:t>
            </a:r>
            <a:r>
              <a:rPr lang="en-US" dirty="0"/>
              <a:t> basis </a:t>
            </a:r>
            <a:r>
              <a:rPr lang="en-US" dirty="0" err="1"/>
              <a:t>kolektor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penyangga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0,7 V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semikonduktor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silikon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0,3 V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semikonduktor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germanium. </a:t>
            </a:r>
            <a:endParaRPr lang="en-US" dirty="0" smtClean="0"/>
          </a:p>
          <a:p>
            <a:r>
              <a:rPr lang="en-US" dirty="0" err="1" smtClean="0"/>
              <a:t>Tegangan</a:t>
            </a:r>
            <a:r>
              <a:rPr lang="en-US" dirty="0" smtClean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identik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Knee (</a:t>
            </a:r>
            <a:r>
              <a:rPr lang="en-US" dirty="0" err="1"/>
              <a:t>V</a:t>
            </a:r>
            <a:r>
              <a:rPr lang="en-US" baseline="-25000" dirty="0" err="1"/>
              <a:t>knee</a:t>
            </a:r>
            <a:r>
              <a:rPr lang="en-US" dirty="0"/>
              <a:t>)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3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Karakteristik</a:t>
            </a:r>
            <a:r>
              <a:rPr lang="en-US" b="1" dirty="0" smtClean="0"/>
              <a:t> </a:t>
            </a:r>
            <a:r>
              <a:rPr lang="en-US" b="1" dirty="0" err="1" smtClean="0"/>
              <a:t>Vbe</a:t>
            </a:r>
            <a:r>
              <a:rPr lang="en-US" b="1" dirty="0" smtClean="0"/>
              <a:t> </a:t>
            </a:r>
            <a:r>
              <a:rPr lang="en-US" b="1" dirty="0" err="1" smtClean="0"/>
              <a:t>Sama</a:t>
            </a:r>
            <a:r>
              <a:rPr lang="en-US" b="1" dirty="0" smtClean="0"/>
              <a:t> </a:t>
            </a:r>
            <a:r>
              <a:rPr lang="en-US" b="1" dirty="0" err="1" smtClean="0"/>
              <a:t>Dengan</a:t>
            </a:r>
            <a:r>
              <a:rPr lang="en-US" b="1" dirty="0" smtClean="0"/>
              <a:t> </a:t>
            </a:r>
            <a:r>
              <a:rPr lang="en-US" b="1" dirty="0" err="1" smtClean="0"/>
              <a:t>Karakteristik</a:t>
            </a:r>
            <a:r>
              <a:rPr lang="en-US" b="1" dirty="0" smtClean="0"/>
              <a:t> </a:t>
            </a:r>
            <a:r>
              <a:rPr lang="en-US" b="1" dirty="0" err="1" smtClean="0"/>
              <a:t>Dioda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602" y="4897380"/>
            <a:ext cx="5895022" cy="1250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smtClean="0"/>
              <a:t>Arus di basis 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baseline="-25000" dirty="0" err="1"/>
              <a:t>b</a:t>
            </a:r>
            <a:r>
              <a:rPr lang="en-US" sz="2000" dirty="0"/>
              <a:t>­)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mengalir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B-E </a:t>
            </a:r>
            <a:r>
              <a:rPr lang="en-US" sz="2000" dirty="0" err="1"/>
              <a:t>jika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V</a:t>
            </a:r>
            <a:r>
              <a:rPr lang="en-US" sz="2000" baseline="-25000" dirty="0" err="1"/>
              <a:t>be</a:t>
            </a:r>
            <a:r>
              <a:rPr lang="en-US" sz="2000" dirty="0"/>
              <a:t> = </a:t>
            </a:r>
            <a:r>
              <a:rPr lang="en-US" sz="2000" dirty="0" err="1"/>
              <a:t>V</a:t>
            </a:r>
            <a:r>
              <a:rPr lang="en-US" sz="2000" baseline="-25000" dirty="0" err="1"/>
              <a:t>b</a:t>
            </a:r>
            <a:r>
              <a:rPr lang="en-US" sz="2000" dirty="0"/>
              <a:t>  &gt; 0,7 V </a:t>
            </a:r>
            <a:r>
              <a:rPr lang="en-US" sz="2000" dirty="0" err="1"/>
              <a:t>untuk</a:t>
            </a:r>
            <a:r>
              <a:rPr lang="en-US" sz="2000" dirty="0"/>
              <a:t> transistor </a:t>
            </a:r>
            <a:r>
              <a:rPr lang="en-US" sz="2000" dirty="0" err="1"/>
              <a:t>silikon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V</a:t>
            </a:r>
            <a:r>
              <a:rPr lang="en-US" sz="2000" baseline="-25000" dirty="0" err="1"/>
              <a:t>be</a:t>
            </a:r>
            <a:r>
              <a:rPr lang="en-US" sz="2000" dirty="0"/>
              <a:t> = </a:t>
            </a:r>
            <a:r>
              <a:rPr lang="en-US" sz="2000" dirty="0" err="1"/>
              <a:t>V</a:t>
            </a:r>
            <a:r>
              <a:rPr lang="en-US" sz="2000" baseline="-25000" dirty="0" err="1"/>
              <a:t>b</a:t>
            </a:r>
            <a:r>
              <a:rPr lang="en-US" sz="2000" dirty="0"/>
              <a:t>  &gt; 0,3 V </a:t>
            </a:r>
            <a:r>
              <a:rPr lang="en-US" sz="2000" dirty="0" err="1"/>
              <a:t>untuk</a:t>
            </a:r>
            <a:r>
              <a:rPr lang="en-US" sz="2000" dirty="0"/>
              <a:t> transistor germanium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4" name="Picture 3" descr="diode BE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6" y="2055784"/>
            <a:ext cx="2459519" cy="2431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548" y="2055784"/>
            <a:ext cx="3181350" cy="2476500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2396691" y="2810932"/>
            <a:ext cx="490888" cy="7892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6109736" y="2839808"/>
            <a:ext cx="490888" cy="7892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747" y="2958992"/>
            <a:ext cx="1644972" cy="5035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672" y="3646368"/>
            <a:ext cx="2314575" cy="2000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624" y="3899128"/>
            <a:ext cx="810779" cy="25241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7282" y="2235644"/>
            <a:ext cx="2219325" cy="361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715837" y="2534035"/>
            <a:ext cx="1930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(Penyederhanaan)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1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40" y="178830"/>
            <a:ext cx="7886700" cy="849077"/>
          </a:xfrm>
        </p:spPr>
        <p:txBody>
          <a:bodyPr/>
          <a:lstStyle/>
          <a:p>
            <a:r>
              <a:rPr lang="en-US" smtClean="0"/>
              <a:t>Persamaan Arus Dioda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195" y="2719373"/>
            <a:ext cx="4822047" cy="3613814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57162"/>
            <a:ext cx="4225490" cy="316911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98" y="5004892"/>
            <a:ext cx="3424928" cy="77026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2106945">
            <a:off x="4152950" y="3432439"/>
            <a:ext cx="490888" cy="623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0800000">
            <a:off x="3805126" y="5004892"/>
            <a:ext cx="490888" cy="623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07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917" y="5330737"/>
            <a:ext cx="2018297" cy="62610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baseline="-25000" dirty="0" err="1"/>
              <a:t>e</a:t>
            </a:r>
            <a:r>
              <a:rPr lang="en-US" dirty="0"/>
              <a:t> = 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 +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" name="Picture 3" descr="g2c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37" y="2343547"/>
            <a:ext cx="3660663" cy="291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00" y="2547338"/>
            <a:ext cx="5079095" cy="38133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79495" y="190561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Analogi Pengaturan Aliran Arus di Transistor dengan Pengaturan Aliran Air di Pipa</a:t>
            </a:r>
          </a:p>
        </p:txBody>
      </p:sp>
    </p:spTree>
    <p:extLst>
      <p:ext uri="{BB962C8B-B14F-4D97-AF65-F5344CB8AC3E}">
        <p14:creationId xmlns:p14="http://schemas.microsoft.com/office/powerpoint/2010/main" val="234730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Penjelasan Operasi Transistor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Transistor </a:t>
            </a:r>
            <a:r>
              <a:rPr lang="en-US" dirty="0" err="1"/>
              <a:t>tipe</a:t>
            </a:r>
            <a:r>
              <a:rPr lang="en-US" dirty="0"/>
              <a:t> BJT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kaki-</a:t>
            </a:r>
            <a:r>
              <a:rPr lang="en-US" dirty="0" err="1"/>
              <a:t>kakinya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bias. </a:t>
            </a:r>
            <a:endParaRPr lang="en-US" dirty="0" smtClean="0"/>
          </a:p>
          <a:p>
            <a:r>
              <a:rPr lang="en-US" dirty="0" smtClean="0"/>
              <a:t>Ada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bias 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kelebihan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kekurangannya</a:t>
            </a:r>
            <a:r>
              <a:rPr lang="en-US" dirty="0"/>
              <a:t> </a:t>
            </a:r>
            <a:r>
              <a:rPr lang="en-US" dirty="0" err="1"/>
              <a:t>sendiri-sendiri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smtClean="0"/>
              <a:t>saat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bias </a:t>
            </a:r>
            <a:r>
              <a:rPr lang="en-US" dirty="0" err="1"/>
              <a:t>pada</a:t>
            </a:r>
            <a:r>
              <a:rPr lang="en-US" dirty="0"/>
              <a:t> kaki basis,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basis (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transistor </a:t>
            </a:r>
            <a:r>
              <a:rPr lang="en-US" dirty="0" err="1"/>
              <a:t>akibatnya</a:t>
            </a:r>
            <a:r>
              <a:rPr lang="en-US" dirty="0"/>
              <a:t> transistor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OFF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transistor. </a:t>
            </a:r>
            <a:endParaRPr lang="en-US" dirty="0" smtClean="0"/>
          </a:p>
          <a:p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kaki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(</a:t>
            </a:r>
            <a:r>
              <a:rPr lang="en-US" i="1" dirty="0"/>
              <a:t>backward voltage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(V</a:t>
            </a:r>
            <a:r>
              <a:rPr lang="en-US" baseline="-25000" dirty="0"/>
              <a:t>CC</a:t>
            </a:r>
            <a:r>
              <a:rPr lang="en-US" dirty="0"/>
              <a:t>). </a:t>
            </a:r>
            <a:endParaRPr lang="en-US" dirty="0" smtClean="0"/>
          </a:p>
          <a:p>
            <a:r>
              <a:rPr lang="en-US" dirty="0" err="1" smtClean="0"/>
              <a:t>Akibat</a:t>
            </a:r>
            <a:r>
              <a:rPr lang="en-US" dirty="0" smtClean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balik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zone </a:t>
            </a:r>
            <a:r>
              <a:rPr lang="en-US" dirty="0" err="1"/>
              <a:t>deplesi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sambung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-basis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err="1"/>
              <a:t>tebal</a:t>
            </a:r>
            <a:r>
              <a:rPr lang="en-US" smtClean="0"/>
              <a:t>.</a:t>
            </a:r>
          </a:p>
          <a:p>
            <a:r>
              <a:rPr lang="en-US"/>
              <a:t>Ketika kaki basis diberi tegangan bias maju (tegangan +), maka kaki basis – emitor yang merupakan sebuah dioda mendapat tegangan maju (</a:t>
            </a:r>
            <a:r>
              <a:rPr lang="en-US" i="1"/>
              <a:t>forward voltage</a:t>
            </a:r>
            <a:r>
              <a:rPr lang="en-US"/>
              <a:t>), akibatnya elektron bebas yang banyak terdapat di daerah emitor akan bergerak ke basis, zona deplesi antara sambungan basis-emitor hilang.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3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base"/>
            <a:r>
              <a:rPr lang="en-US" smtClean="0"/>
              <a:t>Karena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en-US" dirty="0" err="1" smtClean="0"/>
              <a:t>Selain</a:t>
            </a:r>
            <a:r>
              <a:rPr lang="en-US" dirty="0" smtClean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+ </a:t>
            </a:r>
            <a:r>
              <a:rPr lang="en-US" dirty="0" err="1"/>
              <a:t>sumber</a:t>
            </a:r>
            <a:r>
              <a:rPr lang="en-US" dirty="0"/>
              <a:t> (V</a:t>
            </a:r>
            <a:r>
              <a:rPr lang="en-US" baseline="-25000" dirty="0"/>
              <a:t>CC</a:t>
            </a:r>
            <a:r>
              <a:rPr lang="en-US" dirty="0"/>
              <a:t>), yang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bias basis,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–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+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+ bias basis.</a:t>
            </a:r>
          </a:p>
          <a:p>
            <a:pPr fontAlgn="base"/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besarnya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arahnya</a:t>
            </a:r>
            <a:r>
              <a:rPr lang="en-US" dirty="0"/>
              <a:t> </a:t>
            </a:r>
            <a:r>
              <a:rPr lang="en-US" dirty="0" err="1"/>
              <a:t>berlawanan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kaki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kaki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ground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(</a:t>
            </a:r>
            <a:r>
              <a:rPr lang="en-US" dirty="0" err="1"/>
              <a:t>i­</a:t>
            </a:r>
            <a:r>
              <a:rPr lang="en-US" baseline="-25000" dirty="0" err="1"/>
              <a:t>E</a:t>
            </a:r>
            <a:r>
              <a:rPr lang="en-US" dirty="0"/>
              <a:t>). </a:t>
            </a:r>
            <a:endParaRPr lang="en-US" dirty="0" smtClean="0"/>
          </a:p>
          <a:p>
            <a:pPr fontAlgn="base"/>
            <a:r>
              <a:rPr lang="en-US" dirty="0" err="1" smtClean="0"/>
              <a:t>Arus</a:t>
            </a:r>
            <a:r>
              <a:rPr lang="en-US" dirty="0" smtClean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kaki basis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kaki </a:t>
            </a:r>
            <a:r>
              <a:rPr lang="en-US" dirty="0" err="1"/>
              <a:t>emitor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potensial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di kaki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potensial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di kaki basis,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kaki </a:t>
            </a:r>
            <a:r>
              <a:rPr lang="en-US" dirty="0" err="1"/>
              <a:t>emitor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potensial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paling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7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9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Tutorial Transistor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</a:t>
            </a:r>
            <a:r>
              <a:rPr lang="en-US" smtClean="0">
                <a:hlinkClick r:id="rId2"/>
              </a:rPr>
              <a:t>www.youtube.com/watch?v=7ukDKVHnac4</a:t>
            </a:r>
            <a:endParaRPr lang="en-US" smtClean="0"/>
          </a:p>
          <a:p>
            <a:r>
              <a:rPr lang="en-US" smtClean="0">
                <a:hlinkClick r:id="rId3"/>
              </a:rPr>
              <a:t>https</a:t>
            </a:r>
            <a:r>
              <a:rPr lang="en-US">
                <a:hlinkClick r:id="rId3"/>
              </a:rPr>
              <a:t>://</a:t>
            </a:r>
            <a:r>
              <a:rPr lang="en-US" smtClean="0">
                <a:hlinkClick r:id="rId3"/>
              </a:rPr>
              <a:t>www.youtube.com/watch?v=J4oO7PT_nzQ</a:t>
            </a:r>
            <a:endParaRPr lang="en-US" smtClean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8938</TotalTime>
  <Words>848</Words>
  <Application>Microsoft Office PowerPoint</Application>
  <PresentationFormat>On-screen Show (4:3)</PresentationFormat>
  <Paragraphs>151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Symbol</vt:lpstr>
      <vt:lpstr>Verdana</vt:lpstr>
      <vt:lpstr>Wingdings</vt:lpstr>
      <vt:lpstr>Office Theme</vt:lpstr>
      <vt:lpstr>  </vt:lpstr>
      <vt:lpstr>PENDAHULUAN</vt:lpstr>
      <vt:lpstr>BENTUK FISIK TRANSISTOR</vt:lpstr>
      <vt:lpstr>Perkembangan Transistor</vt:lpstr>
      <vt:lpstr>Generasi Computer</vt:lpstr>
      <vt:lpstr>JENIS-JENIS TRANSISTOR</vt:lpstr>
      <vt:lpstr>PowerPoint Presentation</vt:lpstr>
      <vt:lpstr>Struktur Penyusun dan Simbol Transistor</vt:lpstr>
      <vt:lpstr>STRUKTUR DAN SIMBOL TRANSISTOR NPN</vt:lpstr>
      <vt:lpstr>STRUKTUR DAN SIMBOL TRANSISTOR PNP</vt:lpstr>
      <vt:lpstr>PowerPoint Presentation</vt:lpstr>
      <vt:lpstr>PowerPoint Presentation</vt:lpstr>
      <vt:lpstr>OPERASI TRANSISTOR NPN</vt:lpstr>
      <vt:lpstr>OPERASI TRANSISTOR PNP</vt:lpstr>
      <vt:lpstr>Konstruksi Transistor (NPN)</vt:lpstr>
      <vt:lpstr>Daerah pada Transistor</vt:lpstr>
      <vt:lpstr>PowerPoint Presentation</vt:lpstr>
      <vt:lpstr>Karakteristik Vbe Sama Dengan Karakteristik Dioda</vt:lpstr>
      <vt:lpstr>Persamaan Arus Dioda</vt:lpstr>
      <vt:lpstr>PowerPoint Presentation</vt:lpstr>
      <vt:lpstr>Penjelasan Operasi Transistor</vt:lpstr>
      <vt:lpstr>PowerPoint Presentation</vt:lpstr>
      <vt:lpstr>Tutorial Transistor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TJANDRA</cp:lastModifiedBy>
  <cp:revision>312</cp:revision>
  <dcterms:created xsi:type="dcterms:W3CDTF">2019-05-06T01:23:15Z</dcterms:created>
  <dcterms:modified xsi:type="dcterms:W3CDTF">2024-04-04T05:03:28Z</dcterms:modified>
</cp:coreProperties>
</file>