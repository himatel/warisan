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61" r:id="rId3"/>
    <p:sldId id="262" r:id="rId4"/>
    <p:sldId id="293" r:id="rId5"/>
    <p:sldId id="292" r:id="rId6"/>
    <p:sldId id="290" r:id="rId7"/>
    <p:sldId id="291" r:id="rId8"/>
    <p:sldId id="287" r:id="rId9"/>
    <p:sldId id="259" r:id="rId10"/>
    <p:sldId id="289" r:id="rId11"/>
    <p:sldId id="294" r:id="rId12"/>
    <p:sldId id="295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9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8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3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8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5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3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2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1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D5071-FD23-4506-B049-57F6EDE2261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27B15-F7AF-44A7-B30E-57AFCE5E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7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D84C-9697-488A-B54C-146279CFFE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Perancangan Penguat Sinyal Kecil CE FB (Common Emitter Fixed Bias)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8E409-7C34-4043-BADD-DA703616E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972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1DE-2567-402F-B9C3-B1E297BA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 Av Penguat CE FB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B567-A3AB-4B61-AE72-23673517D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277"/>
            <a:ext cx="10278979" cy="409968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Lihat soal prategangan CE FB sebelumnya.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Jawablah pertanyaan2 berikut:</a:t>
            </a:r>
          </a:p>
          <a:p>
            <a:r>
              <a:rPr lang="en-US"/>
              <a:t>Buatlah skema penguat sinyal kecil (AC).</a:t>
            </a:r>
          </a:p>
          <a:p>
            <a:r>
              <a:rPr lang="en-US"/>
              <a:t>Sebutkan 3 langkah membuat skema ekuivalen AC penguat.</a:t>
            </a:r>
          </a:p>
          <a:p>
            <a:r>
              <a:rPr lang="en-US"/>
              <a:t>Buatlah skema ekuivalennya.</a:t>
            </a:r>
          </a:p>
          <a:p>
            <a:r>
              <a:rPr lang="en-US"/>
              <a:t>Tuliskan rumus Av</a:t>
            </a:r>
          </a:p>
          <a:p>
            <a:r>
              <a:rPr lang="en-US"/>
              <a:t>Hitunglah Av teorinya</a:t>
            </a:r>
          </a:p>
          <a:p>
            <a:r>
              <a:rPr lang="en-US"/>
              <a:t>Hitunglah Av simulasinya</a:t>
            </a:r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8E702-B644-2A1D-6E56-823D67573CF6}"/>
              </a:ext>
            </a:extLst>
          </p:cNvPr>
          <p:cNvSpPr txBox="1"/>
          <p:nvPr/>
        </p:nvSpPr>
        <p:spPr>
          <a:xfrm>
            <a:off x="921854" y="136083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CE FB : Common Emitter Fixed Bias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204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52C3-9A20-49AB-9197-3CC603A5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Skema Penguat Sinyal Kecil CE FB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6B7B6-FFCA-444E-987A-4CCE64251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554" y="1893083"/>
            <a:ext cx="4247147" cy="40583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Dari soal sebelumnya diketahui:</a:t>
            </a:r>
          </a:p>
          <a:p>
            <a:pPr marL="0" indent="0">
              <a:buNone/>
            </a:pPr>
            <a:endParaRPr lang="en-US" sz="2400"/>
          </a:p>
          <a:p>
            <a:pPr lvl="1"/>
            <a:r>
              <a:rPr lang="en-US" sz="2000"/>
              <a:t>Rc= 5000 Ohm</a:t>
            </a:r>
          </a:p>
          <a:p>
            <a:pPr lvl="1"/>
            <a:r>
              <a:rPr lang="en-US" sz="2000"/>
              <a:t>Rb = 2483112</a:t>
            </a:r>
          </a:p>
          <a:p>
            <a:pPr lvl="1"/>
            <a:r>
              <a:rPr lang="en-US" sz="2000"/>
              <a:t>Icq = 1 mA</a:t>
            </a:r>
            <a:endParaRPr lang="en-ID" sz="20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EF875C-BEA8-4E95-B81F-C91621C1AD1A}"/>
              </a:ext>
            </a:extLst>
          </p:cNvPr>
          <p:cNvGrpSpPr/>
          <p:nvPr/>
        </p:nvGrpSpPr>
        <p:grpSpPr>
          <a:xfrm>
            <a:off x="5936897" y="1616903"/>
            <a:ext cx="4450017" cy="3988123"/>
            <a:chOff x="4501990" y="2156003"/>
            <a:chExt cx="3372321" cy="26666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D96210-7CF3-4E4F-80B3-EF79FC9D9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1990" y="2250523"/>
              <a:ext cx="3372321" cy="257210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8DAB3F-F331-4626-966A-75DDD1F370F9}"/>
                </a:ext>
              </a:extLst>
            </p:cNvPr>
            <p:cNvSpPr/>
            <p:nvPr/>
          </p:nvSpPr>
          <p:spPr>
            <a:xfrm>
              <a:off x="4547193" y="2970563"/>
              <a:ext cx="864022" cy="432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/>
                <a:t>2483112 Ohm</a:t>
              </a:r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B23BFD-167A-4245-87DE-5786E28EB125}"/>
                </a:ext>
              </a:extLst>
            </p:cNvPr>
            <p:cNvSpPr/>
            <p:nvPr/>
          </p:nvSpPr>
          <p:spPr>
            <a:xfrm>
              <a:off x="6917251" y="2825376"/>
              <a:ext cx="549973" cy="432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/>
                <a:t>5000 Ohm</a:t>
              </a:r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4D42FA-357B-411A-B206-CB0336F57B58}"/>
                </a:ext>
              </a:extLst>
            </p:cNvPr>
            <p:cNvSpPr/>
            <p:nvPr/>
          </p:nvSpPr>
          <p:spPr>
            <a:xfrm>
              <a:off x="6092710" y="2156003"/>
              <a:ext cx="9693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/>
                <a:t>=10V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455555-A10E-4F8D-BCC2-4D47C2066C72}"/>
                </a:ext>
              </a:extLst>
            </p:cNvPr>
            <p:cNvSpPr/>
            <p:nvPr/>
          </p:nvSpPr>
          <p:spPr>
            <a:xfrm>
              <a:off x="5725977" y="3560017"/>
              <a:ext cx="78418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/>
                <a:t>BC108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700054-A300-402C-BE5B-67741C28EABA}"/>
                </a:ext>
              </a:extLst>
            </p:cNvPr>
            <p:cNvSpPr txBox="1"/>
            <p:nvPr/>
          </p:nvSpPr>
          <p:spPr>
            <a:xfrm>
              <a:off x="5822230" y="3257540"/>
              <a:ext cx="101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Icq=1mA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53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8486-FF24-83F7-4191-AA09A25E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9AB3-1B24-490F-C08D-742E98E4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Skema Ekuivalen AC</a:t>
            </a:r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365A2-B0C9-916A-5018-C50C58F12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17" y="1941529"/>
            <a:ext cx="6201230" cy="264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1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E2AB-95CF-94D7-3B4D-17D7C3F3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Cari Rumus Av</a:t>
            </a:r>
            <a:endParaRPr lang="en-ID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379BFB-550B-63DE-6B9A-CA04B439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494" y="603663"/>
            <a:ext cx="5477360" cy="4758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131F5B-C2EF-4CD8-A166-B4840F44C8D2}"/>
              </a:ext>
            </a:extLst>
          </p:cNvPr>
          <p:cNvSpPr txBox="1"/>
          <p:nvPr/>
        </p:nvSpPr>
        <p:spPr>
          <a:xfrm>
            <a:off x="1371601" y="5731117"/>
            <a:ext cx="9103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Dimana re=VT/Ieq </a:t>
            </a:r>
            <a:r>
              <a:rPr lang="en-US" sz="2800">
                <a:sym typeface="Wingdings" panose="05000000000000000000" pitchFamily="2" charset="2"/>
              </a:rPr>
              <a:t> jika Ieq=Icq dan </a:t>
            </a:r>
            <a:r>
              <a:rPr lang="en-US" sz="2800"/>
              <a:t>VT=0,026 </a:t>
            </a:r>
            <a:r>
              <a:rPr lang="en-US" sz="2800">
                <a:sym typeface="Wingdings" panose="05000000000000000000" pitchFamily="2" charset="2"/>
              </a:rPr>
              <a:t> </a:t>
            </a:r>
            <a:r>
              <a:rPr lang="en-US" sz="2800"/>
              <a:t>re= VT/Icq</a:t>
            </a:r>
            <a:endParaRPr lang="en-ID" sz="2800"/>
          </a:p>
        </p:txBody>
      </p:sp>
    </p:spTree>
    <p:extLst>
      <p:ext uri="{BB962C8B-B14F-4D97-AF65-F5344CB8AC3E}">
        <p14:creationId xmlns:p14="http://schemas.microsoft.com/office/powerpoint/2010/main" val="296019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661B-9FDD-032F-0DB7-B60A07DF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Cari Rumus Ai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F0890-DE93-6339-8F2D-9169CABE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32" y="1825625"/>
            <a:ext cx="76230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4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693F-DA97-210C-9C8C-9C107565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68899-D639-5DCC-FA6C-F5D59B8C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33" y="2035202"/>
            <a:ext cx="881185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6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F84B-5EC5-4A48-92D7-C876BD2B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Cari Rumus Zi dan Zo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3684A-05E4-31A6-AE53-AB57C3B7D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52" y="2672879"/>
            <a:ext cx="2419688" cy="590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F72226-77CA-325B-9111-5F90D40A5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252" y="3395083"/>
            <a:ext cx="3734321" cy="666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1E4D5-CA7F-24D6-FCEB-498986E8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874" y="2672879"/>
            <a:ext cx="2848373" cy="552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02660-A9EF-D3D8-082C-46AB902EF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874" y="3356978"/>
            <a:ext cx="234347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2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Rumus Av dari Buku R. Boylestate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1D2A8C-3443-4540-9AB7-C352A1E21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93" y="1896550"/>
            <a:ext cx="8802328" cy="2105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85FC1C-9CCF-461A-B7BC-BFAAB4338738}"/>
              </a:ext>
            </a:extLst>
          </p:cNvPr>
          <p:cNvSpPr txBox="1"/>
          <p:nvPr/>
        </p:nvSpPr>
        <p:spPr>
          <a:xfrm>
            <a:off x="3790950" y="4314825"/>
            <a:ext cx="31956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Hitung Avnya</a:t>
            </a:r>
            <a:endParaRPr lang="en-ID"/>
          </a:p>
          <a:p>
            <a:r>
              <a:rPr lang="en-ID"/>
              <a:t>Av = -Rc/re </a:t>
            </a:r>
          </a:p>
          <a:p>
            <a:r>
              <a:rPr lang="en-ID"/>
              <a:t>     = -Rc/(VT/IE)</a:t>
            </a:r>
          </a:p>
          <a:p>
            <a:r>
              <a:rPr lang="en-ID"/>
              <a:t>     = -Rc.IE/VT      </a:t>
            </a:r>
          </a:p>
          <a:p>
            <a:r>
              <a:rPr lang="en-ID"/>
              <a:t>     </a:t>
            </a:r>
          </a:p>
          <a:p>
            <a:r>
              <a:rPr lang="en-ID"/>
              <a:t>Av = -Rc.Ic/VT dimana VT=26mV</a:t>
            </a:r>
          </a:p>
          <a:p>
            <a:r>
              <a:rPr lang="en-ID"/>
              <a:t>Av = -Rc.Ic/0,026</a:t>
            </a:r>
          </a:p>
        </p:txBody>
      </p:sp>
    </p:spTree>
    <p:extLst>
      <p:ext uri="{BB962C8B-B14F-4D97-AF65-F5344CB8AC3E}">
        <p14:creationId xmlns:p14="http://schemas.microsoft.com/office/powerpoint/2010/main" val="3638838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DA46-82C1-4589-8DF4-3E09EF2D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Hitung Nilai Av</a:t>
            </a:r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466C5-1CA7-4684-80DF-83F275DECEF7}"/>
              </a:ext>
            </a:extLst>
          </p:cNvPr>
          <p:cNvSpPr txBox="1"/>
          <p:nvPr/>
        </p:nvSpPr>
        <p:spPr>
          <a:xfrm>
            <a:off x="1866274" y="1777509"/>
            <a:ext cx="8459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re=VT/Ieq </a:t>
            </a:r>
            <a:r>
              <a:rPr lang="en-US" sz="2800">
                <a:sym typeface="Wingdings" panose="05000000000000000000" pitchFamily="2" charset="2"/>
              </a:rPr>
              <a:t> jika Ieq=Icq dan </a:t>
            </a:r>
            <a:r>
              <a:rPr lang="en-US" sz="2800"/>
              <a:t>VT=0,026 </a:t>
            </a:r>
            <a:r>
              <a:rPr lang="en-US" sz="2800">
                <a:sym typeface="Wingdings" panose="05000000000000000000" pitchFamily="2" charset="2"/>
              </a:rPr>
              <a:t> </a:t>
            </a:r>
            <a:r>
              <a:rPr lang="en-US" sz="2800"/>
              <a:t>re= VT/Icq</a:t>
            </a:r>
            <a:endParaRPr lang="en-ID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89E99-CF2D-4A49-B40E-ABAB9986CAEC}"/>
              </a:ext>
            </a:extLst>
          </p:cNvPr>
          <p:cNvSpPr txBox="1"/>
          <p:nvPr/>
        </p:nvSpPr>
        <p:spPr>
          <a:xfrm>
            <a:off x="4243569" y="3690972"/>
            <a:ext cx="370486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Av=-Rc/re</a:t>
            </a:r>
          </a:p>
          <a:p>
            <a:r>
              <a:rPr lang="en-US" sz="2800"/>
              <a:t>     =-Rc.Icq/VT</a:t>
            </a:r>
          </a:p>
          <a:p>
            <a:r>
              <a:rPr lang="en-US" sz="2800"/>
              <a:t>     =-(5000.0,001)/0,026</a:t>
            </a:r>
          </a:p>
          <a:p>
            <a:endParaRPr lang="en-US" sz="2800"/>
          </a:p>
          <a:p>
            <a:r>
              <a:rPr lang="en-US" sz="2800">
                <a:sym typeface="Wingdings" panose="05000000000000000000" pitchFamily="2" charset="2"/>
              </a:rPr>
              <a:t> </a:t>
            </a:r>
            <a:r>
              <a:rPr lang="en-US" sz="2800"/>
              <a:t>Av_teori=-192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3541D-F14C-40C1-BA75-A76593E8B062}"/>
              </a:ext>
            </a:extLst>
          </p:cNvPr>
          <p:cNvSpPr txBox="1"/>
          <p:nvPr/>
        </p:nvSpPr>
        <p:spPr>
          <a:xfrm>
            <a:off x="838200" y="2819321"/>
            <a:ext cx="6068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Dari rumus </a:t>
            </a:r>
            <a:r>
              <a:rPr lang="en-US" sz="2800">
                <a:sym typeface="Wingdings" panose="05000000000000000000" pitchFamily="2" charset="2"/>
              </a:rPr>
              <a:t> </a:t>
            </a:r>
            <a:r>
              <a:rPr lang="en-US" sz="2800"/>
              <a:t>Av=-Rc/re maka:</a:t>
            </a:r>
          </a:p>
        </p:txBody>
      </p:sp>
    </p:spTree>
    <p:extLst>
      <p:ext uri="{BB962C8B-B14F-4D97-AF65-F5344CB8AC3E}">
        <p14:creationId xmlns:p14="http://schemas.microsoft.com/office/powerpoint/2010/main" val="115646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05A8-D119-4670-B914-4C97C037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Hitung Nilai Ai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75FF-F7E4-41C7-9A57-A8007BD9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56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05A8-D119-4670-B914-4C97C037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Hitung Nilai Zi dan Zo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75FF-F7E4-41C7-9A57-A8007BD9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5069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1AE2-7A86-4F03-A0CF-0BB6D533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 Simulasi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11B7C-7E36-45E1-995F-C790CD20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5867399"/>
            <a:ext cx="10515600" cy="538163"/>
          </a:xfrm>
        </p:spPr>
        <p:txBody>
          <a:bodyPr/>
          <a:lstStyle/>
          <a:p>
            <a:r>
              <a:rPr lang="en-US"/>
              <a:t>Av_simulasi= 5V/0,030V=-167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3902BE-B20B-4A7C-A5A7-F051052DC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624013"/>
            <a:ext cx="11353800" cy="41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4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260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Perancangan Penguat Sinyal Kecil CE FB (Common Emitter Fixed Bias)</vt:lpstr>
      <vt:lpstr>Soal Av Penguat CE FB</vt:lpstr>
      <vt:lpstr>Skema Penguat Sinyal Kecil CE FB</vt:lpstr>
      <vt:lpstr>Skema Ekuivalen AC</vt:lpstr>
      <vt:lpstr>Cari Rumus Av</vt:lpstr>
      <vt:lpstr>Cari Rumus Ai</vt:lpstr>
      <vt:lpstr>PowerPoint Presentation</vt:lpstr>
      <vt:lpstr>Cari Rumus Zi dan Zo</vt:lpstr>
      <vt:lpstr>Rumus Av dari Buku R. Boylestate</vt:lpstr>
      <vt:lpstr>Hitung Nilai Av</vt:lpstr>
      <vt:lpstr>Hitung Nilai Ai</vt:lpstr>
      <vt:lpstr>Hitung Nilai Zi dan Zo</vt:lpstr>
      <vt:lpstr>Av Simulasi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66</cp:revision>
  <dcterms:created xsi:type="dcterms:W3CDTF">2024-09-02T12:52:13Z</dcterms:created>
  <dcterms:modified xsi:type="dcterms:W3CDTF">2025-05-27T00:54:54Z</dcterms:modified>
</cp:coreProperties>
</file>