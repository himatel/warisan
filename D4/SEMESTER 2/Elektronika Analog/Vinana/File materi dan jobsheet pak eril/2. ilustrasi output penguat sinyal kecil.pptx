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9" r:id="rId3"/>
    <p:sldId id="265" r:id="rId4"/>
    <p:sldId id="261" r:id="rId5"/>
    <p:sldId id="262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C5D2-0600-4596-A7A7-FACEA3DABA51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67A-0021-4C8E-ADA5-BF119A44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5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C5D2-0600-4596-A7A7-FACEA3DABA51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67A-0021-4C8E-ADA5-BF119A44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99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C5D2-0600-4596-A7A7-FACEA3DABA51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67A-0021-4C8E-ADA5-BF119A44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30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C5D2-0600-4596-A7A7-FACEA3DABA51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67A-0021-4C8E-ADA5-BF119A44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61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C5D2-0600-4596-A7A7-FACEA3DABA51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67A-0021-4C8E-ADA5-BF119A44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34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C5D2-0600-4596-A7A7-FACEA3DABA51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67A-0021-4C8E-ADA5-BF119A44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5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C5D2-0600-4596-A7A7-FACEA3DABA51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67A-0021-4C8E-ADA5-BF119A44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12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C5D2-0600-4596-A7A7-FACEA3DABA51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67A-0021-4C8E-ADA5-BF119A44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2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C5D2-0600-4596-A7A7-FACEA3DABA51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67A-0021-4C8E-ADA5-BF119A44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5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C5D2-0600-4596-A7A7-FACEA3DABA51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67A-0021-4C8E-ADA5-BF119A44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24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C5D2-0600-4596-A7A7-FACEA3DABA51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67A-0021-4C8E-ADA5-BF119A44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3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0C5D2-0600-4596-A7A7-FACEA3DABA51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6267A-0021-4C8E-ADA5-BF119A444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7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2102-6F18-3E4D-330C-284D581BF6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Ilustrasi Output Penguat Sinyal Kecil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CD0CD-22F9-C1EC-3184-116B6BA289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4494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485D45C-0FE0-D7B1-1842-64E5DFC5E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836" y="2430397"/>
            <a:ext cx="1809789" cy="39619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7204"/>
            <a:ext cx="7543798" cy="595826"/>
          </a:xfrm>
        </p:spPr>
        <p:txBody>
          <a:bodyPr>
            <a:normAutofit/>
          </a:bodyPr>
          <a:lstStyle/>
          <a:p>
            <a:r>
              <a:rPr lang="en-US" sz="3200"/>
              <a:t>Tujuan Perancangan </a:t>
            </a:r>
            <a:r>
              <a:rPr lang="en-US" sz="3200" dirty="0" err="1"/>
              <a:t>Aplikasi</a:t>
            </a:r>
            <a:r>
              <a:rPr lang="en-US" sz="3200" dirty="0"/>
              <a:t> </a:t>
            </a:r>
            <a:r>
              <a:rPr lang="en-US" sz="3200" dirty="0" err="1"/>
              <a:t>Penguat</a:t>
            </a:r>
            <a:r>
              <a:rPr lang="en-US" sz="3200" dirty="0"/>
              <a:t> </a:t>
            </a:r>
            <a:r>
              <a:rPr lang="en-US" sz="3200" dirty="0" err="1"/>
              <a:t>Sinyal</a:t>
            </a:r>
            <a:endParaRPr lang="en-US" sz="3200" dirty="0"/>
          </a:p>
        </p:txBody>
      </p:sp>
      <p:sp>
        <p:nvSpPr>
          <p:cNvPr id="20" name="TextBox 19"/>
          <p:cNvSpPr txBox="1"/>
          <p:nvPr/>
        </p:nvSpPr>
        <p:spPr>
          <a:xfrm>
            <a:off x="8667383" y="3526483"/>
            <a:ext cx="1582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Qpoint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terlalu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atas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42943" y="4946538"/>
            <a:ext cx="173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Qpoint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terlalu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bawah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63547" y="6408134"/>
            <a:ext cx="1969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Penguatan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terlalu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besar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153329" y="2624887"/>
            <a:ext cx="17584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/>
              <a:t>Sinyal output terpotong di atas</a:t>
            </a:r>
            <a:endParaRPr lang="en-US" sz="1600" dirty="0"/>
          </a:p>
        </p:txBody>
      </p:sp>
      <p:sp>
        <p:nvSpPr>
          <p:cNvPr id="23" name="Rectangle 22"/>
          <p:cNvSpPr/>
          <p:nvPr/>
        </p:nvSpPr>
        <p:spPr>
          <a:xfrm>
            <a:off x="10140007" y="4098011"/>
            <a:ext cx="191468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/>
              <a:t>Sinyal output terpotong di bawah</a:t>
            </a:r>
            <a:endParaRPr lang="en-US" sz="1600" dirty="0"/>
          </a:p>
        </p:txBody>
      </p:sp>
      <p:sp>
        <p:nvSpPr>
          <p:cNvPr id="24" name="Rectangle 23"/>
          <p:cNvSpPr/>
          <p:nvPr/>
        </p:nvSpPr>
        <p:spPr>
          <a:xfrm>
            <a:off x="10272920" y="5506538"/>
            <a:ext cx="19146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/>
              <a:t>Sinyal output terpotong di atas dan di bawah</a:t>
            </a:r>
            <a:endParaRPr lang="en-US" sz="16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95BCB58-0434-89F8-E30F-D9E05F37A99A}"/>
              </a:ext>
            </a:extLst>
          </p:cNvPr>
          <p:cNvGrpSpPr/>
          <p:nvPr/>
        </p:nvGrpSpPr>
        <p:grpSpPr>
          <a:xfrm>
            <a:off x="2825764" y="1530407"/>
            <a:ext cx="4450893" cy="4063270"/>
            <a:chOff x="1914566" y="1807339"/>
            <a:chExt cx="4450893" cy="4063270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AFD2894-F740-4B97-F717-283496D1B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4566" y="2430397"/>
              <a:ext cx="4450893" cy="3174613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3329610" y="2260316"/>
              <a:ext cx="2093534" cy="3512411"/>
            </a:xfrm>
            <a:prstGeom prst="rect">
              <a:avLst/>
            </a:prstGeom>
            <a:solidFill>
              <a:schemeClr val="bg2"/>
            </a:solidFill>
            <a:ln w="285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634968" y="3693355"/>
              <a:ext cx="14370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Rangkaian Prategangan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8F4B72-91D5-D395-83FC-DF68ECF80010}"/>
                </a:ext>
              </a:extLst>
            </p:cNvPr>
            <p:cNvSpPr/>
            <p:nvPr/>
          </p:nvSpPr>
          <p:spPr>
            <a:xfrm>
              <a:off x="2915164" y="2157702"/>
              <a:ext cx="2781051" cy="371290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7C9790-9736-A11B-97AC-6223167DAB78}"/>
                </a:ext>
              </a:extLst>
            </p:cNvPr>
            <p:cNvSpPr txBox="1"/>
            <p:nvPr/>
          </p:nvSpPr>
          <p:spPr>
            <a:xfrm>
              <a:off x="2710291" y="1807339"/>
              <a:ext cx="21568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/>
                <a:t>Penguat Sinyal Kecil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413C0D1-E753-0209-CB72-789B6CCF1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282" y="568973"/>
            <a:ext cx="1667108" cy="1733792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cxnSpLocks/>
          </p:cNvCxnSpPr>
          <p:nvPr/>
        </p:nvCxnSpPr>
        <p:spPr>
          <a:xfrm>
            <a:off x="6952002" y="3295959"/>
            <a:ext cx="1476989" cy="22105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cxnSpLocks/>
            <a:endCxn id="17" idx="1"/>
          </p:cNvCxnSpPr>
          <p:nvPr/>
        </p:nvCxnSpPr>
        <p:spPr>
          <a:xfrm>
            <a:off x="6964239" y="3295959"/>
            <a:ext cx="1452597" cy="11154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6952002" y="3173205"/>
            <a:ext cx="1391904" cy="1227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 flipV="1">
            <a:off x="6964239" y="1864180"/>
            <a:ext cx="1479043" cy="14317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87BE69B0-0751-85DA-9A50-66DD62CCF6D4}"/>
              </a:ext>
            </a:extLst>
          </p:cNvPr>
          <p:cNvSpPr/>
          <p:nvPr/>
        </p:nvSpPr>
        <p:spPr>
          <a:xfrm>
            <a:off x="10140007" y="1318119"/>
            <a:ext cx="17584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/>
              <a:t>Sinyal output tepat di tengah</a:t>
            </a:r>
            <a:endParaRPr lang="en-US" sz="1600" dirty="0"/>
          </a:p>
        </p:txBody>
      </p:sp>
      <p:sp>
        <p:nvSpPr>
          <p:cNvPr id="33" name="Content Placeholder 2"/>
          <p:cNvSpPr txBox="1">
            <a:spLocks/>
          </p:cNvSpPr>
          <p:nvPr/>
        </p:nvSpPr>
        <p:spPr>
          <a:xfrm>
            <a:off x="274962" y="1175200"/>
            <a:ext cx="2633363" cy="14496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dirty="0" err="1"/>
              <a:t>Penguatan</a:t>
            </a:r>
            <a:r>
              <a:rPr lang="en-US" sz="1800" dirty="0"/>
              <a:t> </a:t>
            </a:r>
            <a:r>
              <a:rPr lang="en-US" sz="1800" dirty="0" err="1"/>
              <a:t>sebesar</a:t>
            </a:r>
            <a:r>
              <a:rPr lang="en-US" sz="1800" dirty="0"/>
              <a:t> </a:t>
            </a:r>
            <a:r>
              <a:rPr lang="en-US" sz="1800" dirty="0" err="1"/>
              <a:t>mungkin</a:t>
            </a:r>
            <a:r>
              <a:rPr lang="en-US" sz="1800" dirty="0"/>
              <a:t>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err="1"/>
              <a:t>Sinyal</a:t>
            </a:r>
            <a:r>
              <a:rPr lang="en-US" sz="1800" dirty="0"/>
              <a:t> output </a:t>
            </a:r>
            <a:r>
              <a:rPr lang="en-US" sz="1800" err="1"/>
              <a:t>tidak</a:t>
            </a:r>
            <a:r>
              <a:rPr lang="en-US" sz="1800"/>
              <a:t> bergeser ke atas atau ke bawah,</a:t>
            </a: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err="1"/>
              <a:t>Sinyal</a:t>
            </a:r>
            <a:r>
              <a:rPr lang="en-US" sz="1800" dirty="0"/>
              <a:t> output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terpotong</a:t>
            </a: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err="1"/>
              <a:t>Sinyal</a:t>
            </a:r>
            <a:r>
              <a:rPr lang="en-US" sz="1800" dirty="0"/>
              <a:t> output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cacat</a:t>
            </a: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965216-D95C-32B2-4B38-AE44D13BB6D4}"/>
              </a:ext>
            </a:extLst>
          </p:cNvPr>
          <p:cNvSpPr/>
          <p:nvPr/>
        </p:nvSpPr>
        <p:spPr>
          <a:xfrm>
            <a:off x="497265" y="5100426"/>
            <a:ext cx="17584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/>
              <a:t>Sinyal input</a:t>
            </a:r>
            <a:endParaRPr lang="en-US" sz="16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230EF69-A33D-E6A7-D65F-05A7A4766319}"/>
              </a:ext>
            </a:extLst>
          </p:cNvPr>
          <p:cNvCxnSpPr>
            <a:stCxn id="53" idx="0"/>
          </p:cNvCxnSpPr>
          <p:nvPr/>
        </p:nvCxnSpPr>
        <p:spPr>
          <a:xfrm flipV="1">
            <a:off x="1376470" y="4539343"/>
            <a:ext cx="1531855" cy="5610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ACF5AF4-5682-6236-DD29-E1562DEB32C9}"/>
              </a:ext>
            </a:extLst>
          </p:cNvPr>
          <p:cNvSpPr txBox="1"/>
          <p:nvPr/>
        </p:nvSpPr>
        <p:spPr>
          <a:xfrm>
            <a:off x="8636830" y="2187890"/>
            <a:ext cx="2107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err="1">
                <a:solidFill>
                  <a:srgbClr val="FF0000"/>
                </a:solidFill>
              </a:rPr>
              <a:t>Qpoint</a:t>
            </a:r>
            <a:r>
              <a:rPr lang="en-US" sz="1400">
                <a:solidFill>
                  <a:srgbClr val="FF0000"/>
                </a:solidFill>
              </a:rPr>
              <a:t> tepat di tengah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631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8116C-CA4C-58E2-B51D-4DC0443D1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C28B0C3-B157-9A06-BB35-0FD94E5B58C9}"/>
              </a:ext>
            </a:extLst>
          </p:cNvPr>
          <p:cNvGrpSpPr/>
          <p:nvPr/>
        </p:nvGrpSpPr>
        <p:grpSpPr>
          <a:xfrm>
            <a:off x="1944971" y="33031"/>
            <a:ext cx="8302057" cy="5222901"/>
            <a:chOff x="114907" y="1424031"/>
            <a:chExt cx="8302057" cy="52229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9E23B3-3DE8-6542-A245-DC6C5837C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694" y="1811192"/>
              <a:ext cx="7672110" cy="456449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F5291A0-A1C6-FF82-FF55-18D51F44F1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159" y="3045054"/>
              <a:ext cx="5736386" cy="32081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79D66F-268D-0968-757F-1F4A4F6091B6}"/>
                </a:ext>
              </a:extLst>
            </p:cNvPr>
            <p:cNvSpPr txBox="1"/>
            <p:nvPr/>
          </p:nvSpPr>
          <p:spPr>
            <a:xfrm>
              <a:off x="4317152" y="1506022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</a:t>
              </a:r>
              <a:endParaRPr lang="en-ID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F84757-3257-9CD7-2CAE-6264EF7924CE}"/>
                </a:ext>
              </a:extLst>
            </p:cNvPr>
            <p:cNvSpPr txBox="1"/>
            <p:nvPr/>
          </p:nvSpPr>
          <p:spPr>
            <a:xfrm>
              <a:off x="441747" y="1535651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</a:t>
              </a:r>
              <a:endParaRPr lang="en-ID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C830D76-1297-9049-6D7D-9683EBA334A1}"/>
                </a:ext>
              </a:extLst>
            </p:cNvPr>
            <p:cNvSpPr txBox="1"/>
            <p:nvPr/>
          </p:nvSpPr>
          <p:spPr>
            <a:xfrm>
              <a:off x="3801002" y="4026853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Ib</a:t>
              </a:r>
              <a:endParaRPr lang="en-ID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5D2A42-A1F9-9EF8-18A5-5611BB70D4D4}"/>
                </a:ext>
              </a:extLst>
            </p:cNvPr>
            <p:cNvSpPr txBox="1"/>
            <p:nvPr/>
          </p:nvSpPr>
          <p:spPr>
            <a:xfrm>
              <a:off x="7897289" y="3779172"/>
              <a:ext cx="5196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Vce</a:t>
              </a:r>
              <a:endParaRPr lang="en-ID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6EC40D5-6835-93C0-6C74-E29F22824E61}"/>
                </a:ext>
              </a:extLst>
            </p:cNvPr>
            <p:cNvSpPr txBox="1"/>
            <p:nvPr/>
          </p:nvSpPr>
          <p:spPr>
            <a:xfrm>
              <a:off x="369209" y="4186481"/>
              <a:ext cx="5949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Vbe</a:t>
              </a:r>
              <a:endParaRPr lang="en-ID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657D76-42DD-CB35-6D97-9998CA70FCFE}"/>
                </a:ext>
              </a:extLst>
            </p:cNvPr>
            <p:cNvSpPr txBox="1"/>
            <p:nvPr/>
          </p:nvSpPr>
          <p:spPr>
            <a:xfrm>
              <a:off x="3801002" y="6277600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Ib</a:t>
              </a:r>
              <a:endParaRPr lang="en-ID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85341A-1B4B-5398-4836-E74B5482925B}"/>
                </a:ext>
              </a:extLst>
            </p:cNvPr>
            <p:cNvCxnSpPr>
              <a:cxnSpLocks/>
            </p:cNvCxnSpPr>
            <p:nvPr/>
          </p:nvCxnSpPr>
          <p:spPr>
            <a:xfrm>
              <a:off x="1938800" y="3055991"/>
              <a:ext cx="0" cy="3221609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3A4618-9367-8181-3B39-ADC1823EB609}"/>
                </a:ext>
              </a:extLst>
            </p:cNvPr>
            <p:cNvSpPr txBox="1"/>
            <p:nvPr/>
          </p:nvSpPr>
          <p:spPr>
            <a:xfrm>
              <a:off x="1538728" y="6300933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Ibq=20uA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C14D42B-2AAA-1F88-6F45-20DBD48A89E7}"/>
                </a:ext>
              </a:extLst>
            </p:cNvPr>
            <p:cNvSpPr txBox="1"/>
            <p:nvPr/>
          </p:nvSpPr>
          <p:spPr>
            <a:xfrm>
              <a:off x="114907" y="4770934"/>
              <a:ext cx="9284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Vbeq=0,72v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7118BF-41CC-D580-2DFB-7FCB078EAD28}"/>
                </a:ext>
              </a:extLst>
            </p:cNvPr>
            <p:cNvSpPr txBox="1"/>
            <p:nvPr/>
          </p:nvSpPr>
          <p:spPr>
            <a:xfrm>
              <a:off x="1668340" y="2707803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A</a:t>
              </a:r>
              <a:endParaRPr lang="en-ID"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2B1D9B-8BF3-9C7B-B16F-F3601D4F6C32}"/>
                </a:ext>
              </a:extLst>
            </p:cNvPr>
            <p:cNvSpPr txBox="1"/>
            <p:nvPr/>
          </p:nvSpPr>
          <p:spPr>
            <a:xfrm>
              <a:off x="1659467" y="4733304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B</a:t>
              </a:r>
              <a:endParaRPr lang="en-ID"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3A4AB5D-73D0-E49B-2B3D-F8D4BE9A33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545" y="3055640"/>
              <a:ext cx="0" cy="860684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8847979-4845-5BD4-007B-1E4EE23668F6}"/>
                </a:ext>
              </a:extLst>
            </p:cNvPr>
            <p:cNvSpPr txBox="1"/>
            <p:nvPr/>
          </p:nvSpPr>
          <p:spPr>
            <a:xfrm>
              <a:off x="5425795" y="1424031"/>
              <a:ext cx="1310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Ic=f(Vce, Ib) </a:t>
              </a:r>
              <a:endParaRPr lang="en-ID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CEAD67-BC87-834E-4D83-0826701C3617}"/>
                </a:ext>
              </a:extLst>
            </p:cNvPr>
            <p:cNvSpPr txBox="1"/>
            <p:nvPr/>
          </p:nvSpPr>
          <p:spPr>
            <a:xfrm>
              <a:off x="1538728" y="1449035"/>
              <a:ext cx="1310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Ic=f(Ib, Vce) </a:t>
              </a:r>
              <a:endParaRPr lang="en-ID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27F800-B80C-D2B6-944F-1A1A3A8BBA97}"/>
                </a:ext>
              </a:extLst>
            </p:cNvPr>
            <p:cNvSpPr txBox="1"/>
            <p:nvPr/>
          </p:nvSpPr>
          <p:spPr>
            <a:xfrm>
              <a:off x="1491069" y="4113435"/>
              <a:ext cx="15280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Vbe=f(Ib, Vce) </a:t>
              </a:r>
              <a:endParaRPr lang="en-ID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17C08C-2905-E446-31ED-8FA725AE70EF}"/>
                </a:ext>
              </a:extLst>
            </p:cNvPr>
            <p:cNvSpPr txBox="1"/>
            <p:nvPr/>
          </p:nvSpPr>
          <p:spPr>
            <a:xfrm>
              <a:off x="5990830" y="4010004"/>
              <a:ext cx="7107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Vceq=6v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7E31B4-4BA0-6E99-A225-5245B75E4D94}"/>
                </a:ext>
              </a:extLst>
            </p:cNvPr>
            <p:cNvSpPr txBox="1"/>
            <p:nvPr/>
          </p:nvSpPr>
          <p:spPr>
            <a:xfrm>
              <a:off x="3859844" y="2833385"/>
              <a:ext cx="7377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Icq=5mA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97B3D6B-95EE-F4EF-5F4E-10561C8110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159" y="4797050"/>
              <a:ext cx="1300746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6AB7873-7B42-39B6-9FA7-0F4B8055D6A7}"/>
                </a:ext>
              </a:extLst>
            </p:cNvPr>
            <p:cNvSpPr txBox="1"/>
            <p:nvPr/>
          </p:nvSpPr>
          <p:spPr>
            <a:xfrm>
              <a:off x="6317151" y="2608701"/>
              <a:ext cx="8333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Qpoint</a:t>
              </a:r>
              <a:endParaRPr lang="en-ID">
                <a:solidFill>
                  <a:srgbClr val="FF000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50558A6-96D8-93A0-AFFF-86D36055CE3C}"/>
                </a:ext>
              </a:extLst>
            </p:cNvPr>
            <p:cNvSpPr txBox="1"/>
            <p:nvPr/>
          </p:nvSpPr>
          <p:spPr>
            <a:xfrm>
              <a:off x="7369791" y="4001815"/>
              <a:ext cx="9721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Vcemax=12v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A8D7571-253A-DC2E-0E6A-8529FB216F21}"/>
                </a:ext>
              </a:extLst>
            </p:cNvPr>
            <p:cNvCxnSpPr>
              <a:cxnSpLocks/>
            </p:cNvCxnSpPr>
            <p:nvPr/>
          </p:nvCxnSpPr>
          <p:spPr>
            <a:xfrm>
              <a:off x="4685211" y="2429691"/>
              <a:ext cx="3310593" cy="1271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230D205-2B9C-11D7-32A3-1E418ECCCA2A}"/>
                </a:ext>
              </a:extLst>
            </p:cNvPr>
            <p:cNvSpPr txBox="1"/>
            <p:nvPr/>
          </p:nvSpPr>
          <p:spPr>
            <a:xfrm rot="1339792">
              <a:off x="4957725" y="2441023"/>
              <a:ext cx="1063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Garis Beban</a:t>
              </a:r>
              <a:endParaRPr lang="en-ID" sz="1400">
                <a:solidFill>
                  <a:srgbClr val="FF000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0211E2-E51C-7D94-5ED7-712ABEBAA9B4}"/>
                </a:ext>
              </a:extLst>
            </p:cNvPr>
            <p:cNvSpPr txBox="1"/>
            <p:nvPr/>
          </p:nvSpPr>
          <p:spPr>
            <a:xfrm>
              <a:off x="3992479" y="2265302"/>
              <a:ext cx="5519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Icmax</a:t>
              </a:r>
              <a:endParaRPr lang="en-ID" sz="1200">
                <a:solidFill>
                  <a:srgbClr val="FF0000"/>
                </a:solidFill>
              </a:endParaRPr>
            </a:p>
          </p:txBody>
        </p:sp>
      </p:grpSp>
      <p:sp>
        <p:nvSpPr>
          <p:cNvPr id="34" name="Arrow: Down 33">
            <a:extLst>
              <a:ext uri="{FF2B5EF4-FFF2-40B4-BE49-F238E27FC236}">
                <a16:creationId xmlns:a16="http://schemas.microsoft.com/office/drawing/2014/main" id="{BA20BC39-76F4-95A3-7D19-518EF5E1542C}"/>
              </a:ext>
            </a:extLst>
          </p:cNvPr>
          <p:cNvSpPr/>
          <p:nvPr/>
        </p:nvSpPr>
        <p:spPr>
          <a:xfrm>
            <a:off x="7997080" y="2916671"/>
            <a:ext cx="333057" cy="253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7804A156-8878-B9FC-C8F8-56E6E6709B5D}"/>
              </a:ext>
            </a:extLst>
          </p:cNvPr>
          <p:cNvSpPr/>
          <p:nvPr/>
        </p:nvSpPr>
        <p:spPr>
          <a:xfrm rot="10800000">
            <a:off x="3602335" y="5137137"/>
            <a:ext cx="333057" cy="253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273371-59EB-E500-289E-792058D20FA0}"/>
              </a:ext>
            </a:extLst>
          </p:cNvPr>
          <p:cNvSpPr txBox="1"/>
          <p:nvPr/>
        </p:nvSpPr>
        <p:spPr>
          <a:xfrm>
            <a:off x="2101659" y="5577864"/>
            <a:ext cx="970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Delta_ib</a:t>
            </a:r>
            <a:endParaRPr lang="en-ID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7A86DC29-3D78-DA26-66F7-5D4A2A15F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0560" y="441281"/>
            <a:ext cx="1807049" cy="2039288"/>
          </a:xfrm>
        </p:spPr>
        <p:txBody>
          <a:bodyPr>
            <a:no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Bila Qpoint tepat di tengah</a:t>
            </a:r>
            <a:br>
              <a:rPr lang="en-US" sz="1600" b="1">
                <a:solidFill>
                  <a:srgbClr val="FF0000"/>
                </a:solidFill>
              </a:rPr>
            </a:br>
            <a:r>
              <a:rPr lang="en-US" sz="1600" b="1">
                <a:solidFill>
                  <a:srgbClr val="FF0000"/>
                </a:solidFill>
                <a:sym typeface="Wingdings" panose="05000000000000000000" pitchFamily="2" charset="2"/>
              </a:rPr>
              <a:t> Sinyal Output utuh tidak terpotong</a:t>
            </a:r>
            <a:endParaRPr lang="en-US" sz="1600" b="1" dirty="0">
              <a:solidFill>
                <a:srgbClr val="FF0000"/>
              </a:solidFill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81B619F5-ED7E-A564-85FB-1AB375A50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277067" y="5177320"/>
            <a:ext cx="1019943" cy="1572976"/>
          </a:xfrm>
          <a:prstGeom prst="rect">
            <a:avLst/>
          </a:prstGeom>
        </p:spPr>
      </p:pic>
      <p:sp>
        <p:nvSpPr>
          <p:cNvPr id="60" name="Oval 59">
            <a:extLst>
              <a:ext uri="{FF2B5EF4-FFF2-40B4-BE49-F238E27FC236}">
                <a16:creationId xmlns:a16="http://schemas.microsoft.com/office/drawing/2014/main" id="{E98C56CA-4C38-BAC9-7AB6-43AF0E888BB6}"/>
              </a:ext>
            </a:extLst>
          </p:cNvPr>
          <p:cNvSpPr/>
          <p:nvPr/>
        </p:nvSpPr>
        <p:spPr>
          <a:xfrm>
            <a:off x="8062119" y="1566668"/>
            <a:ext cx="218624" cy="195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1F51FAF-CEE3-9779-6753-2E8A91EFEA4F}"/>
              </a:ext>
            </a:extLst>
          </p:cNvPr>
          <p:cNvCxnSpPr>
            <a:cxnSpLocks/>
          </p:cNvCxnSpPr>
          <p:nvPr/>
        </p:nvCxnSpPr>
        <p:spPr>
          <a:xfrm flipH="1">
            <a:off x="2492791" y="1109247"/>
            <a:ext cx="2588497" cy="11496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DBD8182-65DF-2037-77AC-09156FBCBE3D}"/>
              </a:ext>
            </a:extLst>
          </p:cNvPr>
          <p:cNvGrpSpPr/>
          <p:nvPr/>
        </p:nvGrpSpPr>
        <p:grpSpPr>
          <a:xfrm>
            <a:off x="3077596" y="1389467"/>
            <a:ext cx="1375180" cy="4890648"/>
            <a:chOff x="4274896" y="1365284"/>
            <a:chExt cx="2593191" cy="489064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5A36361-1600-E0DC-86A3-4EB7FA4E78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96" y="1945189"/>
              <a:ext cx="5674" cy="431074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1C40E0F-89D0-8055-EB0E-9F3E98226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8087" y="1365284"/>
              <a:ext cx="0" cy="489064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C581642-E540-FAB3-4DDF-B4D86F227940}"/>
              </a:ext>
            </a:extLst>
          </p:cNvPr>
          <p:cNvGrpSpPr/>
          <p:nvPr/>
        </p:nvGrpSpPr>
        <p:grpSpPr>
          <a:xfrm>
            <a:off x="3077596" y="1373826"/>
            <a:ext cx="5924950" cy="632674"/>
            <a:chOff x="4934071" y="1495623"/>
            <a:chExt cx="5924950" cy="632674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E77EF11-9867-DCF5-BC14-F46E858CF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4071" y="2111429"/>
              <a:ext cx="5924950" cy="168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58AD20-52C2-203A-07A3-04E0C1FF9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9680" y="1495623"/>
              <a:ext cx="3034445" cy="1564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AEC38D1-67C9-2BA6-C102-17297790110C}"/>
              </a:ext>
            </a:extLst>
          </p:cNvPr>
          <p:cNvGrpSpPr/>
          <p:nvPr/>
        </p:nvGrpSpPr>
        <p:grpSpPr>
          <a:xfrm>
            <a:off x="7107262" y="3159234"/>
            <a:ext cx="1909714" cy="1100163"/>
            <a:chOff x="8786938" y="3258947"/>
            <a:chExt cx="1909714" cy="1100163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9B0B296-EACE-FCA4-F8B0-25921FCA7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54938" y="3258947"/>
              <a:ext cx="1741714" cy="1072267"/>
            </a:xfrm>
            <a:prstGeom prst="rect">
              <a:avLst/>
            </a:prstGeom>
          </p:spPr>
        </p:pic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5073DAB-5A3C-C7E1-44BB-4994B5A07F11}"/>
                </a:ext>
              </a:extLst>
            </p:cNvPr>
            <p:cNvGrpSpPr/>
            <p:nvPr/>
          </p:nvGrpSpPr>
          <p:grpSpPr>
            <a:xfrm>
              <a:off x="8786938" y="3286843"/>
              <a:ext cx="438488" cy="1072267"/>
              <a:chOff x="8786938" y="3286843"/>
              <a:chExt cx="606159" cy="1072267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FA1C449-2016-5F9C-5A1F-5E0C59E92128}"/>
                  </a:ext>
                </a:extLst>
              </p:cNvPr>
              <p:cNvSpPr/>
              <p:nvPr/>
            </p:nvSpPr>
            <p:spPr>
              <a:xfrm>
                <a:off x="8920782" y="3298528"/>
                <a:ext cx="472315" cy="180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974EF7D7-D007-5F15-2CDB-70B052C2EF67}"/>
                  </a:ext>
                </a:extLst>
              </p:cNvPr>
              <p:cNvSpPr/>
              <p:nvPr/>
            </p:nvSpPr>
            <p:spPr>
              <a:xfrm>
                <a:off x="8786938" y="3286843"/>
                <a:ext cx="472315" cy="10722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A6FACA-2D60-2B9B-BD55-DC1051EEF0D5}"/>
              </a:ext>
            </a:extLst>
          </p:cNvPr>
          <p:cNvGrpSpPr/>
          <p:nvPr/>
        </p:nvGrpSpPr>
        <p:grpSpPr>
          <a:xfrm>
            <a:off x="7397486" y="1355997"/>
            <a:ext cx="1564896" cy="4285585"/>
            <a:chOff x="8468794" y="1617495"/>
            <a:chExt cx="3082322" cy="428558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F4869C7-8552-9B42-6FCA-B82DE06074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19308" y="2197400"/>
              <a:ext cx="31808" cy="370568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C94BBD-2409-388C-7B47-6117AF498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8794" y="1617495"/>
              <a:ext cx="0" cy="428558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79D2950-375C-6257-5ADF-901573D9C88C}"/>
              </a:ext>
            </a:extLst>
          </p:cNvPr>
          <p:cNvCxnSpPr/>
          <p:nvPr/>
        </p:nvCxnSpPr>
        <p:spPr>
          <a:xfrm>
            <a:off x="516835" y="3379135"/>
            <a:ext cx="3935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4FEDFFE-1BB8-F4B3-320E-720CD4904E12}"/>
              </a:ext>
            </a:extLst>
          </p:cNvPr>
          <p:cNvCxnSpPr/>
          <p:nvPr/>
        </p:nvCxnSpPr>
        <p:spPr>
          <a:xfrm>
            <a:off x="524820" y="3429000"/>
            <a:ext cx="3935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F5AE706-2C97-8C02-2C4F-4A084C19B5A3}"/>
              </a:ext>
            </a:extLst>
          </p:cNvPr>
          <p:cNvCxnSpPr/>
          <p:nvPr/>
        </p:nvCxnSpPr>
        <p:spPr>
          <a:xfrm>
            <a:off x="1451113" y="3187130"/>
            <a:ext cx="0" cy="218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8BBDC16-33A9-7E83-017D-83B109DC32F0}"/>
              </a:ext>
            </a:extLst>
          </p:cNvPr>
          <p:cNvCxnSpPr/>
          <p:nvPr/>
        </p:nvCxnSpPr>
        <p:spPr>
          <a:xfrm flipV="1">
            <a:off x="1451113" y="3429000"/>
            <a:ext cx="0" cy="266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516441D-2BB1-A76B-D408-E344377879D7}"/>
              </a:ext>
            </a:extLst>
          </p:cNvPr>
          <p:cNvSpPr txBox="1"/>
          <p:nvPr/>
        </p:nvSpPr>
        <p:spPr>
          <a:xfrm>
            <a:off x="812061" y="3602981"/>
            <a:ext cx="113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Delta_vbe</a:t>
            </a:r>
            <a:endParaRPr lang="en-ID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099D0C-4F16-4D32-0DF4-7FFBB4585EF9}"/>
              </a:ext>
            </a:extLst>
          </p:cNvPr>
          <p:cNvSpPr txBox="1"/>
          <p:nvPr/>
        </p:nvSpPr>
        <p:spPr>
          <a:xfrm>
            <a:off x="7571526" y="4531812"/>
            <a:ext cx="111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Delta_vce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1294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>
            <a:extLst>
              <a:ext uri="{FF2B5EF4-FFF2-40B4-BE49-F238E27FC236}">
                <a16:creationId xmlns:a16="http://schemas.microsoft.com/office/drawing/2014/main" id="{BF39004E-2002-1856-62F1-D7CCDC043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4439" y="5208760"/>
            <a:ext cx="1019943" cy="157297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D9DA61F9-E64E-7275-5F5B-5179F2013739}"/>
              </a:ext>
            </a:extLst>
          </p:cNvPr>
          <p:cNvGrpSpPr/>
          <p:nvPr/>
        </p:nvGrpSpPr>
        <p:grpSpPr>
          <a:xfrm>
            <a:off x="3732750" y="131945"/>
            <a:ext cx="8302057" cy="5222901"/>
            <a:chOff x="114907" y="1424031"/>
            <a:chExt cx="8302057" cy="52229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609F3F1-C9D1-1DD7-52F5-B3D8463E4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694" y="1811192"/>
              <a:ext cx="7672110" cy="456449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46B2D65-E3E1-0031-65EE-A96A05E3E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3364" y="3549490"/>
              <a:ext cx="6556710" cy="15004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95F56DA-53E1-AEDB-2741-3B4D7CE92378}"/>
                </a:ext>
              </a:extLst>
            </p:cNvPr>
            <p:cNvSpPr txBox="1"/>
            <p:nvPr/>
          </p:nvSpPr>
          <p:spPr>
            <a:xfrm>
              <a:off x="4317152" y="1506022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</a:t>
              </a:r>
              <a:endParaRPr lang="en-ID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0DBECB-30CC-2CDC-E512-D515A9828F20}"/>
                </a:ext>
              </a:extLst>
            </p:cNvPr>
            <p:cNvSpPr txBox="1"/>
            <p:nvPr/>
          </p:nvSpPr>
          <p:spPr>
            <a:xfrm>
              <a:off x="441747" y="1535651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</a:t>
              </a:r>
              <a:endParaRPr lang="en-ID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8F35DD-9020-EBEA-EF90-5B8E5C44C960}"/>
                </a:ext>
              </a:extLst>
            </p:cNvPr>
            <p:cNvSpPr txBox="1"/>
            <p:nvPr/>
          </p:nvSpPr>
          <p:spPr>
            <a:xfrm>
              <a:off x="3801002" y="4026853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Ib</a:t>
              </a:r>
              <a:endParaRPr lang="en-ID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7FE5D6-552F-C137-CB22-9036AC93C284}"/>
                </a:ext>
              </a:extLst>
            </p:cNvPr>
            <p:cNvSpPr txBox="1"/>
            <p:nvPr/>
          </p:nvSpPr>
          <p:spPr>
            <a:xfrm>
              <a:off x="7897289" y="3779172"/>
              <a:ext cx="5196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Vce</a:t>
              </a:r>
              <a:endParaRPr lang="en-ID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075A9BC-3D96-D710-9634-A0C226B87E83}"/>
                </a:ext>
              </a:extLst>
            </p:cNvPr>
            <p:cNvSpPr txBox="1"/>
            <p:nvPr/>
          </p:nvSpPr>
          <p:spPr>
            <a:xfrm>
              <a:off x="369209" y="4186481"/>
              <a:ext cx="5949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Vbe</a:t>
              </a:r>
              <a:endParaRPr lang="en-ID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0B873C-DBCE-F280-0FB9-0B2C197BEF28}"/>
                </a:ext>
              </a:extLst>
            </p:cNvPr>
            <p:cNvSpPr txBox="1"/>
            <p:nvPr/>
          </p:nvSpPr>
          <p:spPr>
            <a:xfrm>
              <a:off x="3801002" y="6277600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Ib</a:t>
              </a:r>
              <a:endParaRPr lang="en-ID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E19098-E63B-5218-C753-C4950563B8B0}"/>
                </a:ext>
              </a:extLst>
            </p:cNvPr>
            <p:cNvCxnSpPr>
              <a:cxnSpLocks/>
            </p:cNvCxnSpPr>
            <p:nvPr/>
          </p:nvCxnSpPr>
          <p:spPr>
            <a:xfrm>
              <a:off x="928222" y="3578882"/>
              <a:ext cx="0" cy="2829337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0FB8F1-3F28-0648-E7AB-E60903DAD677}"/>
                </a:ext>
              </a:extLst>
            </p:cNvPr>
            <p:cNvSpPr txBox="1"/>
            <p:nvPr/>
          </p:nvSpPr>
          <p:spPr>
            <a:xfrm>
              <a:off x="1538728" y="6300933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Ibq=20uA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9900410-3C79-091E-EFE5-86F563D5298B}"/>
                </a:ext>
              </a:extLst>
            </p:cNvPr>
            <p:cNvSpPr txBox="1"/>
            <p:nvPr/>
          </p:nvSpPr>
          <p:spPr>
            <a:xfrm>
              <a:off x="114907" y="4770934"/>
              <a:ext cx="9284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Vbeq=0,72v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71C26A1-FDAB-558C-6681-932B8C9AA3B2}"/>
                </a:ext>
              </a:extLst>
            </p:cNvPr>
            <p:cNvSpPr txBox="1"/>
            <p:nvPr/>
          </p:nvSpPr>
          <p:spPr>
            <a:xfrm>
              <a:off x="1668340" y="2707803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A</a:t>
              </a:r>
              <a:endParaRPr lang="en-ID"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0D7390-7A41-FF24-C277-B7C90AA2A73B}"/>
                </a:ext>
              </a:extLst>
            </p:cNvPr>
            <p:cNvSpPr txBox="1"/>
            <p:nvPr/>
          </p:nvSpPr>
          <p:spPr>
            <a:xfrm>
              <a:off x="1659467" y="4733304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B</a:t>
              </a:r>
              <a:endParaRPr lang="en-ID"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1EFA02A-A0AE-E1F9-9D36-EC4D242A35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73003" y="3448263"/>
              <a:ext cx="0" cy="553552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3CE1EC-A56E-8FB6-E3C9-992C349D2F17}"/>
                </a:ext>
              </a:extLst>
            </p:cNvPr>
            <p:cNvSpPr txBox="1"/>
            <p:nvPr/>
          </p:nvSpPr>
          <p:spPr>
            <a:xfrm>
              <a:off x="5425795" y="1424031"/>
              <a:ext cx="1310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Ic=f(Vce, Ib) </a:t>
              </a:r>
              <a:endParaRPr lang="en-ID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0D5DDEB-F051-11A6-3CBC-6ACD18A5D862}"/>
                </a:ext>
              </a:extLst>
            </p:cNvPr>
            <p:cNvSpPr txBox="1"/>
            <p:nvPr/>
          </p:nvSpPr>
          <p:spPr>
            <a:xfrm>
              <a:off x="1538728" y="1449035"/>
              <a:ext cx="1310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Ic=f(Ib, Vce) </a:t>
              </a:r>
              <a:endParaRPr lang="en-ID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0FF154D-5E7D-5D4D-3CBD-FBFABFCD8F27}"/>
                </a:ext>
              </a:extLst>
            </p:cNvPr>
            <p:cNvSpPr txBox="1"/>
            <p:nvPr/>
          </p:nvSpPr>
          <p:spPr>
            <a:xfrm>
              <a:off x="1491069" y="4113435"/>
              <a:ext cx="15280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Vbe=f(Ib, Vce) </a:t>
              </a:r>
              <a:endParaRPr lang="en-ID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20A2574-635D-D103-32CE-ADAFD8A3F780}"/>
                </a:ext>
              </a:extLst>
            </p:cNvPr>
            <p:cNvSpPr txBox="1"/>
            <p:nvPr/>
          </p:nvSpPr>
          <p:spPr>
            <a:xfrm>
              <a:off x="5990830" y="4010004"/>
              <a:ext cx="7107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Vceq=6v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A724E17-2640-F99F-A5A2-F68B3640E6DA}"/>
                </a:ext>
              </a:extLst>
            </p:cNvPr>
            <p:cNvSpPr txBox="1"/>
            <p:nvPr/>
          </p:nvSpPr>
          <p:spPr>
            <a:xfrm>
              <a:off x="3859844" y="2833385"/>
              <a:ext cx="7377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Icq=5mA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0E9BEE-FA70-58DD-70FB-2B218B9CC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136" y="4909433"/>
              <a:ext cx="385057" cy="8537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6C809E7-F011-942E-6067-5DE769D6A8AA}"/>
                </a:ext>
              </a:extLst>
            </p:cNvPr>
            <p:cNvSpPr txBox="1"/>
            <p:nvPr/>
          </p:nvSpPr>
          <p:spPr>
            <a:xfrm>
              <a:off x="7369791" y="4001815"/>
              <a:ext cx="9721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Vcemax=12v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643322-B3C8-A2DD-950D-7B015C13A73D}"/>
                </a:ext>
              </a:extLst>
            </p:cNvPr>
            <p:cNvSpPr txBox="1"/>
            <p:nvPr/>
          </p:nvSpPr>
          <p:spPr>
            <a:xfrm rot="1339792">
              <a:off x="4957725" y="2441023"/>
              <a:ext cx="1063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Garis Beban</a:t>
              </a:r>
              <a:endParaRPr lang="en-ID" sz="1400">
                <a:solidFill>
                  <a:srgbClr val="FF000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838E0EB-2789-CA9D-0BF0-7F84914002B8}"/>
                </a:ext>
              </a:extLst>
            </p:cNvPr>
            <p:cNvSpPr txBox="1"/>
            <p:nvPr/>
          </p:nvSpPr>
          <p:spPr>
            <a:xfrm>
              <a:off x="3992479" y="2265302"/>
              <a:ext cx="5519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Icmax</a:t>
              </a:r>
              <a:endParaRPr lang="en-ID" sz="1200">
                <a:solidFill>
                  <a:srgbClr val="FF0000"/>
                </a:solidFill>
              </a:endParaRPr>
            </a:p>
          </p:txBody>
        </p:sp>
      </p:grpSp>
      <p:sp>
        <p:nvSpPr>
          <p:cNvPr id="34" name="Arrow: Down 33">
            <a:extLst>
              <a:ext uri="{FF2B5EF4-FFF2-40B4-BE49-F238E27FC236}">
                <a16:creationId xmlns:a16="http://schemas.microsoft.com/office/drawing/2014/main" id="{96385C2D-8CF6-3E5E-0B89-E3F7861AB1AD}"/>
              </a:ext>
            </a:extLst>
          </p:cNvPr>
          <p:cNvSpPr/>
          <p:nvPr/>
        </p:nvSpPr>
        <p:spPr>
          <a:xfrm>
            <a:off x="11024317" y="2994917"/>
            <a:ext cx="333057" cy="253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95B8E169-1576-E3FC-AD78-6713FAF401D9}"/>
              </a:ext>
            </a:extLst>
          </p:cNvPr>
          <p:cNvSpPr/>
          <p:nvPr/>
        </p:nvSpPr>
        <p:spPr>
          <a:xfrm rot="10800000">
            <a:off x="4401077" y="5137925"/>
            <a:ext cx="333057" cy="253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09DC2D-5873-F316-24B3-114A439B39B6}"/>
              </a:ext>
            </a:extLst>
          </p:cNvPr>
          <p:cNvSpPr txBox="1"/>
          <p:nvPr/>
        </p:nvSpPr>
        <p:spPr>
          <a:xfrm>
            <a:off x="3455426" y="562591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ib</a:t>
            </a:r>
            <a:endParaRPr lang="en-ID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D6807E7F-A4F1-4C23-F178-C27D7B7E2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60" y="2123520"/>
            <a:ext cx="3024838" cy="2154566"/>
          </a:xfrm>
        </p:spPr>
        <p:txBody>
          <a:bodyPr>
            <a:noAutofit/>
          </a:bodyPr>
          <a:lstStyle/>
          <a:p>
            <a:pPr algn="ctr"/>
            <a:r>
              <a:rPr lang="en-US" sz="2400"/>
              <a:t>Bila Qpoint terlalu bawah</a:t>
            </a:r>
            <a:br>
              <a:rPr lang="en-US" sz="2400"/>
            </a:br>
            <a:r>
              <a:rPr lang="en-US" sz="2400">
                <a:sym typeface="Wingdings" panose="05000000000000000000" pitchFamily="2" charset="2"/>
              </a:rPr>
              <a:t> Sinyal Output terpotong di bagian atas</a:t>
            </a:r>
            <a:endParaRPr lang="en-US" sz="24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F44B727-39E2-59A7-3046-8E939DA96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859" y="3276832"/>
            <a:ext cx="2010051" cy="1152236"/>
          </a:xfrm>
          <a:prstGeom prst="rect">
            <a:avLst/>
          </a:prstGeom>
        </p:spPr>
      </p:pic>
      <p:sp>
        <p:nvSpPr>
          <p:cNvPr id="60" name="Oval 59">
            <a:extLst>
              <a:ext uri="{FF2B5EF4-FFF2-40B4-BE49-F238E27FC236}">
                <a16:creationId xmlns:a16="http://schemas.microsoft.com/office/drawing/2014/main" id="{BA9EB9B3-54E9-1EFF-0EDA-4D881D9E3EC7}"/>
              </a:ext>
            </a:extLst>
          </p:cNvPr>
          <p:cNvSpPr/>
          <p:nvPr/>
        </p:nvSpPr>
        <p:spPr>
          <a:xfrm>
            <a:off x="11057917" y="2123520"/>
            <a:ext cx="218624" cy="195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2BBF4FC-2A55-63B9-A124-45F5AA6502DB}"/>
              </a:ext>
            </a:extLst>
          </p:cNvPr>
          <p:cNvCxnSpPr>
            <a:cxnSpLocks/>
          </p:cNvCxnSpPr>
          <p:nvPr/>
        </p:nvCxnSpPr>
        <p:spPr>
          <a:xfrm flipH="1">
            <a:off x="3814820" y="1930629"/>
            <a:ext cx="1462490" cy="6729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EEA46E2-0046-47DB-1808-F4A89E4FDFA7}"/>
              </a:ext>
            </a:extLst>
          </p:cNvPr>
          <p:cNvCxnSpPr>
            <a:cxnSpLocks/>
          </p:cNvCxnSpPr>
          <p:nvPr/>
        </p:nvCxnSpPr>
        <p:spPr>
          <a:xfrm>
            <a:off x="8303054" y="1137605"/>
            <a:ext cx="3310593" cy="12714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CF3423A-002D-3901-4926-75477C49FC6A}"/>
              </a:ext>
            </a:extLst>
          </p:cNvPr>
          <p:cNvGrpSpPr/>
          <p:nvPr/>
        </p:nvGrpSpPr>
        <p:grpSpPr>
          <a:xfrm>
            <a:off x="10379918" y="1956467"/>
            <a:ext cx="1202503" cy="4285585"/>
            <a:chOff x="8468794" y="1617495"/>
            <a:chExt cx="2368529" cy="4285585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37DF0C6-86AF-60A2-607F-14FAA01EDD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4073" y="2054940"/>
              <a:ext cx="53250" cy="384814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5205273F-2B67-06AF-D2B7-759F4376E6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8794" y="1617495"/>
              <a:ext cx="0" cy="428558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FF3FD2C-20D8-ADCE-2526-B1E312BEE3B5}"/>
              </a:ext>
            </a:extLst>
          </p:cNvPr>
          <p:cNvGrpSpPr/>
          <p:nvPr/>
        </p:nvGrpSpPr>
        <p:grpSpPr>
          <a:xfrm>
            <a:off x="3819869" y="1951435"/>
            <a:ext cx="8158317" cy="616358"/>
            <a:chOff x="2700704" y="1495071"/>
            <a:chExt cx="8158317" cy="616358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0CCDBA4-5F8E-098F-CC6A-76E1434A9F1A}"/>
                </a:ext>
              </a:extLst>
            </p:cNvPr>
            <p:cNvCxnSpPr>
              <a:cxnSpLocks/>
            </p:cNvCxnSpPr>
            <p:nvPr/>
          </p:nvCxnSpPr>
          <p:spPr>
            <a:xfrm>
              <a:off x="2700704" y="2111429"/>
              <a:ext cx="8158317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4439C5D-F813-FF76-414B-FD4532D95080}"/>
                </a:ext>
              </a:extLst>
            </p:cNvPr>
            <p:cNvCxnSpPr>
              <a:cxnSpLocks/>
            </p:cNvCxnSpPr>
            <p:nvPr/>
          </p:nvCxnSpPr>
          <p:spPr>
            <a:xfrm>
              <a:off x="4037406" y="1495071"/>
              <a:ext cx="5256719" cy="55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ABF9BFB-8A49-58F5-0D01-735A1AB85E17}"/>
              </a:ext>
            </a:extLst>
          </p:cNvPr>
          <p:cNvGrpSpPr/>
          <p:nvPr/>
        </p:nvGrpSpPr>
        <p:grpSpPr>
          <a:xfrm>
            <a:off x="3863756" y="1956467"/>
            <a:ext cx="1372171" cy="4580570"/>
            <a:chOff x="4280570" y="1365284"/>
            <a:chExt cx="2587517" cy="4580570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168852B-BE5A-3338-AB77-FBC2A0974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8087" y="1365284"/>
              <a:ext cx="0" cy="458057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6B0F8798-AE9A-8BD8-1088-82715517EB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570" y="1945189"/>
              <a:ext cx="0" cy="393742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7696D7F-E651-6D50-FB60-148C90F7C68D}"/>
              </a:ext>
            </a:extLst>
          </p:cNvPr>
          <p:cNvSpPr/>
          <p:nvPr/>
        </p:nvSpPr>
        <p:spPr>
          <a:xfrm>
            <a:off x="9784859" y="3248346"/>
            <a:ext cx="309697" cy="1029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5E785FA-8402-547E-5A16-C9A66876205D}"/>
              </a:ext>
            </a:extLst>
          </p:cNvPr>
          <p:cNvSpPr/>
          <p:nvPr/>
        </p:nvSpPr>
        <p:spPr>
          <a:xfrm>
            <a:off x="9892594" y="3398255"/>
            <a:ext cx="472315" cy="3032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FE0B99A-B9CC-F581-FC56-B6C2D24534BC}"/>
              </a:ext>
            </a:extLst>
          </p:cNvPr>
          <p:cNvSpPr txBox="1"/>
          <p:nvPr/>
        </p:nvSpPr>
        <p:spPr>
          <a:xfrm>
            <a:off x="10697128" y="1807571"/>
            <a:ext cx="833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Qpoint</a:t>
            </a:r>
            <a:endParaRPr lang="en-ID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22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DD5DB-D2B2-230C-DD8D-95E7269A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>
            <a:extLst>
              <a:ext uri="{FF2B5EF4-FFF2-40B4-BE49-F238E27FC236}">
                <a16:creationId xmlns:a16="http://schemas.microsoft.com/office/drawing/2014/main" id="{C2EE246D-15AE-F559-C04E-7064AAADA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149460" y="5209459"/>
            <a:ext cx="1019943" cy="157297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0E84260C-B2F6-30A3-A98A-AD24FE0F0B6D}"/>
              </a:ext>
            </a:extLst>
          </p:cNvPr>
          <p:cNvGrpSpPr/>
          <p:nvPr/>
        </p:nvGrpSpPr>
        <p:grpSpPr>
          <a:xfrm>
            <a:off x="3004750" y="131945"/>
            <a:ext cx="9030057" cy="5222901"/>
            <a:chOff x="-613093" y="1424031"/>
            <a:chExt cx="9030057" cy="52229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169939D-E908-D92A-B5F1-700FD5811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694" y="1811192"/>
              <a:ext cx="7672110" cy="456449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6F900C9-B0E5-3364-E767-E3411A5145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613093" y="2586183"/>
              <a:ext cx="5736386" cy="32081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AD8E0A7-D500-04CD-E1E7-71444515632B}"/>
                </a:ext>
              </a:extLst>
            </p:cNvPr>
            <p:cNvSpPr txBox="1"/>
            <p:nvPr/>
          </p:nvSpPr>
          <p:spPr>
            <a:xfrm>
              <a:off x="4317152" y="1506022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</a:t>
              </a:r>
              <a:endParaRPr lang="en-ID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6C17B76-2BEC-D3B4-9FD8-8A6868D37585}"/>
                </a:ext>
              </a:extLst>
            </p:cNvPr>
            <p:cNvSpPr txBox="1"/>
            <p:nvPr/>
          </p:nvSpPr>
          <p:spPr>
            <a:xfrm>
              <a:off x="441747" y="1535651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</a:t>
              </a:r>
              <a:endParaRPr lang="en-ID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F99BAC-1365-8F4B-99DE-9E03E5A5AFEB}"/>
                </a:ext>
              </a:extLst>
            </p:cNvPr>
            <p:cNvSpPr txBox="1"/>
            <p:nvPr/>
          </p:nvSpPr>
          <p:spPr>
            <a:xfrm>
              <a:off x="3801002" y="4026853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Ib</a:t>
              </a:r>
              <a:endParaRPr lang="en-ID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4728DD-B211-3753-EF81-2153B11877D9}"/>
                </a:ext>
              </a:extLst>
            </p:cNvPr>
            <p:cNvSpPr txBox="1"/>
            <p:nvPr/>
          </p:nvSpPr>
          <p:spPr>
            <a:xfrm>
              <a:off x="7897289" y="3779172"/>
              <a:ext cx="5196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Vce</a:t>
              </a:r>
              <a:endParaRPr lang="en-ID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1E625F7-E050-B03E-8B06-2438774EE84D}"/>
                </a:ext>
              </a:extLst>
            </p:cNvPr>
            <p:cNvSpPr txBox="1"/>
            <p:nvPr/>
          </p:nvSpPr>
          <p:spPr>
            <a:xfrm>
              <a:off x="369209" y="4186481"/>
              <a:ext cx="5949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Vbe</a:t>
              </a:r>
              <a:endParaRPr lang="en-ID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258913-7A8C-9E33-1F06-6CF5CDD8988E}"/>
                </a:ext>
              </a:extLst>
            </p:cNvPr>
            <p:cNvSpPr txBox="1"/>
            <p:nvPr/>
          </p:nvSpPr>
          <p:spPr>
            <a:xfrm>
              <a:off x="3801002" y="6277600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Ib</a:t>
              </a:r>
              <a:endParaRPr lang="en-ID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1AC462-164C-4C0E-1DC1-A04DE414D9C1}"/>
                </a:ext>
              </a:extLst>
            </p:cNvPr>
            <p:cNvCxnSpPr>
              <a:cxnSpLocks/>
            </p:cNvCxnSpPr>
            <p:nvPr/>
          </p:nvCxnSpPr>
          <p:spPr>
            <a:xfrm>
              <a:off x="3019131" y="2597385"/>
              <a:ext cx="0" cy="3756305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5A7F76A-AB0E-9034-5A65-AAAC95241CFB}"/>
                </a:ext>
              </a:extLst>
            </p:cNvPr>
            <p:cNvSpPr txBox="1"/>
            <p:nvPr/>
          </p:nvSpPr>
          <p:spPr>
            <a:xfrm>
              <a:off x="1538728" y="6300933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Ibq=20uA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D5E2E7-D92D-A3CA-A836-2A6E2AA339BA}"/>
                </a:ext>
              </a:extLst>
            </p:cNvPr>
            <p:cNvSpPr txBox="1"/>
            <p:nvPr/>
          </p:nvSpPr>
          <p:spPr>
            <a:xfrm>
              <a:off x="114907" y="4770934"/>
              <a:ext cx="9284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Vbeq=0,72v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7C9DD1-0ECD-C378-9923-527087545EB9}"/>
                </a:ext>
              </a:extLst>
            </p:cNvPr>
            <p:cNvSpPr txBox="1"/>
            <p:nvPr/>
          </p:nvSpPr>
          <p:spPr>
            <a:xfrm>
              <a:off x="1668340" y="2707803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A</a:t>
              </a:r>
              <a:endParaRPr lang="en-ID"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E8AA1A5-E825-2734-CE9C-A7F1E1C187E2}"/>
                </a:ext>
              </a:extLst>
            </p:cNvPr>
            <p:cNvSpPr txBox="1"/>
            <p:nvPr/>
          </p:nvSpPr>
          <p:spPr>
            <a:xfrm>
              <a:off x="1659467" y="4733304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B</a:t>
              </a:r>
              <a:endParaRPr lang="en-ID"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35BBD0-9F7A-6DB0-1142-10C38EACD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5231" y="2594911"/>
              <a:ext cx="0" cy="1880627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9D7BE04-79A6-17AF-5A0E-4B5ED4D44DA3}"/>
                </a:ext>
              </a:extLst>
            </p:cNvPr>
            <p:cNvSpPr txBox="1"/>
            <p:nvPr/>
          </p:nvSpPr>
          <p:spPr>
            <a:xfrm>
              <a:off x="5425795" y="1424031"/>
              <a:ext cx="1310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Ic=f(Vce, Ib) </a:t>
              </a:r>
              <a:endParaRPr lang="en-ID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27524E-970B-9ACF-DB36-1DA831BC904E}"/>
                </a:ext>
              </a:extLst>
            </p:cNvPr>
            <p:cNvSpPr txBox="1"/>
            <p:nvPr/>
          </p:nvSpPr>
          <p:spPr>
            <a:xfrm>
              <a:off x="1538728" y="1449035"/>
              <a:ext cx="1310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Ic=f(Ib, Vce) </a:t>
              </a:r>
              <a:endParaRPr lang="en-ID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23BF3B-8F37-03C4-06B5-0F16BF11F9FB}"/>
                </a:ext>
              </a:extLst>
            </p:cNvPr>
            <p:cNvSpPr txBox="1"/>
            <p:nvPr/>
          </p:nvSpPr>
          <p:spPr>
            <a:xfrm>
              <a:off x="1491069" y="4113435"/>
              <a:ext cx="15280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Vbe=f(Ib, Vce) </a:t>
              </a:r>
              <a:endParaRPr lang="en-ID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B78D04A-22A9-3885-291E-E04B36B43DC9}"/>
                </a:ext>
              </a:extLst>
            </p:cNvPr>
            <p:cNvSpPr txBox="1"/>
            <p:nvPr/>
          </p:nvSpPr>
          <p:spPr>
            <a:xfrm>
              <a:off x="5990830" y="4010004"/>
              <a:ext cx="7107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Vceq=6v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6F14865-CFC1-822C-3C2A-6E53C9A2B839}"/>
                </a:ext>
              </a:extLst>
            </p:cNvPr>
            <p:cNvSpPr txBox="1"/>
            <p:nvPr/>
          </p:nvSpPr>
          <p:spPr>
            <a:xfrm>
              <a:off x="3859844" y="2833385"/>
              <a:ext cx="7377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Icq=5mA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2380D4A-1B17-1AF5-F79F-7070852813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159" y="4753507"/>
              <a:ext cx="199478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880E203-28BC-2F38-1882-014957200636}"/>
                </a:ext>
              </a:extLst>
            </p:cNvPr>
            <p:cNvSpPr txBox="1"/>
            <p:nvPr/>
          </p:nvSpPr>
          <p:spPr>
            <a:xfrm>
              <a:off x="7369791" y="4001815"/>
              <a:ext cx="9721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Vcemax=12v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1CD2AF-66BE-2FDE-DF5F-5F4F77BDE455}"/>
                </a:ext>
              </a:extLst>
            </p:cNvPr>
            <p:cNvSpPr txBox="1"/>
            <p:nvPr/>
          </p:nvSpPr>
          <p:spPr>
            <a:xfrm rot="1339792">
              <a:off x="6525512" y="3050350"/>
              <a:ext cx="1063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Garis Beban</a:t>
              </a:r>
              <a:endParaRPr lang="en-ID" sz="1400">
                <a:solidFill>
                  <a:srgbClr val="FF000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E9BF03-BEAD-10F4-F387-54C406EAB10A}"/>
                </a:ext>
              </a:extLst>
            </p:cNvPr>
            <p:cNvSpPr txBox="1"/>
            <p:nvPr/>
          </p:nvSpPr>
          <p:spPr>
            <a:xfrm>
              <a:off x="3992479" y="2265302"/>
              <a:ext cx="5519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Icmax</a:t>
              </a:r>
              <a:endParaRPr lang="en-ID" sz="1200">
                <a:solidFill>
                  <a:srgbClr val="FF0000"/>
                </a:solidFill>
              </a:endParaRPr>
            </a:p>
          </p:txBody>
        </p:sp>
      </p:grpSp>
      <p:sp>
        <p:nvSpPr>
          <p:cNvPr id="34" name="Arrow: Down 33">
            <a:extLst>
              <a:ext uri="{FF2B5EF4-FFF2-40B4-BE49-F238E27FC236}">
                <a16:creationId xmlns:a16="http://schemas.microsoft.com/office/drawing/2014/main" id="{B65438F7-FA8A-D939-67E5-8BE4B77A6703}"/>
              </a:ext>
            </a:extLst>
          </p:cNvPr>
          <p:cNvSpPr/>
          <p:nvPr/>
        </p:nvSpPr>
        <p:spPr>
          <a:xfrm>
            <a:off x="8576545" y="2896681"/>
            <a:ext cx="333057" cy="253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B6A391F3-F1EB-0051-8FEF-B9CF694709A4}"/>
              </a:ext>
            </a:extLst>
          </p:cNvPr>
          <p:cNvSpPr/>
          <p:nvPr/>
        </p:nvSpPr>
        <p:spPr>
          <a:xfrm rot="10800000">
            <a:off x="6484277" y="5134381"/>
            <a:ext cx="333057" cy="253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1E2EC1-0E64-EF36-EFAE-758C2FD6F864}"/>
              </a:ext>
            </a:extLst>
          </p:cNvPr>
          <p:cNvSpPr txBox="1"/>
          <p:nvPr/>
        </p:nvSpPr>
        <p:spPr>
          <a:xfrm>
            <a:off x="5513549" y="574655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ib</a:t>
            </a:r>
            <a:endParaRPr lang="en-ID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CC565469-4D26-55DD-98D6-FF1BF7D6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183" y="2164642"/>
            <a:ext cx="3024838" cy="1660550"/>
          </a:xfrm>
        </p:spPr>
        <p:txBody>
          <a:bodyPr>
            <a:noAutofit/>
          </a:bodyPr>
          <a:lstStyle/>
          <a:p>
            <a:pPr algn="ctr"/>
            <a:r>
              <a:rPr lang="en-US" sz="2400"/>
              <a:t>Bila Qpoint terlalu atas </a:t>
            </a:r>
            <a:r>
              <a:rPr lang="en-US" sz="2400">
                <a:sym typeface="Wingdings" panose="05000000000000000000" pitchFamily="2" charset="2"/>
              </a:rPr>
              <a:t> Sinyal Output terpotong di bagian bawah</a:t>
            </a:r>
            <a:endParaRPr lang="en-US" sz="24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6961B294-9987-E39F-F29C-45B7EDF2F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2" y="3263727"/>
            <a:ext cx="1846504" cy="1072267"/>
          </a:xfrm>
          <a:prstGeom prst="rect">
            <a:avLst/>
          </a:prstGeom>
        </p:spPr>
      </p:pic>
      <p:sp>
        <p:nvSpPr>
          <p:cNvPr id="60" name="Oval 59">
            <a:extLst>
              <a:ext uri="{FF2B5EF4-FFF2-40B4-BE49-F238E27FC236}">
                <a16:creationId xmlns:a16="http://schemas.microsoft.com/office/drawing/2014/main" id="{E1751C9A-70BA-6796-963C-E13E3D860024}"/>
              </a:ext>
            </a:extLst>
          </p:cNvPr>
          <p:cNvSpPr/>
          <p:nvPr/>
        </p:nvSpPr>
        <p:spPr>
          <a:xfrm>
            <a:off x="8633761" y="1207991"/>
            <a:ext cx="218624" cy="195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CC7350F-4303-AD36-BAB8-CAC0480F34EA}"/>
              </a:ext>
            </a:extLst>
          </p:cNvPr>
          <p:cNvCxnSpPr>
            <a:cxnSpLocks/>
          </p:cNvCxnSpPr>
          <p:nvPr/>
        </p:nvCxnSpPr>
        <p:spPr>
          <a:xfrm flipH="1">
            <a:off x="4913555" y="926778"/>
            <a:ext cx="2588497" cy="11496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4934981-7CD5-78C9-2E4D-C1639F7810F5}"/>
              </a:ext>
            </a:extLst>
          </p:cNvPr>
          <p:cNvGrpSpPr/>
          <p:nvPr/>
        </p:nvGrpSpPr>
        <p:grpSpPr>
          <a:xfrm>
            <a:off x="5943966" y="1150169"/>
            <a:ext cx="3560314" cy="451460"/>
            <a:chOff x="7332433" y="1979214"/>
            <a:chExt cx="3560314" cy="45146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195AF0C-8899-BE4E-23FB-7E13F7E412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2433" y="2427350"/>
              <a:ext cx="3560314" cy="332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BA165D2-1792-4AB9-4B21-938C927F7CBC}"/>
                </a:ext>
              </a:extLst>
            </p:cNvPr>
            <p:cNvCxnSpPr>
              <a:cxnSpLocks/>
            </p:cNvCxnSpPr>
            <p:nvPr/>
          </p:nvCxnSpPr>
          <p:spPr>
            <a:xfrm>
              <a:off x="8300896" y="1979214"/>
              <a:ext cx="1327441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F655BA6-865A-1AF9-6544-AB4A5BE0B9A5}"/>
              </a:ext>
            </a:extLst>
          </p:cNvPr>
          <p:cNvCxnSpPr>
            <a:cxnSpLocks/>
          </p:cNvCxnSpPr>
          <p:nvPr/>
        </p:nvCxnSpPr>
        <p:spPr>
          <a:xfrm>
            <a:off x="8303054" y="1137605"/>
            <a:ext cx="3310593" cy="12714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7C71D57-7849-9EDF-7ECF-24310BF32687}"/>
              </a:ext>
            </a:extLst>
          </p:cNvPr>
          <p:cNvGrpSpPr/>
          <p:nvPr/>
        </p:nvGrpSpPr>
        <p:grpSpPr>
          <a:xfrm>
            <a:off x="8295867" y="1137605"/>
            <a:ext cx="1174186" cy="4285585"/>
            <a:chOff x="9170946" y="1765212"/>
            <a:chExt cx="2312754" cy="4285585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9912E26-682E-011F-2884-D0E8EA245F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90389" y="2175323"/>
              <a:ext cx="93311" cy="387547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4C2F9CE-9F1E-D73E-48D1-37862A4D40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0946" y="1765212"/>
              <a:ext cx="0" cy="428558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E1B2D65-3594-550D-C2F8-9BCE2BB65C8D}"/>
              </a:ext>
            </a:extLst>
          </p:cNvPr>
          <p:cNvGrpSpPr/>
          <p:nvPr/>
        </p:nvGrpSpPr>
        <p:grpSpPr>
          <a:xfrm>
            <a:off x="5950888" y="989887"/>
            <a:ext cx="1372171" cy="5516031"/>
            <a:chOff x="4280570" y="1365284"/>
            <a:chExt cx="2587517" cy="4580570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F23144B-4BE4-E4E0-0103-33CAE74FBE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570" y="1945189"/>
              <a:ext cx="0" cy="393742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B4FF687-24C9-9C32-E302-EBB27BA6C7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8087" y="1365284"/>
              <a:ext cx="0" cy="458057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86937B6F-66BB-B5D7-FB27-134AA181EE8A}"/>
              </a:ext>
            </a:extLst>
          </p:cNvPr>
          <p:cNvSpPr/>
          <p:nvPr/>
        </p:nvSpPr>
        <p:spPr>
          <a:xfrm>
            <a:off x="9532854" y="3270458"/>
            <a:ext cx="710706" cy="3653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B0CB6E6-F5F6-A3EE-4135-1CCE084DA81C}"/>
              </a:ext>
            </a:extLst>
          </p:cNvPr>
          <p:cNvSpPr txBox="1"/>
          <p:nvPr/>
        </p:nvSpPr>
        <p:spPr>
          <a:xfrm>
            <a:off x="8435305" y="861350"/>
            <a:ext cx="833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Qpoint</a:t>
            </a:r>
            <a:endParaRPr lang="en-ID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286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62D87-3113-CECB-FAFB-362FC257D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>
            <a:extLst>
              <a:ext uri="{FF2B5EF4-FFF2-40B4-BE49-F238E27FC236}">
                <a16:creationId xmlns:a16="http://schemas.microsoft.com/office/drawing/2014/main" id="{BE90985D-C28A-C804-1C02-25E3D300F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004352" y="5333342"/>
            <a:ext cx="1019943" cy="1488338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71121C63-4186-EE90-4FA8-067C4E2FEF5F}"/>
              </a:ext>
            </a:extLst>
          </p:cNvPr>
          <p:cNvGrpSpPr/>
          <p:nvPr/>
        </p:nvGrpSpPr>
        <p:grpSpPr>
          <a:xfrm>
            <a:off x="3732750" y="131945"/>
            <a:ext cx="8302057" cy="5222901"/>
            <a:chOff x="114907" y="1424031"/>
            <a:chExt cx="8302057" cy="52229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91363EC-A6FD-339C-B2B1-05A283265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694" y="1811192"/>
              <a:ext cx="7672110" cy="456449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34CEDBC-0E9A-244A-E52B-B4F0F7B01A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159" y="3045054"/>
              <a:ext cx="5736386" cy="32081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798F3E-7588-C1F0-2DD6-09EF11229472}"/>
                </a:ext>
              </a:extLst>
            </p:cNvPr>
            <p:cNvSpPr txBox="1"/>
            <p:nvPr/>
          </p:nvSpPr>
          <p:spPr>
            <a:xfrm>
              <a:off x="4317152" y="1506022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</a:t>
              </a:r>
              <a:endParaRPr lang="en-ID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BA1781-124B-D425-A50A-53390294DF78}"/>
                </a:ext>
              </a:extLst>
            </p:cNvPr>
            <p:cNvSpPr txBox="1"/>
            <p:nvPr/>
          </p:nvSpPr>
          <p:spPr>
            <a:xfrm>
              <a:off x="441747" y="1535651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</a:t>
              </a:r>
              <a:endParaRPr lang="en-ID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38837D-8436-B87A-9009-3A20F5A22641}"/>
                </a:ext>
              </a:extLst>
            </p:cNvPr>
            <p:cNvSpPr txBox="1"/>
            <p:nvPr/>
          </p:nvSpPr>
          <p:spPr>
            <a:xfrm>
              <a:off x="3801002" y="4026853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Ib</a:t>
              </a:r>
              <a:endParaRPr lang="en-ID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9D6909-BCCB-D496-A6D9-3146EB6D75C8}"/>
                </a:ext>
              </a:extLst>
            </p:cNvPr>
            <p:cNvSpPr txBox="1"/>
            <p:nvPr/>
          </p:nvSpPr>
          <p:spPr>
            <a:xfrm>
              <a:off x="7897289" y="3779172"/>
              <a:ext cx="5196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Vce</a:t>
              </a:r>
              <a:endParaRPr lang="en-ID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25912E-5E0F-7469-2BD3-C3D5EB87EFD9}"/>
                </a:ext>
              </a:extLst>
            </p:cNvPr>
            <p:cNvSpPr txBox="1"/>
            <p:nvPr/>
          </p:nvSpPr>
          <p:spPr>
            <a:xfrm>
              <a:off x="369209" y="4186481"/>
              <a:ext cx="5949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Vbe</a:t>
              </a:r>
              <a:endParaRPr lang="en-ID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2CBF02-F39E-B641-5C2D-A7CE9C2E7E70}"/>
                </a:ext>
              </a:extLst>
            </p:cNvPr>
            <p:cNvSpPr txBox="1"/>
            <p:nvPr/>
          </p:nvSpPr>
          <p:spPr>
            <a:xfrm>
              <a:off x="3801002" y="6277600"/>
              <a:ext cx="4419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Ib</a:t>
              </a:r>
              <a:endParaRPr lang="en-ID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EEC9F21-5E88-D1B1-EBCD-917748BFEE5E}"/>
                </a:ext>
              </a:extLst>
            </p:cNvPr>
            <p:cNvCxnSpPr>
              <a:cxnSpLocks/>
            </p:cNvCxnSpPr>
            <p:nvPr/>
          </p:nvCxnSpPr>
          <p:spPr>
            <a:xfrm>
              <a:off x="1938800" y="3055991"/>
              <a:ext cx="0" cy="3221609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421793-3E73-0420-A1ED-2504F524AE87}"/>
                </a:ext>
              </a:extLst>
            </p:cNvPr>
            <p:cNvSpPr txBox="1"/>
            <p:nvPr/>
          </p:nvSpPr>
          <p:spPr>
            <a:xfrm>
              <a:off x="1538728" y="6300933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Ibq=20uA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575933-7454-CB65-5398-818D23B0F6B3}"/>
                </a:ext>
              </a:extLst>
            </p:cNvPr>
            <p:cNvSpPr txBox="1"/>
            <p:nvPr/>
          </p:nvSpPr>
          <p:spPr>
            <a:xfrm>
              <a:off x="114907" y="4770934"/>
              <a:ext cx="9284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Vbeq=0,72v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929AE0-AF42-989F-A648-544E5A6A5F40}"/>
                </a:ext>
              </a:extLst>
            </p:cNvPr>
            <p:cNvSpPr txBox="1"/>
            <p:nvPr/>
          </p:nvSpPr>
          <p:spPr>
            <a:xfrm>
              <a:off x="1668340" y="2707803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A</a:t>
              </a:r>
              <a:endParaRPr lang="en-ID"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7AB41E-CD12-2E98-D1BF-19B01E562F25}"/>
                </a:ext>
              </a:extLst>
            </p:cNvPr>
            <p:cNvSpPr txBox="1"/>
            <p:nvPr/>
          </p:nvSpPr>
          <p:spPr>
            <a:xfrm>
              <a:off x="1659467" y="4733304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B</a:t>
              </a:r>
              <a:endParaRPr lang="en-ID"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1DBAB74-A724-0712-48FA-351FFEFBF1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545" y="3055640"/>
              <a:ext cx="0" cy="860684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D1241F-DB14-3787-41C3-84CD64CC8982}"/>
                </a:ext>
              </a:extLst>
            </p:cNvPr>
            <p:cNvSpPr txBox="1"/>
            <p:nvPr/>
          </p:nvSpPr>
          <p:spPr>
            <a:xfrm>
              <a:off x="5425795" y="1424031"/>
              <a:ext cx="1310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Ic=f(Vce, Ib) </a:t>
              </a:r>
              <a:endParaRPr lang="en-ID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75BCA8-1672-ED7C-0092-91F72A766486}"/>
                </a:ext>
              </a:extLst>
            </p:cNvPr>
            <p:cNvSpPr txBox="1"/>
            <p:nvPr/>
          </p:nvSpPr>
          <p:spPr>
            <a:xfrm>
              <a:off x="1538728" y="1449035"/>
              <a:ext cx="1310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Ic=f(Ib, Vce) </a:t>
              </a:r>
              <a:endParaRPr lang="en-ID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D17AB2-9352-61FE-DB0C-ECBBA8EC1A84}"/>
                </a:ext>
              </a:extLst>
            </p:cNvPr>
            <p:cNvSpPr txBox="1"/>
            <p:nvPr/>
          </p:nvSpPr>
          <p:spPr>
            <a:xfrm>
              <a:off x="1491069" y="4113435"/>
              <a:ext cx="15280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Vbe=f(Ib, Vce) </a:t>
              </a:r>
              <a:endParaRPr lang="en-ID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2D4B72D-295C-5C36-952E-E57B2A368FD8}"/>
                </a:ext>
              </a:extLst>
            </p:cNvPr>
            <p:cNvSpPr txBox="1"/>
            <p:nvPr/>
          </p:nvSpPr>
          <p:spPr>
            <a:xfrm>
              <a:off x="5990830" y="4010004"/>
              <a:ext cx="7107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Vceq=6v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03F27A7-D566-29E5-BD29-F5CC690E0B49}"/>
                </a:ext>
              </a:extLst>
            </p:cNvPr>
            <p:cNvSpPr txBox="1"/>
            <p:nvPr/>
          </p:nvSpPr>
          <p:spPr>
            <a:xfrm>
              <a:off x="3859844" y="2833385"/>
              <a:ext cx="7377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Icq=5mA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73DE519-4647-86A4-E940-2C439FD19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159" y="4797050"/>
              <a:ext cx="1300746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EC50049-18CF-0E97-D8FB-787F4B16D924}"/>
                </a:ext>
              </a:extLst>
            </p:cNvPr>
            <p:cNvSpPr txBox="1"/>
            <p:nvPr/>
          </p:nvSpPr>
          <p:spPr>
            <a:xfrm>
              <a:off x="7369791" y="4001815"/>
              <a:ext cx="9721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Vcemax=12v</a:t>
              </a:r>
              <a:endParaRPr lang="en-ID" sz="120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D22015E-FBD3-17AB-ED2B-34163991C667}"/>
                </a:ext>
              </a:extLst>
            </p:cNvPr>
            <p:cNvSpPr txBox="1"/>
            <p:nvPr/>
          </p:nvSpPr>
          <p:spPr>
            <a:xfrm rot="1339792">
              <a:off x="4957725" y="2441023"/>
              <a:ext cx="1063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Garis Beban</a:t>
              </a:r>
              <a:endParaRPr lang="en-ID" sz="1400">
                <a:solidFill>
                  <a:srgbClr val="FF000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DF3804E-62E6-DCD8-3DE6-7FE1CB952686}"/>
                </a:ext>
              </a:extLst>
            </p:cNvPr>
            <p:cNvSpPr txBox="1"/>
            <p:nvPr/>
          </p:nvSpPr>
          <p:spPr>
            <a:xfrm>
              <a:off x="3992479" y="2265302"/>
              <a:ext cx="5519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Icmax</a:t>
              </a:r>
              <a:endParaRPr lang="en-ID" sz="1200">
                <a:solidFill>
                  <a:srgbClr val="FF0000"/>
                </a:solidFill>
              </a:endParaRPr>
            </a:p>
          </p:txBody>
        </p:sp>
      </p:grpSp>
      <p:sp>
        <p:nvSpPr>
          <p:cNvPr id="34" name="Arrow: Down 33">
            <a:extLst>
              <a:ext uri="{FF2B5EF4-FFF2-40B4-BE49-F238E27FC236}">
                <a16:creationId xmlns:a16="http://schemas.microsoft.com/office/drawing/2014/main" id="{AB630502-D8B0-C7DD-5738-724C3ED1E200}"/>
              </a:ext>
            </a:extLst>
          </p:cNvPr>
          <p:cNvSpPr/>
          <p:nvPr/>
        </p:nvSpPr>
        <p:spPr>
          <a:xfrm>
            <a:off x="9784859" y="3015585"/>
            <a:ext cx="333057" cy="253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6D81D5D4-7DCA-6723-6668-655A5BF64164}"/>
              </a:ext>
            </a:extLst>
          </p:cNvPr>
          <p:cNvSpPr/>
          <p:nvPr/>
        </p:nvSpPr>
        <p:spPr>
          <a:xfrm rot="10800000">
            <a:off x="5390114" y="5236051"/>
            <a:ext cx="333057" cy="253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D80EBE-F82F-76AE-B82D-0B3737AE9717}"/>
              </a:ext>
            </a:extLst>
          </p:cNvPr>
          <p:cNvSpPr txBox="1"/>
          <p:nvPr/>
        </p:nvSpPr>
        <p:spPr>
          <a:xfrm>
            <a:off x="4391657" y="574033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ib</a:t>
            </a:r>
            <a:endParaRPr lang="en-ID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D472FC1F-AF81-02E3-8872-9F4E6FEE0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60" y="1981199"/>
            <a:ext cx="3024838" cy="1774647"/>
          </a:xfrm>
        </p:spPr>
        <p:txBody>
          <a:bodyPr>
            <a:noAutofit/>
          </a:bodyPr>
          <a:lstStyle/>
          <a:p>
            <a:pPr algn="ctr"/>
            <a:r>
              <a:rPr lang="en-US" sz="2400"/>
              <a:t>Bila Qpoint tepat di tengah tapi penguatan terlalu besar </a:t>
            </a:r>
            <a:br>
              <a:rPr lang="en-US" sz="2400"/>
            </a:br>
            <a:r>
              <a:rPr lang="en-US" sz="2400">
                <a:sym typeface="Wingdings" panose="05000000000000000000" pitchFamily="2" charset="2"/>
              </a:rPr>
              <a:t> Sinyal Output terpotong di atas dan di bawah</a:t>
            </a:r>
            <a:endParaRPr lang="en-US" sz="24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109B544-C0D6-6665-895D-3E620D460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47" y="3325262"/>
            <a:ext cx="4020659" cy="1169902"/>
          </a:xfrm>
          <a:prstGeom prst="rect">
            <a:avLst/>
          </a:prstGeom>
        </p:spPr>
      </p:pic>
      <p:sp>
        <p:nvSpPr>
          <p:cNvPr id="60" name="Oval 59">
            <a:extLst>
              <a:ext uri="{FF2B5EF4-FFF2-40B4-BE49-F238E27FC236}">
                <a16:creationId xmlns:a16="http://schemas.microsoft.com/office/drawing/2014/main" id="{91A899AA-5779-13CC-7ECA-A675D38F41F0}"/>
              </a:ext>
            </a:extLst>
          </p:cNvPr>
          <p:cNvSpPr/>
          <p:nvPr/>
        </p:nvSpPr>
        <p:spPr>
          <a:xfrm>
            <a:off x="9849898" y="1665582"/>
            <a:ext cx="218624" cy="195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58B67AA-C860-16D3-FFCC-A680CB928D9B}"/>
              </a:ext>
            </a:extLst>
          </p:cNvPr>
          <p:cNvCxnSpPr>
            <a:cxnSpLocks/>
          </p:cNvCxnSpPr>
          <p:nvPr/>
        </p:nvCxnSpPr>
        <p:spPr>
          <a:xfrm flipH="1">
            <a:off x="4746980" y="1002679"/>
            <a:ext cx="1394236" cy="18455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A665528E-DB13-24E8-F0E8-0C2BEB71EA03}"/>
              </a:ext>
            </a:extLst>
          </p:cNvPr>
          <p:cNvGrpSpPr/>
          <p:nvPr/>
        </p:nvGrpSpPr>
        <p:grpSpPr>
          <a:xfrm>
            <a:off x="8314782" y="1123832"/>
            <a:ext cx="3293885" cy="4904975"/>
            <a:chOff x="8607769" y="1119258"/>
            <a:chExt cx="2794660" cy="490497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6BA8EFD-21CC-64D4-3D4F-DF4FB61FA0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94838" y="2404483"/>
              <a:ext cx="7591" cy="34205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D86C14B-A88F-2F9F-6D06-4C6ED6CF9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769" y="1119258"/>
              <a:ext cx="9575" cy="490497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0E2CE20-CE57-3122-1DA7-6E15BC740C0B}"/>
              </a:ext>
            </a:extLst>
          </p:cNvPr>
          <p:cNvGrpSpPr/>
          <p:nvPr/>
        </p:nvGrpSpPr>
        <p:grpSpPr>
          <a:xfrm>
            <a:off x="4865377" y="980010"/>
            <a:ext cx="1280015" cy="5355476"/>
            <a:chOff x="4987076" y="925343"/>
            <a:chExt cx="987808" cy="5237069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11F59D8-0F50-33C0-BD79-BC632E4BFD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7076" y="2680100"/>
              <a:ext cx="0" cy="348231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92F3113-C332-9FFB-D2C8-F2F32D5EAA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4884" y="925343"/>
              <a:ext cx="0" cy="523706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19F0C5C-52C4-7C4D-5CCF-2B3B426532D2}"/>
              </a:ext>
            </a:extLst>
          </p:cNvPr>
          <p:cNvGrpSpPr/>
          <p:nvPr/>
        </p:nvGrpSpPr>
        <p:grpSpPr>
          <a:xfrm>
            <a:off x="3769297" y="1152229"/>
            <a:ext cx="8205046" cy="1575873"/>
            <a:chOff x="3754779" y="1321216"/>
            <a:chExt cx="8205046" cy="109234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301A6A1-0C51-55BF-88D5-440ED39D7DF4}"/>
                </a:ext>
              </a:extLst>
            </p:cNvPr>
            <p:cNvCxnSpPr>
              <a:cxnSpLocks/>
            </p:cNvCxnSpPr>
            <p:nvPr/>
          </p:nvCxnSpPr>
          <p:spPr>
            <a:xfrm>
              <a:off x="3754779" y="2413562"/>
              <a:ext cx="8205046" cy="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010E3FA-3F06-9451-D52C-EB23BFD779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3825" y="1321216"/>
              <a:ext cx="2539304" cy="3216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E54A0A3C-2DF1-51FF-AA8E-D837885316D1}"/>
              </a:ext>
            </a:extLst>
          </p:cNvPr>
          <p:cNvSpPr txBox="1"/>
          <p:nvPr/>
        </p:nvSpPr>
        <p:spPr>
          <a:xfrm rot="20034939">
            <a:off x="6197936" y="1072156"/>
            <a:ext cx="111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Beta lama</a:t>
            </a:r>
            <a:endParaRPr lang="en-ID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7847500-D149-019F-46DF-19BA33E49259}"/>
              </a:ext>
            </a:extLst>
          </p:cNvPr>
          <p:cNvSpPr txBox="1"/>
          <p:nvPr/>
        </p:nvSpPr>
        <p:spPr>
          <a:xfrm rot="18490001">
            <a:off x="5327614" y="940763"/>
            <a:ext cx="1095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Beta baru</a:t>
            </a:r>
            <a:endParaRPr lang="en-ID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93F263D-DDCF-243E-9D03-62F58F96E9D6}"/>
              </a:ext>
            </a:extLst>
          </p:cNvPr>
          <p:cNvCxnSpPr>
            <a:cxnSpLocks/>
          </p:cNvCxnSpPr>
          <p:nvPr/>
        </p:nvCxnSpPr>
        <p:spPr>
          <a:xfrm>
            <a:off x="8303054" y="1137605"/>
            <a:ext cx="3310593" cy="12714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76ACD2E3-646A-A51D-9936-EB41A547B13D}"/>
              </a:ext>
            </a:extLst>
          </p:cNvPr>
          <p:cNvSpPr txBox="1"/>
          <p:nvPr/>
        </p:nvSpPr>
        <p:spPr>
          <a:xfrm>
            <a:off x="9829528" y="1305607"/>
            <a:ext cx="833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Qpoint</a:t>
            </a:r>
            <a:endParaRPr lang="en-ID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892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65127"/>
            <a:ext cx="7886700" cy="1058725"/>
          </a:xfrm>
        </p:spPr>
        <p:txBody>
          <a:bodyPr>
            <a:noAutofit/>
          </a:bodyPr>
          <a:lstStyle/>
          <a:p>
            <a:pPr algn="ctr"/>
            <a:r>
              <a:rPr lang="en-US" sz="3600"/>
              <a:t>Ilustrasi Penguatan </a:t>
            </a:r>
            <a:r>
              <a:rPr lang="en-US" sz="3600" err="1"/>
              <a:t>Sinyal</a:t>
            </a:r>
            <a:r>
              <a:rPr lang="en-US" sz="3600"/>
              <a:t> Menggunakan </a:t>
            </a:r>
            <a:r>
              <a:rPr lang="en-US" sz="3600" dirty="0" err="1"/>
              <a:t>Fungsi</a:t>
            </a:r>
            <a:r>
              <a:rPr lang="en-US" sz="3600" dirty="0"/>
              <a:t> Transfer (Vo/Vi)</a:t>
            </a:r>
          </a:p>
        </p:txBody>
      </p:sp>
      <p:pic>
        <p:nvPicPr>
          <p:cNvPr id="5" name="Picture 4" descr="sedr42021_0526b"/>
          <p:cNvPicPr>
            <a:picLocks noChangeAspect="1" noChangeArrowheads="1"/>
          </p:cNvPicPr>
          <p:nvPr/>
        </p:nvPicPr>
        <p:blipFill>
          <a:blip r:embed="rId2"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280" y="1825625"/>
            <a:ext cx="5801440" cy="471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BA7C9F-3940-75F1-CC0E-293A1F5C9881}"/>
              </a:ext>
            </a:extLst>
          </p:cNvPr>
          <p:cNvSpPr txBox="1"/>
          <p:nvPr/>
        </p:nvSpPr>
        <p:spPr>
          <a:xfrm>
            <a:off x="3379303" y="3588026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q</a:t>
            </a:r>
            <a:endParaRPr lang="en-ID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E3C712-9875-57ED-2B86-40EFD6FF7130}"/>
              </a:ext>
            </a:extLst>
          </p:cNvPr>
          <p:cNvSpPr txBox="1"/>
          <p:nvPr/>
        </p:nvSpPr>
        <p:spPr>
          <a:xfrm>
            <a:off x="5539408" y="4694582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q</a:t>
            </a:r>
            <a:endParaRPr lang="en-ID" sz="1200"/>
          </a:p>
        </p:txBody>
      </p:sp>
    </p:spTree>
    <p:extLst>
      <p:ext uri="{BB962C8B-B14F-4D97-AF65-F5344CB8AC3E}">
        <p14:creationId xmlns:p14="http://schemas.microsoft.com/office/powerpoint/2010/main" val="3445781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362</Words>
  <Application>Microsoft Office PowerPoint</Application>
  <PresentationFormat>Widescreen</PresentationFormat>
  <Paragraphs>108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Ilustrasi Output Penguat Sinyal Kecil</vt:lpstr>
      <vt:lpstr>Tujuan Perancangan Aplikasi Penguat Sinyal</vt:lpstr>
      <vt:lpstr>Bila Qpoint tepat di tengah  Sinyal Output utuh tidak terpotong</vt:lpstr>
      <vt:lpstr>Bila Qpoint terlalu bawah  Sinyal Output terpotong di bagian atas</vt:lpstr>
      <vt:lpstr>Bila Qpoint terlalu atas  Sinyal Output terpotong di bagian bawah</vt:lpstr>
      <vt:lpstr>Bila Qpoint tepat di tengah tapi penguatan terlalu besar   Sinyal Output terpotong di atas dan di bawah</vt:lpstr>
      <vt:lpstr>Ilustrasi Penguatan Sinyal Menggunakan Fungsi Transfer (Vo/Vi)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Microsoft account</dc:creator>
  <cp:lastModifiedBy>erilmozef@yahoo.com</cp:lastModifiedBy>
  <cp:revision>29</cp:revision>
  <dcterms:created xsi:type="dcterms:W3CDTF">2024-08-26T07:37:56Z</dcterms:created>
  <dcterms:modified xsi:type="dcterms:W3CDTF">2025-05-21T22:08:01Z</dcterms:modified>
</cp:coreProperties>
</file>