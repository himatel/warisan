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5" r:id="rId3"/>
    <p:sldId id="296" r:id="rId4"/>
    <p:sldId id="299" r:id="rId5"/>
    <p:sldId id="29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69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40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41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262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557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6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012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13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24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88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39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58DC9-6650-431C-B965-8F7DD5C4B99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14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/>
              <a:t>Jobsheet menentukan Ib, Vbe dan Beta (Hfe) dengan mengetahui Ic dan Vce dari grafik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804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F3362-CD7E-EF41-89AC-4D869247C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Tujuan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16C50-B791-05C1-5D76-1790CA088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Menentukan Ib, Vbe dan Beta (Hfe) dengan diketahui Ic dan Vce menggunakan 3 grafik karakteristik dasar transistor.</a:t>
            </a:r>
          </a:p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6016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5947C-4D1F-C2F3-7D49-D57E5BE54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Persyaratan yang harus dipenuhi Mahasiswa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2A821-0434-6553-DB5D-3DAF3D23C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/>
              <a:t>Mahasiswa sudah pernah melakukan percobaan “</a:t>
            </a:r>
            <a:r>
              <a:rPr lang="en-US"/>
              <a:t>Membuat 3 Grafik Karakteristik Dasar Transistor” terdahulu</a:t>
            </a:r>
            <a:r>
              <a:rPr lang="en-ID"/>
              <a:t>.</a:t>
            </a:r>
          </a:p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40792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C187BCF-7997-7A1B-1B7D-4A60EEE4FC19}"/>
              </a:ext>
            </a:extLst>
          </p:cNvPr>
          <p:cNvSpPr txBox="1"/>
          <p:nvPr/>
        </p:nvSpPr>
        <p:spPr>
          <a:xfrm>
            <a:off x="1710196" y="1463633"/>
            <a:ext cx="131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Ic=f(Ib, Vce) </a:t>
            </a:r>
            <a:endParaRPr lang="en-ID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FF5A70F-9D31-07CE-0EC0-CB4CB506D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41" y="1832965"/>
            <a:ext cx="7672110" cy="45644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15F576-71EE-E983-37DD-5592150AFB26}"/>
              </a:ext>
            </a:extLst>
          </p:cNvPr>
          <p:cNvSpPr txBox="1"/>
          <p:nvPr/>
        </p:nvSpPr>
        <p:spPr>
          <a:xfrm>
            <a:off x="5825863" y="1463633"/>
            <a:ext cx="131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Ic=f(Vce, Ib) </a:t>
            </a:r>
            <a:endParaRPr lang="en-ID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F54BE4-B9E6-D93C-639E-3056F2EBB986}"/>
              </a:ext>
            </a:extLst>
          </p:cNvPr>
          <p:cNvSpPr txBox="1"/>
          <p:nvPr/>
        </p:nvSpPr>
        <p:spPr>
          <a:xfrm>
            <a:off x="1710196" y="4169566"/>
            <a:ext cx="1528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Vbe=f(Ib, Vce) </a:t>
            </a:r>
            <a:endParaRPr lang="en-ID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D5A0C6-5A66-29E2-FCB0-04DC1C2877D3}"/>
              </a:ext>
            </a:extLst>
          </p:cNvPr>
          <p:cNvSpPr txBox="1"/>
          <p:nvPr/>
        </p:nvSpPr>
        <p:spPr>
          <a:xfrm>
            <a:off x="4712562" y="1498664"/>
            <a:ext cx="441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Ic</a:t>
            </a:r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8975AB-1847-6E69-AFC3-5FE738DEF2C7}"/>
              </a:ext>
            </a:extLst>
          </p:cNvPr>
          <p:cNvSpPr txBox="1"/>
          <p:nvPr/>
        </p:nvSpPr>
        <p:spPr>
          <a:xfrm>
            <a:off x="472767" y="1533818"/>
            <a:ext cx="441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Ic</a:t>
            </a:r>
            <a:endParaRPr lang="en-ID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46576B-DEB2-CECA-A814-827D0BB8CAFB}"/>
              </a:ext>
            </a:extLst>
          </p:cNvPr>
          <p:cNvSpPr txBox="1"/>
          <p:nvPr/>
        </p:nvSpPr>
        <p:spPr>
          <a:xfrm>
            <a:off x="260756" y="4115212"/>
            <a:ext cx="594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Vbe</a:t>
            </a:r>
            <a:endParaRPr lang="en-ID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53603E-3BC3-1FD0-CB85-D0A03A1281D3}"/>
              </a:ext>
            </a:extLst>
          </p:cNvPr>
          <p:cNvSpPr txBox="1"/>
          <p:nvPr/>
        </p:nvSpPr>
        <p:spPr>
          <a:xfrm>
            <a:off x="3909599" y="3984900"/>
            <a:ext cx="441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Ib</a:t>
            </a:r>
            <a:endParaRPr lang="en-ID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D9DAD6-E726-3173-4C25-E4AEEF690CE3}"/>
              </a:ext>
            </a:extLst>
          </p:cNvPr>
          <p:cNvSpPr txBox="1"/>
          <p:nvPr/>
        </p:nvSpPr>
        <p:spPr>
          <a:xfrm>
            <a:off x="3909599" y="6339581"/>
            <a:ext cx="441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Ib</a:t>
            </a:r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FC8314-FF8A-0CC2-A99E-29EF980527E0}"/>
              </a:ext>
            </a:extLst>
          </p:cNvPr>
          <p:cNvSpPr txBox="1"/>
          <p:nvPr/>
        </p:nvSpPr>
        <p:spPr>
          <a:xfrm>
            <a:off x="7854777" y="3984900"/>
            <a:ext cx="519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Vce</a:t>
            </a:r>
            <a:endParaRPr lang="en-ID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6454CD-DFC9-B55F-45CC-1C5E86EAB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73919"/>
          </a:xfrm>
        </p:spPr>
        <p:txBody>
          <a:bodyPr>
            <a:normAutofit/>
          </a:bodyPr>
          <a:lstStyle/>
          <a:p>
            <a:r>
              <a:rPr lang="en-US" sz="3200"/>
              <a:t>Diketahui 3 Grafik Ic=f(Vce, Ib), Ic=f(Ib, Vce) dan Vbe=f(Ib, Vce) berikut</a:t>
            </a:r>
            <a:endParaRPr lang="en-ID" sz="32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F7EB372-03D2-3F1D-EB8D-E148C723E4C7}"/>
              </a:ext>
            </a:extLst>
          </p:cNvPr>
          <p:cNvSpPr txBox="1">
            <a:spLocks/>
          </p:cNvSpPr>
          <p:nvPr/>
        </p:nvSpPr>
        <p:spPr>
          <a:xfrm>
            <a:off x="8000926" y="4759133"/>
            <a:ext cx="3186142" cy="18220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/>
            <a:r>
              <a:rPr lang="en-US"/>
              <a:t>Tentukan Ib, Vbe dan Beta (Hfe) bila diketahui grafik Ic=f(Vce, Ib), Ic=f(Ib, Vce) dan Vbe=f(Ib, Vce) berikut!.</a:t>
            </a:r>
            <a:endParaRPr lang="en-ID"/>
          </a:p>
          <a:p>
            <a:pPr marL="0" lvl="1" indent="0">
              <a:buFont typeface="+mj-lt"/>
              <a:buAutoNum type="arabicPeriod"/>
            </a:pPr>
            <a:endParaRPr lang="en-US"/>
          </a:p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98149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C552C-F7B3-6670-977D-20B871BF9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372C9061-C4C6-9EFC-CCEE-1331D4D52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94" y="1811192"/>
            <a:ext cx="7672110" cy="45644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21D613-DFCE-7BF0-BD9B-3D13FE58E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053470" cy="918146"/>
          </a:xfrm>
        </p:spPr>
        <p:txBody>
          <a:bodyPr>
            <a:noAutofit/>
          </a:bodyPr>
          <a:lstStyle/>
          <a:p>
            <a:r>
              <a:rPr lang="en-US" sz="3600"/>
              <a:t>Menentukan Ib, Vbe dan Beta (Hfe) dengan mengetahui Ic dan Vce</a:t>
            </a:r>
            <a:endParaRPr lang="en-ID" sz="3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1998AE-8F93-71DE-BF6D-0B9E18055163}"/>
              </a:ext>
            </a:extLst>
          </p:cNvPr>
          <p:cNvSpPr txBox="1"/>
          <p:nvPr/>
        </p:nvSpPr>
        <p:spPr>
          <a:xfrm>
            <a:off x="8233242" y="762444"/>
            <a:ext cx="3681495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1400"/>
              <a:t>Bila Ic dan Vce diketahui misalnya </a:t>
            </a:r>
            <a:r>
              <a:rPr lang="en-US" sz="1400">
                <a:solidFill>
                  <a:srgbClr val="FF0000"/>
                </a:solidFill>
              </a:rPr>
              <a:t>Ic=5mA </a:t>
            </a:r>
            <a:r>
              <a:rPr lang="en-US" sz="1400"/>
              <a:t>dan </a:t>
            </a:r>
            <a:r>
              <a:rPr lang="en-US" sz="1400">
                <a:solidFill>
                  <a:srgbClr val="FF0000"/>
                </a:solidFill>
              </a:rPr>
              <a:t>Vce=6v </a:t>
            </a:r>
            <a:r>
              <a:rPr lang="en-US" sz="1400"/>
              <a:t>maka tentukan suatu titik Q pada grafik Ic=f(Vce, Ib). </a:t>
            </a:r>
          </a:p>
          <a:p>
            <a:pPr marL="0" lvl="1"/>
            <a:r>
              <a:rPr lang="en-US" sz="1400"/>
              <a:t>Proyeksikan Ic ke kiri sampai memotong kurva pada Vce=6v. Beri nama titik tersebut titik A. </a:t>
            </a:r>
          </a:p>
          <a:p>
            <a:pPr marL="0" lvl="1"/>
            <a:endParaRPr lang="en-US" sz="1400"/>
          </a:p>
          <a:p>
            <a:pPr marL="0" lvl="1"/>
            <a:r>
              <a:rPr lang="en-US" sz="1400"/>
              <a:t>Proyeksikan garis vertikal dari titik A ke bawah hingga memotong sumbu Ib dan kurva Vbe=f(Ib, Vce). Catat nilai Ib tersebut. Nilai </a:t>
            </a:r>
            <a:r>
              <a:rPr lang="en-US" sz="1400">
                <a:solidFill>
                  <a:srgbClr val="FF0000"/>
                </a:solidFill>
              </a:rPr>
              <a:t>Ib=20uA</a:t>
            </a:r>
            <a:r>
              <a:rPr lang="en-US" sz="1400"/>
              <a:t>.</a:t>
            </a:r>
          </a:p>
          <a:p>
            <a:pPr marL="0" lvl="1"/>
            <a:endParaRPr lang="en-US" sz="1400"/>
          </a:p>
          <a:p>
            <a:pPr marL="0" lvl="1"/>
            <a:r>
              <a:rPr lang="en-US" sz="1400"/>
              <a:t>Selanjutnya tentukan suatu titik pada pertemuan garis vertikal tersebut dengan kurva Vbe=f(Ib, Vce) pada vce=6v. Beri nama titik tersebut titik B.</a:t>
            </a:r>
          </a:p>
          <a:p>
            <a:pPr marL="0" lvl="1"/>
            <a:endParaRPr lang="en-US" sz="1400"/>
          </a:p>
          <a:p>
            <a:pPr marL="0" lvl="1"/>
            <a:r>
              <a:rPr lang="en-US" sz="1400"/>
              <a:t>Kemudian proyeksikan titik B tersebut ke kiri hingga memotong sumbu Vbe catat nilainya maka nilai tersebut adalah nilai Vbe Dimana </a:t>
            </a:r>
            <a:r>
              <a:rPr lang="en-US" sz="1400">
                <a:solidFill>
                  <a:srgbClr val="FF0000"/>
                </a:solidFill>
              </a:rPr>
              <a:t>Vbe=0,72v</a:t>
            </a:r>
          </a:p>
          <a:p>
            <a:pPr marL="0" lvl="1"/>
            <a:endParaRPr lang="en-US" sz="1400"/>
          </a:p>
          <a:p>
            <a:pPr marL="0" lvl="1"/>
            <a:r>
              <a:rPr lang="en-US" sz="1400"/>
              <a:t>Beta (Hfe) dapat dicari dengan melihat grafik Ic=f(Ib, Vce), mencatat Ic dan Ib pada titik A dan menerapkan rumus Beta=Ic/Ib. Pada titik A tsb, Ic=5mA dan Ib=20uA jadi Beta=Ic/Ib = 5mA/20uA = 5000 uA / 20 uA. Jadi </a:t>
            </a:r>
            <a:r>
              <a:rPr lang="en-US" sz="1400">
                <a:solidFill>
                  <a:srgbClr val="FF0000"/>
                </a:solidFill>
              </a:rPr>
              <a:t>Beta = 250</a:t>
            </a:r>
            <a:endParaRPr lang="en-ID" sz="1400">
              <a:solidFill>
                <a:srgbClr val="FF0000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DED6B5-4D7A-B7E6-7C1C-8934E2B13A0F}"/>
              </a:ext>
            </a:extLst>
          </p:cNvPr>
          <p:cNvCxnSpPr>
            <a:cxnSpLocks/>
          </p:cNvCxnSpPr>
          <p:nvPr/>
        </p:nvCxnSpPr>
        <p:spPr>
          <a:xfrm flipH="1">
            <a:off x="597159" y="3045054"/>
            <a:ext cx="5736386" cy="32081"/>
          </a:xfrm>
          <a:prstGeom prst="line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8B7E12D-A2DE-2508-D69B-A23EAADAF0FE}"/>
              </a:ext>
            </a:extLst>
          </p:cNvPr>
          <p:cNvSpPr txBox="1"/>
          <p:nvPr/>
        </p:nvSpPr>
        <p:spPr>
          <a:xfrm>
            <a:off x="4317152" y="1506022"/>
            <a:ext cx="441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Ic</a:t>
            </a:r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50C60C-4D4C-B414-C2AC-7D4777321805}"/>
              </a:ext>
            </a:extLst>
          </p:cNvPr>
          <p:cNvSpPr txBox="1"/>
          <p:nvPr/>
        </p:nvSpPr>
        <p:spPr>
          <a:xfrm>
            <a:off x="441747" y="1535651"/>
            <a:ext cx="441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Ic</a:t>
            </a:r>
            <a:endParaRPr lang="en-ID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744BD6-5616-ED3D-FA67-0AE67DF5CFE3}"/>
              </a:ext>
            </a:extLst>
          </p:cNvPr>
          <p:cNvSpPr txBox="1"/>
          <p:nvPr/>
        </p:nvSpPr>
        <p:spPr>
          <a:xfrm>
            <a:off x="3801002" y="4026853"/>
            <a:ext cx="441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Ib</a:t>
            </a:r>
            <a:endParaRPr lang="en-ID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99B8C8-EAE9-E981-FCBE-ED771ED59B1B}"/>
              </a:ext>
            </a:extLst>
          </p:cNvPr>
          <p:cNvSpPr txBox="1"/>
          <p:nvPr/>
        </p:nvSpPr>
        <p:spPr>
          <a:xfrm>
            <a:off x="7689201" y="3977004"/>
            <a:ext cx="519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Vce</a:t>
            </a:r>
            <a:endParaRPr lang="en-ID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5E44B9-EB44-F612-2F84-6F843586F9AC}"/>
              </a:ext>
            </a:extLst>
          </p:cNvPr>
          <p:cNvSpPr txBox="1"/>
          <p:nvPr/>
        </p:nvSpPr>
        <p:spPr>
          <a:xfrm>
            <a:off x="369209" y="4186481"/>
            <a:ext cx="594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Vbe</a:t>
            </a:r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8936E7-F570-C2AF-125B-CA0636D234CF}"/>
              </a:ext>
            </a:extLst>
          </p:cNvPr>
          <p:cNvSpPr txBox="1"/>
          <p:nvPr/>
        </p:nvSpPr>
        <p:spPr>
          <a:xfrm>
            <a:off x="3801002" y="6277600"/>
            <a:ext cx="441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Ib</a:t>
            </a:r>
            <a:endParaRPr lang="en-ID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9021C4E-F2BB-0A8D-7787-0D16C3BA6D62}"/>
              </a:ext>
            </a:extLst>
          </p:cNvPr>
          <p:cNvCxnSpPr>
            <a:cxnSpLocks/>
          </p:cNvCxnSpPr>
          <p:nvPr/>
        </p:nvCxnSpPr>
        <p:spPr>
          <a:xfrm>
            <a:off x="1938800" y="3055991"/>
            <a:ext cx="0" cy="3221609"/>
          </a:xfrm>
          <a:prstGeom prst="line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218B3C9-499E-9B75-4C99-94B699A095D5}"/>
              </a:ext>
            </a:extLst>
          </p:cNvPr>
          <p:cNvSpPr txBox="1"/>
          <p:nvPr/>
        </p:nvSpPr>
        <p:spPr>
          <a:xfrm>
            <a:off x="1440874" y="6302422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Ib=20uA</a:t>
            </a:r>
            <a:endParaRPr lang="en-ID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756D6F-F03F-5D0D-9CF6-2AE90C0375A4}"/>
              </a:ext>
            </a:extLst>
          </p:cNvPr>
          <p:cNvSpPr txBox="1"/>
          <p:nvPr/>
        </p:nvSpPr>
        <p:spPr>
          <a:xfrm>
            <a:off x="86256" y="4733304"/>
            <a:ext cx="1181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Vbe=0,72v</a:t>
            </a:r>
            <a:endParaRPr lang="en-ID">
              <a:solidFill>
                <a:srgbClr val="FF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53C695-0D83-AAD9-A71D-A0910E59EBD0}"/>
              </a:ext>
            </a:extLst>
          </p:cNvPr>
          <p:cNvSpPr txBox="1"/>
          <p:nvPr/>
        </p:nvSpPr>
        <p:spPr>
          <a:xfrm>
            <a:off x="1668340" y="270780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A</a:t>
            </a:r>
            <a:endParaRPr lang="en-ID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D64572-7B2D-206B-9F89-E6E30EB091B0}"/>
              </a:ext>
            </a:extLst>
          </p:cNvPr>
          <p:cNvSpPr txBox="1"/>
          <p:nvPr/>
        </p:nvSpPr>
        <p:spPr>
          <a:xfrm>
            <a:off x="1659467" y="473330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B</a:t>
            </a:r>
            <a:endParaRPr lang="en-ID">
              <a:solidFill>
                <a:srgbClr val="FF000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1AA34A7-7B9F-5FCB-72E0-0C9F90C162CF}"/>
              </a:ext>
            </a:extLst>
          </p:cNvPr>
          <p:cNvCxnSpPr>
            <a:cxnSpLocks/>
          </p:cNvCxnSpPr>
          <p:nvPr/>
        </p:nvCxnSpPr>
        <p:spPr>
          <a:xfrm flipV="1">
            <a:off x="6333545" y="3055640"/>
            <a:ext cx="0" cy="860684"/>
          </a:xfrm>
          <a:prstGeom prst="line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0A6B8FC-62A4-A8D7-DECF-AA47FE6EC2B6}"/>
              </a:ext>
            </a:extLst>
          </p:cNvPr>
          <p:cNvSpPr txBox="1"/>
          <p:nvPr/>
        </p:nvSpPr>
        <p:spPr>
          <a:xfrm>
            <a:off x="5425795" y="1424031"/>
            <a:ext cx="131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Ic=f(Vce, Ib) </a:t>
            </a:r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716AA0-6A29-CD96-3AD5-9D73CCBE8F94}"/>
              </a:ext>
            </a:extLst>
          </p:cNvPr>
          <p:cNvSpPr txBox="1"/>
          <p:nvPr/>
        </p:nvSpPr>
        <p:spPr>
          <a:xfrm>
            <a:off x="1538728" y="1449035"/>
            <a:ext cx="131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Ic=f(Ib, Vce) </a:t>
            </a:r>
            <a:endParaRPr lang="en-ID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C68663-82CE-8E74-7ECD-FC8189A70125}"/>
              </a:ext>
            </a:extLst>
          </p:cNvPr>
          <p:cNvSpPr txBox="1"/>
          <p:nvPr/>
        </p:nvSpPr>
        <p:spPr>
          <a:xfrm>
            <a:off x="1496726" y="4100012"/>
            <a:ext cx="1528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Vbe=f(Ib, Vce) </a:t>
            </a:r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8B006-B5FC-F09E-3924-3356078D531B}"/>
              </a:ext>
            </a:extLst>
          </p:cNvPr>
          <p:cNvSpPr txBox="1"/>
          <p:nvPr/>
        </p:nvSpPr>
        <p:spPr>
          <a:xfrm>
            <a:off x="5845462" y="3963838"/>
            <a:ext cx="854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Vce=6v</a:t>
            </a:r>
            <a:endParaRPr lang="en-ID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31198D-5FAF-E422-2E19-AD1BA20856E1}"/>
              </a:ext>
            </a:extLst>
          </p:cNvPr>
          <p:cNvSpPr txBox="1"/>
          <p:nvPr/>
        </p:nvSpPr>
        <p:spPr>
          <a:xfrm>
            <a:off x="3632322" y="2716814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Ic=5mA</a:t>
            </a:r>
            <a:endParaRPr lang="en-ID">
              <a:solidFill>
                <a:srgbClr val="FF0000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A6035F6-F324-A490-A0E8-B0C2F6F0A428}"/>
              </a:ext>
            </a:extLst>
          </p:cNvPr>
          <p:cNvCxnSpPr>
            <a:cxnSpLocks/>
          </p:cNvCxnSpPr>
          <p:nvPr/>
        </p:nvCxnSpPr>
        <p:spPr>
          <a:xfrm flipH="1">
            <a:off x="597159" y="4797050"/>
            <a:ext cx="1300746" cy="0"/>
          </a:xfrm>
          <a:prstGeom prst="line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46B43F5-D8A4-F51F-000D-EFE649143636}"/>
              </a:ext>
            </a:extLst>
          </p:cNvPr>
          <p:cNvSpPr txBox="1"/>
          <p:nvPr/>
        </p:nvSpPr>
        <p:spPr>
          <a:xfrm>
            <a:off x="6196951" y="2716814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Q</a:t>
            </a:r>
            <a:endParaRPr lang="en-ID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111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2229</TotalTime>
  <Words>415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Jobsheet menentukan Ib, Vbe dan Beta (Hfe) dengan mengetahui Ic dan Vce dari grafik</vt:lpstr>
      <vt:lpstr>Tujuan</vt:lpstr>
      <vt:lpstr>Persyaratan yang harus dipenuhi Mahasiswa</vt:lpstr>
      <vt:lpstr>Diketahui 3 Grafik Ic=f(Vce, Ib), Ic=f(Ib, Vce) dan Vbe=f(Ib, Vce) berikut</vt:lpstr>
      <vt:lpstr>Menentukan Ib, Vbe dan Beta (Hfe) dengan mengetahui Ic dan Vce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erilmozef@yahoo.com</cp:lastModifiedBy>
  <cp:revision>101</cp:revision>
  <dcterms:created xsi:type="dcterms:W3CDTF">2024-04-25T05:33:30Z</dcterms:created>
  <dcterms:modified xsi:type="dcterms:W3CDTF">2025-05-10T15:27:00Z</dcterms:modified>
</cp:coreProperties>
</file>