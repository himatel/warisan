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339" r:id="rId4"/>
    <p:sldId id="343" r:id="rId5"/>
    <p:sldId id="358" r:id="rId6"/>
    <p:sldId id="356" r:id="rId7"/>
    <p:sldId id="357" r:id="rId8"/>
    <p:sldId id="359" r:id="rId9"/>
    <p:sldId id="360" r:id="rId10"/>
    <p:sldId id="361" r:id="rId11"/>
    <p:sldId id="362" r:id="rId12"/>
    <p:sldId id="363" r:id="rId13"/>
    <p:sldId id="364" r:id="rId14"/>
    <p:sldId id="365" r:id="rId15"/>
    <p:sldId id="371" r:id="rId16"/>
    <p:sldId id="372" r:id="rId17"/>
    <p:sldId id="373" r:id="rId18"/>
    <p:sldId id="374" r:id="rId19"/>
    <p:sldId id="375" r:id="rId20"/>
    <p:sldId id="376" r:id="rId21"/>
    <p:sldId id="377" r:id="rId22"/>
    <p:sldId id="378" r:id="rId23"/>
    <p:sldId id="379" r:id="rId24"/>
    <p:sldId id="368" r:id="rId25"/>
    <p:sldId id="369" r:id="rId26"/>
    <p:sldId id="366" r:id="rId27"/>
    <p:sldId id="382" r:id="rId28"/>
    <p:sldId id="370"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75" autoAdjust="0"/>
    <p:restoredTop sz="94660"/>
  </p:normalViewPr>
  <p:slideViewPr>
    <p:cSldViewPr snapToGrid="0">
      <p:cViewPr varScale="1">
        <p:scale>
          <a:sx n="47" d="100"/>
          <a:sy n="47" d="100"/>
        </p:scale>
        <p:origin x="77" y="1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BCF8A-A6B8-EB57-C415-3B5055F4B9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6DD89D44-A774-DFE2-4445-DEFA98A777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C9BC417D-DC9A-C5BF-D1AB-1B4EC230C30D}"/>
              </a:ext>
            </a:extLst>
          </p:cNvPr>
          <p:cNvSpPr>
            <a:spLocks noGrp="1"/>
          </p:cNvSpPr>
          <p:nvPr>
            <p:ph type="dt" sz="half" idx="10"/>
          </p:nvPr>
        </p:nvSpPr>
        <p:spPr/>
        <p:txBody>
          <a:bodyPr/>
          <a:lstStyle/>
          <a:p>
            <a:fld id="{A769A318-8210-4194-B9A5-38948B77C22A}" type="datetimeFigureOut">
              <a:rPr lang="en-ID" smtClean="0"/>
              <a:t>29/04/2023</a:t>
            </a:fld>
            <a:endParaRPr lang="en-ID"/>
          </a:p>
        </p:txBody>
      </p:sp>
      <p:sp>
        <p:nvSpPr>
          <p:cNvPr id="5" name="Footer Placeholder 4">
            <a:extLst>
              <a:ext uri="{FF2B5EF4-FFF2-40B4-BE49-F238E27FC236}">
                <a16:creationId xmlns:a16="http://schemas.microsoft.com/office/drawing/2014/main" id="{969302B4-025A-E083-BFEC-FEE37FBB7F97}"/>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A5669CC2-4498-8F49-BE43-BCBF278628B6}"/>
              </a:ext>
            </a:extLst>
          </p:cNvPr>
          <p:cNvSpPr>
            <a:spLocks noGrp="1"/>
          </p:cNvSpPr>
          <p:nvPr>
            <p:ph type="sldNum" sz="quarter" idx="12"/>
          </p:nvPr>
        </p:nvSpPr>
        <p:spPr/>
        <p:txBody>
          <a:bodyPr/>
          <a:lstStyle/>
          <a:p>
            <a:fld id="{4A3F1DB2-ECED-4BEC-86F0-C67F110BE4CF}" type="slidenum">
              <a:rPr lang="en-ID" smtClean="0"/>
              <a:t>‹#›</a:t>
            </a:fld>
            <a:endParaRPr lang="en-ID"/>
          </a:p>
        </p:txBody>
      </p:sp>
    </p:spTree>
    <p:extLst>
      <p:ext uri="{BB962C8B-B14F-4D97-AF65-F5344CB8AC3E}">
        <p14:creationId xmlns:p14="http://schemas.microsoft.com/office/powerpoint/2010/main" val="8911767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B89B5-AE4C-BA44-897B-A12D470492A0}"/>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FB5A0C28-EB30-EF40-07C7-7E06E6F5E7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26018AC0-4600-4AFE-DD8F-B387FD91CC61}"/>
              </a:ext>
            </a:extLst>
          </p:cNvPr>
          <p:cNvSpPr>
            <a:spLocks noGrp="1"/>
          </p:cNvSpPr>
          <p:nvPr>
            <p:ph type="dt" sz="half" idx="10"/>
          </p:nvPr>
        </p:nvSpPr>
        <p:spPr/>
        <p:txBody>
          <a:bodyPr/>
          <a:lstStyle/>
          <a:p>
            <a:fld id="{A769A318-8210-4194-B9A5-38948B77C22A}" type="datetimeFigureOut">
              <a:rPr lang="en-ID" smtClean="0"/>
              <a:t>29/04/2023</a:t>
            </a:fld>
            <a:endParaRPr lang="en-ID"/>
          </a:p>
        </p:txBody>
      </p:sp>
      <p:sp>
        <p:nvSpPr>
          <p:cNvPr id="5" name="Footer Placeholder 4">
            <a:extLst>
              <a:ext uri="{FF2B5EF4-FFF2-40B4-BE49-F238E27FC236}">
                <a16:creationId xmlns:a16="http://schemas.microsoft.com/office/drawing/2014/main" id="{D2421323-3DB2-C020-C126-4AC0528AC110}"/>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C54A2260-E4DB-4A61-1FA0-318E1AF77613}"/>
              </a:ext>
            </a:extLst>
          </p:cNvPr>
          <p:cNvSpPr>
            <a:spLocks noGrp="1"/>
          </p:cNvSpPr>
          <p:nvPr>
            <p:ph type="sldNum" sz="quarter" idx="12"/>
          </p:nvPr>
        </p:nvSpPr>
        <p:spPr/>
        <p:txBody>
          <a:bodyPr/>
          <a:lstStyle/>
          <a:p>
            <a:fld id="{4A3F1DB2-ECED-4BEC-86F0-C67F110BE4CF}" type="slidenum">
              <a:rPr lang="en-ID" smtClean="0"/>
              <a:t>‹#›</a:t>
            </a:fld>
            <a:endParaRPr lang="en-ID"/>
          </a:p>
        </p:txBody>
      </p:sp>
    </p:spTree>
    <p:extLst>
      <p:ext uri="{BB962C8B-B14F-4D97-AF65-F5344CB8AC3E}">
        <p14:creationId xmlns:p14="http://schemas.microsoft.com/office/powerpoint/2010/main" val="3829366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DBCB9-E559-AC44-FDD1-E089FD98A4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0C9F857A-2F2D-3032-DCEA-323F1942B8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A96D26-2C2D-31DC-34FE-C01AA014A58B}"/>
              </a:ext>
            </a:extLst>
          </p:cNvPr>
          <p:cNvSpPr>
            <a:spLocks noGrp="1"/>
          </p:cNvSpPr>
          <p:nvPr>
            <p:ph type="dt" sz="half" idx="10"/>
          </p:nvPr>
        </p:nvSpPr>
        <p:spPr/>
        <p:txBody>
          <a:bodyPr/>
          <a:lstStyle/>
          <a:p>
            <a:fld id="{A769A318-8210-4194-B9A5-38948B77C22A}" type="datetimeFigureOut">
              <a:rPr lang="en-ID" smtClean="0"/>
              <a:t>29/04/2023</a:t>
            </a:fld>
            <a:endParaRPr lang="en-ID"/>
          </a:p>
        </p:txBody>
      </p:sp>
      <p:sp>
        <p:nvSpPr>
          <p:cNvPr id="5" name="Footer Placeholder 4">
            <a:extLst>
              <a:ext uri="{FF2B5EF4-FFF2-40B4-BE49-F238E27FC236}">
                <a16:creationId xmlns:a16="http://schemas.microsoft.com/office/drawing/2014/main" id="{0E46050D-9A14-608F-AF8F-4F05572DEB00}"/>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68D202B3-113E-BD70-590A-183E2A65721E}"/>
              </a:ext>
            </a:extLst>
          </p:cNvPr>
          <p:cNvSpPr>
            <a:spLocks noGrp="1"/>
          </p:cNvSpPr>
          <p:nvPr>
            <p:ph type="sldNum" sz="quarter" idx="12"/>
          </p:nvPr>
        </p:nvSpPr>
        <p:spPr/>
        <p:txBody>
          <a:bodyPr/>
          <a:lstStyle/>
          <a:p>
            <a:fld id="{4A3F1DB2-ECED-4BEC-86F0-C67F110BE4CF}" type="slidenum">
              <a:rPr lang="en-ID" smtClean="0"/>
              <a:t>‹#›</a:t>
            </a:fld>
            <a:endParaRPr lang="en-ID"/>
          </a:p>
        </p:txBody>
      </p:sp>
    </p:spTree>
    <p:extLst>
      <p:ext uri="{BB962C8B-B14F-4D97-AF65-F5344CB8AC3E}">
        <p14:creationId xmlns:p14="http://schemas.microsoft.com/office/powerpoint/2010/main" val="1891294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20D00-F871-EA3F-FAB9-8BAD909FC7F8}"/>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1C1C6FCB-6AC2-6EA0-C014-87A9B91B99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E2118000-887D-F89C-6E25-1D1A60943F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325C40E7-895A-93DB-C9F0-B5BB319D72B4}"/>
              </a:ext>
            </a:extLst>
          </p:cNvPr>
          <p:cNvSpPr>
            <a:spLocks noGrp="1"/>
          </p:cNvSpPr>
          <p:nvPr>
            <p:ph type="dt" sz="half" idx="10"/>
          </p:nvPr>
        </p:nvSpPr>
        <p:spPr/>
        <p:txBody>
          <a:bodyPr/>
          <a:lstStyle/>
          <a:p>
            <a:fld id="{A769A318-8210-4194-B9A5-38948B77C22A}" type="datetimeFigureOut">
              <a:rPr lang="en-ID" smtClean="0"/>
              <a:t>29/04/2023</a:t>
            </a:fld>
            <a:endParaRPr lang="en-ID"/>
          </a:p>
        </p:txBody>
      </p:sp>
      <p:sp>
        <p:nvSpPr>
          <p:cNvPr id="6" name="Footer Placeholder 5">
            <a:extLst>
              <a:ext uri="{FF2B5EF4-FFF2-40B4-BE49-F238E27FC236}">
                <a16:creationId xmlns:a16="http://schemas.microsoft.com/office/drawing/2014/main" id="{BF9F661D-A134-576F-3057-B4B0FE48CFF6}"/>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F42E019E-6313-C599-BEB1-55BB63E744E7}"/>
              </a:ext>
            </a:extLst>
          </p:cNvPr>
          <p:cNvSpPr>
            <a:spLocks noGrp="1"/>
          </p:cNvSpPr>
          <p:nvPr>
            <p:ph type="sldNum" sz="quarter" idx="12"/>
          </p:nvPr>
        </p:nvSpPr>
        <p:spPr/>
        <p:txBody>
          <a:bodyPr/>
          <a:lstStyle/>
          <a:p>
            <a:fld id="{4A3F1DB2-ECED-4BEC-86F0-C67F110BE4CF}" type="slidenum">
              <a:rPr lang="en-ID" smtClean="0"/>
              <a:t>‹#›</a:t>
            </a:fld>
            <a:endParaRPr lang="en-ID"/>
          </a:p>
        </p:txBody>
      </p:sp>
    </p:spTree>
    <p:extLst>
      <p:ext uri="{BB962C8B-B14F-4D97-AF65-F5344CB8AC3E}">
        <p14:creationId xmlns:p14="http://schemas.microsoft.com/office/powerpoint/2010/main" val="8479702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D2740-96D6-EE48-E2BB-5FF74F1E38D0}"/>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DEBD3D48-FD61-6684-CCA6-FCD32DA4C8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849CFB-F016-6E2C-D86C-764CB3CB15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621B2243-E30E-7C67-0193-D2E76E5F24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B21470-0C7A-1189-6029-EA5DA30877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40C65D1B-F245-AE97-1C79-21B1D71DD484}"/>
              </a:ext>
            </a:extLst>
          </p:cNvPr>
          <p:cNvSpPr>
            <a:spLocks noGrp="1"/>
          </p:cNvSpPr>
          <p:nvPr>
            <p:ph type="dt" sz="half" idx="10"/>
          </p:nvPr>
        </p:nvSpPr>
        <p:spPr/>
        <p:txBody>
          <a:bodyPr/>
          <a:lstStyle/>
          <a:p>
            <a:fld id="{A769A318-8210-4194-B9A5-38948B77C22A}" type="datetimeFigureOut">
              <a:rPr lang="en-ID" smtClean="0"/>
              <a:t>29/04/2023</a:t>
            </a:fld>
            <a:endParaRPr lang="en-ID"/>
          </a:p>
        </p:txBody>
      </p:sp>
      <p:sp>
        <p:nvSpPr>
          <p:cNvPr id="8" name="Footer Placeholder 7">
            <a:extLst>
              <a:ext uri="{FF2B5EF4-FFF2-40B4-BE49-F238E27FC236}">
                <a16:creationId xmlns:a16="http://schemas.microsoft.com/office/drawing/2014/main" id="{7846D5A1-94E4-E8C8-AC29-1B6B766C46BB}"/>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5D3C3643-E5A5-A408-8032-E99D23CD537E}"/>
              </a:ext>
            </a:extLst>
          </p:cNvPr>
          <p:cNvSpPr>
            <a:spLocks noGrp="1"/>
          </p:cNvSpPr>
          <p:nvPr>
            <p:ph type="sldNum" sz="quarter" idx="12"/>
          </p:nvPr>
        </p:nvSpPr>
        <p:spPr/>
        <p:txBody>
          <a:bodyPr/>
          <a:lstStyle/>
          <a:p>
            <a:fld id="{4A3F1DB2-ECED-4BEC-86F0-C67F110BE4CF}" type="slidenum">
              <a:rPr lang="en-ID" smtClean="0"/>
              <a:t>‹#›</a:t>
            </a:fld>
            <a:endParaRPr lang="en-ID"/>
          </a:p>
        </p:txBody>
      </p:sp>
    </p:spTree>
    <p:extLst>
      <p:ext uri="{BB962C8B-B14F-4D97-AF65-F5344CB8AC3E}">
        <p14:creationId xmlns:p14="http://schemas.microsoft.com/office/powerpoint/2010/main" val="2718178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2609B-6E3D-8DDC-D4FB-3C9EA624B5C6}"/>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34569731-4B0E-87C6-CDD9-E301A82A652C}"/>
              </a:ext>
            </a:extLst>
          </p:cNvPr>
          <p:cNvSpPr>
            <a:spLocks noGrp="1"/>
          </p:cNvSpPr>
          <p:nvPr>
            <p:ph type="dt" sz="half" idx="10"/>
          </p:nvPr>
        </p:nvSpPr>
        <p:spPr/>
        <p:txBody>
          <a:bodyPr/>
          <a:lstStyle/>
          <a:p>
            <a:fld id="{A769A318-8210-4194-B9A5-38948B77C22A}" type="datetimeFigureOut">
              <a:rPr lang="en-ID" smtClean="0"/>
              <a:t>29/04/2023</a:t>
            </a:fld>
            <a:endParaRPr lang="en-ID"/>
          </a:p>
        </p:txBody>
      </p:sp>
      <p:sp>
        <p:nvSpPr>
          <p:cNvPr id="4" name="Footer Placeholder 3">
            <a:extLst>
              <a:ext uri="{FF2B5EF4-FFF2-40B4-BE49-F238E27FC236}">
                <a16:creationId xmlns:a16="http://schemas.microsoft.com/office/drawing/2014/main" id="{EAFA46DF-792A-DA8D-3C76-EE08DC79FB48}"/>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A6CA49AC-C394-E20C-1C4C-2319A082E69A}"/>
              </a:ext>
            </a:extLst>
          </p:cNvPr>
          <p:cNvSpPr>
            <a:spLocks noGrp="1"/>
          </p:cNvSpPr>
          <p:nvPr>
            <p:ph type="sldNum" sz="quarter" idx="12"/>
          </p:nvPr>
        </p:nvSpPr>
        <p:spPr/>
        <p:txBody>
          <a:bodyPr/>
          <a:lstStyle/>
          <a:p>
            <a:fld id="{4A3F1DB2-ECED-4BEC-86F0-C67F110BE4CF}" type="slidenum">
              <a:rPr lang="en-ID" smtClean="0"/>
              <a:t>‹#›</a:t>
            </a:fld>
            <a:endParaRPr lang="en-ID"/>
          </a:p>
        </p:txBody>
      </p:sp>
    </p:spTree>
    <p:extLst>
      <p:ext uri="{BB962C8B-B14F-4D97-AF65-F5344CB8AC3E}">
        <p14:creationId xmlns:p14="http://schemas.microsoft.com/office/powerpoint/2010/main" val="3455953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34C905-8E7A-34E6-E44D-0F5EF3614B13}"/>
              </a:ext>
            </a:extLst>
          </p:cNvPr>
          <p:cNvSpPr>
            <a:spLocks noGrp="1"/>
          </p:cNvSpPr>
          <p:nvPr>
            <p:ph type="dt" sz="half" idx="10"/>
          </p:nvPr>
        </p:nvSpPr>
        <p:spPr/>
        <p:txBody>
          <a:bodyPr/>
          <a:lstStyle/>
          <a:p>
            <a:fld id="{A769A318-8210-4194-B9A5-38948B77C22A}" type="datetimeFigureOut">
              <a:rPr lang="en-ID" smtClean="0"/>
              <a:t>29/04/2023</a:t>
            </a:fld>
            <a:endParaRPr lang="en-ID"/>
          </a:p>
        </p:txBody>
      </p:sp>
      <p:sp>
        <p:nvSpPr>
          <p:cNvPr id="3" name="Footer Placeholder 2">
            <a:extLst>
              <a:ext uri="{FF2B5EF4-FFF2-40B4-BE49-F238E27FC236}">
                <a16:creationId xmlns:a16="http://schemas.microsoft.com/office/drawing/2014/main" id="{DE4EB4C5-1F03-DF2C-2377-580EC6E42CD7}"/>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1CFC1F5E-A6CA-D5D3-A928-9320343DBFD1}"/>
              </a:ext>
            </a:extLst>
          </p:cNvPr>
          <p:cNvSpPr>
            <a:spLocks noGrp="1"/>
          </p:cNvSpPr>
          <p:nvPr>
            <p:ph type="sldNum" sz="quarter" idx="12"/>
          </p:nvPr>
        </p:nvSpPr>
        <p:spPr/>
        <p:txBody>
          <a:bodyPr/>
          <a:lstStyle/>
          <a:p>
            <a:fld id="{4A3F1DB2-ECED-4BEC-86F0-C67F110BE4CF}" type="slidenum">
              <a:rPr lang="en-ID" smtClean="0"/>
              <a:t>‹#›</a:t>
            </a:fld>
            <a:endParaRPr lang="en-ID"/>
          </a:p>
        </p:txBody>
      </p:sp>
    </p:spTree>
    <p:extLst>
      <p:ext uri="{BB962C8B-B14F-4D97-AF65-F5344CB8AC3E}">
        <p14:creationId xmlns:p14="http://schemas.microsoft.com/office/powerpoint/2010/main" val="3148883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7E1E7-BC52-82F0-C9EA-1BCE5EA110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709A17C7-B4E5-AB1A-260A-0EB98CA8AC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43845BCD-CD20-0C13-21BE-9941C6FE48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92A2E8-F6C0-805A-B2EE-87C181FF3212}"/>
              </a:ext>
            </a:extLst>
          </p:cNvPr>
          <p:cNvSpPr>
            <a:spLocks noGrp="1"/>
          </p:cNvSpPr>
          <p:nvPr>
            <p:ph type="dt" sz="half" idx="10"/>
          </p:nvPr>
        </p:nvSpPr>
        <p:spPr/>
        <p:txBody>
          <a:bodyPr/>
          <a:lstStyle/>
          <a:p>
            <a:fld id="{A769A318-8210-4194-B9A5-38948B77C22A}" type="datetimeFigureOut">
              <a:rPr lang="en-ID" smtClean="0"/>
              <a:t>29/04/2023</a:t>
            </a:fld>
            <a:endParaRPr lang="en-ID"/>
          </a:p>
        </p:txBody>
      </p:sp>
      <p:sp>
        <p:nvSpPr>
          <p:cNvPr id="6" name="Footer Placeholder 5">
            <a:extLst>
              <a:ext uri="{FF2B5EF4-FFF2-40B4-BE49-F238E27FC236}">
                <a16:creationId xmlns:a16="http://schemas.microsoft.com/office/drawing/2014/main" id="{D112BFC3-2DB1-3616-F10A-6522C4048A36}"/>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3034799F-A6FF-78D2-4F13-3C4B680A1CC9}"/>
              </a:ext>
            </a:extLst>
          </p:cNvPr>
          <p:cNvSpPr>
            <a:spLocks noGrp="1"/>
          </p:cNvSpPr>
          <p:nvPr>
            <p:ph type="sldNum" sz="quarter" idx="12"/>
          </p:nvPr>
        </p:nvSpPr>
        <p:spPr/>
        <p:txBody>
          <a:bodyPr/>
          <a:lstStyle/>
          <a:p>
            <a:fld id="{4A3F1DB2-ECED-4BEC-86F0-C67F110BE4CF}" type="slidenum">
              <a:rPr lang="en-ID" smtClean="0"/>
              <a:t>‹#›</a:t>
            </a:fld>
            <a:endParaRPr lang="en-ID"/>
          </a:p>
        </p:txBody>
      </p:sp>
    </p:spTree>
    <p:extLst>
      <p:ext uri="{BB962C8B-B14F-4D97-AF65-F5344CB8AC3E}">
        <p14:creationId xmlns:p14="http://schemas.microsoft.com/office/powerpoint/2010/main" val="2190656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F8B52-5654-A8BD-5782-CE52B43907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7590F3A1-45A5-B87A-70B7-0A39C1656A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FC02A2B7-5B78-9F3D-8AEA-FE0F1361C3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BFB51F-A927-A2F7-01F9-2F3E52D4D79C}"/>
              </a:ext>
            </a:extLst>
          </p:cNvPr>
          <p:cNvSpPr>
            <a:spLocks noGrp="1"/>
          </p:cNvSpPr>
          <p:nvPr>
            <p:ph type="dt" sz="half" idx="10"/>
          </p:nvPr>
        </p:nvSpPr>
        <p:spPr/>
        <p:txBody>
          <a:bodyPr/>
          <a:lstStyle/>
          <a:p>
            <a:fld id="{A769A318-8210-4194-B9A5-38948B77C22A}" type="datetimeFigureOut">
              <a:rPr lang="en-ID" smtClean="0"/>
              <a:t>29/04/2023</a:t>
            </a:fld>
            <a:endParaRPr lang="en-ID"/>
          </a:p>
        </p:txBody>
      </p:sp>
      <p:sp>
        <p:nvSpPr>
          <p:cNvPr id="6" name="Footer Placeholder 5">
            <a:extLst>
              <a:ext uri="{FF2B5EF4-FFF2-40B4-BE49-F238E27FC236}">
                <a16:creationId xmlns:a16="http://schemas.microsoft.com/office/drawing/2014/main" id="{3DFBB7E8-D18E-D818-369C-A5DFB8DEA1E1}"/>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3AE5AF90-895E-EB1E-E9C6-4677908A817C}"/>
              </a:ext>
            </a:extLst>
          </p:cNvPr>
          <p:cNvSpPr>
            <a:spLocks noGrp="1"/>
          </p:cNvSpPr>
          <p:nvPr>
            <p:ph type="sldNum" sz="quarter" idx="12"/>
          </p:nvPr>
        </p:nvSpPr>
        <p:spPr/>
        <p:txBody>
          <a:bodyPr/>
          <a:lstStyle/>
          <a:p>
            <a:fld id="{4A3F1DB2-ECED-4BEC-86F0-C67F110BE4CF}" type="slidenum">
              <a:rPr lang="en-ID" smtClean="0"/>
              <a:t>‹#›</a:t>
            </a:fld>
            <a:endParaRPr lang="en-ID"/>
          </a:p>
        </p:txBody>
      </p:sp>
    </p:spTree>
    <p:extLst>
      <p:ext uri="{BB962C8B-B14F-4D97-AF65-F5344CB8AC3E}">
        <p14:creationId xmlns:p14="http://schemas.microsoft.com/office/powerpoint/2010/main" val="610482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CA106-84F4-46AA-99A4-57432BFF110B}"/>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31655E5B-2D57-3F7B-7638-9B8DFF1339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E80A2927-673E-757D-C06E-B127EC5A36BE}"/>
              </a:ext>
            </a:extLst>
          </p:cNvPr>
          <p:cNvSpPr>
            <a:spLocks noGrp="1"/>
          </p:cNvSpPr>
          <p:nvPr>
            <p:ph type="dt" sz="half" idx="10"/>
          </p:nvPr>
        </p:nvSpPr>
        <p:spPr/>
        <p:txBody>
          <a:bodyPr/>
          <a:lstStyle/>
          <a:p>
            <a:fld id="{A769A318-8210-4194-B9A5-38948B77C22A}" type="datetimeFigureOut">
              <a:rPr lang="en-ID" smtClean="0"/>
              <a:t>29/04/2023</a:t>
            </a:fld>
            <a:endParaRPr lang="en-ID"/>
          </a:p>
        </p:txBody>
      </p:sp>
      <p:sp>
        <p:nvSpPr>
          <p:cNvPr id="5" name="Footer Placeholder 4">
            <a:extLst>
              <a:ext uri="{FF2B5EF4-FFF2-40B4-BE49-F238E27FC236}">
                <a16:creationId xmlns:a16="http://schemas.microsoft.com/office/drawing/2014/main" id="{42E63549-A732-4828-5C3E-87BB748D138E}"/>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C017F4C8-45D7-A869-9B79-28FC152E769D}"/>
              </a:ext>
            </a:extLst>
          </p:cNvPr>
          <p:cNvSpPr>
            <a:spLocks noGrp="1"/>
          </p:cNvSpPr>
          <p:nvPr>
            <p:ph type="sldNum" sz="quarter" idx="12"/>
          </p:nvPr>
        </p:nvSpPr>
        <p:spPr/>
        <p:txBody>
          <a:bodyPr/>
          <a:lstStyle/>
          <a:p>
            <a:fld id="{4A3F1DB2-ECED-4BEC-86F0-C67F110BE4CF}" type="slidenum">
              <a:rPr lang="en-ID" smtClean="0"/>
              <a:t>‹#›</a:t>
            </a:fld>
            <a:endParaRPr lang="en-ID"/>
          </a:p>
        </p:txBody>
      </p:sp>
    </p:spTree>
    <p:extLst>
      <p:ext uri="{BB962C8B-B14F-4D97-AF65-F5344CB8AC3E}">
        <p14:creationId xmlns:p14="http://schemas.microsoft.com/office/powerpoint/2010/main" val="3965529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600884-361C-566E-BC0A-B85CDE3F29E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DDB9907C-0464-1C08-8CB5-A0FE13234A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B5D3DBC7-33B0-F9BF-6ACD-B8B708011AA7}"/>
              </a:ext>
            </a:extLst>
          </p:cNvPr>
          <p:cNvSpPr>
            <a:spLocks noGrp="1"/>
          </p:cNvSpPr>
          <p:nvPr>
            <p:ph type="dt" sz="half" idx="10"/>
          </p:nvPr>
        </p:nvSpPr>
        <p:spPr/>
        <p:txBody>
          <a:bodyPr/>
          <a:lstStyle/>
          <a:p>
            <a:fld id="{A769A318-8210-4194-B9A5-38948B77C22A}" type="datetimeFigureOut">
              <a:rPr lang="en-ID" smtClean="0"/>
              <a:t>29/04/2023</a:t>
            </a:fld>
            <a:endParaRPr lang="en-ID"/>
          </a:p>
        </p:txBody>
      </p:sp>
      <p:sp>
        <p:nvSpPr>
          <p:cNvPr id="5" name="Footer Placeholder 4">
            <a:extLst>
              <a:ext uri="{FF2B5EF4-FFF2-40B4-BE49-F238E27FC236}">
                <a16:creationId xmlns:a16="http://schemas.microsoft.com/office/drawing/2014/main" id="{C3FF8820-D0E5-81CF-BFF7-F89DC4147977}"/>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935E0282-AC57-D4B1-A953-815B695F7DD3}"/>
              </a:ext>
            </a:extLst>
          </p:cNvPr>
          <p:cNvSpPr>
            <a:spLocks noGrp="1"/>
          </p:cNvSpPr>
          <p:nvPr>
            <p:ph type="sldNum" sz="quarter" idx="12"/>
          </p:nvPr>
        </p:nvSpPr>
        <p:spPr/>
        <p:txBody>
          <a:bodyPr/>
          <a:lstStyle/>
          <a:p>
            <a:fld id="{4A3F1DB2-ECED-4BEC-86F0-C67F110BE4CF}" type="slidenum">
              <a:rPr lang="en-ID" smtClean="0"/>
              <a:t>‹#›</a:t>
            </a:fld>
            <a:endParaRPr lang="en-ID"/>
          </a:p>
        </p:txBody>
      </p:sp>
    </p:spTree>
    <p:extLst>
      <p:ext uri="{BB962C8B-B14F-4D97-AF65-F5344CB8AC3E}">
        <p14:creationId xmlns:p14="http://schemas.microsoft.com/office/powerpoint/2010/main" val="32783427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D6B4DB1-1B6B-49E9-A555-48033CD140C8}" type="datetimeFigureOut">
              <a:rPr lang="en-US" smtClean="0"/>
              <a:t>4/29/2023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EF0931-3677-4D38-947F-EDD088E06954}" type="slidenum">
              <a:rPr lang="en-US" smtClean="0"/>
              <a:t>‹#›</a:t>
            </a:fld>
            <a:endParaRPr lang="en-US"/>
          </a:p>
        </p:txBody>
      </p:sp>
    </p:spTree>
    <p:extLst>
      <p:ext uri="{BB962C8B-B14F-4D97-AF65-F5344CB8AC3E}">
        <p14:creationId xmlns:p14="http://schemas.microsoft.com/office/powerpoint/2010/main" val="5082049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6B4DB1-1B6B-49E9-A555-48033CD140C8}" type="datetimeFigureOut">
              <a:rPr lang="en-US" smtClean="0"/>
              <a:t>4/29/2023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EF0931-3677-4D38-947F-EDD088E06954}" type="slidenum">
              <a:rPr lang="en-US" smtClean="0"/>
              <a:t>‹#›</a:t>
            </a:fld>
            <a:endParaRPr lang="en-US"/>
          </a:p>
        </p:txBody>
      </p:sp>
    </p:spTree>
    <p:extLst>
      <p:ext uri="{BB962C8B-B14F-4D97-AF65-F5344CB8AC3E}">
        <p14:creationId xmlns:p14="http://schemas.microsoft.com/office/powerpoint/2010/main" val="38372998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6B4DB1-1B6B-49E9-A555-48033CD140C8}" type="datetimeFigureOut">
              <a:rPr lang="en-US" smtClean="0"/>
              <a:t>4/29/2023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EF0931-3677-4D38-947F-EDD088E06954}" type="slidenum">
              <a:rPr lang="en-US" smtClean="0"/>
              <a:t>‹#›</a:t>
            </a:fld>
            <a:endParaRPr lang="en-US"/>
          </a:p>
        </p:txBody>
      </p:sp>
    </p:spTree>
    <p:extLst>
      <p:ext uri="{BB962C8B-B14F-4D97-AF65-F5344CB8AC3E}">
        <p14:creationId xmlns:p14="http://schemas.microsoft.com/office/powerpoint/2010/main" val="10071402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D6B4DB1-1B6B-49E9-A555-48033CD140C8}" type="datetimeFigureOut">
              <a:rPr lang="en-US" smtClean="0"/>
              <a:t>4/29/2023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EF0931-3677-4D38-947F-EDD088E06954}" type="slidenum">
              <a:rPr lang="en-US" smtClean="0"/>
              <a:t>‹#›</a:t>
            </a:fld>
            <a:endParaRPr lang="en-US"/>
          </a:p>
        </p:txBody>
      </p:sp>
    </p:spTree>
    <p:extLst>
      <p:ext uri="{BB962C8B-B14F-4D97-AF65-F5344CB8AC3E}">
        <p14:creationId xmlns:p14="http://schemas.microsoft.com/office/powerpoint/2010/main" val="34508919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D6B4DB1-1B6B-49E9-A555-48033CD140C8}" type="datetimeFigureOut">
              <a:rPr lang="en-US" smtClean="0"/>
              <a:t>4/29/2023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1EF0931-3677-4D38-947F-EDD088E06954}" type="slidenum">
              <a:rPr lang="en-US" smtClean="0"/>
              <a:t>‹#›</a:t>
            </a:fld>
            <a:endParaRPr lang="en-US"/>
          </a:p>
        </p:txBody>
      </p:sp>
    </p:spTree>
    <p:extLst>
      <p:ext uri="{BB962C8B-B14F-4D97-AF65-F5344CB8AC3E}">
        <p14:creationId xmlns:p14="http://schemas.microsoft.com/office/powerpoint/2010/main" val="10438170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D6B4DB1-1B6B-49E9-A555-48033CD140C8}" type="datetimeFigureOut">
              <a:rPr lang="en-US" smtClean="0"/>
              <a:t>4/29/2023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EF0931-3677-4D38-947F-EDD088E06954}" type="slidenum">
              <a:rPr lang="en-US" smtClean="0"/>
              <a:t>‹#›</a:t>
            </a:fld>
            <a:endParaRPr lang="en-US"/>
          </a:p>
        </p:txBody>
      </p:sp>
    </p:spTree>
    <p:extLst>
      <p:ext uri="{BB962C8B-B14F-4D97-AF65-F5344CB8AC3E}">
        <p14:creationId xmlns:p14="http://schemas.microsoft.com/office/powerpoint/2010/main" val="2050988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6B4DB1-1B6B-49E9-A555-48033CD140C8}" type="datetimeFigureOut">
              <a:rPr lang="en-US" smtClean="0"/>
              <a:t>4/29/2023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1EF0931-3677-4D38-947F-EDD088E06954}" type="slidenum">
              <a:rPr lang="en-US" smtClean="0"/>
              <a:t>‹#›</a:t>
            </a:fld>
            <a:endParaRPr lang="en-US"/>
          </a:p>
        </p:txBody>
      </p:sp>
    </p:spTree>
    <p:extLst>
      <p:ext uri="{BB962C8B-B14F-4D97-AF65-F5344CB8AC3E}">
        <p14:creationId xmlns:p14="http://schemas.microsoft.com/office/powerpoint/2010/main" val="1964870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D6B4DB1-1B6B-49E9-A555-48033CD140C8}" type="datetimeFigureOut">
              <a:rPr lang="en-US" smtClean="0"/>
              <a:t>4/29/2023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EF0931-3677-4D38-947F-EDD088E06954}" type="slidenum">
              <a:rPr lang="en-US" smtClean="0"/>
              <a:t>‹#›</a:t>
            </a:fld>
            <a:endParaRPr lang="en-US"/>
          </a:p>
        </p:txBody>
      </p:sp>
    </p:spTree>
    <p:extLst>
      <p:ext uri="{BB962C8B-B14F-4D97-AF65-F5344CB8AC3E}">
        <p14:creationId xmlns:p14="http://schemas.microsoft.com/office/powerpoint/2010/main" val="26523218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D6B4DB1-1B6B-49E9-A555-48033CD140C8}" type="datetimeFigureOut">
              <a:rPr lang="en-US" smtClean="0"/>
              <a:t>4/29/2023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EF0931-3677-4D38-947F-EDD088E06954}" type="slidenum">
              <a:rPr lang="en-US" smtClean="0"/>
              <a:t>‹#›</a:t>
            </a:fld>
            <a:endParaRPr lang="en-US"/>
          </a:p>
        </p:txBody>
      </p:sp>
    </p:spTree>
    <p:extLst>
      <p:ext uri="{BB962C8B-B14F-4D97-AF65-F5344CB8AC3E}">
        <p14:creationId xmlns:p14="http://schemas.microsoft.com/office/powerpoint/2010/main" val="29509483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6B4DB1-1B6B-49E9-A555-48033CD140C8}" type="datetimeFigureOut">
              <a:rPr lang="en-US" smtClean="0"/>
              <a:t>4/29/2023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EF0931-3677-4D38-947F-EDD088E06954}" type="slidenum">
              <a:rPr lang="en-US" smtClean="0"/>
              <a:t>‹#›</a:t>
            </a:fld>
            <a:endParaRPr lang="en-US"/>
          </a:p>
        </p:txBody>
      </p:sp>
    </p:spTree>
    <p:extLst>
      <p:ext uri="{BB962C8B-B14F-4D97-AF65-F5344CB8AC3E}">
        <p14:creationId xmlns:p14="http://schemas.microsoft.com/office/powerpoint/2010/main" val="13721468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6B4DB1-1B6B-49E9-A555-48033CD140C8}" type="datetimeFigureOut">
              <a:rPr lang="en-US" smtClean="0"/>
              <a:t>4/29/2023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EF0931-3677-4D38-947F-EDD088E06954}" type="slidenum">
              <a:rPr lang="en-US" smtClean="0"/>
              <a:t>‹#›</a:t>
            </a:fld>
            <a:endParaRPr lang="en-US"/>
          </a:p>
        </p:txBody>
      </p:sp>
    </p:spTree>
    <p:extLst>
      <p:ext uri="{BB962C8B-B14F-4D97-AF65-F5344CB8AC3E}">
        <p14:creationId xmlns:p14="http://schemas.microsoft.com/office/powerpoint/2010/main" val="3120735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E54EA0-A192-6917-E2C8-669A5BA1BB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EA2E581D-2E84-9A1C-109D-F7DDB76D5A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74319286-A16B-AD39-4400-394EDC5226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69A318-8210-4194-B9A5-38948B77C22A}" type="datetimeFigureOut">
              <a:rPr lang="en-ID" smtClean="0"/>
              <a:t>29/04/2023</a:t>
            </a:fld>
            <a:endParaRPr lang="en-ID"/>
          </a:p>
        </p:txBody>
      </p:sp>
      <p:sp>
        <p:nvSpPr>
          <p:cNvPr id="5" name="Footer Placeholder 4">
            <a:extLst>
              <a:ext uri="{FF2B5EF4-FFF2-40B4-BE49-F238E27FC236}">
                <a16:creationId xmlns:a16="http://schemas.microsoft.com/office/drawing/2014/main" id="{82D3195B-DB5E-D0D5-8D2B-0C093C122F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F6C0EA41-947F-69D9-D27A-9AEC1B135E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3F1DB2-ECED-4BEC-86F0-C67F110BE4CF}" type="slidenum">
              <a:rPr lang="en-ID" smtClean="0"/>
              <a:t>‹#›</a:t>
            </a:fld>
            <a:endParaRPr lang="en-ID"/>
          </a:p>
        </p:txBody>
      </p:sp>
    </p:spTree>
    <p:extLst>
      <p:ext uri="{BB962C8B-B14F-4D97-AF65-F5344CB8AC3E}">
        <p14:creationId xmlns:p14="http://schemas.microsoft.com/office/powerpoint/2010/main" val="3788330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6B4DB1-1B6B-49E9-A555-48033CD140C8}" type="datetimeFigureOut">
              <a:rPr lang="en-US" smtClean="0"/>
              <a:t>4/29/2023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EF0931-3677-4D38-947F-EDD088E06954}" type="slidenum">
              <a:rPr lang="en-US" smtClean="0"/>
              <a:t>‹#›</a:t>
            </a:fld>
            <a:endParaRPr lang="en-US"/>
          </a:p>
        </p:txBody>
      </p:sp>
    </p:spTree>
    <p:extLst>
      <p:ext uri="{BB962C8B-B14F-4D97-AF65-F5344CB8AC3E}">
        <p14:creationId xmlns:p14="http://schemas.microsoft.com/office/powerpoint/2010/main" val="35631195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A98BF-2F1D-3D5B-131A-ACE0E0AF5841}"/>
              </a:ext>
            </a:extLst>
          </p:cNvPr>
          <p:cNvSpPr>
            <a:spLocks noGrp="1"/>
          </p:cNvSpPr>
          <p:nvPr>
            <p:ph type="ctrTitle"/>
          </p:nvPr>
        </p:nvSpPr>
        <p:spPr/>
        <p:txBody>
          <a:bodyPr/>
          <a:lstStyle/>
          <a:p>
            <a:r>
              <a:rPr lang="en-GB" dirty="0">
                <a:solidFill>
                  <a:schemeClr val="accent1">
                    <a:lumMod val="75000"/>
                  </a:schemeClr>
                </a:solidFill>
                <a:latin typeface="Algerian" panose="04020705040A02060702" pitchFamily="82" charset="0"/>
              </a:rPr>
              <a:t>MICROPROCESSOR</a:t>
            </a:r>
            <a:br>
              <a:rPr lang="en-GB" dirty="0">
                <a:solidFill>
                  <a:schemeClr val="accent1">
                    <a:lumMod val="75000"/>
                  </a:schemeClr>
                </a:solidFill>
                <a:latin typeface="Algerian" panose="04020705040A02060702" pitchFamily="82" charset="0"/>
              </a:rPr>
            </a:br>
            <a:r>
              <a:rPr lang="en-GB" dirty="0">
                <a:solidFill>
                  <a:schemeClr val="accent1">
                    <a:lumMod val="75000"/>
                  </a:schemeClr>
                </a:solidFill>
                <a:latin typeface="Algerian" panose="04020705040A02060702" pitchFamily="82" charset="0"/>
              </a:rPr>
              <a:t>AND INTERFACING</a:t>
            </a:r>
            <a:endParaRPr lang="en-ID" dirty="0">
              <a:solidFill>
                <a:schemeClr val="accent1">
                  <a:lumMod val="75000"/>
                </a:schemeClr>
              </a:solidFill>
              <a:latin typeface="Algerian" panose="04020705040A02060702" pitchFamily="82" charset="0"/>
            </a:endParaRPr>
          </a:p>
        </p:txBody>
      </p:sp>
      <p:sp>
        <p:nvSpPr>
          <p:cNvPr id="3" name="Subtitle 2">
            <a:extLst>
              <a:ext uri="{FF2B5EF4-FFF2-40B4-BE49-F238E27FC236}">
                <a16:creationId xmlns:a16="http://schemas.microsoft.com/office/drawing/2014/main" id="{A59C7266-E385-385B-916C-A6273BBC36A3}"/>
              </a:ext>
            </a:extLst>
          </p:cNvPr>
          <p:cNvSpPr>
            <a:spLocks noGrp="1"/>
          </p:cNvSpPr>
          <p:nvPr>
            <p:ph type="subTitle" idx="1"/>
          </p:nvPr>
        </p:nvSpPr>
        <p:spPr/>
        <p:txBody>
          <a:bodyPr>
            <a:normAutofit/>
          </a:bodyPr>
          <a:lstStyle/>
          <a:p>
            <a:r>
              <a:rPr lang="en-GB" sz="4000" dirty="0">
                <a:solidFill>
                  <a:srgbClr val="FF0000"/>
                </a:solidFill>
                <a:latin typeface="Algerian" panose="04020705040A02060702" pitchFamily="82" charset="0"/>
              </a:rPr>
              <a:t>[-INTERFACING MEMORY-]</a:t>
            </a:r>
            <a:endParaRPr lang="en-ID" sz="4000" dirty="0">
              <a:solidFill>
                <a:srgbClr val="FF0000"/>
              </a:solidFill>
              <a:latin typeface="Algerian" panose="04020705040A02060702" pitchFamily="82" charset="0"/>
            </a:endParaRPr>
          </a:p>
        </p:txBody>
      </p:sp>
    </p:spTree>
    <p:extLst>
      <p:ext uri="{BB962C8B-B14F-4D97-AF65-F5344CB8AC3E}">
        <p14:creationId xmlns:p14="http://schemas.microsoft.com/office/powerpoint/2010/main" val="1407290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310243" y="-24493"/>
            <a:ext cx="11634107" cy="67620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sng" strike="noStrike" kern="1200" cap="none" spc="0" normalizeH="0" baseline="0" noProof="0" dirty="0">
                <a:ln>
                  <a:noFill/>
                </a:ln>
                <a:solidFill>
                  <a:srgbClr val="002060"/>
                </a:solidFill>
                <a:effectLst/>
                <a:highlight>
                  <a:srgbClr val="FFFF00"/>
                </a:highlight>
                <a:uLnTx/>
                <a:uFillTx/>
                <a:latin typeface="Calibri" panose="020F0502020204030204"/>
                <a:ea typeface="+mn-ea"/>
                <a:cs typeface="+mn-cs"/>
              </a:rPr>
              <a:t>INTERFACING MEMORY: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srgbClr val="002060"/>
                </a:solidFill>
                <a:effectLst/>
                <a:highlight>
                  <a:srgbClr val="FFFF00"/>
                </a:highlight>
                <a:uLnTx/>
                <a:uFillTx/>
                <a:latin typeface="Calibri" panose="020F0502020204030204"/>
                <a:ea typeface="+mn-ea"/>
                <a:cs typeface="+mn-cs"/>
              </a:rPr>
              <a:t>Before attempting to interface memory to the microprocessor, it is essential to completely understand the operation of memory components. In this section, we explain the functions of the four common types of memory: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srgbClr val="002060"/>
                </a:solidFill>
                <a:effectLst/>
                <a:highlight>
                  <a:srgbClr val="FFFF00"/>
                </a:highlight>
                <a:uLnTx/>
                <a:uFillTx/>
                <a:latin typeface="Calibri" panose="020F0502020204030204"/>
                <a:ea typeface="+mn-ea"/>
                <a:cs typeface="+mn-cs"/>
              </a:rPr>
              <a:t>Read-only memory (ROM),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srgbClr val="002060"/>
                </a:solidFill>
                <a:effectLst/>
                <a:highlight>
                  <a:srgbClr val="FFFF00"/>
                </a:highlight>
                <a:uLnTx/>
                <a:uFillTx/>
                <a:latin typeface="Calibri" panose="020F0502020204030204"/>
                <a:ea typeface="+mn-ea"/>
                <a:cs typeface="+mn-cs"/>
              </a:rPr>
              <a:t>Flash memory (EEPROM),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srgbClr val="002060"/>
                </a:solidFill>
                <a:effectLst/>
                <a:highlight>
                  <a:srgbClr val="FFFF00"/>
                </a:highlight>
                <a:uLnTx/>
                <a:uFillTx/>
                <a:latin typeface="Calibri" panose="020F0502020204030204"/>
                <a:ea typeface="+mn-ea"/>
                <a:cs typeface="+mn-cs"/>
              </a:rPr>
              <a:t>Static random access memory (SRAM), and</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srgbClr val="002060"/>
                </a:solidFill>
                <a:effectLst/>
                <a:highlight>
                  <a:srgbClr val="FFFF00"/>
                </a:highlight>
                <a:uLnTx/>
                <a:uFillTx/>
                <a:latin typeface="Calibri" panose="020F0502020204030204"/>
                <a:ea typeface="+mn-ea"/>
                <a:cs typeface="+mn-cs"/>
              </a:rPr>
              <a:t>Dynamic random access memory (DRAM</a:t>
            </a:r>
            <a:r>
              <a:rPr kumimoji="0" lang="en-GB" sz="1800" b="0" i="0" u="none" strike="noStrike" kern="1200" cap="none" spc="0" normalizeH="0" baseline="0" noProof="0" dirty="0">
                <a:ln>
                  <a:noFill/>
                </a:ln>
                <a:solidFill>
                  <a:srgbClr val="002060"/>
                </a:solidFill>
                <a:effectLst/>
                <a:highlight>
                  <a:srgbClr val="FFFF00"/>
                </a:highlight>
                <a:uLnTx/>
                <a:uFillTx/>
                <a:latin typeface="Calibri" panose="020F0502020204030204"/>
                <a:ea typeface="+mn-ea"/>
                <a:cs typeface="+mn-cs"/>
              </a:rPr>
              <a:t>)</a:t>
            </a:r>
            <a:endParaRPr kumimoji="0" lang="en-US" sz="1800" b="0" i="0" u="none" strike="noStrike" kern="1200" cap="none" spc="0" normalizeH="0" baseline="0" noProof="0" dirty="0">
              <a:ln>
                <a:noFill/>
              </a:ln>
              <a:solidFill>
                <a:srgbClr val="002060"/>
              </a:solidFill>
              <a:effectLst/>
              <a:highlight>
                <a:srgbClr val="FFFF00"/>
              </a:highlight>
              <a:uLnTx/>
              <a:uFillTx/>
              <a:latin typeface="Calibri" panose="020F0502020204030204"/>
              <a:ea typeface="+mn-ea"/>
              <a:cs typeface="+mn-cs"/>
            </a:endParaRPr>
          </a:p>
        </p:txBody>
      </p:sp>
    </p:spTree>
    <p:extLst>
      <p:ext uri="{BB962C8B-B14F-4D97-AF65-F5344CB8AC3E}">
        <p14:creationId xmlns:p14="http://schemas.microsoft.com/office/powerpoint/2010/main" val="524067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89807" y="-24493"/>
            <a:ext cx="12102193" cy="67620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78CC6F4A-AF9E-1273-6CF4-E10B387A2C48}"/>
              </a:ext>
            </a:extLst>
          </p:cNvPr>
          <p:cNvPicPr>
            <a:picLocks noChangeAspect="1"/>
          </p:cNvPicPr>
          <p:nvPr/>
        </p:nvPicPr>
        <p:blipFill>
          <a:blip r:embed="rId2"/>
          <a:stretch>
            <a:fillRect/>
          </a:stretch>
        </p:blipFill>
        <p:spPr>
          <a:xfrm>
            <a:off x="1233487" y="557212"/>
            <a:ext cx="9725025" cy="5743575"/>
          </a:xfrm>
          <a:prstGeom prst="rect">
            <a:avLst/>
          </a:prstGeom>
        </p:spPr>
      </p:pic>
    </p:spTree>
    <p:extLst>
      <p:ext uri="{BB962C8B-B14F-4D97-AF65-F5344CB8AC3E}">
        <p14:creationId xmlns:p14="http://schemas.microsoft.com/office/powerpoint/2010/main" val="3335647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89807" y="-24493"/>
            <a:ext cx="12102193" cy="67620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2695FC34-C504-1DDB-67E2-AB425FD7E084}"/>
              </a:ext>
            </a:extLst>
          </p:cNvPr>
          <p:cNvPicPr>
            <a:picLocks noChangeAspect="1"/>
          </p:cNvPicPr>
          <p:nvPr/>
        </p:nvPicPr>
        <p:blipFill>
          <a:blip r:embed="rId2"/>
          <a:stretch>
            <a:fillRect/>
          </a:stretch>
        </p:blipFill>
        <p:spPr>
          <a:xfrm>
            <a:off x="154440" y="183016"/>
            <a:ext cx="11972011" cy="3417434"/>
          </a:xfrm>
          <a:prstGeom prst="rect">
            <a:avLst/>
          </a:prstGeom>
        </p:spPr>
      </p:pic>
    </p:spTree>
    <p:extLst>
      <p:ext uri="{BB962C8B-B14F-4D97-AF65-F5344CB8AC3E}">
        <p14:creationId xmlns:p14="http://schemas.microsoft.com/office/powerpoint/2010/main" val="735487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89807" y="-24493"/>
            <a:ext cx="12102193" cy="67620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BD1E2C49-898D-20FC-521F-BA2A5B763F15}"/>
              </a:ext>
            </a:extLst>
          </p:cNvPr>
          <p:cNvPicPr>
            <a:picLocks noChangeAspect="1"/>
          </p:cNvPicPr>
          <p:nvPr/>
        </p:nvPicPr>
        <p:blipFill>
          <a:blip r:embed="rId2"/>
          <a:stretch>
            <a:fillRect/>
          </a:stretch>
        </p:blipFill>
        <p:spPr>
          <a:xfrm>
            <a:off x="89807" y="0"/>
            <a:ext cx="12102193" cy="5772150"/>
          </a:xfrm>
          <a:prstGeom prst="rect">
            <a:avLst/>
          </a:prstGeom>
        </p:spPr>
      </p:pic>
    </p:spTree>
    <p:extLst>
      <p:ext uri="{BB962C8B-B14F-4D97-AF65-F5344CB8AC3E}">
        <p14:creationId xmlns:p14="http://schemas.microsoft.com/office/powerpoint/2010/main" val="1740640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89807" y="-24493"/>
            <a:ext cx="12102193" cy="67620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8F23FD3F-F480-2A5D-4A9C-0DC70969E1CA}"/>
              </a:ext>
            </a:extLst>
          </p:cNvPr>
          <p:cNvPicPr>
            <a:picLocks noChangeAspect="1"/>
          </p:cNvPicPr>
          <p:nvPr/>
        </p:nvPicPr>
        <p:blipFill>
          <a:blip r:embed="rId2"/>
          <a:stretch>
            <a:fillRect/>
          </a:stretch>
        </p:blipFill>
        <p:spPr>
          <a:xfrm>
            <a:off x="200705" y="-24493"/>
            <a:ext cx="11901488" cy="6506936"/>
          </a:xfrm>
          <a:prstGeom prst="rect">
            <a:avLst/>
          </a:prstGeom>
        </p:spPr>
      </p:pic>
    </p:spTree>
    <p:extLst>
      <p:ext uri="{BB962C8B-B14F-4D97-AF65-F5344CB8AC3E}">
        <p14:creationId xmlns:p14="http://schemas.microsoft.com/office/powerpoint/2010/main" val="764711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89807" y="-24493"/>
            <a:ext cx="12102193" cy="67620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744D5B08-F2FC-C1B1-41BC-424B6379CD3C}"/>
              </a:ext>
            </a:extLst>
          </p:cNvPr>
          <p:cNvPicPr>
            <a:picLocks noChangeAspect="1"/>
          </p:cNvPicPr>
          <p:nvPr/>
        </p:nvPicPr>
        <p:blipFill>
          <a:blip r:embed="rId2"/>
          <a:stretch>
            <a:fillRect/>
          </a:stretch>
        </p:blipFill>
        <p:spPr>
          <a:xfrm>
            <a:off x="-504825" y="-857250"/>
            <a:ext cx="12618403" cy="7184874"/>
          </a:xfrm>
          <a:prstGeom prst="rect">
            <a:avLst/>
          </a:prstGeom>
        </p:spPr>
      </p:pic>
      <p:pic>
        <p:nvPicPr>
          <p:cNvPr id="7" name="Picture 6">
            <a:extLst>
              <a:ext uri="{FF2B5EF4-FFF2-40B4-BE49-F238E27FC236}">
                <a16:creationId xmlns:a16="http://schemas.microsoft.com/office/drawing/2014/main" id="{79033438-0800-ABA5-5D98-5A031389014D}"/>
              </a:ext>
            </a:extLst>
          </p:cNvPr>
          <p:cNvPicPr>
            <a:picLocks noChangeAspect="1"/>
          </p:cNvPicPr>
          <p:nvPr/>
        </p:nvPicPr>
        <p:blipFill>
          <a:blip r:embed="rId3"/>
          <a:stretch>
            <a:fillRect/>
          </a:stretch>
        </p:blipFill>
        <p:spPr>
          <a:xfrm>
            <a:off x="-583247" y="3755508"/>
            <a:ext cx="6327321" cy="491571"/>
          </a:xfrm>
          <a:prstGeom prst="rect">
            <a:avLst/>
          </a:prstGeom>
        </p:spPr>
      </p:pic>
    </p:spTree>
    <p:extLst>
      <p:ext uri="{BB962C8B-B14F-4D97-AF65-F5344CB8AC3E}">
        <p14:creationId xmlns:p14="http://schemas.microsoft.com/office/powerpoint/2010/main" val="692010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89807" y="-24493"/>
            <a:ext cx="12102193" cy="67620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563507A2-484C-AD3C-30A7-A13F70325D88}"/>
              </a:ext>
            </a:extLst>
          </p:cNvPr>
          <p:cNvPicPr>
            <a:picLocks noChangeAspect="1"/>
          </p:cNvPicPr>
          <p:nvPr/>
        </p:nvPicPr>
        <p:blipFill>
          <a:blip r:embed="rId2"/>
          <a:stretch>
            <a:fillRect/>
          </a:stretch>
        </p:blipFill>
        <p:spPr>
          <a:xfrm>
            <a:off x="285750" y="0"/>
            <a:ext cx="11816443" cy="6858000"/>
          </a:xfrm>
          <a:prstGeom prst="rect">
            <a:avLst/>
          </a:prstGeom>
        </p:spPr>
      </p:pic>
    </p:spTree>
    <p:extLst>
      <p:ext uri="{BB962C8B-B14F-4D97-AF65-F5344CB8AC3E}">
        <p14:creationId xmlns:p14="http://schemas.microsoft.com/office/powerpoint/2010/main" val="552593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89807" y="-24493"/>
            <a:ext cx="12102193" cy="67620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47CF64F2-20C2-8FD9-CBE2-5E5D3EB21A7D}"/>
              </a:ext>
            </a:extLst>
          </p:cNvPr>
          <p:cNvPicPr>
            <a:picLocks noChangeAspect="1"/>
          </p:cNvPicPr>
          <p:nvPr/>
        </p:nvPicPr>
        <p:blipFill>
          <a:blip r:embed="rId2"/>
          <a:stretch>
            <a:fillRect/>
          </a:stretch>
        </p:blipFill>
        <p:spPr>
          <a:xfrm>
            <a:off x="89807" y="0"/>
            <a:ext cx="12012386" cy="6858000"/>
          </a:xfrm>
          <a:prstGeom prst="rect">
            <a:avLst/>
          </a:prstGeom>
        </p:spPr>
      </p:pic>
    </p:spTree>
    <p:extLst>
      <p:ext uri="{BB962C8B-B14F-4D97-AF65-F5344CB8AC3E}">
        <p14:creationId xmlns:p14="http://schemas.microsoft.com/office/powerpoint/2010/main" val="1025512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89807" y="-24493"/>
            <a:ext cx="12102193" cy="67620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2E064FB8-6FEC-93B2-D0D9-3BCCC2294252}"/>
              </a:ext>
            </a:extLst>
          </p:cNvPr>
          <p:cNvPicPr>
            <a:picLocks noChangeAspect="1"/>
          </p:cNvPicPr>
          <p:nvPr/>
        </p:nvPicPr>
        <p:blipFill>
          <a:blip r:embed="rId2"/>
          <a:stretch>
            <a:fillRect/>
          </a:stretch>
        </p:blipFill>
        <p:spPr>
          <a:xfrm>
            <a:off x="0" y="1804285"/>
            <a:ext cx="12192000" cy="3249429"/>
          </a:xfrm>
          <a:prstGeom prst="rect">
            <a:avLst/>
          </a:prstGeom>
        </p:spPr>
      </p:pic>
    </p:spTree>
    <p:extLst>
      <p:ext uri="{BB962C8B-B14F-4D97-AF65-F5344CB8AC3E}">
        <p14:creationId xmlns:p14="http://schemas.microsoft.com/office/powerpoint/2010/main" val="127124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89807" y="-24493"/>
            <a:ext cx="12102193" cy="67620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C7E36BE3-CB90-BC39-A28E-AD5569FFF206}"/>
              </a:ext>
            </a:extLst>
          </p:cNvPr>
          <p:cNvPicPr>
            <a:picLocks noChangeAspect="1"/>
          </p:cNvPicPr>
          <p:nvPr/>
        </p:nvPicPr>
        <p:blipFill>
          <a:blip r:embed="rId2"/>
          <a:stretch>
            <a:fillRect/>
          </a:stretch>
        </p:blipFill>
        <p:spPr>
          <a:xfrm>
            <a:off x="371475" y="120450"/>
            <a:ext cx="7862655" cy="6737550"/>
          </a:xfrm>
          <a:prstGeom prst="rect">
            <a:avLst/>
          </a:prstGeom>
        </p:spPr>
      </p:pic>
    </p:spTree>
    <p:extLst>
      <p:ext uri="{BB962C8B-B14F-4D97-AF65-F5344CB8AC3E}">
        <p14:creationId xmlns:p14="http://schemas.microsoft.com/office/powerpoint/2010/main" val="418168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89807" y="-24493"/>
            <a:ext cx="12102193" cy="67620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DBA5B2F3-5E98-8B21-67A8-F19B3F5B8927}"/>
              </a:ext>
            </a:extLst>
          </p:cNvPr>
          <p:cNvPicPr>
            <a:picLocks noChangeAspect="1"/>
          </p:cNvPicPr>
          <p:nvPr/>
        </p:nvPicPr>
        <p:blipFill>
          <a:blip r:embed="rId2"/>
          <a:stretch>
            <a:fillRect/>
          </a:stretch>
        </p:blipFill>
        <p:spPr>
          <a:xfrm>
            <a:off x="89807" y="0"/>
            <a:ext cx="8828468" cy="6858000"/>
          </a:xfrm>
          <a:prstGeom prst="rect">
            <a:avLst/>
          </a:prstGeom>
        </p:spPr>
      </p:pic>
    </p:spTree>
    <p:extLst>
      <p:ext uri="{BB962C8B-B14F-4D97-AF65-F5344CB8AC3E}">
        <p14:creationId xmlns:p14="http://schemas.microsoft.com/office/powerpoint/2010/main" val="3527437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89807" y="-24493"/>
            <a:ext cx="12102193" cy="67620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324330BF-0677-FD44-4E43-E8C6F6A44173}"/>
              </a:ext>
            </a:extLst>
          </p:cNvPr>
          <p:cNvPicPr>
            <a:picLocks noChangeAspect="1"/>
          </p:cNvPicPr>
          <p:nvPr/>
        </p:nvPicPr>
        <p:blipFill>
          <a:blip r:embed="rId2"/>
          <a:stretch>
            <a:fillRect/>
          </a:stretch>
        </p:blipFill>
        <p:spPr>
          <a:xfrm>
            <a:off x="965771" y="0"/>
            <a:ext cx="10048126" cy="6858000"/>
          </a:xfrm>
          <a:prstGeom prst="rect">
            <a:avLst/>
          </a:prstGeom>
        </p:spPr>
      </p:pic>
    </p:spTree>
    <p:extLst>
      <p:ext uri="{BB962C8B-B14F-4D97-AF65-F5344CB8AC3E}">
        <p14:creationId xmlns:p14="http://schemas.microsoft.com/office/powerpoint/2010/main" val="3921488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89807" y="-24493"/>
            <a:ext cx="12102193" cy="67620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86B68D6F-9CF0-7CFB-E3CA-64C0A02C2A75}"/>
              </a:ext>
            </a:extLst>
          </p:cNvPr>
          <p:cNvPicPr>
            <a:picLocks noChangeAspect="1"/>
          </p:cNvPicPr>
          <p:nvPr/>
        </p:nvPicPr>
        <p:blipFill>
          <a:blip r:embed="rId2"/>
          <a:stretch>
            <a:fillRect/>
          </a:stretch>
        </p:blipFill>
        <p:spPr>
          <a:xfrm>
            <a:off x="270713" y="0"/>
            <a:ext cx="10917844" cy="6762043"/>
          </a:xfrm>
          <a:prstGeom prst="rect">
            <a:avLst/>
          </a:prstGeom>
        </p:spPr>
      </p:pic>
    </p:spTree>
    <p:extLst>
      <p:ext uri="{BB962C8B-B14F-4D97-AF65-F5344CB8AC3E}">
        <p14:creationId xmlns:p14="http://schemas.microsoft.com/office/powerpoint/2010/main" val="2091337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89807" y="-24493"/>
            <a:ext cx="12102193" cy="67620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E28E1339-0ABE-3496-D500-DA30EF0B00C8}"/>
              </a:ext>
            </a:extLst>
          </p:cNvPr>
          <p:cNvPicPr>
            <a:picLocks noChangeAspect="1"/>
          </p:cNvPicPr>
          <p:nvPr/>
        </p:nvPicPr>
        <p:blipFill>
          <a:blip r:embed="rId2"/>
          <a:stretch>
            <a:fillRect/>
          </a:stretch>
        </p:blipFill>
        <p:spPr>
          <a:xfrm>
            <a:off x="170646" y="-24493"/>
            <a:ext cx="11931547" cy="6762043"/>
          </a:xfrm>
          <a:prstGeom prst="rect">
            <a:avLst/>
          </a:prstGeom>
        </p:spPr>
      </p:pic>
    </p:spTree>
    <p:extLst>
      <p:ext uri="{BB962C8B-B14F-4D97-AF65-F5344CB8AC3E}">
        <p14:creationId xmlns:p14="http://schemas.microsoft.com/office/powerpoint/2010/main" val="41775009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89807" y="-24493"/>
            <a:ext cx="12102193" cy="67620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88A81C8D-3100-F7D8-D0E7-EEBD5BDF6928}"/>
              </a:ext>
            </a:extLst>
          </p:cNvPr>
          <p:cNvPicPr>
            <a:picLocks noChangeAspect="1"/>
          </p:cNvPicPr>
          <p:nvPr/>
        </p:nvPicPr>
        <p:blipFill>
          <a:blip r:embed="rId2"/>
          <a:stretch>
            <a:fillRect/>
          </a:stretch>
        </p:blipFill>
        <p:spPr>
          <a:xfrm>
            <a:off x="276225" y="20637"/>
            <a:ext cx="10828585" cy="6716913"/>
          </a:xfrm>
          <a:prstGeom prst="rect">
            <a:avLst/>
          </a:prstGeom>
        </p:spPr>
      </p:pic>
    </p:spTree>
    <p:extLst>
      <p:ext uri="{BB962C8B-B14F-4D97-AF65-F5344CB8AC3E}">
        <p14:creationId xmlns:p14="http://schemas.microsoft.com/office/powerpoint/2010/main" val="27648827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89807" y="-24493"/>
            <a:ext cx="12102193" cy="67620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FD7D3AF2-CD63-742C-B44B-239D64EF0A99}"/>
              </a:ext>
            </a:extLst>
          </p:cNvPr>
          <p:cNvPicPr>
            <a:picLocks noChangeAspect="1"/>
          </p:cNvPicPr>
          <p:nvPr/>
        </p:nvPicPr>
        <p:blipFill>
          <a:blip r:embed="rId2"/>
          <a:stretch>
            <a:fillRect/>
          </a:stretch>
        </p:blipFill>
        <p:spPr>
          <a:xfrm>
            <a:off x="194727" y="0"/>
            <a:ext cx="10788347" cy="7016950"/>
          </a:xfrm>
          <a:prstGeom prst="rect">
            <a:avLst/>
          </a:prstGeom>
        </p:spPr>
      </p:pic>
    </p:spTree>
    <p:extLst>
      <p:ext uri="{BB962C8B-B14F-4D97-AF65-F5344CB8AC3E}">
        <p14:creationId xmlns:p14="http://schemas.microsoft.com/office/powerpoint/2010/main" val="1609811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89807" y="-24493"/>
            <a:ext cx="12102193" cy="67620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CD8E4D29-95BD-3FDC-7878-AB65EF23FFE7}"/>
              </a:ext>
            </a:extLst>
          </p:cNvPr>
          <p:cNvPicPr>
            <a:picLocks noChangeAspect="1"/>
          </p:cNvPicPr>
          <p:nvPr/>
        </p:nvPicPr>
        <p:blipFill>
          <a:blip r:embed="rId2"/>
          <a:stretch>
            <a:fillRect/>
          </a:stretch>
        </p:blipFill>
        <p:spPr>
          <a:xfrm>
            <a:off x="0" y="-98622"/>
            <a:ext cx="12102193" cy="6956622"/>
          </a:xfrm>
          <a:prstGeom prst="rect">
            <a:avLst/>
          </a:prstGeom>
        </p:spPr>
      </p:pic>
    </p:spTree>
    <p:extLst>
      <p:ext uri="{BB962C8B-B14F-4D97-AF65-F5344CB8AC3E}">
        <p14:creationId xmlns:p14="http://schemas.microsoft.com/office/powerpoint/2010/main" val="35444331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89807" y="-24493"/>
            <a:ext cx="12102193" cy="67620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4D68D1A6-7C46-A569-61AC-7264F9E759C5}"/>
              </a:ext>
            </a:extLst>
          </p:cNvPr>
          <p:cNvPicPr>
            <a:picLocks noChangeAspect="1"/>
          </p:cNvPicPr>
          <p:nvPr/>
        </p:nvPicPr>
        <p:blipFill>
          <a:blip r:embed="rId2"/>
          <a:stretch>
            <a:fillRect/>
          </a:stretch>
        </p:blipFill>
        <p:spPr>
          <a:xfrm>
            <a:off x="89807" y="-24493"/>
            <a:ext cx="12102193" cy="6762043"/>
          </a:xfrm>
          <a:prstGeom prst="rect">
            <a:avLst/>
          </a:prstGeom>
        </p:spPr>
      </p:pic>
    </p:spTree>
    <p:extLst>
      <p:ext uri="{BB962C8B-B14F-4D97-AF65-F5344CB8AC3E}">
        <p14:creationId xmlns:p14="http://schemas.microsoft.com/office/powerpoint/2010/main" val="38179689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89807" y="-24493"/>
            <a:ext cx="12102193" cy="67620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9671D6FD-B851-764B-9AF8-D19987C0AB46}"/>
              </a:ext>
            </a:extLst>
          </p:cNvPr>
          <p:cNvPicPr>
            <a:picLocks noChangeAspect="1"/>
          </p:cNvPicPr>
          <p:nvPr/>
        </p:nvPicPr>
        <p:blipFill>
          <a:blip r:embed="rId2"/>
          <a:stretch>
            <a:fillRect/>
          </a:stretch>
        </p:blipFill>
        <p:spPr>
          <a:xfrm>
            <a:off x="342739" y="-181671"/>
            <a:ext cx="9705387" cy="7281114"/>
          </a:xfrm>
          <a:prstGeom prst="rect">
            <a:avLst/>
          </a:prstGeom>
        </p:spPr>
      </p:pic>
    </p:spTree>
    <p:extLst>
      <p:ext uri="{BB962C8B-B14F-4D97-AF65-F5344CB8AC3E}">
        <p14:creationId xmlns:p14="http://schemas.microsoft.com/office/powerpoint/2010/main" val="37185929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89807" y="-24493"/>
            <a:ext cx="12102193" cy="67620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538FDBE6-512F-2911-7E37-A92B5059920C}"/>
              </a:ext>
            </a:extLst>
          </p:cNvPr>
          <p:cNvPicPr>
            <a:picLocks noChangeAspect="1"/>
          </p:cNvPicPr>
          <p:nvPr/>
        </p:nvPicPr>
        <p:blipFill>
          <a:blip r:embed="rId2"/>
          <a:stretch>
            <a:fillRect/>
          </a:stretch>
        </p:blipFill>
        <p:spPr>
          <a:xfrm>
            <a:off x="595450" y="-72472"/>
            <a:ext cx="10438995" cy="6858000"/>
          </a:xfrm>
          <a:prstGeom prst="rect">
            <a:avLst/>
          </a:prstGeom>
        </p:spPr>
      </p:pic>
    </p:spTree>
    <p:extLst>
      <p:ext uri="{BB962C8B-B14F-4D97-AF65-F5344CB8AC3E}">
        <p14:creationId xmlns:p14="http://schemas.microsoft.com/office/powerpoint/2010/main" val="15955292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89807" y="-24493"/>
            <a:ext cx="12102193" cy="67620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P</a:t>
            </a:r>
          </a:p>
        </p:txBody>
      </p:sp>
      <p:pic>
        <p:nvPicPr>
          <p:cNvPr id="7" name="Picture 6">
            <a:extLst>
              <a:ext uri="{FF2B5EF4-FFF2-40B4-BE49-F238E27FC236}">
                <a16:creationId xmlns:a16="http://schemas.microsoft.com/office/drawing/2014/main" id="{DF7E739F-4855-9FAD-00EE-F15997AC5F62}"/>
              </a:ext>
            </a:extLst>
          </p:cNvPr>
          <p:cNvPicPr>
            <a:picLocks noChangeAspect="1"/>
          </p:cNvPicPr>
          <p:nvPr/>
        </p:nvPicPr>
        <p:blipFill>
          <a:blip r:embed="rId2"/>
          <a:stretch>
            <a:fillRect/>
          </a:stretch>
        </p:blipFill>
        <p:spPr>
          <a:xfrm>
            <a:off x="89807" y="0"/>
            <a:ext cx="11760333" cy="6737550"/>
          </a:xfrm>
          <a:prstGeom prst="rect">
            <a:avLst/>
          </a:prstGeom>
        </p:spPr>
      </p:pic>
    </p:spTree>
    <p:extLst>
      <p:ext uri="{BB962C8B-B14F-4D97-AF65-F5344CB8AC3E}">
        <p14:creationId xmlns:p14="http://schemas.microsoft.com/office/powerpoint/2010/main" val="26482723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89807" y="-24493"/>
            <a:ext cx="12102193" cy="67620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sng"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SOAL LATIHAN INTERFACING MEMORY:</a:t>
            </a:r>
            <a:endParaRPr kumimoji="0" lang="en-ID" sz="20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Gambarkan</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peta</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memori</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dari</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suatu</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sistem</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mikroprosesor</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yang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memiliki</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20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saluran</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alamat</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dan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memiliki</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unit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memori</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yang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terdiri</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dari</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a:t>
            </a:r>
            <a:endParaRPr kumimoji="0" lang="en-ID"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EPROM 1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2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KByte</a:t>
            </a:r>
            <a:endParaRPr kumimoji="0" lang="en-ID"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EPROM 2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4 Kbyte</a:t>
            </a:r>
            <a:endParaRPr kumimoji="0" lang="en-ID"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RAM 1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2 Kbyte</a:t>
            </a:r>
            <a:endParaRPr kumimoji="0" lang="en-ID"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RAM 2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8 Kbyte</a:t>
            </a:r>
            <a:endParaRPr kumimoji="0" lang="en-ID"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Rancang</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rangkaian</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interfacing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untuk</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menghubungkan</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mikroprosesor</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tersebut</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dengan</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ke</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4 chip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memori</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di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atas</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jika</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input Chip-select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nya</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active low.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Selesaikan</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dengan</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2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cara</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cara</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1: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menggunakan</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gate-gate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dasar</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cara</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2: </a:t>
            </a:r>
            <a:r>
              <a:rPr kumimoji="0" lang="en-GB" sz="22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menggunakan</a:t>
            </a:r>
            <a:r>
              <a:rPr kumimoji="0" lang="en-GB"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IC Decoder 74138)</a:t>
            </a:r>
            <a:endParaRPr kumimoji="0" lang="en-ID" sz="22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2"/>
              <a:tabLst/>
              <a:defRPr/>
            </a:pP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Gambarkan</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peta</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memori</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dari</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suatu</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sistem</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mikroprosesor</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yang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memiliki</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20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saluran</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alamat</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dan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memiliki</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unit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memori</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yang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terdiri</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dari</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a:t>
            </a:r>
            <a:endParaRPr kumimoji="0" lang="en-ID"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EPROM 1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8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KByte</a:t>
            </a:r>
            <a:endParaRPr kumimoji="0" lang="en-ID"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EPROM 2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16 Kbyte</a:t>
            </a:r>
            <a:endParaRPr kumimoji="0" lang="en-ID"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RAM 1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16 Kbyte</a:t>
            </a:r>
            <a:endParaRPr kumimoji="0" lang="en-ID"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800100" marR="0" lvl="1"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RAM 2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32 Kbyte</a:t>
            </a:r>
            <a:endParaRPr kumimoji="0" lang="en-ID"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Rancang</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rangkaian</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interfacing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untuk</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menghubungkan</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mikroprosesor</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tersebut</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dengan</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ke</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4 chip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memori</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di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atas</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jika</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input Chip-select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nya</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active low.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Selesaikan</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dengan</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2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cara</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cara</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1: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menggunakan</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gate-gate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dasar</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cara</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2: </a:t>
            </a:r>
            <a:r>
              <a:rPr kumimoji="0" lang="en-GB" sz="2200" b="1" i="0" u="none" strike="noStrike" kern="100" cap="none" spc="0" normalizeH="0" baseline="0" noProof="0" dirty="0" err="1">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menggunakan</a:t>
            </a:r>
            <a:r>
              <a:rPr kumimoji="0" lang="en-GB"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rPr>
              <a:t> IC Decoder 74138)</a:t>
            </a:r>
            <a:endParaRPr kumimoji="0" lang="en-ID" sz="2200" b="1" i="0" u="none" strike="noStrike" kern="100" cap="none" spc="0" normalizeH="0" baseline="0" noProof="0" dirty="0">
              <a:ln>
                <a:noFill/>
              </a:ln>
              <a:solidFill>
                <a:srgbClr val="ED7D31">
                  <a:lumMod val="50000"/>
                </a:srgbClr>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911259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89807" y="-24493"/>
            <a:ext cx="12102193" cy="67620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3"/>
              <a:tabLst/>
              <a:defRPr/>
            </a:pP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Gambarkan</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peta</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memori</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dari</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suatu</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sistem</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mikroprosesor</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yang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memiliki</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20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saluran</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alamat</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dan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memiliki</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unit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memori</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yang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terdiri</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dari</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a:t>
            </a:r>
            <a:endParaRPr kumimoji="0" lang="en-ID"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257300" marR="0" lvl="2"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EPROM 1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8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KByte</a:t>
            </a:r>
            <a:endParaRPr kumimoji="0" lang="en-ID"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257300" marR="0" lvl="2"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EPROM 2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8 Kbyte</a:t>
            </a:r>
            <a:endParaRPr kumimoji="0" lang="en-ID"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257300" marR="0" lvl="2"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RAM 1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16 Kbyte</a:t>
            </a:r>
            <a:endParaRPr kumimoji="0" lang="en-ID"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257300" marR="0" lvl="2"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RAM 2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32 Kbyte</a:t>
            </a:r>
            <a:endParaRPr kumimoji="0" lang="en-ID"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Rancang</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rangkaian</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interfacing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untuk</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menghubungkan</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mikroprosesor</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tersebut</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dengan</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ke</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4 chip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memori</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di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atas</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jika</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input Chip-select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nya</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active low.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Selesaikan</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dengan</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2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cara</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cara</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1: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menggunakan</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gate-gate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dasar</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cara</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2: </a:t>
            </a:r>
            <a:r>
              <a:rPr kumimoji="0" lang="en-GB" sz="2400" b="0" i="0" u="none" strike="noStrike" kern="100" cap="none" spc="0" normalizeH="0" baseline="0" noProof="0" dirty="0" err="1">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menggunakan</a:t>
            </a: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IC Decoder 74138).</a:t>
            </a:r>
            <a:endParaRPr kumimoji="0" lang="en-ID"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ID" sz="24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4"/>
              <a:tabLst/>
              <a:defRPr/>
            </a:pP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Gambarkan</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peta</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memori</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dari</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suatu</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sistem</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mikroprosesor</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yang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memiliki</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22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saluran</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alamat</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dan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memiliki</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unit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memori</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yang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terdiri</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dari</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a:t>
            </a:r>
            <a:endParaRPr kumimoji="0" lang="en-ID"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endParaRPr>
          </a:p>
          <a:p>
            <a:pPr marL="1257300" marR="0" lvl="2"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8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keping</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EPROM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8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KByte</a:t>
            </a:r>
            <a:endParaRPr kumimoji="0" lang="en-ID"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endParaRPr>
          </a:p>
          <a:p>
            <a:pPr marL="1257300" marR="0" lvl="2"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8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keping</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RAM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16 Kbyte</a:t>
            </a:r>
            <a:endParaRPr kumimoji="0" lang="en-ID"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Rancang</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rangkaian</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interfacing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untuk</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menghubungkan</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mikroprosesor</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tersebut</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dengan</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ke</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16 chip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memori</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di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atas</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jika</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input Chip-select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nya</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active low. </a:t>
            </a:r>
            <a:endParaRPr kumimoji="0" lang="en-ID"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22342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89807" y="-493160"/>
            <a:ext cx="12102193" cy="723071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7"/>
              <a:tabLst/>
              <a:defRPr/>
            </a:pPr>
            <a:endPar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7"/>
              <a:tabLst/>
              <a:defRPr/>
            </a:pPr>
            <a:endPar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5"/>
              <a:tabLst/>
              <a:defRPr/>
            </a:pP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Gambarkan</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peta</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memori</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dari</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suatu</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sistem</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mikroprosesor</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yang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memiliki</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22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saluran</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alamat</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dan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memiliki</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unit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memori</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yang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terdiri</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dari</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a:t>
            </a:r>
            <a:endParaRPr kumimoji="0" lang="en-ID"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endParaRPr>
          </a:p>
          <a:p>
            <a:pPr marL="1257300" marR="0" lvl="2"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EPROM 1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8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KByte</a:t>
            </a:r>
            <a:endParaRPr kumimoji="0" lang="en-ID"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endParaRPr>
          </a:p>
          <a:p>
            <a:pPr marL="1257300" marR="0" lvl="2"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EPROM 2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8 Kbyte</a:t>
            </a:r>
            <a:endParaRPr kumimoji="0" lang="en-ID"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endParaRPr>
          </a:p>
          <a:p>
            <a:pPr marL="1257300" marR="0" lvl="2"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RAM 1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8 Kbyte</a:t>
            </a:r>
            <a:endParaRPr kumimoji="0" lang="en-ID"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endParaRPr>
          </a:p>
          <a:p>
            <a:pPr marL="1257300" marR="0" lvl="2"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RAM 2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32 Kbyte</a:t>
            </a:r>
            <a:endParaRPr kumimoji="0" lang="en-ID"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Rancang</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rangkaian</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interfacing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untuk</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menghubungkan</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mikroprosesor</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tersebut</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dengan</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ke</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4 chip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memori</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di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atas</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jika</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input Chip-select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nya</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active low.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Selesaikan</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dengan</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2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cara</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cara</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1: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menggunakan</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gate-gate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dasar</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cara</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2: </a:t>
            </a:r>
            <a:r>
              <a:rPr kumimoji="0" lang="en-GB" sz="2400" b="0" i="0" u="none" strike="noStrike" kern="100" cap="none" spc="0" normalizeH="0" baseline="0" noProof="0" dirty="0" err="1">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menggunakan</a:t>
            </a:r>
            <a:r>
              <a:rPr kumimoji="0" lang="en-GB" sz="2400" b="0" i="0" u="none" strike="noStrike" kern="100" cap="none" spc="0" normalizeH="0" baseline="0" noProof="0" dirty="0">
                <a:ln>
                  <a:noFill/>
                </a:ln>
                <a:solidFill>
                  <a:srgbClr val="002060"/>
                </a:solidFill>
                <a:effectLst/>
                <a:highlight>
                  <a:srgbClr val="00FFFF"/>
                </a:highlight>
                <a:uLnTx/>
                <a:uFillTx/>
                <a:latin typeface="Calibri" panose="020F0502020204030204" pitchFamily="34" charset="0"/>
                <a:ea typeface="Calibri" panose="020F0502020204030204" pitchFamily="34" charset="0"/>
                <a:cs typeface="Times New Roman" panose="02020603050405020304" pitchFamily="18" charset="0"/>
              </a:rPr>
              <a:t> IC Decoder 74138)</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6"/>
              <a:tabLst/>
              <a:defRPr/>
            </a:pP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Gambarkan</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peta</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memori</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dari</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suatu</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sistem</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mikroprosesor</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yang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memiliki</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22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saluran</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alamat</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dan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memiliki</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unit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memori</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yang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terdiri</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dari</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a:t>
            </a:r>
            <a:endParaRPr kumimoji="0" lang="en-ID"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endParaRPr>
          </a:p>
          <a:p>
            <a:pPr marL="1257300" marR="0" lvl="2"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EPROM 1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16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KByte</a:t>
            </a:r>
            <a:endParaRPr kumimoji="0" lang="en-ID"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endParaRPr>
          </a:p>
          <a:p>
            <a:pPr marL="1257300" marR="0" lvl="2"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EPROM 2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32 Kbyte</a:t>
            </a:r>
            <a:endParaRPr kumimoji="0" lang="en-ID"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endParaRPr>
          </a:p>
          <a:p>
            <a:pPr marL="1257300" marR="0" lvl="2"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RAM 1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64 Kbyte</a:t>
            </a:r>
            <a:endParaRPr kumimoji="0" lang="en-ID"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endParaRPr>
          </a:p>
          <a:p>
            <a:pPr marL="1257300" marR="0" lvl="2"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RAM 2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64 Kbyte</a:t>
            </a:r>
            <a:endParaRPr kumimoji="0" lang="en-ID"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Rancang</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rangkaian</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interfacing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untuk</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menghubungkan</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mikroprosesor</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tersebut</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dengan</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ke</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4 chip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memori</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di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atas</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jika</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input Chip-select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nya</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active low.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Selesaikan</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dengan</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2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cara</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cara</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1: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menggunakan</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gate-gate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dasar</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cara</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2: </a:t>
            </a:r>
            <a:r>
              <a:rPr kumimoji="0" lang="en-GB" sz="2400" b="0" i="0" u="none" strike="noStrike" kern="100" cap="none" spc="0" normalizeH="0" baseline="0" noProof="0" dirty="0" err="1">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menggunakan</a:t>
            </a:r>
            <a:r>
              <a:rPr kumimoji="0" lang="en-GB"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rPr>
              <a:t> IC Decoder 74138)</a:t>
            </a:r>
            <a:endParaRPr kumimoji="0" lang="en-ID" sz="2400" b="0" i="0" u="none" strike="noStrike" kern="100" cap="none" spc="0" normalizeH="0" baseline="0" noProof="0" dirty="0">
              <a:ln>
                <a:noFill/>
              </a:ln>
              <a:solidFill>
                <a:srgbClr val="002060"/>
              </a:solidFill>
              <a:effectLst/>
              <a:highlight>
                <a:srgbClr val="00FF00"/>
              </a:highligh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ID"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601836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89807" y="-493160"/>
            <a:ext cx="12102193" cy="723071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7"/>
              <a:tabLst/>
              <a:defRPr/>
            </a:pPr>
            <a:endPar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7"/>
              <a:tabLst/>
              <a:defRPr/>
            </a:pPr>
            <a:endPar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7"/>
              <a:tabLst/>
              <a:defRPr/>
            </a:pP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Gambarkan</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peta</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memori</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dari</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suatu</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sistem</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mikroprosesor</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yang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memiliki</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22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saluran</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alamat</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dan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memiliki</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unit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memori</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yang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terdiri</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dari</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a:t>
            </a:r>
            <a:endParaRPr kumimoji="0" lang="en-ID"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endParaRPr>
          </a:p>
          <a:p>
            <a:pPr marL="1257300" marR="0" lvl="2"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EPROM 1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32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KByte</a:t>
            </a:r>
            <a:endParaRPr kumimoji="0" lang="en-ID"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endParaRPr>
          </a:p>
          <a:p>
            <a:pPr marL="1257300" marR="0" lvl="2"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EPROM 2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32 Kbyte</a:t>
            </a:r>
            <a:endParaRPr kumimoji="0" lang="en-ID"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endParaRPr>
          </a:p>
          <a:p>
            <a:pPr marL="1257300" marR="0" lvl="2"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RAM 1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64 Kbyte</a:t>
            </a:r>
            <a:endParaRPr kumimoji="0" lang="en-ID"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endParaRPr>
          </a:p>
          <a:p>
            <a:pPr marL="1257300" marR="0" lvl="2"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RAM 2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64 Kbyte</a:t>
            </a:r>
            <a:endParaRPr kumimoji="0" lang="en-ID"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Rancang</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rangkaian</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interfacing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untuk</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menghubungkan</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mikroprosesor</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tersebut</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dengan</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ke</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4 chip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memori</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di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atas</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jika</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input Chip-select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nya</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active low.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Selesaikan</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dengan</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2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cara</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cara</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1: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menggunakan</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gate-gate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dasar</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cara</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2: </a:t>
            </a:r>
            <a:r>
              <a:rPr kumimoji="0" lang="en-GB" sz="2400" b="0" i="0" u="none" strike="noStrike" kern="100" cap="none" spc="0" normalizeH="0" baseline="0" noProof="0" dirty="0" err="1">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menggunakan</a:t>
            </a:r>
            <a:r>
              <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rPr>
              <a:t> IC Decoder 74138)</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Gambarkan</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peta</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memori</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dari</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suatu</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sistem</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mikroprosesor</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yang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memiliki</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22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saluran</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alamat</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dan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memiliki</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unit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memori</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yang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terdiri</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dari</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a:t>
            </a:r>
            <a:endParaRPr kumimoji="0" lang="en-ID"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endParaRPr>
          </a:p>
          <a:p>
            <a:pPr marL="1257300" marR="0" lvl="2"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EPROM 1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64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KByte</a:t>
            </a:r>
            <a:endParaRPr kumimoji="0" lang="en-ID"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endParaRPr>
          </a:p>
          <a:p>
            <a:pPr marL="1257300" marR="0" lvl="2"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EPROM 2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64 Kbyte</a:t>
            </a:r>
            <a:endParaRPr kumimoji="0" lang="en-ID"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endParaRPr>
          </a:p>
          <a:p>
            <a:pPr marL="1257300" marR="0" lvl="2"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RAM 1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64 Kbyte</a:t>
            </a:r>
            <a:endParaRPr kumimoji="0" lang="en-ID"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endParaRPr>
          </a:p>
          <a:p>
            <a:pPr marL="1257300" marR="0" lvl="2" indent="-342900" algn="l" defTabSz="9144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RAM 2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berkapasitas</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64 Kbyte</a:t>
            </a:r>
            <a:endParaRPr kumimoji="0" lang="en-ID"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Rancang</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rangkaian</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interfacing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untuk</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menghubungkan</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mikroprosesor</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tersebut</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dengan</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ke</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4 chip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memori</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di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atas</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jika</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input Chip-select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nya</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active low.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Selesaikan</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dengan</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2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cara</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cara</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1: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menggunakan</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gate-gate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dasar</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cara</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2: </a:t>
            </a:r>
            <a:r>
              <a:rPr kumimoji="0" lang="en-GB" sz="2400" b="0" i="0" u="none" strike="noStrike" kern="100" cap="none" spc="0" normalizeH="0" baseline="0" noProof="0" dirty="0" err="1">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menggunakan</a:t>
            </a:r>
            <a:r>
              <a:rPr kumimoji="0" lang="en-GB"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rPr>
              <a:t> IC Decoder 74138)</a:t>
            </a:r>
            <a:endParaRPr kumimoji="0" lang="en-ID" sz="2400" b="0" i="0" u="none" strike="noStrike" kern="100" cap="none" spc="0" normalizeH="0" baseline="0" noProof="0" dirty="0">
              <a:ln>
                <a:noFill/>
              </a:ln>
              <a:solidFill>
                <a:srgbClr val="002060"/>
              </a:solidFill>
              <a:effectLst/>
              <a:highlight>
                <a:srgbClr val="C0C0C0"/>
              </a:highligh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ID"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00" cap="none" spc="0" normalizeH="0" baseline="0" noProof="0" dirty="0">
              <a:ln>
                <a:noFill/>
              </a:ln>
              <a:solidFill>
                <a:srgbClr val="002060"/>
              </a:solidFill>
              <a:effectLst/>
              <a:highlight>
                <a:srgbClr val="FFFF00"/>
              </a:highlight>
              <a:uLnTx/>
              <a:uFillTx/>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446071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
        <p:nvSpPr>
          <p:cNvPr id="4" name="Rectangle 3"/>
          <p:cNvSpPr/>
          <p:nvPr/>
        </p:nvSpPr>
        <p:spPr>
          <a:xfrm>
            <a:off x="89807" y="-24493"/>
            <a:ext cx="12102193" cy="676204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66945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TotalTime>
  <Words>700</Words>
  <Application>Microsoft Office PowerPoint</Application>
  <PresentationFormat>Widescreen</PresentationFormat>
  <Paragraphs>61</Paragraphs>
  <Slides>27</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27</vt:i4>
      </vt:variant>
    </vt:vector>
  </HeadingPairs>
  <TitlesOfParts>
    <vt:vector size="34" baseType="lpstr">
      <vt:lpstr>Algerian</vt:lpstr>
      <vt:lpstr>Arial</vt:lpstr>
      <vt:lpstr>Calibri</vt:lpstr>
      <vt:lpstr>Calibri Light</vt:lpstr>
      <vt:lpstr>Symbol</vt:lpstr>
      <vt:lpstr>Office Theme</vt:lpstr>
      <vt:lpstr>1_Office Theme</vt:lpstr>
      <vt:lpstr>MICROPROCESSOR AND INTERFACING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MICROPROCESSOR AND INTERFACING</dc:title>
  <dc:creator>USER</dc:creator>
  <cp:lastModifiedBy>ELSADANIKA MAURA SITORUS</cp:lastModifiedBy>
  <cp:revision>1</cp:revision>
  <dcterms:created xsi:type="dcterms:W3CDTF">2023-04-26T23:27:35Z</dcterms:created>
  <dcterms:modified xsi:type="dcterms:W3CDTF">2023-04-29T11:28:37Z</dcterms:modified>
</cp:coreProperties>
</file>